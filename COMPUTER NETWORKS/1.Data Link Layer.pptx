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h8QMni6zPMi4oIE69Zf1/QVRJn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7dab167a0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7dab167a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7dab167a05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7dab167a0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7dab167a05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7dab167a0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7dab167a05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7dab167a0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7dab167a05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7dab167a0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7dab167a05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7dab167a0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7dab167a05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7dab167a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7dab167a0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7dab167a0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p:nvPr>
            <p:ph idx="2" type="pic"/>
          </p:nvPr>
        </p:nvSpPr>
        <p:spPr>
          <a:xfrm>
            <a:off x="5183188" y="987425"/>
            <a:ext cx="6172200" cy="4873625"/>
          </a:xfrm>
          <a:prstGeom prst="rect">
            <a:avLst/>
          </a:prstGeom>
          <a:noFill/>
          <a:ln>
            <a:noFill/>
          </a:ln>
        </p:spPr>
      </p:sp>
      <p:sp>
        <p:nvSpPr>
          <p:cNvPr id="64" name="Google Shape;64;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Data Link Layer</a:t>
            </a:r>
            <a:br>
              <a:rPr lang="en-US"/>
            </a:b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Prepared by</a:t>
            </a:r>
            <a:endParaRPr/>
          </a:p>
          <a:p>
            <a:pPr indent="0" lvl="0" marL="0" rtl="0" algn="l">
              <a:lnSpc>
                <a:spcPct val="90000"/>
              </a:lnSpc>
              <a:spcBef>
                <a:spcPts val="0"/>
              </a:spcBef>
              <a:spcAft>
                <a:spcPts val="0"/>
              </a:spcAft>
              <a:buClr>
                <a:schemeClr val="dk1"/>
              </a:buClr>
              <a:buSzPts val="2400"/>
              <a:buNone/>
            </a:pPr>
            <a:r>
              <a:rPr lang="en-US"/>
              <a:t>Divya K S</a:t>
            </a:r>
            <a:endParaRPr/>
          </a:p>
          <a:p>
            <a:pPr indent="0" lvl="0" marL="0" rtl="0" algn="l">
              <a:lnSpc>
                <a:spcPct val="90000"/>
              </a:lnSpc>
              <a:spcBef>
                <a:spcPts val="0"/>
              </a:spcBef>
              <a:spcAft>
                <a:spcPts val="0"/>
              </a:spcAft>
              <a:buClr>
                <a:schemeClr val="dk1"/>
              </a:buClr>
              <a:buSzPts val="2400"/>
              <a:buNone/>
            </a:pPr>
            <a:r>
              <a:rPr lang="en-US"/>
              <a:t>Adi shankara Institute of Engineering &amp; Technology </a:t>
            </a:r>
            <a:endParaRPr/>
          </a:p>
          <a:p>
            <a:pPr indent="0" lvl="0" marL="0" rtl="0" algn="l">
              <a:lnSpc>
                <a:spcPct val="90000"/>
              </a:lnSpc>
              <a:spcBef>
                <a:spcPts val="0"/>
              </a:spcBef>
              <a:spcAft>
                <a:spcPts val="0"/>
              </a:spcAft>
              <a:buClr>
                <a:schemeClr val="dk1"/>
              </a:buClr>
              <a:buSzPts val="2400"/>
              <a:buNone/>
            </a:pPr>
            <a:r>
              <a:rPr lang="en-US"/>
              <a:t>Kalady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Link Layer Design Issues/Functionalities of DLL</a:t>
            </a:r>
            <a:endParaRPr/>
          </a:p>
        </p:txBody>
      </p:sp>
      <p:sp>
        <p:nvSpPr>
          <p:cNvPr id="91" name="Google Shape;91;p2"/>
          <p:cNvSpPr txBox="1"/>
          <p:nvPr>
            <p:ph idx="1" type="body"/>
          </p:nvPr>
        </p:nvSpPr>
        <p:spPr>
          <a:xfrm>
            <a:off x="2046288" y="1617843"/>
            <a:ext cx="8318500" cy="2796117"/>
          </a:xfrm>
          <a:prstGeom prst="rect">
            <a:avLst/>
          </a:prstGeom>
          <a:noFill/>
          <a:ln>
            <a:noFill/>
          </a:ln>
        </p:spPr>
        <p:txBody>
          <a:bodyPr anchorCtr="0" anchor="t" bIns="45700" lIns="91425" spcFirstLastPara="1" rIns="91425" wrap="square" tIns="45700">
            <a:normAutofit/>
          </a:bodyPr>
          <a:lstStyle/>
          <a:p>
            <a:pPr indent="-25400" lvl="0" marL="228600" rtl="0" algn="l">
              <a:lnSpc>
                <a:spcPct val="90000"/>
              </a:lnSpc>
              <a:spcBef>
                <a:spcPts val="0"/>
              </a:spcBef>
              <a:spcAft>
                <a:spcPts val="0"/>
              </a:spcAft>
              <a:buClr>
                <a:schemeClr val="dk1"/>
              </a:buClr>
              <a:buSzPts val="3200"/>
              <a:buFont typeface="Calibri"/>
              <a:buNone/>
            </a:pPr>
            <a:r>
              <a:t/>
            </a:r>
            <a:endParaRPr sz="3200"/>
          </a:p>
          <a:p>
            <a:pPr indent="-228600" lvl="0" marL="228600" rtl="0" algn="l">
              <a:lnSpc>
                <a:spcPct val="90000"/>
              </a:lnSpc>
              <a:spcBef>
                <a:spcPts val="1000"/>
              </a:spcBef>
              <a:spcAft>
                <a:spcPts val="0"/>
              </a:spcAft>
              <a:buClr>
                <a:schemeClr val="dk1"/>
              </a:buClr>
              <a:buSzPts val="3200"/>
              <a:buFont typeface="Calibri"/>
              <a:buChar char="•"/>
            </a:pPr>
            <a:r>
              <a:rPr lang="en-US" sz="3200"/>
              <a:t>Services Provided to the Network Layer</a:t>
            </a:r>
            <a:endParaRPr/>
          </a:p>
          <a:p>
            <a:pPr indent="-228600" lvl="0" marL="228600" rtl="0" algn="l">
              <a:lnSpc>
                <a:spcPct val="90000"/>
              </a:lnSpc>
              <a:spcBef>
                <a:spcPts val="1000"/>
              </a:spcBef>
              <a:spcAft>
                <a:spcPts val="0"/>
              </a:spcAft>
              <a:buClr>
                <a:schemeClr val="dk1"/>
              </a:buClr>
              <a:buSzPts val="3200"/>
              <a:buFont typeface="Calibri"/>
              <a:buChar char="•"/>
            </a:pPr>
            <a:r>
              <a:rPr lang="en-US" sz="3200"/>
              <a:t>Framing</a:t>
            </a:r>
            <a:endParaRPr/>
          </a:p>
          <a:p>
            <a:pPr indent="-228600" lvl="0" marL="228600" rtl="0" algn="l">
              <a:lnSpc>
                <a:spcPct val="90000"/>
              </a:lnSpc>
              <a:spcBef>
                <a:spcPts val="1000"/>
              </a:spcBef>
              <a:spcAft>
                <a:spcPts val="0"/>
              </a:spcAft>
              <a:buClr>
                <a:schemeClr val="dk1"/>
              </a:buClr>
              <a:buSzPts val="3200"/>
              <a:buFont typeface="Calibri"/>
              <a:buChar char="•"/>
            </a:pPr>
            <a:r>
              <a:rPr lang="en-US" sz="3200"/>
              <a:t>Error Control</a:t>
            </a:r>
            <a:endParaRPr/>
          </a:p>
          <a:p>
            <a:pPr indent="-228600" lvl="0" marL="228600" rtl="0" algn="l">
              <a:lnSpc>
                <a:spcPct val="90000"/>
              </a:lnSpc>
              <a:spcBef>
                <a:spcPts val="1000"/>
              </a:spcBef>
              <a:spcAft>
                <a:spcPts val="0"/>
              </a:spcAft>
              <a:buClr>
                <a:schemeClr val="dk1"/>
              </a:buClr>
              <a:buSzPts val="3200"/>
              <a:buFont typeface="Calibri"/>
              <a:buChar char="•"/>
            </a:pPr>
            <a:r>
              <a:rPr lang="en-US" sz="3200"/>
              <a:t>Flow Control</a:t>
            </a:r>
            <a:endParaRPr/>
          </a:p>
        </p:txBody>
      </p:sp>
      <p:sp>
        <p:nvSpPr>
          <p:cNvPr id="92" name="Google Shape;9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Functions of the Data Link Layer</a:t>
            </a:r>
            <a:endParaRPr/>
          </a:p>
        </p:txBody>
      </p:sp>
      <p:sp>
        <p:nvSpPr>
          <p:cNvPr id="98" name="Google Shape;98;p3"/>
          <p:cNvSpPr txBox="1"/>
          <p:nvPr>
            <p:ph idx="1" type="body"/>
          </p:nvPr>
        </p:nvSpPr>
        <p:spPr>
          <a:xfrm>
            <a:off x="206062" y="1690688"/>
            <a:ext cx="10461938" cy="466160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Times New Roman"/>
              <a:buChar char="•"/>
            </a:pPr>
            <a:r>
              <a:rPr lang="en-US">
                <a:latin typeface="Times New Roman"/>
                <a:ea typeface="Times New Roman"/>
                <a:cs typeface="Times New Roman"/>
                <a:sym typeface="Times New Roman"/>
              </a:rPr>
              <a:t> To accomplish the above goals DLL takes the packets it gets from the network layer and    encapsulates them into frames for transmission. </a:t>
            </a:r>
            <a:endParaRPr>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Font typeface="Calibri"/>
              <a:buNone/>
            </a:pPr>
            <a:r>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Each frame contains a frame header, a payload field for holding the packet, and a frame trailer.</a:t>
            </a:r>
            <a:r>
              <a:rPr lang="en-US" u="sng">
                <a:latin typeface="Times New Roman"/>
                <a:ea typeface="Times New Roman"/>
                <a:cs typeface="Times New Roman"/>
                <a:sym typeface="Times New Roman"/>
              </a:rPr>
              <a:t> </a:t>
            </a:r>
            <a:endParaRPr u="sng">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Font typeface="Calibri"/>
              <a:buNone/>
            </a:pPr>
            <a:r>
              <a:t/>
            </a:r>
            <a:endParaRPr u="sng">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rgbClr val="FF0000"/>
              </a:buClr>
              <a:buSzPts val="2800"/>
              <a:buFont typeface="Times New Roman"/>
              <a:buChar char="•"/>
            </a:pPr>
            <a:r>
              <a:rPr lang="en-US">
                <a:solidFill>
                  <a:srgbClr val="FF0000"/>
                </a:solidFill>
                <a:latin typeface="Times New Roman"/>
                <a:ea typeface="Times New Roman"/>
                <a:cs typeface="Times New Roman"/>
                <a:sym typeface="Times New Roman"/>
              </a:rPr>
              <a:t>Frame management </a:t>
            </a:r>
            <a:r>
              <a:rPr lang="en-US">
                <a:latin typeface="Times New Roman"/>
                <a:ea typeface="Times New Roman"/>
                <a:cs typeface="Times New Roman"/>
                <a:sym typeface="Times New Roman"/>
              </a:rPr>
              <a:t>forms the heart of DLL</a:t>
            </a:r>
            <a:endParaRPr>
              <a:latin typeface="Times New Roman"/>
              <a:ea typeface="Times New Roman"/>
              <a:cs typeface="Times New Roman"/>
              <a:sym typeface="Times New Roman"/>
            </a:endParaRPr>
          </a:p>
        </p:txBody>
      </p:sp>
      <p:sp>
        <p:nvSpPr>
          <p:cNvPr id="99" name="Google Shape;9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Relationship between packets and frames.</a:t>
            </a: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ctr">
              <a:lnSpc>
                <a:spcPct val="90000"/>
              </a:lnSpc>
              <a:spcBef>
                <a:spcPts val="0"/>
              </a:spcBef>
              <a:spcAft>
                <a:spcPts val="0"/>
              </a:spcAft>
              <a:buClr>
                <a:schemeClr val="dk1"/>
              </a:buClr>
              <a:buSzPts val="2800"/>
              <a:buFont typeface="Calibri"/>
              <a:buNone/>
            </a:pPr>
            <a:r>
              <a:t/>
            </a:r>
            <a:endParaRPr/>
          </a:p>
        </p:txBody>
      </p:sp>
      <p:pic>
        <p:nvPicPr>
          <p:cNvPr descr="3-01" id="106" name="Google Shape;106;p4"/>
          <p:cNvPicPr preferRelativeResize="0"/>
          <p:nvPr/>
        </p:nvPicPr>
        <p:blipFill rotWithShape="1">
          <a:blip r:embed="rId3">
            <a:alphaModFix/>
          </a:blip>
          <a:srcRect b="0" l="0" r="0" t="0"/>
          <a:stretch/>
        </p:blipFill>
        <p:spPr>
          <a:xfrm>
            <a:off x="2114550" y="2808601"/>
            <a:ext cx="7867650" cy="2627312"/>
          </a:xfrm>
          <a:prstGeom prst="rect">
            <a:avLst/>
          </a:prstGeom>
          <a:noFill/>
          <a:ln>
            <a:noFill/>
          </a:ln>
        </p:spPr>
      </p:pic>
      <p:sp>
        <p:nvSpPr>
          <p:cNvPr id="107" name="Google Shape;10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1659468" y="90310"/>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lang="en-US"/>
              <a:t> Services provided to the Network Layer</a:t>
            </a:r>
            <a:endParaRPr/>
          </a:p>
        </p:txBody>
      </p:sp>
      <p:sp>
        <p:nvSpPr>
          <p:cNvPr id="113" name="Google Shape;113;p5"/>
          <p:cNvSpPr txBox="1"/>
          <p:nvPr>
            <p:ph idx="1" type="body"/>
          </p:nvPr>
        </p:nvSpPr>
        <p:spPr>
          <a:xfrm>
            <a:off x="1715911" y="993422"/>
            <a:ext cx="8760178" cy="533117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function of the data link layer is to provide services to the network layer. </a:t>
            </a:r>
            <a:endParaRPr/>
          </a:p>
          <a:p>
            <a:pPr indent="-228600" lvl="0" marL="228600" rtl="0" algn="l">
              <a:lnSpc>
                <a:spcPct val="90000"/>
              </a:lnSpc>
              <a:spcBef>
                <a:spcPts val="1000"/>
              </a:spcBef>
              <a:spcAft>
                <a:spcPts val="0"/>
              </a:spcAft>
              <a:buClr>
                <a:schemeClr val="dk1"/>
              </a:buClr>
              <a:buSzPts val="2800"/>
              <a:buChar char="•"/>
            </a:pPr>
            <a:r>
              <a:rPr lang="en-US"/>
              <a:t>The principal service is transferring data from the network layer on the source machine to the network layer on the destination machine</a:t>
            </a:r>
            <a:endParaRPr/>
          </a:p>
        </p:txBody>
      </p:sp>
      <p:sp>
        <p:nvSpPr>
          <p:cNvPr id="114" name="Google Shape;114;p5"/>
          <p:cNvSpPr txBox="1"/>
          <p:nvPr/>
        </p:nvSpPr>
        <p:spPr>
          <a:xfrm>
            <a:off x="3727554" y="5816601"/>
            <a:ext cx="5501390" cy="838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90000"/>
              </a:lnSpc>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115" name="Google Shape;11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1659468" y="90310"/>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lang="en-US"/>
              <a:t> Services provided to the Network Layer</a:t>
            </a:r>
            <a:endParaRPr/>
          </a:p>
        </p:txBody>
      </p:sp>
      <p:pic>
        <p:nvPicPr>
          <p:cNvPr id="121" name="Google Shape;121;p6"/>
          <p:cNvPicPr preferRelativeResize="0"/>
          <p:nvPr>
            <p:ph idx="1" type="body"/>
          </p:nvPr>
        </p:nvPicPr>
        <p:blipFill rotWithShape="1">
          <a:blip r:embed="rId3">
            <a:alphaModFix/>
          </a:blip>
          <a:srcRect b="0" l="0" r="0" t="0"/>
          <a:stretch/>
        </p:blipFill>
        <p:spPr>
          <a:xfrm>
            <a:off x="3915177" y="2532353"/>
            <a:ext cx="3048000" cy="3438525"/>
          </a:xfrm>
          <a:prstGeom prst="rect">
            <a:avLst/>
          </a:prstGeom>
          <a:noFill/>
          <a:ln>
            <a:noFill/>
          </a:ln>
        </p:spPr>
      </p:pic>
      <p:sp>
        <p:nvSpPr>
          <p:cNvPr id="122" name="Google Shape;122;p6"/>
          <p:cNvSpPr txBox="1"/>
          <p:nvPr/>
        </p:nvSpPr>
        <p:spPr>
          <a:xfrm>
            <a:off x="3727554" y="5816601"/>
            <a:ext cx="5501390" cy="838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90000"/>
              </a:lnSpc>
              <a:spcBef>
                <a:spcPts val="0"/>
              </a:spcBef>
              <a:spcAft>
                <a:spcPts val="0"/>
              </a:spcAft>
              <a:buNone/>
            </a:pPr>
            <a:r>
              <a:rPr b="0" i="0" lang="en-US" sz="2400" u="none" cap="none" strike="noStrike">
                <a:solidFill>
                  <a:schemeClr val="dk1"/>
                </a:solidFill>
                <a:latin typeface="Calibri"/>
                <a:ea typeface="Calibri"/>
                <a:cs typeface="Calibri"/>
                <a:sym typeface="Calibri"/>
              </a:rPr>
              <a:t> Virtual Communication</a:t>
            </a:r>
            <a:endParaRPr/>
          </a:p>
        </p:txBody>
      </p:sp>
      <p:sp>
        <p:nvSpPr>
          <p:cNvPr id="123" name="Google Shape;12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6"/>
          <p:cNvSpPr/>
          <p:nvPr/>
        </p:nvSpPr>
        <p:spPr>
          <a:xfrm>
            <a:off x="1953296" y="1145902"/>
            <a:ext cx="849147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The job of the data link layer is to transmit the bits to the destination machine so they can be handed over to the network layer there,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1659468" y="90310"/>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lang="en-US"/>
              <a:t> Services provided to the Network Layer</a:t>
            </a:r>
            <a:endParaRPr/>
          </a:p>
        </p:txBody>
      </p:sp>
      <p:sp>
        <p:nvSpPr>
          <p:cNvPr id="130" name="Google Shape;130;p7"/>
          <p:cNvSpPr txBox="1"/>
          <p:nvPr/>
        </p:nvSpPr>
        <p:spPr>
          <a:xfrm>
            <a:off x="3727554" y="5816601"/>
            <a:ext cx="5501390" cy="838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90000"/>
              </a:lnSpc>
              <a:spcBef>
                <a:spcPts val="0"/>
              </a:spcBef>
              <a:spcAft>
                <a:spcPts val="0"/>
              </a:spcAft>
              <a:buNone/>
            </a:pPr>
            <a:r>
              <a:rPr lang="en-US" sz="2400">
                <a:solidFill>
                  <a:schemeClr val="dk1"/>
                </a:solidFill>
                <a:latin typeface="Calibri"/>
                <a:ea typeface="Calibri"/>
                <a:cs typeface="Calibri"/>
                <a:sym typeface="Calibri"/>
              </a:rPr>
              <a:t>Actual Communication.</a:t>
            </a:r>
            <a:endParaRPr/>
          </a:p>
        </p:txBody>
      </p:sp>
      <p:sp>
        <p:nvSpPr>
          <p:cNvPr id="131" name="Google Shape;13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2" name="Google Shape;132;p7"/>
          <p:cNvSpPr/>
          <p:nvPr/>
        </p:nvSpPr>
        <p:spPr>
          <a:xfrm>
            <a:off x="2176531" y="1386765"/>
            <a:ext cx="84914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actual transmission follows the  Path as shown below</a:t>
            </a:r>
            <a:endParaRPr sz="2400">
              <a:solidFill>
                <a:schemeClr val="dk1"/>
              </a:solidFill>
              <a:latin typeface="Times New Roman"/>
              <a:ea typeface="Times New Roman"/>
              <a:cs typeface="Times New Roman"/>
              <a:sym typeface="Times New Roman"/>
            </a:endParaRPr>
          </a:p>
        </p:txBody>
      </p:sp>
      <p:pic>
        <p:nvPicPr>
          <p:cNvPr id="133" name="Google Shape;133;p7"/>
          <p:cNvPicPr preferRelativeResize="0"/>
          <p:nvPr/>
        </p:nvPicPr>
        <p:blipFill>
          <a:blip r:embed="rId3">
            <a:alphaModFix/>
          </a:blip>
          <a:stretch>
            <a:fillRect/>
          </a:stretch>
        </p:blipFill>
        <p:spPr>
          <a:xfrm>
            <a:off x="5438150" y="2000255"/>
            <a:ext cx="2533650" cy="285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1659468" y="90310"/>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lang="en-US"/>
              <a:t> Services provided to the Network Layer</a:t>
            </a:r>
            <a:endParaRPr/>
          </a:p>
        </p:txBody>
      </p:sp>
      <p:sp>
        <p:nvSpPr>
          <p:cNvPr id="139" name="Google Shape;139;p8"/>
          <p:cNvSpPr txBox="1"/>
          <p:nvPr>
            <p:ph idx="1" type="body"/>
          </p:nvPr>
        </p:nvSpPr>
        <p:spPr>
          <a:xfrm>
            <a:off x="1715911" y="1919120"/>
            <a:ext cx="8760178" cy="258515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DLL commonly provides 3 services</a:t>
            </a:r>
            <a:endParaRPr/>
          </a:p>
          <a:p>
            <a:pPr indent="-228600" lvl="2" marL="1143000" rtl="0" algn="just">
              <a:lnSpc>
                <a:spcPct val="90000"/>
              </a:lnSpc>
              <a:spcBef>
                <a:spcPts val="500"/>
              </a:spcBef>
              <a:spcAft>
                <a:spcPts val="0"/>
              </a:spcAft>
              <a:buClr>
                <a:schemeClr val="dk1"/>
              </a:buClr>
              <a:buSzPts val="2800"/>
              <a:buChar char="•"/>
            </a:pPr>
            <a:r>
              <a:rPr lang="en-US" sz="2800"/>
              <a:t>Unacknowledged connectionless service</a:t>
            </a:r>
            <a:endParaRPr/>
          </a:p>
          <a:p>
            <a:pPr indent="-228600" lvl="2" marL="1143000" rtl="0" algn="just">
              <a:lnSpc>
                <a:spcPct val="90000"/>
              </a:lnSpc>
              <a:spcBef>
                <a:spcPts val="500"/>
              </a:spcBef>
              <a:spcAft>
                <a:spcPts val="0"/>
              </a:spcAft>
              <a:buClr>
                <a:schemeClr val="dk1"/>
              </a:buClr>
              <a:buSzPts val="2800"/>
              <a:buChar char="•"/>
            </a:pPr>
            <a:r>
              <a:rPr lang="en-US" sz="2800"/>
              <a:t>Acknowledged connectionless service</a:t>
            </a:r>
            <a:endParaRPr/>
          </a:p>
          <a:p>
            <a:pPr indent="-228600" lvl="2" marL="1143000" rtl="0" algn="just">
              <a:lnSpc>
                <a:spcPct val="90000"/>
              </a:lnSpc>
              <a:spcBef>
                <a:spcPts val="500"/>
              </a:spcBef>
              <a:spcAft>
                <a:spcPts val="0"/>
              </a:spcAft>
              <a:buClr>
                <a:schemeClr val="dk1"/>
              </a:buClr>
              <a:buSzPts val="2800"/>
              <a:buChar char="•"/>
            </a:pPr>
            <a:r>
              <a:rPr lang="en-US" sz="2800"/>
              <a:t>Acknowledged connection-oriented service</a:t>
            </a:r>
            <a:endParaRPr/>
          </a:p>
        </p:txBody>
      </p:sp>
      <p:sp>
        <p:nvSpPr>
          <p:cNvPr id="140" name="Google Shape;14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9"/>
          <p:cNvPicPr preferRelativeResize="0"/>
          <p:nvPr/>
        </p:nvPicPr>
        <p:blipFill rotWithShape="1">
          <a:blip r:embed="rId3">
            <a:alphaModFix/>
          </a:blip>
          <a:srcRect b="0" l="0" r="0" t="0"/>
          <a:stretch/>
        </p:blipFill>
        <p:spPr>
          <a:xfrm>
            <a:off x="611076" y="1070019"/>
            <a:ext cx="9810750" cy="2548943"/>
          </a:xfrm>
          <a:prstGeom prst="rect">
            <a:avLst/>
          </a:prstGeom>
          <a:noFill/>
          <a:ln>
            <a:noFill/>
          </a:ln>
        </p:spPr>
      </p:pic>
      <p:pic>
        <p:nvPicPr>
          <p:cNvPr id="146" name="Google Shape;146;p9"/>
          <p:cNvPicPr preferRelativeResize="0"/>
          <p:nvPr/>
        </p:nvPicPr>
        <p:blipFill rotWithShape="1">
          <a:blip r:embed="rId4">
            <a:alphaModFix/>
          </a:blip>
          <a:srcRect b="0" l="0" r="0" t="0"/>
          <a:stretch/>
        </p:blipFill>
        <p:spPr>
          <a:xfrm>
            <a:off x="611076" y="3796451"/>
            <a:ext cx="10306050" cy="235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0"/>
          <p:cNvPicPr preferRelativeResize="0"/>
          <p:nvPr/>
        </p:nvPicPr>
        <p:blipFill rotWithShape="1">
          <a:blip r:embed="rId3">
            <a:alphaModFix/>
          </a:blip>
          <a:srcRect b="0" l="0" r="0" t="0"/>
          <a:stretch/>
        </p:blipFill>
        <p:spPr>
          <a:xfrm>
            <a:off x="1143000" y="1275008"/>
            <a:ext cx="9906000" cy="33827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a:t>
            </a:r>
            <a:endParaRPr/>
          </a:p>
        </p:txBody>
      </p:sp>
      <p:sp>
        <p:nvSpPr>
          <p:cNvPr id="157" name="Google Shape;15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Data-link layer takes the packets from the Network Layer and encapsulates them into frames. </a:t>
            </a:r>
            <a:endParaRPr/>
          </a:p>
          <a:p>
            <a:pPr indent="-228600" lvl="0" marL="228600" rtl="0" algn="l">
              <a:lnSpc>
                <a:spcPct val="90000"/>
              </a:lnSpc>
              <a:spcBef>
                <a:spcPts val="1000"/>
              </a:spcBef>
              <a:spcAft>
                <a:spcPts val="0"/>
              </a:spcAft>
              <a:buClr>
                <a:schemeClr val="dk1"/>
              </a:buClr>
              <a:buSzPct val="100000"/>
              <a:buChar char="•"/>
            </a:pPr>
            <a:r>
              <a:rPr lang="en-US"/>
              <a:t>If the frame size becomes too large, then the packet may be divided into small sized frames. </a:t>
            </a:r>
            <a:endParaRPr/>
          </a:p>
          <a:p>
            <a:pPr indent="-228600" lvl="0" marL="228600" rtl="0" algn="l">
              <a:lnSpc>
                <a:spcPct val="90000"/>
              </a:lnSpc>
              <a:spcBef>
                <a:spcPts val="1000"/>
              </a:spcBef>
              <a:spcAft>
                <a:spcPts val="0"/>
              </a:spcAft>
              <a:buClr>
                <a:schemeClr val="dk1"/>
              </a:buClr>
              <a:buSzPct val="100000"/>
              <a:buChar char="•"/>
            </a:pPr>
            <a:r>
              <a:rPr lang="en-US"/>
              <a:t>Smaller sized frames makes flow control and error control more efficient. </a:t>
            </a:r>
            <a:endParaRPr/>
          </a:p>
          <a:p>
            <a:pPr indent="-228600" lvl="0" marL="228600" rtl="0" algn="l">
              <a:lnSpc>
                <a:spcPct val="90000"/>
              </a:lnSpc>
              <a:spcBef>
                <a:spcPts val="1000"/>
              </a:spcBef>
              <a:spcAft>
                <a:spcPts val="0"/>
              </a:spcAft>
              <a:buClr>
                <a:schemeClr val="dk1"/>
              </a:buClr>
              <a:buSzPct val="100000"/>
              <a:buChar char="•"/>
            </a:pPr>
            <a:r>
              <a:rPr lang="en-US"/>
              <a:t>Then, it sends each frame bit-by-bit on the hardware. At receiver’s end, data link layer picks up signals from hardware and assembles them into frames.</a:t>
            </a:r>
            <a:endParaRPr/>
          </a:p>
          <a:p>
            <a:pPr indent="-228600" lvl="0" marL="228600" rtl="0" algn="l">
              <a:lnSpc>
                <a:spcPct val="90000"/>
              </a:lnSpc>
              <a:spcBef>
                <a:spcPts val="1000"/>
              </a:spcBef>
              <a:spcAft>
                <a:spcPts val="0"/>
              </a:spcAft>
              <a:buClr>
                <a:schemeClr val="dk1"/>
              </a:buClr>
              <a:buSzPct val="100000"/>
              <a:buChar char="•"/>
            </a:pPr>
            <a:r>
              <a:rPr lang="en-US"/>
              <a:t>Process of breaking  down a stream of bits into smaller, manageable  units called frames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a:t>
            </a:r>
            <a:endParaRPr/>
          </a:p>
        </p:txBody>
      </p:sp>
      <p:sp>
        <p:nvSpPr>
          <p:cNvPr id="163" name="Google Shape;16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 provide service to the network layer, the data link layer must use the service provided to it by the physical layer. </a:t>
            </a:r>
            <a:endParaRPr/>
          </a:p>
          <a:p>
            <a:pPr indent="-228600" lvl="0" marL="228600" rtl="0" algn="l">
              <a:lnSpc>
                <a:spcPct val="90000"/>
              </a:lnSpc>
              <a:spcBef>
                <a:spcPts val="1000"/>
              </a:spcBef>
              <a:spcAft>
                <a:spcPts val="0"/>
              </a:spcAft>
              <a:buClr>
                <a:schemeClr val="dk1"/>
              </a:buClr>
              <a:buSzPts val="2800"/>
              <a:buChar char="•"/>
            </a:pPr>
            <a:r>
              <a:rPr lang="en-US"/>
              <a:t>What the physical layer does is accept a raw bit stream and attempt to deliver it to the destination.</a:t>
            </a:r>
            <a:endParaRPr/>
          </a:p>
          <a:p>
            <a:pPr indent="-228600" lvl="0" marL="228600" rtl="0" algn="l">
              <a:lnSpc>
                <a:spcPct val="90000"/>
              </a:lnSpc>
              <a:spcBef>
                <a:spcPts val="1000"/>
              </a:spcBef>
              <a:spcAft>
                <a:spcPts val="0"/>
              </a:spcAft>
              <a:buClr>
                <a:schemeClr val="dk1"/>
              </a:buClr>
              <a:buSzPts val="2800"/>
              <a:buChar char="•"/>
            </a:pPr>
            <a:r>
              <a:rPr lang="en-US"/>
              <a:t> This bit stream is not guaranteed to be error free. </a:t>
            </a:r>
            <a:endParaRPr/>
          </a:p>
          <a:p>
            <a:pPr indent="-228600" lvl="0" marL="228600" rtl="0" algn="l">
              <a:lnSpc>
                <a:spcPct val="90000"/>
              </a:lnSpc>
              <a:spcBef>
                <a:spcPts val="1000"/>
              </a:spcBef>
              <a:spcAft>
                <a:spcPts val="0"/>
              </a:spcAft>
              <a:buClr>
                <a:schemeClr val="dk1"/>
              </a:buClr>
              <a:buSzPts val="2800"/>
              <a:buChar char="•"/>
            </a:pPr>
            <a:r>
              <a:rPr lang="en-US"/>
              <a:t>The number of bits received may be less than, equal to, or more than the number of bits transmitted, and they may have different values. </a:t>
            </a:r>
            <a:endParaRPr/>
          </a:p>
          <a:p>
            <a:pPr indent="-228600" lvl="0" marL="228600" rtl="0" algn="l">
              <a:lnSpc>
                <a:spcPct val="90000"/>
              </a:lnSpc>
              <a:spcBef>
                <a:spcPts val="1000"/>
              </a:spcBef>
              <a:spcAft>
                <a:spcPts val="0"/>
              </a:spcAft>
              <a:buClr>
                <a:schemeClr val="dk1"/>
              </a:buClr>
              <a:buSzPts val="2800"/>
              <a:buChar char="•"/>
            </a:pPr>
            <a:r>
              <a:rPr lang="en-US"/>
              <a:t>It is up to the data link layer to detect and, if necessary, correct errors.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a:t>
            </a:r>
            <a:endParaRPr/>
          </a:p>
        </p:txBody>
      </p:sp>
      <p:sp>
        <p:nvSpPr>
          <p:cNvPr id="169" name="Google Shape;16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usual approach is for the data link layer to break the bit stream up into discrete frames and compute the checksum for each frame.</a:t>
            </a:r>
            <a:endParaRPr/>
          </a:p>
          <a:p>
            <a:pPr indent="-228600" lvl="0" marL="228600" rtl="0" algn="l">
              <a:lnSpc>
                <a:spcPct val="90000"/>
              </a:lnSpc>
              <a:spcBef>
                <a:spcPts val="1000"/>
              </a:spcBef>
              <a:spcAft>
                <a:spcPts val="0"/>
              </a:spcAft>
              <a:buClr>
                <a:schemeClr val="dk1"/>
              </a:buClr>
              <a:buSzPts val="2800"/>
              <a:buChar char="•"/>
            </a:pPr>
            <a:r>
              <a:rPr lang="en-US"/>
              <a:t> When a frame arrives at the destination, the checksum is recomputed. </a:t>
            </a:r>
            <a:endParaRPr/>
          </a:p>
          <a:p>
            <a:pPr indent="-228600" lvl="0" marL="228600" rtl="0" algn="l">
              <a:lnSpc>
                <a:spcPct val="90000"/>
              </a:lnSpc>
              <a:spcBef>
                <a:spcPts val="1000"/>
              </a:spcBef>
              <a:spcAft>
                <a:spcPts val="0"/>
              </a:spcAft>
              <a:buClr>
                <a:schemeClr val="dk1"/>
              </a:buClr>
              <a:buSzPts val="2800"/>
              <a:buChar char="•"/>
            </a:pPr>
            <a:r>
              <a:rPr lang="en-US"/>
              <a:t>If the newly-computed checksum is different from the one contained in the frame, the data link layer knows that an error has occurred and takes steps to deal with it (e.g., discarding the bad frame and possibly also sending back an error report).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 Types </a:t>
            </a:r>
            <a:endParaRPr/>
          </a:p>
        </p:txBody>
      </p:sp>
      <p:sp>
        <p:nvSpPr>
          <p:cNvPr id="175" name="Google Shape;17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Framing can be of two types</a:t>
            </a:r>
            <a:endParaRPr/>
          </a:p>
          <a:p>
            <a:pPr indent="-50800" lvl="0" marL="228600" rtl="0" algn="l">
              <a:lnSpc>
                <a:spcPct val="90000"/>
              </a:lnSpc>
              <a:spcBef>
                <a:spcPts val="100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Fixed-sized Framing</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Variable – Sized Framing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 Types </a:t>
            </a:r>
            <a:endParaRPr/>
          </a:p>
        </p:txBody>
      </p:sp>
      <p:sp>
        <p:nvSpPr>
          <p:cNvPr id="181" name="Google Shape;18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Framing can be of two types, fixed sized framing and variable sized framing.</a:t>
            </a:r>
            <a:endParaRPr/>
          </a:p>
          <a:p>
            <a:pPr indent="-228600" lvl="0" marL="228600" rtl="0" algn="l">
              <a:lnSpc>
                <a:spcPct val="90000"/>
              </a:lnSpc>
              <a:spcBef>
                <a:spcPts val="1000"/>
              </a:spcBef>
              <a:spcAft>
                <a:spcPts val="0"/>
              </a:spcAft>
              <a:buClr>
                <a:schemeClr val="dk1"/>
              </a:buClr>
              <a:buSzPct val="100000"/>
              <a:buChar char="•"/>
            </a:pPr>
            <a:r>
              <a:rPr b="1" lang="en-US"/>
              <a:t>Fixed-sized Framing</a:t>
            </a:r>
            <a:endParaRPr/>
          </a:p>
          <a:p>
            <a:pPr indent="-228600" lvl="1" marL="685800" rtl="0" algn="l">
              <a:lnSpc>
                <a:spcPct val="90000"/>
              </a:lnSpc>
              <a:spcBef>
                <a:spcPts val="500"/>
              </a:spcBef>
              <a:spcAft>
                <a:spcPts val="0"/>
              </a:spcAft>
              <a:buClr>
                <a:schemeClr val="dk1"/>
              </a:buClr>
              <a:buSzPct val="100000"/>
              <a:buChar char="•"/>
            </a:pPr>
            <a:r>
              <a:rPr lang="en-US"/>
              <a:t>Here the size of the frame is fixed and so the frame length acts as delimiter of the frame. </a:t>
            </a:r>
            <a:endParaRPr/>
          </a:p>
          <a:p>
            <a:pPr indent="-228600" lvl="1" marL="685800" rtl="0" algn="l">
              <a:lnSpc>
                <a:spcPct val="90000"/>
              </a:lnSpc>
              <a:spcBef>
                <a:spcPts val="500"/>
              </a:spcBef>
              <a:spcAft>
                <a:spcPts val="0"/>
              </a:spcAft>
              <a:buClr>
                <a:schemeClr val="dk1"/>
              </a:buClr>
              <a:buSzPct val="100000"/>
              <a:buChar char="•"/>
            </a:pPr>
            <a:r>
              <a:rPr lang="en-US"/>
              <a:t>Consequently, it does not require additional boundary bits to identify the start and end of the frame.</a:t>
            </a:r>
            <a:endParaRPr/>
          </a:p>
          <a:p>
            <a:pPr indent="-228600" lvl="1" marL="685800" rtl="0" algn="l">
              <a:lnSpc>
                <a:spcPct val="90000"/>
              </a:lnSpc>
              <a:spcBef>
                <a:spcPts val="500"/>
              </a:spcBef>
              <a:spcAft>
                <a:spcPts val="0"/>
              </a:spcAft>
              <a:buClr>
                <a:schemeClr val="dk1"/>
              </a:buClr>
              <a:buSzPct val="100000"/>
              <a:buChar char="•"/>
            </a:pPr>
            <a:r>
              <a:rPr lang="en-US"/>
              <a:t>Example − ATM cells.</a:t>
            </a:r>
            <a:endParaRPr/>
          </a:p>
          <a:p>
            <a:pPr indent="-228600" lvl="0" marL="228600" rtl="0" algn="l">
              <a:lnSpc>
                <a:spcPct val="90000"/>
              </a:lnSpc>
              <a:spcBef>
                <a:spcPts val="1000"/>
              </a:spcBef>
              <a:spcAft>
                <a:spcPts val="0"/>
              </a:spcAft>
              <a:buClr>
                <a:schemeClr val="dk1"/>
              </a:buClr>
              <a:buSzPct val="100000"/>
              <a:buChar char="•"/>
            </a:pPr>
            <a:r>
              <a:rPr b="1" lang="en-US"/>
              <a:t>Variable – Sized Framing</a:t>
            </a:r>
            <a:endParaRPr/>
          </a:p>
          <a:p>
            <a:pPr indent="-228600" lvl="1" marL="685800" rtl="0" algn="l">
              <a:lnSpc>
                <a:spcPct val="90000"/>
              </a:lnSpc>
              <a:spcBef>
                <a:spcPts val="500"/>
              </a:spcBef>
              <a:spcAft>
                <a:spcPts val="0"/>
              </a:spcAft>
              <a:buClr>
                <a:schemeClr val="dk1"/>
              </a:buClr>
              <a:buSzPct val="100000"/>
              <a:buChar char="•"/>
            </a:pPr>
            <a:r>
              <a:rPr lang="en-US"/>
              <a:t>Here, the size of each frame to be transmitted may be different. </a:t>
            </a:r>
            <a:endParaRPr/>
          </a:p>
          <a:p>
            <a:pPr indent="-228600" lvl="1" marL="685800" rtl="0" algn="l">
              <a:lnSpc>
                <a:spcPct val="90000"/>
              </a:lnSpc>
              <a:spcBef>
                <a:spcPts val="500"/>
              </a:spcBef>
              <a:spcAft>
                <a:spcPts val="0"/>
              </a:spcAft>
              <a:buClr>
                <a:schemeClr val="dk1"/>
              </a:buClr>
              <a:buSzPct val="100000"/>
              <a:buChar char="•"/>
            </a:pPr>
            <a:r>
              <a:rPr lang="en-US"/>
              <a:t>So additional mechanisms are kept to mark the end of one frame and the beginning of the next frame.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Framing</a:t>
            </a:r>
            <a:endParaRPr/>
          </a:p>
        </p:txBody>
      </p:sp>
      <p:sp>
        <p:nvSpPr>
          <p:cNvPr id="187" name="Google Shape;18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One way to achieve this framing is to insert time gaps between frames, much like the spaces between words in ordinary text. </a:t>
            </a:r>
            <a:endParaRPr/>
          </a:p>
          <a:p>
            <a:pPr indent="-228600" lvl="0" marL="228600" rtl="0" algn="l">
              <a:lnSpc>
                <a:spcPct val="90000"/>
              </a:lnSpc>
              <a:spcBef>
                <a:spcPts val="1000"/>
              </a:spcBef>
              <a:spcAft>
                <a:spcPts val="0"/>
              </a:spcAft>
              <a:buClr>
                <a:schemeClr val="dk1"/>
              </a:buClr>
              <a:buSzPts val="2800"/>
              <a:buChar char="•"/>
            </a:pPr>
            <a:r>
              <a:rPr lang="en-US"/>
              <a:t>However, networks rarely make any guarantees about timing, so it is possible these gaps might be squeezed out or other gaps might be inserted during transmission.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Methods of  Framing </a:t>
            </a:r>
            <a:endParaRPr/>
          </a:p>
        </p:txBody>
      </p:sp>
      <p:sp>
        <p:nvSpPr>
          <p:cNvPr id="193" name="Google Shape;19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 Character count.</a:t>
            </a:r>
            <a:endParaRPr/>
          </a:p>
          <a:p>
            <a:pPr indent="-228600" lvl="0" marL="228600" rtl="0" algn="l">
              <a:lnSpc>
                <a:spcPct val="90000"/>
              </a:lnSpc>
              <a:spcBef>
                <a:spcPts val="1000"/>
              </a:spcBef>
              <a:spcAft>
                <a:spcPts val="0"/>
              </a:spcAft>
              <a:buClr>
                <a:schemeClr val="dk1"/>
              </a:buClr>
              <a:buSzPts val="2800"/>
              <a:buChar char="•"/>
            </a:pPr>
            <a:r>
              <a:rPr lang="en-US"/>
              <a:t>2. Flag bytes with byte stuffing.</a:t>
            </a:r>
            <a:endParaRPr/>
          </a:p>
          <a:p>
            <a:pPr indent="-228600" lvl="0" marL="228600" rtl="0" algn="l">
              <a:lnSpc>
                <a:spcPct val="90000"/>
              </a:lnSpc>
              <a:spcBef>
                <a:spcPts val="1000"/>
              </a:spcBef>
              <a:spcAft>
                <a:spcPts val="0"/>
              </a:spcAft>
              <a:buClr>
                <a:schemeClr val="dk1"/>
              </a:buClr>
              <a:buSzPts val="2800"/>
              <a:buChar char="•"/>
            </a:pPr>
            <a:r>
              <a:rPr lang="en-US"/>
              <a:t>3. Starting and ending flags, with bit stuffing.</a:t>
            </a:r>
            <a:endParaRPr/>
          </a:p>
          <a:p>
            <a:pPr indent="-228600" lvl="0" marL="228600" rtl="0" algn="l">
              <a:lnSpc>
                <a:spcPct val="90000"/>
              </a:lnSpc>
              <a:spcBef>
                <a:spcPts val="1000"/>
              </a:spcBef>
              <a:spcAft>
                <a:spcPts val="0"/>
              </a:spcAft>
              <a:buClr>
                <a:schemeClr val="dk1"/>
              </a:buClr>
              <a:buSzPts val="2800"/>
              <a:buChar char="•"/>
            </a:pPr>
            <a:r>
              <a:rPr lang="en-US"/>
              <a:t>4. Physical layer coding violations.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Character count.</a:t>
            </a:r>
            <a:br>
              <a:rPr lang="en-US"/>
            </a:br>
            <a:endParaRPr/>
          </a:p>
        </p:txBody>
      </p:sp>
      <p:sp>
        <p:nvSpPr>
          <p:cNvPr id="199" name="Google Shape;19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Uses a field in the header to specify the number of characters in the frame. </a:t>
            </a:r>
            <a:endParaRPr/>
          </a:p>
          <a:p>
            <a:pPr indent="-228600" lvl="0" marL="228600" rtl="0" algn="l">
              <a:lnSpc>
                <a:spcPct val="90000"/>
              </a:lnSpc>
              <a:spcBef>
                <a:spcPts val="1000"/>
              </a:spcBef>
              <a:spcAft>
                <a:spcPts val="0"/>
              </a:spcAft>
              <a:buClr>
                <a:schemeClr val="dk1"/>
              </a:buClr>
              <a:buSzPts val="2800"/>
              <a:buChar char="•"/>
            </a:pPr>
            <a:r>
              <a:rPr lang="en-US"/>
              <a:t>When the data link layer at the destination sees the character count, it knows how many characters follow and hence where the end of the frame 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Character count.</a:t>
            </a:r>
            <a:br>
              <a:rPr lang="en-US"/>
            </a:br>
            <a:endParaRPr/>
          </a:p>
        </p:txBody>
      </p:sp>
      <p:pic>
        <p:nvPicPr>
          <p:cNvPr id="205" name="Google Shape;205;p19"/>
          <p:cNvPicPr preferRelativeResize="0"/>
          <p:nvPr>
            <p:ph idx="1" type="body"/>
          </p:nvPr>
        </p:nvPicPr>
        <p:blipFill rotWithShape="1">
          <a:blip r:embed="rId3">
            <a:alphaModFix/>
          </a:blip>
          <a:srcRect b="0" l="0" r="0" t="0"/>
          <a:stretch/>
        </p:blipFill>
        <p:spPr>
          <a:xfrm>
            <a:off x="1121468" y="1506280"/>
            <a:ext cx="7816470" cy="1996773"/>
          </a:xfrm>
          <a:prstGeom prst="rect">
            <a:avLst/>
          </a:prstGeom>
          <a:noFill/>
          <a:ln>
            <a:noFill/>
          </a:ln>
        </p:spPr>
      </p:pic>
      <p:sp>
        <p:nvSpPr>
          <p:cNvPr id="206" name="Google Shape;206;p19"/>
          <p:cNvSpPr/>
          <p:nvPr/>
        </p:nvSpPr>
        <p:spPr>
          <a:xfrm>
            <a:off x="3818684" y="4274876"/>
            <a:ext cx="17727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Arial"/>
                <a:ea typeface="Arial"/>
                <a:cs typeface="Arial"/>
                <a:sym typeface="Arial"/>
              </a:rPr>
              <a:t>Without errors</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Character count </a:t>
            </a:r>
            <a:endParaRPr/>
          </a:p>
        </p:txBody>
      </p:sp>
      <p:sp>
        <p:nvSpPr>
          <p:cNvPr id="212" name="Google Shape;212;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trouble with this method is that the count can be garbled by a transmission error. </a:t>
            </a:r>
            <a:endParaRPr/>
          </a:p>
          <a:p>
            <a:pPr indent="-228600" lvl="0" marL="228600" rtl="0" algn="l">
              <a:lnSpc>
                <a:spcPct val="90000"/>
              </a:lnSpc>
              <a:spcBef>
                <a:spcPts val="1000"/>
              </a:spcBef>
              <a:spcAft>
                <a:spcPts val="0"/>
              </a:spcAft>
              <a:buClr>
                <a:schemeClr val="dk1"/>
              </a:buClr>
              <a:buSzPts val="2800"/>
              <a:buChar char="•"/>
            </a:pPr>
            <a:r>
              <a:rPr lang="en-US"/>
              <a:t>For example, if the character count of 5 becomes a 7, the destination will get out of synchronization and will be unable to locate the start of the next frame</a:t>
            </a:r>
            <a:endParaRPr/>
          </a:p>
          <a:p>
            <a:pPr indent="-228600" lvl="0" marL="228600" rtl="0" algn="l">
              <a:lnSpc>
                <a:spcPct val="90000"/>
              </a:lnSpc>
              <a:spcBef>
                <a:spcPts val="1000"/>
              </a:spcBef>
              <a:spcAft>
                <a:spcPts val="0"/>
              </a:spcAft>
              <a:buClr>
                <a:schemeClr val="dk1"/>
              </a:buClr>
              <a:buSzPts val="2800"/>
              <a:buChar char="•"/>
            </a:pPr>
            <a:r>
              <a:rPr lang="en-US"/>
              <a:t>For this reason, the character count method is rarely used anymore.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Character count -</a:t>
            </a:r>
            <a:r>
              <a:rPr b="1" i="1" lang="en-US"/>
              <a:t>With one error.</a:t>
            </a:r>
            <a:endParaRPr/>
          </a:p>
        </p:txBody>
      </p:sp>
      <p:pic>
        <p:nvPicPr>
          <p:cNvPr id="218" name="Google Shape;218;p21"/>
          <p:cNvPicPr preferRelativeResize="0"/>
          <p:nvPr>
            <p:ph idx="1" type="body"/>
          </p:nvPr>
        </p:nvPicPr>
        <p:blipFill rotWithShape="1">
          <a:blip r:embed="rId3">
            <a:alphaModFix/>
          </a:blip>
          <a:srcRect b="0" l="0" r="0" t="0"/>
          <a:stretch/>
        </p:blipFill>
        <p:spPr>
          <a:xfrm>
            <a:off x="1622738" y="2318198"/>
            <a:ext cx="7340287" cy="23831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Flag bytes with byte stuffing</a:t>
            </a:r>
            <a:endParaRPr/>
          </a:p>
        </p:txBody>
      </p:sp>
      <p:sp>
        <p:nvSpPr>
          <p:cNvPr id="224" name="Google Shape;224;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problem with character count can be overcome by this method.</a:t>
            </a:r>
            <a:endParaRPr/>
          </a:p>
          <a:p>
            <a:pPr indent="-228600" lvl="0" marL="228600" rtl="0" algn="l">
              <a:lnSpc>
                <a:spcPct val="90000"/>
              </a:lnSpc>
              <a:spcBef>
                <a:spcPts val="1000"/>
              </a:spcBef>
              <a:spcAft>
                <a:spcPts val="0"/>
              </a:spcAft>
              <a:buClr>
                <a:schemeClr val="dk1"/>
              </a:buClr>
              <a:buSzPts val="2800"/>
              <a:buChar char="•"/>
            </a:pPr>
            <a:r>
              <a:rPr lang="en-US"/>
              <a:t>In this  method each frame start and end with special bytes called FLAG byte  as shown below</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if the receiver ever loses synchronization, it can just search for the flag byte to find the end of the current frame. </a:t>
            </a:r>
            <a:endParaRPr/>
          </a:p>
          <a:p>
            <a:pPr indent="-228600" lvl="0" marL="228600" rtl="0" algn="l">
              <a:lnSpc>
                <a:spcPct val="90000"/>
              </a:lnSpc>
              <a:spcBef>
                <a:spcPts val="1000"/>
              </a:spcBef>
              <a:spcAft>
                <a:spcPts val="0"/>
              </a:spcAft>
              <a:buClr>
                <a:schemeClr val="dk1"/>
              </a:buClr>
              <a:buSzPts val="2800"/>
              <a:buChar char="•"/>
            </a:pPr>
            <a:r>
              <a:rPr lang="en-US"/>
              <a:t>Two consecutive flag bytes indicate the end of one frame and start of the next one.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5" name="Google Shape;225;p22"/>
          <p:cNvPicPr preferRelativeResize="0"/>
          <p:nvPr/>
        </p:nvPicPr>
        <p:blipFill rotWithShape="1">
          <a:blip r:embed="rId3">
            <a:alphaModFix/>
          </a:blip>
          <a:srcRect b="0" l="0" r="0" t="0"/>
          <a:stretch/>
        </p:blipFill>
        <p:spPr>
          <a:xfrm>
            <a:off x="1815921" y="3196354"/>
            <a:ext cx="6056491" cy="9594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5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5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5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5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5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5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500"/>
                                        <p:tgtEl>
                                          <p:spTgt spid="2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Flag bytes with byte stuffing</a:t>
            </a:r>
            <a:endParaRPr/>
          </a:p>
        </p:txBody>
      </p:sp>
      <p:sp>
        <p:nvSpPr>
          <p:cNvPr id="231" name="Google Shape;23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A serious problem occurs with this method when binary data, such as object programs or floating-point numbers, are being transmitted. </a:t>
            </a:r>
            <a:endParaRPr/>
          </a:p>
          <a:p>
            <a:pPr indent="-228600" lvl="0" marL="228600" rtl="0" algn="l">
              <a:lnSpc>
                <a:spcPct val="90000"/>
              </a:lnSpc>
              <a:spcBef>
                <a:spcPts val="1000"/>
              </a:spcBef>
              <a:spcAft>
                <a:spcPts val="0"/>
              </a:spcAft>
              <a:buClr>
                <a:schemeClr val="dk1"/>
              </a:buClr>
              <a:buSzPct val="100000"/>
              <a:buChar char="•"/>
            </a:pPr>
            <a:r>
              <a:rPr lang="en-US"/>
              <a:t>It may easily happen that the </a:t>
            </a:r>
            <a:r>
              <a:rPr lang="en-US">
                <a:solidFill>
                  <a:srgbClr val="FF0000"/>
                </a:solidFill>
              </a:rPr>
              <a:t>flag byte's bit pattern occurs in the data</a:t>
            </a:r>
            <a:r>
              <a:rPr lang="en-US"/>
              <a:t>. </a:t>
            </a:r>
            <a:endParaRPr/>
          </a:p>
          <a:p>
            <a:pPr indent="-228600" lvl="0" marL="228600" rtl="0" algn="l">
              <a:lnSpc>
                <a:spcPct val="90000"/>
              </a:lnSpc>
              <a:spcBef>
                <a:spcPts val="1000"/>
              </a:spcBef>
              <a:spcAft>
                <a:spcPts val="0"/>
              </a:spcAft>
              <a:buClr>
                <a:schemeClr val="dk1"/>
              </a:buClr>
              <a:buSzPct val="100000"/>
              <a:buChar char="•"/>
            </a:pPr>
            <a:r>
              <a:rPr lang="en-US"/>
              <a:t>This situation will usually interfere with the framing.</a:t>
            </a:r>
            <a:endParaRPr/>
          </a:p>
          <a:p>
            <a:pPr indent="-228600" lvl="0" marL="228600" rtl="0" algn="l">
              <a:lnSpc>
                <a:spcPct val="90000"/>
              </a:lnSpc>
              <a:spcBef>
                <a:spcPts val="1000"/>
              </a:spcBef>
              <a:spcAft>
                <a:spcPts val="0"/>
              </a:spcAft>
              <a:buClr>
                <a:schemeClr val="dk1"/>
              </a:buClr>
              <a:buSzPct val="100000"/>
              <a:buChar char="•"/>
            </a:pPr>
            <a:r>
              <a:rPr lang="en-US"/>
              <a:t> One way to solve this problem is to have the sender's data link layer insert a</a:t>
            </a:r>
            <a:endParaRPr/>
          </a:p>
          <a:p>
            <a:pPr indent="0" lvl="0" marL="0" rtl="0" algn="l">
              <a:lnSpc>
                <a:spcPct val="90000"/>
              </a:lnSpc>
              <a:spcBef>
                <a:spcPts val="1000"/>
              </a:spcBef>
              <a:spcAft>
                <a:spcPts val="0"/>
              </a:spcAft>
              <a:buClr>
                <a:schemeClr val="dk1"/>
              </a:buClr>
              <a:buSzPct val="100000"/>
              <a:buNone/>
            </a:pPr>
            <a:r>
              <a:rPr lang="en-US"/>
              <a:t>   special escape byte (ESC) just before each ''accidental'' flag byte in the data.</a:t>
            </a:r>
            <a:endParaRPr/>
          </a:p>
          <a:p>
            <a:pPr indent="-228600" lvl="0" marL="228600" rtl="0" algn="l">
              <a:lnSpc>
                <a:spcPct val="90000"/>
              </a:lnSpc>
              <a:spcBef>
                <a:spcPts val="1000"/>
              </a:spcBef>
              <a:spcAft>
                <a:spcPts val="0"/>
              </a:spcAft>
              <a:buClr>
                <a:schemeClr val="dk1"/>
              </a:buClr>
              <a:buSzPct val="100000"/>
              <a:buChar char="•"/>
            </a:pPr>
            <a:r>
              <a:rPr lang="en-US"/>
              <a:t> The data link layer on the receiving end removes the escape byte before the data are given to the network layer.</a:t>
            </a:r>
            <a:endParaRPr/>
          </a:p>
          <a:p>
            <a:pPr indent="-228600" lvl="0" marL="228600" rtl="0" algn="l">
              <a:lnSpc>
                <a:spcPct val="90000"/>
              </a:lnSpc>
              <a:spcBef>
                <a:spcPts val="1000"/>
              </a:spcBef>
              <a:spcAft>
                <a:spcPts val="0"/>
              </a:spcAft>
              <a:buClr>
                <a:schemeClr val="dk1"/>
              </a:buClr>
              <a:buSzPct val="100000"/>
              <a:buChar char="•"/>
            </a:pPr>
            <a:r>
              <a:rPr lang="en-US"/>
              <a:t> This technique is called byte stuffing or character stuffing.</a:t>
            </a:r>
            <a:endParaRPr/>
          </a:p>
          <a:p>
            <a:pPr indent="-228600" lvl="0" marL="228600" rtl="0" algn="l">
              <a:lnSpc>
                <a:spcPct val="90000"/>
              </a:lnSpc>
              <a:spcBef>
                <a:spcPts val="1000"/>
              </a:spcBef>
              <a:spcAft>
                <a:spcPts val="0"/>
              </a:spcAft>
              <a:buClr>
                <a:schemeClr val="dk1"/>
              </a:buClr>
              <a:buSzPct val="100000"/>
              <a:buChar char="•"/>
            </a:pPr>
            <a:r>
              <a:rPr lang="en-US"/>
              <a:t> Thus, a framing flag byte can be distinguished from one in the data by the absence or presence of an escape byte before it.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Flag bytes with byte stuffing</a:t>
            </a:r>
            <a:endParaRPr/>
          </a:p>
        </p:txBody>
      </p:sp>
      <p:pic>
        <p:nvPicPr>
          <p:cNvPr id="237" name="Google Shape;237;p24"/>
          <p:cNvPicPr preferRelativeResize="0"/>
          <p:nvPr>
            <p:ph idx="1" type="body"/>
          </p:nvPr>
        </p:nvPicPr>
        <p:blipFill rotWithShape="1">
          <a:blip r:embed="rId3">
            <a:alphaModFix/>
          </a:blip>
          <a:srcRect b="0" l="0" r="0" t="0"/>
          <a:stretch/>
        </p:blipFill>
        <p:spPr>
          <a:xfrm>
            <a:off x="2189408" y="2047741"/>
            <a:ext cx="4982917" cy="36962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Four examples of byte sequences before and after stuffing.</a:t>
            </a:r>
            <a:br>
              <a:rPr lang="en-US"/>
            </a:br>
            <a:endParaRPr/>
          </a:p>
        </p:txBody>
      </p:sp>
      <p:pic>
        <p:nvPicPr>
          <p:cNvPr id="243" name="Google Shape;243;p25"/>
          <p:cNvPicPr preferRelativeResize="0"/>
          <p:nvPr>
            <p:ph idx="1" type="body"/>
          </p:nvPr>
        </p:nvPicPr>
        <p:blipFill rotWithShape="1">
          <a:blip r:embed="rId3">
            <a:alphaModFix/>
          </a:blip>
          <a:srcRect b="0" l="0" r="0" t="0"/>
          <a:stretch/>
        </p:blipFill>
        <p:spPr>
          <a:xfrm>
            <a:off x="1790164" y="1690688"/>
            <a:ext cx="7177624" cy="357743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Framing</a:t>
            </a:r>
            <a:endParaRPr/>
          </a:p>
        </p:txBody>
      </p:sp>
      <p:sp>
        <p:nvSpPr>
          <p:cNvPr id="249" name="Google Shape;249;p26"/>
          <p:cNvSpPr txBox="1"/>
          <p:nvPr>
            <p:ph idx="1" type="body"/>
          </p:nvPr>
        </p:nvSpPr>
        <p:spPr>
          <a:xfrm>
            <a:off x="1715911" y="541868"/>
            <a:ext cx="8760178" cy="614115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Flag bytes with byte stuffing</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If an escape byte occurs in the middle of the data, it is also stuffed with an escape byte.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Thus, any single escape byte is part of an escape sequence, whereas a doubled one indicates that a single escape occurred naturally in the data</a:t>
            </a:r>
            <a:endParaRPr/>
          </a:p>
          <a:p>
            <a:pPr indent="-228600" lvl="0" marL="228600" rtl="0" algn="just">
              <a:lnSpc>
                <a:spcPct val="90000"/>
              </a:lnSpc>
              <a:spcBef>
                <a:spcPts val="1000"/>
              </a:spcBef>
              <a:spcAft>
                <a:spcPts val="0"/>
              </a:spcAft>
              <a:buClr>
                <a:srgbClr val="FF0000"/>
              </a:buClr>
              <a:buSzPts val="2800"/>
              <a:buFont typeface="Noto Sans Symbols"/>
              <a:buChar char="✔"/>
            </a:pPr>
            <a:r>
              <a:rPr lang="en-US">
                <a:solidFill>
                  <a:srgbClr val="FF0000"/>
                </a:solidFill>
              </a:rPr>
              <a:t>Application:</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Used in PPP (point-to-point protocol)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most home computers use PPP to communicate with their Internet service provider</a:t>
            </a:r>
            <a:endParaRPr/>
          </a:p>
          <a:p>
            <a:pPr indent="-228600" lvl="0" marL="228600" rtl="0" algn="just">
              <a:lnSpc>
                <a:spcPct val="90000"/>
              </a:lnSpc>
              <a:spcBef>
                <a:spcPts val="1000"/>
              </a:spcBef>
              <a:spcAft>
                <a:spcPts val="0"/>
              </a:spcAft>
              <a:buClr>
                <a:srgbClr val="FF0000"/>
              </a:buClr>
              <a:buSzPts val="2800"/>
              <a:buFont typeface="Noto Sans Symbols"/>
              <a:buChar char="✔"/>
            </a:pPr>
            <a:r>
              <a:rPr lang="en-US">
                <a:solidFill>
                  <a:srgbClr val="FF0000"/>
                </a:solidFill>
              </a:rPr>
              <a:t>Disadvantage</a:t>
            </a:r>
            <a:r>
              <a:rPr lang="en-US"/>
              <a:t> of this framing method</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it is closely tied to the use of 8-bit characters</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Not all character codes use 8-bit characters. </a:t>
            </a:r>
            <a:endParaRPr/>
          </a:p>
          <a:p>
            <a:pPr indent="-228600" lvl="1" marL="685800" rtl="0" algn="just">
              <a:lnSpc>
                <a:spcPct val="90000"/>
              </a:lnSpc>
              <a:spcBef>
                <a:spcPts val="500"/>
              </a:spcBef>
              <a:spcAft>
                <a:spcPts val="0"/>
              </a:spcAft>
              <a:buClr>
                <a:schemeClr val="dk1"/>
              </a:buClr>
              <a:buSzPts val="2400"/>
              <a:buFont typeface="Noto Sans Symbols"/>
              <a:buChar char="✔"/>
            </a:pPr>
            <a:r>
              <a:rPr lang="en-US"/>
              <a:t>UNICODE uses 16-bit characters</a:t>
            </a:r>
            <a:endParaRPr/>
          </a:p>
        </p:txBody>
      </p:sp>
      <p:sp>
        <p:nvSpPr>
          <p:cNvPr id="250" name="Google Shape;25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5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500"/>
                                        <p:tgtEl>
                                          <p:spTgt spid="2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animEffect filter="fade" transition="in">
                                      <p:cBhvr>
                                        <p:cTn dur="500"/>
                                        <p:tgtEl>
                                          <p:spTgt spid="2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animEffect filter="fade" transition="in">
                                      <p:cBhvr>
                                        <p:cTn dur="500"/>
                                        <p:tgtEl>
                                          <p:spTgt spid="2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4" st="4"/>
                                            </p:txEl>
                                          </p:spTgt>
                                        </p:tgtEl>
                                        <p:attrNameLst>
                                          <p:attrName>style.visibility</p:attrName>
                                        </p:attrNameLst>
                                      </p:cBhvr>
                                      <p:to>
                                        <p:strVal val="visible"/>
                                      </p:to>
                                    </p:set>
                                    <p:animEffect filter="fade" transition="in">
                                      <p:cBhvr>
                                        <p:cTn dur="500"/>
                                        <p:tgtEl>
                                          <p:spTgt spid="2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5" st="5"/>
                                            </p:txEl>
                                          </p:spTgt>
                                        </p:tgtEl>
                                        <p:attrNameLst>
                                          <p:attrName>style.visibility</p:attrName>
                                        </p:attrNameLst>
                                      </p:cBhvr>
                                      <p:to>
                                        <p:strVal val="visible"/>
                                      </p:to>
                                    </p:set>
                                    <p:animEffect filter="fade" transition="in">
                                      <p:cBhvr>
                                        <p:cTn dur="500"/>
                                        <p:tgtEl>
                                          <p:spTgt spid="2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6" st="6"/>
                                            </p:txEl>
                                          </p:spTgt>
                                        </p:tgtEl>
                                        <p:attrNameLst>
                                          <p:attrName>style.visibility</p:attrName>
                                        </p:attrNameLst>
                                      </p:cBhvr>
                                      <p:to>
                                        <p:strVal val="visible"/>
                                      </p:to>
                                    </p:set>
                                    <p:animEffect filter="fade" transition="in">
                                      <p:cBhvr>
                                        <p:cTn dur="500"/>
                                        <p:tgtEl>
                                          <p:spTgt spid="2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7" st="7"/>
                                            </p:txEl>
                                          </p:spTgt>
                                        </p:tgtEl>
                                        <p:attrNameLst>
                                          <p:attrName>style.visibility</p:attrName>
                                        </p:attrNameLst>
                                      </p:cBhvr>
                                      <p:to>
                                        <p:strVal val="visible"/>
                                      </p:to>
                                    </p:set>
                                    <p:animEffect filter="fade" transition="in">
                                      <p:cBhvr>
                                        <p:cTn dur="500"/>
                                        <p:tgtEl>
                                          <p:spTgt spid="2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8" st="8"/>
                                            </p:txEl>
                                          </p:spTgt>
                                        </p:tgtEl>
                                        <p:attrNameLst>
                                          <p:attrName>style.visibility</p:attrName>
                                        </p:attrNameLst>
                                      </p:cBhvr>
                                      <p:to>
                                        <p:strVal val="visible"/>
                                      </p:to>
                                    </p:set>
                                    <p:animEffect filter="fade" transition="in">
                                      <p:cBhvr>
                                        <p:cTn dur="500"/>
                                        <p:tgtEl>
                                          <p:spTgt spid="2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9" st="9"/>
                                            </p:txEl>
                                          </p:spTgt>
                                        </p:tgtEl>
                                        <p:attrNameLst>
                                          <p:attrName>style.visibility</p:attrName>
                                        </p:attrNameLst>
                                      </p:cBhvr>
                                      <p:to>
                                        <p:strVal val="visible"/>
                                      </p:to>
                                    </p:set>
                                    <p:animEffect filter="fade" transition="in">
                                      <p:cBhvr>
                                        <p:cTn dur="500"/>
                                        <p:tgtEl>
                                          <p:spTgt spid="24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56" name="Google Shape;25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Problem  : fixed character size : assumes character size to be 8 bits : can’t handle heterogeneous environment.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Starting and ending flags, with bit stuffing </a:t>
            </a:r>
            <a:br>
              <a:rPr lang="en-US">
                <a:solidFill>
                  <a:srgbClr val="FF0000"/>
                </a:solidFill>
              </a:rPr>
            </a:br>
            <a:endParaRPr/>
          </a:p>
        </p:txBody>
      </p:sp>
      <p:sp>
        <p:nvSpPr>
          <p:cNvPr id="262" name="Google Shape;26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technique allows data frames to contain an arbitrary number of bits and allows character codes with an arbitrary number of bits per character. </a:t>
            </a:r>
            <a:endParaRPr/>
          </a:p>
          <a:p>
            <a:pPr indent="-228600" lvl="0" marL="228600" rtl="0" algn="l">
              <a:lnSpc>
                <a:spcPct val="90000"/>
              </a:lnSpc>
              <a:spcBef>
                <a:spcPts val="1000"/>
              </a:spcBef>
              <a:spcAft>
                <a:spcPts val="0"/>
              </a:spcAft>
              <a:buClr>
                <a:schemeClr val="dk1"/>
              </a:buClr>
              <a:buSzPts val="2800"/>
              <a:buChar char="•"/>
            </a:pPr>
            <a:r>
              <a:rPr lang="en-US"/>
              <a:t>Each frame begins and ends with a special bit pattern, 01111110 (in fact, a flag byte).</a:t>
            </a:r>
            <a:endParaRPr/>
          </a:p>
          <a:p>
            <a:pPr indent="-228600" lvl="0" marL="228600" rtl="0" algn="l">
              <a:lnSpc>
                <a:spcPct val="90000"/>
              </a:lnSpc>
              <a:spcBef>
                <a:spcPts val="1000"/>
              </a:spcBef>
              <a:spcAft>
                <a:spcPts val="0"/>
              </a:spcAft>
              <a:buClr>
                <a:schemeClr val="dk1"/>
              </a:buClr>
              <a:buSzPts val="2800"/>
              <a:buChar char="•"/>
            </a:pPr>
            <a:r>
              <a:rPr lang="en-US"/>
              <a:t> Whenever the sender's data link layer encounters five consecutive 1s in the data, it automatically stuffs a 0 bit into the outgoing bit stream. This bit stuffing is analogous to byte stuffing, in which an escape byte is stuffed into the outgoing character stream before a flag byte in the data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Starting and ending flags, with bit stuffing </a:t>
            </a:r>
            <a:br>
              <a:rPr lang="en-US">
                <a:solidFill>
                  <a:srgbClr val="FF0000"/>
                </a:solidFill>
              </a:rPr>
            </a:br>
            <a:endParaRPr/>
          </a:p>
        </p:txBody>
      </p:sp>
      <p:sp>
        <p:nvSpPr>
          <p:cNvPr id="268" name="Google Shape;26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When the receiver sees five consecutive incoming 1 bits, followed by a 0 bit, it automatically destuffs (i.e., deletes) the 0 bit. </a:t>
            </a:r>
            <a:endParaRPr/>
          </a:p>
          <a:p>
            <a:pPr indent="-228600" lvl="0" marL="228600" rtl="0" algn="l">
              <a:lnSpc>
                <a:spcPct val="90000"/>
              </a:lnSpc>
              <a:spcBef>
                <a:spcPts val="1000"/>
              </a:spcBef>
              <a:spcAft>
                <a:spcPts val="0"/>
              </a:spcAft>
              <a:buClr>
                <a:schemeClr val="dk1"/>
              </a:buClr>
              <a:buSzPct val="100000"/>
              <a:buChar char="•"/>
            </a:pPr>
            <a:r>
              <a:rPr lang="en-US"/>
              <a:t>Just as byte stuffing is completely transparent to the network layer in both computers.</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With bit stuffing, the boundary between two frames can be unambiguously recognized by the flag pattern. </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Thus, if the receiver loses track of where it is, all it has to do is scan the input for flag sequences, </a:t>
            </a:r>
            <a:endParaRPr/>
          </a:p>
          <a:p>
            <a:pPr indent="-228600" lvl="1" marL="685800" rtl="0" algn="just">
              <a:lnSpc>
                <a:spcPct val="90000"/>
              </a:lnSpc>
              <a:spcBef>
                <a:spcPts val="500"/>
              </a:spcBef>
              <a:spcAft>
                <a:spcPts val="0"/>
              </a:spcAft>
              <a:buClr>
                <a:schemeClr val="dk1"/>
              </a:buClr>
              <a:buSzPct val="100000"/>
              <a:buChar char="•"/>
            </a:pPr>
            <a:r>
              <a:rPr lang="en-US"/>
              <a:t>since they can only occur at frame boundaries and never within the data</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000"/>
              <a:t>Starting and ending flags, with bit stuffing-Example  </a:t>
            </a:r>
            <a:br>
              <a:rPr lang="en-US">
                <a:solidFill>
                  <a:srgbClr val="FF0000"/>
                </a:solidFill>
              </a:rPr>
            </a:br>
            <a:endParaRPr/>
          </a:p>
        </p:txBody>
      </p:sp>
      <p:sp>
        <p:nvSpPr>
          <p:cNvPr id="274" name="Google Shape;274;p30"/>
          <p:cNvSpPr txBox="1"/>
          <p:nvPr>
            <p:ph idx="1" type="body"/>
          </p:nvPr>
        </p:nvSpPr>
        <p:spPr>
          <a:xfrm>
            <a:off x="670774" y="1690688"/>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i="1" lang="en-US"/>
              <a:t>(a) The original data.</a:t>
            </a:r>
            <a:endParaRPr/>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228600" lvl="0" marL="228600" rtl="0" algn="l">
              <a:lnSpc>
                <a:spcPct val="90000"/>
              </a:lnSpc>
              <a:spcBef>
                <a:spcPts val="1000"/>
              </a:spcBef>
              <a:spcAft>
                <a:spcPts val="0"/>
              </a:spcAft>
              <a:buClr>
                <a:schemeClr val="dk1"/>
              </a:buClr>
              <a:buSzPts val="2800"/>
              <a:buChar char="•"/>
            </a:pPr>
            <a:r>
              <a:rPr b="1" i="1" lang="en-US"/>
              <a:t> (b) The data as they appear on the line. </a:t>
            </a:r>
            <a:endParaRPr b="1" i="1"/>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228600" lvl="0" marL="228600" rtl="0" algn="l">
              <a:lnSpc>
                <a:spcPct val="90000"/>
              </a:lnSpc>
              <a:spcBef>
                <a:spcPts val="1000"/>
              </a:spcBef>
              <a:spcAft>
                <a:spcPts val="0"/>
              </a:spcAft>
              <a:buClr>
                <a:schemeClr val="dk1"/>
              </a:buClr>
              <a:buSzPts val="2800"/>
              <a:buChar char="•"/>
            </a:pPr>
            <a:r>
              <a:rPr b="1" i="1" lang="en-US"/>
              <a:t>(c) The data as they are stored in the receiver's memory after destuffing</a:t>
            </a:r>
            <a:endParaRPr/>
          </a:p>
        </p:txBody>
      </p:sp>
      <p:pic>
        <p:nvPicPr>
          <p:cNvPr id="275" name="Google Shape;275;p30"/>
          <p:cNvPicPr preferRelativeResize="0"/>
          <p:nvPr/>
        </p:nvPicPr>
        <p:blipFill rotWithShape="1">
          <a:blip r:embed="rId3">
            <a:alphaModFix/>
          </a:blip>
          <a:srcRect b="0" l="0" r="0" t="0"/>
          <a:stretch/>
        </p:blipFill>
        <p:spPr>
          <a:xfrm>
            <a:off x="3316913" y="2358845"/>
            <a:ext cx="4861172" cy="657405"/>
          </a:xfrm>
          <a:prstGeom prst="rect">
            <a:avLst/>
          </a:prstGeom>
          <a:noFill/>
          <a:ln>
            <a:noFill/>
          </a:ln>
        </p:spPr>
      </p:pic>
      <p:pic>
        <p:nvPicPr>
          <p:cNvPr id="276" name="Google Shape;276;p30"/>
          <p:cNvPicPr preferRelativeResize="0"/>
          <p:nvPr/>
        </p:nvPicPr>
        <p:blipFill rotWithShape="1">
          <a:blip r:embed="rId4">
            <a:alphaModFix/>
          </a:blip>
          <a:srcRect b="0" l="0" r="0" t="0"/>
          <a:stretch/>
        </p:blipFill>
        <p:spPr>
          <a:xfrm>
            <a:off x="2614410" y="3684407"/>
            <a:ext cx="5795493" cy="847725"/>
          </a:xfrm>
          <a:prstGeom prst="rect">
            <a:avLst/>
          </a:prstGeom>
          <a:noFill/>
          <a:ln>
            <a:noFill/>
          </a:ln>
        </p:spPr>
      </p:pic>
      <p:pic>
        <p:nvPicPr>
          <p:cNvPr id="277" name="Google Shape;277;p30"/>
          <p:cNvPicPr preferRelativeResize="0"/>
          <p:nvPr/>
        </p:nvPicPr>
        <p:blipFill rotWithShape="1">
          <a:blip r:embed="rId5">
            <a:alphaModFix/>
          </a:blip>
          <a:srcRect b="0" l="0" r="0" t="0"/>
          <a:stretch/>
        </p:blipFill>
        <p:spPr>
          <a:xfrm>
            <a:off x="3101595" y="5525038"/>
            <a:ext cx="5076490" cy="9337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Effect filter="fade" transition="in">
                                      <p:cBhvr>
                                        <p:cTn dur="500"/>
                                        <p:tgtEl>
                                          <p:spTgt spid="2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Effect filter="fade" transition="in">
                                      <p:cBhvr>
                                        <p:cTn dur="500"/>
                                        <p:tgtEl>
                                          <p:spTgt spid="2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animEffect filter="fade" transition="in">
                                      <p:cBhvr>
                                        <p:cTn dur="500"/>
                                        <p:tgtEl>
                                          <p:spTgt spid="2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animEffect filter="fade" transition="in">
                                      <p:cBhvr>
                                        <p:cTn dur="500"/>
                                        <p:tgtEl>
                                          <p:spTgt spid="2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animEffect filter="fade" transition="in">
                                      <p:cBhvr>
                                        <p:cTn dur="500"/>
                                        <p:tgtEl>
                                          <p:spTgt spid="2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animEffect filter="fade" transition="in">
                                      <p:cBhvr>
                                        <p:cTn dur="500"/>
                                        <p:tgtEl>
                                          <p:spTgt spid="2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animEffect filter="fade" transition="in">
                                      <p:cBhvr>
                                        <p:cTn dur="500"/>
                                        <p:tgtEl>
                                          <p:spTgt spid="2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txBox="1"/>
          <p:nvPr>
            <p:ph type="title"/>
          </p:nvPr>
        </p:nvSpPr>
        <p:spPr>
          <a:xfrm>
            <a:off x="1659468" y="-3"/>
            <a:ext cx="9008533" cy="678927"/>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Clr>
                <a:schemeClr val="dk1"/>
              </a:buClr>
              <a:buSzPct val="100000"/>
              <a:buFont typeface="Calibri"/>
              <a:buNone/>
            </a:pPr>
            <a:r>
              <a:rPr lang="en-US"/>
              <a:t>Physical layer coding violations</a:t>
            </a:r>
            <a:endParaRPr/>
          </a:p>
        </p:txBody>
      </p:sp>
      <p:sp>
        <p:nvSpPr>
          <p:cNvPr id="283" name="Google Shape;283;p31"/>
          <p:cNvSpPr txBox="1"/>
          <p:nvPr>
            <p:ph idx="1" type="body"/>
          </p:nvPr>
        </p:nvSpPr>
        <p:spPr>
          <a:xfrm>
            <a:off x="1715911" y="790225"/>
            <a:ext cx="8760178" cy="544124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t>only applicable to networks in which the encoding on the physical medium contains some redundancy</a:t>
            </a:r>
            <a:endParaRPr/>
          </a:p>
          <a:p>
            <a:pPr indent="-228600" lvl="0" marL="228600" rtl="0" algn="just">
              <a:lnSpc>
                <a:spcPct val="90000"/>
              </a:lnSpc>
              <a:spcBef>
                <a:spcPts val="1000"/>
              </a:spcBef>
              <a:spcAft>
                <a:spcPts val="0"/>
              </a:spcAft>
              <a:buClr>
                <a:schemeClr val="dk1"/>
              </a:buClr>
              <a:buSzPct val="100000"/>
              <a:buChar char="•"/>
            </a:pPr>
            <a:r>
              <a:rPr lang="en-US"/>
              <a:t>Eg: some LANs encode 1 bit of data by using 2 physical bits. </a:t>
            </a:r>
            <a:endParaRPr/>
          </a:p>
          <a:p>
            <a:pPr indent="-228600" lvl="0" marL="228600" rtl="0" algn="just">
              <a:lnSpc>
                <a:spcPct val="90000"/>
              </a:lnSpc>
              <a:spcBef>
                <a:spcPts val="1000"/>
              </a:spcBef>
              <a:spcAft>
                <a:spcPts val="0"/>
              </a:spcAft>
              <a:buClr>
                <a:schemeClr val="dk1"/>
              </a:buClr>
              <a:buSzPct val="100000"/>
              <a:buChar char="•"/>
            </a:pPr>
            <a:r>
              <a:rPr lang="en-US"/>
              <a:t>Normally, a 1 bit is a high-low pair and a 0 bit is a low-high pair.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The scheme means that every data bit has a transition in the middle, making it easy for the receiver to locate the bit boundaries. </a:t>
            </a:r>
            <a:endParaRPr/>
          </a:p>
          <a:p>
            <a:pPr indent="-228600" lvl="0" marL="228600" rtl="0" algn="just">
              <a:lnSpc>
                <a:spcPct val="90000"/>
              </a:lnSpc>
              <a:spcBef>
                <a:spcPts val="1000"/>
              </a:spcBef>
              <a:spcAft>
                <a:spcPts val="0"/>
              </a:spcAft>
              <a:buClr>
                <a:schemeClr val="dk1"/>
              </a:buClr>
              <a:buSzPct val="100000"/>
              <a:buChar char="•"/>
            </a:pPr>
            <a:r>
              <a:rPr lang="en-US"/>
              <a:t>The combinations high-high and low-low are not used for data but are used for delimiting frames in some protocols</a:t>
            </a:r>
            <a:endParaRPr/>
          </a:p>
        </p:txBody>
      </p:sp>
      <p:grpSp>
        <p:nvGrpSpPr>
          <p:cNvPr id="284" name="Google Shape;284;p31"/>
          <p:cNvGrpSpPr/>
          <p:nvPr/>
        </p:nvGrpSpPr>
        <p:grpSpPr>
          <a:xfrm>
            <a:off x="4944534" y="3081867"/>
            <a:ext cx="1428046" cy="633765"/>
            <a:chOff x="1569157" y="5712178"/>
            <a:chExt cx="1428046" cy="633765"/>
          </a:xfrm>
        </p:grpSpPr>
        <p:grpSp>
          <p:nvGrpSpPr>
            <p:cNvPr id="285" name="Google Shape;285;p31"/>
            <p:cNvGrpSpPr/>
            <p:nvPr/>
          </p:nvGrpSpPr>
          <p:grpSpPr>
            <a:xfrm>
              <a:off x="1794140" y="5712178"/>
              <a:ext cx="995010" cy="632971"/>
              <a:chOff x="1794140" y="5712178"/>
              <a:chExt cx="995010" cy="632971"/>
            </a:xfrm>
          </p:grpSpPr>
          <p:cxnSp>
            <p:nvCxnSpPr>
              <p:cNvPr id="286" name="Google Shape;286;p31"/>
              <p:cNvCxnSpPr/>
              <p:nvPr/>
            </p:nvCxnSpPr>
            <p:spPr>
              <a:xfrm rot="-5400000">
                <a:off x="1484490" y="6033911"/>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87" name="Google Shape;287;p31"/>
              <p:cNvCxnSpPr/>
              <p:nvPr/>
            </p:nvCxnSpPr>
            <p:spPr>
              <a:xfrm>
                <a:off x="1794933" y="5712178"/>
                <a:ext cx="496711"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88" name="Google Shape;288;p31"/>
              <p:cNvCxnSpPr/>
              <p:nvPr/>
            </p:nvCxnSpPr>
            <p:spPr>
              <a:xfrm rot="-5400000">
                <a:off x="1986846" y="6028266"/>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89" name="Google Shape;289;p31"/>
              <p:cNvCxnSpPr/>
              <p:nvPr/>
            </p:nvCxnSpPr>
            <p:spPr>
              <a:xfrm rot="-5400000">
                <a:off x="2477912" y="6022622"/>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0" name="Google Shape;290;p31"/>
              <p:cNvCxnSpPr/>
              <p:nvPr/>
            </p:nvCxnSpPr>
            <p:spPr>
              <a:xfrm>
                <a:off x="2285999" y="6316134"/>
                <a:ext cx="496711" cy="1588"/>
              </a:xfrm>
              <a:prstGeom prst="straightConnector1">
                <a:avLst/>
              </a:prstGeom>
              <a:solidFill>
                <a:schemeClr val="accent1"/>
              </a:solidFill>
              <a:ln cap="flat" cmpd="sng" w="9525">
                <a:solidFill>
                  <a:schemeClr val="dk1"/>
                </a:solidFill>
                <a:prstDash val="solid"/>
                <a:round/>
                <a:headEnd len="sm" w="sm" type="none"/>
                <a:tailEnd len="sm" w="sm" type="none"/>
              </a:ln>
            </p:spPr>
          </p:cxnSp>
        </p:grpSp>
        <p:cxnSp>
          <p:nvCxnSpPr>
            <p:cNvPr id="291" name="Google Shape;291;p31"/>
            <p:cNvCxnSpPr/>
            <p:nvPr/>
          </p:nvCxnSpPr>
          <p:spPr>
            <a:xfrm rot="10800000">
              <a:off x="1569157" y="6344355"/>
              <a:ext cx="214491"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2" name="Google Shape;292;p31"/>
            <p:cNvCxnSpPr/>
            <p:nvPr/>
          </p:nvCxnSpPr>
          <p:spPr>
            <a:xfrm rot="10800000">
              <a:off x="2782712" y="5717822"/>
              <a:ext cx="214491" cy="1588"/>
            </a:xfrm>
            <a:prstGeom prst="straightConnector1">
              <a:avLst/>
            </a:prstGeom>
            <a:solidFill>
              <a:schemeClr val="accent1"/>
            </a:solidFill>
            <a:ln cap="flat" cmpd="sng" w="9525">
              <a:solidFill>
                <a:schemeClr val="dk1"/>
              </a:solidFill>
              <a:prstDash val="solid"/>
              <a:round/>
              <a:headEnd len="sm" w="sm" type="none"/>
              <a:tailEnd len="sm" w="sm" type="none"/>
            </a:ln>
          </p:spPr>
        </p:cxnSp>
      </p:grpSp>
      <p:grpSp>
        <p:nvGrpSpPr>
          <p:cNvPr id="293" name="Google Shape;293;p31"/>
          <p:cNvGrpSpPr/>
          <p:nvPr/>
        </p:nvGrpSpPr>
        <p:grpSpPr>
          <a:xfrm>
            <a:off x="8438446" y="3110885"/>
            <a:ext cx="1428047" cy="654755"/>
            <a:chOff x="4713112" y="5718617"/>
            <a:chExt cx="1428047" cy="654755"/>
          </a:xfrm>
        </p:grpSpPr>
        <p:cxnSp>
          <p:nvCxnSpPr>
            <p:cNvPr id="294" name="Google Shape;294;p31"/>
            <p:cNvCxnSpPr/>
            <p:nvPr/>
          </p:nvCxnSpPr>
          <p:spPr>
            <a:xfrm rot="5400000">
              <a:off x="5130804" y="6028267"/>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5" name="Google Shape;295;p31"/>
            <p:cNvCxnSpPr/>
            <p:nvPr/>
          </p:nvCxnSpPr>
          <p:spPr>
            <a:xfrm rot="10800000">
              <a:off x="4944538" y="6350000"/>
              <a:ext cx="496711"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6" name="Google Shape;296;p31"/>
            <p:cNvCxnSpPr/>
            <p:nvPr/>
          </p:nvCxnSpPr>
          <p:spPr>
            <a:xfrm rot="5400000">
              <a:off x="4628448" y="6033912"/>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7" name="Google Shape;297;p31"/>
            <p:cNvCxnSpPr/>
            <p:nvPr/>
          </p:nvCxnSpPr>
          <p:spPr>
            <a:xfrm rot="5400000">
              <a:off x="5627515" y="6062134"/>
              <a:ext cx="620888"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8" name="Google Shape;298;p31"/>
            <p:cNvCxnSpPr/>
            <p:nvPr/>
          </p:nvCxnSpPr>
          <p:spPr>
            <a:xfrm rot="10800000">
              <a:off x="5435606" y="5746044"/>
              <a:ext cx="496711"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299" name="Google Shape;299;p31"/>
            <p:cNvCxnSpPr/>
            <p:nvPr/>
          </p:nvCxnSpPr>
          <p:spPr>
            <a:xfrm>
              <a:off x="5926668" y="6361289"/>
              <a:ext cx="214491" cy="1588"/>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300" name="Google Shape;300;p31"/>
            <p:cNvCxnSpPr/>
            <p:nvPr/>
          </p:nvCxnSpPr>
          <p:spPr>
            <a:xfrm>
              <a:off x="4713112" y="5734756"/>
              <a:ext cx="214491" cy="1588"/>
            </a:xfrm>
            <a:prstGeom prst="straightConnector1">
              <a:avLst/>
            </a:prstGeom>
            <a:solidFill>
              <a:schemeClr val="accent1"/>
            </a:solidFill>
            <a:ln cap="flat" cmpd="sng" w="9525">
              <a:solidFill>
                <a:schemeClr val="dk1"/>
              </a:solidFill>
              <a:prstDash val="solid"/>
              <a:round/>
              <a:headEnd len="sm" w="sm" type="none"/>
              <a:tailEnd len="sm" w="sm" type="none"/>
            </a:ln>
          </p:spPr>
        </p:cxnSp>
      </p:grpSp>
      <p:cxnSp>
        <p:nvCxnSpPr>
          <p:cNvPr id="301" name="Google Shape;301;p31"/>
          <p:cNvCxnSpPr/>
          <p:nvPr/>
        </p:nvCxnSpPr>
        <p:spPr>
          <a:xfrm>
            <a:off x="5159023" y="3838223"/>
            <a:ext cx="1027289" cy="12877"/>
          </a:xfrm>
          <a:prstGeom prst="straightConnector1">
            <a:avLst/>
          </a:prstGeom>
          <a:solidFill>
            <a:schemeClr val="accent1"/>
          </a:solidFill>
          <a:ln cap="flat" cmpd="sng" w="9525">
            <a:solidFill>
              <a:schemeClr val="dk1"/>
            </a:solidFill>
            <a:prstDash val="solid"/>
            <a:round/>
            <a:headEnd len="med" w="med" type="stealth"/>
            <a:tailEnd len="med" w="med" type="stealth"/>
          </a:ln>
        </p:spPr>
      </p:cxnSp>
      <p:cxnSp>
        <p:nvCxnSpPr>
          <p:cNvPr id="302" name="Google Shape;302;p31"/>
          <p:cNvCxnSpPr/>
          <p:nvPr/>
        </p:nvCxnSpPr>
        <p:spPr>
          <a:xfrm>
            <a:off x="8675512" y="3855156"/>
            <a:ext cx="1027289" cy="12877"/>
          </a:xfrm>
          <a:prstGeom prst="straightConnector1">
            <a:avLst/>
          </a:prstGeom>
          <a:solidFill>
            <a:schemeClr val="accent1"/>
          </a:solidFill>
          <a:ln cap="flat" cmpd="sng" w="9525">
            <a:solidFill>
              <a:schemeClr val="dk1"/>
            </a:solidFill>
            <a:prstDash val="solid"/>
            <a:round/>
            <a:headEnd len="med" w="med" type="stealth"/>
            <a:tailEnd len="med" w="med" type="stealth"/>
          </a:ln>
        </p:spPr>
      </p:cxnSp>
      <p:sp>
        <p:nvSpPr>
          <p:cNvPr id="303" name="Google Shape;30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5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500"/>
                                        <p:tgtEl>
                                          <p:spTgt spid="2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500"/>
                                        <p:tgtEl>
                                          <p:spTgt spid="2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animEffect filter="fade" transition="in">
                                      <p:cBhvr>
                                        <p:cTn dur="500"/>
                                        <p:tgtEl>
                                          <p:spTgt spid="2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animEffect filter="fade" transition="in">
                                      <p:cBhvr>
                                        <p:cTn dur="500"/>
                                        <p:tgtEl>
                                          <p:spTgt spid="2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7" st="7"/>
                                            </p:txEl>
                                          </p:spTgt>
                                        </p:tgtEl>
                                        <p:attrNameLst>
                                          <p:attrName>style.visibility</p:attrName>
                                        </p:attrNameLst>
                                      </p:cBhvr>
                                      <p:to>
                                        <p:strVal val="visible"/>
                                      </p:to>
                                    </p:set>
                                    <p:animEffect filter="fade" transition="in">
                                      <p:cBhvr>
                                        <p:cTn dur="500"/>
                                        <p:tgtEl>
                                          <p:spTgt spid="28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2"/>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Error Control</a:t>
            </a:r>
            <a:endParaRPr/>
          </a:p>
        </p:txBody>
      </p:sp>
      <p:sp>
        <p:nvSpPr>
          <p:cNvPr id="309" name="Google Shape;309;p32"/>
          <p:cNvSpPr txBox="1"/>
          <p:nvPr>
            <p:ph idx="1" type="body"/>
          </p:nvPr>
        </p:nvSpPr>
        <p:spPr>
          <a:xfrm>
            <a:off x="1715911" y="1083739"/>
            <a:ext cx="8760178" cy="486551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t>To make sure all frames are eventually delivered to the network layer at the destination and in the proper order</a:t>
            </a:r>
            <a:endParaRPr/>
          </a:p>
          <a:p>
            <a:pPr indent="-228600" lvl="0" marL="228600" rtl="0" algn="l">
              <a:lnSpc>
                <a:spcPct val="90000"/>
              </a:lnSpc>
              <a:spcBef>
                <a:spcPts val="1000"/>
              </a:spcBef>
              <a:spcAft>
                <a:spcPts val="0"/>
              </a:spcAft>
              <a:buClr>
                <a:schemeClr val="dk1"/>
              </a:buClr>
              <a:buSzPct val="100000"/>
              <a:buChar char="•"/>
            </a:pPr>
            <a:r>
              <a:rPr lang="en-US"/>
              <a:t>The usual way to ensure reliable delivery is to provide the sender with some feedback about what is happening at the other end of the line </a:t>
            </a:r>
            <a:endParaRPr/>
          </a:p>
          <a:p>
            <a:pPr indent="-228600" lvl="0" marL="228600" rtl="0" algn="just">
              <a:lnSpc>
                <a:spcPct val="90000"/>
              </a:lnSpc>
              <a:spcBef>
                <a:spcPts val="1000"/>
              </a:spcBef>
              <a:spcAft>
                <a:spcPts val="0"/>
              </a:spcAft>
              <a:buClr>
                <a:schemeClr val="dk1"/>
              </a:buClr>
              <a:buSzPct val="100000"/>
              <a:buChar char="•"/>
            </a:pPr>
            <a:r>
              <a:rPr lang="en-US"/>
              <a:t>For reliable delivery, protocol calls for the receiver send back special control frames bearing </a:t>
            </a:r>
            <a:r>
              <a:rPr lang="en-US">
                <a:solidFill>
                  <a:srgbClr val="FF0000"/>
                </a:solidFill>
              </a:rPr>
              <a:t>positive or negative acknowledgements</a:t>
            </a:r>
            <a:r>
              <a:rPr lang="en-US"/>
              <a:t> about the incoming frames </a:t>
            </a:r>
            <a:endParaRPr/>
          </a:p>
          <a:p>
            <a:pPr indent="-228600" lvl="0" marL="228600" rtl="0" algn="l">
              <a:lnSpc>
                <a:spcPct val="90000"/>
              </a:lnSpc>
              <a:spcBef>
                <a:spcPts val="1000"/>
              </a:spcBef>
              <a:spcAft>
                <a:spcPts val="0"/>
              </a:spcAft>
              <a:buClr>
                <a:schemeClr val="dk1"/>
              </a:buClr>
              <a:buSzPct val="100000"/>
              <a:buChar char="•"/>
            </a:pPr>
            <a:r>
              <a:rPr lang="en-US"/>
              <a:t>If the sender receives a positive acknowledgement about a frame, it knows the frame has arrived safely.</a:t>
            </a:r>
            <a:endParaRPr/>
          </a:p>
          <a:p>
            <a:pPr indent="-228600" lvl="0" marL="228600" rtl="0" algn="l">
              <a:lnSpc>
                <a:spcPct val="90000"/>
              </a:lnSpc>
              <a:spcBef>
                <a:spcPts val="1000"/>
              </a:spcBef>
              <a:spcAft>
                <a:spcPts val="0"/>
              </a:spcAft>
              <a:buClr>
                <a:schemeClr val="dk1"/>
              </a:buClr>
              <a:buSzPct val="100000"/>
              <a:buChar char="•"/>
            </a:pPr>
            <a:r>
              <a:rPr lang="en-US"/>
              <a:t> On the other hand, a negative acknowledgement means that something has gone wrong, and the frame must be transmitted again</a:t>
            </a:r>
            <a:endParaRPr/>
          </a:p>
        </p:txBody>
      </p:sp>
      <p:sp>
        <p:nvSpPr>
          <p:cNvPr id="310" name="Google Shape;31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3"/>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Error Control</a:t>
            </a:r>
            <a:endParaRPr/>
          </a:p>
        </p:txBody>
      </p:sp>
      <p:sp>
        <p:nvSpPr>
          <p:cNvPr id="316" name="Google Shape;316;p33"/>
          <p:cNvSpPr txBox="1"/>
          <p:nvPr>
            <p:ph idx="1" type="body"/>
          </p:nvPr>
        </p:nvSpPr>
        <p:spPr>
          <a:xfrm>
            <a:off x="1715911" y="1083739"/>
            <a:ext cx="8760178" cy="486551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Problem: </a:t>
            </a:r>
            <a:endParaRPr/>
          </a:p>
          <a:p>
            <a:pPr indent="-228600" lvl="1" marL="685800" rtl="0" algn="just">
              <a:lnSpc>
                <a:spcPct val="90000"/>
              </a:lnSpc>
              <a:spcBef>
                <a:spcPts val="500"/>
              </a:spcBef>
              <a:spcAft>
                <a:spcPts val="0"/>
              </a:spcAft>
              <a:buClr>
                <a:schemeClr val="dk1"/>
              </a:buClr>
              <a:buSzPts val="2400"/>
              <a:buChar char="•"/>
            </a:pPr>
            <a:r>
              <a:rPr lang="en-US"/>
              <a:t>hardware troubles may cause a frame  to vanish completely (e.g., in a noise burst). </a:t>
            </a:r>
            <a:endParaRPr/>
          </a:p>
          <a:p>
            <a:pPr indent="-228600" lvl="1" marL="685800" rtl="0" algn="just">
              <a:lnSpc>
                <a:spcPct val="90000"/>
              </a:lnSpc>
              <a:spcBef>
                <a:spcPts val="500"/>
              </a:spcBef>
              <a:spcAft>
                <a:spcPts val="0"/>
              </a:spcAft>
              <a:buClr>
                <a:schemeClr val="dk1"/>
              </a:buClr>
              <a:buSzPts val="2400"/>
              <a:buChar char="•"/>
            </a:pPr>
            <a:r>
              <a:rPr lang="en-US"/>
              <a:t>In this case, the receiver will not react at all, since it has no reason to react.</a:t>
            </a:r>
            <a:endParaRPr/>
          </a:p>
          <a:p>
            <a:pPr indent="-228600" lvl="1" marL="685800" rtl="0" algn="l">
              <a:lnSpc>
                <a:spcPct val="90000"/>
              </a:lnSpc>
              <a:spcBef>
                <a:spcPts val="500"/>
              </a:spcBef>
              <a:spcAft>
                <a:spcPts val="0"/>
              </a:spcAft>
              <a:buClr>
                <a:schemeClr val="dk1"/>
              </a:buClr>
              <a:buSzPts val="2400"/>
              <a:buChar char="•"/>
            </a:pPr>
            <a:r>
              <a:rPr lang="en-US"/>
              <a:t> Thus sender transmits a frame and then waits for an  acknowledgement, positive or negative, will hang forever if a frame is ever lost</a:t>
            </a:r>
            <a:endParaRPr/>
          </a:p>
          <a:p>
            <a:pPr indent="-228600" lvl="0" marL="228600" rtl="0" algn="just">
              <a:lnSpc>
                <a:spcPct val="90000"/>
              </a:lnSpc>
              <a:spcBef>
                <a:spcPts val="1000"/>
              </a:spcBef>
              <a:spcAft>
                <a:spcPts val="0"/>
              </a:spcAft>
              <a:buClr>
                <a:schemeClr val="dk1"/>
              </a:buClr>
              <a:buSzPts val="2800"/>
              <a:buChar char="•"/>
            </a:pPr>
            <a:r>
              <a:rPr lang="en-US"/>
              <a:t>Solution: </a:t>
            </a:r>
            <a:endParaRPr/>
          </a:p>
          <a:p>
            <a:pPr indent="-228600" lvl="1" marL="685800" rtl="0" algn="just">
              <a:lnSpc>
                <a:spcPct val="90000"/>
              </a:lnSpc>
              <a:spcBef>
                <a:spcPts val="500"/>
              </a:spcBef>
              <a:spcAft>
                <a:spcPts val="0"/>
              </a:spcAft>
              <a:buClr>
                <a:schemeClr val="dk1"/>
              </a:buClr>
              <a:buSzPts val="2400"/>
              <a:buChar char="•"/>
            </a:pPr>
            <a:r>
              <a:rPr lang="en-US"/>
              <a:t>by introducing timers into the DLL</a:t>
            </a:r>
            <a:endParaRPr/>
          </a:p>
        </p:txBody>
      </p:sp>
      <p:sp>
        <p:nvSpPr>
          <p:cNvPr id="317" name="Google Shape;31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Error Control</a:t>
            </a:r>
            <a:endParaRPr/>
          </a:p>
        </p:txBody>
      </p:sp>
      <p:sp>
        <p:nvSpPr>
          <p:cNvPr id="323" name="Google Shape;323;p34"/>
          <p:cNvSpPr txBox="1"/>
          <p:nvPr>
            <p:ph idx="1" type="body"/>
          </p:nvPr>
        </p:nvSpPr>
        <p:spPr>
          <a:xfrm>
            <a:off x="1715911" y="485422"/>
            <a:ext cx="8760178" cy="61976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Font typeface="Noto Sans Symbols"/>
              <a:buChar char="✔"/>
            </a:pPr>
            <a:r>
              <a:rPr lang="en-US">
                <a:solidFill>
                  <a:srgbClr val="FF0000"/>
                </a:solidFill>
              </a:rPr>
              <a:t>Use of Timer in DLL</a:t>
            </a:r>
            <a:endParaRPr/>
          </a:p>
          <a:p>
            <a:pPr indent="-228600" lvl="0" marL="228600" rtl="0" algn="just">
              <a:lnSpc>
                <a:spcPct val="90000"/>
              </a:lnSpc>
              <a:spcBef>
                <a:spcPts val="1000"/>
              </a:spcBef>
              <a:spcAft>
                <a:spcPts val="0"/>
              </a:spcAft>
              <a:buClr>
                <a:schemeClr val="dk1"/>
              </a:buClr>
              <a:buSzPts val="2800"/>
              <a:buChar char="•"/>
            </a:pPr>
            <a:r>
              <a:rPr lang="en-US"/>
              <a:t>When the sender transmits a frame, it generally also </a:t>
            </a:r>
            <a:r>
              <a:rPr lang="en-US">
                <a:solidFill>
                  <a:srgbClr val="FF0000"/>
                </a:solidFill>
              </a:rPr>
              <a:t>starts</a:t>
            </a:r>
            <a:r>
              <a:rPr lang="en-US"/>
              <a:t> a timer. </a:t>
            </a:r>
            <a:endParaRPr/>
          </a:p>
          <a:p>
            <a:pPr indent="-228600" lvl="0" marL="228600" rtl="0" algn="just">
              <a:lnSpc>
                <a:spcPct val="90000"/>
              </a:lnSpc>
              <a:spcBef>
                <a:spcPts val="1000"/>
              </a:spcBef>
              <a:spcAft>
                <a:spcPts val="0"/>
              </a:spcAft>
              <a:buClr>
                <a:schemeClr val="dk1"/>
              </a:buClr>
              <a:buSzPts val="2800"/>
              <a:buChar char="•"/>
            </a:pPr>
            <a:r>
              <a:rPr lang="en-US"/>
              <a:t>The timer is set to </a:t>
            </a:r>
            <a:r>
              <a:rPr lang="en-US">
                <a:solidFill>
                  <a:srgbClr val="FF0000"/>
                </a:solidFill>
              </a:rPr>
              <a:t>expire</a:t>
            </a:r>
            <a:r>
              <a:rPr lang="en-US"/>
              <a:t> after an interval long enough for the frame to reach the destination, be processed there, and have the acknowledgement propagate back to the sender. </a:t>
            </a:r>
            <a:endParaRPr/>
          </a:p>
          <a:p>
            <a:pPr indent="-228600" lvl="0" marL="228600" rtl="0" algn="just">
              <a:lnSpc>
                <a:spcPct val="90000"/>
              </a:lnSpc>
              <a:spcBef>
                <a:spcPts val="1000"/>
              </a:spcBef>
              <a:spcAft>
                <a:spcPts val="0"/>
              </a:spcAft>
              <a:buClr>
                <a:schemeClr val="dk1"/>
              </a:buClr>
              <a:buSzPts val="2800"/>
              <a:buChar char="•"/>
            </a:pPr>
            <a:r>
              <a:rPr lang="en-US"/>
              <a:t>acknowledgement will get back before the timer </a:t>
            </a:r>
            <a:r>
              <a:rPr lang="en-US">
                <a:solidFill>
                  <a:srgbClr val="FF0000"/>
                </a:solidFill>
              </a:rPr>
              <a:t>runs out </a:t>
            </a:r>
            <a:endParaRPr/>
          </a:p>
          <a:p>
            <a:pPr indent="-228600" lvl="0" marL="228600" rtl="0" algn="just">
              <a:lnSpc>
                <a:spcPct val="90000"/>
              </a:lnSpc>
              <a:spcBef>
                <a:spcPts val="1000"/>
              </a:spcBef>
              <a:spcAft>
                <a:spcPts val="0"/>
              </a:spcAft>
              <a:buClr>
                <a:schemeClr val="dk1"/>
              </a:buClr>
              <a:buSzPts val="2800"/>
              <a:buChar char="•"/>
            </a:pPr>
            <a:r>
              <a:rPr lang="en-US"/>
              <a:t>in which case the timer will be </a:t>
            </a:r>
            <a:r>
              <a:rPr lang="en-US">
                <a:solidFill>
                  <a:srgbClr val="FF0000"/>
                </a:solidFill>
              </a:rPr>
              <a:t>canceled </a:t>
            </a:r>
            <a:endParaRPr/>
          </a:p>
          <a:p>
            <a:pPr indent="-228600" lvl="0" marL="228600" rtl="0" algn="just">
              <a:lnSpc>
                <a:spcPct val="90000"/>
              </a:lnSpc>
              <a:spcBef>
                <a:spcPts val="1000"/>
              </a:spcBef>
              <a:spcAft>
                <a:spcPts val="0"/>
              </a:spcAft>
              <a:buClr>
                <a:schemeClr val="dk1"/>
              </a:buClr>
              <a:buSzPts val="2800"/>
              <a:buChar char="•"/>
            </a:pPr>
            <a:r>
              <a:rPr lang="en-US"/>
              <a:t>if either the frame or the acknowledgement is lost, the timer will </a:t>
            </a:r>
            <a:r>
              <a:rPr lang="en-US">
                <a:solidFill>
                  <a:srgbClr val="FF0000"/>
                </a:solidFill>
              </a:rPr>
              <a:t>go off</a:t>
            </a:r>
            <a:r>
              <a:rPr lang="en-US"/>
              <a:t>, </a:t>
            </a:r>
            <a:r>
              <a:rPr lang="en-US">
                <a:solidFill>
                  <a:srgbClr val="FF0000"/>
                </a:solidFill>
              </a:rPr>
              <a:t>alerting</a:t>
            </a:r>
            <a:r>
              <a:rPr lang="en-US"/>
              <a:t> the sender to a potential problem. </a:t>
            </a:r>
            <a:endParaRPr/>
          </a:p>
          <a:p>
            <a:pPr indent="-228600" lvl="0" marL="228600" rtl="0" algn="just">
              <a:lnSpc>
                <a:spcPct val="90000"/>
              </a:lnSpc>
              <a:spcBef>
                <a:spcPts val="1000"/>
              </a:spcBef>
              <a:spcAft>
                <a:spcPts val="0"/>
              </a:spcAft>
              <a:buClr>
                <a:schemeClr val="dk1"/>
              </a:buClr>
              <a:buSzPts val="2800"/>
              <a:buChar char="•"/>
            </a:pPr>
            <a:r>
              <a:rPr lang="en-US"/>
              <a:t>The obvious solution is to just transmit the frame again </a:t>
            </a:r>
            <a:endParaRPr/>
          </a:p>
        </p:txBody>
      </p:sp>
      <p:sp>
        <p:nvSpPr>
          <p:cNvPr id="324" name="Google Shape;324;p34"/>
          <p:cNvSpPr txBox="1"/>
          <p:nvPr>
            <p:ph idx="12" type="sldNum"/>
          </p:nvPr>
        </p:nvSpPr>
        <p:spPr>
          <a:xfrm>
            <a:off x="8763000" y="6400800"/>
            <a:ext cx="1905000" cy="457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5"/>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Error Control</a:t>
            </a:r>
            <a:endParaRPr/>
          </a:p>
        </p:txBody>
      </p:sp>
      <p:sp>
        <p:nvSpPr>
          <p:cNvPr id="330" name="Google Shape;330;p35"/>
          <p:cNvSpPr txBox="1"/>
          <p:nvPr>
            <p:ph idx="1" type="body"/>
          </p:nvPr>
        </p:nvSpPr>
        <p:spPr>
          <a:xfrm>
            <a:off x="1715911" y="485422"/>
            <a:ext cx="8760178" cy="61976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Font typeface="Noto Sans Symbols"/>
              <a:buChar char="✔"/>
            </a:pPr>
            <a:r>
              <a:rPr lang="en-US">
                <a:solidFill>
                  <a:srgbClr val="FF0000"/>
                </a:solidFill>
              </a:rPr>
              <a:t>Use of Timer in DLL</a:t>
            </a:r>
            <a:endParaRPr/>
          </a:p>
          <a:p>
            <a:pPr indent="-228600" lvl="0" marL="228600" rtl="0" algn="just">
              <a:lnSpc>
                <a:spcPct val="90000"/>
              </a:lnSpc>
              <a:spcBef>
                <a:spcPts val="1000"/>
              </a:spcBef>
              <a:spcAft>
                <a:spcPts val="0"/>
              </a:spcAft>
              <a:buClr>
                <a:schemeClr val="dk1"/>
              </a:buClr>
              <a:buSzPts val="2800"/>
              <a:buChar char="•"/>
            </a:pPr>
            <a:r>
              <a:rPr lang="en-US"/>
              <a:t>Another Problem : receiving frames </a:t>
            </a:r>
            <a:r>
              <a:rPr lang="en-US">
                <a:solidFill>
                  <a:srgbClr val="FF0000"/>
                </a:solidFill>
              </a:rPr>
              <a:t>multiple</a:t>
            </a:r>
            <a:r>
              <a:rPr lang="en-US"/>
              <a:t> times</a:t>
            </a:r>
            <a:endParaRPr/>
          </a:p>
          <a:p>
            <a:pPr indent="-228600" lvl="0" marL="228600" rtl="0" algn="just">
              <a:lnSpc>
                <a:spcPct val="90000"/>
              </a:lnSpc>
              <a:spcBef>
                <a:spcPts val="1000"/>
              </a:spcBef>
              <a:spcAft>
                <a:spcPts val="0"/>
              </a:spcAft>
              <a:buClr>
                <a:schemeClr val="dk1"/>
              </a:buClr>
              <a:buSzPts val="2800"/>
              <a:buChar char="•"/>
            </a:pPr>
            <a:r>
              <a:rPr lang="en-US"/>
              <a:t>Solution:</a:t>
            </a:r>
            <a:endParaRPr/>
          </a:p>
          <a:p>
            <a:pPr indent="-228600" lvl="1" marL="685800" rtl="0" algn="just">
              <a:lnSpc>
                <a:spcPct val="90000"/>
              </a:lnSpc>
              <a:spcBef>
                <a:spcPts val="500"/>
              </a:spcBef>
              <a:spcAft>
                <a:spcPts val="0"/>
              </a:spcAft>
              <a:buClr>
                <a:schemeClr val="dk1"/>
              </a:buClr>
              <a:buSzPts val="2400"/>
              <a:buChar char="•"/>
            </a:pPr>
            <a:r>
              <a:rPr lang="en-US"/>
              <a:t>to assign </a:t>
            </a:r>
            <a:r>
              <a:rPr lang="en-US">
                <a:solidFill>
                  <a:srgbClr val="FF0000"/>
                </a:solidFill>
              </a:rPr>
              <a:t>sequence numbers </a:t>
            </a:r>
            <a:r>
              <a:rPr lang="en-US"/>
              <a:t>to outgoing frames, so that the receiver can distinguish retransmissions from originals</a:t>
            </a:r>
            <a:endParaRPr sz="2800"/>
          </a:p>
        </p:txBody>
      </p:sp>
      <p:sp>
        <p:nvSpPr>
          <p:cNvPr id="331" name="Google Shape;331;p35"/>
          <p:cNvSpPr txBox="1"/>
          <p:nvPr>
            <p:ph idx="12" type="sldNum"/>
          </p:nvPr>
        </p:nvSpPr>
        <p:spPr>
          <a:xfrm>
            <a:off x="8763000" y="6400800"/>
            <a:ext cx="1905000" cy="457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6"/>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Flow Control</a:t>
            </a:r>
            <a:endParaRPr/>
          </a:p>
        </p:txBody>
      </p:sp>
      <p:sp>
        <p:nvSpPr>
          <p:cNvPr id="337" name="Google Shape;337;p36"/>
          <p:cNvSpPr txBox="1"/>
          <p:nvPr>
            <p:ph idx="1" type="body"/>
          </p:nvPr>
        </p:nvSpPr>
        <p:spPr>
          <a:xfrm>
            <a:off x="1715911" y="654756"/>
            <a:ext cx="8760178" cy="602826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  Mechanisms used to prevent  a fast sender from overloading a slow receiver with data</a:t>
            </a:r>
            <a:endParaRPr/>
          </a:p>
          <a:p>
            <a:pPr indent="-228600" lvl="0" marL="228600" rtl="0" algn="l">
              <a:lnSpc>
                <a:spcPct val="90000"/>
              </a:lnSpc>
              <a:spcBef>
                <a:spcPts val="1000"/>
              </a:spcBef>
              <a:spcAft>
                <a:spcPts val="0"/>
              </a:spcAft>
              <a:buClr>
                <a:schemeClr val="dk1"/>
              </a:buClr>
              <a:buSzPts val="2800"/>
              <a:buChar char="•"/>
            </a:pPr>
            <a:r>
              <a:rPr lang="en-US"/>
              <a:t>This situation occurs when the sender is running on a fast (or lightly loaded) computer and the receiver is running on a slow (or heavily loaded) machine. </a:t>
            </a:r>
            <a:endParaRPr/>
          </a:p>
          <a:p>
            <a:pPr indent="-228600" lvl="0" marL="228600" rtl="0" algn="l">
              <a:lnSpc>
                <a:spcPct val="90000"/>
              </a:lnSpc>
              <a:spcBef>
                <a:spcPts val="1000"/>
              </a:spcBef>
              <a:spcAft>
                <a:spcPts val="0"/>
              </a:spcAft>
              <a:buClr>
                <a:schemeClr val="dk1"/>
              </a:buClr>
              <a:buSzPts val="2800"/>
              <a:buChar char="•"/>
            </a:pPr>
            <a:r>
              <a:rPr lang="en-US"/>
              <a:t>The sender keeps pumping the frames out at a high rate until the receiver is completely swamped. </a:t>
            </a:r>
            <a:endParaRPr/>
          </a:p>
          <a:p>
            <a:pPr indent="-228600" lvl="0" marL="228600" rtl="0" algn="l">
              <a:lnSpc>
                <a:spcPct val="90000"/>
              </a:lnSpc>
              <a:spcBef>
                <a:spcPts val="1000"/>
              </a:spcBef>
              <a:spcAft>
                <a:spcPts val="0"/>
              </a:spcAft>
              <a:buClr>
                <a:schemeClr val="dk1"/>
              </a:buClr>
              <a:buSzPts val="2800"/>
              <a:buChar char="•"/>
            </a:pPr>
            <a:r>
              <a:rPr lang="en-US"/>
              <a:t>Even if the transmission is error free, at a certain point the receiver will simply be unable to handle the frames as they arrive and will start to lose some</a:t>
            </a:r>
            <a:endParaRPr/>
          </a:p>
          <a:p>
            <a:pPr indent="-228600" lvl="0" marL="228600" rtl="0" algn="just">
              <a:lnSpc>
                <a:spcPct val="90000"/>
              </a:lnSpc>
              <a:spcBef>
                <a:spcPts val="1000"/>
              </a:spcBef>
              <a:spcAft>
                <a:spcPts val="0"/>
              </a:spcAft>
              <a:buClr>
                <a:schemeClr val="dk1"/>
              </a:buClr>
              <a:buSzPts val="2800"/>
              <a:buChar char="•"/>
            </a:pPr>
            <a:r>
              <a:rPr lang="en-US"/>
              <a:t>Two approaches</a:t>
            </a:r>
            <a:endParaRPr/>
          </a:p>
          <a:p>
            <a:pPr indent="-228600" lvl="1" marL="685800" rtl="0" algn="just">
              <a:lnSpc>
                <a:spcPct val="90000"/>
              </a:lnSpc>
              <a:spcBef>
                <a:spcPts val="500"/>
              </a:spcBef>
              <a:spcAft>
                <a:spcPts val="0"/>
              </a:spcAft>
              <a:buClr>
                <a:srgbClr val="FF0000"/>
              </a:buClr>
              <a:buSzPts val="2400"/>
              <a:buChar char="•"/>
            </a:pPr>
            <a:r>
              <a:rPr lang="en-US">
                <a:solidFill>
                  <a:srgbClr val="FF0000"/>
                </a:solidFill>
              </a:rPr>
              <a:t>feedback-based flow control</a:t>
            </a:r>
            <a:endParaRPr/>
          </a:p>
          <a:p>
            <a:pPr indent="-228600" lvl="1" marL="685800" rtl="0" algn="just">
              <a:lnSpc>
                <a:spcPct val="90000"/>
              </a:lnSpc>
              <a:spcBef>
                <a:spcPts val="500"/>
              </a:spcBef>
              <a:spcAft>
                <a:spcPts val="0"/>
              </a:spcAft>
              <a:buClr>
                <a:srgbClr val="FF0000"/>
              </a:buClr>
              <a:buSzPts val="2400"/>
              <a:buChar char="•"/>
            </a:pPr>
            <a:r>
              <a:rPr lang="en-US">
                <a:solidFill>
                  <a:srgbClr val="FF0000"/>
                </a:solidFill>
              </a:rPr>
              <a:t>rate-based flow control</a:t>
            </a:r>
            <a:endParaRPr>
              <a:solidFill>
                <a:srgbClr val="FF0000"/>
              </a:solidFill>
            </a:endParaRPr>
          </a:p>
        </p:txBody>
      </p:sp>
      <p:sp>
        <p:nvSpPr>
          <p:cNvPr id="338" name="Google Shape;33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7"/>
          <p:cNvSpPr txBox="1"/>
          <p:nvPr>
            <p:ph type="title"/>
          </p:nvPr>
        </p:nvSpPr>
        <p:spPr>
          <a:xfrm>
            <a:off x="1659468" y="-2"/>
            <a:ext cx="9008533" cy="4967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Flow Control</a:t>
            </a:r>
            <a:endParaRPr/>
          </a:p>
        </p:txBody>
      </p:sp>
      <p:sp>
        <p:nvSpPr>
          <p:cNvPr id="344" name="Google Shape;344;p37"/>
          <p:cNvSpPr txBox="1"/>
          <p:nvPr>
            <p:ph idx="1" type="body"/>
          </p:nvPr>
        </p:nvSpPr>
        <p:spPr>
          <a:xfrm>
            <a:off x="1715911" y="654756"/>
            <a:ext cx="8760178" cy="6028266"/>
          </a:xfrm>
          <a:prstGeom prst="rect">
            <a:avLst/>
          </a:prstGeom>
          <a:noFill/>
          <a:ln>
            <a:noFill/>
          </a:ln>
        </p:spPr>
        <p:txBody>
          <a:bodyPr anchorCtr="0" anchor="t" bIns="45700" lIns="91425" spcFirstLastPara="1" rIns="91425" wrap="square" tIns="45700">
            <a:normAutofit/>
          </a:bodyPr>
          <a:lstStyle/>
          <a:p>
            <a:pPr indent="-228600" lvl="1" marL="685800" rtl="0" algn="just">
              <a:lnSpc>
                <a:spcPct val="90000"/>
              </a:lnSpc>
              <a:spcBef>
                <a:spcPts val="0"/>
              </a:spcBef>
              <a:spcAft>
                <a:spcPts val="0"/>
              </a:spcAft>
              <a:buClr>
                <a:srgbClr val="FF0000"/>
              </a:buClr>
              <a:buSzPts val="2800"/>
              <a:buChar char="•"/>
            </a:pPr>
            <a:r>
              <a:rPr lang="en-US" sz="2800">
                <a:solidFill>
                  <a:srgbClr val="FF0000"/>
                </a:solidFill>
                <a:latin typeface="Times New Roman"/>
                <a:ea typeface="Times New Roman"/>
                <a:cs typeface="Times New Roman"/>
                <a:sym typeface="Times New Roman"/>
              </a:rPr>
              <a:t>feedback-based flow control</a:t>
            </a:r>
            <a:endParaRPr/>
          </a:p>
          <a:p>
            <a:pPr indent="-228600" lvl="2" marL="1143000" rtl="0" algn="just">
              <a:lnSpc>
                <a:spcPct val="90000"/>
              </a:lnSpc>
              <a:spcBef>
                <a:spcPts val="500"/>
              </a:spcBef>
              <a:spcAft>
                <a:spcPts val="0"/>
              </a:spcAft>
              <a:buClr>
                <a:schemeClr val="dk1"/>
              </a:buClr>
              <a:buSzPts val="2800"/>
              <a:buChar char="•"/>
            </a:pPr>
            <a:r>
              <a:rPr lang="en-US" sz="2800">
                <a:latin typeface="Times New Roman"/>
                <a:ea typeface="Times New Roman"/>
                <a:cs typeface="Times New Roman"/>
                <a:sym typeface="Times New Roman"/>
              </a:rPr>
              <a:t>the receiver sends back information to the sender giving it permission to send more data or at least telling the sender how the receiver is doing</a:t>
            </a:r>
            <a:endParaRPr/>
          </a:p>
          <a:p>
            <a:pPr indent="-50800" lvl="2" marL="1143000" rtl="0" algn="just">
              <a:lnSpc>
                <a:spcPct val="90000"/>
              </a:lnSpc>
              <a:spcBef>
                <a:spcPts val="5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rgbClr val="FF0000"/>
              </a:buClr>
              <a:buSzPts val="2800"/>
              <a:buChar char="•"/>
            </a:pPr>
            <a:r>
              <a:rPr lang="en-US" sz="2800">
                <a:solidFill>
                  <a:srgbClr val="FF0000"/>
                </a:solidFill>
                <a:latin typeface="Times New Roman"/>
                <a:ea typeface="Times New Roman"/>
                <a:cs typeface="Times New Roman"/>
                <a:sym typeface="Times New Roman"/>
              </a:rPr>
              <a:t>rate-based flow control</a:t>
            </a:r>
            <a:endParaRPr/>
          </a:p>
          <a:p>
            <a:pPr indent="-228600" lvl="2" marL="1143000" rtl="0" algn="just">
              <a:lnSpc>
                <a:spcPct val="90000"/>
              </a:lnSpc>
              <a:spcBef>
                <a:spcPts val="500"/>
              </a:spcBef>
              <a:spcAft>
                <a:spcPts val="0"/>
              </a:spcAft>
              <a:buClr>
                <a:schemeClr val="dk1"/>
              </a:buClr>
              <a:buSzPts val="2800"/>
              <a:buChar char="•"/>
            </a:pPr>
            <a:r>
              <a:rPr lang="en-US" sz="2800">
                <a:latin typeface="Times New Roman"/>
                <a:ea typeface="Times New Roman"/>
                <a:cs typeface="Times New Roman"/>
                <a:sym typeface="Times New Roman"/>
              </a:rPr>
              <a:t>the protocol has a built-in mechanism that limits the rate at which senders may transmit data, without using feedback from the receiver</a:t>
            </a:r>
            <a:endParaRPr/>
          </a:p>
          <a:p>
            <a:pPr indent="-50800" lvl="2" marL="1143000" rtl="0" algn="just">
              <a:lnSpc>
                <a:spcPct val="90000"/>
              </a:lnSpc>
              <a:spcBef>
                <a:spcPts val="5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ts val="2800"/>
              <a:buChar char="•"/>
            </a:pPr>
            <a:r>
              <a:rPr lang="en-US" sz="2800">
                <a:latin typeface="Times New Roman"/>
                <a:ea typeface="Times New Roman"/>
                <a:cs typeface="Times New Roman"/>
                <a:sym typeface="Times New Roman"/>
              </a:rPr>
              <a:t>The protocol contains well-defined rules about when a sender may transmit the next frame</a:t>
            </a:r>
            <a:endParaRPr/>
          </a:p>
        </p:txBody>
      </p:sp>
      <p:sp>
        <p:nvSpPr>
          <p:cNvPr id="345" name="Google Shape;345;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Problems</a:t>
            </a:r>
            <a:endParaRPr/>
          </a:p>
        </p:txBody>
      </p:sp>
      <p:sp>
        <p:nvSpPr>
          <p:cNvPr id="351" name="Google Shape;351;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17dab167a0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57" name="Google Shape;357;g17dab167a05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Given the output after byte-stuffing: FLAG A B ESC ESC C ESC ESC ESC FLAG ESC FLAG D F FLAG. What is the original data?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17dab167a05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solution</a:t>
            </a:r>
            <a:endParaRPr/>
          </a:p>
        </p:txBody>
      </p:sp>
      <p:sp>
        <p:nvSpPr>
          <p:cNvPr id="363" name="Google Shape;363;g17dab167a05_0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ANS: A B ESC C ESC FLAG FLAG D F</a:t>
            </a:r>
            <a:endParaRPr/>
          </a:p>
          <a:p>
            <a:pPr indent="0" lvl="0" marL="0" rtl="0" algn="l">
              <a:spcBef>
                <a:spcPts val="10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17dab167a05_0_1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Question</a:t>
            </a:r>
            <a:endParaRPr/>
          </a:p>
        </p:txBody>
      </p:sp>
      <p:sp>
        <p:nvSpPr>
          <p:cNvPr id="369" name="Google Shape;369;g17dab167a05_0_1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Given the output after byte-stuffing: FLAG A B ESC ESC C ESC ESC ESC FLAG ESC FLAG D FLAG. What is the original data?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17dab167a05_0_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solution</a:t>
            </a:r>
            <a:endParaRPr/>
          </a:p>
        </p:txBody>
      </p:sp>
      <p:sp>
        <p:nvSpPr>
          <p:cNvPr id="375" name="Google Shape;375;g17dab167a05_0_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ANS: A B ESC C ESC FLAG FLAG D </a:t>
            </a:r>
            <a:endParaRPr/>
          </a:p>
          <a:p>
            <a:pPr indent="0" lvl="0" marL="0" rtl="0" algn="l">
              <a:spcBef>
                <a:spcPts val="10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17dab167a05_0_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Question</a:t>
            </a:r>
            <a:endParaRPr/>
          </a:p>
        </p:txBody>
      </p:sp>
      <p:sp>
        <p:nvSpPr>
          <p:cNvPr id="381" name="Google Shape;381;g17dab167a05_0_2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 following character encoding is used in a data link protocol: A: 01000111; B: 11100011; FLAG: 01111110; ESC: 11100000 Show the bit sequence transmitted (in binary) for the four-character frame: A B ESC FLAG when each of the following framing methods are used: </a:t>
            </a:r>
            <a:endParaRPr/>
          </a:p>
          <a:p>
            <a:pPr indent="0" lvl="0" marL="0" rtl="0" algn="l">
              <a:spcBef>
                <a:spcPts val="1000"/>
              </a:spcBef>
              <a:spcAft>
                <a:spcPts val="0"/>
              </a:spcAft>
              <a:buNone/>
            </a:pPr>
            <a:r>
              <a:rPr lang="en-US"/>
              <a:t>(a) Character count </a:t>
            </a:r>
            <a:endParaRPr/>
          </a:p>
          <a:p>
            <a:pPr indent="0" lvl="0" marL="0" rtl="0" algn="l">
              <a:spcBef>
                <a:spcPts val="1000"/>
              </a:spcBef>
              <a:spcAft>
                <a:spcPts val="0"/>
              </a:spcAft>
              <a:buNone/>
            </a:pPr>
            <a:r>
              <a:rPr lang="en-US"/>
              <a:t>(b) Flag bytes with byte stuffing.</a:t>
            </a:r>
            <a:endParaRPr/>
          </a:p>
          <a:p>
            <a:pPr indent="0" lvl="0" marL="0" rtl="0" algn="l">
              <a:spcBef>
                <a:spcPts val="1000"/>
              </a:spcBef>
              <a:spcAft>
                <a:spcPts val="0"/>
              </a:spcAft>
              <a:buNone/>
            </a:pPr>
            <a:r>
              <a:rPr lang="en-US"/>
              <a:t> (c) Starting and ending flag bytes, with bit stuffing.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7dab167a05_0_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Solution</a:t>
            </a:r>
            <a:endParaRPr/>
          </a:p>
        </p:txBody>
      </p:sp>
      <p:sp>
        <p:nvSpPr>
          <p:cNvPr id="387" name="Google Shape;387;g17dab167a05_0_2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ANS: a) 00000100 01000111 11100011 11100000 01111110 </a:t>
            </a:r>
            <a:endParaRPr/>
          </a:p>
          <a:p>
            <a:pPr indent="0" lvl="0" marL="0" rtl="0" algn="l">
              <a:spcBef>
                <a:spcPts val="1000"/>
              </a:spcBef>
              <a:spcAft>
                <a:spcPts val="0"/>
              </a:spcAft>
              <a:buNone/>
            </a:pPr>
            <a:r>
              <a:rPr lang="en-US"/>
              <a:t>b) 01111110 01000111 11100011 11100000 11100000 11100000 01111110 01111110</a:t>
            </a:r>
            <a:endParaRPr/>
          </a:p>
          <a:p>
            <a:pPr indent="0" lvl="0" marL="0" rtl="0" algn="l">
              <a:spcBef>
                <a:spcPts val="1000"/>
              </a:spcBef>
              <a:spcAft>
                <a:spcPts val="0"/>
              </a:spcAft>
              <a:buClr>
                <a:schemeClr val="dk1"/>
              </a:buClr>
              <a:buSzPts val="1100"/>
              <a:buFont typeface="Arial"/>
              <a:buNone/>
            </a:pPr>
            <a:r>
              <a:rPr lang="en-US"/>
              <a:t> c) 01111110 01000111 110100011 11100000 011111010 0111110 </a:t>
            </a:r>
            <a:endParaRPr/>
          </a:p>
          <a:p>
            <a:pPr indent="0" lvl="0" marL="0" rtl="0" algn="l">
              <a:spcBef>
                <a:spcPts val="10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17dab167a05_0_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QUESTION </a:t>
            </a:r>
            <a:endParaRPr/>
          </a:p>
        </p:txBody>
      </p:sp>
      <p:sp>
        <p:nvSpPr>
          <p:cNvPr id="393" name="Google Shape;393;g17dab167a05_0_3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 following character encoding is used in a data link protocol: A: 11010101; B: 10101001; FLAG: 01111110; ESC: 10100011 Show the bit sequence transmitted (in binary) for the five-character frame: A ESC B ESC FLAG when each of the following framing methods are used:</a:t>
            </a:r>
            <a:endParaRPr/>
          </a:p>
          <a:p>
            <a:pPr indent="0" lvl="0" marL="0" rtl="0" algn="l">
              <a:spcBef>
                <a:spcPts val="1000"/>
              </a:spcBef>
              <a:spcAft>
                <a:spcPts val="0"/>
              </a:spcAft>
              <a:buNone/>
            </a:pPr>
            <a:r>
              <a:rPr lang="en-US"/>
              <a:t> (a) Flag bytes with byte stuffing. </a:t>
            </a:r>
            <a:endParaRPr/>
          </a:p>
          <a:p>
            <a:pPr indent="0" lvl="0" marL="0" rtl="0" algn="l">
              <a:spcBef>
                <a:spcPts val="1000"/>
              </a:spcBef>
              <a:spcAft>
                <a:spcPts val="0"/>
              </a:spcAft>
              <a:buNone/>
            </a:pPr>
            <a:r>
              <a:rPr lang="en-US"/>
              <a:t>(b) Starting and ending flag bytes, with bit stuffing. </a:t>
            </a:r>
            <a:endParaRPr/>
          </a:p>
          <a:p>
            <a:pPr indent="0" lvl="0" marL="0" rtl="0" algn="l">
              <a:spcBef>
                <a:spcPts val="10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7dab167a05_0_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SOLUTION</a:t>
            </a:r>
            <a:endParaRPr/>
          </a:p>
        </p:txBody>
      </p:sp>
      <p:sp>
        <p:nvSpPr>
          <p:cNvPr id="399" name="Google Shape;399;g17dab167a05_0_3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ANS: </a:t>
            </a:r>
            <a:endParaRPr/>
          </a:p>
          <a:p>
            <a:pPr indent="0" lvl="0" marL="0" rtl="0" algn="l">
              <a:spcBef>
                <a:spcPts val="1000"/>
              </a:spcBef>
              <a:spcAft>
                <a:spcPts val="0"/>
              </a:spcAft>
              <a:buClr>
                <a:schemeClr val="dk1"/>
              </a:buClr>
              <a:buSzPts val="1100"/>
              <a:buFont typeface="Arial"/>
              <a:buNone/>
            </a:pPr>
            <a:r>
              <a:rPr lang="en-US"/>
              <a:t>a) 01111110 11010101 10100011 10100011 10101001 10100011 10100011 10100011 01111110 01111110 </a:t>
            </a:r>
            <a:endParaRPr/>
          </a:p>
          <a:p>
            <a:pPr indent="0" lvl="0" marL="0" rtl="0" algn="l">
              <a:spcBef>
                <a:spcPts val="1000"/>
              </a:spcBef>
              <a:spcAft>
                <a:spcPts val="0"/>
              </a:spcAft>
              <a:buClr>
                <a:schemeClr val="dk1"/>
              </a:buClr>
              <a:buSzPts val="1100"/>
              <a:buFont typeface="Arial"/>
              <a:buNone/>
            </a:pPr>
            <a:r>
              <a:rPr lang="en-US"/>
              <a:t>b) 01111110 11010101 10100011 10101001 10100011 011111010 0111110 </a:t>
            </a:r>
            <a:endParaRPr/>
          </a:p>
          <a:p>
            <a:pPr indent="0" lvl="0" marL="0" rtl="0" algn="l">
              <a:spcBef>
                <a:spcPts val="100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05" name="Google Shape;405;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bit string, 0111101111101111110, needs to be transmitted at the data link layer. What is the string actually transmitted after bit stuffing?</a:t>
            </a:r>
            <a:endParaRPr/>
          </a:p>
          <a:p>
            <a:pPr indent="0" lvl="0" marL="0" rtl="0" algn="l">
              <a:lnSpc>
                <a:spcPct val="90000"/>
              </a:lnSpc>
              <a:spcBef>
                <a:spcPts val="0"/>
              </a:spcBef>
              <a:spcAft>
                <a:spcPts val="0"/>
              </a:spcAft>
              <a:buNone/>
            </a:pPr>
            <a:r>
              <a:rPr lang="en-US"/>
              <a:t>Ans </a:t>
            </a:r>
            <a:endParaRPr/>
          </a:p>
          <a:p>
            <a:pPr indent="0" lvl="0" marL="0" rtl="0" algn="l">
              <a:lnSpc>
                <a:spcPct val="90000"/>
              </a:lnSpc>
              <a:spcBef>
                <a:spcPts val="0"/>
              </a:spcBef>
              <a:spcAft>
                <a:spcPts val="0"/>
              </a:spcAft>
              <a:buNone/>
            </a:pPr>
            <a:r>
              <a:rPr lang="en-US"/>
              <a:t>The output is 011110111110011111010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1" name="Google Shape;411;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following data fragment occurs in the middle of a data stream for which the bytestuffing algorithm described in the text is used: A B ESC C ESC FLAG FLAG D. What is the output after stuffing?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7" name="Google Shape;41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1.Assuming a framing protocol that uses bit stuffing, show the bit sequence transmitted over the link when the frame contains the following bit sequence: 110101111101011111101011111110 Mark the stuffed bits.</a:t>
            </a:r>
            <a:endParaRPr b="0"/>
          </a:p>
          <a:p>
            <a:pPr indent="-228600" lvl="0" marL="228600" rtl="0" algn="l">
              <a:lnSpc>
                <a:spcPct val="90000"/>
              </a:lnSpc>
              <a:spcBef>
                <a:spcPts val="1000"/>
              </a:spcBef>
              <a:spcAft>
                <a:spcPts val="0"/>
              </a:spcAft>
              <a:buClr>
                <a:schemeClr val="dk1"/>
              </a:buClr>
              <a:buSzPts val="2800"/>
              <a:buChar char="•"/>
            </a:pPr>
            <a:br>
              <a:rPr lang="en-US"/>
            </a:b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23" name="Google Shape;423;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Suppose the following sequence of bits arrives over a link: 11010111110101111100101111101100111110 .Show the resulting frame after any stuffed bits have been removed. Indicate any errors that might have been  introduced into the frame.</a:t>
            </a:r>
            <a:endParaRPr b="0"/>
          </a:p>
          <a:p>
            <a:pPr indent="-228600" lvl="0" marL="228600" rtl="0" algn="l">
              <a:lnSpc>
                <a:spcPct val="90000"/>
              </a:lnSpc>
              <a:spcBef>
                <a:spcPts val="1000"/>
              </a:spcBef>
              <a:spcAft>
                <a:spcPts val="0"/>
              </a:spcAft>
              <a:buClr>
                <a:schemeClr val="dk1"/>
              </a:buClr>
              <a:buSzPts val="2800"/>
              <a:buChar char="•"/>
            </a:pPr>
            <a:br>
              <a:rPr lang="en-US"/>
            </a:b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29" name="Google Shape;429;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Suppose the following sequence of bits arrive over a link: 011010111110101001111111011001111110 Show the resulting frame after any stuffed bits have been removed. Indicate any errors that might have been introduced into the frame.</a:t>
            </a:r>
            <a:endParaRPr b="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2022-10-19T14:38:20Z</dcterms:created>
  <dc:creator>DIVYA</dc:creator>
</cp:coreProperties>
</file>