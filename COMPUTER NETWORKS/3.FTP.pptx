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hTIF0pPEEWjKABk+sr08xeLYnw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9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9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3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3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4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4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4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6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6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7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7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 txBox="1"/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" type="body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9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searchcompliance.techtarget.com/definition/SFTP-Secure-File-Transfer-Protocol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www.techtarget.com/searchsecurity/definition/Transport-Layer-Security-TLS" TargetMode="External"/><Relationship Id="rId4" Type="http://schemas.openxmlformats.org/officeDocument/2006/relationships/hyperlink" Target="https://searchcompliance.techtarget.com/definition/SFTP-Secure-File-Transfer-Protocol" TargetMode="External"/><Relationship Id="rId5" Type="http://schemas.openxmlformats.org/officeDocument/2006/relationships/hyperlink" Target="https://www.techtarget.com/searchsecurity/definition/Secure-Shel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914400" y="1138000"/>
            <a:ext cx="103632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FTP(FILE TRANSFER PROTOCOL)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4545"/>
              <a:buFont typeface="Arial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Prepared by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Divya K S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Adi Shankara Institute of Engineering &amp; Technology 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Kalady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FILE TRANSFER</a:t>
            </a:r>
            <a:br>
              <a:rPr lang="en-US"/>
            </a:b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Transferring files from one computer to another is one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of</a:t>
            </a:r>
            <a:r>
              <a:rPr lang="en-US"/>
              <a:t> the most common tasks expected from a networking or internetworking environment.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The greatest volume of data exchange in the Internet today is due to file transfer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File Transfer Protocol (FTP)</a:t>
            </a:r>
            <a:br>
              <a:rPr lang="en-US"/>
            </a:b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File Transfer Protocol (FTP) is the standard mechanism provided by </a:t>
            </a:r>
            <a:r>
              <a:rPr i="1" lang="en-US"/>
              <a:t>TCP/IP for  </a:t>
            </a:r>
            <a:r>
              <a:rPr lang="en-US"/>
              <a:t>copying a file from one host to another.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Although transferring files from one system to another seems simple and straightforward, some problems must be dealt with first.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For  example, two systems may use different file name conventions.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Two systems may have different ways to represent text and data.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Two systems may have different directory structures.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All these problems have been solved by FTP in a very simple and elegant  approach.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FTP differs from other client/server applications in that it establishes two connections between the hosts.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 One connection is used for data transfer, the other for control information (commands and responses).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Separation of commands and data transfer makes FTP more efficient.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FTP uses two well-known TCP ports: Port 21 is used for the control connection,  and port 20 is used for the data connection.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FTP Clients</a:t>
            </a:r>
            <a:br>
              <a:rPr lang="en-US"/>
            </a:br>
            <a:endParaRPr/>
          </a:p>
        </p:txBody>
      </p:sp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FTP client is a program that implements a file transfer protocol which allows you to transfer files between two hosts on the internet.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It allows a user to connect to a remote host and upload or download the files.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It has a set of commands that we can use to connect to a host, transfer the files between you and your host and close the connection.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FTP program is also available as a built-in component in a Web browser. 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This GUI based FTP client makes the file transfer very easy and also does not require to remember the FTP commands.</a:t>
            </a:r>
            <a:endParaRPr/>
          </a:p>
          <a:p>
            <a:pPr indent="-17018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FTP MODEL</a:t>
            </a:r>
            <a:endParaRPr/>
          </a:p>
        </p:txBody>
      </p:sp>
      <p:sp>
        <p:nvSpPr>
          <p:cNvPr id="115" name="Google Shape;115;p6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16" name="Google Shape;11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000" y="2020889"/>
            <a:ext cx="7724775" cy="410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model of FTP.</a:t>
            </a:r>
            <a:endParaRPr/>
          </a:p>
        </p:txBody>
      </p:sp>
      <p:sp>
        <p:nvSpPr>
          <p:cNvPr id="122" name="Google Shape;122;p7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15494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FTP client has three components:</a:t>
            </a:r>
            <a:endParaRPr/>
          </a:p>
          <a:p>
            <a:pPr indent="-514350" lvl="1" marL="91440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/>
              <a:t> user interface, </a:t>
            </a:r>
            <a:endParaRPr/>
          </a:p>
          <a:p>
            <a:pPr indent="-514350" lvl="1" marL="91440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/>
              <a:t>client control process</a:t>
            </a:r>
            <a:endParaRPr/>
          </a:p>
          <a:p>
            <a:pPr indent="-514350" lvl="1" marL="91440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/>
              <a:t> the client data transfer process.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The server has two components:</a:t>
            </a:r>
            <a:endParaRPr/>
          </a:p>
          <a:p>
            <a:pPr indent="-514350" lvl="1" marL="9715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/>
              <a:t> the server control process </a:t>
            </a:r>
            <a:endParaRPr/>
          </a:p>
          <a:p>
            <a:pPr indent="-514350" lvl="1" marL="9715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/>
              <a:t> the server data transfer process.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control connection is made between the control processes.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The data connection is made between the data transfer processes.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8" name="Google Shape;128;p8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For sending control information like user identification, password, commands to change the remote directory, commands to retrieve and store files, etc., FTP makes use of a control connection.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control connection remains connected during the entire interactive FTP session.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data connection is opened and then closed for each file transferred. 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It opens each time commands that involve transferring files are used, and it closes when the file is transferred. In other words, when a user starts an FTP session, the control connection opens. 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While the control connection is open, the data   connection can be opened and closed multiple times if several files are transferred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i="1" lang="en-US"/>
              <a:t>Communication over Control Connection</a:t>
            </a:r>
            <a:br>
              <a:rPr i="1" lang="en-US"/>
            </a:br>
            <a:endParaRPr/>
          </a:p>
        </p:txBody>
      </p:sp>
      <p:sp>
        <p:nvSpPr>
          <p:cNvPr id="134" name="Google Shape;134;p9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FTP uses the same approach as SMTP to communicate across the control connection. 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It uses the 7-bit ASCII character set .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Communication is achieved through commands and responses. 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Through control connection, we can transfer a line of command or line of response at a time.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Each command or response is only one short line</a:t>
            </a:r>
            <a:endParaRPr/>
          </a:p>
          <a:p>
            <a:pPr indent="-18542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Each line is terminated with a two-character (carriage return and line feed) end-of-line token.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The control connection remains connected during the entire interactive FTP session.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0"/>
          <p:cNvPicPr preferRelativeResize="0"/>
          <p:nvPr>
            <p:ph idx="4294967295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1" y="1600200"/>
            <a:ext cx="7248525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i="1" lang="en-US"/>
              <a:t>Communication over Data Connection</a:t>
            </a:r>
            <a:br>
              <a:rPr i="1" lang="en-US"/>
            </a:br>
            <a:endParaRPr/>
          </a:p>
        </p:txBody>
      </p:sp>
      <p:sp>
        <p:nvSpPr>
          <p:cNvPr id="145" name="Google Shape;145;p11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purpose of the data connection is different from that of the control connection. 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Need to transfer files through the data connection. 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data connection opens when a command comes for transferring the files and closes when the file is transferred.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file transfer in FTP means one of three things:</a:t>
            </a:r>
            <a:endParaRPr/>
          </a:p>
          <a:p>
            <a:pPr indent="-342900" lvl="1" marL="8001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/>
              <a:t> A file is to be copied from the server to the client. This is called </a:t>
            </a:r>
            <a:r>
              <a:rPr i="1" lang="en-US" sz="2400"/>
              <a:t>retrieving a file . It </a:t>
            </a:r>
            <a:r>
              <a:rPr lang="en-US" sz="2400"/>
              <a:t>is done under the supervision of the RETR command,</a:t>
            </a:r>
            <a:endParaRPr/>
          </a:p>
          <a:p>
            <a:pPr indent="-342900" lvl="1" marL="8001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/>
              <a:t> A file is to be copied from the client to the server. This is called </a:t>
            </a:r>
            <a:r>
              <a:rPr i="1" lang="en-US" sz="2400"/>
              <a:t>storing a  file . It is </a:t>
            </a:r>
            <a:r>
              <a:rPr lang="en-US" sz="2400"/>
              <a:t>done under the supervision of the STOR command.</a:t>
            </a:r>
            <a:endParaRPr/>
          </a:p>
          <a:p>
            <a:pPr indent="-342900" lvl="1" marL="8001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/>
              <a:t>A list of directory or file names is to be sent from the server to the client. This is  done under the supervision of the LIST command. </a:t>
            </a:r>
            <a:endParaRPr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Using Data connection</a:t>
            </a:r>
            <a:endParaRPr/>
          </a:p>
        </p:txBody>
      </p:sp>
      <p:pic>
        <p:nvPicPr>
          <p:cNvPr id="151" name="Google Shape;151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3600" y="1752600"/>
            <a:ext cx="7848600" cy="480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FTP Modes</a:t>
            </a:r>
            <a:endParaRPr/>
          </a:p>
        </p:txBody>
      </p:sp>
      <p:sp>
        <p:nvSpPr>
          <p:cNvPr id="157" name="Google Shape;157;p13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FTP works in two different modes: 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Active Mode </a:t>
            </a:r>
            <a:endParaRPr/>
          </a:p>
          <a:p>
            <a:pPr indent="-5143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Passive Mode</a:t>
            </a:r>
            <a:endParaRPr/>
          </a:p>
          <a:p>
            <a:pPr indent="-33655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  <a:p>
            <a:pPr indent="-457200" lvl="1" marL="8572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In </a:t>
            </a:r>
            <a:r>
              <a:rPr lang="en-US">
                <a:solidFill>
                  <a:srgbClr val="FF0000"/>
                </a:solidFill>
              </a:rPr>
              <a:t>active FTP</a:t>
            </a:r>
            <a:r>
              <a:rPr lang="en-US"/>
              <a:t>, client establishes the command channel and the server establishes the data channel.</a:t>
            </a:r>
            <a:endParaRPr/>
          </a:p>
          <a:p>
            <a:pPr indent="-457200" lvl="1" marL="8572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In </a:t>
            </a:r>
            <a:r>
              <a:rPr lang="en-US">
                <a:solidFill>
                  <a:srgbClr val="FF0000"/>
                </a:solidFill>
              </a:rPr>
              <a:t>passive FTP, both the command channel and the data channel are established by </a:t>
            </a:r>
            <a:r>
              <a:rPr lang="en-US"/>
              <a:t>the client.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FTP Commands</a:t>
            </a:r>
            <a:endParaRPr/>
          </a:p>
        </p:txBody>
      </p:sp>
      <p:sp>
        <p:nvSpPr>
          <p:cNvPr id="163" name="Google Shape;163;p14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Some of the FTP commands are : </a:t>
            </a:r>
            <a:endParaRPr/>
          </a:p>
          <a:p>
            <a:pPr indent="-342900" lvl="0" marL="342900" rtl="0" algn="l">
              <a:spcBef>
                <a:spcPts val="4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i="1" lang="en-US" sz="4400"/>
              <a:t>USER</a:t>
            </a:r>
            <a:r>
              <a:rPr lang="en-US" sz="4400"/>
              <a:t> – This command sends the user identification to the server. </a:t>
            </a:r>
            <a:br>
              <a:rPr lang="en-US" sz="4400"/>
            </a:br>
            <a:r>
              <a:rPr i="1" lang="en-US" sz="4400"/>
              <a:t>PASS</a:t>
            </a:r>
            <a:r>
              <a:rPr lang="en-US" sz="4400"/>
              <a:t> – This command sends the user password to the server. </a:t>
            </a:r>
            <a:br>
              <a:rPr lang="en-US" sz="4400"/>
            </a:br>
            <a:r>
              <a:rPr i="1" lang="en-US" sz="4400"/>
              <a:t>RMD</a:t>
            </a:r>
            <a:r>
              <a:rPr lang="en-US" sz="4400"/>
              <a:t> – This command causes the directory specified in the path name to be removed as a directory. </a:t>
            </a:r>
            <a:br>
              <a:rPr lang="en-US" sz="4400"/>
            </a:br>
            <a:r>
              <a:rPr i="1" lang="en-US" sz="4400"/>
              <a:t>MKD</a:t>
            </a:r>
            <a:r>
              <a:rPr lang="en-US" sz="4400"/>
              <a:t> – This command causes the directory specified in the pathname to be created as a directory. </a:t>
            </a:r>
            <a:br>
              <a:rPr lang="en-US" sz="4400"/>
            </a:br>
            <a:r>
              <a:rPr i="1" lang="en-US" sz="4400"/>
              <a:t>PWD</a:t>
            </a:r>
            <a:r>
              <a:rPr lang="en-US" sz="4400"/>
              <a:t> – This command causes the name of the current working directory to be returned in the reply. </a:t>
            </a:r>
            <a:br>
              <a:rPr lang="en-US" sz="4400"/>
            </a:br>
            <a:r>
              <a:rPr i="1" lang="en-US" sz="4400"/>
              <a:t>RETR</a:t>
            </a:r>
            <a:r>
              <a:rPr lang="en-US" sz="4400"/>
              <a:t> – This command causes the remote host to initiate a data connection and to send the requested file over the data connection. </a:t>
            </a:r>
            <a:br>
              <a:rPr lang="en-US" sz="4400"/>
            </a:br>
            <a:r>
              <a:rPr i="1" lang="en-US" sz="4400"/>
              <a:t>STOR</a:t>
            </a:r>
            <a:r>
              <a:rPr lang="en-US" sz="4400"/>
              <a:t> – This command causes to store of a file into the current directory of the remote host. </a:t>
            </a:r>
            <a:br>
              <a:rPr lang="en-US" sz="4400"/>
            </a:br>
            <a:r>
              <a:rPr i="1" lang="en-US" sz="4400"/>
              <a:t>LIST</a:t>
            </a:r>
            <a:r>
              <a:rPr lang="en-US" sz="4400"/>
              <a:t> – Sends a request to display the list of all the files present in the directory. </a:t>
            </a:r>
            <a:br>
              <a:rPr lang="en-US" sz="4400"/>
            </a:br>
            <a:r>
              <a:rPr i="1" lang="en-US" sz="4400"/>
              <a:t>ABOR</a:t>
            </a:r>
            <a:r>
              <a:rPr lang="en-US" sz="4400"/>
              <a:t> – This command tells the server to abort the previous FTP service command and any associated transfer of data. </a:t>
            </a:r>
            <a:br>
              <a:rPr lang="en-US" sz="4400"/>
            </a:br>
            <a:r>
              <a:rPr i="1" lang="en-US" sz="4400"/>
              <a:t>QUIT</a:t>
            </a:r>
            <a:r>
              <a:rPr lang="en-US" sz="4400"/>
              <a:t> – This command terminates a USER and if file transfer is not in progress, the server closes the control connection. </a:t>
            </a:r>
            <a:endParaRPr/>
          </a:p>
          <a:p>
            <a:pPr indent="-246380" lvl="0" marL="342900" rtl="0" algn="l">
              <a:spcBef>
                <a:spcPts val="30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FTP Replies </a:t>
            </a:r>
            <a:endParaRPr/>
          </a:p>
        </p:txBody>
      </p:sp>
      <p:sp>
        <p:nvSpPr>
          <p:cNvPr id="169" name="Google Shape;169;p15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 Some of the FTP replies are : 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200 Command okay. </a:t>
            </a:r>
            <a:br>
              <a:rPr lang="en-US"/>
            </a:br>
            <a:r>
              <a:rPr lang="en-US"/>
              <a:t>530 Not logged in. </a:t>
            </a:r>
            <a:br>
              <a:rPr lang="en-US"/>
            </a:br>
            <a:r>
              <a:rPr lang="en-US"/>
              <a:t>331 User name okay, need a password. </a:t>
            </a:r>
            <a:br>
              <a:rPr lang="en-US"/>
            </a:br>
            <a:r>
              <a:rPr lang="en-US"/>
              <a:t>225 Data connection open; no transfer in progress. </a:t>
            </a:r>
            <a:br>
              <a:rPr lang="en-US"/>
            </a:br>
            <a:r>
              <a:rPr lang="en-US"/>
              <a:t>221 Service closing control connection. </a:t>
            </a:r>
            <a:br>
              <a:rPr lang="en-US"/>
            </a:br>
            <a:r>
              <a:rPr lang="en-US"/>
              <a:t>551 Requested action aborted: page type unknown. </a:t>
            </a:r>
            <a:br>
              <a:rPr lang="en-US"/>
            </a:br>
            <a:r>
              <a:rPr lang="en-US"/>
              <a:t>502 Command not implemented. </a:t>
            </a:r>
            <a:br>
              <a:rPr lang="en-US"/>
            </a:br>
            <a:r>
              <a:rPr lang="en-US"/>
              <a:t>503 Bad sequence of commands. </a:t>
            </a:r>
            <a:br>
              <a:rPr lang="en-US"/>
            </a:br>
            <a:r>
              <a:rPr lang="en-US"/>
              <a:t>504 Command not implemented for that parameter. 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FTP types</a:t>
            </a:r>
            <a:br>
              <a:rPr b="1" lang="en-US"/>
            </a:br>
            <a:endParaRPr/>
          </a:p>
        </p:txBody>
      </p:sp>
      <p:sp>
        <p:nvSpPr>
          <p:cNvPr id="175" name="Google Shape;175;p16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There are several different ways an FTP server and client software can conduct a file transfer using FTP: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Anonymous FTP.</a:t>
            </a: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Password-protected FTP. </a:t>
            </a:r>
            <a:endParaRPr b="1"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FTP Secure (FTPS). 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FTP over explicit SSL/TLS (FTPES).</a:t>
            </a: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Secure FTP (</a:t>
            </a:r>
            <a:r>
              <a:rPr b="1" lang="en-US" u="sng">
                <a:solidFill>
                  <a:schemeClr val="hlink"/>
                </a:solidFill>
                <a:hlinkClick r:id="rId3"/>
              </a:rPr>
              <a:t>SFTP</a:t>
            </a:r>
            <a:r>
              <a:rPr b="1" lang="en-US"/>
              <a:t>).</a:t>
            </a: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FTP types</a:t>
            </a:r>
            <a:br>
              <a:rPr b="1" lang="en-US"/>
            </a:br>
            <a:endParaRPr/>
          </a:p>
        </p:txBody>
      </p:sp>
      <p:sp>
        <p:nvSpPr>
          <p:cNvPr id="181" name="Google Shape;181;p17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Anonymous FTP.</a:t>
            </a:r>
            <a:r>
              <a:rPr lang="en-US"/>
              <a:t> This is the most basic form of FTP. It provides support for data transfers without encrypting data or using a username and password. It's most commonly used for download of material that is allowed for unrestricted distribution.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Password-protected FTP. </a:t>
            </a:r>
            <a:r>
              <a:rPr lang="en-US"/>
              <a:t>This is also a basic FTP service, but it requires the use of a username and password, though the service might not be encrypted or secure. It also works on port 21.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FTP Secure (FTPS). </a:t>
            </a:r>
            <a:r>
              <a:rPr lang="en-US"/>
              <a:t>Sometimes referred to as FTP Secure Sockets Layer (FTP-SSL), this approach enables implicit Transport Layer Security (</a:t>
            </a:r>
            <a:r>
              <a:rPr lang="en-US" u="sng">
                <a:solidFill>
                  <a:schemeClr val="hlink"/>
                </a:solidFill>
                <a:hlinkClick r:id="rId3"/>
              </a:rPr>
              <a:t>TLS</a:t>
            </a:r>
            <a:r>
              <a:rPr lang="en-US"/>
              <a:t>) as soon as an FTP connection is established. FTPS was initially used to help enable a more secure form of FTP data transfer. It typically defaults to using port 990.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FTP over explicit SSL/TLS (FTPES).</a:t>
            </a:r>
            <a:r>
              <a:rPr lang="en-US"/>
              <a:t> This approach enables explicit TLS support by upgrading an FTP connection over port 21 to an encrypted connection. This is a commonly used approach by web and file sharing services to enable secure file transfers.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Secure FTP (</a:t>
            </a:r>
            <a:r>
              <a:rPr b="1" lang="en-US" u="sng">
                <a:solidFill>
                  <a:schemeClr val="hlink"/>
                </a:solidFill>
                <a:hlinkClick r:id="rId4"/>
              </a:rPr>
              <a:t>SFTP</a:t>
            </a:r>
            <a:r>
              <a:rPr b="1" lang="en-US"/>
              <a:t>).</a:t>
            </a:r>
            <a:r>
              <a:rPr lang="en-US"/>
              <a:t> This is technically not an FTP protocol, but it functions similarly. Rather, SFTP is a subset of the Secure Shell (</a:t>
            </a:r>
            <a:r>
              <a:rPr lang="en-US" u="sng">
                <a:solidFill>
                  <a:schemeClr val="hlink"/>
                </a:solidFill>
                <a:hlinkClick r:id="rId5"/>
              </a:rPr>
              <a:t>SSH</a:t>
            </a:r>
            <a:r>
              <a:rPr lang="en-US"/>
              <a:t>) protocol that runs over port 22. SSH is commonly used by systems administrators to remotely and securely access systems and applications, and SFTP provides a mechanism within SSH for secure file transfe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2017-11-20T03:57:19Z</dcterms:created>
  <dc:creator>Divya</dc:creator>
</cp:coreProperties>
</file>