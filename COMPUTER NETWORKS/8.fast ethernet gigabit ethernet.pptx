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hDqO2Ogxnd8pNlr70Uypl/94hX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0AC07D-EA7D-4A74-B0DC-8D684EA9C8AD}">
  <a:tblStyle styleId="{F80AC07D-EA7D-4A74-B0DC-8D684EA9C8A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9678d0b7a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19678d0b7a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9678d0b7a1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19678d0b7a1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9678d0b7a1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19678d0b7a1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9678d0b7a1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19678d0b7a1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 name="Shape 14"/>
        <p:cNvGrpSpPr/>
        <p:nvPr/>
      </p:nvGrpSpPr>
      <p:grpSpPr>
        <a:xfrm>
          <a:off x="0" y="0"/>
          <a:ext cx="0" cy="0"/>
          <a:chOff x="0" y="0"/>
          <a:chExt cx="0" cy="0"/>
        </a:xfrm>
      </p:grpSpPr>
      <p:sp>
        <p:nvSpPr>
          <p:cNvPr id="15" name="Google Shape;15;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2" name="Google Shape;22;p1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25" name="Shape 25"/>
        <p:cNvGrpSpPr/>
        <p:nvPr/>
      </p:nvGrpSpPr>
      <p:grpSpPr>
        <a:xfrm>
          <a:off x="0" y="0"/>
          <a:ext cx="0" cy="0"/>
          <a:chOff x="0" y="0"/>
          <a:chExt cx="0" cy="0"/>
        </a:xfrm>
      </p:grpSpPr>
      <p:sp>
        <p:nvSpPr>
          <p:cNvPr id="26" name="Google Shape;26;p15"/>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5"/>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5"/>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15"/>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31" name="Google Shape;31;p15"/>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4" name="Shape 34"/>
        <p:cNvGrpSpPr/>
        <p:nvPr/>
      </p:nvGrpSpPr>
      <p:grpSpPr>
        <a:xfrm>
          <a:off x="0" y="0"/>
          <a:ext cx="0" cy="0"/>
          <a:chOff x="0" y="0"/>
          <a:chExt cx="0" cy="0"/>
        </a:xfrm>
      </p:grpSpPr>
      <p:sp>
        <p:nvSpPr>
          <p:cNvPr id="35" name="Google Shape;35;p2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40" name="Shape 40"/>
        <p:cNvGrpSpPr/>
        <p:nvPr/>
      </p:nvGrpSpPr>
      <p:grpSpPr>
        <a:xfrm>
          <a:off x="0" y="0"/>
          <a:ext cx="0" cy="0"/>
          <a:chOff x="0" y="0"/>
          <a:chExt cx="0" cy="0"/>
        </a:xfrm>
      </p:grpSpPr>
      <p:sp>
        <p:nvSpPr>
          <p:cNvPr id="41" name="Google Shape;41;p1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6"/>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5" name="Google Shape;45;p1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48" name="Google Shape;48;p16"/>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2" name="Google Shape;52;p17"/>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3" name="Google Shape;53;p1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8"/>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9" name="Google Shape;59;p18"/>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18"/>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1" name="Google Shape;61;p18"/>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2" name="Google Shape;62;p1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5" name="Shape 65"/>
        <p:cNvGrpSpPr/>
        <p:nvPr/>
      </p:nvGrpSpPr>
      <p:grpSpPr>
        <a:xfrm>
          <a:off x="0" y="0"/>
          <a:ext cx="0" cy="0"/>
          <a:chOff x="0" y="0"/>
          <a:chExt cx="0" cy="0"/>
        </a:xfrm>
      </p:grpSpPr>
      <p:sp>
        <p:nvSpPr>
          <p:cNvPr id="66" name="Google Shape;66;p21"/>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1"/>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1"/>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1"/>
          <p:cNvSpPr/>
          <p:nvPr>
            <p:ph idx="2" type="pic"/>
          </p:nvPr>
        </p:nvSpPr>
        <p:spPr>
          <a:xfrm>
            <a:off x="15" y="0"/>
            <a:ext cx="12191985" cy="4915076"/>
          </a:xfrm>
          <a:prstGeom prst="rect">
            <a:avLst/>
          </a:prstGeom>
          <a:noFill/>
          <a:ln>
            <a:noFill/>
          </a:ln>
        </p:spPr>
      </p:sp>
      <p:sp>
        <p:nvSpPr>
          <p:cNvPr id="70" name="Google Shape;70;p21"/>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2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7" name="Google Shape;77;p2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0" name="Shape 80"/>
        <p:cNvGrpSpPr/>
        <p:nvPr/>
      </p:nvGrpSpPr>
      <p:grpSpPr>
        <a:xfrm>
          <a:off x="0" y="0"/>
          <a:ext cx="0" cy="0"/>
          <a:chOff x="0" y="0"/>
          <a:chExt cx="0" cy="0"/>
        </a:xfrm>
      </p:grpSpPr>
      <p:sp>
        <p:nvSpPr>
          <p:cNvPr id="81" name="Google Shape;81;p23"/>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3"/>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3"/>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3"/>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5" name="Google Shape;85;p2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12"/>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1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1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 name="Google Shape;11;p1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12"/>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techtarget.com/whatis/definition/IEEE-Institute-of-Electrical-and-Electronics-Engineer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techtarget.com/searchnetworking/definition/half-duplex"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4"/>
          <p:cNvSpPr txBox="1"/>
          <p:nvPr>
            <p:ph type="title"/>
          </p:nvPr>
        </p:nvSpPr>
        <p:spPr>
          <a:xfrm>
            <a:off x="1097280" y="758952"/>
            <a:ext cx="10058400" cy="3566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1800"/>
              <a:buNone/>
            </a:pPr>
            <a:r>
              <a:rPr lang="en-US"/>
              <a:t>Ethernet performance</a:t>
            </a:r>
            <a:endParaRPr/>
          </a:p>
        </p:txBody>
      </p:sp>
      <p:sp>
        <p:nvSpPr>
          <p:cNvPr id="93" name="Google Shape;93;p24"/>
          <p:cNvSpPr txBox="1"/>
          <p:nvPr>
            <p:ph idx="1" type="body"/>
          </p:nvPr>
        </p:nvSpPr>
        <p:spPr>
          <a:xfrm>
            <a:off x="1097280" y="4453128"/>
            <a:ext cx="10058400" cy="1143000"/>
          </a:xfrm>
          <a:prstGeom prst="rect">
            <a:avLst/>
          </a:prstGeom>
        </p:spPr>
        <p:txBody>
          <a:bodyPr anchorCtr="0" anchor="t" bIns="45700" lIns="91425" spcFirstLastPara="1" rIns="91425" wrap="square" tIns="45700">
            <a:normAutofit fontScale="70000" lnSpcReduction="20000"/>
          </a:bodyPr>
          <a:lstStyle/>
          <a:p>
            <a:pPr indent="0" lvl="0" marL="0" rtl="0" algn="l">
              <a:spcBef>
                <a:spcPts val="0"/>
              </a:spcBef>
              <a:spcAft>
                <a:spcPts val="0"/>
              </a:spcAft>
              <a:buClr>
                <a:schemeClr val="dk1"/>
              </a:buClr>
              <a:buSzPct val="100000"/>
              <a:buFont typeface="Arial"/>
              <a:buNone/>
            </a:pPr>
            <a:r>
              <a:rPr lang="en-US">
                <a:solidFill>
                  <a:schemeClr val="dk1"/>
                </a:solidFill>
              </a:rPr>
              <a:t>Prepared by</a:t>
            </a:r>
            <a:endParaRPr>
              <a:solidFill>
                <a:schemeClr val="dk1"/>
              </a:solidFill>
            </a:endParaRPr>
          </a:p>
          <a:p>
            <a:pPr indent="0" lvl="0" marL="0" rtl="0" algn="l">
              <a:spcBef>
                <a:spcPts val="0"/>
              </a:spcBef>
              <a:spcAft>
                <a:spcPts val="0"/>
              </a:spcAft>
              <a:buClr>
                <a:schemeClr val="dk1"/>
              </a:buClr>
              <a:buSzPct val="100000"/>
              <a:buFont typeface="Arial"/>
              <a:buNone/>
            </a:pPr>
            <a:r>
              <a:rPr lang="en-US">
                <a:solidFill>
                  <a:schemeClr val="dk1"/>
                </a:solidFill>
              </a:rPr>
              <a:t>Divya K S</a:t>
            </a:r>
            <a:endParaRPr>
              <a:solidFill>
                <a:schemeClr val="dk1"/>
              </a:solidFill>
            </a:endParaRPr>
          </a:p>
          <a:p>
            <a:pPr indent="0" lvl="0" marL="0" rtl="0" algn="l">
              <a:spcBef>
                <a:spcPts val="0"/>
              </a:spcBef>
              <a:spcAft>
                <a:spcPts val="0"/>
              </a:spcAft>
              <a:buClr>
                <a:schemeClr val="dk1"/>
              </a:buClr>
              <a:buSzPct val="100000"/>
              <a:buFont typeface="Arial"/>
              <a:buNone/>
            </a:pPr>
            <a:r>
              <a:rPr lang="en-US">
                <a:solidFill>
                  <a:schemeClr val="dk1"/>
                </a:solidFill>
              </a:rPr>
              <a:t>Adi Shankara Institute of Engineering &amp; Technology </a:t>
            </a:r>
            <a:endParaRPr>
              <a:solidFill>
                <a:schemeClr val="dk1"/>
              </a:solidFill>
            </a:endParaRPr>
          </a:p>
          <a:p>
            <a:pPr indent="0" lvl="0" marL="0" rtl="0" algn="l">
              <a:spcBef>
                <a:spcPts val="0"/>
              </a:spcBef>
              <a:spcAft>
                <a:spcPts val="0"/>
              </a:spcAft>
              <a:buClr>
                <a:schemeClr val="dk1"/>
              </a:buClr>
              <a:buSzPct val="100000"/>
              <a:buFont typeface="Arial"/>
              <a:buNone/>
            </a:pPr>
            <a:r>
              <a:rPr lang="en-US">
                <a:solidFill>
                  <a:schemeClr val="dk1"/>
                </a:solidFill>
              </a:rPr>
              <a:t>Kalady</a:t>
            </a:r>
            <a:endParaRPr>
              <a:solidFill>
                <a:schemeClr val="dk1"/>
              </a:solidFill>
            </a:endParaRPr>
          </a:p>
          <a:p>
            <a:pPr indent="0" lvl="0" marL="0" rtl="0" algn="l">
              <a:spcBef>
                <a:spcPts val="12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FE9F1"/>
        </a:solidFill>
      </p:bgPr>
    </p:bg>
    <p:spTree>
      <p:nvGrpSpPr>
        <p:cNvPr id="97" name="Shape 97"/>
        <p:cNvGrpSpPr/>
        <p:nvPr/>
      </p:nvGrpSpPr>
      <p:grpSpPr>
        <a:xfrm>
          <a:off x="0" y="0"/>
          <a:ext cx="0" cy="0"/>
          <a:chOff x="0" y="0"/>
          <a:chExt cx="0" cy="0"/>
        </a:xfrm>
      </p:grpSpPr>
      <p:sp>
        <p:nvSpPr>
          <p:cNvPr id="98" name="Google Shape;98;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ETHERET PERFORMANCE</a:t>
            </a:r>
            <a:endParaRPr/>
          </a:p>
        </p:txBody>
      </p:sp>
      <p:sp>
        <p:nvSpPr>
          <p:cNvPr id="99" name="Google Shape;99;p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lang="en-US"/>
              <a:t>The performance of Ethernet is analyzed by computing the efficiency of the channel under different load conditions.</a:t>
            </a:r>
            <a:endParaRPr/>
          </a:p>
          <a:p>
            <a:pPr indent="-91440" lvl="0" marL="91440" rtl="0" algn="l">
              <a:lnSpc>
                <a:spcPct val="90000"/>
              </a:lnSpc>
              <a:spcBef>
                <a:spcPts val="0"/>
              </a:spcBef>
              <a:spcAft>
                <a:spcPts val="0"/>
              </a:spcAft>
              <a:buSzPts val="2000"/>
              <a:buChar char=" "/>
            </a:pPr>
            <a:r>
              <a:rPr lang="en-US"/>
              <a:t>Let A be the probability that some station acquires the channel</a:t>
            </a:r>
            <a:endParaRPr/>
          </a:p>
          <a:p>
            <a:pPr indent="-91440" lvl="0" marL="91440" rtl="0" algn="ctr">
              <a:lnSpc>
                <a:spcPct val="90000"/>
              </a:lnSpc>
              <a:spcBef>
                <a:spcPts val="1400"/>
              </a:spcBef>
              <a:spcAft>
                <a:spcPts val="0"/>
              </a:spcAft>
              <a:buSzPts val="2000"/>
              <a:buChar char=" "/>
            </a:pPr>
            <a:r>
              <a:rPr lang="en-US" sz="2800"/>
              <a:t>A = kp (1−p)</a:t>
            </a:r>
            <a:r>
              <a:rPr baseline="30000" lang="en-US" sz="2800"/>
              <a:t>kp</a:t>
            </a:r>
            <a:endParaRPr baseline="30000" sz="2800"/>
          </a:p>
          <a:p>
            <a:pPr indent="-91440" lvl="0" marL="91440" rtl="0" algn="l">
              <a:lnSpc>
                <a:spcPct val="90000"/>
              </a:lnSpc>
              <a:spcBef>
                <a:spcPts val="1400"/>
              </a:spcBef>
              <a:spcAft>
                <a:spcPts val="0"/>
              </a:spcAft>
              <a:buSzPts val="2000"/>
              <a:buChar char=" "/>
            </a:pPr>
            <a:r>
              <a:rPr lang="en-US"/>
              <a:t>K- station</a:t>
            </a:r>
            <a:endParaRPr/>
          </a:p>
          <a:p>
            <a:pPr indent="-91440" lvl="0" marL="91440" rtl="0" algn="l">
              <a:lnSpc>
                <a:spcPct val="90000"/>
              </a:lnSpc>
              <a:spcBef>
                <a:spcPts val="1400"/>
              </a:spcBef>
              <a:spcAft>
                <a:spcPts val="0"/>
              </a:spcAft>
              <a:buSzPts val="2000"/>
              <a:buChar char=" "/>
            </a:pPr>
            <a:r>
              <a:rPr lang="en-US"/>
              <a:t>P-probability of using</a:t>
            </a:r>
            <a:endParaRPr/>
          </a:p>
          <a:p>
            <a:pPr indent="-307340" lvl="0" marL="307340" rtl="0" algn="l">
              <a:lnSpc>
                <a:spcPct val="90000"/>
              </a:lnSpc>
              <a:spcBef>
                <a:spcPts val="1400"/>
              </a:spcBef>
              <a:spcAft>
                <a:spcPts val="0"/>
              </a:spcAft>
              <a:buSzPts val="2000"/>
              <a:buFont typeface="Arial"/>
              <a:buChar char="•"/>
            </a:pPr>
            <a:r>
              <a:rPr lang="en-US"/>
              <a:t>A is maximized at p = 1/k.</a:t>
            </a:r>
            <a:endParaRPr/>
          </a:p>
          <a:p>
            <a:pPr indent="-307340" lvl="0" marL="307340" rtl="0" algn="l">
              <a:lnSpc>
                <a:spcPct val="90000"/>
              </a:lnSpc>
              <a:spcBef>
                <a:spcPts val="1400"/>
              </a:spcBef>
              <a:spcAft>
                <a:spcPts val="0"/>
              </a:spcAft>
              <a:buSzPts val="2000"/>
              <a:buFont typeface="Arial"/>
              <a:buChar char="•"/>
            </a:pPr>
            <a:r>
              <a:rPr lang="en-US"/>
              <a:t>If there can be innumerable stations connected to the Ethernet network, i.e. k → ∞, the maximum value of A will be 1/e.</a:t>
            </a:r>
            <a:endParaRPr/>
          </a:p>
          <a:p>
            <a:pPr indent="0" lvl="0" marL="0" rtl="0" algn="l">
              <a:lnSpc>
                <a:spcPct val="90000"/>
              </a:lnSpc>
              <a:spcBef>
                <a:spcPts val="1400"/>
              </a:spcBef>
              <a:spcAft>
                <a:spcPts val="0"/>
              </a:spcAft>
              <a:buSzPts val="2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FE9F1">
            <a:alpha val="33333"/>
          </a:srgbClr>
        </a:solidFill>
      </p:bgPr>
    </p:bg>
    <p:spTree>
      <p:nvGrpSpPr>
        <p:cNvPr id="103" name="Shape 103"/>
        <p:cNvGrpSpPr/>
        <p:nvPr/>
      </p:nvGrpSpPr>
      <p:grpSpPr>
        <a:xfrm>
          <a:off x="0" y="0"/>
          <a:ext cx="0" cy="0"/>
          <a:chOff x="0" y="0"/>
          <a:chExt cx="0" cy="0"/>
        </a:xfrm>
      </p:grpSpPr>
      <p:sp>
        <p:nvSpPr>
          <p:cNvPr id="104" name="Google Shape;104;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ETHERNET PERFORMANCE</a:t>
            </a:r>
            <a:endParaRPr/>
          </a:p>
        </p:txBody>
      </p:sp>
      <p:sp>
        <p:nvSpPr>
          <p:cNvPr id="105" name="Google Shape;105;p5"/>
          <p:cNvSpPr txBox="1"/>
          <p:nvPr>
            <p:ph idx="1" type="body"/>
          </p:nvPr>
        </p:nvSpPr>
        <p:spPr>
          <a:xfrm>
            <a:off x="1451579" y="1853754"/>
            <a:ext cx="9603275" cy="3827955"/>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lang="en-US"/>
              <a:t>Let Q be the probability that the contention period has exactly j slots. Q is calculated as −</a:t>
            </a:r>
            <a:endParaRPr/>
          </a:p>
          <a:p>
            <a:pPr indent="-91440" lvl="0" marL="91440" rtl="0" algn="l">
              <a:lnSpc>
                <a:spcPct val="90000"/>
              </a:lnSpc>
              <a:spcBef>
                <a:spcPts val="1400"/>
              </a:spcBef>
              <a:spcAft>
                <a:spcPts val="0"/>
              </a:spcAft>
              <a:buSzPts val="2000"/>
              <a:buChar char=" "/>
            </a:pPr>
            <a:r>
              <a:rPr lang="en-US"/>
              <a:t>Q = A (1−A)</a:t>
            </a:r>
            <a:r>
              <a:rPr baseline="30000" lang="en-US"/>
              <a:t>j−1</a:t>
            </a:r>
            <a:endParaRPr/>
          </a:p>
          <a:p>
            <a:pPr indent="-91440" lvl="0" marL="91440" rtl="0" algn="l">
              <a:lnSpc>
                <a:spcPct val="90000"/>
              </a:lnSpc>
              <a:spcBef>
                <a:spcPts val="1400"/>
              </a:spcBef>
              <a:spcAft>
                <a:spcPts val="0"/>
              </a:spcAft>
              <a:buSzPts val="2000"/>
              <a:buChar char=" "/>
            </a:pPr>
            <a:r>
              <a:rPr lang="en-US"/>
              <a:t>Let M be the mean number of slots per contention. So, the value of M will be −</a:t>
            </a:r>
            <a:endParaRPr/>
          </a:p>
          <a:p>
            <a:pPr indent="0" lvl="0" marL="0" rtl="0" algn="l">
              <a:lnSpc>
                <a:spcPct val="90000"/>
              </a:lnSpc>
              <a:spcBef>
                <a:spcPts val="1400"/>
              </a:spcBef>
              <a:spcAft>
                <a:spcPts val="0"/>
              </a:spcAft>
              <a:buSzPts val="2000"/>
              <a:buNone/>
            </a:pPr>
            <a:r>
              <a:t/>
            </a:r>
            <a:endParaRPr/>
          </a:p>
          <a:p>
            <a:pPr indent="0" lvl="0" marL="0" rtl="0" algn="l">
              <a:lnSpc>
                <a:spcPct val="90000"/>
              </a:lnSpc>
              <a:spcBef>
                <a:spcPts val="1400"/>
              </a:spcBef>
              <a:spcAft>
                <a:spcPts val="0"/>
              </a:spcAft>
              <a:buSzPts val="2000"/>
              <a:buNone/>
            </a:pPr>
            <a:r>
              <a:t/>
            </a:r>
            <a:endParaRPr/>
          </a:p>
          <a:p>
            <a:pPr indent="0" lvl="0" marL="0" rtl="0" algn="l">
              <a:lnSpc>
                <a:spcPct val="90000"/>
              </a:lnSpc>
              <a:spcBef>
                <a:spcPts val="1400"/>
              </a:spcBef>
              <a:spcAft>
                <a:spcPts val="0"/>
              </a:spcAft>
              <a:buSzPts val="2000"/>
              <a:buNone/>
            </a:pPr>
            <a:r>
              <a:rPr lang="en-US"/>
              <a:t>Given that τ is the propagation time, each slot has duration 2τ. Hence the mean contention interval, 𝑤 will be 2τ/A.</a:t>
            </a:r>
            <a:endParaRPr/>
          </a:p>
          <a:p>
            <a:pPr indent="0" lvl="0" marL="0" rtl="0" algn="l">
              <a:lnSpc>
                <a:spcPct val="90000"/>
              </a:lnSpc>
              <a:spcBef>
                <a:spcPts val="1400"/>
              </a:spcBef>
              <a:spcAft>
                <a:spcPts val="0"/>
              </a:spcAft>
              <a:buSzPts val="2000"/>
              <a:buNone/>
            </a:pPr>
            <a:r>
              <a:t/>
            </a:r>
            <a:endParaRPr/>
          </a:p>
          <a:p>
            <a:pPr indent="0" lvl="0" marL="0" rtl="0" algn="l">
              <a:lnSpc>
                <a:spcPct val="90000"/>
              </a:lnSpc>
              <a:spcBef>
                <a:spcPts val="1400"/>
              </a:spcBef>
              <a:spcAft>
                <a:spcPts val="0"/>
              </a:spcAft>
              <a:buSzPts val="2000"/>
              <a:buNone/>
            </a:pPr>
            <a:r>
              <a:t/>
            </a:r>
            <a:endParaRPr/>
          </a:p>
        </p:txBody>
      </p:sp>
      <p:pic>
        <p:nvPicPr>
          <p:cNvPr descr="https://www.tutorialspoint.com/assets/questions/media/25573/equation_1.jpg" id="106" name="Google Shape;106;p5"/>
          <p:cNvPicPr preferRelativeResize="0"/>
          <p:nvPr/>
        </p:nvPicPr>
        <p:blipFill rotWithShape="1">
          <a:blip r:embed="rId3">
            <a:alphaModFix/>
          </a:blip>
          <a:srcRect b="0" l="0" r="0" t="0"/>
          <a:stretch/>
        </p:blipFill>
        <p:spPr>
          <a:xfrm>
            <a:off x="4228962" y="3283503"/>
            <a:ext cx="2657475" cy="619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FE9F1"/>
        </a:solidFill>
      </p:bgPr>
    </p:bg>
    <p:spTree>
      <p:nvGrpSpPr>
        <p:cNvPr id="110" name="Shape 110"/>
        <p:cNvGrpSpPr/>
        <p:nvPr/>
      </p:nvGrpSpPr>
      <p:grpSpPr>
        <a:xfrm>
          <a:off x="0" y="0"/>
          <a:ext cx="0" cy="0"/>
          <a:chOff x="0" y="0"/>
          <a:chExt cx="0" cy="0"/>
        </a:xfrm>
      </p:grpSpPr>
      <p:sp>
        <p:nvSpPr>
          <p:cNvPr id="111" name="Google Shape;111;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ETHERNET PERFORMANCE</a:t>
            </a:r>
            <a:endParaRPr/>
          </a:p>
        </p:txBody>
      </p:sp>
      <p:sp>
        <p:nvSpPr>
          <p:cNvPr id="112" name="Google Shape;112;p6"/>
          <p:cNvSpPr txBox="1"/>
          <p:nvPr>
            <p:ph idx="1" type="body"/>
          </p:nvPr>
        </p:nvSpPr>
        <p:spPr>
          <a:xfrm>
            <a:off x="1451579" y="2063855"/>
            <a:ext cx="9603275" cy="3830918"/>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lang="en-US"/>
              <a:t>Let P be the time is seconds for a frame to propagate.</a:t>
            </a:r>
            <a:endParaRPr/>
          </a:p>
          <a:p>
            <a:pPr indent="-91440" lvl="0" marL="91440" rtl="0" algn="l">
              <a:lnSpc>
                <a:spcPct val="90000"/>
              </a:lnSpc>
              <a:spcBef>
                <a:spcPts val="1400"/>
              </a:spcBef>
              <a:spcAft>
                <a:spcPts val="0"/>
              </a:spcAft>
              <a:buSzPts val="2000"/>
              <a:buChar char=" "/>
            </a:pPr>
            <a:r>
              <a:rPr lang="en-US"/>
              <a:t>The channel efficiency, when a number of stations want to send frame, can be calculated as −</a:t>
            </a:r>
            <a:endParaRPr/>
          </a:p>
          <a:p>
            <a:pPr indent="0" lvl="0" marL="0" rtl="0" algn="l">
              <a:lnSpc>
                <a:spcPct val="90000"/>
              </a:lnSpc>
              <a:spcBef>
                <a:spcPts val="1400"/>
              </a:spcBef>
              <a:spcAft>
                <a:spcPts val="0"/>
              </a:spcAft>
              <a:buSzPts val="2000"/>
              <a:buNone/>
            </a:pPr>
            <a:r>
              <a:rPr lang="en-US"/>
              <a:t>                       channel efficiency= p/p+ 2τ/A.</a:t>
            </a:r>
            <a:endParaRPr/>
          </a:p>
          <a:p>
            <a:pPr indent="0" lvl="0" marL="0" rtl="0" algn="l">
              <a:lnSpc>
                <a:spcPct val="90000"/>
              </a:lnSpc>
              <a:spcBef>
                <a:spcPts val="1400"/>
              </a:spcBef>
              <a:spcAft>
                <a:spcPts val="0"/>
              </a:spcAft>
              <a:buSzPts val="2000"/>
              <a:buNone/>
            </a:pPr>
            <a:r>
              <a:rPr lang="en-US"/>
              <a:t>Let F be the length of frame, B be the cable length, L be the cable length, c be the speed of signal propagation and e be the contention slots per frame. The channel efficiency in terms of these parameters is −</a:t>
            </a:r>
            <a:endParaRPr/>
          </a:p>
          <a:p>
            <a:pPr indent="0" lvl="0" marL="0" rtl="0" algn="l">
              <a:lnSpc>
                <a:spcPct val="90000"/>
              </a:lnSpc>
              <a:spcBef>
                <a:spcPts val="1400"/>
              </a:spcBef>
              <a:spcAft>
                <a:spcPts val="0"/>
              </a:spcAft>
              <a:buSzPts val="2000"/>
              <a:buNone/>
            </a:pPr>
            <a:br>
              <a:rPr lang="en-US"/>
            </a:br>
            <a:endParaRPr/>
          </a:p>
        </p:txBody>
      </p:sp>
      <p:pic>
        <p:nvPicPr>
          <p:cNvPr descr="https://www.tutorialspoint.com/assets/questions/media/25573/channel_efficency2.jpg" id="113" name="Google Shape;113;p6"/>
          <p:cNvPicPr preferRelativeResize="0"/>
          <p:nvPr/>
        </p:nvPicPr>
        <p:blipFill rotWithShape="1">
          <a:blip r:embed="rId3">
            <a:alphaModFix/>
          </a:blip>
          <a:srcRect b="0" l="0" r="0" t="0"/>
          <a:stretch/>
        </p:blipFill>
        <p:spPr>
          <a:xfrm>
            <a:off x="4538848" y="4793941"/>
            <a:ext cx="2847975" cy="50796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Ethernet Types</a:t>
            </a:r>
            <a:endParaRPr/>
          </a:p>
        </p:txBody>
      </p:sp>
      <p:sp>
        <p:nvSpPr>
          <p:cNvPr id="119" name="Google Shape;119;p2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457200" lvl="0" marL="571500" rtl="0" algn="l">
              <a:lnSpc>
                <a:spcPct val="90000"/>
              </a:lnSpc>
              <a:spcBef>
                <a:spcPts val="1200"/>
              </a:spcBef>
              <a:spcAft>
                <a:spcPts val="0"/>
              </a:spcAft>
              <a:buSzPts val="1800"/>
              <a:buFont typeface="Arial"/>
              <a:buAutoNum type="arabicPeriod"/>
            </a:pPr>
            <a:r>
              <a:rPr lang="en-US" sz="5400"/>
              <a:t>SWITCHED ETHERNET</a:t>
            </a:r>
            <a:endParaRPr/>
          </a:p>
          <a:p>
            <a:pPr indent="-457200" lvl="0" marL="571500" rtl="0" algn="l">
              <a:lnSpc>
                <a:spcPct val="90000"/>
              </a:lnSpc>
              <a:spcBef>
                <a:spcPts val="1200"/>
              </a:spcBef>
              <a:spcAft>
                <a:spcPts val="0"/>
              </a:spcAft>
              <a:buSzPts val="1800"/>
              <a:buFont typeface="Arial"/>
              <a:buAutoNum type="arabicPeriod"/>
            </a:pPr>
            <a:r>
              <a:rPr lang="en-US" sz="5400"/>
              <a:t>FAST ETHERNET</a:t>
            </a:r>
            <a:endParaRPr/>
          </a:p>
          <a:p>
            <a:pPr indent="-457200" lvl="0" marL="571500" rtl="0" algn="l">
              <a:lnSpc>
                <a:spcPct val="90000"/>
              </a:lnSpc>
              <a:spcBef>
                <a:spcPts val="1200"/>
              </a:spcBef>
              <a:spcAft>
                <a:spcPts val="0"/>
              </a:spcAft>
              <a:buSzPts val="1800"/>
              <a:buFont typeface="Arial"/>
              <a:buAutoNum type="arabicPeriod"/>
            </a:pPr>
            <a:r>
              <a:rPr lang="en-US" sz="5400"/>
              <a:t>GIGABIT ETHERNET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FE9F1"/>
        </a:solidFill>
      </p:bgPr>
    </p:bg>
    <p:spTree>
      <p:nvGrpSpPr>
        <p:cNvPr id="123" name="Shape 123"/>
        <p:cNvGrpSpPr/>
        <p:nvPr/>
      </p:nvGrpSpPr>
      <p:grpSpPr>
        <a:xfrm>
          <a:off x="0" y="0"/>
          <a:ext cx="0" cy="0"/>
          <a:chOff x="0" y="0"/>
          <a:chExt cx="0" cy="0"/>
        </a:xfrm>
      </p:grpSpPr>
      <p:sp>
        <p:nvSpPr>
          <p:cNvPr id="124" name="Google Shape;124;p7"/>
          <p:cNvSpPr txBox="1"/>
          <p:nvPr>
            <p:ph type="title"/>
          </p:nvPr>
        </p:nvSpPr>
        <p:spPr>
          <a:xfrm>
            <a:off x="1202478" y="573024"/>
            <a:ext cx="3473558" cy="7823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FFFFFF"/>
              </a:buClr>
              <a:buSzPct val="100000"/>
              <a:buFont typeface="Calibri"/>
              <a:buNone/>
            </a:pPr>
            <a:r>
              <a:rPr lang="en-US"/>
              <a:t>SWITCHED ETHERNET</a:t>
            </a:r>
            <a:endParaRPr/>
          </a:p>
        </p:txBody>
      </p:sp>
      <p:pic>
        <p:nvPicPr>
          <p:cNvPr id="125" name="Google Shape;125;p7"/>
          <p:cNvPicPr preferRelativeResize="0"/>
          <p:nvPr>
            <p:ph idx="1" type="body"/>
          </p:nvPr>
        </p:nvPicPr>
        <p:blipFill rotWithShape="1">
          <a:blip r:embed="rId3">
            <a:alphaModFix/>
          </a:blip>
          <a:srcRect b="0" l="0" r="0" t="0"/>
          <a:stretch/>
        </p:blipFill>
        <p:spPr>
          <a:xfrm>
            <a:off x="0" y="1679544"/>
            <a:ext cx="4162425" cy="3505200"/>
          </a:xfrm>
          <a:prstGeom prst="rect">
            <a:avLst/>
          </a:prstGeom>
          <a:noFill/>
          <a:ln>
            <a:noFill/>
          </a:ln>
        </p:spPr>
      </p:pic>
      <p:sp>
        <p:nvSpPr>
          <p:cNvPr id="126" name="Google Shape;126;p7"/>
          <p:cNvSpPr txBox="1"/>
          <p:nvPr>
            <p:ph idx="2" type="body"/>
          </p:nvPr>
        </p:nvSpPr>
        <p:spPr>
          <a:xfrm>
            <a:off x="5471319" y="1837862"/>
            <a:ext cx="5444400" cy="3346882"/>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SzPts val="2400"/>
              <a:buFont typeface="Arial"/>
              <a:buChar char="•"/>
            </a:pPr>
            <a:r>
              <a:rPr lang="en-US" sz="2400">
                <a:solidFill>
                  <a:schemeClr val="dk1"/>
                </a:solidFill>
              </a:rPr>
              <a:t>Replaces hub connecting the stations in classic Ethernet by a Switch.</a:t>
            </a:r>
            <a:endParaRPr/>
          </a:p>
          <a:p>
            <a:pPr indent="-285750" lvl="0" marL="285750" rtl="0" algn="l">
              <a:lnSpc>
                <a:spcPct val="90000"/>
              </a:lnSpc>
              <a:spcBef>
                <a:spcPts val="1400"/>
              </a:spcBef>
              <a:spcAft>
                <a:spcPts val="0"/>
              </a:spcAft>
              <a:buSzPts val="2400"/>
              <a:buFont typeface="Arial"/>
              <a:buChar char="•"/>
            </a:pPr>
            <a:r>
              <a:rPr lang="en-US" sz="2400">
                <a:solidFill>
                  <a:schemeClr val="dk1"/>
                </a:solidFill>
              </a:rPr>
              <a:t>4-48 ports</a:t>
            </a:r>
            <a:endParaRPr/>
          </a:p>
          <a:p>
            <a:pPr indent="-285750" lvl="0" marL="285750" rtl="0" algn="l">
              <a:lnSpc>
                <a:spcPct val="90000"/>
              </a:lnSpc>
              <a:spcBef>
                <a:spcPts val="1400"/>
              </a:spcBef>
              <a:spcAft>
                <a:spcPts val="0"/>
              </a:spcAft>
              <a:buSzPts val="2400"/>
              <a:buFont typeface="Arial"/>
              <a:buChar char="•"/>
            </a:pPr>
            <a:r>
              <a:rPr lang="en-US" sz="2400">
                <a:solidFill>
                  <a:schemeClr val="dk1"/>
                </a:solidFill>
              </a:rPr>
              <a:t>All devices,peripherals,switches hubs are connected to a backbone ethernet switch</a:t>
            </a:r>
            <a:endParaRPr/>
          </a:p>
          <a:p>
            <a:pPr indent="-285750" lvl="0" marL="285750" rtl="0" algn="l">
              <a:lnSpc>
                <a:spcPct val="90000"/>
              </a:lnSpc>
              <a:spcBef>
                <a:spcPts val="1400"/>
              </a:spcBef>
              <a:spcAft>
                <a:spcPts val="0"/>
              </a:spcAft>
              <a:buSzPts val="2400"/>
              <a:buFont typeface="Arial"/>
              <a:buChar char="•"/>
            </a:pPr>
            <a:r>
              <a:rPr lang="en-US" sz="2400">
                <a:solidFill>
                  <a:schemeClr val="dk1"/>
                </a:solidFill>
              </a:rPr>
              <a:t>Each station has dedicated connection</a:t>
            </a:r>
            <a:endParaRPr/>
          </a:p>
          <a:p>
            <a:pPr indent="-247650" lvl="0" marL="342900" rtl="0" algn="l">
              <a:lnSpc>
                <a:spcPct val="90000"/>
              </a:lnSpc>
              <a:spcBef>
                <a:spcPts val="1400"/>
              </a:spcBef>
              <a:spcAft>
                <a:spcPts val="0"/>
              </a:spcAft>
              <a:buSzPts val="1500"/>
              <a:buFont typeface="Arial"/>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alpha val="73725"/>
          </a:schemeClr>
        </a:solidFill>
      </p:bgPr>
    </p:bg>
    <p:spTree>
      <p:nvGrpSpPr>
        <p:cNvPr id="130" name="Shape 130"/>
        <p:cNvGrpSpPr/>
        <p:nvPr/>
      </p:nvGrpSpPr>
      <p:grpSpPr>
        <a:xfrm>
          <a:off x="0" y="0"/>
          <a:ext cx="0" cy="0"/>
          <a:chOff x="0" y="0"/>
          <a:chExt cx="0" cy="0"/>
        </a:xfrm>
      </p:grpSpPr>
      <p:sp>
        <p:nvSpPr>
          <p:cNvPr id="131" name="Google Shape;131;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sz="3200"/>
              <a:t>WORKING PRINCIPLE</a:t>
            </a:r>
            <a:endParaRPr/>
          </a:p>
        </p:txBody>
      </p:sp>
      <p:sp>
        <p:nvSpPr>
          <p:cNvPr id="132" name="Google Shape;132;p2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342900" lvl="0" marL="457200" rtl="0" algn="l">
              <a:lnSpc>
                <a:spcPct val="90000"/>
              </a:lnSpc>
              <a:spcBef>
                <a:spcPts val="1200"/>
              </a:spcBef>
              <a:spcAft>
                <a:spcPts val="0"/>
              </a:spcAft>
              <a:buSzPts val="1800"/>
              <a:buFont typeface="Noto Sans Symbols"/>
              <a:buChar char="▪"/>
            </a:pPr>
            <a:r>
              <a:rPr lang="en-US"/>
              <a:t>Unlike classic Ethernet in which the channel is shared by the stations, in switched Ethernet, each station gets a dedicated connection. When a port of the switch receives a frame, it checks the destination address in the frame and then sends the frame to the corresponding port, for outgoing data.</a:t>
            </a:r>
            <a:endParaRPr/>
          </a:p>
          <a:p>
            <a:pPr indent="-342900" lvl="0" marL="457200" rtl="0" algn="l">
              <a:lnSpc>
                <a:spcPct val="90000"/>
              </a:lnSpc>
              <a:spcBef>
                <a:spcPts val="1200"/>
              </a:spcBef>
              <a:spcAft>
                <a:spcPts val="0"/>
              </a:spcAft>
              <a:buSzPts val="1800"/>
              <a:buFont typeface="Noto Sans Symbols"/>
              <a:buChar char="▪"/>
            </a:pPr>
            <a:r>
              <a:rPr lang="en-US"/>
              <a:t>In switched Ethernet, collisions do not occur in the channel due to the presence of dedicated connection to each station. However, collisions may still occur in a destination port if it receives frames from more than one ports simultaneously. In a switch, each port has its own individual collision domain and resolves it individually.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FE9F1"/>
        </a:solidFill>
      </p:bgPr>
    </p:bg>
    <p:spTree>
      <p:nvGrpSpPr>
        <p:cNvPr id="136" name="Shape 136"/>
        <p:cNvGrpSpPr/>
        <p:nvPr/>
      </p:nvGrpSpPr>
      <p:grpSpPr>
        <a:xfrm>
          <a:off x="0" y="0"/>
          <a:ext cx="0" cy="0"/>
          <a:chOff x="0" y="0"/>
          <a:chExt cx="0" cy="0"/>
        </a:xfrm>
      </p:grpSpPr>
      <p:sp>
        <p:nvSpPr>
          <p:cNvPr id="137" name="Google Shape;137;p8"/>
          <p:cNvSpPr txBox="1"/>
          <p:nvPr>
            <p:ph type="title"/>
          </p:nvPr>
        </p:nvSpPr>
        <p:spPr>
          <a:xfrm>
            <a:off x="1097280" y="288641"/>
            <a:ext cx="9404723" cy="140053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200"/>
              <a:buFont typeface="Calibri"/>
              <a:buNone/>
            </a:pPr>
            <a:r>
              <a:rPr lang="en-US"/>
              <a:t>ADVANTAGES</a:t>
            </a:r>
            <a:endParaRPr/>
          </a:p>
        </p:txBody>
      </p:sp>
      <p:sp>
        <p:nvSpPr>
          <p:cNvPr id="138" name="Google Shape;138;p8"/>
          <p:cNvSpPr txBox="1"/>
          <p:nvPr>
            <p:ph idx="1" type="body"/>
          </p:nvPr>
        </p:nvSpPr>
        <p:spPr>
          <a:xfrm>
            <a:off x="1097280" y="2198159"/>
            <a:ext cx="10058400" cy="4023360"/>
          </a:xfrm>
          <a:prstGeom prst="rect">
            <a:avLst/>
          </a:prstGeom>
          <a:noFill/>
          <a:ln>
            <a:noFill/>
          </a:ln>
        </p:spPr>
        <p:txBody>
          <a:bodyPr anchorCtr="0" anchor="t" bIns="45700" lIns="0" spcFirstLastPara="1" rIns="0" wrap="square" tIns="45700">
            <a:normAutofit/>
          </a:bodyPr>
          <a:lstStyle/>
          <a:p>
            <a:pPr indent="-91440" lvl="0" marL="91440" rtl="0" algn="just">
              <a:lnSpc>
                <a:spcPct val="90000"/>
              </a:lnSpc>
              <a:spcBef>
                <a:spcPts val="1400"/>
              </a:spcBef>
              <a:spcAft>
                <a:spcPts val="0"/>
              </a:spcAft>
              <a:buClr>
                <a:schemeClr val="dk1"/>
              </a:buClr>
              <a:buSzPts val="3200"/>
              <a:buFont typeface="Noto Sans"/>
              <a:buChar char="▪"/>
            </a:pPr>
            <a:r>
              <a:rPr lang="en-US" sz="2400"/>
              <a:t>Reduce network downtime</a:t>
            </a:r>
            <a:endParaRPr/>
          </a:p>
          <a:p>
            <a:pPr indent="-457200" lvl="0" marL="457200" rtl="0" algn="just">
              <a:lnSpc>
                <a:spcPct val="90000"/>
              </a:lnSpc>
              <a:spcBef>
                <a:spcPts val="1400"/>
              </a:spcBef>
              <a:spcAft>
                <a:spcPts val="0"/>
              </a:spcAft>
              <a:buClr>
                <a:schemeClr val="dk1"/>
              </a:buClr>
              <a:buSzPts val="3200"/>
              <a:buFont typeface="Noto Sans Symbols"/>
              <a:buChar char="▪"/>
            </a:pPr>
            <a:r>
              <a:rPr lang="en-US" sz="2800"/>
              <a:t>Improve Network Performance</a:t>
            </a:r>
            <a:endParaRPr/>
          </a:p>
          <a:p>
            <a:pPr indent="-91440" lvl="0" marL="91440" rtl="0" algn="just">
              <a:lnSpc>
                <a:spcPct val="90000"/>
              </a:lnSpc>
              <a:spcBef>
                <a:spcPts val="1400"/>
              </a:spcBef>
              <a:spcAft>
                <a:spcPts val="0"/>
              </a:spcAft>
              <a:buClr>
                <a:schemeClr val="dk1"/>
              </a:buClr>
              <a:buSzPts val="3200"/>
              <a:buFont typeface="Noto Sans"/>
              <a:buChar char="▪"/>
            </a:pPr>
            <a:r>
              <a:rPr lang="en-US" sz="2800"/>
              <a:t>Increased available bandwidth for the network</a:t>
            </a:r>
            <a:endParaRPr/>
          </a:p>
          <a:p>
            <a:pPr indent="-91440" lvl="0" marL="91440" rtl="0" algn="just">
              <a:lnSpc>
                <a:spcPct val="90000"/>
              </a:lnSpc>
              <a:spcBef>
                <a:spcPts val="1400"/>
              </a:spcBef>
              <a:spcAft>
                <a:spcPts val="0"/>
              </a:spcAft>
              <a:buClr>
                <a:schemeClr val="dk1"/>
              </a:buClr>
              <a:buSzPts val="3200"/>
              <a:buFont typeface="Noto Sans"/>
              <a:buChar char="▪"/>
            </a:pPr>
            <a:r>
              <a:rPr lang="en-US" sz="2800"/>
              <a:t>Provide unique network switch connections to specific workstations for further customization</a:t>
            </a:r>
            <a:endParaRPr/>
          </a:p>
          <a:p>
            <a:pPr indent="0" lvl="0" marL="0" rtl="0" algn="just">
              <a:lnSpc>
                <a:spcPct val="90000"/>
              </a:lnSpc>
              <a:spcBef>
                <a:spcPts val="1400"/>
              </a:spcBef>
              <a:spcAft>
                <a:spcPts val="0"/>
              </a:spcAft>
              <a:buClr>
                <a:schemeClr val="dk1"/>
              </a:buClr>
              <a:buSzPts val="3200"/>
              <a:buNone/>
            </a:pPr>
            <a:r>
              <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sz="3200"/>
              <a:t>FAST ETHERNET</a:t>
            </a:r>
            <a:endParaRPr/>
          </a:p>
        </p:txBody>
      </p:sp>
      <p:sp>
        <p:nvSpPr>
          <p:cNvPr id="144" name="Google Shape;144;p2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342900" lvl="0" marL="457200" rtl="0" algn="l">
              <a:lnSpc>
                <a:spcPct val="90000"/>
              </a:lnSpc>
              <a:spcBef>
                <a:spcPts val="1200"/>
              </a:spcBef>
              <a:spcAft>
                <a:spcPts val="0"/>
              </a:spcAft>
              <a:buSzPts val="1800"/>
              <a:buFont typeface="Noto Sans Symbols"/>
              <a:buChar char="❖"/>
            </a:pPr>
            <a:r>
              <a:rPr lang="en-US"/>
              <a:t>100 Mbps Speed</a:t>
            </a:r>
            <a:endParaRPr/>
          </a:p>
          <a:p>
            <a:pPr indent="-342900" lvl="0" marL="457200" rtl="0" algn="l">
              <a:lnSpc>
                <a:spcPct val="90000"/>
              </a:lnSpc>
              <a:spcBef>
                <a:spcPts val="1200"/>
              </a:spcBef>
              <a:spcAft>
                <a:spcPts val="0"/>
              </a:spcAft>
              <a:buSzPts val="1800"/>
              <a:buFont typeface="Noto Sans Symbols"/>
              <a:buChar char="❖"/>
            </a:pPr>
            <a:r>
              <a:rPr lang="en-US"/>
              <a:t>Higher Reliability</a:t>
            </a:r>
            <a:endParaRPr/>
          </a:p>
          <a:p>
            <a:pPr indent="-342900" lvl="0" marL="457200" rtl="0" algn="l">
              <a:lnSpc>
                <a:spcPct val="90000"/>
              </a:lnSpc>
              <a:spcBef>
                <a:spcPts val="1200"/>
              </a:spcBef>
              <a:spcAft>
                <a:spcPts val="0"/>
              </a:spcAft>
              <a:buSzPts val="1800"/>
              <a:buFont typeface="Noto Sans Symbols"/>
              <a:buChar char="❖"/>
            </a:pPr>
            <a:r>
              <a:rPr lang="en-US"/>
              <a:t>Developed For Higher Data Rates</a:t>
            </a:r>
            <a:endParaRPr/>
          </a:p>
          <a:p>
            <a:pPr indent="-342900" lvl="0" marL="457200" rtl="0" algn="l">
              <a:lnSpc>
                <a:spcPct val="90000"/>
              </a:lnSpc>
              <a:spcBef>
                <a:spcPts val="1200"/>
              </a:spcBef>
              <a:spcAft>
                <a:spcPts val="0"/>
              </a:spcAft>
              <a:buSzPts val="1800"/>
              <a:buFont typeface="Noto Sans Symbols"/>
              <a:buChar char="❖"/>
            </a:pPr>
            <a:r>
              <a:rPr lang="en-US"/>
              <a:t>Simple To Configure</a:t>
            </a:r>
            <a:endParaRPr/>
          </a:p>
          <a:p>
            <a:pPr indent="-342900" lvl="0" marL="457200" rtl="0" algn="l">
              <a:lnSpc>
                <a:spcPct val="90000"/>
              </a:lnSpc>
              <a:spcBef>
                <a:spcPts val="1200"/>
              </a:spcBef>
              <a:spcAft>
                <a:spcPts val="0"/>
              </a:spcAft>
              <a:buSzPts val="1800"/>
              <a:buFont typeface="Noto Sans Symbols"/>
              <a:buChar char="❖"/>
            </a:pPr>
            <a:r>
              <a:rPr lang="en-US"/>
              <a:t>MAC Layer Is Untouched </a:t>
            </a:r>
            <a:endParaRPr/>
          </a:p>
          <a:p>
            <a:pPr indent="-342900" lvl="0" marL="457200" rtl="0" algn="l">
              <a:lnSpc>
                <a:spcPct val="90000"/>
              </a:lnSpc>
              <a:spcBef>
                <a:spcPts val="1200"/>
              </a:spcBef>
              <a:spcAft>
                <a:spcPts val="0"/>
              </a:spcAft>
              <a:buSzPts val="1800"/>
              <a:buFont typeface="Noto Sans Symbols"/>
              <a:buChar char="❖"/>
            </a:pPr>
            <a:r>
              <a:rPr lang="en-US"/>
              <a:t>Max and Min Frame length are also untouched</a:t>
            </a:r>
            <a:endParaRPr/>
          </a:p>
          <a:p>
            <a:pPr indent="-342900" lvl="0" marL="457200" rtl="0" algn="l">
              <a:lnSpc>
                <a:spcPct val="90000"/>
              </a:lnSpc>
              <a:spcBef>
                <a:spcPts val="1200"/>
              </a:spcBef>
              <a:spcAft>
                <a:spcPts val="0"/>
              </a:spcAft>
              <a:buSzPts val="1800"/>
              <a:buFont typeface="Noto Sans Symbols"/>
              <a:buChar char="❖"/>
            </a:pPr>
            <a:r>
              <a:rPr lang="en-US"/>
              <a:t>Fast Ethernet is used for departmental backbones, connections to high-speed servers, and connections to workstations running bandwidth-intensive software such as CAD or multimedia applications.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sz="3200"/>
              <a:t>WORKING</a:t>
            </a:r>
            <a:endParaRPr/>
          </a:p>
        </p:txBody>
      </p:sp>
      <p:sp>
        <p:nvSpPr>
          <p:cNvPr id="150" name="Google Shape;150;p2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fontScale="92500" lnSpcReduction="10000"/>
          </a:bodyPr>
          <a:lstStyle/>
          <a:p>
            <a:pPr indent="0" lvl="0" marL="114300" rtl="0" algn="l">
              <a:lnSpc>
                <a:spcPct val="90000"/>
              </a:lnSpc>
              <a:spcBef>
                <a:spcPts val="1200"/>
              </a:spcBef>
              <a:spcAft>
                <a:spcPts val="0"/>
              </a:spcAft>
              <a:buSzPct val="97297"/>
              <a:buNone/>
            </a:pPr>
            <a:r>
              <a:rPr lang="en-US"/>
              <a:t>Fast Ethernet uses the same </a:t>
            </a:r>
            <a:r>
              <a:rPr lang="en-US" u="sng"/>
              <a:t>Carrier Sense Multiple Access with Collision Detection</a:t>
            </a:r>
            <a:r>
              <a:rPr lang="en-US"/>
              <a:t> (CSMA/CD) media access control mechanism as traditional 10-Mbps Ethernet networks.</a:t>
            </a:r>
            <a:endParaRPr/>
          </a:p>
          <a:p>
            <a:pPr indent="0" lvl="0" marL="114300" rtl="0" algn="l">
              <a:lnSpc>
                <a:spcPct val="90000"/>
              </a:lnSpc>
              <a:spcBef>
                <a:spcPts val="1200"/>
              </a:spcBef>
              <a:spcAft>
                <a:spcPts val="0"/>
              </a:spcAft>
              <a:buSzPct val="97297"/>
              <a:buNone/>
            </a:pPr>
            <a:r>
              <a:rPr lang="en-US"/>
              <a:t> Fast Ethernet implementations are collectively known as 100BaseT technologies.</a:t>
            </a:r>
            <a:endParaRPr/>
          </a:p>
          <a:p>
            <a:pPr indent="0" lvl="0" marL="114300" rtl="0" algn="l">
              <a:lnSpc>
                <a:spcPct val="90000"/>
              </a:lnSpc>
              <a:spcBef>
                <a:spcPts val="1200"/>
              </a:spcBef>
              <a:spcAft>
                <a:spcPts val="0"/>
              </a:spcAft>
              <a:buSzPct val="97297"/>
              <a:buNone/>
            </a:pPr>
            <a:r>
              <a:rPr lang="en-US"/>
              <a:t> They are generally wired in a star topology using special Fast Ethernet hubs and switches. </a:t>
            </a:r>
            <a:endParaRPr/>
          </a:p>
          <a:p>
            <a:pPr indent="0" lvl="0" marL="114300" rtl="0" algn="l">
              <a:lnSpc>
                <a:spcPct val="90000"/>
              </a:lnSpc>
              <a:spcBef>
                <a:spcPts val="1200"/>
              </a:spcBef>
              <a:spcAft>
                <a:spcPts val="0"/>
              </a:spcAft>
              <a:buSzPct val="97297"/>
              <a:buNone/>
            </a:pPr>
            <a:r>
              <a:rPr lang="en-US"/>
              <a:t>Fast Ethernet can be implemented in three different transmission schemes or cabling options:</a:t>
            </a:r>
            <a:endParaRPr/>
          </a:p>
          <a:p>
            <a:pPr indent="-457200" lvl="0" marL="571500" rtl="0" algn="l">
              <a:lnSpc>
                <a:spcPct val="90000"/>
              </a:lnSpc>
              <a:spcBef>
                <a:spcPts val="1200"/>
              </a:spcBef>
              <a:spcAft>
                <a:spcPts val="0"/>
              </a:spcAft>
              <a:buSzPct val="97297"/>
              <a:buFont typeface="Arial"/>
              <a:buAutoNum type="arabicPeriod"/>
            </a:pPr>
            <a:r>
              <a:rPr b="1" lang="en-US" u="sng"/>
              <a:t>100BASE-TX</a:t>
            </a:r>
            <a:r>
              <a:rPr lang="en-US"/>
              <a:t>: The most popular Fast Ethernet implementation. 100BaseTX uses two pairs of wires in Category 5 cabling; that is, the same cabling as the popular but lower-speed 10BaseT variety of Ethernet.</a:t>
            </a:r>
            <a:endParaRPr/>
          </a:p>
          <a:p>
            <a:pPr indent="-457200" lvl="0" marL="571500" rtl="0" algn="l">
              <a:lnSpc>
                <a:spcPct val="90000"/>
              </a:lnSpc>
              <a:spcBef>
                <a:spcPts val="1200"/>
              </a:spcBef>
              <a:spcAft>
                <a:spcPts val="0"/>
              </a:spcAft>
              <a:buSzPct val="97297"/>
              <a:buFont typeface="Arial"/>
              <a:buAutoNum type="arabicPeriod"/>
            </a:pPr>
            <a:r>
              <a:rPr b="1" lang="en-US" u="sng"/>
              <a:t>100BASE-FX</a:t>
            </a:r>
            <a:r>
              <a:rPr lang="en-US"/>
              <a:t>: A duplex multimode fiber-optic cable with ST connectors used mainly for backbone wiring.</a:t>
            </a:r>
            <a:endParaRPr/>
          </a:p>
          <a:p>
            <a:pPr indent="-457200" lvl="0" marL="571500" rtl="0" algn="l">
              <a:lnSpc>
                <a:spcPct val="90000"/>
              </a:lnSpc>
              <a:spcBef>
                <a:spcPts val="1200"/>
              </a:spcBef>
              <a:spcAft>
                <a:spcPts val="0"/>
              </a:spcAft>
              <a:buSzPct val="97297"/>
              <a:buFont typeface="Arial"/>
              <a:buAutoNum type="arabicPeriod"/>
            </a:pPr>
            <a:r>
              <a:rPr b="1" lang="en-US" u="sng"/>
              <a:t>100BASE-T4</a:t>
            </a:r>
            <a:r>
              <a:rPr lang="en-US"/>
              <a:t>: Uses four pairs of wires and enables Fast Ethernet to be used over category 3 cabling or higher.</a:t>
            </a:r>
            <a:endParaRPr/>
          </a:p>
          <a:p>
            <a:pPr indent="-342900" lvl="0" marL="571500" rtl="0" algn="l">
              <a:lnSpc>
                <a:spcPct val="90000"/>
              </a:lnSpc>
              <a:spcBef>
                <a:spcPts val="1200"/>
              </a:spcBef>
              <a:spcAft>
                <a:spcPts val="0"/>
              </a:spcAft>
              <a:buSzPct val="97297"/>
              <a:buFont typeface="Arial"/>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19678d0b7a1_0_0"/>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SzPts val="4800"/>
              <a:buNone/>
            </a:pPr>
            <a:r>
              <a:rPr lang="en-US" sz="3200"/>
              <a:t>GIGABIT ETHERNET</a:t>
            </a:r>
            <a:endParaRPr sz="3200"/>
          </a:p>
        </p:txBody>
      </p:sp>
      <p:sp>
        <p:nvSpPr>
          <p:cNvPr id="156" name="Google Shape;156;g19678d0b7a1_0_0"/>
          <p:cNvSpPr txBox="1"/>
          <p:nvPr>
            <p:ph idx="1" type="body"/>
          </p:nvPr>
        </p:nvSpPr>
        <p:spPr>
          <a:xfrm>
            <a:off x="580500" y="1845725"/>
            <a:ext cx="11272500" cy="4283400"/>
          </a:xfrm>
          <a:prstGeom prst="rect">
            <a:avLst/>
          </a:prstGeom>
          <a:noFill/>
          <a:ln>
            <a:noFill/>
          </a:ln>
        </p:spPr>
        <p:txBody>
          <a:bodyPr anchorCtr="0" anchor="t" bIns="45700" lIns="0" spcFirstLastPara="1" rIns="0" wrap="square" tIns="45700">
            <a:noAutofit/>
          </a:bodyPr>
          <a:lstStyle/>
          <a:p>
            <a:pPr indent="-355600" lvl="0" marL="457200" rtl="0" algn="l">
              <a:lnSpc>
                <a:spcPct val="167000"/>
              </a:lnSpc>
              <a:spcBef>
                <a:spcPts val="600"/>
              </a:spcBef>
              <a:spcAft>
                <a:spcPts val="0"/>
              </a:spcAft>
              <a:buSzPts val="2000"/>
              <a:buFont typeface="Arial"/>
              <a:buChar char="●"/>
            </a:pPr>
            <a:r>
              <a:rPr lang="en-US">
                <a:solidFill>
                  <a:srgbClr val="666666"/>
                </a:solidFill>
                <a:highlight>
                  <a:srgbClr val="FFFFFF"/>
                </a:highlight>
                <a:latin typeface="Calibri"/>
                <a:ea typeface="Calibri"/>
                <a:cs typeface="Calibri"/>
                <a:sym typeface="Calibri"/>
              </a:rPr>
              <a:t>Gigabit Ethernet (GbE), a transmission technology based on the Ethernet frame format and protocol used in local area networks (LANs), provides a data rate of 1 billion bits per second, or 1 gigabit (Gb). </a:t>
            </a:r>
            <a:endParaRPr>
              <a:solidFill>
                <a:srgbClr val="666666"/>
              </a:solidFill>
              <a:highlight>
                <a:srgbClr val="FFFFFF"/>
              </a:highlight>
              <a:latin typeface="Calibri"/>
              <a:ea typeface="Calibri"/>
              <a:cs typeface="Calibri"/>
              <a:sym typeface="Calibri"/>
            </a:endParaRPr>
          </a:p>
          <a:p>
            <a:pPr indent="-355600" lvl="0" marL="457200" rtl="0" algn="l">
              <a:lnSpc>
                <a:spcPct val="167000"/>
              </a:lnSpc>
              <a:spcBef>
                <a:spcPts val="0"/>
              </a:spcBef>
              <a:spcAft>
                <a:spcPts val="0"/>
              </a:spcAft>
              <a:buSzPts val="2000"/>
              <a:buFont typeface="Arial"/>
              <a:buChar char="●"/>
            </a:pPr>
            <a:r>
              <a:rPr lang="en-US">
                <a:solidFill>
                  <a:srgbClr val="666666"/>
                </a:solidFill>
                <a:highlight>
                  <a:srgbClr val="FFFFFF"/>
                </a:highlight>
                <a:latin typeface="Calibri"/>
                <a:ea typeface="Calibri"/>
                <a:cs typeface="Calibri"/>
                <a:sym typeface="Calibri"/>
              </a:rPr>
              <a:t>Gigabit Ethernet is defined in the Institute of Electrical and Electronics Engineers (</a:t>
            </a:r>
            <a:r>
              <a:rPr lang="en-US" u="sng">
                <a:solidFill>
                  <a:srgbClr val="007CAD"/>
                </a:solidFill>
                <a:highlight>
                  <a:srgbClr val="FFFFFF"/>
                </a:highlight>
                <a:latin typeface="Calibri"/>
                <a:ea typeface="Calibri"/>
                <a:cs typeface="Calibri"/>
                <a:sym typeface="Calibri"/>
                <a:hlinkClick r:id="rId3">
                  <a:extLst>
                    <a:ext uri="{A12FA001-AC4F-418D-AE19-62706E023703}">
                      <ahyp:hlinkClr val="tx"/>
                    </a:ext>
                  </a:extLst>
                </a:hlinkClick>
              </a:rPr>
              <a:t>IEEE</a:t>
            </a:r>
            <a:r>
              <a:rPr lang="en-US">
                <a:solidFill>
                  <a:srgbClr val="666666"/>
                </a:solidFill>
                <a:highlight>
                  <a:srgbClr val="FFFFFF"/>
                </a:highlight>
                <a:latin typeface="Calibri"/>
                <a:ea typeface="Calibri"/>
                <a:cs typeface="Calibri"/>
                <a:sym typeface="Calibri"/>
              </a:rPr>
              <a:t>) 802.3 standard and is currently being used as the backbone in many enterprise networks.</a:t>
            </a:r>
            <a:endParaRPr>
              <a:solidFill>
                <a:srgbClr val="666666"/>
              </a:solidFill>
              <a:highlight>
                <a:srgbClr val="FFFFFF"/>
              </a:highlight>
              <a:latin typeface="Calibri"/>
              <a:ea typeface="Calibri"/>
              <a:cs typeface="Calibri"/>
              <a:sym typeface="Calibri"/>
            </a:endParaRPr>
          </a:p>
          <a:p>
            <a:pPr indent="-355600" lvl="0" marL="457200" rtl="0" algn="l">
              <a:lnSpc>
                <a:spcPct val="167000"/>
              </a:lnSpc>
              <a:spcBef>
                <a:spcPts val="0"/>
              </a:spcBef>
              <a:spcAft>
                <a:spcPts val="0"/>
              </a:spcAft>
              <a:buClr>
                <a:srgbClr val="666666"/>
              </a:buClr>
              <a:buSzPts val="2000"/>
              <a:buFont typeface="Arial"/>
              <a:buChar char="●"/>
            </a:pPr>
            <a:r>
              <a:rPr lang="en-US">
                <a:solidFill>
                  <a:srgbClr val="666666"/>
                </a:solidFill>
                <a:highlight>
                  <a:srgbClr val="FFFFFF"/>
                </a:highlight>
                <a:latin typeface="Calibri"/>
                <a:ea typeface="Calibri"/>
                <a:cs typeface="Calibri"/>
                <a:sym typeface="Calibri"/>
              </a:rPr>
              <a:t>Gigabit Ethernet connects computers and servers in local networks. Its improvements in data transfer speed and cabling have prompted many enterprises to replace Fast Ethernet with Gigabit Ethernet for wired local networks.</a:t>
            </a:r>
            <a:endParaRPr>
              <a:solidFill>
                <a:srgbClr val="666666"/>
              </a:solidFill>
              <a:highlight>
                <a:srgbClr val="FFFFFF"/>
              </a:highlight>
              <a:latin typeface="Calibri"/>
              <a:ea typeface="Calibri"/>
              <a:cs typeface="Calibri"/>
              <a:sym typeface="Calibri"/>
            </a:endParaRPr>
          </a:p>
          <a:p>
            <a:pPr indent="0" lvl="0" marL="457200" rtl="0" algn="l">
              <a:lnSpc>
                <a:spcPct val="90000"/>
              </a:lnSpc>
              <a:spcBef>
                <a:spcPts val="2000"/>
              </a:spcBef>
              <a:spcAft>
                <a:spcPts val="200"/>
              </a:spcAft>
              <a:buSzPts val="1800"/>
              <a:buNone/>
            </a:pPr>
            <a:r>
              <a:t/>
            </a:r>
            <a:endParaRPr b="1">
              <a:solidFill>
                <a:srgbClr val="666666"/>
              </a:solidFill>
              <a:highlight>
                <a:srgbClr val="FFFFFF"/>
              </a:highlight>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19678d0b7a1_0_7"/>
          <p:cNvSpPr txBox="1"/>
          <p:nvPr>
            <p:ph type="title"/>
          </p:nvPr>
        </p:nvSpPr>
        <p:spPr>
          <a:xfrm>
            <a:off x="1066805" y="286603"/>
            <a:ext cx="10058400" cy="14508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SzPts val="4800"/>
              <a:buNone/>
            </a:pPr>
            <a:r>
              <a:rPr lang="en-US" sz="3200"/>
              <a:t>HOW GIGABIT ETHERNET WORKS</a:t>
            </a:r>
            <a:endParaRPr sz="3200"/>
          </a:p>
        </p:txBody>
      </p:sp>
      <p:sp>
        <p:nvSpPr>
          <p:cNvPr id="162" name="Google Shape;162;g19678d0b7a1_0_7"/>
          <p:cNvSpPr txBox="1"/>
          <p:nvPr>
            <p:ph idx="1" type="body"/>
          </p:nvPr>
        </p:nvSpPr>
        <p:spPr>
          <a:xfrm>
            <a:off x="1066800" y="1917000"/>
            <a:ext cx="10300200" cy="4009500"/>
          </a:xfrm>
          <a:prstGeom prst="rect">
            <a:avLst/>
          </a:prstGeom>
          <a:noFill/>
          <a:ln>
            <a:noFill/>
          </a:ln>
        </p:spPr>
        <p:txBody>
          <a:bodyPr anchorCtr="0" anchor="t" bIns="45700" lIns="0" spcFirstLastPara="1" rIns="0" wrap="square" tIns="45700">
            <a:noAutofit/>
          </a:bodyPr>
          <a:lstStyle/>
          <a:p>
            <a:pPr indent="-355600" lvl="0" marL="457200" rtl="0" algn="l">
              <a:lnSpc>
                <a:spcPct val="167000"/>
              </a:lnSpc>
              <a:spcBef>
                <a:spcPts val="600"/>
              </a:spcBef>
              <a:spcAft>
                <a:spcPts val="0"/>
              </a:spcAft>
              <a:buSzPts val="2000"/>
              <a:buFont typeface="Arial"/>
              <a:buChar char="➔"/>
            </a:pPr>
            <a:r>
              <a:rPr b="1" lang="en-US">
                <a:solidFill>
                  <a:srgbClr val="666666"/>
                </a:solidFill>
                <a:highlight>
                  <a:srgbClr val="FFFFFF"/>
                </a:highlight>
                <a:latin typeface="Arial"/>
                <a:ea typeface="Arial"/>
                <a:cs typeface="Arial"/>
                <a:sym typeface="Arial"/>
              </a:rPr>
              <a:t>Gigabit Ethernet networks can function as </a:t>
            </a:r>
            <a:r>
              <a:rPr b="1" lang="en-US" u="sng">
                <a:solidFill>
                  <a:srgbClr val="007CAD"/>
                </a:solidFill>
                <a:highlight>
                  <a:srgbClr val="FFFFFF"/>
                </a:highlight>
                <a:latin typeface="Arial"/>
                <a:ea typeface="Arial"/>
                <a:cs typeface="Arial"/>
                <a:sym typeface="Arial"/>
                <a:hlinkClick r:id="rId3">
                  <a:extLst>
                    <a:ext uri="{A12FA001-AC4F-418D-AE19-62706E023703}">
                      <ahyp:hlinkClr val="tx"/>
                    </a:ext>
                  </a:extLst>
                </a:hlinkClick>
              </a:rPr>
              <a:t>half-duplex</a:t>
            </a:r>
            <a:r>
              <a:rPr b="1" lang="en-US">
                <a:solidFill>
                  <a:srgbClr val="666666"/>
                </a:solidFill>
                <a:highlight>
                  <a:srgbClr val="FFFFFF"/>
                </a:highlight>
                <a:latin typeface="Arial"/>
                <a:ea typeface="Arial"/>
                <a:cs typeface="Arial"/>
                <a:sym typeface="Arial"/>
              </a:rPr>
              <a:t> networks for shared media or as Ethernet switches with a switched full-duplex network.</a:t>
            </a:r>
            <a:endParaRPr b="1">
              <a:solidFill>
                <a:srgbClr val="666666"/>
              </a:solidFill>
              <a:highlight>
                <a:srgbClr val="FFFFFF"/>
              </a:highlight>
              <a:latin typeface="Arial"/>
              <a:ea typeface="Arial"/>
              <a:cs typeface="Arial"/>
              <a:sym typeface="Arial"/>
            </a:endParaRPr>
          </a:p>
          <a:p>
            <a:pPr indent="-355600" lvl="0" marL="457200" rtl="0" algn="l">
              <a:lnSpc>
                <a:spcPct val="167000"/>
              </a:lnSpc>
              <a:spcBef>
                <a:spcPts val="0"/>
              </a:spcBef>
              <a:spcAft>
                <a:spcPts val="0"/>
              </a:spcAft>
              <a:buClr>
                <a:srgbClr val="666666"/>
              </a:buClr>
              <a:buSzPts val="2000"/>
              <a:buFont typeface="Arial"/>
              <a:buChar char="➔"/>
            </a:pPr>
            <a:r>
              <a:rPr b="1" lang="en-US">
                <a:solidFill>
                  <a:srgbClr val="666666"/>
                </a:solidFill>
                <a:highlight>
                  <a:srgbClr val="FFFFFF"/>
                </a:highlight>
                <a:latin typeface="Arial"/>
                <a:ea typeface="Arial"/>
                <a:cs typeface="Arial"/>
                <a:sym typeface="Arial"/>
              </a:rPr>
              <a:t>Gigabit Ethernet uses the same 802.3 framing structure as standard Ethernet. It supports 1 Gb per second (Gbps) speeds using Carrier Sense Multiple Access/Collision Detect (CSMA/CD). CSMA/CD handles transmissions after a collision has occurred. The transmission rate may cause data packets to intersect when two devices on the same Ethernet network attempt to transmit data at the same time.</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19678d0b7a1_0_18"/>
          <p:cNvSpPr txBox="1"/>
          <p:nvPr>
            <p:ph type="title"/>
          </p:nvPr>
        </p:nvSpPr>
        <p:spPr>
          <a:xfrm>
            <a:off x="1097275" y="567000"/>
            <a:ext cx="10058400" cy="15930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SzPts val="4800"/>
              <a:buNone/>
            </a:pPr>
            <a:r>
              <a:t/>
            </a:r>
            <a:endParaRPr/>
          </a:p>
          <a:p>
            <a:pPr indent="0" lvl="0" marL="0" rtl="0" algn="l">
              <a:lnSpc>
                <a:spcPct val="85000"/>
              </a:lnSpc>
              <a:spcBef>
                <a:spcPts val="0"/>
              </a:spcBef>
              <a:spcAft>
                <a:spcPts val="0"/>
              </a:spcAft>
              <a:buClr>
                <a:schemeClr val="dk1"/>
              </a:buClr>
              <a:buSzPts val="990"/>
              <a:buFont typeface="Arial"/>
              <a:buNone/>
            </a:pPr>
            <a:r>
              <a:rPr lang="en-US" sz="3600"/>
              <a:t>HOW GIGABIT ETHERNET WORKS</a:t>
            </a:r>
            <a:endParaRPr sz="3600"/>
          </a:p>
          <a:p>
            <a:pPr indent="0" lvl="0" marL="0" rtl="0" algn="l">
              <a:lnSpc>
                <a:spcPct val="85000"/>
              </a:lnSpc>
              <a:spcBef>
                <a:spcPts val="0"/>
              </a:spcBef>
              <a:spcAft>
                <a:spcPts val="0"/>
              </a:spcAft>
              <a:buSzPts val="4800"/>
              <a:buNone/>
            </a:pPr>
            <a:r>
              <a:t/>
            </a:r>
            <a:endParaRPr/>
          </a:p>
        </p:txBody>
      </p:sp>
      <p:sp>
        <p:nvSpPr>
          <p:cNvPr id="168" name="Google Shape;168;g19678d0b7a1_0_18"/>
          <p:cNvSpPr txBox="1"/>
          <p:nvPr>
            <p:ph idx="1" type="body"/>
          </p:nvPr>
        </p:nvSpPr>
        <p:spPr>
          <a:xfrm>
            <a:off x="1097275" y="1795500"/>
            <a:ext cx="9905100" cy="3789900"/>
          </a:xfrm>
          <a:prstGeom prst="rect">
            <a:avLst/>
          </a:prstGeom>
          <a:noFill/>
          <a:ln>
            <a:noFill/>
          </a:ln>
        </p:spPr>
        <p:txBody>
          <a:bodyPr anchorCtr="0" anchor="t" bIns="45700" lIns="0" spcFirstLastPara="1" rIns="0" wrap="square" tIns="45700">
            <a:normAutofit fontScale="85000" lnSpcReduction="10000"/>
          </a:bodyPr>
          <a:lstStyle/>
          <a:p>
            <a:pPr indent="-325797" lvl="0" marL="457200" rtl="0" algn="l">
              <a:lnSpc>
                <a:spcPct val="167000"/>
              </a:lnSpc>
              <a:spcBef>
                <a:spcPts val="2000"/>
              </a:spcBef>
              <a:spcAft>
                <a:spcPts val="0"/>
              </a:spcAft>
              <a:buClr>
                <a:srgbClr val="666666"/>
              </a:buClr>
              <a:buSzPct val="133333"/>
              <a:buFont typeface="Arial"/>
              <a:buChar char="❖"/>
            </a:pPr>
            <a:r>
              <a:rPr b="1" lang="en-US" sz="2150">
                <a:solidFill>
                  <a:srgbClr val="666666"/>
                </a:solidFill>
                <a:highlight>
                  <a:srgbClr val="FFFFFF"/>
                </a:highlight>
                <a:latin typeface="Calibri"/>
                <a:ea typeface="Calibri"/>
                <a:cs typeface="Calibri"/>
                <a:sym typeface="Calibri"/>
              </a:rPr>
              <a:t>CSMA/CD detects and discards collided data packets.</a:t>
            </a:r>
            <a:endParaRPr/>
          </a:p>
          <a:p>
            <a:pPr indent="-325797" lvl="0" marL="457200" rtl="0" algn="l">
              <a:lnSpc>
                <a:spcPct val="167000"/>
              </a:lnSpc>
              <a:spcBef>
                <a:spcPts val="2000"/>
              </a:spcBef>
              <a:spcAft>
                <a:spcPts val="0"/>
              </a:spcAft>
              <a:buClr>
                <a:srgbClr val="666666"/>
              </a:buClr>
              <a:buSzPct val="133333"/>
              <a:buFont typeface="Arial"/>
              <a:buChar char="❖"/>
            </a:pPr>
            <a:r>
              <a:rPr b="1" lang="en-US" sz="2150">
                <a:solidFill>
                  <a:srgbClr val="666666"/>
                </a:solidFill>
                <a:highlight>
                  <a:srgbClr val="FFFFFF"/>
                </a:highlight>
                <a:latin typeface="Calibri"/>
                <a:ea typeface="Calibri"/>
                <a:cs typeface="Calibri"/>
                <a:sym typeface="Calibri"/>
              </a:rPr>
              <a:t>Gigabit Ethernet speeds are delivered by either copper or fiber optic cables.</a:t>
            </a:r>
            <a:endParaRPr/>
          </a:p>
          <a:p>
            <a:pPr indent="-325797" lvl="0" marL="457200" rtl="0" algn="l">
              <a:lnSpc>
                <a:spcPct val="167000"/>
              </a:lnSpc>
              <a:spcBef>
                <a:spcPts val="2000"/>
              </a:spcBef>
              <a:spcAft>
                <a:spcPts val="0"/>
              </a:spcAft>
              <a:buClr>
                <a:srgbClr val="666666"/>
              </a:buClr>
              <a:buSzPct val="133333"/>
              <a:buFont typeface="Arial"/>
              <a:buChar char="❖"/>
            </a:pPr>
            <a:r>
              <a:rPr b="1" lang="en-US" sz="2150">
                <a:solidFill>
                  <a:srgbClr val="666666"/>
                </a:solidFill>
                <a:highlight>
                  <a:srgbClr val="FFFFFF"/>
                </a:highlight>
                <a:latin typeface="Calibri"/>
                <a:ea typeface="Calibri"/>
                <a:cs typeface="Calibri"/>
                <a:sym typeface="Calibri"/>
              </a:rPr>
              <a:t>Fiber optic cables are needed for long-range transmissions of more than 300 meters (m). However, traditional Ethernet cables can transmit data at gigabit speeds over shorter distances -- in particular, Cat5e cables or above or the 1000Base-T cabling standard and above. </a:t>
            </a:r>
            <a:endParaRPr/>
          </a:p>
          <a:p>
            <a:pPr indent="-325797" lvl="0" marL="457200" rtl="0" algn="l">
              <a:lnSpc>
                <a:spcPct val="167000"/>
              </a:lnSpc>
              <a:spcBef>
                <a:spcPts val="2000"/>
              </a:spcBef>
              <a:spcAft>
                <a:spcPts val="0"/>
              </a:spcAft>
              <a:buClr>
                <a:srgbClr val="666666"/>
              </a:buClr>
              <a:buSzPct val="133333"/>
              <a:buFont typeface="Arial"/>
              <a:buChar char="❖"/>
            </a:pPr>
            <a:r>
              <a:rPr b="1" lang="en-US" sz="2150">
                <a:solidFill>
                  <a:srgbClr val="666666"/>
                </a:solidFill>
                <a:highlight>
                  <a:srgbClr val="FFFFFF"/>
                </a:highlight>
                <a:latin typeface="Calibri"/>
                <a:ea typeface="Calibri"/>
                <a:cs typeface="Calibri"/>
                <a:sym typeface="Calibri"/>
              </a:rPr>
              <a:t>Cat5e cable, for example, consists of four pairs of eight twisted wires in one cable.</a:t>
            </a:r>
            <a:endParaRPr b="1" sz="2150">
              <a:solidFill>
                <a:srgbClr val="666666"/>
              </a:solidFill>
              <a:highlight>
                <a:srgbClr val="FFFFFF"/>
              </a:highlight>
              <a:latin typeface="Calibri"/>
              <a:ea typeface="Calibri"/>
              <a:cs typeface="Calibri"/>
              <a:sym typeface="Calibri"/>
            </a:endParaRPr>
          </a:p>
          <a:p>
            <a:pPr indent="0" lvl="0" marL="457200" rtl="0" algn="l">
              <a:lnSpc>
                <a:spcPct val="90000"/>
              </a:lnSpc>
              <a:spcBef>
                <a:spcPts val="2000"/>
              </a:spcBef>
              <a:spcAft>
                <a:spcPts val="200"/>
              </a:spcAft>
              <a:buSzPct val="98495"/>
              <a:buNone/>
            </a:pPr>
            <a:r>
              <a:t/>
            </a:r>
            <a:endParaRPr sz="215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19678d0b7a1_0_24"/>
          <p:cNvSpPr txBox="1"/>
          <p:nvPr>
            <p:ph type="title"/>
          </p:nvPr>
        </p:nvSpPr>
        <p:spPr>
          <a:xfrm>
            <a:off x="1066800" y="554182"/>
            <a:ext cx="10058400" cy="1285080"/>
          </a:xfrm>
          <a:prstGeom prst="rect">
            <a:avLst/>
          </a:prstGeom>
          <a:noFill/>
          <a:ln>
            <a:noFill/>
          </a:ln>
        </p:spPr>
        <p:txBody>
          <a:bodyPr anchorCtr="0" anchor="b" bIns="45700" lIns="91425" spcFirstLastPara="1" rIns="91425" wrap="square" tIns="45700">
            <a:noAutofit/>
          </a:bodyPr>
          <a:lstStyle/>
          <a:p>
            <a:pPr indent="0" lvl="0" marL="0" rtl="0" algn="l">
              <a:lnSpc>
                <a:spcPct val="140000"/>
              </a:lnSpc>
              <a:spcBef>
                <a:spcPts val="0"/>
              </a:spcBef>
              <a:spcAft>
                <a:spcPts val="0"/>
              </a:spcAft>
              <a:buClr>
                <a:schemeClr val="dk1"/>
              </a:buClr>
              <a:buSzPts val="1100"/>
              <a:buFont typeface="Arial"/>
              <a:buNone/>
            </a:pPr>
            <a:r>
              <a:rPr lang="en-US" sz="3200">
                <a:solidFill>
                  <a:srgbClr val="323232"/>
                </a:solidFill>
                <a:highlight>
                  <a:srgbClr val="FFFFFF"/>
                </a:highlight>
                <a:latin typeface="Arial"/>
                <a:ea typeface="Arial"/>
                <a:cs typeface="Arial"/>
                <a:sym typeface="Arial"/>
              </a:rPr>
              <a:t>BENEFITS OF GIGABIT ETHERNET</a:t>
            </a:r>
            <a:endParaRPr/>
          </a:p>
        </p:txBody>
      </p:sp>
      <p:sp>
        <p:nvSpPr>
          <p:cNvPr id="174" name="Google Shape;174;g19678d0b7a1_0_24"/>
          <p:cNvSpPr txBox="1"/>
          <p:nvPr>
            <p:ph idx="1" type="body"/>
          </p:nvPr>
        </p:nvSpPr>
        <p:spPr>
          <a:xfrm>
            <a:off x="832750" y="1614062"/>
            <a:ext cx="10292450" cy="4405786"/>
          </a:xfrm>
          <a:prstGeom prst="rect">
            <a:avLst/>
          </a:prstGeom>
          <a:noFill/>
          <a:ln>
            <a:noFill/>
          </a:ln>
        </p:spPr>
        <p:txBody>
          <a:bodyPr anchorCtr="0" anchor="t" bIns="45700" lIns="0" spcFirstLastPara="1" rIns="0" wrap="square" tIns="45700">
            <a:noAutofit/>
          </a:bodyPr>
          <a:lstStyle/>
          <a:p>
            <a:pPr indent="-355600" lvl="0" marL="698500" rtl="0" algn="l">
              <a:lnSpc>
                <a:spcPct val="167000"/>
              </a:lnSpc>
              <a:spcBef>
                <a:spcPts val="800"/>
              </a:spcBef>
              <a:spcAft>
                <a:spcPts val="0"/>
              </a:spcAft>
              <a:buClr>
                <a:srgbClr val="666666"/>
              </a:buClr>
              <a:buSzPts val="2000"/>
              <a:buFont typeface="Arial"/>
              <a:buChar char="●"/>
            </a:pPr>
            <a:r>
              <a:rPr lang="en-US">
                <a:solidFill>
                  <a:srgbClr val="666666"/>
                </a:solidFill>
                <a:highlight>
                  <a:srgbClr val="FFFFFF"/>
                </a:highlight>
                <a:latin typeface="Calibri"/>
                <a:ea typeface="Calibri"/>
                <a:cs typeface="Calibri"/>
                <a:sym typeface="Calibri"/>
              </a:rPr>
              <a:t>Reliability. Fiber optic cables used in some gigabit internet offerings are more durable and reliable than traditional copper wiring.</a:t>
            </a:r>
            <a:endParaRPr>
              <a:solidFill>
                <a:srgbClr val="666666"/>
              </a:solidFill>
              <a:highlight>
                <a:srgbClr val="FFFFFF"/>
              </a:highlight>
              <a:latin typeface="Calibri"/>
              <a:ea typeface="Calibri"/>
              <a:cs typeface="Calibri"/>
              <a:sym typeface="Calibri"/>
            </a:endParaRPr>
          </a:p>
          <a:p>
            <a:pPr indent="-355600" lvl="0" marL="698500" rtl="0" algn="l">
              <a:lnSpc>
                <a:spcPct val="167000"/>
              </a:lnSpc>
              <a:spcBef>
                <a:spcPts val="0"/>
              </a:spcBef>
              <a:spcAft>
                <a:spcPts val="0"/>
              </a:spcAft>
              <a:buClr>
                <a:srgbClr val="666666"/>
              </a:buClr>
              <a:buSzPts val="2000"/>
              <a:buFont typeface="Arial"/>
              <a:buChar char="●"/>
            </a:pPr>
            <a:r>
              <a:rPr lang="en-US">
                <a:solidFill>
                  <a:srgbClr val="666666"/>
                </a:solidFill>
                <a:highlight>
                  <a:srgbClr val="FFFFFF"/>
                </a:highlight>
                <a:latin typeface="Calibri"/>
                <a:ea typeface="Calibri"/>
                <a:cs typeface="Calibri"/>
                <a:sym typeface="Calibri"/>
              </a:rPr>
              <a:t>Speed. A transmission speed of 1 Gbps should be more than enough for most online applications today.</a:t>
            </a:r>
            <a:endParaRPr>
              <a:solidFill>
                <a:srgbClr val="666666"/>
              </a:solidFill>
              <a:highlight>
                <a:srgbClr val="FFFFFF"/>
              </a:highlight>
              <a:latin typeface="Calibri"/>
              <a:ea typeface="Calibri"/>
              <a:cs typeface="Calibri"/>
              <a:sym typeface="Calibri"/>
            </a:endParaRPr>
          </a:p>
          <a:p>
            <a:pPr indent="-355600" lvl="0" marL="698500" rtl="0" algn="l">
              <a:lnSpc>
                <a:spcPct val="167000"/>
              </a:lnSpc>
              <a:spcBef>
                <a:spcPts val="0"/>
              </a:spcBef>
              <a:spcAft>
                <a:spcPts val="0"/>
              </a:spcAft>
              <a:buClr>
                <a:srgbClr val="666666"/>
              </a:buClr>
              <a:buSzPts val="2000"/>
              <a:buFont typeface="Arial"/>
              <a:buChar char="●"/>
            </a:pPr>
            <a:r>
              <a:rPr lang="en-US">
                <a:solidFill>
                  <a:srgbClr val="666666"/>
                </a:solidFill>
                <a:highlight>
                  <a:srgbClr val="FFFFFF"/>
                </a:highlight>
                <a:latin typeface="Calibri"/>
                <a:ea typeface="Calibri"/>
                <a:cs typeface="Calibri"/>
                <a:sym typeface="Calibri"/>
              </a:rPr>
              <a:t>Less latency. Reduced latency rates range from 5 milliseconds to 20 ms.</a:t>
            </a:r>
            <a:endParaRPr>
              <a:solidFill>
                <a:srgbClr val="666666"/>
              </a:solidFill>
              <a:highlight>
                <a:srgbClr val="FFFFFF"/>
              </a:highlight>
              <a:latin typeface="Calibri"/>
              <a:ea typeface="Calibri"/>
              <a:cs typeface="Calibri"/>
              <a:sym typeface="Calibri"/>
            </a:endParaRPr>
          </a:p>
          <a:p>
            <a:pPr indent="-355600" lvl="0" marL="698500" rtl="0" algn="l">
              <a:lnSpc>
                <a:spcPct val="167000"/>
              </a:lnSpc>
              <a:spcBef>
                <a:spcPts val="0"/>
              </a:spcBef>
              <a:spcAft>
                <a:spcPts val="0"/>
              </a:spcAft>
              <a:buClr>
                <a:srgbClr val="666666"/>
              </a:buClr>
              <a:buSzPts val="2000"/>
              <a:buFont typeface="Arial"/>
              <a:buChar char="●"/>
            </a:pPr>
            <a:r>
              <a:rPr lang="en-US">
                <a:solidFill>
                  <a:srgbClr val="666666"/>
                </a:solidFill>
                <a:highlight>
                  <a:srgbClr val="FFFFFF"/>
                </a:highlight>
                <a:latin typeface="Calibri"/>
                <a:ea typeface="Calibri"/>
                <a:cs typeface="Calibri"/>
                <a:sym typeface="Calibri"/>
              </a:rPr>
              <a:t>Transferring or streaming video data. Gigabit Ethernet can smoothly stream 4K content at a high frame rate</a:t>
            </a:r>
            <a:endParaRPr>
              <a:solidFill>
                <a:srgbClr val="666666"/>
              </a:solidFill>
              <a:highlight>
                <a:srgbClr val="FFFFFF"/>
              </a:highlight>
              <a:latin typeface="Calibri"/>
              <a:ea typeface="Calibri"/>
              <a:cs typeface="Calibri"/>
              <a:sym typeface="Calibri"/>
            </a:endParaRPr>
          </a:p>
          <a:p>
            <a:pPr indent="-355600" lvl="0" marL="698500" rtl="0" algn="l">
              <a:lnSpc>
                <a:spcPct val="167000"/>
              </a:lnSpc>
              <a:spcBef>
                <a:spcPts val="0"/>
              </a:spcBef>
              <a:spcAft>
                <a:spcPts val="0"/>
              </a:spcAft>
              <a:buClr>
                <a:srgbClr val="666666"/>
              </a:buClr>
              <a:buSzPts val="2000"/>
              <a:buFont typeface="Arial"/>
              <a:buChar char="●"/>
            </a:pPr>
            <a:r>
              <a:rPr lang="en-US">
                <a:solidFill>
                  <a:srgbClr val="666666"/>
                </a:solidFill>
                <a:highlight>
                  <a:srgbClr val="FFFFFF"/>
                </a:highlight>
                <a:latin typeface="Calibri"/>
                <a:ea typeface="Calibri"/>
                <a:cs typeface="Calibri"/>
                <a:sym typeface="Calibri"/>
              </a:rPr>
              <a:t>Multiuser support. High-speed internet can be split into multiple tasks to support multiple devices</a:t>
            </a:r>
            <a:endParaRPr>
              <a:solidFill>
                <a:srgbClr val="666666"/>
              </a:solidFill>
              <a:highlight>
                <a:srgbClr val="FFFFFF"/>
              </a:highlight>
              <a:latin typeface="Calibri"/>
              <a:ea typeface="Calibri"/>
              <a:cs typeface="Calibri"/>
              <a:sym typeface="Calibri"/>
            </a:endParaRPr>
          </a:p>
          <a:p>
            <a:pPr indent="0" lvl="0" marL="0" rtl="0" algn="l">
              <a:lnSpc>
                <a:spcPct val="90000"/>
              </a:lnSpc>
              <a:spcBef>
                <a:spcPts val="3800"/>
              </a:spcBef>
              <a:spcAft>
                <a:spcPts val="200"/>
              </a:spcAft>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aphicFrame>
        <p:nvGraphicFramePr>
          <p:cNvPr id="179" name="Google Shape;179;p29"/>
          <p:cNvGraphicFramePr/>
          <p:nvPr/>
        </p:nvGraphicFramePr>
        <p:xfrm>
          <a:off x="205273" y="158620"/>
          <a:ext cx="3000000" cy="3000000"/>
        </p:xfrm>
        <a:graphic>
          <a:graphicData uri="http://schemas.openxmlformats.org/drawingml/2006/table">
            <a:tbl>
              <a:tblPr>
                <a:noFill/>
                <a:tableStyleId>{F80AC07D-EA7D-4A74-B0DC-8D684EA9C8AD}</a:tableStyleId>
              </a:tblPr>
              <a:tblGrid>
                <a:gridCol w="1030300"/>
                <a:gridCol w="1519025"/>
                <a:gridCol w="4515000"/>
                <a:gridCol w="4515000"/>
              </a:tblGrid>
              <a:tr h="671800">
                <a:tc>
                  <a:txBody>
                    <a:bodyPr/>
                    <a:lstStyle/>
                    <a:p>
                      <a:pPr indent="0" lvl="0" marL="0" marR="0" rtl="0" algn="l">
                        <a:lnSpc>
                          <a:spcPct val="100000"/>
                        </a:lnSpc>
                        <a:spcBef>
                          <a:spcPts val="0"/>
                        </a:spcBef>
                        <a:spcAft>
                          <a:spcPts val="0"/>
                        </a:spcAft>
                        <a:buNone/>
                      </a:pPr>
                      <a:r>
                        <a:rPr lang="en-US" sz="1100" u="none" cap="none" strike="noStrike"/>
                        <a:t>Sr. No.</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ctr">
                        <a:lnSpc>
                          <a:spcPct val="100000"/>
                        </a:lnSpc>
                        <a:spcBef>
                          <a:spcPts val="0"/>
                        </a:spcBef>
                        <a:spcAft>
                          <a:spcPts val="0"/>
                        </a:spcAft>
                        <a:buNone/>
                      </a:pPr>
                      <a:r>
                        <a:rPr lang="en-US" sz="1100" u="none" cap="none" strike="noStrike"/>
                        <a:t>Key</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ctr">
                        <a:lnSpc>
                          <a:spcPct val="100000"/>
                        </a:lnSpc>
                        <a:spcBef>
                          <a:spcPts val="0"/>
                        </a:spcBef>
                        <a:spcAft>
                          <a:spcPts val="0"/>
                        </a:spcAft>
                        <a:buNone/>
                      </a:pPr>
                      <a:r>
                        <a:rPr lang="en-US" sz="1100" u="none" cap="none" strike="noStrike"/>
                        <a:t>Fast Ethernet</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ctr">
                        <a:lnSpc>
                          <a:spcPct val="100000"/>
                        </a:lnSpc>
                        <a:spcBef>
                          <a:spcPts val="0"/>
                        </a:spcBef>
                        <a:spcAft>
                          <a:spcPts val="0"/>
                        </a:spcAft>
                        <a:buNone/>
                      </a:pPr>
                      <a:r>
                        <a:rPr lang="en-US" sz="1100" u="none" cap="none" strike="noStrike"/>
                        <a:t>Gigabit Ethernet</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r>
              <a:tr h="933050">
                <a:tc>
                  <a:txBody>
                    <a:bodyPr/>
                    <a:lstStyle/>
                    <a:p>
                      <a:pPr indent="0" lvl="0" marL="0" marR="0" rtl="0" algn="ctr">
                        <a:lnSpc>
                          <a:spcPct val="100000"/>
                        </a:lnSpc>
                        <a:spcBef>
                          <a:spcPts val="0"/>
                        </a:spcBef>
                        <a:spcAft>
                          <a:spcPts val="0"/>
                        </a:spcAft>
                        <a:buNone/>
                      </a:pPr>
                      <a:r>
                        <a:rPr lang="en-US" sz="1100" u="none" cap="none" strike="noStrike"/>
                        <a:t>1</a:t>
                      </a:r>
                      <a:endParaRPr/>
                    </a:p>
                  </a:txBody>
                  <a:tcPr marT="49975" marB="49975" marR="49975" marL="4997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Successor</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Fast Ethernet is successor of 10-Base-T-Ethernet.</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Gigabit Ethernet is successor of Fast Ethernet.</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933050">
                <a:tc>
                  <a:txBody>
                    <a:bodyPr/>
                    <a:lstStyle/>
                    <a:p>
                      <a:pPr indent="0" lvl="0" marL="0" marR="0" rtl="0" algn="ctr">
                        <a:lnSpc>
                          <a:spcPct val="100000"/>
                        </a:lnSpc>
                        <a:spcBef>
                          <a:spcPts val="0"/>
                        </a:spcBef>
                        <a:spcAft>
                          <a:spcPts val="0"/>
                        </a:spcAft>
                        <a:buNone/>
                      </a:pPr>
                      <a:r>
                        <a:rPr lang="en-US" sz="1100" u="none" cap="none" strike="noStrike"/>
                        <a:t>2</a:t>
                      </a:r>
                      <a:endParaRPr/>
                    </a:p>
                  </a:txBody>
                  <a:tcPr marT="49975" marB="49975" marR="49975" marL="4997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Network speed</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Fast Ethernet speed is upto 100 Mbps.</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Gigabit Ethernet speed is upto 1 Gbps.</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671800">
                <a:tc>
                  <a:txBody>
                    <a:bodyPr/>
                    <a:lstStyle/>
                    <a:p>
                      <a:pPr indent="0" lvl="0" marL="0" marR="0" rtl="0" algn="ctr">
                        <a:lnSpc>
                          <a:spcPct val="100000"/>
                        </a:lnSpc>
                        <a:spcBef>
                          <a:spcPts val="0"/>
                        </a:spcBef>
                        <a:spcAft>
                          <a:spcPts val="0"/>
                        </a:spcAft>
                        <a:buNone/>
                      </a:pPr>
                      <a:r>
                        <a:rPr lang="en-US" sz="1100" u="none" cap="none" strike="noStrike"/>
                        <a:t>3</a:t>
                      </a:r>
                      <a:endParaRPr/>
                    </a:p>
                  </a:txBody>
                  <a:tcPr marT="49975" marB="49975" marR="49975" marL="4997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Complexity</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Fast Ethernet is simple to configure.</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Gigabit Ethernet is quiet complex to configure.</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933050">
                <a:tc>
                  <a:txBody>
                    <a:bodyPr/>
                    <a:lstStyle/>
                    <a:p>
                      <a:pPr indent="0" lvl="0" marL="0" marR="0" rtl="0" algn="ctr">
                        <a:lnSpc>
                          <a:spcPct val="100000"/>
                        </a:lnSpc>
                        <a:spcBef>
                          <a:spcPts val="0"/>
                        </a:spcBef>
                        <a:spcAft>
                          <a:spcPts val="0"/>
                        </a:spcAft>
                        <a:buNone/>
                      </a:pPr>
                      <a:r>
                        <a:rPr lang="en-US" sz="1100" u="none" cap="none" strike="noStrike"/>
                        <a:t>4</a:t>
                      </a:r>
                      <a:endParaRPr/>
                    </a:p>
                  </a:txBody>
                  <a:tcPr marT="49975" marB="49975" marR="49975" marL="4997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Delay</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Fast ethernet generates more delay.</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Gigabit ethernet generates less delay than Fast Ethernet.</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933050">
                <a:tc>
                  <a:txBody>
                    <a:bodyPr/>
                    <a:lstStyle/>
                    <a:p>
                      <a:pPr indent="0" lvl="0" marL="0" marR="0" rtl="0" algn="ctr">
                        <a:lnSpc>
                          <a:spcPct val="100000"/>
                        </a:lnSpc>
                        <a:spcBef>
                          <a:spcPts val="0"/>
                        </a:spcBef>
                        <a:spcAft>
                          <a:spcPts val="0"/>
                        </a:spcAft>
                        <a:buNone/>
                      </a:pPr>
                      <a:r>
                        <a:rPr lang="en-US" sz="1100" u="none" cap="none" strike="noStrike"/>
                        <a:t>5</a:t>
                      </a:r>
                      <a:endParaRPr/>
                    </a:p>
                  </a:txBody>
                  <a:tcPr marT="49975" marB="49975" marR="49975" marL="4997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Coverage Limit</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Fast Ethernet coverage limit is upto 10KM.</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Gigabit Ethernet coverage limit is upto 70KM.</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933050">
                <a:tc>
                  <a:txBody>
                    <a:bodyPr/>
                    <a:lstStyle/>
                    <a:p>
                      <a:pPr indent="0" lvl="0" marL="0" marR="0" rtl="0" algn="ctr">
                        <a:lnSpc>
                          <a:spcPct val="100000"/>
                        </a:lnSpc>
                        <a:spcBef>
                          <a:spcPts val="0"/>
                        </a:spcBef>
                        <a:spcAft>
                          <a:spcPts val="0"/>
                        </a:spcAft>
                        <a:buNone/>
                      </a:pPr>
                      <a:r>
                        <a:rPr lang="en-US" sz="1100" u="none" cap="none" strike="noStrike"/>
                        <a:t>6</a:t>
                      </a:r>
                      <a:endParaRPr/>
                    </a:p>
                  </a:txBody>
                  <a:tcPr marT="49975" marB="49975" marR="49975" marL="4997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Round trip delay</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Fast Ethernet round trip delay is 100 to 500 bit times.</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100" u="none" cap="none" strike="noStrike"/>
                        <a:t>Gigabit Ethernet round trip delay is 4000 bit times.</a:t>
                      </a:r>
                      <a:endParaRPr/>
                    </a:p>
                  </a:txBody>
                  <a:tcPr marT="49975" marB="49975" marR="49975" marL="4997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2022-11-16T14:59:54Z</dcterms:created>
  <dc:creator>USER</dc:creator>
</cp:coreProperties>
</file>