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68" r:id="rId15"/>
    <p:sldId id="369" r:id="rId16"/>
    <p:sldId id="370" r:id="rId17"/>
    <p:sldId id="371" r:id="rId18"/>
    <p:sldId id="372" r:id="rId19"/>
    <p:sldId id="373" r:id="rId20"/>
    <p:sldId id="374" r:id="rId21"/>
    <p:sldId id="271" r:id="rId22"/>
    <p:sldId id="272" r:id="rId23"/>
    <p:sldId id="273" r:id="rId24"/>
    <p:sldId id="274" r:id="rId25"/>
    <p:sldId id="275" r:id="rId26"/>
    <p:sldId id="276" r:id="rId27"/>
    <p:sldId id="277" r:id="rId28"/>
    <p:sldId id="278" r:id="rId29"/>
    <p:sldId id="375" r:id="rId30"/>
    <p:sldId id="376" r:id="rId31"/>
    <p:sldId id="390" r:id="rId32"/>
    <p:sldId id="377" r:id="rId33"/>
    <p:sldId id="378" r:id="rId34"/>
    <p:sldId id="379" r:id="rId35"/>
    <p:sldId id="380" r:id="rId36"/>
    <p:sldId id="381" r:id="rId37"/>
    <p:sldId id="382" r:id="rId38"/>
    <p:sldId id="383" r:id="rId39"/>
    <p:sldId id="269" r:id="rId40"/>
    <p:sldId id="384" r:id="rId41"/>
    <p:sldId id="385" r:id="rId42"/>
    <p:sldId id="386" r:id="rId43"/>
    <p:sldId id="387" r:id="rId44"/>
    <p:sldId id="388" r:id="rId45"/>
    <p:sldId id="288" r:id="rId46"/>
    <p:sldId id="289" r:id="rId47"/>
    <p:sldId id="400" r:id="rId48"/>
    <p:sldId id="391" r:id="rId49"/>
    <p:sldId id="392" r:id="rId50"/>
    <p:sldId id="291" r:id="rId51"/>
    <p:sldId id="293" r:id="rId52"/>
    <p:sldId id="393" r:id="rId53"/>
    <p:sldId id="294" r:id="rId54"/>
    <p:sldId id="295" r:id="rId55"/>
    <p:sldId id="296" r:id="rId56"/>
    <p:sldId id="297" r:id="rId57"/>
    <p:sldId id="394" r:id="rId58"/>
    <p:sldId id="298" r:id="rId59"/>
    <p:sldId id="299" r:id="rId60"/>
    <p:sldId id="395" r:id="rId61"/>
    <p:sldId id="396" r:id="rId62"/>
    <p:sldId id="397" r:id="rId63"/>
    <p:sldId id="398" r:id="rId64"/>
    <p:sldId id="399" r:id="rId65"/>
    <p:sldId id="407" r:id="rId66"/>
    <p:sldId id="408" r:id="rId67"/>
    <p:sldId id="324" r:id="rId68"/>
    <p:sldId id="409" r:id="rId69"/>
    <p:sldId id="410" r:id="rId70"/>
    <p:sldId id="411" r:id="rId71"/>
    <p:sldId id="412" r:id="rId72"/>
    <p:sldId id="413" r:id="rId73"/>
    <p:sldId id="329" r:id="rId74"/>
    <p:sldId id="287" r:id="rId75"/>
    <p:sldId id="414" r:id="rId76"/>
    <p:sldId id="415" r:id="rId77"/>
    <p:sldId id="416" r:id="rId78"/>
    <p:sldId id="417" r:id="rId79"/>
    <p:sldId id="418" r:id="rId80"/>
    <p:sldId id="419" r:id="rId81"/>
    <p:sldId id="420" r:id="rId82"/>
    <p:sldId id="421" r:id="rId83"/>
    <p:sldId id="422" r:id="rId84"/>
    <p:sldId id="423" r:id="rId85"/>
    <p:sldId id="290" r:id="rId86"/>
    <p:sldId id="424" r:id="rId87"/>
    <p:sldId id="425" r:id="rId88"/>
    <p:sldId id="426" r:id="rId89"/>
    <p:sldId id="427" r:id="rId90"/>
    <p:sldId id="439" r:id="rId91"/>
    <p:sldId id="428" r:id="rId92"/>
    <p:sldId id="438" r:id="rId93"/>
    <p:sldId id="429" r:id="rId94"/>
    <p:sldId id="430" r:id="rId95"/>
    <p:sldId id="431" r:id="rId96"/>
    <p:sldId id="432" r:id="rId97"/>
    <p:sldId id="433" r:id="rId98"/>
    <p:sldId id="434" r:id="rId99"/>
    <p:sldId id="435" r:id="rId100"/>
    <p:sldId id="436" r:id="rId101"/>
    <p:sldId id="437" r:id="rId102"/>
    <p:sldId id="440" r:id="rId103"/>
    <p:sldId id="353" r:id="rId104"/>
    <p:sldId id="354" r:id="rId105"/>
    <p:sldId id="441" r:id="rId106"/>
    <p:sldId id="355" r:id="rId107"/>
    <p:sldId id="356" r:id="rId108"/>
    <p:sldId id="357" r:id="rId109"/>
    <p:sldId id="358" r:id="rId110"/>
    <p:sldId id="359" r:id="rId111"/>
    <p:sldId id="360" r:id="rId112"/>
    <p:sldId id="361" r:id="rId113"/>
    <p:sldId id="362" r:id="rId114"/>
    <p:sldId id="443" r:id="rId115"/>
    <p:sldId id="363" r:id="rId116"/>
    <p:sldId id="442" r:id="rId117"/>
    <p:sldId id="444" r:id="rId118"/>
    <p:sldId id="445" r:id="rId119"/>
    <p:sldId id="364" r:id="rId120"/>
    <p:sldId id="365" r:id="rId121"/>
    <p:sldId id="366" r:id="rId122"/>
    <p:sldId id="367" r:id="rId123"/>
  </p:sldIdLst>
  <p:sldSz cx="12192000" cy="6858000"/>
  <p:notesSz cx="6858000" cy="9144000"/>
  <p:embeddedFontLst>
    <p:embeddedFont>
      <p:font typeface="Meiryo" panose="020B0604020202020204" charset="-128"/>
      <p:regular r:id="rId125"/>
      <p:bold r:id="rId126"/>
      <p:italic r:id="rId127"/>
      <p:boldItalic r:id="rId128"/>
    </p:embeddedFont>
    <p:embeddedFont>
      <p:font typeface="Calibri" panose="020F0502020204030204" pitchFamily="34" charset="0"/>
      <p:regular r:id="rId129"/>
      <p:bold r:id="rId130"/>
      <p:italic r:id="rId131"/>
      <p:boldItalic r:id="rId132"/>
    </p:embeddedFont>
    <p:embeddedFont>
      <p:font typeface="Roboto" panose="020B0604020202020204" charset="0"/>
      <p:regular r:id="rId133"/>
      <p:bold r:id="rId134"/>
      <p:italic r:id="rId135"/>
      <p:boldItalic r:id="rId1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4" roundtripDataSignature="AMtx7mhj2rMo6h/TmTYHiVB072q45lWR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672" y="3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font" Target="fonts/font4.fntdata"/><Relationship Id="rId144" Type="http://customschemas.google.com/relationships/presentationmetadata" Target="meta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10.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font" Target="fonts/font5.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6.fntdata"/><Relationship Id="rId135" Type="http://schemas.openxmlformats.org/officeDocument/2006/relationships/font" Target="fonts/font11.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font" Target="fonts/font1.fntdata"/><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7.fntdata"/><Relationship Id="rId136"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2.fntdata"/><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9.fntdata"/><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31224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759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5340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526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736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7749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8767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686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8104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8459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5143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769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505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84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1322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3691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779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1143dab14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1143dab14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573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5405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8400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8843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8076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8282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37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3062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0314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11937b53d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11937b53d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35760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412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11937b53d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11937b53d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4955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1603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11937b53d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111937b53d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61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9514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111937b53da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111937b53d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6091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111937b53d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111937b53d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6485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6" name="Google Shape;77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76318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3" name="Google Shape;783;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76463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27459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9" name="Google Shape;799;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3714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6" name="Google Shape;806;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6929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5" name="Google Shape;815;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7812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2" name="Google Shape;822;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0332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0" name="Google Shape;830;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31378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7" name="Google Shape;837;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854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5" name="Google Shape;845;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1306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1" name="Google Shape;851;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1530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9" name="Google Shape;859;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55036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6" name="Google Shape;866;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6590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5" name="Google Shape;875;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9184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4" name="Google Shape;884;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288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11"/>
        <p:cNvGrpSpPr/>
        <p:nvPr/>
      </p:nvGrpSpPr>
      <p:grpSpPr>
        <a:xfrm>
          <a:off x="0" y="0"/>
          <a:ext cx="0" cy="0"/>
          <a:chOff x="0" y="0"/>
          <a:chExt cx="0" cy="0"/>
        </a:xfrm>
      </p:grpSpPr>
      <p:sp>
        <p:nvSpPr>
          <p:cNvPr id="12" name="Google Shape;12;p10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0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0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0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10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
        <p:cNvGrpSpPr/>
        <p:nvPr/>
      </p:nvGrpSpPr>
      <p:grpSpPr>
        <a:xfrm>
          <a:off x="0" y="0"/>
          <a:ext cx="0" cy="0"/>
          <a:chOff x="0" y="0"/>
          <a:chExt cx="0" cy="0"/>
        </a:xfrm>
      </p:grpSpPr>
      <p:sp>
        <p:nvSpPr>
          <p:cNvPr id="42" name="Google Shape;42;p10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0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0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0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0" name="Google Shape;50;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10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0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10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0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0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0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0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0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0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10"/>
          <p:cNvSpPr>
            <a:spLocks noGrp="1"/>
          </p:cNvSpPr>
          <p:nvPr>
            <p:ph type="pic" idx="2"/>
          </p:nvPr>
        </p:nvSpPr>
        <p:spPr>
          <a:xfrm>
            <a:off x="5183188" y="987425"/>
            <a:ext cx="6172200" cy="4873625"/>
          </a:xfrm>
          <a:prstGeom prst="rect">
            <a:avLst/>
          </a:prstGeom>
          <a:noFill/>
          <a:ln>
            <a:noFill/>
          </a:ln>
        </p:spPr>
      </p:sp>
      <p:sp>
        <p:nvSpPr>
          <p:cNvPr id="70" name="Google Shape;70;p1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0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 Target="slide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Meiryo"/>
              <a:buNone/>
            </a:pPr>
            <a:r>
              <a:rPr lang="en-US" b="1" i="0" u="none" strike="noStrike">
                <a:latin typeface="Meiryo"/>
                <a:ea typeface="Meiryo"/>
                <a:cs typeface="Meiryo"/>
                <a:sym typeface="Meiryo"/>
              </a:rPr>
              <a:t>MODULE  III  </a:t>
            </a:r>
            <a:endParaRPr/>
          </a:p>
        </p:txBody>
      </p:sp>
      <p:sp>
        <p:nvSpPr>
          <p:cNvPr id="91" name="Google Shape;9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800"/>
              <a:buNone/>
            </a:pPr>
            <a:r>
              <a:rPr lang="en-US" b="1">
                <a:latin typeface="Meiryo"/>
                <a:ea typeface="Meiryo"/>
                <a:cs typeface="Meiryo"/>
                <a:sym typeface="Meiryo"/>
              </a:rPr>
              <a:t>Network layer design issues. Routing algorithms - The Optimality Principle, Shortest path routing, Flooding, Distance Vector Routing, Link State Routing, Multicast routing, Routing for mobile hosts. Congestion control algorithms. Quality of Service (QoS) - requirements, Techniques for achieving good QoS.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376517" y="19144"/>
            <a:ext cx="10515600" cy="747102"/>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en-US" sz="3600" b="1" i="0" u="none" strike="noStrike">
                <a:latin typeface="Calibri"/>
                <a:ea typeface="Calibri"/>
                <a:cs typeface="Calibri"/>
                <a:sym typeface="Calibri"/>
              </a:rPr>
              <a:t>NETWORK LAYER</a:t>
            </a:r>
            <a:endParaRPr/>
          </a:p>
        </p:txBody>
      </p:sp>
      <p:sp>
        <p:nvSpPr>
          <p:cNvPr id="97" name="Google Shape;97;p2"/>
          <p:cNvSpPr txBox="1">
            <a:spLocks noGrp="1"/>
          </p:cNvSpPr>
          <p:nvPr>
            <p:ph type="body" idx="1"/>
          </p:nvPr>
        </p:nvSpPr>
        <p:spPr>
          <a:xfrm>
            <a:off x="174801" y="766250"/>
            <a:ext cx="9144600" cy="5782200"/>
          </a:xfrm>
          <a:prstGeom prst="rect">
            <a:avLst/>
          </a:prstGeom>
          <a:noFill/>
          <a:ln>
            <a:noFill/>
          </a:ln>
        </p:spPr>
        <p:txBody>
          <a:bodyPr spcFirstLastPara="1" wrap="square" lIns="91425" tIns="45700" rIns="91425" bIns="45700" anchor="t" anchorCtr="0">
            <a:normAutofit fontScale="92500" lnSpcReduction="20000"/>
          </a:bodyPr>
          <a:lstStyle/>
          <a:p>
            <a:pPr marL="228600" lvl="0" indent="-209391" algn="just" rtl="0">
              <a:lnSpc>
                <a:spcPct val="150000"/>
              </a:lnSpc>
              <a:spcBef>
                <a:spcPts val="0"/>
              </a:spcBef>
              <a:spcAft>
                <a:spcPts val="0"/>
              </a:spcAft>
              <a:buClr>
                <a:schemeClr val="dk1"/>
              </a:buClr>
              <a:buSzPct val="100000"/>
              <a:buChar char="➢"/>
            </a:pPr>
            <a:r>
              <a:rPr lang="en-US" sz="2700" i="0" u="none" strike="noStrike">
                <a:latin typeface="Calibri"/>
                <a:ea typeface="Calibri"/>
                <a:cs typeface="Calibri"/>
                <a:sym typeface="Calibri"/>
              </a:rPr>
              <a:t>The network Layer </a:t>
            </a:r>
            <a:r>
              <a:rPr lang="en-US" sz="2700" b="1" i="0" u="none" strike="noStrike">
                <a:solidFill>
                  <a:srgbClr val="FF0000"/>
                </a:solidFill>
                <a:latin typeface="Calibri"/>
                <a:ea typeface="Calibri"/>
                <a:cs typeface="Calibri"/>
                <a:sym typeface="Calibri"/>
              </a:rPr>
              <a:t>controls</a:t>
            </a:r>
            <a:r>
              <a:rPr lang="en-US" sz="2700" i="0" u="none" strike="noStrike">
                <a:latin typeface="Calibri"/>
                <a:ea typeface="Calibri"/>
                <a:cs typeface="Calibri"/>
                <a:sym typeface="Calibri"/>
              </a:rPr>
              <a:t> the </a:t>
            </a:r>
            <a:r>
              <a:rPr lang="en-US" sz="2700" b="1" i="0" u="none" strike="noStrike">
                <a:latin typeface="Calibri"/>
                <a:ea typeface="Calibri"/>
                <a:cs typeface="Calibri"/>
                <a:sym typeface="Calibri"/>
              </a:rPr>
              <a:t>operation</a:t>
            </a:r>
            <a:r>
              <a:rPr lang="en-US" sz="2700" i="0" u="none" strike="noStrike">
                <a:latin typeface="Calibri"/>
                <a:ea typeface="Calibri"/>
                <a:cs typeface="Calibri"/>
                <a:sym typeface="Calibri"/>
              </a:rPr>
              <a:t> of the </a:t>
            </a:r>
            <a:r>
              <a:rPr lang="en-US" sz="2700" i="0" u="none" strike="noStrike">
                <a:solidFill>
                  <a:srgbClr val="00B050"/>
                </a:solidFill>
                <a:latin typeface="Calibri"/>
                <a:ea typeface="Calibri"/>
                <a:cs typeface="Calibri"/>
                <a:sym typeface="Calibri"/>
              </a:rPr>
              <a:t>subnet</a:t>
            </a:r>
            <a:r>
              <a:rPr lang="en-US" sz="2700" i="0" u="none" strike="noStrike">
                <a:latin typeface="Calibri"/>
                <a:ea typeface="Calibri"/>
                <a:cs typeface="Calibri"/>
                <a:sym typeface="Calibri"/>
              </a:rPr>
              <a:t>. </a:t>
            </a:r>
            <a:endParaRPr sz="2700"/>
          </a:p>
          <a:p>
            <a:pPr marL="228600" lvl="0" indent="-209391" algn="just" rtl="0">
              <a:lnSpc>
                <a:spcPct val="150000"/>
              </a:lnSpc>
              <a:spcBef>
                <a:spcPts val="1000"/>
              </a:spcBef>
              <a:spcAft>
                <a:spcPts val="0"/>
              </a:spcAft>
              <a:buClr>
                <a:schemeClr val="dk1"/>
              </a:buClr>
              <a:buSzPct val="100000"/>
              <a:buChar char="➢"/>
            </a:pPr>
            <a:r>
              <a:rPr lang="en-US" sz="2700" i="0" u="none" strike="noStrike">
                <a:latin typeface="Calibri"/>
                <a:ea typeface="Calibri"/>
                <a:cs typeface="Calibri"/>
                <a:sym typeface="Calibri"/>
              </a:rPr>
              <a:t>The main </a:t>
            </a:r>
            <a:r>
              <a:rPr lang="en-US" sz="2700" b="1" i="0" u="none" strike="noStrike">
                <a:latin typeface="Calibri"/>
                <a:ea typeface="Calibri"/>
                <a:cs typeface="Calibri"/>
                <a:sym typeface="Calibri"/>
              </a:rPr>
              <a:t>aim</a:t>
            </a:r>
            <a:r>
              <a:rPr lang="en-US" sz="2700" i="0" u="none" strike="noStrike">
                <a:latin typeface="Calibri"/>
                <a:ea typeface="Calibri"/>
                <a:cs typeface="Calibri"/>
                <a:sym typeface="Calibri"/>
              </a:rPr>
              <a:t> of this layer is to </a:t>
            </a:r>
            <a:r>
              <a:rPr lang="en-US" sz="2700" i="0" u="none" strike="noStrike">
                <a:solidFill>
                  <a:srgbClr val="FF0000"/>
                </a:solidFill>
                <a:latin typeface="Calibri"/>
                <a:ea typeface="Calibri"/>
                <a:cs typeface="Calibri"/>
                <a:sym typeface="Calibri"/>
              </a:rPr>
              <a:t>deliver packets </a:t>
            </a:r>
            <a:r>
              <a:rPr lang="en-US" sz="2700" i="0" u="none" strike="noStrike">
                <a:latin typeface="Calibri"/>
                <a:ea typeface="Calibri"/>
                <a:cs typeface="Calibri"/>
                <a:sym typeface="Calibri"/>
              </a:rPr>
              <a:t>from </a:t>
            </a:r>
            <a:r>
              <a:rPr lang="en-US" sz="2700" i="0" u="none" strike="noStrike">
                <a:solidFill>
                  <a:srgbClr val="00B050"/>
                </a:solidFill>
                <a:latin typeface="Calibri"/>
                <a:ea typeface="Calibri"/>
                <a:cs typeface="Calibri"/>
                <a:sym typeface="Calibri"/>
              </a:rPr>
              <a:t>source to destination </a:t>
            </a:r>
            <a:r>
              <a:rPr lang="en-US" sz="2700" b="1" i="0" u="none" strike="noStrike">
                <a:latin typeface="Calibri"/>
                <a:ea typeface="Calibri"/>
                <a:cs typeface="Calibri"/>
                <a:sym typeface="Calibri"/>
              </a:rPr>
              <a:t>across multiple links </a:t>
            </a:r>
            <a:r>
              <a:rPr lang="en-US" sz="2700" i="0" u="none" strike="noStrike">
                <a:latin typeface="Calibri"/>
                <a:ea typeface="Calibri"/>
                <a:cs typeface="Calibri"/>
                <a:sym typeface="Calibri"/>
              </a:rPr>
              <a:t>(networks). </a:t>
            </a:r>
            <a:endParaRPr sz="2700"/>
          </a:p>
          <a:p>
            <a:pPr marL="228600" lvl="0" indent="-209391" algn="just" rtl="0">
              <a:lnSpc>
                <a:spcPct val="150000"/>
              </a:lnSpc>
              <a:spcBef>
                <a:spcPts val="1000"/>
              </a:spcBef>
              <a:spcAft>
                <a:spcPts val="0"/>
              </a:spcAft>
              <a:buClr>
                <a:schemeClr val="dk1"/>
              </a:buClr>
              <a:buSzPct val="100000"/>
              <a:buChar char="➢"/>
            </a:pPr>
            <a:r>
              <a:rPr lang="en-US" sz="2700" i="0" u="none" strike="noStrike">
                <a:latin typeface="Calibri"/>
                <a:ea typeface="Calibri"/>
                <a:cs typeface="Calibri"/>
                <a:sym typeface="Calibri"/>
              </a:rPr>
              <a:t>If two computers (system) are connected on the </a:t>
            </a:r>
            <a:r>
              <a:rPr lang="en-US" sz="2700" i="0" u="none" strike="noStrike">
                <a:solidFill>
                  <a:srgbClr val="FF0000"/>
                </a:solidFill>
                <a:latin typeface="Calibri"/>
                <a:ea typeface="Calibri"/>
                <a:cs typeface="Calibri"/>
                <a:sym typeface="Calibri"/>
              </a:rPr>
              <a:t>same link</a:t>
            </a:r>
            <a:r>
              <a:rPr lang="en-US" sz="2700" i="0" u="none" strike="noStrike">
                <a:latin typeface="Calibri"/>
                <a:ea typeface="Calibri"/>
                <a:cs typeface="Calibri"/>
                <a:sym typeface="Calibri"/>
              </a:rPr>
              <a:t>, then there is </a:t>
            </a:r>
            <a:r>
              <a:rPr lang="en-US" sz="2700" i="0" u="none" strike="noStrike">
                <a:solidFill>
                  <a:srgbClr val="00B050"/>
                </a:solidFill>
                <a:latin typeface="Calibri"/>
                <a:ea typeface="Calibri"/>
                <a:cs typeface="Calibri"/>
                <a:sym typeface="Calibri"/>
              </a:rPr>
              <a:t>no need</a:t>
            </a:r>
            <a:r>
              <a:rPr lang="en-US" sz="2700" i="0" u="none" strike="noStrike">
                <a:latin typeface="Calibri"/>
                <a:ea typeface="Calibri"/>
                <a:cs typeface="Calibri"/>
                <a:sym typeface="Calibri"/>
              </a:rPr>
              <a:t> for a network layer.</a:t>
            </a:r>
            <a:endParaRPr sz="2700"/>
          </a:p>
          <a:p>
            <a:pPr marL="228600" lvl="0" indent="-209391" algn="just" rtl="0">
              <a:lnSpc>
                <a:spcPct val="150000"/>
              </a:lnSpc>
              <a:spcBef>
                <a:spcPts val="1000"/>
              </a:spcBef>
              <a:spcAft>
                <a:spcPts val="0"/>
              </a:spcAft>
              <a:buClr>
                <a:schemeClr val="dk1"/>
              </a:buClr>
              <a:buSzPct val="100000"/>
              <a:buChar char="➢"/>
            </a:pPr>
            <a:r>
              <a:rPr lang="en-US" sz="2700" i="0" u="none" strike="noStrike">
                <a:latin typeface="Calibri"/>
                <a:ea typeface="Calibri"/>
                <a:cs typeface="Calibri"/>
                <a:sym typeface="Calibri"/>
              </a:rPr>
              <a:t> It </a:t>
            </a:r>
            <a:r>
              <a:rPr lang="en-US" sz="2700" b="1" i="0" u="none" strike="noStrike">
                <a:latin typeface="Calibri"/>
                <a:ea typeface="Calibri"/>
                <a:cs typeface="Calibri"/>
                <a:sym typeface="Calibri"/>
              </a:rPr>
              <a:t>routes</a:t>
            </a:r>
            <a:r>
              <a:rPr lang="en-US" sz="2700" i="0" u="none" strike="noStrike">
                <a:latin typeface="Calibri"/>
                <a:ea typeface="Calibri"/>
                <a:cs typeface="Calibri"/>
                <a:sym typeface="Calibri"/>
              </a:rPr>
              <a:t> the </a:t>
            </a:r>
            <a:r>
              <a:rPr lang="en-US" sz="2700" i="0" u="none" strike="noStrike">
                <a:solidFill>
                  <a:srgbClr val="FF0000"/>
                </a:solidFill>
                <a:latin typeface="Calibri"/>
                <a:ea typeface="Calibri"/>
                <a:cs typeface="Calibri"/>
                <a:sym typeface="Calibri"/>
              </a:rPr>
              <a:t>signal</a:t>
            </a:r>
            <a:r>
              <a:rPr lang="en-US" sz="2700" i="0" u="none" strike="noStrike">
                <a:latin typeface="Calibri"/>
                <a:ea typeface="Calibri"/>
                <a:cs typeface="Calibri"/>
                <a:sym typeface="Calibri"/>
              </a:rPr>
              <a:t> through </a:t>
            </a:r>
            <a:r>
              <a:rPr lang="en-US" sz="2700" i="0" u="none" strike="noStrike">
                <a:solidFill>
                  <a:srgbClr val="00B050"/>
                </a:solidFill>
                <a:latin typeface="Calibri"/>
                <a:ea typeface="Calibri"/>
                <a:cs typeface="Calibri"/>
                <a:sym typeface="Calibri"/>
              </a:rPr>
              <a:t>different channels </a:t>
            </a:r>
            <a:r>
              <a:rPr lang="en-US" sz="2700" i="0" u="none" strike="noStrike">
                <a:latin typeface="Calibri"/>
                <a:ea typeface="Calibri"/>
                <a:cs typeface="Calibri"/>
                <a:sym typeface="Calibri"/>
              </a:rPr>
              <a:t>to the other end and acts as a </a:t>
            </a:r>
            <a:r>
              <a:rPr lang="en-US" sz="2700" b="1" i="0" u="none" strike="noStrike">
                <a:solidFill>
                  <a:srgbClr val="FF0000"/>
                </a:solidFill>
                <a:latin typeface="Calibri"/>
                <a:ea typeface="Calibri"/>
                <a:cs typeface="Calibri"/>
                <a:sym typeface="Calibri"/>
              </a:rPr>
              <a:t>network controller</a:t>
            </a:r>
            <a:r>
              <a:rPr lang="en-US" sz="2700" i="0" u="none" strike="noStrike">
                <a:latin typeface="Calibri"/>
                <a:ea typeface="Calibri"/>
                <a:cs typeface="Calibri"/>
                <a:sym typeface="Calibri"/>
              </a:rPr>
              <a:t>. </a:t>
            </a:r>
            <a:endParaRPr sz="2700"/>
          </a:p>
          <a:p>
            <a:pPr marL="228600" lvl="0" indent="-209391" algn="just" rtl="0">
              <a:lnSpc>
                <a:spcPct val="150000"/>
              </a:lnSpc>
              <a:spcBef>
                <a:spcPts val="1000"/>
              </a:spcBef>
              <a:spcAft>
                <a:spcPts val="0"/>
              </a:spcAft>
              <a:buClr>
                <a:schemeClr val="dk1"/>
              </a:buClr>
              <a:buSzPct val="100000"/>
              <a:buChar char="➢"/>
            </a:pPr>
            <a:r>
              <a:rPr lang="en-US" sz="2700" i="0" u="none" strike="noStrike">
                <a:latin typeface="Calibri"/>
                <a:ea typeface="Calibri"/>
                <a:cs typeface="Calibri"/>
                <a:sym typeface="Calibri"/>
              </a:rPr>
              <a:t>It also </a:t>
            </a:r>
            <a:r>
              <a:rPr lang="en-US" sz="2700" b="1" i="0" u="none" strike="noStrike">
                <a:latin typeface="Calibri"/>
                <a:ea typeface="Calibri"/>
                <a:cs typeface="Calibri"/>
                <a:sym typeface="Calibri"/>
              </a:rPr>
              <a:t>divides</a:t>
            </a:r>
            <a:r>
              <a:rPr lang="en-US" sz="2700" i="0" u="none" strike="noStrike">
                <a:latin typeface="Calibri"/>
                <a:ea typeface="Calibri"/>
                <a:cs typeface="Calibri"/>
                <a:sym typeface="Calibri"/>
              </a:rPr>
              <a:t> the </a:t>
            </a:r>
            <a:r>
              <a:rPr lang="en-US" sz="2700" i="0" u="none" strike="noStrike">
                <a:solidFill>
                  <a:srgbClr val="FF0000"/>
                </a:solidFill>
                <a:latin typeface="Calibri"/>
                <a:ea typeface="Calibri"/>
                <a:cs typeface="Calibri"/>
                <a:sym typeface="Calibri"/>
              </a:rPr>
              <a:t>outgoing messages </a:t>
            </a:r>
            <a:r>
              <a:rPr lang="en-US" sz="2700" i="0" u="none" strike="noStrike">
                <a:solidFill>
                  <a:srgbClr val="00B050"/>
                </a:solidFill>
                <a:latin typeface="Calibri"/>
                <a:ea typeface="Calibri"/>
                <a:cs typeface="Calibri"/>
                <a:sym typeface="Calibri"/>
              </a:rPr>
              <a:t>into packets</a:t>
            </a:r>
            <a:r>
              <a:rPr lang="en-US" sz="2700" i="0" u="none" strike="noStrike">
                <a:latin typeface="Calibri"/>
                <a:ea typeface="Calibri"/>
                <a:cs typeface="Calibri"/>
                <a:sym typeface="Calibri"/>
              </a:rPr>
              <a:t> and to </a:t>
            </a:r>
            <a:r>
              <a:rPr lang="en-US" sz="2700" b="1" i="0" u="none" strike="noStrike">
                <a:latin typeface="Calibri"/>
                <a:ea typeface="Calibri"/>
                <a:cs typeface="Calibri"/>
                <a:sym typeface="Calibri"/>
              </a:rPr>
              <a:t>assemble</a:t>
            </a:r>
            <a:r>
              <a:rPr lang="en-US" sz="2700" i="0" u="none" strike="noStrike">
                <a:solidFill>
                  <a:srgbClr val="00B050"/>
                </a:solidFill>
                <a:latin typeface="Calibri"/>
                <a:ea typeface="Calibri"/>
                <a:cs typeface="Calibri"/>
                <a:sym typeface="Calibri"/>
              </a:rPr>
              <a:t> </a:t>
            </a:r>
            <a:r>
              <a:rPr lang="en-US" sz="2700" i="0" u="none" strike="noStrike">
                <a:solidFill>
                  <a:srgbClr val="FF0000"/>
                </a:solidFill>
                <a:latin typeface="Calibri"/>
                <a:ea typeface="Calibri"/>
                <a:cs typeface="Calibri"/>
                <a:sym typeface="Calibri"/>
              </a:rPr>
              <a:t>incoming packets </a:t>
            </a:r>
            <a:r>
              <a:rPr lang="en-US" sz="2700" i="0" u="none" strike="noStrike">
                <a:latin typeface="Calibri"/>
                <a:ea typeface="Calibri"/>
                <a:cs typeface="Calibri"/>
                <a:sym typeface="Calibri"/>
              </a:rPr>
              <a:t>into </a:t>
            </a:r>
            <a:r>
              <a:rPr lang="en-US" sz="2700" i="0" u="none" strike="noStrike">
                <a:solidFill>
                  <a:srgbClr val="00B050"/>
                </a:solidFill>
                <a:latin typeface="Calibri"/>
                <a:ea typeface="Calibri"/>
                <a:cs typeface="Calibri"/>
                <a:sym typeface="Calibri"/>
              </a:rPr>
              <a:t>messages</a:t>
            </a:r>
            <a:r>
              <a:rPr lang="en-US" sz="2700" i="0" u="none" strike="noStrike">
                <a:latin typeface="Calibri"/>
                <a:ea typeface="Calibri"/>
                <a:cs typeface="Calibri"/>
                <a:sym typeface="Calibri"/>
              </a:rPr>
              <a:t> for higher levels.</a:t>
            </a:r>
            <a:endParaRPr sz="2700"/>
          </a:p>
          <a:p>
            <a:pPr marL="228600" lvl="0" indent="-209391" algn="just" rtl="0">
              <a:lnSpc>
                <a:spcPct val="150000"/>
              </a:lnSpc>
              <a:spcBef>
                <a:spcPts val="1000"/>
              </a:spcBef>
              <a:spcAft>
                <a:spcPts val="0"/>
              </a:spcAft>
              <a:buClr>
                <a:schemeClr val="dk1"/>
              </a:buClr>
              <a:buSzPct val="100000"/>
              <a:buChar char="➢"/>
            </a:pPr>
            <a:r>
              <a:rPr lang="en-US" sz="2700" i="0" u="none" strike="noStrike">
                <a:latin typeface="Calibri"/>
                <a:ea typeface="Calibri"/>
                <a:cs typeface="Calibri"/>
                <a:sym typeface="Calibri"/>
              </a:rPr>
              <a:t> It must also </a:t>
            </a:r>
            <a:r>
              <a:rPr lang="en-US" sz="2700" i="0" u="none" strike="noStrike">
                <a:solidFill>
                  <a:srgbClr val="00B050"/>
                </a:solidFill>
                <a:latin typeface="Calibri"/>
                <a:ea typeface="Calibri"/>
                <a:cs typeface="Calibri"/>
                <a:sym typeface="Calibri"/>
              </a:rPr>
              <a:t>take care </a:t>
            </a:r>
            <a:r>
              <a:rPr lang="en-US" sz="2700" i="0" u="none" strike="noStrike">
                <a:latin typeface="Calibri"/>
                <a:ea typeface="Calibri"/>
                <a:cs typeface="Calibri"/>
                <a:sym typeface="Calibri"/>
              </a:rPr>
              <a:t>when </a:t>
            </a:r>
            <a:r>
              <a:rPr lang="en-US" sz="2700" b="1" i="0" u="none" strike="noStrike">
                <a:latin typeface="Calibri"/>
                <a:ea typeface="Calibri"/>
                <a:cs typeface="Calibri"/>
                <a:sym typeface="Calibri"/>
              </a:rPr>
              <a:t>choosing routes </a:t>
            </a:r>
            <a:r>
              <a:rPr lang="en-US" sz="2700" i="0" u="none" strike="noStrike">
                <a:latin typeface="Calibri"/>
                <a:ea typeface="Calibri"/>
                <a:cs typeface="Calibri"/>
                <a:sym typeface="Calibri"/>
              </a:rPr>
              <a:t>to </a:t>
            </a:r>
            <a:r>
              <a:rPr lang="en-US" sz="2700" i="0" u="none" strike="noStrike">
                <a:solidFill>
                  <a:srgbClr val="FF0000"/>
                </a:solidFill>
                <a:latin typeface="Calibri"/>
                <a:ea typeface="Calibri"/>
                <a:cs typeface="Calibri"/>
                <a:sym typeface="Calibri"/>
              </a:rPr>
              <a:t>avoid overloading.</a:t>
            </a:r>
            <a:endParaRPr sz="2700">
              <a:latin typeface="Calibri"/>
              <a:ea typeface="Calibri"/>
              <a:cs typeface="Calibri"/>
              <a:sym typeface="Calibri"/>
            </a:endParaRPr>
          </a:p>
        </p:txBody>
      </p:sp>
      <p:pic>
        <p:nvPicPr>
          <p:cNvPr id="98" name="Google Shape;98;p2"/>
          <p:cNvPicPr preferRelativeResize="0"/>
          <p:nvPr/>
        </p:nvPicPr>
        <p:blipFill rotWithShape="1">
          <a:blip r:embed="rId3">
            <a:alphaModFix/>
          </a:blip>
          <a:srcRect/>
          <a:stretch/>
        </p:blipFill>
        <p:spPr>
          <a:xfrm>
            <a:off x="9491049" y="19150"/>
            <a:ext cx="2700951" cy="6733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838200" y="365126"/>
            <a:ext cx="10515600" cy="280334"/>
          </a:xfrm>
          <a:prstGeom prst="rect">
            <a:avLst/>
          </a:prstGeom>
          <a:noFill/>
          <a:ln>
            <a:noFill/>
          </a:ln>
        </p:spPr>
        <p:txBody>
          <a:bodyPr spcFirstLastPara="1" wrap="square" lIns="91425" tIns="45700" rIns="91425" bIns="45700" anchor="ctr" anchorCtr="0">
            <a:normAutofit fontScale="90000"/>
          </a:bodyPr>
          <a:lstStyle/>
          <a:p>
            <a:pPr marL="0" marR="0" lvl="0" indent="0" algn="l" rtl="0">
              <a:lnSpc>
                <a:spcPct val="90000"/>
              </a:lnSpc>
              <a:spcBef>
                <a:spcPts val="0"/>
              </a:spcBef>
              <a:spcAft>
                <a:spcPts val="0"/>
              </a:spcAft>
              <a:buClr>
                <a:schemeClr val="dk1"/>
              </a:buClr>
              <a:buSzPct val="100000"/>
              <a:buFont typeface="Times New Roman"/>
              <a:buNone/>
            </a:pPr>
            <a:r>
              <a:rPr lang="en-US" b="1" i="0" u="none" strike="noStrike">
                <a:latin typeface="Times New Roman"/>
                <a:ea typeface="Times New Roman"/>
                <a:cs typeface="Times New Roman"/>
                <a:sym typeface="Times New Roman"/>
              </a:rPr>
              <a:t>FUNCTIONS OF NETWORK LAYER</a:t>
            </a:r>
            <a:endParaRPr/>
          </a:p>
        </p:txBody>
      </p:sp>
      <p:sp>
        <p:nvSpPr>
          <p:cNvPr id="104" name="Google Shape;104;p3"/>
          <p:cNvSpPr txBox="1">
            <a:spLocks noGrp="1"/>
          </p:cNvSpPr>
          <p:nvPr>
            <p:ph type="body" idx="1"/>
          </p:nvPr>
        </p:nvSpPr>
        <p:spPr>
          <a:xfrm>
            <a:off x="206188" y="867216"/>
            <a:ext cx="8951259" cy="5728447"/>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50000"/>
              </a:lnSpc>
              <a:spcBef>
                <a:spcPts val="0"/>
              </a:spcBef>
              <a:spcAft>
                <a:spcPts val="0"/>
              </a:spcAft>
              <a:buSzPts val="1800"/>
              <a:buChar char="➢"/>
            </a:pPr>
            <a:r>
              <a:rPr lang="en-US" dirty="0"/>
              <a:t>It translates </a:t>
            </a:r>
            <a:r>
              <a:rPr lang="en-US" dirty="0">
                <a:solidFill>
                  <a:srgbClr val="FF0000"/>
                </a:solidFill>
              </a:rPr>
              <a:t>logical network address </a:t>
            </a:r>
            <a:r>
              <a:rPr lang="en-US" dirty="0"/>
              <a:t>into </a:t>
            </a:r>
            <a:r>
              <a:rPr lang="en-US" dirty="0">
                <a:solidFill>
                  <a:srgbClr val="FF0000"/>
                </a:solidFill>
              </a:rPr>
              <a:t>physical address</a:t>
            </a:r>
            <a:r>
              <a:rPr lang="en-US" dirty="0"/>
              <a:t>. </a:t>
            </a:r>
            <a:endParaRPr dirty="0"/>
          </a:p>
          <a:p>
            <a:pPr marL="228600" lvl="0" indent="-228600" algn="just" rtl="0">
              <a:lnSpc>
                <a:spcPct val="150000"/>
              </a:lnSpc>
              <a:spcBef>
                <a:spcPts val="0"/>
              </a:spcBef>
              <a:spcAft>
                <a:spcPts val="0"/>
              </a:spcAft>
              <a:buSzPts val="1800"/>
              <a:buChar char="➢"/>
            </a:pPr>
            <a:r>
              <a:rPr lang="en-US" dirty="0">
                <a:solidFill>
                  <a:srgbClr val="FF0000"/>
                </a:solidFill>
              </a:rPr>
              <a:t>Routers and gateways </a:t>
            </a:r>
            <a:r>
              <a:rPr lang="en-US" dirty="0"/>
              <a:t>operate in the </a:t>
            </a:r>
            <a:r>
              <a:rPr lang="en-US" b="1" dirty="0"/>
              <a:t>network layer</a:t>
            </a:r>
            <a:r>
              <a:rPr lang="en-US" dirty="0"/>
              <a:t>. </a:t>
            </a:r>
            <a:endParaRPr dirty="0"/>
          </a:p>
          <a:p>
            <a:pPr marL="228600" lvl="0" indent="0" algn="just" rtl="0">
              <a:lnSpc>
                <a:spcPct val="150000"/>
              </a:lnSpc>
              <a:spcBef>
                <a:spcPts val="1000"/>
              </a:spcBef>
              <a:spcAft>
                <a:spcPts val="0"/>
              </a:spcAft>
              <a:buNone/>
            </a:pPr>
            <a:r>
              <a:rPr lang="en-US" b="1" dirty="0"/>
              <a:t>Mechanism</a:t>
            </a:r>
            <a:r>
              <a:rPr lang="en-US" dirty="0"/>
              <a:t> is provided by Network Layer for </a:t>
            </a:r>
            <a:r>
              <a:rPr lang="en-US" b="1" dirty="0">
                <a:solidFill>
                  <a:srgbClr val="FF0000"/>
                </a:solidFill>
              </a:rPr>
              <a:t>routing</a:t>
            </a:r>
            <a:r>
              <a:rPr lang="en-US" dirty="0"/>
              <a:t> the </a:t>
            </a:r>
            <a:r>
              <a:rPr lang="en-US" dirty="0">
                <a:solidFill>
                  <a:srgbClr val="00B050"/>
                </a:solidFill>
              </a:rPr>
              <a:t>packets to final destination</a:t>
            </a:r>
            <a:r>
              <a:rPr lang="en-US" dirty="0"/>
              <a:t>.</a:t>
            </a:r>
            <a:endParaRPr dirty="0"/>
          </a:p>
          <a:p>
            <a:pPr marL="228600" lvl="0" indent="-228600" algn="just" rtl="0">
              <a:lnSpc>
                <a:spcPct val="150000"/>
              </a:lnSpc>
              <a:spcBef>
                <a:spcPts val="1000"/>
              </a:spcBef>
              <a:spcAft>
                <a:spcPts val="0"/>
              </a:spcAft>
              <a:buSzPts val="1800"/>
              <a:buChar char="➢"/>
            </a:pPr>
            <a:r>
              <a:rPr lang="en-US" b="1" dirty="0"/>
              <a:t>Services</a:t>
            </a:r>
            <a:r>
              <a:rPr lang="en-US" dirty="0"/>
              <a:t> are  </a:t>
            </a:r>
          </a:p>
          <a:p>
            <a:pPr marL="685800" lvl="1" indent="-228600" algn="just" rtl="0">
              <a:lnSpc>
                <a:spcPct val="150000"/>
              </a:lnSpc>
              <a:spcBef>
                <a:spcPts val="0"/>
              </a:spcBef>
              <a:spcAft>
                <a:spcPts val="0"/>
              </a:spcAft>
              <a:buSzPts val="1800"/>
              <a:buChar char="○"/>
            </a:pPr>
            <a:r>
              <a:rPr lang="en-US" dirty="0"/>
              <a:t>    </a:t>
            </a:r>
            <a:r>
              <a:rPr lang="en-US" b="1" dirty="0"/>
              <a:t>flow control</a:t>
            </a:r>
            <a:r>
              <a:rPr lang="en-US" dirty="0"/>
              <a:t> </a:t>
            </a:r>
          </a:p>
          <a:p>
            <a:pPr marL="685800" lvl="1" indent="-228600" algn="just" rtl="0">
              <a:lnSpc>
                <a:spcPct val="150000"/>
              </a:lnSpc>
              <a:spcBef>
                <a:spcPts val="0"/>
              </a:spcBef>
              <a:spcAft>
                <a:spcPts val="0"/>
              </a:spcAft>
              <a:buSzPts val="1800"/>
              <a:buChar char="○"/>
            </a:pPr>
            <a:r>
              <a:rPr lang="en-US" dirty="0"/>
              <a:t>    </a:t>
            </a:r>
            <a:r>
              <a:rPr lang="en-US" b="1" dirty="0"/>
              <a:t>error control </a:t>
            </a:r>
            <a:r>
              <a:rPr lang="en-US" dirty="0"/>
              <a:t>and</a:t>
            </a:r>
            <a:endParaRPr dirty="0"/>
          </a:p>
          <a:p>
            <a:pPr marL="685800" lvl="1" indent="-228600" algn="just" rtl="0">
              <a:lnSpc>
                <a:spcPct val="150000"/>
              </a:lnSpc>
              <a:spcBef>
                <a:spcPts val="0"/>
              </a:spcBef>
              <a:spcAft>
                <a:spcPts val="0"/>
              </a:spcAft>
              <a:buSzPts val="1800"/>
              <a:buChar char="○"/>
            </a:pPr>
            <a:r>
              <a:rPr lang="en-US" dirty="0"/>
              <a:t>    </a:t>
            </a:r>
            <a:r>
              <a:rPr lang="en-US" b="1" dirty="0"/>
              <a:t>packet sequence control</a:t>
            </a:r>
            <a:r>
              <a:rPr lang="en-US" dirty="0"/>
              <a:t>.</a:t>
            </a:r>
            <a:endParaRPr dirty="0"/>
          </a:p>
          <a:p>
            <a:pPr marL="228600" lvl="0" indent="-228600" algn="just" rtl="0">
              <a:lnSpc>
                <a:spcPct val="150000"/>
              </a:lnSpc>
              <a:spcBef>
                <a:spcPts val="0"/>
              </a:spcBef>
              <a:spcAft>
                <a:spcPts val="0"/>
              </a:spcAft>
              <a:buSzPts val="1800"/>
              <a:buChar char="➢"/>
            </a:pPr>
            <a:r>
              <a:rPr lang="en-US" b="1" dirty="0"/>
              <a:t>Breaks</a:t>
            </a:r>
            <a:r>
              <a:rPr lang="en-US" dirty="0"/>
              <a:t> </a:t>
            </a:r>
            <a:r>
              <a:rPr lang="en-US" dirty="0">
                <a:solidFill>
                  <a:srgbClr val="FF0000"/>
                </a:solidFill>
              </a:rPr>
              <a:t>larger packets </a:t>
            </a:r>
            <a:r>
              <a:rPr lang="en-US" dirty="0"/>
              <a:t>into </a:t>
            </a:r>
            <a:r>
              <a:rPr lang="en-US" dirty="0">
                <a:solidFill>
                  <a:srgbClr val="FF0000"/>
                </a:solidFill>
              </a:rPr>
              <a:t>small packets</a:t>
            </a:r>
            <a:r>
              <a:rPr lang="en-US" dirty="0"/>
              <a:t>.</a:t>
            </a:r>
            <a:endParaRPr dirty="0"/>
          </a:p>
        </p:txBody>
      </p:sp>
      <p:pic>
        <p:nvPicPr>
          <p:cNvPr id="105" name="Google Shape;105;p3"/>
          <p:cNvPicPr preferRelativeResize="0"/>
          <p:nvPr/>
        </p:nvPicPr>
        <p:blipFill rotWithShape="1">
          <a:blip r:embed="rId3">
            <a:alphaModFix/>
          </a:blip>
          <a:srcRect/>
          <a:stretch/>
        </p:blipFill>
        <p:spPr>
          <a:xfrm>
            <a:off x="9540681" y="1088973"/>
            <a:ext cx="2507883" cy="52849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Times New Roman"/>
              <a:buNone/>
            </a:pPr>
            <a:r>
              <a:rPr lang="en-US" b="1" i="0" u="none" strike="noStrike">
                <a:latin typeface="Times New Roman"/>
                <a:ea typeface="Times New Roman"/>
                <a:cs typeface="Times New Roman"/>
                <a:sym typeface="Times New Roman"/>
              </a:rPr>
              <a:t>Network Layer Design Issues</a:t>
            </a:r>
            <a:endParaRPr/>
          </a:p>
        </p:txBody>
      </p:sp>
      <p:sp>
        <p:nvSpPr>
          <p:cNvPr id="111" name="Google Shape;111;p4"/>
          <p:cNvSpPr txBox="1">
            <a:spLocks noGrp="1"/>
          </p:cNvSpPr>
          <p:nvPr>
            <p:ph type="body" idx="1"/>
          </p:nvPr>
        </p:nvSpPr>
        <p:spPr>
          <a:xfrm>
            <a:off x="838200" y="1825625"/>
            <a:ext cx="11047500" cy="4821900"/>
          </a:xfrm>
          <a:prstGeom prst="rect">
            <a:avLst/>
          </a:prstGeom>
          <a:noFill/>
          <a:ln>
            <a:noFill/>
          </a:ln>
        </p:spPr>
        <p:txBody>
          <a:bodyPr spcFirstLastPara="1" wrap="square" lIns="91425" tIns="45700" rIns="91425" bIns="45700" anchor="t" anchorCtr="0">
            <a:noAutofit/>
          </a:bodyPr>
          <a:lstStyle/>
          <a:p>
            <a:pPr marL="228600" lvl="0" indent="-234315" algn="l" rtl="0">
              <a:lnSpc>
                <a:spcPct val="180000"/>
              </a:lnSpc>
              <a:spcBef>
                <a:spcPts val="0"/>
              </a:spcBef>
              <a:spcAft>
                <a:spcPts val="0"/>
              </a:spcAft>
              <a:buClr>
                <a:schemeClr val="dk1"/>
              </a:buClr>
              <a:buSzPts val="2890"/>
              <a:buFont typeface="Roboto"/>
              <a:buChar char="➔"/>
            </a:pPr>
            <a:r>
              <a:rPr lang="en-US" sz="2890" b="1">
                <a:latin typeface="Roboto"/>
                <a:ea typeface="Roboto"/>
                <a:cs typeface="Roboto"/>
                <a:sym typeface="Roboto"/>
              </a:rPr>
              <a:t>Store-and-forward packet switching</a:t>
            </a:r>
            <a:endParaRPr sz="2890" b="1">
              <a:latin typeface="Roboto"/>
              <a:ea typeface="Roboto"/>
              <a:cs typeface="Roboto"/>
              <a:sym typeface="Roboto"/>
            </a:endParaRPr>
          </a:p>
          <a:p>
            <a:pPr marL="228600" lvl="0" indent="-234315" algn="l" rtl="0">
              <a:lnSpc>
                <a:spcPct val="180000"/>
              </a:lnSpc>
              <a:spcBef>
                <a:spcPts val="1000"/>
              </a:spcBef>
              <a:spcAft>
                <a:spcPts val="0"/>
              </a:spcAft>
              <a:buClr>
                <a:schemeClr val="dk1"/>
              </a:buClr>
              <a:buSzPts val="2890"/>
              <a:buFont typeface="Roboto"/>
              <a:buChar char="➔"/>
            </a:pPr>
            <a:r>
              <a:rPr lang="en-US" sz="2890" b="1">
                <a:latin typeface="Roboto"/>
                <a:ea typeface="Roboto"/>
                <a:cs typeface="Roboto"/>
                <a:sym typeface="Roboto"/>
              </a:rPr>
              <a:t>Services provided to transport layer</a:t>
            </a:r>
            <a:endParaRPr sz="2890" b="1">
              <a:latin typeface="Roboto"/>
              <a:ea typeface="Roboto"/>
              <a:cs typeface="Roboto"/>
              <a:sym typeface="Roboto"/>
            </a:endParaRPr>
          </a:p>
          <a:p>
            <a:pPr marL="228600" lvl="0" indent="-234315" algn="l" rtl="0">
              <a:lnSpc>
                <a:spcPct val="180000"/>
              </a:lnSpc>
              <a:spcBef>
                <a:spcPts val="1000"/>
              </a:spcBef>
              <a:spcAft>
                <a:spcPts val="0"/>
              </a:spcAft>
              <a:buClr>
                <a:schemeClr val="dk1"/>
              </a:buClr>
              <a:buSzPts val="2890"/>
              <a:buFont typeface="Roboto"/>
              <a:buChar char="➔"/>
            </a:pPr>
            <a:r>
              <a:rPr lang="en-US" sz="2890" b="1">
                <a:latin typeface="Roboto"/>
                <a:ea typeface="Roboto"/>
                <a:cs typeface="Roboto"/>
                <a:sym typeface="Roboto"/>
              </a:rPr>
              <a:t>Implementation of connectionless service</a:t>
            </a:r>
            <a:endParaRPr sz="2890" b="1">
              <a:latin typeface="Roboto"/>
              <a:ea typeface="Roboto"/>
              <a:cs typeface="Roboto"/>
              <a:sym typeface="Roboto"/>
            </a:endParaRPr>
          </a:p>
          <a:p>
            <a:pPr marL="228600" lvl="0" indent="-234315" algn="l" rtl="0">
              <a:lnSpc>
                <a:spcPct val="180000"/>
              </a:lnSpc>
              <a:spcBef>
                <a:spcPts val="1000"/>
              </a:spcBef>
              <a:spcAft>
                <a:spcPts val="0"/>
              </a:spcAft>
              <a:buClr>
                <a:schemeClr val="dk1"/>
              </a:buClr>
              <a:buSzPts val="2890"/>
              <a:buFont typeface="Roboto"/>
              <a:buChar char="➔"/>
            </a:pPr>
            <a:r>
              <a:rPr lang="en-US" sz="2890" b="1">
                <a:latin typeface="Roboto"/>
                <a:ea typeface="Roboto"/>
                <a:cs typeface="Roboto"/>
                <a:sym typeface="Roboto"/>
              </a:rPr>
              <a:t>Implementation of connection-oriented service</a:t>
            </a:r>
            <a:endParaRPr sz="2890" b="1">
              <a:latin typeface="Roboto"/>
              <a:ea typeface="Roboto"/>
              <a:cs typeface="Roboto"/>
              <a:sym typeface="Roboto"/>
            </a:endParaRPr>
          </a:p>
          <a:p>
            <a:pPr marL="228600" lvl="0" indent="-234315" algn="l" rtl="0">
              <a:lnSpc>
                <a:spcPct val="180000"/>
              </a:lnSpc>
              <a:spcBef>
                <a:spcPts val="1000"/>
              </a:spcBef>
              <a:spcAft>
                <a:spcPts val="0"/>
              </a:spcAft>
              <a:buClr>
                <a:schemeClr val="dk1"/>
              </a:buClr>
              <a:buSzPts val="2890"/>
              <a:buFont typeface="Roboto"/>
              <a:buChar char="➔"/>
            </a:pPr>
            <a:r>
              <a:rPr lang="en-US" sz="2890" b="1">
                <a:latin typeface="Roboto"/>
                <a:ea typeface="Roboto"/>
                <a:cs typeface="Roboto"/>
                <a:sym typeface="Roboto"/>
              </a:rPr>
              <a:t>Comparison of virtual-circuit and datagram networks</a:t>
            </a:r>
            <a:endParaRPr sz="2890" b="1">
              <a:latin typeface="Roboto"/>
              <a:ea typeface="Roboto"/>
              <a:cs typeface="Roboto"/>
              <a:sym typeface="Roboto"/>
            </a:endParaRPr>
          </a:p>
          <a:p>
            <a:pPr marL="228600" lvl="0" indent="-50800" algn="l" rtl="0">
              <a:lnSpc>
                <a:spcPct val="180000"/>
              </a:lnSpc>
              <a:spcBef>
                <a:spcPts val="1000"/>
              </a:spcBef>
              <a:spcAft>
                <a:spcPts val="0"/>
              </a:spcAft>
              <a:buClr>
                <a:schemeClr val="dk1"/>
              </a:buClr>
              <a:buSzPts val="2590"/>
              <a:buNone/>
            </a:pPr>
            <a:endParaRPr sz="2890" b="1">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title"/>
          </p:nvPr>
        </p:nvSpPr>
        <p:spPr>
          <a:xfrm>
            <a:off x="663388" y="0"/>
            <a:ext cx="10515600" cy="535828"/>
          </a:xfrm>
          <a:prstGeom prst="rect">
            <a:avLst/>
          </a:prstGeom>
          <a:noFill/>
          <a:ln>
            <a:noFill/>
          </a:ln>
        </p:spPr>
        <p:txBody>
          <a:bodyPr spcFirstLastPara="1" wrap="square" lIns="91425" tIns="45700" rIns="91425" bIns="45700" anchor="ctr" anchorCtr="0">
            <a:normAutofit fontScale="90000"/>
          </a:bodyPr>
          <a:lstStyle/>
          <a:p>
            <a:pPr marL="0" marR="0" lvl="0" indent="0" algn="l" rtl="0">
              <a:lnSpc>
                <a:spcPct val="90000"/>
              </a:lnSpc>
              <a:spcBef>
                <a:spcPts val="0"/>
              </a:spcBef>
              <a:spcAft>
                <a:spcPts val="0"/>
              </a:spcAft>
              <a:buClr>
                <a:schemeClr val="dk1"/>
              </a:buClr>
              <a:buSzPct val="100000"/>
              <a:buFont typeface="Times New Roman"/>
              <a:buNone/>
            </a:pPr>
            <a:r>
              <a:rPr lang="en-US" b="1" i="0" u="none" strike="noStrike">
                <a:latin typeface="Times New Roman"/>
                <a:ea typeface="Times New Roman"/>
                <a:cs typeface="Times New Roman"/>
                <a:sym typeface="Times New Roman"/>
              </a:rPr>
              <a:t>Store-and-Forward Packet Switching</a:t>
            </a:r>
            <a:endParaRPr/>
          </a:p>
        </p:txBody>
      </p:sp>
      <p:sp>
        <p:nvSpPr>
          <p:cNvPr id="117" name="Google Shape;117;p5"/>
          <p:cNvSpPr txBox="1">
            <a:spLocks noGrp="1"/>
          </p:cNvSpPr>
          <p:nvPr>
            <p:ph type="body" idx="1"/>
          </p:nvPr>
        </p:nvSpPr>
        <p:spPr>
          <a:xfrm>
            <a:off x="134475" y="658900"/>
            <a:ext cx="4977600" cy="6199200"/>
          </a:xfrm>
          <a:prstGeom prst="rect">
            <a:avLst/>
          </a:prstGeom>
          <a:noFill/>
          <a:ln>
            <a:noFill/>
          </a:ln>
        </p:spPr>
        <p:txBody>
          <a:bodyPr spcFirstLastPara="1" wrap="square" lIns="91425" tIns="45700" rIns="91425" bIns="45700" anchor="t" anchorCtr="0">
            <a:normAutofit fontScale="92500" lnSpcReduction="10000"/>
          </a:bodyPr>
          <a:lstStyle/>
          <a:p>
            <a:pPr marL="228600" lvl="0" indent="-201930" algn="just" rtl="0">
              <a:lnSpc>
                <a:spcPct val="150000"/>
              </a:lnSpc>
              <a:spcBef>
                <a:spcPts val="0"/>
              </a:spcBef>
              <a:spcAft>
                <a:spcPts val="0"/>
              </a:spcAft>
              <a:buClr>
                <a:schemeClr val="dk1"/>
              </a:buClr>
              <a:buSzPct val="100000"/>
              <a:buChar char="➢"/>
            </a:pPr>
            <a:r>
              <a:rPr lang="en-US"/>
              <a:t>The </a:t>
            </a:r>
            <a:r>
              <a:rPr lang="en-US">
                <a:solidFill>
                  <a:srgbClr val="FF0000"/>
                </a:solidFill>
              </a:rPr>
              <a:t>packet is stored </a:t>
            </a:r>
            <a:r>
              <a:rPr lang="en-US"/>
              <a:t>there until it has </a:t>
            </a:r>
            <a:r>
              <a:rPr lang="en-US">
                <a:solidFill>
                  <a:srgbClr val="00B050"/>
                </a:solidFill>
              </a:rPr>
              <a:t>fully arrived </a:t>
            </a:r>
            <a:r>
              <a:rPr lang="en-US"/>
              <a:t>and the </a:t>
            </a:r>
            <a:r>
              <a:rPr lang="en-US">
                <a:solidFill>
                  <a:srgbClr val="00B050"/>
                </a:solidFill>
              </a:rPr>
              <a:t>link has finished its processing </a:t>
            </a:r>
            <a:r>
              <a:rPr lang="en-US"/>
              <a:t>by </a:t>
            </a:r>
            <a:r>
              <a:rPr lang="en-US">
                <a:solidFill>
                  <a:srgbClr val="FF0000"/>
                </a:solidFill>
              </a:rPr>
              <a:t>verifying the checksum</a:t>
            </a:r>
            <a:r>
              <a:rPr lang="en-US"/>
              <a:t>. </a:t>
            </a:r>
            <a:endParaRPr/>
          </a:p>
          <a:p>
            <a:pPr marL="228600" lvl="0" indent="-201930" algn="just" rtl="0">
              <a:lnSpc>
                <a:spcPct val="150000"/>
              </a:lnSpc>
              <a:spcBef>
                <a:spcPts val="1000"/>
              </a:spcBef>
              <a:spcAft>
                <a:spcPts val="0"/>
              </a:spcAft>
              <a:buClr>
                <a:schemeClr val="dk1"/>
              </a:buClr>
              <a:buSzPct val="100000"/>
              <a:buChar char="➢"/>
            </a:pPr>
            <a:r>
              <a:rPr lang="en-US"/>
              <a:t>Then it is </a:t>
            </a:r>
            <a:r>
              <a:rPr lang="en-US">
                <a:solidFill>
                  <a:srgbClr val="FF0000"/>
                </a:solidFill>
              </a:rPr>
              <a:t>forwarded</a:t>
            </a:r>
            <a:r>
              <a:rPr lang="en-US"/>
              <a:t> to the </a:t>
            </a:r>
            <a:r>
              <a:rPr lang="en-US">
                <a:solidFill>
                  <a:srgbClr val="00B050"/>
                </a:solidFill>
              </a:rPr>
              <a:t>next router </a:t>
            </a:r>
            <a:r>
              <a:rPr lang="en-US"/>
              <a:t>along the path until it reaches the </a:t>
            </a:r>
            <a:r>
              <a:rPr lang="en-US" b="1"/>
              <a:t>destination host</a:t>
            </a:r>
            <a:r>
              <a:rPr lang="en-US"/>
              <a:t>, where it is delivered.</a:t>
            </a:r>
            <a:endParaRPr/>
          </a:p>
          <a:p>
            <a:pPr marL="228600" lvl="0" indent="-201930" algn="l" rtl="0">
              <a:lnSpc>
                <a:spcPct val="150000"/>
              </a:lnSpc>
              <a:spcBef>
                <a:spcPts val="1000"/>
              </a:spcBef>
              <a:spcAft>
                <a:spcPts val="0"/>
              </a:spcAft>
              <a:buClr>
                <a:schemeClr val="dk1"/>
              </a:buClr>
              <a:buSzPct val="100000"/>
              <a:buChar char="➢"/>
            </a:pPr>
            <a:r>
              <a:rPr lang="en-US"/>
              <a:t> This mechanism is </a:t>
            </a:r>
            <a:r>
              <a:rPr lang="en-US" b="1" i="1">
                <a:solidFill>
                  <a:srgbClr val="FF0000"/>
                </a:solidFill>
              </a:rPr>
              <a:t>store-and-forward packet switching</a:t>
            </a:r>
            <a:r>
              <a:rPr lang="en-US" i="1"/>
              <a:t>.</a:t>
            </a:r>
            <a:endParaRPr/>
          </a:p>
          <a:p>
            <a:pPr marL="228600" lvl="0" indent="-211455" algn="l" rtl="0">
              <a:lnSpc>
                <a:spcPct val="90000"/>
              </a:lnSpc>
              <a:spcBef>
                <a:spcPts val="0"/>
              </a:spcBef>
              <a:spcAft>
                <a:spcPts val="0"/>
              </a:spcAft>
              <a:buSzPct val="64285"/>
              <a:buChar char="➢"/>
            </a:pPr>
            <a:endParaRPr/>
          </a:p>
        </p:txBody>
      </p:sp>
      <p:pic>
        <p:nvPicPr>
          <p:cNvPr id="5" name="Picture 6" descr="5-01">
            <a:extLst>
              <a:ext uri="{FF2B5EF4-FFF2-40B4-BE49-F238E27FC236}">
                <a16:creationId xmlns:a16="http://schemas.microsoft.com/office/drawing/2014/main" xmlns="" id="{D4C6AD24-41A7-49E5-84E0-1C138BEBD7FC}"/>
              </a:ext>
            </a:extLst>
          </p:cNvPr>
          <p:cNvPicPr>
            <a:picLocks noChangeAspect="1" noChangeArrowheads="1"/>
          </p:cNvPicPr>
          <p:nvPr/>
        </p:nvPicPr>
        <p:blipFill>
          <a:blip r:embed="rId3" cstate="print"/>
          <a:srcRect/>
          <a:stretch>
            <a:fillRect/>
          </a:stretch>
        </p:blipFill>
        <p:spPr bwMode="auto">
          <a:xfrm>
            <a:off x="5585485" y="1431235"/>
            <a:ext cx="6472040" cy="326216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838199" y="0"/>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Times New Roman"/>
              <a:buNone/>
            </a:pPr>
            <a:r>
              <a:rPr lang="en-US" b="1" i="0" u="none" strike="noStrike">
                <a:latin typeface="Times New Roman"/>
                <a:ea typeface="Times New Roman"/>
                <a:cs typeface="Times New Roman"/>
                <a:sym typeface="Times New Roman"/>
              </a:rPr>
              <a:t>Services Provided To Transport Layer</a:t>
            </a:r>
            <a:endParaRPr/>
          </a:p>
        </p:txBody>
      </p:sp>
      <p:sp>
        <p:nvSpPr>
          <p:cNvPr id="124" name="Google Shape;124;p6"/>
          <p:cNvSpPr txBox="1">
            <a:spLocks noGrp="1"/>
          </p:cNvSpPr>
          <p:nvPr>
            <p:ph type="body" idx="1"/>
          </p:nvPr>
        </p:nvSpPr>
        <p:spPr>
          <a:xfrm>
            <a:off x="152400" y="1325563"/>
            <a:ext cx="8695766"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800"/>
              <a:buChar char="•"/>
            </a:pPr>
            <a:r>
              <a:rPr lang="en-US" dirty="0"/>
              <a:t>The </a:t>
            </a:r>
            <a:r>
              <a:rPr lang="en-US" b="1" dirty="0"/>
              <a:t>services</a:t>
            </a:r>
            <a:r>
              <a:rPr lang="en-US" dirty="0"/>
              <a:t> provided should be </a:t>
            </a:r>
            <a:r>
              <a:rPr lang="en-US" dirty="0">
                <a:solidFill>
                  <a:srgbClr val="FF0000"/>
                </a:solidFill>
              </a:rPr>
              <a:t>independent</a:t>
            </a:r>
            <a:r>
              <a:rPr lang="en-US" dirty="0"/>
              <a:t> of the underlying </a:t>
            </a:r>
            <a:r>
              <a:rPr lang="en-US" dirty="0">
                <a:solidFill>
                  <a:srgbClr val="00B050"/>
                </a:solidFill>
              </a:rPr>
              <a:t>router technology. </a:t>
            </a:r>
            <a:endParaRPr dirty="0"/>
          </a:p>
          <a:p>
            <a:pPr marL="228600" lvl="0" indent="-228600" algn="just" rtl="0">
              <a:lnSpc>
                <a:spcPct val="150000"/>
              </a:lnSpc>
              <a:spcBef>
                <a:spcPts val="1000"/>
              </a:spcBef>
              <a:spcAft>
                <a:spcPts val="0"/>
              </a:spcAft>
              <a:buClr>
                <a:schemeClr val="dk1"/>
              </a:buClr>
              <a:buSzPts val="2800"/>
              <a:buChar char="•"/>
            </a:pPr>
            <a:r>
              <a:rPr lang="en-US" dirty="0"/>
              <a:t>The </a:t>
            </a:r>
            <a:r>
              <a:rPr lang="en-US" b="1" dirty="0"/>
              <a:t>transport layer </a:t>
            </a:r>
            <a:r>
              <a:rPr lang="en-US" dirty="0"/>
              <a:t>should be </a:t>
            </a:r>
            <a:r>
              <a:rPr lang="en-US" dirty="0">
                <a:solidFill>
                  <a:srgbClr val="FF0000"/>
                </a:solidFill>
              </a:rPr>
              <a:t>shielded</a:t>
            </a:r>
            <a:r>
              <a:rPr lang="en-US" dirty="0"/>
              <a:t> from the </a:t>
            </a:r>
            <a:r>
              <a:rPr lang="en-US" dirty="0">
                <a:solidFill>
                  <a:srgbClr val="00B050"/>
                </a:solidFill>
              </a:rPr>
              <a:t>number, type and different topologies</a:t>
            </a:r>
            <a:r>
              <a:rPr lang="en-US" dirty="0"/>
              <a:t> of the subnets present. </a:t>
            </a:r>
            <a:endParaRPr dirty="0"/>
          </a:p>
          <a:p>
            <a:pPr marL="228600" lvl="0" indent="-228600" algn="just" rtl="0">
              <a:lnSpc>
                <a:spcPct val="150000"/>
              </a:lnSpc>
              <a:spcBef>
                <a:spcPts val="1000"/>
              </a:spcBef>
              <a:spcAft>
                <a:spcPts val="0"/>
              </a:spcAft>
              <a:buClr>
                <a:schemeClr val="dk1"/>
              </a:buClr>
              <a:buSzPts val="2800"/>
              <a:buChar char="•"/>
            </a:pPr>
            <a:r>
              <a:rPr lang="en-US" dirty="0"/>
              <a:t>Finally, there is a need for some </a:t>
            </a:r>
            <a:r>
              <a:rPr lang="en-US" dirty="0">
                <a:solidFill>
                  <a:srgbClr val="FF0000"/>
                </a:solidFill>
              </a:rPr>
              <a:t>uniform addressing scheme </a:t>
            </a:r>
            <a:r>
              <a:rPr lang="en-US" dirty="0"/>
              <a:t>for network addresses across LANs and WANs. </a:t>
            </a: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125" name="Google Shape;125;p6"/>
          <p:cNvPicPr preferRelativeResize="0"/>
          <p:nvPr/>
        </p:nvPicPr>
        <p:blipFill rotWithShape="1">
          <a:blip r:embed="rId3">
            <a:alphaModFix/>
          </a:blip>
          <a:srcRect/>
          <a:stretch/>
        </p:blipFill>
        <p:spPr>
          <a:xfrm>
            <a:off x="9540681" y="1088973"/>
            <a:ext cx="2507883" cy="52849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a:spLocks noGrp="1"/>
          </p:cNvSpPr>
          <p:nvPr>
            <p:ph type="title"/>
          </p:nvPr>
        </p:nvSpPr>
        <p:spPr>
          <a:xfrm>
            <a:off x="448236" y="472702"/>
            <a:ext cx="10515600" cy="683746"/>
          </a:xfrm>
          <a:prstGeom prst="rect">
            <a:avLst/>
          </a:prstGeom>
          <a:noFill/>
          <a:ln>
            <a:noFill/>
          </a:ln>
        </p:spPr>
        <p:txBody>
          <a:bodyPr spcFirstLastPara="1" wrap="square" lIns="91425" tIns="45700" rIns="91425" bIns="45700" anchor="ctr" anchorCtr="0">
            <a:normAutofit fontScale="90000"/>
          </a:bodyPr>
          <a:lstStyle/>
          <a:p>
            <a:pPr marL="0" marR="0" lvl="0" indent="0" algn="l" rtl="0">
              <a:lnSpc>
                <a:spcPct val="90000"/>
              </a:lnSpc>
              <a:spcBef>
                <a:spcPts val="0"/>
              </a:spcBef>
              <a:spcAft>
                <a:spcPts val="0"/>
              </a:spcAft>
              <a:buClr>
                <a:schemeClr val="dk1"/>
              </a:buClr>
              <a:buSzPct val="100000"/>
              <a:buFont typeface="Times New Roman"/>
              <a:buNone/>
            </a:pPr>
            <a:r>
              <a:rPr lang="en-US" b="1" i="0" u="none" strike="noStrike">
                <a:latin typeface="Times New Roman"/>
                <a:ea typeface="Times New Roman"/>
                <a:cs typeface="Times New Roman"/>
                <a:sym typeface="Times New Roman"/>
              </a:rPr>
              <a:t>Internal Organization of Network Layer</a:t>
            </a:r>
            <a:endParaRPr/>
          </a:p>
        </p:txBody>
      </p:sp>
      <p:sp>
        <p:nvSpPr>
          <p:cNvPr id="131" name="Google Shape;131;p7"/>
          <p:cNvSpPr txBox="1">
            <a:spLocks noGrp="1"/>
          </p:cNvSpPr>
          <p:nvPr>
            <p:ph type="body" idx="1"/>
          </p:nvPr>
        </p:nvSpPr>
        <p:spPr>
          <a:xfrm>
            <a:off x="448236" y="1395319"/>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50000"/>
              </a:lnSpc>
              <a:spcBef>
                <a:spcPts val="0"/>
              </a:spcBef>
              <a:spcAft>
                <a:spcPts val="0"/>
              </a:spcAft>
              <a:buClr>
                <a:schemeClr val="dk1"/>
              </a:buClr>
              <a:buSzPct val="100000"/>
              <a:buChar char="•"/>
            </a:pPr>
            <a:r>
              <a:rPr lang="en-US"/>
              <a:t>There are two different ways of </a:t>
            </a:r>
            <a:r>
              <a:rPr lang="en-US" b="1"/>
              <a:t>organizing the </a:t>
            </a:r>
            <a:r>
              <a:rPr lang="en-US" b="1">
                <a:solidFill>
                  <a:srgbClr val="FF0000"/>
                </a:solidFill>
              </a:rPr>
              <a:t>subnet</a:t>
            </a:r>
            <a:r>
              <a:rPr lang="en-US"/>
              <a:t>, </a:t>
            </a:r>
            <a:endParaRPr/>
          </a:p>
          <a:p>
            <a:pPr marL="914400" lvl="0" indent="-457200" algn="just" rtl="0">
              <a:lnSpc>
                <a:spcPct val="150000"/>
              </a:lnSpc>
              <a:spcBef>
                <a:spcPts val="1000"/>
              </a:spcBef>
              <a:spcAft>
                <a:spcPts val="0"/>
              </a:spcAft>
              <a:buClr>
                <a:schemeClr val="dk1"/>
              </a:buClr>
              <a:buSzPct val="100000"/>
              <a:buFont typeface="Noto Sans Symbols"/>
              <a:buChar char="⮚"/>
            </a:pPr>
            <a:r>
              <a:rPr lang="en-US"/>
              <a:t> </a:t>
            </a:r>
            <a:r>
              <a:rPr lang="en-US">
                <a:solidFill>
                  <a:srgbClr val="FF0000"/>
                </a:solidFill>
              </a:rPr>
              <a:t>connectionless</a:t>
            </a:r>
            <a:r>
              <a:rPr lang="en-US"/>
              <a:t> and </a:t>
            </a:r>
            <a:endParaRPr/>
          </a:p>
          <a:p>
            <a:pPr marL="914400" lvl="0" indent="-457200" algn="just" rtl="0">
              <a:lnSpc>
                <a:spcPct val="150000"/>
              </a:lnSpc>
              <a:spcBef>
                <a:spcPts val="1000"/>
              </a:spcBef>
              <a:spcAft>
                <a:spcPts val="0"/>
              </a:spcAft>
              <a:buClr>
                <a:schemeClr val="dk1"/>
              </a:buClr>
              <a:buSzPct val="100000"/>
              <a:buFont typeface="Noto Sans Symbols"/>
              <a:buChar char="⮚"/>
            </a:pPr>
            <a:r>
              <a:rPr lang="en-US"/>
              <a:t> </a:t>
            </a:r>
            <a:r>
              <a:rPr lang="en-US">
                <a:solidFill>
                  <a:srgbClr val="FF0000"/>
                </a:solidFill>
              </a:rPr>
              <a:t>connection-oriented</a:t>
            </a:r>
            <a:endParaRPr>
              <a:solidFill>
                <a:srgbClr val="FF0000"/>
              </a:solidFill>
            </a:endParaRPr>
          </a:p>
          <a:p>
            <a:pPr marL="228600" lvl="0" indent="-228600" algn="just" rtl="0">
              <a:lnSpc>
                <a:spcPct val="150000"/>
              </a:lnSpc>
              <a:spcBef>
                <a:spcPts val="1000"/>
              </a:spcBef>
              <a:spcAft>
                <a:spcPts val="0"/>
              </a:spcAft>
              <a:buClr>
                <a:schemeClr val="dk1"/>
              </a:buClr>
              <a:buSzPct val="100000"/>
              <a:buChar char="•"/>
            </a:pPr>
            <a:r>
              <a:rPr lang="en-US"/>
              <a:t>In the context of the </a:t>
            </a:r>
            <a:r>
              <a:rPr lang="en-US">
                <a:solidFill>
                  <a:srgbClr val="00B050"/>
                </a:solidFill>
              </a:rPr>
              <a:t>internal operation of the subnet</a:t>
            </a:r>
            <a:r>
              <a:rPr lang="en-US"/>
              <a:t>, a </a:t>
            </a:r>
            <a:r>
              <a:rPr lang="en-US">
                <a:solidFill>
                  <a:srgbClr val="FF0000"/>
                </a:solidFill>
              </a:rPr>
              <a:t>connection</a:t>
            </a:r>
            <a:r>
              <a:rPr lang="en-US"/>
              <a:t> is usually called a </a:t>
            </a:r>
            <a:r>
              <a:rPr lang="en-US" b="1" i="1"/>
              <a:t>virtual circuit</a:t>
            </a:r>
            <a:r>
              <a:rPr lang="en-US" i="1"/>
              <a:t>.</a:t>
            </a:r>
            <a:r>
              <a:rPr lang="en-US"/>
              <a:t> </a:t>
            </a:r>
            <a:endParaRPr/>
          </a:p>
          <a:p>
            <a:pPr marL="228600" lvl="0" indent="-228600" algn="just" rtl="0">
              <a:lnSpc>
                <a:spcPct val="150000"/>
              </a:lnSpc>
              <a:spcBef>
                <a:spcPts val="1000"/>
              </a:spcBef>
              <a:spcAft>
                <a:spcPts val="0"/>
              </a:spcAft>
              <a:buClr>
                <a:schemeClr val="dk1"/>
              </a:buClr>
              <a:buSzPct val="100000"/>
              <a:buChar char="•"/>
            </a:pPr>
            <a:r>
              <a:rPr lang="en-US"/>
              <a:t>The </a:t>
            </a:r>
            <a:r>
              <a:rPr lang="en-US">
                <a:solidFill>
                  <a:srgbClr val="00B050"/>
                </a:solidFill>
              </a:rPr>
              <a:t>independent packets </a:t>
            </a:r>
            <a:r>
              <a:rPr lang="en-US"/>
              <a:t>of the </a:t>
            </a:r>
            <a:r>
              <a:rPr lang="en-US">
                <a:solidFill>
                  <a:srgbClr val="FF0000"/>
                </a:solidFill>
              </a:rPr>
              <a:t>connectionless</a:t>
            </a:r>
            <a:r>
              <a:rPr lang="en-US"/>
              <a:t> organization are called </a:t>
            </a:r>
            <a:r>
              <a:rPr lang="en-US" b="1" i="1"/>
              <a:t>datagrams</a:t>
            </a:r>
            <a:r>
              <a:rPr lang="en-US"/>
              <a:t>. </a:t>
            </a:r>
            <a:endParaRPr/>
          </a:p>
          <a:p>
            <a:pPr marL="228600" lvl="0" indent="-64135"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xfrm>
            <a:off x="502771" y="184978"/>
            <a:ext cx="10515600" cy="41581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3600"/>
              <a:buFont typeface="Times New Roman"/>
              <a:buNone/>
            </a:pPr>
            <a:r>
              <a:rPr lang="en-US" sz="3600" b="1" i="0" u="none" strike="noStrike" dirty="0">
                <a:latin typeface="Times New Roman"/>
                <a:ea typeface="Times New Roman"/>
                <a:cs typeface="Times New Roman"/>
                <a:sym typeface="Times New Roman"/>
              </a:rPr>
              <a:t>Implementation of </a:t>
            </a:r>
            <a:r>
              <a:rPr lang="en-US" sz="3600" b="1" i="0" u="none" strike="noStrike" dirty="0">
                <a:latin typeface="Times New Roman"/>
                <a:ea typeface="Times New Roman"/>
                <a:cs typeface="Times New Roman"/>
                <a:sym typeface="Times New Roman"/>
                <a:hlinkClick r:id="rId3" action="ppaction://hlinksldjump"/>
              </a:rPr>
              <a:t>Connectionless Service</a:t>
            </a:r>
            <a:endParaRPr dirty="0"/>
          </a:p>
        </p:txBody>
      </p:sp>
      <p:sp>
        <p:nvSpPr>
          <p:cNvPr id="137" name="Google Shape;137;p8"/>
          <p:cNvSpPr txBox="1">
            <a:spLocks noGrp="1"/>
          </p:cNvSpPr>
          <p:nvPr>
            <p:ph type="body" idx="1"/>
          </p:nvPr>
        </p:nvSpPr>
        <p:spPr>
          <a:xfrm>
            <a:off x="72800" y="777800"/>
            <a:ext cx="6219000" cy="5929500"/>
          </a:xfrm>
          <a:prstGeom prst="rect">
            <a:avLst/>
          </a:prstGeom>
          <a:noFill/>
          <a:ln>
            <a:noFill/>
          </a:ln>
        </p:spPr>
        <p:txBody>
          <a:bodyPr spcFirstLastPara="1" wrap="square" lIns="91425" tIns="45700" rIns="91425" bIns="45700" anchor="t" anchorCtr="0">
            <a:noAutofit/>
          </a:bodyPr>
          <a:lstStyle/>
          <a:p>
            <a:pPr marL="228600" lvl="0" indent="-228918" algn="just" rtl="0">
              <a:lnSpc>
                <a:spcPct val="80000"/>
              </a:lnSpc>
              <a:spcBef>
                <a:spcPts val="0"/>
              </a:spcBef>
              <a:spcAft>
                <a:spcPts val="0"/>
              </a:spcAft>
              <a:buClr>
                <a:srgbClr val="0000CC"/>
              </a:buClr>
              <a:buSzPts val="2980"/>
              <a:buChar char="•"/>
            </a:pPr>
            <a:r>
              <a:rPr lang="en-US" sz="2640"/>
              <a:t>Packets are </a:t>
            </a:r>
            <a:r>
              <a:rPr lang="en-US" sz="2640" b="1"/>
              <a:t>injected</a:t>
            </a:r>
            <a:r>
              <a:rPr lang="en-US" sz="2640"/>
              <a:t> into the network </a:t>
            </a:r>
            <a:r>
              <a:rPr lang="en-US" sz="2640">
                <a:solidFill>
                  <a:srgbClr val="00B050"/>
                </a:solidFill>
              </a:rPr>
              <a:t>individually </a:t>
            </a:r>
            <a:r>
              <a:rPr lang="en-US" sz="2640"/>
              <a:t>and </a:t>
            </a:r>
            <a:r>
              <a:rPr lang="en-US" sz="2640" b="1"/>
              <a:t>routed</a:t>
            </a:r>
            <a:r>
              <a:rPr lang="en-US" sz="2640">
                <a:solidFill>
                  <a:srgbClr val="00B050"/>
                </a:solidFill>
              </a:rPr>
              <a:t> independently </a:t>
            </a:r>
            <a:r>
              <a:rPr lang="en-US" sz="2640"/>
              <a:t>of each other. </a:t>
            </a:r>
            <a:endParaRPr sz="2980"/>
          </a:p>
          <a:p>
            <a:pPr marL="228600" lvl="0" indent="-228918" algn="just" rtl="0">
              <a:lnSpc>
                <a:spcPct val="80000"/>
              </a:lnSpc>
              <a:spcBef>
                <a:spcPts val="1200"/>
              </a:spcBef>
              <a:spcAft>
                <a:spcPts val="0"/>
              </a:spcAft>
              <a:buClr>
                <a:srgbClr val="0000CC"/>
              </a:buClr>
              <a:buSzPts val="2980"/>
              <a:buFont typeface="Arial"/>
              <a:buChar char="•"/>
            </a:pPr>
            <a:r>
              <a:rPr lang="en-US" sz="2640">
                <a:solidFill>
                  <a:srgbClr val="FF0000"/>
                </a:solidFill>
              </a:rPr>
              <a:t>No advance setup </a:t>
            </a:r>
            <a:r>
              <a:rPr lang="en-US" sz="2640"/>
              <a:t>is needed.</a:t>
            </a:r>
            <a:endParaRPr sz="2640"/>
          </a:p>
          <a:p>
            <a:pPr marL="228600" lvl="0" indent="-232728" algn="just" rtl="0">
              <a:lnSpc>
                <a:spcPct val="80000"/>
              </a:lnSpc>
              <a:spcBef>
                <a:spcPts val="1200"/>
              </a:spcBef>
              <a:spcAft>
                <a:spcPts val="0"/>
              </a:spcAft>
              <a:buClr>
                <a:srgbClr val="0000CC"/>
              </a:buClr>
              <a:buSzPts val="2640"/>
              <a:buFont typeface="Arial"/>
              <a:buChar char="•"/>
            </a:pPr>
            <a:r>
              <a:rPr lang="en-US" sz="2640"/>
              <a:t>In this, the </a:t>
            </a:r>
            <a:r>
              <a:rPr lang="en-US" sz="2640" b="1"/>
              <a:t>packets</a:t>
            </a:r>
            <a:r>
              <a:rPr lang="en-US" sz="2640"/>
              <a:t> are frequently called </a:t>
            </a:r>
            <a:r>
              <a:rPr lang="en-US" sz="2640" b="1">
                <a:solidFill>
                  <a:srgbClr val="FF0000"/>
                </a:solidFill>
              </a:rPr>
              <a:t>datagrams</a:t>
            </a:r>
            <a:r>
              <a:rPr lang="en-US" sz="2640">
                <a:solidFill>
                  <a:srgbClr val="FF0000"/>
                </a:solidFill>
              </a:rPr>
              <a:t> </a:t>
            </a:r>
            <a:r>
              <a:rPr lang="en-US" sz="2640"/>
              <a:t>and the</a:t>
            </a:r>
            <a:r>
              <a:rPr lang="en-US" sz="2640" b="1"/>
              <a:t> subnet </a:t>
            </a:r>
            <a:r>
              <a:rPr lang="en-US" sz="2640"/>
              <a:t>is called a </a:t>
            </a:r>
            <a:r>
              <a:rPr lang="en-US" sz="2640" b="1">
                <a:solidFill>
                  <a:srgbClr val="FF0000"/>
                </a:solidFill>
              </a:rPr>
              <a:t>datagram subnet</a:t>
            </a:r>
            <a:r>
              <a:rPr lang="en-US" sz="2640"/>
              <a:t>.</a:t>
            </a:r>
            <a:endParaRPr sz="2980"/>
          </a:p>
          <a:p>
            <a:pPr marL="228600" lvl="0" indent="-243840" algn="just" rtl="0">
              <a:lnSpc>
                <a:spcPct val="80000"/>
              </a:lnSpc>
              <a:spcBef>
                <a:spcPts val="1200"/>
              </a:spcBef>
              <a:spcAft>
                <a:spcPts val="0"/>
              </a:spcAft>
              <a:buClr>
                <a:schemeClr val="dk1"/>
              </a:buClr>
              <a:buSzPts val="2640"/>
              <a:buChar char="•"/>
            </a:pPr>
            <a:r>
              <a:rPr lang="en-US" sz="2640"/>
              <a:t>Suppose that the </a:t>
            </a:r>
            <a:r>
              <a:rPr lang="en-US" sz="2640" b="1"/>
              <a:t>process </a:t>
            </a:r>
            <a:r>
              <a:rPr lang="en-US" sz="2640" b="1" i="1"/>
              <a:t>P1 </a:t>
            </a:r>
            <a:r>
              <a:rPr lang="en-US" sz="2640"/>
              <a:t>has a </a:t>
            </a:r>
            <a:r>
              <a:rPr lang="en-US" sz="2640">
                <a:solidFill>
                  <a:srgbClr val="FF0000"/>
                </a:solidFill>
              </a:rPr>
              <a:t>long message</a:t>
            </a:r>
            <a:r>
              <a:rPr lang="en-US" sz="2640"/>
              <a:t> for </a:t>
            </a:r>
            <a:r>
              <a:rPr lang="en-US" sz="2640" b="1" i="1"/>
              <a:t>P2</a:t>
            </a:r>
            <a:r>
              <a:rPr lang="en-US" sz="2640" i="1"/>
              <a:t>.</a:t>
            </a:r>
            <a:endParaRPr sz="2980"/>
          </a:p>
          <a:p>
            <a:pPr marL="228600" lvl="0" indent="-243840" algn="just" rtl="0">
              <a:lnSpc>
                <a:spcPct val="80000"/>
              </a:lnSpc>
              <a:spcBef>
                <a:spcPts val="1200"/>
              </a:spcBef>
              <a:spcAft>
                <a:spcPts val="0"/>
              </a:spcAft>
              <a:buClr>
                <a:schemeClr val="dk1"/>
              </a:buClr>
              <a:buSzPts val="2640"/>
              <a:buChar char="•"/>
            </a:pPr>
            <a:r>
              <a:rPr lang="en-US" sz="2640"/>
              <a:t>The </a:t>
            </a:r>
            <a:r>
              <a:rPr lang="en-US" sz="2640">
                <a:solidFill>
                  <a:srgbClr val="FF0000"/>
                </a:solidFill>
              </a:rPr>
              <a:t>message is four times longer </a:t>
            </a:r>
            <a:r>
              <a:rPr lang="en-US" sz="2640"/>
              <a:t>than the </a:t>
            </a:r>
            <a:r>
              <a:rPr lang="en-US" sz="2640" b="1"/>
              <a:t>maximum packet size</a:t>
            </a:r>
            <a:r>
              <a:rPr lang="en-US" sz="2640"/>
              <a:t>, so the </a:t>
            </a:r>
            <a:r>
              <a:rPr lang="en-US" sz="2640" b="1"/>
              <a:t>network layer </a:t>
            </a:r>
            <a:r>
              <a:rPr lang="en-US" sz="2640"/>
              <a:t>has to </a:t>
            </a:r>
            <a:r>
              <a:rPr lang="en-US" sz="2640">
                <a:solidFill>
                  <a:srgbClr val="00B050"/>
                </a:solidFill>
              </a:rPr>
              <a:t>break it into four packets, 1, 2,3,4</a:t>
            </a:r>
            <a:r>
              <a:rPr lang="en-US" sz="2640"/>
              <a:t>.</a:t>
            </a:r>
            <a:endParaRPr sz="2980"/>
          </a:p>
          <a:p>
            <a:pPr marL="228600" lvl="0" indent="-243840" algn="just" rtl="0">
              <a:lnSpc>
                <a:spcPct val="80000"/>
              </a:lnSpc>
              <a:spcBef>
                <a:spcPts val="1200"/>
              </a:spcBef>
              <a:spcAft>
                <a:spcPts val="0"/>
              </a:spcAft>
              <a:buClr>
                <a:schemeClr val="dk1"/>
              </a:buClr>
              <a:buSzPts val="2640"/>
              <a:buChar char="•"/>
            </a:pPr>
            <a:r>
              <a:rPr lang="en-US" sz="2640"/>
              <a:t>Send each of them in turn to router </a:t>
            </a:r>
            <a:r>
              <a:rPr lang="en-US" sz="2640" i="1"/>
              <a:t>A using some </a:t>
            </a:r>
            <a:r>
              <a:rPr lang="en-US" sz="2640" b="1" i="1"/>
              <a:t>point-to-point protocol</a:t>
            </a:r>
            <a:r>
              <a:rPr lang="en-US" sz="2640" i="1"/>
              <a:t>.</a:t>
            </a:r>
            <a:endParaRPr sz="2980"/>
          </a:p>
          <a:p>
            <a:pPr marL="228600" lvl="0" indent="-50800" algn="l" rtl="0">
              <a:lnSpc>
                <a:spcPct val="70000"/>
              </a:lnSpc>
              <a:spcBef>
                <a:spcPts val="1000"/>
              </a:spcBef>
              <a:spcAft>
                <a:spcPts val="0"/>
              </a:spcAft>
              <a:buClr>
                <a:schemeClr val="dk1"/>
              </a:buClr>
              <a:buSzPts val="2380"/>
              <a:buNone/>
            </a:pPr>
            <a:endParaRPr sz="2980"/>
          </a:p>
          <a:p>
            <a:pPr marL="228600" lvl="0" indent="-50800" algn="l" rtl="0">
              <a:lnSpc>
                <a:spcPct val="70000"/>
              </a:lnSpc>
              <a:spcBef>
                <a:spcPts val="1000"/>
              </a:spcBef>
              <a:spcAft>
                <a:spcPts val="0"/>
              </a:spcAft>
              <a:buClr>
                <a:schemeClr val="dk1"/>
              </a:buClr>
              <a:buSzPts val="2380"/>
              <a:buNone/>
            </a:pPr>
            <a:endParaRPr sz="2980"/>
          </a:p>
          <a:p>
            <a:pPr marL="228600" lvl="0" indent="-50800" algn="l" rtl="0">
              <a:lnSpc>
                <a:spcPct val="70000"/>
              </a:lnSpc>
              <a:spcBef>
                <a:spcPts val="1000"/>
              </a:spcBef>
              <a:spcAft>
                <a:spcPts val="0"/>
              </a:spcAft>
              <a:buClr>
                <a:schemeClr val="dk1"/>
              </a:buClr>
              <a:buSzPts val="2380"/>
              <a:buNone/>
            </a:pPr>
            <a:endParaRPr sz="2980"/>
          </a:p>
          <a:p>
            <a:pPr marL="228600" lvl="0" indent="-50800" algn="l" rtl="0">
              <a:lnSpc>
                <a:spcPct val="70000"/>
              </a:lnSpc>
              <a:spcBef>
                <a:spcPts val="1000"/>
              </a:spcBef>
              <a:spcAft>
                <a:spcPts val="0"/>
              </a:spcAft>
              <a:buClr>
                <a:schemeClr val="dk1"/>
              </a:buClr>
              <a:buSzPts val="2380"/>
              <a:buNone/>
            </a:pPr>
            <a:endParaRPr sz="2980"/>
          </a:p>
          <a:p>
            <a:pPr marL="228600" lvl="0" indent="-50800" algn="l" rtl="0">
              <a:lnSpc>
                <a:spcPct val="70000"/>
              </a:lnSpc>
              <a:spcBef>
                <a:spcPts val="1000"/>
              </a:spcBef>
              <a:spcAft>
                <a:spcPts val="0"/>
              </a:spcAft>
              <a:buClr>
                <a:schemeClr val="dk1"/>
              </a:buClr>
              <a:buSzPts val="2380"/>
              <a:buNone/>
            </a:pPr>
            <a:endParaRPr sz="2980"/>
          </a:p>
        </p:txBody>
      </p:sp>
      <p:sp>
        <p:nvSpPr>
          <p:cNvPr id="138" name="Google Shape;138;p8"/>
          <p:cNvSpPr txBox="1"/>
          <p:nvPr/>
        </p:nvSpPr>
        <p:spPr>
          <a:xfrm>
            <a:off x="7029831" y="6386587"/>
            <a:ext cx="4719955" cy="32060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0" i="0" u="none" strike="noStrike" cap="none">
                <a:solidFill>
                  <a:schemeClr val="dk1"/>
                </a:solidFill>
                <a:latin typeface="Arial"/>
                <a:ea typeface="Arial"/>
                <a:cs typeface="Arial"/>
                <a:sym typeface="Arial"/>
              </a:rPr>
              <a:t>Routing within a datagram subnet</a:t>
            </a:r>
            <a:endParaRPr sz="2000" b="0" i="0" u="none" strike="noStrike" cap="none">
              <a:solidFill>
                <a:schemeClr val="dk1"/>
              </a:solidFill>
              <a:latin typeface="Arial"/>
              <a:ea typeface="Arial"/>
              <a:cs typeface="Arial"/>
              <a:sym typeface="Arial"/>
            </a:endParaRPr>
          </a:p>
        </p:txBody>
      </p:sp>
      <p:pic>
        <p:nvPicPr>
          <p:cNvPr id="139" name="Google Shape;139;p8" descr="5-02"/>
          <p:cNvPicPr preferRelativeResize="0"/>
          <p:nvPr/>
        </p:nvPicPr>
        <p:blipFill rotWithShape="1">
          <a:blip r:embed="rId4">
            <a:alphaModFix/>
          </a:blip>
          <a:srcRect/>
          <a:stretch/>
        </p:blipFill>
        <p:spPr>
          <a:xfrm>
            <a:off x="6589225" y="1051850"/>
            <a:ext cx="5696276" cy="52462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body" idx="1"/>
          </p:nvPr>
        </p:nvSpPr>
        <p:spPr>
          <a:xfrm>
            <a:off x="149901" y="1049300"/>
            <a:ext cx="5974500" cy="58086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t>Every </a:t>
            </a:r>
            <a:r>
              <a:rPr lang="en-US">
                <a:solidFill>
                  <a:srgbClr val="FF0000"/>
                </a:solidFill>
              </a:rPr>
              <a:t>router</a:t>
            </a:r>
            <a:r>
              <a:rPr lang="en-US"/>
              <a:t> has an </a:t>
            </a:r>
            <a:r>
              <a:rPr lang="en-US" b="1"/>
              <a:t>internal table telling (</a:t>
            </a:r>
            <a:r>
              <a:rPr lang="en-US"/>
              <a:t>possible destinations). </a:t>
            </a:r>
            <a:endParaRPr/>
          </a:p>
          <a:p>
            <a:pPr marL="228600" lvl="0" indent="-228600" algn="just" rtl="0">
              <a:lnSpc>
                <a:spcPct val="90000"/>
              </a:lnSpc>
              <a:spcBef>
                <a:spcPts val="1000"/>
              </a:spcBef>
              <a:spcAft>
                <a:spcPts val="0"/>
              </a:spcAft>
              <a:buClr>
                <a:schemeClr val="dk1"/>
              </a:buClr>
              <a:buSzPts val="2800"/>
              <a:buChar char="•"/>
            </a:pPr>
            <a:r>
              <a:rPr lang="en-US"/>
              <a:t>Each </a:t>
            </a:r>
            <a:r>
              <a:rPr lang="en-US">
                <a:solidFill>
                  <a:srgbClr val="FF0000"/>
                </a:solidFill>
              </a:rPr>
              <a:t>table entry </a:t>
            </a:r>
            <a:r>
              <a:rPr lang="en-US"/>
              <a:t>is a pair consisting of a </a:t>
            </a:r>
            <a:r>
              <a:rPr lang="en-US">
                <a:solidFill>
                  <a:srgbClr val="00B050"/>
                </a:solidFill>
              </a:rPr>
              <a:t>destination</a:t>
            </a:r>
            <a:r>
              <a:rPr lang="en-US"/>
              <a:t> and the </a:t>
            </a:r>
            <a:r>
              <a:rPr lang="en-US">
                <a:solidFill>
                  <a:srgbClr val="00B050"/>
                </a:solidFill>
              </a:rPr>
              <a:t>outgoing line </a:t>
            </a:r>
            <a:r>
              <a:rPr lang="en-US"/>
              <a:t>to </a:t>
            </a:r>
            <a:r>
              <a:rPr lang="en-US" b="1"/>
              <a:t>use for that destination</a:t>
            </a:r>
            <a:r>
              <a:rPr lang="en-US"/>
              <a:t>. </a:t>
            </a:r>
            <a:endParaRPr/>
          </a:p>
          <a:p>
            <a:pPr marL="228600" lvl="0" indent="-228600" algn="just" rtl="0">
              <a:lnSpc>
                <a:spcPct val="90000"/>
              </a:lnSpc>
              <a:spcBef>
                <a:spcPts val="1000"/>
              </a:spcBef>
              <a:spcAft>
                <a:spcPts val="0"/>
              </a:spcAft>
              <a:buClr>
                <a:schemeClr val="dk1"/>
              </a:buClr>
              <a:buSzPts val="2800"/>
              <a:buChar char="•"/>
            </a:pPr>
            <a:r>
              <a:rPr lang="en-US"/>
              <a:t>Only </a:t>
            </a:r>
            <a:r>
              <a:rPr lang="en-US">
                <a:solidFill>
                  <a:srgbClr val="FF0000"/>
                </a:solidFill>
              </a:rPr>
              <a:t>directly connected lines </a:t>
            </a:r>
            <a:r>
              <a:rPr lang="en-US"/>
              <a:t>can be used. </a:t>
            </a:r>
            <a:endParaRPr/>
          </a:p>
          <a:p>
            <a:pPr marL="228600" lvl="0" indent="-228600" algn="just" rtl="0">
              <a:lnSpc>
                <a:spcPct val="90000"/>
              </a:lnSpc>
              <a:spcBef>
                <a:spcPts val="1000"/>
              </a:spcBef>
              <a:spcAft>
                <a:spcPts val="0"/>
              </a:spcAft>
              <a:buClr>
                <a:schemeClr val="dk1"/>
              </a:buClr>
              <a:buSzPts val="2800"/>
              <a:buChar char="•"/>
            </a:pPr>
            <a:r>
              <a:rPr lang="en-US" i="1"/>
              <a:t>A has only two outgoing lines—to B and to C</a:t>
            </a:r>
            <a:endParaRPr/>
          </a:p>
          <a:p>
            <a:pPr marL="228600" lvl="0" indent="-228600" algn="just" rtl="0">
              <a:lnSpc>
                <a:spcPct val="90000"/>
              </a:lnSpc>
              <a:spcBef>
                <a:spcPts val="1000"/>
              </a:spcBef>
              <a:spcAft>
                <a:spcPts val="0"/>
              </a:spcAft>
              <a:buClr>
                <a:schemeClr val="dk1"/>
              </a:buClr>
              <a:buSzPts val="2800"/>
              <a:buChar char="•"/>
            </a:pPr>
            <a:r>
              <a:rPr lang="en-US"/>
              <a:t>The </a:t>
            </a:r>
            <a:r>
              <a:rPr lang="en-US" b="1"/>
              <a:t>algorithm</a:t>
            </a:r>
            <a:r>
              <a:rPr lang="en-US"/>
              <a:t> that </a:t>
            </a:r>
            <a:r>
              <a:rPr lang="en-US">
                <a:solidFill>
                  <a:srgbClr val="00B050"/>
                </a:solidFill>
              </a:rPr>
              <a:t>manages the tables and makes the routing decisions </a:t>
            </a:r>
            <a:r>
              <a:rPr lang="en-US"/>
              <a:t>is called the </a:t>
            </a:r>
            <a:r>
              <a:rPr lang="en-US" b="1">
                <a:solidFill>
                  <a:srgbClr val="FF0000"/>
                </a:solidFill>
              </a:rPr>
              <a:t>routing algorithm</a:t>
            </a:r>
            <a:r>
              <a:rPr lang="en-US"/>
              <a:t>.</a:t>
            </a:r>
            <a:endParaRPr/>
          </a:p>
          <a:p>
            <a:pPr marL="228600" lvl="0" indent="-50800" algn="l" rtl="0">
              <a:lnSpc>
                <a:spcPct val="90000"/>
              </a:lnSpc>
              <a:spcBef>
                <a:spcPts val="1000"/>
              </a:spcBef>
              <a:spcAft>
                <a:spcPts val="0"/>
              </a:spcAft>
              <a:buClr>
                <a:schemeClr val="dk1"/>
              </a:buClr>
              <a:buSzPts val="2800"/>
              <a:buNone/>
            </a:pPr>
            <a:endParaRPr/>
          </a:p>
        </p:txBody>
      </p:sp>
      <p:sp>
        <p:nvSpPr>
          <p:cNvPr id="145" name="Google Shape;145;p9"/>
          <p:cNvSpPr txBox="1">
            <a:spLocks noGrp="1"/>
          </p:cNvSpPr>
          <p:nvPr>
            <p:ph type="title"/>
          </p:nvPr>
        </p:nvSpPr>
        <p:spPr>
          <a:xfrm>
            <a:off x="139700" y="42770"/>
            <a:ext cx="10515600" cy="41581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3600"/>
              <a:buFont typeface="Times New Roman"/>
              <a:buNone/>
            </a:pPr>
            <a:r>
              <a:rPr lang="en-US" sz="3600" b="1" i="0" u="none" strike="noStrike">
                <a:latin typeface="Times New Roman"/>
                <a:ea typeface="Times New Roman"/>
                <a:cs typeface="Times New Roman"/>
                <a:sym typeface="Times New Roman"/>
              </a:rPr>
              <a:t>Implementation of Connectionless Service Conti..</a:t>
            </a:r>
            <a:endParaRPr/>
          </a:p>
        </p:txBody>
      </p:sp>
      <p:pic>
        <p:nvPicPr>
          <p:cNvPr id="146" name="Google Shape;146;p9" descr="5-02"/>
          <p:cNvPicPr preferRelativeResize="0"/>
          <p:nvPr/>
        </p:nvPicPr>
        <p:blipFill rotWithShape="1">
          <a:blip r:embed="rId3">
            <a:alphaModFix/>
          </a:blip>
          <a:srcRect/>
          <a:stretch/>
        </p:blipFill>
        <p:spPr>
          <a:xfrm>
            <a:off x="6584525" y="821650"/>
            <a:ext cx="5607476" cy="5700175"/>
          </a:xfrm>
          <a:prstGeom prst="rect">
            <a:avLst/>
          </a:prstGeom>
          <a:noFill/>
          <a:ln>
            <a:noFill/>
          </a:ln>
        </p:spPr>
      </p:pic>
      <p:sp>
        <p:nvSpPr>
          <p:cNvPr id="147" name="Google Shape;147;p9"/>
          <p:cNvSpPr txBox="1"/>
          <p:nvPr/>
        </p:nvSpPr>
        <p:spPr>
          <a:xfrm>
            <a:off x="7016384" y="6521824"/>
            <a:ext cx="4719955" cy="32060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b="0" i="0" u="none" strike="noStrike" cap="none">
                <a:solidFill>
                  <a:schemeClr val="dk1"/>
                </a:solidFill>
                <a:latin typeface="Arial"/>
                <a:ea typeface="Arial"/>
                <a:cs typeface="Arial"/>
                <a:sym typeface="Arial"/>
              </a:rPr>
              <a:t>Routing within a datagram subnet</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264724" y="241900"/>
            <a:ext cx="11263500" cy="597600"/>
          </a:xfrm>
          <a:prstGeom prst="rect">
            <a:avLst/>
          </a:prstGeom>
          <a:noFill/>
          <a:ln>
            <a:noFill/>
          </a:ln>
        </p:spPr>
        <p:txBody>
          <a:bodyPr spcFirstLastPara="1" wrap="square" lIns="0" tIns="12700" rIns="0" bIns="0" anchor="ctr" anchorCtr="0">
            <a:spAutoFit/>
          </a:bodyPr>
          <a:lstStyle/>
          <a:p>
            <a:pPr marL="12700" marR="5080" lvl="0" indent="743585" algn="l" rtl="0">
              <a:lnSpc>
                <a:spcPct val="100000"/>
              </a:lnSpc>
              <a:spcBef>
                <a:spcPts val="0"/>
              </a:spcBef>
              <a:spcAft>
                <a:spcPts val="0"/>
              </a:spcAft>
              <a:buClr>
                <a:schemeClr val="dk1"/>
              </a:buClr>
              <a:buSzPts val="3200"/>
              <a:buFont typeface="Calibri"/>
              <a:buNone/>
            </a:pPr>
            <a:r>
              <a:rPr lang="en-US" sz="3800" b="1" dirty="0"/>
              <a:t>Implementation of  </a:t>
            </a:r>
            <a:r>
              <a:rPr lang="en-US" sz="3800" b="1" dirty="0">
                <a:hlinkClick r:id="rId3" action="ppaction://hlinksldjump"/>
              </a:rPr>
              <a:t>Connection-Oriented Service</a:t>
            </a:r>
            <a:endParaRPr sz="3800" b="1" dirty="0"/>
          </a:p>
        </p:txBody>
      </p:sp>
      <p:sp>
        <p:nvSpPr>
          <p:cNvPr id="153" name="Google Shape;153;p10"/>
          <p:cNvSpPr txBox="1"/>
          <p:nvPr/>
        </p:nvSpPr>
        <p:spPr>
          <a:xfrm>
            <a:off x="6788504" y="5999468"/>
            <a:ext cx="5146675" cy="39116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Routing within a virtual-circuit network</a:t>
            </a:r>
            <a:endParaRPr sz="2400" b="0" i="0" u="none" strike="noStrike" cap="none">
              <a:solidFill>
                <a:schemeClr val="dk1"/>
              </a:solidFill>
              <a:latin typeface="Arial"/>
              <a:ea typeface="Arial"/>
              <a:cs typeface="Arial"/>
              <a:sym typeface="Arial"/>
            </a:endParaRPr>
          </a:p>
        </p:txBody>
      </p:sp>
      <p:sp>
        <p:nvSpPr>
          <p:cNvPr id="154" name="Google Shape;154;p10"/>
          <p:cNvSpPr/>
          <p:nvPr/>
        </p:nvSpPr>
        <p:spPr>
          <a:xfrm>
            <a:off x="6563525" y="1128100"/>
            <a:ext cx="5628475" cy="296347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10"/>
          <p:cNvSpPr txBox="1"/>
          <p:nvPr/>
        </p:nvSpPr>
        <p:spPr>
          <a:xfrm>
            <a:off x="9982974" y="793600"/>
            <a:ext cx="1315085" cy="226985"/>
          </a:xfrm>
          <a:prstGeom prst="rect">
            <a:avLst/>
          </a:prstGeom>
          <a:noFill/>
          <a:ln>
            <a:noFill/>
          </a:ln>
        </p:spPr>
        <p:txBody>
          <a:bodyPr spcFirstLastPara="1" wrap="square" lIns="0" tIns="11425" rIns="0" bIns="0" anchor="t" anchorCtr="0">
            <a:spAutoFit/>
          </a:bodyPr>
          <a:lstStyle/>
          <a:p>
            <a:pPr marL="12700" marR="0" lvl="0" indent="0" algn="l" rtl="0">
              <a:spcBef>
                <a:spcPts val="0"/>
              </a:spcBef>
              <a:spcAft>
                <a:spcPts val="0"/>
              </a:spcAft>
              <a:buNone/>
            </a:pPr>
            <a:r>
              <a:rPr lang="en-US" sz="1400">
                <a:solidFill>
                  <a:schemeClr val="dk1"/>
                </a:solidFill>
                <a:latin typeface="Arial"/>
                <a:ea typeface="Arial"/>
                <a:cs typeface="Arial"/>
                <a:sym typeface="Arial"/>
              </a:rPr>
              <a:t>ISP’s equipment</a:t>
            </a:r>
            <a:endParaRPr sz="1400">
              <a:solidFill>
                <a:schemeClr val="dk1"/>
              </a:solidFill>
              <a:latin typeface="Arial"/>
              <a:ea typeface="Arial"/>
              <a:cs typeface="Arial"/>
              <a:sym typeface="Arial"/>
            </a:endParaRPr>
          </a:p>
        </p:txBody>
      </p:sp>
      <p:sp>
        <p:nvSpPr>
          <p:cNvPr id="156" name="Google Shape;156;p10"/>
          <p:cNvSpPr/>
          <p:nvPr/>
        </p:nvSpPr>
        <p:spPr>
          <a:xfrm>
            <a:off x="6552835" y="4892456"/>
            <a:ext cx="5382344" cy="8001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7" name="Google Shape;157;p10"/>
          <p:cNvSpPr txBox="1"/>
          <p:nvPr/>
        </p:nvSpPr>
        <p:spPr>
          <a:xfrm>
            <a:off x="6933692" y="4447858"/>
            <a:ext cx="644525" cy="212238"/>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1300">
                <a:solidFill>
                  <a:schemeClr val="dk1"/>
                </a:solidFill>
                <a:latin typeface="Arial"/>
                <a:ea typeface="Arial"/>
                <a:cs typeface="Arial"/>
                <a:sym typeface="Arial"/>
              </a:rPr>
              <a:t>A’s table</a:t>
            </a:r>
            <a:endParaRPr/>
          </a:p>
        </p:txBody>
      </p:sp>
      <p:sp>
        <p:nvSpPr>
          <p:cNvPr id="158" name="Google Shape;158;p10"/>
          <p:cNvSpPr txBox="1"/>
          <p:nvPr/>
        </p:nvSpPr>
        <p:spPr>
          <a:xfrm>
            <a:off x="9022247" y="4426077"/>
            <a:ext cx="699135" cy="212238"/>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1300">
                <a:solidFill>
                  <a:schemeClr val="dk1"/>
                </a:solidFill>
                <a:latin typeface="Arial"/>
                <a:ea typeface="Arial"/>
                <a:cs typeface="Arial"/>
                <a:sym typeface="Arial"/>
              </a:rPr>
              <a:t>C’s Table</a:t>
            </a:r>
            <a:endParaRPr sz="1300">
              <a:solidFill>
                <a:schemeClr val="dk1"/>
              </a:solidFill>
              <a:latin typeface="Arial"/>
              <a:ea typeface="Arial"/>
              <a:cs typeface="Arial"/>
              <a:sym typeface="Arial"/>
            </a:endParaRPr>
          </a:p>
        </p:txBody>
      </p:sp>
      <p:sp>
        <p:nvSpPr>
          <p:cNvPr id="159" name="Google Shape;159;p10"/>
          <p:cNvSpPr txBox="1"/>
          <p:nvPr/>
        </p:nvSpPr>
        <p:spPr>
          <a:xfrm>
            <a:off x="10952937" y="4323937"/>
            <a:ext cx="690245" cy="212238"/>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1300">
                <a:solidFill>
                  <a:schemeClr val="dk1"/>
                </a:solidFill>
                <a:latin typeface="Arial"/>
                <a:ea typeface="Arial"/>
                <a:cs typeface="Arial"/>
                <a:sym typeface="Arial"/>
              </a:rPr>
              <a:t>E’s Table</a:t>
            </a:r>
            <a:endParaRPr sz="1300">
              <a:solidFill>
                <a:schemeClr val="dk1"/>
              </a:solidFill>
              <a:latin typeface="Arial"/>
              <a:ea typeface="Arial"/>
              <a:cs typeface="Arial"/>
              <a:sym typeface="Arial"/>
            </a:endParaRPr>
          </a:p>
        </p:txBody>
      </p:sp>
      <p:sp>
        <p:nvSpPr>
          <p:cNvPr id="160" name="Google Shape;160;p10"/>
          <p:cNvSpPr/>
          <p:nvPr/>
        </p:nvSpPr>
        <p:spPr>
          <a:xfrm>
            <a:off x="-126225" y="1337922"/>
            <a:ext cx="6280800" cy="5647800"/>
          </a:xfrm>
          <a:prstGeom prst="rect">
            <a:avLst/>
          </a:prstGeom>
          <a:noFill/>
          <a:ln>
            <a:noFill/>
          </a:ln>
        </p:spPr>
        <p:txBody>
          <a:bodyPr spcFirstLastPara="1" wrap="square" lIns="91425" tIns="45700" rIns="91425" bIns="45700" anchor="t" anchorCtr="0">
            <a:spAutoFit/>
          </a:bodyPr>
          <a:lstStyle/>
          <a:p>
            <a:pPr marL="356870" marR="5080" lvl="0" indent="-344805" algn="just" rtl="0">
              <a:spcBef>
                <a:spcPts val="0"/>
              </a:spcBef>
              <a:spcAft>
                <a:spcPts val="0"/>
              </a:spcAft>
              <a:buClr>
                <a:srgbClr val="0000CC"/>
              </a:buClr>
              <a:buSzPts val="2800"/>
              <a:buFont typeface="Arial"/>
              <a:buChar char="•"/>
            </a:pPr>
            <a:r>
              <a:rPr lang="en-US" sz="2800" b="1">
                <a:solidFill>
                  <a:schemeClr val="dk1"/>
                </a:solidFill>
                <a:latin typeface="Calibri"/>
                <a:ea typeface="Calibri"/>
                <a:cs typeface="Calibri"/>
                <a:sym typeface="Calibri"/>
              </a:rPr>
              <a:t>A </a:t>
            </a:r>
            <a:r>
              <a:rPr lang="en-US" sz="2800" b="1">
                <a:solidFill>
                  <a:srgbClr val="FF0000"/>
                </a:solidFill>
                <a:latin typeface="Calibri"/>
                <a:ea typeface="Calibri"/>
                <a:cs typeface="Calibri"/>
                <a:sym typeface="Calibri"/>
              </a:rPr>
              <a:t>path</a:t>
            </a:r>
            <a:r>
              <a:rPr lang="en-US" sz="2800">
                <a:solidFill>
                  <a:schemeClr val="dk1"/>
                </a:solidFill>
                <a:latin typeface="Calibri"/>
                <a:ea typeface="Calibri"/>
                <a:cs typeface="Calibri"/>
                <a:sym typeface="Calibri"/>
              </a:rPr>
              <a:t> from the  </a:t>
            </a:r>
            <a:r>
              <a:rPr lang="en-US" sz="2800">
                <a:solidFill>
                  <a:srgbClr val="00B050"/>
                </a:solidFill>
                <a:latin typeface="Calibri"/>
                <a:ea typeface="Calibri"/>
                <a:cs typeface="Calibri"/>
                <a:sym typeface="Calibri"/>
              </a:rPr>
              <a:t>source router to the destination router </a:t>
            </a:r>
            <a:r>
              <a:rPr lang="en-US" sz="2800">
                <a:solidFill>
                  <a:schemeClr val="dk1"/>
                </a:solidFill>
                <a:latin typeface="Calibri"/>
                <a:ea typeface="Calibri"/>
                <a:cs typeface="Calibri"/>
                <a:sym typeface="Calibri"/>
              </a:rPr>
              <a:t>must be  established before any data packets can be sent.</a:t>
            </a:r>
            <a:endParaRPr sz="2800">
              <a:solidFill>
                <a:schemeClr val="dk1"/>
              </a:solidFill>
              <a:latin typeface="Calibri"/>
              <a:ea typeface="Calibri"/>
              <a:cs typeface="Calibri"/>
              <a:sym typeface="Calibri"/>
            </a:endParaRPr>
          </a:p>
          <a:p>
            <a:pPr marL="356870" marR="5715" lvl="0" indent="-344805" algn="just" rtl="0">
              <a:spcBef>
                <a:spcPts val="1200"/>
              </a:spcBef>
              <a:spcAft>
                <a:spcPts val="0"/>
              </a:spcAft>
              <a:buClr>
                <a:srgbClr val="0000CC"/>
              </a:buClr>
              <a:buSzPts val="2800"/>
              <a:buFont typeface="Arial"/>
              <a:buChar char="•"/>
            </a:pPr>
            <a:r>
              <a:rPr lang="en-US" sz="2800">
                <a:solidFill>
                  <a:schemeClr val="dk1"/>
                </a:solidFill>
                <a:latin typeface="Calibri"/>
                <a:ea typeface="Calibri"/>
                <a:cs typeface="Calibri"/>
                <a:sym typeface="Calibri"/>
              </a:rPr>
              <a:t>This connection is called a </a:t>
            </a:r>
            <a:r>
              <a:rPr lang="en-US" sz="2800">
                <a:solidFill>
                  <a:srgbClr val="FF0000"/>
                </a:solidFill>
                <a:latin typeface="Calibri"/>
                <a:ea typeface="Calibri"/>
                <a:cs typeface="Calibri"/>
                <a:sym typeface="Calibri"/>
              </a:rPr>
              <a:t>VC (virtual circuit</a:t>
            </a:r>
            <a:r>
              <a:rPr lang="en-US" sz="2800">
                <a:solidFill>
                  <a:schemeClr val="dk1"/>
                </a:solidFill>
                <a:latin typeface="Calibri"/>
                <a:ea typeface="Calibri"/>
                <a:cs typeface="Calibri"/>
                <a:sym typeface="Calibri"/>
              </a:rPr>
              <a:t>), (eg. telephone  system) and the </a:t>
            </a:r>
            <a:r>
              <a:rPr lang="en-US" sz="2800">
                <a:solidFill>
                  <a:srgbClr val="FF0000"/>
                </a:solidFill>
                <a:latin typeface="Calibri"/>
                <a:ea typeface="Calibri"/>
                <a:cs typeface="Calibri"/>
                <a:sym typeface="Calibri"/>
              </a:rPr>
              <a:t>subnet </a:t>
            </a:r>
            <a:r>
              <a:rPr lang="en-US" sz="2800">
                <a:solidFill>
                  <a:schemeClr val="dk1"/>
                </a:solidFill>
                <a:latin typeface="Calibri"/>
                <a:ea typeface="Calibri"/>
                <a:cs typeface="Calibri"/>
                <a:sym typeface="Calibri"/>
              </a:rPr>
              <a:t>is called a </a:t>
            </a:r>
            <a:r>
              <a:rPr lang="en-US" sz="2800">
                <a:solidFill>
                  <a:srgbClr val="FF0000"/>
                </a:solidFill>
                <a:latin typeface="Calibri"/>
                <a:ea typeface="Calibri"/>
                <a:cs typeface="Calibri"/>
                <a:sym typeface="Calibri"/>
              </a:rPr>
              <a:t>virtual-circuit subnet.</a:t>
            </a:r>
            <a:endParaRPr/>
          </a:p>
          <a:p>
            <a:pPr marL="356870" marR="5715" lvl="0" indent="-344805" algn="just" rtl="0">
              <a:spcBef>
                <a:spcPts val="1200"/>
              </a:spcBef>
              <a:spcAft>
                <a:spcPts val="0"/>
              </a:spcAft>
              <a:buClr>
                <a:srgbClr val="0000CC"/>
              </a:buClr>
              <a:buSzPts val="2800"/>
              <a:buFont typeface="Arial"/>
              <a:buChar char="•"/>
            </a:pPr>
            <a:r>
              <a:rPr lang="en-US" sz="2800">
                <a:solidFill>
                  <a:schemeClr val="dk1"/>
                </a:solidFill>
                <a:latin typeface="Calibri"/>
                <a:ea typeface="Calibri"/>
                <a:cs typeface="Calibri"/>
                <a:sym typeface="Calibri"/>
              </a:rPr>
              <a:t>The </a:t>
            </a:r>
            <a:r>
              <a:rPr lang="en-US" sz="2800" b="1">
                <a:solidFill>
                  <a:schemeClr val="dk1"/>
                </a:solidFill>
                <a:latin typeface="Calibri"/>
                <a:ea typeface="Calibri"/>
                <a:cs typeface="Calibri"/>
                <a:sym typeface="Calibri"/>
              </a:rPr>
              <a:t>idea</a:t>
            </a:r>
            <a:r>
              <a:rPr lang="en-US" sz="2800">
                <a:solidFill>
                  <a:schemeClr val="dk1"/>
                </a:solidFill>
                <a:latin typeface="Calibri"/>
                <a:ea typeface="Calibri"/>
                <a:cs typeface="Calibri"/>
                <a:sym typeface="Calibri"/>
              </a:rPr>
              <a:t> behind virtual circuits is </a:t>
            </a:r>
            <a:endParaRPr/>
          </a:p>
          <a:p>
            <a:pPr marL="860425" marR="5715" lvl="0" indent="-457200" algn="just" rtl="0">
              <a:spcBef>
                <a:spcPts val="1200"/>
              </a:spcBef>
              <a:spcAft>
                <a:spcPts val="0"/>
              </a:spcAft>
              <a:buClr>
                <a:srgbClr val="0000CC"/>
              </a:buClr>
              <a:buSzPts val="2800"/>
              <a:buFont typeface="Noto Sans Symbols"/>
              <a:buChar char="✔"/>
            </a:pPr>
            <a:r>
              <a:rPr lang="en-US" sz="2800">
                <a:solidFill>
                  <a:srgbClr val="FF0000"/>
                </a:solidFill>
                <a:latin typeface="Calibri"/>
                <a:ea typeface="Calibri"/>
                <a:cs typeface="Calibri"/>
                <a:sym typeface="Calibri"/>
              </a:rPr>
              <a:t>to</a:t>
            </a:r>
            <a:r>
              <a:rPr lang="en-US" sz="2800">
                <a:solidFill>
                  <a:schemeClr val="dk1"/>
                </a:solidFill>
                <a:latin typeface="Calibri"/>
                <a:ea typeface="Calibri"/>
                <a:cs typeface="Calibri"/>
                <a:sym typeface="Calibri"/>
              </a:rPr>
              <a:t> </a:t>
            </a:r>
            <a:r>
              <a:rPr lang="en-US" sz="2800">
                <a:solidFill>
                  <a:srgbClr val="FF0000"/>
                </a:solidFill>
                <a:latin typeface="Calibri"/>
                <a:ea typeface="Calibri"/>
                <a:cs typeface="Calibri"/>
                <a:sym typeface="Calibri"/>
              </a:rPr>
              <a:t>avoid having to choose a new route for every packet sent</a:t>
            </a:r>
            <a:r>
              <a:rPr lang="en-US" sz="2800">
                <a:solidFill>
                  <a:schemeClr val="dk1"/>
                </a:solidFill>
                <a:latin typeface="Calibri"/>
                <a:ea typeface="Calibri"/>
                <a:cs typeface="Calibri"/>
                <a:sym typeface="Calibri"/>
              </a:rPr>
              <a:t>. </a:t>
            </a:r>
            <a:endParaRPr/>
          </a:p>
          <a:p>
            <a:pPr marL="356870" marR="5715" lvl="0" indent="-167005" algn="just" rtl="0">
              <a:lnSpc>
                <a:spcPct val="150000"/>
              </a:lnSpc>
              <a:spcBef>
                <a:spcPts val="575"/>
              </a:spcBef>
              <a:spcAft>
                <a:spcPts val="0"/>
              </a:spcAft>
              <a:buClr>
                <a:srgbClr val="0000CC"/>
              </a:buClr>
              <a:buSzPts val="2800"/>
              <a:buFont typeface="Arial"/>
              <a:buNone/>
            </a:pPr>
            <a:endParaRPr sz="2800">
              <a:solidFill>
                <a:srgbClr val="FF0000"/>
              </a:solidFill>
              <a:latin typeface="Calibri"/>
              <a:ea typeface="Calibri"/>
              <a:cs typeface="Calibri"/>
              <a:sym typeface="Calibri"/>
            </a:endParaRPr>
          </a:p>
          <a:p>
            <a:pPr marL="356870" marR="5715" lvl="0" indent="-230505" algn="just" rtl="0">
              <a:lnSpc>
                <a:spcPct val="150000"/>
              </a:lnSpc>
              <a:spcBef>
                <a:spcPts val="575"/>
              </a:spcBef>
              <a:spcAft>
                <a:spcPts val="0"/>
              </a:spcAft>
              <a:buClr>
                <a:srgbClr val="0000CC"/>
              </a:buClr>
              <a:buSzPts val="1800"/>
              <a:buFont typeface="Arial"/>
              <a:buNone/>
            </a:pP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body" idx="1"/>
          </p:nvPr>
        </p:nvSpPr>
        <p:spPr>
          <a:xfrm>
            <a:off x="0" y="967700"/>
            <a:ext cx="7089300" cy="5806200"/>
          </a:xfrm>
          <a:prstGeom prst="rect">
            <a:avLst/>
          </a:prstGeom>
          <a:noFill/>
          <a:ln>
            <a:noFill/>
          </a:ln>
        </p:spPr>
        <p:txBody>
          <a:bodyPr spcFirstLastPara="1" wrap="square" lIns="91425" tIns="45700" rIns="91425" bIns="45700" anchor="t" anchorCtr="0">
            <a:noAutofit/>
          </a:bodyPr>
          <a:lstStyle/>
          <a:p>
            <a:pPr marL="356870" lvl="0" indent="-376555" algn="just" rtl="0">
              <a:lnSpc>
                <a:spcPct val="80000"/>
              </a:lnSpc>
              <a:spcBef>
                <a:spcPts val="0"/>
              </a:spcBef>
              <a:spcAft>
                <a:spcPts val="0"/>
              </a:spcAft>
              <a:buClr>
                <a:srgbClr val="0000CC"/>
              </a:buClr>
              <a:buSzPts val="2900"/>
              <a:buFont typeface="Arial"/>
              <a:buChar char="●"/>
            </a:pPr>
            <a:r>
              <a:rPr lang="en-US" sz="2900"/>
              <a:t>Here, host </a:t>
            </a:r>
            <a:r>
              <a:rPr lang="en-US" sz="2900" b="1"/>
              <a:t>H1</a:t>
            </a:r>
            <a:r>
              <a:rPr lang="en-US" sz="2900"/>
              <a:t> has established </a:t>
            </a:r>
            <a:r>
              <a:rPr lang="en-US" sz="2900">
                <a:solidFill>
                  <a:srgbClr val="FF0000"/>
                </a:solidFill>
              </a:rPr>
              <a:t>connection 1 </a:t>
            </a:r>
            <a:r>
              <a:rPr lang="en-US" sz="2900"/>
              <a:t>with host </a:t>
            </a:r>
            <a:r>
              <a:rPr lang="en-US" sz="2900" b="1"/>
              <a:t>H2</a:t>
            </a:r>
            <a:r>
              <a:rPr lang="en-US" sz="2900"/>
              <a:t>.</a:t>
            </a:r>
            <a:endParaRPr sz="2900"/>
          </a:p>
          <a:p>
            <a:pPr marL="356870" marR="5080" lvl="0" indent="-376555" algn="just" rtl="0">
              <a:lnSpc>
                <a:spcPct val="80000"/>
              </a:lnSpc>
              <a:spcBef>
                <a:spcPts val="580"/>
              </a:spcBef>
              <a:spcAft>
                <a:spcPts val="0"/>
              </a:spcAft>
              <a:buClr>
                <a:srgbClr val="0000CC"/>
              </a:buClr>
              <a:buSzPts val="2900"/>
              <a:buFont typeface="Arial"/>
              <a:buChar char="●"/>
            </a:pPr>
            <a:r>
              <a:rPr lang="en-US" sz="2900"/>
              <a:t>The </a:t>
            </a:r>
            <a:r>
              <a:rPr lang="en-US" sz="2900" b="1"/>
              <a:t>first line of A's table </a:t>
            </a:r>
            <a:r>
              <a:rPr lang="en-US" sz="2900"/>
              <a:t>says that</a:t>
            </a:r>
            <a:endParaRPr sz="3300"/>
          </a:p>
          <a:p>
            <a:pPr marL="914400" marR="5080" lvl="0" indent="-488950" algn="just" rtl="0">
              <a:lnSpc>
                <a:spcPct val="80000"/>
              </a:lnSpc>
              <a:spcBef>
                <a:spcPts val="580"/>
              </a:spcBef>
              <a:spcAft>
                <a:spcPts val="0"/>
              </a:spcAft>
              <a:buClr>
                <a:srgbClr val="0000CC"/>
              </a:buClr>
              <a:buSzPts val="2900"/>
              <a:buFont typeface="Noto Sans Symbols"/>
              <a:buChar char="●"/>
            </a:pPr>
            <a:r>
              <a:rPr lang="en-US" sz="2900"/>
              <a:t> if a packet bearing  connection </a:t>
            </a:r>
            <a:r>
              <a:rPr lang="en-US" sz="2900" b="1">
                <a:solidFill>
                  <a:srgbClr val="FF0000"/>
                </a:solidFill>
              </a:rPr>
              <a:t>identifier 1</a:t>
            </a:r>
            <a:r>
              <a:rPr lang="en-US" sz="2900"/>
              <a:t> comes in from </a:t>
            </a:r>
            <a:r>
              <a:rPr lang="en-US" sz="2900" b="1"/>
              <a:t>H1</a:t>
            </a:r>
            <a:r>
              <a:rPr lang="en-US" sz="2900"/>
              <a:t>,</a:t>
            </a:r>
            <a:endParaRPr sz="3300"/>
          </a:p>
          <a:p>
            <a:pPr marL="914400" marR="5080" lvl="0" indent="-488950" algn="just" rtl="0">
              <a:lnSpc>
                <a:spcPct val="80000"/>
              </a:lnSpc>
              <a:spcBef>
                <a:spcPts val="580"/>
              </a:spcBef>
              <a:spcAft>
                <a:spcPts val="0"/>
              </a:spcAft>
              <a:buClr>
                <a:srgbClr val="0000CC"/>
              </a:buClr>
              <a:buSzPts val="2900"/>
              <a:buFont typeface="Noto Sans Symbols"/>
              <a:buChar char="●"/>
            </a:pPr>
            <a:r>
              <a:rPr lang="en-US" sz="2900"/>
              <a:t> it is to be sent to  router C and given connection identifier 1. </a:t>
            </a:r>
            <a:endParaRPr sz="3300"/>
          </a:p>
          <a:p>
            <a:pPr marL="914400" marR="5080" lvl="0" indent="-488950" algn="just" rtl="0">
              <a:lnSpc>
                <a:spcPct val="80000"/>
              </a:lnSpc>
              <a:spcBef>
                <a:spcPts val="580"/>
              </a:spcBef>
              <a:spcAft>
                <a:spcPts val="0"/>
              </a:spcAft>
              <a:buClr>
                <a:srgbClr val="0000CC"/>
              </a:buClr>
              <a:buSzPts val="2900"/>
              <a:buFont typeface="Noto Sans Symbols"/>
              <a:buChar char="●"/>
            </a:pPr>
            <a:r>
              <a:rPr lang="en-US" sz="2900"/>
              <a:t>Similarly, the first  entry at C routes the packet to E, also with connection  identifier 1.</a:t>
            </a:r>
            <a:endParaRPr sz="3300"/>
          </a:p>
          <a:p>
            <a:pPr marL="228600" lvl="0" indent="-260350" algn="just" rtl="0">
              <a:lnSpc>
                <a:spcPct val="70000"/>
              </a:lnSpc>
              <a:spcBef>
                <a:spcPts val="1000"/>
              </a:spcBef>
              <a:spcAft>
                <a:spcPts val="0"/>
              </a:spcAft>
              <a:buClr>
                <a:srgbClr val="FF0000"/>
              </a:buClr>
              <a:buSzPts val="2900"/>
              <a:buChar char="●"/>
            </a:pPr>
            <a:r>
              <a:rPr lang="en-US" sz="2900">
                <a:solidFill>
                  <a:srgbClr val="FF0000"/>
                </a:solidFill>
              </a:rPr>
              <a:t> Avoiding conflicts </a:t>
            </a:r>
            <a:r>
              <a:rPr lang="en-US" sz="2900"/>
              <a:t>of this kind is why </a:t>
            </a:r>
            <a:r>
              <a:rPr lang="en-US" sz="2900" b="1"/>
              <a:t>routers</a:t>
            </a:r>
            <a:r>
              <a:rPr lang="en-US" sz="2900"/>
              <a:t> need the ability to </a:t>
            </a:r>
            <a:r>
              <a:rPr lang="en-US" sz="2900">
                <a:solidFill>
                  <a:srgbClr val="FF0000"/>
                </a:solidFill>
              </a:rPr>
              <a:t>replace</a:t>
            </a:r>
            <a:r>
              <a:rPr lang="en-US" sz="2900"/>
              <a:t> </a:t>
            </a:r>
            <a:r>
              <a:rPr lang="en-US" sz="2900" b="1"/>
              <a:t>connection identifiers in outgoing packets</a:t>
            </a:r>
            <a:r>
              <a:rPr lang="en-US" sz="2900"/>
              <a:t>. </a:t>
            </a:r>
            <a:endParaRPr sz="3300"/>
          </a:p>
          <a:p>
            <a:pPr marL="228600" lvl="0" indent="-260350" algn="just" rtl="0">
              <a:lnSpc>
                <a:spcPct val="70000"/>
              </a:lnSpc>
              <a:spcBef>
                <a:spcPts val="1000"/>
              </a:spcBef>
              <a:spcAft>
                <a:spcPts val="0"/>
              </a:spcAft>
              <a:buClr>
                <a:schemeClr val="dk1"/>
              </a:buClr>
              <a:buSzPts val="2900"/>
              <a:buChar char="●"/>
            </a:pPr>
            <a:r>
              <a:rPr lang="en-US" sz="2900"/>
              <a:t>In some contexts, this is called </a:t>
            </a:r>
            <a:r>
              <a:rPr lang="en-US" sz="2900" b="1">
                <a:solidFill>
                  <a:srgbClr val="FF0000"/>
                </a:solidFill>
              </a:rPr>
              <a:t>label switching </a:t>
            </a:r>
            <a:endParaRPr sz="3300"/>
          </a:p>
        </p:txBody>
      </p:sp>
      <p:pic>
        <p:nvPicPr>
          <p:cNvPr id="166" name="Google Shape;166;p11"/>
          <p:cNvPicPr preferRelativeResize="0"/>
          <p:nvPr/>
        </p:nvPicPr>
        <p:blipFill rotWithShape="1">
          <a:blip r:embed="rId3">
            <a:alphaModFix/>
          </a:blip>
          <a:srcRect/>
          <a:stretch/>
        </p:blipFill>
        <p:spPr>
          <a:xfrm>
            <a:off x="7489100" y="1398900"/>
            <a:ext cx="4446075" cy="4410225"/>
          </a:xfrm>
          <a:prstGeom prst="rect">
            <a:avLst/>
          </a:prstGeom>
          <a:noFill/>
          <a:ln>
            <a:noFill/>
          </a:ln>
        </p:spPr>
      </p:pic>
      <p:sp>
        <p:nvSpPr>
          <p:cNvPr id="167" name="Google Shape;167;p11"/>
          <p:cNvSpPr txBox="1"/>
          <p:nvPr/>
        </p:nvSpPr>
        <p:spPr>
          <a:xfrm>
            <a:off x="8120976" y="5809125"/>
            <a:ext cx="3814200" cy="56700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800">
                <a:solidFill>
                  <a:schemeClr val="dk1"/>
                </a:solidFill>
                <a:latin typeface="Arial"/>
                <a:ea typeface="Arial"/>
                <a:cs typeface="Arial"/>
                <a:sym typeface="Arial"/>
              </a:rPr>
              <a:t>Routing within a virtual-circuit network</a:t>
            </a:r>
            <a:endParaRPr sz="1800">
              <a:solidFill>
                <a:schemeClr val="dk1"/>
              </a:solidFill>
              <a:latin typeface="Arial"/>
              <a:ea typeface="Arial"/>
              <a:cs typeface="Arial"/>
              <a:sym typeface="Arial"/>
            </a:endParaRPr>
          </a:p>
        </p:txBody>
      </p:sp>
      <p:sp>
        <p:nvSpPr>
          <p:cNvPr id="168" name="Google Shape;168;p11"/>
          <p:cNvSpPr txBox="1">
            <a:spLocks noGrp="1"/>
          </p:cNvSpPr>
          <p:nvPr>
            <p:ph type="title"/>
          </p:nvPr>
        </p:nvSpPr>
        <p:spPr>
          <a:xfrm>
            <a:off x="151298" y="61325"/>
            <a:ext cx="12040800" cy="628500"/>
          </a:xfrm>
          <a:prstGeom prst="rect">
            <a:avLst/>
          </a:prstGeom>
          <a:noFill/>
          <a:ln>
            <a:noFill/>
          </a:ln>
        </p:spPr>
        <p:txBody>
          <a:bodyPr spcFirstLastPara="1" wrap="square" lIns="0" tIns="12700" rIns="0" bIns="0" anchor="ctr" anchorCtr="0">
            <a:spAutoFit/>
          </a:bodyPr>
          <a:lstStyle/>
          <a:p>
            <a:pPr marL="12700" marR="5080" lvl="0" indent="743585" algn="l" rtl="0">
              <a:lnSpc>
                <a:spcPct val="100000"/>
              </a:lnSpc>
              <a:spcBef>
                <a:spcPts val="0"/>
              </a:spcBef>
              <a:spcAft>
                <a:spcPts val="0"/>
              </a:spcAft>
              <a:buClr>
                <a:schemeClr val="dk1"/>
              </a:buClr>
              <a:buSzPts val="3200"/>
              <a:buFont typeface="Calibri"/>
              <a:buNone/>
            </a:pPr>
            <a:r>
              <a:rPr lang="en-US" sz="4000" b="1"/>
              <a:t>Implementation of  Connection-Oriented Service</a:t>
            </a:r>
            <a:endParaRPr sz="40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title"/>
          </p:nvPr>
        </p:nvSpPr>
        <p:spPr>
          <a:xfrm>
            <a:off x="989351" y="629405"/>
            <a:ext cx="8049718" cy="382156"/>
          </a:xfrm>
          <a:prstGeom prst="rect">
            <a:avLst/>
          </a:prstGeom>
          <a:noFill/>
          <a:ln>
            <a:noFill/>
          </a:ln>
        </p:spPr>
        <p:txBody>
          <a:bodyPr spcFirstLastPara="1" wrap="square" lIns="0" tIns="12700" rIns="0" bIns="0" anchor="ctr" anchorCtr="0">
            <a:spAutoFit/>
          </a:bodyPr>
          <a:lstStyle/>
          <a:p>
            <a:pPr marL="314325" marR="5080" lvl="0" indent="-302260" algn="l" rtl="0">
              <a:lnSpc>
                <a:spcPct val="100000"/>
              </a:lnSpc>
              <a:spcBef>
                <a:spcPts val="0"/>
              </a:spcBef>
              <a:spcAft>
                <a:spcPts val="0"/>
              </a:spcAft>
              <a:buClr>
                <a:schemeClr val="dk1"/>
              </a:buClr>
              <a:buSzPts val="2400"/>
              <a:buFont typeface="Calibri"/>
              <a:buNone/>
            </a:pPr>
            <a:r>
              <a:rPr lang="en-US" sz="2400" b="1" dirty="0">
                <a:latin typeface="Calibri"/>
                <a:ea typeface="Calibri"/>
                <a:cs typeface="Calibri"/>
                <a:sym typeface="Calibri"/>
              </a:rPr>
              <a:t>Comparison of Virtual-Circuit  and Datagram Networks</a:t>
            </a:r>
            <a:endParaRPr sz="2400" b="1" dirty="0">
              <a:latin typeface="Calibri"/>
              <a:ea typeface="Calibri"/>
              <a:cs typeface="Calibri"/>
              <a:sym typeface="Calibri"/>
            </a:endParaRPr>
          </a:p>
        </p:txBody>
      </p:sp>
      <p:sp>
        <p:nvSpPr>
          <p:cNvPr id="174" name="Google Shape;174;p12"/>
          <p:cNvSpPr/>
          <p:nvPr/>
        </p:nvSpPr>
        <p:spPr>
          <a:xfrm>
            <a:off x="1124262" y="1356923"/>
            <a:ext cx="9096301" cy="525373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3"/>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4400"/>
              <a:buFont typeface="Times New Roman"/>
              <a:buNone/>
            </a:pPr>
            <a:r>
              <a:rPr lang="en-US" b="1" i="0" u="none" strike="noStrike">
                <a:latin typeface="Times New Roman"/>
                <a:ea typeface="Times New Roman"/>
                <a:cs typeface="Times New Roman"/>
                <a:sym typeface="Times New Roman"/>
              </a:rPr>
              <a:t>ROUTING</a:t>
            </a:r>
            <a:endParaRPr/>
          </a:p>
        </p:txBody>
      </p:sp>
      <p:sp>
        <p:nvSpPr>
          <p:cNvPr id="180" name="Google Shape;180;p13"/>
          <p:cNvSpPr txBox="1">
            <a:spLocks noGrp="1"/>
          </p:cNvSpPr>
          <p:nvPr>
            <p:ph type="body" idx="1"/>
          </p:nvPr>
        </p:nvSpPr>
        <p:spPr>
          <a:xfrm>
            <a:off x="479613" y="878950"/>
            <a:ext cx="11712300" cy="43512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t>Routing is the process of </a:t>
            </a:r>
            <a:r>
              <a:rPr lang="en-US">
                <a:solidFill>
                  <a:srgbClr val="FF0000"/>
                </a:solidFill>
              </a:rPr>
              <a:t>moving packets</a:t>
            </a:r>
            <a:r>
              <a:rPr lang="en-US"/>
              <a:t> across a </a:t>
            </a:r>
            <a:r>
              <a:rPr lang="en-US" b="1"/>
              <a:t>network</a:t>
            </a:r>
            <a:r>
              <a:rPr lang="en-US"/>
              <a:t> from </a:t>
            </a:r>
            <a:r>
              <a:rPr lang="en-US">
                <a:solidFill>
                  <a:srgbClr val="00B050"/>
                </a:solidFill>
              </a:rPr>
              <a:t>one host to another.</a:t>
            </a:r>
            <a:endParaRPr/>
          </a:p>
          <a:p>
            <a:pPr marL="228600" lvl="0" indent="-228600" algn="just" rtl="0">
              <a:lnSpc>
                <a:spcPct val="90000"/>
              </a:lnSpc>
              <a:spcBef>
                <a:spcPts val="1000"/>
              </a:spcBef>
              <a:spcAft>
                <a:spcPts val="0"/>
              </a:spcAft>
              <a:buClr>
                <a:schemeClr val="dk1"/>
              </a:buClr>
              <a:buSzPts val="2800"/>
              <a:buChar char="•"/>
            </a:pPr>
            <a:r>
              <a:rPr lang="en-US"/>
              <a:t> It is usually performed by dedicated devices called </a:t>
            </a:r>
            <a:r>
              <a:rPr lang="en-US" b="1"/>
              <a:t>routers.</a:t>
            </a:r>
            <a:endParaRPr/>
          </a:p>
          <a:p>
            <a:pPr marL="228600" lvl="0" indent="-50800" algn="l" rtl="0">
              <a:lnSpc>
                <a:spcPct val="90000"/>
              </a:lnSpc>
              <a:spcBef>
                <a:spcPts val="1000"/>
              </a:spcBef>
              <a:spcAft>
                <a:spcPts val="0"/>
              </a:spcAft>
              <a:buClr>
                <a:schemeClr val="dk1"/>
              </a:buClr>
              <a:buSzPts val="2800"/>
              <a:buNone/>
            </a:pPr>
            <a:endParaRPr/>
          </a:p>
        </p:txBody>
      </p:sp>
      <p:pic>
        <p:nvPicPr>
          <p:cNvPr id="181" name="Google Shape;181;p13"/>
          <p:cNvPicPr preferRelativeResize="0"/>
          <p:nvPr/>
        </p:nvPicPr>
        <p:blipFill rotWithShape="1">
          <a:blip r:embed="rId3">
            <a:alphaModFix/>
          </a:blip>
          <a:srcRect/>
          <a:stretch/>
        </p:blipFill>
        <p:spPr>
          <a:xfrm>
            <a:off x="1282148" y="2305100"/>
            <a:ext cx="9888401" cy="42447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0"/>
            <a:ext cx="9144000" cy="719528"/>
          </a:xfrm>
        </p:spPr>
        <p:txBody>
          <a:bodyPr/>
          <a:lstStyle/>
          <a:p>
            <a:r>
              <a:rPr lang="en-US" sz="3600" b="1" dirty="0"/>
              <a:t>Routing Algorithms</a:t>
            </a:r>
            <a:endParaRPr lang="en-US" sz="3600" dirty="0"/>
          </a:p>
        </p:txBody>
      </p:sp>
      <p:sp>
        <p:nvSpPr>
          <p:cNvPr id="6147" name="Rectangle 3"/>
          <p:cNvSpPr>
            <a:spLocks noGrp="1" noChangeArrowheads="1"/>
          </p:cNvSpPr>
          <p:nvPr>
            <p:ph type="body" idx="1"/>
          </p:nvPr>
        </p:nvSpPr>
        <p:spPr>
          <a:xfrm>
            <a:off x="1680306" y="764497"/>
            <a:ext cx="9342190" cy="5778711"/>
          </a:xfrm>
        </p:spPr>
        <p:txBody>
          <a:bodyPr/>
          <a:lstStyle/>
          <a:p>
            <a:pPr algn="just">
              <a:buFont typeface="Wingdings" pitchFamily="2" charset="2"/>
              <a:buChar char="§"/>
            </a:pPr>
            <a:r>
              <a:rPr lang="en-US" dirty="0">
                <a:solidFill>
                  <a:srgbClr val="FF0000"/>
                </a:solidFill>
                <a:latin typeface="Times New Roman" panose="02020603050405020304" pitchFamily="18" charset="0"/>
                <a:cs typeface="Times New Roman" panose="02020603050405020304" pitchFamily="18" charset="0"/>
              </a:rPr>
              <a:t>Routing algorithm </a:t>
            </a:r>
            <a:r>
              <a:rPr lang="en-US" dirty="0">
                <a:latin typeface="Times New Roman" panose="02020603050405020304" pitchFamily="18" charset="0"/>
                <a:cs typeface="Times New Roman" panose="02020603050405020304" pitchFamily="18" charset="0"/>
              </a:rPr>
              <a:t>is that part of the network layer software responsible for </a:t>
            </a:r>
            <a:r>
              <a:rPr lang="en-US" b="1" dirty="0">
                <a:latin typeface="Times New Roman" panose="02020603050405020304" pitchFamily="18" charset="0"/>
                <a:cs typeface="Times New Roman" panose="02020603050405020304" pitchFamily="18" charset="0"/>
              </a:rPr>
              <a:t>deciding which output line an incoming packet should be transmitted on.</a:t>
            </a:r>
            <a:r>
              <a:rPr lang="en-US" dirty="0">
                <a:latin typeface="Times New Roman" panose="02020603050405020304" pitchFamily="18" charset="0"/>
                <a:cs typeface="Times New Roman" panose="02020603050405020304" pitchFamily="18" charset="0"/>
              </a:rPr>
              <a:t>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If the subnet uses </a:t>
            </a:r>
            <a:r>
              <a:rPr lang="en-US" dirty="0">
                <a:solidFill>
                  <a:srgbClr val="FF0000"/>
                </a:solidFill>
                <a:latin typeface="Times New Roman" panose="02020603050405020304" pitchFamily="18" charset="0"/>
                <a:cs typeface="Times New Roman" panose="02020603050405020304" pitchFamily="18" charset="0"/>
              </a:rPr>
              <a:t>datagrams</a:t>
            </a:r>
            <a:r>
              <a:rPr lang="en-US" dirty="0">
                <a:latin typeface="Times New Roman" panose="02020603050405020304" pitchFamily="18" charset="0"/>
                <a:cs typeface="Times New Roman" panose="02020603050405020304" pitchFamily="18" charset="0"/>
              </a:rPr>
              <a:t> internally, this </a:t>
            </a:r>
            <a:r>
              <a:rPr lang="en-US" b="1" dirty="0">
                <a:latin typeface="Times New Roman" panose="02020603050405020304" pitchFamily="18" charset="0"/>
                <a:cs typeface="Times New Roman" panose="02020603050405020304" pitchFamily="18" charset="0"/>
              </a:rPr>
              <a:t>decision must be made anew for every arriving data packet </a:t>
            </a:r>
            <a:r>
              <a:rPr lang="en-US" dirty="0">
                <a:latin typeface="Times New Roman" panose="02020603050405020304" pitchFamily="18" charset="0"/>
                <a:cs typeface="Times New Roman" panose="02020603050405020304" pitchFamily="18" charset="0"/>
              </a:rPr>
              <a:t>since the best route may have changed since last time.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If the subnet uses </a:t>
            </a:r>
            <a:r>
              <a:rPr lang="en-US" dirty="0">
                <a:solidFill>
                  <a:srgbClr val="FF0000"/>
                </a:solidFill>
                <a:latin typeface="Times New Roman" panose="02020603050405020304" pitchFamily="18" charset="0"/>
                <a:cs typeface="Times New Roman" panose="02020603050405020304" pitchFamily="18" charset="0"/>
              </a:rPr>
              <a:t>virtual circuits </a:t>
            </a:r>
            <a:r>
              <a:rPr lang="en-US" dirty="0">
                <a:latin typeface="Times New Roman" panose="02020603050405020304" pitchFamily="18" charset="0"/>
                <a:cs typeface="Times New Roman" panose="02020603050405020304" pitchFamily="18" charset="0"/>
              </a:rPr>
              <a:t>internally, routing </a:t>
            </a:r>
            <a:r>
              <a:rPr lang="en-US" b="1" dirty="0">
                <a:latin typeface="Times New Roman" panose="02020603050405020304" pitchFamily="18" charset="0"/>
                <a:cs typeface="Times New Roman" panose="02020603050405020304" pitchFamily="18" charset="0"/>
              </a:rPr>
              <a:t>decisions are made only when a new virtual circuit is being set up. </a:t>
            </a:r>
          </a:p>
          <a:p>
            <a:pPr lvl="1" algn="just">
              <a:buFont typeface="Wingdings" pitchFamily="2" charset="2"/>
              <a:buChar char="§"/>
            </a:pPr>
            <a:r>
              <a:rPr lang="en-US" dirty="0">
                <a:latin typeface="Times New Roman" panose="02020603050405020304" pitchFamily="18" charset="0"/>
                <a:cs typeface="Times New Roman" panose="02020603050405020304" pitchFamily="18" charset="0"/>
              </a:rPr>
              <a:t>Thereafter, data packets just follow the previously-established route. </a:t>
            </a:r>
          </a:p>
          <a:p>
            <a:pPr lvl="1" algn="just">
              <a:buFont typeface="Wingdings" pitchFamily="2" charset="2"/>
              <a:buChar char="§"/>
            </a:pPr>
            <a:r>
              <a:rPr lang="en-US" dirty="0">
                <a:latin typeface="Times New Roman" panose="02020603050405020304" pitchFamily="18" charset="0"/>
                <a:cs typeface="Times New Roman" panose="02020603050405020304" pitchFamily="18" charset="0"/>
              </a:rPr>
              <a:t>This is sometimes called </a:t>
            </a:r>
            <a:r>
              <a:rPr lang="en-US" dirty="0">
                <a:solidFill>
                  <a:srgbClr val="FF3300"/>
                </a:solidFill>
                <a:latin typeface="Times New Roman" panose="02020603050405020304" pitchFamily="18" charset="0"/>
                <a:cs typeface="Times New Roman" panose="02020603050405020304" pitchFamily="18" charset="0"/>
              </a:rPr>
              <a:t>session routing </a:t>
            </a:r>
            <a:r>
              <a:rPr lang="en-US" dirty="0">
                <a:latin typeface="Times New Roman" panose="02020603050405020304" pitchFamily="18" charset="0"/>
                <a:cs typeface="Times New Roman" panose="02020603050405020304" pitchFamily="18" charset="0"/>
              </a:rPr>
              <a:t>because a route remains in force for an entire user session (e.g., a login session at a terminal or a file transfer). </a:t>
            </a:r>
            <a:endParaRPr lang="en-US" dirty="0">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0"/>
            <a:ext cx="9144000" cy="719528"/>
          </a:xfrm>
        </p:spPr>
        <p:txBody>
          <a:bodyPr/>
          <a:lstStyle/>
          <a:p>
            <a:r>
              <a:rPr lang="en-US" sz="3600" b="1" dirty="0"/>
              <a:t>Routing Algorithms</a:t>
            </a:r>
            <a:endParaRPr lang="en-US" sz="3600" dirty="0"/>
          </a:p>
        </p:txBody>
      </p:sp>
      <p:sp>
        <p:nvSpPr>
          <p:cNvPr id="6147" name="Rectangle 3"/>
          <p:cNvSpPr>
            <a:spLocks noGrp="1" noChangeArrowheads="1"/>
          </p:cNvSpPr>
          <p:nvPr>
            <p:ph type="body" idx="1"/>
          </p:nvPr>
        </p:nvSpPr>
        <p:spPr>
          <a:xfrm>
            <a:off x="1680306" y="501171"/>
            <a:ext cx="8867775" cy="6053994"/>
          </a:xfrm>
        </p:spPr>
        <p:txBody>
          <a:bodyPr>
            <a:noAutofit/>
          </a:bodyPr>
          <a:lstStyle/>
          <a:p>
            <a:pPr algn="just">
              <a:buFont typeface="Wingdings" pitchFamily="2" charset="2"/>
              <a:buChar char="§"/>
            </a:pPr>
            <a:r>
              <a:rPr lang="en-US" sz="2600" b="1" dirty="0">
                <a:solidFill>
                  <a:schemeClr val="tx1"/>
                </a:solidFill>
                <a:latin typeface="Times New Roman" panose="02020603050405020304" pitchFamily="18" charset="0"/>
                <a:ea typeface="+mn-ea"/>
                <a:cs typeface="Times New Roman" panose="02020603050405020304" pitchFamily="18" charset="0"/>
              </a:rPr>
              <a:t>Distinction between routing &amp; forwarding:</a:t>
            </a:r>
          </a:p>
          <a:p>
            <a:pPr lvl="1" algn="just">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Routing</a:t>
            </a:r>
            <a:r>
              <a:rPr lang="en-US" sz="2600" dirty="0">
                <a:latin typeface="Times New Roman" panose="02020603050405020304" pitchFamily="18" charset="0"/>
                <a:cs typeface="Times New Roman" panose="02020603050405020304" pitchFamily="18" charset="0"/>
              </a:rPr>
              <a:t> is the process for making the decision which routes to use</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responsible for filling in and updating the routing tables</a:t>
            </a:r>
          </a:p>
          <a:p>
            <a:pPr lvl="1" algn="just">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Forwarding</a:t>
            </a:r>
            <a:r>
              <a:rPr lang="en-US" sz="2600" dirty="0">
                <a:latin typeface="Times New Roman" panose="02020603050405020304" pitchFamily="18" charset="0"/>
                <a:cs typeface="Times New Roman" panose="02020603050405020304" pitchFamily="18" charset="0"/>
              </a:rPr>
              <a:t> is what happens when a packet arrives </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each packet looks up the routing tables for the outgoing line to use</a:t>
            </a:r>
          </a:p>
          <a:p>
            <a:pPr algn="just">
              <a:buFont typeface="Wingdings" pitchFamily="2" charset="2"/>
              <a:buChar char="§"/>
            </a:pPr>
            <a:r>
              <a:rPr lang="en-US" sz="2600" dirty="0">
                <a:latin typeface="Times New Roman" panose="02020603050405020304" pitchFamily="18" charset="0"/>
                <a:cs typeface="Times New Roman" panose="02020603050405020304" pitchFamily="18" charset="0"/>
              </a:rPr>
              <a:t>Certain </a:t>
            </a:r>
            <a:r>
              <a:rPr lang="en-US" sz="2600" dirty="0">
                <a:solidFill>
                  <a:srgbClr val="FF0000"/>
                </a:solidFill>
                <a:latin typeface="Times New Roman" panose="02020603050405020304" pitchFamily="18" charset="0"/>
                <a:cs typeface="Times New Roman" panose="02020603050405020304" pitchFamily="18" charset="0"/>
              </a:rPr>
              <a:t>properties</a:t>
            </a:r>
            <a:r>
              <a:rPr lang="en-US" sz="2600" dirty="0">
                <a:latin typeface="Times New Roman" panose="02020603050405020304" pitchFamily="18" charset="0"/>
                <a:cs typeface="Times New Roman" panose="02020603050405020304" pitchFamily="18" charset="0"/>
              </a:rPr>
              <a:t> are desirable in a routing algorithm</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correctness</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simplicity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robustness</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stability</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fairness and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optimality</a:t>
            </a:r>
            <a:endParaRPr lang="en-US" sz="2600" dirty="0">
              <a:latin typeface="Times New Roman" panose="02020603050405020304" pitchFamily="18" charset="0"/>
              <a:ea typeface="+mn-ea"/>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0"/>
            <a:ext cx="9144000" cy="719528"/>
          </a:xfrm>
        </p:spPr>
        <p:txBody>
          <a:bodyPr/>
          <a:lstStyle/>
          <a:p>
            <a:r>
              <a:rPr lang="en-US" sz="3600" b="1" dirty="0"/>
              <a:t>Routing Algorithms</a:t>
            </a:r>
            <a:endParaRPr lang="en-US" sz="3600" dirty="0"/>
          </a:p>
        </p:txBody>
      </p:sp>
      <p:sp>
        <p:nvSpPr>
          <p:cNvPr id="6147" name="Rectangle 3"/>
          <p:cNvSpPr>
            <a:spLocks noGrp="1" noChangeArrowheads="1"/>
          </p:cNvSpPr>
          <p:nvPr>
            <p:ph type="body" idx="1"/>
          </p:nvPr>
        </p:nvSpPr>
        <p:spPr>
          <a:xfrm>
            <a:off x="1680306" y="764497"/>
            <a:ext cx="8867775" cy="5778711"/>
          </a:xfrm>
        </p:spPr>
        <p:txBody>
          <a:bodyPr/>
          <a:lstStyle/>
          <a:p>
            <a:pPr algn="just">
              <a:buFont typeface="Wingdings" pitchFamily="2" charset="2"/>
              <a:buChar char="§"/>
            </a:pPr>
            <a:r>
              <a:rPr lang="en-US" sz="2500" b="1" dirty="0">
                <a:solidFill>
                  <a:srgbClr val="FF0000"/>
                </a:solidFill>
                <a:latin typeface="Times New Roman" panose="02020603050405020304" pitchFamily="18" charset="0"/>
                <a:cs typeface="Times New Roman" panose="02020603050405020304" pitchFamily="18" charset="0"/>
              </a:rPr>
              <a:t>Robustness</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When network comes on the air, it may be expected to run continuously for years without system wide failures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Expected failures:</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Hosts, routers, and lines will fail repeatedly</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hardware and software failures </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topology will change many times </a:t>
            </a:r>
          </a:p>
          <a:p>
            <a:pPr lvl="2" algn="just">
              <a:buNone/>
            </a:pPr>
            <a:endParaRPr lang="en-US" sz="2500" dirty="0">
              <a:latin typeface="Times New Roman" panose="02020603050405020304" pitchFamily="18" charset="0"/>
              <a:cs typeface="Times New Roman" panose="02020603050405020304" pitchFamily="18" charset="0"/>
            </a:endParaRPr>
          </a:p>
          <a:p>
            <a:pPr algn="just">
              <a:buFont typeface="Wingdings" pitchFamily="2" charset="2"/>
              <a:buChar char="§"/>
            </a:pPr>
            <a:r>
              <a:rPr lang="en-US" sz="2500" b="1" dirty="0">
                <a:solidFill>
                  <a:srgbClr val="FF0000"/>
                </a:solidFill>
                <a:latin typeface="Times New Roman" panose="02020603050405020304" pitchFamily="18" charset="0"/>
                <a:cs typeface="Times New Roman" panose="02020603050405020304" pitchFamily="18" charset="0"/>
              </a:rPr>
              <a:t>Stability</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A stable algorithm reaches equilibrium and stays there</a:t>
            </a:r>
          </a:p>
          <a:p>
            <a:pPr algn="just">
              <a:buNone/>
            </a:pPr>
            <a:endParaRPr lang="en-US" sz="2000" dirty="0">
              <a:latin typeface="+mn-lt"/>
              <a:ea typeface="+mn-ea"/>
              <a:cs typeface="+mn-cs"/>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566530"/>
            <a:ext cx="9144000" cy="898449"/>
          </a:xfrm>
        </p:spPr>
        <p:txBody>
          <a:bodyPr>
            <a:normAutofit fontScale="92500" lnSpcReduction="10000"/>
          </a:bodyPr>
          <a:lstStyle/>
          <a:p>
            <a:pPr algn="just">
              <a:buFont typeface="Wingdings" pitchFamily="2" charset="2"/>
              <a:buChar char="§"/>
            </a:pPr>
            <a:r>
              <a:rPr lang="en-US" dirty="0">
                <a:latin typeface="Times New Roman" panose="02020603050405020304" pitchFamily="18" charset="0"/>
                <a:cs typeface="Times New Roman" panose="02020603050405020304" pitchFamily="18" charset="0"/>
              </a:rPr>
              <a:t>Conflict between </a:t>
            </a:r>
            <a:r>
              <a:rPr lang="en-US" b="1" dirty="0">
                <a:solidFill>
                  <a:srgbClr val="FF0000"/>
                </a:solidFill>
                <a:latin typeface="Times New Roman" panose="02020603050405020304" pitchFamily="18" charset="0"/>
                <a:cs typeface="Times New Roman" panose="02020603050405020304" pitchFamily="18" charset="0"/>
              </a:rPr>
              <a:t>fairness (equality) </a:t>
            </a:r>
            <a:r>
              <a:rPr lang="en-US" dirty="0">
                <a:latin typeface="Times New Roman" panose="02020603050405020304" pitchFamily="18" charset="0"/>
                <a:cs typeface="Times New Roman" panose="02020603050405020304" pitchFamily="18" charset="0"/>
              </a:rPr>
              <a:t>and </a:t>
            </a:r>
            <a:r>
              <a:rPr lang="en-US" b="1" dirty="0">
                <a:solidFill>
                  <a:srgbClr val="FF0000"/>
                </a:solidFill>
                <a:latin typeface="Times New Roman" panose="02020603050405020304" pitchFamily="18" charset="0"/>
                <a:cs typeface="Times New Roman" panose="02020603050405020304" pitchFamily="18" charset="0"/>
              </a:rPr>
              <a:t>optimality (best possibility)</a:t>
            </a:r>
          </a:p>
        </p:txBody>
      </p:sp>
      <p:pic>
        <p:nvPicPr>
          <p:cNvPr id="12293" name="Picture 5" descr="5-05"/>
          <p:cNvPicPr>
            <a:picLocks noChangeAspect="1" noChangeArrowheads="1"/>
          </p:cNvPicPr>
          <p:nvPr/>
        </p:nvPicPr>
        <p:blipFill>
          <a:blip r:embed="rId2" cstate="print"/>
          <a:srcRect/>
          <a:stretch>
            <a:fillRect/>
          </a:stretch>
        </p:blipFill>
        <p:spPr bwMode="auto">
          <a:xfrm>
            <a:off x="1773590" y="1355150"/>
            <a:ext cx="8758943" cy="3037946"/>
          </a:xfrm>
          <a:prstGeom prst="rect">
            <a:avLst/>
          </a:prstGeom>
          <a:noFill/>
        </p:spPr>
      </p:pic>
      <p:sp>
        <p:nvSpPr>
          <p:cNvPr id="5" name="Rectangle 4"/>
          <p:cNvSpPr/>
          <p:nvPr/>
        </p:nvSpPr>
        <p:spPr>
          <a:xfrm>
            <a:off x="1721556" y="4411469"/>
            <a:ext cx="8946444" cy="1938992"/>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Suppose that there is enough traffic between </a:t>
            </a:r>
            <a:r>
              <a:rPr lang="en-US" sz="2400" i="1" dirty="0">
                <a:latin typeface="Times New Roman" panose="02020603050405020304" pitchFamily="18" charset="0"/>
                <a:cs typeface="Times New Roman" panose="02020603050405020304" pitchFamily="18" charset="0"/>
              </a:rPr>
              <a:t>A and A', between B and B', and between C and C' to saturate the horizontal links. </a:t>
            </a:r>
          </a:p>
          <a:p>
            <a:pPr algn="just"/>
            <a:r>
              <a:rPr lang="en-US" sz="2400" i="1" dirty="0">
                <a:latin typeface="Times New Roman" panose="02020603050405020304" pitchFamily="18" charset="0"/>
                <a:cs typeface="Times New Roman" panose="02020603050405020304" pitchFamily="18" charset="0"/>
              </a:rPr>
              <a:t>To maximize the total flow, the X to X' traffic should be shut off altogether. </a:t>
            </a:r>
          </a:p>
          <a:p>
            <a:pPr algn="just"/>
            <a:r>
              <a:rPr lang="en-US" sz="2400" i="1" dirty="0">
                <a:latin typeface="Times New Roman" panose="02020603050405020304" pitchFamily="18" charset="0"/>
                <a:cs typeface="Times New Roman" panose="02020603050405020304" pitchFamily="18" charset="0"/>
              </a:rPr>
              <a:t>Unfortunately, X and X' may not see it that way.</a:t>
            </a:r>
            <a:r>
              <a:rPr lang="en-US" sz="2400" i="1" dirty="0"/>
              <a:t> </a:t>
            </a:r>
            <a:endParaRPr lang="en-US" sz="2400" dirty="0"/>
          </a:p>
        </p:txBody>
      </p:sp>
      <p:sp>
        <p:nvSpPr>
          <p:cNvPr id="6" name="Slide Number Placeholder 5"/>
          <p:cNvSpPr>
            <a:spLocks noGrp="1"/>
          </p:cNvSpPr>
          <p:nvPr>
            <p:ph type="sldNum" sz="quarter" idx="12"/>
          </p:nvPr>
        </p:nvSpPr>
        <p:spPr/>
        <p:txBody>
          <a:bodyPr/>
          <a:lstStyle/>
          <a:p>
            <a:fld id="{EF55C829-AE99-4997-8EBC-414F558758A8}" type="slidenum">
              <a:rPr lang="en-US" smtClean="0"/>
              <a:pPr/>
              <a:t>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815622"/>
            <a:ext cx="9144000" cy="5889978"/>
          </a:xfrm>
        </p:spPr>
        <p:txBody>
          <a:bodyPr>
            <a:normAutofit/>
          </a:bodyPr>
          <a:lstStyle/>
          <a:p>
            <a:pPr algn="just">
              <a:buFont typeface="Wingdings" pitchFamily="2" charset="2"/>
              <a:buChar char="§"/>
            </a:pPr>
            <a:r>
              <a:rPr lang="en-US" sz="2600" b="1" dirty="0">
                <a:solidFill>
                  <a:srgbClr val="FF0000"/>
                </a:solidFill>
                <a:latin typeface="Times New Roman" panose="02020603050405020304" pitchFamily="18" charset="0"/>
                <a:cs typeface="Times New Roman" panose="02020603050405020304" pitchFamily="18" charset="0"/>
              </a:rPr>
              <a:t>Compromise</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networks attempt to minimize the number of hops a packet must make</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because reducing the number of hops tends to </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reduces the </a:t>
            </a:r>
            <a:r>
              <a:rPr lang="en-US" sz="2600" b="1" dirty="0">
                <a:latin typeface="Times New Roman" panose="02020603050405020304" pitchFamily="18" charset="0"/>
                <a:cs typeface="Times New Roman" panose="02020603050405020304" pitchFamily="18" charset="0"/>
              </a:rPr>
              <a:t>delay</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reduce the amount of </a:t>
            </a:r>
            <a:r>
              <a:rPr lang="en-US" sz="2600" b="1" dirty="0">
                <a:latin typeface="Times New Roman" panose="02020603050405020304" pitchFamily="18" charset="0"/>
                <a:cs typeface="Times New Roman" panose="02020603050405020304" pitchFamily="18" charset="0"/>
              </a:rPr>
              <a:t>bandwidth consumed</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which improves the </a:t>
            </a:r>
            <a:r>
              <a:rPr lang="en-US" sz="2600" b="1" dirty="0">
                <a:latin typeface="Times New Roman" panose="02020603050405020304" pitchFamily="18" charset="0"/>
                <a:cs typeface="Times New Roman" panose="02020603050405020304" pitchFamily="18" charset="0"/>
              </a:rPr>
              <a:t>throughput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18</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815622"/>
            <a:ext cx="9829800" cy="5889978"/>
          </a:xfrm>
        </p:spPr>
        <p:txBody>
          <a:bodyPr>
            <a:normAutofit/>
          </a:bodyPr>
          <a:lstStyle/>
          <a:p>
            <a:pPr algn="just">
              <a:buFont typeface="Wingdings" pitchFamily="2" charset="2"/>
              <a:buChar char="§"/>
            </a:pPr>
            <a:r>
              <a:rPr lang="en-US" sz="2600" dirty="0">
                <a:latin typeface="Times New Roman" panose="02020603050405020304" pitchFamily="18" charset="0"/>
                <a:cs typeface="Times New Roman" panose="02020603050405020304" pitchFamily="18" charset="0"/>
              </a:rPr>
              <a:t>Routing algorithms can be grouped into two major classes: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Nonadaptive</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Adaptive</a:t>
            </a:r>
          </a:p>
          <a:p>
            <a:pPr marL="356870" lvl="0" indent="-357505" algn="just" rtl="0">
              <a:lnSpc>
                <a:spcPct val="130000"/>
              </a:lnSpc>
              <a:spcBef>
                <a:spcPts val="0"/>
              </a:spcBef>
              <a:spcAft>
                <a:spcPts val="0"/>
              </a:spcAft>
              <a:buClr>
                <a:srgbClr val="0000CC"/>
              </a:buClr>
              <a:buSzPts val="2750"/>
              <a:buChar char="•"/>
            </a:pPr>
            <a:r>
              <a:rPr lang="en-US" sz="2600" b="1" dirty="0">
                <a:latin typeface="Times New Roman" panose="02020603050405020304" pitchFamily="18" charset="0"/>
                <a:cs typeface="Times New Roman" panose="02020603050405020304" pitchFamily="18" charset="0"/>
              </a:rPr>
              <a:t>Non adaptive algorithms</a:t>
            </a:r>
            <a:endParaRPr lang="en-US" sz="2600" dirty="0">
              <a:latin typeface="Times New Roman" panose="02020603050405020304" pitchFamily="18" charset="0"/>
              <a:cs typeface="Times New Roman" panose="02020603050405020304" pitchFamily="18" charset="0"/>
            </a:endParaRPr>
          </a:p>
          <a:p>
            <a:pPr marL="914400" marR="748030" lvl="1" indent="-355600" algn="just" rtl="0">
              <a:lnSpc>
                <a:spcPct val="130000"/>
              </a:lnSpc>
              <a:spcBef>
                <a:spcPts val="414"/>
              </a:spcBef>
              <a:spcAft>
                <a:spcPts val="0"/>
              </a:spcAft>
              <a:buClr>
                <a:srgbClr val="00B050"/>
              </a:buClr>
              <a:buSzPts val="2750"/>
              <a:buFont typeface="Arial"/>
              <a:buChar char="–"/>
            </a:pPr>
            <a:r>
              <a:rPr lang="en-US" sz="2600" dirty="0">
                <a:solidFill>
                  <a:srgbClr val="00B050"/>
                </a:solidFill>
                <a:latin typeface="Times New Roman" panose="02020603050405020304" pitchFamily="18" charset="0"/>
                <a:cs typeface="Times New Roman" panose="02020603050405020304" pitchFamily="18" charset="0"/>
              </a:rPr>
              <a:t>Do not base their routing decisions </a:t>
            </a:r>
            <a:r>
              <a:rPr lang="en-US" sz="2600" dirty="0">
                <a:latin typeface="Times New Roman" panose="02020603050405020304" pitchFamily="18" charset="0"/>
                <a:cs typeface="Times New Roman" panose="02020603050405020304" pitchFamily="18" charset="0"/>
              </a:rPr>
              <a:t>on </a:t>
            </a:r>
            <a:r>
              <a:rPr lang="en-US" sz="2600" b="1" dirty="0">
                <a:latin typeface="Times New Roman" panose="02020603050405020304" pitchFamily="18" charset="0"/>
                <a:cs typeface="Times New Roman" panose="02020603050405020304" pitchFamily="18" charset="0"/>
              </a:rPr>
              <a:t>measurements or  estimates </a:t>
            </a:r>
            <a:r>
              <a:rPr lang="en-US" sz="2600" dirty="0">
                <a:latin typeface="Times New Roman" panose="02020603050405020304" pitchFamily="18" charset="0"/>
                <a:cs typeface="Times New Roman" panose="02020603050405020304" pitchFamily="18" charset="0"/>
              </a:rPr>
              <a:t>of the </a:t>
            </a:r>
            <a:r>
              <a:rPr lang="en-US" sz="2600" dirty="0">
                <a:solidFill>
                  <a:srgbClr val="FF0000"/>
                </a:solidFill>
                <a:latin typeface="Times New Roman" panose="02020603050405020304" pitchFamily="18" charset="0"/>
                <a:cs typeface="Times New Roman" panose="02020603050405020304" pitchFamily="18" charset="0"/>
              </a:rPr>
              <a:t>current traffic and topology.</a:t>
            </a:r>
          </a:p>
          <a:p>
            <a:pPr marL="914400" marR="5080" lvl="1" indent="-355600" algn="just" rtl="0">
              <a:lnSpc>
                <a:spcPct val="130000"/>
              </a:lnSpc>
              <a:spcBef>
                <a:spcPts val="480"/>
              </a:spcBef>
              <a:spcAft>
                <a:spcPts val="0"/>
              </a:spcAft>
              <a:buClr>
                <a:schemeClr val="dk1"/>
              </a:buClr>
              <a:buSzPts val="2750"/>
              <a:buFont typeface="Arial"/>
              <a:buChar char="–"/>
            </a:pPr>
            <a:r>
              <a:rPr lang="en-US" sz="2600" dirty="0">
                <a:latin typeface="Times New Roman" panose="02020603050405020304" pitchFamily="18" charset="0"/>
                <a:cs typeface="Times New Roman" panose="02020603050405020304" pitchFamily="18" charset="0"/>
              </a:rPr>
              <a:t>The </a:t>
            </a:r>
            <a:r>
              <a:rPr lang="en-US" sz="2600" dirty="0">
                <a:solidFill>
                  <a:srgbClr val="00B050"/>
                </a:solidFill>
                <a:latin typeface="Times New Roman" panose="02020603050405020304" pitchFamily="18" charset="0"/>
                <a:cs typeface="Times New Roman" panose="02020603050405020304" pitchFamily="18" charset="0"/>
              </a:rPr>
              <a:t>choice of the route </a:t>
            </a:r>
            <a:r>
              <a:rPr lang="en-US" sz="2600" dirty="0">
                <a:latin typeface="Times New Roman" panose="02020603050405020304" pitchFamily="18" charset="0"/>
                <a:cs typeface="Times New Roman" panose="02020603050405020304" pitchFamily="18" charset="0"/>
              </a:rPr>
              <a:t>is </a:t>
            </a:r>
            <a:r>
              <a:rPr lang="en-US" sz="2600" dirty="0">
                <a:solidFill>
                  <a:srgbClr val="FF0000"/>
                </a:solidFill>
                <a:latin typeface="Times New Roman" panose="02020603050405020304" pitchFamily="18" charset="0"/>
                <a:cs typeface="Times New Roman" panose="02020603050405020304" pitchFamily="18" charset="0"/>
              </a:rPr>
              <a:t>computed in advance</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off-line</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downloaded to the  routers </a:t>
            </a:r>
            <a:r>
              <a:rPr lang="en-US" sz="2600" dirty="0">
                <a:latin typeface="Times New Roman" panose="02020603050405020304" pitchFamily="18" charset="0"/>
                <a:cs typeface="Times New Roman" panose="02020603050405020304" pitchFamily="18" charset="0"/>
              </a:rPr>
              <a:t>when the network is booted.</a:t>
            </a:r>
          </a:p>
          <a:p>
            <a:pPr marL="914400" lvl="1" indent="-355600" algn="just" rtl="0">
              <a:lnSpc>
                <a:spcPct val="130000"/>
              </a:lnSpc>
              <a:spcBef>
                <a:spcPts val="480"/>
              </a:spcBef>
              <a:spcAft>
                <a:spcPts val="0"/>
              </a:spcAft>
              <a:buClr>
                <a:schemeClr val="dk1"/>
              </a:buClr>
              <a:buSzPts val="2750"/>
              <a:buFont typeface="Arial"/>
              <a:buChar char="–"/>
            </a:pPr>
            <a:r>
              <a:rPr lang="en-US" sz="2600" dirty="0">
                <a:latin typeface="Times New Roman" panose="02020603050405020304" pitchFamily="18" charset="0"/>
                <a:cs typeface="Times New Roman" panose="02020603050405020304" pitchFamily="18" charset="0"/>
              </a:rPr>
              <a:t>This procedure is sometimes called </a:t>
            </a:r>
            <a:r>
              <a:rPr lang="en-US" sz="2600" b="1" dirty="0">
                <a:solidFill>
                  <a:srgbClr val="FF0000"/>
                </a:solidFill>
                <a:latin typeface="Times New Roman" panose="02020603050405020304" pitchFamily="18" charset="0"/>
                <a:cs typeface="Times New Roman" panose="02020603050405020304" pitchFamily="18" charset="0"/>
              </a:rPr>
              <a:t>static routing</a:t>
            </a:r>
            <a:r>
              <a:rPr lang="en-US" sz="26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815622"/>
            <a:ext cx="9144000" cy="5889978"/>
          </a:xfrm>
        </p:spPr>
        <p:txBody>
          <a:bodyPr>
            <a:normAutofit/>
          </a:bodyPr>
          <a:lstStyle/>
          <a:p>
            <a:pPr algn="just">
              <a:buFont typeface="Wingdings" pitchFamily="2" charset="2"/>
              <a:buChar char="§"/>
            </a:pPr>
            <a:r>
              <a:rPr lang="en-US" b="1" dirty="0"/>
              <a:t>Adaptive algorithms</a:t>
            </a:r>
          </a:p>
          <a:p>
            <a:pPr marL="914400" marR="748030" lvl="1" indent="-355600" algn="just" rtl="0">
              <a:lnSpc>
                <a:spcPct val="130000"/>
              </a:lnSpc>
              <a:spcBef>
                <a:spcPts val="414"/>
              </a:spcBef>
              <a:spcAft>
                <a:spcPts val="0"/>
              </a:spcAft>
              <a:buClr>
                <a:srgbClr val="00B050"/>
              </a:buClr>
              <a:buSzPts val="2750"/>
              <a:buFont typeface="Arial"/>
              <a:buChar char="–"/>
            </a:pPr>
            <a:r>
              <a:rPr lang="en-US" sz="2400" dirty="0">
                <a:solidFill>
                  <a:srgbClr val="00B050"/>
                </a:solidFill>
              </a:rPr>
              <a:t>Routing decisions </a:t>
            </a:r>
            <a:r>
              <a:rPr lang="en-US" sz="2400" dirty="0"/>
              <a:t>are based on </a:t>
            </a:r>
            <a:r>
              <a:rPr lang="en-US" sz="2400" b="1" dirty="0"/>
              <a:t>measurements or  estimates </a:t>
            </a:r>
            <a:r>
              <a:rPr lang="en-US" sz="2400" dirty="0"/>
              <a:t>of the </a:t>
            </a:r>
            <a:r>
              <a:rPr lang="en-US" sz="2400" dirty="0">
                <a:solidFill>
                  <a:srgbClr val="FF0000"/>
                </a:solidFill>
              </a:rPr>
              <a:t>current traffic and topology.</a:t>
            </a:r>
          </a:p>
          <a:p>
            <a:pPr marL="812800" lvl="1" indent="-276225" algn="just" rtl="0">
              <a:lnSpc>
                <a:spcPct val="130000"/>
              </a:lnSpc>
              <a:spcBef>
                <a:spcPts val="480"/>
              </a:spcBef>
              <a:spcAft>
                <a:spcPts val="0"/>
              </a:spcAft>
              <a:buClr>
                <a:srgbClr val="FF0000"/>
              </a:buClr>
              <a:buSzPts val="2750"/>
              <a:buFont typeface="Arial"/>
              <a:buChar char="–"/>
            </a:pPr>
            <a:r>
              <a:rPr lang="en-US" sz="2400" dirty="0">
                <a:solidFill>
                  <a:srgbClr val="FF0000"/>
                </a:solidFill>
              </a:rPr>
              <a:t>  Stability</a:t>
            </a:r>
            <a:r>
              <a:rPr lang="en-US" sz="2400" dirty="0"/>
              <a:t> is an important goal for the routing algorithm.</a:t>
            </a:r>
            <a:endParaRPr lang="en-US" sz="2000" dirty="0"/>
          </a:p>
          <a:p>
            <a:pPr marL="812800" lvl="1" indent="-276225" algn="just" rtl="0">
              <a:lnSpc>
                <a:spcPct val="130000"/>
              </a:lnSpc>
              <a:spcBef>
                <a:spcPts val="480"/>
              </a:spcBef>
              <a:spcAft>
                <a:spcPts val="0"/>
              </a:spcAft>
              <a:buClr>
                <a:schemeClr val="dk1"/>
              </a:buClr>
              <a:buSzPts val="2750"/>
              <a:buFont typeface="Arial"/>
              <a:buChar char="–"/>
            </a:pPr>
            <a:r>
              <a:rPr lang="en-US" sz="2400" dirty="0"/>
              <a:t>   This procedure is called </a:t>
            </a:r>
            <a:r>
              <a:rPr lang="en-US" sz="2400" b="1" dirty="0">
                <a:solidFill>
                  <a:srgbClr val="FF0000"/>
                </a:solidFill>
              </a:rPr>
              <a:t>dynamic routing</a:t>
            </a:r>
            <a:r>
              <a:rPr lang="en-US" sz="2400" dirty="0"/>
              <a:t>.</a:t>
            </a:r>
          </a:p>
          <a:p>
            <a:pPr lvl="1" algn="just">
              <a:buFont typeface="Wingdings" pitchFamily="2" charset="2"/>
              <a:buChar char="§"/>
            </a:pPr>
            <a:r>
              <a:rPr lang="en-US" dirty="0">
                <a:latin typeface="Times New Roman" panose="02020603050405020304" pitchFamily="18" charset="0"/>
                <a:cs typeface="Times New Roman" panose="02020603050405020304" pitchFamily="18" charset="0"/>
              </a:rPr>
              <a:t>differ in </a:t>
            </a:r>
          </a:p>
          <a:p>
            <a:pPr lvl="2" algn="just">
              <a:buFont typeface="Wingdings" pitchFamily="2" charset="2"/>
              <a:buChar char="§"/>
            </a:pPr>
            <a:r>
              <a:rPr lang="en-US" sz="2400" dirty="0">
                <a:solidFill>
                  <a:srgbClr val="FF0000"/>
                </a:solidFill>
                <a:latin typeface="Times New Roman" panose="02020603050405020304" pitchFamily="18" charset="0"/>
                <a:cs typeface="Times New Roman" panose="02020603050405020304" pitchFamily="18" charset="0"/>
              </a:rPr>
              <a:t>where they get their information </a:t>
            </a:r>
          </a:p>
          <a:p>
            <a:pPr lvl="3" algn="just">
              <a:buFont typeface="Wingdings" pitchFamily="2" charset="2"/>
              <a:buChar char="§"/>
            </a:pPr>
            <a:r>
              <a:rPr lang="en-US" sz="2400" dirty="0">
                <a:latin typeface="Times New Roman" panose="02020603050405020304" pitchFamily="18" charset="0"/>
                <a:cs typeface="Times New Roman" panose="02020603050405020304" pitchFamily="18" charset="0"/>
              </a:rPr>
              <a:t>(e.g., locally from adjacent routers, or from all routers) </a:t>
            </a:r>
          </a:p>
          <a:p>
            <a:pPr lvl="2" algn="just">
              <a:buFont typeface="Wingdings" pitchFamily="2" charset="2"/>
              <a:buChar char="§"/>
            </a:pPr>
            <a:r>
              <a:rPr lang="en-US" sz="2400" dirty="0">
                <a:solidFill>
                  <a:srgbClr val="FF0000"/>
                </a:solidFill>
                <a:latin typeface="Times New Roman" panose="02020603050405020304" pitchFamily="18" charset="0"/>
                <a:cs typeface="Times New Roman" panose="02020603050405020304" pitchFamily="18" charset="0"/>
              </a:rPr>
              <a:t>when they change the routes </a:t>
            </a:r>
          </a:p>
          <a:p>
            <a:pPr lvl="3" algn="just">
              <a:buFont typeface="Wingdings" pitchFamily="2" charset="2"/>
              <a:buChar char="§"/>
            </a:pPr>
            <a:r>
              <a:rPr lang="en-US" sz="2400" dirty="0">
                <a:latin typeface="Times New Roman" panose="02020603050405020304" pitchFamily="18" charset="0"/>
                <a:cs typeface="Times New Roman" panose="02020603050405020304" pitchFamily="18" charset="0"/>
              </a:rPr>
              <a:t>(e.g., every ΔT sec, when the load changes or when the topology changes)</a:t>
            </a:r>
          </a:p>
          <a:p>
            <a:pPr lvl="2" algn="just">
              <a:buFont typeface="Wingdings" pitchFamily="2" charset="2"/>
              <a:buChar char="§"/>
            </a:pPr>
            <a:r>
              <a:rPr lang="en-US" sz="2400" dirty="0">
                <a:solidFill>
                  <a:srgbClr val="FF0000"/>
                </a:solidFill>
                <a:latin typeface="Times New Roman" panose="02020603050405020304" pitchFamily="18" charset="0"/>
                <a:cs typeface="Times New Roman" panose="02020603050405020304" pitchFamily="18" charset="0"/>
              </a:rPr>
              <a:t>what metric is used for optimization</a:t>
            </a:r>
            <a:r>
              <a:rPr lang="en-US" sz="2400" dirty="0">
                <a:latin typeface="Times New Roman" panose="02020603050405020304" pitchFamily="18" charset="0"/>
                <a:cs typeface="Times New Roman" panose="02020603050405020304" pitchFamily="18" charset="0"/>
              </a:rPr>
              <a:t> </a:t>
            </a:r>
          </a:p>
          <a:p>
            <a:pPr lvl="3" algn="just">
              <a:buFont typeface="Wingdings" pitchFamily="2" charset="2"/>
              <a:buChar char="§"/>
            </a:pPr>
            <a:r>
              <a:rPr lang="en-US" sz="2400" dirty="0">
                <a:latin typeface="Times New Roman" panose="02020603050405020304" pitchFamily="18" charset="0"/>
                <a:cs typeface="Times New Roman" panose="02020603050405020304" pitchFamily="18" charset="0"/>
              </a:rPr>
              <a:t>(e.g., distance, number of hops, or estimated transit time)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3773775" y="143352"/>
            <a:ext cx="5907000" cy="50550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2400"/>
              <a:buFont typeface="Calibri"/>
              <a:buNone/>
            </a:pPr>
            <a:r>
              <a:rPr lang="en-US" sz="2400" b="1"/>
              <a:t> </a:t>
            </a:r>
            <a:r>
              <a:rPr lang="en-US" sz="3200" b="1"/>
              <a:t>Routing Algorithms</a:t>
            </a:r>
            <a:endParaRPr sz="3200" b="1"/>
          </a:p>
        </p:txBody>
      </p:sp>
      <p:sp>
        <p:nvSpPr>
          <p:cNvPr id="199" name="Google Shape;199;p16"/>
          <p:cNvSpPr txBox="1"/>
          <p:nvPr/>
        </p:nvSpPr>
        <p:spPr>
          <a:xfrm>
            <a:off x="799400" y="597459"/>
            <a:ext cx="10617900" cy="6319669"/>
          </a:xfrm>
          <a:prstGeom prst="rect">
            <a:avLst/>
          </a:prstGeom>
          <a:noFill/>
          <a:ln>
            <a:noFill/>
          </a:ln>
        </p:spPr>
        <p:txBody>
          <a:bodyPr spcFirstLastPara="1" wrap="square" lIns="0" tIns="86350" rIns="0" bIns="0" anchor="t" anchorCtr="0">
            <a:spAutoFit/>
          </a:bodyPr>
          <a:lstStyle/>
          <a:p>
            <a:pPr marL="457200" marR="0" lvl="0" indent="-400050" algn="l" rtl="0">
              <a:lnSpc>
                <a:spcPct val="150000"/>
              </a:lnSpc>
              <a:spcBef>
                <a:spcPts val="0"/>
              </a:spcBef>
              <a:spcAft>
                <a:spcPts val="0"/>
              </a:spcAft>
              <a:buClr>
                <a:schemeClr val="dk1"/>
              </a:buClr>
              <a:buSzPts val="2700"/>
              <a:buFont typeface="Arial"/>
              <a:buChar char="➢"/>
            </a:pPr>
            <a:r>
              <a:rPr lang="en-US" sz="2700" b="1" i="0" u="none" strike="noStrike" cap="none" dirty="0">
                <a:solidFill>
                  <a:schemeClr val="dk1"/>
                </a:solidFill>
                <a:latin typeface="Calibri"/>
                <a:ea typeface="Calibri"/>
                <a:cs typeface="Calibri"/>
                <a:sym typeface="Calibri"/>
              </a:rPr>
              <a:t>The Optimality Principle</a:t>
            </a:r>
            <a:endParaRPr sz="1700" b="1"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Shortest Path Routing </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Flooding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Distance Vector Routing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Link State Routing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0" i="0" u="none" strike="noStrike" cap="none" dirty="0">
                <a:solidFill>
                  <a:schemeClr val="dk1"/>
                </a:solidFill>
                <a:latin typeface="Calibri"/>
                <a:ea typeface="Calibri"/>
                <a:cs typeface="Calibri"/>
                <a:sym typeface="Calibri"/>
              </a:rPr>
              <a:t>Hierarchical Routing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0" i="0" u="none" strike="noStrike" cap="none" dirty="0">
                <a:solidFill>
                  <a:schemeClr val="dk1"/>
                </a:solidFill>
                <a:latin typeface="Calibri"/>
                <a:ea typeface="Calibri"/>
                <a:cs typeface="Calibri"/>
                <a:sym typeface="Calibri"/>
              </a:rPr>
              <a:t>Broadcast Routing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Multicast Routing</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1" i="0" u="none" strike="noStrike" cap="none" dirty="0">
                <a:solidFill>
                  <a:schemeClr val="dk1"/>
                </a:solidFill>
                <a:latin typeface="Calibri"/>
                <a:ea typeface="Calibri"/>
                <a:cs typeface="Calibri"/>
                <a:sym typeface="Calibri"/>
              </a:rPr>
              <a:t>Routing for Mobile Hosts</a:t>
            </a:r>
            <a:endParaRPr sz="1700" dirty="0"/>
          </a:p>
          <a:p>
            <a:pPr marL="457200" marR="0" lvl="0" indent="-355600" algn="l" rtl="0">
              <a:lnSpc>
                <a:spcPct val="150000"/>
              </a:lnSpc>
              <a:spcBef>
                <a:spcPts val="0"/>
              </a:spcBef>
              <a:spcAft>
                <a:spcPts val="0"/>
              </a:spcAft>
              <a:buClr>
                <a:schemeClr val="dk1"/>
              </a:buClr>
              <a:buSzPts val="2000"/>
              <a:buFont typeface="Arial"/>
              <a:buChar char="➢"/>
            </a:pPr>
            <a:r>
              <a:rPr lang="en-US" sz="2300" b="1" i="0" u="none" strike="noStrike" cap="none" dirty="0">
                <a:solidFill>
                  <a:schemeClr val="dk1"/>
                </a:solidFill>
                <a:latin typeface="Calibri"/>
                <a:ea typeface="Calibri"/>
                <a:cs typeface="Calibri"/>
                <a:sym typeface="Calibri"/>
              </a:rPr>
              <a:t> </a:t>
            </a:r>
            <a:r>
              <a:rPr lang="en-US" sz="2700" b="0" i="0" u="none" strike="noStrike" cap="none" dirty="0">
                <a:solidFill>
                  <a:schemeClr val="dk1"/>
                </a:solidFill>
                <a:latin typeface="Calibri"/>
                <a:ea typeface="Calibri"/>
                <a:cs typeface="Calibri"/>
                <a:sym typeface="Calibri"/>
              </a:rPr>
              <a:t>Routing in Ad Hoc Networks</a:t>
            </a:r>
            <a:endParaRPr sz="2700" dirty="0">
              <a:solidFill>
                <a:schemeClr val="dk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p:nvPr/>
        </p:nvSpPr>
        <p:spPr>
          <a:xfrm>
            <a:off x="292099" y="53092"/>
            <a:ext cx="6555961" cy="6907019"/>
          </a:xfrm>
          <a:prstGeom prst="rect">
            <a:avLst/>
          </a:prstGeom>
          <a:noFill/>
          <a:ln>
            <a:noFill/>
          </a:ln>
        </p:spPr>
        <p:txBody>
          <a:bodyPr spcFirstLastPara="1" wrap="square" lIns="0" tIns="12700" rIns="0" bIns="0" anchor="t" anchorCtr="0">
            <a:spAutoFit/>
          </a:bodyPr>
          <a:lstStyle/>
          <a:p>
            <a:pPr marL="0" marR="0" lvl="0" indent="0" algn="l" rtl="0">
              <a:spcBef>
                <a:spcPts val="0"/>
              </a:spcBef>
              <a:spcAft>
                <a:spcPts val="0"/>
              </a:spcAft>
              <a:buNone/>
            </a:pPr>
            <a:r>
              <a:rPr lang="en-US" sz="3100" b="1" dirty="0">
                <a:solidFill>
                  <a:schemeClr val="dk1"/>
                </a:solidFill>
              </a:rPr>
              <a:t>The Optimality Principle</a:t>
            </a:r>
            <a:endParaRPr sz="2100" b="1" dirty="0"/>
          </a:p>
          <a:p>
            <a:pPr marL="356870" marR="0" lvl="0" indent="-344805" algn="just" rtl="0">
              <a:spcBef>
                <a:spcPts val="580"/>
              </a:spcBef>
              <a:spcAft>
                <a:spcPts val="0"/>
              </a:spcAft>
              <a:buClr>
                <a:srgbClr val="0000CC"/>
              </a:buClr>
              <a:buSzPts val="2800"/>
              <a:buFont typeface="Arial"/>
              <a:buChar char="•"/>
            </a:pPr>
            <a:r>
              <a:rPr lang="en-US" sz="2800" dirty="0">
                <a:solidFill>
                  <a:schemeClr val="dk1"/>
                </a:solidFill>
                <a:latin typeface="Calibri"/>
                <a:ea typeface="Calibri"/>
                <a:cs typeface="Calibri"/>
                <a:sym typeface="Calibri"/>
              </a:rPr>
              <a:t>The </a:t>
            </a:r>
            <a:r>
              <a:rPr lang="en-US" sz="2800" b="1" dirty="0">
                <a:solidFill>
                  <a:schemeClr val="dk1"/>
                </a:solidFill>
                <a:latin typeface="Calibri"/>
                <a:ea typeface="Calibri"/>
                <a:cs typeface="Calibri"/>
                <a:sym typeface="Calibri"/>
              </a:rPr>
              <a:t>optimality principle </a:t>
            </a:r>
            <a:r>
              <a:rPr lang="en-US" sz="2800" dirty="0">
                <a:solidFill>
                  <a:schemeClr val="dk1"/>
                </a:solidFill>
                <a:latin typeface="Calibri"/>
                <a:ea typeface="Calibri"/>
                <a:cs typeface="Calibri"/>
                <a:sym typeface="Calibri"/>
              </a:rPr>
              <a:t>states that if </a:t>
            </a:r>
            <a:r>
              <a:rPr lang="en-US" sz="2800" dirty="0">
                <a:solidFill>
                  <a:srgbClr val="FF0000"/>
                </a:solidFill>
                <a:latin typeface="Calibri"/>
                <a:ea typeface="Calibri"/>
                <a:cs typeface="Calibri"/>
                <a:sym typeface="Calibri"/>
              </a:rPr>
              <a:t>router </a:t>
            </a:r>
            <a:r>
              <a:rPr lang="en-US" sz="2800" i="1" dirty="0">
                <a:solidFill>
                  <a:srgbClr val="FF0000"/>
                </a:solidFill>
                <a:latin typeface="Calibri"/>
                <a:ea typeface="Calibri"/>
                <a:cs typeface="Calibri"/>
                <a:sym typeface="Calibri"/>
              </a:rPr>
              <a:t>J </a:t>
            </a:r>
            <a:r>
              <a:rPr lang="en-US" sz="2800" dirty="0">
                <a:solidFill>
                  <a:schemeClr val="dk1"/>
                </a:solidFill>
                <a:latin typeface="Calibri"/>
                <a:ea typeface="Calibri"/>
                <a:cs typeface="Calibri"/>
                <a:sym typeface="Calibri"/>
              </a:rPr>
              <a:t>is on the </a:t>
            </a:r>
            <a:r>
              <a:rPr lang="en-US" sz="2800" dirty="0">
                <a:solidFill>
                  <a:srgbClr val="FF0000"/>
                </a:solidFill>
                <a:latin typeface="Calibri"/>
                <a:ea typeface="Calibri"/>
                <a:cs typeface="Calibri"/>
                <a:sym typeface="Calibri"/>
              </a:rPr>
              <a:t>optimal path</a:t>
            </a:r>
            <a:r>
              <a:rPr lang="en-US" sz="2800" dirty="0">
                <a:solidFill>
                  <a:schemeClr val="dk1"/>
                </a:solidFill>
                <a:latin typeface="Calibri"/>
                <a:ea typeface="Calibri"/>
                <a:cs typeface="Calibri"/>
                <a:sym typeface="Calibri"/>
              </a:rPr>
              <a:t> from  router </a:t>
            </a:r>
            <a:r>
              <a:rPr lang="en-US" sz="2800" i="1" dirty="0">
                <a:solidFill>
                  <a:srgbClr val="FF0000"/>
                </a:solidFill>
                <a:latin typeface="Calibri"/>
                <a:ea typeface="Calibri"/>
                <a:cs typeface="Calibri"/>
                <a:sym typeface="Calibri"/>
              </a:rPr>
              <a:t>I </a:t>
            </a:r>
            <a:r>
              <a:rPr lang="en-US" sz="2800" dirty="0">
                <a:solidFill>
                  <a:srgbClr val="FF0000"/>
                </a:solidFill>
                <a:latin typeface="Calibri"/>
                <a:ea typeface="Calibri"/>
                <a:cs typeface="Calibri"/>
                <a:sym typeface="Calibri"/>
              </a:rPr>
              <a:t>to router </a:t>
            </a:r>
            <a:r>
              <a:rPr lang="en-US" sz="2800" i="1" dirty="0">
                <a:solidFill>
                  <a:srgbClr val="FF0000"/>
                </a:solidFill>
                <a:latin typeface="Calibri"/>
                <a:ea typeface="Calibri"/>
                <a:cs typeface="Calibri"/>
                <a:sym typeface="Calibri"/>
              </a:rPr>
              <a:t>K</a:t>
            </a:r>
            <a:r>
              <a:rPr lang="en-US" sz="2800" dirty="0">
                <a:solidFill>
                  <a:schemeClr val="dk1"/>
                </a:solidFill>
                <a:latin typeface="Calibri"/>
                <a:ea typeface="Calibri"/>
                <a:cs typeface="Calibri"/>
                <a:sym typeface="Calibri"/>
              </a:rPr>
              <a:t>, then the optimal path </a:t>
            </a:r>
            <a:r>
              <a:rPr lang="en-US" sz="2800" dirty="0">
                <a:solidFill>
                  <a:srgbClr val="FF0000"/>
                </a:solidFill>
                <a:latin typeface="Calibri"/>
                <a:ea typeface="Calibri"/>
                <a:cs typeface="Calibri"/>
                <a:sym typeface="Calibri"/>
              </a:rPr>
              <a:t>from </a:t>
            </a:r>
            <a:r>
              <a:rPr lang="en-US" sz="2800" i="1" dirty="0">
                <a:solidFill>
                  <a:srgbClr val="FF0000"/>
                </a:solidFill>
                <a:latin typeface="Calibri"/>
                <a:ea typeface="Calibri"/>
                <a:cs typeface="Calibri"/>
                <a:sym typeface="Calibri"/>
              </a:rPr>
              <a:t>J </a:t>
            </a:r>
            <a:r>
              <a:rPr lang="en-US" sz="2800" dirty="0">
                <a:solidFill>
                  <a:srgbClr val="FF0000"/>
                </a:solidFill>
                <a:latin typeface="Calibri"/>
                <a:ea typeface="Calibri"/>
                <a:cs typeface="Calibri"/>
                <a:sym typeface="Calibri"/>
              </a:rPr>
              <a:t>to </a:t>
            </a:r>
            <a:r>
              <a:rPr lang="en-US" sz="2800" i="1" dirty="0">
                <a:solidFill>
                  <a:srgbClr val="FF0000"/>
                </a:solidFill>
                <a:latin typeface="Calibri"/>
                <a:ea typeface="Calibri"/>
                <a:cs typeface="Calibri"/>
                <a:sym typeface="Calibri"/>
              </a:rPr>
              <a:t>K  </a:t>
            </a:r>
            <a:r>
              <a:rPr lang="en-US" sz="2800" dirty="0">
                <a:solidFill>
                  <a:srgbClr val="FF0000"/>
                </a:solidFill>
                <a:latin typeface="Calibri"/>
                <a:ea typeface="Calibri"/>
                <a:cs typeface="Calibri"/>
                <a:sym typeface="Calibri"/>
              </a:rPr>
              <a:t>also falls along the same route.</a:t>
            </a:r>
          </a:p>
          <a:p>
            <a:pPr marL="356870" marR="0" lvl="0" indent="-344805" algn="just" rtl="0">
              <a:spcBef>
                <a:spcPts val="580"/>
              </a:spcBef>
              <a:spcAft>
                <a:spcPts val="0"/>
              </a:spcAft>
              <a:buClr>
                <a:srgbClr val="0000CC"/>
              </a:buClr>
              <a:buSzPts val="2800"/>
              <a:buFont typeface="Arial"/>
              <a:buChar char="•"/>
            </a:pPr>
            <a:r>
              <a:rPr lang="en-US" sz="2800" dirty="0">
                <a:solidFill>
                  <a:schemeClr val="tx1"/>
                </a:solidFill>
                <a:latin typeface="Calibri"/>
                <a:ea typeface="Calibri"/>
                <a:cs typeface="Calibri"/>
                <a:sym typeface="Calibri"/>
              </a:rPr>
              <a:t>T</a:t>
            </a:r>
            <a:r>
              <a:rPr lang="en-US" sz="2800" dirty="0">
                <a:solidFill>
                  <a:schemeClr val="dk1"/>
                </a:solidFill>
                <a:latin typeface="Calibri"/>
                <a:ea typeface="Calibri"/>
                <a:cs typeface="Calibri"/>
                <a:sym typeface="Calibri"/>
              </a:rPr>
              <a:t>he set of optimal routes from all sources to a given destination form a </a:t>
            </a:r>
            <a:r>
              <a:rPr lang="en-US" sz="2800" dirty="0">
                <a:solidFill>
                  <a:srgbClr val="FF0000"/>
                </a:solidFill>
                <a:latin typeface="Calibri"/>
                <a:ea typeface="Calibri"/>
                <a:cs typeface="Calibri"/>
                <a:sym typeface="Calibri"/>
              </a:rPr>
              <a:t>tree rooted </a:t>
            </a:r>
            <a:r>
              <a:rPr lang="en-US" sz="2800" dirty="0">
                <a:solidFill>
                  <a:schemeClr val="dk1"/>
                </a:solidFill>
                <a:latin typeface="Calibri"/>
                <a:ea typeface="Calibri"/>
                <a:cs typeface="Calibri"/>
                <a:sym typeface="Calibri"/>
              </a:rPr>
              <a:t>at the </a:t>
            </a:r>
            <a:r>
              <a:rPr lang="en-US" sz="2800" dirty="0">
                <a:solidFill>
                  <a:srgbClr val="00B050"/>
                </a:solidFill>
                <a:latin typeface="Calibri"/>
                <a:ea typeface="Calibri"/>
                <a:cs typeface="Calibri"/>
                <a:sym typeface="Calibri"/>
              </a:rPr>
              <a:t>destination</a:t>
            </a:r>
            <a:r>
              <a:rPr lang="en-US" sz="2800" dirty="0">
                <a:solidFill>
                  <a:schemeClr val="dk1"/>
                </a:solidFill>
                <a:latin typeface="Calibri"/>
                <a:ea typeface="Calibri"/>
                <a:cs typeface="Calibri"/>
                <a:sym typeface="Calibri"/>
              </a:rPr>
              <a:t>. </a:t>
            </a:r>
            <a:endParaRPr dirty="0"/>
          </a:p>
          <a:p>
            <a:pPr marL="356870" marR="264160" lvl="0" indent="-344805" algn="just" rtl="0">
              <a:spcBef>
                <a:spcPts val="580"/>
              </a:spcBef>
              <a:spcAft>
                <a:spcPts val="0"/>
              </a:spcAft>
              <a:buClr>
                <a:srgbClr val="0000CC"/>
              </a:buClr>
              <a:buSzPts val="2800"/>
              <a:buFont typeface="Arial"/>
              <a:buChar char="•"/>
            </a:pPr>
            <a:r>
              <a:rPr lang="en-US" sz="2800" dirty="0">
                <a:solidFill>
                  <a:schemeClr val="dk1"/>
                </a:solidFill>
                <a:latin typeface="Calibri"/>
                <a:ea typeface="Calibri"/>
                <a:cs typeface="Calibri"/>
                <a:sym typeface="Calibri"/>
              </a:rPr>
              <a:t>Such a tree is called a </a:t>
            </a:r>
            <a:r>
              <a:rPr lang="en-US" sz="2800" b="1" dirty="0">
                <a:solidFill>
                  <a:schemeClr val="dk1"/>
                </a:solidFill>
                <a:latin typeface="Calibri"/>
                <a:ea typeface="Calibri"/>
                <a:cs typeface="Calibri"/>
                <a:sym typeface="Calibri"/>
              </a:rPr>
              <a:t>sink tree</a:t>
            </a:r>
            <a:r>
              <a:rPr lang="en-US" sz="2800" dirty="0">
                <a:solidFill>
                  <a:schemeClr val="dk1"/>
                </a:solidFill>
                <a:latin typeface="Calibri"/>
                <a:ea typeface="Calibri"/>
                <a:cs typeface="Calibri"/>
                <a:sym typeface="Calibri"/>
              </a:rPr>
              <a:t>.</a:t>
            </a:r>
            <a:endParaRPr dirty="0"/>
          </a:p>
          <a:p>
            <a:pPr marL="356870" marR="264160" lvl="0" indent="-344805" algn="just" rtl="0">
              <a:spcBef>
                <a:spcPts val="580"/>
              </a:spcBef>
              <a:spcAft>
                <a:spcPts val="0"/>
              </a:spcAft>
              <a:buClr>
                <a:srgbClr val="0000CC"/>
              </a:buClr>
              <a:buSzPts val="2800"/>
              <a:buFont typeface="Arial"/>
              <a:buChar char="•"/>
            </a:pPr>
            <a:r>
              <a:rPr lang="en-US" sz="2800" dirty="0">
                <a:solidFill>
                  <a:schemeClr val="dk1"/>
                </a:solidFill>
                <a:latin typeface="Calibri"/>
                <a:ea typeface="Calibri"/>
                <a:cs typeface="Calibri"/>
                <a:sym typeface="Calibri"/>
              </a:rPr>
              <a:t>The distance metric is the number of </a:t>
            </a:r>
            <a:r>
              <a:rPr lang="en-US" sz="2800" b="1" dirty="0">
                <a:solidFill>
                  <a:schemeClr val="dk1"/>
                </a:solidFill>
                <a:latin typeface="Calibri"/>
                <a:ea typeface="Calibri"/>
                <a:cs typeface="Calibri"/>
                <a:sym typeface="Calibri"/>
              </a:rPr>
              <a:t>hops</a:t>
            </a:r>
            <a:r>
              <a:rPr lang="en-US" sz="2800" dirty="0">
                <a:solidFill>
                  <a:schemeClr val="dk1"/>
                </a:solidFill>
                <a:latin typeface="Calibri"/>
                <a:ea typeface="Calibri"/>
                <a:cs typeface="Calibri"/>
                <a:sym typeface="Calibri"/>
              </a:rPr>
              <a:t>.</a:t>
            </a:r>
            <a:endParaRPr dirty="0"/>
          </a:p>
          <a:p>
            <a:pPr marL="356870" marR="264160" lvl="0" indent="-344805" algn="just" rtl="0">
              <a:spcBef>
                <a:spcPts val="580"/>
              </a:spcBef>
              <a:spcAft>
                <a:spcPts val="0"/>
              </a:spcAft>
              <a:buClr>
                <a:srgbClr val="0000CC"/>
              </a:buClr>
              <a:buSzPts val="2800"/>
              <a:buFont typeface="Arial"/>
              <a:buChar char="•"/>
            </a:pPr>
            <a:r>
              <a:rPr lang="en-US" sz="2800" dirty="0">
                <a:solidFill>
                  <a:schemeClr val="dk1"/>
                </a:solidFill>
                <a:latin typeface="Calibri"/>
                <a:ea typeface="Calibri"/>
                <a:cs typeface="Calibri"/>
                <a:sym typeface="Calibri"/>
              </a:rPr>
              <a:t>The</a:t>
            </a:r>
            <a:r>
              <a:rPr lang="en-US" sz="2800" b="1" dirty="0">
                <a:solidFill>
                  <a:schemeClr val="dk1"/>
                </a:solidFill>
                <a:latin typeface="Calibri"/>
                <a:ea typeface="Calibri"/>
                <a:cs typeface="Calibri"/>
                <a:sym typeface="Calibri"/>
              </a:rPr>
              <a:t> goal </a:t>
            </a:r>
            <a:r>
              <a:rPr lang="en-US" sz="2800" dirty="0">
                <a:solidFill>
                  <a:schemeClr val="dk1"/>
                </a:solidFill>
                <a:latin typeface="Calibri"/>
                <a:ea typeface="Calibri"/>
                <a:cs typeface="Calibri"/>
                <a:sym typeface="Calibri"/>
              </a:rPr>
              <a:t>of all </a:t>
            </a:r>
            <a:r>
              <a:rPr lang="en-US" sz="2800" dirty="0">
                <a:solidFill>
                  <a:srgbClr val="00B050"/>
                </a:solidFill>
                <a:latin typeface="Calibri"/>
                <a:ea typeface="Calibri"/>
                <a:cs typeface="Calibri"/>
                <a:sym typeface="Calibri"/>
              </a:rPr>
              <a:t>routing algorithms </a:t>
            </a:r>
            <a:r>
              <a:rPr lang="en-US" sz="2800" dirty="0">
                <a:solidFill>
                  <a:schemeClr val="dk1"/>
                </a:solidFill>
                <a:latin typeface="Calibri"/>
                <a:ea typeface="Calibri"/>
                <a:cs typeface="Calibri"/>
                <a:sym typeface="Calibri"/>
              </a:rPr>
              <a:t>is to </a:t>
            </a:r>
            <a:r>
              <a:rPr lang="en-US" sz="2800" dirty="0">
                <a:solidFill>
                  <a:srgbClr val="FF0000"/>
                </a:solidFill>
                <a:latin typeface="Calibri"/>
                <a:ea typeface="Calibri"/>
                <a:cs typeface="Calibri"/>
                <a:sym typeface="Calibri"/>
              </a:rPr>
              <a:t>discover and use the sink trees for all routers. </a:t>
            </a:r>
            <a:endParaRPr sz="2800" dirty="0">
              <a:solidFill>
                <a:srgbClr val="FF0000"/>
              </a:solidFill>
              <a:latin typeface="Calibri"/>
              <a:ea typeface="Calibri"/>
              <a:cs typeface="Calibri"/>
              <a:sym typeface="Calibri"/>
            </a:endParaRPr>
          </a:p>
        </p:txBody>
      </p:sp>
      <p:sp>
        <p:nvSpPr>
          <p:cNvPr id="205" name="Google Shape;205;p17"/>
          <p:cNvSpPr/>
          <p:nvPr/>
        </p:nvSpPr>
        <p:spPr>
          <a:xfrm>
            <a:off x="6926508" y="489678"/>
            <a:ext cx="5133484" cy="27407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7"/>
          <p:cNvSpPr txBox="1"/>
          <p:nvPr/>
        </p:nvSpPr>
        <p:spPr>
          <a:xfrm>
            <a:off x="7195113" y="3540862"/>
            <a:ext cx="6460490" cy="454025"/>
          </a:xfrm>
          <a:prstGeom prst="rect">
            <a:avLst/>
          </a:prstGeom>
          <a:noFill/>
          <a:ln>
            <a:noFill/>
          </a:ln>
        </p:spPr>
        <p:txBody>
          <a:bodyPr spcFirstLastPara="1" wrap="square" lIns="0" tIns="13950" rIns="0" bIns="0" anchor="t" anchorCtr="0">
            <a:spAutoFit/>
          </a:bodyPr>
          <a:lstStyle/>
          <a:p>
            <a:pPr marL="12700" marR="0" lvl="0" indent="0" algn="l" rtl="0">
              <a:spcBef>
                <a:spcPts val="0"/>
              </a:spcBef>
              <a:spcAft>
                <a:spcPts val="0"/>
              </a:spcAft>
              <a:buNone/>
            </a:pPr>
            <a:r>
              <a:rPr lang="en-US" sz="2800">
                <a:solidFill>
                  <a:srgbClr val="E36C09"/>
                </a:solidFill>
                <a:latin typeface="Arial"/>
                <a:ea typeface="Arial"/>
                <a:cs typeface="Arial"/>
                <a:sym typeface="Arial"/>
              </a:rPr>
              <a:t>(</a:t>
            </a:r>
            <a:r>
              <a:rPr lang="en-US" sz="1800">
                <a:solidFill>
                  <a:srgbClr val="E36C09"/>
                </a:solidFill>
                <a:latin typeface="Arial"/>
                <a:ea typeface="Arial"/>
                <a:cs typeface="Arial"/>
                <a:sym typeface="Arial"/>
              </a:rPr>
              <a:t>a) </a:t>
            </a:r>
            <a:r>
              <a:rPr lang="en-US" sz="1800">
                <a:solidFill>
                  <a:schemeClr val="dk1"/>
                </a:solidFill>
                <a:latin typeface="Arial"/>
                <a:ea typeface="Arial"/>
                <a:cs typeface="Arial"/>
                <a:sym typeface="Arial"/>
              </a:rPr>
              <a:t>A network. </a:t>
            </a:r>
            <a:r>
              <a:rPr lang="en-US" sz="1800">
                <a:solidFill>
                  <a:srgbClr val="E36C09"/>
                </a:solidFill>
                <a:latin typeface="Arial"/>
                <a:ea typeface="Arial"/>
                <a:cs typeface="Arial"/>
                <a:sym typeface="Arial"/>
              </a:rPr>
              <a:t>(b) </a:t>
            </a:r>
            <a:r>
              <a:rPr lang="en-US" sz="1800">
                <a:solidFill>
                  <a:schemeClr val="dk1"/>
                </a:solidFill>
                <a:latin typeface="Arial"/>
                <a:ea typeface="Arial"/>
                <a:cs typeface="Arial"/>
                <a:sym typeface="Arial"/>
              </a:rPr>
              <a:t>A sink tree for router </a:t>
            </a:r>
            <a:r>
              <a:rPr lang="en-US" sz="1800" i="1">
                <a:solidFill>
                  <a:schemeClr val="dk1"/>
                </a:solidFill>
                <a:latin typeface="Arial"/>
                <a:ea typeface="Arial"/>
                <a:cs typeface="Arial"/>
                <a:sym typeface="Arial"/>
              </a:rPr>
              <a:t>B</a:t>
            </a:r>
            <a:r>
              <a:rPr lang="en-US" sz="2800" i="1">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207" name="Google Shape;207;p17"/>
          <p:cNvSpPr/>
          <p:nvPr/>
        </p:nvSpPr>
        <p:spPr>
          <a:xfrm>
            <a:off x="7708900" y="4305300"/>
            <a:ext cx="3568700" cy="18669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u="sng">
                <a:solidFill>
                  <a:schemeClr val="lt1"/>
                </a:solidFill>
                <a:latin typeface="Calibri"/>
                <a:ea typeface="Calibri"/>
                <a:cs typeface="Calibri"/>
                <a:sym typeface="Calibri"/>
              </a:rPr>
              <a:t>Optimality Principle</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If J is optimal path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from I  to K</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Then , optimal path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from J to K also same route</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2084294" y="79828"/>
            <a:ext cx="5330400" cy="645300"/>
          </a:xfrm>
          <a:prstGeom prst="rect">
            <a:avLst/>
          </a:prstGeom>
          <a:noFill/>
          <a:ln>
            <a:noFill/>
          </a:ln>
        </p:spPr>
        <p:txBody>
          <a:bodyPr spcFirstLastPara="1" wrap="square" lIns="0" tIns="13950" rIns="0" bIns="0" anchor="ctr" anchorCtr="0">
            <a:spAutoFit/>
          </a:bodyPr>
          <a:lstStyle/>
          <a:p>
            <a:pPr marL="12700" lvl="0" indent="0" algn="l" rtl="0">
              <a:lnSpc>
                <a:spcPct val="100000"/>
              </a:lnSpc>
              <a:spcBef>
                <a:spcPts val="0"/>
              </a:spcBef>
              <a:spcAft>
                <a:spcPts val="0"/>
              </a:spcAft>
              <a:buClr>
                <a:schemeClr val="dk1"/>
              </a:buClr>
              <a:buSzPts val="3200"/>
              <a:buFont typeface="Calibri"/>
              <a:buNone/>
            </a:pPr>
            <a:r>
              <a:rPr lang="en-US" sz="4100" b="1">
                <a:latin typeface="Calibri"/>
                <a:ea typeface="Calibri"/>
                <a:cs typeface="Calibri"/>
                <a:sym typeface="Calibri"/>
              </a:rPr>
              <a:t>Shortest Path Algorithm</a:t>
            </a:r>
            <a:endParaRPr sz="5300"/>
          </a:p>
        </p:txBody>
      </p:sp>
      <p:sp>
        <p:nvSpPr>
          <p:cNvPr id="213" name="Google Shape;213;p18"/>
          <p:cNvSpPr txBox="1"/>
          <p:nvPr/>
        </p:nvSpPr>
        <p:spPr>
          <a:xfrm>
            <a:off x="556595" y="3201550"/>
            <a:ext cx="11190522" cy="3915300"/>
          </a:xfrm>
          <a:prstGeom prst="rect">
            <a:avLst/>
          </a:prstGeom>
          <a:noFill/>
          <a:ln>
            <a:noFill/>
          </a:ln>
        </p:spPr>
        <p:txBody>
          <a:bodyPr spcFirstLastPara="1" wrap="square" lIns="0" tIns="85075" rIns="0" bIns="0" anchor="t" anchorCtr="0">
            <a:spAutoFit/>
          </a:bodyPr>
          <a:lstStyle/>
          <a:p>
            <a:pPr marL="356870" marR="0" lvl="0" indent="-395605" algn="just" rtl="0">
              <a:spcBef>
                <a:spcPts val="0"/>
              </a:spcBef>
              <a:spcAft>
                <a:spcPts val="0"/>
              </a:spcAft>
              <a:buClr>
                <a:srgbClr val="0000CC"/>
              </a:buClr>
              <a:buSzPts val="3200"/>
              <a:buFont typeface="Arial"/>
              <a:buChar char="•"/>
            </a:pPr>
            <a:r>
              <a:rPr lang="en-US" sz="3200" dirty="0">
                <a:solidFill>
                  <a:schemeClr val="dk1"/>
                </a:solidFill>
                <a:latin typeface="Calibri"/>
                <a:ea typeface="Calibri"/>
                <a:cs typeface="Calibri"/>
                <a:sym typeface="Calibri"/>
              </a:rPr>
              <a:t>The	idea is</a:t>
            </a:r>
            <a:endParaRPr sz="2200" dirty="0"/>
          </a:p>
          <a:p>
            <a:pPr marL="511175" marR="61594" lvl="1" indent="-228600" algn="just" rtl="0">
              <a:spcBef>
                <a:spcPts val="1200"/>
              </a:spcBef>
              <a:spcAft>
                <a:spcPts val="0"/>
              </a:spcAft>
              <a:buClr>
                <a:schemeClr val="dk1"/>
              </a:buClr>
              <a:buSzPts val="1800"/>
              <a:buFont typeface="Arial"/>
              <a:buChar char="–"/>
            </a:pPr>
            <a:r>
              <a:rPr lang="en-US" sz="2600" b="0" i="0" u="none" strike="noStrike" cap="none" dirty="0">
                <a:solidFill>
                  <a:schemeClr val="dk1"/>
                </a:solidFill>
                <a:latin typeface="Calibri"/>
                <a:ea typeface="Calibri"/>
                <a:cs typeface="Calibri"/>
                <a:sym typeface="Calibri"/>
              </a:rPr>
              <a:t> </a:t>
            </a:r>
            <a:r>
              <a:rPr lang="en-US" sz="3200" b="1" i="0" u="none" strike="noStrike" cap="none" dirty="0">
                <a:solidFill>
                  <a:schemeClr val="dk1"/>
                </a:solidFill>
                <a:latin typeface="Calibri"/>
                <a:ea typeface="Calibri"/>
                <a:cs typeface="Calibri"/>
                <a:sym typeface="Calibri"/>
              </a:rPr>
              <a:t>build a graph of the subnet</a:t>
            </a:r>
            <a:r>
              <a:rPr lang="en-US" sz="3200" b="0" i="0" u="none" strike="noStrike" cap="none" dirty="0">
                <a:solidFill>
                  <a:schemeClr val="dk1"/>
                </a:solidFill>
                <a:latin typeface="Calibri"/>
                <a:ea typeface="Calibri"/>
                <a:cs typeface="Calibri"/>
                <a:sym typeface="Calibri"/>
              </a:rPr>
              <a:t>, with each </a:t>
            </a:r>
            <a:r>
              <a:rPr lang="en-US" sz="3200" b="0" i="0" u="none" strike="noStrike" cap="none" dirty="0">
                <a:solidFill>
                  <a:srgbClr val="FF0000"/>
                </a:solidFill>
                <a:latin typeface="Calibri"/>
                <a:ea typeface="Calibri"/>
                <a:cs typeface="Calibri"/>
                <a:sym typeface="Calibri"/>
              </a:rPr>
              <a:t>node</a:t>
            </a:r>
            <a:r>
              <a:rPr lang="en-US" sz="3200" b="0" i="0" u="none" strike="noStrike" cap="none" dirty="0">
                <a:solidFill>
                  <a:schemeClr val="dk1"/>
                </a:solidFill>
                <a:latin typeface="Calibri"/>
                <a:ea typeface="Calibri"/>
                <a:cs typeface="Calibri"/>
                <a:sym typeface="Calibri"/>
              </a:rPr>
              <a:t> of the graph  representing a </a:t>
            </a:r>
            <a:r>
              <a:rPr lang="en-US" sz="3200" b="0" i="0" u="none" strike="noStrike" cap="none" dirty="0">
                <a:solidFill>
                  <a:srgbClr val="00B050"/>
                </a:solidFill>
                <a:latin typeface="Calibri"/>
                <a:ea typeface="Calibri"/>
                <a:cs typeface="Calibri"/>
                <a:sym typeface="Calibri"/>
              </a:rPr>
              <a:t>router</a:t>
            </a:r>
            <a:r>
              <a:rPr lang="en-US" sz="3200" b="0" i="0" u="none" strike="noStrike" cap="none" dirty="0">
                <a:solidFill>
                  <a:schemeClr val="dk1"/>
                </a:solidFill>
                <a:latin typeface="Calibri"/>
                <a:ea typeface="Calibri"/>
                <a:cs typeface="Calibri"/>
                <a:sym typeface="Calibri"/>
              </a:rPr>
              <a:t> and each </a:t>
            </a:r>
            <a:r>
              <a:rPr lang="en-US" sz="3200" b="0" i="0" u="none" strike="noStrike" cap="none" dirty="0">
                <a:solidFill>
                  <a:srgbClr val="FF0000"/>
                </a:solidFill>
                <a:latin typeface="Calibri"/>
                <a:ea typeface="Calibri"/>
                <a:cs typeface="Calibri"/>
                <a:sym typeface="Calibri"/>
              </a:rPr>
              <a:t>arc</a:t>
            </a:r>
            <a:r>
              <a:rPr lang="en-US" sz="3200" b="0" i="0" u="none" strike="noStrike" cap="none" dirty="0">
                <a:solidFill>
                  <a:schemeClr val="dk1"/>
                </a:solidFill>
                <a:latin typeface="Calibri"/>
                <a:ea typeface="Calibri"/>
                <a:cs typeface="Calibri"/>
                <a:sym typeface="Calibri"/>
              </a:rPr>
              <a:t> of the graph representing  a </a:t>
            </a:r>
            <a:r>
              <a:rPr lang="en-US" sz="3200" b="0" i="0" u="none" strike="noStrike" cap="none" dirty="0">
                <a:solidFill>
                  <a:srgbClr val="00B050"/>
                </a:solidFill>
                <a:latin typeface="Calibri"/>
                <a:ea typeface="Calibri"/>
                <a:cs typeface="Calibri"/>
                <a:sym typeface="Calibri"/>
              </a:rPr>
              <a:t>communication line </a:t>
            </a:r>
            <a:r>
              <a:rPr lang="en-US" sz="3200" b="0" i="0" u="none" strike="noStrike" cap="none" dirty="0">
                <a:solidFill>
                  <a:schemeClr val="dk1"/>
                </a:solidFill>
                <a:latin typeface="Calibri"/>
                <a:ea typeface="Calibri"/>
                <a:cs typeface="Calibri"/>
                <a:sym typeface="Calibri"/>
              </a:rPr>
              <a:t>(often called a link).</a:t>
            </a:r>
            <a:endParaRPr sz="3400" b="0" i="0" u="none" strike="noStrike" cap="none" dirty="0">
              <a:solidFill>
                <a:schemeClr val="dk1"/>
              </a:solidFill>
              <a:latin typeface="Calibri"/>
              <a:ea typeface="Calibri"/>
              <a:cs typeface="Calibri"/>
              <a:sym typeface="Calibri"/>
            </a:endParaRPr>
          </a:p>
          <a:p>
            <a:pPr marL="356870" marR="5080" lvl="0" indent="-395605" algn="just" rtl="0">
              <a:spcBef>
                <a:spcPts val="1200"/>
              </a:spcBef>
              <a:spcAft>
                <a:spcPts val="0"/>
              </a:spcAft>
              <a:buClr>
                <a:srgbClr val="0000CC"/>
              </a:buClr>
              <a:buSzPts val="3200"/>
              <a:buFont typeface="Arial"/>
              <a:buChar char="•"/>
            </a:pPr>
            <a:r>
              <a:rPr lang="en-US" sz="3200" dirty="0">
                <a:solidFill>
                  <a:schemeClr val="dk1"/>
                </a:solidFill>
                <a:latin typeface="Calibri"/>
                <a:ea typeface="Calibri"/>
                <a:cs typeface="Calibri"/>
                <a:sym typeface="Calibri"/>
              </a:rPr>
              <a:t>To choose a </a:t>
            </a:r>
            <a:r>
              <a:rPr lang="en-US" sz="3200" b="1" dirty="0">
                <a:solidFill>
                  <a:schemeClr val="dk1"/>
                </a:solidFill>
                <a:latin typeface="Calibri"/>
                <a:ea typeface="Calibri"/>
                <a:cs typeface="Calibri"/>
                <a:sym typeface="Calibri"/>
              </a:rPr>
              <a:t>route</a:t>
            </a:r>
            <a:r>
              <a:rPr lang="en-US" sz="3200" dirty="0">
                <a:solidFill>
                  <a:schemeClr val="dk1"/>
                </a:solidFill>
                <a:latin typeface="Calibri"/>
                <a:ea typeface="Calibri"/>
                <a:cs typeface="Calibri"/>
                <a:sym typeface="Calibri"/>
              </a:rPr>
              <a:t> between a given pair of routers, the algorithm  just finds the </a:t>
            </a:r>
            <a:r>
              <a:rPr lang="en-US" sz="3200" dirty="0">
                <a:solidFill>
                  <a:srgbClr val="FF0000"/>
                </a:solidFill>
                <a:latin typeface="Calibri"/>
                <a:ea typeface="Calibri"/>
                <a:cs typeface="Calibri"/>
                <a:sym typeface="Calibri"/>
              </a:rPr>
              <a:t>shortest path between them on the graph</a:t>
            </a:r>
            <a:r>
              <a:rPr lang="en-US" sz="3200" dirty="0">
                <a:solidFill>
                  <a:schemeClr val="dk1"/>
                </a:solidFill>
                <a:latin typeface="Calibri"/>
                <a:ea typeface="Calibri"/>
                <a:cs typeface="Calibri"/>
                <a:sym typeface="Calibri"/>
              </a:rPr>
              <a:t>.</a:t>
            </a:r>
            <a:endParaRPr sz="3200" dirty="0">
              <a:solidFill>
                <a:schemeClr val="dk1"/>
              </a:solidFill>
              <a:latin typeface="Calibri"/>
              <a:ea typeface="Calibri"/>
              <a:cs typeface="Calibri"/>
              <a:sym typeface="Calibri"/>
            </a:endParaRPr>
          </a:p>
          <a:p>
            <a:pPr marL="469265" marR="0" lvl="1" indent="0" algn="l" rtl="0">
              <a:spcBef>
                <a:spcPts val="575"/>
              </a:spcBef>
              <a:spcAft>
                <a:spcPts val="0"/>
              </a:spcAft>
              <a:buNone/>
            </a:pPr>
            <a:endParaRPr sz="3200" b="0" i="0" u="none" strike="noStrike" cap="none" dirty="0">
              <a:solidFill>
                <a:schemeClr val="dk1"/>
              </a:solidFill>
              <a:latin typeface="Calibri"/>
              <a:ea typeface="Calibri"/>
              <a:cs typeface="Calibri"/>
              <a:sym typeface="Calibri"/>
            </a:endParaRPr>
          </a:p>
        </p:txBody>
      </p:sp>
      <p:pic>
        <p:nvPicPr>
          <p:cNvPr id="214" name="Google Shape;214;p18"/>
          <p:cNvPicPr preferRelativeResize="0"/>
          <p:nvPr/>
        </p:nvPicPr>
        <p:blipFill rotWithShape="1">
          <a:blip r:embed="rId3">
            <a:alphaModFix/>
          </a:blip>
          <a:srcRect/>
          <a:stretch/>
        </p:blipFill>
        <p:spPr>
          <a:xfrm>
            <a:off x="2901650" y="914450"/>
            <a:ext cx="6388725" cy="2535575"/>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11143dab147_0_0"/>
          <p:cNvSpPr txBox="1">
            <a:spLocks noGrp="1"/>
          </p:cNvSpPr>
          <p:nvPr>
            <p:ph type="title"/>
          </p:nvPr>
        </p:nvSpPr>
        <p:spPr>
          <a:xfrm>
            <a:off x="948000" y="304800"/>
            <a:ext cx="10515600" cy="715200"/>
          </a:xfrm>
          <a:prstGeom prst="rect">
            <a:avLst/>
          </a:prstGeom>
        </p:spPr>
        <p:txBody>
          <a:bodyPr spcFirstLastPara="1" wrap="square" lIns="91425" tIns="45700" rIns="91425" bIns="45700" anchor="ctr" anchorCtr="0">
            <a:noAutofit/>
          </a:bodyPr>
          <a:lstStyle/>
          <a:p>
            <a:pPr marL="12700" lvl="0" indent="0" algn="l" rtl="0">
              <a:lnSpc>
                <a:spcPct val="100000"/>
              </a:lnSpc>
              <a:spcBef>
                <a:spcPts val="0"/>
              </a:spcBef>
              <a:spcAft>
                <a:spcPts val="0"/>
              </a:spcAft>
              <a:buClr>
                <a:schemeClr val="dk1"/>
              </a:buClr>
              <a:buSzPts val="3200"/>
              <a:buFont typeface="Calibri"/>
              <a:buNone/>
            </a:pPr>
            <a:r>
              <a:rPr lang="en-US" sz="4900" b="1">
                <a:solidFill>
                  <a:srgbClr val="000000"/>
                </a:solidFill>
              </a:rPr>
              <a:t>Shortest Path Algorithm</a:t>
            </a:r>
            <a:endParaRPr sz="6100">
              <a:solidFill>
                <a:srgbClr val="000000"/>
              </a:solidFill>
              <a:latin typeface="Arial"/>
              <a:ea typeface="Arial"/>
              <a:cs typeface="Arial"/>
              <a:sym typeface="Arial"/>
            </a:endParaRPr>
          </a:p>
          <a:p>
            <a:pPr marL="0" lvl="0" indent="0" algn="l" rtl="0">
              <a:spcBef>
                <a:spcPts val="0"/>
              </a:spcBef>
              <a:spcAft>
                <a:spcPts val="0"/>
              </a:spcAft>
              <a:buNone/>
            </a:pPr>
            <a:endParaRPr sz="5200"/>
          </a:p>
        </p:txBody>
      </p:sp>
      <p:sp>
        <p:nvSpPr>
          <p:cNvPr id="220" name="Google Shape;220;g11143dab147_0_0"/>
          <p:cNvSpPr txBox="1">
            <a:spLocks noGrp="1"/>
          </p:cNvSpPr>
          <p:nvPr>
            <p:ph type="body" idx="1"/>
          </p:nvPr>
        </p:nvSpPr>
        <p:spPr>
          <a:xfrm>
            <a:off x="453600" y="729827"/>
            <a:ext cx="11453100" cy="5574600"/>
          </a:xfrm>
          <a:prstGeom prst="rect">
            <a:avLst/>
          </a:prstGeom>
        </p:spPr>
        <p:txBody>
          <a:bodyPr spcFirstLastPara="1" wrap="square" lIns="91425" tIns="45700" rIns="91425" bIns="45700" anchor="t" anchorCtr="0">
            <a:noAutofit/>
          </a:bodyPr>
          <a:lstStyle/>
          <a:p>
            <a:pPr marL="356870" lvl="0" indent="-421005" algn="just" rtl="0">
              <a:lnSpc>
                <a:spcPct val="90000"/>
              </a:lnSpc>
              <a:spcBef>
                <a:spcPts val="1200"/>
              </a:spcBef>
              <a:spcAft>
                <a:spcPts val="0"/>
              </a:spcAft>
              <a:buClr>
                <a:srgbClr val="0000CC"/>
              </a:buClr>
              <a:buSzPts val="3600"/>
              <a:buChar char="➢"/>
            </a:pPr>
            <a:r>
              <a:rPr lang="en-US" sz="3600" dirty="0"/>
              <a:t>One way of </a:t>
            </a:r>
            <a:r>
              <a:rPr lang="en-US" sz="3600" b="1" dirty="0"/>
              <a:t>measuring path length </a:t>
            </a:r>
            <a:r>
              <a:rPr lang="en-US" sz="3600" dirty="0"/>
              <a:t>is the </a:t>
            </a:r>
            <a:r>
              <a:rPr lang="en-US" sz="3600" dirty="0">
                <a:solidFill>
                  <a:srgbClr val="FF0000"/>
                </a:solidFill>
              </a:rPr>
              <a:t>number of hops </a:t>
            </a:r>
            <a:r>
              <a:rPr lang="en-US" sz="3600" dirty="0"/>
              <a:t>(A hop is the trip a data packet takes from one router to another in the network)or </a:t>
            </a:r>
            <a:r>
              <a:rPr lang="en-US" sz="3600" dirty="0">
                <a:solidFill>
                  <a:srgbClr val="FF0000"/>
                </a:solidFill>
              </a:rPr>
              <a:t>geographic distance </a:t>
            </a:r>
            <a:r>
              <a:rPr lang="en-US" sz="3600" dirty="0"/>
              <a:t>in kilometers.</a:t>
            </a:r>
            <a:endParaRPr sz="4400" dirty="0"/>
          </a:p>
          <a:p>
            <a:pPr marL="356870" lvl="0" indent="-421005" algn="just" rtl="0">
              <a:lnSpc>
                <a:spcPct val="90000"/>
              </a:lnSpc>
              <a:spcBef>
                <a:spcPts val="1200"/>
              </a:spcBef>
              <a:spcAft>
                <a:spcPts val="0"/>
              </a:spcAft>
              <a:buClr>
                <a:srgbClr val="0000CC"/>
              </a:buClr>
              <a:buSzPts val="3600"/>
              <a:buChar char="➢"/>
            </a:pPr>
            <a:r>
              <a:rPr lang="en-US" sz="3600" dirty="0"/>
              <a:t>The</a:t>
            </a:r>
            <a:r>
              <a:rPr lang="en-US" sz="3600" dirty="0">
                <a:solidFill>
                  <a:srgbClr val="FF0000"/>
                </a:solidFill>
              </a:rPr>
              <a:t> </a:t>
            </a:r>
            <a:r>
              <a:rPr lang="en-US" sz="3600" b="1" dirty="0">
                <a:solidFill>
                  <a:srgbClr val="FF0000"/>
                </a:solidFill>
              </a:rPr>
              <a:t>labels </a:t>
            </a:r>
            <a:r>
              <a:rPr lang="en-US" sz="3600" b="1" dirty="0"/>
              <a:t>on the arcs </a:t>
            </a:r>
            <a:r>
              <a:rPr lang="en-US" sz="3600" dirty="0"/>
              <a:t>could be computed as a </a:t>
            </a:r>
            <a:r>
              <a:rPr lang="en-US" sz="3600" dirty="0">
                <a:solidFill>
                  <a:srgbClr val="00B050"/>
                </a:solidFill>
              </a:rPr>
              <a:t>function of the distance, bandwidth, average traffic, communication cost, mean queue length, measured delay, and other factors. </a:t>
            </a:r>
            <a:endParaRPr sz="4400" dirty="0">
              <a:solidFill>
                <a:srgbClr val="00B050"/>
              </a:solidFill>
            </a:endParaRPr>
          </a:p>
          <a:p>
            <a:pPr marL="356870" lvl="0" indent="-344805" algn="just" rtl="0">
              <a:lnSpc>
                <a:spcPct val="90000"/>
              </a:lnSpc>
              <a:spcBef>
                <a:spcPts val="1200"/>
              </a:spcBef>
              <a:spcAft>
                <a:spcPts val="0"/>
              </a:spcAft>
              <a:buClr>
                <a:srgbClr val="0000CC"/>
              </a:buClr>
              <a:buSzPts val="1800"/>
              <a:buChar char="➢"/>
            </a:pPr>
            <a:r>
              <a:rPr lang="en-US" sz="3000" dirty="0"/>
              <a:t> </a:t>
            </a:r>
            <a:r>
              <a:rPr lang="en-US" sz="3600" dirty="0"/>
              <a:t>Algorithms for computing the shortest path between two nodes of a graph:</a:t>
            </a:r>
            <a:endParaRPr sz="3600" dirty="0"/>
          </a:p>
          <a:p>
            <a:pPr marL="822960" lvl="1" indent="-429895" algn="just" rtl="0">
              <a:lnSpc>
                <a:spcPct val="90000"/>
              </a:lnSpc>
              <a:spcBef>
                <a:spcPts val="1200"/>
              </a:spcBef>
              <a:spcAft>
                <a:spcPts val="0"/>
              </a:spcAft>
              <a:buSzPts val="3600"/>
              <a:buChar char="○"/>
            </a:pPr>
            <a:r>
              <a:rPr lang="en-US" sz="3600" b="1" dirty="0"/>
              <a:t>Dijkstra’s shortest path</a:t>
            </a:r>
            <a:endParaRPr sz="3600" b="1" dirty="0"/>
          </a:p>
          <a:p>
            <a:pPr marL="469265" lvl="1" indent="0" algn="l" rtl="0">
              <a:lnSpc>
                <a:spcPct val="90000"/>
              </a:lnSpc>
              <a:spcBef>
                <a:spcPts val="575"/>
              </a:spcBef>
              <a:spcAft>
                <a:spcPts val="0"/>
              </a:spcAft>
              <a:buClr>
                <a:schemeClr val="dk1"/>
              </a:buClr>
              <a:buFont typeface="Arial"/>
              <a:buNone/>
            </a:pPr>
            <a:endParaRPr sz="3600" dirty="0"/>
          </a:p>
          <a:p>
            <a:pPr marL="0" lvl="0" indent="0" algn="l" rtl="0">
              <a:lnSpc>
                <a:spcPct val="80000"/>
              </a:lnSpc>
              <a:spcBef>
                <a:spcPts val="1000"/>
              </a:spcBef>
              <a:spcAft>
                <a:spcPts val="0"/>
              </a:spcAft>
              <a:buNone/>
            </a:pPr>
            <a:endParaRPr sz="3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9"/>
          <p:cNvSpPr txBox="1">
            <a:spLocks noGrp="1"/>
          </p:cNvSpPr>
          <p:nvPr>
            <p:ph type="title"/>
          </p:nvPr>
        </p:nvSpPr>
        <p:spPr>
          <a:xfrm>
            <a:off x="182880" y="759653"/>
            <a:ext cx="10578638" cy="1433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3600" b="1">
                <a:latin typeface="Calibri"/>
                <a:ea typeface="Calibri"/>
                <a:cs typeface="Calibri"/>
                <a:sym typeface="Calibri"/>
              </a:rPr>
              <a:t>Dijkstra’s shortest path</a:t>
            </a:r>
            <a:r>
              <a:rPr lang="en-US">
                <a:latin typeface="Calibri"/>
                <a:ea typeface="Calibri"/>
                <a:cs typeface="Calibri"/>
                <a:sym typeface="Calibri"/>
              </a:rPr>
              <a:t/>
            </a:r>
            <a:br>
              <a:rPr lang="en-US">
                <a:latin typeface="Calibri"/>
                <a:ea typeface="Calibri"/>
                <a:cs typeface="Calibri"/>
                <a:sym typeface="Calibri"/>
              </a:rPr>
            </a:br>
            <a:r>
              <a:rPr lang="en-US"/>
              <a:t/>
            </a:r>
            <a:br>
              <a:rPr lang="en-US"/>
            </a:br>
            <a:endParaRPr/>
          </a:p>
        </p:txBody>
      </p:sp>
      <p:sp>
        <p:nvSpPr>
          <p:cNvPr id="226" name="Google Shape;226;p19"/>
          <p:cNvSpPr txBox="1">
            <a:spLocks noGrp="1"/>
          </p:cNvSpPr>
          <p:nvPr>
            <p:ph type="body" idx="1"/>
          </p:nvPr>
        </p:nvSpPr>
        <p:spPr>
          <a:xfrm>
            <a:off x="0" y="759650"/>
            <a:ext cx="5802900" cy="6001500"/>
          </a:xfrm>
          <a:prstGeom prst="rect">
            <a:avLst/>
          </a:prstGeom>
          <a:noFill/>
          <a:ln>
            <a:noFill/>
          </a:ln>
        </p:spPr>
        <p:txBody>
          <a:bodyPr spcFirstLastPara="1" wrap="square" lIns="91425" tIns="45700" rIns="91425" bIns="45700" anchor="t" anchorCtr="0">
            <a:noAutofit/>
          </a:bodyPr>
          <a:lstStyle/>
          <a:p>
            <a:pPr marL="282575" lvl="0" indent="-282575" algn="just" rtl="0">
              <a:lnSpc>
                <a:spcPct val="80000"/>
              </a:lnSpc>
              <a:spcBef>
                <a:spcPts val="0"/>
              </a:spcBef>
              <a:spcAft>
                <a:spcPts val="0"/>
              </a:spcAft>
              <a:buClr>
                <a:schemeClr val="dk1"/>
              </a:buClr>
              <a:buSzPts val="2800"/>
              <a:buNone/>
            </a:pPr>
            <a:r>
              <a:rPr lang="en-US" sz="2900"/>
              <a:t>1</a:t>
            </a:r>
            <a:r>
              <a:rPr lang="en-US" sz="2500"/>
              <a:t>. Each </a:t>
            </a:r>
            <a:r>
              <a:rPr lang="en-US" sz="2500" b="1"/>
              <a:t>node</a:t>
            </a:r>
            <a:r>
              <a:rPr lang="en-US" sz="2500"/>
              <a:t> is labelled (in parentheses) with its </a:t>
            </a:r>
            <a:r>
              <a:rPr lang="en-US" sz="2500">
                <a:solidFill>
                  <a:srgbClr val="FF0000"/>
                </a:solidFill>
              </a:rPr>
              <a:t>distance</a:t>
            </a:r>
            <a:r>
              <a:rPr lang="en-US" sz="2500"/>
              <a:t> from the </a:t>
            </a:r>
            <a:r>
              <a:rPr lang="en-US" sz="2500">
                <a:solidFill>
                  <a:srgbClr val="00B050"/>
                </a:solidFill>
              </a:rPr>
              <a:t>source node along the best known path</a:t>
            </a:r>
            <a:r>
              <a:rPr lang="en-US" sz="2500"/>
              <a:t>[eg. (2,A)].</a:t>
            </a:r>
            <a:endParaRPr sz="2500"/>
          </a:p>
          <a:p>
            <a:pPr marL="282575" lvl="0" indent="-282575" algn="just" rtl="0">
              <a:lnSpc>
                <a:spcPct val="80000"/>
              </a:lnSpc>
              <a:spcBef>
                <a:spcPts val="1000"/>
              </a:spcBef>
              <a:spcAft>
                <a:spcPts val="0"/>
              </a:spcAft>
              <a:buClr>
                <a:schemeClr val="dk1"/>
              </a:buClr>
              <a:buSzPts val="2400"/>
              <a:buNone/>
            </a:pPr>
            <a:r>
              <a:rPr lang="en-US" sz="2500"/>
              <a:t>2</a:t>
            </a:r>
            <a:r>
              <a:rPr lang="en-US" sz="2500">
                <a:solidFill>
                  <a:srgbClr val="00B050"/>
                </a:solidFill>
              </a:rPr>
              <a:t>. Initially, no paths are known</a:t>
            </a:r>
            <a:r>
              <a:rPr lang="en-US" sz="2500"/>
              <a:t>, so all nodes are labelled with </a:t>
            </a:r>
            <a:r>
              <a:rPr lang="en-US" sz="2500">
                <a:solidFill>
                  <a:srgbClr val="FF0000"/>
                </a:solidFill>
              </a:rPr>
              <a:t>infinity</a:t>
            </a:r>
            <a:r>
              <a:rPr lang="en-US" sz="2500"/>
              <a:t>. As the algorithm proceeds and paths are found, the labels may change, reflecting better paths.</a:t>
            </a:r>
            <a:endParaRPr sz="2500"/>
          </a:p>
          <a:p>
            <a:pPr marL="282575" lvl="0" indent="-282575" algn="just" rtl="0">
              <a:lnSpc>
                <a:spcPct val="80000"/>
              </a:lnSpc>
              <a:spcBef>
                <a:spcPts val="1000"/>
              </a:spcBef>
              <a:spcAft>
                <a:spcPts val="0"/>
              </a:spcAft>
              <a:buClr>
                <a:schemeClr val="dk1"/>
              </a:buClr>
              <a:buSzPts val="2400"/>
              <a:buNone/>
            </a:pPr>
            <a:r>
              <a:rPr lang="en-US" sz="2500"/>
              <a:t>3. A </a:t>
            </a:r>
            <a:r>
              <a:rPr lang="en-US" sz="2500" b="1"/>
              <a:t>label</a:t>
            </a:r>
            <a:r>
              <a:rPr lang="en-US" sz="2500"/>
              <a:t> may be either </a:t>
            </a:r>
            <a:r>
              <a:rPr lang="en-US" sz="2500">
                <a:solidFill>
                  <a:srgbClr val="FF0000"/>
                </a:solidFill>
              </a:rPr>
              <a:t>tentative or permanent</a:t>
            </a:r>
            <a:r>
              <a:rPr lang="en-US" sz="2500"/>
              <a:t>.</a:t>
            </a:r>
            <a:endParaRPr sz="2500"/>
          </a:p>
          <a:p>
            <a:pPr marL="282575" lvl="0" indent="-282575" algn="just" rtl="0">
              <a:lnSpc>
                <a:spcPct val="80000"/>
              </a:lnSpc>
              <a:spcBef>
                <a:spcPts val="1000"/>
              </a:spcBef>
              <a:spcAft>
                <a:spcPts val="0"/>
              </a:spcAft>
              <a:buClr>
                <a:schemeClr val="dk1"/>
              </a:buClr>
              <a:buSzPts val="2400"/>
              <a:buNone/>
            </a:pPr>
            <a:r>
              <a:rPr lang="en-US" sz="2500"/>
              <a:t>4. </a:t>
            </a:r>
            <a:r>
              <a:rPr lang="en-US" sz="2500" b="1"/>
              <a:t>Initially</a:t>
            </a:r>
            <a:r>
              <a:rPr lang="en-US" sz="2500"/>
              <a:t>, all labels are </a:t>
            </a:r>
            <a:r>
              <a:rPr lang="en-US" sz="2500">
                <a:solidFill>
                  <a:srgbClr val="FF0000"/>
                </a:solidFill>
              </a:rPr>
              <a:t>tentative</a:t>
            </a:r>
            <a:r>
              <a:rPr lang="en-US" sz="2500"/>
              <a:t>.</a:t>
            </a:r>
            <a:endParaRPr sz="2500"/>
          </a:p>
          <a:p>
            <a:pPr marL="282575" lvl="0" indent="-282575" algn="just" rtl="0">
              <a:lnSpc>
                <a:spcPct val="80000"/>
              </a:lnSpc>
              <a:spcBef>
                <a:spcPts val="1000"/>
              </a:spcBef>
              <a:spcAft>
                <a:spcPts val="0"/>
              </a:spcAft>
              <a:buClr>
                <a:schemeClr val="dk1"/>
              </a:buClr>
              <a:buSzPts val="2400"/>
              <a:buNone/>
            </a:pPr>
            <a:r>
              <a:rPr lang="en-US" sz="2500"/>
              <a:t>5. </a:t>
            </a:r>
            <a:r>
              <a:rPr lang="en-US" sz="2500" b="1"/>
              <a:t>When it is discovered </a:t>
            </a:r>
            <a:r>
              <a:rPr lang="en-US" sz="2500"/>
              <a:t>that a label represents the shortest possible path from the source to that node, it is </a:t>
            </a:r>
            <a:r>
              <a:rPr lang="en-US" sz="2500">
                <a:solidFill>
                  <a:srgbClr val="FF0000"/>
                </a:solidFill>
              </a:rPr>
              <a:t>made permanent and never changed thereafter</a:t>
            </a:r>
            <a:r>
              <a:rPr lang="en-US" sz="2900"/>
              <a:t>.	</a:t>
            </a:r>
            <a:endParaRPr sz="2900"/>
          </a:p>
          <a:p>
            <a:pPr marL="228600" lvl="0" indent="-50800" algn="l" rtl="0">
              <a:lnSpc>
                <a:spcPct val="70000"/>
              </a:lnSpc>
              <a:spcBef>
                <a:spcPts val="1000"/>
              </a:spcBef>
              <a:spcAft>
                <a:spcPts val="0"/>
              </a:spcAft>
              <a:buClr>
                <a:schemeClr val="dk1"/>
              </a:buClr>
              <a:buSzPts val="2800"/>
              <a:buNone/>
            </a:pPr>
            <a:endParaRPr sz="2900"/>
          </a:p>
        </p:txBody>
      </p:sp>
      <p:sp>
        <p:nvSpPr>
          <p:cNvPr id="227" name="Google Shape;227;p19"/>
          <p:cNvSpPr/>
          <p:nvPr/>
        </p:nvSpPr>
        <p:spPr>
          <a:xfrm>
            <a:off x="5890301" y="136328"/>
            <a:ext cx="6257100" cy="6058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19"/>
          <p:cNvSpPr txBox="1"/>
          <p:nvPr/>
        </p:nvSpPr>
        <p:spPr>
          <a:xfrm>
            <a:off x="5345723" y="6264640"/>
            <a:ext cx="6846277" cy="544316"/>
          </a:xfrm>
          <a:prstGeom prst="rect">
            <a:avLst/>
          </a:prstGeom>
          <a:noFill/>
          <a:ln>
            <a:noFill/>
          </a:ln>
        </p:spPr>
        <p:txBody>
          <a:bodyPr spcFirstLastPara="1" wrap="square" lIns="0" tIns="13325" rIns="0" bIns="0" anchor="t" anchorCtr="0">
            <a:spAutoFit/>
          </a:bodyPr>
          <a:lstStyle/>
          <a:p>
            <a:pPr marL="12700" marR="5080" lvl="0" indent="0" algn="l" rtl="0">
              <a:lnSpc>
                <a:spcPct val="99400"/>
              </a:lnSpc>
              <a:spcBef>
                <a:spcPts val="0"/>
              </a:spcBef>
              <a:spcAft>
                <a:spcPts val="0"/>
              </a:spcAft>
              <a:buNone/>
            </a:pPr>
            <a:r>
              <a:rPr lang="en-US" sz="1600">
                <a:solidFill>
                  <a:schemeClr val="dk1"/>
                </a:solidFill>
                <a:latin typeface="Arial"/>
                <a:ea typeface="Arial"/>
                <a:cs typeface="Arial"/>
                <a:sym typeface="Arial"/>
              </a:rPr>
              <a:t>Fig: The first five steps used in computing the shortest path from </a:t>
            </a:r>
            <a:r>
              <a:rPr lang="en-US" sz="1600" i="1">
                <a:solidFill>
                  <a:schemeClr val="dk1"/>
                </a:solidFill>
                <a:latin typeface="Arial"/>
                <a:ea typeface="Arial"/>
                <a:cs typeface="Arial"/>
                <a:sym typeface="Arial"/>
              </a:rPr>
              <a:t>A to D.</a:t>
            </a:r>
            <a:endParaRPr sz="1600" i="1">
              <a:solidFill>
                <a:schemeClr val="dk1"/>
              </a:solidFill>
              <a:latin typeface="Arial"/>
              <a:ea typeface="Arial"/>
              <a:cs typeface="Arial"/>
              <a:sym typeface="Arial"/>
            </a:endParaRPr>
          </a:p>
          <a:p>
            <a:pPr marL="12700" marR="5080" lvl="0" indent="0" algn="l" rtl="0">
              <a:lnSpc>
                <a:spcPct val="99400"/>
              </a:lnSpc>
              <a:spcBef>
                <a:spcPts val="105"/>
              </a:spcBef>
              <a:spcAft>
                <a:spcPts val="0"/>
              </a:spcAft>
              <a:buNone/>
            </a:pPr>
            <a:r>
              <a:rPr lang="en-US" sz="1600" i="1">
                <a:solidFill>
                  <a:schemeClr val="dk1"/>
                </a:solidFill>
                <a:latin typeface="Arial"/>
                <a:ea typeface="Arial"/>
                <a:cs typeface="Arial"/>
                <a:sym typeface="Arial"/>
              </a:rPr>
              <a:t> </a:t>
            </a:r>
            <a:r>
              <a:rPr lang="en-US" sz="1600">
                <a:solidFill>
                  <a:schemeClr val="dk1"/>
                </a:solidFill>
                <a:latin typeface="Arial"/>
                <a:ea typeface="Arial"/>
                <a:cs typeface="Arial"/>
                <a:sym typeface="Arial"/>
              </a:rPr>
              <a:t>The  arrows indicate the working </a:t>
            </a:r>
            <a:r>
              <a:rPr lang="en-US" sz="1800">
                <a:solidFill>
                  <a:schemeClr val="dk1"/>
                </a:solidFill>
                <a:latin typeface="Arial"/>
                <a:ea typeface="Arial"/>
                <a:cs typeface="Arial"/>
                <a:sym typeface="Arial"/>
              </a:rPr>
              <a:t>node</a:t>
            </a:r>
            <a:endParaRPr sz="1800">
              <a:solidFill>
                <a:schemeClr val="dk1"/>
              </a:solidFill>
              <a:latin typeface="Arial"/>
              <a:ea typeface="Arial"/>
              <a:cs typeface="Arial"/>
              <a:sym typeface="Arial"/>
            </a:endParaRPr>
          </a:p>
        </p:txBody>
      </p:sp>
      <p:sp>
        <p:nvSpPr>
          <p:cNvPr id="229" name="Google Shape;229;p19"/>
          <p:cNvSpPr txBox="1"/>
          <p:nvPr/>
        </p:nvSpPr>
        <p:spPr>
          <a:xfrm>
            <a:off x="5712758" y="52518"/>
            <a:ext cx="76648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ROUTER</a:t>
            </a:r>
            <a:endParaRPr/>
          </a:p>
        </p:txBody>
      </p:sp>
      <p:cxnSp>
        <p:nvCxnSpPr>
          <p:cNvPr id="230" name="Google Shape;230;p19"/>
          <p:cNvCxnSpPr/>
          <p:nvPr/>
        </p:nvCxnSpPr>
        <p:spPr>
          <a:xfrm>
            <a:off x="6299822" y="191017"/>
            <a:ext cx="477496" cy="113615"/>
          </a:xfrm>
          <a:prstGeom prst="straightConnector1">
            <a:avLst/>
          </a:prstGeom>
          <a:noFill/>
          <a:ln w="9525" cap="flat" cmpd="sng">
            <a:solidFill>
              <a:schemeClr val="accent1"/>
            </a:solidFill>
            <a:prstDash val="solid"/>
            <a:miter lim="800000"/>
            <a:headEnd type="none" w="sm" len="sm"/>
            <a:tailEnd type="triangle" w="med" len="med"/>
          </a:ln>
        </p:spPr>
      </p:cxnSp>
      <p:sp>
        <p:nvSpPr>
          <p:cNvPr id="231" name="Google Shape;231;p19"/>
          <p:cNvSpPr txBox="1"/>
          <p:nvPr/>
        </p:nvSpPr>
        <p:spPr>
          <a:xfrm>
            <a:off x="4475554" y="344154"/>
            <a:ext cx="174033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COMMUNICATION LINE</a:t>
            </a:r>
            <a:endParaRPr/>
          </a:p>
        </p:txBody>
      </p:sp>
      <p:cxnSp>
        <p:nvCxnSpPr>
          <p:cNvPr id="232" name="Google Shape;232;p19"/>
          <p:cNvCxnSpPr/>
          <p:nvPr/>
        </p:nvCxnSpPr>
        <p:spPr>
          <a:xfrm>
            <a:off x="6058925" y="555954"/>
            <a:ext cx="479645" cy="15576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sp>
        <p:nvSpPr>
          <p:cNvPr id="238" name="Google Shape;238;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240" name="Google Shape;240;p20"/>
          <p:cNvSpPr/>
          <p:nvPr/>
        </p:nvSpPr>
        <p:spPr>
          <a:xfrm>
            <a:off x="1192696" y="681037"/>
            <a:ext cx="9949069" cy="536195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1"/>
          <p:cNvSpPr txBox="1">
            <a:spLocks noGrp="1"/>
          </p:cNvSpPr>
          <p:nvPr>
            <p:ph type="title"/>
          </p:nvPr>
        </p:nvSpPr>
        <p:spPr>
          <a:xfrm>
            <a:off x="838200" y="365125"/>
            <a:ext cx="10515600" cy="8316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6200" b="1"/>
              <a:t>Flooding</a:t>
            </a:r>
            <a:endParaRPr sz="6200"/>
          </a:p>
        </p:txBody>
      </p:sp>
      <p:sp>
        <p:nvSpPr>
          <p:cNvPr id="246" name="Google Shape;246;p21"/>
          <p:cNvSpPr txBox="1">
            <a:spLocks noGrp="1"/>
          </p:cNvSpPr>
          <p:nvPr>
            <p:ph type="body" idx="1"/>
          </p:nvPr>
        </p:nvSpPr>
        <p:spPr>
          <a:xfrm>
            <a:off x="207825" y="1316175"/>
            <a:ext cx="7849200" cy="3360600"/>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800"/>
              <a:buChar char="➔"/>
            </a:pPr>
            <a:r>
              <a:rPr lang="en-US"/>
              <a:t>Flooding is the </a:t>
            </a:r>
            <a:r>
              <a:rPr lang="en-US">
                <a:solidFill>
                  <a:srgbClr val="FF0000"/>
                </a:solidFill>
              </a:rPr>
              <a:t>static routing algorithm</a:t>
            </a:r>
            <a:r>
              <a:rPr lang="en-US"/>
              <a:t>. </a:t>
            </a:r>
            <a:endParaRPr/>
          </a:p>
          <a:p>
            <a:pPr marL="228600" lvl="0" indent="-228600" algn="just" rtl="0">
              <a:lnSpc>
                <a:spcPct val="150000"/>
              </a:lnSpc>
              <a:spcBef>
                <a:spcPts val="1000"/>
              </a:spcBef>
              <a:spcAft>
                <a:spcPts val="0"/>
              </a:spcAft>
              <a:buClr>
                <a:schemeClr val="dk1"/>
              </a:buClr>
              <a:buSzPts val="2800"/>
              <a:buChar char="➔"/>
            </a:pPr>
            <a:r>
              <a:rPr lang="en-US"/>
              <a:t>Every </a:t>
            </a:r>
            <a:r>
              <a:rPr lang="en-US" b="1"/>
              <a:t>incoming packet </a:t>
            </a:r>
            <a:r>
              <a:rPr lang="en-US"/>
              <a:t>is </a:t>
            </a:r>
            <a:r>
              <a:rPr lang="en-US">
                <a:solidFill>
                  <a:srgbClr val="FF0000"/>
                </a:solidFill>
              </a:rPr>
              <a:t>sent</a:t>
            </a:r>
            <a:r>
              <a:rPr lang="en-US"/>
              <a:t> on </a:t>
            </a:r>
            <a:r>
              <a:rPr lang="en-US">
                <a:solidFill>
                  <a:srgbClr val="00B050"/>
                </a:solidFill>
              </a:rPr>
              <a:t>all outgoing lines except the line on which it has arrived. </a:t>
            </a:r>
            <a:endParaRPr/>
          </a:p>
          <a:p>
            <a:pPr marL="228600" lvl="0" indent="-228600" algn="just" rtl="0">
              <a:lnSpc>
                <a:spcPct val="150000"/>
              </a:lnSpc>
              <a:spcBef>
                <a:spcPts val="1000"/>
              </a:spcBef>
              <a:spcAft>
                <a:spcPts val="0"/>
              </a:spcAft>
              <a:buClr>
                <a:schemeClr val="dk1"/>
              </a:buClr>
              <a:buSzPts val="2800"/>
              <a:buChar char="➔"/>
            </a:pPr>
            <a:r>
              <a:rPr lang="en-US"/>
              <a:t>One </a:t>
            </a:r>
            <a:r>
              <a:rPr lang="en-US" b="1"/>
              <a:t>major problem </a:t>
            </a:r>
            <a:r>
              <a:rPr lang="en-US"/>
              <a:t>of this algorithm is that it </a:t>
            </a:r>
            <a:r>
              <a:rPr lang="en-US">
                <a:solidFill>
                  <a:srgbClr val="FF0000"/>
                </a:solidFill>
              </a:rPr>
              <a:t>generates a large number of duplicate packets on the network</a:t>
            </a:r>
            <a:r>
              <a:rPr lang="en-US"/>
              <a:t>. </a:t>
            </a:r>
            <a:endParaRPr/>
          </a:p>
          <a:p>
            <a:pPr marL="228600" lvl="0" indent="-228600" algn="just" rtl="0">
              <a:lnSpc>
                <a:spcPct val="150000"/>
              </a:lnSpc>
              <a:spcBef>
                <a:spcPts val="1000"/>
              </a:spcBef>
              <a:spcAft>
                <a:spcPts val="0"/>
              </a:spcAft>
              <a:buClr>
                <a:schemeClr val="dk1"/>
              </a:buClr>
              <a:buSzPts val="2800"/>
              <a:buChar char="➔"/>
            </a:pPr>
            <a:r>
              <a:rPr lang="en-US"/>
              <a:t>Several measures are takes to stop the duplication of packets.</a:t>
            </a:r>
            <a:endParaRPr/>
          </a:p>
          <a:p>
            <a:pPr marL="0" lvl="0" indent="0" algn="just" rtl="0">
              <a:lnSpc>
                <a:spcPct val="150000"/>
              </a:lnSpc>
              <a:spcBef>
                <a:spcPts val="1000"/>
              </a:spcBef>
              <a:spcAft>
                <a:spcPts val="0"/>
              </a:spcAft>
              <a:buClr>
                <a:schemeClr val="dk1"/>
              </a:buClr>
              <a:buSzPts val="2800"/>
              <a:buNone/>
            </a:pPr>
            <a:r>
              <a:rPr lang="en-US"/>
              <a:t>   </a:t>
            </a:r>
            <a:endParaRPr/>
          </a:p>
          <a:p>
            <a:pPr marL="0" lvl="0" indent="0" algn="just" rtl="0">
              <a:lnSpc>
                <a:spcPct val="150000"/>
              </a:lnSpc>
              <a:spcBef>
                <a:spcPts val="1000"/>
              </a:spcBef>
              <a:spcAft>
                <a:spcPts val="0"/>
              </a:spcAft>
              <a:buClr>
                <a:schemeClr val="dk1"/>
              </a:buClr>
              <a:buSzPts val="2800"/>
              <a:buNone/>
            </a:pPr>
            <a:r>
              <a:rPr lang="en-US"/>
              <a:t>	</a:t>
            </a:r>
            <a:endParaRPr/>
          </a:p>
        </p:txBody>
      </p:sp>
      <p:pic>
        <p:nvPicPr>
          <p:cNvPr id="247" name="Google Shape;247;p21"/>
          <p:cNvPicPr preferRelativeResize="0"/>
          <p:nvPr/>
        </p:nvPicPr>
        <p:blipFill rotWithShape="1">
          <a:blip r:embed="rId3">
            <a:alphaModFix/>
          </a:blip>
          <a:srcRect/>
          <a:stretch/>
        </p:blipFill>
        <p:spPr>
          <a:xfrm>
            <a:off x="8225400" y="2170100"/>
            <a:ext cx="3681450" cy="2899775"/>
          </a:xfrm>
          <a:prstGeom prst="rect">
            <a:avLst/>
          </a:prstGeom>
          <a:noFill/>
          <a:ln>
            <a:noFill/>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a:spLocks noGrp="1"/>
          </p:cNvSpPr>
          <p:nvPr>
            <p:ph type="title"/>
          </p:nvPr>
        </p:nvSpPr>
        <p:spPr>
          <a:xfrm>
            <a:off x="858981" y="203760"/>
            <a:ext cx="10515600" cy="43843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3600" b="1"/>
              <a:t>Problem: generates a large number of duplicate packets</a:t>
            </a:r>
            <a:endParaRPr/>
          </a:p>
        </p:txBody>
      </p:sp>
      <p:sp>
        <p:nvSpPr>
          <p:cNvPr id="253" name="Google Shape;253;p22"/>
          <p:cNvSpPr txBox="1">
            <a:spLocks noGrp="1"/>
          </p:cNvSpPr>
          <p:nvPr>
            <p:ph type="body" idx="1"/>
          </p:nvPr>
        </p:nvSpPr>
        <p:spPr>
          <a:xfrm>
            <a:off x="193963" y="803564"/>
            <a:ext cx="11845637" cy="5373399"/>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US" b="1" dirty="0"/>
              <a:t>Solutions:</a:t>
            </a:r>
            <a:endParaRPr dirty="0"/>
          </a:p>
          <a:p>
            <a:pPr marL="290513" lvl="0" indent="-290513" algn="just" rtl="0">
              <a:lnSpc>
                <a:spcPct val="150000"/>
              </a:lnSpc>
              <a:spcBef>
                <a:spcPts val="1000"/>
              </a:spcBef>
              <a:spcAft>
                <a:spcPts val="0"/>
              </a:spcAft>
              <a:buClr>
                <a:schemeClr val="dk1"/>
              </a:buClr>
              <a:buSzPct val="100000"/>
              <a:buAutoNum type="arabicParenR"/>
            </a:pPr>
            <a:r>
              <a:rPr lang="en-US" dirty="0"/>
              <a:t>To include a </a:t>
            </a:r>
            <a:r>
              <a:rPr lang="en-US" b="1" dirty="0">
                <a:solidFill>
                  <a:srgbClr val="FF0000"/>
                </a:solidFill>
              </a:rPr>
              <a:t>hop counter </a:t>
            </a:r>
            <a:r>
              <a:rPr lang="en-US" dirty="0"/>
              <a:t>in the </a:t>
            </a:r>
            <a:r>
              <a:rPr lang="en-US" b="1" dirty="0"/>
              <a:t>header of each packet</a:t>
            </a:r>
            <a:r>
              <a:rPr lang="en-US" dirty="0"/>
              <a:t>. </a:t>
            </a:r>
            <a:endParaRPr dirty="0"/>
          </a:p>
          <a:p>
            <a:pPr marL="692150" lvl="0" indent="-228600" algn="just" rtl="0">
              <a:lnSpc>
                <a:spcPct val="150000"/>
              </a:lnSpc>
              <a:spcBef>
                <a:spcPts val="1000"/>
              </a:spcBef>
              <a:spcAft>
                <a:spcPts val="0"/>
              </a:spcAft>
              <a:buClr>
                <a:schemeClr val="dk1"/>
              </a:buClr>
              <a:buSzPct val="100000"/>
              <a:buFont typeface="Noto Sans Symbols"/>
              <a:buChar char="⮚"/>
            </a:pPr>
            <a:r>
              <a:rPr lang="en-US" dirty="0"/>
              <a:t>This counter is decremented at each hop along the path.</a:t>
            </a:r>
            <a:endParaRPr dirty="0"/>
          </a:p>
          <a:p>
            <a:pPr marL="692150" lvl="0" indent="-228600" algn="just" rtl="0">
              <a:lnSpc>
                <a:spcPct val="150000"/>
              </a:lnSpc>
              <a:spcBef>
                <a:spcPts val="1000"/>
              </a:spcBef>
              <a:spcAft>
                <a:spcPts val="0"/>
              </a:spcAft>
              <a:buClr>
                <a:schemeClr val="dk1"/>
              </a:buClr>
              <a:buSzPct val="100000"/>
              <a:buFont typeface="Noto Sans Symbols"/>
              <a:buChar char="⮚"/>
            </a:pPr>
            <a:r>
              <a:rPr lang="en-US" dirty="0"/>
              <a:t> When this counter reaches zero the packet is discarded(reached at destination).  </a:t>
            </a:r>
            <a:endParaRPr dirty="0"/>
          </a:p>
          <a:p>
            <a:pPr marL="692150" lvl="0" indent="-228600" algn="just" rtl="0">
              <a:lnSpc>
                <a:spcPct val="150000"/>
              </a:lnSpc>
              <a:spcBef>
                <a:spcPts val="1000"/>
              </a:spcBef>
              <a:spcAft>
                <a:spcPts val="0"/>
              </a:spcAft>
              <a:buClr>
                <a:schemeClr val="dk1"/>
              </a:buClr>
              <a:buSzPct val="100000"/>
              <a:buFont typeface="Noto Sans Symbols"/>
              <a:buChar char="⮚"/>
            </a:pPr>
            <a:r>
              <a:rPr lang="en-US" dirty="0"/>
              <a:t>This </a:t>
            </a:r>
            <a:r>
              <a:rPr lang="en-US" dirty="0">
                <a:solidFill>
                  <a:srgbClr val="00B050"/>
                </a:solidFill>
              </a:rPr>
              <a:t>requires the knowledge of exact number of hops </a:t>
            </a:r>
            <a:r>
              <a:rPr lang="en-US" dirty="0"/>
              <a:t>from a source to destination.</a:t>
            </a:r>
            <a:endParaRPr b="1" dirty="0"/>
          </a:p>
          <a:p>
            <a:pPr marL="0" lvl="0" indent="0" algn="just" rtl="0">
              <a:lnSpc>
                <a:spcPct val="150000"/>
              </a:lnSpc>
              <a:spcBef>
                <a:spcPts val="1000"/>
              </a:spcBef>
              <a:spcAft>
                <a:spcPts val="0"/>
              </a:spcAft>
              <a:buClr>
                <a:schemeClr val="dk1"/>
              </a:buClr>
              <a:buSzPct val="100000"/>
              <a:buNone/>
            </a:pPr>
            <a:r>
              <a:rPr lang="en-US" dirty="0"/>
              <a:t>2) The source router put a </a:t>
            </a:r>
            <a:r>
              <a:rPr lang="en-US" b="1" dirty="0">
                <a:solidFill>
                  <a:srgbClr val="FF0000"/>
                </a:solidFill>
              </a:rPr>
              <a:t>sequence number </a:t>
            </a:r>
            <a:r>
              <a:rPr lang="en-US" dirty="0"/>
              <a:t>in each packet it receives from its hosts. </a:t>
            </a:r>
            <a:endParaRPr dirty="0"/>
          </a:p>
          <a:p>
            <a:pPr marL="0" indent="0" algn="just">
              <a:lnSpc>
                <a:spcPct val="150000"/>
              </a:lnSpc>
              <a:buSzPct val="100000"/>
              <a:buNone/>
            </a:pPr>
            <a:r>
              <a:rPr lang="en-US" dirty="0"/>
              <a:t>3)To use </a:t>
            </a:r>
            <a:r>
              <a:rPr lang="en-US" b="1" dirty="0">
                <a:solidFill>
                  <a:srgbClr val="FF0000"/>
                </a:solidFill>
              </a:rPr>
              <a:t>selective flooding </a:t>
            </a:r>
            <a:r>
              <a:rPr lang="en-US" dirty="0"/>
              <a:t>, the routers do not send every incoming packet out on every output line. It will send only on those lines that are going approximately in the right direction. </a:t>
            </a:r>
            <a:endParaRPr dirty="0"/>
          </a:p>
          <a:p>
            <a:pPr marL="228600" lvl="0" indent="-64135" algn="l" rtl="0">
              <a:lnSpc>
                <a:spcPct val="90000"/>
              </a:lnSpc>
              <a:spcBef>
                <a:spcPts val="1000"/>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710692"/>
            <a:ext cx="9144000" cy="5889978"/>
          </a:xfrm>
        </p:spPr>
        <p:txBody>
          <a:bodyPr/>
          <a:lstStyle/>
          <a:p>
            <a:pPr algn="just">
              <a:buFont typeface="Wingdings" pitchFamily="2" charset="2"/>
              <a:buChar char="§"/>
            </a:pPr>
            <a:r>
              <a:rPr lang="en-US" b="1" dirty="0"/>
              <a:t>Flooding</a:t>
            </a:r>
            <a:r>
              <a:rPr lang="en-US" dirty="0"/>
              <a:t> is not practical in most applications, but it does have </a:t>
            </a:r>
            <a:r>
              <a:rPr lang="en-US" b="1" dirty="0"/>
              <a:t>some uses</a:t>
            </a:r>
            <a:r>
              <a:rPr lang="en-US" dirty="0"/>
              <a:t>. </a:t>
            </a:r>
          </a:p>
          <a:p>
            <a:pPr algn="just">
              <a:buFont typeface="Wingdings" pitchFamily="2" charset="2"/>
              <a:buChar char="§"/>
            </a:pPr>
            <a:r>
              <a:rPr lang="en-US" dirty="0"/>
              <a:t>For example, </a:t>
            </a:r>
          </a:p>
          <a:p>
            <a:pPr lvl="1" algn="just">
              <a:buFont typeface="Wingdings" pitchFamily="2" charset="2"/>
              <a:buChar char="§"/>
            </a:pPr>
            <a:r>
              <a:rPr lang="en-US" dirty="0"/>
              <a:t>In </a:t>
            </a:r>
            <a:r>
              <a:rPr lang="en-US" dirty="0">
                <a:solidFill>
                  <a:srgbClr val="FF0000"/>
                </a:solidFill>
              </a:rPr>
              <a:t>military applications</a:t>
            </a:r>
            <a:r>
              <a:rPr lang="en-US" dirty="0"/>
              <a:t>, where large numbers of routers may be blown to bits at any instant, the tremendous robustness of flooding is highly desirable. </a:t>
            </a:r>
          </a:p>
          <a:p>
            <a:pPr lvl="1" algn="just">
              <a:buFont typeface="Wingdings" pitchFamily="2" charset="2"/>
              <a:buChar char="§"/>
            </a:pPr>
            <a:r>
              <a:rPr lang="en-US" dirty="0"/>
              <a:t>In </a:t>
            </a:r>
            <a:r>
              <a:rPr lang="en-US" dirty="0">
                <a:solidFill>
                  <a:srgbClr val="FF0000"/>
                </a:solidFill>
              </a:rPr>
              <a:t>distributed database applications</a:t>
            </a:r>
            <a:r>
              <a:rPr lang="en-US" dirty="0"/>
              <a:t>, it is sometimes necessary to update all the databases concurrently, in which case flooding can be useful. </a:t>
            </a:r>
          </a:p>
          <a:p>
            <a:pPr lvl="1" algn="just">
              <a:buFont typeface="Wingdings" pitchFamily="2" charset="2"/>
              <a:buChar char="§"/>
            </a:pPr>
            <a:r>
              <a:rPr lang="en-US" dirty="0"/>
              <a:t>In </a:t>
            </a:r>
            <a:r>
              <a:rPr lang="en-US" dirty="0">
                <a:solidFill>
                  <a:srgbClr val="FF0000"/>
                </a:solidFill>
              </a:rPr>
              <a:t>wireless networks</a:t>
            </a:r>
            <a:r>
              <a:rPr lang="en-US" dirty="0"/>
              <a:t>, all messages transmitted by a station can be received by all other stations within its radio range. </a:t>
            </a:r>
          </a:p>
          <a:p>
            <a:pPr lvl="1" algn="just">
              <a:buFont typeface="Wingdings" pitchFamily="2" charset="2"/>
              <a:buChar char="§"/>
            </a:pPr>
            <a:r>
              <a:rPr lang="en-US" dirty="0"/>
              <a:t>Used in </a:t>
            </a:r>
            <a:r>
              <a:rPr lang="en-US" dirty="0">
                <a:solidFill>
                  <a:srgbClr val="FF0000"/>
                </a:solidFill>
              </a:rPr>
              <a:t>metric</a:t>
            </a:r>
            <a:r>
              <a:rPr lang="en-US" dirty="0"/>
              <a:t> against which other routing algorithms can be compared.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a:t>
            </a:r>
          </a:p>
        </p:txBody>
      </p:sp>
      <p:sp>
        <p:nvSpPr>
          <p:cNvPr id="12291" name="Rectangle 3"/>
          <p:cNvSpPr>
            <a:spLocks noGrp="1" noChangeArrowheads="1"/>
          </p:cNvSpPr>
          <p:nvPr>
            <p:ph type="body" idx="1"/>
          </p:nvPr>
        </p:nvSpPr>
        <p:spPr>
          <a:xfrm>
            <a:off x="1524000" y="710692"/>
            <a:ext cx="9144000" cy="5889978"/>
          </a:xfrm>
        </p:spPr>
        <p:txBody>
          <a:bodyPr>
            <a:normAutofit/>
          </a:bodyPr>
          <a:lstStyle/>
          <a:p>
            <a:pPr algn="just">
              <a:buFont typeface="Wingdings" pitchFamily="2" charset="2"/>
              <a:buChar char="§"/>
            </a:pPr>
            <a:r>
              <a:rPr lang="en-US" dirty="0"/>
              <a:t>Advantages of Flooding:</a:t>
            </a:r>
          </a:p>
          <a:p>
            <a:pPr lvl="1" algn="just">
              <a:buFont typeface="Wingdings" pitchFamily="2" charset="2"/>
              <a:buChar char="§"/>
            </a:pPr>
            <a:r>
              <a:rPr lang="en-US" dirty="0"/>
              <a:t>always chooses the </a:t>
            </a:r>
            <a:r>
              <a:rPr lang="en-US" dirty="0">
                <a:solidFill>
                  <a:srgbClr val="FF0000"/>
                </a:solidFill>
              </a:rPr>
              <a:t>shortest path </a:t>
            </a:r>
            <a:r>
              <a:rPr lang="en-US" dirty="0"/>
              <a:t>because it chooses every possible path in parallel. </a:t>
            </a:r>
          </a:p>
          <a:p>
            <a:pPr lvl="1" algn="just">
              <a:buFont typeface="Wingdings" pitchFamily="2" charset="2"/>
              <a:buChar char="§"/>
            </a:pPr>
            <a:r>
              <a:rPr lang="en-US" dirty="0"/>
              <a:t>Consequently, no other algorithm can produce a </a:t>
            </a:r>
            <a:r>
              <a:rPr lang="en-US" dirty="0">
                <a:solidFill>
                  <a:srgbClr val="FF0000"/>
                </a:solidFill>
              </a:rPr>
              <a:t>shorter delay </a:t>
            </a:r>
            <a:r>
              <a:rPr lang="en-US" dirty="0"/>
              <a:t>(if we ignore the overhead generated by the flooding process itself). </a:t>
            </a:r>
          </a:p>
          <a:p>
            <a:pPr algn="just">
              <a:buFont typeface="Wingdings" pitchFamily="2" charset="2"/>
              <a:buChar char="§"/>
            </a:pPr>
            <a:endParaRPr lang="en-US" b="1"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B2A6D6-54BE-4FB7-BD36-F99E71896D9D}"/>
              </a:ext>
            </a:extLst>
          </p:cNvPr>
          <p:cNvSpPr>
            <a:spLocks noGrp="1"/>
          </p:cNvSpPr>
          <p:nvPr>
            <p:ph type="title"/>
          </p:nvPr>
        </p:nvSpPr>
        <p:spPr/>
        <p:txBody>
          <a:bodyPr/>
          <a:lstStyle/>
          <a:p>
            <a:r>
              <a:rPr lang="en-US" dirty="0"/>
              <a:t>Routing Algorithms</a:t>
            </a:r>
            <a:endParaRPr lang="en-IN" dirty="0"/>
          </a:p>
        </p:txBody>
      </p:sp>
      <p:sp>
        <p:nvSpPr>
          <p:cNvPr id="3" name="Text Placeholder 2">
            <a:extLst>
              <a:ext uri="{FF2B5EF4-FFF2-40B4-BE49-F238E27FC236}">
                <a16:creationId xmlns:a16="http://schemas.microsoft.com/office/drawing/2014/main" xmlns="" id="{EA4DE555-27DE-497E-8B58-259FE02C3FCD}"/>
              </a:ext>
            </a:extLst>
          </p:cNvPr>
          <p:cNvSpPr>
            <a:spLocks noGrp="1"/>
          </p:cNvSpPr>
          <p:nvPr>
            <p:ph type="body" idx="1"/>
          </p:nvPr>
        </p:nvSpPr>
        <p:spPr/>
        <p:txBody>
          <a:bodyPr/>
          <a:lstStyle/>
          <a:p>
            <a:pPr algn="just">
              <a:buFont typeface="Wingdings" pitchFamily="2" charset="2"/>
              <a:buChar char="§"/>
            </a:pPr>
            <a:r>
              <a:rPr lang="en-US" sz="2500" b="1" dirty="0">
                <a:latin typeface="Times New Roman" panose="02020603050405020304" pitchFamily="18" charset="0"/>
                <a:cs typeface="Times New Roman" panose="02020603050405020304" pitchFamily="18" charset="0"/>
              </a:rPr>
              <a:t>Distance Vector Routing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Modern computer networks generally use </a:t>
            </a:r>
            <a:r>
              <a:rPr lang="en-US" sz="2500" b="1" dirty="0">
                <a:latin typeface="Times New Roman" panose="02020603050405020304" pitchFamily="18" charset="0"/>
                <a:cs typeface="Times New Roman" panose="02020603050405020304" pitchFamily="18" charset="0"/>
              </a:rPr>
              <a:t>dynamic routing algorithms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because static algorithms do not take the current network load into account. </a:t>
            </a:r>
          </a:p>
          <a:p>
            <a:pPr lvl="1" algn="just">
              <a:buFont typeface="Wingdings" pitchFamily="2" charset="2"/>
              <a:buChar char="§"/>
            </a:pPr>
            <a:r>
              <a:rPr lang="en-US" sz="2500" dirty="0">
                <a:solidFill>
                  <a:srgbClr val="FF0000"/>
                </a:solidFill>
                <a:latin typeface="Times New Roman" panose="02020603050405020304" pitchFamily="18" charset="0"/>
                <a:cs typeface="Times New Roman" panose="02020603050405020304" pitchFamily="18" charset="0"/>
              </a:rPr>
              <a:t>Two dynamic algorithms </a:t>
            </a:r>
            <a:r>
              <a:rPr lang="en-US" sz="2500" dirty="0">
                <a:latin typeface="Times New Roman" panose="02020603050405020304" pitchFamily="18" charset="0"/>
                <a:cs typeface="Times New Roman" panose="02020603050405020304" pitchFamily="18" charset="0"/>
              </a:rPr>
              <a:t>are the most popular</a:t>
            </a:r>
          </a:p>
          <a:p>
            <a:pPr lvl="2" algn="just">
              <a:buFont typeface="Wingdings" pitchFamily="2" charset="2"/>
              <a:buChar char="§"/>
            </a:pPr>
            <a:r>
              <a:rPr lang="en-US" sz="2500" b="1" dirty="0">
                <a:latin typeface="Times New Roman" panose="02020603050405020304" pitchFamily="18" charset="0"/>
                <a:cs typeface="Times New Roman" panose="02020603050405020304" pitchFamily="18" charset="0"/>
              </a:rPr>
              <a:t>distance vector routing </a:t>
            </a:r>
          </a:p>
          <a:p>
            <a:pPr lvl="2" algn="just">
              <a:buFont typeface="Wingdings" pitchFamily="2" charset="2"/>
              <a:buChar char="§"/>
            </a:pPr>
            <a:r>
              <a:rPr lang="en-US" sz="2500" b="1" dirty="0">
                <a:latin typeface="Times New Roman" panose="02020603050405020304" pitchFamily="18" charset="0"/>
                <a:cs typeface="Times New Roman" panose="02020603050405020304" pitchFamily="18" charset="0"/>
              </a:rPr>
              <a:t>link state routing</a:t>
            </a:r>
          </a:p>
          <a:p>
            <a:endParaRPr lang="en-IN" dirty="0"/>
          </a:p>
        </p:txBody>
      </p:sp>
    </p:spTree>
    <p:extLst>
      <p:ext uri="{BB962C8B-B14F-4D97-AF65-F5344CB8AC3E}">
        <p14:creationId xmlns:p14="http://schemas.microsoft.com/office/powerpoint/2010/main" val="40106383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DVR</a:t>
            </a:r>
          </a:p>
        </p:txBody>
      </p:sp>
      <p:sp>
        <p:nvSpPr>
          <p:cNvPr id="12291" name="Rectangle 3"/>
          <p:cNvSpPr>
            <a:spLocks noGrp="1" noChangeArrowheads="1"/>
          </p:cNvSpPr>
          <p:nvPr>
            <p:ph type="body" idx="1"/>
          </p:nvPr>
        </p:nvSpPr>
        <p:spPr>
          <a:xfrm>
            <a:off x="1524000" y="710692"/>
            <a:ext cx="9144000" cy="5889978"/>
          </a:xfrm>
        </p:spPr>
        <p:txBody>
          <a:bodyPr/>
          <a:lstStyle/>
          <a:p>
            <a:pPr algn="just">
              <a:buFont typeface="Wingdings" pitchFamily="2" charset="2"/>
              <a:buChar char="§"/>
            </a:pPr>
            <a:r>
              <a:rPr lang="en-US" b="1" dirty="0"/>
              <a:t>Distance Vector Routing (DVR)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Algorithms operate by having </a:t>
            </a:r>
            <a:r>
              <a:rPr lang="en-US" sz="2500" b="1" dirty="0">
                <a:latin typeface="Times New Roman" panose="02020603050405020304" pitchFamily="18" charset="0"/>
                <a:cs typeface="Times New Roman" panose="02020603050405020304" pitchFamily="18" charset="0"/>
              </a:rPr>
              <a:t>each router maintain a table </a:t>
            </a:r>
            <a:r>
              <a:rPr lang="en-US" sz="2500" dirty="0">
                <a:latin typeface="Times New Roman" panose="02020603050405020304" pitchFamily="18" charset="0"/>
                <a:cs typeface="Times New Roman" panose="02020603050405020304" pitchFamily="18" charset="0"/>
              </a:rPr>
              <a:t>(</a:t>
            </a:r>
            <a:r>
              <a:rPr lang="en-US" sz="2500" dirty="0" err="1">
                <a:latin typeface="Times New Roman" panose="02020603050405020304" pitchFamily="18" charset="0"/>
                <a:cs typeface="Times New Roman" panose="02020603050405020304" pitchFamily="18" charset="0"/>
              </a:rPr>
              <a:t>i.e</a:t>
            </a:r>
            <a:r>
              <a:rPr lang="en-US" sz="2500" dirty="0">
                <a:latin typeface="Times New Roman" panose="02020603050405020304" pitchFamily="18" charset="0"/>
                <a:cs typeface="Times New Roman" panose="02020603050405020304" pitchFamily="18" charset="0"/>
              </a:rPr>
              <a:t>, a vector) giving the </a:t>
            </a:r>
            <a:r>
              <a:rPr lang="en-US" sz="2500" b="1" dirty="0">
                <a:latin typeface="Times New Roman" panose="02020603050405020304" pitchFamily="18" charset="0"/>
                <a:cs typeface="Times New Roman" panose="02020603050405020304" pitchFamily="18" charset="0"/>
              </a:rPr>
              <a:t>best known distance</a:t>
            </a:r>
            <a:r>
              <a:rPr lang="en-US" sz="2500" dirty="0">
                <a:latin typeface="Times New Roman" panose="02020603050405020304" pitchFamily="18" charset="0"/>
                <a:cs typeface="Times New Roman" panose="02020603050405020304" pitchFamily="18" charset="0"/>
              </a:rPr>
              <a:t> to each destination and </a:t>
            </a:r>
            <a:r>
              <a:rPr lang="en-US" sz="2500" b="1" dirty="0">
                <a:latin typeface="Times New Roman" panose="02020603050405020304" pitchFamily="18" charset="0"/>
                <a:cs typeface="Times New Roman" panose="02020603050405020304" pitchFamily="18" charset="0"/>
              </a:rPr>
              <a:t>which line </a:t>
            </a:r>
            <a:r>
              <a:rPr lang="en-US" sz="2500" dirty="0">
                <a:latin typeface="Times New Roman" panose="02020603050405020304" pitchFamily="18" charset="0"/>
                <a:cs typeface="Times New Roman" panose="02020603050405020304" pitchFamily="18" charset="0"/>
              </a:rPr>
              <a:t>to use to get there.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These tables are updated by exchanging information with the </a:t>
            </a:r>
            <a:r>
              <a:rPr lang="en-US" sz="2500" dirty="0">
                <a:solidFill>
                  <a:srgbClr val="FF0000"/>
                </a:solidFill>
                <a:latin typeface="Times New Roman" panose="02020603050405020304" pitchFamily="18" charset="0"/>
                <a:cs typeface="Times New Roman" panose="02020603050405020304" pitchFamily="18" charset="0"/>
              </a:rPr>
              <a:t>neighbors </a:t>
            </a:r>
          </a:p>
          <a:p>
            <a:pPr lvl="1" algn="just">
              <a:buFont typeface="Wingdings" pitchFamily="2" charset="2"/>
              <a:buChar char="§"/>
            </a:pPr>
            <a:r>
              <a:rPr lang="en-US" sz="2500" dirty="0">
                <a:latin typeface="Times New Roman" panose="02020603050405020304" pitchFamily="18" charset="0"/>
                <a:cs typeface="Times New Roman" panose="02020603050405020304" pitchFamily="18" charset="0"/>
              </a:rPr>
              <a:t>Other names: </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distributed </a:t>
            </a:r>
            <a:r>
              <a:rPr lang="en-US" sz="2500" b="1" dirty="0">
                <a:latin typeface="Times New Roman" panose="02020603050405020304" pitchFamily="18" charset="0"/>
                <a:cs typeface="Times New Roman" panose="02020603050405020304" pitchFamily="18" charset="0"/>
              </a:rPr>
              <a:t>Bellman-Ford routing algorithm </a:t>
            </a:r>
          </a:p>
          <a:p>
            <a:pPr lvl="2" algn="just">
              <a:buFont typeface="Wingdings" pitchFamily="2" charset="2"/>
              <a:buChar char="§"/>
            </a:pPr>
            <a:r>
              <a:rPr lang="en-US" sz="2500" b="1" dirty="0">
                <a:latin typeface="Times New Roman" panose="02020603050405020304" pitchFamily="18" charset="0"/>
                <a:cs typeface="Times New Roman" panose="02020603050405020304" pitchFamily="18" charset="0"/>
              </a:rPr>
              <a:t>Ford-Fulkerson algorithm </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original ARPANET routing algorithm</a:t>
            </a:r>
          </a:p>
          <a:p>
            <a:pPr lvl="2" algn="just">
              <a:buFont typeface="Wingdings" pitchFamily="2" charset="2"/>
              <a:buChar char="§"/>
            </a:pPr>
            <a:r>
              <a:rPr lang="en-US" sz="2500" dirty="0">
                <a:latin typeface="Times New Roman" panose="02020603050405020304" pitchFamily="18" charset="0"/>
                <a:cs typeface="Times New Roman" panose="02020603050405020304" pitchFamily="18" charset="0"/>
              </a:rPr>
              <a:t>used in Internet under the name </a:t>
            </a:r>
            <a:r>
              <a:rPr lang="en-US" sz="2500" b="1" dirty="0">
                <a:latin typeface="Times New Roman" panose="02020603050405020304" pitchFamily="18" charset="0"/>
                <a:cs typeface="Times New Roman" panose="02020603050405020304" pitchFamily="18" charset="0"/>
              </a:rPr>
              <a:t>RIP (Routing Information Protocol)</a:t>
            </a:r>
            <a:endParaRPr lang="en-US" sz="2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DVR</a:t>
            </a:r>
          </a:p>
        </p:txBody>
      </p:sp>
      <p:sp>
        <p:nvSpPr>
          <p:cNvPr id="12291" name="Rectangle 3"/>
          <p:cNvSpPr>
            <a:spLocks noGrp="1" noChangeArrowheads="1"/>
          </p:cNvSpPr>
          <p:nvPr>
            <p:ph type="body" idx="1"/>
          </p:nvPr>
        </p:nvSpPr>
        <p:spPr>
          <a:xfrm>
            <a:off x="1524000" y="710692"/>
            <a:ext cx="9144000" cy="5889978"/>
          </a:xfrm>
        </p:spPr>
        <p:txBody>
          <a:bodyPr>
            <a:normAutofit/>
          </a:bodyPr>
          <a:lstStyle/>
          <a:p>
            <a:pPr lvl="1" algn="just">
              <a:buFont typeface="Wingdings" pitchFamily="2" charset="2"/>
              <a:buChar char="§"/>
            </a:pPr>
            <a:r>
              <a:rPr lang="en-US" sz="2800" dirty="0">
                <a:latin typeface="Times New Roman" panose="02020603050405020304" pitchFamily="18" charset="0"/>
                <a:cs typeface="Times New Roman" panose="02020603050405020304" pitchFamily="18" charset="0"/>
              </a:rPr>
              <a:t>In DVR, each router maintains a routing table containing one entry for each router in the subnet. </a:t>
            </a:r>
          </a:p>
          <a:p>
            <a:pPr lvl="1" algn="just">
              <a:buFont typeface="Wingdings" pitchFamily="2" charset="2"/>
              <a:buChar char="§"/>
            </a:pPr>
            <a:r>
              <a:rPr lang="en-US" sz="2800" dirty="0">
                <a:latin typeface="Times New Roman" panose="02020603050405020304" pitchFamily="18" charset="0"/>
                <a:cs typeface="Times New Roman" panose="02020603050405020304" pitchFamily="18" charset="0"/>
              </a:rPr>
              <a:t>This entry contains two parts: </a:t>
            </a:r>
          </a:p>
          <a:p>
            <a:pPr lvl="2" algn="just">
              <a:buFont typeface="Wingdings" pitchFamily="2" charset="2"/>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preferred outgoing line </a:t>
            </a:r>
            <a:r>
              <a:rPr lang="en-US" sz="2800" dirty="0">
                <a:latin typeface="Times New Roman" panose="02020603050405020304" pitchFamily="18" charset="0"/>
                <a:cs typeface="Times New Roman" panose="02020603050405020304" pitchFamily="18" charset="0"/>
              </a:rPr>
              <a:t>to use for that destination </a:t>
            </a:r>
          </a:p>
          <a:p>
            <a:pPr lvl="2" algn="just">
              <a:buFont typeface="Wingdings" pitchFamily="2" charset="2"/>
              <a:buChar char="§"/>
            </a:pPr>
            <a:r>
              <a:rPr lang="en-US" sz="2800" dirty="0">
                <a:latin typeface="Times New Roman" panose="02020603050405020304" pitchFamily="18" charset="0"/>
                <a:cs typeface="Times New Roman" panose="02020603050405020304" pitchFamily="18" charset="0"/>
              </a:rPr>
              <a:t>an </a:t>
            </a:r>
            <a:r>
              <a:rPr lang="en-US" sz="2800" b="1" dirty="0">
                <a:latin typeface="Times New Roman" panose="02020603050405020304" pitchFamily="18" charset="0"/>
                <a:cs typeface="Times New Roman" panose="02020603050405020304" pitchFamily="18" charset="0"/>
              </a:rPr>
              <a:t>estimate of the time or distance </a:t>
            </a:r>
            <a:r>
              <a:rPr lang="en-US" sz="2800" dirty="0">
                <a:latin typeface="Times New Roman" panose="02020603050405020304" pitchFamily="18" charset="0"/>
                <a:cs typeface="Times New Roman" panose="02020603050405020304" pitchFamily="18" charset="0"/>
              </a:rPr>
              <a:t>to that destination</a:t>
            </a:r>
          </a:p>
          <a:p>
            <a:pPr lvl="1" algn="just">
              <a:buFont typeface="Wingdings" pitchFamily="2" charset="2"/>
              <a:buChar char="§"/>
            </a:pPr>
            <a:r>
              <a:rPr lang="en-US" sz="2800" dirty="0">
                <a:latin typeface="Times New Roman" panose="02020603050405020304" pitchFamily="18" charset="0"/>
                <a:cs typeface="Times New Roman" panose="02020603050405020304" pitchFamily="18" charset="0"/>
              </a:rPr>
              <a:t>The metric used might be </a:t>
            </a:r>
          </a:p>
          <a:p>
            <a:pPr lvl="2" algn="just">
              <a:buFont typeface="Wingdings" pitchFamily="2" charset="2"/>
              <a:buChar char="§"/>
            </a:pPr>
            <a:r>
              <a:rPr lang="en-US" sz="2800" b="1" dirty="0">
                <a:latin typeface="Times New Roman" panose="02020603050405020304" pitchFamily="18" charset="0"/>
                <a:cs typeface="Times New Roman" panose="02020603050405020304" pitchFamily="18" charset="0"/>
              </a:rPr>
              <a:t>number of hops, </a:t>
            </a:r>
          </a:p>
          <a:p>
            <a:pPr lvl="2" algn="just">
              <a:buFont typeface="Wingdings" pitchFamily="2" charset="2"/>
              <a:buChar char="§"/>
            </a:pPr>
            <a:r>
              <a:rPr lang="en-US" sz="2800" b="1" dirty="0">
                <a:latin typeface="Times New Roman" panose="02020603050405020304" pitchFamily="18" charset="0"/>
                <a:cs typeface="Times New Roman" panose="02020603050405020304" pitchFamily="18" charset="0"/>
              </a:rPr>
              <a:t>time delay in milliseconds, </a:t>
            </a:r>
          </a:p>
          <a:p>
            <a:pPr lvl="2" algn="just">
              <a:buFont typeface="Wingdings" pitchFamily="2" charset="2"/>
              <a:buChar char="§"/>
            </a:pPr>
            <a:r>
              <a:rPr lang="en-US" sz="2800" b="1" dirty="0">
                <a:latin typeface="Times New Roman" panose="02020603050405020304" pitchFamily="18" charset="0"/>
                <a:cs typeface="Times New Roman" panose="02020603050405020304" pitchFamily="18" charset="0"/>
              </a:rPr>
              <a:t>total number of packets queued along the path, </a:t>
            </a:r>
            <a:r>
              <a:rPr lang="en-US" sz="2800" dirty="0">
                <a:latin typeface="Times New Roman" panose="02020603050405020304" pitchFamily="18" charset="0"/>
                <a:cs typeface="Times New Roman" panose="02020603050405020304" pitchFamily="18" charset="0"/>
              </a:rPr>
              <a:t>or</a:t>
            </a:r>
          </a:p>
          <a:p>
            <a:pPr lvl="2" algn="just">
              <a:buFont typeface="Wingdings" pitchFamily="2" charset="2"/>
              <a:buChar char="§"/>
            </a:pPr>
            <a:r>
              <a:rPr lang="en-US" sz="2800" b="1" dirty="0">
                <a:latin typeface="Times New Roman" panose="02020603050405020304" pitchFamily="18" charset="0"/>
                <a:cs typeface="Times New Roman" panose="02020603050405020304" pitchFamily="18" charset="0"/>
              </a:rPr>
              <a:t>something similar</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DVR</a:t>
            </a:r>
          </a:p>
        </p:txBody>
      </p:sp>
      <p:sp>
        <p:nvSpPr>
          <p:cNvPr id="12291" name="Rectangle 3"/>
          <p:cNvSpPr>
            <a:spLocks noGrp="1" noChangeArrowheads="1"/>
          </p:cNvSpPr>
          <p:nvPr>
            <p:ph type="body" idx="1"/>
          </p:nvPr>
        </p:nvSpPr>
        <p:spPr>
          <a:xfrm>
            <a:off x="1524000" y="710692"/>
            <a:ext cx="9144000" cy="5889978"/>
          </a:xfrm>
        </p:spPr>
        <p:txBody>
          <a:bodyPr>
            <a:normAutofit/>
          </a:bodyPr>
          <a:lstStyle/>
          <a:p>
            <a:pPr lvl="1" algn="just">
              <a:buFont typeface="Wingdings" pitchFamily="2" charset="2"/>
              <a:buChar char="§"/>
            </a:pPr>
            <a:r>
              <a:rPr lang="en-US" sz="2500" dirty="0"/>
              <a:t>The router is assumed to know the </a:t>
            </a:r>
            <a:r>
              <a:rPr lang="en-US" sz="2500" b="1" dirty="0"/>
              <a:t>''distance'' </a:t>
            </a:r>
            <a:r>
              <a:rPr lang="en-US" sz="2500" dirty="0"/>
              <a:t>to each of its neighbors. </a:t>
            </a:r>
          </a:p>
          <a:p>
            <a:pPr lvl="2" algn="just">
              <a:buFont typeface="Wingdings" pitchFamily="2" charset="2"/>
              <a:buChar char="§"/>
            </a:pPr>
            <a:r>
              <a:rPr lang="en-US" sz="2500" dirty="0"/>
              <a:t>If the metric is </a:t>
            </a:r>
            <a:r>
              <a:rPr lang="en-US" sz="2500" dirty="0">
                <a:solidFill>
                  <a:srgbClr val="FF0000"/>
                </a:solidFill>
              </a:rPr>
              <a:t>hops</a:t>
            </a:r>
            <a:r>
              <a:rPr lang="en-US" sz="2500" dirty="0"/>
              <a:t>, the distance is just one hop. </a:t>
            </a:r>
          </a:p>
          <a:p>
            <a:pPr lvl="2" algn="just">
              <a:buFont typeface="Wingdings" pitchFamily="2" charset="2"/>
              <a:buChar char="§"/>
            </a:pPr>
            <a:r>
              <a:rPr lang="en-US" sz="2500" dirty="0"/>
              <a:t>If the metric is </a:t>
            </a:r>
            <a:r>
              <a:rPr lang="en-US" sz="2500" dirty="0">
                <a:solidFill>
                  <a:srgbClr val="FF0000"/>
                </a:solidFill>
              </a:rPr>
              <a:t>queue length</a:t>
            </a:r>
            <a:r>
              <a:rPr lang="en-US" sz="2500" dirty="0"/>
              <a:t>, the router simply examines each queue. </a:t>
            </a:r>
          </a:p>
          <a:p>
            <a:pPr lvl="2" algn="just">
              <a:buFont typeface="Wingdings" pitchFamily="2" charset="2"/>
              <a:buChar char="§"/>
            </a:pPr>
            <a:r>
              <a:rPr lang="en-US" sz="2500" dirty="0"/>
              <a:t>If the metric is </a:t>
            </a:r>
            <a:r>
              <a:rPr lang="en-US" sz="2500" dirty="0">
                <a:solidFill>
                  <a:srgbClr val="FF0000"/>
                </a:solidFill>
              </a:rPr>
              <a:t>delay</a:t>
            </a:r>
            <a:r>
              <a:rPr lang="en-US" sz="2500" dirty="0"/>
              <a:t>, the router can measure it directly with special ECHO packets that the receiver just timestamps and sends back as fast as it can.</a:t>
            </a:r>
          </a:p>
          <a:p>
            <a:pPr lvl="1" algn="just">
              <a:buFont typeface="Wingdings" pitchFamily="2" charset="2"/>
              <a:buChar char="§"/>
            </a:pPr>
            <a:r>
              <a:rPr lang="en-US" sz="2500" dirty="0"/>
              <a:t>Consider an example, assume that </a:t>
            </a:r>
            <a:r>
              <a:rPr lang="en-US" sz="2500" dirty="0">
                <a:solidFill>
                  <a:srgbClr val="FF0000"/>
                </a:solidFill>
              </a:rPr>
              <a:t>delay is used as a metric </a:t>
            </a:r>
            <a:r>
              <a:rPr lang="en-US" sz="2500" dirty="0"/>
              <a:t>and that the router knows the delay to each of its neighbors. </a:t>
            </a:r>
          </a:p>
          <a:p>
            <a:pPr lvl="1" algn="just">
              <a:buFont typeface="Wingdings" pitchFamily="2" charset="2"/>
              <a:buChar char="§"/>
            </a:pPr>
            <a:r>
              <a:rPr lang="en-US" sz="2500" dirty="0"/>
              <a:t>Once every T </a:t>
            </a:r>
            <a:r>
              <a:rPr lang="en-US" sz="2500" dirty="0" err="1"/>
              <a:t>msec</a:t>
            </a:r>
            <a:r>
              <a:rPr lang="en-US" sz="2500" dirty="0"/>
              <a:t>, each router sends to each neighbor a list of its estimated delays to each destination. </a:t>
            </a:r>
          </a:p>
          <a:p>
            <a:pPr lvl="1" algn="just">
              <a:buFont typeface="Wingdings" pitchFamily="2" charset="2"/>
              <a:buChar char="§"/>
            </a:pPr>
            <a:r>
              <a:rPr lang="en-US" sz="2500" dirty="0"/>
              <a:t>It also receives a similar list from each neighbor.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DVR</a:t>
            </a:r>
          </a:p>
        </p:txBody>
      </p:sp>
      <p:sp>
        <p:nvSpPr>
          <p:cNvPr id="12291" name="Rectangle 3"/>
          <p:cNvSpPr>
            <a:spLocks noGrp="1" noChangeArrowheads="1"/>
          </p:cNvSpPr>
          <p:nvPr>
            <p:ph type="body" idx="1"/>
          </p:nvPr>
        </p:nvSpPr>
        <p:spPr>
          <a:xfrm>
            <a:off x="1524000" y="710692"/>
            <a:ext cx="8701548" cy="5889978"/>
          </a:xfrm>
        </p:spPr>
        <p:txBody>
          <a:bodyPr>
            <a:normAutofit/>
          </a:bodyPr>
          <a:lstStyle/>
          <a:p>
            <a:pPr lvl="1" algn="just">
              <a:buFont typeface="Wingdings" pitchFamily="2" charset="2"/>
              <a:buChar char="§"/>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Let d</a:t>
            </a:r>
            <a:r>
              <a:rPr kumimoji="0" lang="en-US" altLang="en-US" sz="2800" b="0" i="0" u="none" strike="noStrike" cap="none" normalizeH="0" baseline="-30000" dirty="0">
                <a:ln>
                  <a:noFill/>
                </a:ln>
                <a:solidFill>
                  <a:srgbClr val="333333"/>
                </a:solidFill>
                <a:effectLst/>
                <a:latin typeface="Times New Roman" panose="02020603050405020304" pitchFamily="18" charset="0"/>
                <a:cs typeface="Times New Roman" panose="02020603050405020304" pitchFamily="18" charset="0"/>
              </a:rPr>
              <a:t>x</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(y) be the cost of the least-cost path from node x to node y. The least costs are related by Bellman-Ford equation,</a:t>
            </a:r>
          </a:p>
          <a:p>
            <a:pPr marL="914400" lvl="2" indent="0" algn="just">
              <a:buNone/>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d</a:t>
            </a:r>
            <a:r>
              <a:rPr kumimoji="0" lang="en-US" altLang="en-US" sz="2800" b="1" i="0" u="none" strike="noStrike" cap="none" normalizeH="0" baseline="-30000" dirty="0">
                <a:ln>
                  <a:noFill/>
                </a:ln>
                <a:solidFill>
                  <a:srgbClr val="333333"/>
                </a:solidFill>
                <a:effectLst/>
                <a:latin typeface="Times New Roman" panose="02020603050405020304" pitchFamily="18" charset="0"/>
                <a:cs typeface="Times New Roman" panose="02020603050405020304" pitchFamily="18" charset="0"/>
              </a:rPr>
              <a:t>x</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(y) = </a:t>
            </a:r>
            <a:r>
              <a:rPr kumimoji="0" lang="en-US" altLang="en-US" sz="2800" b="1"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min</a:t>
            </a:r>
            <a:r>
              <a:rPr kumimoji="0" lang="en-US" altLang="en-US" sz="2800" b="1" i="0" u="none" strike="noStrike" cap="none" normalizeH="0" baseline="-30000" dirty="0" err="1">
                <a:ln>
                  <a:noFill/>
                </a:ln>
                <a:solidFill>
                  <a:srgbClr val="333333"/>
                </a:solidFill>
                <a:effectLst/>
                <a:latin typeface="Times New Roman" panose="02020603050405020304" pitchFamily="18" charset="0"/>
                <a:cs typeface="Times New Roman" panose="02020603050405020304" pitchFamily="18" charset="0"/>
              </a:rPr>
              <a:t>v</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{c(</a:t>
            </a:r>
            <a:r>
              <a:rPr kumimoji="0" lang="en-US" altLang="en-US" sz="2800" b="1"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x,v</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d</a:t>
            </a:r>
            <a:r>
              <a:rPr kumimoji="0" lang="en-US" altLang="en-US" sz="2800" b="1" i="0" u="none" strike="noStrike" cap="none" normalizeH="0" baseline="-30000" dirty="0">
                <a:ln>
                  <a:noFill/>
                </a:ln>
                <a:solidFill>
                  <a:srgbClr val="333333"/>
                </a:solidFill>
                <a:effectLst/>
                <a:latin typeface="Times New Roman" panose="02020603050405020304" pitchFamily="18" charset="0"/>
                <a:cs typeface="Times New Roman" panose="02020603050405020304" pitchFamily="18" charset="0"/>
              </a:rPr>
              <a:t>v</a:t>
            </a: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(y)} </a:t>
            </a:r>
          </a:p>
          <a:p>
            <a:pPr lvl="1" algn="just">
              <a:buFont typeface="Wingdings" pitchFamily="2" charset="2"/>
              <a:buChar char="§"/>
            </a:pPr>
            <a:r>
              <a:rPr kumimoji="0" lang="en-US" altLang="en-US" sz="28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Where</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the </a:t>
            </a:r>
            <a:r>
              <a:rPr kumimoji="0" lang="en-US" altLang="en-US" sz="2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min</a:t>
            </a:r>
            <a:r>
              <a:rPr kumimoji="0" lang="en-US" altLang="en-US" sz="2800" b="0" i="0" u="none" strike="noStrike" cap="none" normalizeH="0" baseline="-25000" dirty="0" err="1">
                <a:ln>
                  <a:noFill/>
                </a:ln>
                <a:solidFill>
                  <a:srgbClr val="333333"/>
                </a:solidFill>
                <a:effectLst/>
                <a:latin typeface="Times New Roman" panose="02020603050405020304" pitchFamily="18" charset="0"/>
                <a:cs typeface="Times New Roman" panose="02020603050405020304" pitchFamily="18" charset="0"/>
              </a:rPr>
              <a:t>v</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is the equation taken for all x neighbors. </a:t>
            </a:r>
          </a:p>
          <a:p>
            <a:pPr lvl="1" algn="just">
              <a:buFont typeface="Wingdings" pitchFamily="2" charset="2"/>
              <a:buChar char="§"/>
            </a:pP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least cost from x to y is the minimum of c(</a:t>
            </a:r>
            <a:r>
              <a:rPr kumimoji="0" lang="en-US" altLang="en-US" sz="2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x,v</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)+d</a:t>
            </a:r>
            <a:r>
              <a:rPr kumimoji="0" lang="en-US" altLang="en-US" sz="2800" b="0" i="0" u="none" strike="noStrike" cap="none" normalizeH="0" baseline="-30000" dirty="0">
                <a:ln>
                  <a:noFill/>
                </a:ln>
                <a:solidFill>
                  <a:srgbClr val="333333"/>
                </a:solidFill>
                <a:effectLst/>
                <a:latin typeface="Times New Roman" panose="02020603050405020304" pitchFamily="18" charset="0"/>
                <a:cs typeface="Times New Roman" panose="02020603050405020304" pitchFamily="18" charset="0"/>
              </a:rPr>
              <a:t>v</a:t>
            </a:r>
            <a:r>
              <a:rPr kumimoji="0" lang="en-US" altLang="en-US" sz="2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(y) taken over all neighbors.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35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524000" y="1"/>
            <a:ext cx="9144000" cy="643467"/>
          </a:xfrm>
        </p:spPr>
        <p:txBody>
          <a:bodyPr>
            <a:normAutofit fontScale="90000"/>
          </a:bodyPr>
          <a:lstStyle/>
          <a:p>
            <a:r>
              <a:rPr lang="en-US" dirty="0"/>
              <a:t>Distance Vector Routing</a:t>
            </a:r>
          </a:p>
        </p:txBody>
      </p:sp>
      <p:sp>
        <p:nvSpPr>
          <p:cNvPr id="17411" name="Rectangle 3"/>
          <p:cNvSpPr>
            <a:spLocks noGrp="1" noChangeArrowheads="1"/>
          </p:cNvSpPr>
          <p:nvPr>
            <p:ph type="body" idx="1"/>
          </p:nvPr>
        </p:nvSpPr>
        <p:spPr>
          <a:xfrm>
            <a:off x="1524000" y="6276624"/>
            <a:ext cx="9144000" cy="479778"/>
          </a:xfrm>
        </p:spPr>
        <p:txBody>
          <a:bodyPr>
            <a:normAutofit fontScale="85000" lnSpcReduction="20000"/>
          </a:bodyPr>
          <a:lstStyle/>
          <a:p>
            <a:pPr>
              <a:lnSpc>
                <a:spcPct val="90000"/>
              </a:lnSpc>
              <a:buFontTx/>
              <a:buNone/>
            </a:pPr>
            <a:r>
              <a:rPr lang="en-US" dirty="0">
                <a:solidFill>
                  <a:schemeClr val="accent2"/>
                </a:solidFill>
              </a:rPr>
              <a:t>(a)</a:t>
            </a:r>
            <a:r>
              <a:rPr lang="en-US" dirty="0"/>
              <a:t> A subnet. </a:t>
            </a:r>
            <a:r>
              <a:rPr lang="en-US" dirty="0">
                <a:solidFill>
                  <a:schemeClr val="accent2"/>
                </a:solidFill>
              </a:rPr>
              <a:t>(b)</a:t>
            </a:r>
            <a:r>
              <a:rPr lang="en-US" dirty="0"/>
              <a:t> Input from A, I, H, K, and the new routing table for J.</a:t>
            </a:r>
          </a:p>
        </p:txBody>
      </p:sp>
      <p:pic>
        <p:nvPicPr>
          <p:cNvPr id="17413" name="Picture 5" descr="5-09"/>
          <p:cNvPicPr>
            <a:picLocks noChangeAspect="1" noChangeArrowheads="1"/>
          </p:cNvPicPr>
          <p:nvPr/>
        </p:nvPicPr>
        <p:blipFill>
          <a:blip r:embed="rId2" cstate="print"/>
          <a:srcRect/>
          <a:stretch>
            <a:fillRect/>
          </a:stretch>
        </p:blipFill>
        <p:spPr bwMode="auto">
          <a:xfrm>
            <a:off x="1611841" y="643467"/>
            <a:ext cx="8977137" cy="5520266"/>
          </a:xfrm>
          <a:prstGeom prst="rect">
            <a:avLst/>
          </a:prstGeom>
          <a:noFill/>
        </p:spPr>
      </p:pic>
      <p:sp>
        <p:nvSpPr>
          <p:cNvPr id="5" name="Oval 4"/>
          <p:cNvSpPr/>
          <p:nvPr/>
        </p:nvSpPr>
        <p:spPr bwMode="auto">
          <a:xfrm>
            <a:off x="2381956" y="3025422"/>
            <a:ext cx="282222" cy="496711"/>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buClrTx/>
            </a:pPr>
            <a:endParaRPr lang="en-US" sz="1800">
              <a:solidFill>
                <a:schemeClr val="tx1"/>
              </a:solidFill>
              <a:latin typeface="Arial" charset="0"/>
            </a:endParaRPr>
          </a:p>
        </p:txBody>
      </p:sp>
      <p:sp>
        <p:nvSpPr>
          <p:cNvPr id="6" name="Slide Number Placeholder 5"/>
          <p:cNvSpPr>
            <a:spLocks noGrp="1"/>
          </p:cNvSpPr>
          <p:nvPr>
            <p:ph type="sldNum" sz="quarter" idx="12"/>
          </p:nvPr>
        </p:nvSpPr>
        <p:spPr/>
        <p:txBody>
          <a:bodyPr/>
          <a:lstStyle/>
          <a:p>
            <a:fld id="{EF55C829-AE99-4997-8EBC-414F558758A8}" type="slidenum">
              <a:rPr lang="en-US" smtClean="0"/>
              <a:pPr/>
              <a:t>36</a:t>
            </a:fld>
            <a:endParaRPr lang="en-US"/>
          </a:p>
        </p:txBody>
      </p:sp>
      <p:cxnSp>
        <p:nvCxnSpPr>
          <p:cNvPr id="4" name="Straight Connector 3">
            <a:extLst>
              <a:ext uri="{FF2B5EF4-FFF2-40B4-BE49-F238E27FC236}">
                <a16:creationId xmlns:a16="http://schemas.microsoft.com/office/drawing/2014/main" xmlns="" id="{97999E96-40B4-5A01-BE82-963AA5B3273B}"/>
              </a:ext>
            </a:extLst>
          </p:cNvPr>
          <p:cNvCxnSpPr/>
          <p:nvPr/>
        </p:nvCxnSpPr>
        <p:spPr bwMode="auto">
          <a:xfrm>
            <a:off x="6218549" y="3120272"/>
            <a:ext cx="4370429" cy="0"/>
          </a:xfrm>
          <a:prstGeom prst="line">
            <a:avLst/>
          </a:prstGeom>
          <a:solidFill>
            <a:schemeClr val="accent1"/>
          </a:solidFill>
          <a:ln w="9525" cap="flat" cmpd="sng" algn="ctr">
            <a:solidFill>
              <a:srgbClr val="FF3300"/>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xmlns="" id="{FDF13AFA-5AD7-AD5B-2297-65E2158562DB}"/>
              </a:ext>
            </a:extLst>
          </p:cNvPr>
          <p:cNvCxnSpPr/>
          <p:nvPr/>
        </p:nvCxnSpPr>
        <p:spPr bwMode="auto">
          <a:xfrm>
            <a:off x="6218549" y="2865748"/>
            <a:ext cx="4370429" cy="0"/>
          </a:xfrm>
          <a:prstGeom prst="line">
            <a:avLst/>
          </a:prstGeom>
          <a:ln>
            <a:solidFill>
              <a:srgbClr val="FF33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xmlns="" id="{A9A47EF3-113B-6D76-C0E4-73822E98728B}"/>
              </a:ext>
            </a:extLst>
          </p:cNvPr>
          <p:cNvCxnSpPr/>
          <p:nvPr/>
        </p:nvCxnSpPr>
        <p:spPr bwMode="auto">
          <a:xfrm>
            <a:off x="6218549" y="3102988"/>
            <a:ext cx="4370429" cy="0"/>
          </a:xfrm>
          <a:prstGeom prst="line">
            <a:avLst/>
          </a:prstGeom>
          <a:ln>
            <a:solidFill>
              <a:srgbClr val="FF33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xmlns="" id="{D6BFAB4E-97DA-8EAF-2B63-BCED71746C24}"/>
              </a:ext>
            </a:extLst>
          </p:cNvPr>
          <p:cNvCxnSpPr>
            <a:cxnSpLocks/>
          </p:cNvCxnSpPr>
          <p:nvPr/>
        </p:nvCxnSpPr>
        <p:spPr bwMode="auto">
          <a:xfrm>
            <a:off x="6341098" y="5206737"/>
            <a:ext cx="2592371" cy="0"/>
          </a:xfrm>
          <a:prstGeom prst="line">
            <a:avLst/>
          </a:prstGeom>
          <a:ln>
            <a:solidFill>
              <a:srgbClr val="FF33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xmlns="" id="{A5870C15-5CFA-2B62-6B3E-286883593C4A}"/>
              </a:ext>
            </a:extLst>
          </p:cNvPr>
          <p:cNvSpPr txBox="1"/>
          <p:nvPr/>
        </p:nvSpPr>
        <p:spPr>
          <a:xfrm flipH="1">
            <a:off x="1946791" y="4513783"/>
            <a:ext cx="3036846" cy="523220"/>
          </a:xfrm>
          <a:prstGeom prst="rect">
            <a:avLst/>
          </a:prstGeom>
          <a:noFill/>
        </p:spPr>
        <p:txBody>
          <a:bodyPr wrap="square" rtlCol="0">
            <a:spAutoFit/>
          </a:bodyPr>
          <a:lstStyle/>
          <a:p>
            <a:pPr algn="l"/>
            <a:r>
              <a:rPr lang="en-US" dirty="0"/>
              <a:t>Source : J</a:t>
            </a:r>
          </a:p>
          <a:p>
            <a:pPr algn="l"/>
            <a:r>
              <a:rPr lang="en-US" dirty="0"/>
              <a:t>Destination : G</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DVR</a:t>
            </a:r>
          </a:p>
        </p:txBody>
      </p:sp>
      <p:sp>
        <p:nvSpPr>
          <p:cNvPr id="12291" name="Rectangle 3"/>
          <p:cNvSpPr>
            <a:spLocks noGrp="1" noChangeArrowheads="1"/>
          </p:cNvSpPr>
          <p:nvPr>
            <p:ph type="body" idx="1"/>
          </p:nvPr>
        </p:nvSpPr>
        <p:spPr>
          <a:xfrm>
            <a:off x="1524000" y="710692"/>
            <a:ext cx="9144000" cy="5889978"/>
          </a:xfrm>
        </p:spPr>
        <p:txBody>
          <a:bodyPr/>
          <a:lstStyle/>
          <a:p>
            <a:pPr lvl="1" algn="just">
              <a:buFont typeface="Wingdings" pitchFamily="2" charset="2"/>
              <a:buChar char="§"/>
            </a:pPr>
            <a:r>
              <a:rPr lang="en-US" dirty="0"/>
              <a:t>Suppose that J has measured or estimated its delay to its neighbors, A, I, H, and K as 8, 10, 12, and 6 </a:t>
            </a:r>
            <a:r>
              <a:rPr lang="en-US" dirty="0" err="1"/>
              <a:t>msec</a:t>
            </a:r>
            <a:r>
              <a:rPr lang="en-US" dirty="0"/>
              <a:t>, respectively </a:t>
            </a:r>
          </a:p>
          <a:p>
            <a:pPr lvl="1" algn="just">
              <a:buFont typeface="Wingdings" pitchFamily="2" charset="2"/>
              <a:buChar char="§"/>
            </a:pPr>
            <a:r>
              <a:rPr lang="en-US" dirty="0">
                <a:solidFill>
                  <a:srgbClr val="FF0000"/>
                </a:solidFill>
              </a:rPr>
              <a:t>Consider how J computes its new route to router G. </a:t>
            </a:r>
          </a:p>
          <a:p>
            <a:pPr lvl="1" algn="just">
              <a:buFont typeface="Wingdings" pitchFamily="2" charset="2"/>
              <a:buChar char="§"/>
            </a:pPr>
            <a:r>
              <a:rPr lang="en-US" dirty="0"/>
              <a:t>It knows that it can get to A in 8 </a:t>
            </a:r>
            <a:r>
              <a:rPr lang="en-US" dirty="0" err="1"/>
              <a:t>msec</a:t>
            </a:r>
            <a:r>
              <a:rPr lang="en-US" dirty="0"/>
              <a:t>, and A claims to be able to get to G in 18 </a:t>
            </a:r>
            <a:r>
              <a:rPr lang="en-US" dirty="0" err="1"/>
              <a:t>msec</a:t>
            </a:r>
            <a:r>
              <a:rPr lang="en-US" dirty="0"/>
              <a:t>, so J knows it can count on a delay of 26 (8+18) </a:t>
            </a:r>
            <a:r>
              <a:rPr lang="en-US" dirty="0" err="1"/>
              <a:t>msec</a:t>
            </a:r>
            <a:r>
              <a:rPr lang="en-US" dirty="0"/>
              <a:t> to G if it forwards packets bound for G to A. </a:t>
            </a:r>
          </a:p>
          <a:p>
            <a:pPr lvl="1" algn="just">
              <a:buFont typeface="Wingdings" pitchFamily="2" charset="2"/>
              <a:buChar char="§"/>
            </a:pPr>
            <a:r>
              <a:rPr lang="en-US" dirty="0"/>
              <a:t>Similarly, it computes the delay to G via I, H, and K as 41 (31 + 10), 18 (6 + 12), and 37 (31 + 6) </a:t>
            </a:r>
            <a:r>
              <a:rPr lang="en-US" dirty="0" err="1"/>
              <a:t>msec</a:t>
            </a:r>
            <a:r>
              <a:rPr lang="en-US" dirty="0"/>
              <a:t>, respectively. </a:t>
            </a:r>
          </a:p>
          <a:p>
            <a:pPr lvl="1" algn="just">
              <a:buFont typeface="Wingdings" pitchFamily="2" charset="2"/>
              <a:buChar char="§"/>
            </a:pPr>
            <a:r>
              <a:rPr lang="en-US" dirty="0"/>
              <a:t>The best of these values is 18, so it makes an entry in its routing table that the delay to G is 18 </a:t>
            </a:r>
            <a:r>
              <a:rPr lang="en-US" dirty="0" err="1"/>
              <a:t>msec</a:t>
            </a:r>
            <a:r>
              <a:rPr lang="en-US" dirty="0"/>
              <a:t> and that the route to use is via H. </a:t>
            </a:r>
          </a:p>
          <a:p>
            <a:pPr lvl="1" algn="just">
              <a:buFont typeface="Wingdings" pitchFamily="2" charset="2"/>
              <a:buChar char="§"/>
            </a:pPr>
            <a:r>
              <a:rPr lang="en-US" dirty="0"/>
              <a:t>The same calculation is performed for all the other destinations, with the new routing table shown in the last column of the figure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DVR - Count to infinity problem</a:t>
            </a:r>
          </a:p>
        </p:txBody>
      </p:sp>
      <p:sp>
        <p:nvSpPr>
          <p:cNvPr id="12291" name="Rectangle 3"/>
          <p:cNvSpPr>
            <a:spLocks noGrp="1" noChangeArrowheads="1"/>
          </p:cNvSpPr>
          <p:nvPr>
            <p:ph type="body" idx="1"/>
          </p:nvPr>
        </p:nvSpPr>
        <p:spPr>
          <a:xfrm>
            <a:off x="1524000" y="1167892"/>
            <a:ext cx="9144000" cy="5889978"/>
          </a:xfrm>
        </p:spPr>
        <p:txBody>
          <a:bodyPr>
            <a:normAutofit/>
          </a:bodyPr>
          <a:lstStyle/>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Distance vector routing works in theory but has a </a:t>
            </a:r>
            <a:r>
              <a:rPr lang="en-US" sz="2600" dirty="0">
                <a:solidFill>
                  <a:srgbClr val="FF0000"/>
                </a:solidFill>
                <a:latin typeface="Times New Roman" panose="02020603050405020304" pitchFamily="18" charset="0"/>
                <a:cs typeface="Times New Roman" panose="02020603050405020304" pitchFamily="18" charset="0"/>
              </a:rPr>
              <a:t>serious drawback</a:t>
            </a:r>
            <a:r>
              <a:rPr lang="en-US" sz="2600" dirty="0">
                <a:latin typeface="Times New Roman" panose="02020603050405020304" pitchFamily="18" charset="0"/>
                <a:cs typeface="Times New Roman" panose="02020603050405020304" pitchFamily="18" charset="0"/>
              </a:rPr>
              <a:t> in practice: </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although it converges to the correct answer, it may do so slowly. </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In particular, </a:t>
            </a:r>
            <a:r>
              <a:rPr lang="en-US" sz="2600" dirty="0">
                <a:solidFill>
                  <a:srgbClr val="FF0000"/>
                </a:solidFill>
                <a:latin typeface="Times New Roman" panose="02020603050405020304" pitchFamily="18" charset="0"/>
                <a:cs typeface="Times New Roman" panose="02020603050405020304" pitchFamily="18" charset="0"/>
              </a:rPr>
              <a:t>it reacts rapidly to good news, but leisurely to bad news.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Consider a router whose best route to destination X is large.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If on the next exchange neighbor A suddenly reports a short delay to X, the router just switches over to using the line to A to send traffic to X.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In one vector exchange, the good news is processed</a:t>
            </a:r>
            <a:r>
              <a:rPr lang="en-US" sz="2600" i="1"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DVR- Count to infinity problem</a:t>
            </a:r>
          </a:p>
        </p:txBody>
      </p:sp>
      <p:sp>
        <p:nvSpPr>
          <p:cNvPr id="18436" name="Text Box 4"/>
          <p:cNvSpPr txBox="1">
            <a:spLocks noChangeArrowheads="1"/>
          </p:cNvSpPr>
          <p:nvPr/>
        </p:nvSpPr>
        <p:spPr bwMode="auto">
          <a:xfrm>
            <a:off x="2829993" y="5017412"/>
            <a:ext cx="6415087" cy="457200"/>
          </a:xfrm>
          <a:prstGeom prst="rect">
            <a:avLst/>
          </a:prstGeom>
          <a:noFill/>
          <a:ln w="9525">
            <a:noFill/>
            <a:miter lim="800000"/>
            <a:headEnd/>
            <a:tailEnd/>
          </a:ln>
          <a:effectLst/>
        </p:spPr>
        <p:txBody>
          <a:bodyPr>
            <a:spAutoFit/>
          </a:bodyPr>
          <a:lstStyle/>
          <a:p>
            <a:pPr>
              <a:spcBef>
                <a:spcPct val="50000"/>
              </a:spcBef>
            </a:pPr>
            <a:r>
              <a:rPr lang="en-US" sz="2400" dirty="0">
                <a:latin typeface="Times New Roman" pitchFamily="18" charset="0"/>
              </a:rPr>
              <a:t>a) Good news spreads faster</a:t>
            </a:r>
          </a:p>
        </p:txBody>
      </p:sp>
      <p:pic>
        <p:nvPicPr>
          <p:cNvPr id="5" name="Picture 6" descr="5-10"/>
          <p:cNvPicPr>
            <a:picLocks noChangeAspect="1" noChangeArrowheads="1"/>
          </p:cNvPicPr>
          <p:nvPr/>
        </p:nvPicPr>
        <p:blipFill>
          <a:blip r:embed="rId2" cstate="print"/>
          <a:srcRect r="51446" b="48502"/>
          <a:stretch>
            <a:fillRect/>
          </a:stretch>
        </p:blipFill>
        <p:spPr bwMode="auto">
          <a:xfrm>
            <a:off x="2039005" y="1482538"/>
            <a:ext cx="8343352" cy="3447271"/>
          </a:xfrm>
          <a:prstGeom prst="rect">
            <a:avLst/>
          </a:prstGeom>
          <a:noFill/>
        </p:spPr>
      </p:pic>
      <p:sp>
        <p:nvSpPr>
          <p:cNvPr id="6" name="Slide Number Placeholder 5"/>
          <p:cNvSpPr>
            <a:spLocks noGrp="1"/>
          </p:cNvSpPr>
          <p:nvPr>
            <p:ph type="sldNum" sz="quarter" idx="12"/>
          </p:nvPr>
        </p:nvSpPr>
        <p:spPr/>
        <p:txBody>
          <a:bodyPr/>
          <a:lstStyle/>
          <a:p>
            <a:fld id="{EF55C829-AE99-4997-8EBC-414F558758A8}"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1524000" y="710692"/>
            <a:ext cx="9144000" cy="5889978"/>
          </a:xfrm>
        </p:spPr>
        <p:txBody>
          <a:bodyPr>
            <a:normAutofit fontScale="92500" lnSpcReduction="10000"/>
          </a:bodyPr>
          <a:lstStyle/>
          <a:p>
            <a:pPr algn="just">
              <a:buFont typeface="Wingdings" pitchFamily="2" charset="2"/>
              <a:buChar char="§"/>
            </a:pPr>
            <a:r>
              <a:rPr lang="en-US" dirty="0">
                <a:latin typeface="Times New Roman" panose="02020603050405020304" pitchFamily="18" charset="0"/>
                <a:cs typeface="Times New Roman" panose="02020603050405020304" pitchFamily="18" charset="0"/>
              </a:rPr>
              <a:t>To see how fast good news propagates, consider the five-node (linear) subnet of Fig. a, where the delay metric is the number of hops.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Suppose A is down initially and all the other routers know this.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In other words, they have all recorded the delay to A as infinity.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When A comes up, the other routers learn about it via the vector exchanges.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Assume periodically a vector exchange has initiated at all routers simultaneously.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At the time of the first exchange, B learns that its left neighbor has zero delay to A.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B now makes an entry in its routing table that A is one hop away to the left. </a:t>
            </a:r>
          </a:p>
          <a:p>
            <a:pPr algn="just">
              <a:buFont typeface="Wingdings" pitchFamily="2" charset="2"/>
              <a:buChar char="§"/>
            </a:pPr>
            <a:r>
              <a:rPr lang="en-US" dirty="0">
                <a:latin typeface="Times New Roman" panose="02020603050405020304" pitchFamily="18" charset="0"/>
                <a:cs typeface="Times New Roman" panose="02020603050405020304" pitchFamily="18" charset="0"/>
              </a:rPr>
              <a:t>All the other routers still think that A is down.</a:t>
            </a:r>
          </a:p>
        </p:txBody>
      </p:sp>
      <p:sp>
        <p:nvSpPr>
          <p:cNvPr id="4" name="Slide Number Placeholder 3"/>
          <p:cNvSpPr>
            <a:spLocks noGrp="1"/>
          </p:cNvSpPr>
          <p:nvPr>
            <p:ph type="sldNum" sz="quarter" idx="12"/>
          </p:nvPr>
        </p:nvSpPr>
        <p:spPr/>
        <p:txBody>
          <a:bodyPr/>
          <a:lstStyle/>
          <a:p>
            <a:fld id="{EF55C829-AE99-4997-8EBC-414F558758A8}" type="slidenum">
              <a:rPr lang="en-US" smtClean="0"/>
              <a:pPr/>
              <a:t>40</a:t>
            </a:fld>
            <a:endParaRPr lang="en-US"/>
          </a:p>
        </p:txBody>
      </p:sp>
      <p:sp>
        <p:nvSpPr>
          <p:cNvPr id="5" name="Rectangle 2">
            <a:extLst>
              <a:ext uri="{FF2B5EF4-FFF2-40B4-BE49-F238E27FC236}">
                <a16:creationId xmlns:a16="http://schemas.microsoft.com/office/drawing/2014/main" xmlns="" id="{20AA273C-F3BB-71FC-3CDB-51959B2D2856}"/>
              </a:ext>
            </a:extLst>
          </p:cNvPr>
          <p:cNvSpPr txBox="1">
            <a:spLocks noChangeArrowheads="1"/>
          </p:cNvSpPr>
          <p:nvPr/>
        </p:nvSpPr>
        <p:spPr bwMode="auto">
          <a:xfrm>
            <a:off x="1162878" y="34410"/>
            <a:ext cx="9052635" cy="67628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rgbClr val="FF0000"/>
                </a:solidFill>
                <a:latin typeface="+mj-lt"/>
                <a:ea typeface="+mj-ea"/>
                <a:cs typeface="+mj-cs"/>
              </a:defRPr>
            </a:lvl1pPr>
            <a:lvl2pPr algn="ctr" rtl="0" fontAlgn="base">
              <a:spcBef>
                <a:spcPct val="0"/>
              </a:spcBef>
              <a:spcAft>
                <a:spcPct val="0"/>
              </a:spcAft>
              <a:defRPr sz="4400">
                <a:solidFill>
                  <a:srgbClr val="FF0000"/>
                </a:solidFill>
                <a:latin typeface="Times New Roman" pitchFamily="18" charset="0"/>
              </a:defRPr>
            </a:lvl2pPr>
            <a:lvl3pPr algn="ctr" rtl="0" fontAlgn="base">
              <a:spcBef>
                <a:spcPct val="0"/>
              </a:spcBef>
              <a:spcAft>
                <a:spcPct val="0"/>
              </a:spcAft>
              <a:defRPr sz="4400">
                <a:solidFill>
                  <a:srgbClr val="FF0000"/>
                </a:solidFill>
                <a:latin typeface="Times New Roman" pitchFamily="18" charset="0"/>
              </a:defRPr>
            </a:lvl3pPr>
            <a:lvl4pPr algn="ctr" rtl="0" fontAlgn="base">
              <a:spcBef>
                <a:spcPct val="0"/>
              </a:spcBef>
              <a:spcAft>
                <a:spcPct val="0"/>
              </a:spcAft>
              <a:defRPr sz="4400">
                <a:solidFill>
                  <a:srgbClr val="FF0000"/>
                </a:solidFill>
                <a:latin typeface="Times New Roman" pitchFamily="18" charset="0"/>
              </a:defRPr>
            </a:lvl4pPr>
            <a:lvl5pPr algn="ctr" rtl="0" fontAlgn="base">
              <a:spcBef>
                <a:spcPct val="0"/>
              </a:spcBef>
              <a:spcAft>
                <a:spcPct val="0"/>
              </a:spcAft>
              <a:defRPr sz="4400">
                <a:solidFill>
                  <a:srgbClr val="FF0000"/>
                </a:solidFill>
                <a:latin typeface="Times New Roman" pitchFamily="18" charset="0"/>
              </a:defRPr>
            </a:lvl5pPr>
            <a:lvl6pPr marL="457200" algn="ctr" rtl="0" fontAlgn="base">
              <a:spcBef>
                <a:spcPct val="0"/>
              </a:spcBef>
              <a:spcAft>
                <a:spcPct val="0"/>
              </a:spcAft>
              <a:defRPr sz="4400">
                <a:solidFill>
                  <a:srgbClr val="FF0000"/>
                </a:solidFill>
                <a:latin typeface="Times New Roman" pitchFamily="18" charset="0"/>
              </a:defRPr>
            </a:lvl6pPr>
            <a:lvl7pPr marL="914400" algn="ctr" rtl="0" fontAlgn="base">
              <a:spcBef>
                <a:spcPct val="0"/>
              </a:spcBef>
              <a:spcAft>
                <a:spcPct val="0"/>
              </a:spcAft>
              <a:defRPr sz="4400">
                <a:solidFill>
                  <a:srgbClr val="FF0000"/>
                </a:solidFill>
                <a:latin typeface="Times New Roman" pitchFamily="18" charset="0"/>
              </a:defRPr>
            </a:lvl7pPr>
            <a:lvl8pPr marL="1371600" algn="ctr" rtl="0" fontAlgn="base">
              <a:spcBef>
                <a:spcPct val="0"/>
              </a:spcBef>
              <a:spcAft>
                <a:spcPct val="0"/>
              </a:spcAft>
              <a:defRPr sz="4400">
                <a:solidFill>
                  <a:srgbClr val="FF0000"/>
                </a:solidFill>
                <a:latin typeface="Times New Roman" pitchFamily="18" charset="0"/>
              </a:defRPr>
            </a:lvl8pPr>
            <a:lvl9pPr marL="1828800" algn="ctr" rtl="0" fontAlgn="base">
              <a:spcBef>
                <a:spcPct val="0"/>
              </a:spcBef>
              <a:spcAft>
                <a:spcPct val="0"/>
              </a:spcAft>
              <a:defRPr sz="4400">
                <a:solidFill>
                  <a:srgbClr val="FF0000"/>
                </a:solidFill>
                <a:latin typeface="Times New Roman" pitchFamily="18" charset="0"/>
              </a:defRPr>
            </a:lvl9pPr>
          </a:lstStyle>
          <a:p>
            <a:r>
              <a:rPr lang="en-US" dirty="0"/>
              <a:t>DVR- Count to infinity problem</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kern="0" dirty="0"/>
              <a:t>DVR- Count to infinity problem</a:t>
            </a:r>
          </a:p>
        </p:txBody>
      </p:sp>
      <p:sp>
        <p:nvSpPr>
          <p:cNvPr id="12291" name="Rectangle 3"/>
          <p:cNvSpPr>
            <a:spLocks noGrp="1" noChangeArrowheads="1"/>
          </p:cNvSpPr>
          <p:nvPr>
            <p:ph type="body" idx="1"/>
          </p:nvPr>
        </p:nvSpPr>
        <p:spPr>
          <a:xfrm>
            <a:off x="1524000" y="710692"/>
            <a:ext cx="9144000" cy="5889978"/>
          </a:xfrm>
        </p:spPr>
        <p:txBody>
          <a:bodyPr>
            <a:normAutofit/>
          </a:bodyPr>
          <a:lstStyle/>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At this point, the routing table entries for A are as shown in the second row of Fig a.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On the next exchange, C learns that B has a path of length 1 to A</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so it updates its routing table to indicate a path of length 2</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but D and E do not hear the good news.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Clearly, the </a:t>
            </a:r>
            <a:r>
              <a:rPr lang="en-US" sz="2600" b="1" dirty="0">
                <a:latin typeface="Times New Roman" panose="02020603050405020304" pitchFamily="18" charset="0"/>
                <a:cs typeface="Times New Roman" panose="02020603050405020304" pitchFamily="18" charset="0"/>
              </a:rPr>
              <a:t>good news is spreading at the rate of one hop per exchange.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In a subnet whose longest path is of </a:t>
            </a:r>
            <a:r>
              <a:rPr lang="en-US" sz="2600" b="1" dirty="0">
                <a:latin typeface="Times New Roman" panose="02020603050405020304" pitchFamily="18" charset="0"/>
                <a:cs typeface="Times New Roman" panose="02020603050405020304" pitchFamily="18" charset="0"/>
              </a:rPr>
              <a:t>length N hops, within N exchanges everyone will know about newly-revived lines and routers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kern="0" dirty="0"/>
              <a:t>DVR- Count to infinity problem</a:t>
            </a:r>
          </a:p>
        </p:txBody>
      </p:sp>
      <p:sp>
        <p:nvSpPr>
          <p:cNvPr id="18436" name="Text Box 4"/>
          <p:cNvSpPr txBox="1">
            <a:spLocks noChangeArrowheads="1"/>
          </p:cNvSpPr>
          <p:nvPr/>
        </p:nvSpPr>
        <p:spPr bwMode="auto">
          <a:xfrm>
            <a:off x="2874964" y="6081713"/>
            <a:ext cx="6415087" cy="457200"/>
          </a:xfrm>
          <a:prstGeom prst="rect">
            <a:avLst/>
          </a:prstGeom>
          <a:noFill/>
          <a:ln w="9525">
            <a:noFill/>
            <a:miter lim="800000"/>
            <a:headEnd/>
            <a:tailEnd/>
          </a:ln>
          <a:effectLst/>
        </p:spPr>
        <p:txBody>
          <a:bodyPr>
            <a:spAutoFit/>
          </a:bodyPr>
          <a:lstStyle/>
          <a:p>
            <a:pPr>
              <a:spcBef>
                <a:spcPct val="50000"/>
              </a:spcBef>
            </a:pPr>
            <a:r>
              <a:rPr lang="en-US" sz="2400" dirty="0">
                <a:latin typeface="Times New Roman" pitchFamily="18" charset="0"/>
              </a:rPr>
              <a:t>b) The count-to-infinity problem.</a:t>
            </a:r>
          </a:p>
        </p:txBody>
      </p:sp>
      <p:pic>
        <p:nvPicPr>
          <p:cNvPr id="18438" name="Picture 6" descr="5-10"/>
          <p:cNvPicPr>
            <a:picLocks noChangeAspect="1" noChangeArrowheads="1"/>
          </p:cNvPicPr>
          <p:nvPr/>
        </p:nvPicPr>
        <p:blipFill>
          <a:blip r:embed="rId2" cstate="print"/>
          <a:srcRect l="51680" b="12775"/>
          <a:stretch>
            <a:fillRect/>
          </a:stretch>
        </p:blipFill>
        <p:spPr bwMode="auto">
          <a:xfrm>
            <a:off x="1718872" y="1358833"/>
            <a:ext cx="8559384" cy="4823304"/>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kern="0" dirty="0"/>
              <a:t>DVR- Count to infinity problem</a:t>
            </a:r>
          </a:p>
        </p:txBody>
      </p:sp>
      <p:sp>
        <p:nvSpPr>
          <p:cNvPr id="12291" name="Rectangle 3"/>
          <p:cNvSpPr>
            <a:spLocks noGrp="1" noChangeArrowheads="1"/>
          </p:cNvSpPr>
          <p:nvPr>
            <p:ph type="body" idx="1"/>
          </p:nvPr>
        </p:nvSpPr>
        <p:spPr>
          <a:xfrm>
            <a:off x="1524000" y="590772"/>
            <a:ext cx="9144000" cy="6267228"/>
          </a:xfrm>
        </p:spPr>
        <p:txBody>
          <a:bodyPr>
            <a:normAutofit/>
          </a:bodyPr>
          <a:lstStyle/>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Now let us consider the situation of Fig. (b), in which all the lines and routers are initially up.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Routers B, C, D, and E have distances to A of 1, 2, 3, and 4, respectively.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Suddenly A goes down, or the line between A and B is cut</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At the first packet exchange, B does not hear anything from A.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Fortunately, C says: I have a path to A of length 2.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B does not know that C's path runs through B itself.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As a result, B thinks it can reach A via C, with a path length of 3.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D and E do not update their entries for A on the first exchange.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kern="0" dirty="0"/>
              <a:t>DVR- Count to infinity problem</a:t>
            </a:r>
          </a:p>
        </p:txBody>
      </p:sp>
      <p:sp>
        <p:nvSpPr>
          <p:cNvPr id="12291" name="Rectangle 3"/>
          <p:cNvSpPr>
            <a:spLocks noGrp="1" noChangeArrowheads="1"/>
          </p:cNvSpPr>
          <p:nvPr>
            <p:ph type="body" idx="1"/>
          </p:nvPr>
        </p:nvSpPr>
        <p:spPr>
          <a:xfrm>
            <a:off x="1524000" y="775250"/>
            <a:ext cx="9144000" cy="6221896"/>
          </a:xfrm>
        </p:spPr>
        <p:txBody>
          <a:bodyPr>
            <a:normAutofit/>
          </a:bodyPr>
          <a:lstStyle/>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On the second exchange, C notices that each of its neighbors claims to have a path to A of length 3.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It picks one of the them at random and makes its new distance to A 4, as shown in the third row of Fig. (b).</a:t>
            </a:r>
          </a:p>
          <a:p>
            <a:pPr lvl="1" algn="just">
              <a:buFont typeface="Wingdings" pitchFamily="2" charset="2"/>
              <a:buChar char="§"/>
            </a:pPr>
            <a:r>
              <a:rPr lang="en-US" sz="2600" b="1" dirty="0">
                <a:latin typeface="Times New Roman" panose="02020603050405020304" pitchFamily="18" charset="0"/>
                <a:cs typeface="Times New Roman" panose="02020603050405020304" pitchFamily="18" charset="0"/>
              </a:rPr>
              <a:t>why bad news travels slowly: </a:t>
            </a:r>
          </a:p>
          <a:p>
            <a:pPr lvl="2" algn="just">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no router ever has a value more than one</a:t>
            </a:r>
            <a:r>
              <a:rPr lang="en-US" sz="2600" dirty="0">
                <a:latin typeface="Times New Roman" panose="02020603050405020304" pitchFamily="18" charset="0"/>
                <a:cs typeface="Times New Roman" panose="02020603050405020304" pitchFamily="18" charset="0"/>
              </a:rPr>
              <a:t> higher than the minimum of all its neighbors. </a:t>
            </a:r>
          </a:p>
          <a:p>
            <a:pPr lvl="1" algn="just">
              <a:buFont typeface="Wingdings" pitchFamily="2" charset="2"/>
              <a:buChar char="§"/>
            </a:pPr>
            <a:r>
              <a:rPr lang="en-US" sz="2600" b="1" dirty="0">
                <a:latin typeface="Times New Roman" panose="02020603050405020304" pitchFamily="18" charset="0"/>
                <a:cs typeface="Times New Roman" panose="02020603050405020304" pitchFamily="18" charset="0"/>
              </a:rPr>
              <a:t>core of the problem is </a:t>
            </a:r>
          </a:p>
          <a:p>
            <a:pPr lvl="2" algn="just">
              <a:buFont typeface="Wingdings" pitchFamily="2" charset="2"/>
              <a:buChar char="§"/>
            </a:pPr>
            <a:r>
              <a:rPr lang="en-US" sz="2600" dirty="0">
                <a:latin typeface="Times New Roman" panose="02020603050405020304" pitchFamily="18" charset="0"/>
                <a:cs typeface="Times New Roman" panose="02020603050405020304" pitchFamily="18" charset="0"/>
              </a:rPr>
              <a:t>when X tells Y that it has a path somewhere, Y has no way of knowing whether it itself is on the path. </a:t>
            </a:r>
          </a:p>
          <a:p>
            <a:pPr lvl="2" algn="just">
              <a:buFont typeface="Wingdings" pitchFamily="2" charset="2"/>
              <a:buChar char="§"/>
            </a:pPr>
            <a:r>
              <a:rPr lang="en-US" sz="2600" dirty="0">
                <a:solidFill>
                  <a:schemeClr val="dk1"/>
                </a:solidFill>
                <a:latin typeface="Times New Roman" panose="02020603050405020304" pitchFamily="18" charset="0"/>
                <a:cs typeface="Times New Roman" panose="02020603050405020304" pitchFamily="18" charset="0"/>
                <a:sym typeface="Calibri"/>
              </a:rPr>
              <a:t>Gradually, all the </a:t>
            </a:r>
            <a:r>
              <a:rPr lang="en-US" sz="2600" b="1" dirty="0">
                <a:solidFill>
                  <a:schemeClr val="dk1"/>
                </a:solidFill>
                <a:latin typeface="Times New Roman" panose="02020603050405020304" pitchFamily="18" charset="0"/>
                <a:cs typeface="Times New Roman" panose="02020603050405020304" pitchFamily="18" charset="0"/>
                <a:sym typeface="Calibri"/>
              </a:rPr>
              <a:t>routers</a:t>
            </a:r>
            <a:r>
              <a:rPr lang="en-US" sz="2600" dirty="0">
                <a:solidFill>
                  <a:schemeClr val="dk1"/>
                </a:solidFill>
                <a:latin typeface="Times New Roman" panose="02020603050405020304" pitchFamily="18" charset="0"/>
                <a:cs typeface="Times New Roman" panose="02020603050405020304" pitchFamily="18" charset="0"/>
                <a:sym typeface="Calibri"/>
              </a:rPr>
              <a:t> work their </a:t>
            </a:r>
            <a:r>
              <a:rPr lang="en-US" sz="2600" dirty="0">
                <a:solidFill>
                  <a:srgbClr val="FF0000"/>
                </a:solidFill>
                <a:latin typeface="Times New Roman" panose="02020603050405020304" pitchFamily="18" charset="0"/>
                <a:cs typeface="Times New Roman" panose="02020603050405020304" pitchFamily="18" charset="0"/>
                <a:sym typeface="Calibri"/>
              </a:rPr>
              <a:t>way up to infinity</a:t>
            </a:r>
            <a:r>
              <a:rPr lang="en-US" sz="2600" dirty="0">
                <a:solidFill>
                  <a:schemeClr val="dk1"/>
                </a:solidFill>
                <a:latin typeface="Times New Roman" panose="02020603050405020304" pitchFamily="18" charset="0"/>
                <a:cs typeface="Times New Roman" panose="02020603050405020304" pitchFamily="18" charset="0"/>
                <a:sym typeface="Calibri"/>
              </a:rPr>
              <a:t>, but the </a:t>
            </a:r>
            <a:r>
              <a:rPr lang="en-US" sz="2600" b="1" dirty="0">
                <a:solidFill>
                  <a:schemeClr val="dk1"/>
                </a:solidFill>
                <a:latin typeface="Times New Roman" panose="02020603050405020304" pitchFamily="18" charset="0"/>
                <a:cs typeface="Times New Roman" panose="02020603050405020304" pitchFamily="18" charset="0"/>
                <a:sym typeface="Calibri"/>
              </a:rPr>
              <a:t>number of exchanges required depends on the numerical value used for infinity.</a:t>
            </a:r>
          </a:p>
          <a:p>
            <a:pPr lvl="2" algn="just">
              <a:buFont typeface="Wingdings" pitchFamily="2" charset="2"/>
              <a:buChar char="§"/>
            </a:pPr>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2"/>
          <p:cNvSpPr txBox="1">
            <a:spLocks noGrp="1"/>
          </p:cNvSpPr>
          <p:nvPr>
            <p:ph type="title"/>
          </p:nvPr>
        </p:nvSpPr>
        <p:spPr>
          <a:xfrm>
            <a:off x="582706" y="217207"/>
            <a:ext cx="10515600" cy="7778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Solutions for count to infinity problem</a:t>
            </a:r>
            <a:endParaRPr/>
          </a:p>
        </p:txBody>
      </p:sp>
      <p:sp>
        <p:nvSpPr>
          <p:cNvPr id="331" name="Google Shape;331;p32"/>
          <p:cNvSpPr txBox="1">
            <a:spLocks noGrp="1"/>
          </p:cNvSpPr>
          <p:nvPr>
            <p:ph type="body" idx="1"/>
          </p:nvPr>
        </p:nvSpPr>
        <p:spPr>
          <a:xfrm>
            <a:off x="327211" y="1237129"/>
            <a:ext cx="11425518" cy="5459506"/>
          </a:xfrm>
          <a:prstGeom prst="rect">
            <a:avLst/>
          </a:prstGeom>
          <a:noFill/>
          <a:ln>
            <a:noFill/>
          </a:ln>
        </p:spPr>
        <p:txBody>
          <a:bodyPr spcFirstLastPara="1" wrap="square" lIns="91425" tIns="45700" rIns="91425" bIns="45700" anchor="t" anchorCtr="0">
            <a:normAutofit/>
          </a:bodyPr>
          <a:lstStyle/>
          <a:p>
            <a:pPr marL="225425" lvl="0" indent="-225425" algn="just" rtl="0">
              <a:lnSpc>
                <a:spcPct val="100000"/>
              </a:lnSpc>
              <a:spcBef>
                <a:spcPts val="0"/>
              </a:spcBef>
              <a:spcAft>
                <a:spcPts val="0"/>
              </a:spcAft>
              <a:buClr>
                <a:srgbClr val="FF0000"/>
              </a:buClr>
              <a:buSzPts val="2800"/>
              <a:buFont typeface="Calibri"/>
              <a:buChar char="•"/>
            </a:pPr>
            <a:r>
              <a:rPr lang="en-US" b="1" dirty="0">
                <a:solidFill>
                  <a:srgbClr val="FF0000"/>
                </a:solidFill>
              </a:rPr>
              <a:t>Set infinity </a:t>
            </a:r>
            <a:r>
              <a:rPr lang="en-US" dirty="0"/>
              <a:t>to a limited number- the maximum number of hops to get across a certain network plus 1</a:t>
            </a:r>
            <a:endParaRPr sz="3600" dirty="0">
              <a:solidFill>
                <a:srgbClr val="FF0000"/>
              </a:solidFill>
            </a:endParaRPr>
          </a:p>
          <a:p>
            <a:pPr marL="225425" lvl="0" indent="-225425" algn="just" rtl="0">
              <a:lnSpc>
                <a:spcPct val="100000"/>
              </a:lnSpc>
              <a:spcBef>
                <a:spcPts val="1000"/>
              </a:spcBef>
              <a:spcAft>
                <a:spcPts val="0"/>
              </a:spcAft>
              <a:buClr>
                <a:schemeClr val="dk1"/>
              </a:buClr>
              <a:buSzPts val="2800"/>
              <a:buFont typeface="Calibri"/>
              <a:buChar char="•"/>
            </a:pPr>
            <a:r>
              <a:rPr lang="en-US" b="1" dirty="0"/>
              <a:t>Split</a:t>
            </a:r>
            <a:r>
              <a:rPr lang="en-US" dirty="0"/>
              <a:t> </a:t>
            </a:r>
            <a:r>
              <a:rPr lang="en-US" b="1" dirty="0"/>
              <a:t>horizon</a:t>
            </a:r>
            <a:endParaRPr b="1" dirty="0"/>
          </a:p>
          <a:p>
            <a:pPr marL="749300" lvl="1" indent="-292100" algn="just" rtl="0">
              <a:lnSpc>
                <a:spcPct val="100000"/>
              </a:lnSpc>
              <a:spcBef>
                <a:spcPts val="500"/>
              </a:spcBef>
              <a:spcAft>
                <a:spcPts val="0"/>
              </a:spcAft>
              <a:buClr>
                <a:schemeClr val="dk1"/>
              </a:buClr>
              <a:buSzPts val="2400"/>
              <a:buChar char="•"/>
            </a:pPr>
            <a:r>
              <a:rPr lang="en-US" dirty="0"/>
              <a:t>When a node sends a routing update to its neighbors, it </a:t>
            </a:r>
            <a:r>
              <a:rPr lang="en-US" dirty="0">
                <a:solidFill>
                  <a:srgbClr val="FF0000"/>
                </a:solidFill>
              </a:rPr>
              <a:t>does not send those routes it learned from each neighbor back to that neighbor</a:t>
            </a:r>
            <a:endParaRPr dirty="0"/>
          </a:p>
          <a:p>
            <a:pPr marL="750888" lvl="1" indent="-285750" algn="just" rtl="0">
              <a:lnSpc>
                <a:spcPct val="100000"/>
              </a:lnSpc>
              <a:spcBef>
                <a:spcPts val="500"/>
              </a:spcBef>
              <a:spcAft>
                <a:spcPts val="0"/>
              </a:spcAft>
              <a:buClr>
                <a:schemeClr val="dk1"/>
              </a:buClr>
              <a:buSzPts val="2400"/>
              <a:buChar char="•"/>
            </a:pPr>
            <a:r>
              <a:rPr lang="en-US" dirty="0"/>
              <a:t>For example, if B has the route (E, 2, A) in its table, then it knows it must have learned this route from A, and so whenever B sends a routing update to A, it does not include the route (E, 2) in that update</a:t>
            </a:r>
            <a:endParaRPr dirty="0"/>
          </a:p>
          <a:p>
            <a:pPr marL="225425" lvl="0" indent="-225425" algn="just" rtl="0">
              <a:lnSpc>
                <a:spcPct val="100000"/>
              </a:lnSpc>
              <a:spcBef>
                <a:spcPts val="1000"/>
              </a:spcBef>
              <a:spcAft>
                <a:spcPts val="0"/>
              </a:spcAft>
              <a:buClr>
                <a:schemeClr val="dk1"/>
              </a:buClr>
              <a:buSzPts val="2800"/>
              <a:buFont typeface="Calibri"/>
              <a:buChar char="•"/>
            </a:pPr>
            <a:r>
              <a:rPr lang="en-US" b="1" dirty="0"/>
              <a:t>Split horizon with poison reverse</a:t>
            </a:r>
            <a:endParaRPr b="1" dirty="0"/>
          </a:p>
          <a:p>
            <a:pPr marL="749300" lvl="1" indent="-292100" algn="just" rtl="0">
              <a:lnSpc>
                <a:spcPct val="100000"/>
              </a:lnSpc>
              <a:spcBef>
                <a:spcPts val="500"/>
              </a:spcBef>
              <a:spcAft>
                <a:spcPts val="0"/>
              </a:spcAft>
              <a:buClr>
                <a:srgbClr val="00B050"/>
              </a:buClr>
              <a:buSzPts val="2400"/>
              <a:buChar char="•"/>
            </a:pPr>
            <a:r>
              <a:rPr lang="en-US" dirty="0">
                <a:solidFill>
                  <a:srgbClr val="00B050"/>
                </a:solidFill>
              </a:rPr>
              <a:t>B actually sends that back route to A</a:t>
            </a:r>
            <a:r>
              <a:rPr lang="en-US" dirty="0"/>
              <a:t>, but </a:t>
            </a:r>
            <a:r>
              <a:rPr lang="en-US" dirty="0">
                <a:solidFill>
                  <a:srgbClr val="FF0000"/>
                </a:solidFill>
              </a:rPr>
              <a:t>it puts negative information </a:t>
            </a:r>
            <a:r>
              <a:rPr lang="en-US" dirty="0"/>
              <a:t>in the route to ensure that A will not eventually use B to get to E</a:t>
            </a:r>
            <a:endParaRPr dirty="0"/>
          </a:p>
          <a:p>
            <a:pPr marL="749300" lvl="1" indent="-292100" algn="just" rtl="0">
              <a:lnSpc>
                <a:spcPct val="100000"/>
              </a:lnSpc>
              <a:spcBef>
                <a:spcPts val="500"/>
              </a:spcBef>
              <a:spcAft>
                <a:spcPts val="0"/>
              </a:spcAft>
              <a:buClr>
                <a:schemeClr val="dk1"/>
              </a:buClr>
              <a:buSzPts val="2400"/>
              <a:buChar char="•"/>
            </a:pPr>
            <a:r>
              <a:rPr lang="en-US" dirty="0"/>
              <a:t>For example, B sends the route (E, ∞) to A</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3"/>
          <p:cNvSpPr txBox="1">
            <a:spLocks noGrp="1"/>
          </p:cNvSpPr>
          <p:nvPr>
            <p:ph type="body" idx="1"/>
          </p:nvPr>
        </p:nvSpPr>
        <p:spPr>
          <a:xfrm>
            <a:off x="0" y="94130"/>
            <a:ext cx="12192000" cy="6656294"/>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20000"/>
              </a:lnSpc>
              <a:spcBef>
                <a:spcPts val="0"/>
              </a:spcBef>
              <a:spcAft>
                <a:spcPts val="0"/>
              </a:spcAft>
              <a:buClr>
                <a:schemeClr val="dk1"/>
              </a:buClr>
              <a:buSzPct val="100000"/>
              <a:buNone/>
            </a:pPr>
            <a:r>
              <a:rPr lang="en-US" b="1" dirty="0"/>
              <a:t>Advantages of Distance Vector routing</a:t>
            </a:r>
            <a:r>
              <a:rPr lang="en-US" dirty="0"/>
              <a:t/>
            </a:r>
            <a:br>
              <a:rPr lang="en-US" dirty="0"/>
            </a:br>
            <a:r>
              <a:rPr lang="en-US" dirty="0"/>
              <a:t>     • It is </a:t>
            </a:r>
            <a:r>
              <a:rPr lang="en-US" dirty="0">
                <a:solidFill>
                  <a:srgbClr val="FF0000"/>
                </a:solidFill>
              </a:rPr>
              <a:t>simpler to configure </a:t>
            </a:r>
            <a:r>
              <a:rPr lang="en-US" dirty="0"/>
              <a:t>and </a:t>
            </a:r>
            <a:r>
              <a:rPr lang="en-US" dirty="0">
                <a:solidFill>
                  <a:srgbClr val="FF0000"/>
                </a:solidFill>
              </a:rPr>
              <a:t>maintain</a:t>
            </a:r>
            <a:r>
              <a:rPr lang="en-US" dirty="0"/>
              <a:t> than link state routing.</a:t>
            </a:r>
            <a:endParaRPr dirty="0"/>
          </a:p>
          <a:p>
            <a:pPr marL="0" lvl="0" indent="0" algn="just" rtl="0">
              <a:lnSpc>
                <a:spcPct val="120000"/>
              </a:lnSpc>
              <a:spcBef>
                <a:spcPts val="1000"/>
              </a:spcBef>
              <a:spcAft>
                <a:spcPts val="0"/>
              </a:spcAft>
              <a:buClr>
                <a:schemeClr val="dk1"/>
              </a:buClr>
              <a:buSzPct val="100000"/>
              <a:buNone/>
            </a:pPr>
            <a:r>
              <a:rPr lang="en-US" b="1" dirty="0"/>
              <a:t>Drawbacks</a:t>
            </a:r>
            <a:endParaRPr b="1"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React rapidly to </a:t>
            </a:r>
            <a:r>
              <a:rPr lang="en-US" dirty="0">
                <a:solidFill>
                  <a:srgbClr val="FF0000"/>
                </a:solidFill>
              </a:rPr>
              <a:t>good news </a:t>
            </a:r>
            <a:r>
              <a:rPr lang="en-US" dirty="0"/>
              <a:t>when a </a:t>
            </a:r>
            <a:r>
              <a:rPr lang="en-US" dirty="0">
                <a:solidFill>
                  <a:srgbClr val="00B050"/>
                </a:solidFill>
              </a:rPr>
              <a:t>router comes up</a:t>
            </a:r>
            <a:r>
              <a:rPr lang="en-US" dirty="0"/>
              <a: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Though it finally converges to correct result, it </a:t>
            </a:r>
            <a:r>
              <a:rPr lang="en-US" dirty="0">
                <a:solidFill>
                  <a:srgbClr val="00B050"/>
                </a:solidFill>
              </a:rPr>
              <a:t>takes long time </a:t>
            </a:r>
            <a:r>
              <a:rPr lang="en-US" dirty="0"/>
              <a:t>when where is a </a:t>
            </a:r>
            <a:r>
              <a:rPr lang="en-US" dirty="0">
                <a:solidFill>
                  <a:srgbClr val="FF0000"/>
                </a:solidFill>
              </a:rPr>
              <a:t>bad news</a:t>
            </a:r>
            <a:r>
              <a:rPr lang="en-US" dirty="0"/>
              <a: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There are several attempts to </a:t>
            </a:r>
            <a:r>
              <a:rPr lang="en-US" dirty="0">
                <a:solidFill>
                  <a:srgbClr val="00B050"/>
                </a:solidFill>
              </a:rPr>
              <a:t>solve the problem</a:t>
            </a:r>
            <a:r>
              <a:rPr lang="en-US" dirty="0"/>
              <a:t>, but </a:t>
            </a:r>
            <a:r>
              <a:rPr lang="en-US" dirty="0">
                <a:solidFill>
                  <a:srgbClr val="FF0000"/>
                </a:solidFill>
              </a:rPr>
              <a:t>none is perfect</a:t>
            </a:r>
            <a:r>
              <a:rPr lang="en-US" dirty="0"/>
              <a: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It does not take </a:t>
            </a:r>
            <a:r>
              <a:rPr lang="en-US" dirty="0">
                <a:solidFill>
                  <a:srgbClr val="00B050"/>
                </a:solidFill>
              </a:rPr>
              <a:t>line bandwidth </a:t>
            </a:r>
            <a:r>
              <a:rPr lang="en-US" dirty="0"/>
              <a:t>into account.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It took </a:t>
            </a:r>
            <a:r>
              <a:rPr lang="en-US" dirty="0">
                <a:solidFill>
                  <a:srgbClr val="FF0000"/>
                </a:solidFill>
              </a:rPr>
              <a:t>too long to converge</a:t>
            </a:r>
            <a:r>
              <a:rPr lang="en-US" dirty="0"/>
              <a: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It is slower to converge than link state.</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It is at </a:t>
            </a:r>
            <a:r>
              <a:rPr lang="en-US" b="1" dirty="0"/>
              <a:t>risk</a:t>
            </a:r>
            <a:r>
              <a:rPr lang="en-US" dirty="0"/>
              <a:t> from the </a:t>
            </a:r>
            <a:r>
              <a:rPr lang="en-US" dirty="0">
                <a:solidFill>
                  <a:srgbClr val="FF0000"/>
                </a:solidFill>
              </a:rPr>
              <a:t>count-to-infinity problem</a:t>
            </a:r>
            <a:r>
              <a:rPr lang="en-US" dirty="0"/>
              <a:t>.</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It creates </a:t>
            </a:r>
            <a:r>
              <a:rPr lang="en-US" dirty="0">
                <a:solidFill>
                  <a:srgbClr val="FF0000"/>
                </a:solidFill>
              </a:rPr>
              <a:t>more traffic . </a:t>
            </a:r>
            <a:r>
              <a:rPr lang="en-US" dirty="0"/>
              <a:t>Hop count updates take place on a periodic basis, even if there are no changes in the network topology, so </a:t>
            </a:r>
            <a:r>
              <a:rPr lang="en-US" dirty="0">
                <a:solidFill>
                  <a:srgbClr val="FF0000"/>
                </a:solidFill>
              </a:rPr>
              <a:t>bandwidth-wasting broadcasts </a:t>
            </a:r>
            <a:r>
              <a:rPr lang="en-US" dirty="0"/>
              <a:t>still occur.</a:t>
            </a:r>
            <a:endParaRPr dirty="0"/>
          </a:p>
          <a:p>
            <a:pPr marL="403225" lvl="0" indent="-228600" algn="just" rtl="0">
              <a:lnSpc>
                <a:spcPct val="120000"/>
              </a:lnSpc>
              <a:spcBef>
                <a:spcPts val="1000"/>
              </a:spcBef>
              <a:spcAft>
                <a:spcPts val="0"/>
              </a:spcAft>
              <a:buClr>
                <a:schemeClr val="dk1"/>
              </a:buClr>
              <a:buSzPct val="100000"/>
              <a:buFont typeface="Noto Sans Symbols"/>
              <a:buChar char="⮚"/>
            </a:pPr>
            <a:r>
              <a:rPr lang="en-US" dirty="0"/>
              <a:t> For </a:t>
            </a:r>
            <a:r>
              <a:rPr lang="en-US" b="1" dirty="0"/>
              <a:t>larger networks</a:t>
            </a:r>
            <a:r>
              <a:rPr lang="en-US" dirty="0"/>
              <a:t>, distance vector routing results in </a:t>
            </a:r>
            <a:r>
              <a:rPr lang="en-US" b="1" dirty="0"/>
              <a:t>larger routing tables </a:t>
            </a:r>
            <a:r>
              <a:rPr lang="en-US" dirty="0"/>
              <a:t>since each router must know about all other routers. This can lead to </a:t>
            </a:r>
            <a:r>
              <a:rPr lang="en-US" dirty="0">
                <a:solidFill>
                  <a:srgbClr val="FF0000"/>
                </a:solidFill>
              </a:rPr>
              <a:t>congestion </a:t>
            </a:r>
            <a:r>
              <a:rPr lang="en-US" dirty="0"/>
              <a:t>on WAN links.</a:t>
            </a:r>
            <a:endParaRPr dirty="0"/>
          </a:p>
          <a:p>
            <a:pPr marL="228600" lvl="0" indent="-77470"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7E27E-9CAD-4A8F-B6EE-16B2C2FC5748}"/>
              </a:ext>
            </a:extLst>
          </p:cNvPr>
          <p:cNvSpPr>
            <a:spLocks noGrp="1"/>
          </p:cNvSpPr>
          <p:nvPr>
            <p:ph type="title"/>
          </p:nvPr>
        </p:nvSpPr>
        <p:spPr/>
        <p:txBody>
          <a:bodyPr/>
          <a:lstStyle/>
          <a:p>
            <a:r>
              <a:rPr lang="en-IN" dirty="0"/>
              <a:t>Tutorial</a:t>
            </a:r>
          </a:p>
        </p:txBody>
      </p:sp>
      <p:sp>
        <p:nvSpPr>
          <p:cNvPr id="3" name="Text Placeholder 2">
            <a:extLst>
              <a:ext uri="{FF2B5EF4-FFF2-40B4-BE49-F238E27FC236}">
                <a16:creationId xmlns:a16="http://schemas.microsoft.com/office/drawing/2014/main" xmlns="" id="{2C959AFB-6FF3-4FB8-AE4C-3169D852B5CF}"/>
              </a:ext>
            </a:extLst>
          </p:cNvPr>
          <p:cNvSpPr>
            <a:spLocks noGrp="1"/>
          </p:cNvSpPr>
          <p:nvPr>
            <p:ph type="body" idx="1"/>
          </p:nvPr>
        </p:nvSpPr>
        <p:spPr/>
        <p:txBody>
          <a:bodyPr/>
          <a:lstStyle/>
          <a:p>
            <a:pPr marL="114300" indent="0">
              <a:buNone/>
            </a:pPr>
            <a:r>
              <a:rPr lang="en-US" dirty="0">
                <a:latin typeface="Times New Roman" panose="02020603050405020304" pitchFamily="18" charset="0"/>
                <a:cs typeface="Times New Roman" panose="02020603050405020304" pitchFamily="18" charset="0"/>
              </a:rPr>
              <a:t>Consider the following subnet</a:t>
            </a:r>
            <a:r>
              <a:rPr lang="en-US" dirty="0"/>
              <a:t>. </a:t>
            </a:r>
          </a:p>
          <a:p>
            <a:pPr marL="114300" indent="0">
              <a:buNone/>
            </a:pPr>
            <a:endParaRPr lang="en-US" dirty="0"/>
          </a:p>
          <a:p>
            <a:pPr marL="114300" indent="0">
              <a:buNone/>
            </a:pPr>
            <a:endParaRPr lang="en-US" dirty="0"/>
          </a:p>
          <a:p>
            <a:pPr marL="114300" indent="0" algn="just">
              <a:buNone/>
            </a:pPr>
            <a:r>
              <a:rPr lang="en-US" dirty="0">
                <a:latin typeface="Times New Roman" panose="02020603050405020304" pitchFamily="18" charset="0"/>
                <a:cs typeface="Times New Roman" panose="02020603050405020304" pitchFamily="18" charset="0"/>
              </a:rPr>
              <a:t>Distance vector routing is used, and the following vectors have just come </a:t>
            </a:r>
            <a:r>
              <a:rPr lang="en-US" b="1" dirty="0">
                <a:latin typeface="Times New Roman" panose="02020603050405020304" pitchFamily="18" charset="0"/>
                <a:cs typeface="Times New Roman" panose="02020603050405020304" pitchFamily="18" charset="0"/>
              </a:rPr>
              <a:t>in to router C</a:t>
            </a:r>
            <a:r>
              <a:rPr lang="en-US" dirty="0">
                <a:latin typeface="Times New Roman" panose="02020603050405020304" pitchFamily="18" charset="0"/>
                <a:cs typeface="Times New Roman" panose="02020603050405020304" pitchFamily="18" charset="0"/>
              </a:rPr>
              <a:t>: from </a:t>
            </a:r>
            <a:r>
              <a:rPr lang="en-US" b="1" dirty="0">
                <a:latin typeface="Times New Roman" panose="02020603050405020304" pitchFamily="18" charset="0"/>
                <a:cs typeface="Times New Roman" panose="02020603050405020304" pitchFamily="18" charset="0"/>
              </a:rPr>
              <a:t>B: (5, 0, 8, 12, 6, 2); </a:t>
            </a:r>
            <a:r>
              <a:rPr lang="en-US" dirty="0">
                <a:latin typeface="Times New Roman" panose="02020603050405020304" pitchFamily="18" charset="0"/>
                <a:cs typeface="Times New Roman" panose="02020603050405020304" pitchFamily="18" charset="0"/>
              </a:rPr>
              <a:t>from </a:t>
            </a:r>
            <a:r>
              <a:rPr lang="en-US" b="1" dirty="0">
                <a:latin typeface="Times New Roman" panose="02020603050405020304" pitchFamily="18" charset="0"/>
                <a:cs typeface="Times New Roman" panose="02020603050405020304" pitchFamily="18" charset="0"/>
              </a:rPr>
              <a:t>D: (16, 12, 6, 0, 9, 10);</a:t>
            </a:r>
            <a:r>
              <a:rPr lang="en-US" dirty="0">
                <a:latin typeface="Times New Roman" panose="02020603050405020304" pitchFamily="18" charset="0"/>
                <a:cs typeface="Times New Roman" panose="02020603050405020304" pitchFamily="18" charset="0"/>
              </a:rPr>
              <a:t> and from </a:t>
            </a:r>
            <a:r>
              <a:rPr lang="en-US" b="1" dirty="0">
                <a:latin typeface="Times New Roman" panose="02020603050405020304" pitchFamily="18" charset="0"/>
                <a:cs typeface="Times New Roman" panose="02020603050405020304" pitchFamily="18" charset="0"/>
              </a:rPr>
              <a:t>E: (7, 6, 3, 9, 0, 4). </a:t>
            </a:r>
            <a:r>
              <a:rPr lang="en-US" dirty="0">
                <a:latin typeface="Times New Roman" panose="02020603050405020304" pitchFamily="18" charset="0"/>
                <a:cs typeface="Times New Roman" panose="02020603050405020304" pitchFamily="18" charset="0"/>
              </a:rPr>
              <a:t>The measured delays to </a:t>
            </a:r>
            <a:r>
              <a:rPr lang="en-US" b="1" dirty="0">
                <a:latin typeface="Times New Roman" panose="02020603050405020304" pitchFamily="18" charset="0"/>
                <a:cs typeface="Times New Roman" panose="02020603050405020304" pitchFamily="18" charset="0"/>
              </a:rPr>
              <a:t>B, D,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are </a:t>
            </a:r>
            <a:r>
              <a:rPr lang="en-US" b="1" dirty="0">
                <a:latin typeface="Times New Roman" panose="02020603050405020304" pitchFamily="18" charset="0"/>
                <a:cs typeface="Times New Roman" panose="02020603050405020304" pitchFamily="18" charset="0"/>
              </a:rPr>
              <a:t>6, 3, and 5</a:t>
            </a:r>
            <a:r>
              <a:rPr lang="en-US" dirty="0">
                <a:latin typeface="Times New Roman" panose="02020603050405020304" pitchFamily="18" charset="0"/>
                <a:cs typeface="Times New Roman" panose="02020603050405020304" pitchFamily="18" charset="0"/>
              </a:rPr>
              <a:t>, respectively. What is C's new routing table? Give both the outgoing line to use and the expected delay.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6B81100D-21C5-4713-9C19-A7E33FB0DB36}"/>
              </a:ext>
            </a:extLst>
          </p:cNvPr>
          <p:cNvPicPr>
            <a:picLocks noChangeAspect="1"/>
          </p:cNvPicPr>
          <p:nvPr/>
        </p:nvPicPr>
        <p:blipFill>
          <a:blip r:embed="rId2"/>
          <a:stretch>
            <a:fillRect/>
          </a:stretch>
        </p:blipFill>
        <p:spPr>
          <a:xfrm>
            <a:off x="5944803" y="1023730"/>
            <a:ext cx="3571461" cy="2405270"/>
          </a:xfrm>
          <a:prstGeom prst="rect">
            <a:avLst/>
          </a:prstGeom>
        </p:spPr>
      </p:pic>
    </p:spTree>
    <p:extLst>
      <p:ext uri="{BB962C8B-B14F-4D97-AF65-F5344CB8AC3E}">
        <p14:creationId xmlns:p14="http://schemas.microsoft.com/office/powerpoint/2010/main" val="31350420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LSR</a:t>
            </a:r>
          </a:p>
        </p:txBody>
      </p:sp>
      <p:sp>
        <p:nvSpPr>
          <p:cNvPr id="12291" name="Rectangle 3"/>
          <p:cNvSpPr>
            <a:spLocks noGrp="1" noChangeArrowheads="1"/>
          </p:cNvSpPr>
          <p:nvPr>
            <p:ph type="body" idx="1"/>
          </p:nvPr>
        </p:nvSpPr>
        <p:spPr>
          <a:xfrm>
            <a:off x="278297" y="590772"/>
            <a:ext cx="10389704" cy="6267228"/>
          </a:xfrm>
        </p:spPr>
        <p:txBody>
          <a:bodyPr/>
          <a:lstStyle/>
          <a:p>
            <a:pPr algn="just">
              <a:buFont typeface="Wingdings" pitchFamily="2" charset="2"/>
              <a:buChar char="§"/>
            </a:pPr>
            <a:r>
              <a:rPr lang="en-US" b="1" dirty="0"/>
              <a:t>Link State Routing (LSR)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Distance vector routing was used in the ARPANET until 1979</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After that, it was replaced by link state routing </a:t>
            </a:r>
          </a:p>
          <a:p>
            <a:pPr lvl="1" algn="just">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Two primary problems </a:t>
            </a:r>
            <a:r>
              <a:rPr lang="en-US" sz="2600" dirty="0">
                <a:latin typeface="Times New Roman" panose="02020603050405020304" pitchFamily="18" charset="0"/>
                <a:cs typeface="Times New Roman" panose="02020603050405020304" pitchFamily="18" charset="0"/>
              </a:rPr>
              <a:t>caused the failure of DVR. </a:t>
            </a:r>
          </a:p>
          <a:p>
            <a:pPr lvl="2" algn="just">
              <a:buFont typeface="+mj-lt"/>
              <a:buAutoNum type="arabicPeriod"/>
            </a:pPr>
            <a:r>
              <a:rPr lang="en-US" sz="2600" dirty="0">
                <a:latin typeface="Times New Roman" panose="02020603050405020304" pitchFamily="18" charset="0"/>
                <a:cs typeface="Times New Roman" panose="02020603050405020304" pitchFamily="18" charset="0"/>
              </a:rPr>
              <a:t>Since the </a:t>
            </a:r>
            <a:r>
              <a:rPr lang="en-US" sz="2600" dirty="0">
                <a:solidFill>
                  <a:srgbClr val="FF0000"/>
                </a:solidFill>
                <a:latin typeface="Times New Roman" panose="02020603050405020304" pitchFamily="18" charset="0"/>
                <a:cs typeface="Times New Roman" panose="02020603050405020304" pitchFamily="18" charset="0"/>
              </a:rPr>
              <a:t>delay metric </a:t>
            </a:r>
            <a:r>
              <a:rPr lang="en-US" sz="2600" dirty="0">
                <a:latin typeface="Times New Roman" panose="02020603050405020304" pitchFamily="18" charset="0"/>
                <a:cs typeface="Times New Roman" panose="02020603050405020304" pitchFamily="18" charset="0"/>
              </a:rPr>
              <a:t>was </a:t>
            </a:r>
            <a:r>
              <a:rPr lang="en-US" sz="2600" b="1" dirty="0">
                <a:latin typeface="Times New Roman" panose="02020603050405020304" pitchFamily="18" charset="0"/>
                <a:cs typeface="Times New Roman" panose="02020603050405020304" pitchFamily="18" charset="0"/>
              </a:rPr>
              <a:t>queue length</a:t>
            </a:r>
            <a:r>
              <a:rPr lang="en-US" sz="2600" dirty="0">
                <a:latin typeface="Times New Roman" panose="02020603050405020304" pitchFamily="18" charset="0"/>
                <a:cs typeface="Times New Roman" panose="02020603050405020304" pitchFamily="18" charset="0"/>
              </a:rPr>
              <a:t>, it </a:t>
            </a:r>
            <a:r>
              <a:rPr lang="en-US" sz="2600" b="1" dirty="0">
                <a:latin typeface="Times New Roman" panose="02020603050405020304" pitchFamily="18" charset="0"/>
                <a:cs typeface="Times New Roman" panose="02020603050405020304" pitchFamily="18" charset="0"/>
              </a:rPr>
              <a:t>did not take line bandwidth into account </a:t>
            </a:r>
            <a:r>
              <a:rPr lang="en-US" sz="2600" dirty="0">
                <a:latin typeface="Times New Roman" panose="02020603050405020304" pitchFamily="18" charset="0"/>
                <a:cs typeface="Times New Roman" panose="02020603050405020304" pitchFamily="18" charset="0"/>
              </a:rPr>
              <a:t>when choosing routes. </a:t>
            </a:r>
          </a:p>
          <a:p>
            <a:pPr lvl="2" algn="just">
              <a:buNone/>
            </a:pPr>
            <a:r>
              <a:rPr lang="en-US" sz="2600" dirty="0">
                <a:latin typeface="Times New Roman" panose="02020603050405020304" pitchFamily="18" charset="0"/>
                <a:cs typeface="Times New Roman" panose="02020603050405020304" pitchFamily="18" charset="0"/>
              </a:rPr>
              <a:t>	Initially, all the lines were 56 kbps, so line bandwidth was not an issue, but after some lines had been upgraded to 230 kbps and others to 1.544 Mbps, not taking bandwidth into account was a major problem</a:t>
            </a:r>
          </a:p>
          <a:p>
            <a:pPr lvl="2" algn="just">
              <a:buAutoNum type="arabicPeriod" startAt="2"/>
            </a:pPr>
            <a:r>
              <a:rPr lang="en-US" sz="2600" dirty="0">
                <a:latin typeface="Times New Roman" panose="02020603050405020304" pitchFamily="18" charset="0"/>
                <a:cs typeface="Times New Roman" panose="02020603050405020304" pitchFamily="18" charset="0"/>
              </a:rPr>
              <a:t>Algorithm often took </a:t>
            </a:r>
            <a:r>
              <a:rPr lang="en-US" sz="2600" b="1" dirty="0">
                <a:latin typeface="Times New Roman" panose="02020603050405020304" pitchFamily="18" charset="0"/>
                <a:cs typeface="Times New Roman" panose="02020603050405020304" pitchFamily="18" charset="0"/>
              </a:rPr>
              <a:t>too long to converge </a:t>
            </a:r>
            <a:r>
              <a:rPr lang="en-US" sz="2600" dirty="0">
                <a:latin typeface="Times New Roman" panose="02020603050405020304" pitchFamily="18" charset="0"/>
                <a:cs typeface="Times New Roman" panose="02020603050405020304" pitchFamily="18" charset="0"/>
              </a:rPr>
              <a:t>(the </a:t>
            </a:r>
            <a:r>
              <a:rPr lang="en-US" sz="2600" dirty="0">
                <a:solidFill>
                  <a:srgbClr val="FF0000"/>
                </a:solidFill>
                <a:latin typeface="Times New Roman" panose="02020603050405020304" pitchFamily="18" charset="0"/>
                <a:cs typeface="Times New Roman" panose="02020603050405020304" pitchFamily="18" charset="0"/>
              </a:rPr>
              <a:t>count-to-infinity</a:t>
            </a:r>
            <a:r>
              <a:rPr lang="en-US" sz="2600" dirty="0">
                <a:latin typeface="Times New Roman" panose="02020603050405020304" pitchFamily="18" charset="0"/>
                <a:cs typeface="Times New Roman" panose="02020603050405020304" pitchFamily="18" charset="0"/>
              </a:rPr>
              <a:t> problem) </a:t>
            </a:r>
          </a:p>
          <a:p>
            <a:pPr lvl="1" algn="just">
              <a:buFont typeface="Wingdings" pitchFamily="2" charset="2"/>
              <a:buChar char="§"/>
            </a:pPr>
            <a:r>
              <a:rPr lang="en-US" sz="2600" dirty="0">
                <a:latin typeface="Times New Roman" panose="02020603050405020304" pitchFamily="18" charset="0"/>
                <a:cs typeface="Times New Roman" panose="02020603050405020304" pitchFamily="18" charset="0"/>
              </a:rPr>
              <a:t>Variants of link state routing are now widely used.</a:t>
            </a:r>
          </a:p>
        </p:txBody>
      </p:sp>
      <p:sp>
        <p:nvSpPr>
          <p:cNvPr id="4" name="Slide Number Placeholder 3"/>
          <p:cNvSpPr>
            <a:spLocks noGrp="1"/>
          </p:cNvSpPr>
          <p:nvPr>
            <p:ph type="sldNum" sz="quarter" idx="12"/>
          </p:nvPr>
        </p:nvSpPr>
        <p:spPr/>
        <p:txBody>
          <a:bodyPr/>
          <a:lstStyle/>
          <a:p>
            <a:fld id="{EF55C829-AE99-4997-8EBC-414F558758A8}"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LSR</a:t>
            </a:r>
          </a:p>
        </p:txBody>
      </p:sp>
      <p:sp>
        <p:nvSpPr>
          <p:cNvPr id="12291" name="Rectangle 3"/>
          <p:cNvSpPr>
            <a:spLocks noGrp="1" noChangeArrowheads="1"/>
          </p:cNvSpPr>
          <p:nvPr>
            <p:ph type="body" idx="1"/>
          </p:nvPr>
        </p:nvSpPr>
        <p:spPr>
          <a:xfrm>
            <a:off x="1524000" y="815007"/>
            <a:ext cx="9727096" cy="6311348"/>
          </a:xfrm>
        </p:spPr>
        <p:txBody>
          <a:bodyPr/>
          <a:lstStyle/>
          <a:p>
            <a:pPr algn="just">
              <a:buFont typeface="Wingdings" pitchFamily="2" charset="2"/>
              <a:buChar char="§"/>
            </a:pPr>
            <a:r>
              <a:rPr lang="en-US" dirty="0">
                <a:solidFill>
                  <a:srgbClr val="FF0000"/>
                </a:solidFill>
                <a:latin typeface="Times New Roman" panose="02020603050405020304" pitchFamily="18" charset="0"/>
                <a:cs typeface="Times New Roman" panose="02020603050405020304" pitchFamily="18" charset="0"/>
              </a:rPr>
              <a:t>Idea behind </a:t>
            </a:r>
            <a:r>
              <a:rPr lang="en-US" b="1" dirty="0">
                <a:solidFill>
                  <a:srgbClr val="FF0000"/>
                </a:solidFill>
                <a:latin typeface="Times New Roman" panose="02020603050405020304" pitchFamily="18" charset="0"/>
                <a:cs typeface="Times New Roman" panose="02020603050405020304" pitchFamily="18" charset="0"/>
              </a:rPr>
              <a:t>LSR </a:t>
            </a:r>
            <a:r>
              <a:rPr lang="en-US" dirty="0">
                <a:latin typeface="Times New Roman" panose="02020603050405020304" pitchFamily="18" charset="0"/>
                <a:cs typeface="Times New Roman" panose="02020603050405020304" pitchFamily="18" charset="0"/>
              </a:rPr>
              <a:t>is simple and can be stated as 5 parts. Each router must do the following</a:t>
            </a:r>
          </a:p>
          <a:p>
            <a:pPr marL="114300" indent="0" algn="just">
              <a:buNone/>
            </a:pPr>
            <a:endParaRPr lang="en-US" dirty="0">
              <a:latin typeface="Times New Roman" panose="02020603050405020304" pitchFamily="18" charset="0"/>
              <a:cs typeface="Times New Roman" panose="02020603050405020304" pitchFamily="18" charset="0"/>
            </a:endParaRPr>
          </a:p>
          <a:p>
            <a:pPr lvl="2">
              <a:lnSpc>
                <a:spcPct val="150000"/>
              </a:lnSpc>
              <a:buFontTx/>
              <a:buAutoNum type="arabicPeriod"/>
            </a:pPr>
            <a:r>
              <a:rPr lang="en-US" sz="2800" dirty="0">
                <a:latin typeface="Times New Roman" panose="02020603050405020304" pitchFamily="18" charset="0"/>
                <a:cs typeface="Times New Roman" panose="02020603050405020304" pitchFamily="18" charset="0"/>
              </a:rPr>
              <a:t>Discover its neighbors &amp; learn their network addresses.</a:t>
            </a:r>
          </a:p>
          <a:p>
            <a:pPr lvl="2">
              <a:lnSpc>
                <a:spcPct val="150000"/>
              </a:lnSpc>
              <a:buFontTx/>
              <a:buAutoNum type="arabicPeriod"/>
            </a:pPr>
            <a:r>
              <a:rPr lang="en-US" sz="2800" dirty="0">
                <a:latin typeface="Times New Roman" panose="02020603050405020304" pitchFamily="18" charset="0"/>
                <a:cs typeface="Times New Roman" panose="02020603050405020304" pitchFamily="18" charset="0"/>
              </a:rPr>
              <a:t>Measure the delay or cost to each of its neighbors.</a:t>
            </a:r>
          </a:p>
          <a:p>
            <a:pPr lvl="2">
              <a:lnSpc>
                <a:spcPct val="150000"/>
              </a:lnSpc>
              <a:buFontTx/>
              <a:buAutoNum type="arabicPeriod"/>
            </a:pPr>
            <a:r>
              <a:rPr lang="en-US" sz="2800" dirty="0">
                <a:latin typeface="Times New Roman" panose="02020603050405020304" pitchFamily="18" charset="0"/>
                <a:cs typeface="Times New Roman" panose="02020603050405020304" pitchFamily="18" charset="0"/>
              </a:rPr>
              <a:t>Construct a packet telling all it has just learned.</a:t>
            </a:r>
          </a:p>
          <a:p>
            <a:pPr lvl="2">
              <a:lnSpc>
                <a:spcPct val="150000"/>
              </a:lnSpc>
              <a:buFontTx/>
              <a:buAutoNum type="arabicPeriod"/>
            </a:pPr>
            <a:r>
              <a:rPr lang="en-US" sz="2800" dirty="0">
                <a:latin typeface="Times New Roman" panose="02020603050405020304" pitchFamily="18" charset="0"/>
                <a:cs typeface="Times New Roman" panose="02020603050405020304" pitchFamily="18" charset="0"/>
              </a:rPr>
              <a:t>Send this packet to all other routers.</a:t>
            </a:r>
          </a:p>
          <a:p>
            <a:pPr lvl="2">
              <a:lnSpc>
                <a:spcPct val="150000"/>
              </a:lnSpc>
              <a:buFontTx/>
              <a:buAutoNum type="arabicPeriod"/>
            </a:pPr>
            <a:r>
              <a:rPr lang="en-US" sz="2800" dirty="0">
                <a:latin typeface="Times New Roman" panose="02020603050405020304" pitchFamily="18" charset="0"/>
                <a:cs typeface="Times New Roman" panose="02020603050405020304" pitchFamily="18" charset="0"/>
              </a:rPr>
              <a:t>Compute the shortest path to every other router.</a:t>
            </a:r>
          </a:p>
          <a:p>
            <a:pPr marL="571500" lvl="1" indent="0">
              <a:buNone/>
            </a:pP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348" name="Google Shape;348;p35"/>
          <p:cNvPicPr preferRelativeResize="0">
            <a:picLocks noGrp="1"/>
          </p:cNvPicPr>
          <p:nvPr>
            <p:ph type="body" idx="1"/>
          </p:nvPr>
        </p:nvPicPr>
        <p:blipFill rotWithShape="1">
          <a:blip r:embed="rId3">
            <a:alphaModFix/>
          </a:blip>
          <a:srcRect/>
          <a:stretch/>
        </p:blipFill>
        <p:spPr>
          <a:xfrm>
            <a:off x="112060" y="0"/>
            <a:ext cx="5535706" cy="5439797"/>
          </a:xfrm>
          <a:prstGeom prst="rect">
            <a:avLst/>
          </a:prstGeom>
          <a:noFill/>
          <a:ln w="9525" cap="flat" cmpd="sng">
            <a:solidFill>
              <a:schemeClr val="dk1"/>
            </a:solidFill>
            <a:prstDash val="solid"/>
            <a:miter lim="800000"/>
            <a:headEnd type="none" w="sm" len="sm"/>
            <a:tailEnd type="none" w="sm" len="sm"/>
          </a:ln>
        </p:spPr>
      </p:pic>
      <p:sp>
        <p:nvSpPr>
          <p:cNvPr id="349" name="Google Shape;349;p35"/>
          <p:cNvSpPr/>
          <p:nvPr/>
        </p:nvSpPr>
        <p:spPr>
          <a:xfrm>
            <a:off x="838200" y="5795129"/>
            <a:ext cx="3594254" cy="369332"/>
          </a:xfrm>
          <a:prstGeom prst="rect">
            <a:avLst/>
          </a:prstGeom>
          <a:noFill/>
          <a:ln>
            <a:noFill/>
          </a:ln>
        </p:spPr>
        <p:txBody>
          <a:bodyPr spcFirstLastPara="1" wrap="square" lIns="91425" tIns="45700" rIns="91425" bIns="45700" anchor="t" anchorCtr="0">
            <a:spAutoFit/>
          </a:bodyPr>
          <a:lstStyle/>
          <a:p>
            <a:pPr marL="63500" marR="7239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Fig: Concept of link state routing</a:t>
            </a:r>
            <a:endParaRPr sz="2400">
              <a:solidFill>
                <a:schemeClr val="dk1"/>
              </a:solidFill>
              <a:latin typeface="Meiryo"/>
              <a:ea typeface="Meiryo"/>
              <a:cs typeface="Meiryo"/>
              <a:sym typeface="Meiryo"/>
            </a:endParaRPr>
          </a:p>
        </p:txBody>
      </p:sp>
      <p:pic>
        <p:nvPicPr>
          <p:cNvPr id="350" name="Google Shape;350;p35"/>
          <p:cNvPicPr preferRelativeResize="0"/>
          <p:nvPr/>
        </p:nvPicPr>
        <p:blipFill rotWithShape="1">
          <a:blip r:embed="rId4">
            <a:alphaModFix/>
          </a:blip>
          <a:srcRect/>
          <a:stretch/>
        </p:blipFill>
        <p:spPr>
          <a:xfrm>
            <a:off x="6113929" y="59718"/>
            <a:ext cx="5836024" cy="2376305"/>
          </a:xfrm>
          <a:prstGeom prst="rect">
            <a:avLst/>
          </a:prstGeom>
          <a:noFill/>
          <a:ln w="9525" cap="flat" cmpd="sng">
            <a:solidFill>
              <a:schemeClr val="dk1"/>
            </a:solidFill>
            <a:prstDash val="solid"/>
            <a:miter lim="800000"/>
            <a:headEnd type="none" w="sm" len="sm"/>
            <a:tailEnd type="none" w="sm" len="sm"/>
          </a:ln>
        </p:spPr>
      </p:pic>
      <p:sp>
        <p:nvSpPr>
          <p:cNvPr id="351" name="Google Shape;351;p35"/>
          <p:cNvSpPr/>
          <p:nvPr/>
        </p:nvSpPr>
        <p:spPr>
          <a:xfrm>
            <a:off x="7183909" y="2520191"/>
            <a:ext cx="2880277" cy="369332"/>
          </a:xfrm>
          <a:prstGeom prst="rect">
            <a:avLst/>
          </a:prstGeom>
          <a:noFill/>
          <a:ln>
            <a:noFill/>
          </a:ln>
        </p:spPr>
        <p:txBody>
          <a:bodyPr spcFirstLastPara="1" wrap="square" lIns="91425" tIns="45700" rIns="91425" bIns="45700" anchor="t" anchorCtr="0">
            <a:spAutoFit/>
          </a:bodyPr>
          <a:lstStyle/>
          <a:p>
            <a:pPr marL="63500" marR="7239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Fig: Link state knowledge</a:t>
            </a:r>
            <a:endParaRPr sz="2400">
              <a:solidFill>
                <a:schemeClr val="dk1"/>
              </a:solidFill>
              <a:latin typeface="Meiryo"/>
              <a:ea typeface="Meiryo"/>
              <a:cs typeface="Meiryo"/>
              <a:sym typeface="Meiryo"/>
            </a:endParaRPr>
          </a:p>
        </p:txBody>
      </p:sp>
      <p:sp>
        <p:nvSpPr>
          <p:cNvPr id="352" name="Google Shape;352;p35"/>
          <p:cNvSpPr/>
          <p:nvPr/>
        </p:nvSpPr>
        <p:spPr>
          <a:xfrm>
            <a:off x="5419165" y="3271795"/>
            <a:ext cx="6772835" cy="3416320"/>
          </a:xfrm>
          <a:prstGeom prst="rect">
            <a:avLst/>
          </a:prstGeom>
          <a:noFill/>
          <a:ln>
            <a:noFill/>
          </a:ln>
        </p:spPr>
        <p:txBody>
          <a:bodyPr spcFirstLastPara="1" wrap="square" lIns="91425" tIns="45700" rIns="91425" bIns="45700" anchor="t" anchorCtr="0">
            <a:spAutoFit/>
          </a:bodyPr>
          <a:lstStyle/>
          <a:p>
            <a:pPr marL="631825" marR="0" lvl="0" indent="-34925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Discover its </a:t>
            </a:r>
            <a:r>
              <a:rPr lang="en-US" sz="2400">
                <a:solidFill>
                  <a:srgbClr val="FF0000"/>
                </a:solidFill>
                <a:latin typeface="Calibri"/>
                <a:ea typeface="Calibri"/>
                <a:cs typeface="Calibri"/>
                <a:sym typeface="Calibri"/>
              </a:rPr>
              <a:t>neighbors</a:t>
            </a:r>
            <a:r>
              <a:rPr lang="en-US" sz="2400">
                <a:solidFill>
                  <a:schemeClr val="dk1"/>
                </a:solidFill>
                <a:latin typeface="Calibri"/>
                <a:ea typeface="Calibri"/>
                <a:cs typeface="Calibri"/>
                <a:sym typeface="Calibri"/>
              </a:rPr>
              <a:t> and learn their </a:t>
            </a:r>
            <a:r>
              <a:rPr lang="en-US" sz="2400">
                <a:solidFill>
                  <a:srgbClr val="FF0000"/>
                </a:solidFill>
                <a:latin typeface="Calibri"/>
                <a:ea typeface="Calibri"/>
                <a:cs typeface="Calibri"/>
                <a:sym typeface="Calibri"/>
              </a:rPr>
              <a:t>network addresses</a:t>
            </a:r>
            <a:r>
              <a:rPr lang="en-US" sz="2400">
                <a:solidFill>
                  <a:schemeClr val="dk1"/>
                </a:solidFill>
                <a:latin typeface="Calibri"/>
                <a:ea typeface="Calibri"/>
                <a:cs typeface="Calibri"/>
                <a:sym typeface="Calibri"/>
              </a:rPr>
              <a:t>.</a:t>
            </a:r>
            <a:endParaRPr/>
          </a:p>
          <a:p>
            <a:pPr marL="631825" marR="0" lvl="0" indent="-34925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Set the </a:t>
            </a:r>
            <a:r>
              <a:rPr lang="en-US" sz="2400">
                <a:solidFill>
                  <a:srgbClr val="FF0000"/>
                </a:solidFill>
                <a:latin typeface="Calibri"/>
                <a:ea typeface="Calibri"/>
                <a:cs typeface="Calibri"/>
                <a:sym typeface="Calibri"/>
              </a:rPr>
              <a:t>distance or cost metric </a:t>
            </a:r>
            <a:r>
              <a:rPr lang="en-US" sz="2400">
                <a:solidFill>
                  <a:schemeClr val="dk1"/>
                </a:solidFill>
                <a:latin typeface="Calibri"/>
                <a:ea typeface="Calibri"/>
                <a:cs typeface="Calibri"/>
                <a:sym typeface="Calibri"/>
              </a:rPr>
              <a:t>to each of its neighbors.</a:t>
            </a:r>
            <a:endParaRPr/>
          </a:p>
          <a:p>
            <a:pPr marL="631825" marR="0" lvl="0" indent="-34925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Construct </a:t>
            </a:r>
            <a:r>
              <a:rPr lang="en-US" sz="2400">
                <a:solidFill>
                  <a:srgbClr val="FF0000"/>
                </a:solidFill>
                <a:latin typeface="Calibri"/>
                <a:ea typeface="Calibri"/>
                <a:cs typeface="Calibri"/>
                <a:sym typeface="Calibri"/>
              </a:rPr>
              <a:t>a packet telling </a:t>
            </a:r>
            <a:r>
              <a:rPr lang="en-US" sz="2400">
                <a:solidFill>
                  <a:schemeClr val="dk1"/>
                </a:solidFill>
                <a:latin typeface="Calibri"/>
                <a:ea typeface="Calibri"/>
                <a:cs typeface="Calibri"/>
                <a:sym typeface="Calibri"/>
              </a:rPr>
              <a:t>all it has just learned.</a:t>
            </a:r>
            <a:endParaRPr/>
          </a:p>
          <a:p>
            <a:pPr marL="631825" marR="0" lvl="0" indent="-349250" algn="just" rtl="0">
              <a:spcBef>
                <a:spcPts val="0"/>
              </a:spcBef>
              <a:spcAft>
                <a:spcPts val="0"/>
              </a:spcAft>
              <a:buClr>
                <a:srgbClr val="FF0000"/>
              </a:buClr>
              <a:buSzPts val="2400"/>
              <a:buFont typeface="Noto Sans Symbols"/>
              <a:buChar char="⮚"/>
            </a:pPr>
            <a:r>
              <a:rPr lang="en-US" sz="2400">
                <a:solidFill>
                  <a:srgbClr val="FF0000"/>
                </a:solidFill>
                <a:latin typeface="Calibri"/>
                <a:ea typeface="Calibri"/>
                <a:cs typeface="Calibri"/>
                <a:sym typeface="Calibri"/>
              </a:rPr>
              <a:t>Send</a:t>
            </a:r>
            <a:r>
              <a:rPr lang="en-US" sz="2400">
                <a:solidFill>
                  <a:schemeClr val="dk1"/>
                </a:solidFill>
                <a:latin typeface="Calibri"/>
                <a:ea typeface="Calibri"/>
                <a:cs typeface="Calibri"/>
                <a:sym typeface="Calibri"/>
              </a:rPr>
              <a:t> this packet to and </a:t>
            </a:r>
            <a:r>
              <a:rPr lang="en-US" sz="2400">
                <a:solidFill>
                  <a:srgbClr val="FF0000"/>
                </a:solidFill>
                <a:latin typeface="Calibri"/>
                <a:ea typeface="Calibri"/>
                <a:cs typeface="Calibri"/>
                <a:sym typeface="Calibri"/>
              </a:rPr>
              <a:t>receive packets </a:t>
            </a:r>
            <a:r>
              <a:rPr lang="en-US" sz="2400">
                <a:solidFill>
                  <a:schemeClr val="dk1"/>
                </a:solidFill>
                <a:latin typeface="Calibri"/>
                <a:ea typeface="Calibri"/>
                <a:cs typeface="Calibri"/>
                <a:sym typeface="Calibri"/>
              </a:rPr>
              <a:t>from all other routers.</a:t>
            </a:r>
            <a:endParaRPr/>
          </a:p>
          <a:p>
            <a:pPr marL="631825" marR="0" lvl="0" indent="-34925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Compute the </a:t>
            </a:r>
            <a:r>
              <a:rPr lang="en-US" sz="2400">
                <a:solidFill>
                  <a:srgbClr val="FF0000"/>
                </a:solidFill>
                <a:latin typeface="Calibri"/>
                <a:ea typeface="Calibri"/>
                <a:cs typeface="Calibri"/>
                <a:sym typeface="Calibri"/>
              </a:rPr>
              <a:t>shortest path </a:t>
            </a:r>
            <a:r>
              <a:rPr lang="en-US" sz="2400">
                <a:solidFill>
                  <a:schemeClr val="dk1"/>
                </a:solidFill>
                <a:latin typeface="Calibri"/>
                <a:ea typeface="Calibri"/>
                <a:cs typeface="Calibri"/>
                <a:sym typeface="Calibri"/>
              </a:rPr>
              <a:t>to every other router.( </a:t>
            </a:r>
            <a:r>
              <a:rPr lang="en-US" sz="2400" b="1">
                <a:solidFill>
                  <a:schemeClr val="dk1"/>
                </a:solidFill>
                <a:latin typeface="Calibri"/>
                <a:ea typeface="Calibri"/>
                <a:cs typeface="Calibri"/>
                <a:sym typeface="Calibri"/>
              </a:rPr>
              <a:t>Dijkstra’s algorithm )</a:t>
            </a:r>
            <a:endParaRPr sz="24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7"/>
          <p:cNvSpPr txBox="1">
            <a:spLocks noGrp="1"/>
          </p:cNvSpPr>
          <p:nvPr>
            <p:ph type="body" idx="1"/>
          </p:nvPr>
        </p:nvSpPr>
        <p:spPr>
          <a:xfrm>
            <a:off x="215153" y="147919"/>
            <a:ext cx="11976847" cy="5435464"/>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0"/>
              </a:spcBef>
              <a:spcAft>
                <a:spcPts val="0"/>
              </a:spcAft>
              <a:buClr>
                <a:schemeClr val="dk1"/>
              </a:buClr>
              <a:buSzPts val="3200"/>
              <a:buNone/>
            </a:pPr>
            <a:r>
              <a:rPr lang="en-US" sz="3200" b="1" dirty="0"/>
              <a:t>1.Learning about the neighbors</a:t>
            </a:r>
            <a:endParaRPr dirty="0"/>
          </a:p>
          <a:p>
            <a:pPr marL="228600" lvl="0" indent="-228600" algn="just" rtl="0">
              <a:lnSpc>
                <a:spcPct val="90000"/>
              </a:lnSpc>
              <a:spcBef>
                <a:spcPts val="1000"/>
              </a:spcBef>
              <a:spcAft>
                <a:spcPts val="0"/>
              </a:spcAft>
              <a:buClr>
                <a:schemeClr val="dk1"/>
              </a:buClr>
              <a:buSzPts val="3200"/>
              <a:buChar char="•"/>
            </a:pPr>
            <a:r>
              <a:rPr lang="en-US" sz="3200" dirty="0"/>
              <a:t>When a router is </a:t>
            </a:r>
            <a:r>
              <a:rPr lang="en-US" sz="3200" dirty="0">
                <a:solidFill>
                  <a:srgbClr val="FF0000"/>
                </a:solidFill>
              </a:rPr>
              <a:t>booted</a:t>
            </a:r>
            <a:r>
              <a:rPr lang="en-US" sz="3200" dirty="0"/>
              <a:t>, its first task is to </a:t>
            </a:r>
            <a:r>
              <a:rPr lang="en-US" sz="3200" dirty="0">
                <a:solidFill>
                  <a:srgbClr val="00B050"/>
                </a:solidFill>
              </a:rPr>
              <a:t>learn who its neighbors </a:t>
            </a:r>
            <a:r>
              <a:rPr lang="en-US" sz="3200" dirty="0"/>
              <a:t>are.</a:t>
            </a:r>
            <a:endParaRPr dirty="0"/>
          </a:p>
          <a:p>
            <a:pPr marL="228600" lvl="0" indent="-228600" algn="just" rtl="0">
              <a:lnSpc>
                <a:spcPct val="90000"/>
              </a:lnSpc>
              <a:spcBef>
                <a:spcPts val="1000"/>
              </a:spcBef>
              <a:spcAft>
                <a:spcPts val="0"/>
              </a:spcAft>
              <a:buClr>
                <a:schemeClr val="dk1"/>
              </a:buClr>
              <a:buSzPts val="3200"/>
              <a:buChar char="•"/>
            </a:pPr>
            <a:r>
              <a:rPr lang="en-US" sz="3200" dirty="0"/>
              <a:t> It accomplishes this goal by </a:t>
            </a:r>
            <a:r>
              <a:rPr lang="en-US" sz="3200" dirty="0">
                <a:solidFill>
                  <a:srgbClr val="FF0000"/>
                </a:solidFill>
              </a:rPr>
              <a:t>sending</a:t>
            </a:r>
            <a:r>
              <a:rPr lang="en-US" sz="3200" dirty="0"/>
              <a:t> a special </a:t>
            </a:r>
            <a:r>
              <a:rPr lang="en-US" sz="3200" b="1" dirty="0"/>
              <a:t>HELLO packet</a:t>
            </a:r>
            <a:r>
              <a:rPr lang="en-US" sz="3200" dirty="0"/>
              <a:t> on each point-to-point line. </a:t>
            </a:r>
            <a:endParaRPr dirty="0"/>
          </a:p>
          <a:p>
            <a:pPr marL="228600" indent="-228600" algn="just">
              <a:buSzPts val="3200"/>
            </a:pPr>
            <a:r>
              <a:rPr lang="en-US" sz="3200" dirty="0"/>
              <a:t>The </a:t>
            </a:r>
            <a:r>
              <a:rPr lang="en-US" sz="3200" dirty="0">
                <a:solidFill>
                  <a:srgbClr val="00B050"/>
                </a:solidFill>
              </a:rPr>
              <a:t>router on the other end </a:t>
            </a:r>
            <a:r>
              <a:rPr lang="en-US" sz="3200" dirty="0"/>
              <a:t>is expected to send back a </a:t>
            </a:r>
            <a:r>
              <a:rPr lang="en-US" sz="3200" b="1" dirty="0"/>
              <a:t>reply</a:t>
            </a:r>
            <a:r>
              <a:rPr lang="en-US" sz="3200" dirty="0"/>
              <a:t> giving </a:t>
            </a:r>
            <a:r>
              <a:rPr lang="en-US" sz="3200" dirty="0">
                <a:solidFill>
                  <a:srgbClr val="FF0000"/>
                </a:solidFill>
              </a:rPr>
              <a:t>its name. </a:t>
            </a:r>
            <a:r>
              <a:rPr lang="en-US" sz="3200" dirty="0"/>
              <a:t>These names must be globally unique.</a:t>
            </a:r>
          </a:p>
          <a:p>
            <a:pPr marL="228600" lvl="0" indent="-228600" algn="just" rtl="0">
              <a:lnSpc>
                <a:spcPct val="90000"/>
              </a:lnSpc>
              <a:spcBef>
                <a:spcPts val="1000"/>
              </a:spcBef>
              <a:spcAft>
                <a:spcPts val="0"/>
              </a:spcAft>
              <a:buClr>
                <a:schemeClr val="dk1"/>
              </a:buClr>
              <a:buSzPts val="3200"/>
              <a:buChar char="•"/>
            </a:pPr>
            <a:endParaRPr dirty="0"/>
          </a:p>
          <a:p>
            <a:pPr marL="228600" lvl="0" indent="-25400" algn="just" rtl="0">
              <a:lnSpc>
                <a:spcPct val="90000"/>
              </a:lnSpc>
              <a:spcBef>
                <a:spcPts val="1000"/>
              </a:spcBef>
              <a:spcAft>
                <a:spcPts val="0"/>
              </a:spcAft>
              <a:buClr>
                <a:schemeClr val="dk1"/>
              </a:buClr>
              <a:buSzPts val="3200"/>
              <a:buNone/>
            </a:pPr>
            <a:endParaRPr sz="3200" dirty="0"/>
          </a:p>
          <a:p>
            <a:pPr marL="0" lvl="0" indent="0" algn="just" rtl="0">
              <a:lnSpc>
                <a:spcPct val="90000"/>
              </a:lnSpc>
              <a:spcBef>
                <a:spcPts val="1000"/>
              </a:spcBef>
              <a:spcAft>
                <a:spcPts val="0"/>
              </a:spcAft>
              <a:buClr>
                <a:schemeClr val="dk1"/>
              </a:buClr>
              <a:buSzPts val="3200"/>
              <a:buNone/>
            </a:pPr>
            <a:endParaRPr sz="3200" dirty="0"/>
          </a:p>
          <a:p>
            <a:pPr marL="403225" lvl="0" indent="-228600" algn="just" rtl="0">
              <a:lnSpc>
                <a:spcPct val="90000"/>
              </a:lnSpc>
              <a:spcBef>
                <a:spcPts val="1000"/>
              </a:spcBef>
              <a:spcAft>
                <a:spcPts val="0"/>
              </a:spcAft>
              <a:buClr>
                <a:schemeClr val="dk1"/>
              </a:buClr>
              <a:buSzPts val="3200"/>
              <a:buNone/>
            </a:pPr>
            <a:r>
              <a:rPr lang="en-US" sz="3200" b="1" dirty="0"/>
              <a:t>  </a:t>
            </a:r>
            <a:endParaRPr dirty="0"/>
          </a:p>
        </p:txBody>
      </p:sp>
      <p:pic>
        <p:nvPicPr>
          <p:cNvPr id="364" name="Google Shape;364;p37"/>
          <p:cNvPicPr preferRelativeResize="0"/>
          <p:nvPr/>
        </p:nvPicPr>
        <p:blipFill rotWithShape="1">
          <a:blip r:embed="rId3">
            <a:alphaModFix/>
          </a:blip>
          <a:srcRect/>
          <a:stretch/>
        </p:blipFill>
        <p:spPr>
          <a:xfrm>
            <a:off x="3381644" y="3612417"/>
            <a:ext cx="5858763" cy="240203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LSR</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Wingdings" pitchFamily="2" charset="2"/>
              <a:buChar char="Ø"/>
            </a:pPr>
            <a:r>
              <a:rPr lang="en-US" dirty="0"/>
              <a:t>When two or more routers are connected by a LAN, the situation is slightly more complicated </a:t>
            </a:r>
          </a:p>
          <a:p>
            <a:pPr algn="just">
              <a:buFont typeface="Wingdings" pitchFamily="2" charset="2"/>
              <a:buChar char="Ø"/>
            </a:pPr>
            <a:r>
              <a:rPr lang="en-US" dirty="0"/>
              <a:t>One way to model the LAN is to consider it as a node itself </a:t>
            </a:r>
          </a:p>
        </p:txBody>
      </p:sp>
      <p:pic>
        <p:nvPicPr>
          <p:cNvPr id="4" name="Picture 5" descr="5-11"/>
          <p:cNvPicPr>
            <a:picLocks noChangeAspect="1" noChangeArrowheads="1"/>
          </p:cNvPicPr>
          <p:nvPr/>
        </p:nvPicPr>
        <p:blipFill>
          <a:blip r:embed="rId2" cstate="print"/>
          <a:srcRect/>
          <a:stretch>
            <a:fillRect/>
          </a:stretch>
        </p:blipFill>
        <p:spPr bwMode="auto">
          <a:xfrm>
            <a:off x="1777454" y="2106586"/>
            <a:ext cx="8710664" cy="3488532"/>
          </a:xfrm>
          <a:prstGeom prst="rect">
            <a:avLst/>
          </a:prstGeom>
          <a:noFill/>
        </p:spPr>
      </p:pic>
      <p:sp>
        <p:nvSpPr>
          <p:cNvPr id="5" name="Rectangle 3"/>
          <p:cNvSpPr txBox="1">
            <a:spLocks noChangeArrowheads="1"/>
          </p:cNvSpPr>
          <p:nvPr/>
        </p:nvSpPr>
        <p:spPr bwMode="auto">
          <a:xfrm>
            <a:off x="2378076" y="5741988"/>
            <a:ext cx="7402513" cy="838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fontAlgn="base">
              <a:lnSpc>
                <a:spcPct val="90000"/>
              </a:lnSpc>
              <a:spcBef>
                <a:spcPct val="20000"/>
              </a:spcBef>
              <a:spcAft>
                <a:spcPct val="0"/>
              </a:spcAft>
              <a:buClr>
                <a:schemeClr val="accent2"/>
              </a:buClr>
              <a:defRPr/>
            </a:pPr>
            <a:r>
              <a:rPr lang="en-US" sz="2400">
                <a:solidFill>
                  <a:schemeClr val="accent2"/>
                </a:solidFill>
                <a:latin typeface="+mn-lt"/>
                <a:ea typeface="+mn-ea"/>
                <a:cs typeface="+mn-cs"/>
              </a:rPr>
              <a:t>(a)</a:t>
            </a:r>
            <a:r>
              <a:rPr lang="en-US" sz="2400">
                <a:solidFill>
                  <a:schemeClr val="tx1"/>
                </a:solidFill>
                <a:latin typeface="+mn-lt"/>
                <a:ea typeface="+mn-ea"/>
                <a:cs typeface="+mn-cs"/>
              </a:rPr>
              <a:t> Nine routers and a LAN. </a:t>
            </a:r>
            <a:r>
              <a:rPr lang="en-US" sz="2400">
                <a:solidFill>
                  <a:schemeClr val="accent2"/>
                </a:solidFill>
                <a:latin typeface="+mn-lt"/>
                <a:ea typeface="+mn-ea"/>
                <a:cs typeface="+mn-cs"/>
              </a:rPr>
              <a:t>(b)</a:t>
            </a:r>
            <a:r>
              <a:rPr lang="en-US" sz="2400">
                <a:solidFill>
                  <a:schemeClr val="tx1"/>
                </a:solidFill>
                <a:latin typeface="+mn-lt"/>
                <a:ea typeface="+mn-ea"/>
                <a:cs typeface="+mn-cs"/>
              </a:rPr>
              <a:t> A graph model of </a:t>
            </a:r>
            <a:r>
              <a:rPr lang="en-US" sz="2400">
                <a:solidFill>
                  <a:schemeClr val="accent2"/>
                </a:solidFill>
                <a:latin typeface="+mn-lt"/>
                <a:ea typeface="+mn-ea"/>
                <a:cs typeface="+mn-cs"/>
              </a:rPr>
              <a:t>(a).</a:t>
            </a:r>
          </a:p>
        </p:txBody>
      </p:sp>
      <p:sp>
        <p:nvSpPr>
          <p:cNvPr id="6" name="Slide Number Placeholder 5"/>
          <p:cNvSpPr>
            <a:spLocks noGrp="1"/>
          </p:cNvSpPr>
          <p:nvPr>
            <p:ph type="sldNum" sz="quarter" idx="12"/>
          </p:nvPr>
        </p:nvSpPr>
        <p:spPr/>
        <p:txBody>
          <a:bodyPr/>
          <a:lstStyle/>
          <a:p>
            <a:fld id="{EF55C829-AE99-4997-8EBC-414F558758A8}"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111937b53da_0_0"/>
          <p:cNvSpPr txBox="1">
            <a:spLocks noGrp="1"/>
          </p:cNvSpPr>
          <p:nvPr>
            <p:ph type="body" idx="1"/>
          </p:nvPr>
        </p:nvSpPr>
        <p:spPr>
          <a:xfrm>
            <a:off x="712850" y="321525"/>
            <a:ext cx="11284200" cy="4351200"/>
          </a:xfrm>
          <a:prstGeom prst="rect">
            <a:avLst/>
          </a:prstGeom>
        </p:spPr>
        <p:txBody>
          <a:bodyPr spcFirstLastPara="1" wrap="square" lIns="91425" tIns="45700" rIns="91425" bIns="45700" anchor="t" anchorCtr="0">
            <a:normAutofit/>
          </a:bodyPr>
          <a:lstStyle/>
          <a:p>
            <a:pPr marL="403225" lvl="0" indent="-228600" algn="just" rtl="0">
              <a:spcBef>
                <a:spcPts val="1000"/>
              </a:spcBef>
              <a:spcAft>
                <a:spcPts val="0"/>
              </a:spcAft>
              <a:buClr>
                <a:schemeClr val="dk1"/>
              </a:buClr>
              <a:buSzPts val="3200"/>
              <a:buFont typeface="Arial"/>
              <a:buNone/>
            </a:pPr>
            <a:r>
              <a:rPr lang="en-US" sz="3200" b="1" dirty="0"/>
              <a:t> 2.Measuring Line Cost</a:t>
            </a:r>
            <a:endParaRPr sz="3200" dirty="0"/>
          </a:p>
          <a:p>
            <a:pPr marL="403225" indent="-228600" algn="just">
              <a:buSzPts val="3200"/>
            </a:pPr>
            <a:r>
              <a:rPr lang="en-US" dirty="0"/>
              <a:t>Each router must know a reasonable estimate of the delay to each of its neighbors. </a:t>
            </a:r>
          </a:p>
          <a:p>
            <a:pPr marL="403225" lvl="0" indent="-228600" algn="just" rtl="0">
              <a:spcBef>
                <a:spcPts val="1000"/>
              </a:spcBef>
              <a:spcAft>
                <a:spcPts val="0"/>
              </a:spcAft>
              <a:buSzPts val="3200"/>
              <a:buChar char="•"/>
            </a:pPr>
            <a:r>
              <a:rPr lang="en-US" dirty="0"/>
              <a:t>A special </a:t>
            </a:r>
            <a:r>
              <a:rPr lang="en-US" b="1" dirty="0">
                <a:solidFill>
                  <a:srgbClr val="FF0000"/>
                </a:solidFill>
              </a:rPr>
              <a:t>ECHO packet </a:t>
            </a:r>
            <a:r>
              <a:rPr lang="en-US" dirty="0"/>
              <a:t>is sent over to neighbors that the other side is required to </a:t>
            </a:r>
            <a:r>
              <a:rPr lang="en-US" dirty="0">
                <a:solidFill>
                  <a:srgbClr val="00B050"/>
                </a:solidFill>
              </a:rPr>
              <a:t>send back immediately</a:t>
            </a:r>
            <a:r>
              <a:rPr lang="en-US" dirty="0"/>
              <a:t>. </a:t>
            </a:r>
            <a:endParaRPr dirty="0"/>
          </a:p>
          <a:p>
            <a:pPr marL="403225" lvl="0" indent="-228600" algn="just" rtl="0">
              <a:spcBef>
                <a:spcPts val="1000"/>
              </a:spcBef>
              <a:spcAft>
                <a:spcPts val="0"/>
              </a:spcAft>
              <a:buSzPts val="3200"/>
              <a:buChar char="•"/>
            </a:pPr>
            <a:r>
              <a:rPr lang="en-US" dirty="0"/>
              <a:t>By measuring the </a:t>
            </a:r>
            <a:r>
              <a:rPr lang="en-US" dirty="0">
                <a:solidFill>
                  <a:srgbClr val="FF0000"/>
                </a:solidFill>
              </a:rPr>
              <a:t>round-trip time </a:t>
            </a:r>
            <a:r>
              <a:rPr lang="en-US" dirty="0"/>
              <a:t>and dividing it by two, the sending router can get a </a:t>
            </a:r>
            <a:r>
              <a:rPr lang="en-US" dirty="0">
                <a:solidFill>
                  <a:srgbClr val="00B050"/>
                </a:solidFill>
              </a:rPr>
              <a:t>reasonable estimate of the delay. </a:t>
            </a:r>
            <a:endParaRPr dirty="0"/>
          </a:p>
          <a:p>
            <a:pPr marL="0" lvl="0" indent="0" algn="l" rtl="0">
              <a:spcBef>
                <a:spcPts val="1000"/>
              </a:spcBef>
              <a:spcAft>
                <a:spcPts val="0"/>
              </a:spcAft>
              <a:buClr>
                <a:schemeClr val="dk1"/>
              </a:buClr>
              <a:buSzPts val="2800"/>
              <a:buFont typeface="Arial"/>
              <a:buNone/>
            </a:pPr>
            <a:endParaRPr dirty="0"/>
          </a:p>
          <a:p>
            <a:pPr marL="0" lvl="0" indent="0" algn="l" rtl="0">
              <a:spcBef>
                <a:spcPts val="1000"/>
              </a:spcBef>
              <a:spcAft>
                <a:spcPts val="0"/>
              </a:spcAft>
              <a:buNone/>
            </a:pPr>
            <a:endParaRPr dirty="0"/>
          </a:p>
        </p:txBody>
      </p:sp>
      <p:pic>
        <p:nvPicPr>
          <p:cNvPr id="370" name="Google Shape;370;g111937b53da_0_0"/>
          <p:cNvPicPr preferRelativeResize="0"/>
          <p:nvPr/>
        </p:nvPicPr>
        <p:blipFill rotWithShape="1">
          <a:blip r:embed="rId3">
            <a:alphaModFix/>
          </a:blip>
          <a:srcRect/>
          <a:stretch/>
        </p:blipFill>
        <p:spPr>
          <a:xfrm>
            <a:off x="3262382" y="3720650"/>
            <a:ext cx="6868051" cy="28158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8"/>
          <p:cNvSpPr txBox="1">
            <a:spLocks noGrp="1"/>
          </p:cNvSpPr>
          <p:nvPr>
            <p:ph type="body" idx="1"/>
          </p:nvPr>
        </p:nvSpPr>
        <p:spPr>
          <a:xfrm>
            <a:off x="0" y="0"/>
            <a:ext cx="12192000" cy="5855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t>3.Building Link State Packets</a:t>
            </a:r>
            <a:endParaRPr/>
          </a:p>
          <a:p>
            <a:pPr marL="228600" lvl="0" indent="-228600" algn="just" rtl="0">
              <a:lnSpc>
                <a:spcPct val="90000"/>
              </a:lnSpc>
              <a:spcBef>
                <a:spcPts val="1000"/>
              </a:spcBef>
              <a:spcAft>
                <a:spcPts val="0"/>
              </a:spcAft>
              <a:buClr>
                <a:schemeClr val="dk1"/>
              </a:buClr>
              <a:buSzPts val="2400"/>
              <a:buChar char="•"/>
            </a:pPr>
            <a:r>
              <a:rPr lang="en-US" sz="2400"/>
              <a:t>The packet starts with the </a:t>
            </a:r>
            <a:r>
              <a:rPr lang="en-US" sz="2400">
                <a:solidFill>
                  <a:srgbClr val="FF0000"/>
                </a:solidFill>
              </a:rPr>
              <a:t>identity of the sender,</a:t>
            </a:r>
            <a:r>
              <a:rPr lang="en-US" sz="2400"/>
              <a:t> followed by a </a:t>
            </a:r>
            <a:r>
              <a:rPr lang="en-US" sz="2400">
                <a:solidFill>
                  <a:srgbClr val="00B050"/>
                </a:solidFill>
              </a:rPr>
              <a:t>sequence number and age, and a list of neighbours. </a:t>
            </a:r>
            <a:endParaRPr/>
          </a:p>
          <a:p>
            <a:pPr marL="228600" lvl="0" indent="-228600" algn="just" rtl="0">
              <a:lnSpc>
                <a:spcPct val="90000"/>
              </a:lnSpc>
              <a:spcBef>
                <a:spcPts val="1000"/>
              </a:spcBef>
              <a:spcAft>
                <a:spcPts val="0"/>
              </a:spcAft>
              <a:buClr>
                <a:schemeClr val="dk1"/>
              </a:buClr>
              <a:buSzPts val="2400"/>
              <a:buChar char="•"/>
            </a:pPr>
            <a:r>
              <a:rPr lang="en-US" sz="2400"/>
              <a:t>The </a:t>
            </a:r>
            <a:r>
              <a:rPr lang="en-US" sz="2400">
                <a:solidFill>
                  <a:srgbClr val="FF0000"/>
                </a:solidFill>
              </a:rPr>
              <a:t>link state packets </a:t>
            </a:r>
            <a:r>
              <a:rPr lang="en-US" sz="2400"/>
              <a:t>are </a:t>
            </a:r>
            <a:r>
              <a:rPr lang="en-US" sz="2400" b="1"/>
              <a:t>built</a:t>
            </a:r>
            <a:r>
              <a:rPr lang="en-US" sz="2400"/>
              <a:t> either at </a:t>
            </a:r>
            <a:r>
              <a:rPr lang="en-US" sz="2400">
                <a:solidFill>
                  <a:srgbClr val="00B050"/>
                </a:solidFill>
              </a:rPr>
              <a:t>regular intervals </a:t>
            </a:r>
            <a:r>
              <a:rPr lang="en-US" sz="2400"/>
              <a:t>or when </a:t>
            </a:r>
            <a:r>
              <a:rPr lang="en-US" sz="2400">
                <a:solidFill>
                  <a:srgbClr val="00B050"/>
                </a:solidFill>
              </a:rPr>
              <a:t>some significant event occurs</a:t>
            </a:r>
            <a:endParaRPr sz="2400" b="1">
              <a:solidFill>
                <a:srgbClr val="00B050"/>
              </a:solidFill>
            </a:endParaRPr>
          </a:p>
          <a:p>
            <a:pPr marL="228600" lvl="0" indent="-228600" algn="just" rtl="0">
              <a:lnSpc>
                <a:spcPct val="90000"/>
              </a:lnSpc>
              <a:spcBef>
                <a:spcPts val="1000"/>
              </a:spcBef>
              <a:spcAft>
                <a:spcPts val="0"/>
              </a:spcAft>
              <a:buClr>
                <a:schemeClr val="dk1"/>
              </a:buClr>
              <a:buSzPts val="2400"/>
              <a:buChar char="•"/>
            </a:pPr>
            <a:r>
              <a:rPr lang="en-US" sz="2400"/>
              <a:t>Once the information for the exchange has been collected, the next step is for each router to build </a:t>
            </a:r>
            <a:r>
              <a:rPr lang="en-US" sz="2400" b="1"/>
              <a:t>a packet</a:t>
            </a:r>
            <a:r>
              <a:rPr lang="en-US" sz="2400"/>
              <a:t> containing all the data.</a:t>
            </a:r>
            <a:endParaRPr/>
          </a:p>
          <a:p>
            <a:pPr marL="228600" lvl="0" indent="-50800" algn="l" rtl="0">
              <a:lnSpc>
                <a:spcPct val="90000"/>
              </a:lnSpc>
              <a:spcBef>
                <a:spcPts val="1000"/>
              </a:spcBef>
              <a:spcAft>
                <a:spcPts val="0"/>
              </a:spcAft>
              <a:buClr>
                <a:schemeClr val="dk1"/>
              </a:buClr>
              <a:buSzPts val="2800"/>
              <a:buNone/>
            </a:pPr>
            <a:endParaRPr/>
          </a:p>
        </p:txBody>
      </p:sp>
      <p:pic>
        <p:nvPicPr>
          <p:cNvPr id="376" name="Google Shape;376;p38" descr="5-13"/>
          <p:cNvPicPr preferRelativeResize="0"/>
          <p:nvPr/>
        </p:nvPicPr>
        <p:blipFill rotWithShape="1">
          <a:blip r:embed="rId3">
            <a:alphaModFix/>
          </a:blip>
          <a:srcRect/>
          <a:stretch/>
        </p:blipFill>
        <p:spPr>
          <a:xfrm>
            <a:off x="3270156" y="2927700"/>
            <a:ext cx="5801776" cy="2779472"/>
          </a:xfrm>
          <a:prstGeom prst="rect">
            <a:avLst/>
          </a:prstGeom>
          <a:noFill/>
          <a:ln>
            <a:noFill/>
          </a:ln>
        </p:spPr>
      </p:pic>
      <p:sp>
        <p:nvSpPr>
          <p:cNvPr id="377" name="Google Shape;377;p38"/>
          <p:cNvSpPr/>
          <p:nvPr/>
        </p:nvSpPr>
        <p:spPr>
          <a:xfrm>
            <a:off x="3471794" y="5654388"/>
            <a:ext cx="53985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Times New Roman"/>
                <a:ea typeface="Times New Roman"/>
                <a:cs typeface="Times New Roman"/>
                <a:sym typeface="Times New Roman"/>
              </a:rPr>
              <a:t>(</a:t>
            </a:r>
            <a:r>
              <a:rPr lang="en-US" sz="1800">
                <a:solidFill>
                  <a:schemeClr val="dk1"/>
                </a:solidFill>
                <a:latin typeface="Times New Roman"/>
                <a:ea typeface="Times New Roman"/>
                <a:cs typeface="Times New Roman"/>
                <a:sym typeface="Times New Roman"/>
              </a:rPr>
              <a:t>a) A subnet.    (b) The link state packets for this subnet.</a:t>
            </a:r>
            <a:endParaRPr sz="2400">
              <a:solidFill>
                <a:schemeClr val="dk1"/>
              </a:solidFill>
              <a:latin typeface="Meiryo"/>
              <a:ea typeface="Meiryo"/>
              <a:cs typeface="Meiryo"/>
              <a:sym typeface="Meiryo"/>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111937b53da_0_6"/>
          <p:cNvSpPr txBox="1">
            <a:spLocks noGrp="1"/>
          </p:cNvSpPr>
          <p:nvPr>
            <p:ph type="body" idx="1"/>
          </p:nvPr>
        </p:nvSpPr>
        <p:spPr>
          <a:xfrm>
            <a:off x="623007" y="124575"/>
            <a:ext cx="11015713" cy="2436000"/>
          </a:xfrm>
          <a:prstGeom prst="rect">
            <a:avLst/>
          </a:prstGeom>
        </p:spPr>
        <p:txBody>
          <a:bodyPr spcFirstLastPara="1" wrap="square" lIns="91425" tIns="45700" rIns="91425" bIns="45700" anchor="t" anchorCtr="0">
            <a:noAutofit/>
          </a:bodyPr>
          <a:lstStyle/>
          <a:p>
            <a:pPr marL="403225" lvl="0" indent="-255270" algn="just" rtl="0">
              <a:lnSpc>
                <a:spcPct val="70000"/>
              </a:lnSpc>
              <a:spcBef>
                <a:spcPts val="1000"/>
              </a:spcBef>
              <a:spcAft>
                <a:spcPts val="0"/>
              </a:spcAft>
              <a:buSzPts val="2820"/>
              <a:buChar char="•"/>
            </a:pPr>
            <a:r>
              <a:rPr lang="en-US" sz="2820" dirty="0"/>
              <a:t>An example network is presented with costs shown as labels on the lines. </a:t>
            </a:r>
            <a:endParaRPr sz="3190" dirty="0"/>
          </a:p>
          <a:p>
            <a:pPr marL="403225" lvl="0" indent="-255270" algn="just" rtl="0">
              <a:lnSpc>
                <a:spcPct val="70000"/>
              </a:lnSpc>
              <a:spcBef>
                <a:spcPts val="1000"/>
              </a:spcBef>
              <a:spcAft>
                <a:spcPts val="0"/>
              </a:spcAft>
              <a:buSzPts val="2820"/>
              <a:buChar char="•"/>
            </a:pPr>
            <a:r>
              <a:rPr lang="en-US" sz="2820" dirty="0"/>
              <a:t>The corresponding link state packets for all six routers are shown. </a:t>
            </a:r>
            <a:endParaRPr sz="3190" dirty="0"/>
          </a:p>
          <a:p>
            <a:pPr marL="403225" lvl="0" indent="-255270" algn="just" rtl="0">
              <a:lnSpc>
                <a:spcPct val="70000"/>
              </a:lnSpc>
              <a:spcBef>
                <a:spcPts val="1000"/>
              </a:spcBef>
              <a:spcAft>
                <a:spcPts val="0"/>
              </a:spcAft>
              <a:buSzPts val="2820"/>
              <a:buChar char="•"/>
            </a:pPr>
            <a:r>
              <a:rPr lang="en-US" sz="2820" dirty="0"/>
              <a:t>Building the </a:t>
            </a:r>
            <a:r>
              <a:rPr lang="en-US" sz="2820" dirty="0">
                <a:solidFill>
                  <a:srgbClr val="FF0000"/>
                </a:solidFill>
              </a:rPr>
              <a:t>link state packets </a:t>
            </a:r>
            <a:r>
              <a:rPr lang="en-US" sz="2820" dirty="0"/>
              <a:t>is easy.</a:t>
            </a:r>
            <a:endParaRPr sz="3190" dirty="0"/>
          </a:p>
          <a:p>
            <a:pPr marL="403225" lvl="0" indent="-255270" algn="just" rtl="0">
              <a:lnSpc>
                <a:spcPct val="70000"/>
              </a:lnSpc>
              <a:spcBef>
                <a:spcPts val="1000"/>
              </a:spcBef>
              <a:spcAft>
                <a:spcPts val="0"/>
              </a:spcAft>
              <a:buSzPts val="2820"/>
              <a:buChar char="•"/>
            </a:pPr>
            <a:r>
              <a:rPr lang="en-US" sz="2820" dirty="0"/>
              <a:t> The hard part is </a:t>
            </a:r>
            <a:r>
              <a:rPr lang="en-US" sz="2820" dirty="0">
                <a:solidFill>
                  <a:srgbClr val="FF0000"/>
                </a:solidFill>
              </a:rPr>
              <a:t>determining when </a:t>
            </a:r>
            <a:r>
              <a:rPr lang="en-US" sz="2820" dirty="0"/>
              <a:t>to build them. </a:t>
            </a:r>
            <a:endParaRPr sz="3190" dirty="0"/>
          </a:p>
          <a:p>
            <a:pPr marL="403225" lvl="0" indent="-255270" algn="just" rtl="0">
              <a:lnSpc>
                <a:spcPct val="70000"/>
              </a:lnSpc>
              <a:spcBef>
                <a:spcPts val="1000"/>
              </a:spcBef>
              <a:spcAft>
                <a:spcPts val="0"/>
              </a:spcAft>
              <a:buSzPts val="2820"/>
              <a:buChar char="•"/>
            </a:pPr>
            <a:r>
              <a:rPr lang="en-US" sz="2820" dirty="0"/>
              <a:t>One possibility is to build them periodically, that is, at regular intervals.</a:t>
            </a:r>
            <a:endParaRPr sz="3190" dirty="0"/>
          </a:p>
          <a:p>
            <a:pPr marL="0" lvl="0" indent="0" algn="l" rtl="0">
              <a:lnSpc>
                <a:spcPct val="70000"/>
              </a:lnSpc>
              <a:spcBef>
                <a:spcPts val="1000"/>
              </a:spcBef>
              <a:spcAft>
                <a:spcPts val="0"/>
              </a:spcAft>
              <a:buSzPts val="1018"/>
              <a:buNone/>
            </a:pPr>
            <a:endParaRPr sz="3190" dirty="0"/>
          </a:p>
        </p:txBody>
      </p:sp>
      <p:pic>
        <p:nvPicPr>
          <p:cNvPr id="383" name="Google Shape;383;g111937b53da_0_6" descr="5-13"/>
          <p:cNvPicPr preferRelativeResize="0"/>
          <p:nvPr/>
        </p:nvPicPr>
        <p:blipFill rotWithShape="1">
          <a:blip r:embed="rId3">
            <a:alphaModFix/>
          </a:blip>
          <a:srcRect/>
          <a:stretch/>
        </p:blipFill>
        <p:spPr>
          <a:xfrm>
            <a:off x="931100" y="2864950"/>
            <a:ext cx="10224350" cy="3473775"/>
          </a:xfrm>
          <a:prstGeom prst="rect">
            <a:avLst/>
          </a:prstGeom>
          <a:noFill/>
          <a:ln>
            <a:noFill/>
          </a:ln>
        </p:spPr>
      </p:pic>
      <p:sp>
        <p:nvSpPr>
          <p:cNvPr id="384" name="Google Shape;384;g111937b53da_0_6"/>
          <p:cNvSpPr/>
          <p:nvPr/>
        </p:nvSpPr>
        <p:spPr>
          <a:xfrm>
            <a:off x="2340831" y="6160626"/>
            <a:ext cx="8497200" cy="590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a:solidFill>
                  <a:schemeClr val="dk1"/>
                </a:solidFill>
                <a:latin typeface="Times New Roman"/>
                <a:ea typeface="Times New Roman"/>
                <a:cs typeface="Times New Roman"/>
                <a:sym typeface="Times New Roman"/>
              </a:rPr>
              <a:t>(</a:t>
            </a:r>
            <a:r>
              <a:rPr lang="en-US" sz="1800">
                <a:solidFill>
                  <a:schemeClr val="dk1"/>
                </a:solidFill>
                <a:latin typeface="Times New Roman"/>
                <a:ea typeface="Times New Roman"/>
                <a:cs typeface="Times New Roman"/>
                <a:sym typeface="Times New Roman"/>
              </a:rPr>
              <a:t>a) A subnet.    (b) The link state packets for this subnet.</a:t>
            </a:r>
            <a:endParaRPr sz="2400">
              <a:solidFill>
                <a:schemeClr val="dk1"/>
              </a:solidFill>
              <a:latin typeface="Meiryo"/>
              <a:ea typeface="Meiryo"/>
              <a:cs typeface="Meiryo"/>
              <a:sym typeface="Meiry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9"/>
          <p:cNvSpPr txBox="1">
            <a:spLocks noGrp="1"/>
          </p:cNvSpPr>
          <p:nvPr>
            <p:ph type="body" idx="1"/>
          </p:nvPr>
        </p:nvSpPr>
        <p:spPr>
          <a:xfrm>
            <a:off x="107575" y="94125"/>
            <a:ext cx="12084300" cy="65889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sz="2600" b="1" dirty="0"/>
              <a:t>4.Distributing Link State Packets</a:t>
            </a:r>
            <a:endParaRPr sz="2600" dirty="0"/>
          </a:p>
          <a:p>
            <a:pPr marL="349250" lvl="0" indent="-215900" algn="just" rtl="0">
              <a:lnSpc>
                <a:spcPct val="90000"/>
              </a:lnSpc>
              <a:spcBef>
                <a:spcPts val="1000"/>
              </a:spcBef>
              <a:spcAft>
                <a:spcPts val="0"/>
              </a:spcAft>
              <a:buClr>
                <a:srgbClr val="FF0000"/>
              </a:buClr>
              <a:buSzPts val="2200"/>
              <a:buChar char="•"/>
            </a:pPr>
            <a:r>
              <a:rPr lang="en-US" sz="2400" b="1" dirty="0">
                <a:solidFill>
                  <a:srgbClr val="FF0000"/>
                </a:solidFill>
                <a:latin typeface="Times New Roman" panose="02020603050405020304" pitchFamily="18" charset="0"/>
                <a:cs typeface="Times New Roman" panose="02020603050405020304" pitchFamily="18" charset="0"/>
              </a:rPr>
              <a:t>Flooding</a:t>
            </a:r>
            <a:r>
              <a:rPr lang="en-US" sz="2400" dirty="0">
                <a:latin typeface="Times New Roman" panose="02020603050405020304" pitchFamily="18" charset="0"/>
                <a:cs typeface="Times New Roman" panose="02020603050405020304" pitchFamily="18" charset="0"/>
              </a:rPr>
              <a:t> is used to distribute the link state packets.</a:t>
            </a:r>
            <a:endParaRPr sz="2400" dirty="0">
              <a:latin typeface="Times New Roman" panose="02020603050405020304" pitchFamily="18" charset="0"/>
              <a:cs typeface="Times New Roman" panose="02020603050405020304" pitchFamily="18" charset="0"/>
            </a:endParaRPr>
          </a:p>
          <a:p>
            <a:pPr marL="349250" lvl="0" indent="-215900" algn="just" rtl="0">
              <a:lnSpc>
                <a:spcPct val="90000"/>
              </a:lnSpc>
              <a:spcBef>
                <a:spcPts val="1000"/>
              </a:spcBef>
              <a:spcAft>
                <a:spcPts val="0"/>
              </a:spcAft>
              <a:buClr>
                <a:schemeClr val="dk1"/>
              </a:buClr>
              <a:buSzPts val="2200"/>
              <a:buChar char="•"/>
            </a:pPr>
            <a:r>
              <a:rPr lang="en-US" sz="2400" dirty="0">
                <a:latin typeface="Times New Roman" panose="02020603050405020304" pitchFamily="18" charset="0"/>
                <a:cs typeface="Times New Roman" panose="02020603050405020304" pitchFamily="18" charset="0"/>
              </a:rPr>
              <a:t> To keep the flood in check, each packet contains a </a:t>
            </a:r>
            <a:r>
              <a:rPr lang="en-US" sz="2400" dirty="0">
                <a:solidFill>
                  <a:srgbClr val="FF0000"/>
                </a:solidFill>
                <a:latin typeface="Times New Roman" panose="02020603050405020304" pitchFamily="18" charset="0"/>
                <a:cs typeface="Times New Roman" panose="02020603050405020304" pitchFamily="18" charset="0"/>
              </a:rPr>
              <a:t>sequence number </a:t>
            </a:r>
            <a:r>
              <a:rPr lang="en-US" sz="2400" dirty="0">
                <a:latin typeface="Times New Roman" panose="02020603050405020304" pitchFamily="18" charset="0"/>
                <a:cs typeface="Times New Roman" panose="02020603050405020304" pitchFamily="18" charset="0"/>
              </a:rPr>
              <a:t>that is incremented for each new packet sent. </a:t>
            </a:r>
            <a:endParaRPr sz="2400" dirty="0">
              <a:latin typeface="Times New Roman" panose="02020603050405020304" pitchFamily="18" charset="0"/>
              <a:cs typeface="Times New Roman" panose="02020603050405020304" pitchFamily="18" charset="0"/>
            </a:endParaRPr>
          </a:p>
          <a:p>
            <a:pPr marL="349250" lvl="0" indent="-215900" algn="just" rtl="0">
              <a:lnSpc>
                <a:spcPct val="90000"/>
              </a:lnSpc>
              <a:spcBef>
                <a:spcPts val="1000"/>
              </a:spcBef>
              <a:spcAft>
                <a:spcPts val="0"/>
              </a:spcAft>
              <a:buClr>
                <a:schemeClr val="dk1"/>
              </a:buClr>
              <a:buSzPts val="2200"/>
              <a:buChar char="•"/>
            </a:pPr>
            <a:r>
              <a:rPr lang="en-US" sz="2400" dirty="0">
                <a:latin typeface="Times New Roman" panose="02020603050405020304" pitchFamily="18" charset="0"/>
                <a:cs typeface="Times New Roman" panose="02020603050405020304" pitchFamily="18" charset="0"/>
              </a:rPr>
              <a:t>Routers keep track of all the (source router, sequence) pairs they see.</a:t>
            </a:r>
            <a:endParaRPr sz="2400" dirty="0">
              <a:latin typeface="Times New Roman" panose="02020603050405020304" pitchFamily="18" charset="0"/>
              <a:cs typeface="Times New Roman" panose="02020603050405020304" pitchFamily="18" charset="0"/>
            </a:endParaRPr>
          </a:p>
          <a:p>
            <a:pPr marL="349250" lvl="0" indent="-215900" algn="just" rtl="0">
              <a:lnSpc>
                <a:spcPct val="90000"/>
              </a:lnSpc>
              <a:spcBef>
                <a:spcPts val="1000"/>
              </a:spcBef>
              <a:spcAft>
                <a:spcPts val="0"/>
              </a:spcAft>
              <a:buClr>
                <a:schemeClr val="dk1"/>
              </a:buClr>
              <a:buSzPts val="2200"/>
              <a:buChar char="•"/>
            </a:pP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When a new link state packet comes </a:t>
            </a:r>
            <a:r>
              <a:rPr lang="en-US" sz="2400" dirty="0">
                <a:latin typeface="Times New Roman" panose="02020603050405020304" pitchFamily="18" charset="0"/>
                <a:cs typeface="Times New Roman" panose="02020603050405020304" pitchFamily="18" charset="0"/>
              </a:rPr>
              <a:t>in, it is </a:t>
            </a:r>
            <a:r>
              <a:rPr lang="en-US" sz="2400" dirty="0">
                <a:solidFill>
                  <a:srgbClr val="FF0000"/>
                </a:solidFill>
                <a:latin typeface="Times New Roman" panose="02020603050405020304" pitchFamily="18" charset="0"/>
                <a:cs typeface="Times New Roman" panose="02020603050405020304" pitchFamily="18" charset="0"/>
              </a:rPr>
              <a:t>checked against the list of packets already seen</a:t>
            </a:r>
            <a:r>
              <a:rPr lang="en-US" sz="240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a:p>
            <a:pPr marL="349250" lvl="0" indent="-215900" algn="just" rtl="0">
              <a:lnSpc>
                <a:spcPct val="90000"/>
              </a:lnSpc>
              <a:spcBef>
                <a:spcPts val="1000"/>
              </a:spcBef>
              <a:spcAft>
                <a:spcPts val="0"/>
              </a:spcAft>
              <a:buClr>
                <a:schemeClr val="dk1"/>
              </a:buClr>
              <a:buSzPts val="2200"/>
              <a:buChar char="•"/>
            </a:pPr>
            <a:r>
              <a:rPr lang="en-US" sz="2400" dirty="0">
                <a:latin typeface="Times New Roman" panose="02020603050405020304" pitchFamily="18" charset="0"/>
                <a:cs typeface="Times New Roman" panose="02020603050405020304" pitchFamily="18" charset="0"/>
              </a:rPr>
              <a:t>If </a:t>
            </a:r>
            <a:r>
              <a:rPr lang="en-US" sz="2400" b="1" dirty="0">
                <a:latin typeface="Times New Roman" panose="02020603050405020304" pitchFamily="18" charset="0"/>
                <a:cs typeface="Times New Roman" panose="02020603050405020304" pitchFamily="18" charset="0"/>
              </a:rPr>
              <a:t>it is new</a:t>
            </a:r>
            <a:r>
              <a:rPr lang="en-US" sz="2400" dirty="0">
                <a:latin typeface="Times New Roman" panose="02020603050405020304" pitchFamily="18" charset="0"/>
                <a:cs typeface="Times New Roman" panose="02020603050405020304" pitchFamily="18" charset="0"/>
              </a:rPr>
              <a:t>, it is </a:t>
            </a:r>
            <a:r>
              <a:rPr lang="en-US" sz="2400" dirty="0">
                <a:solidFill>
                  <a:srgbClr val="FF0000"/>
                </a:solidFill>
                <a:latin typeface="Times New Roman" panose="02020603050405020304" pitchFamily="18" charset="0"/>
                <a:cs typeface="Times New Roman" panose="02020603050405020304" pitchFamily="18" charset="0"/>
              </a:rPr>
              <a:t>forwarded</a:t>
            </a:r>
            <a:r>
              <a:rPr lang="en-US" sz="2400" dirty="0">
                <a:latin typeface="Times New Roman" panose="02020603050405020304" pitchFamily="18" charset="0"/>
                <a:cs typeface="Times New Roman" panose="02020603050405020304" pitchFamily="18" charset="0"/>
              </a:rPr>
              <a:t> on all lines except the one it arrived on. </a:t>
            </a:r>
            <a:endParaRPr sz="2400" dirty="0">
              <a:latin typeface="Times New Roman" panose="02020603050405020304" pitchFamily="18" charset="0"/>
              <a:cs typeface="Times New Roman" panose="02020603050405020304" pitchFamily="18" charset="0"/>
            </a:endParaRPr>
          </a:p>
          <a:p>
            <a:pPr marL="349250" lvl="0" indent="-228600" algn="just" rtl="0">
              <a:lnSpc>
                <a:spcPct val="90000"/>
              </a:lnSpc>
              <a:spcBef>
                <a:spcPts val="1000"/>
              </a:spcBef>
              <a:spcAft>
                <a:spcPts val="0"/>
              </a:spcAft>
              <a:buClr>
                <a:schemeClr val="dk1"/>
              </a:buClr>
              <a:buSzPts val="2400"/>
              <a:buChar char="•"/>
            </a:pPr>
            <a:r>
              <a:rPr lang="en-US" sz="2400" dirty="0">
                <a:latin typeface="Times New Roman" panose="02020603050405020304" pitchFamily="18" charset="0"/>
                <a:cs typeface="Times New Roman" panose="02020603050405020304" pitchFamily="18" charset="0"/>
              </a:rPr>
              <a:t>If it is a</a:t>
            </a:r>
            <a:r>
              <a:rPr lang="en-US" sz="2400" b="1" dirty="0">
                <a:latin typeface="Times New Roman" panose="02020603050405020304" pitchFamily="18" charset="0"/>
                <a:cs typeface="Times New Roman" panose="02020603050405020304" pitchFamily="18" charset="0"/>
              </a:rPr>
              <a:t> duplicate</a:t>
            </a:r>
            <a:r>
              <a:rPr lang="en-US" sz="2400" dirty="0">
                <a:latin typeface="Times New Roman" panose="02020603050405020304" pitchFamily="18" charset="0"/>
                <a:cs typeface="Times New Roman" panose="02020603050405020304" pitchFamily="18" charset="0"/>
              </a:rPr>
              <a:t>, it is </a:t>
            </a:r>
            <a:r>
              <a:rPr lang="en-US" sz="2400" dirty="0">
                <a:solidFill>
                  <a:srgbClr val="FF0000"/>
                </a:solidFill>
                <a:latin typeface="Times New Roman" panose="02020603050405020304" pitchFamily="18" charset="0"/>
                <a:cs typeface="Times New Roman" panose="02020603050405020304" pitchFamily="18" charset="0"/>
              </a:rPr>
              <a:t>discarded</a:t>
            </a:r>
            <a:r>
              <a:rPr lang="en-US" sz="240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a:p>
            <a:pPr marL="346075" lvl="0" indent="-234950" algn="just" rtl="0">
              <a:lnSpc>
                <a:spcPct val="90000"/>
              </a:lnSpc>
              <a:spcBef>
                <a:spcPts val="1000"/>
              </a:spcBef>
              <a:spcAft>
                <a:spcPts val="0"/>
              </a:spcAft>
              <a:buClr>
                <a:schemeClr val="dk1"/>
              </a:buClr>
              <a:buSzPts val="2400"/>
              <a:buChar char="•"/>
            </a:pPr>
            <a:r>
              <a:rPr lang="en-US" sz="2400" dirty="0">
                <a:latin typeface="Times New Roman" panose="02020603050405020304" pitchFamily="18" charset="0"/>
                <a:cs typeface="Times New Roman" panose="02020603050405020304" pitchFamily="18" charset="0"/>
              </a:rPr>
              <a:t>If a packet with a </a:t>
            </a:r>
            <a:r>
              <a:rPr lang="en-US" sz="2400" b="1" dirty="0">
                <a:latin typeface="Times New Roman" panose="02020603050405020304" pitchFamily="18" charset="0"/>
                <a:cs typeface="Times New Roman" panose="02020603050405020304" pitchFamily="18" charset="0"/>
              </a:rPr>
              <a:t>sequence number lower than the highest one </a:t>
            </a:r>
            <a:r>
              <a:rPr lang="en-US" sz="2400" dirty="0">
                <a:latin typeface="Times New Roman" panose="02020603050405020304" pitchFamily="18" charset="0"/>
                <a:cs typeface="Times New Roman" panose="02020603050405020304" pitchFamily="18" charset="0"/>
              </a:rPr>
              <a:t>seen so far ever arrives, it is </a:t>
            </a:r>
            <a:r>
              <a:rPr lang="en-US" sz="2400" dirty="0">
                <a:solidFill>
                  <a:srgbClr val="FF0000"/>
                </a:solidFill>
                <a:latin typeface="Times New Roman" panose="02020603050405020304" pitchFamily="18" charset="0"/>
                <a:cs typeface="Times New Roman" panose="02020603050405020304" pitchFamily="18" charset="0"/>
              </a:rPr>
              <a:t>rejected</a:t>
            </a:r>
            <a:r>
              <a:rPr lang="en-US" sz="2400" dirty="0">
                <a:latin typeface="Times New Roman" panose="02020603050405020304" pitchFamily="18" charset="0"/>
                <a:cs typeface="Times New Roman" panose="02020603050405020304" pitchFamily="18" charset="0"/>
              </a:rPr>
              <a:t> since the router has more recent data. </a:t>
            </a:r>
            <a:endParaRPr sz="2400" b="1" dirty="0">
              <a:latin typeface="Times New Roman" panose="02020603050405020304" pitchFamily="18" charset="0"/>
              <a:cs typeface="Times New Roman" panose="02020603050405020304" pitchFamily="18" charset="0"/>
            </a:endParaRPr>
          </a:p>
          <a:p>
            <a:pPr marL="228600" lvl="0" indent="-50800" algn="l" rtl="0">
              <a:lnSpc>
                <a:spcPct val="90000"/>
              </a:lnSpc>
              <a:spcBef>
                <a:spcPts val="1000"/>
              </a:spcBef>
              <a:spcAft>
                <a:spcPts val="0"/>
              </a:spcAft>
              <a:buClr>
                <a:schemeClr val="dk1"/>
              </a:buClr>
              <a:buSzPts val="2800"/>
              <a:buNone/>
            </a:pPr>
            <a:endParaRPr sz="2600" dirty="0"/>
          </a:p>
        </p:txBody>
      </p:sp>
      <p:pic>
        <p:nvPicPr>
          <p:cNvPr id="390" name="Google Shape;390;p39"/>
          <p:cNvPicPr preferRelativeResize="0"/>
          <p:nvPr/>
        </p:nvPicPr>
        <p:blipFill rotWithShape="1">
          <a:blip r:embed="rId3">
            <a:alphaModFix/>
          </a:blip>
          <a:srcRect/>
          <a:stretch/>
        </p:blipFill>
        <p:spPr>
          <a:xfrm>
            <a:off x="1355425" y="4333250"/>
            <a:ext cx="9083776" cy="24531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9A3884-2DFD-449D-A6D3-DB0B48C74B5F}"/>
              </a:ext>
            </a:extLst>
          </p:cNvPr>
          <p:cNvSpPr>
            <a:spLocks noGrp="1"/>
          </p:cNvSpPr>
          <p:nvPr>
            <p:ph type="title"/>
          </p:nvPr>
        </p:nvSpPr>
        <p:spPr/>
        <p:txBody>
          <a:bodyPr/>
          <a:lstStyle/>
          <a:p>
            <a:r>
              <a:rPr lang="en-IN" dirty="0"/>
              <a:t> </a:t>
            </a:r>
          </a:p>
        </p:txBody>
      </p:sp>
      <p:sp>
        <p:nvSpPr>
          <p:cNvPr id="3" name="Text Placeholder 2">
            <a:extLst>
              <a:ext uri="{FF2B5EF4-FFF2-40B4-BE49-F238E27FC236}">
                <a16:creationId xmlns:a16="http://schemas.microsoft.com/office/drawing/2014/main" xmlns="" id="{A05BFB65-8CEF-42D5-B134-1881BB0F5D92}"/>
              </a:ext>
            </a:extLst>
          </p:cNvPr>
          <p:cNvSpPr>
            <a:spLocks noGrp="1"/>
          </p:cNvSpPr>
          <p:nvPr>
            <p:ph type="body" idx="1"/>
          </p:nvPr>
        </p:nvSpPr>
        <p:spPr>
          <a:xfrm>
            <a:off x="838200" y="467139"/>
            <a:ext cx="10515600" cy="5709824"/>
          </a:xfrm>
        </p:spPr>
        <p:txBody>
          <a:bodyPr>
            <a:normAutofit fontScale="92500" lnSpcReduction="10000"/>
          </a:bodyPr>
          <a:lstStyle/>
          <a:p>
            <a:pPr lvl="1" algn="just">
              <a:lnSpc>
                <a:spcPct val="110000"/>
              </a:lnSpc>
              <a:buFont typeface="Wingdings" pitchFamily="2" charset="2"/>
              <a:buChar char="v"/>
            </a:pPr>
            <a:r>
              <a:rPr lang="en-US" sz="2500" dirty="0">
                <a:latin typeface="Times New Roman" panose="02020603050405020304" pitchFamily="18" charset="0"/>
                <a:cs typeface="Times New Roman" panose="02020603050405020304" pitchFamily="18" charset="0"/>
              </a:rPr>
              <a:t>This algorithm has a few problems, but they are manageable </a:t>
            </a:r>
          </a:p>
          <a:p>
            <a:pPr marL="893763" lvl="2" indent="-268288" algn="just">
              <a:lnSpc>
                <a:spcPct val="110000"/>
              </a:lnSpc>
              <a:buFont typeface="Wingdings" pitchFamily="2" charset="2"/>
              <a:buChar char="v"/>
              <a:tabLst>
                <a:tab pos="893763" algn="l"/>
              </a:tabLst>
            </a:pPr>
            <a:r>
              <a:rPr lang="en-US" sz="2500" b="1" dirty="0">
                <a:latin typeface="Times New Roman" panose="02020603050405020304" pitchFamily="18" charset="0"/>
                <a:cs typeface="Times New Roman" panose="02020603050405020304" pitchFamily="18" charset="0"/>
              </a:rPr>
              <a:t>Problem 1:</a:t>
            </a:r>
            <a:r>
              <a:rPr lang="en-US" sz="2500" dirty="0">
                <a:latin typeface="Times New Roman" panose="02020603050405020304" pitchFamily="18" charset="0"/>
                <a:cs typeface="Times New Roman" panose="02020603050405020304" pitchFamily="18" charset="0"/>
              </a:rPr>
              <a:t> if the sequence numbers wrap around, confusion will happen. </a:t>
            </a:r>
          </a:p>
          <a:p>
            <a:pPr lvl="2" algn="just">
              <a:lnSpc>
                <a:spcPct val="110000"/>
              </a:lnSpc>
              <a:buFont typeface="Wingdings" pitchFamily="2" charset="2"/>
              <a:buChar char="v"/>
            </a:pPr>
            <a:r>
              <a:rPr lang="en-US" sz="2500" dirty="0">
                <a:latin typeface="Times New Roman" panose="02020603050405020304" pitchFamily="18" charset="0"/>
                <a:cs typeface="Times New Roman" panose="02020603050405020304" pitchFamily="18" charset="0"/>
              </a:rPr>
              <a:t>solution is to use a 32-bit sequence number. </a:t>
            </a:r>
          </a:p>
          <a:p>
            <a:pPr lvl="2" algn="just">
              <a:lnSpc>
                <a:spcPct val="110000"/>
              </a:lnSpc>
              <a:buFont typeface="Wingdings" pitchFamily="2" charset="2"/>
              <a:buChar char="v"/>
            </a:pPr>
            <a:r>
              <a:rPr lang="en-US" sz="2500" dirty="0">
                <a:latin typeface="Times New Roman" panose="02020603050405020304" pitchFamily="18" charset="0"/>
                <a:cs typeface="Times New Roman" panose="02020603050405020304" pitchFamily="18" charset="0"/>
              </a:rPr>
              <a:t>With one link state packet per second, it would take 137 years to wrap around, so this possibility can be ignored. </a:t>
            </a:r>
          </a:p>
          <a:p>
            <a:pPr lvl="1" algn="just">
              <a:lnSpc>
                <a:spcPct val="110000"/>
              </a:lnSpc>
              <a:buFont typeface="Wingdings" pitchFamily="2" charset="2"/>
              <a:buChar char="v"/>
            </a:pPr>
            <a:r>
              <a:rPr lang="en-US" sz="2500" b="1" dirty="0">
                <a:latin typeface="Times New Roman" panose="02020603050405020304" pitchFamily="18" charset="0"/>
                <a:cs typeface="Times New Roman" panose="02020603050405020304" pitchFamily="18" charset="0"/>
              </a:rPr>
              <a:t>Problem 2:</a:t>
            </a:r>
            <a:r>
              <a:rPr lang="en-US" sz="2500" dirty="0">
                <a:latin typeface="Times New Roman" panose="02020603050405020304" pitchFamily="18" charset="0"/>
                <a:cs typeface="Times New Roman" panose="02020603050405020304" pitchFamily="18" charset="0"/>
              </a:rPr>
              <a:t> if a router ever crashes, it will lose track of its sequence number. </a:t>
            </a:r>
          </a:p>
          <a:p>
            <a:pPr lvl="2" algn="just">
              <a:lnSpc>
                <a:spcPct val="110000"/>
              </a:lnSpc>
              <a:buFont typeface="Wingdings" pitchFamily="2" charset="2"/>
              <a:buChar char="v"/>
            </a:pPr>
            <a:r>
              <a:rPr lang="en-US" sz="2500" dirty="0">
                <a:latin typeface="Times New Roman" panose="02020603050405020304" pitchFamily="18" charset="0"/>
                <a:cs typeface="Times New Roman" panose="02020603050405020304" pitchFamily="18" charset="0"/>
              </a:rPr>
              <a:t>If it starts again at 0, the next packet will be rejected as a duplicate </a:t>
            </a:r>
          </a:p>
          <a:p>
            <a:pPr lvl="1" algn="just">
              <a:lnSpc>
                <a:spcPct val="110000"/>
              </a:lnSpc>
              <a:buFont typeface="Wingdings" pitchFamily="2" charset="2"/>
              <a:buChar char="v"/>
            </a:pPr>
            <a:r>
              <a:rPr lang="en-US" sz="2500" b="1" dirty="0">
                <a:latin typeface="Times New Roman" panose="02020603050405020304" pitchFamily="18" charset="0"/>
                <a:cs typeface="Times New Roman" panose="02020603050405020304" pitchFamily="18" charset="0"/>
              </a:rPr>
              <a:t>Problem 3: </a:t>
            </a:r>
            <a:r>
              <a:rPr lang="en-US" sz="2500" dirty="0">
                <a:latin typeface="Times New Roman" panose="02020603050405020304" pitchFamily="18" charset="0"/>
                <a:cs typeface="Times New Roman" panose="02020603050405020304" pitchFamily="18" charset="0"/>
              </a:rPr>
              <a:t>if a sequence number is ever corrupted and 65,540 (</a:t>
            </a:r>
            <a:r>
              <a:rPr lang="en-US" sz="2500" b="1" dirty="0">
                <a:latin typeface="Times New Roman" panose="02020603050405020304" pitchFamily="18" charset="0"/>
                <a:cs typeface="Times New Roman" panose="02020603050405020304" pitchFamily="18" charset="0"/>
              </a:rPr>
              <a:t>1000 0000 0000 0100</a:t>
            </a:r>
            <a:r>
              <a:rPr lang="en-US" sz="2500" dirty="0">
                <a:latin typeface="Times New Roman" panose="02020603050405020304" pitchFamily="18" charset="0"/>
                <a:cs typeface="Times New Roman" panose="02020603050405020304" pitchFamily="18" charset="0"/>
              </a:rPr>
              <a:t>) is received instead of 4 (</a:t>
            </a:r>
            <a:r>
              <a:rPr lang="en-US" sz="2500" b="1" dirty="0">
                <a:latin typeface="Times New Roman" panose="02020603050405020304" pitchFamily="18" charset="0"/>
                <a:cs typeface="Times New Roman" panose="02020603050405020304" pitchFamily="18" charset="0"/>
              </a:rPr>
              <a:t>0000 0000 0000 0100</a:t>
            </a:r>
            <a:r>
              <a:rPr lang="en-US" sz="2500" dirty="0">
                <a:latin typeface="Times New Roman" panose="02020603050405020304" pitchFamily="18" charset="0"/>
                <a:cs typeface="Times New Roman" panose="02020603050405020304" pitchFamily="18" charset="0"/>
              </a:rPr>
              <a:t>) (a </a:t>
            </a:r>
            <a:r>
              <a:rPr lang="en-US" sz="2500" b="1" dirty="0">
                <a:latin typeface="Times New Roman" panose="02020603050405020304" pitchFamily="18" charset="0"/>
                <a:cs typeface="Times New Roman" panose="02020603050405020304" pitchFamily="18" charset="0"/>
              </a:rPr>
              <a:t>1-bit error</a:t>
            </a:r>
            <a:r>
              <a:rPr lang="en-US" sz="2500" dirty="0">
                <a:latin typeface="Times New Roman" panose="02020603050405020304" pitchFamily="18" charset="0"/>
                <a:cs typeface="Times New Roman" panose="02020603050405020304" pitchFamily="18" charset="0"/>
              </a:rPr>
              <a:t>), packets 5 through 65,540 will be rejected as obsolete, since the current sequence number is thought to be 65,540. </a:t>
            </a:r>
          </a:p>
          <a:p>
            <a:pPr lvl="1" algn="just">
              <a:lnSpc>
                <a:spcPct val="110000"/>
              </a:lnSpc>
              <a:buFont typeface="Wingdings" pitchFamily="2" charset="2"/>
              <a:buChar char="v"/>
            </a:pPr>
            <a:r>
              <a:rPr lang="en-US" sz="2500" b="1" dirty="0">
                <a:latin typeface="Times New Roman" panose="02020603050405020304" pitchFamily="18" charset="0"/>
                <a:cs typeface="Times New Roman" panose="02020603050405020304" pitchFamily="18" charset="0"/>
              </a:rPr>
              <a:t>Solution to all these problems </a:t>
            </a:r>
            <a:r>
              <a:rPr lang="en-US" sz="2500" dirty="0">
                <a:latin typeface="Times New Roman" panose="02020603050405020304" pitchFamily="18" charset="0"/>
                <a:cs typeface="Times New Roman" panose="02020603050405020304" pitchFamily="18" charset="0"/>
              </a:rPr>
              <a:t>is to include the </a:t>
            </a:r>
            <a:r>
              <a:rPr lang="en-US" sz="2500" b="1" dirty="0">
                <a:latin typeface="Times New Roman" panose="02020603050405020304" pitchFamily="18" charset="0"/>
                <a:cs typeface="Times New Roman" panose="02020603050405020304" pitchFamily="18" charset="0"/>
              </a:rPr>
              <a:t>age of each packet after the sequence number and decrement it once per second. </a:t>
            </a:r>
          </a:p>
          <a:p>
            <a:pPr lvl="1" algn="just">
              <a:lnSpc>
                <a:spcPct val="110000"/>
              </a:lnSpc>
              <a:buFont typeface="Wingdings" pitchFamily="2" charset="2"/>
              <a:buChar char="v"/>
            </a:pPr>
            <a:r>
              <a:rPr lang="en-US" sz="2500" dirty="0">
                <a:latin typeface="Times New Roman" panose="02020603050405020304" pitchFamily="18" charset="0"/>
                <a:cs typeface="Times New Roman" panose="02020603050405020304" pitchFamily="18" charset="0"/>
              </a:rPr>
              <a:t>When the age hits zero, the information from that router is discarded.</a:t>
            </a:r>
          </a:p>
          <a:p>
            <a:pPr lvl="2" algn="just">
              <a:buFont typeface="Wingdings" pitchFamily="2" charset="2"/>
              <a:buChar char="v"/>
            </a:pPr>
            <a:endParaRPr lang="en-US" dirty="0"/>
          </a:p>
          <a:p>
            <a:endParaRPr lang="en-IN" dirty="0"/>
          </a:p>
        </p:txBody>
      </p:sp>
    </p:spTree>
    <p:extLst>
      <p:ext uri="{BB962C8B-B14F-4D97-AF65-F5344CB8AC3E}">
        <p14:creationId xmlns:p14="http://schemas.microsoft.com/office/powerpoint/2010/main" val="13417379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111937b53da_0_13"/>
          <p:cNvSpPr txBox="1">
            <a:spLocks noGrp="1"/>
          </p:cNvSpPr>
          <p:nvPr>
            <p:ph type="body" idx="1"/>
          </p:nvPr>
        </p:nvSpPr>
        <p:spPr>
          <a:xfrm>
            <a:off x="641250" y="590100"/>
            <a:ext cx="10515600" cy="4351200"/>
          </a:xfrm>
          <a:prstGeom prst="rect">
            <a:avLst/>
          </a:prstGeom>
        </p:spPr>
        <p:txBody>
          <a:bodyPr spcFirstLastPara="1" wrap="square" lIns="91425" tIns="45700" rIns="91425" bIns="45700" anchor="t" anchorCtr="0">
            <a:noAutofit/>
          </a:bodyPr>
          <a:lstStyle/>
          <a:p>
            <a:pPr marL="568325" lvl="0" indent="-222250" algn="just" rtl="0">
              <a:lnSpc>
                <a:spcPct val="100000"/>
              </a:lnSpc>
              <a:spcBef>
                <a:spcPts val="1000"/>
              </a:spcBef>
              <a:spcAft>
                <a:spcPts val="0"/>
              </a:spcAft>
              <a:buClr>
                <a:schemeClr val="dk1"/>
              </a:buClr>
              <a:buSzPts val="2800"/>
              <a:buFont typeface="Arial"/>
              <a:buNone/>
            </a:pPr>
            <a:r>
              <a:rPr lang="en-US" sz="2600" b="1" dirty="0">
                <a:latin typeface="Times New Roman" panose="02020603050405020304" pitchFamily="18" charset="0"/>
                <a:cs typeface="Times New Roman" panose="02020603050405020304" pitchFamily="18" charset="0"/>
              </a:rPr>
              <a:t>5.Computing the New Routes</a:t>
            </a:r>
            <a:endParaRPr sz="2600" dirty="0">
              <a:latin typeface="Times New Roman" panose="02020603050405020304" pitchFamily="18" charset="0"/>
              <a:cs typeface="Times New Roman" panose="02020603050405020304" pitchFamily="18" charset="0"/>
            </a:endParaRPr>
          </a:p>
          <a:p>
            <a:pPr marL="568325" lvl="0" indent="-222250" algn="just" rtl="0">
              <a:lnSpc>
                <a:spcPct val="100000"/>
              </a:lnSpc>
              <a:spcBef>
                <a:spcPts val="1000"/>
              </a:spcBef>
              <a:spcAft>
                <a:spcPts val="0"/>
              </a:spcAft>
              <a:buSzPts val="2400"/>
              <a:buChar char="•"/>
            </a:pPr>
            <a:r>
              <a:rPr lang="en-US" sz="2600" dirty="0">
                <a:latin typeface="Times New Roman" panose="02020603050405020304" pitchFamily="18" charset="0"/>
                <a:cs typeface="Times New Roman" panose="02020603050405020304" pitchFamily="18" charset="0"/>
              </a:rPr>
              <a:t>With all routers having full set of </a:t>
            </a:r>
            <a:r>
              <a:rPr lang="en-US" sz="2600" b="1" dirty="0">
                <a:latin typeface="Times New Roman" panose="02020603050405020304" pitchFamily="18" charset="0"/>
                <a:cs typeface="Times New Roman" panose="02020603050405020304" pitchFamily="18" charset="0"/>
              </a:rPr>
              <a:t>link state packets,</a:t>
            </a:r>
            <a:r>
              <a:rPr lang="en-US" sz="2600" dirty="0">
                <a:latin typeface="Times New Roman" panose="02020603050405020304" pitchFamily="18" charset="0"/>
                <a:cs typeface="Times New Roman" panose="02020603050405020304" pitchFamily="18" charset="0"/>
              </a:rPr>
              <a:t> it can </a:t>
            </a:r>
            <a:r>
              <a:rPr lang="en-US" sz="2600" dirty="0">
                <a:solidFill>
                  <a:srgbClr val="FF0000"/>
                </a:solidFill>
                <a:latin typeface="Times New Roman" panose="02020603050405020304" pitchFamily="18" charset="0"/>
                <a:cs typeface="Times New Roman" panose="02020603050405020304" pitchFamily="18" charset="0"/>
              </a:rPr>
              <a:t>construct the entire subnet graph.</a:t>
            </a:r>
            <a:endParaRPr sz="2600" dirty="0">
              <a:latin typeface="Times New Roman" panose="02020603050405020304" pitchFamily="18" charset="0"/>
              <a:cs typeface="Times New Roman" panose="02020603050405020304" pitchFamily="18" charset="0"/>
            </a:endParaRPr>
          </a:p>
          <a:p>
            <a:pPr marL="568325" lvl="0" indent="-222250" algn="just" rtl="0">
              <a:lnSpc>
                <a:spcPct val="100000"/>
              </a:lnSpc>
              <a:spcBef>
                <a:spcPts val="1000"/>
              </a:spcBef>
              <a:spcAft>
                <a:spcPts val="0"/>
              </a:spcAft>
              <a:buSzPts val="2400"/>
              <a:buChar char="•"/>
            </a:pPr>
            <a:r>
              <a:rPr lang="en-US" sz="2600" dirty="0">
                <a:latin typeface="Times New Roman" panose="02020603050405020304" pitchFamily="18" charset="0"/>
                <a:cs typeface="Times New Roman" panose="02020603050405020304" pitchFamily="18" charset="0"/>
              </a:rPr>
              <a:t>It is run locally to construct shortest path to all possible destinations. </a:t>
            </a:r>
          </a:p>
          <a:p>
            <a:pPr lvl="1" algn="just">
              <a:lnSpc>
                <a:spcPct val="100000"/>
              </a:lnSpc>
              <a:buFont typeface="Wingdings" pitchFamily="2" charset="2"/>
              <a:buChar char="v"/>
            </a:pPr>
            <a:r>
              <a:rPr lang="en-US" sz="2600" dirty="0">
                <a:solidFill>
                  <a:srgbClr val="FF0000"/>
                </a:solidFill>
                <a:latin typeface="Times New Roman" panose="02020603050405020304" pitchFamily="18" charset="0"/>
                <a:cs typeface="Times New Roman" panose="02020603050405020304" pitchFamily="18" charset="0"/>
              </a:rPr>
              <a:t>Dijkstra's algorithm can be run locally </a:t>
            </a:r>
            <a:r>
              <a:rPr lang="en-US" sz="2600" dirty="0">
                <a:latin typeface="Times New Roman" panose="02020603050405020304" pitchFamily="18" charset="0"/>
                <a:cs typeface="Times New Roman" panose="02020603050405020304" pitchFamily="18" charset="0"/>
              </a:rPr>
              <a:t>to construct the shortest path to all possible destinations. </a:t>
            </a:r>
          </a:p>
          <a:p>
            <a:pPr lvl="1" algn="just">
              <a:lnSpc>
                <a:spcPct val="100000"/>
              </a:lnSpc>
              <a:buFont typeface="Wingdings" pitchFamily="2" charset="2"/>
              <a:buChar char="v"/>
            </a:pPr>
            <a:r>
              <a:rPr lang="en-US" sz="2600" dirty="0">
                <a:latin typeface="Times New Roman" panose="02020603050405020304" pitchFamily="18" charset="0"/>
                <a:cs typeface="Times New Roman" panose="02020603050405020304" pitchFamily="18" charset="0"/>
              </a:rPr>
              <a:t>The results of this algorithm can be installed in the routing tables, and normal operation resumed.</a:t>
            </a:r>
          </a:p>
          <a:p>
            <a:pPr marL="568325" lvl="0" indent="-222250" algn="just" rtl="0">
              <a:lnSpc>
                <a:spcPct val="100000"/>
              </a:lnSpc>
              <a:spcBef>
                <a:spcPts val="1000"/>
              </a:spcBef>
              <a:spcAft>
                <a:spcPts val="0"/>
              </a:spcAft>
              <a:buSzPts val="2400"/>
              <a:buChar char="•"/>
            </a:pPr>
            <a:r>
              <a:rPr lang="en-US" sz="2600" dirty="0">
                <a:latin typeface="Times New Roman" panose="02020603050405020304" pitchFamily="18" charset="0"/>
                <a:cs typeface="Times New Roman" panose="02020603050405020304" pitchFamily="18" charset="0"/>
              </a:rPr>
              <a:t>For a subnet </a:t>
            </a:r>
            <a:r>
              <a:rPr lang="en-US" sz="2600" b="1" dirty="0">
                <a:latin typeface="Times New Roman" panose="02020603050405020304" pitchFamily="18" charset="0"/>
                <a:cs typeface="Times New Roman" panose="02020603050405020304" pitchFamily="18" charset="0"/>
              </a:rPr>
              <a:t>with n routers</a:t>
            </a:r>
            <a:r>
              <a:rPr lang="en-US" sz="2600" dirty="0">
                <a:latin typeface="Times New Roman" panose="02020603050405020304" pitchFamily="18" charset="0"/>
                <a:cs typeface="Times New Roman" panose="02020603050405020304" pitchFamily="18" charset="0"/>
              </a:rPr>
              <a:t>, each of which has </a:t>
            </a:r>
            <a:r>
              <a:rPr lang="en-US" sz="2600" b="1" dirty="0">
                <a:latin typeface="Times New Roman" panose="02020603050405020304" pitchFamily="18" charset="0"/>
                <a:cs typeface="Times New Roman" panose="02020603050405020304" pitchFamily="18" charset="0"/>
              </a:rPr>
              <a:t>k neighbors</a:t>
            </a:r>
            <a:r>
              <a:rPr lang="en-US" sz="2600" dirty="0">
                <a:latin typeface="Times New Roman" panose="02020603050405020304" pitchFamily="18" charset="0"/>
                <a:cs typeface="Times New Roman" panose="02020603050405020304" pitchFamily="18" charset="0"/>
              </a:rPr>
              <a:t>, the </a:t>
            </a:r>
            <a:r>
              <a:rPr lang="en-US" sz="2600" b="1" dirty="0">
                <a:solidFill>
                  <a:srgbClr val="FF0000"/>
                </a:solidFill>
                <a:latin typeface="Times New Roman" panose="02020603050405020304" pitchFamily="18" charset="0"/>
                <a:cs typeface="Times New Roman" panose="02020603050405020304" pitchFamily="18" charset="0"/>
              </a:rPr>
              <a:t>memory</a:t>
            </a:r>
            <a:r>
              <a:rPr lang="en-US" sz="2600" dirty="0">
                <a:solidFill>
                  <a:srgbClr val="FF0000"/>
                </a:solidFill>
                <a:latin typeface="Times New Roman" panose="02020603050405020304" pitchFamily="18" charset="0"/>
                <a:cs typeface="Times New Roman" panose="02020603050405020304" pitchFamily="18" charset="0"/>
              </a:rPr>
              <a:t> required to store the input data </a:t>
            </a:r>
            <a:r>
              <a:rPr lang="en-US" sz="2600" dirty="0">
                <a:latin typeface="Times New Roman" panose="02020603050405020304" pitchFamily="18" charset="0"/>
                <a:cs typeface="Times New Roman" panose="02020603050405020304" pitchFamily="18" charset="0"/>
              </a:rPr>
              <a:t>is proportional to </a:t>
            </a:r>
            <a:r>
              <a:rPr lang="en-US" sz="2600" i="1" dirty="0">
                <a:solidFill>
                  <a:srgbClr val="FF0000"/>
                </a:solidFill>
                <a:latin typeface="Times New Roman" panose="02020603050405020304" pitchFamily="18" charset="0"/>
                <a:cs typeface="Times New Roman" panose="02020603050405020304" pitchFamily="18" charset="0"/>
              </a:rPr>
              <a:t>kn</a:t>
            </a:r>
            <a:r>
              <a:rPr lang="en-US" sz="2600" dirty="0">
                <a:latin typeface="Times New Roman" panose="02020603050405020304" pitchFamily="18" charset="0"/>
                <a:cs typeface="Times New Roman" panose="02020603050405020304" pitchFamily="18" charset="0"/>
              </a:rPr>
              <a:t>. </a:t>
            </a:r>
            <a:endParaRPr sz="2600" dirty="0">
              <a:latin typeface="Times New Roman" panose="02020603050405020304" pitchFamily="18" charset="0"/>
              <a:cs typeface="Times New Roman" panose="02020603050405020304" pitchFamily="18" charset="0"/>
            </a:endParaRPr>
          </a:p>
          <a:p>
            <a:pPr marL="228600" lvl="0" indent="-50800" algn="l" rtl="0">
              <a:lnSpc>
                <a:spcPct val="100000"/>
              </a:lnSpc>
              <a:spcBef>
                <a:spcPts val="1000"/>
              </a:spcBef>
              <a:spcAft>
                <a:spcPts val="0"/>
              </a:spcAft>
              <a:buClr>
                <a:schemeClr val="dk1"/>
              </a:buClr>
              <a:buSzPts val="2800"/>
              <a:buFont typeface="Arial"/>
              <a:buNone/>
            </a:pPr>
            <a:endParaRPr sz="26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None/>
            </a:pPr>
            <a:endParaRPr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pic>
        <p:nvPicPr>
          <p:cNvPr id="401" name="Google Shape;401;p40"/>
          <p:cNvPicPr preferRelativeResize="0">
            <a:picLocks noGrp="1"/>
          </p:cNvPicPr>
          <p:nvPr>
            <p:ph type="body" idx="1"/>
          </p:nvPr>
        </p:nvPicPr>
        <p:blipFill rotWithShape="1">
          <a:blip r:embed="rId3">
            <a:alphaModFix/>
          </a:blip>
          <a:srcRect/>
          <a:stretch/>
        </p:blipFill>
        <p:spPr>
          <a:xfrm>
            <a:off x="1106751" y="1442343"/>
            <a:ext cx="9533965" cy="445097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F80A65-20B2-4ADC-9C85-90C0717DBD9D}"/>
              </a:ext>
            </a:extLst>
          </p:cNvPr>
          <p:cNvSpPr>
            <a:spLocks noGrp="1"/>
          </p:cNvSpPr>
          <p:nvPr>
            <p:ph type="title"/>
          </p:nvPr>
        </p:nvSpPr>
        <p:spPr/>
        <p:txBody>
          <a:bodyPr>
            <a:normAutofit/>
          </a:bodyPr>
          <a:lstStyle/>
          <a:p>
            <a:r>
              <a:rPr lang="en-IN" sz="4000" b="1" i="0" u="none" strike="noStrike" baseline="0" dirty="0">
                <a:latin typeface="Times New Roman" panose="02020603050405020304" pitchFamily="18" charset="0"/>
                <a:cs typeface="Times New Roman" panose="02020603050405020304" pitchFamily="18" charset="0"/>
              </a:rPr>
              <a:t>Multicast Routing</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8DABB721-0F20-47F8-9757-79019E4A5F86}"/>
              </a:ext>
            </a:extLst>
          </p:cNvPr>
          <p:cNvSpPr>
            <a:spLocks noGrp="1"/>
          </p:cNvSpPr>
          <p:nvPr>
            <p:ph type="body" idx="1"/>
          </p:nvPr>
        </p:nvSpPr>
        <p:spPr>
          <a:xfrm>
            <a:off x="838200" y="1361661"/>
            <a:ext cx="11049000" cy="5893903"/>
          </a:xfrm>
        </p:spPr>
        <p:txBody>
          <a:bodyPr>
            <a:normAutofit fontScale="62500" lnSpcReduction="20000"/>
          </a:bodyPr>
          <a:lstStyle/>
          <a:p>
            <a:pPr algn="l"/>
            <a:endParaRPr lang="en-IN" sz="1800" b="0" i="0" u="none" strike="noStrike" baseline="0" dirty="0">
              <a:solidFill>
                <a:srgbClr val="000000"/>
              </a:solidFill>
              <a:latin typeface="Times New Roman" panose="02020603050405020304" pitchFamily="18" charset="0"/>
            </a:endParaRPr>
          </a:p>
          <a:p>
            <a:pPr algn="just">
              <a:lnSpc>
                <a:spcPct val="120000"/>
              </a:lnSpc>
            </a:pPr>
            <a:r>
              <a:rPr lang="en-US" sz="3600" b="1" i="0" u="none" strike="noStrike" baseline="0" dirty="0">
                <a:solidFill>
                  <a:srgbClr val="000000"/>
                </a:solidFill>
                <a:latin typeface="Times New Roman" panose="02020603050405020304" pitchFamily="18" charset="0"/>
              </a:rPr>
              <a:t>Multicasting- </a:t>
            </a:r>
            <a:r>
              <a:rPr lang="en-US" sz="3600" b="0" i="0" u="none" strike="noStrike" baseline="0" dirty="0">
                <a:solidFill>
                  <a:srgbClr val="000000"/>
                </a:solidFill>
                <a:latin typeface="Times New Roman" panose="02020603050405020304" pitchFamily="18" charset="0"/>
              </a:rPr>
              <a:t>In multicast communication, there is one source and a group of destinations. </a:t>
            </a:r>
          </a:p>
          <a:p>
            <a:pPr algn="just">
              <a:lnSpc>
                <a:spcPct val="120000"/>
              </a:lnSpc>
            </a:pPr>
            <a:r>
              <a:rPr lang="en-US" sz="3600" b="0" i="0" u="none" strike="noStrike" baseline="0" dirty="0">
                <a:solidFill>
                  <a:srgbClr val="000000"/>
                </a:solidFill>
                <a:latin typeface="Times New Roman" panose="02020603050405020304" pitchFamily="18" charset="0"/>
              </a:rPr>
              <a:t>The relationship is </a:t>
            </a:r>
            <a:r>
              <a:rPr lang="en-US" sz="3600" b="1" i="0" u="none" strike="noStrike" baseline="0" dirty="0">
                <a:solidFill>
                  <a:srgbClr val="000000"/>
                </a:solidFill>
                <a:latin typeface="Times New Roman" panose="02020603050405020304" pitchFamily="18" charset="0"/>
              </a:rPr>
              <a:t>one-to-many.</a:t>
            </a:r>
          </a:p>
          <a:p>
            <a:pPr algn="just">
              <a:lnSpc>
                <a:spcPct val="120000"/>
              </a:lnSpc>
            </a:pPr>
            <a:r>
              <a:rPr lang="en-US" sz="3600" b="0" i="0" u="none" strike="noStrike" baseline="0" dirty="0">
                <a:solidFill>
                  <a:srgbClr val="000000"/>
                </a:solidFill>
                <a:latin typeface="Times New Roman" panose="02020603050405020304" pitchFamily="18" charset="0"/>
              </a:rPr>
              <a:t> In this type of communication, the </a:t>
            </a:r>
            <a:r>
              <a:rPr lang="en-US" sz="3600" b="1" i="0" u="none" strike="noStrike" baseline="0" dirty="0">
                <a:solidFill>
                  <a:srgbClr val="000000"/>
                </a:solidFill>
                <a:latin typeface="Times New Roman" panose="02020603050405020304" pitchFamily="18" charset="0"/>
              </a:rPr>
              <a:t>source address is a unicast address</a:t>
            </a:r>
            <a:r>
              <a:rPr lang="en-US" sz="3600" b="0" i="0" u="none" strike="noStrike" baseline="0" dirty="0">
                <a:solidFill>
                  <a:srgbClr val="000000"/>
                </a:solidFill>
                <a:latin typeface="Times New Roman" panose="02020603050405020304" pitchFamily="18" charset="0"/>
              </a:rPr>
              <a:t>, but the </a:t>
            </a:r>
            <a:r>
              <a:rPr lang="en-US" sz="3600" b="1" i="0" u="none" strike="noStrike" baseline="0" dirty="0">
                <a:solidFill>
                  <a:srgbClr val="000000"/>
                </a:solidFill>
                <a:latin typeface="Times New Roman" panose="02020603050405020304" pitchFamily="18" charset="0"/>
              </a:rPr>
              <a:t>destination address </a:t>
            </a:r>
            <a:r>
              <a:rPr lang="en-US" sz="3600" b="0" i="0" u="none" strike="noStrike" baseline="0" dirty="0">
                <a:solidFill>
                  <a:srgbClr val="000000"/>
                </a:solidFill>
                <a:latin typeface="Times New Roman" panose="02020603050405020304" pitchFamily="18" charset="0"/>
              </a:rPr>
              <a:t>is a </a:t>
            </a:r>
            <a:r>
              <a:rPr lang="en-US" sz="3600" b="1" i="0" u="none" strike="noStrike" baseline="0" dirty="0">
                <a:solidFill>
                  <a:srgbClr val="000000"/>
                </a:solidFill>
                <a:latin typeface="Times New Roman" panose="02020603050405020304" pitchFamily="18" charset="0"/>
              </a:rPr>
              <a:t>group address</a:t>
            </a:r>
            <a:r>
              <a:rPr lang="en-US" sz="3600" b="0" i="0" u="none" strike="noStrike" baseline="0" dirty="0">
                <a:solidFill>
                  <a:srgbClr val="000000"/>
                </a:solidFill>
                <a:latin typeface="Times New Roman" panose="02020603050405020304" pitchFamily="18" charset="0"/>
              </a:rPr>
              <a:t>, which defines one or more destinations.</a:t>
            </a:r>
          </a:p>
          <a:p>
            <a:pPr algn="just">
              <a:lnSpc>
                <a:spcPct val="120000"/>
              </a:lnSpc>
            </a:pPr>
            <a:r>
              <a:rPr lang="en-US" sz="3600" b="0" i="0" u="none" strike="noStrike" baseline="0" dirty="0">
                <a:solidFill>
                  <a:srgbClr val="000000"/>
                </a:solidFill>
                <a:latin typeface="Times New Roman" panose="02020603050405020304" pitchFamily="18" charset="0"/>
              </a:rPr>
              <a:t> The group address </a:t>
            </a:r>
            <a:r>
              <a:rPr lang="en-US" sz="3600" b="1" i="0" u="none" strike="noStrike" baseline="0" dirty="0">
                <a:solidFill>
                  <a:srgbClr val="000000"/>
                </a:solidFill>
                <a:latin typeface="Times New Roman" panose="02020603050405020304" pitchFamily="18" charset="0"/>
              </a:rPr>
              <a:t>identifies the members of the group</a:t>
            </a:r>
            <a:r>
              <a:rPr lang="en-US" sz="3600" b="0" i="0" u="none" strike="noStrike" baseline="0" dirty="0">
                <a:solidFill>
                  <a:srgbClr val="000000"/>
                </a:solidFill>
                <a:latin typeface="Times New Roman" panose="02020603050405020304" pitchFamily="18" charset="0"/>
              </a:rPr>
              <a:t>. </a:t>
            </a:r>
          </a:p>
          <a:p>
            <a:pPr algn="just">
              <a:lnSpc>
                <a:spcPct val="120000"/>
              </a:lnSpc>
            </a:pPr>
            <a:r>
              <a:rPr lang="en-US" sz="3600" b="0" i="0" u="none" strike="noStrike" baseline="0" dirty="0">
                <a:solidFill>
                  <a:srgbClr val="000000"/>
                </a:solidFill>
                <a:latin typeface="Times New Roman" panose="02020603050405020304" pitchFamily="18" charset="0"/>
              </a:rPr>
              <a:t>Some applications require that widely-separated processes work together in groups, for example, a group of processes implementing a distributed database system. </a:t>
            </a:r>
          </a:p>
          <a:p>
            <a:pPr algn="just">
              <a:lnSpc>
                <a:spcPct val="120000"/>
              </a:lnSpc>
            </a:pPr>
            <a:r>
              <a:rPr lang="en-US" sz="3600" b="0" i="0" u="none" strike="noStrike" baseline="0" dirty="0">
                <a:solidFill>
                  <a:srgbClr val="000000"/>
                </a:solidFill>
                <a:latin typeface="Times New Roman" panose="02020603050405020304" pitchFamily="18" charset="0"/>
              </a:rPr>
              <a:t>In these situations, it is frequently necessary for one process to send a message to all the other members of the group.</a:t>
            </a:r>
          </a:p>
          <a:p>
            <a:pPr algn="just">
              <a:lnSpc>
                <a:spcPct val="120000"/>
              </a:lnSpc>
            </a:pPr>
            <a:r>
              <a:rPr lang="en-US" sz="3600" b="0" i="0" u="none" strike="noStrike" baseline="0" dirty="0">
                <a:solidFill>
                  <a:srgbClr val="000000"/>
                </a:solidFill>
                <a:latin typeface="Times New Roman" panose="02020603050405020304" pitchFamily="18" charset="0"/>
              </a:rPr>
              <a:t>Sending a message to such a group is called </a:t>
            </a:r>
            <a:r>
              <a:rPr lang="en-US" sz="3600" b="1" i="0" u="none" strike="noStrike" baseline="0" dirty="0">
                <a:solidFill>
                  <a:srgbClr val="000000"/>
                </a:solidFill>
                <a:latin typeface="Times New Roman" panose="02020603050405020304" pitchFamily="18" charset="0"/>
              </a:rPr>
              <a:t>multicasting, </a:t>
            </a:r>
            <a:r>
              <a:rPr lang="en-US" sz="3600" b="0" i="0" u="none" strike="noStrike" baseline="0" dirty="0">
                <a:solidFill>
                  <a:srgbClr val="000000"/>
                </a:solidFill>
                <a:latin typeface="Times New Roman" panose="02020603050405020304" pitchFamily="18" charset="0"/>
              </a:rPr>
              <a:t>and its routing algorithm is called </a:t>
            </a:r>
            <a:r>
              <a:rPr lang="en-US" sz="3600" b="1" i="0" u="none" strike="noStrike" baseline="0" dirty="0">
                <a:solidFill>
                  <a:srgbClr val="000000"/>
                </a:solidFill>
                <a:latin typeface="Times New Roman" panose="02020603050405020304" pitchFamily="18" charset="0"/>
              </a:rPr>
              <a:t>multicast routing. </a:t>
            </a:r>
            <a:endParaRPr lang="en-US" sz="3600" b="0" i="0" u="none" strike="noStrike" baseline="0" dirty="0">
              <a:solidFill>
                <a:srgbClr val="000000"/>
              </a:solidFill>
              <a:latin typeface="Times New Roman" panose="02020603050405020304" pitchFamily="18" charset="0"/>
            </a:endParaRPr>
          </a:p>
          <a:p>
            <a:pPr marL="114300" indent="0">
              <a:buNone/>
            </a:pPr>
            <a:r>
              <a:rPr lang="en-US" sz="3600" b="0" i="0" u="none" strike="noStrike" baseline="0" dirty="0">
                <a:solidFill>
                  <a:srgbClr val="000000"/>
                </a:solidFill>
                <a:latin typeface="Times New Roman" panose="02020603050405020304" pitchFamily="18" charset="0"/>
              </a:rPr>
              <a:t> </a:t>
            </a:r>
          </a:p>
          <a:p>
            <a:endParaRPr lang="en-IN" dirty="0"/>
          </a:p>
        </p:txBody>
      </p:sp>
    </p:spTree>
    <p:extLst>
      <p:ext uri="{BB962C8B-B14F-4D97-AF65-F5344CB8AC3E}">
        <p14:creationId xmlns:p14="http://schemas.microsoft.com/office/powerpoint/2010/main" val="26959215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EA6ADB-E2E1-4CF4-917F-992914048A0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F09C279C-1353-4C04-86F6-E6D80117E8E7}"/>
              </a:ext>
            </a:extLst>
          </p:cNvPr>
          <p:cNvSpPr>
            <a:spLocks noGrp="1"/>
          </p:cNvSpPr>
          <p:nvPr>
            <p:ph type="body" idx="1"/>
          </p:nvPr>
        </p:nvSpPr>
        <p:spPr>
          <a:xfrm>
            <a:off x="838200" y="725557"/>
            <a:ext cx="10515600" cy="5767318"/>
          </a:xfrm>
        </p:spPr>
        <p:txBody>
          <a:bodyPr>
            <a:normAutofit/>
          </a:bodyPr>
          <a:lstStyle/>
          <a:p>
            <a:pPr algn="just">
              <a:lnSpc>
                <a:spcPct val="100000"/>
              </a:lnSpc>
            </a:pPr>
            <a:endParaRPr lang="en-IN" sz="2600" b="0" i="0" u="none" strike="noStrike" baseline="0" dirty="0">
              <a:solidFill>
                <a:srgbClr val="000000"/>
              </a:solidFill>
              <a:latin typeface="Times New Roman" panose="02020603050405020304" pitchFamily="18" charset="0"/>
            </a:endParaRPr>
          </a:p>
          <a:p>
            <a:pPr algn="just">
              <a:lnSpc>
                <a:spcPct val="100000"/>
              </a:lnSpc>
            </a:pPr>
            <a:r>
              <a:rPr lang="en-US" sz="2600" b="0" i="0" u="none" strike="noStrike" baseline="0" dirty="0">
                <a:solidFill>
                  <a:srgbClr val="000000"/>
                </a:solidFill>
                <a:latin typeface="Times New Roman" panose="02020603050405020304" pitchFamily="18" charset="0"/>
              </a:rPr>
              <a:t>Multicasting requires </a:t>
            </a:r>
            <a:r>
              <a:rPr lang="en-US" sz="2600" b="1" i="0" u="none" strike="noStrike" baseline="0" dirty="0">
                <a:solidFill>
                  <a:srgbClr val="000000"/>
                </a:solidFill>
                <a:latin typeface="Times New Roman" panose="02020603050405020304" pitchFamily="18" charset="0"/>
              </a:rPr>
              <a:t>group management</a:t>
            </a:r>
            <a:r>
              <a:rPr lang="en-US" sz="2600" b="0" i="0" u="none" strike="noStrike" baseline="0" dirty="0">
                <a:solidFill>
                  <a:srgbClr val="000000"/>
                </a:solidFill>
                <a:latin typeface="Times New Roman" panose="02020603050405020304" pitchFamily="18" charset="0"/>
              </a:rPr>
              <a:t>. Some way is needed to </a:t>
            </a:r>
            <a:r>
              <a:rPr lang="en-US" sz="2600" b="1" i="0" u="none" strike="noStrike" baseline="0" dirty="0">
                <a:solidFill>
                  <a:srgbClr val="000000"/>
                </a:solidFill>
                <a:latin typeface="Times New Roman" panose="02020603050405020304" pitchFamily="18" charset="0"/>
              </a:rPr>
              <a:t>create</a:t>
            </a:r>
            <a:r>
              <a:rPr lang="en-US" sz="2600" b="0" i="0" u="none" strike="noStrike" baseline="0" dirty="0">
                <a:solidFill>
                  <a:srgbClr val="000000"/>
                </a:solidFill>
                <a:latin typeface="Times New Roman" panose="02020603050405020304" pitchFamily="18" charset="0"/>
              </a:rPr>
              <a:t> and </a:t>
            </a:r>
            <a:r>
              <a:rPr lang="en-US" sz="2600" b="1" i="0" u="none" strike="noStrike" baseline="0" dirty="0">
                <a:solidFill>
                  <a:srgbClr val="000000"/>
                </a:solidFill>
                <a:latin typeface="Times New Roman" panose="02020603050405020304" pitchFamily="18" charset="0"/>
              </a:rPr>
              <a:t>destroy groups</a:t>
            </a:r>
            <a:r>
              <a:rPr lang="en-US" sz="2600" b="0" i="0" u="none" strike="noStrike" baseline="0" dirty="0">
                <a:solidFill>
                  <a:srgbClr val="000000"/>
                </a:solidFill>
                <a:latin typeface="Times New Roman" panose="02020603050405020304" pitchFamily="18" charset="0"/>
              </a:rPr>
              <a:t>, and to allow processes to </a:t>
            </a:r>
            <a:r>
              <a:rPr lang="en-US" sz="2600" b="1" i="0" u="none" strike="noStrike" baseline="0" dirty="0">
                <a:solidFill>
                  <a:srgbClr val="000000"/>
                </a:solidFill>
                <a:latin typeface="Times New Roman" panose="02020603050405020304" pitchFamily="18" charset="0"/>
              </a:rPr>
              <a:t>join </a:t>
            </a:r>
            <a:r>
              <a:rPr lang="en-US" sz="2600" i="0" u="none" strike="noStrike" baseline="0" dirty="0">
                <a:solidFill>
                  <a:srgbClr val="000000"/>
                </a:solidFill>
                <a:latin typeface="Times New Roman" panose="02020603050405020304" pitchFamily="18" charset="0"/>
              </a:rPr>
              <a:t>and</a:t>
            </a:r>
            <a:r>
              <a:rPr lang="en-US" sz="2600" b="1" i="0" u="none" strike="noStrike" baseline="0" dirty="0">
                <a:solidFill>
                  <a:srgbClr val="000000"/>
                </a:solidFill>
                <a:latin typeface="Times New Roman" panose="02020603050405020304" pitchFamily="18" charset="0"/>
              </a:rPr>
              <a:t> leave groups</a:t>
            </a:r>
            <a:r>
              <a:rPr lang="en-US" sz="2600" b="0" i="0" u="none" strike="noStrike" baseline="0" dirty="0">
                <a:solidFill>
                  <a:srgbClr val="000000"/>
                </a:solidFill>
                <a:latin typeface="Times New Roman" panose="02020603050405020304" pitchFamily="18" charset="0"/>
              </a:rPr>
              <a:t>. </a:t>
            </a:r>
          </a:p>
          <a:p>
            <a:pPr algn="just">
              <a:lnSpc>
                <a:spcPct val="100000"/>
              </a:lnSpc>
            </a:pPr>
            <a:r>
              <a:rPr lang="en-US" sz="2600" b="0" i="0" u="none" strike="noStrike" baseline="0" dirty="0">
                <a:solidFill>
                  <a:srgbClr val="000000"/>
                </a:solidFill>
                <a:latin typeface="Times New Roman" panose="02020603050405020304" pitchFamily="18" charset="0"/>
              </a:rPr>
              <a:t>How these tasks are accomplished is </a:t>
            </a:r>
            <a:r>
              <a:rPr lang="en-US" sz="2600" b="1" i="0" u="none" strike="noStrike" baseline="0" dirty="0">
                <a:solidFill>
                  <a:srgbClr val="000000"/>
                </a:solidFill>
                <a:latin typeface="Times New Roman" panose="02020603050405020304" pitchFamily="18" charset="0"/>
              </a:rPr>
              <a:t>not based on the routing algorithm.</a:t>
            </a:r>
            <a:r>
              <a:rPr lang="en-US" sz="2600" b="0" i="0" u="none" strike="noStrike" baseline="0" dirty="0">
                <a:solidFill>
                  <a:srgbClr val="000000"/>
                </a:solidFill>
                <a:latin typeface="Times New Roman" panose="02020603050405020304" pitchFamily="18" charset="0"/>
              </a:rPr>
              <a:t> It is based on the fact that when a process joins a group, it </a:t>
            </a:r>
            <a:r>
              <a:rPr lang="en-US" sz="2600" b="1" i="0" u="none" strike="noStrike" baseline="0" dirty="0">
                <a:solidFill>
                  <a:srgbClr val="000000"/>
                </a:solidFill>
                <a:latin typeface="Times New Roman" panose="02020603050405020304" pitchFamily="18" charset="0"/>
              </a:rPr>
              <a:t>informs its host</a:t>
            </a:r>
            <a:r>
              <a:rPr lang="en-US" sz="2600" b="0" i="0" u="none" strike="noStrike" baseline="0" dirty="0">
                <a:solidFill>
                  <a:srgbClr val="000000"/>
                </a:solidFill>
                <a:latin typeface="Times New Roman" panose="02020603050405020304" pitchFamily="18" charset="0"/>
              </a:rPr>
              <a:t> of this fact. It is important that </a:t>
            </a:r>
            <a:r>
              <a:rPr lang="en-US" sz="2600" b="1" i="0" u="none" strike="noStrike" baseline="0" dirty="0">
                <a:solidFill>
                  <a:srgbClr val="000000"/>
                </a:solidFill>
                <a:latin typeface="Times New Roman" panose="02020603050405020304" pitchFamily="18" charset="0"/>
              </a:rPr>
              <a:t>routers know which of their hosts belong to which groups. </a:t>
            </a:r>
          </a:p>
          <a:p>
            <a:pPr algn="just">
              <a:lnSpc>
                <a:spcPct val="100000"/>
              </a:lnSpc>
            </a:pPr>
            <a:r>
              <a:rPr lang="en-US" sz="2600" b="0" i="0" u="none" strike="noStrike" baseline="0" dirty="0">
                <a:solidFill>
                  <a:srgbClr val="000000"/>
                </a:solidFill>
                <a:latin typeface="Times New Roman" panose="02020603050405020304" pitchFamily="18" charset="0"/>
              </a:rPr>
              <a:t>Either </a:t>
            </a:r>
            <a:r>
              <a:rPr lang="en-US" sz="2600" b="1" i="0" u="none" strike="noStrike" baseline="0" dirty="0">
                <a:solidFill>
                  <a:srgbClr val="000000"/>
                </a:solidFill>
                <a:latin typeface="Times New Roman" panose="02020603050405020304" pitchFamily="18" charset="0"/>
              </a:rPr>
              <a:t>hosts</a:t>
            </a:r>
            <a:r>
              <a:rPr lang="en-US" sz="2600" b="0" i="0" u="none" strike="noStrike" baseline="0" dirty="0">
                <a:solidFill>
                  <a:srgbClr val="000000"/>
                </a:solidFill>
                <a:latin typeface="Times New Roman" panose="02020603050405020304" pitchFamily="18" charset="0"/>
              </a:rPr>
              <a:t> </a:t>
            </a:r>
            <a:r>
              <a:rPr lang="en-US" sz="2600" b="1" i="0" u="none" strike="noStrike" baseline="0" dirty="0">
                <a:solidFill>
                  <a:srgbClr val="000000"/>
                </a:solidFill>
                <a:latin typeface="Times New Roman" panose="02020603050405020304" pitchFamily="18" charset="0"/>
              </a:rPr>
              <a:t>must inform their routers </a:t>
            </a:r>
            <a:r>
              <a:rPr lang="en-US" sz="2600" b="0" i="0" u="none" strike="noStrike" baseline="0" dirty="0">
                <a:solidFill>
                  <a:srgbClr val="000000"/>
                </a:solidFill>
                <a:latin typeface="Times New Roman" panose="02020603050405020304" pitchFamily="18" charset="0"/>
              </a:rPr>
              <a:t>about changes in group membership, or </a:t>
            </a:r>
            <a:r>
              <a:rPr lang="en-US" sz="2600" b="1" i="0" u="none" strike="noStrike" baseline="0" dirty="0">
                <a:solidFill>
                  <a:srgbClr val="000000"/>
                </a:solidFill>
                <a:latin typeface="Times New Roman" panose="02020603050405020304" pitchFamily="18" charset="0"/>
              </a:rPr>
              <a:t>routers must query their hosts periodically</a:t>
            </a:r>
            <a:r>
              <a:rPr lang="en-US" sz="2600" b="0" i="0" u="none" strike="noStrike" baseline="0" dirty="0">
                <a:solidFill>
                  <a:srgbClr val="000000"/>
                </a:solidFill>
                <a:latin typeface="Times New Roman" panose="02020603050405020304" pitchFamily="18" charset="0"/>
              </a:rPr>
              <a:t>. </a:t>
            </a:r>
          </a:p>
          <a:p>
            <a:pPr algn="just">
              <a:lnSpc>
                <a:spcPct val="100000"/>
              </a:lnSpc>
            </a:pPr>
            <a:r>
              <a:rPr lang="en-US" sz="2600" b="0" i="0" u="none" strike="noStrike" baseline="0" dirty="0">
                <a:solidFill>
                  <a:srgbClr val="000000"/>
                </a:solidFill>
                <a:latin typeface="Times New Roman" panose="02020603050405020304" pitchFamily="18" charset="0"/>
              </a:rPr>
              <a:t>Either way, routers learn about which of their hosts are in which groups. </a:t>
            </a:r>
          </a:p>
          <a:p>
            <a:pPr algn="just">
              <a:lnSpc>
                <a:spcPct val="100000"/>
              </a:lnSpc>
            </a:pPr>
            <a:r>
              <a:rPr lang="en-US" sz="2600" b="0" i="0" u="none" strike="noStrike" baseline="0" dirty="0">
                <a:solidFill>
                  <a:srgbClr val="000000"/>
                </a:solidFill>
                <a:latin typeface="Times New Roman" panose="02020603050405020304" pitchFamily="18" charset="0"/>
              </a:rPr>
              <a:t>Routers tell their neighbors, so the information propagates through the subnet. </a:t>
            </a:r>
          </a:p>
          <a:p>
            <a:endParaRPr lang="en-IN" sz="2600" dirty="0"/>
          </a:p>
        </p:txBody>
      </p:sp>
    </p:spTree>
    <p:extLst>
      <p:ext uri="{BB962C8B-B14F-4D97-AF65-F5344CB8AC3E}">
        <p14:creationId xmlns:p14="http://schemas.microsoft.com/office/powerpoint/2010/main" val="22801863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0287FC-ACF7-4E7A-82D0-5DDC917145E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C8EACBC2-1C02-4082-B0C9-52E961432C6F}"/>
              </a:ext>
            </a:extLst>
          </p:cNvPr>
          <p:cNvSpPr>
            <a:spLocks noGrp="1"/>
          </p:cNvSpPr>
          <p:nvPr>
            <p:ph type="body" idx="1"/>
          </p:nvPr>
        </p:nvSpPr>
        <p:spPr>
          <a:xfrm>
            <a:off x="838200" y="365125"/>
            <a:ext cx="10515600" cy="5811838"/>
          </a:xfrm>
        </p:spPr>
        <p:txBody>
          <a:bodyPr/>
          <a:lstStyle/>
          <a:p>
            <a:r>
              <a:rPr lang="en-US" sz="2400" b="0" i="0" u="none" strike="noStrike" baseline="0" dirty="0">
                <a:solidFill>
                  <a:srgbClr val="000000"/>
                </a:solidFill>
                <a:latin typeface="Times New Roman" panose="02020603050405020304" pitchFamily="18" charset="0"/>
              </a:rPr>
              <a:t>To do multicast routing</a:t>
            </a:r>
            <a:r>
              <a:rPr lang="en-US" sz="2400" b="1" i="0" u="none" strike="noStrike" baseline="0" dirty="0">
                <a:solidFill>
                  <a:srgbClr val="000000"/>
                </a:solidFill>
                <a:latin typeface="Times New Roman" panose="02020603050405020304" pitchFamily="18" charset="0"/>
              </a:rPr>
              <a:t>, each router computes a spanning tree covering all other routers.</a:t>
            </a:r>
          </a:p>
          <a:p>
            <a:r>
              <a:rPr lang="en-US" sz="2400" b="0" i="0" u="none" strike="noStrike" baseline="0" dirty="0">
                <a:solidFill>
                  <a:srgbClr val="000000"/>
                </a:solidFill>
                <a:latin typeface="Times New Roman" panose="02020603050405020304" pitchFamily="18" charset="0"/>
              </a:rPr>
              <a:t> For example, in Fig.(a) we have two groups, 1 and 2. Some routers are attached to hosts that belong to one or both of these groups, as indicated in the figure. A spanning tree for the leftmost router is shown in Fig.(b). </a:t>
            </a:r>
          </a:p>
          <a:p>
            <a:endParaRPr lang="en-IN" dirty="0"/>
          </a:p>
        </p:txBody>
      </p:sp>
      <p:pic>
        <p:nvPicPr>
          <p:cNvPr id="5" name="Picture 4">
            <a:extLst>
              <a:ext uri="{FF2B5EF4-FFF2-40B4-BE49-F238E27FC236}">
                <a16:creationId xmlns:a16="http://schemas.microsoft.com/office/drawing/2014/main" xmlns="" id="{AF7F30B5-8309-4CD1-97D0-71006FDF78D5}"/>
              </a:ext>
            </a:extLst>
          </p:cNvPr>
          <p:cNvPicPr>
            <a:picLocks noChangeAspect="1"/>
          </p:cNvPicPr>
          <p:nvPr/>
        </p:nvPicPr>
        <p:blipFill>
          <a:blip r:embed="rId2"/>
          <a:stretch>
            <a:fillRect/>
          </a:stretch>
        </p:blipFill>
        <p:spPr>
          <a:xfrm>
            <a:off x="3186301" y="2350394"/>
            <a:ext cx="5574226" cy="3826569"/>
          </a:xfrm>
          <a:prstGeom prst="rect">
            <a:avLst/>
          </a:prstGeom>
        </p:spPr>
      </p:pic>
      <p:sp>
        <p:nvSpPr>
          <p:cNvPr id="7" name="TextBox 6">
            <a:extLst>
              <a:ext uri="{FF2B5EF4-FFF2-40B4-BE49-F238E27FC236}">
                <a16:creationId xmlns:a16="http://schemas.microsoft.com/office/drawing/2014/main" xmlns="" id="{41D0BD02-35C1-4B42-91F8-4DF54BFE58FF}"/>
              </a:ext>
            </a:extLst>
          </p:cNvPr>
          <p:cNvSpPr txBox="1"/>
          <p:nvPr/>
        </p:nvSpPr>
        <p:spPr>
          <a:xfrm>
            <a:off x="3207852" y="6228633"/>
            <a:ext cx="6097656" cy="523220"/>
          </a:xfrm>
          <a:prstGeom prst="rect">
            <a:avLst/>
          </a:prstGeom>
          <a:noFill/>
        </p:spPr>
        <p:txBody>
          <a:bodyPr wrap="square">
            <a:spAutoFit/>
          </a:bodyPr>
          <a:lstStyle/>
          <a:p>
            <a:r>
              <a:rPr lang="en-US" sz="1400" b="1" i="0" u="none" strike="noStrike" baseline="0" dirty="0">
                <a:solidFill>
                  <a:srgbClr val="000000"/>
                </a:solidFill>
                <a:latin typeface="Times New Roman" panose="02020603050405020304" pitchFamily="18" charset="0"/>
              </a:rPr>
              <a:t>Figure (a) A network. (b) A spanning tree for the leftmost router. (c) A multicast tree for group 1. (d) A multicast tree for group 2. </a:t>
            </a:r>
            <a:endParaRPr lang="en-IN" dirty="0"/>
          </a:p>
        </p:txBody>
      </p:sp>
    </p:spTree>
    <p:extLst>
      <p:ext uri="{BB962C8B-B14F-4D97-AF65-F5344CB8AC3E}">
        <p14:creationId xmlns:p14="http://schemas.microsoft.com/office/powerpoint/2010/main" val="21488233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B4BD28-C948-45A6-A713-ED4D1271319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B52A5DA1-3DE9-4FE1-B46D-7FDFD3E58D64}"/>
              </a:ext>
            </a:extLst>
          </p:cNvPr>
          <p:cNvSpPr>
            <a:spLocks noGrp="1"/>
          </p:cNvSpPr>
          <p:nvPr>
            <p:ph type="body" idx="1"/>
          </p:nvPr>
        </p:nvSpPr>
        <p:spPr/>
        <p:txBody>
          <a:bodyPr/>
          <a:lstStyle/>
          <a:p>
            <a:pPr algn="l"/>
            <a:endParaRPr lang="en-IN" sz="1800" b="0" i="0" u="none" strike="noStrike" baseline="0" dirty="0">
              <a:solidFill>
                <a:srgbClr val="000000"/>
              </a:solidFill>
              <a:latin typeface="Times New Roman" panose="02020603050405020304" pitchFamily="18" charset="0"/>
            </a:endParaRPr>
          </a:p>
          <a:p>
            <a:pPr algn="just"/>
            <a:r>
              <a:rPr lang="en-US" b="0" i="0" u="none" strike="noStrike" baseline="0" dirty="0">
                <a:solidFill>
                  <a:srgbClr val="000000"/>
                </a:solidFill>
                <a:latin typeface="Times New Roman" panose="02020603050405020304" pitchFamily="18" charset="0"/>
              </a:rPr>
              <a:t>When a process sends a multicast packet to a group, the first router examines its spanning tree and prunes it, removing all lines that do not lead to hosts that are members of the group</a:t>
            </a:r>
          </a:p>
          <a:p>
            <a:pPr algn="just"/>
            <a:r>
              <a:rPr lang="en-US" b="0" i="0" u="none" strike="noStrike" baseline="0" dirty="0">
                <a:solidFill>
                  <a:srgbClr val="000000"/>
                </a:solidFill>
                <a:latin typeface="Times New Roman" panose="02020603050405020304" pitchFamily="18" charset="0"/>
              </a:rPr>
              <a:t>In this example, Fig. (c) shows the pruned spanning tree for group 1. </a:t>
            </a:r>
          </a:p>
          <a:p>
            <a:pPr algn="just"/>
            <a:r>
              <a:rPr lang="en-US" b="0" i="0" u="none" strike="noStrike" baseline="0" dirty="0">
                <a:solidFill>
                  <a:srgbClr val="000000"/>
                </a:solidFill>
                <a:latin typeface="Times New Roman" panose="02020603050405020304" pitchFamily="18" charset="0"/>
              </a:rPr>
              <a:t>Similarly, Fig. (d) shows the pruned spanning tree for group 2. </a:t>
            </a:r>
          </a:p>
          <a:p>
            <a:pPr algn="just"/>
            <a:r>
              <a:rPr lang="en-US" b="0" i="0" u="none" strike="noStrike" baseline="0" dirty="0">
                <a:solidFill>
                  <a:srgbClr val="000000"/>
                </a:solidFill>
                <a:latin typeface="Times New Roman" panose="02020603050405020304" pitchFamily="18" charset="0"/>
              </a:rPr>
              <a:t>Multicast packets are forwarded only along the appropriate spanning tree. </a:t>
            </a:r>
          </a:p>
          <a:p>
            <a:endParaRPr lang="en-IN" dirty="0"/>
          </a:p>
        </p:txBody>
      </p:sp>
    </p:spTree>
    <p:extLst>
      <p:ext uri="{BB962C8B-B14F-4D97-AF65-F5344CB8AC3E}">
        <p14:creationId xmlns:p14="http://schemas.microsoft.com/office/powerpoint/2010/main" val="19347763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824CAE-8CE1-4701-A7AB-2D65E0270AC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C7F540DE-2297-43E1-B623-B15DFD1C33B8}"/>
              </a:ext>
            </a:extLst>
          </p:cNvPr>
          <p:cNvSpPr>
            <a:spLocks noGrp="1"/>
          </p:cNvSpPr>
          <p:nvPr>
            <p:ph type="body" idx="1"/>
          </p:nvPr>
        </p:nvSpPr>
        <p:spPr>
          <a:xfrm>
            <a:off x="838200" y="365125"/>
            <a:ext cx="10515600" cy="5811838"/>
          </a:xfrm>
        </p:spPr>
        <p:txBody>
          <a:bodyPr>
            <a:normAutofit fontScale="92500"/>
          </a:bodyPr>
          <a:lstStyle/>
          <a:p>
            <a:pPr algn="l"/>
            <a:endParaRPr lang="en-IN" sz="1800" b="0" i="0" u="none" strike="noStrike" baseline="0" dirty="0">
              <a:solidFill>
                <a:srgbClr val="000000"/>
              </a:solidFill>
              <a:latin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rPr>
              <a:t>Various ways of pruning the spanning tree are possible.</a:t>
            </a:r>
          </a:p>
          <a:p>
            <a:pPr algn="just">
              <a:lnSpc>
                <a:spcPct val="110000"/>
              </a:lnSpc>
              <a:buFont typeface="+mj-lt"/>
              <a:buAutoNum type="arabicPeriod"/>
            </a:pPr>
            <a:r>
              <a:rPr lang="en-US" sz="2400" b="0" i="0" u="none" strike="noStrike" baseline="0" dirty="0">
                <a:solidFill>
                  <a:srgbClr val="000000"/>
                </a:solidFill>
                <a:latin typeface="Times New Roman" panose="02020603050405020304" pitchFamily="18" charset="0"/>
              </a:rPr>
              <a:t> The simplest one can be used if </a:t>
            </a:r>
            <a:r>
              <a:rPr lang="en-US" sz="2400" b="1" i="0" u="none" strike="noStrike" baseline="0" dirty="0">
                <a:solidFill>
                  <a:srgbClr val="000000"/>
                </a:solidFill>
                <a:latin typeface="Times New Roman" panose="02020603050405020304" pitchFamily="18" charset="0"/>
              </a:rPr>
              <a:t>link state routing </a:t>
            </a:r>
            <a:r>
              <a:rPr lang="en-US" sz="2400" b="0" i="0" u="none" strike="noStrike" baseline="0" dirty="0">
                <a:solidFill>
                  <a:srgbClr val="000000"/>
                </a:solidFill>
                <a:latin typeface="Times New Roman" panose="02020603050405020304" pitchFamily="18" charset="0"/>
              </a:rPr>
              <a:t>is used and each router is aware of the complete topology, including which hosts belong to which groups. Then the spanning tree can be pruned, starting at the end of each path, working toward the root, and removing all routers that do not belong to the group in question. </a:t>
            </a:r>
          </a:p>
          <a:p>
            <a:pPr algn="just">
              <a:lnSpc>
                <a:spcPct val="110000"/>
              </a:lnSpc>
            </a:pPr>
            <a:endParaRPr lang="en-IN" sz="2400" b="0" i="0" u="none" strike="noStrike" baseline="0" dirty="0">
              <a:solidFill>
                <a:srgbClr val="000000"/>
              </a:solidFill>
              <a:latin typeface="Times New Roman" panose="02020603050405020304" pitchFamily="18" charset="0"/>
            </a:endParaRPr>
          </a:p>
          <a:p>
            <a:pPr algn="just">
              <a:lnSpc>
                <a:spcPct val="110000"/>
              </a:lnSpc>
              <a:buFont typeface="+mj-lt"/>
              <a:buAutoNum type="arabicPeriod" startAt="2"/>
            </a:pPr>
            <a:r>
              <a:rPr lang="en-US" sz="2400" b="0" i="0" u="none" strike="noStrike" baseline="0" dirty="0">
                <a:solidFill>
                  <a:srgbClr val="000000"/>
                </a:solidFill>
                <a:latin typeface="Times New Roman" panose="02020603050405020304" pitchFamily="18" charset="0"/>
              </a:rPr>
              <a:t>With </a:t>
            </a:r>
            <a:r>
              <a:rPr lang="en-US" sz="2400" b="1" i="0" u="none" strike="noStrike" baseline="0" dirty="0">
                <a:solidFill>
                  <a:srgbClr val="000000"/>
                </a:solidFill>
                <a:latin typeface="Times New Roman" panose="02020603050405020304" pitchFamily="18" charset="0"/>
              </a:rPr>
              <a:t>distance vector routing</a:t>
            </a:r>
            <a:r>
              <a:rPr lang="en-US" sz="2400" b="0" i="0" u="none" strike="noStrike" baseline="0" dirty="0">
                <a:solidFill>
                  <a:srgbClr val="000000"/>
                </a:solidFill>
                <a:latin typeface="Times New Roman" panose="02020603050405020304" pitchFamily="18" charset="0"/>
              </a:rPr>
              <a:t>, a different pruning strategy can be followed. The basic algorithm is </a:t>
            </a:r>
            <a:r>
              <a:rPr lang="en-US" sz="2400" b="1" i="0" u="none" strike="noStrike" baseline="0" dirty="0">
                <a:solidFill>
                  <a:srgbClr val="000000"/>
                </a:solidFill>
                <a:latin typeface="Times New Roman" panose="02020603050405020304" pitchFamily="18" charset="0"/>
              </a:rPr>
              <a:t>reverse path forwarding. </a:t>
            </a:r>
            <a:r>
              <a:rPr lang="en-US" sz="2400" b="0" i="0" u="none" strike="noStrike" baseline="0" dirty="0">
                <a:solidFill>
                  <a:srgbClr val="000000"/>
                </a:solidFill>
                <a:latin typeface="Times New Roman" panose="02020603050405020304" pitchFamily="18" charset="0"/>
              </a:rPr>
              <a:t>However, whenever a router with no hosts interested in a particular group and no connections to other routers receives a multicast message for that group, it responds with a </a:t>
            </a:r>
            <a:r>
              <a:rPr lang="en-US" sz="2400" b="1" i="0" u="none" strike="noStrike" baseline="0" dirty="0">
                <a:solidFill>
                  <a:srgbClr val="000000"/>
                </a:solidFill>
                <a:latin typeface="Times New Roman" panose="02020603050405020304" pitchFamily="18" charset="0"/>
              </a:rPr>
              <a:t>PRUNE message</a:t>
            </a:r>
            <a:r>
              <a:rPr lang="en-US" sz="2400" b="0" i="0" u="none" strike="noStrike" baseline="0" dirty="0">
                <a:solidFill>
                  <a:srgbClr val="000000"/>
                </a:solidFill>
                <a:latin typeface="Times New Roman" panose="02020603050405020304" pitchFamily="18" charset="0"/>
              </a:rPr>
              <a:t>, telling the sender not to send it any more multicasts for that group. When a router with no group members among its own hosts has received such messages on all its lines, it, too, can respond with a PRUNE message. In this way, the subnet is recursively pruned. </a:t>
            </a:r>
          </a:p>
          <a:p>
            <a:pPr>
              <a:buFont typeface="+mj-lt"/>
              <a:buAutoNum type="arabicPeriod" startAt="2"/>
            </a:pPr>
            <a:endParaRPr lang="en-US" sz="1800" b="0" i="0" u="none" strike="noStrike" baseline="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2172332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Mobile Host</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Arial" pitchFamily="34" charset="0"/>
              <a:buChar char="•"/>
            </a:pPr>
            <a:r>
              <a:rPr lang="en-US" dirty="0">
                <a:solidFill>
                  <a:srgbClr val="FF0000"/>
                </a:solidFill>
              </a:rPr>
              <a:t>Routing for Mobile Hosts:</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People have portable computers nowadays </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Mobile hosts introduce a new complication: </a:t>
            </a:r>
          </a:p>
          <a:p>
            <a:pPr lvl="2" algn="just">
              <a:buFont typeface="Arial" pitchFamily="34" charset="0"/>
              <a:buChar char="•"/>
            </a:pPr>
            <a:r>
              <a:rPr lang="en-US" sz="2400" dirty="0">
                <a:latin typeface="Times New Roman" panose="02020603050405020304" pitchFamily="18" charset="0"/>
                <a:cs typeface="Times New Roman" panose="02020603050405020304" pitchFamily="18" charset="0"/>
              </a:rPr>
              <a:t>to route a packet to a mobile host, network first has to find it.</a:t>
            </a:r>
          </a:p>
        </p:txBody>
      </p:sp>
      <p:pic>
        <p:nvPicPr>
          <p:cNvPr id="4" name="Picture 5" descr="5-18"/>
          <p:cNvPicPr>
            <a:picLocks noChangeAspect="1" noChangeArrowheads="1"/>
          </p:cNvPicPr>
          <p:nvPr/>
        </p:nvPicPr>
        <p:blipFill>
          <a:blip r:embed="rId2" cstate="print"/>
          <a:srcRect/>
          <a:stretch>
            <a:fillRect/>
          </a:stretch>
        </p:blipFill>
        <p:spPr bwMode="auto">
          <a:xfrm>
            <a:off x="1524000" y="2352419"/>
            <a:ext cx="9144000" cy="4003931"/>
          </a:xfrm>
          <a:prstGeom prst="rect">
            <a:avLst/>
          </a:prstGeom>
          <a:noFill/>
        </p:spPr>
      </p:pic>
      <p:sp>
        <p:nvSpPr>
          <p:cNvPr id="5" name="Rectangle 3"/>
          <p:cNvSpPr txBox="1">
            <a:spLocks noChangeArrowheads="1"/>
          </p:cNvSpPr>
          <p:nvPr/>
        </p:nvSpPr>
        <p:spPr bwMode="auto">
          <a:xfrm>
            <a:off x="1524000" y="6304610"/>
            <a:ext cx="9144000" cy="5908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ctr" fontAlgn="base">
              <a:spcBef>
                <a:spcPct val="20000"/>
              </a:spcBef>
              <a:spcAft>
                <a:spcPct val="0"/>
              </a:spcAft>
              <a:buClr>
                <a:schemeClr val="accent2"/>
              </a:buClr>
              <a:defRPr/>
            </a:pPr>
            <a:r>
              <a:rPr lang="en-US" sz="2000" dirty="0">
                <a:solidFill>
                  <a:schemeClr val="tx1"/>
                </a:solidFill>
                <a:latin typeface="+mn-lt"/>
                <a:ea typeface="+mn-ea"/>
                <a:cs typeface="+mn-cs"/>
              </a:rPr>
              <a:t>Fig: A WAN to which LANs, MANs, and wireless cells are attached.</a:t>
            </a:r>
          </a:p>
        </p:txBody>
      </p:sp>
      <p:sp>
        <p:nvSpPr>
          <p:cNvPr id="6" name="Slide Number Placeholder 5"/>
          <p:cNvSpPr>
            <a:spLocks noGrp="1"/>
          </p:cNvSpPr>
          <p:nvPr>
            <p:ph type="sldNum" sz="quarter" idx="12"/>
          </p:nvPr>
        </p:nvSpPr>
        <p:spPr/>
        <p:txBody>
          <a:bodyPr/>
          <a:lstStyle/>
          <a:p>
            <a:fld id="{EF55C829-AE99-4997-8EBC-414F558758A8}"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Mobile Host</a:t>
            </a:r>
          </a:p>
        </p:txBody>
      </p:sp>
      <p:sp>
        <p:nvSpPr>
          <p:cNvPr id="12291" name="Rectangle 3"/>
          <p:cNvSpPr>
            <a:spLocks noGrp="1" noChangeArrowheads="1"/>
          </p:cNvSpPr>
          <p:nvPr>
            <p:ph type="body" idx="1"/>
          </p:nvPr>
        </p:nvSpPr>
        <p:spPr>
          <a:xfrm>
            <a:off x="1033670" y="590772"/>
            <a:ext cx="9919252" cy="6267228"/>
          </a:xfrm>
        </p:spPr>
        <p:txBody>
          <a:bodyPr/>
          <a:lstStyle/>
          <a:p>
            <a:pPr algn="just">
              <a:buFont typeface="Arial" pitchFamily="34" charset="0"/>
              <a:buChar char="•"/>
            </a:pPr>
            <a:endParaRPr lang="en-US" dirty="0"/>
          </a:p>
          <a:p>
            <a:pPr algn="just">
              <a:buFont typeface="Arial" pitchFamily="34" charset="0"/>
              <a:buChar char="•"/>
            </a:pPr>
            <a:r>
              <a:rPr lang="en-US" sz="2600" dirty="0">
                <a:latin typeface="Times New Roman" panose="02020603050405020304" pitchFamily="18" charset="0"/>
                <a:cs typeface="Times New Roman" panose="02020603050405020304" pitchFamily="18" charset="0"/>
              </a:rPr>
              <a:t>Hosts that never move are said to be </a:t>
            </a:r>
            <a:r>
              <a:rPr lang="en-US" sz="2600" dirty="0">
                <a:solidFill>
                  <a:srgbClr val="FF0000"/>
                </a:solidFill>
                <a:latin typeface="Times New Roman" panose="02020603050405020304" pitchFamily="18" charset="0"/>
                <a:cs typeface="Times New Roman" panose="02020603050405020304" pitchFamily="18" charset="0"/>
              </a:rPr>
              <a:t>stationary</a:t>
            </a:r>
            <a:r>
              <a:rPr lang="en-US" sz="2600" dirty="0">
                <a:latin typeface="Times New Roman" panose="02020603050405020304" pitchFamily="18" charset="0"/>
                <a:cs typeface="Times New Roman" panose="02020603050405020304" pitchFamily="18" charset="0"/>
              </a:rPr>
              <a:t>.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They are connected to the network by </a:t>
            </a:r>
            <a:r>
              <a:rPr lang="en-US" sz="2600" b="1" dirty="0">
                <a:latin typeface="Times New Roman" panose="02020603050405020304" pitchFamily="18" charset="0"/>
                <a:cs typeface="Times New Roman" panose="02020603050405020304" pitchFamily="18" charset="0"/>
              </a:rPr>
              <a:t>copper wires or fiber optics.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Migratory hosts </a:t>
            </a:r>
            <a:r>
              <a:rPr lang="en-US" sz="2600" dirty="0">
                <a:latin typeface="Times New Roman" panose="02020603050405020304" pitchFamily="18" charset="0"/>
                <a:cs typeface="Times New Roman" panose="02020603050405020304" pitchFamily="18" charset="0"/>
              </a:rPr>
              <a:t>are basically stationary hosts who move from one fixed site to another from time to time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but use the network only when they are </a:t>
            </a:r>
            <a:r>
              <a:rPr lang="en-US" sz="2600" b="1" dirty="0">
                <a:latin typeface="Times New Roman" panose="02020603050405020304" pitchFamily="18" charset="0"/>
                <a:cs typeface="Times New Roman" panose="02020603050405020304" pitchFamily="18" charset="0"/>
              </a:rPr>
              <a:t>physically connected </a:t>
            </a:r>
            <a:r>
              <a:rPr lang="en-US" sz="2600" dirty="0">
                <a:latin typeface="Times New Roman" panose="02020603050405020304" pitchFamily="18" charset="0"/>
                <a:cs typeface="Times New Roman" panose="02020603050405020304" pitchFamily="18" charset="0"/>
              </a:rPr>
              <a:t>to it.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Roaming hosts </a:t>
            </a:r>
            <a:r>
              <a:rPr lang="en-US" sz="2600" dirty="0">
                <a:latin typeface="Times New Roman" panose="02020603050405020304" pitchFamily="18" charset="0"/>
                <a:cs typeface="Times New Roman" panose="02020603050405020304" pitchFamily="18" charset="0"/>
              </a:rPr>
              <a:t>actually compute on the run and want to maintain their connections as they move around.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Mobile hosts </a:t>
            </a:r>
            <a:r>
              <a:rPr lang="en-US" sz="2600" dirty="0">
                <a:latin typeface="Times New Roman" panose="02020603050405020304" pitchFamily="18" charset="0"/>
                <a:cs typeface="Times New Roman" panose="02020603050405020304" pitchFamily="18" charset="0"/>
              </a:rPr>
              <a:t>are all hosts that are away from home and still want to be connected. </a:t>
            </a:r>
            <a:r>
              <a:rPr lang="en-US" sz="2600" dirty="0">
                <a:solidFill>
                  <a:srgbClr val="FF0000"/>
                </a:solidFill>
                <a:latin typeface="Times New Roman" panose="02020603050405020304" pitchFamily="18" charset="0"/>
                <a:cs typeface="Times New Roman" panose="02020603050405020304" pitchFamily="18" charset="0"/>
              </a:rPr>
              <a:t>(both</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Migratory hosts &amp; Roaming hosts) </a:t>
            </a:r>
            <a:r>
              <a:rPr lang="en-US" sz="2600" dirty="0">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pic>
        <p:nvPicPr>
          <p:cNvPr id="552" name="Google Shape;552;g111937b53da_0_59" descr="S:\ow\cnds\tanenbaum\cn3-jpg\5-18.jpg"/>
          <p:cNvPicPr preferRelativeResize="0">
            <a:picLocks noGrp="1"/>
          </p:cNvPicPr>
          <p:nvPr>
            <p:ph type="body" idx="1"/>
          </p:nvPr>
        </p:nvPicPr>
        <p:blipFill rotWithShape="1">
          <a:blip r:embed="rId3">
            <a:alphaModFix/>
          </a:blip>
          <a:srcRect/>
          <a:stretch/>
        </p:blipFill>
        <p:spPr>
          <a:xfrm>
            <a:off x="1351722" y="924339"/>
            <a:ext cx="10308903" cy="3711789"/>
          </a:xfrm>
          <a:prstGeom prst="rect">
            <a:avLst/>
          </a:prstGeom>
          <a:noFill/>
          <a:ln>
            <a:noFill/>
          </a:ln>
        </p:spPr>
      </p:pic>
      <p:sp>
        <p:nvSpPr>
          <p:cNvPr id="553" name="Google Shape;553;g111937b53da_0_59"/>
          <p:cNvSpPr/>
          <p:nvPr/>
        </p:nvSpPr>
        <p:spPr>
          <a:xfrm>
            <a:off x="2757525" y="4638372"/>
            <a:ext cx="7592100" cy="1181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Fig: The model of the world that network designers typically use </a:t>
            </a:r>
            <a:endParaRPr sz="2000" b="1">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Mobile Host</a:t>
            </a:r>
          </a:p>
        </p:txBody>
      </p:sp>
      <p:sp>
        <p:nvSpPr>
          <p:cNvPr id="12291" name="Rectangle 3"/>
          <p:cNvSpPr>
            <a:spLocks noGrp="1" noChangeArrowheads="1"/>
          </p:cNvSpPr>
          <p:nvPr>
            <p:ph type="body" idx="1"/>
          </p:nvPr>
        </p:nvSpPr>
        <p:spPr>
          <a:xfrm>
            <a:off x="1524000" y="1042331"/>
            <a:ext cx="9677400" cy="5314019"/>
          </a:xfrm>
        </p:spPr>
        <p:txBody>
          <a:bodyPr>
            <a:normAutofit lnSpcReduction="10000"/>
          </a:bodyPr>
          <a:lstStyle/>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In Fig., world is divided up (geographically) into small units, called as </a:t>
            </a:r>
            <a:r>
              <a:rPr lang="en-US" b="1" dirty="0">
                <a:latin typeface="Times New Roman" panose="02020603050405020304" pitchFamily="18" charset="0"/>
                <a:cs typeface="Times New Roman" panose="02020603050405020304" pitchFamily="18" charset="0"/>
              </a:rPr>
              <a:t>areas</a:t>
            </a:r>
            <a:r>
              <a:rPr lang="en-US" dirty="0">
                <a:latin typeface="Times New Roman" panose="02020603050405020304" pitchFamily="18" charset="0"/>
                <a:cs typeface="Times New Roman" panose="02020603050405020304" pitchFamily="18" charset="0"/>
              </a:rPr>
              <a:t>, where an area is typically a </a:t>
            </a:r>
            <a:r>
              <a:rPr lang="en-US" b="1" dirty="0">
                <a:latin typeface="Times New Roman" panose="02020603050405020304" pitchFamily="18" charset="0"/>
                <a:cs typeface="Times New Roman" panose="02020603050405020304" pitchFamily="18" charset="0"/>
              </a:rPr>
              <a:t>LAN</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wireless cell.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Each area has </a:t>
            </a:r>
            <a:r>
              <a:rPr lang="en-US" b="1" dirty="0">
                <a:latin typeface="Times New Roman" panose="02020603050405020304" pitchFamily="18" charset="0"/>
                <a:cs typeface="Times New Roman" panose="02020603050405020304" pitchFamily="18" charset="0"/>
              </a:rPr>
              <a:t>one or more </a:t>
            </a:r>
            <a:r>
              <a:rPr lang="en-US" dirty="0">
                <a:solidFill>
                  <a:srgbClr val="FF0000"/>
                </a:solidFill>
                <a:latin typeface="Times New Roman" panose="02020603050405020304" pitchFamily="18" charset="0"/>
                <a:cs typeface="Times New Roman" panose="02020603050405020304" pitchFamily="18" charset="0"/>
              </a:rPr>
              <a:t>foreign agents</a:t>
            </a:r>
            <a:r>
              <a:rPr lang="en-US" dirty="0">
                <a:latin typeface="Times New Roman" panose="02020603050405020304" pitchFamily="18" charset="0"/>
                <a:cs typeface="Times New Roman" panose="02020603050405020304" pitchFamily="18" charset="0"/>
              </a:rPr>
              <a:t>, which are processes that </a:t>
            </a:r>
            <a:r>
              <a:rPr lang="en-US" b="1" dirty="0">
                <a:latin typeface="Times New Roman" panose="02020603050405020304" pitchFamily="18" charset="0"/>
                <a:cs typeface="Times New Roman" panose="02020603050405020304" pitchFamily="18" charset="0"/>
              </a:rPr>
              <a:t>keep track of all mobile hosts visiting the area.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Each area has a </a:t>
            </a:r>
            <a:r>
              <a:rPr lang="en-US" dirty="0">
                <a:solidFill>
                  <a:srgbClr val="FF0000"/>
                </a:solidFill>
                <a:latin typeface="Times New Roman" panose="02020603050405020304" pitchFamily="18" charset="0"/>
                <a:cs typeface="Times New Roman" panose="02020603050405020304" pitchFamily="18" charset="0"/>
              </a:rPr>
              <a:t>home agent</a:t>
            </a:r>
            <a:r>
              <a:rPr lang="en-US" dirty="0">
                <a:latin typeface="Times New Roman" panose="02020603050405020304" pitchFamily="18" charset="0"/>
                <a:cs typeface="Times New Roman" panose="02020603050405020304" pitchFamily="18" charset="0"/>
              </a:rPr>
              <a:t>, which keeps track of </a:t>
            </a:r>
            <a:r>
              <a:rPr lang="en-US" b="1" dirty="0">
                <a:latin typeface="Times New Roman" panose="02020603050405020304" pitchFamily="18" charset="0"/>
                <a:cs typeface="Times New Roman" panose="02020603050405020304" pitchFamily="18" charset="0"/>
              </a:rPr>
              <a:t>hosts whose home is in the area</a:t>
            </a:r>
            <a:r>
              <a:rPr lang="en-US" dirty="0">
                <a:latin typeface="Times New Roman" panose="02020603050405020304" pitchFamily="18" charset="0"/>
                <a:cs typeface="Times New Roman" panose="02020603050405020304" pitchFamily="18" charset="0"/>
              </a:rPr>
              <a:t>, but who are currently visiting another area.</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When a new host enters an area, either by connecting to it (e.g., plugging into the LAN) or just wandering into the cell, it </a:t>
            </a:r>
            <a:r>
              <a:rPr lang="en-US" b="1" dirty="0">
                <a:latin typeface="Times New Roman" panose="02020603050405020304" pitchFamily="18" charset="0"/>
                <a:cs typeface="Times New Roman" panose="02020603050405020304" pitchFamily="18" charset="0"/>
              </a:rPr>
              <a:t>must register itself with the foreign agent.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Mobile Host</a:t>
            </a:r>
          </a:p>
        </p:txBody>
      </p:sp>
      <p:sp>
        <p:nvSpPr>
          <p:cNvPr id="12291" name="Rectangle 3"/>
          <p:cNvSpPr>
            <a:spLocks noGrp="1" noChangeArrowheads="1"/>
          </p:cNvSpPr>
          <p:nvPr>
            <p:ph type="body" idx="1"/>
          </p:nvPr>
        </p:nvSpPr>
        <p:spPr>
          <a:xfrm>
            <a:off x="1523999" y="590772"/>
            <a:ext cx="9667461" cy="6267228"/>
          </a:xfrm>
        </p:spPr>
        <p:txBody>
          <a:bodyPr/>
          <a:lstStyle/>
          <a:p>
            <a:pPr algn="just">
              <a:buFont typeface="Arial" pitchFamily="34" charset="0"/>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registration procedure </a:t>
            </a:r>
            <a:r>
              <a:rPr lang="en-US" sz="2600" dirty="0">
                <a:latin typeface="Times New Roman" panose="02020603050405020304" pitchFamily="18" charset="0"/>
                <a:cs typeface="Times New Roman" panose="02020603050405020304" pitchFamily="18" charset="0"/>
              </a:rPr>
              <a:t>typically works like this: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Step 1:</a:t>
            </a:r>
          </a:p>
          <a:p>
            <a:pPr lvl="1" algn="just">
              <a:buFont typeface="Wingdings" pitchFamily="2" charset="2"/>
              <a:buChar char="ü"/>
            </a:pPr>
            <a:r>
              <a:rPr lang="en-US" sz="2600" dirty="0">
                <a:latin typeface="Times New Roman" panose="02020603050405020304" pitchFamily="18" charset="0"/>
                <a:cs typeface="Times New Roman" panose="02020603050405020304" pitchFamily="18" charset="0"/>
              </a:rPr>
              <a:t>Periodically, each foreign agent </a:t>
            </a:r>
            <a:r>
              <a:rPr lang="en-US" sz="2600" dirty="0">
                <a:solidFill>
                  <a:srgbClr val="FF0000"/>
                </a:solidFill>
                <a:latin typeface="Times New Roman" panose="02020603050405020304" pitchFamily="18" charset="0"/>
                <a:cs typeface="Times New Roman" panose="02020603050405020304" pitchFamily="18" charset="0"/>
              </a:rPr>
              <a:t>broadcasts a packet </a:t>
            </a:r>
            <a:r>
              <a:rPr lang="en-US" sz="2600" dirty="0">
                <a:latin typeface="Times New Roman" panose="02020603050405020304" pitchFamily="18" charset="0"/>
                <a:cs typeface="Times New Roman" panose="02020603050405020304" pitchFamily="18" charset="0"/>
              </a:rPr>
              <a:t>announcing its existence and address. </a:t>
            </a:r>
          </a:p>
          <a:p>
            <a:pPr lvl="1" algn="just">
              <a:buFont typeface="Wingdings" pitchFamily="2" charset="2"/>
              <a:buChar char="ü"/>
            </a:pPr>
            <a:r>
              <a:rPr lang="en-US" sz="2600" dirty="0">
                <a:latin typeface="Times New Roman" panose="02020603050405020304" pitchFamily="18" charset="0"/>
                <a:cs typeface="Times New Roman" panose="02020603050405020304" pitchFamily="18" charset="0"/>
              </a:rPr>
              <a:t>A newly-arrived mobile host may wait for one of these messages, </a:t>
            </a:r>
          </a:p>
          <a:p>
            <a:pPr lvl="1" algn="just">
              <a:buFont typeface="Wingdings" pitchFamily="2" charset="2"/>
              <a:buChar char="ü"/>
            </a:pPr>
            <a:r>
              <a:rPr lang="en-US" sz="2600" dirty="0">
                <a:latin typeface="Times New Roman" panose="02020603050405020304" pitchFamily="18" charset="0"/>
                <a:cs typeface="Times New Roman" panose="02020603050405020304" pitchFamily="18" charset="0"/>
              </a:rPr>
              <a:t>But if none arrives quickly enough, the </a:t>
            </a:r>
            <a:r>
              <a:rPr lang="en-US" sz="2600" dirty="0">
                <a:solidFill>
                  <a:srgbClr val="FF0000"/>
                </a:solidFill>
                <a:latin typeface="Times New Roman" panose="02020603050405020304" pitchFamily="18" charset="0"/>
                <a:cs typeface="Times New Roman" panose="02020603050405020304" pitchFamily="18" charset="0"/>
              </a:rPr>
              <a:t>mobile host can broadcast a packet</a:t>
            </a:r>
            <a:r>
              <a:rPr lang="en-US" sz="2600" dirty="0">
                <a:latin typeface="Times New Roman" panose="02020603050405020304" pitchFamily="18" charset="0"/>
                <a:cs typeface="Times New Roman" panose="02020603050405020304" pitchFamily="18" charset="0"/>
              </a:rPr>
              <a:t> saying: Are there any foreign agents around?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Step 2: </a:t>
            </a:r>
          </a:p>
          <a:p>
            <a:pPr lvl="1" algn="just">
              <a:buFont typeface="Wingdings" pitchFamily="2" charset="2"/>
              <a:buChar char="ü"/>
            </a:pPr>
            <a:r>
              <a:rPr lang="en-US" sz="2600" dirty="0">
                <a:latin typeface="Times New Roman" panose="02020603050405020304" pitchFamily="18" charset="0"/>
                <a:cs typeface="Times New Roman" panose="02020603050405020304" pitchFamily="18" charset="0"/>
              </a:rPr>
              <a:t>The mobile host </a:t>
            </a:r>
            <a:r>
              <a:rPr lang="en-US" sz="2600" dirty="0">
                <a:solidFill>
                  <a:srgbClr val="FF0000"/>
                </a:solidFill>
                <a:latin typeface="Times New Roman" panose="02020603050405020304" pitchFamily="18" charset="0"/>
                <a:cs typeface="Times New Roman" panose="02020603050405020304" pitchFamily="18" charset="0"/>
              </a:rPr>
              <a:t>registers with the foreign agent</a:t>
            </a:r>
            <a:r>
              <a:rPr lang="en-US" sz="2600" dirty="0">
                <a:latin typeface="Times New Roman" panose="02020603050405020304" pitchFamily="18" charset="0"/>
                <a:cs typeface="Times New Roman" panose="02020603050405020304" pitchFamily="18" charset="0"/>
              </a:rPr>
              <a:t>, giving </a:t>
            </a:r>
          </a:p>
          <a:p>
            <a:pPr lvl="2" algn="just">
              <a:buFont typeface="Wingdings" pitchFamily="2" charset="2"/>
              <a:buChar char="ü"/>
            </a:pPr>
            <a:r>
              <a:rPr lang="en-US" sz="2600" dirty="0">
                <a:latin typeface="Times New Roman" panose="02020603050405020304" pitchFamily="18" charset="0"/>
                <a:cs typeface="Times New Roman" panose="02020603050405020304" pitchFamily="18" charset="0"/>
              </a:rPr>
              <a:t>its </a:t>
            </a:r>
            <a:r>
              <a:rPr lang="en-US" sz="2600" b="1" dirty="0">
                <a:latin typeface="Times New Roman" panose="02020603050405020304" pitchFamily="18" charset="0"/>
                <a:cs typeface="Times New Roman" panose="02020603050405020304" pitchFamily="18" charset="0"/>
              </a:rPr>
              <a:t>home address</a:t>
            </a:r>
            <a:r>
              <a:rPr lang="en-US" sz="2600" dirty="0">
                <a:latin typeface="Times New Roman" panose="02020603050405020304" pitchFamily="18" charset="0"/>
                <a:cs typeface="Times New Roman" panose="02020603050405020304" pitchFamily="18" charset="0"/>
              </a:rPr>
              <a:t>, </a:t>
            </a:r>
          </a:p>
          <a:p>
            <a:pPr lvl="2" algn="just">
              <a:buFont typeface="Wingdings" pitchFamily="2" charset="2"/>
              <a:buChar char="ü"/>
            </a:pPr>
            <a:r>
              <a:rPr lang="en-US" sz="2600" b="1" dirty="0">
                <a:latin typeface="Times New Roman" panose="02020603050405020304" pitchFamily="18" charset="0"/>
                <a:cs typeface="Times New Roman" panose="02020603050405020304" pitchFamily="18" charset="0"/>
              </a:rPr>
              <a:t>current data link layer address </a:t>
            </a:r>
            <a:r>
              <a:rPr lang="en-US" sz="2600" dirty="0">
                <a:latin typeface="Times New Roman" panose="02020603050405020304" pitchFamily="18" charset="0"/>
                <a:cs typeface="Times New Roman" panose="02020603050405020304" pitchFamily="18" charset="0"/>
              </a:rPr>
              <a:t>and </a:t>
            </a:r>
          </a:p>
          <a:p>
            <a:pPr lvl="2" algn="just">
              <a:buFont typeface="Wingdings" pitchFamily="2" charset="2"/>
              <a:buChar char="ü"/>
            </a:pPr>
            <a:r>
              <a:rPr lang="en-US" sz="2600" dirty="0">
                <a:latin typeface="Times New Roman" panose="02020603050405020304" pitchFamily="18" charset="0"/>
                <a:cs typeface="Times New Roman" panose="02020603050405020304" pitchFamily="18" charset="0"/>
              </a:rPr>
              <a:t>some </a:t>
            </a:r>
            <a:r>
              <a:rPr lang="en-US" sz="2600" b="1" dirty="0">
                <a:latin typeface="Times New Roman" panose="02020603050405020304" pitchFamily="18" charset="0"/>
                <a:cs typeface="Times New Roman" panose="02020603050405020304" pitchFamily="18" charset="0"/>
              </a:rPr>
              <a:t>security information. </a:t>
            </a:r>
          </a:p>
          <a:p>
            <a:pPr algn="just">
              <a:buNone/>
            </a:pP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Mobile Host</a:t>
            </a:r>
          </a:p>
        </p:txBody>
      </p:sp>
      <p:sp>
        <p:nvSpPr>
          <p:cNvPr id="12291" name="Rectangle 3"/>
          <p:cNvSpPr>
            <a:spLocks noGrp="1" noChangeArrowheads="1"/>
          </p:cNvSpPr>
          <p:nvPr>
            <p:ph type="body" idx="1"/>
          </p:nvPr>
        </p:nvSpPr>
        <p:spPr>
          <a:xfrm>
            <a:off x="1523999" y="590773"/>
            <a:ext cx="9707217" cy="5651001"/>
          </a:xfrm>
        </p:spPr>
        <p:txBody>
          <a:bodyPr>
            <a:noAutofit/>
          </a:bodyPr>
          <a:lstStyle/>
          <a:p>
            <a:pPr algn="just">
              <a:lnSpc>
                <a:spcPct val="120000"/>
              </a:lnSpc>
              <a:buFont typeface="Arial" pitchFamily="34" charset="0"/>
              <a:buChar char="•"/>
            </a:pPr>
            <a:r>
              <a:rPr lang="en-US" sz="2500" dirty="0">
                <a:solidFill>
                  <a:srgbClr val="FF0000"/>
                </a:solidFill>
                <a:latin typeface="Times New Roman" panose="02020603050405020304" pitchFamily="18" charset="0"/>
                <a:cs typeface="Times New Roman" panose="02020603050405020304" pitchFamily="18" charset="0"/>
              </a:rPr>
              <a:t>Step 3:</a:t>
            </a:r>
          </a:p>
          <a:p>
            <a:pPr lvl="1" algn="just">
              <a:lnSpc>
                <a:spcPct val="120000"/>
              </a:lnSpc>
              <a:buFont typeface="Wingdings" pitchFamily="2" charset="2"/>
              <a:buChar char="ü"/>
            </a:pPr>
            <a:r>
              <a:rPr lang="en-US" sz="2500" dirty="0">
                <a:latin typeface="Times New Roman" panose="02020603050405020304" pitchFamily="18" charset="0"/>
                <a:cs typeface="Times New Roman" panose="02020603050405020304" pitchFamily="18" charset="0"/>
              </a:rPr>
              <a:t>The foreign agent </a:t>
            </a:r>
            <a:r>
              <a:rPr lang="en-US" sz="2500" dirty="0">
                <a:solidFill>
                  <a:srgbClr val="FF0000"/>
                </a:solidFill>
                <a:latin typeface="Times New Roman" panose="02020603050405020304" pitchFamily="18" charset="0"/>
                <a:cs typeface="Times New Roman" panose="02020603050405020304" pitchFamily="18" charset="0"/>
              </a:rPr>
              <a:t>contacts the mobile host's home agent </a:t>
            </a:r>
            <a:r>
              <a:rPr lang="en-US" sz="2500" dirty="0">
                <a:latin typeface="Times New Roman" panose="02020603050405020304" pitchFamily="18" charset="0"/>
                <a:cs typeface="Times New Roman" panose="02020603050405020304" pitchFamily="18" charset="0"/>
              </a:rPr>
              <a:t>and says: One of your hosts is over here. </a:t>
            </a:r>
          </a:p>
          <a:p>
            <a:pPr lvl="1" algn="just">
              <a:lnSpc>
                <a:spcPct val="120000"/>
              </a:lnSpc>
              <a:buFont typeface="Wingdings" pitchFamily="2" charset="2"/>
              <a:buChar char="ü"/>
            </a:pPr>
            <a:r>
              <a:rPr lang="en-US" sz="2500" dirty="0">
                <a:latin typeface="Times New Roman" panose="02020603050405020304" pitchFamily="18" charset="0"/>
                <a:cs typeface="Times New Roman" panose="02020603050405020304" pitchFamily="18" charset="0"/>
              </a:rPr>
              <a:t>The message from the foreign agent to the home agent contains the </a:t>
            </a:r>
            <a:r>
              <a:rPr lang="en-US" sz="2500" dirty="0">
                <a:solidFill>
                  <a:srgbClr val="FF0000"/>
                </a:solidFill>
                <a:latin typeface="Times New Roman" panose="02020603050405020304" pitchFamily="18" charset="0"/>
                <a:cs typeface="Times New Roman" panose="02020603050405020304" pitchFamily="18" charset="0"/>
              </a:rPr>
              <a:t>foreign agent's network address</a:t>
            </a:r>
            <a:r>
              <a:rPr lang="en-US" sz="2500" dirty="0">
                <a:latin typeface="Times New Roman" panose="02020603050405020304" pitchFamily="18" charset="0"/>
                <a:cs typeface="Times New Roman" panose="02020603050405020304" pitchFamily="18" charset="0"/>
              </a:rPr>
              <a:t>. </a:t>
            </a:r>
          </a:p>
          <a:p>
            <a:pPr lvl="1" algn="just">
              <a:lnSpc>
                <a:spcPct val="120000"/>
              </a:lnSpc>
              <a:buFont typeface="Wingdings" pitchFamily="2" charset="2"/>
              <a:buChar char="ü"/>
            </a:pPr>
            <a:r>
              <a:rPr lang="en-US" sz="2500" dirty="0">
                <a:latin typeface="Times New Roman" panose="02020603050405020304" pitchFamily="18" charset="0"/>
                <a:cs typeface="Times New Roman" panose="02020603050405020304" pitchFamily="18" charset="0"/>
              </a:rPr>
              <a:t>It also includes the </a:t>
            </a:r>
            <a:r>
              <a:rPr lang="en-US" sz="2500" dirty="0">
                <a:solidFill>
                  <a:srgbClr val="FF0000"/>
                </a:solidFill>
                <a:latin typeface="Times New Roman" panose="02020603050405020304" pitchFamily="18" charset="0"/>
                <a:cs typeface="Times New Roman" panose="02020603050405020304" pitchFamily="18" charset="0"/>
              </a:rPr>
              <a:t>security information </a:t>
            </a:r>
            <a:r>
              <a:rPr lang="en-US" sz="2500" dirty="0">
                <a:latin typeface="Times New Roman" panose="02020603050405020304" pitchFamily="18" charset="0"/>
                <a:cs typeface="Times New Roman" panose="02020603050405020304" pitchFamily="18" charset="0"/>
              </a:rPr>
              <a:t>to convince the home agent that the mobile host is really there</a:t>
            </a:r>
          </a:p>
          <a:p>
            <a:pPr algn="just">
              <a:lnSpc>
                <a:spcPct val="120000"/>
              </a:lnSpc>
              <a:buFont typeface="Arial" pitchFamily="34" charset="0"/>
              <a:buChar char="•"/>
            </a:pPr>
            <a:r>
              <a:rPr lang="en-US" sz="2500" dirty="0">
                <a:solidFill>
                  <a:srgbClr val="FF0000"/>
                </a:solidFill>
                <a:latin typeface="Times New Roman" panose="02020603050405020304" pitchFamily="18" charset="0"/>
                <a:cs typeface="Times New Roman" panose="02020603050405020304" pitchFamily="18" charset="0"/>
              </a:rPr>
              <a:t>Step 4: </a:t>
            </a:r>
          </a:p>
          <a:p>
            <a:pPr lvl="1" algn="just">
              <a:lnSpc>
                <a:spcPct val="120000"/>
              </a:lnSpc>
              <a:buFont typeface="Wingdings" pitchFamily="2" charset="2"/>
              <a:buChar char="ü"/>
            </a:pPr>
            <a:r>
              <a:rPr lang="en-US" sz="2500" dirty="0">
                <a:latin typeface="Times New Roman" panose="02020603050405020304" pitchFamily="18" charset="0"/>
                <a:cs typeface="Times New Roman" panose="02020603050405020304" pitchFamily="18" charset="0"/>
              </a:rPr>
              <a:t>The home agent </a:t>
            </a:r>
            <a:r>
              <a:rPr lang="en-US" sz="2500" dirty="0">
                <a:solidFill>
                  <a:srgbClr val="FF0000"/>
                </a:solidFill>
                <a:latin typeface="Times New Roman" panose="02020603050405020304" pitchFamily="18" charset="0"/>
                <a:cs typeface="Times New Roman" panose="02020603050405020304" pitchFamily="18" charset="0"/>
              </a:rPr>
              <a:t>examines the security information</a:t>
            </a:r>
            <a:r>
              <a:rPr lang="en-US" sz="2500" dirty="0">
                <a:latin typeface="Times New Roman" panose="02020603050405020304" pitchFamily="18" charset="0"/>
                <a:cs typeface="Times New Roman" panose="02020603050405020304" pitchFamily="18" charset="0"/>
              </a:rPr>
              <a:t>, which contains a </a:t>
            </a:r>
            <a:r>
              <a:rPr lang="en-US" sz="2500" dirty="0">
                <a:solidFill>
                  <a:srgbClr val="FF0000"/>
                </a:solidFill>
                <a:latin typeface="Times New Roman" panose="02020603050405020304" pitchFamily="18" charset="0"/>
                <a:cs typeface="Times New Roman" panose="02020603050405020304" pitchFamily="18" charset="0"/>
              </a:rPr>
              <a:t>timestamp</a:t>
            </a:r>
            <a:r>
              <a:rPr lang="en-US" sz="2500" dirty="0">
                <a:latin typeface="Times New Roman" panose="02020603050405020304" pitchFamily="18" charset="0"/>
                <a:cs typeface="Times New Roman" panose="02020603050405020304" pitchFamily="18" charset="0"/>
              </a:rPr>
              <a:t>, to prove that it was generated within the past few seconds. </a:t>
            </a:r>
          </a:p>
          <a:p>
            <a:pPr lvl="1" algn="just">
              <a:lnSpc>
                <a:spcPct val="120000"/>
              </a:lnSpc>
              <a:buFont typeface="Wingdings" pitchFamily="2" charset="2"/>
              <a:buChar char="ü"/>
            </a:pPr>
            <a:r>
              <a:rPr lang="en-US" sz="2500" dirty="0">
                <a:latin typeface="Times New Roman" panose="02020603050405020304" pitchFamily="18" charset="0"/>
                <a:cs typeface="Times New Roman" panose="02020603050405020304" pitchFamily="18" charset="0"/>
              </a:rPr>
              <a:t>If it is </a:t>
            </a:r>
            <a:r>
              <a:rPr lang="en-US" sz="2500" dirty="0">
                <a:solidFill>
                  <a:srgbClr val="FF0000"/>
                </a:solidFill>
                <a:latin typeface="Times New Roman" panose="02020603050405020304" pitchFamily="18" charset="0"/>
                <a:cs typeface="Times New Roman" panose="02020603050405020304" pitchFamily="18" charset="0"/>
              </a:rPr>
              <a:t>ok</a:t>
            </a:r>
            <a:r>
              <a:rPr lang="en-US" sz="2500" dirty="0">
                <a:latin typeface="Times New Roman" panose="02020603050405020304" pitchFamily="18" charset="0"/>
                <a:cs typeface="Times New Roman" panose="02020603050405020304" pitchFamily="18" charset="0"/>
              </a:rPr>
              <a:t>, it tells the foreign agent to proceed.</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Mobile Host</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Step 5:</a:t>
            </a:r>
          </a:p>
          <a:p>
            <a:pPr lvl="1" algn="just">
              <a:buFont typeface="Wingdings" pitchFamily="2" charset="2"/>
              <a:buChar char="ü"/>
            </a:pPr>
            <a:r>
              <a:rPr lang="en-US" dirty="0">
                <a:latin typeface="Times New Roman" panose="02020603050405020304" pitchFamily="18" charset="0"/>
                <a:cs typeface="Times New Roman" panose="02020603050405020304" pitchFamily="18" charset="0"/>
              </a:rPr>
              <a:t>When the foreign agent </a:t>
            </a:r>
            <a:r>
              <a:rPr lang="en-US" dirty="0">
                <a:solidFill>
                  <a:srgbClr val="FF0000"/>
                </a:solidFill>
                <a:latin typeface="Times New Roman" panose="02020603050405020304" pitchFamily="18" charset="0"/>
                <a:cs typeface="Times New Roman" panose="02020603050405020304" pitchFamily="18" charset="0"/>
              </a:rPr>
              <a:t>gets the acknowledgement</a:t>
            </a:r>
            <a:r>
              <a:rPr lang="en-US" dirty="0">
                <a:latin typeface="Times New Roman" panose="02020603050405020304" pitchFamily="18" charset="0"/>
                <a:cs typeface="Times New Roman" panose="02020603050405020304" pitchFamily="18" charset="0"/>
              </a:rPr>
              <a:t> from the home agent, it makes an </a:t>
            </a:r>
            <a:r>
              <a:rPr lang="en-US" b="1" dirty="0">
                <a:latin typeface="Times New Roman" panose="02020603050405020304" pitchFamily="18" charset="0"/>
                <a:cs typeface="Times New Roman" panose="02020603050405020304" pitchFamily="18" charset="0"/>
              </a:rPr>
              <a:t>entry in its tables and informs the mobile host </a:t>
            </a:r>
            <a:r>
              <a:rPr lang="en-US" dirty="0">
                <a:latin typeface="Times New Roman" panose="02020603050405020304" pitchFamily="18" charset="0"/>
                <a:cs typeface="Times New Roman" panose="02020603050405020304" pitchFamily="18" charset="0"/>
              </a:rPr>
              <a:t>that it is </a:t>
            </a:r>
            <a:r>
              <a:rPr lang="en-US" b="1" dirty="0">
                <a:latin typeface="Times New Roman" panose="02020603050405020304" pitchFamily="18" charset="0"/>
                <a:cs typeface="Times New Roman" panose="02020603050405020304" pitchFamily="18" charset="0"/>
              </a:rPr>
              <a:t>now registered</a:t>
            </a:r>
            <a:r>
              <a:rPr lang="en-US"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4" name="Picture 5" descr="5-19"/>
          <p:cNvPicPr>
            <a:picLocks noChangeAspect="1" noChangeArrowheads="1"/>
          </p:cNvPicPr>
          <p:nvPr/>
        </p:nvPicPr>
        <p:blipFill>
          <a:blip r:embed="rId2" cstate="print"/>
          <a:srcRect/>
          <a:stretch>
            <a:fillRect/>
          </a:stretch>
        </p:blipFill>
        <p:spPr bwMode="auto">
          <a:xfrm>
            <a:off x="2348458" y="2230490"/>
            <a:ext cx="7734926" cy="4167266"/>
          </a:xfrm>
          <a:prstGeom prst="rect">
            <a:avLst/>
          </a:prstGeom>
          <a:noFill/>
        </p:spPr>
      </p:pic>
      <p:sp>
        <p:nvSpPr>
          <p:cNvPr id="5" name="Rectangle 3"/>
          <p:cNvSpPr txBox="1">
            <a:spLocks noChangeArrowheads="1"/>
          </p:cNvSpPr>
          <p:nvPr/>
        </p:nvSpPr>
        <p:spPr bwMode="auto">
          <a:xfrm>
            <a:off x="1524000" y="6299610"/>
            <a:ext cx="9144000" cy="4909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ctr" fontAlgn="base">
              <a:spcBef>
                <a:spcPct val="20000"/>
              </a:spcBef>
              <a:spcAft>
                <a:spcPct val="0"/>
              </a:spcAft>
              <a:buClr>
                <a:schemeClr val="accent2"/>
              </a:buClr>
              <a:defRPr/>
            </a:pPr>
            <a:r>
              <a:rPr lang="en-US" sz="2400">
                <a:solidFill>
                  <a:schemeClr val="tx1"/>
                </a:solidFill>
                <a:latin typeface="+mn-lt"/>
                <a:ea typeface="+mn-ea"/>
                <a:cs typeface="+mn-cs"/>
              </a:rPr>
              <a:t>Packet routing for mobile users.</a:t>
            </a:r>
            <a:endParaRPr lang="en-US" sz="2400" dirty="0">
              <a:solidFill>
                <a:schemeClr val="tx1"/>
              </a:solidFill>
              <a:latin typeface="+mn-lt"/>
              <a:ea typeface="+mn-ea"/>
              <a:cs typeface="+mn-cs"/>
            </a:endParaRPr>
          </a:p>
        </p:txBody>
      </p:sp>
      <p:sp>
        <p:nvSpPr>
          <p:cNvPr id="6" name="Slide Number Placeholder 5"/>
          <p:cNvSpPr>
            <a:spLocks noGrp="1"/>
          </p:cNvSpPr>
          <p:nvPr>
            <p:ph type="sldNum" sz="quarter" idx="12"/>
          </p:nvPr>
        </p:nvSpPr>
        <p:spPr/>
        <p:txBody>
          <a:bodyPr/>
          <a:lstStyle/>
          <a:p>
            <a:fld id="{EF55C829-AE99-4997-8EBC-414F558758A8}" type="slidenum">
              <a:rPr lang="en-US" smtClean="0"/>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5388D4-6B51-4AC6-8EA6-70BB0E1CE59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935F66A2-01F6-4C79-815E-1C37FD16872B}"/>
              </a:ext>
            </a:extLst>
          </p:cNvPr>
          <p:cNvSpPr>
            <a:spLocks noGrp="1"/>
          </p:cNvSpPr>
          <p:nvPr>
            <p:ph type="body" idx="1"/>
          </p:nvPr>
        </p:nvSpPr>
        <p:spPr>
          <a:xfrm>
            <a:off x="838200" y="983974"/>
            <a:ext cx="10515600" cy="5192989"/>
          </a:xfrm>
        </p:spPr>
        <p:txBody>
          <a:bodyPr>
            <a:normAutofit fontScale="92500" lnSpcReduction="10000"/>
          </a:bodyPr>
          <a:lstStyle/>
          <a:p>
            <a:pPr marL="403225" lvl="0" indent="-282575" algn="just" rtl="0">
              <a:lnSpc>
                <a:spcPct val="120000"/>
              </a:lnSpc>
              <a:spcBef>
                <a:spcPts val="0"/>
              </a:spcBef>
              <a:spcAft>
                <a:spcPts val="0"/>
              </a:spcAft>
              <a:buClr>
                <a:schemeClr val="dk1"/>
              </a:buClr>
              <a:buSzPct val="100000"/>
              <a:buChar char="•"/>
            </a:pPr>
            <a:r>
              <a:rPr lang="en-US" sz="2800" dirty="0">
                <a:latin typeface="Times New Roman" panose="02020603050405020304" pitchFamily="18" charset="0"/>
                <a:cs typeface="Times New Roman" panose="02020603050405020304" pitchFamily="18" charset="0"/>
              </a:rPr>
              <a:t>When a packet is sent to a </a:t>
            </a:r>
            <a:r>
              <a:rPr lang="en-US" sz="2800" b="1" dirty="0">
                <a:latin typeface="Times New Roman" panose="02020603050405020304" pitchFamily="18" charset="0"/>
                <a:cs typeface="Times New Roman" panose="02020603050405020304" pitchFamily="18" charset="0"/>
              </a:rPr>
              <a:t>mobile host</a:t>
            </a:r>
            <a:r>
              <a:rPr lang="en-US" sz="2800" dirty="0">
                <a:latin typeface="Times New Roman" panose="02020603050405020304" pitchFamily="18" charset="0"/>
                <a:cs typeface="Times New Roman" panose="02020603050405020304" pitchFamily="18" charset="0"/>
              </a:rPr>
              <a:t>, it </a:t>
            </a:r>
            <a:r>
              <a:rPr lang="en-US" sz="2800" dirty="0">
                <a:solidFill>
                  <a:srgbClr val="FF0000"/>
                </a:solidFill>
                <a:latin typeface="Times New Roman" panose="02020603050405020304" pitchFamily="18" charset="0"/>
                <a:cs typeface="Times New Roman" panose="02020603050405020304" pitchFamily="18" charset="0"/>
              </a:rPr>
              <a:t>is routed to the host's home LAN </a:t>
            </a:r>
            <a:r>
              <a:rPr lang="en-US" sz="2800" dirty="0">
                <a:latin typeface="Times New Roman" panose="02020603050405020304" pitchFamily="18" charset="0"/>
                <a:cs typeface="Times New Roman" panose="02020603050405020304" pitchFamily="18" charset="0"/>
              </a:rPr>
              <a:t>because that is what the address says should be done, as illustrated in </a:t>
            </a:r>
            <a:r>
              <a:rPr lang="en-US" sz="2800" b="1" dirty="0">
                <a:latin typeface="Times New Roman" panose="02020603050405020304" pitchFamily="18" charset="0"/>
                <a:cs typeface="Times New Roman" panose="02020603050405020304" pitchFamily="18" charset="0"/>
              </a:rPr>
              <a:t>step 1</a:t>
            </a:r>
            <a:r>
              <a:rPr lang="en-US" sz="2800" dirty="0">
                <a:latin typeface="Times New Roman" panose="02020603050405020304" pitchFamily="18" charset="0"/>
                <a:cs typeface="Times New Roman" panose="02020603050405020304" pitchFamily="18" charset="0"/>
              </a:rPr>
              <a:t> of following figure.</a:t>
            </a:r>
          </a:p>
          <a:p>
            <a:pPr marL="968375" lvl="0" indent="-457200" algn="just" rtl="0">
              <a:lnSpc>
                <a:spcPct val="120000"/>
              </a:lnSpc>
              <a:spcBef>
                <a:spcPts val="1000"/>
              </a:spcBef>
              <a:spcAft>
                <a:spcPts val="0"/>
              </a:spcAft>
              <a:buClr>
                <a:schemeClr val="dk1"/>
              </a:buClr>
              <a:buSzPct val="100000"/>
              <a:buFont typeface="Noto Sans Symbols"/>
              <a:buChar char="✔"/>
            </a:pPr>
            <a:r>
              <a:rPr lang="en-US" sz="2800" dirty="0">
                <a:latin typeface="Times New Roman" panose="02020603050405020304" pitchFamily="18" charset="0"/>
                <a:cs typeface="Times New Roman" panose="02020603050405020304" pitchFamily="18" charset="0"/>
              </a:rPr>
              <a:t> Here the </a:t>
            </a:r>
            <a:r>
              <a:rPr lang="en-US" sz="2800" b="1" dirty="0">
                <a:latin typeface="Times New Roman" panose="02020603050405020304" pitchFamily="18" charset="0"/>
                <a:cs typeface="Times New Roman" panose="02020603050405020304" pitchFamily="18" charset="0"/>
              </a:rPr>
              <a:t>sender</a:t>
            </a:r>
            <a:r>
              <a:rPr lang="en-US" sz="2800" dirty="0">
                <a:latin typeface="Times New Roman" panose="02020603050405020304" pitchFamily="18" charset="0"/>
                <a:cs typeface="Times New Roman" panose="02020603050405020304" pitchFamily="18" charset="0"/>
              </a:rPr>
              <a:t>, in the northwest city of </a:t>
            </a:r>
            <a:r>
              <a:rPr lang="en-US" sz="2800" b="1" dirty="0">
                <a:latin typeface="Times New Roman" panose="02020603050405020304" pitchFamily="18" charset="0"/>
                <a:cs typeface="Times New Roman" panose="02020603050405020304" pitchFamily="18" charset="0"/>
              </a:rPr>
              <a:t>Seattle</a:t>
            </a:r>
            <a:r>
              <a:rPr lang="en-US" sz="2800" dirty="0">
                <a:latin typeface="Times New Roman" panose="02020603050405020304" pitchFamily="18" charset="0"/>
                <a:cs typeface="Times New Roman" panose="02020603050405020304" pitchFamily="18" charset="0"/>
              </a:rPr>
              <a:t>, wants to </a:t>
            </a:r>
            <a:r>
              <a:rPr lang="en-US" sz="2800" dirty="0">
                <a:solidFill>
                  <a:srgbClr val="FF0000"/>
                </a:solidFill>
                <a:latin typeface="Times New Roman" panose="02020603050405020304" pitchFamily="18" charset="0"/>
                <a:cs typeface="Times New Roman" panose="02020603050405020304" pitchFamily="18" charset="0"/>
              </a:rPr>
              <a:t>send a packet </a:t>
            </a:r>
            <a:r>
              <a:rPr lang="en-US" sz="2800" dirty="0">
                <a:latin typeface="Times New Roman" panose="02020603050405020304" pitchFamily="18" charset="0"/>
                <a:cs typeface="Times New Roman" panose="02020603050405020304" pitchFamily="18" charset="0"/>
              </a:rPr>
              <a:t>to a </a:t>
            </a:r>
            <a:r>
              <a:rPr lang="en-US" sz="2800" b="1" dirty="0">
                <a:latin typeface="Times New Roman" panose="02020603050405020304" pitchFamily="18" charset="0"/>
                <a:cs typeface="Times New Roman" panose="02020603050405020304" pitchFamily="18" charset="0"/>
              </a:rPr>
              <a:t>host</a:t>
            </a:r>
            <a:r>
              <a:rPr lang="en-US" sz="2800" dirty="0">
                <a:latin typeface="Times New Roman" panose="02020603050405020304" pitchFamily="18" charset="0"/>
                <a:cs typeface="Times New Roman" panose="02020603050405020304" pitchFamily="18" charset="0"/>
              </a:rPr>
              <a:t> normally across the </a:t>
            </a:r>
            <a:r>
              <a:rPr lang="en-US" sz="2800" b="1" dirty="0">
                <a:latin typeface="Times New Roman" panose="02020603050405020304" pitchFamily="18" charset="0"/>
                <a:cs typeface="Times New Roman" panose="02020603050405020304" pitchFamily="18" charset="0"/>
              </a:rPr>
              <a:t>United States in New York</a:t>
            </a:r>
            <a:r>
              <a:rPr lang="en-US" sz="2800" dirty="0">
                <a:latin typeface="Times New Roman" panose="02020603050405020304" pitchFamily="18" charset="0"/>
                <a:cs typeface="Times New Roman" panose="02020603050405020304" pitchFamily="18" charset="0"/>
              </a:rPr>
              <a:t>. </a:t>
            </a:r>
          </a:p>
          <a:p>
            <a:pPr marL="968375" lvl="0" indent="-457200" algn="just" rtl="0">
              <a:lnSpc>
                <a:spcPct val="120000"/>
              </a:lnSpc>
              <a:spcBef>
                <a:spcPts val="1000"/>
              </a:spcBef>
              <a:spcAft>
                <a:spcPts val="0"/>
              </a:spcAft>
              <a:buClr>
                <a:srgbClr val="FF0000"/>
              </a:buClr>
              <a:buSzPct val="100000"/>
              <a:buFont typeface="Noto Sans Symbols"/>
              <a:buChar char="✔"/>
            </a:pPr>
            <a:r>
              <a:rPr lang="en-US" sz="2800" dirty="0">
                <a:solidFill>
                  <a:srgbClr val="FF0000"/>
                </a:solidFill>
                <a:latin typeface="Times New Roman" panose="02020603050405020304" pitchFamily="18" charset="0"/>
                <a:cs typeface="Times New Roman" panose="02020603050405020304" pitchFamily="18" charset="0"/>
              </a:rPr>
              <a:t>Packets sent </a:t>
            </a:r>
            <a:r>
              <a:rPr lang="en-US" sz="2800" dirty="0">
                <a:latin typeface="Times New Roman" panose="02020603050405020304" pitchFamily="18" charset="0"/>
                <a:cs typeface="Times New Roman" panose="02020603050405020304" pitchFamily="18" charset="0"/>
              </a:rPr>
              <a:t>to the </a:t>
            </a:r>
            <a:r>
              <a:rPr lang="en-US" sz="2800" dirty="0">
                <a:solidFill>
                  <a:srgbClr val="00B050"/>
                </a:solidFill>
                <a:latin typeface="Times New Roman" panose="02020603050405020304" pitchFamily="18" charset="0"/>
                <a:cs typeface="Times New Roman" panose="02020603050405020304" pitchFamily="18" charset="0"/>
              </a:rPr>
              <a:t>mobile host on its home LAN </a:t>
            </a:r>
            <a:r>
              <a:rPr lang="en-US" sz="2800" dirty="0">
                <a:latin typeface="Times New Roman" panose="02020603050405020304" pitchFamily="18" charset="0"/>
                <a:cs typeface="Times New Roman" panose="02020603050405020304" pitchFamily="18" charset="0"/>
              </a:rPr>
              <a:t>in </a:t>
            </a:r>
            <a:r>
              <a:rPr lang="en-US" sz="2800" b="1" dirty="0">
                <a:latin typeface="Times New Roman" panose="02020603050405020304" pitchFamily="18" charset="0"/>
                <a:cs typeface="Times New Roman" panose="02020603050405020304" pitchFamily="18" charset="0"/>
              </a:rPr>
              <a:t>New York </a:t>
            </a:r>
            <a:r>
              <a:rPr lang="en-US" sz="2800" dirty="0">
                <a:latin typeface="Times New Roman" panose="02020603050405020304" pitchFamily="18" charset="0"/>
                <a:cs typeface="Times New Roman" panose="02020603050405020304" pitchFamily="18" charset="0"/>
              </a:rPr>
              <a:t>are intercepted by the </a:t>
            </a:r>
            <a:r>
              <a:rPr lang="en-US" sz="2800" b="1" dirty="0">
                <a:latin typeface="Times New Roman" panose="02020603050405020304" pitchFamily="18" charset="0"/>
                <a:cs typeface="Times New Roman" panose="02020603050405020304" pitchFamily="18" charset="0"/>
              </a:rPr>
              <a:t>home agent </a:t>
            </a:r>
            <a:r>
              <a:rPr lang="en-US" sz="2800" dirty="0">
                <a:latin typeface="Times New Roman" panose="02020603050405020304" pitchFamily="18" charset="0"/>
                <a:cs typeface="Times New Roman" panose="02020603050405020304" pitchFamily="18" charset="0"/>
              </a:rPr>
              <a:t>there. </a:t>
            </a:r>
          </a:p>
          <a:p>
            <a:pPr marL="968375" lvl="0" indent="-457200" algn="just" rtl="0">
              <a:lnSpc>
                <a:spcPct val="120000"/>
              </a:lnSpc>
              <a:spcBef>
                <a:spcPts val="1000"/>
              </a:spcBef>
              <a:spcAft>
                <a:spcPts val="0"/>
              </a:spcAft>
              <a:buClr>
                <a:schemeClr val="dk1"/>
              </a:buClr>
              <a:buSzPct val="100000"/>
              <a:buFont typeface="Noto Sans Symbols"/>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home agent </a:t>
            </a:r>
            <a:r>
              <a:rPr lang="en-US" sz="2800" dirty="0">
                <a:latin typeface="Times New Roman" panose="02020603050405020304" pitchFamily="18" charset="0"/>
                <a:cs typeface="Times New Roman" panose="02020603050405020304" pitchFamily="18" charset="0"/>
              </a:rPr>
              <a:t>then looks up the </a:t>
            </a:r>
            <a:r>
              <a:rPr lang="en-US" sz="2800" dirty="0">
                <a:solidFill>
                  <a:srgbClr val="00B050"/>
                </a:solidFill>
                <a:latin typeface="Times New Roman" panose="02020603050405020304" pitchFamily="18" charset="0"/>
                <a:cs typeface="Times New Roman" panose="02020603050405020304" pitchFamily="18" charset="0"/>
              </a:rPr>
              <a:t>mobile host's new (temporary) location </a:t>
            </a:r>
            <a:r>
              <a:rPr lang="en-US" sz="2800" dirty="0">
                <a:latin typeface="Times New Roman" panose="02020603050405020304" pitchFamily="18" charset="0"/>
                <a:cs typeface="Times New Roman" panose="02020603050405020304" pitchFamily="18" charset="0"/>
              </a:rPr>
              <a:t>and </a:t>
            </a:r>
            <a:r>
              <a:rPr lang="en-US" sz="2800" dirty="0">
                <a:solidFill>
                  <a:srgbClr val="00B050"/>
                </a:solidFill>
                <a:latin typeface="Times New Roman" panose="02020603050405020304" pitchFamily="18" charset="0"/>
                <a:cs typeface="Times New Roman" panose="02020603050405020304" pitchFamily="18" charset="0"/>
              </a:rPr>
              <a:t>finds the address of the foreign agent </a:t>
            </a:r>
            <a:r>
              <a:rPr lang="en-US" sz="2800" dirty="0">
                <a:latin typeface="Times New Roman" panose="02020603050405020304" pitchFamily="18" charset="0"/>
                <a:cs typeface="Times New Roman" panose="02020603050405020304" pitchFamily="18" charset="0"/>
              </a:rPr>
              <a:t>handling the mobile host, in </a:t>
            </a:r>
            <a:r>
              <a:rPr lang="en-US" sz="2800" b="1" dirty="0">
                <a:latin typeface="Times New Roman" panose="02020603050405020304" pitchFamily="18" charset="0"/>
                <a:cs typeface="Times New Roman" panose="02020603050405020304" pitchFamily="18" charset="0"/>
              </a:rPr>
              <a:t>Los Angeles</a:t>
            </a:r>
            <a:r>
              <a:rPr lang="en-US" sz="28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4688774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g111937b53da_0_66"/>
          <p:cNvSpPr txBox="1">
            <a:spLocks noGrp="1"/>
          </p:cNvSpPr>
          <p:nvPr>
            <p:ph type="body" idx="1"/>
          </p:nvPr>
        </p:nvSpPr>
        <p:spPr>
          <a:xfrm>
            <a:off x="838200" y="268600"/>
            <a:ext cx="10515600" cy="6589500"/>
          </a:xfrm>
          <a:prstGeom prst="rect">
            <a:avLst/>
          </a:prstGeom>
        </p:spPr>
        <p:txBody>
          <a:bodyPr spcFirstLastPara="1" wrap="square" lIns="91425" tIns="45700" rIns="91425" bIns="45700" anchor="t" anchorCtr="0">
            <a:normAutofit/>
          </a:bodyPr>
          <a:lstStyle/>
          <a:p>
            <a:pPr marL="403225" lvl="0" indent="-360680" algn="just" rtl="0">
              <a:lnSpc>
                <a:spcPct val="110000"/>
              </a:lnSpc>
              <a:spcBef>
                <a:spcPts val="0"/>
              </a:spcBef>
              <a:spcAft>
                <a:spcPts val="0"/>
              </a:spcAft>
              <a:buSzPts val="240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home agent </a:t>
            </a:r>
            <a:r>
              <a:rPr lang="en-US" sz="2400" dirty="0">
                <a:latin typeface="Times New Roman" panose="02020603050405020304" pitchFamily="18" charset="0"/>
                <a:cs typeface="Times New Roman" panose="02020603050405020304" pitchFamily="18" charset="0"/>
              </a:rPr>
              <a:t>then does </a:t>
            </a:r>
            <a:r>
              <a:rPr lang="en-US" sz="2400" dirty="0">
                <a:solidFill>
                  <a:srgbClr val="FF0000"/>
                </a:solidFill>
                <a:latin typeface="Times New Roman" panose="02020603050405020304" pitchFamily="18" charset="0"/>
                <a:cs typeface="Times New Roman" panose="02020603050405020304" pitchFamily="18" charset="0"/>
              </a:rPr>
              <a:t>two things</a:t>
            </a:r>
            <a:r>
              <a:rPr lang="en-US" sz="2400"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403225" lvl="0" indent="-360680" algn="just" rtl="0">
              <a:lnSpc>
                <a:spcPct val="110000"/>
              </a:lnSpc>
              <a:spcBef>
                <a:spcPts val="1000"/>
              </a:spcBef>
              <a:spcAft>
                <a:spcPts val="0"/>
              </a:spcAft>
              <a:buSzPts val="2400"/>
              <a:buChar char="•"/>
            </a:pPr>
            <a:r>
              <a:rPr lang="en-US" sz="2400" dirty="0">
                <a:latin typeface="Times New Roman" panose="02020603050405020304" pitchFamily="18" charset="0"/>
                <a:cs typeface="Times New Roman" panose="02020603050405020304" pitchFamily="18" charset="0"/>
              </a:rPr>
              <a:t>First, it </a:t>
            </a:r>
            <a:r>
              <a:rPr lang="en-US" sz="2400" dirty="0">
                <a:solidFill>
                  <a:srgbClr val="FF0000"/>
                </a:solidFill>
                <a:latin typeface="Times New Roman" panose="02020603050405020304" pitchFamily="18" charset="0"/>
                <a:cs typeface="Times New Roman" panose="02020603050405020304" pitchFamily="18" charset="0"/>
              </a:rPr>
              <a:t>encapsulates the packet in the payload field </a:t>
            </a:r>
            <a:r>
              <a:rPr lang="en-US" sz="2400" dirty="0">
                <a:latin typeface="Times New Roman" panose="02020603050405020304" pitchFamily="18" charset="0"/>
                <a:cs typeface="Times New Roman" panose="02020603050405020304" pitchFamily="18" charset="0"/>
              </a:rPr>
              <a:t>of an outer packet and sends the latter to the </a:t>
            </a:r>
            <a:r>
              <a:rPr lang="en-US" sz="2400" b="1" dirty="0">
                <a:latin typeface="Times New Roman" panose="02020603050405020304" pitchFamily="18" charset="0"/>
                <a:cs typeface="Times New Roman" panose="02020603050405020304" pitchFamily="18" charset="0"/>
              </a:rPr>
              <a:t>foreign agent </a:t>
            </a:r>
            <a:r>
              <a:rPr lang="en-US" sz="2400" dirty="0">
                <a:latin typeface="Times New Roman" panose="02020603050405020304" pitchFamily="18" charset="0"/>
                <a:cs typeface="Times New Roman" panose="02020603050405020304" pitchFamily="18" charset="0"/>
              </a:rPr>
              <a:t>(step 2 in Fig.). </a:t>
            </a:r>
            <a:endParaRPr dirty="0">
              <a:latin typeface="Times New Roman" panose="02020603050405020304" pitchFamily="18" charset="0"/>
              <a:cs typeface="Times New Roman" panose="02020603050405020304" pitchFamily="18" charset="0"/>
            </a:endParaRPr>
          </a:p>
          <a:p>
            <a:pPr marL="685800" lvl="0" indent="-360680" algn="just" rtl="0">
              <a:lnSpc>
                <a:spcPct val="110000"/>
              </a:lnSpc>
              <a:spcBef>
                <a:spcPts val="1000"/>
              </a:spcBef>
              <a:spcAft>
                <a:spcPts val="0"/>
              </a:spcAft>
              <a:buSzPts val="2400"/>
              <a:buFont typeface="Noto Sans Symbols"/>
              <a:buChar char="✔"/>
            </a:pPr>
            <a:r>
              <a:rPr lang="en-US" sz="2400" dirty="0">
                <a:latin typeface="Times New Roman" panose="02020603050405020304" pitchFamily="18" charset="0"/>
                <a:cs typeface="Times New Roman" panose="02020603050405020304" pitchFamily="18" charset="0"/>
              </a:rPr>
              <a:t>This mechanism is called </a:t>
            </a:r>
            <a:r>
              <a:rPr lang="en-US" sz="2400" b="1" dirty="0">
                <a:latin typeface="Times New Roman" panose="02020603050405020304" pitchFamily="18" charset="0"/>
                <a:cs typeface="Times New Roman" panose="02020603050405020304" pitchFamily="18" charset="0"/>
              </a:rPr>
              <a:t>tunneling</a:t>
            </a:r>
            <a:r>
              <a:rPr lang="en-US" sz="240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685800" lvl="0" indent="-360680" algn="just" rtl="0">
              <a:lnSpc>
                <a:spcPct val="110000"/>
              </a:lnSpc>
              <a:spcBef>
                <a:spcPts val="1000"/>
              </a:spcBef>
              <a:spcAft>
                <a:spcPts val="0"/>
              </a:spcAft>
              <a:buSzPts val="2400"/>
              <a:buFont typeface="Noto Sans Symbols"/>
              <a:buChar char="✔"/>
            </a:pPr>
            <a:r>
              <a:rPr lang="en-US" sz="2400" dirty="0">
                <a:latin typeface="Times New Roman" panose="02020603050405020304" pitchFamily="18" charset="0"/>
                <a:cs typeface="Times New Roman" panose="02020603050405020304" pitchFamily="18" charset="0"/>
              </a:rPr>
              <a:t> After getting the encapsulated packet, the foreign agent </a:t>
            </a:r>
            <a:r>
              <a:rPr lang="en-US" sz="2400" dirty="0">
                <a:solidFill>
                  <a:srgbClr val="FF0000"/>
                </a:solidFill>
                <a:latin typeface="Times New Roman" panose="02020603050405020304" pitchFamily="18" charset="0"/>
                <a:cs typeface="Times New Roman" panose="02020603050405020304" pitchFamily="18" charset="0"/>
              </a:rPr>
              <a:t>removes the original packet from the payload field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sends</a:t>
            </a:r>
            <a:r>
              <a:rPr lang="en-US" sz="2400" dirty="0">
                <a:latin typeface="Times New Roman" panose="02020603050405020304" pitchFamily="18" charset="0"/>
                <a:cs typeface="Times New Roman" panose="02020603050405020304" pitchFamily="18" charset="0"/>
              </a:rPr>
              <a:t> it to the </a:t>
            </a:r>
            <a:r>
              <a:rPr lang="en-US" sz="2400" b="1" dirty="0">
                <a:latin typeface="Times New Roman" panose="02020603050405020304" pitchFamily="18" charset="0"/>
                <a:cs typeface="Times New Roman" panose="02020603050405020304" pitchFamily="18" charset="0"/>
              </a:rPr>
              <a:t>mobile host </a:t>
            </a:r>
            <a:r>
              <a:rPr lang="en-US" sz="2400" dirty="0">
                <a:latin typeface="Times New Roman" panose="02020603050405020304" pitchFamily="18" charset="0"/>
                <a:cs typeface="Times New Roman" panose="02020603050405020304" pitchFamily="18" charset="0"/>
              </a:rPr>
              <a:t>as a data link frame.</a:t>
            </a:r>
            <a:endParaRPr dirty="0">
              <a:latin typeface="Times New Roman" panose="02020603050405020304" pitchFamily="18" charset="0"/>
              <a:cs typeface="Times New Roman" panose="02020603050405020304" pitchFamily="18" charset="0"/>
            </a:endParaRPr>
          </a:p>
          <a:p>
            <a:pPr marL="403225" lvl="0" indent="-360680" algn="just" rtl="0">
              <a:lnSpc>
                <a:spcPct val="110000"/>
              </a:lnSpc>
              <a:spcBef>
                <a:spcPts val="1000"/>
              </a:spcBef>
              <a:spcAft>
                <a:spcPts val="0"/>
              </a:spcAft>
              <a:buSzPts val="2400"/>
              <a:buChar char="•"/>
            </a:pPr>
            <a:r>
              <a:rPr lang="en-US" sz="2400" dirty="0">
                <a:latin typeface="Times New Roman" panose="02020603050405020304" pitchFamily="18" charset="0"/>
                <a:cs typeface="Times New Roman" panose="02020603050405020304" pitchFamily="18" charset="0"/>
              </a:rPr>
              <a:t>Second, the </a:t>
            </a:r>
            <a:r>
              <a:rPr lang="en-US" sz="2400" b="1" dirty="0">
                <a:latin typeface="Times New Roman" panose="02020603050405020304" pitchFamily="18" charset="0"/>
                <a:cs typeface="Times New Roman" panose="02020603050405020304" pitchFamily="18" charset="0"/>
              </a:rPr>
              <a:t>home agent </a:t>
            </a:r>
            <a:r>
              <a:rPr lang="en-US" sz="2400" dirty="0">
                <a:latin typeface="Times New Roman" panose="02020603050405020304" pitchFamily="18" charset="0"/>
                <a:cs typeface="Times New Roman" panose="02020603050405020304" pitchFamily="18" charset="0"/>
              </a:rPr>
              <a:t>tells the sender to henceforth </a:t>
            </a:r>
            <a:r>
              <a:rPr lang="en-US" sz="2400" dirty="0">
                <a:solidFill>
                  <a:srgbClr val="FF0000"/>
                </a:solidFill>
                <a:latin typeface="Times New Roman" panose="02020603050405020304" pitchFamily="18" charset="0"/>
                <a:cs typeface="Times New Roman" panose="02020603050405020304" pitchFamily="18" charset="0"/>
              </a:rPr>
              <a:t>send packets </a:t>
            </a:r>
            <a:r>
              <a:rPr lang="en-US" sz="2400" dirty="0">
                <a:latin typeface="Times New Roman" panose="02020603050405020304" pitchFamily="18" charset="0"/>
                <a:cs typeface="Times New Roman" panose="02020603050405020304" pitchFamily="18" charset="0"/>
              </a:rPr>
              <a:t>to </a:t>
            </a:r>
            <a:r>
              <a:rPr lang="en-US" sz="2400" b="1" dirty="0">
                <a:latin typeface="Times New Roman" panose="02020603050405020304" pitchFamily="18" charset="0"/>
                <a:cs typeface="Times New Roman" panose="02020603050405020304" pitchFamily="18" charset="0"/>
              </a:rPr>
              <a:t>the mobile host</a:t>
            </a:r>
            <a:r>
              <a:rPr lang="en-US" sz="2400" dirty="0">
                <a:latin typeface="Times New Roman" panose="02020603050405020304" pitchFamily="18" charset="0"/>
                <a:cs typeface="Times New Roman" panose="02020603050405020304" pitchFamily="18" charset="0"/>
              </a:rPr>
              <a:t> by encapsulating them in </a:t>
            </a:r>
            <a:r>
              <a:rPr lang="en-US" sz="2400" dirty="0">
                <a:solidFill>
                  <a:srgbClr val="00B050"/>
                </a:solidFill>
                <a:latin typeface="Times New Roman" panose="02020603050405020304" pitchFamily="18" charset="0"/>
                <a:cs typeface="Times New Roman" panose="02020603050405020304" pitchFamily="18" charset="0"/>
              </a:rPr>
              <a:t>the payload of packets explicitly addressed </a:t>
            </a:r>
            <a:r>
              <a:rPr lang="en-US" sz="2400" dirty="0">
                <a:latin typeface="Times New Roman" panose="02020603050405020304" pitchFamily="18" charset="0"/>
                <a:cs typeface="Times New Roman" panose="02020603050405020304" pitchFamily="18" charset="0"/>
              </a:rPr>
              <a:t>to the </a:t>
            </a:r>
            <a:r>
              <a:rPr lang="en-US" sz="2400" b="1" dirty="0">
                <a:latin typeface="Times New Roman" panose="02020603050405020304" pitchFamily="18" charset="0"/>
                <a:cs typeface="Times New Roman" panose="02020603050405020304" pitchFamily="18" charset="0"/>
              </a:rPr>
              <a:t>foreign agent </a:t>
            </a:r>
            <a:r>
              <a:rPr lang="en-US" sz="2400" dirty="0">
                <a:latin typeface="Times New Roman" panose="02020603050405020304" pitchFamily="18" charset="0"/>
                <a:cs typeface="Times New Roman" panose="02020603050405020304" pitchFamily="18" charset="0"/>
              </a:rPr>
              <a:t>instead of just sending them to the mobile host's home address (step 3). </a:t>
            </a:r>
            <a:endParaRPr dirty="0">
              <a:latin typeface="Times New Roman" panose="02020603050405020304" pitchFamily="18" charset="0"/>
              <a:cs typeface="Times New Roman" panose="02020603050405020304" pitchFamily="18" charset="0"/>
            </a:endParaRPr>
          </a:p>
          <a:p>
            <a:pPr marL="403225" lvl="0" indent="-360680" algn="just" rtl="0">
              <a:lnSpc>
                <a:spcPct val="110000"/>
              </a:lnSpc>
              <a:spcBef>
                <a:spcPts val="1000"/>
              </a:spcBef>
              <a:spcAft>
                <a:spcPts val="0"/>
              </a:spcAft>
              <a:buSzPts val="2400"/>
              <a:buChar char="•"/>
            </a:pPr>
            <a:r>
              <a:rPr lang="en-US" sz="2400" dirty="0">
                <a:latin typeface="Times New Roman" panose="02020603050405020304" pitchFamily="18" charset="0"/>
                <a:cs typeface="Times New Roman" panose="02020603050405020304" pitchFamily="18" charset="0"/>
              </a:rPr>
              <a:t>Subsequent </a:t>
            </a:r>
            <a:r>
              <a:rPr lang="en-US" sz="2400" dirty="0">
                <a:solidFill>
                  <a:srgbClr val="FF0000"/>
                </a:solidFill>
                <a:latin typeface="Times New Roman" panose="02020603050405020304" pitchFamily="18" charset="0"/>
                <a:cs typeface="Times New Roman" panose="02020603050405020304" pitchFamily="18" charset="0"/>
              </a:rPr>
              <a:t>packets can now be routed directly to the host </a:t>
            </a:r>
            <a:r>
              <a:rPr lang="en-US" sz="2400" dirty="0">
                <a:latin typeface="Times New Roman" panose="02020603050405020304" pitchFamily="18" charset="0"/>
                <a:cs typeface="Times New Roman" panose="02020603050405020304" pitchFamily="18" charset="0"/>
              </a:rPr>
              <a:t>via the </a:t>
            </a:r>
            <a:r>
              <a:rPr lang="en-US" sz="2400" b="1" dirty="0">
                <a:latin typeface="Times New Roman" panose="02020603050405020304" pitchFamily="18" charset="0"/>
                <a:cs typeface="Times New Roman" panose="02020603050405020304" pitchFamily="18" charset="0"/>
              </a:rPr>
              <a:t>foreign agent </a:t>
            </a:r>
            <a:r>
              <a:rPr lang="en-US" sz="2400" dirty="0">
                <a:latin typeface="Times New Roman" panose="02020603050405020304" pitchFamily="18" charset="0"/>
                <a:cs typeface="Times New Roman" panose="02020603050405020304" pitchFamily="18" charset="0"/>
              </a:rPr>
              <a:t>(step 4), bypassing the home location entirely.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524000" y="1"/>
            <a:ext cx="9144000" cy="614597"/>
          </a:xfrm>
        </p:spPr>
        <p:txBody>
          <a:bodyPr>
            <a:normAutofit fontScale="90000"/>
          </a:bodyPr>
          <a:lstStyle/>
          <a:p>
            <a:r>
              <a:rPr lang="en-US" b="1" dirty="0"/>
              <a:t>Congestion Control Algorithms</a:t>
            </a:r>
          </a:p>
        </p:txBody>
      </p:sp>
      <p:sp>
        <p:nvSpPr>
          <p:cNvPr id="36867" name="Rectangle 3"/>
          <p:cNvSpPr>
            <a:spLocks noGrp="1" noChangeArrowheads="1"/>
          </p:cNvSpPr>
          <p:nvPr>
            <p:ph type="body" idx="1"/>
          </p:nvPr>
        </p:nvSpPr>
        <p:spPr>
          <a:xfrm>
            <a:off x="1952990" y="6019800"/>
            <a:ext cx="8367713" cy="838200"/>
          </a:xfrm>
        </p:spPr>
        <p:txBody>
          <a:bodyPr>
            <a:normAutofit fontScale="92500" lnSpcReduction="20000"/>
          </a:bodyPr>
          <a:lstStyle/>
          <a:p>
            <a:pPr algn="ctr">
              <a:buFontTx/>
              <a:buNone/>
            </a:pPr>
            <a:r>
              <a:rPr lang="en-US" dirty="0"/>
              <a:t>When too much traffic is offered, congestion sets in and performance degrades sharply.</a:t>
            </a:r>
          </a:p>
        </p:txBody>
      </p:sp>
      <p:pic>
        <p:nvPicPr>
          <p:cNvPr id="36869" name="Picture 5" descr="5-25"/>
          <p:cNvPicPr>
            <a:picLocks noChangeAspect="1" noChangeArrowheads="1"/>
          </p:cNvPicPr>
          <p:nvPr/>
        </p:nvPicPr>
        <p:blipFill>
          <a:blip r:embed="rId2" cstate="print"/>
          <a:srcRect/>
          <a:stretch>
            <a:fillRect/>
          </a:stretch>
        </p:blipFill>
        <p:spPr bwMode="auto">
          <a:xfrm>
            <a:off x="2423411" y="1759078"/>
            <a:ext cx="7251167" cy="4105826"/>
          </a:xfrm>
          <a:prstGeom prst="rect">
            <a:avLst/>
          </a:prstGeom>
          <a:noFill/>
        </p:spPr>
      </p:pic>
      <p:sp>
        <p:nvSpPr>
          <p:cNvPr id="5" name="Rectangle 4"/>
          <p:cNvSpPr/>
          <p:nvPr/>
        </p:nvSpPr>
        <p:spPr>
          <a:xfrm>
            <a:off x="1523999" y="703820"/>
            <a:ext cx="9637643" cy="861774"/>
          </a:xfrm>
          <a:prstGeom prst="rect">
            <a:avLst/>
          </a:prstGeom>
        </p:spPr>
        <p:txBody>
          <a:bodyPr wrap="square">
            <a:spAutoFit/>
          </a:bodyPr>
          <a:lstStyle/>
          <a:p>
            <a:pPr lvl="1" algn="just"/>
            <a:r>
              <a:rPr lang="en-US" sz="2500" dirty="0">
                <a:latin typeface="Times New Roman" panose="02020603050405020304" pitchFamily="18" charset="0"/>
                <a:cs typeface="Times New Roman" panose="02020603050405020304" pitchFamily="18" charset="0"/>
              </a:rPr>
              <a:t>When </a:t>
            </a:r>
            <a:r>
              <a:rPr lang="en-US" sz="2500" b="1" dirty="0">
                <a:latin typeface="Times New Roman" panose="02020603050405020304" pitchFamily="18" charset="0"/>
                <a:cs typeface="Times New Roman" panose="02020603050405020304" pitchFamily="18" charset="0"/>
              </a:rPr>
              <a:t>too many packets are present </a:t>
            </a:r>
            <a:r>
              <a:rPr lang="en-US" sz="2500" dirty="0">
                <a:latin typeface="Times New Roman" panose="02020603050405020304" pitchFamily="18" charset="0"/>
                <a:cs typeface="Times New Roman" panose="02020603050405020304" pitchFamily="18" charset="0"/>
              </a:rPr>
              <a:t>in the subnet, performance degrades. This situation is called </a:t>
            </a:r>
            <a:r>
              <a:rPr lang="en-US" sz="2500" b="1" dirty="0">
                <a:solidFill>
                  <a:srgbClr val="FF0000"/>
                </a:solidFill>
                <a:latin typeface="Times New Roman" panose="02020603050405020304" pitchFamily="18" charset="0"/>
                <a:cs typeface="Times New Roman" panose="02020603050405020304" pitchFamily="18" charset="0"/>
              </a:rPr>
              <a:t>congestion</a:t>
            </a:r>
          </a:p>
        </p:txBody>
      </p:sp>
      <p:sp>
        <p:nvSpPr>
          <p:cNvPr id="6" name="Slide Number Placeholder 5"/>
          <p:cNvSpPr>
            <a:spLocks noGrp="1"/>
          </p:cNvSpPr>
          <p:nvPr>
            <p:ph type="sldNum" sz="quarter" idx="12"/>
          </p:nvPr>
        </p:nvSpPr>
        <p:spPr/>
        <p:txBody>
          <a:bodyPr/>
          <a:lstStyle/>
          <a:p>
            <a:fld id="{EF55C829-AE99-4997-8EBC-414F558758A8}"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524000" y="1"/>
            <a:ext cx="9144000" cy="854439"/>
          </a:xfrm>
        </p:spPr>
        <p:txBody>
          <a:bodyPr/>
          <a:lstStyle/>
          <a:p>
            <a:r>
              <a:rPr lang="en-US" dirty="0"/>
              <a:t>Congestion Control Algorithms</a:t>
            </a:r>
          </a:p>
        </p:txBody>
      </p:sp>
      <p:sp>
        <p:nvSpPr>
          <p:cNvPr id="35843" name="Rectangle 3"/>
          <p:cNvSpPr>
            <a:spLocks noGrp="1" noChangeArrowheads="1"/>
          </p:cNvSpPr>
          <p:nvPr>
            <p:ph type="body" idx="1"/>
          </p:nvPr>
        </p:nvSpPr>
        <p:spPr>
          <a:xfrm>
            <a:off x="1252333" y="734519"/>
            <a:ext cx="9899374" cy="5936104"/>
          </a:xfrm>
        </p:spPr>
        <p:txBody>
          <a:bodyPr>
            <a:normAutofit/>
          </a:bodyPr>
          <a:lstStyle/>
          <a:p>
            <a:pPr algn="just">
              <a:buFontTx/>
              <a:buChar char="•"/>
            </a:pPr>
            <a:r>
              <a:rPr lang="en-US" sz="2400" dirty="0">
                <a:latin typeface="Times New Roman" panose="02020603050405020304" pitchFamily="18" charset="0"/>
                <a:cs typeface="Times New Roman" panose="02020603050405020304" pitchFamily="18" charset="0"/>
              </a:rPr>
              <a:t>Congestion can be brought on by </a:t>
            </a:r>
            <a:r>
              <a:rPr lang="en-US" sz="2400" dirty="0">
                <a:solidFill>
                  <a:srgbClr val="FF0000"/>
                </a:solidFill>
                <a:latin typeface="Times New Roman" panose="02020603050405020304" pitchFamily="18" charset="0"/>
                <a:cs typeface="Times New Roman" panose="02020603050405020304" pitchFamily="18" charset="0"/>
              </a:rPr>
              <a:t>several factors:</a:t>
            </a:r>
            <a:endParaRPr lang="en-US" sz="2400" dirty="0">
              <a:latin typeface="Times New Roman" panose="02020603050405020304" pitchFamily="18" charset="0"/>
              <a:cs typeface="Times New Roman" panose="02020603050405020304" pitchFamily="18" charset="0"/>
            </a:endParaRPr>
          </a:p>
          <a:p>
            <a:pPr lvl="1" algn="just">
              <a:buFont typeface="+mj-lt"/>
              <a:buAutoNum type="arabicPeriod"/>
            </a:pPr>
            <a:r>
              <a:rPr lang="en-US" dirty="0">
                <a:latin typeface="Times New Roman" panose="02020603050405020304" pitchFamily="18" charset="0"/>
                <a:cs typeface="Times New Roman" panose="02020603050405020304" pitchFamily="18" charset="0"/>
              </a:rPr>
              <a:t>If all of a sudden, streams of packets begin arriving on three or four input lines and all need the same output line, a </a:t>
            </a:r>
            <a:r>
              <a:rPr lang="en-US" dirty="0">
                <a:solidFill>
                  <a:srgbClr val="FF0000"/>
                </a:solidFill>
                <a:latin typeface="Times New Roman" panose="02020603050405020304" pitchFamily="18" charset="0"/>
                <a:cs typeface="Times New Roman" panose="02020603050405020304" pitchFamily="18" charset="0"/>
              </a:rPr>
              <a:t>queue</a:t>
            </a:r>
            <a:r>
              <a:rPr lang="en-US" dirty="0">
                <a:latin typeface="Times New Roman" panose="02020603050405020304" pitchFamily="18" charset="0"/>
                <a:cs typeface="Times New Roman" panose="02020603050405020304" pitchFamily="18" charset="0"/>
              </a:rPr>
              <a:t> will build up. </a:t>
            </a:r>
          </a:p>
          <a:p>
            <a:pPr lvl="2" algn="just">
              <a:buFont typeface="Arial" pitchFamily="34" charset="0"/>
              <a:buChar char="•"/>
            </a:pPr>
            <a:r>
              <a:rPr lang="en-US" sz="2400" dirty="0">
                <a:latin typeface="Times New Roman" panose="02020603050405020304" pitchFamily="18" charset="0"/>
                <a:cs typeface="Times New Roman" panose="02020603050405020304" pitchFamily="18" charset="0"/>
              </a:rPr>
              <a:t>If there is </a:t>
            </a:r>
            <a:r>
              <a:rPr lang="en-US" sz="2400" b="1" dirty="0">
                <a:latin typeface="Times New Roman" panose="02020603050405020304" pitchFamily="18" charset="0"/>
                <a:cs typeface="Times New Roman" panose="02020603050405020304" pitchFamily="18" charset="0"/>
              </a:rPr>
              <a:t>insufficient memory</a:t>
            </a:r>
            <a:r>
              <a:rPr lang="en-US" sz="2400" dirty="0">
                <a:latin typeface="Times New Roman" panose="02020603050405020304" pitchFamily="18" charset="0"/>
                <a:cs typeface="Times New Roman" panose="02020603050405020304" pitchFamily="18" charset="0"/>
              </a:rPr>
              <a:t> to hold all of them, packets will be lost.</a:t>
            </a:r>
          </a:p>
          <a:p>
            <a:pPr lvl="2" algn="just">
              <a:buFont typeface="Arial" pitchFamily="34" charset="0"/>
              <a:buChar char="•"/>
            </a:pPr>
            <a:r>
              <a:rPr lang="en-US" sz="2400" dirty="0">
                <a:latin typeface="Times New Roman" panose="02020603050405020304" pitchFamily="18" charset="0"/>
                <a:cs typeface="Times New Roman" panose="02020603050405020304" pitchFamily="18" charset="0"/>
              </a:rPr>
              <a:t>But if routers have an </a:t>
            </a:r>
            <a:r>
              <a:rPr lang="en-US" sz="2400" b="1" dirty="0">
                <a:latin typeface="Times New Roman" panose="02020603050405020304" pitchFamily="18" charset="0"/>
                <a:cs typeface="Times New Roman" panose="02020603050405020304" pitchFamily="18" charset="0"/>
              </a:rPr>
              <a:t>infinite amount of memory, congestion gets worse</a:t>
            </a:r>
            <a:r>
              <a:rPr lang="en-US" sz="2400" dirty="0">
                <a:latin typeface="Times New Roman" panose="02020603050405020304" pitchFamily="18" charset="0"/>
                <a:cs typeface="Times New Roman" panose="02020603050405020304" pitchFamily="18" charset="0"/>
              </a:rPr>
              <a:t> because by the time packets get to the </a:t>
            </a:r>
            <a:r>
              <a:rPr lang="en-US" sz="2400" b="1" dirty="0">
                <a:latin typeface="Times New Roman" panose="02020603050405020304" pitchFamily="18" charset="0"/>
                <a:cs typeface="Times New Roman" panose="02020603050405020304" pitchFamily="18" charset="0"/>
              </a:rPr>
              <a:t>front of the queue</a:t>
            </a:r>
            <a:r>
              <a:rPr lang="en-US" sz="2400" dirty="0">
                <a:latin typeface="Times New Roman" panose="02020603050405020304" pitchFamily="18" charset="0"/>
                <a:cs typeface="Times New Roman" panose="02020603050405020304" pitchFamily="18" charset="0"/>
              </a:rPr>
              <a:t>, they have already timed out</a:t>
            </a:r>
          </a:p>
          <a:p>
            <a:pPr lvl="1" algn="just">
              <a:buFont typeface="+mj-lt"/>
              <a:buAutoNum type="arabicPeriod" startAt="2"/>
            </a:pPr>
            <a:r>
              <a:rPr lang="en-US" dirty="0">
                <a:solidFill>
                  <a:srgbClr val="FF0000"/>
                </a:solidFill>
                <a:latin typeface="Times New Roman" panose="02020603050405020304" pitchFamily="18" charset="0"/>
                <a:cs typeface="Times New Roman" panose="02020603050405020304" pitchFamily="18" charset="0"/>
              </a:rPr>
              <a:t>Slow processors </a:t>
            </a:r>
            <a:r>
              <a:rPr lang="en-US" dirty="0">
                <a:latin typeface="Times New Roman" panose="02020603050405020304" pitchFamily="18" charset="0"/>
                <a:cs typeface="Times New Roman" panose="02020603050405020304" pitchFamily="18" charset="0"/>
              </a:rPr>
              <a:t>can also cause congestion. </a:t>
            </a:r>
          </a:p>
          <a:p>
            <a:pPr lvl="2" algn="just">
              <a:buFont typeface="Arial" pitchFamily="34" charset="0"/>
              <a:buChar char="•"/>
            </a:pPr>
            <a:r>
              <a:rPr lang="en-US" sz="2400" dirty="0">
                <a:latin typeface="Times New Roman" panose="02020603050405020304" pitchFamily="18" charset="0"/>
                <a:cs typeface="Times New Roman" panose="02020603050405020304" pitchFamily="18" charset="0"/>
              </a:rPr>
              <a:t>If the routers' CPUs are slow at performing </a:t>
            </a:r>
            <a:r>
              <a:rPr lang="en-US" sz="2400" b="1" dirty="0">
                <a:latin typeface="Times New Roman" panose="02020603050405020304" pitchFamily="18" charset="0"/>
                <a:cs typeface="Times New Roman" panose="02020603050405020304" pitchFamily="18" charset="0"/>
              </a:rPr>
              <a:t>queuing buffers, updating tables, etc.</a:t>
            </a:r>
            <a:r>
              <a:rPr lang="en-US" sz="2400" dirty="0">
                <a:latin typeface="Times New Roman" panose="02020603050405020304" pitchFamily="18" charset="0"/>
                <a:cs typeface="Times New Roman" panose="02020603050405020304" pitchFamily="18" charset="0"/>
              </a:rPr>
              <a:t>, queues can build up, even though there is excess line capacity. </a:t>
            </a:r>
          </a:p>
          <a:p>
            <a:pPr lvl="1" algn="just">
              <a:buFont typeface="+mj-lt"/>
              <a:buAutoNum type="arabicPeriod" startAt="2"/>
            </a:pPr>
            <a:r>
              <a:rPr lang="en-US" dirty="0">
                <a:solidFill>
                  <a:srgbClr val="FF0000"/>
                </a:solidFill>
                <a:latin typeface="Times New Roman" panose="02020603050405020304" pitchFamily="18" charset="0"/>
                <a:cs typeface="Times New Roman" panose="02020603050405020304" pitchFamily="18" charset="0"/>
              </a:rPr>
              <a:t>low-bandwidth lines </a:t>
            </a:r>
            <a:r>
              <a:rPr lang="en-US" dirty="0">
                <a:latin typeface="Times New Roman" panose="02020603050405020304" pitchFamily="18" charset="0"/>
                <a:cs typeface="Times New Roman" panose="02020603050405020304" pitchFamily="18" charset="0"/>
              </a:rPr>
              <a:t>can also cause congestion. </a:t>
            </a:r>
          </a:p>
          <a:p>
            <a:pPr lvl="2" algn="just">
              <a:buFont typeface="Arial" pitchFamily="34" charset="0"/>
              <a:buChar char="•"/>
            </a:pPr>
            <a:r>
              <a:rPr lang="en-US" sz="2400" dirty="0">
                <a:latin typeface="Times New Roman" panose="02020603050405020304" pitchFamily="18" charset="0"/>
                <a:cs typeface="Times New Roman" panose="02020603050405020304" pitchFamily="18" charset="0"/>
              </a:rPr>
              <a:t>Upgrading the lines often helps a little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General Principles of Congestion Control</a:t>
            </a:r>
          </a:p>
        </p:txBody>
      </p:sp>
      <p:sp>
        <p:nvSpPr>
          <p:cNvPr id="37891" name="Rectangle 3"/>
          <p:cNvSpPr>
            <a:spLocks noGrp="1" noChangeArrowheads="1"/>
          </p:cNvSpPr>
          <p:nvPr>
            <p:ph type="body" idx="1"/>
          </p:nvPr>
        </p:nvSpPr>
        <p:spPr>
          <a:xfrm>
            <a:off x="1523999" y="722489"/>
            <a:ext cx="9597887" cy="5983111"/>
          </a:xfrm>
        </p:spPr>
        <p:txBody>
          <a:bodyPr/>
          <a:lstStyle/>
          <a:p>
            <a:pPr>
              <a:buFont typeface="Arial" pitchFamily="34" charset="0"/>
              <a:buChar char="•"/>
            </a:pPr>
            <a:endParaRPr lang="en-US" dirty="0">
              <a:solidFill>
                <a:srgbClr val="FF0000"/>
              </a:solidFill>
            </a:endParaRPr>
          </a:p>
          <a:p>
            <a:pPr>
              <a:buFont typeface="Arial" pitchFamily="34" charset="0"/>
              <a:buChar char="•"/>
            </a:pPr>
            <a:endParaRPr lang="en-US" dirty="0">
              <a:solidFill>
                <a:srgbClr val="FF0000"/>
              </a:solidFill>
            </a:endParaRPr>
          </a:p>
          <a:p>
            <a:pPr>
              <a:buFont typeface="Arial"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a:buFont typeface="Arial" pitchFamily="34" charset="0"/>
              <a:buChar char="•"/>
            </a:pPr>
            <a:endParaRPr lang="en-US" sz="2400" dirty="0">
              <a:solidFill>
                <a:srgbClr val="FF0000"/>
              </a:solidFill>
              <a:latin typeface="Times New Roman" panose="02020603050405020304" pitchFamily="18" charset="0"/>
              <a:cs typeface="Times New Roman" panose="02020603050405020304" pitchFamily="18" charset="0"/>
            </a:endParaRPr>
          </a:p>
          <a:p>
            <a:pPr algn="just">
              <a:buFont typeface="Arial" pitchFamily="34" charset="0"/>
              <a:buChar char="•"/>
            </a:pPr>
            <a:r>
              <a:rPr lang="en-US" sz="2400" dirty="0">
                <a:solidFill>
                  <a:srgbClr val="FF0000"/>
                </a:solidFill>
                <a:latin typeface="Times New Roman" panose="02020603050405020304" pitchFamily="18" charset="0"/>
                <a:cs typeface="Times New Roman" panose="02020603050405020304" pitchFamily="18" charset="0"/>
              </a:rPr>
              <a:t>Open loop solutions </a:t>
            </a:r>
            <a:r>
              <a:rPr lang="en-US" sz="2400" dirty="0">
                <a:latin typeface="Times New Roman" panose="02020603050405020304" pitchFamily="18" charset="0"/>
                <a:cs typeface="Times New Roman" panose="02020603050405020304" pitchFamily="18" charset="0"/>
              </a:rPr>
              <a:t>attempt to solve the problem by </a:t>
            </a:r>
            <a:r>
              <a:rPr lang="en-US" sz="2400" dirty="0">
                <a:solidFill>
                  <a:srgbClr val="FF0000"/>
                </a:solidFill>
                <a:latin typeface="Times New Roman" panose="02020603050405020304" pitchFamily="18" charset="0"/>
                <a:cs typeface="Times New Roman" panose="02020603050405020304" pitchFamily="18" charset="0"/>
              </a:rPr>
              <a:t>good design</a:t>
            </a:r>
            <a:r>
              <a:rPr lang="en-US" sz="2400" dirty="0">
                <a:latin typeface="Times New Roman" panose="02020603050405020304" pitchFamily="18" charset="0"/>
                <a:cs typeface="Times New Roman" panose="02020603050405020304" pitchFamily="18" charset="0"/>
              </a:rPr>
              <a:t>, to make sure </a:t>
            </a:r>
            <a:r>
              <a:rPr lang="en-US" sz="2400" b="1" dirty="0">
                <a:latin typeface="Times New Roman" panose="02020603050405020304" pitchFamily="18" charset="0"/>
                <a:cs typeface="Times New Roman" panose="02020603050405020304" pitchFamily="18" charset="0"/>
              </a:rPr>
              <a:t>congestion does not occur in the first place</a:t>
            </a:r>
            <a:r>
              <a:rPr lang="en-US" sz="2400"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sz="2400" dirty="0">
                <a:latin typeface="Times New Roman" panose="02020603050405020304" pitchFamily="18" charset="0"/>
                <a:cs typeface="Times New Roman" panose="02020603050405020304" pitchFamily="18" charset="0"/>
              </a:rPr>
              <a:t>Once the system is up and running, </a:t>
            </a:r>
            <a:r>
              <a:rPr lang="en-US" sz="2400" b="1" dirty="0">
                <a:latin typeface="Times New Roman" panose="02020603050405020304" pitchFamily="18" charset="0"/>
                <a:cs typeface="Times New Roman" panose="02020603050405020304" pitchFamily="18" charset="0"/>
              </a:rPr>
              <a:t>midcourse corrections are not made </a:t>
            </a:r>
          </a:p>
          <a:p>
            <a:pPr algn="just">
              <a:buFont typeface="Arial" pitchFamily="34" charset="0"/>
              <a:buChar char="•"/>
            </a:pPr>
            <a:r>
              <a:rPr lang="en-US" sz="2400" b="1" dirty="0">
                <a:latin typeface="Times New Roman" panose="02020603050405020304" pitchFamily="18" charset="0"/>
                <a:cs typeface="Times New Roman" panose="02020603050405020304" pitchFamily="18" charset="0"/>
              </a:rPr>
              <a:t>Tools for doing open-loop control </a:t>
            </a:r>
            <a:r>
              <a:rPr lang="en-US" sz="2400" dirty="0">
                <a:latin typeface="Times New Roman" panose="02020603050405020304" pitchFamily="18" charset="0"/>
                <a:cs typeface="Times New Roman" panose="02020603050405020304" pitchFamily="18" charset="0"/>
              </a:rPr>
              <a:t>include </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deciding when to accept new traffic</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deciding when to discard packets</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which ones to discard</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making scheduling decisions at various points in the network</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76</a:t>
            </a:fld>
            <a:endParaRPr lang="en-US"/>
          </a:p>
        </p:txBody>
      </p:sp>
      <p:pic>
        <p:nvPicPr>
          <p:cNvPr id="5" name="Google Shape;632;p66">
            <a:extLst>
              <a:ext uri="{FF2B5EF4-FFF2-40B4-BE49-F238E27FC236}">
                <a16:creationId xmlns:a16="http://schemas.microsoft.com/office/drawing/2014/main" xmlns="" id="{760D7F19-52FD-4433-B990-4B97BC6D9DA2}"/>
              </a:ext>
            </a:extLst>
          </p:cNvPr>
          <p:cNvPicPr preferRelativeResize="0"/>
          <p:nvPr/>
        </p:nvPicPr>
        <p:blipFill rotWithShape="1">
          <a:blip r:embed="rId2">
            <a:alphaModFix/>
          </a:blip>
          <a:srcRect/>
          <a:stretch/>
        </p:blipFill>
        <p:spPr>
          <a:xfrm>
            <a:off x="2746514" y="533194"/>
            <a:ext cx="5311775" cy="216693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General Principles of Congestion Control</a:t>
            </a:r>
          </a:p>
        </p:txBody>
      </p:sp>
      <p:sp>
        <p:nvSpPr>
          <p:cNvPr id="37891" name="Rectangle 3"/>
          <p:cNvSpPr>
            <a:spLocks noGrp="1" noChangeArrowheads="1"/>
          </p:cNvSpPr>
          <p:nvPr>
            <p:ph type="body" idx="1"/>
          </p:nvPr>
        </p:nvSpPr>
        <p:spPr>
          <a:xfrm>
            <a:off x="1659468" y="722489"/>
            <a:ext cx="9402784" cy="5983111"/>
          </a:xfrm>
        </p:spPr>
        <p:txBody>
          <a:bodyPr>
            <a:normAutofit lnSpcReduction="10000"/>
          </a:bodyPr>
          <a:lstStyle/>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Closed loop solutions </a:t>
            </a:r>
            <a:r>
              <a:rPr lang="en-US" sz="2600" dirty="0">
                <a:latin typeface="Times New Roman" panose="02020603050405020304" pitchFamily="18" charset="0"/>
                <a:cs typeface="Times New Roman" panose="02020603050405020304" pitchFamily="18" charset="0"/>
              </a:rPr>
              <a:t>are based on the </a:t>
            </a:r>
            <a:r>
              <a:rPr lang="en-US" sz="2600" b="1" dirty="0">
                <a:latin typeface="Times New Roman" panose="02020603050405020304" pitchFamily="18" charset="0"/>
                <a:cs typeface="Times New Roman" panose="02020603050405020304" pitchFamily="18" charset="0"/>
              </a:rPr>
              <a:t>concept of a feedback loop. </a:t>
            </a:r>
          </a:p>
          <a:p>
            <a:pPr algn="just">
              <a:buFont typeface="Arial" pitchFamily="34" charset="0"/>
              <a:buChar char="•"/>
            </a:pPr>
            <a:r>
              <a:rPr lang="en-US" sz="2600" dirty="0">
                <a:latin typeface="Times New Roman" panose="02020603050405020304" pitchFamily="18" charset="0"/>
                <a:cs typeface="Times New Roman" panose="02020603050405020304" pitchFamily="18" charset="0"/>
              </a:rPr>
              <a:t>This approach has </a:t>
            </a:r>
            <a:r>
              <a:rPr lang="en-US" sz="2600" dirty="0">
                <a:solidFill>
                  <a:srgbClr val="FF0000"/>
                </a:solidFill>
                <a:latin typeface="Times New Roman" panose="02020603050405020304" pitchFamily="18" charset="0"/>
                <a:cs typeface="Times New Roman" panose="02020603050405020304" pitchFamily="18" charset="0"/>
              </a:rPr>
              <a:t>three parts </a:t>
            </a:r>
            <a:r>
              <a:rPr lang="en-US" sz="2600" dirty="0">
                <a:latin typeface="Times New Roman" panose="02020603050405020304" pitchFamily="18" charset="0"/>
                <a:cs typeface="Times New Roman" panose="02020603050405020304" pitchFamily="18" charset="0"/>
              </a:rPr>
              <a:t>when applied to congestion control:</a:t>
            </a:r>
          </a:p>
          <a:p>
            <a:pPr lvl="1" algn="just">
              <a:buFont typeface="+mj-lt"/>
              <a:buAutoNum type="arabicPeriod"/>
            </a:pPr>
            <a:r>
              <a:rPr lang="en-US" sz="2600" dirty="0">
                <a:solidFill>
                  <a:srgbClr val="FF0000"/>
                </a:solidFill>
                <a:latin typeface="Times New Roman" panose="02020603050405020304" pitchFamily="18" charset="0"/>
                <a:cs typeface="Times New Roman" panose="02020603050405020304" pitchFamily="18" charset="0"/>
              </a:rPr>
              <a:t>Monitor</a:t>
            </a:r>
            <a:r>
              <a:rPr lang="en-US" sz="2600" dirty="0">
                <a:latin typeface="Times New Roman" panose="02020603050405020304" pitchFamily="18" charset="0"/>
                <a:cs typeface="Times New Roman" panose="02020603050405020304" pitchFamily="18" charset="0"/>
              </a:rPr>
              <a:t> the system to detect when and where congestion occurs. </a:t>
            </a:r>
          </a:p>
          <a:p>
            <a:pPr lvl="1" algn="just">
              <a:buFont typeface="+mj-lt"/>
              <a:buAutoNum type="arabicPeriod"/>
            </a:pPr>
            <a:r>
              <a:rPr lang="en-US" sz="2600" dirty="0">
                <a:solidFill>
                  <a:srgbClr val="FF0000"/>
                </a:solidFill>
                <a:latin typeface="Times New Roman" panose="02020603050405020304" pitchFamily="18" charset="0"/>
                <a:cs typeface="Times New Roman" panose="02020603050405020304" pitchFamily="18" charset="0"/>
              </a:rPr>
              <a:t>Pass</a:t>
            </a:r>
            <a:r>
              <a:rPr lang="en-US" sz="2600" dirty="0">
                <a:latin typeface="Times New Roman" panose="02020603050405020304" pitchFamily="18" charset="0"/>
                <a:cs typeface="Times New Roman" panose="02020603050405020304" pitchFamily="18" charset="0"/>
              </a:rPr>
              <a:t> this information to places where action can be taken. </a:t>
            </a:r>
          </a:p>
          <a:p>
            <a:pPr lvl="1" algn="just">
              <a:buFont typeface="+mj-lt"/>
              <a:buAutoNum type="arabicPeriod"/>
            </a:pPr>
            <a:r>
              <a:rPr lang="en-US" sz="2600" dirty="0">
                <a:solidFill>
                  <a:srgbClr val="FF0000"/>
                </a:solidFill>
                <a:latin typeface="Times New Roman" panose="02020603050405020304" pitchFamily="18" charset="0"/>
                <a:cs typeface="Times New Roman" panose="02020603050405020304" pitchFamily="18" charset="0"/>
              </a:rPr>
              <a:t>Adjust</a:t>
            </a:r>
            <a:r>
              <a:rPr lang="en-US" sz="2600" dirty="0">
                <a:latin typeface="Times New Roman" panose="02020603050405020304" pitchFamily="18" charset="0"/>
                <a:cs typeface="Times New Roman" panose="02020603050405020304" pitchFamily="18" charset="0"/>
              </a:rPr>
              <a:t> system operation to correct the problem. </a:t>
            </a:r>
          </a:p>
          <a:p>
            <a:pPr algn="just">
              <a:buFont typeface="Arial" pitchFamily="34" charset="0"/>
              <a:buChar char="•"/>
            </a:pPr>
            <a:r>
              <a:rPr lang="en-US" sz="2600" b="1" dirty="0">
                <a:latin typeface="Times New Roman" panose="02020603050405020304" pitchFamily="18" charset="0"/>
                <a:cs typeface="Times New Roman" panose="02020603050405020304" pitchFamily="18" charset="0"/>
              </a:rPr>
              <a:t>Variety of metrics </a:t>
            </a:r>
            <a:r>
              <a:rPr lang="en-US" sz="2600" dirty="0">
                <a:latin typeface="Times New Roman" panose="02020603050405020304" pitchFamily="18" charset="0"/>
                <a:cs typeface="Times New Roman" panose="02020603050405020304" pitchFamily="18" charset="0"/>
              </a:rPr>
              <a:t>can be used to </a:t>
            </a:r>
            <a:r>
              <a:rPr lang="en-US" sz="2600" dirty="0">
                <a:solidFill>
                  <a:srgbClr val="FF0000"/>
                </a:solidFill>
                <a:latin typeface="Times New Roman" panose="02020603050405020304" pitchFamily="18" charset="0"/>
                <a:cs typeface="Times New Roman" panose="02020603050405020304" pitchFamily="18" charset="0"/>
              </a:rPr>
              <a:t>monitor</a:t>
            </a:r>
            <a:r>
              <a:rPr lang="en-US" sz="2600" dirty="0">
                <a:latin typeface="Times New Roman" panose="02020603050405020304" pitchFamily="18" charset="0"/>
                <a:cs typeface="Times New Roman" panose="02020603050405020304" pitchFamily="18" charset="0"/>
              </a:rPr>
              <a:t> the subnet for congestion:</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percentage of all packets </a:t>
            </a:r>
            <a:r>
              <a:rPr lang="en-US" sz="2600" dirty="0">
                <a:solidFill>
                  <a:srgbClr val="FF0000"/>
                </a:solidFill>
                <a:latin typeface="Times New Roman" panose="02020603050405020304" pitchFamily="18" charset="0"/>
                <a:cs typeface="Times New Roman" panose="02020603050405020304" pitchFamily="18" charset="0"/>
              </a:rPr>
              <a:t>discarded for lack of buffer space</a:t>
            </a:r>
            <a:r>
              <a:rPr lang="en-US" sz="2600" dirty="0">
                <a:latin typeface="Times New Roman" panose="02020603050405020304" pitchFamily="18" charset="0"/>
                <a:cs typeface="Times New Roman" panose="02020603050405020304" pitchFamily="18" charset="0"/>
              </a:rPr>
              <a:t>,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average </a:t>
            </a:r>
            <a:r>
              <a:rPr lang="en-US" sz="2600" dirty="0">
                <a:solidFill>
                  <a:srgbClr val="FF0000"/>
                </a:solidFill>
                <a:latin typeface="Times New Roman" panose="02020603050405020304" pitchFamily="18" charset="0"/>
                <a:cs typeface="Times New Roman" panose="02020603050405020304" pitchFamily="18" charset="0"/>
              </a:rPr>
              <a:t>queue lengths</a:t>
            </a:r>
            <a:r>
              <a:rPr lang="en-US" sz="2600" dirty="0">
                <a:latin typeface="Times New Roman" panose="02020603050405020304" pitchFamily="18" charset="0"/>
                <a:cs typeface="Times New Roman" panose="02020603050405020304" pitchFamily="18" charset="0"/>
              </a:rPr>
              <a:t>,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number of packets that </a:t>
            </a:r>
            <a:r>
              <a:rPr lang="en-US" sz="2600" dirty="0">
                <a:solidFill>
                  <a:srgbClr val="FF0000"/>
                </a:solidFill>
                <a:latin typeface="Times New Roman" panose="02020603050405020304" pitchFamily="18" charset="0"/>
                <a:cs typeface="Times New Roman" panose="02020603050405020304" pitchFamily="18" charset="0"/>
              </a:rPr>
              <a:t>time out and are retransmitted</a:t>
            </a:r>
            <a:r>
              <a:rPr lang="en-US" sz="2600" dirty="0">
                <a:latin typeface="Times New Roman" panose="02020603050405020304" pitchFamily="18" charset="0"/>
                <a:cs typeface="Times New Roman" panose="02020603050405020304" pitchFamily="18" charset="0"/>
              </a:rPr>
              <a:t>,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average </a:t>
            </a:r>
            <a:r>
              <a:rPr lang="en-US" sz="2600" dirty="0">
                <a:solidFill>
                  <a:srgbClr val="FF0000"/>
                </a:solidFill>
                <a:latin typeface="Times New Roman" panose="02020603050405020304" pitchFamily="18" charset="0"/>
                <a:cs typeface="Times New Roman" panose="02020603050405020304" pitchFamily="18" charset="0"/>
              </a:rPr>
              <a:t>packet delay</a:t>
            </a:r>
            <a:r>
              <a:rPr lang="en-US" sz="2600" dirty="0">
                <a:latin typeface="Times New Roman" panose="02020603050405020304" pitchFamily="18" charset="0"/>
                <a:cs typeface="Times New Roman" panose="02020603050405020304" pitchFamily="18" charset="0"/>
              </a:rPr>
              <a:t>, and </a:t>
            </a:r>
          </a:p>
          <a:p>
            <a:pPr lvl="1"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standard deviation of packet delay</a:t>
            </a:r>
            <a:r>
              <a:rPr lang="en-US" sz="2600"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sz="2600" dirty="0">
                <a:latin typeface="Times New Roman" panose="02020603050405020304" pitchFamily="18" charset="0"/>
                <a:cs typeface="Times New Roman" panose="02020603050405020304" pitchFamily="18" charset="0"/>
              </a:rPr>
              <a:t>In all cases, </a:t>
            </a:r>
            <a:r>
              <a:rPr lang="en-US" sz="2600" b="1" dirty="0">
                <a:latin typeface="Times New Roman" panose="02020603050405020304" pitchFamily="18" charset="0"/>
                <a:cs typeface="Times New Roman" panose="02020603050405020304" pitchFamily="18" charset="0"/>
              </a:rPr>
              <a:t>rising numbers indicate growing congestion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General Principles of Congestion Control</a:t>
            </a:r>
          </a:p>
        </p:txBody>
      </p:sp>
      <p:sp>
        <p:nvSpPr>
          <p:cNvPr id="37891" name="Rectangle 3"/>
          <p:cNvSpPr>
            <a:spLocks noGrp="1" noChangeArrowheads="1"/>
          </p:cNvSpPr>
          <p:nvPr>
            <p:ph type="body" idx="1"/>
          </p:nvPr>
        </p:nvSpPr>
        <p:spPr>
          <a:xfrm>
            <a:off x="606288" y="722489"/>
            <a:ext cx="10555356" cy="5983111"/>
          </a:xfrm>
        </p:spPr>
        <p:txBody>
          <a:bodyPr>
            <a:normAutofit fontScale="77500" lnSpcReduction="20000"/>
          </a:bodyPr>
          <a:lstStyle/>
          <a:p>
            <a:pPr algn="just">
              <a:lnSpc>
                <a:spcPct val="120000"/>
              </a:lnSpc>
              <a:buFont typeface="Arial" pitchFamily="34" charset="0"/>
              <a:buChar char="•"/>
            </a:pPr>
            <a:r>
              <a:rPr lang="en-US" sz="2400" b="1" dirty="0">
                <a:latin typeface="Times New Roman" panose="02020603050405020304" pitchFamily="18" charset="0"/>
                <a:cs typeface="Times New Roman" panose="02020603050405020304" pitchFamily="18" charset="0"/>
              </a:rPr>
              <a:t>Second step </a:t>
            </a:r>
            <a:r>
              <a:rPr lang="en-US" sz="2400" dirty="0">
                <a:latin typeface="Times New Roman" panose="02020603050405020304" pitchFamily="18" charset="0"/>
                <a:cs typeface="Times New Roman" panose="02020603050405020304" pitchFamily="18" charset="0"/>
              </a:rPr>
              <a:t>in the feedback loop </a:t>
            </a:r>
          </a:p>
          <a:p>
            <a:pPr lvl="1"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Router detecting the congestion has to </a:t>
            </a:r>
            <a:r>
              <a:rPr lang="en-US" dirty="0">
                <a:solidFill>
                  <a:srgbClr val="FF0000"/>
                </a:solidFill>
                <a:latin typeface="Times New Roman" panose="02020603050405020304" pitchFamily="18" charset="0"/>
                <a:cs typeface="Times New Roman" panose="02020603050405020304" pitchFamily="18" charset="0"/>
              </a:rPr>
              <a:t>send a packet </a:t>
            </a:r>
            <a:r>
              <a:rPr lang="en-US" b="1" dirty="0">
                <a:latin typeface="Times New Roman" panose="02020603050405020304" pitchFamily="18" charset="0"/>
                <a:cs typeface="Times New Roman" panose="02020603050405020304" pitchFamily="18" charset="0"/>
              </a:rPr>
              <a:t>to the traffic source or sources, announcing the problem </a:t>
            </a:r>
          </a:p>
          <a:p>
            <a:pPr lvl="2" algn="just">
              <a:lnSpc>
                <a:spcPct val="120000"/>
              </a:lnSpc>
              <a:buFont typeface="Arial" pitchFamily="34" charset="0"/>
              <a:buChar char="•"/>
            </a:pPr>
            <a:r>
              <a:rPr lang="en-US" sz="2400" dirty="0">
                <a:latin typeface="Times New Roman" panose="02020603050405020304" pitchFamily="18" charset="0"/>
                <a:cs typeface="Times New Roman" panose="02020603050405020304" pitchFamily="18" charset="0"/>
              </a:rPr>
              <a:t>But these extra packets </a:t>
            </a:r>
            <a:r>
              <a:rPr lang="en-US" sz="2400" dirty="0">
                <a:solidFill>
                  <a:srgbClr val="FF0000"/>
                </a:solidFill>
                <a:latin typeface="Times New Roman" panose="02020603050405020304" pitchFamily="18" charset="0"/>
                <a:cs typeface="Times New Roman" panose="02020603050405020304" pitchFamily="18" charset="0"/>
              </a:rPr>
              <a:t>increase the load </a:t>
            </a:r>
          </a:p>
          <a:p>
            <a:pPr marL="893763" indent="-357188" algn="just">
              <a:lnSpc>
                <a:spcPct val="12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Other approaches are also used at times to curtail down the congestion. For example,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hosts or routers send out probe packets at regular intervals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to explicitly ask about the congestion and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source itself regulate its transmission rate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if congestion is detected in the network. </a:t>
            </a:r>
          </a:p>
          <a:p>
            <a:pPr marL="1341438" indent="-357188" algn="just">
              <a:lnSpc>
                <a:spcPct val="12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This kind of approach is a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pro-active one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as source tries to get knowledge about congestion in the network and act accordingly. </a:t>
            </a:r>
          </a:p>
          <a:p>
            <a:pPr marL="893763" indent="-357188" algn="just">
              <a:lnSpc>
                <a:spcPct val="12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Another approach may be where instead of sending information back to the source an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intermediate router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which detects the congestion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send the information about the congestion to rest of the network, piggy backed to the outgoing packets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1341438" indent="-357188" algn="just">
              <a:lnSpc>
                <a:spcPct val="12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This approach will in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no way put an extra load on the network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(by not sending any kind of special packet for feedback). </a:t>
            </a:r>
          </a:p>
          <a:p>
            <a:pPr algn="just">
              <a:lnSpc>
                <a:spcPct val="120000"/>
              </a:lnSpc>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Once the congestion has been detected and this information has been passed to a place where the action needed to be done, </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General Principles of Congestion Control</a:t>
            </a:r>
          </a:p>
        </p:txBody>
      </p:sp>
      <p:sp>
        <p:nvSpPr>
          <p:cNvPr id="37891" name="Rectangle 3"/>
          <p:cNvSpPr>
            <a:spLocks noGrp="1" noChangeArrowheads="1"/>
          </p:cNvSpPr>
          <p:nvPr>
            <p:ph type="body" idx="1"/>
          </p:nvPr>
        </p:nvSpPr>
        <p:spPr>
          <a:xfrm>
            <a:off x="397565" y="722489"/>
            <a:ext cx="10127974" cy="5983111"/>
          </a:xfrm>
        </p:spPr>
        <p:txBody>
          <a:bodyPr>
            <a:normAutofit/>
          </a:bodyPr>
          <a:lstStyle/>
          <a:p>
            <a:pPr algn="just">
              <a:buFont typeface="Arial" pitchFamily="34" charset="0"/>
              <a:buChar char="•"/>
            </a:pPr>
            <a:r>
              <a:rPr lang="en-US" sz="2500" b="1" dirty="0">
                <a:latin typeface="Times New Roman" panose="02020603050405020304" pitchFamily="18" charset="0"/>
                <a:cs typeface="Times New Roman" panose="02020603050405020304" pitchFamily="18" charset="0"/>
              </a:rPr>
              <a:t>Open loop algorithms </a:t>
            </a:r>
            <a:r>
              <a:rPr lang="en-US" sz="2500" dirty="0">
                <a:latin typeface="Times New Roman" panose="02020603050405020304" pitchFamily="18" charset="0"/>
                <a:cs typeface="Times New Roman" panose="02020603050405020304" pitchFamily="18" charset="0"/>
              </a:rPr>
              <a:t>are divided into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ones that act at the source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ones that act at the destination</a:t>
            </a:r>
          </a:p>
          <a:p>
            <a:pPr marL="571500" lvl="1" indent="0" algn="just">
              <a:buNone/>
            </a:pPr>
            <a:endParaRPr lang="en-US" sz="2500" dirty="0">
              <a:latin typeface="Times New Roman" panose="02020603050405020304" pitchFamily="18" charset="0"/>
              <a:cs typeface="Times New Roman" panose="02020603050405020304" pitchFamily="18" charset="0"/>
            </a:endParaRPr>
          </a:p>
          <a:p>
            <a:pPr algn="just">
              <a:buFont typeface="Arial" pitchFamily="34" charset="0"/>
              <a:buChar char="•"/>
            </a:pPr>
            <a:r>
              <a:rPr lang="en-US" sz="2500" b="1" dirty="0">
                <a:latin typeface="Times New Roman" panose="02020603050405020304" pitchFamily="18" charset="0"/>
                <a:cs typeface="Times New Roman" panose="02020603050405020304" pitchFamily="18" charset="0"/>
              </a:rPr>
              <a:t>Closed loop algorithms </a:t>
            </a:r>
            <a:r>
              <a:rPr lang="en-US" sz="2500" dirty="0">
                <a:latin typeface="Times New Roman" panose="02020603050405020304" pitchFamily="18" charset="0"/>
                <a:cs typeface="Times New Roman" panose="02020603050405020304" pitchFamily="18" charset="0"/>
              </a:rPr>
              <a:t>are divided into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explicit feedback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implicit feedback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In </a:t>
            </a:r>
            <a:r>
              <a:rPr lang="en-US" sz="2500" b="1" dirty="0">
                <a:latin typeface="Times New Roman" panose="02020603050405020304" pitchFamily="18" charset="0"/>
                <a:cs typeface="Times New Roman" panose="02020603050405020304" pitchFamily="18" charset="0"/>
              </a:rPr>
              <a:t>explicit feedback algorithms</a:t>
            </a:r>
            <a:r>
              <a:rPr lang="en-US" sz="2500" dirty="0">
                <a:latin typeface="Times New Roman" panose="02020603050405020304" pitchFamily="18" charset="0"/>
                <a:cs typeface="Times New Roman" panose="02020603050405020304" pitchFamily="18" charset="0"/>
              </a:rPr>
              <a:t>, </a:t>
            </a:r>
            <a:r>
              <a:rPr lang="en-US" sz="2500" dirty="0">
                <a:solidFill>
                  <a:srgbClr val="FF0000"/>
                </a:solidFill>
                <a:latin typeface="Times New Roman" panose="02020603050405020304" pitchFamily="18" charset="0"/>
                <a:cs typeface="Times New Roman" panose="02020603050405020304" pitchFamily="18" charset="0"/>
              </a:rPr>
              <a:t>packets are sent back from the point of congestion </a:t>
            </a:r>
            <a:r>
              <a:rPr lang="en-US" sz="2500" dirty="0">
                <a:latin typeface="Times New Roman" panose="02020603050405020304" pitchFamily="18" charset="0"/>
                <a:cs typeface="Times New Roman" panose="02020603050405020304" pitchFamily="18" charset="0"/>
              </a:rPr>
              <a:t>to warn the source. </a:t>
            </a:r>
          </a:p>
          <a:p>
            <a:pPr lvl="1" algn="just">
              <a:buFont typeface="Arial" pitchFamily="34" charset="0"/>
              <a:buChar char="•"/>
            </a:pPr>
            <a:r>
              <a:rPr lang="en-US" sz="2500" dirty="0">
                <a:latin typeface="Times New Roman" panose="02020603050405020304" pitchFamily="18" charset="0"/>
                <a:cs typeface="Times New Roman" panose="02020603050405020304" pitchFamily="18" charset="0"/>
              </a:rPr>
              <a:t>In </a:t>
            </a:r>
            <a:r>
              <a:rPr lang="en-US" sz="2500" b="1" dirty="0">
                <a:latin typeface="Times New Roman" panose="02020603050405020304" pitchFamily="18" charset="0"/>
                <a:cs typeface="Times New Roman" panose="02020603050405020304" pitchFamily="18" charset="0"/>
              </a:rPr>
              <a:t>implicit algorithms</a:t>
            </a:r>
            <a:r>
              <a:rPr lang="en-US" sz="2500" dirty="0">
                <a:latin typeface="Times New Roman" panose="02020603050405020304" pitchFamily="18" charset="0"/>
                <a:cs typeface="Times New Roman" panose="02020603050405020304" pitchFamily="18" charset="0"/>
              </a:rPr>
              <a:t>, the </a:t>
            </a:r>
            <a:r>
              <a:rPr lang="en-US" sz="2500" dirty="0">
                <a:solidFill>
                  <a:srgbClr val="FF0000"/>
                </a:solidFill>
                <a:latin typeface="Times New Roman" panose="02020603050405020304" pitchFamily="18" charset="0"/>
                <a:cs typeface="Times New Roman" panose="02020603050405020304" pitchFamily="18" charset="0"/>
              </a:rPr>
              <a:t>source deduces the existence of congestion </a:t>
            </a:r>
            <a:r>
              <a:rPr lang="en-US" sz="2500" dirty="0">
                <a:latin typeface="Times New Roman" panose="02020603050405020304" pitchFamily="18" charset="0"/>
                <a:cs typeface="Times New Roman" panose="02020603050405020304" pitchFamily="18" charset="0"/>
              </a:rPr>
              <a:t>by making local observations, such as the time needed for acknowledgements to come back</a:t>
            </a:r>
          </a:p>
          <a:p>
            <a:pPr algn="just">
              <a:buFont typeface="Arial" pitchFamily="34" charset="0"/>
              <a:buChar char="•"/>
            </a:pPr>
            <a:r>
              <a:rPr lang="en-US" sz="2500" b="1" dirty="0">
                <a:latin typeface="Times New Roman" panose="02020603050405020304" pitchFamily="18" charset="0"/>
                <a:cs typeface="Times New Roman" panose="02020603050405020304" pitchFamily="18" charset="0"/>
              </a:rPr>
              <a:t>Ways to correct the problem </a:t>
            </a:r>
            <a:r>
              <a:rPr lang="en-US" sz="2500" dirty="0">
                <a:latin typeface="Times New Roman" panose="02020603050405020304" pitchFamily="18" charset="0"/>
                <a:cs typeface="Times New Roman" panose="02020603050405020304" pitchFamily="18" charset="0"/>
              </a:rPr>
              <a:t>caused by congestion</a:t>
            </a:r>
          </a:p>
          <a:p>
            <a:pPr lvl="1" algn="just">
              <a:buFont typeface="Arial" pitchFamily="34" charset="0"/>
              <a:buChar char="•"/>
            </a:pPr>
            <a:r>
              <a:rPr lang="en-US" sz="2500" dirty="0">
                <a:solidFill>
                  <a:srgbClr val="FF0000"/>
                </a:solidFill>
                <a:latin typeface="Times New Roman" panose="02020603050405020304" pitchFamily="18" charset="0"/>
                <a:cs typeface="Times New Roman" panose="02020603050405020304" pitchFamily="18" charset="0"/>
              </a:rPr>
              <a:t>increase the resources </a:t>
            </a:r>
            <a:r>
              <a:rPr lang="en-US" sz="2500" dirty="0">
                <a:latin typeface="Times New Roman" panose="02020603050405020304" pitchFamily="18" charset="0"/>
                <a:cs typeface="Times New Roman" panose="02020603050405020304" pitchFamily="18" charset="0"/>
              </a:rPr>
              <a:t>or </a:t>
            </a:r>
            <a:r>
              <a:rPr lang="en-US" sz="2500" dirty="0">
                <a:solidFill>
                  <a:srgbClr val="FF0000"/>
                </a:solidFill>
                <a:latin typeface="Times New Roman" panose="02020603050405020304" pitchFamily="18" charset="0"/>
                <a:cs typeface="Times New Roman" panose="02020603050405020304" pitchFamily="18" charset="0"/>
              </a:rPr>
              <a:t>decrease the load</a:t>
            </a:r>
          </a:p>
        </p:txBody>
      </p:sp>
      <p:sp>
        <p:nvSpPr>
          <p:cNvPr id="4" name="Slide Number Placeholder 3"/>
          <p:cNvSpPr>
            <a:spLocks noGrp="1"/>
          </p:cNvSpPr>
          <p:nvPr>
            <p:ph type="sldNum" sz="quarter" idx="12"/>
          </p:nvPr>
        </p:nvSpPr>
        <p:spPr/>
        <p:txBody>
          <a:bodyPr/>
          <a:lstStyle/>
          <a:p>
            <a:fld id="{EF55C829-AE99-4997-8EBC-414F558758A8}" type="slidenum">
              <a:rPr lang="en-US" smtClean="0"/>
              <a:pPr/>
              <a:t>79</a:t>
            </a:fld>
            <a:endParaRPr lang="en-US"/>
          </a:p>
        </p:txBody>
      </p:sp>
      <p:pic>
        <p:nvPicPr>
          <p:cNvPr id="5" name="Google Shape;632;p66">
            <a:extLst>
              <a:ext uri="{FF2B5EF4-FFF2-40B4-BE49-F238E27FC236}">
                <a16:creationId xmlns:a16="http://schemas.microsoft.com/office/drawing/2014/main" xmlns="" id="{660B2C0F-768A-418D-AC57-FCC44C325F3C}"/>
              </a:ext>
            </a:extLst>
          </p:cNvPr>
          <p:cNvPicPr preferRelativeResize="0"/>
          <p:nvPr/>
        </p:nvPicPr>
        <p:blipFill rotWithShape="1">
          <a:blip r:embed="rId2">
            <a:alphaModFix/>
          </a:blip>
          <a:srcRect/>
          <a:stretch/>
        </p:blipFill>
        <p:spPr>
          <a:xfrm>
            <a:off x="6781801" y="1010273"/>
            <a:ext cx="5311775" cy="2166937"/>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524000" y="0"/>
            <a:ext cx="9144000" cy="711200"/>
          </a:xfrm>
        </p:spPr>
        <p:txBody>
          <a:bodyPr/>
          <a:lstStyle/>
          <a:p>
            <a:r>
              <a:rPr lang="en-US" dirty="0"/>
              <a:t>Congestion Prevention Policies</a:t>
            </a:r>
          </a:p>
        </p:txBody>
      </p:sp>
      <p:sp>
        <p:nvSpPr>
          <p:cNvPr id="38915" name="Rectangle 3"/>
          <p:cNvSpPr>
            <a:spLocks noGrp="1" noChangeArrowheads="1"/>
          </p:cNvSpPr>
          <p:nvPr>
            <p:ph type="body" idx="1"/>
          </p:nvPr>
        </p:nvSpPr>
        <p:spPr>
          <a:xfrm>
            <a:off x="1524000" y="6426204"/>
            <a:ext cx="9144000" cy="403578"/>
          </a:xfrm>
        </p:spPr>
        <p:txBody>
          <a:bodyPr>
            <a:normAutofit fontScale="55000" lnSpcReduction="20000"/>
          </a:bodyPr>
          <a:lstStyle/>
          <a:p>
            <a:pPr algn="ctr">
              <a:buFontTx/>
              <a:buNone/>
            </a:pPr>
            <a:r>
              <a:rPr lang="en-US" dirty="0"/>
              <a:t>Policies that affect congestion</a:t>
            </a:r>
          </a:p>
        </p:txBody>
      </p:sp>
      <p:sp>
        <p:nvSpPr>
          <p:cNvPr id="38916" name="Text Box 4"/>
          <p:cNvSpPr txBox="1">
            <a:spLocks noChangeArrowheads="1"/>
          </p:cNvSpPr>
          <p:nvPr/>
        </p:nvSpPr>
        <p:spPr bwMode="auto">
          <a:xfrm>
            <a:off x="5207001" y="2455863"/>
            <a:ext cx="1503363" cy="457200"/>
          </a:xfrm>
          <a:prstGeom prst="rect">
            <a:avLst/>
          </a:prstGeom>
          <a:noFill/>
          <a:ln w="9525">
            <a:noFill/>
            <a:miter lim="800000"/>
            <a:headEnd/>
            <a:tailEnd/>
          </a:ln>
          <a:effectLst/>
        </p:spPr>
        <p:txBody>
          <a:bodyPr>
            <a:spAutoFit/>
          </a:bodyPr>
          <a:lstStyle/>
          <a:p>
            <a:pPr>
              <a:spcBef>
                <a:spcPct val="50000"/>
              </a:spcBef>
            </a:pPr>
            <a:r>
              <a:rPr lang="en-US" sz="2400">
                <a:latin typeface="Times New Roman" pitchFamily="18" charset="0"/>
              </a:rPr>
              <a:t>5-26</a:t>
            </a:r>
          </a:p>
        </p:txBody>
      </p:sp>
      <p:pic>
        <p:nvPicPr>
          <p:cNvPr id="38917" name="Picture 5" descr="5-26"/>
          <p:cNvPicPr>
            <a:picLocks noChangeAspect="1" noChangeArrowheads="1"/>
          </p:cNvPicPr>
          <p:nvPr/>
        </p:nvPicPr>
        <p:blipFill>
          <a:blip r:embed="rId2" cstate="print"/>
          <a:srcRect/>
          <a:stretch>
            <a:fillRect/>
          </a:stretch>
        </p:blipFill>
        <p:spPr bwMode="auto">
          <a:xfrm>
            <a:off x="2676525" y="1980656"/>
            <a:ext cx="6838950" cy="4527550"/>
          </a:xfrm>
          <a:prstGeom prst="rect">
            <a:avLst/>
          </a:prstGeom>
          <a:noFill/>
        </p:spPr>
      </p:pic>
      <p:sp>
        <p:nvSpPr>
          <p:cNvPr id="6" name="Rectangle 5"/>
          <p:cNvSpPr/>
          <p:nvPr/>
        </p:nvSpPr>
        <p:spPr>
          <a:xfrm>
            <a:off x="1524000" y="780327"/>
            <a:ext cx="9558130" cy="1200329"/>
          </a:xfrm>
          <a:prstGeom prst="rect">
            <a:avLst/>
          </a:prstGeom>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Open loop Systems </a:t>
            </a:r>
            <a:r>
              <a:rPr lang="en-US" sz="2400" dirty="0">
                <a:latin typeface="Times New Roman" panose="02020603050405020304" pitchFamily="18" charset="0"/>
                <a:cs typeface="Times New Roman" panose="02020603050405020304" pitchFamily="18" charset="0"/>
              </a:rPr>
              <a:t>are designed to </a:t>
            </a:r>
            <a:r>
              <a:rPr lang="en-US" sz="2400" b="1" dirty="0">
                <a:latin typeface="Times New Roman" panose="02020603050405020304" pitchFamily="18" charset="0"/>
                <a:cs typeface="Times New Roman" panose="02020603050405020304" pitchFamily="18" charset="0"/>
              </a:rPr>
              <a:t>minimize congestion</a:t>
            </a:r>
            <a:r>
              <a:rPr lang="en-US" sz="2400" dirty="0">
                <a:latin typeface="Times New Roman" panose="02020603050405020304" pitchFamily="18" charset="0"/>
                <a:cs typeface="Times New Roman" panose="02020603050405020304" pitchFamily="18" charset="0"/>
              </a:rPr>
              <a:t>, rather than letting it happen and reacting by using </a:t>
            </a:r>
            <a:r>
              <a:rPr lang="en-US" sz="2400" b="1" dirty="0">
                <a:latin typeface="Times New Roman" panose="02020603050405020304" pitchFamily="18" charset="0"/>
                <a:cs typeface="Times New Roman" panose="02020603050405020304" pitchFamily="18" charset="0"/>
              </a:rPr>
              <a:t>appropriate policies at various levels  </a:t>
            </a:r>
          </a:p>
        </p:txBody>
      </p:sp>
      <p:sp>
        <p:nvSpPr>
          <p:cNvPr id="7" name="Slide Number Placeholder 6"/>
          <p:cNvSpPr>
            <a:spLocks noGrp="1"/>
          </p:cNvSpPr>
          <p:nvPr>
            <p:ph type="sldNum" sz="quarter" idx="12"/>
          </p:nvPr>
        </p:nvSpPr>
        <p:spPr/>
        <p:txBody>
          <a:bodyPr/>
          <a:lstStyle/>
          <a:p>
            <a:fld id="{EF55C829-AE99-4997-8EBC-414F558758A8}"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Congestion Prevention Policies</a:t>
            </a:r>
          </a:p>
        </p:txBody>
      </p:sp>
      <p:sp>
        <p:nvSpPr>
          <p:cNvPr id="37891" name="Rectangle 3"/>
          <p:cNvSpPr>
            <a:spLocks noGrp="1" noChangeArrowheads="1"/>
          </p:cNvSpPr>
          <p:nvPr>
            <p:ph type="body" idx="1"/>
          </p:nvPr>
        </p:nvSpPr>
        <p:spPr>
          <a:xfrm>
            <a:off x="1172818" y="722489"/>
            <a:ext cx="9939130" cy="5870223"/>
          </a:xfrm>
        </p:spPr>
        <p:txBody>
          <a:bodyPr>
            <a:normAutofit/>
          </a:bodyPr>
          <a:lstStyle/>
          <a:p>
            <a:pPr algn="just">
              <a:buNone/>
            </a:pPr>
            <a:r>
              <a:rPr lang="en-US" sz="3200" b="1" dirty="0">
                <a:solidFill>
                  <a:srgbClr val="0070C0"/>
                </a:solidFill>
                <a:latin typeface="Times New Roman" panose="02020603050405020304" pitchFamily="18" charset="0"/>
                <a:cs typeface="Times New Roman" panose="02020603050405020304" pitchFamily="18" charset="0"/>
              </a:rPr>
              <a:t>Policies considered in the Data link layer </a:t>
            </a:r>
          </a:p>
          <a:p>
            <a:pPr algn="just">
              <a:buFont typeface="Arial" pitchFamily="34" charset="0"/>
              <a:buChar char="•"/>
            </a:pPr>
            <a:r>
              <a:rPr lang="en-US" dirty="0">
                <a:solidFill>
                  <a:srgbClr val="FF0000"/>
                </a:solidFill>
              </a:rPr>
              <a:t>Retransmission policy:</a:t>
            </a:r>
          </a:p>
          <a:p>
            <a:pPr lvl="1" algn="just">
              <a:buFont typeface="Arial" pitchFamily="34" charset="0"/>
              <a:buChar char="•"/>
            </a:pPr>
            <a:r>
              <a:rPr lang="en-US" dirty="0"/>
              <a:t>how fast a sender times out and what it transmits upon timeout </a:t>
            </a:r>
          </a:p>
          <a:p>
            <a:pPr lvl="1" algn="just">
              <a:buFont typeface="Arial" pitchFamily="34" charset="0"/>
              <a:buChar char="•"/>
            </a:pPr>
            <a:r>
              <a:rPr lang="en-US" b="1" dirty="0"/>
              <a:t>go back n </a:t>
            </a:r>
            <a:r>
              <a:rPr lang="en-US" dirty="0"/>
              <a:t>will put a heavier load on the system than </a:t>
            </a:r>
            <a:r>
              <a:rPr lang="en-US" b="1" dirty="0"/>
              <a:t>selective repeat</a:t>
            </a:r>
          </a:p>
          <a:p>
            <a:pPr algn="just">
              <a:buFont typeface="Arial" pitchFamily="34" charset="0"/>
              <a:buChar char="•"/>
            </a:pPr>
            <a:r>
              <a:rPr lang="en-US" dirty="0">
                <a:solidFill>
                  <a:srgbClr val="FF0000"/>
                </a:solidFill>
              </a:rPr>
              <a:t>Out-of-order caching policy:</a:t>
            </a:r>
          </a:p>
          <a:p>
            <a:pPr lvl="1" algn="just">
              <a:buFont typeface="Arial" pitchFamily="34" charset="0"/>
              <a:buChar char="•"/>
            </a:pPr>
            <a:r>
              <a:rPr lang="en-US" dirty="0"/>
              <a:t>selective repeat is clearly better than go back n </a:t>
            </a:r>
          </a:p>
          <a:p>
            <a:pPr algn="just">
              <a:buFont typeface="Arial" pitchFamily="34" charset="0"/>
              <a:buChar char="•"/>
            </a:pPr>
            <a:r>
              <a:rPr lang="en-US" dirty="0">
                <a:solidFill>
                  <a:srgbClr val="FF0000"/>
                </a:solidFill>
              </a:rPr>
              <a:t>Acknowledgement policy:</a:t>
            </a:r>
          </a:p>
          <a:p>
            <a:pPr lvl="1" algn="just">
              <a:buFont typeface="Arial" pitchFamily="34" charset="0"/>
              <a:buChar char="•"/>
            </a:pPr>
            <a:r>
              <a:rPr lang="en-US" dirty="0"/>
              <a:t>Piggybacking onto reverse traffic may help</a:t>
            </a:r>
          </a:p>
          <a:p>
            <a:pPr lvl="1" algn="just">
              <a:buFont typeface="Arial" pitchFamily="34" charset="0"/>
              <a:buChar char="•"/>
            </a:pPr>
            <a:r>
              <a:rPr lang="en-US" dirty="0"/>
              <a:t>But extra timeouts and retransmissions may happen. </a:t>
            </a:r>
          </a:p>
          <a:p>
            <a:pPr algn="just">
              <a:buFont typeface="Arial" pitchFamily="34" charset="0"/>
              <a:buChar char="•"/>
            </a:pPr>
            <a:r>
              <a:rPr lang="en-US" dirty="0">
                <a:solidFill>
                  <a:srgbClr val="FF0000"/>
                </a:solidFill>
              </a:rPr>
              <a:t>Flow control Policy:</a:t>
            </a:r>
          </a:p>
          <a:p>
            <a:pPr lvl="1" algn="just">
              <a:buFont typeface="Arial" pitchFamily="34" charset="0"/>
              <a:buChar char="•"/>
            </a:pPr>
            <a:r>
              <a:rPr lang="en-US" dirty="0"/>
              <a:t>a </a:t>
            </a:r>
            <a:r>
              <a:rPr lang="en-US" b="1" dirty="0"/>
              <a:t>small window </a:t>
            </a:r>
            <a:r>
              <a:rPr lang="en-US" dirty="0"/>
              <a:t>reduces the data rate and thus helps fight congestion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Congestion Prevention Policies</a:t>
            </a:r>
          </a:p>
        </p:txBody>
      </p:sp>
      <p:sp>
        <p:nvSpPr>
          <p:cNvPr id="37891" name="Rectangle 3"/>
          <p:cNvSpPr>
            <a:spLocks noGrp="1" noChangeArrowheads="1"/>
          </p:cNvSpPr>
          <p:nvPr>
            <p:ph type="body" idx="1"/>
          </p:nvPr>
        </p:nvSpPr>
        <p:spPr>
          <a:xfrm>
            <a:off x="1659468" y="722489"/>
            <a:ext cx="8873065" cy="5870223"/>
          </a:xfrm>
        </p:spPr>
        <p:txBody>
          <a:bodyPr>
            <a:normAutofit fontScale="92500"/>
          </a:bodyPr>
          <a:lstStyle/>
          <a:p>
            <a:pPr algn="just">
              <a:buNone/>
            </a:pPr>
            <a:r>
              <a:rPr lang="en-US" sz="3200" b="1" dirty="0">
                <a:solidFill>
                  <a:srgbClr val="0070C0"/>
                </a:solidFill>
                <a:latin typeface="Times New Roman" panose="02020603050405020304" pitchFamily="18" charset="0"/>
                <a:cs typeface="Times New Roman" panose="02020603050405020304" pitchFamily="18" charset="0"/>
              </a:rPr>
              <a:t>Policies considered in the Network layer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Choice of virtual circuits vs datagrams:</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affects congestion since </a:t>
            </a:r>
            <a:r>
              <a:rPr lang="en-US" sz="2600" b="1" dirty="0">
                <a:latin typeface="Times New Roman" panose="02020603050405020304" pitchFamily="18" charset="0"/>
                <a:cs typeface="Times New Roman" panose="02020603050405020304" pitchFamily="18" charset="0"/>
              </a:rPr>
              <a:t>many congestion control algorithms work only with virtual-circuit subnets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Packet queuing and service policy: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relates to whether routers have </a:t>
            </a:r>
            <a:r>
              <a:rPr lang="en-US" sz="2600" b="1" dirty="0">
                <a:latin typeface="Times New Roman" panose="02020603050405020304" pitchFamily="18" charset="0"/>
                <a:cs typeface="Times New Roman" panose="02020603050405020304" pitchFamily="18" charset="0"/>
              </a:rPr>
              <a:t>one queue per input line, one queue per output line, or both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also relates to the </a:t>
            </a:r>
            <a:r>
              <a:rPr lang="en-US" sz="2600" b="1" dirty="0">
                <a:latin typeface="Times New Roman" panose="02020603050405020304" pitchFamily="18" charset="0"/>
                <a:cs typeface="Times New Roman" panose="02020603050405020304" pitchFamily="18" charset="0"/>
              </a:rPr>
              <a:t>order in which packets are processed </a:t>
            </a:r>
            <a:r>
              <a:rPr lang="en-US" sz="2600" dirty="0">
                <a:latin typeface="Times New Roman" panose="02020603050405020304" pitchFamily="18" charset="0"/>
                <a:cs typeface="Times New Roman" panose="02020603050405020304" pitchFamily="18" charset="0"/>
              </a:rPr>
              <a:t>(e.g., </a:t>
            </a:r>
            <a:r>
              <a:rPr lang="en-US" sz="2600" dirty="0">
                <a:solidFill>
                  <a:srgbClr val="FF0000"/>
                </a:solidFill>
                <a:latin typeface="Times New Roman" panose="02020603050405020304" pitchFamily="18" charset="0"/>
                <a:cs typeface="Times New Roman" panose="02020603050405020304" pitchFamily="18" charset="0"/>
              </a:rPr>
              <a:t>round robin or priority based</a:t>
            </a:r>
            <a:r>
              <a:rPr lang="en-US" sz="2600"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Packet Discard policy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Rule telling which packet is dropped when there is no space </a:t>
            </a:r>
          </a:p>
          <a:p>
            <a:pPr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Routing algorithm:</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Good algorithm can help avoid congestion by </a:t>
            </a:r>
            <a:r>
              <a:rPr lang="en-US" sz="2600" dirty="0">
                <a:solidFill>
                  <a:srgbClr val="FF0000"/>
                </a:solidFill>
                <a:latin typeface="Times New Roman" panose="02020603050405020304" pitchFamily="18" charset="0"/>
                <a:cs typeface="Times New Roman" panose="02020603050405020304" pitchFamily="18" charset="0"/>
              </a:rPr>
              <a:t>spreading the traffic</a:t>
            </a:r>
            <a:r>
              <a:rPr lang="en-US" sz="2600" dirty="0">
                <a:latin typeface="Times New Roman" panose="02020603050405020304" pitchFamily="18" charset="0"/>
                <a:cs typeface="Times New Roman" panose="02020603050405020304" pitchFamily="18" charset="0"/>
              </a:rPr>
              <a:t> over all the lines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4000" dirty="0"/>
              <a:t>Congestion Prevention Policies</a:t>
            </a:r>
          </a:p>
        </p:txBody>
      </p:sp>
      <p:sp>
        <p:nvSpPr>
          <p:cNvPr id="37891" name="Rectangle 3"/>
          <p:cNvSpPr>
            <a:spLocks noGrp="1" noChangeArrowheads="1"/>
          </p:cNvSpPr>
          <p:nvPr>
            <p:ph type="body" idx="1"/>
          </p:nvPr>
        </p:nvSpPr>
        <p:spPr>
          <a:xfrm>
            <a:off x="1659468" y="647538"/>
            <a:ext cx="9611506" cy="6210462"/>
          </a:xfrm>
        </p:spPr>
        <p:txBody>
          <a:bodyPr/>
          <a:lstStyle/>
          <a:p>
            <a:pPr algn="just">
              <a:buFont typeface="Arial" pitchFamily="34" charset="0"/>
              <a:buChar char="•"/>
            </a:pPr>
            <a:r>
              <a:rPr lang="en-US" dirty="0">
                <a:solidFill>
                  <a:srgbClr val="FF0000"/>
                </a:solidFill>
                <a:latin typeface="Times New Roman" panose="02020603050405020304" pitchFamily="18" charset="0"/>
                <a:cs typeface="Times New Roman" panose="02020603050405020304" pitchFamily="18" charset="0"/>
              </a:rPr>
              <a:t>Packet lifetime management:</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deals with </a:t>
            </a:r>
            <a:r>
              <a:rPr lang="en-US" dirty="0">
                <a:solidFill>
                  <a:srgbClr val="FF0000"/>
                </a:solidFill>
                <a:latin typeface="Times New Roman" panose="02020603050405020304" pitchFamily="18" charset="0"/>
                <a:cs typeface="Times New Roman" panose="02020603050405020304" pitchFamily="18" charset="0"/>
              </a:rPr>
              <a:t>how long a packet may live </a:t>
            </a:r>
            <a:r>
              <a:rPr lang="en-US" dirty="0">
                <a:latin typeface="Times New Roman" panose="02020603050405020304" pitchFamily="18" charset="0"/>
                <a:cs typeface="Times New Roman" panose="02020603050405020304" pitchFamily="18" charset="0"/>
              </a:rPr>
              <a:t>before being discarded </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If it is </a:t>
            </a:r>
            <a:r>
              <a:rPr lang="en-US" b="1" dirty="0">
                <a:latin typeface="Times New Roman" panose="02020603050405020304" pitchFamily="18" charset="0"/>
                <a:cs typeface="Times New Roman" panose="02020603050405020304" pitchFamily="18" charset="0"/>
              </a:rPr>
              <a:t>too long</a:t>
            </a:r>
            <a:r>
              <a:rPr lang="en-US" dirty="0">
                <a:latin typeface="Times New Roman" panose="02020603050405020304" pitchFamily="18" charset="0"/>
                <a:cs typeface="Times New Roman" panose="02020603050405020304" pitchFamily="18" charset="0"/>
              </a:rPr>
              <a:t>, lost packets </a:t>
            </a:r>
            <a:r>
              <a:rPr lang="en-US" b="1" dirty="0">
                <a:latin typeface="Times New Roman" panose="02020603050405020304" pitchFamily="18" charset="0"/>
                <a:cs typeface="Times New Roman" panose="02020603050405020304" pitchFamily="18" charset="0"/>
              </a:rPr>
              <a:t>may block up the works </a:t>
            </a:r>
            <a:r>
              <a:rPr lang="en-US" dirty="0">
                <a:latin typeface="Times New Roman" panose="02020603050405020304" pitchFamily="18" charset="0"/>
                <a:cs typeface="Times New Roman" panose="02020603050405020304" pitchFamily="18" charset="0"/>
              </a:rPr>
              <a:t>for a long time</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If it is </a:t>
            </a:r>
            <a:r>
              <a:rPr lang="en-US" b="1" dirty="0">
                <a:latin typeface="Times New Roman" panose="02020603050405020304" pitchFamily="18" charset="0"/>
                <a:cs typeface="Times New Roman" panose="02020603050405020304" pitchFamily="18" charset="0"/>
              </a:rPr>
              <a:t>too short</a:t>
            </a:r>
            <a:r>
              <a:rPr lang="en-US" dirty="0">
                <a:latin typeface="Times New Roman" panose="02020603050405020304" pitchFamily="18" charset="0"/>
                <a:cs typeface="Times New Roman" panose="02020603050405020304" pitchFamily="18" charset="0"/>
              </a:rPr>
              <a:t>, packets may </a:t>
            </a:r>
            <a:r>
              <a:rPr lang="en-US" b="1" dirty="0">
                <a:latin typeface="Times New Roman" panose="02020603050405020304" pitchFamily="18" charset="0"/>
                <a:cs typeface="Times New Roman" panose="02020603050405020304" pitchFamily="18" charset="0"/>
              </a:rPr>
              <a:t>sometimes time out before reaching their destination,</a:t>
            </a:r>
            <a:r>
              <a:rPr lang="en-US" dirty="0">
                <a:latin typeface="Times New Roman" panose="02020603050405020304" pitchFamily="18" charset="0"/>
                <a:cs typeface="Times New Roman" panose="02020603050405020304" pitchFamily="18" charset="0"/>
              </a:rPr>
              <a:t> thus inducing retransmissions </a:t>
            </a:r>
          </a:p>
          <a:p>
            <a:pPr algn="just">
              <a:buNone/>
            </a:pPr>
            <a:r>
              <a:rPr lang="en-US" b="1" dirty="0">
                <a:solidFill>
                  <a:srgbClr val="0070C0"/>
                </a:solidFill>
                <a:latin typeface="Times New Roman" panose="02020603050405020304" pitchFamily="18" charset="0"/>
                <a:cs typeface="Times New Roman" panose="02020603050405020304" pitchFamily="18" charset="0"/>
              </a:rPr>
              <a:t>Policies considered in the Transport layer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Same issues as in data link layer plus</a:t>
            </a:r>
          </a:p>
          <a:p>
            <a:pPr algn="just">
              <a:buFont typeface="Arial" pitchFamily="34" charset="0"/>
              <a:buChar char="•"/>
            </a:pPr>
            <a:r>
              <a:rPr lang="en-US" dirty="0">
                <a:solidFill>
                  <a:srgbClr val="FF0000"/>
                </a:solidFill>
                <a:latin typeface="Times New Roman" panose="02020603050405020304" pitchFamily="18" charset="0"/>
                <a:cs typeface="Times New Roman" panose="02020603050405020304" pitchFamily="18" charset="0"/>
              </a:rPr>
              <a:t>Timeout determination:</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determining the timeout interval is harder because the </a:t>
            </a:r>
            <a:r>
              <a:rPr lang="en-US" dirty="0">
                <a:solidFill>
                  <a:srgbClr val="FF0000"/>
                </a:solidFill>
                <a:latin typeface="Times New Roman" panose="02020603050405020304" pitchFamily="18" charset="0"/>
                <a:cs typeface="Times New Roman" panose="02020603050405020304" pitchFamily="18" charset="0"/>
              </a:rPr>
              <a:t>transit time across the network is less predictable</a:t>
            </a:r>
            <a:r>
              <a:rPr lang="en-US" dirty="0">
                <a:latin typeface="Times New Roman" panose="02020603050405020304" pitchFamily="18" charset="0"/>
                <a:cs typeface="Times New Roman" panose="02020603050405020304" pitchFamily="18" charset="0"/>
              </a:rPr>
              <a:t> </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If the </a:t>
            </a:r>
            <a:r>
              <a:rPr lang="en-US" b="1" dirty="0">
                <a:latin typeface="Times New Roman" panose="02020603050405020304" pitchFamily="18" charset="0"/>
                <a:cs typeface="Times New Roman" panose="02020603050405020304" pitchFamily="18" charset="0"/>
              </a:rPr>
              <a:t>timeout interval is too short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extra packets will be sent </a:t>
            </a:r>
            <a:r>
              <a:rPr lang="en-US" dirty="0">
                <a:latin typeface="Times New Roman" panose="02020603050405020304" pitchFamily="18" charset="0"/>
                <a:cs typeface="Times New Roman" panose="02020603050405020304" pitchFamily="18" charset="0"/>
              </a:rPr>
              <a:t>unnecessarily. </a:t>
            </a:r>
          </a:p>
          <a:p>
            <a:pPr lvl="1" algn="just">
              <a:buFont typeface="Arial" pitchFamily="34" charset="0"/>
              <a:buChar char="•"/>
            </a:pPr>
            <a:r>
              <a:rPr lang="en-US" dirty="0">
                <a:latin typeface="Times New Roman" panose="02020603050405020304" pitchFamily="18" charset="0"/>
                <a:cs typeface="Times New Roman" panose="02020603050405020304" pitchFamily="18" charset="0"/>
              </a:rPr>
              <a:t>If it is </a:t>
            </a:r>
            <a:r>
              <a:rPr lang="en-US" b="1" dirty="0">
                <a:latin typeface="Times New Roman" panose="02020603050405020304" pitchFamily="18" charset="0"/>
                <a:cs typeface="Times New Roman" panose="02020603050405020304" pitchFamily="18" charset="0"/>
              </a:rPr>
              <a:t>too long</a:t>
            </a:r>
            <a:r>
              <a:rPr lang="en-US" dirty="0">
                <a:latin typeface="Times New Roman" panose="02020603050405020304" pitchFamily="18" charset="0"/>
                <a:cs typeface="Times New Roman" panose="02020603050405020304" pitchFamily="18" charset="0"/>
              </a:rPr>
              <a:t>, congestion will be reduced but the </a:t>
            </a:r>
            <a:r>
              <a:rPr lang="en-US" b="1" dirty="0">
                <a:latin typeface="Times New Roman" panose="02020603050405020304" pitchFamily="18" charset="0"/>
                <a:cs typeface="Times New Roman" panose="02020603050405020304" pitchFamily="18" charset="0"/>
              </a:rPr>
              <a:t>response time will suffer </a:t>
            </a:r>
            <a:r>
              <a:rPr lang="en-US" dirty="0">
                <a:latin typeface="Times New Roman" panose="02020603050405020304" pitchFamily="18" charset="0"/>
                <a:cs typeface="Times New Roman" panose="02020603050405020304" pitchFamily="18" charset="0"/>
              </a:rPr>
              <a:t>whenever a packet is lost.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258416"/>
            <a:ext cx="9144000" cy="699911"/>
          </a:xfrm>
        </p:spPr>
        <p:txBody>
          <a:bodyPr/>
          <a:lstStyle/>
          <a:p>
            <a:r>
              <a:rPr lang="en-US" sz="3600" b="1" dirty="0"/>
              <a:t>Congestion Control in </a:t>
            </a:r>
            <a:r>
              <a:rPr lang="en-US" sz="3600" b="1" dirty="0">
                <a:hlinkClick r:id="rId2" action="ppaction://hlinksldjump"/>
              </a:rPr>
              <a:t>Virtual-Circuit Subnets</a:t>
            </a:r>
            <a:endParaRPr lang="en-US" sz="3600" b="1" dirty="0"/>
          </a:p>
        </p:txBody>
      </p:sp>
      <p:sp>
        <p:nvSpPr>
          <p:cNvPr id="37891" name="Rectangle 3"/>
          <p:cNvSpPr>
            <a:spLocks noGrp="1" noChangeArrowheads="1"/>
          </p:cNvSpPr>
          <p:nvPr>
            <p:ph type="body" idx="1"/>
          </p:nvPr>
        </p:nvSpPr>
        <p:spPr>
          <a:xfrm>
            <a:off x="1659468" y="657477"/>
            <a:ext cx="8873065" cy="6210462"/>
          </a:xfrm>
        </p:spPr>
        <p:txBody>
          <a:bodyPr/>
          <a:lstStyle/>
          <a:p>
            <a:pPr algn="just">
              <a:buFont typeface="Arial" pitchFamily="34" charset="0"/>
              <a:buChar char="•"/>
            </a:pPr>
            <a:endParaRPr lang="en-US" dirty="0"/>
          </a:p>
          <a:p>
            <a:pPr algn="just">
              <a:buFont typeface="Arial" pitchFamily="34" charset="0"/>
              <a:buChar char="•"/>
            </a:pPr>
            <a:r>
              <a:rPr lang="en-US" sz="2600" dirty="0">
                <a:latin typeface="Times New Roman" panose="02020603050405020304" pitchFamily="18" charset="0"/>
                <a:cs typeface="Times New Roman" panose="02020603050405020304" pitchFamily="18" charset="0"/>
              </a:rPr>
              <a:t>One technique: </a:t>
            </a:r>
            <a:r>
              <a:rPr lang="en-US" sz="2600" b="1" dirty="0">
                <a:solidFill>
                  <a:srgbClr val="FF0000"/>
                </a:solidFill>
                <a:latin typeface="Times New Roman" panose="02020603050405020304" pitchFamily="18" charset="0"/>
                <a:cs typeface="Times New Roman" panose="02020603050405020304" pitchFamily="18" charset="0"/>
              </a:rPr>
              <a:t>admission control </a:t>
            </a:r>
          </a:p>
          <a:p>
            <a:pPr algn="just">
              <a:buFont typeface="Arial" pitchFamily="34" charset="0"/>
              <a:buChar char="•"/>
            </a:pPr>
            <a:r>
              <a:rPr lang="en-US" sz="2600" dirty="0">
                <a:latin typeface="Times New Roman" panose="02020603050405020304" pitchFamily="18" charset="0"/>
                <a:cs typeface="Times New Roman" panose="02020603050405020304" pitchFamily="18" charset="0"/>
              </a:rPr>
              <a:t>Idea is simple: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once congestion has been signaled, </a:t>
            </a:r>
            <a:r>
              <a:rPr lang="en-US" sz="2600" dirty="0">
                <a:solidFill>
                  <a:srgbClr val="FF0000"/>
                </a:solidFill>
                <a:latin typeface="Times New Roman" panose="02020603050405020304" pitchFamily="18" charset="0"/>
                <a:cs typeface="Times New Roman" panose="02020603050405020304" pitchFamily="18" charset="0"/>
              </a:rPr>
              <a:t>no more virtual circuits are set up</a:t>
            </a:r>
            <a:r>
              <a:rPr lang="en-US" sz="2600" dirty="0">
                <a:latin typeface="Times New Roman" panose="02020603050405020304" pitchFamily="18" charset="0"/>
                <a:cs typeface="Times New Roman" panose="02020603050405020304" pitchFamily="18" charset="0"/>
              </a:rPr>
              <a:t> until the problem has gone away.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Thus, attempts to set up new transport layer connections fail. </a:t>
            </a:r>
          </a:p>
          <a:p>
            <a:pPr algn="just">
              <a:buFont typeface="Arial" pitchFamily="34" charset="0"/>
              <a:buChar char="•"/>
            </a:pPr>
            <a:r>
              <a:rPr lang="en-US" sz="2600" b="1" dirty="0">
                <a:latin typeface="Times New Roman" panose="02020603050405020304" pitchFamily="18" charset="0"/>
                <a:cs typeface="Times New Roman" panose="02020603050405020304" pitchFamily="18" charset="0"/>
              </a:rPr>
              <a:t>Alternative approach:</a:t>
            </a:r>
          </a:p>
          <a:p>
            <a:pPr lvl="1" algn="just">
              <a:buFont typeface="Arial" pitchFamily="34" charset="0"/>
              <a:buChar char="•"/>
            </a:pPr>
            <a:r>
              <a:rPr lang="en-US" sz="2600" dirty="0">
                <a:solidFill>
                  <a:srgbClr val="FF0000"/>
                </a:solidFill>
                <a:latin typeface="Times New Roman" panose="02020603050405020304" pitchFamily="18" charset="0"/>
                <a:cs typeface="Times New Roman" panose="02020603050405020304" pitchFamily="18" charset="0"/>
              </a:rPr>
              <a:t>to</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allow</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new virtual circuits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but </a:t>
            </a:r>
            <a:r>
              <a:rPr lang="en-US" sz="2600" b="1" dirty="0">
                <a:latin typeface="Times New Roman" panose="02020603050405020304" pitchFamily="18" charset="0"/>
                <a:cs typeface="Times New Roman" panose="02020603050405020304" pitchFamily="18" charset="0"/>
              </a:rPr>
              <a:t>carefully route all new virtual circuits </a:t>
            </a:r>
            <a:r>
              <a:rPr lang="en-US" sz="2600" dirty="0">
                <a:latin typeface="Times New Roman" panose="02020603050405020304" pitchFamily="18" charset="0"/>
                <a:cs typeface="Times New Roman" panose="02020603050405020304" pitchFamily="18" charset="0"/>
              </a:rPr>
              <a:t>around problem areas </a:t>
            </a:r>
          </a:p>
          <a:p>
            <a:pPr lvl="1" algn="just">
              <a:buFont typeface="Arial" pitchFamily="34" charset="0"/>
              <a:buChar char="•"/>
            </a:pPr>
            <a:r>
              <a:rPr lang="en-US" sz="2600" dirty="0">
                <a:latin typeface="Times New Roman" panose="02020603050405020304" pitchFamily="18" charset="0"/>
                <a:cs typeface="Times New Roman" panose="02020603050405020304" pitchFamily="18" charset="0"/>
              </a:rPr>
              <a:t>Figure is shown in the next slide</a:t>
            </a:r>
          </a:p>
          <a:p>
            <a:pPr algn="just">
              <a:buFont typeface="Arial" pitchFamily="34" charset="0"/>
              <a:buChar char="•"/>
            </a:pP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524000" y="133195"/>
            <a:ext cx="9144000" cy="736236"/>
          </a:xfrm>
        </p:spPr>
        <p:txBody>
          <a:bodyPr/>
          <a:lstStyle/>
          <a:p>
            <a:r>
              <a:rPr lang="en-US" sz="3600" b="1" dirty="0"/>
              <a:t>Congestion Control in Virtual-Circuit Subnets</a:t>
            </a:r>
          </a:p>
        </p:txBody>
      </p:sp>
      <p:sp>
        <p:nvSpPr>
          <p:cNvPr id="39939" name="Rectangle 3"/>
          <p:cNvSpPr>
            <a:spLocks noGrp="1" noChangeArrowheads="1"/>
          </p:cNvSpPr>
          <p:nvPr>
            <p:ph type="body" idx="1"/>
          </p:nvPr>
        </p:nvSpPr>
        <p:spPr>
          <a:xfrm>
            <a:off x="2457450" y="5389564"/>
            <a:ext cx="7410450" cy="1163637"/>
          </a:xfrm>
        </p:spPr>
        <p:txBody>
          <a:bodyPr>
            <a:normAutofit fontScale="92500" lnSpcReduction="20000"/>
          </a:bodyPr>
          <a:lstStyle/>
          <a:p>
            <a:pPr>
              <a:buFontTx/>
              <a:buNone/>
            </a:pPr>
            <a:r>
              <a:rPr lang="en-US">
                <a:solidFill>
                  <a:schemeClr val="accent2"/>
                </a:solidFill>
              </a:rPr>
              <a:t>(a)</a:t>
            </a:r>
            <a:r>
              <a:rPr lang="en-US"/>
              <a:t> A congested subnet. </a:t>
            </a:r>
            <a:r>
              <a:rPr lang="en-US">
                <a:solidFill>
                  <a:schemeClr val="accent2"/>
                </a:solidFill>
              </a:rPr>
              <a:t>(b)</a:t>
            </a:r>
            <a:r>
              <a:rPr lang="en-US"/>
              <a:t> A redrawn subnet, eliminates congestion and a virtual circuit from A to B.</a:t>
            </a:r>
          </a:p>
        </p:txBody>
      </p:sp>
      <p:pic>
        <p:nvPicPr>
          <p:cNvPr id="39941" name="Picture 5" descr="5-27"/>
          <p:cNvPicPr>
            <a:picLocks noChangeAspect="1" noChangeArrowheads="1"/>
          </p:cNvPicPr>
          <p:nvPr/>
        </p:nvPicPr>
        <p:blipFill>
          <a:blip r:embed="rId2" cstate="print"/>
          <a:srcRect/>
          <a:stretch>
            <a:fillRect/>
          </a:stretch>
        </p:blipFill>
        <p:spPr bwMode="auto">
          <a:xfrm>
            <a:off x="1644939" y="1035910"/>
            <a:ext cx="8854791" cy="4135697"/>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Congestion Control in Virtual-Circuit Subnets</a:t>
            </a:r>
          </a:p>
        </p:txBody>
      </p:sp>
      <p:sp>
        <p:nvSpPr>
          <p:cNvPr id="37891" name="Rectangle 3"/>
          <p:cNvSpPr>
            <a:spLocks noGrp="1" noChangeArrowheads="1"/>
          </p:cNvSpPr>
          <p:nvPr>
            <p:ph type="body" idx="1"/>
          </p:nvPr>
        </p:nvSpPr>
        <p:spPr>
          <a:xfrm>
            <a:off x="1659468" y="607782"/>
            <a:ext cx="9929558" cy="6210462"/>
          </a:xfrm>
        </p:spPr>
        <p:txBody>
          <a:bodyPr>
            <a:normAutofit lnSpcReduction="10000"/>
          </a:bodyPr>
          <a:lstStyle/>
          <a:p>
            <a:pPr algn="just">
              <a:lnSpc>
                <a:spcPct val="100000"/>
              </a:lnSpc>
              <a:buFont typeface="Arial" pitchFamily="34" charset="0"/>
              <a:buChar char="•"/>
            </a:pPr>
            <a:r>
              <a:rPr lang="en-US" sz="2500" b="1" dirty="0">
                <a:latin typeface="Times New Roman" panose="02020603050405020304" pitchFamily="18" charset="0"/>
                <a:cs typeface="Times New Roman" panose="02020603050405020304" pitchFamily="18" charset="0"/>
              </a:rPr>
              <a:t>Another strategy:</a:t>
            </a:r>
          </a:p>
          <a:p>
            <a:pPr lvl="1" algn="just">
              <a:lnSpc>
                <a:spcPct val="100000"/>
              </a:lnSpc>
              <a:buFont typeface="Arial" pitchFamily="34" charset="0"/>
              <a:buChar char="•"/>
            </a:pPr>
            <a:r>
              <a:rPr lang="en-US" sz="2500" dirty="0">
                <a:latin typeface="Times New Roman" panose="02020603050405020304" pitchFamily="18" charset="0"/>
                <a:cs typeface="Times New Roman" panose="02020603050405020304" pitchFamily="18" charset="0"/>
              </a:rPr>
              <a:t>To </a:t>
            </a:r>
            <a:r>
              <a:rPr lang="en-US" sz="2500" dirty="0">
                <a:solidFill>
                  <a:srgbClr val="FF0000"/>
                </a:solidFill>
                <a:latin typeface="Times New Roman" panose="02020603050405020304" pitchFamily="18" charset="0"/>
                <a:cs typeface="Times New Roman" panose="02020603050405020304" pitchFamily="18" charset="0"/>
              </a:rPr>
              <a:t>negotiate an agreement </a:t>
            </a:r>
            <a:r>
              <a:rPr lang="en-US" sz="2500" dirty="0">
                <a:latin typeface="Times New Roman" panose="02020603050405020304" pitchFamily="18" charset="0"/>
                <a:cs typeface="Times New Roman" panose="02020603050405020304" pitchFamily="18" charset="0"/>
              </a:rPr>
              <a:t>between the host and subnet when a virtual circuit is set up.</a:t>
            </a:r>
          </a:p>
          <a:p>
            <a:pPr lvl="1" algn="just">
              <a:lnSpc>
                <a:spcPct val="100000"/>
              </a:lnSpc>
              <a:buFont typeface="Arial" pitchFamily="34" charset="0"/>
              <a:buChar char="•"/>
            </a:pPr>
            <a:r>
              <a:rPr lang="en-US" sz="2500" dirty="0">
                <a:latin typeface="Times New Roman" panose="02020603050405020304" pitchFamily="18" charset="0"/>
                <a:cs typeface="Times New Roman" panose="02020603050405020304" pitchFamily="18" charset="0"/>
              </a:rPr>
              <a:t>This agreement normally specifies the</a:t>
            </a:r>
            <a:r>
              <a:rPr lang="en-US" sz="2500" b="1" dirty="0">
                <a:latin typeface="Times New Roman" panose="02020603050405020304" pitchFamily="18" charset="0"/>
                <a:cs typeface="Times New Roman" panose="02020603050405020304" pitchFamily="18" charset="0"/>
              </a:rPr>
              <a:t> volume </a:t>
            </a:r>
            <a:r>
              <a:rPr lang="en-US" sz="2500" dirty="0">
                <a:latin typeface="Times New Roman" panose="02020603050405020304" pitchFamily="18" charset="0"/>
                <a:cs typeface="Times New Roman" panose="02020603050405020304" pitchFamily="18" charset="0"/>
              </a:rPr>
              <a:t>and </a:t>
            </a:r>
            <a:r>
              <a:rPr lang="en-US" sz="2500" b="1" dirty="0">
                <a:latin typeface="Times New Roman" panose="02020603050405020304" pitchFamily="18" charset="0"/>
                <a:cs typeface="Times New Roman" panose="02020603050405020304" pitchFamily="18" charset="0"/>
              </a:rPr>
              <a:t>shape of the traffic, quality of service required,</a:t>
            </a:r>
            <a:r>
              <a:rPr lang="en-US" sz="2500" dirty="0">
                <a:latin typeface="Times New Roman" panose="02020603050405020304" pitchFamily="18" charset="0"/>
                <a:cs typeface="Times New Roman" panose="02020603050405020304" pitchFamily="18" charset="0"/>
              </a:rPr>
              <a:t> and </a:t>
            </a:r>
            <a:r>
              <a:rPr lang="en-US" sz="2500" b="1" dirty="0">
                <a:latin typeface="Times New Roman" panose="02020603050405020304" pitchFamily="18" charset="0"/>
                <a:cs typeface="Times New Roman" panose="02020603050405020304" pitchFamily="18" charset="0"/>
              </a:rPr>
              <a:t>other parameters</a:t>
            </a:r>
            <a:r>
              <a:rPr lang="en-US" sz="2500" dirty="0">
                <a:latin typeface="Times New Roman" panose="02020603050405020304" pitchFamily="18" charset="0"/>
                <a:cs typeface="Times New Roman" panose="02020603050405020304" pitchFamily="18" charset="0"/>
              </a:rPr>
              <a:t>. </a:t>
            </a:r>
          </a:p>
          <a:p>
            <a:pPr lvl="1" algn="just">
              <a:lnSpc>
                <a:spcPct val="100000"/>
              </a:lnSpc>
              <a:buFont typeface="Arial" pitchFamily="34" charset="0"/>
              <a:buChar char="•"/>
            </a:pPr>
            <a:r>
              <a:rPr lang="en-US" sz="2500" dirty="0">
                <a:latin typeface="Times New Roman" panose="02020603050405020304" pitchFamily="18" charset="0"/>
                <a:cs typeface="Times New Roman" panose="02020603050405020304" pitchFamily="18" charset="0"/>
              </a:rPr>
              <a:t>Subnet will typically </a:t>
            </a:r>
            <a:r>
              <a:rPr lang="en-US" sz="2500" dirty="0">
                <a:solidFill>
                  <a:srgbClr val="FF0000"/>
                </a:solidFill>
                <a:latin typeface="Times New Roman" panose="02020603050405020304" pitchFamily="18" charset="0"/>
                <a:cs typeface="Times New Roman" panose="02020603050405020304" pitchFamily="18" charset="0"/>
              </a:rPr>
              <a:t>reserve resources </a:t>
            </a:r>
            <a:r>
              <a:rPr lang="en-US" sz="2500" dirty="0">
                <a:latin typeface="Times New Roman" panose="02020603050405020304" pitchFamily="18" charset="0"/>
                <a:cs typeface="Times New Roman" panose="02020603050405020304" pitchFamily="18" charset="0"/>
              </a:rPr>
              <a:t>along the path when the circuit is set up. </a:t>
            </a:r>
          </a:p>
          <a:p>
            <a:pPr lvl="1" algn="just">
              <a:lnSpc>
                <a:spcPct val="100000"/>
              </a:lnSpc>
              <a:buFont typeface="Arial" pitchFamily="34" charset="0"/>
              <a:buChar char="•"/>
            </a:pPr>
            <a:r>
              <a:rPr lang="en-US" sz="2500" dirty="0">
                <a:latin typeface="Times New Roman" panose="02020603050405020304" pitchFamily="18" charset="0"/>
                <a:cs typeface="Times New Roman" panose="02020603050405020304" pitchFamily="18" charset="0"/>
              </a:rPr>
              <a:t>These resources can include </a:t>
            </a:r>
            <a:r>
              <a:rPr lang="en-US" sz="2500" b="1" dirty="0">
                <a:latin typeface="Times New Roman" panose="02020603050405020304" pitchFamily="18" charset="0"/>
                <a:cs typeface="Times New Roman" panose="02020603050405020304" pitchFamily="18" charset="0"/>
              </a:rPr>
              <a:t>table </a:t>
            </a:r>
            <a:r>
              <a:rPr lang="en-US" sz="2500" dirty="0">
                <a:latin typeface="Times New Roman" panose="02020603050405020304" pitchFamily="18" charset="0"/>
                <a:cs typeface="Times New Roman" panose="02020603050405020304" pitchFamily="18" charset="0"/>
              </a:rPr>
              <a:t>and </a:t>
            </a:r>
            <a:r>
              <a:rPr lang="en-US" sz="2500" b="1" dirty="0">
                <a:latin typeface="Times New Roman" panose="02020603050405020304" pitchFamily="18" charset="0"/>
                <a:cs typeface="Times New Roman" panose="02020603050405020304" pitchFamily="18" charset="0"/>
              </a:rPr>
              <a:t>buffer space in the routers </a:t>
            </a:r>
            <a:r>
              <a:rPr lang="en-US" sz="2500" dirty="0">
                <a:latin typeface="Times New Roman" panose="02020603050405020304" pitchFamily="18" charset="0"/>
                <a:cs typeface="Times New Roman" panose="02020603050405020304" pitchFamily="18" charset="0"/>
              </a:rPr>
              <a:t>and </a:t>
            </a:r>
            <a:r>
              <a:rPr lang="en-US" sz="2500" b="1" dirty="0">
                <a:latin typeface="Times New Roman" panose="02020603050405020304" pitchFamily="18" charset="0"/>
                <a:cs typeface="Times New Roman" panose="02020603050405020304" pitchFamily="18" charset="0"/>
              </a:rPr>
              <a:t>bandwidth on the lines</a:t>
            </a:r>
            <a:r>
              <a:rPr lang="en-US" sz="2500" dirty="0">
                <a:latin typeface="Times New Roman" panose="02020603050405020304" pitchFamily="18" charset="0"/>
                <a:cs typeface="Times New Roman" panose="02020603050405020304" pitchFamily="18" charset="0"/>
              </a:rPr>
              <a:t>. </a:t>
            </a:r>
          </a:p>
          <a:p>
            <a:pPr lvl="1" algn="just">
              <a:lnSpc>
                <a:spcPct val="100000"/>
              </a:lnSpc>
              <a:buFont typeface="Arial" pitchFamily="34" charset="0"/>
              <a:buChar char="•"/>
            </a:pPr>
            <a:r>
              <a:rPr lang="en-US" sz="2500" b="1" dirty="0">
                <a:latin typeface="Times New Roman" panose="02020603050405020304" pitchFamily="18" charset="0"/>
                <a:cs typeface="Times New Roman" panose="02020603050405020304" pitchFamily="18" charset="0"/>
              </a:rPr>
              <a:t>Congestion is unlikely to occur </a:t>
            </a:r>
            <a:r>
              <a:rPr lang="en-US" sz="2500" dirty="0">
                <a:latin typeface="Times New Roman" panose="02020603050405020304" pitchFamily="18" charset="0"/>
                <a:cs typeface="Times New Roman" panose="02020603050405020304" pitchFamily="18" charset="0"/>
              </a:rPr>
              <a:t>on the new VC because </a:t>
            </a:r>
            <a:r>
              <a:rPr lang="en-US" sz="2500" b="1" dirty="0">
                <a:latin typeface="Times New Roman" panose="02020603050405020304" pitchFamily="18" charset="0"/>
                <a:cs typeface="Times New Roman" panose="02020603050405020304" pitchFamily="18" charset="0"/>
              </a:rPr>
              <a:t>all the necessary resources are guaranteed to be available.</a:t>
            </a:r>
          </a:p>
          <a:p>
            <a:pPr lvl="1" algn="just">
              <a:lnSpc>
                <a:spcPct val="100000"/>
              </a:lnSpc>
              <a:buFont typeface="Arial" pitchFamily="34" charset="0"/>
              <a:buChar char="•"/>
            </a:pPr>
            <a:r>
              <a:rPr lang="en-US" sz="2500" dirty="0">
                <a:latin typeface="Times New Roman" panose="02020603050405020304" pitchFamily="18" charset="0"/>
                <a:cs typeface="Times New Roman" panose="02020603050405020304" pitchFamily="18" charset="0"/>
              </a:rPr>
              <a:t>This kind of reservation can be done all the time as </a:t>
            </a:r>
            <a:r>
              <a:rPr lang="en-US" sz="2500" b="1" dirty="0">
                <a:latin typeface="Times New Roman" panose="02020603050405020304" pitchFamily="18" charset="0"/>
                <a:cs typeface="Times New Roman" panose="02020603050405020304" pitchFamily="18" charset="0"/>
              </a:rPr>
              <a:t>standard operating procedure </a:t>
            </a:r>
            <a:r>
              <a:rPr lang="en-US" sz="2500" dirty="0">
                <a:latin typeface="Times New Roman" panose="02020603050405020304" pitchFamily="18" charset="0"/>
                <a:cs typeface="Times New Roman" panose="02020603050405020304" pitchFamily="18" charset="0"/>
              </a:rPr>
              <a:t>or only when the </a:t>
            </a:r>
            <a:r>
              <a:rPr lang="en-US" sz="2500" b="1" dirty="0">
                <a:latin typeface="Times New Roman" panose="02020603050405020304" pitchFamily="18" charset="0"/>
                <a:cs typeface="Times New Roman" panose="02020603050405020304" pitchFamily="18" charset="0"/>
              </a:rPr>
              <a:t>subnet is congested</a:t>
            </a:r>
            <a:r>
              <a:rPr lang="en-US" sz="2500" dirty="0">
                <a:latin typeface="Times New Roman" panose="02020603050405020304" pitchFamily="18" charset="0"/>
                <a:cs typeface="Times New Roman" panose="02020603050405020304" pitchFamily="18" charset="0"/>
              </a:rPr>
              <a:t>. </a:t>
            </a:r>
          </a:p>
          <a:p>
            <a:pPr lvl="1" algn="just">
              <a:lnSpc>
                <a:spcPct val="100000"/>
              </a:lnSpc>
              <a:buFont typeface="Arial" pitchFamily="34" charset="0"/>
              <a:buChar char="•"/>
            </a:pPr>
            <a:r>
              <a:rPr lang="en-US" sz="2500" dirty="0">
                <a:solidFill>
                  <a:srgbClr val="FF0000"/>
                </a:solidFill>
                <a:latin typeface="Times New Roman" panose="02020603050405020304" pitchFamily="18" charset="0"/>
                <a:cs typeface="Times New Roman" panose="02020603050405020304" pitchFamily="18" charset="0"/>
              </a:rPr>
              <a:t>Disadvantage</a:t>
            </a:r>
            <a:r>
              <a:rPr lang="en-US" sz="2500" dirty="0">
                <a:latin typeface="Times New Roman" panose="02020603050405020304" pitchFamily="18" charset="0"/>
                <a:cs typeface="Times New Roman" panose="02020603050405020304" pitchFamily="18" charset="0"/>
              </a:rPr>
              <a:t> of doing it all the time is that it tends to </a:t>
            </a:r>
            <a:r>
              <a:rPr lang="en-US" sz="2500" b="1" dirty="0">
                <a:latin typeface="Times New Roman" panose="02020603050405020304" pitchFamily="18" charset="0"/>
                <a:cs typeface="Times New Roman" panose="02020603050405020304" pitchFamily="18" charset="0"/>
              </a:rPr>
              <a:t>waste resources.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Congestion Control in </a:t>
            </a:r>
            <a:r>
              <a:rPr lang="en-US" sz="3600" b="1" dirty="0">
                <a:hlinkClick r:id="rId2" action="ppaction://hlinksldjump"/>
              </a:rPr>
              <a:t>Datagram Subnets</a:t>
            </a:r>
            <a:endParaRPr lang="en-US" sz="3600" b="1" dirty="0"/>
          </a:p>
        </p:txBody>
      </p:sp>
      <p:sp>
        <p:nvSpPr>
          <p:cNvPr id="37891" name="Rectangle 3"/>
          <p:cNvSpPr>
            <a:spLocks noGrp="1" noChangeArrowheads="1"/>
          </p:cNvSpPr>
          <p:nvPr>
            <p:ph type="body" idx="1"/>
          </p:nvPr>
        </p:nvSpPr>
        <p:spPr>
          <a:xfrm>
            <a:off x="1659468" y="647538"/>
            <a:ext cx="9432602" cy="6210462"/>
          </a:xfrm>
        </p:spPr>
        <p:txBody>
          <a:bodyPr>
            <a:normAutofit lnSpcReduction="10000"/>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Let us see some approaches that can be used in datagram subnets (and also in virtual-circuit subnets).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Each </a:t>
            </a:r>
            <a:r>
              <a:rPr lang="en-US" b="1" dirty="0">
                <a:latin typeface="Times New Roman" panose="02020603050405020304" pitchFamily="18" charset="0"/>
                <a:cs typeface="Times New Roman" panose="02020603050405020304" pitchFamily="18" charset="0"/>
              </a:rPr>
              <a:t>router can easily monitor the utilization </a:t>
            </a:r>
            <a:r>
              <a:rPr lang="en-US" dirty="0">
                <a:latin typeface="Times New Roman" panose="02020603050405020304" pitchFamily="18" charset="0"/>
                <a:cs typeface="Times New Roman" panose="02020603050405020304" pitchFamily="18" charset="0"/>
              </a:rPr>
              <a:t>of its </a:t>
            </a:r>
            <a:r>
              <a:rPr lang="en-US" b="1" dirty="0">
                <a:latin typeface="Times New Roman" panose="02020603050405020304" pitchFamily="18" charset="0"/>
                <a:cs typeface="Times New Roman" panose="02020603050405020304" pitchFamily="18" charset="0"/>
              </a:rPr>
              <a:t>output lines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other resources</a:t>
            </a:r>
            <a:r>
              <a:rPr lang="en-US"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For example, it can associate with each line a real variable, </a:t>
            </a:r>
            <a:r>
              <a:rPr lang="en-US" b="1" i="1" dirty="0">
                <a:latin typeface="Times New Roman" panose="02020603050405020304" pitchFamily="18" charset="0"/>
                <a:cs typeface="Times New Roman" panose="02020603050405020304" pitchFamily="18" charset="0"/>
              </a:rPr>
              <a:t>u</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whose value is between </a:t>
            </a:r>
            <a:r>
              <a:rPr lang="en-US" b="1" dirty="0">
                <a:latin typeface="Times New Roman" panose="02020603050405020304" pitchFamily="18" charset="0"/>
                <a:cs typeface="Times New Roman" panose="02020603050405020304" pitchFamily="18" charset="0"/>
              </a:rPr>
              <a:t>0.0 and 1.0</a:t>
            </a:r>
            <a:r>
              <a:rPr lang="en-US" dirty="0">
                <a:latin typeface="Times New Roman" panose="02020603050405020304" pitchFamily="18" charset="0"/>
                <a:cs typeface="Times New Roman" panose="02020603050405020304" pitchFamily="18" charset="0"/>
              </a:rPr>
              <a:t>, which reflects the </a:t>
            </a:r>
            <a:r>
              <a:rPr lang="en-US" b="1" dirty="0">
                <a:latin typeface="Times New Roman" panose="02020603050405020304" pitchFamily="18" charset="0"/>
                <a:cs typeface="Times New Roman" panose="02020603050405020304" pitchFamily="18" charset="0"/>
              </a:rPr>
              <a:t>recent utilization of that line.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To maintain a good estimate of u, a sample of the </a:t>
            </a:r>
            <a:r>
              <a:rPr lang="en-US" b="1" dirty="0">
                <a:latin typeface="Times New Roman" panose="02020603050405020304" pitchFamily="18" charset="0"/>
                <a:cs typeface="Times New Roman" panose="02020603050405020304" pitchFamily="18" charset="0"/>
              </a:rPr>
              <a:t>instantaneous line utilization, f </a:t>
            </a:r>
            <a:r>
              <a:rPr lang="en-US" dirty="0">
                <a:latin typeface="Times New Roman" panose="02020603050405020304" pitchFamily="18" charset="0"/>
                <a:cs typeface="Times New Roman" panose="02020603050405020304" pitchFamily="18" charset="0"/>
              </a:rPr>
              <a:t>(either 0 or 1), can be made periodically and u updated according to</a:t>
            </a:r>
          </a:p>
          <a:p>
            <a:pPr algn="just">
              <a:buFont typeface="Arial"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itchFamily="34" charset="0"/>
              <a:buChar char="•"/>
            </a:pPr>
            <a:r>
              <a:rPr lang="en-US" dirty="0">
                <a:latin typeface="Times New Roman" panose="02020603050405020304" pitchFamily="18" charset="0"/>
                <a:cs typeface="Times New Roman" panose="02020603050405020304" pitchFamily="18" charset="0"/>
              </a:rPr>
              <a:t>where the </a:t>
            </a:r>
            <a:r>
              <a:rPr lang="en-US" b="1" dirty="0">
                <a:latin typeface="Times New Roman" panose="02020603050405020304" pitchFamily="18" charset="0"/>
                <a:cs typeface="Times New Roman" panose="02020603050405020304" pitchFamily="18" charset="0"/>
              </a:rPr>
              <a:t>constant </a:t>
            </a:r>
            <a:r>
              <a:rPr lang="en-US" b="1" i="1" dirty="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determines </a:t>
            </a:r>
            <a:r>
              <a:rPr lang="en-US" b="1" dirty="0">
                <a:latin typeface="Times New Roman" panose="02020603050405020304" pitchFamily="18" charset="0"/>
                <a:cs typeface="Times New Roman" panose="02020603050405020304" pitchFamily="18" charset="0"/>
              </a:rPr>
              <a:t>how fast the router forgets recent history</a:t>
            </a:r>
            <a:endParaRPr lang="en-US" sz="2400" b="1"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cstate="print"/>
          <a:srcRect/>
          <a:stretch>
            <a:fillRect/>
          </a:stretch>
        </p:blipFill>
        <p:spPr bwMode="auto">
          <a:xfrm>
            <a:off x="4116286" y="4753054"/>
            <a:ext cx="3448751" cy="499474"/>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EF55C829-AE99-4997-8EBC-414F558758A8}" type="slidenum">
              <a:rPr lang="en-US" smtClean="0"/>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Congestion Control in Datagram Subnets</a:t>
            </a:r>
          </a:p>
        </p:txBody>
      </p:sp>
      <p:sp>
        <p:nvSpPr>
          <p:cNvPr id="37891" name="Rectangle 3"/>
          <p:cNvSpPr>
            <a:spLocks noGrp="1" noChangeArrowheads="1"/>
          </p:cNvSpPr>
          <p:nvPr>
            <p:ph type="body" idx="1"/>
          </p:nvPr>
        </p:nvSpPr>
        <p:spPr>
          <a:xfrm>
            <a:off x="1659468" y="647538"/>
            <a:ext cx="9452480" cy="6210462"/>
          </a:xfrm>
        </p:spPr>
        <p:txBody>
          <a:bodyPr>
            <a:normAutofit/>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Whenever </a:t>
            </a:r>
            <a:r>
              <a:rPr lang="en-US" i="1" dirty="0">
                <a:latin typeface="Times New Roman" panose="02020603050405020304" pitchFamily="18" charset="0"/>
                <a:cs typeface="Times New Roman" panose="02020603050405020304" pitchFamily="18" charset="0"/>
              </a:rPr>
              <a:t>u </a:t>
            </a:r>
            <a:r>
              <a:rPr lang="en-US" dirty="0">
                <a:latin typeface="Times New Roman" panose="02020603050405020304" pitchFamily="18" charset="0"/>
                <a:cs typeface="Times New Roman" panose="02020603050405020304" pitchFamily="18" charset="0"/>
              </a:rPr>
              <a:t>moves above the threshold, the output line enters a</a:t>
            </a:r>
            <a:r>
              <a:rPr lang="en-US" dirty="0">
                <a:solidFill>
                  <a:srgbClr val="FF0000"/>
                </a:solidFill>
                <a:latin typeface="Times New Roman" panose="02020603050405020304" pitchFamily="18" charset="0"/>
                <a:cs typeface="Times New Roman" panose="02020603050405020304" pitchFamily="18" charset="0"/>
              </a:rPr>
              <a:t> ''warning</a:t>
            </a:r>
            <a:r>
              <a:rPr lang="en-US" dirty="0">
                <a:latin typeface="Times New Roman" panose="02020603050405020304" pitchFamily="18" charset="0"/>
                <a:cs typeface="Times New Roman" panose="02020603050405020304" pitchFamily="18" charset="0"/>
              </a:rPr>
              <a:t>'' state.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Each newly-arriving packet is checked to see if its output line is in warning state.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If it is, some action is taken.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The action taken can be one of several alternatives as discussed below</a:t>
            </a:r>
          </a:p>
          <a:p>
            <a:pPr marL="628650" indent="-514350" algn="just">
              <a:buFont typeface="+mj-lt"/>
              <a:buAutoNum type="arabicPeriod"/>
            </a:pPr>
            <a:r>
              <a:rPr lang="en-US" b="1" i="1" dirty="0">
                <a:latin typeface="Times New Roman" panose="02020603050405020304" pitchFamily="18" charset="0"/>
                <a:cs typeface="Times New Roman" panose="02020603050405020304" pitchFamily="18" charset="0"/>
              </a:rPr>
              <a:t>The Warning Bit</a:t>
            </a:r>
          </a:p>
          <a:p>
            <a:pPr marL="628650" indent="-514350" algn="just">
              <a:buFont typeface="+mj-lt"/>
              <a:buAutoNum type="arabicPeriod"/>
            </a:pPr>
            <a:r>
              <a:rPr lang="en-US" b="1" i="1" dirty="0">
                <a:latin typeface="Times New Roman" panose="02020603050405020304" pitchFamily="18" charset="0"/>
                <a:cs typeface="Times New Roman" panose="02020603050405020304" pitchFamily="18" charset="0"/>
              </a:rPr>
              <a:t>Choke Packets</a:t>
            </a:r>
          </a:p>
          <a:p>
            <a:pPr marL="628650" indent="-514350" algn="just">
              <a:buFont typeface="+mj-lt"/>
              <a:buAutoNum type="arabicPeriod"/>
            </a:pPr>
            <a:r>
              <a:rPr lang="en-US" b="1" i="1" dirty="0">
                <a:latin typeface="Times New Roman" panose="02020603050405020304" pitchFamily="18" charset="0"/>
                <a:cs typeface="Times New Roman" panose="02020603050405020304" pitchFamily="18" charset="0"/>
              </a:rPr>
              <a:t>Hop-by-Hop Choke Packets </a:t>
            </a:r>
          </a:p>
          <a:p>
            <a:pPr marL="628650" indent="-514350" algn="just">
              <a:buFont typeface="+mj-lt"/>
              <a:buAutoNum type="arabicPeriod"/>
            </a:pPr>
            <a:endParaRPr lang="en-US"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endParaRPr lang="en-US"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endParaRPr lang="en-US"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endParaRPr lang="en-US" b="1" i="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dirty="0"/>
              <a:t>Congestion Control in Datagram Subnets</a:t>
            </a:r>
          </a:p>
        </p:txBody>
      </p:sp>
      <p:sp>
        <p:nvSpPr>
          <p:cNvPr id="37891" name="Rectangle 3"/>
          <p:cNvSpPr>
            <a:spLocks noGrp="1" noChangeArrowheads="1"/>
          </p:cNvSpPr>
          <p:nvPr>
            <p:ph type="body" idx="1"/>
          </p:nvPr>
        </p:nvSpPr>
        <p:spPr>
          <a:xfrm>
            <a:off x="1659468" y="647538"/>
            <a:ext cx="8873065" cy="6210462"/>
          </a:xfrm>
        </p:spPr>
        <p:txBody>
          <a:bodyPr>
            <a:normAutofit/>
          </a:bodyPr>
          <a:lstStyle/>
          <a:p>
            <a:pPr algn="just">
              <a:buFont typeface="+mj-lt"/>
              <a:buAutoNum type="arabicPeriod"/>
            </a:pPr>
            <a:r>
              <a:rPr lang="en-US" b="1" i="1" dirty="0">
                <a:solidFill>
                  <a:schemeClr val="tx1"/>
                </a:solidFill>
                <a:latin typeface="Times New Roman" panose="02020603050405020304" pitchFamily="18" charset="0"/>
                <a:cs typeface="Times New Roman" panose="02020603050405020304" pitchFamily="18" charset="0"/>
              </a:rPr>
              <a:t>The Warning Bit</a:t>
            </a:r>
          </a:p>
          <a:p>
            <a:pPr algn="just">
              <a:buFont typeface="Arial" pitchFamily="34" charset="0"/>
              <a:buChar char="•"/>
            </a:pPr>
            <a:r>
              <a:rPr lang="en-US" dirty="0">
                <a:latin typeface="Times New Roman" panose="02020603050405020304" pitchFamily="18" charset="0"/>
                <a:cs typeface="Times New Roman" panose="02020603050405020304" pitchFamily="18" charset="0"/>
              </a:rPr>
              <a:t>Old DECNET architecture &amp; frame relay signaled the warning state by </a:t>
            </a:r>
            <a:r>
              <a:rPr lang="en-US" dirty="0">
                <a:solidFill>
                  <a:srgbClr val="FF0000"/>
                </a:solidFill>
                <a:latin typeface="Times New Roman" panose="02020603050405020304" pitchFamily="18" charset="0"/>
                <a:cs typeface="Times New Roman" panose="02020603050405020304" pitchFamily="18" charset="0"/>
              </a:rPr>
              <a:t>setting a special bit </a:t>
            </a:r>
            <a:r>
              <a:rPr lang="en-US" dirty="0">
                <a:latin typeface="Times New Roman" panose="02020603050405020304" pitchFamily="18" charset="0"/>
                <a:cs typeface="Times New Roman" panose="02020603050405020304" pitchFamily="18" charset="0"/>
              </a:rPr>
              <a:t>in the packet's header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When the packet arrived at its destination, the transport entity </a:t>
            </a:r>
            <a:r>
              <a:rPr lang="en-US" dirty="0">
                <a:solidFill>
                  <a:srgbClr val="FF0000"/>
                </a:solidFill>
                <a:latin typeface="Times New Roman" panose="02020603050405020304" pitchFamily="18" charset="0"/>
                <a:cs typeface="Times New Roman" panose="02020603050405020304" pitchFamily="18" charset="0"/>
              </a:rPr>
              <a:t>copied the bit into the next acknowledgement </a:t>
            </a:r>
            <a:r>
              <a:rPr lang="en-US" dirty="0">
                <a:latin typeface="Times New Roman" panose="02020603050405020304" pitchFamily="18" charset="0"/>
                <a:cs typeface="Times New Roman" panose="02020603050405020304" pitchFamily="18" charset="0"/>
              </a:rPr>
              <a:t>sent back to the source</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source then cut back on traffic</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As long as the router was in the warning state, it continued to set the warning bit, which meant that the source continued to get acknowledgements with it set.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27ADEA-BF7E-4C23-A687-1765E589E3A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B756F17E-9246-4887-B8EB-257081B606EF}"/>
              </a:ext>
            </a:extLst>
          </p:cNvPr>
          <p:cNvSpPr>
            <a:spLocks noGrp="1"/>
          </p:cNvSpPr>
          <p:nvPr>
            <p:ph type="body" idx="1"/>
          </p:nvPr>
        </p:nvSpPr>
        <p:spPr>
          <a:xfrm>
            <a:off x="838200" y="1172817"/>
            <a:ext cx="10515600" cy="5004146"/>
          </a:xfrm>
        </p:spPr>
        <p:txBody>
          <a:bodyPr/>
          <a:lstStyle/>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The source monitored the fraction of acknowledgements with the bit set and </a:t>
            </a:r>
            <a:r>
              <a:rPr lang="en-US" b="1" dirty="0">
                <a:latin typeface="Times New Roman" panose="02020603050405020304" pitchFamily="18" charset="0"/>
                <a:cs typeface="Times New Roman" panose="02020603050405020304" pitchFamily="18" charset="0"/>
              </a:rPr>
              <a:t>adjusted its transmission rate</a:t>
            </a:r>
            <a:r>
              <a:rPr lang="en-US" dirty="0">
                <a:latin typeface="Times New Roman" panose="02020603050405020304" pitchFamily="18" charset="0"/>
                <a:cs typeface="Times New Roman" panose="02020603050405020304" pitchFamily="18" charset="0"/>
              </a:rPr>
              <a:t> accordingly. </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As long as the warning bits continued to flow in, the source </a:t>
            </a:r>
            <a:r>
              <a:rPr lang="en-US" b="1" dirty="0">
                <a:latin typeface="Times New Roman" panose="02020603050405020304" pitchFamily="18" charset="0"/>
                <a:cs typeface="Times New Roman" panose="02020603050405020304" pitchFamily="18" charset="0"/>
              </a:rPr>
              <a:t>continued to decrease its transmission rate</a:t>
            </a:r>
            <a:r>
              <a:rPr lang="en-US" dirty="0">
                <a:latin typeface="Times New Roman" panose="02020603050405020304" pitchFamily="18" charset="0"/>
                <a:cs typeface="Times New Roman" panose="02020603050405020304" pitchFamily="18" charset="0"/>
              </a:rPr>
              <a:t>. </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When they slowed to a trickle, it increases its transmission rate. </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Note that since every router along the path could set the warning bit, </a:t>
            </a:r>
            <a:r>
              <a:rPr lang="en-US" b="1" dirty="0">
                <a:latin typeface="Times New Roman" panose="02020603050405020304" pitchFamily="18" charset="0"/>
                <a:cs typeface="Times New Roman" panose="02020603050405020304" pitchFamily="18" charset="0"/>
              </a:rPr>
              <a:t>traffic is increased only when no router was in trouble</a:t>
            </a:r>
            <a:r>
              <a:rPr lang="en-US"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6264697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dirty="0"/>
              <a:t>Congestion Control in Datagram Subnets</a:t>
            </a:r>
          </a:p>
        </p:txBody>
      </p:sp>
      <p:sp>
        <p:nvSpPr>
          <p:cNvPr id="37891" name="Rectangle 3"/>
          <p:cNvSpPr>
            <a:spLocks noGrp="1" noChangeArrowheads="1"/>
          </p:cNvSpPr>
          <p:nvPr>
            <p:ph type="body" idx="1"/>
          </p:nvPr>
        </p:nvSpPr>
        <p:spPr>
          <a:xfrm>
            <a:off x="1659468" y="647538"/>
            <a:ext cx="8873065" cy="6210462"/>
          </a:xfrm>
        </p:spPr>
        <p:txBody>
          <a:bodyPr>
            <a:normAutofit/>
          </a:bodyPr>
          <a:lstStyle/>
          <a:p>
            <a:pPr algn="just">
              <a:lnSpc>
                <a:spcPct val="120000"/>
              </a:lnSpc>
              <a:buFont typeface="+mj-lt"/>
              <a:buAutoNum type="arabicPeriod" startAt="2"/>
            </a:pPr>
            <a:r>
              <a:rPr lang="en-US" b="1" i="1" dirty="0">
                <a:latin typeface="Times New Roman" panose="02020603050405020304" pitchFamily="18" charset="0"/>
                <a:cs typeface="Times New Roman" panose="02020603050405020304" pitchFamily="18" charset="0"/>
              </a:rPr>
              <a:t>Choke Packets </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Previous congestion control algorithm uses a roundabout means to tell the source to slow down. Why not just tell it directly? </a:t>
            </a:r>
          </a:p>
          <a:p>
            <a:pPr algn="just">
              <a:lnSpc>
                <a:spcPct val="120000"/>
              </a:lnSpc>
              <a:buFont typeface="Arial" pitchFamily="34" charset="0"/>
              <a:buChar char="•"/>
            </a:pPr>
            <a:r>
              <a:rPr lang="en-US" dirty="0">
                <a:latin typeface="Times New Roman" panose="02020603050405020304" pitchFamily="18" charset="0"/>
                <a:cs typeface="Times New Roman" panose="02020603050405020304" pitchFamily="18" charset="0"/>
              </a:rPr>
              <a:t>In this approach, the router sends a </a:t>
            </a:r>
            <a:r>
              <a:rPr lang="en-US" b="1" dirty="0">
                <a:latin typeface="Times New Roman" panose="02020603050405020304" pitchFamily="18" charset="0"/>
                <a:cs typeface="Times New Roman" panose="02020603050405020304" pitchFamily="18" charset="0"/>
              </a:rPr>
              <a:t>choke packet </a:t>
            </a:r>
            <a:r>
              <a:rPr lang="en-US" dirty="0">
                <a:latin typeface="Times New Roman" panose="02020603050405020304" pitchFamily="18" charset="0"/>
                <a:cs typeface="Times New Roman" panose="02020603050405020304" pitchFamily="18" charset="0"/>
              </a:rPr>
              <a:t>back to the source host, giving it the destination found in the packet. </a:t>
            </a:r>
          </a:p>
          <a:p>
            <a:pPr algn="just">
              <a:lnSpc>
                <a:spcPct val="100000"/>
              </a:lnSpc>
              <a:buFont typeface="Arial" pitchFamily="34" charset="0"/>
              <a:buChar char="•"/>
            </a:pPr>
            <a:r>
              <a:rPr lang="en-US" dirty="0">
                <a:solidFill>
                  <a:srgbClr val="FF0000"/>
                </a:solidFill>
                <a:latin typeface="Times New Roman" panose="02020603050405020304" pitchFamily="18" charset="0"/>
                <a:cs typeface="Times New Roman" panose="02020603050405020304" pitchFamily="18" charset="0"/>
              </a:rPr>
              <a:t>original packet is tagged </a:t>
            </a:r>
            <a:r>
              <a:rPr lang="en-US" dirty="0">
                <a:latin typeface="Times New Roman" panose="02020603050405020304" pitchFamily="18" charset="0"/>
                <a:cs typeface="Times New Roman" panose="02020603050405020304" pitchFamily="18" charset="0"/>
              </a:rPr>
              <a:t>(a header bit is turned on) so that it will not generate any more choke packets farther along the path and is then forwarded in the usual way.</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2A3456-3B8A-4AB5-B00E-F56AD516946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70821EBF-1FAB-476C-8B02-E23459042E8D}"/>
              </a:ext>
            </a:extLst>
          </p:cNvPr>
          <p:cNvSpPr>
            <a:spLocks noGrp="1"/>
          </p:cNvSpPr>
          <p:nvPr>
            <p:ph type="body" idx="1"/>
          </p:nvPr>
        </p:nvSpPr>
        <p:spPr>
          <a:xfrm>
            <a:off x="480392" y="278296"/>
            <a:ext cx="8146774" cy="6579704"/>
          </a:xfrm>
        </p:spPr>
        <p:txBody>
          <a:bodyPr>
            <a:normAutofit fontScale="92500"/>
          </a:bodyPr>
          <a:lstStyle/>
          <a:p>
            <a:pPr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When the source host gets the choke packet, it is required to </a:t>
            </a:r>
            <a:r>
              <a:rPr lang="en-US" sz="2600" dirty="0">
                <a:solidFill>
                  <a:srgbClr val="FF0000"/>
                </a:solidFill>
                <a:latin typeface="Times New Roman" panose="02020603050405020304" pitchFamily="18" charset="0"/>
                <a:cs typeface="Times New Roman" panose="02020603050405020304" pitchFamily="18" charset="0"/>
              </a:rPr>
              <a:t>reduce the traffic </a:t>
            </a:r>
            <a:r>
              <a:rPr lang="en-US" sz="2600" dirty="0">
                <a:latin typeface="Times New Roman" panose="02020603050405020304" pitchFamily="18" charset="0"/>
                <a:cs typeface="Times New Roman" panose="02020603050405020304" pitchFamily="18" charset="0"/>
              </a:rPr>
              <a:t>sent to the specified destination by </a:t>
            </a:r>
            <a:r>
              <a:rPr lang="en-US" sz="2600" b="1" i="1" dirty="0">
                <a:latin typeface="Times New Roman" panose="02020603050405020304" pitchFamily="18" charset="0"/>
                <a:cs typeface="Times New Roman" panose="02020603050405020304" pitchFamily="18" charset="0"/>
              </a:rPr>
              <a:t>X </a:t>
            </a:r>
            <a:r>
              <a:rPr lang="en-US" sz="2600" b="1" dirty="0">
                <a:latin typeface="Times New Roman" panose="02020603050405020304" pitchFamily="18" charset="0"/>
                <a:cs typeface="Times New Roman" panose="02020603050405020304" pitchFamily="18" charset="0"/>
              </a:rPr>
              <a:t>percent. </a:t>
            </a:r>
          </a:p>
          <a:p>
            <a:pPr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Since other packets aimed at the same destination are probably already under way and will generate yet more choke packets, </a:t>
            </a:r>
          </a:p>
          <a:p>
            <a:pPr lvl="1"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the host should </a:t>
            </a:r>
            <a:r>
              <a:rPr lang="en-US" sz="2600" dirty="0">
                <a:solidFill>
                  <a:srgbClr val="FF0000"/>
                </a:solidFill>
                <a:latin typeface="Times New Roman" panose="02020603050405020304" pitchFamily="18" charset="0"/>
                <a:cs typeface="Times New Roman" panose="02020603050405020304" pitchFamily="18" charset="0"/>
              </a:rPr>
              <a:t>ignore</a:t>
            </a:r>
            <a:r>
              <a:rPr lang="en-US" sz="2600" dirty="0">
                <a:latin typeface="Times New Roman" panose="02020603050405020304" pitchFamily="18" charset="0"/>
                <a:cs typeface="Times New Roman" panose="02020603050405020304" pitchFamily="18" charset="0"/>
              </a:rPr>
              <a:t> choke packets referring to that destination for a fixed time interval. </a:t>
            </a:r>
          </a:p>
          <a:p>
            <a:pPr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After that period has expired, the host </a:t>
            </a:r>
            <a:r>
              <a:rPr lang="en-US" sz="2600" dirty="0">
                <a:solidFill>
                  <a:srgbClr val="FF0000"/>
                </a:solidFill>
                <a:latin typeface="Times New Roman" panose="02020603050405020304" pitchFamily="18" charset="0"/>
                <a:cs typeface="Times New Roman" panose="02020603050405020304" pitchFamily="18" charset="0"/>
              </a:rPr>
              <a:t>listens</a:t>
            </a:r>
            <a:r>
              <a:rPr lang="en-US" sz="2600" dirty="0">
                <a:latin typeface="Times New Roman" panose="02020603050405020304" pitchFamily="18" charset="0"/>
                <a:cs typeface="Times New Roman" panose="02020603050405020304" pitchFamily="18" charset="0"/>
              </a:rPr>
              <a:t> for more choke packets for another interval. </a:t>
            </a:r>
          </a:p>
          <a:p>
            <a:pPr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If one arrives, the line is still congested, so the host reduces the flow still more and begins ignoring choke packets again. </a:t>
            </a:r>
          </a:p>
          <a:p>
            <a:pPr algn="just">
              <a:lnSpc>
                <a:spcPct val="110000"/>
              </a:lnSpc>
              <a:buFont typeface="Arial" pitchFamily="34" charset="0"/>
              <a:buChar char="•"/>
            </a:pPr>
            <a:r>
              <a:rPr lang="en-US" sz="2600" dirty="0">
                <a:latin typeface="Times New Roman" panose="02020603050405020304" pitchFamily="18" charset="0"/>
                <a:cs typeface="Times New Roman" panose="02020603050405020304" pitchFamily="18" charset="0"/>
              </a:rPr>
              <a:t>If </a:t>
            </a:r>
            <a:r>
              <a:rPr lang="en-US" sz="2600" b="1" dirty="0">
                <a:latin typeface="Times New Roman" panose="02020603050405020304" pitchFamily="18" charset="0"/>
                <a:cs typeface="Times New Roman" panose="02020603050405020304" pitchFamily="18" charset="0"/>
              </a:rPr>
              <a:t>no choke packets </a:t>
            </a:r>
            <a:r>
              <a:rPr lang="en-US" sz="2600" dirty="0">
                <a:latin typeface="Times New Roman" panose="02020603050405020304" pitchFamily="18" charset="0"/>
                <a:cs typeface="Times New Roman" panose="02020603050405020304" pitchFamily="18" charset="0"/>
              </a:rPr>
              <a:t>arrive during the listening period, the </a:t>
            </a:r>
            <a:r>
              <a:rPr lang="en-US" sz="2600" b="1" dirty="0">
                <a:latin typeface="Times New Roman" panose="02020603050405020304" pitchFamily="18" charset="0"/>
                <a:cs typeface="Times New Roman" panose="02020603050405020304" pitchFamily="18" charset="0"/>
              </a:rPr>
              <a:t>host may increase the flow again. </a:t>
            </a:r>
          </a:p>
          <a:p>
            <a:endParaRPr lang="en-IN" dirty="0"/>
          </a:p>
        </p:txBody>
      </p:sp>
      <p:pic>
        <p:nvPicPr>
          <p:cNvPr id="4" name="Google Shape;723;p78">
            <a:extLst>
              <a:ext uri="{FF2B5EF4-FFF2-40B4-BE49-F238E27FC236}">
                <a16:creationId xmlns:a16="http://schemas.microsoft.com/office/drawing/2014/main" xmlns="" id="{F8B8E4F5-F3F1-47ED-8FAF-5905360CF2A1}"/>
              </a:ext>
            </a:extLst>
          </p:cNvPr>
          <p:cNvPicPr preferRelativeResize="0">
            <a:picLocks/>
          </p:cNvPicPr>
          <p:nvPr/>
        </p:nvPicPr>
        <p:blipFill rotWithShape="1">
          <a:blip r:embed="rId2">
            <a:alphaModFix/>
          </a:blip>
          <a:srcRect/>
          <a:stretch/>
        </p:blipFill>
        <p:spPr>
          <a:xfrm>
            <a:off x="9054548" y="365125"/>
            <a:ext cx="2933549" cy="6422344"/>
          </a:xfrm>
          <a:prstGeom prst="rect">
            <a:avLst/>
          </a:prstGeom>
          <a:noFill/>
          <a:ln>
            <a:noFill/>
          </a:ln>
        </p:spPr>
      </p:pic>
    </p:spTree>
    <p:extLst>
      <p:ext uri="{BB962C8B-B14F-4D97-AF65-F5344CB8AC3E}">
        <p14:creationId xmlns:p14="http://schemas.microsoft.com/office/powerpoint/2010/main" val="4749480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Congestion Control in Datagram Subnets</a:t>
            </a:r>
          </a:p>
        </p:txBody>
      </p:sp>
      <p:sp>
        <p:nvSpPr>
          <p:cNvPr id="37891" name="Rectangle 3"/>
          <p:cNvSpPr>
            <a:spLocks noGrp="1" noChangeArrowheads="1"/>
          </p:cNvSpPr>
          <p:nvPr>
            <p:ph type="body" idx="1"/>
          </p:nvPr>
        </p:nvSpPr>
        <p:spPr>
          <a:xfrm>
            <a:off x="1659468" y="647538"/>
            <a:ext cx="8873065" cy="6210462"/>
          </a:xfrm>
        </p:spPr>
        <p:txBody>
          <a:bodyPr/>
          <a:lstStyle/>
          <a:p>
            <a:pPr algn="just">
              <a:buFont typeface="Arial" pitchFamily="34" charset="0"/>
              <a:buChar char="•"/>
            </a:pPr>
            <a:r>
              <a:rPr lang="en-US" sz="2400" dirty="0">
                <a:latin typeface="Times New Roman" panose="02020603050405020304" pitchFamily="18" charset="0"/>
                <a:cs typeface="Times New Roman" panose="02020603050405020304" pitchFamily="18" charset="0"/>
              </a:rPr>
              <a:t>Hosts can reduce traffic by adjusting their policy parameters, for example, their window size. </a:t>
            </a:r>
          </a:p>
          <a:p>
            <a:pPr algn="just">
              <a:buFont typeface="Arial" pitchFamily="34" charset="0"/>
              <a:buChar char="•"/>
            </a:pPr>
            <a:r>
              <a:rPr lang="en-US" sz="2400" dirty="0">
                <a:latin typeface="Times New Roman" panose="02020603050405020304" pitchFamily="18" charset="0"/>
                <a:cs typeface="Times New Roman" panose="02020603050405020304" pitchFamily="18" charset="0"/>
              </a:rPr>
              <a:t>Typically, the first choke packet causes the data rate to be reduced to 0.50 of its previous rate, </a:t>
            </a:r>
          </a:p>
          <a:p>
            <a:pPr algn="just">
              <a:buFont typeface="Arial" pitchFamily="34" charset="0"/>
              <a:buChar char="•"/>
            </a:pPr>
            <a:r>
              <a:rPr lang="en-US" sz="2400" dirty="0">
                <a:latin typeface="Times New Roman" panose="02020603050405020304" pitchFamily="18" charset="0"/>
                <a:cs typeface="Times New Roman" panose="02020603050405020304" pitchFamily="18" charset="0"/>
              </a:rPr>
              <a:t>Next one causes a reduction to 0.25, and so on. </a:t>
            </a:r>
          </a:p>
          <a:p>
            <a:pPr algn="just">
              <a:buFont typeface="Arial" pitchFamily="34" charset="0"/>
              <a:buChar char="•"/>
            </a:pPr>
            <a:r>
              <a:rPr lang="en-US" sz="2400" b="1" dirty="0">
                <a:latin typeface="Times New Roman" panose="02020603050405020304" pitchFamily="18" charset="0"/>
                <a:cs typeface="Times New Roman" panose="02020603050405020304" pitchFamily="18" charset="0"/>
              </a:rPr>
              <a:t>Increases are done in smaller increments </a:t>
            </a:r>
            <a:r>
              <a:rPr lang="en-US" sz="2400" dirty="0">
                <a:latin typeface="Times New Roman" panose="02020603050405020304" pitchFamily="18" charset="0"/>
                <a:cs typeface="Times New Roman" panose="02020603050405020304" pitchFamily="18" charset="0"/>
              </a:rPr>
              <a:t>to prevent congestion from reoccurring quickly. </a:t>
            </a:r>
          </a:p>
          <a:p>
            <a:pPr algn="just">
              <a:buFont typeface="Arial" pitchFamily="34" charset="0"/>
              <a:buChar char="•"/>
            </a:pPr>
            <a:r>
              <a:rPr lang="en-US" sz="2400" b="1" dirty="0">
                <a:latin typeface="Times New Roman" panose="02020603050405020304" pitchFamily="18" charset="0"/>
                <a:cs typeface="Times New Roman" panose="02020603050405020304" pitchFamily="18" charset="0"/>
              </a:rPr>
              <a:t>Several variations </a:t>
            </a:r>
            <a:r>
              <a:rPr lang="en-US" sz="2400" dirty="0">
                <a:latin typeface="Times New Roman" panose="02020603050405020304" pitchFamily="18" charset="0"/>
                <a:cs typeface="Times New Roman" panose="02020603050405020304" pitchFamily="18" charset="0"/>
              </a:rPr>
              <a:t>on this congestion control algorithm </a:t>
            </a:r>
          </a:p>
          <a:p>
            <a:pPr lvl="1" algn="just">
              <a:buFont typeface="+mj-lt"/>
              <a:buAutoNum type="arabicPeriod"/>
            </a:pPr>
            <a:r>
              <a:rPr lang="en-US" dirty="0">
                <a:latin typeface="Times New Roman" panose="02020603050405020304" pitchFamily="18" charset="0"/>
                <a:cs typeface="Times New Roman" panose="02020603050405020304" pitchFamily="18" charset="0"/>
              </a:rPr>
              <a:t>routers can maintain </a:t>
            </a:r>
            <a:r>
              <a:rPr lang="en-US" dirty="0">
                <a:solidFill>
                  <a:srgbClr val="FF0000"/>
                </a:solidFill>
                <a:latin typeface="Times New Roman" panose="02020603050405020304" pitchFamily="18" charset="0"/>
                <a:cs typeface="Times New Roman" panose="02020603050405020304" pitchFamily="18" charset="0"/>
              </a:rPr>
              <a:t>several thresholds</a:t>
            </a:r>
            <a:r>
              <a:rPr lang="en-US" dirty="0">
                <a:latin typeface="Times New Roman" panose="02020603050405020304" pitchFamily="18" charset="0"/>
                <a:cs typeface="Times New Roman" panose="02020603050405020304" pitchFamily="18" charset="0"/>
              </a:rPr>
              <a:t>. </a:t>
            </a:r>
          </a:p>
          <a:p>
            <a:pPr lvl="2" algn="just"/>
            <a:r>
              <a:rPr lang="en-US" sz="2400" dirty="0">
                <a:latin typeface="Times New Roman" panose="02020603050405020304" pitchFamily="18" charset="0"/>
                <a:cs typeface="Times New Roman" panose="02020603050405020304" pitchFamily="18" charset="0"/>
              </a:rPr>
              <a:t>Depending on which threshold has been crossed, the choke packet can contain a </a:t>
            </a:r>
            <a:r>
              <a:rPr lang="en-US" sz="2400" dirty="0">
                <a:solidFill>
                  <a:srgbClr val="FF0000"/>
                </a:solidFill>
                <a:latin typeface="Times New Roman" panose="02020603050405020304" pitchFamily="18" charset="0"/>
                <a:cs typeface="Times New Roman" panose="02020603050405020304" pitchFamily="18" charset="0"/>
              </a:rPr>
              <a:t>mild warning, a stern warning, or an ultimatum</a:t>
            </a:r>
            <a:r>
              <a:rPr lang="en-US" sz="2400" dirty="0">
                <a:latin typeface="Times New Roman" panose="02020603050405020304" pitchFamily="18" charset="0"/>
                <a:cs typeface="Times New Roman" panose="02020603050405020304" pitchFamily="18" charset="0"/>
              </a:rPr>
              <a:t>. </a:t>
            </a:r>
          </a:p>
          <a:p>
            <a:pPr lvl="1" algn="just">
              <a:buFont typeface="+mj-lt"/>
              <a:buAutoNum type="arabicPeriod"/>
            </a:pPr>
            <a:r>
              <a:rPr lang="en-US" dirty="0">
                <a:latin typeface="Times New Roman" panose="02020603050405020304" pitchFamily="18" charset="0"/>
                <a:cs typeface="Times New Roman" panose="02020603050405020304" pitchFamily="18" charset="0"/>
              </a:rPr>
              <a:t>to use </a:t>
            </a:r>
            <a:r>
              <a:rPr lang="en-US" dirty="0">
                <a:solidFill>
                  <a:srgbClr val="FF0000"/>
                </a:solidFill>
                <a:latin typeface="Times New Roman" panose="02020603050405020304" pitchFamily="18" charset="0"/>
                <a:cs typeface="Times New Roman" panose="02020603050405020304" pitchFamily="18" charset="0"/>
              </a:rPr>
              <a:t>queue lengths or buffer utilization </a:t>
            </a:r>
            <a:r>
              <a:rPr lang="en-US" dirty="0">
                <a:latin typeface="Times New Roman" panose="02020603050405020304" pitchFamily="18" charset="0"/>
                <a:cs typeface="Times New Roman" panose="02020603050405020304" pitchFamily="18" charset="0"/>
              </a:rPr>
              <a:t>instead of line utilization as the trigger signal</a:t>
            </a:r>
            <a:r>
              <a:rPr lang="en-US" dirty="0"/>
              <a: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Congestion Control in Datagram Subnets</a:t>
            </a:r>
          </a:p>
        </p:txBody>
      </p:sp>
      <p:sp>
        <p:nvSpPr>
          <p:cNvPr id="37891" name="Rectangle 3"/>
          <p:cNvSpPr>
            <a:spLocks noGrp="1" noChangeArrowheads="1"/>
          </p:cNvSpPr>
          <p:nvPr>
            <p:ph type="body" idx="1"/>
          </p:nvPr>
        </p:nvSpPr>
        <p:spPr>
          <a:xfrm>
            <a:off x="675862" y="417446"/>
            <a:ext cx="10893286" cy="6241774"/>
          </a:xfrm>
        </p:spPr>
        <p:txBody>
          <a:bodyPr>
            <a:noAutofit/>
          </a:bodyPr>
          <a:lstStyle/>
          <a:p>
            <a:pPr algn="just">
              <a:buFont typeface="+mj-lt"/>
              <a:buAutoNum type="arabicPeriod" startAt="3"/>
            </a:pPr>
            <a:r>
              <a:rPr lang="en-US" b="1" i="1" dirty="0">
                <a:latin typeface="Times New Roman" panose="02020603050405020304" pitchFamily="18" charset="0"/>
                <a:cs typeface="Times New Roman" panose="02020603050405020304" pitchFamily="18" charset="0"/>
              </a:rPr>
              <a:t>Hop-by-Hop Choke Packets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At high speeds or over long distances, sending a choke packet to the source hosts does not work well because the reaction is so slow. </a:t>
            </a:r>
          </a:p>
          <a:p>
            <a:pPr lvl="1" algn="just">
              <a:buFont typeface="Arial" pitchFamily="34" charset="0"/>
              <a:buChar char="•"/>
            </a:pPr>
            <a:r>
              <a:rPr lang="en-US" sz="2800" dirty="0">
                <a:latin typeface="Times New Roman" panose="02020603050405020304" pitchFamily="18" charset="0"/>
                <a:cs typeface="Times New Roman" panose="02020603050405020304" pitchFamily="18" charset="0"/>
              </a:rPr>
              <a:t>Refer to figure (a) of next slide</a:t>
            </a:r>
          </a:p>
          <a:p>
            <a:pPr algn="just">
              <a:buFont typeface="Arial" pitchFamily="34" charset="0"/>
              <a:buChar char="•"/>
            </a:pPr>
            <a:r>
              <a:rPr lang="en-US" dirty="0">
                <a:latin typeface="Times New Roman" panose="02020603050405020304" pitchFamily="18" charset="0"/>
                <a:cs typeface="Times New Roman" panose="02020603050405020304" pitchFamily="18" charset="0"/>
              </a:rPr>
              <a:t>Alternative approach is to have the </a:t>
            </a:r>
            <a:r>
              <a:rPr lang="en-US" dirty="0">
                <a:solidFill>
                  <a:srgbClr val="FF0000"/>
                </a:solidFill>
                <a:latin typeface="Times New Roman" panose="02020603050405020304" pitchFamily="18" charset="0"/>
                <a:cs typeface="Times New Roman" panose="02020603050405020304" pitchFamily="18" charset="0"/>
              </a:rPr>
              <a:t>choke packet take effect at every hop</a:t>
            </a:r>
            <a:r>
              <a:rPr lang="en-US" dirty="0">
                <a:latin typeface="Times New Roman" panose="02020603050405020304" pitchFamily="18" charset="0"/>
                <a:cs typeface="Times New Roman" panose="02020603050405020304" pitchFamily="18" charset="0"/>
              </a:rPr>
              <a:t> it passes through </a:t>
            </a:r>
          </a:p>
          <a:p>
            <a:pPr marL="990600" lvl="2" indent="-609600" algn="just">
              <a:buFont typeface="Arial" pitchFamily="34" charset="0"/>
              <a:buChar char="•"/>
            </a:pPr>
            <a:r>
              <a:rPr lang="en-US" sz="2800" dirty="0">
                <a:latin typeface="Times New Roman" panose="02020603050405020304" pitchFamily="18" charset="0"/>
                <a:cs typeface="Times New Roman" panose="02020603050405020304" pitchFamily="18" charset="0"/>
              </a:rPr>
              <a:t>Refer to figure a of next slide</a:t>
            </a:r>
          </a:p>
          <a:p>
            <a:pPr algn="just">
              <a:buFont typeface="Arial" pitchFamily="34" charset="0"/>
              <a:buChar char="•"/>
            </a:pPr>
            <a:r>
              <a:rPr lang="en-US" dirty="0">
                <a:latin typeface="Times New Roman" panose="02020603050405020304" pitchFamily="18" charset="0"/>
                <a:cs typeface="Times New Roman" panose="02020603050405020304" pitchFamily="18" charset="0"/>
              </a:rPr>
              <a:t>as soon as the choke packet reaches F, F is required to reduce the flow to D.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Doing so will require F to devote more buffers to the flow, since the source is still sending away at full blast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This is done till the choke packet reaches the source</a:t>
            </a:r>
          </a:p>
          <a:p>
            <a:pPr algn="just">
              <a:buFont typeface="Arial" pitchFamily="34" charset="0"/>
              <a:buChar char="•"/>
            </a:pPr>
            <a:r>
              <a:rPr lang="en-US" dirty="0">
                <a:solidFill>
                  <a:srgbClr val="FF0000"/>
                </a:solidFill>
                <a:latin typeface="Times New Roman" panose="02020603050405020304" pitchFamily="18" charset="0"/>
                <a:cs typeface="Times New Roman" panose="02020603050405020304" pitchFamily="18" charset="0"/>
              </a:rPr>
              <a:t>net effect </a:t>
            </a:r>
            <a:r>
              <a:rPr lang="en-US" dirty="0">
                <a:latin typeface="Times New Roman" panose="02020603050405020304" pitchFamily="18" charset="0"/>
                <a:cs typeface="Times New Roman" panose="02020603050405020304" pitchFamily="18" charset="0"/>
              </a:rPr>
              <a:t>is to provide quick relief at the point of congestion at the price of using up more buffers upstream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704622" y="323850"/>
            <a:ext cx="4334228" cy="1695450"/>
          </a:xfrm>
        </p:spPr>
        <p:txBody>
          <a:bodyPr/>
          <a:lstStyle/>
          <a:p>
            <a:r>
              <a:rPr lang="en-US" dirty="0"/>
              <a:t>Hop-by-Hop Choke Packets</a:t>
            </a:r>
          </a:p>
        </p:txBody>
      </p:sp>
      <p:sp>
        <p:nvSpPr>
          <p:cNvPr id="40963" name="Rectangle 3"/>
          <p:cNvSpPr>
            <a:spLocks noGrp="1" noChangeArrowheads="1"/>
          </p:cNvSpPr>
          <p:nvPr>
            <p:ph type="body" idx="1"/>
          </p:nvPr>
        </p:nvSpPr>
        <p:spPr>
          <a:xfrm>
            <a:off x="1524000" y="4210050"/>
            <a:ext cx="4514850" cy="2324100"/>
          </a:xfrm>
        </p:spPr>
        <p:txBody>
          <a:bodyPr>
            <a:normAutofit fontScale="92500"/>
          </a:bodyPr>
          <a:lstStyle/>
          <a:p>
            <a:pPr>
              <a:buFontTx/>
              <a:buNone/>
            </a:pPr>
            <a:r>
              <a:rPr lang="en-US" dirty="0">
                <a:solidFill>
                  <a:schemeClr val="accent2"/>
                </a:solidFill>
              </a:rPr>
              <a:t>(a)</a:t>
            </a:r>
            <a:r>
              <a:rPr lang="en-US" dirty="0"/>
              <a:t> A choke packet that affects only the source.</a:t>
            </a:r>
          </a:p>
          <a:p>
            <a:pPr>
              <a:buFontTx/>
              <a:buNone/>
            </a:pPr>
            <a:endParaRPr lang="en-US" dirty="0"/>
          </a:p>
          <a:p>
            <a:pPr>
              <a:buFontTx/>
              <a:buNone/>
            </a:pPr>
            <a:r>
              <a:rPr lang="en-US" dirty="0">
                <a:solidFill>
                  <a:schemeClr val="accent2"/>
                </a:solidFill>
              </a:rPr>
              <a:t>(b)</a:t>
            </a:r>
            <a:r>
              <a:rPr lang="en-US" dirty="0"/>
              <a:t> A choke packet that affects each hop it passes through.</a:t>
            </a:r>
          </a:p>
        </p:txBody>
      </p:sp>
      <p:pic>
        <p:nvPicPr>
          <p:cNvPr id="40965" name="Picture 5" descr="5-28"/>
          <p:cNvPicPr>
            <a:picLocks noChangeAspect="1" noChangeArrowheads="1"/>
          </p:cNvPicPr>
          <p:nvPr/>
        </p:nvPicPr>
        <p:blipFill>
          <a:blip r:embed="rId2" cstate="print"/>
          <a:srcRect/>
          <a:stretch>
            <a:fillRect/>
          </a:stretch>
        </p:blipFill>
        <p:spPr bwMode="auto">
          <a:xfrm>
            <a:off x="5547076" y="11289"/>
            <a:ext cx="5098346" cy="6812844"/>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Load Shedding</a:t>
            </a:r>
          </a:p>
        </p:txBody>
      </p:sp>
      <p:sp>
        <p:nvSpPr>
          <p:cNvPr id="37891" name="Rectangle 3"/>
          <p:cNvSpPr>
            <a:spLocks noGrp="1" noChangeArrowheads="1"/>
          </p:cNvSpPr>
          <p:nvPr>
            <p:ph type="body" idx="1"/>
          </p:nvPr>
        </p:nvSpPr>
        <p:spPr>
          <a:xfrm>
            <a:off x="1659468" y="647538"/>
            <a:ext cx="8873065" cy="6210462"/>
          </a:xfrm>
        </p:spPr>
        <p:txBody>
          <a:bodyPr>
            <a:normAutofit/>
          </a:bodyPr>
          <a:lstStyle/>
          <a:p>
            <a:pPr algn="just">
              <a:buFont typeface="Arial" pitchFamily="34" charset="0"/>
              <a:buChar char="•"/>
            </a:pPr>
            <a:r>
              <a:rPr lang="en-US" b="1" dirty="0">
                <a:latin typeface="Times New Roman" panose="02020603050405020304" pitchFamily="18" charset="0"/>
                <a:cs typeface="Times New Roman" panose="02020603050405020304" pitchFamily="18" charset="0"/>
              </a:rPr>
              <a:t>Load shedding </a:t>
            </a:r>
            <a:r>
              <a:rPr lang="en-US" dirty="0">
                <a:latin typeface="Times New Roman" panose="02020603050405020304" pitchFamily="18" charset="0"/>
                <a:cs typeface="Times New Roman" panose="02020603050405020304" pitchFamily="18" charset="0"/>
              </a:rPr>
              <a:t>is a fancy way of saying that when routers are being flooded by packets that they cannot handle, they just throw them away</a:t>
            </a:r>
          </a:p>
          <a:p>
            <a:pPr algn="just">
              <a:buFont typeface="Arial" pitchFamily="34" charset="0"/>
              <a:buChar char="•"/>
            </a:pPr>
            <a:r>
              <a:rPr lang="en-US" b="1" dirty="0">
                <a:latin typeface="Times New Roman" panose="02020603050405020304" pitchFamily="18" charset="0"/>
                <a:cs typeface="Times New Roman" panose="02020603050405020304" pitchFamily="18" charset="0"/>
              </a:rPr>
              <a:t>Methods for dropping:</a:t>
            </a:r>
          </a:p>
          <a:p>
            <a:pPr lvl="1" algn="just"/>
            <a:r>
              <a:rPr lang="en-US" sz="2800" dirty="0">
                <a:latin typeface="Times New Roman" panose="02020603050405020304" pitchFamily="18" charset="0"/>
                <a:cs typeface="Times New Roman" panose="02020603050405020304" pitchFamily="18" charset="0"/>
              </a:rPr>
              <a:t>can just pick packets at </a:t>
            </a:r>
            <a:r>
              <a:rPr lang="en-US" sz="2800" dirty="0">
                <a:solidFill>
                  <a:srgbClr val="FF0000"/>
                </a:solidFill>
                <a:latin typeface="Times New Roman" panose="02020603050405020304" pitchFamily="18" charset="0"/>
                <a:cs typeface="Times New Roman" panose="02020603050405020304" pitchFamily="18" charset="0"/>
              </a:rPr>
              <a:t>random</a:t>
            </a:r>
            <a:r>
              <a:rPr lang="en-US" sz="2800" dirty="0">
                <a:latin typeface="Times New Roman" panose="02020603050405020304" pitchFamily="18" charset="0"/>
                <a:cs typeface="Times New Roman" panose="02020603050405020304" pitchFamily="18" charset="0"/>
              </a:rPr>
              <a:t> to drop</a:t>
            </a:r>
          </a:p>
          <a:p>
            <a:pPr lvl="1" algn="just"/>
            <a:r>
              <a:rPr lang="en-US" sz="2800" dirty="0">
                <a:latin typeface="Times New Roman" panose="02020603050405020304" pitchFamily="18" charset="0"/>
                <a:cs typeface="Times New Roman" panose="02020603050405020304" pitchFamily="18" charset="0"/>
              </a:rPr>
              <a:t>discard may </a:t>
            </a:r>
            <a:r>
              <a:rPr lang="en-US" sz="2800" b="1" dirty="0">
                <a:latin typeface="Times New Roman" panose="02020603050405020304" pitchFamily="18" charset="0"/>
                <a:cs typeface="Times New Roman" panose="02020603050405020304" pitchFamily="18" charset="0"/>
              </a:rPr>
              <a:t>depend on the applications </a:t>
            </a:r>
            <a:r>
              <a:rPr lang="en-US" sz="2800" dirty="0">
                <a:latin typeface="Times New Roman" panose="02020603050405020304" pitchFamily="18" charset="0"/>
                <a:cs typeface="Times New Roman" panose="02020603050405020304" pitchFamily="18" charset="0"/>
              </a:rPr>
              <a:t>running</a:t>
            </a:r>
          </a:p>
          <a:p>
            <a:pPr lvl="2" algn="just">
              <a:buFont typeface="+mj-lt"/>
              <a:buAutoNum type="arabicPeriod"/>
            </a:pPr>
            <a:r>
              <a:rPr lang="en-US" sz="2800" dirty="0">
                <a:latin typeface="Times New Roman" panose="02020603050405020304" pitchFamily="18" charset="0"/>
                <a:cs typeface="Times New Roman" panose="02020603050405020304" pitchFamily="18" charset="0"/>
              </a:rPr>
              <a:t>For </a:t>
            </a:r>
            <a:r>
              <a:rPr lang="en-US" sz="2800" b="1" dirty="0">
                <a:latin typeface="Times New Roman" panose="02020603050405020304" pitchFamily="18" charset="0"/>
                <a:cs typeface="Times New Roman" panose="02020603050405020304" pitchFamily="18" charset="0"/>
              </a:rPr>
              <a:t>file transfer</a:t>
            </a:r>
            <a:r>
              <a:rPr lang="en-US" sz="2800" dirty="0">
                <a:latin typeface="Times New Roman" panose="02020603050405020304" pitchFamily="18" charset="0"/>
                <a:cs typeface="Times New Roman" panose="02020603050405020304" pitchFamily="18" charset="0"/>
              </a:rPr>
              <a:t>, an old packet is worth more than a new one </a:t>
            </a:r>
          </a:p>
          <a:p>
            <a:pPr lvl="3" algn="just"/>
            <a:r>
              <a:rPr lang="en-US" sz="2800" dirty="0">
                <a:latin typeface="Times New Roman" panose="02020603050405020304" pitchFamily="18" charset="0"/>
                <a:cs typeface="Times New Roman" panose="02020603050405020304" pitchFamily="18" charset="0"/>
              </a:rPr>
              <a:t>old is better than new is often called </a:t>
            </a:r>
            <a:r>
              <a:rPr lang="en-US" sz="2800" b="1" dirty="0">
                <a:solidFill>
                  <a:srgbClr val="FF0000"/>
                </a:solidFill>
                <a:latin typeface="Times New Roman" panose="02020603050405020304" pitchFamily="18" charset="0"/>
                <a:cs typeface="Times New Roman" panose="02020603050405020304" pitchFamily="18" charset="0"/>
              </a:rPr>
              <a:t>wine</a:t>
            </a:r>
            <a:endParaRPr lang="en-US" sz="2800" dirty="0">
              <a:solidFill>
                <a:srgbClr val="FF0000"/>
              </a:solidFill>
              <a:latin typeface="Times New Roman" panose="02020603050405020304" pitchFamily="18" charset="0"/>
              <a:cs typeface="Times New Roman" panose="02020603050405020304" pitchFamily="18" charset="0"/>
            </a:endParaRPr>
          </a:p>
          <a:p>
            <a:pPr lvl="2" algn="just">
              <a:buFont typeface="+mj-lt"/>
              <a:buAutoNum type="arabicPeriod" startAt="2"/>
            </a:pPr>
            <a:r>
              <a:rPr lang="en-US" sz="2800" dirty="0">
                <a:latin typeface="Times New Roman" panose="02020603050405020304" pitchFamily="18" charset="0"/>
                <a:cs typeface="Times New Roman" panose="02020603050405020304" pitchFamily="18" charset="0"/>
              </a:rPr>
              <a:t>For </a:t>
            </a:r>
            <a:r>
              <a:rPr lang="en-US" sz="2800" b="1" dirty="0">
                <a:latin typeface="Times New Roman" panose="02020603050405020304" pitchFamily="18" charset="0"/>
                <a:cs typeface="Times New Roman" panose="02020603050405020304" pitchFamily="18" charset="0"/>
              </a:rPr>
              <a:t>multimedia</a:t>
            </a:r>
            <a:r>
              <a:rPr lang="en-US" sz="2800" dirty="0">
                <a:latin typeface="Times New Roman" panose="02020603050405020304" pitchFamily="18" charset="0"/>
                <a:cs typeface="Times New Roman" panose="02020603050405020304" pitchFamily="18" charset="0"/>
              </a:rPr>
              <a:t>, a new packet is more important than an old one.</a:t>
            </a:r>
          </a:p>
          <a:p>
            <a:pPr lvl="3" algn="just"/>
            <a:r>
              <a:rPr lang="en-US" sz="2800" dirty="0">
                <a:latin typeface="Times New Roman" panose="02020603050405020304" pitchFamily="18" charset="0"/>
                <a:cs typeface="Times New Roman" panose="02020603050405020304" pitchFamily="18" charset="0"/>
              </a:rPr>
              <a:t>new is better than old is often called </a:t>
            </a:r>
            <a:r>
              <a:rPr lang="en-US" sz="2800" b="1" dirty="0">
                <a:solidFill>
                  <a:srgbClr val="FF0000"/>
                </a:solidFill>
                <a:latin typeface="Times New Roman" panose="02020603050405020304" pitchFamily="18" charset="0"/>
                <a:cs typeface="Times New Roman" panose="02020603050405020304" pitchFamily="18" charset="0"/>
              </a:rPr>
              <a:t>milk</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Load Shedding</a:t>
            </a:r>
          </a:p>
        </p:txBody>
      </p:sp>
      <p:sp>
        <p:nvSpPr>
          <p:cNvPr id="37891" name="Rectangle 3"/>
          <p:cNvSpPr>
            <a:spLocks noGrp="1" noChangeArrowheads="1"/>
          </p:cNvSpPr>
          <p:nvPr>
            <p:ph type="body" idx="1"/>
          </p:nvPr>
        </p:nvSpPr>
        <p:spPr>
          <a:xfrm>
            <a:off x="1659468" y="647538"/>
            <a:ext cx="9363028" cy="6210462"/>
          </a:xfrm>
        </p:spPr>
        <p:txBody>
          <a:bodyPr>
            <a:normAutofit/>
          </a:bodyPr>
          <a:lstStyle/>
          <a:p>
            <a:pPr algn="just">
              <a:lnSpc>
                <a:spcPct val="100000"/>
              </a:lnSpc>
              <a:buFont typeface="Arial" pitchFamily="34" charset="0"/>
              <a:buChar char="•"/>
            </a:pPr>
            <a:r>
              <a:rPr lang="en-US" dirty="0">
                <a:latin typeface="Times New Roman" panose="02020603050405020304" pitchFamily="18" charset="0"/>
                <a:cs typeface="Times New Roman" panose="02020603050405020304" pitchFamily="18" charset="0"/>
              </a:rPr>
              <a:t>To implement an intelligent discard policy, applications must mark their packets in </a:t>
            </a:r>
            <a:r>
              <a:rPr lang="en-US" dirty="0">
                <a:solidFill>
                  <a:srgbClr val="FF0000"/>
                </a:solidFill>
                <a:latin typeface="Times New Roman" panose="02020603050405020304" pitchFamily="18" charset="0"/>
                <a:cs typeface="Times New Roman" panose="02020603050405020304" pitchFamily="18" charset="0"/>
              </a:rPr>
              <a:t>priority</a:t>
            </a:r>
            <a:r>
              <a:rPr lang="en-US" dirty="0">
                <a:latin typeface="Times New Roman" panose="02020603050405020304" pitchFamily="18" charset="0"/>
                <a:cs typeface="Times New Roman" panose="02020603050405020304" pitchFamily="18" charset="0"/>
              </a:rPr>
              <a:t> classes to indicate how important they are.</a:t>
            </a:r>
          </a:p>
          <a:p>
            <a:pPr algn="just">
              <a:lnSpc>
                <a:spcPct val="100000"/>
              </a:lnSpc>
              <a:buFont typeface="Arial" pitchFamily="34" charset="0"/>
              <a:buChar char="•"/>
            </a:pPr>
            <a:r>
              <a:rPr lang="en-US" dirty="0">
                <a:latin typeface="Times New Roman" panose="02020603050405020304" pitchFamily="18" charset="0"/>
                <a:cs typeface="Times New Roman" panose="02020603050405020304" pitchFamily="18" charset="0"/>
              </a:rPr>
              <a:t>Senders might be allowed to </a:t>
            </a:r>
            <a:r>
              <a:rPr lang="en-US" dirty="0">
                <a:solidFill>
                  <a:srgbClr val="FF0000"/>
                </a:solidFill>
                <a:latin typeface="Times New Roman" panose="02020603050405020304" pitchFamily="18" charset="0"/>
                <a:cs typeface="Times New Roman" panose="02020603050405020304" pitchFamily="18" charset="0"/>
              </a:rPr>
              <a:t>send high-priority packets </a:t>
            </a:r>
            <a:r>
              <a:rPr lang="en-US" dirty="0">
                <a:latin typeface="Times New Roman" panose="02020603050405020304" pitchFamily="18" charset="0"/>
                <a:cs typeface="Times New Roman" panose="02020603050405020304" pitchFamily="18" charset="0"/>
              </a:rPr>
              <a:t>under conditions of </a:t>
            </a:r>
            <a:r>
              <a:rPr lang="en-US" dirty="0">
                <a:solidFill>
                  <a:srgbClr val="FF0000"/>
                </a:solidFill>
                <a:latin typeface="Times New Roman" panose="02020603050405020304" pitchFamily="18" charset="0"/>
                <a:cs typeface="Times New Roman" panose="02020603050405020304" pitchFamily="18" charset="0"/>
              </a:rPr>
              <a:t>light load</a:t>
            </a:r>
          </a:p>
          <a:p>
            <a:pPr lvl="1" algn="just">
              <a:lnSpc>
                <a:spcPct val="100000"/>
              </a:lnSpc>
              <a:buFont typeface="Arial" pitchFamily="34" charset="0"/>
              <a:buChar char="•"/>
            </a:pPr>
            <a:r>
              <a:rPr lang="en-US" sz="2800" dirty="0">
                <a:latin typeface="Times New Roman" panose="02020603050405020304" pitchFamily="18" charset="0"/>
                <a:cs typeface="Times New Roman" panose="02020603050405020304" pitchFamily="18" charset="0"/>
              </a:rPr>
              <a:t>but as the load increased they would be discarded, thus </a:t>
            </a:r>
            <a:r>
              <a:rPr lang="en-US" sz="2800" b="1" dirty="0">
                <a:latin typeface="Times New Roman" panose="02020603050405020304" pitchFamily="18" charset="0"/>
                <a:cs typeface="Times New Roman" panose="02020603050405020304" pitchFamily="18" charset="0"/>
              </a:rPr>
              <a:t>encouraging the users to stop sending them</a:t>
            </a:r>
          </a:p>
          <a:p>
            <a:pPr algn="just">
              <a:lnSpc>
                <a:spcPct val="100000"/>
              </a:lnSpc>
              <a:buFont typeface="Arial" pitchFamily="34" charset="0"/>
              <a:buChar char="•"/>
            </a:pPr>
            <a:r>
              <a:rPr lang="en-US" dirty="0">
                <a:latin typeface="Times New Roman" panose="02020603050405020304" pitchFamily="18" charset="0"/>
                <a:cs typeface="Times New Roman" panose="02020603050405020304" pitchFamily="18" charset="0"/>
              </a:rPr>
              <a:t>Another option is to allow hosts to </a:t>
            </a:r>
            <a:r>
              <a:rPr lang="en-US" dirty="0">
                <a:solidFill>
                  <a:srgbClr val="FF0000"/>
                </a:solidFill>
                <a:latin typeface="Times New Roman" panose="02020603050405020304" pitchFamily="18" charset="0"/>
                <a:cs typeface="Times New Roman" panose="02020603050405020304" pitchFamily="18" charset="0"/>
              </a:rPr>
              <a:t>exceed the limits </a:t>
            </a:r>
            <a:r>
              <a:rPr lang="en-US" dirty="0">
                <a:latin typeface="Times New Roman" panose="02020603050405020304" pitchFamily="18" charset="0"/>
                <a:cs typeface="Times New Roman" panose="02020603050405020304" pitchFamily="18" charset="0"/>
              </a:rPr>
              <a:t>specified in the </a:t>
            </a:r>
            <a:r>
              <a:rPr lang="en-US" dirty="0">
                <a:solidFill>
                  <a:srgbClr val="FF0000"/>
                </a:solidFill>
                <a:latin typeface="Times New Roman" panose="02020603050405020304" pitchFamily="18" charset="0"/>
                <a:cs typeface="Times New Roman" panose="02020603050405020304" pitchFamily="18" charset="0"/>
              </a:rPr>
              <a:t>agreement negotiated </a:t>
            </a:r>
            <a:r>
              <a:rPr lang="en-US" dirty="0">
                <a:latin typeface="Times New Roman" panose="02020603050405020304" pitchFamily="18" charset="0"/>
                <a:cs typeface="Times New Roman" panose="02020603050405020304" pitchFamily="18" charset="0"/>
              </a:rPr>
              <a:t>when the virtual circuit was set up (e.g., use a higher bandwidth than allowed)</a:t>
            </a:r>
          </a:p>
          <a:p>
            <a:pPr lvl="1" algn="just">
              <a:lnSpc>
                <a:spcPct val="100000"/>
              </a:lnSpc>
              <a:buFont typeface="Arial" pitchFamily="34" charset="0"/>
              <a:buChar char="•"/>
            </a:pPr>
            <a:r>
              <a:rPr lang="en-US" sz="2800" dirty="0">
                <a:latin typeface="Times New Roman" panose="02020603050405020304" pitchFamily="18" charset="0"/>
                <a:cs typeface="Times New Roman" panose="02020603050405020304" pitchFamily="18" charset="0"/>
              </a:rPr>
              <a:t>but subject to the condition that all excess traffic be marked as low priority.</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Load Shedding</a:t>
            </a:r>
          </a:p>
        </p:txBody>
      </p:sp>
      <p:sp>
        <p:nvSpPr>
          <p:cNvPr id="37891" name="Rectangle 3"/>
          <p:cNvSpPr>
            <a:spLocks noGrp="1" noChangeArrowheads="1"/>
          </p:cNvSpPr>
          <p:nvPr>
            <p:ph type="body" idx="1"/>
          </p:nvPr>
        </p:nvSpPr>
        <p:spPr>
          <a:xfrm>
            <a:off x="1659468" y="647538"/>
            <a:ext cx="9694332" cy="6210462"/>
          </a:xfrm>
        </p:spPr>
        <p:txBody>
          <a:bodyPr>
            <a:normAutofit/>
          </a:bodyPr>
          <a:lstStyle/>
          <a:p>
            <a:pPr algn="just">
              <a:lnSpc>
                <a:spcPct val="100000"/>
              </a:lnSpc>
              <a:buFont typeface="Arial" pitchFamily="34" charset="0"/>
              <a:buChar char="•"/>
            </a:pPr>
            <a:r>
              <a:rPr lang="en-US" sz="2600" b="1" i="1" dirty="0">
                <a:latin typeface="Times New Roman" panose="02020603050405020304" pitchFamily="18" charset="0"/>
                <a:cs typeface="Times New Roman" panose="02020603050405020304" pitchFamily="18" charset="0"/>
              </a:rPr>
              <a:t>Random Early Detection</a:t>
            </a:r>
          </a:p>
          <a:p>
            <a:pPr lvl="1" algn="just">
              <a:lnSpc>
                <a:spcPct val="100000"/>
              </a:lnSpc>
              <a:buFont typeface="Arial" pitchFamily="34" charset="0"/>
              <a:buChar char="•"/>
            </a:pPr>
            <a:endParaRPr lang="en-US" sz="2600" b="1" dirty="0">
              <a:latin typeface="Times New Roman" panose="02020603050405020304" pitchFamily="18" charset="0"/>
              <a:cs typeface="Times New Roman" panose="02020603050405020304" pitchFamily="18" charset="0"/>
            </a:endParaRPr>
          </a:p>
          <a:p>
            <a:pPr lvl="1" algn="just">
              <a:lnSpc>
                <a:spcPct val="100000"/>
              </a:lnSpc>
              <a:buFont typeface="Arial" pitchFamily="34" charset="0"/>
              <a:buChar char="•"/>
            </a:pPr>
            <a:r>
              <a:rPr lang="en-US" sz="2600" b="1" dirty="0">
                <a:latin typeface="Times New Roman" panose="02020603050405020304" pitchFamily="18" charset="0"/>
                <a:cs typeface="Times New Roman" panose="02020603050405020304" pitchFamily="18" charset="0"/>
              </a:rPr>
              <a:t>Dealing with congestion after it is first detected </a:t>
            </a:r>
            <a:r>
              <a:rPr lang="en-US" sz="2600" dirty="0">
                <a:latin typeface="Times New Roman" panose="02020603050405020304" pitchFamily="18" charset="0"/>
                <a:cs typeface="Times New Roman" panose="02020603050405020304" pitchFamily="18" charset="0"/>
              </a:rPr>
              <a:t>is more effective than letting it gum up the works and then trying to deal with it.</a:t>
            </a:r>
          </a:p>
          <a:p>
            <a:pPr lvl="1"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Idea is to </a:t>
            </a:r>
            <a:r>
              <a:rPr lang="en-US" sz="2600" dirty="0">
                <a:solidFill>
                  <a:srgbClr val="FF0000"/>
                </a:solidFill>
                <a:latin typeface="Times New Roman" panose="02020603050405020304" pitchFamily="18" charset="0"/>
                <a:cs typeface="Times New Roman" panose="02020603050405020304" pitchFamily="18" charset="0"/>
              </a:rPr>
              <a:t>discarding packets before all the buffer space is really exhausted</a:t>
            </a:r>
          </a:p>
          <a:p>
            <a:pPr lvl="1"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To determine when to start discarding, </a:t>
            </a:r>
            <a:r>
              <a:rPr lang="en-US" sz="2600" b="1" dirty="0">
                <a:latin typeface="Times New Roman" panose="02020603050405020304" pitchFamily="18" charset="0"/>
                <a:cs typeface="Times New Roman" panose="02020603050405020304" pitchFamily="18" charset="0"/>
              </a:rPr>
              <a:t>routers maintain a running average of their queue lengths. </a:t>
            </a:r>
          </a:p>
          <a:p>
            <a:pPr lvl="1"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When the average queue length on some line exceeds a threshold, the line is said to be congested and action is taken.</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Jitter Control</a:t>
            </a:r>
          </a:p>
        </p:txBody>
      </p:sp>
      <p:sp>
        <p:nvSpPr>
          <p:cNvPr id="37891" name="Rectangle 3"/>
          <p:cNvSpPr>
            <a:spLocks noGrp="1" noChangeArrowheads="1"/>
          </p:cNvSpPr>
          <p:nvPr>
            <p:ph type="body" idx="1"/>
          </p:nvPr>
        </p:nvSpPr>
        <p:spPr>
          <a:xfrm>
            <a:off x="1659468" y="647539"/>
            <a:ext cx="8873065" cy="5945173"/>
          </a:xfrm>
        </p:spPr>
        <p:txBody>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For applications such as audio and video streaming, it does not matter much if the packets take 20 </a:t>
            </a:r>
            <a:r>
              <a:rPr lang="en-US" dirty="0" err="1">
                <a:latin typeface="Times New Roman" panose="02020603050405020304" pitchFamily="18" charset="0"/>
                <a:cs typeface="Times New Roman" panose="02020603050405020304" pitchFamily="18" charset="0"/>
              </a:rPr>
              <a:t>msec</a:t>
            </a:r>
            <a:r>
              <a:rPr lang="en-US" dirty="0">
                <a:latin typeface="Times New Roman" panose="02020603050405020304" pitchFamily="18" charset="0"/>
                <a:cs typeface="Times New Roman" panose="02020603050405020304" pitchFamily="18" charset="0"/>
              </a:rPr>
              <a:t> or 30 </a:t>
            </a:r>
            <a:r>
              <a:rPr lang="en-US" dirty="0" err="1">
                <a:latin typeface="Times New Roman" panose="02020603050405020304" pitchFamily="18" charset="0"/>
                <a:cs typeface="Times New Roman" panose="02020603050405020304" pitchFamily="18" charset="0"/>
              </a:rPr>
              <a:t>msec</a:t>
            </a:r>
            <a:r>
              <a:rPr lang="en-US" dirty="0">
                <a:latin typeface="Times New Roman" panose="02020603050405020304" pitchFamily="18" charset="0"/>
                <a:cs typeface="Times New Roman" panose="02020603050405020304" pitchFamily="18" charset="0"/>
              </a:rPr>
              <a:t> to be delivered, as long as the transit time is constant. </a:t>
            </a:r>
          </a:p>
          <a:p>
            <a:pPr algn="just">
              <a:buFont typeface="Arial"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itchFamily="34" charset="0"/>
              <a:buChar char="•"/>
            </a:pPr>
            <a:r>
              <a:rPr lang="en-US" dirty="0">
                <a:latin typeface="Times New Roman" panose="02020603050405020304" pitchFamily="18" charset="0"/>
                <a:cs typeface="Times New Roman" panose="02020603050405020304" pitchFamily="18" charset="0"/>
              </a:rPr>
              <a:t>The variation (i.e., standard deviation) in the packet arrival times is called </a:t>
            </a:r>
            <a:r>
              <a:rPr lang="en-US" b="1" dirty="0">
                <a:solidFill>
                  <a:srgbClr val="FF0000"/>
                </a:solidFill>
                <a:latin typeface="Times New Roman" panose="02020603050405020304" pitchFamily="18" charset="0"/>
                <a:cs typeface="Times New Roman" panose="02020603050405020304" pitchFamily="18" charset="0"/>
              </a:rPr>
              <a:t>jitter</a:t>
            </a:r>
            <a:r>
              <a:rPr lang="en-US" b="1" dirty="0">
                <a:latin typeface="Times New Roman" panose="02020603050405020304" pitchFamily="18" charset="0"/>
                <a:cs typeface="Times New Roman" panose="02020603050405020304" pitchFamily="18" charset="0"/>
              </a:rPr>
              <a:t>. </a:t>
            </a:r>
          </a:p>
          <a:p>
            <a:pPr algn="just">
              <a:buFont typeface="Arial" pitchFamily="34" charset="0"/>
              <a:buChar char="•"/>
            </a:pPr>
            <a:endParaRPr lang="en-US" b="1" dirty="0">
              <a:latin typeface="Times New Roman" panose="02020603050405020304" pitchFamily="18" charset="0"/>
              <a:cs typeface="Times New Roman" panose="02020603050405020304" pitchFamily="18" charset="0"/>
            </a:endParaRPr>
          </a:p>
          <a:p>
            <a:pPr algn="just">
              <a:buFont typeface="Arial" pitchFamily="34" charset="0"/>
              <a:buChar char="•"/>
            </a:pPr>
            <a:r>
              <a:rPr lang="en-US" dirty="0">
                <a:latin typeface="Times New Roman" panose="02020603050405020304" pitchFamily="18" charset="0"/>
                <a:cs typeface="Times New Roman" panose="02020603050405020304" pitchFamily="18" charset="0"/>
              </a:rPr>
              <a:t>High jitter, for example, having some packets taking 20 </a:t>
            </a:r>
            <a:r>
              <a:rPr lang="en-US" dirty="0" err="1">
                <a:latin typeface="Times New Roman" panose="02020603050405020304" pitchFamily="18" charset="0"/>
                <a:cs typeface="Times New Roman" panose="02020603050405020304" pitchFamily="18" charset="0"/>
              </a:rPr>
              <a:t>msec</a:t>
            </a:r>
            <a:r>
              <a:rPr lang="en-US" dirty="0">
                <a:latin typeface="Times New Roman" panose="02020603050405020304" pitchFamily="18" charset="0"/>
                <a:cs typeface="Times New Roman" panose="02020603050405020304" pitchFamily="18" charset="0"/>
              </a:rPr>
              <a:t> and others taking 30 </a:t>
            </a:r>
            <a:r>
              <a:rPr lang="en-US" dirty="0" err="1">
                <a:latin typeface="Times New Roman" panose="02020603050405020304" pitchFamily="18" charset="0"/>
                <a:cs typeface="Times New Roman" panose="02020603050405020304" pitchFamily="18" charset="0"/>
              </a:rPr>
              <a:t>msec</a:t>
            </a:r>
            <a:r>
              <a:rPr lang="en-US" dirty="0">
                <a:latin typeface="Times New Roman" panose="02020603050405020304" pitchFamily="18" charset="0"/>
                <a:cs typeface="Times New Roman" panose="02020603050405020304" pitchFamily="18" charset="0"/>
              </a:rPr>
              <a:t> to arrive will give an uneven quality to the sound or movie.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b="1" dirty="0"/>
              <a:t>Jitter Control</a:t>
            </a:r>
          </a:p>
        </p:txBody>
      </p:sp>
      <p:sp>
        <p:nvSpPr>
          <p:cNvPr id="41987" name="Rectangle 3"/>
          <p:cNvSpPr>
            <a:spLocks noGrp="1" noChangeArrowheads="1"/>
          </p:cNvSpPr>
          <p:nvPr>
            <p:ph type="body" idx="1"/>
          </p:nvPr>
        </p:nvSpPr>
        <p:spPr>
          <a:xfrm>
            <a:off x="3514726" y="6019800"/>
            <a:ext cx="5737225" cy="838200"/>
          </a:xfrm>
        </p:spPr>
        <p:txBody>
          <a:bodyPr/>
          <a:lstStyle/>
          <a:p>
            <a:pPr>
              <a:buFontTx/>
              <a:buNone/>
            </a:pPr>
            <a:r>
              <a:rPr lang="en-US">
                <a:solidFill>
                  <a:schemeClr val="accent2"/>
                </a:solidFill>
              </a:rPr>
              <a:t>(a)</a:t>
            </a:r>
            <a:r>
              <a:rPr lang="en-US"/>
              <a:t> High jitter.         </a:t>
            </a:r>
            <a:r>
              <a:rPr lang="en-US">
                <a:solidFill>
                  <a:schemeClr val="accent2"/>
                </a:solidFill>
              </a:rPr>
              <a:t>(b)</a:t>
            </a:r>
            <a:r>
              <a:rPr lang="en-US"/>
              <a:t> Low jitter.</a:t>
            </a:r>
          </a:p>
        </p:txBody>
      </p:sp>
      <p:pic>
        <p:nvPicPr>
          <p:cNvPr id="41989" name="Picture 5" descr="5-29"/>
          <p:cNvPicPr>
            <a:picLocks noChangeAspect="1" noChangeArrowheads="1"/>
          </p:cNvPicPr>
          <p:nvPr/>
        </p:nvPicPr>
        <p:blipFill>
          <a:blip r:embed="rId2" cstate="print"/>
          <a:srcRect/>
          <a:stretch>
            <a:fillRect/>
          </a:stretch>
        </p:blipFill>
        <p:spPr bwMode="auto">
          <a:xfrm>
            <a:off x="1895965" y="1228075"/>
            <a:ext cx="8831214" cy="4991750"/>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0" y="1"/>
            <a:ext cx="9144000" cy="699911"/>
          </a:xfrm>
        </p:spPr>
        <p:txBody>
          <a:bodyPr/>
          <a:lstStyle/>
          <a:p>
            <a:r>
              <a:rPr lang="en-US" sz="3600" b="1" dirty="0"/>
              <a:t>Jitter Control</a:t>
            </a:r>
          </a:p>
        </p:txBody>
      </p:sp>
      <p:sp>
        <p:nvSpPr>
          <p:cNvPr id="37891" name="Rectangle 3"/>
          <p:cNvSpPr>
            <a:spLocks noGrp="1" noChangeArrowheads="1"/>
          </p:cNvSpPr>
          <p:nvPr>
            <p:ph type="body" idx="1"/>
          </p:nvPr>
        </p:nvSpPr>
        <p:spPr>
          <a:xfrm>
            <a:off x="1659468" y="647538"/>
            <a:ext cx="8873065" cy="6210462"/>
          </a:xfrm>
        </p:spPr>
        <p:txBody>
          <a:bodyPr>
            <a:normAutofit/>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The jitter can be controlled by </a:t>
            </a:r>
            <a:r>
              <a:rPr lang="en-US" b="1" dirty="0">
                <a:latin typeface="Times New Roman" panose="02020603050405020304" pitchFamily="18" charset="0"/>
                <a:cs typeface="Times New Roman" panose="02020603050405020304" pitchFamily="18" charset="0"/>
              </a:rPr>
              <a:t>computing the expected transit time for each hop along the path.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When a packet arrives at a router, the </a:t>
            </a:r>
            <a:r>
              <a:rPr lang="en-US" dirty="0">
                <a:solidFill>
                  <a:srgbClr val="FF0000"/>
                </a:solidFill>
                <a:latin typeface="Times New Roman" panose="02020603050405020304" pitchFamily="18" charset="0"/>
                <a:cs typeface="Times New Roman" panose="02020603050405020304" pitchFamily="18" charset="0"/>
              </a:rPr>
              <a:t>router checks to see how much the packet is behind or ahead of its schedule</a:t>
            </a:r>
            <a:r>
              <a:rPr lang="en-US"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This information is </a:t>
            </a:r>
            <a:r>
              <a:rPr lang="en-US" dirty="0">
                <a:solidFill>
                  <a:srgbClr val="FF0000"/>
                </a:solidFill>
                <a:latin typeface="Times New Roman" panose="02020603050405020304" pitchFamily="18" charset="0"/>
                <a:cs typeface="Times New Roman" panose="02020603050405020304" pitchFamily="18" charset="0"/>
              </a:rPr>
              <a:t>stored</a:t>
            </a:r>
            <a:r>
              <a:rPr lang="en-US" dirty="0">
                <a:latin typeface="Times New Roman" panose="02020603050405020304" pitchFamily="18" charset="0"/>
                <a:cs typeface="Times New Roman" panose="02020603050405020304" pitchFamily="18" charset="0"/>
              </a:rPr>
              <a:t> in the packet and </a:t>
            </a:r>
            <a:r>
              <a:rPr lang="en-US" dirty="0">
                <a:solidFill>
                  <a:srgbClr val="FF0000"/>
                </a:solidFill>
                <a:latin typeface="Times New Roman" panose="02020603050405020304" pitchFamily="18" charset="0"/>
                <a:cs typeface="Times New Roman" panose="02020603050405020304" pitchFamily="18" charset="0"/>
              </a:rPr>
              <a:t>updated</a:t>
            </a:r>
            <a:r>
              <a:rPr lang="en-US" dirty="0">
                <a:latin typeface="Times New Roman" panose="02020603050405020304" pitchFamily="18" charset="0"/>
                <a:cs typeface="Times New Roman" panose="02020603050405020304" pitchFamily="18" charset="0"/>
              </a:rPr>
              <a:t> at each hop.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If the packet is ahead of schedule, it is held just long enough to get it back on schedule.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If it is behind schedule, the router tries to send it out quickly.</a:t>
            </a:r>
          </a:p>
          <a:p>
            <a:pPr lvl="1" algn="just">
              <a:buFont typeface="Arial" pitchFamily="34" charset="0"/>
              <a:buChar char="•"/>
            </a:pPr>
            <a:r>
              <a:rPr lang="en-US" sz="2800" dirty="0">
                <a:latin typeface="Times New Roman" panose="02020603050405020304" pitchFamily="18" charset="0"/>
                <a:cs typeface="Times New Roman" panose="02020603050405020304" pitchFamily="18" charset="0"/>
              </a:rPr>
              <a:t>both cases reducing the amount of jitter</a:t>
            </a:r>
          </a:p>
        </p:txBody>
      </p:sp>
      <p:sp>
        <p:nvSpPr>
          <p:cNvPr id="4" name="Slide Number Placeholder 3"/>
          <p:cNvSpPr>
            <a:spLocks noGrp="1"/>
          </p:cNvSpPr>
          <p:nvPr>
            <p:ph type="sldNum" sz="quarter" idx="12"/>
          </p:nvPr>
        </p:nvSpPr>
        <p:spPr/>
        <p:txBody>
          <a:bodyPr/>
          <a:lstStyle/>
          <a:p>
            <a:fld id="{EF55C829-AE99-4997-8EBC-414F558758A8}" type="slidenum">
              <a:rPr lang="en-US" smtClean="0"/>
              <a:p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E18BAE-5F2D-4FDC-AF4D-A4642ABA262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3D0004FD-3655-454B-ABD1-ABB7F87B0DAD}"/>
              </a:ext>
            </a:extLst>
          </p:cNvPr>
          <p:cNvSpPr>
            <a:spLocks noGrp="1"/>
          </p:cNvSpPr>
          <p:nvPr>
            <p:ph type="body" idx="1"/>
          </p:nvPr>
        </p:nvSpPr>
        <p:spPr/>
        <p:txBody>
          <a:bodyPr/>
          <a:lstStyle/>
          <a:p>
            <a:pPr algn="just">
              <a:lnSpc>
                <a:spcPct val="100000"/>
              </a:lnSpc>
              <a:buFont typeface="Arial" pitchFamily="34" charset="0"/>
              <a:buChar char="•"/>
            </a:pPr>
            <a:r>
              <a:rPr lang="en-US" dirty="0">
                <a:latin typeface="Times New Roman" panose="02020603050405020304" pitchFamily="18" charset="0"/>
                <a:cs typeface="Times New Roman" panose="02020603050405020304" pitchFamily="18" charset="0"/>
              </a:rPr>
              <a:t>In applications such as </a:t>
            </a:r>
            <a:r>
              <a:rPr lang="en-US" dirty="0">
                <a:solidFill>
                  <a:srgbClr val="FF0000"/>
                </a:solidFill>
                <a:latin typeface="Times New Roman" panose="02020603050405020304" pitchFamily="18" charset="0"/>
                <a:cs typeface="Times New Roman" panose="02020603050405020304" pitchFamily="18" charset="0"/>
              </a:rPr>
              <a:t>video on demand</a:t>
            </a:r>
            <a:r>
              <a:rPr lang="en-US" dirty="0">
                <a:latin typeface="Times New Roman" panose="02020603050405020304" pitchFamily="18" charset="0"/>
                <a:cs typeface="Times New Roman" panose="02020603050405020304" pitchFamily="18" charset="0"/>
              </a:rPr>
              <a:t>, jitter can be eliminated by </a:t>
            </a:r>
            <a:r>
              <a:rPr lang="en-US" b="1" dirty="0">
                <a:latin typeface="Times New Roman" panose="02020603050405020304" pitchFamily="18" charset="0"/>
                <a:cs typeface="Times New Roman" panose="02020603050405020304" pitchFamily="18" charset="0"/>
              </a:rPr>
              <a:t>buffering at the receiver and then fetching data for display from the buffer </a:t>
            </a:r>
            <a:r>
              <a:rPr lang="en-US" dirty="0">
                <a:latin typeface="Times New Roman" panose="02020603050405020304" pitchFamily="18" charset="0"/>
                <a:cs typeface="Times New Roman" panose="02020603050405020304" pitchFamily="18" charset="0"/>
              </a:rPr>
              <a:t>instead of from the network in real time. </a:t>
            </a:r>
          </a:p>
          <a:p>
            <a:pPr algn="just">
              <a:lnSpc>
                <a:spcPct val="100000"/>
              </a:lnSpc>
              <a:buFont typeface="Arial" pitchFamily="34" charset="0"/>
              <a:buChar char="•"/>
            </a:pPr>
            <a:r>
              <a:rPr lang="en-US" dirty="0">
                <a:latin typeface="Times New Roman" panose="02020603050405020304" pitchFamily="18" charset="0"/>
                <a:cs typeface="Times New Roman" panose="02020603050405020304" pitchFamily="18" charset="0"/>
              </a:rPr>
              <a:t>In real time applications like </a:t>
            </a:r>
            <a:r>
              <a:rPr lang="en-US" dirty="0">
                <a:solidFill>
                  <a:srgbClr val="FF0000"/>
                </a:solidFill>
                <a:latin typeface="Times New Roman" panose="02020603050405020304" pitchFamily="18" charset="0"/>
                <a:cs typeface="Times New Roman" panose="02020603050405020304" pitchFamily="18" charset="0"/>
              </a:rPr>
              <a:t>Internet telephony &amp; videoconferencing</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delay inherent in buffering is not acceptable</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9248605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Quality of Service</a:t>
            </a:r>
            <a:endParaRPr/>
          </a:p>
        </p:txBody>
      </p:sp>
      <p:sp>
        <p:nvSpPr>
          <p:cNvPr id="779" name="Google Shape;779;p85"/>
          <p:cNvSpPr txBox="1">
            <a:spLocks noGrp="1"/>
          </p:cNvSpPr>
          <p:nvPr>
            <p:ph type="body" idx="1"/>
          </p:nvPr>
        </p:nvSpPr>
        <p:spPr>
          <a:xfrm>
            <a:off x="304800" y="1497013"/>
            <a:ext cx="11049000" cy="4995862"/>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2800"/>
              <a:buFont typeface="Calibri"/>
              <a:buChar char="•"/>
            </a:pPr>
            <a:r>
              <a:rPr lang="en-US" b="1"/>
              <a:t>Four issues </a:t>
            </a:r>
            <a:r>
              <a:rPr lang="en-US"/>
              <a:t>must be addressed to ensure </a:t>
            </a:r>
            <a:r>
              <a:rPr lang="en-US">
                <a:solidFill>
                  <a:srgbClr val="FF0000"/>
                </a:solidFill>
              </a:rPr>
              <a:t>quality of service</a:t>
            </a:r>
            <a:r>
              <a:rPr lang="en-US"/>
              <a:t>.</a:t>
            </a:r>
            <a:endParaRPr sz="2000"/>
          </a:p>
          <a:p>
            <a:pPr marL="685800" lvl="1" indent="-228600" algn="l" rtl="0">
              <a:lnSpc>
                <a:spcPct val="150000"/>
              </a:lnSpc>
              <a:spcBef>
                <a:spcPts val="500"/>
              </a:spcBef>
              <a:spcAft>
                <a:spcPts val="0"/>
              </a:spcAft>
              <a:buClr>
                <a:schemeClr val="dk1"/>
              </a:buClr>
              <a:buSzPts val="2800"/>
              <a:buChar char="•"/>
            </a:pPr>
            <a:r>
              <a:rPr lang="en-US" sz="2800"/>
              <a:t>What </a:t>
            </a:r>
            <a:r>
              <a:rPr lang="en-US" sz="2800">
                <a:solidFill>
                  <a:srgbClr val="FF0000"/>
                </a:solidFill>
              </a:rPr>
              <a:t>applications </a:t>
            </a:r>
            <a:r>
              <a:rPr lang="en-US" sz="2800"/>
              <a:t>need from the network?</a:t>
            </a:r>
            <a:endParaRPr/>
          </a:p>
          <a:p>
            <a:pPr marL="685800" lvl="1" indent="-228600" algn="l" rtl="0">
              <a:lnSpc>
                <a:spcPct val="150000"/>
              </a:lnSpc>
              <a:spcBef>
                <a:spcPts val="500"/>
              </a:spcBef>
              <a:spcAft>
                <a:spcPts val="0"/>
              </a:spcAft>
              <a:buClr>
                <a:schemeClr val="dk1"/>
              </a:buClr>
              <a:buSzPts val="2800"/>
              <a:buChar char="•"/>
            </a:pPr>
            <a:r>
              <a:rPr lang="en-US" sz="2800"/>
              <a:t>How to </a:t>
            </a:r>
            <a:r>
              <a:rPr lang="en-US" sz="2800">
                <a:solidFill>
                  <a:srgbClr val="FF0000"/>
                </a:solidFill>
              </a:rPr>
              <a:t>regulate the traffic </a:t>
            </a:r>
            <a:r>
              <a:rPr lang="en-US" sz="2800"/>
              <a:t>that enters the network.</a:t>
            </a:r>
            <a:endParaRPr/>
          </a:p>
          <a:p>
            <a:pPr marL="685800" lvl="1" indent="-228600" algn="l" rtl="0">
              <a:lnSpc>
                <a:spcPct val="150000"/>
              </a:lnSpc>
              <a:spcBef>
                <a:spcPts val="500"/>
              </a:spcBef>
              <a:spcAft>
                <a:spcPts val="0"/>
              </a:spcAft>
              <a:buClr>
                <a:schemeClr val="dk1"/>
              </a:buClr>
              <a:buSzPts val="2800"/>
              <a:buChar char="•"/>
            </a:pPr>
            <a:r>
              <a:rPr lang="en-US" sz="2800"/>
              <a:t>How to </a:t>
            </a:r>
            <a:r>
              <a:rPr lang="en-US" sz="2800">
                <a:solidFill>
                  <a:srgbClr val="FF0000"/>
                </a:solidFill>
              </a:rPr>
              <a:t>reserve resources </a:t>
            </a:r>
            <a:r>
              <a:rPr lang="en-US" sz="2800"/>
              <a:t>at routers to guarantee performance.</a:t>
            </a:r>
            <a:endParaRPr/>
          </a:p>
          <a:p>
            <a:pPr marL="685800" lvl="1" indent="-228600" algn="l" rtl="0">
              <a:lnSpc>
                <a:spcPct val="150000"/>
              </a:lnSpc>
              <a:spcBef>
                <a:spcPts val="500"/>
              </a:spcBef>
              <a:spcAft>
                <a:spcPts val="0"/>
              </a:spcAft>
              <a:buClr>
                <a:schemeClr val="dk1"/>
              </a:buClr>
              <a:buSzPts val="2800"/>
              <a:buChar char="•"/>
            </a:pPr>
            <a:r>
              <a:rPr lang="en-US" sz="2800"/>
              <a:t>Whether the network </a:t>
            </a:r>
            <a:r>
              <a:rPr lang="en-US" sz="2800">
                <a:solidFill>
                  <a:srgbClr val="FF0000"/>
                </a:solidFill>
              </a:rPr>
              <a:t>can safely accept more traffic</a:t>
            </a:r>
            <a:r>
              <a:rPr lang="en-US" sz="2800"/>
              <a:t>.</a:t>
            </a:r>
            <a:endParaRPr/>
          </a:p>
          <a:p>
            <a:pPr marL="342900" lvl="0" indent="-165100" algn="l" rtl="0">
              <a:lnSpc>
                <a:spcPct val="90000"/>
              </a:lnSpc>
              <a:spcBef>
                <a:spcPts val="1000"/>
              </a:spcBef>
              <a:spcAft>
                <a:spcPts val="0"/>
              </a:spcAft>
              <a:buClr>
                <a:schemeClr val="dk1"/>
              </a:buClr>
              <a:buSzPts val="2800"/>
              <a:buNone/>
            </a:pPr>
            <a:endParaRPr/>
          </a:p>
        </p:txBody>
      </p:sp>
      <p:sp>
        <p:nvSpPr>
          <p:cNvPr id="780" name="Google Shape;780;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103</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86"/>
          <p:cNvSpPr txBox="1">
            <a:spLocks noGrp="1"/>
          </p:cNvSpPr>
          <p:nvPr>
            <p:ph type="title"/>
          </p:nvPr>
        </p:nvSpPr>
        <p:spPr>
          <a:xfrm>
            <a:off x="1524000" y="519291"/>
            <a:ext cx="9144000" cy="61753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dirty="0"/>
              <a:t>Application Requirements</a:t>
            </a:r>
            <a:endParaRPr dirty="0"/>
          </a:p>
        </p:txBody>
      </p:sp>
      <p:sp>
        <p:nvSpPr>
          <p:cNvPr id="788" name="Google Shape;788;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Times New Roman"/>
              <a:buNone/>
            </a:pPr>
            <a:fld id="{00000000-1234-1234-1234-123412341234}" type="slidenum">
              <a:rPr lang="en-US" sz="1400">
                <a:solidFill>
                  <a:schemeClr val="dk1"/>
                </a:solidFill>
                <a:latin typeface="Times New Roman"/>
                <a:ea typeface="Times New Roman"/>
                <a:cs typeface="Times New Roman"/>
                <a:sym typeface="Times New Roman"/>
              </a:rPr>
              <a:t>104</a:t>
            </a:fld>
            <a:endParaRPr sz="1400" dirty="0">
              <a:solidFill>
                <a:schemeClr val="dk1"/>
              </a:solidFill>
              <a:latin typeface="Times New Roman"/>
              <a:ea typeface="Times New Roman"/>
              <a:cs typeface="Times New Roman"/>
              <a:sym typeface="Times New Roman"/>
            </a:endParaRPr>
          </a:p>
        </p:txBody>
      </p:sp>
      <p:sp>
        <p:nvSpPr>
          <p:cNvPr id="789" name="Google Shape;789;p86"/>
          <p:cNvSpPr/>
          <p:nvPr/>
        </p:nvSpPr>
        <p:spPr>
          <a:xfrm>
            <a:off x="598310" y="1210210"/>
            <a:ext cx="11184467" cy="5262939"/>
          </a:xfrm>
          <a:prstGeom prst="rect">
            <a:avLst/>
          </a:prstGeom>
          <a:noFill/>
          <a:ln>
            <a:noFill/>
          </a:ln>
        </p:spPr>
        <p:txBody>
          <a:bodyPr spcFirstLastPara="1" wrap="square" lIns="91425" tIns="45700" rIns="91425" bIns="45700" anchor="t" anchorCtr="0">
            <a:spAutoFit/>
          </a:bodyPr>
          <a:lstStyle/>
          <a:p>
            <a:pPr marL="400050" marR="0" lvl="0" indent="-28575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stream of packets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from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source</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to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destination</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is called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a flow</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t>
            </a:r>
            <a:endParaRPr sz="2800" dirty="0">
              <a:latin typeface="Times New Roman" panose="02020603050405020304" pitchFamily="18" charset="0"/>
              <a:cs typeface="Times New Roman" panose="02020603050405020304" pitchFamily="18" charset="0"/>
            </a:endParaRPr>
          </a:p>
          <a:p>
            <a:pPr marL="400050" marR="0" lvl="0" indent="-28575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In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connection oriented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network all the packets belonging to a flow allow 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same route</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in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connectionless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they may follow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different route</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a:r>
            <a:endParaRPr sz="2800" dirty="0">
              <a:latin typeface="Times New Roman" panose="02020603050405020304" pitchFamily="18" charset="0"/>
              <a:cs typeface="Times New Roman" panose="02020603050405020304" pitchFamily="18" charset="0"/>
            </a:endParaRPr>
          </a:p>
          <a:p>
            <a:pPr marL="400050" marR="0" lvl="0" indent="-28575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The needs of each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flow</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can be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characterized</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by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four primary parameters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reliability, delay, jitter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and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bandwidth</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 </a:t>
            </a:r>
            <a:endParaRPr sz="2800" dirty="0">
              <a:latin typeface="Times New Roman" panose="02020603050405020304" pitchFamily="18" charset="0"/>
              <a:cs typeface="Times New Roman" panose="02020603050405020304" pitchFamily="18" charset="0"/>
            </a:endParaRPr>
          </a:p>
          <a:p>
            <a:pPr marL="400050" marR="0" lvl="0" indent="-28575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Together these determine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QOS.</a:t>
            </a:r>
            <a:endParaRPr sz="2800" dirty="0">
              <a:latin typeface="Times New Roman" panose="02020603050405020304" pitchFamily="18" charset="0"/>
              <a:cs typeface="Times New Roman" panose="02020603050405020304" pitchFamily="18" charset="0"/>
            </a:endParaRPr>
          </a:p>
          <a:p>
            <a:pPr marL="400050" marR="0" lvl="0" indent="-28575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variation</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(i.e., standard deviation) in the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delay or packet arrival times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is called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jitter</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a:r>
            <a:endParaRPr sz="2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4CFC844A-F8E9-4A91-A8DF-0E723B12C052}"/>
              </a:ext>
            </a:extLst>
          </p:cNvPr>
          <p:cNvSpPr>
            <a:spLocks noGrp="1"/>
          </p:cNvSpPr>
          <p:nvPr>
            <p:ph type="body" idx="1"/>
          </p:nvPr>
        </p:nvSpPr>
        <p:spPr/>
        <p:txBody>
          <a:bodyPr/>
          <a:lstStyle/>
          <a:p>
            <a:endParaRPr lang="en-I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6F8677-93C7-4A24-971F-AD5CA83AED13}"/>
              </a:ext>
            </a:extLst>
          </p:cNvPr>
          <p:cNvSpPr>
            <a:spLocks noGrp="1"/>
          </p:cNvSpPr>
          <p:nvPr>
            <p:ph type="title"/>
          </p:nvPr>
        </p:nvSpPr>
        <p:spPr/>
        <p:txBody>
          <a:bodyPr/>
          <a:lstStyle/>
          <a:p>
            <a:endParaRPr lang="en-IN"/>
          </a:p>
        </p:txBody>
      </p:sp>
      <p:pic>
        <p:nvPicPr>
          <p:cNvPr id="4" name="Google Shape;787;p86" descr="5-30">
            <a:extLst>
              <a:ext uri="{FF2B5EF4-FFF2-40B4-BE49-F238E27FC236}">
                <a16:creationId xmlns:a16="http://schemas.microsoft.com/office/drawing/2014/main" xmlns="" id="{57BF730E-EA21-4F25-8D9C-DFF39A41DC65}"/>
              </a:ext>
            </a:extLst>
          </p:cNvPr>
          <p:cNvPicPr preferRelativeResize="0"/>
          <p:nvPr/>
        </p:nvPicPr>
        <p:blipFill rotWithShape="1">
          <a:blip r:embed="rId2">
            <a:alphaModFix/>
          </a:blip>
          <a:srcRect/>
          <a:stretch/>
        </p:blipFill>
        <p:spPr>
          <a:xfrm>
            <a:off x="1648179" y="914401"/>
            <a:ext cx="8861778" cy="3522132"/>
          </a:xfrm>
          <a:prstGeom prst="rect">
            <a:avLst/>
          </a:prstGeom>
          <a:noFill/>
          <a:ln>
            <a:noFill/>
          </a:ln>
        </p:spPr>
      </p:pic>
      <p:sp>
        <p:nvSpPr>
          <p:cNvPr id="5" name="Google Shape;786;p86">
            <a:extLst>
              <a:ext uri="{FF2B5EF4-FFF2-40B4-BE49-F238E27FC236}">
                <a16:creationId xmlns:a16="http://schemas.microsoft.com/office/drawing/2014/main" xmlns="" id="{5DEEF67B-2FB1-4386-B207-12C7AE534C91}"/>
              </a:ext>
            </a:extLst>
          </p:cNvPr>
          <p:cNvSpPr txBox="1">
            <a:spLocks noGrp="1"/>
          </p:cNvSpPr>
          <p:nvPr>
            <p:ph type="body" idx="1"/>
          </p:nvPr>
        </p:nvSpPr>
        <p:spPr>
          <a:xfrm>
            <a:off x="1072444" y="4662311"/>
            <a:ext cx="10281356" cy="1514652"/>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chemeClr val="dk1"/>
              </a:buClr>
              <a:buSzPct val="100000"/>
              <a:buFont typeface="Calibri"/>
              <a:buNone/>
            </a:pPr>
            <a:r>
              <a:rPr lang="en-US" dirty="0"/>
              <a:t>How stringent the quality-of-service requirements are.</a:t>
            </a:r>
            <a:endParaRPr dirty="0"/>
          </a:p>
        </p:txBody>
      </p:sp>
    </p:spTree>
    <p:extLst>
      <p:ext uri="{BB962C8B-B14F-4D97-AF65-F5344CB8AC3E}">
        <p14:creationId xmlns:p14="http://schemas.microsoft.com/office/powerpoint/2010/main" val="305216562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7"/>
          <p:cNvSpPr txBox="1">
            <a:spLocks noGrp="1"/>
          </p:cNvSpPr>
          <p:nvPr>
            <p:ph type="title"/>
          </p:nvPr>
        </p:nvSpPr>
        <p:spPr>
          <a:xfrm>
            <a:off x="666044" y="214314"/>
            <a:ext cx="10792178" cy="133226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dirty="0">
                <a:solidFill>
                  <a:srgbClr val="002060"/>
                </a:solidFill>
                <a:latin typeface="Calibri"/>
                <a:ea typeface="Calibri"/>
                <a:cs typeface="Calibri"/>
                <a:sym typeface="Calibri"/>
              </a:rPr>
              <a:t>Techniques for Achieving Good Quality of Service</a:t>
            </a:r>
            <a:r>
              <a:rPr lang="en-US" sz="3200" b="1" dirty="0">
                <a:solidFill>
                  <a:srgbClr val="002060"/>
                </a:solidFill>
              </a:rPr>
              <a:t/>
            </a:r>
            <a:br>
              <a:rPr lang="en-US" sz="3200" b="1" dirty="0">
                <a:solidFill>
                  <a:srgbClr val="002060"/>
                </a:solidFill>
              </a:rPr>
            </a:br>
            <a:endParaRPr b="1" dirty="0">
              <a:solidFill>
                <a:srgbClr val="002060"/>
              </a:solidFill>
            </a:endParaRPr>
          </a:p>
        </p:txBody>
      </p:sp>
      <p:sp>
        <p:nvSpPr>
          <p:cNvPr id="795" name="Google Shape;795;p87"/>
          <p:cNvSpPr txBox="1">
            <a:spLocks noGrp="1"/>
          </p:cNvSpPr>
          <p:nvPr>
            <p:ph type="body" idx="1"/>
          </p:nvPr>
        </p:nvSpPr>
        <p:spPr>
          <a:xfrm>
            <a:off x="1524000" y="1457326"/>
            <a:ext cx="9144000" cy="50958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Overprovisioning </a:t>
            </a:r>
            <a:endParaRPr b="1" dirty="0"/>
          </a:p>
          <a:p>
            <a:pPr marL="228600" lvl="0" indent="-228600" algn="l" rtl="0">
              <a:lnSpc>
                <a:spcPct val="90000"/>
              </a:lnSpc>
              <a:spcBef>
                <a:spcPts val="1000"/>
              </a:spcBef>
              <a:spcAft>
                <a:spcPts val="0"/>
              </a:spcAft>
              <a:buClr>
                <a:schemeClr val="dk1"/>
              </a:buClr>
              <a:buSzPts val="2800"/>
              <a:buChar char="•"/>
            </a:pPr>
            <a:r>
              <a:rPr lang="en-US" dirty="0"/>
              <a:t>Buffering</a:t>
            </a:r>
            <a:endParaRPr b="1" dirty="0"/>
          </a:p>
          <a:p>
            <a:pPr marL="228600" lvl="0" indent="-228600" algn="l" rtl="0">
              <a:lnSpc>
                <a:spcPct val="90000"/>
              </a:lnSpc>
              <a:spcBef>
                <a:spcPts val="1000"/>
              </a:spcBef>
              <a:spcAft>
                <a:spcPts val="0"/>
              </a:spcAft>
              <a:buClr>
                <a:schemeClr val="dk1"/>
              </a:buClr>
              <a:buSzPts val="2800"/>
              <a:buChar char="•"/>
            </a:pPr>
            <a:r>
              <a:rPr lang="en-US" dirty="0"/>
              <a:t>Traffic Shaping </a:t>
            </a:r>
            <a:endParaRPr b="1" dirty="0"/>
          </a:p>
          <a:p>
            <a:pPr marL="228600" lvl="0" indent="-228600" algn="l" rtl="0">
              <a:lnSpc>
                <a:spcPct val="90000"/>
              </a:lnSpc>
              <a:spcBef>
                <a:spcPts val="1000"/>
              </a:spcBef>
              <a:spcAft>
                <a:spcPts val="0"/>
              </a:spcAft>
              <a:buClr>
                <a:schemeClr val="dk1"/>
              </a:buClr>
              <a:buSzPts val="2800"/>
              <a:buChar char="•"/>
            </a:pPr>
            <a:r>
              <a:rPr lang="en-US" dirty="0"/>
              <a:t>Packet Scheduling</a:t>
            </a:r>
            <a:endParaRPr b="1" dirty="0"/>
          </a:p>
          <a:p>
            <a:pPr marL="228600" lvl="0" indent="-50800" algn="l" rtl="0">
              <a:lnSpc>
                <a:spcPct val="90000"/>
              </a:lnSpc>
              <a:spcBef>
                <a:spcPts val="1000"/>
              </a:spcBef>
              <a:spcAft>
                <a:spcPts val="0"/>
              </a:spcAft>
              <a:buClr>
                <a:schemeClr val="dk1"/>
              </a:buClr>
              <a:buSzPts val="2800"/>
              <a:buNone/>
            </a:pPr>
            <a:endParaRPr dirty="0"/>
          </a:p>
        </p:txBody>
      </p:sp>
      <p:sp>
        <p:nvSpPr>
          <p:cNvPr id="796" name="Google Shape;796;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106</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Overprovisioning</a:t>
            </a:r>
            <a:endParaRPr/>
          </a:p>
        </p:txBody>
      </p:sp>
      <p:sp>
        <p:nvSpPr>
          <p:cNvPr id="802" name="Google Shape;802;p88"/>
          <p:cNvSpPr txBox="1">
            <a:spLocks noGrp="1"/>
          </p:cNvSpPr>
          <p:nvPr>
            <p:ph type="body" idx="1"/>
          </p:nvPr>
        </p:nvSpPr>
        <p:spPr>
          <a:xfrm>
            <a:off x="526472" y="1828368"/>
            <a:ext cx="11139055" cy="5195887"/>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Clr>
                <a:schemeClr val="dk1"/>
              </a:buClr>
              <a:buSzPts val="2800"/>
              <a:buFont typeface="Calibri"/>
              <a:buChar char="•"/>
            </a:pPr>
            <a:r>
              <a:rPr lang="en-US"/>
              <a:t>An easy solution is </a:t>
            </a:r>
            <a:r>
              <a:rPr lang="en-US" b="1"/>
              <a:t>to provide </a:t>
            </a:r>
            <a:r>
              <a:rPr lang="en-US"/>
              <a:t>so much </a:t>
            </a:r>
            <a:r>
              <a:rPr lang="en-US">
                <a:solidFill>
                  <a:srgbClr val="FF0000"/>
                </a:solidFill>
              </a:rPr>
              <a:t>router capacity, buffer space, and bandwidth</a:t>
            </a:r>
            <a:r>
              <a:rPr lang="en-US"/>
              <a:t> that the </a:t>
            </a:r>
            <a:r>
              <a:rPr lang="en-US">
                <a:solidFill>
                  <a:srgbClr val="00B050"/>
                </a:solidFill>
              </a:rPr>
              <a:t>packets just fly through easily.</a:t>
            </a:r>
            <a:endParaRPr/>
          </a:p>
          <a:p>
            <a:pPr marL="342900" lvl="0" indent="-342900" algn="just" rtl="0">
              <a:lnSpc>
                <a:spcPct val="150000"/>
              </a:lnSpc>
              <a:spcBef>
                <a:spcPts val="1000"/>
              </a:spcBef>
              <a:spcAft>
                <a:spcPts val="0"/>
              </a:spcAft>
              <a:buClr>
                <a:schemeClr val="dk1"/>
              </a:buClr>
              <a:buSzPts val="2800"/>
              <a:buFont typeface="Calibri"/>
              <a:buChar char="•"/>
            </a:pPr>
            <a:r>
              <a:rPr lang="en-US"/>
              <a:t> The</a:t>
            </a:r>
            <a:r>
              <a:rPr lang="en-US" b="1"/>
              <a:t> trouble </a:t>
            </a:r>
            <a:r>
              <a:rPr lang="en-US"/>
              <a:t>with this solution is that it is </a:t>
            </a:r>
            <a:r>
              <a:rPr lang="en-US">
                <a:solidFill>
                  <a:srgbClr val="FF0000"/>
                </a:solidFill>
              </a:rPr>
              <a:t>expensive</a:t>
            </a:r>
            <a:r>
              <a:rPr lang="en-US"/>
              <a:t>. </a:t>
            </a:r>
            <a:endParaRPr/>
          </a:p>
          <a:p>
            <a:pPr marL="342900" lvl="0" indent="-342900" algn="just" rtl="0">
              <a:lnSpc>
                <a:spcPct val="150000"/>
              </a:lnSpc>
              <a:spcBef>
                <a:spcPts val="1000"/>
              </a:spcBef>
              <a:spcAft>
                <a:spcPts val="0"/>
              </a:spcAft>
              <a:buClr>
                <a:schemeClr val="dk1"/>
              </a:buClr>
              <a:buSzPts val="2800"/>
              <a:buFont typeface="Calibri"/>
              <a:buChar char="•"/>
            </a:pPr>
            <a:r>
              <a:rPr lang="en-US"/>
              <a:t>As time goes on and designers have a better idea of how much is enough, this technique may even become practical. </a:t>
            </a:r>
            <a:endParaRPr b="1"/>
          </a:p>
          <a:p>
            <a:pPr marL="342900" lvl="0" indent="-165100" algn="l" rtl="0">
              <a:lnSpc>
                <a:spcPct val="90000"/>
              </a:lnSpc>
              <a:spcBef>
                <a:spcPts val="1000"/>
              </a:spcBef>
              <a:spcAft>
                <a:spcPts val="0"/>
              </a:spcAft>
              <a:buClr>
                <a:schemeClr val="dk1"/>
              </a:buClr>
              <a:buSzPts val="2800"/>
              <a:buNone/>
            </a:pPr>
            <a:endParaRPr/>
          </a:p>
        </p:txBody>
      </p:sp>
      <p:sp>
        <p:nvSpPr>
          <p:cNvPr id="803" name="Google Shape;803;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107</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89"/>
          <p:cNvSpPr txBox="1">
            <a:spLocks noGrp="1"/>
          </p:cNvSpPr>
          <p:nvPr>
            <p:ph type="title"/>
          </p:nvPr>
        </p:nvSpPr>
        <p:spPr>
          <a:xfrm>
            <a:off x="720436"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Buffering</a:t>
            </a:r>
            <a:endParaRPr/>
          </a:p>
        </p:txBody>
      </p:sp>
      <p:sp>
        <p:nvSpPr>
          <p:cNvPr id="809" name="Google Shape;809;p89"/>
          <p:cNvSpPr txBox="1">
            <a:spLocks noGrp="1"/>
          </p:cNvSpPr>
          <p:nvPr>
            <p:ph type="body" idx="1"/>
          </p:nvPr>
        </p:nvSpPr>
        <p:spPr>
          <a:xfrm>
            <a:off x="1524000" y="6143626"/>
            <a:ext cx="9144000" cy="40957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ctr" rtl="0">
              <a:lnSpc>
                <a:spcPct val="90000"/>
              </a:lnSpc>
              <a:spcBef>
                <a:spcPts val="0"/>
              </a:spcBef>
              <a:spcAft>
                <a:spcPts val="0"/>
              </a:spcAft>
              <a:buClr>
                <a:schemeClr val="dk1"/>
              </a:buClr>
              <a:buSzPct val="100000"/>
              <a:buFont typeface="Calibri"/>
              <a:buNone/>
            </a:pPr>
            <a:r>
              <a:rPr lang="en-US"/>
              <a:t>Smoothing the output stream by buffering packets.</a:t>
            </a:r>
            <a:endParaRPr/>
          </a:p>
        </p:txBody>
      </p:sp>
      <p:pic>
        <p:nvPicPr>
          <p:cNvPr id="810" name="Google Shape;810;p89" descr="5-31"/>
          <p:cNvPicPr preferRelativeResize="0"/>
          <p:nvPr/>
        </p:nvPicPr>
        <p:blipFill rotWithShape="1">
          <a:blip r:embed="rId3">
            <a:alphaModFix/>
          </a:blip>
          <a:srcRect/>
          <a:stretch/>
        </p:blipFill>
        <p:spPr>
          <a:xfrm>
            <a:off x="2020889" y="3544889"/>
            <a:ext cx="8461375" cy="2651125"/>
          </a:xfrm>
          <a:prstGeom prst="rect">
            <a:avLst/>
          </a:prstGeom>
          <a:noFill/>
          <a:ln>
            <a:noFill/>
          </a:ln>
        </p:spPr>
      </p:pic>
      <p:sp>
        <p:nvSpPr>
          <p:cNvPr id="811" name="Google Shape;811;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400"/>
              <a:buFont typeface="Times New Roman"/>
              <a:buNone/>
            </a:pPr>
            <a:fld id="{00000000-1234-1234-1234-123412341234}" type="slidenum">
              <a:rPr lang="en-US" sz="1400">
                <a:solidFill>
                  <a:schemeClr val="dk1"/>
                </a:solidFill>
                <a:latin typeface="Times New Roman"/>
                <a:ea typeface="Times New Roman"/>
                <a:cs typeface="Times New Roman"/>
                <a:sym typeface="Times New Roman"/>
              </a:rPr>
              <a:t>108</a:t>
            </a:fld>
            <a:endParaRPr sz="1400">
              <a:solidFill>
                <a:schemeClr val="dk1"/>
              </a:solidFill>
              <a:latin typeface="Times New Roman"/>
              <a:ea typeface="Times New Roman"/>
              <a:cs typeface="Times New Roman"/>
              <a:sym typeface="Times New Roman"/>
            </a:endParaRPr>
          </a:p>
        </p:txBody>
      </p:sp>
      <p:sp>
        <p:nvSpPr>
          <p:cNvPr id="812" name="Google Shape;812;p89"/>
          <p:cNvSpPr/>
          <p:nvPr/>
        </p:nvSpPr>
        <p:spPr>
          <a:xfrm>
            <a:off x="720436" y="1143000"/>
            <a:ext cx="11028219" cy="218598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Flows can be buffered on the </a:t>
            </a:r>
            <a:r>
              <a:rPr lang="en-US" sz="2400" b="1">
                <a:solidFill>
                  <a:schemeClr val="dk1"/>
                </a:solidFill>
                <a:latin typeface="Calibri"/>
                <a:ea typeface="Calibri"/>
                <a:cs typeface="Calibri"/>
                <a:sym typeface="Calibri"/>
              </a:rPr>
              <a:t>receiving side </a:t>
            </a:r>
            <a:r>
              <a:rPr lang="en-US" sz="2400">
                <a:solidFill>
                  <a:schemeClr val="dk1"/>
                </a:solidFill>
                <a:latin typeface="Calibri"/>
                <a:ea typeface="Calibri"/>
                <a:cs typeface="Calibri"/>
                <a:sym typeface="Calibri"/>
              </a:rPr>
              <a:t>before being delivered. </a:t>
            </a:r>
            <a:endParaRPr/>
          </a:p>
          <a:p>
            <a:pPr marL="342900" marR="0" lvl="0" indent="-342900" algn="just" rtl="0">
              <a:spcBef>
                <a:spcPts val="0"/>
              </a:spcBef>
              <a:spcAft>
                <a:spcPts val="0"/>
              </a:spcAft>
              <a:buClr>
                <a:srgbClr val="00B050"/>
              </a:buClr>
              <a:buSzPts val="2400"/>
              <a:buFont typeface="Noto Sans Symbols"/>
              <a:buChar char="∙"/>
            </a:pPr>
            <a:r>
              <a:rPr lang="en-US" sz="2400">
                <a:solidFill>
                  <a:srgbClr val="00B050"/>
                </a:solidFill>
                <a:latin typeface="Calibri"/>
                <a:ea typeface="Calibri"/>
                <a:cs typeface="Calibri"/>
                <a:sym typeface="Calibri"/>
              </a:rPr>
              <a:t>Buffering them does not affect </a:t>
            </a:r>
            <a:r>
              <a:rPr lang="en-US" sz="2400">
                <a:solidFill>
                  <a:schemeClr val="dk1"/>
                </a:solidFill>
                <a:latin typeface="Calibri"/>
                <a:ea typeface="Calibri"/>
                <a:cs typeface="Calibri"/>
                <a:sym typeface="Calibri"/>
              </a:rPr>
              <a:t>the </a:t>
            </a:r>
            <a:r>
              <a:rPr lang="en-US" sz="2400" b="1">
                <a:solidFill>
                  <a:schemeClr val="dk1"/>
                </a:solidFill>
                <a:latin typeface="Calibri"/>
                <a:ea typeface="Calibri"/>
                <a:cs typeface="Calibri"/>
                <a:sym typeface="Calibri"/>
              </a:rPr>
              <a:t>reliability or bandwidth</a:t>
            </a:r>
            <a:r>
              <a:rPr lang="en-US" sz="2400">
                <a:solidFill>
                  <a:schemeClr val="dk1"/>
                </a:solidFill>
                <a:latin typeface="Calibri"/>
                <a:ea typeface="Calibri"/>
                <a:cs typeface="Calibri"/>
                <a:sym typeface="Calibri"/>
              </a:rPr>
              <a:t>, and </a:t>
            </a:r>
            <a:r>
              <a:rPr lang="en-US" sz="2400" b="1">
                <a:solidFill>
                  <a:schemeClr val="dk1"/>
                </a:solidFill>
                <a:latin typeface="Calibri"/>
                <a:ea typeface="Calibri"/>
                <a:cs typeface="Calibri"/>
                <a:sym typeface="Calibri"/>
              </a:rPr>
              <a:t>increases the delay</a:t>
            </a:r>
            <a:r>
              <a:rPr lang="en-US" sz="2400">
                <a:solidFill>
                  <a:schemeClr val="dk1"/>
                </a:solidFill>
                <a:latin typeface="Calibri"/>
                <a:ea typeface="Calibri"/>
                <a:cs typeface="Calibri"/>
                <a:sym typeface="Calibri"/>
              </a:rPr>
              <a:t>, but </a:t>
            </a:r>
            <a:r>
              <a:rPr lang="en-US" sz="2400">
                <a:solidFill>
                  <a:srgbClr val="FF0000"/>
                </a:solidFill>
                <a:latin typeface="Calibri"/>
                <a:ea typeface="Calibri"/>
                <a:cs typeface="Calibri"/>
                <a:sym typeface="Calibri"/>
              </a:rPr>
              <a:t>it smooths out the jitter</a:t>
            </a:r>
            <a:r>
              <a:rPr lang="en-US" sz="2400">
                <a:solidFill>
                  <a:schemeClr val="dk1"/>
                </a:solidFill>
                <a:latin typeface="Calibri"/>
                <a:ea typeface="Calibri"/>
                <a:cs typeface="Calibri"/>
                <a:sym typeface="Calibri"/>
              </a:rPr>
              <a:t>.</a:t>
            </a:r>
            <a:endParaRPr/>
          </a:p>
          <a:p>
            <a:pPr marL="342900" marR="0" lvl="0" indent="-342900" algn="just" rtl="0">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For </a:t>
            </a:r>
            <a:r>
              <a:rPr lang="en-US" sz="2400">
                <a:solidFill>
                  <a:srgbClr val="FF0000"/>
                </a:solidFill>
                <a:latin typeface="Calibri"/>
                <a:ea typeface="Calibri"/>
                <a:cs typeface="Calibri"/>
                <a:sym typeface="Calibri"/>
              </a:rPr>
              <a:t>audio </a:t>
            </a:r>
            <a:r>
              <a:rPr lang="en-US" sz="2400">
                <a:solidFill>
                  <a:schemeClr val="dk1"/>
                </a:solidFill>
                <a:latin typeface="Calibri"/>
                <a:ea typeface="Calibri"/>
                <a:cs typeface="Calibri"/>
                <a:sym typeface="Calibri"/>
              </a:rPr>
              <a:t>and</a:t>
            </a:r>
            <a:r>
              <a:rPr lang="en-US" sz="2400">
                <a:solidFill>
                  <a:srgbClr val="FF0000"/>
                </a:solidFill>
                <a:latin typeface="Calibri"/>
                <a:ea typeface="Calibri"/>
                <a:cs typeface="Calibri"/>
                <a:sym typeface="Calibri"/>
              </a:rPr>
              <a:t> video </a:t>
            </a:r>
            <a:r>
              <a:rPr lang="en-US" sz="2400">
                <a:solidFill>
                  <a:schemeClr val="dk1"/>
                </a:solidFill>
                <a:latin typeface="Calibri"/>
                <a:ea typeface="Calibri"/>
                <a:cs typeface="Calibri"/>
                <a:sym typeface="Calibri"/>
              </a:rPr>
              <a:t>on demand, jitter is the main problem, so this technique helps a lot.</a:t>
            </a:r>
            <a:endParaRPr/>
          </a:p>
          <a:p>
            <a:pPr marL="342900" marR="0" lvl="0" indent="-241300" algn="just" rtl="0">
              <a:spcBef>
                <a:spcPts val="0"/>
              </a:spcBef>
              <a:spcAft>
                <a:spcPts val="0"/>
              </a:spcAft>
              <a:buClr>
                <a:schemeClr val="dk1"/>
              </a:buClr>
              <a:buSzPts val="1600"/>
              <a:buFont typeface="Noto Sans Symbols"/>
              <a:buNone/>
            </a:pPr>
            <a:endParaRPr sz="1600" b="1">
              <a:solidFill>
                <a:schemeClr val="dk1"/>
              </a:solidFill>
              <a:latin typeface="Meiryo"/>
              <a:ea typeface="Meiryo"/>
              <a:cs typeface="Meiryo"/>
              <a:sym typeface="Meiryo"/>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9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Traffic Shaping</a:t>
            </a:r>
            <a:r>
              <a:rPr lang="en-US" sz="4000" b="1">
                <a:latin typeface="Meiryo"/>
                <a:ea typeface="Meiryo"/>
                <a:cs typeface="Meiryo"/>
                <a:sym typeface="Meiryo"/>
              </a:rPr>
              <a:t/>
            </a:r>
            <a:br>
              <a:rPr lang="en-US" sz="4000" b="1">
                <a:latin typeface="Meiryo"/>
                <a:ea typeface="Meiryo"/>
                <a:cs typeface="Meiryo"/>
                <a:sym typeface="Meiryo"/>
              </a:rPr>
            </a:br>
            <a:endParaRPr/>
          </a:p>
        </p:txBody>
      </p:sp>
      <p:sp>
        <p:nvSpPr>
          <p:cNvPr id="818" name="Google Shape;818;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109</a:t>
            </a:fld>
            <a:endParaRPr sz="1200">
              <a:solidFill>
                <a:schemeClr val="dk1"/>
              </a:solidFill>
              <a:latin typeface="Times New Roman"/>
              <a:ea typeface="Times New Roman"/>
              <a:cs typeface="Times New Roman"/>
              <a:sym typeface="Times New Roman"/>
            </a:endParaRPr>
          </a:p>
        </p:txBody>
      </p:sp>
      <p:sp>
        <p:nvSpPr>
          <p:cNvPr id="819" name="Google Shape;819;p90"/>
          <p:cNvSpPr/>
          <p:nvPr/>
        </p:nvSpPr>
        <p:spPr>
          <a:xfrm>
            <a:off x="484909" y="1015503"/>
            <a:ext cx="11222182" cy="5842497"/>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dk1"/>
              </a:buClr>
              <a:buSzPts val="2800"/>
              <a:buFont typeface="Noto Sans Symbols"/>
              <a:buChar char="∙"/>
            </a:pPr>
            <a:r>
              <a:rPr lang="en-US" sz="2800">
                <a:solidFill>
                  <a:schemeClr val="dk1"/>
                </a:solidFill>
                <a:latin typeface="Calibri"/>
                <a:ea typeface="Calibri"/>
                <a:cs typeface="Calibri"/>
                <a:sym typeface="Calibri"/>
              </a:rPr>
              <a:t>One of the main</a:t>
            </a:r>
            <a:r>
              <a:rPr lang="en-US" sz="2800" b="1">
                <a:solidFill>
                  <a:schemeClr val="dk1"/>
                </a:solidFill>
                <a:latin typeface="Calibri"/>
                <a:ea typeface="Calibri"/>
                <a:cs typeface="Calibri"/>
                <a:sym typeface="Calibri"/>
              </a:rPr>
              <a:t> causes </a:t>
            </a:r>
            <a:r>
              <a:rPr lang="en-US" sz="2800">
                <a:solidFill>
                  <a:schemeClr val="dk1"/>
                </a:solidFill>
                <a:latin typeface="Calibri"/>
                <a:ea typeface="Calibri"/>
                <a:cs typeface="Calibri"/>
                <a:sym typeface="Calibri"/>
              </a:rPr>
              <a:t>of </a:t>
            </a:r>
            <a:r>
              <a:rPr lang="en-US" sz="2800">
                <a:solidFill>
                  <a:srgbClr val="FF0000"/>
                </a:solidFill>
                <a:latin typeface="Calibri"/>
                <a:ea typeface="Calibri"/>
                <a:cs typeface="Calibri"/>
                <a:sym typeface="Calibri"/>
              </a:rPr>
              <a:t>congestion</a:t>
            </a:r>
            <a:r>
              <a:rPr lang="en-US" sz="2800">
                <a:solidFill>
                  <a:schemeClr val="dk1"/>
                </a:solidFill>
                <a:latin typeface="Calibri"/>
                <a:ea typeface="Calibri"/>
                <a:cs typeface="Calibri"/>
                <a:sym typeface="Calibri"/>
              </a:rPr>
              <a:t> is that </a:t>
            </a:r>
            <a:r>
              <a:rPr lang="en-US" sz="2800">
                <a:solidFill>
                  <a:srgbClr val="00B050"/>
                </a:solidFill>
                <a:latin typeface="Calibri"/>
                <a:ea typeface="Calibri"/>
                <a:cs typeface="Calibri"/>
                <a:sym typeface="Calibri"/>
              </a:rPr>
              <a:t>traffic is often bursty</a:t>
            </a:r>
            <a:r>
              <a:rPr lang="en-US" sz="2800">
                <a:solidFill>
                  <a:schemeClr val="dk1"/>
                </a:solidFill>
                <a:latin typeface="Calibri"/>
                <a:ea typeface="Calibri"/>
                <a:cs typeface="Calibri"/>
                <a:sym typeface="Calibri"/>
              </a:rPr>
              <a:t>.</a:t>
            </a:r>
            <a:endParaRPr/>
          </a:p>
          <a:p>
            <a:pPr marL="342900" marR="0" lvl="0" indent="-342900" algn="just" rtl="0">
              <a:lnSpc>
                <a:spcPct val="150000"/>
              </a:lnSpc>
              <a:spcBef>
                <a:spcPts val="0"/>
              </a:spcBef>
              <a:spcAft>
                <a:spcPts val="0"/>
              </a:spcAft>
              <a:buClr>
                <a:schemeClr val="dk1"/>
              </a:buClr>
              <a:buSzPts val="2800"/>
              <a:buFont typeface="Noto Sans Symbols"/>
              <a:buChar char="∙"/>
            </a:pP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Traffic shaping </a:t>
            </a:r>
            <a:r>
              <a:rPr lang="en-US" sz="2800">
                <a:solidFill>
                  <a:schemeClr val="dk1"/>
                </a:solidFill>
                <a:latin typeface="Calibri"/>
                <a:ea typeface="Calibri"/>
                <a:cs typeface="Calibri"/>
                <a:sym typeface="Calibri"/>
              </a:rPr>
              <a:t>is about </a:t>
            </a:r>
            <a:r>
              <a:rPr lang="en-US" sz="2800">
                <a:solidFill>
                  <a:srgbClr val="FF0000"/>
                </a:solidFill>
                <a:latin typeface="Calibri"/>
                <a:ea typeface="Calibri"/>
                <a:cs typeface="Calibri"/>
                <a:sym typeface="Calibri"/>
              </a:rPr>
              <a:t>regulating the </a:t>
            </a:r>
            <a:r>
              <a:rPr lang="en-US" sz="2800" b="1">
                <a:solidFill>
                  <a:srgbClr val="FF0000"/>
                </a:solidFill>
                <a:latin typeface="Calibri"/>
                <a:ea typeface="Calibri"/>
                <a:cs typeface="Calibri"/>
                <a:sym typeface="Calibri"/>
              </a:rPr>
              <a:t>average rate </a:t>
            </a:r>
            <a:r>
              <a:rPr lang="en-US" sz="2800">
                <a:solidFill>
                  <a:schemeClr val="dk1"/>
                </a:solidFill>
                <a:latin typeface="Calibri"/>
                <a:ea typeface="Calibri"/>
                <a:cs typeface="Calibri"/>
                <a:sym typeface="Calibri"/>
              </a:rPr>
              <a:t>(and burstiness) of </a:t>
            </a:r>
            <a:r>
              <a:rPr lang="en-US" sz="2800">
                <a:solidFill>
                  <a:srgbClr val="FF0000"/>
                </a:solidFill>
                <a:latin typeface="Calibri"/>
                <a:ea typeface="Calibri"/>
                <a:cs typeface="Calibri"/>
                <a:sym typeface="Calibri"/>
              </a:rPr>
              <a:t>data transmission</a:t>
            </a:r>
            <a:r>
              <a:rPr lang="en-US" sz="2800">
                <a:solidFill>
                  <a:schemeClr val="dk1"/>
                </a:solidFill>
                <a:latin typeface="Calibri"/>
                <a:ea typeface="Calibri"/>
                <a:cs typeface="Calibri"/>
                <a:sym typeface="Calibri"/>
              </a:rPr>
              <a:t>. </a:t>
            </a:r>
            <a:endParaRPr sz="2400" b="1">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dk1"/>
              </a:buClr>
              <a:buSzPts val="2800"/>
              <a:buFont typeface="Noto Sans Symbols"/>
              <a:buChar char="∙"/>
            </a:pPr>
            <a:r>
              <a:rPr lang="en-US" sz="2800">
                <a:solidFill>
                  <a:schemeClr val="dk1"/>
                </a:solidFill>
                <a:latin typeface="Calibri"/>
                <a:ea typeface="Calibri"/>
                <a:cs typeface="Calibri"/>
                <a:sym typeface="Calibri"/>
              </a:rPr>
              <a:t> </a:t>
            </a:r>
            <a:r>
              <a:rPr lang="en-US" sz="2800" b="1">
                <a:solidFill>
                  <a:schemeClr val="dk1"/>
                </a:solidFill>
                <a:latin typeface="Calibri"/>
                <a:ea typeface="Calibri"/>
                <a:cs typeface="Calibri"/>
                <a:sym typeface="Calibri"/>
              </a:rPr>
              <a:t>Monitoring a traffic flow </a:t>
            </a:r>
            <a:r>
              <a:rPr lang="en-US" sz="2800">
                <a:solidFill>
                  <a:schemeClr val="dk1"/>
                </a:solidFill>
                <a:latin typeface="Calibri"/>
                <a:ea typeface="Calibri"/>
                <a:cs typeface="Calibri"/>
                <a:sym typeface="Calibri"/>
              </a:rPr>
              <a:t>is called </a:t>
            </a:r>
            <a:r>
              <a:rPr lang="en-US" sz="2800" b="1">
                <a:solidFill>
                  <a:srgbClr val="FF0000"/>
                </a:solidFill>
                <a:latin typeface="Calibri"/>
                <a:ea typeface="Calibri"/>
                <a:cs typeface="Calibri"/>
                <a:sym typeface="Calibri"/>
              </a:rPr>
              <a:t>traffic policing</a:t>
            </a:r>
            <a:r>
              <a:rPr lang="en-US" sz="2800">
                <a:solidFill>
                  <a:schemeClr val="dk1"/>
                </a:solidFill>
                <a:latin typeface="Calibri"/>
                <a:ea typeface="Calibri"/>
                <a:cs typeface="Calibri"/>
                <a:sym typeface="Calibri"/>
              </a:rPr>
              <a:t>. </a:t>
            </a:r>
            <a:endParaRPr/>
          </a:p>
          <a:p>
            <a:pPr marL="342900" marR="0" lvl="0" indent="-342900" algn="just" rtl="0">
              <a:lnSpc>
                <a:spcPct val="150000"/>
              </a:lnSpc>
              <a:spcBef>
                <a:spcPts val="0"/>
              </a:spcBef>
              <a:spcAft>
                <a:spcPts val="0"/>
              </a:spcAft>
              <a:buClr>
                <a:schemeClr val="dk1"/>
              </a:buClr>
              <a:buSzPts val="2800"/>
              <a:buFont typeface="Noto Sans Symbols"/>
              <a:buChar char="∙"/>
            </a:pPr>
            <a:r>
              <a:rPr lang="en-US" sz="2800">
                <a:solidFill>
                  <a:schemeClr val="dk1"/>
                </a:solidFill>
                <a:latin typeface="Calibri"/>
                <a:ea typeface="Calibri"/>
                <a:cs typeface="Calibri"/>
                <a:sym typeface="Calibri"/>
              </a:rPr>
              <a:t>Agreeing to a traffic shape and policing it afterward are </a:t>
            </a:r>
            <a:r>
              <a:rPr lang="en-US" sz="2800">
                <a:solidFill>
                  <a:srgbClr val="FF0000"/>
                </a:solidFill>
                <a:latin typeface="Calibri"/>
                <a:ea typeface="Calibri"/>
                <a:cs typeface="Calibri"/>
                <a:sym typeface="Calibri"/>
              </a:rPr>
              <a:t>easier with virtual-circuit subnets </a:t>
            </a:r>
            <a:r>
              <a:rPr lang="en-US" sz="2800">
                <a:solidFill>
                  <a:schemeClr val="dk1"/>
                </a:solidFill>
                <a:latin typeface="Calibri"/>
                <a:ea typeface="Calibri"/>
                <a:cs typeface="Calibri"/>
                <a:sym typeface="Calibri"/>
              </a:rPr>
              <a:t>than with datagram subnets.</a:t>
            </a:r>
            <a:endParaRPr sz="2400" b="1">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dk1"/>
              </a:buClr>
              <a:buSzPts val="2800"/>
              <a:buFont typeface="Noto Sans Symbols"/>
              <a:buChar char="∙"/>
            </a:pPr>
            <a:r>
              <a:rPr lang="en-US" sz="2800">
                <a:solidFill>
                  <a:schemeClr val="dk1"/>
                </a:solidFill>
                <a:latin typeface="Calibri"/>
                <a:ea typeface="Calibri"/>
                <a:cs typeface="Calibri"/>
                <a:sym typeface="Calibri"/>
              </a:rPr>
              <a:t> </a:t>
            </a:r>
            <a:r>
              <a:rPr lang="en-US" sz="2800">
                <a:solidFill>
                  <a:srgbClr val="00B050"/>
                </a:solidFill>
                <a:latin typeface="Calibri"/>
                <a:ea typeface="Calibri"/>
                <a:cs typeface="Calibri"/>
                <a:sym typeface="Calibri"/>
              </a:rPr>
              <a:t>When a connection is set up</a:t>
            </a:r>
            <a:r>
              <a:rPr lang="en-US" sz="2800">
                <a:solidFill>
                  <a:schemeClr val="dk1"/>
                </a:solidFill>
                <a:latin typeface="Calibri"/>
                <a:ea typeface="Calibri"/>
                <a:cs typeface="Calibri"/>
                <a:sym typeface="Calibri"/>
              </a:rPr>
              <a:t>, the </a:t>
            </a:r>
            <a:r>
              <a:rPr lang="en-US" sz="2800" b="1">
                <a:solidFill>
                  <a:schemeClr val="dk1"/>
                </a:solidFill>
                <a:latin typeface="Calibri"/>
                <a:ea typeface="Calibri"/>
                <a:cs typeface="Calibri"/>
                <a:sym typeface="Calibri"/>
              </a:rPr>
              <a:t>user</a:t>
            </a:r>
            <a:r>
              <a:rPr lang="en-US" sz="2800">
                <a:solidFill>
                  <a:schemeClr val="dk1"/>
                </a:solidFill>
                <a:latin typeface="Calibri"/>
                <a:ea typeface="Calibri"/>
                <a:cs typeface="Calibri"/>
                <a:sym typeface="Calibri"/>
              </a:rPr>
              <a:t> and </a:t>
            </a:r>
            <a:r>
              <a:rPr lang="en-US" sz="2800" b="1">
                <a:solidFill>
                  <a:schemeClr val="dk1"/>
                </a:solidFill>
                <a:latin typeface="Calibri"/>
                <a:ea typeface="Calibri"/>
                <a:cs typeface="Calibri"/>
                <a:sym typeface="Calibri"/>
              </a:rPr>
              <a:t>the subnet</a:t>
            </a:r>
            <a:r>
              <a:rPr lang="en-US" sz="2800">
                <a:solidFill>
                  <a:schemeClr val="dk1"/>
                </a:solidFill>
                <a:latin typeface="Calibri"/>
                <a:ea typeface="Calibri"/>
                <a:cs typeface="Calibri"/>
                <a:sym typeface="Calibri"/>
              </a:rPr>
              <a:t>(i.e., the customer and the carrier) </a:t>
            </a:r>
            <a:r>
              <a:rPr lang="en-US" sz="2800">
                <a:solidFill>
                  <a:srgbClr val="FF0000"/>
                </a:solidFill>
                <a:latin typeface="Calibri"/>
                <a:ea typeface="Calibri"/>
                <a:cs typeface="Calibri"/>
                <a:sym typeface="Calibri"/>
              </a:rPr>
              <a:t>agree </a:t>
            </a:r>
            <a:r>
              <a:rPr lang="en-US" sz="2800">
                <a:solidFill>
                  <a:schemeClr val="dk1"/>
                </a:solidFill>
                <a:latin typeface="Calibri"/>
                <a:ea typeface="Calibri"/>
                <a:cs typeface="Calibri"/>
                <a:sym typeface="Calibri"/>
              </a:rPr>
              <a:t>on a certain </a:t>
            </a:r>
            <a:r>
              <a:rPr lang="en-US" sz="2800">
                <a:solidFill>
                  <a:srgbClr val="FF0000"/>
                </a:solidFill>
                <a:latin typeface="Calibri"/>
                <a:ea typeface="Calibri"/>
                <a:cs typeface="Calibri"/>
                <a:sym typeface="Calibri"/>
              </a:rPr>
              <a:t>traffic pattern </a:t>
            </a:r>
            <a:r>
              <a:rPr lang="en-US" sz="2800">
                <a:solidFill>
                  <a:schemeClr val="dk1"/>
                </a:solidFill>
                <a:latin typeface="Calibri"/>
                <a:ea typeface="Calibri"/>
                <a:cs typeface="Calibri"/>
                <a:sym typeface="Calibri"/>
              </a:rPr>
              <a:t>(i.e., shape) for that circuit. Sometimes this is called a </a:t>
            </a:r>
            <a:r>
              <a:rPr lang="en-US" sz="2800" b="1">
                <a:solidFill>
                  <a:srgbClr val="FF0000"/>
                </a:solidFill>
                <a:latin typeface="Calibri"/>
                <a:ea typeface="Calibri"/>
                <a:cs typeface="Calibri"/>
                <a:sym typeface="Calibri"/>
              </a:rPr>
              <a:t>service level agreement</a:t>
            </a:r>
            <a:r>
              <a:rPr lang="en-US" sz="2800">
                <a:solidFill>
                  <a:schemeClr val="dk1"/>
                </a:solidFill>
                <a:latin typeface="Calibri"/>
                <a:ea typeface="Calibri"/>
                <a:cs typeface="Calibri"/>
                <a:sym typeface="Calibri"/>
              </a:rPr>
              <a:t>.</a:t>
            </a:r>
            <a:endParaRPr sz="2400" b="1">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110</a:t>
            </a:fld>
            <a:endParaRPr sz="1200">
              <a:solidFill>
                <a:schemeClr val="dk1"/>
              </a:solidFill>
              <a:latin typeface="Times New Roman"/>
              <a:ea typeface="Times New Roman"/>
              <a:cs typeface="Times New Roman"/>
              <a:sym typeface="Times New Roman"/>
            </a:endParaRPr>
          </a:p>
        </p:txBody>
      </p:sp>
      <p:sp>
        <p:nvSpPr>
          <p:cNvPr id="825" name="Google Shape;825;p91"/>
          <p:cNvSpPr/>
          <p:nvPr/>
        </p:nvSpPr>
        <p:spPr>
          <a:xfrm>
            <a:off x="222612" y="-76200"/>
            <a:ext cx="11402290" cy="3040512"/>
          </a:xfrm>
          <a:prstGeom prst="rect">
            <a:avLst/>
          </a:prstGeom>
          <a:noFill/>
          <a:ln>
            <a:noFill/>
          </a:ln>
        </p:spPr>
        <p:txBody>
          <a:bodyPr spcFirstLastPara="1" wrap="square" lIns="91425" tIns="45700" rIns="91425" bIns="45700" anchor="t" anchorCtr="0">
            <a:spAutoFit/>
          </a:bodyPr>
          <a:lstStyle/>
          <a:p>
            <a:pPr marL="57150" marR="0" lvl="0" indent="0" algn="just" rtl="0">
              <a:lnSpc>
                <a:spcPct val="115000"/>
              </a:lnSpc>
              <a:spcBef>
                <a:spcPts val="0"/>
              </a:spcBef>
              <a:spcAft>
                <a:spcPts val="0"/>
              </a:spcAft>
              <a:buNone/>
            </a:pPr>
            <a:r>
              <a:rPr lang="en-US" sz="2400" b="1">
                <a:solidFill>
                  <a:schemeClr val="dk1"/>
                </a:solidFill>
                <a:latin typeface="Calibri"/>
                <a:ea typeface="Calibri"/>
                <a:cs typeface="Calibri"/>
                <a:sym typeface="Calibri"/>
              </a:rPr>
              <a:t>The Leaky Bucket Algorithm</a:t>
            </a:r>
            <a:endParaRPr sz="2000" b="1">
              <a:solidFill>
                <a:schemeClr val="dk1"/>
              </a:solidFill>
              <a:latin typeface="Calibri"/>
              <a:ea typeface="Calibri"/>
              <a:cs typeface="Calibri"/>
              <a:sym typeface="Calibri"/>
            </a:endParaRPr>
          </a:p>
          <a:p>
            <a:pPr marL="342900" marR="0" lvl="0" indent="-285750" algn="just" rtl="0">
              <a:lnSpc>
                <a:spcPct val="115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Imagine a bucket with </a:t>
            </a:r>
            <a:r>
              <a:rPr lang="en-US" sz="2400" b="1">
                <a:solidFill>
                  <a:schemeClr val="dk1"/>
                </a:solidFill>
                <a:latin typeface="Calibri"/>
                <a:ea typeface="Calibri"/>
                <a:cs typeface="Calibri"/>
                <a:sym typeface="Calibri"/>
              </a:rPr>
              <a:t>a small hole </a:t>
            </a:r>
            <a:r>
              <a:rPr lang="en-US" sz="2400">
                <a:solidFill>
                  <a:schemeClr val="dk1"/>
                </a:solidFill>
                <a:latin typeface="Calibri"/>
                <a:ea typeface="Calibri"/>
                <a:cs typeface="Calibri"/>
                <a:sym typeface="Calibri"/>
              </a:rPr>
              <a:t>in </a:t>
            </a:r>
            <a:r>
              <a:rPr lang="en-US" sz="2400">
                <a:solidFill>
                  <a:srgbClr val="FF0000"/>
                </a:solidFill>
                <a:latin typeface="Calibri"/>
                <a:ea typeface="Calibri"/>
                <a:cs typeface="Calibri"/>
                <a:sym typeface="Calibri"/>
              </a:rPr>
              <a:t>the bottom</a:t>
            </a:r>
            <a:r>
              <a:rPr lang="en-US" sz="2400">
                <a:solidFill>
                  <a:schemeClr val="dk1"/>
                </a:solidFill>
                <a:latin typeface="Calibri"/>
                <a:ea typeface="Calibri"/>
                <a:cs typeface="Calibri"/>
                <a:sym typeface="Calibri"/>
              </a:rPr>
              <a:t>, as illustrated in Fig.4-4(a). </a:t>
            </a:r>
            <a:endParaRPr/>
          </a:p>
          <a:p>
            <a:pPr marL="342900" marR="0" lvl="0" indent="-285750" algn="just" rtl="0">
              <a:lnSpc>
                <a:spcPct val="115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No matter the rate at which water enters the bucket, the </a:t>
            </a:r>
            <a:r>
              <a:rPr lang="en-US" sz="2400" b="1">
                <a:solidFill>
                  <a:schemeClr val="dk1"/>
                </a:solidFill>
                <a:latin typeface="Calibri"/>
                <a:ea typeface="Calibri"/>
                <a:cs typeface="Calibri"/>
                <a:sym typeface="Calibri"/>
              </a:rPr>
              <a:t>outflow</a:t>
            </a:r>
            <a:r>
              <a:rPr lang="en-US" sz="2400">
                <a:solidFill>
                  <a:schemeClr val="dk1"/>
                </a:solidFill>
                <a:latin typeface="Calibri"/>
                <a:ea typeface="Calibri"/>
                <a:cs typeface="Calibri"/>
                <a:sym typeface="Calibri"/>
              </a:rPr>
              <a:t> is at </a:t>
            </a:r>
            <a:r>
              <a:rPr lang="en-US" sz="2400">
                <a:solidFill>
                  <a:srgbClr val="FF0000"/>
                </a:solidFill>
                <a:latin typeface="Calibri"/>
                <a:ea typeface="Calibri"/>
                <a:cs typeface="Calibri"/>
                <a:sym typeface="Calibri"/>
              </a:rPr>
              <a:t>a constant rate </a:t>
            </a:r>
            <a:r>
              <a:rPr lang="en-US" sz="2400">
                <a:solidFill>
                  <a:schemeClr val="dk1"/>
                </a:solidFill>
                <a:latin typeface="Calibri"/>
                <a:ea typeface="Calibri"/>
                <a:cs typeface="Calibri"/>
                <a:sym typeface="Calibri"/>
              </a:rPr>
              <a:t>when there is any water in the bucket and zero when the bucket is empty. </a:t>
            </a:r>
            <a:endParaRPr/>
          </a:p>
          <a:p>
            <a:pPr marL="342900" marR="0" lvl="0" indent="-285750" algn="just" rtl="0">
              <a:lnSpc>
                <a:spcPct val="115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Also, </a:t>
            </a:r>
            <a:r>
              <a:rPr lang="en-US" sz="2400">
                <a:solidFill>
                  <a:srgbClr val="FF0000"/>
                </a:solidFill>
                <a:latin typeface="Calibri"/>
                <a:ea typeface="Calibri"/>
                <a:cs typeface="Calibri"/>
                <a:sym typeface="Calibri"/>
              </a:rPr>
              <a:t>once the bucket is full</a:t>
            </a:r>
            <a:r>
              <a:rPr lang="en-US" sz="2400">
                <a:solidFill>
                  <a:schemeClr val="dk1"/>
                </a:solidFill>
                <a:latin typeface="Calibri"/>
                <a:ea typeface="Calibri"/>
                <a:cs typeface="Calibri"/>
                <a:sym typeface="Calibri"/>
              </a:rPr>
              <a:t>, any </a:t>
            </a:r>
            <a:r>
              <a:rPr lang="en-US" sz="2400">
                <a:solidFill>
                  <a:srgbClr val="00B050"/>
                </a:solidFill>
                <a:latin typeface="Calibri"/>
                <a:ea typeface="Calibri"/>
                <a:cs typeface="Calibri"/>
                <a:sym typeface="Calibri"/>
              </a:rPr>
              <a:t>additional water entering it spills over the sides and is lost</a:t>
            </a:r>
            <a:endParaRPr/>
          </a:p>
          <a:p>
            <a:pPr marL="342900" marR="0" lvl="0" indent="-285750" algn="just" rtl="0">
              <a:lnSpc>
                <a:spcPct val="115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In practice the </a:t>
            </a:r>
            <a:r>
              <a:rPr lang="en-US" sz="2400" b="1">
                <a:solidFill>
                  <a:srgbClr val="FF0000"/>
                </a:solidFill>
                <a:latin typeface="Calibri"/>
                <a:ea typeface="Calibri"/>
                <a:cs typeface="Calibri"/>
                <a:sym typeface="Calibri"/>
              </a:rPr>
              <a:t>bucket</a:t>
            </a:r>
            <a:r>
              <a:rPr lang="en-US" sz="2400" b="1">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is a </a:t>
            </a:r>
            <a:r>
              <a:rPr lang="en-US" sz="2400">
                <a:solidFill>
                  <a:srgbClr val="FF0000"/>
                </a:solidFill>
                <a:latin typeface="Calibri"/>
                <a:ea typeface="Calibri"/>
                <a:cs typeface="Calibri"/>
                <a:sym typeface="Calibri"/>
              </a:rPr>
              <a:t>finite queue </a:t>
            </a:r>
            <a:r>
              <a:rPr lang="en-US" sz="2400">
                <a:solidFill>
                  <a:schemeClr val="dk1"/>
                </a:solidFill>
                <a:latin typeface="Calibri"/>
                <a:ea typeface="Calibri"/>
                <a:cs typeface="Calibri"/>
                <a:sym typeface="Calibri"/>
              </a:rPr>
              <a:t>that </a:t>
            </a:r>
            <a:r>
              <a:rPr lang="en-US" sz="2400" b="1">
                <a:solidFill>
                  <a:srgbClr val="FF0000"/>
                </a:solidFill>
                <a:latin typeface="Calibri"/>
                <a:ea typeface="Calibri"/>
                <a:cs typeface="Calibri"/>
                <a:sym typeface="Calibri"/>
              </a:rPr>
              <a:t>outputs</a:t>
            </a:r>
            <a:r>
              <a:rPr lang="en-US" sz="2400">
                <a:solidFill>
                  <a:schemeClr val="dk1"/>
                </a:solidFill>
                <a:latin typeface="Calibri"/>
                <a:ea typeface="Calibri"/>
                <a:cs typeface="Calibri"/>
                <a:sym typeface="Calibri"/>
              </a:rPr>
              <a:t> at a </a:t>
            </a:r>
            <a:r>
              <a:rPr lang="en-US" sz="2400">
                <a:solidFill>
                  <a:srgbClr val="FF0000"/>
                </a:solidFill>
                <a:latin typeface="Calibri"/>
                <a:ea typeface="Calibri"/>
                <a:cs typeface="Calibri"/>
                <a:sym typeface="Calibri"/>
              </a:rPr>
              <a:t>finite rate</a:t>
            </a:r>
            <a:r>
              <a:rPr lang="en-US" sz="2400">
                <a:solidFill>
                  <a:schemeClr val="dk1"/>
                </a:solidFill>
                <a:latin typeface="Calibri"/>
                <a:ea typeface="Calibri"/>
                <a:cs typeface="Calibri"/>
                <a:sym typeface="Calibri"/>
              </a:rPr>
              <a:t>.</a:t>
            </a:r>
            <a:endParaRPr sz="2400" b="1">
              <a:solidFill>
                <a:schemeClr val="dk1"/>
              </a:solidFill>
              <a:latin typeface="Calibri"/>
              <a:ea typeface="Calibri"/>
              <a:cs typeface="Calibri"/>
              <a:sym typeface="Calibri"/>
            </a:endParaRPr>
          </a:p>
        </p:txBody>
      </p:sp>
      <p:pic>
        <p:nvPicPr>
          <p:cNvPr id="826" name="Google Shape;826;p91"/>
          <p:cNvPicPr preferRelativeResize="0"/>
          <p:nvPr/>
        </p:nvPicPr>
        <p:blipFill rotWithShape="1">
          <a:blip r:embed="rId3">
            <a:alphaModFix/>
          </a:blip>
          <a:srcRect/>
          <a:stretch/>
        </p:blipFill>
        <p:spPr>
          <a:xfrm>
            <a:off x="2410691" y="3016395"/>
            <a:ext cx="7571509" cy="3574039"/>
          </a:xfrm>
          <a:prstGeom prst="rect">
            <a:avLst/>
          </a:prstGeom>
          <a:noFill/>
          <a:ln>
            <a:noFill/>
          </a:ln>
        </p:spPr>
      </p:pic>
      <p:sp>
        <p:nvSpPr>
          <p:cNvPr id="827" name="Google Shape;827;p91"/>
          <p:cNvSpPr/>
          <p:nvPr/>
        </p:nvSpPr>
        <p:spPr>
          <a:xfrm>
            <a:off x="1865314" y="6488114"/>
            <a:ext cx="8116887"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 Figure 4-4. (a) A leaky bucket with water. (b) A leaky bucket with packets.</a:t>
            </a:r>
            <a:endParaRPr sz="1800">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92"/>
          <p:cNvSpPr txBox="1">
            <a:spLocks noGrp="1"/>
          </p:cNvSpPr>
          <p:nvPr>
            <p:ph type="body" idx="1"/>
          </p:nvPr>
        </p:nvSpPr>
        <p:spPr>
          <a:xfrm>
            <a:off x="193964" y="429491"/>
            <a:ext cx="6636327" cy="642851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lnSpc>
                <a:spcPct val="90000"/>
              </a:lnSpc>
              <a:spcBef>
                <a:spcPts val="0"/>
              </a:spcBef>
              <a:spcAft>
                <a:spcPts val="0"/>
              </a:spcAft>
              <a:buClr>
                <a:schemeClr val="dk1"/>
              </a:buClr>
              <a:buSzPct val="100000"/>
              <a:buChar char="•"/>
            </a:pPr>
            <a:r>
              <a:rPr lang="en-US"/>
              <a:t>In the ﬁgure, we assume that the network has committed a </a:t>
            </a:r>
            <a:r>
              <a:rPr lang="en-US" b="1"/>
              <a:t>bandwidth</a:t>
            </a:r>
            <a:r>
              <a:rPr lang="en-US"/>
              <a:t> of </a:t>
            </a:r>
            <a:r>
              <a:rPr lang="en-US">
                <a:solidFill>
                  <a:srgbClr val="FF0000"/>
                </a:solidFill>
              </a:rPr>
              <a:t>3 Mbps </a:t>
            </a:r>
            <a:r>
              <a:rPr lang="en-US"/>
              <a:t>for a host.</a:t>
            </a:r>
            <a:endParaRPr/>
          </a:p>
          <a:p>
            <a:pPr marL="342900" lvl="0" indent="-342900" algn="just" rtl="0">
              <a:lnSpc>
                <a:spcPct val="90000"/>
              </a:lnSpc>
              <a:spcBef>
                <a:spcPts val="1000"/>
              </a:spcBef>
              <a:spcAft>
                <a:spcPts val="0"/>
              </a:spcAft>
              <a:buClr>
                <a:schemeClr val="dk1"/>
              </a:buClr>
              <a:buSzPct val="100000"/>
              <a:buChar char="•"/>
            </a:pPr>
            <a:r>
              <a:rPr lang="en-US"/>
              <a:t> The use of the leaky bucket shapes the </a:t>
            </a:r>
            <a:r>
              <a:rPr lang="en-US">
                <a:solidFill>
                  <a:srgbClr val="FF0000"/>
                </a:solidFill>
              </a:rPr>
              <a:t>input traffic </a:t>
            </a:r>
            <a:r>
              <a:rPr lang="en-US"/>
              <a:t>to make it </a:t>
            </a:r>
            <a:r>
              <a:rPr lang="en-US">
                <a:solidFill>
                  <a:srgbClr val="00B050"/>
                </a:solidFill>
              </a:rPr>
              <a:t>conform to this commitment</a:t>
            </a:r>
            <a:r>
              <a:rPr lang="en-US"/>
              <a:t>.</a:t>
            </a:r>
            <a:endParaRPr/>
          </a:p>
          <a:p>
            <a:pPr marL="342900" lvl="0" indent="-342900" algn="just" rtl="0">
              <a:lnSpc>
                <a:spcPct val="90000"/>
              </a:lnSpc>
              <a:spcBef>
                <a:spcPts val="1000"/>
              </a:spcBef>
              <a:spcAft>
                <a:spcPts val="0"/>
              </a:spcAft>
              <a:buClr>
                <a:schemeClr val="dk1"/>
              </a:buClr>
              <a:buSzPct val="100000"/>
              <a:buChar char="•"/>
            </a:pPr>
            <a:r>
              <a:rPr lang="en-US"/>
              <a:t> In Figure the </a:t>
            </a:r>
            <a:r>
              <a:rPr lang="en-US">
                <a:solidFill>
                  <a:srgbClr val="FF0000"/>
                </a:solidFill>
              </a:rPr>
              <a:t>host sends </a:t>
            </a:r>
            <a:r>
              <a:rPr lang="en-US"/>
              <a:t>a burst of data at a rate of </a:t>
            </a:r>
            <a:r>
              <a:rPr lang="en-US">
                <a:solidFill>
                  <a:srgbClr val="00B050"/>
                </a:solidFill>
              </a:rPr>
              <a:t>12 Mbps for 2 s</a:t>
            </a:r>
            <a:r>
              <a:rPr lang="en-US"/>
              <a:t>, for a total of </a:t>
            </a:r>
            <a:r>
              <a:rPr lang="en-US">
                <a:solidFill>
                  <a:srgbClr val="FF0000"/>
                </a:solidFill>
              </a:rPr>
              <a:t>24 Mbits </a:t>
            </a:r>
            <a:r>
              <a:rPr lang="en-US"/>
              <a:t>of data. </a:t>
            </a:r>
            <a:endParaRPr/>
          </a:p>
          <a:p>
            <a:pPr marL="342900" lvl="0" indent="-342900" algn="just" rtl="0">
              <a:lnSpc>
                <a:spcPct val="90000"/>
              </a:lnSpc>
              <a:spcBef>
                <a:spcPts val="1000"/>
              </a:spcBef>
              <a:spcAft>
                <a:spcPts val="0"/>
              </a:spcAft>
              <a:buClr>
                <a:schemeClr val="dk1"/>
              </a:buClr>
              <a:buSzPct val="100000"/>
              <a:buChar char="•"/>
            </a:pPr>
            <a:r>
              <a:rPr lang="en-US"/>
              <a:t>The host is </a:t>
            </a:r>
            <a:r>
              <a:rPr lang="en-US">
                <a:solidFill>
                  <a:srgbClr val="FF0000"/>
                </a:solidFill>
              </a:rPr>
              <a:t>silent for 5 s </a:t>
            </a:r>
            <a:r>
              <a:rPr lang="en-US"/>
              <a:t>and </a:t>
            </a:r>
            <a:r>
              <a:rPr lang="en-US">
                <a:solidFill>
                  <a:srgbClr val="FF0000"/>
                </a:solidFill>
              </a:rPr>
              <a:t>then sends </a:t>
            </a:r>
            <a:r>
              <a:rPr lang="en-US"/>
              <a:t>data at a </a:t>
            </a:r>
            <a:r>
              <a:rPr lang="en-US">
                <a:solidFill>
                  <a:srgbClr val="00B050"/>
                </a:solidFill>
              </a:rPr>
              <a:t>rate of 2 Mbps for 3 s</a:t>
            </a:r>
            <a:r>
              <a:rPr lang="en-US"/>
              <a:t>, for a total of 6 Mbits of data. </a:t>
            </a:r>
            <a:endParaRPr/>
          </a:p>
          <a:p>
            <a:pPr marL="342900" lvl="0" indent="-342900" algn="just" rtl="0">
              <a:lnSpc>
                <a:spcPct val="90000"/>
              </a:lnSpc>
              <a:spcBef>
                <a:spcPts val="1000"/>
              </a:spcBef>
              <a:spcAft>
                <a:spcPts val="0"/>
              </a:spcAft>
              <a:buClr>
                <a:schemeClr val="dk1"/>
              </a:buClr>
              <a:buSzPct val="100000"/>
              <a:buChar char="•"/>
            </a:pPr>
            <a:r>
              <a:rPr lang="en-US"/>
              <a:t>In all, the host has sent </a:t>
            </a:r>
            <a:r>
              <a:rPr lang="en-US">
                <a:solidFill>
                  <a:srgbClr val="00B050"/>
                </a:solidFill>
              </a:rPr>
              <a:t>30 Mbits of data in 10 s. </a:t>
            </a:r>
            <a:endParaRPr/>
          </a:p>
          <a:p>
            <a:pPr marL="342900" lvl="0" indent="-342900" algn="just" rtl="0">
              <a:lnSpc>
                <a:spcPct val="90000"/>
              </a:lnSpc>
              <a:spcBef>
                <a:spcPts val="1000"/>
              </a:spcBef>
              <a:spcAft>
                <a:spcPts val="0"/>
              </a:spcAft>
              <a:buClr>
                <a:schemeClr val="dk1"/>
              </a:buClr>
              <a:buSzPct val="100000"/>
              <a:buChar char="•"/>
            </a:pPr>
            <a:r>
              <a:rPr lang="en-US"/>
              <a:t>The </a:t>
            </a:r>
            <a:r>
              <a:rPr lang="en-US" b="1"/>
              <a:t>leaky bucket </a:t>
            </a:r>
            <a:r>
              <a:rPr lang="en-US">
                <a:solidFill>
                  <a:srgbClr val="FF0000"/>
                </a:solidFill>
              </a:rPr>
              <a:t>smooths the trafﬁc</a:t>
            </a:r>
            <a:r>
              <a:rPr lang="en-US"/>
              <a:t> by sending out data at a rate of </a:t>
            </a:r>
            <a:r>
              <a:rPr lang="en-US">
                <a:solidFill>
                  <a:srgbClr val="00B050"/>
                </a:solidFill>
              </a:rPr>
              <a:t>3 Mbps during the same 10 s</a:t>
            </a:r>
            <a:r>
              <a:rPr lang="en-US" sz="3600">
                <a:solidFill>
                  <a:srgbClr val="00B050"/>
                </a:solidFill>
              </a:rPr>
              <a:t>. </a:t>
            </a:r>
            <a:endParaRPr/>
          </a:p>
        </p:txBody>
      </p:sp>
      <p:sp>
        <p:nvSpPr>
          <p:cNvPr id="833" name="Google Shape;833;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111</a:t>
            </a:fld>
            <a:endParaRPr sz="1200">
              <a:solidFill>
                <a:schemeClr val="dk1"/>
              </a:solidFill>
              <a:latin typeface="Times New Roman"/>
              <a:ea typeface="Times New Roman"/>
              <a:cs typeface="Times New Roman"/>
              <a:sym typeface="Times New Roman"/>
            </a:endParaRPr>
          </a:p>
        </p:txBody>
      </p:sp>
      <p:pic>
        <p:nvPicPr>
          <p:cNvPr id="834" name="Google Shape;834;p92"/>
          <p:cNvPicPr preferRelativeResize="0"/>
          <p:nvPr/>
        </p:nvPicPr>
        <p:blipFill rotWithShape="1">
          <a:blip r:embed="rId3">
            <a:alphaModFix/>
          </a:blip>
          <a:srcRect/>
          <a:stretch/>
        </p:blipFill>
        <p:spPr>
          <a:xfrm>
            <a:off x="7010400" y="1367562"/>
            <a:ext cx="4987636" cy="372427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The Leaky Bucket Algorithm</a:t>
            </a:r>
            <a:r>
              <a:rPr lang="en-US" sz="4000" b="1">
                <a:latin typeface="Meiryo"/>
                <a:ea typeface="Meiryo"/>
                <a:cs typeface="Meiryo"/>
                <a:sym typeface="Meiryo"/>
              </a:rPr>
              <a:t/>
            </a:r>
            <a:br>
              <a:rPr lang="en-US" sz="4000" b="1">
                <a:latin typeface="Meiryo"/>
                <a:ea typeface="Meiryo"/>
                <a:cs typeface="Meiryo"/>
                <a:sym typeface="Meiryo"/>
              </a:rPr>
            </a:br>
            <a:endParaRPr/>
          </a:p>
        </p:txBody>
      </p:sp>
      <p:sp>
        <p:nvSpPr>
          <p:cNvPr id="840" name="Google Shape;840;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112</a:t>
            </a:fld>
            <a:endParaRPr sz="1200">
              <a:solidFill>
                <a:schemeClr val="dk1"/>
              </a:solidFill>
              <a:latin typeface="Times New Roman"/>
              <a:ea typeface="Times New Roman"/>
              <a:cs typeface="Times New Roman"/>
              <a:sym typeface="Times New Roman"/>
            </a:endParaRPr>
          </a:p>
        </p:txBody>
      </p:sp>
      <p:sp>
        <p:nvSpPr>
          <p:cNvPr id="841" name="Google Shape;841;p93"/>
          <p:cNvSpPr/>
          <p:nvPr/>
        </p:nvSpPr>
        <p:spPr>
          <a:xfrm>
            <a:off x="838201" y="4257675"/>
            <a:ext cx="10855036" cy="1352550"/>
          </a:xfrm>
          <a:prstGeom prst="rect">
            <a:avLst/>
          </a:prstGeom>
          <a:noFill/>
          <a:ln>
            <a:noFill/>
          </a:ln>
        </p:spPr>
        <p:txBody>
          <a:bodyPr spcFirstLastPara="1" wrap="square" lIns="91425" tIns="45700" rIns="91425" bIns="45700" anchor="t" anchorCtr="0">
            <a:spAutoFit/>
          </a:bodyPr>
          <a:lstStyle/>
          <a:p>
            <a:pPr marL="342900" marR="0" lvl="0" indent="-285750" algn="just" rtl="0">
              <a:lnSpc>
                <a:spcPct val="108000"/>
              </a:lnSpc>
              <a:spcBef>
                <a:spcPts val="0"/>
              </a:spcBef>
              <a:spcAft>
                <a:spcPts val="0"/>
              </a:spcAft>
              <a:buClr>
                <a:srgbClr val="231F20"/>
              </a:buClr>
              <a:buSzPts val="2400"/>
              <a:buFont typeface="Arial"/>
              <a:buChar char="•"/>
            </a:pPr>
            <a:r>
              <a:rPr lang="en-US" sz="2400">
                <a:solidFill>
                  <a:srgbClr val="231F20"/>
                </a:solidFill>
                <a:latin typeface="Calibri"/>
                <a:ea typeface="Calibri"/>
                <a:cs typeface="Calibri"/>
                <a:sym typeface="Calibri"/>
              </a:rPr>
              <a:t>A leaky bucket algorithm </a:t>
            </a:r>
            <a:r>
              <a:rPr lang="en-US" sz="2400">
                <a:solidFill>
                  <a:srgbClr val="FF0000"/>
                </a:solidFill>
                <a:latin typeface="Calibri"/>
                <a:ea typeface="Calibri"/>
                <a:cs typeface="Calibri"/>
                <a:sym typeface="Calibri"/>
              </a:rPr>
              <a:t>shapes bursty trafﬁc </a:t>
            </a:r>
            <a:r>
              <a:rPr lang="en-US" sz="2400">
                <a:solidFill>
                  <a:srgbClr val="231F20"/>
                </a:solidFill>
                <a:latin typeface="Calibri"/>
                <a:ea typeface="Calibri"/>
                <a:cs typeface="Calibri"/>
                <a:sym typeface="Calibri"/>
              </a:rPr>
              <a:t>into </a:t>
            </a:r>
            <a:r>
              <a:rPr lang="en-US" sz="2400">
                <a:solidFill>
                  <a:srgbClr val="00B050"/>
                </a:solidFill>
                <a:latin typeface="Calibri"/>
                <a:ea typeface="Calibri"/>
                <a:cs typeface="Calibri"/>
                <a:sym typeface="Calibri"/>
              </a:rPr>
              <a:t>ﬁxed-rate trafﬁc by averaging the data rate.</a:t>
            </a:r>
            <a:endParaRPr/>
          </a:p>
          <a:p>
            <a:pPr marL="342900" marR="0" lvl="0" indent="-285750" algn="just" rtl="0">
              <a:lnSpc>
                <a:spcPct val="108000"/>
              </a:lnSpc>
              <a:spcBef>
                <a:spcPts val="513"/>
              </a:spcBef>
              <a:spcAft>
                <a:spcPts val="0"/>
              </a:spcAft>
              <a:buClr>
                <a:srgbClr val="231F20"/>
              </a:buClr>
              <a:buSzPts val="2400"/>
              <a:buFont typeface="Arial"/>
              <a:buChar char="•"/>
            </a:pPr>
            <a:r>
              <a:rPr lang="en-US" sz="2400">
                <a:solidFill>
                  <a:srgbClr val="231F20"/>
                </a:solidFill>
                <a:latin typeface="Calibri"/>
                <a:ea typeface="Calibri"/>
                <a:cs typeface="Calibri"/>
                <a:sym typeface="Calibri"/>
              </a:rPr>
              <a:t> It may </a:t>
            </a:r>
            <a:r>
              <a:rPr lang="en-US" sz="2400">
                <a:solidFill>
                  <a:srgbClr val="FF0000"/>
                </a:solidFill>
                <a:latin typeface="Calibri"/>
                <a:ea typeface="Calibri"/>
                <a:cs typeface="Calibri"/>
                <a:sym typeface="Calibri"/>
              </a:rPr>
              <a:t>drop the packets </a:t>
            </a:r>
            <a:r>
              <a:rPr lang="en-US" sz="2400">
                <a:solidFill>
                  <a:srgbClr val="231F20"/>
                </a:solidFill>
                <a:latin typeface="Calibri"/>
                <a:ea typeface="Calibri"/>
                <a:cs typeface="Calibri"/>
                <a:sym typeface="Calibri"/>
              </a:rPr>
              <a:t>if the </a:t>
            </a:r>
            <a:r>
              <a:rPr lang="en-US" sz="2400">
                <a:solidFill>
                  <a:srgbClr val="00B050"/>
                </a:solidFill>
                <a:latin typeface="Calibri"/>
                <a:ea typeface="Calibri"/>
                <a:cs typeface="Calibri"/>
                <a:sym typeface="Calibri"/>
              </a:rPr>
              <a:t>bucket is full</a:t>
            </a:r>
            <a:r>
              <a:rPr lang="en-US" sz="2400">
                <a:solidFill>
                  <a:srgbClr val="231F20"/>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pic>
        <p:nvPicPr>
          <p:cNvPr id="842" name="Google Shape;842;p93"/>
          <p:cNvPicPr preferRelativeResize="0"/>
          <p:nvPr/>
        </p:nvPicPr>
        <p:blipFill rotWithShape="1">
          <a:blip r:embed="rId3">
            <a:alphaModFix/>
          </a:blip>
          <a:srcRect/>
          <a:stretch/>
        </p:blipFill>
        <p:spPr>
          <a:xfrm>
            <a:off x="1709738" y="1300164"/>
            <a:ext cx="8443912" cy="2414587"/>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113</a:t>
            </a:fld>
            <a:endParaRPr sz="1200">
              <a:solidFill>
                <a:schemeClr val="dk1"/>
              </a:solidFill>
              <a:latin typeface="Times New Roman"/>
              <a:ea typeface="Times New Roman"/>
              <a:cs typeface="Times New Roman"/>
              <a:sym typeface="Times New Roman"/>
            </a:endParaRPr>
          </a:p>
        </p:txBody>
      </p:sp>
      <p:sp>
        <p:nvSpPr>
          <p:cNvPr id="848" name="Google Shape;848;p94"/>
          <p:cNvSpPr/>
          <p:nvPr/>
        </p:nvSpPr>
        <p:spPr>
          <a:xfrm>
            <a:off x="277091" y="428178"/>
            <a:ext cx="11637817" cy="6555600"/>
          </a:xfrm>
          <a:prstGeom prst="rect">
            <a:avLst/>
          </a:prstGeom>
          <a:noFill/>
          <a:ln>
            <a:noFill/>
          </a:ln>
        </p:spPr>
        <p:txBody>
          <a:bodyPr spcFirstLastPara="1" wrap="square" lIns="91425" tIns="45700" rIns="91425" bIns="45700" anchor="t" anchorCtr="0">
            <a:spAutoFit/>
          </a:bodyPr>
          <a:lstStyle/>
          <a:p>
            <a:pPr marL="279400" marR="0" lvl="0" indent="-279400" algn="just" rtl="0">
              <a:lnSpc>
                <a:spcPct val="150000"/>
              </a:lnSpc>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This can be implemented as follows. </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On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sender</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time-dependent queue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ensures that an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equal amount of data units is send per time interval.</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On the one hand,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data can be put fast into the queue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until it is full</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On the other hand,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data always leave the queue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the same rate.</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If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queue is full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no more packets can be stored</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in it and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packet loss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occurs. </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If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queue is empty</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no data leaves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the queue. </a:t>
            </a:r>
            <a:endParaRPr sz="2800" dirty="0">
              <a:latin typeface="Times New Roman" panose="02020603050405020304" pitchFamily="18" charset="0"/>
              <a:cs typeface="Times New Roman" panose="02020603050405020304" pitchFamily="18" charset="0"/>
            </a:endParaRPr>
          </a:p>
          <a:p>
            <a:pPr marL="801688" marR="0" lvl="0" indent="-285750" algn="just" rtl="0">
              <a:lnSpc>
                <a:spcPct val="150000"/>
              </a:lnSpc>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The Leaky Bucket algorithm can be implemented for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packets or a constant amount of bytes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send within each time interval. </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8040A2-5060-402A-B804-2E9B72671BA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D874EAC1-25DE-473D-9701-DCCE2978917F}"/>
              </a:ext>
            </a:extLst>
          </p:cNvPr>
          <p:cNvSpPr>
            <a:spLocks noGrp="1"/>
          </p:cNvSpPr>
          <p:nvPr>
            <p:ph type="body" idx="1"/>
          </p:nvPr>
        </p:nvSpPr>
        <p:spPr/>
        <p:txBody>
          <a:bodyPr/>
          <a:lstStyle/>
          <a:p>
            <a:endParaRPr lang="en-IN"/>
          </a:p>
        </p:txBody>
      </p:sp>
      <p:sp>
        <p:nvSpPr>
          <p:cNvPr id="5" name="TextBox 4">
            <a:extLst>
              <a:ext uri="{FF2B5EF4-FFF2-40B4-BE49-F238E27FC236}">
                <a16:creationId xmlns:a16="http://schemas.microsoft.com/office/drawing/2014/main" xmlns="" id="{48AB1E88-B5BD-4C23-85B8-9CF882FDD604}"/>
              </a:ext>
            </a:extLst>
          </p:cNvPr>
          <p:cNvSpPr txBox="1"/>
          <p:nvPr/>
        </p:nvSpPr>
        <p:spPr>
          <a:xfrm>
            <a:off x="835377" y="1491425"/>
            <a:ext cx="10515600" cy="3539430"/>
          </a:xfrm>
          <a:prstGeom prst="rect">
            <a:avLst/>
          </a:prstGeom>
          <a:noFill/>
        </p:spPr>
        <p:txBody>
          <a:bodyPr wrap="square">
            <a:spAutoFit/>
          </a:bodyPr>
          <a:lstStyle/>
          <a:p>
            <a:pPr marL="279400" marR="0" lvl="0" indent="-279400" algn="just" rtl="0">
              <a:spcBef>
                <a:spcPts val="0"/>
              </a:spcBef>
              <a:spcAft>
                <a:spcPts val="0"/>
              </a:spcAft>
              <a:buClr>
                <a:schemeClr val="dk1"/>
              </a:buClr>
              <a:buSzPts val="24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Conceptually each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network interface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contains a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leaky bucket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And the following steps are performed: </a:t>
            </a:r>
            <a:endParaRPr lang="en-US" sz="28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746125" marR="0" lvl="0" indent="-407988" algn="just" rtl="0">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When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host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has to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send a packet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the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packet is thrown into the bucket.</a:t>
            </a:r>
            <a:endParaRPr lang="en-US" sz="2800" b="1" dirty="0">
              <a:solidFill>
                <a:srgbClr val="00B050"/>
              </a:solidFill>
              <a:latin typeface="Times New Roman" panose="02020603050405020304" pitchFamily="18" charset="0"/>
              <a:ea typeface="Calibri"/>
              <a:cs typeface="Times New Roman" panose="02020603050405020304" pitchFamily="18" charset="0"/>
              <a:sym typeface="Calibri"/>
            </a:endParaRPr>
          </a:p>
          <a:p>
            <a:pPr marL="746125" marR="0" lvl="0" indent="-407988" algn="just" rtl="0">
              <a:spcBef>
                <a:spcPts val="0"/>
              </a:spcBef>
              <a:spcAft>
                <a:spcPts val="0"/>
              </a:spcAft>
              <a:buClr>
                <a:schemeClr val="dk1"/>
              </a:buClr>
              <a:buSzPts val="2400"/>
              <a:buFont typeface="Noto Sans Symbols"/>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bucket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leaks at a constant rate</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meaning the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network interface transmits packets at a constant rate.</a:t>
            </a:r>
            <a:endParaRPr lang="en-US" sz="2800" b="1" dirty="0">
              <a:solidFill>
                <a:srgbClr val="00B050"/>
              </a:solidFill>
              <a:latin typeface="Times New Roman" panose="02020603050405020304" pitchFamily="18" charset="0"/>
              <a:ea typeface="Calibri"/>
              <a:cs typeface="Times New Roman" panose="02020603050405020304" pitchFamily="18" charset="0"/>
              <a:sym typeface="Calibri"/>
            </a:endParaRPr>
          </a:p>
          <a:p>
            <a:pPr marL="746125" marR="0" lvl="0" indent="-407988" algn="just" rtl="0">
              <a:spcBef>
                <a:spcPts val="0"/>
              </a:spcBef>
              <a:spcAft>
                <a:spcPts val="0"/>
              </a:spcAft>
              <a:buClr>
                <a:schemeClr val="dk1"/>
              </a:buClr>
              <a:buSzPts val="2400"/>
              <a:buFont typeface="Noto Sans Symbols"/>
              <a:buChar char="✔"/>
            </a:pP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Burst traffic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is converted to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uniform traffic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by 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leaky bucket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a:r>
            <a:endParaRPr lang="en-US" sz="28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2117016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115</a:t>
            </a:fld>
            <a:endParaRPr sz="1200">
              <a:solidFill>
                <a:schemeClr val="dk1"/>
              </a:solidFill>
              <a:latin typeface="Times New Roman"/>
              <a:ea typeface="Times New Roman"/>
              <a:cs typeface="Times New Roman"/>
              <a:sym typeface="Times New Roman"/>
            </a:endParaRPr>
          </a:p>
        </p:txBody>
      </p:sp>
      <p:sp>
        <p:nvSpPr>
          <p:cNvPr id="854" name="Google Shape;854;p95"/>
          <p:cNvSpPr/>
          <p:nvPr/>
        </p:nvSpPr>
        <p:spPr>
          <a:xfrm>
            <a:off x="277092" y="169335"/>
            <a:ext cx="11720944" cy="6534056"/>
          </a:xfrm>
          <a:prstGeom prst="rect">
            <a:avLst/>
          </a:prstGeom>
          <a:noFill/>
          <a:ln>
            <a:noFill/>
          </a:ln>
        </p:spPr>
        <p:txBody>
          <a:bodyPr spcFirstLastPara="1" wrap="square" lIns="91425" tIns="45700" rIns="91425" bIns="45700" anchor="t" anchorCtr="0">
            <a:spAutoFit/>
          </a:bodyPr>
          <a:lstStyle/>
          <a:p>
            <a:pPr marL="57150" marR="0" lvl="0" indent="0" algn="just" rtl="0">
              <a:lnSpc>
                <a:spcPct val="115000"/>
              </a:lnSpc>
              <a:spcBef>
                <a:spcPts val="0"/>
              </a:spcBef>
              <a:spcAft>
                <a:spcPts val="0"/>
              </a:spcAft>
              <a:buNone/>
            </a:pP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The Token Bucket Algorithm</a:t>
            </a:r>
            <a:endParaRPr sz="28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leaky bucket algorithm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enforces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rigid output pattern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average rate</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no matter how </a:t>
            </a:r>
            <a:r>
              <a:rPr lang="en-US" sz="2800" dirty="0" err="1">
                <a:solidFill>
                  <a:schemeClr val="dk1"/>
                </a:solidFill>
                <a:latin typeface="Times New Roman" panose="02020603050405020304" pitchFamily="18" charset="0"/>
                <a:ea typeface="Calibri"/>
                <a:cs typeface="Times New Roman" panose="02020603050405020304" pitchFamily="18" charset="0"/>
                <a:sym typeface="Calibri"/>
              </a:rPr>
              <a:t>bursty</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the traffic is. </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For many applications, it is better to allow 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output to speed up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somewhat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when large bursts arrive. </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One such algorithm is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token bucket algorithm</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In this algorithm, the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leaky bucket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holds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tokens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generated by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a clock at the rate of </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one token every </a:t>
            </a:r>
            <a:r>
              <a:rPr lang="el-GR" sz="2800" b="1" dirty="0">
                <a:solidFill>
                  <a:srgbClr val="FF0000"/>
                </a:solidFill>
                <a:latin typeface="Times New Roman" panose="02020603050405020304" pitchFamily="18" charset="0"/>
                <a:ea typeface="Calibri"/>
                <a:cs typeface="Times New Roman" panose="02020603050405020304" pitchFamily="18" charset="0"/>
                <a:sym typeface="Calibri"/>
              </a:rPr>
              <a:t>Δ</a:t>
            </a:r>
            <a:r>
              <a:rPr lang="en-US" sz="2800" b="1" dirty="0">
                <a:solidFill>
                  <a:srgbClr val="FF0000"/>
                </a:solidFill>
                <a:latin typeface="Times New Roman" panose="02020603050405020304" pitchFamily="18" charset="0"/>
                <a:ea typeface="Calibri"/>
                <a:cs typeface="Times New Roman" panose="02020603050405020304" pitchFamily="18" charset="0"/>
                <a:sym typeface="Calibri"/>
              </a:rPr>
              <a:t>T sec. </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In Fig. 4-5(a) a</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 bucket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is holding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three tokens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with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five packets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waiting to be transmitted. </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For a </a:t>
            </a:r>
            <a:r>
              <a:rPr lang="en-US" sz="2800" b="1" dirty="0">
                <a:solidFill>
                  <a:schemeClr val="dk1"/>
                </a:solidFill>
                <a:latin typeface="Times New Roman" panose="02020603050405020304" pitchFamily="18" charset="0"/>
                <a:ea typeface="Calibri"/>
                <a:cs typeface="Times New Roman" panose="02020603050405020304" pitchFamily="18" charset="0"/>
                <a:sym typeface="Calibri"/>
              </a:rPr>
              <a:t>packet</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to be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transmitted</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it must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capture and destroy one token</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a:t>
            </a:r>
            <a:endParaRPr sz="2800" dirty="0">
              <a:latin typeface="Times New Roman" panose="02020603050405020304" pitchFamily="18" charset="0"/>
              <a:cs typeface="Times New Roman" panose="02020603050405020304" pitchFamily="18" charset="0"/>
            </a:endParaRPr>
          </a:p>
          <a:p>
            <a:pPr marL="342900" marR="0" lvl="0" indent="-285750" algn="just" rtl="0">
              <a:lnSpc>
                <a:spcPct val="115000"/>
              </a:lnSpc>
              <a:spcBef>
                <a:spcPts val="0"/>
              </a:spcBef>
              <a:spcAft>
                <a:spcPts val="0"/>
              </a:spcAft>
              <a:buClr>
                <a:schemeClr val="dk1"/>
              </a:buClr>
              <a:buSzPts val="2000"/>
              <a:buFont typeface="Arial"/>
              <a:buChar char="•"/>
            </a:pP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In Fig. 4-5(b) three of the </a:t>
            </a: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five packets </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have gotten through, but the </a:t>
            </a:r>
            <a:r>
              <a:rPr lang="en-US" sz="2800" dirty="0">
                <a:solidFill>
                  <a:srgbClr val="00B050"/>
                </a:solidFill>
                <a:latin typeface="Times New Roman" panose="02020603050405020304" pitchFamily="18" charset="0"/>
                <a:ea typeface="Calibri"/>
                <a:cs typeface="Times New Roman" panose="02020603050405020304" pitchFamily="18" charset="0"/>
                <a:sym typeface="Calibri"/>
              </a:rPr>
              <a:t>other two are stuck waiting for two more tokens</a:t>
            </a:r>
            <a:r>
              <a:rPr lang="en-US" sz="2800" dirty="0">
                <a:solidFill>
                  <a:schemeClr val="dk1"/>
                </a:solidFill>
                <a:latin typeface="Times New Roman" panose="02020603050405020304" pitchFamily="18" charset="0"/>
                <a:ea typeface="Calibri"/>
                <a:cs typeface="Times New Roman" panose="02020603050405020304" pitchFamily="18" charset="0"/>
                <a:sym typeface="Calibri"/>
              </a:rPr>
              <a:t> to be generated.</a:t>
            </a:r>
            <a:endParaRPr sz="28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CE42CC-8A91-403C-B8A5-CFED4FC6D0F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24FF8D13-AFD0-47EB-BECD-A3CE13CFCFFB}"/>
              </a:ext>
            </a:extLst>
          </p:cNvPr>
          <p:cNvSpPr>
            <a:spLocks noGrp="1"/>
          </p:cNvSpPr>
          <p:nvPr>
            <p:ph type="body" idx="1"/>
          </p:nvPr>
        </p:nvSpPr>
        <p:spPr>
          <a:xfrm>
            <a:off x="1061156" y="4967111"/>
            <a:ext cx="10292644" cy="1209852"/>
          </a:xfrm>
        </p:spPr>
        <p:txBody>
          <a:bodyPr/>
          <a:lstStyle/>
          <a:p>
            <a:pPr marL="114300" indent="0">
              <a:buNone/>
            </a:pPr>
            <a:r>
              <a:rPr lang="en-US" sz="2800" dirty="0">
                <a:solidFill>
                  <a:schemeClr val="dk1"/>
                </a:solidFill>
                <a:latin typeface="Times New Roman"/>
                <a:ea typeface="Times New Roman"/>
                <a:cs typeface="Times New Roman"/>
                <a:sym typeface="Times New Roman"/>
              </a:rPr>
              <a:t>Figure 4-5. The token bucket algorithm. (a) Before. (b) After.</a:t>
            </a:r>
            <a:endParaRPr lang="en-US" sz="2400" b="1" dirty="0">
              <a:solidFill>
                <a:schemeClr val="dk1"/>
              </a:solidFill>
              <a:latin typeface="Meiryo"/>
              <a:ea typeface="Meiryo"/>
              <a:cs typeface="Meiryo"/>
              <a:sym typeface="Meiryo"/>
            </a:endParaRPr>
          </a:p>
          <a:p>
            <a:endParaRPr lang="en-IN" dirty="0"/>
          </a:p>
        </p:txBody>
      </p:sp>
      <p:pic>
        <p:nvPicPr>
          <p:cNvPr id="4" name="Google Shape;855;p95">
            <a:extLst>
              <a:ext uri="{FF2B5EF4-FFF2-40B4-BE49-F238E27FC236}">
                <a16:creationId xmlns:a16="http://schemas.microsoft.com/office/drawing/2014/main" xmlns="" id="{F17D3D62-4210-44E9-B31F-7CDC00E5BAFE}"/>
              </a:ext>
            </a:extLst>
          </p:cNvPr>
          <p:cNvPicPr preferRelativeResize="0"/>
          <p:nvPr/>
        </p:nvPicPr>
        <p:blipFill rotWithShape="1">
          <a:blip r:embed="rId2">
            <a:alphaModFix/>
          </a:blip>
          <a:srcRect/>
          <a:stretch/>
        </p:blipFill>
        <p:spPr>
          <a:xfrm>
            <a:off x="2088445" y="681037"/>
            <a:ext cx="7302885" cy="4084637"/>
          </a:xfrm>
          <a:prstGeom prst="rect">
            <a:avLst/>
          </a:prstGeom>
          <a:noFill/>
          <a:ln>
            <a:noFill/>
          </a:ln>
        </p:spPr>
      </p:pic>
    </p:spTree>
    <p:extLst>
      <p:ext uri="{BB962C8B-B14F-4D97-AF65-F5344CB8AC3E}">
        <p14:creationId xmlns:p14="http://schemas.microsoft.com/office/powerpoint/2010/main" val="29543586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AD16B5-D0D0-4BD3-B213-C9827EC255C3}"/>
              </a:ext>
            </a:extLst>
          </p:cNvPr>
          <p:cNvSpPr>
            <a:spLocks noGrp="1"/>
          </p:cNvSpPr>
          <p:nvPr>
            <p:ph type="title"/>
          </p:nvPr>
        </p:nvSpPr>
        <p:spPr/>
        <p:txBody>
          <a:bodyPr/>
          <a:lstStyle/>
          <a:p>
            <a:r>
              <a:rPr lang="en-IN" dirty="0"/>
              <a:t>Tutorial</a:t>
            </a:r>
          </a:p>
        </p:txBody>
      </p:sp>
      <p:sp>
        <p:nvSpPr>
          <p:cNvPr id="3" name="Text Placeholder 2">
            <a:extLst>
              <a:ext uri="{FF2B5EF4-FFF2-40B4-BE49-F238E27FC236}">
                <a16:creationId xmlns:a16="http://schemas.microsoft.com/office/drawing/2014/main" xmlns="" id="{6F652B56-047E-4114-A0D7-432C23715662}"/>
              </a:ext>
            </a:extLst>
          </p:cNvPr>
          <p:cNvSpPr>
            <a:spLocks noGrp="1"/>
          </p:cNvSpPr>
          <p:nvPr>
            <p:ph type="body" idx="1"/>
          </p:nvPr>
        </p:nvSpPr>
        <p:spPr/>
        <p:txBody>
          <a:bodyPr>
            <a:normAutofit/>
          </a:bodyPr>
          <a:lstStyle/>
          <a:p>
            <a:pPr algn="just">
              <a:lnSpc>
                <a:spcPct val="150000"/>
              </a:lnSpc>
            </a:pPr>
            <a:r>
              <a:rPr lang="en-US" b="0" i="0" u="none" strike="noStrike" baseline="0" dirty="0">
                <a:latin typeface="TimesNewRomanPSMT"/>
              </a:rPr>
              <a:t>A computer on a 6-Mbps network is regulated by a token bucket. The token bucket is filled at a rate of 1 Mbps. It is initially filled to capacity with 8 megabits. How long can the computer transmit at the full 6 Mbps?</a:t>
            </a:r>
            <a:endParaRPr lang="en-IN" dirty="0"/>
          </a:p>
        </p:txBody>
      </p:sp>
    </p:spTree>
    <p:extLst>
      <p:ext uri="{BB962C8B-B14F-4D97-AF65-F5344CB8AC3E}">
        <p14:creationId xmlns:p14="http://schemas.microsoft.com/office/powerpoint/2010/main" val="17343914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CC0CA1-4FAE-4655-B679-C4AF8C7A191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xmlns="" id="{391A6D45-2302-4A8B-9F79-3E474FD4F851}"/>
              </a:ext>
            </a:extLst>
          </p:cNvPr>
          <p:cNvSpPr>
            <a:spLocks noGrp="1"/>
          </p:cNvSpPr>
          <p:nvPr>
            <p:ph type="body" idx="1"/>
          </p:nvPr>
        </p:nvSpPr>
        <p:spPr>
          <a:xfrm>
            <a:off x="838200" y="936978"/>
            <a:ext cx="10515600" cy="5239985"/>
          </a:xfrm>
        </p:spPr>
        <p:txBody>
          <a:bodyPr/>
          <a:lstStyle/>
          <a:p>
            <a:r>
              <a:rPr lang="en-US" b="0" i="0" dirty="0">
                <a:solidFill>
                  <a:srgbClr val="040304"/>
                </a:solidFill>
                <a:effectLst/>
                <a:latin typeface="Times New Roman" panose="02020603050405020304" pitchFamily="18" charset="0"/>
                <a:cs typeface="Times New Roman" panose="02020603050405020304" pitchFamily="18" charset="0"/>
              </a:rPr>
              <a:t>Max transmission rate, M=6 Mbps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40304"/>
                </a:solidFill>
                <a:effectLst/>
                <a:latin typeface="Times New Roman" panose="02020603050405020304" pitchFamily="18" charset="0"/>
                <a:cs typeface="Times New Roman" panose="02020603050405020304" pitchFamily="18" charset="0"/>
              </a:rPr>
              <a:t>Token arrival rate, R=1 Mbps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40304"/>
                </a:solidFill>
                <a:effectLst/>
                <a:latin typeface="Times New Roman" panose="02020603050405020304" pitchFamily="18" charset="0"/>
                <a:cs typeface="Times New Roman" panose="02020603050405020304" pitchFamily="18" charset="0"/>
              </a:rPr>
              <a:t>Capacity of token bucket, C=8 Mb</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0" i="0" dirty="0">
                <a:solidFill>
                  <a:srgbClr val="040304"/>
                </a:solidFill>
                <a:effectLst/>
                <a:latin typeface="Times New Roman" panose="02020603050405020304" pitchFamily="18" charset="0"/>
                <a:cs typeface="Times New Roman" panose="02020603050405020304" pitchFamily="18" charset="0"/>
              </a:rPr>
              <a:t>Time duration in which a computer will transmit in full speed=</a:t>
            </a:r>
            <a:r>
              <a:rPr lang="en-US" dirty="0">
                <a:latin typeface="Times New Roman" panose="02020603050405020304" pitchFamily="18" charset="0"/>
                <a:cs typeface="Times New Roman" panose="02020603050405020304" pitchFamily="18" charset="0"/>
              </a:rPr>
              <a:t>C/M−R</a:t>
            </a:r>
          </a:p>
          <a:p>
            <a:pPr marL="114300" indent="0">
              <a:buNone/>
            </a:pPr>
            <a:r>
              <a:rPr lang="en-US" b="0" i="0" dirty="0">
                <a:solidFill>
                  <a:srgbClr val="040304"/>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8/(6−1)</a:t>
            </a:r>
          </a:p>
          <a:p>
            <a:pPr marL="114300" indent="0">
              <a:buNone/>
            </a:pPr>
            <a:r>
              <a:rPr lang="en-US" b="0" i="0" dirty="0">
                <a:solidFill>
                  <a:srgbClr val="040304"/>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8/5</a:t>
            </a:r>
          </a:p>
          <a:p>
            <a:pPr marL="114300" indent="0">
              <a:buNone/>
            </a:pPr>
            <a:r>
              <a:rPr lang="en-US" b="0" i="0" dirty="0">
                <a:solidFill>
                  <a:srgbClr val="040304"/>
                </a:solidFill>
                <a:effectLst/>
                <a:latin typeface="Times New Roman" panose="02020603050405020304" pitchFamily="18" charset="0"/>
                <a:cs typeface="Times New Roman" panose="02020603050405020304" pitchFamily="18" charset="0"/>
              </a:rPr>
              <a:t>               =1.6 sec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50623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9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Packet Scheduling</a:t>
            </a:r>
            <a:r>
              <a:rPr lang="en-US"/>
              <a:t/>
            </a:r>
            <a:br>
              <a:rPr lang="en-US"/>
            </a:br>
            <a:endParaRPr/>
          </a:p>
        </p:txBody>
      </p:sp>
      <p:sp>
        <p:nvSpPr>
          <p:cNvPr id="862" name="Google Shape;862;p96"/>
          <p:cNvSpPr txBox="1">
            <a:spLocks noGrp="1"/>
          </p:cNvSpPr>
          <p:nvPr>
            <p:ph type="body" idx="1"/>
          </p:nvPr>
        </p:nvSpPr>
        <p:spPr>
          <a:xfrm>
            <a:off x="1524000" y="1000126"/>
            <a:ext cx="9144000" cy="5553075"/>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800"/>
              <a:buFont typeface="Calibri"/>
              <a:buChar char="•"/>
            </a:pPr>
            <a:r>
              <a:rPr lang="en-US"/>
              <a:t>Packets from different flows arrive at a </a:t>
            </a:r>
            <a:r>
              <a:rPr lang="en-US" b="1"/>
              <a:t>switch or router </a:t>
            </a:r>
            <a:r>
              <a:rPr lang="en-US"/>
              <a:t>for processing. </a:t>
            </a:r>
            <a:endParaRPr/>
          </a:p>
          <a:p>
            <a:pPr marL="342900" lvl="0" indent="-342900" algn="just" rtl="0">
              <a:lnSpc>
                <a:spcPct val="90000"/>
              </a:lnSpc>
              <a:spcBef>
                <a:spcPts val="1000"/>
              </a:spcBef>
              <a:spcAft>
                <a:spcPts val="0"/>
              </a:spcAft>
              <a:buClr>
                <a:schemeClr val="dk1"/>
              </a:buClr>
              <a:buSzPts val="2800"/>
              <a:buFont typeface="Calibri"/>
              <a:buChar char="•"/>
            </a:pPr>
            <a:r>
              <a:rPr lang="en-US"/>
              <a:t>A good </a:t>
            </a:r>
            <a:r>
              <a:rPr lang="en-US" b="1"/>
              <a:t>scheduling technique </a:t>
            </a:r>
            <a:r>
              <a:rPr lang="en-US"/>
              <a:t>treats the </a:t>
            </a:r>
            <a:r>
              <a:rPr lang="en-US">
                <a:solidFill>
                  <a:srgbClr val="FF0000"/>
                </a:solidFill>
              </a:rPr>
              <a:t>different flows in a fair and appropriate manner.</a:t>
            </a:r>
            <a:endParaRPr/>
          </a:p>
          <a:p>
            <a:pPr marL="342900" lvl="0" indent="-342900" algn="just" rtl="0">
              <a:lnSpc>
                <a:spcPct val="90000"/>
              </a:lnSpc>
              <a:spcBef>
                <a:spcPts val="1000"/>
              </a:spcBef>
              <a:spcAft>
                <a:spcPts val="0"/>
              </a:spcAft>
              <a:buClr>
                <a:schemeClr val="dk1"/>
              </a:buClr>
              <a:buSzPts val="2800"/>
              <a:buFont typeface="Calibri"/>
              <a:buChar char="•"/>
            </a:pPr>
            <a:r>
              <a:rPr lang="en-US"/>
              <a:t> Several scheduling techniques are </a:t>
            </a:r>
            <a:r>
              <a:rPr lang="en-US">
                <a:solidFill>
                  <a:srgbClr val="00B050"/>
                </a:solidFill>
              </a:rPr>
              <a:t>designed to improve the quality of service. </a:t>
            </a:r>
            <a:endParaRPr/>
          </a:p>
          <a:p>
            <a:pPr marL="342900" lvl="0" indent="-342900" algn="just" rtl="0">
              <a:lnSpc>
                <a:spcPct val="90000"/>
              </a:lnSpc>
              <a:spcBef>
                <a:spcPts val="1000"/>
              </a:spcBef>
              <a:spcAft>
                <a:spcPts val="0"/>
              </a:spcAft>
              <a:buClr>
                <a:schemeClr val="dk1"/>
              </a:buClr>
              <a:buSzPts val="2800"/>
              <a:buFont typeface="Calibri"/>
              <a:buChar char="•"/>
            </a:pPr>
            <a:r>
              <a:rPr lang="en-US"/>
              <a:t>Three of them here:  </a:t>
            </a:r>
            <a:endParaRPr/>
          </a:p>
          <a:p>
            <a:pPr marL="0" lvl="0" indent="0" algn="just" rtl="0">
              <a:lnSpc>
                <a:spcPct val="90000"/>
              </a:lnSpc>
              <a:spcBef>
                <a:spcPts val="1000"/>
              </a:spcBef>
              <a:spcAft>
                <a:spcPts val="0"/>
              </a:spcAft>
              <a:buClr>
                <a:schemeClr val="dk1"/>
              </a:buClr>
              <a:buSzPts val="2800"/>
              <a:buNone/>
            </a:pPr>
            <a:r>
              <a:rPr lang="en-US"/>
              <a:t>        1. FIFO queuing,</a:t>
            </a:r>
            <a:endParaRPr/>
          </a:p>
          <a:p>
            <a:pPr marL="0" lvl="0" indent="0" algn="just" rtl="0">
              <a:lnSpc>
                <a:spcPct val="90000"/>
              </a:lnSpc>
              <a:spcBef>
                <a:spcPts val="1000"/>
              </a:spcBef>
              <a:spcAft>
                <a:spcPts val="0"/>
              </a:spcAft>
              <a:buClr>
                <a:schemeClr val="dk1"/>
              </a:buClr>
              <a:buSzPts val="2800"/>
              <a:buNone/>
            </a:pPr>
            <a:r>
              <a:rPr lang="en-US"/>
              <a:t>        2. priority queuing,</a:t>
            </a:r>
            <a:endParaRPr/>
          </a:p>
          <a:p>
            <a:pPr marL="0" lvl="0" indent="0" algn="just" rtl="0">
              <a:lnSpc>
                <a:spcPct val="90000"/>
              </a:lnSpc>
              <a:spcBef>
                <a:spcPts val="1000"/>
              </a:spcBef>
              <a:spcAft>
                <a:spcPts val="0"/>
              </a:spcAft>
              <a:buClr>
                <a:schemeClr val="dk1"/>
              </a:buClr>
              <a:buSzPts val="2800"/>
              <a:buNone/>
            </a:pPr>
            <a:r>
              <a:rPr lang="en-US"/>
              <a:t>        3. and weighted fair queuing.</a:t>
            </a:r>
            <a:endParaRPr/>
          </a:p>
          <a:p>
            <a:pPr marL="342900" lvl="0" indent="-165100" algn="just" rtl="0">
              <a:lnSpc>
                <a:spcPct val="90000"/>
              </a:lnSpc>
              <a:spcBef>
                <a:spcPts val="1000"/>
              </a:spcBef>
              <a:spcAft>
                <a:spcPts val="0"/>
              </a:spcAft>
              <a:buClr>
                <a:schemeClr val="dk1"/>
              </a:buClr>
              <a:buSzPts val="2800"/>
              <a:buFont typeface="Calibri"/>
              <a:buNone/>
            </a:pPr>
            <a:endParaRPr/>
          </a:p>
        </p:txBody>
      </p:sp>
      <p:sp>
        <p:nvSpPr>
          <p:cNvPr id="863" name="Google Shape;863;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119</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97"/>
          <p:cNvSpPr txBox="1">
            <a:spLocks noGrp="1"/>
          </p:cNvSpPr>
          <p:nvPr>
            <p:ph type="title"/>
          </p:nvPr>
        </p:nvSpPr>
        <p:spPr>
          <a:xfrm>
            <a:off x="1524000" y="-12700"/>
            <a:ext cx="91440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Packet Scheduling</a:t>
            </a:r>
            <a:r>
              <a:rPr lang="en-US"/>
              <a:t/>
            </a:r>
            <a:br>
              <a:rPr lang="en-US"/>
            </a:br>
            <a:endParaRPr/>
          </a:p>
        </p:txBody>
      </p:sp>
      <p:sp>
        <p:nvSpPr>
          <p:cNvPr id="869" name="Google Shape;869;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120</a:t>
            </a:fld>
            <a:endParaRPr sz="1200">
              <a:solidFill>
                <a:schemeClr val="dk1"/>
              </a:solidFill>
              <a:latin typeface="Times New Roman"/>
              <a:ea typeface="Times New Roman"/>
              <a:cs typeface="Times New Roman"/>
              <a:sym typeface="Times New Roman"/>
            </a:endParaRPr>
          </a:p>
        </p:txBody>
      </p:sp>
      <p:sp>
        <p:nvSpPr>
          <p:cNvPr id="870" name="Google Shape;870;p97"/>
          <p:cNvSpPr/>
          <p:nvPr/>
        </p:nvSpPr>
        <p:spPr>
          <a:xfrm>
            <a:off x="415636" y="974725"/>
            <a:ext cx="11430000" cy="2400657"/>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333333"/>
              </a:buClr>
              <a:buSzPts val="2800"/>
              <a:buFont typeface="Calibri"/>
              <a:buAutoNum type="arabicPeriod"/>
            </a:pPr>
            <a:r>
              <a:rPr lang="en-US" sz="2800" b="1">
                <a:solidFill>
                  <a:srgbClr val="333333"/>
                </a:solidFill>
                <a:latin typeface="Calibri"/>
                <a:ea typeface="Calibri"/>
                <a:cs typeface="Calibri"/>
                <a:sym typeface="Calibri"/>
              </a:rPr>
              <a:t>FIFO Queuing: </a:t>
            </a:r>
            <a:endParaRPr/>
          </a:p>
          <a:p>
            <a:pPr marL="342900" marR="0" lvl="0" indent="-285750" algn="just" rtl="0">
              <a:spcBef>
                <a:spcPts val="550"/>
              </a:spcBef>
              <a:spcAft>
                <a:spcPts val="0"/>
              </a:spcAft>
              <a:buClr>
                <a:srgbClr val="333333"/>
              </a:buClr>
              <a:buSzPts val="2800"/>
              <a:buFont typeface="Arial"/>
              <a:buChar char="•"/>
            </a:pPr>
            <a:r>
              <a:rPr lang="en-US" sz="2800" b="1">
                <a:solidFill>
                  <a:srgbClr val="333333"/>
                </a:solidFill>
                <a:latin typeface="Calibri"/>
                <a:ea typeface="Calibri"/>
                <a:cs typeface="Calibri"/>
                <a:sym typeface="Calibri"/>
              </a:rPr>
              <a:t> In first-in, first-out (FIFO)</a:t>
            </a:r>
            <a:r>
              <a:rPr lang="en-US" sz="2800">
                <a:solidFill>
                  <a:srgbClr val="333333"/>
                </a:solidFill>
                <a:latin typeface="Calibri"/>
                <a:ea typeface="Calibri"/>
                <a:cs typeface="Calibri"/>
                <a:sym typeface="Calibri"/>
              </a:rPr>
              <a:t> queuing, </a:t>
            </a:r>
            <a:r>
              <a:rPr lang="en-US" sz="2800">
                <a:solidFill>
                  <a:srgbClr val="FF0000"/>
                </a:solidFill>
                <a:latin typeface="Calibri"/>
                <a:ea typeface="Calibri"/>
                <a:cs typeface="Calibri"/>
                <a:sym typeface="Calibri"/>
              </a:rPr>
              <a:t>packets wait in a buffer </a:t>
            </a:r>
            <a:r>
              <a:rPr lang="en-US" sz="2800">
                <a:solidFill>
                  <a:srgbClr val="333333"/>
                </a:solidFill>
                <a:latin typeface="Calibri"/>
                <a:ea typeface="Calibri"/>
                <a:cs typeface="Calibri"/>
                <a:sym typeface="Calibri"/>
              </a:rPr>
              <a:t>(queue) until the </a:t>
            </a:r>
            <a:r>
              <a:rPr lang="en-US" sz="2800" b="1">
                <a:solidFill>
                  <a:srgbClr val="333333"/>
                </a:solidFill>
                <a:latin typeface="Calibri"/>
                <a:ea typeface="Calibri"/>
                <a:cs typeface="Calibri"/>
                <a:sym typeface="Calibri"/>
              </a:rPr>
              <a:t>node</a:t>
            </a:r>
            <a:r>
              <a:rPr lang="en-US" sz="2800">
                <a:solidFill>
                  <a:srgbClr val="333333"/>
                </a:solidFill>
                <a:latin typeface="Calibri"/>
                <a:ea typeface="Calibri"/>
                <a:cs typeface="Calibri"/>
                <a:sym typeface="Calibri"/>
              </a:rPr>
              <a:t> (router or switch) is </a:t>
            </a:r>
            <a:r>
              <a:rPr lang="en-US" sz="2800">
                <a:solidFill>
                  <a:srgbClr val="00B050"/>
                </a:solidFill>
                <a:latin typeface="Calibri"/>
                <a:ea typeface="Calibri"/>
                <a:cs typeface="Calibri"/>
                <a:sym typeface="Calibri"/>
              </a:rPr>
              <a:t>ready to process </a:t>
            </a:r>
            <a:r>
              <a:rPr lang="en-US" sz="2800">
                <a:solidFill>
                  <a:srgbClr val="333333"/>
                </a:solidFill>
                <a:latin typeface="Calibri"/>
                <a:ea typeface="Calibri"/>
                <a:cs typeface="Calibri"/>
                <a:sym typeface="Calibri"/>
              </a:rPr>
              <a:t>them.</a:t>
            </a:r>
            <a:endParaRPr/>
          </a:p>
          <a:p>
            <a:pPr marL="400050" marR="0" lvl="0" indent="-342900" algn="just" rtl="0">
              <a:spcBef>
                <a:spcPts val="550"/>
              </a:spcBef>
              <a:spcAft>
                <a:spcPts val="0"/>
              </a:spcAft>
              <a:buClr>
                <a:srgbClr val="333333"/>
              </a:buClr>
              <a:buSzPts val="2800"/>
              <a:buFont typeface="Arial"/>
              <a:buChar char="•"/>
            </a:pPr>
            <a:r>
              <a:rPr lang="en-US" sz="2800">
                <a:solidFill>
                  <a:srgbClr val="333333"/>
                </a:solidFill>
                <a:latin typeface="Calibri"/>
                <a:ea typeface="Calibri"/>
                <a:cs typeface="Calibri"/>
                <a:sym typeface="Calibri"/>
              </a:rPr>
              <a:t>If the </a:t>
            </a:r>
            <a:r>
              <a:rPr lang="en-US" sz="2800">
                <a:solidFill>
                  <a:srgbClr val="FF0000"/>
                </a:solidFill>
                <a:latin typeface="Calibri"/>
                <a:ea typeface="Calibri"/>
                <a:cs typeface="Calibri"/>
                <a:sym typeface="Calibri"/>
              </a:rPr>
              <a:t>average </a:t>
            </a:r>
            <a:r>
              <a:rPr lang="en-US" sz="2800" b="1">
                <a:solidFill>
                  <a:srgbClr val="FF0000"/>
                </a:solidFill>
                <a:latin typeface="Calibri"/>
                <a:ea typeface="Calibri"/>
                <a:cs typeface="Calibri"/>
                <a:sym typeface="Calibri"/>
              </a:rPr>
              <a:t>arrival rate </a:t>
            </a:r>
            <a:r>
              <a:rPr lang="en-US" sz="2800">
                <a:solidFill>
                  <a:srgbClr val="FF0000"/>
                </a:solidFill>
                <a:latin typeface="Calibri"/>
                <a:ea typeface="Calibri"/>
                <a:cs typeface="Calibri"/>
                <a:sym typeface="Calibri"/>
              </a:rPr>
              <a:t>is higher than the average </a:t>
            </a:r>
            <a:r>
              <a:rPr lang="en-US" sz="2800" b="1">
                <a:solidFill>
                  <a:srgbClr val="FF0000"/>
                </a:solidFill>
                <a:latin typeface="Calibri"/>
                <a:ea typeface="Calibri"/>
                <a:cs typeface="Calibri"/>
                <a:sym typeface="Calibri"/>
              </a:rPr>
              <a:t>processing rate</a:t>
            </a:r>
            <a:r>
              <a:rPr lang="en-US" sz="2800">
                <a:solidFill>
                  <a:srgbClr val="333333"/>
                </a:solidFill>
                <a:latin typeface="Calibri"/>
                <a:ea typeface="Calibri"/>
                <a:cs typeface="Calibri"/>
                <a:sym typeface="Calibri"/>
              </a:rPr>
              <a:t>, the queue will fill up and new packets will be discarded. </a:t>
            </a:r>
            <a:endParaRPr/>
          </a:p>
        </p:txBody>
      </p:sp>
      <p:pic>
        <p:nvPicPr>
          <p:cNvPr id="871" name="Google Shape;871;p97" descr="enter image description here"/>
          <p:cNvPicPr preferRelativeResize="0"/>
          <p:nvPr/>
        </p:nvPicPr>
        <p:blipFill rotWithShape="1">
          <a:blip r:embed="rId3">
            <a:alphaModFix/>
          </a:blip>
          <a:srcRect/>
          <a:stretch/>
        </p:blipFill>
        <p:spPr>
          <a:xfrm>
            <a:off x="2682587" y="3892007"/>
            <a:ext cx="6586104" cy="1579418"/>
          </a:xfrm>
          <a:prstGeom prst="rect">
            <a:avLst/>
          </a:prstGeom>
          <a:noFill/>
          <a:ln>
            <a:noFill/>
          </a:ln>
        </p:spPr>
      </p:pic>
      <p:sp>
        <p:nvSpPr>
          <p:cNvPr id="872" name="Google Shape;872;p97"/>
          <p:cNvSpPr/>
          <p:nvPr/>
        </p:nvSpPr>
        <p:spPr>
          <a:xfrm>
            <a:off x="4476461" y="5988050"/>
            <a:ext cx="165417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33333"/>
                </a:solidFill>
                <a:latin typeface="Calibri"/>
                <a:ea typeface="Calibri"/>
                <a:cs typeface="Calibri"/>
                <a:sym typeface="Calibri"/>
              </a:rPr>
              <a:t>Fig: FIFO queue</a:t>
            </a:r>
            <a:endParaRPr sz="1800">
              <a:solidFill>
                <a:schemeClr val="dk1"/>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98"/>
          <p:cNvSpPr txBox="1">
            <a:spLocks noGrp="1"/>
          </p:cNvSpPr>
          <p:nvPr>
            <p:ph type="title"/>
          </p:nvPr>
        </p:nvSpPr>
        <p:spPr>
          <a:xfrm>
            <a:off x="838200" y="365125"/>
            <a:ext cx="10515600" cy="43843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Packet Scheduling</a:t>
            </a:r>
            <a:endParaRPr/>
          </a:p>
        </p:txBody>
      </p:sp>
      <p:sp>
        <p:nvSpPr>
          <p:cNvPr id="878" name="Google Shape;878;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121</a:t>
            </a:fld>
            <a:endParaRPr sz="1200">
              <a:solidFill>
                <a:schemeClr val="dk1"/>
              </a:solidFill>
              <a:latin typeface="Times New Roman"/>
              <a:ea typeface="Times New Roman"/>
              <a:cs typeface="Times New Roman"/>
              <a:sym typeface="Times New Roman"/>
            </a:endParaRPr>
          </a:p>
        </p:txBody>
      </p:sp>
      <p:sp>
        <p:nvSpPr>
          <p:cNvPr id="879" name="Google Shape;879;p98"/>
          <p:cNvSpPr/>
          <p:nvPr/>
        </p:nvSpPr>
        <p:spPr>
          <a:xfrm>
            <a:off x="526473" y="893907"/>
            <a:ext cx="11139054" cy="310854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a:solidFill>
                  <a:srgbClr val="333333"/>
                </a:solidFill>
                <a:latin typeface="Times New Roman"/>
                <a:ea typeface="Times New Roman"/>
                <a:cs typeface="Times New Roman"/>
                <a:sym typeface="Times New Roman"/>
              </a:rPr>
              <a:t>2</a:t>
            </a:r>
            <a:r>
              <a:rPr lang="en-US" sz="2800" b="1">
                <a:solidFill>
                  <a:srgbClr val="333333"/>
                </a:solidFill>
                <a:latin typeface="Calibri"/>
                <a:ea typeface="Calibri"/>
                <a:cs typeface="Calibri"/>
                <a:sym typeface="Calibri"/>
              </a:rPr>
              <a:t>) Priority Queuing:</a:t>
            </a:r>
            <a:r>
              <a:rPr lang="en-US" sz="28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In priority queuing, </a:t>
            </a:r>
            <a:r>
              <a:rPr lang="en-US" sz="2400">
                <a:solidFill>
                  <a:srgbClr val="FF0000"/>
                </a:solidFill>
                <a:latin typeface="Calibri"/>
                <a:ea typeface="Calibri"/>
                <a:cs typeface="Calibri"/>
                <a:sym typeface="Calibri"/>
              </a:rPr>
              <a:t>packets</a:t>
            </a:r>
            <a:r>
              <a:rPr lang="en-US" sz="2400">
                <a:solidFill>
                  <a:srgbClr val="333333"/>
                </a:solidFill>
                <a:latin typeface="Calibri"/>
                <a:ea typeface="Calibri"/>
                <a:cs typeface="Calibri"/>
                <a:sym typeface="Calibri"/>
              </a:rPr>
              <a:t> are first assigned to a </a:t>
            </a:r>
            <a:r>
              <a:rPr lang="en-US" sz="2400" b="1">
                <a:solidFill>
                  <a:srgbClr val="333333"/>
                </a:solidFill>
                <a:latin typeface="Calibri"/>
                <a:ea typeface="Calibri"/>
                <a:cs typeface="Calibri"/>
                <a:sym typeface="Calibri"/>
              </a:rPr>
              <a:t>priority class</a:t>
            </a:r>
            <a:r>
              <a:rPr lang="en-US" sz="24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Each </a:t>
            </a:r>
            <a:r>
              <a:rPr lang="en-US" sz="2400" b="1">
                <a:solidFill>
                  <a:srgbClr val="333333"/>
                </a:solidFill>
                <a:latin typeface="Calibri"/>
                <a:ea typeface="Calibri"/>
                <a:cs typeface="Calibri"/>
                <a:sym typeface="Calibri"/>
              </a:rPr>
              <a:t>priority class </a:t>
            </a:r>
            <a:r>
              <a:rPr lang="en-US" sz="2400">
                <a:solidFill>
                  <a:srgbClr val="333333"/>
                </a:solidFill>
                <a:latin typeface="Calibri"/>
                <a:ea typeface="Calibri"/>
                <a:cs typeface="Calibri"/>
                <a:sym typeface="Calibri"/>
              </a:rPr>
              <a:t>has </a:t>
            </a:r>
            <a:r>
              <a:rPr lang="en-US" sz="2400">
                <a:solidFill>
                  <a:srgbClr val="FF0000"/>
                </a:solidFill>
                <a:latin typeface="Calibri"/>
                <a:ea typeface="Calibri"/>
                <a:cs typeface="Calibri"/>
                <a:sym typeface="Calibri"/>
              </a:rPr>
              <a:t>its own queue</a:t>
            </a:r>
            <a:r>
              <a:rPr lang="en-US" sz="2400">
                <a:solidFill>
                  <a:srgbClr val="333333"/>
                </a:solidFill>
                <a:latin typeface="Calibri"/>
                <a:ea typeface="Calibri"/>
                <a:cs typeface="Calibri"/>
                <a:sym typeface="Calibri"/>
              </a:rPr>
              <a:t>.</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 The packets in the </a:t>
            </a:r>
            <a:r>
              <a:rPr lang="en-US" sz="2400">
                <a:solidFill>
                  <a:srgbClr val="FF0000"/>
                </a:solidFill>
                <a:latin typeface="Calibri"/>
                <a:ea typeface="Calibri"/>
                <a:cs typeface="Calibri"/>
                <a:sym typeface="Calibri"/>
              </a:rPr>
              <a:t>highest-priority queue </a:t>
            </a:r>
            <a:r>
              <a:rPr lang="en-US" sz="2400">
                <a:solidFill>
                  <a:srgbClr val="333333"/>
                </a:solidFill>
                <a:latin typeface="Calibri"/>
                <a:ea typeface="Calibri"/>
                <a:cs typeface="Calibri"/>
                <a:sym typeface="Calibri"/>
              </a:rPr>
              <a:t>are </a:t>
            </a:r>
            <a:r>
              <a:rPr lang="en-US" sz="2400">
                <a:solidFill>
                  <a:srgbClr val="00B050"/>
                </a:solidFill>
                <a:latin typeface="Calibri"/>
                <a:ea typeface="Calibri"/>
                <a:cs typeface="Calibri"/>
                <a:sym typeface="Calibri"/>
              </a:rPr>
              <a:t>processed first</a:t>
            </a:r>
            <a:r>
              <a:rPr lang="en-US" sz="24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 Packets in the </a:t>
            </a:r>
            <a:r>
              <a:rPr lang="en-US" sz="2400">
                <a:solidFill>
                  <a:srgbClr val="FF0000"/>
                </a:solidFill>
                <a:latin typeface="Calibri"/>
                <a:ea typeface="Calibri"/>
                <a:cs typeface="Calibri"/>
                <a:sym typeface="Calibri"/>
              </a:rPr>
              <a:t>lowest-priority queue </a:t>
            </a:r>
            <a:r>
              <a:rPr lang="en-US" sz="2400">
                <a:solidFill>
                  <a:srgbClr val="333333"/>
                </a:solidFill>
                <a:latin typeface="Calibri"/>
                <a:ea typeface="Calibri"/>
                <a:cs typeface="Calibri"/>
                <a:sym typeface="Calibri"/>
              </a:rPr>
              <a:t>are </a:t>
            </a:r>
            <a:r>
              <a:rPr lang="en-US" sz="2400">
                <a:solidFill>
                  <a:srgbClr val="00B050"/>
                </a:solidFill>
                <a:latin typeface="Calibri"/>
                <a:ea typeface="Calibri"/>
                <a:cs typeface="Calibri"/>
                <a:sym typeface="Calibri"/>
              </a:rPr>
              <a:t>processed last</a:t>
            </a:r>
            <a:r>
              <a:rPr lang="en-US" sz="24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Note that the system does not stop serving a queue until it is empty</a:t>
            </a:r>
            <a:r>
              <a:rPr lang="en-US" sz="2400">
                <a:solidFill>
                  <a:schemeClr val="dk1"/>
                </a:solidFill>
                <a:latin typeface="Calibri"/>
                <a:ea typeface="Calibri"/>
                <a:cs typeface="Calibri"/>
                <a:sym typeface="Calibri"/>
              </a:rPr>
              <a:t>.</a:t>
            </a:r>
            <a:endParaRPr/>
          </a:p>
          <a:p>
            <a:pPr marL="0" marR="0" lvl="0" indent="0" algn="just" rtl="0">
              <a:spcBef>
                <a:spcPts val="550"/>
              </a:spcBef>
              <a:spcAft>
                <a:spcPts val="0"/>
              </a:spcAft>
              <a:buNone/>
            </a:pPr>
            <a:endParaRPr sz="1800">
              <a:solidFill>
                <a:schemeClr val="dk1"/>
              </a:solidFill>
              <a:latin typeface="Times New Roman"/>
              <a:ea typeface="Times New Roman"/>
              <a:cs typeface="Times New Roman"/>
              <a:sym typeface="Times New Roman"/>
            </a:endParaRPr>
          </a:p>
        </p:txBody>
      </p:sp>
      <p:pic>
        <p:nvPicPr>
          <p:cNvPr id="880" name="Google Shape;880;p98" descr="enter image description here"/>
          <p:cNvPicPr preferRelativeResize="0"/>
          <p:nvPr/>
        </p:nvPicPr>
        <p:blipFill rotWithShape="1">
          <a:blip r:embed="rId3">
            <a:alphaModFix/>
          </a:blip>
          <a:srcRect/>
          <a:stretch/>
        </p:blipFill>
        <p:spPr>
          <a:xfrm>
            <a:off x="1066800" y="3782292"/>
            <a:ext cx="8742218" cy="2886870"/>
          </a:xfrm>
          <a:prstGeom prst="rect">
            <a:avLst/>
          </a:prstGeom>
          <a:noFill/>
          <a:ln>
            <a:noFill/>
          </a:ln>
        </p:spPr>
      </p:pic>
      <p:sp>
        <p:nvSpPr>
          <p:cNvPr id="881" name="Google Shape;881;p98"/>
          <p:cNvSpPr/>
          <p:nvPr/>
        </p:nvSpPr>
        <p:spPr>
          <a:xfrm>
            <a:off x="5439930" y="6489700"/>
            <a:ext cx="2276475"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333333"/>
                </a:solidFill>
                <a:latin typeface="Times New Roman"/>
                <a:ea typeface="Times New Roman"/>
                <a:cs typeface="Times New Roman"/>
                <a:sym typeface="Times New Roman"/>
              </a:rPr>
              <a:t>Fig: Priority queuing</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99"/>
          <p:cNvSpPr txBox="1">
            <a:spLocks noGrp="1"/>
          </p:cNvSpPr>
          <p:nvPr>
            <p:ph type="title"/>
          </p:nvPr>
        </p:nvSpPr>
        <p:spPr>
          <a:xfrm>
            <a:off x="727364" y="0"/>
            <a:ext cx="10515600" cy="45561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Packet Scheduling</a:t>
            </a:r>
            <a:endParaRPr/>
          </a:p>
        </p:txBody>
      </p:sp>
      <p:sp>
        <p:nvSpPr>
          <p:cNvPr id="887" name="Google Shape;887;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122</a:t>
            </a:fld>
            <a:endParaRPr sz="1200">
              <a:solidFill>
                <a:schemeClr val="dk1"/>
              </a:solidFill>
              <a:latin typeface="Times New Roman"/>
              <a:ea typeface="Times New Roman"/>
              <a:cs typeface="Times New Roman"/>
              <a:sym typeface="Times New Roman"/>
            </a:endParaRPr>
          </a:p>
        </p:txBody>
      </p:sp>
      <p:sp>
        <p:nvSpPr>
          <p:cNvPr id="888" name="Google Shape;888;p99"/>
          <p:cNvSpPr/>
          <p:nvPr/>
        </p:nvSpPr>
        <p:spPr>
          <a:xfrm>
            <a:off x="187036" y="455613"/>
            <a:ext cx="11817927" cy="343170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rgbClr val="333333"/>
                </a:solidFill>
                <a:latin typeface="Times New Roman"/>
                <a:ea typeface="Times New Roman"/>
                <a:cs typeface="Times New Roman"/>
                <a:sym typeface="Times New Roman"/>
              </a:rPr>
              <a:t>3</a:t>
            </a:r>
            <a:r>
              <a:rPr lang="en-US" sz="2400" b="1">
                <a:solidFill>
                  <a:srgbClr val="333333"/>
                </a:solidFill>
                <a:latin typeface="Calibri"/>
                <a:ea typeface="Calibri"/>
                <a:cs typeface="Calibri"/>
                <a:sym typeface="Calibri"/>
              </a:rPr>
              <a:t>) Weighted Fair Queuing:</a:t>
            </a:r>
            <a:r>
              <a:rPr lang="en-US" sz="24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A better scheduling method is weighted fair queuing.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In this technique, the </a:t>
            </a:r>
            <a:r>
              <a:rPr lang="en-US" sz="2400" b="1">
                <a:solidFill>
                  <a:srgbClr val="333333"/>
                </a:solidFill>
                <a:latin typeface="Calibri"/>
                <a:ea typeface="Calibri"/>
                <a:cs typeface="Calibri"/>
                <a:sym typeface="Calibri"/>
              </a:rPr>
              <a:t>packets</a:t>
            </a:r>
            <a:r>
              <a:rPr lang="en-US" sz="2400">
                <a:solidFill>
                  <a:srgbClr val="333333"/>
                </a:solidFill>
                <a:latin typeface="Calibri"/>
                <a:ea typeface="Calibri"/>
                <a:cs typeface="Calibri"/>
                <a:sym typeface="Calibri"/>
              </a:rPr>
              <a:t> are </a:t>
            </a:r>
            <a:r>
              <a:rPr lang="en-US" sz="2400">
                <a:solidFill>
                  <a:srgbClr val="FF0000"/>
                </a:solidFill>
                <a:latin typeface="Calibri"/>
                <a:ea typeface="Calibri"/>
                <a:cs typeface="Calibri"/>
                <a:sym typeface="Calibri"/>
              </a:rPr>
              <a:t>still assigned to different classes </a:t>
            </a:r>
            <a:r>
              <a:rPr lang="en-US" sz="2400">
                <a:solidFill>
                  <a:srgbClr val="333333"/>
                </a:solidFill>
                <a:latin typeface="Calibri"/>
                <a:ea typeface="Calibri"/>
                <a:cs typeface="Calibri"/>
                <a:sym typeface="Calibri"/>
              </a:rPr>
              <a:t>and </a:t>
            </a:r>
            <a:r>
              <a:rPr lang="en-US" sz="2400">
                <a:solidFill>
                  <a:srgbClr val="FF0000"/>
                </a:solidFill>
                <a:latin typeface="Calibri"/>
                <a:ea typeface="Calibri"/>
                <a:cs typeface="Calibri"/>
                <a:sym typeface="Calibri"/>
              </a:rPr>
              <a:t>admitted to different queues.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The queues, however, are </a:t>
            </a:r>
            <a:r>
              <a:rPr lang="en-US" sz="2400" b="1">
                <a:solidFill>
                  <a:srgbClr val="333333"/>
                </a:solidFill>
                <a:latin typeface="Calibri"/>
                <a:ea typeface="Calibri"/>
                <a:cs typeface="Calibri"/>
                <a:sym typeface="Calibri"/>
              </a:rPr>
              <a:t>weighted</a:t>
            </a:r>
            <a:r>
              <a:rPr lang="en-US" sz="2400">
                <a:solidFill>
                  <a:srgbClr val="333333"/>
                </a:solidFill>
                <a:latin typeface="Calibri"/>
                <a:ea typeface="Calibri"/>
                <a:cs typeface="Calibri"/>
                <a:sym typeface="Calibri"/>
              </a:rPr>
              <a:t> based on the </a:t>
            </a:r>
            <a:r>
              <a:rPr lang="en-US" sz="2400">
                <a:solidFill>
                  <a:srgbClr val="FF0000"/>
                </a:solidFill>
                <a:latin typeface="Calibri"/>
                <a:ea typeface="Calibri"/>
                <a:cs typeface="Calibri"/>
                <a:sym typeface="Calibri"/>
              </a:rPr>
              <a:t>priority of the queues</a:t>
            </a:r>
            <a:r>
              <a:rPr lang="en-US" sz="2400">
                <a:solidFill>
                  <a:srgbClr val="333333"/>
                </a:solidFill>
                <a:latin typeface="Calibri"/>
                <a:ea typeface="Calibri"/>
                <a:cs typeface="Calibri"/>
                <a:sym typeface="Calibri"/>
              </a:rPr>
              <a:t>; </a:t>
            </a:r>
            <a:endParaRPr/>
          </a:p>
          <a:p>
            <a:pPr marL="685800" marR="0" lvl="0" indent="-285750" algn="just" rtl="0">
              <a:spcBef>
                <a:spcPts val="550"/>
              </a:spcBef>
              <a:spcAft>
                <a:spcPts val="0"/>
              </a:spcAft>
              <a:buClr>
                <a:srgbClr val="FF0000"/>
              </a:buClr>
              <a:buSzPts val="2400"/>
              <a:buFont typeface="Noto Sans Symbols"/>
              <a:buChar char="⮚"/>
            </a:pPr>
            <a:r>
              <a:rPr lang="en-US" sz="2400">
                <a:solidFill>
                  <a:srgbClr val="FF0000"/>
                </a:solidFill>
                <a:latin typeface="Calibri"/>
                <a:ea typeface="Calibri"/>
                <a:cs typeface="Calibri"/>
                <a:sym typeface="Calibri"/>
              </a:rPr>
              <a:t>higher priority means a higher weight</a:t>
            </a:r>
            <a:r>
              <a:rPr lang="en-US" sz="2400">
                <a:solidFill>
                  <a:srgbClr val="333333"/>
                </a:solidFill>
                <a:latin typeface="Calibri"/>
                <a:ea typeface="Calibri"/>
                <a:cs typeface="Calibri"/>
                <a:sym typeface="Calibri"/>
              </a:rPr>
              <a:t>. </a:t>
            </a:r>
            <a:endParaRPr/>
          </a:p>
          <a:p>
            <a:pPr marL="285750" marR="0" lvl="0" indent="-285750" algn="just" rtl="0">
              <a:spcBef>
                <a:spcPts val="550"/>
              </a:spcBef>
              <a:spcAft>
                <a:spcPts val="0"/>
              </a:spcAft>
              <a:buClr>
                <a:srgbClr val="333333"/>
              </a:buClr>
              <a:buSzPts val="2400"/>
              <a:buFont typeface="Arial"/>
              <a:buChar char="•"/>
            </a:pPr>
            <a:r>
              <a:rPr lang="en-US" sz="2400">
                <a:solidFill>
                  <a:srgbClr val="333333"/>
                </a:solidFill>
                <a:latin typeface="Calibri"/>
                <a:ea typeface="Calibri"/>
                <a:cs typeface="Calibri"/>
                <a:sym typeface="Calibri"/>
              </a:rPr>
              <a:t>The system processes packets in each queue in a </a:t>
            </a:r>
            <a:r>
              <a:rPr lang="en-US" sz="2400" b="1">
                <a:solidFill>
                  <a:srgbClr val="FF0000"/>
                </a:solidFill>
                <a:latin typeface="Calibri"/>
                <a:ea typeface="Calibri"/>
                <a:cs typeface="Calibri"/>
                <a:sym typeface="Calibri"/>
              </a:rPr>
              <a:t>round-robin fashion </a:t>
            </a:r>
            <a:r>
              <a:rPr lang="en-US" sz="2400">
                <a:solidFill>
                  <a:srgbClr val="333333"/>
                </a:solidFill>
                <a:latin typeface="Calibri"/>
                <a:ea typeface="Calibri"/>
                <a:cs typeface="Calibri"/>
                <a:sym typeface="Calibri"/>
              </a:rPr>
              <a:t>with the number of packets selected from each queue </a:t>
            </a:r>
            <a:r>
              <a:rPr lang="en-US" sz="2400">
                <a:solidFill>
                  <a:srgbClr val="00B050"/>
                </a:solidFill>
                <a:latin typeface="Calibri"/>
                <a:ea typeface="Calibri"/>
                <a:cs typeface="Calibri"/>
                <a:sym typeface="Calibri"/>
              </a:rPr>
              <a:t>based on the corresponding weight.</a:t>
            </a:r>
            <a:endParaRPr/>
          </a:p>
        </p:txBody>
      </p:sp>
      <p:pic>
        <p:nvPicPr>
          <p:cNvPr id="889" name="Google Shape;889;p99"/>
          <p:cNvPicPr preferRelativeResize="0"/>
          <p:nvPr/>
        </p:nvPicPr>
        <p:blipFill rotWithShape="1">
          <a:blip r:embed="rId3">
            <a:alphaModFix/>
          </a:blip>
          <a:srcRect/>
          <a:stretch/>
        </p:blipFill>
        <p:spPr>
          <a:xfrm>
            <a:off x="2583007" y="3887321"/>
            <a:ext cx="7073611" cy="283415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4209</TotalTime>
  <Words>9792</Words>
  <Application>Microsoft Office PowerPoint</Application>
  <PresentationFormat>Widescreen</PresentationFormat>
  <Paragraphs>874</Paragraphs>
  <Slides>122</Slides>
  <Notes>48</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122</vt:i4>
      </vt:variant>
    </vt:vector>
  </HeadingPairs>
  <TitlesOfParts>
    <vt:vector size="131" baseType="lpstr">
      <vt:lpstr>Arial</vt:lpstr>
      <vt:lpstr>Noto Sans Symbols</vt:lpstr>
      <vt:lpstr>Meiryo</vt:lpstr>
      <vt:lpstr>Calibri</vt:lpstr>
      <vt:lpstr>Roboto</vt:lpstr>
      <vt:lpstr>Times New Roman</vt:lpstr>
      <vt:lpstr>Wingdings</vt:lpstr>
      <vt:lpstr>TimesNewRomanPSMT</vt:lpstr>
      <vt:lpstr>Office Theme</vt:lpstr>
      <vt:lpstr>MODULE  III  </vt:lpstr>
      <vt:lpstr>NETWORK LAYER</vt:lpstr>
      <vt:lpstr>FUNCTIONS OF NETWORK LAYER</vt:lpstr>
      <vt:lpstr>Network Layer Design Issues</vt:lpstr>
      <vt:lpstr>Store-and-Forward Packet Switching</vt:lpstr>
      <vt:lpstr>Services Provided To Transport Layer</vt:lpstr>
      <vt:lpstr>Internal Organization of Network Layer</vt:lpstr>
      <vt:lpstr>Implementation of Connectionless Service</vt:lpstr>
      <vt:lpstr>Implementation of Connectionless Service Conti..</vt:lpstr>
      <vt:lpstr>Implementation of  Connection-Oriented Service</vt:lpstr>
      <vt:lpstr>Implementation of  Connection-Oriented Service</vt:lpstr>
      <vt:lpstr>Comparison of Virtual-Circuit  and Datagram Networks</vt:lpstr>
      <vt:lpstr>ROUTING</vt:lpstr>
      <vt:lpstr>Routing Algorithms</vt:lpstr>
      <vt:lpstr>Routing Algorithms</vt:lpstr>
      <vt:lpstr>Routing Algorithms</vt:lpstr>
      <vt:lpstr>Routing Algorithms</vt:lpstr>
      <vt:lpstr>Routing Algorithms</vt:lpstr>
      <vt:lpstr>Routing Algorithms</vt:lpstr>
      <vt:lpstr>Routing Algorithms</vt:lpstr>
      <vt:lpstr> Routing Algorithms</vt:lpstr>
      <vt:lpstr>PowerPoint Presentation</vt:lpstr>
      <vt:lpstr>Shortest Path Algorithm</vt:lpstr>
      <vt:lpstr>Shortest Path Algorithm </vt:lpstr>
      <vt:lpstr>Dijkstra’s shortest path  </vt:lpstr>
      <vt:lpstr>PowerPoint Presentation</vt:lpstr>
      <vt:lpstr>Flooding</vt:lpstr>
      <vt:lpstr>Problem: generates a large number of duplicate packets</vt:lpstr>
      <vt:lpstr>Routing Algorithms</vt:lpstr>
      <vt:lpstr>Routing Algorithms</vt:lpstr>
      <vt:lpstr>Routing Algorithms</vt:lpstr>
      <vt:lpstr>Routing Algorithms - DVR</vt:lpstr>
      <vt:lpstr>Routing Algorithms - DVR</vt:lpstr>
      <vt:lpstr>Routing Algorithms - DVR</vt:lpstr>
      <vt:lpstr>Routing Algorithms - DVR</vt:lpstr>
      <vt:lpstr>Distance Vector Routing</vt:lpstr>
      <vt:lpstr>Routing Algorithms - DVR</vt:lpstr>
      <vt:lpstr>DVR - Count to infinity problem</vt:lpstr>
      <vt:lpstr>DVR- Count to infinity problem</vt:lpstr>
      <vt:lpstr>PowerPoint Presentation</vt:lpstr>
      <vt:lpstr>DVR- Count to infinity problem</vt:lpstr>
      <vt:lpstr>DVR- Count to infinity problem</vt:lpstr>
      <vt:lpstr>DVR- Count to infinity problem</vt:lpstr>
      <vt:lpstr>DVR- Count to infinity problem</vt:lpstr>
      <vt:lpstr>Solutions for count to infinity problem</vt:lpstr>
      <vt:lpstr>PowerPoint Presentation</vt:lpstr>
      <vt:lpstr>Tutorial</vt:lpstr>
      <vt:lpstr>Routing Algorithms - LSR</vt:lpstr>
      <vt:lpstr>Routing Algorithms - LSR</vt:lpstr>
      <vt:lpstr>PowerPoint Presentation</vt:lpstr>
      <vt:lpstr>PowerPoint Presentation</vt:lpstr>
      <vt:lpstr>Routing Algorithms - LSR</vt:lpstr>
      <vt:lpstr>PowerPoint Presentation</vt:lpstr>
      <vt:lpstr>PowerPoint Presentation</vt:lpstr>
      <vt:lpstr>PowerPoint Presentation</vt:lpstr>
      <vt:lpstr>PowerPoint Presentation</vt:lpstr>
      <vt:lpstr> </vt:lpstr>
      <vt:lpstr>PowerPoint Presentation</vt:lpstr>
      <vt:lpstr>PowerPoint Presentation</vt:lpstr>
      <vt:lpstr>Multicast Routing</vt:lpstr>
      <vt:lpstr>PowerPoint Presentation</vt:lpstr>
      <vt:lpstr>PowerPoint Presentation</vt:lpstr>
      <vt:lpstr>PowerPoint Presentation</vt:lpstr>
      <vt:lpstr>PowerPoint Presentation</vt:lpstr>
      <vt:lpstr>Routing Algorithms – Mobile Host</vt:lpstr>
      <vt:lpstr>Routing Algorithms – Mobile Host</vt:lpstr>
      <vt:lpstr>PowerPoint Presentation</vt:lpstr>
      <vt:lpstr>Routing Algorithms – Mobile Host</vt:lpstr>
      <vt:lpstr>Routing Algorithms – Mobile Host</vt:lpstr>
      <vt:lpstr>Routing Algorithms – Mobile Host</vt:lpstr>
      <vt:lpstr>Routing Algorithms – Mobile Host</vt:lpstr>
      <vt:lpstr>PowerPoint Presentation</vt:lpstr>
      <vt:lpstr>PowerPoint Presentation</vt:lpstr>
      <vt:lpstr>Congestion Control Algorithms</vt:lpstr>
      <vt:lpstr>Congestion Control Algorithms</vt:lpstr>
      <vt:lpstr>General Principles of Congestion Control</vt:lpstr>
      <vt:lpstr>General Principles of Congestion Control</vt:lpstr>
      <vt:lpstr>General Principles of Congestion Control</vt:lpstr>
      <vt:lpstr>General Principles of Congestion Control</vt:lpstr>
      <vt:lpstr>Congestion Prevention Policies</vt:lpstr>
      <vt:lpstr>Congestion Prevention Policies</vt:lpstr>
      <vt:lpstr>Congestion Prevention Policies</vt:lpstr>
      <vt:lpstr>Congestion Prevention Policies</vt:lpstr>
      <vt:lpstr>Congestion Control in Virtual-Circuit Subnets</vt:lpstr>
      <vt:lpstr>Congestion Control in Virtual-Circuit Subnets</vt:lpstr>
      <vt:lpstr>Congestion Control in Virtual-Circuit Subnets</vt:lpstr>
      <vt:lpstr>Congestion Control in Datagram Subnets</vt:lpstr>
      <vt:lpstr>Congestion Control in Datagram Subnets</vt:lpstr>
      <vt:lpstr>Congestion Control in Datagram Subnets</vt:lpstr>
      <vt:lpstr>PowerPoint Presentation</vt:lpstr>
      <vt:lpstr>Congestion Control in Datagram Subnets</vt:lpstr>
      <vt:lpstr>PowerPoint Presentation</vt:lpstr>
      <vt:lpstr>Congestion Control in Datagram Subnets</vt:lpstr>
      <vt:lpstr>Congestion Control in Datagram Subnets</vt:lpstr>
      <vt:lpstr>Hop-by-Hop Choke Packets</vt:lpstr>
      <vt:lpstr>Load Shedding</vt:lpstr>
      <vt:lpstr>Load Shedding</vt:lpstr>
      <vt:lpstr>Load Shedding</vt:lpstr>
      <vt:lpstr>Jitter Control</vt:lpstr>
      <vt:lpstr>Jitter Control</vt:lpstr>
      <vt:lpstr>Jitter Control</vt:lpstr>
      <vt:lpstr>PowerPoint Presentation</vt:lpstr>
      <vt:lpstr>Quality of Service</vt:lpstr>
      <vt:lpstr>Application Requirements</vt:lpstr>
      <vt:lpstr>PowerPoint Presentation</vt:lpstr>
      <vt:lpstr>Techniques for Achieving Good Quality of Service </vt:lpstr>
      <vt:lpstr>Overprovisioning</vt:lpstr>
      <vt:lpstr>Buffering</vt:lpstr>
      <vt:lpstr>Traffic Shaping </vt:lpstr>
      <vt:lpstr>PowerPoint Presentation</vt:lpstr>
      <vt:lpstr>PowerPoint Presentation</vt:lpstr>
      <vt:lpstr>The Leaky Bucket Algorithm </vt:lpstr>
      <vt:lpstr>PowerPoint Presentation</vt:lpstr>
      <vt:lpstr>PowerPoint Presentation</vt:lpstr>
      <vt:lpstr>PowerPoint Presentation</vt:lpstr>
      <vt:lpstr>PowerPoint Presentation</vt:lpstr>
      <vt:lpstr>Tutorial</vt:lpstr>
      <vt:lpstr>PowerPoint Presentation</vt:lpstr>
      <vt:lpstr>Packet Scheduling </vt:lpstr>
      <vt:lpstr>Packet Scheduling </vt:lpstr>
      <vt:lpstr>Packet Scheduling</vt:lpstr>
      <vt:lpstr>Packet Scheduling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III</dc:title>
  <dc:creator>sijimolas@gmail.com</dc:creator>
  <cp:lastModifiedBy>ASUS</cp:lastModifiedBy>
  <cp:revision>30</cp:revision>
  <dcterms:created xsi:type="dcterms:W3CDTF">2020-03-17T20:13:42Z</dcterms:created>
  <dcterms:modified xsi:type="dcterms:W3CDTF">2023-11-07T10:33:38Z</dcterms:modified>
</cp:coreProperties>
</file>