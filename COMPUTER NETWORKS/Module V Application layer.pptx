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3"/>
  </p:notesMasterIdLst>
  <p:sldIdLst>
    <p:sldId id="306" r:id="rId2"/>
    <p:sldId id="339" r:id="rId3"/>
    <p:sldId id="340" r:id="rId4"/>
    <p:sldId id="341" r:id="rId5"/>
    <p:sldId id="342" r:id="rId6"/>
    <p:sldId id="343" r:id="rId7"/>
    <p:sldId id="344" r:id="rId8"/>
    <p:sldId id="346" r:id="rId9"/>
    <p:sldId id="345" r:id="rId10"/>
    <p:sldId id="347" r:id="rId11"/>
    <p:sldId id="348" r:id="rId12"/>
    <p:sldId id="349" r:id="rId13"/>
    <p:sldId id="350" r:id="rId14"/>
    <p:sldId id="362" r:id="rId15"/>
    <p:sldId id="363" r:id="rId16"/>
    <p:sldId id="364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0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7C044-E79A-44FE-BD83-A750A3CD1A45}" type="datetimeFigureOut">
              <a:rPr lang="en-US" smtClean="0"/>
              <a:pPr/>
              <a:t>12/6/2023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F5DE3-3C49-419D-B096-51AD8E047A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32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21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6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202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774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2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514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127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17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55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91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26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91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5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923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2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42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254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84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289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38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2046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00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961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50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31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77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2270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783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12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643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5174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10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590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0717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175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595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415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641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F5DE3-3C49-419D-B096-51AD8E047A6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24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62D7A-38B9-4A1C-91CB-FE05FBDF5B7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5C829-AE99-4997-8EBC-414F558758A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8CC6B-B086-4019-9A6B-1D7874CBC23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445ED-F1CB-4A7A-8277-EC641C976379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9CB95-5005-4683-9F27-FD9CEC8C2E9C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F2FA5-0ECD-45FB-ADFF-50B964F62A79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A792C1-97CB-47CE-8811-7FD9D72F6C5E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120ED-67C9-4200-9AE3-E543EF218D0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B78E4-0C88-4767-B60F-E55BCFA972E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00A69-AFA5-4606-8E56-05A639C9AE5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17F2A0-B6FE-4181-9E81-15870594AAC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B6DDB3D3-3028-4451-A3A3-65B85FF8A528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609600" indent="-609600" algn="l" rtl="0" fontAlgn="base">
        <a:spcBef>
          <a:spcPct val="20000"/>
        </a:spcBef>
        <a:spcAft>
          <a:spcPct val="0"/>
        </a:spcAft>
        <a:buClr>
          <a:schemeClr val="accent2"/>
        </a:buClr>
        <a:buAutoNum type="alphaLcParenR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371600" indent="-4572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752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2098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80533"/>
            <a:ext cx="7947378" cy="5685151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</a:rPr>
              <a:t>Module III</a:t>
            </a:r>
            <a:br>
              <a:rPr lang="en-US" sz="4400" dirty="0">
                <a:solidFill>
                  <a:srgbClr val="FF0000"/>
                </a:solidFill>
              </a:rPr>
            </a:br>
            <a:r>
              <a:rPr lang="en-US" sz="4400" dirty="0"/>
              <a:t> </a:t>
            </a:r>
            <a:r>
              <a:rPr lang="en-US" sz="4400" dirty="0">
                <a:solidFill>
                  <a:srgbClr val="FF0000"/>
                </a:solidFill>
              </a:rPr>
              <a:t>Application layer </a:t>
            </a:r>
          </a:p>
          <a:p>
            <a:pPr>
              <a:buNone/>
            </a:pPr>
            <a:endParaRPr lang="en-US" sz="3600" dirty="0"/>
          </a:p>
          <a:p>
            <a:pPr algn="just">
              <a:buNone/>
            </a:pPr>
            <a:r>
              <a:rPr lang="en-US" sz="3600" dirty="0"/>
              <a:t>DNS, Electronic mail, MIME, SNMP. Introduction to World Wide Web.</a:t>
            </a:r>
          </a:p>
          <a:p>
            <a:pPr algn="just">
              <a:buNone/>
            </a:pP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DNS - The Domain Name System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addresses are hard for people to remember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if ISP or organization moves the mail server to a different machine with a different IP address, e-mail address has to change.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ASCII names were introduced to decouple machine names from machine addresses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network understands only numerical addresses,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 some mechanism is required to convert the ASCII strings to network addresses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kern="0" dirty="0">
                <a:latin typeface="Arial" pitchFamily="34" charset="0"/>
                <a:cs typeface="Arial" pitchFamily="34" charset="0"/>
              </a:rPr>
              <a:t>Earlier, </a:t>
            </a:r>
            <a:r>
              <a:rPr lang="en-US" sz="2400" dirty="0"/>
              <a:t>a file, hosts.txt, that listed all the hosts and their IP addresses  was used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Problem: size of the file became too large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solve these problems, </a:t>
            </a:r>
            <a:r>
              <a:rPr lang="en-US" sz="2400" b="1" dirty="0"/>
              <a:t>DNS </a:t>
            </a:r>
            <a:r>
              <a:rPr lang="en-US" sz="2400" dirty="0"/>
              <a:t>was invented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Essence of DNS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invention of a hierarchical, domain-based naming scheme and a distributed database system for implementing this naming scheme.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primarily used for mapping host names and e-mail destinations to IP addresses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Working: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map a name onto an IP address, an application program calls a library procedure called the </a:t>
            </a:r>
            <a:r>
              <a:rPr lang="en-US" sz="2400" b="1" dirty="0"/>
              <a:t>resolver, </a:t>
            </a:r>
            <a:r>
              <a:rPr lang="en-US" sz="2400" dirty="0"/>
              <a:t>passing it the name as a parameter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resolver sends a UDP packet to a local DNS server, which then looks up the name and returns the IP address to the resolver, which then returns it to the caller.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with the IP address, the program can then establish a TCP connection with the destination or send it UDP packets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DNS Name Space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Managing a large and constantly changing set of names is a crucial problem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Internet is divided into over 200 top-level </a:t>
            </a:r>
            <a:r>
              <a:rPr lang="en-US" sz="2400" b="1" dirty="0"/>
              <a:t>domains,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where each domain covers many hosts.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Each domain is partitioned into sub domains, and these are further partitioned, and so on.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All these domains can be represented by a tree, as shown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4" descr="7-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756" y="992187"/>
            <a:ext cx="8737599" cy="4268435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Fig: A portion of the Internet domain name space.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top-level domains come in two flavors: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generic and countries.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original generic domains were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com (commercial),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/>
              <a:t>edu</a:t>
            </a:r>
            <a:r>
              <a:rPr lang="en-US" sz="2400" dirty="0"/>
              <a:t> (educational institutions),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/>
              <a:t>gov</a:t>
            </a:r>
            <a:r>
              <a:rPr lang="en-US" sz="2400" dirty="0"/>
              <a:t> (the U.S. Federal Government),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/>
              <a:t>int</a:t>
            </a:r>
            <a:r>
              <a:rPr lang="en-US" sz="2400" dirty="0"/>
              <a:t> (certain international organizations),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mil (the U.S. armed forces),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net (network providers),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org (nonprofit organizations).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country domains include one entry for every country 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20380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ICANN approved four new, general-purpose, top-level domains, namely,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biz (businesses),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info (information),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name (people's names),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pro (professions, such as doctors and lawyers).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 addition, three more specialized top-level domains were introduced at the request of certain industries.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aero (aerospace industry),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coop (co-operatives),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museum (museums).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Other top-level domains will be added in the future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For locating people, resources, services, or objects , another directory service called </a:t>
            </a:r>
            <a:r>
              <a:rPr lang="en-US" sz="2400" b="1" dirty="0"/>
              <a:t>LDAP (Lightweight Directory Access Protocol)  </a:t>
            </a:r>
            <a:r>
              <a:rPr lang="en-US" sz="2400" dirty="0"/>
              <a:t>has been defined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Each domain is named by the path upward from it to the (unnamed) root. 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components are separated by periods (pronounced ''dot''). 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Thus, the engineering department at Sun Microsystems might be </a:t>
            </a:r>
            <a:r>
              <a:rPr lang="en-US" sz="2400" i="1" dirty="0"/>
              <a:t>eng.sun.com</a:t>
            </a:r>
          </a:p>
          <a:p>
            <a:pPr marL="609600" lvl="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Domain names can be either absolute or relative.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An absolute domain name always ends with a period (e.g., </a:t>
            </a:r>
            <a:r>
              <a:rPr lang="en-US" sz="2400" i="1" dirty="0"/>
              <a:t>eng.sun.com.), whereas a relative one does not.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Domain names are case insensitive,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 </a:t>
            </a:r>
            <a:r>
              <a:rPr lang="en-US" sz="2400" dirty="0" err="1"/>
              <a:t>edu</a:t>
            </a:r>
            <a:r>
              <a:rPr lang="en-US" sz="2400" dirty="0"/>
              <a:t>, </a:t>
            </a:r>
            <a:r>
              <a:rPr lang="en-US" sz="2400" dirty="0" err="1"/>
              <a:t>Edu</a:t>
            </a:r>
            <a:r>
              <a:rPr lang="en-US" sz="2400" dirty="0"/>
              <a:t>, and EDU mean the same thing.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Component names can be up to 63 characters long, and full path names must not exceed 255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create a new domain, permission is required of the domain in which it will be included.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Once a new domain has been created and registered, it can create </a:t>
            </a:r>
            <a:r>
              <a:rPr lang="en-US" sz="2400" dirty="0" err="1"/>
              <a:t>subdomains</a:t>
            </a:r>
            <a:r>
              <a:rPr lang="en-US" sz="2400" dirty="0"/>
              <a:t> without getting permission from anybody higher up the tree.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Naming follows organizational boundaries, not physical networks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b="1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Resource Records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Every domain, whether it is a single host or a top-level domain, can have a set of </a:t>
            </a:r>
            <a:r>
              <a:rPr lang="en-US" sz="2400" b="1" dirty="0"/>
              <a:t>resource records </a:t>
            </a:r>
            <a:r>
              <a:rPr lang="en-US" sz="2400" dirty="0"/>
              <a:t>associated with 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For a single host, the most common resource record is just its IP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When a resolver gives a domain name to DNS, what it gets back are the resource records associated with that name.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Thus, the primary function of DNS is to map domain names onto resource records.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 resource record is a five-tuple.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Although they are encoded in binary for efficiency,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 most descriptions, resource records are presented as ASCII text, one line per resource record.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format is as follows: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/>
              <a:t>Domain_name</a:t>
            </a:r>
            <a:r>
              <a:rPr lang="en-US" sz="2400" dirty="0"/>
              <a:t>   </a:t>
            </a:r>
            <a:r>
              <a:rPr lang="en-US" sz="2400" dirty="0" err="1"/>
              <a:t>Time_to_live</a:t>
            </a:r>
            <a:r>
              <a:rPr lang="en-US" sz="2400" dirty="0"/>
              <a:t>  Class    Type    	Value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/>
              <a:t>Domain_name</a:t>
            </a:r>
            <a:r>
              <a:rPr lang="en-US" sz="2400" dirty="0"/>
              <a:t> tells the domain to which this record applies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/>
              <a:t>Time_to_live</a:t>
            </a:r>
            <a:r>
              <a:rPr lang="en-US" sz="2400" dirty="0"/>
              <a:t> field gives an indication of how stable the record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Class field: For Internet information, it is always IN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Type field tells what kind of record this is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Value field. This field can be a number, a domain name, or an ASCII string. The semantics depend on the record type </a:t>
            </a:r>
          </a:p>
        </p:txBody>
      </p:sp>
      <p:pic>
        <p:nvPicPr>
          <p:cNvPr id="4" name="Picture 4" descr="7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0750" y="1735138"/>
            <a:ext cx="7543800" cy="3157537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5127978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Fig: principal DNS resource records types.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Name Servers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 theory, a single name server could contain the entire DNS database and respond to all queries about it.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 practice, this server would be so </a:t>
            </a:r>
            <a:r>
              <a:rPr lang="en-US" sz="2400" dirty="0">
                <a:solidFill>
                  <a:srgbClr val="FF0000"/>
                </a:solidFill>
              </a:rPr>
              <a:t>overloaded</a:t>
            </a:r>
            <a:r>
              <a:rPr lang="en-US" sz="2400" dirty="0"/>
              <a:t>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Furthermore, if it ever went down, the entire Internet would be collapsed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avoid the problems associated with having only a single source of information, the DNS name space is divided into </a:t>
            </a:r>
            <a:r>
              <a:rPr lang="en-US" sz="2400" dirty="0" err="1"/>
              <a:t>nonoverlapping</a:t>
            </a:r>
            <a:r>
              <a:rPr lang="en-US" sz="2400" dirty="0"/>
              <a:t> </a:t>
            </a:r>
            <a:r>
              <a:rPr lang="en-US" sz="2400" b="1" dirty="0"/>
              <a:t>zones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One possible way to divide the name space into zones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Each zone contains some part of the tree and also contains name servers holding the information about that zone.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DNS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Normally, a zone will have one primary name server, which gets its information from a file on its disk,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one or more secondary name servers, which get their information from the primary name server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improve reliability, some servers for a zone can be located outside the zone </a:t>
            </a:r>
          </a:p>
        </p:txBody>
      </p:sp>
      <p:pic>
        <p:nvPicPr>
          <p:cNvPr id="4" name="Picture 4" descr="7-0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046" y="3039534"/>
            <a:ext cx="8043862" cy="32766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6379616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Fig: Part of the DNS name space showing the division into zones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SNMP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Simple Network Management Protocol</a:t>
            </a:r>
            <a:r>
              <a:rPr lang="en-US" sz="2400" dirty="0"/>
              <a:t> (</a:t>
            </a:r>
            <a:r>
              <a:rPr lang="en-US" sz="2400" b="1" dirty="0"/>
              <a:t>SNMP</a:t>
            </a:r>
            <a:r>
              <a:rPr lang="en-US" sz="2400" dirty="0"/>
              <a:t>)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Internet-standard protocol for managing devices on IP networks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have the task of monitoring or managing a group of hosts or devices on a computer network.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Devices that typically support SNMP include routers, switches, servers, workstations, printers, modem racks and more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SNMP is used mostly in network management systems to monitor network-attached devices for conditions that warrant administrative attention.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It consists of a set of standards for network management, including an application layer protocol, a database schema, and a set of data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01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SNMP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An SNMP-managed network consists of three key components: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Managed device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network node that implements an SNMP interface that allows unidirectional (read-only) or bidirectional (read and write) access to node-specific information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exchange node-specific information with the NMS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 err="1"/>
              <a:t>Egs</a:t>
            </a:r>
            <a:r>
              <a:rPr lang="en-US" sz="2400" dirty="0"/>
              <a:t>: routers, access servers, switches, bridges, hubs, IP telephones, IP video cameras, computer hosts, and printers.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Agent 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software which runs on managed devices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has local knowledge of management information &amp; translates that information to or from an SNMP-specific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0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SNMP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Network management station (NMS) 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software which runs on the manager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executes applications that monitor and control managed devices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provide the bulk of the processing and memory resources required for network management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One or more NMSs may exist on any managed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70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710692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Electronic mail</a:t>
            </a:r>
            <a:r>
              <a:rPr lang="en-US" sz="2400" dirty="0"/>
              <a:t> or </a:t>
            </a:r>
            <a:r>
              <a:rPr lang="en-US" sz="2400" b="1" dirty="0"/>
              <a:t>e-mail: (Assignment III)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snail mails (paper letters) are getting overruled by e-mails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first e-mail systems simply consisted of file transfer protocols,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with the convention that the first line of each message (i.e., file) contained the recipient's address.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Some of the complaints were as follows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/>
              <a:t>Sending a message to a group of people was inconvenient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/>
              <a:t>Messages had no internal structure, making computer processing difficult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/>
              <a:t>The originator (sender) never knew if a message arrived or not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/>
              <a:t>Transferring mails to other person was not possible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/>
              <a:t>user interface was poorly integrated with the transmission system (edit a file, then leave the editor and invoke the file transfer program)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/>
              <a:t>not possible to create and send messages containing a mixture of text, drawings, facsimile, and voi</a:t>
            </a:r>
            <a:r>
              <a:rPr lang="en-US" dirty="0"/>
              <a:t>ce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Architecture and Services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overview of what e-mail systems can do and how they are organized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two subsystems: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user agents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which allow people to read and send e-mail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They are local programs that provide a command-based, menu-based, or graphical method for interacting with the e-mail system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message transfer agents</a:t>
            </a:r>
            <a:r>
              <a:rPr lang="en-US" sz="2400" dirty="0"/>
              <a:t>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which move the messages from the source to the destination.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They are typically system </a:t>
            </a:r>
            <a:r>
              <a:rPr lang="en-US" sz="2400" b="1" dirty="0"/>
              <a:t>daemons</a:t>
            </a:r>
            <a:r>
              <a:rPr lang="en-US" sz="2400" dirty="0"/>
              <a:t>, which are  processes that run in the background. </a:t>
            </a:r>
          </a:p>
          <a:p>
            <a:pPr marL="1981200" lvl="3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Their job is to move e-mail through the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e-mail systems support five basic functions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Composition </a:t>
            </a:r>
            <a:r>
              <a:rPr lang="en-US" sz="2400" dirty="0"/>
              <a:t>refers to the process of creating messages and answers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Transfer </a:t>
            </a:r>
            <a:r>
              <a:rPr lang="en-US" sz="2400" dirty="0"/>
              <a:t>refers to moving messages from the originator to the recipient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Reporting </a:t>
            </a:r>
            <a:r>
              <a:rPr lang="en-US" sz="2400" dirty="0"/>
              <a:t>has to do with telling the originator what happened to the message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Displaying </a:t>
            </a:r>
            <a:r>
              <a:rPr lang="en-US" sz="2400" dirty="0"/>
              <a:t>incoming messages is needed so people can read their e-mail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Disposition </a:t>
            </a:r>
            <a:r>
              <a:rPr lang="en-US" sz="2400" dirty="0"/>
              <a:t>is the final step and concerns what the recipient does with the message after receiving it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throwing it away before reading, throwing it away after reading, saving it, and so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Most systems allow users to create </a:t>
            </a:r>
            <a:r>
              <a:rPr lang="en-US" sz="2400" b="1" dirty="0"/>
              <a:t>mailboxes </a:t>
            </a:r>
            <a:r>
              <a:rPr lang="en-US" sz="2400" dirty="0"/>
              <a:t>to store incoming e-mail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Corporate managers often need to send a message to each of their subordinates, customers, or suppliers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Achieved by maintaining a </a:t>
            </a:r>
            <a:r>
              <a:rPr lang="en-US" sz="2400" b="1" dirty="0"/>
              <a:t>mailing list</a:t>
            </a:r>
            <a:r>
              <a:rPr lang="en-US" sz="2400" dirty="0"/>
              <a:t>, which is a list of e-mail addresses.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envelope</a:t>
            </a:r>
            <a:r>
              <a:rPr lang="en-US" sz="2400" dirty="0"/>
              <a:t> encapsulates the message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contains all the information needed for transporting the message, such as the destination address, priority, and security level, all of which are distinct from the message itself.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message transport agents use the envelope for 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message inside the envelope consists of two parts: the </a:t>
            </a:r>
            <a:r>
              <a:rPr lang="en-US" sz="2400" b="1" dirty="0"/>
              <a:t>header </a:t>
            </a:r>
            <a:r>
              <a:rPr lang="en-US" sz="2400" dirty="0"/>
              <a:t>and the </a:t>
            </a:r>
            <a:r>
              <a:rPr lang="en-US" sz="2400" b="1" dirty="0"/>
              <a:t>body.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header contains control information for the user agents.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body is entirely for the human recipient</a:t>
            </a:r>
          </a:p>
        </p:txBody>
      </p:sp>
      <p:pic>
        <p:nvPicPr>
          <p:cNvPr id="4" name="Picture 4" descr="7-0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5528" y="2386544"/>
            <a:ext cx="5864451" cy="447145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965244" y="3162279"/>
            <a:ext cx="21787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/>
              <a:t>Fig: Envelopes and messages.  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Paper mail.  </a:t>
            </a:r>
          </a:p>
          <a:p>
            <a:pPr marL="342900" indent="-342900"/>
            <a:r>
              <a:rPr lang="en-US" dirty="0">
                <a:solidFill>
                  <a:schemeClr val="accent2"/>
                </a:solidFill>
              </a:rPr>
              <a:t>(b)</a:t>
            </a:r>
            <a:r>
              <a:rPr lang="en-US" dirty="0"/>
              <a:t> Electronic mail.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Electronic Mail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user agent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normally a program (sometimes called a mail reader) that accepts a variety of commands for composing, receiving, and replying to messages, as well as for manipulating mailboxes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Write about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/>
              <a:t>Sending E-mail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/>
              <a:t>Reading E-mail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</p:txBody>
      </p:sp>
      <p:pic>
        <p:nvPicPr>
          <p:cNvPr id="4" name="Picture 4" descr="7-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329" y="3995031"/>
            <a:ext cx="6896100" cy="2817813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7337778" y="4573390"/>
            <a:ext cx="16481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/>
              <a:t>Fig: RFC 822 header fields related to message transport.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/>
              <a:t>MIME - The Multipurpose Internet Mail Extensions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 the early days of the ARPANET, e-mail consisted exclusively of text messages written in English and expressed in ASCII.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For this environment, RFC 822 did the job completely: 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it specified the headers but left the content entirely up to the users.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Nowadays, on the worldwide Internet, this approach is no longer adequate.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problems include sending and receiving </a:t>
            </a:r>
          </a:p>
          <a:p>
            <a:pPr lvl="3" algn="just"/>
            <a:r>
              <a:rPr lang="en-US" sz="2000" dirty="0"/>
              <a:t>1. Messages in languages with accents (e.g., French and German). </a:t>
            </a:r>
          </a:p>
          <a:p>
            <a:pPr lvl="3" algn="just"/>
            <a:r>
              <a:rPr lang="en-US" sz="2000" dirty="0"/>
              <a:t>2. Messages in non-Latin alphabets (e.g., Hebrew and Russian). </a:t>
            </a:r>
          </a:p>
          <a:p>
            <a:pPr lvl="3" algn="just"/>
            <a:r>
              <a:rPr lang="en-US" sz="2000" dirty="0"/>
              <a:t>3. Messages in languages without alphabets (e.g., Chinese and Japanese). </a:t>
            </a:r>
          </a:p>
          <a:p>
            <a:pPr lvl="3" algn="just"/>
            <a:r>
              <a:rPr lang="en-US" sz="2000" dirty="0"/>
              <a:t>4. Messages not containing text at all (e.g., audio or images).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basic idea of MIME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continue to use the RFC 822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but to add structure to the message body and define encoding rules for non-ASCII messages.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MIME messages can be sent using the existing mail programs and protocols.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All that has to be changed are the sending and receiving programs, which users can do for themselves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MIME defines five new message headers</a:t>
            </a:r>
          </a:p>
        </p:txBody>
      </p:sp>
      <p:pic>
        <p:nvPicPr>
          <p:cNvPr id="4" name="Picture 4" descr="7-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3358" y="4424010"/>
            <a:ext cx="7821613" cy="1925637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437484" y="6432223"/>
            <a:ext cx="4198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dirty="0"/>
              <a:t>Fig: RFC 822 headers added by MIME.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correct way to encode binary messages is to use </a:t>
            </a:r>
            <a:r>
              <a:rPr lang="en-US" sz="2400" b="1" dirty="0"/>
              <a:t>base64 encoding, </a:t>
            </a:r>
            <a:r>
              <a:rPr lang="en-US" sz="2400" dirty="0"/>
              <a:t>sometimes called </a:t>
            </a:r>
            <a:r>
              <a:rPr lang="en-US" sz="2400" b="1" dirty="0"/>
              <a:t>ASCII armor.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coding is ''A'' for 0, ''B'' for 1, and so on, followed by the 26 lower-case letters, the ten digits, and finally + and / for 62 and 63, respectively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Carriage returns and line feeds are ignored, so they can be inserted at will to keep the lines short enough.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For messages that are almost entirely ASCII but with a few non-ASCII characters, base64 encoding is somewhat inefficient.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Instead, an encoding known as </a:t>
            </a:r>
            <a:r>
              <a:rPr lang="en-US" sz="2400" b="1" dirty="0"/>
              <a:t>quoted-printable encoding </a:t>
            </a:r>
            <a:r>
              <a:rPr lang="en-US" sz="2400" dirty="0"/>
              <a:t>is used.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This is just 7-bit ASCII, with all the characters above 127 encoded as an equal sign followed by the character's value as two hexadecimal digits.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/>
              <a:t>MIME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</p:txBody>
      </p:sp>
      <p:pic>
        <p:nvPicPr>
          <p:cNvPr id="4" name="Picture 4" descr="7-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581" y="733777"/>
            <a:ext cx="7789333" cy="5647989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084647" y="6488668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Fig: MIME types and subtypes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i="1" dirty="0"/>
              <a:t>SMTP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/>
              <a:t>SMTP - The Simple Mail Transfer Protocol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Within the Internet, e-mail is delivered by having the source machine establish a TCP connection to port 25 of the destination machine.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Listening to this port is an e-mail daemon that speaks </a:t>
            </a:r>
            <a:r>
              <a:rPr lang="en-US" sz="2400" b="1" dirty="0"/>
              <a:t>SMTP (Simple Mail Transfer Protocol).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This daemon accepts incoming connections and copies messages from them into the appropriate mailboxes.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If a message cannot be delivered, an error report containing the first part of the undeliverable message is returned to the sender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World Wide Web (Assignment III)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architectural framework for accessing linked documents spread out over millions of machines all over the Internet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dirty="0"/>
              <a:t>Architectural Overview 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From the users' point of view, the Web consists of a vast, worldwide collection of documents or </a:t>
            </a:r>
            <a:r>
              <a:rPr lang="en-US" sz="2400" b="1" dirty="0"/>
              <a:t>Web pages</a:t>
            </a:r>
            <a:r>
              <a:rPr lang="en-US" sz="2400" dirty="0"/>
              <a:t>, often just called </a:t>
            </a:r>
            <a:r>
              <a:rPr lang="en-US" sz="2400" b="1" dirty="0"/>
              <a:t>pages</a:t>
            </a:r>
            <a:r>
              <a:rPr lang="en-US" sz="2400" dirty="0"/>
              <a:t>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Each page may contain links to other pages anywhere in the world.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Users can follow a link by clicking on it, which then takes them to the page pointed to.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This process can be repeated indefinitely.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idea of having one page point to another is called hypertext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Pages are viewed with a program called a </a:t>
            </a:r>
            <a:r>
              <a:rPr lang="en-US" sz="2400" b="1" dirty="0"/>
              <a:t>browser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Egs: Internet Explorer and Netscape Navigator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browser fetches the page requested, interprets the text and formatting commands on it, and displays the page, properly formatted, on the screen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Strings of text that are links to other pages, called </a:t>
            </a:r>
            <a:r>
              <a:rPr lang="en-US" sz="2400" b="1" dirty="0"/>
              <a:t>hyperlinks,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Hyperlinks are often highlighted, by underlining, displaying them in a special color, or both.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follow a link, the user places the mouse cursor on the highlighted area, which causes the cursor to change, and clicks on 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</p:txBody>
      </p:sp>
      <p:pic>
        <p:nvPicPr>
          <p:cNvPr id="4" name="Picture 4" descr="7-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9183" y="673452"/>
            <a:ext cx="8549039" cy="529837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356849" y="6123001"/>
            <a:ext cx="3014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Fig: parts of the Web model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/>
              <a:t>Client Side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browser is a program that can display a Web page and catch mouse clicks to items on the displayed page.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When an item is selected, the browser follows the hyperlink and fetches the page selected.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Therefore, the embedded hyperlink needs a way to name any other page on the Web.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Pages are named using </a:t>
            </a:r>
            <a:r>
              <a:rPr lang="en-US" sz="2400" b="1" dirty="0"/>
              <a:t>URLs (Uniform Resource Locators).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 typical URL is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http://www.abcd.com</a:t>
            </a:r>
          </a:p>
          <a:p>
            <a:pPr marL="1524000" lvl="2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When a user clicks on a hyperlink, the browser carries out a series of steps in order to fetch the page pointed to.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Suppose that a user is browsing the Web with URL, </a:t>
            </a:r>
            <a:r>
              <a:rPr lang="en-US" sz="2400" i="1" dirty="0"/>
              <a:t>http://www.itu.org/home/index.html.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Let us trace the steps that occur when this link is selected.</a:t>
            </a:r>
          </a:p>
          <a:p>
            <a:pPr lvl="2" algn="just"/>
            <a:r>
              <a:rPr lang="en-US" sz="2300" dirty="0"/>
              <a:t>1. The browser determines the URL</a:t>
            </a:r>
          </a:p>
          <a:p>
            <a:pPr lvl="2" algn="just"/>
            <a:r>
              <a:rPr lang="en-US" sz="2300" dirty="0"/>
              <a:t>2. The browser asks DNS for the IP address of </a:t>
            </a:r>
            <a:r>
              <a:rPr lang="en-US" sz="2300" i="1" dirty="0"/>
              <a:t>www.itu.org. </a:t>
            </a:r>
          </a:p>
          <a:p>
            <a:pPr lvl="2" algn="just"/>
            <a:r>
              <a:rPr lang="en-US" sz="2300" dirty="0"/>
              <a:t>3. DNS replies with 156.106.192.32. </a:t>
            </a:r>
          </a:p>
          <a:p>
            <a:pPr lvl="2" algn="just"/>
            <a:r>
              <a:rPr lang="en-US" sz="2300" dirty="0"/>
              <a:t>4. The browser makes a TCP connection to port 80 on 156.106.192.32. </a:t>
            </a:r>
          </a:p>
          <a:p>
            <a:pPr lvl="2" algn="just"/>
            <a:r>
              <a:rPr lang="en-US" sz="2300" dirty="0"/>
              <a:t>5. It then sends over a request asking for file </a:t>
            </a:r>
            <a:r>
              <a:rPr lang="en-US" sz="2300" i="1" dirty="0"/>
              <a:t>/home/index.html. </a:t>
            </a:r>
          </a:p>
          <a:p>
            <a:pPr lvl="2" algn="just"/>
            <a:r>
              <a:rPr lang="en-US" sz="2300" dirty="0"/>
              <a:t>6. The </a:t>
            </a:r>
            <a:r>
              <a:rPr lang="en-US" sz="2300" i="1" dirty="0"/>
              <a:t>www.itu.org server sends the file /home/index.html. </a:t>
            </a:r>
          </a:p>
          <a:p>
            <a:pPr lvl="2" algn="just"/>
            <a:r>
              <a:rPr lang="en-US" sz="2300" dirty="0"/>
              <a:t>7. The TCP connection is released. </a:t>
            </a:r>
          </a:p>
          <a:p>
            <a:pPr lvl="2" algn="just"/>
            <a:r>
              <a:rPr lang="en-US" sz="2300" dirty="0"/>
              <a:t>8. The browser displays all the text in </a:t>
            </a:r>
            <a:r>
              <a:rPr lang="en-US" sz="2300" i="1" dirty="0"/>
              <a:t>/home/index.html. </a:t>
            </a:r>
          </a:p>
          <a:p>
            <a:pPr lvl="2" algn="just"/>
            <a:r>
              <a:rPr lang="en-US" sz="2300" dirty="0"/>
              <a:t>9. The browser fetches and displays all images in this file.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To allow all browsers to understand all Web pages, Web pages are written in a standardized language called HTML, which describes Web pages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Although a browser is basically an HTML interpreter, most browsers have numerous buttons and features to make it easier to navigate the Web.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Button for going back to the previous page,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button for going forward to the next page and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button for going straight to the user's own start page.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button or menu item to set a bookmark on a given page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button to display the list of bookmarks,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Pages can also be saved to disk or printed.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Numerous options are generally available for controlling the screen layout and setting various user preferences.</a:t>
            </a:r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 page may consist of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formatted document in PDF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icon in GIF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photograph in JPEG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song in MP3 format,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video in MPEG format, or 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any one of hundreds of other file types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b="1" i="1" dirty="0"/>
              <a:t>Server Side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steps that the server performs in its main loop are:</a:t>
            </a:r>
          </a:p>
          <a:p>
            <a:pPr lvl="3" algn="just"/>
            <a:r>
              <a:rPr lang="en-US" sz="2400" dirty="0"/>
              <a:t>1. Accept a TCP connection from a client (a browser). </a:t>
            </a:r>
          </a:p>
          <a:p>
            <a:pPr lvl="3" algn="just"/>
            <a:r>
              <a:rPr lang="en-US" sz="2400" dirty="0"/>
              <a:t>2. Get the name of the file requested. </a:t>
            </a:r>
          </a:p>
          <a:p>
            <a:pPr lvl="3" algn="just"/>
            <a:r>
              <a:rPr lang="en-US" sz="2400" dirty="0"/>
              <a:t>3. Get the file (from disk). </a:t>
            </a:r>
          </a:p>
          <a:p>
            <a:pPr lvl="3" algn="just"/>
            <a:r>
              <a:rPr lang="en-US" sz="2400" dirty="0"/>
              <a:t>4. Return the file to the client. </a:t>
            </a:r>
          </a:p>
          <a:p>
            <a:pPr lvl="3" algn="just"/>
            <a:r>
              <a:rPr lang="en-US" sz="2400" dirty="0"/>
              <a:t>5. Release the TCP connection. </a:t>
            </a:r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Web server cannot serve more requests per second than it can make disk accesses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One obvious improvement (used by all Web servers) is to maintain a cache in memory of the </a:t>
            </a:r>
            <a:r>
              <a:rPr lang="en-US" sz="2400" i="1" dirty="0"/>
              <a:t>n most recently used files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Second improvement is to make the server multithreaded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/>
          </a:p>
        </p:txBody>
      </p:sp>
      <p:pic>
        <p:nvPicPr>
          <p:cNvPr id="4" name="Picture 4" descr="7-2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5664" y="2747785"/>
            <a:ext cx="7283450" cy="35306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6358426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Fig: A multithreaded Web server with a front end and processing modules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Different Processing Modules can be </a:t>
            </a:r>
          </a:p>
          <a:p>
            <a:pPr lvl="3" algn="just"/>
            <a:r>
              <a:rPr lang="en-US" sz="2400" dirty="0"/>
              <a:t>1. Resolve the name of the Web page requested. </a:t>
            </a:r>
          </a:p>
          <a:p>
            <a:pPr lvl="3" algn="just"/>
            <a:r>
              <a:rPr lang="en-US" sz="2400" dirty="0"/>
              <a:t>2. Authenticate the client. </a:t>
            </a:r>
          </a:p>
          <a:p>
            <a:pPr lvl="3" algn="just"/>
            <a:r>
              <a:rPr lang="en-US" sz="2400" dirty="0"/>
              <a:t>3. Perform access control on the client. </a:t>
            </a:r>
          </a:p>
          <a:p>
            <a:pPr lvl="3" algn="just"/>
            <a:r>
              <a:rPr lang="en-US" sz="2400" dirty="0"/>
              <a:t>4. Perform access control on the Web page. </a:t>
            </a:r>
          </a:p>
          <a:p>
            <a:pPr lvl="3" algn="just"/>
            <a:r>
              <a:rPr lang="en-US" sz="2400" dirty="0"/>
              <a:t>5. Check the cache. </a:t>
            </a:r>
          </a:p>
          <a:p>
            <a:pPr lvl="3" algn="just"/>
            <a:r>
              <a:rPr lang="en-US" sz="2400" dirty="0"/>
              <a:t>6. Fetch the requested page from disk. </a:t>
            </a:r>
          </a:p>
          <a:p>
            <a:pPr lvl="3" algn="just"/>
            <a:r>
              <a:rPr lang="en-US" sz="2400" dirty="0"/>
              <a:t>7. Determine the MIME type to include in the response. </a:t>
            </a:r>
          </a:p>
          <a:p>
            <a:pPr lvl="3" algn="just"/>
            <a:r>
              <a:rPr lang="en-US" sz="2400" dirty="0"/>
              <a:t>8. Take care of miscellaneous odds and ends. </a:t>
            </a:r>
          </a:p>
          <a:p>
            <a:pPr lvl="3" algn="just"/>
            <a:r>
              <a:rPr lang="en-US" sz="2400" dirty="0"/>
              <a:t>9. Return the reply to the client. </a:t>
            </a:r>
          </a:p>
          <a:p>
            <a:pPr lvl="3" algn="just"/>
            <a:r>
              <a:rPr lang="en-US" sz="2400" dirty="0"/>
              <a:t>10. Make an entry in the server log.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If too many requests come in each second, the CPU will not be able to handle the processing load, no matter how many disks are used in parallel.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solution is to add more nodes (computers), possibly with replicated disks to avoid having the disks become the next bottleneck.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This leads to the </a:t>
            </a:r>
            <a:r>
              <a:rPr lang="en-US" sz="2400" b="1" dirty="0"/>
              <a:t>server farm model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/>
          </a:p>
        </p:txBody>
      </p:sp>
      <p:pic>
        <p:nvPicPr>
          <p:cNvPr id="4" name="Picture 4" descr="7-2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112" y="3657953"/>
            <a:ext cx="8240888" cy="21336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614735" y="5897223"/>
            <a:ext cx="2057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dirty="0"/>
              <a:t>Fig: A server farm.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 front end still accepts incoming requests but sprays them over multiple CPUs rather than multiple threads to reduce the load on each computer.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The individual machines may themselves be multithreaded and pipelined 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One problem with server farms is that there is no longer a shared cache because each processing node has its own memory</a:t>
            </a:r>
          </a:p>
          <a:p>
            <a:pPr marL="1066800" lvl="1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Solution: an expensive shared-memory multiprocessor can be used.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Another problem with server farms is that the client's TCP connection terminates at the front end, so the reply must go through the front end</a:t>
            </a:r>
          </a:p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Solution: </a:t>
            </a:r>
            <a:r>
              <a:rPr lang="en-US" sz="2400" b="1" dirty="0"/>
              <a:t>TCP handoff - </a:t>
            </a:r>
            <a:r>
              <a:rPr lang="en-US" sz="2400" dirty="0"/>
              <a:t>TCP end point is passed to the processing node so it can reply directly to the client </a:t>
            </a:r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/>
          </a:p>
        </p:txBody>
      </p:sp>
      <p:pic>
        <p:nvPicPr>
          <p:cNvPr id="4" name="Picture 4" descr="7-2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9356" y="815446"/>
            <a:ext cx="8054514" cy="5099932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00010" y="5860344"/>
            <a:ext cx="575874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(a)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Normal request-reply message sequence.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(b)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Sequence when TCP handoff is used.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950"/>
            <a:ext cx="9144000" cy="704543"/>
          </a:xfrm>
        </p:spPr>
        <p:txBody>
          <a:bodyPr/>
          <a:lstStyle/>
          <a:p>
            <a:r>
              <a:rPr lang="en-US" b="1" dirty="0"/>
              <a:t>WWW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665536"/>
            <a:ext cx="9144000" cy="588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2300" dirty="0"/>
          </a:p>
        </p:txBody>
      </p:sp>
      <p:pic>
        <p:nvPicPr>
          <p:cNvPr id="7" name="Picture 4" descr="7-2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2313" y="1477963"/>
            <a:ext cx="7589837" cy="3260725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452753" y="5219889"/>
            <a:ext cx="2890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dirty="0"/>
              <a:t>Fig: Some common URLs.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7,9,12,13,118,19,26,27,29,,40,42,43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C829-AE99-4997-8EBC-414F558758A8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04310"/>
      </p:ext>
    </p:extLst>
  </p:cSld>
  <p:clrMapOvr>
    <a:masterClrMapping/>
  </p:clrMapOvr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Tannenbaum</Template>
  <TotalTime>8268</TotalTime>
  <Words>3233</Words>
  <Application>Microsoft Office PowerPoint</Application>
  <PresentationFormat>On-screen Show (4:3)</PresentationFormat>
  <Paragraphs>396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Times New Roman</vt:lpstr>
      <vt:lpstr>Wingdings</vt:lpstr>
      <vt:lpstr>Tannenbaum</vt:lpstr>
      <vt:lpstr>PowerPoint Presentation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DNS</vt:lpstr>
      <vt:lpstr>SNMP</vt:lpstr>
      <vt:lpstr>SNMP</vt:lpstr>
      <vt:lpstr>SNMP</vt:lpstr>
      <vt:lpstr>Electronic Mail</vt:lpstr>
      <vt:lpstr>Electronic Mail</vt:lpstr>
      <vt:lpstr>Electronic Mail</vt:lpstr>
      <vt:lpstr>Electronic Mail</vt:lpstr>
      <vt:lpstr>Electronic Mail</vt:lpstr>
      <vt:lpstr>Electronic Mail</vt:lpstr>
      <vt:lpstr>MIME</vt:lpstr>
      <vt:lpstr>MIME</vt:lpstr>
      <vt:lpstr>MIME</vt:lpstr>
      <vt:lpstr>MIME</vt:lpstr>
      <vt:lpstr>SMTP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WWW</vt:lpstr>
      <vt:lpstr>7,9,12,13,118,19,26,27,29,,40,42,43</vt:lpstr>
    </vt:vector>
  </TitlesOfParts>
  <Company>East Texas Data Service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Network Layer</dc:title>
  <dc:creator>Steve Armstrong</dc:creator>
  <cp:lastModifiedBy>ASUS</cp:lastModifiedBy>
  <cp:revision>774</cp:revision>
  <dcterms:created xsi:type="dcterms:W3CDTF">2002-07-22T23:52:29Z</dcterms:created>
  <dcterms:modified xsi:type="dcterms:W3CDTF">2023-12-06T10:32:58Z</dcterms:modified>
</cp:coreProperties>
</file>