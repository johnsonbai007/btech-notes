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3"/>
  </p:notesMasterIdLst>
  <p:sldIdLst>
    <p:sldId id="256" r:id="rId2"/>
    <p:sldId id="321" r:id="rId3"/>
    <p:sldId id="300"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91" r:id="rId18"/>
    <p:sldId id="314" r:id="rId19"/>
    <p:sldId id="315" r:id="rId20"/>
    <p:sldId id="392" r:id="rId21"/>
    <p:sldId id="393" r:id="rId22"/>
    <p:sldId id="394" r:id="rId23"/>
    <p:sldId id="398" r:id="rId24"/>
    <p:sldId id="396" r:id="rId25"/>
    <p:sldId id="399" r:id="rId26"/>
    <p:sldId id="400" r:id="rId27"/>
    <p:sldId id="401" r:id="rId28"/>
    <p:sldId id="402" r:id="rId29"/>
    <p:sldId id="403" r:id="rId30"/>
    <p:sldId id="404" r:id="rId31"/>
    <p:sldId id="405" r:id="rId32"/>
    <p:sldId id="397" r:id="rId33"/>
    <p:sldId id="406" r:id="rId34"/>
    <p:sldId id="319" r:id="rId35"/>
    <p:sldId id="320" r:id="rId36"/>
    <p:sldId id="408" r:id="rId37"/>
    <p:sldId id="415" r:id="rId38"/>
    <p:sldId id="409" r:id="rId39"/>
    <p:sldId id="410" r:id="rId40"/>
    <p:sldId id="411" r:id="rId41"/>
    <p:sldId id="412" r:id="rId42"/>
    <p:sldId id="334" r:id="rId43"/>
    <p:sldId id="413" r:id="rId44"/>
    <p:sldId id="414" r:id="rId45"/>
    <p:sldId id="318" r:id="rId46"/>
    <p:sldId id="444" r:id="rId47"/>
    <p:sldId id="425" r:id="rId48"/>
    <p:sldId id="426" r:id="rId49"/>
    <p:sldId id="348" r:id="rId50"/>
    <p:sldId id="427" r:id="rId51"/>
    <p:sldId id="349" r:id="rId52"/>
    <p:sldId id="350" r:id="rId53"/>
    <p:sldId id="351" r:id="rId54"/>
    <p:sldId id="352" r:id="rId55"/>
    <p:sldId id="353" r:id="rId56"/>
    <p:sldId id="354" r:id="rId57"/>
    <p:sldId id="355" r:id="rId58"/>
    <p:sldId id="356" r:id="rId59"/>
    <p:sldId id="357" r:id="rId60"/>
    <p:sldId id="428" r:id="rId61"/>
    <p:sldId id="358" r:id="rId62"/>
    <p:sldId id="359" r:id="rId63"/>
    <p:sldId id="445" r:id="rId64"/>
    <p:sldId id="446" r:id="rId65"/>
    <p:sldId id="335" r:id="rId66"/>
    <p:sldId id="447" r:id="rId67"/>
    <p:sldId id="448" r:id="rId68"/>
    <p:sldId id="449" r:id="rId69"/>
    <p:sldId id="407" r:id="rId70"/>
    <p:sldId id="450" r:id="rId71"/>
    <p:sldId id="451" r:id="rId72"/>
    <p:sldId id="452" r:id="rId73"/>
    <p:sldId id="486" r:id="rId74"/>
    <p:sldId id="487" r:id="rId75"/>
    <p:sldId id="453" r:id="rId76"/>
    <p:sldId id="488" r:id="rId77"/>
    <p:sldId id="489" r:id="rId78"/>
    <p:sldId id="490" r:id="rId79"/>
    <p:sldId id="454" r:id="rId80"/>
    <p:sldId id="455" r:id="rId81"/>
    <p:sldId id="435" r:id="rId82"/>
    <p:sldId id="379" r:id="rId83"/>
    <p:sldId id="362" r:id="rId84"/>
    <p:sldId id="456" r:id="rId85"/>
    <p:sldId id="457" r:id="rId86"/>
    <p:sldId id="458" r:id="rId87"/>
    <p:sldId id="459" r:id="rId88"/>
    <p:sldId id="460" r:id="rId89"/>
    <p:sldId id="366" r:id="rId90"/>
    <p:sldId id="367" r:id="rId91"/>
    <p:sldId id="368" r:id="rId92"/>
    <p:sldId id="483" r:id="rId93"/>
    <p:sldId id="484" r:id="rId94"/>
    <p:sldId id="485" r:id="rId95"/>
    <p:sldId id="461" r:id="rId96"/>
    <p:sldId id="462" r:id="rId97"/>
    <p:sldId id="463" r:id="rId98"/>
    <p:sldId id="464" r:id="rId99"/>
    <p:sldId id="465" r:id="rId100"/>
    <p:sldId id="374" r:id="rId101"/>
    <p:sldId id="466" r:id="rId102"/>
    <p:sldId id="467" r:id="rId103"/>
    <p:sldId id="376" r:id="rId104"/>
    <p:sldId id="478" r:id="rId105"/>
    <p:sldId id="479" r:id="rId106"/>
    <p:sldId id="480" r:id="rId107"/>
    <p:sldId id="481" r:id="rId108"/>
    <p:sldId id="482" r:id="rId109"/>
    <p:sldId id="468" r:id="rId110"/>
    <p:sldId id="381" r:id="rId111"/>
    <p:sldId id="469" r:id="rId112"/>
    <p:sldId id="470" r:id="rId113"/>
    <p:sldId id="471" r:id="rId114"/>
    <p:sldId id="473" r:id="rId115"/>
    <p:sldId id="472" r:id="rId116"/>
    <p:sldId id="474" r:id="rId117"/>
    <p:sldId id="388" r:id="rId118"/>
    <p:sldId id="389" r:id="rId119"/>
    <p:sldId id="390" r:id="rId120"/>
    <p:sldId id="475" r:id="rId121"/>
    <p:sldId id="476" r:id="rId1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196" autoAdjust="0"/>
  </p:normalViewPr>
  <p:slideViewPr>
    <p:cSldViewPr snapToGrid="0">
      <p:cViewPr varScale="1">
        <p:scale>
          <a:sx n="63" d="100"/>
          <a:sy n="63" d="100"/>
        </p:scale>
        <p:origin x="804"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B213E-0AEE-43B6-9F0E-37DA849FB6BB}" type="datetimeFigureOut">
              <a:rPr lang="en-IN" smtClean="0"/>
              <a:t>15-10-2024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667580-1CA7-4DC5-B11B-C3E6395AA5C3}" type="slidenum">
              <a:rPr lang="en-IN" smtClean="0"/>
              <a:t>‹#›</a:t>
            </a:fld>
            <a:endParaRPr lang="en-IN"/>
          </a:p>
        </p:txBody>
      </p:sp>
    </p:spTree>
    <p:extLst>
      <p:ext uri="{BB962C8B-B14F-4D97-AF65-F5344CB8AC3E}">
        <p14:creationId xmlns:p14="http://schemas.microsoft.com/office/powerpoint/2010/main" val="1045176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2" name="Google Shape;412;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9" name="Google Shape;41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111937b53d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111937b53da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2" name="Google Shape;432;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9" name="Google Shape;439;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11937b53da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111937b53da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111937b53d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111937b53d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1" name="Google Shape;461;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111937b53d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111937b53d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1" name="Google Shape;471;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111937b53d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111937b53d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2" name="Google Shape;482;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8" name="Google Shape;488;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111937b53da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111937b53da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9" name="Google Shape;519;p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82184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6" name="Google Shape;526;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9600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49</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59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63</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64</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66</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67</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68</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69</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70</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71</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CDF5DE3-3C49-419D-B096-51AD8E047A66}" type="slidenum">
              <a:rPr lang="en-US" smtClean="0"/>
              <a:pPr/>
              <a:t>89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A9C35-0DD6-4DDD-98E2-12490A238B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F3D6680-A33B-43EB-9E37-0BE4FBE43E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0E77B7-37B1-49A2-9D42-EF89D05CE5C5}"/>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5" name="Footer Placeholder 4">
            <a:extLst>
              <a:ext uri="{FF2B5EF4-FFF2-40B4-BE49-F238E27FC236}">
                <a16:creationId xmlns:a16="http://schemas.microsoft.com/office/drawing/2014/main" id="{E692399C-9D5D-4781-82A7-59535D4CBB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595010-0D02-432A-944F-E1D93C37DCAC}"/>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252959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88277-8ED7-4F68-8264-442CAFCA36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F587FE-4A7F-4DD9-B07E-BFCB7AF8A6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B20546-964B-4CB5-8C2C-6498F328BDA9}"/>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5" name="Footer Placeholder 4">
            <a:extLst>
              <a:ext uri="{FF2B5EF4-FFF2-40B4-BE49-F238E27FC236}">
                <a16:creationId xmlns:a16="http://schemas.microsoft.com/office/drawing/2014/main" id="{3D36E0BC-3E0D-4887-BC02-C184C97112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2D3FCE-0B0C-4D03-BA46-FA56839F2908}"/>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1067255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4FE7E-D813-474C-8BBC-DC52CC56B0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38915C-28CB-42AF-A06F-323DFC6CBC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4A57B2-3492-4673-BCEF-28FEB974D401}"/>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5" name="Footer Placeholder 4">
            <a:extLst>
              <a:ext uri="{FF2B5EF4-FFF2-40B4-BE49-F238E27FC236}">
                <a16:creationId xmlns:a16="http://schemas.microsoft.com/office/drawing/2014/main" id="{2E3BD6D2-AF2E-4EC8-85E8-5A1F27F926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CB6C12-7C29-42B4-97DA-69008C9267D1}"/>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34160207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E367E-ECC5-4F4B-A649-A0EDAD3114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4A2B38-718B-42A1-947D-69C0583643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250EAA-F18B-48E0-9E60-AD53484587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4723D3-8C33-4252-ADDB-F3C18C3A5924}"/>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6" name="Footer Placeholder 5">
            <a:extLst>
              <a:ext uri="{FF2B5EF4-FFF2-40B4-BE49-F238E27FC236}">
                <a16:creationId xmlns:a16="http://schemas.microsoft.com/office/drawing/2014/main" id="{48531D77-2C43-43CC-962D-B569A558F1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E4EEB7-3F7F-4E13-AA00-57EC2C5005C8}"/>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3752780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7C17F-688E-4394-BB6B-3F70451037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77956B-CA05-4628-958A-68409E960E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9DFF9B-9B8C-4711-B2B5-7492F6098A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D5E746-96F2-43D1-8BBD-FCAD817C46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EBD590-89EA-4627-B1BD-9F103375AA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25E7E40-41D5-466B-9F1D-493A68994366}"/>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8" name="Footer Placeholder 7">
            <a:extLst>
              <a:ext uri="{FF2B5EF4-FFF2-40B4-BE49-F238E27FC236}">
                <a16:creationId xmlns:a16="http://schemas.microsoft.com/office/drawing/2014/main" id="{BBB6DBB5-C4D1-4403-BF1E-16839618105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E2E899-0D9E-48A7-AD02-3E79299E05C8}"/>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2340908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BDE8B-76CF-4568-9265-A556637749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AA3FA02-2783-49E0-AE6B-FF4060137C87}"/>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4" name="Footer Placeholder 3">
            <a:extLst>
              <a:ext uri="{FF2B5EF4-FFF2-40B4-BE49-F238E27FC236}">
                <a16:creationId xmlns:a16="http://schemas.microsoft.com/office/drawing/2014/main" id="{B4E9DE7B-C449-4E3D-BAE9-C6FFA7AECD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D1B813-5101-4864-9415-91BF7905393F}"/>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1635511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3014A5-7A3B-4BE7-B3AD-2BA71CA1BF5F}"/>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3" name="Footer Placeholder 2">
            <a:extLst>
              <a:ext uri="{FF2B5EF4-FFF2-40B4-BE49-F238E27FC236}">
                <a16:creationId xmlns:a16="http://schemas.microsoft.com/office/drawing/2014/main" id="{5C6957DD-6744-47CF-AAAA-6319A086863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DDA990-8BD4-4FF0-B543-18FC67FAF01A}"/>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175775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AA046-82AC-4E2A-A91E-020C0E1817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565245-52E5-464B-8BD6-2CF79B1A02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45D996-0867-408F-99D3-9DC7625E31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0FF42E-11B7-44FB-9D6F-D967E22B0EB2}"/>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6" name="Footer Placeholder 5">
            <a:extLst>
              <a:ext uri="{FF2B5EF4-FFF2-40B4-BE49-F238E27FC236}">
                <a16:creationId xmlns:a16="http://schemas.microsoft.com/office/drawing/2014/main" id="{16179E1A-B181-4525-B601-C78FCCB03E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DA82AA4-7A21-4DBD-93DF-4A5E64722BC0}"/>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1737068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9E06-6D99-423C-95FA-B7FAFF1B3D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9D9220-BB7D-4CBD-AD70-91DD479103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26DB3E-AD1D-4963-BA67-A2650B796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B37F18-FE5A-4616-B718-5DC7BFC0863A}"/>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6" name="Footer Placeholder 5">
            <a:extLst>
              <a:ext uri="{FF2B5EF4-FFF2-40B4-BE49-F238E27FC236}">
                <a16:creationId xmlns:a16="http://schemas.microsoft.com/office/drawing/2014/main" id="{236AB63C-5572-4C76-8D99-0EEBC11899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7764A8-0F71-408C-A279-72361DFB934D}"/>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679742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50965-074D-41A8-9B9A-E16182899C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1C45F4-C96B-46C6-AF5D-F0D605C0E8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CF5955-3033-4313-B3B1-2CAA97FE0C3C}"/>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5" name="Footer Placeholder 4">
            <a:extLst>
              <a:ext uri="{FF2B5EF4-FFF2-40B4-BE49-F238E27FC236}">
                <a16:creationId xmlns:a16="http://schemas.microsoft.com/office/drawing/2014/main" id="{5335B1CC-781E-4609-BF44-7AC0E289D0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C80C1F-0869-48F6-9280-1A50835747E9}"/>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2797052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2422A0-7506-43E5-890D-7D9728D2E0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503198E-1B7E-4064-815E-E4CC26FCAD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96A878-26DB-4412-AFB8-9ED0A185B5BE}"/>
              </a:ext>
            </a:extLst>
          </p:cNvPr>
          <p:cNvSpPr>
            <a:spLocks noGrp="1"/>
          </p:cNvSpPr>
          <p:nvPr>
            <p:ph type="dt" sz="half" idx="10"/>
          </p:nvPr>
        </p:nvSpPr>
        <p:spPr/>
        <p:txBody>
          <a:bodyPr/>
          <a:lstStyle/>
          <a:p>
            <a:fld id="{30FFC620-B10E-41CC-8318-9CF308932E8C}" type="datetimeFigureOut">
              <a:rPr lang="en-IN" smtClean="0"/>
              <a:t>15-10-2024</a:t>
            </a:fld>
            <a:endParaRPr lang="en-IN"/>
          </a:p>
        </p:txBody>
      </p:sp>
      <p:sp>
        <p:nvSpPr>
          <p:cNvPr id="5" name="Footer Placeholder 4">
            <a:extLst>
              <a:ext uri="{FF2B5EF4-FFF2-40B4-BE49-F238E27FC236}">
                <a16:creationId xmlns:a16="http://schemas.microsoft.com/office/drawing/2014/main" id="{226BB819-403F-4703-BB68-0E22DC38EB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E4BB35-2811-4FFA-87F8-09C598176EC8}"/>
              </a:ext>
            </a:extLst>
          </p:cNvPr>
          <p:cNvSpPr>
            <a:spLocks noGrp="1"/>
          </p:cNvSpPr>
          <p:nvPr>
            <p:ph type="sldNum" sz="quarter" idx="12"/>
          </p:nvPr>
        </p:nvSpPr>
        <p:spPr/>
        <p:txBody>
          <a:bodyPr/>
          <a:lstStyle/>
          <a:p>
            <a:fld id="{0EEEC925-8D2C-4C07-A08A-1D236BF5B249}" type="slidenum">
              <a:rPr lang="en-IN" smtClean="0"/>
              <a:t>‹#›</a:t>
            </a:fld>
            <a:endParaRPr lang="en-IN"/>
          </a:p>
        </p:txBody>
      </p:sp>
    </p:spTree>
    <p:extLst>
      <p:ext uri="{BB962C8B-B14F-4D97-AF65-F5344CB8AC3E}">
        <p14:creationId xmlns:p14="http://schemas.microsoft.com/office/powerpoint/2010/main" val="2062255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289632-18BE-4F55-A80C-8DF879E7BD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3437C7-E898-4C6F-AFEA-5470D2C07A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B682CD-9F2C-426B-9891-9AD4434FC3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FFC620-B10E-41CC-8318-9CF308932E8C}" type="datetimeFigureOut">
              <a:rPr lang="en-IN" smtClean="0"/>
              <a:t>15-10-2024</a:t>
            </a:fld>
            <a:endParaRPr lang="en-IN"/>
          </a:p>
        </p:txBody>
      </p:sp>
      <p:sp>
        <p:nvSpPr>
          <p:cNvPr id="5" name="Footer Placeholder 4">
            <a:extLst>
              <a:ext uri="{FF2B5EF4-FFF2-40B4-BE49-F238E27FC236}">
                <a16:creationId xmlns:a16="http://schemas.microsoft.com/office/drawing/2014/main" id="{A4782F0B-5F0F-43DC-8EBC-E2EBD863D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D4868B-8BEB-4984-85FE-EBF1DBCA29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EC925-8D2C-4C07-A08A-1D236BF5B249}" type="slidenum">
              <a:rPr lang="en-IN" smtClean="0"/>
              <a:t>‹#›</a:t>
            </a:fld>
            <a:endParaRPr lang="en-IN"/>
          </a:p>
        </p:txBody>
      </p:sp>
    </p:spTree>
    <p:extLst>
      <p:ext uri="{BB962C8B-B14F-4D97-AF65-F5344CB8AC3E}">
        <p14:creationId xmlns:p14="http://schemas.microsoft.com/office/powerpoint/2010/main" val="28317704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8.wmf"/></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9.wmf"/></Relationships>
</file>

<file path=ppt/slides/_rels/slide7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1.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2.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3.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C145A-4E36-4960-AEEF-2ED161FF597D}"/>
              </a:ext>
            </a:extLst>
          </p:cNvPr>
          <p:cNvSpPr>
            <a:spLocks noGrp="1"/>
          </p:cNvSpPr>
          <p:nvPr>
            <p:ph type="ctrTitle"/>
          </p:nvPr>
        </p:nvSpPr>
        <p:spPr/>
        <p:txBody>
          <a:bodyPr>
            <a:normAutofit/>
          </a:bodyPr>
          <a:lstStyle/>
          <a:p>
            <a:r>
              <a:rPr lang="en-US" b="1" i="0" u="none" strike="noStrike" baseline="0" dirty="0">
                <a:latin typeface="TimesNewRomanPS-BoldMT"/>
              </a:rPr>
              <a:t>Module - 4</a:t>
            </a:r>
            <a:endParaRPr lang="en-IN" dirty="0"/>
          </a:p>
        </p:txBody>
      </p:sp>
      <p:sp>
        <p:nvSpPr>
          <p:cNvPr id="3" name="Subtitle 2">
            <a:extLst>
              <a:ext uri="{FF2B5EF4-FFF2-40B4-BE49-F238E27FC236}">
                <a16:creationId xmlns:a16="http://schemas.microsoft.com/office/drawing/2014/main" id="{252621F2-CE61-4AEB-85C5-1BD867DBD804}"/>
              </a:ext>
            </a:extLst>
          </p:cNvPr>
          <p:cNvSpPr>
            <a:spLocks noGrp="1"/>
          </p:cNvSpPr>
          <p:nvPr>
            <p:ph type="subTitle" idx="1"/>
          </p:nvPr>
        </p:nvSpPr>
        <p:spPr/>
        <p:txBody>
          <a:bodyPr>
            <a:normAutofit/>
          </a:bodyPr>
          <a:lstStyle/>
          <a:p>
            <a:r>
              <a:rPr lang="en-US" sz="4400" b="1" i="0" u="none" strike="noStrike" baseline="0" dirty="0">
                <a:latin typeface="TimesNewRomanPS-BoldMT"/>
              </a:rPr>
              <a:t>(Network Layer in the Internet)</a:t>
            </a:r>
            <a:endParaRPr lang="en-IN" sz="4400" dirty="0"/>
          </a:p>
        </p:txBody>
      </p:sp>
    </p:spTree>
    <p:extLst>
      <p:ext uri="{BB962C8B-B14F-4D97-AF65-F5344CB8AC3E}">
        <p14:creationId xmlns:p14="http://schemas.microsoft.com/office/powerpoint/2010/main" val="7304773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C4BF9-79A7-4DDF-BEF1-9F87E5924D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D7C9328-8690-45A7-94C0-985F098B7276}"/>
              </a:ext>
            </a:extLst>
          </p:cNvPr>
          <p:cNvSpPr>
            <a:spLocks noGrp="1"/>
          </p:cNvSpPr>
          <p:nvPr>
            <p:ph idx="1"/>
          </p:nvPr>
        </p:nvSpPr>
        <p:spPr/>
        <p:txBody>
          <a:bodyPr>
            <a:normAutofit/>
          </a:bodyPr>
          <a:lstStyle/>
          <a:p>
            <a:pPr marL="0" indent="0" algn="just">
              <a:lnSpc>
                <a:spcPct val="100000"/>
              </a:lnSpc>
              <a:buNone/>
            </a:pPr>
            <a:r>
              <a:rPr lang="en-US" sz="3200" b="0" i="0" u="none" strike="noStrike" baseline="0" dirty="0">
                <a:solidFill>
                  <a:srgbClr val="FF0000"/>
                </a:solidFill>
                <a:latin typeface="TimesNewRomanPSMT"/>
              </a:rPr>
              <a:t>IP protocol, IP addresses, Internet Control Message Protocol (ICMP), Address Resolution Protocol (ARP), Reverse Address Resolution Protocol (RARP), Bootstrap Protocol (BOOTP),Dynamic Host Configuration Protocol (DHCP). Open Shortest Path First(OSPF) Protocol,</a:t>
            </a:r>
            <a:r>
              <a:rPr lang="en-IN" sz="3200" b="0" i="0" u="none" strike="noStrike" baseline="0" dirty="0">
                <a:solidFill>
                  <a:srgbClr val="FF0000"/>
                </a:solidFill>
                <a:latin typeface="TimesNewRomanPSMT"/>
              </a:rPr>
              <a:t>Border Gateway Protocol (BGP), Internet multicasting, IPv6, ICMPv6.</a:t>
            </a:r>
            <a:endParaRPr lang="en-IN" sz="3200" dirty="0">
              <a:solidFill>
                <a:srgbClr val="FF0000"/>
              </a:solidFill>
            </a:endParaRPr>
          </a:p>
        </p:txBody>
      </p:sp>
    </p:spTree>
    <p:extLst>
      <p:ext uri="{BB962C8B-B14F-4D97-AF65-F5344CB8AC3E}">
        <p14:creationId xmlns:p14="http://schemas.microsoft.com/office/powerpoint/2010/main" val="32874249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41"/>
          <p:cNvSpPr txBox="1">
            <a:spLocks noGrp="1"/>
          </p:cNvSpPr>
          <p:nvPr>
            <p:ph type="title"/>
          </p:nvPr>
        </p:nvSpPr>
        <p:spPr>
          <a:xfrm>
            <a:off x="273424" y="620620"/>
            <a:ext cx="10515600" cy="46859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Internet Routing Protocols</a:t>
            </a:r>
            <a:r>
              <a:rPr lang="en-US" sz="4000" b="1"/>
              <a:t/>
            </a:r>
            <a:br>
              <a:rPr lang="en-US" sz="4000" b="1"/>
            </a:br>
            <a:endParaRPr/>
          </a:p>
        </p:txBody>
      </p:sp>
      <p:sp>
        <p:nvSpPr>
          <p:cNvPr id="407" name="Google Shape;407;p41"/>
          <p:cNvSpPr txBox="1">
            <a:spLocks noGrp="1"/>
          </p:cNvSpPr>
          <p:nvPr>
            <p:ph type="body" idx="1"/>
          </p:nvPr>
        </p:nvSpPr>
        <p:spPr>
          <a:xfrm>
            <a:off x="273424" y="779929"/>
            <a:ext cx="11398624" cy="5365375"/>
          </a:xfrm>
          <a:prstGeom prst="rect">
            <a:avLst/>
          </a:prstGeom>
          <a:noFill/>
          <a:ln>
            <a:noFill/>
          </a:ln>
        </p:spPr>
        <p:txBody>
          <a:bodyPr spcFirstLastPara="1" wrap="square" lIns="91425" tIns="45700" rIns="91425" bIns="45700" anchor="t" anchorCtr="0">
            <a:normAutofit/>
          </a:bodyPr>
          <a:lstStyle/>
          <a:p>
            <a:pPr marL="228600" lvl="0" indent="-228600" algn="just" rtl="0">
              <a:lnSpc>
                <a:spcPct val="110000"/>
              </a:lnSpc>
              <a:spcBef>
                <a:spcPts val="0"/>
              </a:spcBef>
              <a:spcAft>
                <a:spcPts val="0"/>
              </a:spcAft>
              <a:buClr>
                <a:schemeClr val="dk1"/>
              </a:buClr>
              <a:buSzPts val="2400"/>
              <a:buChar char="•"/>
            </a:pPr>
            <a:r>
              <a:rPr lang="en-US" sz="2400" dirty="0"/>
              <a:t>An </a:t>
            </a:r>
            <a:r>
              <a:rPr lang="en-US" sz="2400" b="1" dirty="0"/>
              <a:t>autonomous system (AS) </a:t>
            </a:r>
            <a:r>
              <a:rPr lang="en-US" sz="2400" dirty="0"/>
              <a:t>is a group of </a:t>
            </a:r>
            <a:r>
              <a:rPr lang="en-US" sz="2400" dirty="0">
                <a:solidFill>
                  <a:srgbClr val="00B050"/>
                </a:solidFill>
              </a:rPr>
              <a:t>networks </a:t>
            </a:r>
            <a:r>
              <a:rPr lang="en-US" sz="2400" dirty="0"/>
              <a:t>and</a:t>
            </a:r>
            <a:r>
              <a:rPr lang="en-US" sz="2400" dirty="0">
                <a:solidFill>
                  <a:srgbClr val="00B050"/>
                </a:solidFill>
              </a:rPr>
              <a:t> routers </a:t>
            </a:r>
            <a:r>
              <a:rPr lang="en-US" sz="2400" dirty="0"/>
              <a:t>under the authority of a </a:t>
            </a:r>
            <a:r>
              <a:rPr lang="en-US" sz="2400" dirty="0">
                <a:solidFill>
                  <a:srgbClr val="FF0000"/>
                </a:solidFill>
              </a:rPr>
              <a:t>single administration</a:t>
            </a:r>
            <a:r>
              <a:rPr lang="en-US" sz="2400" dirty="0"/>
              <a:t>. </a:t>
            </a:r>
            <a:endParaRPr dirty="0"/>
          </a:p>
          <a:p>
            <a:pPr marL="228600" lvl="0" indent="-228600" algn="just" rtl="0">
              <a:lnSpc>
                <a:spcPct val="110000"/>
              </a:lnSpc>
              <a:spcBef>
                <a:spcPts val="1000"/>
              </a:spcBef>
              <a:spcAft>
                <a:spcPts val="0"/>
              </a:spcAft>
              <a:buClr>
                <a:schemeClr val="dk1"/>
              </a:buClr>
              <a:buSzPts val="2400"/>
              <a:buChar char="•"/>
            </a:pPr>
            <a:r>
              <a:rPr lang="en-US" sz="2400" dirty="0"/>
              <a:t>Routing </a:t>
            </a:r>
            <a:r>
              <a:rPr lang="en-US" sz="2400" dirty="0">
                <a:solidFill>
                  <a:srgbClr val="00B050"/>
                </a:solidFill>
              </a:rPr>
              <a:t>inside</a:t>
            </a:r>
            <a:r>
              <a:rPr lang="en-US" sz="2400" dirty="0"/>
              <a:t> an </a:t>
            </a:r>
            <a:r>
              <a:rPr lang="en-US" sz="2400" b="1" dirty="0"/>
              <a:t>autonomous system </a:t>
            </a:r>
            <a:r>
              <a:rPr lang="en-US" sz="2400" dirty="0"/>
              <a:t>is called </a:t>
            </a:r>
            <a:r>
              <a:rPr lang="en-US" sz="2400" b="1" dirty="0">
                <a:solidFill>
                  <a:srgbClr val="FF0000"/>
                </a:solidFill>
              </a:rPr>
              <a:t>intra</a:t>
            </a:r>
            <a:r>
              <a:rPr lang="en-US" sz="2400" b="1" dirty="0"/>
              <a:t>-domain routing</a:t>
            </a:r>
            <a:r>
              <a:rPr lang="en-US" sz="2400" dirty="0"/>
              <a:t>. </a:t>
            </a:r>
            <a:endParaRPr dirty="0"/>
          </a:p>
          <a:p>
            <a:pPr marL="228600" lvl="0" indent="-228600" algn="just" rtl="0">
              <a:lnSpc>
                <a:spcPct val="110000"/>
              </a:lnSpc>
              <a:spcBef>
                <a:spcPts val="1000"/>
              </a:spcBef>
              <a:spcAft>
                <a:spcPts val="0"/>
              </a:spcAft>
              <a:buClr>
                <a:schemeClr val="dk1"/>
              </a:buClr>
              <a:buSzPts val="2400"/>
              <a:buChar char="•"/>
            </a:pPr>
            <a:r>
              <a:rPr lang="en-US" sz="2400" dirty="0"/>
              <a:t>Routing </a:t>
            </a:r>
            <a:r>
              <a:rPr lang="en-US" sz="2400" dirty="0">
                <a:solidFill>
                  <a:srgbClr val="00B050"/>
                </a:solidFill>
              </a:rPr>
              <a:t>between </a:t>
            </a:r>
            <a:r>
              <a:rPr lang="en-US" sz="2400" b="1" dirty="0"/>
              <a:t>autonomous systems </a:t>
            </a:r>
            <a:r>
              <a:rPr lang="en-US" sz="2400" dirty="0"/>
              <a:t>is called </a:t>
            </a:r>
            <a:r>
              <a:rPr lang="en-US" sz="2400" b="1" dirty="0">
                <a:solidFill>
                  <a:srgbClr val="FF0000"/>
                </a:solidFill>
              </a:rPr>
              <a:t>inter</a:t>
            </a:r>
            <a:r>
              <a:rPr lang="en-US" sz="2400" b="1" dirty="0"/>
              <a:t>-domain routing</a:t>
            </a:r>
            <a:endParaRPr sz="2000" b="1" dirty="0"/>
          </a:p>
          <a:p>
            <a:pPr marL="0" lvl="0" indent="0" algn="just" rtl="0">
              <a:lnSpc>
                <a:spcPct val="110000"/>
              </a:lnSpc>
              <a:spcBef>
                <a:spcPts val="1000"/>
              </a:spcBef>
              <a:spcAft>
                <a:spcPts val="0"/>
              </a:spcAft>
              <a:buClr>
                <a:schemeClr val="dk1"/>
              </a:buClr>
              <a:buSzPts val="2400"/>
              <a:buNone/>
            </a:pPr>
            <a:r>
              <a:rPr lang="en-US" sz="2400" b="1" dirty="0"/>
              <a:t>Autonomous Systems (AS) - Characteristics: </a:t>
            </a:r>
            <a:endParaRPr dirty="0"/>
          </a:p>
          <a:p>
            <a:pPr marL="511175" lvl="0" indent="-228600" algn="just" rtl="0">
              <a:lnSpc>
                <a:spcPct val="110000"/>
              </a:lnSpc>
              <a:spcBef>
                <a:spcPts val="1000"/>
              </a:spcBef>
              <a:spcAft>
                <a:spcPts val="0"/>
              </a:spcAft>
              <a:buClr>
                <a:schemeClr val="dk1"/>
              </a:buClr>
              <a:buSzPts val="2400"/>
              <a:buFont typeface="Noto Sans Symbols"/>
              <a:buChar char="✔"/>
            </a:pPr>
            <a:r>
              <a:rPr lang="en-US" sz="2400" dirty="0"/>
              <a:t> An AS consists of </a:t>
            </a:r>
            <a:r>
              <a:rPr lang="en-US" sz="2400" b="1" dirty="0"/>
              <a:t>group of routers </a:t>
            </a:r>
            <a:endParaRPr dirty="0"/>
          </a:p>
          <a:p>
            <a:pPr marL="511175" lvl="0" indent="-228600" algn="just" rtl="0">
              <a:lnSpc>
                <a:spcPct val="110000"/>
              </a:lnSpc>
              <a:spcBef>
                <a:spcPts val="1000"/>
              </a:spcBef>
              <a:spcAft>
                <a:spcPts val="0"/>
              </a:spcAft>
              <a:buClr>
                <a:srgbClr val="00B050"/>
              </a:buClr>
              <a:buSzPts val="2400"/>
              <a:buNone/>
            </a:pPr>
            <a:r>
              <a:rPr lang="en-US" sz="2400" b="1" dirty="0">
                <a:solidFill>
                  <a:srgbClr val="00B050"/>
                </a:solidFill>
              </a:rPr>
              <a:t>     </a:t>
            </a:r>
            <a:r>
              <a:rPr lang="en-US" sz="2400" dirty="0">
                <a:solidFill>
                  <a:srgbClr val="00B050"/>
                </a:solidFill>
              </a:rPr>
              <a:t>exchanging information </a:t>
            </a:r>
            <a:r>
              <a:rPr lang="en-US" sz="2400" dirty="0"/>
              <a:t>via </a:t>
            </a:r>
            <a:r>
              <a:rPr lang="en-US" sz="2400" dirty="0">
                <a:solidFill>
                  <a:srgbClr val="FF0000"/>
                </a:solidFill>
              </a:rPr>
              <a:t>common</a:t>
            </a:r>
            <a:endParaRPr dirty="0"/>
          </a:p>
          <a:p>
            <a:pPr marL="511175" lvl="0" indent="-228600" algn="just" rtl="0">
              <a:lnSpc>
                <a:spcPct val="110000"/>
              </a:lnSpc>
              <a:spcBef>
                <a:spcPts val="1000"/>
              </a:spcBef>
              <a:spcAft>
                <a:spcPts val="0"/>
              </a:spcAft>
              <a:buClr>
                <a:srgbClr val="FF0000"/>
              </a:buClr>
              <a:buSzPts val="2400"/>
              <a:buNone/>
            </a:pPr>
            <a:r>
              <a:rPr lang="en-US" sz="2400" dirty="0">
                <a:solidFill>
                  <a:srgbClr val="FF0000"/>
                </a:solidFill>
              </a:rPr>
              <a:t>      routing protocol</a:t>
            </a:r>
            <a:r>
              <a:rPr lang="en-US" sz="2400" dirty="0"/>
              <a:t>. </a:t>
            </a:r>
            <a:endParaRPr dirty="0"/>
          </a:p>
          <a:p>
            <a:pPr marL="511175" lvl="0" indent="-228600" algn="just" rtl="0">
              <a:lnSpc>
                <a:spcPct val="110000"/>
              </a:lnSpc>
              <a:spcBef>
                <a:spcPts val="1000"/>
              </a:spcBef>
              <a:spcAft>
                <a:spcPts val="0"/>
              </a:spcAft>
              <a:buClr>
                <a:schemeClr val="dk1"/>
              </a:buClr>
              <a:buSzPts val="2400"/>
              <a:buFont typeface="Noto Sans Symbols"/>
              <a:buChar char="✔"/>
            </a:pPr>
            <a:r>
              <a:rPr lang="en-US" sz="2400" dirty="0"/>
              <a:t> An AS is a </a:t>
            </a:r>
            <a:r>
              <a:rPr lang="en-US" sz="2400" b="1" dirty="0"/>
              <a:t>set of routers </a:t>
            </a:r>
            <a:r>
              <a:rPr lang="en-US" sz="2400" dirty="0"/>
              <a:t>and </a:t>
            </a:r>
            <a:r>
              <a:rPr lang="en-US" sz="2400" b="1" dirty="0"/>
              <a:t>networks</a:t>
            </a:r>
            <a:r>
              <a:rPr lang="en-US" sz="2400" dirty="0"/>
              <a:t> </a:t>
            </a:r>
            <a:endParaRPr dirty="0"/>
          </a:p>
          <a:p>
            <a:pPr marL="511175" lvl="0" indent="-228600" algn="just" rtl="0">
              <a:lnSpc>
                <a:spcPct val="110000"/>
              </a:lnSpc>
              <a:spcBef>
                <a:spcPts val="1000"/>
              </a:spcBef>
              <a:spcAft>
                <a:spcPts val="0"/>
              </a:spcAft>
              <a:buClr>
                <a:schemeClr val="dk1"/>
              </a:buClr>
              <a:buSzPts val="2400"/>
              <a:buNone/>
            </a:pPr>
            <a:r>
              <a:rPr lang="en-US" sz="2400" dirty="0"/>
              <a:t>    managed by </a:t>
            </a:r>
            <a:r>
              <a:rPr lang="en-US" sz="2400" dirty="0">
                <a:solidFill>
                  <a:srgbClr val="FF0000"/>
                </a:solidFill>
              </a:rPr>
              <a:t>single organization</a:t>
            </a:r>
            <a:r>
              <a:rPr lang="en-US" sz="2400" dirty="0"/>
              <a:t>.</a:t>
            </a:r>
            <a:endParaRPr sz="2000" dirty="0"/>
          </a:p>
          <a:p>
            <a:pPr marL="0" lvl="0" indent="0" algn="l" rtl="0">
              <a:lnSpc>
                <a:spcPct val="110000"/>
              </a:lnSpc>
              <a:spcBef>
                <a:spcPts val="1000"/>
              </a:spcBef>
              <a:spcAft>
                <a:spcPts val="0"/>
              </a:spcAft>
              <a:buClr>
                <a:schemeClr val="dk1"/>
              </a:buClr>
              <a:buSzPts val="2400"/>
              <a:buNone/>
            </a:pPr>
            <a:endParaRPr sz="2400" dirty="0"/>
          </a:p>
        </p:txBody>
      </p:sp>
      <p:pic>
        <p:nvPicPr>
          <p:cNvPr id="408" name="Google Shape;408;p41"/>
          <p:cNvPicPr preferRelativeResize="0"/>
          <p:nvPr/>
        </p:nvPicPr>
        <p:blipFill rotWithShape="1">
          <a:blip r:embed="rId3">
            <a:alphaModFix/>
          </a:blip>
          <a:srcRect/>
          <a:stretch/>
        </p:blipFill>
        <p:spPr>
          <a:xfrm>
            <a:off x="6088717" y="2683148"/>
            <a:ext cx="6103283" cy="3805520"/>
          </a:xfrm>
          <a:prstGeom prst="rect">
            <a:avLst/>
          </a:prstGeom>
          <a:noFill/>
          <a:ln>
            <a:noFill/>
          </a:ln>
        </p:spPr>
      </p:pic>
      <p:sp>
        <p:nvSpPr>
          <p:cNvPr id="409" name="Google Shape;409;p41"/>
          <p:cNvSpPr/>
          <p:nvPr/>
        </p:nvSpPr>
        <p:spPr>
          <a:xfrm>
            <a:off x="6352265" y="6488668"/>
            <a:ext cx="420634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00"/>
                </a:solidFill>
                <a:latin typeface="Arial"/>
                <a:ea typeface="Arial"/>
                <a:cs typeface="Arial"/>
                <a:sym typeface="Arial"/>
              </a:rPr>
              <a:t>Fig:Autonomous System (AS) Routing Architecture</a:t>
            </a:r>
            <a:endParaRPr sz="14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pic>
        <p:nvPicPr>
          <p:cNvPr id="414" name="Google Shape;414;p42"/>
          <p:cNvPicPr preferRelativeResize="0">
            <a:picLocks noGrp="1"/>
          </p:cNvPicPr>
          <p:nvPr>
            <p:ph type="body" idx="1"/>
          </p:nvPr>
        </p:nvPicPr>
        <p:blipFill rotWithShape="1">
          <a:blip r:embed="rId3">
            <a:alphaModFix/>
          </a:blip>
          <a:srcRect/>
          <a:stretch/>
        </p:blipFill>
        <p:spPr>
          <a:xfrm>
            <a:off x="1741329" y="3604170"/>
            <a:ext cx="7039600" cy="3253830"/>
          </a:xfrm>
          <a:prstGeom prst="rect">
            <a:avLst/>
          </a:prstGeom>
          <a:noFill/>
          <a:ln>
            <a:noFill/>
          </a:ln>
        </p:spPr>
      </p:pic>
      <p:sp>
        <p:nvSpPr>
          <p:cNvPr id="415" name="Google Shape;415;p42"/>
          <p:cNvSpPr/>
          <p:nvPr/>
        </p:nvSpPr>
        <p:spPr>
          <a:xfrm>
            <a:off x="600636" y="381652"/>
            <a:ext cx="6096000" cy="2149178"/>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None/>
            </a:pPr>
            <a:r>
              <a:rPr lang="en-US" sz="3600" b="1">
                <a:solidFill>
                  <a:schemeClr val="dk1"/>
                </a:solidFill>
                <a:latin typeface="Calibri"/>
                <a:ea typeface="Calibri"/>
                <a:cs typeface="Calibri"/>
                <a:sym typeface="Calibri"/>
              </a:rPr>
              <a:t>Routing Protocols</a:t>
            </a:r>
            <a:endParaRPr/>
          </a:p>
          <a:p>
            <a:pPr marL="914400" marR="0" lvl="1" indent="-457200" algn="just" rtl="0">
              <a:lnSpc>
                <a:spcPct val="150000"/>
              </a:lnSpc>
              <a:spcBef>
                <a:spcPts val="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Interior Routing Protocols</a:t>
            </a:r>
            <a:endParaRPr sz="3200" b="0" i="0" u="none" strike="noStrike" cap="none">
              <a:solidFill>
                <a:schemeClr val="dk1"/>
              </a:solidFill>
              <a:latin typeface="Calibri"/>
              <a:ea typeface="Calibri"/>
              <a:cs typeface="Calibri"/>
              <a:sym typeface="Calibri"/>
            </a:endParaRPr>
          </a:p>
          <a:p>
            <a:pPr marL="914400" marR="0" lvl="1" indent="-457200" algn="just" rtl="0">
              <a:lnSpc>
                <a:spcPct val="150000"/>
              </a:lnSpc>
              <a:spcBef>
                <a:spcPts val="0"/>
              </a:spcBef>
              <a:spcAft>
                <a:spcPts val="0"/>
              </a:spcAft>
              <a:buClr>
                <a:schemeClr val="dk1"/>
              </a:buClr>
              <a:buSzPts val="2800"/>
              <a:buFont typeface="Arial"/>
              <a:buChar char="•"/>
            </a:pPr>
            <a:r>
              <a:rPr lang="en-US" sz="2800" b="0" i="0" u="none" strike="noStrike" cap="none">
                <a:solidFill>
                  <a:schemeClr val="dk1"/>
                </a:solidFill>
                <a:latin typeface="Calibri"/>
                <a:ea typeface="Calibri"/>
                <a:cs typeface="Calibri"/>
                <a:sym typeface="Calibri"/>
              </a:rPr>
              <a:t>Exterior Routing Protocols</a:t>
            </a:r>
            <a:endParaRPr sz="3200" b="0" i="0" u="none" strike="noStrike" cap="none">
              <a:solidFill>
                <a:schemeClr val="dk1"/>
              </a:solidFill>
              <a:latin typeface="Calibri"/>
              <a:ea typeface="Calibri"/>
              <a:cs typeface="Calibri"/>
              <a:sym typeface="Calibri"/>
            </a:endParaRPr>
          </a:p>
        </p:txBody>
      </p:sp>
      <p:pic>
        <p:nvPicPr>
          <p:cNvPr id="416" name="Google Shape;416;p42" descr="Dynamic Routing Protocols Explained | ICND1 100-105"/>
          <p:cNvPicPr preferRelativeResize="0"/>
          <p:nvPr/>
        </p:nvPicPr>
        <p:blipFill rotWithShape="1">
          <a:blip r:embed="rId4">
            <a:alphaModFix/>
          </a:blip>
          <a:srcRect/>
          <a:stretch/>
        </p:blipFill>
        <p:spPr>
          <a:xfrm>
            <a:off x="5897469" y="762358"/>
            <a:ext cx="6096000" cy="2209801"/>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3"/>
          <p:cNvSpPr txBox="1">
            <a:spLocks noGrp="1"/>
          </p:cNvSpPr>
          <p:nvPr>
            <p:ph type="title"/>
          </p:nvPr>
        </p:nvSpPr>
        <p:spPr>
          <a:xfrm>
            <a:off x="840440" y="365126"/>
            <a:ext cx="10515600" cy="57047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dirty="0">
                <a:latin typeface="Times New Roman" panose="02020603050405020304" pitchFamily="18" charset="0"/>
                <a:cs typeface="Times New Roman" panose="02020603050405020304" pitchFamily="18" charset="0"/>
              </a:rPr>
              <a:t>Interior Routing Protocol (IRP)</a:t>
            </a:r>
            <a:br>
              <a:rPr lang="en-US" b="1"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sp>
        <p:nvSpPr>
          <p:cNvPr id="422" name="Google Shape;422;p43"/>
          <p:cNvSpPr txBox="1">
            <a:spLocks noGrp="1"/>
          </p:cNvSpPr>
          <p:nvPr>
            <p:ph type="body" idx="1"/>
          </p:nvPr>
        </p:nvSpPr>
        <p:spPr>
          <a:xfrm>
            <a:off x="0" y="650371"/>
            <a:ext cx="11990400" cy="1713300"/>
          </a:xfrm>
          <a:prstGeom prst="rect">
            <a:avLst/>
          </a:prstGeom>
          <a:noFill/>
          <a:ln>
            <a:noFill/>
          </a:ln>
        </p:spPr>
        <p:txBody>
          <a:bodyPr spcFirstLastPara="1" wrap="square" lIns="91425" tIns="45700" rIns="91425" bIns="45700" anchor="t" anchorCtr="0">
            <a:noAutofit/>
          </a:bodyPr>
          <a:lstStyle/>
          <a:p>
            <a:pPr marL="228600" lvl="0" indent="-273050" algn="just" rtl="0">
              <a:lnSpc>
                <a:spcPct val="100000"/>
              </a:lnSpc>
              <a:spcBef>
                <a:spcPts val="0"/>
              </a:spcBef>
              <a:spcAft>
                <a:spcPts val="0"/>
              </a:spcAft>
              <a:buClr>
                <a:schemeClr val="dk1"/>
              </a:buClr>
              <a:buSzPts val="2920"/>
              <a:buChar char="•"/>
            </a:pPr>
            <a:r>
              <a:rPr lang="en-US" dirty="0">
                <a:latin typeface="Times New Roman" panose="02020603050405020304" pitchFamily="18" charset="0"/>
                <a:cs typeface="Times New Roman" panose="02020603050405020304" pitchFamily="18" charset="0"/>
              </a:rPr>
              <a:t>Passes </a:t>
            </a:r>
            <a:r>
              <a:rPr lang="en-US" dirty="0">
                <a:solidFill>
                  <a:srgbClr val="00B050"/>
                </a:solidFill>
                <a:latin typeface="Times New Roman" panose="02020603050405020304" pitchFamily="18" charset="0"/>
                <a:cs typeface="Times New Roman" panose="02020603050405020304" pitchFamily="18" charset="0"/>
              </a:rPr>
              <a:t>routing information </a:t>
            </a:r>
            <a:r>
              <a:rPr lang="en-US" b="1" dirty="0">
                <a:latin typeface="Times New Roman" panose="02020603050405020304" pitchFamily="18" charset="0"/>
                <a:cs typeface="Times New Roman" panose="02020603050405020304" pitchFamily="18" charset="0"/>
              </a:rPr>
              <a:t>between routers </a:t>
            </a:r>
            <a:r>
              <a:rPr lang="en-US" dirty="0">
                <a:solidFill>
                  <a:srgbClr val="FF0000"/>
                </a:solidFill>
                <a:latin typeface="Times New Roman" panose="02020603050405020304" pitchFamily="18" charset="0"/>
                <a:cs typeface="Times New Roman" panose="02020603050405020304" pitchFamily="18" charset="0"/>
              </a:rPr>
              <a:t>within AS</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228600" lvl="0" indent="-273050" algn="just" rtl="0">
              <a:lnSpc>
                <a:spcPct val="100000"/>
              </a:lnSpc>
              <a:spcBef>
                <a:spcPts val="0"/>
              </a:spcBef>
              <a:spcAft>
                <a:spcPts val="0"/>
              </a:spcAft>
              <a:buClr>
                <a:schemeClr val="dk1"/>
              </a:buClr>
              <a:buSzPts val="2920"/>
              <a:buChar char="•"/>
            </a:pPr>
            <a:r>
              <a:rPr lang="en-US" dirty="0">
                <a:latin typeface="Times New Roman" panose="02020603050405020304" pitchFamily="18" charset="0"/>
                <a:cs typeface="Times New Roman" panose="02020603050405020304" pitchFamily="18" charset="0"/>
              </a:rPr>
              <a:t>Does not need to be implemented outside of the AS. </a:t>
            </a:r>
            <a:endParaRPr dirty="0">
              <a:latin typeface="Times New Roman" panose="02020603050405020304" pitchFamily="18" charset="0"/>
              <a:cs typeface="Times New Roman" panose="02020603050405020304" pitchFamily="18" charset="0"/>
            </a:endParaRPr>
          </a:p>
          <a:p>
            <a:pPr marL="228600" lvl="0" indent="-273050" algn="just" rtl="0">
              <a:lnSpc>
                <a:spcPct val="100000"/>
              </a:lnSpc>
              <a:spcBef>
                <a:spcPts val="0"/>
              </a:spcBef>
              <a:spcAft>
                <a:spcPts val="0"/>
              </a:spcAft>
              <a:buClr>
                <a:schemeClr val="dk1"/>
              </a:buClr>
              <a:buSzPts val="2920"/>
              <a:buChar char="•"/>
            </a:pPr>
            <a:r>
              <a:rPr lang="en-US" b="1" dirty="0">
                <a:latin typeface="Times New Roman" panose="02020603050405020304" pitchFamily="18" charset="0"/>
                <a:cs typeface="Times New Roman" panose="02020603050405020304" pitchFamily="18" charset="0"/>
              </a:rPr>
              <a:t>Allows</a:t>
            </a:r>
            <a:r>
              <a:rPr lang="en-US" dirty="0">
                <a:latin typeface="Times New Roman" panose="02020603050405020304" pitchFamily="18" charset="0"/>
                <a:cs typeface="Times New Roman" panose="02020603050405020304" pitchFamily="18" charset="0"/>
              </a:rPr>
              <a:t> IRP to be </a:t>
            </a:r>
            <a:r>
              <a:rPr lang="en-US" b="1" dirty="0">
                <a:latin typeface="Times New Roman" panose="02020603050405020304" pitchFamily="18" charset="0"/>
                <a:cs typeface="Times New Roman" panose="02020603050405020304" pitchFamily="18" charset="0"/>
              </a:rPr>
              <a:t>custom tailored to specific applications and requirements</a:t>
            </a:r>
            <a:r>
              <a:rPr lang="en-US"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marL="228600" lvl="0" indent="-273050" algn="just" rtl="0">
              <a:lnSpc>
                <a:spcPct val="100000"/>
              </a:lnSpc>
              <a:spcBef>
                <a:spcPts val="0"/>
              </a:spcBef>
              <a:spcAft>
                <a:spcPts val="0"/>
              </a:spcAft>
              <a:buClr>
                <a:schemeClr val="dk1"/>
              </a:buClr>
              <a:buSzPts val="2920"/>
              <a:buChar char="•"/>
            </a:pPr>
            <a:r>
              <a:rPr lang="en-US" dirty="0">
                <a:latin typeface="Times New Roman" panose="02020603050405020304" pitchFamily="18" charset="0"/>
                <a:cs typeface="Times New Roman" panose="02020603050405020304" pitchFamily="18" charset="0"/>
              </a:rPr>
              <a:t>All of the </a:t>
            </a:r>
            <a:r>
              <a:rPr lang="en-US" dirty="0">
                <a:solidFill>
                  <a:srgbClr val="FF0000"/>
                </a:solidFill>
                <a:latin typeface="Times New Roman" panose="02020603050405020304" pitchFamily="18" charset="0"/>
                <a:cs typeface="Times New Roman" panose="02020603050405020304" pitchFamily="18" charset="0"/>
              </a:rPr>
              <a:t>LANs at a site </a:t>
            </a:r>
            <a:r>
              <a:rPr lang="en-US" dirty="0">
                <a:latin typeface="Times New Roman" panose="02020603050405020304" pitchFamily="18" charset="0"/>
                <a:cs typeface="Times New Roman" panose="02020603050405020304" pitchFamily="18" charset="0"/>
              </a:rPr>
              <a:t>Form an AS.</a:t>
            </a:r>
            <a:endParaRPr dirty="0">
              <a:latin typeface="Times New Roman" panose="02020603050405020304" pitchFamily="18" charset="0"/>
              <a:cs typeface="Times New Roman" panose="02020603050405020304" pitchFamily="18" charset="0"/>
            </a:endParaRPr>
          </a:p>
          <a:p>
            <a:pPr marL="0" lvl="0" indent="0" algn="just" rtl="0">
              <a:lnSpc>
                <a:spcPct val="80000"/>
              </a:lnSpc>
              <a:spcBef>
                <a:spcPts val="0"/>
              </a:spcBef>
              <a:spcAft>
                <a:spcPts val="0"/>
              </a:spcAft>
              <a:buSzPts val="1018"/>
              <a:buNone/>
            </a:pPr>
            <a:endParaRPr sz="3290" dirty="0"/>
          </a:p>
        </p:txBody>
      </p:sp>
      <p:pic>
        <p:nvPicPr>
          <p:cNvPr id="423" name="Google Shape;423;p43"/>
          <p:cNvPicPr preferRelativeResize="0"/>
          <p:nvPr/>
        </p:nvPicPr>
        <p:blipFill rotWithShape="1">
          <a:blip r:embed="rId3">
            <a:alphaModFix/>
          </a:blip>
          <a:srcRect/>
          <a:stretch/>
        </p:blipFill>
        <p:spPr>
          <a:xfrm>
            <a:off x="1140125" y="2363675"/>
            <a:ext cx="9442324" cy="4154100"/>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g111937b53da_0_19"/>
          <p:cNvSpPr txBox="1">
            <a:spLocks noGrp="1"/>
          </p:cNvSpPr>
          <p:nvPr>
            <p:ph type="body" idx="1"/>
          </p:nvPr>
        </p:nvSpPr>
        <p:spPr>
          <a:xfrm>
            <a:off x="232775" y="304400"/>
            <a:ext cx="11817900" cy="1432500"/>
          </a:xfrm>
          <a:prstGeom prst="rect">
            <a:avLst/>
          </a:prstGeom>
        </p:spPr>
        <p:txBody>
          <a:bodyPr spcFirstLastPara="1" wrap="square" lIns="91425" tIns="45700" rIns="91425" bIns="45700" anchor="t" anchorCtr="0">
            <a:noAutofit/>
          </a:bodyPr>
          <a:lstStyle/>
          <a:p>
            <a:pPr marL="457200" lvl="0" indent="-260350" algn="just" rtl="0">
              <a:lnSpc>
                <a:spcPct val="100000"/>
              </a:lnSpc>
              <a:spcBef>
                <a:spcPts val="0"/>
              </a:spcBef>
              <a:spcAft>
                <a:spcPts val="0"/>
              </a:spcAft>
              <a:buSzPts val="2720"/>
              <a:buChar char="•"/>
            </a:pPr>
            <a:r>
              <a:rPr lang="en-US" dirty="0">
                <a:latin typeface="Times New Roman" panose="02020603050405020304" pitchFamily="18" charset="0"/>
                <a:cs typeface="Times New Roman" panose="02020603050405020304" pitchFamily="18" charset="0"/>
              </a:rPr>
              <a:t>This system might be </a:t>
            </a:r>
            <a:r>
              <a:rPr lang="en-US" dirty="0">
                <a:solidFill>
                  <a:srgbClr val="FF0000"/>
                </a:solidFill>
                <a:latin typeface="Times New Roman" panose="02020603050405020304" pitchFamily="18" charset="0"/>
                <a:cs typeface="Times New Roman" panose="02020603050405020304" pitchFamily="18" charset="0"/>
              </a:rPr>
              <a:t>linked through a WAN </a:t>
            </a:r>
            <a:r>
              <a:rPr lang="en-US" dirty="0">
                <a:latin typeface="Times New Roman" panose="02020603050405020304" pitchFamily="18" charset="0"/>
                <a:cs typeface="Times New Roman" panose="02020603050405020304" pitchFamily="18" charset="0"/>
              </a:rPr>
              <a:t>to </a:t>
            </a:r>
            <a:r>
              <a:rPr lang="en-US" b="1" dirty="0">
                <a:latin typeface="Times New Roman" panose="02020603050405020304" pitchFamily="18" charset="0"/>
                <a:cs typeface="Times New Roman" panose="02020603050405020304" pitchFamily="18" charset="0"/>
              </a:rPr>
              <a:t>other ASs</a:t>
            </a:r>
            <a:r>
              <a:rPr lang="en-US"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pPr marL="457200" lvl="0" indent="-260350" algn="just" rtl="0">
              <a:lnSpc>
                <a:spcPct val="100000"/>
              </a:lnSpc>
              <a:spcBef>
                <a:spcPts val="0"/>
              </a:spcBef>
              <a:spcAft>
                <a:spcPts val="0"/>
              </a:spcAft>
              <a:buSzPts val="2720"/>
              <a:buChar char="•"/>
            </a:pPr>
            <a:r>
              <a:rPr lang="en-US" dirty="0">
                <a:latin typeface="Times New Roman" panose="02020603050405020304" pitchFamily="18" charset="0"/>
                <a:cs typeface="Times New Roman" panose="02020603050405020304" pitchFamily="18" charset="0"/>
              </a:rPr>
              <a:t>May be </a:t>
            </a:r>
            <a:r>
              <a:rPr lang="en-US" b="1" dirty="0">
                <a:latin typeface="Times New Roman" panose="02020603050405020304" pitchFamily="18" charset="0"/>
                <a:cs typeface="Times New Roman" panose="02020603050405020304" pitchFamily="18" charset="0"/>
              </a:rPr>
              <a:t>different algorithms and routing information</a:t>
            </a:r>
            <a:r>
              <a:rPr lang="en-US" dirty="0">
                <a:latin typeface="Times New Roman" panose="02020603050405020304" pitchFamily="18" charset="0"/>
                <a:cs typeface="Times New Roman" panose="02020603050405020304" pitchFamily="18" charset="0"/>
              </a:rPr>
              <a:t> in different connected AS.</a:t>
            </a:r>
            <a:endParaRPr dirty="0">
              <a:latin typeface="Times New Roman" panose="02020603050405020304" pitchFamily="18" charset="0"/>
              <a:cs typeface="Times New Roman" panose="02020603050405020304" pitchFamily="18" charset="0"/>
            </a:endParaRPr>
          </a:p>
          <a:p>
            <a:pPr marL="457200" lvl="0" indent="-260350" algn="just" rtl="0">
              <a:lnSpc>
                <a:spcPct val="100000"/>
              </a:lnSpc>
              <a:spcBef>
                <a:spcPts val="0"/>
              </a:spcBef>
              <a:spcAft>
                <a:spcPts val="0"/>
              </a:spcAft>
              <a:buSzPts val="2720"/>
              <a:buChar char="•"/>
            </a:pPr>
            <a:r>
              <a:rPr lang="en-US" dirty="0">
                <a:latin typeface="Times New Roman" panose="02020603050405020304" pitchFamily="18" charset="0"/>
                <a:cs typeface="Times New Roman" panose="02020603050405020304" pitchFamily="18" charset="0"/>
              </a:rPr>
              <a:t>Routers need minimum information from other connected AS.</a:t>
            </a:r>
            <a:endParaRPr dirty="0">
              <a:latin typeface="Times New Roman" panose="02020603050405020304" pitchFamily="18" charset="0"/>
              <a:cs typeface="Times New Roman" panose="02020603050405020304" pitchFamily="18" charset="0"/>
            </a:endParaRPr>
          </a:p>
          <a:p>
            <a:pPr marL="0" lvl="0" indent="0" algn="l" rtl="0">
              <a:lnSpc>
                <a:spcPct val="70000"/>
              </a:lnSpc>
              <a:spcBef>
                <a:spcPts val="1000"/>
              </a:spcBef>
              <a:spcAft>
                <a:spcPts val="0"/>
              </a:spcAft>
              <a:buSzPts val="1018"/>
              <a:buNone/>
            </a:pPr>
            <a:endParaRPr sz="3090" dirty="0"/>
          </a:p>
        </p:txBody>
      </p:sp>
      <p:pic>
        <p:nvPicPr>
          <p:cNvPr id="429" name="Google Shape;429;g111937b53da_0_19"/>
          <p:cNvPicPr preferRelativeResize="0"/>
          <p:nvPr/>
        </p:nvPicPr>
        <p:blipFill rotWithShape="1">
          <a:blip r:embed="rId3">
            <a:alphaModFix/>
          </a:blip>
          <a:srcRect/>
          <a:stretch/>
        </p:blipFill>
        <p:spPr>
          <a:xfrm>
            <a:off x="1205439" y="2369976"/>
            <a:ext cx="9086226" cy="4286532"/>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4"/>
          <p:cNvSpPr txBox="1">
            <a:spLocks noGrp="1"/>
          </p:cNvSpPr>
          <p:nvPr>
            <p:ph type="title"/>
          </p:nvPr>
        </p:nvSpPr>
        <p:spPr>
          <a:xfrm>
            <a:off x="757518" y="295836"/>
            <a:ext cx="10515600" cy="63201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b="1"/>
              <a:t>Exterior Routing Protocol (ERP)</a:t>
            </a:r>
            <a:br>
              <a:rPr lang="en-US" b="1"/>
            </a:br>
            <a:endParaRPr/>
          </a:p>
        </p:txBody>
      </p:sp>
      <p:sp>
        <p:nvSpPr>
          <p:cNvPr id="435" name="Google Shape;435;p44"/>
          <p:cNvSpPr txBox="1">
            <a:spLocks noGrp="1"/>
          </p:cNvSpPr>
          <p:nvPr>
            <p:ph type="body" idx="1"/>
          </p:nvPr>
        </p:nvSpPr>
        <p:spPr>
          <a:xfrm>
            <a:off x="766918" y="658900"/>
            <a:ext cx="10667564" cy="3549000"/>
          </a:xfrm>
          <a:prstGeom prst="rect">
            <a:avLst/>
          </a:prstGeom>
          <a:noFill/>
          <a:ln>
            <a:noFill/>
          </a:ln>
        </p:spPr>
        <p:txBody>
          <a:bodyPr spcFirstLastPara="1" wrap="square" lIns="91425" tIns="45700" rIns="91425" bIns="45700" anchor="t" anchorCtr="0">
            <a:normAutofit/>
          </a:bodyPr>
          <a:lstStyle/>
          <a:p>
            <a:pPr marL="228600" lvl="0" indent="-240030" algn="just" rtl="0">
              <a:lnSpc>
                <a:spcPct val="110000"/>
              </a:lnSpc>
              <a:spcBef>
                <a:spcPts val="0"/>
              </a:spcBef>
              <a:spcAft>
                <a:spcPts val="0"/>
              </a:spcAft>
              <a:buClr>
                <a:schemeClr val="dk1"/>
              </a:buClr>
              <a:buSzPts val="2400"/>
              <a:buChar char="•"/>
            </a:pPr>
            <a:r>
              <a:rPr lang="en-US" sz="2600" dirty="0">
                <a:latin typeface="Times New Roman" panose="02020603050405020304" pitchFamily="18" charset="0"/>
                <a:cs typeface="Times New Roman" panose="02020603050405020304" pitchFamily="18" charset="0"/>
              </a:rPr>
              <a:t>Protocol used to pass routing information </a:t>
            </a:r>
            <a:r>
              <a:rPr lang="en-US" sz="2600" dirty="0">
                <a:solidFill>
                  <a:srgbClr val="FF0000"/>
                </a:solidFill>
                <a:latin typeface="Times New Roman" panose="02020603050405020304" pitchFamily="18" charset="0"/>
                <a:cs typeface="Times New Roman" panose="02020603050405020304" pitchFamily="18" charset="0"/>
              </a:rPr>
              <a:t>between routers in different </a:t>
            </a:r>
            <a:r>
              <a:rPr lang="en-US" sz="2600" dirty="0" err="1">
                <a:solidFill>
                  <a:srgbClr val="FF0000"/>
                </a:solidFill>
                <a:latin typeface="Times New Roman" panose="02020603050405020304" pitchFamily="18" charset="0"/>
                <a:cs typeface="Times New Roman" panose="02020603050405020304" pitchFamily="18" charset="0"/>
              </a:rPr>
              <a:t>ASes</a:t>
            </a:r>
            <a:r>
              <a:rPr lang="en-US" sz="2600" dirty="0">
                <a:solidFill>
                  <a:srgbClr val="FF0000"/>
                </a:solidFill>
                <a:latin typeface="Times New Roman" panose="02020603050405020304" pitchFamily="18" charset="0"/>
                <a:cs typeface="Times New Roman" panose="02020603050405020304" pitchFamily="18" charset="0"/>
              </a:rPr>
              <a:t>.</a:t>
            </a:r>
            <a:endParaRPr sz="2600" dirty="0">
              <a:latin typeface="Times New Roman" panose="02020603050405020304" pitchFamily="18" charset="0"/>
              <a:cs typeface="Times New Roman" panose="02020603050405020304" pitchFamily="18" charset="0"/>
            </a:endParaRPr>
          </a:p>
          <a:p>
            <a:pPr marL="228600" lvl="0" indent="-240030" algn="just" rtl="0">
              <a:lnSpc>
                <a:spcPct val="110000"/>
              </a:lnSpc>
              <a:spcBef>
                <a:spcPts val="1000"/>
              </a:spcBef>
              <a:spcAft>
                <a:spcPts val="0"/>
              </a:spcAft>
              <a:buClr>
                <a:schemeClr val="dk1"/>
              </a:buClr>
              <a:buSzPts val="2400"/>
              <a:buChar char="•"/>
            </a:pPr>
            <a:r>
              <a:rPr lang="en-US" sz="2600" b="1" dirty="0">
                <a:latin typeface="Times New Roman" panose="02020603050405020304" pitchFamily="18" charset="0"/>
                <a:cs typeface="Times New Roman" panose="02020603050405020304" pitchFamily="18" charset="0"/>
              </a:rPr>
              <a:t>Pass</a:t>
            </a:r>
            <a:r>
              <a:rPr lang="en-US" sz="2600" dirty="0">
                <a:latin typeface="Times New Roman" panose="02020603050405020304" pitchFamily="18" charset="0"/>
                <a:cs typeface="Times New Roman" panose="02020603050405020304" pitchFamily="18" charset="0"/>
              </a:rPr>
              <a:t> </a:t>
            </a:r>
            <a:r>
              <a:rPr lang="en-US" sz="2600" dirty="0">
                <a:solidFill>
                  <a:srgbClr val="FF0000"/>
                </a:solidFill>
                <a:latin typeface="Times New Roman" panose="02020603050405020304" pitchFamily="18" charset="0"/>
                <a:cs typeface="Times New Roman" panose="02020603050405020304" pitchFamily="18" charset="0"/>
              </a:rPr>
              <a:t>less information </a:t>
            </a:r>
            <a:r>
              <a:rPr lang="en-US" sz="2600" dirty="0">
                <a:latin typeface="Times New Roman" panose="02020603050405020304" pitchFamily="18" charset="0"/>
                <a:cs typeface="Times New Roman" panose="02020603050405020304" pitchFamily="18" charset="0"/>
              </a:rPr>
              <a:t>than Interior routing protocol. </a:t>
            </a:r>
            <a:endParaRPr sz="2600" dirty="0">
              <a:latin typeface="Times New Roman" panose="02020603050405020304" pitchFamily="18" charset="0"/>
              <a:cs typeface="Times New Roman" panose="02020603050405020304" pitchFamily="18" charset="0"/>
            </a:endParaRPr>
          </a:p>
          <a:p>
            <a:pPr marL="228600" lvl="0" indent="-240030" algn="just" rtl="0">
              <a:lnSpc>
                <a:spcPct val="90000"/>
              </a:lnSpc>
              <a:spcBef>
                <a:spcPts val="1000"/>
              </a:spcBef>
              <a:spcAft>
                <a:spcPts val="0"/>
              </a:spcAft>
              <a:buClr>
                <a:schemeClr val="dk1"/>
              </a:buClr>
              <a:buSzPts val="2400"/>
              <a:buChar char="•"/>
            </a:pPr>
            <a:r>
              <a:rPr lang="en-US" sz="2600" dirty="0">
                <a:latin typeface="Times New Roman" panose="02020603050405020304" pitchFamily="18" charset="0"/>
                <a:cs typeface="Times New Roman" panose="02020603050405020304" pitchFamily="18" charset="0"/>
              </a:rPr>
              <a:t>ERP does not deal with details within target AS</a:t>
            </a:r>
            <a:endParaRPr sz="2600" dirty="0">
              <a:latin typeface="Times New Roman" panose="02020603050405020304" pitchFamily="18" charset="0"/>
              <a:cs typeface="Times New Roman" panose="02020603050405020304" pitchFamily="18" charset="0"/>
            </a:endParaRPr>
          </a:p>
          <a:p>
            <a:pPr marL="457200" lvl="0" indent="-240030" algn="just" rtl="0">
              <a:lnSpc>
                <a:spcPct val="90000"/>
              </a:lnSpc>
              <a:spcBef>
                <a:spcPts val="1000"/>
              </a:spcBef>
              <a:spcAft>
                <a:spcPts val="0"/>
              </a:spcAft>
              <a:buClr>
                <a:schemeClr val="dk1"/>
              </a:buClr>
              <a:buSzPts val="2400"/>
              <a:buChar char="•"/>
            </a:pPr>
            <a:r>
              <a:rPr lang="en-US" sz="2600" dirty="0">
                <a:latin typeface="Times New Roman" panose="02020603050405020304" pitchFamily="18" charset="0"/>
                <a:cs typeface="Times New Roman" panose="02020603050405020304" pitchFamily="18" charset="0"/>
              </a:rPr>
              <a:t>If a </a:t>
            </a:r>
            <a:r>
              <a:rPr lang="en-US" sz="2600" b="1" dirty="0">
                <a:latin typeface="Times New Roman" panose="02020603050405020304" pitchFamily="18" charset="0"/>
                <a:cs typeface="Times New Roman" panose="02020603050405020304" pitchFamily="18" charset="0"/>
              </a:rPr>
              <a:t>datagram </a:t>
            </a:r>
            <a:r>
              <a:rPr lang="en-US" sz="2600" dirty="0">
                <a:latin typeface="Times New Roman" panose="02020603050405020304" pitchFamily="18" charset="0"/>
                <a:cs typeface="Times New Roman" panose="02020603050405020304" pitchFamily="18" charset="0"/>
              </a:rPr>
              <a:t>is to be transferred from a host in one AS to a host in another AS.</a:t>
            </a:r>
            <a:endParaRPr sz="2600" dirty="0">
              <a:latin typeface="Times New Roman" panose="02020603050405020304" pitchFamily="18" charset="0"/>
              <a:cs typeface="Times New Roman" panose="02020603050405020304" pitchFamily="18" charset="0"/>
            </a:endParaRPr>
          </a:p>
          <a:p>
            <a:pPr marL="739775" lvl="0" indent="-240030" algn="just" rtl="0">
              <a:lnSpc>
                <a:spcPct val="90000"/>
              </a:lnSpc>
              <a:spcBef>
                <a:spcPts val="1000"/>
              </a:spcBef>
              <a:spcAft>
                <a:spcPts val="0"/>
              </a:spcAft>
              <a:buClr>
                <a:schemeClr val="dk1"/>
              </a:buClr>
              <a:buSzPts val="2400"/>
              <a:buFont typeface="Noto Sans Symbols"/>
              <a:buChar char="✔"/>
            </a:pPr>
            <a:r>
              <a:rPr lang="en-US" sz="2600" b="1" dirty="0">
                <a:latin typeface="Times New Roman" panose="02020603050405020304" pitchFamily="18" charset="0"/>
                <a:cs typeface="Times New Roman" panose="02020603050405020304" pitchFamily="18" charset="0"/>
              </a:rPr>
              <a:t>Router</a:t>
            </a:r>
            <a:r>
              <a:rPr lang="en-US" sz="2600" dirty="0">
                <a:latin typeface="Times New Roman" panose="02020603050405020304" pitchFamily="18" charset="0"/>
                <a:cs typeface="Times New Roman" panose="02020603050405020304" pitchFamily="18" charset="0"/>
              </a:rPr>
              <a:t> in first system </a:t>
            </a:r>
            <a:r>
              <a:rPr lang="en-US" sz="2600" dirty="0">
                <a:solidFill>
                  <a:srgbClr val="FF0000"/>
                </a:solidFill>
                <a:latin typeface="Times New Roman" panose="02020603050405020304" pitchFamily="18" charset="0"/>
                <a:cs typeface="Times New Roman" panose="02020603050405020304" pitchFamily="18" charset="0"/>
              </a:rPr>
              <a:t>determines route </a:t>
            </a:r>
            <a:r>
              <a:rPr lang="en-US" sz="2600" dirty="0">
                <a:latin typeface="Times New Roman" panose="02020603050405020304" pitchFamily="18" charset="0"/>
                <a:cs typeface="Times New Roman" panose="02020603050405020304" pitchFamily="18" charset="0"/>
              </a:rPr>
              <a:t>to target AS. </a:t>
            </a:r>
            <a:endParaRPr sz="2600" dirty="0">
              <a:latin typeface="Times New Roman" panose="02020603050405020304" pitchFamily="18" charset="0"/>
              <a:cs typeface="Times New Roman" panose="02020603050405020304" pitchFamily="18" charset="0"/>
            </a:endParaRPr>
          </a:p>
          <a:p>
            <a:pPr marL="739775" lvl="0" indent="-240030" algn="just" rtl="0">
              <a:lnSpc>
                <a:spcPct val="90000"/>
              </a:lnSpc>
              <a:spcBef>
                <a:spcPts val="1000"/>
              </a:spcBef>
              <a:spcAft>
                <a:spcPts val="0"/>
              </a:spcAft>
              <a:buClr>
                <a:schemeClr val="dk1"/>
              </a:buClr>
              <a:buSzPts val="2400"/>
              <a:buFont typeface="Noto Sans Symbols"/>
              <a:buChar char="✔"/>
            </a:pPr>
            <a:r>
              <a:rPr lang="en-US" sz="2600" dirty="0">
                <a:latin typeface="Times New Roman" panose="02020603050405020304" pitchFamily="18" charset="0"/>
                <a:cs typeface="Times New Roman" panose="02020603050405020304" pitchFamily="18" charset="0"/>
              </a:rPr>
              <a:t>Routers in </a:t>
            </a:r>
            <a:r>
              <a:rPr lang="en-US" sz="2600" b="1" dirty="0">
                <a:latin typeface="Times New Roman" panose="02020603050405020304" pitchFamily="18" charset="0"/>
                <a:cs typeface="Times New Roman" panose="02020603050405020304" pitchFamily="18" charset="0"/>
              </a:rPr>
              <a:t>target AS </a:t>
            </a:r>
            <a:r>
              <a:rPr lang="en-US" sz="2600" dirty="0">
                <a:latin typeface="Times New Roman" panose="02020603050405020304" pitchFamily="18" charset="0"/>
                <a:cs typeface="Times New Roman" panose="02020603050405020304" pitchFamily="18" charset="0"/>
              </a:rPr>
              <a:t>then </a:t>
            </a:r>
            <a:r>
              <a:rPr lang="en-US" sz="2600" dirty="0">
                <a:solidFill>
                  <a:srgbClr val="FF0000"/>
                </a:solidFill>
                <a:latin typeface="Times New Roman" panose="02020603050405020304" pitchFamily="18" charset="0"/>
                <a:cs typeface="Times New Roman" panose="02020603050405020304" pitchFamily="18" charset="0"/>
              </a:rPr>
              <a:t>co-operate</a:t>
            </a:r>
            <a:r>
              <a:rPr lang="en-US" sz="2600" dirty="0">
                <a:latin typeface="Times New Roman" panose="02020603050405020304" pitchFamily="18" charset="0"/>
                <a:cs typeface="Times New Roman" panose="02020603050405020304" pitchFamily="18" charset="0"/>
              </a:rPr>
              <a:t> to deliver datagram. </a:t>
            </a:r>
            <a:endParaRPr sz="2600" dirty="0">
              <a:latin typeface="Times New Roman" panose="02020603050405020304" pitchFamily="18" charset="0"/>
              <a:cs typeface="Times New Roman" panose="02020603050405020304" pitchFamily="18" charset="0"/>
            </a:endParaRPr>
          </a:p>
        </p:txBody>
      </p:sp>
      <p:pic>
        <p:nvPicPr>
          <p:cNvPr id="436" name="Google Shape;436;p44"/>
          <p:cNvPicPr preferRelativeResize="0"/>
          <p:nvPr/>
        </p:nvPicPr>
        <p:blipFill rotWithShape="1">
          <a:blip r:embed="rId3">
            <a:alphaModFix/>
          </a:blip>
          <a:srcRect/>
          <a:stretch/>
        </p:blipFill>
        <p:spPr>
          <a:xfrm>
            <a:off x="4604602" y="4207900"/>
            <a:ext cx="7026960" cy="2507532"/>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45"/>
          <p:cNvSpPr txBox="1">
            <a:spLocks noGrp="1"/>
          </p:cNvSpPr>
          <p:nvPr>
            <p:ph type="title"/>
          </p:nvPr>
        </p:nvSpPr>
        <p:spPr>
          <a:xfrm>
            <a:off x="838200" y="403412"/>
            <a:ext cx="10515600" cy="128727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700"/>
              <a:buFont typeface="Calibri"/>
              <a:buNone/>
            </a:pPr>
            <a:r>
              <a:rPr lang="en-US" sz="2700" b="1"/>
              <a:t/>
            </a:r>
            <a:br>
              <a:rPr lang="en-US" sz="2700" b="1"/>
            </a:br>
            <a:endParaRPr b="1"/>
          </a:p>
        </p:txBody>
      </p:sp>
      <p:sp>
        <p:nvSpPr>
          <p:cNvPr id="442" name="Google Shape;442;p45"/>
          <p:cNvSpPr txBox="1">
            <a:spLocks noGrp="1"/>
          </p:cNvSpPr>
          <p:nvPr>
            <p:ph type="body" idx="1"/>
          </p:nvPr>
        </p:nvSpPr>
        <p:spPr>
          <a:xfrm>
            <a:off x="215153" y="403412"/>
            <a:ext cx="11833411" cy="645458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sz="5100" b="1" dirty="0">
                <a:latin typeface="Times New Roman" panose="02020603050405020304" pitchFamily="18" charset="0"/>
                <a:cs typeface="Times New Roman" panose="02020603050405020304" pitchFamily="18" charset="0"/>
              </a:rPr>
              <a:t>Interior Routing Protocols</a:t>
            </a:r>
            <a:endParaRPr sz="5100" dirty="0">
              <a:latin typeface="Times New Roman" panose="02020603050405020304" pitchFamily="18" charset="0"/>
              <a:cs typeface="Times New Roman" panose="02020603050405020304" pitchFamily="18" charset="0"/>
            </a:endParaRPr>
          </a:p>
          <a:p>
            <a:pPr marL="349250" lvl="0" indent="-266700" algn="l" rtl="0">
              <a:lnSpc>
                <a:spcPct val="90000"/>
              </a:lnSpc>
              <a:spcBef>
                <a:spcPts val="1000"/>
              </a:spcBef>
              <a:spcAft>
                <a:spcPts val="0"/>
              </a:spcAft>
              <a:buClr>
                <a:schemeClr val="dk1"/>
              </a:buClr>
              <a:buSzPts val="4100"/>
              <a:buFont typeface="Noto Sans Symbols"/>
              <a:buChar char="❑"/>
            </a:pPr>
            <a:r>
              <a:rPr lang="en-US" sz="4100" b="1" dirty="0">
                <a:latin typeface="Times New Roman" panose="02020603050405020304" pitchFamily="18" charset="0"/>
                <a:cs typeface="Times New Roman" panose="02020603050405020304" pitchFamily="18" charset="0"/>
              </a:rPr>
              <a:t>   RIP</a:t>
            </a:r>
            <a:endParaRPr sz="5100" dirty="0">
              <a:latin typeface="Times New Roman" panose="02020603050405020304" pitchFamily="18" charset="0"/>
              <a:cs typeface="Times New Roman" panose="02020603050405020304" pitchFamily="18" charset="0"/>
            </a:endParaRPr>
          </a:p>
          <a:p>
            <a:pPr marL="349250" lvl="0" indent="-266700" algn="l" rtl="0">
              <a:lnSpc>
                <a:spcPct val="90000"/>
              </a:lnSpc>
              <a:spcBef>
                <a:spcPts val="1000"/>
              </a:spcBef>
              <a:spcAft>
                <a:spcPts val="0"/>
              </a:spcAft>
              <a:buClr>
                <a:schemeClr val="dk1"/>
              </a:buClr>
              <a:buSzPts val="4100"/>
              <a:buFont typeface="Noto Sans Symbols"/>
              <a:buChar char="❑"/>
            </a:pPr>
            <a:r>
              <a:rPr lang="en-US" sz="5100" dirty="0">
                <a:latin typeface="Times New Roman" panose="02020603050405020304" pitchFamily="18" charset="0"/>
                <a:cs typeface="Times New Roman" panose="02020603050405020304" pitchFamily="18" charset="0"/>
              </a:rPr>
              <a:t>  </a:t>
            </a:r>
            <a:r>
              <a:rPr lang="en-US" sz="4100" b="1" dirty="0">
                <a:latin typeface="Times New Roman" panose="02020603050405020304" pitchFamily="18" charset="0"/>
                <a:cs typeface="Times New Roman" panose="02020603050405020304" pitchFamily="18" charset="0"/>
              </a:rPr>
              <a:t>OSPF</a:t>
            </a:r>
            <a:endParaRPr sz="5100" dirty="0">
              <a:latin typeface="Times New Roman" panose="02020603050405020304" pitchFamily="18" charset="0"/>
              <a:cs typeface="Times New Roman" panose="02020603050405020304" pitchFamily="18" charset="0"/>
            </a:endParaRPr>
          </a:p>
          <a:p>
            <a:pPr marL="349250" lvl="0" indent="-6350" algn="l" rtl="0">
              <a:lnSpc>
                <a:spcPct val="90000"/>
              </a:lnSpc>
              <a:spcBef>
                <a:spcPts val="1000"/>
              </a:spcBef>
              <a:spcAft>
                <a:spcPts val="0"/>
              </a:spcAft>
              <a:buClr>
                <a:schemeClr val="dk1"/>
              </a:buClr>
              <a:buSzPts val="1800"/>
              <a:buFont typeface="Noto Sans Symbols"/>
              <a:buNone/>
            </a:pPr>
            <a:endParaRPr sz="4100" b="1" dirty="0"/>
          </a:p>
          <a:p>
            <a:pPr marL="349250" lvl="0" indent="0" algn="l" rtl="0">
              <a:lnSpc>
                <a:spcPct val="90000"/>
              </a:lnSpc>
              <a:spcBef>
                <a:spcPts val="1000"/>
              </a:spcBef>
              <a:spcAft>
                <a:spcPts val="0"/>
              </a:spcAft>
              <a:buClr>
                <a:schemeClr val="dk1"/>
              </a:buClr>
              <a:buSzPts val="2800"/>
              <a:buFont typeface="Noto Sans Symbols"/>
              <a:buNone/>
            </a:pPr>
            <a:endParaRPr sz="5100" b="1" dirty="0"/>
          </a:p>
          <a:p>
            <a:pPr marL="349250" lvl="0" indent="0" algn="l" rtl="0">
              <a:lnSpc>
                <a:spcPct val="90000"/>
              </a:lnSpc>
              <a:spcBef>
                <a:spcPts val="1000"/>
              </a:spcBef>
              <a:spcAft>
                <a:spcPts val="0"/>
              </a:spcAft>
              <a:buClr>
                <a:schemeClr val="dk1"/>
              </a:buClr>
              <a:buSzPts val="2800"/>
              <a:buFont typeface="Noto Sans Symbols"/>
              <a:buNone/>
            </a:pPr>
            <a:endParaRPr sz="5100" b="1" dirty="0"/>
          </a:p>
          <a:p>
            <a:pPr marL="228600" lvl="0" indent="-50800" algn="l" rtl="0">
              <a:lnSpc>
                <a:spcPct val="90000"/>
              </a:lnSpc>
              <a:spcBef>
                <a:spcPts val="1000"/>
              </a:spcBef>
              <a:spcAft>
                <a:spcPts val="0"/>
              </a:spcAft>
              <a:buClr>
                <a:schemeClr val="dk1"/>
              </a:buClr>
              <a:buSzPts val="2800"/>
              <a:buNone/>
            </a:pPr>
            <a:endParaRPr sz="51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g111937b53da_0_31"/>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just" rtl="0">
              <a:spcBef>
                <a:spcPts val="1000"/>
              </a:spcBef>
              <a:spcAft>
                <a:spcPts val="0"/>
              </a:spcAft>
              <a:buClr>
                <a:schemeClr val="dk1"/>
              </a:buClr>
              <a:buSzPts val="1100"/>
              <a:buFont typeface="Arial"/>
              <a:buNone/>
            </a:pPr>
            <a:r>
              <a:rPr lang="en-US" sz="4000" b="1"/>
              <a:t>Routing Information Protocol (RIP)</a:t>
            </a:r>
            <a:endParaRPr sz="5600"/>
          </a:p>
        </p:txBody>
      </p:sp>
      <p:sp>
        <p:nvSpPr>
          <p:cNvPr id="448" name="Google Shape;448;g111937b53da_0_31"/>
          <p:cNvSpPr txBox="1">
            <a:spLocks noGrp="1"/>
          </p:cNvSpPr>
          <p:nvPr>
            <p:ph type="body" idx="1"/>
          </p:nvPr>
        </p:nvSpPr>
        <p:spPr>
          <a:xfrm>
            <a:off x="838200" y="1825625"/>
            <a:ext cx="11230500" cy="4924800"/>
          </a:xfrm>
          <a:prstGeom prst="rect">
            <a:avLst/>
          </a:prstGeom>
        </p:spPr>
        <p:txBody>
          <a:bodyPr spcFirstLastPara="1" wrap="square" lIns="91425" tIns="45700" rIns="91425" bIns="45700" anchor="t" anchorCtr="0">
            <a:normAutofit/>
          </a:bodyPr>
          <a:lstStyle/>
          <a:p>
            <a:pPr marL="0" lvl="0" indent="0" algn="just" rtl="0">
              <a:spcBef>
                <a:spcPts val="1000"/>
              </a:spcBef>
              <a:spcAft>
                <a:spcPts val="0"/>
              </a:spcAft>
              <a:buClr>
                <a:schemeClr val="dk1"/>
              </a:buClr>
              <a:buSzPts val="2800"/>
              <a:buFont typeface="Arial"/>
              <a:buNone/>
            </a:pPr>
            <a:endParaRPr sz="2400" dirty="0"/>
          </a:p>
          <a:p>
            <a:pPr marL="228600" lvl="0" indent="-228600" algn="just" rtl="0">
              <a:spcBef>
                <a:spcPts val="1000"/>
              </a:spcBef>
              <a:spcAft>
                <a:spcPts val="0"/>
              </a:spcAft>
              <a:buSzPts val="2800"/>
              <a:buChar char="•"/>
            </a:pPr>
            <a:r>
              <a:rPr lang="en-US" dirty="0"/>
              <a:t>A simple </a:t>
            </a:r>
            <a:r>
              <a:rPr lang="en-US" dirty="0">
                <a:solidFill>
                  <a:srgbClr val="FF0000"/>
                </a:solidFill>
              </a:rPr>
              <a:t>intra domain protocol</a:t>
            </a:r>
            <a:endParaRPr sz="2400" dirty="0">
              <a:solidFill>
                <a:srgbClr val="FF0000"/>
              </a:solidFill>
            </a:endParaRPr>
          </a:p>
          <a:p>
            <a:pPr marL="228600" lvl="0" indent="-228600" algn="just" rtl="0">
              <a:spcBef>
                <a:spcPts val="1000"/>
              </a:spcBef>
              <a:spcAft>
                <a:spcPts val="0"/>
              </a:spcAft>
              <a:buSzPts val="2800"/>
              <a:buChar char="•"/>
            </a:pPr>
            <a:r>
              <a:rPr lang="en-US" dirty="0"/>
              <a:t>Straightforward </a:t>
            </a:r>
            <a:r>
              <a:rPr lang="en-US" dirty="0">
                <a:solidFill>
                  <a:srgbClr val="00B050"/>
                </a:solidFill>
              </a:rPr>
              <a:t>implementation of </a:t>
            </a:r>
            <a:r>
              <a:rPr lang="en-US" b="1" dirty="0">
                <a:solidFill>
                  <a:srgbClr val="FF0000"/>
                </a:solidFill>
              </a:rPr>
              <a:t>Distance Vector Routing</a:t>
            </a:r>
            <a:endParaRPr sz="2400" b="1" dirty="0">
              <a:solidFill>
                <a:srgbClr val="FF0000"/>
              </a:solidFill>
            </a:endParaRPr>
          </a:p>
          <a:p>
            <a:pPr marL="228600" lvl="0" indent="-228600" algn="just" rtl="0">
              <a:spcBef>
                <a:spcPts val="1000"/>
              </a:spcBef>
              <a:spcAft>
                <a:spcPts val="0"/>
              </a:spcAft>
              <a:buSzPts val="2800"/>
              <a:buChar char="•"/>
            </a:pPr>
            <a:r>
              <a:rPr lang="en-US" dirty="0"/>
              <a:t>Each </a:t>
            </a:r>
            <a:r>
              <a:rPr lang="en-US" b="1" dirty="0"/>
              <a:t>router</a:t>
            </a:r>
            <a:r>
              <a:rPr lang="en-US" dirty="0"/>
              <a:t> </a:t>
            </a:r>
            <a:r>
              <a:rPr lang="en-US" dirty="0">
                <a:solidFill>
                  <a:srgbClr val="00B050"/>
                </a:solidFill>
              </a:rPr>
              <a:t>advertises its distance vector every 30 seconds  </a:t>
            </a:r>
            <a:r>
              <a:rPr lang="en-US" dirty="0"/>
              <a:t>to all of its neighbors</a:t>
            </a:r>
            <a:endParaRPr sz="2400" dirty="0"/>
          </a:p>
          <a:p>
            <a:pPr marL="228600" lvl="0" indent="-228600" algn="just" rtl="0">
              <a:spcBef>
                <a:spcPts val="1000"/>
              </a:spcBef>
              <a:spcAft>
                <a:spcPts val="0"/>
              </a:spcAft>
              <a:buSzPts val="2800"/>
              <a:buChar char="•"/>
            </a:pPr>
            <a:r>
              <a:rPr lang="en-US" dirty="0"/>
              <a:t>RIP always uses </a:t>
            </a:r>
            <a:r>
              <a:rPr lang="en-US" dirty="0">
                <a:solidFill>
                  <a:srgbClr val="FF0000"/>
                </a:solidFill>
              </a:rPr>
              <a:t>1 as link metric</a:t>
            </a:r>
            <a:endParaRPr sz="2400" dirty="0">
              <a:solidFill>
                <a:srgbClr val="FF0000"/>
              </a:solidFill>
            </a:endParaRPr>
          </a:p>
          <a:p>
            <a:pPr marL="228600" lvl="0" indent="-228600" algn="just" rtl="0">
              <a:spcBef>
                <a:spcPts val="1000"/>
              </a:spcBef>
              <a:spcAft>
                <a:spcPts val="0"/>
              </a:spcAft>
              <a:buClr>
                <a:srgbClr val="FF0000"/>
              </a:buClr>
              <a:buSzPts val="2800"/>
              <a:buChar char="•"/>
            </a:pPr>
            <a:r>
              <a:rPr lang="en-US" dirty="0">
                <a:solidFill>
                  <a:srgbClr val="FF0000"/>
                </a:solidFill>
              </a:rPr>
              <a:t>Maximum hop count </a:t>
            </a:r>
            <a:r>
              <a:rPr lang="en-US" dirty="0"/>
              <a:t>is </a:t>
            </a:r>
            <a:r>
              <a:rPr lang="en-US" dirty="0">
                <a:solidFill>
                  <a:srgbClr val="FF0000"/>
                </a:solidFill>
              </a:rPr>
              <a:t>15</a:t>
            </a:r>
            <a:r>
              <a:rPr lang="en-US" dirty="0"/>
              <a:t>.</a:t>
            </a:r>
            <a:endParaRPr sz="2400" dirty="0"/>
          </a:p>
          <a:p>
            <a:pPr marL="228600" lvl="0" indent="-228600" algn="just" rtl="0">
              <a:spcBef>
                <a:spcPts val="1000"/>
              </a:spcBef>
              <a:spcAft>
                <a:spcPts val="0"/>
              </a:spcAft>
              <a:buSzPts val="2800"/>
              <a:buChar char="•"/>
            </a:pPr>
            <a:r>
              <a:rPr lang="en-US" b="1" dirty="0"/>
              <a:t>Routes</a:t>
            </a:r>
            <a:r>
              <a:rPr lang="en-US" dirty="0"/>
              <a:t> are </a:t>
            </a:r>
            <a:r>
              <a:rPr lang="en-US" dirty="0">
                <a:solidFill>
                  <a:srgbClr val="FF0000"/>
                </a:solidFill>
              </a:rPr>
              <a:t>timeou</a:t>
            </a:r>
            <a:r>
              <a:rPr lang="en-US" dirty="0"/>
              <a:t>t (set to 16) </a:t>
            </a:r>
            <a:r>
              <a:rPr lang="en-US" dirty="0">
                <a:solidFill>
                  <a:srgbClr val="00B050"/>
                </a:solidFill>
              </a:rPr>
              <a:t>after 3 minutes </a:t>
            </a:r>
            <a:r>
              <a:rPr lang="en-US" dirty="0"/>
              <a:t>if they are not updated</a:t>
            </a:r>
            <a:endParaRPr sz="2400" dirty="0"/>
          </a:p>
          <a:p>
            <a:pPr marL="0" lvl="0" indent="0" algn="l" rtl="0">
              <a:spcBef>
                <a:spcPts val="1000"/>
              </a:spcBef>
              <a:spcAft>
                <a:spcPts val="0"/>
              </a:spcAft>
              <a:buNone/>
            </a:pPr>
            <a:endParaRP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pic>
        <p:nvPicPr>
          <p:cNvPr id="453" name="Google Shape;453;g111937b53da_0_25" descr="https://static.wikia.nocookie.net/networking/images/6/69/Rip_Diagram.gif/revision/latest/scale-to-width-down/400?cb=20120404115647"/>
          <p:cNvPicPr preferRelativeResize="0"/>
          <p:nvPr/>
        </p:nvPicPr>
        <p:blipFill rotWithShape="1">
          <a:blip r:embed="rId3">
            <a:alphaModFix/>
          </a:blip>
          <a:srcRect/>
          <a:stretch/>
        </p:blipFill>
        <p:spPr>
          <a:xfrm>
            <a:off x="1325050" y="805775"/>
            <a:ext cx="9311125" cy="5789925"/>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6"/>
          <p:cNvSpPr txBox="1">
            <a:spLocks noGrp="1"/>
          </p:cNvSpPr>
          <p:nvPr>
            <p:ph type="body" idx="1"/>
          </p:nvPr>
        </p:nvSpPr>
        <p:spPr>
          <a:xfrm>
            <a:off x="268950" y="0"/>
            <a:ext cx="11923200" cy="6858000"/>
          </a:xfrm>
          <a:prstGeom prst="rect">
            <a:avLst/>
          </a:prstGeom>
          <a:noFill/>
          <a:ln>
            <a:noFill/>
          </a:ln>
        </p:spPr>
        <p:txBody>
          <a:bodyPr spcFirstLastPara="1" wrap="square" lIns="91425" tIns="45700" rIns="91425" bIns="45700" anchor="t" anchorCtr="0">
            <a:noAutofit/>
          </a:bodyPr>
          <a:lstStyle/>
          <a:p>
            <a:pPr marL="0" lvl="0" indent="0" algn="just" rtl="0">
              <a:lnSpc>
                <a:spcPct val="70000"/>
              </a:lnSpc>
              <a:spcBef>
                <a:spcPts val="0"/>
              </a:spcBef>
              <a:spcAft>
                <a:spcPts val="0"/>
              </a:spcAft>
              <a:buClr>
                <a:schemeClr val="dk1"/>
              </a:buClr>
              <a:buSzPts val="2590"/>
              <a:buNone/>
            </a:pPr>
            <a:r>
              <a:rPr lang="en-US" b="1" dirty="0">
                <a:latin typeface="Times New Roman" panose="02020603050405020304" pitchFamily="18" charset="0"/>
                <a:cs typeface="Times New Roman" panose="02020603050405020304" pitchFamily="18" charset="0"/>
              </a:rPr>
              <a:t>RIP messages</a:t>
            </a:r>
            <a:endParaRPr dirty="0">
              <a:latin typeface="Times New Roman" panose="02020603050405020304" pitchFamily="18" charset="0"/>
              <a:cs typeface="Times New Roman" panose="02020603050405020304" pitchFamily="18" charset="0"/>
            </a:endParaRPr>
          </a:p>
          <a:p>
            <a:pPr marL="228600" lvl="0" indent="-260350" algn="just" rtl="0">
              <a:lnSpc>
                <a:spcPct val="70000"/>
              </a:lnSpc>
              <a:spcBef>
                <a:spcPts val="1000"/>
              </a:spcBef>
              <a:spcAft>
                <a:spcPts val="0"/>
              </a:spcAft>
              <a:buClr>
                <a:schemeClr val="dk1"/>
              </a:buClr>
              <a:buSzPts val="3090"/>
              <a:buChar char="•"/>
            </a:pPr>
            <a:r>
              <a:rPr lang="en-US" dirty="0">
                <a:latin typeface="Times New Roman" panose="02020603050405020304" pitchFamily="18" charset="0"/>
                <a:cs typeface="Times New Roman" panose="02020603050405020304" pitchFamily="18" charset="0"/>
              </a:rPr>
              <a:t>Request</a:t>
            </a:r>
            <a:endParaRPr dirty="0">
              <a:latin typeface="Times New Roman" panose="02020603050405020304" pitchFamily="18" charset="0"/>
              <a:cs typeface="Times New Roman" panose="02020603050405020304" pitchFamily="18" charset="0"/>
            </a:endParaRPr>
          </a:p>
          <a:p>
            <a:pPr marL="685800" lvl="1" indent="-260350" algn="just" rtl="0">
              <a:lnSpc>
                <a:spcPct val="70000"/>
              </a:lnSpc>
              <a:spcBef>
                <a:spcPts val="500"/>
              </a:spcBef>
              <a:spcAft>
                <a:spcPts val="0"/>
              </a:spcAft>
              <a:buClr>
                <a:schemeClr val="dk1"/>
              </a:buClr>
              <a:buSzPts val="2720"/>
              <a:buChar char="•"/>
            </a:pPr>
            <a:r>
              <a:rPr lang="en-US" sz="2800" dirty="0">
                <a:latin typeface="Times New Roman" panose="02020603050405020304" pitchFamily="18" charset="0"/>
                <a:cs typeface="Times New Roman" panose="02020603050405020304" pitchFamily="18" charset="0"/>
              </a:rPr>
              <a:t>A request message is </a:t>
            </a:r>
            <a:r>
              <a:rPr lang="en-US" sz="2800" b="1" dirty="0">
                <a:latin typeface="Times New Roman" panose="02020603050405020304" pitchFamily="18" charset="0"/>
                <a:cs typeface="Times New Roman" panose="02020603050405020304" pitchFamily="18" charset="0"/>
              </a:rPr>
              <a:t>sent by a router </a:t>
            </a:r>
            <a:r>
              <a:rPr lang="en-US" sz="2800" dirty="0">
                <a:latin typeface="Times New Roman" panose="02020603050405020304" pitchFamily="18" charset="0"/>
                <a:cs typeface="Times New Roman" panose="02020603050405020304" pitchFamily="18" charset="0"/>
              </a:rPr>
              <a:t>that has </a:t>
            </a:r>
            <a:r>
              <a:rPr lang="en-US" sz="2800" dirty="0">
                <a:solidFill>
                  <a:srgbClr val="FF0000"/>
                </a:solidFill>
                <a:latin typeface="Times New Roman" panose="02020603050405020304" pitchFamily="18" charset="0"/>
                <a:cs typeface="Times New Roman" panose="02020603050405020304" pitchFamily="18" charset="0"/>
              </a:rPr>
              <a:t>just come up or by a router that has some time-out entries</a:t>
            </a:r>
            <a:endParaRPr sz="2800" dirty="0">
              <a:solidFill>
                <a:srgbClr val="FF0000"/>
              </a:solidFill>
              <a:latin typeface="Times New Roman" panose="02020603050405020304" pitchFamily="18" charset="0"/>
              <a:cs typeface="Times New Roman" panose="02020603050405020304" pitchFamily="18" charset="0"/>
            </a:endParaRPr>
          </a:p>
          <a:p>
            <a:pPr marL="685800" lvl="1" indent="-260350" algn="just" rtl="0">
              <a:lnSpc>
                <a:spcPct val="70000"/>
              </a:lnSpc>
              <a:spcBef>
                <a:spcPts val="500"/>
              </a:spcBef>
              <a:spcAft>
                <a:spcPts val="0"/>
              </a:spcAft>
              <a:buClr>
                <a:schemeClr val="dk1"/>
              </a:buClr>
              <a:buSzPts val="2720"/>
              <a:buChar char="•"/>
            </a:pPr>
            <a:r>
              <a:rPr lang="en-US" sz="2800" dirty="0">
                <a:latin typeface="Times New Roman" panose="02020603050405020304" pitchFamily="18" charset="0"/>
                <a:cs typeface="Times New Roman" panose="02020603050405020304" pitchFamily="18" charset="0"/>
              </a:rPr>
              <a:t>A request can ask about </a:t>
            </a:r>
            <a:r>
              <a:rPr lang="en-US" sz="2800" dirty="0">
                <a:solidFill>
                  <a:srgbClr val="FF0000"/>
                </a:solidFill>
                <a:latin typeface="Times New Roman" panose="02020603050405020304" pitchFamily="18" charset="0"/>
                <a:cs typeface="Times New Roman" panose="02020603050405020304" pitchFamily="18" charset="0"/>
              </a:rPr>
              <a:t>specific entries or all entries </a:t>
            </a:r>
            <a:endParaRPr sz="2800" dirty="0">
              <a:solidFill>
                <a:srgbClr val="FF0000"/>
              </a:solidFill>
              <a:latin typeface="Times New Roman" panose="02020603050405020304" pitchFamily="18" charset="0"/>
              <a:cs typeface="Times New Roman" panose="02020603050405020304" pitchFamily="18" charset="0"/>
            </a:endParaRPr>
          </a:p>
          <a:p>
            <a:pPr marL="228600" lvl="0" indent="-260350" algn="just" rtl="0">
              <a:lnSpc>
                <a:spcPct val="70000"/>
              </a:lnSpc>
              <a:spcBef>
                <a:spcPts val="1000"/>
              </a:spcBef>
              <a:spcAft>
                <a:spcPts val="0"/>
              </a:spcAft>
              <a:buClr>
                <a:schemeClr val="dk1"/>
              </a:buClr>
              <a:buSzPts val="3090"/>
              <a:buChar char="•"/>
            </a:pPr>
            <a:r>
              <a:rPr lang="en-US" dirty="0">
                <a:latin typeface="Times New Roman" panose="02020603050405020304" pitchFamily="18" charset="0"/>
                <a:cs typeface="Times New Roman" panose="02020603050405020304" pitchFamily="18" charset="0"/>
              </a:rPr>
              <a:t>Response</a:t>
            </a:r>
            <a:r>
              <a:rPr lang="en-US" b="1" dirty="0">
                <a:latin typeface="Times New Roman" panose="02020603050405020304" pitchFamily="18" charset="0"/>
                <a:cs typeface="Times New Roman" panose="02020603050405020304" pitchFamily="18" charset="0"/>
              </a:rPr>
              <a:t> </a:t>
            </a:r>
            <a:endParaRPr dirty="0">
              <a:latin typeface="Times New Roman" panose="02020603050405020304" pitchFamily="18" charset="0"/>
              <a:cs typeface="Times New Roman" panose="02020603050405020304" pitchFamily="18" charset="0"/>
            </a:endParaRPr>
          </a:p>
          <a:p>
            <a:pPr marL="685800" lvl="1" indent="-260350" algn="just" rtl="0">
              <a:lnSpc>
                <a:spcPct val="70000"/>
              </a:lnSpc>
              <a:spcBef>
                <a:spcPts val="500"/>
              </a:spcBef>
              <a:spcAft>
                <a:spcPts val="0"/>
              </a:spcAft>
              <a:buClr>
                <a:schemeClr val="dk1"/>
              </a:buClr>
              <a:buSzPts val="2720"/>
              <a:buChar char="•"/>
            </a:pPr>
            <a:r>
              <a:rPr lang="en-US" sz="2800" dirty="0">
                <a:latin typeface="Times New Roman" panose="02020603050405020304" pitchFamily="18" charset="0"/>
                <a:cs typeface="Times New Roman" panose="02020603050405020304" pitchFamily="18" charset="0"/>
              </a:rPr>
              <a:t>A response can be either </a:t>
            </a:r>
            <a:r>
              <a:rPr lang="en-US" sz="2800" dirty="0">
                <a:solidFill>
                  <a:srgbClr val="FF0000"/>
                </a:solidFill>
                <a:latin typeface="Times New Roman" panose="02020603050405020304" pitchFamily="18" charset="0"/>
                <a:cs typeface="Times New Roman" panose="02020603050405020304" pitchFamily="18" charset="0"/>
              </a:rPr>
              <a:t>solicited </a:t>
            </a:r>
            <a:r>
              <a:rPr lang="en-US" sz="2800" dirty="0">
                <a:latin typeface="Times New Roman" panose="02020603050405020304" pitchFamily="18" charset="0"/>
                <a:cs typeface="Times New Roman" panose="02020603050405020304" pitchFamily="18" charset="0"/>
              </a:rPr>
              <a:t>(ask for a proposal) </a:t>
            </a:r>
            <a:r>
              <a:rPr lang="en-US" sz="2800" dirty="0">
                <a:solidFill>
                  <a:srgbClr val="FF0000"/>
                </a:solidFill>
                <a:latin typeface="Times New Roman" panose="02020603050405020304" pitchFamily="18" charset="0"/>
                <a:cs typeface="Times New Roman" panose="02020603050405020304" pitchFamily="18" charset="0"/>
              </a:rPr>
              <a:t>or unsolicited </a:t>
            </a:r>
            <a:r>
              <a:rPr lang="en-US" sz="2800" dirty="0">
                <a:latin typeface="Times New Roman" panose="02020603050405020304" pitchFamily="18" charset="0"/>
                <a:cs typeface="Times New Roman" panose="02020603050405020304" pitchFamily="18" charset="0"/>
              </a:rPr>
              <a:t>(30s or when there is a change in the routing table)</a:t>
            </a:r>
            <a:endParaRPr sz="2800" dirty="0">
              <a:latin typeface="Times New Roman" panose="02020603050405020304" pitchFamily="18" charset="0"/>
              <a:cs typeface="Times New Roman" panose="02020603050405020304" pitchFamily="18" charset="0"/>
            </a:endParaRPr>
          </a:p>
          <a:p>
            <a:pPr marL="0" lvl="0" indent="0" algn="just" rtl="0">
              <a:lnSpc>
                <a:spcPct val="70000"/>
              </a:lnSpc>
              <a:spcBef>
                <a:spcPts val="1000"/>
              </a:spcBef>
              <a:spcAft>
                <a:spcPts val="0"/>
              </a:spcAft>
              <a:buClr>
                <a:schemeClr val="dk1"/>
              </a:buClr>
              <a:buSzPts val="2590"/>
              <a:buNone/>
            </a:pPr>
            <a:r>
              <a:rPr lang="en-US" b="1" dirty="0">
                <a:latin typeface="Times New Roman" panose="02020603050405020304" pitchFamily="18" charset="0"/>
                <a:cs typeface="Times New Roman" panose="02020603050405020304" pitchFamily="18" charset="0"/>
              </a:rPr>
              <a:t>RIP Timers		</a:t>
            </a:r>
            <a:endParaRPr dirty="0">
              <a:latin typeface="Times New Roman" panose="02020603050405020304" pitchFamily="18" charset="0"/>
              <a:cs typeface="Times New Roman" panose="02020603050405020304" pitchFamily="18" charset="0"/>
            </a:endParaRPr>
          </a:p>
          <a:p>
            <a:pPr marL="228600" lvl="0" indent="-260350" algn="just" rtl="0">
              <a:lnSpc>
                <a:spcPct val="70000"/>
              </a:lnSpc>
              <a:spcBef>
                <a:spcPts val="1000"/>
              </a:spcBef>
              <a:spcAft>
                <a:spcPts val="0"/>
              </a:spcAft>
              <a:buClr>
                <a:schemeClr val="dk1"/>
              </a:buClr>
              <a:buSzPts val="3090"/>
              <a:buChar char="•"/>
            </a:pPr>
            <a:r>
              <a:rPr lang="en-US" b="1" dirty="0">
                <a:latin typeface="Times New Roman" panose="02020603050405020304" pitchFamily="18" charset="0"/>
                <a:cs typeface="Times New Roman" panose="02020603050405020304" pitchFamily="18" charset="0"/>
              </a:rPr>
              <a:t>Periodic timer</a:t>
            </a:r>
            <a:endParaRPr b="1" dirty="0">
              <a:latin typeface="Times New Roman" panose="02020603050405020304" pitchFamily="18" charset="0"/>
              <a:cs typeface="Times New Roman" panose="02020603050405020304" pitchFamily="18" charset="0"/>
            </a:endParaRPr>
          </a:p>
          <a:p>
            <a:pPr marL="685800" lvl="1" indent="-260350" algn="just" rtl="0">
              <a:lnSpc>
                <a:spcPct val="70000"/>
              </a:lnSpc>
              <a:spcBef>
                <a:spcPts val="500"/>
              </a:spcBef>
              <a:spcAft>
                <a:spcPts val="0"/>
              </a:spcAft>
              <a:buClr>
                <a:schemeClr val="dk1"/>
              </a:buClr>
              <a:buSzPts val="2720"/>
              <a:buChar char="•"/>
            </a:pPr>
            <a:r>
              <a:rPr lang="en-US" sz="2800" dirty="0">
                <a:latin typeface="Times New Roman" panose="02020603050405020304" pitchFamily="18" charset="0"/>
                <a:cs typeface="Times New Roman" panose="02020603050405020304" pitchFamily="18" charset="0"/>
              </a:rPr>
              <a:t>It controls the </a:t>
            </a:r>
            <a:r>
              <a:rPr lang="en-US" sz="2800" dirty="0">
                <a:solidFill>
                  <a:srgbClr val="FF0000"/>
                </a:solidFill>
                <a:latin typeface="Times New Roman" panose="02020603050405020304" pitchFamily="18" charset="0"/>
                <a:cs typeface="Times New Roman" panose="02020603050405020304" pitchFamily="18" charset="0"/>
              </a:rPr>
              <a:t>advertising of regular update message </a:t>
            </a:r>
            <a:r>
              <a:rPr lang="en-US" sz="2800" dirty="0">
                <a:latin typeface="Times New Roman" panose="02020603050405020304" pitchFamily="18" charset="0"/>
                <a:cs typeface="Times New Roman" panose="02020603050405020304" pitchFamily="18" charset="0"/>
              </a:rPr>
              <a:t>(25 ~ 30 sec) </a:t>
            </a:r>
            <a:endParaRPr sz="2800" dirty="0">
              <a:latin typeface="Times New Roman" panose="02020603050405020304" pitchFamily="18" charset="0"/>
              <a:cs typeface="Times New Roman" panose="02020603050405020304" pitchFamily="18" charset="0"/>
            </a:endParaRPr>
          </a:p>
          <a:p>
            <a:pPr algn="just">
              <a:lnSpc>
                <a:spcPct val="70000"/>
              </a:lnSpc>
              <a:buClr>
                <a:schemeClr val="dk1"/>
              </a:buClr>
              <a:buSzPts val="2590"/>
            </a:pPr>
            <a:r>
              <a:rPr lang="en-US" b="1" dirty="0">
                <a:latin typeface="Times New Roman" panose="02020603050405020304" pitchFamily="18" charset="0"/>
                <a:cs typeface="Times New Roman" panose="02020603050405020304" pitchFamily="18" charset="0"/>
              </a:rPr>
              <a:t>Expiration timer </a:t>
            </a:r>
            <a:endParaRPr b="1" dirty="0">
              <a:latin typeface="Times New Roman" panose="02020603050405020304" pitchFamily="18" charset="0"/>
              <a:cs typeface="Times New Roman" panose="02020603050405020304" pitchFamily="18" charset="0"/>
            </a:endParaRPr>
          </a:p>
          <a:p>
            <a:pPr marL="685800" lvl="1" indent="-260350" algn="just" rtl="0">
              <a:lnSpc>
                <a:spcPct val="70000"/>
              </a:lnSpc>
              <a:spcBef>
                <a:spcPts val="500"/>
              </a:spcBef>
              <a:spcAft>
                <a:spcPts val="0"/>
              </a:spcAft>
              <a:buClr>
                <a:schemeClr val="dk1"/>
              </a:buClr>
              <a:buSzPts val="2720"/>
              <a:buChar char="•"/>
            </a:pPr>
            <a:r>
              <a:rPr lang="en-US" sz="2800" dirty="0">
                <a:latin typeface="Times New Roman" panose="02020603050405020304" pitchFamily="18" charset="0"/>
                <a:cs typeface="Times New Roman" panose="02020603050405020304" pitchFamily="18" charset="0"/>
              </a:rPr>
              <a:t>It governs the </a:t>
            </a:r>
            <a:r>
              <a:rPr lang="en-US" sz="2800" dirty="0">
                <a:solidFill>
                  <a:srgbClr val="FF0000"/>
                </a:solidFill>
                <a:latin typeface="Times New Roman" panose="02020603050405020304" pitchFamily="18" charset="0"/>
                <a:cs typeface="Times New Roman" panose="02020603050405020304" pitchFamily="18" charset="0"/>
              </a:rPr>
              <a:t>validity of a route </a:t>
            </a:r>
            <a:r>
              <a:rPr lang="en-US" sz="2800" dirty="0">
                <a:latin typeface="Times New Roman" panose="02020603050405020304" pitchFamily="18" charset="0"/>
                <a:cs typeface="Times New Roman" panose="02020603050405020304" pitchFamily="18" charset="0"/>
              </a:rPr>
              <a:t>(180 sec)</a:t>
            </a:r>
            <a:endParaRPr sz="2800" dirty="0">
              <a:latin typeface="Times New Roman" panose="02020603050405020304" pitchFamily="18" charset="0"/>
              <a:cs typeface="Times New Roman" panose="02020603050405020304" pitchFamily="18" charset="0"/>
            </a:endParaRPr>
          </a:p>
          <a:p>
            <a:pPr marL="685800" lvl="1" indent="-260350" algn="just" rtl="0">
              <a:lnSpc>
                <a:spcPct val="70000"/>
              </a:lnSpc>
              <a:spcBef>
                <a:spcPts val="500"/>
              </a:spcBef>
              <a:spcAft>
                <a:spcPts val="0"/>
              </a:spcAft>
              <a:buClr>
                <a:schemeClr val="dk1"/>
              </a:buClr>
              <a:buSzPts val="2720"/>
              <a:buChar char="•"/>
            </a:pPr>
            <a:r>
              <a:rPr lang="en-US" sz="2800" dirty="0">
                <a:latin typeface="Times New Roman" panose="02020603050405020304" pitchFamily="18" charset="0"/>
                <a:cs typeface="Times New Roman" panose="02020603050405020304" pitchFamily="18" charset="0"/>
              </a:rPr>
              <a:t>The route is considered expired and the hop count of the route is set to 16</a:t>
            </a:r>
            <a:endParaRPr sz="2800" dirty="0">
              <a:latin typeface="Times New Roman" panose="02020603050405020304" pitchFamily="18" charset="0"/>
              <a:cs typeface="Times New Roman" panose="02020603050405020304" pitchFamily="18" charset="0"/>
            </a:endParaRPr>
          </a:p>
          <a:p>
            <a:pPr algn="just">
              <a:lnSpc>
                <a:spcPct val="70000"/>
              </a:lnSpc>
              <a:buClr>
                <a:schemeClr val="dk1"/>
              </a:buClr>
              <a:buSzPts val="2683"/>
            </a:pPr>
            <a:r>
              <a:rPr lang="en-US" b="1" dirty="0">
                <a:latin typeface="Times New Roman" panose="02020603050405020304" pitchFamily="18" charset="0"/>
                <a:cs typeface="Times New Roman" panose="02020603050405020304" pitchFamily="18" charset="0"/>
              </a:rPr>
              <a:t>Garbage collection timer</a:t>
            </a:r>
            <a:endParaRPr b="1" dirty="0">
              <a:latin typeface="Times New Roman" panose="02020603050405020304" pitchFamily="18" charset="0"/>
              <a:cs typeface="Times New Roman" panose="02020603050405020304" pitchFamily="18" charset="0"/>
            </a:endParaRPr>
          </a:p>
          <a:p>
            <a:pPr algn="just">
              <a:lnSpc>
                <a:spcPct val="70000"/>
              </a:lnSpc>
              <a:buClr>
                <a:schemeClr val="dk1"/>
              </a:buClr>
              <a:buSzPts val="2905"/>
            </a:pPr>
            <a:r>
              <a:rPr lang="en-US" dirty="0">
                <a:latin typeface="Times New Roman" panose="02020603050405020304" pitchFamily="18" charset="0"/>
                <a:cs typeface="Times New Roman" panose="02020603050405020304" pitchFamily="18" charset="0"/>
              </a:rPr>
              <a:t>   An </a:t>
            </a:r>
            <a:r>
              <a:rPr lang="en-US" dirty="0">
                <a:solidFill>
                  <a:srgbClr val="FF0000"/>
                </a:solidFill>
                <a:latin typeface="Times New Roman" panose="02020603050405020304" pitchFamily="18" charset="0"/>
                <a:cs typeface="Times New Roman" panose="02020603050405020304" pitchFamily="18" charset="0"/>
              </a:rPr>
              <a:t>invalid route is not purged</a:t>
            </a:r>
            <a:r>
              <a:rPr lang="en-US" dirty="0">
                <a:latin typeface="Times New Roman" panose="02020603050405020304" pitchFamily="18" charset="0"/>
                <a:cs typeface="Times New Roman" panose="02020603050405020304" pitchFamily="18" charset="0"/>
              </a:rPr>
              <a:t>(remove that not in use) from the routing table  </a:t>
            </a:r>
            <a:r>
              <a:rPr lang="en-US" dirty="0">
                <a:solidFill>
                  <a:srgbClr val="00B050"/>
                </a:solidFill>
                <a:latin typeface="Times New Roman" panose="02020603050405020304" pitchFamily="18" charset="0"/>
                <a:cs typeface="Times New Roman" panose="02020603050405020304" pitchFamily="18" charset="0"/>
              </a:rPr>
              <a:t>until this timer expires (120 sec)</a:t>
            </a:r>
            <a:endParaRPr dirty="0">
              <a:solidFill>
                <a:srgbClr val="00B050"/>
              </a:solidFill>
              <a:latin typeface="Times New Roman" panose="02020603050405020304" pitchFamily="18" charset="0"/>
              <a:cs typeface="Times New Roman" panose="02020603050405020304" pitchFamily="18" charset="0"/>
            </a:endParaRPr>
          </a:p>
          <a:p>
            <a:pPr marL="457200" lvl="1" indent="0" algn="just" rtl="0">
              <a:lnSpc>
                <a:spcPct val="70000"/>
              </a:lnSpc>
              <a:spcBef>
                <a:spcPts val="500"/>
              </a:spcBef>
              <a:spcAft>
                <a:spcPts val="0"/>
              </a:spcAft>
              <a:buClr>
                <a:schemeClr val="dk1"/>
              </a:buClr>
              <a:buSzPts val="1850"/>
              <a:buNone/>
            </a:pPr>
            <a:endParaRPr sz="2800" dirty="0">
              <a:latin typeface="Times New Roman" panose="02020603050405020304" pitchFamily="18" charset="0"/>
              <a:cs typeface="Times New Roman" panose="02020603050405020304" pitchFamily="18" charset="0"/>
            </a:endParaRPr>
          </a:p>
          <a:p>
            <a:pPr marL="228600" lvl="0" indent="-64135" algn="l" rtl="0">
              <a:lnSpc>
                <a:spcPct val="70000"/>
              </a:lnSpc>
              <a:spcBef>
                <a:spcPts val="1000"/>
              </a:spcBef>
              <a:spcAft>
                <a:spcPts val="0"/>
              </a:spcAft>
              <a:buClr>
                <a:schemeClr val="dk1"/>
              </a:buClr>
              <a:buSzPts val="2590"/>
              <a:buNone/>
            </a:pPr>
            <a:endParaRPr sz="309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47"/>
          <p:cNvSpPr txBox="1">
            <a:spLocks noGrp="1"/>
          </p:cNvSpPr>
          <p:nvPr>
            <p:ph type="body" idx="1"/>
          </p:nvPr>
        </p:nvSpPr>
        <p:spPr>
          <a:xfrm>
            <a:off x="0" y="242046"/>
            <a:ext cx="12192000" cy="6494929"/>
          </a:xfrm>
          <a:prstGeom prst="rect">
            <a:avLst/>
          </a:prstGeom>
          <a:noFill/>
          <a:ln>
            <a:noFill/>
          </a:ln>
        </p:spPr>
        <p:txBody>
          <a:bodyPr spcFirstLastPara="1" wrap="square" lIns="91425" tIns="45700" rIns="91425" bIns="45700" anchor="t" anchorCtr="0">
            <a:normAutofit fontScale="40000" lnSpcReduction="20000"/>
          </a:bodyPr>
          <a:lstStyle/>
          <a:p>
            <a:pPr marL="174625" lvl="0" indent="-174625" algn="just" rtl="0">
              <a:lnSpc>
                <a:spcPct val="120000"/>
              </a:lnSpc>
              <a:spcBef>
                <a:spcPts val="0"/>
              </a:spcBef>
              <a:spcAft>
                <a:spcPts val="0"/>
              </a:spcAft>
              <a:buClr>
                <a:schemeClr val="dk1"/>
              </a:buClr>
              <a:buSzPct val="100000"/>
              <a:buNone/>
            </a:pPr>
            <a:r>
              <a:rPr lang="en-US" sz="9600" dirty="0">
                <a:latin typeface="Times New Roman" panose="02020603050405020304" pitchFamily="18" charset="0"/>
                <a:cs typeface="Times New Roman" panose="02020603050405020304" pitchFamily="18" charset="0"/>
              </a:rPr>
              <a:t>In brief </a:t>
            </a:r>
            <a:r>
              <a:rPr lang="en-US" sz="9600" b="1" dirty="0">
                <a:latin typeface="Times New Roman" panose="02020603050405020304" pitchFamily="18" charset="0"/>
                <a:cs typeface="Times New Roman" panose="02020603050405020304" pitchFamily="18" charset="0"/>
              </a:rPr>
              <a:t>the RIP protocol works </a:t>
            </a:r>
            <a:r>
              <a:rPr lang="en-US" sz="9600" dirty="0">
                <a:latin typeface="Times New Roman" panose="02020603050405020304" pitchFamily="18" charset="0"/>
                <a:cs typeface="Times New Roman" panose="02020603050405020304" pitchFamily="18" charset="0"/>
              </a:rPr>
              <a:t>as follows:</a:t>
            </a:r>
            <a:endParaRPr dirty="0">
              <a:latin typeface="Times New Roman" panose="02020603050405020304" pitchFamily="18" charset="0"/>
              <a:cs typeface="Times New Roman" panose="02020603050405020304" pitchFamily="18" charset="0"/>
            </a:endParaRPr>
          </a:p>
          <a:p>
            <a:pPr marL="174625" lvl="0" indent="-174625" algn="just" rtl="0">
              <a:lnSpc>
                <a:spcPct val="120000"/>
              </a:lnSpc>
              <a:spcBef>
                <a:spcPts val="1200"/>
              </a:spcBef>
              <a:spcAft>
                <a:spcPts val="0"/>
              </a:spcAft>
              <a:buClr>
                <a:schemeClr val="dk1"/>
              </a:buClr>
              <a:buSzPct val="100000"/>
              <a:buNone/>
            </a:pPr>
            <a:r>
              <a:rPr lang="en-US" sz="8000" dirty="0">
                <a:latin typeface="Times New Roman" panose="02020603050405020304" pitchFamily="18" charset="0"/>
                <a:cs typeface="Times New Roman" panose="02020603050405020304" pitchFamily="18" charset="0"/>
              </a:rPr>
              <a:t>• Each </a:t>
            </a:r>
            <a:r>
              <a:rPr lang="en-US" sz="8000" dirty="0">
                <a:solidFill>
                  <a:srgbClr val="FF0000"/>
                </a:solidFill>
                <a:latin typeface="Times New Roman" panose="02020603050405020304" pitchFamily="18" charset="0"/>
                <a:cs typeface="Times New Roman" panose="02020603050405020304" pitchFamily="18" charset="0"/>
              </a:rPr>
              <a:t>router initializes </a:t>
            </a:r>
            <a:r>
              <a:rPr lang="en-US" sz="8000" dirty="0">
                <a:latin typeface="Times New Roman" panose="02020603050405020304" pitchFamily="18" charset="0"/>
                <a:cs typeface="Times New Roman" panose="02020603050405020304" pitchFamily="18" charset="0"/>
              </a:rPr>
              <a:t>its </a:t>
            </a:r>
            <a:r>
              <a:rPr lang="en-US" sz="8000" b="1" dirty="0">
                <a:latin typeface="Times New Roman" panose="02020603050405020304" pitchFamily="18" charset="0"/>
                <a:cs typeface="Times New Roman" panose="02020603050405020304" pitchFamily="18" charset="0"/>
              </a:rPr>
              <a:t>routing table </a:t>
            </a:r>
            <a:r>
              <a:rPr lang="en-US" sz="8000" dirty="0">
                <a:latin typeface="Times New Roman" panose="02020603050405020304" pitchFamily="18" charset="0"/>
                <a:cs typeface="Times New Roman" panose="02020603050405020304" pitchFamily="18" charset="0"/>
              </a:rPr>
              <a:t>with a </a:t>
            </a:r>
            <a:r>
              <a:rPr lang="en-US" sz="8000" dirty="0">
                <a:solidFill>
                  <a:srgbClr val="00B050"/>
                </a:solidFill>
                <a:latin typeface="Times New Roman" panose="02020603050405020304" pitchFamily="18" charset="0"/>
                <a:cs typeface="Times New Roman" panose="02020603050405020304" pitchFamily="18" charset="0"/>
              </a:rPr>
              <a:t>list of locally connected networks.</a:t>
            </a:r>
            <a:r>
              <a:rPr lang="en-US" sz="8000" dirty="0">
                <a:latin typeface="Times New Roman" panose="02020603050405020304" pitchFamily="18" charset="0"/>
                <a:cs typeface="Times New Roman" panose="02020603050405020304" pitchFamily="18" charset="0"/>
              </a:rPr>
              <a:t> Periodically, each </a:t>
            </a:r>
            <a:r>
              <a:rPr lang="en-US" sz="8000" dirty="0">
                <a:solidFill>
                  <a:srgbClr val="FF0000"/>
                </a:solidFill>
                <a:latin typeface="Times New Roman" panose="02020603050405020304" pitchFamily="18" charset="0"/>
                <a:cs typeface="Times New Roman" panose="02020603050405020304" pitchFamily="18" charset="0"/>
              </a:rPr>
              <a:t>router advertises </a:t>
            </a:r>
            <a:r>
              <a:rPr lang="en-US" sz="8000" dirty="0">
                <a:latin typeface="Times New Roman" panose="02020603050405020304" pitchFamily="18" charset="0"/>
                <a:cs typeface="Times New Roman" panose="02020603050405020304" pitchFamily="18" charset="0"/>
              </a:rPr>
              <a:t>the entire contents of its routing table over all of its RIP-enabled interfaces.</a:t>
            </a:r>
            <a:endParaRPr dirty="0">
              <a:latin typeface="Times New Roman" panose="02020603050405020304" pitchFamily="18" charset="0"/>
              <a:cs typeface="Times New Roman" panose="02020603050405020304" pitchFamily="18" charset="0"/>
            </a:endParaRPr>
          </a:p>
          <a:p>
            <a:pPr marL="174625" lvl="0" indent="-174625" algn="just" rtl="0">
              <a:lnSpc>
                <a:spcPct val="120000"/>
              </a:lnSpc>
              <a:spcBef>
                <a:spcPts val="1200"/>
              </a:spcBef>
              <a:spcAft>
                <a:spcPts val="0"/>
              </a:spcAft>
              <a:buClr>
                <a:schemeClr val="dk1"/>
              </a:buClr>
              <a:buSzPct val="100000"/>
              <a:buNone/>
            </a:pPr>
            <a:r>
              <a:rPr lang="en-US" sz="8000" dirty="0">
                <a:latin typeface="Times New Roman" panose="02020603050405020304" pitchFamily="18" charset="0"/>
                <a:cs typeface="Times New Roman" panose="02020603050405020304" pitchFamily="18" charset="0"/>
              </a:rPr>
              <a:t>• Whenever a RIP router receives such an advertisement, it puts all of the appropriate routes into its routing table and </a:t>
            </a:r>
            <a:r>
              <a:rPr lang="en-US" sz="8000" dirty="0">
                <a:solidFill>
                  <a:srgbClr val="FF0000"/>
                </a:solidFill>
                <a:latin typeface="Times New Roman" panose="02020603050405020304" pitchFamily="18" charset="0"/>
                <a:cs typeface="Times New Roman" panose="02020603050405020304" pitchFamily="18" charset="0"/>
              </a:rPr>
              <a:t>begins using it to forward packets</a:t>
            </a:r>
            <a:r>
              <a:rPr lang="en-US" sz="8000" dirty="0">
                <a:latin typeface="Times New Roman" panose="02020603050405020304" pitchFamily="18" charset="0"/>
                <a:cs typeface="Times New Roman" panose="02020603050405020304" pitchFamily="18" charset="0"/>
              </a:rPr>
              <a:t>. This process </a:t>
            </a:r>
            <a:r>
              <a:rPr lang="en-US" sz="8000" b="1" dirty="0">
                <a:latin typeface="Times New Roman" panose="02020603050405020304" pitchFamily="18" charset="0"/>
                <a:cs typeface="Times New Roman" panose="02020603050405020304" pitchFamily="18" charset="0"/>
              </a:rPr>
              <a:t>ensures</a:t>
            </a:r>
            <a:r>
              <a:rPr lang="en-US" sz="8000" dirty="0">
                <a:latin typeface="Times New Roman" panose="02020603050405020304" pitchFamily="18" charset="0"/>
                <a:cs typeface="Times New Roman" panose="02020603050405020304" pitchFamily="18" charset="0"/>
              </a:rPr>
              <a:t> that every network </a:t>
            </a:r>
            <a:r>
              <a:rPr lang="en-US" sz="8000" dirty="0">
                <a:solidFill>
                  <a:srgbClr val="00B050"/>
                </a:solidFill>
                <a:latin typeface="Times New Roman" panose="02020603050405020304" pitchFamily="18" charset="0"/>
                <a:cs typeface="Times New Roman" panose="02020603050405020304" pitchFamily="18" charset="0"/>
              </a:rPr>
              <a:t>connected to every router eventually becomes known to all routers.</a:t>
            </a:r>
            <a:endParaRPr dirty="0">
              <a:latin typeface="Times New Roman" panose="02020603050405020304" pitchFamily="18" charset="0"/>
              <a:cs typeface="Times New Roman" panose="02020603050405020304" pitchFamily="18" charset="0"/>
            </a:endParaRPr>
          </a:p>
          <a:p>
            <a:pPr marL="174625" lvl="0" indent="-174625" algn="just" rtl="0">
              <a:lnSpc>
                <a:spcPct val="120000"/>
              </a:lnSpc>
              <a:spcBef>
                <a:spcPts val="1200"/>
              </a:spcBef>
              <a:spcAft>
                <a:spcPts val="0"/>
              </a:spcAft>
              <a:buClr>
                <a:schemeClr val="dk1"/>
              </a:buClr>
              <a:buSzPct val="100000"/>
              <a:buNone/>
            </a:pPr>
            <a:r>
              <a:rPr lang="en-US" sz="8000" dirty="0">
                <a:latin typeface="Times New Roman" panose="02020603050405020304" pitchFamily="18" charset="0"/>
                <a:cs typeface="Times New Roman" panose="02020603050405020304" pitchFamily="18" charset="0"/>
              </a:rPr>
              <a:t>• If a </a:t>
            </a:r>
            <a:r>
              <a:rPr lang="en-US" sz="8000" dirty="0">
                <a:solidFill>
                  <a:srgbClr val="00B050"/>
                </a:solidFill>
                <a:latin typeface="Times New Roman" panose="02020603050405020304" pitchFamily="18" charset="0"/>
                <a:cs typeface="Times New Roman" panose="02020603050405020304" pitchFamily="18" charset="0"/>
              </a:rPr>
              <a:t>router does not continue to receive advertisements </a:t>
            </a:r>
            <a:r>
              <a:rPr lang="en-US" sz="8000" dirty="0">
                <a:latin typeface="Times New Roman" panose="02020603050405020304" pitchFamily="18" charset="0"/>
                <a:cs typeface="Times New Roman" panose="02020603050405020304" pitchFamily="18" charset="0"/>
              </a:rPr>
              <a:t>for a remote route, it eventually </a:t>
            </a:r>
            <a:r>
              <a:rPr lang="en-US" sz="8000" dirty="0">
                <a:solidFill>
                  <a:srgbClr val="FF0000"/>
                </a:solidFill>
                <a:latin typeface="Times New Roman" panose="02020603050405020304" pitchFamily="18" charset="0"/>
                <a:cs typeface="Times New Roman" panose="02020603050405020304" pitchFamily="18" charset="0"/>
              </a:rPr>
              <a:t>times out that route and stops forwarding packets </a:t>
            </a:r>
            <a:r>
              <a:rPr lang="en-US" sz="8000" dirty="0">
                <a:latin typeface="Times New Roman" panose="02020603050405020304" pitchFamily="18" charset="0"/>
                <a:cs typeface="Times New Roman" panose="02020603050405020304" pitchFamily="18" charset="0"/>
              </a:rPr>
              <a:t>over it.</a:t>
            </a:r>
            <a:endParaRPr dirty="0">
              <a:latin typeface="Times New Roman" panose="02020603050405020304" pitchFamily="18" charset="0"/>
              <a:cs typeface="Times New Roman" panose="02020603050405020304" pitchFamily="18" charset="0"/>
            </a:endParaRPr>
          </a:p>
          <a:p>
            <a:pPr marL="174625" lvl="0" indent="-174625" algn="just" rtl="0">
              <a:lnSpc>
                <a:spcPct val="120000"/>
              </a:lnSpc>
              <a:spcBef>
                <a:spcPts val="1200"/>
              </a:spcBef>
              <a:spcAft>
                <a:spcPts val="0"/>
              </a:spcAft>
              <a:buClr>
                <a:schemeClr val="dk1"/>
              </a:buClr>
              <a:buSzPct val="285714"/>
              <a:buNone/>
            </a:pPr>
            <a:endParaRPr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g111937b53da_0_36"/>
          <p:cNvSpPr txBox="1">
            <a:spLocks noGrp="1"/>
          </p:cNvSpPr>
          <p:nvPr>
            <p:ph type="body" idx="1"/>
          </p:nvPr>
        </p:nvSpPr>
        <p:spPr>
          <a:xfrm>
            <a:off x="393925" y="214875"/>
            <a:ext cx="11603100" cy="6571500"/>
          </a:xfrm>
          <a:prstGeom prst="rect">
            <a:avLst/>
          </a:prstGeom>
        </p:spPr>
        <p:txBody>
          <a:bodyPr spcFirstLastPara="1" wrap="square" lIns="91425" tIns="45700" rIns="91425" bIns="45700" anchor="t" anchorCtr="0">
            <a:normAutofit fontScale="85000" lnSpcReduction="20000"/>
          </a:bodyPr>
          <a:lstStyle/>
          <a:p>
            <a:pPr marL="457200" lvl="0" indent="-393700" algn="just" rtl="0">
              <a:lnSpc>
                <a:spcPct val="120000"/>
              </a:lnSpc>
              <a:spcBef>
                <a:spcPts val="1200"/>
              </a:spcBef>
              <a:spcAft>
                <a:spcPts val="0"/>
              </a:spcAft>
              <a:buSzPct val="100000"/>
              <a:buChar char="➢"/>
            </a:pPr>
            <a:r>
              <a:rPr lang="en-US" sz="3400" dirty="0"/>
              <a:t>Every route has a property called </a:t>
            </a:r>
            <a:r>
              <a:rPr lang="en-US" sz="3400" b="1" dirty="0"/>
              <a:t>a metric</a:t>
            </a:r>
            <a:r>
              <a:rPr lang="en-US" sz="3400" dirty="0"/>
              <a:t>, which indicates the </a:t>
            </a:r>
            <a:r>
              <a:rPr lang="en-US" sz="3400" dirty="0">
                <a:solidFill>
                  <a:srgbClr val="FF0000"/>
                </a:solidFill>
              </a:rPr>
              <a:t>"distance" to the route's destination</a:t>
            </a:r>
            <a:r>
              <a:rPr lang="en-US" sz="3400" dirty="0"/>
              <a:t>.</a:t>
            </a:r>
            <a:endParaRPr sz="3400" dirty="0"/>
          </a:p>
          <a:p>
            <a:pPr marL="457200" lvl="0" indent="-393700" algn="just" rtl="0">
              <a:lnSpc>
                <a:spcPct val="120000"/>
              </a:lnSpc>
              <a:spcBef>
                <a:spcPts val="0"/>
              </a:spcBef>
              <a:spcAft>
                <a:spcPts val="0"/>
              </a:spcAft>
              <a:buSzPct val="100000"/>
              <a:buChar char="➢"/>
            </a:pPr>
            <a:r>
              <a:rPr lang="en-US" sz="3400" dirty="0"/>
              <a:t>Every time a </a:t>
            </a:r>
            <a:r>
              <a:rPr lang="en-US" sz="3400" dirty="0">
                <a:solidFill>
                  <a:srgbClr val="00B050"/>
                </a:solidFill>
              </a:rPr>
              <a:t>router receives a route advertisement</a:t>
            </a:r>
            <a:r>
              <a:rPr lang="en-US" sz="3400" dirty="0"/>
              <a:t>, it </a:t>
            </a:r>
            <a:r>
              <a:rPr lang="en-US" sz="3400" dirty="0">
                <a:solidFill>
                  <a:srgbClr val="FF0000"/>
                </a:solidFill>
              </a:rPr>
              <a:t>increments the metric.</a:t>
            </a:r>
            <a:endParaRPr sz="3400" dirty="0"/>
          </a:p>
          <a:p>
            <a:pPr marL="457200" lvl="0" indent="-393700" algn="just" rtl="0">
              <a:lnSpc>
                <a:spcPct val="120000"/>
              </a:lnSpc>
              <a:spcBef>
                <a:spcPts val="0"/>
              </a:spcBef>
              <a:spcAft>
                <a:spcPts val="0"/>
              </a:spcAft>
              <a:buSzPct val="100000"/>
              <a:buChar char="➢"/>
            </a:pPr>
            <a:r>
              <a:rPr lang="en-US" sz="3400" dirty="0"/>
              <a:t>The </a:t>
            </a:r>
            <a:r>
              <a:rPr lang="en-US" sz="3400" b="1" dirty="0"/>
              <a:t>maximum metric </a:t>
            </a:r>
            <a:r>
              <a:rPr lang="en-US" sz="3400" dirty="0"/>
              <a:t>permitted by </a:t>
            </a:r>
            <a:r>
              <a:rPr lang="en-US" sz="3400" dirty="0">
                <a:solidFill>
                  <a:srgbClr val="FF0000"/>
                </a:solidFill>
              </a:rPr>
              <a:t>RIP is 16</a:t>
            </a:r>
            <a:r>
              <a:rPr lang="en-US" sz="3400" dirty="0"/>
              <a:t>, which means that a </a:t>
            </a:r>
            <a:r>
              <a:rPr lang="en-US" sz="3400" dirty="0">
                <a:solidFill>
                  <a:srgbClr val="00B050"/>
                </a:solidFill>
              </a:rPr>
              <a:t>route is unreachable</a:t>
            </a:r>
            <a:r>
              <a:rPr lang="en-US" sz="3400" dirty="0"/>
              <a:t>. </a:t>
            </a:r>
            <a:r>
              <a:rPr lang="en-US" sz="3400" dirty="0" err="1"/>
              <a:t>Ie</a:t>
            </a:r>
            <a:r>
              <a:rPr lang="en-US" sz="3400" dirty="0"/>
              <a:t>., the protocol cannot scale to networks more than 15 hops to a given destination.</a:t>
            </a:r>
            <a:endParaRPr sz="3400" dirty="0"/>
          </a:p>
          <a:p>
            <a:pPr marL="457200" lvl="0" indent="-393700" algn="just" rtl="0">
              <a:lnSpc>
                <a:spcPct val="120000"/>
              </a:lnSpc>
              <a:spcBef>
                <a:spcPts val="0"/>
              </a:spcBef>
              <a:spcAft>
                <a:spcPts val="0"/>
              </a:spcAft>
              <a:buSzPct val="100000"/>
              <a:buChar char="➢"/>
            </a:pPr>
            <a:r>
              <a:rPr lang="en-US" sz="3400" dirty="0"/>
              <a:t>RIP also includes some </a:t>
            </a:r>
            <a:r>
              <a:rPr lang="en-US" sz="3400" b="1" dirty="0">
                <a:solidFill>
                  <a:srgbClr val="00B050"/>
                </a:solidFill>
              </a:rPr>
              <a:t>optimizations</a:t>
            </a:r>
            <a:r>
              <a:rPr lang="en-US" sz="3400" dirty="0">
                <a:solidFill>
                  <a:srgbClr val="00B050"/>
                </a:solidFill>
              </a:rPr>
              <a:t> </a:t>
            </a:r>
            <a:r>
              <a:rPr lang="en-US" sz="3400" dirty="0"/>
              <a:t>of this basic algorithm to improve</a:t>
            </a:r>
            <a:r>
              <a:rPr lang="en-US" sz="3400" dirty="0">
                <a:solidFill>
                  <a:srgbClr val="00B050"/>
                </a:solidFill>
              </a:rPr>
              <a:t> </a:t>
            </a:r>
            <a:r>
              <a:rPr lang="en-US" sz="3400" dirty="0">
                <a:solidFill>
                  <a:srgbClr val="FF0000"/>
                </a:solidFill>
              </a:rPr>
              <a:t>stabilization of the routing database </a:t>
            </a:r>
            <a:r>
              <a:rPr lang="en-US" sz="3400" dirty="0"/>
              <a:t>and</a:t>
            </a:r>
            <a:r>
              <a:rPr lang="en-US" sz="3400" dirty="0">
                <a:solidFill>
                  <a:srgbClr val="FF0000"/>
                </a:solidFill>
              </a:rPr>
              <a:t> to eliminate routing loops.</a:t>
            </a:r>
            <a:endParaRPr sz="3400" dirty="0"/>
          </a:p>
          <a:p>
            <a:pPr marL="457200" lvl="0" indent="-393700" algn="just" rtl="0">
              <a:lnSpc>
                <a:spcPct val="120000"/>
              </a:lnSpc>
              <a:spcBef>
                <a:spcPts val="0"/>
              </a:spcBef>
              <a:spcAft>
                <a:spcPts val="0"/>
              </a:spcAft>
              <a:buSzPct val="100000"/>
              <a:buChar char="➢"/>
            </a:pPr>
            <a:r>
              <a:rPr lang="en-US" sz="3400" dirty="0"/>
              <a:t>When a route is determined to be</a:t>
            </a:r>
            <a:r>
              <a:rPr lang="en-US" sz="3400" b="1" dirty="0"/>
              <a:t> unreachable</a:t>
            </a:r>
            <a:r>
              <a:rPr lang="en-US" sz="3400" dirty="0"/>
              <a:t>, RIP routers do </a:t>
            </a:r>
            <a:r>
              <a:rPr lang="en-US" sz="3400" dirty="0">
                <a:solidFill>
                  <a:srgbClr val="00B050"/>
                </a:solidFill>
              </a:rPr>
              <a:t>not delete it straightaway</a:t>
            </a:r>
            <a:r>
              <a:rPr lang="en-US" sz="3400" dirty="0"/>
              <a:t>. Instead they continue to </a:t>
            </a:r>
            <a:r>
              <a:rPr lang="en-US" sz="3400" dirty="0">
                <a:solidFill>
                  <a:srgbClr val="FF0000"/>
                </a:solidFill>
              </a:rPr>
              <a:t>advertise the route with a metric of 16 </a:t>
            </a:r>
            <a:r>
              <a:rPr lang="en-US" sz="3400" dirty="0"/>
              <a:t>(unreachable). </a:t>
            </a:r>
            <a:endParaRPr sz="3400" dirty="0"/>
          </a:p>
          <a:p>
            <a:pPr marL="457200" lvl="0" indent="-393700" algn="just" rtl="0">
              <a:lnSpc>
                <a:spcPct val="120000"/>
              </a:lnSpc>
              <a:spcBef>
                <a:spcPts val="0"/>
              </a:spcBef>
              <a:spcAft>
                <a:spcPts val="0"/>
              </a:spcAft>
              <a:buSzPct val="100000"/>
              <a:buChar char="➢"/>
            </a:pPr>
            <a:r>
              <a:rPr lang="en-US" sz="3400" dirty="0"/>
              <a:t>A </a:t>
            </a:r>
            <a:r>
              <a:rPr lang="en-US" sz="3400" b="1" dirty="0"/>
              <a:t>"Request" </a:t>
            </a:r>
            <a:r>
              <a:rPr lang="en-US" sz="3400" dirty="0"/>
              <a:t>message allows a </a:t>
            </a:r>
            <a:r>
              <a:rPr lang="en-US" sz="3400" dirty="0">
                <a:solidFill>
                  <a:srgbClr val="FF0000"/>
                </a:solidFill>
              </a:rPr>
              <a:t>newly-started router </a:t>
            </a:r>
            <a:r>
              <a:rPr lang="en-US" sz="3400" dirty="0"/>
              <a:t>to rapidly query all of its </a:t>
            </a:r>
            <a:r>
              <a:rPr lang="en-US" sz="3400" dirty="0" err="1"/>
              <a:t>neighbours’</a:t>
            </a:r>
            <a:r>
              <a:rPr lang="en-US" sz="3400" dirty="0"/>
              <a:t> routing tables.</a:t>
            </a:r>
            <a:endParaRPr sz="3400" dirty="0"/>
          </a:p>
          <a:p>
            <a:pPr marL="0" lvl="0" indent="0" algn="l" rtl="0">
              <a:spcBef>
                <a:spcPts val="1000"/>
              </a:spcBef>
              <a:spcAft>
                <a:spcPts val="0"/>
              </a:spcAft>
              <a:buNone/>
            </a:pPr>
            <a:endParaRP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RIP Packet Format</a:t>
            </a:r>
            <a:r>
              <a:rPr lang="en-US"/>
              <a:t/>
            </a:r>
            <a:br>
              <a:rPr lang="en-US"/>
            </a:br>
            <a:endParaRPr/>
          </a:p>
        </p:txBody>
      </p:sp>
      <p:sp>
        <p:nvSpPr>
          <p:cNvPr id="474" name="Google Shape;474;p48"/>
          <p:cNvSpPr/>
          <p:nvPr/>
        </p:nvSpPr>
        <p:spPr>
          <a:xfrm>
            <a:off x="940746" y="931661"/>
            <a:ext cx="10806496" cy="5133416"/>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07000"/>
              </a:lnSpc>
              <a:spcBef>
                <a:spcPts val="0"/>
              </a:spcBef>
              <a:spcAft>
                <a:spcPts val="0"/>
              </a:spcAft>
              <a:buClr>
                <a:schemeClr val="dk1"/>
              </a:buClr>
              <a:buSzPts val="2400"/>
              <a:buFont typeface="Times New Roman"/>
              <a:buChar char="•"/>
            </a:pP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RIP messages uses </a:t>
            </a:r>
            <a:r>
              <a:rPr lang="en-US" sz="2800" dirty="0">
                <a:solidFill>
                  <a:srgbClr val="FF0000"/>
                </a:solidFill>
                <a:latin typeface="Times New Roman" panose="02020603050405020304" pitchFamily="18" charset="0"/>
                <a:ea typeface="Times New Roman"/>
                <a:cs typeface="Times New Roman" panose="02020603050405020304" pitchFamily="18" charset="0"/>
                <a:sym typeface="Times New Roman"/>
              </a:rPr>
              <a:t>UDP datagrams</a:t>
            </a:r>
            <a:endParaRPr sz="2800" dirty="0">
              <a:solidFill>
                <a:srgbClr val="FF0000"/>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lnSpc>
                <a:spcPct val="107000"/>
              </a:lnSpc>
              <a:spcBef>
                <a:spcPts val="0"/>
              </a:spcBef>
              <a:spcAft>
                <a:spcPts val="0"/>
              </a:spcAft>
              <a:buClr>
                <a:schemeClr val="dk1"/>
              </a:buClr>
              <a:buSzPts val="2400"/>
              <a:buFont typeface="Times New Roman"/>
              <a:buChar char="•"/>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Size of datagram </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limited to </a:t>
            </a: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512 bytes </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(allow advertisement of 25 routes.</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lnSpc>
                <a:spcPct val="107000"/>
              </a:lnSpc>
              <a:spcBef>
                <a:spcPts val="0"/>
              </a:spcBef>
              <a:spcAft>
                <a:spcPts val="0"/>
              </a:spcAft>
              <a:buClr>
                <a:schemeClr val="dk1"/>
              </a:buClr>
              <a:buSzPts val="2400"/>
              <a:buFont typeface="Times New Roman"/>
              <a:buChar char="•"/>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Command</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8 bits </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a:p>
            <a:pPr marL="742950" marR="0" lvl="1" indent="-285750" algn="just" rtl="0">
              <a:lnSpc>
                <a:spcPct val="107000"/>
              </a:lnSpc>
              <a:spcBef>
                <a:spcPts val="0"/>
              </a:spcBef>
              <a:spcAft>
                <a:spcPts val="0"/>
              </a:spcAft>
              <a:buClr>
                <a:schemeClr val="dk1"/>
              </a:buClr>
              <a:buSzPts val="2400"/>
              <a:buFont typeface="Times New Roman"/>
              <a:buChar char="–"/>
            </a:pPr>
            <a:r>
              <a:rPr lang="en-US" sz="2800" b="0"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Request (1), reply (2)</a:t>
            </a:r>
            <a:endParaRPr sz="2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lnSpc>
                <a:spcPct val="107000"/>
              </a:lnSpc>
              <a:spcBef>
                <a:spcPts val="0"/>
              </a:spcBef>
              <a:spcAft>
                <a:spcPts val="0"/>
              </a:spcAft>
              <a:buClr>
                <a:schemeClr val="dk1"/>
              </a:buClr>
              <a:buSzPts val="2400"/>
              <a:buFont typeface="Times New Roman"/>
              <a:buChar char="•"/>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Version</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1 or 2</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lnSpc>
                <a:spcPct val="107000"/>
              </a:lnSpc>
              <a:spcBef>
                <a:spcPts val="0"/>
              </a:spcBef>
              <a:spcAft>
                <a:spcPts val="0"/>
              </a:spcAft>
              <a:buClr>
                <a:schemeClr val="dk1"/>
              </a:buClr>
              <a:buSzPts val="2400"/>
              <a:buFont typeface="Times New Roman"/>
              <a:buChar char="•"/>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Family</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of protocol used for TCP/IP it is 2</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lnSpc>
                <a:spcPct val="107000"/>
              </a:lnSpc>
              <a:spcBef>
                <a:spcPts val="0"/>
              </a:spcBef>
              <a:spcAft>
                <a:spcPts val="0"/>
              </a:spcAft>
              <a:buClr>
                <a:schemeClr val="dk1"/>
              </a:buClr>
              <a:buSzPts val="2400"/>
              <a:buFont typeface="Times New Roman"/>
              <a:buChar char="•"/>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Network address </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32 bytes</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lnSpc>
                <a:spcPct val="107000"/>
              </a:lnSpc>
              <a:spcBef>
                <a:spcPts val="0"/>
              </a:spcBef>
              <a:spcAft>
                <a:spcPts val="0"/>
              </a:spcAft>
              <a:buClr>
                <a:schemeClr val="dk1"/>
              </a:buClr>
              <a:buSzPts val="2400"/>
              <a:buFont typeface="Times New Roman"/>
              <a:buChar char="•"/>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Distance</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hop count from the advertising router to the destination network</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just" rtl="0">
              <a:spcBef>
                <a:spcPts val="0"/>
              </a:spcBef>
              <a:spcAft>
                <a:spcPts val="0"/>
              </a:spcAft>
              <a:buNone/>
            </a:pPr>
            <a:r>
              <a:rPr lang="en-US" sz="2800" b="1" dirty="0">
                <a:solidFill>
                  <a:schemeClr val="dk1"/>
                </a:solidFill>
                <a:latin typeface="Times New Roman" panose="02020603050405020304" pitchFamily="18" charset="0"/>
                <a:ea typeface="Times New Roman"/>
                <a:cs typeface="Times New Roman" panose="02020603050405020304" pitchFamily="18" charset="0"/>
                <a:sym typeface="Times New Roman"/>
              </a:rPr>
              <a:t> Response</a:t>
            </a:r>
            <a:r>
              <a:rPr lang="en-US" sz="2800" dirty="0">
                <a:solidFill>
                  <a:schemeClr val="dk1"/>
                </a:solidFill>
                <a:latin typeface="Times New Roman" panose="02020603050405020304" pitchFamily="18" charset="0"/>
                <a:ea typeface="Times New Roman"/>
                <a:cs typeface="Times New Roman" panose="02020603050405020304" pitchFamily="18" charset="0"/>
                <a:sym typeface="Times New Roman"/>
              </a:rPr>
              <a:t>: solicited or unsolicited</a:t>
            </a:r>
            <a:endParaRPr sz="28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g111937b53da_0_41"/>
          <p:cNvPicPr preferRelativeResize="0">
            <a:picLocks noGrp="1"/>
          </p:cNvPicPr>
          <p:nvPr>
            <p:ph type="body" idx="1"/>
          </p:nvPr>
        </p:nvPicPr>
        <p:blipFill rotWithShape="1">
          <a:blip r:embed="rId3">
            <a:alphaModFix/>
          </a:blip>
          <a:srcRect/>
          <a:stretch/>
        </p:blipFill>
        <p:spPr>
          <a:xfrm>
            <a:off x="2350612" y="455797"/>
            <a:ext cx="7161000" cy="613740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RIP Problems</a:t>
            </a:r>
            <a:r>
              <a:rPr lang="en-US" sz="4000"/>
              <a:t/>
            </a:r>
            <a:br>
              <a:rPr lang="en-US" sz="4000"/>
            </a:br>
            <a:endParaRPr/>
          </a:p>
        </p:txBody>
      </p:sp>
      <p:sp>
        <p:nvSpPr>
          <p:cNvPr id="485" name="Google Shape;485;p49"/>
          <p:cNvSpPr txBox="1">
            <a:spLocks noGrp="1"/>
          </p:cNvSpPr>
          <p:nvPr>
            <p:ph type="body" idx="1"/>
          </p:nvPr>
        </p:nvSpPr>
        <p:spPr>
          <a:xfrm>
            <a:off x="416859" y="1825625"/>
            <a:ext cx="11510681"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dirty="0">
                <a:latin typeface="Times New Roman" panose="02020603050405020304" pitchFamily="18" charset="0"/>
                <a:cs typeface="Times New Roman" panose="02020603050405020304" pitchFamily="18" charset="0"/>
              </a:rPr>
              <a:t>RIP takes a </a:t>
            </a:r>
            <a:r>
              <a:rPr lang="en-US" dirty="0">
                <a:solidFill>
                  <a:srgbClr val="FF0000"/>
                </a:solidFill>
                <a:latin typeface="Times New Roman" panose="02020603050405020304" pitchFamily="18" charset="0"/>
                <a:cs typeface="Times New Roman" panose="02020603050405020304" pitchFamily="18" charset="0"/>
              </a:rPr>
              <a:t>long time to stabilize</a:t>
            </a:r>
            <a:endParaRPr dirty="0">
              <a:solidFill>
                <a:srgbClr val="FF0000"/>
              </a:solidFill>
              <a:latin typeface="Times New Roman" panose="02020603050405020304" pitchFamily="18" charset="0"/>
              <a:cs typeface="Times New Roman" panose="02020603050405020304" pitchFamily="18" charset="0"/>
            </a:endParaRPr>
          </a:p>
          <a:p>
            <a:pPr marL="685800" lvl="1" indent="-228600" algn="just" rtl="0">
              <a:lnSpc>
                <a:spcPct val="90000"/>
              </a:lnSpc>
              <a:spcBef>
                <a:spcPts val="500"/>
              </a:spcBef>
              <a:spcAft>
                <a:spcPts val="0"/>
              </a:spcAft>
              <a:buClr>
                <a:schemeClr val="dk1"/>
              </a:buClr>
              <a:buSzPts val="2400"/>
              <a:buChar char="•"/>
            </a:pPr>
            <a:r>
              <a:rPr lang="en-US" sz="2800" dirty="0">
                <a:latin typeface="Times New Roman" panose="02020603050405020304" pitchFamily="18" charset="0"/>
                <a:cs typeface="Times New Roman" panose="02020603050405020304" pitchFamily="18" charset="0"/>
              </a:rPr>
              <a:t>Even for a small network, it takes several minutes until the routing tables have settled after a change</a:t>
            </a:r>
            <a:endParaRPr sz="2800" dirty="0">
              <a:latin typeface="Times New Roman" panose="02020603050405020304" pitchFamily="18" charset="0"/>
              <a:cs typeface="Times New Roman" panose="02020603050405020304" pitchFamily="18" charset="0"/>
            </a:endParaRPr>
          </a:p>
          <a:p>
            <a:pPr marL="228600" lvl="0" indent="-228600" algn="just" rtl="0">
              <a:lnSpc>
                <a:spcPct val="90000"/>
              </a:lnSpc>
              <a:spcBef>
                <a:spcPts val="1000"/>
              </a:spcBef>
              <a:spcAft>
                <a:spcPts val="0"/>
              </a:spcAft>
              <a:buClr>
                <a:schemeClr val="dk1"/>
              </a:buClr>
              <a:buSzPts val="2800"/>
              <a:buChar char="•"/>
            </a:pPr>
            <a:r>
              <a:rPr lang="en-US" dirty="0">
                <a:latin typeface="Times New Roman" panose="02020603050405020304" pitchFamily="18" charset="0"/>
                <a:cs typeface="Times New Roman" panose="02020603050405020304" pitchFamily="18" charset="0"/>
              </a:rPr>
              <a:t>RIP has </a:t>
            </a:r>
            <a:r>
              <a:rPr lang="en-US" dirty="0">
                <a:solidFill>
                  <a:srgbClr val="FF0000"/>
                </a:solidFill>
                <a:latin typeface="Times New Roman" panose="02020603050405020304" pitchFamily="18" charset="0"/>
                <a:cs typeface="Times New Roman" panose="02020603050405020304" pitchFamily="18" charset="0"/>
              </a:rPr>
              <a:t>all the problems of distance vector algorithms</a:t>
            </a:r>
            <a:r>
              <a:rPr lang="en-US" dirty="0">
                <a:latin typeface="Times New Roman" panose="02020603050405020304" pitchFamily="18" charset="0"/>
                <a:cs typeface="Times New Roman" panose="02020603050405020304" pitchFamily="18" charset="0"/>
              </a:rPr>
              <a:t>, e.g., count-to-Infinity </a:t>
            </a:r>
            <a:endParaRPr dirty="0">
              <a:latin typeface="Times New Roman" panose="02020603050405020304" pitchFamily="18" charset="0"/>
              <a:cs typeface="Times New Roman" panose="02020603050405020304" pitchFamily="18" charset="0"/>
            </a:endParaRPr>
          </a:p>
          <a:p>
            <a:pPr marL="228600" lvl="0" indent="-228600" algn="just" rtl="0">
              <a:lnSpc>
                <a:spcPct val="90000"/>
              </a:lnSpc>
              <a:spcBef>
                <a:spcPts val="1000"/>
              </a:spcBef>
              <a:spcAft>
                <a:spcPts val="0"/>
              </a:spcAft>
              <a:buClr>
                <a:schemeClr val="dk1"/>
              </a:buClr>
              <a:buSzPts val="2800"/>
              <a:buChar char="•"/>
            </a:pPr>
            <a:r>
              <a:rPr lang="en-US" dirty="0">
                <a:latin typeface="Times New Roman" panose="02020603050405020304" pitchFamily="18" charset="0"/>
                <a:cs typeface="Times New Roman" panose="02020603050405020304" pitchFamily="18" charset="0"/>
              </a:rPr>
              <a:t>The </a:t>
            </a:r>
            <a:r>
              <a:rPr lang="en-US" dirty="0">
                <a:solidFill>
                  <a:srgbClr val="FF0000"/>
                </a:solidFill>
                <a:latin typeface="Times New Roman" panose="02020603050405020304" pitchFamily="18" charset="0"/>
                <a:cs typeface="Times New Roman" panose="02020603050405020304" pitchFamily="18" charset="0"/>
              </a:rPr>
              <a:t>maximum path in RIP is 15 hops</a:t>
            </a:r>
            <a:endParaRPr dirty="0">
              <a:solidFill>
                <a:srgbClr val="FF0000"/>
              </a:solidFill>
              <a:latin typeface="Times New Roman" panose="02020603050405020304" pitchFamily="18" charset="0"/>
              <a:cs typeface="Times New Roman" panose="02020603050405020304" pitchFamily="18" charset="0"/>
            </a:endParaRPr>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481781"/>
            <a:ext cx="9829800" cy="6376219"/>
          </a:xfrm>
        </p:spPr>
        <p:txBody>
          <a:bodyPr>
            <a:normAutofit fontScale="85000" lnSpcReduction="20000"/>
          </a:bodyPr>
          <a:lstStyle/>
          <a:p>
            <a:pPr algn="just">
              <a:lnSpc>
                <a:spcPct val="120000"/>
              </a:lnSpc>
              <a:buFont typeface="Wingdings" pitchFamily="2" charset="2"/>
              <a:buChar char="v"/>
            </a:pPr>
            <a:r>
              <a:rPr lang="en-US" sz="3100" dirty="0">
                <a:latin typeface="Times New Roman" panose="02020603050405020304" pitchFamily="18" charset="0"/>
                <a:cs typeface="Times New Roman" panose="02020603050405020304" pitchFamily="18" charset="0"/>
              </a:rPr>
              <a:t>The original Internet interior gateway protocol was a distance vector protocol (RIP) based on the Bellman-Ford algorithm inherited from the ARPANET. </a:t>
            </a:r>
          </a:p>
          <a:p>
            <a:pPr algn="just">
              <a:lnSpc>
                <a:spcPct val="120000"/>
              </a:lnSpc>
              <a:buFont typeface="Wingdings" pitchFamily="2" charset="2"/>
              <a:buChar char="v"/>
            </a:pPr>
            <a:r>
              <a:rPr lang="en-US" sz="3100" dirty="0">
                <a:latin typeface="Times New Roman" panose="02020603050405020304" pitchFamily="18" charset="0"/>
                <a:cs typeface="Times New Roman" panose="02020603050405020304" pitchFamily="18" charset="0"/>
              </a:rPr>
              <a:t>It </a:t>
            </a:r>
            <a:r>
              <a:rPr lang="en-US" sz="3100" b="1" dirty="0">
                <a:solidFill>
                  <a:srgbClr val="FF0000"/>
                </a:solidFill>
                <a:latin typeface="Times New Roman" panose="02020603050405020304" pitchFamily="18" charset="0"/>
                <a:cs typeface="Times New Roman" panose="02020603050405020304" pitchFamily="18" charset="0"/>
              </a:rPr>
              <a:t>worked well in small systems </a:t>
            </a:r>
            <a:r>
              <a:rPr lang="en-US" sz="3100" dirty="0">
                <a:latin typeface="Times New Roman" panose="02020603050405020304" pitchFamily="18" charset="0"/>
                <a:cs typeface="Times New Roman" panose="02020603050405020304" pitchFamily="18" charset="0"/>
              </a:rPr>
              <a:t>but less well as </a:t>
            </a:r>
            <a:r>
              <a:rPr lang="en-US" sz="3100" dirty="0" err="1">
                <a:latin typeface="Times New Roman" panose="02020603050405020304" pitchFamily="18" charset="0"/>
                <a:cs typeface="Times New Roman" panose="02020603050405020304" pitchFamily="18" charset="0"/>
              </a:rPr>
              <a:t>ASes</a:t>
            </a:r>
            <a:r>
              <a:rPr lang="en-US" sz="3100" dirty="0">
                <a:latin typeface="Times New Roman" panose="02020603050405020304" pitchFamily="18" charset="0"/>
                <a:cs typeface="Times New Roman" panose="02020603050405020304" pitchFamily="18" charset="0"/>
              </a:rPr>
              <a:t> got larger. </a:t>
            </a:r>
          </a:p>
          <a:p>
            <a:pPr algn="just">
              <a:lnSpc>
                <a:spcPct val="120000"/>
              </a:lnSpc>
              <a:buFont typeface="Wingdings" pitchFamily="2" charset="2"/>
              <a:buChar char="v"/>
            </a:pPr>
            <a:r>
              <a:rPr lang="en-US" sz="3100" dirty="0">
                <a:latin typeface="Times New Roman" panose="02020603050405020304" pitchFamily="18" charset="0"/>
                <a:cs typeface="Times New Roman" panose="02020603050405020304" pitchFamily="18" charset="0"/>
              </a:rPr>
              <a:t>It also suffered from the </a:t>
            </a:r>
            <a:r>
              <a:rPr lang="en-US" sz="3100" b="1" dirty="0">
                <a:solidFill>
                  <a:srgbClr val="FF0000"/>
                </a:solidFill>
                <a:latin typeface="Times New Roman" panose="02020603050405020304" pitchFamily="18" charset="0"/>
                <a:cs typeface="Times New Roman" panose="02020603050405020304" pitchFamily="18" charset="0"/>
              </a:rPr>
              <a:t>count-to-infinity problem </a:t>
            </a:r>
            <a:r>
              <a:rPr lang="en-US" sz="3100" dirty="0">
                <a:latin typeface="Times New Roman" panose="02020603050405020304" pitchFamily="18" charset="0"/>
                <a:cs typeface="Times New Roman" panose="02020603050405020304" pitchFamily="18" charset="0"/>
              </a:rPr>
              <a:t>and generally slow convergence</a:t>
            </a:r>
          </a:p>
          <a:p>
            <a:pPr algn="just">
              <a:lnSpc>
                <a:spcPct val="120000"/>
              </a:lnSpc>
              <a:buFont typeface="Wingdings" pitchFamily="2" charset="2"/>
              <a:buChar char="v"/>
            </a:pPr>
            <a:r>
              <a:rPr lang="en-US" sz="3100" dirty="0">
                <a:latin typeface="Times New Roman" panose="02020603050405020304" pitchFamily="18" charset="0"/>
                <a:cs typeface="Times New Roman" panose="02020603050405020304" pitchFamily="18" charset="0"/>
              </a:rPr>
              <a:t>So it was </a:t>
            </a:r>
            <a:r>
              <a:rPr lang="en-US" sz="3100" b="1" dirty="0">
                <a:latin typeface="Times New Roman" panose="02020603050405020304" pitchFamily="18" charset="0"/>
                <a:cs typeface="Times New Roman" panose="02020603050405020304" pitchFamily="18" charset="0"/>
              </a:rPr>
              <a:t>replaced</a:t>
            </a:r>
            <a:r>
              <a:rPr lang="en-US" sz="3100" dirty="0">
                <a:latin typeface="Times New Roman" panose="02020603050405020304" pitchFamily="18" charset="0"/>
                <a:cs typeface="Times New Roman" panose="02020603050405020304" pitchFamily="18" charset="0"/>
              </a:rPr>
              <a:t> in May 1979 by a </a:t>
            </a:r>
            <a:r>
              <a:rPr lang="en-US" sz="3100" b="1" dirty="0">
                <a:latin typeface="Times New Roman" panose="02020603050405020304" pitchFamily="18" charset="0"/>
                <a:cs typeface="Times New Roman" panose="02020603050405020304" pitchFamily="18" charset="0"/>
              </a:rPr>
              <a:t>link state protocol</a:t>
            </a:r>
            <a:r>
              <a:rPr lang="en-US" sz="3100" dirty="0">
                <a:latin typeface="Times New Roman" panose="02020603050405020304" pitchFamily="18" charset="0"/>
                <a:cs typeface="Times New Roman" panose="02020603050405020304" pitchFamily="18" charset="0"/>
              </a:rPr>
              <a:t>. </a:t>
            </a:r>
          </a:p>
          <a:p>
            <a:pPr algn="just">
              <a:lnSpc>
                <a:spcPct val="120000"/>
              </a:lnSpc>
              <a:buFont typeface="Wingdings" pitchFamily="2" charset="2"/>
              <a:buChar char="v"/>
            </a:pPr>
            <a:r>
              <a:rPr lang="en-US" sz="3100" dirty="0">
                <a:latin typeface="Times New Roman" panose="02020603050405020304" pitchFamily="18" charset="0"/>
                <a:cs typeface="Times New Roman" panose="02020603050405020304" pitchFamily="18" charset="0"/>
              </a:rPr>
              <a:t>In 1988, the Internet Engineering Task Force (IETF) began work on a successor. </a:t>
            </a:r>
          </a:p>
          <a:p>
            <a:pPr algn="just">
              <a:lnSpc>
                <a:spcPct val="120000"/>
              </a:lnSpc>
              <a:buFont typeface="Wingdings" pitchFamily="2" charset="2"/>
              <a:buChar char="v"/>
            </a:pPr>
            <a:r>
              <a:rPr lang="en-US" sz="3100" dirty="0">
                <a:latin typeface="Times New Roman" panose="02020603050405020304" pitchFamily="18" charset="0"/>
                <a:cs typeface="Times New Roman" panose="02020603050405020304" pitchFamily="18" charset="0"/>
              </a:rPr>
              <a:t>That successor, called </a:t>
            </a:r>
            <a:r>
              <a:rPr lang="en-US" sz="3100" b="1" dirty="0">
                <a:latin typeface="Times New Roman" panose="02020603050405020304" pitchFamily="18" charset="0"/>
                <a:cs typeface="Times New Roman" panose="02020603050405020304" pitchFamily="18" charset="0"/>
              </a:rPr>
              <a:t>OSPF (Open Shortest Path First), </a:t>
            </a:r>
            <a:r>
              <a:rPr lang="en-US" sz="3100" dirty="0">
                <a:latin typeface="Times New Roman" panose="02020603050405020304" pitchFamily="18" charset="0"/>
                <a:cs typeface="Times New Roman" panose="02020603050405020304" pitchFamily="18" charset="0"/>
              </a:rPr>
              <a:t>became a </a:t>
            </a:r>
            <a:r>
              <a:rPr lang="en-US" sz="3100" b="1" dirty="0">
                <a:latin typeface="Times New Roman" panose="02020603050405020304" pitchFamily="18" charset="0"/>
                <a:cs typeface="Times New Roman" panose="02020603050405020304" pitchFamily="18" charset="0"/>
              </a:rPr>
              <a:t>standard in 1990</a:t>
            </a:r>
            <a:r>
              <a:rPr lang="en-US" sz="3100" dirty="0">
                <a:latin typeface="Times New Roman" panose="02020603050405020304" pitchFamily="18" charset="0"/>
                <a:cs typeface="Times New Roman" panose="02020603050405020304" pitchFamily="18" charset="0"/>
              </a:rPr>
              <a:t>. </a:t>
            </a:r>
          </a:p>
          <a:p>
            <a:pPr algn="just">
              <a:lnSpc>
                <a:spcPct val="120000"/>
              </a:lnSpc>
              <a:buFont typeface="Wingdings" pitchFamily="2" charset="2"/>
              <a:buChar char="v"/>
            </a:pPr>
            <a:r>
              <a:rPr lang="en-US" sz="3100" dirty="0">
                <a:latin typeface="Times New Roman" panose="02020603050405020304" pitchFamily="18" charset="0"/>
                <a:cs typeface="Times New Roman" panose="02020603050405020304" pitchFamily="18" charset="0"/>
              </a:rPr>
              <a:t>Most router vendors now support it, and it has become the main interior gateway protocol</a:t>
            </a:r>
            <a:r>
              <a:rPr lang="en-US"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EF55C829-AE99-4997-8EBC-414F558758A8}"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50"/>
          <p:cNvSpPr txBox="1">
            <a:spLocks noGrp="1"/>
          </p:cNvSpPr>
          <p:nvPr>
            <p:ph type="body" idx="1"/>
          </p:nvPr>
        </p:nvSpPr>
        <p:spPr>
          <a:xfrm>
            <a:off x="125505" y="134471"/>
            <a:ext cx="11788589" cy="525779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4100"/>
              <a:buNone/>
            </a:pPr>
            <a:r>
              <a:rPr lang="en-US" sz="3900" b="1"/>
              <a:t>OSPF</a:t>
            </a:r>
            <a:r>
              <a:rPr lang="en-US" sz="3400"/>
              <a:t> </a:t>
            </a:r>
            <a:r>
              <a:rPr lang="en-US" sz="3400" b="1"/>
              <a:t>(Open Shortest Path First) protocol </a:t>
            </a:r>
            <a:endParaRPr sz="2600"/>
          </a:p>
          <a:p>
            <a:pPr marL="228600" lvl="0" indent="-260223" algn="just" rtl="0">
              <a:lnSpc>
                <a:spcPct val="120000"/>
              </a:lnSpc>
              <a:spcBef>
                <a:spcPts val="1000"/>
              </a:spcBef>
              <a:spcAft>
                <a:spcPts val="0"/>
              </a:spcAft>
              <a:buClr>
                <a:schemeClr val="dk1"/>
              </a:buClr>
              <a:buSzPts val="2900"/>
              <a:buChar char="•"/>
            </a:pPr>
            <a:r>
              <a:rPr lang="en-US" sz="2900"/>
              <a:t>The OSPF (Open Shortest Path First) protocol is one of a family of </a:t>
            </a:r>
            <a:r>
              <a:rPr lang="en-US" sz="2900">
                <a:solidFill>
                  <a:srgbClr val="FF0000"/>
                </a:solidFill>
              </a:rPr>
              <a:t>IP Routing protocols </a:t>
            </a:r>
            <a:r>
              <a:rPr lang="en-US" sz="2900"/>
              <a:t>and is an </a:t>
            </a:r>
            <a:r>
              <a:rPr lang="en-US" sz="2900">
                <a:solidFill>
                  <a:srgbClr val="FF0000"/>
                </a:solidFill>
              </a:rPr>
              <a:t>Interior Gateway Protocol (IGP) for the Internet</a:t>
            </a:r>
            <a:r>
              <a:rPr lang="en-US" sz="2900"/>
              <a:t>, used to </a:t>
            </a:r>
            <a:r>
              <a:rPr lang="en-US" sz="2900">
                <a:solidFill>
                  <a:srgbClr val="00B050"/>
                </a:solidFill>
              </a:rPr>
              <a:t>distribute IP routing information</a:t>
            </a:r>
            <a:r>
              <a:rPr lang="en-US" sz="2900"/>
              <a:t> throughout </a:t>
            </a:r>
            <a:r>
              <a:rPr lang="en-US" sz="2900" b="1"/>
              <a:t>a single Autonomous System (AS)</a:t>
            </a:r>
            <a:r>
              <a:rPr lang="en-US" sz="2900"/>
              <a:t> in an IP network. </a:t>
            </a:r>
            <a:endParaRPr sz="2600"/>
          </a:p>
          <a:p>
            <a:pPr marL="228600" lvl="0" indent="-260223" algn="just" rtl="0">
              <a:lnSpc>
                <a:spcPct val="120000"/>
              </a:lnSpc>
              <a:spcBef>
                <a:spcPts val="1000"/>
              </a:spcBef>
              <a:spcAft>
                <a:spcPts val="0"/>
              </a:spcAft>
              <a:buClr>
                <a:schemeClr val="dk1"/>
              </a:buClr>
              <a:buSzPts val="2900"/>
              <a:buChar char="•"/>
            </a:pPr>
            <a:r>
              <a:rPr lang="en-US" sz="2900"/>
              <a:t>The Open Shortest Path First (OSPF) protocol is an </a:t>
            </a:r>
            <a:r>
              <a:rPr lang="en-US" sz="2900">
                <a:solidFill>
                  <a:srgbClr val="FF0000"/>
                </a:solidFill>
              </a:rPr>
              <a:t>intra-domain routing protocol </a:t>
            </a:r>
            <a:r>
              <a:rPr lang="en-US" sz="2900"/>
              <a:t>based on </a:t>
            </a:r>
            <a:r>
              <a:rPr lang="en-US" sz="2900" b="1"/>
              <a:t>link state routing</a:t>
            </a:r>
            <a:r>
              <a:rPr lang="en-US" sz="2900"/>
              <a:t>.</a:t>
            </a:r>
            <a:endParaRPr sz="2600"/>
          </a:p>
        </p:txBody>
      </p:sp>
      <p:pic>
        <p:nvPicPr>
          <p:cNvPr id="491" name="Google Shape;491;p50"/>
          <p:cNvPicPr preferRelativeResize="0"/>
          <p:nvPr/>
        </p:nvPicPr>
        <p:blipFill rotWithShape="1">
          <a:blip r:embed="rId3">
            <a:alphaModFix/>
          </a:blip>
          <a:srcRect/>
          <a:stretch/>
        </p:blipFill>
        <p:spPr>
          <a:xfrm>
            <a:off x="533500" y="4082550"/>
            <a:ext cx="10263825" cy="2775450"/>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g111937b53da_0_47"/>
          <p:cNvSpPr txBox="1">
            <a:spLocks noGrp="1"/>
          </p:cNvSpPr>
          <p:nvPr>
            <p:ph type="title"/>
          </p:nvPr>
        </p:nvSpPr>
        <p:spPr>
          <a:xfrm>
            <a:off x="0" y="-716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100"/>
              <a:buFont typeface="Arial"/>
              <a:buNone/>
            </a:pPr>
            <a:r>
              <a:rPr lang="en-US" sz="4100" b="1"/>
              <a:t>OSPF</a:t>
            </a:r>
            <a:r>
              <a:rPr lang="en-US" sz="3600"/>
              <a:t> </a:t>
            </a:r>
            <a:r>
              <a:rPr lang="en-US" sz="3600" b="1"/>
              <a:t>(Open Shortest Path First) protocol </a:t>
            </a:r>
            <a:endParaRPr/>
          </a:p>
        </p:txBody>
      </p:sp>
      <p:sp>
        <p:nvSpPr>
          <p:cNvPr id="497" name="Google Shape;497;g111937b53da_0_47"/>
          <p:cNvSpPr txBox="1">
            <a:spLocks noGrp="1"/>
          </p:cNvSpPr>
          <p:nvPr>
            <p:ph type="body" idx="1"/>
          </p:nvPr>
        </p:nvSpPr>
        <p:spPr>
          <a:xfrm>
            <a:off x="498000" y="948225"/>
            <a:ext cx="11499000" cy="2776200"/>
          </a:xfrm>
          <a:prstGeom prst="rect">
            <a:avLst/>
          </a:prstGeom>
        </p:spPr>
        <p:txBody>
          <a:bodyPr spcFirstLastPara="1" wrap="square" lIns="91425" tIns="45700" rIns="91425" bIns="45700" anchor="t" anchorCtr="0">
            <a:noAutofit/>
          </a:bodyPr>
          <a:lstStyle/>
          <a:p>
            <a:pPr marL="228600" lvl="0" indent="-243395" algn="just" rtl="0">
              <a:lnSpc>
                <a:spcPct val="120000"/>
              </a:lnSpc>
              <a:spcBef>
                <a:spcPts val="1000"/>
              </a:spcBef>
              <a:spcAft>
                <a:spcPts val="0"/>
              </a:spcAft>
              <a:buSzPct val="100000"/>
              <a:buChar char="•"/>
            </a:pPr>
            <a:r>
              <a:rPr lang="en-US" sz="2600" dirty="0"/>
              <a:t>Divides an AS into </a:t>
            </a:r>
            <a:r>
              <a:rPr lang="en-US" sz="2600" b="1" dirty="0">
                <a:solidFill>
                  <a:srgbClr val="FF0000"/>
                </a:solidFill>
              </a:rPr>
              <a:t>areas</a:t>
            </a:r>
            <a:endParaRPr sz="2600" b="1" dirty="0">
              <a:solidFill>
                <a:srgbClr val="FF0000"/>
              </a:solidFill>
            </a:endParaRPr>
          </a:p>
          <a:p>
            <a:pPr marL="228600" lvl="0" indent="-243395" algn="just" rtl="0">
              <a:lnSpc>
                <a:spcPct val="120000"/>
              </a:lnSpc>
              <a:spcBef>
                <a:spcPts val="1000"/>
              </a:spcBef>
              <a:spcAft>
                <a:spcPts val="0"/>
              </a:spcAft>
              <a:buSzPct val="100000"/>
              <a:buChar char="•"/>
            </a:pPr>
            <a:r>
              <a:rPr lang="en-US" sz="2600" b="1" dirty="0"/>
              <a:t>Special routers </a:t>
            </a:r>
            <a:r>
              <a:rPr lang="en-US" sz="2600" dirty="0"/>
              <a:t>(autonomous system boundary routers) or </a:t>
            </a:r>
            <a:r>
              <a:rPr lang="en-US" sz="2600" b="1" dirty="0"/>
              <a:t>backbone routers </a:t>
            </a:r>
            <a:r>
              <a:rPr lang="en-US" sz="2600" dirty="0"/>
              <a:t>responsible </a:t>
            </a:r>
            <a:r>
              <a:rPr lang="en-US" sz="2600" dirty="0">
                <a:solidFill>
                  <a:srgbClr val="00B050"/>
                </a:solidFill>
              </a:rPr>
              <a:t>to dissipate</a:t>
            </a:r>
            <a:r>
              <a:rPr lang="en-US" sz="2600" dirty="0"/>
              <a:t>(disappear) </a:t>
            </a:r>
            <a:r>
              <a:rPr lang="en-US" sz="2600" dirty="0">
                <a:solidFill>
                  <a:srgbClr val="00B050"/>
                </a:solidFill>
              </a:rPr>
              <a:t>information about other AS into the current system</a:t>
            </a:r>
            <a:r>
              <a:rPr lang="en-US" sz="2600" dirty="0"/>
              <a:t>.</a:t>
            </a:r>
            <a:endParaRPr sz="2600" dirty="0"/>
          </a:p>
          <a:p>
            <a:pPr marL="228600" lvl="0" indent="-243395" algn="just" rtl="0">
              <a:lnSpc>
                <a:spcPct val="120000"/>
              </a:lnSpc>
              <a:spcBef>
                <a:spcPts val="1000"/>
              </a:spcBef>
              <a:spcAft>
                <a:spcPts val="0"/>
              </a:spcAft>
              <a:buSzPct val="100000"/>
              <a:buChar char="•"/>
            </a:pPr>
            <a:r>
              <a:rPr lang="en-US" sz="2600" b="1" dirty="0"/>
              <a:t>Metric</a:t>
            </a:r>
            <a:r>
              <a:rPr lang="en-US" sz="2600" dirty="0"/>
              <a:t> based on type of service : </a:t>
            </a:r>
            <a:r>
              <a:rPr lang="en-US" sz="2600" b="1" dirty="0"/>
              <a:t>Minimum delay , maximum throughput, reliability, </a:t>
            </a:r>
            <a:r>
              <a:rPr lang="en-US" sz="2600" dirty="0"/>
              <a:t>etc.</a:t>
            </a:r>
            <a:endParaRPr sz="2600" dirty="0"/>
          </a:p>
        </p:txBody>
      </p:sp>
      <p:pic>
        <p:nvPicPr>
          <p:cNvPr id="498" name="Google Shape;498;g111937b53da_0_47"/>
          <p:cNvPicPr preferRelativeResize="0"/>
          <p:nvPr/>
        </p:nvPicPr>
        <p:blipFill rotWithShape="1">
          <a:blip r:embed="rId3">
            <a:alphaModFix/>
          </a:blip>
          <a:srcRect/>
          <a:stretch/>
        </p:blipFill>
        <p:spPr>
          <a:xfrm>
            <a:off x="2913376" y="3724425"/>
            <a:ext cx="9083624" cy="2961510"/>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9507794" cy="6267228"/>
          </a:xfrm>
        </p:spPr>
        <p:txBody>
          <a:bodyPr>
            <a:normAutofit/>
          </a:bodyPr>
          <a:lstStyle/>
          <a:p>
            <a:pPr algn="just">
              <a:lnSpc>
                <a:spcPct val="100000"/>
              </a:lnSpc>
              <a:buFont typeface="Wingdings" pitchFamily="2" charset="2"/>
              <a:buChar char="v"/>
            </a:pPr>
            <a:r>
              <a:rPr lang="en-US" sz="2700" b="1" dirty="0">
                <a:latin typeface="Times New Roman" panose="02020603050405020304" pitchFamily="18" charset="0"/>
                <a:cs typeface="Times New Roman" panose="02020603050405020304" pitchFamily="18" charset="0"/>
              </a:rPr>
              <a:t>List of </a:t>
            </a:r>
            <a:r>
              <a:rPr lang="en-US" sz="2700" b="1" dirty="0">
                <a:solidFill>
                  <a:srgbClr val="FF0000"/>
                </a:solidFill>
                <a:latin typeface="Times New Roman" panose="02020603050405020304" pitchFamily="18" charset="0"/>
                <a:cs typeface="Times New Roman" panose="02020603050405020304" pitchFamily="18" charset="0"/>
              </a:rPr>
              <a:t>features</a:t>
            </a:r>
            <a:r>
              <a:rPr lang="en-US" sz="2700" b="1" dirty="0">
                <a:latin typeface="Times New Roman" panose="02020603050405020304" pitchFamily="18" charset="0"/>
                <a:cs typeface="Times New Roman" panose="02020603050405020304" pitchFamily="18" charset="0"/>
              </a:rPr>
              <a:t> that had to be met by OSPF algorithm</a:t>
            </a:r>
          </a:p>
          <a:p>
            <a:pPr lvl="1" algn="just">
              <a:lnSpc>
                <a:spcPct val="100000"/>
              </a:lnSpc>
              <a:buFont typeface="+mj-lt"/>
              <a:buAutoNum type="arabicPeriod"/>
            </a:pPr>
            <a:r>
              <a:rPr lang="en-US" sz="2700" dirty="0">
                <a:latin typeface="Times New Roman" panose="02020603050405020304" pitchFamily="18" charset="0"/>
                <a:cs typeface="Times New Roman" panose="02020603050405020304" pitchFamily="18" charset="0"/>
              </a:rPr>
              <a:t>It had to be published in the </a:t>
            </a:r>
            <a:r>
              <a:rPr lang="en-US" sz="2700" dirty="0">
                <a:solidFill>
                  <a:srgbClr val="FF0000"/>
                </a:solidFill>
                <a:latin typeface="Times New Roman" panose="02020603050405020304" pitchFamily="18" charset="0"/>
                <a:cs typeface="Times New Roman" panose="02020603050405020304" pitchFamily="18" charset="0"/>
              </a:rPr>
              <a:t>open literature</a:t>
            </a:r>
            <a:r>
              <a:rPr lang="en-US" sz="2700" dirty="0">
                <a:latin typeface="Times New Roman" panose="02020603050405020304" pitchFamily="18" charset="0"/>
                <a:cs typeface="Times New Roman" panose="02020603050405020304" pitchFamily="18" charset="0"/>
              </a:rPr>
              <a:t>, hence the ''O'' in OSPF</a:t>
            </a:r>
          </a:p>
          <a:p>
            <a:pPr lvl="1" algn="just">
              <a:lnSpc>
                <a:spcPct val="100000"/>
              </a:lnSpc>
              <a:buFont typeface="+mj-lt"/>
              <a:buAutoNum type="arabicPeriod"/>
            </a:pPr>
            <a:r>
              <a:rPr lang="en-US" sz="2700" dirty="0">
                <a:latin typeface="Times New Roman" panose="02020603050405020304" pitchFamily="18" charset="0"/>
                <a:cs typeface="Times New Roman" panose="02020603050405020304" pitchFamily="18" charset="0"/>
              </a:rPr>
              <a:t>It had to support a variety of </a:t>
            </a:r>
            <a:r>
              <a:rPr lang="en-US" sz="2700" dirty="0">
                <a:solidFill>
                  <a:srgbClr val="FF0000"/>
                </a:solidFill>
                <a:latin typeface="Times New Roman" panose="02020603050405020304" pitchFamily="18" charset="0"/>
                <a:cs typeface="Times New Roman" panose="02020603050405020304" pitchFamily="18" charset="0"/>
              </a:rPr>
              <a:t>distance metrics</a:t>
            </a:r>
            <a:r>
              <a:rPr lang="en-US" sz="2700" dirty="0">
                <a:latin typeface="Times New Roman" panose="02020603050405020304" pitchFamily="18" charset="0"/>
                <a:cs typeface="Times New Roman" panose="02020603050405020304" pitchFamily="18" charset="0"/>
              </a:rPr>
              <a:t>, including physical distance, delay, and so on</a:t>
            </a:r>
          </a:p>
          <a:p>
            <a:pPr lvl="1" algn="just">
              <a:lnSpc>
                <a:spcPct val="100000"/>
              </a:lnSpc>
              <a:buFont typeface="+mj-lt"/>
              <a:buAutoNum type="arabicPeriod"/>
            </a:pPr>
            <a:r>
              <a:rPr lang="en-US" sz="2700" dirty="0">
                <a:latin typeface="Times New Roman" panose="02020603050405020304" pitchFamily="18" charset="0"/>
                <a:cs typeface="Times New Roman" panose="02020603050405020304" pitchFamily="18" charset="0"/>
              </a:rPr>
              <a:t>It had to be a </a:t>
            </a:r>
            <a:r>
              <a:rPr lang="en-US" sz="2700" dirty="0">
                <a:solidFill>
                  <a:srgbClr val="FF0000"/>
                </a:solidFill>
                <a:latin typeface="Times New Roman" panose="02020603050405020304" pitchFamily="18" charset="0"/>
                <a:cs typeface="Times New Roman" panose="02020603050405020304" pitchFamily="18" charset="0"/>
              </a:rPr>
              <a:t>dynamic</a:t>
            </a:r>
            <a:r>
              <a:rPr lang="en-US" sz="2700" dirty="0">
                <a:latin typeface="Times New Roman" panose="02020603050405020304" pitchFamily="18" charset="0"/>
                <a:cs typeface="Times New Roman" panose="02020603050405020304" pitchFamily="18" charset="0"/>
              </a:rPr>
              <a:t> algorithm, one that adapted to changes in the topology automatically and quickly</a:t>
            </a:r>
          </a:p>
          <a:p>
            <a:pPr lvl="1" algn="just">
              <a:lnSpc>
                <a:spcPct val="100000"/>
              </a:lnSpc>
              <a:buFont typeface="+mj-lt"/>
              <a:buAutoNum type="arabicPeriod"/>
            </a:pPr>
            <a:r>
              <a:rPr lang="en-US" sz="2700" dirty="0">
                <a:latin typeface="Times New Roman" panose="02020603050405020304" pitchFamily="18" charset="0"/>
                <a:cs typeface="Times New Roman" panose="02020603050405020304" pitchFamily="18" charset="0"/>
              </a:rPr>
              <a:t>It had to support </a:t>
            </a:r>
            <a:r>
              <a:rPr lang="en-US" sz="2700" dirty="0">
                <a:solidFill>
                  <a:srgbClr val="FF0000"/>
                </a:solidFill>
                <a:latin typeface="Times New Roman" panose="02020603050405020304" pitchFamily="18" charset="0"/>
                <a:cs typeface="Times New Roman" panose="02020603050405020304" pitchFamily="18" charset="0"/>
              </a:rPr>
              <a:t>routing</a:t>
            </a:r>
            <a:r>
              <a:rPr lang="en-US" sz="2700" dirty="0">
                <a:latin typeface="Times New Roman" panose="02020603050405020304" pitchFamily="18" charset="0"/>
                <a:cs typeface="Times New Roman" panose="02020603050405020304" pitchFamily="18" charset="0"/>
              </a:rPr>
              <a:t> </a:t>
            </a:r>
            <a:r>
              <a:rPr lang="en-US" sz="2700" dirty="0">
                <a:solidFill>
                  <a:srgbClr val="FF0000"/>
                </a:solidFill>
                <a:latin typeface="Times New Roman" panose="02020603050405020304" pitchFamily="18" charset="0"/>
                <a:cs typeface="Times New Roman" panose="02020603050405020304" pitchFamily="18" charset="0"/>
              </a:rPr>
              <a:t>based</a:t>
            </a:r>
            <a:r>
              <a:rPr lang="en-US" sz="2700" dirty="0">
                <a:latin typeface="Times New Roman" panose="02020603050405020304" pitchFamily="18" charset="0"/>
                <a:cs typeface="Times New Roman" panose="02020603050405020304" pitchFamily="18" charset="0"/>
              </a:rPr>
              <a:t> </a:t>
            </a:r>
            <a:r>
              <a:rPr lang="en-US" sz="2700" dirty="0">
                <a:solidFill>
                  <a:srgbClr val="FF0000"/>
                </a:solidFill>
                <a:latin typeface="Times New Roman" panose="02020603050405020304" pitchFamily="18" charset="0"/>
                <a:cs typeface="Times New Roman" panose="02020603050405020304" pitchFamily="18" charset="0"/>
              </a:rPr>
              <a:t>on type of service (TOS)</a:t>
            </a:r>
          </a:p>
          <a:p>
            <a:pPr lvl="2" algn="just">
              <a:lnSpc>
                <a:spcPct val="100000"/>
              </a:lnSpc>
            </a:pPr>
            <a:r>
              <a:rPr lang="en-US" sz="2700" dirty="0">
                <a:latin typeface="Times New Roman" panose="02020603050405020304" pitchFamily="18" charset="0"/>
                <a:cs typeface="Times New Roman" panose="02020603050405020304" pitchFamily="18" charset="0"/>
              </a:rPr>
              <a:t>Ability to route real-time traffic one way and other traffic a different way</a:t>
            </a:r>
          </a:p>
          <a:p>
            <a:pPr lvl="2" algn="just">
              <a:lnSpc>
                <a:spcPct val="100000"/>
              </a:lnSpc>
            </a:pPr>
            <a:r>
              <a:rPr lang="en-US" sz="2700" dirty="0">
                <a:latin typeface="Times New Roman" panose="02020603050405020304" pitchFamily="18" charset="0"/>
                <a:cs typeface="Times New Roman" panose="02020603050405020304" pitchFamily="18" charset="0"/>
              </a:rPr>
              <a:t>but no existing routing protocol used it &amp; it was eventually removed</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9144000" cy="6267228"/>
          </a:xfrm>
        </p:spPr>
        <p:txBody>
          <a:bodyPr>
            <a:normAutofit/>
          </a:bodyPr>
          <a:lstStyle/>
          <a:p>
            <a:pPr lvl="1" algn="just">
              <a:lnSpc>
                <a:spcPct val="100000"/>
              </a:lnSpc>
              <a:buFont typeface="+mj-lt"/>
              <a:buAutoNum type="arabicPeriod" startAt="5"/>
            </a:pPr>
            <a:r>
              <a:rPr lang="en-US" sz="2700" dirty="0">
                <a:latin typeface="Times New Roman" panose="02020603050405020304" pitchFamily="18" charset="0"/>
                <a:cs typeface="Times New Roman" panose="02020603050405020304" pitchFamily="18" charset="0"/>
              </a:rPr>
              <a:t>It had to do </a:t>
            </a:r>
            <a:r>
              <a:rPr lang="en-US" sz="2700" dirty="0">
                <a:solidFill>
                  <a:srgbClr val="FF0000"/>
                </a:solidFill>
                <a:latin typeface="Times New Roman" panose="02020603050405020304" pitchFamily="18" charset="0"/>
                <a:cs typeface="Times New Roman" panose="02020603050405020304" pitchFamily="18" charset="0"/>
              </a:rPr>
              <a:t>load balancing</a:t>
            </a:r>
            <a:r>
              <a:rPr lang="en-US" sz="2700" dirty="0">
                <a:latin typeface="Times New Roman" panose="02020603050405020304" pitchFamily="18" charset="0"/>
                <a:cs typeface="Times New Roman" panose="02020603050405020304" pitchFamily="18" charset="0"/>
              </a:rPr>
              <a:t>, splitting the load over multiple lines. </a:t>
            </a:r>
          </a:p>
          <a:p>
            <a:pPr lvl="2" algn="just">
              <a:lnSpc>
                <a:spcPct val="100000"/>
              </a:lnSpc>
            </a:pPr>
            <a:r>
              <a:rPr lang="en-US" sz="2700" dirty="0">
                <a:latin typeface="Times New Roman" panose="02020603050405020304" pitchFamily="18" charset="0"/>
                <a:cs typeface="Times New Roman" panose="02020603050405020304" pitchFamily="18" charset="0"/>
              </a:rPr>
              <a:t>Most previous protocols sent all packets over the best route. </a:t>
            </a:r>
          </a:p>
          <a:p>
            <a:pPr lvl="2" algn="just">
              <a:lnSpc>
                <a:spcPct val="100000"/>
              </a:lnSpc>
            </a:pPr>
            <a:r>
              <a:rPr lang="en-US" sz="2700" dirty="0">
                <a:latin typeface="Times New Roman" panose="02020603050405020304" pitchFamily="18" charset="0"/>
                <a:cs typeface="Times New Roman" panose="02020603050405020304" pitchFamily="18" charset="0"/>
              </a:rPr>
              <a:t>The second-best route was not used at all. </a:t>
            </a:r>
          </a:p>
          <a:p>
            <a:pPr lvl="2" algn="just">
              <a:lnSpc>
                <a:spcPct val="100000"/>
              </a:lnSpc>
            </a:pPr>
            <a:r>
              <a:rPr lang="en-US" sz="2700" dirty="0">
                <a:latin typeface="Times New Roman" panose="02020603050405020304" pitchFamily="18" charset="0"/>
                <a:cs typeface="Times New Roman" panose="02020603050405020304" pitchFamily="18" charset="0"/>
              </a:rPr>
              <a:t>In many cases, splitting the load over multiple lines gives better performance </a:t>
            </a:r>
          </a:p>
          <a:p>
            <a:pPr lvl="1" algn="just">
              <a:lnSpc>
                <a:spcPct val="100000"/>
              </a:lnSpc>
              <a:buFont typeface="+mj-lt"/>
              <a:buAutoNum type="arabicPeriod" startAt="5"/>
            </a:pPr>
            <a:r>
              <a:rPr lang="en-US" sz="2700" dirty="0">
                <a:latin typeface="Times New Roman" panose="02020603050405020304" pitchFamily="18" charset="0"/>
                <a:cs typeface="Times New Roman" panose="02020603050405020304" pitchFamily="18" charset="0"/>
              </a:rPr>
              <a:t>Support for </a:t>
            </a:r>
            <a:r>
              <a:rPr lang="en-US" sz="2700" dirty="0">
                <a:solidFill>
                  <a:srgbClr val="FF0000"/>
                </a:solidFill>
                <a:latin typeface="Times New Roman" panose="02020603050405020304" pitchFamily="18" charset="0"/>
                <a:cs typeface="Times New Roman" panose="02020603050405020304" pitchFamily="18" charset="0"/>
              </a:rPr>
              <a:t>hierarchical systems </a:t>
            </a:r>
            <a:r>
              <a:rPr lang="en-US" sz="2700" dirty="0">
                <a:latin typeface="Times New Roman" panose="02020603050405020304" pitchFamily="18" charset="0"/>
                <a:cs typeface="Times New Roman" panose="02020603050405020304" pitchFamily="18" charset="0"/>
              </a:rPr>
              <a:t>was needed. </a:t>
            </a:r>
          </a:p>
          <a:p>
            <a:pPr lvl="1" algn="just">
              <a:lnSpc>
                <a:spcPct val="100000"/>
              </a:lnSpc>
              <a:buFont typeface="+mj-lt"/>
              <a:buAutoNum type="arabicPeriod" startAt="7"/>
            </a:pPr>
            <a:r>
              <a:rPr lang="en-US" sz="2700" dirty="0">
                <a:latin typeface="Times New Roman" panose="02020603050405020304" pitchFamily="18" charset="0"/>
                <a:cs typeface="Times New Roman" panose="02020603050405020304" pitchFamily="18" charset="0"/>
              </a:rPr>
              <a:t>Some degree of </a:t>
            </a:r>
            <a:r>
              <a:rPr lang="en-US" sz="2700" dirty="0">
                <a:solidFill>
                  <a:srgbClr val="FF0000"/>
                </a:solidFill>
                <a:latin typeface="Times New Roman" panose="02020603050405020304" pitchFamily="18" charset="0"/>
                <a:cs typeface="Times New Roman" panose="02020603050405020304" pitchFamily="18" charset="0"/>
              </a:rPr>
              <a:t>security</a:t>
            </a:r>
            <a:r>
              <a:rPr lang="en-US" sz="2700" dirty="0">
                <a:latin typeface="Times New Roman" panose="02020603050405020304" pitchFamily="18" charset="0"/>
                <a:cs typeface="Times New Roman" panose="02020603050405020304" pitchFamily="18" charset="0"/>
              </a:rPr>
              <a:t> was required to prevent sending false routing information to routers. </a:t>
            </a:r>
          </a:p>
          <a:p>
            <a:pPr lvl="1" algn="just">
              <a:lnSpc>
                <a:spcPct val="100000"/>
              </a:lnSpc>
              <a:buFont typeface="+mj-lt"/>
              <a:buAutoNum type="arabicPeriod" startAt="7"/>
            </a:pPr>
            <a:r>
              <a:rPr lang="en-US" sz="2700" dirty="0">
                <a:latin typeface="Times New Roman" panose="02020603050405020304" pitchFamily="18" charset="0"/>
                <a:cs typeface="Times New Roman" panose="02020603050405020304" pitchFamily="18" charset="0"/>
              </a:rPr>
              <a:t>Provision was needed for dealing with routers that were connected to the Internet via a </a:t>
            </a:r>
            <a:r>
              <a:rPr lang="en-US" sz="2700" dirty="0">
                <a:solidFill>
                  <a:srgbClr val="FF0000"/>
                </a:solidFill>
                <a:latin typeface="Times New Roman" panose="02020603050405020304" pitchFamily="18" charset="0"/>
                <a:cs typeface="Times New Roman" panose="02020603050405020304" pitchFamily="18" charset="0"/>
              </a:rPr>
              <a:t>tunnel</a:t>
            </a:r>
            <a:r>
              <a:rPr lang="en-US" sz="2700" dirty="0">
                <a:latin typeface="Times New Roman" panose="02020603050405020304" pitchFamily="18" charset="0"/>
                <a:cs typeface="Times New Roman" panose="02020603050405020304" pitchFamily="18" charset="0"/>
              </a:rPr>
              <a:t>.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9832"/>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3999" y="1008466"/>
            <a:ext cx="9340645" cy="4195717"/>
          </a:xfrm>
        </p:spPr>
        <p:txBody>
          <a:bodyPr>
            <a:normAutofit fontScale="92500"/>
          </a:bodyPr>
          <a:lstStyle/>
          <a:p>
            <a:pPr>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OSPF supports </a:t>
            </a:r>
            <a:r>
              <a:rPr lang="en-US" b="1" dirty="0">
                <a:latin typeface="Times New Roman" panose="02020603050405020304" pitchFamily="18" charset="0"/>
                <a:cs typeface="Times New Roman" panose="02020603050405020304" pitchFamily="18" charset="0"/>
              </a:rPr>
              <a:t>three kinds of connections and networks</a:t>
            </a:r>
            <a:r>
              <a:rPr lang="en-US" dirty="0">
                <a:latin typeface="Times New Roman" panose="02020603050405020304" pitchFamily="18" charset="0"/>
                <a:cs typeface="Times New Roman" panose="02020603050405020304" pitchFamily="18" charset="0"/>
              </a:rPr>
              <a:t>: </a:t>
            </a:r>
          </a:p>
          <a:p>
            <a:pPr lvl="2">
              <a:lnSpc>
                <a:spcPct val="110000"/>
              </a:lnSpc>
              <a:buNone/>
            </a:pPr>
            <a:r>
              <a:rPr lang="en-US" sz="2800" dirty="0">
                <a:latin typeface="Times New Roman" panose="02020603050405020304" pitchFamily="18" charset="0"/>
                <a:cs typeface="Times New Roman" panose="02020603050405020304" pitchFamily="18" charset="0"/>
              </a:rPr>
              <a:t>1. </a:t>
            </a:r>
            <a:r>
              <a:rPr lang="en-US" sz="2800" dirty="0">
                <a:solidFill>
                  <a:srgbClr val="FF0000"/>
                </a:solidFill>
                <a:latin typeface="Times New Roman" panose="02020603050405020304" pitchFamily="18" charset="0"/>
                <a:cs typeface="Times New Roman" panose="02020603050405020304" pitchFamily="18" charset="0"/>
              </a:rPr>
              <a:t>Point-to-point lines </a:t>
            </a:r>
            <a:r>
              <a:rPr lang="en-US" sz="2800" dirty="0">
                <a:latin typeface="Times New Roman" panose="02020603050405020304" pitchFamily="18" charset="0"/>
                <a:cs typeface="Times New Roman" panose="02020603050405020304" pitchFamily="18" charset="0"/>
              </a:rPr>
              <a:t>between exactly two routers. </a:t>
            </a:r>
          </a:p>
          <a:p>
            <a:pPr lvl="2">
              <a:lnSpc>
                <a:spcPct val="110000"/>
              </a:lnSpc>
              <a:buNone/>
            </a:pPr>
            <a:r>
              <a:rPr lang="en-US" sz="2800" dirty="0">
                <a:latin typeface="Times New Roman" panose="02020603050405020304" pitchFamily="18" charset="0"/>
                <a:cs typeface="Times New Roman" panose="02020603050405020304" pitchFamily="18" charset="0"/>
              </a:rPr>
              <a:t>2. </a:t>
            </a:r>
            <a:r>
              <a:rPr lang="en-US" sz="2800" dirty="0" err="1">
                <a:solidFill>
                  <a:srgbClr val="FF0000"/>
                </a:solidFill>
                <a:latin typeface="Times New Roman" panose="02020603050405020304" pitchFamily="18" charset="0"/>
                <a:cs typeface="Times New Roman" panose="02020603050405020304" pitchFamily="18" charset="0"/>
              </a:rPr>
              <a:t>Multiaccess</a:t>
            </a:r>
            <a:r>
              <a:rPr lang="en-US" sz="2800" dirty="0">
                <a:solidFill>
                  <a:srgbClr val="FF0000"/>
                </a:solidFill>
                <a:latin typeface="Times New Roman" panose="02020603050405020304" pitchFamily="18" charset="0"/>
                <a:cs typeface="Times New Roman" panose="02020603050405020304" pitchFamily="18" charset="0"/>
              </a:rPr>
              <a:t> networks with broadcasting </a:t>
            </a:r>
            <a:r>
              <a:rPr lang="en-US" sz="2800" dirty="0">
                <a:latin typeface="Times New Roman" panose="02020603050405020304" pitchFamily="18" charset="0"/>
                <a:cs typeface="Times New Roman" panose="02020603050405020304" pitchFamily="18" charset="0"/>
              </a:rPr>
              <a:t>(e.g., most LANs). </a:t>
            </a:r>
          </a:p>
          <a:p>
            <a:pPr lvl="2">
              <a:lnSpc>
                <a:spcPct val="110000"/>
              </a:lnSpc>
              <a:buNone/>
            </a:pPr>
            <a:r>
              <a:rPr lang="en-US" sz="2800" dirty="0">
                <a:latin typeface="Times New Roman" panose="02020603050405020304" pitchFamily="18" charset="0"/>
                <a:cs typeface="Times New Roman" panose="02020603050405020304" pitchFamily="18" charset="0"/>
              </a:rPr>
              <a:t>3. </a:t>
            </a:r>
            <a:r>
              <a:rPr lang="en-US" sz="2800" dirty="0" err="1">
                <a:solidFill>
                  <a:srgbClr val="FF0000"/>
                </a:solidFill>
                <a:latin typeface="Times New Roman" panose="02020603050405020304" pitchFamily="18" charset="0"/>
                <a:cs typeface="Times New Roman" panose="02020603050405020304" pitchFamily="18" charset="0"/>
              </a:rPr>
              <a:t>Multiaccess</a:t>
            </a:r>
            <a:r>
              <a:rPr lang="en-US" sz="2800" dirty="0">
                <a:solidFill>
                  <a:srgbClr val="FF0000"/>
                </a:solidFill>
                <a:latin typeface="Times New Roman" panose="02020603050405020304" pitchFamily="18" charset="0"/>
                <a:cs typeface="Times New Roman" panose="02020603050405020304" pitchFamily="18" charset="0"/>
              </a:rPr>
              <a:t> networks without broadcasting </a:t>
            </a:r>
            <a:r>
              <a:rPr lang="en-US" sz="2800" dirty="0">
                <a:latin typeface="Times New Roman" panose="02020603050405020304" pitchFamily="18" charset="0"/>
                <a:cs typeface="Times New Roman" panose="02020603050405020304" pitchFamily="18" charset="0"/>
              </a:rPr>
              <a:t>(e.g., most packet-switched WANs).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A </a:t>
            </a:r>
            <a:r>
              <a:rPr lang="en-US" b="1" dirty="0" err="1">
                <a:latin typeface="Times New Roman" panose="02020603050405020304" pitchFamily="18" charset="0"/>
                <a:cs typeface="Times New Roman" panose="02020603050405020304" pitchFamily="18" charset="0"/>
              </a:rPr>
              <a:t>multiaccess</a:t>
            </a:r>
            <a:r>
              <a:rPr lang="en-US" b="1" dirty="0">
                <a:latin typeface="Times New Roman" panose="02020603050405020304" pitchFamily="18" charset="0"/>
                <a:cs typeface="Times New Roman" panose="02020603050405020304" pitchFamily="18" charset="0"/>
              </a:rPr>
              <a:t> network </a:t>
            </a:r>
            <a:r>
              <a:rPr lang="en-US" dirty="0">
                <a:latin typeface="Times New Roman" panose="02020603050405020304" pitchFamily="18" charset="0"/>
                <a:cs typeface="Times New Roman" panose="02020603050405020304" pitchFamily="18" charset="0"/>
              </a:rPr>
              <a:t>is one that can have multiple routers on it, each of which can directly communicate with all the others. </a:t>
            </a:r>
          </a:p>
          <a:p>
            <a:pPr lvl="1" algn="just">
              <a:lnSpc>
                <a:spcPct val="110000"/>
              </a:lnSpc>
              <a:buFont typeface="Arial" pitchFamily="34" charset="0"/>
              <a:buChar char="•"/>
            </a:pPr>
            <a:r>
              <a:rPr lang="en-US" sz="2800" dirty="0">
                <a:latin typeface="Times New Roman" panose="02020603050405020304" pitchFamily="18" charset="0"/>
                <a:cs typeface="Times New Roman" panose="02020603050405020304" pitchFamily="18" charset="0"/>
              </a:rPr>
              <a:t>All LANs and WANs have this property.</a:t>
            </a:r>
          </a:p>
          <a:p>
            <a:pPr algn="just">
              <a:buFont typeface="Arial" pitchFamily="34" charset="0"/>
              <a:buChar char="•"/>
            </a:pPr>
            <a:endParaRPr lang="en-US"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9144000" cy="6267228"/>
          </a:xfrm>
        </p:spPr>
        <p:txBody>
          <a:bodyPr>
            <a:normAutofit/>
          </a:bodyPr>
          <a:lstStyle/>
          <a:p>
            <a:pPr algn="just">
              <a:buFont typeface="Arial" pitchFamily="34" charset="0"/>
              <a:buChar char="•"/>
            </a:pPr>
            <a:r>
              <a:rPr lang="en-US" dirty="0"/>
              <a:t>OSPF operates by abstracting the collection of actual networks, routers, and lines into a directed graph in which each </a:t>
            </a:r>
            <a:r>
              <a:rPr lang="en-US" b="1" dirty="0"/>
              <a:t>arc is assigned a cost </a:t>
            </a:r>
            <a:r>
              <a:rPr lang="en-US" dirty="0"/>
              <a:t>(</a:t>
            </a:r>
            <a:r>
              <a:rPr lang="en-US" b="1" dirty="0"/>
              <a:t>distance, delay</a:t>
            </a:r>
            <a:r>
              <a:rPr lang="en-US" dirty="0"/>
              <a:t>, etc.). </a:t>
            </a:r>
          </a:p>
          <a:p>
            <a:pPr algn="just">
              <a:buFont typeface="Arial" pitchFamily="34" charset="0"/>
              <a:buChar char="•"/>
            </a:pPr>
            <a:r>
              <a:rPr lang="en-US" dirty="0"/>
              <a:t>It then </a:t>
            </a:r>
            <a:r>
              <a:rPr lang="en-US" b="1" dirty="0"/>
              <a:t>computes the shortest path based on the weights on the arcs. </a:t>
            </a:r>
          </a:p>
          <a:p>
            <a:pPr algn="just">
              <a:buFont typeface="Arial" pitchFamily="34" charset="0"/>
              <a:buChar char="•"/>
            </a:pPr>
            <a:r>
              <a:rPr lang="en-US" dirty="0"/>
              <a:t>A </a:t>
            </a:r>
            <a:r>
              <a:rPr lang="en-US" b="1" dirty="0"/>
              <a:t>serial connection </a:t>
            </a:r>
            <a:r>
              <a:rPr lang="en-US" dirty="0"/>
              <a:t>between two routers is represented by </a:t>
            </a:r>
            <a:r>
              <a:rPr lang="en-US" b="1" dirty="0"/>
              <a:t>a pair of arcs</a:t>
            </a:r>
            <a:r>
              <a:rPr lang="en-US" dirty="0"/>
              <a:t>, one in each direction. </a:t>
            </a:r>
          </a:p>
          <a:p>
            <a:pPr algn="just">
              <a:buFont typeface="Arial" pitchFamily="34" charset="0"/>
              <a:buChar char="•"/>
            </a:pPr>
            <a:r>
              <a:rPr lang="en-US" b="1" dirty="0"/>
              <a:t>Their weights may be different</a:t>
            </a:r>
            <a:r>
              <a:rPr lang="en-US" dirty="0"/>
              <a:t>. </a:t>
            </a:r>
          </a:p>
          <a:p>
            <a:pPr algn="just">
              <a:buFont typeface="Arial" pitchFamily="34" charset="0"/>
              <a:buChar char="•"/>
            </a:pPr>
            <a:r>
              <a:rPr lang="en-US" dirty="0"/>
              <a:t>A </a:t>
            </a:r>
            <a:r>
              <a:rPr lang="en-US" b="1" dirty="0" err="1"/>
              <a:t>multiaccess</a:t>
            </a:r>
            <a:r>
              <a:rPr lang="en-US" b="1" dirty="0"/>
              <a:t> network </a:t>
            </a:r>
            <a:r>
              <a:rPr lang="en-US" dirty="0"/>
              <a:t>is represented by a </a:t>
            </a:r>
            <a:r>
              <a:rPr lang="en-US" dirty="0">
                <a:solidFill>
                  <a:srgbClr val="FF0000"/>
                </a:solidFill>
              </a:rPr>
              <a:t>node for the network </a:t>
            </a:r>
            <a:r>
              <a:rPr lang="en-US" dirty="0"/>
              <a:t>itself plus a </a:t>
            </a:r>
            <a:r>
              <a:rPr lang="en-US" dirty="0">
                <a:solidFill>
                  <a:srgbClr val="FF0000"/>
                </a:solidFill>
              </a:rPr>
              <a:t>node for each router</a:t>
            </a:r>
            <a:r>
              <a:rPr lang="en-US" dirty="0"/>
              <a:t>. </a:t>
            </a:r>
          </a:p>
          <a:p>
            <a:pPr algn="just">
              <a:buFont typeface="Arial" pitchFamily="34" charset="0"/>
              <a:buChar char="•"/>
            </a:pPr>
            <a:r>
              <a:rPr lang="en-US" dirty="0">
                <a:solidFill>
                  <a:srgbClr val="FF0000"/>
                </a:solidFill>
              </a:rPr>
              <a:t>What OSPF fundamentally does is </a:t>
            </a:r>
          </a:p>
          <a:p>
            <a:pPr lvl="1" algn="just">
              <a:buFont typeface="Arial" pitchFamily="34" charset="0"/>
              <a:buChar char="•"/>
            </a:pPr>
            <a:r>
              <a:rPr lang="en-US" dirty="0"/>
              <a:t>To represent the actual network as a graph like this and then compute the shortest path from every router to every other router.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524000" y="0"/>
            <a:ext cx="9144000" cy="749508"/>
          </a:xfrm>
        </p:spPr>
        <p:txBody>
          <a:bodyPr/>
          <a:lstStyle/>
          <a:p>
            <a:r>
              <a:rPr lang="en-US" dirty="0"/>
              <a:t>OSPF</a:t>
            </a:r>
          </a:p>
        </p:txBody>
      </p:sp>
      <p:sp>
        <p:nvSpPr>
          <p:cNvPr id="82947" name="Rectangle 3"/>
          <p:cNvSpPr>
            <a:spLocks noGrp="1" noChangeArrowheads="1"/>
          </p:cNvSpPr>
          <p:nvPr>
            <p:ph type="body" idx="1"/>
          </p:nvPr>
        </p:nvSpPr>
        <p:spPr>
          <a:xfrm>
            <a:off x="1524000" y="6243400"/>
            <a:ext cx="9144000" cy="609600"/>
          </a:xfrm>
        </p:spPr>
        <p:txBody>
          <a:bodyPr/>
          <a:lstStyle/>
          <a:p>
            <a:pPr algn="ctr">
              <a:buFontTx/>
              <a:buNone/>
            </a:pPr>
            <a:r>
              <a:rPr lang="en-US"/>
              <a:t>The relation between ASes, backbones, and areas in OSPF.</a:t>
            </a:r>
          </a:p>
        </p:txBody>
      </p:sp>
      <p:pic>
        <p:nvPicPr>
          <p:cNvPr id="82949" name="Picture 5" descr="5-65"/>
          <p:cNvPicPr>
            <a:picLocks noChangeAspect="1" noChangeArrowheads="1"/>
          </p:cNvPicPr>
          <p:nvPr/>
        </p:nvPicPr>
        <p:blipFill>
          <a:blip r:embed="rId2" cstate="print"/>
          <a:srcRect/>
          <a:stretch>
            <a:fillRect/>
          </a:stretch>
        </p:blipFill>
        <p:spPr bwMode="auto">
          <a:xfrm>
            <a:off x="1726837" y="654286"/>
            <a:ext cx="8671341" cy="5551643"/>
          </a:xfrm>
          <a:prstGeom prst="rect">
            <a:avLst/>
          </a:prstGeom>
          <a:noFill/>
        </p:spPr>
      </p:pic>
      <p:sp>
        <p:nvSpPr>
          <p:cNvPr id="5" name="Slide Number Placeholder 4"/>
          <p:cNvSpPr>
            <a:spLocks noGrp="1"/>
          </p:cNvSpPr>
          <p:nvPr>
            <p:ph type="sldNum" sz="quarter" idx="12"/>
          </p:nvPr>
        </p:nvSpPr>
        <p:spPr/>
        <p:txBody>
          <a:bodyPr/>
          <a:lstStyle/>
          <a:p>
            <a:fld id="{EF55C829-AE99-4997-8EBC-414F558758A8}"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9144000" cy="6267228"/>
          </a:xfrm>
        </p:spPr>
        <p:txBody>
          <a:bodyPr>
            <a:normAutofit fontScale="92500" lnSpcReduction="10000"/>
          </a:bodyPr>
          <a:lstStyle/>
          <a:p>
            <a:pPr algn="just">
              <a:buFont typeface="Arial" pitchFamily="34" charset="0"/>
              <a:buChar char="•"/>
            </a:pPr>
            <a:r>
              <a:rPr lang="en-US" dirty="0"/>
              <a:t>Many of the </a:t>
            </a:r>
            <a:r>
              <a:rPr lang="en-US" dirty="0" err="1"/>
              <a:t>ASes</a:t>
            </a:r>
            <a:r>
              <a:rPr lang="en-US" dirty="0"/>
              <a:t> in the Internet are themselves large and nontrivial to manage. </a:t>
            </a:r>
          </a:p>
          <a:p>
            <a:pPr algn="just">
              <a:buFont typeface="Arial" pitchFamily="34" charset="0"/>
              <a:buChar char="•"/>
            </a:pPr>
            <a:r>
              <a:rPr lang="en-US" dirty="0"/>
              <a:t>OSPF allows them to be </a:t>
            </a:r>
            <a:r>
              <a:rPr lang="en-US" b="1" dirty="0"/>
              <a:t>divided into numbered areas</a:t>
            </a:r>
            <a:r>
              <a:rPr lang="en-US" dirty="0"/>
              <a:t>, where an area is a network or a set of contiguous networks. </a:t>
            </a:r>
          </a:p>
          <a:p>
            <a:pPr algn="just">
              <a:buFont typeface="Arial" pitchFamily="34" charset="0"/>
              <a:buChar char="•"/>
            </a:pPr>
            <a:r>
              <a:rPr lang="en-US" dirty="0">
                <a:solidFill>
                  <a:srgbClr val="FF0000"/>
                </a:solidFill>
              </a:rPr>
              <a:t>Areas do not overlap </a:t>
            </a:r>
            <a:r>
              <a:rPr lang="en-US" dirty="0"/>
              <a:t>but need not be complete, that is, some routers may belong to no area. </a:t>
            </a:r>
          </a:p>
          <a:p>
            <a:pPr algn="just">
              <a:buFont typeface="Arial" pitchFamily="34" charset="0"/>
              <a:buChar char="•"/>
            </a:pPr>
            <a:r>
              <a:rPr lang="en-US" dirty="0"/>
              <a:t>An area is a generalization of a subnet. </a:t>
            </a:r>
          </a:p>
          <a:p>
            <a:pPr algn="just">
              <a:buFont typeface="Arial" pitchFamily="34" charset="0"/>
              <a:buChar char="•"/>
            </a:pPr>
            <a:r>
              <a:rPr lang="en-US" dirty="0">
                <a:solidFill>
                  <a:srgbClr val="FF0000"/>
                </a:solidFill>
              </a:rPr>
              <a:t>Outside an area, its topology and details are not visible. </a:t>
            </a:r>
          </a:p>
          <a:p>
            <a:pPr algn="just">
              <a:buFont typeface="Arial" pitchFamily="34" charset="0"/>
              <a:buChar char="•"/>
            </a:pPr>
            <a:r>
              <a:rPr lang="en-US" dirty="0"/>
              <a:t>Every AS has a backbone area, called </a:t>
            </a:r>
            <a:r>
              <a:rPr lang="en-US" dirty="0">
                <a:solidFill>
                  <a:srgbClr val="FF0000"/>
                </a:solidFill>
              </a:rPr>
              <a:t>area 0</a:t>
            </a:r>
            <a:r>
              <a:rPr lang="en-US" dirty="0"/>
              <a:t>. </a:t>
            </a:r>
          </a:p>
          <a:p>
            <a:pPr algn="just">
              <a:buFont typeface="Arial" pitchFamily="34" charset="0"/>
              <a:buChar char="•"/>
            </a:pPr>
            <a:r>
              <a:rPr lang="en-US" dirty="0">
                <a:solidFill>
                  <a:srgbClr val="FF0000"/>
                </a:solidFill>
              </a:rPr>
              <a:t>All areas are connected to the backbone</a:t>
            </a:r>
            <a:r>
              <a:rPr lang="en-US" dirty="0"/>
              <a:t>, possibly by tunnels</a:t>
            </a:r>
          </a:p>
          <a:p>
            <a:pPr algn="just">
              <a:buFont typeface="Arial" pitchFamily="34" charset="0"/>
              <a:buChar char="•"/>
            </a:pPr>
            <a:r>
              <a:rPr lang="en-US" dirty="0"/>
              <a:t>So it is possible to go from any area in the AS to any other area in the AS </a:t>
            </a:r>
            <a:r>
              <a:rPr lang="en-US" b="1" dirty="0"/>
              <a:t>via the backbone</a:t>
            </a:r>
            <a:r>
              <a:rPr lang="en-US" dirty="0"/>
              <a:t>. </a:t>
            </a:r>
          </a:p>
          <a:p>
            <a:pPr algn="just">
              <a:buFont typeface="Arial" pitchFamily="34" charset="0"/>
              <a:buChar char="•"/>
            </a:pPr>
            <a:r>
              <a:rPr lang="en-US" dirty="0"/>
              <a:t>A </a:t>
            </a:r>
            <a:r>
              <a:rPr lang="en-US" b="1" dirty="0"/>
              <a:t>tunnel</a:t>
            </a:r>
            <a:r>
              <a:rPr lang="en-US" dirty="0"/>
              <a:t> is represented in the graph as an </a:t>
            </a:r>
            <a:r>
              <a:rPr lang="en-US" b="1" dirty="0"/>
              <a:t>arc and has a cost</a:t>
            </a:r>
            <a:r>
              <a:rPr lang="en-US" dirty="0"/>
              <a:t>. </a:t>
            </a:r>
          </a:p>
          <a:p>
            <a:pPr algn="just">
              <a:buFont typeface="Arial" pitchFamily="34" charset="0"/>
              <a:buChar char="•"/>
            </a:pPr>
            <a:r>
              <a:rPr lang="en-US" dirty="0"/>
              <a:t>Each router that is connected to two or more areas is </a:t>
            </a:r>
            <a:r>
              <a:rPr lang="en-US" b="1" dirty="0"/>
              <a:t>part of the backbone. </a:t>
            </a:r>
            <a:endParaRPr lang="en-US" sz="2400" b="1" dirty="0"/>
          </a:p>
        </p:txBody>
      </p:sp>
      <p:sp>
        <p:nvSpPr>
          <p:cNvPr id="4" name="Slide Number Placeholder 3"/>
          <p:cNvSpPr>
            <a:spLocks noGrp="1"/>
          </p:cNvSpPr>
          <p:nvPr>
            <p:ph type="sldNum" sz="quarter" idx="12"/>
          </p:nvPr>
        </p:nvSpPr>
        <p:spPr/>
        <p:txBody>
          <a:bodyPr/>
          <a:lstStyle/>
          <a:p>
            <a:fld id="{EF55C829-AE99-4997-8EBC-414F558758A8}"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9144000" cy="6267228"/>
          </a:xfrm>
        </p:spPr>
        <p:txBody>
          <a:bodyPr/>
          <a:lstStyle/>
          <a:p>
            <a:pPr algn="just">
              <a:buFont typeface="Arial" pitchFamily="34" charset="0"/>
              <a:buChar char="•"/>
            </a:pPr>
            <a:r>
              <a:rPr lang="en-US" b="1" dirty="0">
                <a:solidFill>
                  <a:srgbClr val="FF0000"/>
                </a:solidFill>
              </a:rPr>
              <a:t>Within an area</a:t>
            </a:r>
            <a:r>
              <a:rPr lang="en-US" dirty="0"/>
              <a:t>, each router has the </a:t>
            </a:r>
            <a:r>
              <a:rPr lang="en-US" b="1" dirty="0"/>
              <a:t>same link state database </a:t>
            </a:r>
            <a:r>
              <a:rPr lang="en-US" dirty="0"/>
              <a:t>and </a:t>
            </a:r>
            <a:r>
              <a:rPr lang="en-US" b="1" dirty="0"/>
              <a:t>runs the same shortest path algorithm</a:t>
            </a:r>
            <a:r>
              <a:rPr lang="en-US" dirty="0"/>
              <a:t>. </a:t>
            </a:r>
          </a:p>
          <a:p>
            <a:pPr algn="just">
              <a:buFont typeface="Arial" pitchFamily="34" charset="0"/>
              <a:buChar char="•"/>
            </a:pPr>
            <a:r>
              <a:rPr lang="en-US" dirty="0"/>
              <a:t>Its main job is to </a:t>
            </a:r>
            <a:r>
              <a:rPr lang="en-US" b="1" dirty="0"/>
              <a:t>calculate the shortest path from itself to every other router in the area</a:t>
            </a:r>
            <a:r>
              <a:rPr lang="en-US" dirty="0"/>
              <a:t>, including the router that is connected to the backbone.</a:t>
            </a:r>
          </a:p>
          <a:p>
            <a:pPr algn="just">
              <a:buFont typeface="Arial" pitchFamily="34" charset="0"/>
              <a:buChar char="•"/>
            </a:pPr>
            <a:r>
              <a:rPr lang="en-US" dirty="0"/>
              <a:t>A router that connects to two areas </a:t>
            </a:r>
            <a:r>
              <a:rPr lang="en-US" b="1" dirty="0"/>
              <a:t>needs the databases for both areas </a:t>
            </a:r>
            <a:r>
              <a:rPr lang="en-US" dirty="0"/>
              <a:t>and </a:t>
            </a:r>
            <a:r>
              <a:rPr lang="en-US" dirty="0">
                <a:solidFill>
                  <a:srgbClr val="FF0000"/>
                </a:solidFill>
              </a:rPr>
              <a:t>must run the shortest path algorithm for each one separately. </a:t>
            </a:r>
          </a:p>
          <a:p>
            <a:pPr algn="just">
              <a:buFont typeface="Arial" pitchFamily="34" charset="0"/>
              <a:buChar char="•"/>
            </a:pPr>
            <a:r>
              <a:rPr lang="en-US" dirty="0"/>
              <a:t>During normal operation, </a:t>
            </a:r>
            <a:r>
              <a:rPr lang="en-US" dirty="0">
                <a:solidFill>
                  <a:srgbClr val="FF0000"/>
                </a:solidFill>
              </a:rPr>
              <a:t>three kinds of routes </a:t>
            </a:r>
            <a:r>
              <a:rPr lang="en-US" dirty="0"/>
              <a:t>may be needed: </a:t>
            </a:r>
          </a:p>
          <a:p>
            <a:pPr lvl="1" algn="just">
              <a:buFont typeface="Arial" pitchFamily="34" charset="0"/>
              <a:buChar char="•"/>
            </a:pPr>
            <a:r>
              <a:rPr lang="en-US" dirty="0"/>
              <a:t>intra-area, </a:t>
            </a:r>
          </a:p>
          <a:p>
            <a:pPr lvl="1" algn="just">
              <a:buFont typeface="Arial" pitchFamily="34" charset="0"/>
              <a:buChar char="•"/>
            </a:pPr>
            <a:r>
              <a:rPr lang="en-US" dirty="0" err="1"/>
              <a:t>interarea</a:t>
            </a:r>
            <a:r>
              <a:rPr lang="en-US" dirty="0"/>
              <a:t>, and </a:t>
            </a:r>
          </a:p>
          <a:p>
            <a:pPr lvl="1" algn="just">
              <a:buFont typeface="Arial" pitchFamily="34" charset="0"/>
              <a:buChar char="•"/>
            </a:pPr>
            <a:r>
              <a:rPr lang="en-US" dirty="0"/>
              <a:t>inter-AS.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OSPF</a:t>
            </a:r>
          </a:p>
        </p:txBody>
      </p:sp>
      <p:sp>
        <p:nvSpPr>
          <p:cNvPr id="12291" name="Rectangle 3"/>
          <p:cNvSpPr>
            <a:spLocks noGrp="1" noChangeArrowheads="1"/>
          </p:cNvSpPr>
          <p:nvPr>
            <p:ph type="body" idx="1"/>
          </p:nvPr>
        </p:nvSpPr>
        <p:spPr>
          <a:xfrm>
            <a:off x="1524000" y="590772"/>
            <a:ext cx="9144000" cy="6267228"/>
          </a:xfrm>
        </p:spPr>
        <p:txBody>
          <a:bodyPr>
            <a:normAutofit/>
          </a:bodyPr>
          <a:lstStyle/>
          <a:p>
            <a:pPr algn="just">
              <a:buFont typeface="Arial" pitchFamily="34" charset="0"/>
              <a:buChar char="•"/>
            </a:pPr>
            <a:r>
              <a:rPr lang="en-US" sz="2600" b="1" dirty="0">
                <a:latin typeface="Times New Roman" panose="02020603050405020304" pitchFamily="18" charset="0"/>
                <a:cs typeface="Times New Roman" panose="02020603050405020304" pitchFamily="18" charset="0"/>
              </a:rPr>
              <a:t>Intra-area routes </a:t>
            </a:r>
            <a:r>
              <a:rPr lang="en-US" sz="2600" dirty="0">
                <a:latin typeface="Times New Roman" panose="02020603050405020304" pitchFamily="18" charset="0"/>
                <a:cs typeface="Times New Roman" panose="02020603050405020304" pitchFamily="18" charset="0"/>
              </a:rPr>
              <a:t>are the easiest, since the source router already knows the shortest path to the destination router. </a:t>
            </a:r>
          </a:p>
          <a:p>
            <a:pPr algn="just">
              <a:buFont typeface="Arial" pitchFamily="34" charset="0"/>
              <a:buChar char="•"/>
            </a:pPr>
            <a:r>
              <a:rPr lang="en-US" sz="2600" b="1" dirty="0" err="1">
                <a:latin typeface="Times New Roman" panose="02020603050405020304" pitchFamily="18" charset="0"/>
                <a:cs typeface="Times New Roman" panose="02020603050405020304" pitchFamily="18" charset="0"/>
              </a:rPr>
              <a:t>Interarea</a:t>
            </a:r>
            <a:r>
              <a:rPr lang="en-US" sz="2600" b="1" dirty="0">
                <a:latin typeface="Times New Roman" panose="02020603050405020304" pitchFamily="18" charset="0"/>
                <a:cs typeface="Times New Roman" panose="02020603050405020304" pitchFamily="18" charset="0"/>
              </a:rPr>
              <a:t> routing </a:t>
            </a:r>
            <a:r>
              <a:rPr lang="en-US" sz="2600" dirty="0">
                <a:latin typeface="Times New Roman" panose="02020603050405020304" pitchFamily="18" charset="0"/>
                <a:cs typeface="Times New Roman" panose="02020603050405020304" pitchFamily="18" charset="0"/>
              </a:rPr>
              <a:t>always proceeds in three steps: </a:t>
            </a:r>
          </a:p>
          <a:p>
            <a:pPr lvl="1" algn="just">
              <a:buFont typeface="+mj-lt"/>
              <a:buAutoNum type="arabicPeriod"/>
            </a:pPr>
            <a:r>
              <a:rPr lang="en-US" sz="2600" dirty="0">
                <a:latin typeface="Times New Roman" panose="02020603050405020304" pitchFamily="18" charset="0"/>
                <a:cs typeface="Times New Roman" panose="02020603050405020304" pitchFamily="18" charset="0"/>
              </a:rPr>
              <a:t>Go from the source to the backbone; </a:t>
            </a:r>
          </a:p>
          <a:p>
            <a:pPr lvl="1" algn="just">
              <a:buFont typeface="+mj-lt"/>
              <a:buAutoNum type="arabicPeriod"/>
            </a:pPr>
            <a:r>
              <a:rPr lang="en-US" sz="2600" dirty="0">
                <a:latin typeface="Times New Roman" panose="02020603050405020304" pitchFamily="18" charset="0"/>
                <a:cs typeface="Times New Roman" panose="02020603050405020304" pitchFamily="18" charset="0"/>
              </a:rPr>
              <a:t>Go across the backbone to the destination area; </a:t>
            </a:r>
          </a:p>
          <a:p>
            <a:pPr lvl="1" algn="just">
              <a:buFont typeface="+mj-lt"/>
              <a:buAutoNum type="arabicPeriod"/>
            </a:pPr>
            <a:r>
              <a:rPr lang="en-US" sz="2600" dirty="0">
                <a:latin typeface="Times New Roman" panose="02020603050405020304" pitchFamily="18" charset="0"/>
                <a:cs typeface="Times New Roman" panose="02020603050405020304" pitchFamily="18" charset="0"/>
              </a:rPr>
              <a:t>Go to the destination. </a:t>
            </a:r>
          </a:p>
          <a:p>
            <a:pPr lvl="2" algn="just">
              <a:buFont typeface="Arial" pitchFamily="34" charset="0"/>
              <a:buChar char="•"/>
            </a:pPr>
            <a:r>
              <a:rPr lang="en-US" sz="2600" dirty="0">
                <a:latin typeface="Times New Roman" panose="02020603050405020304" pitchFamily="18" charset="0"/>
                <a:cs typeface="Times New Roman" panose="02020603050405020304" pitchFamily="18" charset="0"/>
              </a:rPr>
              <a:t>This algorithm forces a </a:t>
            </a:r>
            <a:r>
              <a:rPr lang="en-US" sz="2600" b="1" dirty="0">
                <a:latin typeface="Times New Roman" panose="02020603050405020304" pitchFamily="18" charset="0"/>
                <a:cs typeface="Times New Roman" panose="02020603050405020304" pitchFamily="18" charset="0"/>
              </a:rPr>
              <a:t>star configuration on OSPF </a:t>
            </a:r>
            <a:r>
              <a:rPr lang="en-US" sz="2600" dirty="0">
                <a:latin typeface="Times New Roman" panose="02020603050405020304" pitchFamily="18" charset="0"/>
                <a:cs typeface="Times New Roman" panose="02020603050405020304" pitchFamily="18" charset="0"/>
              </a:rPr>
              <a:t>with the backbone being the hub and the other areas being spokes. </a:t>
            </a:r>
          </a:p>
        </p:txBody>
      </p:sp>
      <p:pic>
        <p:nvPicPr>
          <p:cNvPr id="67588" name="Picture 4" descr="http://fcit.usf.edu/network/chap5/pics/star.gif"/>
          <p:cNvPicPr>
            <a:picLocks noChangeAspect="1" noChangeArrowheads="1"/>
          </p:cNvPicPr>
          <p:nvPr/>
        </p:nvPicPr>
        <p:blipFill>
          <a:blip r:embed="rId2" cstate="print"/>
          <a:srcRect/>
          <a:stretch>
            <a:fillRect/>
          </a:stretch>
        </p:blipFill>
        <p:spPr bwMode="auto">
          <a:xfrm>
            <a:off x="4668249" y="4077862"/>
            <a:ext cx="2855502" cy="2461050"/>
          </a:xfrm>
          <a:prstGeom prst="rect">
            <a:avLst/>
          </a:prstGeom>
          <a:noFill/>
        </p:spPr>
      </p:pic>
      <p:sp>
        <p:nvSpPr>
          <p:cNvPr id="5" name="Slide Number Placeholder 4"/>
          <p:cNvSpPr>
            <a:spLocks noGrp="1"/>
          </p:cNvSpPr>
          <p:nvPr>
            <p:ph type="sldNum" sz="quarter" idx="12"/>
          </p:nvPr>
        </p:nvSpPr>
        <p:spPr/>
        <p:txBody>
          <a:bodyPr/>
          <a:lstStyle/>
          <a:p>
            <a:fld id="{EF55C829-AE99-4997-8EBC-414F558758A8}"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9144000" cy="6267228"/>
          </a:xfrm>
        </p:spPr>
        <p:txBody>
          <a:bodyPr>
            <a:normAutofit/>
          </a:bodyPr>
          <a:lstStyle/>
          <a:p>
            <a:pPr>
              <a:buFont typeface="Arial" pitchFamily="34" charset="0"/>
              <a:buChar char="•"/>
            </a:pPr>
            <a:endParaRPr lang="en-US" sz="2600" dirty="0">
              <a:latin typeface="Times New Roman" panose="02020603050405020304" pitchFamily="18" charset="0"/>
              <a:cs typeface="Times New Roman" panose="02020603050405020304" pitchFamily="18" charset="0"/>
            </a:endParaRPr>
          </a:p>
          <a:p>
            <a:pPr>
              <a:lnSpc>
                <a:spcPct val="100000"/>
              </a:lnSpc>
              <a:buFont typeface="Arial" pitchFamily="34" charset="0"/>
              <a:buChar char="•"/>
            </a:pPr>
            <a:r>
              <a:rPr lang="en-US" sz="2600" dirty="0">
                <a:latin typeface="Times New Roman" panose="02020603050405020304" pitchFamily="18" charset="0"/>
                <a:cs typeface="Times New Roman" panose="02020603050405020304" pitchFamily="18" charset="0"/>
              </a:rPr>
              <a:t>OSPF distinguishes </a:t>
            </a:r>
            <a:r>
              <a:rPr lang="en-US" sz="2600" dirty="0">
                <a:solidFill>
                  <a:srgbClr val="FF0000"/>
                </a:solidFill>
                <a:latin typeface="Times New Roman" panose="02020603050405020304" pitchFamily="18" charset="0"/>
                <a:cs typeface="Times New Roman" panose="02020603050405020304" pitchFamily="18" charset="0"/>
              </a:rPr>
              <a:t>four classes of routers</a:t>
            </a:r>
            <a:r>
              <a:rPr lang="en-US" sz="2600" dirty="0">
                <a:latin typeface="Times New Roman" panose="02020603050405020304" pitchFamily="18" charset="0"/>
                <a:cs typeface="Times New Roman" panose="02020603050405020304" pitchFamily="18" charset="0"/>
              </a:rPr>
              <a:t>: </a:t>
            </a:r>
          </a:p>
          <a:p>
            <a:pPr lvl="2">
              <a:lnSpc>
                <a:spcPct val="100000"/>
              </a:lnSpc>
              <a:buNone/>
            </a:pPr>
            <a:r>
              <a:rPr lang="en-US" sz="2600" dirty="0">
                <a:latin typeface="Times New Roman" panose="02020603050405020304" pitchFamily="18" charset="0"/>
                <a:cs typeface="Times New Roman" panose="02020603050405020304" pitchFamily="18" charset="0"/>
              </a:rPr>
              <a:t>1. </a:t>
            </a:r>
            <a:r>
              <a:rPr lang="en-US" sz="2600" dirty="0">
                <a:solidFill>
                  <a:srgbClr val="FF0000"/>
                </a:solidFill>
                <a:latin typeface="Times New Roman" panose="02020603050405020304" pitchFamily="18" charset="0"/>
                <a:cs typeface="Times New Roman" panose="02020603050405020304" pitchFamily="18" charset="0"/>
              </a:rPr>
              <a:t>Internal routers </a:t>
            </a:r>
            <a:r>
              <a:rPr lang="en-US" sz="2600" dirty="0">
                <a:latin typeface="Times New Roman" panose="02020603050405020304" pitchFamily="18" charset="0"/>
                <a:cs typeface="Times New Roman" panose="02020603050405020304" pitchFamily="18" charset="0"/>
              </a:rPr>
              <a:t>are wholly within one area. </a:t>
            </a:r>
          </a:p>
          <a:p>
            <a:pPr lvl="2">
              <a:lnSpc>
                <a:spcPct val="100000"/>
              </a:lnSpc>
              <a:buNone/>
            </a:pPr>
            <a:r>
              <a:rPr lang="en-US" sz="2600" dirty="0">
                <a:latin typeface="Times New Roman" panose="02020603050405020304" pitchFamily="18" charset="0"/>
                <a:cs typeface="Times New Roman" panose="02020603050405020304" pitchFamily="18" charset="0"/>
              </a:rPr>
              <a:t>2. </a:t>
            </a:r>
            <a:r>
              <a:rPr lang="en-US" sz="2600" dirty="0">
                <a:solidFill>
                  <a:srgbClr val="FF0000"/>
                </a:solidFill>
                <a:latin typeface="Times New Roman" panose="02020603050405020304" pitchFamily="18" charset="0"/>
                <a:cs typeface="Times New Roman" panose="02020603050405020304" pitchFamily="18" charset="0"/>
              </a:rPr>
              <a:t>Area border routers </a:t>
            </a:r>
            <a:r>
              <a:rPr lang="en-US" sz="2600" dirty="0">
                <a:latin typeface="Times New Roman" panose="02020603050405020304" pitchFamily="18" charset="0"/>
                <a:cs typeface="Times New Roman" panose="02020603050405020304" pitchFamily="18" charset="0"/>
              </a:rPr>
              <a:t>connect two or more areas. </a:t>
            </a:r>
          </a:p>
          <a:p>
            <a:pPr lvl="2">
              <a:lnSpc>
                <a:spcPct val="100000"/>
              </a:lnSpc>
              <a:buNone/>
            </a:pPr>
            <a:r>
              <a:rPr lang="en-US" sz="2600" dirty="0">
                <a:latin typeface="Times New Roman" panose="02020603050405020304" pitchFamily="18" charset="0"/>
                <a:cs typeface="Times New Roman" panose="02020603050405020304" pitchFamily="18" charset="0"/>
              </a:rPr>
              <a:t>3. </a:t>
            </a:r>
            <a:r>
              <a:rPr lang="en-US" sz="2600" dirty="0">
                <a:solidFill>
                  <a:srgbClr val="FF0000"/>
                </a:solidFill>
                <a:latin typeface="Times New Roman" panose="02020603050405020304" pitchFamily="18" charset="0"/>
                <a:cs typeface="Times New Roman" panose="02020603050405020304" pitchFamily="18" charset="0"/>
              </a:rPr>
              <a:t>Backbone routers </a:t>
            </a:r>
            <a:r>
              <a:rPr lang="en-US" sz="2600" dirty="0">
                <a:latin typeface="Times New Roman" panose="02020603050405020304" pitchFamily="18" charset="0"/>
                <a:cs typeface="Times New Roman" panose="02020603050405020304" pitchFamily="18" charset="0"/>
              </a:rPr>
              <a:t>are on the backbone. </a:t>
            </a:r>
          </a:p>
          <a:p>
            <a:pPr lvl="2">
              <a:lnSpc>
                <a:spcPct val="100000"/>
              </a:lnSpc>
              <a:buNone/>
            </a:pPr>
            <a:r>
              <a:rPr lang="en-US" sz="2600" dirty="0">
                <a:latin typeface="Times New Roman" panose="02020603050405020304" pitchFamily="18" charset="0"/>
                <a:cs typeface="Times New Roman" panose="02020603050405020304" pitchFamily="18" charset="0"/>
              </a:rPr>
              <a:t>4. </a:t>
            </a:r>
            <a:r>
              <a:rPr lang="en-US" sz="2600" dirty="0">
                <a:solidFill>
                  <a:srgbClr val="FF0000"/>
                </a:solidFill>
                <a:latin typeface="Times New Roman" panose="02020603050405020304" pitchFamily="18" charset="0"/>
                <a:cs typeface="Times New Roman" panose="02020603050405020304" pitchFamily="18" charset="0"/>
              </a:rPr>
              <a:t>AS boundary routers </a:t>
            </a:r>
            <a:r>
              <a:rPr lang="en-US" sz="2600" dirty="0">
                <a:latin typeface="Times New Roman" panose="02020603050405020304" pitchFamily="18" charset="0"/>
                <a:cs typeface="Times New Roman" panose="02020603050405020304" pitchFamily="18" charset="0"/>
              </a:rPr>
              <a:t>talk to routers in other </a:t>
            </a:r>
            <a:r>
              <a:rPr lang="en-US" sz="2600" dirty="0" err="1">
                <a:latin typeface="Times New Roman" panose="02020603050405020304" pitchFamily="18" charset="0"/>
                <a:cs typeface="Times New Roman" panose="02020603050405020304" pitchFamily="18" charset="0"/>
              </a:rPr>
              <a:t>ASes</a:t>
            </a:r>
            <a:r>
              <a:rPr lang="en-US" sz="2600" dirty="0">
                <a:latin typeface="Times New Roman" panose="02020603050405020304" pitchFamily="18" charset="0"/>
                <a:cs typeface="Times New Roman" panose="02020603050405020304" pitchFamily="18" charset="0"/>
              </a:rPr>
              <a:t>.</a:t>
            </a:r>
          </a:p>
          <a:p>
            <a:pPr marL="0" indent="0" algn="just">
              <a:lnSpc>
                <a:spcPct val="100000"/>
              </a:lnSpc>
              <a:buNone/>
            </a:pPr>
            <a:endParaRPr lang="en-US" sz="2600" dirty="0">
              <a:latin typeface="Times New Roman" panose="02020603050405020304" pitchFamily="18" charset="0"/>
              <a:cs typeface="Times New Roman" panose="02020603050405020304" pitchFamily="18" charset="0"/>
            </a:endParaRPr>
          </a:p>
          <a:p>
            <a:pPr algn="just">
              <a:lnSpc>
                <a:spcPct val="100000"/>
              </a:lnSpc>
              <a:buFont typeface="Arial" pitchFamily="34" charset="0"/>
              <a:buChar char="•"/>
            </a:pPr>
            <a:r>
              <a:rPr lang="en-US" sz="2600" dirty="0">
                <a:latin typeface="Times New Roman" panose="02020603050405020304" pitchFamily="18" charset="0"/>
                <a:cs typeface="Times New Roman" panose="02020603050405020304" pitchFamily="18" charset="0"/>
              </a:rPr>
              <a:t>These </a:t>
            </a:r>
            <a:r>
              <a:rPr lang="en-US" sz="2600" b="1" dirty="0">
                <a:latin typeface="Times New Roman" panose="02020603050405020304" pitchFamily="18" charset="0"/>
                <a:cs typeface="Times New Roman" panose="02020603050405020304" pitchFamily="18" charset="0"/>
              </a:rPr>
              <a:t>classes are allowed to overlap</a:t>
            </a:r>
            <a:r>
              <a:rPr lang="en-US" sz="2600" dirty="0">
                <a:latin typeface="Times New Roman" panose="02020603050405020304" pitchFamily="18" charset="0"/>
                <a:cs typeface="Times New Roman" panose="02020603050405020304" pitchFamily="18" charset="0"/>
              </a:rPr>
              <a:t>. </a:t>
            </a:r>
          </a:p>
          <a:p>
            <a:pPr lvl="1" algn="just">
              <a:lnSpc>
                <a:spcPct val="100000"/>
              </a:lnSpc>
              <a:buFont typeface="Arial" pitchFamily="34" charset="0"/>
              <a:buChar char="•"/>
            </a:pPr>
            <a:r>
              <a:rPr lang="en-US" sz="2600" dirty="0">
                <a:latin typeface="Times New Roman" panose="02020603050405020304" pitchFamily="18" charset="0"/>
                <a:cs typeface="Times New Roman" panose="02020603050405020304" pitchFamily="18" charset="0"/>
              </a:rPr>
              <a:t>For example, all the </a:t>
            </a:r>
            <a:r>
              <a:rPr lang="en-US" sz="2600" b="1" dirty="0">
                <a:latin typeface="Times New Roman" panose="02020603050405020304" pitchFamily="18" charset="0"/>
                <a:cs typeface="Times New Roman" panose="02020603050405020304" pitchFamily="18" charset="0"/>
              </a:rPr>
              <a:t>border routers </a:t>
            </a:r>
            <a:r>
              <a:rPr lang="en-US" sz="2600" dirty="0">
                <a:latin typeface="Times New Roman" panose="02020603050405020304" pitchFamily="18" charset="0"/>
                <a:cs typeface="Times New Roman" panose="02020603050405020304" pitchFamily="18" charset="0"/>
              </a:rPr>
              <a:t>are automatically </a:t>
            </a:r>
            <a:r>
              <a:rPr lang="en-US" sz="2600" b="1" dirty="0">
                <a:latin typeface="Times New Roman" panose="02020603050405020304" pitchFamily="18" charset="0"/>
                <a:cs typeface="Times New Roman" panose="02020603050405020304" pitchFamily="18" charset="0"/>
              </a:rPr>
              <a:t>part of the backbone. </a:t>
            </a:r>
          </a:p>
          <a:p>
            <a:pPr lvl="1" algn="just">
              <a:lnSpc>
                <a:spcPct val="100000"/>
              </a:lnSpc>
              <a:buFont typeface="Arial" pitchFamily="34" charset="0"/>
              <a:buChar char="•"/>
            </a:pPr>
            <a:r>
              <a:rPr lang="en-US" sz="2600" dirty="0">
                <a:latin typeface="Times New Roman" panose="02020603050405020304" pitchFamily="18" charset="0"/>
                <a:cs typeface="Times New Roman" panose="02020603050405020304" pitchFamily="18" charset="0"/>
              </a:rPr>
              <a:t>In addition, </a:t>
            </a:r>
            <a:r>
              <a:rPr lang="en-US" sz="2600" b="1" dirty="0">
                <a:latin typeface="Times New Roman" panose="02020603050405020304" pitchFamily="18" charset="0"/>
                <a:cs typeface="Times New Roman" panose="02020603050405020304" pitchFamily="18" charset="0"/>
              </a:rPr>
              <a:t>a router that is in the backbone </a:t>
            </a:r>
            <a:r>
              <a:rPr lang="en-US" sz="2600" dirty="0">
                <a:latin typeface="Times New Roman" panose="02020603050405020304" pitchFamily="18" charset="0"/>
                <a:cs typeface="Times New Roman" panose="02020603050405020304" pitchFamily="18" charset="0"/>
              </a:rPr>
              <a:t>but not part of any other area is </a:t>
            </a:r>
            <a:r>
              <a:rPr lang="en-US" sz="2600" b="1" dirty="0">
                <a:latin typeface="Times New Roman" panose="02020603050405020304" pitchFamily="18" charset="0"/>
                <a:cs typeface="Times New Roman" panose="02020603050405020304" pitchFamily="18" charset="0"/>
              </a:rPr>
              <a:t>also an internal router</a:t>
            </a:r>
            <a:r>
              <a:rPr lang="en-US" sz="2600" dirty="0">
                <a:latin typeface="Times New Roman" panose="02020603050405020304" pitchFamily="18" charset="0"/>
                <a:cs typeface="Times New Roman" panose="02020603050405020304" pitchFamily="18" charset="0"/>
              </a:rPr>
              <a:t>.</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10215716" cy="6267228"/>
          </a:xfrm>
        </p:spPr>
        <p:txBody>
          <a:bodyPr>
            <a:noAutofit/>
          </a:bodyPr>
          <a:lstStyle/>
          <a:p>
            <a:pPr algn="just">
              <a:buFont typeface="Arial" pitchFamily="34" charset="0"/>
              <a:buChar char="•"/>
            </a:pPr>
            <a:r>
              <a:rPr lang="en-US" sz="2700" dirty="0">
                <a:solidFill>
                  <a:srgbClr val="FF0000"/>
                </a:solidFill>
                <a:latin typeface="Times New Roman" panose="02020603050405020304" pitchFamily="18" charset="0"/>
                <a:cs typeface="Times New Roman" panose="02020603050405020304" pitchFamily="18" charset="0"/>
              </a:rPr>
              <a:t>Working:</a:t>
            </a:r>
          </a:p>
          <a:p>
            <a:pPr algn="just">
              <a:buFont typeface="Arial" pitchFamily="34" charset="0"/>
              <a:buChar char="•"/>
            </a:pPr>
            <a:r>
              <a:rPr lang="en-US" sz="2700" dirty="0">
                <a:latin typeface="Times New Roman" panose="02020603050405020304" pitchFamily="18" charset="0"/>
                <a:cs typeface="Times New Roman" panose="02020603050405020304" pitchFamily="18" charset="0"/>
              </a:rPr>
              <a:t>When a router boots, it sends </a:t>
            </a:r>
            <a:r>
              <a:rPr lang="en-US" sz="2700" b="1" dirty="0">
                <a:latin typeface="Times New Roman" panose="02020603050405020304" pitchFamily="18" charset="0"/>
                <a:cs typeface="Times New Roman" panose="02020603050405020304" pitchFamily="18" charset="0"/>
              </a:rPr>
              <a:t>HELLO messages </a:t>
            </a:r>
            <a:r>
              <a:rPr lang="en-US" sz="2700" dirty="0">
                <a:latin typeface="Times New Roman" panose="02020603050405020304" pitchFamily="18" charset="0"/>
                <a:cs typeface="Times New Roman" panose="02020603050405020304" pitchFamily="18" charset="0"/>
              </a:rPr>
              <a:t>on all of its point-to-point lines and </a:t>
            </a:r>
            <a:r>
              <a:rPr lang="en-US" sz="2700" b="1" dirty="0">
                <a:latin typeface="Times New Roman" panose="02020603050405020304" pitchFamily="18" charset="0"/>
                <a:cs typeface="Times New Roman" panose="02020603050405020304" pitchFamily="18" charset="0"/>
              </a:rPr>
              <a:t>multicasts them </a:t>
            </a:r>
            <a:r>
              <a:rPr lang="en-US" sz="2700" dirty="0">
                <a:latin typeface="Times New Roman" panose="02020603050405020304" pitchFamily="18" charset="0"/>
                <a:cs typeface="Times New Roman" panose="02020603050405020304" pitchFamily="18" charset="0"/>
              </a:rPr>
              <a:t>on LANs to the group consisting of all the other routers. </a:t>
            </a:r>
          </a:p>
          <a:p>
            <a:pPr algn="just">
              <a:buFont typeface="Arial" pitchFamily="34" charset="0"/>
              <a:buChar char="•"/>
            </a:pPr>
            <a:r>
              <a:rPr lang="en-US" sz="2700" dirty="0">
                <a:latin typeface="Times New Roman" panose="02020603050405020304" pitchFamily="18" charset="0"/>
                <a:cs typeface="Times New Roman" panose="02020603050405020304" pitchFamily="18" charset="0"/>
              </a:rPr>
              <a:t>From the responses, each router learns who its neighbors are. </a:t>
            </a:r>
          </a:p>
          <a:p>
            <a:pPr algn="just">
              <a:buFont typeface="Arial" pitchFamily="34" charset="0"/>
              <a:buChar char="•"/>
            </a:pPr>
            <a:r>
              <a:rPr lang="en-US" sz="2700" dirty="0">
                <a:latin typeface="Times New Roman" panose="02020603050405020304" pitchFamily="18" charset="0"/>
                <a:cs typeface="Times New Roman" panose="02020603050405020304" pitchFamily="18" charset="0"/>
              </a:rPr>
              <a:t>Routers on the same LAN are all neighbors. </a:t>
            </a:r>
          </a:p>
          <a:p>
            <a:pPr algn="just">
              <a:buFont typeface="Arial" pitchFamily="34" charset="0"/>
              <a:buChar char="•"/>
            </a:pPr>
            <a:r>
              <a:rPr lang="en-US" sz="2700" dirty="0">
                <a:latin typeface="Times New Roman" panose="02020603050405020304" pitchFamily="18" charset="0"/>
                <a:cs typeface="Times New Roman" panose="02020603050405020304" pitchFamily="18" charset="0"/>
              </a:rPr>
              <a:t>OSPF works by</a:t>
            </a:r>
            <a:r>
              <a:rPr lang="en-US" sz="2700" b="1" dirty="0">
                <a:latin typeface="Times New Roman" panose="02020603050405020304" pitchFamily="18" charset="0"/>
                <a:cs typeface="Times New Roman" panose="02020603050405020304" pitchFamily="18" charset="0"/>
              </a:rPr>
              <a:t> exchanging information between adjacent routers </a:t>
            </a:r>
          </a:p>
          <a:p>
            <a:pPr algn="just">
              <a:buFont typeface="Arial" pitchFamily="34" charset="0"/>
              <a:buChar char="•"/>
            </a:pPr>
            <a:r>
              <a:rPr lang="en-US" sz="2700" dirty="0">
                <a:latin typeface="Times New Roman" panose="02020603050405020304" pitchFamily="18" charset="0"/>
                <a:cs typeface="Times New Roman" panose="02020603050405020304" pitchFamily="18" charset="0"/>
              </a:rPr>
              <a:t>In particular, it is inefficient to have every router on a LAN talk to every other router on the LAN. </a:t>
            </a:r>
          </a:p>
          <a:p>
            <a:pPr algn="just">
              <a:buFont typeface="Arial" pitchFamily="34" charset="0"/>
              <a:buChar char="•"/>
            </a:pPr>
            <a:r>
              <a:rPr lang="en-US" sz="2700" dirty="0">
                <a:latin typeface="Times New Roman" panose="02020603050405020304" pitchFamily="18" charset="0"/>
                <a:cs typeface="Times New Roman" panose="02020603050405020304" pitchFamily="18" charset="0"/>
              </a:rPr>
              <a:t>To avoid this situation, one router is elected as the </a:t>
            </a:r>
            <a:r>
              <a:rPr lang="en-US" sz="2700" b="1" dirty="0">
                <a:latin typeface="Times New Roman" panose="02020603050405020304" pitchFamily="18" charset="0"/>
                <a:cs typeface="Times New Roman" panose="02020603050405020304" pitchFamily="18" charset="0"/>
              </a:rPr>
              <a:t>designated router</a:t>
            </a:r>
            <a:r>
              <a:rPr lang="en-US" sz="2700" dirty="0">
                <a:latin typeface="Times New Roman" panose="02020603050405020304" pitchFamily="18" charset="0"/>
                <a:cs typeface="Times New Roman" panose="02020603050405020304" pitchFamily="18" charset="0"/>
              </a:rPr>
              <a:t>. </a:t>
            </a:r>
          </a:p>
          <a:p>
            <a:pPr algn="just">
              <a:buFont typeface="Arial" pitchFamily="34" charset="0"/>
              <a:buChar char="•"/>
            </a:pPr>
            <a:r>
              <a:rPr lang="en-US" sz="2700" dirty="0">
                <a:latin typeface="Times New Roman" panose="02020603050405020304" pitchFamily="18" charset="0"/>
                <a:cs typeface="Times New Roman" panose="02020603050405020304" pitchFamily="18" charset="0"/>
              </a:rPr>
              <a:t>It is said to be </a:t>
            </a:r>
            <a:r>
              <a:rPr lang="en-US" sz="2700" dirty="0">
                <a:solidFill>
                  <a:srgbClr val="FF0000"/>
                </a:solidFill>
                <a:latin typeface="Times New Roman" panose="02020603050405020304" pitchFamily="18" charset="0"/>
                <a:cs typeface="Times New Roman" panose="02020603050405020304" pitchFamily="18" charset="0"/>
              </a:rPr>
              <a:t>adjacent</a:t>
            </a:r>
            <a:r>
              <a:rPr lang="en-US" sz="2700" dirty="0">
                <a:latin typeface="Times New Roman" panose="02020603050405020304" pitchFamily="18" charset="0"/>
                <a:cs typeface="Times New Roman" panose="02020603050405020304" pitchFamily="18" charset="0"/>
              </a:rPr>
              <a:t> to all the other routers on its LAN, and exchanges information with them.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3999" y="590772"/>
            <a:ext cx="9625781" cy="6267228"/>
          </a:xfrm>
        </p:spPr>
        <p:txBody>
          <a:bodyPr>
            <a:normAutofit fontScale="85000" lnSpcReduction="20000"/>
          </a:bodyPr>
          <a:lstStyle/>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Neighboring routers that are not adjacent do not exchange information with each other.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backup designated router </a:t>
            </a:r>
            <a:r>
              <a:rPr lang="en-US" dirty="0">
                <a:latin typeface="Times New Roman" panose="02020603050405020304" pitchFamily="18" charset="0"/>
                <a:cs typeface="Times New Roman" panose="02020603050405020304" pitchFamily="18" charset="0"/>
              </a:rPr>
              <a:t>is always kept up to date to ease the transition if the primary designated router crash and need to be replaced immediately.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During normal operation, each router periodically floods </a:t>
            </a:r>
            <a:r>
              <a:rPr lang="en-US" b="1" dirty="0">
                <a:latin typeface="Times New Roman" panose="02020603050405020304" pitchFamily="18" charset="0"/>
                <a:cs typeface="Times New Roman" panose="02020603050405020304" pitchFamily="18" charset="0"/>
              </a:rPr>
              <a:t>LINK STATE UPDATE messages</a:t>
            </a:r>
            <a:r>
              <a:rPr lang="en-US" dirty="0">
                <a:latin typeface="Times New Roman" panose="02020603050405020304" pitchFamily="18" charset="0"/>
                <a:cs typeface="Times New Roman" panose="02020603050405020304" pitchFamily="18" charset="0"/>
              </a:rPr>
              <a:t> to each of its adjacent routers.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This message gives its </a:t>
            </a:r>
            <a:r>
              <a:rPr lang="en-US" b="1" dirty="0">
                <a:latin typeface="Times New Roman" panose="02020603050405020304" pitchFamily="18" charset="0"/>
                <a:cs typeface="Times New Roman" panose="02020603050405020304" pitchFamily="18" charset="0"/>
              </a:rPr>
              <a:t>state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provides the costs </a:t>
            </a:r>
            <a:r>
              <a:rPr lang="en-US" dirty="0">
                <a:latin typeface="Times New Roman" panose="02020603050405020304" pitchFamily="18" charset="0"/>
                <a:cs typeface="Times New Roman" panose="02020603050405020304" pitchFamily="18" charset="0"/>
              </a:rPr>
              <a:t>used in the topological database.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The flooding messages are </a:t>
            </a:r>
            <a:r>
              <a:rPr lang="en-US" b="1" dirty="0">
                <a:latin typeface="Times New Roman" panose="02020603050405020304" pitchFamily="18" charset="0"/>
                <a:cs typeface="Times New Roman" panose="02020603050405020304" pitchFamily="18" charset="0"/>
              </a:rPr>
              <a:t>acknowledged, </a:t>
            </a:r>
            <a:r>
              <a:rPr lang="en-US" dirty="0">
                <a:latin typeface="Times New Roman" panose="02020603050405020304" pitchFamily="18" charset="0"/>
                <a:cs typeface="Times New Roman" panose="02020603050405020304" pitchFamily="18" charset="0"/>
              </a:rPr>
              <a:t>to make them reliable.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Each message has a </a:t>
            </a:r>
            <a:r>
              <a:rPr lang="en-US" b="1" dirty="0">
                <a:latin typeface="Times New Roman" panose="02020603050405020304" pitchFamily="18" charset="0"/>
                <a:cs typeface="Times New Roman" panose="02020603050405020304" pitchFamily="18" charset="0"/>
              </a:rPr>
              <a:t>sequence number</a:t>
            </a:r>
            <a:r>
              <a:rPr lang="en-US" dirty="0">
                <a:latin typeface="Times New Roman" panose="02020603050405020304" pitchFamily="18" charset="0"/>
                <a:cs typeface="Times New Roman" panose="02020603050405020304" pitchFamily="18" charset="0"/>
              </a:rPr>
              <a:t>, so a router can see whether an incoming LINK STATE UPDATE is older or newer than what it currently has. </a:t>
            </a:r>
          </a:p>
          <a:p>
            <a:pPr algn="just">
              <a:lnSpc>
                <a:spcPct val="110000"/>
              </a:lnSpc>
              <a:buFont typeface="Arial" pitchFamily="34" charset="0"/>
              <a:buChar char="•"/>
            </a:pPr>
            <a:r>
              <a:rPr lang="en-US" dirty="0">
                <a:latin typeface="Times New Roman" panose="02020603050405020304" pitchFamily="18" charset="0"/>
                <a:cs typeface="Times New Roman" panose="02020603050405020304" pitchFamily="18" charset="0"/>
              </a:rPr>
              <a:t>Routers also send these messages when a </a:t>
            </a:r>
            <a:r>
              <a:rPr lang="en-US" b="1" dirty="0">
                <a:solidFill>
                  <a:srgbClr val="FF0000"/>
                </a:solidFill>
                <a:latin typeface="Times New Roman" panose="02020603050405020304" pitchFamily="18" charset="0"/>
                <a:cs typeface="Times New Roman" panose="02020603050405020304" pitchFamily="18" charset="0"/>
              </a:rPr>
              <a:t>line goes up or down </a:t>
            </a:r>
            <a:r>
              <a:rPr lang="en-US" dirty="0">
                <a:latin typeface="Times New Roman" panose="02020603050405020304" pitchFamily="18" charset="0"/>
                <a:cs typeface="Times New Roman" panose="02020603050405020304" pitchFamily="18" charset="0"/>
              </a:rPr>
              <a:t>or its </a:t>
            </a:r>
            <a:r>
              <a:rPr lang="en-US" b="1" dirty="0">
                <a:solidFill>
                  <a:srgbClr val="FF0000"/>
                </a:solidFill>
                <a:latin typeface="Times New Roman" panose="02020603050405020304" pitchFamily="18" charset="0"/>
                <a:cs typeface="Times New Roman" panose="02020603050405020304" pitchFamily="18" charset="0"/>
              </a:rPr>
              <a:t>cost changes.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b="1" dirty="0"/>
              <a:t>Routing Algorithms - OSPF</a:t>
            </a:r>
          </a:p>
        </p:txBody>
      </p:sp>
      <p:sp>
        <p:nvSpPr>
          <p:cNvPr id="12291" name="Rectangle 3"/>
          <p:cNvSpPr>
            <a:spLocks noGrp="1" noChangeArrowheads="1"/>
          </p:cNvSpPr>
          <p:nvPr>
            <p:ph type="body" idx="1"/>
          </p:nvPr>
        </p:nvSpPr>
        <p:spPr>
          <a:xfrm>
            <a:off x="1524000" y="590772"/>
            <a:ext cx="9144000" cy="6267228"/>
          </a:xfrm>
        </p:spPr>
        <p:txBody>
          <a:bodyPr/>
          <a:lstStyle/>
          <a:p>
            <a:pPr algn="just">
              <a:buFont typeface="Arial" pitchFamily="34" charset="0"/>
              <a:buChar char="•"/>
            </a:pPr>
            <a:r>
              <a:rPr lang="en-US" b="1" dirty="0">
                <a:latin typeface="Times New Roman" panose="02020603050405020304" pitchFamily="18" charset="0"/>
                <a:cs typeface="Times New Roman" panose="02020603050405020304" pitchFamily="18" charset="0"/>
              </a:rPr>
              <a:t>DATABASE DESCRIPTION </a:t>
            </a:r>
            <a:r>
              <a:rPr lang="en-US" dirty="0">
                <a:latin typeface="Times New Roman" panose="02020603050405020304" pitchFamily="18" charset="0"/>
                <a:cs typeface="Times New Roman" panose="02020603050405020304" pitchFamily="18" charset="0"/>
              </a:rPr>
              <a:t>messages give the sequence numbers of all the link state entries currently held by the sender.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By comparing its own values with those of the sender, the receiver can determine who has the most recent values.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These messages are used when a line is brought up.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Either side can request link state information from the other one by using </a:t>
            </a:r>
            <a:r>
              <a:rPr lang="en-US" b="1" dirty="0">
                <a:latin typeface="Times New Roman" panose="02020603050405020304" pitchFamily="18" charset="0"/>
                <a:cs typeface="Times New Roman" panose="02020603050405020304" pitchFamily="18" charset="0"/>
              </a:rPr>
              <a:t>LINK STATE REQUEST </a:t>
            </a:r>
            <a:r>
              <a:rPr lang="en-US" dirty="0">
                <a:latin typeface="Times New Roman" panose="02020603050405020304" pitchFamily="18" charset="0"/>
                <a:cs typeface="Times New Roman" panose="02020603050405020304" pitchFamily="18" charset="0"/>
              </a:rPr>
              <a:t>messages.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The result of this algorithm is that each pair of adjacent routers checks to see who has the most recent data, and new information is spread throughout the area this way.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All these messages are sent as raw IP packets. </a:t>
            </a:r>
          </a:p>
          <a:p>
            <a:pPr algn="just">
              <a:buFont typeface="Arial" pitchFamily="34" charset="0"/>
              <a:buChar char="•"/>
            </a:pPr>
            <a:r>
              <a:rPr lang="en-US" dirty="0">
                <a:latin typeface="Times New Roman" panose="02020603050405020304" pitchFamily="18" charset="0"/>
                <a:cs typeface="Times New Roman" panose="02020603050405020304" pitchFamily="18" charset="0"/>
              </a:rPr>
              <a:t>The five kinds of messages are summarized in the following table</a:t>
            </a:r>
          </a:p>
        </p:txBody>
      </p:sp>
      <p:sp>
        <p:nvSpPr>
          <p:cNvPr id="4" name="Slide Number Placeholder 3"/>
          <p:cNvSpPr>
            <a:spLocks noGrp="1"/>
          </p:cNvSpPr>
          <p:nvPr>
            <p:ph type="sldNum" sz="quarter" idx="12"/>
          </p:nvPr>
        </p:nvSpPr>
        <p:spPr/>
        <p:txBody>
          <a:bodyPr/>
          <a:lstStyle/>
          <a:p>
            <a:fld id="{EF55C829-AE99-4997-8EBC-414F558758A8}"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dirty="0"/>
              <a:t>OSPF</a:t>
            </a:r>
          </a:p>
        </p:txBody>
      </p:sp>
      <p:sp>
        <p:nvSpPr>
          <p:cNvPr id="83971" name="Rectangle 3"/>
          <p:cNvSpPr>
            <a:spLocks noGrp="1" noChangeArrowheads="1"/>
          </p:cNvSpPr>
          <p:nvPr>
            <p:ph type="body" idx="1"/>
          </p:nvPr>
        </p:nvSpPr>
        <p:spPr>
          <a:xfrm>
            <a:off x="1524000" y="1562726"/>
            <a:ext cx="9144000" cy="610849"/>
          </a:xfrm>
        </p:spPr>
        <p:txBody>
          <a:bodyPr/>
          <a:lstStyle/>
          <a:p>
            <a:pPr algn="ctr">
              <a:buFontTx/>
              <a:buNone/>
            </a:pPr>
            <a:r>
              <a:rPr lang="en-US" b="1" dirty="0"/>
              <a:t>The five types of OSPF messages</a:t>
            </a:r>
            <a:r>
              <a:rPr lang="en-US" dirty="0"/>
              <a:t>.</a:t>
            </a:r>
          </a:p>
        </p:txBody>
      </p:sp>
      <p:pic>
        <p:nvPicPr>
          <p:cNvPr id="83973" name="Picture 5" descr="5-66"/>
          <p:cNvPicPr>
            <a:picLocks noChangeAspect="1" noChangeArrowheads="1"/>
          </p:cNvPicPr>
          <p:nvPr/>
        </p:nvPicPr>
        <p:blipFill>
          <a:blip r:embed="rId2" cstate="print"/>
          <a:srcRect/>
          <a:stretch>
            <a:fillRect/>
          </a:stretch>
        </p:blipFill>
        <p:spPr bwMode="auto">
          <a:xfrm>
            <a:off x="1905860" y="2434316"/>
            <a:ext cx="8405666" cy="2572399"/>
          </a:xfrm>
          <a:prstGeom prst="rect">
            <a:avLst/>
          </a:prstGeom>
          <a:noFill/>
        </p:spPr>
      </p:pic>
      <p:sp>
        <p:nvSpPr>
          <p:cNvPr id="5" name="Slide Number Placeholder 4"/>
          <p:cNvSpPr>
            <a:spLocks noGrp="1"/>
          </p:cNvSpPr>
          <p:nvPr>
            <p:ph type="sldNum" sz="quarter" idx="12"/>
          </p:nvPr>
        </p:nvSpPr>
        <p:spPr/>
        <p:txBody>
          <a:bodyPr/>
          <a:lstStyle/>
          <a:p>
            <a:fld id="{EF55C829-AE99-4997-8EBC-414F558758A8}"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524000" y="0"/>
            <a:ext cx="9144000" cy="632178"/>
          </a:xfrm>
        </p:spPr>
        <p:txBody>
          <a:bodyPr>
            <a:normAutofit fontScale="90000"/>
          </a:bodyPr>
          <a:lstStyle/>
          <a:p>
            <a:r>
              <a:rPr lang="en-US" dirty="0"/>
              <a:t>Routing Algorithms - OSPF</a:t>
            </a:r>
          </a:p>
        </p:txBody>
      </p:sp>
      <p:sp>
        <p:nvSpPr>
          <p:cNvPr id="12291" name="Rectangle 3"/>
          <p:cNvSpPr>
            <a:spLocks noGrp="1" noChangeArrowheads="1"/>
          </p:cNvSpPr>
          <p:nvPr>
            <p:ph type="body" idx="1"/>
          </p:nvPr>
        </p:nvSpPr>
        <p:spPr>
          <a:xfrm>
            <a:off x="1524000" y="590772"/>
            <a:ext cx="9144000" cy="6267228"/>
          </a:xfrm>
        </p:spPr>
        <p:txBody>
          <a:bodyPr/>
          <a:lstStyle/>
          <a:p>
            <a:pPr algn="just">
              <a:buFont typeface="Arial" pitchFamily="34" charset="0"/>
              <a:buChar char="•"/>
            </a:pPr>
            <a:r>
              <a:rPr lang="en-US" dirty="0">
                <a:solidFill>
                  <a:srgbClr val="FF0000"/>
                </a:solidFill>
              </a:rPr>
              <a:t>Summary</a:t>
            </a:r>
            <a:r>
              <a:rPr lang="en-US" dirty="0"/>
              <a:t>: </a:t>
            </a:r>
          </a:p>
          <a:p>
            <a:pPr algn="just">
              <a:buFont typeface="Arial" pitchFamily="34" charset="0"/>
              <a:buChar char="•"/>
            </a:pPr>
            <a:r>
              <a:rPr lang="en-US" dirty="0"/>
              <a:t>Using flooding, each router informs all the other routers in its area of its neighbors and costs. </a:t>
            </a:r>
          </a:p>
          <a:p>
            <a:pPr algn="just">
              <a:buFont typeface="Arial" pitchFamily="34" charset="0"/>
              <a:buChar char="•"/>
            </a:pPr>
            <a:r>
              <a:rPr lang="en-US" dirty="0"/>
              <a:t>This information allows each router to construct the graph for its area(s) and compute the shortest path. </a:t>
            </a:r>
          </a:p>
          <a:p>
            <a:pPr algn="just">
              <a:buFont typeface="Arial" pitchFamily="34" charset="0"/>
              <a:buChar char="•"/>
            </a:pPr>
            <a:r>
              <a:rPr lang="en-US" dirty="0"/>
              <a:t>The backbone area does this too. </a:t>
            </a:r>
          </a:p>
          <a:p>
            <a:pPr algn="just">
              <a:buFont typeface="Arial" pitchFamily="34" charset="0"/>
              <a:buChar char="•"/>
            </a:pPr>
            <a:r>
              <a:rPr lang="en-US" dirty="0"/>
              <a:t>In addition, the </a:t>
            </a:r>
            <a:r>
              <a:rPr lang="en-US" b="1" dirty="0"/>
              <a:t>backbone routers accept information from the area border routers </a:t>
            </a:r>
            <a:r>
              <a:rPr lang="en-US" dirty="0"/>
              <a:t>in order to compute the best route from each backbone router to every other router. </a:t>
            </a:r>
          </a:p>
          <a:p>
            <a:pPr algn="just">
              <a:buFont typeface="Arial" pitchFamily="34" charset="0"/>
              <a:buChar char="•"/>
            </a:pPr>
            <a:r>
              <a:rPr lang="en-US" dirty="0"/>
              <a:t>This information is propagated back to the area border routers, which advertise it within their areas. </a:t>
            </a:r>
          </a:p>
          <a:p>
            <a:pPr algn="just">
              <a:buFont typeface="Arial" pitchFamily="34" charset="0"/>
              <a:buChar char="•"/>
            </a:pPr>
            <a:r>
              <a:rPr lang="en-US" dirty="0"/>
              <a:t>Using this information, a router about to send an </a:t>
            </a:r>
            <a:r>
              <a:rPr lang="en-US" dirty="0" err="1"/>
              <a:t>interarea</a:t>
            </a:r>
            <a:r>
              <a:rPr lang="en-US" dirty="0"/>
              <a:t> packet can select the best exit router to the backbone. </a:t>
            </a:r>
          </a:p>
        </p:txBody>
      </p:sp>
      <p:sp>
        <p:nvSpPr>
          <p:cNvPr id="4" name="Slide Number Placeholder 3"/>
          <p:cNvSpPr>
            <a:spLocks noGrp="1"/>
          </p:cNvSpPr>
          <p:nvPr>
            <p:ph type="sldNum" sz="quarter" idx="12"/>
          </p:nvPr>
        </p:nvSpPr>
        <p:spPr/>
        <p:txBody>
          <a:bodyPr/>
          <a:lstStyle/>
          <a:p>
            <a:fld id="{EF55C829-AE99-4997-8EBC-414F558758A8}"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53"/>
          <p:cNvSpPr txBox="1">
            <a:spLocks noGrp="1"/>
          </p:cNvSpPr>
          <p:nvPr>
            <p:ph type="title"/>
          </p:nvPr>
        </p:nvSpPr>
        <p:spPr>
          <a:xfrm>
            <a:off x="283825" y="0"/>
            <a:ext cx="10515600" cy="190745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240"/>
              <a:buFont typeface="Calibri"/>
              <a:buNone/>
            </a:pPr>
            <a:r>
              <a:rPr lang="en-US" sz="3940" b="1" dirty="0"/>
              <a:t> OSPF Packet format :</a:t>
            </a:r>
            <a:r>
              <a:rPr lang="en-US" sz="4660" dirty="0"/>
              <a:t/>
            </a:r>
            <a:br>
              <a:rPr lang="en-US" sz="4660" dirty="0"/>
            </a:br>
            <a:endParaRPr sz="4660" dirty="0"/>
          </a:p>
        </p:txBody>
      </p:sp>
      <p:pic>
        <p:nvPicPr>
          <p:cNvPr id="522" name="Google Shape;522;p53"/>
          <p:cNvPicPr preferRelativeResize="0">
            <a:picLocks noGrp="1"/>
          </p:cNvPicPr>
          <p:nvPr>
            <p:ph type="body" idx="1"/>
          </p:nvPr>
        </p:nvPicPr>
        <p:blipFill rotWithShape="1">
          <a:blip r:embed="rId3">
            <a:alphaModFix/>
          </a:blip>
          <a:srcRect/>
          <a:stretch/>
        </p:blipFill>
        <p:spPr>
          <a:xfrm>
            <a:off x="4805232" y="268600"/>
            <a:ext cx="6110100" cy="2464500"/>
          </a:xfrm>
          <a:prstGeom prst="rect">
            <a:avLst/>
          </a:prstGeom>
          <a:noFill/>
          <a:ln>
            <a:noFill/>
          </a:ln>
        </p:spPr>
      </p:pic>
      <p:sp>
        <p:nvSpPr>
          <p:cNvPr id="523" name="Google Shape;523;p53"/>
          <p:cNvSpPr/>
          <p:nvPr/>
        </p:nvSpPr>
        <p:spPr>
          <a:xfrm>
            <a:off x="283825" y="2733100"/>
            <a:ext cx="11420100" cy="3945900"/>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Version</a:t>
            </a:r>
            <a:r>
              <a:rPr lang="en-US" sz="2400">
                <a:solidFill>
                  <a:schemeClr val="dk1"/>
                </a:solidFill>
                <a:latin typeface="Calibri"/>
                <a:ea typeface="Calibri"/>
                <a:cs typeface="Calibri"/>
                <a:sym typeface="Calibri"/>
              </a:rPr>
              <a:t>: version of the OSPF</a:t>
            </a:r>
            <a:endParaRPr/>
          </a:p>
          <a:p>
            <a:pPr marL="342900" marR="0" lvl="0" indent="-3429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Type</a:t>
            </a:r>
            <a:r>
              <a:rPr lang="en-US" sz="2400">
                <a:solidFill>
                  <a:schemeClr val="dk1"/>
                </a:solidFill>
                <a:latin typeface="Calibri"/>
                <a:ea typeface="Calibri"/>
                <a:cs typeface="Calibri"/>
                <a:sym typeface="Calibri"/>
              </a:rPr>
              <a:t> : It specifies the type of the packets, there are </a:t>
            </a:r>
            <a:r>
              <a:rPr lang="en-US" sz="2400">
                <a:solidFill>
                  <a:srgbClr val="FF0000"/>
                </a:solidFill>
                <a:latin typeface="Calibri"/>
                <a:ea typeface="Calibri"/>
                <a:cs typeface="Calibri"/>
                <a:sym typeface="Calibri"/>
              </a:rPr>
              <a:t>4 types of packets</a:t>
            </a:r>
            <a:endParaRPr/>
          </a:p>
          <a:p>
            <a:pPr marL="1143000" marR="0" lvl="0" indent="0" algn="l" rtl="0">
              <a:spcBef>
                <a:spcPts val="0"/>
              </a:spcBef>
              <a:spcAft>
                <a:spcPts val="0"/>
              </a:spcAft>
              <a:buNone/>
            </a:pPr>
            <a:r>
              <a:rPr lang="en-US" sz="2400">
                <a:solidFill>
                  <a:schemeClr val="dk1"/>
                </a:solidFill>
                <a:latin typeface="Calibri"/>
                <a:ea typeface="Calibri"/>
                <a:cs typeface="Calibri"/>
                <a:sym typeface="Calibri"/>
              </a:rPr>
              <a:t>* hello packet</a:t>
            </a:r>
            <a:endParaRPr/>
          </a:p>
          <a:p>
            <a:pPr marL="1143000" marR="0" lvl="0" indent="0" algn="l" rtl="0">
              <a:spcBef>
                <a:spcPts val="0"/>
              </a:spcBef>
              <a:spcAft>
                <a:spcPts val="0"/>
              </a:spcAft>
              <a:buNone/>
            </a:pPr>
            <a:r>
              <a:rPr lang="en-US" sz="2400">
                <a:solidFill>
                  <a:schemeClr val="dk1"/>
                </a:solidFill>
                <a:latin typeface="Calibri"/>
                <a:ea typeface="Calibri"/>
                <a:cs typeface="Calibri"/>
                <a:sym typeface="Calibri"/>
              </a:rPr>
              <a:t>* link state request</a:t>
            </a:r>
            <a:endParaRPr/>
          </a:p>
          <a:p>
            <a:pPr marL="1143000" marR="0" lvl="0" indent="0" algn="l" rtl="0">
              <a:spcBef>
                <a:spcPts val="0"/>
              </a:spcBef>
              <a:spcAft>
                <a:spcPts val="0"/>
              </a:spcAft>
              <a:buNone/>
            </a:pPr>
            <a:r>
              <a:rPr lang="en-US" sz="2400">
                <a:solidFill>
                  <a:schemeClr val="dk1"/>
                </a:solidFill>
                <a:latin typeface="Calibri"/>
                <a:ea typeface="Calibri"/>
                <a:cs typeface="Calibri"/>
                <a:sym typeface="Calibri"/>
              </a:rPr>
              <a:t>* link state update</a:t>
            </a:r>
            <a:endParaRPr/>
          </a:p>
          <a:p>
            <a:pPr marL="1143000" marR="0" lvl="0" indent="0" algn="l" rtl="0">
              <a:spcBef>
                <a:spcPts val="0"/>
              </a:spcBef>
              <a:spcAft>
                <a:spcPts val="0"/>
              </a:spcAft>
              <a:buNone/>
            </a:pPr>
            <a:r>
              <a:rPr lang="en-US" sz="2400">
                <a:solidFill>
                  <a:schemeClr val="dk1"/>
                </a:solidFill>
                <a:latin typeface="Calibri"/>
                <a:ea typeface="Calibri"/>
                <a:cs typeface="Calibri"/>
                <a:sym typeface="Calibri"/>
              </a:rPr>
              <a:t>* Link state acknowledgement</a:t>
            </a:r>
            <a:endParaRPr/>
          </a:p>
          <a:p>
            <a:pPr marL="342900" marR="0" lvl="0" indent="-3429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Source address </a:t>
            </a:r>
            <a:r>
              <a:rPr lang="en-US" sz="2400">
                <a:solidFill>
                  <a:schemeClr val="dk1"/>
                </a:solidFill>
                <a:latin typeface="Calibri"/>
                <a:ea typeface="Calibri"/>
                <a:cs typeface="Calibri"/>
                <a:sym typeface="Calibri"/>
              </a:rPr>
              <a:t>:It defines the address of the node to be send.</a:t>
            </a:r>
            <a:endParaRPr/>
          </a:p>
          <a:p>
            <a:pPr marL="342900" marR="0" lvl="0" indent="-3429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Area id </a:t>
            </a:r>
            <a:r>
              <a:rPr lang="en-US" sz="2400">
                <a:solidFill>
                  <a:schemeClr val="dk1"/>
                </a:solidFill>
                <a:latin typeface="Calibri"/>
                <a:ea typeface="Calibri"/>
                <a:cs typeface="Calibri"/>
                <a:sym typeface="Calibri"/>
              </a:rPr>
              <a:t>: It specifies ID of different areas</a:t>
            </a:r>
            <a:endParaRPr/>
          </a:p>
          <a:p>
            <a:pPr marL="342900" marR="0" lvl="0" indent="-3429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Check sum </a:t>
            </a:r>
            <a:r>
              <a:rPr lang="en-US" sz="2400">
                <a:solidFill>
                  <a:schemeClr val="dk1"/>
                </a:solidFill>
                <a:latin typeface="Calibri"/>
                <a:ea typeface="Calibri"/>
                <a:cs typeface="Calibri"/>
                <a:sym typeface="Calibri"/>
              </a:rPr>
              <a:t>:It deals with error detection and correction</a:t>
            </a:r>
            <a:endParaRPr/>
          </a:p>
          <a:p>
            <a:pPr marL="342900" marR="0" lvl="0" indent="-3429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Authentication type </a:t>
            </a:r>
            <a:r>
              <a:rPr lang="en-US" sz="2400">
                <a:solidFill>
                  <a:schemeClr val="dk1"/>
                </a:solidFill>
                <a:latin typeface="Calibri"/>
                <a:ea typeface="Calibri"/>
                <a:cs typeface="Calibri"/>
                <a:sym typeface="Calibri"/>
              </a:rPr>
              <a:t>:It has two value either zero or other numbers except zero </a:t>
            </a:r>
            <a:endParaRPr/>
          </a:p>
          <a:p>
            <a:pPr marL="342900" marR="0" lvl="0" indent="-342900" algn="l" rtl="0">
              <a:spcBef>
                <a:spcPts val="0"/>
              </a:spcBef>
              <a:spcAft>
                <a:spcPts val="0"/>
              </a:spcAft>
              <a:buClr>
                <a:schemeClr val="dk1"/>
              </a:buClr>
              <a:buSzPts val="2400"/>
              <a:buFont typeface="Arial"/>
              <a:buChar char="•"/>
            </a:pPr>
            <a:r>
              <a:rPr lang="en-US" sz="2400" b="1">
                <a:solidFill>
                  <a:schemeClr val="dk1"/>
                </a:solidFill>
                <a:latin typeface="Calibri"/>
                <a:ea typeface="Calibri"/>
                <a:cs typeface="Calibri"/>
                <a:sym typeface="Calibri"/>
              </a:rPr>
              <a:t>Authentication data</a:t>
            </a:r>
            <a:r>
              <a:rPr lang="en-US" sz="2400">
                <a:solidFill>
                  <a:schemeClr val="dk1"/>
                </a:solidFill>
                <a:latin typeface="Calibri"/>
                <a:ea typeface="Calibri"/>
                <a:cs typeface="Calibri"/>
                <a:sym typeface="Calibri"/>
              </a:rPr>
              <a:t>: used by authentication procedure</a:t>
            </a:r>
            <a:endParaRPr sz="24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8348394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Comparison of RIP and OSPF</a:t>
            </a:r>
            <a:endParaRPr/>
          </a:p>
        </p:txBody>
      </p:sp>
      <p:pic>
        <p:nvPicPr>
          <p:cNvPr id="529" name="Google Shape;529;p54"/>
          <p:cNvPicPr preferRelativeResize="0">
            <a:picLocks noGrp="1"/>
          </p:cNvPicPr>
          <p:nvPr>
            <p:ph type="body" idx="1"/>
          </p:nvPr>
        </p:nvPicPr>
        <p:blipFill rotWithShape="1">
          <a:blip r:embed="rId3">
            <a:alphaModFix/>
          </a:blip>
          <a:srcRect/>
          <a:stretch/>
        </p:blipFill>
        <p:spPr>
          <a:xfrm>
            <a:off x="502023" y="1606364"/>
            <a:ext cx="11187953" cy="4656324"/>
          </a:xfrm>
          <a:prstGeom prst="rect">
            <a:avLst/>
          </a:prstGeom>
          <a:noFill/>
          <a:ln>
            <a:noFill/>
          </a:ln>
        </p:spPr>
      </p:pic>
    </p:spTree>
    <p:extLst>
      <p:ext uri="{BB962C8B-B14F-4D97-AF65-F5344CB8AC3E}">
        <p14:creationId xmlns:p14="http://schemas.microsoft.com/office/powerpoint/2010/main" val="29588421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solidFill>
                  <a:srgbClr val="0070C0"/>
                </a:solidFill>
                <a:latin typeface="Times New Roman" panose="02020603050405020304" pitchFamily="18" charset="0"/>
                <a:cs typeface="Times New Roman" panose="02020603050405020304" pitchFamily="18" charset="0"/>
              </a:rPr>
              <a:t>Exterior Gateway Routing Protocol - BGP</a:t>
            </a:r>
            <a:endParaRPr lang="en-US" sz="3600" dirty="0">
              <a:solidFill>
                <a:srgbClr val="0070C0"/>
              </a:solidFill>
              <a:latin typeface="Times New Roman" panose="02020603050405020304" pitchFamily="18" charset="0"/>
              <a:cs typeface="Times New Roman" panose="02020603050405020304" pitchFamily="18" charset="0"/>
            </a:endParaRPr>
          </a:p>
        </p:txBody>
      </p:sp>
      <p:sp>
        <p:nvSpPr>
          <p:cNvPr id="6" name="Rectangle 3"/>
          <p:cNvSpPr txBox="1">
            <a:spLocks noChangeArrowheads="1"/>
          </p:cNvSpPr>
          <p:nvPr/>
        </p:nvSpPr>
        <p:spPr bwMode="auto">
          <a:xfrm>
            <a:off x="1524000" y="710692"/>
            <a:ext cx="9586452"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lgn="just">
              <a:lnSpc>
                <a:spcPct val="150000"/>
              </a:lnSpc>
              <a:buClr>
                <a:schemeClr val="accent2"/>
              </a:buClr>
              <a:buFont typeface="Arial" panose="020B0604020202020204" pitchFamily="34" charset="0"/>
              <a:buChar char="•"/>
            </a:pPr>
            <a:r>
              <a:rPr lang="en-US" sz="3200" b="1" dirty="0">
                <a:solidFill>
                  <a:srgbClr val="000000"/>
                </a:solidFill>
                <a:latin typeface="Times New Roman" panose="02020603050405020304" pitchFamily="18" charset="0"/>
                <a:cs typeface="Times New Roman" panose="02020603050405020304" pitchFamily="18" charset="0"/>
              </a:rPr>
              <a:t>Border Gateway Protocol (BGP) </a:t>
            </a:r>
            <a:r>
              <a:rPr lang="en-US" sz="3200" dirty="0">
                <a:solidFill>
                  <a:srgbClr val="000000"/>
                </a:solidFill>
                <a:latin typeface="Times New Roman" panose="02020603050405020304" pitchFamily="18" charset="0"/>
                <a:cs typeface="Times New Roman" panose="02020603050405020304" pitchFamily="18" charset="0"/>
              </a:rPr>
              <a:t>refers to a gateway protocol that enables the internet to </a:t>
            </a:r>
            <a:r>
              <a:rPr lang="en-US" sz="3200" dirty="0">
                <a:solidFill>
                  <a:srgbClr val="FF0000"/>
                </a:solidFill>
                <a:latin typeface="Times New Roman" panose="02020603050405020304" pitchFamily="18" charset="0"/>
                <a:cs typeface="Times New Roman" panose="02020603050405020304" pitchFamily="18" charset="0"/>
              </a:rPr>
              <a:t>exchange routing information between autonomous systems (AS). </a:t>
            </a:r>
          </a:p>
          <a:p>
            <a:pPr marL="342900" indent="-342900" algn="just">
              <a:lnSpc>
                <a:spcPct val="150000"/>
              </a:lnSpc>
              <a:buClr>
                <a:schemeClr val="accent2"/>
              </a:buClr>
              <a:buFont typeface="Arial" panose="020B0604020202020204" pitchFamily="34" charset="0"/>
              <a:buChar char="•"/>
            </a:pPr>
            <a:r>
              <a:rPr lang="en-US" sz="3200" dirty="0">
                <a:solidFill>
                  <a:srgbClr val="000000"/>
                </a:solidFill>
                <a:latin typeface="Times New Roman" panose="02020603050405020304" pitchFamily="18" charset="0"/>
                <a:cs typeface="Times New Roman" panose="02020603050405020304" pitchFamily="18" charset="0"/>
              </a:rPr>
              <a:t>As networks interact with each other, they need a way to communicate. </a:t>
            </a:r>
          </a:p>
          <a:p>
            <a:pPr marL="342900" indent="-342900" algn="just">
              <a:lnSpc>
                <a:spcPct val="150000"/>
              </a:lnSpc>
              <a:buClr>
                <a:schemeClr val="accent2"/>
              </a:buClr>
              <a:buFont typeface="Arial" panose="020B0604020202020204" pitchFamily="34" charset="0"/>
              <a:buChar char="•"/>
            </a:pPr>
            <a:r>
              <a:rPr lang="en-US" sz="3200" dirty="0">
                <a:solidFill>
                  <a:srgbClr val="000000"/>
                </a:solidFill>
                <a:latin typeface="Times New Roman" panose="02020603050405020304" pitchFamily="18" charset="0"/>
                <a:cs typeface="Times New Roman" panose="02020603050405020304" pitchFamily="18" charset="0"/>
              </a:rPr>
              <a:t>This is accomplished through </a:t>
            </a:r>
            <a:r>
              <a:rPr lang="en-US" sz="3200" dirty="0">
                <a:solidFill>
                  <a:srgbClr val="FF0000"/>
                </a:solidFill>
                <a:latin typeface="Times New Roman" panose="02020603050405020304" pitchFamily="18" charset="0"/>
                <a:cs typeface="Times New Roman" panose="02020603050405020304" pitchFamily="18" charset="0"/>
              </a:rPr>
              <a:t>peering</a:t>
            </a:r>
            <a:r>
              <a:rPr lang="en-US" sz="3200" dirty="0">
                <a:solidFill>
                  <a:srgbClr val="000000"/>
                </a:solidFill>
                <a:latin typeface="Times New Roman" panose="02020603050405020304" pitchFamily="18" charset="0"/>
                <a:cs typeface="Times New Roman" panose="02020603050405020304" pitchFamily="18" charset="0"/>
              </a:rPr>
              <a:t>. </a:t>
            </a:r>
          </a:p>
          <a:p>
            <a:pPr marL="342900" indent="-342900" algn="just">
              <a:lnSpc>
                <a:spcPct val="150000"/>
              </a:lnSpc>
              <a:buClr>
                <a:schemeClr val="accent2"/>
              </a:buClr>
              <a:buFont typeface="Arial" panose="020B0604020202020204" pitchFamily="34" charset="0"/>
              <a:buChar char="•"/>
            </a:pPr>
            <a:r>
              <a:rPr lang="en-US" sz="3200" dirty="0">
                <a:solidFill>
                  <a:srgbClr val="000000"/>
                </a:solidFill>
                <a:latin typeface="Times New Roman" panose="02020603050405020304" pitchFamily="18" charset="0"/>
                <a:cs typeface="Times New Roman" panose="02020603050405020304" pitchFamily="18" charset="0"/>
              </a:rPr>
              <a:t>Without it, networks would not be able to send and receive information with each other.</a:t>
            </a:r>
          </a:p>
          <a:p>
            <a:pPr marL="609600" indent="-609600" algn="just">
              <a:spcBef>
                <a:spcPct val="20000"/>
              </a:spcBef>
              <a:buClr>
                <a:schemeClr val="accent2"/>
              </a:buClr>
              <a:buFont typeface="Wingdings" pitchFamily="2" charset="2"/>
              <a:buChar char="§"/>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7F621A-C018-423E-A1DC-E9CCA1BA195D}"/>
              </a:ext>
            </a:extLst>
          </p:cNvPr>
          <p:cNvSpPr>
            <a:spLocks noGrp="1"/>
          </p:cNvSpPr>
          <p:nvPr>
            <p:ph idx="1"/>
          </p:nvPr>
        </p:nvSpPr>
        <p:spPr>
          <a:xfrm>
            <a:off x="860323" y="924232"/>
            <a:ext cx="10515600" cy="5417574"/>
          </a:xfrm>
        </p:spPr>
        <p:txBody>
          <a:bodyPr>
            <a:normAutofit/>
          </a:bodyPr>
          <a:lstStyle/>
          <a:p>
            <a:pPr marL="0" indent="0" algn="just">
              <a:lnSpc>
                <a:spcPct val="100000"/>
              </a:lnSpc>
              <a:buNone/>
            </a:pPr>
            <a:r>
              <a:rPr lang="en-US" sz="2800" b="1" dirty="0">
                <a:solidFill>
                  <a:srgbClr val="323E48"/>
                </a:solidFill>
                <a:latin typeface="Times New Roman" panose="02020603050405020304" pitchFamily="18" charset="0"/>
                <a:cs typeface="Times New Roman" panose="02020603050405020304" pitchFamily="18" charset="0"/>
              </a:rPr>
              <a:t>How Does BGP Work?</a:t>
            </a:r>
          </a:p>
          <a:p>
            <a:pPr marL="342900" indent="-342900" algn="just">
              <a:lnSpc>
                <a:spcPct val="100000"/>
              </a:lnSpc>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When you have a </a:t>
            </a:r>
            <a:r>
              <a:rPr lang="en-US" sz="2800" b="1" dirty="0">
                <a:solidFill>
                  <a:srgbClr val="000000"/>
                </a:solidFill>
                <a:latin typeface="Times New Roman" panose="02020603050405020304" pitchFamily="18" charset="0"/>
                <a:cs typeface="Times New Roman" panose="02020603050405020304" pitchFamily="18" charset="0"/>
              </a:rPr>
              <a:t>network router </a:t>
            </a:r>
            <a:r>
              <a:rPr lang="en-US" sz="2800" dirty="0">
                <a:solidFill>
                  <a:srgbClr val="000000"/>
                </a:solidFill>
                <a:latin typeface="Times New Roman" panose="02020603050405020304" pitchFamily="18" charset="0"/>
                <a:cs typeface="Times New Roman" panose="02020603050405020304" pitchFamily="18" charset="0"/>
              </a:rPr>
              <a:t>that connects to other networks, it does not know which network is the best one to send its data to.</a:t>
            </a:r>
          </a:p>
          <a:p>
            <a:pPr marL="342900" indent="-342900" algn="just">
              <a:lnSpc>
                <a:spcPct val="100000"/>
              </a:lnSpc>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BGP takes into consideration </a:t>
            </a:r>
            <a:r>
              <a:rPr lang="en-US" sz="2800" b="1" dirty="0">
                <a:solidFill>
                  <a:srgbClr val="000000"/>
                </a:solidFill>
                <a:latin typeface="Times New Roman" panose="02020603050405020304" pitchFamily="18" charset="0"/>
                <a:cs typeface="Times New Roman" panose="02020603050405020304" pitchFamily="18" charset="0"/>
              </a:rPr>
              <a:t>all the different peering options a router has and chooses the one closest to where the router is. </a:t>
            </a:r>
          </a:p>
          <a:p>
            <a:pPr marL="342900" indent="-342900" algn="just">
              <a:lnSpc>
                <a:spcPct val="100000"/>
              </a:lnSpc>
              <a:buFont typeface="Arial" panose="020B0604020202020204" pitchFamily="34" charset="0"/>
              <a:buChar char="•"/>
            </a:pPr>
            <a:r>
              <a:rPr lang="en-US" sz="2800" dirty="0">
                <a:solidFill>
                  <a:srgbClr val="000000"/>
                </a:solidFill>
                <a:latin typeface="Times New Roman" panose="02020603050405020304" pitchFamily="18" charset="0"/>
                <a:cs typeface="Times New Roman" panose="02020603050405020304" pitchFamily="18" charset="0"/>
              </a:rPr>
              <a:t>Each potential peer communicates the routing information it has and that gets stored within a </a:t>
            </a:r>
            <a:r>
              <a:rPr lang="en-US" sz="2800" b="1" dirty="0">
                <a:solidFill>
                  <a:srgbClr val="000000"/>
                </a:solidFill>
                <a:latin typeface="Times New Roman" panose="02020603050405020304" pitchFamily="18" charset="0"/>
                <a:cs typeface="Times New Roman" panose="02020603050405020304" pitchFamily="18" charset="0"/>
              </a:rPr>
              <a:t>routing information base (RIB). </a:t>
            </a:r>
          </a:p>
          <a:p>
            <a:pPr marL="342900" indent="-342900" algn="just">
              <a:lnSpc>
                <a:spcPct val="100000"/>
              </a:lnSpc>
              <a:buFont typeface="Arial" panose="020B0604020202020204" pitchFamily="34" charset="0"/>
              <a:buChar char="•"/>
            </a:pPr>
            <a:r>
              <a:rPr lang="en-US" sz="2800" b="1" dirty="0">
                <a:solidFill>
                  <a:srgbClr val="000000"/>
                </a:solidFill>
                <a:latin typeface="Times New Roman" panose="02020603050405020304" pitchFamily="18" charset="0"/>
                <a:cs typeface="Times New Roman" panose="02020603050405020304" pitchFamily="18" charset="0"/>
              </a:rPr>
              <a:t>BGP can access this information </a:t>
            </a:r>
            <a:r>
              <a:rPr lang="en-US" sz="2800" dirty="0">
                <a:solidFill>
                  <a:srgbClr val="000000"/>
                </a:solidFill>
                <a:latin typeface="Times New Roman" panose="02020603050405020304" pitchFamily="18" charset="0"/>
                <a:cs typeface="Times New Roman" panose="02020603050405020304" pitchFamily="18" charset="0"/>
              </a:rPr>
              <a:t>and use it to choose the best peering option.</a:t>
            </a:r>
          </a:p>
          <a:p>
            <a:endParaRPr lang="en-IN" dirty="0"/>
          </a:p>
        </p:txBody>
      </p:sp>
    </p:spTree>
    <p:extLst>
      <p:ext uri="{BB962C8B-B14F-4D97-AF65-F5344CB8AC3E}">
        <p14:creationId xmlns:p14="http://schemas.microsoft.com/office/powerpoint/2010/main" val="43354441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Exterior Gateway Routing Protocol - BGP</a:t>
            </a:r>
            <a:endParaRPr lang="en-US" sz="3600" dirty="0"/>
          </a:p>
        </p:txBody>
      </p:sp>
      <p:pic>
        <p:nvPicPr>
          <p:cNvPr id="4" name="Picture 5" descr="5-65"/>
          <p:cNvPicPr>
            <a:picLocks noChangeAspect="1" noChangeArrowheads="1"/>
          </p:cNvPicPr>
          <p:nvPr/>
        </p:nvPicPr>
        <p:blipFill>
          <a:blip r:embed="rId2" cstate="print"/>
          <a:srcRect/>
          <a:stretch>
            <a:fillRect/>
          </a:stretch>
        </p:blipFill>
        <p:spPr bwMode="auto">
          <a:xfrm>
            <a:off x="1726837" y="733309"/>
            <a:ext cx="8671341" cy="6006159"/>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Exterior Gateway Routing Protocol - BGP</a:t>
            </a:r>
            <a:endParaRPr lang="en-US" sz="3600"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Exterior gateway protocols in general, and BGP in particular, have been designed to </a:t>
            </a:r>
            <a:r>
              <a:rPr lang="en-US" sz="2800" b="1" dirty="0">
                <a:latin typeface="Times New Roman" panose="02020603050405020304" pitchFamily="18" charset="0"/>
                <a:cs typeface="Times New Roman" panose="02020603050405020304" pitchFamily="18" charset="0"/>
              </a:rPr>
              <a:t>allow many kinds of routing policies </a:t>
            </a:r>
            <a:r>
              <a:rPr lang="en-US" sz="2800" dirty="0">
                <a:latin typeface="Times New Roman" panose="02020603050405020304" pitchFamily="18" charset="0"/>
                <a:cs typeface="Times New Roman" panose="02020603050405020304" pitchFamily="18" charset="0"/>
              </a:rPr>
              <a:t>to be enforced in the </a:t>
            </a:r>
            <a:r>
              <a:rPr lang="en-US" sz="2800" dirty="0" err="1">
                <a:latin typeface="Times New Roman" panose="02020603050405020304" pitchFamily="18" charset="0"/>
                <a:cs typeface="Times New Roman" panose="02020603050405020304" pitchFamily="18" charset="0"/>
              </a:rPr>
              <a:t>interAS</a:t>
            </a:r>
            <a:r>
              <a:rPr lang="en-US" sz="2800" dirty="0">
                <a:latin typeface="Times New Roman" panose="02020603050405020304" pitchFamily="18" charset="0"/>
                <a:cs typeface="Times New Roman" panose="02020603050405020304" pitchFamily="18" charset="0"/>
              </a:rPr>
              <a:t> traffic</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Typical policies involve </a:t>
            </a:r>
            <a:r>
              <a:rPr lang="en-US" sz="2800" b="1" dirty="0">
                <a:latin typeface="Times New Roman" panose="02020603050405020304" pitchFamily="18" charset="0"/>
                <a:cs typeface="Times New Roman" panose="02020603050405020304" pitchFamily="18" charset="0"/>
              </a:rPr>
              <a:t>political, security</a:t>
            </a:r>
            <a:r>
              <a:rPr lang="en-US" sz="2800" dirty="0">
                <a:latin typeface="Times New Roman" panose="02020603050405020304" pitchFamily="18" charset="0"/>
                <a:cs typeface="Times New Roman" panose="02020603050405020304" pitchFamily="18" charset="0"/>
              </a:rPr>
              <a:t>, or </a:t>
            </a:r>
            <a:r>
              <a:rPr lang="en-US" sz="2800" b="1" dirty="0">
                <a:latin typeface="Times New Roman" panose="02020603050405020304" pitchFamily="18" charset="0"/>
                <a:cs typeface="Times New Roman" panose="02020603050405020304" pitchFamily="18" charset="0"/>
              </a:rPr>
              <a:t>economic</a:t>
            </a:r>
            <a:r>
              <a:rPr lang="en-US" sz="2800" dirty="0">
                <a:latin typeface="Times New Roman" panose="02020603050405020304" pitchFamily="18" charset="0"/>
                <a:cs typeface="Times New Roman" panose="02020603050405020304" pitchFamily="18" charset="0"/>
              </a:rPr>
              <a:t> considerations. </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A few </a:t>
            </a:r>
            <a:r>
              <a:rPr lang="en-US" sz="2800" dirty="0">
                <a:solidFill>
                  <a:srgbClr val="FF3300"/>
                </a:solidFill>
                <a:latin typeface="Times New Roman" panose="02020603050405020304" pitchFamily="18" charset="0"/>
                <a:cs typeface="Times New Roman" panose="02020603050405020304" pitchFamily="18" charset="0"/>
              </a:rPr>
              <a:t>examples</a:t>
            </a:r>
            <a:r>
              <a:rPr lang="en-US" sz="2800" dirty="0">
                <a:latin typeface="Times New Roman" panose="02020603050405020304" pitchFamily="18" charset="0"/>
                <a:cs typeface="Times New Roman" panose="02020603050405020304" pitchFamily="18" charset="0"/>
              </a:rPr>
              <a:t> of routing constraints are</a:t>
            </a:r>
          </a:p>
          <a:p>
            <a:pPr lvl="2" algn="just">
              <a:buFont typeface="Wingdings" pitchFamily="2" charset="2"/>
              <a:buChar char="ü"/>
            </a:pPr>
            <a:r>
              <a:rPr lang="en-US" sz="2800" dirty="0">
                <a:latin typeface="Times New Roman" panose="02020603050405020304" pitchFamily="18" charset="0"/>
                <a:cs typeface="Times New Roman" panose="02020603050405020304" pitchFamily="18" charset="0"/>
              </a:rPr>
              <a:t> No transit traffic through certain </a:t>
            </a:r>
            <a:r>
              <a:rPr lang="en-US" sz="2800" dirty="0" err="1">
                <a:latin typeface="Times New Roman" panose="02020603050405020304" pitchFamily="18" charset="0"/>
                <a:cs typeface="Times New Roman" panose="02020603050405020304" pitchFamily="18" charset="0"/>
              </a:rPr>
              <a:t>ASes</a:t>
            </a:r>
            <a:endParaRPr lang="en-US" sz="2800" dirty="0">
              <a:latin typeface="Times New Roman" panose="02020603050405020304" pitchFamily="18" charset="0"/>
              <a:cs typeface="Times New Roman" panose="02020603050405020304" pitchFamily="18" charset="0"/>
            </a:endParaRPr>
          </a:p>
          <a:p>
            <a:pPr lvl="2" algn="just">
              <a:buFont typeface="Wingdings" pitchFamily="2" charset="2"/>
              <a:buChar char="ü"/>
            </a:pPr>
            <a:r>
              <a:rPr lang="en-US" sz="2800" dirty="0">
                <a:latin typeface="Times New Roman" panose="02020603050405020304" pitchFamily="18" charset="0"/>
                <a:cs typeface="Times New Roman" panose="02020603050405020304" pitchFamily="18" charset="0"/>
              </a:rPr>
              <a:t> Traffic starting or ending at IBM should not transit Microsoft</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Exterior Gateway Routing Protocol - BGP</a:t>
            </a:r>
            <a:endParaRPr lang="en-US" sz="3600"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Given BGP's special interest in transit traffic, </a:t>
            </a:r>
            <a:r>
              <a:rPr lang="en-US" sz="2600" dirty="0">
                <a:solidFill>
                  <a:srgbClr val="FF0000"/>
                </a:solidFill>
                <a:latin typeface="Times New Roman" panose="02020603050405020304" pitchFamily="18" charset="0"/>
                <a:cs typeface="Times New Roman" panose="02020603050405020304" pitchFamily="18" charset="0"/>
              </a:rPr>
              <a:t>networks are grouped into one of 3 categories. </a:t>
            </a:r>
          </a:p>
          <a:p>
            <a:pPr marL="609600" indent="-609600" algn="just">
              <a:spcBef>
                <a:spcPct val="20000"/>
              </a:spcBef>
              <a:buClr>
                <a:schemeClr val="accent2"/>
              </a:buClr>
              <a:buFont typeface="Wingdings" pitchFamily="2" charset="2"/>
              <a:buChar char="§"/>
            </a:pPr>
            <a:r>
              <a:rPr lang="en-US" sz="2600" dirty="0">
                <a:solidFill>
                  <a:srgbClr val="FF0000"/>
                </a:solidFill>
                <a:latin typeface="Times New Roman" panose="02020603050405020304" pitchFamily="18" charset="0"/>
                <a:cs typeface="Times New Roman" panose="02020603050405020304" pitchFamily="18" charset="0"/>
              </a:rPr>
              <a:t>Category 1</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stub networks </a:t>
            </a:r>
          </a:p>
          <a:p>
            <a:pPr marL="1066800" lvl="1"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which have only one connection to the BGP graph. </a:t>
            </a:r>
          </a:p>
          <a:p>
            <a:pPr marL="1066800" lvl="1"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cannot be used for transit traffic because there is no one on the other side.</a:t>
            </a:r>
          </a:p>
          <a:p>
            <a:pPr marL="609600" indent="-609600" algn="just">
              <a:spcBef>
                <a:spcPct val="20000"/>
              </a:spcBef>
              <a:buClr>
                <a:schemeClr val="accent2"/>
              </a:buClr>
              <a:buFont typeface="Wingdings" pitchFamily="2" charset="2"/>
              <a:buChar char="§"/>
            </a:pPr>
            <a:r>
              <a:rPr lang="en-US" sz="2600" dirty="0">
                <a:solidFill>
                  <a:srgbClr val="FF0000"/>
                </a:solidFill>
                <a:latin typeface="Times New Roman" panose="02020603050405020304" pitchFamily="18" charset="0"/>
                <a:cs typeface="Times New Roman" panose="02020603050405020304" pitchFamily="18" charset="0"/>
              </a:rPr>
              <a:t>Category 2</a:t>
            </a:r>
            <a:r>
              <a:rPr lang="en-US" sz="2600"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multiconnected</a:t>
            </a:r>
            <a:r>
              <a:rPr lang="en-US" sz="2600" b="1" dirty="0">
                <a:latin typeface="Times New Roman" panose="02020603050405020304" pitchFamily="18" charset="0"/>
                <a:cs typeface="Times New Roman" panose="02020603050405020304" pitchFamily="18" charset="0"/>
              </a:rPr>
              <a:t> networks </a:t>
            </a:r>
          </a:p>
          <a:p>
            <a:pPr marL="1066800" lvl="1"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could be used for transit traffic, except that they refuse.</a:t>
            </a:r>
          </a:p>
          <a:p>
            <a:pPr marL="609600" indent="-609600" algn="just">
              <a:spcBef>
                <a:spcPct val="20000"/>
              </a:spcBef>
              <a:buClr>
                <a:schemeClr val="accent2"/>
              </a:buClr>
              <a:buFont typeface="Wingdings" pitchFamily="2" charset="2"/>
              <a:buChar char="§"/>
            </a:pPr>
            <a:r>
              <a:rPr lang="en-US" sz="2600" dirty="0">
                <a:solidFill>
                  <a:srgbClr val="FF0000"/>
                </a:solidFill>
                <a:latin typeface="Times New Roman" panose="02020603050405020304" pitchFamily="18" charset="0"/>
                <a:cs typeface="Times New Roman" panose="02020603050405020304" pitchFamily="18" charset="0"/>
              </a:rPr>
              <a:t>Category 3</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transit networks </a:t>
            </a:r>
          </a:p>
          <a:p>
            <a:pPr marL="1066800" lvl="1"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such as backbones, which are willing to handle third-party packets</a:t>
            </a:r>
          </a:p>
          <a:p>
            <a:pPr marL="1066800" lvl="1"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possibly with some restrictions, and usually for pay</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Exterior Gateway Routing Protocol - BGP</a:t>
            </a:r>
            <a:endParaRPr lang="en-US" sz="3600"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Pairs of BGP routers communicate with each other by establishing </a:t>
            </a:r>
            <a:r>
              <a:rPr lang="en-US" sz="2800" dirty="0">
                <a:solidFill>
                  <a:srgbClr val="FF3300"/>
                </a:solidFill>
                <a:latin typeface="Times New Roman" panose="02020603050405020304" pitchFamily="18" charset="0"/>
                <a:cs typeface="Times New Roman" panose="02020603050405020304" pitchFamily="18" charset="0"/>
              </a:rPr>
              <a:t>TCP </a:t>
            </a:r>
            <a:r>
              <a:rPr lang="en-US" sz="2800" dirty="0">
                <a:solidFill>
                  <a:srgbClr val="FF0000"/>
                </a:solidFill>
                <a:latin typeface="Times New Roman" panose="02020603050405020304" pitchFamily="18" charset="0"/>
                <a:cs typeface="Times New Roman" panose="02020603050405020304" pitchFamily="18" charset="0"/>
              </a:rPr>
              <a:t>(</a:t>
            </a:r>
            <a:r>
              <a:rPr lang="en-US" sz="2800" b="1" dirty="0">
                <a:solidFill>
                  <a:srgbClr val="FF0000"/>
                </a:solidFill>
                <a:latin typeface="Times New Roman" panose="02020603050405020304" pitchFamily="18" charset="0"/>
                <a:cs typeface="Times New Roman" panose="02020603050405020304" pitchFamily="18" charset="0"/>
              </a:rPr>
              <a:t>Transmission Control Protocol</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solidFill>
                  <a:srgbClr val="FF3300"/>
                </a:solidFill>
                <a:latin typeface="Times New Roman" panose="02020603050405020304" pitchFamily="18" charset="0"/>
                <a:cs typeface="Times New Roman" panose="02020603050405020304" pitchFamily="18" charset="0"/>
              </a:rPr>
              <a:t>connections</a:t>
            </a:r>
            <a:r>
              <a:rPr lang="en-US" sz="2800" dirty="0">
                <a:latin typeface="Times New Roman" panose="02020603050405020304" pitchFamily="18" charset="0"/>
                <a:cs typeface="Times New Roman" panose="02020603050405020304" pitchFamily="18" charset="0"/>
              </a:rPr>
              <a:t>. </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Operating this way provides </a:t>
            </a:r>
            <a:r>
              <a:rPr lang="en-US" sz="2800" dirty="0">
                <a:solidFill>
                  <a:srgbClr val="FF3300"/>
                </a:solidFill>
                <a:latin typeface="Times New Roman" panose="02020603050405020304" pitchFamily="18" charset="0"/>
                <a:cs typeface="Times New Roman" panose="02020603050405020304" pitchFamily="18" charset="0"/>
              </a:rPr>
              <a:t>reliable</a:t>
            </a:r>
            <a:r>
              <a:rPr lang="en-US" sz="2800" dirty="0">
                <a:latin typeface="Times New Roman" panose="02020603050405020304" pitchFamily="18" charset="0"/>
                <a:cs typeface="Times New Roman" panose="02020603050405020304" pitchFamily="18" charset="0"/>
              </a:rPr>
              <a:t> communication and hides all the details of the network being passed through.</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BGP is fundamentally a </a:t>
            </a:r>
            <a:r>
              <a:rPr lang="en-US" sz="2800" dirty="0">
                <a:solidFill>
                  <a:srgbClr val="FF3300"/>
                </a:solidFill>
                <a:latin typeface="Times New Roman" panose="02020603050405020304" pitchFamily="18" charset="0"/>
                <a:cs typeface="Times New Roman" panose="02020603050405020304" pitchFamily="18" charset="0"/>
              </a:rPr>
              <a:t>distance vector protocol</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Instead of maintaining just the cost to each destination, each </a:t>
            </a:r>
            <a:r>
              <a:rPr lang="en-US" sz="2800" dirty="0">
                <a:solidFill>
                  <a:srgbClr val="FF0000"/>
                </a:solidFill>
                <a:latin typeface="Times New Roman" panose="02020603050405020304" pitchFamily="18" charset="0"/>
                <a:cs typeface="Times New Roman" panose="02020603050405020304" pitchFamily="18" charset="0"/>
              </a:rPr>
              <a:t>BGP router keeps track of the path used</a:t>
            </a:r>
            <a:r>
              <a:rPr lang="en-US" sz="2800" dirty="0">
                <a:latin typeface="Times New Roman" panose="02020603050405020304" pitchFamily="18" charset="0"/>
                <a:cs typeface="Times New Roman" panose="02020603050405020304" pitchFamily="18" charset="0"/>
              </a:rPr>
              <a:t>. </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Similarly, instead of periodically giving each neighbor its estimated cost to each possible destination, each </a:t>
            </a:r>
            <a:r>
              <a:rPr lang="en-US" sz="2800" dirty="0">
                <a:solidFill>
                  <a:srgbClr val="FF0000"/>
                </a:solidFill>
                <a:latin typeface="Times New Roman" panose="02020603050405020304" pitchFamily="18" charset="0"/>
                <a:cs typeface="Times New Roman" panose="02020603050405020304" pitchFamily="18" charset="0"/>
              </a:rPr>
              <a:t>BGP router tells its neighbors the exact path it is using</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sz="4000"/>
              <a:t>BGP – The Exterior Gateway Routing Protocol</a:t>
            </a:r>
          </a:p>
        </p:txBody>
      </p:sp>
      <p:sp>
        <p:nvSpPr>
          <p:cNvPr id="84995" name="Rectangle 3"/>
          <p:cNvSpPr>
            <a:spLocks noGrp="1" noChangeArrowheads="1"/>
          </p:cNvSpPr>
          <p:nvPr>
            <p:ph type="body" idx="1"/>
          </p:nvPr>
        </p:nvSpPr>
        <p:spPr>
          <a:xfrm>
            <a:off x="2119314" y="6181024"/>
            <a:ext cx="7724775" cy="601663"/>
          </a:xfrm>
        </p:spPr>
        <p:txBody>
          <a:bodyPr>
            <a:normAutofit fontScale="92500"/>
          </a:bodyPr>
          <a:lstStyle/>
          <a:p>
            <a:pPr algn="ctr">
              <a:buFontTx/>
              <a:buNone/>
            </a:pPr>
            <a:r>
              <a:rPr lang="en-US" dirty="0">
                <a:solidFill>
                  <a:schemeClr val="accent2"/>
                </a:solidFill>
              </a:rPr>
              <a:t>(a)</a:t>
            </a:r>
            <a:r>
              <a:rPr lang="en-US" dirty="0"/>
              <a:t> A set of BGP routers.      </a:t>
            </a:r>
            <a:r>
              <a:rPr lang="en-US" dirty="0">
                <a:solidFill>
                  <a:schemeClr val="accent2"/>
                </a:solidFill>
              </a:rPr>
              <a:t>(b)</a:t>
            </a:r>
            <a:r>
              <a:rPr lang="en-US" dirty="0"/>
              <a:t>  Information sent to F.</a:t>
            </a:r>
          </a:p>
        </p:txBody>
      </p:sp>
      <p:pic>
        <p:nvPicPr>
          <p:cNvPr id="84997" name="Picture 5" descr="5-67"/>
          <p:cNvPicPr>
            <a:picLocks noChangeAspect="1" noChangeArrowheads="1"/>
          </p:cNvPicPr>
          <p:nvPr/>
        </p:nvPicPr>
        <p:blipFill>
          <a:blip r:embed="rId2" cstate="print"/>
          <a:srcRect/>
          <a:stretch>
            <a:fillRect/>
          </a:stretch>
        </p:blipFill>
        <p:spPr bwMode="auto">
          <a:xfrm>
            <a:off x="1689453" y="1171927"/>
            <a:ext cx="8825609" cy="4912784"/>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Exterior Gateway Routing Protocol - BGP</a:t>
            </a:r>
            <a:endParaRPr lang="en-US" sz="3600"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consider F's routing table. </a:t>
            </a:r>
          </a:p>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Suppose that it uses the path </a:t>
            </a:r>
            <a:r>
              <a:rPr lang="en-US" sz="2600" b="1" dirty="0">
                <a:latin typeface="Times New Roman" panose="02020603050405020304" pitchFamily="18" charset="0"/>
                <a:cs typeface="Times New Roman" panose="02020603050405020304" pitchFamily="18" charset="0"/>
              </a:rPr>
              <a:t>FGCD </a:t>
            </a:r>
            <a:r>
              <a:rPr lang="en-US" sz="2600" dirty="0">
                <a:latin typeface="Times New Roman" panose="02020603050405020304" pitchFamily="18" charset="0"/>
                <a:cs typeface="Times New Roman" panose="02020603050405020304" pitchFamily="18" charset="0"/>
              </a:rPr>
              <a:t>to get to </a:t>
            </a:r>
            <a:r>
              <a:rPr lang="en-US" sz="2600" b="1"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a:t>
            </a:r>
          </a:p>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When the neighbors give it routing information, they provide their complete paths</a:t>
            </a:r>
          </a:p>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After all the paths come in from the neighbors, F examines them to see which is the best. </a:t>
            </a:r>
          </a:p>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It quickly discards the paths from I and E, since these paths pass through F itself. </a:t>
            </a:r>
          </a:p>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The choice is then between using B and G. </a:t>
            </a:r>
          </a:p>
          <a:p>
            <a:pPr marL="609600" indent="-609600" algn="just">
              <a:spcBef>
                <a:spcPct val="20000"/>
              </a:spcBef>
              <a:buClr>
                <a:schemeClr val="accent2"/>
              </a:buClr>
              <a:buFont typeface="Wingdings" pitchFamily="2" charset="2"/>
              <a:buChar char="§"/>
            </a:pPr>
            <a:r>
              <a:rPr lang="en-US" sz="2600" dirty="0">
                <a:latin typeface="Times New Roman" panose="02020603050405020304" pitchFamily="18" charset="0"/>
                <a:cs typeface="Times New Roman" panose="02020603050405020304" pitchFamily="18" charset="0"/>
              </a:rPr>
              <a:t>Every BGP router contains a </a:t>
            </a:r>
            <a:r>
              <a:rPr lang="en-US" sz="2600" dirty="0">
                <a:solidFill>
                  <a:srgbClr val="FF3300"/>
                </a:solidFill>
                <a:latin typeface="Times New Roman" panose="02020603050405020304" pitchFamily="18" charset="0"/>
                <a:cs typeface="Times New Roman" panose="02020603050405020304" pitchFamily="18" charset="0"/>
              </a:rPr>
              <a:t>module</a:t>
            </a:r>
            <a:r>
              <a:rPr lang="en-US" sz="2600" dirty="0">
                <a:latin typeface="Times New Roman" panose="02020603050405020304" pitchFamily="18" charset="0"/>
                <a:cs typeface="Times New Roman" panose="02020603050405020304" pitchFamily="18" charset="0"/>
              </a:rPr>
              <a:t> that examines routes to a given destination and scores them, returning a number for the ''distance'' to that destination for each route.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Exterior Gateway Routing Protocol - BGP</a:t>
            </a:r>
            <a:endParaRPr lang="en-US" sz="3600"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BGP easily </a:t>
            </a:r>
            <a:r>
              <a:rPr lang="en-US" sz="2800" dirty="0">
                <a:solidFill>
                  <a:srgbClr val="FF0000"/>
                </a:solidFill>
                <a:latin typeface="Times New Roman" panose="02020603050405020304" pitchFamily="18" charset="0"/>
                <a:cs typeface="Times New Roman" panose="02020603050405020304" pitchFamily="18" charset="0"/>
              </a:rPr>
              <a:t>solves the count-to-infinity </a:t>
            </a:r>
            <a:r>
              <a:rPr lang="en-US" sz="2800" dirty="0">
                <a:latin typeface="Times New Roman" panose="02020603050405020304" pitchFamily="18" charset="0"/>
                <a:cs typeface="Times New Roman" panose="02020603050405020304" pitchFamily="18" charset="0"/>
              </a:rPr>
              <a:t>problem </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For example, suppose </a:t>
            </a:r>
            <a:r>
              <a:rPr lang="en-US" sz="2800" b="1" dirty="0">
                <a:latin typeface="Times New Roman" panose="02020603050405020304" pitchFamily="18" charset="0"/>
                <a:cs typeface="Times New Roman" panose="02020603050405020304" pitchFamily="18" charset="0"/>
              </a:rPr>
              <a:t>G crashes </a:t>
            </a:r>
            <a:r>
              <a:rPr lang="en-US" sz="2800" dirty="0">
                <a:latin typeface="Times New Roman" panose="02020603050405020304" pitchFamily="18" charset="0"/>
                <a:cs typeface="Times New Roman" panose="02020603050405020304" pitchFamily="18" charset="0"/>
              </a:rPr>
              <a:t>or the </a:t>
            </a:r>
            <a:r>
              <a:rPr lang="en-US" sz="2800" b="1" dirty="0">
                <a:latin typeface="Times New Roman" panose="02020603050405020304" pitchFamily="18" charset="0"/>
                <a:cs typeface="Times New Roman" panose="02020603050405020304" pitchFamily="18" charset="0"/>
              </a:rPr>
              <a:t>line FG </a:t>
            </a:r>
            <a:r>
              <a:rPr lang="en-US" sz="2800" dirty="0">
                <a:latin typeface="Times New Roman" panose="02020603050405020304" pitchFamily="18" charset="0"/>
                <a:cs typeface="Times New Roman" panose="02020603050405020304" pitchFamily="18" charset="0"/>
              </a:rPr>
              <a:t>goes </a:t>
            </a:r>
            <a:r>
              <a:rPr lang="en-US" sz="2800" b="1" dirty="0">
                <a:latin typeface="Times New Roman" panose="02020603050405020304" pitchFamily="18" charset="0"/>
                <a:cs typeface="Times New Roman" panose="02020603050405020304" pitchFamily="18" charset="0"/>
              </a:rPr>
              <a:t>down</a:t>
            </a:r>
            <a:r>
              <a:rPr lang="en-US" sz="2800" dirty="0">
                <a:latin typeface="Times New Roman" panose="02020603050405020304" pitchFamily="18" charset="0"/>
                <a:cs typeface="Times New Roman" panose="02020603050405020304" pitchFamily="18" charset="0"/>
              </a:rPr>
              <a:t>. </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F then receives routes from its three remaining neighbors. These routes are </a:t>
            </a:r>
            <a:r>
              <a:rPr lang="en-US" sz="2800" b="1" dirty="0">
                <a:latin typeface="Times New Roman" panose="02020603050405020304" pitchFamily="18" charset="0"/>
                <a:cs typeface="Times New Roman" panose="02020603050405020304" pitchFamily="18" charset="0"/>
              </a:rPr>
              <a:t>BCD</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IFGCD</a:t>
            </a:r>
            <a:r>
              <a:rPr lang="en-US" sz="2800" dirty="0">
                <a:latin typeface="Times New Roman" panose="02020603050405020304" pitchFamily="18" charset="0"/>
                <a:cs typeface="Times New Roman" panose="02020603050405020304" pitchFamily="18" charset="0"/>
              </a:rPr>
              <a:t>, and </a:t>
            </a:r>
            <a:r>
              <a:rPr lang="en-US" sz="2800" b="1" dirty="0">
                <a:latin typeface="Times New Roman" panose="02020603050405020304" pitchFamily="18" charset="0"/>
                <a:cs typeface="Times New Roman" panose="02020603050405020304" pitchFamily="18" charset="0"/>
              </a:rPr>
              <a:t>EFGCD</a:t>
            </a:r>
            <a:r>
              <a:rPr lang="en-US" sz="2800" dirty="0">
                <a:latin typeface="Times New Roman" panose="02020603050405020304" pitchFamily="18" charset="0"/>
                <a:cs typeface="Times New Roman" panose="02020603050405020304" pitchFamily="18" charset="0"/>
              </a:rPr>
              <a:t>. </a:t>
            </a:r>
          </a:p>
          <a:p>
            <a:pPr marL="609600" indent="-609600" algn="just">
              <a:spcBef>
                <a:spcPct val="20000"/>
              </a:spcBef>
              <a:buClr>
                <a:schemeClr val="accent2"/>
              </a:buClr>
              <a:buFont typeface="Wingdings" pitchFamily="2" charset="2"/>
              <a:buChar char="§"/>
            </a:pPr>
            <a:r>
              <a:rPr lang="en-US" sz="2800" dirty="0">
                <a:latin typeface="Times New Roman" panose="02020603050405020304" pitchFamily="18" charset="0"/>
                <a:cs typeface="Times New Roman" panose="02020603050405020304" pitchFamily="18" charset="0"/>
              </a:rPr>
              <a:t>It can immediately see that the two latter routes are pointless, since they pass through F itself, so it chooses </a:t>
            </a:r>
            <a:r>
              <a:rPr lang="en-US" sz="2800" b="1" dirty="0">
                <a:latin typeface="Times New Roman" panose="02020603050405020304" pitchFamily="18" charset="0"/>
                <a:cs typeface="Times New Roman" panose="02020603050405020304" pitchFamily="18" charset="0"/>
              </a:rPr>
              <a:t>FBCD </a:t>
            </a:r>
            <a:r>
              <a:rPr lang="en-US" sz="2800" dirty="0">
                <a:latin typeface="Times New Roman" panose="02020603050405020304" pitchFamily="18" charset="0"/>
                <a:cs typeface="Times New Roman" panose="02020603050405020304" pitchFamily="18" charset="0"/>
              </a:rPr>
              <a:t>as its new route.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524000" y="0"/>
            <a:ext cx="9144000" cy="993422"/>
          </a:xfrm>
        </p:spPr>
        <p:txBody>
          <a:bodyPr/>
          <a:lstStyle/>
          <a:p>
            <a:r>
              <a:rPr lang="en-US" b="1" dirty="0"/>
              <a:t>Design Principles for Internet</a:t>
            </a:r>
          </a:p>
        </p:txBody>
      </p:sp>
      <p:sp>
        <p:nvSpPr>
          <p:cNvPr id="68611" name="Rectangle 3"/>
          <p:cNvSpPr>
            <a:spLocks noGrp="1" noChangeArrowheads="1"/>
          </p:cNvSpPr>
          <p:nvPr>
            <p:ph type="body" idx="1"/>
          </p:nvPr>
        </p:nvSpPr>
        <p:spPr>
          <a:xfrm>
            <a:off x="1704623" y="925690"/>
            <a:ext cx="8647289" cy="5650089"/>
          </a:xfrm>
        </p:spPr>
        <p:txBody>
          <a:bodyPr/>
          <a:lstStyle/>
          <a:p>
            <a:pPr>
              <a:buFontTx/>
              <a:buAutoNum type="arabicPeriod"/>
            </a:pPr>
            <a:r>
              <a:rPr lang="en-US" dirty="0"/>
              <a:t>Make sure it works.</a:t>
            </a:r>
          </a:p>
          <a:p>
            <a:pPr>
              <a:buFontTx/>
              <a:buAutoNum type="arabicPeriod"/>
            </a:pPr>
            <a:r>
              <a:rPr lang="en-US" dirty="0"/>
              <a:t>Keep it simple.</a:t>
            </a:r>
          </a:p>
          <a:p>
            <a:pPr>
              <a:buFontTx/>
              <a:buAutoNum type="arabicPeriod"/>
            </a:pPr>
            <a:r>
              <a:rPr lang="en-US" dirty="0"/>
              <a:t>Make clear choices.</a:t>
            </a:r>
          </a:p>
          <a:p>
            <a:pPr>
              <a:buFontTx/>
              <a:buAutoNum type="arabicPeriod"/>
            </a:pPr>
            <a:r>
              <a:rPr lang="en-US" dirty="0"/>
              <a:t>Exploit modularity.</a:t>
            </a:r>
          </a:p>
          <a:p>
            <a:pPr>
              <a:buFontTx/>
              <a:buAutoNum type="arabicPeriod"/>
            </a:pPr>
            <a:r>
              <a:rPr lang="en-US" dirty="0"/>
              <a:t>Expect heterogeneity.</a:t>
            </a:r>
          </a:p>
          <a:p>
            <a:pPr>
              <a:buFontTx/>
              <a:buAutoNum type="arabicPeriod"/>
            </a:pPr>
            <a:r>
              <a:rPr lang="en-US" dirty="0"/>
              <a:t>Avoid static options and parameters.</a:t>
            </a:r>
          </a:p>
          <a:p>
            <a:pPr>
              <a:buFontTx/>
              <a:buAutoNum type="arabicPeriod"/>
            </a:pPr>
            <a:r>
              <a:rPr lang="en-US" dirty="0"/>
              <a:t>Look for a good design; it need not be perfect.</a:t>
            </a:r>
          </a:p>
          <a:p>
            <a:pPr>
              <a:buFontTx/>
              <a:buAutoNum type="arabicPeriod"/>
            </a:pPr>
            <a:r>
              <a:rPr lang="en-US" dirty="0"/>
              <a:t>Be strict when sending and tolerant when receiving.</a:t>
            </a:r>
          </a:p>
          <a:p>
            <a:pPr>
              <a:buFontTx/>
              <a:buAutoNum type="arabicPeriod"/>
            </a:pPr>
            <a:r>
              <a:rPr lang="en-US" dirty="0"/>
              <a:t>Think about scalability.</a:t>
            </a:r>
          </a:p>
          <a:p>
            <a:pPr>
              <a:buFontTx/>
              <a:buAutoNum type="arabicPeriod"/>
            </a:pPr>
            <a:r>
              <a:rPr lang="en-US" dirty="0"/>
              <a:t>Consider performance and cost.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b="1" dirty="0"/>
              <a:t>Collection of Subnetworks</a:t>
            </a:r>
          </a:p>
        </p:txBody>
      </p:sp>
      <p:sp>
        <p:nvSpPr>
          <p:cNvPr id="69635" name="Rectangle 3"/>
          <p:cNvSpPr>
            <a:spLocks noGrp="1" noChangeArrowheads="1"/>
          </p:cNvSpPr>
          <p:nvPr>
            <p:ph type="body" idx="1"/>
          </p:nvPr>
        </p:nvSpPr>
        <p:spPr>
          <a:xfrm>
            <a:off x="1524000" y="6381049"/>
            <a:ext cx="9144000" cy="448733"/>
          </a:xfrm>
        </p:spPr>
        <p:txBody>
          <a:bodyPr>
            <a:normAutofit fontScale="92500"/>
          </a:bodyPr>
          <a:lstStyle/>
          <a:p>
            <a:pPr algn="ctr">
              <a:buFontTx/>
              <a:buNone/>
            </a:pPr>
            <a:r>
              <a:rPr lang="en-US" dirty="0"/>
              <a:t>The Internet is an interconnected collection of many networks.</a:t>
            </a:r>
          </a:p>
        </p:txBody>
      </p:sp>
      <p:pic>
        <p:nvPicPr>
          <p:cNvPr id="69637" name="Picture 5" descr="5-52"/>
          <p:cNvPicPr>
            <a:picLocks noChangeAspect="1" noChangeArrowheads="1"/>
          </p:cNvPicPr>
          <p:nvPr/>
        </p:nvPicPr>
        <p:blipFill>
          <a:blip r:embed="rId2" cstate="print"/>
          <a:srcRect/>
          <a:stretch>
            <a:fillRect/>
          </a:stretch>
        </p:blipFill>
        <p:spPr bwMode="auto">
          <a:xfrm>
            <a:off x="1696509" y="1396698"/>
            <a:ext cx="7899775" cy="4881448"/>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BA599-EF22-2A63-52D9-D0FEA96FDADC}"/>
              </a:ext>
            </a:extLst>
          </p:cNvPr>
          <p:cNvSpPr>
            <a:spLocks noGrp="1"/>
          </p:cNvSpPr>
          <p:nvPr>
            <p:ph type="title"/>
          </p:nvPr>
        </p:nvSpPr>
        <p:spPr>
          <a:xfrm>
            <a:off x="1524000" y="373625"/>
            <a:ext cx="9144000" cy="639097"/>
          </a:xfrm>
        </p:spPr>
        <p:txBody>
          <a:bodyPr/>
          <a:lstStyle/>
          <a:p>
            <a:r>
              <a:rPr lang="en-US" sz="3600" b="1" dirty="0">
                <a:latin typeface="Arial Black" panose="020B0A04020102020204" pitchFamily="34" charset="0"/>
              </a:rPr>
              <a:t>IP (Internet Protocol)</a:t>
            </a:r>
          </a:p>
        </p:txBody>
      </p:sp>
      <p:sp>
        <p:nvSpPr>
          <p:cNvPr id="3" name="Content Placeholder 2">
            <a:extLst>
              <a:ext uri="{FF2B5EF4-FFF2-40B4-BE49-F238E27FC236}">
                <a16:creationId xmlns:a16="http://schemas.microsoft.com/office/drawing/2014/main" id="{500FACE1-A089-0724-0E09-DFF6312FC2A3}"/>
              </a:ext>
            </a:extLst>
          </p:cNvPr>
          <p:cNvSpPr>
            <a:spLocks noGrp="1"/>
          </p:cNvSpPr>
          <p:nvPr>
            <p:ph idx="1"/>
          </p:nvPr>
        </p:nvSpPr>
        <p:spPr>
          <a:xfrm>
            <a:off x="1524000" y="1338606"/>
            <a:ext cx="9144000" cy="5214594"/>
          </a:xfrm>
        </p:spPr>
        <p:txBody>
          <a:bodyPr/>
          <a:lstStyle/>
          <a:p>
            <a:pPr algn="just">
              <a:buFont typeface="Arial" panose="020B0604020202020204" pitchFamily="34" charset="0"/>
              <a:buChar char="•"/>
            </a:pPr>
            <a:r>
              <a:rPr lang="en-US" dirty="0"/>
              <a:t>The glue that holds the whole Internet together is the </a:t>
            </a:r>
            <a:r>
              <a:rPr lang="en-US" b="1" dirty="0"/>
              <a:t>network layer protocol, IP (Internet Protocol). </a:t>
            </a:r>
          </a:p>
          <a:p>
            <a:pPr algn="just">
              <a:buFont typeface="Arial" panose="020B0604020202020204" pitchFamily="34" charset="0"/>
              <a:buChar char="•"/>
            </a:pPr>
            <a:r>
              <a:rPr lang="en-US" dirty="0"/>
              <a:t>Unlike most older network layer protocols, IP was designed from the beginning with internetworking in mind. </a:t>
            </a:r>
          </a:p>
          <a:p>
            <a:pPr algn="just">
              <a:buFont typeface="Arial" panose="020B0604020202020204" pitchFamily="34" charset="0"/>
              <a:buChar char="•"/>
            </a:pPr>
            <a:r>
              <a:rPr lang="en-US" dirty="0"/>
              <a:t>It </a:t>
            </a:r>
            <a:r>
              <a:rPr lang="en-US" b="1" dirty="0"/>
              <a:t>transport packets from source to destination</a:t>
            </a:r>
            <a:r>
              <a:rPr lang="en-US" dirty="0"/>
              <a:t>, without regard to whether these machines are on the same network or whether there are other networks in between them.</a:t>
            </a:r>
          </a:p>
          <a:p>
            <a:pPr marL="342900" indent="-342900"/>
            <a:endParaRPr lang="en-US" dirty="0"/>
          </a:p>
        </p:txBody>
      </p:sp>
    </p:spTree>
    <p:extLst>
      <p:ext uri="{BB962C8B-B14F-4D97-AF65-F5344CB8AC3E}">
        <p14:creationId xmlns:p14="http://schemas.microsoft.com/office/powerpoint/2010/main" val="15250932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7E326-1AEE-5937-6CEE-BDF6BF88150A}"/>
              </a:ext>
            </a:extLst>
          </p:cNvPr>
          <p:cNvSpPr>
            <a:spLocks noGrp="1"/>
          </p:cNvSpPr>
          <p:nvPr>
            <p:ph type="title"/>
          </p:nvPr>
        </p:nvSpPr>
        <p:spPr>
          <a:xfrm>
            <a:off x="1524000" y="1"/>
            <a:ext cx="9144000" cy="763571"/>
          </a:xfrm>
        </p:spPr>
        <p:txBody>
          <a:bodyPr/>
          <a:lstStyle/>
          <a:p>
            <a:r>
              <a:rPr lang="en-US" sz="3600" b="1" dirty="0">
                <a:latin typeface="Arial Black" panose="020B0A04020102020204" pitchFamily="34" charset="0"/>
              </a:rPr>
              <a:t>IP (Internet Protocol)</a:t>
            </a:r>
          </a:p>
        </p:txBody>
      </p:sp>
      <p:sp>
        <p:nvSpPr>
          <p:cNvPr id="3" name="Content Placeholder 2">
            <a:extLst>
              <a:ext uri="{FF2B5EF4-FFF2-40B4-BE49-F238E27FC236}">
                <a16:creationId xmlns:a16="http://schemas.microsoft.com/office/drawing/2014/main" id="{BBB0D427-AC61-B6F2-1759-4EAB7E5DB32F}"/>
              </a:ext>
            </a:extLst>
          </p:cNvPr>
          <p:cNvSpPr>
            <a:spLocks noGrp="1"/>
          </p:cNvSpPr>
          <p:nvPr>
            <p:ph idx="1"/>
          </p:nvPr>
        </p:nvSpPr>
        <p:spPr>
          <a:xfrm>
            <a:off x="1523999" y="443063"/>
            <a:ext cx="10176387" cy="6193711"/>
          </a:xfrm>
        </p:spPr>
        <p:txBody>
          <a:bodyPr>
            <a:normAutofit lnSpcReduction="10000"/>
          </a:bodyPr>
          <a:lstStyle/>
          <a:p>
            <a:pPr marL="0" indent="0">
              <a:buNone/>
            </a:pPr>
            <a:endParaRPr lang="en-US" sz="2600" dirty="0"/>
          </a:p>
          <a:p>
            <a:pPr algn="just">
              <a:lnSpc>
                <a:spcPct val="110000"/>
              </a:lnSpc>
              <a:buFont typeface="Arial" panose="020B0604020202020204" pitchFamily="34" charset="0"/>
              <a:buChar char="•"/>
            </a:pPr>
            <a:r>
              <a:rPr lang="en-US" sz="2600" dirty="0">
                <a:solidFill>
                  <a:srgbClr val="FF0000"/>
                </a:solidFill>
              </a:rPr>
              <a:t>Communication in the Internet works as follows</a:t>
            </a:r>
            <a:r>
              <a:rPr lang="en-US" sz="2600" dirty="0"/>
              <a:t>. </a:t>
            </a:r>
          </a:p>
          <a:p>
            <a:pPr algn="just">
              <a:lnSpc>
                <a:spcPct val="110000"/>
              </a:lnSpc>
              <a:buFont typeface="Arial" panose="020B0604020202020204" pitchFamily="34" charset="0"/>
              <a:buChar char="•"/>
            </a:pPr>
            <a:r>
              <a:rPr lang="en-US" sz="2600" dirty="0"/>
              <a:t>The transport layer takes </a:t>
            </a:r>
            <a:r>
              <a:rPr lang="en-US" sz="2600" dirty="0">
                <a:solidFill>
                  <a:srgbClr val="FF0000"/>
                </a:solidFill>
              </a:rPr>
              <a:t>data streams </a:t>
            </a:r>
            <a:r>
              <a:rPr lang="en-US" sz="2600" dirty="0"/>
              <a:t>and breaks them up so that they may be sent as </a:t>
            </a:r>
            <a:r>
              <a:rPr lang="en-US" sz="2600" dirty="0">
                <a:solidFill>
                  <a:srgbClr val="FF0000"/>
                </a:solidFill>
              </a:rPr>
              <a:t>IP packets</a:t>
            </a:r>
            <a:r>
              <a:rPr lang="en-US" sz="2600" dirty="0"/>
              <a:t>. </a:t>
            </a:r>
          </a:p>
          <a:p>
            <a:pPr algn="just">
              <a:lnSpc>
                <a:spcPct val="110000"/>
              </a:lnSpc>
              <a:buFont typeface="Arial" panose="020B0604020202020204" pitchFamily="34" charset="0"/>
              <a:buChar char="•"/>
            </a:pPr>
            <a:r>
              <a:rPr lang="en-US" sz="2600" dirty="0"/>
              <a:t>In theory, packets can be up to 64 KB each, but in practice they are usually not more than 1500 bytes (so they fit in one Ethernet frame).</a:t>
            </a:r>
          </a:p>
          <a:p>
            <a:pPr algn="just">
              <a:lnSpc>
                <a:spcPct val="110000"/>
              </a:lnSpc>
              <a:buFont typeface="Arial" panose="020B0604020202020204" pitchFamily="34" charset="0"/>
              <a:buChar char="•"/>
            </a:pPr>
            <a:r>
              <a:rPr lang="en-US" sz="2600" dirty="0">
                <a:solidFill>
                  <a:srgbClr val="FF0000"/>
                </a:solidFill>
              </a:rPr>
              <a:t>IP routers </a:t>
            </a:r>
            <a:r>
              <a:rPr lang="en-US" sz="2600" dirty="0"/>
              <a:t>forward each packet through the Internet, along a path from one router to the next, until the destination is reached. </a:t>
            </a:r>
          </a:p>
          <a:p>
            <a:pPr algn="just">
              <a:lnSpc>
                <a:spcPct val="110000"/>
              </a:lnSpc>
              <a:buFont typeface="Arial" panose="020B0604020202020204" pitchFamily="34" charset="0"/>
              <a:buChar char="•"/>
            </a:pPr>
            <a:r>
              <a:rPr lang="en-US" sz="2600" dirty="0"/>
              <a:t>At the destination, the </a:t>
            </a:r>
            <a:r>
              <a:rPr lang="en-US" sz="2600" dirty="0">
                <a:solidFill>
                  <a:srgbClr val="FF0000"/>
                </a:solidFill>
              </a:rPr>
              <a:t>network layer </a:t>
            </a:r>
            <a:r>
              <a:rPr lang="en-US" sz="2600" dirty="0"/>
              <a:t>hands the data to the </a:t>
            </a:r>
            <a:r>
              <a:rPr lang="en-US" sz="2600" dirty="0">
                <a:solidFill>
                  <a:srgbClr val="FF0000"/>
                </a:solidFill>
              </a:rPr>
              <a:t>transport layer</a:t>
            </a:r>
            <a:r>
              <a:rPr lang="en-US" sz="2600" dirty="0"/>
              <a:t>, which gives it to the receiving process. </a:t>
            </a:r>
          </a:p>
          <a:p>
            <a:pPr algn="just">
              <a:lnSpc>
                <a:spcPct val="110000"/>
              </a:lnSpc>
              <a:buFont typeface="Arial" panose="020B0604020202020204" pitchFamily="34" charset="0"/>
              <a:buChar char="•"/>
            </a:pPr>
            <a:r>
              <a:rPr lang="en-US" sz="2600" dirty="0"/>
              <a:t>When all the pieces finally get to the destination machine, they are reassembled by the network layer into the original datagram. </a:t>
            </a:r>
          </a:p>
          <a:p>
            <a:pPr algn="just">
              <a:lnSpc>
                <a:spcPct val="110000"/>
              </a:lnSpc>
              <a:buFont typeface="Arial" panose="020B0604020202020204" pitchFamily="34" charset="0"/>
              <a:buChar char="•"/>
            </a:pPr>
            <a:r>
              <a:rPr lang="en-US" sz="2600" dirty="0"/>
              <a:t>This datagram is then handed to the transport layer</a:t>
            </a:r>
          </a:p>
        </p:txBody>
      </p:sp>
    </p:spTree>
    <p:extLst>
      <p:ext uri="{BB962C8B-B14F-4D97-AF65-F5344CB8AC3E}">
        <p14:creationId xmlns:p14="http://schemas.microsoft.com/office/powerpoint/2010/main" val="296322873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latin typeface="Arial Black" panose="020B0A04020102020204" pitchFamily="34" charset="0"/>
              </a:rPr>
              <a:t>The IP version 4 Protocol</a:t>
            </a:r>
          </a:p>
        </p:txBody>
      </p:sp>
      <p:sp>
        <p:nvSpPr>
          <p:cNvPr id="5" name="Rectangle 3"/>
          <p:cNvSpPr txBox="1">
            <a:spLocks noChangeArrowheads="1"/>
          </p:cNvSpPr>
          <p:nvPr/>
        </p:nvSpPr>
        <p:spPr bwMode="auto">
          <a:xfrm>
            <a:off x="1524000" y="710693"/>
            <a:ext cx="9144000" cy="4606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indent="-342900" algn="just">
              <a:spcBef>
                <a:spcPct val="20000"/>
              </a:spcBef>
              <a:buClr>
                <a:schemeClr val="accent2"/>
              </a:buClr>
              <a:buFont typeface="Arial" panose="020B0604020202020204" pitchFamily="34" charset="0"/>
              <a:buChar char="•"/>
            </a:pPr>
            <a:endParaRPr lang="en-US" sz="2400" dirty="0"/>
          </a:p>
          <a:p>
            <a:pPr marL="342900" indent="-342900" algn="just">
              <a:spcBef>
                <a:spcPct val="20000"/>
              </a:spcBef>
              <a:buClr>
                <a:schemeClr val="accent2"/>
              </a:buClr>
              <a:buFont typeface="Arial" panose="020B0604020202020204" pitchFamily="34" charset="0"/>
              <a:buChar char="•"/>
            </a:pPr>
            <a:r>
              <a:rPr lang="en-US" sz="2800" dirty="0"/>
              <a:t>An IPv4 datagram consists of a </a:t>
            </a:r>
            <a:r>
              <a:rPr lang="en-US" sz="2800" dirty="0">
                <a:solidFill>
                  <a:srgbClr val="FF0000"/>
                </a:solidFill>
              </a:rPr>
              <a:t>header part </a:t>
            </a:r>
            <a:r>
              <a:rPr lang="en-US" sz="2800" dirty="0"/>
              <a:t>and a </a:t>
            </a:r>
            <a:r>
              <a:rPr lang="en-US" sz="2800" dirty="0">
                <a:solidFill>
                  <a:srgbClr val="FF0000"/>
                </a:solidFill>
              </a:rPr>
              <a:t>body or payload part. </a:t>
            </a:r>
          </a:p>
          <a:p>
            <a:pPr marL="342900" indent="-342900" algn="just">
              <a:spcBef>
                <a:spcPct val="20000"/>
              </a:spcBef>
              <a:buClr>
                <a:schemeClr val="accent2"/>
              </a:buClr>
              <a:buFont typeface="Arial" panose="020B0604020202020204" pitchFamily="34" charset="0"/>
              <a:buChar char="•"/>
            </a:pPr>
            <a:r>
              <a:rPr lang="en-US" sz="2800" dirty="0"/>
              <a:t>The </a:t>
            </a:r>
            <a:r>
              <a:rPr lang="en-US" sz="2800" dirty="0">
                <a:solidFill>
                  <a:srgbClr val="FF0000"/>
                </a:solidFill>
              </a:rPr>
              <a:t>header has a 20-byte fixed part </a:t>
            </a:r>
            <a:r>
              <a:rPr lang="en-US" sz="2800" dirty="0"/>
              <a:t>and a </a:t>
            </a:r>
            <a:r>
              <a:rPr lang="en-US" sz="2800" dirty="0">
                <a:solidFill>
                  <a:srgbClr val="FF0000"/>
                </a:solidFill>
              </a:rPr>
              <a:t>variable-length optional part.</a:t>
            </a:r>
          </a:p>
          <a:p>
            <a:pPr marL="342900" indent="-342900" algn="just">
              <a:spcBef>
                <a:spcPct val="20000"/>
              </a:spcBef>
              <a:buClr>
                <a:schemeClr val="accent2"/>
              </a:buClr>
              <a:buFont typeface="Arial" panose="020B0604020202020204" pitchFamily="34" charset="0"/>
              <a:buChar char="•"/>
            </a:pPr>
            <a:r>
              <a:rPr lang="en-US" sz="2800" dirty="0"/>
              <a:t>The bits are transmitted from </a:t>
            </a:r>
            <a:r>
              <a:rPr lang="en-US" sz="2800" b="1" dirty="0"/>
              <a:t>left to right</a:t>
            </a:r>
            <a:r>
              <a:rPr lang="en-US" sz="2800" dirty="0"/>
              <a:t> and </a:t>
            </a:r>
            <a:r>
              <a:rPr lang="en-US" sz="2800" b="1" dirty="0"/>
              <a:t>top to bottom</a:t>
            </a:r>
            <a:r>
              <a:rPr lang="en-US" sz="2800" dirty="0"/>
              <a:t>, with the high-order bit of the Version field going first.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524000" y="1"/>
            <a:ext cx="9144000" cy="677333"/>
          </a:xfrm>
        </p:spPr>
        <p:txBody>
          <a:bodyPr>
            <a:normAutofit fontScale="90000"/>
          </a:bodyPr>
          <a:lstStyle/>
          <a:p>
            <a:r>
              <a:rPr lang="en-US" dirty="0"/>
              <a:t>The IP Protocol</a:t>
            </a:r>
          </a:p>
        </p:txBody>
      </p:sp>
      <p:sp>
        <p:nvSpPr>
          <p:cNvPr id="70659" name="Rectangle 3"/>
          <p:cNvSpPr>
            <a:spLocks noGrp="1" noChangeArrowheads="1"/>
          </p:cNvSpPr>
          <p:nvPr>
            <p:ph type="body" idx="1"/>
          </p:nvPr>
        </p:nvSpPr>
        <p:spPr>
          <a:xfrm>
            <a:off x="1524000" y="6279451"/>
            <a:ext cx="9144000" cy="493889"/>
          </a:xfrm>
        </p:spPr>
        <p:txBody>
          <a:bodyPr/>
          <a:lstStyle/>
          <a:p>
            <a:pPr algn="ctr">
              <a:buFontTx/>
              <a:buNone/>
            </a:pPr>
            <a:r>
              <a:rPr lang="en-US" dirty="0"/>
              <a:t>The IPv4 (Internet Protocol) header.</a:t>
            </a:r>
          </a:p>
        </p:txBody>
      </p:sp>
      <p:pic>
        <p:nvPicPr>
          <p:cNvPr id="70661" name="Picture 5" descr="5-53"/>
          <p:cNvPicPr>
            <a:picLocks noChangeAspect="1" noChangeArrowheads="1"/>
          </p:cNvPicPr>
          <p:nvPr/>
        </p:nvPicPr>
        <p:blipFill>
          <a:blip r:embed="rId2" cstate="print"/>
          <a:srcRect/>
          <a:stretch>
            <a:fillRect/>
          </a:stretch>
        </p:blipFill>
        <p:spPr bwMode="auto">
          <a:xfrm>
            <a:off x="1703565" y="872949"/>
            <a:ext cx="8765825" cy="5414962"/>
          </a:xfrm>
          <a:prstGeom prst="rect">
            <a:avLst/>
          </a:prstGeo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Version</a:t>
            </a:r>
            <a:r>
              <a:rPr lang="en-US" sz="2400" dirty="0"/>
              <a:t> field </a:t>
            </a:r>
          </a:p>
          <a:p>
            <a:pPr marL="1066800" lvl="1" indent="-609600" algn="just">
              <a:spcBef>
                <a:spcPct val="20000"/>
              </a:spcBef>
              <a:buClr>
                <a:schemeClr val="accent2"/>
              </a:buClr>
              <a:buFont typeface="Wingdings" pitchFamily="2" charset="2"/>
              <a:buChar char="§"/>
            </a:pPr>
            <a:r>
              <a:rPr lang="en-US" sz="2400" dirty="0"/>
              <a:t>keeps track of which version of the protocol the datagram belongs to. </a:t>
            </a:r>
          </a:p>
          <a:p>
            <a:pPr marL="1066800" lvl="1" indent="-609600" algn="just">
              <a:spcBef>
                <a:spcPct val="20000"/>
              </a:spcBef>
              <a:buClr>
                <a:schemeClr val="accent2"/>
              </a:buClr>
              <a:buFont typeface="Wingdings" pitchFamily="2" charset="2"/>
              <a:buChar char="§"/>
            </a:pPr>
            <a:r>
              <a:rPr lang="en-US" sz="2400" dirty="0"/>
              <a:t>Currently a transition between </a:t>
            </a:r>
            <a:r>
              <a:rPr lang="en-US" sz="2400" dirty="0">
                <a:solidFill>
                  <a:srgbClr val="FF0000"/>
                </a:solidFill>
              </a:rPr>
              <a:t>IPv4 and IPv6 </a:t>
            </a:r>
            <a:r>
              <a:rPr lang="en-US" sz="2400" dirty="0"/>
              <a:t>is going on</a:t>
            </a:r>
          </a:p>
          <a:p>
            <a:pPr marL="1066800" lvl="1" indent="-609600" algn="just">
              <a:spcBef>
                <a:spcPct val="20000"/>
              </a:spcBef>
              <a:buClr>
                <a:schemeClr val="accent2"/>
              </a:buClr>
              <a:buFont typeface="Wingdings" pitchFamily="2" charset="2"/>
              <a:buChar char="§"/>
            </a:pPr>
            <a:r>
              <a:rPr lang="en-US" sz="2400" dirty="0">
                <a:solidFill>
                  <a:srgbClr val="FF0000"/>
                </a:solidFill>
              </a:rPr>
              <a:t>IPv5</a:t>
            </a:r>
            <a:r>
              <a:rPr lang="en-US" sz="2400" dirty="0"/>
              <a:t> was an experimental real-time stream protocol that was never widely used</a:t>
            </a:r>
          </a:p>
          <a:p>
            <a:pPr marL="609600" indent="-609600" algn="just">
              <a:spcBef>
                <a:spcPct val="20000"/>
              </a:spcBef>
              <a:buClr>
                <a:schemeClr val="accent2"/>
              </a:buClr>
              <a:buFont typeface="Wingdings" pitchFamily="2" charset="2"/>
              <a:buChar char="§"/>
            </a:pPr>
            <a:r>
              <a:rPr lang="en-US" sz="2400" b="1" dirty="0">
                <a:solidFill>
                  <a:srgbClr val="FF0000"/>
                </a:solidFill>
              </a:rPr>
              <a:t>IHL</a:t>
            </a:r>
            <a:r>
              <a:rPr lang="en-US" sz="2400" dirty="0"/>
              <a:t> field</a:t>
            </a:r>
          </a:p>
          <a:p>
            <a:pPr marL="1066800" lvl="1" indent="-609600" algn="just">
              <a:spcBef>
                <a:spcPct val="20000"/>
              </a:spcBef>
              <a:buClr>
                <a:schemeClr val="accent2"/>
              </a:buClr>
              <a:buFont typeface="Wingdings" pitchFamily="2" charset="2"/>
              <a:buChar char="§"/>
            </a:pPr>
            <a:r>
              <a:rPr lang="en-US" sz="2400" dirty="0"/>
              <a:t>Since the header length is not constant, IHL is provided to tell </a:t>
            </a:r>
            <a:r>
              <a:rPr lang="en-US" sz="2400" dirty="0">
                <a:solidFill>
                  <a:srgbClr val="FF0000"/>
                </a:solidFill>
              </a:rPr>
              <a:t>how long the header is</a:t>
            </a:r>
            <a:r>
              <a:rPr lang="en-US" sz="2400" dirty="0"/>
              <a:t>, in 32-bit words. </a:t>
            </a:r>
          </a:p>
          <a:p>
            <a:pPr marL="1066800" lvl="1" indent="-609600" algn="just">
              <a:spcBef>
                <a:spcPct val="20000"/>
              </a:spcBef>
              <a:buClr>
                <a:schemeClr val="accent2"/>
              </a:buClr>
              <a:buFont typeface="Wingdings" pitchFamily="2" charset="2"/>
              <a:buChar char="§"/>
            </a:pPr>
            <a:r>
              <a:rPr lang="en-US" sz="2400" dirty="0"/>
              <a:t>The </a:t>
            </a:r>
            <a:r>
              <a:rPr lang="en-US" sz="2400" dirty="0">
                <a:solidFill>
                  <a:srgbClr val="FF0000"/>
                </a:solidFill>
              </a:rPr>
              <a:t>minimum value is 5</a:t>
            </a:r>
            <a:r>
              <a:rPr lang="en-US" sz="2400" dirty="0"/>
              <a:t>, which applies when no options are present. </a:t>
            </a:r>
          </a:p>
          <a:p>
            <a:pPr marL="1066800" lvl="1" indent="-609600" algn="just">
              <a:spcBef>
                <a:spcPct val="20000"/>
              </a:spcBef>
              <a:buClr>
                <a:schemeClr val="accent2"/>
              </a:buClr>
              <a:buFont typeface="Wingdings" pitchFamily="2" charset="2"/>
              <a:buChar char="§"/>
            </a:pPr>
            <a:r>
              <a:rPr lang="en-US" sz="2400" dirty="0"/>
              <a:t>The </a:t>
            </a:r>
            <a:r>
              <a:rPr lang="en-US" sz="2400" dirty="0">
                <a:solidFill>
                  <a:srgbClr val="FF0000"/>
                </a:solidFill>
              </a:rPr>
              <a:t>maximum value </a:t>
            </a:r>
            <a:r>
              <a:rPr lang="en-US" sz="2400" dirty="0"/>
              <a:t>of this 4-bit field </a:t>
            </a:r>
            <a:r>
              <a:rPr lang="en-US" sz="2400" dirty="0">
                <a:solidFill>
                  <a:srgbClr val="FF0000"/>
                </a:solidFill>
              </a:rPr>
              <a:t>is 15</a:t>
            </a:r>
            <a:r>
              <a:rPr lang="en-US" sz="2400" dirty="0"/>
              <a:t>, which limits the </a:t>
            </a:r>
            <a:r>
              <a:rPr lang="en-US" sz="2400" dirty="0">
                <a:solidFill>
                  <a:srgbClr val="FF0000"/>
                </a:solidFill>
              </a:rPr>
              <a:t>header to 60 bytes</a:t>
            </a:r>
            <a:r>
              <a:rPr lang="en-US" sz="2400" dirty="0"/>
              <a:t>, and thus the Options field to 40 bytes.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Type of service </a:t>
            </a:r>
            <a:r>
              <a:rPr lang="en-US" sz="2400" dirty="0"/>
              <a:t>field. </a:t>
            </a:r>
          </a:p>
          <a:p>
            <a:pPr marL="1066800" lvl="1" indent="-609600" algn="just">
              <a:spcBef>
                <a:spcPct val="20000"/>
              </a:spcBef>
              <a:buClr>
                <a:schemeClr val="accent2"/>
              </a:buClr>
              <a:buFont typeface="Wingdings" pitchFamily="2" charset="2"/>
              <a:buChar char="§"/>
            </a:pPr>
            <a:r>
              <a:rPr lang="en-US" sz="2400" dirty="0"/>
              <a:t>to </a:t>
            </a:r>
            <a:r>
              <a:rPr lang="en-US" sz="2400" dirty="0">
                <a:solidFill>
                  <a:srgbClr val="FF0000"/>
                </a:solidFill>
              </a:rPr>
              <a:t>distinguish between different classes of service</a:t>
            </a:r>
          </a:p>
          <a:p>
            <a:pPr marL="1066800" lvl="1" indent="-609600" algn="just">
              <a:spcBef>
                <a:spcPct val="20000"/>
              </a:spcBef>
              <a:buClr>
                <a:schemeClr val="accent2"/>
              </a:buClr>
              <a:buFont typeface="Wingdings" pitchFamily="2" charset="2"/>
              <a:buChar char="§"/>
            </a:pPr>
            <a:r>
              <a:rPr lang="en-US" sz="2400" dirty="0"/>
              <a:t>Various </a:t>
            </a:r>
            <a:r>
              <a:rPr lang="en-US" sz="2400" b="1" dirty="0"/>
              <a:t>combinations</a:t>
            </a:r>
            <a:r>
              <a:rPr lang="en-US" sz="2400" dirty="0"/>
              <a:t> of </a:t>
            </a:r>
            <a:r>
              <a:rPr lang="en-US" sz="2400" b="1" dirty="0"/>
              <a:t>reliability </a:t>
            </a:r>
            <a:r>
              <a:rPr lang="en-US" sz="2400" dirty="0"/>
              <a:t>and </a:t>
            </a:r>
            <a:r>
              <a:rPr lang="en-US" sz="2400" b="1" dirty="0"/>
              <a:t>speed </a:t>
            </a:r>
            <a:r>
              <a:rPr lang="en-US" sz="2400" dirty="0"/>
              <a:t>are possible. </a:t>
            </a:r>
          </a:p>
          <a:p>
            <a:pPr marL="1066800" lvl="1" indent="-609600" algn="just">
              <a:spcBef>
                <a:spcPct val="20000"/>
              </a:spcBef>
              <a:buClr>
                <a:schemeClr val="accent2"/>
              </a:buClr>
              <a:buFont typeface="Wingdings" pitchFamily="2" charset="2"/>
              <a:buChar char="§"/>
            </a:pPr>
            <a:r>
              <a:rPr lang="en-US" sz="2400" dirty="0"/>
              <a:t>For </a:t>
            </a:r>
            <a:r>
              <a:rPr lang="en-US" sz="2400" dirty="0">
                <a:solidFill>
                  <a:srgbClr val="FF0000"/>
                </a:solidFill>
              </a:rPr>
              <a:t>digitized voice</a:t>
            </a:r>
            <a:r>
              <a:rPr lang="en-US" sz="2400" dirty="0"/>
              <a:t>, </a:t>
            </a:r>
            <a:r>
              <a:rPr lang="en-US" sz="2400" b="1" dirty="0"/>
              <a:t>fast delivery </a:t>
            </a:r>
            <a:r>
              <a:rPr lang="en-US" sz="2400" dirty="0"/>
              <a:t>beats accurate delivery. </a:t>
            </a:r>
          </a:p>
          <a:p>
            <a:pPr marL="1066800" lvl="1" indent="-609600" algn="just">
              <a:spcBef>
                <a:spcPct val="20000"/>
              </a:spcBef>
              <a:buClr>
                <a:schemeClr val="accent2"/>
              </a:buClr>
              <a:buFont typeface="Wingdings" pitchFamily="2" charset="2"/>
              <a:buChar char="§"/>
            </a:pPr>
            <a:r>
              <a:rPr lang="en-US" sz="2400" dirty="0"/>
              <a:t>For </a:t>
            </a:r>
            <a:r>
              <a:rPr lang="en-US" sz="2400" dirty="0">
                <a:solidFill>
                  <a:srgbClr val="FF0000"/>
                </a:solidFill>
              </a:rPr>
              <a:t>file transfer</a:t>
            </a:r>
            <a:r>
              <a:rPr lang="en-US" sz="2400" dirty="0"/>
              <a:t>, </a:t>
            </a:r>
            <a:r>
              <a:rPr lang="en-US" sz="2400" b="1" dirty="0"/>
              <a:t>error-free transmission </a:t>
            </a:r>
            <a:r>
              <a:rPr lang="en-US" sz="2400" dirty="0"/>
              <a:t>is more important than fast transmission. </a:t>
            </a:r>
          </a:p>
          <a:p>
            <a:pPr marL="1066800" lvl="1" indent="-609600" algn="just">
              <a:spcBef>
                <a:spcPct val="20000"/>
              </a:spcBef>
              <a:buClr>
                <a:schemeClr val="accent2"/>
              </a:buClr>
              <a:buFont typeface="Wingdings" pitchFamily="2" charset="2"/>
              <a:buChar char="§"/>
            </a:pPr>
            <a:r>
              <a:rPr lang="en-US" sz="2400" dirty="0"/>
              <a:t>6-bit field contained a three-bit </a:t>
            </a:r>
            <a:r>
              <a:rPr lang="en-US" sz="2400" dirty="0">
                <a:solidFill>
                  <a:srgbClr val="FF0000"/>
                </a:solidFill>
              </a:rPr>
              <a:t>Precedence</a:t>
            </a:r>
            <a:r>
              <a:rPr lang="en-US" sz="2400" dirty="0"/>
              <a:t> field and three </a:t>
            </a:r>
            <a:r>
              <a:rPr lang="en-US" sz="2400" dirty="0">
                <a:solidFill>
                  <a:srgbClr val="FF0000"/>
                </a:solidFill>
              </a:rPr>
              <a:t>flags</a:t>
            </a:r>
            <a:r>
              <a:rPr lang="en-US" sz="2400" dirty="0"/>
              <a:t>, </a:t>
            </a:r>
            <a:r>
              <a:rPr lang="en-US" sz="2400" dirty="0">
                <a:solidFill>
                  <a:srgbClr val="FF0000"/>
                </a:solidFill>
              </a:rPr>
              <a:t>D, T, and R. </a:t>
            </a:r>
          </a:p>
          <a:p>
            <a:pPr marL="1066800" lvl="1" indent="-609600" algn="just">
              <a:spcBef>
                <a:spcPct val="20000"/>
              </a:spcBef>
              <a:buClr>
                <a:schemeClr val="accent2"/>
              </a:buClr>
              <a:buFont typeface="Wingdings" pitchFamily="2" charset="2"/>
              <a:buChar char="§"/>
            </a:pPr>
            <a:r>
              <a:rPr lang="en-US" sz="2400" dirty="0"/>
              <a:t>The </a:t>
            </a:r>
            <a:r>
              <a:rPr lang="en-US" sz="2400" dirty="0">
                <a:solidFill>
                  <a:srgbClr val="FF0000"/>
                </a:solidFill>
              </a:rPr>
              <a:t>Precedence</a:t>
            </a:r>
            <a:r>
              <a:rPr lang="en-US" sz="2400" dirty="0"/>
              <a:t> field was a priority from 0 (normal) to 7 (network control packet)</a:t>
            </a:r>
          </a:p>
          <a:p>
            <a:pPr marL="1066800" lvl="1" indent="-609600" algn="just">
              <a:spcBef>
                <a:spcPct val="20000"/>
              </a:spcBef>
              <a:buClr>
                <a:schemeClr val="accent2"/>
              </a:buClr>
              <a:buFont typeface="Wingdings" pitchFamily="2" charset="2"/>
              <a:buChar char="§"/>
            </a:pPr>
            <a:r>
              <a:rPr lang="en-US" sz="2400" dirty="0"/>
              <a:t>The three flag bits allowed the host to specify from the set {Delay, Throughput, Reliability}</a:t>
            </a:r>
          </a:p>
          <a:p>
            <a:pPr marL="1066800" lvl="1" indent="-609600" algn="just">
              <a:spcBef>
                <a:spcPct val="20000"/>
              </a:spcBef>
              <a:buClr>
                <a:schemeClr val="accent2"/>
              </a:buClr>
              <a:buFont typeface="Wingdings" pitchFamily="2" charset="2"/>
              <a:buChar char="§"/>
            </a:pPr>
            <a:r>
              <a:rPr lang="en-US" sz="2400" dirty="0"/>
              <a:t>Current routers often ignore the Type of service field altogether</a:t>
            </a:r>
            <a:endParaRPr lang="en-US" sz="2400" kern="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Total length </a:t>
            </a:r>
            <a:r>
              <a:rPr lang="en-US" sz="2400" dirty="0"/>
              <a:t>field</a:t>
            </a:r>
          </a:p>
          <a:p>
            <a:pPr marL="1066800" lvl="1" indent="-609600" algn="just">
              <a:spcBef>
                <a:spcPct val="20000"/>
              </a:spcBef>
              <a:buClr>
                <a:schemeClr val="accent2"/>
              </a:buClr>
              <a:buFont typeface="Wingdings" pitchFamily="2" charset="2"/>
              <a:buChar char="§"/>
            </a:pPr>
            <a:r>
              <a:rPr lang="en-US" sz="2400" dirty="0"/>
              <a:t>includes everything in the datagram—both </a:t>
            </a:r>
            <a:r>
              <a:rPr lang="en-US" sz="2400" b="1" dirty="0"/>
              <a:t>header and data</a:t>
            </a:r>
            <a:r>
              <a:rPr lang="en-US" sz="2400" dirty="0"/>
              <a:t>. </a:t>
            </a:r>
          </a:p>
          <a:p>
            <a:pPr marL="1066800" lvl="1" indent="-609600" algn="just">
              <a:spcBef>
                <a:spcPct val="20000"/>
              </a:spcBef>
              <a:buClr>
                <a:schemeClr val="accent2"/>
              </a:buClr>
              <a:buFont typeface="Wingdings" pitchFamily="2" charset="2"/>
              <a:buChar char="§"/>
            </a:pPr>
            <a:r>
              <a:rPr lang="en-US" sz="2400" dirty="0"/>
              <a:t>The maximum length is </a:t>
            </a:r>
            <a:r>
              <a:rPr lang="en-US" sz="2400" b="1" dirty="0"/>
              <a:t>65,535 bytes</a:t>
            </a:r>
            <a:r>
              <a:rPr lang="en-US" sz="2400" dirty="0"/>
              <a:t>. </a:t>
            </a:r>
          </a:p>
          <a:p>
            <a:pPr marL="1066800" lvl="1" indent="-609600" algn="just">
              <a:spcBef>
                <a:spcPct val="20000"/>
              </a:spcBef>
              <a:buClr>
                <a:schemeClr val="accent2"/>
              </a:buClr>
              <a:buFont typeface="Wingdings" pitchFamily="2" charset="2"/>
              <a:buChar char="§"/>
            </a:pPr>
            <a:r>
              <a:rPr lang="en-US" sz="2400" dirty="0"/>
              <a:t>At present, this upper limit is tolerable, but with future gigabit networks, larger datagrams may be needed</a:t>
            </a:r>
          </a:p>
          <a:p>
            <a:pPr marL="609600" indent="-609600" algn="just">
              <a:spcBef>
                <a:spcPct val="20000"/>
              </a:spcBef>
              <a:buClr>
                <a:schemeClr val="accent2"/>
              </a:buClr>
              <a:buFont typeface="Wingdings" pitchFamily="2" charset="2"/>
              <a:buChar char="§"/>
            </a:pPr>
            <a:r>
              <a:rPr lang="en-US" sz="2400" b="1" dirty="0">
                <a:solidFill>
                  <a:srgbClr val="FF0000"/>
                </a:solidFill>
              </a:rPr>
              <a:t>Identification</a:t>
            </a:r>
            <a:r>
              <a:rPr lang="en-US" sz="2400" dirty="0"/>
              <a:t> field </a:t>
            </a:r>
          </a:p>
          <a:p>
            <a:pPr marL="1066800" lvl="1" indent="-609600" algn="just">
              <a:spcBef>
                <a:spcPct val="20000"/>
              </a:spcBef>
              <a:buClr>
                <a:schemeClr val="accent2"/>
              </a:buClr>
              <a:buFont typeface="Wingdings" pitchFamily="2" charset="2"/>
              <a:buChar char="§"/>
            </a:pPr>
            <a:r>
              <a:rPr lang="en-US" sz="2400" dirty="0"/>
              <a:t>needed to allow the destination host </a:t>
            </a:r>
            <a:r>
              <a:rPr lang="en-US" sz="2400" dirty="0">
                <a:solidFill>
                  <a:srgbClr val="FF0000"/>
                </a:solidFill>
              </a:rPr>
              <a:t>to determine which datagram a newly arrived fragment belongs to</a:t>
            </a:r>
            <a:r>
              <a:rPr lang="en-US" sz="2400" dirty="0"/>
              <a:t>. </a:t>
            </a:r>
          </a:p>
          <a:p>
            <a:pPr marL="1066800" lvl="1" indent="-609600" algn="just">
              <a:spcBef>
                <a:spcPct val="20000"/>
              </a:spcBef>
              <a:buClr>
                <a:schemeClr val="accent2"/>
              </a:buClr>
              <a:buFont typeface="Wingdings" pitchFamily="2" charset="2"/>
              <a:buChar char="§"/>
            </a:pPr>
            <a:r>
              <a:rPr lang="en-US" sz="2400" dirty="0"/>
              <a:t>All the fragments of a datagram contain the </a:t>
            </a:r>
            <a:r>
              <a:rPr lang="en-US" sz="2400" dirty="0">
                <a:solidFill>
                  <a:srgbClr val="FF0000"/>
                </a:solidFill>
              </a:rPr>
              <a:t>same Identification value.</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solidFill>
                  <a:srgbClr val="FF0000"/>
                </a:solidFill>
              </a:rPr>
              <a:t>two 1-bit fields: </a:t>
            </a:r>
            <a:r>
              <a:rPr lang="en-US" sz="2400" b="1" dirty="0">
                <a:solidFill>
                  <a:srgbClr val="FF0000"/>
                </a:solidFill>
              </a:rPr>
              <a:t>DF &amp; MF</a:t>
            </a:r>
          </a:p>
          <a:p>
            <a:pPr marL="609600" indent="-609600" algn="just">
              <a:spcBef>
                <a:spcPct val="20000"/>
              </a:spcBef>
              <a:buClr>
                <a:schemeClr val="accent2"/>
              </a:buClr>
              <a:buFont typeface="Wingdings" pitchFamily="2" charset="2"/>
              <a:buChar char="§"/>
            </a:pPr>
            <a:r>
              <a:rPr lang="en-US" sz="2400" dirty="0">
                <a:solidFill>
                  <a:srgbClr val="FF0000"/>
                </a:solidFill>
              </a:rPr>
              <a:t>DF</a:t>
            </a:r>
            <a:r>
              <a:rPr lang="en-US" sz="2400" dirty="0"/>
              <a:t> stands for </a:t>
            </a:r>
            <a:r>
              <a:rPr lang="en-US" sz="2400" dirty="0">
                <a:solidFill>
                  <a:srgbClr val="FF0000"/>
                </a:solidFill>
              </a:rPr>
              <a:t>Don't Fragment. </a:t>
            </a:r>
          </a:p>
          <a:p>
            <a:pPr marL="1066800" lvl="1" indent="-609600" algn="just">
              <a:spcBef>
                <a:spcPct val="20000"/>
              </a:spcBef>
              <a:buClr>
                <a:schemeClr val="accent2"/>
              </a:buClr>
              <a:buFont typeface="Wingdings" pitchFamily="2" charset="2"/>
              <a:buChar char="§"/>
            </a:pPr>
            <a:r>
              <a:rPr lang="en-US" sz="2400" dirty="0"/>
              <a:t>It is an order to the routers not to fragment the datagram because the destination is incapable of putting the pieces back together again. </a:t>
            </a:r>
          </a:p>
          <a:p>
            <a:pPr marL="1066800" lvl="1" indent="-609600" algn="just">
              <a:spcBef>
                <a:spcPct val="20000"/>
              </a:spcBef>
              <a:buClr>
                <a:schemeClr val="accent2"/>
              </a:buClr>
              <a:buFont typeface="Wingdings" pitchFamily="2" charset="2"/>
              <a:buChar char="§"/>
            </a:pPr>
            <a:r>
              <a:rPr lang="en-US" sz="2400" dirty="0"/>
              <a:t>the datagram must avoid a small-packet network on the best path and take a suboptimal route. </a:t>
            </a:r>
          </a:p>
          <a:p>
            <a:pPr marL="609600" indent="-609600" algn="just">
              <a:spcBef>
                <a:spcPct val="20000"/>
              </a:spcBef>
              <a:buClr>
                <a:schemeClr val="accent2"/>
              </a:buClr>
              <a:buFont typeface="Wingdings" pitchFamily="2" charset="2"/>
              <a:buChar char="§"/>
            </a:pPr>
            <a:r>
              <a:rPr lang="en-US" sz="2400" dirty="0">
                <a:solidFill>
                  <a:srgbClr val="FF0000"/>
                </a:solidFill>
              </a:rPr>
              <a:t>MF</a:t>
            </a:r>
            <a:r>
              <a:rPr lang="en-US" sz="2400" dirty="0"/>
              <a:t> stands for </a:t>
            </a:r>
            <a:r>
              <a:rPr lang="en-US" sz="2400" b="1" dirty="0">
                <a:solidFill>
                  <a:srgbClr val="FF0000"/>
                </a:solidFill>
              </a:rPr>
              <a:t>More Fragments. </a:t>
            </a:r>
          </a:p>
          <a:p>
            <a:pPr marL="1066800" lvl="1" indent="-609600" algn="just">
              <a:spcBef>
                <a:spcPct val="20000"/>
              </a:spcBef>
              <a:buClr>
                <a:schemeClr val="accent2"/>
              </a:buClr>
              <a:buFont typeface="Wingdings" pitchFamily="2" charset="2"/>
              <a:buChar char="§"/>
            </a:pPr>
            <a:r>
              <a:rPr lang="en-US" sz="2400" dirty="0"/>
              <a:t>All fragments except the last one have this bit set. </a:t>
            </a:r>
          </a:p>
          <a:p>
            <a:pPr marL="1066800" lvl="1" indent="-609600" algn="just">
              <a:spcBef>
                <a:spcPct val="20000"/>
              </a:spcBef>
              <a:buClr>
                <a:schemeClr val="accent2"/>
              </a:buClr>
              <a:buFont typeface="Wingdings" pitchFamily="2" charset="2"/>
              <a:buChar char="§"/>
            </a:pPr>
            <a:r>
              <a:rPr lang="en-US" sz="2400" dirty="0"/>
              <a:t>It is needed to know </a:t>
            </a:r>
            <a:r>
              <a:rPr lang="en-US" sz="2400" dirty="0">
                <a:solidFill>
                  <a:srgbClr val="FF0000"/>
                </a:solidFill>
              </a:rPr>
              <a:t>when all fragments of a datagram have arrived </a:t>
            </a:r>
          </a:p>
          <a:p>
            <a:pPr marL="1066800" lvl="1" indent="-609600" algn="just">
              <a:spcBef>
                <a:spcPct val="20000"/>
              </a:spcBef>
              <a:buClr>
                <a:schemeClr val="accent2"/>
              </a:buClr>
              <a:buFont typeface="Wingdings" pitchFamily="2" charset="2"/>
              <a:buChar char="§"/>
            </a:pPr>
            <a:endParaRPr lang="en-US" sz="2400" kern="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endParaRPr lang="en-US" sz="2400" b="1" dirty="0">
              <a:solidFill>
                <a:srgbClr val="FF0000"/>
              </a:solidFill>
            </a:endParaRPr>
          </a:p>
          <a:p>
            <a:pPr marL="609600" indent="-609600" algn="just">
              <a:spcBef>
                <a:spcPct val="20000"/>
              </a:spcBef>
              <a:buClr>
                <a:schemeClr val="accent2"/>
              </a:buClr>
              <a:buFont typeface="Wingdings" pitchFamily="2" charset="2"/>
              <a:buChar char="§"/>
            </a:pPr>
            <a:r>
              <a:rPr lang="en-US" sz="2400" b="1" dirty="0">
                <a:solidFill>
                  <a:srgbClr val="FF0000"/>
                </a:solidFill>
              </a:rPr>
              <a:t>Fragment</a:t>
            </a:r>
            <a:r>
              <a:rPr lang="en-US" sz="2400" dirty="0">
                <a:solidFill>
                  <a:srgbClr val="FF0000"/>
                </a:solidFill>
              </a:rPr>
              <a:t> </a:t>
            </a:r>
            <a:r>
              <a:rPr lang="en-US" sz="2400" b="1" dirty="0">
                <a:solidFill>
                  <a:srgbClr val="FF0000"/>
                </a:solidFill>
              </a:rPr>
              <a:t>offset </a:t>
            </a:r>
            <a:r>
              <a:rPr lang="en-US" sz="2400" dirty="0"/>
              <a:t>field:</a:t>
            </a:r>
          </a:p>
          <a:p>
            <a:pPr marL="1066800" lvl="1" indent="-609600" algn="just">
              <a:spcBef>
                <a:spcPct val="20000"/>
              </a:spcBef>
              <a:buClr>
                <a:schemeClr val="accent2"/>
              </a:buClr>
              <a:buFont typeface="Wingdings" pitchFamily="2" charset="2"/>
              <a:buChar char="§"/>
            </a:pPr>
            <a:r>
              <a:rPr lang="en-US" sz="2400" dirty="0">
                <a:solidFill>
                  <a:srgbClr val="FF0000"/>
                </a:solidFill>
              </a:rPr>
              <a:t>tells where </a:t>
            </a:r>
            <a:r>
              <a:rPr lang="en-US" sz="2400" dirty="0"/>
              <a:t>in the current datagram </a:t>
            </a:r>
            <a:r>
              <a:rPr lang="en-US" sz="2400" dirty="0">
                <a:solidFill>
                  <a:srgbClr val="FF0000"/>
                </a:solidFill>
              </a:rPr>
              <a:t>this fragment belongs</a:t>
            </a:r>
            <a:r>
              <a:rPr lang="en-US" sz="2400" dirty="0"/>
              <a:t>. </a:t>
            </a:r>
          </a:p>
          <a:p>
            <a:pPr marL="1066800" lvl="1" indent="-609600" algn="just">
              <a:spcBef>
                <a:spcPct val="20000"/>
              </a:spcBef>
              <a:buClr>
                <a:schemeClr val="accent2"/>
              </a:buClr>
              <a:buFont typeface="Wingdings" pitchFamily="2" charset="2"/>
              <a:buChar char="§"/>
            </a:pPr>
            <a:r>
              <a:rPr lang="en-US" sz="2400" dirty="0"/>
              <a:t>All fragments except the last one in a datagram must be a </a:t>
            </a:r>
            <a:r>
              <a:rPr lang="en-US" sz="2400" dirty="0">
                <a:solidFill>
                  <a:srgbClr val="FF0000"/>
                </a:solidFill>
              </a:rPr>
              <a:t>multiple of 8 bytes</a:t>
            </a:r>
            <a:r>
              <a:rPr lang="en-US" sz="2400" dirty="0"/>
              <a:t>, the elementary fragment unit. </a:t>
            </a:r>
          </a:p>
          <a:p>
            <a:pPr marL="609600" indent="-609600" algn="just">
              <a:spcBef>
                <a:spcPct val="20000"/>
              </a:spcBef>
              <a:buClr>
                <a:schemeClr val="accent2"/>
              </a:buClr>
              <a:buFont typeface="Wingdings" pitchFamily="2" charset="2"/>
              <a:buChar char="§"/>
            </a:pPr>
            <a:endParaRPr lang="en-US" sz="2400" b="1" dirty="0">
              <a:solidFill>
                <a:srgbClr val="FF0000"/>
              </a:solidFill>
            </a:endParaRPr>
          </a:p>
          <a:p>
            <a:pPr marL="609600" indent="-609600" algn="just">
              <a:spcBef>
                <a:spcPct val="20000"/>
              </a:spcBef>
              <a:buClr>
                <a:schemeClr val="accent2"/>
              </a:buClr>
              <a:buFont typeface="Wingdings" pitchFamily="2" charset="2"/>
              <a:buChar char="§"/>
            </a:pPr>
            <a:r>
              <a:rPr lang="en-US" sz="2400" b="1" dirty="0">
                <a:solidFill>
                  <a:srgbClr val="FF0000"/>
                </a:solidFill>
              </a:rPr>
              <a:t>Time to live </a:t>
            </a:r>
            <a:r>
              <a:rPr lang="en-US" sz="2400" dirty="0"/>
              <a:t>field </a:t>
            </a:r>
          </a:p>
          <a:p>
            <a:pPr marL="1066800" lvl="1" indent="-609600" algn="just">
              <a:spcBef>
                <a:spcPct val="20000"/>
              </a:spcBef>
              <a:buClr>
                <a:schemeClr val="accent2"/>
              </a:buClr>
              <a:buFont typeface="Wingdings" pitchFamily="2" charset="2"/>
              <a:buChar char="§"/>
            </a:pPr>
            <a:r>
              <a:rPr lang="en-US" sz="2400" dirty="0"/>
              <a:t>counter used to limit packet lifetimes. </a:t>
            </a:r>
          </a:p>
          <a:p>
            <a:pPr marL="1066800" lvl="1" indent="-609600" algn="just">
              <a:spcBef>
                <a:spcPct val="20000"/>
              </a:spcBef>
              <a:buClr>
                <a:schemeClr val="accent2"/>
              </a:buClr>
              <a:buFont typeface="Wingdings" pitchFamily="2" charset="2"/>
              <a:buChar char="§"/>
            </a:pPr>
            <a:r>
              <a:rPr lang="en-US" sz="2400" dirty="0"/>
              <a:t>It is supposed to </a:t>
            </a:r>
            <a:r>
              <a:rPr lang="en-US" sz="2400" dirty="0">
                <a:solidFill>
                  <a:srgbClr val="FF0000"/>
                </a:solidFill>
              </a:rPr>
              <a:t>count time in seconds</a:t>
            </a:r>
            <a:r>
              <a:rPr lang="en-US" sz="2400" dirty="0"/>
              <a:t>, allowing a </a:t>
            </a:r>
            <a:r>
              <a:rPr lang="en-US" sz="2400" dirty="0">
                <a:solidFill>
                  <a:srgbClr val="FF0000"/>
                </a:solidFill>
              </a:rPr>
              <a:t>maximum lifetime of </a:t>
            </a:r>
            <a:r>
              <a:rPr lang="en-US" sz="2400" b="1" dirty="0">
                <a:solidFill>
                  <a:srgbClr val="FF0000"/>
                </a:solidFill>
              </a:rPr>
              <a:t>255 sec</a:t>
            </a:r>
            <a:r>
              <a:rPr lang="en-US" sz="2400" dirty="0">
                <a:solidFill>
                  <a:srgbClr val="FF0000"/>
                </a:solidFill>
              </a:rPr>
              <a:t>. </a:t>
            </a:r>
          </a:p>
          <a:p>
            <a:pPr marL="1066800" lvl="1" indent="-609600" algn="just">
              <a:spcBef>
                <a:spcPct val="20000"/>
              </a:spcBef>
              <a:buClr>
                <a:schemeClr val="accent2"/>
              </a:buClr>
              <a:buFont typeface="Wingdings" pitchFamily="2" charset="2"/>
              <a:buChar char="§"/>
            </a:pPr>
            <a:r>
              <a:rPr lang="en-US" sz="2400" dirty="0"/>
              <a:t>It must be </a:t>
            </a:r>
            <a:r>
              <a:rPr lang="en-US" sz="2400" dirty="0">
                <a:solidFill>
                  <a:srgbClr val="FF0000"/>
                </a:solidFill>
              </a:rPr>
              <a:t>decremented on each hop </a:t>
            </a:r>
          </a:p>
          <a:p>
            <a:pPr marL="1066800" lvl="1" indent="-609600" algn="just">
              <a:spcBef>
                <a:spcPct val="20000"/>
              </a:spcBef>
              <a:buClr>
                <a:schemeClr val="accent2"/>
              </a:buClr>
              <a:buFont typeface="Wingdings" pitchFamily="2" charset="2"/>
              <a:buChar char="§"/>
            </a:pPr>
            <a:r>
              <a:rPr lang="en-US" sz="2400" dirty="0"/>
              <a:t>It is supposed to be </a:t>
            </a:r>
            <a:r>
              <a:rPr lang="en-US" sz="2400" dirty="0">
                <a:solidFill>
                  <a:srgbClr val="FF0000"/>
                </a:solidFill>
              </a:rPr>
              <a:t>decremented multiple times when queued for a long time in a router.</a:t>
            </a:r>
            <a:r>
              <a:rPr lang="en-US" sz="2400" dirty="0"/>
              <a:t> </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t>In practice, it just </a:t>
            </a:r>
            <a:r>
              <a:rPr lang="en-US" sz="2400" dirty="0">
                <a:solidFill>
                  <a:srgbClr val="FF0000"/>
                </a:solidFill>
              </a:rPr>
              <a:t>counts hops</a:t>
            </a:r>
            <a:r>
              <a:rPr lang="en-US" sz="2400" dirty="0"/>
              <a:t>. </a:t>
            </a:r>
          </a:p>
          <a:p>
            <a:pPr marL="1066800" lvl="1" indent="-609600" algn="just">
              <a:spcBef>
                <a:spcPct val="20000"/>
              </a:spcBef>
              <a:buClr>
                <a:schemeClr val="accent2"/>
              </a:buClr>
              <a:buFont typeface="Wingdings" pitchFamily="2" charset="2"/>
              <a:buChar char="§"/>
            </a:pPr>
            <a:r>
              <a:rPr lang="en-US" sz="2400" dirty="0"/>
              <a:t>When it </a:t>
            </a:r>
            <a:r>
              <a:rPr lang="en-US" sz="2400" dirty="0">
                <a:solidFill>
                  <a:srgbClr val="FF0000"/>
                </a:solidFill>
              </a:rPr>
              <a:t>hits zero</a:t>
            </a:r>
            <a:r>
              <a:rPr lang="en-US" sz="2400" dirty="0"/>
              <a:t>, the </a:t>
            </a:r>
            <a:r>
              <a:rPr lang="en-US" sz="2400" dirty="0">
                <a:solidFill>
                  <a:srgbClr val="FF0000"/>
                </a:solidFill>
              </a:rPr>
              <a:t>packet is discarded </a:t>
            </a:r>
            <a:r>
              <a:rPr lang="en-US" sz="2400" dirty="0"/>
              <a:t>and a </a:t>
            </a:r>
            <a:r>
              <a:rPr lang="en-US" sz="2400" dirty="0">
                <a:solidFill>
                  <a:srgbClr val="FF0000"/>
                </a:solidFill>
              </a:rPr>
              <a:t>warning packet is sent back to the source host. </a:t>
            </a:r>
          </a:p>
          <a:p>
            <a:pPr marL="1066800" lvl="1" indent="-609600" algn="just">
              <a:spcBef>
                <a:spcPct val="20000"/>
              </a:spcBef>
              <a:buClr>
                <a:schemeClr val="accent2"/>
              </a:buClr>
              <a:buFont typeface="Wingdings" pitchFamily="2" charset="2"/>
              <a:buChar char="§"/>
            </a:pPr>
            <a:r>
              <a:rPr lang="en-US" sz="2400" dirty="0"/>
              <a:t>This feature prevents datagrams from wandering around forever</a:t>
            </a:r>
          </a:p>
          <a:p>
            <a:pPr marL="609600" indent="-609600" algn="just">
              <a:spcBef>
                <a:spcPct val="20000"/>
              </a:spcBef>
              <a:buClr>
                <a:schemeClr val="accent2"/>
              </a:buClr>
              <a:buFont typeface="Wingdings" pitchFamily="2" charset="2"/>
              <a:buChar char="§"/>
            </a:pPr>
            <a:r>
              <a:rPr lang="en-US" sz="2400" b="1" dirty="0">
                <a:solidFill>
                  <a:srgbClr val="FF0000"/>
                </a:solidFill>
              </a:rPr>
              <a:t>Protocol</a:t>
            </a:r>
            <a:r>
              <a:rPr lang="en-US" sz="2400" dirty="0"/>
              <a:t> field </a:t>
            </a:r>
          </a:p>
          <a:p>
            <a:pPr marL="1066800" lvl="1" indent="-609600" algn="just">
              <a:spcBef>
                <a:spcPct val="20000"/>
              </a:spcBef>
              <a:buClr>
                <a:schemeClr val="accent2"/>
              </a:buClr>
              <a:buFont typeface="Wingdings" pitchFamily="2" charset="2"/>
              <a:buChar char="§"/>
            </a:pPr>
            <a:r>
              <a:rPr lang="en-US" sz="2400" dirty="0"/>
              <a:t>tells it which transport process to give it to. </a:t>
            </a:r>
          </a:p>
          <a:p>
            <a:pPr marL="1066800" lvl="1" indent="-609600" algn="just">
              <a:spcBef>
                <a:spcPct val="20000"/>
              </a:spcBef>
              <a:buClr>
                <a:schemeClr val="accent2"/>
              </a:buClr>
              <a:buFont typeface="Wingdings" pitchFamily="2" charset="2"/>
              <a:buChar char="§"/>
            </a:pPr>
            <a:r>
              <a:rPr lang="en-US" sz="2400" dirty="0"/>
              <a:t>Possibilities are TCP, UDP and some others. </a:t>
            </a:r>
          </a:p>
          <a:p>
            <a:pPr marL="1066800" lvl="1" indent="-609600" algn="just">
              <a:spcBef>
                <a:spcPct val="20000"/>
              </a:spcBef>
              <a:buClr>
                <a:schemeClr val="accent2"/>
              </a:buClr>
              <a:buFont typeface="Wingdings" pitchFamily="2" charset="2"/>
              <a:buChar char="§"/>
            </a:pPr>
            <a:r>
              <a:rPr lang="en-US" sz="2400" dirty="0"/>
              <a:t>The numbering of protocols is global across the entire Internet. </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Header checksum </a:t>
            </a:r>
            <a:r>
              <a:rPr lang="en-US" sz="2400" dirty="0"/>
              <a:t>field </a:t>
            </a:r>
          </a:p>
          <a:p>
            <a:pPr marL="1066800" lvl="1" indent="-609600" algn="just">
              <a:spcBef>
                <a:spcPct val="20000"/>
              </a:spcBef>
              <a:buClr>
                <a:schemeClr val="accent2"/>
              </a:buClr>
              <a:buFont typeface="Wingdings" pitchFamily="2" charset="2"/>
              <a:buChar char="§"/>
            </a:pPr>
            <a:r>
              <a:rPr lang="en-US" sz="2400" dirty="0">
                <a:solidFill>
                  <a:srgbClr val="FF0000"/>
                </a:solidFill>
              </a:rPr>
              <a:t>verifies the header </a:t>
            </a:r>
            <a:r>
              <a:rPr lang="en-US" sz="2400" dirty="0"/>
              <a:t>only. </a:t>
            </a:r>
          </a:p>
          <a:p>
            <a:pPr marL="1066800" lvl="1" indent="-609600" algn="just">
              <a:spcBef>
                <a:spcPct val="20000"/>
              </a:spcBef>
              <a:buClr>
                <a:schemeClr val="accent2"/>
              </a:buClr>
              <a:buFont typeface="Wingdings" pitchFamily="2" charset="2"/>
              <a:buChar char="§"/>
            </a:pPr>
            <a:r>
              <a:rPr lang="en-US" sz="2400" dirty="0"/>
              <a:t>Such a checksum is useful for </a:t>
            </a:r>
            <a:r>
              <a:rPr lang="en-US" sz="2400" dirty="0">
                <a:solidFill>
                  <a:srgbClr val="FF0000"/>
                </a:solidFill>
              </a:rPr>
              <a:t>detecting errors</a:t>
            </a:r>
            <a:r>
              <a:rPr lang="en-US" sz="2400" dirty="0"/>
              <a:t> generated by bad memory words inside a router. </a:t>
            </a:r>
          </a:p>
          <a:p>
            <a:pPr marL="1066800" lvl="1" indent="-609600" algn="just">
              <a:spcBef>
                <a:spcPct val="20000"/>
              </a:spcBef>
              <a:buClr>
                <a:schemeClr val="accent2"/>
              </a:buClr>
              <a:buFont typeface="Wingdings" pitchFamily="2" charset="2"/>
              <a:buChar char="§"/>
            </a:pPr>
            <a:r>
              <a:rPr lang="en-US" sz="2400" dirty="0"/>
              <a:t>The algorithm is to </a:t>
            </a:r>
            <a:r>
              <a:rPr lang="en-US" sz="2400" dirty="0">
                <a:solidFill>
                  <a:srgbClr val="FF0000"/>
                </a:solidFill>
              </a:rPr>
              <a:t>add up all the 16-bit halfwords as they arrive, using one's complement arithmetic</a:t>
            </a:r>
            <a:r>
              <a:rPr lang="en-US" sz="2400" dirty="0"/>
              <a:t> and then take the </a:t>
            </a:r>
            <a:r>
              <a:rPr lang="en-US" sz="2400" dirty="0">
                <a:solidFill>
                  <a:srgbClr val="FF0000"/>
                </a:solidFill>
              </a:rPr>
              <a:t>one's complement of the result</a:t>
            </a:r>
            <a:r>
              <a:rPr lang="en-US" sz="2400" dirty="0"/>
              <a:t>. </a:t>
            </a:r>
          </a:p>
          <a:p>
            <a:pPr marL="1066800" lvl="1" indent="-609600" algn="just">
              <a:spcBef>
                <a:spcPct val="20000"/>
              </a:spcBef>
              <a:buClr>
                <a:schemeClr val="accent2"/>
              </a:buClr>
              <a:buFont typeface="Wingdings" pitchFamily="2" charset="2"/>
              <a:buChar char="§"/>
            </a:pPr>
            <a:r>
              <a:rPr lang="en-US" sz="2400" dirty="0"/>
              <a:t>This algorithm is more robust than using a normal add. </a:t>
            </a:r>
          </a:p>
          <a:p>
            <a:pPr marL="1066800" lvl="1" indent="-609600" algn="just">
              <a:spcBef>
                <a:spcPct val="20000"/>
              </a:spcBef>
              <a:buClr>
                <a:schemeClr val="accent2"/>
              </a:buClr>
              <a:buFont typeface="Wingdings" pitchFamily="2" charset="2"/>
              <a:buChar char="§"/>
            </a:pPr>
            <a:r>
              <a:rPr lang="en-US" sz="2400" dirty="0"/>
              <a:t>Note that the </a:t>
            </a:r>
            <a:r>
              <a:rPr lang="en-US" sz="2400" dirty="0">
                <a:solidFill>
                  <a:srgbClr val="FF0000"/>
                </a:solidFill>
              </a:rPr>
              <a:t>Header checksum must be recomputed at each hop </a:t>
            </a:r>
            <a:r>
              <a:rPr lang="en-US" sz="2400" dirty="0"/>
              <a:t>because at least one field (the Time to live field) always changes</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Source address and Destination address </a:t>
            </a:r>
          </a:p>
          <a:p>
            <a:pPr marL="1066800" lvl="1" indent="-609600" algn="just">
              <a:spcBef>
                <a:spcPct val="20000"/>
              </a:spcBef>
              <a:buClr>
                <a:schemeClr val="accent2"/>
              </a:buClr>
              <a:buFont typeface="Wingdings" pitchFamily="2" charset="2"/>
              <a:buChar char="§"/>
            </a:pPr>
            <a:r>
              <a:rPr lang="en-US" sz="2400" dirty="0"/>
              <a:t>indicate the </a:t>
            </a:r>
            <a:r>
              <a:rPr lang="en-US" sz="2400" dirty="0">
                <a:solidFill>
                  <a:srgbClr val="FF0000"/>
                </a:solidFill>
              </a:rPr>
              <a:t>network number </a:t>
            </a:r>
            <a:r>
              <a:rPr lang="en-US" sz="2400" dirty="0"/>
              <a:t>and </a:t>
            </a:r>
            <a:r>
              <a:rPr lang="en-US" sz="2400" dirty="0">
                <a:solidFill>
                  <a:srgbClr val="FF0000"/>
                </a:solidFill>
              </a:rPr>
              <a:t>host number.</a:t>
            </a:r>
          </a:p>
          <a:p>
            <a:pPr marL="1066800" lvl="1" indent="-609600" algn="just">
              <a:spcBef>
                <a:spcPct val="20000"/>
              </a:spcBef>
              <a:buClr>
                <a:schemeClr val="accent2"/>
              </a:buClr>
              <a:buFont typeface="Wingdings" pitchFamily="2" charset="2"/>
              <a:buChar char="§"/>
            </a:pPr>
            <a:r>
              <a:rPr lang="en-US" sz="2400" dirty="0"/>
              <a:t>Discussed in detail in IP addressing</a:t>
            </a:r>
          </a:p>
          <a:p>
            <a:pPr marL="609600" indent="-609600" algn="just">
              <a:spcBef>
                <a:spcPct val="20000"/>
              </a:spcBef>
              <a:buClr>
                <a:schemeClr val="accent2"/>
              </a:buClr>
              <a:buFont typeface="Wingdings" pitchFamily="2" charset="2"/>
              <a:buChar char="§"/>
            </a:pPr>
            <a:r>
              <a:rPr lang="en-US" sz="2400" b="1" dirty="0">
                <a:solidFill>
                  <a:srgbClr val="FF0000"/>
                </a:solidFill>
              </a:rPr>
              <a:t>Options</a:t>
            </a:r>
            <a:r>
              <a:rPr lang="en-US" sz="2400" dirty="0"/>
              <a:t> field </a:t>
            </a:r>
          </a:p>
          <a:p>
            <a:pPr marL="1066800" lvl="1" indent="-609600" algn="just">
              <a:spcBef>
                <a:spcPct val="20000"/>
              </a:spcBef>
              <a:buClr>
                <a:schemeClr val="accent2"/>
              </a:buClr>
              <a:buFont typeface="Wingdings" pitchFamily="2" charset="2"/>
              <a:buChar char="§"/>
            </a:pPr>
            <a:r>
              <a:rPr lang="en-US" sz="2400" dirty="0"/>
              <a:t>was designed to provide an escape to allow subsequent versions of the protocol </a:t>
            </a:r>
          </a:p>
          <a:p>
            <a:pPr marL="1524000" lvl="2" indent="-609600" algn="just">
              <a:spcBef>
                <a:spcPct val="20000"/>
              </a:spcBef>
              <a:buClr>
                <a:schemeClr val="accent2"/>
              </a:buClr>
              <a:buFont typeface="Wingdings" pitchFamily="2" charset="2"/>
              <a:buChar char="§"/>
            </a:pPr>
            <a:r>
              <a:rPr lang="en-US" sz="2400" dirty="0"/>
              <a:t>to include </a:t>
            </a:r>
            <a:r>
              <a:rPr lang="en-US" sz="2400" dirty="0">
                <a:solidFill>
                  <a:srgbClr val="FF0000"/>
                </a:solidFill>
              </a:rPr>
              <a:t>information not present </a:t>
            </a:r>
            <a:r>
              <a:rPr lang="en-US" sz="2400" dirty="0"/>
              <a:t>in the original design, </a:t>
            </a:r>
          </a:p>
          <a:p>
            <a:pPr marL="1524000" lvl="2" indent="-609600" algn="just">
              <a:spcBef>
                <a:spcPct val="20000"/>
              </a:spcBef>
              <a:buClr>
                <a:schemeClr val="accent2"/>
              </a:buClr>
              <a:buFont typeface="Wingdings" pitchFamily="2" charset="2"/>
              <a:buChar char="§"/>
            </a:pPr>
            <a:r>
              <a:rPr lang="en-US" sz="2400" dirty="0"/>
              <a:t>to permit experimenters to try out </a:t>
            </a:r>
            <a:r>
              <a:rPr lang="en-US" sz="2400" dirty="0">
                <a:solidFill>
                  <a:srgbClr val="FF0000"/>
                </a:solidFill>
              </a:rPr>
              <a:t>new ideas</a:t>
            </a:r>
            <a:r>
              <a:rPr lang="en-US" sz="2400" dirty="0"/>
              <a:t>, and </a:t>
            </a:r>
          </a:p>
          <a:p>
            <a:pPr marL="1524000" lvl="2" indent="-609600" algn="just">
              <a:spcBef>
                <a:spcPct val="20000"/>
              </a:spcBef>
              <a:buClr>
                <a:schemeClr val="accent2"/>
              </a:buClr>
              <a:buFont typeface="Wingdings" pitchFamily="2" charset="2"/>
              <a:buChar char="§"/>
            </a:pPr>
            <a:r>
              <a:rPr lang="en-US" sz="2400" dirty="0"/>
              <a:t>to avoid allocating header bits to information that is </a:t>
            </a:r>
            <a:r>
              <a:rPr lang="en-US" sz="2400" dirty="0">
                <a:solidFill>
                  <a:srgbClr val="FF0000"/>
                </a:solidFill>
              </a:rPr>
              <a:t>rarely needed</a:t>
            </a:r>
            <a:r>
              <a:rPr lang="en-US" sz="2400" dirty="0"/>
              <a:t>. </a:t>
            </a:r>
          </a:p>
          <a:p>
            <a:pPr marL="1066800" lvl="1" indent="-609600" algn="just">
              <a:spcBef>
                <a:spcPct val="20000"/>
              </a:spcBef>
              <a:buClr>
                <a:schemeClr val="accent2"/>
              </a:buClr>
              <a:buFont typeface="Wingdings" pitchFamily="2" charset="2"/>
              <a:buChar char="§"/>
            </a:pPr>
            <a:r>
              <a:rPr lang="en-US" sz="2400" dirty="0"/>
              <a:t>The options are variable length.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24000" y="74951"/>
            <a:ext cx="9144000" cy="704543"/>
          </a:xfrm>
        </p:spPr>
        <p:txBody>
          <a:bodyPr/>
          <a:lstStyle/>
          <a:p>
            <a:r>
              <a:rPr lang="en-US" dirty="0"/>
              <a:t>The IP Protocol</a:t>
            </a:r>
          </a:p>
        </p:txBody>
      </p:sp>
      <p:sp>
        <p:nvSpPr>
          <p:cNvPr id="5"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t>Each </a:t>
            </a:r>
            <a:r>
              <a:rPr lang="en-US" sz="2400" dirty="0">
                <a:solidFill>
                  <a:srgbClr val="FF0000"/>
                </a:solidFill>
              </a:rPr>
              <a:t>begins with a 1-byte code identifying the option. </a:t>
            </a:r>
          </a:p>
          <a:p>
            <a:pPr marL="1066800" lvl="1" indent="-609600" algn="just">
              <a:spcBef>
                <a:spcPct val="20000"/>
              </a:spcBef>
              <a:buClr>
                <a:schemeClr val="accent2"/>
              </a:buClr>
              <a:buFont typeface="Wingdings" pitchFamily="2" charset="2"/>
              <a:buChar char="§"/>
            </a:pPr>
            <a:r>
              <a:rPr lang="en-US" sz="2400" dirty="0"/>
              <a:t>Some options are followed by a 1-byte option length field, and then one or more data bytes. </a:t>
            </a:r>
          </a:p>
          <a:p>
            <a:pPr marL="1066800" lvl="1" indent="-609600" algn="just">
              <a:spcBef>
                <a:spcPct val="20000"/>
              </a:spcBef>
              <a:buClr>
                <a:schemeClr val="accent2"/>
              </a:buClr>
              <a:buFont typeface="Wingdings" pitchFamily="2" charset="2"/>
              <a:buChar char="§"/>
            </a:pPr>
            <a:r>
              <a:rPr lang="en-US" sz="2400" dirty="0"/>
              <a:t>The Options field is padded out to a </a:t>
            </a:r>
            <a:r>
              <a:rPr lang="en-US" sz="2400" dirty="0">
                <a:solidFill>
                  <a:srgbClr val="FF0000"/>
                </a:solidFill>
              </a:rPr>
              <a:t>multiple of four bytes</a:t>
            </a:r>
            <a:r>
              <a:rPr lang="en-US" sz="2400" dirty="0"/>
              <a:t>. </a:t>
            </a:r>
          </a:p>
          <a:p>
            <a:pPr marL="1066800" lvl="1" indent="-609600" algn="just">
              <a:spcBef>
                <a:spcPct val="20000"/>
              </a:spcBef>
              <a:buClr>
                <a:schemeClr val="accent2"/>
              </a:buClr>
              <a:buFont typeface="Wingdings" pitchFamily="2" charset="2"/>
              <a:buChar char="§"/>
            </a:pPr>
            <a:r>
              <a:rPr lang="en-US" sz="2400" dirty="0"/>
              <a:t>Originally, five options were defined  	</a:t>
            </a:r>
          </a:p>
        </p:txBody>
      </p:sp>
      <p:pic>
        <p:nvPicPr>
          <p:cNvPr id="4" name="Picture 5" descr="5-54"/>
          <p:cNvPicPr>
            <a:picLocks noChangeAspect="1" noChangeArrowheads="1"/>
          </p:cNvPicPr>
          <p:nvPr/>
        </p:nvPicPr>
        <p:blipFill>
          <a:blip r:embed="rId3" cstate="print"/>
          <a:srcRect/>
          <a:stretch>
            <a:fillRect/>
          </a:stretch>
        </p:blipFill>
        <p:spPr bwMode="auto">
          <a:xfrm>
            <a:off x="1935515" y="2965980"/>
            <a:ext cx="8216900" cy="2757487"/>
          </a:xfrm>
          <a:prstGeom prst="rect">
            <a:avLst/>
          </a:prstGeom>
          <a:noFill/>
        </p:spPr>
      </p:pic>
      <p:sp>
        <p:nvSpPr>
          <p:cNvPr id="7" name="Rectangle 3"/>
          <p:cNvSpPr txBox="1">
            <a:spLocks noChangeArrowheads="1"/>
          </p:cNvSpPr>
          <p:nvPr/>
        </p:nvSpPr>
        <p:spPr bwMode="auto">
          <a:xfrm>
            <a:off x="1518354" y="5991580"/>
            <a:ext cx="9144000" cy="54468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ctr" fontAlgn="base">
              <a:spcBef>
                <a:spcPct val="20000"/>
              </a:spcBef>
              <a:spcAft>
                <a:spcPct val="0"/>
              </a:spcAft>
              <a:buClr>
                <a:schemeClr val="accent2"/>
              </a:buClr>
              <a:defRPr/>
            </a:pPr>
            <a:r>
              <a:rPr lang="en-US" sz="2400" kern="0" dirty="0"/>
              <a:t>Some of the IP options.</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The IP Protocol</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Security</a:t>
            </a:r>
            <a:r>
              <a:rPr lang="en-US" sz="2400" dirty="0"/>
              <a:t> option tells how secret the information is. </a:t>
            </a:r>
          </a:p>
          <a:p>
            <a:pPr marL="1066800" lvl="1" indent="-609600" algn="just">
              <a:spcBef>
                <a:spcPct val="20000"/>
              </a:spcBef>
              <a:buClr>
                <a:schemeClr val="accent2"/>
              </a:buClr>
              <a:buFont typeface="Wingdings" pitchFamily="2" charset="2"/>
              <a:buChar char="§"/>
            </a:pPr>
            <a:r>
              <a:rPr lang="en-US" sz="2400" dirty="0"/>
              <a:t>In theory, a military router might use this field to specify not to route through certain countries the military considers to be ''bad guys.'' </a:t>
            </a:r>
          </a:p>
          <a:p>
            <a:pPr marL="1066800" lvl="1" indent="-609600" algn="just">
              <a:spcBef>
                <a:spcPct val="20000"/>
              </a:spcBef>
              <a:buClr>
                <a:schemeClr val="accent2"/>
              </a:buClr>
              <a:buFont typeface="Wingdings" pitchFamily="2" charset="2"/>
              <a:buChar char="§"/>
            </a:pPr>
            <a:r>
              <a:rPr lang="en-US" sz="2400" dirty="0"/>
              <a:t>In practice, all routers ignore it </a:t>
            </a:r>
          </a:p>
          <a:p>
            <a:pPr marL="609600" indent="-609600" algn="just">
              <a:spcBef>
                <a:spcPct val="20000"/>
              </a:spcBef>
              <a:buClr>
                <a:schemeClr val="accent2"/>
              </a:buClr>
              <a:buFont typeface="Wingdings" pitchFamily="2" charset="2"/>
              <a:buChar char="§"/>
            </a:pPr>
            <a:r>
              <a:rPr lang="en-US" sz="2400" b="1" dirty="0">
                <a:solidFill>
                  <a:srgbClr val="FF0000"/>
                </a:solidFill>
              </a:rPr>
              <a:t>Strict</a:t>
            </a:r>
            <a:r>
              <a:rPr lang="en-US" sz="2400" b="1" dirty="0"/>
              <a:t> </a:t>
            </a:r>
            <a:r>
              <a:rPr lang="en-US" sz="2400" b="1" dirty="0">
                <a:solidFill>
                  <a:srgbClr val="FF0000"/>
                </a:solidFill>
              </a:rPr>
              <a:t>source routing </a:t>
            </a:r>
            <a:r>
              <a:rPr lang="en-US" sz="2400" dirty="0"/>
              <a:t>option </a:t>
            </a:r>
          </a:p>
          <a:p>
            <a:pPr marL="1066800" lvl="1" indent="-609600" algn="just">
              <a:spcBef>
                <a:spcPct val="20000"/>
              </a:spcBef>
              <a:buClr>
                <a:schemeClr val="accent2"/>
              </a:buClr>
              <a:buFont typeface="Wingdings" pitchFamily="2" charset="2"/>
              <a:buChar char="§"/>
            </a:pPr>
            <a:r>
              <a:rPr lang="en-US" sz="2400" dirty="0"/>
              <a:t>gives the </a:t>
            </a:r>
            <a:r>
              <a:rPr lang="en-US" sz="2400" b="1" dirty="0"/>
              <a:t>complete path from source to destination </a:t>
            </a:r>
            <a:r>
              <a:rPr lang="en-US" sz="2400" dirty="0"/>
              <a:t>as a </a:t>
            </a:r>
            <a:r>
              <a:rPr lang="en-US" sz="2400" b="1" dirty="0"/>
              <a:t>sequence of IP addresses</a:t>
            </a:r>
            <a:r>
              <a:rPr lang="en-US" sz="2400" dirty="0"/>
              <a:t>. </a:t>
            </a:r>
          </a:p>
          <a:p>
            <a:pPr marL="1066800" lvl="1" indent="-609600" algn="just">
              <a:spcBef>
                <a:spcPct val="20000"/>
              </a:spcBef>
              <a:buClr>
                <a:schemeClr val="accent2"/>
              </a:buClr>
              <a:buFont typeface="Wingdings" pitchFamily="2" charset="2"/>
              <a:buChar char="§"/>
            </a:pPr>
            <a:r>
              <a:rPr lang="en-US" sz="2400" dirty="0"/>
              <a:t>The datagram is required to follow that exact route. </a:t>
            </a:r>
          </a:p>
          <a:p>
            <a:pPr marL="1066800" lvl="1" indent="-609600" algn="just">
              <a:spcBef>
                <a:spcPct val="20000"/>
              </a:spcBef>
              <a:buClr>
                <a:schemeClr val="accent2"/>
              </a:buClr>
              <a:buFont typeface="Wingdings" pitchFamily="2" charset="2"/>
              <a:buChar char="§"/>
            </a:pPr>
            <a:r>
              <a:rPr lang="en-US" sz="2400" dirty="0"/>
              <a:t>It is most useful for system managers to </a:t>
            </a:r>
            <a:r>
              <a:rPr lang="en-US" sz="2400" dirty="0">
                <a:solidFill>
                  <a:srgbClr val="FF0000"/>
                </a:solidFill>
              </a:rPr>
              <a:t>send emergency packets</a:t>
            </a:r>
            <a:r>
              <a:rPr lang="en-US" sz="2400" dirty="0"/>
              <a:t> when the </a:t>
            </a:r>
            <a:r>
              <a:rPr lang="en-US" sz="2400" b="1" dirty="0"/>
              <a:t>routing tables are corrupted</a:t>
            </a:r>
            <a:r>
              <a:rPr lang="en-US" sz="2400" dirty="0"/>
              <a:t>, or for </a:t>
            </a:r>
            <a:r>
              <a:rPr lang="en-US" sz="2400" b="1" dirty="0"/>
              <a:t>making timing measurements. </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The IP Protocol</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Loose source routing</a:t>
            </a:r>
            <a:r>
              <a:rPr lang="en-US" sz="2400" b="1" dirty="0"/>
              <a:t> </a:t>
            </a:r>
            <a:r>
              <a:rPr lang="en-US" sz="2400" dirty="0"/>
              <a:t>option </a:t>
            </a:r>
          </a:p>
          <a:p>
            <a:pPr algn="just">
              <a:spcBef>
                <a:spcPct val="20000"/>
              </a:spcBef>
              <a:buClr>
                <a:schemeClr val="accent2"/>
              </a:buClr>
            </a:pPr>
            <a:endParaRPr lang="en-US" sz="2400" dirty="0"/>
          </a:p>
          <a:p>
            <a:pPr marL="1066800" lvl="1" indent="-609600" algn="just">
              <a:spcBef>
                <a:spcPct val="20000"/>
              </a:spcBef>
              <a:buClr>
                <a:schemeClr val="accent2"/>
              </a:buClr>
              <a:buFont typeface="Wingdings" pitchFamily="2" charset="2"/>
              <a:buChar char="§"/>
            </a:pPr>
            <a:r>
              <a:rPr lang="en-US" sz="2400" dirty="0"/>
              <a:t>requires the packet </a:t>
            </a:r>
            <a:r>
              <a:rPr lang="en-US" sz="2400" dirty="0">
                <a:solidFill>
                  <a:srgbClr val="FF0000"/>
                </a:solidFill>
              </a:rPr>
              <a:t>to traverse the list of routers specified, and in the order specified</a:t>
            </a:r>
            <a:r>
              <a:rPr lang="en-US" sz="2400" dirty="0"/>
              <a:t>, but it is allowed to pass through other routers on the way. </a:t>
            </a:r>
          </a:p>
          <a:p>
            <a:pPr marL="1066800" lvl="1" indent="-609600" algn="just">
              <a:spcBef>
                <a:spcPct val="20000"/>
              </a:spcBef>
              <a:buClr>
                <a:schemeClr val="accent2"/>
              </a:buClr>
              <a:buFont typeface="Wingdings" pitchFamily="2" charset="2"/>
              <a:buChar char="§"/>
            </a:pPr>
            <a:r>
              <a:rPr lang="en-US" sz="2400" dirty="0"/>
              <a:t>Normally, this option would </a:t>
            </a:r>
            <a:r>
              <a:rPr lang="en-US" sz="2400" dirty="0">
                <a:solidFill>
                  <a:srgbClr val="FF0000"/>
                </a:solidFill>
              </a:rPr>
              <a:t>only provide a few routers, to force a particular path. </a:t>
            </a:r>
          </a:p>
          <a:p>
            <a:pPr marL="1066800" lvl="1" indent="-609600" algn="just">
              <a:spcBef>
                <a:spcPct val="20000"/>
              </a:spcBef>
              <a:buClr>
                <a:schemeClr val="accent2"/>
              </a:buClr>
              <a:buFont typeface="Wingdings" pitchFamily="2" charset="2"/>
              <a:buChar char="§"/>
            </a:pPr>
            <a:r>
              <a:rPr lang="en-US" sz="2400" dirty="0"/>
              <a:t>For example, to force a packet to go west instead of east </a:t>
            </a:r>
          </a:p>
          <a:p>
            <a:pPr marL="1066800" lvl="1" indent="-609600" algn="just">
              <a:spcBef>
                <a:spcPct val="20000"/>
              </a:spcBef>
              <a:buClr>
                <a:schemeClr val="accent2"/>
              </a:buClr>
              <a:buFont typeface="Wingdings" pitchFamily="2" charset="2"/>
              <a:buChar char="§"/>
            </a:pPr>
            <a:r>
              <a:rPr lang="en-US" sz="2400" dirty="0"/>
              <a:t>This option is </a:t>
            </a:r>
            <a:r>
              <a:rPr lang="en-US" sz="2400" dirty="0">
                <a:solidFill>
                  <a:srgbClr val="FF0000"/>
                </a:solidFill>
              </a:rPr>
              <a:t>most useful when political or economic considerations</a:t>
            </a:r>
            <a:r>
              <a:rPr lang="en-US" sz="2400" dirty="0"/>
              <a:t> dictate passing through or avoiding certain countries. </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The IP Protocol</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Record route </a:t>
            </a:r>
            <a:r>
              <a:rPr lang="en-US" sz="2400" dirty="0"/>
              <a:t>option </a:t>
            </a:r>
          </a:p>
          <a:p>
            <a:pPr marL="1066800" lvl="1" indent="-609600" algn="just">
              <a:spcBef>
                <a:spcPct val="20000"/>
              </a:spcBef>
              <a:buClr>
                <a:schemeClr val="accent2"/>
              </a:buClr>
              <a:buFont typeface="Wingdings" pitchFamily="2" charset="2"/>
              <a:buChar char="§"/>
            </a:pPr>
            <a:r>
              <a:rPr lang="en-US" sz="2400" dirty="0"/>
              <a:t>tells the routers along the path to </a:t>
            </a:r>
            <a:r>
              <a:rPr lang="en-US" sz="2400" dirty="0">
                <a:solidFill>
                  <a:srgbClr val="FF0000"/>
                </a:solidFill>
              </a:rPr>
              <a:t>append their IP address to the option field. </a:t>
            </a:r>
          </a:p>
          <a:p>
            <a:pPr marL="1066800" lvl="1" indent="-609600" algn="just">
              <a:spcBef>
                <a:spcPct val="20000"/>
              </a:spcBef>
              <a:buClr>
                <a:schemeClr val="accent2"/>
              </a:buClr>
              <a:buFont typeface="Wingdings" pitchFamily="2" charset="2"/>
              <a:buChar char="§"/>
            </a:pPr>
            <a:r>
              <a:rPr lang="en-US" sz="2400" dirty="0"/>
              <a:t>This allows system managers to </a:t>
            </a:r>
            <a:r>
              <a:rPr lang="en-US" sz="2400" dirty="0">
                <a:solidFill>
                  <a:srgbClr val="FF0000"/>
                </a:solidFill>
              </a:rPr>
              <a:t>track down bugs in the routing algorithms </a:t>
            </a:r>
          </a:p>
          <a:p>
            <a:pPr marL="1066800" lvl="1" indent="-609600" algn="just">
              <a:spcBef>
                <a:spcPct val="20000"/>
              </a:spcBef>
              <a:buClr>
                <a:schemeClr val="accent2"/>
              </a:buClr>
              <a:buFont typeface="Wingdings" pitchFamily="2" charset="2"/>
              <a:buChar char="§"/>
            </a:pPr>
            <a:r>
              <a:rPr lang="en-US" sz="2400" dirty="0"/>
              <a:t>When the ARPANET was first set up, no packet ever passed through more than 9 routers, so 40 bytes of option was ample. </a:t>
            </a:r>
          </a:p>
          <a:p>
            <a:pPr marL="1066800" lvl="1" indent="-609600" algn="just">
              <a:spcBef>
                <a:spcPct val="20000"/>
              </a:spcBef>
              <a:buClr>
                <a:schemeClr val="accent2"/>
              </a:buClr>
              <a:buFont typeface="Wingdings" pitchFamily="2" charset="2"/>
              <a:buChar char="§"/>
            </a:pPr>
            <a:r>
              <a:rPr lang="en-US" sz="2400" dirty="0"/>
              <a:t>As mentioned above, now it is too small.</a:t>
            </a:r>
          </a:p>
          <a:p>
            <a:pPr marL="609600" indent="-609600" algn="just">
              <a:spcBef>
                <a:spcPct val="20000"/>
              </a:spcBef>
              <a:buClr>
                <a:schemeClr val="accent2"/>
              </a:buClr>
              <a:buFont typeface="Wingdings" pitchFamily="2" charset="2"/>
              <a:buChar char="§"/>
            </a:pPr>
            <a:r>
              <a:rPr lang="en-US" sz="2400" b="1" dirty="0">
                <a:solidFill>
                  <a:srgbClr val="FF0000"/>
                </a:solidFill>
              </a:rPr>
              <a:t>Timestamp</a:t>
            </a:r>
            <a:r>
              <a:rPr lang="en-US" sz="2400" dirty="0"/>
              <a:t> option </a:t>
            </a:r>
          </a:p>
          <a:p>
            <a:pPr marL="1066800" lvl="1" indent="-609600" algn="just">
              <a:spcBef>
                <a:spcPct val="20000"/>
              </a:spcBef>
              <a:buClr>
                <a:schemeClr val="accent2"/>
              </a:buClr>
              <a:buFont typeface="Wingdings" pitchFamily="2" charset="2"/>
              <a:buChar char="§"/>
            </a:pPr>
            <a:r>
              <a:rPr lang="en-US" sz="2400" dirty="0"/>
              <a:t>Similar to the Record route option, </a:t>
            </a:r>
          </a:p>
          <a:p>
            <a:pPr marL="1066800" lvl="1" indent="-609600" algn="just">
              <a:spcBef>
                <a:spcPct val="20000"/>
              </a:spcBef>
              <a:buClr>
                <a:schemeClr val="accent2"/>
              </a:buClr>
              <a:buFont typeface="Wingdings" pitchFamily="2" charset="2"/>
              <a:buChar char="§"/>
            </a:pPr>
            <a:r>
              <a:rPr lang="en-US" sz="2400" dirty="0"/>
              <a:t>except that in addition to </a:t>
            </a:r>
            <a:r>
              <a:rPr lang="en-US" sz="2400" dirty="0">
                <a:solidFill>
                  <a:srgbClr val="FF0000"/>
                </a:solidFill>
              </a:rPr>
              <a:t>recording its 32-bit IP address</a:t>
            </a:r>
            <a:r>
              <a:rPr lang="en-US" sz="2400" dirty="0"/>
              <a:t>, each </a:t>
            </a:r>
            <a:r>
              <a:rPr lang="en-US" sz="2400" dirty="0">
                <a:solidFill>
                  <a:srgbClr val="FF0000"/>
                </a:solidFill>
              </a:rPr>
              <a:t>router also records a 32-bit timestamp</a:t>
            </a:r>
            <a:r>
              <a:rPr lang="en-US" sz="2400" dirty="0"/>
              <a:t>. </a:t>
            </a:r>
          </a:p>
          <a:p>
            <a:pPr marL="1066800" lvl="1" indent="-609600" algn="just">
              <a:spcBef>
                <a:spcPct val="20000"/>
              </a:spcBef>
              <a:buClr>
                <a:schemeClr val="accent2"/>
              </a:buClr>
              <a:buFont typeface="Wingdings" pitchFamily="2" charset="2"/>
              <a:buChar char="§"/>
            </a:pPr>
            <a:r>
              <a:rPr lang="en-US" sz="2400" dirty="0"/>
              <a:t>This option, too, is mostly </a:t>
            </a:r>
            <a:r>
              <a:rPr lang="en-US" sz="2400" dirty="0">
                <a:solidFill>
                  <a:srgbClr val="FF0000"/>
                </a:solidFill>
              </a:rPr>
              <a:t>for debugging routing algorithms</a:t>
            </a:r>
            <a:r>
              <a:rPr lang="en-US" sz="2400" dirty="0"/>
              <a:t>.</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latin typeface="Arial Black" panose="020B0A04020102020204" pitchFamily="34" charset="0"/>
              </a:rPr>
              <a:t>IPv6 </a:t>
            </a:r>
          </a:p>
        </p:txBody>
      </p:sp>
      <p:sp>
        <p:nvSpPr>
          <p:cNvPr id="6" name="Rectangle 3"/>
          <p:cNvSpPr txBox="1">
            <a:spLocks noChangeArrowheads="1"/>
          </p:cNvSpPr>
          <p:nvPr/>
        </p:nvSpPr>
        <p:spPr bwMode="auto">
          <a:xfrm>
            <a:off x="1523999" y="710692"/>
            <a:ext cx="9625781"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pPr>
            <a:r>
              <a:rPr lang="en-US" sz="2600" dirty="0"/>
              <a:t>Major </a:t>
            </a:r>
            <a:r>
              <a:rPr lang="en-US" sz="2600" dirty="0">
                <a:solidFill>
                  <a:srgbClr val="FF3300"/>
                </a:solidFill>
              </a:rPr>
              <a:t>goals</a:t>
            </a:r>
            <a:r>
              <a:rPr lang="en-US" sz="2600" dirty="0"/>
              <a:t> were:</a:t>
            </a:r>
          </a:p>
          <a:p>
            <a:pPr marL="541338" lvl="2" indent="-315913" algn="just"/>
            <a:r>
              <a:rPr lang="en-US" sz="2600" dirty="0"/>
              <a:t>1. Support </a:t>
            </a:r>
            <a:r>
              <a:rPr lang="en-US" sz="2600" dirty="0">
                <a:solidFill>
                  <a:srgbClr val="FF3300"/>
                </a:solidFill>
              </a:rPr>
              <a:t>billions of hosts</a:t>
            </a:r>
            <a:r>
              <a:rPr lang="en-US" sz="2600" dirty="0"/>
              <a:t>, even with inefficient address space allocation. </a:t>
            </a:r>
          </a:p>
          <a:p>
            <a:pPr marL="541338" lvl="2" indent="-315913" algn="just"/>
            <a:r>
              <a:rPr lang="en-US" sz="2600" dirty="0"/>
              <a:t>2. Reduce the </a:t>
            </a:r>
            <a:r>
              <a:rPr lang="en-US" sz="2600" dirty="0">
                <a:solidFill>
                  <a:srgbClr val="FF3300"/>
                </a:solidFill>
              </a:rPr>
              <a:t>size of the routing tables</a:t>
            </a:r>
            <a:r>
              <a:rPr lang="en-US" sz="2600" dirty="0"/>
              <a:t>. </a:t>
            </a:r>
          </a:p>
          <a:p>
            <a:pPr marL="541338" lvl="2" indent="-315913" algn="just"/>
            <a:r>
              <a:rPr lang="en-US" sz="2600" dirty="0"/>
              <a:t>3. </a:t>
            </a:r>
            <a:r>
              <a:rPr lang="en-US" sz="2600" dirty="0">
                <a:solidFill>
                  <a:srgbClr val="FF3300"/>
                </a:solidFill>
              </a:rPr>
              <a:t>Simplify the protocol</a:t>
            </a:r>
            <a:r>
              <a:rPr lang="en-US" sz="2600" dirty="0"/>
              <a:t>, to allow routers to process packets faster. </a:t>
            </a:r>
          </a:p>
          <a:p>
            <a:pPr marL="541338" lvl="2" indent="-315913" algn="just"/>
            <a:r>
              <a:rPr lang="en-US" sz="2600" dirty="0"/>
              <a:t>4. Provide </a:t>
            </a:r>
            <a:r>
              <a:rPr lang="en-US" sz="2600" dirty="0">
                <a:solidFill>
                  <a:srgbClr val="FF3300"/>
                </a:solidFill>
              </a:rPr>
              <a:t>better security </a:t>
            </a:r>
            <a:r>
              <a:rPr lang="en-US" sz="2600" dirty="0"/>
              <a:t>(authentication and privacy) than 	current IP. </a:t>
            </a:r>
          </a:p>
          <a:p>
            <a:pPr marL="541338" lvl="2" indent="-315913" algn="just"/>
            <a:r>
              <a:rPr lang="en-US" sz="2600" dirty="0"/>
              <a:t>5. Pay more attention to </a:t>
            </a:r>
            <a:r>
              <a:rPr lang="en-US" sz="2600" dirty="0">
                <a:solidFill>
                  <a:srgbClr val="FF3300"/>
                </a:solidFill>
              </a:rPr>
              <a:t>type of service</a:t>
            </a:r>
            <a:r>
              <a:rPr lang="en-US" sz="2600" dirty="0"/>
              <a:t>, particularly for real-time data. </a:t>
            </a:r>
          </a:p>
          <a:p>
            <a:pPr marL="541338" lvl="2" indent="-315913" algn="just"/>
            <a:r>
              <a:rPr lang="en-US" sz="2600" dirty="0"/>
              <a:t>6. Aid </a:t>
            </a:r>
            <a:r>
              <a:rPr lang="en-US" sz="2600" dirty="0">
                <a:solidFill>
                  <a:srgbClr val="FF3300"/>
                </a:solidFill>
              </a:rPr>
              <a:t>multicasting</a:t>
            </a:r>
            <a:r>
              <a:rPr lang="en-US" sz="2600" dirty="0"/>
              <a:t> by allowing scopes to be specified. </a:t>
            </a:r>
          </a:p>
          <a:p>
            <a:pPr marL="541338" lvl="2" indent="-315913" algn="just"/>
            <a:r>
              <a:rPr lang="en-US" sz="2600" dirty="0"/>
              <a:t>7. Make it possible for a host to </a:t>
            </a:r>
            <a:r>
              <a:rPr lang="en-US" sz="2600" dirty="0">
                <a:solidFill>
                  <a:srgbClr val="FF3300"/>
                </a:solidFill>
              </a:rPr>
              <a:t>roam</a:t>
            </a:r>
            <a:r>
              <a:rPr lang="en-US" sz="2600" dirty="0"/>
              <a:t> without changing its address. </a:t>
            </a:r>
          </a:p>
          <a:p>
            <a:pPr marL="541338" lvl="2" indent="-315913" algn="just"/>
            <a:r>
              <a:rPr lang="en-US" sz="2600" dirty="0"/>
              <a:t>8. Allow the protocol to </a:t>
            </a:r>
            <a:r>
              <a:rPr lang="en-US" sz="2600" dirty="0">
                <a:solidFill>
                  <a:srgbClr val="FF3300"/>
                </a:solidFill>
              </a:rPr>
              <a:t>evolve in the future</a:t>
            </a:r>
            <a:r>
              <a:rPr lang="en-US" sz="2600" dirty="0"/>
              <a:t>.</a:t>
            </a:r>
          </a:p>
          <a:p>
            <a:pPr marL="541338" lvl="2" indent="-315913" algn="just"/>
            <a:r>
              <a:rPr lang="en-US" sz="2600" dirty="0"/>
              <a:t>9. Permit the old and new protocols to </a:t>
            </a:r>
            <a:r>
              <a:rPr lang="en-US" sz="2600" dirty="0">
                <a:solidFill>
                  <a:srgbClr val="FF3300"/>
                </a:solidFill>
              </a:rPr>
              <a:t>coexist</a:t>
            </a:r>
            <a:r>
              <a:rPr lang="en-US" sz="2600" dirty="0"/>
              <a:t> for years. </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latin typeface="Arial Black" panose="020B0A04020102020204" pitchFamily="34" charset="0"/>
              </a:rPr>
              <a:t>IPv6</a:t>
            </a:r>
            <a:r>
              <a:rPr lang="en-US" sz="3600" b="1" dirty="0"/>
              <a:t> </a:t>
            </a:r>
            <a:endParaRPr lang="en-US" sz="3600" dirty="0"/>
          </a:p>
        </p:txBody>
      </p:sp>
      <p:sp>
        <p:nvSpPr>
          <p:cNvPr id="6" name="Rectangle 3"/>
          <p:cNvSpPr txBox="1">
            <a:spLocks noChangeArrowheads="1"/>
          </p:cNvSpPr>
          <p:nvPr/>
        </p:nvSpPr>
        <p:spPr bwMode="auto">
          <a:xfrm>
            <a:off x="1524000" y="620380"/>
            <a:ext cx="9144000" cy="62376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t>IPv6 represents a big advance is in </a:t>
            </a:r>
            <a:r>
              <a:rPr lang="en-US" sz="2400" dirty="0">
                <a:solidFill>
                  <a:srgbClr val="FF3300"/>
                </a:solidFill>
              </a:rPr>
              <a:t>security</a:t>
            </a:r>
            <a:r>
              <a:rPr lang="en-US" sz="2400" dirty="0"/>
              <a:t>. </a:t>
            </a:r>
          </a:p>
          <a:p>
            <a:pPr marL="1524000" lvl="2" indent="-609600" algn="just">
              <a:spcBef>
                <a:spcPct val="20000"/>
              </a:spcBef>
              <a:buClr>
                <a:schemeClr val="accent2"/>
              </a:buClr>
              <a:buFont typeface="Wingdings" pitchFamily="2" charset="2"/>
              <a:buChar char="§"/>
            </a:pPr>
            <a:r>
              <a:rPr lang="en-US" sz="2400" b="1" u="sng" dirty="0"/>
              <a:t>Authentication and privacy </a:t>
            </a:r>
            <a:r>
              <a:rPr lang="en-US" sz="2400" dirty="0"/>
              <a:t>are key features of new IP. </a:t>
            </a:r>
          </a:p>
          <a:p>
            <a:pPr marL="1524000" lvl="2" indent="-609600" algn="just">
              <a:spcBef>
                <a:spcPct val="20000"/>
              </a:spcBef>
              <a:buClr>
                <a:schemeClr val="accent2"/>
              </a:buClr>
              <a:buFont typeface="Wingdings" pitchFamily="2" charset="2"/>
              <a:buChar char="§"/>
            </a:pPr>
            <a:r>
              <a:rPr lang="en-US" sz="2400" dirty="0"/>
              <a:t>These were later added to IPv4</a:t>
            </a:r>
          </a:p>
          <a:p>
            <a:pPr marL="1066800" lvl="1" indent="-609600" algn="just">
              <a:spcBef>
                <a:spcPct val="20000"/>
              </a:spcBef>
              <a:buClr>
                <a:schemeClr val="accent2"/>
              </a:buClr>
              <a:buFont typeface="Wingdings" pitchFamily="2" charset="2"/>
              <a:buChar char="§"/>
            </a:pPr>
            <a:r>
              <a:rPr lang="en-US" sz="2400" dirty="0"/>
              <a:t>more attention has been paid to </a:t>
            </a:r>
            <a:r>
              <a:rPr lang="en-US" sz="2400" dirty="0">
                <a:solidFill>
                  <a:srgbClr val="FF3300"/>
                </a:solidFill>
              </a:rPr>
              <a:t>quality of service</a:t>
            </a:r>
          </a:p>
          <a:p>
            <a:pPr marL="1524000" lvl="2" indent="-609600" algn="just">
              <a:spcBef>
                <a:spcPct val="20000"/>
              </a:spcBef>
              <a:buClr>
                <a:schemeClr val="accent2"/>
              </a:buClr>
              <a:buFont typeface="Wingdings" pitchFamily="2" charset="2"/>
              <a:buChar char="§"/>
            </a:pPr>
            <a:r>
              <a:rPr lang="en-US" sz="2400" dirty="0"/>
              <a:t>with the </a:t>
            </a:r>
            <a:r>
              <a:rPr lang="en-US" sz="2400" u="sng" dirty="0"/>
              <a:t>growth of multimedia</a:t>
            </a:r>
            <a:r>
              <a:rPr lang="en-US" sz="2400" dirty="0"/>
              <a:t> on the Internet, the sense of urgency is greater</a:t>
            </a:r>
          </a:p>
          <a:p>
            <a:pPr marL="609600" indent="-609600" algn="just">
              <a:spcBef>
                <a:spcPct val="20000"/>
              </a:spcBef>
              <a:buClr>
                <a:schemeClr val="accent2"/>
              </a:buClr>
              <a:buFont typeface="Wingdings" pitchFamily="2" charset="2"/>
              <a:buChar char="§"/>
            </a:pPr>
            <a:endParaRPr lang="en-US" sz="2400" dirty="0"/>
          </a:p>
          <a:p>
            <a:pPr marL="609600" indent="-609600" algn="just">
              <a:spcBef>
                <a:spcPct val="20000"/>
              </a:spcBef>
              <a:buClr>
                <a:schemeClr val="accent2"/>
              </a:buClr>
              <a:buFont typeface="Wingdings" pitchFamily="2" charset="2"/>
              <a:buChar char="§"/>
            </a:pPr>
            <a:r>
              <a:rPr lang="en-US" sz="2400" dirty="0"/>
              <a:t>Main IPv6 Header is shown in the next slide</a:t>
            </a:r>
          </a:p>
          <a:p>
            <a:pPr marL="1066800" lvl="1" indent="-609600" algn="just">
              <a:spcBef>
                <a:spcPct val="20000"/>
              </a:spcBef>
              <a:buClr>
                <a:schemeClr val="accent2"/>
              </a:buClr>
              <a:buFont typeface="Wingdings" pitchFamily="2" charset="2"/>
              <a:buChar char="§"/>
            </a:pPr>
            <a:r>
              <a:rPr lang="en-US" sz="2400" dirty="0">
                <a:solidFill>
                  <a:srgbClr val="FF0000"/>
                </a:solidFill>
              </a:rPr>
              <a:t>Version</a:t>
            </a:r>
            <a:r>
              <a:rPr lang="en-US" sz="2400" dirty="0"/>
              <a:t> field is always 6 for IPv6 (4 for IPv4 )</a:t>
            </a:r>
          </a:p>
          <a:p>
            <a:pPr marL="1524000" lvl="2" indent="-609600" algn="just">
              <a:spcBef>
                <a:spcPct val="20000"/>
              </a:spcBef>
              <a:buClr>
                <a:schemeClr val="accent2"/>
              </a:buClr>
              <a:buFont typeface="Wingdings" pitchFamily="2" charset="2"/>
              <a:buChar char="§"/>
            </a:pPr>
            <a:r>
              <a:rPr lang="en-US" sz="2400" dirty="0"/>
              <a:t>During the transition period from IPv4, router will be able to examine this field to tell what kind of packet they have  </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t>The Main IPv6 Header</a:t>
            </a:r>
          </a:p>
        </p:txBody>
      </p:sp>
      <p:sp>
        <p:nvSpPr>
          <p:cNvPr id="86019" name="Rectangle 3"/>
          <p:cNvSpPr>
            <a:spLocks noGrp="1" noChangeArrowheads="1"/>
          </p:cNvSpPr>
          <p:nvPr>
            <p:ph type="body" idx="1"/>
          </p:nvPr>
        </p:nvSpPr>
        <p:spPr>
          <a:xfrm>
            <a:off x="1524000" y="6398685"/>
            <a:ext cx="9144000" cy="419806"/>
          </a:xfrm>
        </p:spPr>
        <p:txBody>
          <a:bodyPr>
            <a:normAutofit fontScale="92500" lnSpcReduction="10000"/>
          </a:bodyPr>
          <a:lstStyle/>
          <a:p>
            <a:pPr algn="ctr">
              <a:buFontTx/>
              <a:buNone/>
            </a:pPr>
            <a:r>
              <a:rPr lang="en-US" dirty="0"/>
              <a:t>The IPv6 fixed header (required).</a:t>
            </a:r>
          </a:p>
        </p:txBody>
      </p:sp>
      <p:pic>
        <p:nvPicPr>
          <p:cNvPr id="86021" name="Picture 5" descr="5-68"/>
          <p:cNvPicPr>
            <a:picLocks noChangeAspect="1" noChangeArrowheads="1"/>
          </p:cNvPicPr>
          <p:nvPr/>
        </p:nvPicPr>
        <p:blipFill>
          <a:blip r:embed="rId2" cstate="print"/>
          <a:srcRect/>
          <a:stretch>
            <a:fillRect/>
          </a:stretch>
        </p:blipFill>
        <p:spPr bwMode="auto">
          <a:xfrm>
            <a:off x="1725084" y="818445"/>
            <a:ext cx="8784873" cy="5469466"/>
          </a:xfrm>
          <a:prstGeom prst="rect">
            <a:avLst/>
          </a:prstGeom>
          <a:noFill/>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IPv6 </a:t>
            </a:r>
            <a:endParaRPr lang="en-US" sz="3600" dirty="0"/>
          </a:p>
        </p:txBody>
      </p:sp>
      <p:sp>
        <p:nvSpPr>
          <p:cNvPr id="6" name="Rectangle 3"/>
          <p:cNvSpPr txBox="1">
            <a:spLocks noChangeArrowheads="1"/>
          </p:cNvSpPr>
          <p:nvPr/>
        </p:nvSpPr>
        <p:spPr bwMode="auto">
          <a:xfrm>
            <a:off x="1524000" y="620380"/>
            <a:ext cx="9144000" cy="62376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Traffic class</a:t>
            </a:r>
            <a:r>
              <a:rPr lang="en-US" sz="2400" b="1" dirty="0"/>
              <a:t> </a:t>
            </a:r>
            <a:r>
              <a:rPr lang="en-US" sz="2400" dirty="0"/>
              <a:t>field </a:t>
            </a:r>
          </a:p>
          <a:p>
            <a:pPr marL="1066800" lvl="1" indent="-609600" algn="just">
              <a:spcBef>
                <a:spcPct val="20000"/>
              </a:spcBef>
              <a:buClr>
                <a:schemeClr val="accent2"/>
              </a:buClr>
              <a:buFont typeface="Wingdings" pitchFamily="2" charset="2"/>
              <a:buChar char="§"/>
            </a:pPr>
            <a:r>
              <a:rPr lang="en-US" sz="2400" dirty="0"/>
              <a:t>used to </a:t>
            </a:r>
            <a:r>
              <a:rPr lang="en-US" sz="2400" dirty="0">
                <a:solidFill>
                  <a:srgbClr val="FF3300"/>
                </a:solidFill>
              </a:rPr>
              <a:t>distinguish between packets </a:t>
            </a:r>
            <a:r>
              <a:rPr lang="en-US" sz="2400" dirty="0"/>
              <a:t>with </a:t>
            </a:r>
            <a:r>
              <a:rPr lang="en-US" sz="2400" dirty="0">
                <a:solidFill>
                  <a:srgbClr val="FF0000"/>
                </a:solidFill>
              </a:rPr>
              <a:t>different real-time delivery requirements. </a:t>
            </a:r>
          </a:p>
          <a:p>
            <a:pPr marL="1066800" lvl="1" indent="-609600" algn="just">
              <a:spcBef>
                <a:spcPct val="20000"/>
              </a:spcBef>
              <a:buClr>
                <a:schemeClr val="accent2"/>
              </a:buClr>
              <a:buFont typeface="Wingdings" pitchFamily="2" charset="2"/>
              <a:buChar char="§"/>
            </a:pPr>
            <a:r>
              <a:rPr lang="en-US" sz="2400" dirty="0"/>
              <a:t>A field designed for this purpose has been in IP since the beginning, but it has been only periodically implemented by routers. </a:t>
            </a:r>
          </a:p>
          <a:p>
            <a:pPr marL="1066800" lvl="1" indent="-609600" algn="just">
              <a:spcBef>
                <a:spcPct val="20000"/>
              </a:spcBef>
              <a:buClr>
                <a:schemeClr val="accent2"/>
              </a:buClr>
              <a:buFont typeface="Wingdings" pitchFamily="2" charset="2"/>
              <a:buChar char="§"/>
            </a:pPr>
            <a:r>
              <a:rPr lang="en-US" sz="2400" dirty="0">
                <a:solidFill>
                  <a:srgbClr val="FF0000"/>
                </a:solidFill>
              </a:rPr>
              <a:t>Experiments</a:t>
            </a:r>
            <a:r>
              <a:rPr lang="en-US" sz="2400" dirty="0"/>
              <a:t> are now underway to determine how best it can be used for </a:t>
            </a:r>
            <a:r>
              <a:rPr lang="en-US" sz="2400" dirty="0">
                <a:solidFill>
                  <a:srgbClr val="FF0000"/>
                </a:solidFill>
              </a:rPr>
              <a:t>multimedia delivery</a:t>
            </a:r>
          </a:p>
          <a:p>
            <a:pPr marL="609600" indent="-609600" algn="just">
              <a:spcBef>
                <a:spcPct val="20000"/>
              </a:spcBef>
              <a:buClr>
                <a:schemeClr val="accent2"/>
              </a:buClr>
              <a:buFont typeface="Wingdings" pitchFamily="2" charset="2"/>
              <a:buChar char="§"/>
            </a:pPr>
            <a:endParaRPr lang="en-US" sz="2400" dirty="0">
              <a:solidFill>
                <a:srgbClr val="FF0000"/>
              </a:solidFill>
            </a:endParaRPr>
          </a:p>
          <a:p>
            <a:pPr marL="609600" indent="-609600" algn="just">
              <a:spcBef>
                <a:spcPct val="20000"/>
              </a:spcBef>
              <a:buClr>
                <a:schemeClr val="accent2"/>
              </a:buClr>
              <a:buFont typeface="Wingdings" pitchFamily="2" charset="2"/>
              <a:buChar char="§"/>
            </a:pPr>
            <a:r>
              <a:rPr lang="en-US" sz="2400" b="1" dirty="0">
                <a:solidFill>
                  <a:srgbClr val="FF0000"/>
                </a:solidFill>
              </a:rPr>
              <a:t>Flow label </a:t>
            </a:r>
            <a:r>
              <a:rPr lang="en-US" sz="2400" dirty="0"/>
              <a:t>field </a:t>
            </a:r>
          </a:p>
          <a:p>
            <a:pPr marL="1066800" lvl="1" indent="-609600" algn="just">
              <a:spcBef>
                <a:spcPct val="20000"/>
              </a:spcBef>
              <a:buClr>
                <a:schemeClr val="accent2"/>
              </a:buClr>
              <a:buFont typeface="Wingdings" pitchFamily="2" charset="2"/>
              <a:buChar char="§"/>
            </a:pPr>
            <a:r>
              <a:rPr lang="en-US" sz="2400" dirty="0"/>
              <a:t>also still </a:t>
            </a:r>
            <a:r>
              <a:rPr lang="en-US" sz="2400" dirty="0">
                <a:solidFill>
                  <a:srgbClr val="FF0000"/>
                </a:solidFill>
              </a:rPr>
              <a:t>experimental</a:t>
            </a:r>
            <a:r>
              <a:rPr lang="en-US" sz="2400" dirty="0"/>
              <a:t> </a:t>
            </a:r>
          </a:p>
          <a:p>
            <a:pPr marL="1066800" lvl="1" indent="-609600" algn="just">
              <a:spcBef>
                <a:spcPct val="20000"/>
              </a:spcBef>
              <a:buClr>
                <a:schemeClr val="accent2"/>
              </a:buClr>
              <a:buFont typeface="Wingdings" pitchFamily="2" charset="2"/>
              <a:buChar char="§"/>
            </a:pPr>
            <a:r>
              <a:rPr lang="en-US" sz="2400" dirty="0"/>
              <a:t>but will be used to </a:t>
            </a:r>
            <a:r>
              <a:rPr lang="en-US" sz="2400" dirty="0">
                <a:solidFill>
                  <a:srgbClr val="FF0000"/>
                </a:solidFill>
              </a:rPr>
              <a:t>allow a source and destination to set up a pseudo-connection</a:t>
            </a:r>
            <a:r>
              <a:rPr lang="en-US" sz="2400" dirty="0"/>
              <a:t> with particular properties and requirements. </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latin typeface="Arial Black" panose="020B0A04020102020204" pitchFamily="34" charset="0"/>
              </a:rPr>
              <a:t>IPv6 </a:t>
            </a:r>
            <a:endParaRPr lang="en-US" sz="3600" dirty="0">
              <a:latin typeface="Arial Black" panose="020B0A04020102020204" pitchFamily="34" charset="0"/>
            </a:endParaRPr>
          </a:p>
        </p:txBody>
      </p:sp>
      <p:sp>
        <p:nvSpPr>
          <p:cNvPr id="6" name="Rectangle 3"/>
          <p:cNvSpPr txBox="1">
            <a:spLocks noChangeArrowheads="1"/>
          </p:cNvSpPr>
          <p:nvPr/>
        </p:nvSpPr>
        <p:spPr bwMode="auto">
          <a:xfrm>
            <a:off x="1524000" y="620380"/>
            <a:ext cx="9144000" cy="62376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pPr>
            <a:endParaRPr lang="en-US" sz="2400" dirty="0">
              <a:solidFill>
                <a:srgbClr val="FF0000"/>
              </a:solidFill>
            </a:endParaRPr>
          </a:p>
          <a:p>
            <a:pPr marL="609600" indent="-609600" algn="just">
              <a:spcBef>
                <a:spcPct val="20000"/>
              </a:spcBef>
              <a:buClr>
                <a:schemeClr val="accent2"/>
              </a:buClr>
              <a:buFont typeface="Wingdings" pitchFamily="2" charset="2"/>
              <a:buChar char="§"/>
            </a:pPr>
            <a:r>
              <a:rPr lang="en-US" sz="2400" b="1" dirty="0">
                <a:solidFill>
                  <a:srgbClr val="FF0000"/>
                </a:solidFill>
              </a:rPr>
              <a:t>Payload length</a:t>
            </a:r>
            <a:r>
              <a:rPr lang="en-US" sz="2400" dirty="0">
                <a:solidFill>
                  <a:srgbClr val="FF0000"/>
                </a:solidFill>
              </a:rPr>
              <a:t> </a:t>
            </a:r>
            <a:r>
              <a:rPr lang="en-US" sz="2400" dirty="0"/>
              <a:t>field </a:t>
            </a:r>
          </a:p>
          <a:p>
            <a:pPr marL="1066800" lvl="1" indent="-609600" algn="just">
              <a:spcBef>
                <a:spcPct val="20000"/>
              </a:spcBef>
              <a:buClr>
                <a:schemeClr val="accent2"/>
              </a:buClr>
              <a:buFont typeface="Wingdings" pitchFamily="2" charset="2"/>
              <a:buChar char="§"/>
            </a:pPr>
            <a:r>
              <a:rPr lang="en-US" sz="2400" dirty="0"/>
              <a:t>tells how many bytes follow the 40-byte main header </a:t>
            </a:r>
          </a:p>
          <a:p>
            <a:pPr marL="1066800" lvl="1" indent="-609600" algn="just">
              <a:spcBef>
                <a:spcPct val="20000"/>
              </a:spcBef>
              <a:buClr>
                <a:schemeClr val="accent2"/>
              </a:buClr>
              <a:buFont typeface="Wingdings" pitchFamily="2" charset="2"/>
              <a:buChar char="§"/>
            </a:pPr>
            <a:r>
              <a:rPr lang="en-US" sz="2400" dirty="0"/>
              <a:t>The name was changed from the IPv4 Total length field because the meaning was changed slightly: </a:t>
            </a:r>
          </a:p>
          <a:p>
            <a:pPr marL="1524000" lvl="2" indent="-609600" algn="just">
              <a:spcBef>
                <a:spcPct val="20000"/>
              </a:spcBef>
              <a:buClr>
                <a:schemeClr val="accent2"/>
              </a:buClr>
              <a:buFont typeface="Wingdings" pitchFamily="2" charset="2"/>
              <a:buChar char="§"/>
            </a:pPr>
            <a:r>
              <a:rPr lang="en-US" sz="2400" dirty="0"/>
              <a:t>the </a:t>
            </a:r>
            <a:r>
              <a:rPr lang="en-US" sz="2400" dirty="0">
                <a:solidFill>
                  <a:srgbClr val="FF0000"/>
                </a:solidFill>
              </a:rPr>
              <a:t>40 header bytes are no longer counted as part of the length </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IPv6 </a:t>
            </a:r>
            <a:endParaRPr lang="en-US" sz="3600" dirty="0"/>
          </a:p>
        </p:txBody>
      </p:sp>
      <p:sp>
        <p:nvSpPr>
          <p:cNvPr id="6" name="Rectangle 3"/>
          <p:cNvSpPr txBox="1">
            <a:spLocks noChangeArrowheads="1"/>
          </p:cNvSpPr>
          <p:nvPr/>
        </p:nvSpPr>
        <p:spPr bwMode="auto">
          <a:xfrm>
            <a:off x="1524000" y="620380"/>
            <a:ext cx="9144000" cy="62376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Next header </a:t>
            </a:r>
            <a:r>
              <a:rPr lang="en-US" sz="2400" dirty="0"/>
              <a:t>field </a:t>
            </a:r>
          </a:p>
          <a:p>
            <a:pPr marL="1066800" lvl="1" indent="-609600" algn="just">
              <a:spcBef>
                <a:spcPct val="20000"/>
              </a:spcBef>
              <a:buClr>
                <a:schemeClr val="accent2"/>
              </a:buClr>
              <a:buFont typeface="Wingdings" pitchFamily="2" charset="2"/>
              <a:buChar char="§"/>
            </a:pPr>
            <a:r>
              <a:rPr lang="en-US" sz="2400" dirty="0"/>
              <a:t>there can be </a:t>
            </a:r>
            <a:r>
              <a:rPr lang="en-US" sz="2400" dirty="0">
                <a:solidFill>
                  <a:srgbClr val="FF0000"/>
                </a:solidFill>
              </a:rPr>
              <a:t>additional (optional) extension headers</a:t>
            </a:r>
            <a:r>
              <a:rPr lang="en-US" sz="2400" dirty="0"/>
              <a:t>. </a:t>
            </a:r>
          </a:p>
          <a:p>
            <a:pPr marL="1066800" lvl="1" indent="-609600" algn="just">
              <a:spcBef>
                <a:spcPct val="20000"/>
              </a:spcBef>
              <a:buClr>
                <a:schemeClr val="accent2"/>
              </a:buClr>
              <a:buFont typeface="Wingdings" pitchFamily="2" charset="2"/>
              <a:buChar char="§"/>
            </a:pPr>
            <a:r>
              <a:rPr lang="en-US" sz="2400" dirty="0"/>
              <a:t>This field tells </a:t>
            </a:r>
            <a:r>
              <a:rPr lang="en-US" sz="2400" dirty="0">
                <a:solidFill>
                  <a:srgbClr val="FF0000"/>
                </a:solidFill>
              </a:rPr>
              <a:t>which of the (currently) six extension headers follow this one. </a:t>
            </a:r>
          </a:p>
          <a:p>
            <a:pPr lvl="1" algn="just">
              <a:spcBef>
                <a:spcPct val="20000"/>
              </a:spcBef>
              <a:buClr>
                <a:schemeClr val="accent2"/>
              </a:buClr>
            </a:pPr>
            <a:endParaRPr lang="en-US" sz="2400" dirty="0">
              <a:solidFill>
                <a:srgbClr val="FF0000"/>
              </a:solidFill>
            </a:endParaRPr>
          </a:p>
          <a:p>
            <a:pPr marL="609600" indent="-609600" algn="just">
              <a:spcBef>
                <a:spcPct val="20000"/>
              </a:spcBef>
              <a:buClr>
                <a:schemeClr val="accent2"/>
              </a:buClr>
              <a:buFont typeface="Wingdings" pitchFamily="2" charset="2"/>
              <a:buChar char="§"/>
            </a:pPr>
            <a:r>
              <a:rPr lang="en-US" sz="2400" b="1" dirty="0">
                <a:solidFill>
                  <a:srgbClr val="FF0000"/>
                </a:solidFill>
              </a:rPr>
              <a:t>Hop limit </a:t>
            </a:r>
            <a:r>
              <a:rPr lang="en-US" sz="2400" dirty="0"/>
              <a:t>field </a:t>
            </a:r>
          </a:p>
          <a:p>
            <a:pPr marL="1066800" lvl="1" indent="-609600" algn="just">
              <a:spcBef>
                <a:spcPct val="20000"/>
              </a:spcBef>
              <a:buClr>
                <a:schemeClr val="accent2"/>
              </a:buClr>
              <a:buFont typeface="Wingdings" pitchFamily="2" charset="2"/>
              <a:buChar char="§"/>
            </a:pPr>
            <a:r>
              <a:rPr lang="en-US" sz="2400" dirty="0">
                <a:solidFill>
                  <a:srgbClr val="FF0000"/>
                </a:solidFill>
              </a:rPr>
              <a:t>used to keep packets from living forever</a:t>
            </a:r>
            <a:r>
              <a:rPr lang="en-US" sz="2400" dirty="0"/>
              <a:t>. </a:t>
            </a:r>
          </a:p>
          <a:p>
            <a:pPr marL="1066800" lvl="1" indent="-609600" algn="just">
              <a:spcBef>
                <a:spcPct val="20000"/>
              </a:spcBef>
              <a:buClr>
                <a:schemeClr val="accent2"/>
              </a:buClr>
              <a:buFont typeface="Wingdings" pitchFamily="2" charset="2"/>
              <a:buChar char="§"/>
            </a:pPr>
            <a:r>
              <a:rPr lang="en-US" sz="2400" dirty="0">
                <a:solidFill>
                  <a:srgbClr val="FF0000"/>
                </a:solidFill>
              </a:rPr>
              <a:t>same as the Time to live field in IPv4</a:t>
            </a:r>
            <a:r>
              <a:rPr lang="en-US" sz="2400" dirty="0"/>
              <a:t>, namely, a field that is decremented on each hop. </a:t>
            </a:r>
          </a:p>
          <a:p>
            <a:pPr marL="1066800" lvl="1" indent="-609600" algn="just">
              <a:spcBef>
                <a:spcPct val="20000"/>
              </a:spcBef>
              <a:buClr>
                <a:schemeClr val="accent2"/>
              </a:buClr>
              <a:buFont typeface="Wingdings" pitchFamily="2" charset="2"/>
              <a:buChar char="§"/>
            </a:pPr>
            <a:r>
              <a:rPr lang="en-US" sz="2400" dirty="0"/>
              <a:t>In theory, in </a:t>
            </a:r>
            <a:r>
              <a:rPr lang="en-US" sz="2400" dirty="0">
                <a:solidFill>
                  <a:srgbClr val="FF0000"/>
                </a:solidFill>
              </a:rPr>
              <a:t>IPv4 it was a time in seconds</a:t>
            </a:r>
            <a:r>
              <a:rPr lang="en-US" sz="2400" dirty="0"/>
              <a:t>, but no router used it that way</a:t>
            </a:r>
          </a:p>
          <a:p>
            <a:pPr marL="1066800" lvl="1" indent="-609600" algn="just">
              <a:spcBef>
                <a:spcPct val="20000"/>
              </a:spcBef>
              <a:buClr>
                <a:schemeClr val="accent2"/>
              </a:buClr>
              <a:buFont typeface="Wingdings" pitchFamily="2" charset="2"/>
              <a:buChar char="§"/>
            </a:pPr>
            <a:r>
              <a:rPr lang="en-US" sz="2400" dirty="0"/>
              <a:t>so the name was changed to reflect the way it is actually used</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IPv6 </a:t>
            </a:r>
            <a:endParaRPr lang="en-US" sz="3600" dirty="0"/>
          </a:p>
        </p:txBody>
      </p:sp>
      <p:sp>
        <p:nvSpPr>
          <p:cNvPr id="6" name="Rectangle 3"/>
          <p:cNvSpPr txBox="1">
            <a:spLocks noChangeArrowheads="1"/>
          </p:cNvSpPr>
          <p:nvPr/>
        </p:nvSpPr>
        <p:spPr bwMode="auto">
          <a:xfrm>
            <a:off x="1524000" y="620380"/>
            <a:ext cx="9144000" cy="62376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Source address and Destination address</a:t>
            </a:r>
            <a:r>
              <a:rPr lang="en-US" sz="2400" b="1" i="1" dirty="0"/>
              <a:t> </a:t>
            </a:r>
            <a:r>
              <a:rPr lang="en-US" sz="2400" dirty="0"/>
              <a:t>fields</a:t>
            </a:r>
          </a:p>
          <a:p>
            <a:pPr marL="1066800" lvl="1" indent="-609600" algn="just">
              <a:spcBef>
                <a:spcPct val="20000"/>
              </a:spcBef>
              <a:buClr>
                <a:schemeClr val="accent2"/>
              </a:buClr>
              <a:buFont typeface="Wingdings" pitchFamily="2" charset="2"/>
              <a:buChar char="§"/>
            </a:pPr>
            <a:r>
              <a:rPr lang="en-US" sz="2400" dirty="0">
                <a:solidFill>
                  <a:srgbClr val="FF0000"/>
                </a:solidFill>
              </a:rPr>
              <a:t>16-byte addresses </a:t>
            </a:r>
          </a:p>
          <a:p>
            <a:pPr marL="1066800" lvl="1" indent="-609600" algn="just">
              <a:spcBef>
                <a:spcPct val="20000"/>
              </a:spcBef>
              <a:buClr>
                <a:schemeClr val="accent2"/>
              </a:buClr>
              <a:buFont typeface="Wingdings" pitchFamily="2" charset="2"/>
              <a:buChar char="§"/>
            </a:pPr>
            <a:r>
              <a:rPr lang="en-US" sz="2400" dirty="0"/>
              <a:t>They are written as eight groups of four hexadecimal digits with colons between the groups </a:t>
            </a:r>
          </a:p>
          <a:p>
            <a:pPr marL="1066800" lvl="1" indent="-609600" algn="just">
              <a:spcBef>
                <a:spcPct val="20000"/>
              </a:spcBef>
              <a:buClr>
                <a:schemeClr val="accent2"/>
              </a:buClr>
            </a:pPr>
            <a:r>
              <a:rPr lang="en-US" sz="2400" dirty="0"/>
              <a:t>		8000:0000:0000:0000:0123:4567:89AB:CDEF </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IPv6 </a:t>
            </a:r>
            <a:endParaRPr lang="en-US" sz="3600" dirty="0"/>
          </a:p>
        </p:txBody>
      </p:sp>
      <p:sp>
        <p:nvSpPr>
          <p:cNvPr id="6" name="Rectangle 3"/>
          <p:cNvSpPr txBox="1">
            <a:spLocks noChangeArrowheads="1"/>
          </p:cNvSpPr>
          <p:nvPr/>
        </p:nvSpPr>
        <p:spPr bwMode="auto">
          <a:xfrm>
            <a:off x="1524000" y="620380"/>
            <a:ext cx="9144000" cy="62376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1066800" lvl="1" indent="-609600" algn="just">
              <a:spcBef>
                <a:spcPct val="20000"/>
              </a:spcBef>
              <a:buClr>
                <a:schemeClr val="accent2"/>
              </a:buClr>
              <a:buFont typeface="Wingdings" pitchFamily="2" charset="2"/>
              <a:buChar char="§"/>
            </a:pPr>
            <a:r>
              <a:rPr lang="en-US" sz="2400" dirty="0"/>
              <a:t>Since many addresses will have many zeros inside them, </a:t>
            </a:r>
            <a:r>
              <a:rPr lang="en-US" sz="2400" dirty="0">
                <a:solidFill>
                  <a:srgbClr val="FF0000"/>
                </a:solidFill>
              </a:rPr>
              <a:t>three optimizations </a:t>
            </a:r>
            <a:r>
              <a:rPr lang="en-US" sz="2400" dirty="0"/>
              <a:t>have been authorized. </a:t>
            </a:r>
          </a:p>
          <a:p>
            <a:pPr marL="1524000" lvl="2" indent="-609600" algn="just">
              <a:spcBef>
                <a:spcPct val="20000"/>
              </a:spcBef>
              <a:buClr>
                <a:schemeClr val="accent2"/>
              </a:buClr>
              <a:buFont typeface="+mj-lt"/>
              <a:buAutoNum type="arabicPeriod"/>
            </a:pPr>
            <a:r>
              <a:rPr lang="en-US" sz="2400" dirty="0">
                <a:solidFill>
                  <a:srgbClr val="FF0000"/>
                </a:solidFill>
              </a:rPr>
              <a:t>leading zeros within a group can be omitted</a:t>
            </a:r>
            <a:r>
              <a:rPr lang="en-US" sz="2400" dirty="0"/>
              <a:t>, so 0123 can be written as 123. </a:t>
            </a:r>
          </a:p>
          <a:p>
            <a:pPr marL="1524000" lvl="2" indent="-609600" algn="just">
              <a:spcBef>
                <a:spcPct val="20000"/>
              </a:spcBef>
              <a:buClr>
                <a:schemeClr val="accent2"/>
              </a:buClr>
              <a:buFont typeface="+mj-lt"/>
              <a:buAutoNum type="arabicPeriod"/>
            </a:pPr>
            <a:r>
              <a:rPr lang="en-US" sz="2400" dirty="0">
                <a:solidFill>
                  <a:srgbClr val="FF0000"/>
                </a:solidFill>
              </a:rPr>
              <a:t>one or more groups of zero bits can be replaced by a pair of colons </a:t>
            </a:r>
          </a:p>
          <a:p>
            <a:pPr marL="1524000" lvl="2" indent="-609600" algn="just">
              <a:spcBef>
                <a:spcPct val="20000"/>
              </a:spcBef>
              <a:buClr>
                <a:schemeClr val="accent2"/>
              </a:buClr>
            </a:pPr>
            <a:r>
              <a:rPr lang="en-US" sz="2400" dirty="0"/>
              <a:t>		The above address now becomes</a:t>
            </a:r>
          </a:p>
          <a:p>
            <a:pPr marL="1524000" lvl="2" indent="-609600" algn="just">
              <a:spcBef>
                <a:spcPct val="20000"/>
              </a:spcBef>
              <a:buClr>
                <a:schemeClr val="accent2"/>
              </a:buClr>
            </a:pPr>
            <a:r>
              <a:rPr lang="en-US" sz="2400" dirty="0"/>
              <a:t>			8000::123:4567:89AB:CDEF</a:t>
            </a:r>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sz="3600" b="1" dirty="0"/>
              <a:t>IPv6 </a:t>
            </a:r>
            <a:endParaRPr lang="en-US" sz="3600" dirty="0"/>
          </a:p>
        </p:txBody>
      </p:sp>
      <p:sp>
        <p:nvSpPr>
          <p:cNvPr id="6" name="Rectangle 3"/>
          <p:cNvSpPr txBox="1">
            <a:spLocks noChangeArrowheads="1"/>
          </p:cNvSpPr>
          <p:nvPr/>
        </p:nvSpPr>
        <p:spPr bwMode="auto">
          <a:xfrm>
            <a:off x="1524000" y="620380"/>
            <a:ext cx="9144000" cy="623762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dirty="0">
                <a:solidFill>
                  <a:srgbClr val="FF0000"/>
                </a:solidFill>
              </a:rPr>
              <a:t>Compare the IPv4 header with the IPv6 header</a:t>
            </a:r>
          </a:p>
          <a:p>
            <a:pPr marL="1066800" lvl="1" indent="-609600" algn="just">
              <a:spcBef>
                <a:spcPct val="20000"/>
              </a:spcBef>
              <a:buClr>
                <a:schemeClr val="accent2"/>
              </a:buClr>
              <a:buFont typeface="Wingdings" pitchFamily="2" charset="2"/>
              <a:buChar char="§"/>
            </a:pPr>
            <a:r>
              <a:rPr lang="en-US" sz="2300" dirty="0">
                <a:solidFill>
                  <a:srgbClr val="FF0000"/>
                </a:solidFill>
              </a:rPr>
              <a:t>IHL</a:t>
            </a:r>
            <a:r>
              <a:rPr lang="en-US" sz="2300" dirty="0"/>
              <a:t> field is gone because the IPv6 header has a fixed length. </a:t>
            </a:r>
          </a:p>
          <a:p>
            <a:pPr marL="1066800" lvl="1" indent="-609600" algn="just">
              <a:spcBef>
                <a:spcPct val="20000"/>
              </a:spcBef>
              <a:buClr>
                <a:schemeClr val="accent2"/>
              </a:buClr>
              <a:buFont typeface="Wingdings" pitchFamily="2" charset="2"/>
              <a:buChar char="§"/>
            </a:pPr>
            <a:r>
              <a:rPr lang="en-US" sz="2300" dirty="0">
                <a:solidFill>
                  <a:srgbClr val="FF0000"/>
                </a:solidFill>
              </a:rPr>
              <a:t>Protocol</a:t>
            </a:r>
            <a:r>
              <a:rPr lang="en-US" sz="2300" dirty="0"/>
              <a:t> field was taken out because the Next header field tells what follows the last IP header (e.g., a UDP or TCP segment). </a:t>
            </a:r>
          </a:p>
          <a:p>
            <a:pPr marL="1066800" lvl="1" indent="-609600" algn="just">
              <a:spcBef>
                <a:spcPct val="20000"/>
              </a:spcBef>
              <a:buClr>
                <a:schemeClr val="accent2"/>
              </a:buClr>
              <a:buFont typeface="Wingdings" pitchFamily="2" charset="2"/>
              <a:buChar char="§"/>
            </a:pPr>
            <a:r>
              <a:rPr lang="en-US" sz="2300" dirty="0"/>
              <a:t>All the fields relating to </a:t>
            </a:r>
            <a:r>
              <a:rPr lang="en-US" sz="2300" dirty="0">
                <a:solidFill>
                  <a:srgbClr val="FF0000"/>
                </a:solidFill>
              </a:rPr>
              <a:t>fragmentation</a:t>
            </a:r>
            <a:r>
              <a:rPr lang="en-US" sz="2300" dirty="0"/>
              <a:t> were removed because IPv6 takes a different approach to fragmentation</a:t>
            </a:r>
          </a:p>
          <a:p>
            <a:pPr marL="1524000" lvl="2" indent="-609600" algn="just">
              <a:spcBef>
                <a:spcPct val="20000"/>
              </a:spcBef>
              <a:buClr>
                <a:schemeClr val="accent2"/>
              </a:buClr>
              <a:buFont typeface="Wingdings" pitchFamily="2" charset="2"/>
              <a:buChar char="§"/>
            </a:pPr>
            <a:r>
              <a:rPr lang="en-US" sz="2200" dirty="0"/>
              <a:t>hosts are expected to dynamically determine the datagram size to use.</a:t>
            </a:r>
          </a:p>
          <a:p>
            <a:pPr marL="1524000" lvl="2" indent="-609600" algn="just">
              <a:spcBef>
                <a:spcPct val="20000"/>
              </a:spcBef>
              <a:buClr>
                <a:schemeClr val="accent2"/>
              </a:buClr>
              <a:buFont typeface="Wingdings" pitchFamily="2" charset="2"/>
              <a:buChar char="§"/>
            </a:pPr>
            <a:r>
              <a:rPr lang="en-US" sz="2200" dirty="0"/>
              <a:t>router that is unable to forward it sends back an error message</a:t>
            </a:r>
          </a:p>
          <a:p>
            <a:pPr marL="1524000" lvl="2" indent="-609600" algn="just">
              <a:spcBef>
                <a:spcPct val="20000"/>
              </a:spcBef>
              <a:buClr>
                <a:schemeClr val="accent2"/>
              </a:buClr>
              <a:buFont typeface="Wingdings" pitchFamily="2" charset="2"/>
              <a:buChar char="§"/>
            </a:pPr>
            <a:r>
              <a:rPr lang="en-US" sz="2200" dirty="0"/>
              <a:t>This message tells the host to break up all future packets to that destination</a:t>
            </a:r>
          </a:p>
          <a:p>
            <a:pPr marL="1066800" lvl="1" indent="-609600" algn="just">
              <a:spcBef>
                <a:spcPct val="20000"/>
              </a:spcBef>
              <a:buClr>
                <a:schemeClr val="accent2"/>
              </a:buClr>
              <a:buFont typeface="Wingdings" pitchFamily="2" charset="2"/>
              <a:buChar char="§"/>
            </a:pPr>
            <a:r>
              <a:rPr lang="en-US" sz="2300" dirty="0">
                <a:solidFill>
                  <a:srgbClr val="FF0000"/>
                </a:solidFill>
              </a:rPr>
              <a:t>Checksum</a:t>
            </a:r>
            <a:r>
              <a:rPr lang="en-US" sz="2300" dirty="0"/>
              <a:t> field is gone because calculating it greatly reduces performance (data link layer and transport layers normally have their own checksums)</a:t>
            </a: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IP Addresses</a:t>
            </a:r>
          </a:p>
        </p:txBody>
      </p:sp>
      <p:sp>
        <p:nvSpPr>
          <p:cNvPr id="6" name="Rectangle 3"/>
          <p:cNvSpPr txBox="1">
            <a:spLocks noChangeArrowheads="1"/>
          </p:cNvSpPr>
          <p:nvPr/>
        </p:nvSpPr>
        <p:spPr bwMode="auto">
          <a:xfrm>
            <a:off x="1524000" y="710692"/>
            <a:ext cx="9144000" cy="548690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t>Every host and router on the Internet has an </a:t>
            </a:r>
            <a:r>
              <a:rPr lang="en-US" sz="2600" dirty="0">
                <a:solidFill>
                  <a:srgbClr val="FF0000"/>
                </a:solidFill>
              </a:rPr>
              <a:t>IP address</a:t>
            </a:r>
            <a:r>
              <a:rPr lang="en-US" sz="2600" dirty="0"/>
              <a:t>, which encodes its </a:t>
            </a:r>
            <a:r>
              <a:rPr lang="en-US" sz="2600" dirty="0">
                <a:solidFill>
                  <a:srgbClr val="FF0000"/>
                </a:solidFill>
              </a:rPr>
              <a:t>network number and host number</a:t>
            </a:r>
            <a:r>
              <a:rPr lang="en-US" sz="2600" dirty="0"/>
              <a:t>. </a:t>
            </a:r>
          </a:p>
          <a:p>
            <a:pPr marL="609600" indent="-609600" algn="just">
              <a:spcBef>
                <a:spcPct val="20000"/>
              </a:spcBef>
              <a:buClr>
                <a:schemeClr val="accent2"/>
              </a:buClr>
              <a:buFont typeface="Wingdings" pitchFamily="2" charset="2"/>
              <a:buChar char="§"/>
            </a:pPr>
            <a:r>
              <a:rPr lang="en-US" sz="2600" dirty="0"/>
              <a:t>The combination is </a:t>
            </a:r>
            <a:r>
              <a:rPr lang="en-US" sz="2600" dirty="0">
                <a:solidFill>
                  <a:srgbClr val="FF0000"/>
                </a:solidFill>
              </a:rPr>
              <a:t>unique</a:t>
            </a:r>
            <a:r>
              <a:rPr lang="en-US" sz="2600" dirty="0"/>
              <a:t>: </a:t>
            </a:r>
          </a:p>
          <a:p>
            <a:pPr marL="1066800" lvl="1" indent="-609600" algn="just">
              <a:spcBef>
                <a:spcPct val="20000"/>
              </a:spcBef>
              <a:buClr>
                <a:schemeClr val="accent2"/>
              </a:buClr>
              <a:buFont typeface="Wingdings" pitchFamily="2" charset="2"/>
              <a:buChar char="§"/>
            </a:pPr>
            <a:r>
              <a:rPr lang="en-US" sz="2600" dirty="0"/>
              <a:t>no two machines on the Internet have the same IP address. </a:t>
            </a:r>
          </a:p>
          <a:p>
            <a:pPr marL="609600" indent="-609600" algn="just">
              <a:spcBef>
                <a:spcPct val="20000"/>
              </a:spcBef>
              <a:buClr>
                <a:schemeClr val="accent2"/>
              </a:buClr>
              <a:buFont typeface="Wingdings" pitchFamily="2" charset="2"/>
              <a:buChar char="§"/>
            </a:pPr>
            <a:r>
              <a:rPr lang="en-US" sz="2600" dirty="0"/>
              <a:t>All IP addresses are </a:t>
            </a:r>
            <a:r>
              <a:rPr lang="en-US" sz="2600" dirty="0">
                <a:solidFill>
                  <a:srgbClr val="FF0000"/>
                </a:solidFill>
              </a:rPr>
              <a:t>32 bits long  </a:t>
            </a:r>
            <a:r>
              <a:rPr lang="en-US" sz="2600" dirty="0"/>
              <a:t>&amp; are used in the </a:t>
            </a:r>
            <a:r>
              <a:rPr lang="en-US" sz="2600" b="1" dirty="0"/>
              <a:t>Source address and Destination address fields of IP packets</a:t>
            </a:r>
            <a:r>
              <a:rPr lang="en-US" sz="2600" dirty="0"/>
              <a:t>. </a:t>
            </a:r>
          </a:p>
          <a:p>
            <a:pPr marL="609600" indent="-609600" algn="just">
              <a:spcBef>
                <a:spcPct val="20000"/>
              </a:spcBef>
              <a:buClr>
                <a:schemeClr val="accent2"/>
              </a:buClr>
              <a:buFont typeface="Wingdings" pitchFamily="2" charset="2"/>
              <a:buChar char="§"/>
            </a:pPr>
            <a:r>
              <a:rPr lang="en-US" sz="2600" dirty="0"/>
              <a:t>It is important to note that an IP address does not actually refer to a host. </a:t>
            </a:r>
          </a:p>
          <a:p>
            <a:pPr marL="609600" indent="-609600" algn="just">
              <a:spcBef>
                <a:spcPct val="20000"/>
              </a:spcBef>
              <a:buClr>
                <a:schemeClr val="accent2"/>
              </a:buClr>
              <a:buFont typeface="Wingdings" pitchFamily="2" charset="2"/>
              <a:buChar char="§"/>
            </a:pPr>
            <a:r>
              <a:rPr lang="en-US" sz="2600" dirty="0"/>
              <a:t>It really refers to a </a:t>
            </a:r>
            <a:r>
              <a:rPr lang="en-US" sz="2600" dirty="0">
                <a:solidFill>
                  <a:srgbClr val="FF0000"/>
                </a:solidFill>
              </a:rPr>
              <a:t>network interface</a:t>
            </a:r>
            <a:r>
              <a:rPr lang="en-US" sz="2600" dirty="0"/>
              <a:t>, so if </a:t>
            </a:r>
            <a:r>
              <a:rPr lang="en-US" sz="2600" b="1" dirty="0"/>
              <a:t>a host is on two networks</a:t>
            </a:r>
            <a:r>
              <a:rPr lang="en-US" sz="2600" dirty="0"/>
              <a:t>, it must have </a:t>
            </a:r>
            <a:r>
              <a:rPr lang="en-US" sz="2600" b="1" dirty="0"/>
              <a:t>two IP addresses</a:t>
            </a:r>
            <a:r>
              <a:rPr lang="en-US" sz="2600" dirty="0"/>
              <a:t>. </a:t>
            </a:r>
          </a:p>
          <a:p>
            <a:pPr marL="609600" indent="-609600" algn="just">
              <a:spcBef>
                <a:spcPct val="20000"/>
              </a:spcBef>
              <a:buClr>
                <a:schemeClr val="accent2"/>
              </a:buClr>
              <a:buFont typeface="Wingdings" pitchFamily="2" charset="2"/>
              <a:buChar char="§"/>
            </a:pPr>
            <a:r>
              <a:rPr lang="en-US" sz="2600" dirty="0"/>
              <a:t>However, in practice, most hosts are on one network and thus have one IP address.</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F673A-DE52-476D-B842-2DF7029D62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DF80802-4456-440D-BC62-B52D6C2FD6AB}"/>
              </a:ext>
            </a:extLst>
          </p:cNvPr>
          <p:cNvSpPr>
            <a:spLocks noGrp="1"/>
          </p:cNvSpPr>
          <p:nvPr>
            <p:ph idx="1"/>
          </p:nvPr>
        </p:nvSpPr>
        <p:spPr/>
        <p:txBody>
          <a:bodyPr/>
          <a:lstStyle/>
          <a:p>
            <a:endParaRPr lang="en-IN"/>
          </a:p>
        </p:txBody>
      </p:sp>
      <p:graphicFrame>
        <p:nvGraphicFramePr>
          <p:cNvPr id="4" name="Object 3">
            <a:extLst>
              <a:ext uri="{FF2B5EF4-FFF2-40B4-BE49-F238E27FC236}">
                <a16:creationId xmlns:a16="http://schemas.microsoft.com/office/drawing/2014/main" id="{B1332034-D40B-4C2B-B88A-C4513C39AD13}"/>
              </a:ext>
            </a:extLst>
          </p:cNvPr>
          <p:cNvGraphicFramePr>
            <a:graphicFrameLocks noChangeAspect="1"/>
          </p:cNvGraphicFramePr>
          <p:nvPr>
            <p:extLst>
              <p:ext uri="{D42A27DB-BD31-4B8C-83A1-F6EECF244321}">
                <p14:modId xmlns:p14="http://schemas.microsoft.com/office/powerpoint/2010/main" val="822764965"/>
              </p:ext>
            </p:extLst>
          </p:nvPr>
        </p:nvGraphicFramePr>
        <p:xfrm>
          <a:off x="886420" y="1101213"/>
          <a:ext cx="10605662" cy="4572000"/>
        </p:xfrm>
        <a:graphic>
          <a:graphicData uri="http://schemas.openxmlformats.org/presentationml/2006/ole">
            <mc:AlternateContent xmlns:mc="http://schemas.openxmlformats.org/markup-compatibility/2006">
              <mc:Choice xmlns:v="urn:schemas-microsoft-com:vml" Requires="v">
                <p:oleObj spid="_x0000_s1029" name="Bitmap Image" r:id="rId3" imgW="6842880" imgH="2949120" progId="PBrush">
                  <p:embed/>
                </p:oleObj>
              </mc:Choice>
              <mc:Fallback>
                <p:oleObj name="Bitmap Image" r:id="rId3" imgW="6842880" imgH="2949120" progId="PBrush">
                  <p:embed/>
                  <p:pic>
                    <p:nvPicPr>
                      <p:cNvPr id="0" name=""/>
                      <p:cNvPicPr/>
                      <p:nvPr/>
                    </p:nvPicPr>
                    <p:blipFill>
                      <a:blip r:embed="rId4"/>
                      <a:stretch>
                        <a:fillRect/>
                      </a:stretch>
                    </p:blipFill>
                    <p:spPr>
                      <a:xfrm>
                        <a:off x="886420" y="1101213"/>
                        <a:ext cx="10605662" cy="4572000"/>
                      </a:xfrm>
                      <a:prstGeom prst="rect">
                        <a:avLst/>
                      </a:prstGeom>
                    </p:spPr>
                  </p:pic>
                </p:oleObj>
              </mc:Fallback>
            </mc:AlternateContent>
          </a:graphicData>
        </a:graphic>
      </p:graphicFrame>
    </p:spTree>
    <p:extLst>
      <p:ext uri="{BB962C8B-B14F-4D97-AF65-F5344CB8AC3E}">
        <p14:creationId xmlns:p14="http://schemas.microsoft.com/office/powerpoint/2010/main" val="424925934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CABFD-94DE-4C82-8F98-D8CF6D89FB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100A242-EE60-41CB-8A30-95D35386BC8D}"/>
              </a:ext>
            </a:extLst>
          </p:cNvPr>
          <p:cNvSpPr>
            <a:spLocks noGrp="1"/>
          </p:cNvSpPr>
          <p:nvPr>
            <p:ph idx="1"/>
          </p:nvPr>
        </p:nvSpPr>
        <p:spPr/>
        <p:txBody>
          <a:bodyPr/>
          <a:lstStyle/>
          <a:p>
            <a:endParaRPr lang="en-IN"/>
          </a:p>
        </p:txBody>
      </p:sp>
      <p:graphicFrame>
        <p:nvGraphicFramePr>
          <p:cNvPr id="4" name="Object 3">
            <a:extLst>
              <a:ext uri="{FF2B5EF4-FFF2-40B4-BE49-F238E27FC236}">
                <a16:creationId xmlns:a16="http://schemas.microsoft.com/office/drawing/2014/main" id="{6BBBC2C4-A3C8-4D01-B491-F056C3C3E8B4}"/>
              </a:ext>
            </a:extLst>
          </p:cNvPr>
          <p:cNvGraphicFramePr>
            <a:graphicFrameLocks noChangeAspect="1"/>
          </p:cNvGraphicFramePr>
          <p:nvPr>
            <p:extLst>
              <p:ext uri="{D42A27DB-BD31-4B8C-83A1-F6EECF244321}">
                <p14:modId xmlns:p14="http://schemas.microsoft.com/office/powerpoint/2010/main" val="168197713"/>
              </p:ext>
            </p:extLst>
          </p:nvPr>
        </p:nvGraphicFramePr>
        <p:xfrm>
          <a:off x="1444079" y="748072"/>
          <a:ext cx="9693181" cy="5190408"/>
        </p:xfrm>
        <a:graphic>
          <a:graphicData uri="http://schemas.openxmlformats.org/presentationml/2006/ole">
            <mc:AlternateContent xmlns:mc="http://schemas.openxmlformats.org/markup-compatibility/2006">
              <mc:Choice xmlns:v="urn:schemas-microsoft-com:vml" Requires="v">
                <p:oleObj spid="_x0000_s2053" name="Bitmap Image" r:id="rId3" imgW="7429680" imgH="3977640" progId="PBrush">
                  <p:embed/>
                </p:oleObj>
              </mc:Choice>
              <mc:Fallback>
                <p:oleObj name="Bitmap Image" r:id="rId3" imgW="7429680" imgH="3977640" progId="PBrush">
                  <p:embed/>
                  <p:pic>
                    <p:nvPicPr>
                      <p:cNvPr id="0" name=""/>
                      <p:cNvPicPr/>
                      <p:nvPr/>
                    </p:nvPicPr>
                    <p:blipFill>
                      <a:blip r:embed="rId4"/>
                      <a:stretch>
                        <a:fillRect/>
                      </a:stretch>
                    </p:blipFill>
                    <p:spPr>
                      <a:xfrm>
                        <a:off x="1444079" y="748072"/>
                        <a:ext cx="9693181" cy="5190408"/>
                      </a:xfrm>
                      <a:prstGeom prst="rect">
                        <a:avLst/>
                      </a:prstGeom>
                    </p:spPr>
                  </p:pic>
                </p:oleObj>
              </mc:Fallback>
            </mc:AlternateContent>
          </a:graphicData>
        </a:graphic>
      </p:graphicFrame>
    </p:spTree>
    <p:extLst>
      <p:ext uri="{BB962C8B-B14F-4D97-AF65-F5344CB8AC3E}">
        <p14:creationId xmlns:p14="http://schemas.microsoft.com/office/powerpoint/2010/main" val="53313564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524000" y="0"/>
            <a:ext cx="9144000" cy="632178"/>
          </a:xfrm>
        </p:spPr>
        <p:txBody>
          <a:bodyPr>
            <a:normAutofit fontScale="90000"/>
          </a:bodyPr>
          <a:lstStyle/>
          <a:p>
            <a:r>
              <a:rPr lang="en-US" dirty="0"/>
              <a:t>IP Addresses</a:t>
            </a:r>
          </a:p>
        </p:txBody>
      </p:sp>
      <p:sp>
        <p:nvSpPr>
          <p:cNvPr id="72707" name="Rectangle 3"/>
          <p:cNvSpPr>
            <a:spLocks noGrp="1" noChangeArrowheads="1"/>
          </p:cNvSpPr>
          <p:nvPr>
            <p:ph type="body" idx="1"/>
          </p:nvPr>
        </p:nvSpPr>
        <p:spPr>
          <a:xfrm>
            <a:off x="1524000" y="6344580"/>
            <a:ext cx="9144000" cy="475938"/>
          </a:xfrm>
        </p:spPr>
        <p:txBody>
          <a:bodyPr/>
          <a:lstStyle/>
          <a:p>
            <a:pPr algn="ctr">
              <a:buFontTx/>
              <a:buNone/>
            </a:pPr>
            <a:r>
              <a:rPr lang="en-US" dirty="0"/>
              <a:t>IP address formats.</a:t>
            </a:r>
          </a:p>
        </p:txBody>
      </p:sp>
      <p:pic>
        <p:nvPicPr>
          <p:cNvPr id="72709" name="Picture 5" descr="5-55"/>
          <p:cNvPicPr>
            <a:picLocks noChangeAspect="1" noChangeArrowheads="1"/>
          </p:cNvPicPr>
          <p:nvPr/>
        </p:nvPicPr>
        <p:blipFill>
          <a:blip r:embed="rId2" cstate="print"/>
          <a:srcRect/>
          <a:stretch>
            <a:fillRect/>
          </a:stretch>
        </p:blipFill>
        <p:spPr bwMode="auto">
          <a:xfrm>
            <a:off x="1743205" y="1686454"/>
            <a:ext cx="8684952" cy="4613303"/>
          </a:xfrm>
          <a:prstGeom prst="rect">
            <a:avLst/>
          </a:prstGeom>
          <a:noFill/>
        </p:spPr>
      </p:pic>
      <p:sp>
        <p:nvSpPr>
          <p:cNvPr id="5" name="Rectangle 4"/>
          <p:cNvSpPr/>
          <p:nvPr/>
        </p:nvSpPr>
        <p:spPr>
          <a:xfrm>
            <a:off x="1711377" y="766817"/>
            <a:ext cx="8776741" cy="830997"/>
          </a:xfrm>
          <a:prstGeom prst="rect">
            <a:avLst/>
          </a:prstGeom>
        </p:spPr>
        <p:txBody>
          <a:bodyPr wrap="square">
            <a:spAutoFit/>
          </a:bodyPr>
          <a:lstStyle/>
          <a:p>
            <a:pPr algn="just"/>
            <a:r>
              <a:rPr lang="en-US" sz="2400" dirty="0"/>
              <a:t>For several decades, IP addresses were divided into the five categories. This allocation was called </a:t>
            </a:r>
            <a:r>
              <a:rPr lang="en-US" sz="2400" b="1" dirty="0"/>
              <a:t>classful addressing</a:t>
            </a:r>
            <a:r>
              <a:rPr lang="en-US" sz="2400" dirty="0"/>
              <a:t> </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3C7F8-245A-4E19-BC1B-7E13D37F23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B59AA0-7655-4F2C-8D2B-223B2F08F997}"/>
              </a:ext>
            </a:extLst>
          </p:cNvPr>
          <p:cNvSpPr>
            <a:spLocks noGrp="1"/>
          </p:cNvSpPr>
          <p:nvPr>
            <p:ph idx="1"/>
          </p:nvPr>
        </p:nvSpPr>
        <p:spPr/>
        <p:txBody>
          <a:bodyPr/>
          <a:lstStyle/>
          <a:p>
            <a:endParaRPr lang="en-IN"/>
          </a:p>
        </p:txBody>
      </p:sp>
      <p:graphicFrame>
        <p:nvGraphicFramePr>
          <p:cNvPr id="4" name="Object 3">
            <a:extLst>
              <a:ext uri="{FF2B5EF4-FFF2-40B4-BE49-F238E27FC236}">
                <a16:creationId xmlns:a16="http://schemas.microsoft.com/office/drawing/2014/main" id="{2120494D-7965-4D3E-8D61-18290F061D27}"/>
              </a:ext>
            </a:extLst>
          </p:cNvPr>
          <p:cNvGraphicFramePr>
            <a:graphicFrameLocks noChangeAspect="1"/>
          </p:cNvGraphicFramePr>
          <p:nvPr>
            <p:extLst>
              <p:ext uri="{D42A27DB-BD31-4B8C-83A1-F6EECF244321}">
                <p14:modId xmlns:p14="http://schemas.microsoft.com/office/powerpoint/2010/main" val="3588163108"/>
              </p:ext>
            </p:extLst>
          </p:nvPr>
        </p:nvGraphicFramePr>
        <p:xfrm>
          <a:off x="1214433" y="681037"/>
          <a:ext cx="9763134" cy="5358017"/>
        </p:xfrm>
        <a:graphic>
          <a:graphicData uri="http://schemas.openxmlformats.org/presentationml/2006/ole">
            <mc:AlternateContent xmlns:mc="http://schemas.openxmlformats.org/markup-compatibility/2006">
              <mc:Choice xmlns:v="urn:schemas-microsoft-com:vml" Requires="v">
                <p:oleObj spid="_x0000_s3077" name="Bitmap Image" r:id="rId3" imgW="5692320" imgH="3124080" progId="PBrush">
                  <p:embed/>
                </p:oleObj>
              </mc:Choice>
              <mc:Fallback>
                <p:oleObj name="Bitmap Image" r:id="rId3" imgW="5692320" imgH="3124080" progId="PBrush">
                  <p:embed/>
                  <p:pic>
                    <p:nvPicPr>
                      <p:cNvPr id="0" name=""/>
                      <p:cNvPicPr/>
                      <p:nvPr/>
                    </p:nvPicPr>
                    <p:blipFill>
                      <a:blip r:embed="rId4"/>
                      <a:stretch>
                        <a:fillRect/>
                      </a:stretch>
                    </p:blipFill>
                    <p:spPr>
                      <a:xfrm>
                        <a:off x="1214433" y="681037"/>
                        <a:ext cx="9763134" cy="5358017"/>
                      </a:xfrm>
                      <a:prstGeom prst="rect">
                        <a:avLst/>
                      </a:prstGeom>
                    </p:spPr>
                  </p:pic>
                </p:oleObj>
              </mc:Fallback>
            </mc:AlternateContent>
          </a:graphicData>
        </a:graphic>
      </p:graphicFrame>
    </p:spTree>
    <p:extLst>
      <p:ext uri="{BB962C8B-B14F-4D97-AF65-F5344CB8AC3E}">
        <p14:creationId xmlns:p14="http://schemas.microsoft.com/office/powerpoint/2010/main" val="116256869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72D18-9928-4FA2-8D9E-C0F97FFAFB8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9D9176-F8C4-4ECB-8155-6774D8DA47A5}"/>
              </a:ext>
            </a:extLst>
          </p:cNvPr>
          <p:cNvSpPr>
            <a:spLocks noGrp="1"/>
          </p:cNvSpPr>
          <p:nvPr>
            <p:ph idx="1"/>
          </p:nvPr>
        </p:nvSpPr>
        <p:spPr/>
        <p:txBody>
          <a:bodyPr/>
          <a:lstStyle/>
          <a:p>
            <a:endParaRPr lang="en-IN"/>
          </a:p>
        </p:txBody>
      </p:sp>
      <p:graphicFrame>
        <p:nvGraphicFramePr>
          <p:cNvPr id="4" name="Object 3">
            <a:extLst>
              <a:ext uri="{FF2B5EF4-FFF2-40B4-BE49-F238E27FC236}">
                <a16:creationId xmlns:a16="http://schemas.microsoft.com/office/drawing/2014/main" id="{724360E1-5798-40F5-8B6C-7347614EEFE8}"/>
              </a:ext>
            </a:extLst>
          </p:cNvPr>
          <p:cNvGraphicFramePr>
            <a:graphicFrameLocks noChangeAspect="1"/>
          </p:cNvGraphicFramePr>
          <p:nvPr>
            <p:extLst>
              <p:ext uri="{D42A27DB-BD31-4B8C-83A1-F6EECF244321}">
                <p14:modId xmlns:p14="http://schemas.microsoft.com/office/powerpoint/2010/main" val="2815355711"/>
              </p:ext>
            </p:extLst>
          </p:nvPr>
        </p:nvGraphicFramePr>
        <p:xfrm>
          <a:off x="1663295" y="779359"/>
          <a:ext cx="9211181" cy="5077226"/>
        </p:xfrm>
        <a:graphic>
          <a:graphicData uri="http://schemas.openxmlformats.org/presentationml/2006/ole">
            <mc:AlternateContent xmlns:mc="http://schemas.openxmlformats.org/markup-compatibility/2006">
              <mc:Choice xmlns:v="urn:schemas-microsoft-com:vml" Requires="v">
                <p:oleObj spid="_x0000_s4101" name="Bitmap Image" r:id="rId3" imgW="5875200" imgH="3238560" progId="PBrush">
                  <p:embed/>
                </p:oleObj>
              </mc:Choice>
              <mc:Fallback>
                <p:oleObj name="Bitmap Image" r:id="rId3" imgW="5875200" imgH="3238560" progId="PBrush">
                  <p:embed/>
                  <p:pic>
                    <p:nvPicPr>
                      <p:cNvPr id="0" name=""/>
                      <p:cNvPicPr/>
                      <p:nvPr/>
                    </p:nvPicPr>
                    <p:blipFill>
                      <a:blip r:embed="rId4"/>
                      <a:stretch>
                        <a:fillRect/>
                      </a:stretch>
                    </p:blipFill>
                    <p:spPr>
                      <a:xfrm>
                        <a:off x="1663295" y="779359"/>
                        <a:ext cx="9211181" cy="5077226"/>
                      </a:xfrm>
                      <a:prstGeom prst="rect">
                        <a:avLst/>
                      </a:prstGeom>
                    </p:spPr>
                  </p:pic>
                </p:oleObj>
              </mc:Fallback>
            </mc:AlternateContent>
          </a:graphicData>
        </a:graphic>
      </p:graphicFrame>
    </p:spTree>
    <p:extLst>
      <p:ext uri="{BB962C8B-B14F-4D97-AF65-F5344CB8AC3E}">
        <p14:creationId xmlns:p14="http://schemas.microsoft.com/office/powerpoint/2010/main" val="31611614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F897-F00B-4029-BA6F-06D85834EE01}"/>
              </a:ext>
            </a:extLst>
          </p:cNvPr>
          <p:cNvSpPr>
            <a:spLocks noGrp="1"/>
          </p:cNvSpPr>
          <p:nvPr>
            <p:ph type="title"/>
          </p:nvPr>
        </p:nvSpPr>
        <p:spPr/>
        <p:txBody>
          <a:bodyPr/>
          <a:lstStyle/>
          <a:p>
            <a:r>
              <a:rPr lang="en-IN" b="1" dirty="0"/>
              <a:t>Tutorial</a:t>
            </a:r>
          </a:p>
        </p:txBody>
      </p:sp>
      <p:sp>
        <p:nvSpPr>
          <p:cNvPr id="3" name="Content Placeholder 2">
            <a:extLst>
              <a:ext uri="{FF2B5EF4-FFF2-40B4-BE49-F238E27FC236}">
                <a16:creationId xmlns:a16="http://schemas.microsoft.com/office/drawing/2014/main" id="{C679AD35-4287-4BB9-9CEE-1471BFB83807}"/>
              </a:ext>
            </a:extLst>
          </p:cNvPr>
          <p:cNvSpPr>
            <a:spLocks noGrp="1"/>
          </p:cNvSpPr>
          <p:nvPr>
            <p:ph idx="1"/>
          </p:nvPr>
        </p:nvSpPr>
        <p:spPr/>
        <p:txBody>
          <a:bodyPr/>
          <a:lstStyle/>
          <a:p>
            <a:endParaRPr lang="en-IN"/>
          </a:p>
        </p:txBody>
      </p:sp>
      <p:graphicFrame>
        <p:nvGraphicFramePr>
          <p:cNvPr id="4" name="Object 3">
            <a:extLst>
              <a:ext uri="{FF2B5EF4-FFF2-40B4-BE49-F238E27FC236}">
                <a16:creationId xmlns:a16="http://schemas.microsoft.com/office/drawing/2014/main" id="{87EAEFA4-3388-4500-8CCA-78C09A3D89E0}"/>
              </a:ext>
            </a:extLst>
          </p:cNvPr>
          <p:cNvGraphicFramePr>
            <a:graphicFrameLocks noChangeAspect="1"/>
          </p:cNvGraphicFramePr>
          <p:nvPr>
            <p:extLst>
              <p:ext uri="{D42A27DB-BD31-4B8C-83A1-F6EECF244321}">
                <p14:modId xmlns:p14="http://schemas.microsoft.com/office/powerpoint/2010/main" val="3707224968"/>
              </p:ext>
            </p:extLst>
          </p:nvPr>
        </p:nvGraphicFramePr>
        <p:xfrm>
          <a:off x="983225" y="1825625"/>
          <a:ext cx="6818211" cy="4050123"/>
        </p:xfrm>
        <a:graphic>
          <a:graphicData uri="http://schemas.openxmlformats.org/presentationml/2006/ole">
            <mc:AlternateContent xmlns:mc="http://schemas.openxmlformats.org/markup-compatibility/2006">
              <mc:Choice xmlns:v="urn:schemas-microsoft-com:vml" Requires="v">
                <p:oleObj spid="_x0000_s5125" name="Bitmap Image" r:id="rId3" imgW="4297680" imgH="2552760" progId="PBrush">
                  <p:embed/>
                </p:oleObj>
              </mc:Choice>
              <mc:Fallback>
                <p:oleObj name="Bitmap Image" r:id="rId3" imgW="4297680" imgH="2552760" progId="PBrush">
                  <p:embed/>
                  <p:pic>
                    <p:nvPicPr>
                      <p:cNvPr id="0" name=""/>
                      <p:cNvPicPr/>
                      <p:nvPr/>
                    </p:nvPicPr>
                    <p:blipFill>
                      <a:blip r:embed="rId4"/>
                      <a:stretch>
                        <a:fillRect/>
                      </a:stretch>
                    </p:blipFill>
                    <p:spPr>
                      <a:xfrm>
                        <a:off x="983225" y="1825625"/>
                        <a:ext cx="6818211" cy="4050123"/>
                      </a:xfrm>
                      <a:prstGeom prst="rect">
                        <a:avLst/>
                      </a:prstGeom>
                    </p:spPr>
                  </p:pic>
                </p:oleObj>
              </mc:Fallback>
            </mc:AlternateContent>
          </a:graphicData>
        </a:graphic>
      </p:graphicFrame>
    </p:spTree>
    <p:extLst>
      <p:ext uri="{BB962C8B-B14F-4D97-AF65-F5344CB8AC3E}">
        <p14:creationId xmlns:p14="http://schemas.microsoft.com/office/powerpoint/2010/main" val="133117531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IP Addresses</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t>Network numbers are managed by a nonprofit corporation called </a:t>
            </a:r>
            <a:r>
              <a:rPr lang="en-US" sz="2400" b="1" dirty="0"/>
              <a:t>ICANN (Internet Corporation for Assigned Names and Numbers) </a:t>
            </a:r>
            <a:r>
              <a:rPr lang="en-US" sz="2400" dirty="0"/>
              <a:t>to avoid conflicts </a:t>
            </a:r>
          </a:p>
          <a:p>
            <a:pPr marL="609600" indent="-609600" algn="just">
              <a:spcBef>
                <a:spcPct val="20000"/>
              </a:spcBef>
              <a:buClr>
                <a:schemeClr val="accent2"/>
              </a:buClr>
              <a:buFont typeface="Wingdings" pitchFamily="2" charset="2"/>
              <a:buChar char="§"/>
            </a:pPr>
            <a:r>
              <a:rPr lang="en-US" sz="2400" dirty="0"/>
              <a:t>Network addresses, which are 32-bit numbers, are usually written in </a:t>
            </a:r>
            <a:r>
              <a:rPr lang="en-US" sz="2400" b="1" dirty="0"/>
              <a:t>dotted decimal notation. </a:t>
            </a:r>
          </a:p>
          <a:p>
            <a:pPr marL="609600" indent="-609600" algn="just">
              <a:spcBef>
                <a:spcPct val="20000"/>
              </a:spcBef>
              <a:buClr>
                <a:schemeClr val="accent2"/>
              </a:buClr>
              <a:buFont typeface="Wingdings" pitchFamily="2" charset="2"/>
              <a:buChar char="§"/>
            </a:pPr>
            <a:r>
              <a:rPr lang="en-US" sz="2400" dirty="0"/>
              <a:t>In this format, each of the </a:t>
            </a:r>
            <a:r>
              <a:rPr lang="en-US" sz="2400" b="1" dirty="0"/>
              <a:t>4 bytes is written in decimal</a:t>
            </a:r>
            <a:r>
              <a:rPr lang="en-US" sz="2400" dirty="0"/>
              <a:t>, from </a:t>
            </a:r>
            <a:r>
              <a:rPr lang="en-US" sz="2400" b="1" dirty="0"/>
              <a:t>0</a:t>
            </a:r>
            <a:r>
              <a:rPr lang="en-US" sz="2400" dirty="0"/>
              <a:t> to </a:t>
            </a:r>
            <a:r>
              <a:rPr lang="en-US" sz="2400" b="1" dirty="0"/>
              <a:t>255. </a:t>
            </a:r>
          </a:p>
          <a:p>
            <a:pPr marL="609600" indent="-609600" algn="just">
              <a:spcBef>
                <a:spcPct val="20000"/>
              </a:spcBef>
              <a:buClr>
                <a:schemeClr val="accent2"/>
              </a:buClr>
              <a:buFont typeface="Wingdings" pitchFamily="2" charset="2"/>
              <a:buChar char="§"/>
            </a:pPr>
            <a:r>
              <a:rPr lang="en-US" sz="2400" dirty="0"/>
              <a:t>For example, the 32-bit hexadecimal address </a:t>
            </a:r>
            <a:r>
              <a:rPr lang="en-US" sz="2400" b="1" dirty="0"/>
              <a:t>C0290614</a:t>
            </a:r>
            <a:r>
              <a:rPr lang="en-US" sz="2400" dirty="0"/>
              <a:t> is written as </a:t>
            </a:r>
            <a:r>
              <a:rPr lang="en-US" sz="2400" b="1" dirty="0"/>
              <a:t>192.41.6.20 </a:t>
            </a:r>
          </a:p>
          <a:p>
            <a:pPr marL="609600" indent="-609600" algn="just">
              <a:spcBef>
                <a:spcPct val="20000"/>
              </a:spcBef>
              <a:buClr>
                <a:schemeClr val="accent2"/>
              </a:buClr>
              <a:buFont typeface="Wingdings" pitchFamily="2" charset="2"/>
              <a:buChar char="§"/>
            </a:pPr>
            <a:r>
              <a:rPr lang="en-US" sz="2400" dirty="0"/>
              <a:t>The </a:t>
            </a:r>
            <a:r>
              <a:rPr lang="en-US" sz="2400" b="1" dirty="0"/>
              <a:t>lowest IP address is 0.0.0.0 </a:t>
            </a:r>
            <a:r>
              <a:rPr lang="en-US" sz="2400" dirty="0"/>
              <a:t>and the </a:t>
            </a:r>
            <a:r>
              <a:rPr lang="en-US" sz="2400" b="1" dirty="0"/>
              <a:t>highest is 255.255.255.255. </a:t>
            </a:r>
          </a:p>
          <a:p>
            <a:pPr marL="609600" indent="-609600" algn="just">
              <a:spcBef>
                <a:spcPct val="20000"/>
              </a:spcBef>
              <a:buClr>
                <a:schemeClr val="accent2"/>
              </a:buClr>
              <a:buFont typeface="Wingdings" pitchFamily="2" charset="2"/>
              <a:buChar char="§"/>
            </a:pPr>
            <a:r>
              <a:rPr lang="en-US" sz="2400" dirty="0"/>
              <a:t>The values </a:t>
            </a:r>
            <a:r>
              <a:rPr lang="en-US" sz="2400" b="1" dirty="0"/>
              <a:t>0</a:t>
            </a:r>
            <a:r>
              <a:rPr lang="en-US" sz="2400" dirty="0"/>
              <a:t> and </a:t>
            </a:r>
            <a:r>
              <a:rPr lang="en-US" sz="2400" b="1" dirty="0"/>
              <a:t>-1 (all 1s) </a:t>
            </a:r>
            <a:r>
              <a:rPr lang="en-US" sz="2400" dirty="0"/>
              <a:t>have special meanings </a:t>
            </a:r>
          </a:p>
          <a:p>
            <a:pPr marL="1066800" lvl="1" indent="-609600" algn="just">
              <a:spcBef>
                <a:spcPct val="20000"/>
              </a:spcBef>
              <a:buClr>
                <a:schemeClr val="accent2"/>
              </a:buClr>
              <a:buFont typeface="Wingdings" pitchFamily="2" charset="2"/>
              <a:buChar char="§"/>
            </a:pPr>
            <a:r>
              <a:rPr lang="en-US" sz="2400" b="1" dirty="0"/>
              <a:t>value 0 </a:t>
            </a:r>
            <a:r>
              <a:rPr lang="en-US" sz="2400" dirty="0"/>
              <a:t>means </a:t>
            </a:r>
            <a:r>
              <a:rPr lang="en-US" sz="2400" dirty="0">
                <a:solidFill>
                  <a:srgbClr val="FF0000"/>
                </a:solidFill>
              </a:rPr>
              <a:t>this network </a:t>
            </a:r>
            <a:r>
              <a:rPr lang="en-US" sz="2400" dirty="0"/>
              <a:t>or</a:t>
            </a:r>
            <a:r>
              <a:rPr lang="en-US" sz="2400" dirty="0">
                <a:solidFill>
                  <a:srgbClr val="FF0000"/>
                </a:solidFill>
              </a:rPr>
              <a:t> this host</a:t>
            </a:r>
            <a:r>
              <a:rPr lang="en-US" sz="2400" dirty="0"/>
              <a:t>. </a:t>
            </a:r>
          </a:p>
          <a:p>
            <a:pPr marL="1066800" lvl="1" indent="-609600" algn="just">
              <a:spcBef>
                <a:spcPct val="20000"/>
              </a:spcBef>
              <a:buClr>
                <a:schemeClr val="accent2"/>
              </a:buClr>
              <a:buFont typeface="Wingdings" pitchFamily="2" charset="2"/>
              <a:buChar char="§"/>
            </a:pPr>
            <a:r>
              <a:rPr lang="en-US" sz="2400" dirty="0">
                <a:solidFill>
                  <a:srgbClr val="FF0000"/>
                </a:solidFill>
              </a:rPr>
              <a:t>value of -1 </a:t>
            </a:r>
            <a:r>
              <a:rPr lang="en-US" sz="2400" dirty="0"/>
              <a:t>is used as a </a:t>
            </a:r>
            <a:r>
              <a:rPr lang="en-US" sz="2400" dirty="0">
                <a:solidFill>
                  <a:srgbClr val="FF0000"/>
                </a:solidFill>
              </a:rPr>
              <a:t>broadcast address to mean all hosts on the indicated network </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dirty="0"/>
              <a:t>IP Addresses</a:t>
            </a:r>
          </a:p>
        </p:txBody>
      </p:sp>
      <p:sp>
        <p:nvSpPr>
          <p:cNvPr id="73731" name="Rectangle 3"/>
          <p:cNvSpPr>
            <a:spLocks noGrp="1" noChangeArrowheads="1"/>
          </p:cNvSpPr>
          <p:nvPr>
            <p:ph type="body" idx="1"/>
          </p:nvPr>
        </p:nvSpPr>
        <p:spPr>
          <a:xfrm>
            <a:off x="1524000" y="6269630"/>
            <a:ext cx="9144000" cy="475938"/>
          </a:xfrm>
        </p:spPr>
        <p:txBody>
          <a:bodyPr/>
          <a:lstStyle/>
          <a:p>
            <a:pPr algn="ctr">
              <a:buFontTx/>
              <a:buNone/>
            </a:pPr>
            <a:r>
              <a:rPr lang="en-US" dirty="0"/>
              <a:t>Special IP addresses.</a:t>
            </a:r>
          </a:p>
        </p:txBody>
      </p:sp>
      <p:pic>
        <p:nvPicPr>
          <p:cNvPr id="73733" name="Picture 5" descr="5-56"/>
          <p:cNvPicPr>
            <a:picLocks noChangeAspect="1" noChangeArrowheads="1"/>
          </p:cNvPicPr>
          <p:nvPr/>
        </p:nvPicPr>
        <p:blipFill>
          <a:blip r:embed="rId2" cstate="print"/>
          <a:srcRect/>
          <a:stretch>
            <a:fillRect/>
          </a:stretch>
        </p:blipFill>
        <p:spPr bwMode="auto">
          <a:xfrm>
            <a:off x="1710831" y="1450550"/>
            <a:ext cx="8052601" cy="4755378"/>
          </a:xfrm>
          <a:prstGeom prst="rect">
            <a:avLst/>
          </a:prstGeom>
          <a:noFill/>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83599-1FC7-E278-667B-C85AB9364FF1}"/>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IP Addresses - classless addressing or Classless Interdomain Routing (CIDR)</a:t>
            </a:r>
          </a:p>
        </p:txBody>
      </p:sp>
      <p:sp>
        <p:nvSpPr>
          <p:cNvPr id="3" name="Content Placeholder 2">
            <a:extLst>
              <a:ext uri="{FF2B5EF4-FFF2-40B4-BE49-F238E27FC236}">
                <a16:creationId xmlns:a16="http://schemas.microsoft.com/office/drawing/2014/main" id="{196E5619-057F-49AE-FAD3-3A1F03342918}"/>
              </a:ext>
            </a:extLst>
          </p:cNvPr>
          <p:cNvSpPr>
            <a:spLocks noGrp="1"/>
          </p:cNvSpPr>
          <p:nvPr>
            <p:ph idx="1"/>
          </p:nvPr>
        </p:nvSpPr>
        <p:spPr>
          <a:xfrm>
            <a:off x="1524000" y="1821604"/>
            <a:ext cx="9144000" cy="5242874"/>
          </a:xfrm>
        </p:spPr>
        <p:txBody>
          <a:bodyPr>
            <a:normAutofit lnSpcReduction="10000"/>
          </a:bodyPr>
          <a:lstStyle/>
          <a:p>
            <a:pPr marL="342900" indent="-342900" algn="just"/>
            <a:r>
              <a:rPr lang="en-US" b="0" i="0" dirty="0">
                <a:solidFill>
                  <a:srgbClr val="333333"/>
                </a:solidFill>
                <a:effectLst/>
                <a:latin typeface="Times New Roman" panose="02020603050405020304" pitchFamily="18" charset="0"/>
                <a:cs typeface="Times New Roman" panose="02020603050405020304" pitchFamily="18" charset="0"/>
              </a:rPr>
              <a:t>A </a:t>
            </a:r>
            <a:r>
              <a:rPr lang="en-US" b="0" i="0" dirty="0">
                <a:solidFill>
                  <a:srgbClr val="FF0000"/>
                </a:solidFill>
                <a:effectLst/>
                <a:latin typeface="Times New Roman" panose="02020603050405020304" pitchFamily="18" charset="0"/>
                <a:cs typeface="Times New Roman" panose="02020603050405020304" pitchFamily="18" charset="0"/>
              </a:rPr>
              <a:t>classless addressing system </a:t>
            </a:r>
            <a:r>
              <a:rPr lang="en-US" b="0" i="0" dirty="0">
                <a:solidFill>
                  <a:srgbClr val="333333"/>
                </a:solidFill>
                <a:effectLst/>
                <a:latin typeface="Times New Roman" panose="02020603050405020304" pitchFamily="18" charset="0"/>
                <a:cs typeface="Times New Roman" panose="02020603050405020304" pitchFamily="18" charset="0"/>
              </a:rPr>
              <a:t>Or </a:t>
            </a:r>
            <a:r>
              <a:rPr lang="en-US" b="0" i="0" dirty="0">
                <a:solidFill>
                  <a:srgbClr val="FF0000"/>
                </a:solidFill>
                <a:effectLst/>
                <a:latin typeface="Times New Roman" panose="02020603050405020304" pitchFamily="18" charset="0"/>
                <a:cs typeface="Times New Roman" panose="02020603050405020304" pitchFamily="18" charset="0"/>
              </a:rPr>
              <a:t>Classless interdomain routing (CIDR)</a:t>
            </a:r>
            <a:r>
              <a:rPr lang="en-US" b="0" i="0" dirty="0">
                <a:solidFill>
                  <a:srgbClr val="333333"/>
                </a:solidFill>
                <a:effectLst/>
                <a:latin typeface="Times New Roman" panose="02020603050405020304" pitchFamily="18" charset="0"/>
                <a:cs typeface="Times New Roman" panose="02020603050405020304" pitchFamily="18" charset="0"/>
              </a:rPr>
              <a:t> is an improved IP addressing system. </a:t>
            </a:r>
          </a:p>
          <a:p>
            <a:pPr marL="342900" indent="-342900" algn="just"/>
            <a:r>
              <a:rPr lang="en-US" b="0" i="0" dirty="0">
                <a:solidFill>
                  <a:srgbClr val="333333"/>
                </a:solidFill>
                <a:effectLst/>
                <a:latin typeface="Times New Roman" panose="02020603050405020304" pitchFamily="18" charset="0"/>
                <a:cs typeface="Times New Roman" panose="02020603050405020304" pitchFamily="18" charset="0"/>
              </a:rPr>
              <a:t>In </a:t>
            </a:r>
            <a:r>
              <a:rPr lang="en-US" dirty="0">
                <a:solidFill>
                  <a:srgbClr val="333333"/>
                </a:solidFill>
                <a:latin typeface="Times New Roman" panose="02020603050405020304" pitchFamily="18" charset="0"/>
                <a:cs typeface="Times New Roman" panose="02020603050405020304" pitchFamily="18" charset="0"/>
              </a:rPr>
              <a:t>this</a:t>
            </a:r>
            <a:r>
              <a:rPr lang="en-US" b="0" i="0" dirty="0">
                <a:solidFill>
                  <a:srgbClr val="333333"/>
                </a:solidFill>
                <a:effectLst/>
                <a:latin typeface="Times New Roman" panose="02020603050405020304" pitchFamily="18" charset="0"/>
                <a:cs typeface="Times New Roman" panose="02020603050405020304" pitchFamily="18" charset="0"/>
              </a:rPr>
              <a:t>, the block of IP addresses is </a:t>
            </a:r>
            <a:r>
              <a:rPr lang="en-US" b="1" i="0" dirty="0">
                <a:solidFill>
                  <a:srgbClr val="333333"/>
                </a:solidFill>
                <a:effectLst/>
                <a:latin typeface="Times New Roman" panose="02020603050405020304" pitchFamily="18" charset="0"/>
                <a:cs typeface="Times New Roman" panose="02020603050405020304" pitchFamily="18" charset="0"/>
              </a:rPr>
              <a:t>assigned dynamically based on certain rules.</a:t>
            </a:r>
          </a:p>
          <a:p>
            <a:pPr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A classless addressing system Or Classless interdomain routing (CIDR) is represented in </a:t>
            </a:r>
            <a:r>
              <a:rPr lang="en-US" b="0" i="0" dirty="0">
                <a:solidFill>
                  <a:srgbClr val="FF0000"/>
                </a:solidFill>
                <a:effectLst/>
                <a:latin typeface="Times New Roman" panose="02020603050405020304" pitchFamily="18" charset="0"/>
                <a:cs typeface="Times New Roman" panose="02020603050405020304" pitchFamily="18" charset="0"/>
              </a:rPr>
              <a:t>terms of the block</a:t>
            </a:r>
            <a:r>
              <a:rPr lang="en-US" b="0" i="0" dirty="0">
                <a:solidFill>
                  <a:srgbClr val="333333"/>
                </a:solidFill>
                <a:effectLst/>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A block is a </a:t>
            </a:r>
            <a:r>
              <a:rPr lang="en-US" b="0" i="0" dirty="0">
                <a:solidFill>
                  <a:srgbClr val="FF0000"/>
                </a:solidFill>
                <a:effectLst/>
                <a:latin typeface="Times New Roman" panose="02020603050405020304" pitchFamily="18" charset="0"/>
                <a:cs typeface="Times New Roman" panose="02020603050405020304" pitchFamily="18" charset="0"/>
              </a:rPr>
              <a:t>group of IP addresses</a:t>
            </a:r>
            <a:r>
              <a:rPr lang="en-US" b="0" i="0" dirty="0">
                <a:solidFill>
                  <a:srgbClr val="333333"/>
                </a:solidFill>
                <a:effectLst/>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b="0" i="0" dirty="0">
                <a:solidFill>
                  <a:srgbClr val="333333"/>
                </a:solidFill>
                <a:effectLst/>
                <a:latin typeface="Times New Roman" panose="02020603050405020304" pitchFamily="18" charset="0"/>
                <a:cs typeface="Times New Roman" panose="02020603050405020304" pitchFamily="18" charset="0"/>
              </a:rPr>
              <a:t>Notation of a classless addressing system Or Classless interdomain routing (CIDR):</a:t>
            </a:r>
          </a:p>
          <a:p>
            <a:pPr lvl="1" algn="just"/>
            <a:r>
              <a:rPr lang="en-US" sz="2800" b="0" i="0" dirty="0">
                <a:solidFill>
                  <a:srgbClr val="333333"/>
                </a:solidFill>
                <a:effectLst/>
                <a:latin typeface="Times New Roman" panose="02020603050405020304" pitchFamily="18" charset="0"/>
                <a:cs typeface="Times New Roman" panose="02020603050405020304" pitchFamily="18" charset="0"/>
              </a:rPr>
              <a:t> </a:t>
            </a:r>
            <a:r>
              <a:rPr lang="en-US" sz="2800" b="0" i="0" dirty="0" err="1">
                <a:solidFill>
                  <a:srgbClr val="FF0000"/>
                </a:solidFill>
                <a:effectLst/>
                <a:latin typeface="Times New Roman" panose="02020603050405020304" pitchFamily="18" charset="0"/>
                <a:cs typeface="Times New Roman" panose="02020603050405020304" pitchFamily="18" charset="0"/>
              </a:rPr>
              <a:t>p.q.r.s</a:t>
            </a:r>
            <a:r>
              <a:rPr lang="en-US" sz="2800" b="0" i="0" dirty="0">
                <a:solidFill>
                  <a:srgbClr val="FF0000"/>
                </a:solidFill>
                <a:effectLst/>
                <a:latin typeface="Times New Roman" panose="02020603050405020304" pitchFamily="18" charset="0"/>
                <a:cs typeface="Times New Roman" panose="02020603050405020304" pitchFamily="18" charset="0"/>
              </a:rPr>
              <a:t> /n</a:t>
            </a:r>
            <a:r>
              <a:rPr lang="en-US" sz="2800" b="0" i="0" dirty="0">
                <a:solidFill>
                  <a:srgbClr val="333333"/>
                </a:solidFill>
                <a:effectLst/>
                <a:latin typeface="Times New Roman" panose="02020603050405020304" pitchFamily="18" charset="0"/>
                <a:cs typeface="Times New Roman" panose="02020603050405020304" pitchFamily="18" charset="0"/>
              </a:rPr>
              <a:t>,  </a:t>
            </a:r>
          </a:p>
          <a:p>
            <a:pPr lvl="2" algn="just"/>
            <a:r>
              <a:rPr lang="en-US" sz="2800" b="0" i="0" dirty="0">
                <a:solidFill>
                  <a:srgbClr val="333333"/>
                </a:solidFill>
                <a:effectLst/>
                <a:latin typeface="Times New Roman" panose="02020603050405020304" pitchFamily="18" charset="0"/>
                <a:cs typeface="Times New Roman" panose="02020603050405020304" pitchFamily="18" charset="0"/>
              </a:rPr>
              <a:t>where </a:t>
            </a:r>
            <a:r>
              <a:rPr lang="en-US" sz="2800" b="0" i="0" dirty="0" err="1">
                <a:solidFill>
                  <a:srgbClr val="333333"/>
                </a:solidFill>
                <a:effectLst/>
                <a:latin typeface="Times New Roman" panose="02020603050405020304" pitchFamily="18" charset="0"/>
                <a:cs typeface="Times New Roman" panose="02020603050405020304" pitchFamily="18" charset="0"/>
              </a:rPr>
              <a:t>p.q.r.s</a:t>
            </a:r>
            <a:r>
              <a:rPr lang="en-US" sz="2800" b="0" i="0" dirty="0">
                <a:solidFill>
                  <a:srgbClr val="333333"/>
                </a:solidFill>
                <a:effectLst/>
                <a:latin typeface="Times New Roman" panose="02020603050405020304" pitchFamily="18" charset="0"/>
                <a:cs typeface="Times New Roman" panose="02020603050405020304" pitchFamily="18" charset="0"/>
              </a:rPr>
              <a:t> represents the IP address, and n represents the mask bits.</a:t>
            </a:r>
          </a:p>
          <a:p>
            <a:pPr marL="342900" indent="-342900"/>
            <a:endParaRPr lang="en-US" dirty="0"/>
          </a:p>
        </p:txBody>
      </p:sp>
    </p:spTree>
    <p:extLst>
      <p:ext uri="{BB962C8B-B14F-4D97-AF65-F5344CB8AC3E}">
        <p14:creationId xmlns:p14="http://schemas.microsoft.com/office/powerpoint/2010/main" val="166116955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dirty="0"/>
              <a:t>IP Addresses</a:t>
            </a:r>
          </a:p>
        </p:txBody>
      </p:sp>
      <p:sp>
        <p:nvSpPr>
          <p:cNvPr id="73731" name="Rectangle 3"/>
          <p:cNvSpPr>
            <a:spLocks noGrp="1" noChangeArrowheads="1"/>
          </p:cNvSpPr>
          <p:nvPr>
            <p:ph type="body" idx="1"/>
          </p:nvPr>
        </p:nvSpPr>
        <p:spPr>
          <a:xfrm>
            <a:off x="1524000" y="952563"/>
            <a:ext cx="9144000" cy="475938"/>
          </a:xfrm>
        </p:spPr>
        <p:txBody>
          <a:bodyPr>
            <a:normAutofit fontScale="92500" lnSpcReduction="10000"/>
          </a:bodyPr>
          <a:lstStyle/>
          <a:p>
            <a:pPr algn="ctr">
              <a:buFontTx/>
              <a:buNone/>
            </a:pPr>
            <a:r>
              <a:rPr lang="en-US" sz="3200" dirty="0"/>
              <a:t>Classless addressing</a:t>
            </a:r>
          </a:p>
        </p:txBody>
      </p:sp>
      <p:pic>
        <p:nvPicPr>
          <p:cNvPr id="1026" name="Picture 2" descr="http://3.bp.blogspot.com/_y1HKxeWTYf8/TMUt1I25oTI/AAAAAAAAAAk/I-72DVPANbw/s1600/classless.png"/>
          <p:cNvPicPr>
            <a:picLocks noChangeAspect="1" noChangeArrowheads="1"/>
          </p:cNvPicPr>
          <p:nvPr/>
        </p:nvPicPr>
        <p:blipFill>
          <a:blip r:embed="rId2" cstate="print"/>
          <a:srcRect t="23901" b="9219"/>
          <a:stretch>
            <a:fillRect/>
          </a:stretch>
        </p:blipFill>
        <p:spPr bwMode="auto">
          <a:xfrm>
            <a:off x="1586379" y="1467553"/>
            <a:ext cx="8934865" cy="4481690"/>
          </a:xfrm>
          <a:prstGeom prst="rect">
            <a:avLst/>
          </a:prstGeom>
          <a:noFill/>
        </p:spPr>
      </p:pic>
      <p:sp>
        <p:nvSpPr>
          <p:cNvPr id="6" name="Rectangle 5"/>
          <p:cNvSpPr/>
          <p:nvPr/>
        </p:nvSpPr>
        <p:spPr>
          <a:xfrm>
            <a:off x="1524000" y="6002405"/>
            <a:ext cx="9144000" cy="830997"/>
          </a:xfrm>
          <a:prstGeom prst="rect">
            <a:avLst/>
          </a:prstGeom>
        </p:spPr>
        <p:txBody>
          <a:bodyPr wrap="square">
            <a:spAutoFit/>
          </a:bodyPr>
          <a:lstStyle/>
          <a:p>
            <a:r>
              <a:rPr lang="en-US" sz="2400" dirty="0"/>
              <a:t>Classless addressing uses a </a:t>
            </a:r>
            <a:r>
              <a:rPr lang="en-US" sz="2400" b="1" dirty="0"/>
              <a:t>variable number of bits for the network and host portions of the address.</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Subnets</a:t>
            </a:r>
          </a:p>
        </p:txBody>
      </p:sp>
      <p:sp>
        <p:nvSpPr>
          <p:cNvPr id="6" name="Rectangle 3"/>
          <p:cNvSpPr txBox="1">
            <a:spLocks noChangeArrowheads="1"/>
          </p:cNvSpPr>
          <p:nvPr/>
        </p:nvSpPr>
        <p:spPr bwMode="auto">
          <a:xfrm>
            <a:off x="1704622" y="880027"/>
            <a:ext cx="8782756" cy="49563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b="1" dirty="0"/>
              <a:t>All the hosts in a network </a:t>
            </a:r>
            <a:r>
              <a:rPr lang="en-US" sz="2600" dirty="0"/>
              <a:t>must have the </a:t>
            </a:r>
            <a:r>
              <a:rPr lang="en-US" sz="2600" b="1" dirty="0"/>
              <a:t>same network number. </a:t>
            </a:r>
          </a:p>
          <a:p>
            <a:pPr marL="609600" indent="-609600" algn="just">
              <a:spcBef>
                <a:spcPct val="20000"/>
              </a:spcBef>
              <a:buClr>
                <a:schemeClr val="accent2"/>
              </a:buClr>
              <a:buFont typeface="Wingdings" pitchFamily="2" charset="2"/>
              <a:buChar char="§"/>
            </a:pPr>
            <a:r>
              <a:rPr lang="en-US" sz="2600" dirty="0"/>
              <a:t>This property of IP addressing can cause problems as networks grow </a:t>
            </a:r>
          </a:p>
          <a:p>
            <a:pPr marL="609600" indent="-609600" algn="just">
              <a:spcBef>
                <a:spcPct val="20000"/>
              </a:spcBef>
              <a:buClr>
                <a:schemeClr val="accent2"/>
              </a:buClr>
              <a:buFont typeface="Wingdings" pitchFamily="2" charset="2"/>
              <a:buChar char="§"/>
            </a:pPr>
            <a:r>
              <a:rPr lang="en-US" sz="2600" dirty="0"/>
              <a:t>The problem is the rule that a single </a:t>
            </a:r>
            <a:r>
              <a:rPr lang="en-US" sz="2600" b="1" dirty="0"/>
              <a:t>class A, B, or C address refers to one network</a:t>
            </a:r>
            <a:r>
              <a:rPr lang="en-US" sz="2600" dirty="0"/>
              <a:t>, not to a collection of LANs. </a:t>
            </a:r>
          </a:p>
          <a:p>
            <a:pPr marL="609600" indent="-609600" algn="just">
              <a:spcBef>
                <a:spcPct val="20000"/>
              </a:spcBef>
              <a:buClr>
                <a:schemeClr val="accent2"/>
              </a:buClr>
              <a:buFont typeface="Wingdings" pitchFamily="2" charset="2"/>
              <a:buChar char="§"/>
            </a:pPr>
            <a:r>
              <a:rPr lang="en-US" sz="2600" dirty="0"/>
              <a:t>As more and more organizations ran into this situation, a small change was made to the addressing system to deal with it.</a:t>
            </a:r>
          </a:p>
          <a:p>
            <a:pPr marL="609600" indent="-609600" algn="just">
              <a:spcBef>
                <a:spcPct val="20000"/>
              </a:spcBef>
              <a:buClr>
                <a:schemeClr val="accent2"/>
              </a:buClr>
              <a:buFont typeface="Wingdings" pitchFamily="2" charset="2"/>
              <a:buChar char="§"/>
            </a:pPr>
            <a:r>
              <a:rPr lang="en-US" sz="2600" dirty="0"/>
              <a:t>The </a:t>
            </a:r>
            <a:r>
              <a:rPr lang="en-US" sz="2600" dirty="0">
                <a:solidFill>
                  <a:srgbClr val="FF0000"/>
                </a:solidFill>
              </a:rPr>
              <a:t>solution</a:t>
            </a:r>
            <a:r>
              <a:rPr lang="en-US" sz="2600" dirty="0"/>
              <a:t> is to </a:t>
            </a:r>
            <a:r>
              <a:rPr lang="en-US" sz="2600" b="1" dirty="0"/>
              <a:t>allow a network to be split into several parts for internal use but still act like a single network to the outside world.</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1524000" y="0"/>
            <a:ext cx="9144000" cy="857956"/>
          </a:xfrm>
        </p:spPr>
        <p:txBody>
          <a:bodyPr/>
          <a:lstStyle/>
          <a:p>
            <a:r>
              <a:rPr lang="en-US" dirty="0"/>
              <a:t>Subnets</a:t>
            </a:r>
          </a:p>
        </p:txBody>
      </p:sp>
      <p:sp>
        <p:nvSpPr>
          <p:cNvPr id="74755" name="Rectangle 3"/>
          <p:cNvSpPr>
            <a:spLocks noGrp="1" noChangeArrowheads="1"/>
          </p:cNvSpPr>
          <p:nvPr>
            <p:ph type="body" idx="1"/>
          </p:nvPr>
        </p:nvSpPr>
        <p:spPr>
          <a:xfrm>
            <a:off x="1524000" y="6245584"/>
            <a:ext cx="9144000" cy="493889"/>
          </a:xfrm>
        </p:spPr>
        <p:txBody>
          <a:bodyPr>
            <a:normAutofit fontScale="92500"/>
          </a:bodyPr>
          <a:lstStyle/>
          <a:p>
            <a:pPr algn="ctr">
              <a:buFontTx/>
              <a:buNone/>
            </a:pPr>
            <a:r>
              <a:rPr lang="en-US" dirty="0"/>
              <a:t>A campus network consisting of LANs for various departments.</a:t>
            </a:r>
          </a:p>
        </p:txBody>
      </p:sp>
      <p:pic>
        <p:nvPicPr>
          <p:cNvPr id="74757" name="Picture 5" descr="5-57"/>
          <p:cNvPicPr>
            <a:picLocks noChangeAspect="1" noChangeArrowheads="1"/>
          </p:cNvPicPr>
          <p:nvPr/>
        </p:nvPicPr>
        <p:blipFill>
          <a:blip r:embed="rId2" cstate="print"/>
          <a:srcRect/>
          <a:stretch>
            <a:fillRect/>
          </a:stretch>
        </p:blipFill>
        <p:spPr bwMode="auto">
          <a:xfrm>
            <a:off x="1710091" y="919338"/>
            <a:ext cx="8816551" cy="5199240"/>
          </a:xfrm>
          <a:prstGeom prst="rect">
            <a:avLst/>
          </a:prstGeom>
          <a:noFill/>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Subnets</a:t>
            </a:r>
          </a:p>
        </p:txBody>
      </p:sp>
      <p:sp>
        <p:nvSpPr>
          <p:cNvPr id="6" name="Rectangle 3"/>
          <p:cNvSpPr txBox="1">
            <a:spLocks noChangeArrowheads="1"/>
          </p:cNvSpPr>
          <p:nvPr/>
        </p:nvSpPr>
        <p:spPr bwMode="auto">
          <a:xfrm>
            <a:off x="1524000" y="710693"/>
            <a:ext cx="9144000" cy="456121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t>parts of the network (in this case, Ethernets) are called </a:t>
            </a:r>
            <a:r>
              <a:rPr lang="en-US" sz="2600" b="1" dirty="0"/>
              <a:t>subnets.</a:t>
            </a:r>
          </a:p>
          <a:p>
            <a:pPr marL="609600" indent="-609600" algn="just">
              <a:spcBef>
                <a:spcPct val="20000"/>
              </a:spcBef>
              <a:buClr>
                <a:schemeClr val="accent2"/>
              </a:buClr>
              <a:buFont typeface="Wingdings" pitchFamily="2" charset="2"/>
              <a:buChar char="§"/>
            </a:pPr>
            <a:r>
              <a:rPr lang="en-US" sz="2600" dirty="0"/>
              <a:t>When a packet comes into the main router, how does it know which subnet (Ethernet) to give it to? </a:t>
            </a:r>
          </a:p>
          <a:p>
            <a:pPr marL="609600" indent="-609600" algn="just">
              <a:spcBef>
                <a:spcPct val="20000"/>
              </a:spcBef>
              <a:buClr>
                <a:schemeClr val="accent2"/>
              </a:buClr>
              <a:buFont typeface="Wingdings" pitchFamily="2" charset="2"/>
              <a:buChar char="§"/>
            </a:pPr>
            <a:r>
              <a:rPr lang="en-US" sz="2600" dirty="0"/>
              <a:t>One way would be to have a </a:t>
            </a:r>
            <a:r>
              <a:rPr lang="en-US" sz="2600" dirty="0">
                <a:solidFill>
                  <a:srgbClr val="FF0000"/>
                </a:solidFill>
              </a:rPr>
              <a:t>table</a:t>
            </a:r>
            <a:r>
              <a:rPr lang="en-US" sz="2600" dirty="0"/>
              <a:t> with 65,536 entries in the main router telling which router to use for each host on campus. </a:t>
            </a:r>
          </a:p>
          <a:p>
            <a:pPr marL="609600" indent="-609600" algn="just">
              <a:spcBef>
                <a:spcPct val="20000"/>
              </a:spcBef>
              <a:buClr>
                <a:schemeClr val="accent2"/>
              </a:buClr>
              <a:buFont typeface="Wingdings" pitchFamily="2" charset="2"/>
              <a:buChar char="§"/>
            </a:pPr>
            <a:r>
              <a:rPr lang="en-US" sz="2600" dirty="0"/>
              <a:t>This idea would work, but it would require a </a:t>
            </a:r>
            <a:r>
              <a:rPr lang="en-US" sz="2600" dirty="0">
                <a:solidFill>
                  <a:srgbClr val="FF0000"/>
                </a:solidFill>
              </a:rPr>
              <a:t>very large table </a:t>
            </a:r>
            <a:r>
              <a:rPr lang="en-US" sz="2600" dirty="0"/>
              <a:t>in the main router and a </a:t>
            </a:r>
            <a:r>
              <a:rPr lang="en-US" sz="2600" dirty="0">
                <a:solidFill>
                  <a:srgbClr val="FF0000"/>
                </a:solidFill>
              </a:rPr>
              <a:t>lot of manual maintenance </a:t>
            </a:r>
            <a:r>
              <a:rPr lang="en-US" sz="2600" dirty="0"/>
              <a:t>as hosts were added, moved, or taken out of service.</a:t>
            </a:r>
          </a:p>
          <a:p>
            <a:pPr marL="609600" indent="-609600" algn="just">
              <a:spcBef>
                <a:spcPct val="20000"/>
              </a:spcBef>
              <a:buClr>
                <a:schemeClr val="accent2"/>
              </a:buClr>
              <a:buFont typeface="Wingdings" pitchFamily="2" charset="2"/>
              <a:buChar char="§"/>
            </a:pPr>
            <a:r>
              <a:rPr lang="en-US" sz="2600" dirty="0"/>
              <a:t>Instead, a different scheme was invented. </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Subnets</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t>Basically, instead of having a single class B address with 14 bits for the network number and 16 bits for the host number, </a:t>
            </a:r>
          </a:p>
          <a:p>
            <a:pPr marL="609600" indent="-609600" algn="just">
              <a:spcBef>
                <a:spcPct val="20000"/>
              </a:spcBef>
              <a:buClr>
                <a:schemeClr val="accent2"/>
              </a:buClr>
              <a:buFont typeface="Wingdings" pitchFamily="2" charset="2"/>
              <a:buChar char="§"/>
            </a:pPr>
            <a:r>
              <a:rPr lang="en-US" sz="2600" b="1" dirty="0"/>
              <a:t>some bits are taken away from the host number to create a subnet number. </a:t>
            </a:r>
          </a:p>
          <a:p>
            <a:pPr marL="609600" indent="-609600" algn="just">
              <a:spcBef>
                <a:spcPct val="20000"/>
              </a:spcBef>
              <a:buClr>
                <a:schemeClr val="accent2"/>
              </a:buClr>
              <a:buFont typeface="Wingdings" pitchFamily="2" charset="2"/>
              <a:buChar char="§"/>
            </a:pPr>
            <a:r>
              <a:rPr lang="en-US" sz="2600" dirty="0"/>
              <a:t>For example, if the university has 35 departments, </a:t>
            </a:r>
          </a:p>
          <a:p>
            <a:pPr marL="609600" indent="-609600" algn="just">
              <a:spcBef>
                <a:spcPct val="20000"/>
              </a:spcBef>
              <a:buClr>
                <a:schemeClr val="accent2"/>
              </a:buClr>
              <a:buFont typeface="Wingdings" pitchFamily="2" charset="2"/>
              <a:buChar char="§"/>
            </a:pPr>
            <a:r>
              <a:rPr lang="en-US" sz="2600" dirty="0"/>
              <a:t>it could use a </a:t>
            </a:r>
            <a:r>
              <a:rPr lang="en-US" sz="2600" b="1" dirty="0"/>
              <a:t>6-bit subnet number </a:t>
            </a:r>
            <a:r>
              <a:rPr lang="en-US" sz="2600" dirty="0"/>
              <a:t>and a </a:t>
            </a:r>
            <a:r>
              <a:rPr lang="en-US" sz="2600" b="1" dirty="0"/>
              <a:t>10-bit host number</a:t>
            </a:r>
            <a:r>
              <a:rPr lang="en-US" sz="2600" dirty="0"/>
              <a:t>, </a:t>
            </a:r>
          </a:p>
          <a:p>
            <a:pPr marL="609600" indent="-609600" algn="just">
              <a:spcBef>
                <a:spcPct val="20000"/>
              </a:spcBef>
              <a:buClr>
                <a:schemeClr val="accent2"/>
              </a:buClr>
              <a:buFont typeface="Wingdings" pitchFamily="2" charset="2"/>
              <a:buChar char="§"/>
            </a:pPr>
            <a:r>
              <a:rPr lang="en-US" sz="2600" dirty="0"/>
              <a:t>allowing for up to 64 (2</a:t>
            </a:r>
            <a:r>
              <a:rPr lang="en-US" sz="2600" baseline="30000" dirty="0"/>
              <a:t>6</a:t>
            </a:r>
            <a:r>
              <a:rPr lang="en-US" sz="2600" dirty="0"/>
              <a:t>) Ethernets, </a:t>
            </a:r>
          </a:p>
          <a:p>
            <a:pPr marL="609600" indent="-609600" algn="just">
              <a:spcBef>
                <a:spcPct val="20000"/>
              </a:spcBef>
              <a:buClr>
                <a:schemeClr val="accent2"/>
              </a:buClr>
              <a:buFont typeface="Wingdings" pitchFamily="2" charset="2"/>
              <a:buChar char="§"/>
            </a:pPr>
            <a:r>
              <a:rPr lang="en-US" sz="2600" dirty="0"/>
              <a:t>each with a maximum of 1022 hosts (0 and -1 are not available)</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1524000" y="1"/>
            <a:ext cx="9144000" cy="722489"/>
          </a:xfrm>
        </p:spPr>
        <p:txBody>
          <a:bodyPr/>
          <a:lstStyle/>
          <a:p>
            <a:r>
              <a:rPr lang="en-US" dirty="0"/>
              <a:t>Subnets</a:t>
            </a:r>
          </a:p>
        </p:txBody>
      </p:sp>
      <p:sp>
        <p:nvSpPr>
          <p:cNvPr id="75779" name="Rectangle 3"/>
          <p:cNvSpPr>
            <a:spLocks noGrp="1" noChangeArrowheads="1"/>
          </p:cNvSpPr>
          <p:nvPr>
            <p:ph type="body" idx="1"/>
          </p:nvPr>
        </p:nvSpPr>
        <p:spPr>
          <a:xfrm>
            <a:off x="1524000" y="3524951"/>
            <a:ext cx="9144000" cy="505178"/>
          </a:xfrm>
        </p:spPr>
        <p:txBody>
          <a:bodyPr/>
          <a:lstStyle/>
          <a:p>
            <a:pPr algn="ctr">
              <a:buFontTx/>
              <a:buNone/>
            </a:pPr>
            <a:r>
              <a:rPr lang="en-US" dirty="0"/>
              <a:t>Fig: A class B network subnetted into 64 subnets.</a:t>
            </a:r>
          </a:p>
        </p:txBody>
      </p:sp>
      <p:pic>
        <p:nvPicPr>
          <p:cNvPr id="75781" name="Picture 5" descr="5-58"/>
          <p:cNvPicPr>
            <a:picLocks noChangeAspect="1" noChangeArrowheads="1"/>
          </p:cNvPicPr>
          <p:nvPr/>
        </p:nvPicPr>
        <p:blipFill>
          <a:blip r:embed="rId2" cstate="print"/>
          <a:srcRect/>
          <a:stretch>
            <a:fillRect/>
          </a:stretch>
        </p:blipFill>
        <p:spPr bwMode="auto">
          <a:xfrm>
            <a:off x="1670756" y="1795462"/>
            <a:ext cx="8827910" cy="1698625"/>
          </a:xfrm>
          <a:prstGeom prst="rect">
            <a:avLst/>
          </a:prstGeom>
          <a:noFill/>
        </p:spPr>
      </p:pic>
      <p:sp>
        <p:nvSpPr>
          <p:cNvPr id="5" name="Rectangle 4"/>
          <p:cNvSpPr/>
          <p:nvPr/>
        </p:nvSpPr>
        <p:spPr>
          <a:xfrm>
            <a:off x="1698977" y="627502"/>
            <a:ext cx="8731956" cy="1200329"/>
          </a:xfrm>
          <a:prstGeom prst="rect">
            <a:avLst/>
          </a:prstGeom>
        </p:spPr>
        <p:txBody>
          <a:bodyPr wrap="square">
            <a:spAutoFit/>
          </a:bodyPr>
          <a:lstStyle/>
          <a:p>
            <a:pPr algn="just">
              <a:buFont typeface="Arial" pitchFamily="34" charset="0"/>
              <a:buChar char="•"/>
            </a:pPr>
            <a:r>
              <a:rPr lang="en-US" sz="2400" dirty="0"/>
              <a:t>To implement subnetting, the main router needs a </a:t>
            </a:r>
            <a:r>
              <a:rPr lang="en-US" sz="2400" b="1" dirty="0"/>
              <a:t>subnet mask </a:t>
            </a:r>
            <a:r>
              <a:rPr lang="en-US" sz="2400" dirty="0"/>
              <a:t>that indicates the </a:t>
            </a:r>
            <a:r>
              <a:rPr lang="en-US" sz="2400" b="1" dirty="0"/>
              <a:t>split between network + subnet number and host</a:t>
            </a:r>
            <a:r>
              <a:rPr lang="en-US" sz="2400" dirty="0"/>
              <a:t>, as shown in Fig </a:t>
            </a:r>
          </a:p>
        </p:txBody>
      </p:sp>
      <p:sp>
        <p:nvSpPr>
          <p:cNvPr id="6" name="Rectangle 5"/>
          <p:cNvSpPr/>
          <p:nvPr/>
        </p:nvSpPr>
        <p:spPr>
          <a:xfrm>
            <a:off x="1761066" y="4008520"/>
            <a:ext cx="8731956" cy="2677656"/>
          </a:xfrm>
          <a:prstGeom prst="rect">
            <a:avLst/>
          </a:prstGeom>
        </p:spPr>
        <p:txBody>
          <a:bodyPr wrap="square">
            <a:spAutoFit/>
          </a:bodyPr>
          <a:lstStyle/>
          <a:p>
            <a:pPr algn="just">
              <a:buFont typeface="Arial" pitchFamily="34" charset="0"/>
              <a:buChar char="•"/>
            </a:pPr>
            <a:r>
              <a:rPr lang="en-US" sz="2400" dirty="0"/>
              <a:t>Subnet masks are also written in </a:t>
            </a:r>
            <a:r>
              <a:rPr lang="en-US" sz="2400" b="1" dirty="0"/>
              <a:t>dotted decimal notation</a:t>
            </a:r>
            <a:r>
              <a:rPr lang="en-US" sz="2400" dirty="0"/>
              <a:t>, with the </a:t>
            </a:r>
            <a:r>
              <a:rPr lang="en-US" sz="2400" b="1" dirty="0"/>
              <a:t>addition of a slash followed by the number of bits in the network + subnet part. </a:t>
            </a:r>
          </a:p>
          <a:p>
            <a:pPr algn="just">
              <a:buFont typeface="Arial" pitchFamily="34" charset="0"/>
              <a:buChar char="•"/>
            </a:pPr>
            <a:r>
              <a:rPr lang="en-US" sz="2400" dirty="0"/>
              <a:t>For the example of Fig., the subnet mask can be written as </a:t>
            </a:r>
            <a:r>
              <a:rPr lang="en-US" sz="2400" dirty="0">
                <a:solidFill>
                  <a:srgbClr val="FF0000"/>
                </a:solidFill>
              </a:rPr>
              <a:t>255.255.252.0. </a:t>
            </a:r>
          </a:p>
          <a:p>
            <a:pPr algn="just">
              <a:buFont typeface="Arial" pitchFamily="34" charset="0"/>
              <a:buChar char="•"/>
            </a:pPr>
            <a:r>
              <a:rPr lang="en-US" sz="2400" dirty="0"/>
              <a:t>An alternative notation is</a:t>
            </a:r>
            <a:r>
              <a:rPr lang="en-US" sz="2400" dirty="0">
                <a:solidFill>
                  <a:srgbClr val="FF0000"/>
                </a:solidFill>
              </a:rPr>
              <a:t> /22 </a:t>
            </a:r>
            <a:r>
              <a:rPr lang="en-US" sz="2400" dirty="0"/>
              <a:t>to indicate that the </a:t>
            </a:r>
            <a:r>
              <a:rPr lang="en-US" sz="2400" dirty="0">
                <a:solidFill>
                  <a:srgbClr val="FF0000"/>
                </a:solidFill>
              </a:rPr>
              <a:t>subnet mask is 22 bits long.</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Subnets</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solidFill>
                  <a:srgbClr val="FF0000"/>
                </a:solidFill>
              </a:rPr>
              <a:t>Outside the network, the subnetting is not visible </a:t>
            </a:r>
          </a:p>
          <a:p>
            <a:pPr marL="609600" indent="-609600" algn="just">
              <a:spcBef>
                <a:spcPct val="20000"/>
              </a:spcBef>
              <a:buClr>
                <a:schemeClr val="accent2"/>
              </a:buClr>
              <a:buFont typeface="Wingdings" pitchFamily="2" charset="2"/>
              <a:buChar char="§"/>
            </a:pPr>
            <a:r>
              <a:rPr lang="en-US" sz="2400" dirty="0"/>
              <a:t>So, allocating a new subnet </a:t>
            </a:r>
            <a:r>
              <a:rPr lang="en-US" sz="2400" b="1" dirty="0"/>
              <a:t>does not require contacting ICANN </a:t>
            </a:r>
            <a:r>
              <a:rPr lang="en-US" sz="2400" dirty="0"/>
              <a:t>or </a:t>
            </a:r>
            <a:r>
              <a:rPr lang="en-US" sz="2400" b="1" dirty="0"/>
              <a:t>changing any external databases</a:t>
            </a:r>
            <a:r>
              <a:rPr lang="en-US" sz="2400" dirty="0"/>
              <a:t>.</a:t>
            </a:r>
          </a:p>
          <a:p>
            <a:pPr marL="609600" indent="-609600" algn="just">
              <a:spcBef>
                <a:spcPct val="20000"/>
              </a:spcBef>
              <a:buClr>
                <a:schemeClr val="accent2"/>
              </a:buClr>
              <a:buFont typeface="Wingdings" pitchFamily="2" charset="2"/>
              <a:buChar char="§"/>
            </a:pPr>
            <a:r>
              <a:rPr lang="en-US" sz="2400" dirty="0"/>
              <a:t>For </a:t>
            </a:r>
            <a:r>
              <a:rPr lang="en-US" sz="2400" dirty="0" err="1"/>
              <a:t>eg</a:t>
            </a:r>
            <a:r>
              <a:rPr lang="en-US" sz="2400" dirty="0"/>
              <a:t>:</a:t>
            </a:r>
          </a:p>
          <a:p>
            <a:pPr marL="1066800" lvl="1" indent="-609600" algn="just">
              <a:spcBef>
                <a:spcPct val="20000"/>
              </a:spcBef>
              <a:buClr>
                <a:schemeClr val="accent2"/>
              </a:buClr>
              <a:buFont typeface="Wingdings" pitchFamily="2" charset="2"/>
              <a:buChar char="§"/>
            </a:pPr>
            <a:r>
              <a:rPr lang="en-US" sz="2400" dirty="0"/>
              <a:t>the first subnet might use IP addresses starting at 130.50.4.1; </a:t>
            </a:r>
          </a:p>
          <a:p>
            <a:pPr marL="1066800" lvl="1" indent="-609600" algn="just">
              <a:spcBef>
                <a:spcPct val="20000"/>
              </a:spcBef>
              <a:buClr>
                <a:schemeClr val="accent2"/>
              </a:buClr>
              <a:buFont typeface="Wingdings" pitchFamily="2" charset="2"/>
              <a:buChar char="§"/>
            </a:pPr>
            <a:r>
              <a:rPr lang="en-US" sz="2400" dirty="0"/>
              <a:t>the second subnet might start at 130.50.8.1; </a:t>
            </a:r>
          </a:p>
          <a:p>
            <a:pPr marL="1066800" lvl="1" indent="-609600" algn="just">
              <a:spcBef>
                <a:spcPct val="20000"/>
              </a:spcBef>
              <a:buClr>
                <a:schemeClr val="accent2"/>
              </a:buClr>
              <a:buFont typeface="Wingdings" pitchFamily="2" charset="2"/>
              <a:buChar char="§"/>
            </a:pPr>
            <a:r>
              <a:rPr lang="en-US" sz="2400" dirty="0"/>
              <a:t>the third subnet might start at 130.50.12.1; and so on</a:t>
            </a:r>
          </a:p>
          <a:p>
            <a:pPr marL="609600" indent="-609600" algn="just">
              <a:spcBef>
                <a:spcPct val="20000"/>
              </a:spcBef>
              <a:buClr>
                <a:schemeClr val="accent2"/>
              </a:buClr>
              <a:buFont typeface="Wingdings" pitchFamily="2" charset="2"/>
              <a:buChar char="§"/>
            </a:pPr>
            <a:r>
              <a:rPr lang="en-US" sz="2400" dirty="0"/>
              <a:t>To see why the subnets are </a:t>
            </a:r>
            <a:r>
              <a:rPr lang="en-US" sz="2400" b="1" dirty="0"/>
              <a:t>counting by fours</a:t>
            </a:r>
            <a:r>
              <a:rPr lang="en-US" sz="2400" dirty="0"/>
              <a:t>, note that the corresponding binary addresses are as follows:</a:t>
            </a:r>
          </a:p>
          <a:p>
            <a:pPr marL="609600" indent="-609600" algn="just">
              <a:spcBef>
                <a:spcPct val="20000"/>
              </a:spcBef>
              <a:buClr>
                <a:schemeClr val="accent2"/>
              </a:buClr>
              <a:buFont typeface="Wingdings" pitchFamily="2" charset="2"/>
              <a:buChar char="§"/>
            </a:pPr>
            <a:endParaRPr lang="en-US" sz="1200" baseline="-25000" dirty="0"/>
          </a:p>
          <a:p>
            <a:r>
              <a:rPr lang="en-US" sz="2400" dirty="0"/>
              <a:t>Subnet 1: 10000010 00110010 00000</a:t>
            </a:r>
            <a:r>
              <a:rPr lang="en-US" sz="2400" dirty="0">
                <a:solidFill>
                  <a:srgbClr val="FF0000"/>
                </a:solidFill>
              </a:rPr>
              <a:t>1|00</a:t>
            </a:r>
            <a:r>
              <a:rPr lang="en-US" sz="2400" dirty="0"/>
              <a:t> 00000001 </a:t>
            </a:r>
          </a:p>
          <a:p>
            <a:r>
              <a:rPr lang="en-US" sz="2400" dirty="0"/>
              <a:t>Subnet 2: 10000010 00110010 0000</a:t>
            </a:r>
            <a:r>
              <a:rPr lang="en-US" sz="2400" dirty="0">
                <a:solidFill>
                  <a:srgbClr val="FF0000"/>
                </a:solidFill>
              </a:rPr>
              <a:t>10|00</a:t>
            </a:r>
            <a:r>
              <a:rPr lang="en-US" sz="2400" dirty="0"/>
              <a:t> 00000001 </a:t>
            </a:r>
          </a:p>
          <a:p>
            <a:r>
              <a:rPr lang="en-US" sz="2400" dirty="0"/>
              <a:t>Subnet 3: 10000010 00110010 0000</a:t>
            </a:r>
            <a:r>
              <a:rPr lang="en-US" sz="2400" dirty="0">
                <a:solidFill>
                  <a:srgbClr val="FF0000"/>
                </a:solidFill>
              </a:rPr>
              <a:t>11|00</a:t>
            </a:r>
            <a:r>
              <a:rPr lang="en-US" sz="2400" dirty="0"/>
              <a:t> 00000001</a:t>
            </a:r>
          </a:p>
        </p:txBody>
      </p:sp>
      <p:sp>
        <p:nvSpPr>
          <p:cNvPr id="5" name="Rectangle 4"/>
          <p:cNvSpPr/>
          <p:nvPr/>
        </p:nvSpPr>
        <p:spPr>
          <a:xfrm>
            <a:off x="1659468" y="5796152"/>
            <a:ext cx="8839199" cy="830997"/>
          </a:xfrm>
          <a:prstGeom prst="rect">
            <a:avLst/>
          </a:prstGeom>
        </p:spPr>
        <p:txBody>
          <a:bodyPr wrap="square">
            <a:spAutoFit/>
          </a:bodyPr>
          <a:lstStyle/>
          <a:p>
            <a:pPr marL="342900" indent="-342900">
              <a:buFont typeface="Arial" panose="020B0604020202020204" pitchFamily="34" charset="0"/>
              <a:buChar char="•"/>
            </a:pPr>
            <a:r>
              <a:rPr lang="en-US" sz="2400" b="1" dirty="0"/>
              <a:t>vertical bar (|) </a:t>
            </a:r>
            <a:r>
              <a:rPr lang="en-US" sz="2400" dirty="0"/>
              <a:t>shows the </a:t>
            </a:r>
            <a:r>
              <a:rPr lang="en-US" sz="2400" b="1" dirty="0"/>
              <a:t>boundary between the subnet number and the host number. </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Subnets</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t>How subnets work:</a:t>
            </a:r>
          </a:p>
          <a:p>
            <a:pPr marL="609600" indent="-609600" algn="just">
              <a:spcBef>
                <a:spcPct val="20000"/>
              </a:spcBef>
              <a:buClr>
                <a:schemeClr val="accent2"/>
              </a:buClr>
              <a:buFont typeface="Wingdings" pitchFamily="2" charset="2"/>
              <a:buChar char="§"/>
            </a:pPr>
            <a:r>
              <a:rPr lang="en-US" sz="2400" dirty="0"/>
              <a:t>How to deal with the network:</a:t>
            </a:r>
          </a:p>
          <a:p>
            <a:pPr marL="1066800" lvl="1" indent="-609600" algn="just">
              <a:spcBef>
                <a:spcPct val="20000"/>
              </a:spcBef>
              <a:buClr>
                <a:schemeClr val="accent2"/>
              </a:buClr>
              <a:buFont typeface="Wingdings" pitchFamily="2" charset="2"/>
              <a:buChar char="§"/>
            </a:pPr>
            <a:r>
              <a:rPr lang="en-US" sz="2400" b="1" dirty="0"/>
              <a:t>Each router has a table listing </a:t>
            </a:r>
          </a:p>
          <a:p>
            <a:pPr marL="1981200" lvl="3" indent="-609600" algn="just">
              <a:spcBef>
                <a:spcPct val="20000"/>
              </a:spcBef>
              <a:buClr>
                <a:schemeClr val="accent2"/>
              </a:buClr>
              <a:buFont typeface="Wingdings" pitchFamily="2" charset="2"/>
              <a:buChar char="§"/>
            </a:pPr>
            <a:r>
              <a:rPr lang="en-US" sz="2400" dirty="0">
                <a:solidFill>
                  <a:srgbClr val="FF0000"/>
                </a:solidFill>
              </a:rPr>
              <a:t>some number of (network, 0) IP addresses </a:t>
            </a:r>
            <a:r>
              <a:rPr lang="en-US" sz="2400" dirty="0"/>
              <a:t>and </a:t>
            </a:r>
          </a:p>
          <a:p>
            <a:pPr marL="1981200" lvl="3" indent="-609600" algn="just">
              <a:spcBef>
                <a:spcPct val="20000"/>
              </a:spcBef>
              <a:buClr>
                <a:schemeClr val="accent2"/>
              </a:buClr>
              <a:buFont typeface="Wingdings" pitchFamily="2" charset="2"/>
              <a:buChar char="§"/>
            </a:pPr>
            <a:r>
              <a:rPr lang="en-US" sz="2400" dirty="0">
                <a:solidFill>
                  <a:srgbClr val="FF0000"/>
                </a:solidFill>
              </a:rPr>
              <a:t>some number of (this-network, host) IP addresses</a:t>
            </a:r>
            <a:r>
              <a:rPr lang="en-US" sz="2400" dirty="0"/>
              <a:t>. </a:t>
            </a:r>
          </a:p>
          <a:p>
            <a:pPr marL="1066800" lvl="1" indent="-609600" algn="just">
              <a:spcBef>
                <a:spcPct val="20000"/>
              </a:spcBef>
              <a:buClr>
                <a:schemeClr val="accent2"/>
              </a:buClr>
              <a:buFont typeface="Wingdings" pitchFamily="2" charset="2"/>
              <a:buChar char="§"/>
            </a:pPr>
            <a:r>
              <a:rPr lang="en-US" sz="2400" dirty="0">
                <a:solidFill>
                  <a:srgbClr val="FF0000"/>
                </a:solidFill>
              </a:rPr>
              <a:t>(network, 0) </a:t>
            </a:r>
            <a:r>
              <a:rPr lang="en-US" sz="2400" dirty="0"/>
              <a:t>IP addresses tells how to get to </a:t>
            </a:r>
            <a:r>
              <a:rPr lang="en-US" sz="2400" dirty="0">
                <a:solidFill>
                  <a:srgbClr val="FF0000"/>
                </a:solidFill>
              </a:rPr>
              <a:t>distant networks</a:t>
            </a:r>
            <a:r>
              <a:rPr lang="en-US" sz="2400" dirty="0"/>
              <a:t>. </a:t>
            </a:r>
          </a:p>
          <a:p>
            <a:pPr marL="1066800" lvl="1" indent="-609600" algn="just">
              <a:spcBef>
                <a:spcPct val="20000"/>
              </a:spcBef>
              <a:buClr>
                <a:schemeClr val="accent2"/>
              </a:buClr>
              <a:buFont typeface="Wingdings" pitchFamily="2" charset="2"/>
              <a:buChar char="§"/>
            </a:pPr>
            <a:r>
              <a:rPr lang="en-US" sz="2400" dirty="0">
                <a:solidFill>
                  <a:srgbClr val="FF0000"/>
                </a:solidFill>
              </a:rPr>
              <a:t>(this-network, host) </a:t>
            </a:r>
            <a:r>
              <a:rPr lang="en-US" sz="2400" dirty="0"/>
              <a:t>tells how to get to </a:t>
            </a:r>
            <a:r>
              <a:rPr lang="en-US" sz="2400" dirty="0">
                <a:solidFill>
                  <a:srgbClr val="FF0000"/>
                </a:solidFill>
              </a:rPr>
              <a:t>local hosts</a:t>
            </a:r>
            <a:r>
              <a:rPr lang="en-US" sz="2400" dirty="0"/>
              <a:t>. </a:t>
            </a:r>
          </a:p>
          <a:p>
            <a:pPr marL="1066800" lvl="1" indent="-609600" algn="just">
              <a:spcBef>
                <a:spcPct val="20000"/>
              </a:spcBef>
              <a:buClr>
                <a:schemeClr val="accent2"/>
              </a:buClr>
              <a:buFont typeface="Wingdings" pitchFamily="2" charset="2"/>
              <a:buChar char="§"/>
            </a:pPr>
            <a:r>
              <a:rPr lang="en-US" sz="2400" dirty="0"/>
              <a:t>Associated with each table is the network interface to use to reach the destination</a:t>
            </a:r>
          </a:p>
          <a:p>
            <a:pPr marL="1066800" lvl="1" indent="-609600" algn="just">
              <a:spcBef>
                <a:spcPct val="20000"/>
              </a:spcBef>
              <a:buClr>
                <a:schemeClr val="accent2"/>
              </a:buClr>
              <a:buFont typeface="Wingdings" pitchFamily="2" charset="2"/>
              <a:buChar char="§"/>
            </a:pPr>
            <a:r>
              <a:rPr lang="en-US" sz="2400" dirty="0"/>
              <a:t>When an </a:t>
            </a:r>
            <a:r>
              <a:rPr lang="en-US" sz="2400" b="1" dirty="0"/>
              <a:t>IP packet arrives, its destination address is looked up in the routing table. </a:t>
            </a:r>
          </a:p>
          <a:p>
            <a:pPr marL="1066800" lvl="1" indent="-609600" algn="just">
              <a:spcBef>
                <a:spcPct val="20000"/>
              </a:spcBef>
              <a:buClr>
                <a:schemeClr val="accent2"/>
              </a:buClr>
              <a:buFont typeface="Wingdings" pitchFamily="2" charset="2"/>
              <a:buChar char="§"/>
            </a:pPr>
            <a:r>
              <a:rPr lang="en-US" sz="2400" dirty="0"/>
              <a:t>If </a:t>
            </a:r>
            <a:r>
              <a:rPr lang="en-US" sz="2400" b="1" dirty="0"/>
              <a:t>the packet is for a distant network</a:t>
            </a:r>
            <a:r>
              <a:rPr lang="en-US" sz="2400" dirty="0"/>
              <a:t>, it is </a:t>
            </a:r>
            <a:r>
              <a:rPr lang="en-US" sz="2400" b="1" dirty="0"/>
              <a:t>forwarded to the next router on the interface given in the table</a:t>
            </a:r>
            <a:r>
              <a:rPr lang="en-US" sz="2400" dirty="0"/>
              <a:t>. </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Subnets</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t>If it is a </a:t>
            </a:r>
            <a:r>
              <a:rPr lang="en-US" sz="2400" b="1" dirty="0"/>
              <a:t>local host (e.g., on the router's LAN), it is sent directly to the destination. </a:t>
            </a:r>
          </a:p>
          <a:p>
            <a:pPr marL="609600" indent="-609600" algn="just">
              <a:spcBef>
                <a:spcPct val="20000"/>
              </a:spcBef>
              <a:buClr>
                <a:schemeClr val="accent2"/>
              </a:buClr>
              <a:buFont typeface="Wingdings" pitchFamily="2" charset="2"/>
              <a:buChar char="§"/>
            </a:pPr>
            <a:r>
              <a:rPr lang="en-US" sz="2400" dirty="0"/>
              <a:t>If the </a:t>
            </a:r>
            <a:r>
              <a:rPr lang="en-US" sz="2400" b="1" dirty="0"/>
              <a:t>network is not present</a:t>
            </a:r>
            <a:r>
              <a:rPr lang="en-US" sz="2400" dirty="0"/>
              <a:t>, the </a:t>
            </a:r>
            <a:r>
              <a:rPr lang="en-US" sz="2400" b="1" dirty="0"/>
              <a:t>packet is forwarded to a default router with more extensive tables. </a:t>
            </a:r>
          </a:p>
          <a:p>
            <a:pPr marL="609600" indent="-609600" algn="just">
              <a:spcBef>
                <a:spcPct val="20000"/>
              </a:spcBef>
              <a:buClr>
                <a:schemeClr val="accent2"/>
              </a:buClr>
              <a:buFont typeface="Wingdings" pitchFamily="2" charset="2"/>
              <a:buChar char="§"/>
            </a:pPr>
            <a:r>
              <a:rPr lang="en-US" sz="2400" dirty="0"/>
              <a:t>This algorithm means that each </a:t>
            </a:r>
            <a:r>
              <a:rPr lang="en-US" sz="2400" b="1" dirty="0"/>
              <a:t>router only has to keep track of other networks and local hosts</a:t>
            </a:r>
            <a:r>
              <a:rPr lang="en-US" sz="2400" dirty="0"/>
              <a:t>, not (network, host) pairs </a:t>
            </a:r>
          </a:p>
          <a:p>
            <a:pPr marL="609600" indent="-609600" algn="just">
              <a:spcBef>
                <a:spcPct val="20000"/>
              </a:spcBef>
              <a:buClr>
                <a:schemeClr val="accent2"/>
              </a:buClr>
              <a:buFont typeface="Wingdings" pitchFamily="2" charset="2"/>
              <a:buChar char="§"/>
            </a:pPr>
            <a:r>
              <a:rPr lang="en-US" sz="2400" dirty="0"/>
              <a:t>This greatly reducing </a:t>
            </a:r>
            <a:r>
              <a:rPr lang="en-US" sz="2400" b="1" dirty="0"/>
              <a:t>the size of the routing table</a:t>
            </a:r>
            <a:r>
              <a:rPr lang="en-US" sz="2400" dirty="0"/>
              <a:t>.</a:t>
            </a:r>
          </a:p>
          <a:p>
            <a:pPr marL="609600" indent="-609600" algn="just">
              <a:spcBef>
                <a:spcPct val="20000"/>
              </a:spcBef>
              <a:buClr>
                <a:schemeClr val="accent2"/>
              </a:buClr>
              <a:buFont typeface="Wingdings" pitchFamily="2" charset="2"/>
              <a:buChar char="§"/>
            </a:pPr>
            <a:r>
              <a:rPr lang="en-US" sz="2400" dirty="0"/>
              <a:t>When subnetting is introduced, the routing tables are changed, adding entries of the form </a:t>
            </a:r>
            <a:r>
              <a:rPr lang="en-US" sz="2400" dirty="0">
                <a:solidFill>
                  <a:srgbClr val="FF0000"/>
                </a:solidFill>
              </a:rPr>
              <a:t>(this-network, subnet, 0) </a:t>
            </a:r>
            <a:r>
              <a:rPr lang="en-US" sz="2400" dirty="0"/>
              <a:t>and </a:t>
            </a:r>
            <a:r>
              <a:rPr lang="en-US" sz="2400" dirty="0">
                <a:solidFill>
                  <a:srgbClr val="FF0000"/>
                </a:solidFill>
              </a:rPr>
              <a:t>(this-network, this-subnet, host)</a:t>
            </a:r>
            <a:r>
              <a:rPr lang="en-US" sz="2400" dirty="0"/>
              <a:t>. </a:t>
            </a:r>
          </a:p>
          <a:p>
            <a:pPr marL="609600" indent="-609600" algn="just">
              <a:spcBef>
                <a:spcPct val="20000"/>
              </a:spcBef>
              <a:buClr>
                <a:schemeClr val="accent2"/>
              </a:buClr>
              <a:buFont typeface="Wingdings" pitchFamily="2" charset="2"/>
              <a:buChar char="§"/>
            </a:pPr>
            <a:r>
              <a:rPr lang="en-US" sz="2400" dirty="0"/>
              <a:t>Thus, a router on subnet k knows </a:t>
            </a:r>
            <a:r>
              <a:rPr lang="en-US" sz="2400" b="1" dirty="0"/>
              <a:t>how to get to all the other subnets </a:t>
            </a:r>
            <a:r>
              <a:rPr lang="en-US" sz="2400" dirty="0"/>
              <a:t>and also </a:t>
            </a:r>
            <a:r>
              <a:rPr lang="en-US" sz="2400" b="1" dirty="0"/>
              <a:t>how to get to all the hosts on subnet k. </a:t>
            </a:r>
          </a:p>
          <a:p>
            <a:pPr marL="609600" indent="-609600" algn="just">
              <a:spcBef>
                <a:spcPct val="20000"/>
              </a:spcBef>
              <a:buClr>
                <a:schemeClr val="accent2"/>
              </a:buClr>
              <a:buFont typeface="Wingdings" pitchFamily="2" charset="2"/>
              <a:buChar char="§"/>
            </a:pPr>
            <a:r>
              <a:rPr lang="en-US" sz="2400" dirty="0"/>
              <a:t>It </a:t>
            </a:r>
            <a:r>
              <a:rPr lang="en-US" sz="2400" b="1" dirty="0"/>
              <a:t>does not have to know the details about hosts on other subnets</a:t>
            </a:r>
            <a:r>
              <a:rPr lang="en-US" sz="2400" dirty="0"/>
              <a:t>. </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dirty="0"/>
              <a:t>Subnets</a:t>
            </a:r>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t>all that needs to be changed is </a:t>
            </a:r>
          </a:p>
          <a:p>
            <a:pPr marL="1066800" lvl="1" indent="-609600" algn="just">
              <a:spcBef>
                <a:spcPct val="20000"/>
              </a:spcBef>
              <a:buClr>
                <a:schemeClr val="accent2"/>
              </a:buClr>
              <a:buFont typeface="Wingdings" pitchFamily="2" charset="2"/>
              <a:buChar char="§"/>
            </a:pPr>
            <a:r>
              <a:rPr lang="en-US" sz="2400" dirty="0"/>
              <a:t>to have each router do a </a:t>
            </a:r>
            <a:r>
              <a:rPr lang="en-US" sz="2400" dirty="0">
                <a:solidFill>
                  <a:srgbClr val="FF0000"/>
                </a:solidFill>
              </a:rPr>
              <a:t>Boolean AND </a:t>
            </a:r>
            <a:r>
              <a:rPr lang="en-US" sz="2400" dirty="0"/>
              <a:t>with the network's subnet mask to get rid of the host number and look up the resulting address in its tables (after determining which network class it is). </a:t>
            </a:r>
          </a:p>
          <a:p>
            <a:pPr marL="609600" indent="-609600" algn="just">
              <a:spcBef>
                <a:spcPct val="20000"/>
              </a:spcBef>
              <a:buClr>
                <a:schemeClr val="accent2"/>
              </a:buClr>
              <a:buFont typeface="Wingdings" pitchFamily="2" charset="2"/>
              <a:buChar char="§"/>
            </a:pPr>
            <a:r>
              <a:rPr lang="en-US" sz="2400" dirty="0"/>
              <a:t>For example, a packet addressed to 130.50.15.6 and arriving at the main router is ANDed with the subnet mask 255.255.252.0/22 to give the address 130.50.12.0. </a:t>
            </a:r>
          </a:p>
          <a:p>
            <a:pPr marL="1066800" lvl="1" indent="-609600" algn="just">
              <a:spcBef>
                <a:spcPct val="20000"/>
              </a:spcBef>
              <a:buClr>
                <a:schemeClr val="accent2"/>
              </a:buClr>
            </a:pPr>
            <a:r>
              <a:rPr lang="en-US" sz="2400" dirty="0"/>
              <a:t>	10000010   00110010   00001111   00000110      AND</a:t>
            </a:r>
          </a:p>
          <a:p>
            <a:pPr marL="1066800" lvl="1" indent="-609600" algn="just">
              <a:spcBef>
                <a:spcPct val="20000"/>
              </a:spcBef>
              <a:buClr>
                <a:schemeClr val="accent2"/>
              </a:buClr>
            </a:pPr>
            <a:r>
              <a:rPr lang="en-US" sz="2400" dirty="0"/>
              <a:t>	</a:t>
            </a:r>
            <a:r>
              <a:rPr lang="en-US" sz="2400" u="sng" dirty="0"/>
              <a:t>11111111   11111111   11111100   00000000</a:t>
            </a:r>
          </a:p>
          <a:p>
            <a:pPr marL="1066800" lvl="1" indent="-609600" algn="just">
              <a:spcBef>
                <a:spcPct val="20000"/>
              </a:spcBef>
              <a:buClr>
                <a:schemeClr val="accent2"/>
              </a:buClr>
            </a:pPr>
            <a:r>
              <a:rPr lang="en-US" sz="2400" dirty="0"/>
              <a:t>         10000010   00110010   00001100   00000000   (Subnet 3)</a:t>
            </a:r>
          </a:p>
          <a:p>
            <a:pPr marL="609600" indent="-609600" algn="just">
              <a:spcBef>
                <a:spcPct val="20000"/>
              </a:spcBef>
              <a:buClr>
                <a:schemeClr val="accent2"/>
              </a:buClr>
              <a:buFont typeface="Wingdings" pitchFamily="2" charset="2"/>
              <a:buChar char="§"/>
            </a:pPr>
            <a:r>
              <a:rPr lang="en-US" sz="2400" dirty="0"/>
              <a:t>This address is looked up in the routing tables to find out which output line to use to get to the router for subnet 3. </a:t>
            </a:r>
          </a:p>
          <a:p>
            <a:pPr marL="609600" indent="-609600" algn="just">
              <a:spcBef>
                <a:spcPct val="20000"/>
              </a:spcBef>
              <a:buClr>
                <a:schemeClr val="accent2"/>
              </a:buClr>
              <a:buFont typeface="Wingdings" pitchFamily="2" charset="2"/>
              <a:buChar char="§"/>
            </a:pPr>
            <a:r>
              <a:rPr lang="en-US" sz="2400" b="1" dirty="0"/>
              <a:t>Subnetting thus reduces router table space </a:t>
            </a:r>
            <a:r>
              <a:rPr lang="en-US" sz="2400" dirty="0"/>
              <a:t>by </a:t>
            </a:r>
            <a:r>
              <a:rPr lang="en-US" sz="2400" b="1" dirty="0"/>
              <a:t>creating a three-level hierarchy consisting of network, subnet, and host. </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C7904-C651-45CD-814C-0342C9A5736C}"/>
              </a:ext>
            </a:extLst>
          </p:cNvPr>
          <p:cNvSpPr>
            <a:spLocks noGrp="1"/>
          </p:cNvSpPr>
          <p:nvPr>
            <p:ph type="title"/>
          </p:nvPr>
        </p:nvSpPr>
        <p:spPr/>
        <p:txBody>
          <a:bodyPr/>
          <a:lstStyle/>
          <a:p>
            <a:r>
              <a:rPr lang="en-IN" b="1" dirty="0"/>
              <a:t>Tutorial</a:t>
            </a:r>
          </a:p>
        </p:txBody>
      </p:sp>
      <p:sp>
        <p:nvSpPr>
          <p:cNvPr id="3" name="Content Placeholder 2">
            <a:extLst>
              <a:ext uri="{FF2B5EF4-FFF2-40B4-BE49-F238E27FC236}">
                <a16:creationId xmlns:a16="http://schemas.microsoft.com/office/drawing/2014/main" id="{335BA9FA-A1AE-4D5E-A2C9-FD4D1B599746}"/>
              </a:ext>
            </a:extLst>
          </p:cNvPr>
          <p:cNvSpPr>
            <a:spLocks noGrp="1"/>
          </p:cNvSpPr>
          <p:nvPr>
            <p:ph idx="1"/>
          </p:nvPr>
        </p:nvSpPr>
        <p:spPr>
          <a:xfrm>
            <a:off x="838200" y="1435512"/>
            <a:ext cx="10515600" cy="5525729"/>
          </a:xfrm>
        </p:spPr>
        <p:txBody>
          <a:bodyPr>
            <a:normAutofit/>
          </a:bodyPr>
          <a:lstStyle/>
          <a:p>
            <a:pPr algn="l"/>
            <a:r>
              <a:rPr lang="en-US" sz="2400" b="1" i="0" u="none" strike="noStrike" baseline="0" dirty="0">
                <a:latin typeface="Times New Roman" panose="02020603050405020304" pitchFamily="18" charset="0"/>
              </a:rPr>
              <a:t>A network on the Internet has a subnet mask of 255.255.240.0. What is the maximum number of hosts it can handle?</a:t>
            </a:r>
          </a:p>
          <a:p>
            <a:pPr algn="l"/>
            <a:r>
              <a:rPr lang="en-IN" sz="2400" b="0" i="0" u="none" strike="noStrike" baseline="0" dirty="0">
                <a:solidFill>
                  <a:srgbClr val="000000"/>
                </a:solidFill>
                <a:latin typeface="CIDFont+F2"/>
              </a:rPr>
              <a:t>Subnet Mask : - 255.255.240.0</a:t>
            </a:r>
          </a:p>
          <a:p>
            <a:pPr marL="0" indent="0" algn="l">
              <a:buNone/>
            </a:pPr>
            <a:r>
              <a:rPr lang="en-IN" sz="2400" b="0" i="0" u="none" strike="noStrike" baseline="0" dirty="0">
                <a:solidFill>
                  <a:srgbClr val="444444"/>
                </a:solidFill>
                <a:latin typeface="CIDFont+F1"/>
              </a:rPr>
              <a:t>                                11111111.11111111.1111</a:t>
            </a:r>
            <a:r>
              <a:rPr lang="en-IN" sz="2400" b="0" i="0" u="none" strike="noStrike" baseline="0" dirty="0">
                <a:solidFill>
                  <a:srgbClr val="444444"/>
                </a:solidFill>
                <a:latin typeface="CIDFont+F2"/>
              </a:rPr>
              <a:t>0000.00000000</a:t>
            </a:r>
          </a:p>
          <a:p>
            <a:pPr marL="0" indent="0" algn="l">
              <a:buNone/>
            </a:pPr>
            <a:r>
              <a:rPr lang="en-IN" sz="2400" b="0" i="0" u="none" strike="noStrike" baseline="0" dirty="0">
                <a:solidFill>
                  <a:srgbClr val="444444"/>
                </a:solidFill>
                <a:latin typeface="CIDFont+F1"/>
              </a:rPr>
              <a:t>                                 </a:t>
            </a:r>
            <a:r>
              <a:rPr lang="en-IN" sz="2400" b="0" i="0" u="none" strike="noStrike" baseline="0" dirty="0" err="1">
                <a:solidFill>
                  <a:srgbClr val="444444"/>
                </a:solidFill>
                <a:latin typeface="CIDFont+F1"/>
              </a:rPr>
              <a:t>Netid</a:t>
            </a:r>
            <a:r>
              <a:rPr lang="en-IN" sz="2400" b="0" i="0" u="none" strike="noStrike" baseline="0" dirty="0">
                <a:solidFill>
                  <a:srgbClr val="444444"/>
                </a:solidFill>
                <a:latin typeface="CIDFont+F1"/>
              </a:rPr>
              <a:t>                                   | </a:t>
            </a:r>
            <a:r>
              <a:rPr lang="en-IN" sz="2400" b="0" i="0" u="none" strike="noStrike" baseline="0" dirty="0" err="1">
                <a:solidFill>
                  <a:srgbClr val="444444"/>
                </a:solidFill>
                <a:latin typeface="CIDFont+F2"/>
              </a:rPr>
              <a:t>hostid</a:t>
            </a:r>
            <a:r>
              <a:rPr lang="en-IN" sz="2400" b="0" i="0" u="none" strike="noStrike" baseline="0" dirty="0">
                <a:solidFill>
                  <a:srgbClr val="444444"/>
                </a:solidFill>
                <a:latin typeface="CIDFont+F2"/>
              </a:rPr>
              <a:t>              |</a:t>
            </a:r>
          </a:p>
          <a:p>
            <a:pPr algn="l"/>
            <a:r>
              <a:rPr lang="en-US" sz="2400" b="0" i="0" u="none" strike="noStrike" baseline="0" dirty="0">
                <a:solidFill>
                  <a:srgbClr val="000000"/>
                </a:solidFill>
                <a:latin typeface="CIDFont+F2"/>
              </a:rPr>
              <a:t>It is a class B network. For a class B network, the upper 16 bits form the network address and lower 16 bits are subnet and host fields.</a:t>
            </a:r>
          </a:p>
          <a:p>
            <a:pPr algn="l"/>
            <a:r>
              <a:rPr lang="en-US" sz="2400" b="0" i="0" u="none" strike="noStrike" baseline="0" dirty="0">
                <a:solidFill>
                  <a:srgbClr val="000000"/>
                </a:solidFill>
                <a:latin typeface="CIDFont+F2"/>
              </a:rPr>
              <a:t> Of the lower 16 bits most significant 4 bits are 1111.This leaves </a:t>
            </a:r>
            <a:r>
              <a:rPr lang="en-US" sz="2400" b="1" i="0" u="none" strike="noStrike" baseline="0" dirty="0">
                <a:solidFill>
                  <a:srgbClr val="000000"/>
                </a:solidFill>
                <a:latin typeface="CIDFont+F2"/>
              </a:rPr>
              <a:t>12 bits </a:t>
            </a:r>
            <a:r>
              <a:rPr lang="en-US" sz="2400" b="0" i="0" u="none" strike="noStrike" baseline="0" dirty="0">
                <a:solidFill>
                  <a:srgbClr val="000000"/>
                </a:solidFill>
                <a:latin typeface="CIDFont+F2"/>
              </a:rPr>
              <a:t>for the </a:t>
            </a:r>
            <a:r>
              <a:rPr lang="en-US" sz="2400" b="1" i="0" u="none" strike="noStrike" baseline="0" dirty="0">
                <a:latin typeface="CIDFont+F2"/>
              </a:rPr>
              <a:t>host number</a:t>
            </a:r>
            <a:r>
              <a:rPr lang="en-US" sz="2400" b="0" i="0" u="none" strike="noStrike" baseline="0" dirty="0">
                <a:latin typeface="CIDFont+F2"/>
              </a:rPr>
              <a:t>.</a:t>
            </a:r>
          </a:p>
          <a:p>
            <a:pPr marL="0" indent="0" algn="l">
              <a:buNone/>
            </a:pPr>
            <a:r>
              <a:rPr lang="en-US" sz="2400" b="0" i="0" u="none" strike="noStrike" baseline="0" dirty="0">
                <a:latin typeface="CIDFont+F2"/>
              </a:rPr>
              <a:t>     So,</a:t>
            </a:r>
            <a:r>
              <a:rPr lang="en-US" sz="2400" b="1" i="0" u="none" strike="noStrike" baseline="0" dirty="0">
                <a:latin typeface="CIDFont+F2"/>
              </a:rPr>
              <a:t>4096(2</a:t>
            </a:r>
            <a:r>
              <a:rPr lang="en-US" sz="2400" b="1" i="0" u="none" strike="noStrike" baseline="30000" dirty="0">
                <a:latin typeface="CIDFont+F2"/>
              </a:rPr>
              <a:t>12</a:t>
            </a:r>
            <a:r>
              <a:rPr lang="en-US" sz="2400" b="1" i="0" u="none" strike="noStrike" baseline="0" dirty="0">
                <a:latin typeface="CIDFont+F2"/>
              </a:rPr>
              <a:t>) host address </a:t>
            </a:r>
            <a:r>
              <a:rPr lang="en-US" sz="2400" b="0" i="0" u="none" strike="noStrike" baseline="0" dirty="0">
                <a:latin typeface="CIDFont+F2"/>
              </a:rPr>
              <a:t>exists. </a:t>
            </a:r>
          </a:p>
          <a:p>
            <a:pPr marL="0" indent="0" algn="l">
              <a:buNone/>
            </a:pPr>
            <a:r>
              <a:rPr lang="en-US" sz="2400" b="0" i="0" u="none" strike="noStrike" baseline="0" dirty="0">
                <a:latin typeface="CIDFont+F2"/>
              </a:rPr>
              <a:t>    That is, Actual host </a:t>
            </a:r>
            <a:r>
              <a:rPr lang="en-IN" sz="2400" b="0" i="0" u="none" strike="noStrike" baseline="0" dirty="0">
                <a:latin typeface="CIDFont+F2"/>
              </a:rPr>
              <a:t>addresses are- 4096</a:t>
            </a:r>
          </a:p>
          <a:p>
            <a:pPr algn="l"/>
            <a:r>
              <a:rPr lang="en-US" sz="2400" b="0" i="0" u="none" strike="noStrike" baseline="0" dirty="0">
                <a:latin typeface="CIDFont+F2"/>
              </a:rPr>
              <a:t>But, </a:t>
            </a:r>
            <a:r>
              <a:rPr lang="en-US" sz="2400" b="1" i="0" u="none" strike="noStrike" baseline="0" dirty="0">
                <a:latin typeface="CIDFont+F2"/>
              </a:rPr>
              <a:t>First and Last address are special </a:t>
            </a:r>
            <a:r>
              <a:rPr lang="en-US" sz="2400" b="0" i="0" u="none" strike="noStrike" baseline="0" dirty="0">
                <a:latin typeface="CIDFont+F2"/>
              </a:rPr>
              <a:t>so the </a:t>
            </a:r>
            <a:r>
              <a:rPr lang="en-US" sz="2400" b="1" i="0" u="none" strike="noStrike" baseline="0" dirty="0">
                <a:latin typeface="CIDFont+F2"/>
              </a:rPr>
              <a:t>maximum number of addresses that can be used as host address =</a:t>
            </a:r>
            <a:r>
              <a:rPr lang="en-US" sz="2400" i="0" u="none" strike="noStrike" baseline="0" dirty="0">
                <a:latin typeface="CIDFont+F2"/>
              </a:rPr>
              <a:t>4096-2</a:t>
            </a:r>
            <a:r>
              <a:rPr lang="en-US" sz="2400" b="1" i="0" u="none" strike="noStrike" baseline="0" dirty="0">
                <a:latin typeface="CIDFont+F2"/>
              </a:rPr>
              <a:t>=4094</a:t>
            </a:r>
            <a:endParaRPr lang="en-US" sz="2400" b="1" i="0" u="none" strike="noStrike" baseline="0" dirty="0">
              <a:solidFill>
                <a:srgbClr val="000000"/>
              </a:solidFill>
              <a:latin typeface="CIDFont+F2"/>
            </a:endParaRPr>
          </a:p>
          <a:p>
            <a:pPr marL="0" indent="0" algn="l">
              <a:buNone/>
            </a:pPr>
            <a:endParaRPr lang="en-IN" dirty="0"/>
          </a:p>
        </p:txBody>
      </p:sp>
    </p:spTree>
    <p:extLst>
      <p:ext uri="{BB962C8B-B14F-4D97-AF65-F5344CB8AC3E}">
        <p14:creationId xmlns:p14="http://schemas.microsoft.com/office/powerpoint/2010/main" val="3649698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93247-514D-4564-B3C3-FD65F22D63E6}"/>
              </a:ext>
            </a:extLst>
          </p:cNvPr>
          <p:cNvSpPr>
            <a:spLocks noGrp="1"/>
          </p:cNvSpPr>
          <p:nvPr>
            <p:ph type="title"/>
          </p:nvPr>
        </p:nvSpPr>
        <p:spPr/>
        <p:txBody>
          <a:bodyPr/>
          <a:lstStyle/>
          <a:p>
            <a:r>
              <a:rPr lang="en-IN" b="1" dirty="0"/>
              <a:t>Tutorial</a:t>
            </a:r>
            <a:endParaRPr lang="en-IN" dirty="0"/>
          </a:p>
        </p:txBody>
      </p:sp>
      <p:sp>
        <p:nvSpPr>
          <p:cNvPr id="3" name="Content Placeholder 2">
            <a:extLst>
              <a:ext uri="{FF2B5EF4-FFF2-40B4-BE49-F238E27FC236}">
                <a16:creationId xmlns:a16="http://schemas.microsoft.com/office/drawing/2014/main" id="{FEC86B6A-7163-4825-9008-688EDBD25434}"/>
              </a:ext>
            </a:extLst>
          </p:cNvPr>
          <p:cNvSpPr>
            <a:spLocks noGrp="1"/>
          </p:cNvSpPr>
          <p:nvPr>
            <p:ph idx="1"/>
          </p:nvPr>
        </p:nvSpPr>
        <p:spPr/>
        <p:txBody>
          <a:bodyPr/>
          <a:lstStyle/>
          <a:p>
            <a:pPr marL="0" indent="0" algn="l">
              <a:buNone/>
            </a:pPr>
            <a:r>
              <a:rPr lang="en-US" b="1" i="0" u="none" strike="noStrike" baseline="0" dirty="0">
                <a:latin typeface="TimesNewRomanPSMT"/>
              </a:rPr>
              <a:t>How do you subnet the Class C IP address 195.1.1.0 so as to have 10 subnets with a maximum of 12 hosts in each subnet.</a:t>
            </a:r>
          </a:p>
          <a:p>
            <a:pPr algn="l"/>
            <a:r>
              <a:rPr lang="en-US" b="0" i="0" dirty="0">
                <a:solidFill>
                  <a:srgbClr val="303030"/>
                </a:solidFill>
                <a:effectLst/>
                <a:latin typeface="Gudea"/>
              </a:rPr>
              <a:t>Current mask= 255.255.255.0</a:t>
            </a:r>
          </a:p>
          <a:p>
            <a:pPr algn="l"/>
            <a:r>
              <a:rPr lang="en-US" b="0" i="0" dirty="0">
                <a:solidFill>
                  <a:srgbClr val="303030"/>
                </a:solidFill>
                <a:effectLst/>
                <a:latin typeface="Gudea"/>
              </a:rPr>
              <a:t>Bits needs for 10 subnets =4 =2</a:t>
            </a:r>
            <a:r>
              <a:rPr lang="en-US" b="0" i="0" baseline="30000" dirty="0">
                <a:solidFill>
                  <a:srgbClr val="303030"/>
                </a:solidFill>
                <a:effectLst/>
                <a:latin typeface="Gudea"/>
              </a:rPr>
              <a:t>4</a:t>
            </a:r>
            <a:r>
              <a:rPr lang="en-US" b="0" i="0" dirty="0">
                <a:solidFill>
                  <a:srgbClr val="303030"/>
                </a:solidFill>
                <a:effectLst/>
                <a:latin typeface="Gudea"/>
              </a:rPr>
              <a:t> =16 possible subnets</a:t>
            </a:r>
          </a:p>
          <a:p>
            <a:pPr algn="l"/>
            <a:r>
              <a:rPr lang="en-US" b="0" i="0" dirty="0">
                <a:solidFill>
                  <a:srgbClr val="303030"/>
                </a:solidFill>
                <a:effectLst/>
                <a:latin typeface="Gudea"/>
              </a:rPr>
              <a:t>Bits needs for 12 hosts = 4 = 2</a:t>
            </a:r>
            <a:r>
              <a:rPr lang="en-US" b="0" i="0" baseline="30000" dirty="0">
                <a:solidFill>
                  <a:srgbClr val="303030"/>
                </a:solidFill>
                <a:effectLst/>
                <a:latin typeface="Gudea"/>
              </a:rPr>
              <a:t>4</a:t>
            </a:r>
            <a:r>
              <a:rPr lang="en-US" b="0" i="0" dirty="0">
                <a:solidFill>
                  <a:srgbClr val="303030"/>
                </a:solidFill>
                <a:effectLst/>
                <a:latin typeface="Gudea"/>
              </a:rPr>
              <a:t>  = 16-2=14 possible hosts.</a:t>
            </a:r>
          </a:p>
          <a:p>
            <a:pPr algn="l"/>
            <a:r>
              <a:rPr lang="en-US" b="0" i="0" dirty="0">
                <a:solidFill>
                  <a:srgbClr val="303030"/>
                </a:solidFill>
                <a:effectLst/>
                <a:latin typeface="Gudea"/>
              </a:rPr>
              <a:t>So our mask in binary =</a:t>
            </a:r>
            <a:r>
              <a:rPr lang="en-US" b="1" i="0" dirty="0">
                <a:solidFill>
                  <a:srgbClr val="303030"/>
                </a:solidFill>
                <a:effectLst/>
                <a:latin typeface="Gudea"/>
              </a:rPr>
              <a:t>11110000</a:t>
            </a:r>
            <a:r>
              <a:rPr lang="en-US" b="0" i="0" dirty="0">
                <a:solidFill>
                  <a:srgbClr val="303030"/>
                </a:solidFill>
                <a:effectLst/>
                <a:latin typeface="Gudea"/>
              </a:rPr>
              <a:t>= </a:t>
            </a:r>
            <a:r>
              <a:rPr lang="en-US" b="1" i="0" dirty="0">
                <a:solidFill>
                  <a:srgbClr val="303030"/>
                </a:solidFill>
                <a:effectLst/>
                <a:latin typeface="Gudea"/>
              </a:rPr>
              <a:t>240</a:t>
            </a:r>
            <a:r>
              <a:rPr lang="en-US" b="0" i="0" dirty="0">
                <a:solidFill>
                  <a:srgbClr val="303030"/>
                </a:solidFill>
                <a:effectLst/>
                <a:latin typeface="Gudea"/>
              </a:rPr>
              <a:t> decimal</a:t>
            </a:r>
          </a:p>
          <a:p>
            <a:pPr algn="l"/>
            <a:r>
              <a:rPr lang="en-US" b="0" i="0" dirty="0">
                <a:solidFill>
                  <a:srgbClr val="303030"/>
                </a:solidFill>
                <a:effectLst/>
                <a:latin typeface="Gudea"/>
              </a:rPr>
              <a:t>Final Mask =</a:t>
            </a:r>
            <a:r>
              <a:rPr lang="en-US" b="1" i="0" dirty="0">
                <a:solidFill>
                  <a:srgbClr val="303030"/>
                </a:solidFill>
                <a:effectLst/>
                <a:latin typeface="Gudea"/>
              </a:rPr>
              <a:t>255.255.255.240</a:t>
            </a:r>
            <a:endParaRPr lang="en-US" b="0" i="0" dirty="0">
              <a:solidFill>
                <a:srgbClr val="303030"/>
              </a:solidFill>
              <a:effectLst/>
              <a:latin typeface="Gudea"/>
            </a:endParaRPr>
          </a:p>
          <a:p>
            <a:pPr marL="0" indent="0" algn="l">
              <a:buNone/>
            </a:pPr>
            <a:endParaRPr lang="en-IN" dirty="0"/>
          </a:p>
        </p:txBody>
      </p:sp>
    </p:spTree>
    <p:extLst>
      <p:ext uri="{BB962C8B-B14F-4D97-AF65-F5344CB8AC3E}">
        <p14:creationId xmlns:p14="http://schemas.microsoft.com/office/powerpoint/2010/main" val="334552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49997-195C-43E9-A292-C5A5CEF7369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0250CB-632C-446C-97EE-5C35448CAF3D}"/>
              </a:ext>
            </a:extLst>
          </p:cNvPr>
          <p:cNvSpPr>
            <a:spLocks noGrp="1"/>
          </p:cNvSpPr>
          <p:nvPr>
            <p:ph idx="1"/>
          </p:nvPr>
        </p:nvSpPr>
        <p:spPr>
          <a:xfrm>
            <a:off x="838200" y="1825625"/>
            <a:ext cx="10960510" cy="4351338"/>
          </a:xfrm>
        </p:spPr>
        <p:txBody>
          <a:bodyPr/>
          <a:lstStyle/>
          <a:p>
            <a:pPr marL="0" indent="0" algn="l">
              <a:buNone/>
            </a:pPr>
            <a:r>
              <a:rPr lang="en-US" b="1" dirty="0">
                <a:solidFill>
                  <a:srgbClr val="303030"/>
                </a:solidFill>
                <a:latin typeface="Gudea"/>
              </a:rPr>
              <a:t>3</a:t>
            </a:r>
            <a:r>
              <a:rPr lang="en-US" b="1" i="0" dirty="0">
                <a:solidFill>
                  <a:srgbClr val="303030"/>
                </a:solidFill>
                <a:effectLst/>
                <a:latin typeface="Gudea"/>
              </a:rPr>
              <a:t>. Write the IP address 135.1.1.25 mask 255.255. 248.0 in CIDR(Classless Inter Domain Routing) notation</a:t>
            </a:r>
          </a:p>
          <a:p>
            <a:pPr algn="l"/>
            <a:r>
              <a:rPr lang="en-US" b="0" i="0" dirty="0">
                <a:solidFill>
                  <a:srgbClr val="303030"/>
                </a:solidFill>
                <a:effectLst/>
                <a:latin typeface="Gudea"/>
              </a:rPr>
              <a:t>Decimal 248 =</a:t>
            </a:r>
            <a:r>
              <a:rPr lang="en-US" b="1" i="0" dirty="0">
                <a:solidFill>
                  <a:srgbClr val="303030"/>
                </a:solidFill>
                <a:effectLst/>
                <a:latin typeface="Gudea"/>
              </a:rPr>
              <a:t>11111000</a:t>
            </a:r>
            <a:r>
              <a:rPr lang="en-US" b="0" i="0" dirty="0">
                <a:solidFill>
                  <a:srgbClr val="303030"/>
                </a:solidFill>
                <a:effectLst/>
                <a:latin typeface="Gudea"/>
              </a:rPr>
              <a:t> binary which means that 5 bits of this octet are used for the subnet. </a:t>
            </a:r>
          </a:p>
          <a:p>
            <a:pPr algn="l"/>
            <a:r>
              <a:rPr lang="en-US" b="0" i="0" dirty="0">
                <a:solidFill>
                  <a:srgbClr val="303030"/>
                </a:solidFill>
                <a:effectLst/>
                <a:latin typeface="Gudea"/>
              </a:rPr>
              <a:t>Now add the 16 bits 255.255. and we have 21 bits. </a:t>
            </a:r>
          </a:p>
          <a:p>
            <a:pPr algn="l"/>
            <a:r>
              <a:rPr lang="en-US" b="0" i="0" dirty="0">
                <a:solidFill>
                  <a:srgbClr val="303030"/>
                </a:solidFill>
                <a:effectLst/>
                <a:latin typeface="Gudea"/>
              </a:rPr>
              <a:t>So we write:</a:t>
            </a:r>
            <a:r>
              <a:rPr lang="en-US" b="1" i="0" dirty="0">
                <a:solidFill>
                  <a:srgbClr val="303030"/>
                </a:solidFill>
                <a:effectLst/>
                <a:latin typeface="Gudea"/>
              </a:rPr>
              <a:t>135.1.1.25/21</a:t>
            </a:r>
          </a:p>
          <a:p>
            <a:pPr marL="0" indent="0">
              <a:buNone/>
            </a:pPr>
            <a:endParaRPr lang="en-IN" dirty="0"/>
          </a:p>
        </p:txBody>
      </p:sp>
    </p:spTree>
    <p:extLst>
      <p:ext uri="{BB962C8B-B14F-4D97-AF65-F5344CB8AC3E}">
        <p14:creationId xmlns:p14="http://schemas.microsoft.com/office/powerpoint/2010/main" val="4265917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t>In addition to </a:t>
            </a:r>
            <a:r>
              <a:rPr lang="en-US" sz="2600" dirty="0">
                <a:solidFill>
                  <a:srgbClr val="FF0000"/>
                </a:solidFill>
              </a:rPr>
              <a:t>IP</a:t>
            </a:r>
            <a:r>
              <a:rPr lang="en-US" sz="2600" dirty="0"/>
              <a:t>, which is used for data transfer, the Internet has several control protocols used in the network layer, including </a:t>
            </a:r>
            <a:r>
              <a:rPr lang="en-US" sz="2600" dirty="0">
                <a:solidFill>
                  <a:srgbClr val="FF0000"/>
                </a:solidFill>
              </a:rPr>
              <a:t>ICMP, ARP, RARP, BOOTP</a:t>
            </a:r>
            <a:r>
              <a:rPr lang="en-US" sz="2600" dirty="0"/>
              <a:t>, and </a:t>
            </a:r>
            <a:r>
              <a:rPr lang="en-US" sz="2600" dirty="0">
                <a:solidFill>
                  <a:srgbClr val="FF0000"/>
                </a:solidFill>
              </a:rPr>
              <a:t>DHCP</a:t>
            </a:r>
          </a:p>
          <a:p>
            <a:pPr marL="609600" indent="-609600" algn="just">
              <a:spcBef>
                <a:spcPct val="20000"/>
              </a:spcBef>
              <a:buClr>
                <a:schemeClr val="accent2"/>
              </a:buClr>
              <a:buFont typeface="Wingdings" pitchFamily="2" charset="2"/>
              <a:buChar char="§"/>
            </a:pPr>
            <a:r>
              <a:rPr lang="en-US" sz="2600" b="1" i="1" dirty="0"/>
              <a:t>ICMP - Internet Control Message Protocol:</a:t>
            </a:r>
          </a:p>
          <a:p>
            <a:pPr marL="1066800" lvl="1" indent="-609600" algn="just">
              <a:spcBef>
                <a:spcPct val="20000"/>
              </a:spcBef>
              <a:buClr>
                <a:schemeClr val="accent2"/>
              </a:buClr>
              <a:buFont typeface="Wingdings" pitchFamily="2" charset="2"/>
              <a:buChar char="§"/>
            </a:pPr>
            <a:r>
              <a:rPr lang="en-US" sz="2600" dirty="0"/>
              <a:t>The operation of the Internet is monitored closely by the </a:t>
            </a:r>
            <a:r>
              <a:rPr lang="en-US" sz="2600" dirty="0">
                <a:solidFill>
                  <a:srgbClr val="FF0000"/>
                </a:solidFill>
              </a:rPr>
              <a:t>routers. </a:t>
            </a:r>
          </a:p>
          <a:p>
            <a:pPr marL="1066800" lvl="1" indent="-609600" algn="just">
              <a:spcBef>
                <a:spcPct val="20000"/>
              </a:spcBef>
              <a:buClr>
                <a:schemeClr val="accent2"/>
              </a:buClr>
              <a:buFont typeface="Wingdings" pitchFamily="2" charset="2"/>
              <a:buChar char="§"/>
            </a:pPr>
            <a:r>
              <a:rPr lang="en-US" sz="2600" dirty="0"/>
              <a:t>When something </a:t>
            </a:r>
            <a:r>
              <a:rPr lang="en-US" sz="2600" dirty="0">
                <a:solidFill>
                  <a:srgbClr val="FF0000"/>
                </a:solidFill>
              </a:rPr>
              <a:t>unexpected</a:t>
            </a:r>
            <a:r>
              <a:rPr lang="en-US" sz="2600" dirty="0"/>
              <a:t> occurs, the event is reported by the </a:t>
            </a:r>
            <a:r>
              <a:rPr lang="en-US" sz="2600" dirty="0">
                <a:solidFill>
                  <a:srgbClr val="FF0000"/>
                </a:solidFill>
              </a:rPr>
              <a:t>ICMP</a:t>
            </a:r>
            <a:r>
              <a:rPr lang="en-US" sz="2600" dirty="0"/>
              <a:t> </a:t>
            </a:r>
          </a:p>
          <a:p>
            <a:pPr marL="1066800" lvl="1" indent="-609600" algn="just">
              <a:spcBef>
                <a:spcPct val="20000"/>
              </a:spcBef>
              <a:buClr>
                <a:schemeClr val="accent2"/>
              </a:buClr>
              <a:buFont typeface="Wingdings" pitchFamily="2" charset="2"/>
              <a:buChar char="§"/>
            </a:pPr>
            <a:r>
              <a:rPr lang="en-US" sz="2600" dirty="0"/>
              <a:t>ICMP is also used to </a:t>
            </a:r>
            <a:r>
              <a:rPr lang="en-US" sz="2600" dirty="0">
                <a:solidFill>
                  <a:srgbClr val="FF0000"/>
                </a:solidFill>
              </a:rPr>
              <a:t>test</a:t>
            </a:r>
            <a:r>
              <a:rPr lang="en-US" sz="2600" dirty="0"/>
              <a:t> the Internet. </a:t>
            </a:r>
          </a:p>
          <a:p>
            <a:pPr marL="1066800" lvl="1" indent="-609600" algn="just">
              <a:spcBef>
                <a:spcPct val="20000"/>
              </a:spcBef>
              <a:buClr>
                <a:schemeClr val="accent2"/>
              </a:buClr>
              <a:buFont typeface="Wingdings" pitchFamily="2" charset="2"/>
              <a:buChar char="§"/>
            </a:pPr>
            <a:r>
              <a:rPr lang="en-US" sz="2600" dirty="0"/>
              <a:t>About a </a:t>
            </a:r>
            <a:r>
              <a:rPr lang="en-US" sz="2600" b="1" dirty="0"/>
              <a:t>dozen types of ICMP messages are defined</a:t>
            </a:r>
            <a:r>
              <a:rPr lang="en-US" sz="2600" dirty="0"/>
              <a:t>. The most important ones are listed in Fig. </a:t>
            </a:r>
          </a:p>
          <a:p>
            <a:pPr marL="1066800" lvl="1" indent="-609600" algn="just">
              <a:spcBef>
                <a:spcPct val="20000"/>
              </a:spcBef>
              <a:buClr>
                <a:schemeClr val="accent2"/>
              </a:buClr>
              <a:buFont typeface="Wingdings" pitchFamily="2" charset="2"/>
              <a:buChar char="§"/>
            </a:pPr>
            <a:r>
              <a:rPr lang="en-US" sz="2600" dirty="0"/>
              <a:t>Each ICMP message type is </a:t>
            </a:r>
            <a:r>
              <a:rPr lang="en-US" sz="2600" b="1" dirty="0"/>
              <a:t>encapsulated in an IP packet</a:t>
            </a:r>
            <a:r>
              <a:rPr lang="en-US" sz="2400" dirty="0"/>
              <a:t>. </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t>Internet Control Message Protocol</a:t>
            </a:r>
          </a:p>
        </p:txBody>
      </p:sp>
      <p:sp>
        <p:nvSpPr>
          <p:cNvPr id="78851" name="Rectangle 3"/>
          <p:cNvSpPr>
            <a:spLocks noGrp="1" noChangeArrowheads="1"/>
          </p:cNvSpPr>
          <p:nvPr>
            <p:ph type="body" idx="1"/>
          </p:nvPr>
        </p:nvSpPr>
        <p:spPr>
          <a:xfrm>
            <a:off x="1524000" y="6179691"/>
            <a:ext cx="9144000" cy="445957"/>
          </a:xfrm>
        </p:spPr>
        <p:txBody>
          <a:bodyPr>
            <a:normAutofit lnSpcReduction="10000"/>
          </a:bodyPr>
          <a:lstStyle/>
          <a:p>
            <a:pPr algn="ctr">
              <a:buFontTx/>
              <a:buNone/>
            </a:pPr>
            <a:r>
              <a:rPr lang="en-US" dirty="0"/>
              <a:t>The principal ICMP message types.</a:t>
            </a:r>
          </a:p>
        </p:txBody>
      </p:sp>
      <p:sp>
        <p:nvSpPr>
          <p:cNvPr id="78852" name="Text Box 4"/>
          <p:cNvSpPr txBox="1">
            <a:spLocks noChangeArrowheads="1"/>
          </p:cNvSpPr>
          <p:nvPr/>
        </p:nvSpPr>
        <p:spPr bwMode="auto">
          <a:xfrm>
            <a:off x="4768851" y="2668588"/>
            <a:ext cx="2316163" cy="457200"/>
          </a:xfrm>
          <a:prstGeom prst="rect">
            <a:avLst/>
          </a:prstGeom>
          <a:noFill/>
          <a:ln w="9525">
            <a:noFill/>
            <a:miter lim="800000"/>
            <a:headEnd/>
            <a:tailEnd/>
          </a:ln>
          <a:effectLst/>
        </p:spPr>
        <p:txBody>
          <a:bodyPr>
            <a:spAutoFit/>
          </a:bodyPr>
          <a:lstStyle/>
          <a:p>
            <a:pPr>
              <a:spcBef>
                <a:spcPct val="50000"/>
              </a:spcBef>
            </a:pPr>
            <a:r>
              <a:rPr lang="en-US" sz="2400">
                <a:latin typeface="Times New Roman" pitchFamily="18" charset="0"/>
              </a:rPr>
              <a:t>5-61</a:t>
            </a:r>
          </a:p>
        </p:txBody>
      </p:sp>
      <p:pic>
        <p:nvPicPr>
          <p:cNvPr id="78853" name="Picture 5" descr="5-61"/>
          <p:cNvPicPr>
            <a:picLocks noChangeAspect="1" noChangeArrowheads="1"/>
          </p:cNvPicPr>
          <p:nvPr/>
        </p:nvPicPr>
        <p:blipFill>
          <a:blip r:embed="rId2" cstate="print"/>
          <a:srcRect/>
          <a:stretch>
            <a:fillRect/>
          </a:stretch>
        </p:blipFill>
        <p:spPr bwMode="auto">
          <a:xfrm>
            <a:off x="1780030" y="1314074"/>
            <a:ext cx="8258705" cy="4876863"/>
          </a:xfrm>
          <a:prstGeom prst="rect">
            <a:avLst/>
          </a:prstGeom>
          <a:noFill/>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solidFill>
                  <a:srgbClr val="FF0000"/>
                </a:solidFill>
              </a:rPr>
              <a:t>DESTINATION UNREACHABLE </a:t>
            </a:r>
            <a:r>
              <a:rPr lang="en-US" sz="2600" dirty="0"/>
              <a:t>message</a:t>
            </a:r>
          </a:p>
          <a:p>
            <a:pPr marL="1066800" lvl="1" indent="-609600" algn="just">
              <a:spcBef>
                <a:spcPct val="20000"/>
              </a:spcBef>
              <a:buClr>
                <a:schemeClr val="accent2"/>
              </a:buClr>
              <a:buFont typeface="Wingdings" pitchFamily="2" charset="2"/>
              <a:buChar char="§"/>
            </a:pPr>
            <a:r>
              <a:rPr lang="en-US" sz="2600" dirty="0"/>
              <a:t>used when the subnet or a router </a:t>
            </a:r>
            <a:r>
              <a:rPr lang="en-US" sz="2600" b="1" dirty="0"/>
              <a:t>cannot locate the destination </a:t>
            </a:r>
            <a:r>
              <a:rPr lang="en-US" sz="2600" dirty="0"/>
              <a:t>or </a:t>
            </a:r>
            <a:r>
              <a:rPr lang="en-US" sz="2600" b="1" dirty="0"/>
              <a:t>when a packet with the </a:t>
            </a:r>
            <a:r>
              <a:rPr lang="en-US" sz="2600" b="1" i="1" dirty="0"/>
              <a:t>DF bit cannot be delivered </a:t>
            </a:r>
            <a:r>
              <a:rPr lang="en-US" sz="2600" i="1" dirty="0"/>
              <a:t>because a ''small-packet'' network stands in the way</a:t>
            </a:r>
          </a:p>
          <a:p>
            <a:pPr marL="609600" indent="-609600" algn="just">
              <a:spcBef>
                <a:spcPct val="20000"/>
              </a:spcBef>
              <a:buClr>
                <a:schemeClr val="accent2"/>
              </a:buClr>
              <a:buFont typeface="Wingdings" pitchFamily="2" charset="2"/>
              <a:buChar char="§"/>
            </a:pPr>
            <a:r>
              <a:rPr lang="en-US" sz="2600" dirty="0">
                <a:solidFill>
                  <a:srgbClr val="FF0000"/>
                </a:solidFill>
              </a:rPr>
              <a:t>TIME EXCEEDED </a:t>
            </a:r>
            <a:r>
              <a:rPr lang="en-US" sz="2600" dirty="0"/>
              <a:t>message </a:t>
            </a:r>
          </a:p>
          <a:p>
            <a:pPr marL="1066800" lvl="1" indent="-609600" algn="just">
              <a:spcBef>
                <a:spcPct val="20000"/>
              </a:spcBef>
              <a:buClr>
                <a:schemeClr val="accent2"/>
              </a:buClr>
              <a:buFont typeface="Wingdings" pitchFamily="2" charset="2"/>
              <a:buChar char="§"/>
            </a:pPr>
            <a:r>
              <a:rPr lang="en-US" sz="2600" dirty="0"/>
              <a:t>sent when a </a:t>
            </a:r>
            <a:r>
              <a:rPr lang="en-US" sz="2600" b="1" dirty="0"/>
              <a:t>packet is dropped </a:t>
            </a:r>
            <a:r>
              <a:rPr lang="en-US" sz="2600" dirty="0"/>
              <a:t>because its counter has reached zero. </a:t>
            </a:r>
          </a:p>
          <a:p>
            <a:pPr marL="609600" indent="-609600" algn="just">
              <a:spcBef>
                <a:spcPct val="20000"/>
              </a:spcBef>
              <a:buClr>
                <a:schemeClr val="accent2"/>
              </a:buClr>
              <a:buFont typeface="Wingdings" pitchFamily="2" charset="2"/>
              <a:buChar char="§"/>
            </a:pPr>
            <a:r>
              <a:rPr lang="en-US" sz="2600" dirty="0">
                <a:solidFill>
                  <a:srgbClr val="FF0000"/>
                </a:solidFill>
              </a:rPr>
              <a:t>PARAMETER PROBLEM </a:t>
            </a:r>
            <a:r>
              <a:rPr lang="en-US" sz="2600" dirty="0"/>
              <a:t>message </a:t>
            </a:r>
          </a:p>
          <a:p>
            <a:pPr marL="1066800" lvl="1" indent="-609600" algn="just">
              <a:spcBef>
                <a:spcPct val="20000"/>
              </a:spcBef>
              <a:buClr>
                <a:schemeClr val="accent2"/>
              </a:buClr>
              <a:buFont typeface="Wingdings" pitchFamily="2" charset="2"/>
              <a:buChar char="§"/>
            </a:pPr>
            <a:r>
              <a:rPr lang="en-US" sz="2600" dirty="0"/>
              <a:t>indicates that an </a:t>
            </a:r>
            <a:r>
              <a:rPr lang="en-US" sz="2600" b="1" dirty="0"/>
              <a:t>illegal value has been detected in a header field. </a:t>
            </a:r>
          </a:p>
          <a:p>
            <a:pPr marL="1066800" lvl="1" indent="-609600" algn="just">
              <a:spcBef>
                <a:spcPct val="20000"/>
              </a:spcBef>
              <a:buClr>
                <a:schemeClr val="accent2"/>
              </a:buClr>
              <a:buFont typeface="Wingdings" pitchFamily="2" charset="2"/>
              <a:buChar char="§"/>
            </a:pPr>
            <a:r>
              <a:rPr lang="en-US" sz="2600" dirty="0"/>
              <a:t>This problem indicates a </a:t>
            </a:r>
            <a:r>
              <a:rPr lang="en-US" sz="2600" b="1" dirty="0"/>
              <a:t>bug in the sending host's IP software </a:t>
            </a:r>
            <a:r>
              <a:rPr lang="en-US" sz="2600" dirty="0"/>
              <a:t>or </a:t>
            </a:r>
            <a:r>
              <a:rPr lang="en-US" sz="2600" b="1" dirty="0"/>
              <a:t>possibly in the software of a router transited</a:t>
            </a:r>
            <a:r>
              <a:rPr lang="en-US" sz="2600" dirty="0"/>
              <a:t>. </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solidFill>
                  <a:srgbClr val="FF0000"/>
                </a:solidFill>
              </a:rPr>
              <a:t>SOURCE QUENCH </a:t>
            </a:r>
            <a:r>
              <a:rPr lang="en-US" sz="2600" dirty="0"/>
              <a:t>message </a:t>
            </a:r>
          </a:p>
          <a:p>
            <a:pPr marL="1066800" lvl="1" indent="-609600" algn="just">
              <a:spcBef>
                <a:spcPct val="20000"/>
              </a:spcBef>
              <a:buClr>
                <a:schemeClr val="accent2"/>
              </a:buClr>
              <a:buFont typeface="Wingdings" pitchFamily="2" charset="2"/>
              <a:buChar char="§"/>
            </a:pPr>
            <a:r>
              <a:rPr lang="en-US" sz="2600" dirty="0"/>
              <a:t>used </a:t>
            </a:r>
            <a:r>
              <a:rPr lang="en-US" sz="2600" b="1" dirty="0"/>
              <a:t>to block hosts that were sending too many packets</a:t>
            </a:r>
            <a:r>
              <a:rPr lang="en-US" sz="2600" dirty="0"/>
              <a:t>. </a:t>
            </a:r>
          </a:p>
          <a:p>
            <a:pPr marL="1066800" lvl="1" indent="-609600" algn="just">
              <a:spcBef>
                <a:spcPct val="20000"/>
              </a:spcBef>
              <a:buClr>
                <a:schemeClr val="accent2"/>
              </a:buClr>
              <a:buFont typeface="Wingdings" pitchFamily="2" charset="2"/>
              <a:buChar char="§"/>
            </a:pPr>
            <a:r>
              <a:rPr lang="en-US" sz="2600" dirty="0"/>
              <a:t>When a host received this message, it was expected to slow down. </a:t>
            </a:r>
          </a:p>
          <a:p>
            <a:pPr marL="1066800" lvl="1" indent="-609600" algn="just">
              <a:spcBef>
                <a:spcPct val="20000"/>
              </a:spcBef>
              <a:buClr>
                <a:schemeClr val="accent2"/>
              </a:buClr>
              <a:buFont typeface="Wingdings" pitchFamily="2" charset="2"/>
              <a:buChar char="§"/>
            </a:pPr>
            <a:r>
              <a:rPr lang="en-US" sz="2600" dirty="0"/>
              <a:t>It is </a:t>
            </a:r>
            <a:r>
              <a:rPr lang="en-US" sz="2600" b="1" dirty="0"/>
              <a:t>rarely used any more </a:t>
            </a:r>
            <a:r>
              <a:rPr lang="en-US" sz="2600" dirty="0"/>
              <a:t>because when </a:t>
            </a:r>
            <a:r>
              <a:rPr lang="en-US" sz="2600" b="1" dirty="0"/>
              <a:t>congestion</a:t>
            </a:r>
            <a:r>
              <a:rPr lang="en-US" sz="2600" dirty="0"/>
              <a:t> occurs, these packets tend to </a:t>
            </a:r>
            <a:r>
              <a:rPr lang="en-US" sz="2600" b="1" dirty="0"/>
              <a:t>add more fuel </a:t>
            </a:r>
            <a:r>
              <a:rPr lang="en-US" sz="2600" dirty="0"/>
              <a:t>to the fire. </a:t>
            </a:r>
          </a:p>
          <a:p>
            <a:pPr marL="1066800" lvl="1" indent="-609600" algn="just">
              <a:spcBef>
                <a:spcPct val="20000"/>
              </a:spcBef>
              <a:buClr>
                <a:schemeClr val="accent2"/>
              </a:buClr>
              <a:buFont typeface="Wingdings" pitchFamily="2" charset="2"/>
              <a:buChar char="§"/>
            </a:pPr>
            <a:r>
              <a:rPr lang="en-US" sz="2600" b="1" dirty="0"/>
              <a:t>Congestion control </a:t>
            </a:r>
            <a:r>
              <a:rPr lang="en-US" sz="2600" dirty="0"/>
              <a:t>in the Internet is now done </a:t>
            </a:r>
            <a:r>
              <a:rPr lang="en-US" sz="2600" b="1" dirty="0"/>
              <a:t>largely in the transport layer </a:t>
            </a:r>
          </a:p>
          <a:p>
            <a:pPr marL="609600" indent="-609600" algn="just">
              <a:spcBef>
                <a:spcPct val="20000"/>
              </a:spcBef>
              <a:buClr>
                <a:schemeClr val="accent2"/>
              </a:buClr>
              <a:buFont typeface="Wingdings" pitchFamily="2" charset="2"/>
              <a:buChar char="§"/>
            </a:pPr>
            <a:r>
              <a:rPr lang="en-US" sz="2600" dirty="0">
                <a:solidFill>
                  <a:srgbClr val="FF0000"/>
                </a:solidFill>
              </a:rPr>
              <a:t>REDIRECT</a:t>
            </a:r>
            <a:r>
              <a:rPr lang="en-US" sz="2600" dirty="0"/>
              <a:t> message </a:t>
            </a:r>
          </a:p>
          <a:p>
            <a:pPr marL="1066800" lvl="1" indent="-609600" algn="just">
              <a:spcBef>
                <a:spcPct val="20000"/>
              </a:spcBef>
              <a:buClr>
                <a:schemeClr val="accent2"/>
              </a:buClr>
              <a:buFont typeface="Wingdings" pitchFamily="2" charset="2"/>
              <a:buChar char="§"/>
            </a:pPr>
            <a:r>
              <a:rPr lang="en-US" sz="2600" dirty="0"/>
              <a:t>used when a router notices that a </a:t>
            </a:r>
            <a:r>
              <a:rPr lang="en-US" sz="2600" b="1" dirty="0"/>
              <a:t>packet seems to be routed wrong. </a:t>
            </a:r>
          </a:p>
          <a:p>
            <a:pPr marL="1066800" lvl="1" indent="-609600" algn="just">
              <a:spcBef>
                <a:spcPct val="20000"/>
              </a:spcBef>
              <a:buClr>
                <a:schemeClr val="accent2"/>
              </a:buClr>
              <a:buFont typeface="Wingdings" pitchFamily="2" charset="2"/>
              <a:buChar char="§"/>
            </a:pPr>
            <a:r>
              <a:rPr lang="en-US" sz="2600" dirty="0"/>
              <a:t>It is used by the router </a:t>
            </a:r>
            <a:r>
              <a:rPr lang="en-US" sz="2600" b="1" dirty="0"/>
              <a:t>to tell the sending host about the probable error. </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solidFill>
                  <a:srgbClr val="FF0000"/>
                </a:solidFill>
              </a:rPr>
              <a:t>ECHO and ECHO REPLY </a:t>
            </a:r>
            <a:r>
              <a:rPr lang="en-US" sz="2600" dirty="0"/>
              <a:t>messages </a:t>
            </a:r>
          </a:p>
          <a:p>
            <a:pPr marL="1066800" lvl="1" indent="-609600" algn="just">
              <a:spcBef>
                <a:spcPct val="20000"/>
              </a:spcBef>
              <a:buClr>
                <a:schemeClr val="accent2"/>
              </a:buClr>
              <a:buFont typeface="Wingdings" pitchFamily="2" charset="2"/>
              <a:buChar char="§"/>
            </a:pPr>
            <a:r>
              <a:rPr lang="en-US" sz="2600" dirty="0"/>
              <a:t>used to see if a given </a:t>
            </a:r>
            <a:r>
              <a:rPr lang="en-US" sz="2600" b="1" dirty="0"/>
              <a:t>destination is reachable and alive</a:t>
            </a:r>
            <a:r>
              <a:rPr lang="en-US" sz="2600" dirty="0"/>
              <a:t>. </a:t>
            </a:r>
          </a:p>
          <a:p>
            <a:pPr marL="1066800" lvl="1" indent="-609600" algn="just">
              <a:spcBef>
                <a:spcPct val="20000"/>
              </a:spcBef>
              <a:buClr>
                <a:schemeClr val="accent2"/>
              </a:buClr>
              <a:buFont typeface="Wingdings" pitchFamily="2" charset="2"/>
              <a:buChar char="§"/>
            </a:pPr>
            <a:r>
              <a:rPr lang="en-US" sz="2600" dirty="0"/>
              <a:t>Upon receiving the ECHO message, the destination is expected to send an ECHO REPLY message back. </a:t>
            </a:r>
          </a:p>
          <a:p>
            <a:pPr marL="609600" indent="-609600" algn="just">
              <a:spcBef>
                <a:spcPct val="20000"/>
              </a:spcBef>
              <a:buClr>
                <a:schemeClr val="accent2"/>
              </a:buClr>
              <a:buFont typeface="Wingdings" pitchFamily="2" charset="2"/>
              <a:buChar char="§"/>
            </a:pPr>
            <a:r>
              <a:rPr lang="en-US" sz="2600" dirty="0">
                <a:solidFill>
                  <a:srgbClr val="FF0000"/>
                </a:solidFill>
              </a:rPr>
              <a:t>TIMESTAMP REQUEST and TIMESTAMP REPLY </a:t>
            </a:r>
            <a:r>
              <a:rPr lang="en-US" sz="2600" dirty="0"/>
              <a:t>messages </a:t>
            </a:r>
          </a:p>
          <a:p>
            <a:pPr marL="1066800" lvl="1" indent="-609600" algn="just">
              <a:spcBef>
                <a:spcPct val="20000"/>
              </a:spcBef>
              <a:buClr>
                <a:schemeClr val="accent2"/>
              </a:buClr>
              <a:buFont typeface="Wingdings" pitchFamily="2" charset="2"/>
              <a:buChar char="§"/>
            </a:pPr>
            <a:r>
              <a:rPr lang="en-US" sz="2600" dirty="0"/>
              <a:t>similar, except that the </a:t>
            </a:r>
            <a:r>
              <a:rPr lang="en-US" sz="2600" b="1" dirty="0"/>
              <a:t>arrival time of the message </a:t>
            </a:r>
            <a:r>
              <a:rPr lang="en-US" sz="2600" dirty="0"/>
              <a:t>and the </a:t>
            </a:r>
            <a:r>
              <a:rPr lang="en-US" sz="2600" b="1" dirty="0"/>
              <a:t>departure time of the reply </a:t>
            </a:r>
            <a:r>
              <a:rPr lang="en-US" sz="2600" dirty="0"/>
              <a:t>are recorded in the reply. </a:t>
            </a:r>
          </a:p>
          <a:p>
            <a:pPr marL="1066800" lvl="1" indent="-609600" algn="just">
              <a:spcBef>
                <a:spcPct val="20000"/>
              </a:spcBef>
              <a:buClr>
                <a:schemeClr val="accent2"/>
              </a:buClr>
              <a:buFont typeface="Wingdings" pitchFamily="2" charset="2"/>
              <a:buChar char="§"/>
            </a:pPr>
            <a:r>
              <a:rPr lang="en-US" sz="2600" dirty="0"/>
              <a:t>This facility is used to </a:t>
            </a:r>
            <a:r>
              <a:rPr lang="en-US" sz="2600" b="1" dirty="0"/>
              <a:t>measure network performance </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i="1" dirty="0"/>
              <a:t>ARP - The Address Resolution Protocol</a:t>
            </a:r>
          </a:p>
          <a:p>
            <a:pPr marL="1066800" lvl="1" indent="-609600" algn="just">
              <a:spcBef>
                <a:spcPct val="20000"/>
              </a:spcBef>
              <a:buClr>
                <a:schemeClr val="accent2"/>
              </a:buClr>
              <a:buFont typeface="Wingdings" pitchFamily="2" charset="2"/>
              <a:buChar char="§"/>
            </a:pPr>
            <a:r>
              <a:rPr lang="en-US" sz="2400" b="1" dirty="0"/>
              <a:t>IP addresses cannot</a:t>
            </a:r>
            <a:r>
              <a:rPr lang="en-US" sz="2400" dirty="0"/>
              <a:t> actually </a:t>
            </a:r>
            <a:r>
              <a:rPr lang="en-US" sz="2400" b="1" dirty="0"/>
              <a:t>be used for sending packets </a:t>
            </a:r>
            <a:r>
              <a:rPr lang="en-US" sz="2400" dirty="0"/>
              <a:t>because the </a:t>
            </a:r>
            <a:r>
              <a:rPr lang="en-US" sz="2400" b="1" dirty="0"/>
              <a:t>data link layer hardware</a:t>
            </a:r>
            <a:r>
              <a:rPr lang="en-US" sz="2400" dirty="0"/>
              <a:t> </a:t>
            </a:r>
            <a:r>
              <a:rPr lang="en-US" sz="2400" b="1" dirty="0"/>
              <a:t>does not understand Internet addresses. </a:t>
            </a:r>
          </a:p>
          <a:p>
            <a:pPr marL="1066800" lvl="1" indent="-609600" algn="just">
              <a:spcBef>
                <a:spcPct val="20000"/>
              </a:spcBef>
              <a:buClr>
                <a:schemeClr val="accent2"/>
              </a:buClr>
              <a:buFont typeface="Wingdings" pitchFamily="2" charset="2"/>
              <a:buChar char="§"/>
            </a:pPr>
            <a:r>
              <a:rPr lang="en-US" sz="2400" dirty="0"/>
              <a:t>Most hosts at companies and universities are </a:t>
            </a:r>
            <a:r>
              <a:rPr lang="en-US" sz="2400" b="1" dirty="0"/>
              <a:t>attached to a LAN </a:t>
            </a:r>
            <a:r>
              <a:rPr lang="en-US" sz="2400" dirty="0"/>
              <a:t>by an </a:t>
            </a:r>
            <a:r>
              <a:rPr lang="en-US" sz="2400" dirty="0">
                <a:solidFill>
                  <a:srgbClr val="FF0000"/>
                </a:solidFill>
              </a:rPr>
              <a:t>interface board </a:t>
            </a:r>
            <a:r>
              <a:rPr lang="en-US" sz="2400" dirty="0"/>
              <a:t>that only understands </a:t>
            </a:r>
            <a:r>
              <a:rPr lang="en-US" sz="2400" b="1" dirty="0"/>
              <a:t>LAN addresses</a:t>
            </a:r>
            <a:r>
              <a:rPr lang="en-US" sz="2400" dirty="0"/>
              <a:t>. </a:t>
            </a:r>
          </a:p>
          <a:p>
            <a:pPr marL="1066800" lvl="1" indent="-609600" algn="just">
              <a:spcBef>
                <a:spcPct val="20000"/>
              </a:spcBef>
              <a:buClr>
                <a:schemeClr val="accent2"/>
              </a:buClr>
              <a:buFont typeface="Wingdings" pitchFamily="2" charset="2"/>
              <a:buChar char="§"/>
            </a:pPr>
            <a:r>
              <a:rPr lang="en-US" sz="2400" dirty="0"/>
              <a:t>For example, every Ethernet board comes equipped with a </a:t>
            </a:r>
            <a:r>
              <a:rPr lang="en-US" sz="2400" dirty="0">
                <a:solidFill>
                  <a:srgbClr val="FF0000"/>
                </a:solidFill>
              </a:rPr>
              <a:t>48-bit Ethernet address</a:t>
            </a:r>
            <a:r>
              <a:rPr lang="en-US" sz="2400" dirty="0"/>
              <a:t>. </a:t>
            </a:r>
          </a:p>
          <a:p>
            <a:pPr marL="1066800" lvl="1" indent="-609600" algn="just">
              <a:spcBef>
                <a:spcPct val="20000"/>
              </a:spcBef>
              <a:buClr>
                <a:schemeClr val="accent2"/>
              </a:buClr>
              <a:buFont typeface="Wingdings" pitchFamily="2" charset="2"/>
              <a:buChar char="§"/>
            </a:pPr>
            <a:r>
              <a:rPr lang="en-US" sz="2400" dirty="0"/>
              <a:t>Manufacturers of Ethernet boards request a block of addresses from a central authority to ensure that no two boards have the same address </a:t>
            </a:r>
          </a:p>
          <a:p>
            <a:pPr marL="1066800" lvl="1" indent="-609600" algn="just">
              <a:spcBef>
                <a:spcPct val="20000"/>
              </a:spcBef>
              <a:buClr>
                <a:schemeClr val="accent2"/>
              </a:buClr>
              <a:buFont typeface="Wingdings" pitchFamily="2" charset="2"/>
              <a:buChar char="§"/>
            </a:pPr>
            <a:r>
              <a:rPr lang="en-US" sz="2400" dirty="0"/>
              <a:t>The </a:t>
            </a:r>
            <a:r>
              <a:rPr lang="en-US" sz="2400" b="1" dirty="0"/>
              <a:t>boards send and receive frames </a:t>
            </a:r>
            <a:r>
              <a:rPr lang="en-US" sz="2400" dirty="0"/>
              <a:t>based on </a:t>
            </a:r>
            <a:r>
              <a:rPr lang="en-US" sz="2400" b="1" dirty="0"/>
              <a:t>48-bit Ethernet addresses. </a:t>
            </a:r>
          </a:p>
          <a:p>
            <a:pPr marL="1066800" lvl="1" indent="-609600" algn="just">
              <a:spcBef>
                <a:spcPct val="20000"/>
              </a:spcBef>
              <a:buClr>
                <a:schemeClr val="accent2"/>
              </a:buClr>
              <a:buFont typeface="Wingdings" pitchFamily="2" charset="2"/>
              <a:buChar char="§"/>
            </a:pPr>
            <a:r>
              <a:rPr lang="en-US" sz="2400" dirty="0"/>
              <a:t>They </a:t>
            </a:r>
            <a:r>
              <a:rPr lang="en-US" sz="2400" b="1" dirty="0"/>
              <a:t>know nothing </a:t>
            </a:r>
            <a:r>
              <a:rPr lang="en-US" sz="2400" dirty="0"/>
              <a:t>at all about </a:t>
            </a:r>
            <a:r>
              <a:rPr lang="en-US" sz="2400" b="1" dirty="0"/>
              <a:t>32-bit IP addresses</a:t>
            </a:r>
            <a:r>
              <a:rPr lang="en-US" sz="2400" dirty="0"/>
              <a:t>.</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sz="4000" dirty="0"/>
              <a:t>ARP - The Address Resolution Protocol</a:t>
            </a:r>
          </a:p>
        </p:txBody>
      </p:sp>
      <p:sp>
        <p:nvSpPr>
          <p:cNvPr id="79875" name="Rectangle 3"/>
          <p:cNvSpPr>
            <a:spLocks noGrp="1" noChangeArrowheads="1"/>
          </p:cNvSpPr>
          <p:nvPr>
            <p:ph type="body" idx="1"/>
          </p:nvPr>
        </p:nvSpPr>
        <p:spPr>
          <a:xfrm>
            <a:off x="1524000" y="6269630"/>
            <a:ext cx="9144000" cy="505918"/>
          </a:xfrm>
        </p:spPr>
        <p:txBody>
          <a:bodyPr>
            <a:normAutofit fontScale="85000" lnSpcReduction="10000"/>
          </a:bodyPr>
          <a:lstStyle/>
          <a:p>
            <a:pPr algn="ctr">
              <a:buFontTx/>
              <a:buNone/>
            </a:pPr>
            <a:r>
              <a:rPr lang="en-US" dirty="0"/>
              <a:t>Three interconnected /24 networks: two Ethernets and an FDDI ring.</a:t>
            </a:r>
          </a:p>
        </p:txBody>
      </p:sp>
      <p:pic>
        <p:nvPicPr>
          <p:cNvPr id="79877" name="Picture 5" descr="5-62"/>
          <p:cNvPicPr>
            <a:picLocks noChangeAspect="1" noChangeArrowheads="1"/>
          </p:cNvPicPr>
          <p:nvPr/>
        </p:nvPicPr>
        <p:blipFill>
          <a:blip r:embed="rId2" cstate="print"/>
          <a:srcRect/>
          <a:stretch>
            <a:fillRect/>
          </a:stretch>
        </p:blipFill>
        <p:spPr bwMode="auto">
          <a:xfrm>
            <a:off x="1716348" y="1617044"/>
            <a:ext cx="7683291" cy="4483954"/>
          </a:xfrm>
          <a:prstGeom prst="rect">
            <a:avLst/>
          </a:prstGeom>
          <a:noFill/>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t>how a </a:t>
            </a:r>
            <a:r>
              <a:rPr lang="en-US" sz="2400" dirty="0">
                <a:solidFill>
                  <a:srgbClr val="FF0000"/>
                </a:solidFill>
              </a:rPr>
              <a:t>user on host 1 sends a packet to a user on host 2</a:t>
            </a:r>
            <a:r>
              <a:rPr lang="en-US" sz="2400" dirty="0"/>
              <a:t>. </a:t>
            </a:r>
          </a:p>
          <a:p>
            <a:pPr marL="1066800" lvl="1" indent="-609600" algn="just">
              <a:spcBef>
                <a:spcPct val="20000"/>
              </a:spcBef>
              <a:buClr>
                <a:schemeClr val="accent2"/>
              </a:buClr>
              <a:buFont typeface="Wingdings" pitchFamily="2" charset="2"/>
              <a:buChar char="§"/>
            </a:pPr>
            <a:r>
              <a:rPr lang="en-US" sz="2400" dirty="0"/>
              <a:t>Let us assume the sender knows the name of the intended receiver, possibly something like </a:t>
            </a:r>
            <a:r>
              <a:rPr lang="en-US" sz="2400" dirty="0">
                <a:solidFill>
                  <a:srgbClr val="FF0000"/>
                </a:solidFill>
              </a:rPr>
              <a:t>xyz@cs.uni.edu</a:t>
            </a:r>
          </a:p>
          <a:p>
            <a:pPr marL="1066800" lvl="1" indent="-609600" algn="just">
              <a:spcBef>
                <a:spcPct val="20000"/>
              </a:spcBef>
              <a:buClr>
                <a:schemeClr val="accent2"/>
              </a:buClr>
              <a:buFont typeface="Wingdings" pitchFamily="2" charset="2"/>
              <a:buChar char="§"/>
            </a:pPr>
            <a:r>
              <a:rPr lang="en-US" sz="2400" dirty="0"/>
              <a:t>The first step is to find the </a:t>
            </a:r>
            <a:r>
              <a:rPr lang="en-US" sz="2400" dirty="0">
                <a:solidFill>
                  <a:srgbClr val="FF0000"/>
                </a:solidFill>
              </a:rPr>
              <a:t>IP address </a:t>
            </a:r>
            <a:r>
              <a:rPr lang="en-US" sz="2400" dirty="0"/>
              <a:t>for host 2, known as </a:t>
            </a:r>
            <a:r>
              <a:rPr lang="en-US" sz="2400" dirty="0">
                <a:solidFill>
                  <a:srgbClr val="FF0000"/>
                </a:solidFill>
              </a:rPr>
              <a:t>cs.uni.edu. </a:t>
            </a:r>
          </a:p>
          <a:p>
            <a:pPr marL="1066800" lvl="1" indent="-609600" algn="just">
              <a:spcBef>
                <a:spcPct val="20000"/>
              </a:spcBef>
              <a:buClr>
                <a:schemeClr val="accent2"/>
              </a:buClr>
              <a:buFont typeface="Wingdings" pitchFamily="2" charset="2"/>
              <a:buChar char="§"/>
            </a:pPr>
            <a:r>
              <a:rPr lang="en-US" sz="2400" dirty="0"/>
              <a:t>This lookup is performed by the </a:t>
            </a:r>
            <a:r>
              <a:rPr lang="en-US" sz="2400" dirty="0">
                <a:solidFill>
                  <a:srgbClr val="FF0000"/>
                </a:solidFill>
              </a:rPr>
              <a:t>Domain Name System </a:t>
            </a:r>
            <a:r>
              <a:rPr lang="en-US" sz="2400" dirty="0"/>
              <a:t>(</a:t>
            </a:r>
            <a:r>
              <a:rPr lang="en-US" sz="2400" dirty="0">
                <a:solidFill>
                  <a:srgbClr val="FF0000"/>
                </a:solidFill>
              </a:rPr>
              <a:t>DNS</a:t>
            </a:r>
            <a:r>
              <a:rPr lang="en-US" sz="2400" dirty="0"/>
              <a:t>) which returns the IP address for </a:t>
            </a:r>
            <a:r>
              <a:rPr lang="en-US" sz="2400" dirty="0">
                <a:solidFill>
                  <a:srgbClr val="FF0000"/>
                </a:solidFill>
              </a:rPr>
              <a:t>host 2 (192.31.65.5).</a:t>
            </a:r>
          </a:p>
          <a:p>
            <a:pPr marL="1066800" lvl="1" indent="-609600" algn="just">
              <a:spcBef>
                <a:spcPct val="20000"/>
              </a:spcBef>
              <a:buClr>
                <a:schemeClr val="accent2"/>
              </a:buClr>
              <a:buFont typeface="Wingdings" pitchFamily="2" charset="2"/>
              <a:buChar char="§"/>
            </a:pPr>
            <a:r>
              <a:rPr lang="en-US" sz="2400" dirty="0"/>
              <a:t>upper layer software on host 1 now builds a packet with </a:t>
            </a:r>
            <a:r>
              <a:rPr lang="en-US" sz="2400" dirty="0">
                <a:solidFill>
                  <a:srgbClr val="FF0000"/>
                </a:solidFill>
              </a:rPr>
              <a:t>192.31.65.5</a:t>
            </a:r>
            <a:r>
              <a:rPr lang="en-US" sz="2400" dirty="0"/>
              <a:t> in the </a:t>
            </a:r>
            <a:r>
              <a:rPr lang="en-US" sz="2400" dirty="0">
                <a:solidFill>
                  <a:srgbClr val="FF0000"/>
                </a:solidFill>
              </a:rPr>
              <a:t>Destination address field </a:t>
            </a:r>
            <a:r>
              <a:rPr lang="en-US" sz="2400" dirty="0"/>
              <a:t>and gives it to the IP software to transmit. </a:t>
            </a:r>
          </a:p>
          <a:p>
            <a:pPr marL="1066800" lvl="1" indent="-609600" algn="just">
              <a:spcBef>
                <a:spcPct val="20000"/>
              </a:spcBef>
              <a:buClr>
                <a:schemeClr val="accent2"/>
              </a:buClr>
              <a:buFont typeface="Wingdings" pitchFamily="2" charset="2"/>
              <a:buChar char="§"/>
            </a:pPr>
            <a:r>
              <a:rPr lang="en-US" sz="2400" dirty="0"/>
              <a:t>The </a:t>
            </a:r>
            <a:r>
              <a:rPr lang="en-US" sz="2400" dirty="0">
                <a:solidFill>
                  <a:srgbClr val="FF0000"/>
                </a:solidFill>
              </a:rPr>
              <a:t>IP software </a:t>
            </a:r>
            <a:r>
              <a:rPr lang="en-US" sz="2400" dirty="0"/>
              <a:t>can look at the address and see that the destination is on its own network but it needs some way to find the </a:t>
            </a:r>
            <a:r>
              <a:rPr lang="en-US" sz="2400" b="1" dirty="0"/>
              <a:t>destination's Ethernet address .</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solidFill>
                  <a:srgbClr val="FF0000"/>
                </a:solidFill>
              </a:rPr>
              <a:t>One solution </a:t>
            </a:r>
          </a:p>
          <a:p>
            <a:pPr marL="1066800" lvl="1" indent="-609600" algn="just">
              <a:spcBef>
                <a:spcPct val="20000"/>
              </a:spcBef>
              <a:buClr>
                <a:schemeClr val="accent2"/>
              </a:buClr>
              <a:buFont typeface="Wingdings" pitchFamily="2" charset="2"/>
              <a:buChar char="§"/>
            </a:pPr>
            <a:r>
              <a:rPr lang="en-US" sz="2400" dirty="0"/>
              <a:t>to have a </a:t>
            </a:r>
            <a:r>
              <a:rPr lang="en-US" sz="2400" b="1" dirty="0"/>
              <a:t>configuration file </a:t>
            </a:r>
            <a:r>
              <a:rPr lang="en-US" sz="2400" dirty="0"/>
              <a:t>somewhere in the system that </a:t>
            </a:r>
            <a:r>
              <a:rPr lang="en-US" sz="2400" dirty="0">
                <a:solidFill>
                  <a:srgbClr val="FF0000"/>
                </a:solidFill>
              </a:rPr>
              <a:t>maps</a:t>
            </a:r>
            <a:r>
              <a:rPr lang="en-US" sz="2400" dirty="0"/>
              <a:t> </a:t>
            </a:r>
            <a:r>
              <a:rPr lang="en-US" sz="2400" b="1" dirty="0"/>
              <a:t>IP addresses onto Ethernet addresses</a:t>
            </a:r>
            <a:r>
              <a:rPr lang="en-US" sz="2400" dirty="0"/>
              <a:t>. </a:t>
            </a:r>
          </a:p>
          <a:p>
            <a:pPr marL="1066800" lvl="1" indent="-609600" algn="just">
              <a:spcBef>
                <a:spcPct val="20000"/>
              </a:spcBef>
              <a:buClr>
                <a:schemeClr val="accent2"/>
              </a:buClr>
              <a:buFont typeface="Wingdings" pitchFamily="2" charset="2"/>
              <a:buChar char="§"/>
            </a:pPr>
            <a:r>
              <a:rPr lang="en-US" sz="2400" dirty="0"/>
              <a:t>While this solution is certainly possible, for organizations with thousands of machines, keeping all these files up to date is an </a:t>
            </a:r>
            <a:r>
              <a:rPr lang="en-US" sz="2400" b="1" dirty="0"/>
              <a:t>error-prone, time-consuming job</a:t>
            </a:r>
            <a:r>
              <a:rPr lang="en-US" sz="2400" dirty="0"/>
              <a:t>.</a:t>
            </a:r>
          </a:p>
          <a:p>
            <a:pPr marL="609600" indent="-609600" algn="just">
              <a:spcBef>
                <a:spcPct val="20000"/>
              </a:spcBef>
              <a:buClr>
                <a:schemeClr val="accent2"/>
              </a:buClr>
              <a:buFont typeface="Wingdings" pitchFamily="2" charset="2"/>
              <a:buChar char="§"/>
            </a:pPr>
            <a:r>
              <a:rPr lang="en-US" sz="2400" dirty="0">
                <a:solidFill>
                  <a:srgbClr val="FF0000"/>
                </a:solidFill>
              </a:rPr>
              <a:t>Better solution </a:t>
            </a:r>
          </a:p>
          <a:p>
            <a:pPr marL="1066800" lvl="1" indent="-609600" algn="just">
              <a:spcBef>
                <a:spcPct val="20000"/>
              </a:spcBef>
              <a:buClr>
                <a:schemeClr val="accent2"/>
              </a:buClr>
              <a:buFont typeface="Wingdings" pitchFamily="2" charset="2"/>
              <a:buChar char="§"/>
            </a:pPr>
            <a:r>
              <a:rPr lang="en-US" sz="2400" dirty="0"/>
              <a:t>to output a </a:t>
            </a:r>
            <a:r>
              <a:rPr lang="en-US" sz="2400" dirty="0">
                <a:solidFill>
                  <a:srgbClr val="FF0000"/>
                </a:solidFill>
              </a:rPr>
              <a:t>broadcast packet</a:t>
            </a:r>
            <a:r>
              <a:rPr lang="en-US" sz="2400" dirty="0"/>
              <a:t> onto the Ethernet asking: Who </a:t>
            </a:r>
            <a:r>
              <a:rPr lang="en-US" sz="2400" b="1" dirty="0"/>
              <a:t>owns IP address 192.31.65.5</a:t>
            </a:r>
            <a:r>
              <a:rPr lang="en-US" sz="2400" dirty="0"/>
              <a:t>? </a:t>
            </a:r>
          </a:p>
          <a:p>
            <a:pPr marL="1066800" lvl="1" indent="-609600" algn="just">
              <a:spcBef>
                <a:spcPct val="20000"/>
              </a:spcBef>
              <a:buClr>
                <a:schemeClr val="accent2"/>
              </a:buClr>
              <a:buFont typeface="Wingdings" pitchFamily="2" charset="2"/>
              <a:buChar char="§"/>
            </a:pPr>
            <a:r>
              <a:rPr lang="en-US" sz="2400" dirty="0"/>
              <a:t>The broadcast will arrive at every machine on Ethernet 192.31.65.0, and each one will check its IP address. </a:t>
            </a:r>
          </a:p>
          <a:p>
            <a:pPr marL="1066800" lvl="1" indent="-609600" algn="just">
              <a:spcBef>
                <a:spcPct val="20000"/>
              </a:spcBef>
              <a:buClr>
                <a:schemeClr val="accent2"/>
              </a:buClr>
              <a:buFont typeface="Wingdings" pitchFamily="2" charset="2"/>
              <a:buChar char="§"/>
            </a:pPr>
            <a:r>
              <a:rPr lang="en-US" sz="2400" b="1" dirty="0"/>
              <a:t>Host 2 </a:t>
            </a:r>
            <a:r>
              <a:rPr lang="en-US" sz="2400" dirty="0"/>
              <a:t>alone will </a:t>
            </a:r>
            <a:r>
              <a:rPr lang="en-US" sz="2400" b="1" dirty="0"/>
              <a:t>respond</a:t>
            </a:r>
            <a:r>
              <a:rPr lang="en-US" sz="2400" dirty="0"/>
              <a:t> with its </a:t>
            </a:r>
            <a:r>
              <a:rPr lang="en-US" sz="2400" b="1" dirty="0"/>
              <a:t>Ethernet address (E2). </a:t>
            </a:r>
          </a:p>
          <a:p>
            <a:pPr marL="1066800" lvl="1" indent="-609600" algn="just">
              <a:spcBef>
                <a:spcPct val="20000"/>
              </a:spcBef>
              <a:buClr>
                <a:schemeClr val="accent2"/>
              </a:buClr>
              <a:buFont typeface="Wingdings" pitchFamily="2" charset="2"/>
              <a:buChar char="§"/>
            </a:pPr>
            <a:r>
              <a:rPr lang="en-US" sz="2400" dirty="0"/>
              <a:t>The protocol used for asking this question and getting the reply is called </a:t>
            </a:r>
            <a:r>
              <a:rPr lang="en-US" sz="2400" b="1" dirty="0">
                <a:solidFill>
                  <a:srgbClr val="FF0000"/>
                </a:solidFill>
              </a:rPr>
              <a:t>ARP (Address Resolution Protocol)</a:t>
            </a:r>
          </a:p>
          <a:p>
            <a:pPr marL="1066800" lvl="1" indent="-609600" algn="just">
              <a:spcBef>
                <a:spcPct val="20000"/>
              </a:spcBef>
              <a:buClr>
                <a:schemeClr val="accent2"/>
              </a:buClr>
              <a:buFont typeface="Wingdings" pitchFamily="2" charset="2"/>
              <a:buChar char="§"/>
            </a:pPr>
            <a:r>
              <a:rPr lang="en-US" sz="2400" dirty="0"/>
              <a:t>Almost every machine on the Internet runs it.</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B51F-83C0-4B1C-8FCE-5132BC88EF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0C563B7-29A9-47B4-A397-1E5D8CF1A03B}"/>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B6FCFF5F-88F7-4510-9437-A1A744E156F0}"/>
              </a:ext>
            </a:extLst>
          </p:cNvPr>
          <p:cNvSpPr txBox="1"/>
          <p:nvPr/>
        </p:nvSpPr>
        <p:spPr>
          <a:xfrm>
            <a:off x="1160206" y="1261633"/>
            <a:ext cx="9733936" cy="4893647"/>
          </a:xfrm>
          <a:prstGeom prst="rect">
            <a:avLst/>
          </a:prstGeom>
          <a:noFill/>
        </p:spPr>
        <p:txBody>
          <a:bodyPr wrap="square">
            <a:spAutoFit/>
          </a:bodyPr>
          <a:lstStyle/>
          <a:p>
            <a:r>
              <a:rPr lang="en-US" sz="2400" b="1" i="0" u="none" strike="noStrike" baseline="0" dirty="0">
                <a:solidFill>
                  <a:srgbClr val="000000"/>
                </a:solidFill>
                <a:latin typeface="Times New Roman" panose="02020603050405020304" pitchFamily="18" charset="0"/>
              </a:rPr>
              <a:t>Mapping Logical to Physical Address: ARP </a:t>
            </a:r>
            <a:endParaRPr lang="en-US" sz="2400" b="0" i="0" u="none" strike="noStrike" baseline="0" dirty="0">
              <a:solidFill>
                <a:srgbClr val="000000"/>
              </a:solidFill>
              <a:latin typeface="Times New Roman" panose="02020603050405020304" pitchFamily="18" charset="0"/>
            </a:endParaRPr>
          </a:p>
          <a:p>
            <a:pPr algn="just"/>
            <a:r>
              <a:rPr lang="en-IN" sz="2400" b="1" i="0" u="none" strike="noStrike" baseline="0" dirty="0">
                <a:solidFill>
                  <a:srgbClr val="FF0000"/>
                </a:solidFill>
                <a:latin typeface="Times New Roman" panose="02020603050405020304" pitchFamily="18" charset="0"/>
              </a:rPr>
              <a:t>Process Involved: </a:t>
            </a:r>
          </a:p>
          <a:p>
            <a:pPr algn="just"/>
            <a:r>
              <a:rPr lang="en-US" sz="2400" b="0" i="0" u="none" strike="noStrike" baseline="0" dirty="0">
                <a:solidFill>
                  <a:srgbClr val="000000"/>
                </a:solidFill>
                <a:latin typeface="Times New Roman" panose="02020603050405020304" pitchFamily="18" charset="0"/>
              </a:rPr>
              <a:t>&gt;&gt;When a host/router sends a IP datagram(packet)through physical network to the receiver, the sender needs the </a:t>
            </a:r>
            <a:r>
              <a:rPr lang="en-US" sz="2400" b="0" i="0" u="none" strike="noStrike" baseline="0" dirty="0">
                <a:solidFill>
                  <a:srgbClr val="FF0000"/>
                </a:solidFill>
                <a:latin typeface="Times New Roman" panose="02020603050405020304" pitchFamily="18" charset="0"/>
              </a:rPr>
              <a:t>physical address of the receiver. </a:t>
            </a:r>
            <a:r>
              <a:rPr lang="en-US" sz="2400" b="0" i="0" u="none" strike="noStrike" baseline="0" dirty="0">
                <a:solidFill>
                  <a:srgbClr val="000000"/>
                </a:solidFill>
                <a:latin typeface="Times New Roman" panose="02020603050405020304" pitchFamily="18" charset="0"/>
              </a:rPr>
              <a:t>Normally the </a:t>
            </a:r>
            <a:r>
              <a:rPr lang="en-US" sz="2400" b="0" i="0" u="none" strike="noStrike" baseline="0" dirty="0">
                <a:solidFill>
                  <a:srgbClr val="FF0000"/>
                </a:solidFill>
                <a:latin typeface="Times New Roman" panose="02020603050405020304" pitchFamily="18" charset="0"/>
              </a:rPr>
              <a:t>logical (IP) address of Receiver </a:t>
            </a:r>
            <a:r>
              <a:rPr lang="en-US" sz="2400" b="0" i="0" u="none" strike="noStrike" baseline="0" dirty="0">
                <a:solidFill>
                  <a:srgbClr val="000000"/>
                </a:solidFill>
                <a:latin typeface="Times New Roman" panose="02020603050405020304" pitchFamily="18" charset="0"/>
              </a:rPr>
              <a:t>is obtained from the </a:t>
            </a:r>
            <a:r>
              <a:rPr lang="en-US" sz="2400" b="0" i="0" u="none" strike="noStrike" baseline="0" dirty="0">
                <a:solidFill>
                  <a:srgbClr val="FF0000"/>
                </a:solidFill>
                <a:latin typeface="Times New Roman" panose="02020603050405020304" pitchFamily="18" charset="0"/>
              </a:rPr>
              <a:t>DNS</a:t>
            </a:r>
            <a:r>
              <a:rPr lang="en-US" sz="2400" b="0" i="0" u="none" strike="noStrike" baseline="0" dirty="0">
                <a:solidFill>
                  <a:srgbClr val="000000"/>
                </a:solidFill>
                <a:latin typeface="Times New Roman" panose="02020603050405020304" pitchFamily="18" charset="0"/>
              </a:rPr>
              <a:t> if the sender is the host or it is found in a </a:t>
            </a:r>
            <a:r>
              <a:rPr lang="en-US" sz="2400" b="0" i="0" u="none" strike="noStrike" baseline="0" dirty="0">
                <a:solidFill>
                  <a:srgbClr val="FF0000"/>
                </a:solidFill>
                <a:latin typeface="Times New Roman" panose="02020603050405020304" pitchFamily="18" charset="0"/>
              </a:rPr>
              <a:t>routing table </a:t>
            </a:r>
            <a:r>
              <a:rPr lang="en-US" sz="2400" b="0" i="0" u="none" strike="noStrike" baseline="0" dirty="0">
                <a:solidFill>
                  <a:srgbClr val="000000"/>
                </a:solidFill>
                <a:latin typeface="Times New Roman" panose="02020603050405020304" pitchFamily="18" charset="0"/>
              </a:rPr>
              <a:t>if the sender is a router. </a:t>
            </a:r>
          </a:p>
          <a:p>
            <a:pPr algn="just"/>
            <a:r>
              <a:rPr lang="en-US" sz="2400" b="0" i="0" u="none" strike="noStrike" baseline="0" dirty="0">
                <a:solidFill>
                  <a:srgbClr val="000000"/>
                </a:solidFill>
                <a:latin typeface="Times New Roman" panose="02020603050405020304" pitchFamily="18" charset="0"/>
              </a:rPr>
              <a:t>&gt;&gt;The IP datagram from the sender must be encapsulated in a frame to be able to pass through the physical network. This means that the sender needs the physical address of the receiver. </a:t>
            </a:r>
          </a:p>
          <a:p>
            <a:pPr algn="just"/>
            <a:r>
              <a:rPr lang="en-US" sz="2400" b="0" i="0" u="none" strike="noStrike" baseline="0" dirty="0">
                <a:solidFill>
                  <a:srgbClr val="000000"/>
                </a:solidFill>
                <a:latin typeface="Times New Roman" panose="02020603050405020304" pitchFamily="18" charset="0"/>
              </a:rPr>
              <a:t>&gt;&gt;The host or the router sends an </a:t>
            </a:r>
            <a:r>
              <a:rPr lang="en-US" sz="2400" b="0" i="0" u="none" strike="noStrike" baseline="0" dirty="0">
                <a:solidFill>
                  <a:srgbClr val="FF0000"/>
                </a:solidFill>
                <a:latin typeface="Times New Roman" panose="02020603050405020304" pitchFamily="18" charset="0"/>
              </a:rPr>
              <a:t>ARP query packet</a:t>
            </a:r>
            <a:r>
              <a:rPr lang="en-US" sz="2400" b="0" i="0" u="none" strike="noStrike" baseline="0" dirty="0">
                <a:solidFill>
                  <a:srgbClr val="000000"/>
                </a:solidFill>
                <a:latin typeface="Times New Roman" panose="02020603050405020304" pitchFamily="18" charset="0"/>
              </a:rPr>
              <a:t>. The packet includes the </a:t>
            </a:r>
            <a:r>
              <a:rPr lang="en-US" sz="2400" b="1" i="0" u="none" strike="noStrike" baseline="0" dirty="0">
                <a:solidFill>
                  <a:srgbClr val="000000"/>
                </a:solidFill>
                <a:latin typeface="Times New Roman" panose="02020603050405020304" pitchFamily="18" charset="0"/>
              </a:rPr>
              <a:t>physical and IP addresses of the sender and the IP address of the receiver. </a:t>
            </a:r>
          </a:p>
          <a:p>
            <a:pPr algn="just"/>
            <a:r>
              <a:rPr lang="en-US" sz="2400" b="0" i="0" u="none" strike="noStrike" baseline="0" dirty="0">
                <a:solidFill>
                  <a:srgbClr val="000000"/>
                </a:solidFill>
                <a:latin typeface="Times New Roman" panose="02020603050405020304" pitchFamily="18" charset="0"/>
              </a:rPr>
              <a:t>&gt;&gt;As the sender does not know the physical address of the receiver, the query is </a:t>
            </a:r>
            <a:r>
              <a:rPr lang="en-US" sz="2400" b="0" i="0" u="none" strike="noStrike" baseline="0" dirty="0">
                <a:solidFill>
                  <a:srgbClr val="FF0000"/>
                </a:solidFill>
                <a:latin typeface="Times New Roman" panose="02020603050405020304" pitchFamily="18" charset="0"/>
              </a:rPr>
              <a:t>broadcast over the network</a:t>
            </a:r>
            <a:r>
              <a:rPr lang="en-US" sz="2400" b="0" i="0" u="none" strike="noStrike" baseline="0" dirty="0">
                <a:solidFill>
                  <a:srgbClr val="000000"/>
                </a:solidFill>
                <a:latin typeface="Times New Roman" panose="02020603050405020304" pitchFamily="18" charset="0"/>
              </a:rPr>
              <a:t>. </a:t>
            </a:r>
            <a:endParaRPr lang="en-IN" sz="2400" dirty="0"/>
          </a:p>
        </p:txBody>
      </p:sp>
    </p:spTree>
    <p:extLst>
      <p:ext uri="{BB962C8B-B14F-4D97-AF65-F5344CB8AC3E}">
        <p14:creationId xmlns:p14="http://schemas.microsoft.com/office/powerpoint/2010/main" val="188493255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310A-4C54-4060-A509-5E497F5D51A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6839B48-DC5D-4581-B69E-C08C84BFFD39}"/>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D111906-D27B-4A51-B248-A4AC30FEF93E}"/>
              </a:ext>
            </a:extLst>
          </p:cNvPr>
          <p:cNvPicPr>
            <a:picLocks noChangeAspect="1"/>
          </p:cNvPicPr>
          <p:nvPr/>
        </p:nvPicPr>
        <p:blipFill>
          <a:blip r:embed="rId2"/>
          <a:stretch>
            <a:fillRect/>
          </a:stretch>
        </p:blipFill>
        <p:spPr>
          <a:xfrm>
            <a:off x="2902715" y="521110"/>
            <a:ext cx="6572414" cy="5655853"/>
          </a:xfrm>
          <a:prstGeom prst="rect">
            <a:avLst/>
          </a:prstGeom>
        </p:spPr>
      </p:pic>
    </p:spTree>
    <p:extLst>
      <p:ext uri="{BB962C8B-B14F-4D97-AF65-F5344CB8AC3E}">
        <p14:creationId xmlns:p14="http://schemas.microsoft.com/office/powerpoint/2010/main" val="131388783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8262-98DB-440C-B900-36516627C51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D5A7F6-D631-4CB7-BAD6-39FB0177D73C}"/>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71381727-0B4A-4F11-95B3-31AF46758D3A}"/>
              </a:ext>
            </a:extLst>
          </p:cNvPr>
          <p:cNvSpPr txBox="1"/>
          <p:nvPr/>
        </p:nvSpPr>
        <p:spPr>
          <a:xfrm>
            <a:off x="1002890" y="197601"/>
            <a:ext cx="10350910" cy="6001643"/>
          </a:xfrm>
          <a:prstGeom prst="rect">
            <a:avLst/>
          </a:prstGeom>
          <a:noFill/>
        </p:spPr>
        <p:txBody>
          <a:bodyPr wrap="square">
            <a:spAutoFit/>
          </a:bodyPr>
          <a:lstStyle/>
          <a:p>
            <a:pPr algn="just"/>
            <a:r>
              <a:rPr lang="en-US" sz="2400" b="0" i="0" u="none" strike="noStrike" baseline="0" dirty="0">
                <a:solidFill>
                  <a:srgbClr val="000000"/>
                </a:solidFill>
                <a:latin typeface="Times New Roman" panose="02020603050405020304" pitchFamily="18" charset="0"/>
              </a:rPr>
              <a:t>&gt;&gt;Every host or router on the network receives and processes the ARP query packet, but only the </a:t>
            </a:r>
            <a:r>
              <a:rPr lang="en-US" sz="2400" b="0" i="0" u="none" strike="noStrike" baseline="0" dirty="0">
                <a:solidFill>
                  <a:srgbClr val="FF0000"/>
                </a:solidFill>
                <a:latin typeface="Times New Roman" panose="02020603050405020304" pitchFamily="18" charset="0"/>
              </a:rPr>
              <a:t>intended recipient recognizes its IP address and sends back an ARP response packet.</a:t>
            </a:r>
            <a:r>
              <a:rPr lang="en-US" sz="2400" b="0" i="0" u="none" strike="noStrike" baseline="0" dirty="0">
                <a:solidFill>
                  <a:srgbClr val="000000"/>
                </a:solidFill>
                <a:latin typeface="Times New Roman" panose="02020603050405020304" pitchFamily="18" charset="0"/>
              </a:rPr>
              <a:t> </a:t>
            </a:r>
          </a:p>
          <a:p>
            <a:pPr marL="342900" indent="-342900" algn="just">
              <a:buFont typeface="Arial" panose="020B0604020202020204" pitchFamily="34" charset="0"/>
              <a:buChar char="•"/>
            </a:pPr>
            <a:r>
              <a:rPr lang="en-US" sz="2400" b="0" i="0" u="none" strike="noStrike" baseline="0" dirty="0">
                <a:solidFill>
                  <a:srgbClr val="000000"/>
                </a:solidFill>
                <a:latin typeface="Times New Roman" panose="02020603050405020304" pitchFamily="18" charset="0"/>
              </a:rPr>
              <a:t>The response packet contains the </a:t>
            </a:r>
            <a:r>
              <a:rPr lang="en-US" sz="2400" b="1" i="0" u="none" strike="noStrike" baseline="0" dirty="0">
                <a:solidFill>
                  <a:srgbClr val="000000"/>
                </a:solidFill>
                <a:latin typeface="Times New Roman" panose="02020603050405020304" pitchFamily="18" charset="0"/>
              </a:rPr>
              <a:t>recipient's IP and physical addresses</a:t>
            </a:r>
            <a:r>
              <a:rPr lang="en-US" sz="2400" b="0" i="0" u="none" strike="noStrike" baseline="0" dirty="0">
                <a:solidFill>
                  <a:srgbClr val="000000"/>
                </a:solidFill>
                <a:latin typeface="Times New Roman" panose="02020603050405020304" pitchFamily="18" charset="0"/>
              </a:rPr>
              <a:t>. The packet is </a:t>
            </a:r>
            <a:r>
              <a:rPr lang="en-US" sz="2400" b="0" i="0" u="none" strike="noStrike" baseline="0" dirty="0">
                <a:solidFill>
                  <a:srgbClr val="FF0000"/>
                </a:solidFill>
                <a:latin typeface="Times New Roman" panose="02020603050405020304" pitchFamily="18" charset="0"/>
              </a:rPr>
              <a:t>unicast directly to the inquirer </a:t>
            </a:r>
            <a:r>
              <a:rPr lang="en-US" sz="2400" b="0" i="0" u="none" strike="noStrike" baseline="0" dirty="0">
                <a:solidFill>
                  <a:srgbClr val="000000"/>
                </a:solidFill>
                <a:latin typeface="Times New Roman" panose="02020603050405020304" pitchFamily="18" charset="0"/>
              </a:rPr>
              <a:t>by using the </a:t>
            </a:r>
            <a:r>
              <a:rPr lang="en-US" sz="2400" b="0" i="0" u="none" strike="noStrike" baseline="0" dirty="0">
                <a:solidFill>
                  <a:srgbClr val="FF0000"/>
                </a:solidFill>
                <a:latin typeface="Times New Roman" panose="02020603050405020304" pitchFamily="18" charset="0"/>
              </a:rPr>
              <a:t>physical address received in the query packet. </a:t>
            </a:r>
          </a:p>
          <a:p>
            <a:pPr algn="just"/>
            <a:r>
              <a:rPr lang="en-IN" sz="2400" b="1" i="1" u="none" strike="noStrike" baseline="0" dirty="0">
                <a:solidFill>
                  <a:srgbClr val="000000"/>
                </a:solidFill>
                <a:latin typeface="Times New Roman" panose="02020603050405020304" pitchFamily="18" charset="0"/>
              </a:rPr>
              <a:t>Cache Memory </a:t>
            </a:r>
            <a:endParaRPr lang="en-IN" sz="2400" b="1" i="0" u="none" strike="noStrike" baseline="0" dirty="0">
              <a:solidFill>
                <a:srgbClr val="000000"/>
              </a:solidFill>
              <a:latin typeface="Times New Roman" panose="02020603050405020304" pitchFamily="18" charset="0"/>
            </a:endParaRPr>
          </a:p>
          <a:p>
            <a:pPr marL="342900" indent="-342900" algn="just">
              <a:buFont typeface="Arial" panose="020B0604020202020204" pitchFamily="34" charset="0"/>
              <a:buChar char="•"/>
            </a:pPr>
            <a:r>
              <a:rPr lang="en-US" sz="2400" b="0" i="0" u="none" strike="noStrike" baseline="0" dirty="0">
                <a:solidFill>
                  <a:srgbClr val="000000"/>
                </a:solidFill>
                <a:latin typeface="Times New Roman" panose="02020603050405020304" pitchFamily="18" charset="0"/>
              </a:rPr>
              <a:t>Using ARP is inefficient if system A needs to broadcast an ARP request for each IP packet it needs to send to system B. </a:t>
            </a:r>
            <a:r>
              <a:rPr lang="en-US" sz="2400" b="0" i="0" u="none" strike="noStrike" baseline="0" dirty="0">
                <a:solidFill>
                  <a:srgbClr val="000000"/>
                </a:solidFill>
                <a:latin typeface="Arial" panose="020B0604020202020204" pitchFamily="34" charset="0"/>
              </a:rPr>
              <a:t>It </a:t>
            </a:r>
            <a:r>
              <a:rPr lang="en-US" sz="2400" b="0" i="0" u="none" strike="noStrike" baseline="0" dirty="0">
                <a:solidFill>
                  <a:srgbClr val="000000"/>
                </a:solidFill>
                <a:latin typeface="Times New Roman" panose="02020603050405020304" pitchFamily="18" charset="0"/>
              </a:rPr>
              <a:t>could have broadcast the IP packet itself. </a:t>
            </a:r>
          </a:p>
          <a:p>
            <a:pPr marL="342900" indent="-342900" algn="just">
              <a:buFont typeface="Arial" panose="020B0604020202020204" pitchFamily="34" charset="0"/>
              <a:buChar char="•"/>
            </a:pPr>
            <a:r>
              <a:rPr lang="en-US" sz="2400" b="0" i="0" u="none" strike="noStrike" baseline="0" dirty="0">
                <a:solidFill>
                  <a:srgbClr val="000000"/>
                </a:solidFill>
                <a:latin typeface="Times New Roman" panose="02020603050405020304" pitchFamily="18" charset="0"/>
              </a:rPr>
              <a:t>ARP can be useful if the </a:t>
            </a:r>
            <a:r>
              <a:rPr lang="en-US" sz="2400" b="1" i="0" u="none" strike="noStrike" baseline="0" dirty="0">
                <a:solidFill>
                  <a:srgbClr val="000000"/>
                </a:solidFill>
                <a:latin typeface="Times New Roman" panose="02020603050405020304" pitchFamily="18" charset="0"/>
              </a:rPr>
              <a:t>ARP reply is cached </a:t>
            </a:r>
            <a:r>
              <a:rPr lang="en-US" sz="2400" b="0" i="0" u="none" strike="noStrike" baseline="0" dirty="0">
                <a:solidFill>
                  <a:srgbClr val="000000"/>
                </a:solidFill>
                <a:latin typeface="Times New Roman" panose="02020603050405020304" pitchFamily="18" charset="0"/>
              </a:rPr>
              <a:t>(kept in cache memory for a while) because a system normally sends several packets to the same destination.</a:t>
            </a:r>
          </a:p>
          <a:p>
            <a:pPr marL="342900" indent="-342900" algn="just">
              <a:buFont typeface="Arial" panose="020B0604020202020204" pitchFamily="34" charset="0"/>
              <a:buChar char="•"/>
            </a:pPr>
            <a:r>
              <a:rPr lang="en-US" sz="2400" b="0" i="0" u="none" strike="noStrike" baseline="0" dirty="0">
                <a:solidFill>
                  <a:srgbClr val="000000"/>
                </a:solidFill>
                <a:latin typeface="Times New Roman" panose="02020603050405020304" pitchFamily="18" charset="0"/>
              </a:rPr>
              <a:t>A system that receives an ARP reply </a:t>
            </a:r>
            <a:r>
              <a:rPr lang="en-US" sz="2400" b="1" i="0" u="none" strike="noStrike" baseline="0" dirty="0">
                <a:solidFill>
                  <a:srgbClr val="000000"/>
                </a:solidFill>
                <a:latin typeface="Times New Roman" panose="02020603050405020304" pitchFamily="18" charset="0"/>
              </a:rPr>
              <a:t>stores the mapping in the cache memory and keeps it for 20 to 30 minutes </a:t>
            </a:r>
            <a:r>
              <a:rPr lang="en-US" sz="2400" b="0" i="0" u="none" strike="noStrike" baseline="0" dirty="0">
                <a:solidFill>
                  <a:srgbClr val="000000"/>
                </a:solidFill>
                <a:latin typeface="Times New Roman" panose="02020603050405020304" pitchFamily="18" charset="0"/>
              </a:rPr>
              <a:t>unless the space in the cache is exhausted. Before sending an ARP request, </a:t>
            </a:r>
            <a:r>
              <a:rPr lang="en-US" sz="2400" b="1" i="0" u="none" strike="noStrike" baseline="0" dirty="0">
                <a:solidFill>
                  <a:srgbClr val="000000"/>
                </a:solidFill>
                <a:latin typeface="Times New Roman" panose="02020603050405020304" pitchFamily="18" charset="0"/>
              </a:rPr>
              <a:t>the system first checks its cache to see if it can find the mapping. </a:t>
            </a:r>
            <a:endParaRPr lang="en-IN" sz="2400" b="1" dirty="0"/>
          </a:p>
        </p:txBody>
      </p:sp>
    </p:spTree>
    <p:extLst>
      <p:ext uri="{BB962C8B-B14F-4D97-AF65-F5344CB8AC3E}">
        <p14:creationId xmlns:p14="http://schemas.microsoft.com/office/powerpoint/2010/main" val="591194429"/>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FD651-7FAB-464B-BF99-993DD7F5491A}"/>
              </a:ext>
            </a:extLst>
          </p:cNvPr>
          <p:cNvSpPr>
            <a:spLocks noGrp="1"/>
          </p:cNvSpPr>
          <p:nvPr>
            <p:ph type="title"/>
          </p:nvPr>
        </p:nvSpPr>
        <p:spPr/>
        <p:txBody>
          <a:bodyPr>
            <a:normAutofit/>
          </a:bodyPr>
          <a:lstStyle/>
          <a:p>
            <a:r>
              <a:rPr lang="en-IN" sz="2800" b="1" i="1" u="none" strike="noStrike" baseline="0" dirty="0">
                <a:solidFill>
                  <a:srgbClr val="000000"/>
                </a:solidFill>
                <a:latin typeface="Times New Roman" panose="02020603050405020304" pitchFamily="18" charset="0"/>
              </a:rPr>
              <a:t>ARP Packet Structure </a:t>
            </a:r>
            <a:endParaRPr lang="en-IN" sz="2800" b="1" dirty="0"/>
          </a:p>
        </p:txBody>
      </p:sp>
      <p:sp>
        <p:nvSpPr>
          <p:cNvPr id="3" name="Content Placeholder 2">
            <a:extLst>
              <a:ext uri="{FF2B5EF4-FFF2-40B4-BE49-F238E27FC236}">
                <a16:creationId xmlns:a16="http://schemas.microsoft.com/office/drawing/2014/main" id="{ED6F993B-2DD8-497E-82C3-6B8981A0FA5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BA6FC06-C8A6-4F27-9A0E-27734C8051E2}"/>
              </a:ext>
            </a:extLst>
          </p:cNvPr>
          <p:cNvPicPr>
            <a:picLocks noChangeAspect="1"/>
          </p:cNvPicPr>
          <p:nvPr/>
        </p:nvPicPr>
        <p:blipFill>
          <a:blip r:embed="rId2"/>
          <a:stretch>
            <a:fillRect/>
          </a:stretch>
        </p:blipFill>
        <p:spPr>
          <a:xfrm>
            <a:off x="2338483" y="1358195"/>
            <a:ext cx="7515034" cy="5286197"/>
          </a:xfrm>
          <a:prstGeom prst="rect">
            <a:avLst/>
          </a:prstGeom>
        </p:spPr>
      </p:pic>
    </p:spTree>
    <p:extLst>
      <p:ext uri="{BB962C8B-B14F-4D97-AF65-F5344CB8AC3E}">
        <p14:creationId xmlns:p14="http://schemas.microsoft.com/office/powerpoint/2010/main" val="179528818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95453-56AE-4857-AA21-F764BBBB27DD}"/>
              </a:ext>
            </a:extLst>
          </p:cNvPr>
          <p:cNvSpPr>
            <a:spLocks noGrp="1"/>
          </p:cNvSpPr>
          <p:nvPr>
            <p:ph type="title"/>
          </p:nvPr>
        </p:nvSpPr>
        <p:spPr/>
        <p:txBody>
          <a:bodyPr/>
          <a:lstStyle/>
          <a:p>
            <a:r>
              <a:rPr lang="en-IN" dirty="0"/>
              <a:t>Different Cases</a:t>
            </a:r>
          </a:p>
        </p:txBody>
      </p:sp>
      <p:sp>
        <p:nvSpPr>
          <p:cNvPr id="3" name="Content Placeholder 2">
            <a:extLst>
              <a:ext uri="{FF2B5EF4-FFF2-40B4-BE49-F238E27FC236}">
                <a16:creationId xmlns:a16="http://schemas.microsoft.com/office/drawing/2014/main" id="{DA69E2B6-5464-4E5E-97A7-E4446BDEDE0C}"/>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0F17EA2-4FB0-428E-B4A8-6CCFE567EE8B}"/>
              </a:ext>
            </a:extLst>
          </p:cNvPr>
          <p:cNvPicPr>
            <a:picLocks noChangeAspect="1"/>
          </p:cNvPicPr>
          <p:nvPr/>
        </p:nvPicPr>
        <p:blipFill>
          <a:blip r:embed="rId2"/>
          <a:stretch>
            <a:fillRect/>
          </a:stretch>
        </p:blipFill>
        <p:spPr>
          <a:xfrm>
            <a:off x="1995948" y="1344663"/>
            <a:ext cx="8032955" cy="5148212"/>
          </a:xfrm>
          <a:prstGeom prst="rect">
            <a:avLst/>
          </a:prstGeom>
        </p:spPr>
      </p:pic>
    </p:spTree>
    <p:extLst>
      <p:ext uri="{BB962C8B-B14F-4D97-AF65-F5344CB8AC3E}">
        <p14:creationId xmlns:p14="http://schemas.microsoft.com/office/powerpoint/2010/main" val="1044310120"/>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b="1" i="1" dirty="0"/>
              <a:t>RARP - </a:t>
            </a:r>
            <a:r>
              <a:rPr lang="en-US" sz="2400" b="1" dirty="0"/>
              <a:t>Reverse Address Resolution Protocol </a:t>
            </a:r>
            <a:endParaRPr lang="en-US" sz="2400" b="1" i="1" dirty="0"/>
          </a:p>
          <a:p>
            <a:pPr marL="1066800" lvl="1" indent="-609600" algn="just">
              <a:spcBef>
                <a:spcPct val="20000"/>
              </a:spcBef>
              <a:buClr>
                <a:schemeClr val="accent2"/>
              </a:buClr>
              <a:buFont typeface="Wingdings" pitchFamily="2" charset="2"/>
              <a:buChar char="§"/>
            </a:pPr>
            <a:r>
              <a:rPr lang="en-US" sz="2400" dirty="0"/>
              <a:t>Given an </a:t>
            </a:r>
            <a:r>
              <a:rPr lang="en-US" sz="2400" b="1" dirty="0"/>
              <a:t>Ethernet address</a:t>
            </a:r>
            <a:r>
              <a:rPr lang="en-US" sz="2400" dirty="0"/>
              <a:t>, what is the </a:t>
            </a:r>
            <a:r>
              <a:rPr lang="en-US" sz="2400" b="1" dirty="0"/>
              <a:t>corresponding IP address?</a:t>
            </a:r>
          </a:p>
          <a:p>
            <a:pPr marL="1066800" lvl="1" indent="-609600" algn="just">
              <a:spcBef>
                <a:spcPct val="20000"/>
              </a:spcBef>
              <a:buClr>
                <a:schemeClr val="accent2"/>
              </a:buClr>
              <a:buFont typeface="Wingdings" pitchFamily="2" charset="2"/>
              <a:buChar char="§"/>
            </a:pPr>
            <a:r>
              <a:rPr lang="en-US" sz="2400" dirty="0"/>
              <a:t>This problem occurs when a </a:t>
            </a:r>
            <a:r>
              <a:rPr lang="en-US" sz="2400" dirty="0">
                <a:solidFill>
                  <a:srgbClr val="FF0000"/>
                </a:solidFill>
              </a:rPr>
              <a:t>diskless workstation </a:t>
            </a:r>
            <a:r>
              <a:rPr lang="en-US" sz="2400" dirty="0"/>
              <a:t>is booted. </a:t>
            </a:r>
          </a:p>
          <a:p>
            <a:pPr marL="1066800" lvl="1" indent="-609600" algn="just">
              <a:spcBef>
                <a:spcPct val="20000"/>
              </a:spcBef>
              <a:buClr>
                <a:schemeClr val="accent2"/>
              </a:buClr>
              <a:buFont typeface="Wingdings" pitchFamily="2" charset="2"/>
              <a:buChar char="§"/>
            </a:pPr>
            <a:r>
              <a:rPr lang="en-US" sz="2400" dirty="0"/>
              <a:t>Such a machine will normally get the binary image of its OS from a remote file server. </a:t>
            </a:r>
          </a:p>
          <a:p>
            <a:pPr marL="1066800" lvl="1" indent="-609600" algn="just">
              <a:spcBef>
                <a:spcPct val="20000"/>
              </a:spcBef>
              <a:buClr>
                <a:schemeClr val="accent2"/>
              </a:buClr>
              <a:buFont typeface="Wingdings" pitchFamily="2" charset="2"/>
              <a:buChar char="§"/>
            </a:pPr>
            <a:r>
              <a:rPr lang="en-US" sz="2400" dirty="0"/>
              <a:t>But how does it learn its IP address?</a:t>
            </a:r>
          </a:p>
          <a:p>
            <a:pPr marL="1066800" lvl="1" indent="-609600" algn="just">
              <a:spcBef>
                <a:spcPct val="20000"/>
              </a:spcBef>
              <a:buClr>
                <a:schemeClr val="accent2"/>
              </a:buClr>
              <a:buFont typeface="Wingdings" pitchFamily="2" charset="2"/>
              <a:buChar char="§"/>
            </a:pPr>
            <a:r>
              <a:rPr lang="en-US" sz="2400" dirty="0"/>
              <a:t>RARP allows a </a:t>
            </a:r>
            <a:r>
              <a:rPr lang="en-US" sz="2400" b="1" dirty="0"/>
              <a:t>newly-booted workstation to broadcast</a:t>
            </a:r>
            <a:r>
              <a:rPr lang="en-US" sz="2400" dirty="0"/>
              <a:t> its </a:t>
            </a:r>
            <a:r>
              <a:rPr lang="en-US" sz="2400" b="1" dirty="0"/>
              <a:t>Ethernet address </a:t>
            </a:r>
            <a:r>
              <a:rPr lang="en-US" sz="2400" dirty="0"/>
              <a:t>and say: My 48-bit Ethernet address is 14.04.05.18.01.25. </a:t>
            </a:r>
          </a:p>
          <a:p>
            <a:pPr marL="1066800" lvl="1" indent="-609600" algn="just">
              <a:spcBef>
                <a:spcPct val="20000"/>
              </a:spcBef>
              <a:buClr>
                <a:schemeClr val="accent2"/>
              </a:buClr>
              <a:buFont typeface="Wingdings" pitchFamily="2" charset="2"/>
              <a:buChar char="§"/>
            </a:pPr>
            <a:r>
              <a:rPr lang="en-US" sz="2400" dirty="0"/>
              <a:t>Does anyone out there know my IP address? </a:t>
            </a:r>
          </a:p>
          <a:p>
            <a:pPr marL="1066800" lvl="1" indent="-609600" algn="just">
              <a:spcBef>
                <a:spcPct val="20000"/>
              </a:spcBef>
              <a:buClr>
                <a:schemeClr val="accent2"/>
              </a:buClr>
              <a:buFont typeface="Wingdings" pitchFamily="2" charset="2"/>
              <a:buChar char="§"/>
            </a:pPr>
            <a:r>
              <a:rPr lang="en-US" sz="2400" dirty="0"/>
              <a:t>The </a:t>
            </a:r>
            <a:r>
              <a:rPr lang="en-US" sz="2400" b="1" dirty="0"/>
              <a:t>RARP server sees this request</a:t>
            </a:r>
            <a:r>
              <a:rPr lang="en-US" sz="2400" dirty="0"/>
              <a:t>, looks up the Ethernet address in its </a:t>
            </a:r>
            <a:r>
              <a:rPr lang="en-US" sz="2400" b="1" dirty="0"/>
              <a:t>configuration files</a:t>
            </a:r>
            <a:r>
              <a:rPr lang="en-US" sz="2400" dirty="0"/>
              <a:t>, and sends back the </a:t>
            </a:r>
            <a:r>
              <a:rPr lang="en-US" sz="2400" b="1" dirty="0"/>
              <a:t>corresponding IP address</a:t>
            </a:r>
            <a:r>
              <a:rPr lang="en-US" sz="2400" dirty="0"/>
              <a:t>.</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algn="just">
              <a:spcBef>
                <a:spcPct val="20000"/>
              </a:spcBef>
              <a:buClr>
                <a:schemeClr val="accent2"/>
              </a:buClr>
            </a:pPr>
            <a:endParaRPr lang="en-US" sz="2400" dirty="0"/>
          </a:p>
          <a:p>
            <a:pPr marL="609600" indent="-609600" algn="just">
              <a:spcBef>
                <a:spcPct val="20000"/>
              </a:spcBef>
              <a:buClr>
                <a:schemeClr val="accent2"/>
              </a:buClr>
              <a:buFont typeface="Wingdings" pitchFamily="2" charset="2"/>
              <a:buChar char="§"/>
            </a:pPr>
            <a:r>
              <a:rPr lang="en-US" sz="2400" dirty="0">
                <a:solidFill>
                  <a:srgbClr val="FF0000"/>
                </a:solidFill>
              </a:rPr>
              <a:t>Disadvantage</a:t>
            </a:r>
            <a:r>
              <a:rPr lang="en-US" sz="2400" dirty="0"/>
              <a:t> of RARP </a:t>
            </a:r>
          </a:p>
          <a:p>
            <a:pPr marL="1066800" lvl="1" indent="-609600" algn="just">
              <a:spcBef>
                <a:spcPct val="20000"/>
              </a:spcBef>
              <a:buClr>
                <a:schemeClr val="accent2"/>
              </a:buClr>
              <a:buFont typeface="Wingdings" pitchFamily="2" charset="2"/>
              <a:buChar char="§"/>
            </a:pPr>
            <a:r>
              <a:rPr lang="en-US" sz="2400" dirty="0"/>
              <a:t>uses a </a:t>
            </a:r>
            <a:r>
              <a:rPr lang="en-US" sz="2400" b="1" dirty="0"/>
              <a:t>destination address of all 1s</a:t>
            </a:r>
            <a:r>
              <a:rPr lang="en-US" sz="2400" dirty="0"/>
              <a:t> (limited broadcasting) to reach the RARP server. </a:t>
            </a:r>
          </a:p>
          <a:p>
            <a:pPr marL="1066800" lvl="1" indent="-609600" algn="just">
              <a:spcBef>
                <a:spcPct val="20000"/>
              </a:spcBef>
              <a:buClr>
                <a:schemeClr val="accent2"/>
              </a:buClr>
              <a:buFont typeface="Wingdings" pitchFamily="2" charset="2"/>
              <a:buChar char="§"/>
            </a:pPr>
            <a:r>
              <a:rPr lang="en-US" sz="2400" dirty="0"/>
              <a:t>Such broadcasts </a:t>
            </a:r>
            <a:r>
              <a:rPr lang="en-US" sz="2400" b="1" dirty="0"/>
              <a:t>are not forwarded by routers </a:t>
            </a:r>
          </a:p>
          <a:p>
            <a:pPr marL="1066800" lvl="1" indent="-609600" algn="just">
              <a:spcBef>
                <a:spcPct val="20000"/>
              </a:spcBef>
              <a:buClr>
                <a:schemeClr val="accent2"/>
              </a:buClr>
              <a:buFont typeface="Wingdings" pitchFamily="2" charset="2"/>
              <a:buChar char="§"/>
            </a:pPr>
            <a:r>
              <a:rPr lang="en-US" sz="2400" dirty="0"/>
              <a:t>So, a </a:t>
            </a:r>
            <a:r>
              <a:rPr lang="en-US" sz="2400" dirty="0">
                <a:solidFill>
                  <a:srgbClr val="FF0000"/>
                </a:solidFill>
              </a:rPr>
              <a:t>RARP server is needed on each network</a:t>
            </a:r>
          </a:p>
          <a:p>
            <a:pPr marL="1066800" lvl="1" indent="-609600" algn="just">
              <a:spcBef>
                <a:spcPct val="20000"/>
              </a:spcBef>
              <a:buClr>
                <a:schemeClr val="accent2"/>
              </a:buClr>
              <a:buFont typeface="Wingdings" pitchFamily="2" charset="2"/>
              <a:buChar char="§"/>
            </a:pPr>
            <a:r>
              <a:rPr lang="en-US" sz="2400" dirty="0"/>
              <a:t>To overcome this problem, </a:t>
            </a:r>
            <a:r>
              <a:rPr lang="en-US" sz="2400" b="1" dirty="0"/>
              <a:t>BOOTP </a:t>
            </a:r>
            <a:r>
              <a:rPr lang="en-US" sz="2400" dirty="0"/>
              <a:t>was invented .</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b="1" dirty="0"/>
              <a:t>BOOTP - bootstrap protocol </a:t>
            </a:r>
          </a:p>
          <a:p>
            <a:pPr marL="1066800" lvl="1" indent="-609600" algn="just">
              <a:spcBef>
                <a:spcPct val="20000"/>
              </a:spcBef>
              <a:buClr>
                <a:schemeClr val="accent2"/>
              </a:buClr>
              <a:buFont typeface="Wingdings" pitchFamily="2" charset="2"/>
              <a:buChar char="§"/>
            </a:pPr>
            <a:r>
              <a:rPr lang="en-US" sz="2600" dirty="0"/>
              <a:t>BOOTP uses </a:t>
            </a:r>
            <a:r>
              <a:rPr lang="en-US" sz="2600" b="1" dirty="0"/>
              <a:t>UDP messages, </a:t>
            </a:r>
            <a:r>
              <a:rPr lang="en-US" sz="2600" dirty="0"/>
              <a:t>which are </a:t>
            </a:r>
            <a:r>
              <a:rPr lang="en-US" sz="2600" b="1" dirty="0"/>
              <a:t>forwarded over routers</a:t>
            </a:r>
            <a:r>
              <a:rPr lang="en-US" sz="2600" dirty="0"/>
              <a:t>. </a:t>
            </a:r>
          </a:p>
          <a:p>
            <a:pPr marL="1066800" lvl="1" indent="-609600" algn="just">
              <a:spcBef>
                <a:spcPct val="20000"/>
              </a:spcBef>
              <a:buClr>
                <a:schemeClr val="accent2"/>
              </a:buClr>
              <a:buFont typeface="Wingdings" pitchFamily="2" charset="2"/>
              <a:buChar char="§"/>
            </a:pPr>
            <a:r>
              <a:rPr lang="en-US" sz="2600" dirty="0"/>
              <a:t>It also provides a diskless workstation with </a:t>
            </a:r>
            <a:r>
              <a:rPr lang="en-US" sz="2600" dirty="0">
                <a:solidFill>
                  <a:srgbClr val="FF0000"/>
                </a:solidFill>
              </a:rPr>
              <a:t>additional information</a:t>
            </a:r>
            <a:r>
              <a:rPr lang="en-US" sz="2600" dirty="0"/>
              <a:t>, including </a:t>
            </a:r>
          </a:p>
          <a:p>
            <a:pPr marL="1524000" lvl="2" indent="-609600" algn="just">
              <a:spcBef>
                <a:spcPct val="20000"/>
              </a:spcBef>
              <a:buClr>
                <a:schemeClr val="accent2"/>
              </a:buClr>
              <a:buFont typeface="Wingdings" pitchFamily="2" charset="2"/>
              <a:buChar char="§"/>
            </a:pPr>
            <a:r>
              <a:rPr lang="en-US" sz="2600" dirty="0">
                <a:solidFill>
                  <a:srgbClr val="FF0000"/>
                </a:solidFill>
              </a:rPr>
              <a:t>IP address of the file server </a:t>
            </a:r>
            <a:r>
              <a:rPr lang="en-US" sz="2600" dirty="0"/>
              <a:t>holding the memory image, </a:t>
            </a:r>
          </a:p>
          <a:p>
            <a:pPr marL="1524000" lvl="2" indent="-609600" algn="just">
              <a:spcBef>
                <a:spcPct val="20000"/>
              </a:spcBef>
              <a:buClr>
                <a:schemeClr val="accent2"/>
              </a:buClr>
              <a:buFont typeface="Wingdings" pitchFamily="2" charset="2"/>
              <a:buChar char="§"/>
            </a:pPr>
            <a:r>
              <a:rPr lang="en-US" sz="2600" dirty="0">
                <a:solidFill>
                  <a:srgbClr val="FF0000"/>
                </a:solidFill>
              </a:rPr>
              <a:t>IP address of the default router</a:t>
            </a:r>
            <a:r>
              <a:rPr lang="en-US" sz="2600" dirty="0"/>
              <a:t>, and </a:t>
            </a:r>
          </a:p>
          <a:p>
            <a:pPr marL="1524000" lvl="2" indent="-609600" algn="just">
              <a:spcBef>
                <a:spcPct val="20000"/>
              </a:spcBef>
              <a:buClr>
                <a:schemeClr val="accent2"/>
              </a:buClr>
              <a:buFont typeface="Wingdings" pitchFamily="2" charset="2"/>
              <a:buChar char="§"/>
            </a:pPr>
            <a:r>
              <a:rPr lang="en-US" sz="2600" dirty="0">
                <a:solidFill>
                  <a:srgbClr val="FF0000"/>
                </a:solidFill>
              </a:rPr>
              <a:t>subnet mask </a:t>
            </a:r>
            <a:r>
              <a:rPr lang="en-US" sz="2600" dirty="0"/>
              <a:t>to use.</a:t>
            </a: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400" dirty="0">
                <a:solidFill>
                  <a:srgbClr val="FF0000"/>
                </a:solidFill>
              </a:rPr>
              <a:t>Serious problem </a:t>
            </a:r>
            <a:r>
              <a:rPr lang="en-US" sz="2400" dirty="0"/>
              <a:t>with BOOTP </a:t>
            </a:r>
          </a:p>
          <a:p>
            <a:pPr marL="1066800" lvl="1" indent="-609600" algn="just">
              <a:spcBef>
                <a:spcPct val="20000"/>
              </a:spcBef>
              <a:buClr>
                <a:schemeClr val="accent2"/>
              </a:buClr>
              <a:buFont typeface="Wingdings" pitchFamily="2" charset="2"/>
              <a:buChar char="§"/>
            </a:pPr>
            <a:r>
              <a:rPr lang="en-US" sz="2400" dirty="0"/>
              <a:t>Requires </a:t>
            </a:r>
            <a:r>
              <a:rPr lang="en-US" sz="2400" dirty="0">
                <a:solidFill>
                  <a:srgbClr val="FF0000"/>
                </a:solidFill>
              </a:rPr>
              <a:t>manual configuration of tables </a:t>
            </a:r>
            <a:r>
              <a:rPr lang="en-US" sz="2400" b="1" dirty="0"/>
              <a:t>mapping IP address to Ethernet address. </a:t>
            </a:r>
          </a:p>
          <a:p>
            <a:pPr marL="1066800" lvl="1" indent="-609600" algn="just">
              <a:spcBef>
                <a:spcPct val="20000"/>
              </a:spcBef>
              <a:buClr>
                <a:schemeClr val="accent2"/>
              </a:buClr>
              <a:buFont typeface="Wingdings" pitchFamily="2" charset="2"/>
              <a:buChar char="§"/>
            </a:pPr>
            <a:r>
              <a:rPr lang="en-US" sz="2400" dirty="0"/>
              <a:t>When a new host is added to a LAN, it </a:t>
            </a:r>
            <a:r>
              <a:rPr lang="en-US" sz="2400" b="1" dirty="0"/>
              <a:t>cannot use BOOTP until an administrator</a:t>
            </a:r>
            <a:r>
              <a:rPr lang="en-US" sz="2400" dirty="0"/>
              <a:t> has assigned it an IP address and entered its (Ethernet address, IP address) into the </a:t>
            </a:r>
            <a:r>
              <a:rPr lang="en-US" sz="2400" b="1" dirty="0"/>
              <a:t>BOOTP configuration tables by hand. </a:t>
            </a:r>
          </a:p>
          <a:p>
            <a:pPr marL="1066800" lvl="1" indent="-609600" algn="just">
              <a:spcBef>
                <a:spcPct val="20000"/>
              </a:spcBef>
              <a:buClr>
                <a:schemeClr val="accent2"/>
              </a:buClr>
              <a:buFont typeface="Wingdings" pitchFamily="2" charset="2"/>
              <a:buChar char="§"/>
            </a:pPr>
            <a:r>
              <a:rPr lang="en-US" sz="2400" dirty="0"/>
              <a:t>To eliminate this error-prone step, BOOTP was extended and given a new name: </a:t>
            </a:r>
            <a:r>
              <a:rPr lang="en-US" sz="2400" b="1" dirty="0"/>
              <a:t>DHCP (Dynamic Host Configuration Protocol)</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3999" y="710692"/>
            <a:ext cx="9930581"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b="1" dirty="0"/>
              <a:t>DHCP - Dynamic Host Configuration Protocol</a:t>
            </a:r>
          </a:p>
          <a:p>
            <a:pPr marL="1066800" lvl="1" indent="-609600" algn="just">
              <a:spcBef>
                <a:spcPct val="20000"/>
              </a:spcBef>
              <a:buClr>
                <a:schemeClr val="accent2"/>
              </a:buClr>
              <a:buFont typeface="Wingdings" pitchFamily="2" charset="2"/>
              <a:buChar char="§"/>
            </a:pPr>
            <a:r>
              <a:rPr lang="en-US" sz="2800" dirty="0"/>
              <a:t>DHCP allows both </a:t>
            </a:r>
            <a:r>
              <a:rPr lang="en-US" sz="2800" dirty="0">
                <a:solidFill>
                  <a:srgbClr val="FF0000"/>
                </a:solidFill>
              </a:rPr>
              <a:t>manual</a:t>
            </a:r>
            <a:r>
              <a:rPr lang="en-US" sz="2800" dirty="0"/>
              <a:t> </a:t>
            </a:r>
            <a:r>
              <a:rPr lang="en-US" sz="2800" dirty="0">
                <a:solidFill>
                  <a:srgbClr val="FF0000"/>
                </a:solidFill>
              </a:rPr>
              <a:t>IP address assignment </a:t>
            </a:r>
            <a:r>
              <a:rPr lang="en-US" sz="2800" dirty="0"/>
              <a:t>and </a:t>
            </a:r>
            <a:r>
              <a:rPr lang="en-US" sz="2800" dirty="0">
                <a:solidFill>
                  <a:srgbClr val="FF0000"/>
                </a:solidFill>
              </a:rPr>
              <a:t>automatic</a:t>
            </a:r>
            <a:r>
              <a:rPr lang="en-US" sz="2800" dirty="0"/>
              <a:t> </a:t>
            </a:r>
            <a:r>
              <a:rPr lang="en-US" sz="2800" dirty="0">
                <a:solidFill>
                  <a:srgbClr val="FF0000"/>
                </a:solidFill>
              </a:rPr>
              <a:t>assignment</a:t>
            </a:r>
            <a:r>
              <a:rPr lang="en-US" sz="2800" dirty="0"/>
              <a:t>. </a:t>
            </a:r>
          </a:p>
          <a:p>
            <a:pPr marL="1066800" lvl="1" indent="-609600" algn="just">
              <a:spcBef>
                <a:spcPct val="20000"/>
              </a:spcBef>
              <a:buClr>
                <a:schemeClr val="accent2"/>
              </a:buClr>
              <a:buFont typeface="Wingdings" pitchFamily="2" charset="2"/>
              <a:buChar char="§"/>
            </a:pPr>
            <a:r>
              <a:rPr lang="en-US" sz="2800" dirty="0"/>
              <a:t>In most systems, it has largely </a:t>
            </a:r>
            <a:r>
              <a:rPr lang="en-US" sz="2800" dirty="0">
                <a:solidFill>
                  <a:srgbClr val="FF0000"/>
                </a:solidFill>
              </a:rPr>
              <a:t>replaced RARP and BOOTP</a:t>
            </a:r>
            <a:r>
              <a:rPr lang="en-US" sz="2800" dirty="0"/>
              <a:t>.</a:t>
            </a:r>
          </a:p>
          <a:p>
            <a:pPr marL="1066800" lvl="1" indent="-609600" algn="just">
              <a:spcBef>
                <a:spcPct val="20000"/>
              </a:spcBef>
              <a:buClr>
                <a:schemeClr val="accent2"/>
              </a:buClr>
              <a:buFont typeface="Wingdings" pitchFamily="2" charset="2"/>
              <a:buChar char="§"/>
            </a:pPr>
            <a:r>
              <a:rPr lang="en-US" sz="2800" dirty="0"/>
              <a:t>Like RARP and BOOTP, DHCP is based on the idea of a </a:t>
            </a:r>
            <a:r>
              <a:rPr lang="en-US" sz="2800" dirty="0">
                <a:solidFill>
                  <a:srgbClr val="FF0000"/>
                </a:solidFill>
              </a:rPr>
              <a:t>special server </a:t>
            </a:r>
            <a:r>
              <a:rPr lang="en-US" sz="2800" dirty="0"/>
              <a:t>that </a:t>
            </a:r>
            <a:r>
              <a:rPr lang="en-US" sz="2800" b="1" dirty="0"/>
              <a:t>assigns IP addresses </a:t>
            </a:r>
            <a:r>
              <a:rPr lang="en-US" sz="2800" dirty="0"/>
              <a:t>to hosts asking for one. </a:t>
            </a:r>
          </a:p>
          <a:p>
            <a:pPr marL="1066800" lvl="1" indent="-609600" algn="just">
              <a:spcBef>
                <a:spcPct val="20000"/>
              </a:spcBef>
              <a:buClr>
                <a:schemeClr val="accent2"/>
              </a:buClr>
              <a:buFont typeface="Wingdings" pitchFamily="2" charset="2"/>
              <a:buChar char="§"/>
            </a:pPr>
            <a:r>
              <a:rPr lang="en-US" sz="2800" dirty="0"/>
              <a:t>This </a:t>
            </a:r>
            <a:r>
              <a:rPr lang="en-US" sz="2800" b="1" dirty="0"/>
              <a:t>server need not be on the same LAN as the requesting host. </a:t>
            </a:r>
          </a:p>
          <a:p>
            <a:pPr marL="1066800" lvl="1" indent="-609600" algn="just">
              <a:spcBef>
                <a:spcPct val="20000"/>
              </a:spcBef>
              <a:buClr>
                <a:schemeClr val="accent2"/>
              </a:buClr>
              <a:buFont typeface="Wingdings" pitchFamily="2" charset="2"/>
              <a:buChar char="§"/>
            </a:pPr>
            <a:r>
              <a:rPr lang="en-US" sz="2800" dirty="0"/>
              <a:t>Since the </a:t>
            </a:r>
            <a:r>
              <a:rPr lang="en-US" sz="2800" b="1" dirty="0"/>
              <a:t>DHCP server may not be reachable by broadcasting</a:t>
            </a:r>
            <a:r>
              <a:rPr lang="en-US" sz="2800" dirty="0"/>
              <a:t>, a </a:t>
            </a:r>
            <a:r>
              <a:rPr lang="en-US" sz="2800" b="1" dirty="0"/>
              <a:t>DHCP relay agent </a:t>
            </a:r>
            <a:r>
              <a:rPr lang="en-US" sz="2800" dirty="0"/>
              <a:t>is needed on each LAN</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524000" y="868738"/>
            <a:ext cx="9144000" cy="43467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t>To find its IP address, a newly-booted machine </a:t>
            </a:r>
            <a:r>
              <a:rPr lang="en-US" sz="2800" b="1" dirty="0"/>
              <a:t>broadcasts </a:t>
            </a:r>
            <a:r>
              <a:rPr lang="en-US" sz="2800" dirty="0"/>
              <a:t>a </a:t>
            </a:r>
            <a:r>
              <a:rPr lang="en-US" sz="2800" b="1" dirty="0"/>
              <a:t>DHCP DISCOVER packet</a:t>
            </a:r>
            <a:r>
              <a:rPr lang="en-US" sz="2800" dirty="0"/>
              <a:t>. </a:t>
            </a:r>
          </a:p>
          <a:p>
            <a:pPr marL="609600" indent="-609600" algn="just">
              <a:spcBef>
                <a:spcPct val="20000"/>
              </a:spcBef>
              <a:buClr>
                <a:schemeClr val="accent2"/>
              </a:buClr>
              <a:buFont typeface="Wingdings" pitchFamily="2" charset="2"/>
              <a:buChar char="§"/>
            </a:pPr>
            <a:r>
              <a:rPr lang="en-US" sz="2800" dirty="0"/>
              <a:t>The </a:t>
            </a:r>
            <a:r>
              <a:rPr lang="en-US" sz="2800" b="1" dirty="0"/>
              <a:t>DHCP relay agent </a:t>
            </a:r>
            <a:r>
              <a:rPr lang="en-US" sz="2800" dirty="0"/>
              <a:t>on its LAN </a:t>
            </a:r>
            <a:r>
              <a:rPr lang="en-US" sz="2800" b="1" dirty="0"/>
              <a:t>captures all DHCP broadcasts. </a:t>
            </a:r>
          </a:p>
          <a:p>
            <a:pPr marL="609600" indent="-609600" algn="just">
              <a:spcBef>
                <a:spcPct val="20000"/>
              </a:spcBef>
              <a:buClr>
                <a:schemeClr val="accent2"/>
              </a:buClr>
              <a:buFont typeface="Wingdings" pitchFamily="2" charset="2"/>
              <a:buChar char="§"/>
            </a:pPr>
            <a:r>
              <a:rPr lang="en-US" sz="2800" dirty="0"/>
              <a:t>When it finds a DHCP DISCOVER packet, it sends the packet as a </a:t>
            </a:r>
            <a:r>
              <a:rPr lang="en-US" sz="2800" b="1" dirty="0"/>
              <a:t>unicast packet to the DHCP server</a:t>
            </a:r>
            <a:r>
              <a:rPr lang="en-US" sz="2800" dirty="0"/>
              <a:t>, possibly on a distant network. </a:t>
            </a:r>
          </a:p>
          <a:p>
            <a:pPr marL="609600" indent="-609600" algn="just">
              <a:spcBef>
                <a:spcPct val="20000"/>
              </a:spcBef>
              <a:buClr>
                <a:schemeClr val="accent2"/>
              </a:buClr>
              <a:buFont typeface="Wingdings" pitchFamily="2" charset="2"/>
              <a:buChar char="§"/>
            </a:pPr>
            <a:r>
              <a:rPr lang="en-US" sz="2800" dirty="0"/>
              <a:t>The only</a:t>
            </a:r>
            <a:r>
              <a:rPr lang="en-US" sz="2800" b="1" dirty="0"/>
              <a:t> piece of information </a:t>
            </a:r>
            <a:r>
              <a:rPr lang="en-US" sz="2800" dirty="0"/>
              <a:t>the </a:t>
            </a:r>
            <a:r>
              <a:rPr lang="en-US" sz="2800" b="1" dirty="0"/>
              <a:t>relay agent needs </a:t>
            </a:r>
            <a:r>
              <a:rPr lang="en-US" sz="2800" dirty="0"/>
              <a:t>is the </a:t>
            </a:r>
            <a:r>
              <a:rPr lang="en-US" sz="2800" b="1" dirty="0"/>
              <a:t>IP address of the DHCP server.</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a:t>Dynamic Host Configuration Protocol</a:t>
            </a:r>
          </a:p>
        </p:txBody>
      </p:sp>
      <p:sp>
        <p:nvSpPr>
          <p:cNvPr id="80899" name="Rectangle 3"/>
          <p:cNvSpPr>
            <a:spLocks noGrp="1" noChangeArrowheads="1"/>
          </p:cNvSpPr>
          <p:nvPr>
            <p:ph type="body" idx="1"/>
          </p:nvPr>
        </p:nvSpPr>
        <p:spPr>
          <a:xfrm>
            <a:off x="1524000" y="6245583"/>
            <a:ext cx="9144000" cy="403578"/>
          </a:xfrm>
        </p:spPr>
        <p:txBody>
          <a:bodyPr>
            <a:normAutofit fontScale="92500" lnSpcReduction="20000"/>
          </a:bodyPr>
          <a:lstStyle/>
          <a:p>
            <a:pPr algn="ctr">
              <a:buFontTx/>
              <a:buNone/>
            </a:pPr>
            <a:r>
              <a:rPr lang="en-US" dirty="0"/>
              <a:t>Operation of DHCP.</a:t>
            </a:r>
          </a:p>
        </p:txBody>
      </p:sp>
      <p:pic>
        <p:nvPicPr>
          <p:cNvPr id="80901" name="Picture 5" descr="5-63"/>
          <p:cNvPicPr>
            <a:picLocks noChangeAspect="1" noChangeArrowheads="1"/>
          </p:cNvPicPr>
          <p:nvPr/>
        </p:nvPicPr>
        <p:blipFill>
          <a:blip r:embed="rId2" cstate="print"/>
          <a:srcRect/>
          <a:stretch>
            <a:fillRect/>
          </a:stretch>
        </p:blipFill>
        <p:spPr bwMode="auto">
          <a:xfrm>
            <a:off x="1680635" y="1750208"/>
            <a:ext cx="7542024" cy="4266770"/>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Control Protocols </a:t>
            </a:r>
            <a:endParaRPr lang="en-US" dirty="0"/>
          </a:p>
        </p:txBody>
      </p:sp>
      <p:sp>
        <p:nvSpPr>
          <p:cNvPr id="6" name="Rectangle 3"/>
          <p:cNvSpPr txBox="1">
            <a:spLocks noChangeArrowheads="1"/>
          </p:cNvSpPr>
          <p:nvPr/>
        </p:nvSpPr>
        <p:spPr bwMode="auto">
          <a:xfrm>
            <a:off x="1150375" y="710692"/>
            <a:ext cx="1041236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solidFill>
                  <a:srgbClr val="FF0000"/>
                </a:solidFill>
              </a:rPr>
              <a:t>Issue that arises with automatic assignment</a:t>
            </a:r>
            <a:r>
              <a:rPr lang="en-US" sz="2800" dirty="0"/>
              <a:t> of IP addresses from a pool </a:t>
            </a:r>
          </a:p>
          <a:p>
            <a:pPr marL="1066800" lvl="1" indent="-609600" algn="just">
              <a:spcBef>
                <a:spcPct val="20000"/>
              </a:spcBef>
              <a:buClr>
                <a:schemeClr val="accent2"/>
              </a:buClr>
              <a:buFont typeface="Wingdings" pitchFamily="2" charset="2"/>
              <a:buChar char="§"/>
            </a:pPr>
            <a:r>
              <a:rPr lang="en-US" sz="2800" dirty="0">
                <a:solidFill>
                  <a:srgbClr val="FF0000"/>
                </a:solidFill>
              </a:rPr>
              <a:t>how long an IP address should be allocated</a:t>
            </a:r>
            <a:r>
              <a:rPr lang="en-US" sz="2800" dirty="0"/>
              <a:t>. </a:t>
            </a:r>
          </a:p>
          <a:p>
            <a:pPr marL="1066800" lvl="1" indent="-609600" algn="just">
              <a:spcBef>
                <a:spcPct val="20000"/>
              </a:spcBef>
              <a:buClr>
                <a:schemeClr val="accent2"/>
              </a:buClr>
              <a:buFont typeface="Wingdings" pitchFamily="2" charset="2"/>
              <a:buChar char="§"/>
            </a:pPr>
            <a:r>
              <a:rPr lang="en-US" sz="2800" dirty="0"/>
              <a:t>If a host leaves the network and </a:t>
            </a:r>
            <a:r>
              <a:rPr lang="en-US" sz="2800" b="1" dirty="0"/>
              <a:t>does not return its IP address </a:t>
            </a:r>
            <a:r>
              <a:rPr lang="en-US" sz="2800" dirty="0"/>
              <a:t>to the DHCP server, that address will be </a:t>
            </a:r>
            <a:r>
              <a:rPr lang="en-US" sz="2800" b="1" dirty="0"/>
              <a:t>permanently lost</a:t>
            </a:r>
            <a:r>
              <a:rPr lang="en-US" sz="2800" dirty="0"/>
              <a:t>. </a:t>
            </a:r>
          </a:p>
          <a:p>
            <a:pPr marL="1066800" lvl="1" indent="-609600" algn="just">
              <a:spcBef>
                <a:spcPct val="20000"/>
              </a:spcBef>
              <a:buClr>
                <a:schemeClr val="accent2"/>
              </a:buClr>
              <a:buFont typeface="Wingdings" pitchFamily="2" charset="2"/>
              <a:buChar char="§"/>
            </a:pPr>
            <a:r>
              <a:rPr lang="en-US" sz="2800" dirty="0"/>
              <a:t>After a period of time, many addresses may be lost. </a:t>
            </a:r>
          </a:p>
          <a:p>
            <a:pPr marL="1066800" lvl="1" indent="-609600" algn="just">
              <a:spcBef>
                <a:spcPct val="20000"/>
              </a:spcBef>
              <a:buClr>
                <a:schemeClr val="accent2"/>
              </a:buClr>
              <a:buFont typeface="Wingdings" pitchFamily="2" charset="2"/>
              <a:buChar char="§"/>
            </a:pPr>
            <a:r>
              <a:rPr lang="en-US" sz="2800" dirty="0"/>
              <a:t>To prevent that from happening, </a:t>
            </a:r>
            <a:r>
              <a:rPr lang="en-US" sz="2800" b="1" dirty="0"/>
              <a:t>IP address assignment </a:t>
            </a:r>
            <a:r>
              <a:rPr lang="en-US" sz="2800" dirty="0"/>
              <a:t>may be for a </a:t>
            </a:r>
            <a:r>
              <a:rPr lang="en-US" sz="2800" b="1" dirty="0"/>
              <a:t>fixed period of time</a:t>
            </a:r>
            <a:r>
              <a:rPr lang="en-US" sz="2800" dirty="0"/>
              <a:t>, a technique called </a:t>
            </a:r>
            <a:r>
              <a:rPr lang="en-US" sz="2800" b="1" dirty="0">
                <a:solidFill>
                  <a:srgbClr val="FF0000"/>
                </a:solidFill>
              </a:rPr>
              <a:t>leasing</a:t>
            </a:r>
            <a:r>
              <a:rPr lang="en-US" sz="2800" b="1" dirty="0"/>
              <a:t>. </a:t>
            </a:r>
          </a:p>
          <a:p>
            <a:pPr marL="1066800" lvl="1" indent="-609600" algn="just">
              <a:spcBef>
                <a:spcPct val="20000"/>
              </a:spcBef>
              <a:buClr>
                <a:schemeClr val="accent2"/>
              </a:buClr>
              <a:buFont typeface="Wingdings" pitchFamily="2" charset="2"/>
              <a:buChar char="§"/>
            </a:pPr>
            <a:r>
              <a:rPr lang="en-US" sz="2800" b="1" dirty="0"/>
              <a:t>Just before the lease expires, the host must ask the DHCP for a renewal. </a:t>
            </a:r>
          </a:p>
          <a:p>
            <a:pPr marL="1066800" lvl="1" indent="-609600" algn="just">
              <a:spcBef>
                <a:spcPct val="20000"/>
              </a:spcBef>
              <a:buClr>
                <a:schemeClr val="accent2"/>
              </a:buClr>
              <a:buFont typeface="Wingdings" pitchFamily="2" charset="2"/>
              <a:buChar char="§"/>
            </a:pPr>
            <a:r>
              <a:rPr lang="en-US" sz="2800" b="1" dirty="0"/>
              <a:t>If it fails to make a request </a:t>
            </a:r>
            <a:r>
              <a:rPr lang="en-US" sz="2800" dirty="0"/>
              <a:t>or the </a:t>
            </a:r>
            <a:r>
              <a:rPr lang="en-US" sz="2800" b="1" dirty="0"/>
              <a:t>request is denied</a:t>
            </a:r>
            <a:r>
              <a:rPr lang="en-US" sz="2800" dirty="0"/>
              <a:t>, the host </a:t>
            </a:r>
            <a:r>
              <a:rPr lang="en-US" sz="2800" b="1" dirty="0"/>
              <a:t>may no longer use the IP address </a:t>
            </a:r>
            <a:r>
              <a:rPr lang="en-US" sz="2800" dirty="0"/>
              <a:t>it was given earlier.</a:t>
            </a: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Multicasting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t>Ability to send to a large number of receivers simultaneously </a:t>
            </a:r>
          </a:p>
          <a:p>
            <a:pPr marL="609600" indent="-609600" algn="just">
              <a:spcBef>
                <a:spcPct val="20000"/>
              </a:spcBef>
              <a:buClr>
                <a:schemeClr val="accent2"/>
              </a:buClr>
              <a:buFont typeface="Wingdings" pitchFamily="2" charset="2"/>
              <a:buChar char="§"/>
            </a:pPr>
            <a:r>
              <a:rPr lang="en-US" sz="2600" dirty="0"/>
              <a:t>Eg:</a:t>
            </a:r>
          </a:p>
          <a:p>
            <a:pPr marL="1066800" lvl="1" indent="-609600" algn="just">
              <a:spcBef>
                <a:spcPct val="20000"/>
              </a:spcBef>
              <a:buClr>
                <a:schemeClr val="accent2"/>
              </a:buClr>
              <a:buFont typeface="Wingdings" pitchFamily="2" charset="2"/>
              <a:buChar char="§"/>
            </a:pPr>
            <a:r>
              <a:rPr lang="en-US" sz="2600" dirty="0"/>
              <a:t>transmitting </a:t>
            </a:r>
            <a:r>
              <a:rPr lang="en-US" sz="2600" dirty="0">
                <a:solidFill>
                  <a:srgbClr val="FF0000"/>
                </a:solidFill>
              </a:rPr>
              <a:t>stock quotes </a:t>
            </a:r>
            <a:r>
              <a:rPr lang="en-US" sz="2600" dirty="0"/>
              <a:t>to multiple brokers and </a:t>
            </a:r>
          </a:p>
          <a:p>
            <a:pPr marL="1066800" lvl="1" indent="-609600" algn="just">
              <a:spcBef>
                <a:spcPct val="20000"/>
              </a:spcBef>
              <a:buClr>
                <a:schemeClr val="accent2"/>
              </a:buClr>
              <a:buFont typeface="Wingdings" pitchFamily="2" charset="2"/>
              <a:buChar char="§"/>
            </a:pPr>
            <a:r>
              <a:rPr lang="en-US" sz="2600" dirty="0"/>
              <a:t>handling </a:t>
            </a:r>
            <a:r>
              <a:rPr lang="en-US" sz="2600" dirty="0">
                <a:solidFill>
                  <a:srgbClr val="FF0000"/>
                </a:solidFill>
              </a:rPr>
              <a:t>digital</a:t>
            </a:r>
            <a:r>
              <a:rPr lang="en-US" sz="2600" dirty="0"/>
              <a:t> </a:t>
            </a:r>
            <a:r>
              <a:rPr lang="en-US" sz="2600" dirty="0">
                <a:solidFill>
                  <a:srgbClr val="FF3300"/>
                </a:solidFill>
              </a:rPr>
              <a:t>conference telephone calls</a:t>
            </a:r>
          </a:p>
          <a:p>
            <a:pPr marL="609600" indent="-609600" algn="just">
              <a:spcBef>
                <a:spcPct val="20000"/>
              </a:spcBef>
              <a:buClr>
                <a:schemeClr val="accent2"/>
              </a:buClr>
              <a:buFont typeface="Wingdings" pitchFamily="2" charset="2"/>
              <a:buChar char="§"/>
            </a:pPr>
            <a:r>
              <a:rPr lang="en-US" sz="2600" dirty="0"/>
              <a:t>IP supports multicasting using </a:t>
            </a:r>
            <a:r>
              <a:rPr lang="en-US" sz="2600" dirty="0">
                <a:solidFill>
                  <a:srgbClr val="FF0000"/>
                </a:solidFill>
              </a:rPr>
              <a:t>class D </a:t>
            </a:r>
            <a:r>
              <a:rPr lang="en-US" sz="2600" dirty="0"/>
              <a:t>addresses</a:t>
            </a:r>
          </a:p>
          <a:p>
            <a:pPr marL="609600" indent="-609600" algn="just">
              <a:spcBef>
                <a:spcPct val="20000"/>
              </a:spcBef>
              <a:buClr>
                <a:schemeClr val="accent2"/>
              </a:buClr>
              <a:buFont typeface="Wingdings" pitchFamily="2" charset="2"/>
              <a:buChar char="§"/>
            </a:pPr>
            <a:r>
              <a:rPr lang="en-US" sz="2600" dirty="0"/>
              <a:t>Each class D address identifies a group of hosts</a:t>
            </a:r>
          </a:p>
          <a:p>
            <a:pPr marL="609600" indent="-609600" algn="just">
              <a:spcBef>
                <a:spcPct val="20000"/>
              </a:spcBef>
              <a:buClr>
                <a:schemeClr val="accent2"/>
              </a:buClr>
              <a:buFont typeface="Wingdings" pitchFamily="2" charset="2"/>
              <a:buChar char="§"/>
            </a:pPr>
            <a:r>
              <a:rPr lang="en-US" sz="2600" b="1" dirty="0"/>
              <a:t>28 bits </a:t>
            </a:r>
            <a:r>
              <a:rPr lang="en-US" sz="2600" dirty="0"/>
              <a:t>are available for </a:t>
            </a:r>
            <a:r>
              <a:rPr lang="en-US" sz="2600" b="1" dirty="0"/>
              <a:t>identifying groups</a:t>
            </a:r>
            <a:r>
              <a:rPr lang="en-US" sz="2600" dirty="0"/>
              <a:t>, so over </a:t>
            </a:r>
            <a:r>
              <a:rPr lang="en-US" sz="2600" b="1" dirty="0"/>
              <a:t>250 million groups can exist at the same time</a:t>
            </a:r>
            <a:r>
              <a:rPr lang="en-US" sz="2600" dirty="0"/>
              <a:t>. </a:t>
            </a:r>
          </a:p>
          <a:p>
            <a:pPr marL="609600" indent="-609600" algn="just">
              <a:spcBef>
                <a:spcPct val="20000"/>
              </a:spcBef>
              <a:buClr>
                <a:schemeClr val="accent2"/>
              </a:buClr>
              <a:buFont typeface="Wingdings" pitchFamily="2" charset="2"/>
              <a:buChar char="§"/>
            </a:pPr>
            <a:r>
              <a:rPr lang="en-US" sz="2600" dirty="0"/>
              <a:t>When a process sends a packet to a class D address, a </a:t>
            </a:r>
            <a:r>
              <a:rPr lang="en-US" sz="2600" dirty="0">
                <a:solidFill>
                  <a:srgbClr val="FF0000"/>
                </a:solidFill>
              </a:rPr>
              <a:t>best-efforts attemp</a:t>
            </a:r>
            <a:r>
              <a:rPr lang="en-US" sz="2600" dirty="0">
                <a:solidFill>
                  <a:srgbClr val="FF3300"/>
                </a:solidFill>
              </a:rPr>
              <a:t>t</a:t>
            </a:r>
            <a:r>
              <a:rPr lang="en-US" sz="2600" dirty="0"/>
              <a:t> is made to deliver it to all the members of the group addressed, but no guarantees are given</a:t>
            </a:r>
          </a:p>
          <a:p>
            <a:pPr marL="609600" indent="-609600" algn="just">
              <a:spcBef>
                <a:spcPct val="20000"/>
              </a:spcBef>
              <a:buClr>
                <a:schemeClr val="accent2"/>
              </a:buClr>
              <a:buFont typeface="Wingdings" pitchFamily="2" charset="2"/>
              <a:buChar char="§"/>
            </a:pPr>
            <a:r>
              <a:rPr lang="en-US" sz="2600" dirty="0"/>
              <a:t>some members may not get the packet</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Multicasting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t>Two kinds of group addresses are supported: </a:t>
            </a:r>
          </a:p>
          <a:p>
            <a:pPr marL="1066800" lvl="1" indent="-609600" algn="just">
              <a:spcBef>
                <a:spcPct val="20000"/>
              </a:spcBef>
              <a:buClr>
                <a:schemeClr val="accent2"/>
              </a:buClr>
              <a:buFont typeface="Wingdings" pitchFamily="2" charset="2"/>
              <a:buChar char="§"/>
            </a:pPr>
            <a:r>
              <a:rPr lang="en-US" sz="2800" b="1" dirty="0"/>
              <a:t>permanent addresses </a:t>
            </a:r>
            <a:r>
              <a:rPr lang="en-US" sz="2800" dirty="0"/>
              <a:t>and </a:t>
            </a:r>
          </a:p>
          <a:p>
            <a:pPr marL="1066800" lvl="1" indent="-609600" algn="just">
              <a:spcBef>
                <a:spcPct val="20000"/>
              </a:spcBef>
              <a:buClr>
                <a:schemeClr val="accent2"/>
              </a:buClr>
              <a:buFont typeface="Wingdings" pitchFamily="2" charset="2"/>
              <a:buChar char="§"/>
            </a:pPr>
            <a:r>
              <a:rPr lang="en-US" sz="2800" b="1" dirty="0"/>
              <a:t>temporary addresses </a:t>
            </a:r>
            <a:r>
              <a:rPr lang="en-US" sz="2800" dirty="0"/>
              <a:t>. </a:t>
            </a:r>
          </a:p>
          <a:p>
            <a:pPr marL="609600" indent="-609600" algn="just">
              <a:spcBef>
                <a:spcPct val="20000"/>
              </a:spcBef>
              <a:buClr>
                <a:schemeClr val="accent2"/>
              </a:buClr>
              <a:buFont typeface="Wingdings" pitchFamily="2" charset="2"/>
              <a:buChar char="§"/>
            </a:pPr>
            <a:r>
              <a:rPr lang="en-US" sz="2800" dirty="0">
                <a:solidFill>
                  <a:srgbClr val="FF3300"/>
                </a:solidFill>
              </a:rPr>
              <a:t>permanent group </a:t>
            </a:r>
            <a:r>
              <a:rPr lang="en-US" sz="2800" dirty="0"/>
              <a:t>is always there and does not have to be set up. </a:t>
            </a:r>
          </a:p>
          <a:p>
            <a:pPr marL="609600" indent="-609600" algn="just">
              <a:spcBef>
                <a:spcPct val="20000"/>
              </a:spcBef>
              <a:buClr>
                <a:schemeClr val="accent2"/>
              </a:buClr>
              <a:buFont typeface="Wingdings" pitchFamily="2" charset="2"/>
              <a:buChar char="§"/>
            </a:pPr>
            <a:r>
              <a:rPr lang="en-US" sz="2800" dirty="0"/>
              <a:t>Each </a:t>
            </a:r>
            <a:r>
              <a:rPr lang="en-US" sz="2800" b="1" dirty="0"/>
              <a:t>permanent group has a permanent group address</a:t>
            </a:r>
          </a:p>
          <a:p>
            <a:pPr marL="609600" indent="-609600" algn="just">
              <a:spcBef>
                <a:spcPct val="20000"/>
              </a:spcBef>
              <a:buClr>
                <a:schemeClr val="accent2"/>
              </a:buClr>
              <a:buFont typeface="Wingdings" pitchFamily="2" charset="2"/>
              <a:buChar char="§"/>
            </a:pPr>
            <a:r>
              <a:rPr lang="en-US" sz="2800" dirty="0"/>
              <a:t>Some examples of permanent group addresses are:</a:t>
            </a:r>
          </a:p>
          <a:p>
            <a:pPr marL="1066800" lvl="1" indent="-609600" algn="just">
              <a:spcBef>
                <a:spcPct val="20000"/>
              </a:spcBef>
              <a:buClr>
                <a:schemeClr val="accent2"/>
              </a:buClr>
              <a:buFont typeface="Wingdings" pitchFamily="2" charset="2"/>
              <a:buChar char="§"/>
            </a:pPr>
            <a:r>
              <a:rPr lang="en-US" sz="2800" dirty="0"/>
              <a:t>224.0.0.1 All systems on a LAN</a:t>
            </a:r>
          </a:p>
          <a:p>
            <a:pPr marL="1066800" lvl="1" indent="-609600" algn="just">
              <a:spcBef>
                <a:spcPct val="20000"/>
              </a:spcBef>
              <a:buClr>
                <a:schemeClr val="accent2"/>
              </a:buClr>
              <a:buFont typeface="Wingdings" pitchFamily="2" charset="2"/>
              <a:buChar char="§"/>
            </a:pPr>
            <a:r>
              <a:rPr lang="en-US" sz="2800" dirty="0"/>
              <a:t>224.0.0.2 All routers on a LAN</a:t>
            </a:r>
          </a:p>
          <a:p>
            <a:pPr marL="1066800" lvl="1" indent="-609600" algn="just">
              <a:spcBef>
                <a:spcPct val="20000"/>
              </a:spcBef>
              <a:buClr>
                <a:schemeClr val="accent2"/>
              </a:buClr>
              <a:buFont typeface="Wingdings" pitchFamily="2" charset="2"/>
              <a:buChar char="§"/>
            </a:pPr>
            <a:r>
              <a:rPr lang="en-US" sz="2800" dirty="0"/>
              <a:t>224.0.0.5 All OSPF routers on a LAN</a:t>
            </a:r>
          </a:p>
          <a:p>
            <a:pPr marL="1066800" lvl="1" indent="-609600" algn="just">
              <a:spcBef>
                <a:spcPct val="20000"/>
              </a:spcBef>
              <a:buClr>
                <a:schemeClr val="accent2"/>
              </a:buClr>
              <a:buFont typeface="Wingdings" pitchFamily="2" charset="2"/>
              <a:buChar char="§"/>
            </a:pPr>
            <a:r>
              <a:rPr lang="en-US" sz="2800" dirty="0"/>
              <a:t>224.0.0.6 All designated OSPF routers on a LAN</a:t>
            </a: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Multicasting </a:t>
            </a:r>
            <a:endParaRPr lang="en-US" dirty="0"/>
          </a:p>
        </p:txBody>
      </p:sp>
      <p:sp>
        <p:nvSpPr>
          <p:cNvPr id="6" name="Rectangle 3"/>
          <p:cNvSpPr txBox="1">
            <a:spLocks noChangeArrowheads="1"/>
          </p:cNvSpPr>
          <p:nvPr/>
        </p:nvSpPr>
        <p:spPr bwMode="auto">
          <a:xfrm>
            <a:off x="1524000" y="710692"/>
            <a:ext cx="10284542"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solidFill>
                  <a:srgbClr val="FF3300"/>
                </a:solidFill>
              </a:rPr>
              <a:t>Temporary groups </a:t>
            </a:r>
            <a:r>
              <a:rPr lang="en-US" sz="2600" dirty="0"/>
              <a:t>must be created before they can be used. </a:t>
            </a:r>
          </a:p>
          <a:p>
            <a:pPr marL="609600" indent="-609600" algn="just">
              <a:spcBef>
                <a:spcPct val="20000"/>
              </a:spcBef>
              <a:buClr>
                <a:schemeClr val="accent2"/>
              </a:buClr>
              <a:buFont typeface="Wingdings" pitchFamily="2" charset="2"/>
              <a:buChar char="§"/>
            </a:pPr>
            <a:r>
              <a:rPr lang="en-US" sz="2600" dirty="0"/>
              <a:t>A process can ask its host to </a:t>
            </a:r>
            <a:r>
              <a:rPr lang="en-US" sz="2600" dirty="0">
                <a:solidFill>
                  <a:srgbClr val="FF0000"/>
                </a:solidFill>
              </a:rPr>
              <a:t>join</a:t>
            </a:r>
            <a:r>
              <a:rPr lang="en-US" sz="2600" dirty="0"/>
              <a:t> a specific group. </a:t>
            </a:r>
          </a:p>
          <a:p>
            <a:pPr marL="609600" indent="-609600" algn="just">
              <a:spcBef>
                <a:spcPct val="20000"/>
              </a:spcBef>
              <a:buClr>
                <a:schemeClr val="accent2"/>
              </a:buClr>
              <a:buFont typeface="Wingdings" pitchFamily="2" charset="2"/>
              <a:buChar char="§"/>
            </a:pPr>
            <a:r>
              <a:rPr lang="en-US" sz="2600" dirty="0"/>
              <a:t>It can also ask its host to </a:t>
            </a:r>
            <a:r>
              <a:rPr lang="en-US" sz="2600" dirty="0">
                <a:solidFill>
                  <a:srgbClr val="FF0000"/>
                </a:solidFill>
              </a:rPr>
              <a:t>leave</a:t>
            </a:r>
            <a:r>
              <a:rPr lang="en-US" sz="2600" dirty="0"/>
              <a:t> the group. </a:t>
            </a:r>
          </a:p>
          <a:p>
            <a:pPr marL="609600" indent="-609600" algn="just">
              <a:spcBef>
                <a:spcPct val="20000"/>
              </a:spcBef>
              <a:buClr>
                <a:schemeClr val="accent2"/>
              </a:buClr>
              <a:buFont typeface="Wingdings" pitchFamily="2" charset="2"/>
              <a:buChar char="§"/>
            </a:pPr>
            <a:r>
              <a:rPr lang="en-US" sz="2600" dirty="0"/>
              <a:t>When the </a:t>
            </a:r>
            <a:r>
              <a:rPr lang="en-US" sz="2600" b="1" dirty="0"/>
              <a:t>last process on a host leaves </a:t>
            </a:r>
            <a:r>
              <a:rPr lang="en-US" sz="2600" dirty="0"/>
              <a:t>a group, that </a:t>
            </a:r>
            <a:r>
              <a:rPr lang="en-US" sz="2600" b="1" dirty="0"/>
              <a:t>group is no longer present on the host. </a:t>
            </a:r>
          </a:p>
          <a:p>
            <a:pPr marL="609600" indent="-609600" algn="just">
              <a:spcBef>
                <a:spcPct val="20000"/>
              </a:spcBef>
              <a:buClr>
                <a:schemeClr val="accent2"/>
              </a:buClr>
              <a:buFont typeface="Wingdings" pitchFamily="2" charset="2"/>
              <a:buChar char="§"/>
            </a:pPr>
            <a:r>
              <a:rPr lang="en-US" sz="2600" dirty="0"/>
              <a:t>Each host keeps track of which groups its processes currently belong to.</a:t>
            </a:r>
          </a:p>
          <a:p>
            <a:pPr marL="609600" indent="-609600" algn="just">
              <a:spcBef>
                <a:spcPct val="20000"/>
              </a:spcBef>
              <a:buClr>
                <a:schemeClr val="accent2"/>
              </a:buClr>
              <a:buFont typeface="Wingdings" pitchFamily="2" charset="2"/>
              <a:buChar char="§"/>
            </a:pPr>
            <a:r>
              <a:rPr lang="en-US" sz="2600" dirty="0"/>
              <a:t>Multicasting is implemented by </a:t>
            </a:r>
            <a:r>
              <a:rPr lang="en-US" sz="2600" b="1" dirty="0"/>
              <a:t>special multicast routers</a:t>
            </a:r>
          </a:p>
          <a:p>
            <a:pPr marL="609600" indent="-609600" algn="just">
              <a:spcBef>
                <a:spcPct val="20000"/>
              </a:spcBef>
              <a:buClr>
                <a:schemeClr val="accent2"/>
              </a:buClr>
              <a:buFont typeface="Wingdings" pitchFamily="2" charset="2"/>
              <a:buChar char="§"/>
            </a:pPr>
            <a:r>
              <a:rPr lang="en-US" sz="2600" dirty="0"/>
              <a:t>About once a minute, each </a:t>
            </a:r>
            <a:r>
              <a:rPr lang="en-US" sz="2600" b="1" dirty="0"/>
              <a:t>multicast router sends a hardware </a:t>
            </a:r>
            <a:r>
              <a:rPr lang="en-US" sz="2600" dirty="0"/>
              <a:t>(i.e., data link layer)</a:t>
            </a:r>
            <a:r>
              <a:rPr lang="en-US" sz="2600" b="1" dirty="0"/>
              <a:t> multicast to the hosts on its LAN </a:t>
            </a:r>
            <a:r>
              <a:rPr lang="en-US" sz="2600" dirty="0"/>
              <a:t>(address 224.0.0.1) </a:t>
            </a:r>
            <a:r>
              <a:rPr lang="en-US" sz="2600" dirty="0">
                <a:solidFill>
                  <a:srgbClr val="FF3300"/>
                </a:solidFill>
              </a:rPr>
              <a:t>asking them to report back </a:t>
            </a:r>
            <a:r>
              <a:rPr lang="en-US" sz="2600" dirty="0"/>
              <a:t>on the groups their processes currently belong to. </a:t>
            </a:r>
          </a:p>
          <a:p>
            <a:pPr marL="609600" indent="-609600" algn="just">
              <a:spcBef>
                <a:spcPct val="20000"/>
              </a:spcBef>
              <a:buClr>
                <a:schemeClr val="accent2"/>
              </a:buClr>
              <a:buFont typeface="Wingdings" pitchFamily="2" charset="2"/>
              <a:buChar char="§"/>
            </a:pPr>
            <a:r>
              <a:rPr lang="en-US" sz="2600" dirty="0"/>
              <a:t>Each host sends back responses for all the class D addresses it is interested in.</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Multicasting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600" dirty="0"/>
              <a:t>These</a:t>
            </a:r>
            <a:r>
              <a:rPr lang="en-US" sz="2600" b="1" dirty="0"/>
              <a:t> query </a:t>
            </a:r>
            <a:r>
              <a:rPr lang="en-US" sz="2600" dirty="0"/>
              <a:t>and </a:t>
            </a:r>
            <a:r>
              <a:rPr lang="en-US" sz="2600" b="1" dirty="0"/>
              <a:t>response packets </a:t>
            </a:r>
            <a:r>
              <a:rPr lang="en-US" sz="2600" dirty="0"/>
              <a:t>use a protocol called </a:t>
            </a:r>
            <a:r>
              <a:rPr lang="en-US" sz="2600" b="1" dirty="0"/>
              <a:t>IGMP (Internet Group Management Protocol), </a:t>
            </a:r>
          </a:p>
          <a:p>
            <a:pPr marL="1066800" lvl="1" indent="-609600" algn="just">
              <a:spcBef>
                <a:spcPct val="20000"/>
              </a:spcBef>
              <a:buClr>
                <a:schemeClr val="accent2"/>
              </a:buClr>
              <a:buFont typeface="Wingdings" pitchFamily="2" charset="2"/>
              <a:buChar char="§"/>
            </a:pPr>
            <a:r>
              <a:rPr lang="en-US" sz="2600" dirty="0"/>
              <a:t>which is vaguely analogous to ICMP. </a:t>
            </a:r>
          </a:p>
          <a:p>
            <a:pPr marL="609600" indent="-609600" algn="just">
              <a:spcBef>
                <a:spcPct val="20000"/>
              </a:spcBef>
              <a:buClr>
                <a:schemeClr val="accent2"/>
              </a:buClr>
              <a:buFont typeface="Wingdings" pitchFamily="2" charset="2"/>
              <a:buChar char="§"/>
            </a:pPr>
            <a:r>
              <a:rPr lang="en-US" sz="2600" dirty="0"/>
              <a:t>It has only two kinds of packets: </a:t>
            </a:r>
          </a:p>
          <a:p>
            <a:pPr marL="1066800" lvl="1" indent="-609600" algn="just">
              <a:spcBef>
                <a:spcPct val="20000"/>
              </a:spcBef>
              <a:buClr>
                <a:schemeClr val="accent2"/>
              </a:buClr>
              <a:buFont typeface="Wingdings" pitchFamily="2" charset="2"/>
              <a:buChar char="§"/>
            </a:pPr>
            <a:r>
              <a:rPr lang="en-US" sz="2600" dirty="0">
                <a:solidFill>
                  <a:srgbClr val="FF0000"/>
                </a:solidFill>
              </a:rPr>
              <a:t>query and response</a:t>
            </a:r>
          </a:p>
          <a:p>
            <a:pPr marL="1524000" lvl="2" indent="-609600" algn="just">
              <a:spcBef>
                <a:spcPct val="20000"/>
              </a:spcBef>
              <a:buClr>
                <a:schemeClr val="accent2"/>
              </a:buClr>
              <a:buFont typeface="Wingdings" pitchFamily="2" charset="2"/>
              <a:buChar char="§"/>
            </a:pPr>
            <a:r>
              <a:rPr lang="en-US" sz="2600" dirty="0"/>
              <a:t>each with a simple, fixed format containing </a:t>
            </a:r>
            <a:r>
              <a:rPr lang="en-US" sz="2600" b="1" dirty="0"/>
              <a:t>some control information in the first word of the payload field </a:t>
            </a:r>
            <a:r>
              <a:rPr lang="en-US" sz="2600" dirty="0"/>
              <a:t>and a </a:t>
            </a:r>
            <a:r>
              <a:rPr lang="en-US" sz="2600" b="1" dirty="0"/>
              <a:t>class D address in the second word.</a:t>
            </a:r>
          </a:p>
          <a:p>
            <a:pPr marL="609600" indent="-609600" algn="just">
              <a:spcBef>
                <a:spcPct val="20000"/>
              </a:spcBef>
              <a:buClr>
                <a:schemeClr val="accent2"/>
              </a:buClr>
              <a:buFont typeface="Wingdings" pitchFamily="2" charset="2"/>
              <a:buChar char="§"/>
            </a:pPr>
            <a:r>
              <a:rPr lang="en-US" sz="2600" dirty="0"/>
              <a:t>Multicast routing is done using </a:t>
            </a:r>
            <a:r>
              <a:rPr lang="en-US" sz="2600" dirty="0">
                <a:solidFill>
                  <a:srgbClr val="FF0000"/>
                </a:solidFill>
              </a:rPr>
              <a:t>spanning trees</a:t>
            </a:r>
            <a:r>
              <a:rPr lang="en-US" sz="2600" dirty="0"/>
              <a:t>. </a:t>
            </a:r>
          </a:p>
          <a:p>
            <a:pPr marL="1066800" lvl="1" indent="-609600" algn="just">
              <a:spcBef>
                <a:spcPct val="20000"/>
              </a:spcBef>
              <a:buClr>
                <a:schemeClr val="accent2"/>
              </a:buClr>
              <a:buFont typeface="Wingdings" pitchFamily="2" charset="2"/>
              <a:buChar char="§"/>
            </a:pPr>
            <a:r>
              <a:rPr lang="en-US" sz="2600" b="1" dirty="0"/>
              <a:t>spanning tree</a:t>
            </a:r>
            <a:r>
              <a:rPr lang="en-US" sz="2600" dirty="0"/>
              <a:t> of a connected, undirected graph, G is a tree that includes all of the vertices and some of the edges of </a:t>
            </a:r>
            <a:r>
              <a:rPr lang="en-US" sz="2600" i="1" dirty="0"/>
              <a:t>G</a:t>
            </a:r>
            <a:r>
              <a:rPr lang="en-US" sz="2600" dirty="0"/>
              <a:t> such that it becomes a tree, </a:t>
            </a:r>
            <a:r>
              <a:rPr lang="en-US" sz="2600" dirty="0" err="1"/>
              <a:t>i.e</a:t>
            </a:r>
            <a:r>
              <a:rPr lang="en-US" sz="2600" dirty="0"/>
              <a:t>, it contains no more cycles.</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1524000" y="1"/>
            <a:ext cx="9144000" cy="794479"/>
          </a:xfrm>
        </p:spPr>
        <p:txBody>
          <a:bodyPr/>
          <a:lstStyle/>
          <a:p>
            <a:r>
              <a:rPr lang="en-US" b="1" dirty="0"/>
              <a:t>Internet Multicasting </a:t>
            </a:r>
            <a:endParaRPr lang="en-US" dirty="0"/>
          </a:p>
        </p:txBody>
      </p:sp>
      <p:sp>
        <p:nvSpPr>
          <p:cNvPr id="6" name="Rectangle 3"/>
          <p:cNvSpPr txBox="1">
            <a:spLocks noChangeArrowheads="1"/>
          </p:cNvSpPr>
          <p:nvPr/>
        </p:nvSpPr>
        <p:spPr bwMode="auto">
          <a:xfrm>
            <a:off x="1524000" y="710692"/>
            <a:ext cx="9144000" cy="588997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609600" indent="-609600" algn="just">
              <a:spcBef>
                <a:spcPct val="20000"/>
              </a:spcBef>
              <a:buClr>
                <a:schemeClr val="accent2"/>
              </a:buClr>
              <a:buFont typeface="Wingdings" pitchFamily="2" charset="2"/>
              <a:buChar char="§"/>
            </a:pPr>
            <a:r>
              <a:rPr lang="en-US" sz="2800" dirty="0"/>
              <a:t>Each multicast router exchanges information with its neighbors, using a </a:t>
            </a:r>
            <a:r>
              <a:rPr lang="en-US" sz="2800" dirty="0">
                <a:solidFill>
                  <a:srgbClr val="FF3300"/>
                </a:solidFill>
              </a:rPr>
              <a:t>modified distance vector protocol </a:t>
            </a:r>
          </a:p>
          <a:p>
            <a:pPr marL="609600" indent="-609600" algn="just">
              <a:spcBef>
                <a:spcPct val="20000"/>
              </a:spcBef>
              <a:buClr>
                <a:schemeClr val="accent2"/>
              </a:buClr>
              <a:buFont typeface="Wingdings" pitchFamily="2" charset="2"/>
              <a:buChar char="§"/>
            </a:pPr>
            <a:r>
              <a:rPr lang="en-US" sz="2800" dirty="0"/>
              <a:t>In order for each one to </a:t>
            </a:r>
            <a:r>
              <a:rPr lang="en-US" sz="2800" dirty="0">
                <a:solidFill>
                  <a:srgbClr val="FF3300"/>
                </a:solidFill>
              </a:rPr>
              <a:t>construct a spanning tree </a:t>
            </a:r>
            <a:r>
              <a:rPr lang="en-US" sz="2800" dirty="0"/>
              <a:t>per group covering all group members. </a:t>
            </a:r>
          </a:p>
          <a:p>
            <a:pPr marL="609600" indent="-609600" algn="just">
              <a:spcBef>
                <a:spcPct val="20000"/>
              </a:spcBef>
              <a:buClr>
                <a:schemeClr val="accent2"/>
              </a:buClr>
              <a:buFont typeface="Wingdings" pitchFamily="2" charset="2"/>
              <a:buChar char="§"/>
            </a:pPr>
            <a:r>
              <a:rPr lang="en-US" sz="2800" dirty="0"/>
              <a:t>Various </a:t>
            </a:r>
            <a:r>
              <a:rPr lang="en-US" sz="2800" dirty="0">
                <a:solidFill>
                  <a:srgbClr val="FF3300"/>
                </a:solidFill>
              </a:rPr>
              <a:t>optimizations</a:t>
            </a:r>
            <a:r>
              <a:rPr lang="en-US" sz="2800" dirty="0"/>
              <a:t> are used to prune the tree to eliminate routers and networks not interested in particular groups. </a:t>
            </a:r>
          </a:p>
          <a:p>
            <a:pPr marL="609600" indent="-609600" algn="just">
              <a:spcBef>
                <a:spcPct val="20000"/>
              </a:spcBef>
              <a:buClr>
                <a:schemeClr val="accent2"/>
              </a:buClr>
              <a:buFont typeface="Wingdings" pitchFamily="2" charset="2"/>
              <a:buChar char="§"/>
            </a:pPr>
            <a:r>
              <a:rPr lang="en-US" sz="2800" dirty="0"/>
              <a:t>The protocol makes heavy use of </a:t>
            </a:r>
            <a:r>
              <a:rPr lang="en-US" sz="2800" dirty="0">
                <a:solidFill>
                  <a:srgbClr val="FF3300"/>
                </a:solidFill>
              </a:rPr>
              <a:t>tunneling</a:t>
            </a:r>
            <a:r>
              <a:rPr lang="en-US" sz="2800" dirty="0"/>
              <a:t> to avoid bothering nodes not in a spanning tree.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2246</TotalTime>
  <Words>9192</Words>
  <Application>Microsoft Office PowerPoint</Application>
  <PresentationFormat>Widescreen</PresentationFormat>
  <Paragraphs>796</Paragraphs>
  <Slides>121</Slides>
  <Notes>38</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121</vt:i4>
      </vt:variant>
    </vt:vector>
  </HeadingPairs>
  <TitlesOfParts>
    <vt:vector size="135" baseType="lpstr">
      <vt:lpstr>Arial</vt:lpstr>
      <vt:lpstr>Arial Black</vt:lpstr>
      <vt:lpstr>Calibri</vt:lpstr>
      <vt:lpstr>Calibri Light</vt:lpstr>
      <vt:lpstr>CIDFont+F1</vt:lpstr>
      <vt:lpstr>CIDFont+F2</vt:lpstr>
      <vt:lpstr>Gudea</vt:lpstr>
      <vt:lpstr>Noto Sans Symbols</vt:lpstr>
      <vt:lpstr>Times New Roman</vt:lpstr>
      <vt:lpstr>TimesNewRomanPS-BoldMT</vt:lpstr>
      <vt:lpstr>TimesNewRomanPSMT</vt:lpstr>
      <vt:lpstr>Wingdings</vt:lpstr>
      <vt:lpstr>Office Theme</vt:lpstr>
      <vt:lpstr>Bitmap Image</vt:lpstr>
      <vt:lpstr>Module - 4</vt:lpstr>
      <vt:lpstr>PowerPoint Presentation</vt:lpstr>
      <vt:lpstr>Internet Routing Protocols </vt:lpstr>
      <vt:lpstr>PowerPoint Presentation</vt:lpstr>
      <vt:lpstr>Interior Routing Protocol (IRP) </vt:lpstr>
      <vt:lpstr>PowerPoint Presentation</vt:lpstr>
      <vt:lpstr>Exterior Routing Protocol (ERP) </vt:lpstr>
      <vt:lpstr> </vt:lpstr>
      <vt:lpstr>Routing Information Protocol (RIP)</vt:lpstr>
      <vt:lpstr>PowerPoint Presentation</vt:lpstr>
      <vt:lpstr>PowerPoint Presentation</vt:lpstr>
      <vt:lpstr>PowerPoint Presentation</vt:lpstr>
      <vt:lpstr>PowerPoint Presentation</vt:lpstr>
      <vt:lpstr>RIP Packet Format </vt:lpstr>
      <vt:lpstr>PowerPoint Presentation</vt:lpstr>
      <vt:lpstr>RIP Problems </vt:lpstr>
      <vt:lpstr>Routing Algorithms - OSPF</vt:lpstr>
      <vt:lpstr>PowerPoint Presentation</vt:lpstr>
      <vt:lpstr>OSPF (Open Shortest Path First) protocol </vt:lpstr>
      <vt:lpstr>Routing Algorithms - OSPF</vt:lpstr>
      <vt:lpstr>Routing Algorithms - OSPF</vt:lpstr>
      <vt:lpstr>Routing Algorithms - OSPF</vt:lpstr>
      <vt:lpstr>Routing Algorithms - OSPF</vt:lpstr>
      <vt:lpstr>OSPF</vt:lpstr>
      <vt:lpstr>Routing Algorithms - OSPF</vt:lpstr>
      <vt:lpstr>Routing Algorithms - OSPF</vt:lpstr>
      <vt:lpstr>Routing Algorithms - OSPF</vt:lpstr>
      <vt:lpstr>Routing Algorithms - OSPF</vt:lpstr>
      <vt:lpstr>Routing Algorithms - OSPF</vt:lpstr>
      <vt:lpstr>Routing Algorithms - OSPF</vt:lpstr>
      <vt:lpstr>Routing Algorithms - OSPF</vt:lpstr>
      <vt:lpstr>OSPF</vt:lpstr>
      <vt:lpstr>Routing Algorithms - OSPF</vt:lpstr>
      <vt:lpstr> OSPF Packet format : </vt:lpstr>
      <vt:lpstr>Comparison of RIP and OSPF</vt:lpstr>
      <vt:lpstr>Exterior Gateway Routing Protocol - BGP</vt:lpstr>
      <vt:lpstr>PowerPoint Presentation</vt:lpstr>
      <vt:lpstr>Exterior Gateway Routing Protocol - BGP</vt:lpstr>
      <vt:lpstr>Exterior Gateway Routing Protocol - BGP</vt:lpstr>
      <vt:lpstr>Exterior Gateway Routing Protocol - BGP</vt:lpstr>
      <vt:lpstr>Exterior Gateway Routing Protocol - BGP</vt:lpstr>
      <vt:lpstr>BGP – The Exterior Gateway Routing Protocol</vt:lpstr>
      <vt:lpstr>Exterior Gateway Routing Protocol - BGP</vt:lpstr>
      <vt:lpstr>Exterior Gateway Routing Protocol - BGP</vt:lpstr>
      <vt:lpstr>Design Principles for Internet</vt:lpstr>
      <vt:lpstr>Collection of Subnetworks</vt:lpstr>
      <vt:lpstr>IP (Internet Protocol)</vt:lpstr>
      <vt:lpstr>IP (Internet Protocol)</vt:lpstr>
      <vt:lpstr>The IP version 4 Protocol</vt:lpstr>
      <vt:lpstr>The IP Protocol</vt:lpstr>
      <vt:lpstr>The IP Protocol</vt:lpstr>
      <vt:lpstr>The IP Protocol</vt:lpstr>
      <vt:lpstr>The IP Protocol</vt:lpstr>
      <vt:lpstr>The IP Protocol</vt:lpstr>
      <vt:lpstr>The IP Protocol</vt:lpstr>
      <vt:lpstr>The IP Protocol</vt:lpstr>
      <vt:lpstr>The IP Protocol</vt:lpstr>
      <vt:lpstr>The IP Protocol</vt:lpstr>
      <vt:lpstr>The IP Protocol</vt:lpstr>
      <vt:lpstr>The IP Protocol</vt:lpstr>
      <vt:lpstr>The IP Protocol</vt:lpstr>
      <vt:lpstr>The IP Protocol</vt:lpstr>
      <vt:lpstr>IPv6 </vt:lpstr>
      <vt:lpstr>IPv6 </vt:lpstr>
      <vt:lpstr>The Main IPv6 Header</vt:lpstr>
      <vt:lpstr>IPv6 </vt:lpstr>
      <vt:lpstr>IPv6 </vt:lpstr>
      <vt:lpstr>IPv6 </vt:lpstr>
      <vt:lpstr>IPv6 </vt:lpstr>
      <vt:lpstr>IPv6 </vt:lpstr>
      <vt:lpstr>IPv6 </vt:lpstr>
      <vt:lpstr>IP Addresses</vt:lpstr>
      <vt:lpstr>PowerPoint Presentation</vt:lpstr>
      <vt:lpstr>PowerPoint Presentation</vt:lpstr>
      <vt:lpstr>IP Addresses</vt:lpstr>
      <vt:lpstr>PowerPoint Presentation</vt:lpstr>
      <vt:lpstr>PowerPoint Presentation</vt:lpstr>
      <vt:lpstr>Tutorial</vt:lpstr>
      <vt:lpstr>IP Addresses</vt:lpstr>
      <vt:lpstr>IP Addresses</vt:lpstr>
      <vt:lpstr>IP Addresses - classless addressing or Classless Interdomain Routing (CIDR)</vt:lpstr>
      <vt:lpstr>IP Addresses</vt:lpstr>
      <vt:lpstr>Subnets</vt:lpstr>
      <vt:lpstr>Subnets</vt:lpstr>
      <vt:lpstr>Subnets</vt:lpstr>
      <vt:lpstr>Subnets</vt:lpstr>
      <vt:lpstr>Subnets</vt:lpstr>
      <vt:lpstr>Subnets</vt:lpstr>
      <vt:lpstr>Subnets</vt:lpstr>
      <vt:lpstr>Subnets</vt:lpstr>
      <vt:lpstr>Subnets</vt:lpstr>
      <vt:lpstr>Tutorial</vt:lpstr>
      <vt:lpstr>Tutorial</vt:lpstr>
      <vt:lpstr>PowerPoint Presentation</vt:lpstr>
      <vt:lpstr>Internet Control Protocols </vt:lpstr>
      <vt:lpstr>Internet Control Message Protocol</vt:lpstr>
      <vt:lpstr>Internet Control Protocols </vt:lpstr>
      <vt:lpstr>Internet Control Protocols </vt:lpstr>
      <vt:lpstr>Internet Control Protocols </vt:lpstr>
      <vt:lpstr>Internet Control Protocols </vt:lpstr>
      <vt:lpstr>ARP - The Address Resolution Protocol</vt:lpstr>
      <vt:lpstr>Internet Control Protocols </vt:lpstr>
      <vt:lpstr>Internet Control Protocols </vt:lpstr>
      <vt:lpstr>PowerPoint Presentation</vt:lpstr>
      <vt:lpstr>PowerPoint Presentation</vt:lpstr>
      <vt:lpstr>PowerPoint Presentation</vt:lpstr>
      <vt:lpstr>ARP Packet Structure </vt:lpstr>
      <vt:lpstr>Different Cases</vt:lpstr>
      <vt:lpstr>Internet Control Protocols </vt:lpstr>
      <vt:lpstr>Internet Control Protocols </vt:lpstr>
      <vt:lpstr>Internet Control Protocols </vt:lpstr>
      <vt:lpstr>Internet Control Protocols </vt:lpstr>
      <vt:lpstr>Internet Control Protocols </vt:lpstr>
      <vt:lpstr>Internet Control Protocols </vt:lpstr>
      <vt:lpstr>Dynamic Host Configuration Protocol</vt:lpstr>
      <vt:lpstr>Internet Control Protocols </vt:lpstr>
      <vt:lpstr>Internet Multicasting </vt:lpstr>
      <vt:lpstr>Internet Multicasting </vt:lpstr>
      <vt:lpstr>Internet Multicasting </vt:lpstr>
      <vt:lpstr>Internet Multicasting </vt:lpstr>
      <vt:lpstr>Internet Multicasting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Silpa</dc:creator>
  <cp:lastModifiedBy>ASUS</cp:lastModifiedBy>
  <cp:revision>27</cp:revision>
  <dcterms:created xsi:type="dcterms:W3CDTF">2022-11-30T00:33:12Z</dcterms:created>
  <dcterms:modified xsi:type="dcterms:W3CDTF">2024-10-15T10:36:46Z</dcterms:modified>
</cp:coreProperties>
</file>