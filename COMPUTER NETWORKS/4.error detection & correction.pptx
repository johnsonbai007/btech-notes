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2000"/>
  <p:notesSz cx="6858000" cy="9144000"/>
  <p:embeddedFontLst>
    <p:embeddedFont>
      <p:font typeface="Arimo"/>
      <p:regular r:id="rId47"/>
      <p:bold r:id="rId48"/>
      <p:italic r:id="rId49"/>
      <p:boldItalic r:id="rId50"/>
    </p:embeddedFont>
    <p:embeddedFont>
      <p:font typeface="Inter"/>
      <p:regular r:id="rId51"/>
      <p:bold r:id="rId52"/>
    </p:embeddedFont>
    <p:embeddedFont>
      <p:font typeface="Roboto Condensed"/>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cGyE1lNOwhbcNEnvCF7lplUx9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Arimo-bold.fntdata"/><Relationship Id="rId47" Type="http://schemas.openxmlformats.org/officeDocument/2006/relationships/font" Target="fonts/Arimo-regular.fntdata"/><Relationship Id="rId49" Type="http://schemas.openxmlformats.org/officeDocument/2006/relationships/font" Target="fonts/Arim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Inter-regular.fntdata"/><Relationship Id="rId50" Type="http://schemas.openxmlformats.org/officeDocument/2006/relationships/font" Target="fonts/Arimo-boldItalic.fntdata"/><Relationship Id="rId53" Type="http://schemas.openxmlformats.org/officeDocument/2006/relationships/font" Target="fonts/RobotoCondensed-regular.fntdata"/><Relationship Id="rId52" Type="http://schemas.openxmlformats.org/officeDocument/2006/relationships/font" Target="fonts/Inter-bold.fntdata"/><Relationship Id="rId11" Type="http://schemas.openxmlformats.org/officeDocument/2006/relationships/slide" Target="slides/slide7.xml"/><Relationship Id="rId55" Type="http://schemas.openxmlformats.org/officeDocument/2006/relationships/font" Target="fonts/RobotoCondensed-italic.fntdata"/><Relationship Id="rId10" Type="http://schemas.openxmlformats.org/officeDocument/2006/relationships/slide" Target="slides/slide6.xml"/><Relationship Id="rId54" Type="http://schemas.openxmlformats.org/officeDocument/2006/relationships/font" Target="fonts/RobotoCondensed-bold.fntdata"/><Relationship Id="rId13" Type="http://schemas.openxmlformats.org/officeDocument/2006/relationships/slide" Target="slides/slide9.xml"/><Relationship Id="rId57" Type="http://customschemas.google.com/relationships/presentationmetadata" Target="metadata"/><Relationship Id="rId12" Type="http://schemas.openxmlformats.org/officeDocument/2006/relationships/slide" Target="slides/slide8.xml"/><Relationship Id="rId56" Type="http://schemas.openxmlformats.org/officeDocument/2006/relationships/font" Target="fonts/RobotoCondensed-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7dadb1a2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17dadb1a2a4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7dadb1a2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7dadb1a2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0"/>
          <p:cNvSpPr/>
          <p:nvPr>
            <p:ph idx="2" type="pic"/>
          </p:nvPr>
        </p:nvSpPr>
        <p:spPr>
          <a:xfrm>
            <a:off x="5183188" y="987425"/>
            <a:ext cx="6172200" cy="4873625"/>
          </a:xfrm>
          <a:prstGeom prst="rect">
            <a:avLst/>
          </a:prstGeom>
          <a:noFill/>
          <a:ln>
            <a:noFill/>
          </a:ln>
        </p:spPr>
      </p:sp>
      <p:sp>
        <p:nvSpPr>
          <p:cNvPr id="64" name="Google Shape;64;p5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Error Detection &amp; Correction</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Error</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br>
              <a:rPr lang="en-US"/>
            </a:br>
            <a:r>
              <a:rPr lang="en-US"/>
              <a:t>A condition when the receiver’s information does not match with the sender’s information.</a:t>
            </a:r>
            <a:endParaRPr/>
          </a:p>
          <a:p>
            <a:pPr indent="-228600" lvl="0" marL="228600" rtl="0" algn="l">
              <a:lnSpc>
                <a:spcPct val="90000"/>
              </a:lnSpc>
              <a:spcBef>
                <a:spcPts val="1000"/>
              </a:spcBef>
              <a:spcAft>
                <a:spcPts val="0"/>
              </a:spcAft>
              <a:buClr>
                <a:schemeClr val="dk1"/>
              </a:buClr>
              <a:buSzPts val="2800"/>
              <a:buChar char="•"/>
            </a:pPr>
            <a:r>
              <a:rPr lang="en-US"/>
              <a:t> During transmission, digital signals suffer from noise that can introduce errors in the binary bits travelling from sender to receiver. </a:t>
            </a:r>
            <a:endParaRPr/>
          </a:p>
          <a:p>
            <a:pPr indent="-228600" lvl="0" marL="228600" rtl="0" algn="l">
              <a:lnSpc>
                <a:spcPct val="90000"/>
              </a:lnSpc>
              <a:spcBef>
                <a:spcPts val="1000"/>
              </a:spcBef>
              <a:spcAft>
                <a:spcPts val="0"/>
              </a:spcAft>
              <a:buClr>
                <a:schemeClr val="dk1"/>
              </a:buClr>
              <a:buSzPts val="2800"/>
              <a:buChar char="•"/>
            </a:pPr>
            <a:r>
              <a:rPr lang="en-US"/>
              <a:t>That means a 0 bit may change to 1 or a 1 bit may change to 0.</a:t>
            </a:r>
            <a:br>
              <a:rPr lang="en-US"/>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Errors</a:t>
            </a:r>
            <a:br>
              <a:rPr lang="en-US"/>
            </a:b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Errors can be of three types, namely </a:t>
            </a:r>
            <a:endParaRPr/>
          </a:p>
          <a:p>
            <a:pPr indent="-50800" lvl="0" marL="228600" rtl="0" algn="l">
              <a:lnSpc>
                <a:spcPct val="90000"/>
              </a:lnSpc>
              <a:spcBef>
                <a:spcPts val="1000"/>
              </a:spcBef>
              <a:spcAft>
                <a:spcPts val="0"/>
              </a:spcAft>
              <a:buClr>
                <a:schemeClr val="dk1"/>
              </a:buClr>
              <a:buSzPts val="2800"/>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single bit errors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multiple bit errors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burst errors.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Single bit error</a:t>
            </a:r>
            <a:r>
              <a:rPr lang="en-US"/>
              <a:t> </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received frame, only one bit has been corrupted, i.e. either changed from 0 to 1 or from 1 to 0.</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04" name="Google Shape;104;p4"/>
          <p:cNvPicPr preferRelativeResize="0"/>
          <p:nvPr/>
        </p:nvPicPr>
        <p:blipFill rotWithShape="1">
          <a:blip r:embed="rId3">
            <a:alphaModFix/>
          </a:blip>
          <a:srcRect b="0" l="0" r="0" t="0"/>
          <a:stretch/>
        </p:blipFill>
        <p:spPr>
          <a:xfrm>
            <a:off x="2662518" y="3358267"/>
            <a:ext cx="6427694" cy="19129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Multiple bits error</a:t>
            </a:r>
            <a:r>
              <a:rPr lang="en-US"/>
              <a:t> </a:t>
            </a:r>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received frame, more than one bits are corrupted.</a:t>
            </a:r>
            <a:endParaRPr/>
          </a:p>
        </p:txBody>
      </p:sp>
      <p:pic>
        <p:nvPicPr>
          <p:cNvPr id="111" name="Google Shape;111;p5"/>
          <p:cNvPicPr preferRelativeResize="0"/>
          <p:nvPr/>
        </p:nvPicPr>
        <p:blipFill rotWithShape="1">
          <a:blip r:embed="rId3">
            <a:alphaModFix/>
          </a:blip>
          <a:srcRect b="0" l="0" r="0" t="0"/>
          <a:stretch/>
        </p:blipFill>
        <p:spPr>
          <a:xfrm>
            <a:off x="2407023" y="2781209"/>
            <a:ext cx="6343097" cy="24401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Burst error</a:t>
            </a:r>
            <a:endParaRPr/>
          </a:p>
        </p:txBody>
      </p:sp>
      <p:sp>
        <p:nvSpPr>
          <p:cNvPr id="117" name="Google Shape;11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received frame, more than one consecutive bits are corrupted</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8" name="Google Shape;118;p6"/>
          <p:cNvPicPr preferRelativeResize="0"/>
          <p:nvPr/>
        </p:nvPicPr>
        <p:blipFill rotWithShape="1">
          <a:blip r:embed="rId3">
            <a:alphaModFix/>
          </a:blip>
          <a:srcRect b="0" l="0" r="0" t="0"/>
          <a:stretch/>
        </p:blipFill>
        <p:spPr>
          <a:xfrm>
            <a:off x="2407024" y="3239252"/>
            <a:ext cx="6347011" cy="20723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Error Control</a:t>
            </a:r>
            <a:br>
              <a:rPr lang="en-US"/>
            </a:br>
            <a:endParaRPr/>
          </a:p>
        </p:txBody>
      </p:sp>
      <p:sp>
        <p:nvSpPr>
          <p:cNvPr id="124" name="Google Shape;124;p7"/>
          <p:cNvSpPr txBox="1"/>
          <p:nvPr>
            <p:ph idx="1" type="body"/>
          </p:nvPr>
        </p:nvSpPr>
        <p:spPr>
          <a:xfrm>
            <a:off x="838200" y="1132764"/>
            <a:ext cx="10515600" cy="50441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Error control can be done in two ways</a:t>
            </a:r>
            <a:endParaRPr/>
          </a:p>
          <a:p>
            <a:pPr indent="-228600" lvl="0" marL="228600" rtl="0" algn="l">
              <a:lnSpc>
                <a:spcPct val="90000"/>
              </a:lnSpc>
              <a:spcBef>
                <a:spcPts val="1000"/>
              </a:spcBef>
              <a:spcAft>
                <a:spcPts val="0"/>
              </a:spcAft>
              <a:buClr>
                <a:schemeClr val="dk1"/>
              </a:buClr>
              <a:buSzPts val="2800"/>
              <a:buChar char="•"/>
            </a:pPr>
            <a:r>
              <a:rPr b="1" lang="en-US"/>
              <a:t>Error detection</a:t>
            </a:r>
            <a:r>
              <a:rPr lang="en-US"/>
              <a:t> −</a:t>
            </a:r>
            <a:endParaRPr/>
          </a:p>
          <a:p>
            <a:pPr indent="-228600" lvl="1" marL="685800" rtl="0" algn="l">
              <a:lnSpc>
                <a:spcPct val="90000"/>
              </a:lnSpc>
              <a:spcBef>
                <a:spcPts val="500"/>
              </a:spcBef>
              <a:spcAft>
                <a:spcPts val="0"/>
              </a:spcAft>
              <a:buClr>
                <a:schemeClr val="dk1"/>
              </a:buClr>
              <a:buSzPts val="2800"/>
              <a:buChar char="•"/>
            </a:pPr>
            <a:r>
              <a:rPr lang="en-US" sz="2800"/>
              <a:t> Error detection involves checking whether any error has occurred or not. </a:t>
            </a:r>
            <a:endParaRPr sz="2800"/>
          </a:p>
          <a:p>
            <a:pPr indent="-228600" lvl="1" marL="685800" rtl="0" algn="l">
              <a:lnSpc>
                <a:spcPct val="90000"/>
              </a:lnSpc>
              <a:spcBef>
                <a:spcPts val="500"/>
              </a:spcBef>
              <a:spcAft>
                <a:spcPts val="0"/>
              </a:spcAft>
              <a:buClr>
                <a:schemeClr val="dk1"/>
              </a:buClr>
              <a:buSzPts val="2800"/>
              <a:buChar char="•"/>
            </a:pPr>
            <a:r>
              <a:rPr lang="en-US" sz="2800"/>
              <a:t>not  interested in the number of errors. A single-bit error is the same for us as a burst error</a:t>
            </a:r>
            <a:endParaRPr/>
          </a:p>
          <a:p>
            <a:pPr indent="-228600" lvl="0" marL="228600" rtl="0" algn="l">
              <a:lnSpc>
                <a:spcPct val="90000"/>
              </a:lnSpc>
              <a:spcBef>
                <a:spcPts val="1000"/>
              </a:spcBef>
              <a:spcAft>
                <a:spcPts val="0"/>
              </a:spcAft>
              <a:buClr>
                <a:schemeClr val="dk1"/>
              </a:buClr>
              <a:buSzPts val="2800"/>
              <a:buChar char="•"/>
            </a:pPr>
            <a:r>
              <a:rPr b="1" lang="en-US"/>
              <a:t>Error correction</a:t>
            </a:r>
            <a:r>
              <a:rPr lang="en-US"/>
              <a:t> − </a:t>
            </a:r>
            <a:endParaRPr/>
          </a:p>
          <a:p>
            <a:pPr indent="-228600" lvl="1" marL="685800" rtl="0" algn="l">
              <a:lnSpc>
                <a:spcPct val="90000"/>
              </a:lnSpc>
              <a:spcBef>
                <a:spcPts val="500"/>
              </a:spcBef>
              <a:spcAft>
                <a:spcPts val="0"/>
              </a:spcAft>
              <a:buClr>
                <a:schemeClr val="dk1"/>
              </a:buClr>
              <a:buSzPts val="2800"/>
              <a:buChar char="•"/>
            </a:pPr>
            <a:r>
              <a:rPr lang="en-US" sz="2800"/>
              <a:t>In error correction, we need to know the exact number of bits that are corrupted and more importantly, their location in the message. </a:t>
            </a:r>
            <a:endParaRPr sz="2800"/>
          </a:p>
          <a:p>
            <a:pPr indent="-228600" lvl="1" marL="685800" rtl="0" algn="l">
              <a:lnSpc>
                <a:spcPct val="90000"/>
              </a:lnSpc>
              <a:spcBef>
                <a:spcPts val="500"/>
              </a:spcBef>
              <a:spcAft>
                <a:spcPts val="0"/>
              </a:spcAft>
              <a:buClr>
                <a:schemeClr val="dk1"/>
              </a:buClr>
              <a:buSzPts val="2800"/>
              <a:buChar char="•"/>
            </a:pPr>
            <a:r>
              <a:rPr lang="en-US" sz="2800"/>
              <a:t>The number of the errors and the size of the message are important factors.</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Error detection</a:t>
            </a:r>
            <a:endParaRPr/>
          </a:p>
        </p:txBody>
      </p:sp>
      <p:sp>
        <p:nvSpPr>
          <p:cNvPr id="130" name="Google Shape;13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Basic approach is the use of </a:t>
            </a:r>
            <a:r>
              <a:rPr lang="en-US">
                <a:solidFill>
                  <a:srgbClr val="FF0000"/>
                </a:solidFill>
              </a:rPr>
              <a:t>redundancy bits, </a:t>
            </a:r>
            <a:r>
              <a:rPr lang="en-US"/>
              <a:t>where additional bits are added to facilitate detection of errors.</a:t>
            </a:r>
            <a:endParaRPr/>
          </a:p>
          <a:p>
            <a:pPr indent="-228600" lvl="0" marL="228600" rtl="0" algn="l">
              <a:lnSpc>
                <a:spcPct val="90000"/>
              </a:lnSpc>
              <a:spcBef>
                <a:spcPts val="1000"/>
              </a:spcBef>
              <a:spcAft>
                <a:spcPts val="0"/>
              </a:spcAft>
              <a:buClr>
                <a:schemeClr val="dk1"/>
              </a:buClr>
              <a:buSzPts val="2800"/>
              <a:buChar char="•"/>
            </a:pPr>
            <a:r>
              <a:rPr lang="en-US"/>
              <a:t>Every data unit is send twice</a:t>
            </a:r>
            <a:endParaRPr/>
          </a:p>
          <a:p>
            <a:pPr indent="-228600" lvl="0" marL="228600" rtl="0" algn="l">
              <a:lnSpc>
                <a:spcPct val="90000"/>
              </a:lnSpc>
              <a:spcBef>
                <a:spcPts val="1000"/>
              </a:spcBef>
              <a:spcAft>
                <a:spcPts val="0"/>
              </a:spcAft>
              <a:buClr>
                <a:schemeClr val="dk1"/>
              </a:buClr>
              <a:buSzPts val="2800"/>
              <a:buChar char="•"/>
            </a:pPr>
            <a:r>
              <a:rPr lang="en-US"/>
              <a:t>Receiving device would then be able to do a  bit by bit comparison between the two versions of data</a:t>
            </a:r>
            <a:endParaRPr/>
          </a:p>
          <a:p>
            <a:pPr indent="-228600" lvl="0" marL="228600" rtl="0" algn="l">
              <a:lnSpc>
                <a:spcPct val="90000"/>
              </a:lnSpc>
              <a:spcBef>
                <a:spcPts val="1000"/>
              </a:spcBef>
              <a:spcAft>
                <a:spcPts val="0"/>
              </a:spcAft>
              <a:buClr>
                <a:schemeClr val="dk1"/>
              </a:buClr>
              <a:buSzPts val="2800"/>
              <a:buChar char="•"/>
            </a:pPr>
            <a:r>
              <a:rPr lang="en-US"/>
              <a:t>Any mismatch would   an error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Error detection-Redundancy  check </a:t>
            </a:r>
            <a:endParaRPr/>
          </a:p>
        </p:txBody>
      </p:sp>
      <p:sp>
        <p:nvSpPr>
          <p:cNvPr id="136" name="Google Shape;13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Disadvantage </a:t>
            </a:r>
            <a:endParaRPr/>
          </a:p>
          <a:p>
            <a:pPr indent="-228600" lvl="1" marL="685800" rtl="0" algn="l">
              <a:lnSpc>
                <a:spcPct val="90000"/>
              </a:lnSpc>
              <a:spcBef>
                <a:spcPts val="500"/>
              </a:spcBef>
              <a:spcAft>
                <a:spcPts val="0"/>
              </a:spcAft>
              <a:buClr>
                <a:schemeClr val="dk1"/>
              </a:buClr>
              <a:buSzPts val="2400"/>
              <a:buChar char="•"/>
            </a:pPr>
            <a:r>
              <a:rPr lang="en-US"/>
              <a:t>Transmission time and bandwidth becomes doubled.</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Therefore instead of repeating the entire data stream,a shorter group of bits may be appended  to end of each bit </a:t>
            </a:r>
            <a:endParaRPr/>
          </a:p>
          <a:p>
            <a:pPr indent="-228600" lvl="0" marL="228600" rtl="0" algn="l">
              <a:lnSpc>
                <a:spcPct val="90000"/>
              </a:lnSpc>
              <a:spcBef>
                <a:spcPts val="1000"/>
              </a:spcBef>
              <a:spcAft>
                <a:spcPts val="0"/>
              </a:spcAft>
              <a:buClr>
                <a:schemeClr val="dk1"/>
              </a:buClr>
              <a:buSzPts val="2800"/>
              <a:buChar char="•"/>
            </a:pPr>
            <a:r>
              <a:rPr lang="en-US"/>
              <a:t>This technique is called  </a:t>
            </a:r>
            <a:r>
              <a:rPr lang="en-US">
                <a:solidFill>
                  <a:srgbClr val="FF0000"/>
                </a:solidFill>
              </a:rPr>
              <a:t>redundancy</a:t>
            </a:r>
            <a:r>
              <a:rPr lang="en-US"/>
              <a:t> because  the extra bits are redundant to the information and they are discarded</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Error detection</a:t>
            </a:r>
            <a:endParaRPr/>
          </a:p>
        </p:txBody>
      </p:sp>
      <p:sp>
        <p:nvSpPr>
          <p:cNvPr id="142" name="Google Shape;142;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Three types of redundancy  checks are  common in data  communication </a:t>
            </a:r>
            <a:endParaRPr/>
          </a:p>
          <a:p>
            <a:pPr indent="-50800" lvl="0" marL="228600" rtl="0" algn="l">
              <a:lnSpc>
                <a:spcPct val="90000"/>
              </a:lnSpc>
              <a:spcBef>
                <a:spcPts val="1000"/>
              </a:spcBef>
              <a:spcAft>
                <a:spcPts val="0"/>
              </a:spcAft>
              <a:buClr>
                <a:schemeClr val="dk1"/>
              </a:buClr>
              <a:buSzPts val="2800"/>
              <a:buNone/>
            </a:pPr>
            <a:r>
              <a:t/>
            </a:r>
            <a:endParaRPr/>
          </a:p>
          <a:p>
            <a:pPr indent="-514350" lvl="1" marL="971550" rtl="0" algn="l">
              <a:lnSpc>
                <a:spcPct val="150000"/>
              </a:lnSpc>
              <a:spcBef>
                <a:spcPts val="500"/>
              </a:spcBef>
              <a:spcAft>
                <a:spcPts val="0"/>
              </a:spcAft>
              <a:buClr>
                <a:schemeClr val="dk1"/>
              </a:buClr>
              <a:buSzPts val="2400"/>
              <a:buFont typeface="Calibri"/>
              <a:buAutoNum type="arabicPeriod"/>
            </a:pPr>
            <a:r>
              <a:rPr lang="en-US"/>
              <a:t>Parity check</a:t>
            </a:r>
            <a:endParaRPr/>
          </a:p>
          <a:p>
            <a:pPr indent="-514350" lvl="1" marL="971550" rtl="0" algn="l">
              <a:lnSpc>
                <a:spcPct val="150000"/>
              </a:lnSpc>
              <a:spcBef>
                <a:spcPts val="500"/>
              </a:spcBef>
              <a:spcAft>
                <a:spcPts val="0"/>
              </a:spcAft>
              <a:buClr>
                <a:schemeClr val="dk1"/>
              </a:buClr>
              <a:buSzPts val="2400"/>
              <a:buFont typeface="Calibri"/>
              <a:buAutoNum type="arabicPeriod"/>
            </a:pPr>
            <a:r>
              <a:rPr lang="en-US"/>
              <a:t>Checksum</a:t>
            </a:r>
            <a:endParaRPr/>
          </a:p>
          <a:p>
            <a:pPr indent="-514350" lvl="1" marL="971550" rtl="0" algn="l">
              <a:lnSpc>
                <a:spcPct val="150000"/>
              </a:lnSpc>
              <a:spcBef>
                <a:spcPts val="500"/>
              </a:spcBef>
              <a:spcAft>
                <a:spcPts val="0"/>
              </a:spcAft>
              <a:buClr>
                <a:schemeClr val="dk1"/>
              </a:buClr>
              <a:buSzPts val="2400"/>
              <a:buFont typeface="Calibri"/>
              <a:buAutoNum type="arabicPeriod"/>
            </a:pPr>
            <a:r>
              <a:rPr lang="en-US"/>
              <a:t>Cyclic redundancy check</a:t>
            </a:r>
            <a:br>
              <a:rPr lang="en-US"/>
            </a:b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Cyclic redundancy check-CRC</a:t>
            </a:r>
            <a:endParaRPr/>
          </a:p>
        </p:txBody>
      </p:sp>
      <p:sp>
        <p:nvSpPr>
          <p:cNvPr id="148" name="Google Shape;148;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CRC is a redundancy error technique used to determine the error</a:t>
            </a:r>
            <a:endParaRPr/>
          </a:p>
          <a:p>
            <a:pPr indent="-228600" lvl="0" marL="228600" rtl="0" algn="l">
              <a:lnSpc>
                <a:spcPct val="90000"/>
              </a:lnSpc>
              <a:spcBef>
                <a:spcPts val="1000"/>
              </a:spcBef>
              <a:spcAft>
                <a:spcPts val="0"/>
              </a:spcAft>
              <a:buClr>
                <a:schemeClr val="dk1"/>
              </a:buClr>
              <a:buSzPct val="100000"/>
              <a:buChar char="•"/>
            </a:pPr>
            <a:r>
              <a:rPr lang="en-US"/>
              <a:t>It is based on binary division.</a:t>
            </a:r>
            <a:endParaRPr/>
          </a:p>
          <a:p>
            <a:pPr indent="-228600" lvl="0" marL="228600" rtl="0" algn="l">
              <a:lnSpc>
                <a:spcPct val="90000"/>
              </a:lnSpc>
              <a:spcBef>
                <a:spcPts val="1000"/>
              </a:spcBef>
              <a:spcAft>
                <a:spcPts val="0"/>
              </a:spcAft>
              <a:buClr>
                <a:schemeClr val="dk1"/>
              </a:buClr>
              <a:buSzPct val="100000"/>
              <a:buChar char="•"/>
            </a:pPr>
            <a:r>
              <a:rPr lang="en-US"/>
              <a:t>CRC uses </a:t>
            </a:r>
            <a:r>
              <a:rPr lang="en-US">
                <a:solidFill>
                  <a:srgbClr val="FF0000"/>
                </a:solidFill>
              </a:rPr>
              <a:t>Generator Polynomial </a:t>
            </a:r>
            <a:r>
              <a:rPr lang="en-US"/>
              <a:t>which is available on both sender and receiver side.</a:t>
            </a:r>
            <a:endParaRPr/>
          </a:p>
          <a:p>
            <a:pPr indent="-228600" lvl="0" marL="228600" rtl="0" algn="l">
              <a:lnSpc>
                <a:spcPct val="90000"/>
              </a:lnSpc>
              <a:spcBef>
                <a:spcPts val="1000"/>
              </a:spcBef>
              <a:spcAft>
                <a:spcPts val="0"/>
              </a:spcAft>
              <a:buClr>
                <a:schemeClr val="dk1"/>
              </a:buClr>
              <a:buSzPct val="100000"/>
              <a:buChar char="•"/>
            </a:pPr>
            <a:r>
              <a:rPr lang="en-US"/>
              <a:t>Generator Polynomials are used to generate the </a:t>
            </a:r>
            <a:r>
              <a:rPr lang="en-US">
                <a:solidFill>
                  <a:srgbClr val="FF0000"/>
                </a:solidFill>
              </a:rPr>
              <a:t>divisor.</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An example generator polynomial is of the form like x</a:t>
            </a:r>
            <a:r>
              <a:rPr baseline="30000" lang="en-US"/>
              <a:t>3</a:t>
            </a:r>
            <a:r>
              <a:rPr lang="en-US"/>
              <a:t> + x + 1. This generator polynomial represents key 1011.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Another example is x</a:t>
            </a:r>
            <a:r>
              <a:rPr baseline="30000" lang="en-US"/>
              <a:t>2</a:t>
            </a:r>
            <a:r>
              <a:rPr lang="en-US"/>
              <a:t> + 1 that represents key 101.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Properties Of CRC Generator</a:t>
            </a:r>
            <a:br>
              <a:rPr b="1" lang="en-US"/>
            </a:br>
            <a:endParaRPr/>
          </a:p>
        </p:txBody>
      </p:sp>
      <p:sp>
        <p:nvSpPr>
          <p:cNvPr id="154" name="Google Shape;154;p12"/>
          <p:cNvSpPr txBox="1"/>
          <p:nvPr>
            <p:ph idx="1" type="body"/>
          </p:nvPr>
        </p:nvSpPr>
        <p:spPr>
          <a:xfrm>
            <a:off x="838200" y="1091821"/>
            <a:ext cx="10515600" cy="50851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 algebraic polynomial chosen as a CRC generator should have at least the following properties-</a:t>
            </a:r>
            <a:endParaRPr/>
          </a:p>
          <a:p>
            <a:pPr indent="0" lvl="0" marL="0" rtl="0" algn="l">
              <a:lnSpc>
                <a:spcPct val="90000"/>
              </a:lnSpc>
              <a:spcBef>
                <a:spcPts val="1000"/>
              </a:spcBef>
              <a:spcAft>
                <a:spcPts val="0"/>
              </a:spcAft>
              <a:buClr>
                <a:schemeClr val="dk1"/>
              </a:buClr>
              <a:buSzPts val="2800"/>
              <a:buNone/>
            </a:pPr>
            <a:r>
              <a:rPr lang="en-US"/>
              <a:t> </a:t>
            </a:r>
            <a:r>
              <a:rPr b="1" lang="en-US" u="sng"/>
              <a:t>Rule-01:</a:t>
            </a:r>
            <a:endParaRPr b="1"/>
          </a:p>
          <a:p>
            <a:pPr indent="0" lvl="1" marL="457200" rtl="0" algn="l">
              <a:lnSpc>
                <a:spcPct val="90000"/>
              </a:lnSpc>
              <a:spcBef>
                <a:spcPts val="500"/>
              </a:spcBef>
              <a:spcAft>
                <a:spcPts val="0"/>
              </a:spcAft>
              <a:buClr>
                <a:schemeClr val="dk1"/>
              </a:buClr>
              <a:buSzPts val="2800"/>
              <a:buNone/>
            </a:pPr>
            <a:r>
              <a:rPr lang="en-US" sz="2800"/>
              <a:t> </a:t>
            </a:r>
            <a:r>
              <a:rPr lang="en-US" sz="2800">
                <a:solidFill>
                  <a:srgbClr val="FF0000"/>
                </a:solidFill>
              </a:rPr>
              <a:t>It should not be divisible by x.</a:t>
            </a:r>
            <a:endParaRPr/>
          </a:p>
          <a:p>
            <a:pPr indent="0" lvl="1" marL="457200" rtl="0" algn="l">
              <a:lnSpc>
                <a:spcPct val="90000"/>
              </a:lnSpc>
              <a:spcBef>
                <a:spcPts val="500"/>
              </a:spcBef>
              <a:spcAft>
                <a:spcPts val="0"/>
              </a:spcAft>
              <a:buClr>
                <a:schemeClr val="dk1"/>
              </a:buClr>
              <a:buSzPts val="2800"/>
              <a:buNone/>
            </a:pPr>
            <a:r>
              <a:rPr lang="en-US" sz="2800"/>
              <a:t>This condition guarantees that all the burst errors of length equal to the length of polynomial are detected.</a:t>
            </a:r>
            <a:endParaRPr/>
          </a:p>
          <a:p>
            <a:pPr indent="0" lvl="0" marL="0" rtl="0" algn="l">
              <a:lnSpc>
                <a:spcPct val="90000"/>
              </a:lnSpc>
              <a:spcBef>
                <a:spcPts val="1000"/>
              </a:spcBef>
              <a:spcAft>
                <a:spcPts val="0"/>
              </a:spcAft>
              <a:buClr>
                <a:schemeClr val="dk1"/>
              </a:buClr>
              <a:buSzPts val="2800"/>
              <a:buNone/>
            </a:pPr>
            <a:r>
              <a:rPr lang="en-US"/>
              <a:t> </a:t>
            </a:r>
            <a:r>
              <a:rPr b="1" lang="en-US" u="sng"/>
              <a:t>Rule-02:</a:t>
            </a:r>
            <a:endParaRPr b="1"/>
          </a:p>
          <a:p>
            <a:pPr indent="0" lvl="1" marL="457200" rtl="0" algn="l">
              <a:lnSpc>
                <a:spcPct val="90000"/>
              </a:lnSpc>
              <a:spcBef>
                <a:spcPts val="500"/>
              </a:spcBef>
              <a:spcAft>
                <a:spcPts val="0"/>
              </a:spcAft>
              <a:buClr>
                <a:schemeClr val="dk1"/>
              </a:buClr>
              <a:buSzPts val="2800"/>
              <a:buNone/>
            </a:pPr>
            <a:r>
              <a:rPr lang="en-US" sz="2800"/>
              <a:t> </a:t>
            </a:r>
            <a:r>
              <a:rPr lang="en-US" sz="2800">
                <a:solidFill>
                  <a:srgbClr val="FF0000"/>
                </a:solidFill>
              </a:rPr>
              <a:t>It should be divisible by x+1.</a:t>
            </a:r>
            <a:endParaRPr/>
          </a:p>
          <a:p>
            <a:pPr indent="0" lvl="1" marL="457200" rtl="0" algn="l">
              <a:lnSpc>
                <a:spcPct val="90000"/>
              </a:lnSpc>
              <a:spcBef>
                <a:spcPts val="500"/>
              </a:spcBef>
              <a:spcAft>
                <a:spcPts val="0"/>
              </a:spcAft>
              <a:buClr>
                <a:schemeClr val="dk1"/>
              </a:buClr>
              <a:buSzPts val="2800"/>
              <a:buNone/>
            </a:pPr>
            <a:r>
              <a:rPr lang="en-US" sz="2800"/>
              <a:t>This condition guarantees that all the burst errors affecting an odd number of bits are detected.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STEPS IN CRC- At sender </a:t>
            </a:r>
            <a:endParaRPr>
              <a:latin typeface="Calibri"/>
              <a:ea typeface="Calibri"/>
              <a:cs typeface="Calibri"/>
              <a:sym typeface="Calibri"/>
            </a:endParaRPr>
          </a:p>
        </p:txBody>
      </p:sp>
      <p:sp>
        <p:nvSpPr>
          <p:cNvPr id="160" name="Google Shape;160;p13"/>
          <p:cNvSpPr txBox="1"/>
          <p:nvPr>
            <p:ph idx="1" type="body"/>
          </p:nvPr>
        </p:nvSpPr>
        <p:spPr>
          <a:xfrm>
            <a:off x="838200" y="1296537"/>
            <a:ext cx="10515600" cy="4880426"/>
          </a:xfrm>
          <a:prstGeom prst="rect">
            <a:avLst/>
          </a:prstGeom>
          <a:noFill/>
          <a:ln>
            <a:noFill/>
          </a:ln>
        </p:spPr>
        <p:txBody>
          <a:bodyPr anchorCtr="0" anchor="t" bIns="45700" lIns="91425" spcFirstLastPara="1" rIns="91425" wrap="square" tIns="45700">
            <a:normAutofit lnSpcReduction="10000"/>
          </a:bodyPr>
          <a:lstStyle/>
          <a:p>
            <a:pPr indent="-336550" lvl="0" marL="514350" rtl="0" algn="l">
              <a:lnSpc>
                <a:spcPct val="90000"/>
              </a:lnSpc>
              <a:spcBef>
                <a:spcPts val="0"/>
              </a:spcBef>
              <a:spcAft>
                <a:spcPts val="0"/>
              </a:spcAft>
              <a:buClr>
                <a:schemeClr val="dk1"/>
              </a:buClr>
              <a:buSzPts val="2800"/>
              <a:buFont typeface="Calibri"/>
              <a:buNone/>
            </a:pPr>
            <a:r>
              <a:t/>
            </a:r>
            <a:endParaRPr/>
          </a:p>
          <a:p>
            <a:pPr indent="0" lvl="0" marL="0" rtl="0" algn="l">
              <a:lnSpc>
                <a:spcPct val="90000"/>
              </a:lnSpc>
              <a:spcBef>
                <a:spcPts val="1000"/>
              </a:spcBef>
              <a:spcAft>
                <a:spcPts val="0"/>
              </a:spcAft>
              <a:buClr>
                <a:schemeClr val="dk1"/>
              </a:buClr>
              <a:buSzPts val="2800"/>
              <a:buNone/>
            </a:pPr>
            <a:r>
              <a:rPr lang="en-US"/>
              <a:t>Let n be the number of bits  in divisor</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 string of n-1 zeros  is appended to the data unit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Newly extended data is divided by a divisor(generator polynomial) using a process is known as binary division.</a:t>
            </a:r>
            <a:endParaRPr/>
          </a:p>
          <a:p>
            <a:pPr indent="0" lvl="0" marL="463550" rtl="0" algn="l">
              <a:lnSpc>
                <a:spcPct val="90000"/>
              </a:lnSpc>
              <a:spcBef>
                <a:spcPts val="1000"/>
              </a:spcBef>
              <a:spcAft>
                <a:spcPts val="0"/>
              </a:spcAft>
              <a:buClr>
                <a:schemeClr val="dk1"/>
              </a:buClr>
              <a:buSzPts val="2800"/>
              <a:buNone/>
            </a:pPr>
            <a:r>
              <a:rPr lang="en-US"/>
              <a:t> The remainder generated from this division is known as </a:t>
            </a:r>
            <a:r>
              <a:rPr lang="en-US">
                <a:solidFill>
                  <a:srgbClr val="FF0000"/>
                </a:solidFill>
              </a:rPr>
              <a:t>CRC   remainder</a:t>
            </a:r>
            <a:r>
              <a:rPr lang="en-US"/>
              <a:t>.</a:t>
            </a:r>
            <a:endParaRPr/>
          </a:p>
          <a:p>
            <a:pPr indent="-514350" lvl="0" marL="514350" rtl="0" algn="l">
              <a:lnSpc>
                <a:spcPct val="90000"/>
              </a:lnSpc>
              <a:spcBef>
                <a:spcPts val="1000"/>
              </a:spcBef>
              <a:spcAft>
                <a:spcPts val="0"/>
              </a:spcAft>
              <a:buClr>
                <a:schemeClr val="dk1"/>
              </a:buClr>
              <a:buSzPts val="2800"/>
              <a:buFont typeface="Calibri"/>
              <a:buAutoNum type="arabicPeriod" startAt="3"/>
            </a:pPr>
            <a:r>
              <a:rPr lang="en-US"/>
              <a:t>Replace the appended 0s at the end of the original data with  CRC remainder . </a:t>
            </a:r>
            <a:endParaRPr/>
          </a:p>
          <a:p>
            <a:pPr indent="-514350" lvl="0" marL="514350" rtl="0" algn="l">
              <a:lnSpc>
                <a:spcPct val="90000"/>
              </a:lnSpc>
              <a:spcBef>
                <a:spcPts val="1000"/>
              </a:spcBef>
              <a:spcAft>
                <a:spcPts val="0"/>
              </a:spcAft>
              <a:buClr>
                <a:schemeClr val="dk1"/>
              </a:buClr>
              <a:buSzPts val="2800"/>
              <a:buFont typeface="Calibri"/>
              <a:buAutoNum type="arabicPeriod" startAt="3"/>
            </a:pPr>
            <a:r>
              <a:rPr lang="en-US"/>
              <a:t> This  newly formed code word (Original data + CRC) is transmitted to the receiver.</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STEPS IN CRC- At Receiver </a:t>
            </a:r>
            <a:endParaRPr>
              <a:latin typeface="Calibri"/>
              <a:ea typeface="Calibri"/>
              <a:cs typeface="Calibri"/>
              <a:sym typeface="Calibri"/>
            </a:endParaRPr>
          </a:p>
        </p:txBody>
      </p:sp>
      <p:sp>
        <p:nvSpPr>
          <p:cNvPr id="166" name="Google Shape;166;p14"/>
          <p:cNvSpPr txBox="1"/>
          <p:nvPr>
            <p:ph idx="1" type="body"/>
          </p:nvPr>
        </p:nvSpPr>
        <p:spPr>
          <a:xfrm>
            <a:off x="838200" y="1296537"/>
            <a:ext cx="10515600" cy="4880426"/>
          </a:xfrm>
          <a:prstGeom prst="rect">
            <a:avLst/>
          </a:prstGeom>
          <a:noFill/>
          <a:ln>
            <a:noFill/>
          </a:ln>
        </p:spPr>
        <p:txBody>
          <a:bodyPr anchorCtr="0" anchor="t" bIns="45700" lIns="91425" spcFirstLastPara="1" rIns="91425" wrap="square" tIns="45700">
            <a:normAutofit lnSpcReduction="10000"/>
          </a:bodyPr>
          <a:lstStyle/>
          <a:p>
            <a:pPr indent="-336550" lvl="0" marL="514350" rtl="0" algn="l">
              <a:lnSpc>
                <a:spcPct val="90000"/>
              </a:lnSpc>
              <a:spcBef>
                <a:spcPts val="0"/>
              </a:spcBef>
              <a:spcAft>
                <a:spcPts val="0"/>
              </a:spcAft>
              <a:buClr>
                <a:schemeClr val="dk1"/>
              </a:buClr>
              <a:buSzPts val="28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 receiver receives the data followed by the CRC remainder.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 receiver will treat this whole unit as a single unit, and it is divided by the same divisor that was used to find the CRC remainder.</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On division  If the remainder is zero,</a:t>
            </a:r>
            <a:endParaRPr/>
          </a:p>
          <a:p>
            <a:pPr indent="-228600" lvl="1" marL="685800" rtl="0" algn="l">
              <a:lnSpc>
                <a:spcPct val="90000"/>
              </a:lnSpc>
              <a:spcBef>
                <a:spcPts val="500"/>
              </a:spcBef>
              <a:spcAft>
                <a:spcPts val="0"/>
              </a:spcAft>
              <a:buClr>
                <a:schemeClr val="dk1"/>
              </a:buClr>
              <a:buSzPts val="2400"/>
              <a:buChar char="•"/>
            </a:pPr>
            <a:r>
              <a:rPr lang="en-US"/>
              <a:t>Receiver assumes that no error occurred in the data during the transmission.</a:t>
            </a:r>
            <a:endParaRPr/>
          </a:p>
          <a:p>
            <a:pPr indent="-228600" lvl="1" marL="685800" rtl="0" algn="l">
              <a:lnSpc>
                <a:spcPct val="90000"/>
              </a:lnSpc>
              <a:spcBef>
                <a:spcPts val="500"/>
              </a:spcBef>
              <a:spcAft>
                <a:spcPts val="0"/>
              </a:spcAft>
              <a:buClr>
                <a:schemeClr val="dk1"/>
              </a:buClr>
              <a:buSzPts val="2400"/>
              <a:buChar char="•"/>
            </a:pPr>
            <a:r>
              <a:rPr lang="en-US"/>
              <a:t>Receiver accepts the data.</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If the remainder is non-zero,</a:t>
            </a:r>
            <a:endParaRPr/>
          </a:p>
          <a:p>
            <a:pPr indent="-228600" lvl="1" marL="685800" rtl="0" algn="l">
              <a:lnSpc>
                <a:spcPct val="90000"/>
              </a:lnSpc>
              <a:spcBef>
                <a:spcPts val="500"/>
              </a:spcBef>
              <a:spcAft>
                <a:spcPts val="0"/>
              </a:spcAft>
              <a:buClr>
                <a:schemeClr val="dk1"/>
              </a:buClr>
              <a:buSzPts val="2400"/>
              <a:buChar char="•"/>
            </a:pPr>
            <a:r>
              <a:rPr lang="en-US"/>
              <a:t>Receiver assumes that some error occurred in the data during the transmission.</a:t>
            </a:r>
            <a:endParaRPr/>
          </a:p>
          <a:p>
            <a:pPr indent="-228600" lvl="1" marL="685800" rtl="0" algn="l">
              <a:lnSpc>
                <a:spcPct val="90000"/>
              </a:lnSpc>
              <a:spcBef>
                <a:spcPts val="500"/>
              </a:spcBef>
              <a:spcAft>
                <a:spcPts val="0"/>
              </a:spcAft>
              <a:buClr>
                <a:schemeClr val="dk1"/>
              </a:buClr>
              <a:buSzPts val="2400"/>
              <a:buChar char="•"/>
            </a:pPr>
            <a:r>
              <a:rPr lang="en-US"/>
              <a:t>Receiver rejects the data and asks the sender for retransmission.</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361950" lvl="1" marL="971550" rtl="0" algn="l">
              <a:lnSpc>
                <a:spcPct val="90000"/>
              </a:lnSpc>
              <a:spcBef>
                <a:spcPts val="500"/>
              </a:spcBef>
              <a:spcAft>
                <a:spcPts val="0"/>
              </a:spcAft>
              <a:buClr>
                <a:schemeClr val="dk1"/>
              </a:buClr>
              <a:buSzPts val="2400"/>
              <a:buFont typeface="Calibri"/>
              <a:buNone/>
            </a:pPr>
            <a:r>
              <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-CRC</a:t>
            </a:r>
            <a:endParaRPr/>
          </a:p>
        </p:txBody>
      </p:sp>
      <p:sp>
        <p:nvSpPr>
          <p:cNvPr id="172" name="Google Shape;17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word is 1001  and the  </a:t>
            </a:r>
            <a:r>
              <a:rPr b="1" lang="en-US">
                <a:solidFill>
                  <a:srgbClr val="FF0000"/>
                </a:solidFill>
              </a:rPr>
              <a:t>divisor is </a:t>
            </a:r>
            <a:r>
              <a:rPr lang="en-US">
                <a:solidFill>
                  <a:srgbClr val="FF0000"/>
                </a:solidFill>
              </a:rPr>
              <a:t>x</a:t>
            </a:r>
            <a:r>
              <a:rPr baseline="30000" lang="en-US">
                <a:solidFill>
                  <a:srgbClr val="FF0000"/>
                </a:solidFill>
              </a:rPr>
              <a:t>3</a:t>
            </a:r>
            <a:r>
              <a:rPr lang="en-US">
                <a:solidFill>
                  <a:srgbClr val="FF0000"/>
                </a:solidFill>
              </a:rPr>
              <a:t>+x+ 1</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t>The generator polynomial G(x) </a:t>
            </a:r>
            <a:r>
              <a:rPr lang="en-US">
                <a:solidFill>
                  <a:srgbClr val="FF0000"/>
                </a:solidFill>
              </a:rPr>
              <a:t>x</a:t>
            </a:r>
            <a:r>
              <a:rPr baseline="30000" lang="en-US">
                <a:solidFill>
                  <a:srgbClr val="FF0000"/>
                </a:solidFill>
              </a:rPr>
              <a:t>3</a:t>
            </a:r>
            <a:r>
              <a:rPr lang="en-US">
                <a:solidFill>
                  <a:srgbClr val="FF0000"/>
                </a:solidFill>
              </a:rPr>
              <a:t>+x+ 1 </a:t>
            </a:r>
            <a:r>
              <a:rPr lang="en-US"/>
              <a:t>(x</a:t>
            </a:r>
            <a:r>
              <a:rPr baseline="30000" lang="en-US"/>
              <a:t>3</a:t>
            </a:r>
            <a:r>
              <a:rPr lang="en-US"/>
              <a:t> + 0x</a:t>
            </a:r>
            <a:r>
              <a:rPr baseline="30000" lang="en-US"/>
              <a:t>2</a:t>
            </a:r>
            <a:r>
              <a:rPr lang="en-US"/>
              <a:t> + x + 1 )is encoded as </a:t>
            </a:r>
            <a:r>
              <a:rPr b="1" lang="en-US"/>
              <a:t>1011 .</a:t>
            </a:r>
            <a:endParaRPr b="1"/>
          </a:p>
          <a:p>
            <a:pPr indent="-228600" lvl="0" marL="228600" rtl="0" algn="l">
              <a:lnSpc>
                <a:spcPct val="90000"/>
              </a:lnSpc>
              <a:spcBef>
                <a:spcPts val="1000"/>
              </a:spcBef>
              <a:spcAft>
                <a:spcPts val="0"/>
              </a:spcAft>
              <a:buClr>
                <a:schemeClr val="dk1"/>
              </a:buClr>
              <a:buSzPts val="2800"/>
              <a:buChar char="•"/>
            </a:pPr>
            <a:r>
              <a:rPr lang="en-US"/>
              <a:t>The generator polynomial consists of 4 bits.</a:t>
            </a:r>
            <a:endParaRPr/>
          </a:p>
          <a:p>
            <a:pPr indent="-228600" lvl="0" marL="228600" rtl="0" algn="l">
              <a:lnSpc>
                <a:spcPct val="90000"/>
              </a:lnSpc>
              <a:spcBef>
                <a:spcPts val="1000"/>
              </a:spcBef>
              <a:spcAft>
                <a:spcPts val="0"/>
              </a:spcAft>
              <a:buClr>
                <a:schemeClr val="dk1"/>
              </a:buClr>
              <a:buSzPts val="2800"/>
              <a:buChar char="•"/>
            </a:pPr>
            <a:r>
              <a:rPr lang="en-US"/>
              <a:t>So, a string of 3 zeroes is appended to the bit stream to be transmitted.</a:t>
            </a:r>
            <a:endParaRPr/>
          </a:p>
          <a:p>
            <a:pPr indent="-228600" lvl="0" marL="228600" rtl="0" algn="l">
              <a:lnSpc>
                <a:spcPct val="90000"/>
              </a:lnSpc>
              <a:spcBef>
                <a:spcPts val="1000"/>
              </a:spcBef>
              <a:spcAft>
                <a:spcPts val="0"/>
              </a:spcAft>
              <a:buClr>
                <a:schemeClr val="dk1"/>
              </a:buClr>
              <a:buSzPts val="2800"/>
              <a:buChar char="•"/>
            </a:pPr>
            <a:r>
              <a:rPr lang="en-US"/>
              <a:t>The resulting bit stream is 1001</a:t>
            </a:r>
            <a:r>
              <a:rPr b="1" lang="en-US"/>
              <a:t>000</a:t>
            </a:r>
            <a:r>
              <a:rPr lang="en-US"/>
              <a:t>.</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1981200" y="0"/>
            <a:ext cx="8229600" cy="457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i="1" lang="en-US" sz="3200"/>
              <a:t>At   sender </a:t>
            </a:r>
            <a:endParaRPr sz="3200"/>
          </a:p>
        </p:txBody>
      </p:sp>
      <p:pic>
        <p:nvPicPr>
          <p:cNvPr id="178" name="Google Shape;178;p16"/>
          <p:cNvPicPr preferRelativeResize="0"/>
          <p:nvPr>
            <p:ph idx="1" type="body"/>
          </p:nvPr>
        </p:nvPicPr>
        <p:blipFill rotWithShape="1">
          <a:blip r:embed="rId3">
            <a:alphaModFix/>
          </a:blip>
          <a:srcRect b="0" l="0" r="0" t="0"/>
          <a:stretch/>
        </p:blipFill>
        <p:spPr>
          <a:xfrm>
            <a:off x="1524000" y="533400"/>
            <a:ext cx="9144000" cy="6324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At receiver </a:t>
            </a:r>
            <a:endParaRPr/>
          </a:p>
        </p:txBody>
      </p:sp>
      <p:pic>
        <p:nvPicPr>
          <p:cNvPr id="184" name="Google Shape;184;p17"/>
          <p:cNvPicPr preferRelativeResize="0"/>
          <p:nvPr>
            <p:ph idx="1" type="body"/>
          </p:nvPr>
        </p:nvPicPr>
        <p:blipFill rotWithShape="1">
          <a:blip r:embed="rId3">
            <a:alphaModFix/>
          </a:blip>
          <a:srcRect b="0" l="0" r="0" t="0"/>
          <a:stretch/>
        </p:blipFill>
        <p:spPr>
          <a:xfrm>
            <a:off x="2866031" y="1269242"/>
            <a:ext cx="6086900" cy="48466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lang="en-US" sz="3200">
                <a:latin typeface="Calibri"/>
                <a:ea typeface="Calibri"/>
                <a:cs typeface="Calibri"/>
                <a:sym typeface="Calibri"/>
              </a:rPr>
              <a:t>Suppose in previous example  the fourth  bit from the left is inverted during transmission. Show that this error is detected at the receiver's end.</a:t>
            </a:r>
            <a:endParaRPr/>
          </a:p>
        </p:txBody>
      </p:sp>
      <p:pic>
        <p:nvPicPr>
          <p:cNvPr id="190" name="Google Shape;190;p18"/>
          <p:cNvPicPr preferRelativeResize="0"/>
          <p:nvPr>
            <p:ph idx="1" type="body"/>
          </p:nvPr>
        </p:nvPicPr>
        <p:blipFill rotWithShape="1">
          <a:blip r:embed="rId3">
            <a:alphaModFix/>
          </a:blip>
          <a:srcRect b="0" l="0" r="0" t="0"/>
          <a:stretch/>
        </p:blipFill>
        <p:spPr>
          <a:xfrm>
            <a:off x="3562066" y="1924844"/>
            <a:ext cx="4115084" cy="49331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-CRC</a:t>
            </a:r>
            <a:endParaRPr/>
          </a:p>
        </p:txBody>
      </p:sp>
      <p:sp>
        <p:nvSpPr>
          <p:cNvPr id="196" name="Google Shape;196;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b="1" lang="en-US">
                <a:solidFill>
                  <a:srgbClr val="FF0000"/>
                </a:solidFill>
              </a:rPr>
              <a:t>Suppose the original data is 11100 and divisor is </a:t>
            </a:r>
            <a:r>
              <a:rPr lang="en-US">
                <a:solidFill>
                  <a:srgbClr val="FF0000"/>
                </a:solidFill>
              </a:rPr>
              <a:t>x</a:t>
            </a:r>
            <a:r>
              <a:rPr baseline="30000" lang="en-US">
                <a:solidFill>
                  <a:srgbClr val="FF0000"/>
                </a:solidFill>
              </a:rPr>
              <a:t>3</a:t>
            </a:r>
            <a:r>
              <a:rPr lang="en-US">
                <a:solidFill>
                  <a:srgbClr val="FF0000"/>
                </a:solidFill>
              </a:rPr>
              <a:t> + 1</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generator polynomial G(x) x</a:t>
            </a:r>
            <a:r>
              <a:rPr baseline="30000" lang="en-US"/>
              <a:t>3</a:t>
            </a:r>
            <a:r>
              <a:rPr lang="en-US"/>
              <a:t> + 1   (x</a:t>
            </a:r>
            <a:r>
              <a:rPr baseline="30000" lang="en-US"/>
              <a:t>3</a:t>
            </a:r>
            <a:r>
              <a:rPr lang="en-US"/>
              <a:t> + 0x</a:t>
            </a:r>
            <a:r>
              <a:rPr baseline="30000" lang="en-US"/>
              <a:t>2</a:t>
            </a:r>
            <a:r>
              <a:rPr lang="en-US"/>
              <a:t> + 0x</a:t>
            </a:r>
            <a:r>
              <a:rPr baseline="30000" lang="en-US"/>
              <a:t>1</a:t>
            </a:r>
            <a:r>
              <a:rPr lang="en-US"/>
              <a:t> + 1 )is encoded as </a:t>
            </a:r>
            <a:r>
              <a:rPr b="1" lang="en-US"/>
              <a:t>1001.</a:t>
            </a:r>
            <a:endParaRPr/>
          </a:p>
          <a:p>
            <a:pPr indent="-228600" lvl="0" marL="228600" rtl="0" algn="l">
              <a:lnSpc>
                <a:spcPct val="90000"/>
              </a:lnSpc>
              <a:spcBef>
                <a:spcPts val="1000"/>
              </a:spcBef>
              <a:spcAft>
                <a:spcPts val="0"/>
              </a:spcAft>
              <a:buClr>
                <a:schemeClr val="dk1"/>
              </a:buClr>
              <a:buSzPts val="2800"/>
              <a:buChar char="•"/>
            </a:pPr>
            <a:r>
              <a:rPr lang="en-US"/>
              <a:t>Clearly, the generator polynomial consists of 4 bits.</a:t>
            </a:r>
            <a:endParaRPr/>
          </a:p>
          <a:p>
            <a:pPr indent="-228600" lvl="0" marL="228600" rtl="0" algn="l">
              <a:lnSpc>
                <a:spcPct val="90000"/>
              </a:lnSpc>
              <a:spcBef>
                <a:spcPts val="1000"/>
              </a:spcBef>
              <a:spcAft>
                <a:spcPts val="0"/>
              </a:spcAft>
              <a:buClr>
                <a:schemeClr val="dk1"/>
              </a:buClr>
              <a:buSzPts val="2800"/>
              <a:buChar char="•"/>
            </a:pPr>
            <a:r>
              <a:rPr lang="en-US"/>
              <a:t>So, a string of 3 zeroes is appended to the bit stream to be transmitted.</a:t>
            </a:r>
            <a:endParaRPr/>
          </a:p>
          <a:p>
            <a:pPr indent="-228600" lvl="0" marL="228600" rtl="0" algn="l">
              <a:lnSpc>
                <a:spcPct val="90000"/>
              </a:lnSpc>
              <a:spcBef>
                <a:spcPts val="1000"/>
              </a:spcBef>
              <a:spcAft>
                <a:spcPts val="0"/>
              </a:spcAft>
              <a:buClr>
                <a:schemeClr val="dk1"/>
              </a:buClr>
              <a:buSzPts val="2800"/>
              <a:buChar char="•"/>
            </a:pPr>
            <a:r>
              <a:rPr lang="en-US"/>
              <a:t>The resulting bit stream is </a:t>
            </a:r>
            <a:r>
              <a:rPr b="1" lang="en-US"/>
              <a:t>11100000</a:t>
            </a:r>
            <a:r>
              <a:rPr lang="en-US"/>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0"/>
          <p:cNvPicPr preferRelativeResize="0"/>
          <p:nvPr>
            <p:ph idx="4294967295" type="body"/>
          </p:nvPr>
        </p:nvPicPr>
        <p:blipFill rotWithShape="1">
          <a:blip r:embed="rId3">
            <a:alphaModFix/>
          </a:blip>
          <a:srcRect b="0" l="0" r="0" t="0"/>
          <a:stretch/>
        </p:blipFill>
        <p:spPr>
          <a:xfrm>
            <a:off x="2497541" y="827136"/>
            <a:ext cx="4720562" cy="3731216"/>
          </a:xfrm>
          <a:prstGeom prst="rect">
            <a:avLst/>
          </a:prstGeom>
          <a:noFill/>
          <a:ln>
            <a:noFill/>
          </a:ln>
        </p:spPr>
      </p:pic>
      <p:sp>
        <p:nvSpPr>
          <p:cNvPr id="202" name="Google Shape;202;p20"/>
          <p:cNvSpPr/>
          <p:nvPr/>
        </p:nvSpPr>
        <p:spPr>
          <a:xfrm>
            <a:off x="2169994" y="5028147"/>
            <a:ext cx="8215951" cy="646331"/>
          </a:xfrm>
          <a:prstGeom prst="rect">
            <a:avLst/>
          </a:prstGeom>
          <a:noFill/>
          <a:ln>
            <a:noFill/>
          </a:ln>
        </p:spPr>
        <p:txBody>
          <a:bodyPr anchorCtr="0" anchor="t" bIns="45700" lIns="91425" spcFirstLastPara="1" rIns="91425" wrap="square" tIns="45700">
            <a:spAutoFit/>
          </a:bodyPr>
          <a:lstStyle/>
          <a:p>
            <a:pPr indent="-114300" lvl="0" marL="0" marR="0" rtl="0" algn="just">
              <a:spcBef>
                <a:spcPts val="0"/>
              </a:spcBef>
              <a:spcAft>
                <a:spcPts val="0"/>
              </a:spcAft>
              <a:buClr>
                <a:srgbClr val="000000"/>
              </a:buClr>
              <a:buSzPts val="1800"/>
              <a:buFont typeface="Arial"/>
              <a:buChar char="•"/>
            </a:pPr>
            <a:r>
              <a:rPr b="0" i="0" lang="en-US" sz="1800" u="none" cap="none" strike="noStrike">
                <a:solidFill>
                  <a:srgbClr val="000000"/>
                </a:solidFill>
                <a:latin typeface="Inter"/>
                <a:ea typeface="Inter"/>
                <a:cs typeface="Inter"/>
                <a:sym typeface="Inter"/>
              </a:rPr>
              <a:t>CRC remainder replaces the appended string of 0s at the end of the data unit, and the final string would be 11100111 which is sent across the network.</a:t>
            </a:r>
            <a:endParaRPr b="0" i="0" sz="1800" u="none" cap="none" strike="noStrike">
              <a:solidFill>
                <a:srgbClr val="000000"/>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21"/>
          <p:cNvPicPr preferRelativeResize="0"/>
          <p:nvPr/>
        </p:nvPicPr>
        <p:blipFill rotWithShape="1">
          <a:blip r:embed="rId3">
            <a:alphaModFix/>
          </a:blip>
          <a:srcRect b="0" l="0" r="0" t="0"/>
          <a:stretch/>
        </p:blipFill>
        <p:spPr>
          <a:xfrm>
            <a:off x="2938818" y="1021503"/>
            <a:ext cx="4878790" cy="3343702"/>
          </a:xfrm>
          <a:prstGeom prst="rect">
            <a:avLst/>
          </a:prstGeom>
          <a:noFill/>
          <a:ln>
            <a:noFill/>
          </a:ln>
        </p:spPr>
      </p:pic>
      <p:sp>
        <p:nvSpPr>
          <p:cNvPr id="208" name="Google Shape;208;p21"/>
          <p:cNvSpPr txBox="1"/>
          <p:nvPr/>
        </p:nvSpPr>
        <p:spPr>
          <a:xfrm>
            <a:off x="3493827" y="436728"/>
            <a:ext cx="45992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Calibri"/>
                <a:ea typeface="Calibri"/>
                <a:cs typeface="Calibri"/>
                <a:sym typeface="Calibri"/>
              </a:rPr>
              <a:t>At Receiver </a:t>
            </a:r>
            <a:endParaRPr sz="3200">
              <a:solidFill>
                <a:schemeClr val="dk1"/>
              </a:solidFill>
              <a:latin typeface="Calibri"/>
              <a:ea typeface="Calibri"/>
              <a:cs typeface="Calibri"/>
              <a:sym typeface="Calibri"/>
            </a:endParaRPr>
          </a:p>
        </p:txBody>
      </p:sp>
      <p:sp>
        <p:nvSpPr>
          <p:cNvPr id="209" name="Google Shape;209;p21"/>
          <p:cNvSpPr/>
          <p:nvPr/>
        </p:nvSpPr>
        <p:spPr>
          <a:xfrm>
            <a:off x="1119116" y="5180295"/>
            <a:ext cx="93896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Inter"/>
                <a:ea typeface="Inter"/>
                <a:cs typeface="Inter"/>
                <a:sym typeface="Inter"/>
              </a:rPr>
              <a:t>CRC checker generates the remainder of zero. Therefore, the data is accepted.</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Questions</a:t>
            </a:r>
            <a:endParaRPr/>
          </a:p>
        </p:txBody>
      </p:sp>
      <p:sp>
        <p:nvSpPr>
          <p:cNvPr id="215" name="Google Shape;21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What is the remainder obtained by dividing x7 + x5 + 1 by the generator polynomial x</a:t>
            </a:r>
            <a:r>
              <a:rPr baseline="30000" lang="en-US"/>
              <a:t>3</a:t>
            </a:r>
            <a:r>
              <a:rPr lang="en-US"/>
              <a:t> + 1?</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 bit stream 10011101 is transmitted using the standard CRC method. The generator polynomial is x</a:t>
            </a:r>
            <a:r>
              <a:rPr baseline="30000" lang="en-US"/>
              <a:t>3</a:t>
            </a:r>
            <a:r>
              <a:rPr lang="en-US"/>
              <a:t> + 1. Show the actual bit string transmitted. </a:t>
            </a:r>
            <a:endParaRPr/>
          </a:p>
          <a:p>
            <a:pPr indent="0" lvl="0" marL="0" rtl="0" algn="l">
              <a:lnSpc>
                <a:spcPct val="90000"/>
              </a:lnSpc>
              <a:spcBef>
                <a:spcPts val="1000"/>
              </a:spcBef>
              <a:spcAft>
                <a:spcPts val="0"/>
              </a:spcAft>
              <a:buClr>
                <a:schemeClr val="dk1"/>
              </a:buClr>
              <a:buSzPts val="2800"/>
              <a:buNone/>
            </a:pPr>
            <a:r>
              <a:rPr lang="en-US"/>
              <a:t>     Suppose the third bit from the left is inverted during transmission.       Show that this error is detected at the receiver's end.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Questions</a:t>
            </a:r>
            <a:endParaRPr/>
          </a:p>
        </p:txBody>
      </p:sp>
      <p:sp>
        <p:nvSpPr>
          <p:cNvPr id="221" name="Google Shape;22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41020" lvl="0" marL="514350" rtl="0" algn="l">
              <a:lnSpc>
                <a:spcPct val="90000"/>
              </a:lnSpc>
              <a:spcBef>
                <a:spcPts val="0"/>
              </a:spcBef>
              <a:spcAft>
                <a:spcPts val="0"/>
              </a:spcAft>
              <a:buClr>
                <a:schemeClr val="dk1"/>
              </a:buClr>
              <a:buSzPts val="2800"/>
              <a:buFont typeface="Calibri"/>
              <a:buAutoNum type="arabicPeriod"/>
            </a:pPr>
            <a:r>
              <a:rPr lang="en-US"/>
              <a:t>What is the remainder obtained by dividing x7 + x5 + 1 by the generator polynomial x3 + 1?</a:t>
            </a:r>
            <a:endParaRPr/>
          </a:p>
          <a:p>
            <a:pPr indent="0" lvl="0" marL="0" rtl="0" algn="l">
              <a:lnSpc>
                <a:spcPct val="90000"/>
              </a:lnSpc>
              <a:spcBef>
                <a:spcPts val="1000"/>
              </a:spcBef>
              <a:spcAft>
                <a:spcPts val="0"/>
              </a:spcAft>
              <a:buClr>
                <a:schemeClr val="dk1"/>
              </a:buClr>
              <a:buSzPts val="2800"/>
              <a:buNone/>
            </a:pPr>
            <a:r>
              <a:rPr lang="en-US"/>
              <a:t>The remainder is </a:t>
            </a:r>
            <a:r>
              <a:rPr i="1" lang="en-US"/>
              <a:t>x </a:t>
            </a:r>
            <a:r>
              <a:rPr lang="en-US"/>
              <a:t>2 + </a:t>
            </a:r>
            <a:r>
              <a:rPr i="1" lang="en-US"/>
              <a:t>x </a:t>
            </a:r>
            <a:r>
              <a:rPr lang="en-US"/>
              <a:t>+ 1</a:t>
            </a:r>
            <a:r>
              <a:rPr i="1" lang="en-US"/>
              <a:t>.</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7dadb1a2a4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Questions</a:t>
            </a:r>
            <a:endParaRPr/>
          </a:p>
        </p:txBody>
      </p:sp>
      <p:sp>
        <p:nvSpPr>
          <p:cNvPr id="227" name="Google Shape;227;g17dadb1a2a4_0_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92500" lnSpcReduction="20000"/>
          </a:bodyPr>
          <a:lstStyle/>
          <a:p>
            <a:pPr indent="0" lvl="0" marL="228600" rtl="0" algn="l">
              <a:lnSpc>
                <a:spcPct val="90000"/>
              </a:lnSpc>
              <a:spcBef>
                <a:spcPts val="1000"/>
              </a:spcBef>
              <a:spcAft>
                <a:spcPts val="0"/>
              </a:spcAft>
              <a:buNone/>
            </a:pPr>
            <a:r>
              <a:rPr lang="en-US"/>
              <a:t>.A bit stream 10011101 is transmitted using the standard CRC method described in the text. The generator polynomial is x3 + 1. Show the actual bit string transmitted. Suppose the third bit from the left is inverted during transmission. Show that this error is detected at the receiver's end.</a:t>
            </a:r>
            <a:endParaRPr/>
          </a:p>
          <a:p>
            <a:pPr indent="0" lvl="0" marL="228600" rtl="0" algn="l">
              <a:lnSpc>
                <a:spcPct val="90000"/>
              </a:lnSpc>
              <a:spcBef>
                <a:spcPts val="1000"/>
              </a:spcBef>
              <a:spcAft>
                <a:spcPts val="0"/>
              </a:spcAft>
              <a:buNone/>
            </a:pPr>
            <a:r>
              <a:rPr lang="en-US"/>
              <a:t>Ans :</a:t>
            </a:r>
            <a:endParaRPr/>
          </a:p>
          <a:p>
            <a:pPr indent="0" lvl="0" marL="0" rtl="0" algn="l">
              <a:lnSpc>
                <a:spcPct val="90000"/>
              </a:lnSpc>
              <a:spcBef>
                <a:spcPts val="1000"/>
              </a:spcBef>
              <a:spcAft>
                <a:spcPts val="0"/>
              </a:spcAft>
              <a:buClr>
                <a:schemeClr val="dk1"/>
              </a:buClr>
              <a:buSzPct val="100000"/>
              <a:buNone/>
            </a:pPr>
            <a:r>
              <a:rPr lang="en-US"/>
              <a:t>The frame is 10011101. The generator is 1001. The message after appending three zeros is 10011101000. The remainder on dividing 10011101000 by 1001 is 100. So, the actual bit string transmitted is 10011101100. The received bit stream with an error in the third bit from the left is 10111101100. Dividing this by 1001 produces a remainder of 100, which is different from 0.Thus, the receiver detects the error and can ask for a  retransmission. If the transmitted bit stream is converted to any multiple of 1001, the error will not be  detected. A trivial example is if all ones in the bit stream are inverted to zeros.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17dadb1a2a4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Questions</a:t>
            </a:r>
            <a:endParaRPr/>
          </a:p>
        </p:txBody>
      </p:sp>
      <p:sp>
        <p:nvSpPr>
          <p:cNvPr id="233" name="Google Shape;233;g17dadb1a2a4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 bit stream 10101010 is transmitted using the standard CRC method. The generator polynomial is x3 +x2 +1. Show the actual bit string transmitted. Suppose the second bit from the left is inverted during transmission. Show that this error is detected at the receiver’s end.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link protocols almost always put the CRC in a trailer rather than in a header. Why?</a:t>
            </a:r>
            <a:endParaRPr/>
          </a:p>
        </p:txBody>
      </p:sp>
      <p:sp>
        <p:nvSpPr>
          <p:cNvPr id="239" name="Google Shape;23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CRC is computed during transmission and appended to the output stream as soon as the last bit goes out onto the wire. If the CRC were in the header, it would be necessary to make a pass over the frame to compute the CRC before transmitting. This would require each byte to be handled twice— once for checksumming and once for transmitting. Using the trailer cuts the work in half.</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Parity Check</a:t>
            </a:r>
            <a:br>
              <a:rPr lang="en-US"/>
            </a:br>
            <a:endParaRPr/>
          </a:p>
        </p:txBody>
      </p:sp>
      <p:sp>
        <p:nvSpPr>
          <p:cNvPr id="245" name="Google Shape;24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parity check is done by adding an extra bit, called </a:t>
            </a:r>
            <a:r>
              <a:rPr lang="en-US">
                <a:solidFill>
                  <a:srgbClr val="FF0000"/>
                </a:solidFill>
              </a:rPr>
              <a:t>parity bit</a:t>
            </a:r>
            <a:r>
              <a:rPr lang="en-US"/>
              <a:t> to the original data  .</a:t>
            </a:r>
            <a:endParaRPr/>
          </a:p>
          <a:p>
            <a:pPr indent="-228600" lvl="0" marL="228600" rtl="0" algn="l">
              <a:lnSpc>
                <a:spcPct val="90000"/>
              </a:lnSpc>
              <a:spcBef>
                <a:spcPts val="1000"/>
              </a:spcBef>
              <a:spcAft>
                <a:spcPts val="0"/>
              </a:spcAft>
              <a:buClr>
                <a:schemeClr val="dk1"/>
              </a:buClr>
              <a:buSzPts val="2800"/>
              <a:buChar char="•"/>
            </a:pPr>
            <a:r>
              <a:rPr lang="en-US"/>
              <a:t>Parity bit helps to check if any error occurred in the data during the transmission.</a:t>
            </a:r>
            <a:endParaRPr/>
          </a:p>
          <a:p>
            <a:pPr indent="-228600" lvl="0" marL="228600" rtl="0" algn="l">
              <a:lnSpc>
                <a:spcPct val="90000"/>
              </a:lnSpc>
              <a:spcBef>
                <a:spcPts val="1000"/>
              </a:spcBef>
              <a:spcAft>
                <a:spcPts val="0"/>
              </a:spcAft>
              <a:buClr>
                <a:schemeClr val="dk1"/>
              </a:buClr>
              <a:buSzPts val="2800"/>
              <a:buChar char="•"/>
            </a:pPr>
            <a:r>
              <a:rPr lang="en-US"/>
              <a:t>The two types of parity checking are</a:t>
            </a:r>
            <a:endParaRPr/>
          </a:p>
          <a:p>
            <a:pPr indent="-457200" lvl="1" marL="914400" rtl="0" algn="l">
              <a:lnSpc>
                <a:spcPct val="90000"/>
              </a:lnSpc>
              <a:spcBef>
                <a:spcPts val="500"/>
              </a:spcBef>
              <a:spcAft>
                <a:spcPts val="0"/>
              </a:spcAft>
              <a:buClr>
                <a:schemeClr val="dk1"/>
              </a:buClr>
              <a:buSzPts val="3200"/>
              <a:buFont typeface="Calibri"/>
              <a:buAutoNum type="arabicPeriod"/>
            </a:pPr>
            <a:r>
              <a:rPr b="1" lang="en-US" sz="3200"/>
              <a:t>Even Parity</a:t>
            </a:r>
            <a:r>
              <a:rPr lang="en-US" sz="3200"/>
              <a:t> </a:t>
            </a:r>
            <a:endParaRPr sz="3200"/>
          </a:p>
          <a:p>
            <a:pPr indent="-457200" lvl="1" marL="914400" rtl="0" algn="l">
              <a:lnSpc>
                <a:spcPct val="90000"/>
              </a:lnSpc>
              <a:spcBef>
                <a:spcPts val="500"/>
              </a:spcBef>
              <a:spcAft>
                <a:spcPts val="0"/>
              </a:spcAft>
              <a:buClr>
                <a:schemeClr val="dk1"/>
              </a:buClr>
              <a:buSzPts val="3200"/>
              <a:buFont typeface="Calibri"/>
              <a:buAutoNum type="arabicPeriod"/>
            </a:pPr>
            <a:r>
              <a:rPr b="1" lang="en-US" sz="3200"/>
              <a:t>Odd Parity</a:t>
            </a:r>
            <a:r>
              <a:rPr lang="en-US" sz="3200"/>
              <a:t> </a:t>
            </a:r>
            <a:endParaRPr sz="32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Parity Check</a:t>
            </a:r>
            <a:br>
              <a:rPr lang="en-US"/>
            </a:br>
            <a:endParaRPr/>
          </a:p>
        </p:txBody>
      </p:sp>
      <p:sp>
        <p:nvSpPr>
          <p:cNvPr id="251" name="Google Shape;25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two types of parity checking are</a:t>
            </a:r>
            <a:endParaRPr/>
          </a:p>
          <a:p>
            <a:pPr indent="-228600" lvl="0" marL="228600" rtl="0" algn="l">
              <a:lnSpc>
                <a:spcPct val="90000"/>
              </a:lnSpc>
              <a:spcBef>
                <a:spcPts val="1000"/>
              </a:spcBef>
              <a:spcAft>
                <a:spcPts val="0"/>
              </a:spcAft>
              <a:buClr>
                <a:schemeClr val="dk1"/>
              </a:buClr>
              <a:buSzPts val="2800"/>
              <a:buChar char="•"/>
            </a:pPr>
            <a:r>
              <a:rPr b="1" lang="en-US"/>
              <a:t>Even Parity</a:t>
            </a:r>
            <a:r>
              <a:rPr lang="en-US"/>
              <a:t> − The total number of 1’s in the data unit is made even in case of even parity.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Odd Parity</a:t>
            </a:r>
            <a:r>
              <a:rPr lang="en-US"/>
              <a:t> − The total number of 1’s in the data unit is made odd in case of odd parity.</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838200" y="365125"/>
            <a:ext cx="10515600" cy="76763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Steps at sender</a:t>
            </a:r>
            <a:endParaRPr/>
          </a:p>
        </p:txBody>
      </p:sp>
      <p:sp>
        <p:nvSpPr>
          <p:cNvPr id="257" name="Google Shape;257;p27"/>
          <p:cNvSpPr txBox="1"/>
          <p:nvPr>
            <p:ph idx="1" type="body"/>
          </p:nvPr>
        </p:nvSpPr>
        <p:spPr>
          <a:xfrm>
            <a:off x="838200" y="1310185"/>
            <a:ext cx="10515600" cy="4866778"/>
          </a:xfrm>
          <a:prstGeom prst="rect">
            <a:avLst/>
          </a:prstGeom>
          <a:noFill/>
          <a:ln>
            <a:noFill/>
          </a:ln>
        </p:spPr>
        <p:txBody>
          <a:bodyPr anchorCtr="0" anchor="t" bIns="45700" lIns="91425" spcFirstLastPara="1" rIns="91425" wrap="square" tIns="45700">
            <a:normAutofit/>
          </a:bodyPr>
          <a:lstStyle/>
          <a:p>
            <a:pPr indent="-514350" lvl="1" marL="971550" rtl="0" algn="l">
              <a:lnSpc>
                <a:spcPct val="150000"/>
              </a:lnSpc>
              <a:spcBef>
                <a:spcPts val="0"/>
              </a:spcBef>
              <a:spcAft>
                <a:spcPts val="0"/>
              </a:spcAft>
              <a:buClr>
                <a:schemeClr val="dk1"/>
              </a:buClr>
              <a:buSzPts val="2600"/>
              <a:buFont typeface="Calibri"/>
              <a:buAutoNum type="arabicPeriod"/>
            </a:pPr>
            <a:r>
              <a:rPr lang="en-US" sz="2600"/>
              <a:t>Total number of 1’s in the data unit to be transmitted is counted.</a:t>
            </a:r>
            <a:endParaRPr/>
          </a:p>
          <a:p>
            <a:pPr indent="-514350" lvl="1" marL="971550" rtl="0" algn="l">
              <a:lnSpc>
                <a:spcPct val="150000"/>
              </a:lnSpc>
              <a:spcBef>
                <a:spcPts val="500"/>
              </a:spcBef>
              <a:spcAft>
                <a:spcPts val="0"/>
              </a:spcAft>
              <a:buClr>
                <a:schemeClr val="dk1"/>
              </a:buClr>
              <a:buSzPts val="2600"/>
              <a:buFont typeface="Calibri"/>
              <a:buAutoNum type="arabicPeriod"/>
            </a:pPr>
            <a:r>
              <a:rPr lang="en-US" sz="2600"/>
              <a:t>The total number of 1’s in the data unit is made even in case of even parity or </a:t>
            </a:r>
            <a:endParaRPr sz="2600"/>
          </a:p>
          <a:p>
            <a:pPr indent="-514350" lvl="1" marL="971550" rtl="0" algn="l">
              <a:lnSpc>
                <a:spcPct val="150000"/>
              </a:lnSpc>
              <a:spcBef>
                <a:spcPts val="500"/>
              </a:spcBef>
              <a:spcAft>
                <a:spcPts val="0"/>
              </a:spcAft>
              <a:buClr>
                <a:schemeClr val="dk1"/>
              </a:buClr>
              <a:buSzPts val="2600"/>
              <a:buFont typeface="Calibri"/>
              <a:buAutoNum type="arabicPeriod"/>
            </a:pPr>
            <a:r>
              <a:rPr lang="en-US" sz="2600"/>
              <a:t>The total number of 1’s in the data unit is made odd in case of odd parity.This is done by adding an extra bit called as </a:t>
            </a:r>
            <a:r>
              <a:rPr b="1" lang="en-US" sz="2600"/>
              <a:t>parity bit</a:t>
            </a:r>
            <a:r>
              <a:rPr lang="en-US" sz="2600"/>
              <a:t>.</a:t>
            </a:r>
            <a:endParaRPr/>
          </a:p>
          <a:p>
            <a:pPr indent="-457200" lvl="1" marL="914400" rtl="0" algn="l">
              <a:lnSpc>
                <a:spcPct val="150000"/>
              </a:lnSpc>
              <a:spcBef>
                <a:spcPts val="500"/>
              </a:spcBef>
              <a:spcAft>
                <a:spcPts val="0"/>
              </a:spcAft>
              <a:buClr>
                <a:schemeClr val="dk1"/>
              </a:buClr>
              <a:buSzPts val="2400"/>
              <a:buFont typeface="Calibri"/>
              <a:buAutoNum type="arabicPeriod"/>
            </a:pPr>
            <a:r>
              <a:rPr lang="en-US"/>
              <a:t>The newly formed code word (Original data + parity bit) is transmitted to the receiver. </a:t>
            </a:r>
            <a:endParaRPr/>
          </a:p>
          <a:p>
            <a:pPr indent="-304800" lvl="1" marL="914400" rtl="0" algn="l">
              <a:lnSpc>
                <a:spcPct val="90000"/>
              </a:lnSpc>
              <a:spcBef>
                <a:spcPts val="500"/>
              </a:spcBef>
              <a:spcAft>
                <a:spcPts val="0"/>
              </a:spcAft>
              <a:buClr>
                <a:schemeClr val="dk1"/>
              </a:buClr>
              <a:buSzPts val="2400"/>
              <a:buFont typeface="Calibri"/>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838200" y="365125"/>
            <a:ext cx="10515600" cy="76763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Steps at Receiver</a:t>
            </a:r>
            <a:endParaRPr/>
          </a:p>
        </p:txBody>
      </p:sp>
      <p:sp>
        <p:nvSpPr>
          <p:cNvPr id="263" name="Google Shape;263;p28"/>
          <p:cNvSpPr txBox="1"/>
          <p:nvPr>
            <p:ph idx="1" type="body"/>
          </p:nvPr>
        </p:nvSpPr>
        <p:spPr>
          <a:xfrm>
            <a:off x="838200" y="1132764"/>
            <a:ext cx="10515600" cy="5044199"/>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At receiver side,</a:t>
            </a:r>
            <a:endParaRPr/>
          </a:p>
          <a:p>
            <a:pPr indent="-228600" lvl="1" marL="685800" rtl="0" algn="l">
              <a:lnSpc>
                <a:spcPct val="90000"/>
              </a:lnSpc>
              <a:spcBef>
                <a:spcPts val="500"/>
              </a:spcBef>
              <a:spcAft>
                <a:spcPts val="0"/>
              </a:spcAft>
              <a:buClr>
                <a:schemeClr val="dk1"/>
              </a:buClr>
              <a:buSzPct val="100000"/>
              <a:buChar char="•"/>
            </a:pPr>
            <a:r>
              <a:rPr lang="en-US"/>
              <a:t>Receiver receives the transmitted code word.</a:t>
            </a:r>
            <a:endParaRPr/>
          </a:p>
          <a:p>
            <a:pPr indent="-228600" lvl="1" marL="685800" rtl="0" algn="l">
              <a:lnSpc>
                <a:spcPct val="90000"/>
              </a:lnSpc>
              <a:spcBef>
                <a:spcPts val="500"/>
              </a:spcBef>
              <a:spcAft>
                <a:spcPts val="0"/>
              </a:spcAft>
              <a:buClr>
                <a:schemeClr val="dk1"/>
              </a:buClr>
              <a:buSzPct val="100000"/>
              <a:buChar char="•"/>
            </a:pPr>
            <a:r>
              <a:rPr lang="en-US"/>
              <a:t>The total number of 1’s in the received code word is counted.</a:t>
            </a:r>
            <a:endParaRPr/>
          </a:p>
          <a:p>
            <a:pPr indent="0" lvl="1" marL="457200" rtl="0" algn="l">
              <a:lnSpc>
                <a:spcPct val="90000"/>
              </a:lnSpc>
              <a:spcBef>
                <a:spcPts val="500"/>
              </a:spcBef>
              <a:spcAft>
                <a:spcPts val="0"/>
              </a:spcAft>
              <a:buClr>
                <a:schemeClr val="dk1"/>
              </a:buClr>
              <a:buSzPct val="100000"/>
              <a:buNone/>
            </a:pPr>
            <a:r>
              <a:rPr lang="en-US"/>
              <a:t> </a:t>
            </a:r>
            <a:endParaRPr/>
          </a:p>
          <a:p>
            <a:pPr indent="-228600" lvl="0" marL="228600" rtl="0" algn="l">
              <a:lnSpc>
                <a:spcPct val="90000"/>
              </a:lnSpc>
              <a:spcBef>
                <a:spcPts val="1000"/>
              </a:spcBef>
              <a:spcAft>
                <a:spcPts val="0"/>
              </a:spcAft>
              <a:buClr>
                <a:schemeClr val="dk1"/>
              </a:buClr>
              <a:buSzPct val="100000"/>
              <a:buChar char="•"/>
            </a:pPr>
            <a:r>
              <a:rPr lang="en-US"/>
              <a:t>Then, following cases are possible-</a:t>
            </a:r>
            <a:endParaRPr/>
          </a:p>
          <a:p>
            <a:pPr indent="-228600" lvl="1" marL="685800" rtl="0" algn="l">
              <a:lnSpc>
                <a:spcPct val="90000"/>
              </a:lnSpc>
              <a:spcBef>
                <a:spcPts val="500"/>
              </a:spcBef>
              <a:spcAft>
                <a:spcPts val="0"/>
              </a:spcAft>
              <a:buClr>
                <a:schemeClr val="dk1"/>
              </a:buClr>
              <a:buSzPct val="100000"/>
              <a:buChar char="•"/>
            </a:pPr>
            <a:r>
              <a:rPr lang="en-US"/>
              <a:t>If total number of 1’s is even and </a:t>
            </a:r>
            <a:r>
              <a:rPr lang="en-US">
                <a:solidFill>
                  <a:srgbClr val="FF0000"/>
                </a:solidFill>
              </a:rPr>
              <a:t>even parity </a:t>
            </a:r>
            <a:r>
              <a:rPr lang="en-US"/>
              <a:t>is used, then receiver assumes that no error occurred.</a:t>
            </a:r>
            <a:endParaRPr/>
          </a:p>
          <a:p>
            <a:pPr indent="-228600" lvl="1" marL="685800" rtl="0" algn="l">
              <a:lnSpc>
                <a:spcPct val="90000"/>
              </a:lnSpc>
              <a:spcBef>
                <a:spcPts val="500"/>
              </a:spcBef>
              <a:spcAft>
                <a:spcPts val="0"/>
              </a:spcAft>
              <a:buClr>
                <a:schemeClr val="dk1"/>
              </a:buClr>
              <a:buSzPct val="100000"/>
              <a:buChar char="•"/>
            </a:pPr>
            <a:r>
              <a:rPr lang="en-US"/>
              <a:t>If total number of 1’s is odd and </a:t>
            </a:r>
            <a:r>
              <a:rPr lang="en-US">
                <a:solidFill>
                  <a:srgbClr val="FF0000"/>
                </a:solidFill>
              </a:rPr>
              <a:t>even parity </a:t>
            </a:r>
            <a:r>
              <a:rPr lang="en-US"/>
              <a:t>is used, then receiver assumes that error occurred.</a:t>
            </a:r>
            <a:endParaRPr/>
          </a:p>
          <a:p>
            <a:pPr indent="-87630" lvl="1" marL="685800" rtl="0" algn="l">
              <a:lnSpc>
                <a:spcPct val="90000"/>
              </a:lnSpc>
              <a:spcBef>
                <a:spcPts val="500"/>
              </a:spcBef>
              <a:spcAft>
                <a:spcPts val="0"/>
              </a:spcAft>
              <a:buClr>
                <a:schemeClr val="dk1"/>
              </a:buClr>
              <a:buSzPct val="100000"/>
              <a:buNone/>
            </a:pPr>
            <a:r>
              <a:t/>
            </a:r>
            <a:endParaRPr/>
          </a:p>
          <a:p>
            <a:pPr indent="-228600" lvl="1" marL="685800" rtl="0" algn="l">
              <a:lnSpc>
                <a:spcPct val="90000"/>
              </a:lnSpc>
              <a:spcBef>
                <a:spcPts val="500"/>
              </a:spcBef>
              <a:spcAft>
                <a:spcPts val="0"/>
              </a:spcAft>
              <a:buClr>
                <a:schemeClr val="dk1"/>
              </a:buClr>
              <a:buSzPct val="100000"/>
              <a:buChar char="•"/>
            </a:pPr>
            <a:r>
              <a:rPr lang="en-US"/>
              <a:t>If total number of 1’s is even and </a:t>
            </a:r>
            <a:r>
              <a:rPr lang="en-US">
                <a:solidFill>
                  <a:srgbClr val="FF0000"/>
                </a:solidFill>
              </a:rPr>
              <a:t>odd parity </a:t>
            </a:r>
            <a:r>
              <a:rPr lang="en-US"/>
              <a:t>is used, then receiver assumes that error occurred.</a:t>
            </a:r>
            <a:endParaRPr/>
          </a:p>
          <a:p>
            <a:pPr indent="-228600" lvl="1" marL="685800" rtl="0" algn="l">
              <a:lnSpc>
                <a:spcPct val="90000"/>
              </a:lnSpc>
              <a:spcBef>
                <a:spcPts val="500"/>
              </a:spcBef>
              <a:spcAft>
                <a:spcPts val="0"/>
              </a:spcAft>
              <a:buClr>
                <a:schemeClr val="dk1"/>
              </a:buClr>
              <a:buSzPct val="100000"/>
              <a:buChar char="•"/>
            </a:pPr>
            <a:r>
              <a:rPr lang="en-US"/>
              <a:t>If total number of 1’s is odd and </a:t>
            </a:r>
            <a:r>
              <a:rPr lang="en-US">
                <a:solidFill>
                  <a:srgbClr val="FF0000"/>
                </a:solidFill>
              </a:rPr>
              <a:t>odd parity </a:t>
            </a:r>
            <a:r>
              <a:rPr lang="en-US"/>
              <a:t>is used, then receiver assumes that no error occurred.</a:t>
            </a:r>
            <a:endParaRPr/>
          </a:p>
          <a:p>
            <a:pPr indent="-111125" lvl="2" marL="1143000" rtl="0" algn="l">
              <a:lnSpc>
                <a:spcPct val="90000"/>
              </a:lnSpc>
              <a:spcBef>
                <a:spcPts val="500"/>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Parity Check Example</a:t>
            </a:r>
            <a:br>
              <a:rPr lang="en-US"/>
            </a:br>
            <a:endParaRPr/>
          </a:p>
        </p:txBody>
      </p:sp>
      <p:sp>
        <p:nvSpPr>
          <p:cNvPr id="269" name="Google Shape;26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Consider the data unit to be transmitted is 1001001 and even parity is used.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Parity Check Example</a:t>
            </a:r>
            <a:br>
              <a:rPr lang="en-US"/>
            </a:br>
            <a:endParaRPr/>
          </a:p>
        </p:txBody>
      </p:sp>
      <p:sp>
        <p:nvSpPr>
          <p:cNvPr id="275" name="Google Shape;275;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Consider the data unit to be transmitted is 1001001 and even parity is used.</a:t>
            </a:r>
            <a:endParaRPr/>
          </a:p>
          <a:p>
            <a:pPr indent="-228600" lvl="0" marL="228600" rtl="0" algn="l">
              <a:lnSpc>
                <a:spcPct val="90000"/>
              </a:lnSpc>
              <a:spcBef>
                <a:spcPts val="1000"/>
              </a:spcBef>
              <a:spcAft>
                <a:spcPts val="0"/>
              </a:spcAft>
              <a:buClr>
                <a:schemeClr val="dk1"/>
              </a:buClr>
              <a:buSzPts val="2800"/>
              <a:buChar char="•"/>
            </a:pPr>
            <a:r>
              <a:rPr b="1" lang="en-US" u="sng"/>
              <a:t>At Sender Side-</a:t>
            </a:r>
            <a:endParaRPr b="1"/>
          </a:p>
          <a:p>
            <a:pPr indent="0" lvl="0" marL="0" rtl="0" algn="l">
              <a:lnSpc>
                <a:spcPct val="90000"/>
              </a:lnSpc>
              <a:spcBef>
                <a:spcPts val="1000"/>
              </a:spcBef>
              <a:spcAft>
                <a:spcPts val="0"/>
              </a:spcAft>
              <a:buClr>
                <a:schemeClr val="dk1"/>
              </a:buClr>
              <a:buSzPts val="2800"/>
              <a:buNone/>
            </a:pPr>
            <a:r>
              <a:rPr lang="en-US"/>
              <a:t> </a:t>
            </a:r>
            <a:endParaRPr/>
          </a:p>
          <a:p>
            <a:pPr indent="-228600" lvl="1" marL="685800" rtl="0" algn="l">
              <a:lnSpc>
                <a:spcPct val="90000"/>
              </a:lnSpc>
              <a:spcBef>
                <a:spcPts val="500"/>
              </a:spcBef>
              <a:spcAft>
                <a:spcPts val="0"/>
              </a:spcAft>
              <a:buClr>
                <a:schemeClr val="dk1"/>
              </a:buClr>
              <a:buSzPts val="2400"/>
              <a:buChar char="•"/>
            </a:pPr>
            <a:r>
              <a:rPr lang="en-US"/>
              <a:t>Total number of 1’s in the data unit is counted.</a:t>
            </a:r>
            <a:endParaRPr/>
          </a:p>
          <a:p>
            <a:pPr indent="-228600" lvl="1" marL="685800" rtl="0" algn="l">
              <a:lnSpc>
                <a:spcPct val="90000"/>
              </a:lnSpc>
              <a:spcBef>
                <a:spcPts val="500"/>
              </a:spcBef>
              <a:spcAft>
                <a:spcPts val="0"/>
              </a:spcAft>
              <a:buClr>
                <a:schemeClr val="dk1"/>
              </a:buClr>
              <a:buSzPts val="2400"/>
              <a:buChar char="•"/>
            </a:pPr>
            <a:r>
              <a:rPr lang="en-US"/>
              <a:t>Total number of 1’s in the data unit = 3.</a:t>
            </a:r>
            <a:endParaRPr/>
          </a:p>
          <a:p>
            <a:pPr indent="-228600" lvl="1" marL="685800" rtl="0" algn="l">
              <a:lnSpc>
                <a:spcPct val="90000"/>
              </a:lnSpc>
              <a:spcBef>
                <a:spcPts val="500"/>
              </a:spcBef>
              <a:spcAft>
                <a:spcPts val="0"/>
              </a:spcAft>
              <a:buClr>
                <a:schemeClr val="dk1"/>
              </a:buClr>
              <a:buSzPts val="2400"/>
              <a:buChar char="•"/>
            </a:pPr>
            <a:r>
              <a:rPr lang="en-US"/>
              <a:t>Clearly, even parity is used and total number of 1’s is odd.</a:t>
            </a:r>
            <a:endParaRPr/>
          </a:p>
          <a:p>
            <a:pPr indent="-228600" lvl="1" marL="685800" rtl="0" algn="l">
              <a:lnSpc>
                <a:spcPct val="90000"/>
              </a:lnSpc>
              <a:spcBef>
                <a:spcPts val="500"/>
              </a:spcBef>
              <a:spcAft>
                <a:spcPts val="0"/>
              </a:spcAft>
              <a:buClr>
                <a:schemeClr val="dk1"/>
              </a:buClr>
              <a:buSzPts val="2400"/>
              <a:buChar char="•"/>
            </a:pPr>
            <a:r>
              <a:rPr lang="en-US"/>
              <a:t>So, parity bit = 1 is added to the data unit to make total number of 1’s even.</a:t>
            </a:r>
            <a:endParaRPr/>
          </a:p>
          <a:p>
            <a:pPr indent="-228600" lvl="1" marL="685800" rtl="0" algn="l">
              <a:lnSpc>
                <a:spcPct val="90000"/>
              </a:lnSpc>
              <a:spcBef>
                <a:spcPts val="500"/>
              </a:spcBef>
              <a:spcAft>
                <a:spcPts val="0"/>
              </a:spcAft>
              <a:buClr>
                <a:schemeClr val="dk1"/>
              </a:buClr>
              <a:buSzPts val="2400"/>
              <a:buChar char="•"/>
            </a:pPr>
            <a:r>
              <a:rPr lang="en-US"/>
              <a:t>Then, the code word 10010011 is transmitted to the receiver.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Parity Check Example</a:t>
            </a:r>
            <a:br>
              <a:rPr lang="en-US"/>
            </a:br>
            <a:endParaRPr/>
          </a:p>
        </p:txBody>
      </p:sp>
      <p:pic>
        <p:nvPicPr>
          <p:cNvPr id="281" name="Google Shape;281;p31"/>
          <p:cNvPicPr preferRelativeResize="0"/>
          <p:nvPr>
            <p:ph idx="1" type="body"/>
          </p:nvPr>
        </p:nvPicPr>
        <p:blipFill rotWithShape="1">
          <a:blip r:embed="rId3">
            <a:alphaModFix/>
          </a:blip>
          <a:srcRect b="0" l="0" r="0" t="0"/>
          <a:stretch/>
        </p:blipFill>
        <p:spPr>
          <a:xfrm>
            <a:off x="2948982" y="1027906"/>
            <a:ext cx="4219575" cy="2288500"/>
          </a:xfrm>
          <a:prstGeom prst="rect">
            <a:avLst/>
          </a:prstGeom>
          <a:noFill/>
          <a:ln>
            <a:noFill/>
          </a:ln>
        </p:spPr>
      </p:pic>
      <p:sp>
        <p:nvSpPr>
          <p:cNvPr id="282" name="Google Shape;282;p31"/>
          <p:cNvSpPr/>
          <p:nvPr/>
        </p:nvSpPr>
        <p:spPr>
          <a:xfrm>
            <a:off x="838199" y="3555706"/>
            <a:ext cx="10298373"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u="sng">
                <a:solidFill>
                  <a:srgbClr val="303030"/>
                </a:solidFill>
                <a:latin typeface="Roboto Condensed"/>
                <a:ea typeface="Roboto Condensed"/>
                <a:cs typeface="Roboto Condensed"/>
                <a:sym typeface="Roboto Condensed"/>
              </a:rPr>
              <a:t>At Receiver Side-</a:t>
            </a:r>
            <a:endParaRPr b="1" sz="1800">
              <a:solidFill>
                <a:srgbClr val="303030"/>
              </a:solidFill>
              <a:latin typeface="Roboto Condensed"/>
              <a:ea typeface="Roboto Condensed"/>
              <a:cs typeface="Roboto Condensed"/>
              <a:sym typeface="Roboto Condensed"/>
            </a:endParaRPr>
          </a:p>
          <a:p>
            <a:pPr indent="0" lvl="0" marL="0" marR="0" rtl="0" algn="l">
              <a:spcBef>
                <a:spcPts val="0"/>
              </a:spcBef>
              <a:spcAft>
                <a:spcPts val="0"/>
              </a:spcAft>
              <a:buNone/>
            </a:pPr>
            <a:r>
              <a:rPr lang="en-US" sz="1800">
                <a:solidFill>
                  <a:srgbClr val="303030"/>
                </a:solidFill>
                <a:latin typeface="Arimo"/>
                <a:ea typeface="Arimo"/>
                <a:cs typeface="Arimo"/>
                <a:sym typeface="Arimo"/>
              </a:rPr>
              <a:t> </a:t>
            </a:r>
            <a:endParaRPr/>
          </a:p>
          <a:p>
            <a:pPr indent="-152400" lvl="0" marL="0" marR="0" rtl="0" algn="l">
              <a:spcBef>
                <a:spcPts val="0"/>
              </a:spcBef>
              <a:spcAft>
                <a:spcPts val="0"/>
              </a:spcAft>
              <a:buClr>
                <a:srgbClr val="303030"/>
              </a:buClr>
              <a:buSzPts val="2400"/>
              <a:buFont typeface="Arial"/>
              <a:buChar char="•"/>
            </a:pPr>
            <a:r>
              <a:rPr lang="en-US" sz="2400">
                <a:solidFill>
                  <a:srgbClr val="303030"/>
                </a:solidFill>
                <a:latin typeface="Arimo"/>
                <a:ea typeface="Arimo"/>
                <a:cs typeface="Arimo"/>
                <a:sym typeface="Arimo"/>
              </a:rPr>
              <a:t>After receiving the code word, total number of 1’s in the code word is counted.</a:t>
            </a:r>
            <a:endParaRPr/>
          </a:p>
          <a:p>
            <a:pPr indent="-152400" lvl="0" marL="0" marR="0" rtl="0" algn="l">
              <a:spcBef>
                <a:spcPts val="0"/>
              </a:spcBef>
              <a:spcAft>
                <a:spcPts val="0"/>
              </a:spcAft>
              <a:buClr>
                <a:srgbClr val="303030"/>
              </a:buClr>
              <a:buSzPts val="2400"/>
              <a:buFont typeface="Arial"/>
              <a:buChar char="•"/>
            </a:pPr>
            <a:r>
              <a:rPr lang="en-US" sz="2400">
                <a:solidFill>
                  <a:srgbClr val="303030"/>
                </a:solidFill>
                <a:latin typeface="Arimo"/>
                <a:ea typeface="Arimo"/>
                <a:cs typeface="Arimo"/>
                <a:sym typeface="Arimo"/>
              </a:rPr>
              <a:t>Consider receiver receives the correct code word = 10010011.</a:t>
            </a:r>
            <a:endParaRPr/>
          </a:p>
          <a:p>
            <a:pPr indent="-152400" lvl="0" marL="0" marR="0" rtl="0" algn="l">
              <a:spcBef>
                <a:spcPts val="0"/>
              </a:spcBef>
              <a:spcAft>
                <a:spcPts val="0"/>
              </a:spcAft>
              <a:buClr>
                <a:srgbClr val="303030"/>
              </a:buClr>
              <a:buSzPts val="2400"/>
              <a:buFont typeface="Arial"/>
              <a:buChar char="•"/>
            </a:pPr>
            <a:r>
              <a:rPr lang="en-US" sz="2400">
                <a:solidFill>
                  <a:srgbClr val="303030"/>
                </a:solidFill>
                <a:latin typeface="Arimo"/>
                <a:ea typeface="Arimo"/>
                <a:cs typeface="Arimo"/>
                <a:sym typeface="Arimo"/>
              </a:rPr>
              <a:t>Even parity is used and total number of 1’s is even.</a:t>
            </a:r>
            <a:endParaRPr/>
          </a:p>
          <a:p>
            <a:pPr indent="-152400" lvl="0" marL="0" marR="0" rtl="0" algn="l">
              <a:spcBef>
                <a:spcPts val="0"/>
              </a:spcBef>
              <a:spcAft>
                <a:spcPts val="0"/>
              </a:spcAft>
              <a:buClr>
                <a:srgbClr val="303030"/>
              </a:buClr>
              <a:buSzPts val="2400"/>
              <a:buFont typeface="Arial"/>
              <a:buChar char="•"/>
            </a:pPr>
            <a:r>
              <a:rPr lang="en-US" sz="2400">
                <a:solidFill>
                  <a:srgbClr val="303030"/>
                </a:solidFill>
                <a:latin typeface="Arimo"/>
                <a:ea typeface="Arimo"/>
                <a:cs typeface="Arimo"/>
                <a:sym typeface="Arimo"/>
              </a:rPr>
              <a:t>So, receiver assumes that no error occurred in the data during the transmission.</a:t>
            </a:r>
            <a:endParaRPr b="0" i="0" sz="2400">
              <a:solidFill>
                <a:srgbClr val="303030"/>
              </a:solidFill>
              <a:latin typeface="Arimo"/>
              <a:ea typeface="Arimo"/>
              <a:cs typeface="Arimo"/>
              <a:sym typeface="Arim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Limitation</a:t>
            </a:r>
            <a:br>
              <a:rPr b="1" lang="en-US"/>
            </a:br>
            <a:endParaRPr/>
          </a:p>
        </p:txBody>
      </p:sp>
      <p:sp>
        <p:nvSpPr>
          <p:cNvPr id="288" name="Google Shape;288;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This technique can not detect an even number of bit errors (two, four, six and so on).</a:t>
            </a:r>
            <a:endParaRPr/>
          </a:p>
          <a:p>
            <a:pPr indent="-228600" lvl="0" marL="228600" rtl="0" algn="l">
              <a:lnSpc>
                <a:spcPct val="90000"/>
              </a:lnSpc>
              <a:spcBef>
                <a:spcPts val="1000"/>
              </a:spcBef>
              <a:spcAft>
                <a:spcPts val="0"/>
              </a:spcAft>
              <a:buClr>
                <a:schemeClr val="dk1"/>
              </a:buClr>
              <a:buSzPct val="100000"/>
              <a:buChar char="•"/>
            </a:pPr>
            <a:r>
              <a:rPr lang="en-US"/>
              <a:t>If even number of bits flip during transmission, then receiver can not catch the error.</a:t>
            </a:r>
            <a:endParaRPr/>
          </a:p>
          <a:p>
            <a:pPr indent="-228600" lvl="0" marL="228600" rtl="0" algn="l">
              <a:lnSpc>
                <a:spcPct val="90000"/>
              </a:lnSpc>
              <a:spcBef>
                <a:spcPts val="1000"/>
              </a:spcBef>
              <a:spcAft>
                <a:spcPts val="0"/>
              </a:spcAft>
              <a:buClr>
                <a:schemeClr val="dk1"/>
              </a:buClr>
              <a:buSzPct val="100000"/>
              <a:buChar char="•"/>
            </a:pPr>
            <a:r>
              <a:rPr b="1" lang="en-US" u="sng"/>
              <a:t>EXAMPLE</a:t>
            </a:r>
            <a:endParaRPr/>
          </a:p>
          <a:p>
            <a:pPr indent="-228600" lvl="0" marL="228600" rtl="0" algn="l">
              <a:lnSpc>
                <a:spcPct val="90000"/>
              </a:lnSpc>
              <a:spcBef>
                <a:spcPts val="1000"/>
              </a:spcBef>
              <a:spcAft>
                <a:spcPts val="0"/>
              </a:spcAft>
              <a:buClr>
                <a:schemeClr val="dk1"/>
              </a:buClr>
              <a:buSzPct val="100000"/>
              <a:buChar char="•"/>
            </a:pPr>
            <a:r>
              <a:rPr lang="en-US"/>
              <a:t>Consider the data unit to be transmitted is 10010001 and even parity is used.</a:t>
            </a:r>
            <a:endParaRPr/>
          </a:p>
          <a:p>
            <a:pPr indent="-228600" lvl="0" marL="228600" rtl="0" algn="l">
              <a:lnSpc>
                <a:spcPct val="90000"/>
              </a:lnSpc>
              <a:spcBef>
                <a:spcPts val="1000"/>
              </a:spcBef>
              <a:spcAft>
                <a:spcPts val="0"/>
              </a:spcAft>
              <a:buClr>
                <a:schemeClr val="dk1"/>
              </a:buClr>
              <a:buSzPct val="100000"/>
              <a:buChar char="•"/>
            </a:pPr>
            <a:r>
              <a:rPr lang="en-US"/>
              <a:t>Then, code word transmitted to the receiver = 100100011</a:t>
            </a:r>
            <a:endParaRPr/>
          </a:p>
          <a:p>
            <a:pPr indent="-228600" lvl="0" marL="228600" rtl="0" algn="l">
              <a:lnSpc>
                <a:spcPct val="90000"/>
              </a:lnSpc>
              <a:spcBef>
                <a:spcPts val="1000"/>
              </a:spcBef>
              <a:spcAft>
                <a:spcPts val="0"/>
              </a:spcAft>
              <a:buClr>
                <a:schemeClr val="dk1"/>
              </a:buClr>
              <a:buSzPct val="100000"/>
              <a:buChar char="•"/>
            </a:pPr>
            <a:r>
              <a:rPr lang="en-US"/>
              <a:t>Consider during transmission, code word modifies as 101100111. (2 bits flip)</a:t>
            </a:r>
            <a:endParaRPr/>
          </a:p>
          <a:p>
            <a:pPr indent="-228600" lvl="0" marL="228600" rtl="0" algn="l">
              <a:lnSpc>
                <a:spcPct val="90000"/>
              </a:lnSpc>
              <a:spcBef>
                <a:spcPts val="1000"/>
              </a:spcBef>
              <a:spcAft>
                <a:spcPts val="0"/>
              </a:spcAft>
              <a:buClr>
                <a:schemeClr val="dk1"/>
              </a:buClr>
              <a:buSzPct val="100000"/>
              <a:buChar char="•"/>
            </a:pPr>
            <a:r>
              <a:rPr lang="en-US"/>
              <a:t>On receiving the modified code word, receiver finds the number of 1’s is even and even parity is used.</a:t>
            </a:r>
            <a:endParaRPr/>
          </a:p>
          <a:p>
            <a:pPr indent="-228600" lvl="0" marL="228600" rtl="0" algn="l">
              <a:lnSpc>
                <a:spcPct val="90000"/>
              </a:lnSpc>
              <a:spcBef>
                <a:spcPts val="1000"/>
              </a:spcBef>
              <a:spcAft>
                <a:spcPts val="0"/>
              </a:spcAft>
              <a:buClr>
                <a:schemeClr val="dk1"/>
              </a:buClr>
              <a:buSzPct val="100000"/>
              <a:buChar char="•"/>
            </a:pPr>
            <a:r>
              <a:rPr lang="en-US"/>
              <a:t>So, receiver assumes that no error occurred in the data during transmission though the data is corrupted.</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Checksum</a:t>
            </a:r>
            <a:br>
              <a:rPr b="1" lang="en-US"/>
            </a:br>
            <a:endParaRPr/>
          </a:p>
        </p:txBody>
      </p:sp>
      <p:sp>
        <p:nvSpPr>
          <p:cNvPr id="294" name="Google Shape;294;p33"/>
          <p:cNvSpPr txBox="1"/>
          <p:nvPr>
            <p:ph idx="1" type="body"/>
          </p:nvPr>
        </p:nvSpPr>
        <p:spPr>
          <a:xfrm>
            <a:off x="838200" y="1105469"/>
            <a:ext cx="10515600" cy="5071494"/>
          </a:xfrm>
          <a:prstGeom prst="rect">
            <a:avLst/>
          </a:prstGeom>
          <a:noFill/>
          <a:ln>
            <a:noFill/>
          </a:ln>
        </p:spPr>
        <p:txBody>
          <a:bodyPr anchorCtr="0" anchor="t" bIns="45700" lIns="91425" spcFirstLastPara="1" rIns="91425" wrap="square" tIns="45700">
            <a:normAutofit lnSpcReduction="10000"/>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Error detection method based on redundancy</a:t>
            </a:r>
            <a:endParaRPr/>
          </a:p>
          <a:p>
            <a:pPr indent="-228600" lvl="0" marL="228600" rtl="0" algn="l">
              <a:lnSpc>
                <a:spcPct val="90000"/>
              </a:lnSpc>
              <a:spcBef>
                <a:spcPts val="1000"/>
              </a:spcBef>
              <a:spcAft>
                <a:spcPts val="0"/>
              </a:spcAft>
              <a:buClr>
                <a:srgbClr val="2F5496"/>
              </a:buClr>
              <a:buSzPts val="2800"/>
              <a:buChar char="•"/>
            </a:pPr>
            <a:r>
              <a:rPr b="1" lang="en-US" u="sng">
                <a:solidFill>
                  <a:srgbClr val="2F5496"/>
                </a:solidFill>
              </a:rPr>
              <a:t>Step -</a:t>
            </a:r>
            <a:r>
              <a:rPr lang="en-US">
                <a:solidFill>
                  <a:srgbClr val="2F5496"/>
                </a:solidFill>
              </a:rPr>
              <a:t> At sender side</a:t>
            </a:r>
            <a:endParaRPr b="1">
              <a:solidFill>
                <a:srgbClr val="2F5496"/>
              </a:solidFill>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If m bit checksum is used, the data unit to be transmitted is divided into segments of m bits.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All the m bit segments are added.(Add carry to sum if any)</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 result of the sum is then complemented using 1’s complement arithmetic.</a:t>
            </a:r>
            <a:endParaRPr/>
          </a:p>
          <a:p>
            <a:pPr indent="0" lvl="0" marL="0" rtl="0" algn="l">
              <a:lnSpc>
                <a:spcPct val="90000"/>
              </a:lnSpc>
              <a:spcBef>
                <a:spcPts val="1000"/>
              </a:spcBef>
              <a:spcAft>
                <a:spcPts val="0"/>
              </a:spcAft>
              <a:buClr>
                <a:schemeClr val="dk1"/>
              </a:buClr>
              <a:buSzPts val="2800"/>
              <a:buNone/>
            </a:pPr>
            <a:r>
              <a:rPr lang="en-US"/>
              <a:t>       The value so obtained is called as </a:t>
            </a:r>
            <a:r>
              <a:rPr b="1" lang="en-US">
                <a:solidFill>
                  <a:srgbClr val="FF0000"/>
                </a:solidFill>
              </a:rPr>
              <a:t>checksum</a:t>
            </a:r>
            <a:r>
              <a:rPr lang="en-US"/>
              <a:t>.</a:t>
            </a:r>
            <a:endParaRPr/>
          </a:p>
          <a:p>
            <a:pPr indent="-514350" lvl="0" marL="514350" rtl="0" algn="l">
              <a:lnSpc>
                <a:spcPct val="90000"/>
              </a:lnSpc>
              <a:spcBef>
                <a:spcPts val="1000"/>
              </a:spcBef>
              <a:spcAft>
                <a:spcPts val="0"/>
              </a:spcAft>
              <a:buClr>
                <a:schemeClr val="dk1"/>
              </a:buClr>
              <a:buSzPts val="2800"/>
              <a:buFont typeface="Calibri"/>
              <a:buAutoNum type="arabicPeriod" startAt="4"/>
            </a:pPr>
            <a:r>
              <a:rPr lang="en-US"/>
              <a:t>The data along with the checksum value is transmitted to the receiver.</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Checksum- At receiver side</a:t>
            </a:r>
            <a:endParaRPr/>
          </a:p>
        </p:txBody>
      </p:sp>
      <p:sp>
        <p:nvSpPr>
          <p:cNvPr id="300" name="Google Shape;300;p34"/>
          <p:cNvSpPr txBox="1"/>
          <p:nvPr>
            <p:ph idx="1" type="body"/>
          </p:nvPr>
        </p:nvSpPr>
        <p:spPr>
          <a:xfrm>
            <a:off x="838200" y="1241946"/>
            <a:ext cx="10515600" cy="4935017"/>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 received data unit is divided into segments of m bits.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All the m bit segments are added along with the checksum value.</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 value so obtained is complemented and the result is checked.</a:t>
            </a:r>
            <a:endParaRPr/>
          </a:p>
          <a:p>
            <a:pPr indent="0" lvl="0" marL="0" rtl="0" algn="l">
              <a:lnSpc>
                <a:spcPct val="90000"/>
              </a:lnSpc>
              <a:spcBef>
                <a:spcPts val="1000"/>
              </a:spcBef>
              <a:spcAft>
                <a:spcPts val="0"/>
              </a:spcAft>
              <a:buClr>
                <a:schemeClr val="dk1"/>
              </a:buClr>
              <a:buSzPts val="2800"/>
              <a:buNone/>
            </a:pPr>
            <a:r>
              <a:rPr lang="en-US"/>
              <a:t>Then, following two cases are possible-</a:t>
            </a:r>
            <a:endParaRPr/>
          </a:p>
          <a:p>
            <a:pPr indent="0" lvl="0" marL="0" rtl="0" algn="l">
              <a:lnSpc>
                <a:spcPct val="90000"/>
              </a:lnSpc>
              <a:spcBef>
                <a:spcPts val="1000"/>
              </a:spcBef>
              <a:spcAft>
                <a:spcPts val="0"/>
              </a:spcAft>
              <a:buClr>
                <a:schemeClr val="dk1"/>
              </a:buClr>
              <a:buSzPts val="2800"/>
              <a:buNone/>
            </a:pPr>
            <a:r>
              <a:rPr lang="en-US"/>
              <a:t>If the result is zero,</a:t>
            </a:r>
            <a:endParaRPr/>
          </a:p>
          <a:p>
            <a:pPr indent="0" lvl="1" marL="457200" rtl="0" algn="l">
              <a:lnSpc>
                <a:spcPct val="90000"/>
              </a:lnSpc>
              <a:spcBef>
                <a:spcPts val="500"/>
              </a:spcBef>
              <a:spcAft>
                <a:spcPts val="0"/>
              </a:spcAft>
              <a:buClr>
                <a:schemeClr val="dk1"/>
              </a:buClr>
              <a:buSzPts val="2400"/>
              <a:buNone/>
            </a:pPr>
            <a:r>
              <a:rPr lang="en-US"/>
              <a:t>Receiver assumes that no error occurred in the data during the transmission.</a:t>
            </a:r>
            <a:endParaRPr/>
          </a:p>
          <a:p>
            <a:pPr indent="0" lvl="1" marL="457200" rtl="0" algn="l">
              <a:lnSpc>
                <a:spcPct val="90000"/>
              </a:lnSpc>
              <a:spcBef>
                <a:spcPts val="500"/>
              </a:spcBef>
              <a:spcAft>
                <a:spcPts val="0"/>
              </a:spcAft>
              <a:buClr>
                <a:schemeClr val="dk1"/>
              </a:buClr>
              <a:buSzPts val="2400"/>
              <a:buNone/>
            </a:pPr>
            <a:r>
              <a:rPr lang="en-US"/>
              <a:t>Receiver accepts the data.</a:t>
            </a:r>
            <a:endParaRPr/>
          </a:p>
          <a:p>
            <a:pPr indent="0" lvl="0" marL="0" rtl="0" algn="l">
              <a:lnSpc>
                <a:spcPct val="90000"/>
              </a:lnSpc>
              <a:spcBef>
                <a:spcPts val="1000"/>
              </a:spcBef>
              <a:spcAft>
                <a:spcPts val="0"/>
              </a:spcAft>
              <a:buClr>
                <a:schemeClr val="dk1"/>
              </a:buClr>
              <a:buSzPts val="2800"/>
              <a:buNone/>
            </a:pPr>
            <a:r>
              <a:rPr lang="en-US"/>
              <a:t> If the result is non-zero,</a:t>
            </a:r>
            <a:endParaRPr/>
          </a:p>
          <a:p>
            <a:pPr indent="0" lvl="1" marL="457200" rtl="0" algn="l">
              <a:lnSpc>
                <a:spcPct val="90000"/>
              </a:lnSpc>
              <a:spcBef>
                <a:spcPts val="500"/>
              </a:spcBef>
              <a:spcAft>
                <a:spcPts val="0"/>
              </a:spcAft>
              <a:buClr>
                <a:schemeClr val="dk1"/>
              </a:buClr>
              <a:buSzPts val="2400"/>
              <a:buNone/>
            </a:pPr>
            <a:r>
              <a:rPr lang="en-US"/>
              <a:t>Receiver assumes that error occurred in the data during the transmission.</a:t>
            </a:r>
            <a:endParaRPr/>
          </a:p>
          <a:p>
            <a:pPr indent="0" lvl="1" marL="457200" rtl="0" algn="l">
              <a:lnSpc>
                <a:spcPct val="90000"/>
              </a:lnSpc>
              <a:spcBef>
                <a:spcPts val="500"/>
              </a:spcBef>
              <a:spcAft>
                <a:spcPts val="0"/>
              </a:spcAft>
              <a:buClr>
                <a:schemeClr val="dk1"/>
              </a:buClr>
              <a:buSzPts val="2400"/>
              <a:buNone/>
            </a:pPr>
            <a:r>
              <a:rPr lang="en-US"/>
              <a:t>Receiver discards the data and asks the sender for retransmission.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306" name="Google Shape;306;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Suppose that a message </a:t>
            </a:r>
            <a:r>
              <a:rPr lang="en-US" sz="3600">
                <a:solidFill>
                  <a:srgbClr val="FF0000"/>
                </a:solidFill>
              </a:rPr>
              <a:t>10101001</a:t>
            </a:r>
            <a:r>
              <a:rPr lang="en-US" sz="3600"/>
              <a:t>00111001</a:t>
            </a:r>
            <a:r>
              <a:rPr lang="en-US"/>
              <a:t> is transmitted using Checksum  method (8-bit word). What is the value of the checksum?</a:t>
            </a:r>
            <a:endParaRPr/>
          </a:p>
          <a:p>
            <a:pPr indent="-228600" lvl="0" marL="228600" rtl="0" algn="l">
              <a:lnSpc>
                <a:spcPct val="90000"/>
              </a:lnSpc>
              <a:spcBef>
                <a:spcPts val="1000"/>
              </a:spcBef>
              <a:spcAft>
                <a:spcPts val="0"/>
              </a:spcAft>
              <a:buClr>
                <a:schemeClr val="dk1"/>
              </a:buClr>
              <a:buSzPts val="2800"/>
              <a:buChar char="•"/>
            </a:pPr>
            <a:r>
              <a:rPr lang="en-US"/>
              <a:t>Also verify that the data is received at the receiver with out any error.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 </a:t>
            </a:r>
            <a:endParaRPr/>
          </a:p>
        </p:txBody>
      </p:sp>
      <p:sp>
        <p:nvSpPr>
          <p:cNvPr id="312" name="Google Shape;312;p36"/>
          <p:cNvSpPr txBox="1"/>
          <p:nvPr>
            <p:ph idx="1" type="body"/>
          </p:nvPr>
        </p:nvSpPr>
        <p:spPr>
          <a:xfrm>
            <a:off x="838200" y="1323833"/>
            <a:ext cx="10515600" cy="525438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FF0000"/>
              </a:buClr>
              <a:buSzPts val="2800"/>
              <a:buChar char="•"/>
            </a:pPr>
            <a:r>
              <a:rPr lang="en-US">
                <a:solidFill>
                  <a:srgbClr val="FF0000"/>
                </a:solidFill>
              </a:rPr>
              <a:t>At sender </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t>Sum = </a:t>
            </a:r>
            <a:r>
              <a:rPr lang="en-US">
                <a:solidFill>
                  <a:srgbClr val="FF0000"/>
                </a:solidFill>
              </a:rPr>
              <a:t>10101001 </a:t>
            </a:r>
            <a:r>
              <a:rPr lang="en-US"/>
              <a:t>+ 00111001 =11100010</a:t>
            </a:r>
            <a:endParaRPr/>
          </a:p>
          <a:p>
            <a:pPr indent="-228600" lvl="0" marL="228600" rtl="0" algn="l">
              <a:lnSpc>
                <a:spcPct val="90000"/>
              </a:lnSpc>
              <a:spcBef>
                <a:spcPts val="1000"/>
              </a:spcBef>
              <a:spcAft>
                <a:spcPts val="0"/>
              </a:spcAft>
              <a:buClr>
                <a:schemeClr val="dk1"/>
              </a:buClr>
              <a:buSzPts val="2800"/>
              <a:buChar char="•"/>
            </a:pPr>
            <a:r>
              <a:rPr lang="en-US"/>
              <a:t>Compliment =00011101</a:t>
            </a:r>
            <a:endParaRPr/>
          </a:p>
          <a:p>
            <a:pPr indent="-228600" lvl="0" marL="228600" rtl="0" algn="l">
              <a:lnSpc>
                <a:spcPct val="90000"/>
              </a:lnSpc>
              <a:spcBef>
                <a:spcPts val="1000"/>
              </a:spcBef>
              <a:spcAft>
                <a:spcPts val="0"/>
              </a:spcAft>
              <a:buClr>
                <a:schemeClr val="dk1"/>
              </a:buClr>
              <a:buSzPts val="2800"/>
              <a:buChar char="•"/>
            </a:pPr>
            <a:r>
              <a:rPr lang="en-US"/>
              <a:t>Checksum=00011101</a:t>
            </a:r>
            <a:endParaRPr/>
          </a:p>
          <a:p>
            <a:pPr indent="-228600" lvl="0" marL="228600" rtl="0" algn="l">
              <a:lnSpc>
                <a:spcPct val="90000"/>
              </a:lnSpc>
              <a:spcBef>
                <a:spcPts val="1000"/>
              </a:spcBef>
              <a:spcAft>
                <a:spcPts val="0"/>
              </a:spcAft>
              <a:buClr>
                <a:schemeClr val="dk1"/>
              </a:buClr>
              <a:buSzPts val="2800"/>
              <a:buChar char="•"/>
            </a:pPr>
            <a:r>
              <a:rPr lang="en-US"/>
              <a:t>Data transmitted is </a:t>
            </a:r>
            <a:r>
              <a:rPr lang="en-US">
                <a:solidFill>
                  <a:schemeClr val="dk2"/>
                </a:solidFill>
              </a:rPr>
              <a:t>1010100100</a:t>
            </a:r>
            <a:r>
              <a:rPr lang="en-US"/>
              <a:t>111001</a:t>
            </a:r>
            <a:r>
              <a:rPr lang="en-US">
                <a:solidFill>
                  <a:srgbClr val="FF0000"/>
                </a:solidFill>
              </a:rPr>
              <a:t>00011101</a:t>
            </a:r>
            <a:endParaRPr>
              <a:solidFill>
                <a:srgbClr val="FF0000"/>
              </a:solidFill>
            </a:endParaRPr>
          </a:p>
          <a:p>
            <a:pPr indent="0" lvl="0" marL="0" rtl="0" algn="l">
              <a:lnSpc>
                <a:spcPct val="90000"/>
              </a:lnSpc>
              <a:spcBef>
                <a:spcPts val="1000"/>
              </a:spcBef>
              <a:spcAft>
                <a:spcPts val="0"/>
              </a:spcAft>
              <a:buClr>
                <a:srgbClr val="FF0000"/>
              </a:buClr>
              <a:buSzPts val="2800"/>
              <a:buNone/>
            </a:pPr>
            <a:r>
              <a:rPr lang="en-US">
                <a:solidFill>
                  <a:srgbClr val="FF0000"/>
                </a:solidFill>
              </a:rPr>
              <a:t>At receiver</a:t>
            </a:r>
            <a:endParaRPr/>
          </a:p>
          <a:p>
            <a:pPr indent="0" lvl="0" marL="0" rtl="0" algn="l">
              <a:lnSpc>
                <a:spcPct val="90000"/>
              </a:lnSpc>
              <a:spcBef>
                <a:spcPts val="1000"/>
              </a:spcBef>
              <a:spcAft>
                <a:spcPts val="0"/>
              </a:spcAft>
              <a:buClr>
                <a:schemeClr val="dk1"/>
              </a:buClr>
              <a:buSzPts val="2800"/>
              <a:buNone/>
            </a:pPr>
            <a:r>
              <a:rPr lang="en-US"/>
              <a:t>Find the sum of  </a:t>
            </a:r>
            <a:r>
              <a:rPr lang="en-US">
                <a:solidFill>
                  <a:srgbClr val="FF0000"/>
                </a:solidFill>
              </a:rPr>
              <a:t>10101001</a:t>
            </a:r>
            <a:r>
              <a:rPr lang="en-US"/>
              <a:t> + 00111001 + </a:t>
            </a:r>
            <a:r>
              <a:rPr lang="en-US">
                <a:solidFill>
                  <a:srgbClr val="FF0000"/>
                </a:solidFill>
              </a:rPr>
              <a:t>00011101</a:t>
            </a:r>
            <a:endParaRPr>
              <a:solidFill>
                <a:srgbClr val="FF0000"/>
              </a:solidFill>
            </a:endParaRPr>
          </a:p>
          <a:p>
            <a:pPr indent="0" lvl="0" marL="0" rtl="0" algn="l">
              <a:lnSpc>
                <a:spcPct val="90000"/>
              </a:lnSpc>
              <a:spcBef>
                <a:spcPts val="1000"/>
              </a:spcBef>
              <a:spcAft>
                <a:spcPts val="0"/>
              </a:spcAft>
              <a:buClr>
                <a:schemeClr val="dk1"/>
              </a:buClr>
              <a:buSzPts val="2800"/>
              <a:buNone/>
            </a:pPr>
            <a:r>
              <a:t/>
            </a:r>
            <a:endParaRPr>
              <a:solidFill>
                <a:srgbClr val="FF0000"/>
              </a:solidFill>
            </a:endParaRPr>
          </a:p>
          <a:p>
            <a:pPr indent="0" lvl="0" marL="0" rtl="0" algn="l">
              <a:lnSpc>
                <a:spcPct val="90000"/>
              </a:lnSpc>
              <a:spcBef>
                <a:spcPts val="1000"/>
              </a:spcBef>
              <a:spcAft>
                <a:spcPts val="0"/>
              </a:spcAft>
              <a:buClr>
                <a:schemeClr val="dk1"/>
              </a:buClr>
              <a:buSzPts val="2800"/>
              <a:buNone/>
            </a:pPr>
            <a:r>
              <a:rPr lang="en-US"/>
              <a:t>Sum= 11111111</a:t>
            </a:r>
            <a:endParaRPr/>
          </a:p>
          <a:p>
            <a:pPr indent="0" lvl="0" marL="0" rtl="0" algn="l">
              <a:lnSpc>
                <a:spcPct val="90000"/>
              </a:lnSpc>
              <a:spcBef>
                <a:spcPts val="1000"/>
              </a:spcBef>
              <a:spcAft>
                <a:spcPts val="0"/>
              </a:spcAft>
              <a:buClr>
                <a:schemeClr val="dk1"/>
              </a:buClr>
              <a:buSzPts val="2800"/>
              <a:buNone/>
            </a:pPr>
            <a:r>
              <a:rPr lang="en-US"/>
              <a:t>Compliment  is 00000000 ,Since it is zero no error has occured  during  transmission</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318" name="Google Shape;318;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Suppose that a message </a:t>
            </a:r>
            <a:r>
              <a:rPr lang="en-US" sz="4000">
                <a:solidFill>
                  <a:srgbClr val="FF0000"/>
                </a:solidFill>
              </a:rPr>
              <a:t>1001</a:t>
            </a:r>
            <a:r>
              <a:rPr lang="en-US" sz="4000"/>
              <a:t>1100</a:t>
            </a:r>
            <a:r>
              <a:rPr lang="en-US" sz="4000">
                <a:solidFill>
                  <a:srgbClr val="FF0000"/>
                </a:solidFill>
              </a:rPr>
              <a:t>1010</a:t>
            </a:r>
            <a:r>
              <a:rPr lang="en-US" sz="4000"/>
              <a:t>0011</a:t>
            </a:r>
            <a:r>
              <a:rPr lang="en-US"/>
              <a:t> is transmitted using Internet Checksum (4-bit word). What is the value of the checksum?</a:t>
            </a:r>
            <a:endParaRPr/>
          </a:p>
          <a:p>
            <a:pPr indent="-228600" lvl="0" marL="228600" rtl="0" algn="l">
              <a:lnSpc>
                <a:spcPct val="90000"/>
              </a:lnSpc>
              <a:spcBef>
                <a:spcPts val="1000"/>
              </a:spcBef>
              <a:spcAft>
                <a:spcPts val="0"/>
              </a:spcAft>
              <a:buClr>
                <a:schemeClr val="dk1"/>
              </a:buClr>
              <a:buSzPts val="2800"/>
              <a:buChar char="•"/>
            </a:pPr>
            <a:r>
              <a:rPr lang="en-US"/>
              <a:t>Also verify that the data is received at the receiver with out any error.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 </a:t>
            </a:r>
            <a:endParaRPr/>
          </a:p>
        </p:txBody>
      </p:sp>
      <p:sp>
        <p:nvSpPr>
          <p:cNvPr id="324" name="Google Shape;324;p38"/>
          <p:cNvSpPr txBox="1"/>
          <p:nvPr>
            <p:ph idx="1" type="body"/>
          </p:nvPr>
        </p:nvSpPr>
        <p:spPr>
          <a:xfrm>
            <a:off x="838200" y="1323833"/>
            <a:ext cx="10515600" cy="525438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Suppose that a message 1001 1100 1010 0011 is transmitted using Internet Checksum (4-bit word). What is the value of the checksum?</a:t>
            </a:r>
            <a:endParaRPr/>
          </a:p>
          <a:p>
            <a:pPr indent="-228600" lvl="0" marL="228600" rtl="0" algn="l">
              <a:lnSpc>
                <a:spcPct val="90000"/>
              </a:lnSpc>
              <a:spcBef>
                <a:spcPts val="1000"/>
              </a:spcBef>
              <a:spcAft>
                <a:spcPts val="0"/>
              </a:spcAft>
              <a:buClr>
                <a:srgbClr val="FF0000"/>
              </a:buClr>
              <a:buSzPct val="100000"/>
              <a:buChar char="•"/>
            </a:pPr>
            <a:r>
              <a:rPr lang="en-US">
                <a:solidFill>
                  <a:srgbClr val="FF0000"/>
                </a:solidFill>
              </a:rPr>
              <a:t>At sender </a:t>
            </a:r>
            <a:endParaRPr>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Sum = 1001 + 1100 + 1010 + 0011=0100</a:t>
            </a:r>
            <a:endParaRPr/>
          </a:p>
          <a:p>
            <a:pPr indent="-228600" lvl="0" marL="228600" rtl="0" algn="l">
              <a:lnSpc>
                <a:spcPct val="90000"/>
              </a:lnSpc>
              <a:spcBef>
                <a:spcPts val="1000"/>
              </a:spcBef>
              <a:spcAft>
                <a:spcPts val="0"/>
              </a:spcAft>
              <a:buClr>
                <a:schemeClr val="dk1"/>
              </a:buClr>
              <a:buSzPct val="100000"/>
              <a:buChar char="•"/>
            </a:pPr>
            <a:r>
              <a:rPr lang="en-US"/>
              <a:t>Compliment =1011</a:t>
            </a:r>
            <a:endParaRPr/>
          </a:p>
          <a:p>
            <a:pPr indent="-228600" lvl="0" marL="228600" rtl="0" algn="l">
              <a:lnSpc>
                <a:spcPct val="90000"/>
              </a:lnSpc>
              <a:spcBef>
                <a:spcPts val="1000"/>
              </a:spcBef>
              <a:spcAft>
                <a:spcPts val="0"/>
              </a:spcAft>
              <a:buClr>
                <a:schemeClr val="dk1"/>
              </a:buClr>
              <a:buSzPct val="100000"/>
              <a:buChar char="•"/>
            </a:pPr>
            <a:r>
              <a:rPr lang="en-US"/>
              <a:t>Checksum=1011</a:t>
            </a:r>
            <a:endParaRPr/>
          </a:p>
          <a:p>
            <a:pPr indent="-228600" lvl="0" marL="228600" rtl="0" algn="l">
              <a:lnSpc>
                <a:spcPct val="90000"/>
              </a:lnSpc>
              <a:spcBef>
                <a:spcPts val="1000"/>
              </a:spcBef>
              <a:spcAft>
                <a:spcPts val="0"/>
              </a:spcAft>
              <a:buClr>
                <a:schemeClr val="dk1"/>
              </a:buClr>
              <a:buSzPct val="100000"/>
              <a:buChar char="•"/>
            </a:pPr>
            <a:r>
              <a:rPr lang="en-US"/>
              <a:t>Data transmitted is 1001 1100 1010 0011  </a:t>
            </a:r>
            <a:r>
              <a:rPr lang="en-US">
                <a:solidFill>
                  <a:srgbClr val="FF0000"/>
                </a:solidFill>
              </a:rPr>
              <a:t>1011</a:t>
            </a:r>
            <a:endParaRPr/>
          </a:p>
          <a:p>
            <a:pPr indent="0" lvl="0" marL="0" rtl="0" algn="l">
              <a:lnSpc>
                <a:spcPct val="90000"/>
              </a:lnSpc>
              <a:spcBef>
                <a:spcPts val="1000"/>
              </a:spcBef>
              <a:spcAft>
                <a:spcPts val="0"/>
              </a:spcAft>
              <a:buClr>
                <a:srgbClr val="FF0000"/>
              </a:buClr>
              <a:buSzPct val="100000"/>
              <a:buNone/>
            </a:pPr>
            <a:r>
              <a:rPr lang="en-US">
                <a:solidFill>
                  <a:srgbClr val="FF0000"/>
                </a:solidFill>
              </a:rPr>
              <a:t>At receiver</a:t>
            </a:r>
            <a:endParaRPr/>
          </a:p>
          <a:p>
            <a:pPr indent="0" lvl="0" marL="0" rtl="0" algn="l">
              <a:lnSpc>
                <a:spcPct val="90000"/>
              </a:lnSpc>
              <a:spcBef>
                <a:spcPts val="1000"/>
              </a:spcBef>
              <a:spcAft>
                <a:spcPts val="0"/>
              </a:spcAft>
              <a:buClr>
                <a:schemeClr val="dk1"/>
              </a:buClr>
              <a:buSzPct val="100000"/>
              <a:buNone/>
            </a:pPr>
            <a:r>
              <a:rPr lang="en-US"/>
              <a:t>Find the sum of  1001 + 1100 + 1010 + 0011 + </a:t>
            </a:r>
            <a:r>
              <a:rPr lang="en-US">
                <a:solidFill>
                  <a:srgbClr val="FF0000"/>
                </a:solidFill>
              </a:rPr>
              <a:t>1011</a:t>
            </a:r>
            <a:endParaRPr/>
          </a:p>
          <a:p>
            <a:pPr indent="0" lvl="0" marL="0" rtl="0" algn="l">
              <a:lnSpc>
                <a:spcPct val="90000"/>
              </a:lnSpc>
              <a:spcBef>
                <a:spcPts val="1000"/>
              </a:spcBef>
              <a:spcAft>
                <a:spcPts val="0"/>
              </a:spcAft>
              <a:buClr>
                <a:schemeClr val="dk1"/>
              </a:buClr>
              <a:buSzPct val="100000"/>
              <a:buNone/>
            </a:pPr>
            <a:r>
              <a:rPr lang="en-US"/>
              <a:t>Sum=1111</a:t>
            </a:r>
            <a:endParaRPr/>
          </a:p>
          <a:p>
            <a:pPr indent="0" lvl="0" marL="0" rtl="0" algn="l">
              <a:lnSpc>
                <a:spcPct val="90000"/>
              </a:lnSpc>
              <a:spcBef>
                <a:spcPts val="1000"/>
              </a:spcBef>
              <a:spcAft>
                <a:spcPts val="0"/>
              </a:spcAft>
              <a:buClr>
                <a:schemeClr val="dk1"/>
              </a:buClr>
              <a:buSzPct val="100000"/>
              <a:buNone/>
            </a:pPr>
            <a:r>
              <a:rPr lang="en-US"/>
              <a:t>Compliment  is 0000 ,Since it is zero no error has occured  during  transmission</a:t>
            </a:r>
            <a:endParaRPr/>
          </a:p>
          <a:p>
            <a:pPr indent="0" lvl="0" marL="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2</a:t>
            </a:r>
            <a:endParaRPr/>
          </a:p>
        </p:txBody>
      </p:sp>
      <p:sp>
        <p:nvSpPr>
          <p:cNvPr id="330" name="Google Shape;330;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Consider the data unit to be transmitted is-</a:t>
            </a:r>
            <a:endParaRPr/>
          </a:p>
          <a:p>
            <a:pPr indent="-254000" lvl="0" marL="228600" rtl="0" algn="l">
              <a:lnSpc>
                <a:spcPct val="90000"/>
              </a:lnSpc>
              <a:spcBef>
                <a:spcPts val="1000"/>
              </a:spcBef>
              <a:spcAft>
                <a:spcPts val="0"/>
              </a:spcAft>
              <a:buClr>
                <a:schemeClr val="accent6"/>
              </a:buClr>
              <a:buSzPts val="4000"/>
              <a:buChar char="•"/>
            </a:pPr>
            <a:r>
              <a:rPr lang="en-US" sz="4000">
                <a:solidFill>
                  <a:schemeClr val="accent6"/>
                </a:solidFill>
              </a:rPr>
              <a:t>10011001</a:t>
            </a:r>
            <a:r>
              <a:rPr lang="en-US" sz="4000"/>
              <a:t>11100010</a:t>
            </a:r>
            <a:r>
              <a:rPr lang="en-US" sz="4000">
                <a:solidFill>
                  <a:srgbClr val="FF0000"/>
                </a:solidFill>
              </a:rPr>
              <a:t>00100100</a:t>
            </a:r>
            <a:r>
              <a:rPr lang="en-US" sz="4000"/>
              <a:t>10000100</a:t>
            </a:r>
            <a:endParaRPr/>
          </a:p>
          <a:p>
            <a:pPr indent="-228600" lvl="0" marL="228600" rtl="0" algn="l">
              <a:lnSpc>
                <a:spcPct val="90000"/>
              </a:lnSpc>
              <a:spcBef>
                <a:spcPts val="1000"/>
              </a:spcBef>
              <a:spcAft>
                <a:spcPts val="0"/>
              </a:spcAft>
              <a:buClr>
                <a:schemeClr val="dk1"/>
              </a:buClr>
              <a:buSzPts val="2800"/>
              <a:buChar char="•"/>
            </a:pPr>
            <a:r>
              <a:rPr lang="en-US"/>
              <a:t>Consider 8 bit checksum is used.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ph type="title"/>
          </p:nvPr>
        </p:nvSpPr>
        <p:spPr>
          <a:xfrm>
            <a:off x="838200" y="365125"/>
            <a:ext cx="10515600" cy="6857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Solution</a:t>
            </a:r>
            <a:endParaRPr/>
          </a:p>
        </p:txBody>
      </p:sp>
      <p:sp>
        <p:nvSpPr>
          <p:cNvPr id="336" name="Google Shape;336;p40"/>
          <p:cNvSpPr txBox="1"/>
          <p:nvPr>
            <p:ph idx="1" type="body"/>
          </p:nvPr>
        </p:nvSpPr>
        <p:spPr>
          <a:xfrm>
            <a:off x="838200" y="1323832"/>
            <a:ext cx="10515600" cy="5213445"/>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At sender side,</a:t>
            </a:r>
            <a:endParaRPr/>
          </a:p>
          <a:p>
            <a:pPr indent="-228600" lvl="1" marL="685800" rtl="0" algn="l">
              <a:lnSpc>
                <a:spcPct val="90000"/>
              </a:lnSpc>
              <a:spcBef>
                <a:spcPts val="500"/>
              </a:spcBef>
              <a:spcAft>
                <a:spcPts val="0"/>
              </a:spcAft>
              <a:buClr>
                <a:schemeClr val="dk1"/>
              </a:buClr>
              <a:buSzPct val="100000"/>
              <a:buChar char="•"/>
            </a:pPr>
            <a:r>
              <a:rPr lang="en-US"/>
              <a:t>The given data unit is divided into segments of 8 bits</a:t>
            </a:r>
            <a:endParaRPr/>
          </a:p>
          <a:p>
            <a:pPr indent="-228600" lvl="1" marL="685800" rtl="0" algn="l">
              <a:lnSpc>
                <a:spcPct val="90000"/>
              </a:lnSpc>
              <a:spcBef>
                <a:spcPts val="500"/>
              </a:spcBef>
              <a:spcAft>
                <a:spcPts val="0"/>
              </a:spcAft>
              <a:buClr>
                <a:schemeClr val="dk1"/>
              </a:buClr>
              <a:buSzPct val="100000"/>
              <a:buChar char="•"/>
            </a:pPr>
            <a:r>
              <a:rPr lang="en-US"/>
              <a:t>Now, all the segments are added and the result is obtained as-</a:t>
            </a:r>
            <a:endParaRPr/>
          </a:p>
          <a:p>
            <a:pPr indent="-228600" lvl="1" marL="685800" rtl="0" algn="l">
              <a:lnSpc>
                <a:spcPct val="90000"/>
              </a:lnSpc>
              <a:spcBef>
                <a:spcPts val="500"/>
              </a:spcBef>
              <a:spcAft>
                <a:spcPts val="0"/>
              </a:spcAft>
              <a:buClr>
                <a:schemeClr val="dk1"/>
              </a:buClr>
              <a:buSzPct val="100000"/>
              <a:buChar char="•"/>
            </a:pPr>
            <a:r>
              <a:rPr lang="en-US"/>
              <a:t>10011001 + 11100010 + 00100100 + 10000100 = 1000100011</a:t>
            </a:r>
            <a:endParaRPr/>
          </a:p>
          <a:p>
            <a:pPr indent="-228600" lvl="1" marL="685800" rtl="0" algn="l">
              <a:lnSpc>
                <a:spcPct val="90000"/>
              </a:lnSpc>
              <a:spcBef>
                <a:spcPts val="500"/>
              </a:spcBef>
              <a:spcAft>
                <a:spcPts val="0"/>
              </a:spcAft>
              <a:buClr>
                <a:schemeClr val="dk1"/>
              </a:buClr>
              <a:buSzPct val="100000"/>
              <a:buChar char="•"/>
            </a:pPr>
            <a:r>
              <a:rPr lang="en-US"/>
              <a:t>Since the result consists of 10 bits, so extra 2 bits are wrapped around.</a:t>
            </a:r>
            <a:endParaRPr/>
          </a:p>
          <a:p>
            <a:pPr indent="-228600" lvl="1" marL="685800" rtl="0" algn="l">
              <a:lnSpc>
                <a:spcPct val="90000"/>
              </a:lnSpc>
              <a:spcBef>
                <a:spcPts val="500"/>
              </a:spcBef>
              <a:spcAft>
                <a:spcPts val="0"/>
              </a:spcAft>
              <a:buClr>
                <a:schemeClr val="dk1"/>
              </a:buClr>
              <a:buSzPct val="100000"/>
              <a:buChar char="•"/>
            </a:pPr>
            <a:r>
              <a:rPr lang="en-US"/>
              <a:t>00100011 + 10 = 00100101 (8 bits)</a:t>
            </a:r>
            <a:endParaRPr/>
          </a:p>
          <a:p>
            <a:pPr indent="-228600" lvl="1" marL="685800" rtl="0" algn="l">
              <a:lnSpc>
                <a:spcPct val="90000"/>
              </a:lnSpc>
              <a:spcBef>
                <a:spcPts val="500"/>
              </a:spcBef>
              <a:spcAft>
                <a:spcPts val="0"/>
              </a:spcAft>
              <a:buClr>
                <a:schemeClr val="dk1"/>
              </a:buClr>
              <a:buSzPct val="100000"/>
              <a:buChar char="•"/>
            </a:pPr>
            <a:r>
              <a:rPr lang="en-US"/>
              <a:t>Now, 1’s complement is taken which is 11011010.</a:t>
            </a:r>
            <a:endParaRPr/>
          </a:p>
          <a:p>
            <a:pPr indent="-228600" lvl="1" marL="685800" rtl="0" algn="l">
              <a:lnSpc>
                <a:spcPct val="90000"/>
              </a:lnSpc>
              <a:spcBef>
                <a:spcPts val="500"/>
              </a:spcBef>
              <a:spcAft>
                <a:spcPts val="0"/>
              </a:spcAft>
              <a:buClr>
                <a:schemeClr val="dk1"/>
              </a:buClr>
              <a:buSzPct val="100000"/>
              <a:buChar char="•"/>
            </a:pPr>
            <a:r>
              <a:rPr lang="en-US"/>
              <a:t>Thus, checksum value = 11011010</a:t>
            </a:r>
            <a:endParaRPr/>
          </a:p>
          <a:p>
            <a:pPr indent="-228600" lvl="1" marL="685800" rtl="0" algn="l">
              <a:lnSpc>
                <a:spcPct val="90000"/>
              </a:lnSpc>
              <a:spcBef>
                <a:spcPts val="500"/>
              </a:spcBef>
              <a:spcAft>
                <a:spcPts val="0"/>
              </a:spcAft>
              <a:buClr>
                <a:schemeClr val="dk1"/>
              </a:buClr>
              <a:buSzPct val="100000"/>
              <a:buChar char="•"/>
            </a:pPr>
            <a:r>
              <a:rPr lang="en-US"/>
              <a:t>The data along with the checksum value is transmitted to the receiver.</a:t>
            </a:r>
            <a:endParaRPr/>
          </a:p>
          <a:p>
            <a:pPr indent="0" lvl="1" marL="4572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At receiver side,</a:t>
            </a:r>
            <a:endParaRPr/>
          </a:p>
          <a:p>
            <a:pPr indent="-228600" lvl="1" marL="685800" rtl="0" algn="l">
              <a:lnSpc>
                <a:spcPct val="90000"/>
              </a:lnSpc>
              <a:spcBef>
                <a:spcPts val="500"/>
              </a:spcBef>
              <a:spcAft>
                <a:spcPts val="0"/>
              </a:spcAft>
              <a:buClr>
                <a:schemeClr val="dk1"/>
              </a:buClr>
              <a:buSzPct val="100000"/>
              <a:buChar char="•"/>
            </a:pPr>
            <a:r>
              <a:rPr lang="en-US"/>
              <a:t>The received data unit is divided into segments of 8 bits.</a:t>
            </a:r>
            <a:endParaRPr/>
          </a:p>
          <a:p>
            <a:pPr indent="-228600" lvl="1" marL="685800" rtl="0" algn="l">
              <a:lnSpc>
                <a:spcPct val="90000"/>
              </a:lnSpc>
              <a:spcBef>
                <a:spcPts val="500"/>
              </a:spcBef>
              <a:spcAft>
                <a:spcPts val="0"/>
              </a:spcAft>
              <a:buClr>
                <a:schemeClr val="dk1"/>
              </a:buClr>
              <a:buSzPct val="100000"/>
              <a:buChar char="•"/>
            </a:pPr>
            <a:r>
              <a:rPr lang="en-US"/>
              <a:t>All the segments along with the checksum value are added.</a:t>
            </a:r>
            <a:endParaRPr/>
          </a:p>
          <a:p>
            <a:pPr indent="-228600" lvl="1" marL="685800" rtl="0" algn="l">
              <a:lnSpc>
                <a:spcPct val="90000"/>
              </a:lnSpc>
              <a:spcBef>
                <a:spcPts val="500"/>
              </a:spcBef>
              <a:spcAft>
                <a:spcPts val="0"/>
              </a:spcAft>
              <a:buClr>
                <a:schemeClr val="dk1"/>
              </a:buClr>
              <a:buSzPct val="100000"/>
              <a:buChar char="•"/>
            </a:pPr>
            <a:r>
              <a:rPr lang="en-US"/>
              <a:t>Sum of all segments + Checksum value = 00100101 + 11011010 = 11111111</a:t>
            </a:r>
            <a:endParaRPr/>
          </a:p>
          <a:p>
            <a:pPr indent="-228600" lvl="1" marL="685800" rtl="0" algn="l">
              <a:lnSpc>
                <a:spcPct val="90000"/>
              </a:lnSpc>
              <a:spcBef>
                <a:spcPts val="500"/>
              </a:spcBef>
              <a:spcAft>
                <a:spcPts val="0"/>
              </a:spcAft>
              <a:buClr>
                <a:schemeClr val="dk1"/>
              </a:buClr>
              <a:buSzPct val="100000"/>
              <a:buChar char="•"/>
            </a:pPr>
            <a:r>
              <a:rPr lang="en-US"/>
              <a:t>Complemented value = 00000000</a:t>
            </a:r>
            <a:endParaRPr/>
          </a:p>
          <a:p>
            <a:pPr indent="-228600" lvl="1" marL="685800" rtl="0" algn="l">
              <a:lnSpc>
                <a:spcPct val="90000"/>
              </a:lnSpc>
              <a:spcBef>
                <a:spcPts val="500"/>
              </a:spcBef>
              <a:spcAft>
                <a:spcPts val="0"/>
              </a:spcAft>
              <a:buClr>
                <a:schemeClr val="dk1"/>
              </a:buClr>
              <a:buSzPct val="100000"/>
              <a:buChar char="•"/>
            </a:pPr>
            <a:r>
              <a:rPr lang="en-US"/>
              <a:t>Since the result is 0, receiver assumes no error occurred in the data and therefore accepts it.</a:t>
            </a:r>
            <a:endParaRPr/>
          </a:p>
          <a:p>
            <a:pPr indent="-87630" lvl="1" marL="685800" rtl="0" algn="l">
              <a:lnSpc>
                <a:spcPct val="90000"/>
              </a:lnSpc>
              <a:spcBef>
                <a:spcPts val="5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2022-10-29T09:41:10Z</dcterms:created>
  <dc:creator>deepa</dc:creator>
</cp:coreProperties>
</file>