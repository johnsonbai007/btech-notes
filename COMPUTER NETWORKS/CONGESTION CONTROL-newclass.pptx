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7" roundtripDataSignature="AMtx7mi/quvkqfVJ+oUEU+5IE5Cn1dXU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23" Type="http://schemas.openxmlformats.org/officeDocument/2006/relationships/slide" Target="slides/slide19.xml"/><Relationship Id="rId67" Type="http://customschemas.google.com/relationships/presentationmetadata" Target="meta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472f834a7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2472f834a7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2472f834a7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1400175" y="0"/>
            <a:ext cx="64008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21" name="Google Shape;121;p5:notes"/>
          <p:cNvSpPr txBox="1"/>
          <p:nvPr>
            <p:ph idx="1" type="body"/>
          </p:nvPr>
        </p:nvSpPr>
        <p:spPr>
          <a:xfrm>
            <a:off x="503238" y="4316413"/>
            <a:ext cx="5856287" cy="40608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p:nvPr>
            <p:ph idx="2" type="sldImg"/>
          </p:nvPr>
        </p:nvSpPr>
        <p:spPr>
          <a:xfrm>
            <a:off x="-1400175" y="0"/>
            <a:ext cx="64008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82" name="Google Shape;182;p14:notes"/>
          <p:cNvSpPr txBox="1"/>
          <p:nvPr>
            <p:ph idx="1" type="body"/>
          </p:nvPr>
        </p:nvSpPr>
        <p:spPr>
          <a:xfrm>
            <a:off x="503238" y="4316413"/>
            <a:ext cx="5856287" cy="40608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p:nvPr>
            <p:ph idx="2" type="sldImg"/>
          </p:nvPr>
        </p:nvSpPr>
        <p:spPr>
          <a:xfrm>
            <a:off x="-1400175" y="0"/>
            <a:ext cx="64008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24" name="Google Shape;224;p20:notes"/>
          <p:cNvSpPr txBox="1"/>
          <p:nvPr>
            <p:ph idx="1" type="body"/>
          </p:nvPr>
        </p:nvSpPr>
        <p:spPr>
          <a:xfrm>
            <a:off x="503238" y="4316413"/>
            <a:ext cx="5856287" cy="40608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p:nvPr>
            <p:ph idx="2" type="sldImg"/>
          </p:nvPr>
        </p:nvSpPr>
        <p:spPr>
          <a:xfrm>
            <a:off x="-1400175" y="0"/>
            <a:ext cx="64008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30" name="Google Shape;230;p21:notes"/>
          <p:cNvSpPr txBox="1"/>
          <p:nvPr>
            <p:ph idx="1" type="body"/>
          </p:nvPr>
        </p:nvSpPr>
        <p:spPr>
          <a:xfrm>
            <a:off x="503238" y="4316413"/>
            <a:ext cx="5856287" cy="40608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6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6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6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7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1"/>
          <p:cNvSpPr/>
          <p:nvPr>
            <p:ph idx="2" type="pic"/>
          </p:nvPr>
        </p:nvSpPr>
        <p:spPr>
          <a:xfrm>
            <a:off x="5183188" y="987425"/>
            <a:ext cx="6172200" cy="4873625"/>
          </a:xfrm>
          <a:prstGeom prst="rect">
            <a:avLst/>
          </a:prstGeom>
          <a:noFill/>
          <a:ln>
            <a:noFill/>
          </a:ln>
        </p:spPr>
      </p:sp>
      <p:sp>
        <p:nvSpPr>
          <p:cNvPr id="68" name="Google Shape;68;p7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ecomputernotes.com/fundamental/input-output-and-memory/what-are-the-different-types-of-ram-explain-in-detai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2472f834a71_0_0"/>
          <p:cNvSpPr txBox="1"/>
          <p:nvPr>
            <p:ph type="ctrTitle"/>
          </p:nvPr>
        </p:nvSpPr>
        <p:spPr>
          <a:xfrm>
            <a:off x="1524000" y="1122363"/>
            <a:ext cx="9144000" cy="2387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b="1" lang="en-US" sz="4400"/>
              <a:t>CONGESTION CONTROL</a:t>
            </a:r>
            <a:endParaRPr sz="4400"/>
          </a:p>
          <a:p>
            <a:pPr indent="0" lvl="0" marL="0" rtl="0" algn="ctr">
              <a:spcBef>
                <a:spcPts val="0"/>
              </a:spcBef>
              <a:spcAft>
                <a:spcPts val="0"/>
              </a:spcAft>
              <a:buNone/>
            </a:pPr>
            <a:r>
              <a:t/>
            </a:r>
            <a:endParaRPr/>
          </a:p>
        </p:txBody>
      </p:sp>
      <p:sp>
        <p:nvSpPr>
          <p:cNvPr id="90" name="Google Shape;90;g2472f834a71_0_0"/>
          <p:cNvSpPr txBox="1"/>
          <p:nvPr>
            <p:ph idx="1" type="subTitle"/>
          </p:nvPr>
        </p:nvSpPr>
        <p:spPr>
          <a:xfrm>
            <a:off x="1524000" y="3602038"/>
            <a:ext cx="9144000" cy="16557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Clr>
                <a:schemeClr val="dk1"/>
              </a:buClr>
              <a:buSzPts val="2400"/>
              <a:buFont typeface="Arial"/>
              <a:buNone/>
            </a:pPr>
            <a:r>
              <a:rPr lang="en-US"/>
              <a:t>Prepared by</a:t>
            </a:r>
            <a:endParaRPr/>
          </a:p>
          <a:p>
            <a:pPr indent="0" lvl="0" marL="0" rtl="0" algn="l">
              <a:spcBef>
                <a:spcPts val="0"/>
              </a:spcBef>
              <a:spcAft>
                <a:spcPts val="0"/>
              </a:spcAft>
              <a:buClr>
                <a:schemeClr val="dk1"/>
              </a:buClr>
              <a:buSzPts val="2400"/>
              <a:buFont typeface="Arial"/>
              <a:buNone/>
            </a:pPr>
            <a:r>
              <a:rPr lang="en-US"/>
              <a:t>Divya K S</a:t>
            </a:r>
            <a:endParaRPr/>
          </a:p>
          <a:p>
            <a:pPr indent="0" lvl="0" marL="0" rtl="0" algn="l">
              <a:spcBef>
                <a:spcPts val="0"/>
              </a:spcBef>
              <a:spcAft>
                <a:spcPts val="0"/>
              </a:spcAft>
              <a:buClr>
                <a:schemeClr val="dk1"/>
              </a:buClr>
              <a:buSzPts val="2400"/>
              <a:buFont typeface="Arial"/>
              <a:buNone/>
            </a:pPr>
            <a:r>
              <a:rPr lang="en-US"/>
              <a:t>Adi Shankara Institute of Engineering &amp; Technology </a:t>
            </a:r>
            <a:endParaRPr/>
          </a:p>
          <a:p>
            <a:pPr indent="0" lvl="0" marL="0" rtl="0" algn="l">
              <a:spcBef>
                <a:spcPts val="0"/>
              </a:spcBef>
              <a:spcAft>
                <a:spcPts val="0"/>
              </a:spcAft>
              <a:buClr>
                <a:schemeClr val="dk1"/>
              </a:buClr>
              <a:buSzPts val="2400"/>
              <a:buFont typeface="Arial"/>
              <a:buNone/>
            </a:pPr>
            <a:r>
              <a:rPr lang="en-US"/>
              <a:t>Kalady</a:t>
            </a:r>
            <a:endParaRPr/>
          </a:p>
          <a:p>
            <a:pPr indent="0" lvl="0" marL="0" rtl="0" algn="ctr">
              <a:spcBef>
                <a:spcPts val="10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CONGESTION CONTROL</a:t>
            </a:r>
            <a:endParaRPr/>
          </a:p>
        </p:txBody>
      </p:sp>
      <p:sp>
        <p:nvSpPr>
          <p:cNvPr id="96" name="Google Shape;96;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Too many packets present in (a part of) the network causes </a:t>
            </a:r>
            <a:r>
              <a:rPr lang="en-US">
                <a:solidFill>
                  <a:srgbClr val="FF0000"/>
                </a:solidFill>
              </a:rPr>
              <a:t>packet delay and loss that degrades performance.</a:t>
            </a:r>
            <a:r>
              <a:rPr lang="en-US"/>
              <a:t> </a:t>
            </a:r>
            <a:endParaRPr/>
          </a:p>
          <a:p>
            <a:pPr indent="-228600" lvl="0" marL="228600" rtl="0" algn="l">
              <a:lnSpc>
                <a:spcPct val="90000"/>
              </a:lnSpc>
              <a:spcBef>
                <a:spcPts val="1000"/>
              </a:spcBef>
              <a:spcAft>
                <a:spcPts val="0"/>
              </a:spcAft>
              <a:buClr>
                <a:schemeClr val="dk1"/>
              </a:buClr>
              <a:buSzPts val="2800"/>
              <a:buChar char="•"/>
            </a:pPr>
            <a:r>
              <a:rPr lang="en-US"/>
              <a:t>This situation is called </a:t>
            </a:r>
            <a:r>
              <a:rPr b="1" lang="en-US"/>
              <a:t>congestion. </a:t>
            </a:r>
            <a:endParaRPr/>
          </a:p>
        </p:txBody>
      </p:sp>
      <p:sp>
        <p:nvSpPr>
          <p:cNvPr id="97" name="Google Shape;97;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Factors that Cause Congestion</a:t>
            </a:r>
            <a:endParaRPr/>
          </a:p>
        </p:txBody>
      </p:sp>
      <p:sp>
        <p:nvSpPr>
          <p:cNvPr id="103" name="Google Shape;10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Packet arrival rate exceeds the outgoing link capacity.</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Insufficient memory to store arriving packets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Bursty traffic</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Slow processor</a:t>
            </a:r>
            <a:endParaRPr/>
          </a:p>
          <a:p>
            <a:pPr indent="0" lvl="1" marL="457200" rtl="0" algn="l">
              <a:lnSpc>
                <a:spcPct val="90000"/>
              </a:lnSpc>
              <a:spcBef>
                <a:spcPts val="500"/>
              </a:spcBef>
              <a:spcAft>
                <a:spcPts val="0"/>
              </a:spcAft>
              <a:buClr>
                <a:schemeClr val="dk1"/>
              </a:buClr>
              <a:buSzPts val="2000"/>
              <a:buNone/>
            </a:pPr>
            <a:r>
              <a:rPr lang="en-US" sz="2000"/>
              <a:t> </a:t>
            </a:r>
            <a:r>
              <a:rPr lang="en-US"/>
              <a:t>If the routers' CPUs are slow at performing queuing buffers, updating tables, etc., queues can build up, even though there is excess line capacity</a:t>
            </a:r>
            <a:endParaRPr/>
          </a:p>
        </p:txBody>
      </p:sp>
      <p:sp>
        <p:nvSpPr>
          <p:cNvPr id="104" name="Google Shape;10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Packet arrival rate exceeds the outgoing link capacity.</a:t>
            </a:r>
            <a:br>
              <a:rPr lang="en-US"/>
            </a:br>
            <a:endParaRPr/>
          </a:p>
        </p:txBody>
      </p:sp>
      <p:sp>
        <p:nvSpPr>
          <p:cNvPr id="110" name="Google Shape;110;p3"/>
          <p:cNvSpPr txBox="1"/>
          <p:nvPr>
            <p:ph idx="1" type="body"/>
          </p:nvPr>
        </p:nvSpPr>
        <p:spPr>
          <a:xfrm>
            <a:off x="838200" y="1465729"/>
            <a:ext cx="10515600" cy="471123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If suddenly, a stream of packet start arriving on three or four input lines and all need the same output line. </a:t>
            </a:r>
            <a:endParaRPr/>
          </a:p>
          <a:p>
            <a:pPr indent="-228600" lvl="0" marL="228600" rtl="0" algn="l">
              <a:lnSpc>
                <a:spcPct val="90000"/>
              </a:lnSpc>
              <a:spcBef>
                <a:spcPts val="1000"/>
              </a:spcBef>
              <a:spcAft>
                <a:spcPts val="0"/>
              </a:spcAft>
              <a:buClr>
                <a:schemeClr val="dk1"/>
              </a:buClr>
              <a:buSzPts val="2400"/>
              <a:buChar char="•"/>
            </a:pPr>
            <a:r>
              <a:rPr lang="en-US" sz="2400"/>
              <a:t>In this case, a queue will be built up. </a:t>
            </a:r>
            <a:endParaRPr/>
          </a:p>
          <a:p>
            <a:pPr indent="-228600" lvl="0" marL="228600" rtl="0" algn="l">
              <a:lnSpc>
                <a:spcPct val="90000"/>
              </a:lnSpc>
              <a:spcBef>
                <a:spcPts val="1000"/>
              </a:spcBef>
              <a:spcAft>
                <a:spcPts val="0"/>
              </a:spcAft>
              <a:buClr>
                <a:schemeClr val="dk1"/>
              </a:buClr>
              <a:buSzPts val="2400"/>
              <a:buChar char="•"/>
            </a:pPr>
            <a:r>
              <a:rPr lang="en-US" sz="2400"/>
              <a:t>If there is insufficient </a:t>
            </a:r>
            <a:r>
              <a:rPr lang="en-US" sz="2400" u="sng">
                <a:solidFill>
                  <a:schemeClr val="hlink"/>
                </a:solidFill>
                <a:hlinkClick r:id="rId3"/>
              </a:rPr>
              <a:t>memory</a:t>
            </a:r>
            <a:r>
              <a:rPr lang="en-US" sz="2400"/>
              <a:t> to hold all the packets, the packet will be lost.</a:t>
            </a:r>
            <a:endParaRPr/>
          </a:p>
          <a:p>
            <a:pPr indent="-228600" lvl="0" marL="228600" rtl="0" algn="l">
              <a:lnSpc>
                <a:spcPct val="90000"/>
              </a:lnSpc>
              <a:spcBef>
                <a:spcPts val="1000"/>
              </a:spcBef>
              <a:spcAft>
                <a:spcPts val="0"/>
              </a:spcAft>
              <a:buClr>
                <a:schemeClr val="dk1"/>
              </a:buClr>
              <a:buSzPts val="2400"/>
              <a:buChar char="•"/>
            </a:pPr>
            <a:r>
              <a:rPr lang="en-US" sz="2400"/>
              <a:t>Increasing the memory to unlimited size does not solve the problem.</a:t>
            </a:r>
            <a:endParaRPr/>
          </a:p>
          <a:p>
            <a:pPr indent="-228600" lvl="0" marL="228600" rtl="0" algn="l">
              <a:lnSpc>
                <a:spcPct val="90000"/>
              </a:lnSpc>
              <a:spcBef>
                <a:spcPts val="1000"/>
              </a:spcBef>
              <a:spcAft>
                <a:spcPts val="0"/>
              </a:spcAft>
              <a:buClr>
                <a:schemeClr val="dk1"/>
              </a:buClr>
              <a:buSzPts val="2400"/>
              <a:buChar char="•"/>
            </a:pPr>
            <a:r>
              <a:rPr lang="en-US" sz="2400"/>
              <a:t> This is because, by the time packets reach front of the queue, they have already timed out (as they waited the queue). When timer goes off source transmits duplicate packet that are also added to the queue. </a:t>
            </a:r>
            <a:endParaRPr/>
          </a:p>
          <a:p>
            <a:pPr indent="-228600" lvl="0" marL="228600" rtl="0" algn="l">
              <a:lnSpc>
                <a:spcPct val="90000"/>
              </a:lnSpc>
              <a:spcBef>
                <a:spcPts val="1000"/>
              </a:spcBef>
              <a:spcAft>
                <a:spcPts val="0"/>
              </a:spcAft>
              <a:buClr>
                <a:schemeClr val="dk1"/>
              </a:buClr>
              <a:buSzPts val="2400"/>
              <a:buChar char="•"/>
            </a:pPr>
            <a:r>
              <a:rPr lang="en-US" sz="2400"/>
              <a:t>Thus same packets are added again and again, increasing the load all the way to the destination.                                                                     </a:t>
            </a:r>
            <a:endParaRPr/>
          </a:p>
        </p:txBody>
      </p:sp>
      <p:sp>
        <p:nvSpPr>
          <p:cNvPr id="111" name="Google Shape;11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500"/>
                                        <p:tgtEl>
                                          <p:spTgt spid="1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Effect filter="fade" transition="in">
                                      <p:cBhvr>
                                        <p:cTn dur="500"/>
                                        <p:tgtEl>
                                          <p:spTgt spid="11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Packet arrival rate exceeds the outgoing link capacity.</a:t>
            </a:r>
            <a:endParaRPr/>
          </a:p>
        </p:txBody>
      </p:sp>
      <p:pic>
        <p:nvPicPr>
          <p:cNvPr id="117" name="Google Shape;117;p4"/>
          <p:cNvPicPr preferRelativeResize="0"/>
          <p:nvPr>
            <p:ph idx="1" type="body"/>
          </p:nvPr>
        </p:nvPicPr>
        <p:blipFill rotWithShape="1">
          <a:blip r:embed="rId3">
            <a:alphaModFix/>
          </a:blip>
          <a:srcRect b="0" l="0" r="0" t="0"/>
          <a:stretch/>
        </p:blipFill>
        <p:spPr>
          <a:xfrm>
            <a:off x="3048001" y="1752601"/>
            <a:ext cx="4962525" cy="3186113"/>
          </a:xfrm>
          <a:prstGeom prst="rect">
            <a:avLst/>
          </a:prstGeom>
          <a:noFill/>
          <a:ln>
            <a:noFill/>
          </a:ln>
        </p:spPr>
      </p:pic>
      <p:sp>
        <p:nvSpPr>
          <p:cNvPr id="118" name="Google Shape;11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nvSpPr>
        <p:spPr>
          <a:xfrm>
            <a:off x="1524000" y="209381"/>
            <a:ext cx="9144000" cy="724238"/>
          </a:xfrm>
          <a:prstGeom prst="rect">
            <a:avLst/>
          </a:prstGeom>
          <a:noFill/>
          <a:ln>
            <a:noFill/>
          </a:ln>
        </p:spPr>
        <p:txBody>
          <a:bodyPr anchorCtr="0" anchor="ctr" bIns="46800" lIns="90000" spcFirstLastPara="1" rIns="90000" wrap="square" tIns="46800">
            <a:spAutoFit/>
          </a:bodyPr>
          <a:lstStyle/>
          <a:p>
            <a:pPr indent="0" lvl="0" marL="0" marR="0" rtl="0" algn="ctr">
              <a:lnSpc>
                <a:spcPct val="93000"/>
              </a:lnSpc>
              <a:spcBef>
                <a:spcPts val="0"/>
              </a:spcBef>
              <a:spcAft>
                <a:spcPts val="0"/>
              </a:spcAft>
              <a:buClr>
                <a:srgbClr val="FF0000"/>
              </a:buClr>
              <a:buSzPts val="4400"/>
              <a:buFont typeface="Times New Roman"/>
              <a:buNone/>
            </a:pPr>
            <a:r>
              <a:rPr b="0" i="0" lang="en-US" sz="4400" u="none" cap="none" strike="noStrike">
                <a:solidFill>
                  <a:srgbClr val="FF0000"/>
                </a:solidFill>
                <a:latin typeface="Times New Roman"/>
                <a:ea typeface="Times New Roman"/>
                <a:cs typeface="Times New Roman"/>
                <a:sym typeface="Times New Roman"/>
              </a:rPr>
              <a:t>Congestion </a:t>
            </a:r>
            <a:endParaRPr/>
          </a:p>
        </p:txBody>
      </p:sp>
      <p:sp>
        <p:nvSpPr>
          <p:cNvPr id="124" name="Google Shape;124;p5"/>
          <p:cNvSpPr txBox="1"/>
          <p:nvPr/>
        </p:nvSpPr>
        <p:spPr>
          <a:xfrm>
            <a:off x="2012951" y="5715001"/>
            <a:ext cx="8367713" cy="781497"/>
          </a:xfrm>
          <a:prstGeom prst="rect">
            <a:avLst/>
          </a:prstGeom>
          <a:noFill/>
          <a:ln>
            <a:noFill/>
          </a:ln>
        </p:spPr>
        <p:txBody>
          <a:bodyPr anchorCtr="0" anchor="t" bIns="46800" lIns="90000" spcFirstLastPara="1" rIns="90000" wrap="square" tIns="46800">
            <a:spAutoFit/>
          </a:bodyPr>
          <a:lstStyle/>
          <a:p>
            <a:pPr indent="-608013" lvl="0" marL="608013" marR="0" rtl="0" algn="ctr">
              <a:lnSpc>
                <a:spcPct val="93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When too much traffic is offered, congestion sets in and performance degrades sharply.</a:t>
            </a:r>
            <a:endParaRPr/>
          </a:p>
        </p:txBody>
      </p:sp>
      <p:pic>
        <p:nvPicPr>
          <p:cNvPr id="125" name="Google Shape;125;p5"/>
          <p:cNvPicPr preferRelativeResize="0"/>
          <p:nvPr/>
        </p:nvPicPr>
        <p:blipFill rotWithShape="1">
          <a:blip r:embed="rId3">
            <a:alphaModFix/>
          </a:blip>
          <a:srcRect b="0" l="0" r="0" t="0"/>
          <a:stretch/>
        </p:blipFill>
        <p:spPr>
          <a:xfrm>
            <a:off x="3419476" y="1519239"/>
            <a:ext cx="5438775" cy="3470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Congestion </a:t>
            </a:r>
            <a:br>
              <a:rPr lang="en-US">
                <a:solidFill>
                  <a:srgbClr val="FF0000"/>
                </a:solidFill>
              </a:rPr>
            </a:br>
            <a:endParaRPr/>
          </a:p>
        </p:txBody>
      </p:sp>
      <p:sp>
        <p:nvSpPr>
          <p:cNvPr id="131" name="Google Shape;131;p6"/>
          <p:cNvSpPr txBox="1"/>
          <p:nvPr>
            <p:ph idx="1" type="body"/>
          </p:nvPr>
        </p:nvSpPr>
        <p:spPr>
          <a:xfrm>
            <a:off x="838200" y="1344706"/>
            <a:ext cx="10515600" cy="4832257"/>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When the number of packets  hosts send into the network is well within its carrying capacity, the number delivered is proportional to the number sent. </a:t>
            </a:r>
            <a:endParaRPr/>
          </a:p>
          <a:p>
            <a:pPr indent="-228600" lvl="0" marL="228600" rtl="0" algn="l">
              <a:lnSpc>
                <a:spcPct val="150000"/>
              </a:lnSpc>
              <a:spcBef>
                <a:spcPts val="1000"/>
              </a:spcBef>
              <a:spcAft>
                <a:spcPts val="0"/>
              </a:spcAft>
              <a:buClr>
                <a:schemeClr val="dk1"/>
              </a:buClr>
              <a:buSzPts val="2400"/>
              <a:buChar char="•"/>
            </a:pPr>
            <a:r>
              <a:rPr lang="en-US" sz="2400"/>
              <a:t>If twice as many are sent, twice as many  are delivered. </a:t>
            </a:r>
            <a:endParaRPr/>
          </a:p>
          <a:p>
            <a:pPr indent="-228600" lvl="0" marL="228600" rtl="0" algn="l">
              <a:lnSpc>
                <a:spcPct val="150000"/>
              </a:lnSpc>
              <a:spcBef>
                <a:spcPts val="1000"/>
              </a:spcBef>
              <a:spcAft>
                <a:spcPts val="0"/>
              </a:spcAft>
              <a:buClr>
                <a:schemeClr val="dk1"/>
              </a:buClr>
              <a:buSzPts val="2400"/>
              <a:buChar char="•"/>
            </a:pPr>
            <a:r>
              <a:rPr lang="en-US" sz="2400"/>
              <a:t>However, as the offered load approaches the carrying capacity, bursts of traffic occasionally fill up the buffers inside routers and some packets  are lost. </a:t>
            </a:r>
            <a:endParaRPr/>
          </a:p>
          <a:p>
            <a:pPr indent="-228600" lvl="0" marL="228600" rtl="0" algn="l">
              <a:lnSpc>
                <a:spcPct val="150000"/>
              </a:lnSpc>
              <a:spcBef>
                <a:spcPts val="1000"/>
              </a:spcBef>
              <a:spcAft>
                <a:spcPts val="0"/>
              </a:spcAft>
              <a:buClr>
                <a:schemeClr val="dk1"/>
              </a:buClr>
              <a:buSzPts val="2400"/>
              <a:buChar char="•"/>
            </a:pPr>
            <a:r>
              <a:rPr lang="en-US" sz="2400"/>
              <a:t>These lost packets consume some of the capacity, so the number of delivered  packets falls below the ideal curve. The network is now congested</a:t>
            </a:r>
            <a:endParaRPr/>
          </a:p>
        </p:txBody>
      </p:sp>
      <p:sp>
        <p:nvSpPr>
          <p:cNvPr id="132" name="Google Shape;13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5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500"/>
                                        <p:tgtEl>
                                          <p:spTgt spid="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Effect filter="fade" transition="in">
                                      <p:cBhvr>
                                        <p:cTn dur="500"/>
                                        <p:tgtEl>
                                          <p:spTgt spid="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Effect filter="fade" transition="in">
                                      <p:cBhvr>
                                        <p:cTn dur="500"/>
                                        <p:tgtEl>
                                          <p:spTgt spid="13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Congestion Control vs Flow Control</a:t>
            </a:r>
            <a:endParaRPr/>
          </a:p>
        </p:txBody>
      </p:sp>
      <p:sp>
        <p:nvSpPr>
          <p:cNvPr id="138" name="Google Shape;138;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Congestion control is a global issue – involves every router and host within the subnet</a:t>
            </a:r>
            <a:endParaRPr/>
          </a:p>
          <a:p>
            <a:pPr indent="-228600" lvl="0" marL="228600" rtl="0" algn="l">
              <a:lnSpc>
                <a:spcPct val="90000"/>
              </a:lnSpc>
              <a:spcBef>
                <a:spcPts val="1000"/>
              </a:spcBef>
              <a:spcAft>
                <a:spcPts val="0"/>
              </a:spcAft>
              <a:buClr>
                <a:schemeClr val="dk1"/>
              </a:buClr>
              <a:buSzPts val="2800"/>
              <a:buChar char="•"/>
            </a:pPr>
            <a:r>
              <a:rPr lang="en-US"/>
              <a:t>Flow control – scope is point-to-point; involves just sender and receiver.</a:t>
            </a:r>
            <a:endParaRPr/>
          </a:p>
        </p:txBody>
      </p:sp>
      <p:sp>
        <p:nvSpPr>
          <p:cNvPr id="139" name="Google Shape;13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Effect filter="fade" transition="in">
                                      <p:cBhvr>
                                        <p:cTn dur="500"/>
                                        <p:tgtEl>
                                          <p:spTgt spid="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animEffect filter="fade" transition="in">
                                      <p:cBhvr>
                                        <p:cTn dur="500"/>
                                        <p:tgtEl>
                                          <p:spTgt spid="13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Types of Congestion Control</a:t>
            </a:r>
            <a:endParaRPr/>
          </a:p>
        </p:txBody>
      </p:sp>
      <p:sp>
        <p:nvSpPr>
          <p:cNvPr id="145" name="Google Shape;145;p8"/>
          <p:cNvSpPr txBox="1"/>
          <p:nvPr>
            <p:ph idx="1" type="body"/>
          </p:nvPr>
        </p:nvSpPr>
        <p:spPr>
          <a:xfrm>
            <a:off x="1974850" y="1708150"/>
            <a:ext cx="8693150" cy="48450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None/>
            </a:pPr>
            <a:r>
              <a:rPr lang="en-US"/>
              <a:t>In general, we can divide congestion control mechanisms into two broad categories: </a:t>
            </a:r>
            <a:endParaRPr/>
          </a:p>
          <a:p>
            <a:pPr indent="-228600" lvl="1" marL="685800" rtl="0" algn="l">
              <a:lnSpc>
                <a:spcPct val="200000"/>
              </a:lnSpc>
              <a:spcBef>
                <a:spcPts val="500"/>
              </a:spcBef>
              <a:spcAft>
                <a:spcPts val="0"/>
              </a:spcAft>
              <a:buClr>
                <a:schemeClr val="dk1"/>
              </a:buClr>
              <a:buSzPts val="2400"/>
              <a:buChar char="•"/>
            </a:pPr>
            <a:r>
              <a:rPr lang="en-US"/>
              <a:t>Open-loop congestion control </a:t>
            </a:r>
            <a:endParaRPr/>
          </a:p>
          <a:p>
            <a:pPr indent="-228600" lvl="1" marL="685800" rtl="0" algn="l">
              <a:lnSpc>
                <a:spcPct val="200000"/>
              </a:lnSpc>
              <a:spcBef>
                <a:spcPts val="500"/>
              </a:spcBef>
              <a:spcAft>
                <a:spcPts val="0"/>
              </a:spcAft>
              <a:buClr>
                <a:schemeClr val="dk1"/>
              </a:buClr>
              <a:buSzPts val="2400"/>
              <a:buChar char="•"/>
            </a:pPr>
            <a:r>
              <a:rPr lang="en-US"/>
              <a:t>Closed-loop congestion control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open-loop congestion control</a:t>
            </a:r>
            <a:endParaRPr/>
          </a:p>
        </p:txBody>
      </p:sp>
      <p:sp>
        <p:nvSpPr>
          <p:cNvPr id="151" name="Google Shape;15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1" marL="342900" rtl="0" algn="l">
              <a:lnSpc>
                <a:spcPct val="90000"/>
              </a:lnSpc>
              <a:spcBef>
                <a:spcPts val="0"/>
              </a:spcBef>
              <a:spcAft>
                <a:spcPts val="0"/>
              </a:spcAft>
              <a:buClr>
                <a:schemeClr val="dk1"/>
              </a:buClr>
              <a:buSzPts val="3200"/>
              <a:buNone/>
            </a:pPr>
            <a:r>
              <a:rPr lang="en-US" sz="3200"/>
              <a:t>In open-loop congestion control, policies are applied to </a:t>
            </a:r>
            <a:r>
              <a:rPr lang="en-US" sz="3200">
                <a:solidFill>
                  <a:srgbClr val="FF0000"/>
                </a:solidFill>
              </a:rPr>
              <a:t>prevent congestion </a:t>
            </a:r>
            <a:r>
              <a:rPr lang="en-US" sz="3200"/>
              <a:t>before it happens.</a:t>
            </a:r>
            <a:endParaRPr/>
          </a:p>
          <a:p>
            <a:pPr indent="-342900" lvl="1" marL="342900" rtl="0" algn="l">
              <a:lnSpc>
                <a:spcPct val="90000"/>
              </a:lnSpc>
              <a:spcBef>
                <a:spcPts val="500"/>
              </a:spcBef>
              <a:spcAft>
                <a:spcPts val="0"/>
              </a:spcAft>
              <a:buClr>
                <a:schemeClr val="dk1"/>
              </a:buClr>
              <a:buSzPts val="3200"/>
              <a:buNone/>
            </a:pPr>
            <a:r>
              <a:t/>
            </a:r>
            <a:endParaRPr sz="3200"/>
          </a:p>
          <a:p>
            <a:pPr indent="-342900" lvl="1" marL="342900" rtl="0" algn="l">
              <a:lnSpc>
                <a:spcPct val="90000"/>
              </a:lnSpc>
              <a:spcBef>
                <a:spcPts val="500"/>
              </a:spcBef>
              <a:spcAft>
                <a:spcPts val="0"/>
              </a:spcAft>
              <a:buClr>
                <a:schemeClr val="dk1"/>
              </a:buClr>
              <a:buSzPts val="3200"/>
              <a:buNone/>
            </a:pPr>
            <a:r>
              <a:rPr lang="en-US" sz="3200"/>
              <a:t> In these mechanisms, congestion control is handled by either the source or the destination</a:t>
            </a:r>
            <a:endParaRPr/>
          </a:p>
          <a:p>
            <a:pPr indent="-228600" lvl="0" marL="228600" rtl="0" algn="l">
              <a:lnSpc>
                <a:spcPct val="90000"/>
              </a:lnSpc>
              <a:spcBef>
                <a:spcPts val="1000"/>
              </a:spcBef>
              <a:spcAft>
                <a:spcPts val="0"/>
              </a:spcAft>
              <a:buClr>
                <a:schemeClr val="dk1"/>
              </a:buClr>
              <a:buSzPts val="3200"/>
              <a:buFont typeface="Calibri"/>
              <a:buNone/>
            </a:pPr>
            <a:r>
              <a:t/>
            </a:r>
            <a:endParaRPr sz="3200"/>
          </a:p>
        </p:txBody>
      </p:sp>
      <p:sp>
        <p:nvSpPr>
          <p:cNvPr id="152" name="Google Shape;15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Closed-Loop Congestion Control</a:t>
            </a:r>
            <a:endParaRPr/>
          </a:p>
        </p:txBody>
      </p:sp>
      <p:sp>
        <p:nvSpPr>
          <p:cNvPr id="158" name="Google Shape;158;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None/>
            </a:pPr>
            <a:r>
              <a:rPr lang="en-US"/>
              <a:t>Closed-loop congestion control mechanisms try to </a:t>
            </a:r>
            <a:r>
              <a:rPr lang="en-US">
                <a:solidFill>
                  <a:srgbClr val="FF0000"/>
                </a:solidFill>
              </a:rPr>
              <a:t>alleviate congestion after it happens</a:t>
            </a:r>
            <a:endParaRPr/>
          </a:p>
        </p:txBody>
      </p:sp>
      <p:sp>
        <p:nvSpPr>
          <p:cNvPr id="159" name="Google Shape;15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open-loop congestion control</a:t>
            </a:r>
            <a:endParaRPr sz="4000"/>
          </a:p>
        </p:txBody>
      </p:sp>
      <p:sp>
        <p:nvSpPr>
          <p:cNvPr id="165" name="Google Shape;165;p11"/>
          <p:cNvSpPr txBox="1"/>
          <p:nvPr>
            <p:ph idx="1" type="body"/>
          </p:nvPr>
        </p:nvSpPr>
        <p:spPr>
          <a:xfrm>
            <a:off x="1524000" y="722489"/>
            <a:ext cx="9008532" cy="598311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Font typeface="Arial"/>
              <a:buChar char="•"/>
            </a:pPr>
            <a:r>
              <a:rPr lang="en-US">
                <a:solidFill>
                  <a:srgbClr val="FF0000"/>
                </a:solidFill>
              </a:rPr>
              <a:t>Open loop solutions </a:t>
            </a:r>
            <a:r>
              <a:rPr lang="en-US"/>
              <a:t>attempt to solve the problem by </a:t>
            </a:r>
            <a:r>
              <a:rPr lang="en-US">
                <a:solidFill>
                  <a:srgbClr val="FF0000"/>
                </a:solidFill>
              </a:rPr>
              <a:t>good design</a:t>
            </a:r>
            <a:r>
              <a:rPr lang="en-US"/>
              <a:t>, to make sure congestion does not occur in the first place. </a:t>
            </a:r>
            <a:endParaRPr/>
          </a:p>
          <a:p>
            <a:pPr indent="-228600" lvl="0" marL="228600" rtl="0" algn="l">
              <a:lnSpc>
                <a:spcPct val="90000"/>
              </a:lnSpc>
              <a:spcBef>
                <a:spcPts val="1000"/>
              </a:spcBef>
              <a:spcAft>
                <a:spcPts val="0"/>
              </a:spcAft>
              <a:buClr>
                <a:schemeClr val="dk1"/>
              </a:buClr>
              <a:buSzPts val="2800"/>
              <a:buFont typeface="Arial"/>
              <a:buChar char="•"/>
            </a:pPr>
            <a:r>
              <a:rPr lang="en-US"/>
              <a:t>Once the system is up and running, midcourse corrections are not made </a:t>
            </a:r>
            <a:endParaRPr/>
          </a:p>
          <a:p>
            <a:pPr indent="-228600" lvl="0" marL="228600" rtl="0" algn="just">
              <a:lnSpc>
                <a:spcPct val="90000"/>
              </a:lnSpc>
              <a:spcBef>
                <a:spcPts val="1000"/>
              </a:spcBef>
              <a:spcAft>
                <a:spcPts val="0"/>
              </a:spcAft>
              <a:buClr>
                <a:schemeClr val="dk1"/>
              </a:buClr>
              <a:buSzPts val="2800"/>
              <a:buFont typeface="Arial"/>
              <a:buChar char="•"/>
            </a:pPr>
            <a:r>
              <a:rPr lang="en-US"/>
              <a:t>Tools for doing open-loop control include </a:t>
            </a:r>
            <a:endParaRPr/>
          </a:p>
          <a:p>
            <a:pPr indent="-228600" lvl="1" marL="685800" rtl="0" algn="just">
              <a:lnSpc>
                <a:spcPct val="90000"/>
              </a:lnSpc>
              <a:spcBef>
                <a:spcPts val="500"/>
              </a:spcBef>
              <a:spcAft>
                <a:spcPts val="0"/>
              </a:spcAft>
              <a:buClr>
                <a:schemeClr val="dk1"/>
              </a:buClr>
              <a:buSzPts val="2400"/>
              <a:buFont typeface="Arial"/>
              <a:buChar char="•"/>
            </a:pPr>
            <a:r>
              <a:rPr lang="en-US"/>
              <a:t>deciding when to accept new traffic</a:t>
            </a:r>
            <a:endParaRPr/>
          </a:p>
          <a:p>
            <a:pPr indent="-228600" lvl="1" marL="685800" rtl="0" algn="just">
              <a:lnSpc>
                <a:spcPct val="90000"/>
              </a:lnSpc>
              <a:spcBef>
                <a:spcPts val="500"/>
              </a:spcBef>
              <a:spcAft>
                <a:spcPts val="0"/>
              </a:spcAft>
              <a:buClr>
                <a:schemeClr val="dk1"/>
              </a:buClr>
              <a:buSzPts val="2400"/>
              <a:buFont typeface="Arial"/>
              <a:buChar char="•"/>
            </a:pPr>
            <a:r>
              <a:rPr lang="en-US"/>
              <a:t>deciding when to discard packets</a:t>
            </a:r>
            <a:endParaRPr/>
          </a:p>
          <a:p>
            <a:pPr indent="-228600" lvl="1" marL="685800" rtl="0" algn="just">
              <a:lnSpc>
                <a:spcPct val="90000"/>
              </a:lnSpc>
              <a:spcBef>
                <a:spcPts val="500"/>
              </a:spcBef>
              <a:spcAft>
                <a:spcPts val="0"/>
              </a:spcAft>
              <a:buClr>
                <a:schemeClr val="dk1"/>
              </a:buClr>
              <a:buSzPts val="2400"/>
              <a:buFont typeface="Arial"/>
              <a:buChar char="•"/>
            </a:pPr>
            <a:r>
              <a:rPr lang="en-US"/>
              <a:t>which ones to discard</a:t>
            </a:r>
            <a:endParaRPr/>
          </a:p>
          <a:p>
            <a:pPr indent="-228600" lvl="1" marL="685800" rtl="0" algn="just">
              <a:lnSpc>
                <a:spcPct val="90000"/>
              </a:lnSpc>
              <a:spcBef>
                <a:spcPts val="500"/>
              </a:spcBef>
              <a:spcAft>
                <a:spcPts val="0"/>
              </a:spcAft>
              <a:buClr>
                <a:schemeClr val="dk1"/>
              </a:buClr>
              <a:buSzPts val="2400"/>
              <a:buFont typeface="Arial"/>
              <a:buChar char="•"/>
            </a:pPr>
            <a:r>
              <a:rPr lang="en-US"/>
              <a:t>making scheduling decisions at various points in the network</a:t>
            </a:r>
            <a:endParaRPr/>
          </a:p>
        </p:txBody>
      </p:sp>
      <p:sp>
        <p:nvSpPr>
          <p:cNvPr id="166" name="Google Shape;16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Closed-Loop Congestion Control</a:t>
            </a:r>
            <a:endParaRPr/>
          </a:p>
        </p:txBody>
      </p:sp>
      <p:sp>
        <p:nvSpPr>
          <p:cNvPr id="172" name="Google Shape;172;p12"/>
          <p:cNvSpPr txBox="1"/>
          <p:nvPr>
            <p:ph idx="1" type="body"/>
          </p:nvPr>
        </p:nvSpPr>
        <p:spPr>
          <a:xfrm>
            <a:off x="1974850" y="1708150"/>
            <a:ext cx="8693150" cy="48450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Closed loop solution based on the concept of a feedback loop.</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This approach has </a:t>
            </a:r>
            <a:r>
              <a:rPr lang="en-US">
                <a:solidFill>
                  <a:srgbClr val="FF0000"/>
                </a:solidFill>
              </a:rPr>
              <a:t>three parts </a:t>
            </a:r>
            <a:r>
              <a:rPr lang="en-US"/>
              <a:t>when applied to congestion control</a:t>
            </a:r>
            <a:endParaRPr/>
          </a:p>
          <a:p>
            <a:pPr indent="-457200" lvl="1" marL="914400" rtl="0" algn="l">
              <a:lnSpc>
                <a:spcPct val="90000"/>
              </a:lnSpc>
              <a:spcBef>
                <a:spcPts val="500"/>
              </a:spcBef>
              <a:spcAft>
                <a:spcPts val="0"/>
              </a:spcAft>
              <a:buClr>
                <a:schemeClr val="dk1"/>
              </a:buClr>
              <a:buSzPts val="2400"/>
              <a:buFont typeface="Calibri"/>
              <a:buAutoNum type="arabicPeriod"/>
            </a:pPr>
            <a:r>
              <a:rPr lang="en-US"/>
              <a:t>Monitor the system and    detect when and where congestion occurs.</a:t>
            </a:r>
            <a:endParaRPr/>
          </a:p>
          <a:p>
            <a:pPr indent="-457200" lvl="1" marL="914400" rtl="0" algn="l">
              <a:lnSpc>
                <a:spcPct val="90000"/>
              </a:lnSpc>
              <a:spcBef>
                <a:spcPts val="500"/>
              </a:spcBef>
              <a:spcAft>
                <a:spcPts val="0"/>
              </a:spcAft>
              <a:buClr>
                <a:schemeClr val="dk1"/>
              </a:buClr>
              <a:buSzPts val="2400"/>
              <a:buFont typeface="Calibri"/>
              <a:buAutoNum type="arabicPeriod"/>
            </a:pPr>
            <a:r>
              <a:rPr lang="en-US"/>
              <a:t>Pass information to where action can be taken.</a:t>
            </a:r>
            <a:endParaRPr/>
          </a:p>
          <a:p>
            <a:pPr indent="-457200" lvl="1" marL="914400" rtl="0" algn="l">
              <a:lnSpc>
                <a:spcPct val="90000"/>
              </a:lnSpc>
              <a:spcBef>
                <a:spcPts val="500"/>
              </a:spcBef>
              <a:spcAft>
                <a:spcPts val="0"/>
              </a:spcAft>
              <a:buClr>
                <a:schemeClr val="dk1"/>
              </a:buClr>
              <a:buSzPts val="2400"/>
              <a:buFont typeface="Calibri"/>
              <a:buAutoNum type="arabicPeriod"/>
            </a:pPr>
            <a:r>
              <a:rPr lang="en-US"/>
              <a:t>Adjust system operation to correct the problem.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General Principles of Congestion Control</a:t>
            </a:r>
            <a:endParaRPr/>
          </a:p>
        </p:txBody>
      </p:sp>
      <p:sp>
        <p:nvSpPr>
          <p:cNvPr id="178" name="Google Shape;178;p13"/>
          <p:cNvSpPr txBox="1"/>
          <p:nvPr>
            <p:ph idx="1" type="body"/>
          </p:nvPr>
        </p:nvSpPr>
        <p:spPr>
          <a:xfrm>
            <a:off x="1659468" y="722489"/>
            <a:ext cx="8873065" cy="598311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open loop algorithms are divided into </a:t>
            </a:r>
            <a:endParaRPr/>
          </a:p>
          <a:p>
            <a:pPr indent="-228600" lvl="1" marL="685800" rtl="0" algn="just">
              <a:lnSpc>
                <a:spcPct val="90000"/>
              </a:lnSpc>
              <a:spcBef>
                <a:spcPts val="500"/>
              </a:spcBef>
              <a:spcAft>
                <a:spcPts val="0"/>
              </a:spcAft>
              <a:buClr>
                <a:schemeClr val="dk1"/>
              </a:buClr>
              <a:buSzPts val="2400"/>
              <a:buFont typeface="Arial"/>
              <a:buChar char="•"/>
            </a:pPr>
            <a:r>
              <a:rPr lang="en-US"/>
              <a:t>ones that act at the source </a:t>
            </a:r>
            <a:endParaRPr/>
          </a:p>
          <a:p>
            <a:pPr indent="-228600" lvl="1" marL="685800" rtl="0" algn="just">
              <a:lnSpc>
                <a:spcPct val="90000"/>
              </a:lnSpc>
              <a:spcBef>
                <a:spcPts val="500"/>
              </a:spcBef>
              <a:spcAft>
                <a:spcPts val="0"/>
              </a:spcAft>
              <a:buClr>
                <a:schemeClr val="dk1"/>
              </a:buClr>
              <a:buSzPts val="2400"/>
              <a:buFont typeface="Arial"/>
              <a:buChar char="•"/>
            </a:pPr>
            <a:r>
              <a:rPr lang="en-US"/>
              <a:t>ones that act at the destination</a:t>
            </a:r>
            <a:endParaRPr/>
          </a:p>
          <a:p>
            <a:pPr indent="-228600" lvl="0" marL="228600" rtl="0" algn="just">
              <a:lnSpc>
                <a:spcPct val="90000"/>
              </a:lnSpc>
              <a:spcBef>
                <a:spcPts val="1000"/>
              </a:spcBef>
              <a:spcAft>
                <a:spcPts val="0"/>
              </a:spcAft>
              <a:buClr>
                <a:schemeClr val="dk1"/>
              </a:buClr>
              <a:buSzPts val="2800"/>
              <a:buFont typeface="Arial"/>
              <a:buChar char="•"/>
            </a:pPr>
            <a:r>
              <a:rPr lang="en-US"/>
              <a:t>closed loop algorithms are divided into </a:t>
            </a:r>
            <a:endParaRPr/>
          </a:p>
          <a:p>
            <a:pPr indent="-228600" lvl="1" marL="685800" rtl="0" algn="just">
              <a:lnSpc>
                <a:spcPct val="90000"/>
              </a:lnSpc>
              <a:spcBef>
                <a:spcPts val="500"/>
              </a:spcBef>
              <a:spcAft>
                <a:spcPts val="0"/>
              </a:spcAft>
              <a:buClr>
                <a:schemeClr val="dk1"/>
              </a:buClr>
              <a:buSzPts val="2400"/>
              <a:buFont typeface="Arial"/>
              <a:buChar char="•"/>
            </a:pPr>
            <a:r>
              <a:rPr lang="en-US"/>
              <a:t>explicit feedback </a:t>
            </a:r>
            <a:endParaRPr/>
          </a:p>
          <a:p>
            <a:pPr indent="-228600" lvl="1" marL="685800" rtl="0" algn="just">
              <a:lnSpc>
                <a:spcPct val="90000"/>
              </a:lnSpc>
              <a:spcBef>
                <a:spcPts val="500"/>
              </a:spcBef>
              <a:spcAft>
                <a:spcPts val="0"/>
              </a:spcAft>
              <a:buClr>
                <a:schemeClr val="dk1"/>
              </a:buClr>
              <a:buSzPts val="2400"/>
              <a:buFont typeface="Arial"/>
              <a:buChar char="•"/>
            </a:pPr>
            <a:r>
              <a:rPr lang="en-US"/>
              <a:t>implicit feedback </a:t>
            </a:r>
            <a:endParaRPr/>
          </a:p>
          <a:p>
            <a:pPr indent="-228600" lvl="2" marL="1143000" rtl="0" algn="just">
              <a:lnSpc>
                <a:spcPct val="90000"/>
              </a:lnSpc>
              <a:spcBef>
                <a:spcPts val="500"/>
              </a:spcBef>
              <a:spcAft>
                <a:spcPts val="0"/>
              </a:spcAft>
              <a:buClr>
                <a:schemeClr val="dk1"/>
              </a:buClr>
              <a:buSzPts val="2000"/>
              <a:buChar char="•"/>
            </a:pPr>
            <a:r>
              <a:rPr lang="en-US"/>
              <a:t>In explicit feedback algorithms, packets are sent back from the point of congestion to warn the source. </a:t>
            </a:r>
            <a:endParaRPr/>
          </a:p>
          <a:p>
            <a:pPr indent="-228600" lvl="2" marL="1143000" rtl="0" algn="just">
              <a:lnSpc>
                <a:spcPct val="90000"/>
              </a:lnSpc>
              <a:spcBef>
                <a:spcPts val="500"/>
              </a:spcBef>
              <a:spcAft>
                <a:spcPts val="0"/>
              </a:spcAft>
              <a:buClr>
                <a:schemeClr val="dk1"/>
              </a:buClr>
              <a:buSzPts val="2000"/>
              <a:buChar char="•"/>
            </a:pPr>
            <a:r>
              <a:rPr lang="en-US"/>
              <a:t>In implicit algorithms, the source deduces the existence of congestion by making local observations, such as the time needed for acknowledgements to come back</a:t>
            </a:r>
            <a:endParaRPr/>
          </a:p>
        </p:txBody>
      </p:sp>
      <p:sp>
        <p:nvSpPr>
          <p:cNvPr id="179" name="Google Shape;17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4"/>
          <p:cNvSpPr txBox="1"/>
          <p:nvPr/>
        </p:nvSpPr>
        <p:spPr>
          <a:xfrm>
            <a:off x="1524000" y="209381"/>
            <a:ext cx="9144000" cy="724238"/>
          </a:xfrm>
          <a:prstGeom prst="rect">
            <a:avLst/>
          </a:prstGeom>
          <a:noFill/>
          <a:ln>
            <a:noFill/>
          </a:ln>
        </p:spPr>
        <p:txBody>
          <a:bodyPr anchorCtr="0" anchor="ctr" bIns="46800" lIns="90000" spcFirstLastPara="1" rIns="90000" wrap="square" tIns="46800">
            <a:spAutoFit/>
          </a:bodyPr>
          <a:lstStyle/>
          <a:p>
            <a:pPr indent="0" lvl="0" marL="0" marR="0" rtl="0" algn="ctr">
              <a:lnSpc>
                <a:spcPct val="93000"/>
              </a:lnSpc>
              <a:spcBef>
                <a:spcPts val="0"/>
              </a:spcBef>
              <a:spcAft>
                <a:spcPts val="0"/>
              </a:spcAft>
              <a:buClr>
                <a:srgbClr val="FF0000"/>
              </a:buClr>
              <a:buSzPts val="4400"/>
              <a:buFont typeface="Times New Roman"/>
              <a:buNone/>
            </a:pPr>
            <a:r>
              <a:rPr b="0" i="0" lang="en-US" sz="4400" u="none" cap="none" strike="noStrike">
                <a:solidFill>
                  <a:srgbClr val="FF0000"/>
                </a:solidFill>
                <a:latin typeface="Times New Roman"/>
                <a:ea typeface="Times New Roman"/>
                <a:cs typeface="Times New Roman"/>
                <a:sym typeface="Times New Roman"/>
              </a:rPr>
              <a:t>Congestion Prevention Policies</a:t>
            </a:r>
            <a:endParaRPr/>
          </a:p>
        </p:txBody>
      </p:sp>
      <p:sp>
        <p:nvSpPr>
          <p:cNvPr id="185" name="Google Shape;185;p14"/>
          <p:cNvSpPr txBox="1"/>
          <p:nvPr/>
        </p:nvSpPr>
        <p:spPr>
          <a:xfrm>
            <a:off x="1524000" y="5715000"/>
            <a:ext cx="9144000" cy="438150"/>
          </a:xfrm>
          <a:prstGeom prst="rect">
            <a:avLst/>
          </a:prstGeom>
          <a:noFill/>
          <a:ln>
            <a:noFill/>
          </a:ln>
        </p:spPr>
        <p:txBody>
          <a:bodyPr anchorCtr="0" anchor="t" bIns="46800" lIns="90000" spcFirstLastPara="1" rIns="90000" wrap="square" tIns="46800">
            <a:spAutoFit/>
          </a:bodyPr>
          <a:lstStyle/>
          <a:p>
            <a:pPr indent="-608013" lvl="0" marL="608013" marR="0" rtl="0" algn="ctr">
              <a:lnSpc>
                <a:spcPct val="93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Open loop Policies that affect congestion.</a:t>
            </a:r>
            <a:endParaRPr/>
          </a:p>
        </p:txBody>
      </p:sp>
      <p:sp>
        <p:nvSpPr>
          <p:cNvPr id="186" name="Google Shape;186;p14"/>
          <p:cNvSpPr txBox="1"/>
          <p:nvPr/>
        </p:nvSpPr>
        <p:spPr>
          <a:xfrm>
            <a:off x="5207001" y="2455863"/>
            <a:ext cx="1503363" cy="438006"/>
          </a:xfrm>
          <a:prstGeom prst="rect">
            <a:avLst/>
          </a:prstGeom>
          <a:noFill/>
          <a:ln>
            <a:noFill/>
          </a:ln>
        </p:spPr>
        <p:txBody>
          <a:bodyPr anchorCtr="0" anchor="t" bIns="46800" lIns="90000" spcFirstLastPara="1" rIns="90000" wrap="square" tIns="46800">
            <a:spAutoFit/>
          </a:bodyPr>
          <a:lstStyle/>
          <a:p>
            <a:pPr indent="0" lvl="0" marL="0" marR="0" rtl="0" algn="ctr">
              <a:lnSpc>
                <a:spcPct val="93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5-26</a:t>
            </a:r>
            <a:endParaRPr/>
          </a:p>
        </p:txBody>
      </p:sp>
      <p:pic>
        <p:nvPicPr>
          <p:cNvPr id="187" name="Google Shape;187;p14"/>
          <p:cNvPicPr preferRelativeResize="0"/>
          <p:nvPr/>
        </p:nvPicPr>
        <p:blipFill rotWithShape="1">
          <a:blip r:embed="rId3">
            <a:alphaModFix/>
          </a:blip>
          <a:srcRect b="0" l="0" r="0" t="0"/>
          <a:stretch/>
        </p:blipFill>
        <p:spPr>
          <a:xfrm>
            <a:off x="2622550" y="1093788"/>
            <a:ext cx="6838950" cy="4527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Congestion Prevention Policies</a:t>
            </a:r>
            <a:endParaRPr/>
          </a:p>
        </p:txBody>
      </p:sp>
      <p:sp>
        <p:nvSpPr>
          <p:cNvPr id="193" name="Google Shape;193;p15"/>
          <p:cNvSpPr txBox="1"/>
          <p:nvPr>
            <p:ph idx="1" type="body"/>
          </p:nvPr>
        </p:nvSpPr>
        <p:spPr>
          <a:xfrm>
            <a:off x="1659468" y="722489"/>
            <a:ext cx="8873065" cy="587022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None/>
            </a:pPr>
            <a:r>
              <a:rPr lang="en-US">
                <a:solidFill>
                  <a:srgbClr val="FF0000"/>
                </a:solidFill>
              </a:rPr>
              <a:t>Policies considered in the Data link layer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Retransmission policy:</a:t>
            </a:r>
            <a:endParaRPr/>
          </a:p>
          <a:p>
            <a:pPr indent="-228600" lvl="1" marL="685800" rtl="0" algn="just">
              <a:lnSpc>
                <a:spcPct val="90000"/>
              </a:lnSpc>
              <a:spcBef>
                <a:spcPts val="500"/>
              </a:spcBef>
              <a:spcAft>
                <a:spcPts val="0"/>
              </a:spcAft>
              <a:buClr>
                <a:schemeClr val="dk1"/>
              </a:buClr>
              <a:buSzPts val="2400"/>
              <a:buFont typeface="Arial"/>
              <a:buChar char="•"/>
            </a:pPr>
            <a:r>
              <a:rPr lang="en-US"/>
              <a:t>how fast a sender times out and what it transmits upon timeout </a:t>
            </a:r>
            <a:endParaRPr/>
          </a:p>
          <a:p>
            <a:pPr indent="-228600" lvl="1" marL="685800" rtl="0" algn="just">
              <a:lnSpc>
                <a:spcPct val="90000"/>
              </a:lnSpc>
              <a:spcBef>
                <a:spcPts val="500"/>
              </a:spcBef>
              <a:spcAft>
                <a:spcPts val="0"/>
              </a:spcAft>
              <a:buClr>
                <a:schemeClr val="dk1"/>
              </a:buClr>
              <a:buSzPts val="2400"/>
              <a:buFont typeface="Arial"/>
              <a:buChar char="•"/>
            </a:pPr>
            <a:r>
              <a:rPr lang="en-US"/>
              <a:t>go back n will put a heavier load on the system than selective repeat</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Out-of-order caching policy:</a:t>
            </a:r>
            <a:endParaRPr/>
          </a:p>
          <a:p>
            <a:pPr indent="-228600" lvl="1" marL="685800" rtl="0" algn="just">
              <a:lnSpc>
                <a:spcPct val="90000"/>
              </a:lnSpc>
              <a:spcBef>
                <a:spcPts val="500"/>
              </a:spcBef>
              <a:spcAft>
                <a:spcPts val="0"/>
              </a:spcAft>
              <a:buClr>
                <a:schemeClr val="dk1"/>
              </a:buClr>
              <a:buSzPts val="2400"/>
              <a:buFont typeface="Arial"/>
              <a:buChar char="•"/>
            </a:pPr>
            <a:r>
              <a:rPr lang="en-US"/>
              <a:t>selective repeat is clearly better than go back n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Acknowledgement policy:</a:t>
            </a:r>
            <a:endParaRPr/>
          </a:p>
          <a:p>
            <a:pPr indent="-228600" lvl="1" marL="685800" rtl="0" algn="just">
              <a:lnSpc>
                <a:spcPct val="90000"/>
              </a:lnSpc>
              <a:spcBef>
                <a:spcPts val="500"/>
              </a:spcBef>
              <a:spcAft>
                <a:spcPts val="0"/>
              </a:spcAft>
              <a:buClr>
                <a:schemeClr val="dk1"/>
              </a:buClr>
              <a:buSzPts val="2400"/>
              <a:buFont typeface="Arial"/>
              <a:buChar char="•"/>
            </a:pPr>
            <a:r>
              <a:rPr lang="en-US"/>
              <a:t>Piggybacking onto reverse traffic may help</a:t>
            </a:r>
            <a:endParaRPr/>
          </a:p>
          <a:p>
            <a:pPr indent="-228600" lvl="1" marL="685800" rtl="0" algn="just">
              <a:lnSpc>
                <a:spcPct val="90000"/>
              </a:lnSpc>
              <a:spcBef>
                <a:spcPts val="500"/>
              </a:spcBef>
              <a:spcAft>
                <a:spcPts val="0"/>
              </a:spcAft>
              <a:buClr>
                <a:schemeClr val="dk1"/>
              </a:buClr>
              <a:buSzPts val="2400"/>
              <a:buFont typeface="Arial"/>
              <a:buChar char="•"/>
            </a:pPr>
            <a:r>
              <a:rPr lang="en-US"/>
              <a:t>But extra timeouts and retransmissions may happen.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Flow control Policy:</a:t>
            </a:r>
            <a:endParaRPr/>
          </a:p>
          <a:p>
            <a:pPr indent="-228600" lvl="1" marL="685800" rtl="0" algn="just">
              <a:lnSpc>
                <a:spcPct val="90000"/>
              </a:lnSpc>
              <a:spcBef>
                <a:spcPts val="500"/>
              </a:spcBef>
              <a:spcAft>
                <a:spcPts val="0"/>
              </a:spcAft>
              <a:buClr>
                <a:schemeClr val="dk1"/>
              </a:buClr>
              <a:buSzPts val="2400"/>
              <a:buFont typeface="Arial"/>
              <a:buChar char="•"/>
            </a:pPr>
            <a:r>
              <a:rPr lang="en-US"/>
              <a:t>a small window reduces the data rate and thus helps fight congestion </a:t>
            </a:r>
            <a:endParaRPr/>
          </a:p>
        </p:txBody>
      </p:sp>
      <p:sp>
        <p:nvSpPr>
          <p:cNvPr id="194" name="Google Shape;19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Congestion Prevention Policies</a:t>
            </a:r>
            <a:endParaRPr/>
          </a:p>
        </p:txBody>
      </p:sp>
      <p:sp>
        <p:nvSpPr>
          <p:cNvPr id="200" name="Google Shape;200;p16"/>
          <p:cNvSpPr txBox="1"/>
          <p:nvPr>
            <p:ph idx="1" type="body"/>
          </p:nvPr>
        </p:nvSpPr>
        <p:spPr>
          <a:xfrm>
            <a:off x="1659468" y="722489"/>
            <a:ext cx="8873065" cy="587022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None/>
            </a:pPr>
            <a:r>
              <a:rPr lang="en-US">
                <a:solidFill>
                  <a:srgbClr val="FF0000"/>
                </a:solidFill>
              </a:rPr>
              <a:t>Policies considered in the Network layer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Choice of virtual circuits vs datagrams:</a:t>
            </a:r>
            <a:endParaRPr/>
          </a:p>
          <a:p>
            <a:pPr indent="-228600" lvl="1" marL="685800" rtl="0" algn="just">
              <a:lnSpc>
                <a:spcPct val="90000"/>
              </a:lnSpc>
              <a:spcBef>
                <a:spcPts val="500"/>
              </a:spcBef>
              <a:spcAft>
                <a:spcPts val="0"/>
              </a:spcAft>
              <a:buClr>
                <a:schemeClr val="dk1"/>
              </a:buClr>
              <a:buSzPts val="2400"/>
              <a:buFont typeface="Arial"/>
              <a:buChar char="•"/>
            </a:pPr>
            <a:r>
              <a:rPr lang="en-US"/>
              <a:t>affects congestion since many congestion control algorithms work only with virtual-circuit subnets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Packet queuing and service policy: </a:t>
            </a:r>
            <a:endParaRPr/>
          </a:p>
          <a:p>
            <a:pPr indent="-228600" lvl="1" marL="685800" rtl="0" algn="just">
              <a:lnSpc>
                <a:spcPct val="90000"/>
              </a:lnSpc>
              <a:spcBef>
                <a:spcPts val="500"/>
              </a:spcBef>
              <a:spcAft>
                <a:spcPts val="0"/>
              </a:spcAft>
              <a:buClr>
                <a:schemeClr val="dk1"/>
              </a:buClr>
              <a:buSzPts val="2400"/>
              <a:buFont typeface="Arial"/>
              <a:buChar char="•"/>
            </a:pPr>
            <a:r>
              <a:rPr lang="en-US"/>
              <a:t>relates to whether routers have one queue per input line, one queue per output line, or both </a:t>
            </a:r>
            <a:endParaRPr/>
          </a:p>
          <a:p>
            <a:pPr indent="-228600" lvl="1" marL="685800" rtl="0" algn="just">
              <a:lnSpc>
                <a:spcPct val="90000"/>
              </a:lnSpc>
              <a:spcBef>
                <a:spcPts val="500"/>
              </a:spcBef>
              <a:spcAft>
                <a:spcPts val="0"/>
              </a:spcAft>
              <a:buClr>
                <a:schemeClr val="dk1"/>
              </a:buClr>
              <a:buSzPts val="2400"/>
              <a:buFont typeface="Arial"/>
              <a:buChar char="•"/>
            </a:pPr>
            <a:r>
              <a:rPr lang="en-US"/>
              <a:t>also relates to the order in which packets are processed (e.g., </a:t>
            </a:r>
            <a:r>
              <a:rPr lang="en-US">
                <a:solidFill>
                  <a:srgbClr val="FF0000"/>
                </a:solidFill>
              </a:rPr>
              <a:t>round robin or priority based</a:t>
            </a:r>
            <a:r>
              <a:rPr lang="en-US"/>
              <a:t>)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Packet Discard policy :</a:t>
            </a:r>
            <a:endParaRPr/>
          </a:p>
          <a:p>
            <a:pPr indent="-228600" lvl="1" marL="685800" rtl="0" algn="just">
              <a:lnSpc>
                <a:spcPct val="90000"/>
              </a:lnSpc>
              <a:spcBef>
                <a:spcPts val="500"/>
              </a:spcBef>
              <a:spcAft>
                <a:spcPts val="0"/>
              </a:spcAft>
              <a:buClr>
                <a:schemeClr val="dk1"/>
              </a:buClr>
              <a:buSzPts val="2400"/>
              <a:buFont typeface="Arial"/>
              <a:buChar char="•"/>
            </a:pPr>
            <a:r>
              <a:rPr lang="en-US"/>
              <a:t>rule telling which packet is dropped when there is no space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Routing algorithm:</a:t>
            </a:r>
            <a:endParaRPr/>
          </a:p>
          <a:p>
            <a:pPr indent="-228600" lvl="1" marL="685800" rtl="0" algn="just">
              <a:lnSpc>
                <a:spcPct val="90000"/>
              </a:lnSpc>
              <a:spcBef>
                <a:spcPts val="500"/>
              </a:spcBef>
              <a:spcAft>
                <a:spcPts val="0"/>
              </a:spcAft>
              <a:buClr>
                <a:schemeClr val="dk1"/>
              </a:buClr>
              <a:buSzPts val="2400"/>
              <a:buFont typeface="Arial"/>
              <a:buChar char="•"/>
            </a:pPr>
            <a:r>
              <a:rPr lang="en-US"/>
              <a:t>Good algorithm can help avoid congestion by </a:t>
            </a:r>
            <a:r>
              <a:rPr lang="en-US">
                <a:solidFill>
                  <a:srgbClr val="FF0000"/>
                </a:solidFill>
              </a:rPr>
              <a:t>spreading the traffic</a:t>
            </a:r>
            <a:r>
              <a:rPr lang="en-US"/>
              <a:t> over all the lines  </a:t>
            </a:r>
            <a:endParaRPr sz="3200"/>
          </a:p>
        </p:txBody>
      </p:sp>
      <p:sp>
        <p:nvSpPr>
          <p:cNvPr id="201" name="Google Shape;20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7"/>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Congestion Prevention Policies</a:t>
            </a:r>
            <a:endParaRPr/>
          </a:p>
        </p:txBody>
      </p:sp>
      <p:sp>
        <p:nvSpPr>
          <p:cNvPr id="207" name="Google Shape;207;p17"/>
          <p:cNvSpPr txBox="1"/>
          <p:nvPr>
            <p:ph idx="1" type="body"/>
          </p:nvPr>
        </p:nvSpPr>
        <p:spPr>
          <a:xfrm>
            <a:off x="1659468" y="647538"/>
            <a:ext cx="8873065" cy="621046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Font typeface="Arial"/>
              <a:buChar char="•"/>
            </a:pPr>
            <a:r>
              <a:rPr lang="en-US">
                <a:solidFill>
                  <a:srgbClr val="FF0000"/>
                </a:solidFill>
              </a:rPr>
              <a:t>Packet lifetime management:</a:t>
            </a:r>
            <a:endParaRPr/>
          </a:p>
          <a:p>
            <a:pPr indent="-228600" lvl="1" marL="685800" rtl="0" algn="just">
              <a:lnSpc>
                <a:spcPct val="90000"/>
              </a:lnSpc>
              <a:spcBef>
                <a:spcPts val="500"/>
              </a:spcBef>
              <a:spcAft>
                <a:spcPts val="0"/>
              </a:spcAft>
              <a:buClr>
                <a:schemeClr val="dk1"/>
              </a:buClr>
              <a:buSzPts val="2400"/>
              <a:buFont typeface="Arial"/>
              <a:buChar char="•"/>
            </a:pPr>
            <a:r>
              <a:rPr lang="en-US"/>
              <a:t>deals with </a:t>
            </a:r>
            <a:r>
              <a:rPr lang="en-US">
                <a:solidFill>
                  <a:srgbClr val="FF0000"/>
                </a:solidFill>
              </a:rPr>
              <a:t>how long a packet may live </a:t>
            </a:r>
            <a:r>
              <a:rPr lang="en-US"/>
              <a:t>before being discarded </a:t>
            </a:r>
            <a:endParaRPr/>
          </a:p>
          <a:p>
            <a:pPr indent="-228600" lvl="1" marL="685800" rtl="0" algn="just">
              <a:lnSpc>
                <a:spcPct val="90000"/>
              </a:lnSpc>
              <a:spcBef>
                <a:spcPts val="500"/>
              </a:spcBef>
              <a:spcAft>
                <a:spcPts val="0"/>
              </a:spcAft>
              <a:buClr>
                <a:schemeClr val="dk1"/>
              </a:buClr>
              <a:buSzPts val="2400"/>
              <a:buFont typeface="Arial"/>
              <a:buChar char="•"/>
            </a:pPr>
            <a:r>
              <a:rPr lang="en-US"/>
              <a:t>If it is too long, lost packets may block up the works for a long time</a:t>
            </a:r>
            <a:endParaRPr/>
          </a:p>
          <a:p>
            <a:pPr indent="-228600" lvl="1" marL="685800" rtl="0" algn="just">
              <a:lnSpc>
                <a:spcPct val="90000"/>
              </a:lnSpc>
              <a:spcBef>
                <a:spcPts val="500"/>
              </a:spcBef>
              <a:spcAft>
                <a:spcPts val="0"/>
              </a:spcAft>
              <a:buClr>
                <a:schemeClr val="dk1"/>
              </a:buClr>
              <a:buSzPts val="2400"/>
              <a:buFont typeface="Arial"/>
              <a:buChar char="•"/>
            </a:pPr>
            <a:r>
              <a:rPr lang="en-US"/>
              <a:t>If it is too short, packets may sometimes time out before reaching their destination, thus inducing retransmissions </a:t>
            </a:r>
            <a:endParaRPr/>
          </a:p>
          <a:p>
            <a:pPr indent="-228600" lvl="0" marL="228600" rtl="0" algn="just">
              <a:lnSpc>
                <a:spcPct val="90000"/>
              </a:lnSpc>
              <a:spcBef>
                <a:spcPts val="1000"/>
              </a:spcBef>
              <a:spcAft>
                <a:spcPts val="0"/>
              </a:spcAft>
              <a:buClr>
                <a:srgbClr val="FF0000"/>
              </a:buClr>
              <a:buSzPts val="2800"/>
              <a:buNone/>
            </a:pPr>
            <a:r>
              <a:rPr lang="en-US">
                <a:solidFill>
                  <a:srgbClr val="FF0000"/>
                </a:solidFill>
              </a:rPr>
              <a:t>Policies considered in the Transport layer </a:t>
            </a:r>
            <a:endParaRPr/>
          </a:p>
          <a:p>
            <a:pPr indent="-228600" lvl="0" marL="228600" rtl="0" algn="just">
              <a:lnSpc>
                <a:spcPct val="90000"/>
              </a:lnSpc>
              <a:spcBef>
                <a:spcPts val="1000"/>
              </a:spcBef>
              <a:spcAft>
                <a:spcPts val="0"/>
              </a:spcAft>
              <a:buClr>
                <a:schemeClr val="dk1"/>
              </a:buClr>
              <a:buSzPts val="2800"/>
              <a:buFont typeface="Arial"/>
              <a:buChar char="•"/>
            </a:pPr>
            <a:r>
              <a:rPr lang="en-US"/>
              <a:t>Same issues as in data link layer plus</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Timeout determination:</a:t>
            </a:r>
            <a:endParaRPr/>
          </a:p>
          <a:p>
            <a:pPr indent="-228600" lvl="1" marL="685800" rtl="0" algn="just">
              <a:lnSpc>
                <a:spcPct val="90000"/>
              </a:lnSpc>
              <a:spcBef>
                <a:spcPts val="500"/>
              </a:spcBef>
              <a:spcAft>
                <a:spcPts val="0"/>
              </a:spcAft>
              <a:buClr>
                <a:schemeClr val="dk1"/>
              </a:buClr>
              <a:buSzPts val="2400"/>
              <a:buFont typeface="Arial"/>
              <a:buChar char="•"/>
            </a:pPr>
            <a:r>
              <a:rPr lang="en-US"/>
              <a:t>determining the timeout interval is harder because the </a:t>
            </a:r>
            <a:r>
              <a:rPr lang="en-US">
                <a:solidFill>
                  <a:srgbClr val="FF0000"/>
                </a:solidFill>
              </a:rPr>
              <a:t>transit time across the network is less predictable</a:t>
            </a:r>
            <a:r>
              <a:rPr lang="en-US"/>
              <a:t> </a:t>
            </a:r>
            <a:endParaRPr/>
          </a:p>
          <a:p>
            <a:pPr indent="-228600" lvl="1" marL="685800" rtl="0" algn="just">
              <a:lnSpc>
                <a:spcPct val="90000"/>
              </a:lnSpc>
              <a:spcBef>
                <a:spcPts val="500"/>
              </a:spcBef>
              <a:spcAft>
                <a:spcPts val="0"/>
              </a:spcAft>
              <a:buClr>
                <a:schemeClr val="dk1"/>
              </a:buClr>
              <a:buSzPts val="2400"/>
              <a:buFont typeface="Arial"/>
              <a:buChar char="•"/>
            </a:pPr>
            <a:r>
              <a:rPr lang="en-US"/>
              <a:t>If the timeout interval is too short, extra packets will be sent unnecessarily. </a:t>
            </a:r>
            <a:endParaRPr/>
          </a:p>
          <a:p>
            <a:pPr indent="-228600" lvl="1" marL="685800" rtl="0" algn="just">
              <a:lnSpc>
                <a:spcPct val="90000"/>
              </a:lnSpc>
              <a:spcBef>
                <a:spcPts val="500"/>
              </a:spcBef>
              <a:spcAft>
                <a:spcPts val="0"/>
              </a:spcAft>
              <a:buClr>
                <a:schemeClr val="dk1"/>
              </a:buClr>
              <a:buSzPts val="2400"/>
              <a:buFont typeface="Arial"/>
              <a:buChar char="•"/>
            </a:pPr>
            <a:r>
              <a:rPr lang="en-US"/>
              <a:t>If it is too long, congestion will be reduced but the response time will suffer whenever a packet is lost.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Congestion Control in Virtual-Circuit Subnets and datagram subnet</a:t>
            </a:r>
            <a:endParaRPr/>
          </a:p>
        </p:txBody>
      </p:sp>
      <p:sp>
        <p:nvSpPr>
          <p:cNvPr id="213" name="Google Shape;21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Congestion Control in Virtual-Circuit Subnets</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 Admission control</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Allow new virtual circuit  avoiding congested routers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Congestion Control in Datagram Subnets</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Warning bit</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Choke packets</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Load shedding</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Random early discard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14" name="Google Shape;2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Congestion Control in Virtual-Circuit Subnets</a:t>
            </a:r>
            <a:endParaRPr/>
          </a:p>
        </p:txBody>
      </p:sp>
      <p:sp>
        <p:nvSpPr>
          <p:cNvPr id="220" name="Google Shape;220;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Techniques  is</a:t>
            </a:r>
            <a:endParaRPr/>
          </a:p>
          <a:p>
            <a:pPr indent="-228600" lvl="1" marL="685800" rtl="0" algn="l">
              <a:lnSpc>
                <a:spcPct val="90000"/>
              </a:lnSpc>
              <a:spcBef>
                <a:spcPts val="500"/>
              </a:spcBef>
              <a:spcAft>
                <a:spcPts val="0"/>
              </a:spcAft>
              <a:buClr>
                <a:schemeClr val="dk1"/>
              </a:buClr>
              <a:buSzPts val="2400"/>
              <a:buChar char="•"/>
            </a:pPr>
            <a:r>
              <a:rPr lang="en-US"/>
              <a:t> </a:t>
            </a:r>
            <a:r>
              <a:rPr lang="en-US">
                <a:solidFill>
                  <a:srgbClr val="FF0000"/>
                </a:solidFill>
              </a:rPr>
              <a:t>Admission control</a:t>
            </a:r>
            <a:endParaRPr/>
          </a:p>
          <a:p>
            <a:pPr indent="-228600" lvl="1" marL="685800" rtl="0" algn="l">
              <a:lnSpc>
                <a:spcPct val="90000"/>
              </a:lnSpc>
              <a:spcBef>
                <a:spcPts val="500"/>
              </a:spcBef>
              <a:spcAft>
                <a:spcPts val="0"/>
              </a:spcAft>
              <a:buClr>
                <a:schemeClr val="dk1"/>
              </a:buClr>
              <a:buSzPts val="2400"/>
              <a:buChar char="•"/>
            </a:pPr>
            <a:r>
              <a:rPr lang="en-US"/>
              <a:t>Idea of admission control  is :</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once congestion has been signaled ,no more  virtual circuit are set up until the problem is solved</a:t>
            </a:r>
            <a:endParaRPr/>
          </a:p>
          <a:p>
            <a:pPr indent="-228600" lvl="0" marL="228600" rtl="0" algn="l">
              <a:lnSpc>
                <a:spcPct val="90000"/>
              </a:lnSpc>
              <a:spcBef>
                <a:spcPts val="1000"/>
              </a:spcBef>
              <a:spcAft>
                <a:spcPts val="0"/>
              </a:spcAft>
              <a:buClr>
                <a:schemeClr val="dk1"/>
              </a:buClr>
              <a:buSzPts val="2800"/>
              <a:buFont typeface="Calibri"/>
              <a:buNone/>
            </a:pPr>
            <a:r>
              <a:t/>
            </a:r>
            <a:endParaRPr/>
          </a:p>
        </p:txBody>
      </p:sp>
      <p:sp>
        <p:nvSpPr>
          <p:cNvPr id="221" name="Google Shape;22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0"/>
          <p:cNvSpPr txBox="1"/>
          <p:nvPr>
            <p:ph type="title"/>
          </p:nvPr>
        </p:nvSpPr>
        <p:spPr>
          <a:xfrm>
            <a:off x="838200" y="365125"/>
            <a:ext cx="10515600" cy="95268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Calibri"/>
              <a:buNone/>
            </a:pPr>
            <a:br>
              <a:rPr lang="en-US">
                <a:solidFill>
                  <a:srgbClr val="FF0000"/>
                </a:solidFill>
              </a:rPr>
            </a:br>
            <a:r>
              <a:rPr lang="en-US">
                <a:solidFill>
                  <a:srgbClr val="FF0000"/>
                </a:solidFill>
              </a:rPr>
              <a:t>Congestion Control in Virtual-Circuit Subnets: second approach</a:t>
            </a:r>
            <a:br>
              <a:rPr lang="en-US">
                <a:solidFill>
                  <a:srgbClr val="FF0000"/>
                </a:solidFill>
              </a:rPr>
            </a:br>
            <a:endParaRPr/>
          </a:p>
        </p:txBody>
      </p:sp>
      <p:sp>
        <p:nvSpPr>
          <p:cNvPr id="227" name="Google Shape;22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Alternative approach </a:t>
            </a:r>
            <a:r>
              <a:rPr lang="en-US" sz="2400">
                <a:solidFill>
                  <a:srgbClr val="FF0000"/>
                </a:solidFill>
              </a:rPr>
              <a:t>to allow new virtual circuit  avoiding congested routers</a:t>
            </a:r>
            <a:endParaRPr/>
          </a:p>
          <a:p>
            <a:pPr indent="-228600" lvl="0" marL="228600" rtl="0" algn="l">
              <a:lnSpc>
                <a:spcPct val="90000"/>
              </a:lnSpc>
              <a:spcBef>
                <a:spcPts val="1000"/>
              </a:spcBef>
              <a:spcAft>
                <a:spcPts val="0"/>
              </a:spcAft>
              <a:buClr>
                <a:schemeClr val="dk1"/>
              </a:buClr>
              <a:buSzPts val="2400"/>
              <a:buChar char="•"/>
            </a:pPr>
            <a:r>
              <a:rPr lang="en-US" sz="2400"/>
              <a:t>  Eg: Suppose that a host attached to router </a:t>
            </a:r>
            <a:r>
              <a:rPr i="1" lang="en-US" sz="2400"/>
              <a:t>A wants to set up a connection to a host </a:t>
            </a:r>
            <a:r>
              <a:rPr lang="en-US" sz="2400"/>
              <a:t>attached to router </a:t>
            </a:r>
            <a:r>
              <a:rPr i="1" lang="en-US" sz="2400"/>
              <a:t>B. </a:t>
            </a:r>
            <a:r>
              <a:rPr lang="en-US" sz="2400"/>
              <a:t>Fig. (a)</a:t>
            </a:r>
            <a:endParaRPr i="1" sz="2400"/>
          </a:p>
          <a:p>
            <a:pPr indent="-228600" lvl="0" marL="228600" rtl="0" algn="l">
              <a:lnSpc>
                <a:spcPct val="90000"/>
              </a:lnSpc>
              <a:spcBef>
                <a:spcPts val="1000"/>
              </a:spcBef>
              <a:spcAft>
                <a:spcPts val="0"/>
              </a:spcAft>
              <a:buClr>
                <a:schemeClr val="dk1"/>
              </a:buClr>
              <a:buSzPts val="2400"/>
              <a:buChar char="•"/>
            </a:pPr>
            <a:r>
              <a:rPr i="1" lang="en-US" sz="2400"/>
              <a:t>Normally, this connection would pass through one of the  </a:t>
            </a:r>
            <a:r>
              <a:rPr lang="en-US" sz="2400"/>
              <a:t>congested routers. </a:t>
            </a:r>
            <a:endParaRPr/>
          </a:p>
          <a:p>
            <a:pPr indent="-228600" lvl="0" marL="228600" rtl="0" algn="l">
              <a:lnSpc>
                <a:spcPct val="90000"/>
              </a:lnSpc>
              <a:spcBef>
                <a:spcPts val="1000"/>
              </a:spcBef>
              <a:spcAft>
                <a:spcPts val="0"/>
              </a:spcAft>
              <a:buClr>
                <a:schemeClr val="dk1"/>
              </a:buClr>
              <a:buSzPts val="2400"/>
              <a:buChar char="•"/>
            </a:pPr>
            <a:r>
              <a:rPr lang="en-US" sz="2400"/>
              <a:t>To avoid this situation, redraw the network as shown in  Fig. (b), omitting the congested routers and all of their lines. </a:t>
            </a:r>
            <a:endParaRPr/>
          </a:p>
          <a:p>
            <a:pPr indent="-228600" lvl="0" marL="228600" rtl="0" algn="l">
              <a:lnSpc>
                <a:spcPct val="90000"/>
              </a:lnSpc>
              <a:spcBef>
                <a:spcPts val="1000"/>
              </a:spcBef>
              <a:spcAft>
                <a:spcPts val="0"/>
              </a:spcAft>
              <a:buClr>
                <a:schemeClr val="dk1"/>
              </a:buClr>
              <a:buSzPts val="2400"/>
              <a:buChar char="•"/>
            </a:pPr>
            <a:r>
              <a:rPr lang="en-US" sz="2400"/>
              <a:t>The dashed line shows a possible route for the virtual circuit that avoids the congested routers.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Effect filter="fade" transition="in">
                                      <p:cBhvr>
                                        <p:cTn dur="500"/>
                                        <p:tgtEl>
                                          <p:spTgt spid="2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animEffect filter="fade" transition="in">
                                      <p:cBhvr>
                                        <p:cTn dur="500"/>
                                        <p:tgtEl>
                                          <p:spTgt spid="2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animEffect filter="fade" transition="in">
                                      <p:cBhvr>
                                        <p:cTn dur="500"/>
                                        <p:tgtEl>
                                          <p:spTgt spid="2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animEffect filter="fade" transition="in">
                                      <p:cBhvr>
                                        <p:cTn dur="500"/>
                                        <p:tgtEl>
                                          <p:spTgt spid="2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animEffect filter="fade" transition="in">
                                      <p:cBhvr>
                                        <p:cTn dur="500"/>
                                        <p:tgtEl>
                                          <p:spTgt spid="22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nvSpPr>
        <p:spPr>
          <a:xfrm>
            <a:off x="1524000" y="196850"/>
            <a:ext cx="9144000" cy="1239838"/>
          </a:xfrm>
          <a:prstGeom prst="rect">
            <a:avLst/>
          </a:prstGeom>
          <a:noFill/>
          <a:ln>
            <a:noFill/>
          </a:ln>
        </p:spPr>
        <p:txBody>
          <a:bodyPr anchorCtr="0" anchor="ctr" bIns="46800" lIns="90000" spcFirstLastPara="1" rIns="90000" wrap="square" tIns="46800">
            <a:spAutoFit/>
          </a:bodyPr>
          <a:lstStyle/>
          <a:p>
            <a:pPr indent="0" lvl="0" marL="0" marR="0" rtl="0" algn="ctr">
              <a:lnSpc>
                <a:spcPct val="93000"/>
              </a:lnSpc>
              <a:spcBef>
                <a:spcPts val="0"/>
              </a:spcBef>
              <a:spcAft>
                <a:spcPts val="0"/>
              </a:spcAft>
              <a:buClr>
                <a:srgbClr val="FF0000"/>
              </a:buClr>
              <a:buSzPts val="4000"/>
              <a:buFont typeface="Times New Roman"/>
              <a:buNone/>
            </a:pPr>
            <a:r>
              <a:rPr b="0" i="0" lang="en-US" sz="4000" u="none" cap="none" strike="noStrike">
                <a:solidFill>
                  <a:srgbClr val="FF0000"/>
                </a:solidFill>
                <a:latin typeface="Times New Roman"/>
                <a:ea typeface="Times New Roman"/>
                <a:cs typeface="Times New Roman"/>
                <a:sym typeface="Times New Roman"/>
              </a:rPr>
              <a:t>Congestion Control in Virtual-Circuit Subnets: second approach</a:t>
            </a:r>
            <a:endParaRPr/>
          </a:p>
        </p:txBody>
      </p:sp>
      <p:sp>
        <p:nvSpPr>
          <p:cNvPr id="233" name="Google Shape;233;p21"/>
          <p:cNvSpPr txBox="1"/>
          <p:nvPr/>
        </p:nvSpPr>
        <p:spPr>
          <a:xfrm>
            <a:off x="605117" y="5389564"/>
            <a:ext cx="10327341" cy="781497"/>
          </a:xfrm>
          <a:prstGeom prst="rect">
            <a:avLst/>
          </a:prstGeom>
          <a:noFill/>
          <a:ln>
            <a:noFill/>
          </a:ln>
        </p:spPr>
        <p:txBody>
          <a:bodyPr anchorCtr="0" anchor="t" bIns="46800" lIns="90000" spcFirstLastPara="1" rIns="90000" wrap="square" tIns="46800">
            <a:spAutoFit/>
          </a:bodyPr>
          <a:lstStyle/>
          <a:p>
            <a:pPr indent="-608013" lvl="0" marL="608013" marR="0" rtl="0" algn="l">
              <a:lnSpc>
                <a:spcPct val="93000"/>
              </a:lnSpc>
              <a:spcBef>
                <a:spcPts val="0"/>
              </a:spcBef>
              <a:spcAft>
                <a:spcPts val="0"/>
              </a:spcAft>
              <a:buNone/>
            </a:pPr>
            <a:r>
              <a:rPr b="0" i="0" lang="en-US" sz="2400" u="none" cap="none" strike="noStrike">
                <a:solidFill>
                  <a:srgbClr val="3333CC"/>
                </a:solidFill>
                <a:latin typeface="Times New Roman"/>
                <a:ea typeface="Times New Roman"/>
                <a:cs typeface="Times New Roman"/>
                <a:sym typeface="Times New Roman"/>
              </a:rPr>
              <a:t>(a)</a:t>
            </a:r>
            <a:r>
              <a:rPr b="0" i="0" lang="en-US" sz="2400" u="none" cap="none" strike="noStrike">
                <a:solidFill>
                  <a:schemeClr val="dk1"/>
                </a:solidFill>
                <a:latin typeface="Times New Roman"/>
                <a:ea typeface="Times New Roman"/>
                <a:cs typeface="Times New Roman"/>
                <a:sym typeface="Times New Roman"/>
              </a:rPr>
              <a:t> A congested subnet. </a:t>
            </a:r>
            <a:r>
              <a:rPr b="0" i="0" lang="en-US" sz="2400" u="none" cap="none" strike="noStrike">
                <a:solidFill>
                  <a:srgbClr val="3333CC"/>
                </a:solidFill>
                <a:latin typeface="Times New Roman"/>
                <a:ea typeface="Times New Roman"/>
                <a:cs typeface="Times New Roman"/>
                <a:sym typeface="Times New Roman"/>
              </a:rPr>
              <a:t>(b)</a:t>
            </a:r>
            <a:r>
              <a:rPr b="0" i="0" lang="en-US" sz="2400" u="none" cap="none" strike="noStrike">
                <a:solidFill>
                  <a:schemeClr val="dk1"/>
                </a:solidFill>
                <a:latin typeface="Times New Roman"/>
                <a:ea typeface="Times New Roman"/>
                <a:cs typeface="Times New Roman"/>
                <a:sym typeface="Times New Roman"/>
              </a:rPr>
              <a:t> A redrawn subnet, eliminates congestion and a virtual circuit from A to B.</a:t>
            </a:r>
            <a:endParaRPr/>
          </a:p>
        </p:txBody>
      </p:sp>
      <p:pic>
        <p:nvPicPr>
          <p:cNvPr id="234" name="Google Shape;234;p21"/>
          <p:cNvPicPr preferRelativeResize="0"/>
          <p:nvPr/>
        </p:nvPicPr>
        <p:blipFill rotWithShape="1">
          <a:blip r:embed="rId3">
            <a:alphaModFix/>
          </a:blip>
          <a:srcRect b="0" l="0" r="0" t="0"/>
          <a:stretch/>
        </p:blipFill>
        <p:spPr>
          <a:xfrm>
            <a:off x="2214564" y="1830389"/>
            <a:ext cx="7762875" cy="2968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Congestion Control in Datagram Subnets</a:t>
            </a:r>
            <a:endParaRPr/>
          </a:p>
        </p:txBody>
      </p:sp>
      <p:sp>
        <p:nvSpPr>
          <p:cNvPr id="240" name="Google Shape;240;p22"/>
          <p:cNvSpPr txBox="1"/>
          <p:nvPr>
            <p:ph idx="1" type="body"/>
          </p:nvPr>
        </p:nvSpPr>
        <p:spPr>
          <a:xfrm>
            <a:off x="682388" y="647538"/>
            <a:ext cx="9850145" cy="621046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Each router can easily monitor </a:t>
            </a:r>
            <a:r>
              <a:rPr lang="en-US">
                <a:solidFill>
                  <a:srgbClr val="FF0000"/>
                </a:solidFill>
              </a:rPr>
              <a:t>the utilization of its output lines </a:t>
            </a:r>
            <a:r>
              <a:rPr lang="en-US"/>
              <a:t>and other resources. </a:t>
            </a:r>
            <a:endParaRPr/>
          </a:p>
          <a:p>
            <a:pPr indent="-228600" lvl="0" marL="228600" rtl="0" algn="just">
              <a:lnSpc>
                <a:spcPct val="90000"/>
              </a:lnSpc>
              <a:spcBef>
                <a:spcPts val="1000"/>
              </a:spcBef>
              <a:spcAft>
                <a:spcPts val="0"/>
              </a:spcAft>
              <a:buClr>
                <a:schemeClr val="dk1"/>
              </a:buClr>
              <a:buSzPts val="2800"/>
              <a:buFont typeface="Arial"/>
              <a:buChar char="•"/>
            </a:pPr>
            <a:r>
              <a:rPr lang="en-US"/>
              <a:t>For example, it can associate </a:t>
            </a:r>
            <a:r>
              <a:rPr lang="en-US">
                <a:solidFill>
                  <a:srgbClr val="FF0000"/>
                </a:solidFill>
              </a:rPr>
              <a:t>with each line a real variable, </a:t>
            </a:r>
            <a:r>
              <a:rPr i="1" lang="en-US">
                <a:solidFill>
                  <a:srgbClr val="FF0000"/>
                </a:solidFill>
              </a:rPr>
              <a:t>u</a:t>
            </a:r>
            <a:r>
              <a:rPr i="1" lang="en-US"/>
              <a:t>, </a:t>
            </a:r>
            <a:r>
              <a:rPr lang="en-US"/>
              <a:t>whose value is between 0.0 and 1.0, which reflects the </a:t>
            </a:r>
            <a:r>
              <a:rPr lang="en-US">
                <a:solidFill>
                  <a:srgbClr val="FF0000"/>
                </a:solidFill>
              </a:rPr>
              <a:t>recent utilization of that line. </a:t>
            </a:r>
            <a:endParaRPr/>
          </a:p>
          <a:p>
            <a:pPr indent="-228600" lvl="0" marL="228600" rtl="0" algn="just">
              <a:lnSpc>
                <a:spcPct val="90000"/>
              </a:lnSpc>
              <a:spcBef>
                <a:spcPts val="1000"/>
              </a:spcBef>
              <a:spcAft>
                <a:spcPts val="0"/>
              </a:spcAft>
              <a:buClr>
                <a:schemeClr val="dk1"/>
              </a:buClr>
              <a:buSzPts val="2800"/>
              <a:buFont typeface="Arial"/>
              <a:buChar char="•"/>
            </a:pPr>
            <a:r>
              <a:rPr lang="en-US"/>
              <a:t>To maintain a good estimate of u, a sample of the instantaneous line utilization, f (either 0 or 1), can be made periodically and u updated according to</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228600" lvl="0" marL="228600" rtl="0" algn="just">
              <a:lnSpc>
                <a:spcPct val="90000"/>
              </a:lnSpc>
              <a:spcBef>
                <a:spcPts val="1000"/>
              </a:spcBef>
              <a:spcAft>
                <a:spcPts val="0"/>
              </a:spcAft>
              <a:buClr>
                <a:schemeClr val="dk1"/>
              </a:buClr>
              <a:buSzPts val="2800"/>
              <a:buFont typeface="Arial"/>
              <a:buChar char="•"/>
            </a:pPr>
            <a:r>
              <a:rPr lang="en-US"/>
              <a:t>where the constant </a:t>
            </a:r>
            <a:r>
              <a:rPr i="1" lang="en-US"/>
              <a:t>a </a:t>
            </a:r>
            <a:r>
              <a:rPr lang="en-US"/>
              <a:t>determines how fast the router forgets recent history</a:t>
            </a:r>
            <a:endParaRPr sz="2400"/>
          </a:p>
        </p:txBody>
      </p:sp>
      <p:sp>
        <p:nvSpPr>
          <p:cNvPr id="241" name="Google Shape;24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2" name="Google Shape;242;p22"/>
          <p:cNvPicPr preferRelativeResize="0"/>
          <p:nvPr/>
        </p:nvPicPr>
        <p:blipFill rotWithShape="1">
          <a:blip r:embed="rId3">
            <a:alphaModFix/>
          </a:blip>
          <a:srcRect b="0" l="0" r="0" t="0"/>
          <a:stretch/>
        </p:blipFill>
        <p:spPr>
          <a:xfrm>
            <a:off x="3299012" y="4043362"/>
            <a:ext cx="4635500" cy="774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500"/>
                                        <p:tgtEl>
                                          <p:spTgt spid="2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animEffect filter="fade" transition="in">
                                      <p:cBhvr>
                                        <p:cTn dur="500"/>
                                        <p:tgtEl>
                                          <p:spTgt spid="2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animEffect filter="fade" transition="in">
                                      <p:cBhvr>
                                        <p:cTn dur="500"/>
                                        <p:tgtEl>
                                          <p:spTgt spid="2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animEffect filter="fade" transition="in">
                                      <p:cBhvr>
                                        <p:cTn dur="500"/>
                                        <p:tgtEl>
                                          <p:spTgt spid="2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animEffect filter="fade" transition="in">
                                      <p:cBhvr>
                                        <p:cTn dur="500"/>
                                        <p:tgtEl>
                                          <p:spTgt spid="2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5" st="5"/>
                                            </p:txEl>
                                          </p:spTgt>
                                        </p:tgtEl>
                                        <p:attrNameLst>
                                          <p:attrName>style.visibility</p:attrName>
                                        </p:attrNameLst>
                                      </p:cBhvr>
                                      <p:to>
                                        <p:strVal val="visible"/>
                                      </p:to>
                                    </p:set>
                                    <p:animEffect filter="fade" transition="in">
                                      <p:cBhvr>
                                        <p:cTn dur="500"/>
                                        <p:tgtEl>
                                          <p:spTgt spid="24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3"/>
          <p:cNvSpPr txBox="1"/>
          <p:nvPr>
            <p:ph type="title"/>
          </p:nvPr>
        </p:nvSpPr>
        <p:spPr>
          <a:xfrm>
            <a:off x="1371600" y="228600"/>
            <a:ext cx="8534400" cy="762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Calibri"/>
              <a:buNone/>
            </a:pPr>
            <a:r>
              <a:rPr lang="en-US" sz="3200">
                <a:solidFill>
                  <a:srgbClr val="FF0000"/>
                </a:solidFill>
              </a:rPr>
              <a:t>Congestion Control in Datagram Subnets: </a:t>
            </a:r>
            <a:br>
              <a:rPr lang="en-US" sz="3200">
                <a:solidFill>
                  <a:srgbClr val="FF0000"/>
                </a:solidFill>
              </a:rPr>
            </a:br>
            <a:endParaRPr b="1" sz="3200"/>
          </a:p>
        </p:txBody>
      </p:sp>
      <p:sp>
        <p:nvSpPr>
          <p:cNvPr id="248" name="Google Shape;248;p23"/>
          <p:cNvSpPr txBox="1"/>
          <p:nvPr>
            <p:ph idx="1" type="body"/>
          </p:nvPr>
        </p:nvSpPr>
        <p:spPr>
          <a:xfrm>
            <a:off x="696035" y="1219200"/>
            <a:ext cx="10768083" cy="529078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When u moves above the threshold the output line enters a </a:t>
            </a:r>
            <a:r>
              <a:rPr b="1" i="1" lang="en-US">
                <a:solidFill>
                  <a:srgbClr val="FF0000"/>
                </a:solidFill>
              </a:rPr>
              <a:t>warning </a:t>
            </a:r>
            <a:r>
              <a:rPr lang="en-US">
                <a:solidFill>
                  <a:srgbClr val="FF0000"/>
                </a:solidFill>
              </a:rPr>
              <a:t>state  </a:t>
            </a:r>
            <a:endParaRPr/>
          </a:p>
          <a:p>
            <a:pPr indent="-228600" lvl="0" marL="228600" rtl="0" algn="just">
              <a:lnSpc>
                <a:spcPct val="90000"/>
              </a:lnSpc>
              <a:spcBef>
                <a:spcPts val="1000"/>
              </a:spcBef>
              <a:spcAft>
                <a:spcPts val="0"/>
              </a:spcAft>
              <a:buClr>
                <a:schemeClr val="dk1"/>
              </a:buClr>
              <a:buSzPts val="2800"/>
              <a:buChar char="•"/>
            </a:pPr>
            <a:r>
              <a:rPr lang="en-US"/>
              <a:t>Each newly-arriving packet is checked to see if its output line is in warning state. </a:t>
            </a:r>
            <a:endParaRPr/>
          </a:p>
          <a:p>
            <a:pPr indent="-228600" lvl="0" marL="228600" rtl="0" algn="just">
              <a:lnSpc>
                <a:spcPct val="90000"/>
              </a:lnSpc>
              <a:spcBef>
                <a:spcPts val="1000"/>
              </a:spcBef>
              <a:spcAft>
                <a:spcPts val="0"/>
              </a:spcAft>
              <a:buClr>
                <a:schemeClr val="dk1"/>
              </a:buClr>
              <a:buSzPts val="2800"/>
              <a:buChar char="•"/>
            </a:pPr>
            <a:r>
              <a:rPr lang="en-US"/>
              <a:t>If it is, some action is taken. </a:t>
            </a:r>
            <a:endParaRPr/>
          </a:p>
          <a:p>
            <a:pPr indent="-342900" lvl="1" marL="342900" rtl="0" algn="l">
              <a:lnSpc>
                <a:spcPct val="90000"/>
              </a:lnSpc>
              <a:spcBef>
                <a:spcPts val="500"/>
              </a:spcBef>
              <a:spcAft>
                <a:spcPts val="0"/>
              </a:spcAft>
              <a:buClr>
                <a:schemeClr val="dk1"/>
              </a:buClr>
              <a:buSzPts val="2800"/>
              <a:buChar char="•"/>
            </a:pPr>
            <a:r>
              <a:rPr lang="en-US" sz="2800"/>
              <a:t>The action taken can be  one of the following</a:t>
            </a:r>
            <a:endParaRPr/>
          </a:p>
          <a:p>
            <a:pPr indent="-514350" lvl="1" marL="971550" rtl="0" algn="l">
              <a:lnSpc>
                <a:spcPct val="90000"/>
              </a:lnSpc>
              <a:spcBef>
                <a:spcPts val="500"/>
              </a:spcBef>
              <a:spcAft>
                <a:spcPts val="0"/>
              </a:spcAft>
              <a:buClr>
                <a:srgbClr val="FF0000"/>
              </a:buClr>
              <a:buSzPts val="2800"/>
              <a:buFont typeface="Calibri"/>
              <a:buAutoNum type="arabicPeriod"/>
            </a:pPr>
            <a:r>
              <a:rPr lang="en-US" sz="2800">
                <a:solidFill>
                  <a:srgbClr val="FF0000"/>
                </a:solidFill>
              </a:rPr>
              <a:t>Warning bit</a:t>
            </a:r>
            <a:endParaRPr/>
          </a:p>
          <a:p>
            <a:pPr indent="-514350" lvl="1" marL="971550" rtl="0" algn="l">
              <a:lnSpc>
                <a:spcPct val="90000"/>
              </a:lnSpc>
              <a:spcBef>
                <a:spcPts val="500"/>
              </a:spcBef>
              <a:spcAft>
                <a:spcPts val="0"/>
              </a:spcAft>
              <a:buClr>
                <a:srgbClr val="FF0000"/>
              </a:buClr>
              <a:buSzPts val="2800"/>
              <a:buFont typeface="Calibri"/>
              <a:buAutoNum type="arabicPeriod"/>
            </a:pPr>
            <a:r>
              <a:rPr lang="en-US" sz="2800">
                <a:solidFill>
                  <a:srgbClr val="FF0000"/>
                </a:solidFill>
              </a:rPr>
              <a:t>Choke packets</a:t>
            </a:r>
            <a:endParaRPr/>
          </a:p>
          <a:p>
            <a:pPr indent="-514350" lvl="1" marL="971550" rtl="0" algn="l">
              <a:lnSpc>
                <a:spcPct val="90000"/>
              </a:lnSpc>
              <a:spcBef>
                <a:spcPts val="500"/>
              </a:spcBef>
              <a:spcAft>
                <a:spcPts val="0"/>
              </a:spcAft>
              <a:buClr>
                <a:srgbClr val="FF0000"/>
              </a:buClr>
              <a:buSzPts val="2800"/>
              <a:buFont typeface="Calibri"/>
              <a:buAutoNum type="arabicPeriod"/>
            </a:pPr>
            <a:r>
              <a:rPr lang="en-US" sz="2800">
                <a:solidFill>
                  <a:srgbClr val="FF0000"/>
                </a:solidFill>
              </a:rPr>
              <a:t>Load shedding</a:t>
            </a:r>
            <a:endParaRPr/>
          </a:p>
          <a:p>
            <a:pPr indent="-514350" lvl="1" marL="971550" rtl="0" algn="l">
              <a:lnSpc>
                <a:spcPct val="90000"/>
              </a:lnSpc>
              <a:spcBef>
                <a:spcPts val="500"/>
              </a:spcBef>
              <a:spcAft>
                <a:spcPts val="0"/>
              </a:spcAft>
              <a:buClr>
                <a:srgbClr val="FF0000"/>
              </a:buClr>
              <a:buSzPts val="2800"/>
              <a:buFont typeface="Calibri"/>
              <a:buAutoNum type="arabicPeriod"/>
            </a:pPr>
            <a:r>
              <a:rPr lang="en-US" sz="2800">
                <a:solidFill>
                  <a:srgbClr val="FF0000"/>
                </a:solidFill>
              </a:rPr>
              <a:t>Random early discard</a:t>
            </a:r>
            <a:endParaRPr/>
          </a:p>
          <a:p>
            <a:pPr indent="-76200" lvl="1" marL="685800" rtl="0" algn="l">
              <a:lnSpc>
                <a:spcPct val="90000"/>
              </a:lnSpc>
              <a:spcBef>
                <a:spcPts val="500"/>
              </a:spcBef>
              <a:spcAft>
                <a:spcPts val="0"/>
              </a:spcAft>
              <a:buClr>
                <a:schemeClr val="dk1"/>
              </a:buClr>
              <a:buSzPts val="2400"/>
              <a:buNone/>
            </a:pPr>
            <a:r>
              <a:t/>
            </a:r>
            <a:endParaRPr>
              <a:solidFill>
                <a:srgbClr val="FF0000"/>
              </a:solidFill>
            </a:endParaRPr>
          </a:p>
        </p:txBody>
      </p:sp>
      <p:sp>
        <p:nvSpPr>
          <p:cNvPr id="249" name="Google Shape;2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Warning Bit</a:t>
            </a:r>
            <a:endParaRPr/>
          </a:p>
        </p:txBody>
      </p:sp>
      <p:sp>
        <p:nvSpPr>
          <p:cNvPr id="255" name="Google Shape;25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A special bit in the packet header is set by the router to warn the source when congestion is detected.</a:t>
            </a:r>
            <a:endParaRPr/>
          </a:p>
          <a:p>
            <a:pPr indent="-228600" lvl="0" marL="228600" rtl="0" algn="l">
              <a:lnSpc>
                <a:spcPct val="90000"/>
              </a:lnSpc>
              <a:spcBef>
                <a:spcPts val="1000"/>
              </a:spcBef>
              <a:spcAft>
                <a:spcPts val="0"/>
              </a:spcAft>
              <a:buClr>
                <a:schemeClr val="dk1"/>
              </a:buClr>
              <a:buSzPts val="2400"/>
              <a:buChar char="•"/>
            </a:pPr>
            <a:r>
              <a:rPr lang="en-US" sz="2400"/>
              <a:t>The bit is copied and piggy-backed on the ACK and sent to the sender.</a:t>
            </a:r>
            <a:endParaRPr/>
          </a:p>
          <a:p>
            <a:pPr indent="-228600" lvl="0" marL="228600" rtl="0" algn="l">
              <a:lnSpc>
                <a:spcPct val="90000"/>
              </a:lnSpc>
              <a:spcBef>
                <a:spcPts val="1000"/>
              </a:spcBef>
              <a:spcAft>
                <a:spcPts val="0"/>
              </a:spcAft>
              <a:buClr>
                <a:schemeClr val="dk1"/>
              </a:buClr>
              <a:buSzPts val="2400"/>
              <a:buChar char="•"/>
            </a:pPr>
            <a:r>
              <a:rPr lang="en-US" sz="2400"/>
              <a:t>The sender monitors the number of ACK packets it receives with the warning bit set and adjusts its transmission rate accordingly.</a:t>
            </a:r>
            <a:endParaRPr/>
          </a:p>
          <a:p>
            <a:pPr indent="-228600" lvl="0" marL="228600" rtl="0" algn="just">
              <a:lnSpc>
                <a:spcPct val="90000"/>
              </a:lnSpc>
              <a:spcBef>
                <a:spcPts val="1000"/>
              </a:spcBef>
              <a:spcAft>
                <a:spcPts val="0"/>
              </a:spcAft>
              <a:buClr>
                <a:schemeClr val="dk1"/>
              </a:buClr>
              <a:buSzPts val="2400"/>
              <a:buChar char="•"/>
            </a:pPr>
            <a:r>
              <a:rPr lang="en-US" sz="2400"/>
              <a:t>As long as the warning bits continued to flow in, the source continued to decrease its transmission rate. </a:t>
            </a:r>
            <a:endParaRPr/>
          </a:p>
          <a:p>
            <a:pPr indent="-228600" lvl="0" marL="228600" rtl="0" algn="just">
              <a:lnSpc>
                <a:spcPct val="90000"/>
              </a:lnSpc>
              <a:spcBef>
                <a:spcPts val="1000"/>
              </a:spcBef>
              <a:spcAft>
                <a:spcPts val="0"/>
              </a:spcAft>
              <a:buClr>
                <a:schemeClr val="dk1"/>
              </a:buClr>
              <a:buSzPts val="2400"/>
              <a:buChar char="•"/>
            </a:pPr>
            <a:r>
              <a:rPr lang="en-US" sz="2400"/>
              <a:t>When they slowed to a trickle, it increases its transmission rate</a:t>
            </a:r>
            <a:endParaRPr sz="2400"/>
          </a:p>
        </p:txBody>
      </p:sp>
      <p:sp>
        <p:nvSpPr>
          <p:cNvPr id="256" name="Google Shape;25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animEffect filter="fade" transition="in">
                                      <p:cBhvr>
                                        <p:cTn dur="500"/>
                                        <p:tgtEl>
                                          <p:spTgt spid="2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animEffect filter="fade" transition="in">
                                      <p:cBhvr>
                                        <p:cTn dur="500"/>
                                        <p:tgtEl>
                                          <p:spTgt spid="2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animEffect filter="fade" transition="in">
                                      <p:cBhvr>
                                        <p:cTn dur="500"/>
                                        <p:tgtEl>
                                          <p:spTgt spid="2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animEffect filter="fade" transition="in">
                                      <p:cBhvr>
                                        <p:cTn dur="500"/>
                                        <p:tgtEl>
                                          <p:spTgt spid="2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4" st="4"/>
                                            </p:txEl>
                                          </p:spTgt>
                                        </p:tgtEl>
                                        <p:attrNameLst>
                                          <p:attrName>style.visibility</p:attrName>
                                        </p:attrNameLst>
                                      </p:cBhvr>
                                      <p:to>
                                        <p:strVal val="visible"/>
                                      </p:to>
                                    </p:set>
                                    <p:animEffect filter="fade" transition="in">
                                      <p:cBhvr>
                                        <p:cTn dur="500"/>
                                        <p:tgtEl>
                                          <p:spTgt spid="25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ph type="title"/>
          </p:nvPr>
        </p:nvSpPr>
        <p:spPr>
          <a:xfrm>
            <a:off x="2286000" y="38100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Choke Packets</a:t>
            </a:r>
            <a:endParaRPr/>
          </a:p>
        </p:txBody>
      </p:sp>
      <p:sp>
        <p:nvSpPr>
          <p:cNvPr id="262" name="Google Shape;262;p25"/>
          <p:cNvSpPr txBox="1"/>
          <p:nvPr>
            <p:ph idx="1" type="body"/>
          </p:nvPr>
        </p:nvSpPr>
        <p:spPr>
          <a:xfrm>
            <a:off x="614149" y="1371600"/>
            <a:ext cx="9368051" cy="4724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A choke packet is a control packet generated at a congested  router  and transmitted to source  to inform that there is congestion</a:t>
            </a:r>
            <a:endParaRPr/>
          </a:p>
          <a:p>
            <a:pPr indent="-228600" lvl="0" marL="228600" rtl="0" algn="l">
              <a:lnSpc>
                <a:spcPct val="90000"/>
              </a:lnSpc>
              <a:spcBef>
                <a:spcPts val="1000"/>
              </a:spcBef>
              <a:spcAft>
                <a:spcPts val="0"/>
              </a:spcAft>
              <a:buClr>
                <a:schemeClr val="dk1"/>
              </a:buClr>
              <a:buSzPts val="2400"/>
              <a:buChar char="•"/>
            </a:pPr>
            <a:r>
              <a:rPr lang="en-US" sz="2400"/>
              <a:t>A more direct way of telling the source to slow down.</a:t>
            </a:r>
            <a:endParaRPr/>
          </a:p>
          <a:p>
            <a:pPr indent="-228600" lvl="0" marL="228600" rtl="0" algn="l">
              <a:lnSpc>
                <a:spcPct val="90000"/>
              </a:lnSpc>
              <a:spcBef>
                <a:spcPts val="1000"/>
              </a:spcBef>
              <a:spcAft>
                <a:spcPts val="0"/>
              </a:spcAft>
              <a:buClr>
                <a:schemeClr val="dk1"/>
              </a:buClr>
              <a:buSzPts val="2400"/>
              <a:buChar char="•"/>
            </a:pPr>
            <a:r>
              <a:rPr lang="en-US" sz="2400"/>
              <a:t>The source, on receiving the choke packet must reduce its transmission rate by a certain percentage.</a:t>
            </a:r>
            <a:endParaRPr/>
          </a:p>
          <a:p>
            <a:pPr indent="-228600" lvl="0" marL="228600" rtl="0" algn="l">
              <a:lnSpc>
                <a:spcPct val="90000"/>
              </a:lnSpc>
              <a:spcBef>
                <a:spcPts val="1000"/>
              </a:spcBef>
              <a:spcAft>
                <a:spcPts val="0"/>
              </a:spcAft>
              <a:buClr>
                <a:schemeClr val="dk1"/>
              </a:buClr>
              <a:buSzPts val="2400"/>
              <a:buChar char="•"/>
            </a:pPr>
            <a:r>
              <a:rPr lang="en-US" sz="2400"/>
              <a:t>The original packet is tagged (a header bit is turned on) so that it will not generate any more choke packets further along the path and is then forwarded in the usually way</a:t>
            </a:r>
            <a:endParaRPr/>
          </a:p>
          <a:p>
            <a:pPr indent="-228600" lvl="0" marL="228600" rtl="0" algn="l">
              <a:lnSpc>
                <a:spcPct val="90000"/>
              </a:lnSpc>
              <a:spcBef>
                <a:spcPts val="1000"/>
              </a:spcBef>
              <a:spcAft>
                <a:spcPts val="0"/>
              </a:spcAft>
              <a:buClr>
                <a:schemeClr val="dk1"/>
              </a:buClr>
              <a:buSzPts val="2400"/>
              <a:buChar char="•"/>
            </a:pPr>
            <a:r>
              <a:rPr lang="en-US" sz="2400"/>
              <a:t>An example of a choke packet is the ICMP Source Quench Packet.</a:t>
            </a:r>
            <a:endParaRPr/>
          </a:p>
        </p:txBody>
      </p:sp>
      <p:sp>
        <p:nvSpPr>
          <p:cNvPr id="263" name="Google Shape;26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Effect filter="fade" transition="in">
                                      <p:cBhvr>
                                        <p:cTn dur="500"/>
                                        <p:tgtEl>
                                          <p:spTgt spid="2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animEffect filter="fade" transition="in">
                                      <p:cBhvr>
                                        <p:cTn dur="500"/>
                                        <p:tgtEl>
                                          <p:spTgt spid="2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animEffect filter="fade" transition="in">
                                      <p:cBhvr>
                                        <p:cTn dur="500"/>
                                        <p:tgtEl>
                                          <p:spTgt spid="2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3" st="3"/>
                                            </p:txEl>
                                          </p:spTgt>
                                        </p:tgtEl>
                                        <p:attrNameLst>
                                          <p:attrName>style.visibility</p:attrName>
                                        </p:attrNameLst>
                                      </p:cBhvr>
                                      <p:to>
                                        <p:strVal val="visible"/>
                                      </p:to>
                                    </p:set>
                                    <p:animEffect filter="fade" transition="in">
                                      <p:cBhvr>
                                        <p:cTn dur="500"/>
                                        <p:tgtEl>
                                          <p:spTgt spid="2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4" st="4"/>
                                            </p:txEl>
                                          </p:spTgt>
                                        </p:tgtEl>
                                        <p:attrNameLst>
                                          <p:attrName>style.visibility</p:attrName>
                                        </p:attrNameLst>
                                      </p:cBhvr>
                                      <p:to>
                                        <p:strVal val="visible"/>
                                      </p:to>
                                    </p:set>
                                    <p:animEffect filter="fade" transition="in">
                                      <p:cBhvr>
                                        <p:cTn dur="500"/>
                                        <p:tgtEl>
                                          <p:spTgt spid="26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choke packet</a:t>
            </a:r>
            <a:endParaRPr/>
          </a:p>
        </p:txBody>
      </p:sp>
      <p:sp>
        <p:nvSpPr>
          <p:cNvPr id="269" name="Google Shape;269;p26"/>
          <p:cNvSpPr txBox="1"/>
          <p:nvPr>
            <p:ph idx="1" type="body"/>
          </p:nvPr>
        </p:nvSpPr>
        <p:spPr>
          <a:xfrm>
            <a:off x="838200" y="1310185"/>
            <a:ext cx="10515600" cy="486677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When the source host gets the choke packet, it is required to reduce</a:t>
            </a:r>
            <a:endParaRPr/>
          </a:p>
          <a:p>
            <a:pPr indent="-228600" lvl="0" marL="228600" rtl="0" algn="l">
              <a:lnSpc>
                <a:spcPct val="90000"/>
              </a:lnSpc>
              <a:spcBef>
                <a:spcPts val="1000"/>
              </a:spcBef>
              <a:spcAft>
                <a:spcPts val="0"/>
              </a:spcAft>
              <a:buClr>
                <a:schemeClr val="dk1"/>
              </a:buClr>
              <a:buSzPts val="2800"/>
              <a:buFont typeface="Calibri"/>
              <a:buNone/>
            </a:pPr>
            <a:r>
              <a:rPr lang="en-US"/>
              <a:t>the traffic sent to the specified destination by </a:t>
            </a:r>
            <a:r>
              <a:rPr i="1" lang="en-US"/>
              <a:t>X percent.</a:t>
            </a:r>
            <a:endParaRPr/>
          </a:p>
          <a:p>
            <a:pPr indent="-228600" lvl="0" marL="228600" rtl="0" algn="l">
              <a:lnSpc>
                <a:spcPct val="90000"/>
              </a:lnSpc>
              <a:spcBef>
                <a:spcPts val="1000"/>
              </a:spcBef>
              <a:spcAft>
                <a:spcPts val="0"/>
              </a:spcAft>
              <a:buClr>
                <a:schemeClr val="dk1"/>
              </a:buClr>
              <a:buSzPts val="2800"/>
              <a:buFont typeface="Calibri"/>
              <a:buNone/>
            </a:pPr>
            <a:r>
              <a:rPr lang="en-US"/>
              <a:t>• The host should ignore choke packets referring to that destination for a fixed interval.</a:t>
            </a:r>
            <a:endParaRPr/>
          </a:p>
          <a:p>
            <a:pPr indent="-228600" lvl="0" marL="228600" rtl="0" algn="l">
              <a:lnSpc>
                <a:spcPct val="90000"/>
              </a:lnSpc>
              <a:spcBef>
                <a:spcPts val="1000"/>
              </a:spcBef>
              <a:spcAft>
                <a:spcPts val="0"/>
              </a:spcAft>
              <a:buClr>
                <a:schemeClr val="dk1"/>
              </a:buClr>
              <a:buSzPts val="2800"/>
              <a:buFont typeface="Calibri"/>
              <a:buNone/>
            </a:pPr>
            <a:r>
              <a:rPr lang="en-US"/>
              <a:t>• After that period has expired, the host listens for more choke packets for another interval.</a:t>
            </a:r>
            <a:endParaRPr/>
          </a:p>
          <a:p>
            <a:pPr indent="-228600" lvl="1" marL="685800" rtl="0" algn="l">
              <a:lnSpc>
                <a:spcPct val="90000"/>
              </a:lnSpc>
              <a:spcBef>
                <a:spcPts val="500"/>
              </a:spcBef>
              <a:spcAft>
                <a:spcPts val="0"/>
              </a:spcAft>
              <a:buClr>
                <a:schemeClr val="dk1"/>
              </a:buClr>
              <a:buSzPts val="2800"/>
              <a:buFont typeface="Calibri"/>
              <a:buNone/>
            </a:pPr>
            <a:r>
              <a:rPr lang="en-US" sz="2800"/>
              <a:t>– If one arrives, the line is still congested. The host reduces the flow still more and begins ignoring choke packets again.</a:t>
            </a:r>
            <a:endParaRPr/>
          </a:p>
          <a:p>
            <a:pPr indent="-228600" lvl="1" marL="685800" rtl="0" algn="l">
              <a:lnSpc>
                <a:spcPct val="90000"/>
              </a:lnSpc>
              <a:spcBef>
                <a:spcPts val="500"/>
              </a:spcBef>
              <a:spcAft>
                <a:spcPts val="0"/>
              </a:spcAft>
              <a:buClr>
                <a:schemeClr val="dk1"/>
              </a:buClr>
              <a:buSzPts val="2800"/>
              <a:buFont typeface="Calibri"/>
              <a:buNone/>
            </a:pPr>
            <a:r>
              <a:rPr lang="en-US" sz="2800"/>
              <a:t>– If no choke packets arrive during the listening period, the host may increase the flow again.</a:t>
            </a:r>
            <a:endParaRPr/>
          </a:p>
        </p:txBody>
      </p:sp>
      <p:sp>
        <p:nvSpPr>
          <p:cNvPr id="270" name="Google Shape;27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5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500"/>
                                        <p:tgtEl>
                                          <p:spTgt spid="2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Effect filter="fade" transition="in">
                                      <p:cBhvr>
                                        <p:cTn dur="500"/>
                                        <p:tgtEl>
                                          <p:spTgt spid="2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animEffect filter="fade" transition="in">
                                      <p:cBhvr>
                                        <p:cTn dur="500"/>
                                        <p:tgtEl>
                                          <p:spTgt spid="2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animEffect filter="fade" transition="in">
                                      <p:cBhvr>
                                        <p:cTn dur="500"/>
                                        <p:tgtEl>
                                          <p:spTgt spid="2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animEffect filter="fade" transition="in">
                                      <p:cBhvr>
                                        <p:cTn dur="500"/>
                                        <p:tgtEl>
                                          <p:spTgt spid="26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choke packet</a:t>
            </a:r>
            <a:endParaRPr/>
          </a:p>
        </p:txBody>
      </p:sp>
      <p:sp>
        <p:nvSpPr>
          <p:cNvPr id="276" name="Google Shape;27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Hosts can reduce traffic by adjusting their policy parameters, for example, their window size. </a:t>
            </a:r>
            <a:endParaRPr/>
          </a:p>
          <a:p>
            <a:pPr indent="-228600" lvl="0" marL="228600" rtl="0" algn="just">
              <a:lnSpc>
                <a:spcPct val="90000"/>
              </a:lnSpc>
              <a:spcBef>
                <a:spcPts val="1000"/>
              </a:spcBef>
              <a:spcAft>
                <a:spcPts val="0"/>
              </a:spcAft>
              <a:buClr>
                <a:schemeClr val="dk1"/>
              </a:buClr>
              <a:buSzPts val="2400"/>
              <a:buChar char="•"/>
            </a:pPr>
            <a:r>
              <a:rPr lang="en-US" sz="2400"/>
              <a:t>Typically, the first choke packet causes the data rate to be reduced to 0.50 of its previous rate, </a:t>
            </a:r>
            <a:endParaRPr/>
          </a:p>
          <a:p>
            <a:pPr indent="-228600" lvl="0" marL="228600" rtl="0" algn="just">
              <a:lnSpc>
                <a:spcPct val="90000"/>
              </a:lnSpc>
              <a:spcBef>
                <a:spcPts val="1000"/>
              </a:spcBef>
              <a:spcAft>
                <a:spcPts val="0"/>
              </a:spcAft>
              <a:buClr>
                <a:schemeClr val="dk1"/>
              </a:buClr>
              <a:buSzPts val="2400"/>
              <a:buChar char="•"/>
            </a:pPr>
            <a:r>
              <a:rPr lang="en-US" sz="2400"/>
              <a:t>Next one causes a reduction to 0.25, and so on</a:t>
            </a:r>
            <a:endParaRPr sz="2400"/>
          </a:p>
        </p:txBody>
      </p:sp>
      <p:sp>
        <p:nvSpPr>
          <p:cNvPr id="277" name="Google Shape;2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 calcmode="lin" valueType="num">
                                      <p:cBhvr additive="base">
                                        <p:cTn dur="500"/>
                                        <p:tgtEl>
                                          <p:spTgt spid="2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anim calcmode="lin" valueType="num">
                                      <p:cBhvr additive="base">
                                        <p:cTn dur="500"/>
                                        <p:tgtEl>
                                          <p:spTgt spid="27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anim calcmode="lin" valueType="num">
                                      <p:cBhvr additive="base">
                                        <p:cTn dur="500"/>
                                        <p:tgtEl>
                                          <p:spTgt spid="27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
        <p:nvSpPr>
          <p:cNvPr id="283" name="Google Shape;283;p28"/>
          <p:cNvSpPr/>
          <p:nvPr/>
        </p:nvSpPr>
        <p:spPr>
          <a:xfrm>
            <a:off x="1524000" y="228601"/>
            <a:ext cx="4572000" cy="8302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 choke packet that affects only the source.</a:t>
            </a:r>
            <a:endParaRPr b="0" i="0" sz="2400" u="none" cap="none" strike="noStrike">
              <a:solidFill>
                <a:schemeClr val="dk1"/>
              </a:solidFill>
              <a:latin typeface="Times New Roman"/>
              <a:ea typeface="Times New Roman"/>
              <a:cs typeface="Times New Roman"/>
              <a:sym typeface="Times New Roman"/>
            </a:endParaRPr>
          </a:p>
        </p:txBody>
      </p:sp>
      <p:pic>
        <p:nvPicPr>
          <p:cNvPr id="284" name="Google Shape;284;p28"/>
          <p:cNvPicPr preferRelativeResize="0"/>
          <p:nvPr/>
        </p:nvPicPr>
        <p:blipFill rotWithShape="1">
          <a:blip r:embed="rId3">
            <a:alphaModFix/>
          </a:blip>
          <a:srcRect b="0" l="0" r="0" t="0"/>
          <a:stretch/>
        </p:blipFill>
        <p:spPr>
          <a:xfrm>
            <a:off x="4053385" y="1090612"/>
            <a:ext cx="5773003" cy="56308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Hop-by-Hop Choke Packets</a:t>
            </a:r>
            <a:endParaRPr/>
          </a:p>
        </p:txBody>
      </p:sp>
      <p:sp>
        <p:nvSpPr>
          <p:cNvPr id="290" name="Google Shape;290;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Over long distances or at high speeds choke packets are not very effective because the reaction is slow. . </a:t>
            </a:r>
            <a:endParaRPr/>
          </a:p>
          <a:p>
            <a:pPr indent="-228600" lvl="0" marL="228600" rtl="0" algn="l">
              <a:lnSpc>
                <a:spcPct val="90000"/>
              </a:lnSpc>
              <a:spcBef>
                <a:spcPts val="1000"/>
              </a:spcBef>
              <a:spcAft>
                <a:spcPts val="0"/>
              </a:spcAft>
              <a:buClr>
                <a:schemeClr val="dk1"/>
              </a:buClr>
              <a:buSzPts val="2800"/>
              <a:buChar char="•"/>
            </a:pPr>
            <a:r>
              <a:rPr lang="en-US"/>
              <a:t>A more efficient method is to send to choke packets hop-by-hop.</a:t>
            </a:r>
            <a:endParaRPr/>
          </a:p>
          <a:p>
            <a:pPr indent="-228600" lvl="0" marL="228600" rtl="0" algn="l">
              <a:lnSpc>
                <a:spcPct val="90000"/>
              </a:lnSpc>
              <a:spcBef>
                <a:spcPts val="1000"/>
              </a:spcBef>
              <a:spcAft>
                <a:spcPts val="0"/>
              </a:spcAft>
              <a:buClr>
                <a:schemeClr val="dk1"/>
              </a:buClr>
              <a:buSzPts val="2800"/>
              <a:buChar char="•"/>
            </a:pPr>
            <a:r>
              <a:rPr lang="en-US"/>
              <a:t>This </a:t>
            </a:r>
            <a:r>
              <a:rPr lang="en-US">
                <a:solidFill>
                  <a:srgbClr val="FF0000"/>
                </a:solidFill>
              </a:rPr>
              <a:t>requires each hop to reduce its transmission </a:t>
            </a:r>
            <a:r>
              <a:rPr lang="en-US"/>
              <a:t>even before the choke packet arrive at the source.</a:t>
            </a:r>
            <a:endParaRPr/>
          </a:p>
        </p:txBody>
      </p:sp>
      <p:sp>
        <p:nvSpPr>
          <p:cNvPr id="291" name="Google Shape;29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500"/>
                                        <p:tgtEl>
                                          <p:spTgt spid="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animEffect filter="fade" transition="in">
                                      <p:cBhvr>
                                        <p:cTn dur="500"/>
                                        <p:tgtEl>
                                          <p:spTgt spid="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animEffect filter="fade" transition="in">
                                      <p:cBhvr>
                                        <p:cTn dur="500"/>
                                        <p:tgtEl>
                                          <p:spTgt spid="29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pic>
        <p:nvPicPr>
          <p:cNvPr id="297" name="Google Shape;297;p30"/>
          <p:cNvPicPr preferRelativeResize="0"/>
          <p:nvPr/>
        </p:nvPicPr>
        <p:blipFill rotWithShape="1">
          <a:blip r:embed="rId3">
            <a:alphaModFix/>
          </a:blip>
          <a:srcRect b="0" l="0" r="0" t="0"/>
          <a:stretch/>
        </p:blipFill>
        <p:spPr>
          <a:xfrm>
            <a:off x="5867400" y="0"/>
            <a:ext cx="3276600" cy="6553200"/>
          </a:xfrm>
          <a:prstGeom prst="rect">
            <a:avLst/>
          </a:prstGeom>
          <a:noFill/>
          <a:ln>
            <a:noFill/>
          </a:ln>
        </p:spPr>
      </p:pic>
      <p:sp>
        <p:nvSpPr>
          <p:cNvPr id="298" name="Google Shape;298;p30"/>
          <p:cNvSpPr/>
          <p:nvPr/>
        </p:nvSpPr>
        <p:spPr>
          <a:xfrm>
            <a:off x="1524000" y="304801"/>
            <a:ext cx="4572000" cy="8302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 choke packet that affects each hop it passes through.</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1"/>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Load Shedding</a:t>
            </a:r>
            <a:endParaRPr/>
          </a:p>
        </p:txBody>
      </p:sp>
      <p:sp>
        <p:nvSpPr>
          <p:cNvPr id="304" name="Google Shape;304;p31"/>
          <p:cNvSpPr txBox="1"/>
          <p:nvPr>
            <p:ph idx="1" type="body"/>
          </p:nvPr>
        </p:nvSpPr>
        <p:spPr>
          <a:xfrm>
            <a:off x="1659468" y="647538"/>
            <a:ext cx="8873065" cy="621046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b="1" lang="en-US"/>
              <a:t>Load shedding </a:t>
            </a:r>
            <a:r>
              <a:rPr lang="en-US"/>
              <a:t>is a fancy way of saying that when routers are being flooded by packets that they cannot handle, they just throw them away</a:t>
            </a:r>
            <a:endParaRPr/>
          </a:p>
          <a:p>
            <a:pPr indent="-228600" lvl="0" marL="228600" rtl="0" algn="just">
              <a:lnSpc>
                <a:spcPct val="90000"/>
              </a:lnSpc>
              <a:spcBef>
                <a:spcPts val="1000"/>
              </a:spcBef>
              <a:spcAft>
                <a:spcPts val="0"/>
              </a:spcAft>
              <a:buClr>
                <a:srgbClr val="FF0000"/>
              </a:buClr>
              <a:buSzPts val="2800"/>
              <a:buChar char="•"/>
            </a:pPr>
            <a:r>
              <a:rPr lang="en-US">
                <a:solidFill>
                  <a:srgbClr val="FF0000"/>
                </a:solidFill>
              </a:rPr>
              <a:t>When buffers become full, routers simply discard packets</a:t>
            </a:r>
            <a:endParaRPr>
              <a:solidFill>
                <a:srgbClr val="FF0000"/>
              </a:solidFill>
            </a:endParaRPr>
          </a:p>
          <a:p>
            <a:pPr indent="-228600" lvl="0" marL="228600" rtl="0" algn="just">
              <a:lnSpc>
                <a:spcPct val="90000"/>
              </a:lnSpc>
              <a:spcBef>
                <a:spcPts val="1000"/>
              </a:spcBef>
              <a:spcAft>
                <a:spcPts val="0"/>
              </a:spcAft>
              <a:buClr>
                <a:schemeClr val="dk1"/>
              </a:buClr>
              <a:buSzPts val="2800"/>
              <a:buFont typeface="Arial"/>
              <a:buChar char="•"/>
            </a:pPr>
            <a:r>
              <a:rPr lang="en-US"/>
              <a:t>Methods for dropping:</a:t>
            </a:r>
            <a:endParaRPr/>
          </a:p>
          <a:p>
            <a:pPr indent="-228600" lvl="1" marL="685800" rtl="0" algn="just">
              <a:lnSpc>
                <a:spcPct val="90000"/>
              </a:lnSpc>
              <a:spcBef>
                <a:spcPts val="500"/>
              </a:spcBef>
              <a:spcAft>
                <a:spcPts val="0"/>
              </a:spcAft>
              <a:buClr>
                <a:schemeClr val="dk1"/>
              </a:buClr>
              <a:buSzPts val="2800"/>
              <a:buChar char="•"/>
            </a:pPr>
            <a:r>
              <a:rPr lang="en-US" sz="2800"/>
              <a:t>can just pick packets at </a:t>
            </a:r>
            <a:r>
              <a:rPr lang="en-US" sz="2800">
                <a:solidFill>
                  <a:srgbClr val="FF0000"/>
                </a:solidFill>
              </a:rPr>
              <a:t>random</a:t>
            </a:r>
            <a:r>
              <a:rPr lang="en-US" sz="2800"/>
              <a:t> to drop</a:t>
            </a:r>
            <a:endParaRPr/>
          </a:p>
          <a:p>
            <a:pPr indent="-228600" lvl="1" marL="685800" rtl="0" algn="just">
              <a:lnSpc>
                <a:spcPct val="90000"/>
              </a:lnSpc>
              <a:spcBef>
                <a:spcPts val="500"/>
              </a:spcBef>
              <a:spcAft>
                <a:spcPts val="0"/>
              </a:spcAft>
              <a:buClr>
                <a:schemeClr val="dk1"/>
              </a:buClr>
              <a:buSzPts val="2800"/>
              <a:buChar char="•"/>
            </a:pPr>
            <a:r>
              <a:rPr lang="en-US" sz="2800"/>
              <a:t>discard may depend on the applications running</a:t>
            </a:r>
            <a:endParaRPr/>
          </a:p>
          <a:p>
            <a:pPr indent="-228600" lvl="2" marL="1143000" rtl="0" algn="just">
              <a:lnSpc>
                <a:spcPct val="90000"/>
              </a:lnSpc>
              <a:spcBef>
                <a:spcPts val="500"/>
              </a:spcBef>
              <a:spcAft>
                <a:spcPts val="0"/>
              </a:spcAft>
              <a:buClr>
                <a:schemeClr val="dk1"/>
              </a:buClr>
              <a:buSzPts val="2800"/>
              <a:buFont typeface="Noto Sans Symbols"/>
              <a:buChar char="⮚"/>
            </a:pPr>
            <a:r>
              <a:rPr lang="en-US" sz="2800"/>
              <a:t>For file transfer, an old packet is worth more than a new one </a:t>
            </a:r>
            <a:endParaRPr/>
          </a:p>
          <a:p>
            <a:pPr indent="-228600" lvl="2" marL="1143000" rtl="0" algn="just">
              <a:lnSpc>
                <a:spcPct val="90000"/>
              </a:lnSpc>
              <a:spcBef>
                <a:spcPts val="500"/>
              </a:spcBef>
              <a:spcAft>
                <a:spcPts val="0"/>
              </a:spcAft>
              <a:buClr>
                <a:schemeClr val="dk1"/>
              </a:buClr>
              <a:buSzPts val="2800"/>
              <a:buFont typeface="Noto Sans Symbols"/>
              <a:buChar char="⮚"/>
            </a:pPr>
            <a:r>
              <a:rPr lang="en-US" sz="2800"/>
              <a:t>For multimedia, a new packet is more important than an old one.</a:t>
            </a:r>
            <a:endParaRPr/>
          </a:p>
          <a:p>
            <a:pPr indent="-228600" lvl="0" marL="228600" rtl="0" algn="just">
              <a:lnSpc>
                <a:spcPct val="90000"/>
              </a:lnSpc>
              <a:spcBef>
                <a:spcPts val="1000"/>
              </a:spcBef>
              <a:spcAft>
                <a:spcPts val="0"/>
              </a:spcAft>
              <a:buClr>
                <a:schemeClr val="dk1"/>
              </a:buClr>
              <a:buSzPts val="2800"/>
              <a:buFont typeface="Arial"/>
              <a:buChar char="•"/>
            </a:pPr>
            <a:r>
              <a:rPr lang="en-US"/>
              <a:t>To implement an intelligent discard policy, applications must mark their packets in </a:t>
            </a:r>
            <a:r>
              <a:rPr lang="en-US">
                <a:solidFill>
                  <a:srgbClr val="FF0000"/>
                </a:solidFill>
              </a:rPr>
              <a:t>priority</a:t>
            </a:r>
            <a:r>
              <a:rPr lang="en-US"/>
              <a:t> classes to indicate how important they are.</a:t>
            </a:r>
            <a:endParaRPr/>
          </a:p>
        </p:txBody>
      </p:sp>
      <p:sp>
        <p:nvSpPr>
          <p:cNvPr id="305" name="Google Shape;30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animEffect filter="fade" transition="in">
                                      <p:cBhvr>
                                        <p:cTn dur="500"/>
                                        <p:tgtEl>
                                          <p:spTgt spid="3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1" st="1"/>
                                            </p:txEl>
                                          </p:spTgt>
                                        </p:tgtEl>
                                        <p:attrNameLst>
                                          <p:attrName>style.visibility</p:attrName>
                                        </p:attrNameLst>
                                      </p:cBhvr>
                                      <p:to>
                                        <p:strVal val="visible"/>
                                      </p:to>
                                    </p:set>
                                    <p:animEffect filter="fade" transition="in">
                                      <p:cBhvr>
                                        <p:cTn dur="500"/>
                                        <p:tgtEl>
                                          <p:spTgt spid="3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2" st="2"/>
                                            </p:txEl>
                                          </p:spTgt>
                                        </p:tgtEl>
                                        <p:attrNameLst>
                                          <p:attrName>style.visibility</p:attrName>
                                        </p:attrNameLst>
                                      </p:cBhvr>
                                      <p:to>
                                        <p:strVal val="visible"/>
                                      </p:to>
                                    </p:set>
                                    <p:animEffect filter="fade" transition="in">
                                      <p:cBhvr>
                                        <p:cTn dur="500"/>
                                        <p:tgtEl>
                                          <p:spTgt spid="3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3" st="3"/>
                                            </p:txEl>
                                          </p:spTgt>
                                        </p:tgtEl>
                                        <p:attrNameLst>
                                          <p:attrName>style.visibility</p:attrName>
                                        </p:attrNameLst>
                                      </p:cBhvr>
                                      <p:to>
                                        <p:strVal val="visible"/>
                                      </p:to>
                                    </p:set>
                                    <p:animEffect filter="fade" transition="in">
                                      <p:cBhvr>
                                        <p:cTn dur="500"/>
                                        <p:tgtEl>
                                          <p:spTgt spid="3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4" st="4"/>
                                            </p:txEl>
                                          </p:spTgt>
                                        </p:tgtEl>
                                        <p:attrNameLst>
                                          <p:attrName>style.visibility</p:attrName>
                                        </p:attrNameLst>
                                      </p:cBhvr>
                                      <p:to>
                                        <p:strVal val="visible"/>
                                      </p:to>
                                    </p:set>
                                    <p:animEffect filter="fade" transition="in">
                                      <p:cBhvr>
                                        <p:cTn dur="500"/>
                                        <p:tgtEl>
                                          <p:spTgt spid="3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5" st="5"/>
                                            </p:txEl>
                                          </p:spTgt>
                                        </p:tgtEl>
                                        <p:attrNameLst>
                                          <p:attrName>style.visibility</p:attrName>
                                        </p:attrNameLst>
                                      </p:cBhvr>
                                      <p:to>
                                        <p:strVal val="visible"/>
                                      </p:to>
                                    </p:set>
                                    <p:animEffect filter="fade" transition="in">
                                      <p:cBhvr>
                                        <p:cTn dur="500"/>
                                        <p:tgtEl>
                                          <p:spTgt spid="3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6" st="6"/>
                                            </p:txEl>
                                          </p:spTgt>
                                        </p:tgtEl>
                                        <p:attrNameLst>
                                          <p:attrName>style.visibility</p:attrName>
                                        </p:attrNameLst>
                                      </p:cBhvr>
                                      <p:to>
                                        <p:strVal val="visible"/>
                                      </p:to>
                                    </p:set>
                                    <p:animEffect filter="fade" transition="in">
                                      <p:cBhvr>
                                        <p:cTn dur="500"/>
                                        <p:tgtEl>
                                          <p:spTgt spid="3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7" st="7"/>
                                            </p:txEl>
                                          </p:spTgt>
                                        </p:tgtEl>
                                        <p:attrNameLst>
                                          <p:attrName>style.visibility</p:attrName>
                                        </p:attrNameLst>
                                      </p:cBhvr>
                                      <p:to>
                                        <p:strVal val="visible"/>
                                      </p:to>
                                    </p:set>
                                    <p:animEffect filter="fade" transition="in">
                                      <p:cBhvr>
                                        <p:cTn dur="500"/>
                                        <p:tgtEl>
                                          <p:spTgt spid="30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2"/>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Load Shedding</a:t>
            </a:r>
            <a:endParaRPr/>
          </a:p>
        </p:txBody>
      </p:sp>
      <p:sp>
        <p:nvSpPr>
          <p:cNvPr id="311" name="Google Shape;311;p32"/>
          <p:cNvSpPr txBox="1"/>
          <p:nvPr>
            <p:ph idx="1" type="body"/>
          </p:nvPr>
        </p:nvSpPr>
        <p:spPr>
          <a:xfrm>
            <a:off x="1659468" y="647538"/>
            <a:ext cx="8873065" cy="621046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senders might be allowed to </a:t>
            </a:r>
            <a:r>
              <a:rPr lang="en-US">
                <a:solidFill>
                  <a:srgbClr val="FF0000"/>
                </a:solidFill>
              </a:rPr>
              <a:t>send high-priority packets </a:t>
            </a:r>
            <a:r>
              <a:rPr lang="en-US"/>
              <a:t>under conditions of </a:t>
            </a:r>
            <a:r>
              <a:rPr lang="en-US">
                <a:solidFill>
                  <a:srgbClr val="FF0000"/>
                </a:solidFill>
              </a:rPr>
              <a:t>light load</a:t>
            </a:r>
            <a:endParaRPr/>
          </a:p>
          <a:p>
            <a:pPr indent="-228600" lvl="1" marL="685800" rtl="0" algn="just">
              <a:lnSpc>
                <a:spcPct val="90000"/>
              </a:lnSpc>
              <a:spcBef>
                <a:spcPts val="500"/>
              </a:spcBef>
              <a:spcAft>
                <a:spcPts val="0"/>
              </a:spcAft>
              <a:buClr>
                <a:schemeClr val="dk1"/>
              </a:buClr>
              <a:buSzPts val="2400"/>
              <a:buFont typeface="Arial"/>
              <a:buChar char="•"/>
            </a:pPr>
            <a:r>
              <a:rPr lang="en-US"/>
              <a:t>but as the load increased they would be discarded, thus encouraging the users to stop sending them</a:t>
            </a:r>
            <a:endParaRPr/>
          </a:p>
          <a:p>
            <a:pPr indent="-228600" lvl="0" marL="228600" rtl="0" algn="just">
              <a:lnSpc>
                <a:spcPct val="90000"/>
              </a:lnSpc>
              <a:spcBef>
                <a:spcPts val="1000"/>
              </a:spcBef>
              <a:spcAft>
                <a:spcPts val="0"/>
              </a:spcAft>
              <a:buClr>
                <a:schemeClr val="dk1"/>
              </a:buClr>
              <a:buSzPts val="2800"/>
              <a:buFont typeface="Arial"/>
              <a:buChar char="•"/>
            </a:pPr>
            <a:r>
              <a:rPr lang="en-US"/>
              <a:t>Another option is to allow hosts to </a:t>
            </a:r>
            <a:r>
              <a:rPr lang="en-US">
                <a:solidFill>
                  <a:srgbClr val="FF0000"/>
                </a:solidFill>
              </a:rPr>
              <a:t>exceed the limits </a:t>
            </a:r>
            <a:r>
              <a:rPr lang="en-US"/>
              <a:t>specified in the </a:t>
            </a:r>
            <a:r>
              <a:rPr lang="en-US">
                <a:solidFill>
                  <a:srgbClr val="FF0000"/>
                </a:solidFill>
              </a:rPr>
              <a:t>agreement negotiated </a:t>
            </a:r>
            <a:r>
              <a:rPr lang="en-US"/>
              <a:t>when the virtual circuit was set up (e.g., use a higher bandwidth than allowed)</a:t>
            </a:r>
            <a:endParaRPr/>
          </a:p>
          <a:p>
            <a:pPr indent="-228600" lvl="1" marL="685800" rtl="0" algn="just">
              <a:lnSpc>
                <a:spcPct val="90000"/>
              </a:lnSpc>
              <a:spcBef>
                <a:spcPts val="500"/>
              </a:spcBef>
              <a:spcAft>
                <a:spcPts val="0"/>
              </a:spcAft>
              <a:buClr>
                <a:schemeClr val="dk1"/>
              </a:buClr>
              <a:buSzPts val="2400"/>
              <a:buFont typeface="Arial"/>
              <a:buChar char="•"/>
            </a:pPr>
            <a:r>
              <a:rPr lang="en-US"/>
              <a:t>but subject to the condition that all excess traffic be marked as low priority.</a:t>
            </a:r>
            <a:endParaRPr sz="2000"/>
          </a:p>
        </p:txBody>
      </p:sp>
      <p:sp>
        <p:nvSpPr>
          <p:cNvPr id="312" name="Google Shape;31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ph type="title"/>
          </p:nvPr>
        </p:nvSpPr>
        <p:spPr>
          <a:xfrm>
            <a:off x="2209800" y="38100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Random Early Discard (RED)</a:t>
            </a:r>
            <a:endParaRPr/>
          </a:p>
        </p:txBody>
      </p:sp>
      <p:sp>
        <p:nvSpPr>
          <p:cNvPr id="318" name="Google Shape;318;p33"/>
          <p:cNvSpPr txBox="1"/>
          <p:nvPr>
            <p:ph idx="1" type="body"/>
          </p:nvPr>
        </p:nvSpPr>
        <p:spPr>
          <a:xfrm>
            <a:off x="1021976" y="1524000"/>
            <a:ext cx="8960224" cy="4572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is a proactive approach in which the router discards one or more packets </a:t>
            </a:r>
            <a:r>
              <a:rPr i="1" lang="en-US"/>
              <a:t>before</a:t>
            </a:r>
            <a:r>
              <a:rPr lang="en-US"/>
              <a:t> the buffer becomes completely full.</a:t>
            </a:r>
            <a:endParaRPr/>
          </a:p>
          <a:p>
            <a:pPr indent="-228600" lvl="0" marL="228600" rtl="0" algn="l">
              <a:lnSpc>
                <a:spcPct val="90000"/>
              </a:lnSpc>
              <a:spcBef>
                <a:spcPts val="1000"/>
              </a:spcBef>
              <a:spcAft>
                <a:spcPts val="0"/>
              </a:spcAft>
              <a:buClr>
                <a:schemeClr val="dk1"/>
              </a:buClr>
              <a:buSzPts val="2800"/>
              <a:buChar char="•"/>
            </a:pPr>
            <a:r>
              <a:rPr lang="en-US"/>
              <a:t>To determine when to start discarding, routers maintain a running average of their queue lengths</a:t>
            </a:r>
            <a:endParaRPr/>
          </a:p>
          <a:p>
            <a:pPr indent="-228600" lvl="0" marL="228600" rtl="0" algn="l">
              <a:lnSpc>
                <a:spcPct val="90000"/>
              </a:lnSpc>
              <a:spcBef>
                <a:spcPts val="1000"/>
              </a:spcBef>
              <a:spcAft>
                <a:spcPts val="0"/>
              </a:spcAft>
              <a:buClr>
                <a:schemeClr val="dk1"/>
              </a:buClr>
              <a:buSzPts val="2800"/>
              <a:buChar char="•"/>
            </a:pPr>
            <a:r>
              <a:rPr lang="en-US"/>
              <a:t>Each time  a packet arrives, the RED </a:t>
            </a:r>
            <a:r>
              <a:rPr lang="en-US">
                <a:solidFill>
                  <a:srgbClr val="FF0000"/>
                </a:solidFill>
              </a:rPr>
              <a:t>algorithm computes the average queue length, </a:t>
            </a:r>
            <a:r>
              <a:rPr b="1" i="1" lang="en-US">
                <a:solidFill>
                  <a:srgbClr val="1E4E79"/>
                </a:solidFill>
              </a:rPr>
              <a:t>avg</a:t>
            </a:r>
            <a:r>
              <a:rPr lang="en-US">
                <a:solidFill>
                  <a:srgbClr val="1E4E79"/>
                </a:solidFill>
              </a:rPr>
              <a:t>.</a:t>
            </a:r>
            <a:endParaRPr/>
          </a:p>
          <a:p>
            <a:pPr indent="-228600" lvl="0" marL="228600" rtl="0" algn="l">
              <a:lnSpc>
                <a:spcPct val="90000"/>
              </a:lnSpc>
              <a:spcBef>
                <a:spcPts val="1000"/>
              </a:spcBef>
              <a:spcAft>
                <a:spcPts val="0"/>
              </a:spcAft>
              <a:buClr>
                <a:schemeClr val="dk1"/>
              </a:buClr>
              <a:buSzPts val="2800"/>
              <a:buChar char="•"/>
            </a:pPr>
            <a:r>
              <a:rPr lang="en-US"/>
              <a:t>If </a:t>
            </a:r>
            <a:r>
              <a:rPr i="1" lang="en-US">
                <a:solidFill>
                  <a:schemeClr val="dk2"/>
                </a:solidFill>
              </a:rPr>
              <a:t>avg</a:t>
            </a:r>
            <a:r>
              <a:rPr lang="en-US"/>
              <a:t> is lower than some lower threshold, congestion is assumed to be minimal or non-existent and the packet is queued.</a:t>
            </a:r>
            <a:endParaRPr/>
          </a:p>
        </p:txBody>
      </p:sp>
      <p:sp>
        <p:nvSpPr>
          <p:cNvPr id="319" name="Google Shape;31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animEffect filter="fade" transition="in">
                                      <p:cBhvr>
                                        <p:cTn dur="500"/>
                                        <p:tgtEl>
                                          <p:spTgt spid="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animEffect filter="fade" transition="in">
                                      <p:cBhvr>
                                        <p:cTn dur="500"/>
                                        <p:tgtEl>
                                          <p:spTgt spid="3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animEffect filter="fade" transition="in">
                                      <p:cBhvr>
                                        <p:cTn dur="500"/>
                                        <p:tgtEl>
                                          <p:spTgt spid="3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animEffect filter="fade" transition="in">
                                      <p:cBhvr>
                                        <p:cTn dur="500"/>
                                        <p:tgtEl>
                                          <p:spTgt spid="31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txBox="1"/>
          <p:nvPr>
            <p:ph type="title"/>
          </p:nvPr>
        </p:nvSpPr>
        <p:spPr>
          <a:xfrm>
            <a:off x="2209800" y="609600"/>
            <a:ext cx="7772400" cy="609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RED, cont.</a:t>
            </a:r>
            <a:endParaRPr/>
          </a:p>
        </p:txBody>
      </p:sp>
      <p:sp>
        <p:nvSpPr>
          <p:cNvPr id="325" name="Google Shape;325;p34"/>
          <p:cNvSpPr txBox="1"/>
          <p:nvPr>
            <p:ph idx="1" type="body"/>
          </p:nvPr>
        </p:nvSpPr>
        <p:spPr>
          <a:xfrm>
            <a:off x="1173707" y="1600200"/>
            <a:ext cx="8808493" cy="4495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a:t>
            </a:r>
            <a:r>
              <a:rPr i="1" lang="en-US">
                <a:solidFill>
                  <a:schemeClr val="dk2"/>
                </a:solidFill>
              </a:rPr>
              <a:t>avg</a:t>
            </a:r>
            <a:r>
              <a:rPr lang="en-US"/>
              <a:t> is greater than some upper threshold, congestion is assumed to be serious and the packet is discarded.</a:t>
            </a:r>
            <a:endParaRPr/>
          </a:p>
          <a:p>
            <a:pPr indent="-228600" lvl="0" marL="228600" rtl="0" algn="l">
              <a:lnSpc>
                <a:spcPct val="90000"/>
              </a:lnSpc>
              <a:spcBef>
                <a:spcPts val="1000"/>
              </a:spcBef>
              <a:spcAft>
                <a:spcPts val="0"/>
              </a:spcAft>
              <a:buClr>
                <a:schemeClr val="dk1"/>
              </a:buClr>
              <a:buSzPts val="2800"/>
              <a:buChar char="•"/>
            </a:pPr>
            <a:r>
              <a:rPr lang="en-US"/>
              <a:t>If </a:t>
            </a:r>
            <a:r>
              <a:rPr i="1" lang="en-US">
                <a:solidFill>
                  <a:schemeClr val="dk2"/>
                </a:solidFill>
              </a:rPr>
              <a:t>avg</a:t>
            </a:r>
            <a:r>
              <a:rPr lang="en-US"/>
              <a:t> is between the two thresholds, this might indicate the onset of congestion. </a:t>
            </a:r>
            <a:endParaRPr/>
          </a:p>
          <a:p>
            <a:pPr indent="-228600" lvl="0" marL="228600" rtl="0" algn="l">
              <a:lnSpc>
                <a:spcPct val="90000"/>
              </a:lnSpc>
              <a:spcBef>
                <a:spcPts val="1000"/>
              </a:spcBef>
              <a:spcAft>
                <a:spcPts val="0"/>
              </a:spcAft>
              <a:buClr>
                <a:schemeClr val="dk1"/>
              </a:buClr>
              <a:buSzPts val="2800"/>
              <a:buChar char="•"/>
            </a:pPr>
            <a:r>
              <a:rPr lang="en-US"/>
              <a:t>The probability of congestion is then calculated.</a:t>
            </a:r>
            <a:endParaRPr/>
          </a:p>
        </p:txBody>
      </p:sp>
      <p:sp>
        <p:nvSpPr>
          <p:cNvPr id="326" name="Google Shape;32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Quality of Service</a:t>
            </a:r>
            <a:endParaRPr/>
          </a:p>
        </p:txBody>
      </p:sp>
      <p:sp>
        <p:nvSpPr>
          <p:cNvPr id="332" name="Google Shape;332;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QoS is an overall performance measure of the computer network.</a:t>
            </a:r>
            <a:endParaRPr/>
          </a:p>
          <a:p>
            <a:pPr indent="-228600" lvl="0" marL="228600" rtl="0" algn="l">
              <a:lnSpc>
                <a:spcPct val="90000"/>
              </a:lnSpc>
              <a:spcBef>
                <a:spcPts val="1000"/>
              </a:spcBef>
              <a:spcAft>
                <a:spcPts val="0"/>
              </a:spcAft>
              <a:buClr>
                <a:schemeClr val="dk1"/>
              </a:buClr>
              <a:buSzPct val="100000"/>
              <a:buChar char="•"/>
            </a:pPr>
            <a:r>
              <a:rPr lang="en-US"/>
              <a:t>Quality of Service (QoS) refers to the capability of a network to provide better service to selected network traffic .</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 stream of packets from a source to destination is called a flow. Quality of Service is defined as something a flow seeks to attain.</a:t>
            </a:r>
            <a:endParaRPr/>
          </a:p>
          <a:p>
            <a:pPr indent="-228600" lvl="0" marL="228600" rtl="0" algn="l">
              <a:lnSpc>
                <a:spcPct val="90000"/>
              </a:lnSpc>
              <a:spcBef>
                <a:spcPts val="1000"/>
              </a:spcBef>
              <a:spcAft>
                <a:spcPts val="0"/>
              </a:spcAft>
              <a:buClr>
                <a:schemeClr val="dk1"/>
              </a:buClr>
              <a:buSzPct val="100000"/>
              <a:buChar char="•"/>
            </a:pPr>
            <a:r>
              <a:rPr b="1" lang="en-US"/>
              <a:t>The needs of each flow can be characterized by four primary parameters :</a:t>
            </a:r>
            <a:r>
              <a:rPr lang="en-US"/>
              <a:t> </a:t>
            </a:r>
            <a:endParaRPr/>
          </a:p>
          <a:p>
            <a:pPr indent="-514350" lvl="0" marL="514350" rtl="0" algn="l">
              <a:lnSpc>
                <a:spcPct val="90000"/>
              </a:lnSpc>
              <a:spcBef>
                <a:spcPts val="1000"/>
              </a:spcBef>
              <a:spcAft>
                <a:spcPts val="0"/>
              </a:spcAft>
              <a:buClr>
                <a:schemeClr val="dk1"/>
              </a:buClr>
              <a:buSzPct val="100000"/>
              <a:buFont typeface="Times New Roman"/>
              <a:buAutoNum type="arabicPeriod"/>
            </a:pPr>
            <a:r>
              <a:rPr lang="en-US"/>
              <a:t>Bandwidth</a:t>
            </a:r>
            <a:endParaRPr/>
          </a:p>
          <a:p>
            <a:pPr indent="-514350" lvl="0" marL="514350" rtl="0" algn="l">
              <a:lnSpc>
                <a:spcPct val="90000"/>
              </a:lnSpc>
              <a:spcBef>
                <a:spcPts val="1000"/>
              </a:spcBef>
              <a:spcAft>
                <a:spcPts val="0"/>
              </a:spcAft>
              <a:buClr>
                <a:schemeClr val="dk1"/>
              </a:buClr>
              <a:buSzPct val="100000"/>
              <a:buFont typeface="Times New Roman"/>
              <a:buAutoNum type="arabicPeriod"/>
            </a:pPr>
            <a:r>
              <a:rPr lang="en-US"/>
              <a:t>Delay</a:t>
            </a:r>
            <a:endParaRPr/>
          </a:p>
          <a:p>
            <a:pPr indent="-514350" lvl="0" marL="514350" rtl="0" algn="l">
              <a:lnSpc>
                <a:spcPct val="90000"/>
              </a:lnSpc>
              <a:spcBef>
                <a:spcPts val="1000"/>
              </a:spcBef>
              <a:spcAft>
                <a:spcPts val="0"/>
              </a:spcAft>
              <a:buClr>
                <a:schemeClr val="dk1"/>
              </a:buClr>
              <a:buSzPct val="100000"/>
              <a:buFont typeface="Times New Roman"/>
              <a:buAutoNum type="arabicPeriod"/>
            </a:pPr>
            <a:r>
              <a:rPr lang="en-US"/>
              <a:t>Jitter</a:t>
            </a:r>
            <a:endParaRPr/>
          </a:p>
          <a:p>
            <a:pPr indent="-514350" lvl="0" marL="514350" rtl="0" algn="l">
              <a:lnSpc>
                <a:spcPct val="90000"/>
              </a:lnSpc>
              <a:spcBef>
                <a:spcPts val="1000"/>
              </a:spcBef>
              <a:spcAft>
                <a:spcPts val="0"/>
              </a:spcAft>
              <a:buClr>
                <a:schemeClr val="dk1"/>
              </a:buClr>
              <a:buSzPct val="100000"/>
              <a:buFont typeface="Times New Roman"/>
              <a:buAutoNum type="arabicPeriod"/>
            </a:pPr>
            <a:r>
              <a:rPr lang="en-US"/>
              <a:t> Reliability.</a:t>
            </a:r>
            <a:endParaRPr/>
          </a:p>
          <a:p>
            <a:pPr indent="-77470" lvl="0" marL="228600" rtl="0" algn="l">
              <a:lnSpc>
                <a:spcPct val="90000"/>
              </a:lnSpc>
              <a:spcBef>
                <a:spcPts val="1000"/>
              </a:spcBef>
              <a:spcAft>
                <a:spcPts val="0"/>
              </a:spcAft>
              <a:buClr>
                <a:schemeClr val="dk1"/>
              </a:buClr>
              <a:buSzPct val="100000"/>
              <a:buNone/>
            </a:pPr>
            <a:r>
              <a:t/>
            </a:r>
            <a:endParaRPr/>
          </a:p>
        </p:txBody>
      </p:sp>
      <p:sp>
        <p:nvSpPr>
          <p:cNvPr id="333" name="Google Shape;33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Effect filter="fade" transition="in">
                                      <p:cBhvr>
                                        <p:cTn dur="500"/>
                                        <p:tgtEl>
                                          <p:spTgt spid="3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Effect filter="fade" transition="in">
                                      <p:cBhvr>
                                        <p:cTn dur="500"/>
                                        <p:tgtEl>
                                          <p:spTgt spid="3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Effect filter="fade" transition="in">
                                      <p:cBhvr>
                                        <p:cTn dur="500"/>
                                        <p:tgtEl>
                                          <p:spTgt spid="3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animEffect filter="fade" transition="in">
                                      <p:cBhvr>
                                        <p:cTn dur="500"/>
                                        <p:tgtEl>
                                          <p:spTgt spid="3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animEffect filter="fade" transition="in">
                                      <p:cBhvr>
                                        <p:cTn dur="500"/>
                                        <p:tgtEl>
                                          <p:spTgt spid="3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animEffect filter="fade" transition="in">
                                      <p:cBhvr>
                                        <p:cTn dur="500"/>
                                        <p:tgtEl>
                                          <p:spTgt spid="3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animEffect filter="fade" transition="in">
                                      <p:cBhvr>
                                        <p:cTn dur="500"/>
                                        <p:tgtEl>
                                          <p:spTgt spid="33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animEffect filter="fade" transition="in">
                                      <p:cBhvr>
                                        <p:cTn dur="500"/>
                                        <p:tgtEl>
                                          <p:spTgt spid="33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animEffect filter="fade" transition="in">
                                      <p:cBhvr>
                                        <p:cTn dur="500"/>
                                        <p:tgtEl>
                                          <p:spTgt spid="33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animEffect filter="fade" transition="in">
                                      <p:cBhvr>
                                        <p:cTn dur="500"/>
                                        <p:tgtEl>
                                          <p:spTgt spid="33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Parameters of flow</a:t>
            </a:r>
            <a:endParaRPr/>
          </a:p>
        </p:txBody>
      </p:sp>
      <p:sp>
        <p:nvSpPr>
          <p:cNvPr id="339" name="Google Shape;339;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FF0000"/>
              </a:buClr>
              <a:buSzPct val="100000"/>
              <a:buChar char="•"/>
            </a:pPr>
            <a:r>
              <a:rPr lang="en-US">
                <a:solidFill>
                  <a:srgbClr val="FF0000"/>
                </a:solidFill>
              </a:rPr>
              <a:t>Reliability</a:t>
            </a:r>
            <a:r>
              <a:rPr lang="en-US"/>
              <a:t>, Lack of reliability means losing a packet or acknowledgement which entertains retransmission. </a:t>
            </a:r>
            <a:br>
              <a:rPr lang="en-US"/>
            </a:br>
            <a:r>
              <a:rPr lang="en-US"/>
              <a:t> </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Delay,</a:t>
            </a:r>
            <a:r>
              <a:rPr lang="en-US"/>
              <a:t> Increase in delay means destination will find the packet later than expected.. </a:t>
            </a:r>
            <a:br>
              <a:rPr lang="en-US"/>
            </a:br>
            <a:r>
              <a:rPr lang="en-US"/>
              <a:t> </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Jitter,</a:t>
            </a:r>
            <a:r>
              <a:rPr lang="en-US"/>
              <a:t> Variation of the delay is jitter, If the delay is not at a constant rate, it may result in poor quality. </a:t>
            </a:r>
            <a:br>
              <a:rPr lang="en-US"/>
            </a:br>
            <a:r>
              <a:rPr lang="en-US"/>
              <a:t> </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Bandwidth</a:t>
            </a:r>
            <a:r>
              <a:rPr lang="en-US"/>
              <a:t>, Increase in bandwidth means increase in the amount of data which can be transferred in given amount of time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7"/>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Jitter Control</a:t>
            </a:r>
            <a:endParaRPr/>
          </a:p>
        </p:txBody>
      </p:sp>
      <p:sp>
        <p:nvSpPr>
          <p:cNvPr id="345" name="Google Shape;345;p37"/>
          <p:cNvSpPr txBox="1"/>
          <p:nvPr>
            <p:ph idx="1" type="body"/>
          </p:nvPr>
        </p:nvSpPr>
        <p:spPr>
          <a:xfrm>
            <a:off x="1659468" y="647539"/>
            <a:ext cx="8873065" cy="594517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228600" lvl="0" marL="228600" rtl="0" algn="just">
              <a:lnSpc>
                <a:spcPct val="90000"/>
              </a:lnSpc>
              <a:spcBef>
                <a:spcPts val="1000"/>
              </a:spcBef>
              <a:spcAft>
                <a:spcPts val="0"/>
              </a:spcAft>
              <a:buClr>
                <a:schemeClr val="dk1"/>
              </a:buClr>
              <a:buSzPts val="2800"/>
              <a:buFont typeface="Arial"/>
              <a:buChar char="•"/>
            </a:pPr>
            <a:r>
              <a:rPr lang="en-US"/>
              <a:t>The variation (i.e., standard deviation) in the packet arrival times is called </a:t>
            </a:r>
            <a:r>
              <a:rPr b="1" lang="en-US">
                <a:solidFill>
                  <a:srgbClr val="FF0000"/>
                </a:solidFill>
              </a:rPr>
              <a:t>jitter</a:t>
            </a:r>
            <a:r>
              <a:rPr b="1" lang="en-US"/>
              <a:t>. </a:t>
            </a:r>
            <a:endParaRPr/>
          </a:p>
          <a:p>
            <a:pPr indent="-50800" lvl="0" marL="228600" rtl="0" algn="just">
              <a:lnSpc>
                <a:spcPct val="90000"/>
              </a:lnSpc>
              <a:spcBef>
                <a:spcPts val="1000"/>
              </a:spcBef>
              <a:spcAft>
                <a:spcPts val="0"/>
              </a:spcAft>
              <a:buClr>
                <a:schemeClr val="dk1"/>
              </a:buClr>
              <a:buSzPts val="2800"/>
              <a:buFont typeface="Arial"/>
              <a:buNone/>
            </a:pPr>
            <a:r>
              <a:t/>
            </a:r>
            <a:endParaRPr b="1"/>
          </a:p>
          <a:p>
            <a:pPr indent="-228600" lvl="0" marL="228600" rtl="0" algn="just">
              <a:lnSpc>
                <a:spcPct val="90000"/>
              </a:lnSpc>
              <a:spcBef>
                <a:spcPts val="1000"/>
              </a:spcBef>
              <a:spcAft>
                <a:spcPts val="0"/>
              </a:spcAft>
              <a:buClr>
                <a:schemeClr val="dk1"/>
              </a:buClr>
              <a:buSzPts val="2800"/>
              <a:buFont typeface="Arial"/>
              <a:buChar char="•"/>
            </a:pPr>
            <a:r>
              <a:rPr lang="en-US"/>
              <a:t>High jitter, for example, having some packets taking 20 msec and others taking 30 msec to arrive will give an uneven quality to the sound or movie. </a:t>
            </a:r>
            <a:endParaRPr/>
          </a:p>
        </p:txBody>
      </p:sp>
      <p:sp>
        <p:nvSpPr>
          <p:cNvPr id="346" name="Google Shape;34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Jitter Control</a:t>
            </a:r>
            <a:endParaRPr/>
          </a:p>
        </p:txBody>
      </p:sp>
      <p:sp>
        <p:nvSpPr>
          <p:cNvPr id="352" name="Google Shape;352;p38"/>
          <p:cNvSpPr txBox="1"/>
          <p:nvPr>
            <p:ph idx="1" type="body"/>
          </p:nvPr>
        </p:nvSpPr>
        <p:spPr>
          <a:xfrm>
            <a:off x="3514726" y="6019800"/>
            <a:ext cx="5737225" cy="838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2"/>
              </a:buClr>
              <a:buSzPts val="2800"/>
              <a:buFont typeface="Calibri"/>
              <a:buNone/>
            </a:pPr>
            <a:r>
              <a:rPr lang="en-US">
                <a:solidFill>
                  <a:schemeClr val="accent2"/>
                </a:solidFill>
              </a:rPr>
              <a:t>(a)</a:t>
            </a:r>
            <a:r>
              <a:rPr lang="en-US"/>
              <a:t> High jitter.         </a:t>
            </a:r>
            <a:r>
              <a:rPr lang="en-US">
                <a:solidFill>
                  <a:schemeClr val="accent2"/>
                </a:solidFill>
              </a:rPr>
              <a:t>(b)</a:t>
            </a:r>
            <a:r>
              <a:rPr lang="en-US"/>
              <a:t> Low jitter.</a:t>
            </a:r>
            <a:endParaRPr/>
          </a:p>
        </p:txBody>
      </p:sp>
      <p:pic>
        <p:nvPicPr>
          <p:cNvPr descr="5-29" id="353" name="Google Shape;353;p38"/>
          <p:cNvPicPr preferRelativeResize="0"/>
          <p:nvPr/>
        </p:nvPicPr>
        <p:blipFill rotWithShape="1">
          <a:blip r:embed="rId3">
            <a:alphaModFix/>
          </a:blip>
          <a:srcRect b="0" l="0" r="0" t="0"/>
          <a:stretch/>
        </p:blipFill>
        <p:spPr>
          <a:xfrm>
            <a:off x="1637547" y="1460309"/>
            <a:ext cx="8831214" cy="4475795"/>
          </a:xfrm>
          <a:prstGeom prst="rect">
            <a:avLst/>
          </a:prstGeom>
          <a:noFill/>
          <a:ln>
            <a:noFill/>
          </a:ln>
        </p:spPr>
      </p:pic>
      <p:sp>
        <p:nvSpPr>
          <p:cNvPr id="354" name="Google Shape;35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1524000" y="1"/>
            <a:ext cx="9144000" cy="6999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Jitter Control</a:t>
            </a:r>
            <a:endParaRPr/>
          </a:p>
        </p:txBody>
      </p:sp>
      <p:sp>
        <p:nvSpPr>
          <p:cNvPr id="360" name="Google Shape;360;p39"/>
          <p:cNvSpPr txBox="1"/>
          <p:nvPr>
            <p:ph idx="1" type="body"/>
          </p:nvPr>
        </p:nvSpPr>
        <p:spPr>
          <a:xfrm>
            <a:off x="1659468" y="647538"/>
            <a:ext cx="8873065" cy="6210462"/>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Font typeface="Arial"/>
              <a:buChar char="•"/>
            </a:pPr>
            <a:r>
              <a:rPr lang="en-US"/>
              <a:t>The jitter can be controlled by computing the expected transit time for each hop along the path. </a:t>
            </a:r>
            <a:endParaRPr/>
          </a:p>
          <a:p>
            <a:pPr indent="-228600" lvl="0" marL="228600" rtl="0" algn="just">
              <a:lnSpc>
                <a:spcPct val="90000"/>
              </a:lnSpc>
              <a:spcBef>
                <a:spcPts val="1000"/>
              </a:spcBef>
              <a:spcAft>
                <a:spcPts val="0"/>
              </a:spcAft>
              <a:buClr>
                <a:schemeClr val="dk1"/>
              </a:buClr>
              <a:buSzPct val="100000"/>
              <a:buFont typeface="Arial"/>
              <a:buChar char="•"/>
            </a:pPr>
            <a:r>
              <a:rPr lang="en-US"/>
              <a:t>When a packet arrives at a router, the </a:t>
            </a:r>
            <a:r>
              <a:rPr lang="en-US">
                <a:solidFill>
                  <a:srgbClr val="FF0000"/>
                </a:solidFill>
              </a:rPr>
              <a:t>router checks to see how much the packet is behind or ahead of its schedule</a:t>
            </a:r>
            <a:r>
              <a:rPr lang="en-US"/>
              <a:t>. </a:t>
            </a:r>
            <a:endParaRPr/>
          </a:p>
          <a:p>
            <a:pPr indent="-228600" lvl="0" marL="228600" rtl="0" algn="just">
              <a:lnSpc>
                <a:spcPct val="90000"/>
              </a:lnSpc>
              <a:spcBef>
                <a:spcPts val="1000"/>
              </a:spcBef>
              <a:spcAft>
                <a:spcPts val="0"/>
              </a:spcAft>
              <a:buClr>
                <a:schemeClr val="dk1"/>
              </a:buClr>
              <a:buSzPct val="100000"/>
              <a:buFont typeface="Arial"/>
              <a:buChar char="•"/>
            </a:pPr>
            <a:r>
              <a:rPr lang="en-US"/>
              <a:t>This information is </a:t>
            </a:r>
            <a:r>
              <a:rPr lang="en-US">
                <a:solidFill>
                  <a:srgbClr val="FF0000"/>
                </a:solidFill>
              </a:rPr>
              <a:t>stored</a:t>
            </a:r>
            <a:r>
              <a:rPr lang="en-US"/>
              <a:t> in the packet and </a:t>
            </a:r>
            <a:r>
              <a:rPr lang="en-US">
                <a:solidFill>
                  <a:srgbClr val="FF0000"/>
                </a:solidFill>
              </a:rPr>
              <a:t>updated</a:t>
            </a:r>
            <a:r>
              <a:rPr lang="en-US"/>
              <a:t> at each hop. </a:t>
            </a:r>
            <a:endParaRPr/>
          </a:p>
          <a:p>
            <a:pPr indent="-228600" lvl="0" marL="228600" rtl="0" algn="just">
              <a:lnSpc>
                <a:spcPct val="90000"/>
              </a:lnSpc>
              <a:spcBef>
                <a:spcPts val="1000"/>
              </a:spcBef>
              <a:spcAft>
                <a:spcPts val="0"/>
              </a:spcAft>
              <a:buClr>
                <a:schemeClr val="dk1"/>
              </a:buClr>
              <a:buSzPct val="100000"/>
              <a:buFont typeface="Arial"/>
              <a:buChar char="•"/>
            </a:pPr>
            <a:r>
              <a:rPr lang="en-US"/>
              <a:t>If the packet is ahead of schedule, it is held just long enough to get it back on schedule. </a:t>
            </a:r>
            <a:endParaRPr/>
          </a:p>
          <a:p>
            <a:pPr indent="-228600" lvl="0" marL="228600" rtl="0" algn="just">
              <a:lnSpc>
                <a:spcPct val="90000"/>
              </a:lnSpc>
              <a:spcBef>
                <a:spcPts val="1000"/>
              </a:spcBef>
              <a:spcAft>
                <a:spcPts val="0"/>
              </a:spcAft>
              <a:buClr>
                <a:schemeClr val="dk1"/>
              </a:buClr>
              <a:buSzPct val="100000"/>
              <a:buFont typeface="Arial"/>
              <a:buChar char="•"/>
            </a:pPr>
            <a:r>
              <a:rPr lang="en-US"/>
              <a:t>If it is behind schedule, the router tries to send it out quickly.</a:t>
            </a:r>
            <a:endParaRPr/>
          </a:p>
          <a:p>
            <a:pPr indent="-228600" lvl="1" marL="685800" rtl="0" algn="just">
              <a:lnSpc>
                <a:spcPct val="90000"/>
              </a:lnSpc>
              <a:spcBef>
                <a:spcPts val="500"/>
              </a:spcBef>
              <a:spcAft>
                <a:spcPts val="0"/>
              </a:spcAft>
              <a:buClr>
                <a:schemeClr val="dk1"/>
              </a:buClr>
              <a:buSzPct val="100000"/>
              <a:buFont typeface="Arial"/>
              <a:buChar char="•"/>
            </a:pPr>
            <a:r>
              <a:rPr lang="en-US"/>
              <a:t>both cases reducing the amount of jitter</a:t>
            </a:r>
            <a:endParaRPr/>
          </a:p>
          <a:p>
            <a:pPr indent="-228600" lvl="0" marL="228600" rtl="0" algn="just">
              <a:lnSpc>
                <a:spcPct val="90000"/>
              </a:lnSpc>
              <a:spcBef>
                <a:spcPts val="1000"/>
              </a:spcBef>
              <a:spcAft>
                <a:spcPts val="0"/>
              </a:spcAft>
              <a:buClr>
                <a:schemeClr val="dk1"/>
              </a:buClr>
              <a:buSzPct val="100000"/>
              <a:buFont typeface="Arial"/>
              <a:buChar char="•"/>
            </a:pPr>
            <a:r>
              <a:rPr lang="en-US"/>
              <a:t>In applications such as </a:t>
            </a:r>
            <a:r>
              <a:rPr lang="en-US">
                <a:solidFill>
                  <a:srgbClr val="FF0000"/>
                </a:solidFill>
              </a:rPr>
              <a:t>video on demand</a:t>
            </a:r>
            <a:r>
              <a:rPr lang="en-US"/>
              <a:t>, jitter can be eliminated by buffering at the receiver and then fetching data for display from the buffer instead of from the network in real time. </a:t>
            </a:r>
            <a:endParaRPr/>
          </a:p>
          <a:p>
            <a:pPr indent="-228600" lvl="0" marL="228600" rtl="0" algn="just">
              <a:lnSpc>
                <a:spcPct val="90000"/>
              </a:lnSpc>
              <a:spcBef>
                <a:spcPts val="1000"/>
              </a:spcBef>
              <a:spcAft>
                <a:spcPts val="0"/>
              </a:spcAft>
              <a:buClr>
                <a:schemeClr val="dk1"/>
              </a:buClr>
              <a:buSzPct val="100000"/>
              <a:buFont typeface="Arial"/>
              <a:buChar char="•"/>
            </a:pPr>
            <a:r>
              <a:rPr lang="en-US"/>
              <a:t>In real time applications like </a:t>
            </a:r>
            <a:r>
              <a:rPr lang="en-US">
                <a:solidFill>
                  <a:srgbClr val="FF0000"/>
                </a:solidFill>
              </a:rPr>
              <a:t>Internet telephony &amp; videoconferencing</a:t>
            </a:r>
            <a:r>
              <a:rPr lang="en-US"/>
              <a:t>, the delay inherent in buffering is not acceptable.</a:t>
            </a:r>
            <a:endParaRPr/>
          </a:p>
        </p:txBody>
      </p:sp>
      <p:sp>
        <p:nvSpPr>
          <p:cNvPr id="361" name="Google Shape;36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animEffect filter="fade" transition="in">
                                      <p:cBhvr>
                                        <p:cTn dur="500"/>
                                        <p:tgtEl>
                                          <p:spTgt spid="3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animEffect filter="fade" transition="in">
                                      <p:cBhvr>
                                        <p:cTn dur="500"/>
                                        <p:tgtEl>
                                          <p:spTgt spid="3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animEffect filter="fade" transition="in">
                                      <p:cBhvr>
                                        <p:cTn dur="500"/>
                                        <p:tgtEl>
                                          <p:spTgt spid="3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3" st="3"/>
                                            </p:txEl>
                                          </p:spTgt>
                                        </p:tgtEl>
                                        <p:attrNameLst>
                                          <p:attrName>style.visibility</p:attrName>
                                        </p:attrNameLst>
                                      </p:cBhvr>
                                      <p:to>
                                        <p:strVal val="visible"/>
                                      </p:to>
                                    </p:set>
                                    <p:animEffect filter="fade" transition="in">
                                      <p:cBhvr>
                                        <p:cTn dur="500"/>
                                        <p:tgtEl>
                                          <p:spTgt spid="3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4" st="4"/>
                                            </p:txEl>
                                          </p:spTgt>
                                        </p:tgtEl>
                                        <p:attrNameLst>
                                          <p:attrName>style.visibility</p:attrName>
                                        </p:attrNameLst>
                                      </p:cBhvr>
                                      <p:to>
                                        <p:strVal val="visible"/>
                                      </p:to>
                                    </p:set>
                                    <p:animEffect filter="fade" transition="in">
                                      <p:cBhvr>
                                        <p:cTn dur="500"/>
                                        <p:tgtEl>
                                          <p:spTgt spid="3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5" st="5"/>
                                            </p:txEl>
                                          </p:spTgt>
                                        </p:tgtEl>
                                        <p:attrNameLst>
                                          <p:attrName>style.visibility</p:attrName>
                                        </p:attrNameLst>
                                      </p:cBhvr>
                                      <p:to>
                                        <p:strVal val="visible"/>
                                      </p:to>
                                    </p:set>
                                    <p:animEffect filter="fade" transition="in">
                                      <p:cBhvr>
                                        <p:cTn dur="500"/>
                                        <p:tgtEl>
                                          <p:spTgt spid="3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6" st="6"/>
                                            </p:txEl>
                                          </p:spTgt>
                                        </p:tgtEl>
                                        <p:attrNameLst>
                                          <p:attrName>style.visibility</p:attrName>
                                        </p:attrNameLst>
                                      </p:cBhvr>
                                      <p:to>
                                        <p:strVal val="visible"/>
                                      </p:to>
                                    </p:set>
                                    <p:animEffect filter="fade" transition="in">
                                      <p:cBhvr>
                                        <p:cTn dur="500"/>
                                        <p:tgtEl>
                                          <p:spTgt spid="36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7" st="7"/>
                                            </p:txEl>
                                          </p:spTgt>
                                        </p:tgtEl>
                                        <p:attrNameLst>
                                          <p:attrName>style.visibility</p:attrName>
                                        </p:attrNameLst>
                                      </p:cBhvr>
                                      <p:to>
                                        <p:strVal val="visible"/>
                                      </p:to>
                                    </p:set>
                                    <p:animEffect filter="fade" transition="in">
                                      <p:cBhvr>
                                        <p:cTn dur="500"/>
                                        <p:tgtEl>
                                          <p:spTgt spid="36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0"/>
          <p:cNvSpPr txBox="1"/>
          <p:nvPr>
            <p:ph type="title"/>
          </p:nvPr>
        </p:nvSpPr>
        <p:spPr>
          <a:xfrm>
            <a:off x="510654"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Techniques of achieving QoS</a:t>
            </a:r>
            <a:endParaRPr/>
          </a:p>
        </p:txBody>
      </p:sp>
      <p:sp>
        <p:nvSpPr>
          <p:cNvPr id="367" name="Google Shape;367;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Over Provisioning.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Buffering.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Traffic Shaping.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Resource Reservation.</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Admission Control.</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Proportional Routing.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Packet Scheduling .</a:t>
            </a:r>
            <a:endParaRPr/>
          </a:p>
        </p:txBody>
      </p:sp>
      <p:sp>
        <p:nvSpPr>
          <p:cNvPr id="368" name="Google Shape;36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Techniques of achieving QoS</a:t>
            </a:r>
            <a:endParaRPr/>
          </a:p>
        </p:txBody>
      </p:sp>
      <p:sp>
        <p:nvSpPr>
          <p:cNvPr id="374" name="Google Shape;374;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Overprovisioning –</a:t>
            </a:r>
            <a:r>
              <a:rPr lang="en-US"/>
              <a:t> </a:t>
            </a:r>
            <a:br>
              <a:rPr lang="en-US"/>
            </a:br>
            <a:r>
              <a:rPr lang="en-US"/>
              <a:t>The logic of overprovisioning is to </a:t>
            </a:r>
            <a:r>
              <a:rPr lang="en-US">
                <a:solidFill>
                  <a:srgbClr val="FF0000"/>
                </a:solidFill>
              </a:rPr>
              <a:t>provide greater router capacity, buffer space and bandwidth.</a:t>
            </a:r>
            <a:endParaRPr/>
          </a:p>
          <a:p>
            <a:pPr indent="-228600" lvl="0" marL="228600" rtl="0" algn="l">
              <a:lnSpc>
                <a:spcPct val="90000"/>
              </a:lnSpc>
              <a:spcBef>
                <a:spcPts val="1000"/>
              </a:spcBef>
              <a:spcAft>
                <a:spcPts val="0"/>
              </a:spcAft>
              <a:buClr>
                <a:schemeClr val="dk1"/>
              </a:buClr>
              <a:buSzPct val="100000"/>
              <a:buChar char="•"/>
            </a:pPr>
            <a:r>
              <a:rPr lang="en-US"/>
              <a:t> It is an expensive technique as the resources are costly. Eg: Telephone System. </a:t>
            </a:r>
            <a:br>
              <a:rPr lang="en-US"/>
            </a:br>
            <a:r>
              <a:rPr lang="en-US"/>
              <a:t> </a:t>
            </a:r>
            <a:endParaRPr/>
          </a:p>
          <a:p>
            <a:pPr indent="-228600" lvl="0" marL="228600" rtl="0" algn="l">
              <a:lnSpc>
                <a:spcPct val="90000"/>
              </a:lnSpc>
              <a:spcBef>
                <a:spcPts val="1000"/>
              </a:spcBef>
              <a:spcAft>
                <a:spcPts val="0"/>
              </a:spcAft>
              <a:buClr>
                <a:schemeClr val="dk1"/>
              </a:buClr>
              <a:buSzPct val="100000"/>
              <a:buChar char="•"/>
            </a:pPr>
            <a:r>
              <a:rPr b="1" lang="en-US"/>
              <a:t>Buffering –</a:t>
            </a:r>
            <a:r>
              <a:rPr lang="en-US"/>
              <a:t> </a:t>
            </a:r>
            <a:br>
              <a:rPr lang="en-US"/>
            </a:br>
            <a:r>
              <a:rPr lang="en-US">
                <a:solidFill>
                  <a:srgbClr val="FF0000"/>
                </a:solidFill>
              </a:rPr>
              <a:t>Flows can be buffered on the receiving side before being delivered. </a:t>
            </a:r>
            <a:endParaRPr>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It will not affect reliability or bandwidth, but helps to smooth out jitter. </a:t>
            </a:r>
            <a:endParaRPr/>
          </a:p>
          <a:p>
            <a:pPr indent="-228600" lvl="0" marL="228600" rtl="0" algn="l">
              <a:lnSpc>
                <a:spcPct val="90000"/>
              </a:lnSpc>
              <a:spcBef>
                <a:spcPts val="1000"/>
              </a:spcBef>
              <a:spcAft>
                <a:spcPts val="0"/>
              </a:spcAft>
              <a:buClr>
                <a:schemeClr val="dk1"/>
              </a:buClr>
              <a:buSzPct val="100000"/>
              <a:buChar char="•"/>
            </a:pPr>
            <a:r>
              <a:rPr lang="en-US"/>
              <a:t>This technique can be used at uniform intervals. </a:t>
            </a:r>
            <a:br>
              <a:rPr lang="en-US"/>
            </a:br>
            <a:r>
              <a:rPr lang="en-US"/>
              <a:t>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0" st="0"/>
                                            </p:txEl>
                                          </p:spTgt>
                                        </p:tgtEl>
                                        <p:attrNameLst>
                                          <p:attrName>style.visibility</p:attrName>
                                        </p:attrNameLst>
                                      </p:cBhvr>
                                      <p:to>
                                        <p:strVal val="visible"/>
                                      </p:to>
                                    </p:set>
                                    <p:animEffect filter="fade" transition="in">
                                      <p:cBhvr>
                                        <p:cTn dur="500"/>
                                        <p:tgtEl>
                                          <p:spTgt spid="3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 st="1"/>
                                            </p:txEl>
                                          </p:spTgt>
                                        </p:tgtEl>
                                        <p:attrNameLst>
                                          <p:attrName>style.visibility</p:attrName>
                                        </p:attrNameLst>
                                      </p:cBhvr>
                                      <p:to>
                                        <p:strVal val="visible"/>
                                      </p:to>
                                    </p:set>
                                    <p:animEffect filter="fade" transition="in">
                                      <p:cBhvr>
                                        <p:cTn dur="500"/>
                                        <p:tgtEl>
                                          <p:spTgt spid="3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2" st="2"/>
                                            </p:txEl>
                                          </p:spTgt>
                                        </p:tgtEl>
                                        <p:attrNameLst>
                                          <p:attrName>style.visibility</p:attrName>
                                        </p:attrNameLst>
                                      </p:cBhvr>
                                      <p:to>
                                        <p:strVal val="visible"/>
                                      </p:to>
                                    </p:set>
                                    <p:animEffect filter="fade" transition="in">
                                      <p:cBhvr>
                                        <p:cTn dur="500"/>
                                        <p:tgtEl>
                                          <p:spTgt spid="3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3" st="3"/>
                                            </p:txEl>
                                          </p:spTgt>
                                        </p:tgtEl>
                                        <p:attrNameLst>
                                          <p:attrName>style.visibility</p:attrName>
                                        </p:attrNameLst>
                                      </p:cBhvr>
                                      <p:to>
                                        <p:strVal val="visible"/>
                                      </p:to>
                                    </p:set>
                                    <p:animEffect filter="fade" transition="in">
                                      <p:cBhvr>
                                        <p:cTn dur="500"/>
                                        <p:tgtEl>
                                          <p:spTgt spid="3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4" st="4"/>
                                            </p:txEl>
                                          </p:spTgt>
                                        </p:tgtEl>
                                        <p:attrNameLst>
                                          <p:attrName>style.visibility</p:attrName>
                                        </p:attrNameLst>
                                      </p:cBhvr>
                                      <p:to>
                                        <p:strVal val="visible"/>
                                      </p:to>
                                    </p:set>
                                    <p:animEffect filter="fade" transition="in">
                                      <p:cBhvr>
                                        <p:cTn dur="500"/>
                                        <p:tgtEl>
                                          <p:spTgt spid="3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5" st="5"/>
                                            </p:txEl>
                                          </p:spTgt>
                                        </p:tgtEl>
                                        <p:attrNameLst>
                                          <p:attrName>style.visibility</p:attrName>
                                        </p:attrNameLst>
                                      </p:cBhvr>
                                      <p:to>
                                        <p:strVal val="visible"/>
                                      </p:to>
                                    </p:set>
                                    <p:animEffect filter="fade" transition="in">
                                      <p:cBhvr>
                                        <p:cTn dur="500"/>
                                        <p:tgtEl>
                                          <p:spTgt spid="37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1" lang="en-US">
                <a:solidFill>
                  <a:schemeClr val="accent2"/>
                </a:solidFill>
              </a:rPr>
              <a:t>Traffic Shaping</a:t>
            </a:r>
            <a:br>
              <a:rPr b="1" lang="en-US">
                <a:solidFill>
                  <a:schemeClr val="accent2"/>
                </a:solidFill>
              </a:rPr>
            </a:br>
            <a:endParaRPr/>
          </a:p>
        </p:txBody>
      </p:sp>
      <p:sp>
        <p:nvSpPr>
          <p:cNvPr id="380" name="Google Shape;38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one of the open loop mechanism to manage congestion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This mechanism converts uneven flow of  packets in to even flow </a:t>
            </a:r>
            <a:endParaRPr/>
          </a:p>
          <a:p>
            <a:pPr indent="-228600" lvl="0" marL="228600" rtl="0" algn="l">
              <a:lnSpc>
                <a:spcPct val="90000"/>
              </a:lnSpc>
              <a:spcBef>
                <a:spcPts val="1000"/>
              </a:spcBef>
              <a:spcAft>
                <a:spcPts val="0"/>
              </a:spcAft>
              <a:buClr>
                <a:schemeClr val="dk1"/>
              </a:buClr>
              <a:buSzPts val="2800"/>
              <a:buChar char="•"/>
            </a:pPr>
            <a:r>
              <a:rPr lang="en-US"/>
              <a:t>“shape” the traffic before it enters the network</a:t>
            </a:r>
            <a:endParaRPr/>
          </a:p>
          <a:p>
            <a:pPr indent="-228600" lvl="0" marL="228600" rtl="0" algn="l">
              <a:lnSpc>
                <a:spcPct val="90000"/>
              </a:lnSpc>
              <a:spcBef>
                <a:spcPts val="1000"/>
              </a:spcBef>
              <a:spcAft>
                <a:spcPts val="0"/>
              </a:spcAft>
              <a:buClr>
                <a:schemeClr val="dk1"/>
              </a:buClr>
              <a:buSzPts val="2800"/>
              <a:buChar char="•"/>
            </a:pPr>
            <a:r>
              <a:rPr lang="en-US"/>
              <a:t> Used in ATM and Integrated Services networks. </a:t>
            </a:r>
            <a:endParaRPr/>
          </a:p>
          <a:p>
            <a:pPr indent="-228600" lvl="0" marL="228600" rtl="0" algn="l">
              <a:lnSpc>
                <a:spcPct val="90000"/>
              </a:lnSpc>
              <a:spcBef>
                <a:spcPts val="1000"/>
              </a:spcBef>
              <a:spcAft>
                <a:spcPts val="0"/>
              </a:spcAft>
              <a:buClr>
                <a:schemeClr val="dk1"/>
              </a:buClr>
              <a:buSzPts val="2800"/>
              <a:buChar char="•"/>
            </a:pPr>
            <a:r>
              <a:rPr lang="en-US"/>
              <a:t>Two traffic shaping algorithms are:</a:t>
            </a:r>
            <a:endParaRPr/>
          </a:p>
          <a:p>
            <a:pPr indent="-228600" lvl="1" marL="685800" rtl="0" algn="l">
              <a:lnSpc>
                <a:spcPct val="90000"/>
              </a:lnSpc>
              <a:spcBef>
                <a:spcPts val="500"/>
              </a:spcBef>
              <a:spcAft>
                <a:spcPts val="0"/>
              </a:spcAft>
              <a:buClr>
                <a:srgbClr val="FF0000"/>
              </a:buClr>
              <a:buSzPts val="2400"/>
              <a:buChar char="•"/>
            </a:pPr>
            <a:r>
              <a:rPr lang="en-US">
                <a:solidFill>
                  <a:srgbClr val="FF0000"/>
                </a:solidFill>
              </a:rPr>
              <a:t>Leaky Bucket</a:t>
            </a:r>
            <a:endParaRPr/>
          </a:p>
          <a:p>
            <a:pPr indent="-228600" lvl="1" marL="685800" rtl="0" algn="l">
              <a:lnSpc>
                <a:spcPct val="90000"/>
              </a:lnSpc>
              <a:spcBef>
                <a:spcPts val="500"/>
              </a:spcBef>
              <a:spcAft>
                <a:spcPts val="0"/>
              </a:spcAft>
              <a:buClr>
                <a:srgbClr val="FF0000"/>
              </a:buClr>
              <a:buSzPts val="2400"/>
              <a:buChar char="•"/>
            </a:pPr>
            <a:r>
              <a:rPr lang="en-US">
                <a:solidFill>
                  <a:srgbClr val="FF0000"/>
                </a:solidFill>
              </a:rPr>
              <a:t>Token Bucket</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p:txBody>
      </p:sp>
      <p:sp>
        <p:nvSpPr>
          <p:cNvPr id="381" name="Google Shape;38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Leaky Bucket Algorithm</a:t>
            </a:r>
            <a:endParaRPr/>
          </a:p>
        </p:txBody>
      </p:sp>
      <p:sp>
        <p:nvSpPr>
          <p:cNvPr id="387" name="Google Shape;387;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lang="en-US"/>
              <a:t>The </a:t>
            </a:r>
            <a:r>
              <a:rPr b="1" lang="en-US"/>
              <a:t>Leaky Bucket Algorithm</a:t>
            </a:r>
            <a:r>
              <a:rPr lang="en-US"/>
              <a:t> used to control rate in a network. </a:t>
            </a:r>
            <a:endParaRPr/>
          </a:p>
          <a:p>
            <a:pPr indent="-228600" lvl="0" marL="228600" rtl="0" algn="l">
              <a:lnSpc>
                <a:spcPct val="150000"/>
              </a:lnSpc>
              <a:spcBef>
                <a:spcPts val="1000"/>
              </a:spcBef>
              <a:spcAft>
                <a:spcPts val="0"/>
              </a:spcAft>
              <a:buClr>
                <a:schemeClr val="dk1"/>
              </a:buClr>
              <a:buSzPts val="2800"/>
              <a:buChar char="•"/>
            </a:pPr>
            <a:r>
              <a:rPr lang="en-US"/>
              <a:t>It is implemented as a single-server queue with constant service time.</a:t>
            </a:r>
            <a:endParaRPr/>
          </a:p>
          <a:p>
            <a:pPr indent="-228600" lvl="0" marL="228600" rtl="0" algn="l">
              <a:lnSpc>
                <a:spcPct val="150000"/>
              </a:lnSpc>
              <a:spcBef>
                <a:spcPts val="1000"/>
              </a:spcBef>
              <a:spcAft>
                <a:spcPts val="0"/>
              </a:spcAft>
              <a:buClr>
                <a:schemeClr val="dk1"/>
              </a:buClr>
              <a:buSzPts val="2800"/>
              <a:buChar char="•"/>
            </a:pPr>
            <a:r>
              <a:rPr lang="en-US"/>
              <a:t> If the bucket (buffer) overflows then packets are discarded.</a:t>
            </a:r>
            <a:endParaRPr/>
          </a:p>
        </p:txBody>
      </p:sp>
      <p:sp>
        <p:nvSpPr>
          <p:cNvPr id="388" name="Google Shape;38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4"/>
          <p:cNvSpPr txBox="1"/>
          <p:nvPr>
            <p:ph type="title"/>
          </p:nvPr>
        </p:nvSpPr>
        <p:spPr>
          <a:xfrm>
            <a:off x="2209800" y="381000"/>
            <a:ext cx="7772400" cy="685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The Leaky Bucket Algorithm</a:t>
            </a:r>
            <a:endParaRPr/>
          </a:p>
        </p:txBody>
      </p:sp>
      <p:sp>
        <p:nvSpPr>
          <p:cNvPr id="394" name="Google Shape;394;p44"/>
          <p:cNvSpPr txBox="1"/>
          <p:nvPr>
            <p:ph idx="1" type="body"/>
          </p:nvPr>
        </p:nvSpPr>
        <p:spPr>
          <a:xfrm>
            <a:off x="1811338" y="5486400"/>
            <a:ext cx="8856662" cy="8382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accent2"/>
              </a:buClr>
              <a:buSzPts val="2800"/>
              <a:buNone/>
            </a:pPr>
            <a:r>
              <a:rPr lang="en-US">
                <a:solidFill>
                  <a:schemeClr val="accent2"/>
                </a:solidFill>
              </a:rPr>
              <a:t>(a)</a:t>
            </a:r>
            <a:r>
              <a:rPr lang="en-US"/>
              <a:t> A leaky bucket with water.  </a:t>
            </a:r>
            <a:r>
              <a:rPr lang="en-US">
                <a:solidFill>
                  <a:schemeClr val="accent2"/>
                </a:solidFill>
              </a:rPr>
              <a:t>(b)</a:t>
            </a:r>
            <a:r>
              <a:rPr lang="en-US"/>
              <a:t> a leaky bucket with packets.</a:t>
            </a:r>
            <a:endParaRPr/>
          </a:p>
        </p:txBody>
      </p:sp>
      <p:sp>
        <p:nvSpPr>
          <p:cNvPr id="395" name="Google Shape;39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pic>
        <p:nvPicPr>
          <p:cNvPr descr="5-32" id="396" name="Google Shape;396;p44"/>
          <p:cNvPicPr preferRelativeResize="0"/>
          <p:nvPr/>
        </p:nvPicPr>
        <p:blipFill rotWithShape="1">
          <a:blip r:embed="rId3">
            <a:alphaModFix/>
          </a:blip>
          <a:srcRect b="0" l="0" r="0" t="0"/>
          <a:stretch/>
        </p:blipFill>
        <p:spPr>
          <a:xfrm>
            <a:off x="832513" y="1329686"/>
            <a:ext cx="9835487" cy="38671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Leaky Bucket Algorithm, cont.</a:t>
            </a:r>
            <a:br>
              <a:rPr lang="en-US" sz="4000"/>
            </a:br>
            <a:endParaRPr/>
          </a:p>
        </p:txBody>
      </p:sp>
      <p:sp>
        <p:nvSpPr>
          <p:cNvPr id="402" name="Google Shape;402;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Imagine a bucket with a small hole in the bottom, as illustrated in Fig.</a:t>
            </a:r>
            <a:endParaRPr/>
          </a:p>
          <a:p>
            <a:pPr indent="-228600" lvl="0" marL="228600" rtl="0" algn="l">
              <a:lnSpc>
                <a:spcPct val="90000"/>
              </a:lnSpc>
              <a:spcBef>
                <a:spcPts val="1000"/>
              </a:spcBef>
              <a:spcAft>
                <a:spcPts val="0"/>
              </a:spcAft>
              <a:buClr>
                <a:schemeClr val="dk1"/>
              </a:buClr>
              <a:buSzPts val="2400"/>
              <a:buChar char="•"/>
            </a:pPr>
            <a:r>
              <a:rPr lang="en-US" sz="2400"/>
              <a:t>No matter the rate at which water enters the bucket, the outflow is at   a constant rate, </a:t>
            </a:r>
            <a:r>
              <a:rPr i="1" lang="en-US" sz="2400"/>
              <a:t>R, when there is any water in the bucket and zero when the bucket </a:t>
            </a:r>
            <a:r>
              <a:rPr lang="en-US" sz="2400"/>
              <a:t>is empty. </a:t>
            </a:r>
            <a:endParaRPr/>
          </a:p>
          <a:p>
            <a:pPr indent="-228600" lvl="0" marL="228600" rtl="0" algn="l">
              <a:lnSpc>
                <a:spcPct val="90000"/>
              </a:lnSpc>
              <a:spcBef>
                <a:spcPts val="1000"/>
              </a:spcBef>
              <a:spcAft>
                <a:spcPts val="0"/>
              </a:spcAft>
              <a:buClr>
                <a:schemeClr val="dk1"/>
              </a:buClr>
              <a:buSzPts val="2400"/>
              <a:buChar char="•"/>
            </a:pPr>
            <a:r>
              <a:rPr lang="en-US" sz="2400"/>
              <a:t>Also, once the bucket is full to capacity </a:t>
            </a:r>
            <a:r>
              <a:rPr i="1" lang="en-US" sz="2400"/>
              <a:t>B, any additional water entering  </a:t>
            </a:r>
            <a:r>
              <a:rPr lang="en-US" sz="2400"/>
              <a:t>it spills over the sides and is lost.</a:t>
            </a:r>
            <a:endParaRPr/>
          </a:p>
          <a:p>
            <a:pPr indent="-228600" lvl="0" marL="228600" rtl="0" algn="l">
              <a:lnSpc>
                <a:spcPct val="90000"/>
              </a:lnSpc>
              <a:spcBef>
                <a:spcPts val="1000"/>
              </a:spcBef>
              <a:spcAft>
                <a:spcPts val="0"/>
              </a:spcAft>
              <a:buClr>
                <a:schemeClr val="dk1"/>
              </a:buClr>
              <a:buSzPts val="2400"/>
              <a:buChar char="•"/>
            </a:pPr>
            <a:r>
              <a:rPr lang="en-US" sz="2400"/>
              <a:t>Same concept can be applied to a network</a:t>
            </a:r>
            <a:endParaRPr/>
          </a:p>
        </p:txBody>
      </p:sp>
      <p:sp>
        <p:nvSpPr>
          <p:cNvPr id="403" name="Google Shape;40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0" st="0"/>
                                            </p:txEl>
                                          </p:spTgt>
                                        </p:tgtEl>
                                        <p:attrNameLst>
                                          <p:attrName>style.visibility</p:attrName>
                                        </p:attrNameLst>
                                      </p:cBhvr>
                                      <p:to>
                                        <p:strVal val="visible"/>
                                      </p:to>
                                    </p:set>
                                    <p:animEffect filter="fade" transition="in">
                                      <p:cBhvr>
                                        <p:cTn dur="500"/>
                                        <p:tgtEl>
                                          <p:spTgt spid="4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1" st="1"/>
                                            </p:txEl>
                                          </p:spTgt>
                                        </p:tgtEl>
                                        <p:attrNameLst>
                                          <p:attrName>style.visibility</p:attrName>
                                        </p:attrNameLst>
                                      </p:cBhvr>
                                      <p:to>
                                        <p:strVal val="visible"/>
                                      </p:to>
                                    </p:set>
                                    <p:animEffect filter="fade" transition="in">
                                      <p:cBhvr>
                                        <p:cTn dur="500"/>
                                        <p:tgtEl>
                                          <p:spTgt spid="4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2" st="2"/>
                                            </p:txEl>
                                          </p:spTgt>
                                        </p:tgtEl>
                                        <p:attrNameLst>
                                          <p:attrName>style.visibility</p:attrName>
                                        </p:attrNameLst>
                                      </p:cBhvr>
                                      <p:to>
                                        <p:strVal val="visible"/>
                                      </p:to>
                                    </p:set>
                                    <p:animEffect filter="fade" transition="in">
                                      <p:cBhvr>
                                        <p:cTn dur="500"/>
                                        <p:tgtEl>
                                          <p:spTgt spid="4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3" st="3"/>
                                            </p:txEl>
                                          </p:spTgt>
                                        </p:tgtEl>
                                        <p:attrNameLst>
                                          <p:attrName>style.visibility</p:attrName>
                                        </p:attrNameLst>
                                      </p:cBhvr>
                                      <p:to>
                                        <p:strVal val="visible"/>
                                      </p:to>
                                    </p:set>
                                    <p:animEffect filter="fade" transition="in">
                                      <p:cBhvr>
                                        <p:cTn dur="500"/>
                                        <p:tgtEl>
                                          <p:spTgt spid="40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Leaky Bucket Algorithm, cont.</a:t>
            </a:r>
            <a:br>
              <a:rPr lang="en-US" sz="4000"/>
            </a:br>
            <a:endParaRPr/>
          </a:p>
        </p:txBody>
      </p:sp>
      <p:sp>
        <p:nvSpPr>
          <p:cNvPr id="409" name="Google Shape;409;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Each host is connected to the network by an interface containing  a leaky bucket that is a finite internal queue.</a:t>
            </a:r>
            <a:endParaRPr/>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If a packet arrives at the queue  when it is full the packet is discarded</a:t>
            </a:r>
            <a:endParaRPr/>
          </a:p>
          <a:p>
            <a:pPr indent="-228600" lvl="0" marL="228600" rtl="0" algn="l">
              <a:lnSpc>
                <a:spcPct val="90000"/>
              </a:lnSpc>
              <a:spcBef>
                <a:spcPts val="1000"/>
              </a:spcBef>
              <a:spcAft>
                <a:spcPts val="0"/>
              </a:spcAft>
              <a:buClr>
                <a:schemeClr val="dk1"/>
              </a:buClr>
              <a:buSzPts val="2400"/>
              <a:buChar char="•"/>
            </a:pPr>
            <a:r>
              <a:rPr lang="en-US" sz="2400"/>
              <a:t>The host injects one packet per unit time  onto the network.</a:t>
            </a:r>
            <a:endParaRPr/>
          </a:p>
          <a:p>
            <a:pPr indent="-228600" lvl="0" marL="228600" rtl="0" algn="l">
              <a:lnSpc>
                <a:spcPct val="90000"/>
              </a:lnSpc>
              <a:spcBef>
                <a:spcPts val="1000"/>
              </a:spcBef>
              <a:spcAft>
                <a:spcPts val="0"/>
              </a:spcAft>
              <a:buClr>
                <a:schemeClr val="dk1"/>
              </a:buClr>
              <a:buSzPts val="2400"/>
              <a:buChar char="•"/>
            </a:pPr>
            <a:r>
              <a:rPr lang="en-US" sz="2400"/>
              <a:t> This results in a uniform flow of packets, smoothing out bursts and reducing congestion</a:t>
            </a:r>
            <a:endParaRPr/>
          </a:p>
        </p:txBody>
      </p:sp>
      <p:sp>
        <p:nvSpPr>
          <p:cNvPr id="410" name="Google Shape;41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0" st="0"/>
                                            </p:txEl>
                                          </p:spTgt>
                                        </p:tgtEl>
                                        <p:attrNameLst>
                                          <p:attrName>style.visibility</p:attrName>
                                        </p:attrNameLst>
                                      </p:cBhvr>
                                      <p:to>
                                        <p:strVal val="visible"/>
                                      </p:to>
                                    </p:set>
                                    <p:animEffect filter="fade" transition="in">
                                      <p:cBhvr>
                                        <p:cTn dur="500"/>
                                        <p:tgtEl>
                                          <p:spTgt spid="4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1" st="1"/>
                                            </p:txEl>
                                          </p:spTgt>
                                        </p:tgtEl>
                                        <p:attrNameLst>
                                          <p:attrName>style.visibility</p:attrName>
                                        </p:attrNameLst>
                                      </p:cBhvr>
                                      <p:to>
                                        <p:strVal val="visible"/>
                                      </p:to>
                                    </p:set>
                                    <p:animEffect filter="fade" transition="in">
                                      <p:cBhvr>
                                        <p:cTn dur="500"/>
                                        <p:tgtEl>
                                          <p:spTgt spid="4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2" st="2"/>
                                            </p:txEl>
                                          </p:spTgt>
                                        </p:tgtEl>
                                        <p:attrNameLst>
                                          <p:attrName>style.visibility</p:attrName>
                                        </p:attrNameLst>
                                      </p:cBhvr>
                                      <p:to>
                                        <p:strVal val="visible"/>
                                      </p:to>
                                    </p:set>
                                    <p:animEffect filter="fade" transition="in">
                                      <p:cBhvr>
                                        <p:cTn dur="500"/>
                                        <p:tgtEl>
                                          <p:spTgt spid="4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3" st="3"/>
                                            </p:txEl>
                                          </p:spTgt>
                                        </p:tgtEl>
                                        <p:attrNameLst>
                                          <p:attrName>style.visibility</p:attrName>
                                        </p:attrNameLst>
                                      </p:cBhvr>
                                      <p:to>
                                        <p:strVal val="visible"/>
                                      </p:to>
                                    </p:set>
                                    <p:animEffect filter="fade" transition="in">
                                      <p:cBhvr>
                                        <p:cTn dur="500"/>
                                        <p:tgtEl>
                                          <p:spTgt spid="4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4" st="4"/>
                                            </p:txEl>
                                          </p:spTgt>
                                        </p:tgtEl>
                                        <p:attrNameLst>
                                          <p:attrName>style.visibility</p:attrName>
                                        </p:attrNameLst>
                                      </p:cBhvr>
                                      <p:to>
                                        <p:strVal val="visible"/>
                                      </p:to>
                                    </p:set>
                                    <p:animEffect filter="fade" transition="in">
                                      <p:cBhvr>
                                        <p:cTn dur="500"/>
                                        <p:tgtEl>
                                          <p:spTgt spid="40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7"/>
          <p:cNvSpPr txBox="1"/>
          <p:nvPr>
            <p:ph idx="1" type="body"/>
          </p:nvPr>
        </p:nvSpPr>
        <p:spPr>
          <a:xfrm>
            <a:off x="564776" y="342900"/>
            <a:ext cx="9696824" cy="5753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None/>
            </a:pPr>
            <a:r>
              <a:rPr b="1" lang="en-US"/>
              <a:t>Leaky Bucket Algorithm, cont.</a:t>
            </a:r>
            <a:endParaRPr/>
          </a:p>
          <a:p>
            <a:pPr indent="-228600" lvl="0" marL="228600" rtl="0" algn="l">
              <a:lnSpc>
                <a:spcPct val="90000"/>
              </a:lnSpc>
              <a:spcBef>
                <a:spcPts val="1000"/>
              </a:spcBef>
              <a:spcAft>
                <a:spcPts val="0"/>
              </a:spcAft>
              <a:buClr>
                <a:schemeClr val="dk1"/>
              </a:buClr>
              <a:buSzPts val="2800"/>
              <a:buChar char="•"/>
            </a:pPr>
            <a:r>
              <a:rPr lang="en-US"/>
              <a:t>The leaky bucket enforces a constant output rate  (average rate) regardless of the burstiness of the input.</a:t>
            </a:r>
            <a:endParaRPr/>
          </a:p>
          <a:p>
            <a:pPr indent="-228600" lvl="0" marL="228600" rtl="0" algn="l">
              <a:lnSpc>
                <a:spcPct val="90000"/>
              </a:lnSpc>
              <a:spcBef>
                <a:spcPts val="1000"/>
              </a:spcBef>
              <a:spcAft>
                <a:spcPts val="0"/>
              </a:spcAft>
              <a:buClr>
                <a:schemeClr val="dk1"/>
              </a:buClr>
              <a:buSzPts val="2800"/>
              <a:buChar char="•"/>
            </a:pPr>
            <a:r>
              <a:rPr lang="en-US"/>
              <a:t> Does nothing when input is idle.</a:t>
            </a:r>
            <a:endParaRPr/>
          </a:p>
          <a:p>
            <a:pPr indent="-228600" lvl="0" marL="228600" rtl="0" algn="l">
              <a:lnSpc>
                <a:spcPct val="90000"/>
              </a:lnSpc>
              <a:spcBef>
                <a:spcPts val="1000"/>
              </a:spcBef>
              <a:spcAft>
                <a:spcPts val="0"/>
              </a:spcAft>
              <a:buClr>
                <a:schemeClr val="dk1"/>
              </a:buClr>
              <a:buSzPts val="2800"/>
              <a:buChar char="•"/>
            </a:pPr>
            <a:r>
              <a:rPr lang="en-US"/>
              <a:t>When packets are the same size (as in ATM cells), the one packet per unit time is okay.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For variable length packets though, it is better to allow a </a:t>
            </a:r>
            <a:r>
              <a:rPr lang="en-US">
                <a:solidFill>
                  <a:srgbClr val="FF0000"/>
                </a:solidFill>
              </a:rPr>
              <a:t>fixed number of bytes per unit time</a:t>
            </a:r>
            <a:r>
              <a:rPr lang="en-US"/>
              <a:t>.</a:t>
            </a:r>
            <a:endParaRPr/>
          </a:p>
          <a:p>
            <a:pPr indent="-228600" lvl="0" marL="228600" rtl="0" algn="l">
              <a:lnSpc>
                <a:spcPct val="90000"/>
              </a:lnSpc>
              <a:spcBef>
                <a:spcPts val="1000"/>
              </a:spcBef>
              <a:spcAft>
                <a:spcPts val="0"/>
              </a:spcAft>
              <a:buClr>
                <a:schemeClr val="dk1"/>
              </a:buClr>
              <a:buSzPts val="2800"/>
              <a:buChar char="•"/>
            </a:pPr>
            <a:r>
              <a:rPr lang="en-US"/>
              <a:t> E.g. 1024 bytes per unit time will allow one 1024-byte packet or two 512-byte packets or four 256-byte packets.</a:t>
            </a:r>
            <a:endParaRPr/>
          </a:p>
        </p:txBody>
      </p:sp>
      <p:sp>
        <p:nvSpPr>
          <p:cNvPr id="416" name="Google Shape;41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animEffect filter="fade" transition="in">
                                      <p:cBhvr>
                                        <p:cTn dur="500"/>
                                        <p:tgtEl>
                                          <p:spTgt spid="4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animEffect filter="fade" transition="in">
                                      <p:cBhvr>
                                        <p:cTn dur="500"/>
                                        <p:tgtEl>
                                          <p:spTgt spid="4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animEffect filter="fade" transition="in">
                                      <p:cBhvr>
                                        <p:cTn dur="500"/>
                                        <p:tgtEl>
                                          <p:spTgt spid="4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animEffect filter="fade" transition="in">
                                      <p:cBhvr>
                                        <p:cTn dur="500"/>
                                        <p:tgtEl>
                                          <p:spTgt spid="4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animEffect filter="fade" transition="in">
                                      <p:cBhvr>
                                        <p:cTn dur="500"/>
                                        <p:tgtEl>
                                          <p:spTgt spid="4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animEffect filter="fade" transition="in">
                                      <p:cBhvr>
                                        <p:cTn dur="500"/>
                                        <p:tgtEl>
                                          <p:spTgt spid="4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animEffect filter="fade" transition="in">
                                      <p:cBhvr>
                                        <p:cTn dur="500"/>
                                        <p:tgtEl>
                                          <p:spTgt spid="41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Token Bucket</a:t>
            </a:r>
            <a:endParaRPr/>
          </a:p>
        </p:txBody>
      </p:sp>
      <p:sp>
        <p:nvSpPr>
          <p:cNvPr id="422" name="Google Shape;422;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leaky bucket algorithm enforces output patterns at the average rate, no matter how busy the traffic is.</a:t>
            </a:r>
            <a:endParaRPr/>
          </a:p>
          <a:p>
            <a:pPr indent="-228600" lvl="0" marL="228600" rtl="0" algn="l">
              <a:lnSpc>
                <a:spcPct val="90000"/>
              </a:lnSpc>
              <a:spcBef>
                <a:spcPts val="1000"/>
              </a:spcBef>
              <a:spcAft>
                <a:spcPts val="0"/>
              </a:spcAft>
              <a:buClr>
                <a:schemeClr val="dk1"/>
              </a:buClr>
              <a:buSzPts val="2800"/>
              <a:buChar char="•"/>
            </a:pPr>
            <a:r>
              <a:rPr lang="en-US"/>
              <a:t> So, to deal with the more traffic, we need a flexible algorithm so that the data is not lost. </a:t>
            </a:r>
            <a:endParaRPr/>
          </a:p>
          <a:p>
            <a:pPr indent="-228600" lvl="0" marL="228600" rtl="0" algn="l">
              <a:lnSpc>
                <a:spcPct val="90000"/>
              </a:lnSpc>
              <a:spcBef>
                <a:spcPts val="1000"/>
              </a:spcBef>
              <a:spcAft>
                <a:spcPts val="0"/>
              </a:spcAft>
              <a:buClr>
                <a:schemeClr val="dk1"/>
              </a:buClr>
              <a:buSzPts val="2800"/>
              <a:buChar char="•"/>
            </a:pPr>
            <a:r>
              <a:rPr lang="en-US"/>
              <a:t>One such approach is the token bucket algorithm.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Token bucket algorithm steps</a:t>
            </a:r>
            <a:endParaRPr/>
          </a:p>
        </p:txBody>
      </p:sp>
      <p:sp>
        <p:nvSpPr>
          <p:cNvPr id="428" name="Google Shape;428;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Step 1</a:t>
            </a:r>
            <a:r>
              <a:rPr lang="en-US"/>
              <a:t> − In regular intervals tokens are thrown into the bucket f.</a:t>
            </a:r>
            <a:endParaRPr/>
          </a:p>
          <a:p>
            <a:pPr indent="-228600" lvl="0" marL="228600" rtl="0" algn="l">
              <a:lnSpc>
                <a:spcPct val="90000"/>
              </a:lnSpc>
              <a:spcBef>
                <a:spcPts val="1000"/>
              </a:spcBef>
              <a:spcAft>
                <a:spcPts val="0"/>
              </a:spcAft>
              <a:buClr>
                <a:schemeClr val="dk1"/>
              </a:buClr>
              <a:buSzPts val="2800"/>
              <a:buChar char="•"/>
            </a:pPr>
            <a:r>
              <a:rPr b="1" lang="en-US"/>
              <a:t>Step 2</a:t>
            </a:r>
            <a:r>
              <a:rPr lang="en-US"/>
              <a:t> − The bucket has a maximum capacity f.</a:t>
            </a:r>
            <a:endParaRPr/>
          </a:p>
          <a:p>
            <a:pPr indent="-228600" lvl="0" marL="228600" rtl="0" algn="l">
              <a:lnSpc>
                <a:spcPct val="90000"/>
              </a:lnSpc>
              <a:spcBef>
                <a:spcPts val="1000"/>
              </a:spcBef>
              <a:spcAft>
                <a:spcPts val="0"/>
              </a:spcAft>
              <a:buClr>
                <a:schemeClr val="dk1"/>
              </a:buClr>
              <a:buSzPts val="2800"/>
              <a:buChar char="•"/>
            </a:pPr>
            <a:r>
              <a:rPr b="1" lang="en-US"/>
              <a:t>Step 3</a:t>
            </a:r>
            <a:r>
              <a:rPr lang="en-US"/>
              <a:t> − If the packet is ready, then a token is removed from the bucket, and the packet is sent.</a:t>
            </a:r>
            <a:endParaRPr/>
          </a:p>
          <a:p>
            <a:pPr indent="-228600" lvl="0" marL="228600" rtl="0" algn="l">
              <a:lnSpc>
                <a:spcPct val="90000"/>
              </a:lnSpc>
              <a:spcBef>
                <a:spcPts val="1000"/>
              </a:spcBef>
              <a:spcAft>
                <a:spcPts val="0"/>
              </a:spcAft>
              <a:buClr>
                <a:schemeClr val="dk1"/>
              </a:buClr>
              <a:buSzPts val="2800"/>
              <a:buChar char="•"/>
            </a:pPr>
            <a:r>
              <a:rPr b="1" lang="en-US"/>
              <a:t>Step 4</a:t>
            </a:r>
            <a:r>
              <a:rPr lang="en-US"/>
              <a:t> − Suppose, if there is no token in the bucket, the packet cannot be sent.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50"/>
          <p:cNvPicPr preferRelativeResize="0"/>
          <p:nvPr>
            <p:ph idx="4294967295" type="body"/>
          </p:nvPr>
        </p:nvPicPr>
        <p:blipFill rotWithShape="1">
          <a:blip r:embed="rId3">
            <a:alphaModFix/>
          </a:blip>
          <a:srcRect b="0" l="0" r="0" t="0"/>
          <a:stretch/>
        </p:blipFill>
        <p:spPr>
          <a:xfrm>
            <a:off x="1091821" y="488144"/>
            <a:ext cx="9485193" cy="558511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39" name="Google Shape;439;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Fig. (a) there is  a bucket holding three tokens, with five packets waiting to be transmitted.</a:t>
            </a:r>
            <a:endParaRPr/>
          </a:p>
          <a:p>
            <a:pPr indent="-228600" lvl="0" marL="228600" rtl="0" algn="l">
              <a:lnSpc>
                <a:spcPct val="90000"/>
              </a:lnSpc>
              <a:spcBef>
                <a:spcPts val="1000"/>
              </a:spcBef>
              <a:spcAft>
                <a:spcPts val="0"/>
              </a:spcAft>
              <a:buClr>
                <a:schemeClr val="dk1"/>
              </a:buClr>
              <a:buSzPts val="2800"/>
              <a:buChar char="•"/>
            </a:pPr>
            <a:r>
              <a:rPr lang="en-US"/>
              <a:t> For a packet to be transmitted, it must capture and destroy one token. </a:t>
            </a:r>
            <a:endParaRPr/>
          </a:p>
          <a:p>
            <a:pPr indent="-228600" lvl="0" marL="228600" rtl="0" algn="l">
              <a:lnSpc>
                <a:spcPct val="90000"/>
              </a:lnSpc>
              <a:spcBef>
                <a:spcPts val="1000"/>
              </a:spcBef>
              <a:spcAft>
                <a:spcPts val="0"/>
              </a:spcAft>
              <a:buClr>
                <a:schemeClr val="dk1"/>
              </a:buClr>
              <a:buSzPts val="2800"/>
              <a:buChar char="•"/>
            </a:pPr>
            <a:r>
              <a:rPr lang="en-US"/>
              <a:t>In Fig. (b) three of the five packets have been transmitted, but the other two are stuck waiting for two more tokens to be generated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2"/>
          <p:cNvSpPr txBox="1"/>
          <p:nvPr>
            <p:ph idx="4294967295" type="title"/>
          </p:nvPr>
        </p:nvSpPr>
        <p:spPr>
          <a:xfrm>
            <a:off x="0" y="365126"/>
            <a:ext cx="10515600" cy="82223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Difference between leaky bucket and token bucket</a:t>
            </a:r>
            <a:endParaRPr/>
          </a:p>
        </p:txBody>
      </p:sp>
      <p:pic>
        <p:nvPicPr>
          <p:cNvPr id="445" name="Google Shape;445;p52"/>
          <p:cNvPicPr preferRelativeResize="0"/>
          <p:nvPr>
            <p:ph idx="4294967295" type="body"/>
          </p:nvPr>
        </p:nvPicPr>
        <p:blipFill rotWithShape="1">
          <a:blip r:embed="rId3">
            <a:alphaModFix/>
          </a:blip>
          <a:srcRect b="0" l="0" r="0" t="0"/>
          <a:stretch/>
        </p:blipFill>
        <p:spPr>
          <a:xfrm>
            <a:off x="586855" y="1473957"/>
            <a:ext cx="10699844" cy="507696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RESOURCE RESERVATION</a:t>
            </a:r>
            <a:endParaRPr/>
          </a:p>
        </p:txBody>
      </p:sp>
      <p:sp>
        <p:nvSpPr>
          <p:cNvPr id="451" name="Google Shape;451;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 flow of data needs resources such as a buffer, bandwidth, CPU time, and so on. </a:t>
            </a:r>
            <a:endParaRPr/>
          </a:p>
          <a:p>
            <a:pPr indent="-228600" lvl="0" marL="228600" rtl="0" algn="l">
              <a:lnSpc>
                <a:spcPct val="90000"/>
              </a:lnSpc>
              <a:spcBef>
                <a:spcPts val="1000"/>
              </a:spcBef>
              <a:spcAft>
                <a:spcPts val="0"/>
              </a:spcAft>
              <a:buClr>
                <a:schemeClr val="dk1"/>
              </a:buClr>
              <a:buSzPts val="2800"/>
              <a:buChar char="•"/>
            </a:pPr>
            <a:r>
              <a:rPr lang="en-US"/>
              <a:t>The quality of service is improved if these resources are reserved beforehand.</a:t>
            </a:r>
            <a:endParaRPr/>
          </a:p>
          <a:p>
            <a:pPr indent="-228600" lvl="0" marL="228600" rtl="0" algn="l">
              <a:lnSpc>
                <a:spcPct val="90000"/>
              </a:lnSpc>
              <a:spcBef>
                <a:spcPts val="1000"/>
              </a:spcBef>
              <a:spcAft>
                <a:spcPts val="0"/>
              </a:spcAft>
              <a:buClr>
                <a:schemeClr val="dk1"/>
              </a:buClr>
              <a:buSzPts val="2800"/>
              <a:buChar char="•"/>
            </a:pPr>
            <a:r>
              <a:rPr lang="en-US"/>
              <a:t>Three different kinds of resources can potentially be reserved: </a:t>
            </a:r>
            <a:endParaRPr/>
          </a:p>
          <a:p>
            <a:pPr indent="-228600" lvl="1" marL="685800" rtl="0" algn="l">
              <a:lnSpc>
                <a:spcPct val="200000"/>
              </a:lnSpc>
              <a:spcBef>
                <a:spcPts val="500"/>
              </a:spcBef>
              <a:spcAft>
                <a:spcPts val="0"/>
              </a:spcAft>
              <a:buClr>
                <a:schemeClr val="dk1"/>
              </a:buClr>
              <a:buSzPts val="2400"/>
              <a:buChar char="•"/>
            </a:pPr>
            <a:r>
              <a:rPr lang="en-US"/>
              <a:t>1. Bandwidth. </a:t>
            </a:r>
            <a:endParaRPr/>
          </a:p>
          <a:p>
            <a:pPr indent="-228600" lvl="1" marL="685800" rtl="0" algn="l">
              <a:lnSpc>
                <a:spcPct val="200000"/>
              </a:lnSpc>
              <a:spcBef>
                <a:spcPts val="500"/>
              </a:spcBef>
              <a:spcAft>
                <a:spcPts val="0"/>
              </a:spcAft>
              <a:buClr>
                <a:schemeClr val="dk1"/>
              </a:buClr>
              <a:buSzPts val="2400"/>
              <a:buChar char="•"/>
            </a:pPr>
            <a:r>
              <a:rPr lang="en-US"/>
              <a:t>2. Buffer space.</a:t>
            </a:r>
            <a:endParaRPr/>
          </a:p>
          <a:p>
            <a:pPr indent="-228600" lvl="1" marL="685800" rtl="0" algn="l">
              <a:lnSpc>
                <a:spcPct val="200000"/>
              </a:lnSpc>
              <a:spcBef>
                <a:spcPts val="500"/>
              </a:spcBef>
              <a:spcAft>
                <a:spcPts val="0"/>
              </a:spcAft>
              <a:buClr>
                <a:schemeClr val="dk1"/>
              </a:buClr>
              <a:buSzPts val="2400"/>
              <a:buChar char="•"/>
            </a:pPr>
            <a:r>
              <a:rPr lang="en-US"/>
              <a:t> 3. CPU cycles. </a:t>
            </a:r>
            <a:endParaRPr b="1"/>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Admission Control</a:t>
            </a:r>
            <a:br>
              <a:rPr lang="en-US"/>
            </a:br>
            <a:endParaRPr/>
          </a:p>
        </p:txBody>
      </p:sp>
      <p:sp>
        <p:nvSpPr>
          <p:cNvPr id="457" name="Google Shape;457;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Admission control refers to the mechanism used by a router, or a switch, to accept or reject a flow based on predefined parameters called flow specifications.</a:t>
            </a:r>
            <a:endParaRPr/>
          </a:p>
          <a:p>
            <a:pPr indent="-228600" lvl="0" marL="228600" rtl="0" algn="l">
              <a:lnSpc>
                <a:spcPct val="90000"/>
              </a:lnSpc>
              <a:spcBef>
                <a:spcPts val="1000"/>
              </a:spcBef>
              <a:spcAft>
                <a:spcPts val="0"/>
              </a:spcAft>
              <a:buClr>
                <a:schemeClr val="dk1"/>
              </a:buClr>
              <a:buSzPts val="2800"/>
              <a:buChar char="•"/>
            </a:pPr>
            <a:r>
              <a:rPr lang="en-US"/>
              <a:t> Before a router accepts a flow for processing, it checks the flow specifications to see if its capacity (in terms of bandwidth, buffer size, CPU speed, etc.) and its previous commitments to other flows can handle the new flow.</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55"/>
          <p:cNvPicPr preferRelativeResize="0"/>
          <p:nvPr>
            <p:ph idx="4294967295" type="body"/>
          </p:nvPr>
        </p:nvPicPr>
        <p:blipFill rotWithShape="1">
          <a:blip r:embed="rId3">
            <a:alphaModFix/>
          </a:blip>
          <a:srcRect b="0" l="0" r="0" t="0"/>
          <a:stretch/>
        </p:blipFill>
        <p:spPr>
          <a:xfrm>
            <a:off x="723331" y="493002"/>
            <a:ext cx="10733965" cy="568943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Packet Scheduling</a:t>
            </a:r>
            <a:br>
              <a:rPr lang="en-US"/>
            </a:br>
            <a:endParaRPr/>
          </a:p>
        </p:txBody>
      </p:sp>
      <p:sp>
        <p:nvSpPr>
          <p:cNvPr id="468" name="Google Shape;468;p56"/>
          <p:cNvSpPr txBox="1"/>
          <p:nvPr>
            <p:ph idx="1" type="body"/>
          </p:nvPr>
        </p:nvSpPr>
        <p:spPr>
          <a:xfrm>
            <a:off x="838200" y="996287"/>
            <a:ext cx="10515600" cy="5180676"/>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Packets from different flows arrive at a switch or router for processing. </a:t>
            </a:r>
            <a:endParaRPr/>
          </a:p>
          <a:p>
            <a:pPr indent="-228600" lvl="0" marL="228600" rtl="0" algn="l">
              <a:lnSpc>
                <a:spcPct val="90000"/>
              </a:lnSpc>
              <a:spcBef>
                <a:spcPts val="1000"/>
              </a:spcBef>
              <a:spcAft>
                <a:spcPts val="0"/>
              </a:spcAft>
              <a:buClr>
                <a:schemeClr val="dk1"/>
              </a:buClr>
              <a:buSzPts val="2800"/>
              <a:buChar char="•"/>
            </a:pPr>
            <a:r>
              <a:rPr lang="en-US"/>
              <a:t>A good scheduling technique treats the different flows in a fair and appropriate manner. </a:t>
            </a:r>
            <a:endParaRPr/>
          </a:p>
          <a:p>
            <a:pPr indent="-228600" lvl="0" marL="228600" rtl="0" algn="l">
              <a:lnSpc>
                <a:spcPct val="90000"/>
              </a:lnSpc>
              <a:spcBef>
                <a:spcPts val="1000"/>
              </a:spcBef>
              <a:spcAft>
                <a:spcPts val="0"/>
              </a:spcAft>
              <a:buClr>
                <a:schemeClr val="dk1"/>
              </a:buClr>
              <a:buSzPts val="2800"/>
              <a:buChar char="•"/>
            </a:pPr>
            <a:r>
              <a:rPr lang="en-US"/>
              <a:t>Several scheduling techniques are designed to improve the quality of service.</a:t>
            </a:r>
            <a:endParaRPr/>
          </a:p>
          <a:p>
            <a:pPr indent="-228600" lvl="0" marL="228600" rtl="0" algn="l">
              <a:lnSpc>
                <a:spcPct val="90000"/>
              </a:lnSpc>
              <a:spcBef>
                <a:spcPts val="1000"/>
              </a:spcBef>
              <a:spcAft>
                <a:spcPts val="0"/>
              </a:spcAft>
              <a:buClr>
                <a:schemeClr val="dk1"/>
              </a:buClr>
              <a:buSzPts val="2800"/>
              <a:buChar char="•"/>
            </a:pPr>
            <a:r>
              <a:rPr lang="en-US"/>
              <a:t>Three of them are:</a:t>
            </a:r>
            <a:endParaRPr/>
          </a:p>
          <a:p>
            <a:pPr indent="-514350" lvl="1" marL="971550" rtl="0" algn="l">
              <a:lnSpc>
                <a:spcPct val="90000"/>
              </a:lnSpc>
              <a:spcBef>
                <a:spcPts val="500"/>
              </a:spcBef>
              <a:spcAft>
                <a:spcPts val="0"/>
              </a:spcAft>
              <a:buClr>
                <a:schemeClr val="dk1"/>
              </a:buClr>
              <a:buSzPts val="2400"/>
              <a:buFont typeface="Calibri"/>
              <a:buAutoNum type="arabicPeriod"/>
            </a:pPr>
            <a:r>
              <a:rPr lang="en-US"/>
              <a:t> FIFO queuing</a:t>
            </a:r>
            <a:endParaRPr/>
          </a:p>
          <a:p>
            <a:pPr indent="-514350" lvl="1" marL="971550" rtl="0" algn="l">
              <a:lnSpc>
                <a:spcPct val="90000"/>
              </a:lnSpc>
              <a:spcBef>
                <a:spcPts val="500"/>
              </a:spcBef>
              <a:spcAft>
                <a:spcPts val="0"/>
              </a:spcAft>
              <a:buClr>
                <a:schemeClr val="dk1"/>
              </a:buClr>
              <a:buSzPts val="2400"/>
              <a:buFont typeface="Calibri"/>
              <a:buAutoNum type="arabicPeriod"/>
            </a:pPr>
            <a:r>
              <a:rPr lang="en-US"/>
              <a:t>Priority queuing </a:t>
            </a:r>
            <a:endParaRPr/>
          </a:p>
          <a:p>
            <a:pPr indent="-514350" lvl="1" marL="971550" rtl="0" algn="l">
              <a:lnSpc>
                <a:spcPct val="90000"/>
              </a:lnSpc>
              <a:spcBef>
                <a:spcPts val="500"/>
              </a:spcBef>
              <a:spcAft>
                <a:spcPts val="0"/>
              </a:spcAft>
              <a:buClr>
                <a:schemeClr val="dk1"/>
              </a:buClr>
              <a:buSzPts val="2400"/>
              <a:buFont typeface="Calibri"/>
              <a:buAutoNum type="arabicPeriod"/>
            </a:pPr>
            <a:r>
              <a:rPr lang="en-US"/>
              <a:t>Weighted fair queuing.</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FIFO Queuing</a:t>
            </a:r>
            <a:br>
              <a:rPr lang="en-US"/>
            </a:br>
            <a:endParaRPr/>
          </a:p>
        </p:txBody>
      </p:sp>
      <p:sp>
        <p:nvSpPr>
          <p:cNvPr id="474" name="Google Shape;474;p57"/>
          <p:cNvSpPr txBox="1"/>
          <p:nvPr>
            <p:ph idx="1" type="body"/>
          </p:nvPr>
        </p:nvSpPr>
        <p:spPr>
          <a:xfrm>
            <a:off x="838200" y="1037230"/>
            <a:ext cx="10515600" cy="5139733"/>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In first-in, first-out (FIFO) queuing, packets wait in a buffer (queue) until the node (router or switch) is ready to process them.</a:t>
            </a:r>
            <a:endParaRPr/>
          </a:p>
          <a:p>
            <a:pPr indent="-228600" lvl="0" marL="228600" rtl="0" algn="l">
              <a:lnSpc>
                <a:spcPct val="90000"/>
              </a:lnSpc>
              <a:spcBef>
                <a:spcPts val="1000"/>
              </a:spcBef>
              <a:spcAft>
                <a:spcPts val="0"/>
              </a:spcAft>
              <a:buClr>
                <a:schemeClr val="dk1"/>
              </a:buClr>
              <a:buSzPts val="2800"/>
              <a:buChar char="•"/>
            </a:pPr>
            <a:r>
              <a:rPr lang="en-US"/>
              <a:t> If the average arrival rate is higher than the average processing rate, the queue will fill up and new packets will be discarded</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475" name="Google Shape;475;p57"/>
          <p:cNvPicPr preferRelativeResize="0"/>
          <p:nvPr/>
        </p:nvPicPr>
        <p:blipFill rotWithShape="1">
          <a:blip r:embed="rId3">
            <a:alphaModFix/>
          </a:blip>
          <a:srcRect b="0" l="0" r="0" t="0"/>
          <a:stretch/>
        </p:blipFill>
        <p:spPr>
          <a:xfrm>
            <a:off x="1105469" y="4129229"/>
            <a:ext cx="6888849" cy="204773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Priority Queuing</a:t>
            </a:r>
            <a:br>
              <a:rPr lang="en-US"/>
            </a:br>
            <a:endParaRPr/>
          </a:p>
        </p:txBody>
      </p:sp>
      <p:sp>
        <p:nvSpPr>
          <p:cNvPr id="481" name="Google Shape;481;p58"/>
          <p:cNvSpPr txBox="1"/>
          <p:nvPr>
            <p:ph idx="1" type="body"/>
          </p:nvPr>
        </p:nvSpPr>
        <p:spPr>
          <a:xfrm>
            <a:off x="838200" y="1078173"/>
            <a:ext cx="10515600" cy="509879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 priority queuing, packets are first assigned to a priority class. </a:t>
            </a:r>
            <a:endParaRPr/>
          </a:p>
          <a:p>
            <a:pPr indent="-228600" lvl="0" marL="228600" rtl="0" algn="l">
              <a:lnSpc>
                <a:spcPct val="90000"/>
              </a:lnSpc>
              <a:spcBef>
                <a:spcPts val="1000"/>
              </a:spcBef>
              <a:spcAft>
                <a:spcPts val="0"/>
              </a:spcAft>
              <a:buClr>
                <a:schemeClr val="dk1"/>
              </a:buClr>
              <a:buSzPts val="2800"/>
              <a:buChar char="•"/>
            </a:pPr>
            <a:r>
              <a:rPr lang="en-US"/>
              <a:t>Each priority class has its own queue. </a:t>
            </a:r>
            <a:endParaRPr/>
          </a:p>
          <a:p>
            <a:pPr indent="-228600" lvl="0" marL="228600" rtl="0" algn="l">
              <a:lnSpc>
                <a:spcPct val="90000"/>
              </a:lnSpc>
              <a:spcBef>
                <a:spcPts val="1000"/>
              </a:spcBef>
              <a:spcAft>
                <a:spcPts val="0"/>
              </a:spcAft>
              <a:buClr>
                <a:schemeClr val="dk1"/>
              </a:buClr>
              <a:buSzPts val="2800"/>
              <a:buChar char="•"/>
            </a:pPr>
            <a:r>
              <a:rPr lang="en-US"/>
              <a:t>The packets in the highest-priority queue are processed first. </a:t>
            </a:r>
            <a:endParaRPr/>
          </a:p>
          <a:p>
            <a:pPr indent="-228600" lvl="0" marL="228600" rtl="0" algn="l">
              <a:lnSpc>
                <a:spcPct val="90000"/>
              </a:lnSpc>
              <a:spcBef>
                <a:spcPts val="1000"/>
              </a:spcBef>
              <a:spcAft>
                <a:spcPts val="0"/>
              </a:spcAft>
              <a:buClr>
                <a:schemeClr val="dk1"/>
              </a:buClr>
              <a:buSzPts val="2800"/>
              <a:buChar char="•"/>
            </a:pPr>
            <a:r>
              <a:rPr lang="en-US"/>
              <a:t>Packets in the lowest- priority queue are processed last.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Priority Queuing</a:t>
            </a:r>
            <a:br>
              <a:rPr lang="en-US"/>
            </a:br>
            <a:endParaRPr/>
          </a:p>
        </p:txBody>
      </p:sp>
      <p:pic>
        <p:nvPicPr>
          <p:cNvPr id="487" name="Google Shape;487;p59"/>
          <p:cNvPicPr preferRelativeResize="0"/>
          <p:nvPr>
            <p:ph idx="1" type="body"/>
          </p:nvPr>
        </p:nvPicPr>
        <p:blipFill rotWithShape="1">
          <a:blip r:embed="rId3">
            <a:alphaModFix/>
          </a:blip>
          <a:srcRect b="0" l="0" r="0" t="0"/>
          <a:stretch/>
        </p:blipFill>
        <p:spPr>
          <a:xfrm>
            <a:off x="1639650" y="1690688"/>
            <a:ext cx="9496923" cy="382300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Weighted Fair Queuing</a:t>
            </a:r>
            <a:br>
              <a:rPr lang="en-US"/>
            </a:br>
            <a:endParaRPr/>
          </a:p>
        </p:txBody>
      </p:sp>
      <p:sp>
        <p:nvSpPr>
          <p:cNvPr id="493" name="Google Shape;493;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this technique, the packets are still assigned to different classes and admitted to different queues. </a:t>
            </a:r>
            <a:endParaRPr/>
          </a:p>
          <a:p>
            <a:pPr indent="-228600" lvl="0" marL="228600" rtl="0" algn="l">
              <a:lnSpc>
                <a:spcPct val="90000"/>
              </a:lnSpc>
              <a:spcBef>
                <a:spcPts val="1000"/>
              </a:spcBef>
              <a:spcAft>
                <a:spcPts val="0"/>
              </a:spcAft>
              <a:buClr>
                <a:schemeClr val="dk1"/>
              </a:buClr>
              <a:buSzPts val="2800"/>
              <a:buChar char="•"/>
            </a:pPr>
            <a:r>
              <a:rPr lang="en-US"/>
              <a:t>The queues, however, are weighted based on the priority of the queues; higher priority means a higher weight. </a:t>
            </a:r>
            <a:endParaRPr/>
          </a:p>
          <a:p>
            <a:pPr indent="-228600" lvl="0" marL="228600" rtl="0" algn="l">
              <a:lnSpc>
                <a:spcPct val="90000"/>
              </a:lnSpc>
              <a:spcBef>
                <a:spcPts val="1000"/>
              </a:spcBef>
              <a:spcAft>
                <a:spcPts val="0"/>
              </a:spcAft>
              <a:buClr>
                <a:schemeClr val="dk1"/>
              </a:buClr>
              <a:buSzPts val="2800"/>
              <a:buChar char="•"/>
            </a:pPr>
            <a:r>
              <a:rPr lang="en-US"/>
              <a:t>The system processes packets in each queue in a round-robin fashion with the number of packets selected from each queue based on the corresponding weight. </a:t>
            </a:r>
            <a:endParaRPr/>
          </a:p>
          <a:p>
            <a:pPr indent="-228600" lvl="0" marL="228600" rtl="0" algn="l">
              <a:lnSpc>
                <a:spcPct val="90000"/>
              </a:lnSpc>
              <a:spcBef>
                <a:spcPts val="1000"/>
              </a:spcBef>
              <a:spcAft>
                <a:spcPts val="0"/>
              </a:spcAft>
              <a:buClr>
                <a:schemeClr val="dk1"/>
              </a:buClr>
              <a:buSzPts val="2800"/>
              <a:buChar char="•"/>
            </a:pPr>
            <a:r>
              <a:rPr lang="en-US"/>
              <a:t>For example, if the weights are 3, 2, and 1, three packets are processed from the first queue, two from the second queue, and one from the third queue.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Weighted Fair Queuing</a:t>
            </a:r>
            <a:br>
              <a:rPr lang="en-US"/>
            </a:br>
            <a:endParaRPr/>
          </a:p>
        </p:txBody>
      </p:sp>
      <p:pic>
        <p:nvPicPr>
          <p:cNvPr id="499" name="Google Shape;499;p61"/>
          <p:cNvPicPr preferRelativeResize="0"/>
          <p:nvPr>
            <p:ph idx="1" type="body"/>
          </p:nvPr>
        </p:nvPicPr>
        <p:blipFill rotWithShape="1">
          <a:blip r:embed="rId3">
            <a:alphaModFix/>
          </a:blip>
          <a:srcRect b="0" l="0" r="0" t="0"/>
          <a:stretch/>
        </p:blipFill>
        <p:spPr>
          <a:xfrm>
            <a:off x="1228299" y="1419367"/>
            <a:ext cx="10125501" cy="50360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2022-11-28T05:10:57Z</dcterms:created>
  <dc:creator>csstaff</dc:creator>
</cp:coreProperties>
</file>