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media/image33.jpg" ContentType="image/jpg"/>
  <Override PartName="/ppt/media/image34.jpg" ContentType="image/jpg"/>
  <Override PartName="/ppt/notesSlides/notesSlide47.xml" ContentType="application/vnd.openxmlformats-officedocument.presentationml.notesSlide+xml"/>
  <Override PartName="/ppt/notesSlides/notesSlide48.xml" ContentType="application/vnd.openxmlformats-officedocument.presentationml.notesSlide+xml"/>
  <Override PartName="/ppt/media/image40.jpg" ContentType="image/jpg"/>
  <Override PartName="/ppt/media/image41.jpg" ContentType="image/jpg"/>
  <Override PartName="/ppt/media/image42.jpg" ContentType="image/jpg"/>
  <Override PartName="/ppt/media/image43.jpg" ContentType="image/jpg"/>
  <Override PartName="/ppt/media/image44.jpg" ContentType="image/jpg"/>
  <Override PartName="/ppt/media/image45.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14"/>
  </p:notesMasterIdLst>
  <p:sldIdLst>
    <p:sldId id="306" r:id="rId2"/>
    <p:sldId id="510" r:id="rId3"/>
    <p:sldId id="430" r:id="rId4"/>
    <p:sldId id="339" r:id="rId5"/>
    <p:sldId id="340" r:id="rId6"/>
    <p:sldId id="341" r:id="rId7"/>
    <p:sldId id="418" r:id="rId8"/>
    <p:sldId id="419" r:id="rId9"/>
    <p:sldId id="342" r:id="rId10"/>
    <p:sldId id="343" r:id="rId11"/>
    <p:sldId id="344" r:id="rId12"/>
    <p:sldId id="345" r:id="rId13"/>
    <p:sldId id="359" r:id="rId14"/>
    <p:sldId id="346" r:id="rId15"/>
    <p:sldId id="347" r:id="rId16"/>
    <p:sldId id="504" r:id="rId17"/>
    <p:sldId id="348" r:id="rId18"/>
    <p:sldId id="349" r:id="rId19"/>
    <p:sldId id="350" r:id="rId20"/>
    <p:sldId id="351" r:id="rId21"/>
    <p:sldId id="505" r:id="rId22"/>
    <p:sldId id="352" r:id="rId23"/>
    <p:sldId id="353" r:id="rId24"/>
    <p:sldId id="354" r:id="rId25"/>
    <p:sldId id="355" r:id="rId26"/>
    <p:sldId id="356" r:id="rId27"/>
    <p:sldId id="357" r:id="rId28"/>
    <p:sldId id="358" r:id="rId29"/>
    <p:sldId id="422" r:id="rId30"/>
    <p:sldId id="421" r:id="rId31"/>
    <p:sldId id="360" r:id="rId32"/>
    <p:sldId id="423" r:id="rId33"/>
    <p:sldId id="361" r:id="rId34"/>
    <p:sldId id="362" r:id="rId35"/>
    <p:sldId id="363" r:id="rId36"/>
    <p:sldId id="364" r:id="rId37"/>
    <p:sldId id="365" r:id="rId38"/>
    <p:sldId id="366" r:id="rId39"/>
    <p:sldId id="506" r:id="rId40"/>
    <p:sldId id="367" r:id="rId41"/>
    <p:sldId id="368" r:id="rId42"/>
    <p:sldId id="369" r:id="rId43"/>
    <p:sldId id="424" r:id="rId44"/>
    <p:sldId id="372" r:id="rId45"/>
    <p:sldId id="374" r:id="rId46"/>
    <p:sldId id="375" r:id="rId47"/>
    <p:sldId id="376" r:id="rId48"/>
    <p:sldId id="425" r:id="rId49"/>
    <p:sldId id="377" r:id="rId50"/>
    <p:sldId id="426" r:id="rId51"/>
    <p:sldId id="378" r:id="rId52"/>
    <p:sldId id="427" r:id="rId53"/>
    <p:sldId id="428" r:id="rId54"/>
    <p:sldId id="379" r:id="rId55"/>
    <p:sldId id="380" r:id="rId56"/>
    <p:sldId id="507" r:id="rId57"/>
    <p:sldId id="381" r:id="rId58"/>
    <p:sldId id="384" r:id="rId59"/>
    <p:sldId id="383" r:id="rId60"/>
    <p:sldId id="382" r:id="rId61"/>
    <p:sldId id="385" r:id="rId62"/>
    <p:sldId id="429" r:id="rId63"/>
    <p:sldId id="431" r:id="rId64"/>
    <p:sldId id="432" r:id="rId65"/>
    <p:sldId id="433" r:id="rId66"/>
    <p:sldId id="463" r:id="rId67"/>
    <p:sldId id="462" r:id="rId68"/>
    <p:sldId id="452" r:id="rId69"/>
    <p:sldId id="454" r:id="rId70"/>
    <p:sldId id="455" r:id="rId71"/>
    <p:sldId id="456" r:id="rId72"/>
    <p:sldId id="457" r:id="rId73"/>
    <p:sldId id="458" r:id="rId74"/>
    <p:sldId id="459" r:id="rId75"/>
    <p:sldId id="460" r:id="rId76"/>
    <p:sldId id="461" r:id="rId77"/>
    <p:sldId id="436" r:id="rId78"/>
    <p:sldId id="437" r:id="rId79"/>
    <p:sldId id="438" r:id="rId80"/>
    <p:sldId id="439" r:id="rId81"/>
    <p:sldId id="508" r:id="rId82"/>
    <p:sldId id="440" r:id="rId83"/>
    <p:sldId id="441" r:id="rId84"/>
    <p:sldId id="442" r:id="rId85"/>
    <p:sldId id="443" r:id="rId86"/>
    <p:sldId id="509" r:id="rId87"/>
    <p:sldId id="444" r:id="rId88"/>
    <p:sldId id="445" r:id="rId89"/>
    <p:sldId id="446" r:id="rId90"/>
    <p:sldId id="447" r:id="rId91"/>
    <p:sldId id="405" r:id="rId92"/>
    <p:sldId id="406" r:id="rId93"/>
    <p:sldId id="448" r:id="rId94"/>
    <p:sldId id="449" r:id="rId95"/>
    <p:sldId id="464" r:id="rId96"/>
    <p:sldId id="466" r:id="rId97"/>
    <p:sldId id="467" r:id="rId98"/>
    <p:sldId id="468" r:id="rId99"/>
    <p:sldId id="469" r:id="rId100"/>
    <p:sldId id="470" r:id="rId101"/>
    <p:sldId id="471" r:id="rId102"/>
    <p:sldId id="472" r:id="rId103"/>
    <p:sldId id="483" r:id="rId104"/>
    <p:sldId id="485" r:id="rId105"/>
    <p:sldId id="486" r:id="rId106"/>
    <p:sldId id="488" r:id="rId107"/>
    <p:sldId id="489" r:id="rId108"/>
    <p:sldId id="503" r:id="rId109"/>
    <p:sldId id="511" r:id="rId110"/>
    <p:sldId id="512" r:id="rId111"/>
    <p:sldId id="513" r:id="rId112"/>
    <p:sldId id="514" r:id="rId113"/>
  </p:sldIdLst>
  <p:sldSz cx="9144000" cy="6858000" type="screen4x3"/>
  <p:notesSz cx="6858000" cy="9144000"/>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30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17C044-E79A-44FE-BD83-A750A3CD1A45}" type="datetimeFigureOut">
              <a:rPr lang="en-US" smtClean="0"/>
              <a:pPr/>
              <a:t>10/26/2023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DF5DE3-3C49-419D-B096-51AD8E047A66}" type="slidenum">
              <a:rPr lang="en-US" smtClean="0"/>
              <a:pPr/>
              <a:t>‹#›</a:t>
            </a:fld>
            <a:endParaRPr lang="en-US" dirty="0"/>
          </a:p>
        </p:txBody>
      </p:sp>
    </p:spTree>
    <p:extLst>
      <p:ext uri="{BB962C8B-B14F-4D97-AF65-F5344CB8AC3E}">
        <p14:creationId xmlns:p14="http://schemas.microsoft.com/office/powerpoint/2010/main" val="2312791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a:t>
            </a:fld>
            <a:endParaRPr lang="en-US" dirty="0"/>
          </a:p>
        </p:txBody>
      </p:sp>
    </p:spTree>
    <p:extLst>
      <p:ext uri="{BB962C8B-B14F-4D97-AF65-F5344CB8AC3E}">
        <p14:creationId xmlns:p14="http://schemas.microsoft.com/office/powerpoint/2010/main" val="2985644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a:t>
            </a:fld>
            <a:endParaRPr lang="en-US" dirty="0"/>
          </a:p>
        </p:txBody>
      </p:sp>
    </p:spTree>
    <p:extLst>
      <p:ext uri="{BB962C8B-B14F-4D97-AF65-F5344CB8AC3E}">
        <p14:creationId xmlns:p14="http://schemas.microsoft.com/office/powerpoint/2010/main" val="138380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a:t>
            </a:fld>
            <a:endParaRPr lang="en-US" dirty="0"/>
          </a:p>
        </p:txBody>
      </p:sp>
    </p:spTree>
    <p:extLst>
      <p:ext uri="{BB962C8B-B14F-4D97-AF65-F5344CB8AC3E}">
        <p14:creationId xmlns:p14="http://schemas.microsoft.com/office/powerpoint/2010/main" val="2504829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a:t>
            </a:fld>
            <a:endParaRPr lang="en-US" dirty="0"/>
          </a:p>
        </p:txBody>
      </p:sp>
    </p:spTree>
    <p:extLst>
      <p:ext uri="{BB962C8B-B14F-4D97-AF65-F5344CB8AC3E}">
        <p14:creationId xmlns:p14="http://schemas.microsoft.com/office/powerpoint/2010/main" val="2541535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9</a:t>
            </a:fld>
            <a:endParaRPr lang="en-US" dirty="0"/>
          </a:p>
        </p:txBody>
      </p:sp>
    </p:spTree>
    <p:extLst>
      <p:ext uri="{BB962C8B-B14F-4D97-AF65-F5344CB8AC3E}">
        <p14:creationId xmlns:p14="http://schemas.microsoft.com/office/powerpoint/2010/main" val="1079417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10</a:t>
            </a:fld>
            <a:endParaRPr lang="en-US" dirty="0"/>
          </a:p>
        </p:txBody>
      </p:sp>
    </p:spTree>
    <p:extLst>
      <p:ext uri="{BB962C8B-B14F-4D97-AF65-F5344CB8AC3E}">
        <p14:creationId xmlns:p14="http://schemas.microsoft.com/office/powerpoint/2010/main" val="4119697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11</a:t>
            </a:fld>
            <a:endParaRPr lang="en-US" dirty="0"/>
          </a:p>
        </p:txBody>
      </p:sp>
    </p:spTree>
    <p:extLst>
      <p:ext uri="{BB962C8B-B14F-4D97-AF65-F5344CB8AC3E}">
        <p14:creationId xmlns:p14="http://schemas.microsoft.com/office/powerpoint/2010/main" val="3183300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12</a:t>
            </a:fld>
            <a:endParaRPr lang="en-US" dirty="0"/>
          </a:p>
        </p:txBody>
      </p:sp>
    </p:spTree>
    <p:extLst>
      <p:ext uri="{BB962C8B-B14F-4D97-AF65-F5344CB8AC3E}">
        <p14:creationId xmlns:p14="http://schemas.microsoft.com/office/powerpoint/2010/main" val="2616968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13</a:t>
            </a:fld>
            <a:endParaRPr lang="en-US" dirty="0"/>
          </a:p>
        </p:txBody>
      </p:sp>
    </p:spTree>
    <p:extLst>
      <p:ext uri="{BB962C8B-B14F-4D97-AF65-F5344CB8AC3E}">
        <p14:creationId xmlns:p14="http://schemas.microsoft.com/office/powerpoint/2010/main" val="1550668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14</a:t>
            </a:fld>
            <a:endParaRPr lang="en-US" dirty="0"/>
          </a:p>
        </p:txBody>
      </p:sp>
    </p:spTree>
    <p:extLst>
      <p:ext uri="{BB962C8B-B14F-4D97-AF65-F5344CB8AC3E}">
        <p14:creationId xmlns:p14="http://schemas.microsoft.com/office/powerpoint/2010/main" val="3821146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15</a:t>
            </a:fld>
            <a:endParaRPr lang="en-US" dirty="0"/>
          </a:p>
        </p:txBody>
      </p:sp>
    </p:spTree>
    <p:extLst>
      <p:ext uri="{BB962C8B-B14F-4D97-AF65-F5344CB8AC3E}">
        <p14:creationId xmlns:p14="http://schemas.microsoft.com/office/powerpoint/2010/main" val="3668233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17</a:t>
            </a:fld>
            <a:endParaRPr lang="en-US" dirty="0"/>
          </a:p>
        </p:txBody>
      </p:sp>
    </p:spTree>
    <p:extLst>
      <p:ext uri="{BB962C8B-B14F-4D97-AF65-F5344CB8AC3E}">
        <p14:creationId xmlns:p14="http://schemas.microsoft.com/office/powerpoint/2010/main" val="156210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18</a:t>
            </a:fld>
            <a:endParaRPr lang="en-US" dirty="0"/>
          </a:p>
        </p:txBody>
      </p:sp>
    </p:spTree>
    <p:extLst>
      <p:ext uri="{BB962C8B-B14F-4D97-AF65-F5344CB8AC3E}">
        <p14:creationId xmlns:p14="http://schemas.microsoft.com/office/powerpoint/2010/main" val="524559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19</a:t>
            </a:fld>
            <a:endParaRPr lang="en-US" dirty="0"/>
          </a:p>
        </p:txBody>
      </p:sp>
    </p:spTree>
    <p:extLst>
      <p:ext uri="{BB962C8B-B14F-4D97-AF65-F5344CB8AC3E}">
        <p14:creationId xmlns:p14="http://schemas.microsoft.com/office/powerpoint/2010/main" val="485909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20</a:t>
            </a:fld>
            <a:endParaRPr lang="en-US" dirty="0"/>
          </a:p>
        </p:txBody>
      </p:sp>
    </p:spTree>
    <p:extLst>
      <p:ext uri="{BB962C8B-B14F-4D97-AF65-F5344CB8AC3E}">
        <p14:creationId xmlns:p14="http://schemas.microsoft.com/office/powerpoint/2010/main" val="2331095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22</a:t>
            </a:fld>
            <a:endParaRPr lang="en-US" dirty="0"/>
          </a:p>
        </p:txBody>
      </p:sp>
    </p:spTree>
    <p:extLst>
      <p:ext uri="{BB962C8B-B14F-4D97-AF65-F5344CB8AC3E}">
        <p14:creationId xmlns:p14="http://schemas.microsoft.com/office/powerpoint/2010/main" val="1127229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23</a:t>
            </a:fld>
            <a:endParaRPr lang="en-US" dirty="0"/>
          </a:p>
        </p:txBody>
      </p:sp>
    </p:spTree>
    <p:extLst>
      <p:ext uri="{BB962C8B-B14F-4D97-AF65-F5344CB8AC3E}">
        <p14:creationId xmlns:p14="http://schemas.microsoft.com/office/powerpoint/2010/main" val="1744031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24</a:t>
            </a:fld>
            <a:endParaRPr lang="en-US" dirty="0"/>
          </a:p>
        </p:txBody>
      </p:sp>
    </p:spTree>
    <p:extLst>
      <p:ext uri="{BB962C8B-B14F-4D97-AF65-F5344CB8AC3E}">
        <p14:creationId xmlns:p14="http://schemas.microsoft.com/office/powerpoint/2010/main" val="3617114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25</a:t>
            </a:fld>
            <a:endParaRPr lang="en-US" dirty="0"/>
          </a:p>
        </p:txBody>
      </p:sp>
    </p:spTree>
    <p:extLst>
      <p:ext uri="{BB962C8B-B14F-4D97-AF65-F5344CB8AC3E}">
        <p14:creationId xmlns:p14="http://schemas.microsoft.com/office/powerpoint/2010/main" val="3179367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26</a:t>
            </a:fld>
            <a:endParaRPr lang="en-US" dirty="0"/>
          </a:p>
        </p:txBody>
      </p:sp>
    </p:spTree>
    <p:extLst>
      <p:ext uri="{BB962C8B-B14F-4D97-AF65-F5344CB8AC3E}">
        <p14:creationId xmlns:p14="http://schemas.microsoft.com/office/powerpoint/2010/main" val="1905649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27</a:t>
            </a:fld>
            <a:endParaRPr lang="en-US" dirty="0"/>
          </a:p>
        </p:txBody>
      </p:sp>
    </p:spTree>
    <p:extLst>
      <p:ext uri="{BB962C8B-B14F-4D97-AF65-F5344CB8AC3E}">
        <p14:creationId xmlns:p14="http://schemas.microsoft.com/office/powerpoint/2010/main" val="810505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28</a:t>
            </a:fld>
            <a:endParaRPr lang="en-US" dirty="0"/>
          </a:p>
        </p:txBody>
      </p:sp>
    </p:spTree>
    <p:extLst>
      <p:ext uri="{BB962C8B-B14F-4D97-AF65-F5344CB8AC3E}">
        <p14:creationId xmlns:p14="http://schemas.microsoft.com/office/powerpoint/2010/main" val="1981510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31</a:t>
            </a:fld>
            <a:endParaRPr lang="en-US" dirty="0"/>
          </a:p>
        </p:txBody>
      </p:sp>
    </p:spTree>
    <p:extLst>
      <p:ext uri="{BB962C8B-B14F-4D97-AF65-F5344CB8AC3E}">
        <p14:creationId xmlns:p14="http://schemas.microsoft.com/office/powerpoint/2010/main" val="35888922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33</a:t>
            </a:fld>
            <a:endParaRPr lang="en-US" dirty="0"/>
          </a:p>
        </p:txBody>
      </p:sp>
    </p:spTree>
    <p:extLst>
      <p:ext uri="{BB962C8B-B14F-4D97-AF65-F5344CB8AC3E}">
        <p14:creationId xmlns:p14="http://schemas.microsoft.com/office/powerpoint/2010/main" val="18427934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34</a:t>
            </a:fld>
            <a:endParaRPr lang="en-US" dirty="0"/>
          </a:p>
        </p:txBody>
      </p:sp>
    </p:spTree>
    <p:extLst>
      <p:ext uri="{BB962C8B-B14F-4D97-AF65-F5344CB8AC3E}">
        <p14:creationId xmlns:p14="http://schemas.microsoft.com/office/powerpoint/2010/main" val="22970215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35</a:t>
            </a:fld>
            <a:endParaRPr lang="en-US" dirty="0"/>
          </a:p>
        </p:txBody>
      </p:sp>
    </p:spTree>
    <p:extLst>
      <p:ext uri="{BB962C8B-B14F-4D97-AF65-F5344CB8AC3E}">
        <p14:creationId xmlns:p14="http://schemas.microsoft.com/office/powerpoint/2010/main" val="26334411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36</a:t>
            </a:fld>
            <a:endParaRPr lang="en-US" dirty="0"/>
          </a:p>
        </p:txBody>
      </p:sp>
    </p:spTree>
    <p:extLst>
      <p:ext uri="{BB962C8B-B14F-4D97-AF65-F5344CB8AC3E}">
        <p14:creationId xmlns:p14="http://schemas.microsoft.com/office/powerpoint/2010/main" val="21395055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37</a:t>
            </a:fld>
            <a:endParaRPr lang="en-US" dirty="0"/>
          </a:p>
        </p:txBody>
      </p:sp>
    </p:spTree>
    <p:extLst>
      <p:ext uri="{BB962C8B-B14F-4D97-AF65-F5344CB8AC3E}">
        <p14:creationId xmlns:p14="http://schemas.microsoft.com/office/powerpoint/2010/main" val="33357599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38</a:t>
            </a:fld>
            <a:endParaRPr lang="en-US" dirty="0"/>
          </a:p>
        </p:txBody>
      </p:sp>
    </p:spTree>
    <p:extLst>
      <p:ext uri="{BB962C8B-B14F-4D97-AF65-F5344CB8AC3E}">
        <p14:creationId xmlns:p14="http://schemas.microsoft.com/office/powerpoint/2010/main" val="13246451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40</a:t>
            </a:fld>
            <a:endParaRPr lang="en-US" dirty="0"/>
          </a:p>
        </p:txBody>
      </p:sp>
    </p:spTree>
    <p:extLst>
      <p:ext uri="{BB962C8B-B14F-4D97-AF65-F5344CB8AC3E}">
        <p14:creationId xmlns:p14="http://schemas.microsoft.com/office/powerpoint/2010/main" val="13792371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41</a:t>
            </a:fld>
            <a:endParaRPr lang="en-US" dirty="0"/>
          </a:p>
        </p:txBody>
      </p:sp>
    </p:spTree>
    <p:extLst>
      <p:ext uri="{BB962C8B-B14F-4D97-AF65-F5344CB8AC3E}">
        <p14:creationId xmlns:p14="http://schemas.microsoft.com/office/powerpoint/2010/main" val="22695780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42</a:t>
            </a:fld>
            <a:endParaRPr lang="en-US" dirty="0"/>
          </a:p>
        </p:txBody>
      </p:sp>
    </p:spTree>
    <p:extLst>
      <p:ext uri="{BB962C8B-B14F-4D97-AF65-F5344CB8AC3E}">
        <p14:creationId xmlns:p14="http://schemas.microsoft.com/office/powerpoint/2010/main" val="33893121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44</a:t>
            </a:fld>
            <a:endParaRPr lang="en-US" dirty="0"/>
          </a:p>
        </p:txBody>
      </p:sp>
    </p:spTree>
    <p:extLst>
      <p:ext uri="{BB962C8B-B14F-4D97-AF65-F5344CB8AC3E}">
        <p14:creationId xmlns:p14="http://schemas.microsoft.com/office/powerpoint/2010/main" val="9867136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45</a:t>
            </a:fld>
            <a:endParaRPr lang="en-US" dirty="0"/>
          </a:p>
        </p:txBody>
      </p:sp>
    </p:spTree>
    <p:extLst>
      <p:ext uri="{BB962C8B-B14F-4D97-AF65-F5344CB8AC3E}">
        <p14:creationId xmlns:p14="http://schemas.microsoft.com/office/powerpoint/2010/main" val="12101945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46</a:t>
            </a:fld>
            <a:endParaRPr lang="en-US" dirty="0"/>
          </a:p>
        </p:txBody>
      </p:sp>
    </p:spTree>
    <p:extLst>
      <p:ext uri="{BB962C8B-B14F-4D97-AF65-F5344CB8AC3E}">
        <p14:creationId xmlns:p14="http://schemas.microsoft.com/office/powerpoint/2010/main" val="16652346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47</a:t>
            </a:fld>
            <a:endParaRPr lang="en-US" dirty="0"/>
          </a:p>
        </p:txBody>
      </p:sp>
    </p:spTree>
    <p:extLst>
      <p:ext uri="{BB962C8B-B14F-4D97-AF65-F5344CB8AC3E}">
        <p14:creationId xmlns:p14="http://schemas.microsoft.com/office/powerpoint/2010/main" val="7570945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49</a:t>
            </a:fld>
            <a:endParaRPr lang="en-US" dirty="0"/>
          </a:p>
        </p:txBody>
      </p:sp>
    </p:spTree>
    <p:extLst>
      <p:ext uri="{BB962C8B-B14F-4D97-AF65-F5344CB8AC3E}">
        <p14:creationId xmlns:p14="http://schemas.microsoft.com/office/powerpoint/2010/main" val="5724319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51</a:t>
            </a:fld>
            <a:endParaRPr lang="en-US" dirty="0"/>
          </a:p>
        </p:txBody>
      </p:sp>
    </p:spTree>
    <p:extLst>
      <p:ext uri="{BB962C8B-B14F-4D97-AF65-F5344CB8AC3E}">
        <p14:creationId xmlns:p14="http://schemas.microsoft.com/office/powerpoint/2010/main" val="21603628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54</a:t>
            </a:fld>
            <a:endParaRPr lang="en-US" dirty="0"/>
          </a:p>
        </p:txBody>
      </p:sp>
    </p:spTree>
    <p:extLst>
      <p:ext uri="{BB962C8B-B14F-4D97-AF65-F5344CB8AC3E}">
        <p14:creationId xmlns:p14="http://schemas.microsoft.com/office/powerpoint/2010/main" val="41351221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55</a:t>
            </a:fld>
            <a:endParaRPr lang="en-US" dirty="0"/>
          </a:p>
        </p:txBody>
      </p:sp>
    </p:spTree>
    <p:extLst>
      <p:ext uri="{BB962C8B-B14F-4D97-AF65-F5344CB8AC3E}">
        <p14:creationId xmlns:p14="http://schemas.microsoft.com/office/powerpoint/2010/main" val="1793596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57</a:t>
            </a:fld>
            <a:endParaRPr lang="en-US" dirty="0"/>
          </a:p>
        </p:txBody>
      </p:sp>
    </p:spTree>
    <p:extLst>
      <p:ext uri="{BB962C8B-B14F-4D97-AF65-F5344CB8AC3E}">
        <p14:creationId xmlns:p14="http://schemas.microsoft.com/office/powerpoint/2010/main" val="41320038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58</a:t>
            </a:fld>
            <a:endParaRPr lang="en-US" dirty="0"/>
          </a:p>
        </p:txBody>
      </p:sp>
    </p:spTree>
    <p:extLst>
      <p:ext uri="{BB962C8B-B14F-4D97-AF65-F5344CB8AC3E}">
        <p14:creationId xmlns:p14="http://schemas.microsoft.com/office/powerpoint/2010/main" val="21271033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59</a:t>
            </a:fld>
            <a:endParaRPr lang="en-US" dirty="0"/>
          </a:p>
        </p:txBody>
      </p:sp>
    </p:spTree>
    <p:extLst>
      <p:ext uri="{BB962C8B-B14F-4D97-AF65-F5344CB8AC3E}">
        <p14:creationId xmlns:p14="http://schemas.microsoft.com/office/powerpoint/2010/main" val="19274949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60</a:t>
            </a:fld>
            <a:endParaRPr lang="en-US" dirty="0"/>
          </a:p>
        </p:txBody>
      </p:sp>
    </p:spTree>
    <p:extLst>
      <p:ext uri="{BB962C8B-B14F-4D97-AF65-F5344CB8AC3E}">
        <p14:creationId xmlns:p14="http://schemas.microsoft.com/office/powerpoint/2010/main" val="19688149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61</a:t>
            </a:fld>
            <a:endParaRPr lang="en-US" dirty="0"/>
          </a:p>
        </p:txBody>
      </p:sp>
    </p:spTree>
    <p:extLst>
      <p:ext uri="{BB962C8B-B14F-4D97-AF65-F5344CB8AC3E}">
        <p14:creationId xmlns:p14="http://schemas.microsoft.com/office/powerpoint/2010/main" val="8902929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66</a:t>
            </a:fld>
            <a:endParaRPr lang="en-US" dirty="0"/>
          </a:p>
        </p:txBody>
      </p:sp>
    </p:spTree>
    <p:extLst>
      <p:ext uri="{BB962C8B-B14F-4D97-AF65-F5344CB8AC3E}">
        <p14:creationId xmlns:p14="http://schemas.microsoft.com/office/powerpoint/2010/main" val="35333062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91</a:t>
            </a:fld>
            <a:endParaRPr lang="en-US" dirty="0"/>
          </a:p>
        </p:txBody>
      </p:sp>
    </p:spTree>
    <p:extLst>
      <p:ext uri="{BB962C8B-B14F-4D97-AF65-F5344CB8AC3E}">
        <p14:creationId xmlns:p14="http://schemas.microsoft.com/office/powerpoint/2010/main" val="30637506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92</a:t>
            </a:fld>
            <a:endParaRPr lang="en-US" dirty="0"/>
          </a:p>
        </p:txBody>
      </p:sp>
    </p:spTree>
    <p:extLst>
      <p:ext uri="{BB962C8B-B14F-4D97-AF65-F5344CB8AC3E}">
        <p14:creationId xmlns:p14="http://schemas.microsoft.com/office/powerpoint/2010/main" val="1492719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endParaRPr lang="en-US" dirty="0"/>
          </a:p>
        </p:txBody>
      </p:sp>
      <p:sp>
        <p:nvSpPr>
          <p:cNvPr id="17" name="Footer Placeholder 16"/>
          <p:cNvSpPr>
            <a:spLocks noGrp="1"/>
          </p:cNvSpPr>
          <p:nvPr>
            <p:ph type="ftr" sz="quarter" idx="11"/>
          </p:nvPr>
        </p:nvSpPr>
        <p:spPr>
          <a:xfrm>
            <a:off x="5410200" y="4205288"/>
            <a:ext cx="1295400" cy="457200"/>
          </a:xfrm>
        </p:spPr>
        <p:txBody>
          <a:bodyPr/>
          <a:lstStyle/>
          <a:p>
            <a:endParaRPr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46362D7A-38B9-4A1C-91CB-FE05FBDF5B7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F55C829-AE99-4997-8EBC-414F558758A8}"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8D8CC6B-B086-4019-9A6B-1D7874CBC23A}"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10445ED-F1CB-4A7A-8277-EC641C97637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endParaRPr lang="en-US" dirty="0"/>
          </a:p>
        </p:txBody>
      </p:sp>
      <p:sp>
        <p:nvSpPr>
          <p:cNvPr id="27" name="Slide Number Placeholder 26"/>
          <p:cNvSpPr>
            <a:spLocks noGrp="1"/>
          </p:cNvSpPr>
          <p:nvPr>
            <p:ph type="sldNum" sz="quarter" idx="11"/>
          </p:nvPr>
        </p:nvSpPr>
        <p:spPr/>
        <p:txBody>
          <a:bodyPr rtlCol="0"/>
          <a:lstStyle/>
          <a:p>
            <a:fld id="{7B49CB95-5005-4683-9F27-FD9CEC8C2E9C}" type="slidenum">
              <a:rPr lang="en-US" smtClean="0"/>
              <a:pPr/>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endParaRPr lang="en-US" dirty="0"/>
          </a:p>
        </p:txBody>
      </p:sp>
      <p:sp>
        <p:nvSpPr>
          <p:cNvPr id="4" name="Footer Placeholder 3"/>
          <p:cNvSpPr>
            <a:spLocks noGrp="1"/>
          </p:cNvSpPr>
          <p:nvPr>
            <p:ph type="ftr" sz="quarter" idx="11"/>
          </p:nvPr>
        </p:nvSpPr>
        <p:spPr>
          <a:xfrm>
            <a:off x="5257800" y="612648"/>
            <a:ext cx="1325880" cy="457200"/>
          </a:xfrm>
        </p:spPr>
        <p:txBody>
          <a:bodyPr/>
          <a:lstStyle/>
          <a:p>
            <a:endParaRPr lang="en-US" dirty="0"/>
          </a:p>
        </p:txBody>
      </p:sp>
      <p:sp>
        <p:nvSpPr>
          <p:cNvPr id="5" name="Slide Number Placeholder 4"/>
          <p:cNvSpPr>
            <a:spLocks noGrp="1"/>
          </p:cNvSpPr>
          <p:nvPr>
            <p:ph type="sldNum" sz="quarter" idx="12"/>
          </p:nvPr>
        </p:nvSpPr>
        <p:spPr>
          <a:xfrm>
            <a:off x="8174736" y="2272"/>
            <a:ext cx="762000" cy="365760"/>
          </a:xfrm>
        </p:spPr>
        <p:txBody>
          <a:bodyPr/>
          <a:lstStyle/>
          <a:p>
            <a:fld id="{D22F2FA5-0ECD-45FB-ADFF-50B964F62A79}"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1A792C1-97CB-47CE-8811-7FD9D72F6C5E}"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C5120ED-67C9-4200-9AE3-E543EF218D0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EAB78E4-0C88-4767-B60F-E55BCFA972E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700A69-AFA5-4606-8E56-05A639C9AE5A}"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17F2A0-B6FE-4181-9E81-15870594AACA}"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endParaRPr lang="en-US" dirty="0"/>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dirty="0"/>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DDB3D3-3028-4451-A3A3-65B85FF8A52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77.xm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609600" y="880533"/>
            <a:ext cx="7947378" cy="5685151"/>
          </a:xfrm>
        </p:spPr>
        <p:txBody>
          <a:bodyPr>
            <a:normAutofit/>
          </a:bodyPr>
          <a:lstStyle/>
          <a:p>
            <a:pPr marL="0" indent="0" algn="ctr">
              <a:buNone/>
            </a:pPr>
            <a:r>
              <a:rPr lang="en-US" sz="4400" dirty="0">
                <a:solidFill>
                  <a:srgbClr val="FF0000"/>
                </a:solidFill>
              </a:rPr>
              <a:t>Module II</a:t>
            </a:r>
            <a:br>
              <a:rPr lang="en-US" sz="4400" dirty="0">
                <a:solidFill>
                  <a:srgbClr val="FF0000"/>
                </a:solidFill>
              </a:rPr>
            </a:br>
            <a:r>
              <a:rPr lang="en-US" sz="4400" dirty="0">
                <a:solidFill>
                  <a:srgbClr val="FF0000"/>
                </a:solidFill>
              </a:rPr>
              <a:t>MAC Sub layer</a:t>
            </a:r>
          </a:p>
          <a:p>
            <a:pPr>
              <a:buNone/>
            </a:pPr>
            <a:endParaRPr lang="en-US" sz="3600" dirty="0"/>
          </a:p>
          <a:p>
            <a:pPr marL="457200" indent="-457200" algn="just"/>
            <a:r>
              <a:rPr lang="en-IN" sz="3200" dirty="0">
                <a:latin typeface="Times New Roman" pitchFamily="18" charset="0"/>
                <a:cs typeface="Times New Roman" pitchFamily="18" charset="0"/>
              </a:rPr>
              <a:t>Medium Access Control (MAC) </a:t>
            </a:r>
            <a:r>
              <a:rPr lang="en-IN" sz="3200" dirty="0" err="1">
                <a:latin typeface="Times New Roman" pitchFamily="18" charset="0"/>
                <a:cs typeface="Times New Roman" pitchFamily="18" charset="0"/>
              </a:rPr>
              <a:t>sublayer</a:t>
            </a:r>
            <a:r>
              <a:rPr lang="en-IN" sz="3200" dirty="0">
                <a:latin typeface="Times New Roman" pitchFamily="18" charset="0"/>
                <a:cs typeface="Times New Roman" pitchFamily="18" charset="0"/>
              </a:rPr>
              <a:t> –Channel allocation problem, Multiple access protocols, </a:t>
            </a:r>
          </a:p>
          <a:p>
            <a:pPr marL="457200" indent="-457200" algn="just"/>
            <a:r>
              <a:rPr lang="en-IN" sz="3200" dirty="0">
                <a:latin typeface="Times New Roman" pitchFamily="18" charset="0"/>
                <a:cs typeface="Times New Roman" pitchFamily="18" charset="0"/>
              </a:rPr>
              <a:t>Ethernet, </a:t>
            </a:r>
          </a:p>
          <a:p>
            <a:pPr marL="457200" indent="-457200" algn="just"/>
            <a:r>
              <a:rPr lang="en-IN" sz="3200" dirty="0">
                <a:latin typeface="Times New Roman" pitchFamily="18" charset="0"/>
                <a:cs typeface="Times New Roman" pitchFamily="18" charset="0"/>
              </a:rPr>
              <a:t>Wireless LANs - 802.11</a:t>
            </a:r>
            <a:r>
              <a:rPr lang="en-IN" sz="3200">
                <a:latin typeface="Times New Roman" pitchFamily="18" charset="0"/>
                <a:cs typeface="Times New Roman" pitchFamily="18" charset="0"/>
              </a:rPr>
              <a:t>, </a:t>
            </a:r>
            <a:endParaRPr lang="en-IN" sz="32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EF55C829-AE99-4997-8EBC-414F558758A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2</a:t>
            </a:fld>
            <a:endParaRPr lang="en-US" dirty="0"/>
          </a:p>
        </p:txBody>
      </p:sp>
      <p:pic>
        <p:nvPicPr>
          <p:cNvPr id="5" name="Picture 4" descr="WhatsApp Image 2023-10-13 at 09.39.14_b304d5db"/>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378075"/>
            <a:ext cx="8686800" cy="2101850"/>
          </a:xfrm>
          <a:prstGeom prst="rect">
            <a:avLst/>
          </a:prstGeom>
          <a:noFill/>
          <a:ln>
            <a:noFill/>
          </a:ln>
        </p:spPr>
      </p:pic>
    </p:spTree>
    <p:extLst>
      <p:ext uri="{BB962C8B-B14F-4D97-AF65-F5344CB8AC3E}">
        <p14:creationId xmlns:p14="http://schemas.microsoft.com/office/powerpoint/2010/main" val="1602580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08459" y="2244870"/>
            <a:ext cx="7772400" cy="1509712"/>
          </a:xfrm>
        </p:spPr>
        <p:txBody>
          <a:bodyPr>
            <a:noAutofit/>
          </a:bodyPr>
          <a:lstStyle/>
          <a:p>
            <a:pPr algn="ctr"/>
            <a:r>
              <a:rPr lang="en-IN" sz="4800" b="1" dirty="0">
                <a:effectLst>
                  <a:outerShdw blurRad="38100" dist="38100" dir="2700000" algn="tl">
                    <a:srgbClr val="000000">
                      <a:alpha val="43137"/>
                    </a:srgbClr>
                  </a:outerShdw>
                </a:effectLst>
                <a:latin typeface="Times New Roman" pitchFamily="18" charset="0"/>
                <a:cs typeface="Times New Roman" pitchFamily="18" charset="0"/>
              </a:rPr>
              <a:t>Medium Access Control (MAC) </a:t>
            </a:r>
            <a:r>
              <a:rPr lang="en-IN" sz="4800" b="1" dirty="0" err="1">
                <a:effectLst>
                  <a:outerShdw blurRad="38100" dist="38100" dir="2700000" algn="tl">
                    <a:srgbClr val="000000">
                      <a:alpha val="43137"/>
                    </a:srgbClr>
                  </a:outerShdw>
                </a:effectLst>
                <a:latin typeface="Times New Roman" pitchFamily="18" charset="0"/>
                <a:cs typeface="Times New Roman" pitchFamily="18" charset="0"/>
              </a:rPr>
              <a:t>sublayer</a:t>
            </a:r>
            <a:endParaRPr lang="en-IN" sz="4400" b="1"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lstStyle/>
          <a:p>
            <a:fld id="{38D8CC6B-B086-4019-9A6B-1D7874CBC23A}" type="slidenum">
              <a:rPr lang="en-US" smtClean="0"/>
              <a:pPr/>
              <a:t>3</a:t>
            </a:fld>
            <a:endParaRPr lang="en-US" dirty="0"/>
          </a:p>
        </p:txBody>
      </p:sp>
    </p:spTree>
    <p:extLst>
      <p:ext uri="{BB962C8B-B14F-4D97-AF65-F5344CB8AC3E}">
        <p14:creationId xmlns:p14="http://schemas.microsoft.com/office/powerpoint/2010/main" val="18657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4</a:t>
            </a:fld>
            <a:endParaRPr lang="en-US" dirty="0"/>
          </a:p>
        </p:txBody>
      </p:sp>
      <p:sp>
        <p:nvSpPr>
          <p:cNvPr id="5" name="Rectangle 3"/>
          <p:cNvSpPr txBox="1">
            <a:spLocks noChangeArrowheads="1"/>
          </p:cNvSpPr>
          <p:nvPr/>
        </p:nvSpPr>
        <p:spPr bwMode="auto">
          <a:xfrm>
            <a:off x="207818" y="710692"/>
            <a:ext cx="8783782"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lvl="0"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MAC (Medium Access Control) Sub layer deals with broadcast networks and their protocols.</a:t>
            </a:r>
          </a:p>
          <a:p>
            <a:pPr marL="609600" lvl="0"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In any broadcast network, the </a:t>
            </a:r>
            <a:r>
              <a:rPr lang="en-US" sz="2600" dirty="0">
                <a:solidFill>
                  <a:srgbClr val="FF0000"/>
                </a:solidFill>
                <a:latin typeface="Times New Roman" pitchFamily="18" charset="0"/>
                <a:cs typeface="Times New Roman" pitchFamily="18" charset="0"/>
              </a:rPr>
              <a:t>key issue </a:t>
            </a:r>
            <a:r>
              <a:rPr lang="en-US" sz="2600" dirty="0">
                <a:latin typeface="Times New Roman" pitchFamily="18" charset="0"/>
                <a:cs typeface="Times New Roman" pitchFamily="18" charset="0"/>
              </a:rPr>
              <a:t>is how to determine who gets to use the channel when there is competition for it.</a:t>
            </a:r>
          </a:p>
          <a:p>
            <a:pPr marL="609600" lvl="0"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Broadcast channels are sometimes referred to as </a:t>
            </a:r>
            <a:r>
              <a:rPr lang="en-US" sz="2600" b="1" dirty="0">
                <a:solidFill>
                  <a:srgbClr val="FF0000"/>
                </a:solidFill>
                <a:latin typeface="Times New Roman" pitchFamily="18" charset="0"/>
                <a:cs typeface="Times New Roman" pitchFamily="18" charset="0"/>
              </a:rPr>
              <a:t>multiaccess channels or random access channels</a:t>
            </a:r>
          </a:p>
          <a:p>
            <a:pPr marL="609600" lvl="0"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The protocols used to determine who goes next on a multiaccess channel belong to a sublayer of the data link layer called the </a:t>
            </a:r>
            <a:r>
              <a:rPr lang="en-US" sz="2600" b="1" dirty="0">
                <a:latin typeface="Times New Roman" pitchFamily="18" charset="0"/>
                <a:cs typeface="Times New Roman" pitchFamily="18" charset="0"/>
              </a:rPr>
              <a:t>MAC (Medium Access Control) sublayer</a:t>
            </a:r>
          </a:p>
          <a:p>
            <a:pPr marL="609600" lvl="0"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MAC sublayer is especially important in </a:t>
            </a:r>
            <a:r>
              <a:rPr lang="en-US" sz="2600" dirty="0">
                <a:solidFill>
                  <a:srgbClr val="FF0000"/>
                </a:solidFill>
                <a:latin typeface="Times New Roman" pitchFamily="18" charset="0"/>
                <a:cs typeface="Times New Roman" pitchFamily="18" charset="0"/>
              </a:rPr>
              <a:t>LANs</a:t>
            </a:r>
          </a:p>
          <a:p>
            <a:pPr marL="609600" lvl="0" indent="-609600" algn="just">
              <a:spcBef>
                <a:spcPct val="20000"/>
              </a:spcBef>
              <a:buClr>
                <a:schemeClr val="accent2"/>
              </a:buClr>
              <a:buFont typeface="Wingdings" pitchFamily="2" charset="2"/>
              <a:buChar char="§"/>
            </a:pPr>
            <a:r>
              <a:rPr lang="en-US" sz="2600" dirty="0">
                <a:solidFill>
                  <a:srgbClr val="FF0000"/>
                </a:solidFill>
                <a:latin typeface="Times New Roman" pitchFamily="18" charset="0"/>
                <a:cs typeface="Times New Roman" pitchFamily="18" charset="0"/>
              </a:rPr>
              <a:t>central theme</a:t>
            </a:r>
            <a:r>
              <a:rPr lang="en-US" sz="2600"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how to allocate a single broadcast channel among competing users</a:t>
            </a:r>
            <a:endParaRPr kumimoji="0" lang="en-US" sz="2600" i="0" u="none" strike="noStrike" kern="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5</a:t>
            </a:fld>
            <a:endParaRPr lang="en-US" dirty="0"/>
          </a:p>
        </p:txBody>
      </p:sp>
      <p:sp>
        <p:nvSpPr>
          <p:cNvPr id="5" name="Rectangle 3"/>
          <p:cNvSpPr txBox="1">
            <a:spLocks noChangeArrowheads="1"/>
          </p:cNvSpPr>
          <p:nvPr/>
        </p:nvSpPr>
        <p:spPr bwMode="auto">
          <a:xfrm>
            <a:off x="0" y="1389128"/>
            <a:ext cx="8922327" cy="506281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lvl="0" indent="-609600" algn="just">
              <a:spcBef>
                <a:spcPct val="20000"/>
              </a:spcBef>
              <a:buClr>
                <a:schemeClr val="accent2"/>
              </a:buClr>
              <a:buFont typeface="Wingdings" pitchFamily="2" charset="2"/>
              <a:buChar char="§"/>
            </a:pPr>
            <a:r>
              <a:rPr lang="en-US" sz="2400" dirty="0">
                <a:solidFill>
                  <a:srgbClr val="FF0000"/>
                </a:solidFill>
                <a:latin typeface="Times New Roman" pitchFamily="18" charset="0"/>
                <a:cs typeface="Times New Roman" pitchFamily="18" charset="0"/>
              </a:rPr>
              <a:t>Two schemes</a:t>
            </a:r>
            <a:r>
              <a:rPr lang="en-US" sz="2400" dirty="0">
                <a:latin typeface="Times New Roman" pitchFamily="18" charset="0"/>
                <a:cs typeface="Times New Roman" pitchFamily="18" charset="0"/>
              </a:rPr>
              <a:t>:</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static and dynamic schemes</a:t>
            </a:r>
          </a:p>
          <a:p>
            <a:pPr marL="609600"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Static Channel Allocation in LANs and MANs</a:t>
            </a:r>
            <a:r>
              <a:rPr lang="en-US" sz="2400"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400" dirty="0">
                <a:solidFill>
                  <a:srgbClr val="FF0000"/>
                </a:solidFill>
                <a:latin typeface="Times New Roman" pitchFamily="18" charset="0"/>
                <a:cs typeface="Times New Roman" pitchFamily="18" charset="0"/>
              </a:rPr>
              <a:t>Traditional way </a:t>
            </a:r>
            <a:r>
              <a:rPr lang="en-US" sz="2400" dirty="0">
                <a:latin typeface="Times New Roman" pitchFamily="18" charset="0"/>
                <a:cs typeface="Times New Roman" pitchFamily="18" charset="0"/>
              </a:rPr>
              <a:t>of allocating a single channel, such as a telephone trunk, among multiple competing users is </a:t>
            </a:r>
            <a:r>
              <a:rPr lang="en-US" sz="2400" dirty="0">
                <a:solidFill>
                  <a:srgbClr val="FF0000"/>
                </a:solidFill>
                <a:latin typeface="Times New Roman" pitchFamily="18" charset="0"/>
                <a:cs typeface="Times New Roman" pitchFamily="18" charset="0"/>
              </a:rPr>
              <a:t>Frequency Division Multiplexing (FDM).</a:t>
            </a:r>
            <a:r>
              <a:rPr lang="en-US" sz="2400"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there are N users, the bandwidth is divided into N equal-sized portions, each user being assigned one portion.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Since each user has a private frequency band, there is no interference between users.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When there is only a small and constant number of users, each of which has a heavy (buffered) load of traffic, FDM is a simple and efficient allocation mechanism </a:t>
            </a:r>
            <a:endParaRPr kumimoji="0" lang="en-US" sz="2400" strike="noStrike" kern="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3" name="Rectangle 2"/>
          <p:cNvSpPr/>
          <p:nvPr/>
        </p:nvSpPr>
        <p:spPr>
          <a:xfrm>
            <a:off x="381071" y="681243"/>
            <a:ext cx="8541256" cy="707886"/>
          </a:xfrm>
          <a:prstGeom prst="rect">
            <a:avLst/>
          </a:prstGeom>
        </p:spPr>
        <p:txBody>
          <a:bodyPr wrap="square">
            <a:spAutoFit/>
          </a:bodyPr>
          <a:lstStyle/>
          <a:p>
            <a:pPr algn="l"/>
            <a:r>
              <a:rPr lang="en-IN" sz="4000" u="sng" dirty="0">
                <a:latin typeface="Times New Roman" pitchFamily="18" charset="0"/>
                <a:cs typeface="Times New Roman" pitchFamily="18" charset="0"/>
              </a:rPr>
              <a:t>Channel Allocation Problem</a:t>
            </a:r>
            <a:endParaRPr lang="en-IN" sz="4000" u="sn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6</a:t>
            </a:fld>
            <a:endParaRPr lang="en-US" dirty="0"/>
          </a:p>
        </p:txBody>
      </p:sp>
      <p:sp>
        <p:nvSpPr>
          <p:cNvPr id="5" name="Rectangle 3"/>
          <p:cNvSpPr txBox="1">
            <a:spLocks noChangeArrowheads="1"/>
          </p:cNvSpPr>
          <p:nvPr/>
        </p:nvSpPr>
        <p:spPr bwMode="auto">
          <a:xfrm>
            <a:off x="-318654" y="473246"/>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lvl="0" indent="-609600" algn="just">
              <a:spcBef>
                <a:spcPct val="20000"/>
              </a:spcBef>
              <a:buClr>
                <a:schemeClr val="accent2"/>
              </a:buClr>
              <a:buFont typeface="Wingdings" pitchFamily="2" charset="2"/>
              <a:buChar char="§"/>
            </a:pPr>
            <a:r>
              <a:rPr lang="en-US" sz="2600" u="sng" dirty="0">
                <a:latin typeface="Times New Roman" pitchFamily="18" charset="0"/>
                <a:cs typeface="Times New Roman" pitchFamily="18" charset="0"/>
              </a:rPr>
              <a:t>Problem with FDM:</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When the number of senders is large and continuously varying or the traffic is </a:t>
            </a:r>
            <a:r>
              <a:rPr lang="en-US" sz="2600" dirty="0" err="1">
                <a:latin typeface="Times New Roman" pitchFamily="18" charset="0"/>
                <a:cs typeface="Times New Roman" pitchFamily="18" charset="0"/>
              </a:rPr>
              <a:t>bursty</a:t>
            </a:r>
            <a:r>
              <a:rPr lang="en-US" sz="2600" dirty="0">
                <a:latin typeface="Times New Roman" pitchFamily="18" charset="0"/>
                <a:cs typeface="Times New Roman" pitchFamily="18" charset="0"/>
              </a:rPr>
              <a:t>, FDM presents some problems.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If the spectrum is cut up into N regions and fewer than N users are currently interested in communicating, a large piece of valuable spectrum will be wasted.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If more than N users want to communicate, some of them will be denied permission for lack of bandwidth,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even if some of the users who have been assigned a frequency band hardly ever transmit or receive anything</a:t>
            </a:r>
          </a:p>
          <a:p>
            <a:pPr marL="1066800" lvl="1" indent="-609600" algn="just">
              <a:spcBef>
                <a:spcPct val="20000"/>
              </a:spcBef>
              <a:buClr>
                <a:schemeClr val="accent2"/>
              </a:buClr>
              <a:buFont typeface="Wingdings" pitchFamily="2" charset="2"/>
              <a:buChar char="§"/>
            </a:pPr>
            <a:r>
              <a:rPr kumimoji="0" lang="en-US" sz="2600" strike="noStrike" kern="0" cap="none" spc="0" normalizeH="0" baseline="0" noProof="0" dirty="0">
                <a:ln>
                  <a:noFill/>
                </a:ln>
                <a:solidFill>
                  <a:schemeClr val="tx1"/>
                </a:solidFill>
                <a:effectLst/>
                <a:uLnTx/>
                <a:uFillTx/>
                <a:latin typeface="Times New Roman" pitchFamily="18" charset="0"/>
                <a:cs typeface="Times New Roman" pitchFamily="18" charset="0"/>
              </a:rPr>
              <a:t>Same problem</a:t>
            </a:r>
            <a:r>
              <a:rPr kumimoji="0" lang="en-US" sz="2600" strike="noStrike" kern="0" cap="none" spc="0" normalizeH="0" noProof="0" dirty="0">
                <a:ln>
                  <a:noFill/>
                </a:ln>
                <a:solidFill>
                  <a:schemeClr val="tx1"/>
                </a:solidFill>
                <a:effectLst/>
                <a:uLnTx/>
                <a:uFillTx/>
                <a:latin typeface="Times New Roman" pitchFamily="18" charset="0"/>
                <a:cs typeface="Times New Roman" pitchFamily="18" charset="0"/>
              </a:rPr>
              <a:t> </a:t>
            </a:r>
            <a:r>
              <a:rPr lang="en-US" sz="2600" dirty="0">
                <a:latin typeface="Times New Roman" pitchFamily="18" charset="0"/>
                <a:cs typeface="Times New Roman" pitchFamily="18" charset="0"/>
              </a:rPr>
              <a:t>apply to time division multiplexing (TDM).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Where each user is statically allocated every Nth time slot.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If a user does not use the allocated slot, it just lies idle. </a:t>
            </a:r>
            <a:endParaRPr kumimoji="0" lang="en-US" sz="2600" strike="noStrike" kern="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781" y="408709"/>
            <a:ext cx="8229600" cy="1066800"/>
          </a:xfrm>
        </p:spPr>
        <p:txBody>
          <a:bodyPr>
            <a:normAutofit/>
          </a:bodyPr>
          <a:lstStyle/>
          <a:p>
            <a:r>
              <a:rPr lang="en-IN" sz="3200" b="1" u="sng" dirty="0"/>
              <a:t>Dynamic Channel Allocation</a:t>
            </a:r>
            <a:endParaRPr lang="en-IN" sz="3200" u="sng" dirty="0"/>
          </a:p>
        </p:txBody>
      </p:sp>
      <p:sp>
        <p:nvSpPr>
          <p:cNvPr id="3" name="Content Placeholder 2"/>
          <p:cNvSpPr>
            <a:spLocks noGrp="1"/>
          </p:cNvSpPr>
          <p:nvPr>
            <p:ph idx="1"/>
          </p:nvPr>
        </p:nvSpPr>
        <p:spPr>
          <a:xfrm>
            <a:off x="304799" y="1399308"/>
            <a:ext cx="8562109" cy="5708072"/>
          </a:xfrm>
        </p:spPr>
        <p:txBody>
          <a:bodyPr>
            <a:normAutofit fontScale="92500" lnSpcReduction="10000"/>
          </a:bodyPr>
          <a:lstStyle/>
          <a:p>
            <a:pPr marL="109728" indent="0" algn="just">
              <a:buNone/>
            </a:pPr>
            <a:r>
              <a:rPr lang="en-IN" sz="3000" u="sng" dirty="0">
                <a:solidFill>
                  <a:srgbClr val="FF0000"/>
                </a:solidFill>
              </a:rPr>
              <a:t>Based on 5 key assumptions:</a:t>
            </a:r>
          </a:p>
          <a:p>
            <a:pPr marL="109728" indent="0" algn="just">
              <a:buNone/>
            </a:pPr>
            <a:r>
              <a:rPr lang="en-IN" u="sng" dirty="0"/>
              <a:t>1. </a:t>
            </a:r>
            <a:r>
              <a:rPr lang="en-IN" b="1" u="sng" dirty="0"/>
              <a:t>Independent Traffic</a:t>
            </a:r>
            <a:r>
              <a:rPr lang="en-IN" u="sng" dirty="0"/>
              <a:t>. </a:t>
            </a:r>
          </a:p>
          <a:p>
            <a:pPr lvl="1" algn="just">
              <a:buFont typeface="Wingdings" pitchFamily="2" charset="2"/>
              <a:buChar char="ü"/>
            </a:pPr>
            <a:r>
              <a:rPr lang="en-IN" dirty="0"/>
              <a:t>The model consists of </a:t>
            </a:r>
            <a:r>
              <a:rPr lang="en-IN" i="1" dirty="0"/>
              <a:t>N </a:t>
            </a:r>
            <a:r>
              <a:rPr lang="en-IN" dirty="0"/>
              <a:t>independent </a:t>
            </a:r>
            <a:r>
              <a:rPr lang="en-IN" b="1" dirty="0"/>
              <a:t>stations </a:t>
            </a:r>
            <a:r>
              <a:rPr lang="en-IN" dirty="0"/>
              <a:t>(e.g., computers, telephones), each with a program or user that generates frames for transmission. </a:t>
            </a:r>
          </a:p>
          <a:p>
            <a:pPr lvl="1" algn="just">
              <a:buFont typeface="Wingdings" pitchFamily="2" charset="2"/>
              <a:buChar char="ü"/>
            </a:pPr>
            <a:r>
              <a:rPr lang="en-IN" dirty="0"/>
              <a:t>The expected number of frames generated in an interval of length </a:t>
            </a:r>
            <a:r>
              <a:rPr lang="en-IN" dirty="0" err="1"/>
              <a:t>Δ</a:t>
            </a:r>
            <a:r>
              <a:rPr lang="en-IN" i="1" dirty="0" err="1"/>
              <a:t>t</a:t>
            </a:r>
            <a:r>
              <a:rPr lang="en-IN" i="1" dirty="0"/>
              <a:t> </a:t>
            </a:r>
            <a:r>
              <a:rPr lang="en-IN" dirty="0"/>
              <a:t>is </a:t>
            </a:r>
            <a:r>
              <a:rPr lang="en-IN" dirty="0" err="1"/>
              <a:t>λΔ</a:t>
            </a:r>
            <a:r>
              <a:rPr lang="en-IN" i="1" dirty="0" err="1"/>
              <a:t>t</a:t>
            </a:r>
            <a:r>
              <a:rPr lang="en-IN" dirty="0"/>
              <a:t>, where λ is a constant. </a:t>
            </a:r>
          </a:p>
          <a:p>
            <a:pPr lvl="1" algn="just">
              <a:buFont typeface="Wingdings" pitchFamily="2" charset="2"/>
              <a:buChar char="ü"/>
            </a:pPr>
            <a:r>
              <a:rPr lang="en-IN" dirty="0"/>
              <a:t>Once a frame has been generated, the station is blocked and does nothing until the frame has been successfully transmitted.</a:t>
            </a:r>
          </a:p>
          <a:p>
            <a:pPr marL="109728" indent="0" algn="just">
              <a:buNone/>
            </a:pPr>
            <a:r>
              <a:rPr lang="en-IN" u="sng" dirty="0"/>
              <a:t>2. </a:t>
            </a:r>
            <a:r>
              <a:rPr lang="en-IN" b="1" u="sng" dirty="0"/>
              <a:t>Single Channel</a:t>
            </a:r>
            <a:r>
              <a:rPr lang="en-IN" dirty="0"/>
              <a:t>.</a:t>
            </a:r>
          </a:p>
          <a:p>
            <a:pPr lvl="1" algn="just">
              <a:buFont typeface="Wingdings" pitchFamily="2" charset="2"/>
              <a:buChar char="ü"/>
            </a:pPr>
            <a:r>
              <a:rPr lang="en-IN" dirty="0"/>
              <a:t> A single channel is available for all communication.</a:t>
            </a:r>
          </a:p>
          <a:p>
            <a:pPr lvl="1" algn="just">
              <a:buFont typeface="Wingdings" pitchFamily="2" charset="2"/>
              <a:buChar char="ü"/>
            </a:pPr>
            <a:r>
              <a:rPr lang="en-IN" dirty="0"/>
              <a:t>All stations can transmit on it and all can receive from it. </a:t>
            </a:r>
          </a:p>
          <a:p>
            <a:pPr lvl="1" algn="just">
              <a:buFont typeface="Wingdings" pitchFamily="2" charset="2"/>
              <a:buChar char="ü"/>
            </a:pPr>
            <a:r>
              <a:rPr lang="en-IN" dirty="0"/>
              <a:t>The stations are assumed to be equally capable, though protocols may assign them different roles.</a:t>
            </a:r>
            <a:endParaRPr lang="en-IN" b="1"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7</a:t>
            </a:fld>
            <a:endParaRPr lang="en-US" dirty="0"/>
          </a:p>
        </p:txBody>
      </p:sp>
    </p:spTree>
    <p:extLst>
      <p:ext uri="{BB962C8B-B14F-4D97-AF65-F5344CB8AC3E}">
        <p14:creationId xmlns:p14="http://schemas.microsoft.com/office/powerpoint/2010/main" val="3403858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98764"/>
            <a:ext cx="9144000" cy="5978791"/>
          </a:xfrm>
        </p:spPr>
        <p:txBody>
          <a:bodyPr>
            <a:noAutofit/>
          </a:bodyPr>
          <a:lstStyle/>
          <a:p>
            <a:pPr marL="109728" indent="0">
              <a:buNone/>
            </a:pPr>
            <a:r>
              <a:rPr lang="en-IN" sz="2200" b="1" u="sng" dirty="0"/>
              <a:t>3. Observable Collisions</a:t>
            </a:r>
            <a:r>
              <a:rPr lang="en-IN" sz="2200" u="sng" dirty="0"/>
              <a:t>. </a:t>
            </a:r>
          </a:p>
          <a:p>
            <a:pPr lvl="1">
              <a:buFont typeface="Wingdings" pitchFamily="2" charset="2"/>
              <a:buChar char="ü"/>
            </a:pPr>
            <a:r>
              <a:rPr lang="en-IN" sz="2200" dirty="0"/>
              <a:t>If two frames are transmitted simultaneously, they overlap in time and the resulting signal is garbled. This event is called a </a:t>
            </a:r>
            <a:r>
              <a:rPr lang="en-IN" sz="2200" b="1" dirty="0"/>
              <a:t>collision</a:t>
            </a:r>
            <a:r>
              <a:rPr lang="en-IN" sz="2200" dirty="0"/>
              <a:t>. </a:t>
            </a:r>
          </a:p>
          <a:p>
            <a:pPr lvl="1">
              <a:buFont typeface="Wingdings" pitchFamily="2" charset="2"/>
              <a:buChar char="ü"/>
            </a:pPr>
            <a:r>
              <a:rPr lang="en-IN" sz="2200" dirty="0"/>
              <a:t>All stations can detect that a collision has occurred. A collided frame must be transmitted again later. </a:t>
            </a:r>
          </a:p>
          <a:p>
            <a:pPr marL="109728" indent="0">
              <a:buNone/>
            </a:pPr>
            <a:r>
              <a:rPr lang="en-IN" sz="2200" dirty="0"/>
              <a:t>4. </a:t>
            </a:r>
            <a:r>
              <a:rPr lang="en-IN" sz="2200" b="1" u="sng" dirty="0"/>
              <a:t>Continuous or Slotted Time</a:t>
            </a:r>
            <a:r>
              <a:rPr lang="en-IN" sz="2200" dirty="0"/>
              <a:t>. </a:t>
            </a:r>
          </a:p>
          <a:p>
            <a:pPr lvl="1">
              <a:buFont typeface="Wingdings" pitchFamily="2" charset="2"/>
              <a:buChar char="ü"/>
            </a:pPr>
            <a:r>
              <a:rPr lang="en-IN" sz="2200" dirty="0"/>
              <a:t>Time may be assumed continuous, in which case frame transmission can begin at any instant. </a:t>
            </a:r>
          </a:p>
          <a:p>
            <a:pPr lvl="1">
              <a:buFont typeface="Wingdings" pitchFamily="2" charset="2"/>
              <a:buChar char="ü"/>
            </a:pPr>
            <a:r>
              <a:rPr lang="en-IN" sz="2200" dirty="0"/>
              <a:t>Alternatively, time may be slotted or divided into discrete intervals called slots. </a:t>
            </a:r>
          </a:p>
          <a:p>
            <a:pPr lvl="1">
              <a:buFont typeface="Wingdings" pitchFamily="2" charset="2"/>
              <a:buChar char="ü"/>
            </a:pPr>
            <a:r>
              <a:rPr lang="en-IN" sz="2200" dirty="0"/>
              <a:t>Frame transmissions must then begin at the start of a slot. </a:t>
            </a:r>
          </a:p>
          <a:p>
            <a:pPr marL="109728" indent="0">
              <a:buNone/>
            </a:pPr>
            <a:r>
              <a:rPr lang="en-IN" sz="2200" u="sng" dirty="0"/>
              <a:t>5. </a:t>
            </a:r>
            <a:r>
              <a:rPr lang="en-IN" sz="2200" b="1" u="sng" dirty="0"/>
              <a:t>Carrier Sense or No Carrier Sense</a:t>
            </a:r>
            <a:r>
              <a:rPr lang="en-IN" sz="2200" dirty="0"/>
              <a:t>. </a:t>
            </a:r>
          </a:p>
          <a:p>
            <a:pPr lvl="1">
              <a:buFont typeface="Wingdings" pitchFamily="2" charset="2"/>
              <a:buChar char="ü"/>
            </a:pPr>
            <a:r>
              <a:rPr lang="en-IN" sz="2200" dirty="0"/>
              <a:t>With the carrier sense assumption, stations can tell if the channel is in use before trying to use it. No station will attempt to use the channel while it is sensed as busy. </a:t>
            </a:r>
          </a:p>
          <a:p>
            <a:pPr lvl="1">
              <a:buFont typeface="Wingdings" pitchFamily="2" charset="2"/>
              <a:buChar char="ü"/>
            </a:pPr>
            <a:r>
              <a:rPr lang="en-IN" sz="2200" dirty="0"/>
              <a:t>If there is no carrier sense, stations cannot sense the channel before trying to use it. They just go ahead and transmit.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a:t>
            </a:fld>
            <a:endParaRPr lang="en-US" dirty="0"/>
          </a:p>
        </p:txBody>
      </p:sp>
    </p:spTree>
    <p:extLst>
      <p:ext uri="{BB962C8B-B14F-4D97-AF65-F5344CB8AC3E}">
        <p14:creationId xmlns:p14="http://schemas.microsoft.com/office/powerpoint/2010/main" val="3982898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9</a:t>
            </a:fld>
            <a:endParaRPr lang="en-US" dirty="0"/>
          </a:p>
        </p:txBody>
      </p:sp>
      <p:sp>
        <p:nvSpPr>
          <p:cNvPr id="5" name="Rectangle 3"/>
          <p:cNvSpPr txBox="1">
            <a:spLocks noChangeArrowheads="1"/>
          </p:cNvSpPr>
          <p:nvPr/>
        </p:nvSpPr>
        <p:spPr bwMode="auto">
          <a:xfrm>
            <a:off x="0" y="1191492"/>
            <a:ext cx="9005455" cy="54091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1" algn="just">
              <a:spcBef>
                <a:spcPct val="20000"/>
              </a:spcBef>
              <a:buClr>
                <a:schemeClr val="accent2"/>
              </a:buClr>
            </a:pPr>
            <a:r>
              <a:rPr lang="en-US" sz="2600" u="sng" dirty="0">
                <a:solidFill>
                  <a:srgbClr val="FF0000"/>
                </a:solidFill>
                <a:latin typeface="Times New Roman" pitchFamily="18" charset="0"/>
                <a:cs typeface="Times New Roman" pitchFamily="18" charset="0"/>
              </a:rPr>
              <a:t>Many algorithms for allocating a multiple access channel</a:t>
            </a:r>
          </a:p>
          <a:p>
            <a:pPr lvl="2" algn="just">
              <a:spcBef>
                <a:spcPct val="20000"/>
              </a:spcBef>
              <a:buClr>
                <a:schemeClr val="accent2"/>
              </a:buClr>
            </a:pPr>
            <a:r>
              <a:rPr lang="en-US" sz="2400" b="1" u="sng" dirty="0">
                <a:latin typeface="Times New Roman" pitchFamily="18" charset="0"/>
                <a:cs typeface="Times New Roman" pitchFamily="18" charset="0"/>
              </a:rPr>
              <a:t>ALOHA</a:t>
            </a:r>
          </a:p>
          <a:p>
            <a:pPr marL="1981200" lvl="3"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Basic idea is applicable to any system in which uncoordinated users are competing for the use of a single shared channel </a:t>
            </a:r>
          </a:p>
          <a:p>
            <a:pPr marL="1981200" lvl="3"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used ground-based radio broadcasting </a:t>
            </a:r>
          </a:p>
          <a:p>
            <a:pPr marL="1981200" lvl="3"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two versions of ALOHA : pure and slotted. </a:t>
            </a:r>
          </a:p>
          <a:p>
            <a:pPr marL="2438400" lvl="4"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They differ with respect to whether time is divided into discrete slots into which all frames must fit. </a:t>
            </a:r>
          </a:p>
          <a:p>
            <a:pPr marL="2438400" lvl="4"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Pure ALOHA does not require global time synchronization; </a:t>
            </a:r>
          </a:p>
          <a:p>
            <a:pPr marL="2438400" lvl="4"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slotted ALOHA does.</a:t>
            </a:r>
          </a:p>
        </p:txBody>
      </p:sp>
      <p:sp>
        <p:nvSpPr>
          <p:cNvPr id="2" name="Title 1"/>
          <p:cNvSpPr>
            <a:spLocks noGrp="1"/>
          </p:cNvSpPr>
          <p:nvPr>
            <p:ph type="title"/>
          </p:nvPr>
        </p:nvSpPr>
        <p:spPr>
          <a:xfrm>
            <a:off x="346364" y="477981"/>
            <a:ext cx="8229600" cy="824346"/>
          </a:xfrm>
        </p:spPr>
        <p:txBody>
          <a:bodyPr>
            <a:normAutofit/>
          </a:bodyPr>
          <a:lstStyle/>
          <a:p>
            <a:r>
              <a:rPr lang="en-IN" sz="3600" b="1" u="sng" dirty="0"/>
              <a:t>MULTIPLE ACCESS PROTOCOLS</a:t>
            </a:r>
            <a:endParaRPr lang="en-IN"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10</a:t>
            </a:fld>
            <a:endParaRPr lang="en-US" dirty="0"/>
          </a:p>
        </p:txBody>
      </p:sp>
      <p:sp>
        <p:nvSpPr>
          <p:cNvPr id="5" name="Rectangle 3"/>
          <p:cNvSpPr txBox="1">
            <a:spLocks noChangeArrowheads="1"/>
          </p:cNvSpPr>
          <p:nvPr/>
        </p:nvSpPr>
        <p:spPr bwMode="auto">
          <a:xfrm>
            <a:off x="0" y="710692"/>
            <a:ext cx="8908473"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b="1" u="sng" dirty="0">
                <a:solidFill>
                  <a:srgbClr val="FF0000"/>
                </a:solidFill>
                <a:latin typeface="Times New Roman" pitchFamily="18" charset="0"/>
                <a:cs typeface="Times New Roman" pitchFamily="18" charset="0"/>
              </a:rPr>
              <a:t>Pure ALOHA</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Let </a:t>
            </a:r>
            <a:r>
              <a:rPr lang="en-US" sz="2400" dirty="0">
                <a:solidFill>
                  <a:srgbClr val="FF0000"/>
                </a:solidFill>
                <a:latin typeface="Times New Roman" pitchFamily="18" charset="0"/>
                <a:cs typeface="Times New Roman" pitchFamily="18" charset="0"/>
              </a:rPr>
              <a:t>users transmit whenever they have data to be sent</a:t>
            </a:r>
            <a:r>
              <a:rPr lang="en-US" sz="2400"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There will be collisions and the colliding frames will be damaged.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However, due to the feedback property of broadcasting, a sender can always find out whether its frame was destroyed by listening to the channel</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With a LAN, the feedback is immediate;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with a satellite, there is a delay of 270 </a:t>
            </a:r>
            <a:r>
              <a:rPr lang="en-US" sz="2400" dirty="0" err="1">
                <a:latin typeface="Times New Roman" pitchFamily="18" charset="0"/>
                <a:cs typeface="Times New Roman" pitchFamily="18" charset="0"/>
              </a:rPr>
              <a:t>msec</a:t>
            </a:r>
            <a:r>
              <a:rPr lang="en-US" sz="2400" dirty="0">
                <a:latin typeface="Times New Roman" pitchFamily="18" charset="0"/>
                <a:cs typeface="Times New Roman" pitchFamily="18" charset="0"/>
              </a:rPr>
              <a:t> before the sender knows if the transmission was successful.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listening while transmitting is not possible for some reason, acknowledgements are needed.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11</a:t>
            </a:fld>
            <a:endParaRPr lang="en-US" dirty="0"/>
          </a:p>
        </p:txBody>
      </p:sp>
      <p:sp>
        <p:nvSpPr>
          <p:cNvPr id="5" name="Rectangle 3"/>
          <p:cNvSpPr txBox="1">
            <a:spLocks noChangeArrowheads="1"/>
          </p:cNvSpPr>
          <p:nvPr/>
        </p:nvSpPr>
        <p:spPr bwMode="auto">
          <a:xfrm>
            <a:off x="0" y="710692"/>
            <a:ext cx="8963891"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u="sng" dirty="0">
                <a:latin typeface="Times New Roman" pitchFamily="18" charset="0"/>
                <a:cs typeface="Times New Roman" pitchFamily="18" charset="0"/>
              </a:rPr>
              <a:t>If the frame was destroyed, the sender just waits a random amount of time and sends it again</a:t>
            </a:r>
            <a:r>
              <a:rPr lang="en-US" sz="2400"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The waiting time must be random or the same frames will collide over and over</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Systems in which multiple users share a common channel in a way that can lead to conflicts are widely known as </a:t>
            </a:r>
            <a:r>
              <a:rPr lang="en-US" sz="2400" b="1" dirty="0">
                <a:latin typeface="Times New Roman" pitchFamily="18" charset="0"/>
                <a:cs typeface="Times New Roman" pitchFamily="18" charset="0"/>
              </a:rPr>
              <a:t>contention systems</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Whenever two frames try to occupy the channel at the same time, there will be a collision and both will be garbled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Collisions can be detected by looking at the power or pulse width of the received signal and comparing it to the transmitted signal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Experimental results shows a channel utilization of 18 percent only.</a:t>
            </a:r>
            <a:endParaRPr kumimoji="0" lang="en-US" sz="2400" strike="noStrike" kern="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i="1" dirty="0"/>
              <a:t>Pure ALOHA</a:t>
            </a:r>
            <a:endParaRPr lang="en-US" dirty="0"/>
          </a:p>
        </p:txBody>
      </p:sp>
      <p:sp>
        <p:nvSpPr>
          <p:cNvPr id="7" name="Slide Number Placeholder 6"/>
          <p:cNvSpPr>
            <a:spLocks noGrp="1"/>
          </p:cNvSpPr>
          <p:nvPr>
            <p:ph type="sldNum" sz="quarter" idx="12"/>
          </p:nvPr>
        </p:nvSpPr>
        <p:spPr/>
        <p:txBody>
          <a:bodyPr/>
          <a:lstStyle/>
          <a:p>
            <a:fld id="{EF55C829-AE99-4997-8EBC-414F558758A8}" type="slidenum">
              <a:rPr lang="en-US" smtClean="0"/>
              <a:pPr/>
              <a:t>12</a:t>
            </a:fld>
            <a:endParaRPr lang="en-US" dirty="0"/>
          </a:p>
        </p:txBody>
      </p:sp>
      <p:sp>
        <p:nvSpPr>
          <p:cNvPr id="5" name="Rectangle 3"/>
          <p:cNvSpPr txBox="1">
            <a:spLocks noChangeArrowheads="1"/>
          </p:cNvSpPr>
          <p:nvPr/>
        </p:nvSpPr>
        <p:spPr bwMode="auto">
          <a:xfrm>
            <a:off x="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pPr>
            <a:endParaRPr kumimoji="0" lang="en-US" sz="2400" strike="noStrike" kern="0" cap="none" spc="0" normalizeH="0" baseline="0" noProof="0" dirty="0">
              <a:ln>
                <a:noFill/>
              </a:ln>
              <a:solidFill>
                <a:schemeClr val="tx1"/>
              </a:solidFill>
              <a:effectLst/>
              <a:uLnTx/>
              <a:uFillTx/>
              <a:latin typeface="Arial" pitchFamily="34" charset="0"/>
              <a:cs typeface="Arial" pitchFamily="34" charset="0"/>
            </a:endParaRPr>
          </a:p>
        </p:txBody>
      </p:sp>
      <p:pic>
        <p:nvPicPr>
          <p:cNvPr id="4" name="Picture 4" descr="4-01"/>
          <p:cNvPicPr>
            <a:picLocks noChangeAspect="1" noChangeArrowheads="1"/>
          </p:cNvPicPr>
          <p:nvPr/>
        </p:nvPicPr>
        <p:blipFill>
          <a:blip r:embed="rId3" cstate="print"/>
          <a:srcRect/>
          <a:stretch>
            <a:fillRect/>
          </a:stretch>
        </p:blipFill>
        <p:spPr bwMode="auto">
          <a:xfrm>
            <a:off x="354189" y="882121"/>
            <a:ext cx="8405989" cy="4909079"/>
          </a:xfrm>
          <a:prstGeom prst="rect">
            <a:avLst/>
          </a:prstGeom>
          <a:noFill/>
        </p:spPr>
      </p:pic>
      <p:sp>
        <p:nvSpPr>
          <p:cNvPr id="6" name="Rectangle 3"/>
          <p:cNvSpPr txBox="1">
            <a:spLocks noChangeArrowheads="1"/>
          </p:cNvSpPr>
          <p:nvPr/>
        </p:nvSpPr>
        <p:spPr bwMode="auto">
          <a:xfrm>
            <a:off x="0" y="6019800"/>
            <a:ext cx="9144000" cy="838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a:ln>
                  <a:noFill/>
                </a:ln>
                <a:solidFill>
                  <a:schemeClr val="tx1"/>
                </a:solidFill>
                <a:effectLst/>
                <a:uLnTx/>
                <a:uFillTx/>
                <a:latin typeface="+mn-lt"/>
                <a:ea typeface="+mn-ea"/>
                <a:cs typeface="+mn-cs"/>
              </a:rPr>
              <a:t>In pure ALOHA, frames are transmitted at completely arbitrary times.</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i="1" dirty="0"/>
              <a:t>Pure ALOHA</a:t>
            </a:r>
            <a:endParaRPr lang="en-US" dirty="0"/>
          </a:p>
        </p:txBody>
      </p:sp>
      <p:sp>
        <p:nvSpPr>
          <p:cNvPr id="6" name="Slide Number Placeholder 5"/>
          <p:cNvSpPr>
            <a:spLocks noGrp="1"/>
          </p:cNvSpPr>
          <p:nvPr>
            <p:ph type="sldNum" sz="quarter" idx="12"/>
          </p:nvPr>
        </p:nvSpPr>
        <p:spPr/>
        <p:txBody>
          <a:bodyPr/>
          <a:lstStyle/>
          <a:p>
            <a:fld id="{EF55C829-AE99-4997-8EBC-414F558758A8}" type="slidenum">
              <a:rPr lang="en-US" smtClean="0"/>
              <a:pPr/>
              <a:t>13</a:t>
            </a:fld>
            <a:endParaRPr lang="en-US" dirty="0"/>
          </a:p>
        </p:txBody>
      </p:sp>
      <p:sp>
        <p:nvSpPr>
          <p:cNvPr id="5" name="Rectangle 3"/>
          <p:cNvSpPr txBox="1">
            <a:spLocks noChangeArrowheads="1"/>
          </p:cNvSpPr>
          <p:nvPr/>
        </p:nvSpPr>
        <p:spPr bwMode="auto">
          <a:xfrm>
            <a:off x="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pPr>
            <a:endParaRPr kumimoji="0" lang="en-US" sz="2400" strike="noStrike" kern="0" cap="none" spc="0" normalizeH="0" baseline="0" noProof="0" dirty="0">
              <a:ln>
                <a:noFill/>
              </a:ln>
              <a:solidFill>
                <a:schemeClr val="tx1"/>
              </a:solidFill>
              <a:effectLst/>
              <a:uLnTx/>
              <a:uFillTx/>
              <a:latin typeface="Arial" pitchFamily="34" charset="0"/>
              <a:cs typeface="Arial" pitchFamily="34" charset="0"/>
            </a:endParaRPr>
          </a:p>
        </p:txBody>
      </p:sp>
      <p:pic>
        <p:nvPicPr>
          <p:cNvPr id="7" name="Picture 4" descr="4-02"/>
          <p:cNvPicPr>
            <a:picLocks noChangeAspect="1" noChangeArrowheads="1"/>
          </p:cNvPicPr>
          <p:nvPr/>
        </p:nvPicPr>
        <p:blipFill>
          <a:blip r:embed="rId3" cstate="print"/>
          <a:srcRect/>
          <a:stretch>
            <a:fillRect/>
          </a:stretch>
        </p:blipFill>
        <p:spPr bwMode="auto">
          <a:xfrm>
            <a:off x="104930" y="846398"/>
            <a:ext cx="8945457" cy="4954795"/>
          </a:xfrm>
          <a:prstGeom prst="rect">
            <a:avLst/>
          </a:prstGeom>
          <a:noFill/>
          <a:ln w="9525">
            <a:noFill/>
            <a:miter lim="800000"/>
            <a:headEnd/>
            <a:tailEnd/>
          </a:ln>
        </p:spPr>
      </p:pic>
      <p:sp>
        <p:nvSpPr>
          <p:cNvPr id="8" name="Rectangle 3"/>
          <p:cNvSpPr txBox="1">
            <a:spLocks noChangeArrowheads="1"/>
          </p:cNvSpPr>
          <p:nvPr/>
        </p:nvSpPr>
        <p:spPr bwMode="auto">
          <a:xfrm>
            <a:off x="0" y="6194680"/>
            <a:ext cx="9144000" cy="50592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Fig: Vulnerable period for the shaded frame.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18654" y="431529"/>
            <a:ext cx="8825345" cy="704543"/>
          </a:xfrm>
        </p:spPr>
        <p:txBody>
          <a:bodyPr/>
          <a:lstStyle/>
          <a:p>
            <a:r>
              <a:rPr lang="en-US" i="1" u="sng" dirty="0"/>
              <a:t>Slotted ALOHA</a:t>
            </a:r>
            <a:endParaRPr lang="en-US" u="sng"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14</a:t>
            </a:fld>
            <a:endParaRPr lang="en-US" dirty="0"/>
          </a:p>
        </p:txBody>
      </p:sp>
      <p:sp>
        <p:nvSpPr>
          <p:cNvPr id="5" name="Rectangle 3"/>
          <p:cNvSpPr txBox="1">
            <a:spLocks noChangeArrowheads="1"/>
          </p:cNvSpPr>
          <p:nvPr/>
        </p:nvSpPr>
        <p:spPr bwMode="auto">
          <a:xfrm>
            <a:off x="0" y="1136072"/>
            <a:ext cx="8714509" cy="57219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Method for doubling the capacity of an ALOHA system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To divide time into discrete intervals, </a:t>
            </a:r>
            <a:r>
              <a:rPr lang="en-IN" sz="2400" dirty="0">
                <a:latin typeface="Times New Roman" pitchFamily="18" charset="0"/>
                <a:cs typeface="Times New Roman" pitchFamily="18" charset="0"/>
              </a:rPr>
              <a:t>called </a:t>
            </a:r>
            <a:r>
              <a:rPr lang="en-IN" sz="2400" b="1" dirty="0">
                <a:latin typeface="Times New Roman" pitchFamily="18" charset="0"/>
                <a:cs typeface="Times New Roman" pitchFamily="18" charset="0"/>
              </a:rPr>
              <a:t>slots</a:t>
            </a:r>
            <a:r>
              <a:rPr lang="en-IN" sz="2400" dirty="0">
                <a:latin typeface="Times New Roman" pitchFamily="18" charset="0"/>
                <a:cs typeface="Times New Roman" pitchFamily="18" charset="0"/>
              </a:rPr>
              <a:t>, each interval corresponding to one frame.</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This approach requires the users to agree on slot boundaries. </a:t>
            </a:r>
            <a:r>
              <a:rPr lang="en-US" sz="2400" b="1" i="1"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One way to achieve synchronization would be to have one special station emit a pip at the start of each interval, like a clock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 computer is not permitted to send whenever a </a:t>
            </a:r>
            <a:r>
              <a:rPr lang="en-IN" sz="2400" dirty="0">
                <a:latin typeface="Times New Roman" pitchFamily="18" charset="0"/>
                <a:cs typeface="Times New Roman" pitchFamily="18" charset="0"/>
              </a:rPr>
              <a:t>whenever the user types a line.</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Instead, it is required to wait for the beginning of the next slot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Experimental result shows</a:t>
            </a:r>
            <a:r>
              <a:rPr lang="en-US" sz="2400" b="1" i="1" dirty="0">
                <a:latin typeface="Times New Roman" pitchFamily="18" charset="0"/>
                <a:cs typeface="Times New Roman" pitchFamily="18" charset="0"/>
              </a:rPr>
              <a:t> </a:t>
            </a:r>
            <a:r>
              <a:rPr lang="en-US" sz="2400" dirty="0">
                <a:latin typeface="Times New Roman" pitchFamily="18" charset="0"/>
                <a:cs typeface="Times New Roman" pitchFamily="18" charset="0"/>
              </a:rPr>
              <a:t>using slotted aloha 37 % of the slots empty, 37 % successes, and 26 % collisions </a:t>
            </a:r>
            <a:r>
              <a:rPr lang="en-US" sz="2400" b="1" i="1" dirty="0">
                <a:latin typeface="Times New Roman" pitchFamily="18" charset="0"/>
                <a:cs typeface="Times New Roman" pitchFamily="18" charset="0"/>
              </a:rPr>
              <a:t>	</a:t>
            </a:r>
            <a:endParaRPr kumimoji="0" lang="en-US" sz="2400" strike="noStrike" kern="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15</a:t>
            </a:fld>
            <a:endParaRPr lang="en-US" dirty="0"/>
          </a:p>
        </p:txBody>
      </p:sp>
      <p:sp>
        <p:nvSpPr>
          <p:cNvPr id="5" name="Rectangle 3"/>
          <p:cNvSpPr txBox="1">
            <a:spLocks noChangeArrowheads="1"/>
          </p:cNvSpPr>
          <p:nvPr/>
        </p:nvSpPr>
        <p:spPr bwMode="auto">
          <a:xfrm>
            <a:off x="0" y="586001"/>
            <a:ext cx="9047018"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b="1" u="sng" dirty="0">
                <a:latin typeface="Times New Roman" pitchFamily="18" charset="0"/>
                <a:cs typeface="Times New Roman" pitchFamily="18" charset="0"/>
              </a:rPr>
              <a:t>Carrier Sense Multiple Access (CSMA) Protocols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Protocols in which stations listen for a carrier (i.e., a transmission) and act accordingly are called </a:t>
            </a:r>
            <a:r>
              <a:rPr lang="en-US" sz="2600" b="1" dirty="0">
                <a:latin typeface="Times New Roman" pitchFamily="18" charset="0"/>
                <a:cs typeface="Times New Roman" pitchFamily="18" charset="0"/>
              </a:rPr>
              <a:t>carrier sense protocols </a:t>
            </a:r>
          </a:p>
          <a:p>
            <a:pPr marL="1066800" lvl="1" indent="-609600" algn="just">
              <a:spcBef>
                <a:spcPct val="20000"/>
              </a:spcBef>
              <a:buClr>
                <a:schemeClr val="accent2"/>
              </a:buClr>
              <a:buFont typeface="Wingdings" pitchFamily="2" charset="2"/>
              <a:buChar char="§"/>
            </a:pPr>
            <a:r>
              <a:rPr lang="en-US" sz="2600" b="1" i="1" dirty="0">
                <a:latin typeface="Times New Roman" pitchFamily="18" charset="0"/>
                <a:cs typeface="Times New Roman" pitchFamily="18" charset="0"/>
              </a:rPr>
              <a:t>Persistent and Nonpersistent CSMA</a:t>
            </a:r>
          </a:p>
          <a:p>
            <a:pPr marL="1066800" lvl="1" indent="-609600" algn="just">
              <a:spcBef>
                <a:spcPct val="20000"/>
              </a:spcBef>
              <a:buClr>
                <a:schemeClr val="accent2"/>
              </a:buClr>
              <a:buFont typeface="Wingdings" pitchFamily="2" charset="2"/>
              <a:buChar char="§"/>
            </a:pPr>
            <a:r>
              <a:rPr lang="en-US" sz="2600" b="1" dirty="0">
                <a:latin typeface="Times New Roman" pitchFamily="18" charset="0"/>
                <a:cs typeface="Times New Roman" pitchFamily="18" charset="0"/>
              </a:rPr>
              <a:t>1-persistent CSMA </a:t>
            </a:r>
          </a:p>
          <a:p>
            <a:pPr marL="793750" lvl="2" indent="-223838"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When a station has data to send, it first listens to the channel to see if anyone else is transmitting at that moment. </a:t>
            </a:r>
          </a:p>
          <a:p>
            <a:pPr marL="793750" lvl="2" indent="-223838"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If the channel is busy, the station waits until it becomes idle. </a:t>
            </a:r>
          </a:p>
          <a:p>
            <a:pPr marL="793750" lvl="2" indent="-223838"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When the station detects an idle channel, it transmits a frame. </a:t>
            </a:r>
          </a:p>
          <a:p>
            <a:pPr marL="793750" lvl="2" indent="-223838" algn="just">
              <a:spcBef>
                <a:spcPct val="20000"/>
              </a:spcBef>
              <a:buClr>
                <a:schemeClr val="accent2"/>
              </a:buClr>
              <a:buFont typeface="Wingdings" pitchFamily="2" charset="2"/>
              <a:buChar char="§"/>
            </a:pPr>
            <a:r>
              <a:rPr lang="en-US" sz="2600" b="1" i="1" dirty="0">
                <a:latin typeface="Times New Roman" pitchFamily="18" charset="0"/>
                <a:cs typeface="Times New Roman" pitchFamily="18" charset="0"/>
              </a:rPr>
              <a:t>	</a:t>
            </a:r>
            <a:r>
              <a:rPr lang="en-IN" sz="2600" dirty="0">
                <a:latin typeface="Times New Roman" pitchFamily="18" charset="0"/>
                <a:cs typeface="Times New Roman" pitchFamily="18" charset="0"/>
              </a:rPr>
              <a:t>If a collision occurs, the station waits a random amount of time and starts all over again. </a:t>
            </a:r>
          </a:p>
          <a:p>
            <a:pPr marL="793750" lvl="2" indent="-223838" algn="just">
              <a:spcBef>
                <a:spcPct val="20000"/>
              </a:spcBef>
              <a:buClr>
                <a:schemeClr val="accent2"/>
              </a:buClr>
              <a:buFont typeface="Wingdings" pitchFamily="2" charset="2"/>
              <a:buChar char="§"/>
            </a:pPr>
            <a:endParaRPr kumimoji="0" lang="en-US" sz="2600" strike="noStrike" kern="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1782" y="568036"/>
            <a:ext cx="8395854" cy="6276109"/>
          </a:xfrm>
        </p:spPr>
        <p:txBody>
          <a:bodyPr>
            <a:noAutofit/>
          </a:bodyPr>
          <a:lstStyle/>
          <a:p>
            <a:pPr algn="just"/>
            <a:r>
              <a:rPr lang="en-IN" sz="2600" dirty="0">
                <a:latin typeface="Times New Roman" pitchFamily="18" charset="0"/>
                <a:cs typeface="Times New Roman" pitchFamily="18" charset="0"/>
              </a:rPr>
              <a:t>The protocol is called 1-persistent because the station transmits with a probability of 1 when it finds the channel idle.</a:t>
            </a:r>
          </a:p>
          <a:p>
            <a:pPr algn="just"/>
            <a:r>
              <a:rPr lang="en-IN" sz="2600" dirty="0">
                <a:latin typeface="Times New Roman" pitchFamily="18" charset="0"/>
                <a:cs typeface="Times New Roman" pitchFamily="18" charset="0"/>
              </a:rPr>
              <a:t>If two stations become ready in the middle of a third station’s transmission, both will wait politely until the transmission ends, and then both will begin transmitting exactly simultaneously, resulting in a collision.</a:t>
            </a:r>
          </a:p>
          <a:p>
            <a:pPr algn="just"/>
            <a:r>
              <a:rPr lang="en-IN" sz="2600" dirty="0">
                <a:latin typeface="Times New Roman" pitchFamily="18" charset="0"/>
                <a:cs typeface="Times New Roman" pitchFamily="18" charset="0"/>
              </a:rPr>
              <a:t>The propagation delay has an important effect on collisions.</a:t>
            </a:r>
          </a:p>
          <a:p>
            <a:pPr lvl="1" algn="just"/>
            <a:r>
              <a:rPr lang="en-IN" dirty="0">
                <a:latin typeface="Times New Roman" pitchFamily="18" charset="0"/>
                <a:cs typeface="Times New Roman" pitchFamily="18" charset="0"/>
              </a:rPr>
              <a:t>There is a chance that just after a station begins sending, another station will become ready to send and sense the channel. </a:t>
            </a:r>
          </a:p>
          <a:p>
            <a:pPr lvl="1" algn="just"/>
            <a:r>
              <a:rPr lang="en-IN" dirty="0">
                <a:latin typeface="Times New Roman" pitchFamily="18" charset="0"/>
                <a:cs typeface="Times New Roman" pitchFamily="18" charset="0"/>
              </a:rPr>
              <a:t>If the first station’s signal has not yet reached the second one, the latter will sense an idle channel and will also begin sending, resulting in a collision</a:t>
            </a:r>
          </a:p>
        </p:txBody>
      </p:sp>
      <p:sp>
        <p:nvSpPr>
          <p:cNvPr id="4" name="Slide Number Placeholder 3"/>
          <p:cNvSpPr>
            <a:spLocks noGrp="1"/>
          </p:cNvSpPr>
          <p:nvPr>
            <p:ph type="sldNum" sz="quarter" idx="12"/>
          </p:nvPr>
        </p:nvSpPr>
        <p:spPr/>
        <p:txBody>
          <a:bodyPr/>
          <a:lstStyle/>
          <a:p>
            <a:fld id="{EF55C829-AE99-4997-8EBC-414F558758A8}" type="slidenum">
              <a:rPr lang="en-US" smtClean="0"/>
              <a:pPr/>
              <a:t>16</a:t>
            </a:fld>
            <a:endParaRPr lang="en-US" dirty="0"/>
          </a:p>
        </p:txBody>
      </p:sp>
    </p:spTree>
    <p:extLst>
      <p:ext uri="{BB962C8B-B14F-4D97-AF65-F5344CB8AC3E}">
        <p14:creationId xmlns:p14="http://schemas.microsoft.com/office/powerpoint/2010/main" val="1151015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17</a:t>
            </a:fld>
            <a:endParaRPr lang="en-US" dirty="0"/>
          </a:p>
        </p:txBody>
      </p:sp>
      <p:sp>
        <p:nvSpPr>
          <p:cNvPr id="5" name="Rectangle 3"/>
          <p:cNvSpPr txBox="1">
            <a:spLocks noChangeArrowheads="1"/>
          </p:cNvSpPr>
          <p:nvPr/>
        </p:nvSpPr>
        <p:spPr bwMode="auto">
          <a:xfrm>
            <a:off x="0" y="942108"/>
            <a:ext cx="8936182" cy="59158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b="1" dirty="0" err="1">
                <a:latin typeface="Times New Roman" pitchFamily="18" charset="0"/>
                <a:cs typeface="Times New Roman" pitchFamily="18" charset="0"/>
              </a:rPr>
              <a:t>Nonpersistent</a:t>
            </a:r>
            <a:r>
              <a:rPr lang="en-US" sz="2800" b="1" dirty="0">
                <a:latin typeface="Times New Roman" pitchFamily="18" charset="0"/>
                <a:cs typeface="Times New Roman" pitchFamily="18" charset="0"/>
              </a:rPr>
              <a:t> CSMA</a:t>
            </a:r>
          </a:p>
          <a:p>
            <a:pPr marL="1066800" lvl="1" indent="-609600" algn="just">
              <a:spcBef>
                <a:spcPct val="20000"/>
              </a:spcBef>
              <a:buClr>
                <a:schemeClr val="accent2"/>
              </a:buClr>
              <a:buFont typeface="Wingdings" pitchFamily="2" charset="2"/>
              <a:buChar char="§"/>
            </a:pPr>
            <a:r>
              <a:rPr lang="en-US" sz="2800" dirty="0">
                <a:latin typeface="Times New Roman" pitchFamily="18" charset="0"/>
                <a:cs typeface="Times New Roman" pitchFamily="18" charset="0"/>
              </a:rPr>
              <a:t>Before sending, a station senses the channel. </a:t>
            </a:r>
          </a:p>
          <a:p>
            <a:pPr marL="1066800" lvl="1" indent="-609600" algn="just">
              <a:spcBef>
                <a:spcPct val="20000"/>
              </a:spcBef>
              <a:buClr>
                <a:schemeClr val="accent2"/>
              </a:buClr>
              <a:buFont typeface="Wingdings" pitchFamily="2" charset="2"/>
              <a:buChar char="§"/>
            </a:pPr>
            <a:r>
              <a:rPr lang="en-US" sz="2800" dirty="0">
                <a:latin typeface="Times New Roman" pitchFamily="18" charset="0"/>
                <a:cs typeface="Times New Roman" pitchFamily="18" charset="0"/>
              </a:rPr>
              <a:t>If the channel is already in use, the station does not continually sense it for the purpose of seizing it immediately upon detecting the end of the previous transmission. </a:t>
            </a:r>
          </a:p>
          <a:p>
            <a:pPr marL="1066800" lvl="1" indent="-609600" algn="just">
              <a:spcBef>
                <a:spcPct val="20000"/>
              </a:spcBef>
              <a:buClr>
                <a:schemeClr val="accent2"/>
              </a:buClr>
              <a:buFont typeface="Wingdings" pitchFamily="2" charset="2"/>
              <a:buChar char="§"/>
            </a:pPr>
            <a:r>
              <a:rPr lang="en-US" sz="2800" dirty="0">
                <a:latin typeface="Times New Roman" pitchFamily="18" charset="0"/>
                <a:cs typeface="Times New Roman" pitchFamily="18" charset="0"/>
              </a:rPr>
              <a:t>Instead, it waits a random period of time and then repeats the algorithm. </a:t>
            </a:r>
          </a:p>
          <a:p>
            <a:pPr marL="1066800" lvl="1" indent="-609600" algn="just">
              <a:spcBef>
                <a:spcPct val="20000"/>
              </a:spcBef>
              <a:buClr>
                <a:schemeClr val="accent2"/>
              </a:buClr>
              <a:buFont typeface="Wingdings" pitchFamily="2" charset="2"/>
              <a:buChar char="§"/>
            </a:pPr>
            <a:r>
              <a:rPr lang="en-US" sz="2800" dirty="0">
                <a:latin typeface="Times New Roman" pitchFamily="18" charset="0"/>
                <a:cs typeface="Times New Roman" pitchFamily="18" charset="0"/>
              </a:rPr>
              <a:t>Consequently, this algorithm leads to better channel utilization but longer delays than 1-persistent CSMA.</a:t>
            </a:r>
          </a:p>
          <a:p>
            <a:pPr marL="1066800" lvl="1" indent="-609600" algn="just">
              <a:spcBef>
                <a:spcPct val="20000"/>
              </a:spcBef>
              <a:buClr>
                <a:schemeClr val="accent2"/>
              </a:buClr>
              <a:buFont typeface="Wingdings" pitchFamily="2" charset="2"/>
              <a:buChar char="§"/>
            </a:pPr>
            <a:endParaRPr lang="en-US" sz="28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710692"/>
            <a:ext cx="9033164"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p-persistent CSMA </a:t>
            </a:r>
          </a:p>
          <a:p>
            <a:pPr marL="1066800" lvl="1" indent="-609600" algn="just">
              <a:spcBef>
                <a:spcPct val="20000"/>
              </a:spcBef>
              <a:buClr>
                <a:schemeClr val="accent2"/>
              </a:buClr>
              <a:buFont typeface="Wingdings" pitchFamily="2" charset="2"/>
              <a:buChar char="§"/>
            </a:pPr>
            <a:r>
              <a:rPr lang="en-IN" sz="2400" dirty="0">
                <a:latin typeface="Times New Roman" pitchFamily="18" charset="0"/>
                <a:cs typeface="Times New Roman" pitchFamily="18" charset="0"/>
              </a:rPr>
              <a:t>It applies to slotted channels</a:t>
            </a:r>
            <a:endParaRPr lang="en-US" sz="2400" dirty="0">
              <a:latin typeface="Times New Roman" pitchFamily="18" charset="0"/>
              <a:cs typeface="Times New Roman" pitchFamily="18" charset="0"/>
            </a:endParaRP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When a station becomes ready to send, it senses the channel.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it is idle, it transmits with a probability p.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With a probability q = 1 - p, it defers until the next slot.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that slot is also idle, it either transmits or defers again, with probabilities p and q.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This process is repeated until either the frame has been transmitted or another station has begun transmitting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the station initially senses the channel busy, it waits until the next slot and applies the above algorithm </a:t>
            </a:r>
            <a:endParaRPr kumimoji="0" lang="en-US" sz="2400" strike="noStrike" kern="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19</a:t>
            </a:fld>
            <a:endParaRPr lang="en-US" dirty="0"/>
          </a:p>
        </p:txBody>
      </p:sp>
      <p:sp>
        <p:nvSpPr>
          <p:cNvPr id="5" name="Rectangle 3"/>
          <p:cNvSpPr txBox="1">
            <a:spLocks noChangeArrowheads="1"/>
          </p:cNvSpPr>
          <p:nvPr/>
        </p:nvSpPr>
        <p:spPr bwMode="auto">
          <a:xfrm>
            <a:off x="0" y="710692"/>
            <a:ext cx="8950036"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i="1" dirty="0">
                <a:latin typeface="Times New Roman" pitchFamily="18" charset="0"/>
                <a:cs typeface="Times New Roman" pitchFamily="18" charset="0"/>
              </a:rPr>
              <a:t>CSMA with Collision Detection (CSMA/CD)</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Persistent and nonpersistent CSMA protocols ensure that no station begins to transmit when it senses the channel busy</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Another improvement is for stations to abort their transmissions as soon as they detect a collision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two stations sense the channel to be idle and begin transmitting simultaneously, they will both detect the collision almost immediately.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Rather than finish transmitting their frames, they should stop transmitting as soon as the collision is detected  </a:t>
            </a:r>
            <a:r>
              <a:rPr lang="en-US" sz="2400" b="1" i="1"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400" dirty="0" err="1">
                <a:latin typeface="Times New Roman" pitchFamily="18" charset="0"/>
                <a:cs typeface="Times New Roman" pitchFamily="18" charset="0"/>
              </a:rPr>
              <a:t>Advs</a:t>
            </a:r>
            <a:r>
              <a:rPr lang="en-US" sz="2400" dirty="0">
                <a:latin typeface="Times New Roman" pitchFamily="18" charset="0"/>
                <a:cs typeface="Times New Roman" pitchFamily="18" charset="0"/>
              </a:rPr>
              <a:t>: saves time and bandwidth</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widely used on LANs in the MAC </a:t>
            </a:r>
            <a:r>
              <a:rPr lang="en-US" sz="2400" dirty="0" err="1">
                <a:latin typeface="Times New Roman" pitchFamily="18" charset="0"/>
                <a:cs typeface="Times New Roman" pitchFamily="18" charset="0"/>
              </a:rPr>
              <a:t>sublayer</a:t>
            </a:r>
            <a:r>
              <a:rPr lang="en-US" sz="2400" dirty="0">
                <a:latin typeface="Times New Roman" pitchFamily="18" charset="0"/>
                <a:cs typeface="Times New Roman" pitchFamily="18" charset="0"/>
              </a:rPr>
              <a:t> </a:t>
            </a:r>
            <a:endParaRPr kumimoji="0" lang="en-US" sz="2400" strike="noStrike" kern="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F55C829-AE99-4997-8EBC-414F558758A8}" type="slidenum">
              <a:rPr lang="en-US" smtClean="0"/>
              <a:pPr/>
              <a:t>20</a:t>
            </a:fld>
            <a:endParaRPr lang="en-US" dirty="0"/>
          </a:p>
        </p:txBody>
      </p:sp>
      <p:pic>
        <p:nvPicPr>
          <p:cNvPr id="4" name="Picture 4" descr="4-05"/>
          <p:cNvPicPr>
            <a:picLocks noChangeAspect="1" noChangeArrowheads="1"/>
          </p:cNvPicPr>
          <p:nvPr/>
        </p:nvPicPr>
        <p:blipFill>
          <a:blip r:embed="rId3" cstate="print"/>
          <a:srcRect/>
          <a:stretch>
            <a:fillRect/>
          </a:stretch>
        </p:blipFill>
        <p:spPr bwMode="auto">
          <a:xfrm>
            <a:off x="218449" y="1122206"/>
            <a:ext cx="8638403" cy="3614686"/>
          </a:xfrm>
          <a:prstGeom prst="rect">
            <a:avLst/>
          </a:prstGeom>
          <a:noFill/>
          <a:ln w="9525">
            <a:noFill/>
            <a:miter lim="800000"/>
            <a:headEnd/>
            <a:tailEnd/>
          </a:ln>
        </p:spPr>
      </p:pic>
      <p:sp>
        <p:nvSpPr>
          <p:cNvPr id="6" name="Rectangle 3"/>
          <p:cNvSpPr txBox="1">
            <a:spLocks noChangeArrowheads="1"/>
          </p:cNvSpPr>
          <p:nvPr/>
        </p:nvSpPr>
        <p:spPr bwMode="auto">
          <a:xfrm>
            <a:off x="0" y="5231567"/>
            <a:ext cx="9144000" cy="11660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Arial" pitchFamily="34" charset="0"/>
                <a:cs typeface="Arial" pitchFamily="34" charset="0"/>
              </a:rPr>
              <a:t>Fig: CSMA/CD can be in one of three states: contention, transmission, or idle.</a:t>
            </a:r>
          </a:p>
          <a:p>
            <a:pPr marL="609600" lvl="0" indent="-609600">
              <a:spcBef>
                <a:spcPct val="20000"/>
              </a:spcBef>
              <a:buClr>
                <a:schemeClr val="accent2"/>
              </a:buClr>
            </a:pPr>
            <a:r>
              <a:rPr lang="en-US" sz="2400" dirty="0"/>
              <a:t>idle periods occurs when all stations are quiet </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945"/>
            <a:ext cx="8229600" cy="5521591"/>
          </a:xfrm>
        </p:spPr>
        <p:txBody>
          <a:bodyPr>
            <a:normAutofit fontScale="92500"/>
          </a:bodyPr>
          <a:lstStyle/>
          <a:p>
            <a:r>
              <a:rPr lang="en-IN" dirty="0"/>
              <a:t>At the point marked </a:t>
            </a:r>
            <a:r>
              <a:rPr lang="en-IN" i="1" dirty="0"/>
              <a:t>t</a:t>
            </a:r>
            <a:r>
              <a:rPr lang="en-IN" sz="1700" dirty="0"/>
              <a:t>0</a:t>
            </a:r>
            <a:r>
              <a:rPr lang="en-IN" dirty="0"/>
              <a:t>, a station has finished transmitting its frame.</a:t>
            </a:r>
          </a:p>
          <a:p>
            <a:r>
              <a:rPr lang="en-IN" dirty="0"/>
              <a:t>Any other station having a frame to send may now attempt to do so. </a:t>
            </a:r>
          </a:p>
          <a:p>
            <a:r>
              <a:rPr lang="en-IN" dirty="0"/>
              <a:t>If two or more stations decide to transmit simultaneously, there will be a collision. </a:t>
            </a:r>
          </a:p>
          <a:p>
            <a:r>
              <a:rPr lang="en-IN" dirty="0"/>
              <a:t>If a station detects a collision, it aborts its transmission, waits a random period of time, and then tries again (assuming that no other station has started transmitting in the meantime). </a:t>
            </a:r>
          </a:p>
          <a:p>
            <a:r>
              <a:rPr lang="en-IN" dirty="0"/>
              <a:t>This model consist of alternating contention and transmission periods, with idle periods occurring when all stations are quiet</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21</a:t>
            </a:fld>
            <a:endParaRPr lang="en-US" dirty="0"/>
          </a:p>
        </p:txBody>
      </p:sp>
    </p:spTree>
    <p:extLst>
      <p:ext uri="{BB962C8B-B14F-4D97-AF65-F5344CB8AC3E}">
        <p14:creationId xmlns:p14="http://schemas.microsoft.com/office/powerpoint/2010/main" val="2541003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365896"/>
            <a:ext cx="9144000" cy="704543"/>
          </a:xfrm>
        </p:spPr>
        <p:txBody>
          <a:bodyPr/>
          <a:lstStyle/>
          <a:p>
            <a:r>
              <a:rPr lang="en-US" b="1" u="sng" dirty="0"/>
              <a:t>Collision-Free Protocols</a:t>
            </a:r>
            <a:endParaRPr lang="en-US" u="sng" dirty="0"/>
          </a:p>
        </p:txBody>
      </p:sp>
      <p:sp>
        <p:nvSpPr>
          <p:cNvPr id="5" name="Rectangle 3"/>
          <p:cNvSpPr txBox="1">
            <a:spLocks noChangeArrowheads="1"/>
          </p:cNvSpPr>
          <p:nvPr/>
        </p:nvSpPr>
        <p:spPr bwMode="auto">
          <a:xfrm>
            <a:off x="0" y="938271"/>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Even with CSMA/CD, collision can occur during the contention period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Especially when the cable is long and the frames are short</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So collision free Protocols are required</a:t>
            </a:r>
          </a:p>
          <a:p>
            <a:pPr marL="1524000" lvl="2" indent="-609600" algn="just">
              <a:spcBef>
                <a:spcPct val="20000"/>
              </a:spcBef>
              <a:buClr>
                <a:schemeClr val="accent2"/>
              </a:buClr>
              <a:buFont typeface="Wingdings" pitchFamily="2" charset="2"/>
              <a:buChar char="§"/>
            </a:pPr>
            <a:r>
              <a:rPr lang="en-US" sz="2400" b="1" i="1" dirty="0">
                <a:latin typeface="Times New Roman" pitchFamily="18" charset="0"/>
                <a:cs typeface="Times New Roman" pitchFamily="18" charset="0"/>
              </a:rPr>
              <a:t>Bit-Map Protocol &amp; Binary Countdown</a:t>
            </a:r>
            <a:endParaRPr lang="en-US" sz="2400" dirty="0">
              <a:latin typeface="Times New Roman" pitchFamily="18" charset="0"/>
              <a:cs typeface="Times New Roman" pitchFamily="18" charset="0"/>
            </a:endParaRPr>
          </a:p>
          <a:p>
            <a:pPr marL="609600" indent="-609600" algn="just">
              <a:spcBef>
                <a:spcPct val="20000"/>
              </a:spcBef>
              <a:buClr>
                <a:schemeClr val="accent2"/>
              </a:buClr>
              <a:buFont typeface="Wingdings" pitchFamily="2" charset="2"/>
              <a:buChar char="§"/>
            </a:pPr>
            <a:r>
              <a:rPr lang="en-US" sz="2400" b="1" i="1" u="sng" dirty="0">
                <a:latin typeface="Times New Roman" pitchFamily="18" charset="0"/>
                <a:cs typeface="Times New Roman" pitchFamily="18" charset="0"/>
              </a:rPr>
              <a:t>A Bit-Map Protocol</a:t>
            </a:r>
            <a:r>
              <a:rPr lang="en-US" sz="2400" u="sng"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Follows the </a:t>
            </a:r>
            <a:r>
              <a:rPr lang="en-US" sz="2400" b="1" dirty="0">
                <a:latin typeface="Times New Roman" pitchFamily="18" charset="0"/>
                <a:cs typeface="Times New Roman" pitchFamily="18" charset="0"/>
              </a:rPr>
              <a:t>basic bit-map method</a:t>
            </a:r>
            <a:endParaRPr lang="en-US" sz="2400" b="1" kern="0" dirty="0">
              <a:latin typeface="Times New Roman" pitchFamily="18" charset="0"/>
              <a:cs typeface="Times New Roman" pitchFamily="18" charset="0"/>
            </a:endParaRP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Each contention period consists of exactly N slots.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station 0 has a frame to send, it transmits a 1 bit during the zeroth slot.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No other station is allowed to transmit during this slot.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Regardless of what station 0 does, station 1 gets the opportunity to transmit a 1 during slot 1, but only if it has a frame queued.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F55C829-AE99-4997-8EBC-414F558758A8}" type="slidenum">
              <a:rPr lang="en-US" smtClean="0"/>
              <a:pPr/>
              <a:t>23</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In general, station j may announce that it has a frame to send by inserting a 1 bit into slot j.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After all N slots have passed by, each station has complete knowledge of which stations wish to transmit.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At that point, they begin transmitting in numerical order</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Since everyone agrees on who goes next, there will never be any collisions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Protocols in which the desire to transmit is broadcast before the actual transmission are called </a:t>
            </a:r>
            <a:r>
              <a:rPr lang="en-US" sz="2400" b="1" dirty="0">
                <a:latin typeface="Times New Roman" pitchFamily="18" charset="0"/>
                <a:cs typeface="Times New Roman" pitchFamily="18" charset="0"/>
              </a:rPr>
              <a:t>reservation protocols </a:t>
            </a:r>
            <a:r>
              <a:rPr lang="en-US" sz="2400" dirty="0">
                <a:latin typeface="Times New Roman" pitchFamily="18" charset="0"/>
                <a:cs typeface="Times New Roman" pitchFamily="18" charset="0"/>
              </a:rPr>
              <a:t> </a:t>
            </a:r>
          </a:p>
        </p:txBody>
      </p:sp>
      <p:pic>
        <p:nvPicPr>
          <p:cNvPr id="4" name="Picture 4" descr="4-06"/>
          <p:cNvPicPr>
            <a:picLocks noChangeAspect="1" noChangeArrowheads="1"/>
          </p:cNvPicPr>
          <p:nvPr/>
        </p:nvPicPr>
        <p:blipFill>
          <a:blip r:embed="rId3" cstate="print"/>
          <a:srcRect/>
          <a:stretch>
            <a:fillRect/>
          </a:stretch>
        </p:blipFill>
        <p:spPr bwMode="auto">
          <a:xfrm>
            <a:off x="94289" y="4347148"/>
            <a:ext cx="8914799" cy="2203550"/>
          </a:xfrm>
          <a:prstGeom prst="rect">
            <a:avLst/>
          </a:prstGeom>
          <a:noFill/>
          <a:ln w="9525">
            <a:noFill/>
            <a:miter lim="800000"/>
            <a:headEnd/>
            <a:tailEnd/>
          </a:ln>
        </p:spPr>
      </p:pic>
      <p:sp>
        <p:nvSpPr>
          <p:cNvPr id="6" name="Rectangle 3"/>
          <p:cNvSpPr txBox="1">
            <a:spLocks noChangeArrowheads="1"/>
          </p:cNvSpPr>
          <p:nvPr/>
        </p:nvSpPr>
        <p:spPr bwMode="auto">
          <a:xfrm>
            <a:off x="0" y="6464500"/>
            <a:ext cx="9144000" cy="3710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Fig:</a:t>
            </a:r>
            <a:r>
              <a:rPr kumimoji="0" lang="en-US" sz="2400" b="0" i="0" u="none" strike="noStrike" kern="0" cap="none" spc="0" normalizeH="0" noProof="0" dirty="0">
                <a:ln>
                  <a:noFill/>
                </a:ln>
                <a:solidFill>
                  <a:schemeClr val="tx1"/>
                </a:solidFill>
                <a:effectLst/>
                <a:uLnTx/>
                <a:uFillTx/>
                <a:latin typeface="+mn-lt"/>
                <a:ea typeface="+mn-ea"/>
                <a:cs typeface="+mn-cs"/>
              </a:rPr>
              <a:t> </a:t>
            </a:r>
            <a:r>
              <a:rPr kumimoji="0" lang="en-US" sz="2400" b="0" i="0" u="none" strike="noStrike" kern="0" cap="none" spc="0" normalizeH="0" baseline="0" noProof="0" dirty="0">
                <a:ln>
                  <a:noFill/>
                </a:ln>
                <a:solidFill>
                  <a:schemeClr val="tx1"/>
                </a:solidFill>
                <a:effectLst/>
                <a:uLnTx/>
                <a:uFillTx/>
                <a:latin typeface="+mn-lt"/>
                <a:ea typeface="+mn-ea"/>
                <a:cs typeface="+mn-cs"/>
              </a:rPr>
              <a:t>The basic bit-map protocol.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24</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i="1" u="sng" dirty="0">
                <a:latin typeface="Times New Roman" pitchFamily="18" charset="0"/>
                <a:cs typeface="Times New Roman" pitchFamily="18" charset="0"/>
              </a:rPr>
              <a:t>Binary Countdown</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problem with the basic bit-map protocol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overhead is 1 bit per station,</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so it does not scale well to networks with thousands of stations</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Better option is using binary station addresses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station wanting to use the channel now broadcasts its address as a binary bit string, starting with the high-order bit.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All addresses are assumed to be the same length.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The bits in each address position from different stations are BOOLEAN </a:t>
            </a:r>
            <a:r>
              <a:rPr lang="en-US" sz="2400" dirty="0" err="1">
                <a:latin typeface="Times New Roman" pitchFamily="18" charset="0"/>
                <a:cs typeface="Times New Roman" pitchFamily="18" charset="0"/>
              </a:rPr>
              <a:t>ORed</a:t>
            </a:r>
            <a:r>
              <a:rPr lang="en-US" sz="2400" dirty="0">
                <a:latin typeface="Times New Roman" pitchFamily="18" charset="0"/>
                <a:cs typeface="Times New Roman" pitchFamily="18" charset="0"/>
              </a:rPr>
              <a:t> together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So it is called </a:t>
            </a:r>
            <a:r>
              <a:rPr lang="en-US" sz="2400" b="1" dirty="0">
                <a:latin typeface="Times New Roman" pitchFamily="18" charset="0"/>
                <a:cs typeface="Times New Roman" pitchFamily="18" charset="0"/>
              </a:rPr>
              <a:t>binary countdown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25</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To avoid conflicts, an arbitration rule must be applied: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as soon as a station sees that a high-order bit position that is 0 in its address has been overwritten with a 1, it gives up.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For </a:t>
            </a:r>
            <a:r>
              <a:rPr lang="en-US" sz="2400" dirty="0" err="1">
                <a:latin typeface="Times New Roman" pitchFamily="18" charset="0"/>
                <a:cs typeface="Times New Roman" pitchFamily="18" charset="0"/>
              </a:rPr>
              <a:t>eg</a:t>
            </a:r>
            <a:r>
              <a:rPr lang="en-US" sz="2400" dirty="0">
                <a:latin typeface="Times New Roman" pitchFamily="18" charset="0"/>
                <a:cs typeface="Times New Roman" pitchFamily="18" charset="0"/>
              </a:rPr>
              <a:t>, if stations 0010, 0100, 1001, and 1010 are all trying to get the channel, in the first bit time the stations transmit 0, 0, 1, and 1, respectively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These are </a:t>
            </a:r>
            <a:r>
              <a:rPr lang="en-US" sz="2400" dirty="0" err="1">
                <a:latin typeface="Times New Roman" pitchFamily="18" charset="0"/>
                <a:cs typeface="Times New Roman" pitchFamily="18" charset="0"/>
              </a:rPr>
              <a:t>ORed</a:t>
            </a:r>
            <a:r>
              <a:rPr lang="en-US" sz="2400" dirty="0">
                <a:latin typeface="Times New Roman" pitchFamily="18" charset="0"/>
                <a:cs typeface="Times New Roman" pitchFamily="18" charset="0"/>
              </a:rPr>
              <a:t> together to form a 1.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Stations 0010 and 0100 see the 1 and know that a higher-numbered station is competing for the channel, so they give up for the current round.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Stations 1001 and 1010 continue.</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next bit is 0, and both stations continue.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next bit is 1, so station 1001 gives up.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winner is station 1010 because it has the highest address. </a:t>
            </a:r>
            <a:endParaRPr lang="en-US" sz="2400" b="1"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dirty="0"/>
              <a:t>Collision-Free Protocols</a:t>
            </a:r>
            <a:endParaRPr lang="en-US" dirty="0"/>
          </a:p>
        </p:txBody>
      </p:sp>
      <p:sp>
        <p:nvSpPr>
          <p:cNvPr id="7" name="Slide Number Placeholder 6"/>
          <p:cNvSpPr>
            <a:spLocks noGrp="1"/>
          </p:cNvSpPr>
          <p:nvPr>
            <p:ph type="sldNum" sz="quarter" idx="12"/>
          </p:nvPr>
        </p:nvSpPr>
        <p:spPr/>
        <p:txBody>
          <a:bodyPr/>
          <a:lstStyle/>
          <a:p>
            <a:fld id="{EF55C829-AE99-4997-8EBC-414F558758A8}" type="slidenum">
              <a:rPr lang="en-US" smtClean="0"/>
              <a:pPr/>
              <a:t>26</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dirty="0"/>
              <a:t>After winning the bidding, it may now transmit a frame, after which another bidding cycle starts.</a:t>
            </a:r>
            <a:endParaRPr lang="en-US" sz="2400" b="1" dirty="0"/>
          </a:p>
        </p:txBody>
      </p:sp>
      <p:pic>
        <p:nvPicPr>
          <p:cNvPr id="4" name="Picture 4" descr="4-07"/>
          <p:cNvPicPr>
            <a:picLocks noChangeAspect="1" noChangeArrowheads="1"/>
          </p:cNvPicPr>
          <p:nvPr/>
        </p:nvPicPr>
        <p:blipFill>
          <a:blip r:embed="rId3" cstate="print"/>
          <a:srcRect/>
          <a:stretch>
            <a:fillRect/>
          </a:stretch>
        </p:blipFill>
        <p:spPr bwMode="auto">
          <a:xfrm>
            <a:off x="629587" y="1582735"/>
            <a:ext cx="5196719" cy="5035423"/>
          </a:xfrm>
          <a:prstGeom prst="rect">
            <a:avLst/>
          </a:prstGeom>
          <a:noFill/>
          <a:ln w="9525">
            <a:noFill/>
            <a:miter lim="800000"/>
            <a:headEnd/>
            <a:tailEnd/>
          </a:ln>
        </p:spPr>
      </p:pic>
      <p:sp>
        <p:nvSpPr>
          <p:cNvPr id="6" name="Rectangle 3"/>
          <p:cNvSpPr txBox="1">
            <a:spLocks noChangeArrowheads="1"/>
          </p:cNvSpPr>
          <p:nvPr/>
        </p:nvSpPr>
        <p:spPr bwMode="auto">
          <a:xfrm>
            <a:off x="5231567" y="2582055"/>
            <a:ext cx="3432748" cy="18850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Fig:</a:t>
            </a:r>
            <a:r>
              <a:rPr kumimoji="0" lang="en-US" sz="2400" b="0" i="0" u="none" strike="noStrike" kern="0" cap="none" spc="0" normalizeH="0" noProof="0" dirty="0">
                <a:ln>
                  <a:noFill/>
                </a:ln>
                <a:solidFill>
                  <a:schemeClr val="tx1"/>
                </a:solidFill>
                <a:effectLst/>
                <a:uLnTx/>
                <a:uFillTx/>
                <a:latin typeface="+mn-lt"/>
                <a:ea typeface="+mn-ea"/>
                <a:cs typeface="+mn-cs"/>
              </a:rPr>
              <a:t> </a:t>
            </a:r>
            <a:r>
              <a:rPr kumimoji="0" lang="en-US" sz="2400" b="0" i="0" u="none" strike="noStrike" kern="0" cap="none" spc="0" normalizeH="0" baseline="0" noProof="0" dirty="0">
                <a:ln>
                  <a:noFill/>
                </a:ln>
                <a:solidFill>
                  <a:schemeClr val="tx1"/>
                </a:solidFill>
                <a:effectLst/>
                <a:uLnTx/>
                <a:uFillTx/>
                <a:latin typeface="+mn-lt"/>
                <a:ea typeface="+mn-ea"/>
                <a:cs typeface="+mn-cs"/>
              </a:rPr>
              <a:t>The binary countdown protocol.  </a:t>
            </a:r>
          </a:p>
          <a:p>
            <a:pPr marL="609600" marR="0" lvl="0" indent="-609600" defTabSz="914400" rtl="0" eaLnBrk="1" fontAlgn="base" latinLnBrk="0" hangingPunct="1">
              <a:lnSpc>
                <a:spcPct val="100000"/>
              </a:lnSpc>
              <a:spcBef>
                <a:spcPct val="20000"/>
              </a:spcBef>
              <a:spcAft>
                <a:spcPct val="0"/>
              </a:spcAft>
              <a:buClr>
                <a:schemeClr val="accent2"/>
              </a:buClr>
              <a:buSzTx/>
              <a:buFontTx/>
              <a:buNone/>
              <a:tabLst/>
              <a:defRPr/>
            </a:pPr>
            <a:endParaRPr lang="en-US" sz="2400" kern="0" dirty="0">
              <a:latin typeface="+mn-lt"/>
            </a:endParaRPr>
          </a:p>
          <a:p>
            <a:pPr marL="609600" marR="0" lvl="0" indent="-609600"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A dash indicates silence.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dirty="0"/>
              <a:t>Collision-Free Protocols</a:t>
            </a:r>
            <a:endParaRPr lang="en-US" dirty="0"/>
          </a:p>
        </p:txBody>
      </p:sp>
      <p:sp>
        <p:nvSpPr>
          <p:cNvPr id="4" name="Slide Number Placeholder 3"/>
          <p:cNvSpPr>
            <a:spLocks noGrp="1"/>
          </p:cNvSpPr>
          <p:nvPr>
            <p:ph type="sldNum" sz="quarter" idx="12"/>
          </p:nvPr>
        </p:nvSpPr>
        <p:spPr>
          <a:xfrm>
            <a:off x="6553200" y="6383310"/>
            <a:ext cx="1905000" cy="457200"/>
          </a:xfrm>
        </p:spPr>
        <p:txBody>
          <a:bodyPr/>
          <a:lstStyle/>
          <a:p>
            <a:fld id="{EF55C829-AE99-4997-8EBC-414F558758A8}" type="slidenum">
              <a:rPr lang="en-US" smtClean="0"/>
              <a:pPr/>
              <a:t>27</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t>variation of binary countdown </a:t>
            </a:r>
          </a:p>
          <a:p>
            <a:pPr marL="1066800" lvl="1" indent="-609600" algn="just">
              <a:spcBef>
                <a:spcPct val="20000"/>
              </a:spcBef>
              <a:buClr>
                <a:schemeClr val="accent2"/>
              </a:buClr>
              <a:buFont typeface="Wingdings" pitchFamily="2" charset="2"/>
              <a:buChar char="§"/>
            </a:pPr>
            <a:r>
              <a:rPr lang="en-US" sz="2400" dirty="0"/>
              <a:t>using virtual station numbers</a:t>
            </a:r>
          </a:p>
          <a:p>
            <a:pPr marL="1066800" lvl="1" indent="-609600" algn="just">
              <a:spcBef>
                <a:spcPct val="20000"/>
              </a:spcBef>
              <a:buClr>
                <a:schemeClr val="accent2"/>
              </a:buClr>
              <a:buFont typeface="Wingdings" pitchFamily="2" charset="2"/>
              <a:buChar char="§"/>
            </a:pPr>
            <a:r>
              <a:rPr lang="en-US" sz="2400" dirty="0"/>
              <a:t>with the virtual station numbers from 0 up to and including the successful station being circularly permuted after each transmission, </a:t>
            </a:r>
          </a:p>
          <a:p>
            <a:pPr marL="1066800" lvl="1" indent="-609600" algn="just">
              <a:spcBef>
                <a:spcPct val="20000"/>
              </a:spcBef>
              <a:buClr>
                <a:schemeClr val="accent2"/>
              </a:buClr>
              <a:buFont typeface="Wingdings" pitchFamily="2" charset="2"/>
              <a:buChar char="§"/>
            </a:pPr>
            <a:r>
              <a:rPr lang="en-US" sz="2400" dirty="0"/>
              <a:t>in order to give higher priority to stations that have been silent unusually long. </a:t>
            </a:r>
          </a:p>
          <a:p>
            <a:pPr marL="1066800" lvl="1" indent="-609600" algn="just">
              <a:spcBef>
                <a:spcPct val="20000"/>
              </a:spcBef>
              <a:buClr>
                <a:schemeClr val="accent2"/>
              </a:buClr>
              <a:buFont typeface="Wingdings" pitchFamily="2" charset="2"/>
              <a:buChar char="§"/>
            </a:pPr>
            <a:r>
              <a:rPr lang="en-US" sz="2400" dirty="0"/>
              <a:t>For example, if stations C, H, D, A, G, B, E, F have priorities 7, 6, 5, 4, 3, 2, 1, and 0, respectively, </a:t>
            </a:r>
          </a:p>
          <a:p>
            <a:pPr marL="1066800" lvl="1" indent="-609600" algn="just">
              <a:spcBef>
                <a:spcPct val="20000"/>
              </a:spcBef>
              <a:buClr>
                <a:schemeClr val="accent2"/>
              </a:buClr>
              <a:buFont typeface="Wingdings" pitchFamily="2" charset="2"/>
              <a:buChar char="§"/>
            </a:pPr>
            <a:r>
              <a:rPr lang="en-US" sz="2400" dirty="0"/>
              <a:t>then a successful transmission by D puts it at the end of the list, giving a priority order of C, H, A, G, B, E, F, D. </a:t>
            </a:r>
          </a:p>
          <a:p>
            <a:pPr marL="1066800" lvl="1" indent="-609600" algn="just">
              <a:spcBef>
                <a:spcPct val="20000"/>
              </a:spcBef>
              <a:buClr>
                <a:schemeClr val="accent2"/>
              </a:buClr>
              <a:buFont typeface="Wingdings" pitchFamily="2" charset="2"/>
              <a:buChar char="§"/>
            </a:pPr>
            <a:r>
              <a:rPr lang="en-US" sz="2400" dirty="0"/>
              <a:t>Thus, C remains virtual station 7, </a:t>
            </a:r>
          </a:p>
          <a:p>
            <a:pPr marL="1066800" lvl="1" indent="-609600" algn="just">
              <a:spcBef>
                <a:spcPct val="20000"/>
              </a:spcBef>
              <a:buClr>
                <a:schemeClr val="accent2"/>
              </a:buClr>
              <a:buFont typeface="Wingdings" pitchFamily="2" charset="2"/>
              <a:buChar char="§"/>
            </a:pPr>
            <a:r>
              <a:rPr lang="en-US" sz="2400" dirty="0"/>
              <a:t>but A moves up from 4 to 5 and D drops from 5 to 0. </a:t>
            </a:r>
          </a:p>
          <a:p>
            <a:pPr marL="1066800" lvl="1" indent="-609600" algn="just">
              <a:spcBef>
                <a:spcPct val="20000"/>
              </a:spcBef>
              <a:buClr>
                <a:schemeClr val="accent2"/>
              </a:buClr>
              <a:buFont typeface="Wingdings" pitchFamily="2" charset="2"/>
              <a:buChar char="§"/>
            </a:pPr>
            <a:r>
              <a:rPr lang="en-US" sz="2400" dirty="0"/>
              <a:t>Station D will now only be able to acquire the channel if no other station wants it. </a:t>
            </a:r>
            <a:endParaRPr lang="en-US" sz="2400"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24690" y="154439"/>
            <a:ext cx="9019309" cy="704543"/>
          </a:xfrm>
        </p:spPr>
        <p:txBody>
          <a:bodyPr/>
          <a:lstStyle/>
          <a:p>
            <a:r>
              <a:rPr lang="en-US" b="1" dirty="0"/>
              <a:t>Collision Avoidance Protocol</a:t>
            </a:r>
            <a:endParaRPr lang="en-US" dirty="0"/>
          </a:p>
        </p:txBody>
      </p:sp>
      <p:sp>
        <p:nvSpPr>
          <p:cNvPr id="6" name="Slide Number Placeholder 5"/>
          <p:cNvSpPr>
            <a:spLocks noGrp="1"/>
          </p:cNvSpPr>
          <p:nvPr>
            <p:ph type="sldNum" sz="quarter" idx="12"/>
          </p:nvPr>
        </p:nvSpPr>
        <p:spPr/>
        <p:txBody>
          <a:bodyPr/>
          <a:lstStyle/>
          <a:p>
            <a:fld id="{EF55C829-AE99-4997-8EBC-414F558758A8}" type="slidenum">
              <a:rPr lang="en-US" smtClean="0"/>
              <a:pPr/>
              <a:t>28</a:t>
            </a:fld>
            <a:endParaRPr lang="en-US" dirty="0"/>
          </a:p>
        </p:txBody>
      </p:sp>
      <p:sp>
        <p:nvSpPr>
          <p:cNvPr id="5" name="Rectangle 3"/>
          <p:cNvSpPr txBox="1">
            <a:spLocks noChangeArrowheads="1"/>
          </p:cNvSpPr>
          <p:nvPr/>
        </p:nvSpPr>
        <p:spPr bwMode="auto">
          <a:xfrm>
            <a:off x="0" y="858982"/>
            <a:ext cx="9144000" cy="599901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MACA (Multiple Access with Collision Avoidance)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basic idea (early protocol for wireless LAN)</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Sender is to stimulate by sending RTS (Request To Send) to the receiver into outputting a short frame, CTS (Clear To Send)</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so stations nearby can detect this transmission and avoid transmitting for the duration of the upcoming (large) data frame</a:t>
            </a:r>
          </a:p>
        </p:txBody>
      </p:sp>
      <p:pic>
        <p:nvPicPr>
          <p:cNvPr id="4" name="Picture 3" descr="4-12"/>
          <p:cNvPicPr>
            <a:picLocks noChangeAspect="1" noChangeArrowheads="1"/>
          </p:cNvPicPr>
          <p:nvPr/>
        </p:nvPicPr>
        <p:blipFill>
          <a:blip r:embed="rId3" cstate="print"/>
          <a:srcRect b="13228"/>
          <a:stretch>
            <a:fillRect/>
          </a:stretch>
        </p:blipFill>
        <p:spPr bwMode="auto">
          <a:xfrm>
            <a:off x="869430" y="3987384"/>
            <a:ext cx="7577215" cy="2780676"/>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Slide Number Placeholder 3"/>
          <p:cNvSpPr>
            <a:spLocks noGrp="1"/>
          </p:cNvSpPr>
          <p:nvPr>
            <p:ph type="sldNum" sz="quarter" idx="12"/>
          </p:nvPr>
        </p:nvSpPr>
        <p:spPr/>
        <p:txBody>
          <a:bodyPr/>
          <a:lstStyle/>
          <a:p>
            <a:fld id="{38D8CC6B-B086-4019-9A6B-1D7874CBC23A}" type="slidenum">
              <a:rPr lang="en-US" smtClean="0"/>
              <a:pPr/>
              <a:t>29</a:t>
            </a:fld>
            <a:endParaRPr lang="en-US" dirty="0"/>
          </a:p>
        </p:txBody>
      </p:sp>
      <p:sp>
        <p:nvSpPr>
          <p:cNvPr id="5" name="Title 1"/>
          <p:cNvSpPr>
            <a:spLocks noGrp="1"/>
          </p:cNvSpPr>
          <p:nvPr>
            <p:ph type="body" idx="1"/>
          </p:nvPr>
        </p:nvSpPr>
        <p:spPr/>
        <p:txBody>
          <a:bodyPr>
            <a:normAutofit/>
          </a:bodyPr>
          <a:lstStyle/>
          <a:p>
            <a:pPr algn="ctr"/>
            <a:r>
              <a:rPr lang="en-US" sz="5400" b="1" u="sng" dirty="0"/>
              <a:t>Ethernet</a:t>
            </a:r>
            <a:endParaRPr lang="en-IN" sz="5400" dirty="0"/>
          </a:p>
        </p:txBody>
      </p:sp>
    </p:spTree>
    <p:extLst>
      <p:ext uri="{BB962C8B-B14F-4D97-AF65-F5344CB8AC3E}">
        <p14:creationId xmlns:p14="http://schemas.microsoft.com/office/powerpoint/2010/main" val="556326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65018"/>
            <a:ext cx="8229600" cy="5909518"/>
          </a:xfrm>
        </p:spPr>
        <p:txBody>
          <a:bodyPr>
            <a:normAutofit fontScale="92500" lnSpcReduction="10000"/>
          </a:bodyPr>
          <a:lstStyle/>
          <a:p>
            <a:pPr algn="just"/>
            <a:r>
              <a:rPr lang="en-IN" dirty="0">
                <a:latin typeface="Times New Roman" pitchFamily="18" charset="0"/>
                <a:cs typeface="Times New Roman" pitchFamily="18" charset="0"/>
              </a:rPr>
              <a:t>Many of the designs for personal, local, and metropolitan area networks have been standardized under the name of IEEE 802.</a:t>
            </a:r>
          </a:p>
          <a:p>
            <a:pPr algn="just"/>
            <a:r>
              <a:rPr lang="en-IN" dirty="0">
                <a:latin typeface="Times New Roman" pitchFamily="18" charset="0"/>
                <a:cs typeface="Times New Roman" pitchFamily="18" charset="0"/>
              </a:rPr>
              <a:t>Two kinds of Ethernet exist: </a:t>
            </a:r>
          </a:p>
          <a:p>
            <a:pPr algn="just"/>
            <a:r>
              <a:rPr lang="en-IN" b="1" dirty="0">
                <a:latin typeface="Times New Roman" pitchFamily="18" charset="0"/>
                <a:cs typeface="Times New Roman" pitchFamily="18" charset="0"/>
              </a:rPr>
              <a:t>Classic Ethernet</a:t>
            </a:r>
            <a:endParaRPr lang="en-IN" dirty="0">
              <a:latin typeface="Times New Roman" pitchFamily="18" charset="0"/>
              <a:cs typeface="Times New Roman" pitchFamily="18" charset="0"/>
            </a:endParaRPr>
          </a:p>
          <a:p>
            <a:pPr lvl="1" algn="just">
              <a:buFont typeface="Wingdings" pitchFamily="2" charset="2"/>
              <a:buChar char="ü"/>
            </a:pPr>
            <a:r>
              <a:rPr lang="en-IN" dirty="0">
                <a:latin typeface="Times New Roman" pitchFamily="18" charset="0"/>
                <a:cs typeface="Times New Roman" pitchFamily="18" charset="0"/>
              </a:rPr>
              <a:t>which solves the multiple access problem using the techniques.</a:t>
            </a:r>
          </a:p>
          <a:p>
            <a:pPr lvl="1" algn="just">
              <a:buFont typeface="Wingdings" pitchFamily="2" charset="2"/>
              <a:buChar char="ü"/>
            </a:pPr>
            <a:r>
              <a:rPr lang="en-IN" dirty="0">
                <a:latin typeface="Times New Roman" pitchFamily="18" charset="0"/>
                <a:cs typeface="Times New Roman" pitchFamily="18" charset="0"/>
              </a:rPr>
              <a:t>Classic Ethernet is the original form and ran at rates from 3 to 10 Mbps </a:t>
            </a:r>
          </a:p>
          <a:p>
            <a:pPr algn="just"/>
            <a:r>
              <a:rPr lang="en-IN" b="1" dirty="0">
                <a:latin typeface="Times New Roman" pitchFamily="18" charset="0"/>
                <a:cs typeface="Times New Roman" pitchFamily="18" charset="0"/>
              </a:rPr>
              <a:t>Switched Ethernet</a:t>
            </a:r>
            <a:r>
              <a:rPr lang="en-IN" dirty="0">
                <a:latin typeface="Times New Roman" pitchFamily="18" charset="0"/>
                <a:cs typeface="Times New Roman" pitchFamily="18" charset="0"/>
              </a:rPr>
              <a:t> </a:t>
            </a:r>
          </a:p>
          <a:p>
            <a:pPr lvl="1" algn="just">
              <a:buFont typeface="Wingdings" pitchFamily="2" charset="2"/>
              <a:buChar char="ü"/>
            </a:pPr>
            <a:r>
              <a:rPr lang="en-IN" dirty="0">
                <a:latin typeface="Times New Roman" pitchFamily="18" charset="0"/>
                <a:cs typeface="Times New Roman" pitchFamily="18" charset="0"/>
              </a:rPr>
              <a:t>Devices called switches are used to connect different computers. </a:t>
            </a:r>
          </a:p>
          <a:p>
            <a:pPr lvl="1" algn="just">
              <a:buFont typeface="Wingdings" pitchFamily="2" charset="2"/>
              <a:buChar char="ü"/>
            </a:pPr>
            <a:r>
              <a:rPr lang="en-IN" dirty="0">
                <a:latin typeface="Times New Roman" pitchFamily="18" charset="0"/>
                <a:cs typeface="Times New Roman" pitchFamily="18" charset="0"/>
              </a:rPr>
              <a:t>Switched Ethernet is runs at 100, 1000, and 10,000 Mbps, in forms called fast Ethernet, gigabit Ethernet, and 10 gigabit Ethernet. </a:t>
            </a:r>
          </a:p>
          <a:p>
            <a:pPr lvl="1" algn="just">
              <a:buFont typeface="Wingdings" pitchFamily="2" charset="2"/>
              <a:buChar char="ü"/>
            </a:pPr>
            <a:r>
              <a:rPr lang="en-IN" dirty="0">
                <a:latin typeface="Times New Roman" pitchFamily="18" charset="0"/>
                <a:cs typeface="Times New Roman" pitchFamily="18" charset="0"/>
              </a:rPr>
              <a:t>In practice, only switched Ethernet is used nowadays</a:t>
            </a:r>
          </a:p>
        </p:txBody>
      </p:sp>
      <p:sp>
        <p:nvSpPr>
          <p:cNvPr id="4" name="Slide Number Placeholder 3"/>
          <p:cNvSpPr>
            <a:spLocks noGrp="1"/>
          </p:cNvSpPr>
          <p:nvPr>
            <p:ph type="sldNum" sz="quarter" idx="12"/>
          </p:nvPr>
        </p:nvSpPr>
        <p:spPr/>
        <p:txBody>
          <a:bodyPr/>
          <a:lstStyle/>
          <a:p>
            <a:fld id="{EF55C829-AE99-4997-8EBC-414F558758A8}" type="slidenum">
              <a:rPr lang="en-US" smtClean="0"/>
              <a:pPr/>
              <a:t>30</a:t>
            </a:fld>
            <a:endParaRPr lang="en-US" dirty="0"/>
          </a:p>
        </p:txBody>
      </p:sp>
    </p:spTree>
    <p:extLst>
      <p:ext uri="{BB962C8B-B14F-4D97-AF65-F5344CB8AC3E}">
        <p14:creationId xmlns:p14="http://schemas.microsoft.com/office/powerpoint/2010/main" val="3076374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18654" y="583930"/>
            <a:ext cx="9144000" cy="704543"/>
          </a:xfrm>
        </p:spPr>
        <p:txBody>
          <a:bodyPr/>
          <a:lstStyle/>
          <a:p>
            <a:r>
              <a:rPr lang="en-US" b="1" u="sng" dirty="0"/>
              <a:t>Ethernet</a:t>
            </a:r>
            <a:endParaRPr lang="en-US" u="sng"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31</a:t>
            </a:fld>
            <a:endParaRPr lang="en-US" dirty="0"/>
          </a:p>
        </p:txBody>
      </p:sp>
      <p:sp>
        <p:nvSpPr>
          <p:cNvPr id="5" name="Rectangle 3"/>
          <p:cNvSpPr txBox="1">
            <a:spLocks noChangeArrowheads="1"/>
          </p:cNvSpPr>
          <p:nvPr/>
        </p:nvSpPr>
        <p:spPr bwMode="auto">
          <a:xfrm>
            <a:off x="235527" y="1454727"/>
            <a:ext cx="8645238" cy="501534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IEEE has standardized a number of local area networks and metropolitan area networks under the name of IEEE 802</a:t>
            </a:r>
          </a:p>
          <a:p>
            <a:pPr marL="1066800" lvl="1" indent="-609600" algn="just">
              <a:spcBef>
                <a:spcPct val="20000"/>
              </a:spcBef>
              <a:buClr>
                <a:schemeClr val="accent2"/>
              </a:buClr>
              <a:buFont typeface="Wingdings" pitchFamily="2" charset="2"/>
              <a:buChar char="§"/>
            </a:pPr>
            <a:r>
              <a:rPr lang="en-US" sz="2600" dirty="0">
                <a:solidFill>
                  <a:srgbClr val="FF0000"/>
                </a:solidFill>
                <a:latin typeface="Times New Roman" pitchFamily="18" charset="0"/>
                <a:cs typeface="Times New Roman" pitchFamily="18" charset="0"/>
              </a:rPr>
              <a:t>802.3 (Ethernet)</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802.4 (Token bus)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802.5 (Token ring)  </a:t>
            </a:r>
          </a:p>
          <a:p>
            <a:pPr marL="1066800" lvl="1" indent="-609600" algn="just">
              <a:spcBef>
                <a:spcPct val="20000"/>
              </a:spcBef>
              <a:buClr>
                <a:schemeClr val="accent2"/>
              </a:buClr>
              <a:buFont typeface="Wingdings" pitchFamily="2" charset="2"/>
              <a:buChar char="§"/>
            </a:pPr>
            <a:r>
              <a:rPr lang="en-US" sz="2600" dirty="0">
                <a:solidFill>
                  <a:srgbClr val="FF0000"/>
                </a:solidFill>
                <a:latin typeface="Times New Roman" pitchFamily="18" charset="0"/>
                <a:cs typeface="Times New Roman" pitchFamily="18" charset="0"/>
              </a:rPr>
              <a:t>802.11 (wireless LAN)</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802.15 (Bluetooth)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802.16 (wireless MAN)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330" y="976745"/>
            <a:ext cx="8229600" cy="1066800"/>
          </a:xfrm>
        </p:spPr>
        <p:txBody>
          <a:bodyPr>
            <a:normAutofit/>
          </a:bodyPr>
          <a:lstStyle/>
          <a:p>
            <a:pPr lvl="2" algn="l" rtl="0">
              <a:spcBef>
                <a:spcPct val="0"/>
              </a:spcBef>
            </a:pPr>
            <a:r>
              <a:rPr lang="en-US" sz="3200" b="1" u="sng" dirty="0">
                <a:latin typeface="Times New Roman" pitchFamily="18" charset="0"/>
                <a:cs typeface="Times New Roman" pitchFamily="18" charset="0"/>
              </a:rPr>
              <a:t>Classical Ethernet Cabling </a:t>
            </a:r>
            <a:br>
              <a:rPr lang="en-US" sz="3200" b="1" u="sng" dirty="0">
                <a:latin typeface="Times New Roman" pitchFamily="18" charset="0"/>
                <a:cs typeface="Times New Roman" pitchFamily="18" charset="0"/>
              </a:rPr>
            </a:br>
            <a:endParaRPr lang="en-IN" sz="3200" u="sng" dirty="0">
              <a:latin typeface="Times New Roman" pitchFamily="18" charset="0"/>
              <a:cs typeface="Times New Roman" pitchFamily="18" charset="0"/>
            </a:endParaRPr>
          </a:p>
        </p:txBody>
      </p:sp>
      <p:sp>
        <p:nvSpPr>
          <p:cNvPr id="3" name="Content Placeholder 2"/>
          <p:cNvSpPr>
            <a:spLocks noGrp="1"/>
          </p:cNvSpPr>
          <p:nvPr>
            <p:ph idx="1"/>
          </p:nvPr>
        </p:nvSpPr>
        <p:spPr>
          <a:xfrm>
            <a:off x="-332509" y="1719076"/>
            <a:ext cx="8229600" cy="4325112"/>
          </a:xfrm>
        </p:spPr>
        <p:txBody>
          <a:bodyPr/>
          <a:lstStyle/>
          <a:p>
            <a:pPr marL="1257300" lvl="3" indent="-342900">
              <a:spcBef>
                <a:spcPct val="20000"/>
              </a:spcBef>
              <a:buClr>
                <a:schemeClr val="accent2"/>
              </a:buClr>
            </a:pPr>
            <a:r>
              <a:rPr lang="en-US" sz="2400" dirty="0"/>
              <a:t>“Ethernet” refers to the cable (the ether) </a:t>
            </a:r>
          </a:p>
          <a:p>
            <a:pPr marL="1257300" lvl="3" indent="-342900">
              <a:spcBef>
                <a:spcPct val="20000"/>
              </a:spcBef>
              <a:buClr>
                <a:schemeClr val="accent2"/>
              </a:buClr>
            </a:pPr>
            <a:r>
              <a:rPr lang="en-US" sz="2400" dirty="0"/>
              <a:t>Four types of cabling are commonly used</a:t>
            </a:r>
            <a:endParaRPr lang="en-US" sz="2400" b="1" dirty="0"/>
          </a:p>
          <a:p>
            <a:endParaRPr lang="en-IN"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32</a:t>
            </a:fld>
            <a:endParaRPr lang="en-US" dirty="0"/>
          </a:p>
        </p:txBody>
      </p:sp>
      <p:pic>
        <p:nvPicPr>
          <p:cNvPr id="5" name="Picture 4" descr="4-13"/>
          <p:cNvPicPr>
            <a:picLocks noChangeAspect="1" noChangeArrowheads="1"/>
          </p:cNvPicPr>
          <p:nvPr/>
        </p:nvPicPr>
        <p:blipFill>
          <a:blip r:embed="rId2" cstate="print"/>
          <a:srcRect/>
          <a:stretch>
            <a:fillRect/>
          </a:stretch>
        </p:blipFill>
        <p:spPr bwMode="auto">
          <a:xfrm>
            <a:off x="211239" y="3161195"/>
            <a:ext cx="8763569" cy="1749450"/>
          </a:xfrm>
          <a:prstGeom prst="rect">
            <a:avLst/>
          </a:prstGeom>
          <a:noFill/>
          <a:ln w="9525">
            <a:noFill/>
            <a:miter lim="800000"/>
            <a:headEnd/>
            <a:tailEnd/>
          </a:ln>
        </p:spPr>
      </p:pic>
      <p:sp>
        <p:nvSpPr>
          <p:cNvPr id="6" name="Rectangle 5"/>
          <p:cNvSpPr/>
          <p:nvPr/>
        </p:nvSpPr>
        <p:spPr>
          <a:xfrm>
            <a:off x="1463800" y="5235839"/>
            <a:ext cx="6258445" cy="461665"/>
          </a:xfrm>
          <a:prstGeom prst="rect">
            <a:avLst/>
          </a:prstGeom>
        </p:spPr>
        <p:txBody>
          <a:bodyPr wrap="none">
            <a:spAutoFit/>
          </a:bodyPr>
          <a:lstStyle/>
          <a:p>
            <a:r>
              <a:rPr lang="en-US" sz="2400" dirty="0"/>
              <a:t>Fig: most common kinds of Ethernet cabling </a:t>
            </a:r>
          </a:p>
        </p:txBody>
      </p:sp>
    </p:spTree>
    <p:extLst>
      <p:ext uri="{BB962C8B-B14F-4D97-AF65-F5344CB8AC3E}">
        <p14:creationId xmlns:p14="http://schemas.microsoft.com/office/powerpoint/2010/main" val="2160268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F55C829-AE99-4997-8EBC-414F558758A8}" type="slidenum">
              <a:rPr lang="en-US" smtClean="0"/>
              <a:pPr/>
              <a:t>33</a:t>
            </a:fld>
            <a:endParaRPr lang="en-US" dirty="0"/>
          </a:p>
        </p:txBody>
      </p:sp>
      <p:sp>
        <p:nvSpPr>
          <p:cNvPr id="5" name="Rectangle 3"/>
          <p:cNvSpPr txBox="1">
            <a:spLocks noChangeArrowheads="1"/>
          </p:cNvSpPr>
          <p:nvPr/>
        </p:nvSpPr>
        <p:spPr bwMode="auto">
          <a:xfrm>
            <a:off x="41563" y="586001"/>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endParaRPr lang="en-US" sz="24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091" y="4310713"/>
            <a:ext cx="3276600" cy="2243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descr="Benno on Twitter: &amp;quot;@mischapeters https://t.co/1v3mbiiDqm&amp;quot; / Twit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3691" y="3567146"/>
            <a:ext cx="5506893" cy="344431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091" y="476979"/>
            <a:ext cx="8271164" cy="3785652"/>
          </a:xfrm>
          <a:prstGeom prst="rect">
            <a:avLst/>
          </a:prstGeom>
        </p:spPr>
        <p:txBody>
          <a:bodyPr wrap="square">
            <a:spAutoFit/>
          </a:bodyPr>
          <a:lstStyle/>
          <a:p>
            <a:pPr marL="609600"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10Base5 cabling</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popularly called thick Ethernet</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resembles a yellow garden hose</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Connections to it are generally made using </a:t>
            </a:r>
            <a:r>
              <a:rPr lang="en-US" sz="2400" b="1" dirty="0">
                <a:latin typeface="Times New Roman" pitchFamily="18" charset="0"/>
                <a:cs typeface="Times New Roman" pitchFamily="18" charset="0"/>
              </a:rPr>
              <a:t>vampire taps</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 pin is very carefully forced halfway into the coaxial cable's core.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10Base5 means that it operates at 10 Mbps, uses baseband signaling, and can support segments of up to 500 meters.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34</a:t>
            </a:fld>
            <a:endParaRPr lang="en-US" dirty="0"/>
          </a:p>
        </p:txBody>
      </p:sp>
      <p:sp>
        <p:nvSpPr>
          <p:cNvPr id="5" name="Rectangle 3"/>
          <p:cNvSpPr txBox="1">
            <a:spLocks noChangeArrowheads="1"/>
          </p:cNvSpPr>
          <p:nvPr/>
        </p:nvSpPr>
        <p:spPr bwMode="auto">
          <a:xfrm>
            <a:off x="0" y="516729"/>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10Base2, or thin Ethernet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bends easily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Connections to it are made using industry-standard BNC connectors to form T junctions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Adv: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BNC connectors are easier to use and more reliable.</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Thin Ethernet is much cheaper and easier to install</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Limitation: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it can run for only 185 meters per segment, each of which can handle only 30 machines.</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Major problem with </a:t>
            </a:r>
            <a:r>
              <a:rPr lang="en-US" sz="2400" b="1" dirty="0">
                <a:latin typeface="Times New Roman" pitchFamily="18" charset="0"/>
                <a:cs typeface="Times New Roman" pitchFamily="18" charset="0"/>
              </a:rPr>
              <a:t>10Base5 &amp; 10Base2</a:t>
            </a:r>
            <a:endParaRPr lang="en-US" sz="2400" dirty="0">
              <a:latin typeface="Times New Roman" pitchFamily="18" charset="0"/>
              <a:cs typeface="Times New Roman" pitchFamily="18" charset="0"/>
            </a:endParaRP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Detecting cable breaks, excessive length, bad taps, or loose connectors is difficult </a:t>
            </a:r>
          </a:p>
        </p:txBody>
      </p:sp>
      <p:pic>
        <p:nvPicPr>
          <p:cNvPr id="2050" name="Picture 2" descr="10BASE2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7721" y="5620759"/>
            <a:ext cx="2095500" cy="11811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35</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t>10Base-T</a:t>
            </a:r>
            <a:endParaRPr lang="en-US" sz="2400" dirty="0"/>
          </a:p>
          <a:p>
            <a:pPr marL="1066800" lvl="1" indent="-609600" algn="just">
              <a:spcBef>
                <a:spcPct val="20000"/>
              </a:spcBef>
              <a:buClr>
                <a:schemeClr val="accent2"/>
              </a:buClr>
              <a:buFont typeface="Wingdings" pitchFamily="2" charset="2"/>
              <a:buChar char="§"/>
            </a:pPr>
            <a:r>
              <a:rPr lang="en-US" sz="2400" dirty="0"/>
              <a:t>Problems associated with finding cable breaks introduced different kind of wiring pattern, </a:t>
            </a:r>
          </a:p>
          <a:p>
            <a:pPr marL="1524000" lvl="2" indent="-609600" algn="just">
              <a:spcBef>
                <a:spcPct val="20000"/>
              </a:spcBef>
              <a:buClr>
                <a:schemeClr val="accent2"/>
              </a:buClr>
              <a:buFont typeface="Wingdings" pitchFamily="2" charset="2"/>
              <a:buChar char="§"/>
            </a:pPr>
            <a:r>
              <a:rPr lang="en-US" sz="2400" dirty="0"/>
              <a:t>in which all stations have a cable running to a central </a:t>
            </a:r>
            <a:r>
              <a:rPr lang="en-US" sz="2400" b="1" dirty="0"/>
              <a:t>hub </a:t>
            </a:r>
            <a:r>
              <a:rPr lang="en-US" sz="2400" dirty="0"/>
              <a:t>where they are all connected electrically</a:t>
            </a:r>
          </a:p>
          <a:p>
            <a:pPr marL="1066800" lvl="1" indent="-609600" algn="just">
              <a:spcBef>
                <a:spcPct val="20000"/>
              </a:spcBef>
              <a:buClr>
                <a:schemeClr val="accent2"/>
              </a:buClr>
              <a:buFont typeface="Wingdings" pitchFamily="2" charset="2"/>
              <a:buChar char="§"/>
            </a:pPr>
            <a:r>
              <a:rPr lang="en-US" sz="2400" dirty="0"/>
              <a:t>these wires are telephone company twisted pairs </a:t>
            </a:r>
          </a:p>
        </p:txBody>
      </p:sp>
      <p:pic>
        <p:nvPicPr>
          <p:cNvPr id="3074" name="Picture 2" descr="Ethernet over twisted pair - Wikiwa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8472" y="4258381"/>
            <a:ext cx="2834698" cy="185075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efinition of 10Base-T | PCMa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345" y="3397618"/>
            <a:ext cx="4251326" cy="34603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dirty="0"/>
              <a:t>Ethernet</a:t>
            </a:r>
            <a:endParaRPr lang="en-US" dirty="0"/>
          </a:p>
        </p:txBody>
      </p:sp>
      <p:sp>
        <p:nvSpPr>
          <p:cNvPr id="5" name="Slide Number Placeholder 4"/>
          <p:cNvSpPr>
            <a:spLocks noGrp="1"/>
          </p:cNvSpPr>
          <p:nvPr>
            <p:ph type="sldNum" sz="quarter" idx="12"/>
          </p:nvPr>
        </p:nvSpPr>
        <p:spPr/>
        <p:txBody>
          <a:bodyPr/>
          <a:lstStyle/>
          <a:p>
            <a:fld id="{EF55C829-AE99-4997-8EBC-414F558758A8}" type="slidenum">
              <a:rPr lang="en-US" smtClean="0"/>
              <a:pPr/>
              <a:t>36</a:t>
            </a:fld>
            <a:endParaRPr lang="en-US" dirty="0"/>
          </a:p>
        </p:txBody>
      </p:sp>
      <p:pic>
        <p:nvPicPr>
          <p:cNvPr id="4" name="Picture 4" descr="4-14"/>
          <p:cNvPicPr>
            <a:picLocks noChangeAspect="1" noChangeArrowheads="1"/>
          </p:cNvPicPr>
          <p:nvPr/>
        </p:nvPicPr>
        <p:blipFill>
          <a:blip r:embed="rId3" cstate="print"/>
          <a:srcRect/>
          <a:stretch>
            <a:fillRect/>
          </a:stretch>
        </p:blipFill>
        <p:spPr bwMode="auto">
          <a:xfrm>
            <a:off x="254830" y="912718"/>
            <a:ext cx="8690790" cy="4843505"/>
          </a:xfrm>
          <a:prstGeom prst="rect">
            <a:avLst/>
          </a:prstGeom>
          <a:noFill/>
          <a:ln w="9525">
            <a:noFill/>
            <a:miter lim="800000"/>
            <a:headEnd/>
            <a:tailEnd/>
          </a:ln>
        </p:spPr>
      </p:pic>
      <p:sp>
        <p:nvSpPr>
          <p:cNvPr id="6" name="Rectangle 3"/>
          <p:cNvSpPr txBox="1">
            <a:spLocks noChangeArrowheads="1"/>
          </p:cNvSpPr>
          <p:nvPr/>
        </p:nvSpPr>
        <p:spPr bwMode="auto">
          <a:xfrm>
            <a:off x="28225" y="5756223"/>
            <a:ext cx="9144000" cy="838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Three kinds of Ethernet cabling. </a:t>
            </a:r>
          </a:p>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accent2"/>
                </a:solidFill>
                <a:effectLst/>
                <a:uLnTx/>
                <a:uFillTx/>
                <a:latin typeface="+mn-lt"/>
                <a:ea typeface="+mn-ea"/>
                <a:cs typeface="+mn-cs"/>
              </a:rPr>
              <a:t>(a)</a:t>
            </a:r>
            <a:r>
              <a:rPr kumimoji="0" lang="en-US" sz="2400" b="0" i="0" u="none" strike="noStrike" kern="0" cap="none" spc="0" normalizeH="0" baseline="0" noProof="0" dirty="0">
                <a:ln>
                  <a:noFill/>
                </a:ln>
                <a:solidFill>
                  <a:schemeClr val="tx1"/>
                </a:solidFill>
                <a:effectLst/>
                <a:uLnTx/>
                <a:uFillTx/>
                <a:latin typeface="+mn-lt"/>
                <a:ea typeface="+mn-ea"/>
                <a:cs typeface="+mn-cs"/>
              </a:rPr>
              <a:t> 10Base5, </a:t>
            </a:r>
            <a:r>
              <a:rPr kumimoji="0" lang="en-US" sz="2400" b="0" i="0" u="none" strike="noStrike" kern="0" cap="none" spc="0" normalizeH="0" baseline="0" noProof="0" dirty="0">
                <a:ln>
                  <a:noFill/>
                </a:ln>
                <a:solidFill>
                  <a:schemeClr val="accent2"/>
                </a:solidFill>
                <a:effectLst/>
                <a:uLnTx/>
                <a:uFillTx/>
                <a:latin typeface="+mn-lt"/>
                <a:ea typeface="+mn-ea"/>
                <a:cs typeface="+mn-cs"/>
              </a:rPr>
              <a:t>(b)</a:t>
            </a:r>
            <a:r>
              <a:rPr kumimoji="0" lang="en-US" sz="2400" b="0" i="0" u="none" strike="noStrike" kern="0" cap="none" spc="0" normalizeH="0" baseline="0" noProof="0" dirty="0">
                <a:ln>
                  <a:noFill/>
                </a:ln>
                <a:solidFill>
                  <a:schemeClr val="tx1"/>
                </a:solidFill>
                <a:effectLst/>
                <a:uLnTx/>
                <a:uFillTx/>
                <a:latin typeface="+mn-lt"/>
                <a:ea typeface="+mn-ea"/>
                <a:cs typeface="+mn-cs"/>
              </a:rPr>
              <a:t> 10Base2, </a:t>
            </a:r>
            <a:r>
              <a:rPr kumimoji="0" lang="en-US" sz="2400" b="0" i="0" u="none" strike="noStrike" kern="0" cap="none" spc="0" normalizeH="0" baseline="0" noProof="0" dirty="0">
                <a:ln>
                  <a:noFill/>
                </a:ln>
                <a:solidFill>
                  <a:schemeClr val="accent2"/>
                </a:solidFill>
                <a:effectLst/>
                <a:uLnTx/>
                <a:uFillTx/>
                <a:latin typeface="+mn-lt"/>
                <a:ea typeface="+mn-ea"/>
                <a:cs typeface="+mn-cs"/>
              </a:rPr>
              <a:t>(c)</a:t>
            </a:r>
            <a:r>
              <a:rPr kumimoji="0" lang="en-US" sz="2400" b="0" i="0" u="none" strike="noStrike" kern="0" cap="none" spc="0" normalizeH="0" baseline="0" noProof="0" dirty="0">
                <a:ln>
                  <a:noFill/>
                </a:ln>
                <a:solidFill>
                  <a:schemeClr val="tx1"/>
                </a:solidFill>
                <a:effectLst/>
                <a:uLnTx/>
                <a:uFillTx/>
                <a:latin typeface="+mn-lt"/>
                <a:ea typeface="+mn-ea"/>
                <a:cs typeface="+mn-cs"/>
              </a:rPr>
              <a:t> 10Base-T.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37</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Transceiver contains the electronics that handle carrier detection and collision detection.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When a collision is detected, the transceiver also puts a special invalid signal on the cable to ensure that all other transceivers also realize that a collision has occurred.</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Disadvantage of 10Base-T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maximum cable run from the hub is only 100 meters, or 200 meters</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Advantages of 10Base-T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use of existing wiring and the ease of maintenance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38</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t>10Base-F </a:t>
            </a:r>
          </a:p>
          <a:p>
            <a:pPr marL="1066800" lvl="1" indent="-609600" algn="just">
              <a:spcBef>
                <a:spcPct val="20000"/>
              </a:spcBef>
              <a:buClr>
                <a:schemeClr val="accent2"/>
              </a:buClr>
              <a:buFont typeface="Wingdings" pitchFamily="2" charset="2"/>
              <a:buChar char="§"/>
            </a:pPr>
            <a:r>
              <a:rPr lang="en-US" sz="2400" dirty="0"/>
              <a:t>which uses fiber optics</a:t>
            </a:r>
          </a:p>
          <a:p>
            <a:pPr marL="1066800" lvl="1" indent="-609600" algn="just">
              <a:spcBef>
                <a:spcPct val="20000"/>
              </a:spcBef>
              <a:buClr>
                <a:schemeClr val="accent2"/>
              </a:buClr>
              <a:buFont typeface="Wingdings" pitchFamily="2" charset="2"/>
              <a:buChar char="§"/>
            </a:pPr>
            <a:r>
              <a:rPr lang="en-US" sz="2400" dirty="0"/>
              <a:t>Limitation:</a:t>
            </a:r>
          </a:p>
          <a:p>
            <a:pPr marL="1524000" lvl="2" indent="-609600" algn="just">
              <a:spcBef>
                <a:spcPct val="20000"/>
              </a:spcBef>
              <a:buClr>
                <a:schemeClr val="accent2"/>
              </a:buClr>
              <a:buFont typeface="Wingdings" pitchFamily="2" charset="2"/>
              <a:buChar char="§"/>
            </a:pPr>
            <a:r>
              <a:rPr lang="en-US" sz="2400" dirty="0">
                <a:solidFill>
                  <a:srgbClr val="FF0000"/>
                </a:solidFill>
              </a:rPr>
              <a:t>expensive</a:t>
            </a:r>
            <a:r>
              <a:rPr lang="en-US" sz="2400" dirty="0"/>
              <a:t> due to the cost of the connectors and terminators, </a:t>
            </a:r>
          </a:p>
          <a:p>
            <a:pPr marL="1066800" lvl="1" indent="-609600" algn="just">
              <a:spcBef>
                <a:spcPct val="20000"/>
              </a:spcBef>
              <a:buClr>
                <a:schemeClr val="accent2"/>
              </a:buClr>
              <a:buFont typeface="Wingdings" pitchFamily="2" charset="2"/>
              <a:buChar char="§"/>
            </a:pPr>
            <a:r>
              <a:rPr lang="en-US" sz="2400" dirty="0"/>
              <a:t>advantages:</a:t>
            </a:r>
          </a:p>
          <a:p>
            <a:pPr marL="1524000" lvl="2" indent="-609600" algn="just">
              <a:spcBef>
                <a:spcPct val="20000"/>
              </a:spcBef>
              <a:buClr>
                <a:schemeClr val="accent2"/>
              </a:buClr>
              <a:buFont typeface="Wingdings" pitchFamily="2" charset="2"/>
              <a:buChar char="§"/>
            </a:pPr>
            <a:r>
              <a:rPr lang="en-US" sz="2400" dirty="0"/>
              <a:t>it has excellent </a:t>
            </a:r>
            <a:r>
              <a:rPr lang="en-US" sz="2400" dirty="0">
                <a:solidFill>
                  <a:srgbClr val="FF0000"/>
                </a:solidFill>
              </a:rPr>
              <a:t>noise immunity </a:t>
            </a:r>
            <a:endParaRPr lang="en-US" sz="2400" dirty="0"/>
          </a:p>
          <a:p>
            <a:pPr marL="1524000" lvl="2" indent="-609600" algn="just">
              <a:spcBef>
                <a:spcPct val="20000"/>
              </a:spcBef>
              <a:buClr>
                <a:schemeClr val="accent2"/>
              </a:buClr>
              <a:buFont typeface="Wingdings" pitchFamily="2" charset="2"/>
              <a:buChar char="§"/>
            </a:pPr>
            <a:r>
              <a:rPr lang="en-US" sz="2400" dirty="0"/>
              <a:t>method of choice when </a:t>
            </a:r>
            <a:r>
              <a:rPr lang="en-US" sz="2400" dirty="0">
                <a:solidFill>
                  <a:srgbClr val="FF0000"/>
                </a:solidFill>
              </a:rPr>
              <a:t>running between buildings </a:t>
            </a:r>
            <a:r>
              <a:rPr lang="en-US" sz="2400" dirty="0"/>
              <a:t>or widely-separated </a:t>
            </a:r>
            <a:r>
              <a:rPr lang="en-US" sz="2400" dirty="0">
                <a:solidFill>
                  <a:srgbClr val="FF0000"/>
                </a:solidFill>
              </a:rPr>
              <a:t>hubs</a:t>
            </a:r>
            <a:r>
              <a:rPr lang="en-US" sz="2400" dirty="0"/>
              <a:t>. </a:t>
            </a:r>
          </a:p>
          <a:p>
            <a:pPr marL="1524000" lvl="2" indent="-609600" algn="just">
              <a:spcBef>
                <a:spcPct val="20000"/>
              </a:spcBef>
              <a:buClr>
                <a:schemeClr val="accent2"/>
              </a:buClr>
              <a:buFont typeface="Wingdings" pitchFamily="2" charset="2"/>
              <a:buChar char="§"/>
            </a:pPr>
            <a:r>
              <a:rPr lang="en-US" sz="2400" dirty="0"/>
              <a:t>Runs of up to </a:t>
            </a:r>
            <a:r>
              <a:rPr lang="en-US" sz="2400" dirty="0">
                <a:solidFill>
                  <a:srgbClr val="FF0000"/>
                </a:solidFill>
              </a:rPr>
              <a:t>kms</a:t>
            </a:r>
            <a:r>
              <a:rPr lang="en-US" sz="2400" dirty="0"/>
              <a:t> are allowed. </a:t>
            </a:r>
          </a:p>
          <a:p>
            <a:pPr marL="1524000" lvl="2" indent="-609600" algn="just">
              <a:spcBef>
                <a:spcPct val="20000"/>
              </a:spcBef>
              <a:buClr>
                <a:schemeClr val="accent2"/>
              </a:buClr>
              <a:buFont typeface="Wingdings" pitchFamily="2" charset="2"/>
              <a:buChar char="§"/>
            </a:pPr>
            <a:r>
              <a:rPr lang="en-US" sz="2400" dirty="0"/>
              <a:t>It also offers </a:t>
            </a:r>
            <a:r>
              <a:rPr lang="en-US" sz="2400" dirty="0">
                <a:solidFill>
                  <a:srgbClr val="FF0000"/>
                </a:solidFill>
              </a:rPr>
              <a:t>good security </a:t>
            </a:r>
            <a:r>
              <a:rPr lang="en-US" sz="2400" dirty="0"/>
              <a:t>since wiretapping fiber is much more difficult than wiretapping copper wire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fld id="{EF55C829-AE99-4997-8EBC-414F558758A8}" type="slidenum">
              <a:rPr lang="en-US" smtClean="0"/>
              <a:pPr/>
              <a:t>39</a:t>
            </a:fld>
            <a:endParaRPr lang="en-US" dirty="0"/>
          </a:p>
        </p:txBody>
      </p:sp>
      <p:pic>
        <p:nvPicPr>
          <p:cNvPr id="4098" name="Picture 2" descr="PPT - Chapter 13 Wired LANs: Ethernet PowerPoint Presentation, free  download - ID:59889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98" y="0"/>
            <a:ext cx="9753600" cy="731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873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dirty="0"/>
              <a:t>Ethernet</a:t>
            </a:r>
            <a:endParaRPr lang="en-US" dirty="0"/>
          </a:p>
        </p:txBody>
      </p:sp>
      <p:sp>
        <p:nvSpPr>
          <p:cNvPr id="5" name="Slide Number Placeholder 4"/>
          <p:cNvSpPr>
            <a:spLocks noGrp="1"/>
          </p:cNvSpPr>
          <p:nvPr>
            <p:ph type="sldNum" sz="quarter" idx="12"/>
          </p:nvPr>
        </p:nvSpPr>
        <p:spPr>
          <a:xfrm>
            <a:off x="6553200" y="6368320"/>
            <a:ext cx="1905000" cy="457200"/>
          </a:xfrm>
        </p:spPr>
        <p:txBody>
          <a:bodyPr/>
          <a:lstStyle/>
          <a:p>
            <a:fld id="{EF55C829-AE99-4997-8EBC-414F558758A8}" type="slidenum">
              <a:rPr lang="en-US" smtClean="0"/>
              <a:pPr/>
              <a:t>40</a:t>
            </a:fld>
            <a:endParaRPr lang="en-US" dirty="0"/>
          </a:p>
        </p:txBody>
      </p:sp>
      <p:pic>
        <p:nvPicPr>
          <p:cNvPr id="6" name="Picture 4" descr="4-15"/>
          <p:cNvPicPr>
            <a:picLocks noChangeAspect="1" noChangeArrowheads="1"/>
          </p:cNvPicPr>
          <p:nvPr/>
        </p:nvPicPr>
        <p:blipFill>
          <a:blip r:embed="rId3" cstate="print"/>
          <a:srcRect/>
          <a:stretch>
            <a:fillRect/>
          </a:stretch>
        </p:blipFill>
        <p:spPr bwMode="auto">
          <a:xfrm>
            <a:off x="222198" y="946540"/>
            <a:ext cx="8696950" cy="4704751"/>
          </a:xfrm>
          <a:prstGeom prst="rect">
            <a:avLst/>
          </a:prstGeom>
          <a:noFill/>
          <a:ln w="9525">
            <a:noFill/>
            <a:miter lim="800000"/>
            <a:headEnd/>
            <a:tailEnd/>
          </a:ln>
        </p:spPr>
      </p:pic>
      <p:sp>
        <p:nvSpPr>
          <p:cNvPr id="7" name="Rectangle 3"/>
          <p:cNvSpPr txBox="1">
            <a:spLocks noChangeArrowheads="1"/>
          </p:cNvSpPr>
          <p:nvPr/>
        </p:nvSpPr>
        <p:spPr bwMode="auto">
          <a:xfrm>
            <a:off x="0" y="5984820"/>
            <a:ext cx="9144000" cy="838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a:ln>
                  <a:noFill/>
                </a:ln>
                <a:solidFill>
                  <a:schemeClr val="tx1"/>
                </a:solidFill>
                <a:effectLst/>
                <a:uLnTx/>
                <a:uFillTx/>
                <a:latin typeface="+mn-lt"/>
                <a:ea typeface="+mn-ea"/>
                <a:cs typeface="+mn-cs"/>
              </a:rPr>
              <a:t>Cable topologies.  </a:t>
            </a:r>
            <a:r>
              <a:rPr kumimoji="0" lang="en-US" sz="2400" b="0" i="0" u="none" strike="noStrike" kern="0" cap="none" spc="0" normalizeH="0" baseline="0" noProof="0">
                <a:ln>
                  <a:noFill/>
                </a:ln>
                <a:solidFill>
                  <a:schemeClr val="accent2"/>
                </a:solidFill>
                <a:effectLst/>
                <a:uLnTx/>
                <a:uFillTx/>
                <a:latin typeface="+mn-lt"/>
                <a:ea typeface="+mn-ea"/>
                <a:cs typeface="+mn-cs"/>
              </a:rPr>
              <a:t>(a)</a:t>
            </a:r>
            <a:r>
              <a:rPr kumimoji="0" lang="en-US" sz="2400" b="0" i="0" u="none" strike="noStrike" kern="0" cap="none" spc="0" normalizeH="0" baseline="0" noProof="0">
                <a:ln>
                  <a:noFill/>
                </a:ln>
                <a:solidFill>
                  <a:schemeClr val="tx1"/>
                </a:solidFill>
                <a:effectLst/>
                <a:uLnTx/>
                <a:uFillTx/>
                <a:latin typeface="+mn-lt"/>
                <a:ea typeface="+mn-ea"/>
                <a:cs typeface="+mn-cs"/>
              </a:rPr>
              <a:t> Linear, </a:t>
            </a:r>
            <a:r>
              <a:rPr kumimoji="0" lang="en-US" sz="2400" b="0" i="0" u="none" strike="noStrike" kern="0" cap="none" spc="0" normalizeH="0" baseline="0" noProof="0">
                <a:ln>
                  <a:noFill/>
                </a:ln>
                <a:solidFill>
                  <a:schemeClr val="accent2"/>
                </a:solidFill>
                <a:effectLst/>
                <a:uLnTx/>
                <a:uFillTx/>
                <a:latin typeface="+mn-lt"/>
                <a:ea typeface="+mn-ea"/>
                <a:cs typeface="+mn-cs"/>
              </a:rPr>
              <a:t>(b)</a:t>
            </a:r>
            <a:r>
              <a:rPr kumimoji="0" lang="en-US" sz="2400" b="0" i="0" u="none" strike="noStrike" kern="0" cap="none" spc="0" normalizeH="0" baseline="0" noProof="0">
                <a:ln>
                  <a:noFill/>
                </a:ln>
                <a:solidFill>
                  <a:schemeClr val="tx1"/>
                </a:solidFill>
                <a:effectLst/>
                <a:uLnTx/>
                <a:uFillTx/>
                <a:latin typeface="+mn-lt"/>
                <a:ea typeface="+mn-ea"/>
                <a:cs typeface="+mn-cs"/>
              </a:rPr>
              <a:t> Spine, </a:t>
            </a:r>
            <a:r>
              <a:rPr kumimoji="0" lang="en-US" sz="2400" b="0" i="0" u="none" strike="noStrike" kern="0" cap="none" spc="0" normalizeH="0" baseline="0" noProof="0">
                <a:ln>
                  <a:noFill/>
                </a:ln>
                <a:solidFill>
                  <a:schemeClr val="accent2"/>
                </a:solidFill>
                <a:effectLst/>
                <a:uLnTx/>
                <a:uFillTx/>
                <a:latin typeface="+mn-lt"/>
                <a:ea typeface="+mn-ea"/>
                <a:cs typeface="+mn-cs"/>
              </a:rPr>
              <a:t>(c</a:t>
            </a:r>
            <a:r>
              <a:rPr kumimoji="0" lang="en-US" sz="2400" b="0" i="0" u="none" strike="noStrike" kern="0" cap="none" spc="0" normalizeH="0" baseline="0" noProof="0">
                <a:ln>
                  <a:noFill/>
                </a:ln>
                <a:solidFill>
                  <a:schemeClr val="tx1"/>
                </a:solidFill>
                <a:effectLst/>
                <a:uLnTx/>
                <a:uFillTx/>
                <a:latin typeface="+mn-lt"/>
                <a:ea typeface="+mn-ea"/>
                <a:cs typeface="+mn-cs"/>
              </a:rPr>
              <a:t>) Tree, </a:t>
            </a:r>
            <a:r>
              <a:rPr kumimoji="0" lang="en-US" sz="2400" b="0" i="0" u="none" strike="noStrike" kern="0" cap="none" spc="0" normalizeH="0" baseline="0" noProof="0">
                <a:ln>
                  <a:noFill/>
                </a:ln>
                <a:solidFill>
                  <a:schemeClr val="accent2"/>
                </a:solidFill>
                <a:effectLst/>
                <a:uLnTx/>
                <a:uFillTx/>
                <a:latin typeface="+mn-lt"/>
                <a:ea typeface="+mn-ea"/>
                <a:cs typeface="+mn-cs"/>
              </a:rPr>
              <a:t>(d)</a:t>
            </a:r>
            <a:r>
              <a:rPr kumimoji="0" lang="en-US" sz="2400" b="0" i="0" u="none" strike="noStrike" kern="0" cap="none" spc="0" normalizeH="0" baseline="0" noProof="0">
                <a:ln>
                  <a:noFill/>
                </a:ln>
                <a:solidFill>
                  <a:schemeClr val="tx1"/>
                </a:solidFill>
                <a:effectLst/>
                <a:uLnTx/>
                <a:uFillTx/>
                <a:latin typeface="+mn-lt"/>
                <a:ea typeface="+mn-ea"/>
                <a:cs typeface="+mn-cs"/>
              </a:rPr>
              <a:t> Segmented.</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dirty="0"/>
              <a:t>Ethernet</a:t>
            </a:r>
            <a:endParaRPr lang="en-US"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41</a:t>
            </a:fld>
            <a:endParaRPr lang="en-US" dirty="0"/>
          </a:p>
        </p:txBody>
      </p:sp>
      <p:sp>
        <p:nvSpPr>
          <p:cNvPr id="5" name="Rectangle 3"/>
          <p:cNvSpPr txBox="1">
            <a:spLocks noChangeArrowheads="1"/>
          </p:cNvSpPr>
          <p:nvPr/>
        </p:nvSpPr>
        <p:spPr bwMode="auto">
          <a:xfrm>
            <a:off x="0" y="710692"/>
            <a:ext cx="8936182"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b="1" dirty="0">
                <a:latin typeface="Times New Roman" pitchFamily="18" charset="0"/>
                <a:cs typeface="Times New Roman" pitchFamily="18" charset="0"/>
              </a:rPr>
              <a:t>Manchester Encoding - introduction</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None of the versions of Ethernet uses straight binary encoding with 0 volts for a 0 bit and 5 volts for a 1 bit because it leads to ambiguities (uncertainty).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If one station sends the bit string 0001000, others might falsely interpret it as 10000000 or 01000000 because they cannot tell the difference between an idle sender (0 volts) and a 0 bit (0 volts). </a:t>
            </a:r>
          </a:p>
          <a:p>
            <a:pPr marL="1066800" lvl="1"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This problem can be solved by using +1 volts for a 1 &amp; -1 volts for a 0, </a:t>
            </a:r>
          </a:p>
          <a:p>
            <a:pPr marL="1524000" lvl="2" indent="-609600" algn="just">
              <a:spcBef>
                <a:spcPct val="20000"/>
              </a:spcBef>
              <a:buClr>
                <a:schemeClr val="accent2"/>
              </a:buClr>
              <a:buFont typeface="Wingdings" pitchFamily="2" charset="2"/>
              <a:buChar char="§"/>
            </a:pPr>
            <a:r>
              <a:rPr lang="en-US" sz="2600" dirty="0">
                <a:latin typeface="Times New Roman" pitchFamily="18" charset="0"/>
                <a:cs typeface="Times New Roman" pitchFamily="18" charset="0"/>
              </a:rPr>
              <a:t>but there is still the problem of a receiver sampling the signal at a slightly different frequency than the sender used to generate it.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dirty="0"/>
              <a:t>Ethernet</a:t>
            </a:r>
            <a:endParaRPr lang="en-US"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42</a:t>
            </a:fld>
            <a:endParaRPr lang="en-US" dirty="0"/>
          </a:p>
        </p:txBody>
      </p:sp>
      <p:sp>
        <p:nvSpPr>
          <p:cNvPr id="5" name="Rectangle 3"/>
          <p:cNvSpPr txBox="1">
            <a:spLocks noChangeArrowheads="1"/>
          </p:cNvSpPr>
          <p:nvPr/>
        </p:nvSpPr>
        <p:spPr bwMode="auto">
          <a:xfrm>
            <a:off x="0" y="71069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t>A way is needed for receivers to unambiguously determine the start, end, or middle of each bit without reference to an external clock. </a:t>
            </a:r>
          </a:p>
          <a:p>
            <a:pPr marL="609600" indent="-609600" algn="just">
              <a:spcBef>
                <a:spcPct val="20000"/>
              </a:spcBef>
              <a:buClr>
                <a:schemeClr val="accent2"/>
              </a:buClr>
              <a:buFont typeface="Wingdings" pitchFamily="2" charset="2"/>
              <a:buChar char="§"/>
            </a:pPr>
            <a:r>
              <a:rPr lang="en-US" sz="2400" dirty="0"/>
              <a:t>Two such approaches </a:t>
            </a:r>
          </a:p>
          <a:p>
            <a:pPr marL="1066800" lvl="1" indent="-609600" algn="just">
              <a:spcBef>
                <a:spcPct val="20000"/>
              </a:spcBef>
              <a:buClr>
                <a:schemeClr val="accent2"/>
              </a:buClr>
              <a:buFont typeface="Wingdings" pitchFamily="2" charset="2"/>
              <a:buChar char="§"/>
            </a:pPr>
            <a:r>
              <a:rPr lang="en-US" sz="2400" b="1" dirty="0"/>
              <a:t>Manchester encoding </a:t>
            </a:r>
          </a:p>
          <a:p>
            <a:pPr marL="1066800" lvl="1" indent="-609600" algn="just">
              <a:spcBef>
                <a:spcPct val="20000"/>
              </a:spcBef>
              <a:buClr>
                <a:schemeClr val="accent2"/>
              </a:buClr>
              <a:buFont typeface="Wingdings" pitchFamily="2" charset="2"/>
              <a:buChar char="§"/>
            </a:pPr>
            <a:r>
              <a:rPr lang="en-US" sz="2400" b="1" dirty="0"/>
              <a:t>differential Manchester encoding. </a:t>
            </a:r>
          </a:p>
          <a:p>
            <a:pPr marL="609600" lvl="1" indent="-609600" algn="just">
              <a:spcBef>
                <a:spcPct val="20000"/>
              </a:spcBef>
              <a:buClr>
                <a:schemeClr val="accent2"/>
              </a:buClr>
              <a:buFont typeface="Wingdings" pitchFamily="2" charset="2"/>
              <a:buChar char="§"/>
            </a:pPr>
            <a:r>
              <a:rPr lang="en-US" sz="2400" b="1" dirty="0"/>
              <a:t>Manchester encoding </a:t>
            </a:r>
          </a:p>
          <a:p>
            <a:pPr marL="1066800" lvl="1" indent="-609600" algn="just">
              <a:spcBef>
                <a:spcPct val="20000"/>
              </a:spcBef>
              <a:buClr>
                <a:schemeClr val="accent2"/>
              </a:buClr>
              <a:buFont typeface="Wingdings" pitchFamily="2" charset="2"/>
              <a:buChar char="§"/>
            </a:pPr>
            <a:r>
              <a:rPr lang="en-US" sz="2400" dirty="0"/>
              <a:t>each bit period is divided into two equal intervals. </a:t>
            </a:r>
          </a:p>
          <a:p>
            <a:pPr marL="1066800" lvl="1" indent="-609600" algn="just">
              <a:spcBef>
                <a:spcPct val="20000"/>
              </a:spcBef>
              <a:buClr>
                <a:schemeClr val="accent2"/>
              </a:buClr>
              <a:buFont typeface="Wingdings" pitchFamily="2" charset="2"/>
              <a:buChar char="§"/>
            </a:pPr>
            <a:r>
              <a:rPr lang="en-US" sz="2400" dirty="0"/>
              <a:t>A binary 1 bit is sent by having the voltage set </a:t>
            </a:r>
            <a:r>
              <a:rPr lang="en-US" sz="2400" dirty="0">
                <a:solidFill>
                  <a:srgbClr val="FF0000"/>
                </a:solidFill>
              </a:rPr>
              <a:t>high</a:t>
            </a:r>
            <a:r>
              <a:rPr lang="en-US" sz="2400" dirty="0"/>
              <a:t> during the first interval and </a:t>
            </a:r>
            <a:r>
              <a:rPr lang="en-US" sz="2400" dirty="0">
                <a:solidFill>
                  <a:srgbClr val="FF0000"/>
                </a:solidFill>
              </a:rPr>
              <a:t>low</a:t>
            </a:r>
            <a:r>
              <a:rPr lang="en-US" sz="2400" dirty="0"/>
              <a:t> in the second one. </a:t>
            </a:r>
          </a:p>
          <a:p>
            <a:pPr marL="1066800" lvl="1" indent="-609600" algn="just">
              <a:spcBef>
                <a:spcPct val="20000"/>
              </a:spcBef>
              <a:buClr>
                <a:schemeClr val="accent2"/>
              </a:buClr>
              <a:buFont typeface="Wingdings" pitchFamily="2" charset="2"/>
              <a:buChar char="§"/>
            </a:pPr>
            <a:r>
              <a:rPr lang="en-US" sz="2400" dirty="0"/>
              <a:t>A binary 0 is just the reverse: first </a:t>
            </a:r>
            <a:r>
              <a:rPr lang="en-US" sz="2400" dirty="0">
                <a:solidFill>
                  <a:srgbClr val="FF0000"/>
                </a:solidFill>
              </a:rPr>
              <a:t>low</a:t>
            </a:r>
            <a:r>
              <a:rPr lang="en-US" sz="2400" dirty="0"/>
              <a:t> and then </a:t>
            </a:r>
            <a:r>
              <a:rPr lang="en-US" sz="2400" dirty="0">
                <a:solidFill>
                  <a:srgbClr val="FF0000"/>
                </a:solidFill>
              </a:rPr>
              <a:t>high</a:t>
            </a:r>
            <a:r>
              <a:rPr lang="en-US" sz="2400" dirty="0"/>
              <a:t>. </a:t>
            </a:r>
          </a:p>
          <a:p>
            <a:pPr marL="1066800" lvl="1" indent="-609600" algn="just">
              <a:spcBef>
                <a:spcPct val="20000"/>
              </a:spcBef>
              <a:buClr>
                <a:schemeClr val="accent2"/>
              </a:buClr>
              <a:buFont typeface="Wingdings" pitchFamily="2" charset="2"/>
              <a:buChar char="§"/>
            </a:pPr>
            <a:r>
              <a:rPr lang="en-US" sz="2400" dirty="0"/>
              <a:t>This scheme ensures that every bit period has a transition in the middle, making it easy for the receiver to synchronize with the sender.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763" y="519546"/>
            <a:ext cx="8229600" cy="1066800"/>
          </a:xfrm>
        </p:spPr>
        <p:txBody>
          <a:bodyPr/>
          <a:lstStyle/>
          <a:p>
            <a:r>
              <a:rPr lang="en-IN" b="1" u="sng" dirty="0"/>
              <a:t>Ethernet MAC </a:t>
            </a:r>
            <a:r>
              <a:rPr lang="en-IN" b="1" u="sng" dirty="0" err="1"/>
              <a:t>Sublayer</a:t>
            </a:r>
            <a:r>
              <a:rPr lang="en-IN" b="1" u="sng" dirty="0"/>
              <a:t> Protocol</a:t>
            </a:r>
            <a:endParaRPr lang="en-IN" u="sng" dirty="0"/>
          </a:p>
        </p:txBody>
      </p:sp>
      <p:sp>
        <p:nvSpPr>
          <p:cNvPr id="3" name="Content Placeholder 2"/>
          <p:cNvSpPr>
            <a:spLocks noGrp="1"/>
          </p:cNvSpPr>
          <p:nvPr>
            <p:ph idx="1"/>
          </p:nvPr>
        </p:nvSpPr>
        <p:spPr>
          <a:xfrm>
            <a:off x="457200" y="1648691"/>
            <a:ext cx="8229600" cy="4925845"/>
          </a:xfrm>
        </p:spPr>
        <p:txBody>
          <a:bodyPr/>
          <a:lstStyle/>
          <a:p>
            <a:r>
              <a:rPr lang="en-IN" dirty="0"/>
              <a:t>The format used to send frames is shown in Fig</a:t>
            </a:r>
          </a:p>
        </p:txBody>
      </p:sp>
      <p:sp>
        <p:nvSpPr>
          <p:cNvPr id="4" name="Slide Number Placeholder 3"/>
          <p:cNvSpPr>
            <a:spLocks noGrp="1"/>
          </p:cNvSpPr>
          <p:nvPr>
            <p:ph type="sldNum" sz="quarter" idx="12"/>
          </p:nvPr>
        </p:nvSpPr>
        <p:spPr/>
        <p:txBody>
          <a:bodyPr/>
          <a:lstStyle/>
          <a:p>
            <a:fld id="{EF55C829-AE99-4997-8EBC-414F558758A8}" type="slidenum">
              <a:rPr lang="en-US" smtClean="0"/>
              <a:pPr/>
              <a:t>43</a:t>
            </a:fld>
            <a:endParaRPr lang="en-US" dirty="0"/>
          </a:p>
        </p:txBody>
      </p:sp>
      <p:pic>
        <p:nvPicPr>
          <p:cNvPr id="5" name="Picture 4" descr="4-17"/>
          <p:cNvPicPr>
            <a:picLocks noChangeAspect="1" noChangeArrowheads="1"/>
          </p:cNvPicPr>
          <p:nvPr/>
        </p:nvPicPr>
        <p:blipFill>
          <a:blip r:embed="rId2" cstate="print"/>
          <a:srcRect/>
          <a:stretch>
            <a:fillRect/>
          </a:stretch>
        </p:blipFill>
        <p:spPr bwMode="auto">
          <a:xfrm>
            <a:off x="211509" y="2194469"/>
            <a:ext cx="8766237" cy="2231842"/>
          </a:xfrm>
          <a:prstGeom prst="rect">
            <a:avLst/>
          </a:prstGeom>
          <a:noFill/>
          <a:ln w="9525">
            <a:noFill/>
            <a:miter lim="800000"/>
            <a:headEnd/>
            <a:tailEnd/>
          </a:ln>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878" y="4436594"/>
            <a:ext cx="5663498" cy="36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21350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F55C829-AE99-4997-8EBC-414F558758A8}" type="slidenum">
              <a:rPr lang="en-US" smtClean="0"/>
              <a:pPr/>
              <a:t>44</a:t>
            </a:fld>
            <a:endParaRPr lang="en-US" dirty="0"/>
          </a:p>
        </p:txBody>
      </p:sp>
      <p:sp>
        <p:nvSpPr>
          <p:cNvPr id="5" name="Rectangle 3"/>
          <p:cNvSpPr txBox="1">
            <a:spLocks noChangeArrowheads="1"/>
          </p:cNvSpPr>
          <p:nvPr/>
        </p:nvSpPr>
        <p:spPr bwMode="auto">
          <a:xfrm>
            <a:off x="0" y="60576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lgn="l">
              <a:buFont typeface="Wingdings" pitchFamily="2" charset="2"/>
              <a:buChar char="Ø"/>
            </a:pPr>
            <a:r>
              <a:rPr lang="en-IN" sz="2400" i="1" u="sng" dirty="0">
                <a:solidFill>
                  <a:schemeClr val="accent1">
                    <a:lumMod val="75000"/>
                  </a:schemeClr>
                </a:solidFill>
                <a:latin typeface="Times New Roman" pitchFamily="18" charset="0"/>
                <a:cs typeface="Times New Roman" pitchFamily="18" charset="0"/>
              </a:rPr>
              <a:t>Preamble</a:t>
            </a:r>
            <a:r>
              <a:rPr lang="en-IN" sz="2400" i="1" dirty="0">
                <a:solidFill>
                  <a:schemeClr val="accent1">
                    <a:lumMod val="75000"/>
                  </a:schemeClr>
                </a:solidFill>
                <a:latin typeface="Times New Roman" pitchFamily="18" charset="0"/>
                <a:cs typeface="Times New Roman" pitchFamily="18" charset="0"/>
              </a:rPr>
              <a:t> </a:t>
            </a:r>
          </a:p>
          <a:p>
            <a:pPr marL="800100" lvl="1" indent="-342900" algn="l">
              <a:buFont typeface="Wingdings" pitchFamily="2" charset="2"/>
              <a:buChar char="ü"/>
            </a:pPr>
            <a:r>
              <a:rPr lang="en-IN" sz="2400" i="1" dirty="0">
                <a:latin typeface="Times New Roman" pitchFamily="18" charset="0"/>
                <a:cs typeface="Times New Roman" pitchFamily="18" charset="0"/>
              </a:rPr>
              <a:t>It is of </a:t>
            </a:r>
            <a:r>
              <a:rPr lang="en-IN" sz="2400" dirty="0">
                <a:latin typeface="Times New Roman" pitchFamily="18" charset="0"/>
                <a:cs typeface="Times New Roman" pitchFamily="18" charset="0"/>
              </a:rPr>
              <a:t>8 bytes, each containing the bit pattern 10101010 (with the exception of the last byte, in which the last 2 bits are set to 11). This last byte is called the </a:t>
            </a:r>
            <a:r>
              <a:rPr lang="en-IN" sz="2400" i="1" dirty="0">
                <a:latin typeface="Times New Roman" pitchFamily="18" charset="0"/>
                <a:cs typeface="Times New Roman" pitchFamily="18" charset="0"/>
              </a:rPr>
              <a:t>Start of Frame </a:t>
            </a:r>
            <a:r>
              <a:rPr lang="en-IN" sz="2400" dirty="0">
                <a:latin typeface="Times New Roman" pitchFamily="18" charset="0"/>
                <a:cs typeface="Times New Roman" pitchFamily="18" charset="0"/>
              </a:rPr>
              <a:t>delimiter for 802.3. </a:t>
            </a:r>
          </a:p>
          <a:p>
            <a:pPr marL="800100" lvl="1" indent="-342900" algn="l">
              <a:buFont typeface="Wingdings" pitchFamily="2" charset="2"/>
              <a:buChar char="ü"/>
            </a:pPr>
            <a:r>
              <a:rPr lang="en-IN" sz="2400" dirty="0">
                <a:latin typeface="Times New Roman" pitchFamily="18" charset="0"/>
                <a:cs typeface="Times New Roman" pitchFamily="18" charset="0"/>
              </a:rPr>
              <a:t>The last two 1 bits tell the receiver that the rest of the frame is about to start.</a:t>
            </a:r>
          </a:p>
          <a:p>
            <a:pPr marL="609600" indent="-609600" algn="just">
              <a:spcBef>
                <a:spcPct val="20000"/>
              </a:spcBef>
              <a:buClr>
                <a:schemeClr val="accent2"/>
              </a:buClr>
              <a:buFont typeface="Wingdings" pitchFamily="2" charset="2"/>
              <a:buChar char="§"/>
            </a:pPr>
            <a:r>
              <a:rPr lang="en-IN" sz="2400" u="sng" dirty="0">
                <a:solidFill>
                  <a:schemeClr val="accent1">
                    <a:lumMod val="75000"/>
                  </a:schemeClr>
                </a:solidFill>
                <a:latin typeface="Times New Roman" pitchFamily="18" charset="0"/>
                <a:cs typeface="Times New Roman" pitchFamily="18" charset="0"/>
              </a:rPr>
              <a:t>Next come two addresses</a:t>
            </a:r>
            <a:r>
              <a:rPr lang="en-US" sz="2400" u="sng" dirty="0">
                <a:solidFill>
                  <a:schemeClr val="accent1">
                    <a:lumMod val="75000"/>
                  </a:schemeClr>
                </a:solidFill>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ü"/>
            </a:pPr>
            <a:r>
              <a:rPr lang="en-US" sz="2400" dirty="0">
                <a:latin typeface="Times New Roman" pitchFamily="18" charset="0"/>
                <a:cs typeface="Times New Roman" pitchFamily="18" charset="0"/>
              </a:rPr>
              <a:t>one for the destination and </a:t>
            </a:r>
          </a:p>
          <a:p>
            <a:pPr marL="1066800" lvl="1" indent="-609600" algn="just">
              <a:spcBef>
                <a:spcPct val="20000"/>
              </a:spcBef>
              <a:buClr>
                <a:schemeClr val="accent2"/>
              </a:buClr>
              <a:buFont typeface="Wingdings" pitchFamily="2" charset="2"/>
              <a:buChar char="ü"/>
            </a:pPr>
            <a:r>
              <a:rPr lang="en-US" sz="2400" dirty="0">
                <a:latin typeface="Times New Roman" pitchFamily="18" charset="0"/>
                <a:cs typeface="Times New Roman" pitchFamily="18" charset="0"/>
              </a:rPr>
              <a:t>one for the source. </a:t>
            </a:r>
          </a:p>
          <a:p>
            <a:pPr marL="1066800" lvl="1" indent="-609600" algn="just">
              <a:spcBef>
                <a:spcPct val="20000"/>
              </a:spcBef>
              <a:buClr>
                <a:schemeClr val="accent2"/>
              </a:buClr>
              <a:buFont typeface="Wingdings" pitchFamily="2" charset="2"/>
              <a:buChar char="ü"/>
            </a:pPr>
            <a:r>
              <a:rPr lang="en-IN" sz="2400" dirty="0">
                <a:latin typeface="Times New Roman" pitchFamily="18" charset="0"/>
                <a:cs typeface="Times New Roman" pitchFamily="18" charset="0"/>
              </a:rPr>
              <a:t>They are each 6 bytes long. </a:t>
            </a:r>
          </a:p>
          <a:p>
            <a:pPr marL="1066800" lvl="1" indent="-609600" algn="just">
              <a:spcBef>
                <a:spcPct val="20000"/>
              </a:spcBef>
              <a:buClr>
                <a:schemeClr val="accent2"/>
              </a:buClr>
              <a:buFont typeface="Wingdings" pitchFamily="2" charset="2"/>
              <a:buChar char="ü"/>
            </a:pPr>
            <a:r>
              <a:rPr lang="en-US" sz="2400" dirty="0">
                <a:latin typeface="Times New Roman" pitchFamily="18" charset="0"/>
                <a:cs typeface="Times New Roman" pitchFamily="18" charset="0"/>
              </a:rPr>
              <a:t>The high-order bit of the destination address is a 0 for ordinary addresses and 1 for group addresses </a:t>
            </a:r>
          </a:p>
          <a:p>
            <a:pPr marL="1066800" lvl="1" indent="-609600" algn="just">
              <a:spcBef>
                <a:spcPct val="20000"/>
              </a:spcBef>
              <a:buClr>
                <a:schemeClr val="accent2"/>
              </a:buClr>
              <a:buFont typeface="Wingdings" pitchFamily="2" charset="2"/>
              <a:buChar char="ü"/>
            </a:pPr>
            <a:r>
              <a:rPr lang="en-US" sz="2400" dirty="0">
                <a:latin typeface="Times New Roman" pitchFamily="18" charset="0"/>
                <a:cs typeface="Times New Roman" pitchFamily="18" charset="0"/>
              </a:rPr>
              <a:t>Sending to a group of stations is called </a:t>
            </a:r>
            <a:r>
              <a:rPr lang="en-US" sz="2400" b="1" dirty="0">
                <a:latin typeface="Times New Roman" pitchFamily="18" charset="0"/>
                <a:cs typeface="Times New Roman" pitchFamily="18" charset="0"/>
              </a:rPr>
              <a:t>multicast. </a:t>
            </a:r>
          </a:p>
          <a:p>
            <a:pPr marL="1066800" lvl="1" indent="-609600" algn="just">
              <a:spcBef>
                <a:spcPct val="20000"/>
              </a:spcBef>
              <a:buClr>
                <a:schemeClr val="accent2"/>
              </a:buClr>
              <a:buFont typeface="Wingdings" pitchFamily="2" charset="2"/>
              <a:buChar char="ü"/>
            </a:pPr>
            <a:r>
              <a:rPr lang="en-US" sz="2400" dirty="0">
                <a:latin typeface="Times New Roman" pitchFamily="18" charset="0"/>
                <a:cs typeface="Times New Roman" pitchFamily="18" charset="0"/>
              </a:rPr>
              <a:t>The address consisting of all 1 bits is reserved for </a:t>
            </a:r>
            <a:r>
              <a:rPr lang="en-US" sz="2400" b="1" dirty="0">
                <a:latin typeface="Times New Roman" pitchFamily="18" charset="0"/>
                <a:cs typeface="Times New Roman" pitchFamily="18" charset="0"/>
              </a:rPr>
              <a:t>broadcast</a:t>
            </a:r>
            <a:endParaRPr lang="en-IN" sz="2400" dirty="0">
              <a:latin typeface="Times New Roman" pitchFamily="18" charset="0"/>
              <a:cs typeface="Times New Roman" pitchFamily="18" charset="0"/>
            </a:endParaRPr>
          </a:p>
          <a:p>
            <a:pPr marL="800100" lvl="1" indent="-342900" algn="l">
              <a:buFont typeface="Wingdings" pitchFamily="2" charset="2"/>
              <a:buChar char="ü"/>
            </a:pPr>
            <a:endParaRPr lang="en-IN" sz="2400" dirty="0">
              <a:latin typeface="Times New Roman" pitchFamily="18" charset="0"/>
              <a:cs typeface="Times New Roman" pitchFamily="18" charset="0"/>
            </a:endParaRPr>
          </a:p>
          <a:p>
            <a:pPr lvl="1" algn="l"/>
            <a:endParaRPr lang="en-US" sz="2400"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553200" y="6368320"/>
            <a:ext cx="1905000" cy="457200"/>
          </a:xfrm>
        </p:spPr>
        <p:txBody>
          <a:bodyPr/>
          <a:lstStyle/>
          <a:p>
            <a:fld id="{EF55C829-AE99-4997-8EBC-414F558758A8}" type="slidenum">
              <a:rPr lang="en-US" smtClean="0"/>
              <a:pPr/>
              <a:t>45</a:t>
            </a:fld>
            <a:endParaRPr lang="en-US" dirty="0"/>
          </a:p>
        </p:txBody>
      </p:sp>
      <p:sp>
        <p:nvSpPr>
          <p:cNvPr id="5" name="Rectangle 3"/>
          <p:cNvSpPr txBox="1">
            <a:spLocks noChangeArrowheads="1"/>
          </p:cNvSpPr>
          <p:nvPr/>
        </p:nvSpPr>
        <p:spPr bwMode="auto">
          <a:xfrm>
            <a:off x="0" y="50764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lgn="just">
              <a:spcBef>
                <a:spcPct val="20000"/>
              </a:spcBef>
              <a:buClr>
                <a:schemeClr val="accent2"/>
              </a:buClr>
              <a:buFont typeface="Wingdings" pitchFamily="2" charset="2"/>
              <a:buChar char="Ø"/>
            </a:pPr>
            <a:r>
              <a:rPr lang="en-US" sz="2600" u="sng" dirty="0">
                <a:solidFill>
                  <a:schemeClr val="accent1">
                    <a:lumMod val="75000"/>
                  </a:schemeClr>
                </a:solidFill>
                <a:latin typeface="Times New Roman" pitchFamily="18" charset="0"/>
                <a:cs typeface="Times New Roman" pitchFamily="18" charset="0"/>
              </a:rPr>
              <a:t>Type field or </a:t>
            </a:r>
            <a:r>
              <a:rPr lang="en-IN" sz="2600" i="1" u="sng" dirty="0">
                <a:solidFill>
                  <a:schemeClr val="accent1">
                    <a:lumMod val="75000"/>
                  </a:schemeClr>
                </a:solidFill>
                <a:latin typeface="Times New Roman" pitchFamily="18" charset="0"/>
                <a:cs typeface="Times New Roman" pitchFamily="18" charset="0"/>
              </a:rPr>
              <a:t>Length </a:t>
            </a:r>
            <a:r>
              <a:rPr lang="en-IN" sz="2600" u="sng" dirty="0">
                <a:solidFill>
                  <a:schemeClr val="accent1">
                    <a:lumMod val="75000"/>
                  </a:schemeClr>
                </a:solidFill>
                <a:latin typeface="Times New Roman" pitchFamily="18" charset="0"/>
                <a:cs typeface="Times New Roman" pitchFamily="18" charset="0"/>
              </a:rPr>
              <a:t>field</a:t>
            </a:r>
            <a:r>
              <a:rPr lang="en-US" sz="2600" u="sng" dirty="0">
                <a:solidFill>
                  <a:schemeClr val="accent1">
                    <a:lumMod val="75000"/>
                  </a:schemeClr>
                </a:solidFill>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ü"/>
            </a:pPr>
            <a:r>
              <a:rPr lang="en-IN" sz="2600" dirty="0">
                <a:latin typeface="Times New Roman" pitchFamily="18" charset="0"/>
                <a:cs typeface="Times New Roman" pitchFamily="18" charset="0"/>
              </a:rPr>
              <a:t>Ethernet uses a Type field to tell the receiver what to do with the frame.</a:t>
            </a:r>
          </a:p>
          <a:p>
            <a:pPr marL="1066800" lvl="1" indent="-609600" algn="just">
              <a:spcBef>
                <a:spcPct val="20000"/>
              </a:spcBef>
              <a:buClr>
                <a:schemeClr val="accent2"/>
              </a:buClr>
              <a:buFont typeface="Wingdings" pitchFamily="2" charset="2"/>
              <a:buChar char="ü"/>
            </a:pPr>
            <a:r>
              <a:rPr lang="en-US" sz="2600" dirty="0">
                <a:latin typeface="Times New Roman" pitchFamily="18" charset="0"/>
                <a:cs typeface="Times New Roman" pitchFamily="18" charset="0"/>
              </a:rPr>
              <a:t>Multiple network-layer protocols may be in use at the same time on the same machine, </a:t>
            </a:r>
          </a:p>
          <a:p>
            <a:pPr marL="1066800" lvl="1" indent="-609600" algn="just">
              <a:spcBef>
                <a:spcPct val="20000"/>
              </a:spcBef>
              <a:buClr>
                <a:schemeClr val="accent2"/>
              </a:buClr>
              <a:buFont typeface="Wingdings" pitchFamily="2" charset="2"/>
              <a:buChar char="ü"/>
            </a:pPr>
            <a:r>
              <a:rPr lang="en-US" sz="2600" dirty="0">
                <a:latin typeface="Times New Roman" pitchFamily="18" charset="0"/>
                <a:cs typeface="Times New Roman" pitchFamily="18" charset="0"/>
              </a:rPr>
              <a:t>so when an Ethernet frame arrives, the kernel has to know which one to hand the frame to. </a:t>
            </a:r>
          </a:p>
          <a:p>
            <a:pPr marL="1066800" lvl="1" indent="-609600" algn="just">
              <a:spcBef>
                <a:spcPct val="20000"/>
              </a:spcBef>
              <a:buClr>
                <a:schemeClr val="accent2"/>
              </a:buClr>
              <a:buFont typeface="Wingdings" pitchFamily="2" charset="2"/>
              <a:buChar char="ü"/>
            </a:pPr>
            <a:r>
              <a:rPr lang="en-US" sz="2600" dirty="0">
                <a:latin typeface="Times New Roman" pitchFamily="18" charset="0"/>
                <a:cs typeface="Times New Roman" pitchFamily="18" charset="0"/>
              </a:rPr>
              <a:t>The Type field specifies which process to give the frame to</a:t>
            </a:r>
          </a:p>
          <a:p>
            <a:pPr marL="342900" indent="-342900" algn="just">
              <a:spcBef>
                <a:spcPct val="20000"/>
              </a:spcBef>
              <a:buClr>
                <a:schemeClr val="accent2"/>
              </a:buClr>
              <a:buFont typeface="Wingdings" pitchFamily="2" charset="2"/>
              <a:buChar char="Ø"/>
            </a:pPr>
            <a:r>
              <a:rPr lang="en-US" sz="2600" u="sng" dirty="0">
                <a:solidFill>
                  <a:schemeClr val="accent1">
                    <a:lumMod val="75000"/>
                  </a:schemeClr>
                </a:solidFill>
                <a:latin typeface="Times New Roman" pitchFamily="18" charset="0"/>
                <a:cs typeface="Times New Roman" pitchFamily="18" charset="0"/>
              </a:rPr>
              <a:t>Data field</a:t>
            </a:r>
          </a:p>
          <a:p>
            <a:pPr marL="1066800" lvl="1" indent="-609600" algn="just">
              <a:spcBef>
                <a:spcPct val="20000"/>
              </a:spcBef>
              <a:buClr>
                <a:schemeClr val="accent2"/>
              </a:buClr>
              <a:buFont typeface="Wingdings" pitchFamily="2" charset="2"/>
              <a:buChar char="ü"/>
            </a:pPr>
            <a:r>
              <a:rPr lang="en-US" sz="2600" dirty="0">
                <a:latin typeface="Times New Roman" pitchFamily="18" charset="0"/>
                <a:cs typeface="Times New Roman" pitchFamily="18" charset="0"/>
              </a:rPr>
              <a:t>Maximum up to 1500 bytes</a:t>
            </a:r>
          </a:p>
          <a:p>
            <a:pPr marL="1066800" lvl="1" indent="-609600" algn="just">
              <a:spcBef>
                <a:spcPct val="20000"/>
              </a:spcBef>
              <a:buClr>
                <a:schemeClr val="accent2"/>
              </a:buClr>
              <a:buFont typeface="Wingdings" pitchFamily="2" charset="2"/>
              <a:buChar char="ü"/>
            </a:pPr>
            <a:r>
              <a:rPr lang="en-US" sz="2600" dirty="0">
                <a:latin typeface="Times New Roman" pitchFamily="18" charset="0"/>
                <a:cs typeface="Times New Roman" pitchFamily="18" charset="0"/>
              </a:rPr>
              <a:t>Minimum frame length is required</a:t>
            </a:r>
          </a:p>
          <a:p>
            <a:pPr marL="1066800" lvl="1" indent="-609600" algn="just">
              <a:spcBef>
                <a:spcPct val="20000"/>
              </a:spcBef>
              <a:buClr>
                <a:schemeClr val="accent2"/>
              </a:buClr>
              <a:buFont typeface="Wingdings" pitchFamily="2" charset="2"/>
              <a:buChar char="ü"/>
            </a:pPr>
            <a:r>
              <a:rPr lang="en-US" sz="2600" dirty="0">
                <a:latin typeface="Times New Roman" pitchFamily="18" charset="0"/>
                <a:cs typeface="Times New Roman" pitchFamily="18" charset="0"/>
              </a:rPr>
              <a:t>To make it easier to distinguish valid frames from garbage, </a:t>
            </a:r>
          </a:p>
          <a:p>
            <a:pPr marL="1066800" lvl="1" indent="-609600" algn="just">
              <a:spcBef>
                <a:spcPct val="20000"/>
              </a:spcBef>
              <a:buClr>
                <a:schemeClr val="accent2"/>
              </a:buClr>
              <a:buFont typeface="Wingdings" pitchFamily="2" charset="2"/>
              <a:buChar char="ü"/>
            </a:pPr>
            <a:r>
              <a:rPr lang="en-US" sz="2600" dirty="0">
                <a:latin typeface="Times New Roman" pitchFamily="18" charset="0"/>
                <a:cs typeface="Times New Roman" pitchFamily="18" charset="0"/>
              </a:rPr>
              <a:t>Ethernet requires that valid frames must be at least 64 bytes long, from destination address to checksum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46</a:t>
            </a:fld>
            <a:endParaRPr lang="en-US" dirty="0"/>
          </a:p>
        </p:txBody>
      </p:sp>
      <p:sp>
        <p:nvSpPr>
          <p:cNvPr id="5" name="Rectangle 3"/>
          <p:cNvSpPr txBox="1">
            <a:spLocks noChangeArrowheads="1"/>
          </p:cNvSpPr>
          <p:nvPr/>
        </p:nvSpPr>
        <p:spPr bwMode="auto">
          <a:xfrm>
            <a:off x="0" y="59077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lgn="just">
              <a:spcBef>
                <a:spcPct val="20000"/>
              </a:spcBef>
              <a:buClr>
                <a:schemeClr val="accent2"/>
              </a:buClr>
              <a:buFont typeface="Wingdings" pitchFamily="2" charset="2"/>
              <a:buChar char="Ø"/>
            </a:pPr>
            <a:r>
              <a:rPr lang="en-US" sz="2800" dirty="0">
                <a:latin typeface="Times New Roman" pitchFamily="18" charset="0"/>
                <a:cs typeface="Times New Roman" pitchFamily="18" charset="0"/>
              </a:rPr>
              <a:t>Pad field</a:t>
            </a:r>
          </a:p>
          <a:p>
            <a:pPr marL="1066800" lvl="1" indent="-609600" algn="just">
              <a:spcBef>
                <a:spcPct val="20000"/>
              </a:spcBef>
              <a:buClr>
                <a:schemeClr val="accent2"/>
              </a:buClr>
              <a:buFont typeface="Wingdings" pitchFamily="2" charset="2"/>
              <a:buChar char="ü"/>
            </a:pPr>
            <a:r>
              <a:rPr lang="en-US" sz="2800" dirty="0">
                <a:latin typeface="Times New Roman" pitchFamily="18" charset="0"/>
                <a:cs typeface="Times New Roman" pitchFamily="18" charset="0"/>
              </a:rPr>
              <a:t>If the data portion of a frame is less than 46 bytes, the Pad field is used to fill out the frame to the minimum size.   </a:t>
            </a:r>
          </a:p>
          <a:p>
            <a:pPr marL="342900" indent="-342900" algn="just">
              <a:spcBef>
                <a:spcPct val="20000"/>
              </a:spcBef>
              <a:buClr>
                <a:schemeClr val="accent2"/>
              </a:buClr>
              <a:buFont typeface="Wingdings" pitchFamily="2" charset="2"/>
              <a:buChar char="Ø"/>
            </a:pPr>
            <a:r>
              <a:rPr lang="en-US" sz="2800" dirty="0">
                <a:latin typeface="Times New Roman" pitchFamily="18" charset="0"/>
                <a:cs typeface="Times New Roman" pitchFamily="18" charset="0"/>
              </a:rPr>
              <a:t>Checksum field: </a:t>
            </a:r>
          </a:p>
          <a:p>
            <a:pPr marL="1066800" lvl="1" indent="-609600" algn="just">
              <a:spcBef>
                <a:spcPct val="20000"/>
              </a:spcBef>
              <a:buClr>
                <a:schemeClr val="accent2"/>
              </a:buClr>
              <a:buFont typeface="Wingdings" pitchFamily="2" charset="2"/>
              <a:buChar char="ü"/>
            </a:pPr>
            <a:r>
              <a:rPr lang="en-US" sz="2800" dirty="0">
                <a:latin typeface="Times New Roman" pitchFamily="18" charset="0"/>
                <a:cs typeface="Times New Roman" pitchFamily="18" charset="0"/>
              </a:rPr>
              <a:t>It is effectively a 32-bit hash code of the data. </a:t>
            </a:r>
          </a:p>
          <a:p>
            <a:pPr marL="1066800" lvl="1" indent="-609600" algn="just">
              <a:spcBef>
                <a:spcPct val="20000"/>
              </a:spcBef>
              <a:buClr>
                <a:schemeClr val="accent2"/>
              </a:buClr>
              <a:buFont typeface="Wingdings" pitchFamily="2" charset="2"/>
              <a:buChar char="ü"/>
            </a:pPr>
            <a:r>
              <a:rPr lang="en-US" sz="2800" dirty="0">
                <a:latin typeface="Times New Roman" pitchFamily="18" charset="0"/>
                <a:cs typeface="Times New Roman" pitchFamily="18" charset="0"/>
              </a:rPr>
              <a:t>If some data bits are erroneously received (due to noise on the cable), the checksum will almost certainly be wrong and the error will be detected. </a:t>
            </a:r>
          </a:p>
          <a:p>
            <a:pPr marL="1066800" lvl="1" indent="-609600" algn="just">
              <a:spcBef>
                <a:spcPct val="20000"/>
              </a:spcBef>
              <a:buClr>
                <a:schemeClr val="accent2"/>
              </a:buClr>
              <a:buFont typeface="Wingdings" pitchFamily="2" charset="2"/>
              <a:buChar char="ü"/>
            </a:pPr>
            <a:r>
              <a:rPr lang="en-US" sz="2800" dirty="0">
                <a:latin typeface="Times New Roman" pitchFamily="18" charset="0"/>
                <a:cs typeface="Times New Roman" pitchFamily="18" charset="0"/>
              </a:rPr>
              <a:t>The checksum algorithm is a cyclic redundancy check (CRC) </a:t>
            </a:r>
          </a:p>
          <a:p>
            <a:pPr marL="1066800" lvl="1" indent="-609600" algn="just">
              <a:spcBef>
                <a:spcPct val="20000"/>
              </a:spcBef>
              <a:buClr>
                <a:schemeClr val="accent2"/>
              </a:buClr>
              <a:buFont typeface="Wingdings" pitchFamily="2" charset="2"/>
              <a:buChar char="ü"/>
            </a:pPr>
            <a:r>
              <a:rPr lang="en-US" sz="2800" dirty="0">
                <a:latin typeface="Times New Roman" pitchFamily="18" charset="0"/>
                <a:cs typeface="Times New Roman" pitchFamily="18" charset="0"/>
              </a:rPr>
              <a:t>It just does error detection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47</a:t>
            </a:fld>
            <a:endParaRPr lang="en-US" dirty="0"/>
          </a:p>
        </p:txBody>
      </p:sp>
      <p:sp>
        <p:nvSpPr>
          <p:cNvPr id="5" name="Rectangle 3"/>
          <p:cNvSpPr txBox="1">
            <a:spLocks noChangeArrowheads="1"/>
          </p:cNvSpPr>
          <p:nvPr/>
        </p:nvSpPr>
        <p:spPr bwMode="auto">
          <a:xfrm>
            <a:off x="249382" y="1052944"/>
            <a:ext cx="8465127" cy="568513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dirty="0">
                <a:latin typeface="Times New Roman" pitchFamily="18" charset="0"/>
                <a:cs typeface="Times New Roman" pitchFamily="18" charset="0"/>
              </a:rPr>
              <a:t>When IEEE standardized Ethernet, the committee made two changes to the DIX format</a:t>
            </a:r>
          </a:p>
          <a:p>
            <a:pPr marL="1066800" lvl="1" indent="-609600" algn="just">
              <a:spcBef>
                <a:spcPct val="20000"/>
              </a:spcBef>
              <a:buClr>
                <a:schemeClr val="accent2"/>
              </a:buClr>
              <a:buFont typeface="+mj-lt"/>
              <a:buAutoNum type="arabicPeriod"/>
            </a:pPr>
            <a:r>
              <a:rPr lang="en-US" sz="2800" dirty="0">
                <a:latin typeface="Times New Roman" pitchFamily="18" charset="0"/>
                <a:cs typeface="Times New Roman" pitchFamily="18" charset="0"/>
              </a:rPr>
              <a:t>to reduce the preamble to 7 bytes and use the last byte for a Start of Frame (SOF) delimiter, for compatibility with 802.4 and 802.5.</a:t>
            </a:r>
          </a:p>
          <a:p>
            <a:pPr marL="1066800" lvl="1" indent="-609600" algn="just">
              <a:spcBef>
                <a:spcPct val="20000"/>
              </a:spcBef>
              <a:buClr>
                <a:schemeClr val="accent2"/>
              </a:buClr>
              <a:buFont typeface="+mj-lt"/>
              <a:buAutoNum type="arabicPeriod"/>
            </a:pPr>
            <a:r>
              <a:rPr lang="en-US" sz="2800" dirty="0">
                <a:latin typeface="Times New Roman" pitchFamily="18" charset="0"/>
                <a:cs typeface="Times New Roman" pitchFamily="18" charset="0"/>
              </a:rPr>
              <a:t>to change the Type field into a Length field</a:t>
            </a:r>
          </a:p>
          <a:p>
            <a:pPr marL="609600" indent="-609600" algn="just">
              <a:spcBef>
                <a:spcPct val="20000"/>
              </a:spcBef>
              <a:buClr>
                <a:schemeClr val="accent2"/>
              </a:buClr>
              <a:buFont typeface="Wingdings" pitchFamily="2" charset="2"/>
              <a:buChar char="§"/>
            </a:pPr>
            <a:endParaRPr lang="en-US" sz="2800" b="1" dirty="0">
              <a:latin typeface="Times New Roman" pitchFamily="18" charset="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218" y="547255"/>
            <a:ext cx="8229600" cy="1066800"/>
          </a:xfrm>
        </p:spPr>
        <p:txBody>
          <a:bodyPr>
            <a:normAutofit fontScale="90000"/>
          </a:bodyPr>
          <a:lstStyle/>
          <a:p>
            <a:r>
              <a:rPr lang="en-IN" b="1" u="sng" dirty="0"/>
              <a:t>Binary Exponential </a:t>
            </a:r>
            <a:r>
              <a:rPr lang="en-IN" b="1" u="sng" dirty="0" err="1"/>
              <a:t>Backoff</a:t>
            </a:r>
            <a:r>
              <a:rPr lang="en-IN" b="1" u="sng" dirty="0"/>
              <a:t> Algorithm</a:t>
            </a:r>
            <a:endParaRPr lang="en-IN" u="sng" dirty="0"/>
          </a:p>
        </p:txBody>
      </p:sp>
      <p:sp>
        <p:nvSpPr>
          <p:cNvPr id="3" name="Content Placeholder 2"/>
          <p:cNvSpPr>
            <a:spLocks noGrp="1"/>
          </p:cNvSpPr>
          <p:nvPr>
            <p:ph idx="1"/>
          </p:nvPr>
        </p:nvSpPr>
        <p:spPr>
          <a:xfrm>
            <a:off x="457200" y="1690255"/>
            <a:ext cx="8229600" cy="4884281"/>
          </a:xfrm>
        </p:spPr>
        <p:txBody>
          <a:bodyPr>
            <a:normAutofit fontScale="92500" lnSpcReduction="20000"/>
          </a:bodyPr>
          <a:lstStyle/>
          <a:p>
            <a:pPr algn="just"/>
            <a:r>
              <a:rPr lang="en-IN" dirty="0">
                <a:latin typeface="Times New Roman" pitchFamily="18" charset="0"/>
                <a:cs typeface="Times New Roman" pitchFamily="18" charset="0"/>
              </a:rPr>
              <a:t>Classic Ethernet uses the 1-persistent CSMA/CD algorithm </a:t>
            </a:r>
          </a:p>
          <a:p>
            <a:pPr algn="just"/>
            <a:r>
              <a:rPr lang="en-IN" dirty="0">
                <a:latin typeface="Times New Roman" pitchFamily="18" charset="0"/>
                <a:cs typeface="Times New Roman" pitchFamily="18" charset="0"/>
              </a:rPr>
              <a:t>stations sense the medium when they have a frame to send and send the frame as soon as the medium becomes idle.</a:t>
            </a:r>
          </a:p>
          <a:p>
            <a:pPr algn="just"/>
            <a:r>
              <a:rPr lang="en-IN" dirty="0">
                <a:latin typeface="Times New Roman" pitchFamily="18" charset="0"/>
                <a:cs typeface="Times New Roman" pitchFamily="18" charset="0"/>
              </a:rPr>
              <a:t>They monitor the channel for collisions as they send. </a:t>
            </a:r>
          </a:p>
          <a:p>
            <a:pPr algn="just"/>
            <a:r>
              <a:rPr lang="en-IN" dirty="0">
                <a:latin typeface="Times New Roman" pitchFamily="18" charset="0"/>
                <a:cs typeface="Times New Roman" pitchFamily="18" charset="0"/>
              </a:rPr>
              <a:t>If there is a collision, they abort the transmission with a short jam signal and retransmit after a random interval.</a:t>
            </a:r>
          </a:p>
          <a:p>
            <a:r>
              <a:rPr lang="en-IN" dirty="0"/>
              <a:t>How the random interval is determined when a collision occurs???</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After a collision, time is divided into discrete slots whose length is equal to the worst-case </a:t>
            </a:r>
            <a:r>
              <a:rPr lang="en-IN" dirty="0" err="1">
                <a:latin typeface="Times New Roman" pitchFamily="18" charset="0"/>
                <a:cs typeface="Times New Roman" pitchFamily="18" charset="0"/>
              </a:rPr>
              <a:t>roundtrip</a:t>
            </a:r>
            <a:r>
              <a:rPr lang="en-IN" dirty="0">
                <a:latin typeface="Times New Roman" pitchFamily="18" charset="0"/>
                <a:cs typeface="Times New Roman" pitchFamily="18" charset="0"/>
              </a:rPr>
              <a:t> propagation time on the </a:t>
            </a:r>
            <a:r>
              <a:rPr lang="en-IN" dirty="0" err="1">
                <a:latin typeface="Times New Roman" pitchFamily="18" charset="0"/>
                <a:cs typeface="Times New Roman" pitchFamily="18" charset="0"/>
              </a:rPr>
              <a:t>ethernet</a:t>
            </a: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48</a:t>
            </a:fld>
            <a:endParaRPr lang="en-US" dirty="0"/>
          </a:p>
        </p:txBody>
      </p:sp>
    </p:spTree>
    <p:extLst>
      <p:ext uri="{BB962C8B-B14F-4D97-AF65-F5344CB8AC3E}">
        <p14:creationId xmlns:p14="http://schemas.microsoft.com/office/powerpoint/2010/main" val="17936237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49</a:t>
            </a:fld>
            <a:endParaRPr lang="en-US" dirty="0"/>
          </a:p>
        </p:txBody>
      </p:sp>
      <p:sp>
        <p:nvSpPr>
          <p:cNvPr id="5" name="Rectangle 3"/>
          <p:cNvSpPr txBox="1">
            <a:spLocks noChangeArrowheads="1"/>
          </p:cNvSpPr>
          <p:nvPr/>
        </p:nvSpPr>
        <p:spPr bwMode="auto">
          <a:xfrm>
            <a:off x="0" y="59077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After the first collision, each station waits either 0 or 1 slot times before trying again.</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two stations collide and each one picks the same random number, they will collide again.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After the second collision, each one picks either 0, 1, 2, or 3 at random and waits that number of slot times.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a third collision occurs, then the next time the number of slots to wait is chosen at random from the interval 0 to 2</a:t>
            </a:r>
            <a:r>
              <a:rPr lang="en-US" sz="2400" baseline="30000" dirty="0">
                <a:latin typeface="Times New Roman" pitchFamily="18" charset="0"/>
                <a:cs typeface="Times New Roman" pitchFamily="18" charset="0"/>
              </a:rPr>
              <a:t>3 </a:t>
            </a:r>
            <a:r>
              <a:rPr lang="en-US" sz="2400" dirty="0">
                <a:latin typeface="Times New Roman" pitchFamily="18" charset="0"/>
                <a:cs typeface="Times New Roman" pitchFamily="18" charset="0"/>
              </a:rPr>
              <a:t>- 1.</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In general, after </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 collisions, a random number between 0 and 2</a:t>
            </a:r>
            <a:r>
              <a:rPr lang="en-US" sz="2400" baseline="30000" dirty="0">
                <a:latin typeface="Times New Roman" pitchFamily="18" charset="0"/>
                <a:cs typeface="Times New Roman" pitchFamily="18" charset="0"/>
              </a:rPr>
              <a:t>i </a:t>
            </a:r>
            <a:r>
              <a:rPr lang="en-US" sz="2400" dirty="0">
                <a:latin typeface="Times New Roman" pitchFamily="18" charset="0"/>
                <a:cs typeface="Times New Roman" pitchFamily="18" charset="0"/>
              </a:rPr>
              <a:t>- 1 is chosen, and that number of slots is skipped.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However, after ten collisions have been reached, the randomization interval is frozen at a maximum of 1023 slots.</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After 16 collisions, the controller reports failure back to the computer.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Further recovery is up to higher layers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fld id="{EF55C829-AE99-4997-8EBC-414F558758A8}" type="slidenum">
              <a:rPr lang="en-US" smtClean="0"/>
              <a:pPr/>
              <a:t>50</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091" y="933018"/>
            <a:ext cx="7700339" cy="2267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83514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51</a:t>
            </a:fld>
            <a:endParaRPr lang="en-US" dirty="0"/>
          </a:p>
        </p:txBody>
      </p:sp>
      <p:sp>
        <p:nvSpPr>
          <p:cNvPr id="5" name="Rectangle 3"/>
          <p:cNvSpPr txBox="1">
            <a:spLocks noChangeArrowheads="1"/>
          </p:cNvSpPr>
          <p:nvPr/>
        </p:nvSpPr>
        <p:spPr bwMode="auto">
          <a:xfrm>
            <a:off x="0" y="590772"/>
            <a:ext cx="9144000" cy="61473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lgn="just">
              <a:spcBef>
                <a:spcPct val="20000"/>
              </a:spcBef>
              <a:buClr>
                <a:schemeClr val="accent2"/>
              </a:buClr>
              <a:buFont typeface="Wingdings" pitchFamily="2" charset="2"/>
              <a:buChar char="Ø"/>
            </a:pPr>
            <a:r>
              <a:rPr lang="en-US" sz="2400" dirty="0">
                <a:latin typeface="Times New Roman" pitchFamily="18" charset="0"/>
                <a:cs typeface="Times New Roman" pitchFamily="18" charset="0"/>
              </a:rPr>
              <a:t>Advantage: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the randomization interval for all collisions was 1023, the chance of two stations colliding for a second time would be negligible,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but the average wait after a collision would be hundreds of slot times, introducing significant delay</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By having the randomization interval grow exponentially as more and more consecutive collisions occur</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the algorithm ensures a </a:t>
            </a:r>
            <a:r>
              <a:rPr lang="en-US" sz="2400" dirty="0">
                <a:solidFill>
                  <a:srgbClr val="FF0000"/>
                </a:solidFill>
                <a:latin typeface="Times New Roman" pitchFamily="18" charset="0"/>
                <a:cs typeface="Times New Roman" pitchFamily="18" charset="0"/>
              </a:rPr>
              <a:t>low delay </a:t>
            </a:r>
            <a:r>
              <a:rPr lang="en-US" sz="2400" dirty="0">
                <a:latin typeface="Times New Roman" pitchFamily="18" charset="0"/>
                <a:cs typeface="Times New Roman" pitchFamily="18" charset="0"/>
              </a:rPr>
              <a:t>when only a </a:t>
            </a:r>
            <a:r>
              <a:rPr lang="en-US" sz="2400" dirty="0">
                <a:solidFill>
                  <a:srgbClr val="FF0000"/>
                </a:solidFill>
                <a:latin typeface="Times New Roman" pitchFamily="18" charset="0"/>
                <a:cs typeface="Times New Roman" pitchFamily="18" charset="0"/>
              </a:rPr>
              <a:t>few stations </a:t>
            </a:r>
            <a:r>
              <a:rPr lang="en-US" sz="2400" dirty="0">
                <a:latin typeface="Times New Roman" pitchFamily="18" charset="0"/>
                <a:cs typeface="Times New Roman" pitchFamily="18" charset="0"/>
              </a:rPr>
              <a:t>collide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but also ensures that the collision is </a:t>
            </a:r>
            <a:r>
              <a:rPr lang="en-US" sz="2400" dirty="0">
                <a:solidFill>
                  <a:srgbClr val="FF0000"/>
                </a:solidFill>
                <a:latin typeface="Times New Roman" pitchFamily="18" charset="0"/>
                <a:cs typeface="Times New Roman" pitchFamily="18" charset="0"/>
              </a:rPr>
              <a:t>resolved in a reasonable interva</a:t>
            </a:r>
            <a:r>
              <a:rPr lang="en-US" sz="2400" dirty="0">
                <a:latin typeface="Times New Roman" pitchFamily="18" charset="0"/>
                <a:cs typeface="Times New Roman" pitchFamily="18" charset="0"/>
              </a:rPr>
              <a:t>l when </a:t>
            </a:r>
            <a:r>
              <a:rPr lang="en-US" sz="2400" dirty="0">
                <a:solidFill>
                  <a:srgbClr val="FF0000"/>
                </a:solidFill>
                <a:latin typeface="Times New Roman" pitchFamily="18" charset="0"/>
                <a:cs typeface="Times New Roman" pitchFamily="18" charset="0"/>
              </a:rPr>
              <a:t>many stations </a:t>
            </a:r>
            <a:r>
              <a:rPr lang="en-US" sz="2400" dirty="0">
                <a:latin typeface="Times New Roman" pitchFamily="18" charset="0"/>
                <a:cs typeface="Times New Roman" pitchFamily="18" charset="0"/>
              </a:rPr>
              <a:t>collide.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477982"/>
            <a:ext cx="8229600" cy="1066800"/>
          </a:xfrm>
        </p:spPr>
        <p:txBody>
          <a:bodyPr>
            <a:normAutofit/>
          </a:bodyPr>
          <a:lstStyle/>
          <a:p>
            <a:r>
              <a:rPr lang="en-IN" sz="3600" b="1" u="sng" dirty="0"/>
              <a:t>Ethernet Performance</a:t>
            </a:r>
            <a:endParaRPr lang="en-IN" sz="3600" u="sng" dirty="0"/>
          </a:p>
        </p:txBody>
      </p:sp>
      <p:sp>
        <p:nvSpPr>
          <p:cNvPr id="3" name="Content Placeholder 2"/>
          <p:cNvSpPr>
            <a:spLocks noGrp="1"/>
          </p:cNvSpPr>
          <p:nvPr>
            <p:ph idx="1"/>
          </p:nvPr>
        </p:nvSpPr>
        <p:spPr>
          <a:xfrm>
            <a:off x="457200" y="1496291"/>
            <a:ext cx="8229600" cy="5078245"/>
          </a:xfrm>
        </p:spPr>
        <p:txBody>
          <a:bodyPr/>
          <a:lstStyle/>
          <a:p>
            <a:pPr algn="just"/>
            <a:r>
              <a:rPr lang="en-IN" dirty="0">
                <a:latin typeface="Times New Roman" pitchFamily="18" charset="0"/>
                <a:cs typeface="Times New Roman" pitchFamily="18" charset="0"/>
              </a:rPr>
              <a:t>If each station transmits during a contention slot with probability </a:t>
            </a:r>
            <a:r>
              <a:rPr lang="en-IN" i="1" dirty="0">
                <a:latin typeface="Times New Roman" pitchFamily="18" charset="0"/>
                <a:cs typeface="Times New Roman" pitchFamily="18" charset="0"/>
              </a:rPr>
              <a:t>p</a:t>
            </a:r>
            <a:r>
              <a:rPr lang="en-IN" dirty="0">
                <a:latin typeface="Times New Roman" pitchFamily="18" charset="0"/>
                <a:cs typeface="Times New Roman" pitchFamily="18" charset="0"/>
              </a:rPr>
              <a:t>, the probability </a:t>
            </a:r>
            <a:r>
              <a:rPr lang="en-IN" i="1" dirty="0">
                <a:latin typeface="Times New Roman" pitchFamily="18" charset="0"/>
                <a:cs typeface="Times New Roman" pitchFamily="18" charset="0"/>
              </a:rPr>
              <a:t>A </a:t>
            </a:r>
            <a:r>
              <a:rPr lang="en-IN" dirty="0">
                <a:latin typeface="Times New Roman" pitchFamily="18" charset="0"/>
                <a:cs typeface="Times New Roman" pitchFamily="18" charset="0"/>
              </a:rPr>
              <a:t>that some station acquires the channel in that slot is:</a:t>
            </a:r>
          </a:p>
          <a:p>
            <a:pPr algn="just"/>
            <a:endParaRPr lang="en-IN"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Each slot has a duration 2τ, the mean contention interval, </a:t>
            </a:r>
            <a:r>
              <a:rPr lang="en-IN" i="1" dirty="0">
                <a:latin typeface="Times New Roman" pitchFamily="18" charset="0"/>
                <a:cs typeface="Times New Roman" pitchFamily="18" charset="0"/>
              </a:rPr>
              <a:t>w</a:t>
            </a:r>
            <a:r>
              <a:rPr lang="en-IN" dirty="0">
                <a:latin typeface="Times New Roman" pitchFamily="18" charset="0"/>
                <a:cs typeface="Times New Roman" pitchFamily="18" charset="0"/>
              </a:rPr>
              <a:t>, is 2τ</a:t>
            </a:r>
            <a:r>
              <a:rPr lang="en-IN" i="1" dirty="0">
                <a:latin typeface="Times New Roman" pitchFamily="18" charset="0"/>
                <a:cs typeface="Times New Roman" pitchFamily="18" charset="0"/>
              </a:rPr>
              <a:t>/A</a:t>
            </a:r>
          </a:p>
          <a:p>
            <a:pPr algn="just"/>
            <a:r>
              <a:rPr lang="en-IN" dirty="0">
                <a:latin typeface="Times New Roman" pitchFamily="18" charset="0"/>
                <a:cs typeface="Times New Roman" pitchFamily="18" charset="0"/>
              </a:rPr>
              <a:t>If the mean frame takes </a:t>
            </a:r>
            <a:r>
              <a:rPr lang="en-IN" i="1" dirty="0">
                <a:latin typeface="Times New Roman" pitchFamily="18" charset="0"/>
                <a:cs typeface="Times New Roman" pitchFamily="18" charset="0"/>
              </a:rPr>
              <a:t>P </a:t>
            </a:r>
            <a:r>
              <a:rPr lang="en-IN" dirty="0">
                <a:latin typeface="Times New Roman" pitchFamily="18" charset="0"/>
                <a:cs typeface="Times New Roman" pitchFamily="18" charset="0"/>
              </a:rPr>
              <a:t>sec to transmit, when many stations have frames to send,</a:t>
            </a:r>
          </a:p>
        </p:txBody>
      </p:sp>
      <p:sp>
        <p:nvSpPr>
          <p:cNvPr id="4" name="Slide Number Placeholder 3"/>
          <p:cNvSpPr>
            <a:spLocks noGrp="1"/>
          </p:cNvSpPr>
          <p:nvPr>
            <p:ph type="sldNum" sz="quarter" idx="12"/>
          </p:nvPr>
        </p:nvSpPr>
        <p:spPr/>
        <p:txBody>
          <a:bodyPr/>
          <a:lstStyle/>
          <a:p>
            <a:fld id="{EF55C829-AE99-4997-8EBC-414F558758A8}" type="slidenum">
              <a:rPr lang="en-US" smtClean="0"/>
              <a:pPr/>
              <a:t>52</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2947" y="2770909"/>
            <a:ext cx="2337089" cy="777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9703" y="5624945"/>
            <a:ext cx="4761205" cy="878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36021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36755"/>
            <a:ext cx="8229600" cy="5535445"/>
          </a:xfrm>
        </p:spPr>
        <p:txBody>
          <a:bodyPr>
            <a:normAutofit/>
          </a:bodyPr>
          <a:lstStyle/>
          <a:p>
            <a:pPr algn="just"/>
            <a:r>
              <a:rPr lang="en-IN" dirty="0">
                <a:latin typeface="Times New Roman" pitchFamily="18" charset="0"/>
                <a:cs typeface="Times New Roman" pitchFamily="18" charset="0"/>
              </a:rPr>
              <a:t>Here the maximum cable distance between any two stations enters into the performance figures. </a:t>
            </a:r>
          </a:p>
          <a:p>
            <a:pPr algn="just"/>
            <a:r>
              <a:rPr lang="en-IN" dirty="0">
                <a:latin typeface="Times New Roman" pitchFamily="18" charset="0"/>
                <a:cs typeface="Times New Roman" pitchFamily="18" charset="0"/>
              </a:rPr>
              <a:t>The longer the cable, the longer the contention interval, which is why the Ethernet standard specifies a maximum cable length.</a:t>
            </a:r>
          </a:p>
          <a:p>
            <a:pPr algn="just"/>
            <a:r>
              <a:rPr lang="en-IN" dirty="0">
                <a:latin typeface="Times New Roman" pitchFamily="18" charset="0"/>
                <a:cs typeface="Times New Roman" pitchFamily="18" charset="0"/>
              </a:rPr>
              <a:t>Above equation can formulated in terms of the frame length, </a:t>
            </a:r>
            <a:r>
              <a:rPr lang="en-IN" i="1" dirty="0">
                <a:latin typeface="Times New Roman" pitchFamily="18" charset="0"/>
                <a:cs typeface="Times New Roman" pitchFamily="18" charset="0"/>
              </a:rPr>
              <a:t>F</a:t>
            </a:r>
            <a:r>
              <a:rPr lang="en-IN" dirty="0">
                <a:latin typeface="Times New Roman" pitchFamily="18" charset="0"/>
                <a:cs typeface="Times New Roman" pitchFamily="18" charset="0"/>
              </a:rPr>
              <a:t>, the network bandwidth, </a:t>
            </a:r>
            <a:r>
              <a:rPr lang="en-IN" i="1" dirty="0">
                <a:latin typeface="Times New Roman" pitchFamily="18" charset="0"/>
                <a:cs typeface="Times New Roman" pitchFamily="18" charset="0"/>
              </a:rPr>
              <a:t>B</a:t>
            </a:r>
            <a:r>
              <a:rPr lang="en-IN" dirty="0">
                <a:latin typeface="Times New Roman" pitchFamily="18" charset="0"/>
                <a:cs typeface="Times New Roman" pitchFamily="18" charset="0"/>
              </a:rPr>
              <a:t>, the cable length, </a:t>
            </a:r>
            <a:r>
              <a:rPr lang="en-IN" i="1" dirty="0">
                <a:latin typeface="Times New Roman" pitchFamily="18" charset="0"/>
                <a:cs typeface="Times New Roman" pitchFamily="18" charset="0"/>
              </a:rPr>
              <a:t>L</a:t>
            </a:r>
            <a:r>
              <a:rPr lang="en-IN" dirty="0">
                <a:latin typeface="Times New Roman" pitchFamily="18" charset="0"/>
                <a:cs typeface="Times New Roman" pitchFamily="18" charset="0"/>
              </a:rPr>
              <a:t>, and the speed of signal propagation, </a:t>
            </a:r>
            <a:r>
              <a:rPr lang="en-IN" i="1" dirty="0">
                <a:latin typeface="Times New Roman" pitchFamily="18" charset="0"/>
                <a:cs typeface="Times New Roman" pitchFamily="18" charset="0"/>
              </a:rPr>
              <a:t>c</a:t>
            </a:r>
            <a:r>
              <a:rPr lang="en-IN" dirty="0">
                <a:latin typeface="Times New Roman" pitchFamily="18" charset="0"/>
                <a:cs typeface="Times New Roman" pitchFamily="18" charset="0"/>
              </a:rPr>
              <a:t>, for the optimal case of </a:t>
            </a:r>
            <a:r>
              <a:rPr lang="en-IN" i="1" dirty="0">
                <a:latin typeface="Times New Roman" pitchFamily="18" charset="0"/>
                <a:cs typeface="Times New Roman" pitchFamily="18" charset="0"/>
              </a:rPr>
              <a:t>e </a:t>
            </a:r>
            <a:r>
              <a:rPr lang="en-IN" dirty="0">
                <a:latin typeface="Times New Roman" pitchFamily="18" charset="0"/>
                <a:cs typeface="Times New Roman" pitchFamily="18" charset="0"/>
              </a:rPr>
              <a:t>contention slots per frame. </a:t>
            </a:r>
          </a:p>
          <a:p>
            <a:pPr algn="just"/>
            <a:r>
              <a:rPr lang="en-IN" dirty="0">
                <a:latin typeface="Times New Roman" pitchFamily="18" charset="0"/>
                <a:cs typeface="Times New Roman" pitchFamily="18" charset="0"/>
              </a:rPr>
              <a:t>With </a:t>
            </a:r>
            <a:r>
              <a:rPr lang="en-IN" i="1" dirty="0">
                <a:latin typeface="Times New Roman" pitchFamily="18" charset="0"/>
                <a:cs typeface="Times New Roman" pitchFamily="18" charset="0"/>
              </a:rPr>
              <a:t>P </a:t>
            </a:r>
            <a:r>
              <a:rPr lang="en-IN" dirty="0">
                <a:latin typeface="Times New Roman" pitchFamily="18" charset="0"/>
                <a:cs typeface="Times New Roman" pitchFamily="18" charset="0"/>
              </a:rPr>
              <a:t>= </a:t>
            </a:r>
            <a:r>
              <a:rPr lang="en-IN" i="1" dirty="0">
                <a:latin typeface="Times New Roman" pitchFamily="18" charset="0"/>
                <a:cs typeface="Times New Roman" pitchFamily="18" charset="0"/>
              </a:rPr>
              <a:t>F/B</a:t>
            </a:r>
            <a:r>
              <a:rPr lang="en-IN"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53</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6942" y="5100637"/>
            <a:ext cx="4872228" cy="1048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88348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39551" y="334547"/>
            <a:ext cx="8804449" cy="704543"/>
          </a:xfrm>
        </p:spPr>
        <p:txBody>
          <a:bodyPr/>
          <a:lstStyle/>
          <a:p>
            <a:r>
              <a:rPr lang="en-US" b="1" u="sng" dirty="0"/>
              <a:t>Switched Ethernet</a:t>
            </a:r>
            <a:endParaRPr lang="en-US" u="sng" dirty="0"/>
          </a:p>
        </p:txBody>
      </p:sp>
      <p:sp>
        <p:nvSpPr>
          <p:cNvPr id="7" name="Slide Number Placeholder 6"/>
          <p:cNvSpPr>
            <a:spLocks noGrp="1"/>
          </p:cNvSpPr>
          <p:nvPr>
            <p:ph type="sldNum" sz="quarter" idx="12"/>
          </p:nvPr>
        </p:nvSpPr>
        <p:spPr/>
        <p:txBody>
          <a:bodyPr/>
          <a:lstStyle/>
          <a:p>
            <a:fld id="{EF55C829-AE99-4997-8EBC-414F558758A8}" type="slidenum">
              <a:rPr lang="en-US" smtClean="0"/>
              <a:pPr/>
              <a:t>54</a:t>
            </a:fld>
            <a:endParaRPr lang="en-US" dirty="0"/>
          </a:p>
        </p:txBody>
      </p:sp>
      <p:sp>
        <p:nvSpPr>
          <p:cNvPr id="5" name="Rectangle 3"/>
          <p:cNvSpPr txBox="1">
            <a:spLocks noChangeArrowheads="1"/>
          </p:cNvSpPr>
          <p:nvPr/>
        </p:nvSpPr>
        <p:spPr bwMode="auto">
          <a:xfrm>
            <a:off x="0" y="981856"/>
            <a:ext cx="9144000" cy="55742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As more and more stations are added to an Ethernet, the traffic will go up  additional way to deal with increased load is switched Ethernet </a:t>
            </a:r>
          </a:p>
          <a:p>
            <a:pPr marL="1066800" lvl="1" indent="-609600" algn="just">
              <a:spcBef>
                <a:spcPct val="20000"/>
              </a:spcBef>
              <a:buClr>
                <a:schemeClr val="accent2"/>
              </a:buClr>
              <a:buFont typeface="Wingdings" pitchFamily="2" charset="2"/>
              <a:buChar char="§"/>
            </a:pPr>
            <a:endParaRPr lang="en-US" sz="2400" dirty="0">
              <a:latin typeface="Times New Roman" pitchFamily="18" charset="0"/>
              <a:cs typeface="Times New Roman" pitchFamily="18" charset="0"/>
            </a:endParaRPr>
          </a:p>
        </p:txBody>
      </p:sp>
      <p:pic>
        <p:nvPicPr>
          <p:cNvPr id="1026" name="Picture 2" descr="https://www.tutorialspoint.com/assets/questions/media/24522/switced_etherne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927" y="2289975"/>
            <a:ext cx="7259782" cy="4587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55</a:t>
            </a:fld>
            <a:endParaRPr lang="en-US" dirty="0"/>
          </a:p>
        </p:txBody>
      </p:sp>
      <p:sp>
        <p:nvSpPr>
          <p:cNvPr id="5" name="Rectangle 3"/>
          <p:cNvSpPr txBox="1">
            <a:spLocks noChangeArrowheads="1"/>
          </p:cNvSpPr>
          <p:nvPr/>
        </p:nvSpPr>
        <p:spPr bwMode="auto">
          <a:xfrm>
            <a:off x="0" y="688622"/>
            <a:ext cx="9144000" cy="60494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Heart of this system is a </a:t>
            </a:r>
            <a:r>
              <a:rPr lang="en-US" sz="2400" b="1" dirty="0">
                <a:latin typeface="Times New Roman" pitchFamily="18" charset="0"/>
                <a:cs typeface="Times New Roman" pitchFamily="18" charset="0"/>
              </a:rPr>
              <a:t>switch </a:t>
            </a:r>
            <a:r>
              <a:rPr lang="en-US" sz="2400" dirty="0">
                <a:latin typeface="Times New Roman" pitchFamily="18" charset="0"/>
                <a:cs typeface="Times New Roman" pitchFamily="18" charset="0"/>
              </a:rPr>
              <a:t>containing a high-speed backplane and room for typically 4 to 32 plug-in line cards, each containing one to eight connectors.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Most often, each connector has a 10Base-T twisted pair connection to a single host computer.</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When a station wants to transmit an Ethernet frame, it outputs a standard frame to the switch.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The plug-in card getting the frame may check to see if it is destined for one of the other stations connected to the same card.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so, the frame is copied there.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If not, the frame is sent over the high-speed backplane to the destination station's card. </a:t>
            </a:r>
          </a:p>
          <a:p>
            <a:pPr marL="609600"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The backplane typically runs at many Gbps, using a proprietary protocol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fld id="{EF55C829-AE99-4997-8EBC-414F558758A8}" type="slidenum">
              <a:rPr lang="en-US" smtClean="0"/>
              <a:pPr/>
              <a:t>56</a:t>
            </a:fld>
            <a:endParaRPr lang="en-US" dirty="0"/>
          </a:p>
        </p:txBody>
      </p:sp>
      <p:pic>
        <p:nvPicPr>
          <p:cNvPr id="2050" name="Picture 2" descr="Schematic of switch, line card, and its por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866" y="1561667"/>
            <a:ext cx="8096250" cy="4400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43041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519289"/>
            <a:ext cx="9144000" cy="62187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Fast Ethernet (802.3u)</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To pump up the speed, various industry groups proposed two new ring-based optical LANs</a:t>
            </a:r>
          </a:p>
          <a:p>
            <a:pPr marL="1524000" lvl="2" indent="-609600" algn="just">
              <a:spcBef>
                <a:spcPct val="20000"/>
              </a:spcBef>
              <a:buClr>
                <a:schemeClr val="accent2"/>
              </a:buClr>
              <a:buFont typeface="Wingdings" pitchFamily="2" charset="2"/>
              <a:buChar char="§"/>
            </a:pPr>
            <a:r>
              <a:rPr lang="it-IT" sz="2400" dirty="0">
                <a:latin typeface="Times New Roman" pitchFamily="18" charset="0"/>
                <a:cs typeface="Times New Roman" pitchFamily="18" charset="0"/>
              </a:rPr>
              <a:t>FDDI (Fiber Distributed Data Interface)</a:t>
            </a:r>
          </a:p>
          <a:p>
            <a:pPr marL="1524000" lvl="2" indent="-609600" algn="just">
              <a:spcBef>
                <a:spcPct val="20000"/>
              </a:spcBef>
              <a:buClr>
                <a:schemeClr val="accent2"/>
              </a:buClr>
              <a:buFont typeface="Wingdings" pitchFamily="2" charset="2"/>
              <a:buChar char="§"/>
            </a:pPr>
            <a:r>
              <a:rPr lang="en-US" sz="2400" dirty="0" err="1">
                <a:latin typeface="Times New Roman" pitchFamily="18" charset="0"/>
                <a:cs typeface="Times New Roman" pitchFamily="18" charset="0"/>
              </a:rPr>
              <a:t>Fibre</a:t>
            </a:r>
            <a:r>
              <a:rPr lang="en-US" sz="2400" dirty="0">
                <a:latin typeface="Times New Roman" pitchFamily="18" charset="0"/>
                <a:cs typeface="Times New Roman" pitchFamily="18" charset="0"/>
              </a:rPr>
              <a:t> Channel</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Basic idea behind fast Ethernet was simple: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keep all the old frame formats, interfaces, and procedural rules, but just reduce the bit time from 100 </a:t>
            </a:r>
            <a:r>
              <a:rPr lang="en-US" sz="2400" dirty="0" err="1">
                <a:latin typeface="Times New Roman" pitchFamily="18" charset="0"/>
                <a:cs typeface="Times New Roman" pitchFamily="18" charset="0"/>
              </a:rPr>
              <a:t>nsec</a:t>
            </a:r>
            <a:r>
              <a:rPr lang="en-US" sz="2400" dirty="0">
                <a:latin typeface="Times New Roman" pitchFamily="18" charset="0"/>
                <a:cs typeface="Times New Roman" pitchFamily="18" charset="0"/>
              </a:rPr>
              <a:t> to 10 </a:t>
            </a:r>
            <a:r>
              <a:rPr lang="en-US" sz="2400" dirty="0" err="1">
                <a:latin typeface="Times New Roman" pitchFamily="18" charset="0"/>
                <a:cs typeface="Times New Roman" pitchFamily="18" charset="0"/>
              </a:rPr>
              <a:t>nsec</a:t>
            </a:r>
            <a:endParaRPr lang="en-US" sz="2400" dirty="0">
              <a:latin typeface="Times New Roman" pitchFamily="18" charset="0"/>
              <a:cs typeface="Times New Roman" pitchFamily="18" charset="0"/>
            </a:endParaRP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all fast Ethernet systems use hubs and switches</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vampire taps or BNC connectors are not permitted.</a:t>
            </a:r>
            <a:endParaRPr lang="en-US" sz="2400" b="1" dirty="0">
              <a:latin typeface="Times New Roman" pitchFamily="18" charset="0"/>
              <a:cs typeface="Times New Roman" pitchFamily="18" charset="0"/>
            </a:endParaRPr>
          </a:p>
          <a:p>
            <a:pPr marL="1524000" lvl="2" indent="-609600" algn="just">
              <a:spcBef>
                <a:spcPct val="20000"/>
              </a:spcBef>
              <a:buClr>
                <a:schemeClr val="accent2"/>
              </a:buClr>
              <a:buFont typeface="Wingdings" pitchFamily="2" charset="2"/>
              <a:buChar char="§"/>
            </a:pPr>
            <a:endParaRPr lang="en-US" sz="24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3" cstate="print"/>
          <a:srcRect/>
          <a:stretch>
            <a:fillRect/>
          </a:stretch>
        </p:blipFill>
        <p:spPr bwMode="auto">
          <a:xfrm>
            <a:off x="163603" y="5145615"/>
            <a:ext cx="8844929" cy="1554339"/>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553200" y="6338340"/>
            <a:ext cx="1905000" cy="457200"/>
          </a:xfrm>
        </p:spPr>
        <p:txBody>
          <a:bodyPr/>
          <a:lstStyle/>
          <a:p>
            <a:fld id="{EF55C829-AE99-4997-8EBC-414F558758A8}" type="slidenum">
              <a:rPr lang="en-US" smtClean="0"/>
              <a:pPr/>
              <a:t>58</a:t>
            </a:fld>
            <a:endParaRPr lang="en-US" dirty="0"/>
          </a:p>
        </p:txBody>
      </p:sp>
      <p:sp>
        <p:nvSpPr>
          <p:cNvPr id="5" name="Rectangle 3"/>
          <p:cNvSpPr txBox="1">
            <a:spLocks noChangeArrowheads="1"/>
          </p:cNvSpPr>
          <p:nvPr/>
        </p:nvSpPr>
        <p:spPr bwMode="auto">
          <a:xfrm>
            <a:off x="0" y="688622"/>
            <a:ext cx="9144000" cy="60494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Gigabit Ethernet (</a:t>
            </a:r>
            <a:r>
              <a:rPr lang="en-US" sz="2400" dirty="0">
                <a:latin typeface="Times New Roman" pitchFamily="18" charset="0"/>
                <a:cs typeface="Times New Roman" pitchFamily="18" charset="0"/>
              </a:rPr>
              <a:t>802.3z</a:t>
            </a:r>
            <a:r>
              <a:rPr lang="en-US" sz="2400" b="1" dirty="0">
                <a:latin typeface="Times New Roman" pitchFamily="18" charset="0"/>
                <a:cs typeface="Times New Roman" pitchFamily="18" charset="0"/>
              </a:rPr>
              <a:t>) </a:t>
            </a:r>
          </a:p>
          <a:p>
            <a:pPr marL="1066800" lvl="1" indent="-609600" algn="just">
              <a:spcBef>
                <a:spcPct val="20000"/>
              </a:spcBef>
              <a:buClr>
                <a:schemeClr val="accent2"/>
              </a:buClr>
              <a:buFont typeface="Wingdings" pitchFamily="2" charset="2"/>
              <a:buChar char="§"/>
            </a:pPr>
            <a:r>
              <a:rPr lang="en-US" sz="2400" dirty="0">
                <a:solidFill>
                  <a:srgbClr val="FF0000"/>
                </a:solidFill>
                <a:latin typeface="Times New Roman" pitchFamily="18" charset="0"/>
                <a:cs typeface="Times New Roman" pitchFamily="18" charset="0"/>
              </a:rPr>
              <a:t>Goals</a:t>
            </a:r>
            <a:r>
              <a:rPr lang="en-US" sz="2400" dirty="0">
                <a:latin typeface="Times New Roman" pitchFamily="18" charset="0"/>
                <a:cs typeface="Times New Roman" pitchFamily="18" charset="0"/>
              </a:rPr>
              <a:t>: make Ethernet go 10 times faster yet remain backward compatible with all existing Ethernet standards</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gigabit Ethernet had to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offer unacknowledged datagram service with both unicast and multicast,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use the same 48-bit addressing scheme already in use, and </a:t>
            </a:r>
          </a:p>
          <a:p>
            <a:pPr marL="1524000" lvl="2"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maintain the same frame format, including the minimum and maximum frame sizes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All configurations are point-to-point rather than </a:t>
            </a:r>
            <a:r>
              <a:rPr lang="en-US" sz="2400" dirty="0" err="1">
                <a:latin typeface="Times New Roman" pitchFamily="18" charset="0"/>
                <a:cs typeface="Times New Roman" pitchFamily="18" charset="0"/>
              </a:rPr>
              <a:t>multidrop</a:t>
            </a:r>
            <a:endParaRPr lang="en-US" sz="2400" dirty="0">
              <a:latin typeface="Times New Roman" pitchFamily="18" charset="0"/>
              <a:cs typeface="Times New Roman" pitchFamily="18" charset="0"/>
            </a:endParaRP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two different modes of operation: full-duplex (normal) mode and half-duplex mode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Gigabit Ethernet supports both copper and fiber cabling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74950"/>
            <a:ext cx="9144000" cy="704543"/>
          </a:xfrm>
        </p:spPr>
        <p:txBody>
          <a:bodyPr/>
          <a:lstStyle/>
          <a:p>
            <a:r>
              <a:rPr lang="en-US" b="1" dirty="0"/>
              <a:t>High Speed LANs - Gigabit Ethernet</a:t>
            </a:r>
            <a:endParaRPr lang="en-US" dirty="0"/>
          </a:p>
        </p:txBody>
      </p:sp>
      <p:sp>
        <p:nvSpPr>
          <p:cNvPr id="7" name="Slide Number Placeholder 6"/>
          <p:cNvSpPr>
            <a:spLocks noGrp="1"/>
          </p:cNvSpPr>
          <p:nvPr>
            <p:ph type="sldNum" sz="quarter" idx="12"/>
          </p:nvPr>
        </p:nvSpPr>
        <p:spPr/>
        <p:txBody>
          <a:bodyPr/>
          <a:lstStyle/>
          <a:p>
            <a:fld id="{EF55C829-AE99-4997-8EBC-414F558758A8}" type="slidenum">
              <a:rPr lang="en-US" smtClean="0"/>
              <a:pPr/>
              <a:t>59</a:t>
            </a:fld>
            <a:endParaRPr lang="en-US" dirty="0"/>
          </a:p>
        </p:txBody>
      </p:sp>
      <p:sp>
        <p:nvSpPr>
          <p:cNvPr id="5" name="Rectangle 3"/>
          <p:cNvSpPr txBox="1">
            <a:spLocks noChangeArrowheads="1"/>
          </p:cNvSpPr>
          <p:nvPr/>
        </p:nvSpPr>
        <p:spPr bwMode="auto">
          <a:xfrm>
            <a:off x="0" y="688622"/>
            <a:ext cx="9144000" cy="60494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endParaRPr lang="en-US" sz="2400" dirty="0"/>
          </a:p>
        </p:txBody>
      </p:sp>
      <p:pic>
        <p:nvPicPr>
          <p:cNvPr id="4" name="Picture 4" descr="4-22"/>
          <p:cNvPicPr>
            <a:picLocks noChangeAspect="1" noChangeArrowheads="1"/>
          </p:cNvPicPr>
          <p:nvPr/>
        </p:nvPicPr>
        <p:blipFill>
          <a:blip r:embed="rId3" cstate="print"/>
          <a:srcRect/>
          <a:stretch>
            <a:fillRect/>
          </a:stretch>
        </p:blipFill>
        <p:spPr bwMode="auto">
          <a:xfrm>
            <a:off x="238125" y="863071"/>
            <a:ext cx="8752699" cy="3325107"/>
          </a:xfrm>
          <a:prstGeom prst="rect">
            <a:avLst/>
          </a:prstGeom>
          <a:noFill/>
          <a:ln w="9525">
            <a:noFill/>
            <a:miter lim="800000"/>
            <a:headEnd/>
            <a:tailEnd/>
          </a:ln>
        </p:spPr>
      </p:pic>
      <p:sp>
        <p:nvSpPr>
          <p:cNvPr id="6" name="Rectangle 3"/>
          <p:cNvSpPr txBox="1">
            <a:spLocks noChangeArrowheads="1"/>
          </p:cNvSpPr>
          <p:nvPr/>
        </p:nvSpPr>
        <p:spPr bwMode="auto">
          <a:xfrm>
            <a:off x="0" y="4554714"/>
            <a:ext cx="9143999" cy="18912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accent2"/>
                </a:solidFill>
                <a:effectLst/>
                <a:uLnTx/>
                <a:uFillTx/>
                <a:latin typeface="+mn-lt"/>
                <a:ea typeface="+mn-ea"/>
                <a:cs typeface="+mn-cs"/>
              </a:rPr>
              <a:t>Fig: (a)</a:t>
            </a:r>
            <a:r>
              <a:rPr kumimoji="0" lang="en-US" sz="2400" b="0" i="0" u="none" strike="noStrike" kern="0" cap="none" spc="0" normalizeH="0" baseline="0" noProof="0" dirty="0">
                <a:ln>
                  <a:noFill/>
                </a:ln>
                <a:solidFill>
                  <a:schemeClr val="tx1"/>
                </a:solidFill>
                <a:effectLst/>
                <a:uLnTx/>
                <a:uFillTx/>
                <a:latin typeface="+mn-lt"/>
                <a:ea typeface="+mn-ea"/>
                <a:cs typeface="+mn-cs"/>
              </a:rPr>
              <a:t> A two-station Ethernet. </a:t>
            </a:r>
            <a:r>
              <a:rPr kumimoji="0" lang="en-US" sz="2400" b="0" i="0" u="none" strike="noStrike" kern="0" cap="none" spc="0" normalizeH="0" baseline="0" noProof="0" dirty="0">
                <a:ln>
                  <a:noFill/>
                </a:ln>
                <a:solidFill>
                  <a:schemeClr val="accent2"/>
                </a:solidFill>
                <a:effectLst/>
                <a:uLnTx/>
                <a:uFillTx/>
                <a:latin typeface="+mn-lt"/>
                <a:ea typeface="+mn-ea"/>
                <a:cs typeface="+mn-cs"/>
              </a:rPr>
              <a:t>(b)</a:t>
            </a:r>
            <a:r>
              <a:rPr kumimoji="0" lang="en-US" sz="2400" b="0" i="0" u="none" strike="noStrike" kern="0" cap="none" spc="0" normalizeH="0" baseline="0" noProof="0" dirty="0">
                <a:ln>
                  <a:noFill/>
                </a:ln>
                <a:solidFill>
                  <a:schemeClr val="tx1"/>
                </a:solidFill>
                <a:effectLst/>
                <a:uLnTx/>
                <a:uFillTx/>
                <a:latin typeface="+mn-lt"/>
                <a:ea typeface="+mn-ea"/>
                <a:cs typeface="+mn-cs"/>
              </a:rPr>
              <a:t> A </a:t>
            </a:r>
            <a:r>
              <a:rPr kumimoji="0" lang="en-US" sz="2400" b="0" i="0" u="none" strike="noStrike" kern="0" cap="none" spc="0" normalizeH="0" baseline="0" noProof="0" dirty="0" err="1">
                <a:ln>
                  <a:noFill/>
                </a:ln>
                <a:solidFill>
                  <a:schemeClr val="tx1"/>
                </a:solidFill>
                <a:effectLst/>
                <a:uLnTx/>
                <a:uFillTx/>
                <a:latin typeface="+mn-lt"/>
                <a:ea typeface="+mn-ea"/>
                <a:cs typeface="+mn-cs"/>
              </a:rPr>
              <a:t>multistation</a:t>
            </a:r>
            <a:r>
              <a:rPr kumimoji="0" lang="en-US" sz="2400" b="0" i="0" u="none" strike="noStrike" kern="0" cap="none" spc="0" normalizeH="0" baseline="0" noProof="0" dirty="0">
                <a:ln>
                  <a:noFill/>
                </a:ln>
                <a:solidFill>
                  <a:schemeClr val="tx1"/>
                </a:solidFill>
                <a:effectLst/>
                <a:uLnTx/>
                <a:uFillTx/>
                <a:latin typeface="+mn-lt"/>
                <a:ea typeface="+mn-ea"/>
                <a:cs typeface="+mn-cs"/>
              </a:rPr>
              <a:t> Ethernet.</a:t>
            </a:r>
          </a:p>
          <a:p>
            <a:pPr marL="609600" lvl="0" indent="-609600">
              <a:spcBef>
                <a:spcPct val="20000"/>
              </a:spcBef>
              <a:buClr>
                <a:schemeClr val="accent2"/>
              </a:buClr>
            </a:pPr>
            <a:endParaRPr lang="en-US" sz="2400" dirty="0"/>
          </a:p>
          <a:p>
            <a:pPr marL="609600" lvl="0" indent="-609600" algn="just">
              <a:spcBef>
                <a:spcPct val="20000"/>
              </a:spcBef>
              <a:buClr>
                <a:schemeClr val="accent2"/>
              </a:buClr>
              <a:buFont typeface="Arial" pitchFamily="34" charset="0"/>
              <a:buChar char="•"/>
            </a:pPr>
            <a:r>
              <a:rPr lang="en-US" sz="2400" dirty="0"/>
              <a:t>In both configurations each individual Ethernet cable has exactly two devices on it, no more and no fewer </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8397" y="413570"/>
            <a:ext cx="9144000" cy="704543"/>
          </a:xfrm>
        </p:spPr>
        <p:txBody>
          <a:bodyPr/>
          <a:lstStyle/>
          <a:p>
            <a:r>
              <a:rPr lang="en-US" b="1" dirty="0"/>
              <a:t> High Speed LANs - Gigabit Ethernet</a:t>
            </a:r>
            <a:endParaRPr lang="en-US" dirty="0"/>
          </a:p>
        </p:txBody>
      </p:sp>
      <p:sp>
        <p:nvSpPr>
          <p:cNvPr id="6" name="Slide Number Placeholder 5"/>
          <p:cNvSpPr>
            <a:spLocks noGrp="1"/>
          </p:cNvSpPr>
          <p:nvPr>
            <p:ph type="sldNum" sz="quarter" idx="12"/>
          </p:nvPr>
        </p:nvSpPr>
        <p:spPr/>
        <p:txBody>
          <a:bodyPr/>
          <a:lstStyle/>
          <a:p>
            <a:fld id="{EF55C829-AE99-4997-8EBC-414F558758A8}" type="slidenum">
              <a:rPr lang="en-US" smtClean="0"/>
              <a:pPr/>
              <a:t>60</a:t>
            </a:fld>
            <a:endParaRPr lang="en-US" dirty="0"/>
          </a:p>
        </p:txBody>
      </p:sp>
      <p:sp>
        <p:nvSpPr>
          <p:cNvPr id="5" name="Rectangle 3"/>
          <p:cNvSpPr txBox="1">
            <a:spLocks noChangeArrowheads="1"/>
          </p:cNvSpPr>
          <p:nvPr/>
        </p:nvSpPr>
        <p:spPr bwMode="auto">
          <a:xfrm>
            <a:off x="28397" y="1127862"/>
            <a:ext cx="8824658" cy="60494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Features:</a:t>
            </a:r>
          </a:p>
          <a:p>
            <a:pPr marL="1066800" lvl="1" indent="-609600" algn="just">
              <a:spcBef>
                <a:spcPct val="20000"/>
              </a:spcBef>
              <a:buClr>
                <a:schemeClr val="accent2"/>
              </a:buClr>
              <a:buFont typeface="+mj-lt"/>
              <a:buAutoNum type="arabicPeriod"/>
            </a:pPr>
            <a:r>
              <a:rPr lang="en-US" sz="2400" b="1" dirty="0">
                <a:latin typeface="Times New Roman" pitchFamily="18" charset="0"/>
                <a:cs typeface="Times New Roman" pitchFamily="18" charset="0"/>
              </a:rPr>
              <a:t>carrier extension </a:t>
            </a:r>
            <a:r>
              <a:rPr lang="en-US" sz="2400" dirty="0">
                <a:latin typeface="Times New Roman" pitchFamily="18" charset="0"/>
                <a:cs typeface="Times New Roman" pitchFamily="18" charset="0"/>
              </a:rPr>
              <a:t>tells the hardware to add its own padding after the normal frame to extend the frame to 512 bytes </a:t>
            </a:r>
          </a:p>
          <a:p>
            <a:pPr marL="1066800" lvl="1" indent="-609600" algn="just">
              <a:spcBef>
                <a:spcPct val="20000"/>
              </a:spcBef>
              <a:buClr>
                <a:schemeClr val="accent2"/>
              </a:buClr>
              <a:buFont typeface="+mj-lt"/>
              <a:buAutoNum type="arabicPeriod"/>
            </a:pPr>
            <a:r>
              <a:rPr lang="en-US" sz="2400" b="1" dirty="0">
                <a:latin typeface="Times New Roman" pitchFamily="18" charset="0"/>
                <a:cs typeface="Times New Roman" pitchFamily="18" charset="0"/>
              </a:rPr>
              <a:t>frame bursting, </a:t>
            </a:r>
            <a:r>
              <a:rPr lang="en-US" sz="2400" dirty="0">
                <a:latin typeface="Times New Roman" pitchFamily="18" charset="0"/>
                <a:cs typeface="Times New Roman" pitchFamily="18" charset="0"/>
              </a:rPr>
              <a:t>allows a sender to transmit a concatenated sequence of multiple frames in a single transmission</a:t>
            </a:r>
          </a:p>
        </p:txBody>
      </p:sp>
      <p:pic>
        <p:nvPicPr>
          <p:cNvPr id="7" name="Picture 4" descr="4-23"/>
          <p:cNvPicPr>
            <a:picLocks noChangeAspect="1" noChangeArrowheads="1"/>
          </p:cNvPicPr>
          <p:nvPr/>
        </p:nvPicPr>
        <p:blipFill>
          <a:blip r:embed="rId3" cstate="print"/>
          <a:srcRect/>
          <a:stretch>
            <a:fillRect/>
          </a:stretch>
        </p:blipFill>
        <p:spPr bwMode="auto">
          <a:xfrm>
            <a:off x="214840" y="3963987"/>
            <a:ext cx="8771115" cy="1684427"/>
          </a:xfrm>
          <a:prstGeom prst="rect">
            <a:avLst/>
          </a:prstGeom>
          <a:noFill/>
          <a:ln w="9525">
            <a:noFill/>
            <a:miter lim="800000"/>
            <a:headEnd/>
            <a:tailEnd/>
          </a:ln>
        </p:spPr>
      </p:pic>
      <p:sp>
        <p:nvSpPr>
          <p:cNvPr id="8" name="Rectangle 3"/>
          <p:cNvSpPr txBox="1">
            <a:spLocks noChangeArrowheads="1"/>
          </p:cNvSpPr>
          <p:nvPr/>
        </p:nvSpPr>
        <p:spPr bwMode="auto">
          <a:xfrm>
            <a:off x="0" y="5850468"/>
            <a:ext cx="9144000" cy="4487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Fig: Gigabit Ethernet cabling.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591637"/>
            <a:ext cx="9144000" cy="60494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3200" b="1" u="sng" dirty="0">
                <a:latin typeface="Times New Roman" pitchFamily="18" charset="0"/>
                <a:cs typeface="Times New Roman" pitchFamily="18" charset="0"/>
              </a:rPr>
              <a:t>IEEE 802.2: Logical Link Control (LLC)</a:t>
            </a:r>
          </a:p>
          <a:p>
            <a:pPr marL="1066800" lvl="1" indent="-609600" algn="just">
              <a:spcBef>
                <a:spcPct val="20000"/>
              </a:spcBef>
              <a:buClr>
                <a:schemeClr val="accent2"/>
              </a:buClr>
              <a:buFont typeface="Wingdings" pitchFamily="2" charset="2"/>
              <a:buChar char="§"/>
            </a:pPr>
            <a:r>
              <a:rPr lang="en-US" sz="2400" b="1" dirty="0">
                <a:latin typeface="Times New Roman" pitchFamily="18" charset="0"/>
                <a:cs typeface="Times New Roman" pitchFamily="18" charset="0"/>
              </a:rPr>
              <a:t>LLC </a:t>
            </a:r>
            <a:r>
              <a:rPr lang="en-US" sz="2400" dirty="0">
                <a:latin typeface="Times New Roman" pitchFamily="18" charset="0"/>
                <a:cs typeface="Times New Roman" pitchFamily="18" charset="0"/>
              </a:rPr>
              <a:t>hides the differences between the various kinds of 802 networks by providing a single format and interface to the network layer. </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This format, interface, and protocol are all closely based on the HDLC protocol</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LLC forms the upper half of the data link layer, with the MAC sublayer below it </a:t>
            </a:r>
          </a:p>
          <a:p>
            <a:pPr marL="609600" indent="-609600" algn="just">
              <a:spcBef>
                <a:spcPct val="20000"/>
              </a:spcBef>
              <a:buClr>
                <a:schemeClr val="accent2"/>
              </a:buClr>
              <a:buFont typeface="Wingdings" pitchFamily="2" charset="2"/>
              <a:buChar char="§"/>
            </a:pPr>
            <a:endParaRPr lang="en-US" sz="2400" dirty="0">
              <a:latin typeface="Times New Roman" pitchFamily="18" charset="0"/>
              <a:cs typeface="Times New Roman" pitchFamily="18" charset="0"/>
            </a:endParaRPr>
          </a:p>
        </p:txBody>
      </p:sp>
      <p:pic>
        <p:nvPicPr>
          <p:cNvPr id="6" name="Picture 4" descr="4-24"/>
          <p:cNvPicPr>
            <a:picLocks noChangeAspect="1" noChangeArrowheads="1"/>
          </p:cNvPicPr>
          <p:nvPr/>
        </p:nvPicPr>
        <p:blipFill>
          <a:blip r:embed="rId3" cstate="print"/>
          <a:srcRect/>
          <a:stretch>
            <a:fillRect/>
          </a:stretch>
        </p:blipFill>
        <p:spPr bwMode="auto">
          <a:xfrm>
            <a:off x="55736" y="3961680"/>
            <a:ext cx="6819195" cy="2828586"/>
          </a:xfrm>
          <a:prstGeom prst="rect">
            <a:avLst/>
          </a:prstGeom>
          <a:noFill/>
          <a:ln w="9525">
            <a:noFill/>
            <a:miter lim="800000"/>
            <a:headEnd/>
            <a:tailEnd/>
          </a:ln>
        </p:spPr>
      </p:pic>
      <p:sp>
        <p:nvSpPr>
          <p:cNvPr id="9" name="Rectangle 3"/>
          <p:cNvSpPr txBox="1">
            <a:spLocks noChangeArrowheads="1"/>
          </p:cNvSpPr>
          <p:nvPr/>
        </p:nvSpPr>
        <p:spPr bwMode="auto">
          <a:xfrm>
            <a:off x="6504453" y="4225036"/>
            <a:ext cx="2528711" cy="11509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marR="0" lvl="0" indent="-609600" defTabSz="914400" rtl="0" eaLnBrk="1" fontAlgn="base" latinLnBrk="0" hangingPunct="1">
              <a:lnSpc>
                <a:spcPct val="100000"/>
              </a:lnSpc>
              <a:spcBef>
                <a:spcPct val="20000"/>
              </a:spcBef>
              <a:spcAft>
                <a:spcPct val="0"/>
              </a:spcAft>
              <a:buClr>
                <a:schemeClr val="accent2"/>
              </a:buClr>
              <a:buSzTx/>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Fig:</a:t>
            </a:r>
          </a:p>
          <a:p>
            <a:pPr marL="609600" marR="0" lvl="0" indent="-609600" defTabSz="914400" rtl="0" eaLnBrk="1" fontAlgn="base" latinLnBrk="0" hangingPunct="1">
              <a:lnSpc>
                <a:spcPct val="100000"/>
              </a:lnSpc>
              <a:spcBef>
                <a:spcPct val="20000"/>
              </a:spcBef>
              <a:spcAft>
                <a:spcPct val="0"/>
              </a:spcAft>
              <a:buClr>
                <a:schemeClr val="accent2"/>
              </a:buClr>
              <a:buSzTx/>
              <a:buFontTx/>
              <a:buAutoNum type="alphaLcParenBoth"/>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Position of LLC </a:t>
            </a:r>
          </a:p>
          <a:p>
            <a:pPr marL="609600" marR="0" lvl="0" indent="-609600" defTabSz="914400" rtl="0" eaLnBrk="1" fontAlgn="base" latinLnBrk="0" hangingPunct="1">
              <a:lnSpc>
                <a:spcPct val="100000"/>
              </a:lnSpc>
              <a:spcBef>
                <a:spcPct val="20000"/>
              </a:spcBef>
              <a:spcAft>
                <a:spcPct val="0"/>
              </a:spcAft>
              <a:buClr>
                <a:schemeClr val="accent2"/>
              </a:buClr>
              <a:buSzTx/>
              <a:tabLst/>
              <a:defRPr/>
            </a:pPr>
            <a:r>
              <a:rPr kumimoji="0" lang="en-US" sz="2000" b="0" i="0" u="none" strike="noStrike" kern="0" cap="none" spc="0" normalizeH="0" baseline="0" noProof="0" dirty="0">
                <a:ln>
                  <a:noFill/>
                </a:ln>
                <a:solidFill>
                  <a:schemeClr val="accent2"/>
                </a:solidFill>
                <a:effectLst/>
                <a:uLnTx/>
                <a:uFillTx/>
                <a:latin typeface="+mn-lt"/>
                <a:ea typeface="+mn-ea"/>
                <a:cs typeface="+mn-cs"/>
              </a:rPr>
              <a:t>(b)</a:t>
            </a:r>
            <a:r>
              <a:rPr kumimoji="0" lang="en-US" sz="2000" b="0" i="0" u="none" strike="noStrike" kern="0" cap="none" spc="0" normalizeH="0" baseline="0" noProof="0" dirty="0">
                <a:ln>
                  <a:noFill/>
                </a:ln>
                <a:solidFill>
                  <a:schemeClr val="tx1"/>
                </a:solidFill>
                <a:effectLst/>
                <a:uLnTx/>
                <a:uFillTx/>
                <a:latin typeface="+mn-lt"/>
                <a:ea typeface="+mn-ea"/>
                <a:cs typeface="+mn-cs"/>
              </a:rPr>
              <a:t> 	Protocol formats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07673"/>
            <a:ext cx="7772400" cy="2369127"/>
          </a:xfrm>
        </p:spPr>
        <p:txBody>
          <a:bodyPr>
            <a:normAutofit fontScale="62500" lnSpcReduction="20000"/>
          </a:bodyPr>
          <a:lstStyle/>
          <a:p>
            <a:pPr algn="ctr"/>
            <a:r>
              <a:rPr lang="en-US" sz="6400" b="1" u="sng" dirty="0">
                <a:effectLst>
                  <a:outerShdw blurRad="38100" dist="38100" dir="2700000" algn="tl">
                    <a:srgbClr val="000000">
                      <a:alpha val="43137"/>
                    </a:srgbClr>
                  </a:outerShdw>
                </a:effectLst>
              </a:rPr>
              <a:t>Wireless LANs</a:t>
            </a:r>
          </a:p>
          <a:p>
            <a:pPr algn="ctr"/>
            <a:r>
              <a:rPr lang="en-IN" sz="5400" dirty="0"/>
              <a:t>Wireless LANs, 802.11 protocol stack, Physical layer, MAC </a:t>
            </a:r>
            <a:r>
              <a:rPr lang="en-IN" sz="5400" dirty="0" err="1"/>
              <a:t>Sublayer</a:t>
            </a:r>
            <a:r>
              <a:rPr lang="en-IN" sz="5400" dirty="0"/>
              <a:t> protocol, Frame structure. 	</a:t>
            </a:r>
          </a:p>
          <a:p>
            <a:pPr algn="ctr"/>
            <a:endParaRPr lang="en-IN" sz="5400"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lstStyle/>
          <a:p>
            <a:fld id="{38D8CC6B-B086-4019-9A6B-1D7874CBC23A}" type="slidenum">
              <a:rPr lang="en-US" smtClean="0"/>
              <a:pPr/>
              <a:t>62</a:t>
            </a:fld>
            <a:endParaRPr lang="en-US" dirty="0"/>
          </a:p>
        </p:txBody>
      </p:sp>
    </p:spTree>
    <p:extLst>
      <p:ext uri="{BB962C8B-B14F-4D97-AF65-F5344CB8AC3E}">
        <p14:creationId xmlns:p14="http://schemas.microsoft.com/office/powerpoint/2010/main" val="35308372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5236"/>
            <a:ext cx="8229600" cy="5549300"/>
          </a:xfrm>
        </p:spPr>
        <p:txBody>
          <a:bodyPr/>
          <a:lstStyle/>
          <a:p>
            <a:r>
              <a:rPr lang="en-IN" dirty="0">
                <a:latin typeface="Times New Roman" pitchFamily="18" charset="0"/>
                <a:cs typeface="Times New Roman" pitchFamily="18" charset="0"/>
              </a:rPr>
              <a:t>Wireless LANs are increasingly popular, and homes, offices, cafes, libraries, airports, zoos, and other public places are being outfitted with them to connect computers, PDAs, and smart phones to the Internet. </a:t>
            </a:r>
          </a:p>
          <a:p>
            <a:r>
              <a:rPr lang="en-IN" dirty="0">
                <a:latin typeface="Times New Roman" pitchFamily="18" charset="0"/>
                <a:cs typeface="Times New Roman" pitchFamily="18" charset="0"/>
              </a:rPr>
              <a:t>Wireless LANs can also be used to let two or more nearby computers communicate without using the Internet.</a:t>
            </a:r>
          </a:p>
          <a:p>
            <a:r>
              <a:rPr lang="en-IN" dirty="0">
                <a:latin typeface="Times New Roman" pitchFamily="18" charset="0"/>
                <a:cs typeface="Times New Roman" pitchFamily="18" charset="0"/>
              </a:rPr>
              <a:t>The main wireless LAN standard is 802.11.</a:t>
            </a:r>
          </a:p>
          <a:p>
            <a:r>
              <a:rPr lang="en-US" sz="2400" dirty="0"/>
              <a:t>operate in one of two configurations</a:t>
            </a:r>
          </a:p>
          <a:p>
            <a:pPr marL="1524000" lvl="2" indent="-609600" algn="just">
              <a:spcBef>
                <a:spcPct val="20000"/>
              </a:spcBef>
              <a:buClr>
                <a:schemeClr val="accent2"/>
              </a:buClr>
              <a:buFont typeface="Wingdings" pitchFamily="2" charset="2"/>
              <a:buChar char="§"/>
            </a:pPr>
            <a:r>
              <a:rPr lang="en-IN" dirty="0"/>
              <a:t>Infrastructure mode</a:t>
            </a:r>
          </a:p>
          <a:p>
            <a:pPr marL="1524000" lvl="2" indent="-609600" algn="just">
              <a:spcBef>
                <a:spcPct val="20000"/>
              </a:spcBef>
              <a:buClr>
                <a:schemeClr val="accent2"/>
              </a:buClr>
              <a:buFont typeface="Wingdings" pitchFamily="2" charset="2"/>
              <a:buChar char="§"/>
            </a:pPr>
            <a:r>
              <a:rPr lang="en-IN" dirty="0"/>
              <a:t>Ad-hoc mode.</a:t>
            </a: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63</a:t>
            </a:fld>
            <a:endParaRPr lang="en-US" dirty="0"/>
          </a:p>
        </p:txBody>
      </p:sp>
    </p:spTree>
    <p:extLst>
      <p:ext uri="{BB962C8B-B14F-4D97-AF65-F5344CB8AC3E}">
        <p14:creationId xmlns:p14="http://schemas.microsoft.com/office/powerpoint/2010/main" val="40436031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64</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2515" y="3616037"/>
            <a:ext cx="5708939" cy="3241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2"/>
          <p:cNvSpPr txBox="1">
            <a:spLocks/>
          </p:cNvSpPr>
          <p:nvPr/>
        </p:nvSpPr>
        <p:spPr>
          <a:xfrm>
            <a:off x="443345" y="595746"/>
            <a:ext cx="8229600" cy="5646281"/>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algn="just"/>
            <a:r>
              <a:rPr lang="en-IN" u="sng" dirty="0">
                <a:solidFill>
                  <a:schemeClr val="accent2">
                    <a:lumMod val="75000"/>
                  </a:schemeClr>
                </a:solidFill>
                <a:latin typeface="Times New Roman" pitchFamily="18" charset="0"/>
                <a:cs typeface="Times New Roman" pitchFamily="18" charset="0"/>
              </a:rPr>
              <a:t>Infrastructure mode</a:t>
            </a:r>
            <a:endParaRPr lang="en-IN" dirty="0">
              <a:solidFill>
                <a:schemeClr val="accent2">
                  <a:lumMod val="75000"/>
                </a:schemeClr>
              </a:solidFill>
              <a:latin typeface="Times New Roman" pitchFamily="18" charset="0"/>
              <a:cs typeface="Times New Roman" pitchFamily="18" charset="0"/>
            </a:endParaRPr>
          </a:p>
          <a:p>
            <a:pPr algn="just"/>
            <a:r>
              <a:rPr lang="en-IN" sz="2600" dirty="0">
                <a:latin typeface="Times New Roman" pitchFamily="18" charset="0"/>
                <a:cs typeface="Times New Roman" pitchFamily="18" charset="0"/>
              </a:rPr>
              <a:t>Each client is associated with an </a:t>
            </a:r>
            <a:r>
              <a:rPr lang="en-IN" sz="2600" b="1" dirty="0">
                <a:latin typeface="Times New Roman" pitchFamily="18" charset="0"/>
                <a:cs typeface="Times New Roman" pitchFamily="18" charset="0"/>
              </a:rPr>
              <a:t>AP </a:t>
            </a:r>
            <a:r>
              <a:rPr lang="en-IN" sz="2600" dirty="0">
                <a:latin typeface="Times New Roman" pitchFamily="18" charset="0"/>
                <a:cs typeface="Times New Roman" pitchFamily="18" charset="0"/>
              </a:rPr>
              <a:t>(</a:t>
            </a:r>
            <a:r>
              <a:rPr lang="en-IN" sz="2600" b="1" dirty="0">
                <a:latin typeface="Times New Roman" pitchFamily="18" charset="0"/>
                <a:cs typeface="Times New Roman" pitchFamily="18" charset="0"/>
              </a:rPr>
              <a:t>Access Point</a:t>
            </a:r>
            <a:r>
              <a:rPr lang="en-IN" sz="2600" dirty="0">
                <a:latin typeface="Times New Roman" pitchFamily="18" charset="0"/>
                <a:cs typeface="Times New Roman" pitchFamily="18" charset="0"/>
              </a:rPr>
              <a:t>) that is in turn connected to the other network. </a:t>
            </a:r>
          </a:p>
          <a:p>
            <a:pPr algn="just"/>
            <a:r>
              <a:rPr lang="en-IN" sz="2600" dirty="0">
                <a:latin typeface="Times New Roman" pitchFamily="18" charset="0"/>
                <a:cs typeface="Times New Roman" pitchFamily="18" charset="0"/>
              </a:rPr>
              <a:t>The client sends and receives its packets via the AP.</a:t>
            </a:r>
          </a:p>
          <a:p>
            <a:pPr algn="just"/>
            <a:r>
              <a:rPr lang="en-IN" sz="2600" dirty="0">
                <a:latin typeface="Times New Roman" pitchFamily="18" charset="0"/>
                <a:cs typeface="Times New Roman" pitchFamily="18" charset="0"/>
              </a:rPr>
              <a:t>Several access points may be connected together, typically by a wired network called a </a:t>
            </a:r>
            <a:r>
              <a:rPr lang="en-IN" sz="2600" b="1" dirty="0">
                <a:latin typeface="Times New Roman" pitchFamily="18" charset="0"/>
                <a:cs typeface="Times New Roman" pitchFamily="18" charset="0"/>
              </a:rPr>
              <a:t>distribution system</a:t>
            </a:r>
            <a:r>
              <a:rPr lang="en-IN" sz="2600" dirty="0">
                <a:latin typeface="Times New Roman" pitchFamily="18" charset="0"/>
                <a:cs typeface="Times New Roman" pitchFamily="18" charset="0"/>
              </a:rPr>
              <a:t>, to form an extended 802.11 network. </a:t>
            </a:r>
          </a:p>
          <a:p>
            <a:pPr algn="just"/>
            <a:r>
              <a:rPr lang="en-IN" sz="2600" dirty="0">
                <a:latin typeface="Times New Roman" pitchFamily="18" charset="0"/>
                <a:cs typeface="Times New Roman" pitchFamily="18" charset="0"/>
              </a:rPr>
              <a:t>clients can send frames to other clients via their APs.</a:t>
            </a:r>
          </a:p>
          <a:p>
            <a:pPr marL="109728" indent="0" algn="just">
              <a:buFont typeface="Georgia"/>
              <a:buNone/>
            </a:pPr>
            <a:endParaRPr lang="en-IN" sz="2600" dirty="0">
              <a:latin typeface="Times New Roman" pitchFamily="18" charset="0"/>
              <a:cs typeface="Times New Roman" pitchFamily="18" charset="0"/>
            </a:endParaRPr>
          </a:p>
        </p:txBody>
      </p:sp>
    </p:spTree>
    <p:extLst>
      <p:ext uri="{BB962C8B-B14F-4D97-AF65-F5344CB8AC3E}">
        <p14:creationId xmlns:p14="http://schemas.microsoft.com/office/powerpoint/2010/main" val="198784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65</a:t>
            </a:fld>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008" y="3587169"/>
            <a:ext cx="3245428" cy="328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2"/>
          <p:cNvSpPr txBox="1">
            <a:spLocks/>
          </p:cNvSpPr>
          <p:nvPr/>
        </p:nvSpPr>
        <p:spPr>
          <a:xfrm>
            <a:off x="498764" y="775855"/>
            <a:ext cx="8229600" cy="5535445"/>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algn="just"/>
            <a:r>
              <a:rPr lang="en-IN" b="1" u="sng">
                <a:solidFill>
                  <a:schemeClr val="accent2">
                    <a:lumMod val="75000"/>
                  </a:schemeClr>
                </a:solidFill>
                <a:latin typeface="Times New Roman" pitchFamily="18" charset="0"/>
                <a:cs typeface="Times New Roman" pitchFamily="18" charset="0"/>
              </a:rPr>
              <a:t>Ad hoc network </a:t>
            </a:r>
          </a:p>
          <a:p>
            <a:pPr algn="just"/>
            <a:r>
              <a:rPr lang="en-IN">
                <a:latin typeface="Times New Roman" pitchFamily="18" charset="0"/>
                <a:cs typeface="Times New Roman" pitchFamily="18" charset="0"/>
              </a:rPr>
              <a:t>This mode is a collection of computers that are associated so that they can directly send frames to each other. </a:t>
            </a:r>
          </a:p>
          <a:p>
            <a:pPr algn="just"/>
            <a:r>
              <a:rPr lang="en-IN">
                <a:latin typeface="Times New Roman" pitchFamily="18" charset="0"/>
                <a:cs typeface="Times New Roman" pitchFamily="18" charset="0"/>
              </a:rPr>
              <a:t>There is no access point. </a:t>
            </a:r>
          </a:p>
          <a:p>
            <a:pPr algn="just"/>
            <a:r>
              <a:rPr lang="en-IN">
                <a:latin typeface="Times New Roman" pitchFamily="18" charset="0"/>
                <a:cs typeface="Times New Roman" pitchFamily="18" charset="0"/>
              </a:rPr>
              <a:t>Since Internet access is the killer application for wireless, ad hoc networks are not very popular</a:t>
            </a:r>
            <a:endParaRPr lang="en-IN" dirty="0"/>
          </a:p>
        </p:txBody>
      </p:sp>
    </p:spTree>
    <p:extLst>
      <p:ext uri="{BB962C8B-B14F-4D97-AF65-F5344CB8AC3E}">
        <p14:creationId xmlns:p14="http://schemas.microsoft.com/office/powerpoint/2010/main" val="42413841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593679"/>
            <a:ext cx="8839200" cy="704543"/>
          </a:xfrm>
        </p:spPr>
        <p:txBody>
          <a:bodyPr>
            <a:normAutofit/>
          </a:bodyPr>
          <a:lstStyle/>
          <a:p>
            <a:r>
              <a:rPr lang="en-US" u="sng" dirty="0">
                <a:latin typeface="Times New Roman" pitchFamily="18" charset="0"/>
                <a:cs typeface="Times New Roman" pitchFamily="18" charset="0"/>
                <a:hlinkClick r:id="rId3" action="ppaction://hlinksldjump"/>
              </a:rPr>
              <a:t>802.11 protocol stack</a:t>
            </a:r>
            <a:endParaRPr lang="en-US" u="sng"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a:xfrm>
            <a:off x="7062860" y="6248400"/>
            <a:ext cx="1905000" cy="457200"/>
          </a:xfrm>
        </p:spPr>
        <p:txBody>
          <a:bodyPr/>
          <a:lstStyle/>
          <a:p>
            <a:fld id="{EF55C829-AE99-4997-8EBC-414F558758A8}" type="slidenum">
              <a:rPr lang="en-US" smtClean="0"/>
              <a:pPr/>
              <a:t>66</a:t>
            </a:fld>
            <a:endParaRPr lang="en-US" dirty="0"/>
          </a:p>
        </p:txBody>
      </p:sp>
      <p:sp>
        <p:nvSpPr>
          <p:cNvPr id="5" name="Rectangle 3"/>
          <p:cNvSpPr txBox="1">
            <a:spLocks noChangeArrowheads="1"/>
          </p:cNvSpPr>
          <p:nvPr/>
        </p:nvSpPr>
        <p:spPr bwMode="auto">
          <a:xfrm>
            <a:off x="498764" y="1298222"/>
            <a:ext cx="8587558" cy="60494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457200" indent="-457200" algn="l">
              <a:buFont typeface="Arial" pitchFamily="34" charset="0"/>
              <a:buChar char="•"/>
            </a:pPr>
            <a:r>
              <a:rPr lang="en-IN" sz="2800" dirty="0">
                <a:latin typeface="Times New Roman" pitchFamily="18" charset="0"/>
                <a:cs typeface="Times New Roman" pitchFamily="18" charset="0"/>
              </a:rPr>
              <a:t>All the 802 protocols, including 802.11 and Ethernet, have a certain commonality of structure. </a:t>
            </a:r>
          </a:p>
          <a:p>
            <a:pPr marL="457200" indent="-457200" algn="l">
              <a:buFont typeface="Arial" pitchFamily="34" charset="0"/>
              <a:buChar char="•"/>
            </a:pPr>
            <a:r>
              <a:rPr lang="en-IN" sz="2800" dirty="0">
                <a:latin typeface="Times New Roman" pitchFamily="18" charset="0"/>
                <a:cs typeface="Times New Roman" pitchFamily="18" charset="0"/>
              </a:rPr>
              <a:t>A partial view of the 802.11 protocol stack is given</a:t>
            </a:r>
            <a:endParaRPr lang="en-US" sz="2800" b="1" dirty="0">
              <a:latin typeface="Times New Roman" pitchFamily="18" charset="0"/>
              <a:cs typeface="Times New Roman" pitchFamily="18" charset="0"/>
            </a:endParaRPr>
          </a:p>
        </p:txBody>
      </p:sp>
      <p:pic>
        <p:nvPicPr>
          <p:cNvPr id="6" name="Picture 4" descr="4-25"/>
          <p:cNvPicPr>
            <a:picLocks noChangeAspect="1" noChangeArrowheads="1"/>
          </p:cNvPicPr>
          <p:nvPr/>
        </p:nvPicPr>
        <p:blipFill>
          <a:blip r:embed="rId4" cstate="print"/>
          <a:srcRect t="14206"/>
          <a:stretch>
            <a:fillRect/>
          </a:stretch>
        </p:blipFill>
        <p:spPr bwMode="auto">
          <a:xfrm>
            <a:off x="180110" y="2646220"/>
            <a:ext cx="8520546" cy="4082260"/>
          </a:xfrm>
          <a:prstGeom prst="rect">
            <a:avLst/>
          </a:prstGeom>
          <a:noFill/>
          <a:ln w="9525">
            <a:noFill/>
            <a:miter lim="800000"/>
            <a:headEnd/>
            <a:tailEnd/>
          </a:ln>
        </p:spPr>
      </p:pic>
    </p:spTree>
    <p:extLst>
      <p:ext uri="{BB962C8B-B14F-4D97-AF65-F5344CB8AC3E}">
        <p14:creationId xmlns:p14="http://schemas.microsoft.com/office/powerpoint/2010/main" val="31508800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527" y="581891"/>
            <a:ext cx="8451273" cy="5992645"/>
          </a:xfrm>
        </p:spPr>
        <p:txBody>
          <a:bodyPr>
            <a:normAutofit/>
          </a:bodyPr>
          <a:lstStyle/>
          <a:p>
            <a:pPr algn="just"/>
            <a:r>
              <a:rPr lang="en-IN" dirty="0">
                <a:latin typeface="Times New Roman" pitchFamily="18" charset="0"/>
                <a:cs typeface="Times New Roman" pitchFamily="18" charset="0"/>
              </a:rPr>
              <a:t>The stack is the same for clients and APs.</a:t>
            </a:r>
          </a:p>
          <a:p>
            <a:pPr algn="just"/>
            <a:r>
              <a:rPr lang="en-IN" dirty="0">
                <a:latin typeface="Times New Roman" pitchFamily="18" charset="0"/>
                <a:cs typeface="Times New Roman" pitchFamily="18" charset="0"/>
              </a:rPr>
              <a:t>Data link layer in all the 802 protocols is split into two or more </a:t>
            </a:r>
            <a:r>
              <a:rPr lang="en-IN" dirty="0" err="1">
                <a:latin typeface="Times New Roman" pitchFamily="18" charset="0"/>
                <a:cs typeface="Times New Roman" pitchFamily="18" charset="0"/>
              </a:rPr>
              <a:t>sublayers</a:t>
            </a:r>
            <a:r>
              <a:rPr lang="en-IN" dirty="0">
                <a:latin typeface="Times New Roman" pitchFamily="18" charset="0"/>
                <a:cs typeface="Times New Roman" pitchFamily="18" charset="0"/>
              </a:rPr>
              <a:t>. </a:t>
            </a:r>
          </a:p>
          <a:p>
            <a:pPr algn="just"/>
            <a:r>
              <a:rPr lang="en-IN" dirty="0">
                <a:latin typeface="Times New Roman" pitchFamily="18" charset="0"/>
                <a:cs typeface="Times New Roman" pitchFamily="18" charset="0"/>
              </a:rPr>
              <a:t>In 802.11, the MAC (Medium Access Control) </a:t>
            </a:r>
            <a:r>
              <a:rPr lang="en-IN" dirty="0" err="1">
                <a:latin typeface="Times New Roman" pitchFamily="18" charset="0"/>
                <a:cs typeface="Times New Roman" pitchFamily="18" charset="0"/>
              </a:rPr>
              <a:t>sublayer</a:t>
            </a:r>
            <a:r>
              <a:rPr lang="en-IN" dirty="0">
                <a:latin typeface="Times New Roman" pitchFamily="18" charset="0"/>
                <a:cs typeface="Times New Roman" pitchFamily="18" charset="0"/>
              </a:rPr>
              <a:t> determines how the channel is allocated, that is, who gets to transmit next. </a:t>
            </a:r>
          </a:p>
          <a:p>
            <a:pPr algn="just"/>
            <a:r>
              <a:rPr lang="en-IN" dirty="0">
                <a:latin typeface="Times New Roman" pitchFamily="18" charset="0"/>
                <a:cs typeface="Times New Roman" pitchFamily="18" charset="0"/>
              </a:rPr>
              <a:t>Above it is the LLC (Logical Link Control) </a:t>
            </a:r>
            <a:r>
              <a:rPr lang="en-IN" dirty="0" err="1">
                <a:latin typeface="Times New Roman" pitchFamily="18" charset="0"/>
                <a:cs typeface="Times New Roman" pitchFamily="18" charset="0"/>
              </a:rPr>
              <a:t>sublayer</a:t>
            </a:r>
            <a:r>
              <a:rPr lang="en-IN" dirty="0">
                <a:latin typeface="Times New Roman" pitchFamily="18" charset="0"/>
                <a:cs typeface="Times New Roman" pitchFamily="18" charset="0"/>
              </a:rPr>
              <a:t>, whose job it is to hide the differences between the different 802 variants and make them indistinguishable as far as the network layer is concerned.</a:t>
            </a:r>
          </a:p>
          <a:p>
            <a:pPr algn="just"/>
            <a:r>
              <a:rPr lang="en-IN" dirty="0">
                <a:latin typeface="Times New Roman" pitchFamily="18" charset="0"/>
                <a:cs typeface="Times New Roman" pitchFamily="18" charset="0"/>
              </a:rPr>
              <a:t>The LLC is a glue layer that identifies the protocol (e.g., IP) that is carried within an 802.11 frame.</a:t>
            </a:r>
          </a:p>
        </p:txBody>
      </p:sp>
      <p:sp>
        <p:nvSpPr>
          <p:cNvPr id="4" name="Slide Number Placeholder 3"/>
          <p:cNvSpPr>
            <a:spLocks noGrp="1"/>
          </p:cNvSpPr>
          <p:nvPr>
            <p:ph type="sldNum" sz="quarter" idx="12"/>
          </p:nvPr>
        </p:nvSpPr>
        <p:spPr/>
        <p:txBody>
          <a:bodyPr/>
          <a:lstStyle/>
          <a:p>
            <a:fld id="{EF55C829-AE99-4997-8EBC-414F558758A8}" type="slidenum">
              <a:rPr lang="en-US" smtClean="0"/>
              <a:pPr/>
              <a:t>67</a:t>
            </a:fld>
            <a:endParaRPr lang="en-US" dirty="0"/>
          </a:p>
        </p:txBody>
      </p:sp>
    </p:spTree>
    <p:extLst>
      <p:ext uri="{BB962C8B-B14F-4D97-AF65-F5344CB8AC3E}">
        <p14:creationId xmlns:p14="http://schemas.microsoft.com/office/powerpoint/2010/main" val="5355417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4607" y="460573"/>
            <a:ext cx="7171850" cy="734516"/>
          </a:xfrm>
          <a:prstGeom prst="rect">
            <a:avLst/>
          </a:prstGeom>
        </p:spPr>
        <p:txBody>
          <a:bodyPr vert="horz" wrap="square" lIns="0" tIns="11132" rIns="0" bIns="0" rtlCol="0">
            <a:spAutoFit/>
          </a:bodyPr>
          <a:lstStyle/>
          <a:p>
            <a:pPr marL="11132">
              <a:spcBef>
                <a:spcPts val="88"/>
              </a:spcBef>
            </a:pPr>
            <a:r>
              <a:rPr sz="4700" spc="-4" dirty="0"/>
              <a:t>The</a:t>
            </a:r>
            <a:r>
              <a:rPr sz="4700" spc="-13" dirty="0"/>
              <a:t> </a:t>
            </a:r>
            <a:r>
              <a:rPr sz="4700" spc="-4" dirty="0"/>
              <a:t>802.11 Physical Layer </a:t>
            </a:r>
            <a:endParaRPr sz="4700" dirty="0"/>
          </a:p>
        </p:txBody>
      </p:sp>
      <p:sp>
        <p:nvSpPr>
          <p:cNvPr id="3" name="object 3"/>
          <p:cNvSpPr txBox="1"/>
          <p:nvPr/>
        </p:nvSpPr>
        <p:spPr>
          <a:xfrm>
            <a:off x="180109" y="1283211"/>
            <a:ext cx="8603674" cy="4627327"/>
          </a:xfrm>
          <a:prstGeom prst="rect">
            <a:avLst/>
          </a:prstGeom>
        </p:spPr>
        <p:txBody>
          <a:bodyPr vert="horz" wrap="square" lIns="0" tIns="10575" rIns="0" bIns="0" rtlCol="0">
            <a:spAutoFit/>
          </a:bodyPr>
          <a:lstStyle/>
          <a:p>
            <a:pPr marL="467775" marR="4453" indent="-457200" algn="l">
              <a:lnSpc>
                <a:spcPct val="100099"/>
              </a:lnSpc>
              <a:spcBef>
                <a:spcPts val="83"/>
              </a:spcBef>
              <a:buFont typeface="Arial" pitchFamily="34" charset="0"/>
              <a:buChar char="•"/>
            </a:pPr>
            <a:r>
              <a:rPr sz="2800" spc="-4" dirty="0">
                <a:latin typeface="Times New Roman"/>
                <a:cs typeface="Times New Roman"/>
              </a:rPr>
              <a:t>The</a:t>
            </a:r>
            <a:r>
              <a:rPr sz="2800" spc="-9" dirty="0">
                <a:latin typeface="Times New Roman"/>
                <a:cs typeface="Times New Roman"/>
              </a:rPr>
              <a:t> </a:t>
            </a:r>
            <a:r>
              <a:rPr sz="2800" dirty="0">
                <a:latin typeface="Times New Roman"/>
                <a:cs typeface="Times New Roman"/>
              </a:rPr>
              <a:t>1997 </a:t>
            </a:r>
            <a:r>
              <a:rPr sz="2800" spc="-4" dirty="0">
                <a:latin typeface="Times New Roman"/>
                <a:cs typeface="Times New Roman"/>
              </a:rPr>
              <a:t>802.11</a:t>
            </a:r>
            <a:r>
              <a:rPr sz="2800" dirty="0">
                <a:latin typeface="Times New Roman"/>
                <a:cs typeface="Times New Roman"/>
              </a:rPr>
              <a:t> </a:t>
            </a:r>
            <a:r>
              <a:rPr sz="2800" spc="-4" dirty="0">
                <a:latin typeface="Times New Roman"/>
                <a:cs typeface="Times New Roman"/>
              </a:rPr>
              <a:t>standard specifies</a:t>
            </a:r>
            <a:r>
              <a:rPr sz="2800" dirty="0">
                <a:latin typeface="Times New Roman"/>
                <a:cs typeface="Times New Roman"/>
              </a:rPr>
              <a:t> three </a:t>
            </a:r>
            <a:r>
              <a:rPr sz="2800" spc="-776" dirty="0">
                <a:latin typeface="Times New Roman"/>
                <a:cs typeface="Times New Roman"/>
              </a:rPr>
              <a:t> </a:t>
            </a:r>
            <a:r>
              <a:rPr sz="2800" spc="-4" dirty="0">
                <a:latin typeface="Times New Roman"/>
                <a:cs typeface="Times New Roman"/>
              </a:rPr>
              <a:t>groups of</a:t>
            </a:r>
            <a:r>
              <a:rPr sz="2800" dirty="0">
                <a:latin typeface="Times New Roman"/>
                <a:cs typeface="Times New Roman"/>
              </a:rPr>
              <a:t> </a:t>
            </a:r>
            <a:r>
              <a:rPr sz="2800" spc="-4" dirty="0">
                <a:latin typeface="Times New Roman"/>
                <a:cs typeface="Times New Roman"/>
              </a:rPr>
              <a:t>transmission techniques </a:t>
            </a:r>
            <a:r>
              <a:rPr sz="2800" dirty="0">
                <a:latin typeface="Times New Roman"/>
                <a:cs typeface="Times New Roman"/>
              </a:rPr>
              <a:t> </a:t>
            </a:r>
            <a:r>
              <a:rPr sz="2800" spc="-4" dirty="0">
                <a:latin typeface="Times New Roman"/>
                <a:cs typeface="Times New Roman"/>
              </a:rPr>
              <a:t>allowed</a:t>
            </a:r>
            <a:r>
              <a:rPr sz="2800" spc="4" dirty="0">
                <a:latin typeface="Times New Roman"/>
                <a:cs typeface="Times New Roman"/>
              </a:rPr>
              <a:t> </a:t>
            </a:r>
            <a:r>
              <a:rPr sz="2800" spc="-4" dirty="0">
                <a:latin typeface="Times New Roman"/>
                <a:cs typeface="Times New Roman"/>
              </a:rPr>
              <a:t>in</a:t>
            </a:r>
            <a:r>
              <a:rPr sz="2800" dirty="0">
                <a:latin typeface="Times New Roman"/>
                <a:cs typeface="Times New Roman"/>
              </a:rPr>
              <a:t> </a:t>
            </a:r>
            <a:r>
              <a:rPr sz="2800" spc="-4" dirty="0">
                <a:latin typeface="Times New Roman"/>
                <a:cs typeface="Times New Roman"/>
              </a:rPr>
              <a:t>the physical</a:t>
            </a:r>
            <a:r>
              <a:rPr sz="2800" spc="-9" dirty="0">
                <a:latin typeface="Times New Roman"/>
                <a:cs typeface="Times New Roman"/>
              </a:rPr>
              <a:t> </a:t>
            </a:r>
            <a:r>
              <a:rPr sz="2800" spc="-4" dirty="0">
                <a:latin typeface="Times New Roman"/>
                <a:cs typeface="Times New Roman"/>
              </a:rPr>
              <a:t>layer.</a:t>
            </a:r>
            <a:endParaRPr sz="2800" dirty="0">
              <a:latin typeface="Times New Roman"/>
              <a:cs typeface="Times New Roman"/>
            </a:endParaRPr>
          </a:p>
          <a:p>
            <a:pPr marL="445262" indent="-434130" algn="l">
              <a:spcBef>
                <a:spcPts val="758"/>
              </a:spcBef>
              <a:buAutoNum type="arabicParenR"/>
              <a:tabLst>
                <a:tab pos="445262" algn="l"/>
              </a:tabLst>
            </a:pPr>
            <a:r>
              <a:rPr sz="2800" spc="-4" dirty="0">
                <a:latin typeface="Times New Roman"/>
                <a:cs typeface="Times New Roman"/>
              </a:rPr>
              <a:t>Infrared method (1</a:t>
            </a:r>
            <a:r>
              <a:rPr sz="2800" dirty="0">
                <a:latin typeface="Times New Roman"/>
                <a:cs typeface="Times New Roman"/>
              </a:rPr>
              <a:t> </a:t>
            </a:r>
            <a:r>
              <a:rPr sz="2800" spc="-4" dirty="0">
                <a:latin typeface="Times New Roman"/>
                <a:cs typeface="Times New Roman"/>
              </a:rPr>
              <a:t>technique</a:t>
            </a:r>
            <a:r>
              <a:rPr sz="2800" spc="4" dirty="0">
                <a:latin typeface="Times New Roman"/>
                <a:cs typeface="Times New Roman"/>
              </a:rPr>
              <a:t> </a:t>
            </a:r>
            <a:r>
              <a:rPr sz="2800" spc="-4" dirty="0">
                <a:latin typeface="Times New Roman"/>
                <a:cs typeface="Times New Roman"/>
              </a:rPr>
              <a:t>)</a:t>
            </a:r>
            <a:endParaRPr sz="2800" dirty="0">
              <a:latin typeface="Times New Roman"/>
              <a:cs typeface="Times New Roman"/>
            </a:endParaRPr>
          </a:p>
          <a:p>
            <a:pPr marL="411311" marR="1341908" indent="-400736" algn="l">
              <a:spcBef>
                <a:spcPts val="767"/>
              </a:spcBef>
              <a:buAutoNum type="arabicParenR"/>
              <a:tabLst>
                <a:tab pos="445262" algn="l"/>
              </a:tabLst>
            </a:pPr>
            <a:r>
              <a:rPr sz="2800" spc="-4" dirty="0">
                <a:latin typeface="Times New Roman"/>
                <a:cs typeface="Times New Roman"/>
              </a:rPr>
              <a:t>Short</a:t>
            </a:r>
            <a:r>
              <a:rPr sz="2800" spc="-9" dirty="0">
                <a:latin typeface="Times New Roman"/>
                <a:cs typeface="Times New Roman"/>
              </a:rPr>
              <a:t> </a:t>
            </a:r>
            <a:r>
              <a:rPr sz="2800" spc="-4" dirty="0">
                <a:latin typeface="Times New Roman"/>
                <a:cs typeface="Times New Roman"/>
              </a:rPr>
              <a:t>– range</a:t>
            </a:r>
            <a:r>
              <a:rPr sz="2800" spc="4" dirty="0">
                <a:latin typeface="Times New Roman"/>
                <a:cs typeface="Times New Roman"/>
              </a:rPr>
              <a:t> </a:t>
            </a:r>
            <a:r>
              <a:rPr sz="2800" spc="-4" dirty="0">
                <a:latin typeface="Times New Roman"/>
                <a:cs typeface="Times New Roman"/>
              </a:rPr>
              <a:t>radio</a:t>
            </a:r>
            <a:r>
              <a:rPr sz="2800" dirty="0">
                <a:latin typeface="Times New Roman"/>
                <a:cs typeface="Times New Roman"/>
              </a:rPr>
              <a:t> </a:t>
            </a:r>
            <a:r>
              <a:rPr sz="2800" spc="-4" dirty="0">
                <a:latin typeface="Times New Roman"/>
                <a:cs typeface="Times New Roman"/>
              </a:rPr>
              <a:t>method (2</a:t>
            </a:r>
            <a:r>
              <a:rPr lang="en-IN" sz="2800" spc="-4" dirty="0">
                <a:latin typeface="Times New Roman"/>
                <a:cs typeface="Times New Roman"/>
              </a:rPr>
              <a:t> </a:t>
            </a:r>
            <a:r>
              <a:rPr sz="2800" spc="-4" dirty="0">
                <a:latin typeface="Times New Roman"/>
                <a:cs typeface="Times New Roman"/>
              </a:rPr>
              <a:t>techniques)</a:t>
            </a:r>
            <a:endParaRPr sz="2800" dirty="0">
              <a:latin typeface="Times New Roman"/>
              <a:cs typeface="Times New Roman"/>
            </a:endParaRPr>
          </a:p>
          <a:p>
            <a:pPr marL="411311" marR="991821" indent="-400736" algn="l">
              <a:lnSpc>
                <a:spcPct val="100299"/>
              </a:lnSpc>
              <a:spcBef>
                <a:spcPts val="745"/>
              </a:spcBef>
              <a:buAutoNum type="arabicParenR"/>
              <a:tabLst>
                <a:tab pos="445262" algn="l"/>
                <a:tab pos="4853356" algn="l"/>
              </a:tabLst>
            </a:pPr>
            <a:r>
              <a:rPr sz="2800" dirty="0">
                <a:latin typeface="Times New Roman"/>
                <a:cs typeface="Times New Roman"/>
              </a:rPr>
              <a:t>H</a:t>
            </a:r>
            <a:r>
              <a:rPr sz="2800" spc="-9" dirty="0">
                <a:latin typeface="Times New Roman"/>
                <a:cs typeface="Times New Roman"/>
              </a:rPr>
              <a:t>i</a:t>
            </a:r>
            <a:r>
              <a:rPr sz="2800" spc="-4" dirty="0">
                <a:latin typeface="Times New Roman"/>
                <a:cs typeface="Times New Roman"/>
              </a:rPr>
              <a:t>gh</a:t>
            </a:r>
            <a:r>
              <a:rPr sz="2800" spc="-9" dirty="0">
                <a:latin typeface="Times New Roman"/>
                <a:cs typeface="Times New Roman"/>
              </a:rPr>
              <a:t>e</a:t>
            </a:r>
            <a:r>
              <a:rPr sz="2800" spc="-4" dirty="0">
                <a:latin typeface="Times New Roman"/>
                <a:cs typeface="Times New Roman"/>
              </a:rPr>
              <a:t>r</a:t>
            </a:r>
            <a:r>
              <a:rPr sz="2800" dirty="0">
                <a:latin typeface="Times New Roman"/>
                <a:cs typeface="Times New Roman"/>
              </a:rPr>
              <a:t> </a:t>
            </a:r>
            <a:r>
              <a:rPr sz="2800" spc="-4" dirty="0">
                <a:latin typeface="Times New Roman"/>
                <a:cs typeface="Times New Roman"/>
              </a:rPr>
              <a:t>b</a:t>
            </a:r>
            <a:r>
              <a:rPr sz="2800" spc="-9" dirty="0">
                <a:latin typeface="Times New Roman"/>
                <a:cs typeface="Times New Roman"/>
              </a:rPr>
              <a:t>a</a:t>
            </a:r>
            <a:r>
              <a:rPr sz="2800" spc="-4" dirty="0">
                <a:latin typeface="Times New Roman"/>
                <a:cs typeface="Times New Roman"/>
              </a:rPr>
              <a:t>n</a:t>
            </a:r>
            <a:r>
              <a:rPr sz="2800" spc="4" dirty="0">
                <a:latin typeface="Times New Roman"/>
                <a:cs typeface="Times New Roman"/>
              </a:rPr>
              <a:t>d</a:t>
            </a:r>
            <a:r>
              <a:rPr sz="2800" dirty="0">
                <a:latin typeface="Times New Roman"/>
                <a:cs typeface="Times New Roman"/>
              </a:rPr>
              <a:t>w</a:t>
            </a:r>
            <a:r>
              <a:rPr sz="2800" spc="-9" dirty="0">
                <a:latin typeface="Times New Roman"/>
                <a:cs typeface="Times New Roman"/>
              </a:rPr>
              <a:t>i</a:t>
            </a:r>
            <a:r>
              <a:rPr sz="2800" spc="-4" dirty="0">
                <a:latin typeface="Times New Roman"/>
                <a:cs typeface="Times New Roman"/>
              </a:rPr>
              <a:t>d</a:t>
            </a:r>
            <a:r>
              <a:rPr sz="2800" spc="-9" dirty="0">
                <a:latin typeface="Times New Roman"/>
                <a:cs typeface="Times New Roman"/>
              </a:rPr>
              <a:t>t</a:t>
            </a:r>
            <a:r>
              <a:rPr sz="2800" spc="-4" dirty="0">
                <a:latin typeface="Times New Roman"/>
                <a:cs typeface="Times New Roman"/>
              </a:rPr>
              <a:t>h</a:t>
            </a:r>
            <a:r>
              <a:rPr sz="2800" dirty="0">
                <a:latin typeface="Times New Roman"/>
                <a:cs typeface="Times New Roman"/>
              </a:rPr>
              <a:t> </a:t>
            </a:r>
            <a:r>
              <a:rPr sz="2800" spc="4" dirty="0">
                <a:latin typeface="Times New Roman"/>
                <a:cs typeface="Times New Roman"/>
              </a:rPr>
              <a:t>m</a:t>
            </a:r>
            <a:r>
              <a:rPr sz="2800" spc="-9" dirty="0">
                <a:latin typeface="Times New Roman"/>
                <a:cs typeface="Times New Roman"/>
              </a:rPr>
              <a:t>et</a:t>
            </a:r>
            <a:r>
              <a:rPr sz="2800" spc="-4" dirty="0">
                <a:latin typeface="Times New Roman"/>
                <a:cs typeface="Times New Roman"/>
              </a:rPr>
              <a:t>hod</a:t>
            </a:r>
            <a:r>
              <a:rPr sz="2800" spc="4" dirty="0">
                <a:latin typeface="Times New Roman"/>
                <a:cs typeface="Times New Roman"/>
              </a:rPr>
              <a:t>(</a:t>
            </a:r>
            <a:r>
              <a:rPr sz="2800" spc="-4" dirty="0">
                <a:latin typeface="Times New Roman"/>
                <a:cs typeface="Times New Roman"/>
              </a:rPr>
              <a:t>2</a:t>
            </a:r>
            <a:r>
              <a:rPr sz="2800" spc="-9" dirty="0">
                <a:latin typeface="Times New Roman"/>
                <a:cs typeface="Times New Roman"/>
              </a:rPr>
              <a:t>+</a:t>
            </a:r>
            <a:r>
              <a:rPr sz="2800" spc="-4" dirty="0">
                <a:latin typeface="Times New Roman"/>
                <a:cs typeface="Times New Roman"/>
              </a:rPr>
              <a:t>1  techniques)</a:t>
            </a:r>
            <a:endParaRPr lang="en-IN" sz="2800" spc="-4" dirty="0">
              <a:latin typeface="Times New Roman"/>
              <a:cs typeface="Times New Roman"/>
            </a:endParaRPr>
          </a:p>
          <a:p>
            <a:pPr marL="468332" marR="4453" indent="-457200" algn="just">
              <a:lnSpc>
                <a:spcPct val="100099"/>
              </a:lnSpc>
              <a:spcBef>
                <a:spcPts val="83"/>
              </a:spcBef>
              <a:buFont typeface="Arial" pitchFamily="34" charset="0"/>
              <a:buChar char="•"/>
            </a:pPr>
            <a:r>
              <a:rPr lang="en-IN" sz="2800" spc="-4" dirty="0">
                <a:latin typeface="Times New Roman"/>
                <a:cs typeface="Times New Roman"/>
              </a:rPr>
              <a:t>Each of</a:t>
            </a:r>
            <a:r>
              <a:rPr lang="en-IN" sz="2800" spc="9" dirty="0">
                <a:latin typeface="Times New Roman"/>
                <a:cs typeface="Times New Roman"/>
              </a:rPr>
              <a:t> </a:t>
            </a:r>
            <a:r>
              <a:rPr lang="en-IN" sz="2800" spc="-4" dirty="0">
                <a:latin typeface="Times New Roman"/>
                <a:cs typeface="Times New Roman"/>
              </a:rPr>
              <a:t>the five</a:t>
            </a:r>
            <a:r>
              <a:rPr lang="en-IN" sz="2800" spc="4" dirty="0">
                <a:latin typeface="Times New Roman"/>
                <a:cs typeface="Times New Roman"/>
              </a:rPr>
              <a:t> </a:t>
            </a:r>
            <a:r>
              <a:rPr lang="en-IN" sz="2800" spc="-4" dirty="0">
                <a:latin typeface="Times New Roman"/>
                <a:cs typeface="Times New Roman"/>
              </a:rPr>
              <a:t>permitted transmission </a:t>
            </a:r>
            <a:r>
              <a:rPr lang="en-IN" sz="2800" dirty="0">
                <a:latin typeface="Times New Roman"/>
                <a:cs typeface="Times New Roman"/>
              </a:rPr>
              <a:t> </a:t>
            </a:r>
            <a:r>
              <a:rPr lang="en-IN" sz="2800" spc="-4" dirty="0">
                <a:latin typeface="Times New Roman"/>
                <a:cs typeface="Times New Roman"/>
              </a:rPr>
              <a:t>techniques makes</a:t>
            </a:r>
            <a:r>
              <a:rPr lang="en-IN" sz="2800" dirty="0">
                <a:latin typeface="Times New Roman"/>
                <a:cs typeface="Times New Roman"/>
              </a:rPr>
              <a:t> </a:t>
            </a:r>
            <a:r>
              <a:rPr lang="en-IN" sz="2800" spc="-4" dirty="0">
                <a:latin typeface="Times New Roman"/>
                <a:cs typeface="Times New Roman"/>
              </a:rPr>
              <a:t>it</a:t>
            </a:r>
            <a:r>
              <a:rPr lang="en-IN" sz="2800" spc="-9" dirty="0">
                <a:latin typeface="Times New Roman"/>
                <a:cs typeface="Times New Roman"/>
              </a:rPr>
              <a:t> </a:t>
            </a:r>
            <a:r>
              <a:rPr lang="en-IN" sz="2800" spc="-4" dirty="0">
                <a:latin typeface="Times New Roman"/>
                <a:cs typeface="Times New Roman"/>
              </a:rPr>
              <a:t>possible to</a:t>
            </a:r>
            <a:r>
              <a:rPr lang="en-IN" sz="2800" spc="9" dirty="0">
                <a:latin typeface="Times New Roman"/>
                <a:cs typeface="Times New Roman"/>
              </a:rPr>
              <a:t> </a:t>
            </a:r>
            <a:r>
              <a:rPr lang="en-IN" sz="2800" spc="-4" dirty="0">
                <a:latin typeface="Times New Roman"/>
                <a:cs typeface="Times New Roman"/>
              </a:rPr>
              <a:t>send a </a:t>
            </a:r>
            <a:r>
              <a:rPr lang="en-IN" sz="2800" dirty="0">
                <a:latin typeface="Times New Roman"/>
                <a:cs typeface="Times New Roman"/>
              </a:rPr>
              <a:t>MAC </a:t>
            </a:r>
            <a:r>
              <a:rPr lang="en-IN" sz="2800" spc="-776" dirty="0">
                <a:latin typeface="Times New Roman"/>
                <a:cs typeface="Times New Roman"/>
              </a:rPr>
              <a:t> </a:t>
            </a:r>
            <a:r>
              <a:rPr lang="en-IN" sz="2800" spc="-4" dirty="0">
                <a:latin typeface="Times New Roman"/>
                <a:cs typeface="Times New Roman"/>
              </a:rPr>
              <a:t>frame</a:t>
            </a:r>
            <a:r>
              <a:rPr lang="en-IN" sz="2800" spc="-9" dirty="0">
                <a:latin typeface="Times New Roman"/>
                <a:cs typeface="Times New Roman"/>
              </a:rPr>
              <a:t> </a:t>
            </a:r>
            <a:r>
              <a:rPr lang="en-IN" sz="2800" dirty="0">
                <a:latin typeface="Times New Roman"/>
                <a:cs typeface="Times New Roman"/>
              </a:rPr>
              <a:t>from</a:t>
            </a:r>
            <a:r>
              <a:rPr lang="en-IN" sz="2800" spc="-4" dirty="0">
                <a:latin typeface="Times New Roman"/>
                <a:cs typeface="Times New Roman"/>
              </a:rPr>
              <a:t> one</a:t>
            </a:r>
            <a:r>
              <a:rPr lang="en-IN" sz="2800" spc="9" dirty="0">
                <a:latin typeface="Times New Roman"/>
                <a:cs typeface="Times New Roman"/>
              </a:rPr>
              <a:t> </a:t>
            </a:r>
            <a:r>
              <a:rPr lang="en-IN" sz="2800" spc="-4" dirty="0">
                <a:latin typeface="Times New Roman"/>
                <a:cs typeface="Times New Roman"/>
              </a:rPr>
              <a:t>station </a:t>
            </a:r>
            <a:r>
              <a:rPr lang="en-IN" sz="2800" dirty="0">
                <a:latin typeface="Times New Roman"/>
                <a:cs typeface="Times New Roman"/>
              </a:rPr>
              <a:t>to </a:t>
            </a:r>
            <a:r>
              <a:rPr lang="en-IN" sz="2800" spc="-4" dirty="0">
                <a:latin typeface="Times New Roman"/>
                <a:cs typeface="Times New Roman"/>
              </a:rPr>
              <a:t>another.</a:t>
            </a:r>
            <a:endParaRPr lang="en-IN" sz="2800" dirty="0">
              <a:latin typeface="Times New Roman"/>
              <a:cs typeface="Times New Roman"/>
            </a:endParaRPr>
          </a:p>
          <a:p>
            <a:pPr marL="468332" marR="738577" indent="-457200" algn="just">
              <a:lnSpc>
                <a:spcPct val="100299"/>
              </a:lnSpc>
              <a:buFont typeface="Arial" pitchFamily="34" charset="0"/>
              <a:buChar char="•"/>
            </a:pPr>
            <a:r>
              <a:rPr lang="en-IN" sz="2800" spc="-4" dirty="0">
                <a:latin typeface="Times New Roman"/>
                <a:cs typeface="Times New Roman"/>
              </a:rPr>
              <a:t>They differ, however, </a:t>
            </a:r>
            <a:r>
              <a:rPr lang="en-IN" sz="2800" dirty="0">
                <a:latin typeface="Times New Roman"/>
                <a:cs typeface="Times New Roman"/>
              </a:rPr>
              <a:t>in </a:t>
            </a:r>
            <a:r>
              <a:rPr lang="en-IN" sz="2800" spc="-4" dirty="0">
                <a:latin typeface="Times New Roman"/>
                <a:cs typeface="Times New Roman"/>
              </a:rPr>
              <a:t>the </a:t>
            </a:r>
            <a:r>
              <a:rPr lang="en-IN" sz="2800" dirty="0">
                <a:latin typeface="Times New Roman"/>
                <a:cs typeface="Times New Roman"/>
              </a:rPr>
              <a:t>technology </a:t>
            </a:r>
            <a:r>
              <a:rPr lang="en-IN" sz="2800" spc="-776" dirty="0">
                <a:latin typeface="Times New Roman"/>
                <a:cs typeface="Times New Roman"/>
              </a:rPr>
              <a:t> </a:t>
            </a:r>
            <a:r>
              <a:rPr lang="en-IN" sz="2800" spc="-4" dirty="0">
                <a:latin typeface="Times New Roman"/>
                <a:cs typeface="Times New Roman"/>
              </a:rPr>
              <a:t>used and</a:t>
            </a:r>
            <a:r>
              <a:rPr lang="en-IN" sz="2800" dirty="0">
                <a:latin typeface="Times New Roman"/>
                <a:cs typeface="Times New Roman"/>
              </a:rPr>
              <a:t> </a:t>
            </a:r>
            <a:r>
              <a:rPr lang="en-IN" sz="2800" spc="-4" dirty="0">
                <a:latin typeface="Times New Roman"/>
                <a:cs typeface="Times New Roman"/>
              </a:rPr>
              <a:t>speeds achievable.</a:t>
            </a:r>
            <a:endParaRPr sz="2800" dirty="0">
              <a:latin typeface="Times New Roman"/>
              <a:cs typeface="Times New Roman"/>
            </a:endParaRPr>
          </a:p>
        </p:txBody>
      </p:sp>
    </p:spTree>
    <p:extLst>
      <p:ext uri="{BB962C8B-B14F-4D97-AF65-F5344CB8AC3E}">
        <p14:creationId xmlns:p14="http://schemas.microsoft.com/office/powerpoint/2010/main" val="6406939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4294967295"/>
          </p:nvPr>
        </p:nvSpPr>
        <p:spPr>
          <a:xfrm>
            <a:off x="3636748" y="6024543"/>
            <a:ext cx="1856493" cy="771128"/>
          </a:xfrm>
          <a:prstGeom prst="rect">
            <a:avLst/>
          </a:prstGeom>
        </p:spPr>
        <p:txBody>
          <a:bodyPr vert="horz" wrap="square" lIns="0" tIns="1670" rIns="0" bIns="0" rtlCol="0">
            <a:spAutoFit/>
          </a:bodyPr>
          <a:lstStyle/>
          <a:p>
            <a:pPr marL="443592" marR="4453" indent="-433017">
              <a:lnSpc>
                <a:spcPts val="1464"/>
              </a:lnSpc>
              <a:spcBef>
                <a:spcPts val="13"/>
              </a:spcBef>
            </a:pPr>
            <a:r>
              <a:rPr dirty="0"/>
              <a:t>BLM431 </a:t>
            </a:r>
            <a:r>
              <a:rPr spc="-4" dirty="0"/>
              <a:t>Computer Networks </a:t>
            </a:r>
            <a:r>
              <a:rPr spc="-294" dirty="0"/>
              <a:t> </a:t>
            </a:r>
            <a:r>
              <a:rPr spc="-4" dirty="0"/>
              <a:t>Dr.</a:t>
            </a:r>
            <a:r>
              <a:rPr spc="-13" dirty="0"/>
              <a:t> </a:t>
            </a:r>
            <a:r>
              <a:rPr dirty="0"/>
              <a:t>Refik</a:t>
            </a:r>
            <a:r>
              <a:rPr spc="-13" dirty="0"/>
              <a:t> </a:t>
            </a:r>
            <a:r>
              <a:rPr spc="-4" dirty="0"/>
              <a:t>Samet</a:t>
            </a:r>
          </a:p>
        </p:txBody>
      </p:sp>
      <p:sp>
        <p:nvSpPr>
          <p:cNvPr id="5" name="object 5"/>
          <p:cNvSpPr txBox="1">
            <a:spLocks noGrp="1"/>
          </p:cNvSpPr>
          <p:nvPr>
            <p:ph type="sldNum" sz="quarter" idx="4294967295"/>
          </p:nvPr>
        </p:nvSpPr>
        <p:spPr>
          <a:xfrm>
            <a:off x="7624923" y="6024543"/>
            <a:ext cx="218283" cy="179536"/>
          </a:xfrm>
          <a:prstGeom prst="rect">
            <a:avLst/>
          </a:prstGeom>
        </p:spPr>
        <p:txBody>
          <a:bodyPr vert="horz" wrap="square" lIns="0" tIns="0" rIns="0" bIns="0" rtlCol="0">
            <a:spAutoFit/>
          </a:bodyPr>
          <a:lstStyle/>
          <a:p>
            <a:pPr marL="33395">
              <a:lnSpc>
                <a:spcPts val="1429"/>
              </a:lnSpc>
            </a:pPr>
            <a:fld id="{81D60167-4931-47E6-BA6A-407CBD079E47}" type="slidenum">
              <a:rPr dirty="0"/>
              <a:pPr marL="33395">
                <a:lnSpc>
                  <a:spcPts val="1429"/>
                </a:lnSpc>
              </a:pPr>
              <a:t>69</a:t>
            </a:fld>
            <a:endParaRPr dirty="0"/>
          </a:p>
        </p:txBody>
      </p:sp>
      <p:sp>
        <p:nvSpPr>
          <p:cNvPr id="2" name="object 2"/>
          <p:cNvSpPr txBox="1">
            <a:spLocks noGrp="1"/>
          </p:cNvSpPr>
          <p:nvPr>
            <p:ph type="title"/>
          </p:nvPr>
        </p:nvSpPr>
        <p:spPr>
          <a:xfrm>
            <a:off x="980861" y="446718"/>
            <a:ext cx="7171850" cy="734516"/>
          </a:xfrm>
          <a:prstGeom prst="rect">
            <a:avLst/>
          </a:prstGeom>
        </p:spPr>
        <p:txBody>
          <a:bodyPr vert="horz" wrap="square" lIns="0" tIns="11132" rIns="0" bIns="0" rtlCol="0">
            <a:spAutoFit/>
          </a:bodyPr>
          <a:lstStyle/>
          <a:p>
            <a:pPr marL="11132">
              <a:spcBef>
                <a:spcPts val="88"/>
              </a:spcBef>
            </a:pPr>
            <a:r>
              <a:rPr sz="4700" spc="-4" dirty="0"/>
              <a:t>The</a:t>
            </a:r>
            <a:r>
              <a:rPr sz="4700" spc="-13" dirty="0"/>
              <a:t> </a:t>
            </a:r>
            <a:r>
              <a:rPr sz="4700" spc="-4" dirty="0"/>
              <a:t>802.11 Physical Layer </a:t>
            </a:r>
            <a:endParaRPr sz="4700" dirty="0"/>
          </a:p>
        </p:txBody>
      </p:sp>
      <p:sp>
        <p:nvSpPr>
          <p:cNvPr id="3" name="object 3"/>
          <p:cNvSpPr txBox="1"/>
          <p:nvPr/>
        </p:nvSpPr>
        <p:spPr>
          <a:xfrm>
            <a:off x="662141" y="1286762"/>
            <a:ext cx="7581313" cy="2975358"/>
          </a:xfrm>
          <a:prstGeom prst="rect">
            <a:avLst/>
          </a:prstGeom>
        </p:spPr>
        <p:txBody>
          <a:bodyPr vert="horz" wrap="square" lIns="0" tIns="106863" rIns="0" bIns="0" rtlCol="0">
            <a:spAutoFit/>
          </a:bodyPr>
          <a:lstStyle/>
          <a:p>
            <a:pPr marL="11132" algn="just">
              <a:spcBef>
                <a:spcPts val="841"/>
              </a:spcBef>
            </a:pPr>
            <a:r>
              <a:rPr sz="2800" spc="-4" dirty="0">
                <a:solidFill>
                  <a:srgbClr val="FF3200"/>
                </a:solidFill>
                <a:latin typeface="Times New Roman"/>
                <a:cs typeface="Times New Roman"/>
              </a:rPr>
              <a:t>1)</a:t>
            </a:r>
            <a:r>
              <a:rPr sz="2800" spc="-13" dirty="0">
                <a:solidFill>
                  <a:srgbClr val="FF3200"/>
                </a:solidFill>
                <a:latin typeface="Times New Roman"/>
                <a:cs typeface="Times New Roman"/>
              </a:rPr>
              <a:t> </a:t>
            </a:r>
            <a:r>
              <a:rPr sz="2800" spc="-4" dirty="0">
                <a:latin typeface="Times New Roman"/>
                <a:cs typeface="Times New Roman"/>
              </a:rPr>
              <a:t>Infrared</a:t>
            </a:r>
            <a:r>
              <a:rPr sz="2800" spc="-13" dirty="0">
                <a:latin typeface="Times New Roman"/>
                <a:cs typeface="Times New Roman"/>
              </a:rPr>
              <a:t> </a:t>
            </a:r>
            <a:r>
              <a:rPr sz="2800" spc="-4" dirty="0">
                <a:latin typeface="Times New Roman"/>
                <a:cs typeface="Times New Roman"/>
              </a:rPr>
              <a:t>method</a:t>
            </a:r>
            <a:endParaRPr sz="2800" dirty="0">
              <a:latin typeface="Times New Roman"/>
              <a:cs typeface="Times New Roman"/>
            </a:endParaRPr>
          </a:p>
          <a:p>
            <a:pPr marL="11132" marR="4453" algn="just">
              <a:lnSpc>
                <a:spcPct val="100299"/>
              </a:lnSpc>
              <a:spcBef>
                <a:spcPts val="749"/>
              </a:spcBef>
              <a:buClr>
                <a:srgbClr val="3232CC"/>
              </a:buClr>
              <a:buSzPct val="97222"/>
              <a:buChar char="•"/>
              <a:tabLst>
                <a:tab pos="151946" algn="l"/>
              </a:tabLst>
            </a:pPr>
            <a:r>
              <a:rPr sz="2800" spc="-4" dirty="0">
                <a:latin typeface="Times New Roman"/>
                <a:cs typeface="Times New Roman"/>
              </a:rPr>
              <a:t>This method</a:t>
            </a:r>
            <a:r>
              <a:rPr sz="2800" dirty="0">
                <a:latin typeface="Times New Roman"/>
                <a:cs typeface="Times New Roman"/>
              </a:rPr>
              <a:t> </a:t>
            </a:r>
            <a:r>
              <a:rPr sz="2800" spc="-4" dirty="0">
                <a:latin typeface="Times New Roman"/>
                <a:cs typeface="Times New Roman"/>
              </a:rPr>
              <a:t>uses much</a:t>
            </a:r>
            <a:r>
              <a:rPr sz="2800" dirty="0">
                <a:latin typeface="Times New Roman"/>
                <a:cs typeface="Times New Roman"/>
              </a:rPr>
              <a:t> the</a:t>
            </a:r>
            <a:r>
              <a:rPr sz="2800" spc="-9" dirty="0">
                <a:latin typeface="Times New Roman"/>
                <a:cs typeface="Times New Roman"/>
              </a:rPr>
              <a:t> </a:t>
            </a:r>
            <a:r>
              <a:rPr sz="2800" spc="-4" dirty="0">
                <a:latin typeface="Times New Roman"/>
                <a:cs typeface="Times New Roman"/>
              </a:rPr>
              <a:t>same </a:t>
            </a:r>
            <a:r>
              <a:rPr sz="2800" dirty="0">
                <a:latin typeface="Times New Roman"/>
                <a:cs typeface="Times New Roman"/>
              </a:rPr>
              <a:t> </a:t>
            </a:r>
            <a:r>
              <a:rPr sz="2800" spc="-4" dirty="0">
                <a:latin typeface="Times New Roman"/>
                <a:cs typeface="Times New Roman"/>
              </a:rPr>
              <a:t>technology</a:t>
            </a:r>
            <a:r>
              <a:rPr sz="2800" dirty="0">
                <a:latin typeface="Times New Roman"/>
                <a:cs typeface="Times New Roman"/>
              </a:rPr>
              <a:t> </a:t>
            </a:r>
            <a:r>
              <a:rPr sz="2800" spc="-4" dirty="0">
                <a:latin typeface="Times New Roman"/>
                <a:cs typeface="Times New Roman"/>
              </a:rPr>
              <a:t>as</a:t>
            </a:r>
            <a:r>
              <a:rPr sz="2800" spc="4" dirty="0">
                <a:latin typeface="Times New Roman"/>
                <a:cs typeface="Times New Roman"/>
              </a:rPr>
              <a:t> </a:t>
            </a:r>
            <a:r>
              <a:rPr sz="2800" spc="-4" dirty="0">
                <a:latin typeface="Times New Roman"/>
                <a:cs typeface="Times New Roman"/>
              </a:rPr>
              <a:t>television</a:t>
            </a:r>
            <a:r>
              <a:rPr sz="2800" dirty="0">
                <a:latin typeface="Times New Roman"/>
                <a:cs typeface="Times New Roman"/>
              </a:rPr>
              <a:t> </a:t>
            </a:r>
            <a:r>
              <a:rPr sz="2800" spc="-4" dirty="0">
                <a:latin typeface="Times New Roman"/>
                <a:cs typeface="Times New Roman"/>
              </a:rPr>
              <a:t>remote</a:t>
            </a:r>
            <a:r>
              <a:rPr sz="2800" dirty="0">
                <a:latin typeface="Times New Roman"/>
                <a:cs typeface="Times New Roman"/>
              </a:rPr>
              <a:t> </a:t>
            </a:r>
            <a:r>
              <a:rPr sz="2800" spc="-4" dirty="0">
                <a:latin typeface="Times New Roman"/>
                <a:cs typeface="Times New Roman"/>
              </a:rPr>
              <a:t>controls</a:t>
            </a:r>
            <a:r>
              <a:rPr sz="2800" dirty="0">
                <a:latin typeface="Times New Roman"/>
                <a:cs typeface="Times New Roman"/>
              </a:rPr>
              <a:t> </a:t>
            </a:r>
            <a:r>
              <a:rPr sz="2800" spc="-4" dirty="0">
                <a:latin typeface="Times New Roman"/>
                <a:cs typeface="Times New Roman"/>
              </a:rPr>
              <a:t>do.</a:t>
            </a:r>
            <a:endParaRPr sz="2800" dirty="0">
              <a:latin typeface="Times New Roman"/>
              <a:cs typeface="Times New Roman"/>
            </a:endParaRPr>
          </a:p>
          <a:p>
            <a:pPr marL="11132" marR="185897" algn="just">
              <a:lnSpc>
                <a:spcPct val="100099"/>
              </a:lnSpc>
              <a:spcBef>
                <a:spcPts val="754"/>
              </a:spcBef>
              <a:buClr>
                <a:srgbClr val="3232CC"/>
              </a:buClr>
              <a:buSzPct val="97222"/>
              <a:buChar char="•"/>
              <a:tabLst>
                <a:tab pos="151946" algn="l"/>
              </a:tabLst>
            </a:pPr>
            <a:r>
              <a:rPr sz="2800" spc="-4" dirty="0">
                <a:latin typeface="Times New Roman"/>
                <a:cs typeface="Times New Roman"/>
              </a:rPr>
              <a:t>The infrared</a:t>
            </a:r>
            <a:r>
              <a:rPr sz="2800" dirty="0">
                <a:latin typeface="Times New Roman"/>
                <a:cs typeface="Times New Roman"/>
              </a:rPr>
              <a:t> </a:t>
            </a:r>
            <a:r>
              <a:rPr sz="2800" spc="-4" dirty="0">
                <a:latin typeface="Times New Roman"/>
                <a:cs typeface="Times New Roman"/>
              </a:rPr>
              <a:t>option</a:t>
            </a:r>
            <a:r>
              <a:rPr sz="2800" spc="4" dirty="0">
                <a:latin typeface="Times New Roman"/>
                <a:cs typeface="Times New Roman"/>
              </a:rPr>
              <a:t> </a:t>
            </a:r>
            <a:r>
              <a:rPr sz="2800" spc="-4" dirty="0">
                <a:latin typeface="Times New Roman"/>
                <a:cs typeface="Times New Roman"/>
              </a:rPr>
              <a:t>uses</a:t>
            </a:r>
            <a:r>
              <a:rPr sz="2800" dirty="0">
                <a:latin typeface="Times New Roman"/>
                <a:cs typeface="Times New Roman"/>
              </a:rPr>
              <a:t> </a:t>
            </a:r>
            <a:r>
              <a:rPr sz="2800" spc="-4" dirty="0">
                <a:latin typeface="Times New Roman"/>
                <a:cs typeface="Times New Roman"/>
              </a:rPr>
              <a:t>diffused</a:t>
            </a:r>
            <a:r>
              <a:rPr sz="2800" spc="4" dirty="0">
                <a:latin typeface="Times New Roman"/>
                <a:cs typeface="Times New Roman"/>
              </a:rPr>
              <a:t> </a:t>
            </a:r>
            <a:r>
              <a:rPr sz="2800" spc="-4" dirty="0">
                <a:latin typeface="Times New Roman"/>
                <a:cs typeface="Times New Roman"/>
              </a:rPr>
              <a:t>(i.e.,</a:t>
            </a:r>
            <a:r>
              <a:rPr sz="2800" dirty="0">
                <a:latin typeface="Times New Roman"/>
                <a:cs typeface="Times New Roman"/>
              </a:rPr>
              <a:t> not </a:t>
            </a:r>
            <a:r>
              <a:rPr sz="2800" spc="-776" dirty="0">
                <a:latin typeface="Times New Roman"/>
                <a:cs typeface="Times New Roman"/>
              </a:rPr>
              <a:t> </a:t>
            </a:r>
            <a:r>
              <a:rPr sz="2800" spc="-4" dirty="0">
                <a:latin typeface="Times New Roman"/>
                <a:cs typeface="Times New Roman"/>
              </a:rPr>
              <a:t>line</a:t>
            </a:r>
            <a:r>
              <a:rPr sz="2800" spc="-9" dirty="0">
                <a:latin typeface="Times New Roman"/>
                <a:cs typeface="Times New Roman"/>
              </a:rPr>
              <a:t> </a:t>
            </a:r>
            <a:r>
              <a:rPr sz="2800" spc="-4" dirty="0">
                <a:latin typeface="Times New Roman"/>
                <a:cs typeface="Times New Roman"/>
              </a:rPr>
              <a:t>of</a:t>
            </a:r>
            <a:r>
              <a:rPr sz="2800" dirty="0">
                <a:latin typeface="Times New Roman"/>
                <a:cs typeface="Times New Roman"/>
              </a:rPr>
              <a:t> sight) </a:t>
            </a:r>
            <a:r>
              <a:rPr sz="2800" spc="-4" dirty="0">
                <a:latin typeface="Times New Roman"/>
                <a:cs typeface="Times New Roman"/>
              </a:rPr>
              <a:t>transmission</a:t>
            </a:r>
            <a:r>
              <a:rPr sz="2800" dirty="0">
                <a:latin typeface="Times New Roman"/>
                <a:cs typeface="Times New Roman"/>
              </a:rPr>
              <a:t> </a:t>
            </a:r>
            <a:r>
              <a:rPr sz="2800" spc="-4" dirty="0">
                <a:latin typeface="Times New Roman"/>
                <a:cs typeface="Times New Roman"/>
              </a:rPr>
              <a:t>at</a:t>
            </a:r>
            <a:r>
              <a:rPr sz="2800" spc="-9" dirty="0">
                <a:latin typeface="Times New Roman"/>
                <a:cs typeface="Times New Roman"/>
              </a:rPr>
              <a:t> </a:t>
            </a:r>
            <a:r>
              <a:rPr sz="2800" dirty="0">
                <a:latin typeface="Times New Roman"/>
                <a:cs typeface="Times New Roman"/>
              </a:rPr>
              <a:t>0.85 </a:t>
            </a:r>
            <a:r>
              <a:rPr sz="2800" spc="-4" dirty="0">
                <a:latin typeface="Times New Roman"/>
                <a:cs typeface="Times New Roman"/>
              </a:rPr>
              <a:t>or</a:t>
            </a:r>
            <a:r>
              <a:rPr sz="2800" dirty="0">
                <a:latin typeface="Times New Roman"/>
                <a:cs typeface="Times New Roman"/>
              </a:rPr>
              <a:t> </a:t>
            </a:r>
            <a:r>
              <a:rPr sz="2800" spc="-4" dirty="0">
                <a:latin typeface="Times New Roman"/>
                <a:cs typeface="Times New Roman"/>
              </a:rPr>
              <a:t>0.95 </a:t>
            </a:r>
            <a:r>
              <a:rPr sz="2800" dirty="0">
                <a:latin typeface="Times New Roman"/>
                <a:cs typeface="Times New Roman"/>
              </a:rPr>
              <a:t> </a:t>
            </a:r>
            <a:r>
              <a:rPr sz="2800" spc="-4" dirty="0">
                <a:latin typeface="Times New Roman"/>
                <a:cs typeface="Times New Roman"/>
              </a:rPr>
              <a:t>microns.</a:t>
            </a:r>
            <a:endParaRPr sz="2800" dirty="0">
              <a:latin typeface="Times New Roman"/>
              <a:cs typeface="Times New Roman"/>
            </a:endParaRPr>
          </a:p>
          <a:p>
            <a:pPr marL="11132" marR="407971" algn="just">
              <a:lnSpc>
                <a:spcPct val="100299"/>
              </a:lnSpc>
              <a:spcBef>
                <a:spcPts val="745"/>
              </a:spcBef>
              <a:buClr>
                <a:srgbClr val="3232CC"/>
              </a:buClr>
              <a:buSzPct val="97222"/>
              <a:buChar char="•"/>
              <a:tabLst>
                <a:tab pos="151946" algn="l"/>
              </a:tabLst>
            </a:pPr>
            <a:r>
              <a:rPr sz="2800" spc="-4" dirty="0">
                <a:latin typeface="Times New Roman"/>
                <a:cs typeface="Times New Roman"/>
              </a:rPr>
              <a:t>Two speeds</a:t>
            </a:r>
            <a:r>
              <a:rPr sz="2800" dirty="0">
                <a:latin typeface="Times New Roman"/>
                <a:cs typeface="Times New Roman"/>
              </a:rPr>
              <a:t> </a:t>
            </a:r>
            <a:r>
              <a:rPr sz="2800" spc="-4" dirty="0">
                <a:latin typeface="Times New Roman"/>
                <a:cs typeface="Times New Roman"/>
              </a:rPr>
              <a:t>are</a:t>
            </a:r>
            <a:r>
              <a:rPr sz="2800" spc="4" dirty="0">
                <a:latin typeface="Times New Roman"/>
                <a:cs typeface="Times New Roman"/>
              </a:rPr>
              <a:t> </a:t>
            </a:r>
            <a:r>
              <a:rPr sz="2800" spc="-4" dirty="0">
                <a:latin typeface="Times New Roman"/>
                <a:cs typeface="Times New Roman"/>
              </a:rPr>
              <a:t>permitted: 1</a:t>
            </a:r>
            <a:r>
              <a:rPr sz="2800" dirty="0">
                <a:latin typeface="Times New Roman"/>
                <a:cs typeface="Times New Roman"/>
              </a:rPr>
              <a:t> </a:t>
            </a:r>
            <a:r>
              <a:rPr sz="2800" spc="-4" dirty="0">
                <a:latin typeface="Times New Roman"/>
                <a:cs typeface="Times New Roman"/>
              </a:rPr>
              <a:t>Mbps</a:t>
            </a:r>
            <a:r>
              <a:rPr sz="2800" dirty="0">
                <a:latin typeface="Times New Roman"/>
                <a:cs typeface="Times New Roman"/>
              </a:rPr>
              <a:t> </a:t>
            </a:r>
            <a:r>
              <a:rPr sz="2800" spc="-4" dirty="0">
                <a:latin typeface="Times New Roman"/>
                <a:cs typeface="Times New Roman"/>
              </a:rPr>
              <a:t>and 2 </a:t>
            </a:r>
            <a:r>
              <a:rPr sz="2800" spc="-776" dirty="0">
                <a:latin typeface="Times New Roman"/>
                <a:cs typeface="Times New Roman"/>
              </a:rPr>
              <a:t> </a:t>
            </a:r>
            <a:r>
              <a:rPr sz="2800" spc="-4" dirty="0">
                <a:latin typeface="Times New Roman"/>
                <a:cs typeface="Times New Roman"/>
              </a:rPr>
              <a:t>Mbps</a:t>
            </a:r>
            <a:endParaRPr sz="2800" dirty="0">
              <a:latin typeface="Times New Roman"/>
              <a:cs typeface="Times New Roman"/>
            </a:endParaRPr>
          </a:p>
        </p:txBody>
      </p:sp>
    </p:spTree>
    <p:extLst>
      <p:ext uri="{BB962C8B-B14F-4D97-AF65-F5344CB8AC3E}">
        <p14:creationId xmlns:p14="http://schemas.microsoft.com/office/powerpoint/2010/main" val="37769719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4907" y="367586"/>
            <a:ext cx="7171850" cy="734516"/>
          </a:xfrm>
          <a:prstGeom prst="rect">
            <a:avLst/>
          </a:prstGeom>
        </p:spPr>
        <p:txBody>
          <a:bodyPr vert="horz" wrap="square" lIns="0" tIns="11132" rIns="0" bIns="0" rtlCol="0">
            <a:spAutoFit/>
          </a:bodyPr>
          <a:lstStyle/>
          <a:p>
            <a:pPr marL="11132">
              <a:spcBef>
                <a:spcPts val="88"/>
              </a:spcBef>
            </a:pPr>
            <a:r>
              <a:rPr sz="4700" spc="-4" dirty="0"/>
              <a:t>The</a:t>
            </a:r>
            <a:r>
              <a:rPr sz="4700" spc="-13" dirty="0"/>
              <a:t> </a:t>
            </a:r>
            <a:r>
              <a:rPr sz="4700" spc="-4" dirty="0"/>
              <a:t>802.11 Physical Layer </a:t>
            </a:r>
            <a:endParaRPr sz="4700" dirty="0"/>
          </a:p>
        </p:txBody>
      </p:sp>
      <p:sp>
        <p:nvSpPr>
          <p:cNvPr id="3" name="object 3"/>
          <p:cNvSpPr txBox="1"/>
          <p:nvPr/>
        </p:nvSpPr>
        <p:spPr>
          <a:xfrm>
            <a:off x="724134" y="1056742"/>
            <a:ext cx="8059648" cy="1756448"/>
          </a:xfrm>
          <a:prstGeom prst="rect">
            <a:avLst/>
          </a:prstGeom>
        </p:spPr>
        <p:txBody>
          <a:bodyPr vert="horz" wrap="square" lIns="0" tIns="58997" rIns="0" bIns="0" rtlCol="0">
            <a:spAutoFit/>
          </a:bodyPr>
          <a:lstStyle/>
          <a:p>
            <a:pPr marL="445262" indent="-434130" algn="just">
              <a:spcBef>
                <a:spcPts val="465"/>
              </a:spcBef>
              <a:buClr>
                <a:srgbClr val="FF3200"/>
              </a:buClr>
              <a:buAutoNum type="arabicParenR" startAt="2"/>
              <a:tabLst>
                <a:tab pos="445262" algn="l"/>
              </a:tabLst>
            </a:pPr>
            <a:r>
              <a:rPr sz="2800" spc="-4" dirty="0">
                <a:latin typeface="Times New Roman"/>
                <a:cs typeface="Times New Roman"/>
              </a:rPr>
              <a:t>Short –</a:t>
            </a:r>
            <a:r>
              <a:rPr sz="2800" dirty="0">
                <a:latin typeface="Times New Roman"/>
                <a:cs typeface="Times New Roman"/>
              </a:rPr>
              <a:t> </a:t>
            </a:r>
            <a:r>
              <a:rPr sz="2800" spc="-4" dirty="0">
                <a:latin typeface="Times New Roman"/>
                <a:cs typeface="Times New Roman"/>
              </a:rPr>
              <a:t>range</a:t>
            </a:r>
            <a:r>
              <a:rPr sz="2800" spc="9" dirty="0">
                <a:latin typeface="Times New Roman"/>
                <a:cs typeface="Times New Roman"/>
              </a:rPr>
              <a:t> </a:t>
            </a:r>
            <a:r>
              <a:rPr sz="2800" spc="-4" dirty="0">
                <a:latin typeface="Times New Roman"/>
                <a:cs typeface="Times New Roman"/>
              </a:rPr>
              <a:t>radio</a:t>
            </a:r>
            <a:r>
              <a:rPr sz="2800" spc="4" dirty="0">
                <a:latin typeface="Times New Roman"/>
                <a:cs typeface="Times New Roman"/>
              </a:rPr>
              <a:t> </a:t>
            </a:r>
            <a:r>
              <a:rPr sz="2800" spc="-4" dirty="0">
                <a:latin typeface="Times New Roman"/>
                <a:cs typeface="Times New Roman"/>
              </a:rPr>
              <a:t>method</a:t>
            </a:r>
            <a:r>
              <a:rPr sz="2800" dirty="0">
                <a:latin typeface="Times New Roman"/>
                <a:cs typeface="Times New Roman"/>
              </a:rPr>
              <a:t> </a:t>
            </a:r>
            <a:r>
              <a:rPr sz="2800" spc="-4" dirty="0">
                <a:latin typeface="Times New Roman"/>
                <a:cs typeface="Times New Roman"/>
              </a:rPr>
              <a:t>(2</a:t>
            </a:r>
            <a:r>
              <a:rPr sz="2800" spc="9" dirty="0">
                <a:latin typeface="Times New Roman"/>
                <a:cs typeface="Times New Roman"/>
              </a:rPr>
              <a:t> </a:t>
            </a:r>
            <a:r>
              <a:rPr sz="2800" spc="-4" dirty="0">
                <a:latin typeface="Times New Roman"/>
                <a:cs typeface="Times New Roman"/>
              </a:rPr>
              <a:t>techniques</a:t>
            </a:r>
            <a:r>
              <a:rPr sz="2800" spc="4" dirty="0">
                <a:latin typeface="Times New Roman"/>
                <a:cs typeface="Times New Roman"/>
              </a:rPr>
              <a:t> </a:t>
            </a:r>
            <a:r>
              <a:rPr sz="2800" spc="-4" dirty="0">
                <a:latin typeface="Times New Roman"/>
                <a:cs typeface="Times New Roman"/>
              </a:rPr>
              <a:t>)</a:t>
            </a:r>
            <a:endParaRPr sz="2800" dirty="0">
              <a:latin typeface="Times New Roman"/>
              <a:cs typeface="Times New Roman"/>
            </a:endParaRPr>
          </a:p>
          <a:p>
            <a:pPr marL="62893" marR="4453" lvl="1" indent="-52318" algn="just">
              <a:lnSpc>
                <a:spcPct val="89900"/>
              </a:lnSpc>
              <a:spcBef>
                <a:spcPts val="762"/>
              </a:spcBef>
              <a:buClr>
                <a:srgbClr val="FF3200"/>
              </a:buClr>
              <a:buAutoNum type="alphaLcParenR"/>
              <a:tabLst>
                <a:tab pos="422999" algn="l"/>
              </a:tabLst>
            </a:pPr>
            <a:r>
              <a:rPr sz="2800" spc="-4" dirty="0">
                <a:latin typeface="Times New Roman"/>
                <a:cs typeface="Times New Roman"/>
              </a:rPr>
              <a:t>FHSS (Frequency</a:t>
            </a:r>
            <a:r>
              <a:rPr sz="2800" dirty="0">
                <a:latin typeface="Times New Roman"/>
                <a:cs typeface="Times New Roman"/>
              </a:rPr>
              <a:t> </a:t>
            </a:r>
            <a:r>
              <a:rPr sz="2800" spc="-4" dirty="0">
                <a:latin typeface="Times New Roman"/>
                <a:cs typeface="Times New Roman"/>
              </a:rPr>
              <a:t>Hopping</a:t>
            </a:r>
            <a:r>
              <a:rPr sz="2800" dirty="0">
                <a:latin typeface="Times New Roman"/>
                <a:cs typeface="Times New Roman"/>
              </a:rPr>
              <a:t> </a:t>
            </a:r>
            <a:r>
              <a:rPr sz="2800" spc="-4" dirty="0">
                <a:latin typeface="Times New Roman"/>
                <a:cs typeface="Times New Roman"/>
              </a:rPr>
              <a:t>Spread</a:t>
            </a:r>
            <a:r>
              <a:rPr sz="2800" dirty="0">
                <a:latin typeface="Times New Roman"/>
                <a:cs typeface="Times New Roman"/>
              </a:rPr>
              <a:t> </a:t>
            </a:r>
            <a:r>
              <a:rPr sz="2800" spc="-4" dirty="0">
                <a:latin typeface="Times New Roman"/>
                <a:cs typeface="Times New Roman"/>
              </a:rPr>
              <a:t>Spectrum) </a:t>
            </a:r>
            <a:r>
              <a:rPr sz="2800" spc="-776" dirty="0">
                <a:latin typeface="Times New Roman"/>
                <a:cs typeface="Times New Roman"/>
              </a:rPr>
              <a:t> </a:t>
            </a:r>
            <a:r>
              <a:rPr sz="2800" spc="-4" dirty="0">
                <a:latin typeface="Times New Roman"/>
                <a:cs typeface="Times New Roman"/>
              </a:rPr>
              <a:t>uses</a:t>
            </a:r>
            <a:r>
              <a:rPr sz="2800" dirty="0">
                <a:latin typeface="Times New Roman"/>
                <a:cs typeface="Times New Roman"/>
              </a:rPr>
              <a:t> </a:t>
            </a:r>
            <a:r>
              <a:rPr sz="2800" spc="-4" dirty="0">
                <a:latin typeface="Times New Roman"/>
                <a:cs typeface="Times New Roman"/>
              </a:rPr>
              <a:t>79</a:t>
            </a:r>
            <a:r>
              <a:rPr sz="2800" dirty="0">
                <a:latin typeface="Times New Roman"/>
                <a:cs typeface="Times New Roman"/>
              </a:rPr>
              <a:t> </a:t>
            </a:r>
            <a:r>
              <a:rPr sz="2800" spc="-4" dirty="0">
                <a:latin typeface="Times New Roman"/>
                <a:cs typeface="Times New Roman"/>
              </a:rPr>
              <a:t>channels,</a:t>
            </a:r>
            <a:r>
              <a:rPr sz="2800" dirty="0">
                <a:latin typeface="Times New Roman"/>
                <a:cs typeface="Times New Roman"/>
              </a:rPr>
              <a:t> </a:t>
            </a:r>
            <a:r>
              <a:rPr sz="2800" spc="-4" dirty="0">
                <a:latin typeface="Times New Roman"/>
                <a:cs typeface="Times New Roman"/>
              </a:rPr>
              <a:t>each</a:t>
            </a:r>
            <a:r>
              <a:rPr sz="2800" spc="9" dirty="0">
                <a:latin typeface="Times New Roman"/>
                <a:cs typeface="Times New Roman"/>
              </a:rPr>
              <a:t> </a:t>
            </a:r>
            <a:r>
              <a:rPr sz="2800" spc="-4" dirty="0">
                <a:latin typeface="Times New Roman"/>
                <a:cs typeface="Times New Roman"/>
              </a:rPr>
              <a:t>1-MHz wide,</a:t>
            </a:r>
            <a:r>
              <a:rPr sz="2800" spc="4" dirty="0">
                <a:latin typeface="Times New Roman"/>
                <a:cs typeface="Times New Roman"/>
              </a:rPr>
              <a:t> </a:t>
            </a:r>
            <a:r>
              <a:rPr sz="2800" spc="-4" dirty="0">
                <a:latin typeface="Times New Roman"/>
                <a:cs typeface="Times New Roman"/>
              </a:rPr>
              <a:t>starting</a:t>
            </a:r>
            <a:r>
              <a:rPr sz="2800" dirty="0">
                <a:latin typeface="Times New Roman"/>
                <a:cs typeface="Times New Roman"/>
              </a:rPr>
              <a:t> at </a:t>
            </a:r>
            <a:r>
              <a:rPr sz="2800" spc="4" dirty="0">
                <a:latin typeface="Times New Roman"/>
                <a:cs typeface="Times New Roman"/>
              </a:rPr>
              <a:t> </a:t>
            </a:r>
            <a:r>
              <a:rPr sz="2800" spc="-4" dirty="0">
                <a:latin typeface="Times New Roman"/>
                <a:cs typeface="Times New Roman"/>
              </a:rPr>
              <a:t>the</a:t>
            </a:r>
            <a:r>
              <a:rPr sz="2800" spc="-9" dirty="0">
                <a:latin typeface="Times New Roman"/>
                <a:cs typeface="Times New Roman"/>
              </a:rPr>
              <a:t> </a:t>
            </a:r>
            <a:r>
              <a:rPr sz="2800" spc="-4" dirty="0">
                <a:latin typeface="Times New Roman"/>
                <a:cs typeface="Times New Roman"/>
              </a:rPr>
              <a:t>low</a:t>
            </a:r>
            <a:r>
              <a:rPr sz="2800" spc="13" dirty="0">
                <a:latin typeface="Times New Roman"/>
                <a:cs typeface="Times New Roman"/>
              </a:rPr>
              <a:t> </a:t>
            </a:r>
            <a:r>
              <a:rPr sz="2800" spc="-4" dirty="0">
                <a:latin typeface="Times New Roman"/>
                <a:cs typeface="Times New Roman"/>
              </a:rPr>
              <a:t>end of</a:t>
            </a:r>
            <a:r>
              <a:rPr sz="2800" dirty="0">
                <a:latin typeface="Times New Roman"/>
                <a:cs typeface="Times New Roman"/>
              </a:rPr>
              <a:t> the</a:t>
            </a:r>
            <a:r>
              <a:rPr sz="2800" spc="-9" dirty="0">
                <a:latin typeface="Times New Roman"/>
                <a:cs typeface="Times New Roman"/>
              </a:rPr>
              <a:t> </a:t>
            </a:r>
            <a:r>
              <a:rPr sz="2800" dirty="0">
                <a:latin typeface="Times New Roman"/>
                <a:cs typeface="Times New Roman"/>
              </a:rPr>
              <a:t>2.4-GHz</a:t>
            </a:r>
            <a:r>
              <a:rPr sz="2800" spc="-4" dirty="0">
                <a:latin typeface="Times New Roman"/>
                <a:cs typeface="Times New Roman"/>
              </a:rPr>
              <a:t> ISM (Industrial, </a:t>
            </a:r>
            <a:r>
              <a:rPr sz="2800" dirty="0">
                <a:latin typeface="Times New Roman"/>
                <a:cs typeface="Times New Roman"/>
              </a:rPr>
              <a:t> </a:t>
            </a:r>
            <a:r>
              <a:rPr sz="2800" spc="-4" dirty="0">
                <a:latin typeface="Times New Roman"/>
                <a:cs typeface="Times New Roman"/>
              </a:rPr>
              <a:t>Scientific, Medical)</a:t>
            </a:r>
            <a:r>
              <a:rPr sz="2800" dirty="0">
                <a:latin typeface="Times New Roman"/>
                <a:cs typeface="Times New Roman"/>
              </a:rPr>
              <a:t> band.</a:t>
            </a:r>
          </a:p>
        </p:txBody>
      </p:sp>
      <p:sp>
        <p:nvSpPr>
          <p:cNvPr id="4" name="object 4"/>
          <p:cNvSpPr txBox="1"/>
          <p:nvPr/>
        </p:nvSpPr>
        <p:spPr>
          <a:xfrm>
            <a:off x="724136" y="4882018"/>
            <a:ext cx="7513392" cy="1373806"/>
          </a:xfrm>
          <a:prstGeom prst="rect">
            <a:avLst/>
          </a:prstGeom>
        </p:spPr>
        <p:txBody>
          <a:bodyPr vert="horz" wrap="square" lIns="0" tIns="65120" rIns="0" bIns="0" rtlCol="0">
            <a:spAutoFit/>
          </a:bodyPr>
          <a:lstStyle/>
          <a:p>
            <a:pPr marL="62893" marR="4453" indent="-52318" algn="just">
              <a:lnSpc>
                <a:spcPts val="3410"/>
              </a:lnSpc>
              <a:spcBef>
                <a:spcPts val="513"/>
              </a:spcBef>
            </a:pPr>
            <a:r>
              <a:rPr sz="3200" spc="-4" dirty="0">
                <a:latin typeface="Times New Roman"/>
                <a:cs typeface="Times New Roman"/>
              </a:rPr>
              <a:t>A pseudorandom number</a:t>
            </a:r>
            <a:r>
              <a:rPr sz="3200" dirty="0">
                <a:latin typeface="Times New Roman"/>
                <a:cs typeface="Times New Roman"/>
              </a:rPr>
              <a:t> </a:t>
            </a:r>
            <a:r>
              <a:rPr sz="3200" spc="-4" dirty="0">
                <a:latin typeface="Times New Roman"/>
                <a:cs typeface="Times New Roman"/>
              </a:rPr>
              <a:t>generator</a:t>
            </a:r>
            <a:r>
              <a:rPr sz="3200" dirty="0">
                <a:latin typeface="Times New Roman"/>
                <a:cs typeface="Times New Roman"/>
              </a:rPr>
              <a:t> </a:t>
            </a:r>
            <a:r>
              <a:rPr sz="3200" spc="-4" dirty="0">
                <a:latin typeface="Times New Roman"/>
                <a:cs typeface="Times New Roman"/>
              </a:rPr>
              <a:t>is</a:t>
            </a:r>
            <a:r>
              <a:rPr sz="3200" dirty="0">
                <a:latin typeface="Times New Roman"/>
                <a:cs typeface="Times New Roman"/>
              </a:rPr>
              <a:t> used </a:t>
            </a:r>
            <a:r>
              <a:rPr sz="3200" spc="-4" dirty="0">
                <a:latin typeface="Times New Roman"/>
                <a:cs typeface="Times New Roman"/>
              </a:rPr>
              <a:t>to </a:t>
            </a:r>
            <a:r>
              <a:rPr sz="3200" dirty="0">
                <a:latin typeface="Times New Roman"/>
                <a:cs typeface="Times New Roman"/>
              </a:rPr>
              <a:t> </a:t>
            </a:r>
            <a:r>
              <a:rPr sz="3200" spc="-4" dirty="0">
                <a:latin typeface="Times New Roman"/>
                <a:cs typeface="Times New Roman"/>
              </a:rPr>
              <a:t>produce</a:t>
            </a:r>
            <a:r>
              <a:rPr sz="3200" spc="13" dirty="0">
                <a:latin typeface="Times New Roman"/>
                <a:cs typeface="Times New Roman"/>
              </a:rPr>
              <a:t> </a:t>
            </a:r>
            <a:r>
              <a:rPr sz="3200" spc="-4" dirty="0">
                <a:latin typeface="Times New Roman"/>
                <a:cs typeface="Times New Roman"/>
              </a:rPr>
              <a:t>the</a:t>
            </a:r>
            <a:r>
              <a:rPr sz="3200" dirty="0">
                <a:latin typeface="Times New Roman"/>
                <a:cs typeface="Times New Roman"/>
              </a:rPr>
              <a:t> </a:t>
            </a:r>
            <a:r>
              <a:rPr sz="3200" spc="-4" dirty="0">
                <a:latin typeface="Times New Roman"/>
                <a:cs typeface="Times New Roman"/>
              </a:rPr>
              <a:t>sequence</a:t>
            </a:r>
            <a:r>
              <a:rPr sz="3200" dirty="0">
                <a:latin typeface="Times New Roman"/>
                <a:cs typeface="Times New Roman"/>
              </a:rPr>
              <a:t> of</a:t>
            </a:r>
            <a:r>
              <a:rPr sz="3200" spc="4" dirty="0">
                <a:latin typeface="Times New Roman"/>
                <a:cs typeface="Times New Roman"/>
              </a:rPr>
              <a:t> </a:t>
            </a:r>
            <a:r>
              <a:rPr sz="3200" spc="-4" dirty="0">
                <a:latin typeface="Times New Roman"/>
                <a:cs typeface="Times New Roman"/>
              </a:rPr>
              <a:t>frequencies</a:t>
            </a:r>
            <a:r>
              <a:rPr sz="3200" spc="9" dirty="0">
                <a:latin typeface="Times New Roman"/>
                <a:cs typeface="Times New Roman"/>
              </a:rPr>
              <a:t> </a:t>
            </a:r>
            <a:r>
              <a:rPr sz="3200" spc="-4" dirty="0">
                <a:latin typeface="Times New Roman"/>
                <a:cs typeface="Times New Roman"/>
              </a:rPr>
              <a:t>hopped</a:t>
            </a:r>
            <a:r>
              <a:rPr sz="3200" spc="4" dirty="0">
                <a:latin typeface="Times New Roman"/>
                <a:cs typeface="Times New Roman"/>
              </a:rPr>
              <a:t> </a:t>
            </a:r>
            <a:r>
              <a:rPr sz="3200" spc="-4" dirty="0">
                <a:latin typeface="Times New Roman"/>
                <a:cs typeface="Times New Roman"/>
              </a:rPr>
              <a:t>to.</a:t>
            </a:r>
            <a:endParaRPr sz="3200" dirty="0">
              <a:latin typeface="Times New Roman"/>
              <a:cs typeface="Times New Roman"/>
            </a:endParaRPr>
          </a:p>
        </p:txBody>
      </p:sp>
      <p:pic>
        <p:nvPicPr>
          <p:cNvPr id="5" name="object 5"/>
          <p:cNvPicPr/>
          <p:nvPr/>
        </p:nvPicPr>
        <p:blipFill>
          <a:blip r:embed="rId2" cstate="print"/>
          <a:stretch>
            <a:fillRect/>
          </a:stretch>
        </p:blipFill>
        <p:spPr>
          <a:xfrm>
            <a:off x="1131163" y="3524010"/>
            <a:ext cx="6401234" cy="1385149"/>
          </a:xfrm>
          <a:prstGeom prst="rect">
            <a:avLst/>
          </a:prstGeom>
        </p:spPr>
      </p:pic>
    </p:spTree>
    <p:extLst>
      <p:ext uri="{BB962C8B-B14F-4D97-AF65-F5344CB8AC3E}">
        <p14:creationId xmlns:p14="http://schemas.microsoft.com/office/powerpoint/2010/main" val="13137703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0861" y="446718"/>
            <a:ext cx="7171850" cy="734516"/>
          </a:xfrm>
          <a:prstGeom prst="rect">
            <a:avLst/>
          </a:prstGeom>
        </p:spPr>
        <p:txBody>
          <a:bodyPr vert="horz" wrap="square" lIns="0" tIns="11132" rIns="0" bIns="0" rtlCol="0">
            <a:spAutoFit/>
          </a:bodyPr>
          <a:lstStyle/>
          <a:p>
            <a:pPr marL="11132">
              <a:spcBef>
                <a:spcPts val="88"/>
              </a:spcBef>
            </a:pPr>
            <a:r>
              <a:rPr sz="4700" spc="-4" dirty="0"/>
              <a:t>The</a:t>
            </a:r>
            <a:r>
              <a:rPr sz="4700" spc="-13" dirty="0"/>
              <a:t> </a:t>
            </a:r>
            <a:r>
              <a:rPr sz="4700" spc="-4" dirty="0"/>
              <a:t>802.11 Physical Layer </a:t>
            </a:r>
            <a:endParaRPr sz="4700" dirty="0"/>
          </a:p>
        </p:txBody>
      </p:sp>
      <p:sp>
        <p:nvSpPr>
          <p:cNvPr id="3" name="object 3"/>
          <p:cNvSpPr txBox="1"/>
          <p:nvPr/>
        </p:nvSpPr>
        <p:spPr>
          <a:xfrm>
            <a:off x="457200" y="1252980"/>
            <a:ext cx="8285018" cy="4106437"/>
          </a:xfrm>
          <a:prstGeom prst="rect">
            <a:avLst/>
          </a:prstGeom>
        </p:spPr>
        <p:txBody>
          <a:bodyPr vert="horz" wrap="square" lIns="0" tIns="106863" rIns="0" bIns="0" rtlCol="0">
            <a:spAutoFit/>
          </a:bodyPr>
          <a:lstStyle/>
          <a:p>
            <a:pPr marL="11132" algn="just">
              <a:spcBef>
                <a:spcPts val="841"/>
              </a:spcBef>
            </a:pPr>
            <a:r>
              <a:rPr sz="3200" spc="-4" dirty="0">
                <a:solidFill>
                  <a:srgbClr val="FF3200"/>
                </a:solidFill>
                <a:latin typeface="Times New Roman"/>
                <a:cs typeface="Times New Roman"/>
              </a:rPr>
              <a:t>2)</a:t>
            </a:r>
            <a:r>
              <a:rPr sz="3200" dirty="0">
                <a:solidFill>
                  <a:srgbClr val="FF3200"/>
                </a:solidFill>
                <a:latin typeface="Times New Roman"/>
                <a:cs typeface="Times New Roman"/>
              </a:rPr>
              <a:t> </a:t>
            </a:r>
            <a:r>
              <a:rPr sz="3200" spc="-4" dirty="0">
                <a:latin typeface="Times New Roman"/>
                <a:cs typeface="Times New Roman"/>
              </a:rPr>
              <a:t>Short –</a:t>
            </a:r>
            <a:r>
              <a:rPr sz="3200" spc="4" dirty="0">
                <a:latin typeface="Times New Roman"/>
                <a:cs typeface="Times New Roman"/>
              </a:rPr>
              <a:t> </a:t>
            </a:r>
            <a:r>
              <a:rPr sz="3200" spc="-4" dirty="0">
                <a:latin typeface="Times New Roman"/>
                <a:cs typeface="Times New Roman"/>
              </a:rPr>
              <a:t>range</a:t>
            </a:r>
            <a:r>
              <a:rPr sz="3200" spc="9" dirty="0">
                <a:latin typeface="Times New Roman"/>
                <a:cs typeface="Times New Roman"/>
              </a:rPr>
              <a:t> </a:t>
            </a:r>
            <a:r>
              <a:rPr sz="3200" spc="-4" dirty="0">
                <a:latin typeface="Times New Roman"/>
                <a:cs typeface="Times New Roman"/>
              </a:rPr>
              <a:t>radio</a:t>
            </a:r>
            <a:r>
              <a:rPr sz="3200" spc="4" dirty="0">
                <a:latin typeface="Times New Roman"/>
                <a:cs typeface="Times New Roman"/>
              </a:rPr>
              <a:t> </a:t>
            </a:r>
            <a:r>
              <a:rPr sz="3200" spc="-4" dirty="0">
                <a:latin typeface="Times New Roman"/>
                <a:cs typeface="Times New Roman"/>
              </a:rPr>
              <a:t>method</a:t>
            </a:r>
            <a:r>
              <a:rPr sz="3200" dirty="0">
                <a:latin typeface="Times New Roman"/>
                <a:cs typeface="Times New Roman"/>
              </a:rPr>
              <a:t> </a:t>
            </a:r>
            <a:r>
              <a:rPr sz="3200" spc="-4" dirty="0">
                <a:latin typeface="Times New Roman"/>
                <a:cs typeface="Times New Roman"/>
              </a:rPr>
              <a:t>(2</a:t>
            </a:r>
            <a:r>
              <a:rPr sz="3200" spc="13" dirty="0">
                <a:latin typeface="Times New Roman"/>
                <a:cs typeface="Times New Roman"/>
              </a:rPr>
              <a:t> </a:t>
            </a:r>
            <a:r>
              <a:rPr sz="3200" spc="-4" dirty="0">
                <a:latin typeface="Times New Roman"/>
                <a:cs typeface="Times New Roman"/>
              </a:rPr>
              <a:t>techniques</a:t>
            </a:r>
            <a:r>
              <a:rPr sz="3200" dirty="0">
                <a:latin typeface="Times New Roman"/>
                <a:cs typeface="Times New Roman"/>
              </a:rPr>
              <a:t> </a:t>
            </a:r>
            <a:r>
              <a:rPr sz="3200" spc="-4" dirty="0">
                <a:latin typeface="Times New Roman"/>
                <a:cs typeface="Times New Roman"/>
              </a:rPr>
              <a:t>)</a:t>
            </a:r>
            <a:endParaRPr sz="3200" dirty="0">
              <a:latin typeface="Times New Roman"/>
              <a:cs typeface="Times New Roman"/>
            </a:endParaRPr>
          </a:p>
          <a:p>
            <a:pPr marL="62893" marR="23376" indent="-52318" algn="just">
              <a:lnSpc>
                <a:spcPct val="100299"/>
              </a:lnSpc>
              <a:spcBef>
                <a:spcPts val="749"/>
              </a:spcBef>
            </a:pPr>
            <a:r>
              <a:rPr sz="3200" spc="-4" dirty="0">
                <a:solidFill>
                  <a:srgbClr val="FF3200"/>
                </a:solidFill>
                <a:latin typeface="Times New Roman"/>
                <a:cs typeface="Times New Roman"/>
              </a:rPr>
              <a:t>b)</a:t>
            </a:r>
            <a:r>
              <a:rPr sz="3200" dirty="0">
                <a:solidFill>
                  <a:srgbClr val="FF3200"/>
                </a:solidFill>
                <a:latin typeface="Times New Roman"/>
                <a:cs typeface="Times New Roman"/>
              </a:rPr>
              <a:t> </a:t>
            </a:r>
            <a:r>
              <a:rPr sz="3200" spc="-4" dirty="0">
                <a:latin typeface="Times New Roman"/>
                <a:cs typeface="Times New Roman"/>
              </a:rPr>
              <a:t>DSSS</a:t>
            </a:r>
            <a:r>
              <a:rPr sz="3200" spc="4" dirty="0">
                <a:latin typeface="Times New Roman"/>
                <a:cs typeface="Times New Roman"/>
              </a:rPr>
              <a:t> </a:t>
            </a:r>
            <a:r>
              <a:rPr sz="3200" spc="-4" dirty="0">
                <a:latin typeface="Times New Roman"/>
                <a:cs typeface="Times New Roman"/>
              </a:rPr>
              <a:t>(Direct</a:t>
            </a:r>
            <a:r>
              <a:rPr sz="3200" dirty="0">
                <a:latin typeface="Times New Roman"/>
                <a:cs typeface="Times New Roman"/>
              </a:rPr>
              <a:t> </a:t>
            </a:r>
            <a:r>
              <a:rPr sz="3200" spc="-4" dirty="0">
                <a:latin typeface="Times New Roman"/>
                <a:cs typeface="Times New Roman"/>
              </a:rPr>
              <a:t>Sequence Spread</a:t>
            </a:r>
            <a:r>
              <a:rPr sz="3200" spc="4" dirty="0">
                <a:latin typeface="Times New Roman"/>
                <a:cs typeface="Times New Roman"/>
              </a:rPr>
              <a:t> </a:t>
            </a:r>
            <a:r>
              <a:rPr sz="3200" spc="-4" dirty="0">
                <a:latin typeface="Times New Roman"/>
                <a:cs typeface="Times New Roman"/>
              </a:rPr>
              <a:t>Spectrum), </a:t>
            </a:r>
            <a:r>
              <a:rPr sz="3200" spc="-776" dirty="0">
                <a:latin typeface="Times New Roman"/>
                <a:cs typeface="Times New Roman"/>
              </a:rPr>
              <a:t> </a:t>
            </a:r>
            <a:r>
              <a:rPr sz="3200" spc="-4" dirty="0">
                <a:latin typeface="Times New Roman"/>
                <a:cs typeface="Times New Roman"/>
              </a:rPr>
              <a:t>is also</a:t>
            </a:r>
            <a:r>
              <a:rPr sz="3200" dirty="0">
                <a:latin typeface="Times New Roman"/>
                <a:cs typeface="Times New Roman"/>
              </a:rPr>
              <a:t> </a:t>
            </a:r>
            <a:r>
              <a:rPr sz="3200" spc="-4" dirty="0">
                <a:latin typeface="Times New Roman"/>
                <a:cs typeface="Times New Roman"/>
              </a:rPr>
              <a:t>restricted</a:t>
            </a:r>
            <a:r>
              <a:rPr sz="3200" spc="9" dirty="0">
                <a:latin typeface="Times New Roman"/>
                <a:cs typeface="Times New Roman"/>
              </a:rPr>
              <a:t> </a:t>
            </a:r>
            <a:r>
              <a:rPr sz="3200" spc="-4" dirty="0">
                <a:latin typeface="Times New Roman"/>
                <a:cs typeface="Times New Roman"/>
              </a:rPr>
              <a:t>to</a:t>
            </a:r>
            <a:r>
              <a:rPr sz="3200" dirty="0">
                <a:latin typeface="Times New Roman"/>
                <a:cs typeface="Times New Roman"/>
              </a:rPr>
              <a:t> </a:t>
            </a:r>
            <a:r>
              <a:rPr sz="3200" spc="-4" dirty="0">
                <a:latin typeface="Times New Roman"/>
                <a:cs typeface="Times New Roman"/>
              </a:rPr>
              <a:t>1 or</a:t>
            </a:r>
            <a:r>
              <a:rPr sz="3200" dirty="0">
                <a:latin typeface="Times New Roman"/>
                <a:cs typeface="Times New Roman"/>
              </a:rPr>
              <a:t> </a:t>
            </a:r>
            <a:r>
              <a:rPr sz="3200" spc="-4" dirty="0">
                <a:latin typeface="Times New Roman"/>
                <a:cs typeface="Times New Roman"/>
              </a:rPr>
              <a:t>2</a:t>
            </a:r>
            <a:r>
              <a:rPr sz="3200" dirty="0">
                <a:latin typeface="Times New Roman"/>
                <a:cs typeface="Times New Roman"/>
              </a:rPr>
              <a:t> </a:t>
            </a:r>
            <a:r>
              <a:rPr sz="3200" spc="-4" dirty="0">
                <a:latin typeface="Times New Roman"/>
                <a:cs typeface="Times New Roman"/>
              </a:rPr>
              <a:t>Mbps.</a:t>
            </a:r>
            <a:endParaRPr sz="3200" dirty="0">
              <a:latin typeface="Times New Roman"/>
              <a:cs typeface="Times New Roman"/>
            </a:endParaRPr>
          </a:p>
          <a:p>
            <a:pPr marL="62893" marR="4453" indent="-52318" algn="just">
              <a:lnSpc>
                <a:spcPct val="100099"/>
              </a:lnSpc>
              <a:spcBef>
                <a:spcPts val="2783"/>
              </a:spcBef>
              <a:buClr>
                <a:srgbClr val="3232CC"/>
              </a:buClr>
              <a:buSzPct val="97222"/>
              <a:buChar char="•"/>
              <a:tabLst>
                <a:tab pos="152502" algn="l"/>
              </a:tabLst>
            </a:pPr>
            <a:r>
              <a:rPr sz="3200" spc="-4" dirty="0">
                <a:latin typeface="Times New Roman"/>
                <a:cs typeface="Times New Roman"/>
              </a:rPr>
              <a:t>The scheme </a:t>
            </a:r>
            <a:r>
              <a:rPr sz="3200" dirty="0">
                <a:latin typeface="Times New Roman"/>
                <a:cs typeface="Times New Roman"/>
              </a:rPr>
              <a:t>used </a:t>
            </a:r>
            <a:r>
              <a:rPr sz="3200" spc="-4" dirty="0">
                <a:latin typeface="Times New Roman"/>
                <a:cs typeface="Times New Roman"/>
              </a:rPr>
              <a:t>has some similarities </a:t>
            </a:r>
            <a:r>
              <a:rPr sz="3200" dirty="0">
                <a:latin typeface="Times New Roman"/>
                <a:cs typeface="Times New Roman"/>
              </a:rPr>
              <a:t>to </a:t>
            </a:r>
            <a:r>
              <a:rPr sz="3200" spc="-4" dirty="0">
                <a:latin typeface="Times New Roman"/>
                <a:cs typeface="Times New Roman"/>
              </a:rPr>
              <a:t>the </a:t>
            </a:r>
            <a:r>
              <a:rPr sz="3200" spc="-776" dirty="0">
                <a:latin typeface="Times New Roman"/>
                <a:cs typeface="Times New Roman"/>
              </a:rPr>
              <a:t> </a:t>
            </a:r>
            <a:r>
              <a:rPr sz="3200" spc="-4" dirty="0">
                <a:latin typeface="Times New Roman"/>
                <a:cs typeface="Times New Roman"/>
              </a:rPr>
              <a:t>CDMA</a:t>
            </a:r>
            <a:r>
              <a:rPr sz="3200" spc="-9" dirty="0">
                <a:latin typeface="Times New Roman"/>
                <a:cs typeface="Times New Roman"/>
              </a:rPr>
              <a:t> </a:t>
            </a:r>
            <a:r>
              <a:rPr sz="3200" spc="-4" dirty="0">
                <a:latin typeface="Times New Roman"/>
                <a:cs typeface="Times New Roman"/>
              </a:rPr>
              <a:t>(Code Division</a:t>
            </a:r>
            <a:r>
              <a:rPr sz="3200" dirty="0">
                <a:latin typeface="Times New Roman"/>
                <a:cs typeface="Times New Roman"/>
              </a:rPr>
              <a:t> </a:t>
            </a:r>
            <a:r>
              <a:rPr sz="3200" spc="-4" dirty="0">
                <a:latin typeface="Times New Roman"/>
                <a:cs typeface="Times New Roman"/>
              </a:rPr>
              <a:t>Multiple</a:t>
            </a:r>
            <a:r>
              <a:rPr sz="3200" dirty="0">
                <a:latin typeface="Times New Roman"/>
                <a:cs typeface="Times New Roman"/>
              </a:rPr>
              <a:t> </a:t>
            </a:r>
            <a:r>
              <a:rPr sz="3200" spc="-4" dirty="0">
                <a:latin typeface="Times New Roman"/>
                <a:cs typeface="Times New Roman"/>
              </a:rPr>
              <a:t>Access) </a:t>
            </a:r>
            <a:r>
              <a:rPr sz="3200" dirty="0">
                <a:latin typeface="Times New Roman"/>
                <a:cs typeface="Times New Roman"/>
              </a:rPr>
              <a:t> </a:t>
            </a:r>
            <a:r>
              <a:rPr sz="3200" spc="-4" dirty="0">
                <a:latin typeface="Times New Roman"/>
                <a:cs typeface="Times New Roman"/>
              </a:rPr>
              <a:t>system.</a:t>
            </a:r>
            <a:endParaRPr sz="3200" dirty="0">
              <a:latin typeface="Times New Roman"/>
              <a:cs typeface="Times New Roman"/>
            </a:endParaRPr>
          </a:p>
          <a:p>
            <a:pPr marL="62893" marR="682921" indent="-52318" algn="just">
              <a:spcBef>
                <a:spcPts val="758"/>
              </a:spcBef>
              <a:buClr>
                <a:srgbClr val="3232CC"/>
              </a:buClr>
              <a:buSzPct val="97222"/>
              <a:buChar char="•"/>
              <a:tabLst>
                <a:tab pos="152502" algn="l"/>
              </a:tabLst>
            </a:pPr>
            <a:r>
              <a:rPr sz="3200" spc="-4" dirty="0">
                <a:latin typeface="Times New Roman"/>
                <a:cs typeface="Times New Roman"/>
              </a:rPr>
              <a:t>Each </a:t>
            </a:r>
            <a:r>
              <a:rPr sz="3200" dirty="0">
                <a:latin typeface="Times New Roman"/>
                <a:cs typeface="Times New Roman"/>
              </a:rPr>
              <a:t>bit </a:t>
            </a:r>
            <a:r>
              <a:rPr sz="3200" spc="-4" dirty="0">
                <a:latin typeface="Times New Roman"/>
                <a:cs typeface="Times New Roman"/>
              </a:rPr>
              <a:t>is transmitted </a:t>
            </a:r>
            <a:r>
              <a:rPr sz="3200" dirty="0">
                <a:latin typeface="Times New Roman"/>
                <a:cs typeface="Times New Roman"/>
              </a:rPr>
              <a:t>as </a:t>
            </a:r>
            <a:r>
              <a:rPr sz="3200" spc="-4" dirty="0">
                <a:latin typeface="Times New Roman"/>
                <a:cs typeface="Times New Roman"/>
              </a:rPr>
              <a:t>11 chips, using </a:t>
            </a:r>
            <a:r>
              <a:rPr sz="3200" spc="-776" dirty="0">
                <a:latin typeface="Times New Roman"/>
                <a:cs typeface="Times New Roman"/>
              </a:rPr>
              <a:t> </a:t>
            </a:r>
            <a:r>
              <a:rPr sz="3200" spc="-4" dirty="0">
                <a:latin typeface="Times New Roman"/>
                <a:cs typeface="Times New Roman"/>
              </a:rPr>
              <a:t>what</a:t>
            </a:r>
            <a:r>
              <a:rPr sz="3200" spc="-9" dirty="0">
                <a:latin typeface="Times New Roman"/>
                <a:cs typeface="Times New Roman"/>
              </a:rPr>
              <a:t> </a:t>
            </a:r>
            <a:r>
              <a:rPr sz="3200" spc="-4" dirty="0">
                <a:latin typeface="Times New Roman"/>
                <a:cs typeface="Times New Roman"/>
              </a:rPr>
              <a:t>is</a:t>
            </a:r>
            <a:r>
              <a:rPr sz="3200" dirty="0">
                <a:latin typeface="Times New Roman"/>
                <a:cs typeface="Times New Roman"/>
              </a:rPr>
              <a:t> </a:t>
            </a:r>
            <a:r>
              <a:rPr sz="3200" spc="-4" dirty="0">
                <a:latin typeface="Times New Roman"/>
                <a:cs typeface="Times New Roman"/>
              </a:rPr>
              <a:t>called</a:t>
            </a:r>
            <a:r>
              <a:rPr sz="3200" dirty="0">
                <a:latin typeface="Times New Roman"/>
                <a:cs typeface="Times New Roman"/>
              </a:rPr>
              <a:t> </a:t>
            </a:r>
            <a:r>
              <a:rPr sz="3200" spc="-4" dirty="0">
                <a:latin typeface="Times New Roman"/>
                <a:cs typeface="Times New Roman"/>
              </a:rPr>
              <a:t>a</a:t>
            </a:r>
            <a:r>
              <a:rPr sz="3200" spc="4" dirty="0">
                <a:latin typeface="Times New Roman"/>
                <a:cs typeface="Times New Roman"/>
              </a:rPr>
              <a:t> </a:t>
            </a:r>
            <a:r>
              <a:rPr sz="3200" spc="-4" dirty="0">
                <a:solidFill>
                  <a:srgbClr val="FF3200"/>
                </a:solidFill>
                <a:latin typeface="Times New Roman"/>
                <a:cs typeface="Times New Roman"/>
              </a:rPr>
              <a:t>Barker</a:t>
            </a:r>
            <a:r>
              <a:rPr sz="3200" spc="4" dirty="0">
                <a:solidFill>
                  <a:srgbClr val="FF3200"/>
                </a:solidFill>
                <a:latin typeface="Times New Roman"/>
                <a:cs typeface="Times New Roman"/>
              </a:rPr>
              <a:t> </a:t>
            </a:r>
            <a:r>
              <a:rPr sz="3200" spc="-4" dirty="0">
                <a:solidFill>
                  <a:srgbClr val="FF3200"/>
                </a:solidFill>
                <a:latin typeface="Times New Roman"/>
                <a:cs typeface="Times New Roman"/>
              </a:rPr>
              <a:t>Sequence</a:t>
            </a:r>
            <a:r>
              <a:rPr sz="3200" spc="-4" dirty="0">
                <a:latin typeface="Times New Roman"/>
                <a:cs typeface="Times New Roman"/>
              </a:rPr>
              <a:t>.</a:t>
            </a:r>
            <a:endParaRPr sz="3200" dirty="0">
              <a:latin typeface="Times New Roman"/>
              <a:cs typeface="Times New Roman"/>
            </a:endParaRPr>
          </a:p>
        </p:txBody>
      </p:sp>
    </p:spTree>
    <p:extLst>
      <p:ext uri="{BB962C8B-B14F-4D97-AF65-F5344CB8AC3E}">
        <p14:creationId xmlns:p14="http://schemas.microsoft.com/office/powerpoint/2010/main" val="24071677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0969" y="198612"/>
            <a:ext cx="7408595" cy="1241785"/>
          </a:xfrm>
          <a:prstGeom prst="rect">
            <a:avLst/>
          </a:prstGeom>
        </p:spPr>
        <p:txBody>
          <a:bodyPr vert="horz" wrap="square" lIns="0" tIns="10575" rIns="0" bIns="0" rtlCol="0">
            <a:spAutoFit/>
          </a:bodyPr>
          <a:lstStyle/>
          <a:p>
            <a:pPr marL="11132">
              <a:spcBef>
                <a:spcPts val="83"/>
              </a:spcBef>
            </a:pPr>
            <a:r>
              <a:rPr spc="-4" dirty="0"/>
              <a:t>DSSS</a:t>
            </a:r>
            <a:r>
              <a:rPr spc="4" dirty="0"/>
              <a:t> </a:t>
            </a:r>
            <a:r>
              <a:rPr spc="-4" dirty="0"/>
              <a:t>(Direct</a:t>
            </a:r>
            <a:r>
              <a:rPr spc="13" dirty="0"/>
              <a:t> </a:t>
            </a:r>
            <a:r>
              <a:rPr spc="-4" dirty="0"/>
              <a:t>Sequence</a:t>
            </a:r>
            <a:r>
              <a:rPr dirty="0"/>
              <a:t> </a:t>
            </a:r>
            <a:r>
              <a:rPr spc="-4" dirty="0"/>
              <a:t>Spread</a:t>
            </a:r>
            <a:r>
              <a:rPr dirty="0"/>
              <a:t> </a:t>
            </a:r>
            <a:r>
              <a:rPr spc="-4" dirty="0"/>
              <a:t>Spectrum)</a:t>
            </a:r>
          </a:p>
        </p:txBody>
      </p:sp>
      <p:pic>
        <p:nvPicPr>
          <p:cNvPr id="3" name="object 3"/>
          <p:cNvPicPr/>
          <p:nvPr/>
        </p:nvPicPr>
        <p:blipFill>
          <a:blip r:embed="rId2" cstate="print"/>
          <a:stretch>
            <a:fillRect/>
          </a:stretch>
        </p:blipFill>
        <p:spPr>
          <a:xfrm>
            <a:off x="1036030" y="1695671"/>
            <a:ext cx="7095831" cy="4129310"/>
          </a:xfrm>
          <a:prstGeom prst="rect">
            <a:avLst/>
          </a:prstGeom>
        </p:spPr>
      </p:pic>
      <p:sp>
        <p:nvSpPr>
          <p:cNvPr id="5" name="object 5"/>
          <p:cNvSpPr txBox="1">
            <a:spLocks noGrp="1"/>
          </p:cNvSpPr>
          <p:nvPr>
            <p:ph type="sldNum" sz="quarter" idx="4294967295"/>
          </p:nvPr>
        </p:nvSpPr>
        <p:spPr>
          <a:xfrm>
            <a:off x="7624923" y="6024543"/>
            <a:ext cx="218283" cy="179536"/>
          </a:xfrm>
          <a:prstGeom prst="rect">
            <a:avLst/>
          </a:prstGeom>
        </p:spPr>
        <p:txBody>
          <a:bodyPr vert="horz" wrap="square" lIns="0" tIns="0" rIns="0" bIns="0" rtlCol="0">
            <a:spAutoFit/>
          </a:bodyPr>
          <a:lstStyle/>
          <a:p>
            <a:pPr marL="33395">
              <a:lnSpc>
                <a:spcPts val="1429"/>
              </a:lnSpc>
            </a:pPr>
            <a:fld id="{81D60167-4931-47E6-BA6A-407CBD079E47}" type="slidenum">
              <a:rPr dirty="0"/>
              <a:pPr marL="33395">
                <a:lnSpc>
                  <a:spcPts val="1429"/>
                </a:lnSpc>
              </a:pPr>
              <a:t>72</a:t>
            </a:fld>
            <a:endParaRPr dirty="0"/>
          </a:p>
        </p:txBody>
      </p:sp>
    </p:spTree>
    <p:extLst>
      <p:ext uri="{BB962C8B-B14F-4D97-AF65-F5344CB8AC3E}">
        <p14:creationId xmlns:p14="http://schemas.microsoft.com/office/powerpoint/2010/main" val="1111852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4294967295"/>
          </p:nvPr>
        </p:nvSpPr>
        <p:spPr>
          <a:xfrm>
            <a:off x="3636748" y="6024543"/>
            <a:ext cx="1856493" cy="771128"/>
          </a:xfrm>
          <a:prstGeom prst="rect">
            <a:avLst/>
          </a:prstGeom>
        </p:spPr>
        <p:txBody>
          <a:bodyPr vert="horz" wrap="square" lIns="0" tIns="1670" rIns="0" bIns="0" rtlCol="0">
            <a:spAutoFit/>
          </a:bodyPr>
          <a:lstStyle/>
          <a:p>
            <a:pPr marL="443592" marR="4453" indent="-433017">
              <a:lnSpc>
                <a:spcPts val="1464"/>
              </a:lnSpc>
              <a:spcBef>
                <a:spcPts val="13"/>
              </a:spcBef>
            </a:pPr>
            <a:r>
              <a:rPr dirty="0"/>
              <a:t>BLM431 </a:t>
            </a:r>
            <a:r>
              <a:rPr spc="-4" dirty="0"/>
              <a:t>Computer Networks </a:t>
            </a:r>
            <a:r>
              <a:rPr spc="-294" dirty="0"/>
              <a:t> </a:t>
            </a:r>
            <a:r>
              <a:rPr spc="-4" dirty="0"/>
              <a:t>Dr.</a:t>
            </a:r>
            <a:r>
              <a:rPr spc="-13" dirty="0"/>
              <a:t> </a:t>
            </a:r>
            <a:r>
              <a:rPr dirty="0"/>
              <a:t>Refik</a:t>
            </a:r>
            <a:r>
              <a:rPr spc="-13" dirty="0"/>
              <a:t> </a:t>
            </a:r>
            <a:r>
              <a:rPr spc="-4" dirty="0"/>
              <a:t>Samet</a:t>
            </a:r>
          </a:p>
        </p:txBody>
      </p:sp>
      <p:sp>
        <p:nvSpPr>
          <p:cNvPr id="5" name="object 5"/>
          <p:cNvSpPr txBox="1">
            <a:spLocks noGrp="1"/>
          </p:cNvSpPr>
          <p:nvPr>
            <p:ph type="sldNum" sz="quarter" idx="4294967295"/>
          </p:nvPr>
        </p:nvSpPr>
        <p:spPr>
          <a:xfrm>
            <a:off x="7624923" y="6024543"/>
            <a:ext cx="218283" cy="179536"/>
          </a:xfrm>
          <a:prstGeom prst="rect">
            <a:avLst/>
          </a:prstGeom>
        </p:spPr>
        <p:txBody>
          <a:bodyPr vert="horz" wrap="square" lIns="0" tIns="0" rIns="0" bIns="0" rtlCol="0">
            <a:spAutoFit/>
          </a:bodyPr>
          <a:lstStyle/>
          <a:p>
            <a:pPr marL="33395">
              <a:lnSpc>
                <a:spcPts val="1429"/>
              </a:lnSpc>
            </a:pPr>
            <a:fld id="{81D60167-4931-47E6-BA6A-407CBD079E47}" type="slidenum">
              <a:rPr dirty="0"/>
              <a:pPr marL="33395">
                <a:lnSpc>
                  <a:spcPts val="1429"/>
                </a:lnSpc>
              </a:pPr>
              <a:t>73</a:t>
            </a:fld>
            <a:endParaRPr dirty="0"/>
          </a:p>
        </p:txBody>
      </p:sp>
      <p:sp>
        <p:nvSpPr>
          <p:cNvPr id="2" name="object 2"/>
          <p:cNvSpPr txBox="1">
            <a:spLocks noGrp="1"/>
          </p:cNvSpPr>
          <p:nvPr>
            <p:ph type="title"/>
          </p:nvPr>
        </p:nvSpPr>
        <p:spPr>
          <a:xfrm>
            <a:off x="980861" y="446718"/>
            <a:ext cx="7171850" cy="734516"/>
          </a:xfrm>
          <a:prstGeom prst="rect">
            <a:avLst/>
          </a:prstGeom>
        </p:spPr>
        <p:txBody>
          <a:bodyPr vert="horz" wrap="square" lIns="0" tIns="11132" rIns="0" bIns="0" rtlCol="0">
            <a:spAutoFit/>
          </a:bodyPr>
          <a:lstStyle/>
          <a:p>
            <a:pPr marL="11132">
              <a:spcBef>
                <a:spcPts val="88"/>
              </a:spcBef>
            </a:pPr>
            <a:r>
              <a:rPr sz="4700" spc="-4" dirty="0"/>
              <a:t>The</a:t>
            </a:r>
            <a:r>
              <a:rPr sz="4700" spc="-13" dirty="0"/>
              <a:t> </a:t>
            </a:r>
            <a:r>
              <a:rPr sz="4700" spc="-4" dirty="0"/>
              <a:t>802.11 Physical Layer </a:t>
            </a:r>
            <a:endParaRPr sz="4700" dirty="0"/>
          </a:p>
        </p:txBody>
      </p:sp>
      <p:sp>
        <p:nvSpPr>
          <p:cNvPr id="3" name="object 3"/>
          <p:cNvSpPr txBox="1"/>
          <p:nvPr/>
        </p:nvSpPr>
        <p:spPr>
          <a:xfrm>
            <a:off x="762000" y="1252981"/>
            <a:ext cx="7897091" cy="4173406"/>
          </a:xfrm>
          <a:prstGeom prst="rect">
            <a:avLst/>
          </a:prstGeom>
        </p:spPr>
        <p:txBody>
          <a:bodyPr vert="horz" wrap="square" lIns="0" tIns="11132" rIns="0" bIns="0" rtlCol="0">
            <a:spAutoFit/>
          </a:bodyPr>
          <a:lstStyle/>
          <a:p>
            <a:pPr marL="468332" marR="32281" indent="-457200" algn="just">
              <a:lnSpc>
                <a:spcPct val="120000"/>
              </a:lnSpc>
              <a:spcBef>
                <a:spcPts val="88"/>
              </a:spcBef>
              <a:buFont typeface="Arial" pitchFamily="34" charset="0"/>
              <a:buChar char="•"/>
            </a:pPr>
            <a:r>
              <a:rPr sz="2800" spc="-4" dirty="0">
                <a:solidFill>
                  <a:srgbClr val="FF3200"/>
                </a:solidFill>
                <a:latin typeface="Times New Roman"/>
                <a:cs typeface="Times New Roman"/>
              </a:rPr>
              <a:t>2)</a:t>
            </a:r>
            <a:r>
              <a:rPr sz="2800" dirty="0">
                <a:solidFill>
                  <a:srgbClr val="FF3200"/>
                </a:solidFill>
                <a:latin typeface="Times New Roman"/>
                <a:cs typeface="Times New Roman"/>
              </a:rPr>
              <a:t> </a:t>
            </a:r>
            <a:r>
              <a:rPr sz="2800" spc="-4" dirty="0">
                <a:latin typeface="Times New Roman"/>
                <a:cs typeface="Times New Roman"/>
              </a:rPr>
              <a:t>Short</a:t>
            </a:r>
            <a:r>
              <a:rPr sz="2800" dirty="0">
                <a:latin typeface="Times New Roman"/>
                <a:cs typeface="Times New Roman"/>
              </a:rPr>
              <a:t> </a:t>
            </a:r>
            <a:r>
              <a:rPr sz="2800" spc="-4" dirty="0">
                <a:latin typeface="Times New Roman"/>
                <a:cs typeface="Times New Roman"/>
              </a:rPr>
              <a:t>–</a:t>
            </a:r>
            <a:r>
              <a:rPr sz="2800" dirty="0">
                <a:latin typeface="Times New Roman"/>
                <a:cs typeface="Times New Roman"/>
              </a:rPr>
              <a:t> </a:t>
            </a:r>
            <a:r>
              <a:rPr sz="2800" spc="-4" dirty="0">
                <a:latin typeface="Times New Roman"/>
                <a:cs typeface="Times New Roman"/>
              </a:rPr>
              <a:t>range</a:t>
            </a:r>
            <a:r>
              <a:rPr sz="2800" spc="13" dirty="0">
                <a:latin typeface="Times New Roman"/>
                <a:cs typeface="Times New Roman"/>
              </a:rPr>
              <a:t> </a:t>
            </a:r>
            <a:r>
              <a:rPr sz="2800" spc="-4" dirty="0">
                <a:latin typeface="Times New Roman"/>
                <a:cs typeface="Times New Roman"/>
              </a:rPr>
              <a:t>radio</a:t>
            </a:r>
            <a:r>
              <a:rPr sz="2800" dirty="0">
                <a:latin typeface="Times New Roman"/>
                <a:cs typeface="Times New Roman"/>
              </a:rPr>
              <a:t> </a:t>
            </a:r>
            <a:r>
              <a:rPr sz="2800" spc="-4" dirty="0">
                <a:latin typeface="Times New Roman"/>
                <a:cs typeface="Times New Roman"/>
              </a:rPr>
              <a:t>method</a:t>
            </a:r>
            <a:r>
              <a:rPr sz="2800" spc="4" dirty="0">
                <a:latin typeface="Times New Roman"/>
                <a:cs typeface="Times New Roman"/>
              </a:rPr>
              <a:t> </a:t>
            </a:r>
            <a:r>
              <a:rPr sz="2800" spc="-4" dirty="0">
                <a:latin typeface="Times New Roman"/>
                <a:cs typeface="Times New Roman"/>
              </a:rPr>
              <a:t>(2</a:t>
            </a:r>
            <a:r>
              <a:rPr sz="2800" spc="9" dirty="0">
                <a:latin typeface="Times New Roman"/>
                <a:cs typeface="Times New Roman"/>
              </a:rPr>
              <a:t> </a:t>
            </a:r>
            <a:r>
              <a:rPr sz="2800" spc="-4" dirty="0">
                <a:latin typeface="Times New Roman"/>
                <a:cs typeface="Times New Roman"/>
              </a:rPr>
              <a:t>techniques</a:t>
            </a:r>
            <a:r>
              <a:rPr sz="2800" spc="4" dirty="0">
                <a:latin typeface="Times New Roman"/>
                <a:cs typeface="Times New Roman"/>
              </a:rPr>
              <a:t> </a:t>
            </a:r>
            <a:r>
              <a:rPr sz="2800" spc="-4" dirty="0">
                <a:latin typeface="Times New Roman"/>
                <a:cs typeface="Times New Roman"/>
              </a:rPr>
              <a:t>) </a:t>
            </a:r>
            <a:r>
              <a:rPr sz="2800" spc="-776" dirty="0">
                <a:latin typeface="Times New Roman"/>
                <a:cs typeface="Times New Roman"/>
              </a:rPr>
              <a:t> </a:t>
            </a:r>
            <a:endParaRPr lang="en-IN" sz="2800" spc="-776" dirty="0">
              <a:latin typeface="Times New Roman"/>
              <a:cs typeface="Times New Roman"/>
            </a:endParaRPr>
          </a:p>
          <a:p>
            <a:pPr marL="468332" marR="32281" indent="-457200" algn="just">
              <a:lnSpc>
                <a:spcPct val="120000"/>
              </a:lnSpc>
              <a:spcBef>
                <a:spcPts val="88"/>
              </a:spcBef>
              <a:buFont typeface="Arial" pitchFamily="34" charset="0"/>
              <a:buChar char="•"/>
            </a:pPr>
            <a:r>
              <a:rPr sz="2800" spc="-4" dirty="0">
                <a:latin typeface="Times New Roman"/>
                <a:cs typeface="Times New Roman"/>
              </a:rPr>
              <a:t>Both</a:t>
            </a:r>
            <a:r>
              <a:rPr sz="2800" dirty="0">
                <a:latin typeface="Times New Roman"/>
                <a:cs typeface="Times New Roman"/>
              </a:rPr>
              <a:t> </a:t>
            </a:r>
            <a:r>
              <a:rPr sz="2800" spc="-4" dirty="0">
                <a:latin typeface="Times New Roman"/>
                <a:cs typeface="Times New Roman"/>
              </a:rPr>
              <a:t>of</a:t>
            </a:r>
            <a:r>
              <a:rPr sz="2800" dirty="0">
                <a:latin typeface="Times New Roman"/>
                <a:cs typeface="Times New Roman"/>
              </a:rPr>
              <a:t> </a:t>
            </a:r>
            <a:r>
              <a:rPr sz="2800" spc="-4" dirty="0">
                <a:latin typeface="Times New Roman"/>
                <a:cs typeface="Times New Roman"/>
              </a:rPr>
              <a:t>these (FHSS</a:t>
            </a:r>
            <a:r>
              <a:rPr sz="2800" dirty="0">
                <a:latin typeface="Times New Roman"/>
                <a:cs typeface="Times New Roman"/>
              </a:rPr>
              <a:t> </a:t>
            </a:r>
            <a:r>
              <a:rPr sz="2800" spc="-9" dirty="0">
                <a:latin typeface="Times New Roman"/>
                <a:cs typeface="Times New Roman"/>
              </a:rPr>
              <a:t>and</a:t>
            </a:r>
            <a:r>
              <a:rPr sz="2800" spc="4" dirty="0">
                <a:latin typeface="Times New Roman"/>
                <a:cs typeface="Times New Roman"/>
              </a:rPr>
              <a:t> </a:t>
            </a:r>
            <a:r>
              <a:rPr sz="2800" spc="-4" dirty="0">
                <a:latin typeface="Times New Roman"/>
                <a:cs typeface="Times New Roman"/>
              </a:rPr>
              <a:t>DSSS)</a:t>
            </a:r>
            <a:r>
              <a:rPr sz="2800" dirty="0">
                <a:latin typeface="Times New Roman"/>
                <a:cs typeface="Times New Roman"/>
              </a:rPr>
              <a:t> </a:t>
            </a:r>
            <a:r>
              <a:rPr sz="2800" spc="-4" dirty="0">
                <a:latin typeface="Times New Roman"/>
                <a:cs typeface="Times New Roman"/>
              </a:rPr>
              <a:t>use a part</a:t>
            </a:r>
            <a:r>
              <a:rPr sz="2800" dirty="0">
                <a:latin typeface="Times New Roman"/>
                <a:cs typeface="Times New Roman"/>
              </a:rPr>
              <a:t> </a:t>
            </a:r>
            <a:r>
              <a:rPr sz="2800" spc="-4" dirty="0">
                <a:latin typeface="Times New Roman"/>
                <a:cs typeface="Times New Roman"/>
              </a:rPr>
              <a:t>of</a:t>
            </a:r>
            <a:r>
              <a:rPr lang="en-IN" sz="2800" spc="-4" dirty="0">
                <a:latin typeface="Times New Roman"/>
                <a:cs typeface="Times New Roman"/>
              </a:rPr>
              <a:t> </a:t>
            </a:r>
            <a:r>
              <a:rPr sz="2800" spc="-4" dirty="0">
                <a:latin typeface="Times New Roman"/>
                <a:cs typeface="Times New Roman"/>
              </a:rPr>
              <a:t>the spectrum </a:t>
            </a:r>
            <a:r>
              <a:rPr sz="2800" dirty="0">
                <a:latin typeface="Times New Roman"/>
                <a:cs typeface="Times New Roman"/>
              </a:rPr>
              <a:t>that </a:t>
            </a:r>
            <a:r>
              <a:rPr sz="2800" spc="-4" dirty="0">
                <a:latin typeface="Times New Roman"/>
                <a:cs typeface="Times New Roman"/>
              </a:rPr>
              <a:t>does</a:t>
            </a:r>
            <a:r>
              <a:rPr sz="2800" dirty="0">
                <a:latin typeface="Times New Roman"/>
                <a:cs typeface="Times New Roman"/>
              </a:rPr>
              <a:t> </a:t>
            </a:r>
            <a:r>
              <a:rPr sz="2800" spc="-4" dirty="0">
                <a:latin typeface="Times New Roman"/>
                <a:cs typeface="Times New Roman"/>
              </a:rPr>
              <a:t>not</a:t>
            </a:r>
            <a:r>
              <a:rPr sz="2800" dirty="0">
                <a:latin typeface="Times New Roman"/>
                <a:cs typeface="Times New Roman"/>
              </a:rPr>
              <a:t> </a:t>
            </a:r>
            <a:r>
              <a:rPr sz="2800" spc="-4" dirty="0">
                <a:latin typeface="Times New Roman"/>
                <a:cs typeface="Times New Roman"/>
              </a:rPr>
              <a:t>require licensing </a:t>
            </a:r>
            <a:r>
              <a:rPr sz="2800" dirty="0">
                <a:latin typeface="Times New Roman"/>
                <a:cs typeface="Times New Roman"/>
              </a:rPr>
              <a:t> </a:t>
            </a:r>
            <a:r>
              <a:rPr sz="2800" spc="-4" dirty="0">
                <a:latin typeface="Times New Roman"/>
                <a:cs typeface="Times New Roman"/>
              </a:rPr>
              <a:t>(the</a:t>
            </a:r>
            <a:r>
              <a:rPr sz="2800" spc="-9" dirty="0">
                <a:latin typeface="Times New Roman"/>
                <a:cs typeface="Times New Roman"/>
              </a:rPr>
              <a:t> </a:t>
            </a:r>
            <a:r>
              <a:rPr sz="2800" dirty="0">
                <a:latin typeface="Times New Roman"/>
                <a:cs typeface="Times New Roman"/>
              </a:rPr>
              <a:t>2.4-GHz</a:t>
            </a:r>
            <a:r>
              <a:rPr sz="2800" spc="-4" dirty="0">
                <a:latin typeface="Times New Roman"/>
                <a:cs typeface="Times New Roman"/>
              </a:rPr>
              <a:t> ISM</a:t>
            </a:r>
            <a:r>
              <a:rPr sz="2800" dirty="0">
                <a:latin typeface="Times New Roman"/>
                <a:cs typeface="Times New Roman"/>
              </a:rPr>
              <a:t> </a:t>
            </a:r>
            <a:r>
              <a:rPr sz="2800" spc="-4" dirty="0">
                <a:latin typeface="Times New Roman"/>
                <a:cs typeface="Times New Roman"/>
              </a:rPr>
              <a:t>band).</a:t>
            </a:r>
            <a:r>
              <a:rPr sz="2800" dirty="0">
                <a:latin typeface="Times New Roman"/>
                <a:cs typeface="Times New Roman"/>
              </a:rPr>
              <a:t> </a:t>
            </a:r>
            <a:endParaRPr lang="en-IN" sz="2800" dirty="0">
              <a:latin typeface="Times New Roman"/>
              <a:cs typeface="Times New Roman"/>
            </a:endParaRPr>
          </a:p>
          <a:p>
            <a:pPr marL="468332" marR="32281" indent="-457200" algn="just">
              <a:lnSpc>
                <a:spcPct val="120000"/>
              </a:lnSpc>
              <a:spcBef>
                <a:spcPts val="88"/>
              </a:spcBef>
              <a:buFont typeface="Arial" pitchFamily="34" charset="0"/>
              <a:buChar char="•"/>
            </a:pPr>
            <a:r>
              <a:rPr sz="2800" spc="-4" dirty="0">
                <a:latin typeface="Times New Roman"/>
                <a:cs typeface="Times New Roman"/>
              </a:rPr>
              <a:t>Radio-controlled </a:t>
            </a:r>
            <a:r>
              <a:rPr sz="2800" dirty="0">
                <a:latin typeface="Times New Roman"/>
                <a:cs typeface="Times New Roman"/>
              </a:rPr>
              <a:t> </a:t>
            </a:r>
            <a:r>
              <a:rPr sz="2800" spc="-4" dirty="0">
                <a:latin typeface="Times New Roman"/>
                <a:cs typeface="Times New Roman"/>
              </a:rPr>
              <a:t>garage</a:t>
            </a:r>
            <a:r>
              <a:rPr sz="2800" spc="9" dirty="0">
                <a:latin typeface="Times New Roman"/>
                <a:cs typeface="Times New Roman"/>
              </a:rPr>
              <a:t> </a:t>
            </a:r>
            <a:r>
              <a:rPr sz="2800" spc="-4" dirty="0">
                <a:latin typeface="Times New Roman"/>
                <a:cs typeface="Times New Roman"/>
              </a:rPr>
              <a:t>door</a:t>
            </a:r>
            <a:r>
              <a:rPr sz="2800" dirty="0">
                <a:latin typeface="Times New Roman"/>
                <a:cs typeface="Times New Roman"/>
              </a:rPr>
              <a:t> </a:t>
            </a:r>
            <a:r>
              <a:rPr sz="2800" spc="-4" dirty="0">
                <a:latin typeface="Times New Roman"/>
                <a:cs typeface="Times New Roman"/>
              </a:rPr>
              <a:t>openers</a:t>
            </a:r>
            <a:r>
              <a:rPr sz="2800" spc="4" dirty="0">
                <a:latin typeface="Times New Roman"/>
                <a:cs typeface="Times New Roman"/>
              </a:rPr>
              <a:t> </a:t>
            </a:r>
            <a:r>
              <a:rPr sz="2800" spc="-4" dirty="0">
                <a:latin typeface="Times New Roman"/>
                <a:cs typeface="Times New Roman"/>
              </a:rPr>
              <a:t>also</a:t>
            </a:r>
            <a:r>
              <a:rPr sz="2800" dirty="0">
                <a:latin typeface="Times New Roman"/>
                <a:cs typeface="Times New Roman"/>
              </a:rPr>
              <a:t> </a:t>
            </a:r>
            <a:r>
              <a:rPr sz="2800" spc="-4" dirty="0">
                <a:latin typeface="Times New Roman"/>
                <a:cs typeface="Times New Roman"/>
              </a:rPr>
              <a:t>use this</a:t>
            </a:r>
            <a:r>
              <a:rPr sz="2800" spc="4" dirty="0">
                <a:latin typeface="Times New Roman"/>
                <a:cs typeface="Times New Roman"/>
              </a:rPr>
              <a:t> </a:t>
            </a:r>
            <a:r>
              <a:rPr sz="2800" spc="-4" dirty="0">
                <a:latin typeface="Times New Roman"/>
                <a:cs typeface="Times New Roman"/>
              </a:rPr>
              <a:t>piece of</a:t>
            </a:r>
            <a:r>
              <a:rPr sz="2800" spc="4" dirty="0">
                <a:latin typeface="Times New Roman"/>
                <a:cs typeface="Times New Roman"/>
              </a:rPr>
              <a:t> </a:t>
            </a:r>
            <a:r>
              <a:rPr sz="2800" spc="-4" dirty="0">
                <a:latin typeface="Times New Roman"/>
                <a:cs typeface="Times New Roman"/>
              </a:rPr>
              <a:t>the </a:t>
            </a:r>
            <a:r>
              <a:rPr sz="2800" spc="-776" dirty="0">
                <a:latin typeface="Times New Roman"/>
                <a:cs typeface="Times New Roman"/>
              </a:rPr>
              <a:t> </a:t>
            </a:r>
            <a:r>
              <a:rPr sz="2800" spc="-4" dirty="0">
                <a:latin typeface="Times New Roman"/>
                <a:cs typeface="Times New Roman"/>
              </a:rPr>
              <a:t>spectrum, so</a:t>
            </a:r>
            <a:r>
              <a:rPr sz="2800" dirty="0">
                <a:latin typeface="Times New Roman"/>
                <a:cs typeface="Times New Roman"/>
              </a:rPr>
              <a:t> </a:t>
            </a:r>
            <a:r>
              <a:rPr sz="2800" spc="-4" dirty="0">
                <a:latin typeface="Times New Roman"/>
                <a:cs typeface="Times New Roman"/>
              </a:rPr>
              <a:t>your</a:t>
            </a:r>
            <a:r>
              <a:rPr sz="2800" dirty="0">
                <a:latin typeface="Times New Roman"/>
                <a:cs typeface="Times New Roman"/>
              </a:rPr>
              <a:t> </a:t>
            </a:r>
            <a:r>
              <a:rPr sz="2800" spc="-4" dirty="0">
                <a:latin typeface="Times New Roman"/>
                <a:cs typeface="Times New Roman"/>
              </a:rPr>
              <a:t>notebook</a:t>
            </a:r>
            <a:r>
              <a:rPr sz="2800" dirty="0">
                <a:latin typeface="Times New Roman"/>
                <a:cs typeface="Times New Roman"/>
              </a:rPr>
              <a:t> </a:t>
            </a:r>
            <a:r>
              <a:rPr sz="2800" spc="-4" dirty="0">
                <a:latin typeface="Times New Roman"/>
                <a:cs typeface="Times New Roman"/>
              </a:rPr>
              <a:t>computer</a:t>
            </a:r>
            <a:r>
              <a:rPr sz="2800" spc="9" dirty="0">
                <a:latin typeface="Times New Roman"/>
                <a:cs typeface="Times New Roman"/>
              </a:rPr>
              <a:t> </a:t>
            </a:r>
            <a:r>
              <a:rPr sz="2800" spc="-4" dirty="0">
                <a:latin typeface="Times New Roman"/>
                <a:cs typeface="Times New Roman"/>
              </a:rPr>
              <a:t>may </a:t>
            </a:r>
            <a:r>
              <a:rPr sz="2800" dirty="0">
                <a:latin typeface="Times New Roman"/>
                <a:cs typeface="Times New Roman"/>
              </a:rPr>
              <a:t> </a:t>
            </a:r>
            <a:r>
              <a:rPr sz="2800" spc="-4" dirty="0">
                <a:latin typeface="Times New Roman"/>
                <a:cs typeface="Times New Roman"/>
              </a:rPr>
              <a:t>find</a:t>
            </a:r>
            <a:r>
              <a:rPr sz="2800" dirty="0">
                <a:latin typeface="Times New Roman"/>
                <a:cs typeface="Times New Roman"/>
              </a:rPr>
              <a:t> </a:t>
            </a:r>
            <a:r>
              <a:rPr sz="2800" spc="-4" dirty="0">
                <a:latin typeface="Times New Roman"/>
                <a:cs typeface="Times New Roman"/>
              </a:rPr>
              <a:t>itself</a:t>
            </a:r>
            <a:r>
              <a:rPr sz="2800" spc="4" dirty="0">
                <a:latin typeface="Times New Roman"/>
                <a:cs typeface="Times New Roman"/>
              </a:rPr>
              <a:t> </a:t>
            </a:r>
            <a:r>
              <a:rPr sz="2800" spc="-4" dirty="0">
                <a:latin typeface="Times New Roman"/>
                <a:cs typeface="Times New Roman"/>
              </a:rPr>
              <a:t>in</a:t>
            </a:r>
            <a:r>
              <a:rPr sz="2800" dirty="0">
                <a:latin typeface="Times New Roman"/>
                <a:cs typeface="Times New Roman"/>
              </a:rPr>
              <a:t> </a:t>
            </a:r>
            <a:r>
              <a:rPr sz="2800" spc="-4" dirty="0">
                <a:latin typeface="Times New Roman"/>
                <a:cs typeface="Times New Roman"/>
              </a:rPr>
              <a:t>competition</a:t>
            </a:r>
            <a:r>
              <a:rPr sz="2800" spc="4" dirty="0">
                <a:latin typeface="Times New Roman"/>
                <a:cs typeface="Times New Roman"/>
              </a:rPr>
              <a:t> </a:t>
            </a:r>
            <a:r>
              <a:rPr sz="2800" spc="-4" dirty="0">
                <a:latin typeface="Times New Roman"/>
                <a:cs typeface="Times New Roman"/>
              </a:rPr>
              <a:t>with</a:t>
            </a:r>
            <a:r>
              <a:rPr sz="2800" dirty="0">
                <a:latin typeface="Times New Roman"/>
                <a:cs typeface="Times New Roman"/>
              </a:rPr>
              <a:t> </a:t>
            </a:r>
            <a:r>
              <a:rPr sz="2800" spc="-4" dirty="0">
                <a:latin typeface="Times New Roman"/>
                <a:cs typeface="Times New Roman"/>
              </a:rPr>
              <a:t>your</a:t>
            </a:r>
            <a:r>
              <a:rPr sz="2800" spc="4" dirty="0">
                <a:latin typeface="Times New Roman"/>
                <a:cs typeface="Times New Roman"/>
              </a:rPr>
              <a:t> </a:t>
            </a:r>
            <a:r>
              <a:rPr sz="2800" spc="-4" dirty="0">
                <a:latin typeface="Times New Roman"/>
                <a:cs typeface="Times New Roman"/>
              </a:rPr>
              <a:t>garage </a:t>
            </a:r>
            <a:r>
              <a:rPr sz="2800" dirty="0">
                <a:latin typeface="Times New Roman"/>
                <a:cs typeface="Times New Roman"/>
              </a:rPr>
              <a:t> </a:t>
            </a:r>
            <a:r>
              <a:rPr sz="2800" spc="-4" dirty="0">
                <a:latin typeface="Times New Roman"/>
                <a:cs typeface="Times New Roman"/>
              </a:rPr>
              <a:t>door.</a:t>
            </a:r>
            <a:endParaRPr sz="2800" dirty="0">
              <a:latin typeface="Times New Roman"/>
              <a:cs typeface="Times New Roman"/>
            </a:endParaRPr>
          </a:p>
        </p:txBody>
      </p:sp>
    </p:spTree>
    <p:extLst>
      <p:ext uri="{BB962C8B-B14F-4D97-AF65-F5344CB8AC3E}">
        <p14:creationId xmlns:p14="http://schemas.microsoft.com/office/powerpoint/2010/main" val="36576344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0861" y="446718"/>
            <a:ext cx="7171850" cy="734516"/>
          </a:xfrm>
          <a:prstGeom prst="rect">
            <a:avLst/>
          </a:prstGeom>
        </p:spPr>
        <p:txBody>
          <a:bodyPr vert="horz" wrap="square" lIns="0" tIns="11132" rIns="0" bIns="0" rtlCol="0">
            <a:spAutoFit/>
          </a:bodyPr>
          <a:lstStyle/>
          <a:p>
            <a:pPr marL="11132">
              <a:spcBef>
                <a:spcPts val="88"/>
              </a:spcBef>
            </a:pPr>
            <a:r>
              <a:rPr sz="4700" spc="-4" dirty="0"/>
              <a:t>The</a:t>
            </a:r>
            <a:r>
              <a:rPr sz="4700" spc="-13" dirty="0"/>
              <a:t> </a:t>
            </a:r>
            <a:r>
              <a:rPr sz="4700" spc="-4" dirty="0"/>
              <a:t>802.11 Physical Layer </a:t>
            </a:r>
            <a:endParaRPr sz="4700" dirty="0"/>
          </a:p>
        </p:txBody>
      </p:sp>
      <p:sp>
        <p:nvSpPr>
          <p:cNvPr id="3" name="object 3"/>
          <p:cNvSpPr txBox="1"/>
          <p:nvPr/>
        </p:nvSpPr>
        <p:spPr>
          <a:xfrm>
            <a:off x="595745" y="1252981"/>
            <a:ext cx="8104910" cy="3585782"/>
          </a:xfrm>
          <a:prstGeom prst="rect">
            <a:avLst/>
          </a:prstGeom>
        </p:spPr>
        <p:txBody>
          <a:bodyPr vert="horz" wrap="square" lIns="0" tIns="106863" rIns="0" bIns="0" rtlCol="0">
            <a:spAutoFit/>
          </a:bodyPr>
          <a:lstStyle/>
          <a:p>
            <a:pPr marL="445262" indent="-434130" algn="just">
              <a:spcBef>
                <a:spcPts val="841"/>
              </a:spcBef>
              <a:buClr>
                <a:srgbClr val="FF3200"/>
              </a:buClr>
              <a:buAutoNum type="arabicParenR" startAt="3"/>
              <a:tabLst>
                <a:tab pos="445262" algn="l"/>
              </a:tabLst>
            </a:pPr>
            <a:r>
              <a:rPr sz="2800" spc="-4" dirty="0">
                <a:latin typeface="Times New Roman"/>
                <a:cs typeface="Times New Roman"/>
              </a:rPr>
              <a:t>Higher</a:t>
            </a:r>
            <a:r>
              <a:rPr sz="2800" dirty="0">
                <a:latin typeface="Times New Roman"/>
                <a:cs typeface="Times New Roman"/>
              </a:rPr>
              <a:t> </a:t>
            </a:r>
            <a:r>
              <a:rPr sz="2800" spc="-4" dirty="0">
                <a:latin typeface="Times New Roman"/>
                <a:cs typeface="Times New Roman"/>
              </a:rPr>
              <a:t>bandwidth</a:t>
            </a:r>
            <a:r>
              <a:rPr sz="2800" spc="4" dirty="0">
                <a:latin typeface="Times New Roman"/>
                <a:cs typeface="Times New Roman"/>
              </a:rPr>
              <a:t> </a:t>
            </a:r>
            <a:r>
              <a:rPr sz="2800" spc="-4" dirty="0">
                <a:latin typeface="Times New Roman"/>
                <a:cs typeface="Times New Roman"/>
              </a:rPr>
              <a:t>method</a:t>
            </a:r>
            <a:r>
              <a:rPr sz="2800" dirty="0">
                <a:latin typeface="Times New Roman"/>
                <a:cs typeface="Times New Roman"/>
              </a:rPr>
              <a:t> </a:t>
            </a:r>
            <a:r>
              <a:rPr sz="2800" spc="-4" dirty="0">
                <a:latin typeface="Times New Roman"/>
                <a:cs typeface="Times New Roman"/>
              </a:rPr>
              <a:t>(3</a:t>
            </a:r>
            <a:r>
              <a:rPr sz="2800" spc="13" dirty="0">
                <a:latin typeface="Times New Roman"/>
                <a:cs typeface="Times New Roman"/>
              </a:rPr>
              <a:t> </a:t>
            </a:r>
            <a:r>
              <a:rPr sz="2800" spc="-4" dirty="0">
                <a:latin typeface="Times New Roman"/>
                <a:cs typeface="Times New Roman"/>
              </a:rPr>
              <a:t>techniques</a:t>
            </a:r>
            <a:r>
              <a:rPr sz="2800" spc="4" dirty="0">
                <a:latin typeface="Times New Roman"/>
                <a:cs typeface="Times New Roman"/>
              </a:rPr>
              <a:t> </a:t>
            </a:r>
            <a:r>
              <a:rPr sz="2800" spc="-4" dirty="0">
                <a:latin typeface="Times New Roman"/>
                <a:cs typeface="Times New Roman"/>
              </a:rPr>
              <a:t>)</a:t>
            </a:r>
            <a:endParaRPr sz="2800" dirty="0">
              <a:latin typeface="Times New Roman"/>
              <a:cs typeface="Times New Roman"/>
            </a:endParaRPr>
          </a:p>
          <a:p>
            <a:pPr marL="11132" marR="95175" lvl="1" algn="just">
              <a:lnSpc>
                <a:spcPct val="100099"/>
              </a:lnSpc>
              <a:spcBef>
                <a:spcPts val="754"/>
              </a:spcBef>
              <a:buClr>
                <a:srgbClr val="FF3200"/>
              </a:buClr>
              <a:buAutoNum type="alphaLcParenR"/>
              <a:tabLst>
                <a:tab pos="422999" algn="l"/>
              </a:tabLst>
            </a:pPr>
            <a:r>
              <a:rPr sz="2800" spc="-4" dirty="0">
                <a:latin typeface="Times New Roman"/>
                <a:cs typeface="Times New Roman"/>
              </a:rPr>
              <a:t>802.11a,</a:t>
            </a:r>
            <a:r>
              <a:rPr sz="2800" dirty="0">
                <a:latin typeface="Times New Roman"/>
                <a:cs typeface="Times New Roman"/>
              </a:rPr>
              <a:t> OFDM </a:t>
            </a:r>
            <a:r>
              <a:rPr sz="2800" spc="-4" dirty="0">
                <a:latin typeface="Times New Roman"/>
                <a:cs typeface="Times New Roman"/>
              </a:rPr>
              <a:t>(Orthogonal Frequency </a:t>
            </a:r>
            <a:r>
              <a:rPr sz="2800" dirty="0">
                <a:latin typeface="Times New Roman"/>
                <a:cs typeface="Times New Roman"/>
              </a:rPr>
              <a:t> </a:t>
            </a:r>
            <a:r>
              <a:rPr sz="2800" spc="-4" dirty="0">
                <a:latin typeface="Times New Roman"/>
                <a:cs typeface="Times New Roman"/>
              </a:rPr>
              <a:t>Division Multiplexing)</a:t>
            </a:r>
            <a:r>
              <a:rPr sz="2800" spc="9" dirty="0">
                <a:latin typeface="Times New Roman"/>
                <a:cs typeface="Times New Roman"/>
              </a:rPr>
              <a:t> </a:t>
            </a:r>
            <a:r>
              <a:rPr sz="2800" spc="-4" dirty="0">
                <a:latin typeface="Times New Roman"/>
                <a:cs typeface="Times New Roman"/>
              </a:rPr>
              <a:t>is</a:t>
            </a:r>
            <a:r>
              <a:rPr sz="2800" dirty="0">
                <a:latin typeface="Times New Roman"/>
                <a:cs typeface="Times New Roman"/>
              </a:rPr>
              <a:t> </a:t>
            </a:r>
            <a:r>
              <a:rPr sz="2800" spc="-4" dirty="0">
                <a:latin typeface="Times New Roman"/>
                <a:cs typeface="Times New Roman"/>
              </a:rPr>
              <a:t>used</a:t>
            </a:r>
            <a:r>
              <a:rPr sz="2800" dirty="0">
                <a:latin typeface="Times New Roman"/>
                <a:cs typeface="Times New Roman"/>
              </a:rPr>
              <a:t> </a:t>
            </a:r>
            <a:r>
              <a:rPr sz="2800" spc="-4" dirty="0">
                <a:latin typeface="Times New Roman"/>
                <a:cs typeface="Times New Roman"/>
              </a:rPr>
              <a:t>to</a:t>
            </a:r>
            <a:r>
              <a:rPr sz="2800" dirty="0">
                <a:latin typeface="Times New Roman"/>
                <a:cs typeface="Times New Roman"/>
              </a:rPr>
              <a:t> </a:t>
            </a:r>
            <a:r>
              <a:rPr sz="2800" spc="-4" dirty="0">
                <a:latin typeface="Times New Roman"/>
                <a:cs typeface="Times New Roman"/>
              </a:rPr>
              <a:t>deliver</a:t>
            </a:r>
            <a:r>
              <a:rPr sz="2800" dirty="0">
                <a:latin typeface="Times New Roman"/>
                <a:cs typeface="Times New Roman"/>
              </a:rPr>
              <a:t> </a:t>
            </a:r>
            <a:r>
              <a:rPr sz="2800" spc="-4" dirty="0">
                <a:latin typeface="Times New Roman"/>
                <a:cs typeface="Times New Roman"/>
              </a:rPr>
              <a:t>up </a:t>
            </a:r>
            <a:r>
              <a:rPr sz="2800" spc="-776" dirty="0">
                <a:latin typeface="Times New Roman"/>
                <a:cs typeface="Times New Roman"/>
              </a:rPr>
              <a:t> </a:t>
            </a:r>
            <a:r>
              <a:rPr sz="2800" spc="-4" dirty="0">
                <a:latin typeface="Times New Roman"/>
                <a:cs typeface="Times New Roman"/>
              </a:rPr>
              <a:t>to 54</a:t>
            </a:r>
            <a:r>
              <a:rPr sz="2800" dirty="0">
                <a:latin typeface="Times New Roman"/>
                <a:cs typeface="Times New Roman"/>
              </a:rPr>
              <a:t> </a:t>
            </a:r>
            <a:r>
              <a:rPr sz="2800" spc="-4" dirty="0">
                <a:latin typeface="Times New Roman"/>
                <a:cs typeface="Times New Roman"/>
              </a:rPr>
              <a:t>Mbps in</a:t>
            </a:r>
            <a:r>
              <a:rPr sz="2800" dirty="0">
                <a:latin typeface="Times New Roman"/>
                <a:cs typeface="Times New Roman"/>
              </a:rPr>
              <a:t> </a:t>
            </a:r>
            <a:r>
              <a:rPr sz="2800" spc="-4" dirty="0">
                <a:latin typeface="Times New Roman"/>
                <a:cs typeface="Times New Roman"/>
              </a:rPr>
              <a:t>the </a:t>
            </a:r>
            <a:r>
              <a:rPr sz="2800" dirty="0">
                <a:latin typeface="Times New Roman"/>
                <a:cs typeface="Times New Roman"/>
              </a:rPr>
              <a:t>wider</a:t>
            </a:r>
            <a:r>
              <a:rPr sz="2800" spc="-4" dirty="0">
                <a:latin typeface="Times New Roman"/>
                <a:cs typeface="Times New Roman"/>
              </a:rPr>
              <a:t> 5</a:t>
            </a:r>
            <a:r>
              <a:rPr sz="2800" dirty="0">
                <a:latin typeface="Times New Roman"/>
                <a:cs typeface="Times New Roman"/>
              </a:rPr>
              <a:t> GHz</a:t>
            </a:r>
            <a:r>
              <a:rPr sz="2800" spc="-4" dirty="0">
                <a:latin typeface="Times New Roman"/>
                <a:cs typeface="Times New Roman"/>
              </a:rPr>
              <a:t> ISM band.</a:t>
            </a:r>
            <a:endParaRPr sz="2800" dirty="0">
              <a:latin typeface="Times New Roman"/>
              <a:cs typeface="Times New Roman"/>
            </a:endParaRPr>
          </a:p>
          <a:p>
            <a:pPr marL="11132" marR="27829" algn="just">
              <a:lnSpc>
                <a:spcPct val="100200"/>
              </a:lnSpc>
              <a:spcBef>
                <a:spcPts val="2783"/>
              </a:spcBef>
            </a:pPr>
            <a:r>
              <a:rPr sz="2800" spc="-4" dirty="0">
                <a:latin typeface="Times New Roman"/>
                <a:cs typeface="Times New Roman"/>
              </a:rPr>
              <a:t>Splitting</a:t>
            </a:r>
            <a:r>
              <a:rPr sz="2800" dirty="0">
                <a:latin typeface="Times New Roman"/>
                <a:cs typeface="Times New Roman"/>
              </a:rPr>
              <a:t> </a:t>
            </a:r>
            <a:r>
              <a:rPr sz="2800" spc="-4" dirty="0">
                <a:latin typeface="Times New Roman"/>
                <a:cs typeface="Times New Roman"/>
              </a:rPr>
              <a:t>the signal into</a:t>
            </a:r>
            <a:r>
              <a:rPr sz="2800" spc="13" dirty="0">
                <a:latin typeface="Times New Roman"/>
                <a:cs typeface="Times New Roman"/>
              </a:rPr>
              <a:t> </a:t>
            </a:r>
            <a:r>
              <a:rPr sz="2800" spc="-4" dirty="0">
                <a:latin typeface="Times New Roman"/>
                <a:cs typeface="Times New Roman"/>
              </a:rPr>
              <a:t>many</a:t>
            </a:r>
            <a:r>
              <a:rPr sz="2800" dirty="0">
                <a:latin typeface="Times New Roman"/>
                <a:cs typeface="Times New Roman"/>
              </a:rPr>
              <a:t> </a:t>
            </a:r>
            <a:r>
              <a:rPr sz="2800" spc="-4" dirty="0">
                <a:latin typeface="Times New Roman"/>
                <a:cs typeface="Times New Roman"/>
              </a:rPr>
              <a:t>narrow</a:t>
            </a:r>
            <a:r>
              <a:rPr sz="2800" dirty="0">
                <a:latin typeface="Times New Roman"/>
                <a:cs typeface="Times New Roman"/>
              </a:rPr>
              <a:t> </a:t>
            </a:r>
            <a:r>
              <a:rPr sz="2800" spc="-4" dirty="0">
                <a:latin typeface="Times New Roman"/>
                <a:cs typeface="Times New Roman"/>
              </a:rPr>
              <a:t>bands </a:t>
            </a:r>
            <a:r>
              <a:rPr sz="2800" dirty="0">
                <a:latin typeface="Times New Roman"/>
                <a:cs typeface="Times New Roman"/>
              </a:rPr>
              <a:t> </a:t>
            </a:r>
            <a:r>
              <a:rPr sz="2800" spc="-4" dirty="0">
                <a:latin typeface="Times New Roman"/>
                <a:cs typeface="Times New Roman"/>
              </a:rPr>
              <a:t>has</a:t>
            </a:r>
            <a:r>
              <a:rPr sz="2800" spc="88" dirty="0">
                <a:latin typeface="Times New Roman"/>
                <a:cs typeface="Times New Roman"/>
              </a:rPr>
              <a:t> </a:t>
            </a:r>
            <a:r>
              <a:rPr sz="2800" spc="-4" dirty="0">
                <a:latin typeface="Times New Roman"/>
                <a:cs typeface="Times New Roman"/>
              </a:rPr>
              <a:t>some</a:t>
            </a:r>
            <a:r>
              <a:rPr sz="2800" spc="88" dirty="0">
                <a:latin typeface="Times New Roman"/>
                <a:cs typeface="Times New Roman"/>
              </a:rPr>
              <a:t> </a:t>
            </a:r>
            <a:r>
              <a:rPr sz="2800" spc="-4" dirty="0">
                <a:latin typeface="Times New Roman"/>
                <a:cs typeface="Times New Roman"/>
              </a:rPr>
              <a:t>key</a:t>
            </a:r>
            <a:r>
              <a:rPr sz="2800" spc="92" dirty="0">
                <a:latin typeface="Times New Roman"/>
                <a:cs typeface="Times New Roman"/>
              </a:rPr>
              <a:t> </a:t>
            </a:r>
            <a:r>
              <a:rPr sz="2800" spc="-4" dirty="0">
                <a:latin typeface="Times New Roman"/>
                <a:cs typeface="Times New Roman"/>
              </a:rPr>
              <a:t>advantages</a:t>
            </a:r>
            <a:r>
              <a:rPr sz="2800" spc="88" dirty="0">
                <a:latin typeface="Times New Roman"/>
                <a:cs typeface="Times New Roman"/>
              </a:rPr>
              <a:t> </a:t>
            </a:r>
            <a:r>
              <a:rPr sz="2800" spc="-4" dirty="0">
                <a:latin typeface="Times New Roman"/>
                <a:cs typeface="Times New Roman"/>
              </a:rPr>
              <a:t>over</a:t>
            </a:r>
            <a:r>
              <a:rPr sz="2800" spc="92" dirty="0">
                <a:latin typeface="Times New Roman"/>
                <a:cs typeface="Times New Roman"/>
              </a:rPr>
              <a:t> </a:t>
            </a:r>
            <a:r>
              <a:rPr sz="2800" spc="-4" dirty="0">
                <a:latin typeface="Times New Roman"/>
                <a:cs typeface="Times New Roman"/>
              </a:rPr>
              <a:t>using</a:t>
            </a:r>
            <a:r>
              <a:rPr sz="2800" spc="92" dirty="0">
                <a:latin typeface="Times New Roman"/>
                <a:cs typeface="Times New Roman"/>
              </a:rPr>
              <a:t> </a:t>
            </a:r>
            <a:r>
              <a:rPr sz="2800" spc="-4" dirty="0">
                <a:latin typeface="Times New Roman"/>
                <a:cs typeface="Times New Roman"/>
              </a:rPr>
              <a:t>a </a:t>
            </a:r>
            <a:r>
              <a:rPr sz="2800" dirty="0">
                <a:latin typeface="Times New Roman"/>
                <a:cs typeface="Times New Roman"/>
              </a:rPr>
              <a:t> </a:t>
            </a:r>
            <a:r>
              <a:rPr sz="2800" spc="-4" dirty="0">
                <a:latin typeface="Times New Roman"/>
                <a:cs typeface="Times New Roman"/>
              </a:rPr>
              <a:t>single wide </a:t>
            </a:r>
            <a:r>
              <a:rPr sz="2800" dirty="0">
                <a:latin typeface="Times New Roman"/>
                <a:cs typeface="Times New Roman"/>
              </a:rPr>
              <a:t>band,</a:t>
            </a:r>
            <a:r>
              <a:rPr sz="2800" spc="4" dirty="0">
                <a:latin typeface="Times New Roman"/>
                <a:cs typeface="Times New Roman"/>
              </a:rPr>
              <a:t> </a:t>
            </a:r>
            <a:r>
              <a:rPr sz="2800" spc="-4" dirty="0">
                <a:latin typeface="Times New Roman"/>
                <a:cs typeface="Times New Roman"/>
              </a:rPr>
              <a:t>including better</a:t>
            </a:r>
            <a:r>
              <a:rPr sz="2800" dirty="0">
                <a:latin typeface="Times New Roman"/>
                <a:cs typeface="Times New Roman"/>
              </a:rPr>
              <a:t> </a:t>
            </a:r>
            <a:r>
              <a:rPr sz="2800" spc="-4" dirty="0">
                <a:latin typeface="Times New Roman"/>
                <a:cs typeface="Times New Roman"/>
              </a:rPr>
              <a:t>immunity </a:t>
            </a:r>
            <a:r>
              <a:rPr sz="2800" spc="-776" dirty="0">
                <a:latin typeface="Times New Roman"/>
                <a:cs typeface="Times New Roman"/>
              </a:rPr>
              <a:t> </a:t>
            </a:r>
            <a:r>
              <a:rPr sz="2800" spc="-4" dirty="0">
                <a:latin typeface="Times New Roman"/>
                <a:cs typeface="Times New Roman"/>
              </a:rPr>
              <a:t>to narrowband</a:t>
            </a:r>
            <a:r>
              <a:rPr sz="2800" dirty="0">
                <a:latin typeface="Times New Roman"/>
                <a:cs typeface="Times New Roman"/>
              </a:rPr>
              <a:t> </a:t>
            </a:r>
            <a:r>
              <a:rPr sz="2800" spc="-4" dirty="0">
                <a:latin typeface="Times New Roman"/>
                <a:cs typeface="Times New Roman"/>
              </a:rPr>
              <a:t>interference</a:t>
            </a:r>
            <a:endParaRPr sz="2800" dirty="0">
              <a:latin typeface="Times New Roman"/>
              <a:cs typeface="Times New Roman"/>
            </a:endParaRPr>
          </a:p>
        </p:txBody>
      </p:sp>
    </p:spTree>
    <p:extLst>
      <p:ext uri="{BB962C8B-B14F-4D97-AF65-F5344CB8AC3E}">
        <p14:creationId xmlns:p14="http://schemas.microsoft.com/office/powerpoint/2010/main" val="11959943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0861" y="446718"/>
            <a:ext cx="7171850" cy="734516"/>
          </a:xfrm>
          <a:prstGeom prst="rect">
            <a:avLst/>
          </a:prstGeom>
        </p:spPr>
        <p:txBody>
          <a:bodyPr vert="horz" wrap="square" lIns="0" tIns="11132" rIns="0" bIns="0" rtlCol="0">
            <a:spAutoFit/>
          </a:bodyPr>
          <a:lstStyle/>
          <a:p>
            <a:pPr marL="11132">
              <a:spcBef>
                <a:spcPts val="88"/>
              </a:spcBef>
            </a:pPr>
            <a:r>
              <a:rPr sz="4700" spc="-4" dirty="0"/>
              <a:t>The</a:t>
            </a:r>
            <a:r>
              <a:rPr sz="4700" spc="-13" dirty="0"/>
              <a:t> </a:t>
            </a:r>
            <a:r>
              <a:rPr sz="4700" spc="-4" dirty="0"/>
              <a:t>802.11 Physical Layer </a:t>
            </a:r>
            <a:endParaRPr sz="4700" dirty="0"/>
          </a:p>
        </p:txBody>
      </p:sp>
      <p:sp>
        <p:nvSpPr>
          <p:cNvPr id="3" name="object 3"/>
          <p:cNvSpPr txBox="1"/>
          <p:nvPr/>
        </p:nvSpPr>
        <p:spPr>
          <a:xfrm>
            <a:off x="1091437" y="1252981"/>
            <a:ext cx="7581508" cy="4375742"/>
          </a:xfrm>
          <a:prstGeom prst="rect">
            <a:avLst/>
          </a:prstGeom>
        </p:spPr>
        <p:txBody>
          <a:bodyPr vert="horz" wrap="square" lIns="0" tIns="106863" rIns="0" bIns="0" rtlCol="0">
            <a:spAutoFit/>
          </a:bodyPr>
          <a:lstStyle/>
          <a:p>
            <a:pPr marL="11132" algn="just">
              <a:spcBef>
                <a:spcPts val="841"/>
              </a:spcBef>
            </a:pPr>
            <a:r>
              <a:rPr sz="2800" spc="-4" dirty="0">
                <a:solidFill>
                  <a:srgbClr val="FF3200"/>
                </a:solidFill>
                <a:latin typeface="Times New Roman"/>
                <a:cs typeface="Times New Roman"/>
              </a:rPr>
              <a:t>3)</a:t>
            </a:r>
            <a:r>
              <a:rPr sz="2800" dirty="0">
                <a:solidFill>
                  <a:srgbClr val="FF3200"/>
                </a:solidFill>
                <a:latin typeface="Times New Roman"/>
                <a:cs typeface="Times New Roman"/>
              </a:rPr>
              <a:t> </a:t>
            </a:r>
            <a:r>
              <a:rPr sz="2800" spc="-4" dirty="0">
                <a:latin typeface="Times New Roman"/>
                <a:cs typeface="Times New Roman"/>
              </a:rPr>
              <a:t>Higher</a:t>
            </a:r>
            <a:r>
              <a:rPr sz="2800" spc="4" dirty="0">
                <a:latin typeface="Times New Roman"/>
                <a:cs typeface="Times New Roman"/>
              </a:rPr>
              <a:t> </a:t>
            </a:r>
            <a:r>
              <a:rPr sz="2800" spc="-4" dirty="0">
                <a:latin typeface="Times New Roman"/>
                <a:cs typeface="Times New Roman"/>
              </a:rPr>
              <a:t>bandwidth</a:t>
            </a:r>
            <a:r>
              <a:rPr sz="2800" spc="4" dirty="0">
                <a:latin typeface="Times New Roman"/>
                <a:cs typeface="Times New Roman"/>
              </a:rPr>
              <a:t> </a:t>
            </a:r>
            <a:r>
              <a:rPr sz="2800" spc="-4" dirty="0">
                <a:latin typeface="Times New Roman"/>
                <a:cs typeface="Times New Roman"/>
              </a:rPr>
              <a:t>method</a:t>
            </a:r>
            <a:r>
              <a:rPr sz="2800" spc="4" dirty="0">
                <a:latin typeface="Times New Roman"/>
                <a:cs typeface="Times New Roman"/>
              </a:rPr>
              <a:t> </a:t>
            </a:r>
            <a:r>
              <a:rPr sz="2800" spc="-4" dirty="0">
                <a:latin typeface="Times New Roman"/>
                <a:cs typeface="Times New Roman"/>
              </a:rPr>
              <a:t>(3</a:t>
            </a:r>
            <a:r>
              <a:rPr sz="2800" spc="13" dirty="0">
                <a:latin typeface="Times New Roman"/>
                <a:cs typeface="Times New Roman"/>
              </a:rPr>
              <a:t> </a:t>
            </a:r>
            <a:r>
              <a:rPr sz="2800" spc="-4" dirty="0">
                <a:latin typeface="Times New Roman"/>
                <a:cs typeface="Times New Roman"/>
              </a:rPr>
              <a:t>techniques</a:t>
            </a:r>
            <a:r>
              <a:rPr sz="2800" dirty="0">
                <a:latin typeface="Times New Roman"/>
                <a:cs typeface="Times New Roman"/>
              </a:rPr>
              <a:t> </a:t>
            </a:r>
            <a:r>
              <a:rPr sz="2800" spc="-4" dirty="0">
                <a:latin typeface="Times New Roman"/>
                <a:cs typeface="Times New Roman"/>
              </a:rPr>
              <a:t>)</a:t>
            </a:r>
            <a:endParaRPr sz="2800" dirty="0">
              <a:latin typeface="Times New Roman"/>
              <a:cs typeface="Times New Roman"/>
            </a:endParaRPr>
          </a:p>
          <a:p>
            <a:pPr marL="11132" marR="60110" indent="-557" algn="just">
              <a:lnSpc>
                <a:spcPct val="100200"/>
              </a:lnSpc>
              <a:spcBef>
                <a:spcPts val="754"/>
              </a:spcBef>
            </a:pPr>
            <a:r>
              <a:rPr sz="2800" spc="-4" dirty="0">
                <a:solidFill>
                  <a:srgbClr val="FF3200"/>
                </a:solidFill>
                <a:latin typeface="Times New Roman"/>
                <a:cs typeface="Times New Roman"/>
              </a:rPr>
              <a:t>b) </a:t>
            </a:r>
            <a:r>
              <a:rPr sz="2800" spc="-4" dirty="0">
                <a:latin typeface="Times New Roman"/>
                <a:cs typeface="Times New Roman"/>
              </a:rPr>
              <a:t>802.11b,</a:t>
            </a:r>
            <a:r>
              <a:rPr sz="2800" dirty="0">
                <a:latin typeface="Times New Roman"/>
                <a:cs typeface="Times New Roman"/>
              </a:rPr>
              <a:t> HR-DSSS</a:t>
            </a:r>
            <a:r>
              <a:rPr sz="2800" spc="-4" dirty="0">
                <a:latin typeface="Times New Roman"/>
                <a:cs typeface="Times New Roman"/>
              </a:rPr>
              <a:t> (High</a:t>
            </a:r>
            <a:r>
              <a:rPr sz="2800" dirty="0">
                <a:latin typeface="Times New Roman"/>
                <a:cs typeface="Times New Roman"/>
              </a:rPr>
              <a:t> </a:t>
            </a:r>
            <a:r>
              <a:rPr sz="2800" spc="-4" dirty="0">
                <a:latin typeface="Times New Roman"/>
                <a:cs typeface="Times New Roman"/>
              </a:rPr>
              <a:t>Rate</a:t>
            </a:r>
            <a:r>
              <a:rPr sz="2800" spc="-9" dirty="0">
                <a:latin typeface="Times New Roman"/>
                <a:cs typeface="Times New Roman"/>
              </a:rPr>
              <a:t> </a:t>
            </a:r>
            <a:r>
              <a:rPr sz="2800" spc="-4" dirty="0">
                <a:latin typeface="Times New Roman"/>
                <a:cs typeface="Times New Roman"/>
              </a:rPr>
              <a:t>Direct </a:t>
            </a:r>
            <a:r>
              <a:rPr sz="2800" dirty="0">
                <a:latin typeface="Times New Roman"/>
                <a:cs typeface="Times New Roman"/>
              </a:rPr>
              <a:t> </a:t>
            </a:r>
            <a:r>
              <a:rPr sz="2800" spc="-4" dirty="0">
                <a:latin typeface="Times New Roman"/>
                <a:cs typeface="Times New Roman"/>
              </a:rPr>
              <a:t>Sequence Spread</a:t>
            </a:r>
            <a:r>
              <a:rPr sz="2800" spc="4" dirty="0">
                <a:latin typeface="Times New Roman"/>
                <a:cs typeface="Times New Roman"/>
              </a:rPr>
              <a:t> </a:t>
            </a:r>
            <a:r>
              <a:rPr sz="2800" spc="-4" dirty="0">
                <a:latin typeface="Times New Roman"/>
                <a:cs typeface="Times New Roman"/>
              </a:rPr>
              <a:t>Spectrum)</a:t>
            </a:r>
            <a:r>
              <a:rPr sz="2800" spc="4" dirty="0">
                <a:latin typeface="Times New Roman"/>
                <a:cs typeface="Times New Roman"/>
              </a:rPr>
              <a:t> </a:t>
            </a:r>
            <a:r>
              <a:rPr sz="2800" spc="-4" dirty="0">
                <a:latin typeface="Times New Roman"/>
                <a:cs typeface="Times New Roman"/>
              </a:rPr>
              <a:t>uses</a:t>
            </a:r>
            <a:r>
              <a:rPr sz="2800" spc="4" dirty="0">
                <a:latin typeface="Times New Roman"/>
                <a:cs typeface="Times New Roman"/>
              </a:rPr>
              <a:t> </a:t>
            </a:r>
            <a:r>
              <a:rPr sz="2800" spc="-4" dirty="0">
                <a:latin typeface="Times New Roman"/>
                <a:cs typeface="Times New Roman"/>
              </a:rPr>
              <a:t>11</a:t>
            </a:r>
            <a:r>
              <a:rPr sz="2800" dirty="0">
                <a:latin typeface="Times New Roman"/>
                <a:cs typeface="Times New Roman"/>
              </a:rPr>
              <a:t> </a:t>
            </a:r>
            <a:r>
              <a:rPr sz="2800" spc="-4" dirty="0">
                <a:latin typeface="Times New Roman"/>
                <a:cs typeface="Times New Roman"/>
              </a:rPr>
              <a:t>million </a:t>
            </a:r>
            <a:r>
              <a:rPr sz="2800" spc="-776" dirty="0">
                <a:latin typeface="Times New Roman"/>
                <a:cs typeface="Times New Roman"/>
              </a:rPr>
              <a:t> </a:t>
            </a:r>
            <a:r>
              <a:rPr sz="2800" spc="-4" dirty="0">
                <a:latin typeface="Times New Roman"/>
                <a:cs typeface="Times New Roman"/>
              </a:rPr>
              <a:t>chips/sec to</a:t>
            </a:r>
            <a:r>
              <a:rPr sz="2800" dirty="0">
                <a:latin typeface="Times New Roman"/>
                <a:cs typeface="Times New Roman"/>
              </a:rPr>
              <a:t> </a:t>
            </a:r>
            <a:r>
              <a:rPr sz="2800" spc="-4" dirty="0">
                <a:latin typeface="Times New Roman"/>
                <a:cs typeface="Times New Roman"/>
              </a:rPr>
              <a:t>achieve 11</a:t>
            </a:r>
            <a:r>
              <a:rPr sz="2800" spc="9" dirty="0">
                <a:latin typeface="Times New Roman"/>
                <a:cs typeface="Times New Roman"/>
              </a:rPr>
              <a:t> </a:t>
            </a:r>
            <a:r>
              <a:rPr sz="2800" spc="-4" dirty="0">
                <a:latin typeface="Times New Roman"/>
                <a:cs typeface="Times New Roman"/>
              </a:rPr>
              <a:t>Mbps</a:t>
            </a:r>
            <a:r>
              <a:rPr sz="2800" spc="4" dirty="0">
                <a:latin typeface="Times New Roman"/>
                <a:cs typeface="Times New Roman"/>
              </a:rPr>
              <a:t> </a:t>
            </a:r>
            <a:r>
              <a:rPr sz="2800" spc="-4" dirty="0">
                <a:latin typeface="Times New Roman"/>
                <a:cs typeface="Times New Roman"/>
              </a:rPr>
              <a:t>in</a:t>
            </a:r>
            <a:r>
              <a:rPr sz="2800" dirty="0">
                <a:latin typeface="Times New Roman"/>
                <a:cs typeface="Times New Roman"/>
              </a:rPr>
              <a:t> </a:t>
            </a:r>
            <a:r>
              <a:rPr sz="2800" spc="-4" dirty="0">
                <a:latin typeface="Times New Roman"/>
                <a:cs typeface="Times New Roman"/>
              </a:rPr>
              <a:t>the 2.4- </a:t>
            </a:r>
            <a:r>
              <a:rPr sz="2800" dirty="0">
                <a:latin typeface="Times New Roman"/>
                <a:cs typeface="Times New Roman"/>
              </a:rPr>
              <a:t> GHz</a:t>
            </a:r>
            <a:r>
              <a:rPr sz="2800" spc="-9" dirty="0">
                <a:latin typeface="Times New Roman"/>
                <a:cs typeface="Times New Roman"/>
              </a:rPr>
              <a:t> </a:t>
            </a:r>
            <a:r>
              <a:rPr sz="2800" spc="-4" dirty="0">
                <a:latin typeface="Times New Roman"/>
                <a:cs typeface="Times New Roman"/>
              </a:rPr>
              <a:t>band.</a:t>
            </a:r>
            <a:endParaRPr sz="2800" dirty="0">
              <a:latin typeface="Times New Roman"/>
              <a:cs typeface="Times New Roman"/>
            </a:endParaRPr>
          </a:p>
          <a:p>
            <a:pPr marL="11132" marR="371237" algn="just">
              <a:spcBef>
                <a:spcPts val="2787"/>
              </a:spcBef>
            </a:pPr>
            <a:r>
              <a:rPr sz="2800" spc="-4" dirty="0">
                <a:latin typeface="Times New Roman"/>
                <a:cs typeface="Times New Roman"/>
              </a:rPr>
              <a:t>Although</a:t>
            </a:r>
            <a:r>
              <a:rPr sz="2800" dirty="0">
                <a:latin typeface="Times New Roman"/>
                <a:cs typeface="Times New Roman"/>
              </a:rPr>
              <a:t> </a:t>
            </a:r>
            <a:r>
              <a:rPr sz="2800" spc="-4" dirty="0">
                <a:latin typeface="Times New Roman"/>
                <a:cs typeface="Times New Roman"/>
              </a:rPr>
              <a:t>802.11b</a:t>
            </a:r>
            <a:r>
              <a:rPr sz="2800" dirty="0">
                <a:latin typeface="Times New Roman"/>
                <a:cs typeface="Times New Roman"/>
              </a:rPr>
              <a:t> </a:t>
            </a:r>
            <a:r>
              <a:rPr sz="2800" spc="-4" dirty="0">
                <a:latin typeface="Times New Roman"/>
                <a:cs typeface="Times New Roman"/>
              </a:rPr>
              <a:t>is</a:t>
            </a:r>
            <a:r>
              <a:rPr sz="2800" dirty="0">
                <a:latin typeface="Times New Roman"/>
                <a:cs typeface="Times New Roman"/>
              </a:rPr>
              <a:t> </a:t>
            </a:r>
            <a:r>
              <a:rPr sz="2800" spc="-4" dirty="0">
                <a:latin typeface="Times New Roman"/>
                <a:cs typeface="Times New Roman"/>
              </a:rPr>
              <a:t>slower</a:t>
            </a:r>
            <a:r>
              <a:rPr sz="2800" dirty="0">
                <a:latin typeface="Times New Roman"/>
                <a:cs typeface="Times New Roman"/>
              </a:rPr>
              <a:t> than </a:t>
            </a:r>
            <a:r>
              <a:rPr sz="2800" spc="-4" dirty="0">
                <a:latin typeface="Times New Roman"/>
                <a:cs typeface="Times New Roman"/>
              </a:rPr>
              <a:t>802.11a, </a:t>
            </a:r>
            <a:r>
              <a:rPr sz="2800" spc="-776" dirty="0">
                <a:latin typeface="Times New Roman"/>
                <a:cs typeface="Times New Roman"/>
              </a:rPr>
              <a:t> </a:t>
            </a:r>
            <a:r>
              <a:rPr sz="2800" spc="-4" dirty="0">
                <a:latin typeface="Times New Roman"/>
                <a:cs typeface="Times New Roman"/>
              </a:rPr>
              <a:t>its</a:t>
            </a:r>
            <a:r>
              <a:rPr sz="2800" spc="-9" dirty="0">
                <a:latin typeface="Times New Roman"/>
                <a:cs typeface="Times New Roman"/>
              </a:rPr>
              <a:t> </a:t>
            </a:r>
            <a:r>
              <a:rPr sz="2800" dirty="0">
                <a:latin typeface="Times New Roman"/>
                <a:cs typeface="Times New Roman"/>
              </a:rPr>
              <a:t>range</a:t>
            </a:r>
            <a:r>
              <a:rPr sz="2800" spc="-9" dirty="0">
                <a:latin typeface="Times New Roman"/>
                <a:cs typeface="Times New Roman"/>
              </a:rPr>
              <a:t> </a:t>
            </a:r>
            <a:r>
              <a:rPr sz="2800" spc="-4" dirty="0">
                <a:latin typeface="Times New Roman"/>
                <a:cs typeface="Times New Roman"/>
              </a:rPr>
              <a:t>is </a:t>
            </a:r>
            <a:r>
              <a:rPr sz="2800" dirty="0">
                <a:latin typeface="Times New Roman"/>
                <a:cs typeface="Times New Roman"/>
              </a:rPr>
              <a:t>about</a:t>
            </a:r>
            <a:r>
              <a:rPr sz="2800" spc="-9" dirty="0">
                <a:latin typeface="Times New Roman"/>
                <a:cs typeface="Times New Roman"/>
              </a:rPr>
              <a:t> </a:t>
            </a:r>
            <a:r>
              <a:rPr sz="2800" spc="-4" dirty="0">
                <a:latin typeface="Times New Roman"/>
                <a:cs typeface="Times New Roman"/>
              </a:rPr>
              <a:t>7 times greater, </a:t>
            </a:r>
            <a:r>
              <a:rPr sz="2800" dirty="0">
                <a:latin typeface="Times New Roman"/>
                <a:cs typeface="Times New Roman"/>
              </a:rPr>
              <a:t>which</a:t>
            </a:r>
            <a:r>
              <a:rPr sz="2800" spc="-4" dirty="0">
                <a:latin typeface="Times New Roman"/>
                <a:cs typeface="Times New Roman"/>
              </a:rPr>
              <a:t> is</a:t>
            </a:r>
            <a:r>
              <a:rPr lang="en-IN" sz="2800" spc="-4" dirty="0">
                <a:latin typeface="Times New Roman"/>
                <a:cs typeface="Times New Roman"/>
              </a:rPr>
              <a:t> more</a:t>
            </a:r>
            <a:r>
              <a:rPr lang="en-IN" sz="2800" spc="-13" dirty="0">
                <a:latin typeface="Times New Roman"/>
                <a:cs typeface="Times New Roman"/>
              </a:rPr>
              <a:t> </a:t>
            </a:r>
            <a:r>
              <a:rPr lang="en-IN" sz="2800" spc="-4" dirty="0">
                <a:latin typeface="Times New Roman"/>
                <a:cs typeface="Times New Roman"/>
              </a:rPr>
              <a:t>important</a:t>
            </a:r>
            <a:r>
              <a:rPr lang="en-IN" sz="2800" spc="-9" dirty="0">
                <a:latin typeface="Times New Roman"/>
                <a:cs typeface="Times New Roman"/>
              </a:rPr>
              <a:t> </a:t>
            </a:r>
            <a:r>
              <a:rPr lang="en-IN" sz="2800" dirty="0">
                <a:latin typeface="Times New Roman"/>
                <a:cs typeface="Times New Roman"/>
              </a:rPr>
              <a:t>in</a:t>
            </a:r>
            <a:r>
              <a:rPr lang="en-IN" sz="2800" spc="-4" dirty="0">
                <a:latin typeface="Times New Roman"/>
                <a:cs typeface="Times New Roman"/>
              </a:rPr>
              <a:t> many</a:t>
            </a:r>
            <a:r>
              <a:rPr lang="en-IN" sz="2800" spc="4" dirty="0">
                <a:latin typeface="Times New Roman"/>
                <a:cs typeface="Times New Roman"/>
              </a:rPr>
              <a:t> </a:t>
            </a:r>
            <a:r>
              <a:rPr lang="en-IN" sz="2800" spc="-4" dirty="0">
                <a:latin typeface="Times New Roman"/>
                <a:cs typeface="Times New Roman"/>
              </a:rPr>
              <a:t>situations.</a:t>
            </a:r>
            <a:endParaRPr lang="en-IN" sz="2800" dirty="0">
              <a:latin typeface="Times New Roman"/>
              <a:cs typeface="Times New Roman"/>
            </a:endParaRPr>
          </a:p>
          <a:p>
            <a:pPr marL="11132" marR="371237" algn="just">
              <a:spcBef>
                <a:spcPts val="2787"/>
              </a:spcBef>
            </a:pPr>
            <a:endParaRPr sz="2800" dirty="0">
              <a:latin typeface="Times New Roman"/>
              <a:cs typeface="Times New Roman"/>
            </a:endParaRPr>
          </a:p>
        </p:txBody>
      </p:sp>
    </p:spTree>
    <p:extLst>
      <p:ext uri="{BB962C8B-B14F-4D97-AF65-F5344CB8AC3E}">
        <p14:creationId xmlns:p14="http://schemas.microsoft.com/office/powerpoint/2010/main" val="26475986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0861" y="446718"/>
            <a:ext cx="7171850" cy="734516"/>
          </a:xfrm>
          <a:prstGeom prst="rect">
            <a:avLst/>
          </a:prstGeom>
        </p:spPr>
        <p:txBody>
          <a:bodyPr vert="horz" wrap="square" lIns="0" tIns="11132" rIns="0" bIns="0" rtlCol="0">
            <a:spAutoFit/>
          </a:bodyPr>
          <a:lstStyle/>
          <a:p>
            <a:pPr marL="11132">
              <a:spcBef>
                <a:spcPts val="88"/>
              </a:spcBef>
            </a:pPr>
            <a:r>
              <a:rPr sz="4700" spc="-4" dirty="0"/>
              <a:t>The</a:t>
            </a:r>
            <a:r>
              <a:rPr sz="4700" spc="-13" dirty="0"/>
              <a:t> </a:t>
            </a:r>
            <a:r>
              <a:rPr sz="4700" spc="-4" dirty="0"/>
              <a:t>802.11 Physical Layer </a:t>
            </a:r>
            <a:endParaRPr sz="4700" dirty="0"/>
          </a:p>
        </p:txBody>
      </p:sp>
      <p:sp>
        <p:nvSpPr>
          <p:cNvPr id="3" name="object 3"/>
          <p:cNvSpPr txBox="1"/>
          <p:nvPr/>
        </p:nvSpPr>
        <p:spPr>
          <a:xfrm>
            <a:off x="775855" y="1252981"/>
            <a:ext cx="7633854" cy="4293668"/>
          </a:xfrm>
          <a:prstGeom prst="rect">
            <a:avLst/>
          </a:prstGeom>
        </p:spPr>
        <p:txBody>
          <a:bodyPr vert="horz" wrap="square" lIns="0" tIns="106863" rIns="0" bIns="0" rtlCol="0">
            <a:spAutoFit/>
          </a:bodyPr>
          <a:lstStyle/>
          <a:p>
            <a:pPr marL="11132" algn="just">
              <a:spcBef>
                <a:spcPts val="841"/>
              </a:spcBef>
            </a:pPr>
            <a:r>
              <a:rPr sz="2800" spc="-4" dirty="0">
                <a:solidFill>
                  <a:srgbClr val="FF3200"/>
                </a:solidFill>
                <a:latin typeface="Times New Roman"/>
                <a:cs typeface="Times New Roman"/>
              </a:rPr>
              <a:t>3)</a:t>
            </a:r>
            <a:r>
              <a:rPr sz="2800" dirty="0">
                <a:solidFill>
                  <a:srgbClr val="FF3200"/>
                </a:solidFill>
                <a:latin typeface="Times New Roman"/>
                <a:cs typeface="Times New Roman"/>
              </a:rPr>
              <a:t> </a:t>
            </a:r>
            <a:r>
              <a:rPr sz="2800" spc="-4" dirty="0">
                <a:latin typeface="Times New Roman"/>
                <a:cs typeface="Times New Roman"/>
              </a:rPr>
              <a:t>Higher</a:t>
            </a:r>
            <a:r>
              <a:rPr sz="2800" spc="4" dirty="0">
                <a:latin typeface="Times New Roman"/>
                <a:cs typeface="Times New Roman"/>
              </a:rPr>
              <a:t> </a:t>
            </a:r>
            <a:r>
              <a:rPr sz="2800" spc="-4" dirty="0">
                <a:latin typeface="Times New Roman"/>
                <a:cs typeface="Times New Roman"/>
              </a:rPr>
              <a:t>bandwidth</a:t>
            </a:r>
            <a:r>
              <a:rPr sz="2800" spc="4" dirty="0">
                <a:latin typeface="Times New Roman"/>
                <a:cs typeface="Times New Roman"/>
              </a:rPr>
              <a:t> </a:t>
            </a:r>
            <a:r>
              <a:rPr sz="2800" spc="-4" dirty="0">
                <a:latin typeface="Times New Roman"/>
                <a:cs typeface="Times New Roman"/>
              </a:rPr>
              <a:t>method</a:t>
            </a:r>
            <a:r>
              <a:rPr sz="2800" spc="4" dirty="0">
                <a:latin typeface="Times New Roman"/>
                <a:cs typeface="Times New Roman"/>
              </a:rPr>
              <a:t> </a:t>
            </a:r>
            <a:r>
              <a:rPr sz="2800" spc="-4" dirty="0">
                <a:latin typeface="Times New Roman"/>
                <a:cs typeface="Times New Roman"/>
              </a:rPr>
              <a:t>(3</a:t>
            </a:r>
            <a:r>
              <a:rPr sz="2800" spc="13" dirty="0">
                <a:latin typeface="Times New Roman"/>
                <a:cs typeface="Times New Roman"/>
              </a:rPr>
              <a:t> </a:t>
            </a:r>
            <a:r>
              <a:rPr sz="2800" spc="-4" dirty="0">
                <a:latin typeface="Times New Roman"/>
                <a:cs typeface="Times New Roman"/>
              </a:rPr>
              <a:t>techniques</a:t>
            </a:r>
            <a:r>
              <a:rPr sz="2800" dirty="0">
                <a:latin typeface="Times New Roman"/>
                <a:cs typeface="Times New Roman"/>
              </a:rPr>
              <a:t> </a:t>
            </a:r>
            <a:r>
              <a:rPr sz="2800" spc="-4" dirty="0">
                <a:latin typeface="Times New Roman"/>
                <a:cs typeface="Times New Roman"/>
              </a:rPr>
              <a:t>)</a:t>
            </a:r>
            <a:endParaRPr sz="2800" dirty="0">
              <a:latin typeface="Times New Roman"/>
              <a:cs typeface="Times New Roman"/>
            </a:endParaRPr>
          </a:p>
          <a:p>
            <a:pPr marL="11132" marR="4453" algn="just">
              <a:lnSpc>
                <a:spcPct val="100099"/>
              </a:lnSpc>
              <a:spcBef>
                <a:spcPts val="754"/>
              </a:spcBef>
            </a:pPr>
            <a:r>
              <a:rPr sz="2800" spc="-4" dirty="0">
                <a:solidFill>
                  <a:srgbClr val="FF3200"/>
                </a:solidFill>
                <a:latin typeface="Times New Roman"/>
                <a:cs typeface="Times New Roman"/>
              </a:rPr>
              <a:t>c) </a:t>
            </a:r>
            <a:r>
              <a:rPr sz="2800" spc="-4" dirty="0">
                <a:latin typeface="Times New Roman"/>
                <a:cs typeface="Times New Roman"/>
              </a:rPr>
              <a:t>802.11g</a:t>
            </a:r>
            <a:r>
              <a:rPr sz="2800" dirty="0">
                <a:latin typeface="Times New Roman"/>
                <a:cs typeface="Times New Roman"/>
              </a:rPr>
              <a:t> </a:t>
            </a:r>
            <a:r>
              <a:rPr sz="2800" spc="-4" dirty="0">
                <a:latin typeface="Times New Roman"/>
                <a:cs typeface="Times New Roman"/>
              </a:rPr>
              <a:t>is</a:t>
            </a:r>
            <a:r>
              <a:rPr sz="2800" dirty="0">
                <a:latin typeface="Times New Roman"/>
                <a:cs typeface="Times New Roman"/>
              </a:rPr>
              <a:t> </a:t>
            </a:r>
            <a:r>
              <a:rPr sz="2800" spc="-4" dirty="0">
                <a:latin typeface="Times New Roman"/>
                <a:cs typeface="Times New Roman"/>
              </a:rPr>
              <a:t>an</a:t>
            </a:r>
            <a:r>
              <a:rPr sz="2800" dirty="0">
                <a:latin typeface="Times New Roman"/>
                <a:cs typeface="Times New Roman"/>
              </a:rPr>
              <a:t> </a:t>
            </a:r>
            <a:r>
              <a:rPr sz="2800" spc="-4" dirty="0">
                <a:latin typeface="Times New Roman"/>
                <a:cs typeface="Times New Roman"/>
              </a:rPr>
              <a:t>enhanced</a:t>
            </a:r>
            <a:r>
              <a:rPr sz="2800" dirty="0">
                <a:latin typeface="Times New Roman"/>
                <a:cs typeface="Times New Roman"/>
              </a:rPr>
              <a:t> </a:t>
            </a:r>
            <a:r>
              <a:rPr sz="2800" spc="-4" dirty="0">
                <a:latin typeface="Times New Roman"/>
                <a:cs typeface="Times New Roman"/>
              </a:rPr>
              <a:t>version</a:t>
            </a:r>
            <a:r>
              <a:rPr sz="2800" dirty="0">
                <a:latin typeface="Times New Roman"/>
                <a:cs typeface="Times New Roman"/>
              </a:rPr>
              <a:t> </a:t>
            </a:r>
            <a:r>
              <a:rPr sz="2800" spc="-4" dirty="0">
                <a:latin typeface="Times New Roman"/>
                <a:cs typeface="Times New Roman"/>
              </a:rPr>
              <a:t>of </a:t>
            </a:r>
            <a:r>
              <a:rPr sz="2800" dirty="0">
                <a:latin typeface="Times New Roman"/>
                <a:cs typeface="Times New Roman"/>
              </a:rPr>
              <a:t> </a:t>
            </a:r>
            <a:r>
              <a:rPr sz="2800" spc="-4" dirty="0">
                <a:latin typeface="Times New Roman"/>
                <a:cs typeface="Times New Roman"/>
              </a:rPr>
              <a:t>802.11b. </a:t>
            </a:r>
            <a:endParaRPr lang="en-IN" sz="2800" spc="-4" dirty="0">
              <a:latin typeface="Times New Roman"/>
              <a:cs typeface="Times New Roman"/>
            </a:endParaRPr>
          </a:p>
          <a:p>
            <a:pPr marL="11132" marR="4453" algn="just">
              <a:lnSpc>
                <a:spcPct val="100099"/>
              </a:lnSpc>
              <a:spcBef>
                <a:spcPts val="754"/>
              </a:spcBef>
            </a:pPr>
            <a:r>
              <a:rPr sz="2800" spc="-4" dirty="0">
                <a:latin typeface="Times New Roman"/>
                <a:cs typeface="Times New Roman"/>
              </a:rPr>
              <a:t>It uses</a:t>
            </a:r>
            <a:r>
              <a:rPr sz="2800" dirty="0">
                <a:latin typeface="Times New Roman"/>
                <a:cs typeface="Times New Roman"/>
              </a:rPr>
              <a:t> </a:t>
            </a:r>
            <a:r>
              <a:rPr sz="2800" spc="-4" dirty="0">
                <a:latin typeface="Times New Roman"/>
                <a:cs typeface="Times New Roman"/>
              </a:rPr>
              <a:t>the </a:t>
            </a:r>
            <a:r>
              <a:rPr sz="2800" dirty="0">
                <a:latin typeface="Times New Roman"/>
                <a:cs typeface="Times New Roman"/>
              </a:rPr>
              <a:t>OFDM </a:t>
            </a:r>
            <a:r>
              <a:rPr sz="2800" spc="-4" dirty="0">
                <a:latin typeface="Times New Roman"/>
                <a:cs typeface="Times New Roman"/>
              </a:rPr>
              <a:t>(Orthogonal </a:t>
            </a:r>
            <a:r>
              <a:rPr sz="2800" dirty="0">
                <a:latin typeface="Times New Roman"/>
                <a:cs typeface="Times New Roman"/>
              </a:rPr>
              <a:t> </a:t>
            </a:r>
            <a:r>
              <a:rPr sz="2800" spc="-4" dirty="0">
                <a:latin typeface="Times New Roman"/>
                <a:cs typeface="Times New Roman"/>
              </a:rPr>
              <a:t>Frequency Division</a:t>
            </a:r>
            <a:r>
              <a:rPr sz="2800" dirty="0">
                <a:latin typeface="Times New Roman"/>
                <a:cs typeface="Times New Roman"/>
              </a:rPr>
              <a:t> </a:t>
            </a:r>
            <a:r>
              <a:rPr sz="2800" spc="-4" dirty="0">
                <a:latin typeface="Times New Roman"/>
                <a:cs typeface="Times New Roman"/>
              </a:rPr>
              <a:t>Multiplexing) </a:t>
            </a:r>
            <a:r>
              <a:rPr sz="2800" dirty="0">
                <a:latin typeface="Times New Roman"/>
                <a:cs typeface="Times New Roman"/>
              </a:rPr>
              <a:t> </a:t>
            </a:r>
            <a:r>
              <a:rPr sz="2800" spc="-4" dirty="0">
                <a:latin typeface="Times New Roman"/>
                <a:cs typeface="Times New Roman"/>
              </a:rPr>
              <a:t>modulation</a:t>
            </a:r>
            <a:r>
              <a:rPr sz="2800" dirty="0">
                <a:latin typeface="Times New Roman"/>
                <a:cs typeface="Times New Roman"/>
              </a:rPr>
              <a:t> </a:t>
            </a:r>
            <a:r>
              <a:rPr sz="2800" spc="-4" dirty="0">
                <a:latin typeface="Times New Roman"/>
                <a:cs typeface="Times New Roman"/>
              </a:rPr>
              <a:t>method</a:t>
            </a:r>
            <a:r>
              <a:rPr sz="2800" dirty="0">
                <a:latin typeface="Times New Roman"/>
                <a:cs typeface="Times New Roman"/>
              </a:rPr>
              <a:t> </a:t>
            </a:r>
            <a:r>
              <a:rPr sz="2800" spc="-4" dirty="0">
                <a:latin typeface="Times New Roman"/>
                <a:cs typeface="Times New Roman"/>
              </a:rPr>
              <a:t>of</a:t>
            </a:r>
            <a:r>
              <a:rPr sz="2800" dirty="0">
                <a:latin typeface="Times New Roman"/>
                <a:cs typeface="Times New Roman"/>
              </a:rPr>
              <a:t> </a:t>
            </a:r>
            <a:r>
              <a:rPr sz="2800" spc="-4" dirty="0">
                <a:latin typeface="Times New Roman"/>
                <a:cs typeface="Times New Roman"/>
              </a:rPr>
              <a:t>802.11a</a:t>
            </a:r>
            <a:r>
              <a:rPr sz="2800" dirty="0">
                <a:latin typeface="Times New Roman"/>
                <a:cs typeface="Times New Roman"/>
              </a:rPr>
              <a:t> </a:t>
            </a:r>
            <a:r>
              <a:rPr sz="2800" spc="-4" dirty="0">
                <a:latin typeface="Times New Roman"/>
                <a:cs typeface="Times New Roman"/>
              </a:rPr>
              <a:t>but operates </a:t>
            </a:r>
            <a:r>
              <a:rPr sz="2800" dirty="0">
                <a:latin typeface="Times New Roman"/>
                <a:cs typeface="Times New Roman"/>
              </a:rPr>
              <a:t> </a:t>
            </a:r>
            <a:r>
              <a:rPr sz="2800" spc="-4" dirty="0">
                <a:latin typeface="Times New Roman"/>
                <a:cs typeface="Times New Roman"/>
              </a:rPr>
              <a:t>in the narrow</a:t>
            </a:r>
            <a:r>
              <a:rPr sz="2800" dirty="0">
                <a:latin typeface="Times New Roman"/>
                <a:cs typeface="Times New Roman"/>
              </a:rPr>
              <a:t> 2.4-GHz</a:t>
            </a:r>
            <a:r>
              <a:rPr sz="2800" spc="-4" dirty="0">
                <a:latin typeface="Times New Roman"/>
                <a:cs typeface="Times New Roman"/>
              </a:rPr>
              <a:t> ISM</a:t>
            </a:r>
            <a:r>
              <a:rPr sz="2800" dirty="0">
                <a:latin typeface="Times New Roman"/>
                <a:cs typeface="Times New Roman"/>
              </a:rPr>
              <a:t> </a:t>
            </a:r>
            <a:r>
              <a:rPr sz="2800" spc="-4" dirty="0">
                <a:latin typeface="Times New Roman"/>
                <a:cs typeface="Times New Roman"/>
              </a:rPr>
              <a:t>band along</a:t>
            </a:r>
            <a:r>
              <a:rPr sz="2800" spc="9" dirty="0">
                <a:latin typeface="Times New Roman"/>
                <a:cs typeface="Times New Roman"/>
              </a:rPr>
              <a:t> </a:t>
            </a:r>
            <a:r>
              <a:rPr sz="2800" spc="-4" dirty="0">
                <a:latin typeface="Times New Roman"/>
                <a:cs typeface="Times New Roman"/>
              </a:rPr>
              <a:t>with </a:t>
            </a:r>
            <a:r>
              <a:rPr sz="2800" spc="-776" dirty="0">
                <a:latin typeface="Times New Roman"/>
                <a:cs typeface="Times New Roman"/>
              </a:rPr>
              <a:t> </a:t>
            </a:r>
            <a:r>
              <a:rPr sz="2800" spc="-4" dirty="0">
                <a:latin typeface="Times New Roman"/>
                <a:cs typeface="Times New Roman"/>
              </a:rPr>
              <a:t>802.11b. </a:t>
            </a:r>
            <a:endParaRPr lang="en-IN" sz="2800" spc="-4" dirty="0">
              <a:latin typeface="Times New Roman"/>
              <a:cs typeface="Times New Roman"/>
            </a:endParaRPr>
          </a:p>
          <a:p>
            <a:pPr marL="11132" marR="4453" algn="just">
              <a:lnSpc>
                <a:spcPct val="100099"/>
              </a:lnSpc>
              <a:spcBef>
                <a:spcPts val="754"/>
              </a:spcBef>
            </a:pPr>
            <a:r>
              <a:rPr sz="2800" spc="-4" dirty="0">
                <a:latin typeface="Times New Roman"/>
                <a:cs typeface="Times New Roman"/>
              </a:rPr>
              <a:t>In</a:t>
            </a:r>
            <a:r>
              <a:rPr sz="2800" dirty="0">
                <a:latin typeface="Times New Roman"/>
                <a:cs typeface="Times New Roman"/>
              </a:rPr>
              <a:t> </a:t>
            </a:r>
            <a:r>
              <a:rPr sz="2800" spc="-4" dirty="0">
                <a:latin typeface="Times New Roman"/>
                <a:cs typeface="Times New Roman"/>
              </a:rPr>
              <a:t>theory</a:t>
            </a:r>
            <a:r>
              <a:rPr sz="2800" dirty="0">
                <a:latin typeface="Times New Roman"/>
                <a:cs typeface="Times New Roman"/>
              </a:rPr>
              <a:t> </a:t>
            </a:r>
            <a:r>
              <a:rPr sz="2800" spc="-4" dirty="0">
                <a:latin typeface="Times New Roman"/>
                <a:cs typeface="Times New Roman"/>
              </a:rPr>
              <a:t>it can</a:t>
            </a:r>
            <a:r>
              <a:rPr sz="2800" spc="9" dirty="0">
                <a:latin typeface="Times New Roman"/>
                <a:cs typeface="Times New Roman"/>
              </a:rPr>
              <a:t> </a:t>
            </a:r>
            <a:r>
              <a:rPr sz="2800" spc="-4" dirty="0">
                <a:latin typeface="Times New Roman"/>
                <a:cs typeface="Times New Roman"/>
              </a:rPr>
              <a:t>operate</a:t>
            </a:r>
            <a:r>
              <a:rPr sz="2800" spc="9" dirty="0">
                <a:latin typeface="Times New Roman"/>
                <a:cs typeface="Times New Roman"/>
              </a:rPr>
              <a:t> </a:t>
            </a:r>
            <a:r>
              <a:rPr sz="2800" spc="-4" dirty="0">
                <a:latin typeface="Times New Roman"/>
                <a:cs typeface="Times New Roman"/>
              </a:rPr>
              <a:t>at</a:t>
            </a:r>
            <a:r>
              <a:rPr sz="2800" spc="-9" dirty="0">
                <a:latin typeface="Times New Roman"/>
                <a:cs typeface="Times New Roman"/>
              </a:rPr>
              <a:t> </a:t>
            </a:r>
            <a:r>
              <a:rPr sz="2800" spc="-4" dirty="0">
                <a:latin typeface="Times New Roman"/>
                <a:cs typeface="Times New Roman"/>
              </a:rPr>
              <a:t>up</a:t>
            </a:r>
            <a:r>
              <a:rPr sz="2800" dirty="0">
                <a:latin typeface="Times New Roman"/>
                <a:cs typeface="Times New Roman"/>
              </a:rPr>
              <a:t> </a:t>
            </a:r>
            <a:r>
              <a:rPr sz="2800" spc="-4" dirty="0">
                <a:latin typeface="Times New Roman"/>
                <a:cs typeface="Times New Roman"/>
              </a:rPr>
              <a:t>to</a:t>
            </a:r>
            <a:r>
              <a:rPr sz="2800" spc="9" dirty="0">
                <a:latin typeface="Times New Roman"/>
                <a:cs typeface="Times New Roman"/>
              </a:rPr>
              <a:t> </a:t>
            </a:r>
            <a:r>
              <a:rPr sz="2800" spc="-4" dirty="0">
                <a:latin typeface="Times New Roman"/>
                <a:cs typeface="Times New Roman"/>
              </a:rPr>
              <a:t>54 </a:t>
            </a:r>
            <a:r>
              <a:rPr sz="2800" dirty="0">
                <a:latin typeface="Times New Roman"/>
                <a:cs typeface="Times New Roman"/>
              </a:rPr>
              <a:t> </a:t>
            </a:r>
            <a:r>
              <a:rPr sz="2800" spc="-4" dirty="0">
                <a:latin typeface="Times New Roman"/>
                <a:cs typeface="Times New Roman"/>
              </a:rPr>
              <a:t>Mbps. It is</a:t>
            </a:r>
            <a:r>
              <a:rPr sz="2800" dirty="0">
                <a:latin typeface="Times New Roman"/>
                <a:cs typeface="Times New Roman"/>
              </a:rPr>
              <a:t> </a:t>
            </a:r>
            <a:r>
              <a:rPr sz="2800" spc="-4" dirty="0">
                <a:latin typeface="Times New Roman"/>
                <a:cs typeface="Times New Roman"/>
              </a:rPr>
              <a:t>not yet clear</a:t>
            </a:r>
            <a:r>
              <a:rPr sz="2800" spc="9" dirty="0">
                <a:latin typeface="Times New Roman"/>
                <a:cs typeface="Times New Roman"/>
              </a:rPr>
              <a:t> </a:t>
            </a:r>
            <a:r>
              <a:rPr sz="2800" spc="-4" dirty="0">
                <a:latin typeface="Times New Roman"/>
                <a:cs typeface="Times New Roman"/>
              </a:rPr>
              <a:t>whether</a:t>
            </a:r>
            <a:r>
              <a:rPr sz="2800" spc="9" dirty="0">
                <a:latin typeface="Times New Roman"/>
                <a:cs typeface="Times New Roman"/>
              </a:rPr>
              <a:t> </a:t>
            </a:r>
            <a:r>
              <a:rPr sz="2800" spc="-4" dirty="0">
                <a:latin typeface="Times New Roman"/>
                <a:cs typeface="Times New Roman"/>
              </a:rPr>
              <a:t>this</a:t>
            </a:r>
            <a:r>
              <a:rPr sz="2800" dirty="0">
                <a:latin typeface="Times New Roman"/>
                <a:cs typeface="Times New Roman"/>
              </a:rPr>
              <a:t> </a:t>
            </a:r>
            <a:r>
              <a:rPr sz="2800" spc="-4" dirty="0">
                <a:latin typeface="Times New Roman"/>
                <a:cs typeface="Times New Roman"/>
              </a:rPr>
              <a:t>speed</a:t>
            </a:r>
            <a:r>
              <a:rPr lang="en-IN" sz="2800" spc="-4" dirty="0">
                <a:latin typeface="Times New Roman"/>
                <a:cs typeface="Times New Roman"/>
              </a:rPr>
              <a:t> will</a:t>
            </a:r>
            <a:r>
              <a:rPr lang="en-IN" sz="2800" spc="-13" dirty="0">
                <a:latin typeface="Times New Roman"/>
                <a:cs typeface="Times New Roman"/>
              </a:rPr>
              <a:t> </a:t>
            </a:r>
            <a:r>
              <a:rPr lang="en-IN" sz="2800" spc="-4" dirty="0">
                <a:latin typeface="Times New Roman"/>
                <a:cs typeface="Times New Roman"/>
              </a:rPr>
              <a:t>be</a:t>
            </a:r>
            <a:r>
              <a:rPr lang="en-IN" sz="2800" spc="-9" dirty="0">
                <a:latin typeface="Times New Roman"/>
                <a:cs typeface="Times New Roman"/>
              </a:rPr>
              <a:t> </a:t>
            </a:r>
            <a:r>
              <a:rPr lang="en-IN" sz="2800" spc="-4" dirty="0">
                <a:latin typeface="Times New Roman"/>
                <a:cs typeface="Times New Roman"/>
              </a:rPr>
              <a:t>realized</a:t>
            </a:r>
            <a:r>
              <a:rPr lang="en-IN" sz="2800" spc="-9" dirty="0">
                <a:latin typeface="Times New Roman"/>
                <a:cs typeface="Times New Roman"/>
              </a:rPr>
              <a:t> </a:t>
            </a:r>
            <a:r>
              <a:rPr lang="en-IN" sz="2800" dirty="0">
                <a:latin typeface="Times New Roman"/>
                <a:cs typeface="Times New Roman"/>
              </a:rPr>
              <a:t>in</a:t>
            </a:r>
            <a:r>
              <a:rPr lang="en-IN" sz="2800" spc="-9" dirty="0">
                <a:latin typeface="Times New Roman"/>
                <a:cs typeface="Times New Roman"/>
              </a:rPr>
              <a:t> </a:t>
            </a:r>
            <a:r>
              <a:rPr lang="en-IN" sz="2800" spc="-4" dirty="0">
                <a:latin typeface="Times New Roman"/>
                <a:cs typeface="Times New Roman"/>
              </a:rPr>
              <a:t>practice.</a:t>
            </a:r>
            <a:endParaRPr lang="en-IN" sz="2800" dirty="0">
              <a:latin typeface="Times New Roman"/>
              <a:cs typeface="Times New Roman"/>
            </a:endParaRPr>
          </a:p>
        </p:txBody>
      </p:sp>
    </p:spTree>
    <p:extLst>
      <p:ext uri="{BB962C8B-B14F-4D97-AF65-F5344CB8AC3E}">
        <p14:creationId xmlns:p14="http://schemas.microsoft.com/office/powerpoint/2010/main" val="33064811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6411"/>
            <a:ext cx="8229600" cy="1066800"/>
          </a:xfrm>
        </p:spPr>
        <p:txBody>
          <a:bodyPr>
            <a:normAutofit/>
          </a:bodyPr>
          <a:lstStyle/>
          <a:p>
            <a:r>
              <a:rPr lang="en-IN" b="1" u="sng" dirty="0">
                <a:latin typeface="Times New Roman" pitchFamily="18" charset="0"/>
                <a:cs typeface="Times New Roman" pitchFamily="18" charset="0"/>
              </a:rPr>
              <a:t>The 802.11 MAC </a:t>
            </a:r>
            <a:r>
              <a:rPr lang="en-IN" b="1" u="sng" dirty="0" err="1">
                <a:latin typeface="Times New Roman" pitchFamily="18" charset="0"/>
                <a:cs typeface="Times New Roman" pitchFamily="18" charset="0"/>
              </a:rPr>
              <a:t>Sublayer</a:t>
            </a:r>
            <a:r>
              <a:rPr lang="en-IN" b="1" u="sng" dirty="0">
                <a:latin typeface="Times New Roman" pitchFamily="18" charset="0"/>
                <a:cs typeface="Times New Roman" pitchFamily="18" charset="0"/>
              </a:rPr>
              <a:t> Protocol</a:t>
            </a:r>
            <a:endParaRPr lang="en-IN"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27018"/>
            <a:ext cx="8326582" cy="5430982"/>
          </a:xfrm>
        </p:spPr>
        <p:txBody>
          <a:bodyPr>
            <a:normAutofit fontScale="92500" lnSpcReduction="20000"/>
          </a:bodyPr>
          <a:lstStyle/>
          <a:p>
            <a:pPr algn="just"/>
            <a:r>
              <a:rPr lang="en-IN" dirty="0">
                <a:latin typeface="Times New Roman" pitchFamily="18" charset="0"/>
                <a:cs typeface="Times New Roman" pitchFamily="18" charset="0"/>
              </a:rPr>
              <a:t>The 802.11 MAC </a:t>
            </a:r>
            <a:r>
              <a:rPr lang="en-IN" dirty="0" err="1">
                <a:latin typeface="Times New Roman" pitchFamily="18" charset="0"/>
                <a:cs typeface="Times New Roman" pitchFamily="18" charset="0"/>
              </a:rPr>
              <a:t>sublayer</a:t>
            </a:r>
            <a:r>
              <a:rPr lang="en-IN" dirty="0">
                <a:latin typeface="Times New Roman" pitchFamily="18" charset="0"/>
                <a:cs typeface="Times New Roman" pitchFamily="18" charset="0"/>
              </a:rPr>
              <a:t> protocol is quite different from that of Ethernet, due to two factors that are fundamental to wireless communication.</a:t>
            </a:r>
          </a:p>
          <a:p>
            <a:pPr algn="just"/>
            <a:r>
              <a:rPr lang="en-IN" b="1" dirty="0">
                <a:latin typeface="Times New Roman" pitchFamily="18" charset="0"/>
                <a:cs typeface="Times New Roman" pitchFamily="18" charset="0"/>
              </a:rPr>
              <a:t>First</a:t>
            </a:r>
            <a:r>
              <a:rPr lang="en-IN" dirty="0">
                <a:latin typeface="Times New Roman" pitchFamily="18" charset="0"/>
                <a:cs typeface="Times New Roman" pitchFamily="18" charset="0"/>
              </a:rPr>
              <a:t>, radios are nearly always half duplex, meaning that they cannot transmit and listen for noise bursts at the same time on a single frequency. </a:t>
            </a:r>
          </a:p>
          <a:p>
            <a:pPr algn="just"/>
            <a:r>
              <a:rPr lang="en-IN" dirty="0">
                <a:latin typeface="Times New Roman" pitchFamily="18" charset="0"/>
                <a:cs typeface="Times New Roman" pitchFamily="18" charset="0"/>
              </a:rPr>
              <a:t>The received signal can easily be a million times weaker than the transmitted signal, so it cannot be heard at the same time. </a:t>
            </a:r>
          </a:p>
          <a:p>
            <a:pPr algn="just"/>
            <a:r>
              <a:rPr lang="en-IN" dirty="0">
                <a:latin typeface="Times New Roman" pitchFamily="18" charset="0"/>
                <a:cs typeface="Times New Roman" pitchFamily="18" charset="0"/>
              </a:rPr>
              <a:t>With Ethernet, a station just waits until the ether goes silent and then starts transmitting. </a:t>
            </a:r>
          </a:p>
          <a:p>
            <a:pPr algn="just"/>
            <a:r>
              <a:rPr lang="en-IN" dirty="0">
                <a:latin typeface="Times New Roman" pitchFamily="18" charset="0"/>
                <a:cs typeface="Times New Roman" pitchFamily="18" charset="0"/>
              </a:rPr>
              <a:t>If it does not receive a noise burst back while transmitting the first 64 bytes, the frame has almost assuredly been delivered correctly. </a:t>
            </a:r>
          </a:p>
          <a:p>
            <a:pPr algn="just"/>
            <a:r>
              <a:rPr lang="en-IN" dirty="0">
                <a:latin typeface="Times New Roman" pitchFamily="18" charset="0"/>
                <a:cs typeface="Times New Roman" pitchFamily="18" charset="0"/>
              </a:rPr>
              <a:t>With wireless, this collision detection mechanism does not work</a:t>
            </a:r>
          </a:p>
        </p:txBody>
      </p:sp>
      <p:sp>
        <p:nvSpPr>
          <p:cNvPr id="4" name="Slide Number Placeholder 3"/>
          <p:cNvSpPr>
            <a:spLocks noGrp="1"/>
          </p:cNvSpPr>
          <p:nvPr>
            <p:ph type="sldNum" sz="quarter" idx="12"/>
          </p:nvPr>
        </p:nvSpPr>
        <p:spPr/>
        <p:txBody>
          <a:bodyPr/>
          <a:lstStyle/>
          <a:p>
            <a:fld id="{EF55C829-AE99-4997-8EBC-414F558758A8}" type="slidenum">
              <a:rPr lang="en-US" smtClean="0"/>
              <a:pPr/>
              <a:t>77</a:t>
            </a:fld>
            <a:endParaRPr lang="en-US" dirty="0"/>
          </a:p>
        </p:txBody>
      </p:sp>
    </p:spTree>
    <p:extLst>
      <p:ext uri="{BB962C8B-B14F-4D97-AF65-F5344CB8AC3E}">
        <p14:creationId xmlns:p14="http://schemas.microsoft.com/office/powerpoint/2010/main" val="11508979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545" y="498763"/>
            <a:ext cx="8672946" cy="6220692"/>
          </a:xfrm>
        </p:spPr>
        <p:txBody>
          <a:bodyPr>
            <a:noAutofit/>
          </a:bodyPr>
          <a:lstStyle/>
          <a:p>
            <a:pPr algn="just"/>
            <a:r>
              <a:rPr lang="en-IN" sz="2400" dirty="0">
                <a:latin typeface="Times New Roman" pitchFamily="18" charset="0"/>
                <a:cs typeface="Times New Roman" pitchFamily="18" charset="0"/>
              </a:rPr>
              <a:t>802.11 tries to avoid collisions with a protocol called </a:t>
            </a:r>
            <a:r>
              <a:rPr lang="en-IN" sz="2400" b="1" dirty="0">
                <a:latin typeface="Times New Roman" pitchFamily="18" charset="0"/>
                <a:cs typeface="Times New Roman" pitchFamily="18" charset="0"/>
              </a:rPr>
              <a:t>CSMA/CA </a:t>
            </a:r>
            <a:r>
              <a:rPr lang="en-IN" sz="2400" dirty="0">
                <a:latin typeface="Times New Roman" pitchFamily="18" charset="0"/>
                <a:cs typeface="Times New Roman" pitchFamily="18" charset="0"/>
              </a:rPr>
              <a:t>(</a:t>
            </a:r>
            <a:r>
              <a:rPr lang="en-IN" sz="2400" b="1" dirty="0">
                <a:latin typeface="Times New Roman" pitchFamily="18" charset="0"/>
                <a:cs typeface="Times New Roman" pitchFamily="18" charset="0"/>
              </a:rPr>
              <a:t>CSMA with Collision Avoidance</a:t>
            </a:r>
            <a:r>
              <a:rPr lang="en-IN" sz="2400" dirty="0">
                <a:latin typeface="Times New Roman" pitchFamily="18" charset="0"/>
                <a:cs typeface="Times New Roman" pitchFamily="18" charset="0"/>
              </a:rPr>
              <a:t>). </a:t>
            </a:r>
          </a:p>
          <a:p>
            <a:pPr algn="just"/>
            <a:r>
              <a:rPr lang="en-IN" sz="2400" dirty="0">
                <a:latin typeface="Times New Roman" pitchFamily="18" charset="0"/>
                <a:cs typeface="Times New Roman" pitchFamily="18" charset="0"/>
              </a:rPr>
              <a:t>This protocol is conceptually similar to Ethernet’s CSMA/CD, with channel sensing before sending and exponential back off after collisions. </a:t>
            </a:r>
          </a:p>
          <a:p>
            <a:pPr algn="just"/>
            <a:r>
              <a:rPr lang="en-IN" sz="2400" dirty="0">
                <a:latin typeface="Times New Roman" pitchFamily="18" charset="0"/>
                <a:cs typeface="Times New Roman" pitchFamily="18" charset="0"/>
              </a:rPr>
              <a:t>However, a station that has a frame to send starts with a random </a:t>
            </a:r>
            <a:r>
              <a:rPr lang="en-IN" sz="2400" dirty="0" err="1">
                <a:latin typeface="Times New Roman" pitchFamily="18" charset="0"/>
                <a:cs typeface="Times New Roman" pitchFamily="18" charset="0"/>
              </a:rPr>
              <a:t>backoff</a:t>
            </a:r>
            <a:r>
              <a:rPr lang="en-IN" sz="2400" dirty="0">
                <a:latin typeface="Times New Roman" pitchFamily="18" charset="0"/>
                <a:cs typeface="Times New Roman" pitchFamily="18" charset="0"/>
              </a:rPr>
              <a:t>. </a:t>
            </a:r>
          </a:p>
          <a:p>
            <a:pPr algn="just"/>
            <a:r>
              <a:rPr lang="en-IN" sz="2400" dirty="0">
                <a:latin typeface="Times New Roman" pitchFamily="18" charset="0"/>
                <a:cs typeface="Times New Roman" pitchFamily="18" charset="0"/>
              </a:rPr>
              <a:t> It does not wait for a collision. The number of slots to </a:t>
            </a:r>
            <a:r>
              <a:rPr lang="en-IN" sz="2400" dirty="0" err="1">
                <a:latin typeface="Times New Roman" pitchFamily="18" charset="0"/>
                <a:cs typeface="Times New Roman" pitchFamily="18" charset="0"/>
              </a:rPr>
              <a:t>backoff</a:t>
            </a:r>
            <a:r>
              <a:rPr lang="en-IN" sz="2400" dirty="0">
                <a:latin typeface="Times New Roman" pitchFamily="18" charset="0"/>
                <a:cs typeface="Times New Roman" pitchFamily="18" charset="0"/>
              </a:rPr>
              <a:t> is chosen in the range 0 to, say, 15 in the case of the OFDM physical layer. </a:t>
            </a:r>
          </a:p>
          <a:p>
            <a:pPr algn="just"/>
            <a:r>
              <a:rPr lang="en-IN" sz="2400" dirty="0">
                <a:latin typeface="Times New Roman" pitchFamily="18" charset="0"/>
                <a:cs typeface="Times New Roman" pitchFamily="18" charset="0"/>
              </a:rPr>
              <a:t>The station waits until the channel is idle, by sensing that there is no signal for a short period of time, and counts down idle slots, pausing when frames are sent. It sends its frame when the counter reaches 0. </a:t>
            </a:r>
          </a:p>
          <a:p>
            <a:pPr algn="just"/>
            <a:r>
              <a:rPr lang="en-IN" sz="2400" dirty="0">
                <a:latin typeface="Times New Roman" pitchFamily="18" charset="0"/>
                <a:cs typeface="Times New Roman" pitchFamily="18" charset="0"/>
              </a:rPr>
              <a:t>If the frame gets through, the destination immediately sends a short acknowledgement.</a:t>
            </a:r>
          </a:p>
          <a:p>
            <a:pPr algn="just"/>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78</a:t>
            </a:fld>
            <a:endParaRPr lang="en-US" dirty="0"/>
          </a:p>
        </p:txBody>
      </p:sp>
    </p:spTree>
    <p:extLst>
      <p:ext uri="{BB962C8B-B14F-4D97-AF65-F5344CB8AC3E}">
        <p14:creationId xmlns:p14="http://schemas.microsoft.com/office/powerpoint/2010/main" val="41264035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5636" y="609599"/>
            <a:ext cx="8229600" cy="5701700"/>
          </a:xfrm>
        </p:spPr>
        <p:txBody>
          <a:bodyPr>
            <a:normAutofit/>
          </a:bodyPr>
          <a:lstStyle/>
          <a:p>
            <a:pPr algn="just"/>
            <a:r>
              <a:rPr lang="en-IN" sz="2400" dirty="0">
                <a:latin typeface="Times New Roman" pitchFamily="18" charset="0"/>
                <a:cs typeface="Times New Roman" pitchFamily="18" charset="0"/>
              </a:rPr>
              <a:t>Lack of an acknowledgement is inferred to indicate an error, whether a collision or otherwise. </a:t>
            </a:r>
          </a:p>
          <a:p>
            <a:pPr algn="just"/>
            <a:r>
              <a:rPr lang="en-IN" sz="2400" dirty="0">
                <a:latin typeface="Times New Roman" pitchFamily="18" charset="0"/>
                <a:cs typeface="Times New Roman" pitchFamily="18" charset="0"/>
              </a:rPr>
              <a:t>The sender doubles the </a:t>
            </a:r>
            <a:r>
              <a:rPr lang="en-IN" sz="2400" dirty="0" err="1">
                <a:latin typeface="Times New Roman" pitchFamily="18" charset="0"/>
                <a:cs typeface="Times New Roman" pitchFamily="18" charset="0"/>
              </a:rPr>
              <a:t>backoff</a:t>
            </a:r>
            <a:r>
              <a:rPr lang="en-IN" sz="2400" dirty="0">
                <a:latin typeface="Times New Roman" pitchFamily="18" charset="0"/>
                <a:cs typeface="Times New Roman" pitchFamily="18" charset="0"/>
              </a:rPr>
              <a:t> period and tries again, continuing with exponential </a:t>
            </a:r>
            <a:r>
              <a:rPr lang="en-IN" sz="2400" dirty="0" err="1">
                <a:latin typeface="Times New Roman" pitchFamily="18" charset="0"/>
                <a:cs typeface="Times New Roman" pitchFamily="18" charset="0"/>
              </a:rPr>
              <a:t>backoff</a:t>
            </a:r>
            <a:r>
              <a:rPr lang="en-IN" sz="2400" dirty="0">
                <a:latin typeface="Times New Roman" pitchFamily="18" charset="0"/>
                <a:cs typeface="Times New Roman" pitchFamily="18" charset="0"/>
              </a:rPr>
              <a:t> as in Ethernet until the frame has been successfully transmitted or the maximum number of retransmissions has been reached.</a:t>
            </a:r>
          </a:p>
          <a:p>
            <a:endParaRPr lang="en-IN" sz="2400"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79</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777" y="2903156"/>
            <a:ext cx="8156864" cy="395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80278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0545"/>
            <a:ext cx="8229600" cy="5957455"/>
          </a:xfrm>
        </p:spPr>
        <p:txBody>
          <a:bodyPr>
            <a:normAutofit fontScale="92500" lnSpcReduction="10000"/>
          </a:bodyPr>
          <a:lstStyle/>
          <a:p>
            <a:pPr algn="just"/>
            <a:r>
              <a:rPr lang="en-IN" dirty="0">
                <a:latin typeface="Times New Roman" pitchFamily="18" charset="0"/>
                <a:cs typeface="Times New Roman" pitchFamily="18" charset="0"/>
              </a:rPr>
              <a:t>An example timeline is shown in Fig. </a:t>
            </a:r>
          </a:p>
          <a:p>
            <a:pPr algn="just"/>
            <a:r>
              <a:rPr lang="en-IN" dirty="0">
                <a:latin typeface="Times New Roman" pitchFamily="18" charset="0"/>
                <a:cs typeface="Times New Roman" pitchFamily="18" charset="0"/>
              </a:rPr>
              <a:t>Station </a:t>
            </a:r>
            <a:r>
              <a:rPr lang="en-IN" i="1" dirty="0">
                <a:latin typeface="Times New Roman" pitchFamily="18" charset="0"/>
                <a:cs typeface="Times New Roman" pitchFamily="18" charset="0"/>
              </a:rPr>
              <a:t>A </a:t>
            </a:r>
            <a:r>
              <a:rPr lang="en-IN" dirty="0">
                <a:latin typeface="Times New Roman" pitchFamily="18" charset="0"/>
                <a:cs typeface="Times New Roman" pitchFamily="18" charset="0"/>
              </a:rPr>
              <a:t>is the first to send a frame. </a:t>
            </a:r>
          </a:p>
          <a:p>
            <a:pPr algn="just"/>
            <a:r>
              <a:rPr lang="en-IN" dirty="0">
                <a:latin typeface="Times New Roman" pitchFamily="18" charset="0"/>
                <a:cs typeface="Times New Roman" pitchFamily="18" charset="0"/>
              </a:rPr>
              <a:t>While </a:t>
            </a:r>
            <a:r>
              <a:rPr lang="en-IN" i="1" dirty="0">
                <a:latin typeface="Times New Roman" pitchFamily="18" charset="0"/>
                <a:cs typeface="Times New Roman" pitchFamily="18" charset="0"/>
              </a:rPr>
              <a:t>A </a:t>
            </a:r>
            <a:r>
              <a:rPr lang="en-IN" dirty="0">
                <a:latin typeface="Times New Roman" pitchFamily="18" charset="0"/>
                <a:cs typeface="Times New Roman" pitchFamily="18" charset="0"/>
              </a:rPr>
              <a:t>is sending, stations </a:t>
            </a:r>
            <a:r>
              <a:rPr lang="en-IN" i="1" dirty="0">
                <a:latin typeface="Times New Roman" pitchFamily="18" charset="0"/>
                <a:cs typeface="Times New Roman" pitchFamily="18" charset="0"/>
              </a:rPr>
              <a:t>B </a:t>
            </a:r>
            <a:r>
              <a:rPr lang="en-IN" dirty="0">
                <a:latin typeface="Times New Roman" pitchFamily="18" charset="0"/>
                <a:cs typeface="Times New Roman" pitchFamily="18" charset="0"/>
              </a:rPr>
              <a:t>and </a:t>
            </a:r>
            <a:r>
              <a:rPr lang="en-IN" i="1" dirty="0">
                <a:latin typeface="Times New Roman" pitchFamily="18" charset="0"/>
                <a:cs typeface="Times New Roman" pitchFamily="18" charset="0"/>
              </a:rPr>
              <a:t>C </a:t>
            </a:r>
            <a:r>
              <a:rPr lang="en-IN" dirty="0">
                <a:latin typeface="Times New Roman" pitchFamily="18" charset="0"/>
                <a:cs typeface="Times New Roman" pitchFamily="18" charset="0"/>
              </a:rPr>
              <a:t>become ready to send. </a:t>
            </a:r>
          </a:p>
          <a:p>
            <a:pPr algn="just"/>
            <a:r>
              <a:rPr lang="en-IN" dirty="0">
                <a:latin typeface="Times New Roman" pitchFamily="18" charset="0"/>
                <a:cs typeface="Times New Roman" pitchFamily="18" charset="0"/>
              </a:rPr>
              <a:t>They see that the channel is busy and wait for it to become idle.</a:t>
            </a:r>
          </a:p>
          <a:p>
            <a:pPr algn="just"/>
            <a:r>
              <a:rPr lang="en-IN" dirty="0">
                <a:latin typeface="Times New Roman" pitchFamily="18" charset="0"/>
                <a:cs typeface="Times New Roman" pitchFamily="18" charset="0"/>
              </a:rPr>
              <a:t> Shortly after </a:t>
            </a:r>
            <a:r>
              <a:rPr lang="en-IN" i="1" dirty="0">
                <a:latin typeface="Times New Roman" pitchFamily="18" charset="0"/>
                <a:cs typeface="Times New Roman" pitchFamily="18" charset="0"/>
              </a:rPr>
              <a:t>A </a:t>
            </a:r>
            <a:r>
              <a:rPr lang="en-IN" dirty="0">
                <a:latin typeface="Times New Roman" pitchFamily="18" charset="0"/>
                <a:cs typeface="Times New Roman" pitchFamily="18" charset="0"/>
              </a:rPr>
              <a:t>receives an acknowledgement, the channel goes idle. </a:t>
            </a:r>
          </a:p>
          <a:p>
            <a:pPr algn="just"/>
            <a:r>
              <a:rPr lang="en-IN" dirty="0">
                <a:latin typeface="Times New Roman" pitchFamily="18" charset="0"/>
                <a:cs typeface="Times New Roman" pitchFamily="18" charset="0"/>
              </a:rPr>
              <a:t>However, rather than sending a frame right away and colliding, </a:t>
            </a:r>
            <a:r>
              <a:rPr lang="en-IN" i="1" dirty="0">
                <a:latin typeface="Times New Roman" pitchFamily="18" charset="0"/>
                <a:cs typeface="Times New Roman" pitchFamily="18" charset="0"/>
              </a:rPr>
              <a:t>B </a:t>
            </a:r>
            <a:r>
              <a:rPr lang="en-IN" dirty="0">
                <a:latin typeface="Times New Roman" pitchFamily="18" charset="0"/>
                <a:cs typeface="Times New Roman" pitchFamily="18" charset="0"/>
              </a:rPr>
              <a:t>and </a:t>
            </a:r>
            <a:r>
              <a:rPr lang="en-IN" i="1" dirty="0">
                <a:latin typeface="Times New Roman" pitchFamily="18" charset="0"/>
                <a:cs typeface="Times New Roman" pitchFamily="18" charset="0"/>
              </a:rPr>
              <a:t>C </a:t>
            </a:r>
            <a:r>
              <a:rPr lang="en-IN" dirty="0">
                <a:latin typeface="Times New Roman" pitchFamily="18" charset="0"/>
                <a:cs typeface="Times New Roman" pitchFamily="18" charset="0"/>
              </a:rPr>
              <a:t>both perform a </a:t>
            </a:r>
            <a:r>
              <a:rPr lang="en-IN" dirty="0" err="1">
                <a:latin typeface="Times New Roman" pitchFamily="18" charset="0"/>
                <a:cs typeface="Times New Roman" pitchFamily="18" charset="0"/>
              </a:rPr>
              <a:t>backoff</a:t>
            </a:r>
            <a:r>
              <a:rPr lang="en-IN" dirty="0">
                <a:latin typeface="Times New Roman" pitchFamily="18" charset="0"/>
                <a:cs typeface="Times New Roman" pitchFamily="18" charset="0"/>
              </a:rPr>
              <a:t>. </a:t>
            </a:r>
          </a:p>
          <a:p>
            <a:pPr algn="just"/>
            <a:r>
              <a:rPr lang="en-IN" i="1" dirty="0">
                <a:latin typeface="Times New Roman" pitchFamily="18" charset="0"/>
                <a:cs typeface="Times New Roman" pitchFamily="18" charset="0"/>
              </a:rPr>
              <a:t>C </a:t>
            </a:r>
            <a:r>
              <a:rPr lang="en-IN" dirty="0">
                <a:latin typeface="Times New Roman" pitchFamily="18" charset="0"/>
                <a:cs typeface="Times New Roman" pitchFamily="18" charset="0"/>
              </a:rPr>
              <a:t>picks a short </a:t>
            </a:r>
            <a:r>
              <a:rPr lang="en-IN" dirty="0" err="1">
                <a:latin typeface="Times New Roman" pitchFamily="18" charset="0"/>
                <a:cs typeface="Times New Roman" pitchFamily="18" charset="0"/>
              </a:rPr>
              <a:t>backoff</a:t>
            </a:r>
            <a:r>
              <a:rPr lang="en-IN" dirty="0">
                <a:latin typeface="Times New Roman" pitchFamily="18" charset="0"/>
                <a:cs typeface="Times New Roman" pitchFamily="18" charset="0"/>
              </a:rPr>
              <a:t>, and thus sends first. </a:t>
            </a:r>
          </a:p>
          <a:p>
            <a:pPr algn="just"/>
            <a:r>
              <a:rPr lang="en-IN" i="1" dirty="0">
                <a:latin typeface="Times New Roman" pitchFamily="18" charset="0"/>
                <a:cs typeface="Times New Roman" pitchFamily="18" charset="0"/>
              </a:rPr>
              <a:t>B </a:t>
            </a:r>
            <a:r>
              <a:rPr lang="en-IN" dirty="0">
                <a:latin typeface="Times New Roman" pitchFamily="18" charset="0"/>
                <a:cs typeface="Times New Roman" pitchFamily="18" charset="0"/>
              </a:rPr>
              <a:t>pauses its countdown while it senses that </a:t>
            </a:r>
            <a:r>
              <a:rPr lang="en-IN" i="1" dirty="0">
                <a:latin typeface="Times New Roman" pitchFamily="18" charset="0"/>
                <a:cs typeface="Times New Roman" pitchFamily="18" charset="0"/>
              </a:rPr>
              <a:t>C </a:t>
            </a:r>
            <a:r>
              <a:rPr lang="en-IN" dirty="0">
                <a:latin typeface="Times New Roman" pitchFamily="18" charset="0"/>
                <a:cs typeface="Times New Roman" pitchFamily="18" charset="0"/>
              </a:rPr>
              <a:t>is using the channel, and resumes after </a:t>
            </a:r>
            <a:r>
              <a:rPr lang="en-IN" i="1" dirty="0">
                <a:latin typeface="Times New Roman" pitchFamily="18" charset="0"/>
                <a:cs typeface="Times New Roman" pitchFamily="18" charset="0"/>
              </a:rPr>
              <a:t>C </a:t>
            </a:r>
            <a:r>
              <a:rPr lang="en-IN" dirty="0">
                <a:latin typeface="Times New Roman" pitchFamily="18" charset="0"/>
                <a:cs typeface="Times New Roman" pitchFamily="18" charset="0"/>
              </a:rPr>
              <a:t>has received an acknowledgement. </a:t>
            </a:r>
          </a:p>
          <a:p>
            <a:pPr algn="just"/>
            <a:r>
              <a:rPr lang="en-IN" i="1" dirty="0">
                <a:latin typeface="Times New Roman" pitchFamily="18" charset="0"/>
                <a:cs typeface="Times New Roman" pitchFamily="18" charset="0"/>
              </a:rPr>
              <a:t>B </a:t>
            </a:r>
            <a:r>
              <a:rPr lang="en-IN" dirty="0">
                <a:latin typeface="Times New Roman" pitchFamily="18" charset="0"/>
                <a:cs typeface="Times New Roman" pitchFamily="18" charset="0"/>
              </a:rPr>
              <a:t>soon completes its </a:t>
            </a:r>
            <a:r>
              <a:rPr lang="en-IN" dirty="0" err="1">
                <a:latin typeface="Times New Roman" pitchFamily="18" charset="0"/>
                <a:cs typeface="Times New Roman" pitchFamily="18" charset="0"/>
              </a:rPr>
              <a:t>backoff</a:t>
            </a:r>
            <a:r>
              <a:rPr lang="en-IN" dirty="0">
                <a:latin typeface="Times New Roman" pitchFamily="18" charset="0"/>
                <a:cs typeface="Times New Roman" pitchFamily="18" charset="0"/>
              </a:rPr>
              <a:t> and sends its frame.</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80</a:t>
            </a:fld>
            <a:endParaRPr lang="en-US" dirty="0"/>
          </a:p>
        </p:txBody>
      </p:sp>
    </p:spTree>
    <p:extLst>
      <p:ext uri="{BB962C8B-B14F-4D97-AF65-F5344CB8AC3E}">
        <p14:creationId xmlns:p14="http://schemas.microsoft.com/office/powerpoint/2010/main" val="32076004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1273"/>
            <a:ext cx="8229600" cy="5743263"/>
          </a:xfrm>
        </p:spPr>
        <p:txBody>
          <a:bodyPr>
            <a:normAutofit/>
          </a:bodyPr>
          <a:lstStyle/>
          <a:p>
            <a:pPr algn="just"/>
            <a:r>
              <a:rPr lang="en-IN" dirty="0">
                <a:latin typeface="Times New Roman" pitchFamily="18" charset="0"/>
                <a:cs typeface="Times New Roman" pitchFamily="18" charset="0"/>
              </a:rPr>
              <a:t>Compared to Ethernet, there are two main differences. </a:t>
            </a:r>
          </a:p>
          <a:p>
            <a:pPr marL="624078" indent="-514350" algn="just">
              <a:buFont typeface="+mj-lt"/>
              <a:buAutoNum type="arabicPeriod"/>
            </a:pPr>
            <a:r>
              <a:rPr lang="en-IN" dirty="0">
                <a:latin typeface="Times New Roman" pitchFamily="18" charset="0"/>
                <a:cs typeface="Times New Roman" pitchFamily="18" charset="0"/>
              </a:rPr>
              <a:t>Starting </a:t>
            </a:r>
            <a:r>
              <a:rPr lang="en-IN" dirty="0" err="1">
                <a:latin typeface="Times New Roman" pitchFamily="18" charset="0"/>
                <a:cs typeface="Times New Roman" pitchFamily="18" charset="0"/>
              </a:rPr>
              <a:t>backoffs</a:t>
            </a:r>
            <a:r>
              <a:rPr lang="en-IN" dirty="0">
                <a:latin typeface="Times New Roman" pitchFamily="18" charset="0"/>
                <a:cs typeface="Times New Roman" pitchFamily="18" charset="0"/>
              </a:rPr>
              <a:t> early helps to avoid collisions.</a:t>
            </a:r>
          </a:p>
          <a:p>
            <a:pPr lvl="1" algn="just">
              <a:buFont typeface="Wingdings" pitchFamily="2" charset="2"/>
              <a:buChar char="v"/>
            </a:pPr>
            <a:r>
              <a:rPr lang="en-IN" dirty="0">
                <a:latin typeface="Times New Roman" pitchFamily="18" charset="0"/>
                <a:cs typeface="Times New Roman" pitchFamily="18" charset="0"/>
              </a:rPr>
              <a:t> </a:t>
            </a:r>
            <a:r>
              <a:rPr lang="en-IN" sz="2800" dirty="0">
                <a:solidFill>
                  <a:schemeClr val="tx1"/>
                </a:solidFill>
                <a:latin typeface="Times New Roman" pitchFamily="18" charset="0"/>
                <a:cs typeface="Times New Roman" pitchFamily="18" charset="0"/>
              </a:rPr>
              <a:t>This avoidance is worthwhile because collisions are expensive, as the entire frame is transmitted even if one occurs. </a:t>
            </a:r>
          </a:p>
          <a:p>
            <a:pPr marL="624078" indent="-514350" algn="just">
              <a:buFont typeface="+mj-lt"/>
              <a:buAutoNum type="arabicPeriod" startAt="2"/>
            </a:pPr>
            <a:r>
              <a:rPr lang="en-IN" dirty="0">
                <a:latin typeface="Times New Roman" pitchFamily="18" charset="0"/>
                <a:cs typeface="Times New Roman" pitchFamily="18" charset="0"/>
              </a:rPr>
              <a:t>Acknowledgements are used to infer collisions because collisions cannot be detected.</a:t>
            </a:r>
          </a:p>
          <a:p>
            <a:pPr algn="just"/>
            <a:r>
              <a:rPr lang="en-IN" dirty="0">
                <a:latin typeface="Times New Roman" pitchFamily="18" charset="0"/>
                <a:cs typeface="Times New Roman" pitchFamily="18" charset="0"/>
              </a:rPr>
              <a:t>This mode of operation is called </a:t>
            </a:r>
            <a:r>
              <a:rPr lang="en-IN" b="1" dirty="0">
                <a:latin typeface="Times New Roman" pitchFamily="18" charset="0"/>
                <a:cs typeface="Times New Roman" pitchFamily="18" charset="0"/>
              </a:rPr>
              <a:t>DCF </a:t>
            </a:r>
            <a:r>
              <a:rPr lang="en-IN" dirty="0">
                <a:latin typeface="Times New Roman" pitchFamily="18" charset="0"/>
                <a:cs typeface="Times New Roman" pitchFamily="18" charset="0"/>
              </a:rPr>
              <a:t>(</a:t>
            </a:r>
            <a:r>
              <a:rPr lang="en-IN" b="1" dirty="0">
                <a:latin typeface="Times New Roman" pitchFamily="18" charset="0"/>
                <a:cs typeface="Times New Roman" pitchFamily="18" charset="0"/>
              </a:rPr>
              <a:t>Distributed Coordination Function</a:t>
            </a:r>
            <a:r>
              <a:rPr lang="en-IN" dirty="0">
                <a:latin typeface="Times New Roman" pitchFamily="18" charset="0"/>
                <a:cs typeface="Times New Roman" pitchFamily="18" charset="0"/>
              </a:rPr>
              <a:t>) because each station acts independently, without any kind of central control.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81</a:t>
            </a:fld>
            <a:endParaRPr lang="en-US" dirty="0"/>
          </a:p>
        </p:txBody>
      </p:sp>
    </p:spTree>
    <p:extLst>
      <p:ext uri="{BB962C8B-B14F-4D97-AF65-F5344CB8AC3E}">
        <p14:creationId xmlns:p14="http://schemas.microsoft.com/office/powerpoint/2010/main" val="9578783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237" y="886690"/>
            <a:ext cx="8589818" cy="5632425"/>
          </a:xfrm>
        </p:spPr>
        <p:txBody>
          <a:bodyPr>
            <a:normAutofit/>
          </a:bodyPr>
          <a:lstStyle/>
          <a:p>
            <a:pPr algn="just"/>
            <a:r>
              <a:rPr lang="en-IN" b="1" dirty="0">
                <a:solidFill>
                  <a:srgbClr val="FF0000"/>
                </a:solidFill>
                <a:latin typeface="Times New Roman" pitchFamily="18" charset="0"/>
                <a:cs typeface="Times New Roman" pitchFamily="18" charset="0"/>
              </a:rPr>
              <a:t>One problem </a:t>
            </a:r>
            <a:r>
              <a:rPr lang="en-IN" dirty="0">
                <a:latin typeface="Times New Roman" pitchFamily="18" charset="0"/>
                <a:cs typeface="Times New Roman" pitchFamily="18" charset="0"/>
              </a:rPr>
              <a:t>is that the transmission ranges of different stations may be different.</a:t>
            </a: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With a wire, all stations can hear each other. </a:t>
            </a: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With the complexities of RF propagation this situation does not hold for wireless stations. </a:t>
            </a: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Since not all stations are within radio range of each other, transmissions going on in one part of a cell may not be received elsewhere in the same cell. </a:t>
            </a:r>
          </a:p>
          <a:p>
            <a:pPr algn="just"/>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82</a:t>
            </a:fld>
            <a:endParaRPr lang="en-US" dirty="0"/>
          </a:p>
        </p:txBody>
      </p:sp>
    </p:spTree>
    <p:extLst>
      <p:ext uri="{BB962C8B-B14F-4D97-AF65-F5344CB8AC3E}">
        <p14:creationId xmlns:p14="http://schemas.microsoft.com/office/powerpoint/2010/main" val="28198005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763" y="586877"/>
            <a:ext cx="8229600" cy="4325112"/>
          </a:xfrm>
        </p:spPr>
        <p:txBody>
          <a:bodyPr/>
          <a:lstStyle/>
          <a:p>
            <a:pPr algn="just"/>
            <a:r>
              <a:rPr lang="en-IN" dirty="0">
                <a:latin typeface="Times New Roman" pitchFamily="18" charset="0"/>
                <a:cs typeface="Times New Roman" pitchFamily="18" charset="0"/>
              </a:rPr>
              <a:t>Leads to the hidden terminal problem as in Fig. </a:t>
            </a:r>
          </a:p>
          <a:p>
            <a:pPr algn="just"/>
            <a:r>
              <a:rPr lang="en-IN" dirty="0">
                <a:latin typeface="Times New Roman" pitchFamily="18" charset="0"/>
                <a:cs typeface="Times New Roman" pitchFamily="18" charset="0"/>
              </a:rPr>
              <a:t>Here, station </a:t>
            </a:r>
            <a:r>
              <a:rPr lang="en-IN" i="1" dirty="0">
                <a:latin typeface="Times New Roman" pitchFamily="18" charset="0"/>
                <a:cs typeface="Times New Roman" pitchFamily="18" charset="0"/>
              </a:rPr>
              <a:t>C </a:t>
            </a:r>
            <a:r>
              <a:rPr lang="en-IN" dirty="0">
                <a:latin typeface="Times New Roman" pitchFamily="18" charset="0"/>
                <a:cs typeface="Times New Roman" pitchFamily="18" charset="0"/>
              </a:rPr>
              <a:t>is transmitting to station </a:t>
            </a:r>
            <a:r>
              <a:rPr lang="en-IN" i="1" dirty="0">
                <a:latin typeface="Times New Roman" pitchFamily="18" charset="0"/>
                <a:cs typeface="Times New Roman" pitchFamily="18" charset="0"/>
              </a:rPr>
              <a:t>B</a:t>
            </a:r>
            <a:r>
              <a:rPr lang="en-IN" dirty="0">
                <a:latin typeface="Times New Roman" pitchFamily="18" charset="0"/>
                <a:cs typeface="Times New Roman" pitchFamily="18" charset="0"/>
              </a:rPr>
              <a:t>. </a:t>
            </a:r>
          </a:p>
          <a:p>
            <a:pPr algn="just"/>
            <a:r>
              <a:rPr lang="en-IN" dirty="0">
                <a:latin typeface="Times New Roman" pitchFamily="18" charset="0"/>
                <a:cs typeface="Times New Roman" pitchFamily="18" charset="0"/>
              </a:rPr>
              <a:t>If </a:t>
            </a:r>
            <a:r>
              <a:rPr lang="en-IN" i="1" dirty="0">
                <a:latin typeface="Times New Roman" pitchFamily="18" charset="0"/>
                <a:cs typeface="Times New Roman" pitchFamily="18" charset="0"/>
              </a:rPr>
              <a:t>A </a:t>
            </a:r>
            <a:r>
              <a:rPr lang="en-IN" dirty="0">
                <a:latin typeface="Times New Roman" pitchFamily="18" charset="0"/>
                <a:cs typeface="Times New Roman" pitchFamily="18" charset="0"/>
              </a:rPr>
              <a:t>senses the channel, it will not hear anything and will falsely conclude that it may now start transmitting to </a:t>
            </a:r>
            <a:r>
              <a:rPr lang="en-IN" i="1" dirty="0">
                <a:latin typeface="Times New Roman" pitchFamily="18" charset="0"/>
                <a:cs typeface="Times New Roman" pitchFamily="18" charset="0"/>
              </a:rPr>
              <a:t>B</a:t>
            </a:r>
            <a:r>
              <a:rPr lang="en-IN" dirty="0">
                <a:latin typeface="Times New Roman" pitchFamily="18" charset="0"/>
                <a:cs typeface="Times New Roman" pitchFamily="18" charset="0"/>
              </a:rPr>
              <a:t>. </a:t>
            </a:r>
          </a:p>
          <a:p>
            <a:pPr algn="just"/>
            <a:r>
              <a:rPr lang="en-IN" dirty="0">
                <a:latin typeface="Times New Roman" pitchFamily="18" charset="0"/>
                <a:cs typeface="Times New Roman" pitchFamily="18" charset="0"/>
              </a:rPr>
              <a:t>This decision leads to a collision</a:t>
            </a:r>
          </a:p>
          <a:p>
            <a:endParaRPr lang="en-IN"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83</a:t>
            </a:fld>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3203" y="3299480"/>
            <a:ext cx="4133849" cy="3558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93186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84</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3596" y="3394366"/>
            <a:ext cx="3901786" cy="342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2"/>
          <p:cNvSpPr txBox="1">
            <a:spLocks/>
          </p:cNvSpPr>
          <p:nvPr/>
        </p:nvSpPr>
        <p:spPr>
          <a:xfrm>
            <a:off x="457200" y="568030"/>
            <a:ext cx="8229600" cy="5812536"/>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algn="just"/>
            <a:r>
              <a:rPr lang="en-IN" sz="2600" dirty="0">
                <a:latin typeface="Times New Roman" pitchFamily="18" charset="0"/>
                <a:cs typeface="Times New Roman" pitchFamily="18" charset="0"/>
              </a:rPr>
              <a:t>The inverse situation is the exposed terminal problem, illustrated in Fig.</a:t>
            </a:r>
          </a:p>
          <a:p>
            <a:pPr algn="just"/>
            <a:r>
              <a:rPr lang="en-IN" sz="2600" dirty="0">
                <a:latin typeface="Times New Roman" pitchFamily="18" charset="0"/>
                <a:cs typeface="Times New Roman" pitchFamily="18" charset="0"/>
              </a:rPr>
              <a:t>Here, </a:t>
            </a:r>
            <a:r>
              <a:rPr lang="en-IN" sz="2600" i="1" dirty="0">
                <a:latin typeface="Times New Roman" pitchFamily="18" charset="0"/>
                <a:cs typeface="Times New Roman" pitchFamily="18" charset="0"/>
              </a:rPr>
              <a:t>B </a:t>
            </a:r>
            <a:r>
              <a:rPr lang="en-IN" sz="2600" dirty="0">
                <a:latin typeface="Times New Roman" pitchFamily="18" charset="0"/>
                <a:cs typeface="Times New Roman" pitchFamily="18" charset="0"/>
              </a:rPr>
              <a:t>wants to send to </a:t>
            </a:r>
            <a:r>
              <a:rPr lang="en-IN" sz="2600" i="1" dirty="0">
                <a:latin typeface="Times New Roman" pitchFamily="18" charset="0"/>
                <a:cs typeface="Times New Roman" pitchFamily="18" charset="0"/>
              </a:rPr>
              <a:t>C</a:t>
            </a:r>
            <a:r>
              <a:rPr lang="en-IN" sz="2600" dirty="0">
                <a:latin typeface="Times New Roman" pitchFamily="18" charset="0"/>
                <a:cs typeface="Times New Roman" pitchFamily="18" charset="0"/>
              </a:rPr>
              <a:t>, so it listens to the channel. </a:t>
            </a:r>
          </a:p>
          <a:p>
            <a:pPr algn="just"/>
            <a:r>
              <a:rPr lang="en-IN" sz="2600" dirty="0">
                <a:latin typeface="Times New Roman" pitchFamily="18" charset="0"/>
                <a:cs typeface="Times New Roman" pitchFamily="18" charset="0"/>
              </a:rPr>
              <a:t>When it hears a transmission, it falsely concludes that it may not send to </a:t>
            </a:r>
            <a:r>
              <a:rPr lang="en-IN" sz="2600" i="1" dirty="0">
                <a:latin typeface="Times New Roman" pitchFamily="18" charset="0"/>
                <a:cs typeface="Times New Roman" pitchFamily="18" charset="0"/>
              </a:rPr>
              <a:t>C</a:t>
            </a:r>
            <a:r>
              <a:rPr lang="en-IN" sz="2600" dirty="0">
                <a:latin typeface="Times New Roman" pitchFamily="18" charset="0"/>
                <a:cs typeface="Times New Roman" pitchFamily="18" charset="0"/>
              </a:rPr>
              <a:t>, even though </a:t>
            </a:r>
            <a:r>
              <a:rPr lang="en-IN" sz="2600" i="1" dirty="0">
                <a:latin typeface="Times New Roman" pitchFamily="18" charset="0"/>
                <a:cs typeface="Times New Roman" pitchFamily="18" charset="0"/>
              </a:rPr>
              <a:t>A </a:t>
            </a:r>
            <a:r>
              <a:rPr lang="en-IN" sz="2600" dirty="0">
                <a:latin typeface="Times New Roman" pitchFamily="18" charset="0"/>
                <a:cs typeface="Times New Roman" pitchFamily="18" charset="0"/>
              </a:rPr>
              <a:t>may in fact be transmitting to </a:t>
            </a:r>
            <a:r>
              <a:rPr lang="en-IN" sz="2600" i="1" dirty="0">
                <a:latin typeface="Times New Roman" pitchFamily="18" charset="0"/>
                <a:cs typeface="Times New Roman" pitchFamily="18" charset="0"/>
              </a:rPr>
              <a:t>D </a:t>
            </a:r>
            <a:r>
              <a:rPr lang="en-IN" sz="2600" dirty="0">
                <a:latin typeface="Times New Roman" pitchFamily="18" charset="0"/>
                <a:cs typeface="Times New Roman" pitchFamily="18" charset="0"/>
              </a:rPr>
              <a:t>(not shown). </a:t>
            </a:r>
          </a:p>
          <a:p>
            <a:pPr algn="just"/>
            <a:r>
              <a:rPr lang="en-IN" sz="2600" dirty="0">
                <a:latin typeface="Times New Roman" pitchFamily="18" charset="0"/>
                <a:cs typeface="Times New Roman" pitchFamily="18" charset="0"/>
              </a:rPr>
              <a:t>This decision wastes a transmission opportunity.</a:t>
            </a:r>
          </a:p>
        </p:txBody>
      </p:sp>
    </p:spTree>
    <p:extLst>
      <p:ext uri="{BB962C8B-B14F-4D97-AF65-F5344CB8AC3E}">
        <p14:creationId xmlns:p14="http://schemas.microsoft.com/office/powerpoint/2010/main" val="11611405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65018"/>
            <a:ext cx="8229600" cy="5909518"/>
          </a:xfrm>
        </p:spPr>
        <p:txBody>
          <a:bodyPr>
            <a:normAutofit/>
          </a:bodyPr>
          <a:lstStyle/>
          <a:p>
            <a:pPr algn="just"/>
            <a:r>
              <a:rPr lang="en-IN" dirty="0">
                <a:latin typeface="Times New Roman" pitchFamily="18" charset="0"/>
                <a:cs typeface="Times New Roman" pitchFamily="18" charset="0"/>
              </a:rPr>
              <a:t>To reduce ambiguities about which station is sending, 802.11 defines channel sensing to consist of both physical sensing and virtual sensing. </a:t>
            </a: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Physical sensing simply checks the medium to see if there is a valid signal. </a:t>
            </a: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With virtual sensing, each station keeps a logical record of when the channel is in use by tracking the </a:t>
            </a:r>
            <a:r>
              <a:rPr lang="en-IN" b="1" dirty="0">
                <a:latin typeface="Times New Roman" pitchFamily="18" charset="0"/>
                <a:cs typeface="Times New Roman" pitchFamily="18" charset="0"/>
              </a:rPr>
              <a:t>NAV </a:t>
            </a:r>
            <a:r>
              <a:rPr lang="en-IN" dirty="0">
                <a:latin typeface="Times New Roman" pitchFamily="18" charset="0"/>
                <a:cs typeface="Times New Roman" pitchFamily="18" charset="0"/>
              </a:rPr>
              <a:t>(</a:t>
            </a:r>
            <a:r>
              <a:rPr lang="en-IN" b="1" dirty="0">
                <a:latin typeface="Times New Roman" pitchFamily="18" charset="0"/>
                <a:cs typeface="Times New Roman" pitchFamily="18" charset="0"/>
              </a:rPr>
              <a:t>Network Allocation Vector</a:t>
            </a:r>
            <a:r>
              <a:rPr lang="en-IN"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85</a:t>
            </a:fld>
            <a:endParaRPr lang="en-US" dirty="0"/>
          </a:p>
        </p:txBody>
      </p:sp>
    </p:spTree>
    <p:extLst>
      <p:ext uri="{BB962C8B-B14F-4D97-AF65-F5344CB8AC3E}">
        <p14:creationId xmlns:p14="http://schemas.microsoft.com/office/powerpoint/2010/main" val="19559641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6472" y="678873"/>
            <a:ext cx="8229600" cy="5971309"/>
          </a:xfrm>
        </p:spPr>
        <p:txBody>
          <a:bodyPr>
            <a:normAutofit/>
          </a:bodyPr>
          <a:lstStyle/>
          <a:p>
            <a:pPr algn="just"/>
            <a:r>
              <a:rPr lang="en-IN" dirty="0">
                <a:latin typeface="Times New Roman" pitchFamily="18" charset="0"/>
                <a:cs typeface="Times New Roman" pitchFamily="18" charset="0"/>
              </a:rPr>
              <a:t>Each frame carries a NAV field that says how long the sequence of which this frame is part will take to complete. </a:t>
            </a:r>
          </a:p>
          <a:p>
            <a:pPr algn="just"/>
            <a:r>
              <a:rPr lang="en-IN" dirty="0">
                <a:latin typeface="Times New Roman" pitchFamily="18" charset="0"/>
                <a:cs typeface="Times New Roman" pitchFamily="18" charset="0"/>
              </a:rPr>
              <a:t>Stations that overhear this frame know that the channel will be busy for the period indicated by the NAV, regardless of whether they can sense a physical signal. </a:t>
            </a:r>
          </a:p>
          <a:p>
            <a:pPr algn="just"/>
            <a:r>
              <a:rPr lang="en-IN" dirty="0">
                <a:latin typeface="Times New Roman" pitchFamily="18" charset="0"/>
                <a:cs typeface="Times New Roman" pitchFamily="18" charset="0"/>
              </a:rPr>
              <a:t>For example, the NAV of a data frame includes the time needed to send an acknowledgement.</a:t>
            </a:r>
          </a:p>
          <a:p>
            <a:pPr algn="just"/>
            <a:r>
              <a:rPr lang="en-IN" dirty="0">
                <a:latin typeface="Times New Roman" pitchFamily="18" charset="0"/>
                <a:cs typeface="Times New Roman" pitchFamily="18" charset="0"/>
              </a:rPr>
              <a:t>All stations that hear the data frame will defer during the acknowledgement period, whether or not they can hear the acknowledgement</a:t>
            </a:r>
          </a:p>
          <a:p>
            <a:pPr algn="just"/>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86</a:t>
            </a:fld>
            <a:endParaRPr lang="en-US" dirty="0"/>
          </a:p>
        </p:txBody>
      </p:sp>
    </p:spTree>
    <p:extLst>
      <p:ext uri="{BB962C8B-B14F-4D97-AF65-F5344CB8AC3E}">
        <p14:creationId xmlns:p14="http://schemas.microsoft.com/office/powerpoint/2010/main" val="14662795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572" y="780929"/>
            <a:ext cx="8229600" cy="5798681"/>
          </a:xfrm>
        </p:spPr>
        <p:txBody>
          <a:bodyPr>
            <a:normAutofit/>
          </a:bodyPr>
          <a:lstStyle/>
          <a:p>
            <a:r>
              <a:rPr lang="en-IN" sz="2600" dirty="0">
                <a:latin typeface="Times New Roman" pitchFamily="18" charset="0"/>
                <a:cs typeface="Times New Roman" pitchFamily="18" charset="0"/>
              </a:rPr>
              <a:t>An optional RTS/CTS mechanism uses the NAV to prevent terminals from sending frames at the same time as hidden terminals. </a:t>
            </a:r>
          </a:p>
          <a:p>
            <a:r>
              <a:rPr lang="en-IN" sz="2600" dirty="0">
                <a:latin typeface="Times New Roman" pitchFamily="18" charset="0"/>
                <a:cs typeface="Times New Roman" pitchFamily="18" charset="0"/>
              </a:rPr>
              <a:t>Here,  </a:t>
            </a:r>
            <a:r>
              <a:rPr lang="en-IN" sz="2600" i="1" dirty="0">
                <a:latin typeface="Times New Roman" pitchFamily="18" charset="0"/>
                <a:cs typeface="Times New Roman" pitchFamily="18" charset="0"/>
              </a:rPr>
              <a:t>A </a:t>
            </a:r>
            <a:r>
              <a:rPr lang="en-IN" sz="2600" dirty="0">
                <a:latin typeface="Times New Roman" pitchFamily="18" charset="0"/>
                <a:cs typeface="Times New Roman" pitchFamily="18" charset="0"/>
              </a:rPr>
              <a:t>wants to send to </a:t>
            </a:r>
            <a:r>
              <a:rPr lang="en-IN" sz="2600" i="1" dirty="0">
                <a:latin typeface="Times New Roman" pitchFamily="18" charset="0"/>
                <a:cs typeface="Times New Roman" pitchFamily="18" charset="0"/>
              </a:rPr>
              <a:t>B</a:t>
            </a:r>
            <a:r>
              <a:rPr lang="en-IN" sz="2600" dirty="0">
                <a:latin typeface="Times New Roman" pitchFamily="18" charset="0"/>
                <a:cs typeface="Times New Roman" pitchFamily="18" charset="0"/>
              </a:rPr>
              <a:t>. </a:t>
            </a:r>
            <a:r>
              <a:rPr lang="en-IN" sz="2600" i="1" dirty="0">
                <a:latin typeface="Times New Roman" pitchFamily="18" charset="0"/>
                <a:cs typeface="Times New Roman" pitchFamily="18" charset="0"/>
              </a:rPr>
              <a:t>C </a:t>
            </a:r>
            <a:r>
              <a:rPr lang="en-IN" sz="2600" dirty="0">
                <a:latin typeface="Times New Roman" pitchFamily="18" charset="0"/>
                <a:cs typeface="Times New Roman" pitchFamily="18" charset="0"/>
              </a:rPr>
              <a:t>is a station within range of </a:t>
            </a:r>
            <a:r>
              <a:rPr lang="en-IN" sz="2600" i="1" dirty="0">
                <a:latin typeface="Times New Roman" pitchFamily="18" charset="0"/>
                <a:cs typeface="Times New Roman" pitchFamily="18" charset="0"/>
              </a:rPr>
              <a:t>A </a:t>
            </a:r>
          </a:p>
          <a:p>
            <a:r>
              <a:rPr lang="en-IN" sz="2600" i="1" dirty="0">
                <a:latin typeface="Times New Roman" pitchFamily="18" charset="0"/>
                <a:cs typeface="Times New Roman" pitchFamily="18" charset="0"/>
              </a:rPr>
              <a:t>D </a:t>
            </a:r>
            <a:r>
              <a:rPr lang="en-IN" sz="2600" dirty="0">
                <a:latin typeface="Times New Roman" pitchFamily="18" charset="0"/>
                <a:cs typeface="Times New Roman" pitchFamily="18" charset="0"/>
              </a:rPr>
              <a:t>is a station within range of </a:t>
            </a:r>
            <a:r>
              <a:rPr lang="en-IN" sz="2600" i="1" dirty="0">
                <a:latin typeface="Times New Roman" pitchFamily="18" charset="0"/>
                <a:cs typeface="Times New Roman" pitchFamily="18" charset="0"/>
              </a:rPr>
              <a:t>B </a:t>
            </a:r>
            <a:r>
              <a:rPr lang="en-IN" sz="2600" dirty="0">
                <a:latin typeface="Times New Roman" pitchFamily="18" charset="0"/>
                <a:cs typeface="Times New Roman" pitchFamily="18" charset="0"/>
              </a:rPr>
              <a:t>but not within range of </a:t>
            </a:r>
            <a:r>
              <a:rPr lang="en-IN" sz="2600" i="1" dirty="0">
                <a:latin typeface="Times New Roman" pitchFamily="18" charset="0"/>
                <a:cs typeface="Times New Roman" pitchFamily="18" charset="0"/>
              </a:rPr>
              <a:t>A</a:t>
            </a:r>
            <a:r>
              <a:rPr lang="en-IN" sz="2600" dirty="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87</a:t>
            </a:fld>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902" y="3691793"/>
            <a:ext cx="8650279" cy="304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5373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86691"/>
            <a:ext cx="8229600" cy="5687845"/>
          </a:xfrm>
        </p:spPr>
        <p:txBody>
          <a:bodyPr>
            <a:normAutofit lnSpcReduction="10000"/>
          </a:bodyPr>
          <a:lstStyle/>
          <a:p>
            <a:pPr algn="just"/>
            <a:r>
              <a:rPr lang="en-IN" dirty="0">
                <a:latin typeface="Times New Roman" pitchFamily="18" charset="0"/>
                <a:cs typeface="Times New Roman" pitchFamily="18" charset="0"/>
              </a:rPr>
              <a:t>The protocol starts when </a:t>
            </a:r>
            <a:r>
              <a:rPr lang="en-IN" i="1" dirty="0">
                <a:latin typeface="Times New Roman" pitchFamily="18" charset="0"/>
                <a:cs typeface="Times New Roman" pitchFamily="18" charset="0"/>
              </a:rPr>
              <a:t>A </a:t>
            </a:r>
            <a:r>
              <a:rPr lang="en-IN" dirty="0">
                <a:latin typeface="Times New Roman" pitchFamily="18" charset="0"/>
                <a:cs typeface="Times New Roman" pitchFamily="18" charset="0"/>
              </a:rPr>
              <a:t>decides it wants to send data to </a:t>
            </a:r>
            <a:r>
              <a:rPr lang="en-IN" i="1" dirty="0">
                <a:latin typeface="Times New Roman" pitchFamily="18" charset="0"/>
                <a:cs typeface="Times New Roman" pitchFamily="18" charset="0"/>
              </a:rPr>
              <a:t>B</a:t>
            </a:r>
            <a:r>
              <a:rPr lang="en-IN" dirty="0">
                <a:latin typeface="Times New Roman" pitchFamily="18" charset="0"/>
                <a:cs typeface="Times New Roman" pitchFamily="18" charset="0"/>
              </a:rPr>
              <a:t>. </a:t>
            </a:r>
          </a:p>
          <a:p>
            <a:pPr algn="just"/>
            <a:r>
              <a:rPr lang="en-IN" i="1" dirty="0">
                <a:latin typeface="Times New Roman" pitchFamily="18" charset="0"/>
                <a:cs typeface="Times New Roman" pitchFamily="18" charset="0"/>
              </a:rPr>
              <a:t>A </a:t>
            </a:r>
            <a:r>
              <a:rPr lang="en-IN" dirty="0">
                <a:latin typeface="Times New Roman" pitchFamily="18" charset="0"/>
                <a:cs typeface="Times New Roman" pitchFamily="18" charset="0"/>
              </a:rPr>
              <a:t>begins by sending an RTS frame to </a:t>
            </a:r>
            <a:r>
              <a:rPr lang="en-IN" i="1" dirty="0">
                <a:latin typeface="Times New Roman" pitchFamily="18" charset="0"/>
                <a:cs typeface="Times New Roman" pitchFamily="18" charset="0"/>
              </a:rPr>
              <a:t>B </a:t>
            </a:r>
            <a:r>
              <a:rPr lang="en-IN" dirty="0">
                <a:latin typeface="Times New Roman" pitchFamily="18" charset="0"/>
                <a:cs typeface="Times New Roman" pitchFamily="18" charset="0"/>
              </a:rPr>
              <a:t>to request permission to send it a frame. </a:t>
            </a:r>
          </a:p>
          <a:p>
            <a:pPr algn="just"/>
            <a:r>
              <a:rPr lang="en-IN" dirty="0">
                <a:latin typeface="Times New Roman" pitchFamily="18" charset="0"/>
                <a:cs typeface="Times New Roman" pitchFamily="18" charset="0"/>
              </a:rPr>
              <a:t>If </a:t>
            </a:r>
            <a:r>
              <a:rPr lang="en-IN" i="1" dirty="0">
                <a:latin typeface="Times New Roman" pitchFamily="18" charset="0"/>
                <a:cs typeface="Times New Roman" pitchFamily="18" charset="0"/>
              </a:rPr>
              <a:t>B </a:t>
            </a:r>
            <a:r>
              <a:rPr lang="en-IN" dirty="0">
                <a:latin typeface="Times New Roman" pitchFamily="18" charset="0"/>
                <a:cs typeface="Times New Roman" pitchFamily="18" charset="0"/>
              </a:rPr>
              <a:t>receives this request, it answers with a CTS frame to indicate that the channel is clear to send. </a:t>
            </a:r>
          </a:p>
          <a:p>
            <a:pPr algn="just"/>
            <a:r>
              <a:rPr lang="en-IN" dirty="0">
                <a:latin typeface="Times New Roman" pitchFamily="18" charset="0"/>
                <a:cs typeface="Times New Roman" pitchFamily="18" charset="0"/>
              </a:rPr>
              <a:t>Upon receipt of the CTS, </a:t>
            </a:r>
            <a:r>
              <a:rPr lang="en-IN" i="1" dirty="0">
                <a:latin typeface="Times New Roman" pitchFamily="18" charset="0"/>
                <a:cs typeface="Times New Roman" pitchFamily="18" charset="0"/>
              </a:rPr>
              <a:t>A </a:t>
            </a:r>
            <a:r>
              <a:rPr lang="en-IN" dirty="0">
                <a:latin typeface="Times New Roman" pitchFamily="18" charset="0"/>
                <a:cs typeface="Times New Roman" pitchFamily="18" charset="0"/>
              </a:rPr>
              <a:t>sends its frame and starts an ACK timer. </a:t>
            </a:r>
          </a:p>
          <a:p>
            <a:pPr algn="just"/>
            <a:r>
              <a:rPr lang="en-IN" dirty="0">
                <a:latin typeface="Times New Roman" pitchFamily="18" charset="0"/>
                <a:cs typeface="Times New Roman" pitchFamily="18" charset="0"/>
              </a:rPr>
              <a:t>Upon correct receipt of the data frame, </a:t>
            </a:r>
            <a:r>
              <a:rPr lang="en-IN" i="1" dirty="0">
                <a:latin typeface="Times New Roman" pitchFamily="18" charset="0"/>
                <a:cs typeface="Times New Roman" pitchFamily="18" charset="0"/>
              </a:rPr>
              <a:t>B </a:t>
            </a:r>
            <a:r>
              <a:rPr lang="en-IN" dirty="0">
                <a:latin typeface="Times New Roman" pitchFamily="18" charset="0"/>
                <a:cs typeface="Times New Roman" pitchFamily="18" charset="0"/>
              </a:rPr>
              <a:t>responds with an ACK frame, completing the exchange. </a:t>
            </a:r>
          </a:p>
          <a:p>
            <a:pPr algn="just"/>
            <a:r>
              <a:rPr lang="en-IN" dirty="0">
                <a:latin typeface="Times New Roman" pitchFamily="18" charset="0"/>
                <a:cs typeface="Times New Roman" pitchFamily="18" charset="0"/>
              </a:rPr>
              <a:t>If </a:t>
            </a:r>
            <a:r>
              <a:rPr lang="en-IN" i="1" dirty="0">
                <a:latin typeface="Times New Roman" pitchFamily="18" charset="0"/>
                <a:cs typeface="Times New Roman" pitchFamily="18" charset="0"/>
              </a:rPr>
              <a:t>A</a:t>
            </a:r>
            <a:r>
              <a:rPr lang="en-IN" dirty="0">
                <a:latin typeface="Times New Roman" pitchFamily="18" charset="0"/>
                <a:cs typeface="Times New Roman" pitchFamily="18" charset="0"/>
              </a:rPr>
              <a:t>’s ACK timer expires before the ACK gets back to it, it is treated as a collision and the whole protocol is run again after a </a:t>
            </a:r>
            <a:r>
              <a:rPr lang="en-IN" dirty="0" err="1">
                <a:latin typeface="Times New Roman" pitchFamily="18" charset="0"/>
                <a:cs typeface="Times New Roman" pitchFamily="18" charset="0"/>
              </a:rPr>
              <a:t>backoff</a:t>
            </a:r>
            <a:r>
              <a:rPr lang="en-IN" dirty="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88</a:t>
            </a:fld>
            <a:endParaRPr lang="en-US" dirty="0"/>
          </a:p>
        </p:txBody>
      </p:sp>
    </p:spTree>
    <p:extLst>
      <p:ext uri="{BB962C8B-B14F-4D97-AF65-F5344CB8AC3E}">
        <p14:creationId xmlns:p14="http://schemas.microsoft.com/office/powerpoint/2010/main" val="36320758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346" y="872836"/>
            <a:ext cx="8229600" cy="5396900"/>
          </a:xfrm>
        </p:spPr>
        <p:txBody>
          <a:bodyPr>
            <a:normAutofit fontScale="85000" lnSpcReduction="10000"/>
          </a:bodyPr>
          <a:lstStyle/>
          <a:p>
            <a:pPr algn="just"/>
            <a:r>
              <a:rPr lang="en-IN" dirty="0">
                <a:latin typeface="Times New Roman" pitchFamily="18" charset="0"/>
                <a:cs typeface="Times New Roman" pitchFamily="18" charset="0"/>
              </a:rPr>
              <a:t>Now let us consider this exchange from the viewpoints of </a:t>
            </a:r>
            <a:r>
              <a:rPr lang="en-IN" i="1" dirty="0">
                <a:latin typeface="Times New Roman" pitchFamily="18" charset="0"/>
                <a:cs typeface="Times New Roman" pitchFamily="18" charset="0"/>
              </a:rPr>
              <a:t>C </a:t>
            </a:r>
            <a:r>
              <a:rPr lang="en-IN" dirty="0">
                <a:latin typeface="Times New Roman" pitchFamily="18" charset="0"/>
                <a:cs typeface="Times New Roman" pitchFamily="18" charset="0"/>
              </a:rPr>
              <a:t>and </a:t>
            </a:r>
            <a:r>
              <a:rPr lang="en-IN" i="1" dirty="0">
                <a:latin typeface="Times New Roman" pitchFamily="18" charset="0"/>
                <a:cs typeface="Times New Roman" pitchFamily="18" charset="0"/>
              </a:rPr>
              <a:t>D</a:t>
            </a:r>
            <a:r>
              <a:rPr lang="en-IN" dirty="0">
                <a:latin typeface="Times New Roman" pitchFamily="18" charset="0"/>
                <a:cs typeface="Times New Roman" pitchFamily="18" charset="0"/>
              </a:rPr>
              <a:t>. </a:t>
            </a:r>
          </a:p>
          <a:p>
            <a:pPr algn="just"/>
            <a:r>
              <a:rPr lang="en-IN" i="1" dirty="0">
                <a:latin typeface="Times New Roman" pitchFamily="18" charset="0"/>
                <a:cs typeface="Times New Roman" pitchFamily="18" charset="0"/>
              </a:rPr>
              <a:t>C </a:t>
            </a:r>
            <a:r>
              <a:rPr lang="en-IN" dirty="0">
                <a:latin typeface="Times New Roman" pitchFamily="18" charset="0"/>
                <a:cs typeface="Times New Roman" pitchFamily="18" charset="0"/>
              </a:rPr>
              <a:t>is within range of </a:t>
            </a:r>
            <a:r>
              <a:rPr lang="en-IN" i="1" dirty="0">
                <a:latin typeface="Times New Roman" pitchFamily="18" charset="0"/>
                <a:cs typeface="Times New Roman" pitchFamily="18" charset="0"/>
              </a:rPr>
              <a:t>A</a:t>
            </a:r>
            <a:r>
              <a:rPr lang="en-IN" dirty="0">
                <a:latin typeface="Times New Roman" pitchFamily="18" charset="0"/>
                <a:cs typeface="Times New Roman" pitchFamily="18" charset="0"/>
              </a:rPr>
              <a:t>, so it may receive the RTS frame. </a:t>
            </a:r>
          </a:p>
          <a:p>
            <a:pPr algn="just"/>
            <a:r>
              <a:rPr lang="en-IN" dirty="0">
                <a:latin typeface="Times New Roman" pitchFamily="18" charset="0"/>
                <a:cs typeface="Times New Roman" pitchFamily="18" charset="0"/>
              </a:rPr>
              <a:t>If it does, it realizes that someone is going to send data soon. </a:t>
            </a:r>
          </a:p>
          <a:p>
            <a:pPr algn="just"/>
            <a:r>
              <a:rPr lang="en-IN" dirty="0">
                <a:latin typeface="Times New Roman" pitchFamily="18" charset="0"/>
                <a:cs typeface="Times New Roman" pitchFamily="18" charset="0"/>
              </a:rPr>
              <a:t>From the information provided in the RTS request, it can estimate how long the sequence will take, including the final ACK. </a:t>
            </a:r>
          </a:p>
          <a:p>
            <a:pPr algn="just"/>
            <a:r>
              <a:rPr lang="en-IN" dirty="0">
                <a:latin typeface="Times New Roman" pitchFamily="18" charset="0"/>
                <a:cs typeface="Times New Roman" pitchFamily="18" charset="0"/>
              </a:rPr>
              <a:t>So, it desists from transmitting anything until the exchange is completed.</a:t>
            </a:r>
          </a:p>
          <a:p>
            <a:pPr algn="just"/>
            <a:r>
              <a:rPr lang="en-IN" dirty="0">
                <a:latin typeface="Times New Roman" pitchFamily="18" charset="0"/>
                <a:cs typeface="Times New Roman" pitchFamily="18" charset="0"/>
              </a:rPr>
              <a:t>It does so by updating its record of the NAV to indicate that the channel is busy. </a:t>
            </a:r>
          </a:p>
          <a:p>
            <a:pPr algn="just"/>
            <a:r>
              <a:rPr lang="en-IN" i="1" dirty="0">
                <a:latin typeface="Times New Roman" pitchFamily="18" charset="0"/>
                <a:cs typeface="Times New Roman" pitchFamily="18" charset="0"/>
              </a:rPr>
              <a:t>D </a:t>
            </a:r>
            <a:r>
              <a:rPr lang="en-IN" dirty="0">
                <a:latin typeface="Times New Roman" pitchFamily="18" charset="0"/>
                <a:cs typeface="Times New Roman" pitchFamily="18" charset="0"/>
              </a:rPr>
              <a:t>does not hear the RTS, but it does hear the CTS, so it also updates its NAV. </a:t>
            </a:r>
          </a:p>
          <a:p>
            <a:pPr algn="just"/>
            <a:r>
              <a:rPr lang="en-IN" dirty="0">
                <a:latin typeface="Times New Roman" pitchFamily="18" charset="0"/>
                <a:cs typeface="Times New Roman" pitchFamily="18" charset="0"/>
              </a:rPr>
              <a:t>Note that the NAV signals are not transmitted; they are just internal reminders to keep quiet for a certain period of time.</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89</a:t>
            </a:fld>
            <a:endParaRPr lang="en-US" dirty="0"/>
          </a:p>
        </p:txBody>
      </p:sp>
    </p:spTree>
    <p:extLst>
      <p:ext uri="{BB962C8B-B14F-4D97-AF65-F5344CB8AC3E}">
        <p14:creationId xmlns:p14="http://schemas.microsoft.com/office/powerpoint/2010/main" val="30882732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IN" dirty="0">
                <a:latin typeface="Times New Roman" pitchFamily="18" charset="0"/>
                <a:cs typeface="Times New Roman" pitchFamily="18" charset="0"/>
              </a:rPr>
              <a:t>However, while RTS/CTS sounds good in theory, it is one of those designs that has proved to be of little value in practice.</a:t>
            </a:r>
          </a:p>
          <a:p>
            <a:pPr algn="just"/>
            <a:r>
              <a:rPr lang="en-IN" dirty="0">
                <a:latin typeface="Times New Roman" pitchFamily="18" charset="0"/>
                <a:cs typeface="Times New Roman" pitchFamily="18" charset="0"/>
              </a:rPr>
              <a:t>CSMA/CA with physical and virtual sensing is the core of the 802.11 protocol.</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90</a:t>
            </a:fld>
            <a:endParaRPr lang="en-US" dirty="0"/>
          </a:p>
        </p:txBody>
      </p:sp>
    </p:spTree>
    <p:extLst>
      <p:ext uri="{BB962C8B-B14F-4D97-AF65-F5344CB8AC3E}">
        <p14:creationId xmlns:p14="http://schemas.microsoft.com/office/powerpoint/2010/main" val="28534698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462874"/>
            <a:ext cx="9144000" cy="704543"/>
          </a:xfrm>
        </p:spPr>
        <p:txBody>
          <a:bodyPr/>
          <a:lstStyle/>
          <a:p>
            <a:r>
              <a:rPr lang="en-IN" b="1" u="sng" dirty="0"/>
              <a:t>The 802.11 Frame Structure</a:t>
            </a:r>
            <a:endParaRPr lang="en-US" u="sng" dirty="0"/>
          </a:p>
        </p:txBody>
      </p:sp>
      <p:sp>
        <p:nvSpPr>
          <p:cNvPr id="6" name="Slide Number Placeholder 5"/>
          <p:cNvSpPr>
            <a:spLocks noGrp="1"/>
          </p:cNvSpPr>
          <p:nvPr>
            <p:ph type="sldNum" sz="quarter" idx="12"/>
          </p:nvPr>
        </p:nvSpPr>
        <p:spPr/>
        <p:txBody>
          <a:bodyPr/>
          <a:lstStyle/>
          <a:p>
            <a:fld id="{EF55C829-AE99-4997-8EBC-414F558758A8}" type="slidenum">
              <a:rPr lang="en-US" smtClean="0"/>
              <a:pPr/>
              <a:t>91</a:t>
            </a:fld>
            <a:endParaRPr lang="en-US" dirty="0"/>
          </a:p>
        </p:txBody>
      </p:sp>
      <p:sp>
        <p:nvSpPr>
          <p:cNvPr id="5" name="Rectangle 3"/>
          <p:cNvSpPr txBox="1">
            <a:spLocks noChangeArrowheads="1"/>
          </p:cNvSpPr>
          <p:nvPr/>
        </p:nvSpPr>
        <p:spPr bwMode="auto">
          <a:xfrm>
            <a:off x="0" y="3674358"/>
            <a:ext cx="9144000" cy="35624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i="1" dirty="0">
                <a:latin typeface="Times New Roman" pitchFamily="18" charset="0"/>
                <a:cs typeface="Times New Roman" pitchFamily="18" charset="0"/>
              </a:rPr>
              <a:t>Frame Control field- </a:t>
            </a:r>
            <a:r>
              <a:rPr lang="en-IN" sz="2400" dirty="0">
                <a:latin typeface="Times New Roman" pitchFamily="18" charset="0"/>
                <a:cs typeface="Times New Roman" pitchFamily="18" charset="0"/>
              </a:rPr>
              <a:t>made up of 11 subfields.</a:t>
            </a:r>
            <a:endParaRPr lang="en-US" sz="2400" dirty="0">
              <a:latin typeface="Times New Roman" pitchFamily="18" charset="0"/>
              <a:cs typeface="Times New Roman" pitchFamily="18" charset="0"/>
            </a:endParaRP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Protocol version, </a:t>
            </a:r>
            <a:r>
              <a:rPr lang="en-IN" sz="2400" dirty="0">
                <a:latin typeface="Times New Roman" pitchFamily="18" charset="0"/>
                <a:cs typeface="Times New Roman" pitchFamily="18" charset="0"/>
              </a:rPr>
              <a:t>set to 00.</a:t>
            </a:r>
            <a:r>
              <a:rPr lang="en-US" sz="2400" dirty="0">
                <a:latin typeface="Times New Roman" pitchFamily="18" charset="0"/>
                <a:cs typeface="Times New Roman" pitchFamily="18" charset="0"/>
              </a:rPr>
              <a:t>which allows future versions of the protocol to operate at the same time in the same cell</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Type (data, control, or management) and Subtype fields (e.g., RTS or CTS).</a:t>
            </a:r>
          </a:p>
          <a:p>
            <a:pPr marL="1066800" lvl="1" indent="-609600" algn="just">
              <a:spcBef>
                <a:spcPct val="20000"/>
              </a:spcBef>
              <a:buClr>
                <a:schemeClr val="accent2"/>
              </a:buClr>
              <a:buFont typeface="Wingdings" pitchFamily="2" charset="2"/>
              <a:buChar char="§"/>
            </a:pPr>
            <a:r>
              <a:rPr lang="en-US" sz="2400" dirty="0">
                <a:latin typeface="Times New Roman" pitchFamily="18" charset="0"/>
                <a:cs typeface="Times New Roman" pitchFamily="18" charset="0"/>
              </a:rPr>
              <a:t>To DS and From DS bits indicate the frame is going to or coming from the </a:t>
            </a:r>
            <a:r>
              <a:rPr lang="en-IN" sz="2400" dirty="0">
                <a:latin typeface="Times New Roman" pitchFamily="18" charset="0"/>
                <a:cs typeface="Times New Roman" pitchFamily="18" charset="0"/>
              </a:rPr>
              <a:t>the network connected to the APs, which is called the</a:t>
            </a:r>
            <a:r>
              <a:rPr lang="en-US" sz="2400" dirty="0">
                <a:latin typeface="Times New Roman" pitchFamily="18" charset="0"/>
                <a:cs typeface="Times New Roman" pitchFamily="18" charset="0"/>
              </a:rPr>
              <a:t>distribution system (e.g., Ethernet).</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927" y="1244280"/>
            <a:ext cx="8548255"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55C829-AE99-4997-8EBC-414F558758A8}" type="slidenum">
              <a:rPr lang="en-US" smtClean="0"/>
              <a:pPr/>
              <a:t>92</a:t>
            </a:fld>
            <a:endParaRPr lang="en-US" dirty="0"/>
          </a:p>
        </p:txBody>
      </p:sp>
      <p:sp>
        <p:nvSpPr>
          <p:cNvPr id="5" name="Rectangle 3"/>
          <p:cNvSpPr txBox="1">
            <a:spLocks noChangeArrowheads="1"/>
          </p:cNvSpPr>
          <p:nvPr/>
        </p:nvSpPr>
        <p:spPr bwMode="auto">
          <a:xfrm>
            <a:off x="332508" y="688622"/>
            <a:ext cx="8492837" cy="604945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457200" indent="-457200" algn="just">
              <a:buFont typeface="Arial" pitchFamily="34" charset="0"/>
              <a:buChar char="•"/>
            </a:pPr>
            <a:r>
              <a:rPr lang="en-IN" sz="2800" dirty="0">
                <a:latin typeface="Times New Roman" pitchFamily="18" charset="0"/>
                <a:cs typeface="Times New Roman" pitchFamily="18" charset="0"/>
              </a:rPr>
              <a:t>The </a:t>
            </a:r>
            <a:r>
              <a:rPr lang="en-IN" sz="2800" i="1" dirty="0">
                <a:latin typeface="Times New Roman" pitchFamily="18" charset="0"/>
                <a:cs typeface="Times New Roman" pitchFamily="18" charset="0"/>
              </a:rPr>
              <a:t>More fragments </a:t>
            </a:r>
            <a:r>
              <a:rPr lang="en-IN" sz="2800" dirty="0">
                <a:latin typeface="Times New Roman" pitchFamily="18" charset="0"/>
                <a:cs typeface="Times New Roman" pitchFamily="18" charset="0"/>
              </a:rPr>
              <a:t>bit means that more fragments will follow. </a:t>
            </a:r>
          </a:p>
          <a:p>
            <a:pPr marL="457200" indent="-457200" algn="just">
              <a:buFont typeface="Arial" pitchFamily="34" charset="0"/>
              <a:buChar char="•"/>
            </a:pPr>
            <a:r>
              <a:rPr lang="en-IN" sz="2800" dirty="0">
                <a:latin typeface="Times New Roman" pitchFamily="18" charset="0"/>
                <a:cs typeface="Times New Roman" pitchFamily="18" charset="0"/>
              </a:rPr>
              <a:t>The </a:t>
            </a:r>
            <a:r>
              <a:rPr lang="en-IN" sz="2800" i="1" dirty="0">
                <a:latin typeface="Times New Roman" pitchFamily="18" charset="0"/>
                <a:cs typeface="Times New Roman" pitchFamily="18" charset="0"/>
              </a:rPr>
              <a:t>Retry </a:t>
            </a:r>
            <a:r>
              <a:rPr lang="en-IN" sz="2800" dirty="0">
                <a:latin typeface="Times New Roman" pitchFamily="18" charset="0"/>
                <a:cs typeface="Times New Roman" pitchFamily="18" charset="0"/>
              </a:rPr>
              <a:t>bit marks a retransmission of a frame sent earlier. </a:t>
            </a:r>
          </a:p>
          <a:p>
            <a:pPr marL="457200" indent="-457200" algn="just">
              <a:buFont typeface="Arial" pitchFamily="34" charset="0"/>
              <a:buChar char="•"/>
            </a:pPr>
            <a:r>
              <a:rPr lang="en-IN" sz="2800" dirty="0">
                <a:latin typeface="Times New Roman" pitchFamily="18" charset="0"/>
                <a:cs typeface="Times New Roman" pitchFamily="18" charset="0"/>
              </a:rPr>
              <a:t>The </a:t>
            </a:r>
            <a:r>
              <a:rPr lang="en-IN" sz="2800" i="1" dirty="0">
                <a:latin typeface="Times New Roman" pitchFamily="18" charset="0"/>
                <a:cs typeface="Times New Roman" pitchFamily="18" charset="0"/>
              </a:rPr>
              <a:t>Power management </a:t>
            </a:r>
            <a:r>
              <a:rPr lang="en-IN" sz="2800" dirty="0">
                <a:latin typeface="Times New Roman" pitchFamily="18" charset="0"/>
                <a:cs typeface="Times New Roman" pitchFamily="18" charset="0"/>
              </a:rPr>
              <a:t>bit indicates that the sender is going into power-save mode. </a:t>
            </a:r>
          </a:p>
          <a:p>
            <a:pPr marL="457200" indent="-457200" algn="just">
              <a:buFont typeface="Arial" pitchFamily="34" charset="0"/>
              <a:buChar char="•"/>
            </a:pPr>
            <a:r>
              <a:rPr lang="en-IN" sz="2800" dirty="0">
                <a:latin typeface="Times New Roman" pitchFamily="18" charset="0"/>
                <a:cs typeface="Times New Roman" pitchFamily="18" charset="0"/>
              </a:rPr>
              <a:t>The </a:t>
            </a:r>
            <a:r>
              <a:rPr lang="en-IN" sz="2800" i="1" dirty="0">
                <a:latin typeface="Times New Roman" pitchFamily="18" charset="0"/>
                <a:cs typeface="Times New Roman" pitchFamily="18" charset="0"/>
              </a:rPr>
              <a:t>More data </a:t>
            </a:r>
            <a:r>
              <a:rPr lang="en-IN" sz="2800" dirty="0">
                <a:latin typeface="Times New Roman" pitchFamily="18" charset="0"/>
                <a:cs typeface="Times New Roman" pitchFamily="18" charset="0"/>
              </a:rPr>
              <a:t>bit indicates that the sender has additional frames for the receiver. </a:t>
            </a:r>
          </a:p>
          <a:p>
            <a:pPr marL="457200" indent="-457200" algn="just">
              <a:buFont typeface="Arial" pitchFamily="34" charset="0"/>
              <a:buChar char="•"/>
            </a:pPr>
            <a:r>
              <a:rPr lang="en-IN" sz="2800" dirty="0">
                <a:latin typeface="Times New Roman" pitchFamily="18" charset="0"/>
                <a:cs typeface="Times New Roman" pitchFamily="18" charset="0"/>
              </a:rPr>
              <a:t>The </a:t>
            </a:r>
            <a:r>
              <a:rPr lang="en-IN" sz="2800" i="1" dirty="0">
                <a:latin typeface="Times New Roman" pitchFamily="18" charset="0"/>
                <a:cs typeface="Times New Roman" pitchFamily="18" charset="0"/>
              </a:rPr>
              <a:t>Protected Frame </a:t>
            </a:r>
            <a:r>
              <a:rPr lang="en-IN" sz="2800" dirty="0">
                <a:latin typeface="Times New Roman" pitchFamily="18" charset="0"/>
                <a:cs typeface="Times New Roman" pitchFamily="18" charset="0"/>
              </a:rPr>
              <a:t>bit indicates that the frame body has been encrypted for security.</a:t>
            </a:r>
          </a:p>
          <a:p>
            <a:pPr marL="457200" indent="-457200" algn="just">
              <a:buFont typeface="Arial" pitchFamily="34" charset="0"/>
              <a:buChar char="•"/>
            </a:pPr>
            <a:r>
              <a:rPr lang="en-IN" sz="2800" dirty="0">
                <a:latin typeface="Times New Roman" pitchFamily="18" charset="0"/>
                <a:cs typeface="Times New Roman" pitchFamily="18" charset="0"/>
              </a:rPr>
              <a:t>Finally, the </a:t>
            </a:r>
            <a:r>
              <a:rPr lang="en-IN" sz="2800" i="1" dirty="0">
                <a:latin typeface="Times New Roman" pitchFamily="18" charset="0"/>
                <a:cs typeface="Times New Roman" pitchFamily="18" charset="0"/>
              </a:rPr>
              <a:t>Order </a:t>
            </a:r>
            <a:r>
              <a:rPr lang="en-IN" sz="2800" dirty="0">
                <a:latin typeface="Times New Roman" pitchFamily="18" charset="0"/>
                <a:cs typeface="Times New Roman" pitchFamily="18" charset="0"/>
              </a:rPr>
              <a:t>bit tells the receiver that the higher layer expects the sequence of frames to arrive strictly in order.</a:t>
            </a:r>
            <a:endParaRPr lang="en-US" sz="5400" dirty="0">
              <a:latin typeface="Times New Roman" pitchFamily="18" charset="0"/>
              <a:cs typeface="Times New Roman"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230" y="775855"/>
            <a:ext cx="8575964" cy="5798681"/>
          </a:xfrm>
        </p:spPr>
        <p:txBody>
          <a:bodyPr>
            <a:normAutofit/>
          </a:bodyPr>
          <a:lstStyle/>
          <a:p>
            <a:pPr algn="just"/>
            <a:r>
              <a:rPr lang="en-IN" dirty="0">
                <a:latin typeface="Times New Roman" pitchFamily="18" charset="0"/>
                <a:cs typeface="Times New Roman" pitchFamily="18" charset="0"/>
              </a:rPr>
              <a:t>The </a:t>
            </a:r>
            <a:r>
              <a:rPr lang="en-IN" i="1" dirty="0">
                <a:latin typeface="Times New Roman" pitchFamily="18" charset="0"/>
                <a:cs typeface="Times New Roman" pitchFamily="18" charset="0"/>
              </a:rPr>
              <a:t>Duration </a:t>
            </a:r>
            <a:r>
              <a:rPr lang="en-IN" dirty="0">
                <a:latin typeface="Times New Roman" pitchFamily="18" charset="0"/>
                <a:cs typeface="Times New Roman" pitchFamily="18" charset="0"/>
              </a:rPr>
              <a:t>field, tells how long the frame and its acknowledgement will occupy the channel, measured in microseconds. </a:t>
            </a:r>
          </a:p>
          <a:p>
            <a:pPr algn="just"/>
            <a:r>
              <a:rPr lang="en-IN" dirty="0">
                <a:latin typeface="Times New Roman" pitchFamily="18" charset="0"/>
                <a:cs typeface="Times New Roman" pitchFamily="18" charset="0"/>
              </a:rPr>
              <a:t>Next come addresses. </a:t>
            </a:r>
          </a:p>
          <a:p>
            <a:pPr algn="just"/>
            <a:r>
              <a:rPr lang="en-IN" dirty="0">
                <a:latin typeface="Times New Roman" pitchFamily="18" charset="0"/>
                <a:cs typeface="Times New Roman" pitchFamily="18" charset="0"/>
              </a:rPr>
              <a:t>Data frames sent to or from an AP have three addresses,</a:t>
            </a:r>
          </a:p>
          <a:p>
            <a:pPr marL="624078" indent="-514350" algn="just">
              <a:buFont typeface="+mj-lt"/>
              <a:buAutoNum type="arabicPeriod"/>
            </a:pPr>
            <a:r>
              <a:rPr lang="en-IN" dirty="0">
                <a:latin typeface="Times New Roman" pitchFamily="18" charset="0"/>
                <a:cs typeface="Times New Roman" pitchFamily="18" charset="0"/>
              </a:rPr>
              <a:t>The first address is the receiver, </a:t>
            </a:r>
          </a:p>
          <a:p>
            <a:pPr marL="624078" indent="-514350" algn="just">
              <a:buFont typeface="+mj-lt"/>
              <a:buAutoNum type="arabicPeriod"/>
            </a:pPr>
            <a:r>
              <a:rPr lang="en-IN" dirty="0">
                <a:latin typeface="Times New Roman" pitchFamily="18" charset="0"/>
                <a:cs typeface="Times New Roman" pitchFamily="18" charset="0"/>
              </a:rPr>
              <a:t>Second address is the transmitter. </a:t>
            </a:r>
          </a:p>
          <a:p>
            <a:pPr marL="624078" indent="-514350" algn="just">
              <a:buFont typeface="+mj-lt"/>
              <a:buAutoNum type="arabicPeriod"/>
            </a:pPr>
            <a:r>
              <a:rPr lang="en-IN" dirty="0">
                <a:latin typeface="Times New Roman" pitchFamily="18" charset="0"/>
                <a:cs typeface="Times New Roman" pitchFamily="18" charset="0"/>
              </a:rPr>
              <a:t>Third address - the AP is simply a relay point for frames as they travel between a client and another point on the network, perhaps a distant client or a portal to the Internet. The third address gives this distant endpoint.</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93</a:t>
            </a:fld>
            <a:endParaRPr lang="en-US" dirty="0"/>
          </a:p>
        </p:txBody>
      </p:sp>
    </p:spTree>
    <p:extLst>
      <p:ext uri="{BB962C8B-B14F-4D97-AF65-F5344CB8AC3E}">
        <p14:creationId xmlns:p14="http://schemas.microsoft.com/office/powerpoint/2010/main" val="9279820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9927"/>
            <a:ext cx="8229600" cy="5424609"/>
          </a:xfrm>
        </p:spPr>
        <p:txBody>
          <a:bodyPr/>
          <a:lstStyle/>
          <a:p>
            <a:r>
              <a:rPr lang="en-IN" dirty="0"/>
              <a:t>The </a:t>
            </a:r>
            <a:r>
              <a:rPr lang="en-IN" i="1" dirty="0"/>
              <a:t>Sequence </a:t>
            </a:r>
            <a:r>
              <a:rPr lang="en-IN" dirty="0"/>
              <a:t>field numbers frames so that duplicates can be detected. Of the 16 bits available, 4 identify the fragment and 12 carry a number that is advanced with each new transmission. </a:t>
            </a:r>
          </a:p>
          <a:p>
            <a:r>
              <a:rPr lang="en-IN" dirty="0"/>
              <a:t>The </a:t>
            </a:r>
            <a:r>
              <a:rPr lang="en-IN" i="1" dirty="0"/>
              <a:t>Data </a:t>
            </a:r>
            <a:r>
              <a:rPr lang="en-IN" dirty="0"/>
              <a:t>field contains the payload, up to 2312</a:t>
            </a:r>
          </a:p>
          <a:p>
            <a:r>
              <a:rPr lang="en-IN" dirty="0"/>
              <a:t>bytes. </a:t>
            </a:r>
          </a:p>
          <a:p>
            <a:r>
              <a:rPr lang="en-IN" i="1" dirty="0"/>
              <a:t>Frame check sequence</a:t>
            </a:r>
            <a:r>
              <a:rPr lang="en-IN" dirty="0"/>
              <a:t>, has the 32-bit CRC</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94</a:t>
            </a:fld>
            <a:endParaRPr lang="en-US" dirty="0"/>
          </a:p>
        </p:txBody>
      </p:sp>
    </p:spTree>
    <p:extLst>
      <p:ext uri="{BB962C8B-B14F-4D97-AF65-F5344CB8AC3E}">
        <p14:creationId xmlns:p14="http://schemas.microsoft.com/office/powerpoint/2010/main" val="1371720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95</a:t>
            </a:fld>
            <a:endParaRPr sz="1200">
              <a:latin typeface="Times New Roman"/>
              <a:cs typeface="Times New Roman"/>
            </a:endParaRPr>
          </a:p>
        </p:txBody>
      </p:sp>
      <p:sp>
        <p:nvSpPr>
          <p:cNvPr id="2" name="object 2"/>
          <p:cNvSpPr txBox="1">
            <a:spLocks noGrp="1"/>
          </p:cNvSpPr>
          <p:nvPr>
            <p:ph type="title"/>
          </p:nvPr>
        </p:nvSpPr>
        <p:spPr>
          <a:xfrm>
            <a:off x="1004319" y="506390"/>
            <a:ext cx="7121894" cy="626231"/>
          </a:xfrm>
          <a:prstGeom prst="rect">
            <a:avLst/>
          </a:prstGeom>
        </p:spPr>
        <p:txBody>
          <a:bodyPr vert="horz" wrap="square" lIns="0" tIns="10575" rIns="0" bIns="0" rtlCol="0">
            <a:spAutoFit/>
          </a:bodyPr>
          <a:lstStyle/>
          <a:p>
            <a:pPr marL="3390114" marR="4453" indent="-3379539">
              <a:spcBef>
                <a:spcPts val="83"/>
              </a:spcBef>
            </a:pPr>
            <a:r>
              <a:rPr spc="-4" dirty="0"/>
              <a:t>DATA LINK </a:t>
            </a:r>
            <a:r>
              <a:rPr spc="-9" dirty="0"/>
              <a:t>LAYER </a:t>
            </a:r>
            <a:r>
              <a:rPr spc="-4" dirty="0"/>
              <a:t>SWITCHING </a:t>
            </a:r>
            <a:r>
              <a:rPr spc="-863" dirty="0"/>
              <a:t> </a:t>
            </a:r>
            <a:endParaRPr spc="-4" dirty="0"/>
          </a:p>
        </p:txBody>
      </p:sp>
      <p:sp>
        <p:nvSpPr>
          <p:cNvPr id="3" name="object 3"/>
          <p:cNvSpPr txBox="1"/>
          <p:nvPr/>
        </p:nvSpPr>
        <p:spPr>
          <a:xfrm>
            <a:off x="637310" y="1373211"/>
            <a:ext cx="8298872" cy="4515038"/>
          </a:xfrm>
          <a:prstGeom prst="rect">
            <a:avLst/>
          </a:prstGeom>
        </p:spPr>
        <p:txBody>
          <a:bodyPr vert="horz" wrap="square" lIns="0" tIns="11132" rIns="0" bIns="0" rtlCol="0">
            <a:spAutoFit/>
          </a:bodyPr>
          <a:lstStyle/>
          <a:p>
            <a:pPr marL="11132" marR="82930" algn="just">
              <a:spcBef>
                <a:spcPts val="88"/>
              </a:spcBef>
              <a:buClr>
                <a:srgbClr val="3232CC"/>
              </a:buClr>
              <a:buSzPct val="97222"/>
              <a:buChar char="•"/>
              <a:tabLst>
                <a:tab pos="152502" algn="l"/>
              </a:tabLst>
            </a:pPr>
            <a:r>
              <a:rPr sz="2600" spc="-4" dirty="0">
                <a:latin typeface="Times New Roman"/>
                <a:cs typeface="Times New Roman"/>
              </a:rPr>
              <a:t>Many</a:t>
            </a:r>
            <a:r>
              <a:rPr sz="2600" dirty="0">
                <a:latin typeface="Times New Roman"/>
                <a:cs typeface="Times New Roman"/>
              </a:rPr>
              <a:t> </a:t>
            </a:r>
            <a:r>
              <a:rPr sz="2600" spc="-4" dirty="0">
                <a:latin typeface="Times New Roman"/>
                <a:cs typeface="Times New Roman"/>
              </a:rPr>
              <a:t>organizations</a:t>
            </a:r>
            <a:r>
              <a:rPr sz="2600" spc="4" dirty="0">
                <a:latin typeface="Times New Roman"/>
                <a:cs typeface="Times New Roman"/>
              </a:rPr>
              <a:t> </a:t>
            </a:r>
            <a:r>
              <a:rPr sz="2600" spc="-4" dirty="0">
                <a:latin typeface="Times New Roman"/>
                <a:cs typeface="Times New Roman"/>
              </a:rPr>
              <a:t>have</a:t>
            </a:r>
            <a:r>
              <a:rPr sz="2600" dirty="0">
                <a:latin typeface="Times New Roman"/>
                <a:cs typeface="Times New Roman"/>
              </a:rPr>
              <a:t> </a:t>
            </a:r>
            <a:r>
              <a:rPr sz="2600" spc="-4" dirty="0">
                <a:latin typeface="Times New Roman"/>
                <a:cs typeface="Times New Roman"/>
              </a:rPr>
              <a:t>multiple</a:t>
            </a:r>
            <a:r>
              <a:rPr sz="2600" dirty="0">
                <a:latin typeface="Times New Roman"/>
                <a:cs typeface="Times New Roman"/>
              </a:rPr>
              <a:t> </a:t>
            </a:r>
            <a:r>
              <a:rPr sz="2600" spc="-4" dirty="0">
                <a:latin typeface="Times New Roman"/>
                <a:cs typeface="Times New Roman"/>
              </a:rPr>
              <a:t>LANs</a:t>
            </a:r>
            <a:r>
              <a:rPr sz="2600" dirty="0">
                <a:latin typeface="Times New Roman"/>
                <a:cs typeface="Times New Roman"/>
              </a:rPr>
              <a:t> </a:t>
            </a:r>
            <a:r>
              <a:rPr sz="2600" spc="-4" dirty="0">
                <a:latin typeface="Times New Roman"/>
                <a:cs typeface="Times New Roman"/>
              </a:rPr>
              <a:t>and </a:t>
            </a:r>
            <a:r>
              <a:rPr sz="2600" spc="-776" dirty="0">
                <a:latin typeface="Times New Roman"/>
                <a:cs typeface="Times New Roman"/>
              </a:rPr>
              <a:t> </a:t>
            </a:r>
            <a:r>
              <a:rPr sz="2600" spc="-4" dirty="0">
                <a:latin typeface="Times New Roman"/>
                <a:cs typeface="Times New Roman"/>
              </a:rPr>
              <a:t>wish to</a:t>
            </a:r>
            <a:r>
              <a:rPr sz="2600" dirty="0">
                <a:latin typeface="Times New Roman"/>
                <a:cs typeface="Times New Roman"/>
              </a:rPr>
              <a:t> </a:t>
            </a:r>
            <a:r>
              <a:rPr sz="2600" spc="-4" dirty="0">
                <a:latin typeface="Times New Roman"/>
                <a:cs typeface="Times New Roman"/>
              </a:rPr>
              <a:t>connect</a:t>
            </a:r>
            <a:r>
              <a:rPr sz="2600" spc="4" dirty="0">
                <a:latin typeface="Times New Roman"/>
                <a:cs typeface="Times New Roman"/>
              </a:rPr>
              <a:t> </a:t>
            </a:r>
            <a:r>
              <a:rPr sz="2600" spc="-4" dirty="0">
                <a:latin typeface="Times New Roman"/>
                <a:cs typeface="Times New Roman"/>
              </a:rPr>
              <a:t>them.</a:t>
            </a:r>
            <a:endParaRPr sz="2600" dirty="0">
              <a:latin typeface="Times New Roman"/>
              <a:cs typeface="Times New Roman"/>
            </a:endParaRPr>
          </a:p>
          <a:p>
            <a:pPr marL="11132" marR="336729" algn="just">
              <a:buClr>
                <a:srgbClr val="3232CC"/>
              </a:buClr>
              <a:buSzPct val="97222"/>
              <a:buChar char="•"/>
              <a:tabLst>
                <a:tab pos="152502" algn="l"/>
              </a:tabLst>
            </a:pPr>
            <a:r>
              <a:rPr sz="2600" spc="-4" dirty="0">
                <a:latin typeface="Times New Roman"/>
                <a:cs typeface="Times New Roman"/>
              </a:rPr>
              <a:t>LANs can be connected</a:t>
            </a:r>
            <a:r>
              <a:rPr sz="2600" spc="9" dirty="0">
                <a:latin typeface="Times New Roman"/>
                <a:cs typeface="Times New Roman"/>
              </a:rPr>
              <a:t> </a:t>
            </a:r>
            <a:r>
              <a:rPr sz="2600" spc="-4" dirty="0">
                <a:latin typeface="Times New Roman"/>
                <a:cs typeface="Times New Roman"/>
              </a:rPr>
              <a:t>by</a:t>
            </a:r>
            <a:r>
              <a:rPr sz="2600" dirty="0">
                <a:latin typeface="Times New Roman"/>
                <a:cs typeface="Times New Roman"/>
              </a:rPr>
              <a:t> </a:t>
            </a:r>
            <a:r>
              <a:rPr sz="2600" spc="-4" dirty="0">
                <a:latin typeface="Times New Roman"/>
                <a:cs typeface="Times New Roman"/>
              </a:rPr>
              <a:t>devices</a:t>
            </a:r>
            <a:r>
              <a:rPr sz="2600" dirty="0">
                <a:latin typeface="Times New Roman"/>
                <a:cs typeface="Times New Roman"/>
              </a:rPr>
              <a:t> </a:t>
            </a:r>
            <a:r>
              <a:rPr sz="2600" spc="-4" dirty="0">
                <a:latin typeface="Times New Roman"/>
                <a:cs typeface="Times New Roman"/>
              </a:rPr>
              <a:t>called </a:t>
            </a:r>
            <a:r>
              <a:rPr sz="2600" dirty="0">
                <a:latin typeface="Times New Roman"/>
                <a:cs typeface="Times New Roman"/>
              </a:rPr>
              <a:t> </a:t>
            </a:r>
            <a:r>
              <a:rPr sz="2600" spc="-4" dirty="0">
                <a:solidFill>
                  <a:srgbClr val="FF3200"/>
                </a:solidFill>
                <a:latin typeface="Times New Roman"/>
                <a:cs typeface="Times New Roman"/>
              </a:rPr>
              <a:t>bridges</a:t>
            </a:r>
            <a:r>
              <a:rPr sz="2600" spc="-4" dirty="0">
                <a:latin typeface="Times New Roman"/>
                <a:cs typeface="Times New Roman"/>
              </a:rPr>
              <a:t>,</a:t>
            </a:r>
            <a:r>
              <a:rPr sz="2600" dirty="0">
                <a:latin typeface="Times New Roman"/>
                <a:cs typeface="Times New Roman"/>
              </a:rPr>
              <a:t> </a:t>
            </a:r>
            <a:r>
              <a:rPr sz="2600" spc="-4" dirty="0">
                <a:latin typeface="Times New Roman"/>
                <a:cs typeface="Times New Roman"/>
              </a:rPr>
              <a:t>which</a:t>
            </a:r>
            <a:r>
              <a:rPr sz="2600" dirty="0">
                <a:latin typeface="Times New Roman"/>
                <a:cs typeface="Times New Roman"/>
              </a:rPr>
              <a:t> </a:t>
            </a:r>
            <a:r>
              <a:rPr sz="2600" spc="-4" dirty="0">
                <a:latin typeface="Times New Roman"/>
                <a:cs typeface="Times New Roman"/>
              </a:rPr>
              <a:t>operate</a:t>
            </a:r>
            <a:r>
              <a:rPr sz="2600" spc="9" dirty="0">
                <a:latin typeface="Times New Roman"/>
                <a:cs typeface="Times New Roman"/>
              </a:rPr>
              <a:t> </a:t>
            </a:r>
            <a:r>
              <a:rPr sz="2600" spc="-4" dirty="0">
                <a:latin typeface="Times New Roman"/>
                <a:cs typeface="Times New Roman"/>
              </a:rPr>
              <a:t>in</a:t>
            </a:r>
            <a:r>
              <a:rPr sz="2600" dirty="0">
                <a:latin typeface="Times New Roman"/>
                <a:cs typeface="Times New Roman"/>
              </a:rPr>
              <a:t> </a:t>
            </a:r>
            <a:r>
              <a:rPr sz="2600" spc="-4" dirty="0">
                <a:latin typeface="Times New Roman"/>
                <a:cs typeface="Times New Roman"/>
              </a:rPr>
              <a:t>the data link</a:t>
            </a:r>
            <a:r>
              <a:rPr sz="2600" spc="9" dirty="0">
                <a:latin typeface="Times New Roman"/>
                <a:cs typeface="Times New Roman"/>
              </a:rPr>
              <a:t> </a:t>
            </a:r>
            <a:r>
              <a:rPr sz="2600" spc="-4" dirty="0">
                <a:latin typeface="Times New Roman"/>
                <a:cs typeface="Times New Roman"/>
              </a:rPr>
              <a:t>layer.</a:t>
            </a:r>
            <a:endParaRPr sz="2600" dirty="0">
              <a:latin typeface="Times New Roman"/>
              <a:cs typeface="Times New Roman"/>
            </a:endParaRPr>
          </a:p>
          <a:p>
            <a:pPr marL="11132" marR="4453" algn="just">
              <a:lnSpc>
                <a:spcPct val="100299"/>
              </a:lnSpc>
              <a:buClr>
                <a:srgbClr val="3232CC"/>
              </a:buClr>
              <a:buSzPct val="97222"/>
              <a:buChar char="•"/>
              <a:tabLst>
                <a:tab pos="152502" algn="l"/>
              </a:tabLst>
            </a:pPr>
            <a:r>
              <a:rPr sz="2600" spc="-4" dirty="0">
                <a:latin typeface="Times New Roman"/>
                <a:cs typeface="Times New Roman"/>
              </a:rPr>
              <a:t>Bridges examine</a:t>
            </a:r>
            <a:r>
              <a:rPr sz="2600" spc="9" dirty="0">
                <a:latin typeface="Times New Roman"/>
                <a:cs typeface="Times New Roman"/>
              </a:rPr>
              <a:t> </a:t>
            </a:r>
            <a:r>
              <a:rPr sz="2600" spc="-4" dirty="0">
                <a:latin typeface="Times New Roman"/>
                <a:cs typeface="Times New Roman"/>
              </a:rPr>
              <a:t>the data</a:t>
            </a:r>
            <a:r>
              <a:rPr sz="2600" spc="9" dirty="0">
                <a:latin typeface="Times New Roman"/>
                <a:cs typeface="Times New Roman"/>
              </a:rPr>
              <a:t> </a:t>
            </a:r>
            <a:r>
              <a:rPr sz="2600" spc="-4" dirty="0">
                <a:latin typeface="Times New Roman"/>
                <a:cs typeface="Times New Roman"/>
              </a:rPr>
              <a:t>layer</a:t>
            </a:r>
            <a:r>
              <a:rPr sz="2600" dirty="0">
                <a:latin typeface="Times New Roman"/>
                <a:cs typeface="Times New Roman"/>
              </a:rPr>
              <a:t> link</a:t>
            </a:r>
            <a:r>
              <a:rPr sz="2600" spc="-4" dirty="0">
                <a:latin typeface="Times New Roman"/>
                <a:cs typeface="Times New Roman"/>
              </a:rPr>
              <a:t> addresses </a:t>
            </a:r>
            <a:r>
              <a:rPr sz="2600" spc="-776" dirty="0">
                <a:latin typeface="Times New Roman"/>
                <a:cs typeface="Times New Roman"/>
              </a:rPr>
              <a:t> </a:t>
            </a:r>
            <a:r>
              <a:rPr sz="2600" spc="-4" dirty="0">
                <a:latin typeface="Times New Roman"/>
                <a:cs typeface="Times New Roman"/>
              </a:rPr>
              <a:t>to do</a:t>
            </a:r>
            <a:r>
              <a:rPr sz="2600" dirty="0">
                <a:latin typeface="Times New Roman"/>
                <a:cs typeface="Times New Roman"/>
              </a:rPr>
              <a:t> </a:t>
            </a:r>
            <a:r>
              <a:rPr sz="2600" spc="-4" dirty="0">
                <a:latin typeface="Times New Roman"/>
                <a:cs typeface="Times New Roman"/>
              </a:rPr>
              <a:t>routing</a:t>
            </a:r>
            <a:r>
              <a:rPr lang="en-IN" sz="2600" spc="-4" dirty="0">
                <a:latin typeface="Times New Roman"/>
                <a:cs typeface="Times New Roman"/>
              </a:rPr>
              <a:t>.</a:t>
            </a:r>
          </a:p>
          <a:p>
            <a:pPr marL="11132" marR="184227" algn="just">
              <a:lnSpc>
                <a:spcPct val="100099"/>
              </a:lnSpc>
              <a:spcBef>
                <a:spcPts val="83"/>
              </a:spcBef>
              <a:buClr>
                <a:srgbClr val="3232CC"/>
              </a:buClr>
              <a:buSzPct val="97222"/>
              <a:buChar char="•"/>
              <a:tabLst>
                <a:tab pos="152502" algn="l"/>
              </a:tabLst>
            </a:pPr>
            <a:r>
              <a:rPr lang="en-IN" sz="2600" spc="-4" dirty="0">
                <a:latin typeface="Times New Roman"/>
                <a:cs typeface="Times New Roman"/>
              </a:rPr>
              <a:t>Since</a:t>
            </a:r>
            <a:r>
              <a:rPr lang="en-IN" sz="2600" spc="-9" dirty="0">
                <a:latin typeface="Times New Roman"/>
                <a:cs typeface="Times New Roman"/>
              </a:rPr>
              <a:t> </a:t>
            </a:r>
            <a:r>
              <a:rPr lang="en-IN" sz="2600" spc="-4" dirty="0">
                <a:latin typeface="Times New Roman"/>
                <a:cs typeface="Times New Roman"/>
              </a:rPr>
              <a:t>they</a:t>
            </a:r>
            <a:r>
              <a:rPr lang="en-IN" sz="2600" dirty="0">
                <a:latin typeface="Times New Roman"/>
                <a:cs typeface="Times New Roman"/>
              </a:rPr>
              <a:t> </a:t>
            </a:r>
            <a:r>
              <a:rPr lang="en-IN" sz="2600" spc="-4" dirty="0">
                <a:latin typeface="Times New Roman"/>
                <a:cs typeface="Times New Roman"/>
              </a:rPr>
              <a:t>are </a:t>
            </a:r>
            <a:r>
              <a:rPr lang="en-IN" sz="2600" dirty="0">
                <a:latin typeface="Times New Roman"/>
                <a:cs typeface="Times New Roman"/>
              </a:rPr>
              <a:t>not</a:t>
            </a:r>
            <a:r>
              <a:rPr lang="en-IN" sz="2600" spc="-4" dirty="0">
                <a:latin typeface="Times New Roman"/>
                <a:cs typeface="Times New Roman"/>
              </a:rPr>
              <a:t> supposed to</a:t>
            </a:r>
            <a:r>
              <a:rPr lang="en-IN" sz="2600" dirty="0">
                <a:latin typeface="Times New Roman"/>
                <a:cs typeface="Times New Roman"/>
              </a:rPr>
              <a:t> </a:t>
            </a:r>
            <a:r>
              <a:rPr lang="en-IN" sz="2600" spc="-4" dirty="0">
                <a:latin typeface="Times New Roman"/>
                <a:cs typeface="Times New Roman"/>
              </a:rPr>
              <a:t>examine</a:t>
            </a:r>
            <a:r>
              <a:rPr lang="en-IN" sz="2600" spc="9" dirty="0">
                <a:latin typeface="Times New Roman"/>
                <a:cs typeface="Times New Roman"/>
              </a:rPr>
              <a:t> </a:t>
            </a:r>
            <a:r>
              <a:rPr lang="en-IN" sz="2600" spc="-4" dirty="0">
                <a:latin typeface="Times New Roman"/>
                <a:cs typeface="Times New Roman"/>
              </a:rPr>
              <a:t>the </a:t>
            </a:r>
            <a:r>
              <a:rPr lang="en-IN" sz="2600" spc="-776" dirty="0">
                <a:latin typeface="Times New Roman"/>
                <a:cs typeface="Times New Roman"/>
              </a:rPr>
              <a:t> </a:t>
            </a:r>
            <a:r>
              <a:rPr lang="en-IN" sz="2600" spc="-4" dirty="0">
                <a:latin typeface="Times New Roman"/>
                <a:cs typeface="Times New Roman"/>
              </a:rPr>
              <a:t>payload</a:t>
            </a:r>
            <a:r>
              <a:rPr lang="en-IN" sz="2600" spc="4" dirty="0">
                <a:latin typeface="Times New Roman"/>
                <a:cs typeface="Times New Roman"/>
              </a:rPr>
              <a:t> </a:t>
            </a:r>
            <a:r>
              <a:rPr lang="en-IN" sz="2600" spc="-4" dirty="0">
                <a:latin typeface="Times New Roman"/>
                <a:cs typeface="Times New Roman"/>
              </a:rPr>
              <a:t>field</a:t>
            </a:r>
            <a:r>
              <a:rPr lang="en-IN" sz="2600" dirty="0">
                <a:latin typeface="Times New Roman"/>
                <a:cs typeface="Times New Roman"/>
              </a:rPr>
              <a:t> </a:t>
            </a:r>
            <a:r>
              <a:rPr lang="en-IN" sz="2600" spc="-4" dirty="0">
                <a:latin typeface="Times New Roman"/>
                <a:cs typeface="Times New Roman"/>
              </a:rPr>
              <a:t>of</a:t>
            </a:r>
            <a:r>
              <a:rPr lang="en-IN" sz="2600" spc="4" dirty="0">
                <a:latin typeface="Times New Roman"/>
                <a:cs typeface="Times New Roman"/>
              </a:rPr>
              <a:t> </a:t>
            </a:r>
            <a:r>
              <a:rPr lang="en-IN" sz="2600" spc="-4" dirty="0">
                <a:latin typeface="Times New Roman"/>
                <a:cs typeface="Times New Roman"/>
              </a:rPr>
              <a:t>the frames </a:t>
            </a:r>
            <a:r>
              <a:rPr lang="en-IN" sz="2600" dirty="0">
                <a:latin typeface="Times New Roman"/>
                <a:cs typeface="Times New Roman"/>
              </a:rPr>
              <a:t>they </a:t>
            </a:r>
            <a:r>
              <a:rPr lang="en-IN" sz="2600" spc="-4" dirty="0">
                <a:latin typeface="Times New Roman"/>
                <a:cs typeface="Times New Roman"/>
              </a:rPr>
              <a:t>route,</a:t>
            </a:r>
            <a:r>
              <a:rPr lang="en-IN" sz="2600" spc="9" dirty="0">
                <a:latin typeface="Times New Roman"/>
                <a:cs typeface="Times New Roman"/>
              </a:rPr>
              <a:t> </a:t>
            </a:r>
            <a:r>
              <a:rPr lang="en-IN" sz="2600" spc="-4" dirty="0">
                <a:latin typeface="Times New Roman"/>
                <a:cs typeface="Times New Roman"/>
              </a:rPr>
              <a:t>they </a:t>
            </a:r>
            <a:r>
              <a:rPr lang="en-IN" sz="2600" dirty="0">
                <a:latin typeface="Times New Roman"/>
                <a:cs typeface="Times New Roman"/>
              </a:rPr>
              <a:t> </a:t>
            </a:r>
            <a:r>
              <a:rPr lang="en-IN" sz="2600" spc="-4" dirty="0">
                <a:latin typeface="Times New Roman"/>
                <a:cs typeface="Times New Roman"/>
              </a:rPr>
              <a:t>can</a:t>
            </a:r>
            <a:r>
              <a:rPr lang="en-IN" sz="2600" dirty="0">
                <a:latin typeface="Times New Roman"/>
                <a:cs typeface="Times New Roman"/>
              </a:rPr>
              <a:t> </a:t>
            </a:r>
            <a:r>
              <a:rPr lang="en-IN" sz="2600" spc="-4" dirty="0">
                <a:latin typeface="Times New Roman"/>
                <a:cs typeface="Times New Roman"/>
              </a:rPr>
              <a:t>transport IPv4</a:t>
            </a:r>
            <a:r>
              <a:rPr lang="en-IN" sz="2600" dirty="0">
                <a:latin typeface="Times New Roman"/>
                <a:cs typeface="Times New Roman"/>
              </a:rPr>
              <a:t> </a:t>
            </a:r>
            <a:r>
              <a:rPr lang="en-IN" sz="2600" spc="-4" dirty="0">
                <a:latin typeface="Times New Roman"/>
                <a:cs typeface="Times New Roman"/>
              </a:rPr>
              <a:t>(used</a:t>
            </a:r>
            <a:r>
              <a:rPr lang="en-IN" sz="2600" dirty="0">
                <a:latin typeface="Times New Roman"/>
                <a:cs typeface="Times New Roman"/>
              </a:rPr>
              <a:t> </a:t>
            </a:r>
            <a:r>
              <a:rPr lang="en-IN" sz="2600" spc="-4" dirty="0">
                <a:latin typeface="Times New Roman"/>
                <a:cs typeface="Times New Roman"/>
              </a:rPr>
              <a:t>in</a:t>
            </a:r>
            <a:r>
              <a:rPr lang="en-IN" sz="2600" dirty="0">
                <a:latin typeface="Times New Roman"/>
                <a:cs typeface="Times New Roman"/>
              </a:rPr>
              <a:t> </a:t>
            </a:r>
            <a:r>
              <a:rPr lang="en-IN" sz="2600" spc="-4" dirty="0">
                <a:latin typeface="Times New Roman"/>
                <a:cs typeface="Times New Roman"/>
              </a:rPr>
              <a:t>the</a:t>
            </a:r>
            <a:r>
              <a:rPr lang="en-IN" sz="2600" spc="9" dirty="0">
                <a:latin typeface="Times New Roman"/>
                <a:cs typeface="Times New Roman"/>
              </a:rPr>
              <a:t> </a:t>
            </a:r>
            <a:r>
              <a:rPr lang="en-IN" sz="2600" spc="-4" dirty="0">
                <a:latin typeface="Times New Roman"/>
                <a:cs typeface="Times New Roman"/>
              </a:rPr>
              <a:t>Internet </a:t>
            </a:r>
            <a:r>
              <a:rPr lang="en-IN" sz="2600" dirty="0">
                <a:latin typeface="Times New Roman"/>
                <a:cs typeface="Times New Roman"/>
              </a:rPr>
              <a:t> now),</a:t>
            </a:r>
            <a:r>
              <a:rPr lang="en-IN" sz="2600" spc="-4" dirty="0">
                <a:latin typeface="Times New Roman"/>
                <a:cs typeface="Times New Roman"/>
              </a:rPr>
              <a:t> IPv6</a:t>
            </a:r>
            <a:r>
              <a:rPr lang="en-IN" sz="2600" dirty="0">
                <a:latin typeface="Times New Roman"/>
                <a:cs typeface="Times New Roman"/>
              </a:rPr>
              <a:t> </a:t>
            </a:r>
            <a:r>
              <a:rPr lang="en-IN" sz="2600" spc="-4" dirty="0">
                <a:latin typeface="Times New Roman"/>
                <a:cs typeface="Times New Roman"/>
              </a:rPr>
              <a:t>(will</a:t>
            </a:r>
            <a:r>
              <a:rPr lang="en-IN" sz="2600" spc="-9" dirty="0">
                <a:latin typeface="Times New Roman"/>
                <a:cs typeface="Times New Roman"/>
              </a:rPr>
              <a:t> </a:t>
            </a:r>
            <a:r>
              <a:rPr lang="en-IN" sz="2600" spc="-4" dirty="0">
                <a:latin typeface="Times New Roman"/>
                <a:cs typeface="Times New Roman"/>
              </a:rPr>
              <a:t>be </a:t>
            </a:r>
            <a:r>
              <a:rPr lang="en-IN" sz="2600" dirty="0">
                <a:latin typeface="Times New Roman"/>
                <a:cs typeface="Times New Roman"/>
              </a:rPr>
              <a:t>used </a:t>
            </a:r>
            <a:r>
              <a:rPr lang="en-IN" sz="2600" spc="-4" dirty="0">
                <a:latin typeface="Times New Roman"/>
                <a:cs typeface="Times New Roman"/>
              </a:rPr>
              <a:t>in the</a:t>
            </a:r>
            <a:r>
              <a:rPr lang="en-IN" sz="2600" spc="9" dirty="0">
                <a:latin typeface="Times New Roman"/>
                <a:cs typeface="Times New Roman"/>
              </a:rPr>
              <a:t> </a:t>
            </a:r>
            <a:r>
              <a:rPr lang="en-IN" sz="2600" spc="-4" dirty="0">
                <a:latin typeface="Times New Roman"/>
                <a:cs typeface="Times New Roman"/>
              </a:rPr>
              <a:t>Internet</a:t>
            </a:r>
            <a:r>
              <a:rPr lang="en-IN" sz="2600" spc="4" dirty="0">
                <a:latin typeface="Times New Roman"/>
                <a:cs typeface="Times New Roman"/>
              </a:rPr>
              <a:t> </a:t>
            </a:r>
            <a:r>
              <a:rPr lang="en-IN" sz="2600" spc="-4" dirty="0">
                <a:latin typeface="Times New Roman"/>
                <a:cs typeface="Times New Roman"/>
              </a:rPr>
              <a:t>in </a:t>
            </a:r>
            <a:r>
              <a:rPr lang="en-IN" sz="2600" dirty="0">
                <a:latin typeface="Times New Roman"/>
                <a:cs typeface="Times New Roman"/>
              </a:rPr>
              <a:t> </a:t>
            </a:r>
            <a:r>
              <a:rPr lang="en-IN" sz="2600" spc="-4" dirty="0">
                <a:latin typeface="Times New Roman"/>
                <a:cs typeface="Times New Roman"/>
              </a:rPr>
              <a:t>the future),</a:t>
            </a:r>
            <a:r>
              <a:rPr lang="en-IN" sz="2600" dirty="0">
                <a:latin typeface="Times New Roman"/>
                <a:cs typeface="Times New Roman"/>
              </a:rPr>
              <a:t> </a:t>
            </a:r>
            <a:r>
              <a:rPr lang="en-IN" sz="2600" spc="-4" dirty="0">
                <a:latin typeface="Times New Roman"/>
                <a:cs typeface="Times New Roman"/>
              </a:rPr>
              <a:t>AppleTalk,</a:t>
            </a:r>
            <a:r>
              <a:rPr lang="en-IN" sz="2600" spc="9" dirty="0">
                <a:latin typeface="Times New Roman"/>
                <a:cs typeface="Times New Roman"/>
              </a:rPr>
              <a:t> </a:t>
            </a:r>
            <a:r>
              <a:rPr lang="en-IN" sz="2600" spc="-4" dirty="0">
                <a:latin typeface="Times New Roman"/>
                <a:cs typeface="Times New Roman"/>
              </a:rPr>
              <a:t>ATM,</a:t>
            </a:r>
            <a:r>
              <a:rPr lang="en-IN" sz="2600" dirty="0">
                <a:latin typeface="Times New Roman"/>
                <a:cs typeface="Times New Roman"/>
              </a:rPr>
              <a:t> OSI, </a:t>
            </a:r>
            <a:r>
              <a:rPr lang="en-IN" sz="2600" spc="-4" dirty="0">
                <a:latin typeface="Times New Roman"/>
                <a:cs typeface="Times New Roman"/>
              </a:rPr>
              <a:t>or</a:t>
            </a:r>
            <a:r>
              <a:rPr lang="en-IN" sz="2600" spc="-13" dirty="0">
                <a:latin typeface="Times New Roman"/>
                <a:cs typeface="Times New Roman"/>
              </a:rPr>
              <a:t> </a:t>
            </a:r>
            <a:r>
              <a:rPr lang="en-IN" sz="2600" spc="-4" dirty="0">
                <a:latin typeface="Times New Roman"/>
                <a:cs typeface="Times New Roman"/>
              </a:rPr>
              <a:t>any </a:t>
            </a:r>
            <a:r>
              <a:rPr lang="en-IN" sz="2600" dirty="0">
                <a:latin typeface="Times New Roman"/>
                <a:cs typeface="Times New Roman"/>
              </a:rPr>
              <a:t> </a:t>
            </a:r>
            <a:r>
              <a:rPr lang="en-IN" sz="2600" spc="-4" dirty="0">
                <a:latin typeface="Times New Roman"/>
                <a:cs typeface="Times New Roman"/>
              </a:rPr>
              <a:t>other </a:t>
            </a:r>
            <a:r>
              <a:rPr lang="en-IN" sz="2600" dirty="0">
                <a:latin typeface="Times New Roman"/>
                <a:cs typeface="Times New Roman"/>
              </a:rPr>
              <a:t>kinds </a:t>
            </a:r>
            <a:r>
              <a:rPr lang="en-IN" sz="2600" spc="-4" dirty="0">
                <a:latin typeface="Times New Roman"/>
                <a:cs typeface="Times New Roman"/>
              </a:rPr>
              <a:t>of packets.</a:t>
            </a:r>
            <a:endParaRPr lang="en-IN" sz="2600" dirty="0">
              <a:latin typeface="Times New Roman"/>
              <a:cs typeface="Times New Roman"/>
            </a:endParaRPr>
          </a:p>
          <a:p>
            <a:pPr marL="11132" marR="4453" algn="just">
              <a:lnSpc>
                <a:spcPct val="100299"/>
              </a:lnSpc>
              <a:spcBef>
                <a:spcPts val="745"/>
              </a:spcBef>
              <a:buClr>
                <a:srgbClr val="3232CC"/>
              </a:buClr>
              <a:buSzPct val="97222"/>
              <a:buChar char="•"/>
              <a:tabLst>
                <a:tab pos="152502" algn="l"/>
              </a:tabLst>
            </a:pPr>
            <a:r>
              <a:rPr lang="en-IN" sz="2600" spc="-4" dirty="0">
                <a:latin typeface="Times New Roman"/>
                <a:cs typeface="Times New Roman"/>
              </a:rPr>
              <a:t>In</a:t>
            </a:r>
            <a:r>
              <a:rPr lang="en-IN" sz="2600" spc="4" dirty="0">
                <a:latin typeface="Times New Roman"/>
                <a:cs typeface="Times New Roman"/>
              </a:rPr>
              <a:t> </a:t>
            </a:r>
            <a:r>
              <a:rPr lang="en-IN" sz="2600" spc="-4" dirty="0">
                <a:latin typeface="Times New Roman"/>
                <a:cs typeface="Times New Roman"/>
              </a:rPr>
              <a:t>contrast,</a:t>
            </a:r>
            <a:r>
              <a:rPr lang="en-IN" sz="2600" spc="4" dirty="0">
                <a:latin typeface="Times New Roman"/>
                <a:cs typeface="Times New Roman"/>
              </a:rPr>
              <a:t> </a:t>
            </a:r>
            <a:r>
              <a:rPr lang="en-IN" sz="2600" spc="-4" dirty="0">
                <a:latin typeface="Times New Roman"/>
                <a:cs typeface="Times New Roman"/>
              </a:rPr>
              <a:t>routers</a:t>
            </a:r>
            <a:r>
              <a:rPr lang="en-IN" sz="2600" spc="4" dirty="0">
                <a:latin typeface="Times New Roman"/>
                <a:cs typeface="Times New Roman"/>
              </a:rPr>
              <a:t> </a:t>
            </a:r>
            <a:r>
              <a:rPr lang="en-IN" sz="2600" spc="-4" dirty="0">
                <a:latin typeface="Times New Roman"/>
                <a:cs typeface="Times New Roman"/>
              </a:rPr>
              <a:t>examine</a:t>
            </a:r>
            <a:r>
              <a:rPr lang="en-IN" sz="2600" dirty="0">
                <a:latin typeface="Times New Roman"/>
                <a:cs typeface="Times New Roman"/>
              </a:rPr>
              <a:t> the</a:t>
            </a:r>
            <a:r>
              <a:rPr lang="en-IN" sz="2600" spc="-4" dirty="0">
                <a:latin typeface="Times New Roman"/>
                <a:cs typeface="Times New Roman"/>
              </a:rPr>
              <a:t> addresses</a:t>
            </a:r>
            <a:r>
              <a:rPr lang="en-IN" sz="2600" spc="4" dirty="0">
                <a:latin typeface="Times New Roman"/>
                <a:cs typeface="Times New Roman"/>
              </a:rPr>
              <a:t> </a:t>
            </a:r>
            <a:r>
              <a:rPr lang="en-IN" sz="2600" spc="-4" dirty="0">
                <a:latin typeface="Times New Roman"/>
                <a:cs typeface="Times New Roman"/>
              </a:rPr>
              <a:t>in </a:t>
            </a:r>
            <a:r>
              <a:rPr lang="en-IN" sz="2600" spc="-776" dirty="0">
                <a:latin typeface="Times New Roman"/>
                <a:cs typeface="Times New Roman"/>
              </a:rPr>
              <a:t> </a:t>
            </a:r>
            <a:r>
              <a:rPr lang="en-IN" sz="2600" spc="-4" dirty="0">
                <a:latin typeface="Times New Roman"/>
                <a:cs typeface="Times New Roman"/>
              </a:rPr>
              <a:t>packets</a:t>
            </a:r>
            <a:r>
              <a:rPr lang="en-IN" sz="2600" spc="9" dirty="0">
                <a:latin typeface="Times New Roman"/>
                <a:cs typeface="Times New Roman"/>
              </a:rPr>
              <a:t> </a:t>
            </a:r>
            <a:r>
              <a:rPr lang="en-IN" sz="2600" spc="-4" dirty="0">
                <a:latin typeface="Times New Roman"/>
                <a:cs typeface="Times New Roman"/>
              </a:rPr>
              <a:t>and</a:t>
            </a:r>
            <a:r>
              <a:rPr lang="en-IN" sz="2600" dirty="0">
                <a:latin typeface="Times New Roman"/>
                <a:cs typeface="Times New Roman"/>
              </a:rPr>
              <a:t> route</a:t>
            </a:r>
            <a:r>
              <a:rPr lang="en-IN" sz="2600" spc="-9" dirty="0">
                <a:latin typeface="Times New Roman"/>
                <a:cs typeface="Times New Roman"/>
              </a:rPr>
              <a:t> </a:t>
            </a:r>
            <a:r>
              <a:rPr lang="en-IN" sz="2600" spc="-4" dirty="0">
                <a:latin typeface="Times New Roman"/>
                <a:cs typeface="Times New Roman"/>
              </a:rPr>
              <a:t>based</a:t>
            </a:r>
            <a:r>
              <a:rPr lang="en-IN" sz="2600" spc="9" dirty="0">
                <a:latin typeface="Times New Roman"/>
                <a:cs typeface="Times New Roman"/>
              </a:rPr>
              <a:t> </a:t>
            </a:r>
            <a:r>
              <a:rPr lang="en-IN" sz="2600" spc="-4" dirty="0">
                <a:latin typeface="Times New Roman"/>
                <a:cs typeface="Times New Roman"/>
              </a:rPr>
              <a:t>on</a:t>
            </a:r>
            <a:r>
              <a:rPr lang="en-IN" sz="2600" dirty="0">
                <a:latin typeface="Times New Roman"/>
                <a:cs typeface="Times New Roman"/>
              </a:rPr>
              <a:t> </a:t>
            </a:r>
            <a:r>
              <a:rPr lang="en-IN" sz="2600" spc="-4" dirty="0">
                <a:latin typeface="Times New Roman"/>
                <a:cs typeface="Times New Roman"/>
              </a:rPr>
              <a:t>them.</a:t>
            </a:r>
            <a:endParaRPr lang="en-IN" sz="2600" dirty="0">
              <a:latin typeface="Times New Roman"/>
              <a:cs typeface="Times New Roman"/>
            </a:endParaRPr>
          </a:p>
        </p:txBody>
      </p:sp>
    </p:spTree>
    <p:extLst>
      <p:ext uri="{BB962C8B-B14F-4D97-AF65-F5344CB8AC3E}">
        <p14:creationId xmlns:p14="http://schemas.microsoft.com/office/powerpoint/2010/main" val="33110713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8996" y="512708"/>
            <a:ext cx="5914278" cy="611405"/>
          </a:xfrm>
          <a:prstGeom prst="rect">
            <a:avLst/>
          </a:prstGeom>
        </p:spPr>
        <p:txBody>
          <a:bodyPr vert="horz" wrap="square" lIns="0" tIns="11132" rIns="0" bIns="0" rtlCol="0">
            <a:spAutoFit/>
          </a:bodyPr>
          <a:lstStyle/>
          <a:p>
            <a:pPr marL="11132">
              <a:spcBef>
                <a:spcPts val="88"/>
              </a:spcBef>
            </a:pPr>
            <a:r>
              <a:rPr sz="3900" dirty="0"/>
              <a:t>Data</a:t>
            </a:r>
            <a:r>
              <a:rPr sz="3900" spc="-9" dirty="0"/>
              <a:t> </a:t>
            </a:r>
            <a:r>
              <a:rPr sz="3900" spc="-4" dirty="0"/>
              <a:t>Link</a:t>
            </a:r>
            <a:r>
              <a:rPr sz="3900" spc="-9" dirty="0"/>
              <a:t> </a:t>
            </a:r>
            <a:r>
              <a:rPr sz="3900" spc="-4" dirty="0"/>
              <a:t>Layer</a:t>
            </a:r>
            <a:r>
              <a:rPr sz="3900" spc="-9" dirty="0"/>
              <a:t> </a:t>
            </a:r>
            <a:r>
              <a:rPr sz="3900" spc="-4" dirty="0"/>
              <a:t>Switching</a:t>
            </a:r>
            <a:r>
              <a:rPr sz="3900" spc="-9" dirty="0"/>
              <a:t> </a:t>
            </a:r>
            <a:endParaRPr sz="3900" dirty="0"/>
          </a:p>
        </p:txBody>
      </p:sp>
      <p:sp>
        <p:nvSpPr>
          <p:cNvPr id="3" name="object 3"/>
          <p:cNvSpPr txBox="1"/>
          <p:nvPr/>
        </p:nvSpPr>
        <p:spPr>
          <a:xfrm>
            <a:off x="922218" y="4830885"/>
            <a:ext cx="7286964" cy="685224"/>
          </a:xfrm>
          <a:prstGeom prst="rect">
            <a:avLst/>
          </a:prstGeom>
        </p:spPr>
        <p:txBody>
          <a:bodyPr vert="horz" wrap="square" lIns="0" tIns="22263" rIns="0" bIns="0" rtlCol="0">
            <a:spAutoFit/>
          </a:bodyPr>
          <a:lstStyle/>
          <a:p>
            <a:pPr marL="2166756" marR="4453" indent="-2156181" algn="l">
              <a:lnSpc>
                <a:spcPts val="2516"/>
              </a:lnSpc>
              <a:spcBef>
                <a:spcPts val="175"/>
              </a:spcBef>
            </a:pPr>
            <a:r>
              <a:rPr sz="2100" spc="-4" dirty="0">
                <a:latin typeface="Times New Roman"/>
                <a:cs typeface="Times New Roman"/>
              </a:rPr>
              <a:t>Multiple</a:t>
            </a:r>
            <a:r>
              <a:rPr sz="2100" dirty="0">
                <a:latin typeface="Times New Roman"/>
                <a:cs typeface="Times New Roman"/>
              </a:rPr>
              <a:t> </a:t>
            </a:r>
            <a:r>
              <a:rPr sz="2100" spc="-9" dirty="0">
                <a:latin typeface="Times New Roman"/>
                <a:cs typeface="Times New Roman"/>
              </a:rPr>
              <a:t>LANs</a:t>
            </a:r>
            <a:r>
              <a:rPr sz="2100" spc="4" dirty="0">
                <a:latin typeface="Times New Roman"/>
                <a:cs typeface="Times New Roman"/>
              </a:rPr>
              <a:t> </a:t>
            </a:r>
            <a:r>
              <a:rPr sz="2100" spc="-4" dirty="0">
                <a:latin typeface="Times New Roman"/>
                <a:cs typeface="Times New Roman"/>
              </a:rPr>
              <a:t>connected</a:t>
            </a:r>
            <a:r>
              <a:rPr sz="2100" dirty="0">
                <a:latin typeface="Times New Roman"/>
                <a:cs typeface="Times New Roman"/>
              </a:rPr>
              <a:t> </a:t>
            </a:r>
            <a:r>
              <a:rPr sz="2100" spc="-4" dirty="0">
                <a:latin typeface="Times New Roman"/>
                <a:cs typeface="Times New Roman"/>
              </a:rPr>
              <a:t>by</a:t>
            </a:r>
            <a:r>
              <a:rPr sz="2100" spc="4" dirty="0">
                <a:latin typeface="Times New Roman"/>
                <a:cs typeface="Times New Roman"/>
              </a:rPr>
              <a:t> </a:t>
            </a:r>
            <a:r>
              <a:rPr sz="2100" spc="-4" dirty="0">
                <a:latin typeface="Times New Roman"/>
                <a:cs typeface="Times New Roman"/>
              </a:rPr>
              <a:t>a</a:t>
            </a:r>
            <a:r>
              <a:rPr sz="2100" spc="4" dirty="0">
                <a:latin typeface="Times New Roman"/>
                <a:cs typeface="Times New Roman"/>
              </a:rPr>
              <a:t> </a:t>
            </a:r>
            <a:r>
              <a:rPr sz="2100" spc="-4" dirty="0">
                <a:latin typeface="Times New Roman"/>
                <a:cs typeface="Times New Roman"/>
              </a:rPr>
              <a:t>backbone</a:t>
            </a:r>
            <a:r>
              <a:rPr sz="2100" spc="4" dirty="0">
                <a:latin typeface="Times New Roman"/>
                <a:cs typeface="Times New Roman"/>
              </a:rPr>
              <a:t> </a:t>
            </a:r>
            <a:r>
              <a:rPr sz="2100" dirty="0">
                <a:latin typeface="Times New Roman"/>
                <a:cs typeface="Times New Roman"/>
              </a:rPr>
              <a:t>to</a:t>
            </a:r>
            <a:r>
              <a:rPr sz="2100" spc="4" dirty="0">
                <a:latin typeface="Times New Roman"/>
                <a:cs typeface="Times New Roman"/>
              </a:rPr>
              <a:t> </a:t>
            </a:r>
            <a:r>
              <a:rPr sz="2100" spc="-9" dirty="0">
                <a:latin typeface="Times New Roman"/>
                <a:cs typeface="Times New Roman"/>
              </a:rPr>
              <a:t>handle</a:t>
            </a:r>
            <a:r>
              <a:rPr sz="2100" spc="4" dirty="0">
                <a:latin typeface="Times New Roman"/>
                <a:cs typeface="Times New Roman"/>
              </a:rPr>
              <a:t> </a:t>
            </a:r>
            <a:r>
              <a:rPr sz="2100" spc="-4" dirty="0">
                <a:latin typeface="Times New Roman"/>
                <a:cs typeface="Times New Roman"/>
              </a:rPr>
              <a:t>a </a:t>
            </a:r>
            <a:r>
              <a:rPr sz="2100" spc="-9" dirty="0">
                <a:latin typeface="Times New Roman"/>
                <a:cs typeface="Times New Roman"/>
              </a:rPr>
              <a:t>total </a:t>
            </a:r>
            <a:r>
              <a:rPr sz="2100" spc="-4" dirty="0">
                <a:latin typeface="Times New Roman"/>
                <a:cs typeface="Times New Roman"/>
              </a:rPr>
              <a:t>load</a:t>
            </a:r>
            <a:r>
              <a:rPr lang="en-IN" sz="2100" spc="4" dirty="0">
                <a:latin typeface="Times New Roman"/>
                <a:cs typeface="Times New Roman"/>
              </a:rPr>
              <a:t> </a:t>
            </a:r>
            <a:r>
              <a:rPr sz="2100" spc="-4" dirty="0">
                <a:latin typeface="Times New Roman"/>
                <a:cs typeface="Times New Roman"/>
              </a:rPr>
              <a:t>higher </a:t>
            </a:r>
            <a:r>
              <a:rPr sz="2100" spc="-513" dirty="0">
                <a:latin typeface="Times New Roman"/>
                <a:cs typeface="Times New Roman"/>
              </a:rPr>
              <a:t> </a:t>
            </a:r>
            <a:r>
              <a:rPr sz="2100" dirty="0">
                <a:latin typeface="Times New Roman"/>
                <a:cs typeface="Times New Roman"/>
              </a:rPr>
              <a:t>than</a:t>
            </a:r>
            <a:r>
              <a:rPr sz="2100" spc="-18" dirty="0">
                <a:latin typeface="Times New Roman"/>
                <a:cs typeface="Times New Roman"/>
              </a:rPr>
              <a:t> </a:t>
            </a:r>
            <a:r>
              <a:rPr sz="2100" spc="-4" dirty="0">
                <a:latin typeface="Times New Roman"/>
                <a:cs typeface="Times New Roman"/>
              </a:rPr>
              <a:t>the</a:t>
            </a:r>
            <a:r>
              <a:rPr sz="2100" dirty="0">
                <a:latin typeface="Times New Roman"/>
                <a:cs typeface="Times New Roman"/>
              </a:rPr>
              <a:t> </a:t>
            </a:r>
            <a:r>
              <a:rPr sz="2100" spc="-4" dirty="0">
                <a:latin typeface="Times New Roman"/>
                <a:cs typeface="Times New Roman"/>
              </a:rPr>
              <a:t>capacity</a:t>
            </a:r>
            <a:r>
              <a:rPr sz="2100" dirty="0">
                <a:latin typeface="Times New Roman"/>
                <a:cs typeface="Times New Roman"/>
              </a:rPr>
              <a:t> </a:t>
            </a:r>
            <a:r>
              <a:rPr sz="2100" spc="-4" dirty="0">
                <a:latin typeface="Times New Roman"/>
                <a:cs typeface="Times New Roman"/>
              </a:rPr>
              <a:t>of</a:t>
            </a:r>
            <a:r>
              <a:rPr sz="2100" spc="-9" dirty="0">
                <a:latin typeface="Times New Roman"/>
                <a:cs typeface="Times New Roman"/>
              </a:rPr>
              <a:t> </a:t>
            </a:r>
            <a:r>
              <a:rPr sz="2100" spc="-4" dirty="0">
                <a:latin typeface="Times New Roman"/>
                <a:cs typeface="Times New Roman"/>
              </a:rPr>
              <a:t>a single</a:t>
            </a:r>
            <a:r>
              <a:rPr sz="2100" dirty="0">
                <a:latin typeface="Times New Roman"/>
                <a:cs typeface="Times New Roman"/>
              </a:rPr>
              <a:t> </a:t>
            </a:r>
            <a:r>
              <a:rPr sz="2100" spc="-9" dirty="0">
                <a:latin typeface="Times New Roman"/>
                <a:cs typeface="Times New Roman"/>
              </a:rPr>
              <a:t>LAN.</a:t>
            </a:r>
            <a:endParaRPr sz="2100" dirty="0">
              <a:latin typeface="Times New Roman"/>
              <a:cs typeface="Times New Roman"/>
            </a:endParaRPr>
          </a:p>
        </p:txBody>
      </p:sp>
      <p:pic>
        <p:nvPicPr>
          <p:cNvPr id="4" name="object 4"/>
          <p:cNvPicPr/>
          <p:nvPr/>
        </p:nvPicPr>
        <p:blipFill>
          <a:blip r:embed="rId2" cstate="print"/>
          <a:stretch>
            <a:fillRect/>
          </a:stretch>
        </p:blipFill>
        <p:spPr>
          <a:xfrm>
            <a:off x="1415257" y="1213366"/>
            <a:ext cx="6452920" cy="3329152"/>
          </a:xfrm>
          <a:prstGeom prst="rect">
            <a:avLst/>
          </a:prstGeom>
        </p:spPr>
      </p:pic>
      <p:sp>
        <p:nvSpPr>
          <p:cNvPr id="6" name="object 6"/>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96</a:t>
            </a:fld>
            <a:endParaRPr sz="1200">
              <a:latin typeface="Times New Roman"/>
              <a:cs typeface="Times New Roman"/>
            </a:endParaRPr>
          </a:p>
        </p:txBody>
      </p:sp>
    </p:spTree>
    <p:extLst>
      <p:ext uri="{BB962C8B-B14F-4D97-AF65-F5344CB8AC3E}">
        <p14:creationId xmlns:p14="http://schemas.microsoft.com/office/powerpoint/2010/main" val="41504782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97</a:t>
            </a:fld>
            <a:endParaRPr sz="1200">
              <a:latin typeface="Times New Roman"/>
              <a:cs typeface="Times New Roman"/>
            </a:endParaRPr>
          </a:p>
        </p:txBody>
      </p:sp>
      <p:sp>
        <p:nvSpPr>
          <p:cNvPr id="2" name="object 2"/>
          <p:cNvSpPr txBox="1">
            <a:spLocks noGrp="1"/>
          </p:cNvSpPr>
          <p:nvPr>
            <p:ph type="title"/>
          </p:nvPr>
        </p:nvSpPr>
        <p:spPr>
          <a:xfrm>
            <a:off x="1608996" y="512708"/>
            <a:ext cx="5914278" cy="611405"/>
          </a:xfrm>
          <a:prstGeom prst="rect">
            <a:avLst/>
          </a:prstGeom>
        </p:spPr>
        <p:txBody>
          <a:bodyPr vert="horz" wrap="square" lIns="0" tIns="11132" rIns="0" bIns="0" rtlCol="0">
            <a:spAutoFit/>
          </a:bodyPr>
          <a:lstStyle/>
          <a:p>
            <a:pPr marL="11132">
              <a:spcBef>
                <a:spcPts val="88"/>
              </a:spcBef>
            </a:pPr>
            <a:r>
              <a:rPr sz="3900" dirty="0"/>
              <a:t>Data</a:t>
            </a:r>
            <a:r>
              <a:rPr sz="3900" spc="-9" dirty="0"/>
              <a:t> </a:t>
            </a:r>
            <a:r>
              <a:rPr sz="3900" spc="-4" dirty="0"/>
              <a:t>Link</a:t>
            </a:r>
            <a:r>
              <a:rPr sz="3900" spc="-9" dirty="0"/>
              <a:t> </a:t>
            </a:r>
            <a:r>
              <a:rPr sz="3900" spc="-4" dirty="0"/>
              <a:t>Layer</a:t>
            </a:r>
            <a:r>
              <a:rPr sz="3900" spc="-9" dirty="0"/>
              <a:t> </a:t>
            </a:r>
            <a:r>
              <a:rPr sz="3900" spc="-4" dirty="0"/>
              <a:t>Switching</a:t>
            </a:r>
            <a:r>
              <a:rPr sz="3900" spc="-9" dirty="0"/>
              <a:t> </a:t>
            </a:r>
            <a:endParaRPr sz="3900" dirty="0"/>
          </a:p>
        </p:txBody>
      </p:sp>
      <p:sp>
        <p:nvSpPr>
          <p:cNvPr id="3" name="object 3"/>
          <p:cNvSpPr txBox="1"/>
          <p:nvPr/>
        </p:nvSpPr>
        <p:spPr>
          <a:xfrm>
            <a:off x="901366" y="1037394"/>
            <a:ext cx="7522197" cy="4968163"/>
          </a:xfrm>
          <a:prstGeom prst="rect">
            <a:avLst/>
          </a:prstGeom>
        </p:spPr>
        <p:txBody>
          <a:bodyPr vert="horz" wrap="square" lIns="0" tIns="235432" rIns="0" bIns="0" rtlCol="0">
            <a:spAutoFit/>
          </a:bodyPr>
          <a:lstStyle/>
          <a:p>
            <a:pPr marL="11132" algn="just">
              <a:spcBef>
                <a:spcPts val="1854"/>
              </a:spcBef>
            </a:pPr>
            <a:r>
              <a:rPr sz="3200" spc="-4" dirty="0">
                <a:latin typeface="Times New Roman"/>
                <a:cs typeface="Times New Roman"/>
              </a:rPr>
              <a:t>The</a:t>
            </a:r>
            <a:r>
              <a:rPr sz="3200" spc="-22" dirty="0">
                <a:latin typeface="Times New Roman"/>
                <a:cs typeface="Times New Roman"/>
              </a:rPr>
              <a:t> </a:t>
            </a:r>
            <a:r>
              <a:rPr sz="3200" dirty="0">
                <a:latin typeface="Times New Roman"/>
                <a:cs typeface="Times New Roman"/>
              </a:rPr>
              <a:t>technology</a:t>
            </a:r>
            <a:r>
              <a:rPr sz="3200" spc="-13" dirty="0">
                <a:latin typeface="Times New Roman"/>
                <a:cs typeface="Times New Roman"/>
              </a:rPr>
              <a:t> </a:t>
            </a:r>
            <a:r>
              <a:rPr sz="3200" spc="-4" dirty="0">
                <a:latin typeface="Times New Roman"/>
                <a:cs typeface="Times New Roman"/>
              </a:rPr>
              <a:t>of</a:t>
            </a:r>
            <a:r>
              <a:rPr sz="3200" spc="-13" dirty="0">
                <a:latin typeface="Times New Roman"/>
                <a:cs typeface="Times New Roman"/>
              </a:rPr>
              <a:t> </a:t>
            </a:r>
            <a:r>
              <a:rPr sz="3200" spc="-4" dirty="0">
                <a:latin typeface="Times New Roman"/>
                <a:cs typeface="Times New Roman"/>
              </a:rPr>
              <a:t>bridges</a:t>
            </a:r>
            <a:endParaRPr sz="3200" dirty="0">
              <a:latin typeface="Times New Roman"/>
              <a:cs typeface="Times New Roman"/>
            </a:endParaRPr>
          </a:p>
          <a:p>
            <a:pPr marL="545446" indent="-534314" algn="just">
              <a:spcBef>
                <a:spcPts val="1765"/>
              </a:spcBef>
              <a:buClr>
                <a:srgbClr val="3232CC"/>
              </a:buClr>
              <a:buChar char="•"/>
              <a:tabLst>
                <a:tab pos="544889" algn="l"/>
                <a:tab pos="545446" algn="l"/>
              </a:tabLst>
            </a:pPr>
            <a:r>
              <a:rPr sz="3200" spc="-4" dirty="0">
                <a:solidFill>
                  <a:srgbClr val="FF0000"/>
                </a:solidFill>
                <a:latin typeface="Times New Roman"/>
                <a:cs typeface="Times New Roman"/>
              </a:rPr>
              <a:t>Bridges from</a:t>
            </a:r>
            <a:r>
              <a:rPr sz="3200" spc="-9" dirty="0">
                <a:solidFill>
                  <a:srgbClr val="FF0000"/>
                </a:solidFill>
                <a:latin typeface="Times New Roman"/>
                <a:cs typeface="Times New Roman"/>
              </a:rPr>
              <a:t> </a:t>
            </a:r>
            <a:r>
              <a:rPr sz="3200" spc="-4" dirty="0">
                <a:solidFill>
                  <a:srgbClr val="FF0000"/>
                </a:solidFill>
                <a:latin typeface="Times New Roman"/>
                <a:cs typeface="Times New Roman"/>
              </a:rPr>
              <a:t>802.x to 802.y</a:t>
            </a:r>
            <a:endParaRPr sz="3200" dirty="0">
              <a:solidFill>
                <a:srgbClr val="FF0000"/>
              </a:solidFill>
              <a:latin typeface="Times New Roman"/>
              <a:cs typeface="Times New Roman"/>
            </a:endParaRPr>
          </a:p>
          <a:p>
            <a:pPr marL="545446" indent="-534314" algn="just">
              <a:spcBef>
                <a:spcPts val="758"/>
              </a:spcBef>
              <a:buClr>
                <a:srgbClr val="3232CC"/>
              </a:buClr>
              <a:buChar char="•"/>
              <a:tabLst>
                <a:tab pos="544889" algn="l"/>
                <a:tab pos="545446" algn="l"/>
              </a:tabLst>
            </a:pPr>
            <a:r>
              <a:rPr sz="3200" spc="-4" dirty="0">
                <a:latin typeface="Times New Roman"/>
                <a:cs typeface="Times New Roman"/>
              </a:rPr>
              <a:t>Local</a:t>
            </a:r>
            <a:r>
              <a:rPr sz="3200" spc="-18" dirty="0">
                <a:latin typeface="Times New Roman"/>
                <a:cs typeface="Times New Roman"/>
              </a:rPr>
              <a:t> </a:t>
            </a:r>
            <a:r>
              <a:rPr sz="3200" spc="-4" dirty="0">
                <a:latin typeface="Times New Roman"/>
                <a:cs typeface="Times New Roman"/>
              </a:rPr>
              <a:t>Internetworking</a:t>
            </a:r>
            <a:endParaRPr sz="3200" dirty="0">
              <a:latin typeface="Times New Roman"/>
              <a:cs typeface="Times New Roman"/>
            </a:endParaRPr>
          </a:p>
          <a:p>
            <a:pPr marL="545446" indent="-534314" algn="just">
              <a:spcBef>
                <a:spcPts val="758"/>
              </a:spcBef>
              <a:buClr>
                <a:srgbClr val="3232CC"/>
              </a:buClr>
              <a:buChar char="•"/>
              <a:tabLst>
                <a:tab pos="544889" algn="l"/>
                <a:tab pos="545446" algn="l"/>
              </a:tabLst>
            </a:pPr>
            <a:r>
              <a:rPr sz="3200" spc="-4" dirty="0">
                <a:latin typeface="Times New Roman"/>
                <a:cs typeface="Times New Roman"/>
              </a:rPr>
              <a:t>Spanning</a:t>
            </a:r>
            <a:r>
              <a:rPr sz="3200" spc="-18" dirty="0">
                <a:latin typeface="Times New Roman"/>
                <a:cs typeface="Times New Roman"/>
              </a:rPr>
              <a:t> </a:t>
            </a:r>
            <a:r>
              <a:rPr sz="3200" spc="-4" dirty="0">
                <a:latin typeface="Times New Roman"/>
                <a:cs typeface="Times New Roman"/>
              </a:rPr>
              <a:t>Tree Bridges</a:t>
            </a:r>
            <a:endParaRPr sz="3200" dirty="0">
              <a:latin typeface="Times New Roman"/>
              <a:cs typeface="Times New Roman"/>
            </a:endParaRPr>
          </a:p>
          <a:p>
            <a:pPr marL="545446" indent="-534314" algn="just">
              <a:spcBef>
                <a:spcPts val="767"/>
              </a:spcBef>
              <a:buClr>
                <a:srgbClr val="3232CC"/>
              </a:buClr>
              <a:buChar char="•"/>
              <a:tabLst>
                <a:tab pos="544889" algn="l"/>
                <a:tab pos="545446" algn="l"/>
              </a:tabLst>
            </a:pPr>
            <a:r>
              <a:rPr sz="3200" spc="-4" dirty="0">
                <a:latin typeface="Times New Roman"/>
                <a:cs typeface="Times New Roman"/>
              </a:rPr>
              <a:t>Remote</a:t>
            </a:r>
            <a:r>
              <a:rPr sz="3200" spc="-22" dirty="0">
                <a:latin typeface="Times New Roman"/>
                <a:cs typeface="Times New Roman"/>
              </a:rPr>
              <a:t> </a:t>
            </a:r>
            <a:r>
              <a:rPr sz="3200" spc="-4" dirty="0">
                <a:latin typeface="Times New Roman"/>
                <a:cs typeface="Times New Roman"/>
              </a:rPr>
              <a:t>Bridges</a:t>
            </a:r>
            <a:endParaRPr sz="3200" dirty="0">
              <a:latin typeface="Times New Roman"/>
              <a:cs typeface="Times New Roman"/>
            </a:endParaRPr>
          </a:p>
          <a:p>
            <a:pPr marL="544889" marR="4453" indent="-534314" algn="just">
              <a:spcBef>
                <a:spcPts val="758"/>
              </a:spcBef>
              <a:buClr>
                <a:srgbClr val="3232CC"/>
              </a:buClr>
              <a:buChar char="•"/>
              <a:tabLst>
                <a:tab pos="544889" algn="l"/>
                <a:tab pos="545446" algn="l"/>
              </a:tabLst>
            </a:pPr>
            <a:r>
              <a:rPr sz="3200" spc="-4" dirty="0">
                <a:solidFill>
                  <a:srgbClr val="FF0000"/>
                </a:solidFill>
                <a:latin typeface="Times New Roman"/>
                <a:cs typeface="Times New Roman"/>
              </a:rPr>
              <a:t>Repeaters,</a:t>
            </a:r>
            <a:r>
              <a:rPr sz="3200" dirty="0">
                <a:solidFill>
                  <a:srgbClr val="FF0000"/>
                </a:solidFill>
                <a:latin typeface="Times New Roman"/>
                <a:cs typeface="Times New Roman"/>
              </a:rPr>
              <a:t> </a:t>
            </a:r>
            <a:r>
              <a:rPr sz="3200" spc="-4" dirty="0">
                <a:solidFill>
                  <a:srgbClr val="FF0000"/>
                </a:solidFill>
                <a:latin typeface="Times New Roman"/>
                <a:cs typeface="Times New Roman"/>
              </a:rPr>
              <a:t>Hubs,</a:t>
            </a:r>
            <a:r>
              <a:rPr sz="3200" spc="4" dirty="0">
                <a:solidFill>
                  <a:srgbClr val="FF0000"/>
                </a:solidFill>
                <a:latin typeface="Times New Roman"/>
                <a:cs typeface="Times New Roman"/>
              </a:rPr>
              <a:t> </a:t>
            </a:r>
            <a:r>
              <a:rPr sz="3200" spc="-4" dirty="0">
                <a:solidFill>
                  <a:srgbClr val="FF0000"/>
                </a:solidFill>
                <a:latin typeface="Times New Roman"/>
                <a:cs typeface="Times New Roman"/>
              </a:rPr>
              <a:t>Bridges,</a:t>
            </a:r>
            <a:r>
              <a:rPr sz="3200" spc="4" dirty="0">
                <a:solidFill>
                  <a:srgbClr val="FF0000"/>
                </a:solidFill>
                <a:latin typeface="Times New Roman"/>
                <a:cs typeface="Times New Roman"/>
              </a:rPr>
              <a:t> </a:t>
            </a:r>
            <a:r>
              <a:rPr sz="3200" spc="-4" dirty="0">
                <a:solidFill>
                  <a:srgbClr val="FF0000"/>
                </a:solidFill>
                <a:latin typeface="Times New Roman"/>
                <a:cs typeface="Times New Roman"/>
              </a:rPr>
              <a:t>Switches, </a:t>
            </a:r>
            <a:r>
              <a:rPr sz="3200" spc="-776" dirty="0">
                <a:solidFill>
                  <a:srgbClr val="FF0000"/>
                </a:solidFill>
                <a:latin typeface="Times New Roman"/>
                <a:cs typeface="Times New Roman"/>
              </a:rPr>
              <a:t> </a:t>
            </a:r>
            <a:r>
              <a:rPr sz="3200" spc="-4" dirty="0">
                <a:solidFill>
                  <a:srgbClr val="FF0000"/>
                </a:solidFill>
                <a:latin typeface="Times New Roman"/>
                <a:cs typeface="Times New Roman"/>
              </a:rPr>
              <a:t>Routers, Gateways</a:t>
            </a:r>
            <a:endParaRPr sz="3200" dirty="0">
              <a:solidFill>
                <a:srgbClr val="FF0000"/>
              </a:solidFill>
              <a:latin typeface="Times New Roman"/>
              <a:cs typeface="Times New Roman"/>
            </a:endParaRPr>
          </a:p>
          <a:p>
            <a:pPr marL="545446" indent="-534314" algn="just">
              <a:spcBef>
                <a:spcPts val="767"/>
              </a:spcBef>
              <a:buClr>
                <a:srgbClr val="3232CC"/>
              </a:buClr>
              <a:buChar char="•"/>
              <a:tabLst>
                <a:tab pos="544889" algn="l"/>
                <a:tab pos="545446" algn="l"/>
              </a:tabLst>
            </a:pPr>
            <a:r>
              <a:rPr sz="3200" spc="-4" dirty="0">
                <a:latin typeface="Times New Roman"/>
                <a:cs typeface="Times New Roman"/>
              </a:rPr>
              <a:t>Virtual</a:t>
            </a:r>
            <a:r>
              <a:rPr sz="3200" spc="-22" dirty="0">
                <a:latin typeface="Times New Roman"/>
                <a:cs typeface="Times New Roman"/>
              </a:rPr>
              <a:t> </a:t>
            </a:r>
            <a:r>
              <a:rPr sz="3200" spc="-4" dirty="0">
                <a:latin typeface="Times New Roman"/>
                <a:cs typeface="Times New Roman"/>
              </a:rPr>
              <a:t>LANs</a:t>
            </a:r>
            <a:endParaRPr sz="3200" dirty="0">
              <a:latin typeface="Times New Roman"/>
              <a:cs typeface="Times New Roman"/>
            </a:endParaRPr>
          </a:p>
        </p:txBody>
      </p:sp>
    </p:spTree>
    <p:extLst>
      <p:ext uri="{BB962C8B-B14F-4D97-AF65-F5344CB8AC3E}">
        <p14:creationId xmlns:p14="http://schemas.microsoft.com/office/powerpoint/2010/main" val="9480613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98</a:t>
            </a:fld>
            <a:endParaRPr sz="1200">
              <a:latin typeface="Times New Roman"/>
              <a:cs typeface="Times New Roman"/>
            </a:endParaRPr>
          </a:p>
        </p:txBody>
      </p:sp>
      <p:sp>
        <p:nvSpPr>
          <p:cNvPr id="2" name="object 2"/>
          <p:cNvSpPr txBox="1">
            <a:spLocks noGrp="1"/>
          </p:cNvSpPr>
          <p:nvPr>
            <p:ph type="title"/>
          </p:nvPr>
        </p:nvSpPr>
        <p:spPr>
          <a:xfrm>
            <a:off x="936129" y="900635"/>
            <a:ext cx="6611910" cy="611405"/>
          </a:xfrm>
          <a:prstGeom prst="rect">
            <a:avLst/>
          </a:prstGeom>
        </p:spPr>
        <p:txBody>
          <a:bodyPr vert="horz" wrap="square" lIns="0" tIns="11132" rIns="0" bIns="0" rtlCol="0">
            <a:spAutoFit/>
          </a:bodyPr>
          <a:lstStyle/>
          <a:p>
            <a:pPr marL="11132">
              <a:spcBef>
                <a:spcPts val="88"/>
              </a:spcBef>
            </a:pPr>
            <a:r>
              <a:rPr sz="3900" u="sng" spc="-4" dirty="0"/>
              <a:t>Bridges</a:t>
            </a:r>
            <a:r>
              <a:rPr sz="3900" u="sng" dirty="0"/>
              <a:t> </a:t>
            </a:r>
            <a:r>
              <a:rPr sz="3900" u="sng" spc="-4" dirty="0"/>
              <a:t>from 802.x</a:t>
            </a:r>
            <a:r>
              <a:rPr sz="3900" u="sng" spc="-13" dirty="0"/>
              <a:t> </a:t>
            </a:r>
            <a:r>
              <a:rPr sz="3900" u="sng" dirty="0"/>
              <a:t>to</a:t>
            </a:r>
            <a:r>
              <a:rPr sz="3900" u="sng" spc="-9" dirty="0"/>
              <a:t> </a:t>
            </a:r>
            <a:r>
              <a:rPr sz="3900" u="sng" spc="-4" dirty="0"/>
              <a:t>802.y</a:t>
            </a:r>
            <a:r>
              <a:rPr sz="3900" u="sng" spc="9" dirty="0"/>
              <a:t> </a:t>
            </a:r>
            <a:endParaRPr sz="3900" u="sng" dirty="0"/>
          </a:p>
        </p:txBody>
      </p:sp>
      <p:sp>
        <p:nvSpPr>
          <p:cNvPr id="3" name="object 3"/>
          <p:cNvSpPr txBox="1"/>
          <p:nvPr/>
        </p:nvSpPr>
        <p:spPr>
          <a:xfrm>
            <a:off x="609601" y="2076206"/>
            <a:ext cx="8368144" cy="3746251"/>
          </a:xfrm>
          <a:prstGeom prst="rect">
            <a:avLst/>
          </a:prstGeom>
        </p:spPr>
        <p:txBody>
          <a:bodyPr vert="horz" wrap="square" lIns="0" tIns="65120" rIns="0" bIns="0" rtlCol="0">
            <a:spAutoFit/>
          </a:bodyPr>
          <a:lstStyle/>
          <a:p>
            <a:pPr marL="544889" marR="82373" indent="-534314" algn="just">
              <a:lnSpc>
                <a:spcPts val="3410"/>
              </a:lnSpc>
              <a:spcBef>
                <a:spcPts val="513"/>
              </a:spcBef>
              <a:buClr>
                <a:srgbClr val="3232CC"/>
              </a:buClr>
              <a:buChar char="•"/>
              <a:tabLst>
                <a:tab pos="544889" algn="l"/>
                <a:tab pos="545446" algn="l"/>
              </a:tabLst>
            </a:pPr>
            <a:r>
              <a:rPr sz="2800" spc="-4" dirty="0">
                <a:latin typeface="Times New Roman"/>
                <a:cs typeface="Times New Roman"/>
              </a:rPr>
              <a:t>Following figure illustrates</a:t>
            </a:r>
            <a:r>
              <a:rPr sz="2800" dirty="0">
                <a:latin typeface="Times New Roman"/>
                <a:cs typeface="Times New Roman"/>
              </a:rPr>
              <a:t> </a:t>
            </a:r>
            <a:r>
              <a:rPr sz="2800" spc="-4" dirty="0">
                <a:latin typeface="Times New Roman"/>
                <a:cs typeface="Times New Roman"/>
              </a:rPr>
              <a:t>the</a:t>
            </a:r>
            <a:r>
              <a:rPr sz="2800" spc="9" dirty="0">
                <a:latin typeface="Times New Roman"/>
                <a:cs typeface="Times New Roman"/>
              </a:rPr>
              <a:t> </a:t>
            </a:r>
            <a:r>
              <a:rPr sz="2800" spc="-4" dirty="0">
                <a:latin typeface="Times New Roman"/>
                <a:cs typeface="Times New Roman"/>
              </a:rPr>
              <a:t>operation </a:t>
            </a:r>
            <a:r>
              <a:rPr sz="2800" spc="-776" dirty="0">
                <a:latin typeface="Times New Roman"/>
                <a:cs typeface="Times New Roman"/>
              </a:rPr>
              <a:t> </a:t>
            </a:r>
            <a:r>
              <a:rPr sz="2800" spc="-4" dirty="0">
                <a:latin typeface="Times New Roman"/>
                <a:cs typeface="Times New Roman"/>
              </a:rPr>
              <a:t>of </a:t>
            </a:r>
            <a:r>
              <a:rPr sz="2800" spc="-4" dirty="0">
                <a:solidFill>
                  <a:srgbClr val="FF3200"/>
                </a:solidFill>
                <a:latin typeface="Times New Roman"/>
                <a:cs typeface="Times New Roman"/>
              </a:rPr>
              <a:t>a simple </a:t>
            </a:r>
            <a:r>
              <a:rPr sz="2800" dirty="0">
                <a:solidFill>
                  <a:srgbClr val="FF3200"/>
                </a:solidFill>
                <a:latin typeface="Times New Roman"/>
                <a:cs typeface="Times New Roman"/>
              </a:rPr>
              <a:t>two-port</a:t>
            </a:r>
            <a:r>
              <a:rPr sz="2800" spc="-9" dirty="0">
                <a:solidFill>
                  <a:srgbClr val="FF3200"/>
                </a:solidFill>
                <a:latin typeface="Times New Roman"/>
                <a:cs typeface="Times New Roman"/>
              </a:rPr>
              <a:t> </a:t>
            </a:r>
            <a:r>
              <a:rPr sz="2800" spc="-4" dirty="0">
                <a:solidFill>
                  <a:srgbClr val="FF3200"/>
                </a:solidFill>
                <a:latin typeface="Times New Roman"/>
                <a:cs typeface="Times New Roman"/>
              </a:rPr>
              <a:t>bridge</a:t>
            </a:r>
            <a:r>
              <a:rPr sz="2800" spc="-4" dirty="0">
                <a:latin typeface="Times New Roman"/>
                <a:cs typeface="Times New Roman"/>
              </a:rPr>
              <a:t>.</a:t>
            </a:r>
            <a:endParaRPr sz="2800" dirty="0">
              <a:latin typeface="Times New Roman"/>
              <a:cs typeface="Times New Roman"/>
            </a:endParaRPr>
          </a:p>
          <a:p>
            <a:pPr marL="544889" marR="4453" indent="-534314" algn="just">
              <a:lnSpc>
                <a:spcPts val="3410"/>
              </a:lnSpc>
              <a:spcBef>
                <a:spcPts val="754"/>
              </a:spcBef>
              <a:buClr>
                <a:srgbClr val="3232CC"/>
              </a:buClr>
              <a:buChar char="•"/>
              <a:tabLst>
                <a:tab pos="544889" algn="l"/>
                <a:tab pos="545446" algn="l"/>
              </a:tabLst>
            </a:pPr>
            <a:r>
              <a:rPr sz="2800" dirty="0">
                <a:latin typeface="Times New Roman"/>
                <a:cs typeface="Times New Roman"/>
              </a:rPr>
              <a:t>Host</a:t>
            </a:r>
            <a:r>
              <a:rPr sz="2800" spc="-9" dirty="0">
                <a:latin typeface="Times New Roman"/>
                <a:cs typeface="Times New Roman"/>
              </a:rPr>
              <a:t> </a:t>
            </a:r>
            <a:r>
              <a:rPr sz="2800" spc="-4" dirty="0">
                <a:latin typeface="Times New Roman"/>
                <a:cs typeface="Times New Roman"/>
              </a:rPr>
              <a:t>A</a:t>
            </a:r>
            <a:r>
              <a:rPr sz="2800" spc="-9" dirty="0">
                <a:latin typeface="Times New Roman"/>
                <a:cs typeface="Times New Roman"/>
              </a:rPr>
              <a:t> </a:t>
            </a:r>
            <a:r>
              <a:rPr sz="2800" spc="-4" dirty="0">
                <a:latin typeface="Times New Roman"/>
                <a:cs typeface="Times New Roman"/>
              </a:rPr>
              <a:t>on a wireless</a:t>
            </a:r>
            <a:r>
              <a:rPr sz="2800" dirty="0">
                <a:latin typeface="Times New Roman"/>
                <a:cs typeface="Times New Roman"/>
              </a:rPr>
              <a:t> </a:t>
            </a:r>
            <a:r>
              <a:rPr sz="2800" spc="-4" dirty="0">
                <a:latin typeface="Times New Roman"/>
                <a:cs typeface="Times New Roman"/>
              </a:rPr>
              <a:t>(802.11) LAN</a:t>
            </a:r>
            <a:r>
              <a:rPr sz="2800" spc="4" dirty="0">
                <a:latin typeface="Times New Roman"/>
                <a:cs typeface="Times New Roman"/>
              </a:rPr>
              <a:t> </a:t>
            </a:r>
            <a:r>
              <a:rPr sz="2800" spc="-4" dirty="0">
                <a:latin typeface="Times New Roman"/>
                <a:cs typeface="Times New Roman"/>
              </a:rPr>
              <a:t>has a </a:t>
            </a:r>
            <a:r>
              <a:rPr sz="2800" spc="-776" dirty="0">
                <a:latin typeface="Times New Roman"/>
                <a:cs typeface="Times New Roman"/>
              </a:rPr>
              <a:t> </a:t>
            </a:r>
            <a:r>
              <a:rPr sz="2800" spc="-4" dirty="0">
                <a:latin typeface="Times New Roman"/>
                <a:cs typeface="Times New Roman"/>
              </a:rPr>
              <a:t>packet</a:t>
            </a:r>
            <a:r>
              <a:rPr sz="2800" dirty="0">
                <a:latin typeface="Times New Roman"/>
                <a:cs typeface="Times New Roman"/>
              </a:rPr>
              <a:t> to </a:t>
            </a:r>
            <a:r>
              <a:rPr sz="2800" spc="-4" dirty="0">
                <a:latin typeface="Times New Roman"/>
                <a:cs typeface="Times New Roman"/>
              </a:rPr>
              <a:t>send to</a:t>
            </a:r>
            <a:r>
              <a:rPr sz="2800" dirty="0">
                <a:latin typeface="Times New Roman"/>
                <a:cs typeface="Times New Roman"/>
              </a:rPr>
              <a:t> </a:t>
            </a:r>
            <a:r>
              <a:rPr sz="2800" spc="-4" dirty="0">
                <a:latin typeface="Times New Roman"/>
                <a:cs typeface="Times New Roman"/>
              </a:rPr>
              <a:t>a</a:t>
            </a:r>
            <a:r>
              <a:rPr sz="2800" spc="-9" dirty="0">
                <a:latin typeface="Times New Roman"/>
                <a:cs typeface="Times New Roman"/>
              </a:rPr>
              <a:t> </a:t>
            </a:r>
            <a:r>
              <a:rPr sz="2800" dirty="0">
                <a:latin typeface="Times New Roman"/>
                <a:cs typeface="Times New Roman"/>
              </a:rPr>
              <a:t>fixed </a:t>
            </a:r>
            <a:r>
              <a:rPr sz="2800" spc="-4" dirty="0">
                <a:latin typeface="Times New Roman"/>
                <a:cs typeface="Times New Roman"/>
              </a:rPr>
              <a:t>host, B,</a:t>
            </a:r>
            <a:r>
              <a:rPr sz="2800" dirty="0">
                <a:latin typeface="Times New Roman"/>
                <a:cs typeface="Times New Roman"/>
              </a:rPr>
              <a:t> </a:t>
            </a:r>
            <a:r>
              <a:rPr sz="2800" spc="-4" dirty="0">
                <a:latin typeface="Times New Roman"/>
                <a:cs typeface="Times New Roman"/>
              </a:rPr>
              <a:t>on an </a:t>
            </a:r>
            <a:r>
              <a:rPr sz="2800" dirty="0">
                <a:latin typeface="Times New Roman"/>
                <a:cs typeface="Times New Roman"/>
              </a:rPr>
              <a:t> </a:t>
            </a:r>
            <a:r>
              <a:rPr sz="2800" spc="-4" dirty="0">
                <a:latin typeface="Times New Roman"/>
                <a:cs typeface="Times New Roman"/>
              </a:rPr>
              <a:t>(802.3)</a:t>
            </a:r>
            <a:r>
              <a:rPr sz="2800" dirty="0">
                <a:latin typeface="Times New Roman"/>
                <a:cs typeface="Times New Roman"/>
              </a:rPr>
              <a:t> </a:t>
            </a:r>
            <a:r>
              <a:rPr sz="2800" spc="-4" dirty="0">
                <a:latin typeface="Times New Roman"/>
                <a:cs typeface="Times New Roman"/>
              </a:rPr>
              <a:t>Ethernet</a:t>
            </a:r>
            <a:r>
              <a:rPr sz="2800" spc="4" dirty="0">
                <a:latin typeface="Times New Roman"/>
                <a:cs typeface="Times New Roman"/>
              </a:rPr>
              <a:t> </a:t>
            </a:r>
            <a:r>
              <a:rPr sz="2800" spc="-4" dirty="0">
                <a:latin typeface="Times New Roman"/>
                <a:cs typeface="Times New Roman"/>
              </a:rPr>
              <a:t>to</a:t>
            </a:r>
            <a:r>
              <a:rPr sz="2800" dirty="0">
                <a:latin typeface="Times New Roman"/>
                <a:cs typeface="Times New Roman"/>
              </a:rPr>
              <a:t> which </a:t>
            </a:r>
            <a:r>
              <a:rPr sz="2800" spc="-4" dirty="0">
                <a:latin typeface="Times New Roman"/>
                <a:cs typeface="Times New Roman"/>
              </a:rPr>
              <a:t>the wireless </a:t>
            </a:r>
            <a:r>
              <a:rPr sz="2800" dirty="0">
                <a:latin typeface="Times New Roman"/>
                <a:cs typeface="Times New Roman"/>
              </a:rPr>
              <a:t> </a:t>
            </a:r>
            <a:r>
              <a:rPr sz="2800" spc="-4" dirty="0">
                <a:latin typeface="Times New Roman"/>
                <a:cs typeface="Times New Roman"/>
              </a:rPr>
              <a:t>LAN</a:t>
            </a:r>
            <a:r>
              <a:rPr sz="2800" dirty="0">
                <a:latin typeface="Times New Roman"/>
                <a:cs typeface="Times New Roman"/>
              </a:rPr>
              <a:t> </a:t>
            </a:r>
            <a:r>
              <a:rPr sz="2800" spc="-4" dirty="0">
                <a:latin typeface="Times New Roman"/>
                <a:cs typeface="Times New Roman"/>
              </a:rPr>
              <a:t>is</a:t>
            </a:r>
            <a:r>
              <a:rPr sz="2800" dirty="0">
                <a:latin typeface="Times New Roman"/>
                <a:cs typeface="Times New Roman"/>
              </a:rPr>
              <a:t> </a:t>
            </a:r>
            <a:r>
              <a:rPr sz="2800" spc="-4" dirty="0">
                <a:latin typeface="Times New Roman"/>
                <a:cs typeface="Times New Roman"/>
              </a:rPr>
              <a:t>connected.</a:t>
            </a:r>
            <a:endParaRPr sz="2800" dirty="0">
              <a:latin typeface="Times New Roman"/>
              <a:cs typeface="Times New Roman"/>
            </a:endParaRPr>
          </a:p>
          <a:p>
            <a:pPr marL="544889" marR="79591" indent="-534314" algn="just">
              <a:lnSpc>
                <a:spcPts val="3410"/>
              </a:lnSpc>
              <a:spcBef>
                <a:spcPts val="740"/>
              </a:spcBef>
              <a:buClr>
                <a:srgbClr val="3232CC"/>
              </a:buClr>
              <a:buChar char="•"/>
              <a:tabLst>
                <a:tab pos="544889" algn="l"/>
                <a:tab pos="545446" algn="l"/>
              </a:tabLst>
            </a:pPr>
            <a:r>
              <a:rPr sz="2800" spc="-4" dirty="0">
                <a:latin typeface="Times New Roman"/>
                <a:cs typeface="Times New Roman"/>
              </a:rPr>
              <a:t>Note</a:t>
            </a:r>
            <a:r>
              <a:rPr sz="2800" dirty="0">
                <a:latin typeface="Times New Roman"/>
                <a:cs typeface="Times New Roman"/>
              </a:rPr>
              <a:t> </a:t>
            </a:r>
            <a:r>
              <a:rPr sz="2800" spc="-4" dirty="0">
                <a:latin typeface="Times New Roman"/>
                <a:cs typeface="Times New Roman"/>
              </a:rPr>
              <a:t>that</a:t>
            </a:r>
            <a:r>
              <a:rPr sz="2800" dirty="0">
                <a:latin typeface="Times New Roman"/>
                <a:cs typeface="Times New Roman"/>
              </a:rPr>
              <a:t> </a:t>
            </a:r>
            <a:r>
              <a:rPr sz="2800" spc="-4" dirty="0">
                <a:latin typeface="Times New Roman"/>
                <a:cs typeface="Times New Roman"/>
              </a:rPr>
              <a:t>a</a:t>
            </a:r>
            <a:r>
              <a:rPr sz="2800" dirty="0">
                <a:latin typeface="Times New Roman"/>
                <a:cs typeface="Times New Roman"/>
              </a:rPr>
              <a:t> </a:t>
            </a:r>
            <a:r>
              <a:rPr sz="2800" spc="-4" dirty="0">
                <a:latin typeface="Times New Roman"/>
                <a:cs typeface="Times New Roman"/>
              </a:rPr>
              <a:t>bridge</a:t>
            </a:r>
            <a:r>
              <a:rPr sz="2800" dirty="0">
                <a:latin typeface="Times New Roman"/>
                <a:cs typeface="Times New Roman"/>
              </a:rPr>
              <a:t> </a:t>
            </a:r>
            <a:r>
              <a:rPr sz="2800" spc="-4" dirty="0">
                <a:latin typeface="Times New Roman"/>
                <a:cs typeface="Times New Roman"/>
              </a:rPr>
              <a:t>connecting </a:t>
            </a:r>
            <a:r>
              <a:rPr sz="2800" spc="-4" dirty="0">
                <a:solidFill>
                  <a:srgbClr val="FF3200"/>
                </a:solidFill>
                <a:latin typeface="Times New Roman"/>
                <a:cs typeface="Times New Roman"/>
              </a:rPr>
              <a:t>k</a:t>
            </a:r>
            <a:r>
              <a:rPr sz="2800" spc="13" dirty="0">
                <a:solidFill>
                  <a:srgbClr val="FF3200"/>
                </a:solidFill>
                <a:latin typeface="Times New Roman"/>
                <a:cs typeface="Times New Roman"/>
              </a:rPr>
              <a:t> </a:t>
            </a:r>
            <a:r>
              <a:rPr sz="2800" spc="-4" dirty="0">
                <a:latin typeface="Times New Roman"/>
                <a:cs typeface="Times New Roman"/>
              </a:rPr>
              <a:t>different </a:t>
            </a:r>
            <a:r>
              <a:rPr sz="2800" spc="-776" dirty="0">
                <a:latin typeface="Times New Roman"/>
                <a:cs typeface="Times New Roman"/>
              </a:rPr>
              <a:t> </a:t>
            </a:r>
            <a:r>
              <a:rPr sz="2800" spc="-4" dirty="0">
                <a:latin typeface="Times New Roman"/>
                <a:cs typeface="Times New Roman"/>
              </a:rPr>
              <a:t>LANs will </a:t>
            </a:r>
            <a:r>
              <a:rPr sz="2800" dirty="0">
                <a:latin typeface="Times New Roman"/>
                <a:cs typeface="Times New Roman"/>
              </a:rPr>
              <a:t>have </a:t>
            </a:r>
            <a:r>
              <a:rPr sz="2800" spc="-4" dirty="0">
                <a:solidFill>
                  <a:srgbClr val="FF3200"/>
                </a:solidFill>
                <a:latin typeface="Times New Roman"/>
                <a:cs typeface="Times New Roman"/>
              </a:rPr>
              <a:t>k </a:t>
            </a:r>
            <a:r>
              <a:rPr sz="2800" spc="-4" dirty="0">
                <a:latin typeface="Times New Roman"/>
                <a:cs typeface="Times New Roman"/>
              </a:rPr>
              <a:t>different </a:t>
            </a:r>
            <a:r>
              <a:rPr sz="2800" dirty="0">
                <a:latin typeface="Times New Roman"/>
                <a:cs typeface="Times New Roman"/>
              </a:rPr>
              <a:t>MAC </a:t>
            </a:r>
            <a:r>
              <a:rPr sz="2800" spc="4" dirty="0">
                <a:latin typeface="Times New Roman"/>
                <a:cs typeface="Times New Roman"/>
              </a:rPr>
              <a:t> </a:t>
            </a:r>
            <a:r>
              <a:rPr sz="2800" spc="-4" dirty="0">
                <a:latin typeface="Times New Roman"/>
                <a:cs typeface="Times New Roman"/>
              </a:rPr>
              <a:t>sublayers</a:t>
            </a:r>
            <a:r>
              <a:rPr sz="2800" spc="4" dirty="0">
                <a:latin typeface="Times New Roman"/>
                <a:cs typeface="Times New Roman"/>
              </a:rPr>
              <a:t> </a:t>
            </a:r>
            <a:r>
              <a:rPr sz="2800" spc="-4" dirty="0">
                <a:latin typeface="Times New Roman"/>
                <a:cs typeface="Times New Roman"/>
              </a:rPr>
              <a:t>and</a:t>
            </a:r>
            <a:r>
              <a:rPr sz="2800" spc="4" dirty="0">
                <a:latin typeface="Times New Roman"/>
                <a:cs typeface="Times New Roman"/>
              </a:rPr>
              <a:t> </a:t>
            </a:r>
            <a:r>
              <a:rPr sz="2800" spc="-4" dirty="0">
                <a:solidFill>
                  <a:srgbClr val="FF3200"/>
                </a:solidFill>
                <a:latin typeface="Times New Roman"/>
                <a:cs typeface="Times New Roman"/>
              </a:rPr>
              <a:t>k</a:t>
            </a:r>
            <a:r>
              <a:rPr sz="2800" spc="4" dirty="0">
                <a:solidFill>
                  <a:srgbClr val="FF3200"/>
                </a:solidFill>
                <a:latin typeface="Times New Roman"/>
                <a:cs typeface="Times New Roman"/>
              </a:rPr>
              <a:t> </a:t>
            </a:r>
            <a:r>
              <a:rPr sz="2800" spc="-4" dirty="0">
                <a:latin typeface="Times New Roman"/>
                <a:cs typeface="Times New Roman"/>
              </a:rPr>
              <a:t>different</a:t>
            </a:r>
            <a:r>
              <a:rPr sz="2800" dirty="0">
                <a:latin typeface="Times New Roman"/>
                <a:cs typeface="Times New Roman"/>
              </a:rPr>
              <a:t> </a:t>
            </a:r>
            <a:r>
              <a:rPr sz="2800" spc="-4" dirty="0">
                <a:latin typeface="Times New Roman"/>
                <a:cs typeface="Times New Roman"/>
              </a:rPr>
              <a:t>physical</a:t>
            </a:r>
            <a:r>
              <a:rPr sz="2800" dirty="0">
                <a:latin typeface="Times New Roman"/>
                <a:cs typeface="Times New Roman"/>
              </a:rPr>
              <a:t> </a:t>
            </a:r>
            <a:r>
              <a:rPr sz="2800" spc="-4" dirty="0">
                <a:latin typeface="Times New Roman"/>
                <a:cs typeface="Times New Roman"/>
              </a:rPr>
              <a:t>layers, </a:t>
            </a:r>
            <a:r>
              <a:rPr sz="2800" spc="-776" dirty="0">
                <a:latin typeface="Times New Roman"/>
                <a:cs typeface="Times New Roman"/>
              </a:rPr>
              <a:t> </a:t>
            </a:r>
            <a:r>
              <a:rPr sz="2800" spc="-4" dirty="0">
                <a:latin typeface="Times New Roman"/>
                <a:cs typeface="Times New Roman"/>
              </a:rPr>
              <a:t>one</a:t>
            </a:r>
            <a:r>
              <a:rPr sz="2800" spc="-9" dirty="0">
                <a:latin typeface="Times New Roman"/>
                <a:cs typeface="Times New Roman"/>
              </a:rPr>
              <a:t> </a:t>
            </a:r>
            <a:r>
              <a:rPr sz="2800" spc="-4" dirty="0">
                <a:latin typeface="Times New Roman"/>
                <a:cs typeface="Times New Roman"/>
              </a:rPr>
              <a:t>for</a:t>
            </a:r>
            <a:r>
              <a:rPr sz="2800" dirty="0">
                <a:latin typeface="Times New Roman"/>
                <a:cs typeface="Times New Roman"/>
              </a:rPr>
              <a:t> </a:t>
            </a:r>
            <a:r>
              <a:rPr sz="2800" spc="-4" dirty="0">
                <a:latin typeface="Times New Roman"/>
                <a:cs typeface="Times New Roman"/>
              </a:rPr>
              <a:t>each</a:t>
            </a:r>
            <a:r>
              <a:rPr sz="2800" dirty="0">
                <a:latin typeface="Times New Roman"/>
                <a:cs typeface="Times New Roman"/>
              </a:rPr>
              <a:t> </a:t>
            </a:r>
            <a:r>
              <a:rPr sz="2800" spc="-4" dirty="0">
                <a:latin typeface="Times New Roman"/>
                <a:cs typeface="Times New Roman"/>
              </a:rPr>
              <a:t>type.</a:t>
            </a:r>
            <a:endParaRPr sz="2800" dirty="0">
              <a:latin typeface="Times New Roman"/>
              <a:cs typeface="Times New Roman"/>
            </a:endParaRPr>
          </a:p>
        </p:txBody>
      </p:sp>
    </p:spTree>
    <p:extLst>
      <p:ext uri="{BB962C8B-B14F-4D97-AF65-F5344CB8AC3E}">
        <p14:creationId xmlns:p14="http://schemas.microsoft.com/office/powerpoint/2010/main" val="37074836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58534" y="5677447"/>
            <a:ext cx="6005826" cy="334406"/>
          </a:xfrm>
          <a:prstGeom prst="rect">
            <a:avLst/>
          </a:prstGeom>
        </p:spPr>
        <p:txBody>
          <a:bodyPr vert="horz" wrap="square" lIns="0" tIns="11132" rIns="0" bIns="0" rtlCol="0">
            <a:spAutoFit/>
          </a:bodyPr>
          <a:lstStyle/>
          <a:p>
            <a:pPr marL="11132">
              <a:spcBef>
                <a:spcPts val="88"/>
              </a:spcBef>
            </a:pPr>
            <a:r>
              <a:rPr sz="2100" spc="-4" dirty="0">
                <a:latin typeface="Times New Roman"/>
                <a:cs typeface="Times New Roman"/>
              </a:rPr>
              <a:t>Operation</a:t>
            </a:r>
            <a:r>
              <a:rPr sz="2100" dirty="0">
                <a:latin typeface="Times New Roman"/>
                <a:cs typeface="Times New Roman"/>
              </a:rPr>
              <a:t> </a:t>
            </a:r>
            <a:r>
              <a:rPr sz="2100" spc="-4" dirty="0">
                <a:latin typeface="Times New Roman"/>
                <a:cs typeface="Times New Roman"/>
              </a:rPr>
              <a:t>of</a:t>
            </a:r>
            <a:r>
              <a:rPr sz="2100" spc="-9" dirty="0">
                <a:latin typeface="Times New Roman"/>
                <a:cs typeface="Times New Roman"/>
              </a:rPr>
              <a:t> </a:t>
            </a:r>
            <a:r>
              <a:rPr sz="2100" spc="-4" dirty="0">
                <a:latin typeface="Times New Roman"/>
                <a:cs typeface="Times New Roman"/>
              </a:rPr>
              <a:t>a</a:t>
            </a:r>
            <a:r>
              <a:rPr sz="2100" dirty="0">
                <a:latin typeface="Times New Roman"/>
                <a:cs typeface="Times New Roman"/>
              </a:rPr>
              <a:t> </a:t>
            </a:r>
            <a:r>
              <a:rPr sz="2100" spc="-9" dirty="0">
                <a:latin typeface="Times New Roman"/>
                <a:cs typeface="Times New Roman"/>
              </a:rPr>
              <a:t>LAN</a:t>
            </a:r>
            <a:r>
              <a:rPr sz="2100" spc="-4" dirty="0">
                <a:latin typeface="Times New Roman"/>
                <a:cs typeface="Times New Roman"/>
              </a:rPr>
              <a:t> </a:t>
            </a:r>
            <a:r>
              <a:rPr sz="2100" dirty="0">
                <a:latin typeface="Times New Roman"/>
                <a:cs typeface="Times New Roman"/>
              </a:rPr>
              <a:t>bridge</a:t>
            </a:r>
            <a:r>
              <a:rPr sz="2100" spc="4" dirty="0">
                <a:latin typeface="Times New Roman"/>
                <a:cs typeface="Times New Roman"/>
              </a:rPr>
              <a:t> </a:t>
            </a:r>
            <a:r>
              <a:rPr sz="2100" spc="-4" dirty="0">
                <a:latin typeface="Times New Roman"/>
                <a:cs typeface="Times New Roman"/>
              </a:rPr>
              <a:t>from</a:t>
            </a:r>
            <a:r>
              <a:rPr sz="2100" spc="-18" dirty="0">
                <a:latin typeface="Times New Roman"/>
                <a:cs typeface="Times New Roman"/>
              </a:rPr>
              <a:t> </a:t>
            </a:r>
            <a:r>
              <a:rPr sz="2100" dirty="0">
                <a:latin typeface="Times New Roman"/>
                <a:cs typeface="Times New Roman"/>
              </a:rPr>
              <a:t>802.11 to </a:t>
            </a:r>
            <a:r>
              <a:rPr sz="2100" spc="-4" dirty="0">
                <a:latin typeface="Times New Roman"/>
                <a:cs typeface="Times New Roman"/>
              </a:rPr>
              <a:t>802.3.</a:t>
            </a:r>
            <a:endParaRPr sz="2100" dirty="0">
              <a:latin typeface="Times New Roman"/>
              <a:cs typeface="Times New Roman"/>
            </a:endParaRPr>
          </a:p>
        </p:txBody>
      </p:sp>
      <p:pic>
        <p:nvPicPr>
          <p:cNvPr id="4" name="object 4"/>
          <p:cNvPicPr/>
          <p:nvPr/>
        </p:nvPicPr>
        <p:blipFill>
          <a:blip r:embed="rId2" cstate="print"/>
          <a:stretch>
            <a:fillRect/>
          </a:stretch>
        </p:blipFill>
        <p:spPr>
          <a:xfrm>
            <a:off x="789709" y="775855"/>
            <a:ext cx="7370618" cy="4637213"/>
          </a:xfrm>
          <a:prstGeom prst="rect">
            <a:avLst/>
          </a:prstGeom>
        </p:spPr>
      </p:pic>
      <p:sp>
        <p:nvSpPr>
          <p:cNvPr id="6" name="object 6"/>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99</a:t>
            </a:fld>
            <a:endParaRPr sz="1200">
              <a:latin typeface="Times New Roman"/>
              <a:cs typeface="Times New Roman"/>
            </a:endParaRPr>
          </a:p>
        </p:txBody>
      </p:sp>
    </p:spTree>
    <p:extLst>
      <p:ext uri="{BB962C8B-B14F-4D97-AF65-F5344CB8AC3E}">
        <p14:creationId xmlns:p14="http://schemas.microsoft.com/office/powerpoint/2010/main" val="15908036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4294967295"/>
          </p:nvPr>
        </p:nvSpPr>
        <p:spPr>
          <a:xfrm>
            <a:off x="3636748" y="6024543"/>
            <a:ext cx="1856493" cy="771128"/>
          </a:xfrm>
          <a:prstGeom prst="rect">
            <a:avLst/>
          </a:prstGeom>
        </p:spPr>
        <p:txBody>
          <a:bodyPr vert="horz" wrap="square" lIns="0" tIns="1670" rIns="0" bIns="0" rtlCol="0">
            <a:spAutoFit/>
          </a:bodyPr>
          <a:lstStyle/>
          <a:p>
            <a:pPr marL="443592" marR="4453" indent="-433017">
              <a:lnSpc>
                <a:spcPts val="1464"/>
              </a:lnSpc>
              <a:spcBef>
                <a:spcPts val="13"/>
              </a:spcBef>
            </a:pPr>
            <a:r>
              <a:rPr dirty="0"/>
              <a:t>BLM431 </a:t>
            </a:r>
            <a:r>
              <a:rPr spc="-4" dirty="0"/>
              <a:t>Computer Networks </a:t>
            </a:r>
            <a:r>
              <a:rPr spc="-294" dirty="0"/>
              <a:t> </a:t>
            </a:r>
            <a:r>
              <a:rPr spc="-4" dirty="0"/>
              <a:t>Dr.</a:t>
            </a:r>
            <a:r>
              <a:rPr spc="-13" dirty="0"/>
              <a:t> </a:t>
            </a:r>
            <a:r>
              <a:rPr dirty="0"/>
              <a:t>Refik</a:t>
            </a:r>
            <a:r>
              <a:rPr spc="-13" dirty="0"/>
              <a:t> </a:t>
            </a:r>
            <a:r>
              <a:rPr spc="-4" dirty="0"/>
              <a:t>Samet</a:t>
            </a:r>
          </a:p>
        </p:txBody>
      </p:sp>
      <p:sp>
        <p:nvSpPr>
          <p:cNvPr id="5" name="object 5"/>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100</a:t>
            </a:fld>
            <a:endParaRPr sz="1200">
              <a:latin typeface="Times New Roman"/>
              <a:cs typeface="Times New Roman"/>
            </a:endParaRPr>
          </a:p>
        </p:txBody>
      </p:sp>
      <p:sp>
        <p:nvSpPr>
          <p:cNvPr id="2" name="object 2"/>
          <p:cNvSpPr txBox="1">
            <a:spLocks noGrp="1"/>
          </p:cNvSpPr>
          <p:nvPr>
            <p:ph type="title"/>
          </p:nvPr>
        </p:nvSpPr>
        <p:spPr>
          <a:xfrm>
            <a:off x="917568" y="732785"/>
            <a:ext cx="6778165" cy="611405"/>
          </a:xfrm>
          <a:prstGeom prst="rect">
            <a:avLst/>
          </a:prstGeom>
        </p:spPr>
        <p:txBody>
          <a:bodyPr vert="horz" wrap="square" lIns="0" tIns="11132" rIns="0" bIns="0" rtlCol="0">
            <a:spAutoFit/>
          </a:bodyPr>
          <a:lstStyle/>
          <a:p>
            <a:pPr marL="11132">
              <a:spcBef>
                <a:spcPts val="88"/>
              </a:spcBef>
            </a:pPr>
            <a:r>
              <a:rPr sz="3900" spc="-4" dirty="0"/>
              <a:t>Bridges</a:t>
            </a:r>
            <a:r>
              <a:rPr sz="3900" dirty="0"/>
              <a:t> </a:t>
            </a:r>
            <a:r>
              <a:rPr sz="3900" spc="-4" dirty="0"/>
              <a:t>from 802.x</a:t>
            </a:r>
            <a:r>
              <a:rPr sz="3900" spc="-13" dirty="0"/>
              <a:t> </a:t>
            </a:r>
            <a:r>
              <a:rPr sz="3900" dirty="0"/>
              <a:t>to</a:t>
            </a:r>
            <a:r>
              <a:rPr sz="3900" spc="-9" dirty="0"/>
              <a:t> </a:t>
            </a:r>
            <a:r>
              <a:rPr sz="3900" spc="-4" dirty="0"/>
              <a:t>802.y</a:t>
            </a:r>
            <a:endParaRPr sz="3900" dirty="0"/>
          </a:p>
        </p:txBody>
      </p:sp>
      <p:sp>
        <p:nvSpPr>
          <p:cNvPr id="3" name="object 3"/>
          <p:cNvSpPr txBox="1"/>
          <p:nvPr/>
        </p:nvSpPr>
        <p:spPr>
          <a:xfrm>
            <a:off x="185253" y="1732117"/>
            <a:ext cx="7975073" cy="2562659"/>
          </a:xfrm>
          <a:prstGeom prst="rect">
            <a:avLst/>
          </a:prstGeom>
        </p:spPr>
        <p:txBody>
          <a:bodyPr vert="horz" wrap="square" lIns="0" tIns="10575" rIns="0" bIns="0" rtlCol="0">
            <a:spAutoFit/>
          </a:bodyPr>
          <a:lstStyle/>
          <a:p>
            <a:pPr marL="544889" marR="4453" indent="-534314" algn="just">
              <a:lnSpc>
                <a:spcPct val="100099"/>
              </a:lnSpc>
              <a:spcBef>
                <a:spcPts val="83"/>
              </a:spcBef>
              <a:buClr>
                <a:srgbClr val="3232CC"/>
              </a:buClr>
              <a:buChar char="•"/>
              <a:tabLst>
                <a:tab pos="544889" algn="l"/>
                <a:tab pos="545446" algn="l"/>
              </a:tabLst>
            </a:pPr>
            <a:r>
              <a:rPr sz="3200" spc="-4" dirty="0">
                <a:latin typeface="Times New Roman"/>
                <a:cs typeface="Times New Roman"/>
              </a:rPr>
              <a:t>There</a:t>
            </a:r>
            <a:r>
              <a:rPr sz="3200" spc="-9" dirty="0">
                <a:latin typeface="Times New Roman"/>
                <a:cs typeface="Times New Roman"/>
              </a:rPr>
              <a:t> </a:t>
            </a:r>
            <a:r>
              <a:rPr sz="3200" dirty="0">
                <a:latin typeface="Times New Roman"/>
                <a:cs typeface="Times New Roman"/>
              </a:rPr>
              <a:t>are</a:t>
            </a:r>
            <a:r>
              <a:rPr sz="3200" spc="-4" dirty="0">
                <a:latin typeface="Times New Roman"/>
                <a:cs typeface="Times New Roman"/>
              </a:rPr>
              <a:t> many</a:t>
            </a:r>
            <a:r>
              <a:rPr sz="3200" spc="4" dirty="0">
                <a:latin typeface="Times New Roman"/>
                <a:cs typeface="Times New Roman"/>
              </a:rPr>
              <a:t> </a:t>
            </a:r>
            <a:r>
              <a:rPr sz="3200" spc="-4" dirty="0">
                <a:latin typeface="Times New Roman"/>
                <a:cs typeface="Times New Roman"/>
              </a:rPr>
              <a:t>difficulties</a:t>
            </a:r>
            <a:r>
              <a:rPr sz="3200" dirty="0">
                <a:latin typeface="Times New Roman"/>
                <a:cs typeface="Times New Roman"/>
              </a:rPr>
              <a:t> </a:t>
            </a:r>
            <a:r>
              <a:rPr sz="3200" spc="-4" dirty="0">
                <a:latin typeface="Times New Roman"/>
                <a:cs typeface="Times New Roman"/>
              </a:rPr>
              <a:t>that</a:t>
            </a:r>
            <a:r>
              <a:rPr sz="3200" dirty="0">
                <a:latin typeface="Times New Roman"/>
                <a:cs typeface="Times New Roman"/>
              </a:rPr>
              <a:t> </a:t>
            </a:r>
            <a:r>
              <a:rPr sz="3200" spc="-4" dirty="0">
                <a:latin typeface="Times New Roman"/>
                <a:cs typeface="Times New Roman"/>
              </a:rPr>
              <a:t>one </a:t>
            </a:r>
            <a:r>
              <a:rPr sz="3200" dirty="0">
                <a:latin typeface="Times New Roman"/>
                <a:cs typeface="Times New Roman"/>
              </a:rPr>
              <a:t> </a:t>
            </a:r>
            <a:r>
              <a:rPr sz="3200" spc="-4" dirty="0">
                <a:latin typeface="Times New Roman"/>
                <a:cs typeface="Times New Roman"/>
              </a:rPr>
              <a:t>encounters when</a:t>
            </a:r>
            <a:r>
              <a:rPr sz="3200" dirty="0">
                <a:latin typeface="Times New Roman"/>
                <a:cs typeface="Times New Roman"/>
              </a:rPr>
              <a:t> </a:t>
            </a:r>
            <a:r>
              <a:rPr sz="3200" spc="-4" dirty="0">
                <a:latin typeface="Times New Roman"/>
                <a:cs typeface="Times New Roman"/>
              </a:rPr>
              <a:t>trying</a:t>
            </a:r>
            <a:r>
              <a:rPr sz="3200" spc="9" dirty="0">
                <a:latin typeface="Times New Roman"/>
                <a:cs typeface="Times New Roman"/>
              </a:rPr>
              <a:t> </a:t>
            </a:r>
            <a:r>
              <a:rPr sz="3200" spc="-4" dirty="0">
                <a:latin typeface="Times New Roman"/>
                <a:cs typeface="Times New Roman"/>
              </a:rPr>
              <a:t>to build</a:t>
            </a:r>
            <a:r>
              <a:rPr sz="3200" spc="9" dirty="0">
                <a:latin typeface="Times New Roman"/>
                <a:cs typeface="Times New Roman"/>
              </a:rPr>
              <a:t> </a:t>
            </a:r>
            <a:r>
              <a:rPr sz="3200" spc="-4" dirty="0">
                <a:latin typeface="Times New Roman"/>
                <a:cs typeface="Times New Roman"/>
              </a:rPr>
              <a:t>a bridge </a:t>
            </a:r>
            <a:r>
              <a:rPr sz="3200" spc="-776" dirty="0">
                <a:latin typeface="Times New Roman"/>
                <a:cs typeface="Times New Roman"/>
              </a:rPr>
              <a:t> </a:t>
            </a:r>
            <a:r>
              <a:rPr sz="3200" spc="-4" dirty="0">
                <a:latin typeface="Times New Roman"/>
                <a:cs typeface="Times New Roman"/>
              </a:rPr>
              <a:t>between</a:t>
            </a:r>
            <a:r>
              <a:rPr sz="3200" spc="4" dirty="0">
                <a:latin typeface="Times New Roman"/>
                <a:cs typeface="Times New Roman"/>
              </a:rPr>
              <a:t> </a:t>
            </a:r>
            <a:r>
              <a:rPr sz="3200" spc="-4" dirty="0">
                <a:latin typeface="Times New Roman"/>
                <a:cs typeface="Times New Roman"/>
              </a:rPr>
              <a:t>the various</a:t>
            </a:r>
            <a:r>
              <a:rPr sz="3200" dirty="0">
                <a:latin typeface="Times New Roman"/>
                <a:cs typeface="Times New Roman"/>
              </a:rPr>
              <a:t> </a:t>
            </a:r>
            <a:r>
              <a:rPr sz="3200" spc="-4" dirty="0">
                <a:latin typeface="Times New Roman"/>
                <a:cs typeface="Times New Roman"/>
              </a:rPr>
              <a:t>802</a:t>
            </a:r>
            <a:r>
              <a:rPr sz="3200" dirty="0">
                <a:latin typeface="Times New Roman"/>
                <a:cs typeface="Times New Roman"/>
              </a:rPr>
              <a:t> </a:t>
            </a:r>
            <a:r>
              <a:rPr sz="3200" spc="-4" dirty="0">
                <a:latin typeface="Times New Roman"/>
                <a:cs typeface="Times New Roman"/>
              </a:rPr>
              <a:t>LANs</a:t>
            </a:r>
            <a:r>
              <a:rPr sz="3200" dirty="0">
                <a:latin typeface="Times New Roman"/>
                <a:cs typeface="Times New Roman"/>
              </a:rPr>
              <a:t> </a:t>
            </a:r>
            <a:r>
              <a:rPr sz="3200" spc="-9" dirty="0">
                <a:latin typeface="Times New Roman"/>
                <a:cs typeface="Times New Roman"/>
              </a:rPr>
              <a:t>(and </a:t>
            </a:r>
            <a:r>
              <a:rPr sz="3200" spc="-4" dirty="0">
                <a:latin typeface="Times New Roman"/>
                <a:cs typeface="Times New Roman"/>
              </a:rPr>
              <a:t> MANs)</a:t>
            </a:r>
            <a:endParaRPr sz="3200" dirty="0">
              <a:latin typeface="Times New Roman"/>
              <a:cs typeface="Times New Roman"/>
            </a:endParaRPr>
          </a:p>
          <a:p>
            <a:pPr marL="544889" marR="16141" indent="-534314" algn="just">
              <a:lnSpc>
                <a:spcPct val="100299"/>
              </a:lnSpc>
              <a:spcBef>
                <a:spcPts val="745"/>
              </a:spcBef>
              <a:buClr>
                <a:srgbClr val="3232CC"/>
              </a:buClr>
              <a:buChar char="•"/>
              <a:tabLst>
                <a:tab pos="544889" algn="l"/>
                <a:tab pos="545446" algn="l"/>
              </a:tabLst>
            </a:pPr>
            <a:r>
              <a:rPr sz="3200" spc="-4" dirty="0">
                <a:latin typeface="Times New Roman"/>
                <a:cs typeface="Times New Roman"/>
              </a:rPr>
              <a:t>Each of</a:t>
            </a:r>
            <a:r>
              <a:rPr sz="3200" spc="9" dirty="0">
                <a:latin typeface="Times New Roman"/>
                <a:cs typeface="Times New Roman"/>
              </a:rPr>
              <a:t> </a:t>
            </a:r>
            <a:r>
              <a:rPr sz="3200" spc="-4" dirty="0">
                <a:latin typeface="Times New Roman"/>
                <a:cs typeface="Times New Roman"/>
              </a:rPr>
              <a:t>the </a:t>
            </a:r>
            <a:r>
              <a:rPr sz="3200" dirty="0">
                <a:latin typeface="Times New Roman"/>
                <a:cs typeface="Times New Roman"/>
              </a:rPr>
              <a:t>LANs</a:t>
            </a:r>
            <a:r>
              <a:rPr sz="3200" spc="-4" dirty="0">
                <a:latin typeface="Times New Roman"/>
                <a:cs typeface="Times New Roman"/>
              </a:rPr>
              <a:t> uses</a:t>
            </a:r>
            <a:r>
              <a:rPr sz="3200" spc="-9" dirty="0">
                <a:latin typeface="Times New Roman"/>
                <a:cs typeface="Times New Roman"/>
              </a:rPr>
              <a:t> </a:t>
            </a:r>
            <a:r>
              <a:rPr sz="3200" spc="-4" dirty="0">
                <a:latin typeface="Times New Roman"/>
                <a:cs typeface="Times New Roman"/>
              </a:rPr>
              <a:t>a different</a:t>
            </a:r>
            <a:r>
              <a:rPr sz="3200" spc="-9" dirty="0">
                <a:latin typeface="Times New Roman"/>
                <a:cs typeface="Times New Roman"/>
              </a:rPr>
              <a:t> </a:t>
            </a:r>
            <a:r>
              <a:rPr sz="3200" spc="-4" dirty="0">
                <a:latin typeface="Times New Roman"/>
                <a:cs typeface="Times New Roman"/>
              </a:rPr>
              <a:t>frame </a:t>
            </a:r>
            <a:r>
              <a:rPr sz="3200" spc="-776" dirty="0">
                <a:latin typeface="Times New Roman"/>
                <a:cs typeface="Times New Roman"/>
              </a:rPr>
              <a:t> </a:t>
            </a:r>
            <a:r>
              <a:rPr sz="3200" spc="-4" dirty="0">
                <a:latin typeface="Times New Roman"/>
                <a:cs typeface="Times New Roman"/>
              </a:rPr>
              <a:t>format</a:t>
            </a:r>
            <a:endParaRPr sz="3200" dirty="0">
              <a:latin typeface="Times New Roman"/>
              <a:cs typeface="Times New Roman"/>
            </a:endParaRPr>
          </a:p>
        </p:txBody>
      </p:sp>
    </p:spTree>
    <p:extLst>
      <p:ext uri="{BB962C8B-B14F-4D97-AF65-F5344CB8AC3E}">
        <p14:creationId xmlns:p14="http://schemas.microsoft.com/office/powerpoint/2010/main" val="42546645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06044" y="4919331"/>
            <a:ext cx="6118444" cy="885839"/>
          </a:xfrm>
          <a:prstGeom prst="rect">
            <a:avLst/>
          </a:prstGeom>
        </p:spPr>
        <p:txBody>
          <a:bodyPr vert="horz" wrap="square" lIns="0" tIns="11132" rIns="0" bIns="0" rtlCol="0">
            <a:spAutoFit/>
          </a:bodyPr>
          <a:lstStyle/>
          <a:p>
            <a:pPr marL="11132" algn="just">
              <a:spcBef>
                <a:spcPts val="88"/>
              </a:spcBef>
              <a:tabLst>
                <a:tab pos="3309410" algn="l"/>
              </a:tabLst>
            </a:pPr>
            <a:r>
              <a:rPr sz="2800" spc="-4" dirty="0">
                <a:latin typeface="Times New Roman"/>
                <a:cs typeface="Times New Roman"/>
              </a:rPr>
              <a:t>The</a:t>
            </a:r>
            <a:r>
              <a:rPr sz="2800" spc="9" dirty="0">
                <a:latin typeface="Times New Roman"/>
                <a:cs typeface="Times New Roman"/>
              </a:rPr>
              <a:t> </a:t>
            </a:r>
            <a:r>
              <a:rPr sz="2800" spc="-4" dirty="0">
                <a:latin typeface="Times New Roman"/>
                <a:cs typeface="Times New Roman"/>
              </a:rPr>
              <a:t>IEEE</a:t>
            </a:r>
            <a:r>
              <a:rPr sz="2800" spc="9" dirty="0">
                <a:latin typeface="Times New Roman"/>
                <a:cs typeface="Times New Roman"/>
              </a:rPr>
              <a:t> </a:t>
            </a:r>
            <a:r>
              <a:rPr sz="2800" spc="-9" dirty="0">
                <a:latin typeface="Times New Roman"/>
                <a:cs typeface="Times New Roman"/>
              </a:rPr>
              <a:t>802</a:t>
            </a:r>
            <a:r>
              <a:rPr sz="2800" spc="9" dirty="0">
                <a:latin typeface="Times New Roman"/>
                <a:cs typeface="Times New Roman"/>
              </a:rPr>
              <a:t> </a:t>
            </a:r>
            <a:r>
              <a:rPr sz="2800" spc="-9" dirty="0">
                <a:latin typeface="Times New Roman"/>
                <a:cs typeface="Times New Roman"/>
              </a:rPr>
              <a:t>frame</a:t>
            </a:r>
            <a:r>
              <a:rPr sz="2800" spc="13" dirty="0">
                <a:latin typeface="Times New Roman"/>
                <a:cs typeface="Times New Roman"/>
              </a:rPr>
              <a:t> </a:t>
            </a:r>
            <a:r>
              <a:rPr sz="2800" spc="-4" dirty="0">
                <a:latin typeface="Times New Roman"/>
                <a:cs typeface="Times New Roman"/>
              </a:rPr>
              <a:t>formats.	</a:t>
            </a:r>
            <a:endParaRPr lang="en-IN" sz="2800" spc="-4" dirty="0">
              <a:latin typeface="Times New Roman"/>
              <a:cs typeface="Times New Roman"/>
            </a:endParaRPr>
          </a:p>
          <a:p>
            <a:pPr marL="11132" algn="just">
              <a:spcBef>
                <a:spcPts val="88"/>
              </a:spcBef>
              <a:tabLst>
                <a:tab pos="3309410" algn="l"/>
              </a:tabLst>
            </a:pPr>
            <a:r>
              <a:rPr sz="2800" spc="-4" dirty="0">
                <a:latin typeface="Times New Roman"/>
                <a:cs typeface="Times New Roman"/>
              </a:rPr>
              <a:t>The</a:t>
            </a:r>
            <a:r>
              <a:rPr sz="2800" spc="-9" dirty="0">
                <a:latin typeface="Times New Roman"/>
                <a:cs typeface="Times New Roman"/>
              </a:rPr>
              <a:t> </a:t>
            </a:r>
            <a:r>
              <a:rPr sz="2800" spc="-4" dirty="0">
                <a:latin typeface="Times New Roman"/>
                <a:cs typeface="Times New Roman"/>
              </a:rPr>
              <a:t>drawing</a:t>
            </a:r>
            <a:r>
              <a:rPr sz="2800" spc="-18" dirty="0">
                <a:latin typeface="Times New Roman"/>
                <a:cs typeface="Times New Roman"/>
              </a:rPr>
              <a:t> </a:t>
            </a:r>
            <a:r>
              <a:rPr sz="2800" dirty="0">
                <a:latin typeface="Times New Roman"/>
                <a:cs typeface="Times New Roman"/>
              </a:rPr>
              <a:t>is</a:t>
            </a:r>
            <a:r>
              <a:rPr sz="2800" spc="-9" dirty="0">
                <a:latin typeface="Times New Roman"/>
                <a:cs typeface="Times New Roman"/>
              </a:rPr>
              <a:t> </a:t>
            </a:r>
            <a:r>
              <a:rPr sz="2800" spc="-4" dirty="0">
                <a:latin typeface="Times New Roman"/>
                <a:cs typeface="Times New Roman"/>
              </a:rPr>
              <a:t>not</a:t>
            </a:r>
            <a:r>
              <a:rPr sz="2800" spc="-18" dirty="0">
                <a:latin typeface="Times New Roman"/>
                <a:cs typeface="Times New Roman"/>
              </a:rPr>
              <a:t> </a:t>
            </a:r>
            <a:r>
              <a:rPr sz="2800" dirty="0">
                <a:latin typeface="Times New Roman"/>
                <a:cs typeface="Times New Roman"/>
              </a:rPr>
              <a:t>to</a:t>
            </a:r>
            <a:r>
              <a:rPr sz="2800" spc="-9" dirty="0">
                <a:latin typeface="Times New Roman"/>
                <a:cs typeface="Times New Roman"/>
              </a:rPr>
              <a:t> </a:t>
            </a:r>
            <a:r>
              <a:rPr sz="2800" spc="-4" dirty="0">
                <a:latin typeface="Times New Roman"/>
                <a:cs typeface="Times New Roman"/>
              </a:rPr>
              <a:t>scale.</a:t>
            </a:r>
            <a:endParaRPr sz="2800" dirty="0">
              <a:latin typeface="Times New Roman"/>
              <a:cs typeface="Times New Roman"/>
            </a:endParaRPr>
          </a:p>
        </p:txBody>
      </p:sp>
      <p:pic>
        <p:nvPicPr>
          <p:cNvPr id="4" name="object 4"/>
          <p:cNvPicPr/>
          <p:nvPr/>
        </p:nvPicPr>
        <p:blipFill>
          <a:blip r:embed="rId2" cstate="print"/>
          <a:stretch>
            <a:fillRect/>
          </a:stretch>
        </p:blipFill>
        <p:spPr>
          <a:xfrm>
            <a:off x="1066004" y="1601696"/>
            <a:ext cx="6957693" cy="2878633"/>
          </a:xfrm>
          <a:prstGeom prst="rect">
            <a:avLst/>
          </a:prstGeom>
        </p:spPr>
      </p:pic>
      <p:sp>
        <p:nvSpPr>
          <p:cNvPr id="6" name="object 6"/>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101</a:t>
            </a:fld>
            <a:endParaRPr sz="1200">
              <a:latin typeface="Times New Roman"/>
              <a:cs typeface="Times New Roman"/>
            </a:endParaRPr>
          </a:p>
        </p:txBody>
      </p:sp>
    </p:spTree>
    <p:extLst>
      <p:ext uri="{BB962C8B-B14F-4D97-AF65-F5344CB8AC3E}">
        <p14:creationId xmlns:p14="http://schemas.microsoft.com/office/powerpoint/2010/main" val="16906016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102</a:t>
            </a:fld>
            <a:endParaRPr sz="1200">
              <a:latin typeface="Times New Roman"/>
              <a:cs typeface="Times New Roman"/>
            </a:endParaRPr>
          </a:p>
        </p:txBody>
      </p:sp>
      <p:sp>
        <p:nvSpPr>
          <p:cNvPr id="3" name="object 3"/>
          <p:cNvSpPr txBox="1"/>
          <p:nvPr/>
        </p:nvSpPr>
        <p:spPr>
          <a:xfrm>
            <a:off x="517764" y="997340"/>
            <a:ext cx="8099763" cy="4534759"/>
          </a:xfrm>
          <a:prstGeom prst="rect">
            <a:avLst/>
          </a:prstGeom>
        </p:spPr>
        <p:txBody>
          <a:bodyPr vert="horz" wrap="square" lIns="0" tIns="106863" rIns="0" bIns="0" rtlCol="0">
            <a:spAutoFit/>
          </a:bodyPr>
          <a:lstStyle/>
          <a:p>
            <a:pPr marL="11132" algn="just">
              <a:spcBef>
                <a:spcPts val="841"/>
              </a:spcBef>
            </a:pPr>
            <a:r>
              <a:rPr sz="3200" spc="-4" dirty="0">
                <a:latin typeface="Times New Roman"/>
                <a:cs typeface="Times New Roman"/>
              </a:rPr>
              <a:t>Some</a:t>
            </a:r>
            <a:r>
              <a:rPr sz="3200" spc="-22" dirty="0">
                <a:latin typeface="Times New Roman"/>
                <a:cs typeface="Times New Roman"/>
              </a:rPr>
              <a:t> </a:t>
            </a:r>
            <a:r>
              <a:rPr sz="3200" spc="-4" dirty="0">
                <a:latin typeface="Times New Roman"/>
                <a:cs typeface="Times New Roman"/>
              </a:rPr>
              <a:t>problems</a:t>
            </a:r>
            <a:r>
              <a:rPr sz="3200" dirty="0">
                <a:latin typeface="Times New Roman"/>
                <a:cs typeface="Times New Roman"/>
              </a:rPr>
              <a:t> </a:t>
            </a:r>
            <a:r>
              <a:rPr sz="3200" spc="-4" dirty="0">
                <a:latin typeface="Times New Roman"/>
                <a:cs typeface="Times New Roman"/>
              </a:rPr>
              <a:t>are</a:t>
            </a:r>
            <a:r>
              <a:rPr sz="3200" spc="-18" dirty="0">
                <a:latin typeface="Times New Roman"/>
                <a:cs typeface="Times New Roman"/>
              </a:rPr>
              <a:t> </a:t>
            </a:r>
            <a:r>
              <a:rPr sz="3200" spc="-4" dirty="0">
                <a:latin typeface="Times New Roman"/>
                <a:cs typeface="Times New Roman"/>
              </a:rPr>
              <a:t>:</a:t>
            </a:r>
            <a:endParaRPr sz="3200" dirty="0">
              <a:latin typeface="Times New Roman"/>
              <a:cs typeface="Times New Roman"/>
            </a:endParaRPr>
          </a:p>
          <a:p>
            <a:pPr marL="544889" marR="4453" indent="-534314" algn="just">
              <a:lnSpc>
                <a:spcPct val="100299"/>
              </a:lnSpc>
              <a:spcBef>
                <a:spcPts val="749"/>
              </a:spcBef>
              <a:buClr>
                <a:srgbClr val="3232CC"/>
              </a:buClr>
              <a:buChar char="•"/>
              <a:tabLst>
                <a:tab pos="544889" algn="l"/>
                <a:tab pos="545446" algn="l"/>
              </a:tabLst>
            </a:pPr>
            <a:r>
              <a:rPr sz="3200" spc="-4" dirty="0">
                <a:latin typeface="Times New Roman"/>
                <a:cs typeface="Times New Roman"/>
              </a:rPr>
              <a:t>The</a:t>
            </a:r>
            <a:r>
              <a:rPr sz="3200" spc="-9" dirty="0">
                <a:latin typeface="Times New Roman"/>
                <a:cs typeface="Times New Roman"/>
              </a:rPr>
              <a:t> </a:t>
            </a:r>
            <a:r>
              <a:rPr sz="3200" dirty="0">
                <a:latin typeface="Times New Roman"/>
                <a:cs typeface="Times New Roman"/>
              </a:rPr>
              <a:t>first</a:t>
            </a:r>
            <a:r>
              <a:rPr sz="3200" spc="-4" dirty="0">
                <a:latin typeface="Times New Roman"/>
                <a:cs typeface="Times New Roman"/>
              </a:rPr>
              <a:t> is</a:t>
            </a:r>
            <a:r>
              <a:rPr sz="3200" dirty="0">
                <a:latin typeface="Times New Roman"/>
                <a:cs typeface="Times New Roman"/>
              </a:rPr>
              <a:t> </a:t>
            </a:r>
            <a:r>
              <a:rPr sz="3200" spc="-4" dirty="0">
                <a:latin typeface="Times New Roman"/>
                <a:cs typeface="Times New Roman"/>
              </a:rPr>
              <a:t>any</a:t>
            </a:r>
            <a:r>
              <a:rPr sz="3200" spc="9" dirty="0">
                <a:latin typeface="Times New Roman"/>
                <a:cs typeface="Times New Roman"/>
              </a:rPr>
              <a:t> </a:t>
            </a:r>
            <a:r>
              <a:rPr sz="3200" spc="-4" dirty="0">
                <a:latin typeface="Times New Roman"/>
                <a:cs typeface="Times New Roman"/>
              </a:rPr>
              <a:t>copying</a:t>
            </a:r>
            <a:r>
              <a:rPr sz="3200" spc="9" dirty="0">
                <a:latin typeface="Times New Roman"/>
                <a:cs typeface="Times New Roman"/>
              </a:rPr>
              <a:t> </a:t>
            </a:r>
            <a:r>
              <a:rPr sz="3200" spc="-4" dirty="0">
                <a:latin typeface="Times New Roman"/>
                <a:cs typeface="Times New Roman"/>
              </a:rPr>
              <a:t>between</a:t>
            </a:r>
            <a:r>
              <a:rPr sz="3200" dirty="0">
                <a:latin typeface="Times New Roman"/>
                <a:cs typeface="Times New Roman"/>
              </a:rPr>
              <a:t> </a:t>
            </a:r>
            <a:r>
              <a:rPr sz="3200" spc="-4" dirty="0">
                <a:latin typeface="Times New Roman"/>
                <a:cs typeface="Times New Roman"/>
              </a:rPr>
              <a:t>different </a:t>
            </a:r>
            <a:r>
              <a:rPr sz="3200" spc="-776" dirty="0">
                <a:latin typeface="Times New Roman"/>
                <a:cs typeface="Times New Roman"/>
              </a:rPr>
              <a:t> </a:t>
            </a:r>
            <a:r>
              <a:rPr sz="3200" spc="-4" dirty="0">
                <a:latin typeface="Times New Roman"/>
                <a:cs typeface="Times New Roman"/>
              </a:rPr>
              <a:t>LANs requires</a:t>
            </a:r>
            <a:r>
              <a:rPr sz="3200" spc="13" dirty="0">
                <a:latin typeface="Times New Roman"/>
                <a:cs typeface="Times New Roman"/>
              </a:rPr>
              <a:t> </a:t>
            </a:r>
            <a:r>
              <a:rPr sz="3200" spc="-4" dirty="0">
                <a:latin typeface="Times New Roman"/>
                <a:cs typeface="Times New Roman"/>
              </a:rPr>
              <a:t>reformatting</a:t>
            </a:r>
            <a:endParaRPr sz="3200" dirty="0">
              <a:latin typeface="Times New Roman"/>
              <a:cs typeface="Times New Roman"/>
            </a:endParaRPr>
          </a:p>
          <a:p>
            <a:pPr marL="545446" indent="-534314" algn="just">
              <a:spcBef>
                <a:spcPts val="758"/>
              </a:spcBef>
              <a:buClr>
                <a:srgbClr val="3232CC"/>
              </a:buClr>
              <a:buChar char="•"/>
              <a:tabLst>
                <a:tab pos="544889" algn="l"/>
                <a:tab pos="545446" algn="l"/>
              </a:tabLst>
            </a:pPr>
            <a:r>
              <a:rPr sz="3200" spc="-4" dirty="0">
                <a:latin typeface="Times New Roman"/>
                <a:cs typeface="Times New Roman"/>
              </a:rPr>
              <a:t>The</a:t>
            </a:r>
            <a:r>
              <a:rPr sz="3200" spc="-13" dirty="0">
                <a:latin typeface="Times New Roman"/>
                <a:cs typeface="Times New Roman"/>
              </a:rPr>
              <a:t> </a:t>
            </a:r>
            <a:r>
              <a:rPr sz="3200" spc="-4" dirty="0">
                <a:latin typeface="Times New Roman"/>
                <a:cs typeface="Times New Roman"/>
              </a:rPr>
              <a:t>second is data</a:t>
            </a:r>
            <a:r>
              <a:rPr sz="3200" spc="-9" dirty="0">
                <a:latin typeface="Times New Roman"/>
                <a:cs typeface="Times New Roman"/>
              </a:rPr>
              <a:t> </a:t>
            </a:r>
            <a:r>
              <a:rPr sz="3200" dirty="0">
                <a:latin typeface="Times New Roman"/>
                <a:cs typeface="Times New Roman"/>
              </a:rPr>
              <a:t>rate</a:t>
            </a:r>
            <a:r>
              <a:rPr sz="3200" spc="-4" dirty="0">
                <a:latin typeface="Times New Roman"/>
                <a:cs typeface="Times New Roman"/>
              </a:rPr>
              <a:t> problem</a:t>
            </a:r>
            <a:endParaRPr sz="3200" dirty="0">
              <a:latin typeface="Times New Roman"/>
              <a:cs typeface="Times New Roman"/>
            </a:endParaRPr>
          </a:p>
          <a:p>
            <a:pPr marL="544889" marR="764737" indent="-534314" algn="just">
              <a:lnSpc>
                <a:spcPct val="100299"/>
              </a:lnSpc>
              <a:spcBef>
                <a:spcPts val="745"/>
              </a:spcBef>
              <a:buClr>
                <a:srgbClr val="3232CC"/>
              </a:buClr>
              <a:buChar char="•"/>
              <a:tabLst>
                <a:tab pos="544889" algn="l"/>
                <a:tab pos="545446" algn="l"/>
              </a:tabLst>
            </a:pPr>
            <a:r>
              <a:rPr sz="3200" spc="-4" dirty="0">
                <a:latin typeface="Times New Roman"/>
                <a:cs typeface="Times New Roman"/>
              </a:rPr>
              <a:t>The third is different </a:t>
            </a:r>
            <a:r>
              <a:rPr sz="3200" dirty="0">
                <a:latin typeface="Times New Roman"/>
                <a:cs typeface="Times New Roman"/>
              </a:rPr>
              <a:t>802 </a:t>
            </a:r>
            <a:r>
              <a:rPr sz="3200" spc="-4" dirty="0">
                <a:latin typeface="Times New Roman"/>
                <a:cs typeface="Times New Roman"/>
              </a:rPr>
              <a:t>LANs have </a:t>
            </a:r>
            <a:r>
              <a:rPr sz="3200" spc="-776" dirty="0">
                <a:latin typeface="Times New Roman"/>
                <a:cs typeface="Times New Roman"/>
              </a:rPr>
              <a:t> </a:t>
            </a:r>
            <a:r>
              <a:rPr sz="3200" spc="-4" dirty="0">
                <a:latin typeface="Times New Roman"/>
                <a:cs typeface="Times New Roman"/>
              </a:rPr>
              <a:t>different</a:t>
            </a:r>
            <a:r>
              <a:rPr sz="3200" spc="-9" dirty="0">
                <a:latin typeface="Times New Roman"/>
                <a:cs typeface="Times New Roman"/>
              </a:rPr>
              <a:t> </a:t>
            </a:r>
            <a:r>
              <a:rPr sz="3200" spc="-4" dirty="0">
                <a:latin typeface="Times New Roman"/>
                <a:cs typeface="Times New Roman"/>
              </a:rPr>
              <a:t>maximum </a:t>
            </a:r>
            <a:r>
              <a:rPr sz="3200" dirty="0">
                <a:latin typeface="Times New Roman"/>
                <a:cs typeface="Times New Roman"/>
              </a:rPr>
              <a:t>frame</a:t>
            </a:r>
            <a:r>
              <a:rPr sz="3200" spc="-4" dirty="0">
                <a:latin typeface="Times New Roman"/>
                <a:cs typeface="Times New Roman"/>
              </a:rPr>
              <a:t> lengths.</a:t>
            </a:r>
            <a:endParaRPr sz="3200" dirty="0">
              <a:latin typeface="Times New Roman"/>
              <a:cs typeface="Times New Roman"/>
            </a:endParaRPr>
          </a:p>
          <a:p>
            <a:pPr marL="545446" indent="-534314" algn="just">
              <a:spcBef>
                <a:spcPts val="758"/>
              </a:spcBef>
              <a:buClr>
                <a:srgbClr val="3232CC"/>
              </a:buClr>
              <a:buChar char="•"/>
              <a:tabLst>
                <a:tab pos="544889" algn="l"/>
                <a:tab pos="545446" algn="l"/>
              </a:tabLst>
            </a:pPr>
            <a:r>
              <a:rPr sz="3200" spc="-4" dirty="0">
                <a:latin typeface="Times New Roman"/>
                <a:cs typeface="Times New Roman"/>
              </a:rPr>
              <a:t>Another</a:t>
            </a:r>
            <a:r>
              <a:rPr sz="3200" spc="-9" dirty="0">
                <a:latin typeface="Times New Roman"/>
                <a:cs typeface="Times New Roman"/>
              </a:rPr>
              <a:t> </a:t>
            </a:r>
            <a:r>
              <a:rPr sz="3200" spc="-4" dirty="0">
                <a:latin typeface="Times New Roman"/>
                <a:cs typeface="Times New Roman"/>
              </a:rPr>
              <a:t>is the</a:t>
            </a:r>
            <a:r>
              <a:rPr sz="3200" spc="-13" dirty="0">
                <a:latin typeface="Times New Roman"/>
                <a:cs typeface="Times New Roman"/>
              </a:rPr>
              <a:t> </a:t>
            </a:r>
            <a:r>
              <a:rPr sz="3200" spc="-4" dirty="0">
                <a:latin typeface="Times New Roman"/>
                <a:cs typeface="Times New Roman"/>
              </a:rPr>
              <a:t>security</a:t>
            </a:r>
            <a:r>
              <a:rPr sz="3200" spc="4" dirty="0">
                <a:latin typeface="Times New Roman"/>
                <a:cs typeface="Times New Roman"/>
              </a:rPr>
              <a:t> </a:t>
            </a:r>
            <a:r>
              <a:rPr sz="3200" spc="-4" dirty="0">
                <a:latin typeface="Times New Roman"/>
                <a:cs typeface="Times New Roman"/>
              </a:rPr>
              <a:t>problem</a:t>
            </a:r>
            <a:endParaRPr sz="3200" dirty="0">
              <a:latin typeface="Times New Roman"/>
              <a:cs typeface="Times New Roman"/>
            </a:endParaRPr>
          </a:p>
          <a:p>
            <a:pPr marL="545446" indent="-534314" algn="just">
              <a:spcBef>
                <a:spcPts val="754"/>
              </a:spcBef>
              <a:buClr>
                <a:srgbClr val="3232CC"/>
              </a:buClr>
              <a:buChar char="•"/>
              <a:tabLst>
                <a:tab pos="544889" algn="l"/>
                <a:tab pos="545446" algn="l"/>
              </a:tabLst>
            </a:pPr>
            <a:r>
              <a:rPr sz="3200" spc="-4" dirty="0">
                <a:latin typeface="Times New Roman"/>
                <a:cs typeface="Times New Roman"/>
              </a:rPr>
              <a:t>Last</a:t>
            </a:r>
            <a:r>
              <a:rPr sz="3200" spc="-13" dirty="0">
                <a:latin typeface="Times New Roman"/>
                <a:cs typeface="Times New Roman"/>
              </a:rPr>
              <a:t> </a:t>
            </a:r>
            <a:r>
              <a:rPr sz="3200" spc="-4" dirty="0">
                <a:latin typeface="Times New Roman"/>
                <a:cs typeface="Times New Roman"/>
              </a:rPr>
              <a:t>is</a:t>
            </a:r>
            <a:r>
              <a:rPr sz="3200" spc="-9" dirty="0">
                <a:latin typeface="Times New Roman"/>
                <a:cs typeface="Times New Roman"/>
              </a:rPr>
              <a:t> </a:t>
            </a:r>
            <a:r>
              <a:rPr sz="3200" spc="-4" dirty="0">
                <a:latin typeface="Times New Roman"/>
                <a:cs typeface="Times New Roman"/>
              </a:rPr>
              <a:t>quality</a:t>
            </a:r>
            <a:r>
              <a:rPr sz="3200" spc="-9" dirty="0">
                <a:latin typeface="Times New Roman"/>
                <a:cs typeface="Times New Roman"/>
              </a:rPr>
              <a:t> </a:t>
            </a:r>
            <a:r>
              <a:rPr sz="3200" spc="-4" dirty="0">
                <a:latin typeface="Times New Roman"/>
                <a:cs typeface="Times New Roman"/>
              </a:rPr>
              <a:t>of</a:t>
            </a:r>
            <a:r>
              <a:rPr sz="3200" dirty="0">
                <a:latin typeface="Times New Roman"/>
                <a:cs typeface="Times New Roman"/>
              </a:rPr>
              <a:t> </a:t>
            </a:r>
            <a:r>
              <a:rPr sz="3200" spc="-4" dirty="0">
                <a:latin typeface="Times New Roman"/>
                <a:cs typeface="Times New Roman"/>
              </a:rPr>
              <a:t>service.</a:t>
            </a:r>
            <a:endParaRPr sz="3200" dirty="0">
              <a:latin typeface="Times New Roman"/>
              <a:cs typeface="Times New Roman"/>
            </a:endParaRPr>
          </a:p>
        </p:txBody>
      </p:sp>
    </p:spTree>
    <p:extLst>
      <p:ext uri="{BB962C8B-B14F-4D97-AF65-F5344CB8AC3E}">
        <p14:creationId xmlns:p14="http://schemas.microsoft.com/office/powerpoint/2010/main" val="36776701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0327" y="735987"/>
            <a:ext cx="7910945" cy="997250"/>
          </a:xfrm>
          <a:prstGeom prst="rect">
            <a:avLst/>
          </a:prstGeom>
        </p:spPr>
        <p:txBody>
          <a:bodyPr vert="horz" wrap="square" lIns="0" tIns="12245" rIns="0" bIns="0" rtlCol="0">
            <a:spAutoFit/>
          </a:bodyPr>
          <a:lstStyle/>
          <a:p>
            <a:pPr marL="809820" marR="4453" indent="-799245" algn="ctr">
              <a:lnSpc>
                <a:spcPct val="99700"/>
              </a:lnSpc>
              <a:spcBef>
                <a:spcPts val="96"/>
              </a:spcBef>
            </a:pPr>
            <a:r>
              <a:rPr sz="3200" u="sng" spc="-4" dirty="0"/>
              <a:t>Repeaters,</a:t>
            </a:r>
            <a:r>
              <a:rPr sz="3200" u="sng" dirty="0"/>
              <a:t> </a:t>
            </a:r>
            <a:r>
              <a:rPr sz="3200" u="sng" spc="-4" dirty="0"/>
              <a:t>Hubs,</a:t>
            </a:r>
            <a:r>
              <a:rPr sz="3200" u="sng" spc="4" dirty="0"/>
              <a:t> </a:t>
            </a:r>
            <a:r>
              <a:rPr sz="3200" u="sng" spc="-4" dirty="0"/>
              <a:t>Bridges,</a:t>
            </a:r>
            <a:r>
              <a:rPr sz="3200" u="sng" spc="4" dirty="0"/>
              <a:t> </a:t>
            </a:r>
            <a:r>
              <a:rPr sz="3200" u="sng" spc="-4" dirty="0"/>
              <a:t>Switches, </a:t>
            </a:r>
            <a:r>
              <a:rPr sz="3200" u="sng" spc="-776" dirty="0"/>
              <a:t> </a:t>
            </a:r>
            <a:r>
              <a:rPr sz="3200" u="sng" spc="-4" dirty="0"/>
              <a:t>Routers and Gateways</a:t>
            </a:r>
            <a:r>
              <a:rPr sz="3200" u="sng" dirty="0"/>
              <a:t> </a:t>
            </a:r>
          </a:p>
        </p:txBody>
      </p:sp>
      <p:sp>
        <p:nvSpPr>
          <p:cNvPr id="3" name="object 3"/>
          <p:cNvSpPr txBox="1"/>
          <p:nvPr/>
        </p:nvSpPr>
        <p:spPr>
          <a:xfrm>
            <a:off x="775855" y="1827242"/>
            <a:ext cx="7225361" cy="503121"/>
          </a:xfrm>
          <a:prstGeom prst="rect">
            <a:avLst/>
          </a:prstGeom>
        </p:spPr>
        <p:txBody>
          <a:bodyPr vert="horz" wrap="square" lIns="0" tIns="10575" rIns="0" bIns="0" rtlCol="0">
            <a:spAutoFit/>
          </a:bodyPr>
          <a:lstStyle/>
          <a:p>
            <a:pPr marL="545446" indent="-534314" algn="just">
              <a:spcBef>
                <a:spcPts val="758"/>
              </a:spcBef>
              <a:buClr>
                <a:srgbClr val="3232CC"/>
              </a:buClr>
              <a:buChar char="•"/>
              <a:tabLst>
                <a:tab pos="544889" algn="l"/>
                <a:tab pos="545446" algn="l"/>
              </a:tabLst>
            </a:pPr>
            <a:r>
              <a:rPr sz="3200" spc="-4" dirty="0">
                <a:latin typeface="Times New Roman"/>
                <a:cs typeface="Times New Roman"/>
              </a:rPr>
              <a:t>These</a:t>
            </a:r>
            <a:r>
              <a:rPr sz="3200" spc="-9" dirty="0">
                <a:latin typeface="Times New Roman"/>
                <a:cs typeface="Times New Roman"/>
              </a:rPr>
              <a:t> </a:t>
            </a:r>
            <a:r>
              <a:rPr sz="3200" spc="-4" dirty="0">
                <a:latin typeface="Times New Roman"/>
                <a:cs typeface="Times New Roman"/>
              </a:rPr>
              <a:t>devices</a:t>
            </a:r>
            <a:r>
              <a:rPr sz="3200" dirty="0">
                <a:latin typeface="Times New Roman"/>
                <a:cs typeface="Times New Roman"/>
              </a:rPr>
              <a:t> </a:t>
            </a:r>
            <a:r>
              <a:rPr sz="3200" spc="-4" dirty="0">
                <a:latin typeface="Times New Roman"/>
                <a:cs typeface="Times New Roman"/>
              </a:rPr>
              <a:t>operate</a:t>
            </a:r>
            <a:r>
              <a:rPr sz="3200" spc="9" dirty="0">
                <a:latin typeface="Times New Roman"/>
                <a:cs typeface="Times New Roman"/>
              </a:rPr>
              <a:t> </a:t>
            </a:r>
            <a:r>
              <a:rPr sz="3200" dirty="0">
                <a:latin typeface="Times New Roman"/>
                <a:cs typeface="Times New Roman"/>
              </a:rPr>
              <a:t>in </a:t>
            </a:r>
            <a:r>
              <a:rPr sz="3200" spc="-4" dirty="0">
                <a:latin typeface="Times New Roman"/>
                <a:cs typeface="Times New Roman"/>
              </a:rPr>
              <a:t>different</a:t>
            </a:r>
            <a:r>
              <a:rPr sz="3200" spc="-9" dirty="0">
                <a:latin typeface="Times New Roman"/>
                <a:cs typeface="Times New Roman"/>
              </a:rPr>
              <a:t> </a:t>
            </a:r>
            <a:r>
              <a:rPr sz="3200" dirty="0">
                <a:latin typeface="Times New Roman"/>
                <a:cs typeface="Times New Roman"/>
              </a:rPr>
              <a:t>layers.</a:t>
            </a:r>
          </a:p>
        </p:txBody>
      </p:sp>
      <p:pic>
        <p:nvPicPr>
          <p:cNvPr id="6" name="object 4"/>
          <p:cNvPicPr/>
          <p:nvPr/>
        </p:nvPicPr>
        <p:blipFill>
          <a:blip r:embed="rId2" cstate="print"/>
          <a:stretch>
            <a:fillRect/>
          </a:stretch>
        </p:blipFill>
        <p:spPr>
          <a:xfrm>
            <a:off x="678250" y="2330363"/>
            <a:ext cx="8160949" cy="3585528"/>
          </a:xfrm>
          <a:prstGeom prst="rect">
            <a:avLst/>
          </a:prstGeom>
        </p:spPr>
      </p:pic>
      <p:sp>
        <p:nvSpPr>
          <p:cNvPr id="7" name="object 3"/>
          <p:cNvSpPr txBox="1"/>
          <p:nvPr/>
        </p:nvSpPr>
        <p:spPr>
          <a:xfrm>
            <a:off x="664397" y="6022858"/>
            <a:ext cx="4129276" cy="399037"/>
          </a:xfrm>
          <a:prstGeom prst="rect">
            <a:avLst/>
          </a:prstGeom>
        </p:spPr>
        <p:txBody>
          <a:bodyPr vert="horz" wrap="square" lIns="0" tIns="75138" rIns="0" bIns="0" rtlCol="0">
            <a:spAutoFit/>
          </a:bodyPr>
          <a:lstStyle/>
          <a:p>
            <a:pPr marL="375690" indent="-365114" algn="l">
              <a:spcBef>
                <a:spcPts val="592"/>
              </a:spcBef>
              <a:buClr>
                <a:srgbClr val="3232CC"/>
              </a:buClr>
              <a:buAutoNum type="alphaLcParenBoth"/>
              <a:tabLst>
                <a:tab pos="376246" algn="l"/>
              </a:tabLst>
            </a:pPr>
            <a:r>
              <a:rPr sz="2100" spc="-4" dirty="0">
                <a:latin typeface="Times New Roman"/>
                <a:cs typeface="Times New Roman"/>
              </a:rPr>
              <a:t>Which</a:t>
            </a:r>
            <a:r>
              <a:rPr sz="2100" spc="-9" dirty="0">
                <a:latin typeface="Times New Roman"/>
                <a:cs typeface="Times New Roman"/>
              </a:rPr>
              <a:t> </a:t>
            </a:r>
            <a:r>
              <a:rPr sz="2100" spc="-4" dirty="0">
                <a:latin typeface="Times New Roman"/>
                <a:cs typeface="Times New Roman"/>
              </a:rPr>
              <a:t>device</a:t>
            </a:r>
            <a:r>
              <a:rPr sz="2100" spc="-18" dirty="0">
                <a:latin typeface="Times New Roman"/>
                <a:cs typeface="Times New Roman"/>
              </a:rPr>
              <a:t> </a:t>
            </a:r>
            <a:r>
              <a:rPr sz="2100" dirty="0">
                <a:latin typeface="Times New Roman"/>
                <a:cs typeface="Times New Roman"/>
              </a:rPr>
              <a:t>is</a:t>
            </a:r>
            <a:r>
              <a:rPr sz="2100" spc="-13" dirty="0">
                <a:latin typeface="Times New Roman"/>
                <a:cs typeface="Times New Roman"/>
              </a:rPr>
              <a:t> </a:t>
            </a:r>
            <a:r>
              <a:rPr sz="2100" dirty="0">
                <a:latin typeface="Times New Roman"/>
                <a:cs typeface="Times New Roman"/>
              </a:rPr>
              <a:t>in</a:t>
            </a:r>
            <a:r>
              <a:rPr sz="2100" spc="-9" dirty="0">
                <a:latin typeface="Times New Roman"/>
                <a:cs typeface="Times New Roman"/>
              </a:rPr>
              <a:t> </a:t>
            </a:r>
            <a:r>
              <a:rPr sz="2100" spc="-4" dirty="0">
                <a:latin typeface="Times New Roman"/>
                <a:cs typeface="Times New Roman"/>
              </a:rPr>
              <a:t>which</a:t>
            </a:r>
            <a:r>
              <a:rPr sz="2100" spc="-18" dirty="0">
                <a:latin typeface="Times New Roman"/>
                <a:cs typeface="Times New Roman"/>
              </a:rPr>
              <a:t> </a:t>
            </a:r>
            <a:r>
              <a:rPr sz="2100" spc="-4" dirty="0">
                <a:latin typeface="Times New Roman"/>
                <a:cs typeface="Times New Roman"/>
              </a:rPr>
              <a:t>layer.</a:t>
            </a:r>
            <a:endParaRPr sz="2100" dirty="0">
              <a:latin typeface="Times New Roman"/>
              <a:cs typeface="Times New Roman"/>
            </a:endParaRPr>
          </a:p>
        </p:txBody>
      </p:sp>
      <p:sp>
        <p:nvSpPr>
          <p:cNvPr id="8" name="Rectangle 7"/>
          <p:cNvSpPr/>
          <p:nvPr/>
        </p:nvSpPr>
        <p:spPr>
          <a:xfrm>
            <a:off x="5205015" y="6057114"/>
            <a:ext cx="3258585" cy="369332"/>
          </a:xfrm>
          <a:prstGeom prst="rect">
            <a:avLst/>
          </a:prstGeom>
        </p:spPr>
        <p:txBody>
          <a:bodyPr wrap="none">
            <a:spAutoFit/>
          </a:bodyPr>
          <a:lstStyle/>
          <a:p>
            <a:pPr marL="10574">
              <a:spcBef>
                <a:spcPts val="504"/>
              </a:spcBef>
              <a:buClr>
                <a:srgbClr val="3232CC"/>
              </a:buClr>
              <a:tabLst>
                <a:tab pos="390717" algn="l"/>
              </a:tabLst>
            </a:pPr>
            <a:r>
              <a:rPr lang="en-IN" spc="-4" dirty="0">
                <a:latin typeface="Times New Roman"/>
                <a:cs typeface="Times New Roman"/>
              </a:rPr>
              <a:t>(b) Frames,</a:t>
            </a:r>
            <a:r>
              <a:rPr lang="en-IN" spc="-9" dirty="0">
                <a:latin typeface="Times New Roman"/>
                <a:cs typeface="Times New Roman"/>
              </a:rPr>
              <a:t> </a:t>
            </a:r>
            <a:r>
              <a:rPr lang="en-IN" spc="-4" dirty="0">
                <a:latin typeface="Times New Roman"/>
                <a:cs typeface="Times New Roman"/>
              </a:rPr>
              <a:t>packets,</a:t>
            </a:r>
            <a:r>
              <a:rPr lang="en-IN" spc="-18" dirty="0">
                <a:latin typeface="Times New Roman"/>
                <a:cs typeface="Times New Roman"/>
              </a:rPr>
              <a:t> </a:t>
            </a:r>
            <a:r>
              <a:rPr lang="en-IN" spc="-4" dirty="0">
                <a:latin typeface="Times New Roman"/>
                <a:cs typeface="Times New Roman"/>
              </a:rPr>
              <a:t>and</a:t>
            </a:r>
            <a:r>
              <a:rPr lang="en-IN" spc="-18" dirty="0">
                <a:latin typeface="Times New Roman"/>
                <a:cs typeface="Times New Roman"/>
              </a:rPr>
              <a:t> </a:t>
            </a:r>
            <a:r>
              <a:rPr lang="en-IN" spc="-4" dirty="0">
                <a:latin typeface="Times New Roman"/>
                <a:cs typeface="Times New Roman"/>
              </a:rPr>
              <a:t>headers.</a:t>
            </a:r>
            <a:endParaRPr lang="en-IN" dirty="0">
              <a:latin typeface="Times New Roman"/>
              <a:cs typeface="Times New Roman"/>
            </a:endParaRPr>
          </a:p>
        </p:txBody>
      </p:sp>
    </p:spTree>
    <p:extLst>
      <p:ext uri="{BB962C8B-B14F-4D97-AF65-F5344CB8AC3E}">
        <p14:creationId xmlns:p14="http://schemas.microsoft.com/office/powerpoint/2010/main" val="13617439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7145" y="4313759"/>
            <a:ext cx="7448600" cy="380573"/>
          </a:xfrm>
          <a:prstGeom prst="rect">
            <a:avLst/>
          </a:prstGeom>
        </p:spPr>
        <p:txBody>
          <a:bodyPr vert="horz" wrap="square" lIns="0" tIns="11132" rIns="0" bIns="0" rtlCol="0">
            <a:spAutoFit/>
          </a:bodyPr>
          <a:lstStyle/>
          <a:p>
            <a:pPr marL="11132" algn="just">
              <a:spcBef>
                <a:spcPts val="88"/>
              </a:spcBef>
              <a:tabLst>
                <a:tab pos="1235602" algn="l"/>
                <a:tab pos="2755615" algn="l"/>
              </a:tabLst>
            </a:pPr>
            <a:r>
              <a:rPr sz="2400" dirty="0">
                <a:solidFill>
                  <a:srgbClr val="3232CC"/>
                </a:solidFill>
                <a:latin typeface="Times New Roman"/>
                <a:cs typeface="Times New Roman"/>
              </a:rPr>
              <a:t>(a)</a:t>
            </a:r>
            <a:r>
              <a:rPr sz="2400" spc="4" dirty="0">
                <a:solidFill>
                  <a:srgbClr val="3232CC"/>
                </a:solidFill>
                <a:latin typeface="Times New Roman"/>
                <a:cs typeface="Times New Roman"/>
              </a:rPr>
              <a:t> </a:t>
            </a:r>
            <a:r>
              <a:rPr sz="2400" spc="-4" dirty="0">
                <a:latin typeface="Times New Roman"/>
                <a:cs typeface="Times New Roman"/>
              </a:rPr>
              <a:t>A</a:t>
            </a:r>
            <a:r>
              <a:rPr sz="2400" dirty="0">
                <a:latin typeface="Times New Roman"/>
                <a:cs typeface="Times New Roman"/>
              </a:rPr>
              <a:t> </a:t>
            </a:r>
            <a:r>
              <a:rPr sz="2400" spc="-4" dirty="0">
                <a:latin typeface="Times New Roman"/>
                <a:cs typeface="Times New Roman"/>
              </a:rPr>
              <a:t>hub</a:t>
            </a:r>
            <a:r>
              <a:rPr lang="en-IN" sz="2400" spc="-4" dirty="0">
                <a:latin typeface="Times New Roman"/>
                <a:cs typeface="Times New Roman"/>
              </a:rPr>
              <a:t>		</a:t>
            </a:r>
            <a:r>
              <a:rPr sz="2400" spc="-4" dirty="0">
                <a:solidFill>
                  <a:srgbClr val="3232CC"/>
                </a:solidFill>
                <a:latin typeface="Times New Roman"/>
                <a:cs typeface="Times New Roman"/>
              </a:rPr>
              <a:t>(b)</a:t>
            </a:r>
            <a:r>
              <a:rPr sz="2400" spc="4" dirty="0">
                <a:solidFill>
                  <a:srgbClr val="3232CC"/>
                </a:solidFill>
                <a:latin typeface="Times New Roman"/>
                <a:cs typeface="Times New Roman"/>
              </a:rPr>
              <a:t> </a:t>
            </a:r>
            <a:r>
              <a:rPr sz="2400" spc="-4" dirty="0">
                <a:latin typeface="Times New Roman"/>
                <a:cs typeface="Times New Roman"/>
              </a:rPr>
              <a:t>A </a:t>
            </a:r>
            <a:r>
              <a:rPr sz="2400" dirty="0">
                <a:latin typeface="Times New Roman"/>
                <a:cs typeface="Times New Roman"/>
              </a:rPr>
              <a:t>bridge.	</a:t>
            </a:r>
            <a:r>
              <a:rPr lang="en-IN" sz="2400" dirty="0">
                <a:latin typeface="Times New Roman"/>
                <a:cs typeface="Times New Roman"/>
              </a:rPr>
              <a:t>	</a:t>
            </a:r>
            <a:r>
              <a:rPr sz="2400" dirty="0">
                <a:solidFill>
                  <a:srgbClr val="3232CC"/>
                </a:solidFill>
                <a:latin typeface="Times New Roman"/>
                <a:cs typeface="Times New Roman"/>
              </a:rPr>
              <a:t>(c)</a:t>
            </a:r>
            <a:r>
              <a:rPr sz="2400" spc="-44" dirty="0">
                <a:solidFill>
                  <a:srgbClr val="3232CC"/>
                </a:solidFill>
                <a:latin typeface="Times New Roman"/>
                <a:cs typeface="Times New Roman"/>
              </a:rPr>
              <a:t> </a:t>
            </a:r>
            <a:r>
              <a:rPr sz="2400" spc="-4" dirty="0">
                <a:latin typeface="Times New Roman"/>
                <a:cs typeface="Times New Roman"/>
              </a:rPr>
              <a:t>a</a:t>
            </a:r>
            <a:r>
              <a:rPr sz="2400" spc="-35" dirty="0">
                <a:latin typeface="Times New Roman"/>
                <a:cs typeface="Times New Roman"/>
              </a:rPr>
              <a:t> </a:t>
            </a:r>
            <a:r>
              <a:rPr sz="2400" spc="-4" dirty="0">
                <a:latin typeface="Times New Roman"/>
                <a:cs typeface="Times New Roman"/>
              </a:rPr>
              <a:t>switch.</a:t>
            </a:r>
            <a:endParaRPr sz="2400" dirty="0">
              <a:latin typeface="Times New Roman"/>
              <a:cs typeface="Times New Roman"/>
            </a:endParaRPr>
          </a:p>
        </p:txBody>
      </p:sp>
      <p:pic>
        <p:nvPicPr>
          <p:cNvPr id="4" name="object 4"/>
          <p:cNvPicPr/>
          <p:nvPr/>
        </p:nvPicPr>
        <p:blipFill>
          <a:blip r:embed="rId2" cstate="print"/>
          <a:stretch>
            <a:fillRect/>
          </a:stretch>
        </p:blipFill>
        <p:spPr>
          <a:xfrm>
            <a:off x="767145" y="1126796"/>
            <a:ext cx="7076282" cy="2603622"/>
          </a:xfrm>
          <a:prstGeom prst="rect">
            <a:avLst/>
          </a:prstGeom>
        </p:spPr>
      </p:pic>
      <p:sp>
        <p:nvSpPr>
          <p:cNvPr id="6" name="object 6"/>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104</a:t>
            </a:fld>
            <a:endParaRPr sz="1200">
              <a:latin typeface="Times New Roman"/>
              <a:cs typeface="Times New Roman"/>
            </a:endParaRPr>
          </a:p>
        </p:txBody>
      </p:sp>
    </p:spTree>
    <p:extLst>
      <p:ext uri="{BB962C8B-B14F-4D97-AF65-F5344CB8AC3E}">
        <p14:creationId xmlns:p14="http://schemas.microsoft.com/office/powerpoint/2010/main" val="318863586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105</a:t>
            </a:fld>
            <a:endParaRPr sz="1200">
              <a:latin typeface="Times New Roman"/>
              <a:cs typeface="Times New Roman"/>
            </a:endParaRPr>
          </a:p>
        </p:txBody>
      </p:sp>
      <p:sp>
        <p:nvSpPr>
          <p:cNvPr id="3" name="object 3"/>
          <p:cNvSpPr txBox="1"/>
          <p:nvPr/>
        </p:nvSpPr>
        <p:spPr>
          <a:xfrm>
            <a:off x="249380" y="748146"/>
            <a:ext cx="8520545" cy="6350313"/>
          </a:xfrm>
          <a:prstGeom prst="rect">
            <a:avLst/>
          </a:prstGeom>
        </p:spPr>
        <p:txBody>
          <a:bodyPr vert="horz" wrap="square" lIns="0" tIns="10018" rIns="0" bIns="0" rtlCol="0">
            <a:spAutoFit/>
          </a:bodyPr>
          <a:lstStyle/>
          <a:p>
            <a:pPr marL="544889" marR="4453" indent="-534314" algn="just">
              <a:lnSpc>
                <a:spcPct val="100200"/>
              </a:lnSpc>
              <a:spcBef>
                <a:spcPts val="79"/>
              </a:spcBef>
              <a:buClr>
                <a:srgbClr val="3232CC"/>
              </a:buClr>
              <a:buChar char="•"/>
              <a:tabLst>
                <a:tab pos="544889" algn="l"/>
                <a:tab pos="545446" algn="l"/>
              </a:tabLst>
            </a:pPr>
            <a:r>
              <a:rPr sz="2800" spc="-4" dirty="0">
                <a:solidFill>
                  <a:srgbClr val="FF3200"/>
                </a:solidFill>
                <a:latin typeface="Times New Roman"/>
                <a:cs typeface="Times New Roman"/>
              </a:rPr>
              <a:t>Repeaters</a:t>
            </a:r>
            <a:r>
              <a:rPr sz="2800" dirty="0">
                <a:solidFill>
                  <a:srgbClr val="FF3200"/>
                </a:solidFill>
                <a:latin typeface="Times New Roman"/>
                <a:cs typeface="Times New Roman"/>
              </a:rPr>
              <a:t> </a:t>
            </a:r>
            <a:r>
              <a:rPr sz="2800" spc="-4" dirty="0">
                <a:latin typeface="Times New Roman"/>
                <a:cs typeface="Times New Roman"/>
              </a:rPr>
              <a:t>are analog</a:t>
            </a:r>
            <a:r>
              <a:rPr sz="2800" dirty="0">
                <a:latin typeface="Times New Roman"/>
                <a:cs typeface="Times New Roman"/>
              </a:rPr>
              <a:t> </a:t>
            </a:r>
            <a:r>
              <a:rPr sz="2800" spc="-4" dirty="0">
                <a:latin typeface="Times New Roman"/>
                <a:cs typeface="Times New Roman"/>
              </a:rPr>
              <a:t>devices</a:t>
            </a:r>
            <a:r>
              <a:rPr sz="2800" dirty="0">
                <a:latin typeface="Times New Roman"/>
                <a:cs typeface="Times New Roman"/>
              </a:rPr>
              <a:t> </a:t>
            </a:r>
            <a:r>
              <a:rPr sz="2800" spc="-4" dirty="0">
                <a:latin typeface="Times New Roman"/>
                <a:cs typeface="Times New Roman"/>
              </a:rPr>
              <a:t>that are </a:t>
            </a:r>
            <a:r>
              <a:rPr sz="2800" dirty="0">
                <a:latin typeface="Times New Roman"/>
                <a:cs typeface="Times New Roman"/>
              </a:rPr>
              <a:t> </a:t>
            </a:r>
            <a:r>
              <a:rPr sz="2800" spc="-4" dirty="0">
                <a:latin typeface="Times New Roman"/>
                <a:cs typeface="Times New Roman"/>
              </a:rPr>
              <a:t>connected</a:t>
            </a:r>
            <a:r>
              <a:rPr sz="2800" spc="-9" dirty="0">
                <a:latin typeface="Times New Roman"/>
                <a:cs typeface="Times New Roman"/>
              </a:rPr>
              <a:t> </a:t>
            </a:r>
            <a:r>
              <a:rPr sz="2800" spc="-4" dirty="0">
                <a:latin typeface="Times New Roman"/>
                <a:cs typeface="Times New Roman"/>
              </a:rPr>
              <a:t>to </a:t>
            </a:r>
            <a:r>
              <a:rPr sz="2800" dirty="0">
                <a:latin typeface="Times New Roman"/>
                <a:cs typeface="Times New Roman"/>
              </a:rPr>
              <a:t>two</a:t>
            </a:r>
            <a:r>
              <a:rPr sz="2800" spc="-4" dirty="0">
                <a:latin typeface="Times New Roman"/>
                <a:cs typeface="Times New Roman"/>
              </a:rPr>
              <a:t> cable</a:t>
            </a:r>
            <a:r>
              <a:rPr sz="2800" spc="4" dirty="0">
                <a:latin typeface="Times New Roman"/>
                <a:cs typeface="Times New Roman"/>
              </a:rPr>
              <a:t> </a:t>
            </a:r>
            <a:r>
              <a:rPr sz="2800" spc="-4" dirty="0">
                <a:latin typeface="Times New Roman"/>
                <a:cs typeface="Times New Roman"/>
              </a:rPr>
              <a:t>segments. A</a:t>
            </a:r>
            <a:r>
              <a:rPr sz="2800" dirty="0">
                <a:latin typeface="Times New Roman"/>
                <a:cs typeface="Times New Roman"/>
              </a:rPr>
              <a:t> </a:t>
            </a:r>
            <a:r>
              <a:rPr sz="2800" spc="-4" dirty="0">
                <a:latin typeface="Times New Roman"/>
                <a:cs typeface="Times New Roman"/>
              </a:rPr>
              <a:t>signal </a:t>
            </a:r>
            <a:r>
              <a:rPr sz="2800" spc="-776" dirty="0">
                <a:latin typeface="Times New Roman"/>
                <a:cs typeface="Times New Roman"/>
              </a:rPr>
              <a:t> </a:t>
            </a:r>
            <a:r>
              <a:rPr sz="2800" spc="-4" dirty="0">
                <a:latin typeface="Times New Roman"/>
                <a:cs typeface="Times New Roman"/>
              </a:rPr>
              <a:t>appearing</a:t>
            </a:r>
            <a:r>
              <a:rPr sz="2800" dirty="0">
                <a:latin typeface="Times New Roman"/>
                <a:cs typeface="Times New Roman"/>
              </a:rPr>
              <a:t> </a:t>
            </a:r>
            <a:r>
              <a:rPr sz="2800" spc="-4" dirty="0">
                <a:latin typeface="Times New Roman"/>
                <a:cs typeface="Times New Roman"/>
              </a:rPr>
              <a:t>on</a:t>
            </a:r>
            <a:r>
              <a:rPr sz="2800" dirty="0">
                <a:latin typeface="Times New Roman"/>
                <a:cs typeface="Times New Roman"/>
              </a:rPr>
              <a:t> </a:t>
            </a:r>
            <a:r>
              <a:rPr sz="2800" spc="-4" dirty="0">
                <a:latin typeface="Times New Roman"/>
                <a:cs typeface="Times New Roman"/>
              </a:rPr>
              <a:t>one</a:t>
            </a:r>
            <a:r>
              <a:rPr sz="2800" dirty="0">
                <a:latin typeface="Times New Roman"/>
                <a:cs typeface="Times New Roman"/>
              </a:rPr>
              <a:t> </a:t>
            </a:r>
            <a:r>
              <a:rPr sz="2800" spc="-4" dirty="0">
                <a:latin typeface="Times New Roman"/>
                <a:cs typeface="Times New Roman"/>
              </a:rPr>
              <a:t>of</a:t>
            </a:r>
            <a:r>
              <a:rPr sz="2800" dirty="0">
                <a:latin typeface="Times New Roman"/>
                <a:cs typeface="Times New Roman"/>
              </a:rPr>
              <a:t> </a:t>
            </a:r>
            <a:r>
              <a:rPr sz="2800" spc="-4" dirty="0">
                <a:latin typeface="Times New Roman"/>
                <a:cs typeface="Times New Roman"/>
              </a:rPr>
              <a:t>them is</a:t>
            </a:r>
            <a:r>
              <a:rPr sz="2800" spc="4" dirty="0">
                <a:latin typeface="Times New Roman"/>
                <a:cs typeface="Times New Roman"/>
              </a:rPr>
              <a:t> </a:t>
            </a:r>
            <a:r>
              <a:rPr sz="2800" spc="-4" dirty="0">
                <a:latin typeface="Times New Roman"/>
                <a:cs typeface="Times New Roman"/>
              </a:rPr>
              <a:t>amplified</a:t>
            </a:r>
            <a:r>
              <a:rPr sz="2800" spc="9" dirty="0">
                <a:latin typeface="Times New Roman"/>
                <a:cs typeface="Times New Roman"/>
              </a:rPr>
              <a:t> </a:t>
            </a:r>
            <a:r>
              <a:rPr sz="2800" spc="-4" dirty="0">
                <a:latin typeface="Times New Roman"/>
                <a:cs typeface="Times New Roman"/>
              </a:rPr>
              <a:t>and </a:t>
            </a:r>
            <a:r>
              <a:rPr sz="2800" spc="-776" dirty="0">
                <a:latin typeface="Times New Roman"/>
                <a:cs typeface="Times New Roman"/>
              </a:rPr>
              <a:t> </a:t>
            </a:r>
            <a:r>
              <a:rPr sz="2800" spc="-4" dirty="0">
                <a:latin typeface="Times New Roman"/>
                <a:cs typeface="Times New Roman"/>
              </a:rPr>
              <a:t>put</a:t>
            </a:r>
            <a:r>
              <a:rPr sz="2800" spc="-9" dirty="0">
                <a:latin typeface="Times New Roman"/>
                <a:cs typeface="Times New Roman"/>
              </a:rPr>
              <a:t> </a:t>
            </a:r>
            <a:r>
              <a:rPr sz="2800" spc="-4" dirty="0">
                <a:latin typeface="Times New Roman"/>
                <a:cs typeface="Times New Roman"/>
              </a:rPr>
              <a:t>out</a:t>
            </a:r>
            <a:r>
              <a:rPr sz="2800" spc="4" dirty="0">
                <a:latin typeface="Times New Roman"/>
                <a:cs typeface="Times New Roman"/>
              </a:rPr>
              <a:t> </a:t>
            </a:r>
            <a:r>
              <a:rPr sz="2800" spc="-4" dirty="0">
                <a:latin typeface="Times New Roman"/>
                <a:cs typeface="Times New Roman"/>
              </a:rPr>
              <a:t>on</a:t>
            </a:r>
            <a:r>
              <a:rPr sz="2800" dirty="0">
                <a:latin typeface="Times New Roman"/>
                <a:cs typeface="Times New Roman"/>
              </a:rPr>
              <a:t> </a:t>
            </a:r>
            <a:r>
              <a:rPr sz="2800" spc="-4" dirty="0">
                <a:latin typeface="Times New Roman"/>
                <a:cs typeface="Times New Roman"/>
              </a:rPr>
              <a:t>the other.</a:t>
            </a:r>
            <a:endParaRPr sz="2800" dirty="0">
              <a:latin typeface="Times New Roman"/>
              <a:cs typeface="Times New Roman"/>
            </a:endParaRPr>
          </a:p>
          <a:p>
            <a:pPr marL="544889" marR="124117" indent="-534314" algn="just">
              <a:lnSpc>
                <a:spcPct val="100099"/>
              </a:lnSpc>
              <a:spcBef>
                <a:spcPts val="754"/>
              </a:spcBef>
              <a:buClr>
                <a:srgbClr val="3232CC"/>
              </a:buClr>
              <a:buChar char="•"/>
              <a:tabLst>
                <a:tab pos="545446" algn="l"/>
              </a:tabLst>
            </a:pPr>
            <a:r>
              <a:rPr sz="2800" spc="-4" dirty="0">
                <a:solidFill>
                  <a:srgbClr val="FF3200"/>
                </a:solidFill>
                <a:latin typeface="Times New Roman"/>
                <a:cs typeface="Times New Roman"/>
              </a:rPr>
              <a:t>Hubs </a:t>
            </a:r>
            <a:r>
              <a:rPr sz="2800" spc="-4" dirty="0">
                <a:latin typeface="Times New Roman"/>
                <a:cs typeface="Times New Roman"/>
              </a:rPr>
              <a:t>have a number of inputs lines that it </a:t>
            </a:r>
            <a:r>
              <a:rPr sz="2800" spc="-776" dirty="0">
                <a:latin typeface="Times New Roman"/>
                <a:cs typeface="Times New Roman"/>
              </a:rPr>
              <a:t> </a:t>
            </a:r>
            <a:r>
              <a:rPr sz="2800" spc="-4" dirty="0">
                <a:latin typeface="Times New Roman"/>
                <a:cs typeface="Times New Roman"/>
              </a:rPr>
              <a:t>joins electrically. Frames arriving on any </a:t>
            </a:r>
            <a:r>
              <a:rPr sz="2800" dirty="0">
                <a:latin typeface="Times New Roman"/>
                <a:cs typeface="Times New Roman"/>
              </a:rPr>
              <a:t> </a:t>
            </a:r>
            <a:r>
              <a:rPr sz="2800" spc="-4" dirty="0">
                <a:latin typeface="Times New Roman"/>
                <a:cs typeface="Times New Roman"/>
              </a:rPr>
              <a:t>of the lines</a:t>
            </a:r>
            <a:r>
              <a:rPr sz="2800" dirty="0">
                <a:latin typeface="Times New Roman"/>
                <a:cs typeface="Times New Roman"/>
              </a:rPr>
              <a:t> </a:t>
            </a:r>
            <a:r>
              <a:rPr sz="2800" spc="-4" dirty="0">
                <a:latin typeface="Times New Roman"/>
                <a:cs typeface="Times New Roman"/>
              </a:rPr>
              <a:t>are</a:t>
            </a:r>
            <a:r>
              <a:rPr sz="2800" spc="9" dirty="0">
                <a:latin typeface="Times New Roman"/>
                <a:cs typeface="Times New Roman"/>
              </a:rPr>
              <a:t> </a:t>
            </a:r>
            <a:r>
              <a:rPr sz="2800" spc="-4" dirty="0">
                <a:latin typeface="Times New Roman"/>
                <a:cs typeface="Times New Roman"/>
              </a:rPr>
              <a:t>sent out</a:t>
            </a:r>
            <a:r>
              <a:rPr sz="2800" spc="4" dirty="0">
                <a:latin typeface="Times New Roman"/>
                <a:cs typeface="Times New Roman"/>
              </a:rPr>
              <a:t> </a:t>
            </a:r>
            <a:r>
              <a:rPr sz="2800" spc="-4" dirty="0">
                <a:latin typeface="Times New Roman"/>
                <a:cs typeface="Times New Roman"/>
              </a:rPr>
              <a:t>on</a:t>
            </a:r>
            <a:r>
              <a:rPr sz="2800" dirty="0">
                <a:latin typeface="Times New Roman"/>
                <a:cs typeface="Times New Roman"/>
              </a:rPr>
              <a:t> </a:t>
            </a:r>
            <a:r>
              <a:rPr sz="2800" spc="-4" dirty="0">
                <a:latin typeface="Times New Roman"/>
                <a:cs typeface="Times New Roman"/>
              </a:rPr>
              <a:t>all </a:t>
            </a:r>
            <a:r>
              <a:rPr sz="2800" dirty="0">
                <a:latin typeface="Times New Roman"/>
                <a:cs typeface="Times New Roman"/>
              </a:rPr>
              <a:t>the</a:t>
            </a:r>
            <a:r>
              <a:rPr sz="2800" spc="-4" dirty="0">
                <a:latin typeface="Times New Roman"/>
                <a:cs typeface="Times New Roman"/>
              </a:rPr>
              <a:t> others.</a:t>
            </a:r>
            <a:endParaRPr lang="en-IN" sz="2800" spc="-4" dirty="0">
              <a:latin typeface="Times New Roman"/>
              <a:cs typeface="Times New Roman"/>
            </a:endParaRPr>
          </a:p>
          <a:p>
            <a:pPr marL="544889" marR="4453" indent="-534314" algn="just">
              <a:lnSpc>
                <a:spcPct val="100099"/>
              </a:lnSpc>
              <a:spcBef>
                <a:spcPts val="83"/>
              </a:spcBef>
              <a:buClr>
                <a:srgbClr val="3232CC"/>
              </a:buClr>
              <a:buChar char="•"/>
              <a:tabLst>
                <a:tab pos="544889" algn="l"/>
                <a:tab pos="545446" algn="l"/>
              </a:tabLst>
            </a:pPr>
            <a:r>
              <a:rPr lang="en-IN" sz="2800" spc="-4" dirty="0">
                <a:solidFill>
                  <a:srgbClr val="FF3200"/>
                </a:solidFill>
                <a:latin typeface="Times New Roman"/>
                <a:cs typeface="Times New Roman"/>
              </a:rPr>
              <a:t>Bridges </a:t>
            </a:r>
            <a:r>
              <a:rPr lang="en-IN" sz="2800" spc="-4" dirty="0">
                <a:latin typeface="Times New Roman"/>
                <a:cs typeface="Times New Roman"/>
              </a:rPr>
              <a:t>connect</a:t>
            </a:r>
            <a:r>
              <a:rPr lang="en-IN" sz="2800" spc="4" dirty="0">
                <a:latin typeface="Times New Roman"/>
                <a:cs typeface="Times New Roman"/>
              </a:rPr>
              <a:t> </a:t>
            </a:r>
            <a:r>
              <a:rPr lang="en-IN" sz="2800" spc="-4" dirty="0">
                <a:latin typeface="Times New Roman"/>
                <a:cs typeface="Times New Roman"/>
              </a:rPr>
              <a:t>two or</a:t>
            </a:r>
            <a:r>
              <a:rPr lang="en-IN" sz="2800" dirty="0">
                <a:latin typeface="Times New Roman"/>
                <a:cs typeface="Times New Roman"/>
              </a:rPr>
              <a:t> </a:t>
            </a:r>
            <a:r>
              <a:rPr lang="en-IN" sz="2800" spc="-4" dirty="0">
                <a:latin typeface="Times New Roman"/>
                <a:cs typeface="Times New Roman"/>
              </a:rPr>
              <a:t>more </a:t>
            </a:r>
            <a:r>
              <a:rPr lang="en-IN" sz="2800" dirty="0">
                <a:latin typeface="Times New Roman"/>
                <a:cs typeface="Times New Roman"/>
              </a:rPr>
              <a:t>LANs. </a:t>
            </a:r>
            <a:r>
              <a:rPr lang="en-IN" sz="2800" spc="4" dirty="0">
                <a:latin typeface="Times New Roman"/>
                <a:cs typeface="Times New Roman"/>
              </a:rPr>
              <a:t> </a:t>
            </a:r>
            <a:r>
              <a:rPr lang="en-IN" sz="2800" spc="-4" dirty="0">
                <a:latin typeface="Times New Roman"/>
                <a:cs typeface="Times New Roman"/>
              </a:rPr>
              <a:t>When a</a:t>
            </a:r>
            <a:r>
              <a:rPr lang="en-IN" sz="2800" spc="9" dirty="0">
                <a:latin typeface="Times New Roman"/>
                <a:cs typeface="Times New Roman"/>
              </a:rPr>
              <a:t> </a:t>
            </a:r>
            <a:r>
              <a:rPr lang="en-IN" sz="2800" spc="-4" dirty="0">
                <a:latin typeface="Times New Roman"/>
                <a:cs typeface="Times New Roman"/>
              </a:rPr>
              <a:t>frame arrives,</a:t>
            </a:r>
            <a:r>
              <a:rPr lang="en-IN" sz="2800" dirty="0">
                <a:latin typeface="Times New Roman"/>
                <a:cs typeface="Times New Roman"/>
              </a:rPr>
              <a:t> </a:t>
            </a:r>
            <a:r>
              <a:rPr lang="en-IN" sz="2800" spc="-4" dirty="0">
                <a:latin typeface="Times New Roman"/>
                <a:cs typeface="Times New Roman"/>
              </a:rPr>
              <a:t>software </a:t>
            </a:r>
            <a:r>
              <a:rPr lang="en-IN" sz="2800" dirty="0">
                <a:latin typeface="Times New Roman"/>
                <a:cs typeface="Times New Roman"/>
              </a:rPr>
              <a:t>in </a:t>
            </a:r>
            <a:r>
              <a:rPr lang="en-IN" sz="2800" spc="-4" dirty="0">
                <a:latin typeface="Times New Roman"/>
                <a:cs typeface="Times New Roman"/>
              </a:rPr>
              <a:t>the </a:t>
            </a:r>
            <a:r>
              <a:rPr lang="en-IN" sz="2800" dirty="0">
                <a:latin typeface="Times New Roman"/>
                <a:cs typeface="Times New Roman"/>
              </a:rPr>
              <a:t> </a:t>
            </a:r>
            <a:r>
              <a:rPr lang="en-IN" sz="2800" spc="-4" dirty="0">
                <a:latin typeface="Times New Roman"/>
                <a:cs typeface="Times New Roman"/>
              </a:rPr>
              <a:t>bridge extracts</a:t>
            </a:r>
            <a:r>
              <a:rPr lang="en-IN" sz="2800" dirty="0">
                <a:latin typeface="Times New Roman"/>
                <a:cs typeface="Times New Roman"/>
              </a:rPr>
              <a:t> the</a:t>
            </a:r>
            <a:r>
              <a:rPr lang="en-IN" sz="2800" spc="-4" dirty="0">
                <a:latin typeface="Times New Roman"/>
                <a:cs typeface="Times New Roman"/>
              </a:rPr>
              <a:t> destination</a:t>
            </a:r>
            <a:r>
              <a:rPr lang="en-IN" sz="2800" dirty="0">
                <a:latin typeface="Times New Roman"/>
                <a:cs typeface="Times New Roman"/>
              </a:rPr>
              <a:t> </a:t>
            </a:r>
            <a:r>
              <a:rPr lang="en-IN" sz="2800" spc="-4" dirty="0">
                <a:latin typeface="Times New Roman"/>
                <a:cs typeface="Times New Roman"/>
              </a:rPr>
              <a:t>address </a:t>
            </a:r>
            <a:r>
              <a:rPr lang="en-IN" sz="2800" dirty="0">
                <a:latin typeface="Times New Roman"/>
                <a:cs typeface="Times New Roman"/>
              </a:rPr>
              <a:t> </a:t>
            </a:r>
            <a:r>
              <a:rPr lang="en-IN" sz="2800" spc="-4" dirty="0">
                <a:latin typeface="Times New Roman"/>
                <a:cs typeface="Times New Roman"/>
              </a:rPr>
              <a:t>from </a:t>
            </a:r>
            <a:r>
              <a:rPr lang="en-IN" sz="2800" dirty="0">
                <a:latin typeface="Times New Roman"/>
                <a:cs typeface="Times New Roman"/>
              </a:rPr>
              <a:t>the </a:t>
            </a:r>
            <a:r>
              <a:rPr lang="en-IN" sz="2800" spc="-4" dirty="0">
                <a:latin typeface="Times New Roman"/>
                <a:cs typeface="Times New Roman"/>
              </a:rPr>
              <a:t>frame header </a:t>
            </a:r>
            <a:r>
              <a:rPr lang="en-IN" sz="2800" dirty="0">
                <a:latin typeface="Times New Roman"/>
                <a:cs typeface="Times New Roman"/>
              </a:rPr>
              <a:t>and </a:t>
            </a:r>
            <a:r>
              <a:rPr lang="en-IN" sz="2800" spc="-4" dirty="0">
                <a:latin typeface="Times New Roman"/>
                <a:cs typeface="Times New Roman"/>
              </a:rPr>
              <a:t>looks it up </a:t>
            </a:r>
            <a:r>
              <a:rPr lang="en-IN" sz="2800" dirty="0">
                <a:latin typeface="Times New Roman"/>
                <a:cs typeface="Times New Roman"/>
              </a:rPr>
              <a:t>in </a:t>
            </a:r>
            <a:r>
              <a:rPr lang="en-IN" sz="2800" spc="-4" dirty="0">
                <a:latin typeface="Times New Roman"/>
                <a:cs typeface="Times New Roman"/>
              </a:rPr>
              <a:t>a </a:t>
            </a:r>
            <a:r>
              <a:rPr lang="en-IN" sz="2800" spc="-776" dirty="0">
                <a:latin typeface="Times New Roman"/>
                <a:cs typeface="Times New Roman"/>
              </a:rPr>
              <a:t> </a:t>
            </a:r>
            <a:r>
              <a:rPr lang="en-IN" sz="2800" spc="-4" dirty="0">
                <a:latin typeface="Times New Roman"/>
                <a:cs typeface="Times New Roman"/>
              </a:rPr>
              <a:t>table</a:t>
            </a:r>
            <a:r>
              <a:rPr lang="en-IN" sz="2800" spc="4" dirty="0">
                <a:latin typeface="Times New Roman"/>
                <a:cs typeface="Times New Roman"/>
              </a:rPr>
              <a:t> </a:t>
            </a:r>
            <a:r>
              <a:rPr lang="en-IN" sz="2800" spc="-4" dirty="0">
                <a:latin typeface="Times New Roman"/>
                <a:cs typeface="Times New Roman"/>
              </a:rPr>
              <a:t>to</a:t>
            </a:r>
            <a:r>
              <a:rPr lang="en-IN" sz="2800" spc="9" dirty="0">
                <a:latin typeface="Times New Roman"/>
                <a:cs typeface="Times New Roman"/>
              </a:rPr>
              <a:t> </a:t>
            </a:r>
            <a:r>
              <a:rPr lang="en-IN" sz="2800" spc="-4" dirty="0">
                <a:latin typeface="Times New Roman"/>
                <a:cs typeface="Times New Roman"/>
              </a:rPr>
              <a:t>see</a:t>
            </a:r>
            <a:r>
              <a:rPr lang="en-IN" sz="2800" spc="-9" dirty="0">
                <a:latin typeface="Times New Roman"/>
                <a:cs typeface="Times New Roman"/>
              </a:rPr>
              <a:t> </a:t>
            </a:r>
            <a:r>
              <a:rPr lang="en-IN" sz="2800" spc="-4" dirty="0">
                <a:latin typeface="Times New Roman"/>
                <a:cs typeface="Times New Roman"/>
              </a:rPr>
              <a:t>where to</a:t>
            </a:r>
            <a:r>
              <a:rPr lang="en-IN" sz="2800" dirty="0">
                <a:latin typeface="Times New Roman"/>
                <a:cs typeface="Times New Roman"/>
              </a:rPr>
              <a:t> send</a:t>
            </a:r>
            <a:r>
              <a:rPr lang="en-IN" sz="2800" spc="-4" dirty="0">
                <a:latin typeface="Times New Roman"/>
                <a:cs typeface="Times New Roman"/>
              </a:rPr>
              <a:t> the frame.</a:t>
            </a:r>
            <a:endParaRPr lang="en-IN" sz="2800" dirty="0">
              <a:latin typeface="Times New Roman"/>
              <a:cs typeface="Times New Roman"/>
            </a:endParaRPr>
          </a:p>
          <a:p>
            <a:pPr marL="544889" marR="206490" indent="-534314" algn="just">
              <a:lnSpc>
                <a:spcPct val="100200"/>
              </a:lnSpc>
              <a:spcBef>
                <a:spcPts val="749"/>
              </a:spcBef>
              <a:buClr>
                <a:srgbClr val="3232CC"/>
              </a:buClr>
              <a:buChar char="•"/>
              <a:tabLst>
                <a:tab pos="544889" algn="l"/>
                <a:tab pos="545446" algn="l"/>
              </a:tabLst>
            </a:pPr>
            <a:r>
              <a:rPr lang="en-IN" sz="2800" spc="-4" dirty="0">
                <a:solidFill>
                  <a:srgbClr val="FF3200"/>
                </a:solidFill>
                <a:latin typeface="Times New Roman"/>
                <a:cs typeface="Times New Roman"/>
              </a:rPr>
              <a:t>Switches </a:t>
            </a:r>
            <a:r>
              <a:rPr lang="en-IN" sz="2800" spc="-4" dirty="0">
                <a:latin typeface="Times New Roman"/>
                <a:cs typeface="Times New Roman"/>
              </a:rPr>
              <a:t>are similar</a:t>
            </a:r>
            <a:r>
              <a:rPr lang="en-IN" sz="2800" spc="4" dirty="0">
                <a:latin typeface="Times New Roman"/>
                <a:cs typeface="Times New Roman"/>
              </a:rPr>
              <a:t> </a:t>
            </a:r>
            <a:r>
              <a:rPr lang="en-IN" sz="2800" spc="-4" dirty="0">
                <a:latin typeface="Times New Roman"/>
                <a:cs typeface="Times New Roman"/>
              </a:rPr>
              <a:t>to</a:t>
            </a:r>
            <a:r>
              <a:rPr lang="en-IN" sz="2800" spc="9" dirty="0">
                <a:latin typeface="Times New Roman"/>
                <a:cs typeface="Times New Roman"/>
              </a:rPr>
              <a:t> </a:t>
            </a:r>
            <a:r>
              <a:rPr lang="en-IN" sz="2800" spc="-4" dirty="0">
                <a:latin typeface="Times New Roman"/>
                <a:cs typeface="Times New Roman"/>
              </a:rPr>
              <a:t>bridges in</a:t>
            </a:r>
            <a:r>
              <a:rPr lang="en-IN" sz="2800" dirty="0">
                <a:latin typeface="Times New Roman"/>
                <a:cs typeface="Times New Roman"/>
              </a:rPr>
              <a:t> </a:t>
            </a:r>
            <a:r>
              <a:rPr lang="en-IN" sz="2800" spc="-4" dirty="0">
                <a:latin typeface="Times New Roman"/>
                <a:cs typeface="Times New Roman"/>
              </a:rPr>
              <a:t>that </a:t>
            </a:r>
            <a:r>
              <a:rPr lang="en-IN" sz="2800" dirty="0">
                <a:latin typeface="Times New Roman"/>
                <a:cs typeface="Times New Roman"/>
              </a:rPr>
              <a:t> </a:t>
            </a:r>
            <a:r>
              <a:rPr lang="en-IN" sz="2800" spc="-4" dirty="0">
                <a:latin typeface="Times New Roman"/>
                <a:cs typeface="Times New Roman"/>
              </a:rPr>
              <a:t>both route on </a:t>
            </a:r>
            <a:r>
              <a:rPr lang="en-IN" sz="2800" dirty="0">
                <a:latin typeface="Times New Roman"/>
                <a:cs typeface="Times New Roman"/>
              </a:rPr>
              <a:t>frame </a:t>
            </a:r>
            <a:r>
              <a:rPr lang="en-IN" sz="2800" spc="-4" dirty="0">
                <a:latin typeface="Times New Roman"/>
                <a:cs typeface="Times New Roman"/>
              </a:rPr>
              <a:t>addresses. The main </a:t>
            </a:r>
            <a:r>
              <a:rPr lang="en-IN" sz="2800" spc="-776" dirty="0">
                <a:latin typeface="Times New Roman"/>
                <a:cs typeface="Times New Roman"/>
              </a:rPr>
              <a:t> </a:t>
            </a:r>
            <a:r>
              <a:rPr lang="en-IN" sz="2800" spc="-4" dirty="0">
                <a:latin typeface="Times New Roman"/>
                <a:cs typeface="Times New Roman"/>
              </a:rPr>
              <a:t>difference</a:t>
            </a:r>
            <a:r>
              <a:rPr lang="en-IN" sz="2800" spc="-9" dirty="0">
                <a:latin typeface="Times New Roman"/>
                <a:cs typeface="Times New Roman"/>
              </a:rPr>
              <a:t> </a:t>
            </a:r>
            <a:r>
              <a:rPr lang="en-IN" sz="2800" spc="-4" dirty="0">
                <a:latin typeface="Times New Roman"/>
                <a:cs typeface="Times New Roman"/>
              </a:rPr>
              <a:t>is</a:t>
            </a:r>
            <a:r>
              <a:rPr lang="en-IN" sz="2800" dirty="0">
                <a:latin typeface="Times New Roman"/>
                <a:cs typeface="Times New Roman"/>
              </a:rPr>
              <a:t> that</a:t>
            </a:r>
            <a:r>
              <a:rPr lang="en-IN" sz="2800" spc="-4" dirty="0">
                <a:latin typeface="Times New Roman"/>
                <a:cs typeface="Times New Roman"/>
              </a:rPr>
              <a:t> a switch</a:t>
            </a:r>
            <a:r>
              <a:rPr lang="en-IN" sz="2800" dirty="0">
                <a:latin typeface="Times New Roman"/>
                <a:cs typeface="Times New Roman"/>
              </a:rPr>
              <a:t> </a:t>
            </a:r>
            <a:r>
              <a:rPr lang="en-IN" sz="2800" spc="-4" dirty="0">
                <a:latin typeface="Times New Roman"/>
                <a:cs typeface="Times New Roman"/>
              </a:rPr>
              <a:t>is</a:t>
            </a:r>
            <a:r>
              <a:rPr lang="en-IN" sz="2800" dirty="0">
                <a:latin typeface="Times New Roman"/>
                <a:cs typeface="Times New Roman"/>
              </a:rPr>
              <a:t> </a:t>
            </a:r>
            <a:r>
              <a:rPr lang="en-IN" sz="2800" spc="-4" dirty="0">
                <a:latin typeface="Times New Roman"/>
                <a:cs typeface="Times New Roman"/>
              </a:rPr>
              <a:t>most often </a:t>
            </a:r>
            <a:r>
              <a:rPr lang="en-IN" sz="2800" dirty="0">
                <a:latin typeface="Times New Roman"/>
                <a:cs typeface="Times New Roman"/>
              </a:rPr>
              <a:t> </a:t>
            </a:r>
            <a:r>
              <a:rPr lang="en-IN" sz="2800" spc="-4" dirty="0">
                <a:latin typeface="Times New Roman"/>
                <a:cs typeface="Times New Roman"/>
              </a:rPr>
              <a:t>used to</a:t>
            </a:r>
            <a:r>
              <a:rPr lang="en-IN" sz="2800" dirty="0">
                <a:latin typeface="Times New Roman"/>
                <a:cs typeface="Times New Roman"/>
              </a:rPr>
              <a:t> </a:t>
            </a:r>
            <a:r>
              <a:rPr lang="en-IN" sz="2800" spc="-4" dirty="0">
                <a:latin typeface="Times New Roman"/>
                <a:cs typeface="Times New Roman"/>
              </a:rPr>
              <a:t>connect</a:t>
            </a:r>
            <a:r>
              <a:rPr lang="en-IN" sz="2800" spc="4" dirty="0">
                <a:latin typeface="Times New Roman"/>
                <a:cs typeface="Times New Roman"/>
              </a:rPr>
              <a:t> </a:t>
            </a:r>
            <a:r>
              <a:rPr lang="en-IN" sz="2800" spc="-4" dirty="0">
                <a:latin typeface="Times New Roman"/>
                <a:cs typeface="Times New Roman"/>
              </a:rPr>
              <a:t>individual computers.</a:t>
            </a:r>
            <a:endParaRPr lang="en-IN" sz="2800" dirty="0">
              <a:latin typeface="Times New Roman"/>
              <a:cs typeface="Times New Roman"/>
            </a:endParaRPr>
          </a:p>
          <a:p>
            <a:pPr marL="544889" marR="124117" indent="-534314" algn="just">
              <a:lnSpc>
                <a:spcPct val="100099"/>
              </a:lnSpc>
              <a:spcBef>
                <a:spcPts val="754"/>
              </a:spcBef>
              <a:buClr>
                <a:srgbClr val="3232CC"/>
              </a:buClr>
              <a:buChar char="•"/>
              <a:tabLst>
                <a:tab pos="545446" algn="l"/>
              </a:tabLst>
            </a:pPr>
            <a:endParaRPr sz="2800" dirty="0">
              <a:latin typeface="Times New Roman"/>
              <a:cs typeface="Times New Roman"/>
            </a:endParaRPr>
          </a:p>
        </p:txBody>
      </p:sp>
    </p:spTree>
    <p:extLst>
      <p:ext uri="{BB962C8B-B14F-4D97-AF65-F5344CB8AC3E}">
        <p14:creationId xmlns:p14="http://schemas.microsoft.com/office/powerpoint/2010/main" val="187853646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548039" y="6024543"/>
            <a:ext cx="295388" cy="179536"/>
          </a:xfrm>
          <a:prstGeom prst="rect">
            <a:avLst/>
          </a:prstGeom>
        </p:spPr>
        <p:txBody>
          <a:bodyPr vert="horz" wrap="square" lIns="0" tIns="0" rIns="0" bIns="0" rtlCol="0">
            <a:spAutoFit/>
          </a:bodyPr>
          <a:lstStyle/>
          <a:p>
            <a:pPr marL="33395">
              <a:lnSpc>
                <a:spcPts val="1429"/>
              </a:lnSpc>
            </a:pPr>
            <a:fld id="{81D60167-4931-47E6-BA6A-407CBD079E47}" type="slidenum">
              <a:rPr sz="1200" dirty="0">
                <a:latin typeface="Times New Roman"/>
                <a:cs typeface="Times New Roman"/>
              </a:rPr>
              <a:pPr marL="33395">
                <a:lnSpc>
                  <a:spcPts val="1429"/>
                </a:lnSpc>
              </a:pPr>
              <a:t>106</a:t>
            </a:fld>
            <a:endParaRPr sz="1200">
              <a:latin typeface="Times New Roman"/>
              <a:cs typeface="Times New Roman"/>
            </a:endParaRPr>
          </a:p>
        </p:txBody>
      </p:sp>
      <p:sp>
        <p:nvSpPr>
          <p:cNvPr id="3" name="object 3"/>
          <p:cNvSpPr txBox="1"/>
          <p:nvPr/>
        </p:nvSpPr>
        <p:spPr>
          <a:xfrm>
            <a:off x="641170" y="1060384"/>
            <a:ext cx="8128757" cy="3457776"/>
          </a:xfrm>
          <a:prstGeom prst="rect">
            <a:avLst/>
          </a:prstGeom>
        </p:spPr>
        <p:txBody>
          <a:bodyPr vert="horz" wrap="square" lIns="0" tIns="10575" rIns="0" bIns="0" rtlCol="0">
            <a:spAutoFit/>
          </a:bodyPr>
          <a:lstStyle/>
          <a:p>
            <a:pPr marL="544889" marR="4453" indent="-534314" algn="just">
              <a:lnSpc>
                <a:spcPct val="100099"/>
              </a:lnSpc>
              <a:spcBef>
                <a:spcPts val="83"/>
              </a:spcBef>
              <a:buClr>
                <a:srgbClr val="3232CC"/>
              </a:buClr>
              <a:buChar char="•"/>
              <a:tabLst>
                <a:tab pos="544889" algn="l"/>
                <a:tab pos="545446" algn="l"/>
              </a:tabLst>
            </a:pPr>
            <a:r>
              <a:rPr sz="3200" spc="-4" dirty="0">
                <a:solidFill>
                  <a:srgbClr val="FF3200"/>
                </a:solidFill>
                <a:latin typeface="Times New Roman"/>
                <a:cs typeface="Times New Roman"/>
              </a:rPr>
              <a:t>Routers</a:t>
            </a:r>
            <a:r>
              <a:rPr sz="3200" spc="92" dirty="0">
                <a:solidFill>
                  <a:srgbClr val="FF3200"/>
                </a:solidFill>
                <a:latin typeface="Times New Roman"/>
                <a:cs typeface="Times New Roman"/>
              </a:rPr>
              <a:t> </a:t>
            </a:r>
            <a:r>
              <a:rPr sz="3200" spc="-4" dirty="0">
                <a:latin typeface="Times New Roman"/>
                <a:cs typeface="Times New Roman"/>
              </a:rPr>
              <a:t>are</a:t>
            </a:r>
            <a:r>
              <a:rPr sz="3200" spc="88" dirty="0">
                <a:latin typeface="Times New Roman"/>
                <a:cs typeface="Times New Roman"/>
              </a:rPr>
              <a:t> </a:t>
            </a:r>
            <a:r>
              <a:rPr sz="3200" spc="-4" dirty="0">
                <a:latin typeface="Times New Roman"/>
                <a:cs typeface="Times New Roman"/>
              </a:rPr>
              <a:t>different</a:t>
            </a:r>
            <a:r>
              <a:rPr sz="3200" spc="88" dirty="0">
                <a:latin typeface="Times New Roman"/>
                <a:cs typeface="Times New Roman"/>
              </a:rPr>
              <a:t> </a:t>
            </a:r>
            <a:r>
              <a:rPr sz="3200" dirty="0">
                <a:latin typeface="Times New Roman"/>
                <a:cs typeface="Times New Roman"/>
              </a:rPr>
              <a:t>from</a:t>
            </a:r>
            <a:r>
              <a:rPr sz="3200" spc="88" dirty="0">
                <a:latin typeface="Times New Roman"/>
                <a:cs typeface="Times New Roman"/>
              </a:rPr>
              <a:t> </a:t>
            </a:r>
            <a:r>
              <a:rPr sz="3200" spc="-4" dirty="0">
                <a:latin typeface="Times New Roman"/>
                <a:cs typeface="Times New Roman"/>
              </a:rPr>
              <a:t>all</a:t>
            </a:r>
            <a:r>
              <a:rPr sz="3200" spc="88" dirty="0">
                <a:latin typeface="Times New Roman"/>
                <a:cs typeface="Times New Roman"/>
              </a:rPr>
              <a:t> </a:t>
            </a:r>
            <a:r>
              <a:rPr sz="3200" spc="-4" dirty="0">
                <a:latin typeface="Times New Roman"/>
                <a:cs typeface="Times New Roman"/>
              </a:rPr>
              <a:t>of</a:t>
            </a:r>
            <a:r>
              <a:rPr sz="3200" spc="105" dirty="0">
                <a:latin typeface="Times New Roman"/>
                <a:cs typeface="Times New Roman"/>
              </a:rPr>
              <a:t> </a:t>
            </a:r>
            <a:r>
              <a:rPr sz="3200" spc="-4" dirty="0">
                <a:latin typeface="Times New Roman"/>
                <a:cs typeface="Times New Roman"/>
              </a:rPr>
              <a:t>the </a:t>
            </a:r>
            <a:r>
              <a:rPr sz="3200" dirty="0">
                <a:latin typeface="Times New Roman"/>
                <a:cs typeface="Times New Roman"/>
              </a:rPr>
              <a:t> </a:t>
            </a:r>
            <a:r>
              <a:rPr sz="3200" spc="-4" dirty="0">
                <a:latin typeface="Times New Roman"/>
                <a:cs typeface="Times New Roman"/>
              </a:rPr>
              <a:t>above.</a:t>
            </a:r>
            <a:r>
              <a:rPr sz="3200" spc="9" dirty="0">
                <a:latin typeface="Times New Roman"/>
                <a:cs typeface="Times New Roman"/>
              </a:rPr>
              <a:t> </a:t>
            </a:r>
            <a:endParaRPr lang="en-IN" sz="3200" spc="9" dirty="0">
              <a:latin typeface="Times New Roman"/>
              <a:cs typeface="Times New Roman"/>
            </a:endParaRPr>
          </a:p>
          <a:p>
            <a:pPr marL="544889" marR="4453" indent="-534314" algn="just">
              <a:lnSpc>
                <a:spcPct val="100099"/>
              </a:lnSpc>
              <a:spcBef>
                <a:spcPts val="83"/>
              </a:spcBef>
              <a:buClr>
                <a:srgbClr val="3232CC"/>
              </a:buClr>
              <a:buChar char="•"/>
              <a:tabLst>
                <a:tab pos="544889" algn="l"/>
                <a:tab pos="545446" algn="l"/>
              </a:tabLst>
            </a:pPr>
            <a:r>
              <a:rPr sz="3200" spc="-4" dirty="0">
                <a:latin typeface="Times New Roman"/>
                <a:cs typeface="Times New Roman"/>
              </a:rPr>
              <a:t>When</a:t>
            </a:r>
            <a:r>
              <a:rPr sz="3200" dirty="0">
                <a:latin typeface="Times New Roman"/>
                <a:cs typeface="Times New Roman"/>
              </a:rPr>
              <a:t> </a:t>
            </a:r>
            <a:r>
              <a:rPr sz="3200" spc="-4" dirty="0">
                <a:latin typeface="Times New Roman"/>
                <a:cs typeface="Times New Roman"/>
              </a:rPr>
              <a:t>a</a:t>
            </a:r>
            <a:r>
              <a:rPr sz="3200" spc="4" dirty="0">
                <a:latin typeface="Times New Roman"/>
                <a:cs typeface="Times New Roman"/>
              </a:rPr>
              <a:t> </a:t>
            </a:r>
            <a:r>
              <a:rPr sz="3200" spc="-4" dirty="0">
                <a:latin typeface="Times New Roman"/>
                <a:cs typeface="Times New Roman"/>
              </a:rPr>
              <a:t>packet</a:t>
            </a:r>
            <a:r>
              <a:rPr sz="3200" spc="4" dirty="0">
                <a:latin typeface="Times New Roman"/>
                <a:cs typeface="Times New Roman"/>
              </a:rPr>
              <a:t> </a:t>
            </a:r>
            <a:r>
              <a:rPr sz="3200" spc="-4" dirty="0">
                <a:latin typeface="Times New Roman"/>
                <a:cs typeface="Times New Roman"/>
              </a:rPr>
              <a:t>comes</a:t>
            </a:r>
            <a:r>
              <a:rPr sz="3200" spc="4" dirty="0">
                <a:latin typeface="Times New Roman"/>
                <a:cs typeface="Times New Roman"/>
              </a:rPr>
              <a:t> </a:t>
            </a:r>
            <a:r>
              <a:rPr sz="3200" spc="-4" dirty="0">
                <a:latin typeface="Times New Roman"/>
                <a:cs typeface="Times New Roman"/>
              </a:rPr>
              <a:t>into</a:t>
            </a:r>
            <a:r>
              <a:rPr sz="3200" dirty="0">
                <a:latin typeface="Times New Roman"/>
                <a:cs typeface="Times New Roman"/>
              </a:rPr>
              <a:t> </a:t>
            </a:r>
            <a:r>
              <a:rPr sz="3200" spc="-4" dirty="0">
                <a:latin typeface="Times New Roman"/>
                <a:cs typeface="Times New Roman"/>
              </a:rPr>
              <a:t>a router, </a:t>
            </a:r>
            <a:r>
              <a:rPr sz="3200" spc="-776" dirty="0">
                <a:latin typeface="Times New Roman"/>
                <a:cs typeface="Times New Roman"/>
              </a:rPr>
              <a:t> </a:t>
            </a:r>
            <a:r>
              <a:rPr sz="3200" spc="-4" dirty="0">
                <a:latin typeface="Times New Roman"/>
                <a:cs typeface="Times New Roman"/>
              </a:rPr>
              <a:t>the</a:t>
            </a:r>
            <a:r>
              <a:rPr sz="3200" spc="-9" dirty="0">
                <a:latin typeface="Times New Roman"/>
                <a:cs typeface="Times New Roman"/>
              </a:rPr>
              <a:t> </a:t>
            </a:r>
            <a:r>
              <a:rPr sz="3200" dirty="0">
                <a:latin typeface="Times New Roman"/>
                <a:cs typeface="Times New Roman"/>
              </a:rPr>
              <a:t>frame</a:t>
            </a:r>
            <a:r>
              <a:rPr sz="3200" spc="-4" dirty="0">
                <a:latin typeface="Times New Roman"/>
                <a:cs typeface="Times New Roman"/>
              </a:rPr>
              <a:t> header</a:t>
            </a:r>
            <a:r>
              <a:rPr sz="3200" spc="4" dirty="0">
                <a:latin typeface="Times New Roman"/>
                <a:cs typeface="Times New Roman"/>
              </a:rPr>
              <a:t> </a:t>
            </a:r>
            <a:r>
              <a:rPr sz="3200" spc="-4" dirty="0">
                <a:latin typeface="Times New Roman"/>
                <a:cs typeface="Times New Roman"/>
              </a:rPr>
              <a:t>and</a:t>
            </a:r>
            <a:r>
              <a:rPr sz="3200" dirty="0">
                <a:latin typeface="Times New Roman"/>
                <a:cs typeface="Times New Roman"/>
              </a:rPr>
              <a:t> </a:t>
            </a:r>
            <a:r>
              <a:rPr sz="3200" spc="-4" dirty="0">
                <a:latin typeface="Times New Roman"/>
                <a:cs typeface="Times New Roman"/>
              </a:rPr>
              <a:t>trailer are stripped </a:t>
            </a:r>
            <a:r>
              <a:rPr sz="3200" dirty="0">
                <a:latin typeface="Times New Roman"/>
                <a:cs typeface="Times New Roman"/>
              </a:rPr>
              <a:t> </a:t>
            </a:r>
            <a:r>
              <a:rPr sz="3200" spc="-4" dirty="0">
                <a:latin typeface="Times New Roman"/>
                <a:cs typeface="Times New Roman"/>
              </a:rPr>
              <a:t>off and</a:t>
            </a:r>
            <a:r>
              <a:rPr sz="3200" dirty="0">
                <a:latin typeface="Times New Roman"/>
                <a:cs typeface="Times New Roman"/>
              </a:rPr>
              <a:t> the</a:t>
            </a:r>
            <a:r>
              <a:rPr sz="3200" spc="-4" dirty="0">
                <a:latin typeface="Times New Roman"/>
                <a:cs typeface="Times New Roman"/>
              </a:rPr>
              <a:t> packet located</a:t>
            </a:r>
            <a:r>
              <a:rPr sz="3200" dirty="0">
                <a:latin typeface="Times New Roman"/>
                <a:cs typeface="Times New Roman"/>
              </a:rPr>
              <a:t> </a:t>
            </a:r>
            <a:r>
              <a:rPr sz="3200" spc="-4" dirty="0">
                <a:latin typeface="Times New Roman"/>
                <a:cs typeface="Times New Roman"/>
              </a:rPr>
              <a:t>in</a:t>
            </a:r>
            <a:r>
              <a:rPr sz="3200" dirty="0">
                <a:latin typeface="Times New Roman"/>
                <a:cs typeface="Times New Roman"/>
              </a:rPr>
              <a:t> </a:t>
            </a:r>
            <a:r>
              <a:rPr sz="3200" spc="-4" dirty="0">
                <a:latin typeface="Times New Roman"/>
                <a:cs typeface="Times New Roman"/>
              </a:rPr>
              <a:t>the</a:t>
            </a:r>
            <a:r>
              <a:rPr sz="3200" spc="9" dirty="0">
                <a:latin typeface="Times New Roman"/>
                <a:cs typeface="Times New Roman"/>
              </a:rPr>
              <a:t> </a:t>
            </a:r>
            <a:r>
              <a:rPr sz="3200" spc="-4" dirty="0">
                <a:latin typeface="Times New Roman"/>
                <a:cs typeface="Times New Roman"/>
              </a:rPr>
              <a:t>frame’s </a:t>
            </a:r>
            <a:r>
              <a:rPr sz="3200" dirty="0">
                <a:latin typeface="Times New Roman"/>
                <a:cs typeface="Times New Roman"/>
              </a:rPr>
              <a:t> </a:t>
            </a:r>
            <a:r>
              <a:rPr sz="3200" spc="-4" dirty="0">
                <a:latin typeface="Times New Roman"/>
                <a:cs typeface="Times New Roman"/>
              </a:rPr>
              <a:t>payload</a:t>
            </a:r>
            <a:r>
              <a:rPr sz="3200" spc="4" dirty="0">
                <a:latin typeface="Times New Roman"/>
                <a:cs typeface="Times New Roman"/>
              </a:rPr>
              <a:t> </a:t>
            </a:r>
            <a:r>
              <a:rPr sz="3200" spc="-4" dirty="0">
                <a:latin typeface="Times New Roman"/>
                <a:cs typeface="Times New Roman"/>
              </a:rPr>
              <a:t>field</a:t>
            </a:r>
            <a:r>
              <a:rPr sz="3200" dirty="0">
                <a:latin typeface="Times New Roman"/>
                <a:cs typeface="Times New Roman"/>
              </a:rPr>
              <a:t> </a:t>
            </a:r>
            <a:r>
              <a:rPr sz="3200" spc="-4" dirty="0">
                <a:latin typeface="Times New Roman"/>
                <a:cs typeface="Times New Roman"/>
              </a:rPr>
              <a:t>is</a:t>
            </a:r>
            <a:r>
              <a:rPr sz="3200" spc="9" dirty="0">
                <a:latin typeface="Times New Roman"/>
                <a:cs typeface="Times New Roman"/>
              </a:rPr>
              <a:t> </a:t>
            </a:r>
            <a:r>
              <a:rPr sz="3200" spc="-4" dirty="0">
                <a:latin typeface="Times New Roman"/>
                <a:cs typeface="Times New Roman"/>
              </a:rPr>
              <a:t>passed to</a:t>
            </a:r>
            <a:r>
              <a:rPr sz="3200" dirty="0">
                <a:latin typeface="Times New Roman"/>
                <a:cs typeface="Times New Roman"/>
              </a:rPr>
              <a:t> </a:t>
            </a:r>
            <a:r>
              <a:rPr sz="3200" spc="-4" dirty="0">
                <a:latin typeface="Times New Roman"/>
                <a:cs typeface="Times New Roman"/>
              </a:rPr>
              <a:t>the routing </a:t>
            </a:r>
            <a:r>
              <a:rPr sz="3200" dirty="0">
                <a:latin typeface="Times New Roman"/>
                <a:cs typeface="Times New Roman"/>
              </a:rPr>
              <a:t> </a:t>
            </a:r>
            <a:r>
              <a:rPr sz="3200" spc="-4" dirty="0">
                <a:latin typeface="Times New Roman"/>
                <a:cs typeface="Times New Roman"/>
              </a:rPr>
              <a:t>software. </a:t>
            </a:r>
            <a:endParaRPr lang="en-IN" sz="3200" spc="-4" dirty="0">
              <a:latin typeface="Times New Roman"/>
              <a:cs typeface="Times New Roman"/>
            </a:endParaRPr>
          </a:p>
          <a:p>
            <a:pPr marL="544889" marR="4453" indent="-534314" algn="just">
              <a:lnSpc>
                <a:spcPct val="100099"/>
              </a:lnSpc>
              <a:spcBef>
                <a:spcPts val="83"/>
              </a:spcBef>
              <a:buClr>
                <a:srgbClr val="3232CC"/>
              </a:buClr>
              <a:buChar char="•"/>
              <a:tabLst>
                <a:tab pos="544889" algn="l"/>
                <a:tab pos="545446" algn="l"/>
              </a:tabLst>
            </a:pPr>
            <a:r>
              <a:rPr sz="3200" spc="-4" dirty="0">
                <a:latin typeface="Times New Roman"/>
                <a:cs typeface="Times New Roman"/>
              </a:rPr>
              <a:t>This</a:t>
            </a:r>
            <a:r>
              <a:rPr sz="3200" dirty="0">
                <a:latin typeface="Times New Roman"/>
                <a:cs typeface="Times New Roman"/>
              </a:rPr>
              <a:t> </a:t>
            </a:r>
            <a:r>
              <a:rPr sz="3200" spc="-4" dirty="0">
                <a:latin typeface="Times New Roman"/>
                <a:cs typeface="Times New Roman"/>
              </a:rPr>
              <a:t>software</a:t>
            </a:r>
            <a:r>
              <a:rPr sz="3200" spc="9" dirty="0">
                <a:latin typeface="Times New Roman"/>
                <a:cs typeface="Times New Roman"/>
              </a:rPr>
              <a:t> </a:t>
            </a:r>
            <a:r>
              <a:rPr sz="3200" spc="-4" dirty="0">
                <a:latin typeface="Times New Roman"/>
                <a:cs typeface="Times New Roman"/>
              </a:rPr>
              <a:t>uses</a:t>
            </a:r>
            <a:r>
              <a:rPr sz="3200" dirty="0">
                <a:latin typeface="Times New Roman"/>
                <a:cs typeface="Times New Roman"/>
              </a:rPr>
              <a:t> </a:t>
            </a:r>
            <a:r>
              <a:rPr sz="3200" spc="-4" dirty="0">
                <a:latin typeface="Times New Roman"/>
                <a:cs typeface="Times New Roman"/>
              </a:rPr>
              <a:t>the</a:t>
            </a:r>
            <a:r>
              <a:rPr sz="3200" spc="-9" dirty="0">
                <a:latin typeface="Times New Roman"/>
                <a:cs typeface="Times New Roman"/>
              </a:rPr>
              <a:t> </a:t>
            </a:r>
            <a:r>
              <a:rPr sz="3200" spc="-4" dirty="0">
                <a:latin typeface="Times New Roman"/>
                <a:cs typeface="Times New Roman"/>
              </a:rPr>
              <a:t>packet </a:t>
            </a:r>
            <a:r>
              <a:rPr sz="3200" dirty="0">
                <a:latin typeface="Times New Roman"/>
                <a:cs typeface="Times New Roman"/>
              </a:rPr>
              <a:t> </a:t>
            </a:r>
            <a:r>
              <a:rPr sz="3200" spc="-4" dirty="0">
                <a:latin typeface="Times New Roman"/>
                <a:cs typeface="Times New Roman"/>
              </a:rPr>
              <a:t>header </a:t>
            </a:r>
            <a:r>
              <a:rPr sz="3200" dirty="0">
                <a:latin typeface="Times New Roman"/>
                <a:cs typeface="Times New Roman"/>
              </a:rPr>
              <a:t>to </a:t>
            </a:r>
            <a:r>
              <a:rPr sz="3200" spc="-4" dirty="0">
                <a:latin typeface="Times New Roman"/>
                <a:cs typeface="Times New Roman"/>
              </a:rPr>
              <a:t>choose an output line.</a:t>
            </a:r>
            <a:endParaRPr sz="3200" dirty="0">
              <a:latin typeface="Times New Roman"/>
              <a:cs typeface="Times New Roman"/>
            </a:endParaRPr>
          </a:p>
        </p:txBody>
      </p:sp>
    </p:spTree>
    <p:extLst>
      <p:ext uri="{BB962C8B-B14F-4D97-AF65-F5344CB8AC3E}">
        <p14:creationId xmlns:p14="http://schemas.microsoft.com/office/powerpoint/2010/main" val="96603668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91625" y="967358"/>
            <a:ext cx="8281320" cy="4545253"/>
          </a:xfrm>
          <a:prstGeom prst="rect">
            <a:avLst/>
          </a:prstGeom>
        </p:spPr>
        <p:txBody>
          <a:bodyPr vert="horz" wrap="square" lIns="0" tIns="10575" rIns="0" bIns="0" rtlCol="0">
            <a:spAutoFit/>
          </a:bodyPr>
          <a:lstStyle/>
          <a:p>
            <a:pPr marL="545446" marR="4453" indent="-534314" algn="just">
              <a:lnSpc>
                <a:spcPct val="100099"/>
              </a:lnSpc>
              <a:spcBef>
                <a:spcPts val="83"/>
              </a:spcBef>
              <a:buClr>
                <a:srgbClr val="3232CC"/>
              </a:buClr>
              <a:buChar char="•"/>
              <a:tabLst>
                <a:tab pos="544889" algn="l"/>
                <a:tab pos="545446" algn="l"/>
              </a:tabLst>
            </a:pPr>
            <a:r>
              <a:rPr sz="3200" spc="-4" dirty="0">
                <a:solidFill>
                  <a:srgbClr val="FF3200"/>
                </a:solidFill>
                <a:latin typeface="Times New Roman"/>
                <a:cs typeface="Times New Roman"/>
              </a:rPr>
              <a:t>Transport gateways</a:t>
            </a:r>
            <a:r>
              <a:rPr sz="3200" dirty="0">
                <a:solidFill>
                  <a:srgbClr val="FF3200"/>
                </a:solidFill>
                <a:latin typeface="Times New Roman"/>
                <a:cs typeface="Times New Roman"/>
              </a:rPr>
              <a:t> </a:t>
            </a:r>
            <a:r>
              <a:rPr sz="3200" spc="-4" dirty="0">
                <a:latin typeface="Times New Roman"/>
                <a:cs typeface="Times New Roman"/>
              </a:rPr>
              <a:t>connect </a:t>
            </a:r>
            <a:r>
              <a:rPr sz="3200" dirty="0">
                <a:latin typeface="Times New Roman"/>
                <a:cs typeface="Times New Roman"/>
              </a:rPr>
              <a:t>two </a:t>
            </a:r>
            <a:r>
              <a:rPr sz="3200" spc="-4" dirty="0">
                <a:latin typeface="Times New Roman"/>
                <a:cs typeface="Times New Roman"/>
              </a:rPr>
              <a:t>computers </a:t>
            </a:r>
            <a:r>
              <a:rPr sz="3200" spc="-776" dirty="0">
                <a:latin typeface="Times New Roman"/>
                <a:cs typeface="Times New Roman"/>
              </a:rPr>
              <a:t> </a:t>
            </a:r>
            <a:r>
              <a:rPr sz="3200" spc="-4" dirty="0">
                <a:latin typeface="Times New Roman"/>
                <a:cs typeface="Times New Roman"/>
              </a:rPr>
              <a:t>that use</a:t>
            </a:r>
            <a:r>
              <a:rPr sz="3200" spc="9" dirty="0">
                <a:latin typeface="Times New Roman"/>
                <a:cs typeface="Times New Roman"/>
              </a:rPr>
              <a:t> </a:t>
            </a:r>
            <a:r>
              <a:rPr sz="3200" spc="-4" dirty="0">
                <a:latin typeface="Times New Roman"/>
                <a:cs typeface="Times New Roman"/>
              </a:rPr>
              <a:t>different connection</a:t>
            </a:r>
            <a:r>
              <a:rPr sz="3200" dirty="0">
                <a:latin typeface="Times New Roman"/>
                <a:cs typeface="Times New Roman"/>
              </a:rPr>
              <a:t> </a:t>
            </a:r>
            <a:r>
              <a:rPr sz="3200" spc="-4" dirty="0">
                <a:latin typeface="Times New Roman"/>
                <a:cs typeface="Times New Roman"/>
              </a:rPr>
              <a:t>–</a:t>
            </a:r>
            <a:r>
              <a:rPr sz="3200" dirty="0">
                <a:latin typeface="Times New Roman"/>
                <a:cs typeface="Times New Roman"/>
              </a:rPr>
              <a:t> </a:t>
            </a:r>
            <a:r>
              <a:rPr sz="3200" spc="-4" dirty="0">
                <a:latin typeface="Times New Roman"/>
                <a:cs typeface="Times New Roman"/>
              </a:rPr>
              <a:t>oriented </a:t>
            </a:r>
            <a:r>
              <a:rPr sz="3200" dirty="0">
                <a:latin typeface="Times New Roman"/>
                <a:cs typeface="Times New Roman"/>
              </a:rPr>
              <a:t> </a:t>
            </a:r>
            <a:r>
              <a:rPr sz="3200" spc="-4" dirty="0">
                <a:latin typeface="Times New Roman"/>
                <a:cs typeface="Times New Roman"/>
              </a:rPr>
              <a:t>transport protocols.</a:t>
            </a:r>
            <a:r>
              <a:rPr sz="3200" spc="4" dirty="0">
                <a:latin typeface="Times New Roman"/>
                <a:cs typeface="Times New Roman"/>
              </a:rPr>
              <a:t> </a:t>
            </a:r>
            <a:r>
              <a:rPr sz="3200" spc="-4" dirty="0">
                <a:latin typeface="Times New Roman"/>
                <a:cs typeface="Times New Roman"/>
              </a:rPr>
              <a:t>The</a:t>
            </a:r>
            <a:r>
              <a:rPr sz="3200" spc="13" dirty="0">
                <a:latin typeface="Times New Roman"/>
                <a:cs typeface="Times New Roman"/>
              </a:rPr>
              <a:t> </a:t>
            </a:r>
            <a:r>
              <a:rPr sz="3200" spc="-4" dirty="0">
                <a:latin typeface="Times New Roman"/>
                <a:cs typeface="Times New Roman"/>
              </a:rPr>
              <a:t>transport</a:t>
            </a:r>
            <a:r>
              <a:rPr sz="3200" dirty="0">
                <a:latin typeface="Times New Roman"/>
                <a:cs typeface="Times New Roman"/>
              </a:rPr>
              <a:t> </a:t>
            </a:r>
            <a:r>
              <a:rPr sz="3200" spc="-4" dirty="0">
                <a:latin typeface="Times New Roman"/>
                <a:cs typeface="Times New Roman"/>
              </a:rPr>
              <a:t>gateway </a:t>
            </a:r>
            <a:r>
              <a:rPr sz="3200" dirty="0">
                <a:latin typeface="Times New Roman"/>
                <a:cs typeface="Times New Roman"/>
              </a:rPr>
              <a:t> </a:t>
            </a:r>
            <a:r>
              <a:rPr sz="3200" spc="-4" dirty="0">
                <a:latin typeface="Times New Roman"/>
                <a:cs typeface="Times New Roman"/>
              </a:rPr>
              <a:t>can</a:t>
            </a:r>
            <a:r>
              <a:rPr sz="3200" dirty="0">
                <a:latin typeface="Times New Roman"/>
                <a:cs typeface="Times New Roman"/>
              </a:rPr>
              <a:t> </a:t>
            </a:r>
            <a:r>
              <a:rPr sz="3200" spc="-4" dirty="0">
                <a:latin typeface="Times New Roman"/>
                <a:cs typeface="Times New Roman"/>
              </a:rPr>
              <a:t>copy</a:t>
            </a:r>
            <a:r>
              <a:rPr sz="3200" dirty="0">
                <a:latin typeface="Times New Roman"/>
                <a:cs typeface="Times New Roman"/>
              </a:rPr>
              <a:t> </a:t>
            </a:r>
            <a:r>
              <a:rPr sz="3200" spc="-4" dirty="0">
                <a:latin typeface="Times New Roman"/>
                <a:cs typeface="Times New Roman"/>
              </a:rPr>
              <a:t>the packets</a:t>
            </a:r>
            <a:r>
              <a:rPr sz="3200" dirty="0">
                <a:latin typeface="Times New Roman"/>
                <a:cs typeface="Times New Roman"/>
              </a:rPr>
              <a:t> from</a:t>
            </a:r>
            <a:r>
              <a:rPr sz="3200" spc="-4" dirty="0">
                <a:latin typeface="Times New Roman"/>
                <a:cs typeface="Times New Roman"/>
              </a:rPr>
              <a:t> one</a:t>
            </a:r>
            <a:r>
              <a:rPr sz="3200" spc="9" dirty="0">
                <a:latin typeface="Times New Roman"/>
                <a:cs typeface="Times New Roman"/>
              </a:rPr>
              <a:t> </a:t>
            </a:r>
            <a:r>
              <a:rPr sz="3200" spc="-4" dirty="0">
                <a:latin typeface="Times New Roman"/>
                <a:cs typeface="Times New Roman"/>
              </a:rPr>
              <a:t>connection </a:t>
            </a:r>
            <a:r>
              <a:rPr sz="3200" dirty="0">
                <a:latin typeface="Times New Roman"/>
                <a:cs typeface="Times New Roman"/>
              </a:rPr>
              <a:t> </a:t>
            </a:r>
            <a:r>
              <a:rPr sz="3200" spc="-4" dirty="0">
                <a:latin typeface="Times New Roman"/>
                <a:cs typeface="Times New Roman"/>
              </a:rPr>
              <a:t>to the other,</a:t>
            </a:r>
            <a:r>
              <a:rPr sz="3200" dirty="0">
                <a:latin typeface="Times New Roman"/>
                <a:cs typeface="Times New Roman"/>
              </a:rPr>
              <a:t> </a:t>
            </a:r>
            <a:r>
              <a:rPr sz="3200" spc="-4" dirty="0">
                <a:latin typeface="Times New Roman"/>
                <a:cs typeface="Times New Roman"/>
              </a:rPr>
              <a:t>reformatting</a:t>
            </a:r>
            <a:r>
              <a:rPr sz="3200" spc="9" dirty="0">
                <a:latin typeface="Times New Roman"/>
                <a:cs typeface="Times New Roman"/>
              </a:rPr>
              <a:t> </a:t>
            </a:r>
            <a:r>
              <a:rPr sz="3200" spc="-4" dirty="0">
                <a:latin typeface="Times New Roman"/>
                <a:cs typeface="Times New Roman"/>
              </a:rPr>
              <a:t>them as</a:t>
            </a:r>
            <a:r>
              <a:rPr sz="3200" spc="13" dirty="0">
                <a:latin typeface="Times New Roman"/>
                <a:cs typeface="Times New Roman"/>
              </a:rPr>
              <a:t> </a:t>
            </a:r>
            <a:r>
              <a:rPr sz="3200" spc="-4" dirty="0">
                <a:latin typeface="Times New Roman"/>
                <a:cs typeface="Times New Roman"/>
              </a:rPr>
              <a:t>need </a:t>
            </a:r>
            <a:r>
              <a:rPr sz="3200" dirty="0">
                <a:latin typeface="Times New Roman"/>
                <a:cs typeface="Times New Roman"/>
              </a:rPr>
              <a:t>be.</a:t>
            </a:r>
          </a:p>
          <a:p>
            <a:pPr marL="545446" marR="862695" indent="-534314" algn="just">
              <a:lnSpc>
                <a:spcPct val="100099"/>
              </a:lnSpc>
              <a:spcBef>
                <a:spcPts val="754"/>
              </a:spcBef>
              <a:buClr>
                <a:srgbClr val="3232CC"/>
              </a:buClr>
              <a:buFontTx/>
              <a:buChar char="•"/>
              <a:tabLst>
                <a:tab pos="544889" algn="l"/>
                <a:tab pos="545446" algn="l"/>
              </a:tabLst>
            </a:pPr>
            <a:r>
              <a:rPr sz="3200" spc="-4" dirty="0">
                <a:solidFill>
                  <a:srgbClr val="FF3200"/>
                </a:solidFill>
                <a:latin typeface="Times New Roman"/>
                <a:cs typeface="Times New Roman"/>
              </a:rPr>
              <a:t>Application</a:t>
            </a:r>
            <a:r>
              <a:rPr sz="3200" dirty="0">
                <a:solidFill>
                  <a:srgbClr val="FF3200"/>
                </a:solidFill>
                <a:latin typeface="Times New Roman"/>
                <a:cs typeface="Times New Roman"/>
              </a:rPr>
              <a:t> </a:t>
            </a:r>
            <a:r>
              <a:rPr sz="3200" spc="-4" dirty="0">
                <a:solidFill>
                  <a:srgbClr val="FF3200"/>
                </a:solidFill>
                <a:latin typeface="Times New Roman"/>
                <a:cs typeface="Times New Roman"/>
              </a:rPr>
              <a:t>gateways </a:t>
            </a:r>
            <a:r>
              <a:rPr sz="3200" spc="-4" dirty="0">
                <a:latin typeface="Times New Roman"/>
                <a:cs typeface="Times New Roman"/>
              </a:rPr>
              <a:t>understand</a:t>
            </a:r>
            <a:r>
              <a:rPr sz="3200" dirty="0">
                <a:latin typeface="Times New Roman"/>
                <a:cs typeface="Times New Roman"/>
              </a:rPr>
              <a:t> </a:t>
            </a:r>
            <a:r>
              <a:rPr sz="3200" spc="-4" dirty="0">
                <a:latin typeface="Times New Roman"/>
                <a:cs typeface="Times New Roman"/>
              </a:rPr>
              <a:t>the </a:t>
            </a:r>
            <a:r>
              <a:rPr sz="3200" dirty="0">
                <a:latin typeface="Times New Roman"/>
                <a:cs typeface="Times New Roman"/>
              </a:rPr>
              <a:t> </a:t>
            </a:r>
            <a:r>
              <a:rPr sz="3200" spc="-4" dirty="0">
                <a:latin typeface="Times New Roman"/>
                <a:cs typeface="Times New Roman"/>
              </a:rPr>
              <a:t>format</a:t>
            </a:r>
            <a:r>
              <a:rPr lang="en-IN" sz="3200" spc="-9" dirty="0">
                <a:latin typeface="Times New Roman"/>
                <a:cs typeface="Times New Roman"/>
              </a:rPr>
              <a:t> </a:t>
            </a:r>
            <a:r>
              <a:rPr sz="3200" dirty="0">
                <a:latin typeface="Times New Roman"/>
                <a:cs typeface="Times New Roman"/>
              </a:rPr>
              <a:t>and</a:t>
            </a:r>
            <a:r>
              <a:rPr sz="3200" spc="-4" dirty="0">
                <a:latin typeface="Times New Roman"/>
                <a:cs typeface="Times New Roman"/>
              </a:rPr>
              <a:t> contents</a:t>
            </a:r>
            <a:r>
              <a:rPr sz="3200" dirty="0">
                <a:latin typeface="Times New Roman"/>
                <a:cs typeface="Times New Roman"/>
              </a:rPr>
              <a:t> </a:t>
            </a:r>
            <a:r>
              <a:rPr sz="3200" spc="-4" dirty="0">
                <a:latin typeface="Times New Roman"/>
                <a:cs typeface="Times New Roman"/>
              </a:rPr>
              <a:t>of </a:t>
            </a:r>
            <a:r>
              <a:rPr sz="3200" dirty="0">
                <a:latin typeface="Times New Roman"/>
                <a:cs typeface="Times New Roman"/>
              </a:rPr>
              <a:t>the</a:t>
            </a:r>
            <a:r>
              <a:rPr sz="3200" spc="-4" dirty="0">
                <a:latin typeface="Times New Roman"/>
                <a:cs typeface="Times New Roman"/>
              </a:rPr>
              <a:t> data</a:t>
            </a:r>
            <a:r>
              <a:rPr sz="3200" spc="4" dirty="0">
                <a:latin typeface="Times New Roman"/>
                <a:cs typeface="Times New Roman"/>
              </a:rPr>
              <a:t> </a:t>
            </a:r>
            <a:r>
              <a:rPr sz="3200" spc="-4" dirty="0">
                <a:latin typeface="Times New Roman"/>
                <a:cs typeface="Times New Roman"/>
              </a:rPr>
              <a:t>and </a:t>
            </a:r>
            <a:r>
              <a:rPr sz="3200" dirty="0">
                <a:latin typeface="Times New Roman"/>
                <a:cs typeface="Times New Roman"/>
              </a:rPr>
              <a:t> </a:t>
            </a:r>
            <a:r>
              <a:rPr sz="3200" spc="-4" dirty="0">
                <a:latin typeface="Times New Roman"/>
                <a:cs typeface="Times New Roman"/>
              </a:rPr>
              <a:t>translate</a:t>
            </a:r>
            <a:r>
              <a:rPr sz="3200" spc="4" dirty="0">
                <a:latin typeface="Times New Roman"/>
                <a:cs typeface="Times New Roman"/>
              </a:rPr>
              <a:t> </a:t>
            </a:r>
            <a:r>
              <a:rPr sz="3200" spc="-4" dirty="0">
                <a:latin typeface="Times New Roman"/>
                <a:cs typeface="Times New Roman"/>
              </a:rPr>
              <a:t>messages from</a:t>
            </a:r>
            <a:r>
              <a:rPr sz="3200" spc="-9" dirty="0">
                <a:latin typeface="Times New Roman"/>
                <a:cs typeface="Times New Roman"/>
              </a:rPr>
              <a:t> </a:t>
            </a:r>
            <a:r>
              <a:rPr sz="3200" spc="-4" dirty="0">
                <a:latin typeface="Times New Roman"/>
                <a:cs typeface="Times New Roman"/>
              </a:rPr>
              <a:t>one</a:t>
            </a:r>
            <a:r>
              <a:rPr sz="3200" spc="-9" dirty="0">
                <a:latin typeface="Times New Roman"/>
                <a:cs typeface="Times New Roman"/>
              </a:rPr>
              <a:t> </a:t>
            </a:r>
            <a:r>
              <a:rPr sz="3200" spc="-4" dirty="0">
                <a:latin typeface="Times New Roman"/>
                <a:cs typeface="Times New Roman"/>
              </a:rPr>
              <a:t>format to</a:t>
            </a:r>
            <a:r>
              <a:rPr lang="en-IN" sz="3200" spc="-4" dirty="0">
                <a:latin typeface="Times New Roman"/>
                <a:cs typeface="Times New Roman"/>
              </a:rPr>
              <a:t> </a:t>
            </a:r>
            <a:r>
              <a:rPr lang="en-IN" sz="3200" spc="-9" dirty="0">
                <a:latin typeface="Times New Roman"/>
                <a:cs typeface="Times New Roman"/>
              </a:rPr>
              <a:t>a</a:t>
            </a:r>
            <a:r>
              <a:rPr lang="en-IN" sz="3200" spc="-4" dirty="0">
                <a:latin typeface="Times New Roman"/>
                <a:cs typeface="Times New Roman"/>
              </a:rPr>
              <a:t>no</a:t>
            </a:r>
            <a:r>
              <a:rPr lang="en-IN" sz="3200" spc="-9" dirty="0">
                <a:latin typeface="Times New Roman"/>
                <a:cs typeface="Times New Roman"/>
              </a:rPr>
              <a:t>t</a:t>
            </a:r>
            <a:r>
              <a:rPr lang="en-IN" sz="3200" spc="-4" dirty="0">
                <a:latin typeface="Times New Roman"/>
                <a:cs typeface="Times New Roman"/>
              </a:rPr>
              <a:t>h</a:t>
            </a:r>
            <a:r>
              <a:rPr lang="en-IN" sz="3200" spc="-9" dirty="0">
                <a:latin typeface="Times New Roman"/>
                <a:cs typeface="Times New Roman"/>
              </a:rPr>
              <a:t>e</a:t>
            </a:r>
            <a:r>
              <a:rPr lang="en-IN" sz="3200" spc="-4" dirty="0">
                <a:latin typeface="Times New Roman"/>
                <a:cs typeface="Times New Roman"/>
              </a:rPr>
              <a:t>r.</a:t>
            </a:r>
            <a:endParaRPr lang="en-IN" sz="3200" dirty="0">
              <a:latin typeface="Times New Roman"/>
              <a:cs typeface="Times New Roman"/>
            </a:endParaRPr>
          </a:p>
        </p:txBody>
      </p:sp>
    </p:spTree>
    <p:extLst>
      <p:ext uri="{BB962C8B-B14F-4D97-AF65-F5344CB8AC3E}">
        <p14:creationId xmlns:p14="http://schemas.microsoft.com/office/powerpoint/2010/main" val="25887505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2145" y="444993"/>
            <a:ext cx="3233801" cy="611405"/>
          </a:xfrm>
          <a:prstGeom prst="rect">
            <a:avLst/>
          </a:prstGeom>
        </p:spPr>
        <p:txBody>
          <a:bodyPr vert="horz" wrap="square" lIns="0" tIns="11132" rIns="0" bIns="0" rtlCol="0">
            <a:spAutoFit/>
          </a:bodyPr>
          <a:lstStyle/>
          <a:p>
            <a:pPr marL="11132">
              <a:spcBef>
                <a:spcPts val="88"/>
              </a:spcBef>
            </a:pPr>
            <a:r>
              <a:rPr sz="3900" u="sng" spc="-4" dirty="0"/>
              <a:t>Summary</a:t>
            </a:r>
            <a:endParaRPr sz="3900" u="sng" dirty="0"/>
          </a:p>
        </p:txBody>
      </p:sp>
      <p:pic>
        <p:nvPicPr>
          <p:cNvPr id="3" name="object 3"/>
          <p:cNvPicPr/>
          <p:nvPr/>
        </p:nvPicPr>
        <p:blipFill>
          <a:blip r:embed="rId2" cstate="print"/>
          <a:stretch>
            <a:fillRect/>
          </a:stretch>
        </p:blipFill>
        <p:spPr>
          <a:xfrm>
            <a:off x="1506479" y="1257588"/>
            <a:ext cx="5955546" cy="4408467"/>
          </a:xfrm>
          <a:prstGeom prst="rect">
            <a:avLst/>
          </a:prstGeom>
        </p:spPr>
      </p:pic>
    </p:spTree>
    <p:extLst>
      <p:ext uri="{BB962C8B-B14F-4D97-AF65-F5344CB8AC3E}">
        <p14:creationId xmlns:p14="http://schemas.microsoft.com/office/powerpoint/2010/main" val="24332011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136" y="262647"/>
            <a:ext cx="8229600" cy="6108969"/>
          </a:xfrm>
        </p:spPr>
        <p:txBody>
          <a:bodyPr>
            <a:noAutofit/>
          </a:bodyPr>
          <a:lstStyle/>
          <a:p>
            <a:pPr lvl="0"/>
            <a:r>
              <a:rPr lang="en-US" sz="2800" dirty="0" smtClean="0"/>
              <a:t>1. Multiple access protocols</a:t>
            </a:r>
            <a:br>
              <a:rPr lang="en-US" sz="2800" dirty="0" smtClean="0"/>
            </a:br>
            <a:r>
              <a:rPr lang="en-US" sz="2800" dirty="0" smtClean="0"/>
              <a:t/>
            </a:r>
            <a:br>
              <a:rPr lang="en-US" sz="2800" dirty="0" smtClean="0"/>
            </a:br>
            <a:r>
              <a:rPr lang="en-US" sz="2800" dirty="0" smtClean="0"/>
              <a:t>2. The </a:t>
            </a:r>
            <a:r>
              <a:rPr lang="en-US" sz="2800" dirty="0"/>
              <a:t>data received by the receiver is </a:t>
            </a:r>
            <a:r>
              <a:rPr lang="en-US" sz="2800" dirty="0" smtClean="0"/>
              <a:t>   10101101110.state </a:t>
            </a:r>
            <a:r>
              <a:rPr lang="en-US" sz="2800" dirty="0"/>
              <a:t>whether the received code word is correct or wrong .If wrong locate the bit having error.(Assume even parity is used</a:t>
            </a:r>
            <a:r>
              <a:rPr lang="en-US" sz="2800" dirty="0" smtClean="0"/>
              <a:t>)</a:t>
            </a:r>
            <a:br>
              <a:rPr lang="en-US" sz="2800" dirty="0" smtClean="0"/>
            </a:br>
            <a:r>
              <a:rPr lang="en-US" sz="2800" dirty="0" smtClean="0"/>
              <a:t/>
            </a:r>
            <a:br>
              <a:rPr lang="en-US" sz="2800" dirty="0" smtClean="0"/>
            </a:br>
            <a:r>
              <a:rPr lang="en-US" sz="2800" dirty="0" smtClean="0"/>
              <a:t>3. What </a:t>
            </a:r>
            <a:r>
              <a:rPr lang="en-US" sz="2800" dirty="0"/>
              <a:t>is the remainder obtained by </a:t>
            </a:r>
            <a:r>
              <a:rPr lang="en-US" sz="2800" dirty="0" smtClean="0"/>
              <a:t>dividing    </a:t>
            </a:r>
            <a:r>
              <a:rPr lang="en-US" sz="2800" dirty="0"/>
              <a:t>x7 + x5 + 1 by the generator polynomial x</a:t>
            </a:r>
            <a:r>
              <a:rPr lang="en-US" sz="2800" baseline="30000" dirty="0"/>
              <a:t>3</a:t>
            </a:r>
            <a:r>
              <a:rPr lang="en-US" sz="2800" dirty="0"/>
              <a:t> + 1?</a:t>
            </a:r>
            <a:br>
              <a:rPr lang="en-US" sz="2800" dirty="0"/>
            </a:br>
            <a:r>
              <a:rPr lang="en-US" sz="2800" dirty="0"/>
              <a:t/>
            </a:r>
            <a:br>
              <a:rPr lang="en-US" sz="2800" dirty="0"/>
            </a:br>
            <a:endParaRPr lang="en-IN" sz="2800" dirty="0"/>
          </a:p>
        </p:txBody>
      </p:sp>
      <p:sp>
        <p:nvSpPr>
          <p:cNvPr id="3" name="Slide Number Placeholder 2"/>
          <p:cNvSpPr>
            <a:spLocks noGrp="1"/>
          </p:cNvSpPr>
          <p:nvPr>
            <p:ph type="sldNum" sz="quarter" idx="12"/>
          </p:nvPr>
        </p:nvSpPr>
        <p:spPr/>
        <p:txBody>
          <a:bodyPr/>
          <a:lstStyle/>
          <a:p>
            <a:fld id="{D22F2FA5-0ECD-45FB-ADFF-50B964F62A79}" type="slidenum">
              <a:rPr lang="en-US" smtClean="0"/>
              <a:pPr/>
              <a:t>109</a:t>
            </a:fld>
            <a:endParaRPr lang="en-US" dirty="0"/>
          </a:p>
        </p:txBody>
      </p:sp>
    </p:spTree>
    <p:extLst>
      <p:ext uri="{BB962C8B-B14F-4D97-AF65-F5344CB8AC3E}">
        <p14:creationId xmlns:p14="http://schemas.microsoft.com/office/powerpoint/2010/main" val="370200128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https://www.geeksforgeeks.org/hamming-code-in-computer-network/</a:t>
            </a:r>
            <a:endParaRPr lang="en-IN" dirty="0"/>
          </a:p>
        </p:txBody>
      </p:sp>
      <p:sp>
        <p:nvSpPr>
          <p:cNvPr id="3" name="Slide Number Placeholder 2"/>
          <p:cNvSpPr>
            <a:spLocks noGrp="1"/>
          </p:cNvSpPr>
          <p:nvPr>
            <p:ph type="sldNum" sz="quarter" idx="12"/>
          </p:nvPr>
        </p:nvSpPr>
        <p:spPr/>
        <p:txBody>
          <a:bodyPr/>
          <a:lstStyle/>
          <a:p>
            <a:fld id="{D22F2FA5-0ECD-45FB-ADFF-50B964F62A79}" type="slidenum">
              <a:rPr lang="en-US" smtClean="0"/>
              <a:pPr/>
              <a:t>110</a:t>
            </a:fld>
            <a:endParaRPr lang="en-US" dirty="0"/>
          </a:p>
        </p:txBody>
      </p:sp>
    </p:spTree>
    <p:extLst>
      <p:ext uri="{BB962C8B-B14F-4D97-AF65-F5344CB8AC3E}">
        <p14:creationId xmlns:p14="http://schemas.microsoft.com/office/powerpoint/2010/main" val="420782989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7,1013,18,19,20,21,35,36,42,43</a:t>
            </a:r>
            <a:br>
              <a:rPr lang="en-IN" dirty="0" smtClean="0"/>
            </a:br>
            <a:r>
              <a:rPr lang="en-IN" dirty="0"/>
              <a:t/>
            </a:r>
            <a:br>
              <a:rPr lang="en-IN" dirty="0"/>
            </a:br>
            <a:r>
              <a:rPr lang="en-IN" dirty="0" smtClean="0"/>
              <a:t>Joseph</a:t>
            </a:r>
            <a:br>
              <a:rPr lang="en-IN" dirty="0" smtClean="0"/>
            </a:br>
            <a:r>
              <a:rPr lang="en-IN" dirty="0" err="1" smtClean="0"/>
              <a:t>zephan</a:t>
            </a:r>
            <a:r>
              <a:rPr lang="en-IN" dirty="0" smtClean="0"/>
              <a:t/>
            </a:r>
            <a:br>
              <a:rPr lang="en-IN" dirty="0" smtClean="0"/>
            </a:br>
            <a:r>
              <a:rPr lang="en-IN" dirty="0" err="1" smtClean="0"/>
              <a:t>joe</a:t>
            </a:r>
            <a:r>
              <a:rPr lang="en-IN" dirty="0" smtClean="0"/>
              <a:t> </a:t>
            </a:r>
            <a:r>
              <a:rPr lang="en-IN" dirty="0" err="1" smtClean="0"/>
              <a:t>jomy</a:t>
            </a:r>
            <a:endParaRPr lang="en-IN" dirty="0"/>
          </a:p>
        </p:txBody>
      </p:sp>
      <p:sp>
        <p:nvSpPr>
          <p:cNvPr id="3" name="Slide Number Placeholder 2"/>
          <p:cNvSpPr>
            <a:spLocks noGrp="1"/>
          </p:cNvSpPr>
          <p:nvPr>
            <p:ph type="sldNum" sz="quarter" idx="12"/>
          </p:nvPr>
        </p:nvSpPr>
        <p:spPr/>
        <p:txBody>
          <a:bodyPr/>
          <a:lstStyle/>
          <a:p>
            <a:fld id="{D22F2FA5-0ECD-45FB-ADFF-50B964F62A79}" type="slidenum">
              <a:rPr lang="en-US" smtClean="0"/>
              <a:pPr/>
              <a:t>111</a:t>
            </a:fld>
            <a:endParaRPr lang="en-US" dirty="0"/>
          </a:p>
        </p:txBody>
      </p:sp>
    </p:spTree>
    <p:extLst>
      <p:ext uri="{BB962C8B-B14F-4D97-AF65-F5344CB8AC3E}">
        <p14:creationId xmlns:p14="http://schemas.microsoft.com/office/powerpoint/2010/main" val="261122456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sz="quarter" idx="12"/>
          </p:nvPr>
        </p:nvSpPr>
        <p:spPr/>
        <p:txBody>
          <a:bodyPr/>
          <a:lstStyle/>
          <a:p>
            <a:fld id="{D22F2FA5-0ECD-45FB-ADFF-50B964F62A79}" type="slidenum">
              <a:rPr lang="en-US" smtClean="0"/>
              <a:pPr/>
              <a:t>112</a:t>
            </a:fld>
            <a:endParaRPr lang="en-US" dirty="0"/>
          </a:p>
        </p:txBody>
      </p:sp>
      <p:pic>
        <p:nvPicPr>
          <p:cNvPr id="4" name="Picture 3"/>
          <p:cNvPicPr>
            <a:picLocks noChangeAspect="1"/>
          </p:cNvPicPr>
          <p:nvPr/>
        </p:nvPicPr>
        <p:blipFill>
          <a:blip r:embed="rId2"/>
          <a:stretch>
            <a:fillRect/>
          </a:stretch>
        </p:blipFill>
        <p:spPr>
          <a:xfrm>
            <a:off x="1436782" y="376107"/>
            <a:ext cx="5531134" cy="1301817"/>
          </a:xfrm>
          <a:prstGeom prst="rect">
            <a:avLst/>
          </a:prstGeom>
        </p:spPr>
      </p:pic>
    </p:spTree>
    <p:extLst>
      <p:ext uri="{BB962C8B-B14F-4D97-AF65-F5344CB8AC3E}">
        <p14:creationId xmlns:p14="http://schemas.microsoft.com/office/powerpoint/2010/main" val="32958680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7467790</TotalTime>
  <Words>7778</Words>
  <Application>Microsoft Office PowerPoint</Application>
  <PresentationFormat>On-screen Show (4:3)</PresentationFormat>
  <Paragraphs>718</Paragraphs>
  <Slides>112</Slides>
  <Notes>48</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112</vt:i4>
      </vt:variant>
    </vt:vector>
  </HeadingPairs>
  <TitlesOfParts>
    <vt:vector size="120" baseType="lpstr">
      <vt:lpstr>Arial</vt:lpstr>
      <vt:lpstr>Calibri</vt:lpstr>
      <vt:lpstr>Georgia</vt:lpstr>
      <vt:lpstr>Times New Roman</vt:lpstr>
      <vt:lpstr>Trebuchet MS</vt:lpstr>
      <vt:lpstr>Wingdings</vt:lpstr>
      <vt:lpstr>Wingdings 2</vt:lpstr>
      <vt:lpstr>Urban</vt:lpstr>
      <vt:lpstr>PowerPoint Presentation</vt:lpstr>
      <vt:lpstr>PowerPoint Presentation</vt:lpstr>
      <vt:lpstr>PowerPoint Presentation</vt:lpstr>
      <vt:lpstr>PowerPoint Presentation</vt:lpstr>
      <vt:lpstr>PowerPoint Presentation</vt:lpstr>
      <vt:lpstr>PowerPoint Presentation</vt:lpstr>
      <vt:lpstr>Dynamic Channel Allocation</vt:lpstr>
      <vt:lpstr>PowerPoint Presentation</vt:lpstr>
      <vt:lpstr>MULTIPLE ACCESS PROTOCOLS</vt:lpstr>
      <vt:lpstr>PowerPoint Presentation</vt:lpstr>
      <vt:lpstr>PowerPoint Presentation</vt:lpstr>
      <vt:lpstr>Pure ALOHA</vt:lpstr>
      <vt:lpstr>Pure ALOHA</vt:lpstr>
      <vt:lpstr>Slotted ALOHA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Collision-Free Protocols</vt:lpstr>
      <vt:lpstr>PowerPoint Presentation</vt:lpstr>
      <vt:lpstr>PowerPoint Presentation</vt:lpstr>
      <vt:lpstr>PowerPoint Presentation</vt:lpstr>
      <vt:lpstr>Collision-Free Protocols</vt:lpstr>
      <vt:lpstr>Collision-Free Protocols</vt:lpstr>
      <vt:lpstr>Collision Avoidance Protocol</vt:lpstr>
      <vt:lpstr>PowerPoint Presentation</vt:lpstr>
      <vt:lpstr>PowerPoint Presentation</vt:lpstr>
      <vt:lpstr>Ethernet</vt:lpstr>
      <vt:lpstr>Classical Ethernet Cabling  </vt:lpstr>
      <vt:lpstr>PowerPoint Presentation</vt:lpstr>
      <vt:lpstr>PowerPoint Presentation</vt:lpstr>
      <vt:lpstr>PowerPoint Presentation</vt:lpstr>
      <vt:lpstr>Ethernet</vt:lpstr>
      <vt:lpstr>PowerPoint Presentation</vt:lpstr>
      <vt:lpstr>PowerPoint Presentation</vt:lpstr>
      <vt:lpstr>PowerPoint Presentation</vt:lpstr>
      <vt:lpstr>Ethernet</vt:lpstr>
      <vt:lpstr>Ethernet</vt:lpstr>
      <vt:lpstr>Ethernet</vt:lpstr>
      <vt:lpstr>Ethernet MAC Sublayer Protocol</vt:lpstr>
      <vt:lpstr>PowerPoint Presentation</vt:lpstr>
      <vt:lpstr>PowerPoint Presentation</vt:lpstr>
      <vt:lpstr>PowerPoint Presentation</vt:lpstr>
      <vt:lpstr>PowerPoint Presentation</vt:lpstr>
      <vt:lpstr>Binary Exponential Backoff Algorithm</vt:lpstr>
      <vt:lpstr>PowerPoint Presentation</vt:lpstr>
      <vt:lpstr>PowerPoint Presentation</vt:lpstr>
      <vt:lpstr>PowerPoint Presentation</vt:lpstr>
      <vt:lpstr>Ethernet Performance</vt:lpstr>
      <vt:lpstr>PowerPoint Presentation</vt:lpstr>
      <vt:lpstr>Switched Ethernet</vt:lpstr>
      <vt:lpstr>PowerPoint Presentation</vt:lpstr>
      <vt:lpstr>PowerPoint Presentation</vt:lpstr>
      <vt:lpstr>PowerPoint Presentation</vt:lpstr>
      <vt:lpstr>PowerPoint Presentation</vt:lpstr>
      <vt:lpstr>High Speed LANs - Gigabit Ethernet</vt:lpstr>
      <vt:lpstr> High Speed LANs - Gigabit Ethernet</vt:lpstr>
      <vt:lpstr>PowerPoint Presentation</vt:lpstr>
      <vt:lpstr>PowerPoint Presentation</vt:lpstr>
      <vt:lpstr>PowerPoint Presentation</vt:lpstr>
      <vt:lpstr>PowerPoint Presentation</vt:lpstr>
      <vt:lpstr>PowerPoint Presentation</vt:lpstr>
      <vt:lpstr>802.11 protocol stack</vt:lpstr>
      <vt:lpstr>PowerPoint Presentation</vt:lpstr>
      <vt:lpstr>The 802.11 Physical Layer </vt:lpstr>
      <vt:lpstr>The 802.11 Physical Layer </vt:lpstr>
      <vt:lpstr>The 802.11 Physical Layer </vt:lpstr>
      <vt:lpstr>The 802.11 Physical Layer </vt:lpstr>
      <vt:lpstr>DSSS (Direct Sequence Spread Spectrum)</vt:lpstr>
      <vt:lpstr>The 802.11 Physical Layer </vt:lpstr>
      <vt:lpstr>The 802.11 Physical Layer </vt:lpstr>
      <vt:lpstr>The 802.11 Physical Layer </vt:lpstr>
      <vt:lpstr>The 802.11 Physical Layer </vt:lpstr>
      <vt:lpstr>The 802.11 MAC Sublayer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802.11 Frame Structure</vt:lpstr>
      <vt:lpstr>PowerPoint Presentation</vt:lpstr>
      <vt:lpstr>PowerPoint Presentation</vt:lpstr>
      <vt:lpstr>PowerPoint Presentation</vt:lpstr>
      <vt:lpstr>DATA LINK LAYER SWITCHING  </vt:lpstr>
      <vt:lpstr>Data Link Layer Switching </vt:lpstr>
      <vt:lpstr>Data Link Layer Switching </vt:lpstr>
      <vt:lpstr>Bridges from 802.x to 802.y </vt:lpstr>
      <vt:lpstr>PowerPoint Presentation</vt:lpstr>
      <vt:lpstr>Bridges from 802.x to 802.y</vt:lpstr>
      <vt:lpstr>PowerPoint Presentation</vt:lpstr>
      <vt:lpstr>PowerPoint Presentation</vt:lpstr>
      <vt:lpstr>Repeaters, Hubs, Bridges, Switches,  Routers and Gateways </vt:lpstr>
      <vt:lpstr>PowerPoint Presentation</vt:lpstr>
      <vt:lpstr>PowerPoint Presentation</vt:lpstr>
      <vt:lpstr>PowerPoint Presentation</vt:lpstr>
      <vt:lpstr>PowerPoint Presentation</vt:lpstr>
      <vt:lpstr>Summary</vt:lpstr>
      <vt:lpstr>1. Multiple access protocols  2. The data received by the receiver is    10101101110.state whether the received code word is correct or wrong .If wrong locate the bit having error.(Assume even parity is used)  3. What is the remainder obtained by dividing    x7 + x5 + 1 by the generator polynomial x3 + 1?  </vt:lpstr>
      <vt:lpstr>https://www.geeksforgeeks.org/hamming-code-in-computer-network/</vt:lpstr>
      <vt:lpstr>7,1013,18,19,20,21,35,36,42,43  Joseph zephan joe jomy</vt:lpstr>
      <vt:lpstr>PowerPoint Presentation</vt:lpstr>
    </vt:vector>
  </TitlesOfParts>
  <Company>East Texas Data Service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Network Layer</dc:title>
  <dc:creator>Steve Armstrong</dc:creator>
  <cp:lastModifiedBy>ASUS</cp:lastModifiedBy>
  <cp:revision>805</cp:revision>
  <dcterms:created xsi:type="dcterms:W3CDTF">2002-07-22T23:52:29Z</dcterms:created>
  <dcterms:modified xsi:type="dcterms:W3CDTF">2023-11-02T08:11:00Z</dcterms:modified>
</cp:coreProperties>
</file>