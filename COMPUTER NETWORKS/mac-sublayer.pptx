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2000"/>
  <p:notesSz cx="7038975" cy="93011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62" roundtripDataSignature="AMtx7mjuGnf1TutDuVGwjGWCQSWgRPIe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customschemas.google.com/relationships/presentationmetadata" Target="metadata"/><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48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62400" y="0"/>
            <a:ext cx="3048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419600"/>
            <a:ext cx="5181600" cy="4191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39200"/>
            <a:ext cx="3048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62400" y="8839200"/>
            <a:ext cx="3048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7: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2: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3: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4: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5: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6: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7: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9: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9: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0: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20: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1: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2: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3: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4: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5: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5: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6: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6: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7: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7: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8: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8: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9: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9: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0: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0: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1: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2: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3: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4: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5: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5: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6: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6: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7: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7: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8: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8: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9: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9: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0: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40: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41: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2: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3: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4: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5: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5: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6: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46: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7: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47: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8: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48: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9: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49: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50: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50: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1: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51: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52: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52: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53: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53: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4: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54: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55: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55: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6:notes"/>
          <p:cNvSpPr txBox="1"/>
          <p:nvPr>
            <p:ph idx="1" type="body"/>
          </p:nvPr>
        </p:nvSpPr>
        <p:spPr>
          <a:xfrm>
            <a:off x="914400" y="4419600"/>
            <a:ext cx="5181600" cy="4191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56:notes"/>
          <p:cNvSpPr/>
          <p:nvPr>
            <p:ph idx="2" type="sldImg"/>
          </p:nvPr>
        </p:nvSpPr>
        <p:spPr>
          <a:xfrm>
            <a:off x="390525" y="685800"/>
            <a:ext cx="6229350" cy="35052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5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9"/>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59"/>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1" name="Shape 31"/>
        <p:cNvGrpSpPr/>
        <p:nvPr/>
      </p:nvGrpSpPr>
      <p:grpSpPr>
        <a:xfrm>
          <a:off x="0" y="0"/>
          <a:ext cx="0" cy="0"/>
          <a:chOff x="0" y="0"/>
          <a:chExt cx="0" cy="0"/>
        </a:xfrm>
      </p:grpSpPr>
      <p:sp>
        <p:nvSpPr>
          <p:cNvPr id="32" name="Google Shape;32;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 name="Shape 37"/>
        <p:cNvGrpSpPr/>
        <p:nvPr/>
      </p:nvGrpSpPr>
      <p:grpSpPr>
        <a:xfrm>
          <a:off x="0" y="0"/>
          <a:ext cx="0" cy="0"/>
          <a:chOff x="0" y="0"/>
          <a:chExt cx="0" cy="0"/>
        </a:xfrm>
      </p:grpSpPr>
      <p:sp>
        <p:nvSpPr>
          <p:cNvPr id="38" name="Google Shape;38;p6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62"/>
          <p:cNvSpPr txBox="1"/>
          <p:nvPr>
            <p:ph idx="1" type="body"/>
          </p:nvPr>
        </p:nvSpPr>
        <p:spPr>
          <a:xfrm rot="5400000">
            <a:off x="3920332" y="-1256507"/>
            <a:ext cx="4351337"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3" name="Shape 43"/>
        <p:cNvGrpSpPr/>
        <p:nvPr/>
      </p:nvGrpSpPr>
      <p:grpSpPr>
        <a:xfrm>
          <a:off x="0" y="0"/>
          <a:ext cx="0" cy="0"/>
          <a:chOff x="0" y="0"/>
          <a:chExt cx="0" cy="0"/>
        </a:xfrm>
      </p:grpSpPr>
      <p:sp>
        <p:nvSpPr>
          <p:cNvPr id="44" name="Google Shape;44;p6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5" name="Google Shape;45;p63"/>
          <p:cNvSpPr/>
          <p:nvPr>
            <p:ph idx="2" type="pic"/>
          </p:nvPr>
        </p:nvSpPr>
        <p:spPr>
          <a:xfrm>
            <a:off x="5183188" y="987425"/>
            <a:ext cx="6172200" cy="4873625"/>
          </a:xfrm>
          <a:prstGeom prst="rect">
            <a:avLst/>
          </a:prstGeom>
          <a:noFill/>
          <a:ln>
            <a:noFill/>
          </a:ln>
        </p:spPr>
      </p:sp>
      <p:sp>
        <p:nvSpPr>
          <p:cNvPr id="46" name="Google Shape;46;p6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7" name="Google Shape;47;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2" name="Google Shape;52;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6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9" name="Google Shape;59;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6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4" name="Google Shape;64;p6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6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6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6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6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3" name="Google Shape;73;p6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6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6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6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81" name="Google Shape;81;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57"/>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hyperlink" Target="https://ecomputernotes.com/computernetworkingnotes/computer-network/protocol"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hyperlink" Target="https://ecomputernotes.com/computernetworkingnotes/computer-network/protocol"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2"/>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3600"/>
              <a:buFont typeface="Times New Roman"/>
              <a:buNone/>
            </a:pPr>
            <a:r>
              <a:rPr b="1" i="0" lang="en-US" sz="3600" u="none">
                <a:solidFill>
                  <a:schemeClr val="dk1"/>
                </a:solidFill>
                <a:latin typeface="Times New Roman"/>
                <a:ea typeface="Times New Roman"/>
                <a:cs typeface="Times New Roman"/>
                <a:sym typeface="Times New Roman"/>
              </a:rPr>
              <a:t>THE MEDIUM ACCESS CONTROL</a:t>
            </a:r>
            <a:br>
              <a:rPr b="1" i="0" lang="en-US" sz="3600" u="none">
                <a:solidFill>
                  <a:schemeClr val="dk1"/>
                </a:solidFill>
                <a:latin typeface="Times New Roman"/>
                <a:ea typeface="Times New Roman"/>
                <a:cs typeface="Times New Roman"/>
                <a:sym typeface="Times New Roman"/>
              </a:rPr>
            </a:br>
            <a:r>
              <a:rPr b="1" i="0" lang="en-US" sz="3600" u="none">
                <a:solidFill>
                  <a:schemeClr val="dk1"/>
                </a:solidFill>
                <a:latin typeface="Times New Roman"/>
                <a:ea typeface="Times New Roman"/>
                <a:cs typeface="Times New Roman"/>
                <a:sym typeface="Times New Roman"/>
              </a:rPr>
              <a:t>SUBLAYER</a:t>
            </a:r>
            <a:endParaRPr/>
          </a:p>
        </p:txBody>
      </p:sp>
      <p:sp>
        <p:nvSpPr>
          <p:cNvPr id="89" name="Google Shape;89;p1"/>
          <p:cNvSpPr txBox="1"/>
          <p:nvPr>
            <p:ph idx="1" type="subTitle"/>
          </p:nvPr>
        </p:nvSpPr>
        <p:spPr>
          <a:xfrm>
            <a:off x="1524000" y="3602037"/>
            <a:ext cx="9144000" cy="16557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a:t>Prepared by</a:t>
            </a:r>
            <a:endParaRPr/>
          </a:p>
          <a:p>
            <a:pPr indent="0" lvl="0" marL="0" rtl="0" algn="l">
              <a:spcBef>
                <a:spcPts val="0"/>
              </a:spcBef>
              <a:spcAft>
                <a:spcPts val="0"/>
              </a:spcAft>
              <a:buClr>
                <a:schemeClr val="dk1"/>
              </a:buClr>
              <a:buSzPts val="2400"/>
              <a:buNone/>
            </a:pPr>
            <a:r>
              <a:rPr lang="en-US"/>
              <a:t>Divya K S</a:t>
            </a:r>
            <a:endParaRPr/>
          </a:p>
          <a:p>
            <a:pPr indent="0" lvl="0" marL="0" rtl="0" algn="l">
              <a:spcBef>
                <a:spcPts val="0"/>
              </a:spcBef>
              <a:spcAft>
                <a:spcPts val="0"/>
              </a:spcAft>
              <a:buClr>
                <a:schemeClr val="dk1"/>
              </a:buClr>
              <a:buSzPts val="2400"/>
              <a:buNone/>
            </a:pPr>
            <a:r>
              <a:rPr lang="en-US"/>
              <a:t>Adi Shankara Institute of Engineering &amp; Technology </a:t>
            </a:r>
            <a:endParaRPr/>
          </a:p>
          <a:p>
            <a:pPr indent="0" lvl="0" marL="0" rtl="0" algn="l">
              <a:spcBef>
                <a:spcPts val="0"/>
              </a:spcBef>
              <a:spcAft>
                <a:spcPts val="0"/>
              </a:spcAft>
              <a:buClr>
                <a:schemeClr val="dk1"/>
              </a:buClr>
              <a:buSzPts val="2400"/>
              <a:buNone/>
            </a:pPr>
            <a:r>
              <a:rPr lang="en-US"/>
              <a:t>Kalady</a:t>
            </a:r>
            <a:endParaRPr/>
          </a:p>
          <a:p>
            <a:pPr indent="0" lvl="0" marL="0" rtl="0" algn="ctr">
              <a:lnSpc>
                <a:spcPct val="90000"/>
              </a:lnSpc>
              <a:spcBef>
                <a:spcPts val="0"/>
              </a:spcBef>
              <a:spcAft>
                <a:spcPts val="0"/>
              </a:spcAft>
              <a:buClr>
                <a:schemeClr val="dk1"/>
              </a:buClr>
              <a:buSzPts val="2400"/>
              <a:buNone/>
            </a:pPr>
            <a:r>
              <a:t/>
            </a:r>
            <a:endParaRPr/>
          </a:p>
        </p:txBody>
      </p:sp>
      <p:sp>
        <p:nvSpPr>
          <p:cNvPr id="90" name="Google Shape;90;p1"/>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 name="Google Shape;91;p1"/>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1" i="0" lang="en-US" sz="4400" u="none">
                <a:solidFill>
                  <a:schemeClr val="dk1"/>
                </a:solidFill>
                <a:latin typeface="Times New Roman"/>
                <a:ea typeface="Times New Roman"/>
                <a:cs typeface="Times New Roman"/>
                <a:sym typeface="Times New Roman"/>
              </a:rPr>
              <a:t>THE MEDIUM ACCESS CONTROL</a:t>
            </a:r>
            <a:br>
              <a:rPr b="1" i="0" lang="en-US" sz="4400" u="none">
                <a:solidFill>
                  <a:schemeClr val="dk1"/>
                </a:solidFill>
                <a:latin typeface="Times New Roman"/>
                <a:ea typeface="Times New Roman"/>
                <a:cs typeface="Times New Roman"/>
                <a:sym typeface="Times New Roman"/>
              </a:rPr>
            </a:br>
            <a:r>
              <a:rPr b="1" i="0" lang="en-US" sz="4400" u="none">
                <a:solidFill>
                  <a:schemeClr val="dk1"/>
                </a:solidFill>
                <a:latin typeface="Times New Roman"/>
                <a:ea typeface="Times New Roman"/>
                <a:cs typeface="Times New Roman"/>
                <a:sym typeface="Times New Roman"/>
              </a:rPr>
              <a:t>SUBLAYER</a:t>
            </a:r>
            <a:endParaRPr/>
          </a:p>
        </p:txBody>
      </p:sp>
      <p:sp>
        <p:nvSpPr>
          <p:cNvPr id="97" name="Google Shape;97;p2"/>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Data Link layer is divided into two sub layers: </a:t>
            </a:r>
            <a:endParaRPr/>
          </a:p>
          <a:p>
            <a:pPr indent="-228600" lvl="0" marL="228600" marR="0" rtl="0" algn="l">
              <a:lnSpc>
                <a:spcPct val="15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1. Logical Link Control (LLC)- </a:t>
            </a:r>
            <a:endParaRPr/>
          </a:p>
          <a:p>
            <a:pPr indent="-228600" lvl="1" marL="685800" marR="0" rtl="0" algn="l">
              <a:lnSpc>
                <a:spcPct val="15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is responsible for error control &amp; flow control. </a:t>
            </a:r>
            <a:endParaRPr/>
          </a:p>
          <a:p>
            <a:pPr indent="-228600" lvl="0" marL="228600" marR="0" rtl="0" algn="l">
              <a:lnSpc>
                <a:spcPct val="15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2. Medium Access Control (MAC)-</a:t>
            </a:r>
            <a:endParaRPr/>
          </a:p>
          <a:p>
            <a:pPr indent="-228600" lvl="1" marL="685800" marR="0" rtl="0" algn="l">
              <a:lnSpc>
                <a:spcPct val="15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MAC is responsible for multiple access resolutions</a:t>
            </a:r>
            <a:endParaRPr/>
          </a:p>
        </p:txBody>
      </p:sp>
      <p:sp>
        <p:nvSpPr>
          <p:cNvPr id="98" name="Google Shape;98;p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 name="Google Shape;99;p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pic>
        <p:nvPicPr>
          <p:cNvPr id="100" name="Google Shape;100;p2"/>
          <p:cNvPicPr preferRelativeResize="0"/>
          <p:nvPr/>
        </p:nvPicPr>
        <p:blipFill rotWithShape="1">
          <a:blip r:embed="rId3">
            <a:alphaModFix/>
          </a:blip>
          <a:srcRect b="0" l="0" r="0" t="0"/>
          <a:stretch/>
        </p:blipFill>
        <p:spPr>
          <a:xfrm>
            <a:off x="8183562" y="1646237"/>
            <a:ext cx="3170237" cy="35829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838200" y="365125"/>
            <a:ext cx="10515600" cy="6159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Types of channels</a:t>
            </a:r>
            <a:endParaRPr/>
          </a:p>
        </p:txBody>
      </p:sp>
      <p:sp>
        <p:nvSpPr>
          <p:cNvPr id="106" name="Google Shape;106;p3"/>
          <p:cNvSpPr txBox="1"/>
          <p:nvPr>
            <p:ph idx="1" type="body"/>
          </p:nvPr>
        </p:nvSpPr>
        <p:spPr>
          <a:xfrm>
            <a:off x="838200" y="1268412"/>
            <a:ext cx="10515600" cy="52562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Channels are of two types</a:t>
            </a:r>
            <a:endParaRPr/>
          </a:p>
          <a:p>
            <a:pPr indent="-457199" lvl="1" marL="515937" marR="0" rtl="0" algn="l">
              <a:lnSpc>
                <a:spcPct val="200000"/>
              </a:lnSpc>
              <a:spcBef>
                <a:spcPts val="5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Point to point</a:t>
            </a:r>
            <a:endParaRPr/>
          </a:p>
          <a:p>
            <a:pPr indent="-457199" lvl="2" marL="973137" marR="0" rtl="0" algn="l">
              <a:lnSpc>
                <a:spcPct val="200000"/>
              </a:lnSpc>
              <a:spcBef>
                <a:spcPts val="50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Dedicated connection</a:t>
            </a:r>
            <a:r>
              <a:rPr b="0" i="0" lang="en-US" sz="2000" u="none" cap="none" strike="noStrike">
                <a:solidFill>
                  <a:schemeClr val="dk1"/>
                </a:solidFill>
                <a:latin typeface="Calibri"/>
                <a:ea typeface="Calibri"/>
                <a:cs typeface="Calibri"/>
                <a:sym typeface="Calibri"/>
              </a:rPr>
              <a:t> between two communication endpoints or nodes</a:t>
            </a:r>
            <a:endParaRPr b="0" i="0" sz="2000" u="none" cap="none" strike="noStrike">
              <a:solidFill>
                <a:schemeClr val="dk1"/>
              </a:solidFill>
              <a:latin typeface="Calibri"/>
              <a:ea typeface="Calibri"/>
              <a:cs typeface="Calibri"/>
              <a:sym typeface="Calibri"/>
            </a:endParaRPr>
          </a:p>
          <a:p>
            <a:pPr indent="-457199" lvl="1" marL="515937" marR="0" rtl="0" algn="l">
              <a:lnSpc>
                <a:spcPct val="200000"/>
              </a:lnSpc>
              <a:spcBef>
                <a:spcPts val="5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Broadcast </a:t>
            </a:r>
            <a:endParaRPr/>
          </a:p>
          <a:p>
            <a:pPr indent="-457199" lvl="2" marL="973137"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Also called</a:t>
            </a:r>
            <a:endParaRPr/>
          </a:p>
          <a:p>
            <a:pPr indent="-228600" lvl="3" marL="16002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Multiaccess Channels or Random Access Channels</a:t>
            </a:r>
            <a:endParaRPr/>
          </a:p>
          <a:p>
            <a:pPr indent="-228600" lvl="3" marL="16002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Single channel is shared by multiple users </a:t>
            </a:r>
            <a:endParaRPr/>
          </a:p>
          <a:p>
            <a:pPr indent="-228600" lvl="3" marL="16002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Determining who will use the channel next is a problem</a:t>
            </a:r>
            <a:endParaRPr/>
          </a:p>
          <a:p>
            <a:pPr indent="-76200" lvl="3" marL="16002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76200" lvl="3" marL="16002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07" name="Google Shape;107;p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 name="Google Shape;108;p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animEffect filter="fade" transition="in">
                                      <p:cBhvr>
                                        <p:cTn dur="500"/>
                                        <p:tgtEl>
                                          <p:spTgt spid="1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animEffect filter="fade" transition="in">
                                      <p:cBhvr>
                                        <p:cTn dur="500"/>
                                        <p:tgtEl>
                                          <p:spTgt spid="1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animEffect filter="fade" transition="in">
                                      <p:cBhvr>
                                        <p:cTn dur="500"/>
                                        <p:tgtEl>
                                          <p:spTgt spid="1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animEffect filter="fade" transition="in">
                                      <p:cBhvr>
                                        <p:cTn dur="500"/>
                                        <p:tgtEl>
                                          <p:spTgt spid="1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animEffect filter="fade" transition="in">
                                      <p:cBhvr>
                                        <p:cTn dur="500"/>
                                        <p:tgtEl>
                                          <p:spTgt spid="1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animEffect filter="fade" transition="in">
                                      <p:cBhvr>
                                        <p:cTn dur="500"/>
                                        <p:tgtEl>
                                          <p:spTgt spid="1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animEffect filter="fade" transition="in">
                                      <p:cBhvr>
                                        <p:cTn dur="500"/>
                                        <p:tgtEl>
                                          <p:spTgt spid="1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7" st="7"/>
                                            </p:txEl>
                                          </p:spTgt>
                                        </p:tgtEl>
                                        <p:attrNameLst>
                                          <p:attrName>style.visibility</p:attrName>
                                        </p:attrNameLst>
                                      </p:cBhvr>
                                      <p:to>
                                        <p:strVal val="visible"/>
                                      </p:to>
                                    </p:set>
                                    <p:animEffect filter="fade" transition="in">
                                      <p:cBhvr>
                                        <p:cTn dur="500"/>
                                        <p:tgtEl>
                                          <p:spTgt spid="1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8" st="8"/>
                                            </p:txEl>
                                          </p:spTgt>
                                        </p:tgtEl>
                                        <p:attrNameLst>
                                          <p:attrName>style.visibility</p:attrName>
                                        </p:attrNameLst>
                                      </p:cBhvr>
                                      <p:to>
                                        <p:strVal val="visible"/>
                                      </p:to>
                                    </p:set>
                                    <p:animEffect filter="fade" transition="in">
                                      <p:cBhvr>
                                        <p:cTn dur="500"/>
                                        <p:tgtEl>
                                          <p:spTgt spid="1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9" st="9"/>
                                            </p:txEl>
                                          </p:spTgt>
                                        </p:tgtEl>
                                        <p:attrNameLst>
                                          <p:attrName>style.visibility</p:attrName>
                                        </p:attrNameLst>
                                      </p:cBhvr>
                                      <p:to>
                                        <p:strVal val="visible"/>
                                      </p:to>
                                    </p:set>
                                    <p:animEffect filter="fade" transition="in">
                                      <p:cBhvr>
                                        <p:cTn dur="500"/>
                                        <p:tgtEl>
                                          <p:spTgt spid="1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xEl>
                                              <p:pRg end="10" st="10"/>
                                            </p:txEl>
                                          </p:spTgt>
                                        </p:tgtEl>
                                        <p:attrNameLst>
                                          <p:attrName>style.visibility</p:attrName>
                                        </p:attrNameLst>
                                      </p:cBhvr>
                                      <p:to>
                                        <p:strVal val="visible"/>
                                      </p:to>
                                    </p:set>
                                    <p:animEffect filter="fade" transition="in">
                                      <p:cBhvr>
                                        <p:cTn dur="500"/>
                                        <p:tgtEl>
                                          <p:spTgt spid="10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Broadcast Channels</a:t>
            </a:r>
            <a:endParaRPr/>
          </a:p>
        </p:txBody>
      </p:sp>
      <p:sp>
        <p:nvSpPr>
          <p:cNvPr id="114" name="Google Shape;114;p4"/>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Also called</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Multiaccess Channels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Random Access Channels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Single channel is shared by multiple users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Determining who will use the channel next is a problem</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Medium Access Control (MAC) sublayer solves this problem and the protocols for  channel allocation  </a:t>
            </a:r>
            <a:r>
              <a:rPr b="0" i="0" lang="en-US" sz="2800" u="none">
                <a:solidFill>
                  <a:srgbClr val="FF0000"/>
                </a:solidFill>
                <a:latin typeface="Calibri"/>
                <a:ea typeface="Calibri"/>
                <a:cs typeface="Calibri"/>
                <a:sym typeface="Calibri"/>
              </a:rPr>
              <a:t>MAC protocols </a:t>
            </a:r>
            <a:r>
              <a:rPr b="0" i="0" lang="en-US" sz="2800" u="none">
                <a:solidFill>
                  <a:schemeClr val="dk1"/>
                </a:solidFill>
                <a:latin typeface="Calibri"/>
                <a:ea typeface="Calibri"/>
                <a:cs typeface="Calibri"/>
                <a:sym typeface="Calibri"/>
              </a:rPr>
              <a:t>or multiple access protocols.</a:t>
            </a:r>
            <a:endParaRPr/>
          </a:p>
        </p:txBody>
      </p:sp>
      <p:sp>
        <p:nvSpPr>
          <p:cNvPr id="115" name="Google Shape;115;p4"/>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 name="Google Shape;116;p4"/>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5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5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5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5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5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5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5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500"/>
                                        <p:tgtEl>
                                          <p:spTgt spid="11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CHANNEL ALLOCATION PROBLEM</a:t>
            </a:r>
            <a:endParaRPr/>
          </a:p>
        </p:txBody>
      </p:sp>
      <p:sp>
        <p:nvSpPr>
          <p:cNvPr id="122" name="Google Shape;122;p5"/>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2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broadcast networks, single channel is shared by several stations. </a:t>
            </a:r>
            <a:endParaRPr/>
          </a:p>
          <a:p>
            <a:pPr indent="-228600" lvl="0" marL="228600" marR="0" rtl="0" algn="l">
              <a:lnSpc>
                <a:spcPct val="20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channel can be allocated to only one transmitting user at a time. There are two different methods of channel allocations: </a:t>
            </a:r>
            <a:endParaRPr/>
          </a:p>
          <a:p>
            <a:pPr indent="-228600" lvl="1" marL="685800" marR="0" rtl="0" algn="l">
              <a:lnSpc>
                <a:spcPct val="20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1. Static Channel </a:t>
            </a:r>
            <a:endParaRPr/>
          </a:p>
          <a:p>
            <a:pPr indent="-228600" lvl="1" marL="685800" marR="0" rtl="0" algn="l">
              <a:lnSpc>
                <a:spcPct val="20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2. Dynamic Channel Allocation</a:t>
            </a:r>
            <a:endParaRPr/>
          </a:p>
        </p:txBody>
      </p:sp>
      <p:sp>
        <p:nvSpPr>
          <p:cNvPr id="123" name="Google Shape;123;p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4" name="Google Shape;124;p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animEffect filter="fade" transition="in">
                                      <p:cBhvr>
                                        <p:cTn dur="500"/>
                                        <p:tgtEl>
                                          <p:spTgt spid="1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animEffect filter="fade" transition="in">
                                      <p:cBhvr>
                                        <p:cTn dur="500"/>
                                        <p:tgtEl>
                                          <p:spTgt spid="1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animEffect filter="fade" transition="in">
                                      <p:cBhvr>
                                        <p:cTn dur="500"/>
                                        <p:tgtEl>
                                          <p:spTgt spid="1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animEffect filter="fade" transition="in">
                                      <p:cBhvr>
                                        <p:cTn dur="500"/>
                                        <p:tgtEl>
                                          <p:spTgt spid="12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CHANNEL ALLOCATION PROBLEM</a:t>
            </a:r>
            <a:endParaRPr/>
          </a:p>
        </p:txBody>
      </p:sp>
      <p:sp>
        <p:nvSpPr>
          <p:cNvPr id="130" name="Google Shape;130;p6"/>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1. Static Channel Allocation-</a:t>
            </a:r>
            <a:endParaRPr/>
          </a:p>
          <a:p>
            <a:pPr indent="-228600" lvl="1" marL="685800" marR="0" rtl="0" algn="l">
              <a:lnSpc>
                <a:spcPct val="15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a single channel is divided among various users either on the basis of frequency (FDM) or on the basis of time (TDM).</a:t>
            </a:r>
            <a:endParaRPr/>
          </a:p>
          <a:p>
            <a:pPr indent="-228600" lvl="1" marL="685800" marR="0" rtl="0" algn="l">
              <a:lnSpc>
                <a:spcPct val="150000"/>
              </a:lnSpc>
              <a:spcBef>
                <a:spcPts val="5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In FDM, fixed frequency is assigned to each user, whereas, in TDM, fixed time slot is assigned to each user.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31" name="Google Shape;131;p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2" name="Google Shape;132;p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CHANNEL ALLOCATION PROBLEM</a:t>
            </a:r>
            <a:endParaRPr/>
          </a:p>
        </p:txBody>
      </p:sp>
      <p:sp>
        <p:nvSpPr>
          <p:cNvPr id="138" name="Google Shape;138;p7"/>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2. Dynamic Channel Allocation- </a:t>
            </a:r>
            <a:endParaRPr/>
          </a:p>
          <a:p>
            <a:pPr indent="-228600" lvl="1" marL="685800" marR="0" rtl="0" algn="l">
              <a:lnSpc>
                <a:spcPct val="20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no user is assigned fixed frequency or fixed time slot. </a:t>
            </a:r>
            <a:endParaRPr/>
          </a:p>
          <a:p>
            <a:pPr indent="-228600" lvl="1" marL="685800" marR="0" rtl="0" algn="l">
              <a:lnSpc>
                <a:spcPct val="20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All users are dynamically assigned frequency or time slot, depending upon the requirements of the user</a:t>
            </a:r>
            <a:endParaRPr/>
          </a:p>
        </p:txBody>
      </p:sp>
      <p:sp>
        <p:nvSpPr>
          <p:cNvPr id="139" name="Google Shape;139;p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 name="Google Shape;140;p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MULTIPLE ACCESS PROTOCOLS</a:t>
            </a:r>
            <a:endParaRPr/>
          </a:p>
        </p:txBody>
      </p:sp>
      <p:sp>
        <p:nvSpPr>
          <p:cNvPr id="146" name="Google Shape;146;p8"/>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Protocols for   dynamic channel allocation</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Determines which stations can use the channel ie when station can transmit</a:t>
            </a:r>
            <a:endParaRPr/>
          </a:p>
          <a:p>
            <a:pPr indent="-2286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147" name="Google Shape;147;p8"/>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8" name="Google Shape;148;p8"/>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4" name="Google Shape;154;p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pic>
        <p:nvPicPr>
          <p:cNvPr id="155" name="Google Shape;155;p9"/>
          <p:cNvPicPr preferRelativeResize="0"/>
          <p:nvPr/>
        </p:nvPicPr>
        <p:blipFill rotWithShape="1">
          <a:blip r:embed="rId3">
            <a:alphaModFix/>
          </a:blip>
          <a:srcRect b="0" l="0" r="0" t="0"/>
          <a:stretch/>
        </p:blipFill>
        <p:spPr>
          <a:xfrm>
            <a:off x="1558925" y="981075"/>
            <a:ext cx="8394700" cy="5591175"/>
          </a:xfrm>
          <a:prstGeom prst="rect">
            <a:avLst/>
          </a:prstGeom>
          <a:noFill/>
          <a:ln>
            <a:noFill/>
          </a:ln>
        </p:spPr>
      </p:pic>
      <p:sp>
        <p:nvSpPr>
          <p:cNvPr id="156" name="Google Shape;156;p9"/>
          <p:cNvSpPr txBox="1"/>
          <p:nvPr/>
        </p:nvSpPr>
        <p:spPr>
          <a:xfrm>
            <a:off x="4024312" y="5072062"/>
            <a:ext cx="1357312" cy="928687"/>
          </a:xfrm>
          <a:prstGeom prst="rect">
            <a:avLst/>
          </a:prstGeom>
          <a:noFill/>
          <a:ln cap="flat" cmpd="sng" w="9525">
            <a:solidFill>
              <a:schemeClr val="dk1"/>
            </a:solidFill>
            <a:prstDash val="solid"/>
            <a:round/>
            <a:headEnd len="sm" w="sm" type="none"/>
            <a:tailEnd len="sm" w="sm" type="none"/>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Random Access Protocols</a:t>
            </a:r>
            <a:br>
              <a:rPr b="0" i="0" lang="en-US" sz="4400" u="none">
                <a:solidFill>
                  <a:schemeClr val="dk1"/>
                </a:solidFill>
                <a:latin typeface="Calibri"/>
                <a:ea typeface="Calibri"/>
                <a:cs typeface="Calibri"/>
                <a:sym typeface="Calibri"/>
              </a:rPr>
            </a:br>
            <a:endParaRPr/>
          </a:p>
        </p:txBody>
      </p:sp>
      <p:sp>
        <p:nvSpPr>
          <p:cNvPr id="162" name="Google Shape;162;p10"/>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Random access protocols assign uniform priority to all connected nodes.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Any node can send data if the transmission channel is idle.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No fixed time or fixed sequence is given for data transmission.</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163" name="Google Shape;163;p1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4" name="Google Shape;164;p1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5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5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5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5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500"/>
                                        <p:tgtEl>
                                          <p:spTgt spid="16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Controlled Access Protocols</a:t>
            </a:r>
            <a:br>
              <a:rPr b="0" i="0" lang="en-US" sz="4400" u="none">
                <a:solidFill>
                  <a:schemeClr val="dk1"/>
                </a:solidFill>
                <a:latin typeface="Calibri"/>
                <a:ea typeface="Calibri"/>
                <a:cs typeface="Calibri"/>
                <a:sym typeface="Calibri"/>
              </a:rPr>
            </a:br>
            <a:endParaRPr/>
          </a:p>
        </p:txBody>
      </p:sp>
      <p:sp>
        <p:nvSpPr>
          <p:cNvPr id="170" name="Google Shape;170;p11"/>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Controlled access protocols allow only one node to send data at a given time.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Before initiating transmission, a node seeks information from other nodes to determine which station has the right to send.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avoids collision of messages on the shared channel</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171" name="Google Shape;171;p11"/>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2" name="Google Shape;172;p11"/>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500"/>
                                        <p:tgtEl>
                                          <p:spTgt spid="1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500"/>
                                        <p:tgtEl>
                                          <p:spTgt spid="1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500"/>
                                        <p:tgtEl>
                                          <p:spTgt spid="1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500"/>
                                        <p:tgtEl>
                                          <p:spTgt spid="1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Effect filter="fade" transition="in">
                                      <p:cBhvr>
                                        <p:cTn dur="500"/>
                                        <p:tgtEl>
                                          <p:spTgt spid="1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Effect filter="fade" transition="in">
                                      <p:cBhvr>
                                        <p:cTn dur="500"/>
                                        <p:tgtEl>
                                          <p:spTgt spid="17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Channelization</a:t>
            </a:r>
            <a:br>
              <a:rPr b="0" i="0" lang="en-US" sz="4400" u="none">
                <a:solidFill>
                  <a:schemeClr val="dk1"/>
                </a:solidFill>
                <a:latin typeface="Calibri"/>
                <a:ea typeface="Calibri"/>
                <a:cs typeface="Calibri"/>
                <a:sym typeface="Calibri"/>
              </a:rPr>
            </a:br>
            <a:endParaRPr/>
          </a:p>
        </p:txBody>
      </p:sp>
      <p:sp>
        <p:nvSpPr>
          <p:cNvPr id="178" name="Google Shape;178;p12"/>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Channelization are a set of methods by which the available bandwidth</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is divided among the different nodes for simultaneous data transfer.</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179" name="Google Shape;179;p1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0" name="Google Shape;180;p1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ALOHA</a:t>
            </a:r>
            <a:endParaRPr/>
          </a:p>
        </p:txBody>
      </p:sp>
      <p:sp>
        <p:nvSpPr>
          <p:cNvPr id="186" name="Google Shape;186;p1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Having the meaning “hello”</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Uses ground based radio broadcasting</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this method, stations share a common channel.</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When two stations transmit simultaneously, collision occurs which results in frame loss</a:t>
            </a:r>
            <a:endParaRPr/>
          </a:p>
        </p:txBody>
      </p:sp>
      <p:sp>
        <p:nvSpPr>
          <p:cNvPr id="187" name="Google Shape;187;p1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8" name="Google Shape;188;p1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aloha</a:t>
            </a:r>
            <a:endParaRPr/>
          </a:p>
        </p:txBody>
      </p:sp>
      <p:pic>
        <p:nvPicPr>
          <p:cNvPr id="194" name="Google Shape;194;p14"/>
          <p:cNvPicPr preferRelativeResize="0"/>
          <p:nvPr>
            <p:ph idx="1" type="body"/>
          </p:nvPr>
        </p:nvPicPr>
        <p:blipFill rotWithShape="1">
          <a:blip r:embed="rId3">
            <a:alphaModFix/>
          </a:blip>
          <a:srcRect b="0" l="0" r="0" t="0"/>
          <a:stretch/>
        </p:blipFill>
        <p:spPr>
          <a:xfrm>
            <a:off x="2452687" y="1571625"/>
            <a:ext cx="7500937" cy="3786187"/>
          </a:xfrm>
          <a:prstGeom prst="rect">
            <a:avLst/>
          </a:prstGeom>
          <a:noFill/>
          <a:ln>
            <a:noFill/>
          </a:ln>
        </p:spPr>
      </p:pic>
      <p:sp>
        <p:nvSpPr>
          <p:cNvPr id="195" name="Google Shape;195;p14"/>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6" name="Google Shape;196;p14"/>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Pure ALOHA</a:t>
            </a:r>
            <a:endParaRPr/>
          </a:p>
        </p:txBody>
      </p:sp>
      <p:sp>
        <p:nvSpPr>
          <p:cNvPr id="202" name="Google Shape;202;p15"/>
          <p:cNvSpPr txBox="1"/>
          <p:nvPr>
            <p:ph idx="1" type="body"/>
          </p:nvPr>
        </p:nvSpPr>
        <p:spPr>
          <a:xfrm>
            <a:off x="838200" y="1484312"/>
            <a:ext cx="10515600" cy="5040312"/>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In pure ALOHA, stations transmit frames whenever they have data to send.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When two stations transmit simultaneously, </a:t>
            </a:r>
            <a:r>
              <a:rPr b="0" i="0" lang="en-US" sz="2800" u="none">
                <a:solidFill>
                  <a:schemeClr val="dk1"/>
                </a:solidFill>
                <a:latin typeface="Calibri"/>
                <a:ea typeface="Calibri"/>
                <a:cs typeface="Calibri"/>
                <a:sym typeface="Calibri"/>
              </a:rPr>
              <a:t>will be collisions and the colliding frames will be damaged.</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the frame was destroyed, the sender just waits a random amount of time and sends it again.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Times New Roman"/>
                <a:ea typeface="Times New Roman"/>
                <a:cs typeface="Times New Roman"/>
                <a:sym typeface="Times New Roman"/>
              </a:rPr>
              <a:t>To maximize throughput of ALOHA systems all  frames have uniform size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p:txBody>
      </p:sp>
      <p:sp>
        <p:nvSpPr>
          <p:cNvPr id="203" name="Google Shape;203;p1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4" name="Google Shape;204;p1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Frames in Pure ALOHA</a:t>
            </a:r>
            <a:endParaRPr/>
          </a:p>
        </p:txBody>
      </p:sp>
      <p:sp>
        <p:nvSpPr>
          <p:cNvPr id="210" name="Google Shape;210;p1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1" name="Google Shape;211;p1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
        <p:nvSpPr>
          <p:cNvPr id="212" name="Google Shape;212;p16"/>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pic>
        <p:nvPicPr>
          <p:cNvPr id="213" name="Google Shape;213;p16"/>
          <p:cNvPicPr preferRelativeResize="0"/>
          <p:nvPr/>
        </p:nvPicPr>
        <p:blipFill rotWithShape="1">
          <a:blip r:embed="rId3">
            <a:alphaModFix/>
          </a:blip>
          <a:srcRect b="0" l="0" r="0" t="0"/>
          <a:stretch/>
        </p:blipFill>
        <p:spPr>
          <a:xfrm>
            <a:off x="1416050" y="2019300"/>
            <a:ext cx="9144000" cy="415766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Pure ALOHA</a:t>
            </a:r>
            <a:endParaRPr/>
          </a:p>
        </p:txBody>
      </p:sp>
      <p:sp>
        <p:nvSpPr>
          <p:cNvPr id="219" name="Google Shape;219;p1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0" name="Google Shape;220;p1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
        <p:nvSpPr>
          <p:cNvPr id="221" name="Google Shape;221;p17"/>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Whenever two frames try to occupy the channel at the same time, there will be a collision and both will be garbled.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the first bit of a new frame overlaps with just the last bit of a frame that has almost finished, both frames will be totally destroyed (i.e., have incorrect checksums) and both will have to be retransmitted later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THROUGHPUT OF PURE ALOHA</a:t>
            </a:r>
            <a:endParaRPr/>
          </a:p>
        </p:txBody>
      </p:sp>
      <p:sp>
        <p:nvSpPr>
          <p:cNvPr id="227" name="Google Shape;227;p18"/>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Throughput ,S=G*P0</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Where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G  is the average number of old and new frame submissions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a:t>
            </a:r>
            <a:r>
              <a:rPr b="0" baseline="-25000" i="0" lang="en-US" sz="2500" u="none" cap="none" strike="noStrike">
                <a:solidFill>
                  <a:schemeClr val="dk1"/>
                </a:solidFill>
                <a:latin typeface="Calibri"/>
                <a:ea typeface="Calibri"/>
                <a:cs typeface="Calibri"/>
                <a:sym typeface="Calibri"/>
              </a:rPr>
              <a:t>0</a:t>
            </a:r>
            <a:r>
              <a:rPr b="0" i="0" lang="en-US" sz="2400" u="none" cap="none" strike="noStrike">
                <a:solidFill>
                  <a:schemeClr val="dk1"/>
                </a:solidFill>
                <a:latin typeface="Calibri"/>
                <a:ea typeface="Calibri"/>
                <a:cs typeface="Calibri"/>
                <a:sym typeface="Calibri"/>
              </a:rPr>
              <a:t> = probability that a frame does not suffer a collision</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P0=e</a:t>
            </a:r>
            <a:r>
              <a:rPr b="0" baseline="30000" i="0" lang="en-US" sz="2400" u="none" cap="none" strike="noStrike">
                <a:solidFill>
                  <a:schemeClr val="dk1"/>
                </a:solidFill>
                <a:latin typeface="Calibri"/>
                <a:ea typeface="Calibri"/>
                <a:cs typeface="Calibri"/>
                <a:sym typeface="Calibri"/>
              </a:rPr>
              <a:t>-2G</a:t>
            </a:r>
            <a:r>
              <a:rPr b="0" i="0" lang="en-US" sz="2400" u="none" cap="none" strike="noStrike">
                <a:solidFill>
                  <a:schemeClr val="dk1"/>
                </a:solidFill>
                <a:latin typeface="Calibri"/>
                <a:ea typeface="Calibri"/>
                <a:cs typeface="Calibri"/>
                <a:sym typeface="Calibri"/>
              </a:rPr>
              <a:t>   </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And  S=G*e</a:t>
            </a:r>
            <a:r>
              <a:rPr b="0" baseline="30000" i="0" lang="en-US" sz="2400" u="none" cap="none" strike="noStrike">
                <a:solidFill>
                  <a:schemeClr val="dk1"/>
                </a:solidFill>
                <a:latin typeface="Calibri"/>
                <a:ea typeface="Calibri"/>
                <a:cs typeface="Calibri"/>
                <a:sym typeface="Calibri"/>
              </a:rPr>
              <a:t>-2G</a:t>
            </a:r>
            <a:r>
              <a:rPr b="0" i="0" lang="en-US" sz="2400" u="none" cap="none" strike="noStrike">
                <a:solidFill>
                  <a:schemeClr val="dk1"/>
                </a:solidFill>
                <a:latin typeface="Calibri"/>
                <a:ea typeface="Calibri"/>
                <a:cs typeface="Calibri"/>
                <a:sym typeface="Calibri"/>
              </a:rPr>
              <a:t>   </a:t>
            </a:r>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28" name="Google Shape;228;p18"/>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9" name="Google Shape;229;p18"/>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9"/>
          <p:cNvSpPr txBox="1"/>
          <p:nvPr>
            <p:ph type="title"/>
          </p:nvPr>
        </p:nvSpPr>
        <p:spPr>
          <a:xfrm>
            <a:off x="838200" y="260350"/>
            <a:ext cx="10515600" cy="7921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1" lang="en-US" sz="4400" u="none">
                <a:solidFill>
                  <a:schemeClr val="dk1"/>
                </a:solidFill>
                <a:latin typeface="Calibri"/>
                <a:ea typeface="Calibri"/>
                <a:cs typeface="Calibri"/>
                <a:sym typeface="Calibri"/>
              </a:rPr>
              <a:t>Vulnerable time:</a:t>
            </a:r>
            <a:br>
              <a:rPr b="0" i="0" lang="en-US" sz="4400" u="none">
                <a:solidFill>
                  <a:schemeClr val="dk1"/>
                </a:solidFill>
                <a:latin typeface="Calibri"/>
                <a:ea typeface="Calibri"/>
                <a:cs typeface="Calibri"/>
                <a:sym typeface="Calibri"/>
              </a:rPr>
            </a:br>
            <a:endParaRPr/>
          </a:p>
        </p:txBody>
      </p:sp>
      <p:sp>
        <p:nvSpPr>
          <p:cNvPr id="235" name="Google Shape;235;p19"/>
          <p:cNvSpPr txBox="1"/>
          <p:nvPr>
            <p:ph idx="1" type="body"/>
          </p:nvPr>
        </p:nvSpPr>
        <p:spPr>
          <a:xfrm>
            <a:off x="838200" y="1052512"/>
            <a:ext cx="10515600" cy="51244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vulnerable time is in which there is a possibility of collision.</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We assume that the stations send fixed-length frames with each frame taking Tfr S to send. The following figure shows the vulnerable time for station A.</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vulnerable time for pure aloha is 2* Tfr</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36" name="Google Shape;236;p19"/>
          <p:cNvSpPr txBox="1"/>
          <p:nvPr/>
        </p:nvSpPr>
        <p:spPr>
          <a:xfrm>
            <a:off x="838200" y="6356350"/>
            <a:ext cx="9866312"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7" name="Google Shape;237;p1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pic>
        <p:nvPicPr>
          <p:cNvPr id="238" name="Google Shape;238;p19"/>
          <p:cNvPicPr preferRelativeResize="0"/>
          <p:nvPr/>
        </p:nvPicPr>
        <p:blipFill rotWithShape="1">
          <a:blip r:embed="rId3">
            <a:alphaModFix/>
          </a:blip>
          <a:srcRect b="0" l="0" r="0" t="0"/>
          <a:stretch/>
        </p:blipFill>
        <p:spPr>
          <a:xfrm>
            <a:off x="2782887" y="3644900"/>
            <a:ext cx="6210300" cy="2324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ADVANTAGES OF PURE ALOHA</a:t>
            </a:r>
            <a:endParaRPr/>
          </a:p>
        </p:txBody>
      </p:sp>
      <p:sp>
        <p:nvSpPr>
          <p:cNvPr id="244" name="Google Shape;244;p20"/>
          <p:cNvSpPr txBox="1"/>
          <p:nvPr>
            <p:ph idx="1" type="body"/>
          </p:nvPr>
        </p:nvSpPr>
        <p:spPr>
          <a:xfrm>
            <a:off x="1495425" y="1420812"/>
            <a:ext cx="9144000" cy="5132387"/>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Superior to fixed assignment when there is a large no: of bursty stations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Adapts to varying number of stations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DISADVANTAGES OF PURE ALOHA</a:t>
            </a:r>
            <a:endParaRPr/>
          </a:p>
        </p:txBody>
      </p:sp>
      <p:sp>
        <p:nvSpPr>
          <p:cNvPr id="250" name="Google Shape;250;p21"/>
          <p:cNvSpPr txBox="1"/>
          <p:nvPr>
            <p:ph idx="1" type="body"/>
          </p:nvPr>
        </p:nvSpPr>
        <p:spPr>
          <a:xfrm>
            <a:off x="1524000" y="1139825"/>
            <a:ext cx="9144000" cy="5413375"/>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Theoretically proven output is only 18.4%</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Requires queueing buffers for retransmission of packets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Slotted aloha</a:t>
            </a:r>
            <a:endParaRPr/>
          </a:p>
        </p:txBody>
      </p:sp>
      <p:pic>
        <p:nvPicPr>
          <p:cNvPr id="256" name="Google Shape;256;p22"/>
          <p:cNvPicPr preferRelativeResize="0"/>
          <p:nvPr>
            <p:ph idx="1" type="body"/>
          </p:nvPr>
        </p:nvPicPr>
        <p:blipFill rotWithShape="1">
          <a:blip r:embed="rId3">
            <a:alphaModFix/>
          </a:blip>
          <a:srcRect b="0" l="0" r="0" t="0"/>
          <a:stretch/>
        </p:blipFill>
        <p:spPr>
          <a:xfrm>
            <a:off x="1524000" y="1285875"/>
            <a:ext cx="8072437" cy="4143375"/>
          </a:xfrm>
          <a:prstGeom prst="rect">
            <a:avLst/>
          </a:prstGeom>
          <a:noFill/>
          <a:ln>
            <a:noFill/>
          </a:ln>
        </p:spPr>
      </p:pic>
      <p:sp>
        <p:nvSpPr>
          <p:cNvPr id="257" name="Google Shape;257;p2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8" name="Google Shape;258;p2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Slotted aloha</a:t>
            </a:r>
            <a:endParaRPr/>
          </a:p>
        </p:txBody>
      </p:sp>
      <p:sp>
        <p:nvSpPr>
          <p:cNvPr id="264" name="Google Shape;264;p2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265" name="Google Shape;265;p2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66" name="Google Shape;266;p2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pic>
        <p:nvPicPr>
          <p:cNvPr id="267" name="Google Shape;267;p23"/>
          <p:cNvPicPr preferRelativeResize="0"/>
          <p:nvPr/>
        </p:nvPicPr>
        <p:blipFill rotWithShape="1">
          <a:blip r:embed="rId3">
            <a:alphaModFix/>
          </a:blip>
          <a:srcRect b="0" l="0" r="0" t="0"/>
          <a:stretch/>
        </p:blipFill>
        <p:spPr>
          <a:xfrm>
            <a:off x="1200150" y="1557337"/>
            <a:ext cx="7920037" cy="43926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Throughput  of Slotted ALOHA </a:t>
            </a:r>
            <a:endParaRPr/>
          </a:p>
        </p:txBody>
      </p:sp>
      <p:sp>
        <p:nvSpPr>
          <p:cNvPr id="273" name="Google Shape;273;p24"/>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S = G e</a:t>
            </a:r>
            <a:r>
              <a:rPr b="0" baseline="30000" i="0" lang="en-US" sz="2900" u="none">
                <a:solidFill>
                  <a:schemeClr val="dk1"/>
                </a:solidFill>
                <a:latin typeface="Calibri"/>
                <a:ea typeface="Calibri"/>
                <a:cs typeface="Calibri"/>
                <a:sym typeface="Calibri"/>
              </a:rPr>
              <a:t>-G</a:t>
            </a:r>
            <a:endParaRPr/>
          </a:p>
          <a:p>
            <a:pPr indent="-44450" lvl="0" marL="228600" marR="0" rtl="0" algn="l">
              <a:lnSpc>
                <a:spcPct val="90000"/>
              </a:lnSpc>
              <a:spcBef>
                <a:spcPts val="1000"/>
              </a:spcBef>
              <a:spcAft>
                <a:spcPts val="0"/>
              </a:spcAft>
              <a:buClr>
                <a:schemeClr val="dk1"/>
              </a:buClr>
              <a:buSzPts val="2900"/>
              <a:buFont typeface="Arial"/>
              <a:buNone/>
            </a:pPr>
            <a:r>
              <a:t/>
            </a:r>
            <a:endParaRPr b="0" baseline="30000" i="0" sz="29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 peaks at G = 1</a:t>
            </a:r>
            <a:endParaRPr/>
          </a:p>
        </p:txBody>
      </p:sp>
      <p:sp>
        <p:nvSpPr>
          <p:cNvPr id="274" name="Google Shape;274;p24"/>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75" name="Google Shape;275;p24"/>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Advantages of slotted Aloha</a:t>
            </a:r>
            <a:endParaRPr/>
          </a:p>
        </p:txBody>
      </p:sp>
      <p:sp>
        <p:nvSpPr>
          <p:cNvPr id="281" name="Google Shape;281;p25"/>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Double the efficiency of aloha</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Adaptable to a changing station population</a:t>
            </a:r>
            <a:endParaRPr/>
          </a:p>
        </p:txBody>
      </p:sp>
      <p:sp>
        <p:nvSpPr>
          <p:cNvPr id="282" name="Google Shape;282;p2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3" name="Google Shape;283;p2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Disadvantages of slotted Aloha</a:t>
            </a:r>
            <a:endParaRPr/>
          </a:p>
        </p:txBody>
      </p:sp>
      <p:sp>
        <p:nvSpPr>
          <p:cNvPr id="289" name="Google Shape;289;p26"/>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Theoretically proven maximum output is only 36.8%</a:t>
            </a:r>
            <a:endParaRPr/>
          </a:p>
          <a:p>
            <a:pPr indent="-2286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Requires queueing buffers for retransmission of packets</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Synchronization required</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290" name="Google Shape;290;p2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1" name="Google Shape;291;p2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Vulnerable  time  of slotted aloha</a:t>
            </a:r>
            <a:endParaRPr/>
          </a:p>
        </p:txBody>
      </p:sp>
      <p:pic>
        <p:nvPicPr>
          <p:cNvPr id="297" name="Google Shape;297;p27"/>
          <p:cNvPicPr preferRelativeResize="0"/>
          <p:nvPr>
            <p:ph idx="1" type="body"/>
          </p:nvPr>
        </p:nvPicPr>
        <p:blipFill rotWithShape="1">
          <a:blip r:embed="rId3">
            <a:alphaModFix/>
          </a:blip>
          <a:srcRect b="0" l="0" r="0" t="0"/>
          <a:stretch/>
        </p:blipFill>
        <p:spPr>
          <a:xfrm>
            <a:off x="1919287" y="2439987"/>
            <a:ext cx="6886575" cy="3725862"/>
          </a:xfrm>
          <a:prstGeom prst="rect">
            <a:avLst/>
          </a:prstGeom>
          <a:noFill/>
          <a:ln>
            <a:noFill/>
          </a:ln>
        </p:spPr>
      </p:pic>
      <p:sp>
        <p:nvSpPr>
          <p:cNvPr id="298" name="Google Shape;298;p2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9" name="Google Shape;299;p2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
        <p:nvSpPr>
          <p:cNvPr id="300" name="Google Shape;300;p27"/>
          <p:cNvSpPr txBox="1"/>
          <p:nvPr/>
        </p:nvSpPr>
        <p:spPr>
          <a:xfrm>
            <a:off x="1071562" y="1603375"/>
            <a:ext cx="5178425"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Vulnerable  time  of slotted aloha is Tfr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Differences between pure aloha and slotted aloha</a:t>
            </a:r>
            <a:endParaRPr/>
          </a:p>
        </p:txBody>
      </p:sp>
      <p:pic>
        <p:nvPicPr>
          <p:cNvPr id="306" name="Google Shape;306;p28"/>
          <p:cNvPicPr preferRelativeResize="0"/>
          <p:nvPr>
            <p:ph idx="1" type="body"/>
          </p:nvPr>
        </p:nvPicPr>
        <p:blipFill rotWithShape="1">
          <a:blip r:embed="rId3">
            <a:alphaModFix/>
          </a:blip>
          <a:srcRect b="0" l="0" r="0" t="0"/>
          <a:stretch/>
        </p:blipFill>
        <p:spPr>
          <a:xfrm>
            <a:off x="1055687" y="1690687"/>
            <a:ext cx="8664575" cy="3997325"/>
          </a:xfrm>
          <a:prstGeom prst="rect">
            <a:avLst/>
          </a:prstGeom>
          <a:noFill/>
          <a:ln>
            <a:noFill/>
          </a:ln>
        </p:spPr>
      </p:pic>
      <p:sp>
        <p:nvSpPr>
          <p:cNvPr id="307" name="Google Shape;307;p28"/>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8" name="Google Shape;308;p28"/>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9"/>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Carrier Sense Multiple Access (CSMA) Protocols </a:t>
            </a:r>
            <a:endParaRPr/>
          </a:p>
        </p:txBody>
      </p:sp>
      <p:sp>
        <p:nvSpPr>
          <p:cNvPr id="314" name="Google Shape;314;p29"/>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ALOHA does not listen to the channel before it transmits, ending up with poor performance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Carrier Sense Protocols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Stations listen the channel if there is any transmission going on before they transmit</a:t>
            </a:r>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If channel sensed idle: transmit entire pkt </a:t>
            </a:r>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If channel sensed busy, defer transmission </a:t>
            </a:r>
            <a:endParaRPr/>
          </a:p>
        </p:txBody>
      </p:sp>
      <p:sp>
        <p:nvSpPr>
          <p:cNvPr id="315" name="Google Shape;315;p29"/>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16" name="Google Shape;316;p2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animEffect filter="fade" transition="in">
                                      <p:cBhvr>
                                        <p:cTn dur="500"/>
                                        <p:tgtEl>
                                          <p:spTgt spid="3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animEffect filter="fade" transition="in">
                                      <p:cBhvr>
                                        <p:cTn dur="500"/>
                                        <p:tgtEl>
                                          <p:spTgt spid="3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animEffect filter="fade" transition="in">
                                      <p:cBhvr>
                                        <p:cTn dur="500"/>
                                        <p:tgtEl>
                                          <p:spTgt spid="3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animEffect filter="fade" transition="in">
                                      <p:cBhvr>
                                        <p:cTn dur="500"/>
                                        <p:tgtEl>
                                          <p:spTgt spid="3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4" st="4"/>
                                            </p:txEl>
                                          </p:spTgt>
                                        </p:tgtEl>
                                        <p:attrNameLst>
                                          <p:attrName>style.visibility</p:attrName>
                                        </p:attrNameLst>
                                      </p:cBhvr>
                                      <p:to>
                                        <p:strVal val="visible"/>
                                      </p:to>
                                    </p:set>
                                    <p:animEffect filter="fade" transition="in">
                                      <p:cBhvr>
                                        <p:cTn dur="500"/>
                                        <p:tgtEl>
                                          <p:spTgt spid="3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5" st="5"/>
                                            </p:txEl>
                                          </p:spTgt>
                                        </p:tgtEl>
                                        <p:attrNameLst>
                                          <p:attrName>style.visibility</p:attrName>
                                        </p:attrNameLst>
                                      </p:cBhvr>
                                      <p:to>
                                        <p:strVal val="visible"/>
                                      </p:to>
                                    </p:set>
                                    <p:animEffect filter="fade" transition="in">
                                      <p:cBhvr>
                                        <p:cTn dur="500"/>
                                        <p:tgtEl>
                                          <p:spTgt spid="3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xEl>
                                              <p:pRg end="6" st="6"/>
                                            </p:txEl>
                                          </p:spTgt>
                                        </p:tgtEl>
                                        <p:attrNameLst>
                                          <p:attrName>style.visibility</p:attrName>
                                        </p:attrNameLst>
                                      </p:cBhvr>
                                      <p:to>
                                        <p:strVal val="visible"/>
                                      </p:to>
                                    </p:set>
                                    <p:animEffect filter="fade" transition="in">
                                      <p:cBhvr>
                                        <p:cTn dur="500"/>
                                        <p:tgtEl>
                                          <p:spTgt spid="31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Carrier Sense Multiple Access (CSMA) Protocols </a:t>
            </a:r>
            <a:endParaRPr/>
          </a:p>
        </p:txBody>
      </p:sp>
      <p:sp>
        <p:nvSpPr>
          <p:cNvPr id="322" name="Google Shape;322;p30"/>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CSMA uses electrical activity on cable to determine status.</a:t>
            </a:r>
            <a:endParaRPr/>
          </a:p>
          <a:p>
            <a:pPr indent="-228600" lvl="0" marL="228600" marR="0" rtl="0" algn="l">
              <a:lnSpc>
                <a:spcPct val="90000"/>
              </a:lnSpc>
              <a:spcBef>
                <a:spcPts val="100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When no station is sending then the channel doesn’t contain electrical signals.</a:t>
            </a:r>
            <a:endParaRPr/>
          </a:p>
          <a:p>
            <a:pPr indent="-228600" lvl="0" marL="228600" marR="0" rtl="0" algn="l">
              <a:lnSpc>
                <a:spcPct val="90000"/>
              </a:lnSpc>
              <a:spcBef>
                <a:spcPts val="100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During transmission the sender transmits electrical signals used to encode bits.</a:t>
            </a:r>
            <a:endParaRPr/>
          </a:p>
          <a:p>
            <a:pPr indent="-228600" lvl="0" marL="228600" marR="0" rtl="0" algn="l">
              <a:lnSpc>
                <a:spcPct val="90000"/>
              </a:lnSpc>
              <a:spcBef>
                <a:spcPts val="100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Although signals differ slightly from carrier wave they are informally called carrier.thus the name carrier sense multiple access protocols</a:t>
            </a:r>
            <a:endParaRPr/>
          </a:p>
        </p:txBody>
      </p:sp>
      <p:sp>
        <p:nvSpPr>
          <p:cNvPr id="323" name="Google Shape;323;p3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4" name="Google Shape;324;p3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5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animEffect filter="fade" transition="in">
                                      <p:cBhvr>
                                        <p:cTn dur="500"/>
                                        <p:tgtEl>
                                          <p:spTgt spid="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2" st="2"/>
                                            </p:txEl>
                                          </p:spTgt>
                                        </p:tgtEl>
                                        <p:attrNameLst>
                                          <p:attrName>style.visibility</p:attrName>
                                        </p:attrNameLst>
                                      </p:cBhvr>
                                      <p:to>
                                        <p:strVal val="visible"/>
                                      </p:to>
                                    </p:set>
                                    <p:animEffect filter="fade" transition="in">
                                      <p:cBhvr>
                                        <p:cTn dur="500"/>
                                        <p:tgtEl>
                                          <p:spTgt spid="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3" st="3"/>
                                            </p:txEl>
                                          </p:spTgt>
                                        </p:tgtEl>
                                        <p:attrNameLst>
                                          <p:attrName>style.visibility</p:attrName>
                                        </p:attrNameLst>
                                      </p:cBhvr>
                                      <p:to>
                                        <p:strVal val="visible"/>
                                      </p:to>
                                    </p:set>
                                    <p:animEffect filter="fade" transition="in">
                                      <p:cBhvr>
                                        <p:cTn dur="500"/>
                                        <p:tgtEl>
                                          <p:spTgt spid="3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4" st="4"/>
                                            </p:txEl>
                                          </p:spTgt>
                                        </p:tgtEl>
                                        <p:attrNameLst>
                                          <p:attrName>style.visibility</p:attrName>
                                        </p:attrNameLst>
                                      </p:cBhvr>
                                      <p:to>
                                        <p:strVal val="visible"/>
                                      </p:to>
                                    </p:set>
                                    <p:animEffect filter="fade" transition="in">
                                      <p:cBhvr>
                                        <p:cTn dur="500"/>
                                        <p:tgtEl>
                                          <p:spTgt spid="3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5" st="5"/>
                                            </p:txEl>
                                          </p:spTgt>
                                        </p:tgtEl>
                                        <p:attrNameLst>
                                          <p:attrName>style.visibility</p:attrName>
                                        </p:attrNameLst>
                                      </p:cBhvr>
                                      <p:to>
                                        <p:strVal val="visible"/>
                                      </p:to>
                                    </p:set>
                                    <p:animEffect filter="fade" transition="in">
                                      <p:cBhvr>
                                        <p:cTn dur="500"/>
                                        <p:tgtEl>
                                          <p:spTgt spid="3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6" st="6"/>
                                            </p:txEl>
                                          </p:spTgt>
                                        </p:tgtEl>
                                        <p:attrNameLst>
                                          <p:attrName>style.visibility</p:attrName>
                                        </p:attrNameLst>
                                      </p:cBhvr>
                                      <p:to>
                                        <p:strVal val="visible"/>
                                      </p:to>
                                    </p:set>
                                    <p:animEffect filter="fade" transition="in">
                                      <p:cBhvr>
                                        <p:cTn dur="500"/>
                                        <p:tgtEl>
                                          <p:spTgt spid="32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CSMA Protocols</a:t>
            </a:r>
            <a:endParaRPr/>
          </a:p>
        </p:txBody>
      </p:sp>
      <p:sp>
        <p:nvSpPr>
          <p:cNvPr id="330" name="Google Shape;330;p31"/>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There are different variations of the CSMA protocols:</a:t>
            </a:r>
            <a:endParaRPr/>
          </a:p>
          <a:p>
            <a:pPr indent="-457200" lvl="1" marL="914400" marR="0" rtl="0" algn="l">
              <a:lnSpc>
                <a:spcPct val="90000"/>
              </a:lnSpc>
              <a:spcBef>
                <a:spcPts val="5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1-persistent CSMA</a:t>
            </a:r>
            <a:endParaRPr/>
          </a:p>
          <a:p>
            <a:pPr indent="-457200" lvl="1" marL="914400" marR="0" rtl="0" algn="l">
              <a:lnSpc>
                <a:spcPct val="90000"/>
              </a:lnSpc>
              <a:spcBef>
                <a:spcPts val="500"/>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Nonpersistent CSMA</a:t>
            </a:r>
            <a:endParaRPr/>
          </a:p>
          <a:p>
            <a:pPr indent="-457200" lvl="1" marL="914400" marR="0" rtl="0" algn="l">
              <a:lnSpc>
                <a:spcPct val="90000"/>
              </a:lnSpc>
              <a:spcBef>
                <a:spcPts val="500"/>
              </a:spcBef>
              <a:spcAft>
                <a:spcPts val="0"/>
              </a:spcAft>
              <a:buClr>
                <a:schemeClr val="dk1"/>
              </a:buClr>
              <a:buSzPts val="2400"/>
              <a:buFont typeface="Calibri"/>
              <a:buAutoNum type="arabicPeriod"/>
            </a:pPr>
            <a:r>
              <a:rPr b="0" i="1" lang="en-US" sz="2400" u="none" cap="none" strike="noStrike">
                <a:solidFill>
                  <a:schemeClr val="dk1"/>
                </a:solidFill>
                <a:latin typeface="Calibri"/>
                <a:ea typeface="Calibri"/>
                <a:cs typeface="Calibri"/>
                <a:sym typeface="Calibri"/>
              </a:rPr>
              <a:t>p</a:t>
            </a:r>
            <a:r>
              <a:rPr b="0" i="0" lang="en-US" sz="2400" u="none" cap="none" strike="noStrike">
                <a:solidFill>
                  <a:schemeClr val="dk1"/>
                </a:solidFill>
                <a:latin typeface="Calibri"/>
                <a:ea typeface="Calibri"/>
                <a:cs typeface="Calibri"/>
                <a:sym typeface="Calibri"/>
              </a:rPr>
              <a:t>-persistent CSMA</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1-persistent CSMA </a:t>
            </a:r>
            <a:endParaRPr/>
          </a:p>
        </p:txBody>
      </p:sp>
      <p:sp>
        <p:nvSpPr>
          <p:cNvPr id="336" name="Google Shape;336;p32"/>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protocol:</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Listens before transmits</a:t>
            </a:r>
            <a:endParaRPr/>
          </a:p>
          <a:p>
            <a:pPr indent="-457200" lvl="2" marL="1314450" marR="0" rtl="0" algn="l">
              <a:lnSpc>
                <a:spcPct val="90000"/>
              </a:lnSpc>
              <a:spcBef>
                <a:spcPts val="500"/>
              </a:spcBef>
              <a:spcAft>
                <a:spcPts val="0"/>
              </a:spcAft>
              <a:buClr>
                <a:schemeClr val="dk1"/>
              </a:buClr>
              <a:buSzPts val="2800"/>
              <a:buFont typeface="Arial"/>
              <a:buAutoNum type="arabicPeriod"/>
            </a:pPr>
            <a:r>
              <a:rPr b="0" i="0" lang="en-US" sz="2800" u="none" cap="none" strike="noStrike">
                <a:solidFill>
                  <a:schemeClr val="dk1"/>
                </a:solidFill>
                <a:latin typeface="Calibri"/>
                <a:ea typeface="Calibri"/>
                <a:cs typeface="Calibri"/>
                <a:sym typeface="Calibri"/>
              </a:rPr>
              <a:t>If the medium is idle, transmit immediately </a:t>
            </a:r>
            <a:endParaRPr/>
          </a:p>
          <a:p>
            <a:pPr indent="-457200" lvl="2" marL="1314450" marR="0" rtl="0" algn="l">
              <a:lnSpc>
                <a:spcPct val="90000"/>
              </a:lnSpc>
              <a:spcBef>
                <a:spcPts val="500"/>
              </a:spcBef>
              <a:spcAft>
                <a:spcPts val="0"/>
              </a:spcAft>
              <a:buClr>
                <a:schemeClr val="dk1"/>
              </a:buClr>
              <a:buSzPts val="2800"/>
              <a:buFont typeface="Arial"/>
              <a:buAutoNum type="arabicPeriod"/>
            </a:pPr>
            <a:r>
              <a:rPr b="0" i="0" lang="en-US" sz="2800" u="none" cap="none" strike="noStrike">
                <a:solidFill>
                  <a:schemeClr val="dk1"/>
                </a:solidFill>
                <a:latin typeface="Calibri"/>
                <a:ea typeface="Calibri"/>
                <a:cs typeface="Calibri"/>
                <a:sym typeface="Calibri"/>
              </a:rPr>
              <a:t> If the medium is busy, continue to listen until medium becomes idle, and then transmit immediately </a:t>
            </a:r>
            <a:endParaRPr/>
          </a:p>
          <a:p>
            <a:pPr indent="-457200" lvl="2" marL="1314450" marR="0" rtl="0" algn="l">
              <a:lnSpc>
                <a:spcPct val="90000"/>
              </a:lnSpc>
              <a:spcBef>
                <a:spcPts val="500"/>
              </a:spcBef>
              <a:spcAft>
                <a:spcPts val="0"/>
              </a:spcAft>
              <a:buClr>
                <a:schemeClr val="dk1"/>
              </a:buClr>
              <a:buSzPts val="2800"/>
              <a:buFont typeface="Arial"/>
              <a:buAutoNum type="arabicPeriod"/>
            </a:pPr>
            <a:r>
              <a:rPr b="0" i="0" lang="en-US" sz="2800" u="none" cap="none" strike="noStrike">
                <a:solidFill>
                  <a:schemeClr val="dk1"/>
                </a:solidFill>
                <a:latin typeface="Calibri"/>
                <a:ea typeface="Calibri"/>
                <a:cs typeface="Calibri"/>
                <a:sym typeface="Calibri"/>
              </a:rPr>
              <a:t>If collision occurs, waits a random amount of time and starts all over again</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It is called 1-persistent because the station </a:t>
            </a:r>
            <a:r>
              <a:rPr b="0" i="0" lang="en-US" sz="2800" u="none">
                <a:solidFill>
                  <a:srgbClr val="FF0000"/>
                </a:solidFill>
                <a:latin typeface="Calibri"/>
                <a:ea typeface="Calibri"/>
                <a:cs typeface="Calibri"/>
                <a:sym typeface="Calibri"/>
              </a:rPr>
              <a:t>transmits with a probability of 1 whenever it finds the channel idle</a:t>
            </a:r>
            <a:r>
              <a:rPr b="0" i="0" lang="en-US" sz="2800" u="none">
                <a:solidFill>
                  <a:schemeClr val="dk1"/>
                </a:solidFill>
                <a:latin typeface="Calibri"/>
                <a:ea typeface="Calibri"/>
                <a:cs typeface="Calibri"/>
                <a:sym typeface="Calibri"/>
              </a:rPr>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1 persistent CSMA</a:t>
            </a:r>
            <a:endParaRPr/>
          </a:p>
        </p:txBody>
      </p:sp>
      <p:sp>
        <p:nvSpPr>
          <p:cNvPr id="342" name="Google Shape;342;p3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sz="2800">
              <a:solidFill>
                <a:schemeClr val="dk1"/>
              </a:solidFill>
              <a:latin typeface="Calibri"/>
              <a:ea typeface="Calibri"/>
              <a:cs typeface="Calibri"/>
              <a:sym typeface="Calibri"/>
            </a:endParaRPr>
          </a:p>
        </p:txBody>
      </p:sp>
      <p:sp>
        <p:nvSpPr>
          <p:cNvPr id="343" name="Google Shape;343;p3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 name="Google Shape;344;p3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pic>
        <p:nvPicPr>
          <p:cNvPr id="345" name="Google Shape;345;p33"/>
          <p:cNvPicPr preferRelativeResize="0"/>
          <p:nvPr/>
        </p:nvPicPr>
        <p:blipFill rotWithShape="1">
          <a:blip r:embed="rId3">
            <a:alphaModFix/>
          </a:blip>
          <a:srcRect b="0" l="0" r="0" t="0"/>
          <a:stretch/>
        </p:blipFill>
        <p:spPr>
          <a:xfrm>
            <a:off x="3309937" y="2000250"/>
            <a:ext cx="5729287" cy="435768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1-persistent CSMA </a:t>
            </a:r>
            <a:endParaRPr/>
          </a:p>
        </p:txBody>
      </p:sp>
      <p:sp>
        <p:nvSpPr>
          <p:cNvPr id="351" name="Google Shape;351;p34"/>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177800" lvl="0" marL="0" marR="0" rtl="0" algn="l">
              <a:lnSpc>
                <a:spcPct val="90000"/>
              </a:lnSpc>
              <a:spcBef>
                <a:spcPts val="100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Too selfish</a:t>
            </a:r>
            <a:endParaRPr/>
          </a:p>
          <a:p>
            <a:pPr indent="-177800" lvl="0" marL="0" marR="0" rtl="0" algn="l">
              <a:lnSpc>
                <a:spcPct val="90000"/>
              </a:lnSpc>
              <a:spcBef>
                <a:spcPts val="100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 there will always be a collision if two stations want to retransmit</a:t>
            </a:r>
            <a:endParaRPr/>
          </a:p>
          <a:p>
            <a:pPr indent="-342900" lvl="1" marL="3429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If two or more stations becomes ready at the same time, </a:t>
            </a:r>
            <a:r>
              <a:rPr b="1" i="0" lang="en-US" sz="2400" u="none" cap="none" strike="noStrike">
                <a:solidFill>
                  <a:schemeClr val="dk1"/>
                </a:solidFill>
                <a:latin typeface="Times New Roman"/>
                <a:ea typeface="Times New Roman"/>
                <a:cs typeface="Times New Roman"/>
                <a:sym typeface="Times New Roman"/>
              </a:rPr>
              <a:t>collision guaranteed</a:t>
            </a:r>
            <a:endParaRPr/>
          </a:p>
          <a:p>
            <a:pPr indent="0" lvl="0" marL="0" marR="0" rtl="0" algn="l">
              <a:lnSpc>
                <a:spcPct val="90000"/>
              </a:lnSpc>
              <a:spcBef>
                <a:spcPts val="100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a:p>
            <a:pPr indent="-177800" lvl="0" marL="0" marR="0" rtl="0" algn="l">
              <a:lnSpc>
                <a:spcPct val="90000"/>
              </a:lnSpc>
              <a:spcBef>
                <a:spcPts val="100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Propagation delay has an important effect on the performance  of this  protocol</a:t>
            </a:r>
            <a:endParaRPr/>
          </a:p>
          <a:p>
            <a:pPr indent="0" lvl="0" marL="0" marR="0" rtl="0" algn="l">
              <a:lnSpc>
                <a:spcPct val="90000"/>
              </a:lnSpc>
              <a:spcBef>
                <a:spcPts val="100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p:txBody>
      </p:sp>
      <p:sp>
        <p:nvSpPr>
          <p:cNvPr id="352" name="Google Shape;352;p34"/>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53" name="Google Shape;353;p34"/>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sz="4400">
              <a:solidFill>
                <a:schemeClr val="dk1"/>
              </a:solidFill>
              <a:latin typeface="Calibri"/>
              <a:ea typeface="Calibri"/>
              <a:cs typeface="Calibri"/>
              <a:sym typeface="Calibri"/>
            </a:endParaRPr>
          </a:p>
        </p:txBody>
      </p:sp>
      <p:pic>
        <p:nvPicPr>
          <p:cNvPr id="359" name="Google Shape;359;p35"/>
          <p:cNvPicPr preferRelativeResize="0"/>
          <p:nvPr>
            <p:ph idx="1" type="body"/>
          </p:nvPr>
        </p:nvPicPr>
        <p:blipFill rotWithShape="1">
          <a:blip r:embed="rId3">
            <a:alphaModFix/>
          </a:blip>
          <a:srcRect b="0" l="0" r="0" t="0"/>
          <a:stretch/>
        </p:blipFill>
        <p:spPr>
          <a:xfrm>
            <a:off x="1738312" y="1652587"/>
            <a:ext cx="8421687" cy="4991100"/>
          </a:xfrm>
          <a:prstGeom prst="rect">
            <a:avLst/>
          </a:prstGeom>
          <a:noFill/>
          <a:ln>
            <a:noFill/>
          </a:ln>
        </p:spPr>
      </p:pic>
      <p:sp>
        <p:nvSpPr>
          <p:cNvPr id="360" name="Google Shape;360;p3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1" name="Google Shape;361;p3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t/>
            </a:r>
            <a:endParaRPr sz="4400">
              <a:solidFill>
                <a:schemeClr val="dk1"/>
              </a:solidFill>
              <a:latin typeface="Calibri"/>
              <a:ea typeface="Calibri"/>
              <a:cs typeface="Calibri"/>
              <a:sym typeface="Calibri"/>
            </a:endParaRPr>
          </a:p>
        </p:txBody>
      </p:sp>
      <p:pic>
        <p:nvPicPr>
          <p:cNvPr id="367" name="Google Shape;367;p36"/>
          <p:cNvPicPr preferRelativeResize="0"/>
          <p:nvPr>
            <p:ph idx="1" type="body"/>
          </p:nvPr>
        </p:nvPicPr>
        <p:blipFill rotWithShape="1">
          <a:blip r:embed="rId3">
            <a:alphaModFix/>
          </a:blip>
          <a:srcRect b="0" l="0" r="0" t="0"/>
          <a:stretch/>
        </p:blipFill>
        <p:spPr>
          <a:xfrm>
            <a:off x="838200" y="765175"/>
            <a:ext cx="9329737" cy="5759450"/>
          </a:xfrm>
          <a:prstGeom prst="rect">
            <a:avLst/>
          </a:prstGeom>
          <a:noFill/>
          <a:ln>
            <a:noFill/>
          </a:ln>
        </p:spPr>
      </p:pic>
      <p:sp>
        <p:nvSpPr>
          <p:cNvPr id="368" name="Google Shape;368;p3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69" name="Google Shape;369;p3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Non-Persistent CSMA Protocol:</a:t>
            </a:r>
            <a:endParaRPr/>
          </a:p>
        </p:txBody>
      </p:sp>
      <p:sp>
        <p:nvSpPr>
          <p:cNvPr id="375" name="Google Shape;375;p37"/>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15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 station with frames to be sent, should sense the medium</a:t>
            </a:r>
            <a:endParaRPr/>
          </a:p>
          <a:p>
            <a:pPr indent="-457200" lvl="1" marL="914400" marR="0" rtl="0" algn="l">
              <a:lnSpc>
                <a:spcPct val="150000"/>
              </a:lnSpc>
              <a:spcBef>
                <a:spcPts val="500"/>
              </a:spcBef>
              <a:spcAft>
                <a:spcPts val="0"/>
              </a:spcAft>
              <a:buClr>
                <a:schemeClr val="folHlink"/>
              </a:buClr>
              <a:buSzPts val="1440"/>
              <a:buFont typeface="Noto Sans Symbols"/>
              <a:buAutoNum type="arabicPeriod"/>
            </a:pPr>
            <a:r>
              <a:rPr b="0" i="0" lang="en-US" sz="2400" u="none" cap="none" strike="noStrike">
                <a:solidFill>
                  <a:schemeClr val="dk1"/>
                </a:solidFill>
                <a:latin typeface="Times New Roman"/>
                <a:ea typeface="Times New Roman"/>
                <a:cs typeface="Times New Roman"/>
                <a:sym typeface="Times New Roman"/>
              </a:rPr>
              <a:t>If medium is idle, </a:t>
            </a:r>
            <a:r>
              <a:rPr b="1" i="0" lang="en-US" sz="2400" u="none" cap="none" strike="noStrike">
                <a:solidFill>
                  <a:schemeClr val="dk1"/>
                </a:solidFill>
                <a:latin typeface="Times New Roman"/>
                <a:ea typeface="Times New Roman"/>
                <a:cs typeface="Times New Roman"/>
                <a:sym typeface="Times New Roman"/>
              </a:rPr>
              <a:t>transmit</a:t>
            </a:r>
            <a:r>
              <a:rPr b="0" i="0" lang="en-US" sz="2400" u="none" cap="none" strike="noStrike">
                <a:solidFill>
                  <a:schemeClr val="dk1"/>
                </a:solidFill>
                <a:latin typeface="Times New Roman"/>
                <a:ea typeface="Times New Roman"/>
                <a:cs typeface="Times New Roman"/>
                <a:sym typeface="Times New Roman"/>
              </a:rPr>
              <a:t>; otherwise, go to 2</a:t>
            </a:r>
            <a:endParaRPr/>
          </a:p>
          <a:p>
            <a:pPr indent="-457200" lvl="1" marL="914400" marR="0" rtl="0" algn="l">
              <a:lnSpc>
                <a:spcPct val="150000"/>
              </a:lnSpc>
              <a:spcBef>
                <a:spcPts val="500"/>
              </a:spcBef>
              <a:spcAft>
                <a:spcPts val="0"/>
              </a:spcAft>
              <a:buClr>
                <a:schemeClr val="folHlink"/>
              </a:buClr>
              <a:buSzPts val="1440"/>
              <a:buFont typeface="Noto Sans Symbols"/>
              <a:buAutoNum type="arabicPeriod"/>
            </a:pPr>
            <a:r>
              <a:rPr b="0" i="0" lang="en-US" sz="2400" u="none" cap="none" strike="noStrike">
                <a:solidFill>
                  <a:schemeClr val="dk1"/>
                </a:solidFill>
                <a:latin typeface="Times New Roman"/>
                <a:ea typeface="Times New Roman"/>
                <a:cs typeface="Times New Roman"/>
                <a:sym typeface="Times New Roman"/>
              </a:rPr>
              <a:t>If medium is busy, (</a:t>
            </a:r>
            <a:r>
              <a:rPr b="1" i="0" lang="en-US" sz="2400" u="none" cap="none" strike="noStrike">
                <a:solidFill>
                  <a:schemeClr val="dk1"/>
                </a:solidFill>
                <a:latin typeface="Times New Roman"/>
                <a:ea typeface="Times New Roman"/>
                <a:cs typeface="Times New Roman"/>
                <a:sym typeface="Times New Roman"/>
              </a:rPr>
              <a:t>backoff</a:t>
            </a:r>
            <a:r>
              <a:rPr b="0" i="0" lang="en-US" sz="2400" u="none" cap="none" strike="noStrike">
                <a:solidFill>
                  <a:schemeClr val="dk1"/>
                </a:solidFill>
                <a:latin typeface="Times New Roman"/>
                <a:ea typeface="Times New Roman"/>
                <a:cs typeface="Times New Roman"/>
                <a:sym typeface="Times New Roman"/>
              </a:rPr>
              <a:t>) wait a </a:t>
            </a:r>
            <a:r>
              <a:rPr b="1" i="1" lang="en-US" sz="2400" u="none" cap="none" strike="noStrike">
                <a:solidFill>
                  <a:schemeClr val="dk1"/>
                </a:solidFill>
                <a:latin typeface="Times New Roman"/>
                <a:ea typeface="Times New Roman"/>
                <a:cs typeface="Times New Roman"/>
                <a:sym typeface="Times New Roman"/>
              </a:rPr>
              <a:t>random</a:t>
            </a:r>
            <a:r>
              <a:rPr b="1" i="0" lang="en-US" sz="2400" u="none" cap="none" strike="noStrike">
                <a:solidFill>
                  <a:schemeClr val="dk1"/>
                </a:solidFill>
                <a:latin typeface="Times New Roman"/>
                <a:ea typeface="Times New Roman"/>
                <a:cs typeface="Times New Roman"/>
                <a:sym typeface="Times New Roman"/>
              </a:rPr>
              <a:t> amount of time </a:t>
            </a:r>
            <a:r>
              <a:rPr b="0" i="0" lang="en-US" sz="2400" u="none" cap="none" strike="noStrike">
                <a:solidFill>
                  <a:schemeClr val="dk1"/>
                </a:solidFill>
                <a:latin typeface="Times New Roman"/>
                <a:ea typeface="Times New Roman"/>
                <a:cs typeface="Times New Roman"/>
                <a:sym typeface="Times New Roman"/>
              </a:rPr>
              <a:t>and repeat </a:t>
            </a:r>
            <a:r>
              <a:rPr b="1" i="0" lang="en-US" sz="2400" u="none" cap="none" strike="noStrike">
                <a:solidFill>
                  <a:schemeClr val="dk1"/>
                </a:solidFill>
                <a:latin typeface="Times New Roman"/>
                <a:ea typeface="Times New Roman"/>
                <a:cs typeface="Times New Roman"/>
                <a:sym typeface="Times New Roman"/>
              </a:rPr>
              <a:t>1</a:t>
            </a:r>
            <a:endParaRPr/>
          </a:p>
          <a:p>
            <a:pPr indent="-457200" lvl="0" marL="457200" marR="0" rtl="0" algn="l">
              <a:lnSpc>
                <a:spcPct val="150000"/>
              </a:lnSpc>
              <a:spcBef>
                <a:spcPts val="100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Non-persistent Stations are </a:t>
            </a:r>
            <a:r>
              <a:rPr b="1" i="0" lang="en-US" sz="2800" u="none">
                <a:solidFill>
                  <a:schemeClr val="dk1"/>
                </a:solidFill>
                <a:latin typeface="Times New Roman"/>
                <a:ea typeface="Times New Roman"/>
                <a:cs typeface="Times New Roman"/>
                <a:sym typeface="Times New Roman"/>
              </a:rPr>
              <a:t>deferential (respect others)</a:t>
            </a:r>
            <a:endParaRPr b="0" i="0" sz="2800" u="none">
              <a:solidFill>
                <a:schemeClr val="dk1"/>
              </a:solidFill>
              <a:latin typeface="Times New Roman"/>
              <a:ea typeface="Times New Roman"/>
              <a:cs typeface="Times New Roman"/>
              <a:sym typeface="Times New Roman"/>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Times New Roman"/>
              <a:ea typeface="Times New Roman"/>
              <a:cs typeface="Times New Roman"/>
              <a:sym typeface="Times New Roman"/>
            </a:endParaRPr>
          </a:p>
        </p:txBody>
      </p:sp>
      <p:sp>
        <p:nvSpPr>
          <p:cNvPr id="376" name="Google Shape;376;p37"/>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7" name="Google Shape;377;p37"/>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Non-Persistent CSMA</a:t>
            </a:r>
            <a:endParaRPr/>
          </a:p>
        </p:txBody>
      </p:sp>
      <p:pic>
        <p:nvPicPr>
          <p:cNvPr id="383" name="Google Shape;383;p38"/>
          <p:cNvPicPr preferRelativeResize="0"/>
          <p:nvPr>
            <p:ph idx="1" type="body"/>
          </p:nvPr>
        </p:nvPicPr>
        <p:blipFill rotWithShape="1">
          <a:blip r:embed="rId3">
            <a:alphaModFix/>
          </a:blip>
          <a:srcRect b="0" l="0" r="0" t="0"/>
          <a:stretch/>
        </p:blipFill>
        <p:spPr>
          <a:xfrm>
            <a:off x="2738437" y="1690687"/>
            <a:ext cx="5632450" cy="4475162"/>
          </a:xfrm>
          <a:prstGeom prst="rect">
            <a:avLst/>
          </a:prstGeom>
          <a:noFill/>
          <a:ln>
            <a:noFill/>
          </a:ln>
        </p:spPr>
      </p:pic>
      <p:sp>
        <p:nvSpPr>
          <p:cNvPr id="384" name="Google Shape;384;p38"/>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5" name="Google Shape;385;p38"/>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9"/>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Times New Roman"/>
              <a:buNone/>
            </a:pPr>
            <a:r>
              <a:rPr b="0" i="0" lang="en-US" sz="4000" u="none">
                <a:solidFill>
                  <a:schemeClr val="dk1"/>
                </a:solidFill>
                <a:latin typeface="Times New Roman"/>
                <a:ea typeface="Times New Roman"/>
                <a:cs typeface="Times New Roman"/>
                <a:sym typeface="Times New Roman"/>
              </a:rPr>
              <a:t>Performance of </a:t>
            </a:r>
            <a:r>
              <a:rPr b="1" i="0" lang="en-US" sz="4000" u="none">
                <a:solidFill>
                  <a:schemeClr val="dk1"/>
                </a:solidFill>
                <a:latin typeface="Calibri"/>
                <a:ea typeface="Calibri"/>
                <a:cs typeface="Calibri"/>
                <a:sym typeface="Calibri"/>
              </a:rPr>
              <a:t>Non-Persistent CSMA Protocol:</a:t>
            </a:r>
            <a:r>
              <a:rPr b="0" i="0" lang="en-US" sz="4000" u="none">
                <a:solidFill>
                  <a:schemeClr val="dk1"/>
                </a:solidFill>
                <a:latin typeface="Times New Roman"/>
                <a:ea typeface="Times New Roman"/>
                <a:cs typeface="Times New Roman"/>
                <a:sym typeface="Times New Roman"/>
              </a:rPr>
              <a:t> </a:t>
            </a:r>
            <a:br>
              <a:rPr b="0" i="0" lang="en-US" sz="4000" u="none">
                <a:solidFill>
                  <a:schemeClr val="dk1"/>
                </a:solidFill>
                <a:latin typeface="Times New Roman"/>
                <a:ea typeface="Times New Roman"/>
                <a:cs typeface="Times New Roman"/>
                <a:sym typeface="Times New Roman"/>
              </a:rPr>
            </a:br>
            <a:endParaRPr/>
          </a:p>
        </p:txBody>
      </p:sp>
      <p:sp>
        <p:nvSpPr>
          <p:cNvPr id="391" name="Google Shape;391;p39"/>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457200" lvl="1" marL="914400" marR="0" rtl="0" algn="l">
              <a:lnSpc>
                <a:spcPct val="90000"/>
              </a:lnSpc>
              <a:spcBef>
                <a:spcPts val="0"/>
              </a:spcBef>
              <a:spcAft>
                <a:spcPts val="0"/>
              </a:spcAft>
              <a:buClr>
                <a:schemeClr val="folHlink"/>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Random delays reduces probability of collisions because two stations with data to be transmitted will wait for different amount of times.</a:t>
            </a:r>
            <a:endParaRPr/>
          </a:p>
          <a:p>
            <a:pPr indent="-350519" lvl="1" marL="914400" marR="0" rtl="0" algn="l">
              <a:lnSpc>
                <a:spcPct val="90000"/>
              </a:lnSpc>
              <a:spcBef>
                <a:spcPts val="500"/>
              </a:spcBef>
              <a:spcAft>
                <a:spcPts val="0"/>
              </a:spcAft>
              <a:buClr>
                <a:schemeClr val="folHlink"/>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457200" lvl="1" marL="914400" marR="0" rtl="0" algn="l">
              <a:lnSpc>
                <a:spcPct val="90000"/>
              </a:lnSpc>
              <a:spcBef>
                <a:spcPts val="500"/>
              </a:spcBef>
              <a:spcAft>
                <a:spcPts val="0"/>
              </a:spcAft>
              <a:buClr>
                <a:schemeClr val="folHlink"/>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Bandwidth is </a:t>
            </a:r>
            <a:r>
              <a:rPr b="1" i="0" lang="en-US" sz="2800" u="none" cap="none" strike="noStrike">
                <a:solidFill>
                  <a:schemeClr val="dk1"/>
                </a:solidFill>
                <a:latin typeface="Times New Roman"/>
                <a:ea typeface="Times New Roman"/>
                <a:cs typeface="Times New Roman"/>
                <a:sym typeface="Times New Roman"/>
              </a:rPr>
              <a:t>wasted</a:t>
            </a:r>
            <a:r>
              <a:rPr b="0" i="0" lang="en-US" sz="2800" u="none" cap="none" strike="noStrike">
                <a:solidFill>
                  <a:schemeClr val="dk1"/>
                </a:solidFill>
                <a:latin typeface="Times New Roman"/>
                <a:ea typeface="Times New Roman"/>
                <a:cs typeface="Times New Roman"/>
                <a:sym typeface="Times New Roman"/>
              </a:rPr>
              <a:t> if waiting time (backoff) is large because medium will remain idle following end of transmission even if one or more stations have frames to send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392" name="Google Shape;392;p39"/>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93" name="Google Shape;393;p39"/>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P-Persistent CSMA</a:t>
            </a:r>
            <a:br>
              <a:rPr b="0" i="0" lang="en-US" sz="4400" u="none">
                <a:solidFill>
                  <a:schemeClr val="dk1"/>
                </a:solidFill>
                <a:latin typeface="Calibri"/>
                <a:ea typeface="Calibri"/>
                <a:cs typeface="Calibri"/>
                <a:sym typeface="Calibri"/>
              </a:rPr>
            </a:br>
            <a:endParaRPr/>
          </a:p>
        </p:txBody>
      </p:sp>
      <p:sp>
        <p:nvSpPr>
          <p:cNvPr id="399" name="Google Shape;399;p40"/>
          <p:cNvSpPr txBox="1"/>
          <p:nvPr>
            <p:ph idx="1" type="body"/>
          </p:nvPr>
        </p:nvSpPr>
        <p:spPr>
          <a:xfrm>
            <a:off x="838200" y="1196975"/>
            <a:ext cx="10515600" cy="486092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600"/>
              <a:buFont typeface="Arial"/>
              <a:buChar char="•"/>
            </a:pPr>
            <a:r>
              <a:rPr b="1" i="0" lang="en-US" sz="2600" u="none">
                <a:solidFill>
                  <a:schemeClr val="dk1"/>
                </a:solidFill>
                <a:latin typeface="Calibri"/>
                <a:ea typeface="Calibri"/>
                <a:cs typeface="Calibri"/>
                <a:sym typeface="Calibri"/>
              </a:rPr>
              <a:t>Used in slotted systems</a:t>
            </a:r>
            <a:endParaRPr/>
          </a:p>
          <a:p>
            <a:pPr indent="-228600" lvl="0" marL="228600" marR="0" rtl="0" algn="l">
              <a:lnSpc>
                <a:spcPct val="90000"/>
              </a:lnSpc>
              <a:spcBef>
                <a:spcPts val="1000"/>
              </a:spcBef>
              <a:spcAft>
                <a:spcPts val="0"/>
              </a:spcAft>
              <a:buClr>
                <a:schemeClr val="dk1"/>
              </a:buClr>
              <a:buSzPts val="2600"/>
              <a:buFont typeface="Arial"/>
              <a:buChar char="•"/>
            </a:pPr>
            <a:r>
              <a:rPr b="1" i="0" lang="en-US" sz="2600" u="none">
                <a:solidFill>
                  <a:schemeClr val="dk1"/>
                </a:solidFill>
                <a:latin typeface="Calibri"/>
                <a:ea typeface="Calibri"/>
                <a:cs typeface="Calibri"/>
                <a:sym typeface="Calibri"/>
              </a:rPr>
              <a:t>Combines  the advantages of  non-persistent and 1-persistent CSMA</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 slotted channels every node will send   only when it gets its timeslot .</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when a  station becomes ready to send it senses   the channel and then if it is idle it  will transmit at the </a:t>
            </a:r>
            <a:r>
              <a:rPr b="0" i="0" lang="en-US" sz="2400" u="none">
                <a:solidFill>
                  <a:srgbClr val="FF0000"/>
                </a:solidFill>
                <a:latin typeface="Calibri"/>
                <a:ea typeface="Calibri"/>
                <a:cs typeface="Calibri"/>
                <a:sym typeface="Calibri"/>
              </a:rPr>
              <a:t>probability P.</a:t>
            </a:r>
            <a:r>
              <a:rPr b="0" i="0" lang="en-US" sz="2400" u="none">
                <a:solidFill>
                  <a:schemeClr val="dk1"/>
                </a:solidFill>
                <a:latin typeface="Calibri"/>
                <a:ea typeface="Calibri"/>
                <a:cs typeface="Calibri"/>
                <a:sym typeface="Calibri"/>
              </a:rPr>
              <a:t> </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If the channel  is also free but it has to check for one  more condition whether that timeslot is allotted for that station if that timeslot is for that station then only  it can send. </a:t>
            </a:r>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Otherwise it has to wait for its timeslot with a probability of 1-P</a:t>
            </a:r>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
        <p:nvSpPr>
          <p:cNvPr id="400" name="Google Shape;400;p4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01" name="Google Shape;401;p4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1"/>
          <p:cNvSpPr txBox="1"/>
          <p:nvPr/>
        </p:nvSpPr>
        <p:spPr>
          <a:xfrm>
            <a:off x="1930400" y="152400"/>
            <a:ext cx="8204200" cy="5334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P-persistent CSMA</a:t>
            </a:r>
            <a:endParaRPr/>
          </a:p>
        </p:txBody>
      </p:sp>
      <p:sp>
        <p:nvSpPr>
          <p:cNvPr id="407" name="Google Shape;407;p41"/>
          <p:cNvSpPr txBox="1"/>
          <p:nvPr/>
        </p:nvSpPr>
        <p:spPr>
          <a:xfrm>
            <a:off x="2024062" y="928687"/>
            <a:ext cx="8178800" cy="46863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457200" lvl="0" marL="457200" marR="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imes New Roman"/>
                <a:ea typeface="Times New Roman"/>
                <a:cs typeface="Times New Roman"/>
                <a:sym typeface="Times New Roman"/>
              </a:rPr>
              <a:t>Station wishing to transmit listens to the medium:</a:t>
            </a:r>
            <a:endParaRPr/>
          </a:p>
          <a:p>
            <a:pPr indent="-457200" lvl="0" marL="457200" marR="0" rtl="0" algn="l">
              <a:lnSpc>
                <a:spcPct val="100000"/>
              </a:lnSpc>
              <a:spcBef>
                <a:spcPts val="480"/>
              </a:spcBef>
              <a:spcAft>
                <a:spcPts val="0"/>
              </a:spcAft>
              <a:buClr>
                <a:schemeClr val="folHlink"/>
              </a:buClr>
              <a:buSzPts val="1440"/>
              <a:buFont typeface="Times New Roman"/>
              <a:buAutoNum type="arabicPeriod"/>
            </a:pPr>
            <a:r>
              <a:rPr b="0" i="0" lang="en-US" sz="2400" u="none">
                <a:solidFill>
                  <a:schemeClr val="dk1"/>
                </a:solidFill>
                <a:latin typeface="Times New Roman"/>
                <a:ea typeface="Times New Roman"/>
                <a:cs typeface="Times New Roman"/>
                <a:sym typeface="Times New Roman"/>
              </a:rPr>
              <a:t>If medium idle, </a:t>
            </a:r>
            <a:endParaRPr/>
          </a:p>
          <a:p>
            <a:pPr indent="-381000" lvl="1" marL="838200" marR="0" rtl="0" algn="l">
              <a:lnSpc>
                <a:spcPct val="100000"/>
              </a:lnSpc>
              <a:spcBef>
                <a:spcPts val="480"/>
              </a:spcBef>
              <a:spcAft>
                <a:spcPts val="0"/>
              </a:spcAft>
              <a:buClr>
                <a:schemeClr val="dk1"/>
              </a:buClr>
              <a:buSzPts val="2280"/>
              <a:buFont typeface="Noto Sans Symbols"/>
              <a:buChar char="▪"/>
            </a:pPr>
            <a:r>
              <a:rPr b="0" i="0" lang="en-US" sz="2400" u="none" cap="none" strike="noStrike">
                <a:solidFill>
                  <a:schemeClr val="dk1"/>
                </a:solidFill>
                <a:latin typeface="Times New Roman"/>
                <a:ea typeface="Times New Roman"/>
                <a:cs typeface="Times New Roman"/>
                <a:sym typeface="Times New Roman"/>
              </a:rPr>
              <a:t>transmit with probability (</a:t>
            </a:r>
            <a:r>
              <a:rPr b="1" i="0" lang="en-US" sz="2400" u="none" cap="none" strike="noStrike">
                <a:solidFill>
                  <a:schemeClr val="dk1"/>
                </a:solidFill>
                <a:latin typeface="Times New Roman"/>
                <a:ea typeface="Times New Roman"/>
                <a:cs typeface="Times New Roman"/>
                <a:sym typeface="Times New Roman"/>
              </a:rPr>
              <a:t>p</a:t>
            </a:r>
            <a:r>
              <a:rPr b="0" i="0" lang="en-US" sz="2400" u="none" cap="none" strike="noStrike">
                <a:solidFill>
                  <a:schemeClr val="dk1"/>
                </a:solidFill>
                <a:latin typeface="Times New Roman"/>
                <a:ea typeface="Times New Roman"/>
                <a:cs typeface="Times New Roman"/>
                <a:sym typeface="Times New Roman"/>
              </a:rPr>
              <a:t>), OR</a:t>
            </a:r>
            <a:endParaRPr/>
          </a:p>
          <a:p>
            <a:pPr indent="-381000" lvl="1" marL="838200" marR="0" rtl="0" algn="l">
              <a:lnSpc>
                <a:spcPct val="100000"/>
              </a:lnSpc>
              <a:spcBef>
                <a:spcPts val="480"/>
              </a:spcBef>
              <a:spcAft>
                <a:spcPts val="0"/>
              </a:spcAft>
              <a:buClr>
                <a:schemeClr val="dk1"/>
              </a:buClr>
              <a:buSzPts val="2280"/>
              <a:buFont typeface="Noto Sans Symbols"/>
              <a:buChar char="▪"/>
            </a:pPr>
            <a:r>
              <a:rPr b="0" i="0" lang="en-US" sz="2400" u="none" cap="none" strike="noStrike">
                <a:solidFill>
                  <a:schemeClr val="dk1"/>
                </a:solidFill>
                <a:latin typeface="Times New Roman"/>
                <a:ea typeface="Times New Roman"/>
                <a:cs typeface="Times New Roman"/>
                <a:sym typeface="Times New Roman"/>
              </a:rPr>
              <a:t>wait </a:t>
            </a:r>
            <a:r>
              <a:rPr b="1" i="0" lang="en-US" sz="2400" u="none" cap="none" strike="noStrike">
                <a:solidFill>
                  <a:schemeClr val="dk1"/>
                </a:solidFill>
                <a:latin typeface="Times New Roman"/>
                <a:ea typeface="Times New Roman"/>
                <a:cs typeface="Times New Roman"/>
                <a:sym typeface="Times New Roman"/>
              </a:rPr>
              <a:t>one time unit (slot) </a:t>
            </a:r>
            <a:r>
              <a:rPr b="0" i="0" lang="en-US" sz="2400" u="none" cap="none" strike="noStrike">
                <a:solidFill>
                  <a:schemeClr val="dk1"/>
                </a:solidFill>
                <a:latin typeface="Times New Roman"/>
                <a:ea typeface="Times New Roman"/>
                <a:cs typeface="Times New Roman"/>
                <a:sym typeface="Times New Roman"/>
              </a:rPr>
              <a:t>with probability (</a:t>
            </a:r>
            <a:r>
              <a:rPr b="1" i="0" lang="en-US" sz="2400" u="none" cap="none" strike="noStrike">
                <a:solidFill>
                  <a:schemeClr val="dk1"/>
                </a:solidFill>
                <a:latin typeface="Times New Roman"/>
                <a:ea typeface="Times New Roman"/>
                <a:cs typeface="Times New Roman"/>
                <a:sym typeface="Times New Roman"/>
              </a:rPr>
              <a:t>1 – p</a:t>
            </a:r>
            <a:r>
              <a:rPr b="0" i="0" lang="en-US" sz="2400" u="none" cap="none" strike="noStrike">
                <a:solidFill>
                  <a:schemeClr val="dk1"/>
                </a:solidFill>
                <a:latin typeface="Times New Roman"/>
                <a:ea typeface="Times New Roman"/>
                <a:cs typeface="Times New Roman"/>
                <a:sym typeface="Times New Roman"/>
              </a:rPr>
              <a:t>), then repeat 1.</a:t>
            </a:r>
            <a:endParaRPr/>
          </a:p>
          <a:p>
            <a:pPr indent="-457200" lvl="0" marL="457200" marR="0" rtl="0" algn="l">
              <a:lnSpc>
                <a:spcPct val="100000"/>
              </a:lnSpc>
              <a:spcBef>
                <a:spcPts val="480"/>
              </a:spcBef>
              <a:spcAft>
                <a:spcPts val="0"/>
              </a:spcAft>
              <a:buClr>
                <a:schemeClr val="folHlink"/>
              </a:buClr>
              <a:buSzPts val="1440"/>
              <a:buFont typeface="Times New Roman"/>
              <a:buAutoNum type="arabicPeriod"/>
            </a:pPr>
            <a:r>
              <a:rPr b="0" i="0" lang="en-US" sz="2400" u="none">
                <a:solidFill>
                  <a:schemeClr val="dk1"/>
                </a:solidFill>
                <a:latin typeface="Times New Roman"/>
                <a:ea typeface="Times New Roman"/>
                <a:cs typeface="Times New Roman"/>
                <a:sym typeface="Times New Roman"/>
              </a:rPr>
              <a:t>If medium busy, </a:t>
            </a:r>
            <a:r>
              <a:rPr b="1" i="0" lang="en-US" sz="2400" u="none">
                <a:solidFill>
                  <a:schemeClr val="dk1"/>
                </a:solidFill>
                <a:latin typeface="Times New Roman"/>
                <a:ea typeface="Times New Roman"/>
                <a:cs typeface="Times New Roman"/>
                <a:sym typeface="Times New Roman"/>
              </a:rPr>
              <a:t>continuously listen until</a:t>
            </a: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idle</a:t>
            </a:r>
            <a:r>
              <a:rPr b="0" i="0" lang="en-US" sz="2400" u="none">
                <a:solidFill>
                  <a:schemeClr val="dk1"/>
                </a:solidFill>
                <a:latin typeface="Times New Roman"/>
                <a:ea typeface="Times New Roman"/>
                <a:cs typeface="Times New Roman"/>
                <a:sym typeface="Times New Roman"/>
              </a:rPr>
              <a:t> and repeat step </a:t>
            </a:r>
            <a:r>
              <a:rPr b="1" i="0" lang="en-US" sz="2400" u="none">
                <a:solidFill>
                  <a:schemeClr val="dk1"/>
                </a:solidFill>
                <a:latin typeface="Times New Roman"/>
                <a:ea typeface="Times New Roman"/>
                <a:cs typeface="Times New Roman"/>
                <a:sym typeface="Times New Roman"/>
              </a:rPr>
              <a:t>1</a:t>
            </a:r>
            <a:endParaRPr/>
          </a:p>
          <a:p>
            <a:pPr indent="-457200" lvl="0" marL="45720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       If a collision occurs, wait a random amount of time and go to step 1</a:t>
            </a:r>
            <a:endParaRPr/>
          </a:p>
          <a:p>
            <a:pPr indent="-457200" lvl="0" marL="457200" marR="0" rtl="0" algn="l">
              <a:lnSpc>
                <a:spcPct val="100000"/>
              </a:lnSpc>
              <a:spcBef>
                <a:spcPts val="0"/>
              </a:spcBef>
              <a:spcAft>
                <a:spcPts val="0"/>
              </a:spcAft>
              <a:buClr>
                <a:schemeClr val="dk1"/>
              </a:buClr>
              <a:buSzPts val="2400"/>
              <a:buFont typeface="Times New Roman"/>
              <a:buNone/>
            </a:pPr>
            <a:r>
              <a:t/>
            </a:r>
            <a:endParaRPr b="0" i="0" sz="2400" u="none">
              <a:solidFill>
                <a:schemeClr val="dk1"/>
              </a:solidFill>
              <a:latin typeface="Times New Roman"/>
              <a:ea typeface="Times New Roman"/>
              <a:cs typeface="Times New Roman"/>
              <a:sym typeface="Times New Roman"/>
            </a:endParaRPr>
          </a:p>
          <a:p>
            <a:pPr indent="-289560" lvl="1" marL="838200" marR="0" rtl="0" algn="l">
              <a:lnSpc>
                <a:spcPct val="100000"/>
              </a:lnSpc>
              <a:spcBef>
                <a:spcPts val="480"/>
              </a:spcBef>
              <a:spcAft>
                <a:spcPts val="0"/>
              </a:spcAft>
              <a:buClr>
                <a:schemeClr val="folHlink"/>
              </a:buClr>
              <a:buSzPts val="1440"/>
              <a:buFont typeface="Times New Roman"/>
              <a:buNone/>
            </a:pPr>
            <a:r>
              <a:t/>
            </a:r>
            <a:endParaRPr b="1"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p-Persistent CSMA Protocol: </a:t>
            </a:r>
            <a:br>
              <a:rPr b="1" i="0" lang="en-US" sz="4400" u="none">
                <a:solidFill>
                  <a:schemeClr val="dk1"/>
                </a:solidFill>
                <a:latin typeface="Calibri"/>
                <a:ea typeface="Calibri"/>
                <a:cs typeface="Calibri"/>
                <a:sym typeface="Calibri"/>
              </a:rPr>
            </a:br>
            <a:endParaRPr/>
          </a:p>
        </p:txBody>
      </p:sp>
      <p:pic>
        <p:nvPicPr>
          <p:cNvPr id="413" name="Google Shape;413;p42"/>
          <p:cNvPicPr preferRelativeResize="0"/>
          <p:nvPr>
            <p:ph idx="1" type="body"/>
          </p:nvPr>
        </p:nvPicPr>
        <p:blipFill rotWithShape="1">
          <a:blip r:embed="rId3">
            <a:alphaModFix/>
          </a:blip>
          <a:srcRect b="0" l="0" r="0" t="0"/>
          <a:stretch/>
        </p:blipFill>
        <p:spPr>
          <a:xfrm>
            <a:off x="2135187" y="1196975"/>
            <a:ext cx="6697662" cy="5040312"/>
          </a:xfrm>
          <a:prstGeom prst="rect">
            <a:avLst/>
          </a:prstGeom>
          <a:noFill/>
          <a:ln>
            <a:noFill/>
          </a:ln>
        </p:spPr>
      </p:pic>
      <p:sp>
        <p:nvSpPr>
          <p:cNvPr id="414" name="Google Shape;414;p4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15" name="Google Shape;415;p4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Times New Roman"/>
              <a:buNone/>
            </a:pPr>
            <a:r>
              <a:rPr b="0" i="0" lang="en-US" sz="4400" u="none">
                <a:solidFill>
                  <a:schemeClr val="dk1"/>
                </a:solidFill>
                <a:latin typeface="Times New Roman"/>
                <a:ea typeface="Times New Roman"/>
                <a:cs typeface="Times New Roman"/>
                <a:sym typeface="Times New Roman"/>
              </a:rPr>
              <a:t>Performance</a:t>
            </a:r>
            <a:br>
              <a:rPr b="0" i="0" lang="en-US" sz="4400" u="none">
                <a:solidFill>
                  <a:schemeClr val="dk1"/>
                </a:solidFill>
                <a:latin typeface="Times New Roman"/>
                <a:ea typeface="Times New Roman"/>
                <a:cs typeface="Times New Roman"/>
                <a:sym typeface="Times New Roman"/>
              </a:rPr>
            </a:br>
            <a:endParaRPr/>
          </a:p>
        </p:txBody>
      </p:sp>
      <p:sp>
        <p:nvSpPr>
          <p:cNvPr id="421" name="Google Shape;421;p4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rmAutofit/>
          </a:bodyPr>
          <a:lstStyle/>
          <a:p>
            <a:pPr indent="-373380" lvl="0" marL="457200" marR="0" rtl="0" algn="l">
              <a:lnSpc>
                <a:spcPct val="90000"/>
              </a:lnSpc>
              <a:spcBef>
                <a:spcPts val="0"/>
              </a:spcBef>
              <a:spcAft>
                <a:spcPts val="0"/>
              </a:spcAft>
              <a:buClr>
                <a:schemeClr val="folHlink"/>
              </a:buClr>
              <a:buSzPts val="1320"/>
              <a:buFont typeface="Arial"/>
              <a:buNone/>
            </a:pPr>
            <a:r>
              <a:t/>
            </a:r>
            <a:endParaRPr b="1" i="0" sz="2200" u="none">
              <a:solidFill>
                <a:schemeClr val="dk1"/>
              </a:solidFill>
              <a:latin typeface="Times New Roman"/>
              <a:ea typeface="Times New Roman"/>
              <a:cs typeface="Times New Roman"/>
              <a:sym typeface="Times New Roman"/>
            </a:endParaRPr>
          </a:p>
          <a:p>
            <a:pPr indent="-457200" lvl="0" marL="457200" marR="0" rtl="0" algn="l">
              <a:lnSpc>
                <a:spcPct val="90000"/>
              </a:lnSpc>
              <a:spcBef>
                <a:spcPts val="1000"/>
              </a:spcBef>
              <a:spcAft>
                <a:spcPts val="0"/>
              </a:spcAft>
              <a:buClr>
                <a:schemeClr val="dk1"/>
              </a:buClr>
              <a:buSzPts val="2200"/>
              <a:buFont typeface="Arial"/>
              <a:buNone/>
            </a:pPr>
            <a:r>
              <a:rPr b="0" i="0" lang="en-US" sz="2200" u="none">
                <a:solidFill>
                  <a:schemeClr val="dk1"/>
                </a:solidFill>
                <a:latin typeface="Times New Roman"/>
                <a:ea typeface="Times New Roman"/>
                <a:cs typeface="Times New Roman"/>
                <a:sym typeface="Times New Roman"/>
              </a:rPr>
              <a:t>      </a:t>
            </a:r>
            <a:r>
              <a:rPr b="0" i="0" lang="en-US" sz="2800" u="none">
                <a:solidFill>
                  <a:schemeClr val="dk1"/>
                </a:solidFill>
                <a:latin typeface="Times New Roman"/>
                <a:ea typeface="Times New Roman"/>
                <a:cs typeface="Times New Roman"/>
                <a:sym typeface="Times New Roman"/>
              </a:rPr>
              <a:t>Reduces the possibility of collisions like</a:t>
            </a:r>
            <a:r>
              <a:rPr b="1" i="0" lang="en-US" sz="2800" u="none">
                <a:solidFill>
                  <a:schemeClr val="dk1"/>
                </a:solidFill>
                <a:latin typeface="Times New Roman"/>
                <a:ea typeface="Times New Roman"/>
                <a:cs typeface="Times New Roman"/>
                <a:sym typeface="Times New Roman"/>
              </a:rPr>
              <a:t> 1-persistent</a:t>
            </a:r>
            <a:endParaRPr/>
          </a:p>
          <a:p>
            <a:pPr indent="-457200" lvl="0" marL="457200" marR="0" rtl="0" algn="l">
              <a:lnSpc>
                <a:spcPct val="90000"/>
              </a:lnSpc>
              <a:spcBef>
                <a:spcPts val="1000"/>
              </a:spcBef>
              <a:spcAft>
                <a:spcPts val="0"/>
              </a:spcAft>
              <a:buClr>
                <a:schemeClr val="dk1"/>
              </a:buClr>
              <a:buSzPts val="2800"/>
              <a:buFont typeface="Arial"/>
              <a:buNone/>
            </a:pPr>
            <a:r>
              <a:t/>
            </a:r>
            <a:endParaRPr b="1" i="0" sz="2800" u="none">
              <a:solidFill>
                <a:schemeClr val="dk1"/>
              </a:solidFill>
              <a:latin typeface="Times New Roman"/>
              <a:ea typeface="Times New Roman"/>
              <a:cs typeface="Times New Roman"/>
              <a:sym typeface="Times New Roman"/>
            </a:endParaRPr>
          </a:p>
          <a:p>
            <a:pPr indent="0" lvl="1" marL="457200" marR="0" rtl="0" algn="l">
              <a:lnSpc>
                <a:spcPct val="90000"/>
              </a:lnSpc>
              <a:spcBef>
                <a:spcPts val="500"/>
              </a:spcBef>
              <a:spcAft>
                <a:spcPts val="0"/>
              </a:spcAft>
              <a:buClr>
                <a:schemeClr val="dk1"/>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Reduces channel idle time like </a:t>
            </a:r>
            <a:r>
              <a:rPr b="1" i="0" lang="en-US" sz="2800" u="none" cap="none" strike="noStrike">
                <a:solidFill>
                  <a:schemeClr val="dk1"/>
                </a:solidFill>
                <a:latin typeface="Times New Roman"/>
                <a:ea typeface="Times New Roman"/>
                <a:cs typeface="Times New Roman"/>
                <a:sym typeface="Times New Roman"/>
              </a:rPr>
              <a:t>nonpersistent</a:t>
            </a:r>
            <a:endParaRPr/>
          </a:p>
          <a:p>
            <a:pPr indent="-50800" lvl="0" marL="228600" marR="0" rtl="0" algn="l">
              <a:lnSpc>
                <a:spcPct val="90000"/>
              </a:lnSpc>
              <a:spcBef>
                <a:spcPts val="1000"/>
              </a:spcBef>
              <a:spcAft>
                <a:spcPts val="0"/>
              </a:spcAft>
              <a:buClr>
                <a:schemeClr val="dk1"/>
              </a:buClr>
              <a:buSzPts val="2800"/>
              <a:buFont typeface="Arial"/>
              <a:buNone/>
            </a:pPr>
            <a:r>
              <a:t/>
            </a:r>
            <a:endParaRPr b="1" i="0" sz="2800" u="none" cap="none" strike="noStrike">
              <a:solidFill>
                <a:schemeClr val="dk1"/>
              </a:solidFill>
              <a:latin typeface="Times New Roman"/>
              <a:ea typeface="Times New Roman"/>
              <a:cs typeface="Times New Roman"/>
              <a:sym typeface="Times New Roman"/>
            </a:endParaRPr>
          </a:p>
        </p:txBody>
      </p:sp>
      <p:sp>
        <p:nvSpPr>
          <p:cNvPr id="422" name="Google Shape;422;p4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23" name="Google Shape;423;p4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4"/>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Channel Utilization for Random Access Protocols</a:t>
            </a:r>
            <a:endParaRPr/>
          </a:p>
        </p:txBody>
      </p:sp>
      <p:pic>
        <p:nvPicPr>
          <p:cNvPr id="429" name="Google Shape;429;p44"/>
          <p:cNvPicPr preferRelativeResize="0"/>
          <p:nvPr>
            <p:ph idx="1" type="body"/>
          </p:nvPr>
        </p:nvPicPr>
        <p:blipFill rotWithShape="1">
          <a:blip r:embed="rId3">
            <a:alphaModFix/>
          </a:blip>
          <a:srcRect b="0" l="0" r="0" t="0"/>
          <a:stretch/>
        </p:blipFill>
        <p:spPr>
          <a:xfrm>
            <a:off x="1271587" y="1690687"/>
            <a:ext cx="7191375" cy="4402137"/>
          </a:xfrm>
          <a:prstGeom prst="rect">
            <a:avLst/>
          </a:prstGeom>
          <a:noFill/>
          <a:ln>
            <a:noFill/>
          </a:ln>
        </p:spPr>
      </p:pic>
      <p:sp>
        <p:nvSpPr>
          <p:cNvPr id="430" name="Google Shape;430;p44"/>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1" name="Google Shape;431;p44"/>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5"/>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CSMA with Collision Detection (CSMA/CD)</a:t>
            </a:r>
            <a:endParaRPr/>
          </a:p>
        </p:txBody>
      </p:sp>
      <p:sp>
        <p:nvSpPr>
          <p:cNvPr id="437" name="Google Shape;437;p45"/>
          <p:cNvSpPr txBox="1"/>
          <p:nvPr>
            <p:ph idx="1" type="body"/>
          </p:nvPr>
        </p:nvSpPr>
        <p:spPr>
          <a:xfrm>
            <a:off x="1981200" y="1371600"/>
            <a:ext cx="8178800" cy="5057775"/>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Modification of CSMA</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CSMA/CD is used to improve CSMA performance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It  is used in LAN in MAC sub layer</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It is the basis of popular ethernet  LAN</a:t>
            </a:r>
            <a:endParaRPr/>
          </a:p>
        </p:txBody>
      </p:sp>
      <p:sp>
        <p:nvSpPr>
          <p:cNvPr id="438" name="Google Shape;438;p4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9" name="Google Shape;439;p4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2"/>
              </a:buClr>
              <a:buSzPts val="1400"/>
              <a:buFont typeface="Arial"/>
              <a:buNone/>
            </a:pPr>
            <a:fld id="{00000000-1234-1234-1234-123412341234}" type="slidenum">
              <a:rPr b="0" i="0" lang="en-US" sz="1400" u="none">
                <a:solidFill>
                  <a:schemeClr val="lt2"/>
                </a:solidFill>
                <a:latin typeface="Arial"/>
                <a:ea typeface="Arial"/>
                <a:cs typeface="Arial"/>
                <a:sym typeface="Arial"/>
              </a:rPr>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6"/>
          <p:cNvSpPr txBox="1"/>
          <p:nvPr/>
        </p:nvSpPr>
        <p:spPr>
          <a:xfrm>
            <a:off x="2057400" y="228600"/>
            <a:ext cx="8129587"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CSMA/CD (Collision Detection)</a:t>
            </a:r>
            <a:endParaRPr/>
          </a:p>
        </p:txBody>
      </p:sp>
      <p:sp>
        <p:nvSpPr>
          <p:cNvPr id="445" name="Google Shape;445;p46"/>
          <p:cNvSpPr txBox="1"/>
          <p:nvPr/>
        </p:nvSpPr>
        <p:spPr>
          <a:xfrm>
            <a:off x="839787" y="1433512"/>
            <a:ext cx="10944225" cy="50228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b="1" i="1" lang="en-US" sz="2400" u="none">
                <a:solidFill>
                  <a:schemeClr val="dk1"/>
                </a:solidFill>
                <a:latin typeface="Times New Roman"/>
                <a:ea typeface="Times New Roman"/>
                <a:cs typeface="Times New Roman"/>
                <a:sym typeface="Times New Roman"/>
              </a:rPr>
              <a:t>CSMA (all previous methods) has an inefficiency:</a:t>
            </a:r>
            <a:endParaRPr/>
          </a:p>
          <a:p>
            <a:pPr indent="-285750" lvl="1" marL="742950" marR="0" rtl="0" algn="l">
              <a:lnSpc>
                <a:spcPct val="150000"/>
              </a:lnSpc>
              <a:spcBef>
                <a:spcPts val="480"/>
              </a:spcBef>
              <a:spcAft>
                <a:spcPts val="0"/>
              </a:spcAft>
              <a:buClr>
                <a:schemeClr val="folHlink"/>
              </a:buClr>
              <a:buSzPts val="1440"/>
              <a:buFont typeface="Noto Sans Symbols"/>
              <a:buChar char="▪"/>
            </a:pPr>
            <a:r>
              <a:rPr b="0" i="0" lang="en-US" sz="2400" u="none" cap="none" strike="noStrike">
                <a:solidFill>
                  <a:schemeClr val="dk1"/>
                </a:solidFill>
                <a:latin typeface="Times New Roman"/>
                <a:ea typeface="Times New Roman"/>
                <a:cs typeface="Times New Roman"/>
                <a:sym typeface="Times New Roman"/>
              </a:rPr>
              <a:t>If a collision has occurred, the channel is </a:t>
            </a:r>
            <a:r>
              <a:rPr b="1" i="0" lang="en-US" sz="2400" u="none" cap="none" strike="noStrike">
                <a:solidFill>
                  <a:schemeClr val="dk1"/>
                </a:solidFill>
                <a:latin typeface="Times New Roman"/>
                <a:ea typeface="Times New Roman"/>
                <a:cs typeface="Times New Roman"/>
                <a:sym typeface="Times New Roman"/>
              </a:rPr>
              <a:t>unstable (</a:t>
            </a:r>
            <a:r>
              <a:rPr b="0" i="0" lang="en-US" sz="2400" u="none" cap="none" strike="noStrike">
                <a:solidFill>
                  <a:srgbClr val="FF0000"/>
                </a:solidFill>
                <a:latin typeface="Times New Roman"/>
                <a:ea typeface="Times New Roman"/>
                <a:cs typeface="Times New Roman"/>
                <a:sym typeface="Times New Roman"/>
              </a:rPr>
              <a:t>the medium remains unusable)</a:t>
            </a:r>
            <a:r>
              <a:rPr b="0" i="0" lang="en-US" sz="2400" u="none" cap="none" strike="noStrike">
                <a:solidFill>
                  <a:schemeClr val="dk1"/>
                </a:solidFill>
                <a:latin typeface="Times New Roman"/>
                <a:ea typeface="Times New Roman"/>
                <a:cs typeface="Times New Roman"/>
                <a:sym typeface="Times New Roman"/>
              </a:rPr>
              <a:t> until colliding packets have </a:t>
            </a:r>
            <a:r>
              <a:rPr b="1" i="0" lang="en-US" sz="2400" u="sng" cap="none" strike="noStrike">
                <a:solidFill>
                  <a:schemeClr val="dk1"/>
                </a:solidFill>
                <a:latin typeface="Times New Roman"/>
                <a:ea typeface="Times New Roman"/>
                <a:cs typeface="Times New Roman"/>
                <a:sym typeface="Times New Roman"/>
              </a:rPr>
              <a:t>been fully transmitted</a:t>
            </a:r>
            <a:endParaRPr/>
          </a:p>
          <a:p>
            <a:pPr indent="-342900" lvl="0" marL="342900" marR="0" rtl="0" algn="l">
              <a:lnSpc>
                <a:spcPct val="150000"/>
              </a:lnSpc>
              <a:spcBef>
                <a:spcPts val="480"/>
              </a:spcBef>
              <a:spcAft>
                <a:spcPts val="0"/>
              </a:spcAft>
              <a:buClr>
                <a:schemeClr val="folHlink"/>
              </a:buClr>
              <a:buSzPts val="1440"/>
              <a:buFont typeface="Noto Sans Symbols"/>
              <a:buChar char="▪"/>
            </a:pPr>
            <a:r>
              <a:rPr b="1" i="1" lang="en-US" sz="2400" u="none">
                <a:solidFill>
                  <a:schemeClr val="dk1"/>
                </a:solidFill>
                <a:latin typeface="Times New Roman"/>
                <a:ea typeface="Times New Roman"/>
                <a:cs typeface="Times New Roman"/>
                <a:sym typeface="Times New Roman"/>
              </a:rPr>
              <a:t>CSMA/CD </a:t>
            </a:r>
            <a:r>
              <a:rPr b="0" i="1" lang="en-US" sz="2400" u="none">
                <a:solidFill>
                  <a:schemeClr val="dk1"/>
                </a:solidFill>
                <a:latin typeface="Times New Roman"/>
                <a:ea typeface="Times New Roman"/>
                <a:cs typeface="Times New Roman"/>
                <a:sym typeface="Times New Roman"/>
              </a:rPr>
              <a:t>(</a:t>
            </a:r>
            <a:r>
              <a:rPr b="0" i="1" lang="en-US" sz="2400" u="none">
                <a:solidFill>
                  <a:srgbClr val="000000"/>
                </a:solidFill>
                <a:latin typeface="Times New Roman"/>
                <a:ea typeface="Times New Roman"/>
                <a:cs typeface="Times New Roman"/>
                <a:sym typeface="Times New Roman"/>
              </a:rPr>
              <a:t>Carrier Sense Multiple Access with Collision Detection)</a:t>
            </a:r>
            <a:r>
              <a:rPr b="1" i="1" lang="en-US" sz="2400" u="none">
                <a:solidFill>
                  <a:schemeClr val="dk1"/>
                </a:solidFill>
                <a:latin typeface="Times New Roman"/>
                <a:ea typeface="Times New Roman"/>
                <a:cs typeface="Times New Roman"/>
                <a:sym typeface="Times New Roman"/>
              </a:rPr>
              <a:t> overcomes this as follows:</a:t>
            </a:r>
            <a:endParaRPr/>
          </a:p>
          <a:p>
            <a:pPr indent="-285750" lvl="1" marL="742950" marR="0" rtl="0" algn="l">
              <a:lnSpc>
                <a:spcPct val="150000"/>
              </a:lnSpc>
              <a:spcBef>
                <a:spcPts val="480"/>
              </a:spcBef>
              <a:spcAft>
                <a:spcPts val="0"/>
              </a:spcAft>
              <a:buClr>
                <a:schemeClr val="folHlink"/>
              </a:buClr>
              <a:buSzPts val="1440"/>
              <a:buFont typeface="Noto Sans Symbols"/>
              <a:buChar char="▪"/>
            </a:pPr>
            <a:r>
              <a:rPr b="0" i="0" lang="en-US" sz="2400" u="none" cap="none" strike="noStrike">
                <a:solidFill>
                  <a:schemeClr val="dk1"/>
                </a:solidFill>
                <a:latin typeface="Times New Roman"/>
                <a:ea typeface="Times New Roman"/>
                <a:cs typeface="Times New Roman"/>
                <a:sym typeface="Times New Roman"/>
              </a:rPr>
              <a:t>While transmitting, the sender is </a:t>
            </a:r>
            <a:r>
              <a:rPr b="1" i="0" lang="en-US" sz="2400" u="none" cap="none" strike="noStrike">
                <a:solidFill>
                  <a:schemeClr val="dk1"/>
                </a:solidFill>
                <a:latin typeface="Times New Roman"/>
                <a:ea typeface="Times New Roman"/>
                <a:cs typeface="Times New Roman"/>
                <a:sym typeface="Times New Roman"/>
              </a:rPr>
              <a:t>listening to medium </a:t>
            </a:r>
            <a:r>
              <a:rPr b="0" i="0" lang="en-US" sz="2400" u="none" cap="none" strike="noStrike">
                <a:solidFill>
                  <a:schemeClr val="dk1"/>
                </a:solidFill>
                <a:latin typeface="Times New Roman"/>
                <a:ea typeface="Times New Roman"/>
                <a:cs typeface="Times New Roman"/>
                <a:sym typeface="Times New Roman"/>
              </a:rPr>
              <a:t>for collisions. </a:t>
            </a:r>
            <a:endParaRPr/>
          </a:p>
          <a:p>
            <a:pPr indent="-285750" lvl="1" marL="742950" marR="0" rtl="0" algn="l">
              <a:lnSpc>
                <a:spcPct val="150000"/>
              </a:lnSpc>
              <a:spcBef>
                <a:spcPts val="480"/>
              </a:spcBef>
              <a:spcAft>
                <a:spcPts val="0"/>
              </a:spcAft>
              <a:buClr>
                <a:schemeClr val="folHlink"/>
              </a:buClr>
              <a:buSzPts val="1440"/>
              <a:buFont typeface="Noto Sans Symbols"/>
              <a:buChar char="▪"/>
            </a:pPr>
            <a:r>
              <a:rPr b="0" i="0" lang="en-US" sz="2400" u="none" cap="none" strike="noStrike">
                <a:solidFill>
                  <a:schemeClr val="dk1"/>
                </a:solidFill>
                <a:latin typeface="Times New Roman"/>
                <a:ea typeface="Times New Roman"/>
                <a:cs typeface="Times New Roman"/>
                <a:sym typeface="Times New Roman"/>
              </a:rPr>
              <a:t>Sender </a:t>
            </a:r>
            <a:r>
              <a:rPr b="1" i="0" lang="en-US" sz="2400" u="none" cap="none" strike="noStrike">
                <a:solidFill>
                  <a:schemeClr val="dk1"/>
                </a:solidFill>
                <a:latin typeface="Times New Roman"/>
                <a:ea typeface="Times New Roman"/>
                <a:cs typeface="Times New Roman"/>
                <a:sym typeface="Times New Roman"/>
              </a:rPr>
              <a:t>stops transmission</a:t>
            </a:r>
            <a:r>
              <a:rPr b="0" i="0" lang="en-US" sz="2400" u="none" cap="none" strike="noStrike">
                <a:solidFill>
                  <a:schemeClr val="dk1"/>
                </a:solidFill>
                <a:latin typeface="Times New Roman"/>
                <a:ea typeface="Times New Roman"/>
                <a:cs typeface="Times New Roman"/>
                <a:sym typeface="Times New Roman"/>
              </a:rPr>
              <a:t> if collision has occurred </a:t>
            </a:r>
            <a:r>
              <a:rPr b="1" i="0" lang="en-US" sz="2400" u="none" cap="none" strike="noStrike">
                <a:solidFill>
                  <a:schemeClr val="dk1"/>
                </a:solidFill>
                <a:latin typeface="Times New Roman"/>
                <a:ea typeface="Times New Roman"/>
                <a:cs typeface="Times New Roman"/>
                <a:sym typeface="Times New Roman"/>
              </a:rPr>
              <a:t>reducing channel wastage</a:t>
            </a:r>
            <a:r>
              <a:rPr b="0" i="0" lang="en-US" sz="2400" u="none" cap="none" strike="noStrike">
                <a:solidFill>
                  <a:schemeClr val="dk1"/>
                </a:solidFill>
                <a:latin typeface="Times New Roman"/>
                <a:ea typeface="Times New Roman"/>
                <a:cs typeface="Times New Roman"/>
                <a:sym typeface="Times New Roman"/>
              </a:rPr>
              <a:t> .</a:t>
            </a:r>
            <a:endParaRPr b="0" i="1"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50000"/>
              </a:lnSpc>
              <a:spcBef>
                <a:spcPts val="48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CSMA/CD is Widely used for </a:t>
            </a:r>
            <a:r>
              <a:rPr b="1" i="0" lang="en-US" sz="2400" u="none">
                <a:solidFill>
                  <a:srgbClr val="000000"/>
                </a:solidFill>
                <a:latin typeface="Times New Roman"/>
                <a:ea typeface="Times New Roman"/>
                <a:cs typeface="Times New Roman"/>
                <a:sym typeface="Times New Roman"/>
              </a:rPr>
              <a:t>bus topology LANs</a:t>
            </a:r>
            <a:r>
              <a:rPr b="0" i="0" lang="en-US" sz="2400" u="none">
                <a:solidFill>
                  <a:srgbClr val="000000"/>
                </a:solidFill>
                <a:latin typeface="Times New Roman"/>
                <a:ea typeface="Times New Roman"/>
                <a:cs typeface="Times New Roman"/>
                <a:sym typeface="Times New Roman"/>
              </a:rPr>
              <a:t> (IEEE 802.3, </a:t>
            </a:r>
            <a:r>
              <a:rPr b="0" i="0" lang="en-US" sz="2400" u="none">
                <a:solidFill>
                  <a:srgbClr val="FF0000"/>
                </a:solidFill>
                <a:latin typeface="Times New Roman"/>
                <a:ea typeface="Times New Roman"/>
                <a:cs typeface="Times New Roman"/>
                <a:sym typeface="Times New Roman"/>
              </a:rPr>
              <a:t>Ethernet</a:t>
            </a:r>
            <a:r>
              <a:rPr b="0" i="0" lang="en-US" sz="2400" u="none">
                <a:solidFill>
                  <a:srgbClr val="00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2400" u="non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Effect filter="fade" transition="in">
                                      <p:cBhvr>
                                        <p:cTn dur="500"/>
                                        <p:tgtEl>
                                          <p:spTgt spid="4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Effect filter="fade" transition="in">
                                      <p:cBhvr>
                                        <p:cTn dur="500"/>
                                        <p:tgtEl>
                                          <p:spTgt spid="4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Effect filter="fade" transition="in">
                                      <p:cBhvr>
                                        <p:cTn dur="500"/>
                                        <p:tgtEl>
                                          <p:spTgt spid="4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animEffect filter="fade" transition="in">
                                      <p:cBhvr>
                                        <p:cTn dur="500"/>
                                        <p:tgtEl>
                                          <p:spTgt spid="4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4" st="4"/>
                                            </p:txEl>
                                          </p:spTgt>
                                        </p:tgtEl>
                                        <p:attrNameLst>
                                          <p:attrName>style.visibility</p:attrName>
                                        </p:attrNameLst>
                                      </p:cBhvr>
                                      <p:to>
                                        <p:strVal val="visible"/>
                                      </p:to>
                                    </p:set>
                                    <p:animEffect filter="fade" transition="in">
                                      <p:cBhvr>
                                        <p:cTn dur="500"/>
                                        <p:tgtEl>
                                          <p:spTgt spid="4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5" st="5"/>
                                            </p:txEl>
                                          </p:spTgt>
                                        </p:tgtEl>
                                        <p:attrNameLst>
                                          <p:attrName>style.visibility</p:attrName>
                                        </p:attrNameLst>
                                      </p:cBhvr>
                                      <p:to>
                                        <p:strVal val="visible"/>
                                      </p:to>
                                    </p:set>
                                    <p:animEffect filter="fade" transition="in">
                                      <p:cBhvr>
                                        <p:cTn dur="500"/>
                                        <p:tgtEl>
                                          <p:spTgt spid="4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6" st="6"/>
                                            </p:txEl>
                                          </p:spTgt>
                                        </p:tgtEl>
                                        <p:attrNameLst>
                                          <p:attrName>style.visibility</p:attrName>
                                        </p:attrNameLst>
                                      </p:cBhvr>
                                      <p:to>
                                        <p:strVal val="visible"/>
                                      </p:to>
                                    </p:set>
                                    <p:animEffect filter="fade" transition="in">
                                      <p:cBhvr>
                                        <p:cTn dur="500"/>
                                        <p:tgtEl>
                                          <p:spTgt spid="44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pic>
        <p:nvPicPr>
          <p:cNvPr id="450" name="Google Shape;450;p47"/>
          <p:cNvPicPr preferRelativeResize="0"/>
          <p:nvPr/>
        </p:nvPicPr>
        <p:blipFill rotWithShape="1">
          <a:blip r:embed="rId3">
            <a:alphaModFix/>
          </a:blip>
          <a:srcRect b="0" l="0" r="0" t="0"/>
          <a:stretch/>
        </p:blipFill>
        <p:spPr>
          <a:xfrm>
            <a:off x="1828800" y="381000"/>
            <a:ext cx="8534400" cy="5943600"/>
          </a:xfrm>
          <a:prstGeom prst="rect">
            <a:avLst/>
          </a:prstGeom>
          <a:noFill/>
          <a:ln>
            <a:noFill/>
          </a:ln>
        </p:spPr>
      </p:pic>
      <p:sp>
        <p:nvSpPr>
          <p:cNvPr id="451" name="Google Shape;451;p47"/>
          <p:cNvSpPr txBox="1"/>
          <p:nvPr/>
        </p:nvSpPr>
        <p:spPr>
          <a:xfrm>
            <a:off x="8610600" y="1524000"/>
            <a:ext cx="304800" cy="228600"/>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2" name="Google Shape;452;p47"/>
          <p:cNvSpPr txBox="1"/>
          <p:nvPr/>
        </p:nvSpPr>
        <p:spPr>
          <a:xfrm>
            <a:off x="2247900" y="1814512"/>
            <a:ext cx="3276600" cy="304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53" name="Google Shape;453;p47"/>
          <p:cNvSpPr txBox="1"/>
          <p:nvPr/>
        </p:nvSpPr>
        <p:spPr>
          <a:xfrm>
            <a:off x="8491537" y="1419225"/>
            <a:ext cx="15240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of its own</a:t>
            </a:r>
            <a:endParaRPr/>
          </a:p>
        </p:txBody>
      </p:sp>
      <p:sp>
        <p:nvSpPr>
          <p:cNvPr id="454" name="Google Shape;454;p47"/>
          <p:cNvSpPr txBox="1"/>
          <p:nvPr/>
        </p:nvSpPr>
        <p:spPr>
          <a:xfrm>
            <a:off x="2286000" y="1752600"/>
            <a:ext cx="7696200" cy="46196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signal, it means collision occurred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8"/>
          <p:cNvSpPr txBox="1"/>
          <p:nvPr>
            <p:ph type="title"/>
          </p:nvPr>
        </p:nvSpPr>
        <p:spPr>
          <a:xfrm>
            <a:off x="2133600" y="0"/>
            <a:ext cx="7772400" cy="762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folHlink"/>
              </a:buClr>
              <a:buSzPts val="4400"/>
              <a:buFont typeface="Times New Roman"/>
              <a:buNone/>
            </a:pPr>
            <a:r>
              <a:rPr b="1" i="1" lang="en-US" sz="4400" u="none">
                <a:solidFill>
                  <a:schemeClr val="folHlink"/>
                </a:solidFill>
                <a:latin typeface="Times New Roman"/>
                <a:ea typeface="Times New Roman"/>
                <a:cs typeface="Times New Roman"/>
                <a:sym typeface="Times New Roman"/>
              </a:rPr>
              <a:t>CSMA/CD Protocol</a:t>
            </a:r>
            <a:endParaRPr/>
          </a:p>
        </p:txBody>
      </p:sp>
      <p:sp>
        <p:nvSpPr>
          <p:cNvPr id="460" name="Google Shape;460;p48"/>
          <p:cNvSpPr txBox="1"/>
          <p:nvPr>
            <p:ph idx="1" type="body"/>
          </p:nvPr>
        </p:nvSpPr>
        <p:spPr>
          <a:xfrm>
            <a:off x="766762" y="838200"/>
            <a:ext cx="11017250" cy="5410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000000"/>
              </a:buClr>
              <a:buSzPts val="2800"/>
              <a:buFont typeface="Arial"/>
              <a:buChar char="•"/>
            </a:pPr>
            <a:r>
              <a:rPr b="0" i="0" lang="en-US" sz="2800" u="none">
                <a:solidFill>
                  <a:srgbClr val="000000"/>
                </a:solidFill>
                <a:latin typeface="Times New Roman"/>
                <a:ea typeface="Times New Roman"/>
                <a:cs typeface="Times New Roman"/>
                <a:sym typeface="Times New Roman"/>
              </a:rPr>
              <a:t> </a:t>
            </a:r>
            <a:r>
              <a:rPr b="0" i="0" lang="en-US" sz="2400" u="none">
                <a:solidFill>
                  <a:srgbClr val="000000"/>
                </a:solidFill>
                <a:latin typeface="Times New Roman"/>
                <a:ea typeface="Times New Roman"/>
                <a:cs typeface="Times New Roman"/>
                <a:sym typeface="Times New Roman"/>
              </a:rPr>
              <a:t>Use one of the CSMA persistence algorithm </a:t>
            </a:r>
            <a:r>
              <a:rPr b="1" i="1" lang="en-US" sz="2800" u="none">
                <a:solidFill>
                  <a:srgbClr val="0000FF"/>
                </a:solidFill>
                <a:latin typeface="Times New Roman"/>
                <a:ea typeface="Times New Roman"/>
                <a:cs typeface="Times New Roman"/>
                <a:sym typeface="Times New Roman"/>
              </a:rPr>
              <a:t>(non-persistent, 1-persistent, p-persistent) </a:t>
            </a:r>
            <a:r>
              <a:rPr b="0" i="0" lang="en-US" sz="2800" u="none">
                <a:solidFill>
                  <a:srgbClr val="000000"/>
                </a:solidFill>
                <a:latin typeface="Times New Roman"/>
                <a:ea typeface="Times New Roman"/>
                <a:cs typeface="Times New Roman"/>
                <a:sym typeface="Times New Roman"/>
              </a:rPr>
              <a:t>for  transmission</a:t>
            </a:r>
            <a:endParaRPr/>
          </a:p>
          <a:p>
            <a:pPr indent="-228600" lvl="0" marL="228600" marR="0" rtl="0" algn="l">
              <a:lnSpc>
                <a:spcPct val="90000"/>
              </a:lnSpc>
              <a:spcBef>
                <a:spcPts val="1000"/>
              </a:spcBef>
              <a:spcAft>
                <a:spcPts val="0"/>
              </a:spcAft>
              <a:buClr>
                <a:srgbClr val="000000"/>
              </a:buClr>
              <a:buSzPts val="2400"/>
              <a:buFont typeface="Arial"/>
              <a:buChar char="•"/>
            </a:pPr>
            <a:r>
              <a:rPr b="0" i="0" lang="en-US" sz="2400" u="none">
                <a:solidFill>
                  <a:srgbClr val="000000"/>
                </a:solidFill>
                <a:latin typeface="Times New Roman"/>
                <a:ea typeface="Times New Roman"/>
                <a:cs typeface="Times New Roman"/>
                <a:sym typeface="Times New Roman"/>
              </a:rPr>
              <a:t>If a collision is detected by a station during its transmission then it should do the following:</a:t>
            </a:r>
            <a:endParaRPr/>
          </a:p>
          <a:p>
            <a:pPr indent="-228600" lvl="1" marL="685800" marR="0" rtl="0" algn="l">
              <a:lnSpc>
                <a:spcPct val="90000"/>
              </a:lnSpc>
              <a:spcBef>
                <a:spcPts val="500"/>
              </a:spcBef>
              <a:spcAft>
                <a:spcPts val="0"/>
              </a:spcAft>
              <a:buClr>
                <a:srgbClr val="000000"/>
              </a:buClr>
              <a:buSzPts val="2400"/>
              <a:buFont typeface="Arial"/>
              <a:buChar char="•"/>
            </a:pPr>
            <a:r>
              <a:rPr b="1" i="0" lang="en-US" sz="2400" u="none" cap="none" strike="noStrike">
                <a:solidFill>
                  <a:srgbClr val="000000"/>
                </a:solidFill>
                <a:latin typeface="Times New Roman"/>
                <a:ea typeface="Times New Roman"/>
                <a:cs typeface="Times New Roman"/>
                <a:sym typeface="Times New Roman"/>
              </a:rPr>
              <a:t>Abort transmission</a:t>
            </a:r>
            <a:r>
              <a:rPr b="0" i="0" lang="en-US" sz="2400" u="none" cap="none" strike="noStrike">
                <a:solidFill>
                  <a:srgbClr val="000000"/>
                </a:solidFill>
                <a:latin typeface="Times New Roman"/>
                <a:ea typeface="Times New Roman"/>
                <a:cs typeface="Times New Roman"/>
                <a:sym typeface="Times New Roman"/>
              </a:rPr>
              <a:t> and</a:t>
            </a:r>
            <a:r>
              <a:rPr b="1" i="0" lang="en-US" sz="2400" u="none" cap="none" strike="noStrike">
                <a:solidFill>
                  <a:srgbClr val="000000"/>
                </a:solidFill>
                <a:latin typeface="Times New Roman"/>
                <a:ea typeface="Times New Roman"/>
                <a:cs typeface="Times New Roman"/>
                <a:sym typeface="Times New Roman"/>
              </a:rPr>
              <a:t>  Transmit</a:t>
            </a:r>
            <a:r>
              <a:rPr b="0" i="0" lang="en-US" sz="2400" u="none" cap="none" strike="noStrike">
                <a:solidFill>
                  <a:srgbClr val="000000"/>
                </a:solidFill>
                <a:latin typeface="Times New Roman"/>
                <a:ea typeface="Times New Roman"/>
                <a:cs typeface="Times New Roman"/>
                <a:sym typeface="Times New Roman"/>
              </a:rPr>
              <a:t> a </a:t>
            </a:r>
            <a:r>
              <a:rPr b="1" i="1" lang="en-US" sz="2400" u="none" cap="none" strike="noStrike">
                <a:solidFill>
                  <a:srgbClr val="0000FF"/>
                </a:solidFill>
                <a:latin typeface="Times New Roman"/>
                <a:ea typeface="Times New Roman"/>
                <a:cs typeface="Times New Roman"/>
                <a:sym typeface="Times New Roman"/>
              </a:rPr>
              <a:t>jam signal </a:t>
            </a:r>
            <a:r>
              <a:rPr b="0" i="0" lang="en-US" sz="2400" u="none" cap="none" strike="noStrike">
                <a:solidFill>
                  <a:srgbClr val="0000FF"/>
                </a:solidFill>
                <a:latin typeface="Times New Roman"/>
                <a:ea typeface="Times New Roman"/>
                <a:cs typeface="Times New Roman"/>
                <a:sym typeface="Times New Roman"/>
              </a:rPr>
              <a:t>(48 bit) </a:t>
            </a:r>
            <a:r>
              <a:rPr b="1" i="1" lang="en-US" sz="2400" u="none" cap="none" strike="noStrike">
                <a:solidFill>
                  <a:srgbClr val="0000FF"/>
                </a:solidFill>
                <a:latin typeface="Times New Roman"/>
                <a:ea typeface="Times New Roman"/>
                <a:cs typeface="Times New Roman"/>
                <a:sym typeface="Times New Roman"/>
              </a:rPr>
              <a:t> </a:t>
            </a:r>
            <a:r>
              <a:rPr b="0" i="0" lang="en-US" sz="2400" u="none" cap="none" strike="noStrike">
                <a:solidFill>
                  <a:srgbClr val="000000"/>
                </a:solidFill>
                <a:latin typeface="Times New Roman"/>
                <a:ea typeface="Times New Roman"/>
                <a:cs typeface="Times New Roman"/>
                <a:sym typeface="Times New Roman"/>
              </a:rPr>
              <a:t>to notify other stations  about  collision </a:t>
            </a:r>
            <a:endParaRPr/>
          </a:p>
          <a:p>
            <a:pPr indent="-76200" lvl="1" marL="685800" marR="0" rtl="0" algn="l">
              <a:lnSpc>
                <a:spcPct val="90000"/>
              </a:lnSpc>
              <a:spcBef>
                <a:spcPts val="50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228600" lvl="1" marL="685800" marR="0" rtl="0" algn="l">
              <a:lnSpc>
                <a:spcPct val="90000"/>
              </a:lnSpc>
              <a:spcBef>
                <a:spcPts val="50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After sending the </a:t>
            </a:r>
            <a:r>
              <a:rPr b="1" i="1" lang="en-US" sz="2400" u="none" cap="none" strike="noStrike">
                <a:solidFill>
                  <a:srgbClr val="0000FF"/>
                </a:solidFill>
                <a:latin typeface="Times New Roman"/>
                <a:ea typeface="Times New Roman"/>
                <a:cs typeface="Times New Roman"/>
                <a:sym typeface="Times New Roman"/>
              </a:rPr>
              <a:t>jam signal</a:t>
            </a:r>
            <a:r>
              <a:rPr b="0" i="0" lang="en-US" sz="2400" u="none" cap="none" strike="noStrike">
                <a:solidFill>
                  <a:srgbClr val="000000"/>
                </a:solidFill>
                <a:latin typeface="Times New Roman"/>
                <a:ea typeface="Times New Roman"/>
                <a:cs typeface="Times New Roman"/>
                <a:sym typeface="Times New Roman"/>
              </a:rPr>
              <a:t>, </a:t>
            </a:r>
            <a:r>
              <a:rPr b="1" i="0" lang="en-US" sz="2400" u="none" cap="none" strike="noStrike">
                <a:solidFill>
                  <a:srgbClr val="000000"/>
                </a:solidFill>
                <a:latin typeface="Times New Roman"/>
                <a:ea typeface="Times New Roman"/>
                <a:cs typeface="Times New Roman"/>
                <a:sym typeface="Times New Roman"/>
              </a:rPr>
              <a:t>backoff (wait) for a </a:t>
            </a:r>
            <a:r>
              <a:rPr b="1" i="1" lang="en-US" sz="2400" u="none" cap="none" strike="noStrike">
                <a:solidFill>
                  <a:srgbClr val="000000"/>
                </a:solidFill>
                <a:latin typeface="Times New Roman"/>
                <a:ea typeface="Times New Roman"/>
                <a:cs typeface="Times New Roman"/>
                <a:sym typeface="Times New Roman"/>
              </a:rPr>
              <a:t>random</a:t>
            </a:r>
            <a:r>
              <a:rPr b="0" i="0" lang="en-US" sz="2400" u="none" cap="none" strike="noStrike">
                <a:solidFill>
                  <a:srgbClr val="000000"/>
                </a:solidFill>
                <a:latin typeface="Times New Roman"/>
                <a:ea typeface="Times New Roman"/>
                <a:cs typeface="Times New Roman"/>
                <a:sym typeface="Times New Roman"/>
              </a:rPr>
              <a:t> amount of time, then</a:t>
            </a:r>
            <a:endParaRPr/>
          </a:p>
          <a:p>
            <a:pPr indent="-228600" lvl="1" marL="685800" marR="0" rtl="0" algn="l">
              <a:lnSpc>
                <a:spcPct val="90000"/>
              </a:lnSpc>
              <a:spcBef>
                <a:spcPts val="50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Transmit the frame again</a:t>
            </a:r>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0" st="0"/>
                                            </p:txEl>
                                          </p:spTgt>
                                        </p:tgtEl>
                                        <p:attrNameLst>
                                          <p:attrName>style.visibility</p:attrName>
                                        </p:attrNameLst>
                                      </p:cBhvr>
                                      <p:to>
                                        <p:strVal val="visible"/>
                                      </p:to>
                                    </p:set>
                                    <p:animEffect filter="fade" transition="in">
                                      <p:cBhvr>
                                        <p:cTn dur="500"/>
                                        <p:tgtEl>
                                          <p:spTgt spid="4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1" st="1"/>
                                            </p:txEl>
                                          </p:spTgt>
                                        </p:tgtEl>
                                        <p:attrNameLst>
                                          <p:attrName>style.visibility</p:attrName>
                                        </p:attrNameLst>
                                      </p:cBhvr>
                                      <p:to>
                                        <p:strVal val="visible"/>
                                      </p:to>
                                    </p:set>
                                    <p:animEffect filter="fade" transition="in">
                                      <p:cBhvr>
                                        <p:cTn dur="500"/>
                                        <p:tgtEl>
                                          <p:spTgt spid="4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2" st="2"/>
                                            </p:txEl>
                                          </p:spTgt>
                                        </p:tgtEl>
                                        <p:attrNameLst>
                                          <p:attrName>style.visibility</p:attrName>
                                        </p:attrNameLst>
                                      </p:cBhvr>
                                      <p:to>
                                        <p:strVal val="visible"/>
                                      </p:to>
                                    </p:set>
                                    <p:animEffect filter="fade" transition="in">
                                      <p:cBhvr>
                                        <p:cTn dur="500"/>
                                        <p:tgtEl>
                                          <p:spTgt spid="4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3" st="3"/>
                                            </p:txEl>
                                          </p:spTgt>
                                        </p:tgtEl>
                                        <p:attrNameLst>
                                          <p:attrName>style.visibility</p:attrName>
                                        </p:attrNameLst>
                                      </p:cBhvr>
                                      <p:to>
                                        <p:strVal val="visible"/>
                                      </p:to>
                                    </p:set>
                                    <p:animEffect filter="fade" transition="in">
                                      <p:cBhvr>
                                        <p:cTn dur="500"/>
                                        <p:tgtEl>
                                          <p:spTgt spid="4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4" st="4"/>
                                            </p:txEl>
                                          </p:spTgt>
                                        </p:tgtEl>
                                        <p:attrNameLst>
                                          <p:attrName>style.visibility</p:attrName>
                                        </p:attrNameLst>
                                      </p:cBhvr>
                                      <p:to>
                                        <p:strVal val="visible"/>
                                      </p:to>
                                    </p:set>
                                    <p:animEffect filter="fade" transition="in">
                                      <p:cBhvr>
                                        <p:cTn dur="500"/>
                                        <p:tgtEl>
                                          <p:spTgt spid="4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5" st="5"/>
                                            </p:txEl>
                                          </p:spTgt>
                                        </p:tgtEl>
                                        <p:attrNameLst>
                                          <p:attrName>style.visibility</p:attrName>
                                        </p:attrNameLst>
                                      </p:cBhvr>
                                      <p:to>
                                        <p:strVal val="visible"/>
                                      </p:to>
                                    </p:set>
                                    <p:animEffect filter="fade" transition="in">
                                      <p:cBhvr>
                                        <p:cTn dur="500"/>
                                        <p:tgtEl>
                                          <p:spTgt spid="4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6" st="6"/>
                                            </p:txEl>
                                          </p:spTgt>
                                        </p:tgtEl>
                                        <p:attrNameLst>
                                          <p:attrName>style.visibility</p:attrName>
                                        </p:attrNameLst>
                                      </p:cBhvr>
                                      <p:to>
                                        <p:strVal val="visible"/>
                                      </p:to>
                                    </p:set>
                                    <p:animEffect filter="fade" transition="in">
                                      <p:cBhvr>
                                        <p:cTn dur="500"/>
                                        <p:tgtEl>
                                          <p:spTgt spid="46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9"/>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CSMA/CD </a:t>
            </a:r>
            <a:endParaRPr/>
          </a:p>
        </p:txBody>
      </p:sp>
      <p:pic>
        <p:nvPicPr>
          <p:cNvPr descr="Fig06-11" id="466" name="Google Shape;466;p49"/>
          <p:cNvPicPr preferRelativeResize="0"/>
          <p:nvPr>
            <p:ph idx="1" type="body"/>
          </p:nvPr>
        </p:nvPicPr>
        <p:blipFill rotWithShape="1">
          <a:blip r:embed="rId3">
            <a:alphaModFix/>
          </a:blip>
          <a:srcRect b="0" l="0" r="0" t="0"/>
          <a:stretch/>
        </p:blipFill>
        <p:spPr>
          <a:xfrm>
            <a:off x="3089275" y="2187575"/>
            <a:ext cx="6086475" cy="30162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CSMA/CA</a:t>
            </a:r>
            <a:endParaRPr/>
          </a:p>
        </p:txBody>
      </p:sp>
      <p:sp>
        <p:nvSpPr>
          <p:cNvPr id="472" name="Google Shape;472;p50"/>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CSMA/CA </a:t>
            </a:r>
            <a:r>
              <a:rPr b="0" i="0" lang="en-US" sz="2800" u="sng">
                <a:solidFill>
                  <a:schemeClr val="dk1"/>
                </a:solidFill>
                <a:latin typeface="Calibri"/>
                <a:ea typeface="Calibri"/>
                <a:cs typeface="Calibri"/>
                <a:sym typeface="Calibri"/>
                <a:hlinkClick r:id="rId3">
                  <a:extLst>
                    <a:ext uri="{A12FA001-AC4F-418D-AE19-62706E023703}">
                      <ahyp:hlinkClr val="tx"/>
                    </a:ext>
                  </a:extLst>
                </a:hlinkClick>
              </a:rPr>
              <a:t>protocol</a:t>
            </a:r>
            <a:r>
              <a:rPr b="0" i="0" lang="en-US" sz="2800" u="none">
                <a:solidFill>
                  <a:schemeClr val="dk1"/>
                </a:solidFill>
                <a:latin typeface="Calibri"/>
                <a:ea typeface="Calibri"/>
                <a:cs typeface="Calibri"/>
                <a:sym typeface="Calibri"/>
              </a:rPr>
              <a:t> is used in wireless networks because they cannot detect the collision so the only solution is collision avoidance.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In contrast to CSMA/CD (Carrier Sense Multiple Access/Collision Detection) that deals with collisions after their occurrence, CSMA/CA prevents collisions prior to their occurrence.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73" name="Google Shape;473;p50"/>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4" name="Google Shape;474;p50"/>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1"/>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CSMA/CA-Algorithm</a:t>
            </a:r>
            <a:br>
              <a:rPr b="0" i="0" lang="en-US" sz="4400" u="none">
                <a:solidFill>
                  <a:schemeClr val="dk1"/>
                </a:solidFill>
                <a:latin typeface="Calibri"/>
                <a:ea typeface="Calibri"/>
                <a:cs typeface="Calibri"/>
                <a:sym typeface="Calibri"/>
              </a:rPr>
            </a:br>
            <a:endParaRPr/>
          </a:p>
        </p:txBody>
      </p:sp>
      <p:sp>
        <p:nvSpPr>
          <p:cNvPr id="480" name="Google Shape;480;p51"/>
          <p:cNvSpPr txBox="1"/>
          <p:nvPr>
            <p:ph idx="1" type="body"/>
          </p:nvPr>
        </p:nvSpPr>
        <p:spPr>
          <a:xfrm>
            <a:off x="838200" y="1341437"/>
            <a:ext cx="10515600" cy="53800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 a frame is ready, the transmitting station checks whether the channel is idle or busy.</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the channel is busy, the station waits until the channel becomes idle.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the channel is idle, the station waits for an Inter-frame gap (IFG) amount of time and then sends the frame.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After sending the frame, it sets a timer.</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station then waits for acknowledgement from the receiver. If it receives the acknowledgement before expiry of timer, it marks a successful transmission.</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Otherwise, it waits for a back-off time period and restarts the algorithm.</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81" name="Google Shape;481;p51"/>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2" name="Google Shape;482;p51"/>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CSMA/CA-</a:t>
            </a:r>
            <a:br>
              <a:rPr b="0" i="0" lang="en-US" sz="4400" u="none">
                <a:solidFill>
                  <a:schemeClr val="dk1"/>
                </a:solidFill>
                <a:latin typeface="Calibri"/>
                <a:ea typeface="Calibri"/>
                <a:cs typeface="Calibri"/>
                <a:sym typeface="Calibri"/>
              </a:rPr>
            </a:br>
            <a:endParaRPr/>
          </a:p>
        </p:txBody>
      </p:sp>
      <p:sp>
        <p:nvSpPr>
          <p:cNvPr id="488" name="Google Shape;488;p52"/>
          <p:cNvSpPr txBox="1"/>
          <p:nvPr>
            <p:ph idx="1" type="body"/>
          </p:nvPr>
        </p:nvSpPr>
        <p:spPr>
          <a:xfrm>
            <a:off x="838200" y="1341437"/>
            <a:ext cx="10515600" cy="53800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 a frame is ready, the transmitting station checks whether the channel is idle or busy.</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the channel is busy, the station waits until the channel becomes idle.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the channel is idle, the station waits for an Inter-frame gap (IFG) amount of time and then sends the frame.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After sending the frame, it sets a timer.</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station then waits for acknowledgement from the receiver. If it receives the acknowledgement before expiry of timer, it marks a successful transmission.</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Otherwise, it waits for a back-off time period and restarts the algorithm.</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89" name="Google Shape;489;p52"/>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0" name="Google Shape;490;p52"/>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5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CSMA/CA</a:t>
            </a:r>
            <a:endParaRPr/>
          </a:p>
        </p:txBody>
      </p:sp>
      <p:sp>
        <p:nvSpPr>
          <p:cNvPr id="496" name="Google Shape;496;p5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CSMA/CA </a:t>
            </a:r>
            <a:r>
              <a:rPr b="0" i="0" lang="en-US" sz="2800" u="sng">
                <a:solidFill>
                  <a:schemeClr val="dk1"/>
                </a:solidFill>
                <a:latin typeface="Calibri"/>
                <a:ea typeface="Calibri"/>
                <a:cs typeface="Calibri"/>
                <a:sym typeface="Calibri"/>
                <a:hlinkClick r:id="rId3">
                  <a:extLst>
                    <a:ext uri="{A12FA001-AC4F-418D-AE19-62706E023703}">
                      <ahyp:hlinkClr val="tx"/>
                    </a:ext>
                  </a:extLst>
                </a:hlinkClick>
              </a:rPr>
              <a:t>protocol</a:t>
            </a:r>
            <a:r>
              <a:rPr b="0" i="0" lang="en-US" sz="2800" u="none">
                <a:solidFill>
                  <a:schemeClr val="dk1"/>
                </a:solidFill>
                <a:latin typeface="Calibri"/>
                <a:ea typeface="Calibri"/>
                <a:cs typeface="Calibri"/>
                <a:sym typeface="Calibri"/>
              </a:rPr>
              <a:t> is used in wireless networks because they cannot detect the collision so the only solution is collision avoidance.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CSMA/CA avoids the collisions using three basic techniques.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 Interframe space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(ii) Contention window</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(iii) Acknowledgements</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497" name="Google Shape;497;p53"/>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8" name="Google Shape;498;p53"/>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4"/>
          <p:cNvSpPr txBox="1"/>
          <p:nvPr>
            <p:ph type="title"/>
          </p:nvPr>
        </p:nvSpPr>
        <p:spPr>
          <a:xfrm>
            <a:off x="838200" y="365125"/>
            <a:ext cx="10515600" cy="97631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Interframe space</a:t>
            </a:r>
            <a:br>
              <a:rPr b="0" i="0" lang="en-US" sz="4400" u="none">
                <a:solidFill>
                  <a:schemeClr val="dk1"/>
                </a:solidFill>
                <a:latin typeface="Calibri"/>
                <a:ea typeface="Calibri"/>
                <a:cs typeface="Calibri"/>
                <a:sym typeface="Calibri"/>
              </a:rPr>
            </a:br>
            <a:endParaRPr/>
          </a:p>
        </p:txBody>
      </p:sp>
      <p:sp>
        <p:nvSpPr>
          <p:cNvPr id="504" name="Google Shape;504;p54"/>
          <p:cNvSpPr txBox="1"/>
          <p:nvPr>
            <p:ph idx="1" type="body"/>
          </p:nvPr>
        </p:nvSpPr>
        <p:spPr>
          <a:xfrm>
            <a:off x="838200" y="1484312"/>
            <a:ext cx="10515600" cy="48720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Whenever the channel is found idle, the station does not transmit immediately. It waits for a period of time called interframe space (IFS).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 channel is sensed to be idle, it may be possible that same distant station may have already started transmitting and the signal of that distant station has not yet reached other stations.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Therefore the purpose of IFS time is to allow this transmitted signal to reach other stations.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after this IFS time, the channel is still idle, the station can send, but it still needs to wait a time equal to contention time.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IFS variable can also be used to define the priority of a station or a frame.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505" name="Google Shape;505;p54"/>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6" name="Google Shape;506;p54"/>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5"/>
          <p:cNvSpPr txBox="1"/>
          <p:nvPr>
            <p:ph type="title"/>
          </p:nvPr>
        </p:nvSpPr>
        <p:spPr>
          <a:xfrm>
            <a:off x="838200" y="365125"/>
            <a:ext cx="10515600" cy="10477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Contention Window</a:t>
            </a:r>
            <a:endParaRPr/>
          </a:p>
        </p:txBody>
      </p:sp>
      <p:sp>
        <p:nvSpPr>
          <p:cNvPr id="512" name="Google Shape;512;p55"/>
          <p:cNvSpPr txBox="1"/>
          <p:nvPr>
            <p:ph idx="1" type="body"/>
          </p:nvPr>
        </p:nvSpPr>
        <p:spPr>
          <a:xfrm>
            <a:off x="838200" y="1268412"/>
            <a:ext cx="10515600" cy="49085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Contention window is an amount of time divided into slots.</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A station that is ready to send chooses a random number of slots as its wait time.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number of slots in the window changes according to the binary exponential back-off strategy. It means that it is set of one slot the first time and then doubles each time the station cannot detect an idle channel after the IFS time.</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contention window the station needs to sense the channel after each time slot.</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If the station finds the channel busy, it does not restart the process. It just stops the timer &amp; restarts it when the channel is sensed as idle.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513" name="Google Shape;513;p55"/>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4" name="Google Shape;514;p55"/>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1" i="0" lang="en-US" sz="4400" u="none">
                <a:solidFill>
                  <a:schemeClr val="dk1"/>
                </a:solidFill>
                <a:latin typeface="Calibri"/>
                <a:ea typeface="Calibri"/>
                <a:cs typeface="Calibri"/>
                <a:sym typeface="Calibri"/>
              </a:rPr>
              <a:t>Acknowledgement </a:t>
            </a:r>
            <a:endParaRPr/>
          </a:p>
        </p:txBody>
      </p:sp>
      <p:sp>
        <p:nvSpPr>
          <p:cNvPr id="520" name="Google Shape;520;p56"/>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a:p>
            <a:pPr indent="-177800" lvl="0" marL="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Despite all the precautions, collisions may occur and destroy the data.</a:t>
            </a:r>
            <a:endParaRPr/>
          </a:p>
          <a:p>
            <a:pPr indent="-177800" lvl="0" marL="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positive acknowledgment and the time-out timer can help guarantee that receiver has received the frame.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
        <p:nvSpPr>
          <p:cNvPr id="521" name="Google Shape;521;p56"/>
          <p:cNvSpPr txBox="1"/>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2" name="Google Shape;522;p56"/>
          <p:cNvSpPr txBox="1"/>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a:solidFill>
                  <a:srgbClr val="898989"/>
                </a:solidFill>
                <a:latin typeface="Times New Roman"/>
                <a:ea typeface="Times New Roman"/>
                <a:cs typeface="Times New Roman"/>
                <a:sym typeface="Times New Roman"/>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1999-10-18T08:10:31Z</dcterms:created>
  <dc:creator>Turhan Tunali</dc:creator>
</cp:coreProperties>
</file>

<file path=docProps/custom.xml><?xml version="1.0" encoding="utf-8"?>
<Properties xmlns="http://schemas.openxmlformats.org/officeDocument/2006/custom-properties" xmlns:vt="http://schemas.openxmlformats.org/officeDocument/2006/docPropsVTypes"/>
</file>