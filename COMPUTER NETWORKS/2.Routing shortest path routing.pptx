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hFZtPV/z/2nEujqx9k4BxL04j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1"/>
          <p:cNvSpPr/>
          <p:nvPr>
            <p:ph idx="2" type="pic"/>
          </p:nvPr>
        </p:nvSpPr>
        <p:spPr>
          <a:xfrm>
            <a:off x="5183188" y="987425"/>
            <a:ext cx="6172200" cy="4873625"/>
          </a:xfrm>
          <a:prstGeom prst="rect">
            <a:avLst/>
          </a:prstGeom>
          <a:noFill/>
          <a:ln>
            <a:noFill/>
          </a:ln>
        </p:spPr>
      </p:sp>
      <p:sp>
        <p:nvSpPr>
          <p:cNvPr id="64" name="Google Shape;64;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Routing Algorithms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1524000" y="0"/>
            <a:ext cx="9144000" cy="7195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Routing Algorithms</a:t>
            </a:r>
            <a:endParaRPr sz="3600"/>
          </a:p>
        </p:txBody>
      </p:sp>
      <p:sp>
        <p:nvSpPr>
          <p:cNvPr id="91" name="Google Shape;91;p2"/>
          <p:cNvSpPr txBox="1"/>
          <p:nvPr>
            <p:ph idx="1" type="body"/>
          </p:nvPr>
        </p:nvSpPr>
        <p:spPr>
          <a:xfrm>
            <a:off x="1680306" y="764497"/>
            <a:ext cx="8867775" cy="577871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Font typeface="Noto Sans Symbols"/>
              <a:buChar char="▪"/>
            </a:pPr>
            <a:r>
              <a:rPr lang="en-US">
                <a:solidFill>
                  <a:srgbClr val="FF0000"/>
                </a:solidFill>
              </a:rPr>
              <a:t>Routing algorithm </a:t>
            </a:r>
            <a:r>
              <a:rPr lang="en-US"/>
              <a:t>is that part of the network layer software responsible for deciding which output line an incoming packet should be transmitted on. </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If the subnet uses </a:t>
            </a:r>
            <a:r>
              <a:rPr lang="en-US">
                <a:solidFill>
                  <a:srgbClr val="FF0000"/>
                </a:solidFill>
              </a:rPr>
              <a:t>datagrams</a:t>
            </a:r>
            <a:r>
              <a:rPr lang="en-US"/>
              <a:t> internally, this decision must be made anew for every arriving data packet since the best route may have changed since last time. </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If the subnet uses </a:t>
            </a:r>
            <a:r>
              <a:rPr lang="en-US">
                <a:solidFill>
                  <a:srgbClr val="FF0000"/>
                </a:solidFill>
              </a:rPr>
              <a:t>virtual circuits </a:t>
            </a:r>
            <a:r>
              <a:rPr lang="en-US"/>
              <a:t>internally, routing decisions are made only when a new virtual circuit is being set up.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Thereafter, data packets just follow the previously-established route.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This is sometimes called </a:t>
            </a:r>
            <a:r>
              <a:rPr lang="en-US">
                <a:solidFill>
                  <a:srgbClr val="FF3300"/>
                </a:solidFill>
              </a:rPr>
              <a:t>session routing </a:t>
            </a:r>
            <a:r>
              <a:rPr lang="en-US"/>
              <a:t>because a route remains in force for an entire user session (e.g., a login session at a terminal or a file transfer). </a:t>
            </a:r>
            <a:endParaRPr>
              <a:latin typeface="Calibri"/>
              <a:ea typeface="Calibri"/>
              <a:cs typeface="Calibri"/>
              <a:sym typeface="Calibri"/>
            </a:endParaRPr>
          </a:p>
        </p:txBody>
      </p:sp>
      <p:sp>
        <p:nvSpPr>
          <p:cNvPr id="92" name="Google Shape;9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500"/>
                                        <p:tgtEl>
                                          <p:spTgt spid="9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Properties</a:t>
            </a:r>
            <a:r>
              <a:rPr lang="en-US"/>
              <a:t> of  routing algorithm</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200" lvl="1" marL="914400" rtl="0" algn="just">
              <a:lnSpc>
                <a:spcPct val="90000"/>
              </a:lnSpc>
              <a:spcBef>
                <a:spcPts val="0"/>
              </a:spcBef>
              <a:spcAft>
                <a:spcPts val="0"/>
              </a:spcAft>
              <a:buClr>
                <a:schemeClr val="dk1"/>
              </a:buClr>
              <a:buSzPts val="3200"/>
              <a:buFont typeface="Calibri"/>
              <a:buAutoNum type="arabicPeriod"/>
            </a:pPr>
            <a:r>
              <a:rPr lang="en-US" sz="3200"/>
              <a:t>correctness</a:t>
            </a:r>
            <a:endParaRPr sz="3200"/>
          </a:p>
          <a:p>
            <a:pPr indent="-457200" lvl="1" marL="914400" rtl="0" algn="just">
              <a:lnSpc>
                <a:spcPct val="90000"/>
              </a:lnSpc>
              <a:spcBef>
                <a:spcPts val="500"/>
              </a:spcBef>
              <a:spcAft>
                <a:spcPts val="0"/>
              </a:spcAft>
              <a:buClr>
                <a:schemeClr val="dk1"/>
              </a:buClr>
              <a:buSzPts val="3200"/>
              <a:buFont typeface="Calibri"/>
              <a:buAutoNum type="arabicPeriod"/>
            </a:pPr>
            <a:r>
              <a:rPr lang="en-US" sz="3200"/>
              <a:t>simplicity </a:t>
            </a:r>
            <a:endParaRPr/>
          </a:p>
          <a:p>
            <a:pPr indent="-457200" lvl="1" marL="914400" rtl="0" algn="just">
              <a:lnSpc>
                <a:spcPct val="90000"/>
              </a:lnSpc>
              <a:spcBef>
                <a:spcPts val="500"/>
              </a:spcBef>
              <a:spcAft>
                <a:spcPts val="0"/>
              </a:spcAft>
              <a:buClr>
                <a:schemeClr val="dk1"/>
              </a:buClr>
              <a:buSzPts val="3200"/>
              <a:buFont typeface="Calibri"/>
              <a:buAutoNum type="arabicPeriod"/>
            </a:pPr>
            <a:r>
              <a:rPr lang="en-US" sz="3200"/>
              <a:t>robustness</a:t>
            </a:r>
            <a:endParaRPr/>
          </a:p>
          <a:p>
            <a:pPr indent="-457200" lvl="1" marL="914400" rtl="0" algn="just">
              <a:lnSpc>
                <a:spcPct val="90000"/>
              </a:lnSpc>
              <a:spcBef>
                <a:spcPts val="500"/>
              </a:spcBef>
              <a:spcAft>
                <a:spcPts val="0"/>
              </a:spcAft>
              <a:buClr>
                <a:schemeClr val="dk1"/>
              </a:buClr>
              <a:buSzPts val="3200"/>
              <a:buFont typeface="Calibri"/>
              <a:buAutoNum type="arabicPeriod"/>
            </a:pPr>
            <a:r>
              <a:rPr lang="en-US" sz="3200"/>
              <a:t>stability</a:t>
            </a:r>
            <a:endParaRPr/>
          </a:p>
          <a:p>
            <a:pPr indent="-457200" lvl="1" marL="914400" rtl="0" algn="just">
              <a:lnSpc>
                <a:spcPct val="90000"/>
              </a:lnSpc>
              <a:spcBef>
                <a:spcPts val="500"/>
              </a:spcBef>
              <a:spcAft>
                <a:spcPts val="0"/>
              </a:spcAft>
              <a:buClr>
                <a:schemeClr val="dk1"/>
              </a:buClr>
              <a:buSzPts val="3200"/>
              <a:buFont typeface="Calibri"/>
              <a:buAutoNum type="arabicPeriod"/>
            </a:pPr>
            <a:r>
              <a:rPr lang="en-US" sz="3200"/>
              <a:t>fairness and </a:t>
            </a:r>
            <a:endParaRPr/>
          </a:p>
          <a:p>
            <a:pPr indent="-457200" lvl="1" marL="914400" rtl="0" algn="just">
              <a:lnSpc>
                <a:spcPct val="90000"/>
              </a:lnSpc>
              <a:spcBef>
                <a:spcPts val="500"/>
              </a:spcBef>
              <a:spcAft>
                <a:spcPts val="0"/>
              </a:spcAft>
              <a:buClr>
                <a:schemeClr val="dk1"/>
              </a:buClr>
              <a:buSzPts val="3200"/>
              <a:buFont typeface="Calibri"/>
              <a:buAutoNum type="arabicPeriod"/>
            </a:pPr>
            <a:r>
              <a:rPr lang="en-US" sz="3200"/>
              <a:t>optimality</a:t>
            </a:r>
            <a:endParaRPr/>
          </a:p>
          <a:p>
            <a:pPr indent="-311150" lvl="0" marL="514350" rtl="0" algn="l">
              <a:lnSpc>
                <a:spcPct val="90000"/>
              </a:lnSpc>
              <a:spcBef>
                <a:spcPts val="1000"/>
              </a:spcBef>
              <a:spcAft>
                <a:spcPts val="0"/>
              </a:spcAft>
              <a:buClr>
                <a:schemeClr val="dk1"/>
              </a:buClr>
              <a:buSzPts val="3200"/>
              <a:buFont typeface="Calibri"/>
              <a:buNone/>
            </a:pPr>
            <a:r>
              <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Routing Algorithms</a:t>
            </a:r>
            <a:endParaRPr/>
          </a:p>
        </p:txBody>
      </p:sp>
      <p:sp>
        <p:nvSpPr>
          <p:cNvPr id="104" name="Google Shape;104;p4"/>
          <p:cNvSpPr txBox="1"/>
          <p:nvPr>
            <p:ph idx="1" type="body"/>
          </p:nvPr>
        </p:nvSpPr>
        <p:spPr>
          <a:xfrm>
            <a:off x="1524000" y="815622"/>
            <a:ext cx="9144000" cy="465713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Routing algorithms can be grouped into two major classes: </a:t>
            </a:r>
            <a:endParaRPr/>
          </a:p>
          <a:p>
            <a:pPr indent="-457200" lvl="1" marL="914400" rtl="0" algn="just">
              <a:lnSpc>
                <a:spcPct val="250000"/>
              </a:lnSpc>
              <a:spcBef>
                <a:spcPts val="500"/>
              </a:spcBef>
              <a:spcAft>
                <a:spcPts val="0"/>
              </a:spcAft>
              <a:buClr>
                <a:schemeClr val="dk1"/>
              </a:buClr>
              <a:buSzPts val="3200"/>
              <a:buFont typeface="Calibri"/>
              <a:buAutoNum type="arabicPeriod"/>
            </a:pPr>
            <a:r>
              <a:rPr lang="en-US" sz="3200"/>
              <a:t>Nonadaptive or Static Routing</a:t>
            </a:r>
            <a:endParaRPr sz="3200"/>
          </a:p>
          <a:p>
            <a:pPr indent="-457200" lvl="1" marL="914400" rtl="0" algn="just">
              <a:lnSpc>
                <a:spcPct val="250000"/>
              </a:lnSpc>
              <a:spcBef>
                <a:spcPts val="500"/>
              </a:spcBef>
              <a:spcAft>
                <a:spcPts val="0"/>
              </a:spcAft>
              <a:buClr>
                <a:schemeClr val="dk1"/>
              </a:buClr>
              <a:buSzPts val="3200"/>
              <a:buFont typeface="Calibri"/>
              <a:buAutoNum type="arabicPeriod"/>
            </a:pPr>
            <a:r>
              <a:rPr lang="en-US" sz="3200"/>
              <a:t>Adaptive or Dynamic Routing</a:t>
            </a:r>
            <a:endParaRPr sz="3200"/>
          </a:p>
        </p:txBody>
      </p:sp>
      <p:sp>
        <p:nvSpPr>
          <p:cNvPr id="105" name="Google Shape;10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251459" lvl="0" marL="0" rtl="0" algn="just">
              <a:lnSpc>
                <a:spcPct val="90000"/>
              </a:lnSpc>
              <a:spcBef>
                <a:spcPts val="0"/>
              </a:spcBef>
              <a:spcAft>
                <a:spcPts val="0"/>
              </a:spcAft>
              <a:buClr>
                <a:schemeClr val="dk1"/>
              </a:buClr>
              <a:buSzPct val="100000"/>
              <a:buFont typeface="Noto Sans Symbols"/>
              <a:buChar char="▪"/>
            </a:pPr>
            <a:r>
              <a:rPr lang="en-US"/>
              <a:t>Adaptive algorithms</a:t>
            </a:r>
            <a:endParaRPr/>
          </a:p>
        </p:txBody>
      </p:sp>
      <p:sp>
        <p:nvSpPr>
          <p:cNvPr id="111" name="Google Shape;111;p5"/>
          <p:cNvSpPr txBox="1"/>
          <p:nvPr>
            <p:ph idx="1" type="body"/>
          </p:nvPr>
        </p:nvSpPr>
        <p:spPr>
          <a:xfrm>
            <a:off x="1524000" y="81562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routing  decision is based on the measurements or estimate of current traffic and topology</a:t>
            </a:r>
            <a:endParaRPr/>
          </a:p>
          <a:p>
            <a:pPr indent="-228600" lvl="0" marL="228600" rtl="0" algn="just">
              <a:lnSpc>
                <a:spcPct val="90000"/>
              </a:lnSpc>
              <a:spcBef>
                <a:spcPts val="1000"/>
              </a:spcBef>
              <a:spcAft>
                <a:spcPts val="0"/>
              </a:spcAft>
              <a:buClr>
                <a:schemeClr val="dk1"/>
              </a:buClr>
              <a:buSzPts val="2800"/>
              <a:buChar char="•"/>
            </a:pPr>
            <a:r>
              <a:rPr lang="en-US"/>
              <a:t>change their routing decisions to reflect changes in the topology, and the traffic. </a:t>
            </a:r>
            <a:endParaRPr/>
          </a:p>
          <a:p>
            <a:pPr indent="-228600" lvl="1" marL="685800" rtl="0" algn="just">
              <a:lnSpc>
                <a:spcPct val="90000"/>
              </a:lnSpc>
              <a:spcBef>
                <a:spcPts val="500"/>
              </a:spcBef>
              <a:spcAft>
                <a:spcPts val="0"/>
              </a:spcAft>
              <a:buClr>
                <a:schemeClr val="dk1"/>
              </a:buClr>
              <a:buSzPts val="2400"/>
              <a:buChar char="•"/>
            </a:pPr>
            <a:r>
              <a:rPr lang="en-US"/>
              <a:t>They differ in </a:t>
            </a:r>
            <a:endParaRPr/>
          </a:p>
          <a:p>
            <a:pPr indent="-228600" lvl="2" marL="1143000" rtl="0" algn="just">
              <a:lnSpc>
                <a:spcPct val="90000"/>
              </a:lnSpc>
              <a:spcBef>
                <a:spcPts val="500"/>
              </a:spcBef>
              <a:spcAft>
                <a:spcPts val="0"/>
              </a:spcAft>
              <a:buClr>
                <a:srgbClr val="FF0000"/>
              </a:buClr>
              <a:buSzPts val="2000"/>
              <a:buChar char="•"/>
            </a:pPr>
            <a:r>
              <a:rPr lang="en-US">
                <a:solidFill>
                  <a:srgbClr val="FF0000"/>
                </a:solidFill>
              </a:rPr>
              <a:t>where they get their information </a:t>
            </a:r>
            <a:endParaRPr/>
          </a:p>
          <a:p>
            <a:pPr indent="-228600" lvl="3" marL="1600200" rtl="0" algn="just">
              <a:lnSpc>
                <a:spcPct val="90000"/>
              </a:lnSpc>
              <a:spcBef>
                <a:spcPts val="500"/>
              </a:spcBef>
              <a:spcAft>
                <a:spcPts val="0"/>
              </a:spcAft>
              <a:buClr>
                <a:schemeClr val="dk1"/>
              </a:buClr>
              <a:buSzPts val="2400"/>
              <a:buChar char="•"/>
            </a:pPr>
            <a:r>
              <a:rPr lang="en-US" sz="2400"/>
              <a:t>(e.g., locally from adjacent routers, or from all routers) </a:t>
            </a:r>
            <a:endParaRPr/>
          </a:p>
          <a:p>
            <a:pPr indent="-228600" lvl="2" marL="1143000" rtl="0" algn="just">
              <a:lnSpc>
                <a:spcPct val="90000"/>
              </a:lnSpc>
              <a:spcBef>
                <a:spcPts val="500"/>
              </a:spcBef>
              <a:spcAft>
                <a:spcPts val="0"/>
              </a:spcAft>
              <a:buClr>
                <a:srgbClr val="FF0000"/>
              </a:buClr>
              <a:buSzPts val="2000"/>
              <a:buChar char="•"/>
            </a:pPr>
            <a:r>
              <a:rPr lang="en-US">
                <a:solidFill>
                  <a:srgbClr val="FF0000"/>
                </a:solidFill>
              </a:rPr>
              <a:t>when they change the routes </a:t>
            </a:r>
            <a:endParaRPr/>
          </a:p>
          <a:p>
            <a:pPr indent="-228600" lvl="3" marL="1600200" rtl="0" algn="just">
              <a:lnSpc>
                <a:spcPct val="90000"/>
              </a:lnSpc>
              <a:spcBef>
                <a:spcPts val="500"/>
              </a:spcBef>
              <a:spcAft>
                <a:spcPts val="0"/>
              </a:spcAft>
              <a:buClr>
                <a:schemeClr val="dk1"/>
              </a:buClr>
              <a:buSzPts val="2400"/>
              <a:buChar char="•"/>
            </a:pPr>
            <a:r>
              <a:rPr lang="en-US" sz="2400"/>
              <a:t>(e.g., every ΔT sec, when the load changes or when the topology changes)</a:t>
            </a:r>
            <a:endParaRPr/>
          </a:p>
          <a:p>
            <a:pPr indent="-228600" lvl="2" marL="1143000" rtl="0" algn="just">
              <a:lnSpc>
                <a:spcPct val="90000"/>
              </a:lnSpc>
              <a:spcBef>
                <a:spcPts val="500"/>
              </a:spcBef>
              <a:spcAft>
                <a:spcPts val="0"/>
              </a:spcAft>
              <a:buClr>
                <a:srgbClr val="FF0000"/>
              </a:buClr>
              <a:buSzPts val="2000"/>
              <a:buChar char="•"/>
            </a:pPr>
            <a:r>
              <a:rPr lang="en-US">
                <a:solidFill>
                  <a:srgbClr val="FF0000"/>
                </a:solidFill>
              </a:rPr>
              <a:t>what metric is used for optimization</a:t>
            </a:r>
            <a:r>
              <a:rPr lang="en-US"/>
              <a:t> </a:t>
            </a:r>
            <a:endParaRPr/>
          </a:p>
          <a:p>
            <a:pPr indent="-228600" lvl="3" marL="1600200" rtl="0" algn="just">
              <a:lnSpc>
                <a:spcPct val="90000"/>
              </a:lnSpc>
              <a:spcBef>
                <a:spcPts val="500"/>
              </a:spcBef>
              <a:spcAft>
                <a:spcPts val="0"/>
              </a:spcAft>
              <a:buClr>
                <a:schemeClr val="dk1"/>
              </a:buClr>
              <a:buSzPts val="2400"/>
              <a:buChar char="•"/>
            </a:pPr>
            <a:r>
              <a:rPr lang="en-US" sz="2400"/>
              <a:t>(e.g., distance, number of hops, or estimated transit time)</a:t>
            </a:r>
            <a:endParaRPr sz="2400">
              <a:latin typeface="Arial"/>
              <a:ea typeface="Arial"/>
              <a:cs typeface="Arial"/>
              <a:sym typeface="Arial"/>
            </a:endParaRPr>
          </a:p>
        </p:txBody>
      </p:sp>
      <p:sp>
        <p:nvSpPr>
          <p:cNvPr id="112" name="Google Shape;11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500"/>
                                        <p:tgtEl>
                                          <p:spTgt spid="1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animEffect filter="fade" transition="in">
                                      <p:cBhvr>
                                        <p:cTn dur="500"/>
                                        <p:tgtEl>
                                          <p:spTgt spid="1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animEffect filter="fade" transition="in">
                                      <p:cBhvr>
                                        <p:cTn dur="500"/>
                                        <p:tgtEl>
                                          <p:spTgt spid="1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animEffect filter="fade" transition="in">
                                      <p:cBhvr>
                                        <p:cTn dur="500"/>
                                        <p:tgtEl>
                                          <p:spTgt spid="1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animEffect filter="fade" transition="in">
                                      <p:cBhvr>
                                        <p:cTn dur="500"/>
                                        <p:tgtEl>
                                          <p:spTgt spid="1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animEffect filter="fade" transition="in">
                                      <p:cBhvr>
                                        <p:cTn dur="500"/>
                                        <p:tgtEl>
                                          <p:spTgt spid="1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animEffect filter="fade" transition="in">
                                      <p:cBhvr>
                                        <p:cTn dur="500"/>
                                        <p:tgtEl>
                                          <p:spTgt spid="1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7" st="7"/>
                                            </p:txEl>
                                          </p:spTgt>
                                        </p:tgtEl>
                                        <p:attrNameLst>
                                          <p:attrName>style.visibility</p:attrName>
                                        </p:attrNameLst>
                                      </p:cBhvr>
                                      <p:to>
                                        <p:strVal val="visible"/>
                                      </p:to>
                                    </p:set>
                                    <p:animEffect filter="fade" transition="in">
                                      <p:cBhvr>
                                        <p:cTn dur="500"/>
                                        <p:tgtEl>
                                          <p:spTgt spid="11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8" st="8"/>
                                            </p:txEl>
                                          </p:spTgt>
                                        </p:tgtEl>
                                        <p:attrNameLst>
                                          <p:attrName>style.visibility</p:attrName>
                                        </p:attrNameLst>
                                      </p:cBhvr>
                                      <p:to>
                                        <p:strVal val="visible"/>
                                      </p:to>
                                    </p:set>
                                    <p:animEffect filter="fade" transition="in">
                                      <p:cBhvr>
                                        <p:cTn dur="500"/>
                                        <p:tgtEl>
                                          <p:spTgt spid="11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lang="en-US"/>
              <a:t>Nonadaptive algorithms </a:t>
            </a:r>
            <a:endParaRPr/>
          </a:p>
        </p:txBody>
      </p:sp>
      <p:sp>
        <p:nvSpPr>
          <p:cNvPr id="118" name="Google Shape;118;p6"/>
          <p:cNvSpPr txBox="1"/>
          <p:nvPr>
            <p:ph idx="1" type="body"/>
          </p:nvPr>
        </p:nvSpPr>
        <p:spPr>
          <a:xfrm>
            <a:off x="1524000" y="815622"/>
            <a:ext cx="9144000" cy="588997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50000"/>
              </a:lnSpc>
              <a:spcBef>
                <a:spcPts val="0"/>
              </a:spcBef>
              <a:spcAft>
                <a:spcPts val="0"/>
              </a:spcAft>
              <a:buClr>
                <a:schemeClr val="dk1"/>
              </a:buClr>
              <a:buSzPts val="3200"/>
              <a:buChar char="•"/>
            </a:pPr>
            <a:r>
              <a:rPr lang="en-US" sz="3200"/>
              <a:t>do not base their routing decisions on measurements or estimates of the current traffic and topology.</a:t>
            </a:r>
            <a:endParaRPr/>
          </a:p>
          <a:p>
            <a:pPr indent="-228600" lvl="0" marL="228600" rtl="0" algn="just">
              <a:lnSpc>
                <a:spcPct val="150000"/>
              </a:lnSpc>
              <a:spcBef>
                <a:spcPts val="1000"/>
              </a:spcBef>
              <a:spcAft>
                <a:spcPts val="0"/>
              </a:spcAft>
              <a:buClr>
                <a:schemeClr val="dk1"/>
              </a:buClr>
              <a:buSzPts val="3200"/>
              <a:buChar char="•"/>
            </a:pPr>
            <a:r>
              <a:rPr lang="en-US" sz="3200"/>
              <a:t>Instead, the choice of the route to use to move the packet from I to J (for all I and J) is computed in advance, off-line, and downloaded to the routers when the network is booted. </a:t>
            </a:r>
            <a:endParaRPr/>
          </a:p>
          <a:p>
            <a:pPr indent="-228600" lvl="0" marL="228600" rtl="0" algn="just">
              <a:lnSpc>
                <a:spcPct val="150000"/>
              </a:lnSpc>
              <a:spcBef>
                <a:spcPts val="1000"/>
              </a:spcBef>
              <a:spcAft>
                <a:spcPts val="0"/>
              </a:spcAft>
              <a:buClr>
                <a:schemeClr val="dk1"/>
              </a:buClr>
              <a:buSzPts val="3200"/>
              <a:buChar char="•"/>
            </a:pPr>
            <a:r>
              <a:rPr lang="en-US" sz="3200"/>
              <a:t>This procedure is sometimes called </a:t>
            </a:r>
            <a:r>
              <a:rPr b="1" lang="en-US" sz="3200">
                <a:solidFill>
                  <a:srgbClr val="FF0000"/>
                </a:solidFill>
              </a:rPr>
              <a:t>static routing</a:t>
            </a:r>
            <a:endParaRPr b="1" sz="3200">
              <a:solidFill>
                <a:srgbClr val="FF0000"/>
              </a:solidFill>
              <a:latin typeface="Arial"/>
              <a:ea typeface="Arial"/>
              <a:cs typeface="Arial"/>
              <a:sym typeface="Arial"/>
            </a:endParaRPr>
          </a:p>
        </p:txBody>
      </p:sp>
      <p:sp>
        <p:nvSpPr>
          <p:cNvPr id="119" name="Google Shape;11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5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500"/>
                                        <p:tgtEl>
                                          <p:spTgt spid="11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lang="en-US"/>
              <a:t>The Optimality Principle</a:t>
            </a:r>
            <a:endParaRPr/>
          </a:p>
        </p:txBody>
      </p:sp>
      <p:sp>
        <p:nvSpPr>
          <p:cNvPr id="125" name="Google Shape;125;p7"/>
          <p:cNvSpPr txBox="1"/>
          <p:nvPr>
            <p:ph idx="1" type="body"/>
          </p:nvPr>
        </p:nvSpPr>
        <p:spPr>
          <a:xfrm>
            <a:off x="1524000" y="81562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It states that if router J is on the optimal path from router I to router K, then the optimal path from J to K also falls along the same route. </a:t>
            </a:r>
            <a:endParaRPr/>
          </a:p>
          <a:p>
            <a:pPr indent="-228600" lvl="0" marL="228600" rtl="0" algn="just">
              <a:lnSpc>
                <a:spcPct val="90000"/>
              </a:lnSpc>
              <a:spcBef>
                <a:spcPts val="1000"/>
              </a:spcBef>
              <a:spcAft>
                <a:spcPts val="0"/>
              </a:spcAft>
              <a:buClr>
                <a:schemeClr val="dk1"/>
              </a:buClr>
              <a:buSzPts val="2800"/>
              <a:buChar char="•"/>
            </a:pPr>
            <a:r>
              <a:rPr lang="en-US"/>
              <a:t>set of optimal routes from all sources to a given destination form a tree rooted at the destination. Such a tree is called a </a:t>
            </a:r>
            <a:r>
              <a:rPr b="1" lang="en-US">
                <a:solidFill>
                  <a:srgbClr val="FF0000"/>
                </a:solidFill>
              </a:rPr>
              <a:t>sink tree </a:t>
            </a:r>
            <a:endParaRPr/>
          </a:p>
          <a:p>
            <a:pPr indent="-228600" lvl="0" marL="228600" rtl="0" algn="just">
              <a:lnSpc>
                <a:spcPct val="90000"/>
              </a:lnSpc>
              <a:spcBef>
                <a:spcPts val="1000"/>
              </a:spcBef>
              <a:spcAft>
                <a:spcPts val="0"/>
              </a:spcAft>
              <a:buClr>
                <a:srgbClr val="FF0000"/>
              </a:buClr>
              <a:buSzPts val="2800"/>
              <a:buChar char="•"/>
            </a:pPr>
            <a:r>
              <a:rPr lang="en-US">
                <a:solidFill>
                  <a:srgbClr val="FF0000"/>
                </a:solidFill>
              </a:rPr>
              <a:t>Goal of all routing algorithms </a:t>
            </a:r>
            <a:r>
              <a:rPr lang="en-US"/>
              <a:t>is to discover and use the sink trees for all routers </a:t>
            </a:r>
            <a:endParaRPr/>
          </a:p>
          <a:p>
            <a:pPr indent="-228600" lvl="0" marL="228600" rtl="0" algn="just">
              <a:lnSpc>
                <a:spcPct val="90000"/>
              </a:lnSpc>
              <a:spcBef>
                <a:spcPts val="1000"/>
              </a:spcBef>
              <a:spcAft>
                <a:spcPts val="0"/>
              </a:spcAft>
              <a:buClr>
                <a:schemeClr val="dk1"/>
              </a:buClr>
              <a:buSzPts val="2800"/>
              <a:buChar char="•"/>
            </a:pPr>
            <a:r>
              <a:rPr lang="en-US"/>
              <a:t>sink tree is not necessarily unique </a:t>
            </a:r>
            <a:endParaRPr>
              <a:latin typeface="Arial"/>
              <a:ea typeface="Arial"/>
              <a:cs typeface="Arial"/>
              <a:sym typeface="Arial"/>
            </a:endParaRPr>
          </a:p>
        </p:txBody>
      </p:sp>
      <p:sp>
        <p:nvSpPr>
          <p:cNvPr id="126" name="Google Shape;12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Effect filter="fade" transition="in">
                                      <p:cBhvr>
                                        <p:cTn dur="500"/>
                                        <p:tgtEl>
                                          <p:spTgt spid="1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Effect filter="fade" transition="in">
                                      <p:cBhvr>
                                        <p:cTn dur="500"/>
                                        <p:tgtEl>
                                          <p:spTgt spid="1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Effect filter="fade" transition="in">
                                      <p:cBhvr>
                                        <p:cTn dur="500"/>
                                        <p:tgtEl>
                                          <p:spTgt spid="1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Effect filter="fade" transition="in">
                                      <p:cBhvr>
                                        <p:cTn dur="500"/>
                                        <p:tgtEl>
                                          <p:spTgt spid="1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Optimality Principle</a:t>
            </a:r>
            <a:endParaRPr/>
          </a:p>
        </p:txBody>
      </p:sp>
      <p:sp>
        <p:nvSpPr>
          <p:cNvPr id="132" name="Google Shape;132;p8"/>
          <p:cNvSpPr txBox="1"/>
          <p:nvPr>
            <p:ph idx="1" type="body"/>
          </p:nvPr>
        </p:nvSpPr>
        <p:spPr>
          <a:xfrm>
            <a:off x="3600450" y="5984820"/>
            <a:ext cx="7067550" cy="83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2"/>
              </a:buClr>
              <a:buSzPts val="2800"/>
              <a:buFont typeface="Calibri"/>
              <a:buNone/>
            </a:pPr>
            <a:r>
              <a:rPr lang="en-US">
                <a:solidFill>
                  <a:schemeClr val="accent2"/>
                </a:solidFill>
              </a:rPr>
              <a:t>(a)</a:t>
            </a:r>
            <a:r>
              <a:rPr lang="en-US"/>
              <a:t> A subnet.  </a:t>
            </a:r>
            <a:r>
              <a:rPr lang="en-US">
                <a:solidFill>
                  <a:schemeClr val="accent2"/>
                </a:solidFill>
              </a:rPr>
              <a:t>(b)</a:t>
            </a:r>
            <a:r>
              <a:rPr lang="en-US"/>
              <a:t> A sink tree for router B.</a:t>
            </a:r>
            <a:endParaRPr/>
          </a:p>
        </p:txBody>
      </p:sp>
      <p:pic>
        <p:nvPicPr>
          <p:cNvPr descr="5-06" id="133" name="Google Shape;133;p8"/>
          <p:cNvPicPr preferRelativeResize="0"/>
          <p:nvPr/>
        </p:nvPicPr>
        <p:blipFill rotWithShape="1">
          <a:blip r:embed="rId3">
            <a:alphaModFix/>
          </a:blip>
          <a:srcRect b="0" l="0" r="0" t="0"/>
          <a:stretch/>
        </p:blipFill>
        <p:spPr>
          <a:xfrm>
            <a:off x="1553980" y="1883391"/>
            <a:ext cx="9069050" cy="3992753"/>
          </a:xfrm>
          <a:prstGeom prst="rect">
            <a:avLst/>
          </a:prstGeom>
          <a:noFill/>
          <a:ln>
            <a:noFill/>
          </a:ln>
        </p:spPr>
      </p:pic>
      <p:sp>
        <p:nvSpPr>
          <p:cNvPr id="134" name="Google Shape;13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b="1" lang="en-US"/>
              <a:t>Shortest Path Routing </a:t>
            </a:r>
            <a:endParaRPr/>
          </a:p>
        </p:txBody>
      </p:sp>
      <p:sp>
        <p:nvSpPr>
          <p:cNvPr id="140" name="Google Shape;140;p9"/>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rgbClr val="FF0000"/>
              </a:buClr>
              <a:buSzPts val="2800"/>
              <a:buChar char="•"/>
            </a:pPr>
            <a:r>
              <a:rPr lang="en-US">
                <a:solidFill>
                  <a:srgbClr val="FF0000"/>
                </a:solidFill>
              </a:rPr>
              <a:t>Idea</a:t>
            </a:r>
            <a:r>
              <a:rPr lang="en-US"/>
              <a:t> is to build a </a:t>
            </a:r>
            <a:r>
              <a:rPr lang="en-US">
                <a:solidFill>
                  <a:srgbClr val="FF0000"/>
                </a:solidFill>
              </a:rPr>
              <a:t>graph</a:t>
            </a:r>
            <a:r>
              <a:rPr lang="en-US"/>
              <a:t> of the subnet with</a:t>
            </a:r>
            <a:r>
              <a:rPr lang="en-US" sz="2400"/>
              <a:t> </a:t>
            </a:r>
            <a:endParaRPr/>
          </a:p>
          <a:p>
            <a:pPr indent="-228600" lvl="1" marL="685800" rtl="0" algn="just">
              <a:lnSpc>
                <a:spcPct val="150000"/>
              </a:lnSpc>
              <a:spcBef>
                <a:spcPts val="500"/>
              </a:spcBef>
              <a:spcAft>
                <a:spcPts val="0"/>
              </a:spcAft>
              <a:buClr>
                <a:schemeClr val="dk1"/>
              </a:buClr>
              <a:buSzPts val="2400"/>
              <a:buChar char="•"/>
            </a:pPr>
            <a:r>
              <a:rPr lang="en-US"/>
              <a:t>each </a:t>
            </a:r>
            <a:r>
              <a:rPr lang="en-US">
                <a:solidFill>
                  <a:srgbClr val="FF0000"/>
                </a:solidFill>
              </a:rPr>
              <a:t>node</a:t>
            </a:r>
            <a:r>
              <a:rPr lang="en-US"/>
              <a:t> of the graph representing a router and </a:t>
            </a:r>
            <a:endParaRPr/>
          </a:p>
          <a:p>
            <a:pPr indent="-228600" lvl="1" marL="685800" rtl="0" algn="just">
              <a:lnSpc>
                <a:spcPct val="150000"/>
              </a:lnSpc>
              <a:spcBef>
                <a:spcPts val="500"/>
              </a:spcBef>
              <a:spcAft>
                <a:spcPts val="0"/>
              </a:spcAft>
              <a:buClr>
                <a:schemeClr val="dk1"/>
              </a:buClr>
              <a:buSzPts val="2400"/>
              <a:buChar char="•"/>
            </a:pPr>
            <a:r>
              <a:rPr lang="en-US"/>
              <a:t>each </a:t>
            </a:r>
            <a:r>
              <a:rPr lang="en-US">
                <a:solidFill>
                  <a:srgbClr val="FF0000"/>
                </a:solidFill>
              </a:rPr>
              <a:t>arc</a:t>
            </a:r>
            <a:r>
              <a:rPr lang="en-US"/>
              <a:t> of the graph representing a communication line (often called a link). </a:t>
            </a:r>
            <a:endParaRPr/>
          </a:p>
          <a:p>
            <a:pPr indent="-228600" lvl="0" marL="228600" rtl="0" algn="just">
              <a:lnSpc>
                <a:spcPct val="150000"/>
              </a:lnSpc>
              <a:spcBef>
                <a:spcPts val="1000"/>
              </a:spcBef>
              <a:spcAft>
                <a:spcPts val="0"/>
              </a:spcAft>
              <a:buClr>
                <a:schemeClr val="dk1"/>
              </a:buClr>
              <a:buSzPts val="2800"/>
              <a:buChar char="•"/>
            </a:pPr>
            <a:r>
              <a:rPr lang="en-US"/>
              <a:t>To </a:t>
            </a:r>
            <a:r>
              <a:rPr lang="en-US">
                <a:solidFill>
                  <a:srgbClr val="FF0000"/>
                </a:solidFill>
              </a:rPr>
              <a:t>choose a route </a:t>
            </a:r>
            <a:r>
              <a:rPr lang="en-US"/>
              <a:t>between a given pair of routers, the algorithm just finds the </a:t>
            </a:r>
            <a:r>
              <a:rPr lang="en-US">
                <a:solidFill>
                  <a:srgbClr val="FF0000"/>
                </a:solidFill>
              </a:rPr>
              <a:t>shortest path </a:t>
            </a:r>
            <a:r>
              <a:rPr lang="en-US"/>
              <a:t>between them on the graph. </a:t>
            </a:r>
            <a:endParaRPr/>
          </a:p>
        </p:txBody>
      </p:sp>
      <p:sp>
        <p:nvSpPr>
          <p:cNvPr id="141" name="Google Shape;14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b="1" lang="en-US"/>
              <a:t>Shortest Path Routing </a:t>
            </a:r>
            <a:endParaRPr/>
          </a:p>
        </p:txBody>
      </p:sp>
      <p:sp>
        <p:nvSpPr>
          <p:cNvPr id="147" name="Google Shape;147;p10"/>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One way of measuring path length is the </a:t>
            </a:r>
            <a:r>
              <a:rPr lang="en-US">
                <a:solidFill>
                  <a:srgbClr val="FF0000"/>
                </a:solidFill>
              </a:rPr>
              <a:t>number of hops</a:t>
            </a:r>
            <a:r>
              <a:rPr lang="en-US"/>
              <a:t>. </a:t>
            </a:r>
            <a:endParaRPr/>
          </a:p>
          <a:p>
            <a:pPr indent="-228600" lvl="1" marL="685800" rtl="0" algn="just">
              <a:lnSpc>
                <a:spcPct val="90000"/>
              </a:lnSpc>
              <a:spcBef>
                <a:spcPts val="500"/>
              </a:spcBef>
              <a:spcAft>
                <a:spcPts val="0"/>
              </a:spcAft>
              <a:buClr>
                <a:schemeClr val="dk1"/>
              </a:buClr>
              <a:buSzPts val="2400"/>
              <a:buChar char="•"/>
            </a:pPr>
            <a:r>
              <a:rPr lang="en-US"/>
              <a:t>Using this metric, the paths ABC and ABE in Fig. are equally long. </a:t>
            </a:r>
            <a:endParaRPr/>
          </a:p>
          <a:p>
            <a:pPr indent="-76200" lvl="1" marL="685800" rtl="0" algn="just">
              <a:lnSpc>
                <a:spcPct val="90000"/>
              </a:lnSpc>
              <a:spcBef>
                <a:spcPts val="500"/>
              </a:spcBef>
              <a:spcAft>
                <a:spcPts val="0"/>
              </a:spcAft>
              <a:buClr>
                <a:schemeClr val="dk1"/>
              </a:buClr>
              <a:buSzPts val="2400"/>
              <a:buNone/>
            </a:pPr>
            <a:r>
              <a:t/>
            </a:r>
            <a:endParaRPr/>
          </a:p>
          <a:p>
            <a:pPr indent="-76200" lvl="1" marL="685800" rtl="0" algn="just">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Another metric is the geographic distance  in kilometers, in which case </a:t>
            </a:r>
            <a:r>
              <a:rPr i="1" lang="en-US"/>
              <a:t>ABC </a:t>
            </a:r>
            <a:r>
              <a:rPr lang="en-US"/>
              <a:t>is clearly much longer than </a:t>
            </a:r>
            <a:r>
              <a:rPr i="1" lang="en-US"/>
              <a:t>ABE </a:t>
            </a:r>
            <a:r>
              <a:rPr lang="en-US"/>
              <a:t>(assuming the figure is drawn to scale).</a:t>
            </a:r>
            <a:endParaRPr/>
          </a:p>
        </p:txBody>
      </p:sp>
      <p:pic>
        <p:nvPicPr>
          <p:cNvPr id="148" name="Google Shape;148;p10"/>
          <p:cNvPicPr preferRelativeResize="0"/>
          <p:nvPr/>
        </p:nvPicPr>
        <p:blipFill rotWithShape="1">
          <a:blip r:embed="rId3">
            <a:alphaModFix/>
          </a:blip>
          <a:srcRect b="0" l="0" r="0" t="0"/>
          <a:stretch/>
        </p:blipFill>
        <p:spPr>
          <a:xfrm>
            <a:off x="2593075" y="4178789"/>
            <a:ext cx="5147046" cy="1921760"/>
          </a:xfrm>
          <a:prstGeom prst="rect">
            <a:avLst/>
          </a:prstGeom>
          <a:noFill/>
          <a:ln>
            <a:noFill/>
          </a:ln>
        </p:spPr>
      </p:pic>
      <p:sp>
        <p:nvSpPr>
          <p:cNvPr id="149" name="Google Shape;1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Dijkstra’s shortest path routing</a:t>
            </a:r>
            <a:endParaRPr/>
          </a:p>
        </p:txBody>
      </p:sp>
      <p:sp>
        <p:nvSpPr>
          <p:cNvPr id="155" name="Google Shape;155;p11"/>
          <p:cNvSpPr txBox="1"/>
          <p:nvPr>
            <p:ph idx="1" type="body"/>
          </p:nvPr>
        </p:nvSpPr>
        <p:spPr>
          <a:xfrm>
            <a:off x="1524000" y="710692"/>
            <a:ext cx="9753600" cy="5889978"/>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50000"/>
              </a:lnSpc>
              <a:spcBef>
                <a:spcPts val="0"/>
              </a:spcBef>
              <a:spcAft>
                <a:spcPts val="0"/>
              </a:spcAft>
              <a:buClr>
                <a:schemeClr val="dk1"/>
              </a:buClr>
              <a:buSzPct val="100000"/>
              <a:buFont typeface="Arial"/>
              <a:buChar char="•"/>
            </a:pPr>
            <a:r>
              <a:rPr lang="en-US"/>
              <a:t>Algorithm to find  shortest path between  two nodes  of  a graph</a:t>
            </a:r>
            <a:endParaRPr/>
          </a:p>
          <a:p>
            <a:pPr indent="-342900" lvl="0" marL="342900" rtl="0" algn="just">
              <a:lnSpc>
                <a:spcPct val="150000"/>
              </a:lnSpc>
              <a:spcBef>
                <a:spcPts val="1000"/>
              </a:spcBef>
              <a:spcAft>
                <a:spcPts val="0"/>
              </a:spcAft>
              <a:buClr>
                <a:schemeClr val="dk1"/>
              </a:buClr>
              <a:buSzPct val="100000"/>
              <a:buFont typeface="Arial"/>
              <a:buChar char="•"/>
            </a:pPr>
            <a:r>
              <a:rPr lang="en-US"/>
              <a:t>Each node is labeled (in parentheses) with its distance from the source node along the best known path.</a:t>
            </a:r>
            <a:endParaRPr/>
          </a:p>
          <a:p>
            <a:pPr indent="-342900" lvl="0" marL="342900" rtl="0" algn="just">
              <a:lnSpc>
                <a:spcPct val="150000"/>
              </a:lnSpc>
              <a:spcBef>
                <a:spcPts val="1000"/>
              </a:spcBef>
              <a:spcAft>
                <a:spcPts val="0"/>
              </a:spcAft>
              <a:buClr>
                <a:schemeClr val="dk1"/>
              </a:buClr>
              <a:buSzPct val="100000"/>
              <a:buFont typeface="Arial"/>
              <a:buChar char="•"/>
            </a:pPr>
            <a:r>
              <a:rPr lang="en-US"/>
              <a:t>Initially, no paths are known, so all nodes are labeled with infinity. </a:t>
            </a:r>
            <a:endParaRPr/>
          </a:p>
          <a:p>
            <a:pPr indent="-342900" lvl="0" marL="342900" rtl="0" algn="just">
              <a:lnSpc>
                <a:spcPct val="150000"/>
              </a:lnSpc>
              <a:spcBef>
                <a:spcPts val="1000"/>
              </a:spcBef>
              <a:spcAft>
                <a:spcPts val="0"/>
              </a:spcAft>
              <a:buClr>
                <a:schemeClr val="dk1"/>
              </a:buClr>
              <a:buSzPct val="100000"/>
              <a:buFont typeface="Arial"/>
              <a:buChar char="•"/>
            </a:pPr>
            <a:r>
              <a:rPr lang="en-US"/>
              <a:t>As the algorithm proceeds and paths are found, the labels may change, reflecting better paths. </a:t>
            </a:r>
            <a:endParaRPr/>
          </a:p>
          <a:p>
            <a:pPr indent="-342900" lvl="0" marL="342900" rtl="0" algn="just">
              <a:lnSpc>
                <a:spcPct val="150000"/>
              </a:lnSpc>
              <a:spcBef>
                <a:spcPts val="1000"/>
              </a:spcBef>
              <a:spcAft>
                <a:spcPts val="0"/>
              </a:spcAft>
              <a:buClr>
                <a:schemeClr val="dk1"/>
              </a:buClr>
              <a:buSzPct val="100000"/>
              <a:buFont typeface="Arial"/>
              <a:buChar char="•"/>
            </a:pPr>
            <a:r>
              <a:rPr lang="en-US"/>
              <a:t>A label may be either tentative or permanent. </a:t>
            </a:r>
            <a:endParaRPr/>
          </a:p>
          <a:p>
            <a:pPr indent="-342900" lvl="0" marL="342900" rtl="0" algn="just">
              <a:lnSpc>
                <a:spcPct val="150000"/>
              </a:lnSpc>
              <a:spcBef>
                <a:spcPts val="1000"/>
              </a:spcBef>
              <a:spcAft>
                <a:spcPts val="0"/>
              </a:spcAft>
              <a:buClr>
                <a:schemeClr val="dk1"/>
              </a:buClr>
              <a:buSzPct val="100000"/>
              <a:buFont typeface="Arial"/>
              <a:buChar char="•"/>
            </a:pPr>
            <a:r>
              <a:rPr lang="en-US"/>
              <a:t>Initially, all labels are tentative. </a:t>
            </a:r>
            <a:endParaRPr/>
          </a:p>
          <a:p>
            <a:pPr indent="-342900" lvl="0" marL="342900" rtl="0" algn="just">
              <a:lnSpc>
                <a:spcPct val="150000"/>
              </a:lnSpc>
              <a:spcBef>
                <a:spcPts val="1000"/>
              </a:spcBef>
              <a:spcAft>
                <a:spcPts val="0"/>
              </a:spcAft>
              <a:buClr>
                <a:schemeClr val="dk1"/>
              </a:buClr>
              <a:buSzPct val="140000"/>
              <a:buFont typeface="Arial"/>
              <a:buChar char="•"/>
            </a:pPr>
            <a:r>
              <a:rPr lang="en-US"/>
              <a:t>When it is discovered that a label represents the shortest possible path from the source to that node, it is made permanent </a:t>
            </a:r>
            <a:r>
              <a:rPr lang="en-US" sz="2000"/>
              <a:t>and never changed thereafter. </a:t>
            </a:r>
            <a:endParaRPr sz="2000">
              <a:latin typeface="Arial"/>
              <a:ea typeface="Arial"/>
              <a:cs typeface="Arial"/>
              <a:sym typeface="Arial"/>
            </a:endParaRPr>
          </a:p>
        </p:txBody>
      </p:sp>
      <p:sp>
        <p:nvSpPr>
          <p:cNvPr id="156" name="Google Shape;15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5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5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5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5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5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500"/>
                                        <p:tgtEl>
                                          <p:spTgt spid="15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Find the shortest path from </a:t>
            </a:r>
            <a:r>
              <a:rPr i="1" lang="en-US"/>
              <a:t>A </a:t>
            </a:r>
            <a:r>
              <a:rPr lang="en-US"/>
              <a:t>to </a:t>
            </a:r>
            <a:r>
              <a:rPr i="1" lang="en-US"/>
              <a:t>D</a:t>
            </a:r>
            <a:r>
              <a:rPr lang="en-US"/>
              <a:t>  using Dijkstra’s algorithm</a:t>
            </a:r>
            <a:endParaRPr/>
          </a:p>
        </p:txBody>
      </p:sp>
      <p:pic>
        <p:nvPicPr>
          <p:cNvPr id="162" name="Google Shape;162;p12"/>
          <p:cNvPicPr preferRelativeResize="0"/>
          <p:nvPr>
            <p:ph idx="1" type="body"/>
          </p:nvPr>
        </p:nvPicPr>
        <p:blipFill rotWithShape="1">
          <a:blip r:embed="rId3">
            <a:alphaModFix/>
          </a:blip>
          <a:srcRect b="0" l="0" r="0" t="0"/>
          <a:stretch/>
        </p:blipFill>
        <p:spPr>
          <a:xfrm>
            <a:off x="1918221" y="2571335"/>
            <a:ext cx="7181850" cy="4057650"/>
          </a:xfrm>
          <a:prstGeom prst="rect">
            <a:avLst/>
          </a:prstGeom>
          <a:noFill/>
          <a:ln>
            <a:noFill/>
          </a:ln>
        </p:spPr>
      </p:pic>
      <p:sp>
        <p:nvSpPr>
          <p:cNvPr id="163" name="Google Shape;163;p12"/>
          <p:cNvSpPr/>
          <p:nvPr/>
        </p:nvSpPr>
        <p:spPr>
          <a:xfrm>
            <a:off x="668740" y="1690688"/>
            <a:ext cx="10904561" cy="830997"/>
          </a:xfrm>
          <a:prstGeom prst="rect">
            <a:avLst/>
          </a:prstGeom>
          <a:noFill/>
          <a:ln>
            <a:noFill/>
          </a:ln>
        </p:spPr>
        <p:txBody>
          <a:bodyPr anchorCtr="0" anchor="t" bIns="45700" lIns="91425" spcFirstLastPara="1" rIns="91425" wrap="square" tIns="45700">
            <a:spAutoFit/>
          </a:bodyPr>
          <a:lstStyle/>
          <a:p>
            <a:pPr indent="-152400" lvl="1" marL="457200" marR="0" rtl="0" algn="just">
              <a:spcBef>
                <a:spcPts val="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Figure shows a weighted undirected graph where the weight represents distance</a:t>
            </a:r>
            <a:endParaRPr/>
          </a:p>
          <a:p>
            <a:pPr indent="-152400" lvl="1" marL="457200" marR="0" rtl="0" algn="just">
              <a:spcBef>
                <a:spcPts val="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Let us start by marking node </a:t>
            </a:r>
            <a:r>
              <a:rPr b="0" i="1" lang="en-US" sz="2400" u="none" cap="none" strike="noStrike">
                <a:solidFill>
                  <a:schemeClr val="dk1"/>
                </a:solidFill>
                <a:latin typeface="Calibri"/>
                <a:ea typeface="Calibri"/>
                <a:cs typeface="Calibri"/>
                <a:sym typeface="Calibri"/>
              </a:rPr>
              <a:t>A </a:t>
            </a:r>
            <a:r>
              <a:rPr b="0" i="0" lang="en-US" sz="2400" u="none" cap="none" strike="noStrike">
                <a:solidFill>
                  <a:schemeClr val="dk1"/>
                </a:solidFill>
                <a:latin typeface="Calibri"/>
                <a:ea typeface="Calibri"/>
                <a:cs typeface="Calibri"/>
                <a:sym typeface="Calibri"/>
              </a:rPr>
              <a:t>as permanent, indicated by a filled-in circle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9" name="Google Shape;169;p13"/>
          <p:cNvPicPr preferRelativeResize="0"/>
          <p:nvPr>
            <p:ph idx="1" type="body"/>
          </p:nvPr>
        </p:nvPicPr>
        <p:blipFill rotWithShape="1">
          <a:blip r:embed="rId3">
            <a:alphaModFix/>
          </a:blip>
          <a:srcRect b="0" l="0" r="0" t="0"/>
          <a:stretch/>
        </p:blipFill>
        <p:spPr>
          <a:xfrm>
            <a:off x="2076450" y="1724820"/>
            <a:ext cx="8039100" cy="427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5" name="Google Shape;175;p14"/>
          <p:cNvPicPr preferRelativeResize="0"/>
          <p:nvPr>
            <p:ph idx="1" type="body"/>
          </p:nvPr>
        </p:nvPicPr>
        <p:blipFill rotWithShape="1">
          <a:blip r:embed="rId3">
            <a:alphaModFix/>
          </a:blip>
          <a:srcRect b="0" l="0" r="0" t="0"/>
          <a:stretch/>
        </p:blipFill>
        <p:spPr>
          <a:xfrm>
            <a:off x="2195513" y="1724820"/>
            <a:ext cx="7800975" cy="4276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1" name="Google Shape;181;p15"/>
          <p:cNvPicPr preferRelativeResize="0"/>
          <p:nvPr>
            <p:ph idx="1" type="body"/>
          </p:nvPr>
        </p:nvPicPr>
        <p:blipFill rotWithShape="1">
          <a:blip r:embed="rId3">
            <a:alphaModFix/>
          </a:blip>
          <a:srcRect b="0" l="0" r="0" t="0"/>
          <a:stretch/>
        </p:blipFill>
        <p:spPr>
          <a:xfrm>
            <a:off x="2286000" y="1777206"/>
            <a:ext cx="7620000" cy="4171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7" name="Google Shape;187;p16"/>
          <p:cNvPicPr preferRelativeResize="0"/>
          <p:nvPr>
            <p:ph idx="1" type="body"/>
          </p:nvPr>
        </p:nvPicPr>
        <p:blipFill rotWithShape="1">
          <a:blip r:embed="rId3">
            <a:alphaModFix/>
          </a:blip>
          <a:srcRect b="0" l="0" r="0" t="0"/>
          <a:stretch/>
        </p:blipFill>
        <p:spPr>
          <a:xfrm>
            <a:off x="2314575" y="1915320"/>
            <a:ext cx="7562850" cy="3895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3" name="Google Shape;193;p17"/>
          <p:cNvPicPr preferRelativeResize="0"/>
          <p:nvPr>
            <p:ph idx="1" type="body"/>
          </p:nvPr>
        </p:nvPicPr>
        <p:blipFill rotWithShape="1">
          <a:blip r:embed="rId3">
            <a:alphaModFix/>
          </a:blip>
          <a:srcRect b="0" l="0" r="0" t="0"/>
          <a:stretch/>
        </p:blipFill>
        <p:spPr>
          <a:xfrm>
            <a:off x="2455951" y="1600201"/>
            <a:ext cx="7280099" cy="45259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1524000" y="1"/>
            <a:ext cx="9144000" cy="67455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Shortest Path Routing</a:t>
            </a:r>
            <a:endParaRPr/>
          </a:p>
        </p:txBody>
      </p:sp>
      <p:sp>
        <p:nvSpPr>
          <p:cNvPr id="199" name="Google Shape;199;p18"/>
          <p:cNvSpPr txBox="1"/>
          <p:nvPr>
            <p:ph idx="1" type="body"/>
          </p:nvPr>
        </p:nvSpPr>
        <p:spPr>
          <a:xfrm>
            <a:off x="1524000" y="5984820"/>
            <a:ext cx="9144000" cy="838200"/>
          </a:xfrm>
          <a:prstGeom prst="rect">
            <a:avLst/>
          </a:prstGeom>
          <a:noFill/>
          <a:ln>
            <a:noFill/>
          </a:ln>
        </p:spPr>
        <p:txBody>
          <a:bodyPr anchorCtr="0" anchor="t" bIns="45700" lIns="91425" spcFirstLastPara="1" rIns="91425" wrap="square" tIns="45700">
            <a:normAutofit fontScale="92500"/>
          </a:bodyPr>
          <a:lstStyle/>
          <a:p>
            <a:pPr indent="-228600" lvl="0" marL="228600" rtl="0" algn="ctr">
              <a:lnSpc>
                <a:spcPct val="90000"/>
              </a:lnSpc>
              <a:spcBef>
                <a:spcPts val="0"/>
              </a:spcBef>
              <a:spcAft>
                <a:spcPts val="0"/>
              </a:spcAft>
              <a:buClr>
                <a:schemeClr val="dk1"/>
              </a:buClr>
              <a:buSzPct val="100000"/>
              <a:buFont typeface="Calibri"/>
              <a:buNone/>
            </a:pPr>
            <a:r>
              <a:rPr lang="en-US"/>
              <a:t>The first 5 steps used in computing the shortest path from A to D.  </a:t>
            </a:r>
            <a:br>
              <a:rPr lang="en-US"/>
            </a:br>
            <a:r>
              <a:rPr lang="en-US"/>
              <a:t>The arrows indicate the working node.</a:t>
            </a:r>
            <a:endParaRPr/>
          </a:p>
        </p:txBody>
      </p:sp>
      <p:pic>
        <p:nvPicPr>
          <p:cNvPr descr="C:\Users\kbr\AppData\Local\Temp\Rar$DI01.917\5-07.jpg" id="200" name="Google Shape;200;p18"/>
          <p:cNvPicPr preferRelativeResize="0"/>
          <p:nvPr/>
        </p:nvPicPr>
        <p:blipFill rotWithShape="1">
          <a:blip r:embed="rId3">
            <a:alphaModFix/>
          </a:blip>
          <a:srcRect b="4563" l="4384" r="5058" t="6041"/>
          <a:stretch/>
        </p:blipFill>
        <p:spPr>
          <a:xfrm>
            <a:off x="1568970" y="614596"/>
            <a:ext cx="8874178" cy="5396460"/>
          </a:xfrm>
          <a:prstGeom prst="rect">
            <a:avLst/>
          </a:prstGeom>
          <a:noFill/>
          <a:ln>
            <a:noFill/>
          </a:ln>
        </p:spPr>
      </p:pic>
      <p:sp>
        <p:nvSpPr>
          <p:cNvPr id="201" name="Google Shape;20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Dijkstra’s shortest path routing</a:t>
            </a:r>
            <a:endParaRPr/>
          </a:p>
        </p:txBody>
      </p:sp>
      <p:sp>
        <p:nvSpPr>
          <p:cNvPr id="207" name="Google Shape;207;p19"/>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 After making node A as permanent ,examine each of the nodes adjacent to </a:t>
            </a:r>
            <a:r>
              <a:rPr i="1" lang="en-US"/>
              <a:t>A </a:t>
            </a:r>
            <a:r>
              <a:rPr lang="en-US"/>
              <a:t>(the working node), relabeling each one with the distance to </a:t>
            </a:r>
            <a:r>
              <a:rPr i="1" lang="en-US"/>
              <a:t>A</a:t>
            </a:r>
            <a:r>
              <a:rPr lang="en-US"/>
              <a:t>. </a:t>
            </a:r>
            <a:endParaRPr/>
          </a:p>
          <a:p>
            <a:pPr indent="-228600" lvl="0" marL="228600" rtl="0" algn="l">
              <a:lnSpc>
                <a:spcPct val="90000"/>
              </a:lnSpc>
              <a:spcBef>
                <a:spcPts val="1000"/>
              </a:spcBef>
              <a:spcAft>
                <a:spcPts val="0"/>
              </a:spcAft>
              <a:buClr>
                <a:schemeClr val="dk1"/>
              </a:buClr>
              <a:buSzPct val="100000"/>
              <a:buChar char="•"/>
            </a:pPr>
            <a:r>
              <a:rPr lang="en-US"/>
              <a:t>Whenever a node is relabeled, we also label it with the node from </a:t>
            </a:r>
            <a:endParaRPr/>
          </a:p>
          <a:p>
            <a:pPr indent="-228600" lvl="0" marL="228600" rtl="0" algn="l">
              <a:lnSpc>
                <a:spcPct val="90000"/>
              </a:lnSpc>
              <a:spcBef>
                <a:spcPts val="1000"/>
              </a:spcBef>
              <a:spcAft>
                <a:spcPts val="0"/>
              </a:spcAft>
              <a:buClr>
                <a:schemeClr val="dk1"/>
              </a:buClr>
              <a:buSzPct val="100000"/>
              <a:buChar char="•"/>
            </a:pPr>
            <a:r>
              <a:rPr lang="en-US"/>
              <a:t>which the probe was made so that we can reconstruct the final path later. </a:t>
            </a:r>
            <a:endParaRPr/>
          </a:p>
          <a:p>
            <a:pPr indent="-228600" lvl="0" marL="228600" rtl="0" algn="l">
              <a:lnSpc>
                <a:spcPct val="90000"/>
              </a:lnSpc>
              <a:spcBef>
                <a:spcPts val="1000"/>
              </a:spcBef>
              <a:spcAft>
                <a:spcPts val="0"/>
              </a:spcAft>
              <a:buClr>
                <a:schemeClr val="dk1"/>
              </a:buClr>
              <a:buSzPct val="100000"/>
              <a:buChar char="•"/>
            </a:pPr>
            <a:r>
              <a:rPr lang="en-US"/>
              <a:t>If the network had more than one shortest path from </a:t>
            </a:r>
            <a:r>
              <a:rPr i="1" lang="en-US"/>
              <a:t>A </a:t>
            </a:r>
            <a:r>
              <a:rPr lang="en-US"/>
              <a:t>to </a:t>
            </a:r>
            <a:r>
              <a:rPr i="1" lang="en-US"/>
              <a:t>D </a:t>
            </a:r>
            <a:r>
              <a:rPr lang="en-US"/>
              <a:t>and we wanted to find all of</a:t>
            </a:r>
            <a:endParaRPr/>
          </a:p>
          <a:p>
            <a:pPr indent="-228600" lvl="0" marL="228600" rtl="0" algn="l">
              <a:lnSpc>
                <a:spcPct val="90000"/>
              </a:lnSpc>
              <a:spcBef>
                <a:spcPts val="1000"/>
              </a:spcBef>
              <a:spcAft>
                <a:spcPts val="0"/>
              </a:spcAft>
              <a:buClr>
                <a:schemeClr val="dk1"/>
              </a:buClr>
              <a:buSzPct val="100000"/>
              <a:buChar char="•"/>
            </a:pPr>
            <a:r>
              <a:rPr lang="en-US"/>
              <a:t>them, we would need to remember all of the probe nodes that could reach a node</a:t>
            </a:r>
            <a:endParaRPr/>
          </a:p>
          <a:p>
            <a:pPr indent="-228600" lvl="0" marL="228600" rtl="0" algn="l">
              <a:lnSpc>
                <a:spcPct val="90000"/>
              </a:lnSpc>
              <a:spcBef>
                <a:spcPts val="1000"/>
              </a:spcBef>
              <a:spcAft>
                <a:spcPts val="0"/>
              </a:spcAft>
              <a:buClr>
                <a:schemeClr val="dk1"/>
              </a:buClr>
              <a:buSzPct val="100000"/>
              <a:buChar char="•"/>
            </a:pPr>
            <a:r>
              <a:rPr lang="en-US"/>
              <a:t>with the same distance.</a:t>
            </a:r>
            <a:endParaRPr/>
          </a:p>
          <a:p>
            <a:pPr indent="-228600" lvl="0" marL="228600" rtl="0" algn="l">
              <a:lnSpc>
                <a:spcPct val="90000"/>
              </a:lnSpc>
              <a:spcBef>
                <a:spcPts val="1000"/>
              </a:spcBef>
              <a:spcAft>
                <a:spcPts val="0"/>
              </a:spcAft>
              <a:buClr>
                <a:schemeClr val="dk1"/>
              </a:buClr>
              <a:buSzPct val="100000"/>
              <a:buChar char="•"/>
            </a:pPr>
            <a:r>
              <a:rPr lang="en-US"/>
              <a:t>Having examined each of the nodes adjacent to </a:t>
            </a:r>
            <a:r>
              <a:rPr i="1" lang="en-US"/>
              <a:t>A</a:t>
            </a:r>
            <a:r>
              <a:rPr lang="en-US"/>
              <a:t>, we examine all the tentatively</a:t>
            </a:r>
            <a:endParaRPr/>
          </a:p>
          <a:p>
            <a:pPr indent="-228600" lvl="0" marL="228600" rtl="0" algn="l">
              <a:lnSpc>
                <a:spcPct val="90000"/>
              </a:lnSpc>
              <a:spcBef>
                <a:spcPts val="1000"/>
              </a:spcBef>
              <a:spcAft>
                <a:spcPts val="0"/>
              </a:spcAft>
              <a:buClr>
                <a:schemeClr val="dk1"/>
              </a:buClr>
              <a:buSzPct val="100000"/>
              <a:buChar char="•"/>
            </a:pPr>
            <a:r>
              <a:rPr lang="en-US"/>
              <a:t>labeled nodes in the whole graph and make the one with the smallest label</a:t>
            </a:r>
            <a:endParaRPr/>
          </a:p>
          <a:p>
            <a:pPr indent="-228600" lvl="0" marL="228600" rtl="0" algn="l">
              <a:lnSpc>
                <a:spcPct val="90000"/>
              </a:lnSpc>
              <a:spcBef>
                <a:spcPts val="1000"/>
              </a:spcBef>
              <a:spcAft>
                <a:spcPts val="0"/>
              </a:spcAft>
              <a:buClr>
                <a:schemeClr val="dk1"/>
              </a:buClr>
              <a:buSzPct val="100000"/>
              <a:buChar char="•"/>
            </a:pPr>
            <a:r>
              <a:rPr lang="en-US"/>
              <a:t>permanent, as shown in Fig. 5-7(b). </a:t>
            </a:r>
            <a:endParaRPr/>
          </a:p>
          <a:p>
            <a:pPr indent="-228600" lvl="0" marL="228600" rtl="0" algn="l">
              <a:lnSpc>
                <a:spcPct val="90000"/>
              </a:lnSpc>
              <a:spcBef>
                <a:spcPts val="1000"/>
              </a:spcBef>
              <a:spcAft>
                <a:spcPts val="0"/>
              </a:spcAft>
              <a:buClr>
                <a:schemeClr val="dk1"/>
              </a:buClr>
              <a:buSzPct val="100000"/>
              <a:buChar char="•"/>
            </a:pPr>
            <a:r>
              <a:rPr lang="en-US"/>
              <a:t>This one becomes the new working node.</a:t>
            </a:r>
            <a:endParaRPr/>
          </a:p>
          <a:p>
            <a:pPr indent="-228600" lvl="0" marL="228600" rtl="0" algn="l">
              <a:lnSpc>
                <a:spcPct val="90000"/>
              </a:lnSpc>
              <a:spcBef>
                <a:spcPts val="1000"/>
              </a:spcBef>
              <a:spcAft>
                <a:spcPts val="0"/>
              </a:spcAft>
              <a:buClr>
                <a:schemeClr val="dk1"/>
              </a:buClr>
              <a:buSzPct val="100000"/>
              <a:buChar char="•"/>
            </a:pPr>
            <a:r>
              <a:rPr lang="en-US"/>
              <a:t>We now start at </a:t>
            </a:r>
            <a:r>
              <a:rPr i="1" lang="en-US"/>
              <a:t>B </a:t>
            </a:r>
            <a:r>
              <a:rPr lang="en-US"/>
              <a:t>and examine all nodes adjacent to it. If the sum of the label on </a:t>
            </a:r>
            <a:r>
              <a:rPr i="1" lang="en-US"/>
              <a:t>B </a:t>
            </a:r>
            <a:r>
              <a:rPr lang="en-US"/>
              <a:t>and the distance from </a:t>
            </a:r>
            <a:r>
              <a:rPr i="1" lang="en-US"/>
              <a:t>B </a:t>
            </a:r>
            <a:r>
              <a:rPr lang="en-US"/>
              <a:t>to the node being considered is less than the label on that node, we have a shorter path, so the node is relabeled.</a:t>
            </a:r>
            <a:endParaRPr/>
          </a:p>
          <a:p>
            <a:pPr indent="-228600" lvl="0" marL="228600" rtl="0" algn="l">
              <a:lnSpc>
                <a:spcPct val="90000"/>
              </a:lnSpc>
              <a:spcBef>
                <a:spcPts val="1000"/>
              </a:spcBef>
              <a:spcAft>
                <a:spcPts val="0"/>
              </a:spcAft>
              <a:buClr>
                <a:schemeClr val="dk1"/>
              </a:buClr>
              <a:buSzPct val="100000"/>
              <a:buChar char="•"/>
            </a:pPr>
            <a:r>
              <a:rPr lang="en-US"/>
              <a:t>After all the nodes adjacent to the working node have been inspected and the tentative labels changed if possible, the entire graph is searched for the tentatively labeled node with the smallest value.</a:t>
            </a:r>
            <a:endParaRPr/>
          </a:p>
          <a:p>
            <a:pPr indent="-228600" lvl="0" marL="228600" rtl="0" algn="l">
              <a:lnSpc>
                <a:spcPct val="90000"/>
              </a:lnSpc>
              <a:spcBef>
                <a:spcPts val="1000"/>
              </a:spcBef>
              <a:spcAft>
                <a:spcPts val="0"/>
              </a:spcAft>
              <a:buClr>
                <a:schemeClr val="dk1"/>
              </a:buClr>
              <a:buSzPct val="100000"/>
              <a:buChar char="•"/>
            </a:pPr>
            <a:r>
              <a:rPr lang="en-US"/>
              <a:t> This node is made permanent and becomes the working node for the next round.</a:t>
            </a:r>
            <a:r>
              <a:rPr lang="en-US" sz="5400"/>
              <a:t>.</a:t>
            </a:r>
            <a:endParaRPr/>
          </a:p>
          <a:p>
            <a:pPr indent="-228600" lvl="1" marL="228600" rtl="0" algn="l">
              <a:lnSpc>
                <a:spcPct val="90000"/>
              </a:lnSpc>
              <a:spcBef>
                <a:spcPts val="1000"/>
              </a:spcBef>
              <a:spcAft>
                <a:spcPts val="0"/>
              </a:spcAft>
              <a:buClr>
                <a:schemeClr val="dk1"/>
              </a:buClr>
              <a:buSzPct val="100000"/>
              <a:buChar char="•"/>
            </a:pPr>
            <a:r>
              <a:rPr lang="en-US"/>
              <a:t>This Process is continued for all the nodes available in the graph.</a:t>
            </a:r>
            <a:endParaRPr/>
          </a:p>
          <a:p>
            <a:pPr indent="-14287" lvl="0" marL="228600" rtl="0" algn="l">
              <a:lnSpc>
                <a:spcPct val="90000"/>
              </a:lnSpc>
              <a:spcBef>
                <a:spcPts val="1000"/>
              </a:spcBef>
              <a:spcAft>
                <a:spcPts val="0"/>
              </a:spcAft>
              <a:buClr>
                <a:schemeClr val="dk1"/>
              </a:buClr>
              <a:buSzPct val="100000"/>
              <a:buNone/>
            </a:pPr>
            <a:r>
              <a:t/>
            </a:r>
            <a:endParaRPr sz="5400"/>
          </a:p>
        </p:txBody>
      </p:sp>
      <p:sp>
        <p:nvSpPr>
          <p:cNvPr id="208" name="Google Shape;20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b="1" lang="en-US"/>
              <a:t>Flooding:</a:t>
            </a:r>
            <a:endParaRPr/>
          </a:p>
        </p:txBody>
      </p:sp>
      <p:sp>
        <p:nvSpPr>
          <p:cNvPr id="214" name="Google Shape;214;p20"/>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Every incoming packet is sent out on every outgoing line except the one it arrived on. </a:t>
            </a:r>
            <a:endParaRPr/>
          </a:p>
          <a:p>
            <a:pPr indent="-228600" lvl="0" marL="228600" rtl="0" algn="just">
              <a:lnSpc>
                <a:spcPct val="90000"/>
              </a:lnSpc>
              <a:spcBef>
                <a:spcPts val="1000"/>
              </a:spcBef>
              <a:spcAft>
                <a:spcPts val="0"/>
              </a:spcAft>
              <a:buClr>
                <a:schemeClr val="dk1"/>
              </a:buClr>
              <a:buSzPts val="2800"/>
              <a:buChar char="•"/>
            </a:pPr>
            <a:r>
              <a:rPr lang="en-US"/>
              <a:t>Flooding obviously </a:t>
            </a:r>
            <a:r>
              <a:rPr lang="en-US">
                <a:solidFill>
                  <a:schemeClr val="accent2"/>
                </a:solidFill>
              </a:rPr>
              <a:t>generates vast (infinite) numbers of duplicate packets</a:t>
            </a:r>
            <a:endParaRPr/>
          </a:p>
          <a:p>
            <a:pPr indent="-228600" lvl="0" marL="228600" rtl="0" algn="just">
              <a:lnSpc>
                <a:spcPct val="90000"/>
              </a:lnSpc>
              <a:spcBef>
                <a:spcPts val="1000"/>
              </a:spcBef>
              <a:spcAft>
                <a:spcPts val="0"/>
              </a:spcAft>
              <a:buClr>
                <a:schemeClr val="dk1"/>
              </a:buClr>
              <a:buSzPts val="2800"/>
              <a:buChar char="•"/>
            </a:pPr>
            <a:r>
              <a:rPr lang="en-US"/>
              <a:t>some measures are taken to damp the process. </a:t>
            </a:r>
            <a:endParaRPr/>
          </a:p>
          <a:p>
            <a:pPr indent="-228600" lvl="0" marL="228600" rtl="0" algn="just">
              <a:lnSpc>
                <a:spcPct val="90000"/>
              </a:lnSpc>
              <a:spcBef>
                <a:spcPts val="1000"/>
              </a:spcBef>
              <a:spcAft>
                <a:spcPts val="0"/>
              </a:spcAft>
              <a:buClr>
                <a:schemeClr val="dk1"/>
              </a:buClr>
              <a:buSzPts val="2800"/>
              <a:buChar char="•"/>
            </a:pPr>
            <a:r>
              <a:rPr lang="en-US"/>
              <a:t>One such measure is </a:t>
            </a:r>
            <a:endParaRPr/>
          </a:p>
          <a:p>
            <a:pPr indent="-228600" lvl="1" marL="685800" rtl="0" algn="just">
              <a:lnSpc>
                <a:spcPct val="90000"/>
              </a:lnSpc>
              <a:spcBef>
                <a:spcPts val="500"/>
              </a:spcBef>
              <a:spcAft>
                <a:spcPts val="0"/>
              </a:spcAft>
              <a:buClr>
                <a:schemeClr val="dk1"/>
              </a:buClr>
              <a:buSzPts val="2400"/>
              <a:buChar char="•"/>
            </a:pPr>
            <a:r>
              <a:rPr lang="en-US"/>
              <a:t>to have a </a:t>
            </a:r>
            <a:r>
              <a:rPr lang="en-US">
                <a:solidFill>
                  <a:srgbClr val="FF0000"/>
                </a:solidFill>
              </a:rPr>
              <a:t>hop counter </a:t>
            </a:r>
            <a:r>
              <a:rPr lang="en-US"/>
              <a:t>contained in the header of each packet, which is decremented at each hop, with the packet being discarded when the counter reaches zero. </a:t>
            </a:r>
            <a:endParaRPr/>
          </a:p>
          <a:p>
            <a:pPr indent="-228600" lvl="1" marL="685800" rtl="0" algn="just">
              <a:lnSpc>
                <a:spcPct val="90000"/>
              </a:lnSpc>
              <a:spcBef>
                <a:spcPts val="500"/>
              </a:spcBef>
              <a:spcAft>
                <a:spcPts val="0"/>
              </a:spcAft>
              <a:buClr>
                <a:schemeClr val="dk1"/>
              </a:buClr>
              <a:buSzPts val="2400"/>
              <a:buChar char="•"/>
            </a:pPr>
            <a:r>
              <a:rPr lang="en-US"/>
              <a:t>Ideally, the hop counter should be initialized to the length of the path from source to destination. </a:t>
            </a:r>
            <a:endParaRPr/>
          </a:p>
          <a:p>
            <a:pPr indent="-228600" lvl="1" marL="685800" rtl="0" algn="just">
              <a:lnSpc>
                <a:spcPct val="90000"/>
              </a:lnSpc>
              <a:spcBef>
                <a:spcPts val="500"/>
              </a:spcBef>
              <a:spcAft>
                <a:spcPts val="0"/>
              </a:spcAft>
              <a:buClr>
                <a:schemeClr val="dk1"/>
              </a:buClr>
              <a:buSzPts val="2400"/>
              <a:buChar char="•"/>
            </a:pPr>
            <a:r>
              <a:rPr lang="en-US"/>
              <a:t>If the sender does not know how long the path is, it can initialize the counter to the worst case, namely, the full diameter of the subnet.</a:t>
            </a:r>
            <a:endParaRPr>
              <a:latin typeface="Arial"/>
              <a:ea typeface="Arial"/>
              <a:cs typeface="Arial"/>
              <a:sym typeface="Arial"/>
            </a:endParaRPr>
          </a:p>
        </p:txBody>
      </p:sp>
      <p:sp>
        <p:nvSpPr>
          <p:cNvPr id="215" name="Google Shape;21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Flooding</a:t>
            </a:r>
            <a:endParaRPr/>
          </a:p>
        </p:txBody>
      </p:sp>
      <p:sp>
        <p:nvSpPr>
          <p:cNvPr id="221" name="Google Shape;221;p21"/>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50000"/>
              </a:lnSpc>
              <a:spcBef>
                <a:spcPts val="0"/>
              </a:spcBef>
              <a:spcAft>
                <a:spcPts val="0"/>
              </a:spcAft>
              <a:buClr>
                <a:schemeClr val="dk1"/>
              </a:buClr>
              <a:buSzPts val="2800"/>
              <a:buChar char="•"/>
            </a:pPr>
            <a:r>
              <a:rPr lang="en-US"/>
              <a:t>An alternative technique is  to </a:t>
            </a:r>
            <a:r>
              <a:rPr lang="en-US">
                <a:solidFill>
                  <a:srgbClr val="FF0000"/>
                </a:solidFill>
              </a:rPr>
              <a:t>keep track of which packets have been flooded</a:t>
            </a:r>
            <a:r>
              <a:rPr lang="en-US"/>
              <a:t>, to avoid sending them out a second time. </a:t>
            </a:r>
            <a:endParaRPr/>
          </a:p>
          <a:p>
            <a:pPr indent="-228600" lvl="0" marL="228600" rtl="0" algn="just">
              <a:lnSpc>
                <a:spcPct val="150000"/>
              </a:lnSpc>
              <a:spcBef>
                <a:spcPts val="1000"/>
              </a:spcBef>
              <a:spcAft>
                <a:spcPts val="0"/>
              </a:spcAft>
              <a:buClr>
                <a:schemeClr val="dk1"/>
              </a:buClr>
              <a:buSzPts val="2800"/>
              <a:buChar char="•"/>
            </a:pPr>
            <a:r>
              <a:rPr lang="en-US"/>
              <a:t>This is achieved by having the source router put a </a:t>
            </a:r>
            <a:r>
              <a:rPr lang="en-US">
                <a:solidFill>
                  <a:srgbClr val="FF0000"/>
                </a:solidFill>
              </a:rPr>
              <a:t>sequence number </a:t>
            </a:r>
            <a:r>
              <a:rPr lang="en-US"/>
              <a:t>in each packet it receives from its hosts. </a:t>
            </a:r>
            <a:endParaRPr/>
          </a:p>
          <a:p>
            <a:pPr indent="-228600" lvl="0" marL="228600" rtl="0" algn="just">
              <a:lnSpc>
                <a:spcPct val="150000"/>
              </a:lnSpc>
              <a:spcBef>
                <a:spcPts val="1000"/>
              </a:spcBef>
              <a:spcAft>
                <a:spcPts val="0"/>
              </a:spcAft>
              <a:buClr>
                <a:schemeClr val="dk1"/>
              </a:buClr>
              <a:buSzPts val="2800"/>
              <a:buChar char="•"/>
            </a:pPr>
            <a:r>
              <a:rPr lang="en-US"/>
              <a:t>Each router then needs a list per source router telling which sequence numbers originating at that source have already been seen. </a:t>
            </a:r>
            <a:endParaRPr/>
          </a:p>
          <a:p>
            <a:pPr indent="-228600" lvl="0" marL="228600" rtl="0" algn="just">
              <a:lnSpc>
                <a:spcPct val="150000"/>
              </a:lnSpc>
              <a:spcBef>
                <a:spcPts val="1000"/>
              </a:spcBef>
              <a:spcAft>
                <a:spcPts val="0"/>
              </a:spcAft>
              <a:buClr>
                <a:schemeClr val="dk1"/>
              </a:buClr>
              <a:buSzPts val="2800"/>
              <a:buChar char="•"/>
            </a:pPr>
            <a:r>
              <a:rPr lang="en-US"/>
              <a:t>If an incoming packet is on the list, it is not flooded.</a:t>
            </a:r>
            <a:endParaRPr/>
          </a:p>
        </p:txBody>
      </p:sp>
      <p:sp>
        <p:nvSpPr>
          <p:cNvPr id="222" name="Google Shape;2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5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5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5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500"/>
                                        <p:tgtEl>
                                          <p:spTgt spid="22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b="1" lang="en-US"/>
              <a:t>Flooding:</a:t>
            </a:r>
            <a:endParaRPr/>
          </a:p>
        </p:txBody>
      </p:sp>
      <p:sp>
        <p:nvSpPr>
          <p:cNvPr id="228" name="Google Shape;228;p22"/>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342900" lvl="0" marL="342900" rtl="0" algn="just">
              <a:lnSpc>
                <a:spcPct val="150000"/>
              </a:lnSpc>
              <a:spcBef>
                <a:spcPts val="0"/>
              </a:spcBef>
              <a:spcAft>
                <a:spcPts val="0"/>
              </a:spcAft>
              <a:buClr>
                <a:schemeClr val="dk1"/>
              </a:buClr>
              <a:buSzPts val="2800"/>
              <a:buFont typeface="Arial"/>
              <a:buChar char="•"/>
            </a:pPr>
            <a:r>
              <a:rPr lang="en-US"/>
              <a:t>To prevent the list from growing without bound, each list should be augmented by a counter, k, meaning that all sequence numbers through k have been seen. </a:t>
            </a:r>
            <a:endParaRPr/>
          </a:p>
          <a:p>
            <a:pPr indent="-342900" lvl="0" marL="342900" rtl="0" algn="just">
              <a:lnSpc>
                <a:spcPct val="150000"/>
              </a:lnSpc>
              <a:spcBef>
                <a:spcPts val="1000"/>
              </a:spcBef>
              <a:spcAft>
                <a:spcPts val="0"/>
              </a:spcAft>
              <a:buClr>
                <a:schemeClr val="dk1"/>
              </a:buClr>
              <a:buSzPts val="2800"/>
              <a:buFont typeface="Arial"/>
              <a:buChar char="•"/>
            </a:pPr>
            <a:r>
              <a:rPr lang="en-US"/>
              <a:t>When a packet comes in, it is easy to check if the packet is a duplicate; </a:t>
            </a:r>
            <a:endParaRPr/>
          </a:p>
          <a:p>
            <a:pPr indent="-342900" lvl="0" marL="342900" rtl="0" algn="just">
              <a:lnSpc>
                <a:spcPct val="150000"/>
              </a:lnSpc>
              <a:spcBef>
                <a:spcPts val="1000"/>
              </a:spcBef>
              <a:spcAft>
                <a:spcPts val="0"/>
              </a:spcAft>
              <a:buClr>
                <a:schemeClr val="dk1"/>
              </a:buClr>
              <a:buSzPts val="2800"/>
              <a:buFont typeface="Arial"/>
              <a:buChar char="•"/>
            </a:pPr>
            <a:r>
              <a:rPr lang="en-US"/>
              <a:t>if so, it is discarded. </a:t>
            </a:r>
            <a:endParaRPr/>
          </a:p>
          <a:p>
            <a:pPr indent="-342900" lvl="0" marL="342900" rtl="0" algn="just">
              <a:lnSpc>
                <a:spcPct val="150000"/>
              </a:lnSpc>
              <a:spcBef>
                <a:spcPts val="1000"/>
              </a:spcBef>
              <a:spcAft>
                <a:spcPts val="0"/>
              </a:spcAft>
              <a:buClr>
                <a:schemeClr val="dk1"/>
              </a:buClr>
              <a:buSzPts val="2800"/>
              <a:buFont typeface="Arial"/>
              <a:buChar char="•"/>
            </a:pPr>
            <a:r>
              <a:rPr lang="en-US"/>
              <a:t>Furthermore, the full list below k is not needed, since k effectively summarizes it.</a:t>
            </a:r>
            <a:endParaRPr/>
          </a:p>
        </p:txBody>
      </p:sp>
      <p:sp>
        <p:nvSpPr>
          <p:cNvPr id="229" name="Google Shape;22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b="1" lang="en-US"/>
              <a:t>Variant: Selective flooding:</a:t>
            </a:r>
            <a:endParaRPr/>
          </a:p>
        </p:txBody>
      </p:sp>
      <p:sp>
        <p:nvSpPr>
          <p:cNvPr id="235" name="Google Shape;235;p23"/>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Font typeface="Arial"/>
              <a:buChar char="•"/>
            </a:pPr>
            <a:r>
              <a:rPr lang="en-US" sz="3200"/>
              <a:t>Routers do not send every incoming packet out on every line, </a:t>
            </a:r>
            <a:endParaRPr/>
          </a:p>
          <a:p>
            <a:pPr indent="-139700" lvl="0" marL="342900" rtl="0" algn="just">
              <a:lnSpc>
                <a:spcPct val="90000"/>
              </a:lnSpc>
              <a:spcBef>
                <a:spcPts val="1000"/>
              </a:spcBef>
              <a:spcAft>
                <a:spcPts val="0"/>
              </a:spcAft>
              <a:buClr>
                <a:schemeClr val="dk1"/>
              </a:buClr>
              <a:buSzPts val="3200"/>
              <a:buFont typeface="Arial"/>
              <a:buNone/>
            </a:pPr>
            <a:r>
              <a:t/>
            </a:r>
            <a:endParaRPr sz="3200"/>
          </a:p>
          <a:p>
            <a:pPr indent="-342900" lvl="0" marL="342900" rtl="0" algn="just">
              <a:lnSpc>
                <a:spcPct val="90000"/>
              </a:lnSpc>
              <a:spcBef>
                <a:spcPts val="1000"/>
              </a:spcBef>
              <a:spcAft>
                <a:spcPts val="0"/>
              </a:spcAft>
              <a:buClr>
                <a:schemeClr val="dk1"/>
              </a:buClr>
              <a:buSzPts val="3200"/>
              <a:buFont typeface="Arial"/>
              <a:buChar char="•"/>
            </a:pPr>
            <a:r>
              <a:rPr lang="en-US" sz="3200"/>
              <a:t>It will send only on those lines that are going approximately in the right direction</a:t>
            </a:r>
            <a:endParaRPr/>
          </a:p>
          <a:p>
            <a:pPr indent="-139700" lvl="0" marL="342900" rtl="0" algn="just">
              <a:lnSpc>
                <a:spcPct val="90000"/>
              </a:lnSpc>
              <a:spcBef>
                <a:spcPts val="1000"/>
              </a:spcBef>
              <a:spcAft>
                <a:spcPts val="0"/>
              </a:spcAft>
              <a:buClr>
                <a:schemeClr val="dk1"/>
              </a:buClr>
              <a:buSzPts val="3200"/>
              <a:buFont typeface="Arial"/>
              <a:buNone/>
            </a:pPr>
            <a:r>
              <a:t/>
            </a:r>
            <a:endParaRPr sz="3200">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t>There is usually little point in sending a westbound packet on an eastbound line unless the topology is extremely peculiar and the router is sure of this fact.</a:t>
            </a:r>
            <a:endParaRPr>
              <a:latin typeface="Arial"/>
              <a:ea typeface="Arial"/>
              <a:cs typeface="Arial"/>
              <a:sym typeface="Arial"/>
            </a:endParaRPr>
          </a:p>
        </p:txBody>
      </p:sp>
      <p:sp>
        <p:nvSpPr>
          <p:cNvPr id="236" name="Google Shape;23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5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5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5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5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500"/>
                                        <p:tgtEl>
                                          <p:spTgt spid="23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4"/>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Applications of flooding</a:t>
            </a:r>
            <a:endParaRPr/>
          </a:p>
        </p:txBody>
      </p:sp>
      <p:sp>
        <p:nvSpPr>
          <p:cNvPr id="242" name="Google Shape;242;p24"/>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a:t>
            </a:r>
            <a:r>
              <a:rPr lang="en-US">
                <a:solidFill>
                  <a:srgbClr val="FF0000"/>
                </a:solidFill>
              </a:rPr>
              <a:t>military applications</a:t>
            </a:r>
            <a:r>
              <a:rPr lang="en-US"/>
              <a:t>, where large numbers of routers may be blown to bits at any instant, the tremendous robustness of flooding is highly desirable. </a:t>
            </a:r>
            <a:endParaRPr/>
          </a:p>
          <a:p>
            <a:pPr indent="-228600" lvl="0" marL="228600" rtl="0" algn="l">
              <a:lnSpc>
                <a:spcPct val="90000"/>
              </a:lnSpc>
              <a:spcBef>
                <a:spcPts val="1000"/>
              </a:spcBef>
              <a:spcAft>
                <a:spcPts val="0"/>
              </a:spcAft>
              <a:buClr>
                <a:schemeClr val="dk1"/>
              </a:buClr>
              <a:buSzPts val="2800"/>
              <a:buChar char="•"/>
            </a:pPr>
            <a:r>
              <a:rPr lang="en-US"/>
              <a:t>In </a:t>
            </a:r>
            <a:r>
              <a:rPr lang="en-US">
                <a:solidFill>
                  <a:srgbClr val="FF0000"/>
                </a:solidFill>
              </a:rPr>
              <a:t>distributed database applications</a:t>
            </a:r>
            <a:r>
              <a:rPr lang="en-US"/>
              <a:t>, it is sometimes necessary to update all the databases concurrently, in which case flooding can be useful. </a:t>
            </a:r>
            <a:endParaRPr/>
          </a:p>
          <a:p>
            <a:pPr indent="-228600" lvl="0" marL="228600" rtl="0" algn="l">
              <a:lnSpc>
                <a:spcPct val="90000"/>
              </a:lnSpc>
              <a:spcBef>
                <a:spcPts val="1000"/>
              </a:spcBef>
              <a:spcAft>
                <a:spcPts val="0"/>
              </a:spcAft>
              <a:buClr>
                <a:schemeClr val="dk1"/>
              </a:buClr>
              <a:buSzPts val="2800"/>
              <a:buChar char="•"/>
            </a:pPr>
            <a:r>
              <a:rPr lang="en-US"/>
              <a:t>In </a:t>
            </a:r>
            <a:r>
              <a:rPr lang="en-US">
                <a:solidFill>
                  <a:srgbClr val="FF0000"/>
                </a:solidFill>
              </a:rPr>
              <a:t>wireless networks</a:t>
            </a:r>
            <a:r>
              <a:rPr lang="en-US"/>
              <a:t>, all messages transmitted by a station can be received by all other stations within its radio range. </a:t>
            </a:r>
            <a:endParaRPr/>
          </a:p>
          <a:p>
            <a:pPr indent="-228600" lvl="0" marL="228600" rtl="0" algn="l">
              <a:lnSpc>
                <a:spcPct val="90000"/>
              </a:lnSpc>
              <a:spcBef>
                <a:spcPts val="1000"/>
              </a:spcBef>
              <a:spcAft>
                <a:spcPts val="0"/>
              </a:spcAft>
              <a:buClr>
                <a:schemeClr val="dk1"/>
              </a:buClr>
              <a:buSzPts val="2800"/>
              <a:buChar char="•"/>
            </a:pPr>
            <a:r>
              <a:rPr lang="en-US"/>
              <a:t>Used in </a:t>
            </a:r>
            <a:r>
              <a:rPr lang="en-US">
                <a:solidFill>
                  <a:srgbClr val="FF0000"/>
                </a:solidFill>
              </a:rPr>
              <a:t>metric</a:t>
            </a:r>
            <a:r>
              <a:rPr lang="en-US"/>
              <a:t> against which other routing algorithms can be compared. </a:t>
            </a:r>
            <a:endParaRPr/>
          </a:p>
        </p:txBody>
      </p:sp>
      <p:sp>
        <p:nvSpPr>
          <p:cNvPr id="243" name="Google Shape;2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animEffect filter="fade" transition="in">
                                      <p:cBhvr>
                                        <p:cTn dur="500"/>
                                        <p:tgtEl>
                                          <p:spTgt spid="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animEffect filter="fade" transition="in">
                                      <p:cBhvr>
                                        <p:cTn dur="500"/>
                                        <p:tgtEl>
                                          <p:spTgt spid="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animEffect filter="fade" transition="in">
                                      <p:cBhvr>
                                        <p:cTn dur="500"/>
                                        <p:tgtEl>
                                          <p:spTgt spid="2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3" st="3"/>
                                            </p:txEl>
                                          </p:spTgt>
                                        </p:tgtEl>
                                        <p:attrNameLst>
                                          <p:attrName>style.visibility</p:attrName>
                                        </p:attrNameLst>
                                      </p:cBhvr>
                                      <p:to>
                                        <p:strVal val="visible"/>
                                      </p:to>
                                    </p:set>
                                    <p:animEffect filter="fade" transition="in">
                                      <p:cBhvr>
                                        <p:cTn dur="500"/>
                                        <p:tgtEl>
                                          <p:spTgt spid="24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5"/>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251459" lvl="0" marL="0" rtl="0" algn="just">
              <a:lnSpc>
                <a:spcPct val="90000"/>
              </a:lnSpc>
              <a:spcBef>
                <a:spcPts val="0"/>
              </a:spcBef>
              <a:spcAft>
                <a:spcPts val="0"/>
              </a:spcAft>
              <a:buClr>
                <a:schemeClr val="dk1"/>
              </a:buClr>
              <a:buSzPct val="100000"/>
              <a:buFont typeface="Noto Sans Symbols"/>
              <a:buChar char="▪"/>
            </a:pPr>
            <a:r>
              <a:rPr lang="en-US"/>
              <a:t>Advantages of Flooding:</a:t>
            </a:r>
            <a:endParaRPr/>
          </a:p>
        </p:txBody>
      </p:sp>
      <p:sp>
        <p:nvSpPr>
          <p:cNvPr id="249" name="Google Shape;249;p25"/>
          <p:cNvSpPr txBox="1"/>
          <p:nvPr>
            <p:ph idx="1" type="body"/>
          </p:nvPr>
        </p:nvSpPr>
        <p:spPr>
          <a:xfrm>
            <a:off x="1524000" y="710692"/>
            <a:ext cx="9144000" cy="5889978"/>
          </a:xfrm>
          <a:prstGeom prst="rect">
            <a:avLst/>
          </a:prstGeom>
          <a:noFill/>
          <a:ln>
            <a:noFill/>
          </a:ln>
        </p:spPr>
        <p:txBody>
          <a:bodyPr anchorCtr="0" anchor="t" bIns="45700" lIns="91425" spcFirstLastPara="1" rIns="91425" wrap="square" tIns="45700">
            <a:normAutofit/>
          </a:bodyPr>
          <a:lstStyle/>
          <a:p>
            <a:pPr indent="-228600" lvl="1" marL="685800" rtl="0" algn="just">
              <a:lnSpc>
                <a:spcPct val="90000"/>
              </a:lnSpc>
              <a:spcBef>
                <a:spcPts val="0"/>
              </a:spcBef>
              <a:spcAft>
                <a:spcPts val="0"/>
              </a:spcAft>
              <a:buClr>
                <a:schemeClr val="dk1"/>
              </a:buClr>
              <a:buSzPts val="2400"/>
              <a:buFont typeface="Noto Sans Symbols"/>
              <a:buChar char="▪"/>
            </a:pPr>
            <a:r>
              <a:rPr lang="en-US" sz="2400"/>
              <a:t>always chooses the </a:t>
            </a:r>
            <a:r>
              <a:rPr lang="en-US" sz="2400">
                <a:solidFill>
                  <a:srgbClr val="FF0000"/>
                </a:solidFill>
              </a:rPr>
              <a:t>shortest path </a:t>
            </a:r>
            <a:r>
              <a:rPr lang="en-US" sz="2400"/>
              <a:t>because it chooses every possible path in parallel.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sz="2400"/>
              <a:t>Consequently, no other algorithm can produce a </a:t>
            </a:r>
            <a:r>
              <a:rPr lang="en-US" sz="2400">
                <a:solidFill>
                  <a:srgbClr val="FF0000"/>
                </a:solidFill>
              </a:rPr>
              <a:t>shorter delay </a:t>
            </a:r>
            <a:r>
              <a:rPr lang="en-US" sz="2400"/>
              <a:t>(if we ignore the overhead generated by the flooding process itself). </a:t>
            </a:r>
            <a:endParaRPr/>
          </a:p>
          <a:p>
            <a:pPr indent="-50800" lvl="0" marL="228600" rtl="0" algn="just">
              <a:lnSpc>
                <a:spcPct val="90000"/>
              </a:lnSpc>
              <a:spcBef>
                <a:spcPts val="1000"/>
              </a:spcBef>
              <a:spcAft>
                <a:spcPts val="0"/>
              </a:spcAft>
              <a:buClr>
                <a:schemeClr val="dk1"/>
              </a:buClr>
              <a:buSzPts val="2800"/>
              <a:buFont typeface="Noto Sans Symbols"/>
              <a:buNone/>
            </a:pPr>
            <a:r>
              <a:t/>
            </a:r>
            <a:endParaRPr b="1"/>
          </a:p>
        </p:txBody>
      </p:sp>
      <p:sp>
        <p:nvSpPr>
          <p:cNvPr id="250" name="Google Shape;25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2022-11-15T15:22:00Z</dcterms:created>
  <dc:creator>DIVYA</dc:creator>
</cp:coreProperties>
</file>