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5" r:id="rId8"/>
    <p:sldId id="266" r:id="rId9"/>
    <p:sldId id="262" r:id="rId10"/>
    <p:sldId id="263" r:id="rId11"/>
    <p:sldId id="264"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1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1D5234C-C421-4D02-A22E-47A11A6DE9FF}" type="datetimeFigureOut">
              <a:rPr lang="en-US" smtClean="0"/>
              <a:t>11/14/2022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6E8647-297E-4870-A781-77B9870B0E04}" type="slidenum">
              <a:rPr lang="en-US" smtClean="0"/>
              <a:t>‹#›</a:t>
            </a:fld>
            <a:endParaRPr lang="en-US"/>
          </a:p>
        </p:txBody>
      </p:sp>
    </p:spTree>
    <p:extLst>
      <p:ext uri="{BB962C8B-B14F-4D97-AF65-F5344CB8AC3E}">
        <p14:creationId xmlns:p14="http://schemas.microsoft.com/office/powerpoint/2010/main" val="2219571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D5234C-C421-4D02-A22E-47A11A6DE9FF}" type="datetimeFigureOut">
              <a:rPr lang="en-US" smtClean="0"/>
              <a:t>11/14/2022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6E8647-297E-4870-A781-77B9870B0E04}" type="slidenum">
              <a:rPr lang="en-US" smtClean="0"/>
              <a:t>‹#›</a:t>
            </a:fld>
            <a:endParaRPr lang="en-US"/>
          </a:p>
        </p:txBody>
      </p:sp>
    </p:spTree>
    <p:extLst>
      <p:ext uri="{BB962C8B-B14F-4D97-AF65-F5344CB8AC3E}">
        <p14:creationId xmlns:p14="http://schemas.microsoft.com/office/powerpoint/2010/main" val="2308158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1D5234C-C421-4D02-A22E-47A11A6DE9FF}" type="datetimeFigureOut">
              <a:rPr lang="en-US" smtClean="0"/>
              <a:t>11/14/2022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6E8647-297E-4870-A781-77B9870B0E04}" type="slidenum">
              <a:rPr lang="en-US" smtClean="0"/>
              <a:t>‹#›</a:t>
            </a:fld>
            <a:endParaRPr lang="en-US"/>
          </a:p>
        </p:txBody>
      </p:sp>
    </p:spTree>
    <p:extLst>
      <p:ext uri="{BB962C8B-B14F-4D97-AF65-F5344CB8AC3E}">
        <p14:creationId xmlns:p14="http://schemas.microsoft.com/office/powerpoint/2010/main" val="2684857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1D5234C-C421-4D02-A22E-47A11A6DE9FF}" type="datetimeFigureOut">
              <a:rPr lang="en-US" smtClean="0"/>
              <a:t>11/14/2022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6E8647-297E-4870-A781-77B9870B0E04}" type="slidenum">
              <a:rPr lang="en-US" smtClean="0"/>
              <a:t>‹#›</a:t>
            </a:fld>
            <a:endParaRPr lang="en-US"/>
          </a:p>
        </p:txBody>
      </p:sp>
    </p:spTree>
    <p:extLst>
      <p:ext uri="{BB962C8B-B14F-4D97-AF65-F5344CB8AC3E}">
        <p14:creationId xmlns:p14="http://schemas.microsoft.com/office/powerpoint/2010/main" val="2240148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1D5234C-C421-4D02-A22E-47A11A6DE9FF}" type="datetimeFigureOut">
              <a:rPr lang="en-US" smtClean="0"/>
              <a:t>11/14/2022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6E8647-297E-4870-A781-77B9870B0E04}" type="slidenum">
              <a:rPr lang="en-US" smtClean="0"/>
              <a:t>‹#›</a:t>
            </a:fld>
            <a:endParaRPr lang="en-US"/>
          </a:p>
        </p:txBody>
      </p:sp>
    </p:spTree>
    <p:extLst>
      <p:ext uri="{BB962C8B-B14F-4D97-AF65-F5344CB8AC3E}">
        <p14:creationId xmlns:p14="http://schemas.microsoft.com/office/powerpoint/2010/main" val="784744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1D5234C-C421-4D02-A22E-47A11A6DE9FF}" type="datetimeFigureOut">
              <a:rPr lang="en-US" smtClean="0"/>
              <a:t>11/14/2022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6E8647-297E-4870-A781-77B9870B0E04}" type="slidenum">
              <a:rPr lang="en-US" smtClean="0"/>
              <a:t>‹#›</a:t>
            </a:fld>
            <a:endParaRPr lang="en-US"/>
          </a:p>
        </p:txBody>
      </p:sp>
    </p:spTree>
    <p:extLst>
      <p:ext uri="{BB962C8B-B14F-4D97-AF65-F5344CB8AC3E}">
        <p14:creationId xmlns:p14="http://schemas.microsoft.com/office/powerpoint/2010/main" val="2348137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D5234C-C421-4D02-A22E-47A11A6DE9FF}" type="datetimeFigureOut">
              <a:rPr lang="en-US" smtClean="0"/>
              <a:t>11/14/2022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6E8647-297E-4870-A781-77B9870B0E04}" type="slidenum">
              <a:rPr lang="en-US" smtClean="0"/>
              <a:t>‹#›</a:t>
            </a:fld>
            <a:endParaRPr lang="en-US"/>
          </a:p>
        </p:txBody>
      </p:sp>
    </p:spTree>
    <p:extLst>
      <p:ext uri="{BB962C8B-B14F-4D97-AF65-F5344CB8AC3E}">
        <p14:creationId xmlns:p14="http://schemas.microsoft.com/office/powerpoint/2010/main" val="3739819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1D5234C-C421-4D02-A22E-47A11A6DE9FF}" type="datetimeFigureOut">
              <a:rPr lang="en-US" smtClean="0"/>
              <a:t>11/14/2022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6E8647-297E-4870-A781-77B9870B0E04}" type="slidenum">
              <a:rPr lang="en-US" smtClean="0"/>
              <a:t>‹#›</a:t>
            </a:fld>
            <a:endParaRPr lang="en-US"/>
          </a:p>
        </p:txBody>
      </p:sp>
    </p:spTree>
    <p:extLst>
      <p:ext uri="{BB962C8B-B14F-4D97-AF65-F5344CB8AC3E}">
        <p14:creationId xmlns:p14="http://schemas.microsoft.com/office/powerpoint/2010/main" val="1178251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1D5234C-C421-4D02-A22E-47A11A6DE9FF}" type="datetimeFigureOut">
              <a:rPr lang="en-US" smtClean="0"/>
              <a:t>11/14/2022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6E8647-297E-4870-A781-77B9870B0E04}" type="slidenum">
              <a:rPr lang="en-US" smtClean="0"/>
              <a:t>‹#›</a:t>
            </a:fld>
            <a:endParaRPr lang="en-US"/>
          </a:p>
        </p:txBody>
      </p:sp>
    </p:spTree>
    <p:extLst>
      <p:ext uri="{BB962C8B-B14F-4D97-AF65-F5344CB8AC3E}">
        <p14:creationId xmlns:p14="http://schemas.microsoft.com/office/powerpoint/2010/main" val="1151420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D5234C-C421-4D02-A22E-47A11A6DE9FF}" type="datetimeFigureOut">
              <a:rPr lang="en-US" smtClean="0"/>
              <a:t>11/14/2022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6E8647-297E-4870-A781-77B9870B0E04}" type="slidenum">
              <a:rPr lang="en-US" smtClean="0"/>
              <a:t>‹#›</a:t>
            </a:fld>
            <a:endParaRPr lang="en-US"/>
          </a:p>
        </p:txBody>
      </p:sp>
    </p:spTree>
    <p:extLst>
      <p:ext uri="{BB962C8B-B14F-4D97-AF65-F5344CB8AC3E}">
        <p14:creationId xmlns:p14="http://schemas.microsoft.com/office/powerpoint/2010/main" val="306578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1D5234C-C421-4D02-A22E-47A11A6DE9FF}" type="datetimeFigureOut">
              <a:rPr lang="en-US" smtClean="0"/>
              <a:t>11/14/2022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6E8647-297E-4870-A781-77B9870B0E04}" type="slidenum">
              <a:rPr lang="en-US" smtClean="0"/>
              <a:t>‹#›</a:t>
            </a:fld>
            <a:endParaRPr lang="en-US"/>
          </a:p>
        </p:txBody>
      </p:sp>
    </p:spTree>
    <p:extLst>
      <p:ext uri="{BB962C8B-B14F-4D97-AF65-F5344CB8AC3E}">
        <p14:creationId xmlns:p14="http://schemas.microsoft.com/office/powerpoint/2010/main" val="1352819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D5234C-C421-4D02-A22E-47A11A6DE9FF}" type="datetimeFigureOut">
              <a:rPr lang="en-US" smtClean="0"/>
              <a:t>11/14/2022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6E8647-297E-4870-A781-77B9870B0E04}" type="slidenum">
              <a:rPr lang="en-US" smtClean="0"/>
              <a:t>‹#›</a:t>
            </a:fld>
            <a:endParaRPr lang="en-US"/>
          </a:p>
        </p:txBody>
      </p:sp>
    </p:spTree>
    <p:extLst>
      <p:ext uri="{BB962C8B-B14F-4D97-AF65-F5344CB8AC3E}">
        <p14:creationId xmlns:p14="http://schemas.microsoft.com/office/powerpoint/2010/main" val="36774401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Error correction </a:t>
            </a:r>
            <a:endParaRPr lang="en-US" dirty="0"/>
          </a:p>
        </p:txBody>
      </p:sp>
      <p:sp>
        <p:nvSpPr>
          <p:cNvPr id="3" name="Subtitle 2"/>
          <p:cNvSpPr>
            <a:spLocks noGrp="1"/>
          </p:cNvSpPr>
          <p:nvPr>
            <p:ph type="subTitle" idx="1"/>
          </p:nvPr>
        </p:nvSpPr>
        <p:spPr/>
        <p:txBody>
          <a:bodyPr/>
          <a:lstStyle/>
          <a:p>
            <a:r>
              <a:rPr lang="en-US" dirty="0" smtClean="0"/>
              <a:t>Hamming Code</a:t>
            </a:r>
            <a:endParaRPr lang="en-US" dirty="0"/>
          </a:p>
        </p:txBody>
      </p:sp>
    </p:spTree>
    <p:extLst>
      <p:ext uri="{BB962C8B-B14F-4D97-AF65-F5344CB8AC3E}">
        <p14:creationId xmlns:p14="http://schemas.microsoft.com/office/powerpoint/2010/main" val="39527607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711" y="214999"/>
            <a:ext cx="10515600" cy="1325563"/>
          </a:xfrm>
        </p:spPr>
        <p:txBody>
          <a:bodyPr/>
          <a:lstStyle/>
          <a:p>
            <a:r>
              <a:rPr lang="en-US" b="1" dirty="0" smtClean="0"/>
              <a:t>Hamming code</a:t>
            </a:r>
            <a:endParaRPr lang="en-US" dirty="0"/>
          </a:p>
        </p:txBody>
      </p:sp>
      <p:sp>
        <p:nvSpPr>
          <p:cNvPr id="3" name="Content Placeholder 2"/>
          <p:cNvSpPr>
            <a:spLocks noGrp="1"/>
          </p:cNvSpPr>
          <p:nvPr>
            <p:ph idx="1"/>
          </p:nvPr>
        </p:nvSpPr>
        <p:spPr>
          <a:xfrm>
            <a:off x="838200" y="1825624"/>
            <a:ext cx="10515600" cy="4820835"/>
          </a:xfrm>
        </p:spPr>
        <p:txBody>
          <a:bodyPr>
            <a:normAutofit fontScale="92500" lnSpcReduction="10000"/>
          </a:bodyPr>
          <a:lstStyle/>
          <a:p>
            <a:r>
              <a:rPr lang="en-US" b="1" dirty="0"/>
              <a:t>Hamming code</a:t>
            </a:r>
            <a:r>
              <a:rPr lang="en-US" dirty="0"/>
              <a:t> is a set of error-correction codes that can be used to </a:t>
            </a:r>
            <a:r>
              <a:rPr lang="en-US" b="1" dirty="0"/>
              <a:t>detect and correct the errors</a:t>
            </a:r>
            <a:r>
              <a:rPr lang="en-US" dirty="0"/>
              <a:t> that can occur when the </a:t>
            </a:r>
            <a:r>
              <a:rPr lang="en-US" dirty="0" smtClean="0"/>
              <a:t>data is moved from </a:t>
            </a:r>
            <a:r>
              <a:rPr lang="en-US" dirty="0" err="1"/>
              <a:t>from</a:t>
            </a:r>
            <a:r>
              <a:rPr lang="en-US" dirty="0"/>
              <a:t> sender to </a:t>
            </a:r>
            <a:r>
              <a:rPr lang="en-US" dirty="0" smtClean="0"/>
              <a:t>receiver</a:t>
            </a:r>
          </a:p>
          <a:p>
            <a:r>
              <a:rPr lang="en-US" dirty="0"/>
              <a:t>The </a:t>
            </a:r>
            <a:r>
              <a:rPr lang="en-US" dirty="0">
                <a:solidFill>
                  <a:srgbClr val="FF0000"/>
                </a:solidFill>
              </a:rPr>
              <a:t>redundant bits </a:t>
            </a:r>
            <a:r>
              <a:rPr lang="en-US" dirty="0" smtClean="0"/>
              <a:t>play </a:t>
            </a:r>
            <a:r>
              <a:rPr lang="en-US" dirty="0"/>
              <a:t>an important role in detecting and correcting errors. </a:t>
            </a:r>
            <a:endParaRPr lang="en-US" dirty="0" smtClean="0"/>
          </a:p>
          <a:p>
            <a:r>
              <a:rPr lang="en-US" dirty="0" smtClean="0"/>
              <a:t>In Hamming code the redundant bits used  for error detection  and correction is parity bit</a:t>
            </a:r>
          </a:p>
          <a:p>
            <a:r>
              <a:rPr lang="en-US" b="1" dirty="0" smtClean="0"/>
              <a:t>Redundant </a:t>
            </a:r>
            <a:r>
              <a:rPr lang="en-US" b="1" dirty="0"/>
              <a:t>bits</a:t>
            </a:r>
            <a:r>
              <a:rPr lang="en-US" dirty="0"/>
              <a:t> are the extra binary bits that are added to the original data bits, which are ready to transfer from sender to receiver for ensuring that no bits were lost during the data transfer.</a:t>
            </a:r>
          </a:p>
          <a:p>
            <a:r>
              <a:rPr lang="en-US" dirty="0"/>
              <a:t>Parity bits are the extra bits that are added to the original data(binary bits) so that the total number of 1s is </a:t>
            </a:r>
            <a:r>
              <a:rPr lang="en-US" dirty="0" smtClean="0"/>
              <a:t>even in case of even parity </a:t>
            </a:r>
            <a:r>
              <a:rPr lang="en-US" dirty="0"/>
              <a:t>or </a:t>
            </a:r>
            <a:r>
              <a:rPr lang="en-US" dirty="0" smtClean="0"/>
              <a:t>odd in case of odd parity.</a:t>
            </a:r>
            <a:endParaRPr lang="en-US" dirty="0"/>
          </a:p>
          <a:p>
            <a:endParaRPr lang="en-US" dirty="0" smtClean="0"/>
          </a:p>
          <a:p>
            <a:endParaRPr lang="en-US" dirty="0"/>
          </a:p>
        </p:txBody>
      </p:sp>
    </p:spTree>
    <p:extLst>
      <p:ext uri="{BB962C8B-B14F-4D97-AF65-F5344CB8AC3E}">
        <p14:creationId xmlns:p14="http://schemas.microsoft.com/office/powerpoint/2010/main" val="2662725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Hamming code</a:t>
            </a:r>
            <a:endParaRPr lang="en-US" dirty="0"/>
          </a:p>
        </p:txBody>
      </p:sp>
      <p:sp>
        <p:nvSpPr>
          <p:cNvPr id="3" name="Content Placeholder 2"/>
          <p:cNvSpPr>
            <a:spLocks noGrp="1"/>
          </p:cNvSpPr>
          <p:nvPr>
            <p:ph idx="1"/>
          </p:nvPr>
        </p:nvSpPr>
        <p:spPr/>
        <p:txBody>
          <a:bodyPr/>
          <a:lstStyle/>
          <a:p>
            <a:r>
              <a:rPr lang="en-US" dirty="0" smtClean="0"/>
              <a:t>The number of redundant bits can be calculated using the following formula:</a:t>
            </a:r>
          </a:p>
          <a:p>
            <a:endParaRPr lang="en-US" dirty="0" smtClean="0"/>
          </a:p>
          <a:p>
            <a:r>
              <a:rPr lang="en-US" dirty="0" smtClean="0"/>
              <a:t>     2</a:t>
            </a:r>
            <a:r>
              <a:rPr lang="en-US" sz="4000" baseline="30000" dirty="0" smtClean="0"/>
              <a:t>r</a:t>
            </a:r>
            <a:r>
              <a:rPr lang="en-US" sz="4000" dirty="0" smtClean="0"/>
              <a:t> </a:t>
            </a:r>
            <a:r>
              <a:rPr lang="en-US" dirty="0" smtClean="0"/>
              <a:t>≥ m + r + 1</a:t>
            </a:r>
          </a:p>
          <a:p>
            <a:r>
              <a:rPr lang="en-US" dirty="0" smtClean="0"/>
              <a:t>where, r = redundant bit, m = data bit</a:t>
            </a:r>
          </a:p>
          <a:p>
            <a:r>
              <a:rPr lang="en-US" dirty="0"/>
              <a:t>Suppose the number of data bits is 7, then the number of redundant bits can be calculated using: = 2^4 ≥ 7 + 4 + 1 Thus, the number of redundant bits= 4 </a:t>
            </a:r>
            <a:r>
              <a:rPr lang="en-US" b="1" dirty="0"/>
              <a:t>Parity bits.</a:t>
            </a:r>
            <a:endParaRPr lang="en-US" dirty="0"/>
          </a:p>
        </p:txBody>
      </p:sp>
    </p:spTree>
    <p:extLst>
      <p:ext uri="{BB962C8B-B14F-4D97-AF65-F5344CB8AC3E}">
        <p14:creationId xmlns:p14="http://schemas.microsoft.com/office/powerpoint/2010/main" val="27066785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a:t>
            </a:r>
            <a:endParaRPr lang="en-US" dirty="0"/>
          </a:p>
        </p:txBody>
      </p:sp>
      <p:sp>
        <p:nvSpPr>
          <p:cNvPr id="3" name="Content Placeholder 2"/>
          <p:cNvSpPr>
            <a:spLocks noGrp="1"/>
          </p:cNvSpPr>
          <p:nvPr>
            <p:ph idx="1"/>
          </p:nvPr>
        </p:nvSpPr>
        <p:spPr/>
        <p:txBody>
          <a:bodyPr/>
          <a:lstStyle/>
          <a:p>
            <a:r>
              <a:rPr lang="en-US" dirty="0" smtClean="0"/>
              <a:t>What  should be the number of  redundant bits if the data bits is 4?</a:t>
            </a:r>
          </a:p>
          <a:p>
            <a:r>
              <a:rPr lang="en-US" dirty="0"/>
              <a:t>if data bits are 4 then the number of redundant bits can be calculated as 2^3 &gt;= 4+3+123&gt;=4+3+1 where 3 is the required number of redundant data bits so that no data is lost during the transmission</a:t>
            </a:r>
          </a:p>
        </p:txBody>
      </p:sp>
    </p:spTree>
    <p:extLst>
      <p:ext uri="{BB962C8B-B14F-4D97-AF65-F5344CB8AC3E}">
        <p14:creationId xmlns:p14="http://schemas.microsoft.com/office/powerpoint/2010/main" val="6818758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1478"/>
            <a:ext cx="10515600" cy="1325563"/>
          </a:xfrm>
        </p:spPr>
        <p:txBody>
          <a:bodyPr>
            <a:normAutofit fontScale="90000"/>
          </a:bodyPr>
          <a:lstStyle/>
          <a:p>
            <a:r>
              <a:rPr lang="en-US" b="1" dirty="0" smtClean="0"/>
              <a:t>Determining position of parity bits</a:t>
            </a:r>
            <a:r>
              <a:rPr lang="en-US" dirty="0" smtClean="0"/>
              <a:t>:</a:t>
            </a:r>
            <a:br>
              <a:rPr lang="en-US" dirty="0" smtClean="0"/>
            </a:br>
            <a:r>
              <a:rPr lang="en-US" b="1" dirty="0" smtClean="0"/>
              <a:t/>
            </a:r>
            <a:br>
              <a:rPr lang="en-US" b="1" dirty="0" smtClean="0"/>
            </a:br>
            <a:endParaRPr lang="en-US" dirty="0"/>
          </a:p>
        </p:txBody>
      </p:sp>
      <p:sp>
        <p:nvSpPr>
          <p:cNvPr id="3" name="Content Placeholder 2"/>
          <p:cNvSpPr>
            <a:spLocks noGrp="1"/>
          </p:cNvSpPr>
          <p:nvPr>
            <p:ph idx="1"/>
          </p:nvPr>
        </p:nvSpPr>
        <p:spPr/>
        <p:txBody>
          <a:bodyPr/>
          <a:lstStyle/>
          <a:p>
            <a:r>
              <a:rPr lang="en-US" dirty="0"/>
              <a:t> </a:t>
            </a:r>
            <a:r>
              <a:rPr lang="en-US" dirty="0" smtClean="0">
                <a:solidFill>
                  <a:srgbClr val="FF0000"/>
                </a:solidFill>
              </a:rPr>
              <a:t>Parity </a:t>
            </a:r>
            <a:r>
              <a:rPr lang="en-US" dirty="0">
                <a:solidFill>
                  <a:srgbClr val="FF0000"/>
                </a:solidFill>
              </a:rPr>
              <a:t>bits are placed at the bit position which is the power of 2</a:t>
            </a:r>
            <a:r>
              <a:rPr lang="en-US" dirty="0"/>
              <a:t> </a:t>
            </a:r>
            <a:r>
              <a:rPr lang="en-US" dirty="0" err="1"/>
              <a:t>i.e</a:t>
            </a:r>
            <a:r>
              <a:rPr lang="en-US" dirty="0"/>
              <a:t>, (2^0 , 2^1, 2^2, 2^3, 2^420,21,22,23,24,.... so on) which are (1,2,4,8,... so on ). </a:t>
            </a:r>
            <a:endParaRPr lang="en-US" dirty="0" smtClean="0"/>
          </a:p>
          <a:p>
            <a:r>
              <a:rPr lang="en-US" dirty="0" smtClean="0"/>
              <a:t>So </a:t>
            </a:r>
            <a:r>
              <a:rPr lang="en-US" dirty="0"/>
              <a:t>for example, in the 7-bit data transfer we will be having 4 parity bits which are (1,2,4,8</a:t>
            </a:r>
            <a:r>
              <a:rPr lang="en-US" dirty="0" smtClean="0"/>
              <a:t>).</a:t>
            </a:r>
          </a:p>
          <a:p>
            <a:endParaRPr lang="en-US" dirty="0"/>
          </a:p>
          <a:p>
            <a:r>
              <a:rPr lang="en-US" dirty="0" smtClean="0"/>
              <a:t>Similarly  in the 4-bit data transfer we will be having 3 parity bits which are (1,2,4).</a:t>
            </a:r>
          </a:p>
          <a:p>
            <a:endParaRPr lang="en-US" dirty="0"/>
          </a:p>
          <a:p>
            <a:endParaRPr lang="en-US" dirty="0"/>
          </a:p>
        </p:txBody>
      </p:sp>
    </p:spTree>
    <p:extLst>
      <p:ext uri="{BB962C8B-B14F-4D97-AF65-F5344CB8AC3E}">
        <p14:creationId xmlns:p14="http://schemas.microsoft.com/office/powerpoint/2010/main" val="42461667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Determining </a:t>
            </a:r>
            <a:r>
              <a:rPr lang="en-US" b="1" dirty="0"/>
              <a:t>position of parity </a:t>
            </a:r>
            <a:r>
              <a:rPr lang="en-US" b="1" dirty="0" smtClean="0"/>
              <a:t>bits and data bit </a:t>
            </a:r>
            <a:r>
              <a:rPr lang="en-US" dirty="0" smtClean="0"/>
              <a:t>:</a:t>
            </a:r>
            <a:r>
              <a:rPr lang="en-US" dirty="0"/>
              <a:t/>
            </a:r>
            <a:br>
              <a:rPr lang="en-US" dirty="0"/>
            </a:br>
            <a:r>
              <a:rPr lang="en-US" b="1" dirty="0"/>
              <a:t/>
            </a:r>
            <a:br>
              <a:rPr lang="en-US" b="1" dirty="0"/>
            </a:br>
            <a:endParaRPr lang="en-US" dirty="0"/>
          </a:p>
        </p:txBody>
      </p:sp>
      <p:sp>
        <p:nvSpPr>
          <p:cNvPr id="3" name="Content Placeholder 2"/>
          <p:cNvSpPr>
            <a:spLocks noGrp="1"/>
          </p:cNvSpPr>
          <p:nvPr>
            <p:ph idx="1"/>
          </p:nvPr>
        </p:nvSpPr>
        <p:spPr>
          <a:xfrm>
            <a:off x="838200" y="1825624"/>
            <a:ext cx="10515600" cy="4793539"/>
          </a:xfrm>
        </p:spPr>
        <p:txBody>
          <a:bodyPr/>
          <a:lstStyle/>
          <a:p>
            <a:r>
              <a:rPr lang="en-US" dirty="0"/>
              <a:t>T</a:t>
            </a:r>
            <a:r>
              <a:rPr lang="en-US" dirty="0" smtClean="0"/>
              <a:t>he </a:t>
            </a:r>
            <a:r>
              <a:rPr lang="en-US" dirty="0"/>
              <a:t>first step is to identify the bit position of the </a:t>
            </a:r>
            <a:r>
              <a:rPr lang="en-US" dirty="0" smtClean="0"/>
              <a:t>data and parity bits.</a:t>
            </a:r>
          </a:p>
          <a:p>
            <a:r>
              <a:rPr lang="en-US" dirty="0"/>
              <a:t>A</a:t>
            </a:r>
            <a:r>
              <a:rPr lang="en-US" dirty="0" smtClean="0"/>
              <a:t>ll </a:t>
            </a:r>
            <a:r>
              <a:rPr lang="en-US" dirty="0"/>
              <a:t>the bit positions which are powers of 2 are marked as parity bits (e.g. 1, 2, 4, 8, etc.). </a:t>
            </a:r>
            <a:r>
              <a:rPr lang="en-US" dirty="0" smtClean="0"/>
              <a:t> </a:t>
            </a:r>
          </a:p>
          <a:p>
            <a:r>
              <a:rPr lang="en-US" dirty="0" smtClean="0"/>
              <a:t>Remaining bit positions are  for data its</a:t>
            </a:r>
          </a:p>
          <a:p>
            <a:r>
              <a:rPr lang="en-US" dirty="0" smtClean="0"/>
              <a:t>The </a:t>
            </a:r>
            <a:r>
              <a:rPr lang="en-US" dirty="0"/>
              <a:t>following image will help in visualizing the received hamming code of 7 bits</a:t>
            </a:r>
            <a:r>
              <a:rPr lang="en-US" dirty="0" smtClean="0"/>
              <a:t>.</a:t>
            </a:r>
          </a:p>
          <a:p>
            <a:endParaRPr lang="en-US" dirty="0"/>
          </a:p>
        </p:txBody>
      </p:sp>
      <p:pic>
        <p:nvPicPr>
          <p:cNvPr id="4" name="Picture 3"/>
          <p:cNvPicPr>
            <a:picLocks noChangeAspect="1"/>
          </p:cNvPicPr>
          <p:nvPr/>
        </p:nvPicPr>
        <p:blipFill>
          <a:blip r:embed="rId2"/>
          <a:stretch>
            <a:fillRect/>
          </a:stretch>
        </p:blipFill>
        <p:spPr>
          <a:xfrm>
            <a:off x="1757922" y="4885551"/>
            <a:ext cx="7896225" cy="1733611"/>
          </a:xfrm>
          <a:prstGeom prst="rect">
            <a:avLst/>
          </a:prstGeom>
        </p:spPr>
      </p:pic>
    </p:spTree>
    <p:extLst>
      <p:ext uri="{BB962C8B-B14F-4D97-AF65-F5344CB8AC3E}">
        <p14:creationId xmlns:p14="http://schemas.microsoft.com/office/powerpoint/2010/main" val="33086576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Determine the parity</a:t>
            </a:r>
            <a:endParaRPr lang="en-US" dirty="0"/>
          </a:p>
        </p:txBody>
      </p:sp>
      <p:sp>
        <p:nvSpPr>
          <p:cNvPr id="3" name="Content Placeholder 2"/>
          <p:cNvSpPr>
            <a:spLocks noGrp="1"/>
          </p:cNvSpPr>
          <p:nvPr>
            <p:ph idx="1"/>
          </p:nvPr>
        </p:nvSpPr>
        <p:spPr/>
        <p:txBody>
          <a:bodyPr/>
          <a:lstStyle/>
          <a:p>
            <a:r>
              <a:rPr lang="en-US" dirty="0" smtClean="0"/>
              <a:t>Parity  </a:t>
            </a:r>
            <a:r>
              <a:rPr lang="en-US" dirty="0" smtClean="0">
                <a:solidFill>
                  <a:srgbClr val="FF0000"/>
                </a:solidFill>
              </a:rPr>
              <a:t>P1 depends on the data bit  D3,D5,D7,D9</a:t>
            </a:r>
            <a:r>
              <a:rPr lang="en-US" dirty="0" smtClean="0"/>
              <a:t>….(Check one ,skip one)</a:t>
            </a:r>
          </a:p>
          <a:p>
            <a:endParaRPr lang="en-US" dirty="0"/>
          </a:p>
          <a:p>
            <a:r>
              <a:rPr lang="en-US" dirty="0" smtClean="0"/>
              <a:t>Parity </a:t>
            </a:r>
            <a:r>
              <a:rPr lang="en-US" dirty="0" smtClean="0">
                <a:solidFill>
                  <a:srgbClr val="FF0000"/>
                </a:solidFill>
              </a:rPr>
              <a:t>P2 depends on the data bit D3,D6,D7,D10,D11</a:t>
            </a:r>
            <a:r>
              <a:rPr lang="en-US" dirty="0" smtClean="0"/>
              <a:t>..</a:t>
            </a:r>
            <a:r>
              <a:rPr lang="en-US" dirty="0"/>
              <a:t> </a:t>
            </a:r>
            <a:r>
              <a:rPr lang="en-US" dirty="0" smtClean="0"/>
              <a:t>(Check two </a:t>
            </a:r>
            <a:r>
              <a:rPr lang="en-US" dirty="0"/>
              <a:t>,skip </a:t>
            </a:r>
            <a:r>
              <a:rPr lang="en-US" dirty="0" smtClean="0"/>
              <a:t>two)</a:t>
            </a:r>
          </a:p>
          <a:p>
            <a:endParaRPr lang="en-US" dirty="0"/>
          </a:p>
          <a:p>
            <a:r>
              <a:rPr lang="en-US" dirty="0"/>
              <a:t>Parity </a:t>
            </a:r>
            <a:r>
              <a:rPr lang="en-US" dirty="0" smtClean="0">
                <a:solidFill>
                  <a:srgbClr val="FF0000"/>
                </a:solidFill>
              </a:rPr>
              <a:t>P4 </a:t>
            </a:r>
            <a:r>
              <a:rPr lang="en-US" dirty="0">
                <a:solidFill>
                  <a:srgbClr val="FF0000"/>
                </a:solidFill>
              </a:rPr>
              <a:t>depends on the data </a:t>
            </a:r>
            <a:r>
              <a:rPr lang="en-US" dirty="0" smtClean="0">
                <a:solidFill>
                  <a:srgbClr val="FF0000"/>
                </a:solidFill>
              </a:rPr>
              <a:t>bit  D5,D6,D7,D12,D13,D14,D15</a:t>
            </a:r>
            <a:r>
              <a:rPr lang="en-US" dirty="0" smtClean="0"/>
              <a:t>(</a:t>
            </a:r>
            <a:r>
              <a:rPr lang="en-US" dirty="0"/>
              <a:t>Check </a:t>
            </a:r>
            <a:r>
              <a:rPr lang="en-US" dirty="0" smtClean="0"/>
              <a:t>four  </a:t>
            </a:r>
            <a:r>
              <a:rPr lang="en-US" dirty="0"/>
              <a:t>,skip </a:t>
            </a:r>
            <a:r>
              <a:rPr lang="en-US" dirty="0" smtClean="0"/>
              <a:t>four)</a:t>
            </a:r>
          </a:p>
          <a:p>
            <a:endParaRPr lang="en-US" dirty="0" smtClean="0"/>
          </a:p>
          <a:p>
            <a:endParaRPr lang="en-US" dirty="0"/>
          </a:p>
        </p:txBody>
      </p:sp>
    </p:spTree>
    <p:extLst>
      <p:ext uri="{BB962C8B-B14F-4D97-AF65-F5344CB8AC3E}">
        <p14:creationId xmlns:p14="http://schemas.microsoft.com/office/powerpoint/2010/main" val="2190227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a:t>
            </a:r>
            <a:endParaRPr lang="en-US" dirty="0"/>
          </a:p>
        </p:txBody>
      </p:sp>
      <p:sp>
        <p:nvSpPr>
          <p:cNvPr id="3" name="Content Placeholder 2"/>
          <p:cNvSpPr>
            <a:spLocks noGrp="1"/>
          </p:cNvSpPr>
          <p:nvPr>
            <p:ph idx="1"/>
          </p:nvPr>
        </p:nvSpPr>
        <p:spPr/>
        <p:txBody>
          <a:bodyPr/>
          <a:lstStyle/>
          <a:p>
            <a:r>
              <a:rPr lang="en-US" dirty="0" smtClean="0"/>
              <a:t>Suppose  the data to be transmitted is 1011 using Hamming code using even parity.</a:t>
            </a:r>
          </a:p>
          <a:p>
            <a:r>
              <a:rPr lang="en-US" dirty="0" smtClean="0"/>
              <a:t>Since the data bits is 4 bits  ,the number of redundant bits is 3.</a:t>
            </a:r>
          </a:p>
          <a:p>
            <a:endParaRPr lang="en-US" dirty="0"/>
          </a:p>
          <a:p>
            <a:endParaRPr lang="en-US" dirty="0"/>
          </a:p>
        </p:txBody>
      </p:sp>
    </p:spTree>
    <p:extLst>
      <p:ext uri="{BB962C8B-B14F-4D97-AF65-F5344CB8AC3E}">
        <p14:creationId xmlns:p14="http://schemas.microsoft.com/office/powerpoint/2010/main" val="4281402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General Algorithm of Hamming code:</a:t>
            </a:r>
            <a:endParaRPr lang="en-US" dirty="0"/>
          </a:p>
        </p:txBody>
      </p:sp>
      <p:sp>
        <p:nvSpPr>
          <p:cNvPr id="3" name="Content Placeholder 2"/>
          <p:cNvSpPr>
            <a:spLocks noGrp="1"/>
          </p:cNvSpPr>
          <p:nvPr>
            <p:ph idx="1"/>
          </p:nvPr>
        </p:nvSpPr>
        <p:spPr/>
        <p:txBody>
          <a:bodyPr>
            <a:normAutofit/>
          </a:bodyPr>
          <a:lstStyle/>
          <a:p>
            <a:pPr fontAlgn="base"/>
            <a:r>
              <a:rPr lang="en-US" dirty="0"/>
              <a:t> Hamming Code is simply the use of extra parity bits to allow the identification of an error.</a:t>
            </a:r>
          </a:p>
          <a:p>
            <a:pPr marL="514350" indent="-514350" fontAlgn="base">
              <a:buFont typeface="+mj-lt"/>
              <a:buAutoNum type="arabicPeriod"/>
            </a:pPr>
            <a:r>
              <a:rPr lang="en-US" dirty="0"/>
              <a:t>Write the bit positions starting from 1 in binary form (1, 10, 11, 100, </a:t>
            </a:r>
            <a:r>
              <a:rPr lang="en-US" dirty="0" err="1"/>
              <a:t>etc</a:t>
            </a:r>
            <a:r>
              <a:rPr lang="en-US" dirty="0"/>
              <a:t>).</a:t>
            </a:r>
          </a:p>
          <a:p>
            <a:pPr marL="514350" indent="-514350" fontAlgn="base">
              <a:buFont typeface="+mj-lt"/>
              <a:buAutoNum type="arabicPeriod"/>
            </a:pPr>
            <a:r>
              <a:rPr lang="en-US" dirty="0"/>
              <a:t>All the bit positions that are a power of 2 are marked as parity bits (1, 2, 4, 8, </a:t>
            </a:r>
            <a:r>
              <a:rPr lang="en-US" dirty="0" err="1"/>
              <a:t>etc</a:t>
            </a:r>
            <a:r>
              <a:rPr lang="en-US" dirty="0"/>
              <a:t>).</a:t>
            </a:r>
          </a:p>
          <a:p>
            <a:pPr marL="514350" indent="-514350" fontAlgn="base">
              <a:buFont typeface="+mj-lt"/>
              <a:buAutoNum type="arabicPeriod"/>
            </a:pPr>
            <a:r>
              <a:rPr lang="en-US" dirty="0"/>
              <a:t>All the other bit positions are marked as data bits.</a:t>
            </a:r>
          </a:p>
          <a:p>
            <a:endParaRPr lang="en-US" dirty="0"/>
          </a:p>
        </p:txBody>
      </p:sp>
    </p:spTree>
    <p:extLst>
      <p:ext uri="{BB962C8B-B14F-4D97-AF65-F5344CB8AC3E}">
        <p14:creationId xmlns:p14="http://schemas.microsoft.com/office/powerpoint/2010/main" val="11076930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General Algorithm of Hamming code:</a:t>
            </a:r>
            <a:endParaRPr lang="en-US" dirty="0"/>
          </a:p>
        </p:txBody>
      </p:sp>
      <p:sp>
        <p:nvSpPr>
          <p:cNvPr id="3" name="Content Placeholder 2"/>
          <p:cNvSpPr>
            <a:spLocks noGrp="1"/>
          </p:cNvSpPr>
          <p:nvPr>
            <p:ph idx="1"/>
          </p:nvPr>
        </p:nvSpPr>
        <p:spPr>
          <a:xfrm>
            <a:off x="838200" y="1378424"/>
            <a:ext cx="10515600" cy="5076967"/>
          </a:xfrm>
        </p:spPr>
        <p:txBody>
          <a:bodyPr>
            <a:normAutofit fontScale="77500" lnSpcReduction="20000"/>
          </a:bodyPr>
          <a:lstStyle/>
          <a:p>
            <a:pPr fontAlgn="base"/>
            <a:r>
              <a:rPr lang="en-US" dirty="0"/>
              <a:t> </a:t>
            </a:r>
            <a:r>
              <a:rPr lang="en-US" dirty="0" smtClean="0"/>
              <a:t>Each </a:t>
            </a:r>
            <a:r>
              <a:rPr lang="en-US" dirty="0"/>
              <a:t>data bit is included in a unique set of parity bits, as determined its bit position in binary form. </a:t>
            </a:r>
            <a:endParaRPr lang="en-US" dirty="0" smtClean="0"/>
          </a:p>
          <a:p>
            <a:pPr fontAlgn="base"/>
            <a:r>
              <a:rPr lang="en-US" b="1" dirty="0" smtClean="0"/>
              <a:t>a</a:t>
            </a:r>
            <a:r>
              <a:rPr lang="en-US" b="1" dirty="0"/>
              <a:t>.</a:t>
            </a:r>
            <a:r>
              <a:rPr lang="en-US" dirty="0"/>
              <a:t> Parity bit 1 covers all the bits positions whose binary representation includes a 1 in the least significant position (1, 3, 5, 7, 9, 11, </a:t>
            </a:r>
            <a:r>
              <a:rPr lang="en-US" dirty="0" err="1"/>
              <a:t>etc</a:t>
            </a:r>
            <a:r>
              <a:rPr lang="en-US" dirty="0"/>
              <a:t>). </a:t>
            </a:r>
            <a:endParaRPr lang="en-US" dirty="0" smtClean="0"/>
          </a:p>
          <a:p>
            <a:pPr fontAlgn="base"/>
            <a:r>
              <a:rPr lang="en-US" b="1" dirty="0" smtClean="0"/>
              <a:t>b</a:t>
            </a:r>
            <a:r>
              <a:rPr lang="en-US" b="1" dirty="0"/>
              <a:t>.</a:t>
            </a:r>
            <a:r>
              <a:rPr lang="en-US" dirty="0"/>
              <a:t> Parity bit 2 covers all the bits positions whose binary representation includes a 1 in the second position from the least significant bit (2, 3, 6, 7, 10, 11, </a:t>
            </a:r>
            <a:r>
              <a:rPr lang="en-US" dirty="0" err="1"/>
              <a:t>etc</a:t>
            </a:r>
            <a:r>
              <a:rPr lang="en-US" dirty="0" smtClean="0"/>
              <a:t>).</a:t>
            </a:r>
          </a:p>
          <a:p>
            <a:pPr fontAlgn="base"/>
            <a:r>
              <a:rPr lang="en-US" dirty="0"/>
              <a:t> </a:t>
            </a:r>
            <a:r>
              <a:rPr lang="en-US" b="1" dirty="0"/>
              <a:t>c.</a:t>
            </a:r>
            <a:r>
              <a:rPr lang="en-US" dirty="0"/>
              <a:t> Parity bit 4 covers all the bits positions whose binary representation includes a 1 in the third position from the least significant bit (4–7, 12–15, 20–23, </a:t>
            </a:r>
            <a:r>
              <a:rPr lang="en-US" dirty="0" err="1"/>
              <a:t>etc</a:t>
            </a:r>
            <a:r>
              <a:rPr lang="en-US" dirty="0"/>
              <a:t>). </a:t>
            </a:r>
            <a:endParaRPr lang="en-US" dirty="0" smtClean="0"/>
          </a:p>
          <a:p>
            <a:pPr fontAlgn="base"/>
            <a:r>
              <a:rPr lang="en-US" b="1" dirty="0" smtClean="0"/>
              <a:t>d</a:t>
            </a:r>
            <a:r>
              <a:rPr lang="en-US" b="1" dirty="0"/>
              <a:t>.</a:t>
            </a:r>
            <a:r>
              <a:rPr lang="en-US" dirty="0"/>
              <a:t> Parity bit 8 covers all the bits positions whose binary representation includes a 1 in the fourth position from the least significant bit bits (8–15, 24–31, 40–47, </a:t>
            </a:r>
            <a:r>
              <a:rPr lang="en-US" dirty="0" err="1"/>
              <a:t>etc</a:t>
            </a:r>
            <a:r>
              <a:rPr lang="en-US" dirty="0" smtClean="0"/>
              <a:t>).</a:t>
            </a:r>
          </a:p>
          <a:p>
            <a:pPr fontAlgn="base"/>
            <a:r>
              <a:rPr lang="en-US" dirty="0"/>
              <a:t> </a:t>
            </a:r>
            <a:r>
              <a:rPr lang="en-US" b="1" dirty="0"/>
              <a:t>e.</a:t>
            </a:r>
            <a:r>
              <a:rPr lang="en-US" dirty="0"/>
              <a:t> In general, each parity bit covers all bits where the bitwise AND of the parity position and the bit position is non-zero.</a:t>
            </a:r>
          </a:p>
          <a:p>
            <a:pPr marL="514350" indent="-514350" fontAlgn="base">
              <a:buFont typeface="+mj-lt"/>
              <a:buAutoNum type="arabicPeriod"/>
            </a:pPr>
            <a:r>
              <a:rPr lang="en-US" dirty="0"/>
              <a:t>Since we check for even parity set a parity bit to 1 if the total number of ones in the positions it checks is odd.</a:t>
            </a:r>
          </a:p>
          <a:p>
            <a:pPr marL="514350" indent="-514350" fontAlgn="base">
              <a:buFont typeface="+mj-lt"/>
              <a:buAutoNum type="arabicPeriod"/>
            </a:pPr>
            <a:r>
              <a:rPr lang="en-US" dirty="0"/>
              <a:t>Set a parity bit to 0 if the total number of ones in the positions it checks is even.</a:t>
            </a:r>
          </a:p>
          <a:p>
            <a:endParaRPr lang="en-US" dirty="0"/>
          </a:p>
        </p:txBody>
      </p:sp>
    </p:spTree>
    <p:extLst>
      <p:ext uri="{BB962C8B-B14F-4D97-AF65-F5344CB8AC3E}">
        <p14:creationId xmlns:p14="http://schemas.microsoft.com/office/powerpoint/2010/main" val="31543288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4648200" y="2082006"/>
            <a:ext cx="2895600" cy="3838575"/>
          </a:xfrm>
          <a:prstGeom prst="rect">
            <a:avLst/>
          </a:prstGeom>
        </p:spPr>
      </p:pic>
    </p:spTree>
    <p:extLst>
      <p:ext uri="{BB962C8B-B14F-4D97-AF65-F5344CB8AC3E}">
        <p14:creationId xmlns:p14="http://schemas.microsoft.com/office/powerpoint/2010/main" val="12312605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a:t>
            </a:r>
            <a:endParaRPr lang="en-US" dirty="0"/>
          </a:p>
        </p:txBody>
      </p:sp>
      <p:sp>
        <p:nvSpPr>
          <p:cNvPr id="3" name="Content Placeholder 2"/>
          <p:cNvSpPr>
            <a:spLocks noGrp="1"/>
          </p:cNvSpPr>
          <p:nvPr>
            <p:ph idx="1"/>
          </p:nvPr>
        </p:nvSpPr>
        <p:spPr/>
        <p:txBody>
          <a:bodyPr/>
          <a:lstStyle/>
          <a:p>
            <a:r>
              <a:rPr lang="en-US" dirty="0" smtClean="0"/>
              <a:t>If the 7 bit hamming code received by the receiver 1011011.state whether the received code word is correct or wrong .If wrong locate the bit having error.(Assume even parity is used)</a:t>
            </a:r>
            <a:endParaRPr lang="en-US" dirty="0"/>
          </a:p>
        </p:txBody>
      </p:sp>
    </p:spTree>
    <p:extLst>
      <p:ext uri="{BB962C8B-B14F-4D97-AF65-F5344CB8AC3E}">
        <p14:creationId xmlns:p14="http://schemas.microsoft.com/office/powerpoint/2010/main" val="2999081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a:t>
            </a:r>
            <a:endParaRPr lang="en-US" dirty="0"/>
          </a:p>
        </p:txBody>
      </p:sp>
      <p:sp>
        <p:nvSpPr>
          <p:cNvPr id="3" name="Content Placeholder 2"/>
          <p:cNvSpPr>
            <a:spLocks noGrp="1"/>
          </p:cNvSpPr>
          <p:nvPr>
            <p:ph idx="1"/>
          </p:nvPr>
        </p:nvSpPr>
        <p:spPr/>
        <p:txBody>
          <a:bodyPr/>
          <a:lstStyle/>
          <a:p>
            <a:r>
              <a:rPr lang="en-US" dirty="0" smtClean="0"/>
              <a:t>Suppose the data to be transmitted is  1011001 using hamming code.</a:t>
            </a:r>
          </a:p>
          <a:p>
            <a:pPr marL="0" indent="0">
              <a:buNone/>
            </a:pPr>
            <a:r>
              <a:rPr lang="en-US" dirty="0" smtClean="0"/>
              <a:t>How the data is transmitted.</a:t>
            </a:r>
          </a:p>
          <a:p>
            <a:pPr marL="0" indent="0">
              <a:buNone/>
            </a:pPr>
            <a:endParaRPr lang="en-US" dirty="0"/>
          </a:p>
        </p:txBody>
      </p:sp>
    </p:spTree>
    <p:extLst>
      <p:ext uri="{BB962C8B-B14F-4D97-AF65-F5344CB8AC3E}">
        <p14:creationId xmlns:p14="http://schemas.microsoft.com/office/powerpoint/2010/main" val="2219265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a:t>
            </a:r>
            <a:endParaRPr lang="en-US" dirty="0"/>
          </a:p>
        </p:txBody>
      </p:sp>
      <p:sp>
        <p:nvSpPr>
          <p:cNvPr id="3" name="Content Placeholder 2"/>
          <p:cNvSpPr>
            <a:spLocks noGrp="1"/>
          </p:cNvSpPr>
          <p:nvPr>
            <p:ph idx="1"/>
          </p:nvPr>
        </p:nvSpPr>
        <p:spPr/>
        <p:txBody>
          <a:bodyPr/>
          <a:lstStyle/>
          <a:p>
            <a:r>
              <a:rPr lang="en-US" dirty="0" smtClean="0"/>
              <a:t>The data received </a:t>
            </a:r>
            <a:r>
              <a:rPr lang="en-US" dirty="0"/>
              <a:t>by the </a:t>
            </a:r>
            <a:r>
              <a:rPr lang="en-US" dirty="0" smtClean="0"/>
              <a:t>receiver is 10101101110.state </a:t>
            </a:r>
            <a:r>
              <a:rPr lang="en-US" dirty="0"/>
              <a:t>whether the received code word is correct or wrong .If wrong locate the bit having error.(Assume even parity is used)</a:t>
            </a: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792106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 </a:t>
            </a:r>
            <a:endParaRPr lang="en-US" dirty="0"/>
          </a:p>
        </p:txBody>
      </p:sp>
      <p:sp>
        <p:nvSpPr>
          <p:cNvPr id="3" name="Content Placeholder 2"/>
          <p:cNvSpPr>
            <a:spLocks noGrp="1"/>
          </p:cNvSpPr>
          <p:nvPr>
            <p:ph idx="1"/>
          </p:nvPr>
        </p:nvSpPr>
        <p:spPr/>
        <p:txBody>
          <a:bodyPr/>
          <a:lstStyle/>
          <a:p>
            <a:r>
              <a:rPr lang="en-US" dirty="0" smtClean="0"/>
              <a:t>The data received </a:t>
            </a:r>
            <a:r>
              <a:rPr lang="en-US" dirty="0"/>
              <a:t>by the </a:t>
            </a:r>
            <a:r>
              <a:rPr lang="en-US" dirty="0" smtClean="0"/>
              <a:t>receiver is 10101101110.state </a:t>
            </a:r>
            <a:r>
              <a:rPr lang="en-US" dirty="0"/>
              <a:t>whether the received code word is correct or wrong .If wrong locate the bit having error.(Assume even parity is used</a:t>
            </a:r>
            <a:r>
              <a:rPr lang="en-US" dirty="0" smtClean="0"/>
              <a:t>)</a:t>
            </a:r>
          </a:p>
          <a:p>
            <a:r>
              <a:rPr lang="en-US" dirty="0" smtClean="0"/>
              <a:t>Solution at</a:t>
            </a:r>
            <a:endParaRPr lang="en-US" dirty="0"/>
          </a:p>
          <a:p>
            <a:pPr marL="0" indent="0">
              <a:buNone/>
            </a:pPr>
            <a:r>
              <a:rPr lang="en-US" dirty="0"/>
              <a:t>https://www.geeksforgeeks.org/hamming-code-in-computer-network/</a:t>
            </a:r>
            <a:endParaRPr lang="en-US" dirty="0" smtClean="0"/>
          </a:p>
          <a:p>
            <a:pPr marL="0" indent="0">
              <a:buNone/>
            </a:pPr>
            <a:endParaRPr lang="en-US" dirty="0"/>
          </a:p>
        </p:txBody>
      </p:sp>
    </p:spTree>
    <p:extLst>
      <p:ext uri="{BB962C8B-B14F-4D97-AF65-F5344CB8AC3E}">
        <p14:creationId xmlns:p14="http://schemas.microsoft.com/office/powerpoint/2010/main" val="11063334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TotalTime>
  <Words>399</Words>
  <Application>Microsoft Office PowerPoint</Application>
  <PresentationFormat>Widescreen</PresentationFormat>
  <Paragraphs>61</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Error correction </vt:lpstr>
      <vt:lpstr>Hamming code</vt:lpstr>
      <vt:lpstr>Hamming code</vt:lpstr>
      <vt:lpstr>Question </vt:lpstr>
      <vt:lpstr>Determining position of parity bits:  </vt:lpstr>
      <vt:lpstr> Determining position of parity bits and data bit :  </vt:lpstr>
      <vt:lpstr>Determine the parity</vt:lpstr>
      <vt:lpstr>Question </vt:lpstr>
      <vt:lpstr>General Algorithm of Hamming code:</vt:lpstr>
      <vt:lpstr>General Algorithm of Hamming code:</vt:lpstr>
      <vt:lpstr>PowerPoint Presentation</vt:lpstr>
      <vt:lpstr>Question</vt:lpstr>
      <vt:lpstr>Question </vt:lpstr>
      <vt:lpstr>Question </vt:lpstr>
      <vt:lpstr>Question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Error correction </dc:title>
  <dc:creator>DIVYA</dc:creator>
  <cp:lastModifiedBy>csstaff</cp:lastModifiedBy>
  <cp:revision>18</cp:revision>
  <dcterms:created xsi:type="dcterms:W3CDTF">2022-11-05T15:44:20Z</dcterms:created>
  <dcterms:modified xsi:type="dcterms:W3CDTF">2022-11-14T16:34:51Z</dcterms:modified>
</cp:coreProperties>
</file>