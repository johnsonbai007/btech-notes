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0UFnTwhpuiG93SOAcyO75y8Z2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00" name="Google Shape;10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3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3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2"/>
          <p:cNvSpPr/>
          <p:nvPr>
            <p:ph idx="2" type="pic"/>
          </p:nvPr>
        </p:nvSpPr>
        <p:spPr>
          <a:xfrm>
            <a:off x="5183188" y="987425"/>
            <a:ext cx="6172200" cy="4873625"/>
          </a:xfrm>
          <a:prstGeom prst="rect">
            <a:avLst/>
          </a:prstGeom>
          <a:noFill/>
          <a:ln>
            <a:noFill/>
          </a:ln>
        </p:spPr>
      </p:sp>
      <p:sp>
        <p:nvSpPr>
          <p:cNvPr id="68" name="Google Shape;68;p4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Sliding Window Protocols</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a:t>Prepared by</a:t>
            </a:r>
            <a:endParaRPr/>
          </a:p>
          <a:p>
            <a:pPr indent="0" lvl="0" marL="0" rtl="0" algn="l">
              <a:spcBef>
                <a:spcPts val="0"/>
              </a:spcBef>
              <a:spcAft>
                <a:spcPts val="0"/>
              </a:spcAft>
              <a:buClr>
                <a:schemeClr val="dk1"/>
              </a:buClr>
              <a:buSzPts val="2400"/>
              <a:buNone/>
            </a:pPr>
            <a:r>
              <a:rPr lang="en-US"/>
              <a:t>Divya K S</a:t>
            </a:r>
            <a:endParaRPr/>
          </a:p>
          <a:p>
            <a:pPr indent="0" lvl="0" marL="0" rtl="0" algn="l">
              <a:spcBef>
                <a:spcPts val="0"/>
              </a:spcBef>
              <a:spcAft>
                <a:spcPts val="0"/>
              </a:spcAft>
              <a:buClr>
                <a:schemeClr val="dk1"/>
              </a:buClr>
              <a:buSzPts val="2400"/>
              <a:buNone/>
            </a:pPr>
            <a:r>
              <a:rPr lang="en-US"/>
              <a:t>Adi Shankara Institute of Engineering &amp; Technology </a:t>
            </a:r>
            <a:endParaRPr/>
          </a:p>
          <a:p>
            <a:pPr indent="0" lvl="0" marL="0" rtl="0" algn="l">
              <a:spcBef>
                <a:spcPts val="0"/>
              </a:spcBef>
              <a:spcAft>
                <a:spcPts val="0"/>
              </a:spcAft>
              <a:buClr>
                <a:schemeClr val="dk1"/>
              </a:buClr>
              <a:buSzPts val="2400"/>
              <a:buNone/>
            </a:pPr>
            <a:r>
              <a:rPr lang="en-US"/>
              <a:t>Kalady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Elementary Data Link Protocols</a:t>
            </a:r>
            <a:endParaRPr/>
          </a:p>
        </p:txBody>
      </p:sp>
      <p:sp>
        <p:nvSpPr>
          <p:cNvPr id="95" name="Google Shape;95;p2"/>
          <p:cNvSpPr txBox="1"/>
          <p:nvPr>
            <p:ph idx="1" type="body"/>
          </p:nvPr>
        </p:nvSpPr>
        <p:spPr>
          <a:xfrm>
            <a:off x="2487614" y="1670050"/>
            <a:ext cx="8180387" cy="48831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Font typeface="Calibri"/>
              <a:buChar char="•"/>
            </a:pPr>
            <a:r>
              <a:rPr lang="en-US" sz="3200"/>
              <a:t>An Unrestricted Simplex Protocol</a:t>
            </a:r>
            <a:endParaRPr/>
          </a:p>
          <a:p>
            <a:pPr indent="-228600" lvl="0" marL="228600" rtl="0" algn="l">
              <a:lnSpc>
                <a:spcPct val="90000"/>
              </a:lnSpc>
              <a:spcBef>
                <a:spcPts val="1000"/>
              </a:spcBef>
              <a:spcAft>
                <a:spcPts val="0"/>
              </a:spcAft>
              <a:buClr>
                <a:schemeClr val="dk1"/>
              </a:buClr>
              <a:buSzPts val="3200"/>
              <a:buFont typeface="Calibri"/>
              <a:buChar char="•"/>
            </a:pPr>
            <a:r>
              <a:rPr lang="en-US" sz="3200"/>
              <a:t>A Simplex Stop-and-Wait Protocol</a:t>
            </a:r>
            <a:endParaRPr/>
          </a:p>
          <a:p>
            <a:pPr indent="-228600" lvl="0" marL="228600" rtl="0" algn="l">
              <a:lnSpc>
                <a:spcPct val="90000"/>
              </a:lnSpc>
              <a:spcBef>
                <a:spcPts val="1000"/>
              </a:spcBef>
              <a:spcAft>
                <a:spcPts val="0"/>
              </a:spcAft>
              <a:buClr>
                <a:schemeClr val="dk1"/>
              </a:buClr>
              <a:buSzPts val="3200"/>
              <a:buFont typeface="Calibri"/>
              <a:buChar char="•"/>
            </a:pPr>
            <a:r>
              <a:rPr lang="en-US" sz="3200"/>
              <a:t>A Simplex Protocol for a Noisy Channel</a:t>
            </a:r>
            <a:endParaRPr/>
          </a:p>
          <a:p>
            <a:pPr indent="-25400" lvl="0" marL="228600" rtl="0" algn="l">
              <a:lnSpc>
                <a:spcPct val="90000"/>
              </a:lnSpc>
              <a:spcBef>
                <a:spcPts val="1000"/>
              </a:spcBef>
              <a:spcAft>
                <a:spcPts val="0"/>
              </a:spcAft>
              <a:buClr>
                <a:schemeClr val="dk1"/>
              </a:buClr>
              <a:buSzPts val="3200"/>
              <a:buFont typeface="Calibri"/>
              <a:buNone/>
            </a:pPr>
            <a:r>
              <a:t/>
            </a:r>
            <a:endParaRPr sz="3200"/>
          </a:p>
        </p:txBody>
      </p:sp>
      <p:sp>
        <p:nvSpPr>
          <p:cNvPr id="96" name="Google Shape;9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 Unrestricted Simplex Protocol</a:t>
            </a:r>
            <a:br>
              <a:rPr lang="en-US"/>
            </a:br>
            <a:endParaRPr/>
          </a:p>
        </p:txBody>
      </p:sp>
      <p:sp>
        <p:nvSpPr>
          <p:cNvPr id="103" name="Google Shape;103;p3"/>
          <p:cNvSpPr txBox="1"/>
          <p:nvPr>
            <p:ph idx="1" type="body"/>
          </p:nvPr>
        </p:nvSpPr>
        <p:spPr>
          <a:xfrm>
            <a:off x="1659467" y="1867437"/>
            <a:ext cx="8873066" cy="480429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rgbClr val="FF0000"/>
              </a:buClr>
              <a:buSzPts val="2800"/>
              <a:buChar char="•"/>
            </a:pPr>
            <a:r>
              <a:rPr lang="en-US">
                <a:solidFill>
                  <a:srgbClr val="FF0000"/>
                </a:solidFill>
              </a:rPr>
              <a:t>Simplex</a:t>
            </a:r>
            <a:r>
              <a:rPr lang="en-US"/>
              <a:t> - Data are transmitted in one direction only. </a:t>
            </a:r>
            <a:endParaRPr/>
          </a:p>
          <a:p>
            <a:pPr indent="-228600" lvl="0" marL="228600" rtl="0" algn="just">
              <a:lnSpc>
                <a:spcPct val="90000"/>
              </a:lnSpc>
              <a:spcBef>
                <a:spcPts val="1000"/>
              </a:spcBef>
              <a:spcAft>
                <a:spcPts val="0"/>
              </a:spcAft>
              <a:buClr>
                <a:schemeClr val="dk1"/>
              </a:buClr>
              <a:buSzPts val="2800"/>
              <a:buChar char="•"/>
            </a:pPr>
            <a:r>
              <a:rPr lang="en-US"/>
              <a:t>Both the transmitting and receiving network layers are always </a:t>
            </a:r>
            <a:r>
              <a:rPr lang="en-US">
                <a:solidFill>
                  <a:srgbClr val="FF0000"/>
                </a:solidFill>
              </a:rPr>
              <a:t>ready</a:t>
            </a:r>
            <a:r>
              <a:rPr lang="en-US"/>
              <a:t>. </a:t>
            </a:r>
            <a:endParaRPr/>
          </a:p>
          <a:p>
            <a:pPr indent="-228600" lvl="0" marL="228600" rtl="0" algn="just">
              <a:lnSpc>
                <a:spcPct val="90000"/>
              </a:lnSpc>
              <a:spcBef>
                <a:spcPts val="1000"/>
              </a:spcBef>
              <a:spcAft>
                <a:spcPts val="0"/>
              </a:spcAft>
              <a:buClr>
                <a:schemeClr val="dk1"/>
              </a:buClr>
              <a:buSzPts val="2800"/>
              <a:buChar char="•"/>
            </a:pPr>
            <a:r>
              <a:rPr lang="en-US"/>
              <a:t>Processing </a:t>
            </a:r>
            <a:r>
              <a:rPr lang="en-US">
                <a:solidFill>
                  <a:srgbClr val="FF0000"/>
                </a:solidFill>
              </a:rPr>
              <a:t>time</a:t>
            </a:r>
            <a:r>
              <a:rPr lang="en-US"/>
              <a:t> can be ignored. </a:t>
            </a:r>
            <a:endParaRPr/>
          </a:p>
          <a:p>
            <a:pPr indent="-228600" lvl="0" marL="228600" rtl="0" algn="just">
              <a:lnSpc>
                <a:spcPct val="90000"/>
              </a:lnSpc>
              <a:spcBef>
                <a:spcPts val="1000"/>
              </a:spcBef>
              <a:spcAft>
                <a:spcPts val="0"/>
              </a:spcAft>
              <a:buClr>
                <a:schemeClr val="dk1"/>
              </a:buClr>
              <a:buSzPts val="2800"/>
              <a:buChar char="•"/>
            </a:pPr>
            <a:r>
              <a:rPr lang="en-US"/>
              <a:t>Infinite </a:t>
            </a:r>
            <a:r>
              <a:rPr lang="en-US">
                <a:solidFill>
                  <a:srgbClr val="FF0000"/>
                </a:solidFill>
              </a:rPr>
              <a:t>buffer</a:t>
            </a:r>
            <a:r>
              <a:rPr lang="en-US"/>
              <a:t> space is available. </a:t>
            </a:r>
            <a:endParaRPr/>
          </a:p>
          <a:p>
            <a:pPr indent="-228600" lvl="0" marL="228600" rtl="0" algn="just">
              <a:lnSpc>
                <a:spcPct val="90000"/>
              </a:lnSpc>
              <a:spcBef>
                <a:spcPts val="1000"/>
              </a:spcBef>
              <a:spcAft>
                <a:spcPts val="0"/>
              </a:spcAft>
              <a:buClr>
                <a:schemeClr val="dk1"/>
              </a:buClr>
              <a:buSzPts val="2800"/>
              <a:buChar char="•"/>
            </a:pPr>
            <a:r>
              <a:rPr lang="en-US"/>
              <a:t>Communication channel between the data link layers </a:t>
            </a:r>
            <a:r>
              <a:rPr lang="en-US">
                <a:solidFill>
                  <a:srgbClr val="FF0000"/>
                </a:solidFill>
              </a:rPr>
              <a:t>never damages or loses</a:t>
            </a:r>
            <a:r>
              <a:rPr lang="en-US"/>
              <a:t> frames. </a:t>
            </a:r>
            <a:endParaRPr/>
          </a:p>
          <a:p>
            <a:pPr indent="-228600" lvl="0" marL="228600" rtl="0" algn="just">
              <a:lnSpc>
                <a:spcPct val="90000"/>
              </a:lnSpc>
              <a:spcBef>
                <a:spcPts val="1000"/>
              </a:spcBef>
              <a:spcAft>
                <a:spcPts val="0"/>
              </a:spcAft>
              <a:buClr>
                <a:schemeClr val="dk1"/>
              </a:buClr>
              <a:buSzPts val="2800"/>
              <a:buChar char="•"/>
            </a:pPr>
            <a:r>
              <a:rPr lang="en-US"/>
              <a:t>This is thoroughly an unrealistic protocol, so it is nicknamed as “</a:t>
            </a:r>
            <a:r>
              <a:rPr lang="en-US">
                <a:solidFill>
                  <a:srgbClr val="FF0000"/>
                </a:solidFill>
              </a:rPr>
              <a:t>utopia</a:t>
            </a:r>
            <a:r>
              <a:rPr lang="en-US"/>
              <a:t>”  </a:t>
            </a:r>
            <a:endParaRPr/>
          </a:p>
        </p:txBody>
      </p:sp>
      <p:sp>
        <p:nvSpPr>
          <p:cNvPr id="104" name="Google Shape;10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Effect filter="fade" transition="in">
                                      <p:cBhvr>
                                        <p:cTn dur="500"/>
                                        <p:tgtEl>
                                          <p:spTgt spid="1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Effect filter="fade" transition="in">
                                      <p:cBhvr>
                                        <p:cTn dur="500"/>
                                        <p:tgtEl>
                                          <p:spTgt spid="1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animEffect filter="fade" transition="in">
                                      <p:cBhvr>
                                        <p:cTn dur="500"/>
                                        <p:tgtEl>
                                          <p:spTgt spid="1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animEffect filter="fade" transition="in">
                                      <p:cBhvr>
                                        <p:cTn dur="500"/>
                                        <p:tgtEl>
                                          <p:spTgt spid="1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animEffect filter="fade" transition="in">
                                      <p:cBhvr>
                                        <p:cTn dur="500"/>
                                        <p:tgtEl>
                                          <p:spTgt spid="1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animEffect filter="fade" transition="in">
                                      <p:cBhvr>
                                        <p:cTn dur="500"/>
                                        <p:tgtEl>
                                          <p:spTgt spid="10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A Simplex Stop-and-Wait Protocol </a:t>
            </a:r>
            <a:br>
              <a:rPr b="1" lang="en-US"/>
            </a:br>
            <a:endParaRPr/>
          </a:p>
        </p:txBody>
      </p:sp>
      <p:sp>
        <p:nvSpPr>
          <p:cNvPr id="110" name="Google Shape;11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1" marL="685800" rtl="0" algn="l">
              <a:lnSpc>
                <a:spcPct val="150000"/>
              </a:lnSpc>
              <a:spcBef>
                <a:spcPts val="0"/>
              </a:spcBef>
              <a:spcAft>
                <a:spcPts val="0"/>
              </a:spcAft>
              <a:buClr>
                <a:schemeClr val="dk1"/>
              </a:buClr>
              <a:buSzPts val="2400"/>
              <a:buChar char="•"/>
            </a:pPr>
            <a:r>
              <a:rPr lang="en-US"/>
              <a:t>Data traffic – simplex</a:t>
            </a:r>
            <a:endParaRPr/>
          </a:p>
          <a:p>
            <a:pPr indent="-228600" lvl="1" marL="685800" rtl="0" algn="l">
              <a:lnSpc>
                <a:spcPct val="150000"/>
              </a:lnSpc>
              <a:spcBef>
                <a:spcPts val="500"/>
              </a:spcBef>
              <a:spcAft>
                <a:spcPts val="0"/>
              </a:spcAft>
              <a:buClr>
                <a:schemeClr val="dk1"/>
              </a:buClr>
              <a:buSzPts val="2400"/>
              <a:buChar char="•"/>
            </a:pPr>
            <a:r>
              <a:rPr lang="en-US"/>
              <a:t>Error free communication channel</a:t>
            </a:r>
            <a:endParaRPr/>
          </a:p>
          <a:p>
            <a:pPr indent="-228600" lvl="1" marL="685800" rtl="0" algn="l">
              <a:lnSpc>
                <a:spcPct val="150000"/>
              </a:lnSpc>
              <a:spcBef>
                <a:spcPts val="500"/>
              </a:spcBef>
              <a:spcAft>
                <a:spcPts val="0"/>
              </a:spcAft>
              <a:buClr>
                <a:schemeClr val="dk1"/>
              </a:buClr>
              <a:buSzPts val="2400"/>
              <a:buChar char="•"/>
            </a:pPr>
            <a:r>
              <a:rPr lang="en-US"/>
              <a:t>Protocols in which the sender sends one frame and then waits for an acknowledgment before proceeding are called </a:t>
            </a:r>
            <a:r>
              <a:rPr b="1" i="1" lang="en-US"/>
              <a:t>Stop-and-Wait Protocol</a:t>
            </a:r>
            <a:endParaRPr sz="3200"/>
          </a:p>
          <a:p>
            <a:pPr indent="-76200" lvl="1" marL="685800" rtl="0" algn="l">
              <a:lnSpc>
                <a:spcPct val="150000"/>
              </a:lnSpc>
              <a:spcBef>
                <a:spcPts val="500"/>
              </a:spcBef>
              <a:spcAft>
                <a:spcPts val="0"/>
              </a:spcAft>
              <a:buClr>
                <a:schemeClr val="dk1"/>
              </a:buClr>
              <a:buSzPts val="24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500"/>
                                        <p:tgtEl>
                                          <p:spTgt spid="1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500"/>
                                        <p:tgtEl>
                                          <p:spTgt spid="1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500"/>
                                        <p:tgtEl>
                                          <p:spTgt spid="1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Effect filter="fade" transition="in">
                                      <p:cBhvr>
                                        <p:cTn dur="500"/>
                                        <p:tgtEl>
                                          <p:spTgt spid="1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animEffect filter="fade" transition="in">
                                      <p:cBhvr>
                                        <p:cTn dur="500"/>
                                        <p:tgtEl>
                                          <p:spTgt spid="11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A Simplex Stop-and-Wait Protocol </a:t>
            </a:r>
            <a:br>
              <a:rPr b="1" lang="en-US"/>
            </a:br>
            <a:endParaRPr/>
          </a:p>
        </p:txBody>
      </p:sp>
      <p:pic>
        <p:nvPicPr>
          <p:cNvPr id="116" name="Google Shape;116;p5"/>
          <p:cNvPicPr preferRelativeResize="0"/>
          <p:nvPr>
            <p:ph idx="1" type="body"/>
          </p:nvPr>
        </p:nvPicPr>
        <p:blipFill rotWithShape="1">
          <a:blip r:embed="rId3">
            <a:alphaModFix/>
          </a:blip>
          <a:srcRect b="0" l="0" r="0" t="0"/>
          <a:stretch/>
        </p:blipFill>
        <p:spPr>
          <a:xfrm>
            <a:off x="2717442" y="1690688"/>
            <a:ext cx="4693008" cy="43881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A Simplex Protocol for a Noisy Channel  </a:t>
            </a:r>
            <a:br>
              <a:rPr b="1" lang="en-US"/>
            </a:br>
            <a:endParaRPr/>
          </a:p>
        </p:txBody>
      </p:sp>
      <p:sp>
        <p:nvSpPr>
          <p:cNvPr id="122" name="Google Shape;122;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1" marL="228600" rtl="0" algn="l">
              <a:lnSpc>
                <a:spcPct val="250000"/>
              </a:lnSpc>
              <a:spcBef>
                <a:spcPts val="0"/>
              </a:spcBef>
              <a:spcAft>
                <a:spcPts val="0"/>
              </a:spcAft>
              <a:buClr>
                <a:schemeClr val="dk1"/>
              </a:buClr>
              <a:buSzPts val="2400"/>
              <a:buChar char="•"/>
            </a:pPr>
            <a:r>
              <a:rPr lang="en-US"/>
              <a:t>Data are transmitted in one direction only. </a:t>
            </a:r>
            <a:endParaRPr/>
          </a:p>
          <a:p>
            <a:pPr indent="-228600" lvl="0" marL="228600" rtl="0" algn="l">
              <a:lnSpc>
                <a:spcPct val="250000"/>
              </a:lnSpc>
              <a:spcBef>
                <a:spcPts val="1000"/>
              </a:spcBef>
              <a:spcAft>
                <a:spcPts val="0"/>
              </a:spcAft>
              <a:buClr>
                <a:schemeClr val="dk1"/>
              </a:buClr>
              <a:buSzPts val="2800"/>
              <a:buChar char="•"/>
            </a:pPr>
            <a:r>
              <a:rPr lang="en-US"/>
              <a:t>Channel is not error free</a:t>
            </a:r>
            <a:endParaRPr/>
          </a:p>
          <a:p>
            <a:pPr indent="-228600" lvl="1" marL="228600" rtl="0" algn="l">
              <a:lnSpc>
                <a:spcPct val="250000"/>
              </a:lnSpc>
              <a:spcBef>
                <a:spcPts val="1000"/>
              </a:spcBef>
              <a:spcAft>
                <a:spcPts val="0"/>
              </a:spcAft>
              <a:buClr>
                <a:schemeClr val="dk1"/>
              </a:buClr>
              <a:buSzPts val="2400"/>
              <a:buChar char="•"/>
            </a:pPr>
            <a:r>
              <a:rPr lang="en-US"/>
              <a:t>Frames may be either damaged or lost completely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animEffect filter="fade" transition="in">
                                      <p:cBhvr>
                                        <p:cTn dur="500"/>
                                        <p:tgtEl>
                                          <p:spTgt spid="1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animEffect filter="fade" transition="in">
                                      <p:cBhvr>
                                        <p:cTn dur="500"/>
                                        <p:tgtEl>
                                          <p:spTgt spid="1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animEffect filter="fade" transition="in">
                                      <p:cBhvr>
                                        <p:cTn dur="500"/>
                                        <p:tgtEl>
                                          <p:spTgt spid="1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animEffect filter="fade" transition="in">
                                      <p:cBhvr>
                                        <p:cTn dur="500"/>
                                        <p:tgtEl>
                                          <p:spTgt spid="12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Sliding Window Protocols</a:t>
            </a:r>
            <a:endParaRPr/>
          </a:p>
        </p:txBody>
      </p:sp>
      <p:sp>
        <p:nvSpPr>
          <p:cNvPr id="128" name="Google Shape;128;p7"/>
          <p:cNvSpPr txBox="1"/>
          <p:nvPr>
            <p:ph idx="1" type="body"/>
          </p:nvPr>
        </p:nvSpPr>
        <p:spPr>
          <a:xfrm>
            <a:off x="838200" y="1429554"/>
            <a:ext cx="10515600" cy="4997003"/>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just">
              <a:lnSpc>
                <a:spcPct val="90000"/>
              </a:lnSpc>
              <a:spcBef>
                <a:spcPts val="0"/>
              </a:spcBef>
              <a:spcAft>
                <a:spcPts val="0"/>
              </a:spcAft>
              <a:buClr>
                <a:schemeClr val="dk1"/>
              </a:buClr>
              <a:buSzPct val="100000"/>
              <a:buChar char="•"/>
            </a:pPr>
            <a:r>
              <a:rPr lang="en-US"/>
              <a:t>In the previous protocols, data frames were transmitted in one direction only. </a:t>
            </a:r>
            <a:endParaRPr/>
          </a:p>
          <a:p>
            <a:pPr indent="-77470"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n-US"/>
              <a:t>In most practical situations, there is a need for transmitting data in both directions. </a:t>
            </a:r>
            <a:endParaRPr/>
          </a:p>
          <a:p>
            <a:pPr indent="-228600" lvl="0" marL="228600" rtl="0" algn="just">
              <a:lnSpc>
                <a:spcPct val="90000"/>
              </a:lnSpc>
              <a:spcBef>
                <a:spcPts val="1000"/>
              </a:spcBef>
              <a:spcAft>
                <a:spcPts val="0"/>
              </a:spcAft>
              <a:buClr>
                <a:schemeClr val="dk1"/>
              </a:buClr>
              <a:buSzPct val="100000"/>
              <a:buChar char="•"/>
            </a:pPr>
            <a:r>
              <a:rPr lang="en-US"/>
              <a:t>One way of achieving </a:t>
            </a:r>
            <a:r>
              <a:rPr lang="en-US">
                <a:solidFill>
                  <a:srgbClr val="FF0000"/>
                </a:solidFill>
              </a:rPr>
              <a:t>full-duplex data transmission </a:t>
            </a:r>
            <a:r>
              <a:rPr lang="en-US"/>
              <a:t>is to have two separate communication channels and use each one for simplex data traffic (in different directions). </a:t>
            </a:r>
            <a:endParaRPr/>
          </a:p>
          <a:p>
            <a:pPr indent="-228600" lvl="0" marL="228600" rtl="0" algn="just">
              <a:lnSpc>
                <a:spcPct val="90000"/>
              </a:lnSpc>
              <a:spcBef>
                <a:spcPts val="1000"/>
              </a:spcBef>
              <a:spcAft>
                <a:spcPts val="0"/>
              </a:spcAft>
              <a:buClr>
                <a:schemeClr val="dk1"/>
              </a:buClr>
              <a:buSzPct val="100000"/>
              <a:buChar char="•"/>
            </a:pPr>
            <a:r>
              <a:rPr lang="en-US"/>
              <a:t>If this is done, we have two separate physical circuits, each with a ''forward'' channel (for data) and a ''reverse'' channel (for acknowledgements). </a:t>
            </a:r>
            <a:endParaRPr/>
          </a:p>
          <a:p>
            <a:pPr indent="-228600" lvl="0" marL="228600" rtl="0" algn="just">
              <a:lnSpc>
                <a:spcPct val="90000"/>
              </a:lnSpc>
              <a:spcBef>
                <a:spcPts val="1000"/>
              </a:spcBef>
              <a:spcAft>
                <a:spcPts val="0"/>
              </a:spcAft>
              <a:buClr>
                <a:schemeClr val="dk1"/>
              </a:buClr>
              <a:buSzPct val="100000"/>
              <a:buChar char="•"/>
            </a:pPr>
            <a:r>
              <a:rPr lang="en-US"/>
              <a:t>In which cases, the bandwidth of the reverse channel is almost entirely wasted. </a:t>
            </a:r>
            <a:endParaRPr/>
          </a:p>
          <a:p>
            <a:pPr indent="-77470"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n-US"/>
              <a:t>In effect, the user is paying for two circuits but using only the capacity of one </a:t>
            </a:r>
            <a:endParaRPr/>
          </a:p>
          <a:p>
            <a:pPr indent="-228600" lvl="0" marL="228600" rtl="0" algn="just">
              <a:lnSpc>
                <a:spcPct val="90000"/>
              </a:lnSpc>
              <a:spcBef>
                <a:spcPts val="1000"/>
              </a:spcBef>
              <a:spcAft>
                <a:spcPts val="0"/>
              </a:spcAft>
              <a:buClr>
                <a:schemeClr val="dk1"/>
              </a:buClr>
              <a:buSzPct val="100000"/>
              <a:buChar char="•"/>
            </a:pPr>
            <a:r>
              <a:rPr lang="en-US"/>
              <a:t>A </a:t>
            </a:r>
            <a:r>
              <a:rPr lang="en-US">
                <a:solidFill>
                  <a:srgbClr val="FF0000"/>
                </a:solidFill>
              </a:rPr>
              <a:t>better idea </a:t>
            </a:r>
            <a:r>
              <a:rPr lang="en-US"/>
              <a:t>is to use the same circuit for data in both directions.</a:t>
            </a:r>
            <a:r>
              <a:rPr lang="en-US" sz="3200"/>
              <a:t> </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animEffect filter="fade" transition="in">
                                      <p:cBhvr>
                                        <p:cTn dur="500"/>
                                        <p:tgtEl>
                                          <p:spTgt spid="1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animEffect filter="fade" transition="in">
                                      <p:cBhvr>
                                        <p:cTn dur="500"/>
                                        <p:tgtEl>
                                          <p:spTgt spid="1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2" st="2"/>
                                            </p:txEl>
                                          </p:spTgt>
                                        </p:tgtEl>
                                        <p:attrNameLst>
                                          <p:attrName>style.visibility</p:attrName>
                                        </p:attrNameLst>
                                      </p:cBhvr>
                                      <p:to>
                                        <p:strVal val="visible"/>
                                      </p:to>
                                    </p:set>
                                    <p:animEffect filter="fade" transition="in">
                                      <p:cBhvr>
                                        <p:cTn dur="500"/>
                                        <p:tgtEl>
                                          <p:spTgt spid="1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3" st="3"/>
                                            </p:txEl>
                                          </p:spTgt>
                                        </p:tgtEl>
                                        <p:attrNameLst>
                                          <p:attrName>style.visibility</p:attrName>
                                        </p:attrNameLst>
                                      </p:cBhvr>
                                      <p:to>
                                        <p:strVal val="visible"/>
                                      </p:to>
                                    </p:set>
                                    <p:animEffect filter="fade" transition="in">
                                      <p:cBhvr>
                                        <p:cTn dur="500"/>
                                        <p:tgtEl>
                                          <p:spTgt spid="1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4" st="4"/>
                                            </p:txEl>
                                          </p:spTgt>
                                        </p:tgtEl>
                                        <p:attrNameLst>
                                          <p:attrName>style.visibility</p:attrName>
                                        </p:attrNameLst>
                                      </p:cBhvr>
                                      <p:to>
                                        <p:strVal val="visible"/>
                                      </p:to>
                                    </p:set>
                                    <p:animEffect filter="fade" transition="in">
                                      <p:cBhvr>
                                        <p:cTn dur="500"/>
                                        <p:tgtEl>
                                          <p:spTgt spid="1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5" st="5"/>
                                            </p:txEl>
                                          </p:spTgt>
                                        </p:tgtEl>
                                        <p:attrNameLst>
                                          <p:attrName>style.visibility</p:attrName>
                                        </p:attrNameLst>
                                      </p:cBhvr>
                                      <p:to>
                                        <p:strVal val="visible"/>
                                      </p:to>
                                    </p:set>
                                    <p:animEffect filter="fade" transition="in">
                                      <p:cBhvr>
                                        <p:cTn dur="500"/>
                                        <p:tgtEl>
                                          <p:spTgt spid="12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6" st="6"/>
                                            </p:txEl>
                                          </p:spTgt>
                                        </p:tgtEl>
                                        <p:attrNameLst>
                                          <p:attrName>style.visibility</p:attrName>
                                        </p:attrNameLst>
                                      </p:cBhvr>
                                      <p:to>
                                        <p:strVal val="visible"/>
                                      </p:to>
                                    </p:set>
                                    <p:animEffect filter="fade" transition="in">
                                      <p:cBhvr>
                                        <p:cTn dur="500"/>
                                        <p:tgtEl>
                                          <p:spTgt spid="12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7" st="7"/>
                                            </p:txEl>
                                          </p:spTgt>
                                        </p:tgtEl>
                                        <p:attrNameLst>
                                          <p:attrName>style.visibility</p:attrName>
                                        </p:attrNameLst>
                                      </p:cBhvr>
                                      <p:to>
                                        <p:strVal val="visible"/>
                                      </p:to>
                                    </p:set>
                                    <p:animEffect filter="fade" transition="in">
                                      <p:cBhvr>
                                        <p:cTn dur="500"/>
                                        <p:tgtEl>
                                          <p:spTgt spid="12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8" st="8"/>
                                            </p:txEl>
                                          </p:spTgt>
                                        </p:tgtEl>
                                        <p:attrNameLst>
                                          <p:attrName>style.visibility</p:attrName>
                                        </p:attrNameLst>
                                      </p:cBhvr>
                                      <p:to>
                                        <p:strVal val="visible"/>
                                      </p:to>
                                    </p:set>
                                    <p:animEffect filter="fade" transition="in">
                                      <p:cBhvr>
                                        <p:cTn dur="500"/>
                                        <p:tgtEl>
                                          <p:spTgt spid="12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9" st="9"/>
                                            </p:txEl>
                                          </p:spTgt>
                                        </p:tgtEl>
                                        <p:attrNameLst>
                                          <p:attrName>style.visibility</p:attrName>
                                        </p:attrNameLst>
                                      </p:cBhvr>
                                      <p:to>
                                        <p:strVal val="visible"/>
                                      </p:to>
                                    </p:set>
                                    <p:animEffect filter="fade" transition="in">
                                      <p:cBhvr>
                                        <p:cTn dur="500"/>
                                        <p:tgtEl>
                                          <p:spTgt spid="12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8"/>
          <p:cNvSpPr txBox="1"/>
          <p:nvPr>
            <p:ph type="title"/>
          </p:nvPr>
        </p:nvSpPr>
        <p:spPr>
          <a:xfrm>
            <a:off x="1524000" y="0"/>
            <a:ext cx="9144000" cy="141667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br>
              <a:rPr lang="en-US"/>
            </a:br>
            <a:br>
              <a:rPr lang="en-US"/>
            </a:br>
            <a:r>
              <a:rPr lang="en-US"/>
              <a:t>Sliding Window Protocols-</a:t>
            </a:r>
            <a:r>
              <a:rPr lang="en-US" u="sng">
                <a:solidFill>
                  <a:srgbClr val="FF0000"/>
                </a:solidFill>
              </a:rPr>
              <a:t>piggybacking</a:t>
            </a:r>
            <a:br>
              <a:rPr lang="en-US" u="sng">
                <a:solidFill>
                  <a:srgbClr val="FF0000"/>
                </a:solidFill>
              </a:rPr>
            </a:br>
            <a:br>
              <a:rPr lang="en-US" u="sng">
                <a:solidFill>
                  <a:srgbClr val="FF0000"/>
                </a:solidFill>
              </a:rPr>
            </a:br>
            <a:endParaRPr/>
          </a:p>
        </p:txBody>
      </p:sp>
      <p:sp>
        <p:nvSpPr>
          <p:cNvPr id="134" name="Google Shape;134;p8"/>
          <p:cNvSpPr txBox="1"/>
          <p:nvPr>
            <p:ph idx="1" type="body"/>
          </p:nvPr>
        </p:nvSpPr>
        <p:spPr>
          <a:xfrm>
            <a:off x="1524001" y="1068945"/>
            <a:ext cx="9144000" cy="5484255"/>
          </a:xfrm>
          <a:prstGeom prst="rect">
            <a:avLst/>
          </a:prstGeom>
          <a:noFill/>
          <a:ln>
            <a:noFill/>
          </a:ln>
        </p:spPr>
        <p:txBody>
          <a:bodyPr anchorCtr="0" anchor="t" bIns="45700" lIns="91425" spcFirstLastPara="1" rIns="91425" wrap="square" tIns="45700">
            <a:normAutofit/>
          </a:bodyPr>
          <a:lstStyle/>
          <a:p>
            <a:pPr indent="-50800" lvl="0" marL="228600" rtl="0" algn="just">
              <a:lnSpc>
                <a:spcPct val="90000"/>
              </a:lnSpc>
              <a:spcBef>
                <a:spcPts val="0"/>
              </a:spcBef>
              <a:spcAft>
                <a:spcPts val="0"/>
              </a:spcAft>
              <a:buClr>
                <a:schemeClr val="dk1"/>
              </a:buClr>
              <a:buSzPts val="2800"/>
              <a:buFont typeface="Arial"/>
              <a:buNone/>
            </a:pPr>
            <a:r>
              <a:t/>
            </a:r>
            <a:endParaRPr/>
          </a:p>
          <a:p>
            <a:pPr indent="-228600" lvl="0" marL="228600" rtl="0" algn="just">
              <a:lnSpc>
                <a:spcPct val="90000"/>
              </a:lnSpc>
              <a:spcBef>
                <a:spcPts val="1000"/>
              </a:spcBef>
              <a:spcAft>
                <a:spcPts val="0"/>
              </a:spcAft>
              <a:buClr>
                <a:schemeClr val="dk1"/>
              </a:buClr>
              <a:buSzPts val="2800"/>
              <a:buFont typeface="Arial"/>
              <a:buChar char="•"/>
            </a:pPr>
            <a:r>
              <a:rPr lang="en-US"/>
              <a:t>When a data frame arrives, instead of immediately sending a separate control frame, the receiver restrains itself and waits until the network layer passes it the next packet. </a:t>
            </a:r>
            <a:endParaRPr/>
          </a:p>
          <a:p>
            <a:pPr indent="-228600" lvl="0" marL="228600" rtl="0" algn="just">
              <a:lnSpc>
                <a:spcPct val="90000"/>
              </a:lnSpc>
              <a:spcBef>
                <a:spcPts val="1000"/>
              </a:spcBef>
              <a:spcAft>
                <a:spcPts val="0"/>
              </a:spcAft>
              <a:buClr>
                <a:schemeClr val="dk1"/>
              </a:buClr>
              <a:buSzPts val="2800"/>
              <a:buFont typeface="Arial"/>
              <a:buChar char="•"/>
            </a:pPr>
            <a:r>
              <a:rPr lang="en-US"/>
              <a:t>The acknowledgement is attached to the outgoing data frame (using the </a:t>
            </a:r>
            <a:r>
              <a:rPr lang="en-US">
                <a:solidFill>
                  <a:srgbClr val="FF0000"/>
                </a:solidFill>
              </a:rPr>
              <a:t>ack field </a:t>
            </a:r>
            <a:r>
              <a:rPr lang="en-US"/>
              <a:t>in the frame header). </a:t>
            </a:r>
            <a:endParaRPr/>
          </a:p>
          <a:p>
            <a:pPr indent="-228600" lvl="0" marL="228600" rtl="0" algn="just">
              <a:lnSpc>
                <a:spcPct val="90000"/>
              </a:lnSpc>
              <a:spcBef>
                <a:spcPts val="1000"/>
              </a:spcBef>
              <a:spcAft>
                <a:spcPts val="0"/>
              </a:spcAft>
              <a:buClr>
                <a:schemeClr val="dk1"/>
              </a:buClr>
              <a:buSzPts val="2800"/>
              <a:buFont typeface="Arial"/>
              <a:buChar char="•"/>
            </a:pPr>
            <a:r>
              <a:rPr lang="en-US"/>
              <a:t>In effect, the acknowledgement gets a free ride on the next outgoing data frame. </a:t>
            </a:r>
            <a:endParaRPr/>
          </a:p>
          <a:p>
            <a:pPr indent="-228600" lvl="0" marL="228600" rtl="0" algn="just">
              <a:lnSpc>
                <a:spcPct val="90000"/>
              </a:lnSpc>
              <a:spcBef>
                <a:spcPts val="1000"/>
              </a:spcBef>
              <a:spcAft>
                <a:spcPts val="0"/>
              </a:spcAft>
              <a:buClr>
                <a:schemeClr val="dk1"/>
              </a:buClr>
              <a:buSzPts val="2800"/>
              <a:buFont typeface="Arial"/>
              <a:buChar char="•"/>
            </a:pPr>
            <a:r>
              <a:rPr lang="en-US"/>
              <a:t>The technique of temporarily delaying outgoing acknowledgements so that they can be hooked onto the next outgoing data frame is known as </a:t>
            </a:r>
            <a:r>
              <a:rPr lang="en-US" u="sng">
                <a:solidFill>
                  <a:srgbClr val="FF0000"/>
                </a:solidFill>
              </a:rPr>
              <a:t>piggybacking</a:t>
            </a:r>
            <a:endParaRPr/>
          </a:p>
        </p:txBody>
      </p:sp>
      <p:sp>
        <p:nvSpPr>
          <p:cNvPr id="135" name="Google Shape;13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US" u="sng"/>
            </a:br>
            <a:r>
              <a:rPr b="1" lang="en-US" u="sng"/>
              <a:t>Piggybacking</a:t>
            </a:r>
            <a:br>
              <a:rPr b="1" lang="en-US" u="sng"/>
            </a:br>
            <a:br>
              <a:rPr lang="en-US" u="sng">
                <a:solidFill>
                  <a:srgbClr val="FF0000"/>
                </a:solidFill>
              </a:rPr>
            </a:br>
            <a:endParaRPr/>
          </a:p>
        </p:txBody>
      </p:sp>
      <p:pic>
        <p:nvPicPr>
          <p:cNvPr id="141" name="Google Shape;141;p9"/>
          <p:cNvPicPr preferRelativeResize="0"/>
          <p:nvPr>
            <p:ph idx="1" type="body"/>
          </p:nvPr>
        </p:nvPicPr>
        <p:blipFill rotWithShape="1">
          <a:blip r:embed="rId3">
            <a:alphaModFix/>
          </a:blip>
          <a:srcRect b="0" l="0" r="0" t="0"/>
          <a:stretch/>
        </p:blipFill>
        <p:spPr>
          <a:xfrm>
            <a:off x="3335628" y="1596980"/>
            <a:ext cx="3760497" cy="51515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Sliding Window Protocols</a:t>
            </a:r>
            <a:endParaRPr/>
          </a:p>
        </p:txBody>
      </p:sp>
      <p:sp>
        <p:nvSpPr>
          <p:cNvPr id="147" name="Google Shape;147;p10"/>
          <p:cNvSpPr txBox="1"/>
          <p:nvPr>
            <p:ph idx="1" type="body"/>
          </p:nvPr>
        </p:nvSpPr>
        <p:spPr>
          <a:xfrm>
            <a:off x="1524001" y="711201"/>
            <a:ext cx="9144000" cy="58420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lang="en-US"/>
              <a:t>The </a:t>
            </a:r>
            <a:r>
              <a:rPr lang="en-US">
                <a:solidFill>
                  <a:srgbClr val="FF0000"/>
                </a:solidFill>
              </a:rPr>
              <a:t>principal advantage</a:t>
            </a:r>
            <a:r>
              <a:rPr lang="en-US"/>
              <a:t> of using piggybacking over having distinct acknowledgement frames 	</a:t>
            </a:r>
            <a:endParaRPr/>
          </a:p>
          <a:p>
            <a:pPr indent="-228600" lvl="1" marL="685800" rtl="0" algn="just">
              <a:lnSpc>
                <a:spcPct val="90000"/>
              </a:lnSpc>
              <a:spcBef>
                <a:spcPts val="500"/>
              </a:spcBef>
              <a:spcAft>
                <a:spcPts val="0"/>
              </a:spcAft>
              <a:buClr>
                <a:schemeClr val="dk1"/>
              </a:buClr>
              <a:buSzPts val="2400"/>
              <a:buFont typeface="Arial"/>
              <a:buChar char="•"/>
            </a:pPr>
            <a:r>
              <a:rPr lang="en-US"/>
              <a:t>better use of the available channel bandwidth. </a:t>
            </a:r>
            <a:endParaRPr/>
          </a:p>
          <a:p>
            <a:pPr indent="-228600" lvl="1" marL="685800" rtl="0" algn="just">
              <a:lnSpc>
                <a:spcPct val="90000"/>
              </a:lnSpc>
              <a:spcBef>
                <a:spcPts val="500"/>
              </a:spcBef>
              <a:spcAft>
                <a:spcPts val="0"/>
              </a:spcAft>
              <a:buClr>
                <a:schemeClr val="dk1"/>
              </a:buClr>
              <a:buSzPts val="2400"/>
              <a:buFont typeface="Arial"/>
              <a:buChar char="•"/>
            </a:pPr>
            <a:r>
              <a:rPr lang="en-US"/>
              <a:t>The ack field in the frame header costs only a few bits, whereas a separate frame would need a header, the acknowledgement, and a checksum. </a:t>
            </a:r>
            <a:endParaRPr/>
          </a:p>
          <a:p>
            <a:pPr indent="-228600" lvl="0" marL="228600" rtl="0" algn="just">
              <a:lnSpc>
                <a:spcPct val="90000"/>
              </a:lnSpc>
              <a:spcBef>
                <a:spcPts val="1000"/>
              </a:spcBef>
              <a:spcAft>
                <a:spcPts val="0"/>
              </a:spcAft>
              <a:buClr>
                <a:srgbClr val="FF0000"/>
              </a:buClr>
              <a:buSzPts val="2800"/>
              <a:buFont typeface="Arial"/>
              <a:buChar char="•"/>
            </a:pPr>
            <a:r>
              <a:rPr lang="en-US">
                <a:solidFill>
                  <a:srgbClr val="FF0000"/>
                </a:solidFill>
              </a:rPr>
              <a:t>Other advantages:</a:t>
            </a:r>
            <a:endParaRPr/>
          </a:p>
          <a:p>
            <a:pPr indent="-228600" lvl="1" marL="685800" rtl="0" algn="just">
              <a:lnSpc>
                <a:spcPct val="90000"/>
              </a:lnSpc>
              <a:spcBef>
                <a:spcPts val="500"/>
              </a:spcBef>
              <a:spcAft>
                <a:spcPts val="0"/>
              </a:spcAft>
              <a:buClr>
                <a:schemeClr val="dk1"/>
              </a:buClr>
              <a:buSzPts val="2400"/>
              <a:buFont typeface="Arial"/>
              <a:buChar char="•"/>
            </a:pPr>
            <a:r>
              <a:rPr lang="en-US"/>
              <a:t>In addition, fewer frames sent means </a:t>
            </a:r>
            <a:r>
              <a:rPr lang="en-US">
                <a:solidFill>
                  <a:srgbClr val="FF0000"/>
                </a:solidFill>
              </a:rPr>
              <a:t>fewer ''frame arrival'' interrupts</a:t>
            </a:r>
            <a:r>
              <a:rPr lang="en-US"/>
              <a:t>, </a:t>
            </a:r>
            <a:endParaRPr/>
          </a:p>
          <a:p>
            <a:pPr indent="-228600" lvl="1" marL="685800" rtl="0" algn="just">
              <a:lnSpc>
                <a:spcPct val="90000"/>
              </a:lnSpc>
              <a:spcBef>
                <a:spcPts val="500"/>
              </a:spcBef>
              <a:spcAft>
                <a:spcPts val="0"/>
              </a:spcAft>
              <a:buClr>
                <a:srgbClr val="FF0000"/>
              </a:buClr>
              <a:buSzPts val="2400"/>
              <a:buFont typeface="Arial"/>
              <a:buChar char="•"/>
            </a:pPr>
            <a:r>
              <a:rPr lang="en-US">
                <a:solidFill>
                  <a:srgbClr val="FF0000"/>
                </a:solidFill>
              </a:rPr>
              <a:t>fewer buffers required </a:t>
            </a:r>
            <a:r>
              <a:rPr lang="en-US"/>
              <a:t>in the receiver, depending on how the receiver's software is organized. </a:t>
            </a:r>
            <a:endParaRPr/>
          </a:p>
        </p:txBody>
      </p:sp>
      <p:sp>
        <p:nvSpPr>
          <p:cNvPr id="148" name="Google Shape;14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1"/>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Sliding Window Protocols</a:t>
            </a:r>
            <a:endParaRPr/>
          </a:p>
        </p:txBody>
      </p:sp>
      <p:sp>
        <p:nvSpPr>
          <p:cNvPr id="154" name="Google Shape;154;p11"/>
          <p:cNvSpPr txBox="1"/>
          <p:nvPr>
            <p:ph idx="1" type="body"/>
          </p:nvPr>
        </p:nvSpPr>
        <p:spPr>
          <a:xfrm>
            <a:off x="1524001" y="711201"/>
            <a:ext cx="9144000" cy="58420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lang="en-US"/>
              <a:t>In all sliding window protocols, each outbound frame contains a sequence number, ranging from 0 up to some maximum </a:t>
            </a:r>
            <a:endParaRPr/>
          </a:p>
          <a:p>
            <a:pPr indent="-50800" lvl="0" marL="228600" rtl="0" algn="just">
              <a:lnSpc>
                <a:spcPct val="90000"/>
              </a:lnSpc>
              <a:spcBef>
                <a:spcPts val="1000"/>
              </a:spcBef>
              <a:spcAft>
                <a:spcPts val="0"/>
              </a:spcAft>
              <a:buClr>
                <a:schemeClr val="dk1"/>
              </a:buClr>
              <a:buSzPts val="2800"/>
              <a:buFont typeface="Arial"/>
              <a:buNone/>
            </a:pPr>
            <a:r>
              <a:t/>
            </a:r>
            <a:endParaRPr/>
          </a:p>
          <a:p>
            <a:pPr indent="-228600" lvl="0" marL="228600" rtl="0" algn="just">
              <a:lnSpc>
                <a:spcPct val="90000"/>
              </a:lnSpc>
              <a:spcBef>
                <a:spcPts val="1000"/>
              </a:spcBef>
              <a:spcAft>
                <a:spcPts val="0"/>
              </a:spcAft>
              <a:buClr>
                <a:schemeClr val="dk1"/>
              </a:buClr>
              <a:buSzPts val="2800"/>
              <a:buFont typeface="Arial"/>
              <a:buChar char="•"/>
            </a:pPr>
            <a:r>
              <a:rPr lang="en-US"/>
              <a:t>Maximum is usually 2</a:t>
            </a:r>
            <a:r>
              <a:rPr baseline="30000" lang="en-US"/>
              <a:t>n </a:t>
            </a:r>
            <a:r>
              <a:rPr lang="en-US"/>
              <a:t>- 1 so the sequence number fits exactly in an n-bit field. </a:t>
            </a:r>
            <a:endParaRPr/>
          </a:p>
          <a:p>
            <a:pPr indent="-50800" lvl="0" marL="228600" rtl="0" algn="just">
              <a:lnSpc>
                <a:spcPct val="90000"/>
              </a:lnSpc>
              <a:spcBef>
                <a:spcPts val="1000"/>
              </a:spcBef>
              <a:spcAft>
                <a:spcPts val="0"/>
              </a:spcAft>
              <a:buClr>
                <a:schemeClr val="dk1"/>
              </a:buClr>
              <a:buSzPts val="2800"/>
              <a:buFont typeface="Arial"/>
              <a:buNone/>
            </a:pPr>
            <a:r>
              <a:t/>
            </a:r>
            <a:endParaRPr/>
          </a:p>
          <a:p>
            <a:pPr indent="-228600" lvl="0" marL="228600" rtl="0" algn="just">
              <a:lnSpc>
                <a:spcPct val="90000"/>
              </a:lnSpc>
              <a:spcBef>
                <a:spcPts val="1000"/>
              </a:spcBef>
              <a:spcAft>
                <a:spcPts val="0"/>
              </a:spcAft>
              <a:buClr>
                <a:schemeClr val="dk1"/>
              </a:buClr>
              <a:buSzPts val="2800"/>
              <a:buFont typeface="Arial"/>
              <a:buChar char="•"/>
            </a:pPr>
            <a:r>
              <a:rPr lang="en-US"/>
              <a:t>The stop-and-wait sliding window protocol uses n = 1, restricting the sequence numbers to 0 and 1 </a:t>
            </a:r>
            <a:endParaRPr/>
          </a:p>
        </p:txBody>
      </p:sp>
      <p:sp>
        <p:nvSpPr>
          <p:cNvPr id="155" name="Google Shape;15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Sliding Window Protocols</a:t>
            </a:r>
            <a:endParaRPr/>
          </a:p>
        </p:txBody>
      </p:sp>
      <p:sp>
        <p:nvSpPr>
          <p:cNvPr id="161" name="Google Shape;161;p12"/>
          <p:cNvSpPr txBox="1"/>
          <p:nvPr>
            <p:ph idx="1" type="body"/>
          </p:nvPr>
        </p:nvSpPr>
        <p:spPr>
          <a:xfrm>
            <a:off x="1524001" y="711201"/>
            <a:ext cx="9144000" cy="58420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lang="en-US"/>
              <a:t>Essence of all sliding window protocols </a:t>
            </a:r>
            <a:endParaRPr/>
          </a:p>
          <a:p>
            <a:pPr indent="-228600" lvl="1" marL="685800" rtl="0" algn="just">
              <a:lnSpc>
                <a:spcPct val="90000"/>
              </a:lnSpc>
              <a:spcBef>
                <a:spcPts val="500"/>
              </a:spcBef>
              <a:spcAft>
                <a:spcPts val="0"/>
              </a:spcAft>
              <a:buClr>
                <a:schemeClr val="dk1"/>
              </a:buClr>
              <a:buSzPts val="2400"/>
              <a:buFont typeface="Arial"/>
              <a:buChar char="•"/>
            </a:pPr>
            <a:r>
              <a:rPr lang="en-US"/>
              <a:t>at any instant of time, the sender maintains a set of sequence numbers corresponding to frames it is permitted to send. </a:t>
            </a:r>
            <a:endParaRPr/>
          </a:p>
          <a:p>
            <a:pPr indent="-76200" lvl="1" marL="685800" rtl="0" algn="just">
              <a:lnSpc>
                <a:spcPct val="90000"/>
              </a:lnSpc>
              <a:spcBef>
                <a:spcPts val="500"/>
              </a:spcBef>
              <a:spcAft>
                <a:spcPts val="0"/>
              </a:spcAft>
              <a:buClr>
                <a:schemeClr val="dk1"/>
              </a:buClr>
              <a:buSzPts val="2400"/>
              <a:buFont typeface="Arial"/>
              <a:buNone/>
            </a:pPr>
            <a:r>
              <a:t/>
            </a:r>
            <a:endParaRPr/>
          </a:p>
          <a:p>
            <a:pPr indent="-228600" lvl="1" marL="685800" rtl="0" algn="just">
              <a:lnSpc>
                <a:spcPct val="90000"/>
              </a:lnSpc>
              <a:spcBef>
                <a:spcPts val="500"/>
              </a:spcBef>
              <a:spcAft>
                <a:spcPts val="0"/>
              </a:spcAft>
              <a:buClr>
                <a:schemeClr val="dk1"/>
              </a:buClr>
              <a:buSzPts val="2400"/>
              <a:buFont typeface="Arial"/>
              <a:buChar char="•"/>
            </a:pPr>
            <a:r>
              <a:rPr lang="en-US"/>
              <a:t>These frames are said to fall within the </a:t>
            </a:r>
            <a:r>
              <a:rPr lang="en-US">
                <a:solidFill>
                  <a:srgbClr val="FF0000"/>
                </a:solidFill>
              </a:rPr>
              <a:t>sending window</a:t>
            </a:r>
            <a:r>
              <a:rPr lang="en-US"/>
              <a:t>. </a:t>
            </a:r>
            <a:endParaRPr/>
          </a:p>
          <a:p>
            <a:pPr indent="-76200" lvl="1" marL="685800" rtl="0" algn="just">
              <a:lnSpc>
                <a:spcPct val="90000"/>
              </a:lnSpc>
              <a:spcBef>
                <a:spcPts val="500"/>
              </a:spcBef>
              <a:spcAft>
                <a:spcPts val="0"/>
              </a:spcAft>
              <a:buClr>
                <a:schemeClr val="dk1"/>
              </a:buClr>
              <a:buSzPts val="2400"/>
              <a:buFont typeface="Arial"/>
              <a:buNone/>
            </a:pPr>
            <a:r>
              <a:t/>
            </a:r>
            <a:endParaRPr/>
          </a:p>
          <a:p>
            <a:pPr indent="-228600" lvl="1" marL="685800" rtl="0" algn="just">
              <a:lnSpc>
                <a:spcPct val="90000"/>
              </a:lnSpc>
              <a:spcBef>
                <a:spcPts val="500"/>
              </a:spcBef>
              <a:spcAft>
                <a:spcPts val="0"/>
              </a:spcAft>
              <a:buClr>
                <a:schemeClr val="dk1"/>
              </a:buClr>
              <a:buSzPts val="2400"/>
              <a:buFont typeface="Arial"/>
              <a:buChar char="•"/>
            </a:pPr>
            <a:r>
              <a:rPr lang="en-US"/>
              <a:t>Similarly, the receiver also maintains a </a:t>
            </a:r>
            <a:r>
              <a:rPr lang="en-US">
                <a:solidFill>
                  <a:srgbClr val="FF0000"/>
                </a:solidFill>
              </a:rPr>
              <a:t>receiving window</a:t>
            </a:r>
            <a:r>
              <a:rPr lang="en-US"/>
              <a:t> corresponding to the set of frames it is permitted to accept. </a:t>
            </a:r>
            <a:endParaRPr/>
          </a:p>
        </p:txBody>
      </p:sp>
      <p:sp>
        <p:nvSpPr>
          <p:cNvPr id="162" name="Google Shape;16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Sliding Window Protocols</a:t>
            </a:r>
            <a:endParaRPr/>
          </a:p>
        </p:txBody>
      </p:sp>
      <p:sp>
        <p:nvSpPr>
          <p:cNvPr id="168" name="Google Shape;168;p13"/>
          <p:cNvSpPr txBox="1"/>
          <p:nvPr>
            <p:ph idx="1" type="body"/>
          </p:nvPr>
        </p:nvSpPr>
        <p:spPr>
          <a:xfrm>
            <a:off x="1524001" y="711201"/>
            <a:ext cx="9144000" cy="58420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lang="en-US"/>
              <a:t>The sequence numbers within the sender's window represent frames that have been sent or can be sent but are as yet not acknowledged.</a:t>
            </a:r>
            <a:endParaRPr/>
          </a:p>
          <a:p>
            <a:pPr indent="-228600" lvl="0" marL="228600" rtl="0" algn="just">
              <a:lnSpc>
                <a:spcPct val="90000"/>
              </a:lnSpc>
              <a:spcBef>
                <a:spcPts val="1000"/>
              </a:spcBef>
              <a:spcAft>
                <a:spcPts val="0"/>
              </a:spcAft>
              <a:buClr>
                <a:schemeClr val="dk1"/>
              </a:buClr>
              <a:buSzPts val="2800"/>
              <a:buFont typeface="Arial"/>
              <a:buChar char="•"/>
            </a:pPr>
            <a:r>
              <a:rPr lang="en-US"/>
              <a:t> Whenever a new packet arrives from the network layer, it is given the next highest sequence number, and the upper edge of the window is advanced by one. </a:t>
            </a:r>
            <a:endParaRPr/>
          </a:p>
          <a:p>
            <a:pPr indent="-228600" lvl="0" marL="228600" rtl="0" algn="just">
              <a:lnSpc>
                <a:spcPct val="90000"/>
              </a:lnSpc>
              <a:spcBef>
                <a:spcPts val="1000"/>
              </a:spcBef>
              <a:spcAft>
                <a:spcPts val="0"/>
              </a:spcAft>
              <a:buClr>
                <a:schemeClr val="dk1"/>
              </a:buClr>
              <a:buSzPts val="2800"/>
              <a:buFont typeface="Arial"/>
              <a:buChar char="•"/>
            </a:pPr>
            <a:r>
              <a:rPr lang="en-US"/>
              <a:t>When an acknowledgement comes in, the lower edge is advanced by one. In this way the window continuously maintains a list of unacknowledged frames. </a:t>
            </a:r>
            <a:endParaRPr/>
          </a:p>
          <a:p>
            <a:pPr indent="-228600" lvl="0" marL="228600" rtl="0" algn="just">
              <a:lnSpc>
                <a:spcPct val="90000"/>
              </a:lnSpc>
              <a:spcBef>
                <a:spcPts val="1000"/>
              </a:spcBef>
              <a:spcAft>
                <a:spcPts val="0"/>
              </a:spcAft>
              <a:buClr>
                <a:schemeClr val="dk1"/>
              </a:buClr>
              <a:buSzPts val="2800"/>
              <a:buFont typeface="Arial"/>
              <a:buChar char="•"/>
            </a:pPr>
            <a:r>
              <a:rPr lang="en-US"/>
              <a:t>Since frames currently within the sender's window may ultimately be lost or damaged in transit, the sender must keep all these frames in its memory for possible retransmission.</a:t>
            </a:r>
            <a:endParaRPr/>
          </a:p>
        </p:txBody>
      </p:sp>
      <p:sp>
        <p:nvSpPr>
          <p:cNvPr id="169" name="Google Shape;16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animEffect filter="fade" transition="in">
                                      <p:cBhvr>
                                        <p:cTn dur="500"/>
                                        <p:tgtEl>
                                          <p:spTgt spid="1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animEffect filter="fade" transition="in">
                                      <p:cBhvr>
                                        <p:cTn dur="500"/>
                                        <p:tgtEl>
                                          <p:spTgt spid="1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animEffect filter="fade" transition="in">
                                      <p:cBhvr>
                                        <p:cTn dur="500"/>
                                        <p:tgtEl>
                                          <p:spTgt spid="1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animEffect filter="fade" transition="in">
                                      <p:cBhvr>
                                        <p:cTn dur="500"/>
                                        <p:tgtEl>
                                          <p:spTgt spid="16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1524000" y="0"/>
            <a:ext cx="9144000" cy="63217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Sliding Window Protocols</a:t>
            </a:r>
            <a:endParaRPr/>
          </a:p>
        </p:txBody>
      </p:sp>
      <p:sp>
        <p:nvSpPr>
          <p:cNvPr id="175" name="Google Shape;175;p14"/>
          <p:cNvSpPr txBox="1"/>
          <p:nvPr>
            <p:ph idx="1" type="body"/>
          </p:nvPr>
        </p:nvSpPr>
        <p:spPr>
          <a:xfrm>
            <a:off x="1524001" y="711201"/>
            <a:ext cx="9144000" cy="584200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Font typeface="Arial"/>
              <a:buChar char="•"/>
            </a:pPr>
            <a:r>
              <a:rPr lang="en-US"/>
              <a:t> Thus, if the maximum window size is n, the sender needs n buffers to hold the unacknowledged frames. </a:t>
            </a:r>
            <a:endParaRPr/>
          </a:p>
          <a:p>
            <a:pPr indent="-228600" lvl="0" marL="228600" rtl="0" algn="just">
              <a:lnSpc>
                <a:spcPct val="90000"/>
              </a:lnSpc>
              <a:spcBef>
                <a:spcPts val="1000"/>
              </a:spcBef>
              <a:spcAft>
                <a:spcPts val="0"/>
              </a:spcAft>
              <a:buClr>
                <a:schemeClr val="dk1"/>
              </a:buClr>
              <a:buSzPct val="100000"/>
              <a:buFont typeface="Arial"/>
              <a:buChar char="•"/>
            </a:pPr>
            <a:r>
              <a:rPr lang="en-US"/>
              <a:t>If the window ever grows to its maximum size, the sending data link layer must forcibly shut off the network layer until another buffer becomes free </a:t>
            </a:r>
            <a:endParaRPr/>
          </a:p>
          <a:p>
            <a:pPr indent="-228600" lvl="0" marL="228600" rtl="0" algn="just">
              <a:lnSpc>
                <a:spcPct val="90000"/>
              </a:lnSpc>
              <a:spcBef>
                <a:spcPts val="1000"/>
              </a:spcBef>
              <a:spcAft>
                <a:spcPts val="0"/>
              </a:spcAft>
              <a:buClr>
                <a:schemeClr val="dk1"/>
              </a:buClr>
              <a:buSzPct val="100000"/>
              <a:buFont typeface="Arial"/>
              <a:buChar char="•"/>
            </a:pPr>
            <a:r>
              <a:rPr lang="en-US"/>
              <a:t>The receiver window corresponds to the frames it may accept. </a:t>
            </a:r>
            <a:endParaRPr/>
          </a:p>
          <a:p>
            <a:pPr indent="-228600" lvl="0" marL="228600" rtl="0" algn="just">
              <a:lnSpc>
                <a:spcPct val="90000"/>
              </a:lnSpc>
              <a:spcBef>
                <a:spcPts val="1000"/>
              </a:spcBef>
              <a:spcAft>
                <a:spcPts val="0"/>
              </a:spcAft>
              <a:buClr>
                <a:schemeClr val="dk1"/>
              </a:buClr>
              <a:buSzPct val="100000"/>
              <a:buFont typeface="Arial"/>
              <a:buChar char="•"/>
            </a:pPr>
            <a:r>
              <a:rPr lang="en-US"/>
              <a:t>Any frame falling outside the window is discarded without comment. </a:t>
            </a:r>
            <a:endParaRPr/>
          </a:p>
          <a:p>
            <a:pPr indent="-228600" lvl="0" marL="228600" rtl="0" algn="just">
              <a:lnSpc>
                <a:spcPct val="90000"/>
              </a:lnSpc>
              <a:spcBef>
                <a:spcPts val="1000"/>
              </a:spcBef>
              <a:spcAft>
                <a:spcPts val="0"/>
              </a:spcAft>
              <a:buClr>
                <a:srgbClr val="FF0000"/>
              </a:buClr>
              <a:buSzPct val="100000"/>
              <a:buFont typeface="Arial"/>
              <a:buChar char="•"/>
            </a:pPr>
            <a:r>
              <a:rPr lang="en-US">
                <a:solidFill>
                  <a:srgbClr val="FF0000"/>
                </a:solidFill>
              </a:rPr>
              <a:t>When a frame whose sequence number is equal to the lower edge of the window is received, it is passed to the network layer, an acknowledgement is generated, and the window is rotated by one. </a:t>
            </a:r>
            <a:endParaRPr/>
          </a:p>
          <a:p>
            <a:pPr indent="-228600" lvl="0" marL="228600" rtl="0" algn="just">
              <a:lnSpc>
                <a:spcPct val="90000"/>
              </a:lnSpc>
              <a:spcBef>
                <a:spcPts val="1000"/>
              </a:spcBef>
              <a:spcAft>
                <a:spcPts val="0"/>
              </a:spcAft>
              <a:buClr>
                <a:schemeClr val="dk1"/>
              </a:buClr>
              <a:buSzPct val="100000"/>
              <a:buFont typeface="Arial"/>
              <a:buChar char="•"/>
            </a:pPr>
            <a:r>
              <a:rPr lang="en-US"/>
              <a:t>Unlike the sender's window, the receiver's window always remains at its initial size. </a:t>
            </a:r>
            <a:endParaRPr/>
          </a:p>
          <a:p>
            <a:pPr indent="-228600" lvl="0" marL="228600" rtl="0" algn="just">
              <a:lnSpc>
                <a:spcPct val="90000"/>
              </a:lnSpc>
              <a:spcBef>
                <a:spcPts val="1000"/>
              </a:spcBef>
              <a:spcAft>
                <a:spcPts val="0"/>
              </a:spcAft>
              <a:buClr>
                <a:schemeClr val="dk1"/>
              </a:buClr>
              <a:buSzPct val="100000"/>
              <a:buFont typeface="Arial"/>
              <a:buChar char="•"/>
            </a:pPr>
            <a:r>
              <a:rPr lang="en-US"/>
              <a:t>Note that a window size of 1 means that the data link layer only accepts frames in order</a:t>
            </a:r>
            <a:endParaRPr/>
          </a:p>
          <a:p>
            <a:pPr indent="-228600" lvl="0" marL="228600" rtl="0" algn="just">
              <a:lnSpc>
                <a:spcPct val="90000"/>
              </a:lnSpc>
              <a:spcBef>
                <a:spcPts val="1000"/>
              </a:spcBef>
              <a:spcAft>
                <a:spcPts val="0"/>
              </a:spcAft>
              <a:buClr>
                <a:schemeClr val="dk1"/>
              </a:buClr>
              <a:buSzPct val="100000"/>
              <a:buFont typeface="Arial"/>
              <a:buChar char="•"/>
            </a:pPr>
            <a:r>
              <a:rPr lang="en-US"/>
              <a:t>Size n means it will receive out of order</a:t>
            </a:r>
            <a:endParaRPr/>
          </a:p>
        </p:txBody>
      </p:sp>
      <p:sp>
        <p:nvSpPr>
          <p:cNvPr id="176" name="Google Shape;17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At start. Receiver waits for 0. </a:t>
            </a:r>
            <a:br>
              <a:rPr lang="en-US"/>
            </a:br>
            <a:endParaRPr/>
          </a:p>
        </p:txBody>
      </p:sp>
      <p:pic>
        <p:nvPicPr>
          <p:cNvPr id="182" name="Google Shape;182;p15"/>
          <p:cNvPicPr preferRelativeResize="0"/>
          <p:nvPr>
            <p:ph idx="1" type="body"/>
          </p:nvPr>
        </p:nvPicPr>
        <p:blipFill rotWithShape="1">
          <a:blip r:embed="rId3">
            <a:alphaModFix/>
          </a:blip>
          <a:srcRect b="0" l="0" r="0" t="0"/>
          <a:stretch/>
        </p:blipFill>
        <p:spPr>
          <a:xfrm>
            <a:off x="3276601" y="1600201"/>
            <a:ext cx="4205901" cy="45259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Sender sends 0. </a:t>
            </a:r>
            <a:br>
              <a:rPr lang="en-US"/>
            </a:br>
            <a:endParaRPr/>
          </a:p>
        </p:txBody>
      </p:sp>
      <p:pic>
        <p:nvPicPr>
          <p:cNvPr id="188" name="Google Shape;188;p16"/>
          <p:cNvPicPr preferRelativeResize="0"/>
          <p:nvPr>
            <p:ph idx="1" type="body"/>
          </p:nvPr>
        </p:nvPicPr>
        <p:blipFill rotWithShape="1">
          <a:blip r:embed="rId3">
            <a:alphaModFix/>
          </a:blip>
          <a:srcRect b="0" l="0" r="0" t="0"/>
          <a:stretch/>
        </p:blipFill>
        <p:spPr>
          <a:xfrm>
            <a:off x="3733801" y="1600200"/>
            <a:ext cx="3353843" cy="4953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Receiver receives 0. Waits for 1. </a:t>
            </a:r>
            <a:br>
              <a:rPr lang="en-US"/>
            </a:br>
            <a:endParaRPr/>
          </a:p>
        </p:txBody>
      </p:sp>
      <p:pic>
        <p:nvPicPr>
          <p:cNvPr id="194" name="Google Shape;194;p17"/>
          <p:cNvPicPr preferRelativeResize="0"/>
          <p:nvPr>
            <p:ph idx="1" type="body"/>
          </p:nvPr>
        </p:nvPicPr>
        <p:blipFill rotWithShape="1">
          <a:blip r:embed="rId3">
            <a:alphaModFix/>
          </a:blip>
          <a:srcRect b="0" l="0" r="0" t="0"/>
          <a:stretch/>
        </p:blipFill>
        <p:spPr>
          <a:xfrm>
            <a:off x="3733800" y="1600200"/>
            <a:ext cx="3399860" cy="5029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Sender got ack for 0. Hasn't got 1 from its Network layer yet.</a:t>
            </a:r>
            <a:endParaRPr/>
          </a:p>
        </p:txBody>
      </p:sp>
      <p:pic>
        <p:nvPicPr>
          <p:cNvPr id="200" name="Google Shape;200;p18"/>
          <p:cNvPicPr preferRelativeResize="0"/>
          <p:nvPr>
            <p:ph idx="1" type="body"/>
          </p:nvPr>
        </p:nvPicPr>
        <p:blipFill rotWithShape="1">
          <a:blip r:embed="rId3">
            <a:alphaModFix/>
          </a:blip>
          <a:srcRect b="0" l="0" r="0" t="0"/>
          <a:stretch/>
        </p:blipFill>
        <p:spPr>
          <a:xfrm>
            <a:off x="3886201" y="1600200"/>
            <a:ext cx="3210237" cy="5257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19"/>
          <p:cNvPicPr preferRelativeResize="0"/>
          <p:nvPr/>
        </p:nvPicPr>
        <p:blipFill rotWithShape="1">
          <a:blip r:embed="rId3">
            <a:alphaModFix/>
          </a:blip>
          <a:srcRect b="0" l="0" r="0" t="0"/>
          <a:stretch/>
        </p:blipFill>
        <p:spPr>
          <a:xfrm>
            <a:off x="1524000" y="533401"/>
            <a:ext cx="9144000" cy="5953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Sliding Window Protocols</a:t>
            </a:r>
            <a:endParaRPr/>
          </a:p>
        </p:txBody>
      </p:sp>
      <p:sp>
        <p:nvSpPr>
          <p:cNvPr id="211" name="Google Shape;211;p20"/>
          <p:cNvSpPr txBox="1"/>
          <p:nvPr>
            <p:ph idx="1" type="body"/>
          </p:nvPr>
        </p:nvSpPr>
        <p:spPr>
          <a:xfrm>
            <a:off x="2212976" y="1870076"/>
            <a:ext cx="8455025" cy="4683125"/>
          </a:xfrm>
          <a:prstGeom prst="rect">
            <a:avLst/>
          </a:prstGeom>
          <a:noFill/>
          <a:ln>
            <a:noFill/>
          </a:ln>
        </p:spPr>
        <p:txBody>
          <a:bodyPr anchorCtr="0" anchor="t" bIns="45700" lIns="91425" spcFirstLastPara="1" rIns="91425" wrap="square" tIns="45700">
            <a:normAutofit/>
          </a:bodyPr>
          <a:lstStyle/>
          <a:p>
            <a:pPr indent="-742950" lvl="0" marL="742950" rtl="0" algn="l">
              <a:lnSpc>
                <a:spcPct val="90000"/>
              </a:lnSpc>
              <a:spcBef>
                <a:spcPts val="0"/>
              </a:spcBef>
              <a:spcAft>
                <a:spcPts val="0"/>
              </a:spcAft>
              <a:buClr>
                <a:schemeClr val="dk1"/>
              </a:buClr>
              <a:buSzPts val="3600"/>
              <a:buFont typeface="Calibri"/>
              <a:buAutoNum type="arabicPeriod"/>
            </a:pPr>
            <a:r>
              <a:rPr lang="en-US" sz="3600"/>
              <a:t>A One-Bit Sliding Window Protocol</a:t>
            </a:r>
            <a:endParaRPr/>
          </a:p>
          <a:p>
            <a:pPr indent="-742950" lvl="0" marL="742950" rtl="0" algn="l">
              <a:lnSpc>
                <a:spcPct val="90000"/>
              </a:lnSpc>
              <a:spcBef>
                <a:spcPts val="1000"/>
              </a:spcBef>
              <a:spcAft>
                <a:spcPts val="0"/>
              </a:spcAft>
              <a:buClr>
                <a:schemeClr val="dk1"/>
              </a:buClr>
              <a:buSzPts val="3600"/>
              <a:buFont typeface="Calibri"/>
              <a:buAutoNum type="arabicPeriod"/>
            </a:pPr>
            <a:r>
              <a:rPr lang="en-US" sz="3600"/>
              <a:t>A Protocol Using Go Back N</a:t>
            </a:r>
            <a:endParaRPr/>
          </a:p>
          <a:p>
            <a:pPr indent="-742950" lvl="0" marL="742950" rtl="0" algn="l">
              <a:lnSpc>
                <a:spcPct val="90000"/>
              </a:lnSpc>
              <a:spcBef>
                <a:spcPts val="1000"/>
              </a:spcBef>
              <a:spcAft>
                <a:spcPts val="0"/>
              </a:spcAft>
              <a:buClr>
                <a:schemeClr val="dk1"/>
              </a:buClr>
              <a:buSzPts val="3600"/>
              <a:buFont typeface="Calibri"/>
              <a:buAutoNum type="arabicPeriod"/>
            </a:pPr>
            <a:r>
              <a:rPr lang="en-US" sz="3600"/>
              <a:t>A Protocol Using Selective Repeat</a:t>
            </a:r>
            <a:endParaRPr/>
          </a:p>
          <a:p>
            <a:pPr indent="-514350" lvl="0" marL="742950" rtl="0" algn="l">
              <a:lnSpc>
                <a:spcPct val="90000"/>
              </a:lnSpc>
              <a:spcBef>
                <a:spcPts val="1000"/>
              </a:spcBef>
              <a:spcAft>
                <a:spcPts val="0"/>
              </a:spcAft>
              <a:buClr>
                <a:schemeClr val="dk1"/>
              </a:buClr>
              <a:buSzPts val="3600"/>
              <a:buFont typeface="Calibri"/>
              <a:buNone/>
            </a:pPr>
            <a:r>
              <a:t/>
            </a:r>
            <a:endParaRPr sz="3600"/>
          </a:p>
          <a:p>
            <a:pPr indent="-228600" lvl="0" marL="228600" rtl="0" algn="just">
              <a:lnSpc>
                <a:spcPct val="90000"/>
              </a:lnSpc>
              <a:spcBef>
                <a:spcPts val="1000"/>
              </a:spcBef>
              <a:spcAft>
                <a:spcPts val="0"/>
              </a:spcAft>
              <a:buClr>
                <a:schemeClr val="dk1"/>
              </a:buClr>
              <a:buSzPts val="2800"/>
              <a:buFont typeface="Calibri"/>
              <a:buChar char="•"/>
            </a:pPr>
            <a:r>
              <a:rPr lang="en-US"/>
              <a:t>Three protocols differ among themselves in terms of efficiency, complexity, and buffer requirements </a:t>
            </a:r>
            <a:endParaRPr/>
          </a:p>
        </p:txBody>
      </p:sp>
      <p:sp>
        <p:nvSpPr>
          <p:cNvPr id="212" name="Google Shape;21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1"/>
          <p:cNvSpPr txBox="1"/>
          <p:nvPr>
            <p:ph type="title"/>
          </p:nvPr>
        </p:nvSpPr>
        <p:spPr>
          <a:xfrm>
            <a:off x="1524000" y="1"/>
            <a:ext cx="9144000" cy="64346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A One-Bit Sliding Window Protocol</a:t>
            </a:r>
            <a:endParaRPr/>
          </a:p>
        </p:txBody>
      </p:sp>
      <p:sp>
        <p:nvSpPr>
          <p:cNvPr id="218" name="Google Shape;218;p21"/>
          <p:cNvSpPr txBox="1"/>
          <p:nvPr/>
        </p:nvSpPr>
        <p:spPr>
          <a:xfrm>
            <a:off x="1524001" y="978794"/>
            <a:ext cx="9144000" cy="4925303"/>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accent2"/>
              </a:buClr>
              <a:buSzPts val="2400"/>
              <a:buFont typeface="Arial"/>
              <a:buChar char="•"/>
            </a:pPr>
            <a:r>
              <a:rPr b="0" i="0" lang="en-US" sz="2400" u="none" cap="none" strike="noStrike">
                <a:solidFill>
                  <a:schemeClr val="dk1"/>
                </a:solidFill>
                <a:latin typeface="Calibri"/>
                <a:ea typeface="Calibri"/>
                <a:cs typeface="Calibri"/>
                <a:sym typeface="Calibri"/>
              </a:rPr>
              <a:t>A sliding window protocol with a maximum window size of 1. </a:t>
            </a:r>
            <a:endParaRPr/>
          </a:p>
          <a:p>
            <a:pPr indent="-342900" lvl="0" marL="342900" marR="0" rtl="0" algn="just">
              <a:spcBef>
                <a:spcPts val="480"/>
              </a:spcBef>
              <a:spcAft>
                <a:spcPts val="0"/>
              </a:spcAft>
              <a:buClr>
                <a:schemeClr val="accent2"/>
              </a:buClr>
              <a:buSzPts val="2400"/>
              <a:buFont typeface="Arial"/>
              <a:buChar char="•"/>
            </a:pPr>
            <a:r>
              <a:rPr b="0" i="0" lang="en-US" sz="2400" u="none" cap="none" strike="noStrike">
                <a:solidFill>
                  <a:schemeClr val="dk1"/>
                </a:solidFill>
                <a:latin typeface="Calibri"/>
                <a:ea typeface="Calibri"/>
                <a:cs typeface="Calibri"/>
                <a:sym typeface="Calibri"/>
              </a:rPr>
              <a:t>Such a protocol uses stop-and-wait since the sender transmits a frame and waits for its acknowledgement before sending the next one  </a:t>
            </a:r>
            <a:endParaRPr/>
          </a:p>
          <a:p>
            <a:pPr indent="-342900" lvl="0" marL="342900" marR="0" rtl="0" algn="just">
              <a:spcBef>
                <a:spcPts val="480"/>
              </a:spcBef>
              <a:spcAft>
                <a:spcPts val="0"/>
              </a:spcAft>
              <a:buClr>
                <a:schemeClr val="accent2"/>
              </a:buClr>
              <a:buSzPts val="2400"/>
              <a:buFont typeface="Arial"/>
              <a:buChar char="•"/>
            </a:pPr>
            <a:r>
              <a:rPr b="0" i="0" lang="en-US" sz="2400" u="none" cap="none" strike="noStrike">
                <a:solidFill>
                  <a:schemeClr val="dk1"/>
                </a:solidFill>
                <a:latin typeface="Calibri"/>
                <a:ea typeface="Calibri"/>
                <a:cs typeface="Calibri"/>
                <a:sym typeface="Calibri"/>
              </a:rPr>
              <a:t>starting machine fetches the first packet from its network layer, builds a frame from it, and sends it. </a:t>
            </a:r>
            <a:endParaRPr/>
          </a:p>
          <a:p>
            <a:pPr indent="-342900" lvl="0" marL="342900" marR="0" rtl="0" algn="just">
              <a:spcBef>
                <a:spcPts val="480"/>
              </a:spcBef>
              <a:spcAft>
                <a:spcPts val="0"/>
              </a:spcAft>
              <a:buClr>
                <a:schemeClr val="accent2"/>
              </a:buClr>
              <a:buSzPts val="2400"/>
              <a:buFont typeface="Arial"/>
              <a:buChar char="•"/>
            </a:pPr>
            <a:r>
              <a:rPr b="0" i="0" lang="en-US" sz="2400" u="none" cap="none" strike="noStrike">
                <a:solidFill>
                  <a:schemeClr val="dk1"/>
                </a:solidFill>
                <a:latin typeface="Calibri"/>
                <a:ea typeface="Calibri"/>
                <a:cs typeface="Calibri"/>
                <a:sym typeface="Calibri"/>
              </a:rPr>
              <a:t>When this frame arrives, the receiving data link layer checks to see if it is a duplicate </a:t>
            </a:r>
            <a:endParaRPr/>
          </a:p>
          <a:p>
            <a:pPr indent="-342900" lvl="0" marL="342900" marR="0" rtl="0" algn="just">
              <a:spcBef>
                <a:spcPts val="480"/>
              </a:spcBef>
              <a:spcAft>
                <a:spcPts val="0"/>
              </a:spcAft>
              <a:buClr>
                <a:schemeClr val="accent2"/>
              </a:buClr>
              <a:buSzPts val="2400"/>
              <a:buFont typeface="Arial"/>
              <a:buChar char="•"/>
            </a:pPr>
            <a:r>
              <a:rPr b="0" i="0" lang="en-US" sz="2400" u="none" cap="none" strike="noStrike">
                <a:solidFill>
                  <a:schemeClr val="dk1"/>
                </a:solidFill>
                <a:latin typeface="Calibri"/>
                <a:ea typeface="Calibri"/>
                <a:cs typeface="Calibri"/>
                <a:sym typeface="Calibri"/>
              </a:rPr>
              <a:t>If the frame is the one expected, it is passed to the network layer and the receiver's window is slid up </a:t>
            </a:r>
            <a:endParaRPr/>
          </a:p>
        </p:txBody>
      </p:sp>
      <p:sp>
        <p:nvSpPr>
          <p:cNvPr id="219" name="Google Shape;21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Effect filter="fade" transition="in">
                                      <p:cBhvr>
                                        <p:cTn dur="500"/>
                                        <p:tgtEl>
                                          <p:spTgt spid="2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animEffect filter="fade" transition="in">
                                      <p:cBhvr>
                                        <p:cTn dur="500"/>
                                        <p:tgtEl>
                                          <p:spTgt spid="2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2" st="2"/>
                                            </p:txEl>
                                          </p:spTgt>
                                        </p:tgtEl>
                                        <p:attrNameLst>
                                          <p:attrName>style.visibility</p:attrName>
                                        </p:attrNameLst>
                                      </p:cBhvr>
                                      <p:to>
                                        <p:strVal val="visible"/>
                                      </p:to>
                                    </p:set>
                                    <p:animEffect filter="fade" transition="in">
                                      <p:cBhvr>
                                        <p:cTn dur="500"/>
                                        <p:tgtEl>
                                          <p:spTgt spid="2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3" st="3"/>
                                            </p:txEl>
                                          </p:spTgt>
                                        </p:tgtEl>
                                        <p:attrNameLst>
                                          <p:attrName>style.visibility</p:attrName>
                                        </p:attrNameLst>
                                      </p:cBhvr>
                                      <p:to>
                                        <p:strVal val="visible"/>
                                      </p:to>
                                    </p:set>
                                    <p:animEffect filter="fade" transition="in">
                                      <p:cBhvr>
                                        <p:cTn dur="500"/>
                                        <p:tgtEl>
                                          <p:spTgt spid="2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4" st="4"/>
                                            </p:txEl>
                                          </p:spTgt>
                                        </p:tgtEl>
                                        <p:attrNameLst>
                                          <p:attrName>style.visibility</p:attrName>
                                        </p:attrNameLst>
                                      </p:cBhvr>
                                      <p:to>
                                        <p:strVal val="visible"/>
                                      </p:to>
                                    </p:set>
                                    <p:animEffect filter="fade" transition="in">
                                      <p:cBhvr>
                                        <p:cTn dur="500"/>
                                        <p:tgtEl>
                                          <p:spTgt spid="21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2"/>
          <p:cNvSpPr txBox="1"/>
          <p:nvPr>
            <p:ph type="title"/>
          </p:nvPr>
        </p:nvSpPr>
        <p:spPr>
          <a:xfrm>
            <a:off x="1524000" y="1"/>
            <a:ext cx="9144000" cy="64346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A One-Bit Sliding Window Protocol</a:t>
            </a:r>
            <a:endParaRPr/>
          </a:p>
        </p:txBody>
      </p:sp>
      <p:sp>
        <p:nvSpPr>
          <p:cNvPr id="225" name="Google Shape;225;p22"/>
          <p:cNvSpPr txBox="1"/>
          <p:nvPr/>
        </p:nvSpPr>
        <p:spPr>
          <a:xfrm>
            <a:off x="1524001" y="901521"/>
            <a:ext cx="9144000" cy="4868213"/>
          </a:xfrm>
          <a:prstGeom prst="rect">
            <a:avLst/>
          </a:prstGeom>
          <a:noFill/>
          <a:ln>
            <a:noFill/>
          </a:ln>
        </p:spPr>
        <p:txBody>
          <a:bodyPr anchorCtr="0" anchor="t" bIns="45700" lIns="91425" spcFirstLastPara="1" rIns="91425" wrap="square" tIns="45700">
            <a:noAutofit/>
          </a:bodyPr>
          <a:lstStyle/>
          <a:p>
            <a:pPr indent="-609600" lvl="0" marL="609600" marR="0" rtl="0" algn="just">
              <a:lnSpc>
                <a:spcPct val="150000"/>
              </a:lnSpc>
              <a:spcBef>
                <a:spcPts val="0"/>
              </a:spcBef>
              <a:spcAft>
                <a:spcPts val="0"/>
              </a:spcAft>
              <a:buClr>
                <a:schemeClr val="accent2"/>
              </a:buClr>
              <a:buSzPts val="2400"/>
              <a:buFont typeface="Arial"/>
              <a:buChar char="•"/>
            </a:pPr>
            <a:r>
              <a:rPr b="0" i="0" lang="en-US" sz="2400" u="none" cap="none" strike="noStrike">
                <a:solidFill>
                  <a:schemeClr val="dk1"/>
                </a:solidFill>
                <a:latin typeface="Calibri"/>
                <a:ea typeface="Calibri"/>
                <a:cs typeface="Calibri"/>
                <a:sym typeface="Calibri"/>
              </a:rPr>
              <a:t>The acknowledgement field contains the </a:t>
            </a:r>
            <a:r>
              <a:rPr b="0" i="0" lang="en-US" sz="2400" u="none" cap="none" strike="noStrike">
                <a:solidFill>
                  <a:srgbClr val="FF0000"/>
                </a:solidFill>
                <a:latin typeface="Calibri"/>
                <a:ea typeface="Calibri"/>
                <a:cs typeface="Calibri"/>
                <a:sym typeface="Calibri"/>
              </a:rPr>
              <a:t>number of the last frame received without error.</a:t>
            </a:r>
            <a:endParaRPr/>
          </a:p>
          <a:p>
            <a:pPr indent="-609600" lvl="0" marL="609600" marR="0" rtl="0" algn="just">
              <a:lnSpc>
                <a:spcPct val="150000"/>
              </a:lnSpc>
              <a:spcBef>
                <a:spcPts val="480"/>
              </a:spcBef>
              <a:spcAft>
                <a:spcPts val="0"/>
              </a:spcAft>
              <a:buClr>
                <a:schemeClr val="accent2"/>
              </a:buClr>
              <a:buSzPts val="2400"/>
              <a:buFont typeface="Arial"/>
              <a:buChar char="•"/>
            </a:pPr>
            <a:r>
              <a:rPr b="0" i="0" lang="en-US" sz="2400" u="none" cap="none" strike="noStrike">
                <a:solidFill>
                  <a:schemeClr val="dk1"/>
                </a:solidFill>
                <a:latin typeface="Calibri"/>
                <a:ea typeface="Calibri"/>
                <a:cs typeface="Calibri"/>
                <a:sym typeface="Calibri"/>
              </a:rPr>
              <a:t>If this number agrees with the sequence number of the frame the sender is trying to send, the sender knows it is done with the frame stored in buffer and can fetch the next packet from its network layer. </a:t>
            </a:r>
            <a:endParaRPr/>
          </a:p>
          <a:p>
            <a:pPr indent="-609600" lvl="0" marL="609600" marR="0" rtl="0" algn="just">
              <a:lnSpc>
                <a:spcPct val="150000"/>
              </a:lnSpc>
              <a:spcBef>
                <a:spcPts val="480"/>
              </a:spcBef>
              <a:spcAft>
                <a:spcPts val="0"/>
              </a:spcAft>
              <a:buClr>
                <a:schemeClr val="accent2"/>
              </a:buClr>
              <a:buSzPts val="2400"/>
              <a:buFont typeface="Arial"/>
              <a:buChar char="•"/>
            </a:pPr>
            <a:r>
              <a:rPr b="0" i="0" lang="en-US" sz="2400" u="none" cap="none" strike="noStrike">
                <a:solidFill>
                  <a:schemeClr val="dk1"/>
                </a:solidFill>
                <a:latin typeface="Calibri"/>
                <a:ea typeface="Calibri"/>
                <a:cs typeface="Calibri"/>
                <a:sym typeface="Calibri"/>
              </a:rPr>
              <a:t>If the sequence number disagrees, it must continue trying to send the same frame. </a:t>
            </a:r>
            <a:endParaRPr/>
          </a:p>
        </p:txBody>
      </p:sp>
      <p:sp>
        <p:nvSpPr>
          <p:cNvPr id="226" name="Google Shape;2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Effect filter="fade" transition="in">
                                      <p:cBhvr>
                                        <p:cTn dur="500"/>
                                        <p:tgtEl>
                                          <p:spTgt spid="2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animEffect filter="fade" transition="in">
                                      <p:cBhvr>
                                        <p:cTn dur="500"/>
                                        <p:tgtEl>
                                          <p:spTgt spid="2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animEffect filter="fade" transition="in">
                                      <p:cBhvr>
                                        <p:cTn dur="500"/>
                                        <p:tgtEl>
                                          <p:spTgt spid="22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3"/>
          <p:cNvSpPr txBox="1"/>
          <p:nvPr>
            <p:ph type="title"/>
          </p:nvPr>
        </p:nvSpPr>
        <p:spPr>
          <a:xfrm>
            <a:off x="1524000" y="1"/>
            <a:ext cx="9144000" cy="7789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A One-Bit Sliding Window Protocol</a:t>
            </a:r>
            <a:endParaRPr/>
          </a:p>
        </p:txBody>
      </p:sp>
      <p:sp>
        <p:nvSpPr>
          <p:cNvPr id="232" name="Google Shape;232;p23"/>
          <p:cNvSpPr txBox="1"/>
          <p:nvPr>
            <p:ph idx="1" type="body"/>
          </p:nvPr>
        </p:nvSpPr>
        <p:spPr>
          <a:xfrm>
            <a:off x="1648180" y="5267459"/>
            <a:ext cx="8867775" cy="1562320"/>
          </a:xfrm>
          <a:prstGeom prst="rect">
            <a:avLst/>
          </a:prstGeom>
          <a:noFill/>
          <a:ln>
            <a:noFill/>
          </a:ln>
        </p:spPr>
        <p:txBody>
          <a:bodyPr anchorCtr="0" anchor="t" bIns="45700" lIns="91425" spcFirstLastPara="1" rIns="91425" wrap="square" tIns="45700">
            <a:normAutofit fontScale="92500"/>
          </a:bodyPr>
          <a:lstStyle/>
          <a:p>
            <a:pPr indent="-228600" lvl="0" marL="228600" rtl="0" algn="ctr">
              <a:lnSpc>
                <a:spcPct val="90000"/>
              </a:lnSpc>
              <a:spcBef>
                <a:spcPts val="0"/>
              </a:spcBef>
              <a:spcAft>
                <a:spcPts val="0"/>
              </a:spcAft>
              <a:buClr>
                <a:schemeClr val="dk1"/>
              </a:buClr>
              <a:buSzPct val="100000"/>
              <a:buFont typeface="Calibri"/>
              <a:buNone/>
            </a:pPr>
            <a:r>
              <a:rPr lang="en-US"/>
              <a:t>Scenario </a:t>
            </a:r>
            <a:r>
              <a:rPr lang="en-US">
                <a:solidFill>
                  <a:schemeClr val="accent2"/>
                </a:solidFill>
              </a:rPr>
              <a:t>(a)</a:t>
            </a:r>
            <a:r>
              <a:rPr lang="en-US"/>
              <a:t> Normal case. </a:t>
            </a:r>
            <a:endParaRPr/>
          </a:p>
          <a:p>
            <a:pPr indent="-228600" lvl="0" marL="228600" rtl="0" algn="ctr">
              <a:lnSpc>
                <a:spcPct val="90000"/>
              </a:lnSpc>
              <a:spcBef>
                <a:spcPts val="1000"/>
              </a:spcBef>
              <a:spcAft>
                <a:spcPts val="0"/>
              </a:spcAft>
              <a:buClr>
                <a:schemeClr val="accent2"/>
              </a:buClr>
              <a:buSzPct val="100000"/>
              <a:buFont typeface="Calibri"/>
              <a:buNone/>
            </a:pPr>
            <a:r>
              <a:rPr lang="en-US">
                <a:solidFill>
                  <a:schemeClr val="accent2"/>
                </a:solidFill>
              </a:rPr>
              <a:t>The notation is (seq, ack, packet number).  </a:t>
            </a:r>
            <a:endParaRPr/>
          </a:p>
          <a:p>
            <a:pPr indent="-228600" lvl="0" marL="228600" rtl="0" algn="ctr">
              <a:lnSpc>
                <a:spcPct val="90000"/>
              </a:lnSpc>
              <a:spcBef>
                <a:spcPts val="1000"/>
              </a:spcBef>
              <a:spcAft>
                <a:spcPts val="0"/>
              </a:spcAft>
              <a:buClr>
                <a:schemeClr val="dk1"/>
              </a:buClr>
              <a:buSzPct val="100000"/>
              <a:buFont typeface="Calibri"/>
              <a:buNone/>
            </a:pPr>
            <a:r>
              <a:rPr lang="en-US"/>
              <a:t>An asterisk indicates where a network layer accepts a packet.</a:t>
            </a:r>
            <a:endParaRPr/>
          </a:p>
        </p:txBody>
      </p:sp>
      <p:pic>
        <p:nvPicPr>
          <p:cNvPr descr="3-15" id="233" name="Google Shape;233;p23"/>
          <p:cNvPicPr preferRelativeResize="0"/>
          <p:nvPr/>
        </p:nvPicPr>
        <p:blipFill rotWithShape="1">
          <a:blip r:embed="rId3">
            <a:alphaModFix/>
          </a:blip>
          <a:srcRect b="410" l="0" r="47457" t="0"/>
          <a:stretch/>
        </p:blipFill>
        <p:spPr>
          <a:xfrm>
            <a:off x="1682045" y="790222"/>
            <a:ext cx="8816623" cy="4820356"/>
          </a:xfrm>
          <a:prstGeom prst="rect">
            <a:avLst/>
          </a:prstGeom>
          <a:noFill/>
          <a:ln>
            <a:noFill/>
          </a:ln>
        </p:spPr>
      </p:pic>
      <p:sp>
        <p:nvSpPr>
          <p:cNvPr id="234" name="Google Shape;23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4"/>
          <p:cNvSpPr txBox="1"/>
          <p:nvPr>
            <p:ph type="title"/>
          </p:nvPr>
        </p:nvSpPr>
        <p:spPr>
          <a:xfrm>
            <a:off x="1524000" y="0"/>
            <a:ext cx="9144000" cy="688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A One-Bit Sliding Window Protocol</a:t>
            </a:r>
            <a:endParaRPr/>
          </a:p>
        </p:txBody>
      </p:sp>
      <p:pic>
        <p:nvPicPr>
          <p:cNvPr descr="3-15" id="240" name="Google Shape;240;p24"/>
          <p:cNvPicPr preferRelativeResize="0"/>
          <p:nvPr/>
        </p:nvPicPr>
        <p:blipFill rotWithShape="1">
          <a:blip r:embed="rId3">
            <a:alphaModFix/>
          </a:blip>
          <a:srcRect b="0" l="47205" r="0" t="0"/>
          <a:stretch/>
        </p:blipFill>
        <p:spPr>
          <a:xfrm>
            <a:off x="1693333" y="759352"/>
            <a:ext cx="8839200" cy="4659315"/>
          </a:xfrm>
          <a:prstGeom prst="rect">
            <a:avLst/>
          </a:prstGeom>
          <a:noFill/>
          <a:ln>
            <a:noFill/>
          </a:ln>
        </p:spPr>
      </p:pic>
      <p:sp>
        <p:nvSpPr>
          <p:cNvPr id="241" name="Google Shape;241;p24"/>
          <p:cNvSpPr txBox="1"/>
          <p:nvPr/>
        </p:nvSpPr>
        <p:spPr>
          <a:xfrm>
            <a:off x="1648180" y="5552901"/>
            <a:ext cx="8867775" cy="1276878"/>
          </a:xfrm>
          <a:prstGeom prst="rect">
            <a:avLst/>
          </a:prstGeom>
          <a:noFill/>
          <a:ln>
            <a:noFill/>
          </a:ln>
        </p:spPr>
        <p:txBody>
          <a:bodyPr anchorCtr="0" anchor="t" bIns="45700" lIns="91425" spcFirstLastPara="1" rIns="91425" wrap="square" tIns="45700">
            <a:noAutofit/>
          </a:bodyPr>
          <a:lstStyle/>
          <a:p>
            <a:pPr indent="-609600" lvl="0" marL="609600" marR="0" rtl="0" algn="l">
              <a:spcBef>
                <a:spcPts val="0"/>
              </a:spcBef>
              <a:spcAft>
                <a:spcPts val="0"/>
              </a:spcAft>
              <a:buNone/>
            </a:pPr>
            <a:r>
              <a:rPr b="0" i="0" lang="en-US" sz="2400" u="none" cap="none" strike="noStrike">
                <a:solidFill>
                  <a:schemeClr val="dk1"/>
                </a:solidFill>
                <a:latin typeface="Calibri"/>
                <a:ea typeface="Calibri"/>
                <a:cs typeface="Calibri"/>
                <a:sym typeface="Calibri"/>
              </a:rPr>
              <a:t>Scenario </a:t>
            </a:r>
            <a:r>
              <a:rPr b="0" i="0" lang="en-US" sz="2000" u="none" cap="none" strike="noStrike">
                <a:solidFill>
                  <a:schemeClr val="accent2"/>
                </a:solidFill>
                <a:latin typeface="Calibri"/>
                <a:ea typeface="Calibri"/>
                <a:cs typeface="Calibri"/>
                <a:sym typeface="Calibri"/>
              </a:rPr>
              <a:t>(b)</a:t>
            </a:r>
            <a:r>
              <a:rPr b="0" i="0" lang="en-US" sz="2000" u="none" cap="none" strike="noStrike">
                <a:solidFill>
                  <a:schemeClr val="dk1"/>
                </a:solidFill>
                <a:latin typeface="Calibri"/>
                <a:ea typeface="Calibri"/>
                <a:cs typeface="Calibri"/>
                <a:sym typeface="Calibri"/>
              </a:rPr>
              <a:t> Abnormal case </a:t>
            </a:r>
            <a:r>
              <a:rPr b="0" i="0" lang="en-US" sz="2400" u="none" cap="none" strike="noStrike">
                <a:solidFill>
                  <a:schemeClr val="dk1"/>
                </a:solidFill>
                <a:latin typeface="Calibri"/>
                <a:ea typeface="Calibri"/>
                <a:cs typeface="Calibri"/>
                <a:sym typeface="Calibri"/>
              </a:rPr>
              <a:t>. </a:t>
            </a:r>
            <a:endParaRPr/>
          </a:p>
          <a:p>
            <a:pPr indent="-609600" lvl="0" marL="609600" marR="0" rtl="0" algn="ctr">
              <a:spcBef>
                <a:spcPts val="480"/>
              </a:spcBef>
              <a:spcAft>
                <a:spcPts val="0"/>
              </a:spcAft>
              <a:buNone/>
            </a:pPr>
            <a:r>
              <a:rPr b="0" i="0" lang="en-US" sz="2400" u="none" cap="none" strike="noStrike">
                <a:solidFill>
                  <a:schemeClr val="dk1"/>
                </a:solidFill>
                <a:latin typeface="Calibri"/>
                <a:ea typeface="Calibri"/>
                <a:cs typeface="Calibri"/>
                <a:sym typeface="Calibri"/>
              </a:rPr>
              <a:t>The notation is (seq, ack, packet number).  </a:t>
            </a:r>
            <a:endParaRPr/>
          </a:p>
          <a:p>
            <a:pPr indent="-609600" lvl="0" marL="609600" marR="0" rtl="0" algn="ctr">
              <a:spcBef>
                <a:spcPts val="480"/>
              </a:spcBef>
              <a:spcAft>
                <a:spcPts val="0"/>
              </a:spcAft>
              <a:buNone/>
            </a:pPr>
            <a:r>
              <a:rPr b="0" i="0" lang="en-US" sz="2400" u="none" cap="none" strike="noStrike">
                <a:solidFill>
                  <a:schemeClr val="dk1"/>
                </a:solidFill>
                <a:latin typeface="Calibri"/>
                <a:ea typeface="Calibri"/>
                <a:cs typeface="Calibri"/>
                <a:sym typeface="Calibri"/>
              </a:rPr>
              <a:t>An asterisk indicates where a network layer accepts a packet.</a:t>
            </a:r>
            <a:endParaRPr/>
          </a:p>
        </p:txBody>
      </p:sp>
      <p:sp>
        <p:nvSpPr>
          <p:cNvPr id="242" name="Google Shape;24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txBox="1"/>
          <p:nvPr/>
        </p:nvSpPr>
        <p:spPr>
          <a:xfrm>
            <a:off x="1524001" y="809470"/>
            <a:ext cx="9144000" cy="5861154"/>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Until now we have made the assumption that the transmission time required for a frame to arrive at the receiver plus the transmission time for the acknowledgement to come back is negligible.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Sometimes this assumption is clearly false. </a:t>
            </a:r>
            <a:endParaRPr b="0" i="0" sz="2400" u="none" cap="none" strike="noStrike">
              <a:solidFill>
                <a:schemeClr val="dk1"/>
              </a:solidFill>
              <a:latin typeface="Calibri"/>
              <a:ea typeface="Calibri"/>
              <a:cs typeface="Calibri"/>
              <a:sym typeface="Calibri"/>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 this case we cant have stop and wait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Another problem is that most of the bandwidth of the channel is wasted</a:t>
            </a:r>
            <a:endParaRPr b="0" i="0" sz="2400" u="none" cap="none" strike="noStrike">
              <a:solidFill>
                <a:schemeClr val="dk1"/>
              </a:solidFill>
              <a:latin typeface="Calibri"/>
              <a:ea typeface="Calibri"/>
              <a:cs typeface="Calibri"/>
              <a:sym typeface="Calibri"/>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above problem can be solved by a  technique  known as </a:t>
            </a:r>
            <a:r>
              <a:rPr b="1" i="0" lang="en-US" sz="2400" u="none" cap="none" strike="noStrike">
                <a:solidFill>
                  <a:srgbClr val="FF0000"/>
                </a:solidFill>
                <a:latin typeface="Calibri"/>
                <a:ea typeface="Calibri"/>
                <a:cs typeface="Calibri"/>
                <a:sym typeface="Calibri"/>
              </a:rPr>
              <a:t>pipelining</a:t>
            </a:r>
            <a:r>
              <a:rPr b="0" i="0" lang="en-US" sz="2400" u="none" cap="none" strike="noStrike">
                <a:solidFill>
                  <a:schemeClr val="dk1"/>
                </a:solidFill>
                <a:latin typeface="Calibri"/>
                <a:ea typeface="Calibri"/>
                <a:cs typeface="Calibri"/>
                <a:sym typeface="Calibri"/>
              </a:rPr>
              <a:t>.</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 this technique we  set the sender window size  so large  that the  sender is allowed to transmit multiple  frames until the  acknowledgement for the first frame comes back</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There after acknowledgement will arrive one after  another so the sender always get permission to transmit </a:t>
            </a:r>
            <a:endParaRPr b="0" i="0" sz="2400" u="none" cap="none" strike="noStrike">
              <a:solidFill>
                <a:schemeClr val="dk1"/>
              </a:solidFill>
              <a:latin typeface="Calibri"/>
              <a:ea typeface="Calibri"/>
              <a:cs typeface="Calibri"/>
              <a:sym typeface="Calibri"/>
            </a:endParaRPr>
          </a:p>
          <a:p>
            <a:pPr indent="-190500" lvl="0" marL="342900" marR="0" rtl="0" algn="just">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48" name="Google Shape;248;p25"/>
          <p:cNvSpPr txBox="1"/>
          <p:nvPr>
            <p:ph type="title"/>
          </p:nvPr>
        </p:nvSpPr>
        <p:spPr>
          <a:xfrm>
            <a:off x="1524000" y="1"/>
            <a:ext cx="9144000" cy="64346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Sliding Window Protocol Using Go Back N</a:t>
            </a:r>
            <a:endParaRPr/>
          </a:p>
        </p:txBody>
      </p:sp>
      <p:sp>
        <p:nvSpPr>
          <p:cNvPr id="249" name="Google Shape;24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26"/>
          <p:cNvPicPr preferRelativeResize="0"/>
          <p:nvPr/>
        </p:nvPicPr>
        <p:blipFill rotWithShape="1">
          <a:blip r:embed="rId3">
            <a:alphaModFix/>
          </a:blip>
          <a:srcRect b="0" l="0" r="0" t="0"/>
          <a:stretch/>
        </p:blipFill>
        <p:spPr>
          <a:xfrm>
            <a:off x="2459865" y="746975"/>
            <a:ext cx="7469745" cy="538336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nvSpPr>
        <p:spPr>
          <a:xfrm>
            <a:off x="1524001" y="809470"/>
            <a:ext cx="9144000" cy="5861154"/>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problem with pipelining is that what happens if a frame in the middle of a long stream is damaged or lost?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Large numbers of succeeding frames will arrive at the receiver before the sender even finds out that anything is wrong.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When a damaged frame arrives at the receiver, it obviously should be discarded, but what should the receiver do with all the correct frames following it?</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Two basic approaches are available for dealing with errors in the presence of pipelining.</a:t>
            </a:r>
            <a:endParaRPr/>
          </a:p>
          <a:p>
            <a:pPr indent="-742950" lvl="1" marL="1200150" marR="0" rtl="0" algn="l">
              <a:spcBef>
                <a:spcPts val="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A Protocol Using Go Back N</a:t>
            </a:r>
            <a:endParaRPr/>
          </a:p>
          <a:p>
            <a:pPr indent="-742950" lvl="1" marL="1200150" marR="0" rtl="0" algn="l">
              <a:spcBef>
                <a:spcPts val="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A Protocol Using Selective Repeat</a:t>
            </a:r>
            <a:endParaRPr/>
          </a:p>
          <a:p>
            <a:pPr indent="-590550" lvl="1" marL="1200150" marR="0" rtl="0" algn="l">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a:p>
            <a:pPr indent="-190500" lvl="1" marL="800100" marR="0" rtl="0" algn="just">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1" marL="800100" marR="0" rtl="0" algn="just">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60" name="Google Shape;260;p27"/>
          <p:cNvSpPr txBox="1"/>
          <p:nvPr>
            <p:ph type="title"/>
          </p:nvPr>
        </p:nvSpPr>
        <p:spPr>
          <a:xfrm>
            <a:off x="1524000" y="1"/>
            <a:ext cx="9144000" cy="64346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Sliding Window Protocol Using Go Back N</a:t>
            </a:r>
            <a:endParaRPr/>
          </a:p>
        </p:txBody>
      </p:sp>
      <p:sp>
        <p:nvSpPr>
          <p:cNvPr id="261" name="Google Shape;26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8"/>
          <p:cNvSpPr txBox="1"/>
          <p:nvPr/>
        </p:nvSpPr>
        <p:spPr>
          <a:xfrm>
            <a:off x="1524001" y="809470"/>
            <a:ext cx="9144000" cy="5861154"/>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rgbClr val="FF0000"/>
              </a:buClr>
              <a:buSzPts val="2400"/>
              <a:buFont typeface="Arial"/>
              <a:buChar char="•"/>
            </a:pPr>
            <a:r>
              <a:rPr b="1" i="0" lang="en-US" sz="2400" u="none" cap="none" strike="noStrike">
                <a:solidFill>
                  <a:srgbClr val="FF0000"/>
                </a:solidFill>
                <a:latin typeface="Calibri"/>
                <a:ea typeface="Calibri"/>
                <a:cs typeface="Calibri"/>
                <a:sym typeface="Calibri"/>
              </a:rPr>
              <a:t>In go back n</a:t>
            </a:r>
            <a:r>
              <a:rPr b="0" i="0" lang="en-US" sz="2400" u="none" cap="none" strike="noStrike">
                <a:solidFill>
                  <a:schemeClr val="dk1"/>
                </a:solidFill>
                <a:latin typeface="Calibri"/>
                <a:ea typeface="Calibri"/>
                <a:cs typeface="Calibri"/>
                <a:sym typeface="Calibri"/>
              </a:rPr>
              <a:t>, is for the receiver simply to discard all subsequent frames, sending no acknowledgements for the discarded frames.</a:t>
            </a:r>
            <a:endParaRPr/>
          </a:p>
          <a:p>
            <a:pPr indent="0" lvl="0" marL="0" marR="0" rtl="0" algn="just">
              <a:spcBef>
                <a:spcPts val="0"/>
              </a:spcBef>
              <a:spcAft>
                <a:spcPts val="0"/>
              </a:spcAft>
              <a:buNone/>
            </a:pPr>
            <a:r>
              <a:rPr b="0" i="0" lang="en-US" sz="24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libri"/>
              <a:ea typeface="Calibri"/>
              <a:cs typeface="Calibri"/>
              <a:sym typeface="Calibri"/>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This strategy corresponds to a receive window of size 1.</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In other words, the DLL refuses to accept any frame except the next one it must give to the network layer.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If the sender's window fills up before the timer runs out, the pipeline will begin to empty.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After time out the sender will time out and retransmit all unacknowledged frames in order, starting with the damaged or lost one.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This approach can </a:t>
            </a:r>
            <a:r>
              <a:rPr b="0" i="0" lang="en-US" sz="2400" u="none" cap="none" strike="noStrike">
                <a:solidFill>
                  <a:srgbClr val="FF0000"/>
                </a:solidFill>
                <a:latin typeface="Calibri"/>
                <a:ea typeface="Calibri"/>
                <a:cs typeface="Calibri"/>
                <a:sym typeface="Calibri"/>
              </a:rPr>
              <a:t>waste a lot of bandwidth </a:t>
            </a:r>
            <a:r>
              <a:rPr b="0" i="0" lang="en-US" sz="2400" u="none" cap="none" strike="noStrike">
                <a:solidFill>
                  <a:schemeClr val="dk1"/>
                </a:solidFill>
                <a:latin typeface="Calibri"/>
                <a:ea typeface="Calibri"/>
                <a:cs typeface="Calibri"/>
                <a:sym typeface="Calibri"/>
              </a:rPr>
              <a:t>if the error rate is high.</a:t>
            </a:r>
            <a:endParaRPr/>
          </a:p>
        </p:txBody>
      </p:sp>
      <p:sp>
        <p:nvSpPr>
          <p:cNvPr id="267" name="Google Shape;267;p28"/>
          <p:cNvSpPr txBox="1"/>
          <p:nvPr>
            <p:ph type="title"/>
          </p:nvPr>
        </p:nvSpPr>
        <p:spPr>
          <a:xfrm>
            <a:off x="1524000" y="1"/>
            <a:ext cx="9144000" cy="64346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Protocol Using Go Back N</a:t>
            </a:r>
            <a:endParaRPr/>
          </a:p>
        </p:txBody>
      </p:sp>
      <p:sp>
        <p:nvSpPr>
          <p:cNvPr id="268" name="Google Shape;26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9"/>
          <p:cNvSpPr txBox="1"/>
          <p:nvPr/>
        </p:nvSpPr>
        <p:spPr>
          <a:xfrm>
            <a:off x="1524001" y="809470"/>
            <a:ext cx="9144000" cy="5861154"/>
          </a:xfrm>
          <a:prstGeom prst="rect">
            <a:avLst/>
          </a:prstGeom>
          <a:noFill/>
          <a:ln>
            <a:noFill/>
          </a:ln>
        </p:spPr>
        <p:txBody>
          <a:bodyPr anchorCtr="0" anchor="t" bIns="45700" lIns="91425" spcFirstLastPara="1" rIns="91425" wrap="square" tIns="45700">
            <a:noAutofit/>
          </a:bodyPr>
          <a:lstStyle/>
          <a:p>
            <a:pPr indent="-190500" lvl="0" marL="342900" marR="0" rtl="0" algn="just">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4" name="Google Shape;274;p29"/>
          <p:cNvSpPr txBox="1"/>
          <p:nvPr>
            <p:ph type="title"/>
          </p:nvPr>
        </p:nvSpPr>
        <p:spPr>
          <a:xfrm>
            <a:off x="1524000" y="1"/>
            <a:ext cx="9144000" cy="64346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Protocol Using Go Back N</a:t>
            </a:r>
            <a:endParaRPr/>
          </a:p>
        </p:txBody>
      </p:sp>
      <p:sp>
        <p:nvSpPr>
          <p:cNvPr id="275" name="Google Shape;275;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6" name="Google Shape;276;p29"/>
          <p:cNvPicPr preferRelativeResize="0"/>
          <p:nvPr/>
        </p:nvPicPr>
        <p:blipFill rotWithShape="1">
          <a:blip r:embed="rId3">
            <a:alphaModFix/>
          </a:blip>
          <a:srcRect b="0" l="0" r="0" t="0"/>
          <a:stretch/>
        </p:blipFill>
        <p:spPr>
          <a:xfrm>
            <a:off x="1885950" y="1779766"/>
            <a:ext cx="8420100" cy="3324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0"/>
          <p:cNvSpPr txBox="1"/>
          <p:nvPr/>
        </p:nvSpPr>
        <p:spPr>
          <a:xfrm>
            <a:off x="1524001" y="809470"/>
            <a:ext cx="9144000" cy="5546360"/>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Other general strategy for handling errors when frames are pipelined is called </a:t>
            </a:r>
            <a:r>
              <a:rPr b="1" i="0" lang="en-US" sz="2400" u="none" cap="none" strike="noStrike">
                <a:solidFill>
                  <a:srgbClr val="FF0000"/>
                </a:solidFill>
                <a:latin typeface="Calibri"/>
                <a:ea typeface="Calibri"/>
                <a:cs typeface="Calibri"/>
                <a:sym typeface="Calibri"/>
              </a:rPr>
              <a:t>selective repeat</a:t>
            </a:r>
            <a:r>
              <a:rPr b="0" i="0" lang="en-US" sz="2400" u="none" cap="none" strike="noStrike">
                <a:solidFill>
                  <a:schemeClr val="dk1"/>
                </a:solidFill>
                <a:latin typeface="Calibri"/>
                <a:ea typeface="Calibri"/>
                <a:cs typeface="Calibri"/>
                <a:sym typeface="Calibri"/>
              </a:rPr>
              <a:t>.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When it is used, a bad frame that is received is discarded, but good frames received after it are buffered.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When the sender times out, only the oldest unacknowledged frame is retransmitted.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If that frame arrives correctly, the receiver can deliver to the network layer, in sequence, all the frames it has buffered.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Selective repeat is often combined with having the receiver send a negative acknowledgement </a:t>
            </a:r>
            <a:r>
              <a:rPr b="0" i="0" lang="en-US" sz="2400" u="none" cap="none" strike="noStrike">
                <a:solidFill>
                  <a:srgbClr val="FF0000"/>
                </a:solidFill>
                <a:latin typeface="Calibri"/>
                <a:ea typeface="Calibri"/>
                <a:cs typeface="Calibri"/>
                <a:sym typeface="Calibri"/>
              </a:rPr>
              <a:t>(NAK)</a:t>
            </a:r>
            <a:r>
              <a:rPr b="0" i="0" lang="en-US" sz="2400" u="none" cap="none" strike="noStrike">
                <a:solidFill>
                  <a:schemeClr val="dk1"/>
                </a:solidFill>
                <a:latin typeface="Calibri"/>
                <a:ea typeface="Calibri"/>
                <a:cs typeface="Calibri"/>
                <a:sym typeface="Calibri"/>
              </a:rPr>
              <a:t> when it detects an error,  for example, when it receives a checksum error or a frame out of sequence.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NAKs stimulate retransmission before the corresponding timer expires and thus improve performance</a:t>
            </a:r>
            <a:endParaRPr/>
          </a:p>
        </p:txBody>
      </p:sp>
      <p:sp>
        <p:nvSpPr>
          <p:cNvPr id="282" name="Google Shape;282;p30"/>
          <p:cNvSpPr txBox="1"/>
          <p:nvPr>
            <p:ph type="title"/>
          </p:nvPr>
        </p:nvSpPr>
        <p:spPr>
          <a:xfrm>
            <a:off x="1524000" y="1"/>
            <a:ext cx="9144000" cy="64346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sz="3200"/>
              <a:t>Sliding Window Protocol Using Selective Repeat</a:t>
            </a:r>
            <a:endParaRPr/>
          </a:p>
        </p:txBody>
      </p:sp>
      <p:sp>
        <p:nvSpPr>
          <p:cNvPr id="283" name="Google Shape;28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1"/>
          <p:cNvSpPr txBox="1"/>
          <p:nvPr>
            <p:ph idx="1" type="body"/>
          </p:nvPr>
        </p:nvSpPr>
        <p:spPr>
          <a:xfrm>
            <a:off x="1733863" y="894075"/>
            <a:ext cx="8634335" cy="1069635"/>
          </a:xfrm>
          <a:prstGeom prst="rect">
            <a:avLst/>
          </a:prstGeom>
          <a:noFill/>
          <a:ln>
            <a:noFill/>
          </a:ln>
        </p:spPr>
        <p:txBody>
          <a:bodyPr anchorCtr="0" anchor="t" bIns="45700" lIns="91425" spcFirstLastPara="1" rIns="91425" wrap="square" tIns="45700">
            <a:normAutofit/>
          </a:bodyPr>
          <a:lstStyle/>
          <a:p>
            <a:pPr indent="-228600" lvl="0" marL="228600" rtl="0" algn="ctr">
              <a:lnSpc>
                <a:spcPct val="90000"/>
              </a:lnSpc>
              <a:spcBef>
                <a:spcPts val="0"/>
              </a:spcBef>
              <a:spcAft>
                <a:spcPts val="0"/>
              </a:spcAft>
              <a:buClr>
                <a:schemeClr val="dk1"/>
              </a:buClr>
              <a:buSzPts val="2800"/>
              <a:buFont typeface="Calibri"/>
              <a:buNone/>
            </a:pPr>
            <a:r>
              <a:t/>
            </a:r>
            <a:endParaRPr/>
          </a:p>
        </p:txBody>
      </p:sp>
      <p:pic>
        <p:nvPicPr>
          <p:cNvPr descr="3-16" id="289" name="Google Shape;289;p31"/>
          <p:cNvPicPr preferRelativeResize="0"/>
          <p:nvPr/>
        </p:nvPicPr>
        <p:blipFill rotWithShape="1">
          <a:blip r:embed="rId3">
            <a:alphaModFix/>
          </a:blip>
          <a:srcRect b="4812" l="0" r="0" t="59496"/>
          <a:stretch/>
        </p:blipFill>
        <p:spPr>
          <a:xfrm>
            <a:off x="1538991" y="1768840"/>
            <a:ext cx="9109445" cy="2998033"/>
          </a:xfrm>
          <a:prstGeom prst="rect">
            <a:avLst/>
          </a:prstGeom>
          <a:noFill/>
          <a:ln>
            <a:noFill/>
          </a:ln>
        </p:spPr>
      </p:pic>
      <p:sp>
        <p:nvSpPr>
          <p:cNvPr id="290" name="Google Shape;29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1" name="Google Shape;291;p31"/>
          <p:cNvSpPr/>
          <p:nvPr/>
        </p:nvSpPr>
        <p:spPr>
          <a:xfrm rot="-3347994">
            <a:off x="4958738" y="2542338"/>
            <a:ext cx="360771" cy="256265"/>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4</a:t>
            </a:r>
            <a:endParaRPr/>
          </a:p>
        </p:txBody>
      </p:sp>
      <p:sp>
        <p:nvSpPr>
          <p:cNvPr id="292" name="Google Shape;292;p31"/>
          <p:cNvSpPr/>
          <p:nvPr/>
        </p:nvSpPr>
        <p:spPr>
          <a:xfrm rot="-3347994">
            <a:off x="5434525" y="2512790"/>
            <a:ext cx="341089" cy="302868"/>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5</a:t>
            </a:r>
            <a:endParaRPr b="0" i="0" sz="1800" u="none" cap="none" strike="noStrike">
              <a:solidFill>
                <a:schemeClr val="dk1"/>
              </a:solidFill>
              <a:latin typeface="Arial"/>
              <a:ea typeface="Arial"/>
              <a:cs typeface="Arial"/>
              <a:sym typeface="Arial"/>
            </a:endParaRPr>
          </a:p>
        </p:txBody>
      </p:sp>
      <p:sp>
        <p:nvSpPr>
          <p:cNvPr id="293" name="Google Shape;293;p31"/>
          <p:cNvSpPr/>
          <p:nvPr/>
        </p:nvSpPr>
        <p:spPr>
          <a:xfrm rot="-3347994">
            <a:off x="5961679" y="2530278"/>
            <a:ext cx="341089" cy="302868"/>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2</a:t>
            </a:r>
            <a:endParaRPr/>
          </a:p>
        </p:txBody>
      </p:sp>
      <p:sp>
        <p:nvSpPr>
          <p:cNvPr id="294" name="Google Shape;294;p31"/>
          <p:cNvSpPr txBox="1"/>
          <p:nvPr/>
        </p:nvSpPr>
        <p:spPr>
          <a:xfrm>
            <a:off x="1524000" y="1"/>
            <a:ext cx="9144000" cy="643467"/>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rgbClr val="FF0000"/>
                </a:solidFill>
                <a:latin typeface="Calibri"/>
                <a:ea typeface="Calibri"/>
                <a:cs typeface="Calibri"/>
                <a:sym typeface="Calibri"/>
              </a:rPr>
              <a:t>Sliding Window Protocol Using Selective Repeat</a:t>
            </a:r>
            <a:endParaRPr b="0" i="0" sz="3200" u="none" cap="none" strike="noStrike">
              <a:solidFill>
                <a:srgbClr val="FF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2"/>
          <p:cNvSpPr txBox="1"/>
          <p:nvPr/>
        </p:nvSpPr>
        <p:spPr>
          <a:xfrm>
            <a:off x="1524001" y="809470"/>
            <a:ext cx="9144000" cy="5546360"/>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Frames 0 and 1 are again correctly received and acknowledged and frame 2 is lost.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When frame 3 arrives at the receiver, the DLL notices that is has missed a frame</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So it sends back a NAK for 2 but buffers 3.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When frames 4 and 5 arrive, they, too, are buffered by the DLL instead of being passed to the network layer.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Eventually, the NAK 2 gets back to the sender, which immediately resends frame 2. When that arrives, the DLL now has 2, 3, 4, and 5 and can pass all of them to the network layer in the correct order.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It can also acknowledge all frames up to and including 5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If the NAK should get lost, eventually the sender will time out for frame 2 and send it, but that may be a quite a while later </a:t>
            </a:r>
            <a:endParaRPr/>
          </a:p>
        </p:txBody>
      </p:sp>
      <p:sp>
        <p:nvSpPr>
          <p:cNvPr id="300" name="Google Shape;30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1" name="Google Shape;301;p32"/>
          <p:cNvSpPr txBox="1"/>
          <p:nvPr>
            <p:ph type="title"/>
          </p:nvPr>
        </p:nvSpPr>
        <p:spPr>
          <a:xfrm>
            <a:off x="1524000" y="1"/>
            <a:ext cx="9144000" cy="64346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sz="3200"/>
              <a:t>Sliding Window Protocol Using Selective Repeat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2022-10-22T11:20:15Z</dcterms:created>
  <dc:creator>DIVYA</dc:creator>
</cp:coreProperties>
</file>