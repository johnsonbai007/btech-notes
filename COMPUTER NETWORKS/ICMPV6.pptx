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9144000" cy="51435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9" roundtripDataSignature="AMtx7mh1a+osK5C9GmwWPKFHaK+VcX+i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1"/>
          <p:cNvSpPr txBox="1"/>
          <p:nvPr>
            <p:ph type="title"/>
          </p:nvPr>
        </p:nvSpPr>
        <p:spPr>
          <a:xfrm>
            <a:off x="1492658" y="1986026"/>
            <a:ext cx="6158683" cy="7264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1"/>
          <p:cNvSpPr txBox="1"/>
          <p:nvPr>
            <p:ph idx="1" type="body"/>
          </p:nvPr>
        </p:nvSpPr>
        <p:spPr>
          <a:xfrm>
            <a:off x="428879" y="1178002"/>
            <a:ext cx="8286241" cy="240919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7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8" name="Shape 18"/>
        <p:cNvGrpSpPr/>
        <p:nvPr/>
      </p:nvGrpSpPr>
      <p:grpSpPr>
        <a:xfrm>
          <a:off x="0" y="0"/>
          <a:ext cx="0" cy="0"/>
          <a:chOff x="0" y="0"/>
          <a:chExt cx="0" cy="0"/>
        </a:xfrm>
      </p:grpSpPr>
      <p:sp>
        <p:nvSpPr>
          <p:cNvPr id="19" name="Google Shape;19;p22"/>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 name="Google Shape;20;p22"/>
          <p:cNvPicPr preferRelativeResize="0"/>
          <p:nvPr/>
        </p:nvPicPr>
        <p:blipFill rotWithShape="1">
          <a:blip r:embed="rId2">
            <a:alphaModFix/>
          </a:blip>
          <a:srcRect b="0" l="0" r="0" t="0"/>
          <a:stretch/>
        </p:blipFill>
        <p:spPr>
          <a:xfrm>
            <a:off x="497375" y="2292150"/>
            <a:ext cx="7868499" cy="1521674"/>
          </a:xfrm>
          <a:prstGeom prst="rect">
            <a:avLst/>
          </a:prstGeom>
          <a:noFill/>
          <a:ln>
            <a:noFill/>
          </a:ln>
        </p:spPr>
      </p:pic>
      <p:sp>
        <p:nvSpPr>
          <p:cNvPr id="21" name="Google Shape;21;p22"/>
          <p:cNvSpPr/>
          <p:nvPr/>
        </p:nvSpPr>
        <p:spPr>
          <a:xfrm>
            <a:off x="641525" y="600075"/>
            <a:ext cx="6417945" cy="236220"/>
          </a:xfrm>
          <a:custGeom>
            <a:rect b="b" l="l" r="r" t="t"/>
            <a:pathLst>
              <a:path extrusionOk="0" h="236219" w="6417945">
                <a:moveTo>
                  <a:pt x="6417938" y="236219"/>
                </a:moveTo>
                <a:lnTo>
                  <a:pt x="0" y="236219"/>
                </a:lnTo>
                <a:lnTo>
                  <a:pt x="0" y="0"/>
                </a:lnTo>
                <a:lnTo>
                  <a:pt x="6417938" y="0"/>
                </a:lnTo>
                <a:lnTo>
                  <a:pt x="6417938" y="236219"/>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2"/>
          <p:cNvSpPr/>
          <p:nvPr/>
        </p:nvSpPr>
        <p:spPr>
          <a:xfrm>
            <a:off x="1098715" y="1024127"/>
            <a:ext cx="7272655" cy="508000"/>
          </a:xfrm>
          <a:custGeom>
            <a:rect b="b" l="l" r="r" t="t"/>
            <a:pathLst>
              <a:path extrusionOk="0" h="508000" w="7272655">
                <a:moveTo>
                  <a:pt x="426364" y="271653"/>
                </a:moveTo>
                <a:lnTo>
                  <a:pt x="0" y="271653"/>
                </a:lnTo>
                <a:lnTo>
                  <a:pt x="0" y="507873"/>
                </a:lnTo>
                <a:lnTo>
                  <a:pt x="426364" y="507873"/>
                </a:lnTo>
                <a:lnTo>
                  <a:pt x="426364" y="271653"/>
                </a:lnTo>
                <a:close/>
              </a:path>
              <a:path extrusionOk="0" h="508000" w="7272655">
                <a:moveTo>
                  <a:pt x="7272579" y="0"/>
                </a:moveTo>
                <a:lnTo>
                  <a:pt x="0" y="0"/>
                </a:lnTo>
                <a:lnTo>
                  <a:pt x="0" y="236220"/>
                </a:lnTo>
                <a:lnTo>
                  <a:pt x="7272579" y="236220"/>
                </a:lnTo>
                <a:lnTo>
                  <a:pt x="7272579" y="0"/>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2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 name="Shape 26"/>
        <p:cNvGrpSpPr/>
        <p:nvPr/>
      </p:nvGrpSpPr>
      <p:grpSpPr>
        <a:xfrm>
          <a:off x="0" y="0"/>
          <a:ext cx="0" cy="0"/>
          <a:chOff x="0" y="0"/>
          <a:chExt cx="0" cy="0"/>
        </a:xfrm>
      </p:grpSpPr>
      <p:sp>
        <p:nvSpPr>
          <p:cNvPr id="27" name="Google Shape;27;p23"/>
          <p:cNvSpPr txBox="1"/>
          <p:nvPr>
            <p:ph type="title"/>
          </p:nvPr>
        </p:nvSpPr>
        <p:spPr>
          <a:xfrm>
            <a:off x="1492658" y="1986026"/>
            <a:ext cx="6158683" cy="7264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24"/>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25"/>
          <p:cNvSpPr txBox="1"/>
          <p:nvPr>
            <p:ph type="title"/>
          </p:nvPr>
        </p:nvSpPr>
        <p:spPr>
          <a:xfrm>
            <a:off x="1492658" y="1986026"/>
            <a:ext cx="6158683" cy="7264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3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5"/>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25"/>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2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p:nvPr/>
        </p:nvSpPr>
        <p:spPr>
          <a:xfrm>
            <a:off x="0" y="0"/>
            <a:ext cx="9144000" cy="5143500"/>
          </a:xfrm>
          <a:custGeom>
            <a:rect b="b" l="l" r="r" t="t"/>
            <a:pathLst>
              <a:path extrusionOk="0" h="5143500" w="9144000">
                <a:moveTo>
                  <a:pt x="9143999" y="5143499"/>
                </a:moveTo>
                <a:lnTo>
                  <a:pt x="0" y="5143499"/>
                </a:lnTo>
                <a:lnTo>
                  <a:pt x="0" y="0"/>
                </a:lnTo>
                <a:lnTo>
                  <a:pt x="9143999" y="0"/>
                </a:lnTo>
                <a:lnTo>
                  <a:pt x="9143999" y="5143499"/>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20"/>
          <p:cNvSpPr txBox="1"/>
          <p:nvPr>
            <p:ph type="title"/>
          </p:nvPr>
        </p:nvSpPr>
        <p:spPr>
          <a:xfrm>
            <a:off x="1492658" y="1986026"/>
            <a:ext cx="6158683" cy="7264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3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0"/>
          <p:cNvSpPr txBox="1"/>
          <p:nvPr>
            <p:ph idx="1" type="body"/>
          </p:nvPr>
        </p:nvSpPr>
        <p:spPr>
          <a:xfrm>
            <a:off x="428879" y="1178002"/>
            <a:ext cx="8286241" cy="240919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7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2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2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b="0" u="non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cloudflare.com/learning/network-layer/what-is-the-network-layer/" TargetMode="External"/><Relationship Id="rId4" Type="http://schemas.openxmlformats.org/officeDocument/2006/relationships/hyperlink" Target="https://www.cloudflare.com/learning/network-layer/what-is-a-protocol/" TargetMode="External"/><Relationship Id="rId5" Type="http://schemas.openxmlformats.org/officeDocument/2006/relationships/hyperlink" Target="https://en.wikipedia.org/wiki/Internet_Control_Message_Protocol" TargetMode="External"/><Relationship Id="rId6" Type="http://schemas.openxmlformats.org/officeDocument/2006/relationships/hyperlink" Target="https://en.wikipedia.org/wiki/Internet_Protocol_version_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cloudflare.com/learning/network-layer/what-is-rout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
          <p:cNvSpPr txBox="1"/>
          <p:nvPr>
            <p:ph type="title"/>
          </p:nvPr>
        </p:nvSpPr>
        <p:spPr>
          <a:xfrm>
            <a:off x="1492658" y="1986026"/>
            <a:ext cx="6158683" cy="726439"/>
          </a:xfrm>
          <a:prstGeom prst="rect">
            <a:avLst/>
          </a:prstGeom>
          <a:noFill/>
          <a:ln>
            <a:noFill/>
          </a:ln>
        </p:spPr>
        <p:txBody>
          <a:bodyPr anchorCtr="0" anchor="t" bIns="0" lIns="0" spcFirstLastPara="1" rIns="0" wrap="square" tIns="12700">
            <a:spAutoFit/>
          </a:bodyPr>
          <a:lstStyle/>
          <a:p>
            <a:pPr indent="-2442210" lvl="0" marL="2454275" marR="5080" rtl="0" algn="l">
              <a:lnSpc>
                <a:spcPct val="100000"/>
              </a:lnSpc>
              <a:spcBef>
                <a:spcPts val="0"/>
              </a:spcBef>
              <a:spcAft>
                <a:spcPts val="0"/>
              </a:spcAft>
              <a:buNone/>
            </a:pPr>
            <a:r>
              <a:rPr lang="en-US"/>
              <a:t>Internet Control Message Protocol version 6  (ICMPv6)</a:t>
            </a:r>
            <a:endParaRPr/>
          </a:p>
        </p:txBody>
      </p:sp>
      <p:sp>
        <p:nvSpPr>
          <p:cNvPr id="49" name="Google Shape;49;p1"/>
          <p:cNvSpPr txBox="1"/>
          <p:nvPr>
            <p:ph idx="1" type="body"/>
          </p:nvPr>
        </p:nvSpPr>
        <p:spPr>
          <a:xfrm>
            <a:off x="496254" y="3379152"/>
            <a:ext cx="8286300" cy="15915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Arial"/>
              <a:buNone/>
            </a:pPr>
            <a:r>
              <a:rPr lang="en-US" sz="2400">
                <a:latin typeface="Calibri"/>
                <a:ea typeface="Calibri"/>
                <a:cs typeface="Calibri"/>
                <a:sym typeface="Calibri"/>
              </a:rPr>
              <a:t>Prepared by</a:t>
            </a:r>
            <a:endParaRPr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lang="en-US" sz="2400">
                <a:latin typeface="Calibri"/>
                <a:ea typeface="Calibri"/>
                <a:cs typeface="Calibri"/>
                <a:sym typeface="Calibri"/>
              </a:rPr>
              <a:t>Divya K S</a:t>
            </a:r>
            <a:endParaRPr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lang="en-US" sz="2400">
                <a:latin typeface="Calibri"/>
                <a:ea typeface="Calibri"/>
                <a:cs typeface="Calibri"/>
                <a:sym typeface="Calibri"/>
              </a:rPr>
              <a:t>Adi Shankara Institute of Engineering &amp; Technology </a:t>
            </a:r>
            <a:endParaRPr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lang="en-US" sz="2400">
                <a:latin typeface="Calibri"/>
                <a:ea typeface="Calibri"/>
                <a:cs typeface="Calibri"/>
                <a:sym typeface="Calibri"/>
              </a:rPr>
              <a:t>Kalady</a:t>
            </a:r>
            <a:endParaRPr sz="24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384725" y="507077"/>
            <a:ext cx="6317615" cy="35496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2150">
                <a:solidFill>
                  <a:srgbClr val="222222"/>
                </a:solidFill>
                <a:latin typeface="Roboto"/>
                <a:ea typeface="Roboto"/>
                <a:cs typeface="Roboto"/>
                <a:sym typeface="Roboto"/>
              </a:rPr>
              <a:t>What is Internet Control Message Protocol (ICMP)?</a:t>
            </a:r>
            <a:endParaRPr sz="2150">
              <a:latin typeface="Roboto"/>
              <a:ea typeface="Roboto"/>
              <a:cs typeface="Roboto"/>
              <a:sym typeface="Roboto"/>
            </a:endParaRPr>
          </a:p>
        </p:txBody>
      </p:sp>
      <p:sp>
        <p:nvSpPr>
          <p:cNvPr id="55" name="Google Shape;55;p2"/>
          <p:cNvSpPr/>
          <p:nvPr/>
        </p:nvSpPr>
        <p:spPr>
          <a:xfrm>
            <a:off x="503313" y="2359875"/>
            <a:ext cx="8084820" cy="1085215"/>
          </a:xfrm>
          <a:custGeom>
            <a:rect b="b" l="l" r="r" t="t"/>
            <a:pathLst>
              <a:path extrusionOk="0" h="1085214" w="8084820">
                <a:moveTo>
                  <a:pt x="3682263" y="280416"/>
                </a:moveTo>
                <a:lnTo>
                  <a:pt x="351307" y="280416"/>
                </a:lnTo>
                <a:lnTo>
                  <a:pt x="351307" y="524256"/>
                </a:lnTo>
                <a:lnTo>
                  <a:pt x="3682263" y="524256"/>
                </a:lnTo>
                <a:lnTo>
                  <a:pt x="3682263" y="280416"/>
                </a:lnTo>
                <a:close/>
              </a:path>
              <a:path extrusionOk="0" h="1085214" w="8084820">
                <a:moveTo>
                  <a:pt x="7509586" y="841248"/>
                </a:moveTo>
                <a:lnTo>
                  <a:pt x="351307" y="841248"/>
                </a:lnTo>
                <a:lnTo>
                  <a:pt x="351307" y="1085088"/>
                </a:lnTo>
                <a:lnTo>
                  <a:pt x="7509586" y="1085088"/>
                </a:lnTo>
                <a:lnTo>
                  <a:pt x="7509586" y="841248"/>
                </a:lnTo>
                <a:close/>
              </a:path>
              <a:path extrusionOk="0" h="1085214" w="8084820">
                <a:moveTo>
                  <a:pt x="7859636" y="0"/>
                </a:moveTo>
                <a:lnTo>
                  <a:pt x="0" y="0"/>
                </a:lnTo>
                <a:lnTo>
                  <a:pt x="0" y="243840"/>
                </a:lnTo>
                <a:lnTo>
                  <a:pt x="7859636" y="243840"/>
                </a:lnTo>
                <a:lnTo>
                  <a:pt x="7859636" y="0"/>
                </a:lnTo>
                <a:close/>
              </a:path>
              <a:path extrusionOk="0" h="1085214" w="8084820">
                <a:moveTo>
                  <a:pt x="8084718" y="560832"/>
                </a:moveTo>
                <a:lnTo>
                  <a:pt x="0" y="560832"/>
                </a:lnTo>
                <a:lnTo>
                  <a:pt x="0" y="804672"/>
                </a:lnTo>
                <a:lnTo>
                  <a:pt x="8084718" y="804672"/>
                </a:lnTo>
                <a:lnTo>
                  <a:pt x="8084718" y="560832"/>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txBox="1"/>
          <p:nvPr/>
        </p:nvSpPr>
        <p:spPr>
          <a:xfrm>
            <a:off x="490621" y="1180796"/>
            <a:ext cx="8107680" cy="2268855"/>
          </a:xfrm>
          <a:prstGeom prst="rect">
            <a:avLst/>
          </a:prstGeom>
          <a:noFill/>
          <a:ln>
            <a:noFill/>
          </a:ln>
        </p:spPr>
        <p:txBody>
          <a:bodyPr anchorCtr="0" anchor="t" bIns="0" lIns="0" spcFirstLastPara="1" rIns="0" wrap="square" tIns="12700">
            <a:spAutoFit/>
          </a:bodyPr>
          <a:lstStyle/>
          <a:p>
            <a:pPr indent="-351790" lvl="0" marL="363855" marR="363220" rtl="0" algn="l">
              <a:lnSpc>
                <a:spcPct val="114999"/>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Internet Control Message Protocol (ICMP) is a </a:t>
            </a:r>
            <a:r>
              <a:rPr lang="en-US" sz="1600" u="sng">
                <a:solidFill>
                  <a:schemeClr val="dk1"/>
                </a:solidFill>
                <a:latin typeface="Arial"/>
                <a:ea typeface="Arial"/>
                <a:cs typeface="Arial"/>
                <a:sym typeface="Arial"/>
                <a:hlinkClick r:id="rId3">
                  <a:extLst>
                    <a:ext uri="{A12FA001-AC4F-418D-AE19-62706E023703}">
                      <ahyp:hlinkClr val="tx"/>
                    </a:ext>
                  </a:extLst>
                </a:hlinkClick>
              </a:rPr>
              <a:t>network layer </a:t>
            </a:r>
            <a:r>
              <a:rPr lang="en-US" sz="1600">
                <a:solidFill>
                  <a:schemeClr val="dk1"/>
                </a:solidFill>
                <a:latin typeface="Arial"/>
                <a:ea typeface="Arial"/>
                <a:cs typeface="Arial"/>
                <a:sym typeface="Arial"/>
              </a:rPr>
              <a:t>protocol used by  network devices to diagnose network communication issues.</a:t>
            </a:r>
            <a:endParaRPr sz="1600">
              <a:solidFill>
                <a:schemeClr val="dk1"/>
              </a:solidFill>
              <a:latin typeface="Arial"/>
              <a:ea typeface="Arial"/>
              <a:cs typeface="Arial"/>
              <a:sym typeface="Arial"/>
            </a:endParaRPr>
          </a:p>
          <a:p>
            <a:pPr indent="-351790" lvl="0" marL="363855" marR="765175" rtl="0" algn="l">
              <a:lnSpc>
                <a:spcPct val="114999"/>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ICMP is mainly used to determine whether or not data is reaching its intended  destination in a timely manner.</a:t>
            </a:r>
            <a:endParaRPr sz="1600">
              <a:solidFill>
                <a:schemeClr val="dk1"/>
              </a:solidFill>
              <a:latin typeface="Arial"/>
              <a:ea typeface="Arial"/>
              <a:cs typeface="Arial"/>
              <a:sym typeface="Arial"/>
            </a:endParaRPr>
          </a:p>
          <a:p>
            <a:pPr indent="-351790" lvl="0" marL="363855" marR="229870" rtl="0" algn="l">
              <a:lnSpc>
                <a:spcPct val="114999"/>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Commonly, the ICMP </a:t>
            </a:r>
            <a:r>
              <a:rPr lang="en-US" sz="1600" u="sng">
                <a:solidFill>
                  <a:schemeClr val="dk1"/>
                </a:solidFill>
                <a:latin typeface="Arial"/>
                <a:ea typeface="Arial"/>
                <a:cs typeface="Arial"/>
                <a:sym typeface="Arial"/>
                <a:hlinkClick r:id="rId4">
                  <a:extLst>
                    <a:ext uri="{A12FA001-AC4F-418D-AE19-62706E023703}">
                      <ahyp:hlinkClr val="tx"/>
                    </a:ext>
                  </a:extLst>
                </a:hlinkClick>
              </a:rPr>
              <a:t>protocol </a:t>
            </a:r>
            <a:r>
              <a:rPr lang="en-US" sz="1600">
                <a:solidFill>
                  <a:schemeClr val="dk1"/>
                </a:solidFill>
                <a:latin typeface="Arial"/>
                <a:ea typeface="Arial"/>
                <a:cs typeface="Arial"/>
                <a:sym typeface="Arial"/>
              </a:rPr>
              <a:t>is used on network devices, such as routers. ICMP is  crucial for error reporting and testing.</a:t>
            </a:r>
            <a:endParaRPr sz="1600">
              <a:solidFill>
                <a:schemeClr val="dk1"/>
              </a:solidFill>
              <a:latin typeface="Arial"/>
              <a:ea typeface="Arial"/>
              <a:cs typeface="Arial"/>
              <a:sym typeface="Arial"/>
            </a:endParaRPr>
          </a:p>
          <a:p>
            <a:pPr indent="-351790" lvl="0" marL="363855" marR="5080" rtl="0" algn="l">
              <a:lnSpc>
                <a:spcPct val="114999"/>
              </a:lnSpc>
              <a:spcBef>
                <a:spcPts val="0"/>
              </a:spcBef>
              <a:spcAft>
                <a:spcPts val="0"/>
              </a:spcAft>
              <a:buClr>
                <a:schemeClr val="dk1"/>
              </a:buClr>
              <a:buSzPts val="1600"/>
              <a:buFont typeface="Arial"/>
              <a:buChar char="●"/>
            </a:pPr>
            <a:r>
              <a:rPr b="1" lang="en-US" sz="1600">
                <a:solidFill>
                  <a:schemeClr val="dk1"/>
                </a:solidFill>
                <a:latin typeface="Arial"/>
                <a:ea typeface="Arial"/>
                <a:cs typeface="Arial"/>
                <a:sym typeface="Arial"/>
              </a:rPr>
              <a:t>Internet Control Message Protocol version 6 </a:t>
            </a:r>
            <a:r>
              <a:rPr lang="en-US" sz="1600">
                <a:solidFill>
                  <a:schemeClr val="dk1"/>
                </a:solidFill>
                <a:latin typeface="Arial"/>
                <a:ea typeface="Arial"/>
                <a:cs typeface="Arial"/>
                <a:sym typeface="Arial"/>
              </a:rPr>
              <a:t>(</a:t>
            </a:r>
            <a:r>
              <a:rPr b="1" lang="en-US" sz="1600">
                <a:solidFill>
                  <a:schemeClr val="dk1"/>
                </a:solidFill>
                <a:latin typeface="Arial"/>
                <a:ea typeface="Arial"/>
                <a:cs typeface="Arial"/>
                <a:sym typeface="Arial"/>
              </a:rPr>
              <a:t>ICMPv6</a:t>
            </a:r>
            <a:r>
              <a:rPr lang="en-US" sz="1600">
                <a:solidFill>
                  <a:schemeClr val="dk1"/>
                </a:solidFill>
                <a:latin typeface="Arial"/>
                <a:ea typeface="Arial"/>
                <a:cs typeface="Arial"/>
                <a:sym typeface="Arial"/>
              </a:rPr>
              <a:t>) is the implementation of the  </a:t>
            </a:r>
            <a:r>
              <a:rPr lang="en-US" sz="1600" u="sng">
                <a:solidFill>
                  <a:schemeClr val="dk1"/>
                </a:solidFill>
                <a:latin typeface="Arial"/>
                <a:ea typeface="Arial"/>
                <a:cs typeface="Arial"/>
                <a:sym typeface="Arial"/>
                <a:hlinkClick r:id="rId5">
                  <a:extLst>
                    <a:ext uri="{A12FA001-AC4F-418D-AE19-62706E023703}">
                      <ahyp:hlinkClr val="tx"/>
                    </a:ext>
                  </a:extLst>
                </a:hlinkClick>
              </a:rPr>
              <a:t>Internet Control Message Protocol </a:t>
            </a:r>
            <a:r>
              <a:rPr lang="en-US" sz="1600">
                <a:solidFill>
                  <a:schemeClr val="dk1"/>
                </a:solidFill>
                <a:latin typeface="Arial"/>
                <a:ea typeface="Arial"/>
                <a:cs typeface="Arial"/>
                <a:sym typeface="Arial"/>
              </a:rPr>
              <a:t>(ICMP) for </a:t>
            </a:r>
            <a:r>
              <a:rPr lang="en-US" sz="1600" u="sng">
                <a:solidFill>
                  <a:schemeClr val="dk1"/>
                </a:solidFill>
                <a:latin typeface="Arial"/>
                <a:ea typeface="Arial"/>
                <a:cs typeface="Arial"/>
                <a:sym typeface="Arial"/>
                <a:hlinkClick r:id="rId6">
                  <a:extLst>
                    <a:ext uri="{A12FA001-AC4F-418D-AE19-62706E023703}">
                      <ahyp:hlinkClr val="tx"/>
                    </a:ext>
                  </a:extLst>
                </a:hlinkClick>
              </a:rPr>
              <a:t>Internet Protocol version 6 </a:t>
            </a:r>
            <a:r>
              <a:rPr lang="en-US" sz="1600">
                <a:solidFill>
                  <a:schemeClr val="dk1"/>
                </a:solidFill>
                <a:latin typeface="Arial"/>
                <a:ea typeface="Arial"/>
                <a:cs typeface="Arial"/>
                <a:sym typeface="Arial"/>
              </a:rPr>
              <a:t>(IPv6).</a:t>
            </a:r>
            <a:endParaRPr sz="16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384725" y="507077"/>
            <a:ext cx="2905760" cy="35496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2150">
                <a:solidFill>
                  <a:srgbClr val="222222"/>
                </a:solidFill>
                <a:latin typeface="Roboto"/>
                <a:ea typeface="Roboto"/>
                <a:cs typeface="Roboto"/>
                <a:sym typeface="Roboto"/>
              </a:rPr>
              <a:t>What is ICMP used for?</a:t>
            </a:r>
            <a:endParaRPr sz="2150">
              <a:latin typeface="Roboto"/>
              <a:ea typeface="Roboto"/>
              <a:cs typeface="Roboto"/>
              <a:sym typeface="Roboto"/>
            </a:endParaRPr>
          </a:p>
        </p:txBody>
      </p:sp>
      <p:sp>
        <p:nvSpPr>
          <p:cNvPr id="62" name="Google Shape;62;p3"/>
          <p:cNvSpPr txBox="1"/>
          <p:nvPr/>
        </p:nvSpPr>
        <p:spPr>
          <a:xfrm>
            <a:off x="452237" y="1256742"/>
            <a:ext cx="8075930" cy="2471420"/>
          </a:xfrm>
          <a:prstGeom prst="rect">
            <a:avLst/>
          </a:prstGeom>
          <a:noFill/>
          <a:ln>
            <a:noFill/>
          </a:ln>
        </p:spPr>
        <p:txBody>
          <a:bodyPr anchorCtr="0" anchor="t" bIns="0" lIns="0" spcFirstLastPara="1" rIns="0" wrap="square" tIns="24125">
            <a:spAutoFit/>
          </a:bodyPr>
          <a:lstStyle/>
          <a:p>
            <a:pPr indent="-389890" lvl="0" marL="401955" marR="5080" rtl="0" algn="l">
              <a:lnSpc>
                <a:spcPct val="110000"/>
              </a:lnSpc>
              <a:spcBef>
                <a:spcPts val="0"/>
              </a:spcBef>
              <a:spcAft>
                <a:spcPts val="0"/>
              </a:spcAft>
              <a:buClr>
                <a:srgbClr val="595959"/>
              </a:buClr>
              <a:buSzPts val="2100"/>
              <a:buFont typeface="Arial"/>
              <a:buChar char="●"/>
            </a:pPr>
            <a:r>
              <a:rPr lang="en-US" sz="1500">
                <a:solidFill>
                  <a:srgbClr val="222222"/>
                </a:solidFill>
                <a:latin typeface="Roboto"/>
                <a:ea typeface="Roboto"/>
                <a:cs typeface="Roboto"/>
                <a:sym typeface="Roboto"/>
              </a:rPr>
              <a:t>The primary purpose of ICMP is for error reporting. When two devices connect over the  Internet, the ICMP generates errors to share with the sending device in the event that any of  the data did not get to its intended destination.</a:t>
            </a:r>
            <a:endParaRPr sz="1500">
              <a:solidFill>
                <a:schemeClr val="dk1"/>
              </a:solidFill>
              <a:latin typeface="Roboto"/>
              <a:ea typeface="Roboto"/>
              <a:cs typeface="Roboto"/>
              <a:sym typeface="Roboto"/>
            </a:endParaRPr>
          </a:p>
          <a:p>
            <a:pPr indent="-382269" lvl="0" marL="401955" marR="150495" rtl="0" algn="l">
              <a:lnSpc>
                <a:spcPct val="113300"/>
              </a:lnSpc>
              <a:spcBef>
                <a:spcPts val="330"/>
              </a:spcBef>
              <a:spcAft>
                <a:spcPts val="0"/>
              </a:spcAft>
              <a:buClr>
                <a:srgbClr val="222222"/>
              </a:buClr>
              <a:buSzPts val="2000"/>
              <a:buFont typeface="Arial"/>
              <a:buChar char="●"/>
            </a:pPr>
            <a:r>
              <a:rPr lang="en-US" sz="1500">
                <a:solidFill>
                  <a:srgbClr val="222222"/>
                </a:solidFill>
                <a:latin typeface="Roboto"/>
                <a:ea typeface="Roboto"/>
                <a:cs typeface="Roboto"/>
                <a:sym typeface="Roboto"/>
              </a:rPr>
              <a:t>A secondary use of ICMP protocol is to perform network diagnostics; the commonly used  terminal utilities traceroute and ping both operate using ICMP.</a:t>
            </a:r>
            <a:endParaRPr sz="1500">
              <a:solidFill>
                <a:schemeClr val="dk1"/>
              </a:solidFill>
              <a:latin typeface="Roboto"/>
              <a:ea typeface="Roboto"/>
              <a:cs typeface="Roboto"/>
              <a:sym typeface="Roboto"/>
            </a:endParaRPr>
          </a:p>
          <a:p>
            <a:pPr indent="-382269" lvl="0" marL="401955" marR="0" rtl="0" algn="l">
              <a:lnSpc>
                <a:spcPct val="100000"/>
              </a:lnSpc>
              <a:spcBef>
                <a:spcPts val="570"/>
              </a:spcBef>
              <a:spcAft>
                <a:spcPts val="0"/>
              </a:spcAft>
              <a:buClr>
                <a:srgbClr val="222222"/>
              </a:buClr>
              <a:buSzPts val="2000"/>
              <a:buFont typeface="Arial"/>
              <a:buChar char="●"/>
            </a:pPr>
            <a:r>
              <a:rPr lang="en-US" sz="1500">
                <a:solidFill>
                  <a:srgbClr val="222222"/>
                </a:solidFill>
                <a:latin typeface="Roboto"/>
                <a:ea typeface="Roboto"/>
                <a:cs typeface="Roboto"/>
                <a:sym typeface="Roboto"/>
              </a:rPr>
              <a:t>The traceroute utility is used to display the </a:t>
            </a:r>
            <a:r>
              <a:rPr lang="en-US" sz="1500" u="sng">
                <a:solidFill>
                  <a:srgbClr val="222222"/>
                </a:solidFill>
                <a:latin typeface="Roboto"/>
                <a:ea typeface="Roboto"/>
                <a:cs typeface="Roboto"/>
                <a:sym typeface="Roboto"/>
                <a:hlinkClick r:id="rId3">
                  <a:extLst>
                    <a:ext uri="{A12FA001-AC4F-418D-AE19-62706E023703}">
                      <ahyp:hlinkClr val="tx"/>
                    </a:ext>
                  </a:extLst>
                </a:hlinkClick>
              </a:rPr>
              <a:t>routing </a:t>
            </a:r>
            <a:r>
              <a:rPr lang="en-US" sz="1500">
                <a:solidFill>
                  <a:srgbClr val="222222"/>
                </a:solidFill>
                <a:latin typeface="Roboto"/>
                <a:ea typeface="Roboto"/>
                <a:cs typeface="Roboto"/>
                <a:sym typeface="Roboto"/>
              </a:rPr>
              <a:t>path between two Internet devices.</a:t>
            </a:r>
            <a:endParaRPr sz="1500">
              <a:solidFill>
                <a:schemeClr val="dk1"/>
              </a:solidFill>
              <a:latin typeface="Roboto"/>
              <a:ea typeface="Roboto"/>
              <a:cs typeface="Roboto"/>
              <a:sym typeface="Roboto"/>
            </a:endParaRPr>
          </a:p>
          <a:p>
            <a:pPr indent="-382269" lvl="0" marL="401955" marR="245109" rtl="0" algn="l">
              <a:lnSpc>
                <a:spcPct val="109200"/>
              </a:lnSpc>
              <a:spcBef>
                <a:spcPts val="555"/>
              </a:spcBef>
              <a:spcAft>
                <a:spcPts val="0"/>
              </a:spcAft>
              <a:buClr>
                <a:srgbClr val="222222"/>
              </a:buClr>
              <a:buSzPts val="2000"/>
              <a:buFont typeface="Arial"/>
              <a:buChar char="●"/>
            </a:pPr>
            <a:r>
              <a:rPr lang="en-US" sz="1500">
                <a:solidFill>
                  <a:srgbClr val="222222"/>
                </a:solidFill>
                <a:latin typeface="Roboto"/>
                <a:ea typeface="Roboto"/>
                <a:cs typeface="Roboto"/>
                <a:sym typeface="Roboto"/>
              </a:rPr>
              <a:t>The ping utility is a simpliﬁed version of traceroute. A ping will test the speed of the  connection between two devices and report exactly how long it takes a packet of data to  reach its destination and come back to the sender’s device.</a:t>
            </a:r>
            <a:endParaRPr sz="15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4"/>
          <p:cNvSpPr txBox="1"/>
          <p:nvPr>
            <p:ph type="title"/>
          </p:nvPr>
        </p:nvSpPr>
        <p:spPr>
          <a:xfrm>
            <a:off x="384725" y="505248"/>
            <a:ext cx="798957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Comparison of network layers in version 4 and version 6</a:t>
            </a:r>
            <a:endParaRPr sz="2500">
              <a:latin typeface="Arial"/>
              <a:ea typeface="Arial"/>
              <a:cs typeface="Arial"/>
              <a:sym typeface="Arial"/>
            </a:endParaRPr>
          </a:p>
        </p:txBody>
      </p:sp>
      <p:sp>
        <p:nvSpPr>
          <p:cNvPr id="68" name="Google Shape;68;p4"/>
          <p:cNvSpPr txBox="1"/>
          <p:nvPr/>
        </p:nvSpPr>
        <p:spPr>
          <a:xfrm>
            <a:off x="475249" y="1175208"/>
            <a:ext cx="4944745" cy="1287780"/>
          </a:xfrm>
          <a:prstGeom prst="rect">
            <a:avLst/>
          </a:prstGeom>
          <a:noFill/>
          <a:ln>
            <a:noFill/>
          </a:ln>
        </p:spPr>
        <p:txBody>
          <a:bodyPr anchorCtr="0" anchor="t" bIns="0" lIns="0" spcFirstLastPara="1" rIns="0" wrap="square" tIns="53325">
            <a:spAutoFit/>
          </a:bodyPr>
          <a:lstStyle/>
          <a:p>
            <a:pPr indent="-367030" lvl="0" marL="379095" marR="0" rtl="0" algn="l">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Internet Group Management Protocol-IGMP</a:t>
            </a:r>
            <a:endParaRPr sz="1800">
              <a:solidFill>
                <a:schemeClr val="dk1"/>
              </a:solidFill>
              <a:latin typeface="Arial"/>
              <a:ea typeface="Arial"/>
              <a:cs typeface="Arial"/>
              <a:sym typeface="Arial"/>
            </a:endParaRPr>
          </a:p>
          <a:p>
            <a:pPr indent="-367030" lvl="0" marL="379095" marR="0" rtl="0" algn="l">
              <a:lnSpc>
                <a:spcPct val="100000"/>
              </a:lnSpc>
              <a:spcBef>
                <a:spcPts val="325"/>
              </a:spcBef>
              <a:spcAft>
                <a:spcPts val="0"/>
              </a:spcAft>
              <a:buClr>
                <a:schemeClr val="dk1"/>
              </a:buClr>
              <a:buSzPts val="1800"/>
              <a:buFont typeface="Arial"/>
              <a:buChar char="●"/>
            </a:pPr>
            <a:r>
              <a:rPr lang="en-US" sz="1800">
                <a:solidFill>
                  <a:schemeClr val="dk1"/>
                </a:solidFill>
                <a:latin typeface="Arial"/>
                <a:ea typeface="Arial"/>
                <a:cs typeface="Arial"/>
                <a:sym typeface="Arial"/>
              </a:rPr>
              <a:t>Internet Control Message Protocol -ICMP</a:t>
            </a:r>
            <a:endParaRPr sz="1800">
              <a:solidFill>
                <a:schemeClr val="dk1"/>
              </a:solidFill>
              <a:latin typeface="Arial"/>
              <a:ea typeface="Arial"/>
              <a:cs typeface="Arial"/>
              <a:sym typeface="Arial"/>
            </a:endParaRPr>
          </a:p>
          <a:p>
            <a:pPr indent="-367030" lvl="0" marL="379095" marR="0" rtl="0" algn="l">
              <a:lnSpc>
                <a:spcPct val="100000"/>
              </a:lnSpc>
              <a:spcBef>
                <a:spcPts val="325"/>
              </a:spcBef>
              <a:spcAft>
                <a:spcPts val="0"/>
              </a:spcAft>
              <a:buClr>
                <a:schemeClr val="dk1"/>
              </a:buClr>
              <a:buSzPts val="1800"/>
              <a:buFont typeface="Arial"/>
              <a:buChar char="●"/>
            </a:pPr>
            <a:r>
              <a:rPr lang="en-US" sz="1800">
                <a:solidFill>
                  <a:schemeClr val="dk1"/>
                </a:solidFill>
                <a:latin typeface="Arial"/>
                <a:ea typeface="Arial"/>
                <a:cs typeface="Arial"/>
                <a:sym typeface="Arial"/>
              </a:rPr>
              <a:t>Address Resolution Protocol -ARP</a:t>
            </a:r>
            <a:endParaRPr sz="1800">
              <a:solidFill>
                <a:schemeClr val="dk1"/>
              </a:solidFill>
              <a:latin typeface="Arial"/>
              <a:ea typeface="Arial"/>
              <a:cs typeface="Arial"/>
              <a:sym typeface="Arial"/>
            </a:endParaRPr>
          </a:p>
          <a:p>
            <a:pPr indent="-367030" lvl="0" marL="379095" marR="0" rtl="0" algn="l">
              <a:lnSpc>
                <a:spcPct val="100000"/>
              </a:lnSpc>
              <a:spcBef>
                <a:spcPts val="325"/>
              </a:spcBef>
              <a:spcAft>
                <a:spcPts val="0"/>
              </a:spcAft>
              <a:buClr>
                <a:schemeClr val="dk1"/>
              </a:buClr>
              <a:buSzPts val="1800"/>
              <a:buFont typeface="Arial"/>
              <a:buChar char="●"/>
            </a:pPr>
            <a:r>
              <a:rPr lang="en-US" sz="1800">
                <a:solidFill>
                  <a:schemeClr val="dk1"/>
                </a:solidFill>
                <a:latin typeface="Arial"/>
                <a:ea typeface="Arial"/>
                <a:cs typeface="Arial"/>
                <a:sym typeface="Arial"/>
              </a:rPr>
              <a:t>Reverse Address Resolution Protocol -RARP</a:t>
            </a:r>
            <a:endParaRPr sz="1800">
              <a:solidFill>
                <a:schemeClr val="dk1"/>
              </a:solidFill>
              <a:latin typeface="Arial"/>
              <a:ea typeface="Arial"/>
              <a:cs typeface="Arial"/>
              <a:sym typeface="Arial"/>
            </a:endParaRPr>
          </a:p>
        </p:txBody>
      </p:sp>
      <p:pic>
        <p:nvPicPr>
          <p:cNvPr id="69" name="Google Shape;69;p4"/>
          <p:cNvPicPr preferRelativeResize="0"/>
          <p:nvPr/>
        </p:nvPicPr>
        <p:blipFill rotWithShape="1">
          <a:blip r:embed="rId3">
            <a:alphaModFix/>
          </a:blip>
          <a:srcRect b="0" l="0" r="0" t="0"/>
          <a:stretch/>
        </p:blipFill>
        <p:spPr>
          <a:xfrm>
            <a:off x="572150" y="2571750"/>
            <a:ext cx="7999699" cy="20044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5"/>
          <p:cNvSpPr/>
          <p:nvPr/>
        </p:nvSpPr>
        <p:spPr>
          <a:xfrm>
            <a:off x="397425" y="530750"/>
            <a:ext cx="2921635" cy="294640"/>
          </a:xfrm>
          <a:custGeom>
            <a:rect b="b" l="l" r="r" t="t"/>
            <a:pathLst>
              <a:path extrusionOk="0" h="294640" w="2921635">
                <a:moveTo>
                  <a:pt x="2921112" y="294131"/>
                </a:moveTo>
                <a:lnTo>
                  <a:pt x="0" y="294131"/>
                </a:lnTo>
                <a:lnTo>
                  <a:pt x="0" y="0"/>
                </a:lnTo>
                <a:lnTo>
                  <a:pt x="2921112" y="0"/>
                </a:lnTo>
                <a:lnTo>
                  <a:pt x="2921112" y="294131"/>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5"/>
          <p:cNvSpPr txBox="1"/>
          <p:nvPr>
            <p:ph type="title"/>
          </p:nvPr>
        </p:nvSpPr>
        <p:spPr>
          <a:xfrm>
            <a:off x="384725" y="508245"/>
            <a:ext cx="2945130" cy="32004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b="0" lang="en-US" sz="1900">
                <a:latin typeface="Georgia"/>
                <a:ea typeface="Georgia"/>
                <a:cs typeface="Georgia"/>
                <a:sym typeface="Georgia"/>
              </a:rPr>
              <a:t>Message types and formats</a:t>
            </a:r>
            <a:endParaRPr sz="1900">
              <a:latin typeface="Georgia"/>
              <a:ea typeface="Georgia"/>
              <a:cs typeface="Georgia"/>
              <a:sym typeface="Georgia"/>
            </a:endParaRPr>
          </a:p>
        </p:txBody>
      </p:sp>
      <p:sp>
        <p:nvSpPr>
          <p:cNvPr id="76" name="Google Shape;76;p5"/>
          <p:cNvSpPr/>
          <p:nvPr/>
        </p:nvSpPr>
        <p:spPr>
          <a:xfrm>
            <a:off x="510959" y="1238211"/>
            <a:ext cx="8194040" cy="2594610"/>
          </a:xfrm>
          <a:custGeom>
            <a:rect b="b" l="l" r="r" t="t"/>
            <a:pathLst>
              <a:path extrusionOk="0" h="2594610" w="8194040">
                <a:moveTo>
                  <a:pt x="1169568" y="1577340"/>
                </a:moveTo>
                <a:lnTo>
                  <a:pt x="343662" y="1577340"/>
                </a:lnTo>
                <a:lnTo>
                  <a:pt x="343662" y="1805940"/>
                </a:lnTo>
                <a:lnTo>
                  <a:pt x="1169568" y="1805940"/>
                </a:lnTo>
                <a:lnTo>
                  <a:pt x="1169568" y="1577340"/>
                </a:lnTo>
                <a:close/>
              </a:path>
              <a:path extrusionOk="0" h="2594610" w="8194040">
                <a:moveTo>
                  <a:pt x="2097786" y="2103120"/>
                </a:moveTo>
                <a:lnTo>
                  <a:pt x="343662" y="2103120"/>
                </a:lnTo>
                <a:lnTo>
                  <a:pt x="343662" y="2331720"/>
                </a:lnTo>
                <a:lnTo>
                  <a:pt x="2097786" y="2331720"/>
                </a:lnTo>
                <a:lnTo>
                  <a:pt x="2097786" y="2103120"/>
                </a:lnTo>
                <a:close/>
              </a:path>
              <a:path extrusionOk="0" h="2594610" w="8194040">
                <a:moveTo>
                  <a:pt x="2599055" y="1051560"/>
                </a:moveTo>
                <a:lnTo>
                  <a:pt x="343662" y="1051560"/>
                </a:lnTo>
                <a:lnTo>
                  <a:pt x="343662" y="1280160"/>
                </a:lnTo>
                <a:lnTo>
                  <a:pt x="2599055" y="1280160"/>
                </a:lnTo>
                <a:lnTo>
                  <a:pt x="2599055" y="1051560"/>
                </a:lnTo>
                <a:close/>
              </a:path>
              <a:path extrusionOk="0" h="2594610" w="8194040">
                <a:moveTo>
                  <a:pt x="6061176" y="525780"/>
                </a:moveTo>
                <a:lnTo>
                  <a:pt x="343662" y="525780"/>
                </a:lnTo>
                <a:lnTo>
                  <a:pt x="343662" y="754380"/>
                </a:lnTo>
                <a:lnTo>
                  <a:pt x="6061176" y="754380"/>
                </a:lnTo>
                <a:lnTo>
                  <a:pt x="6061176" y="525780"/>
                </a:lnTo>
                <a:close/>
              </a:path>
              <a:path extrusionOk="0" h="2594610" w="8194040">
                <a:moveTo>
                  <a:pt x="7426858" y="0"/>
                </a:moveTo>
                <a:lnTo>
                  <a:pt x="0" y="0"/>
                </a:lnTo>
                <a:lnTo>
                  <a:pt x="0" y="228600"/>
                </a:lnTo>
                <a:lnTo>
                  <a:pt x="7426858" y="228600"/>
                </a:lnTo>
                <a:lnTo>
                  <a:pt x="7426858" y="0"/>
                </a:lnTo>
                <a:close/>
              </a:path>
              <a:path extrusionOk="0" h="2594610" w="8194040">
                <a:moveTo>
                  <a:pt x="7448994" y="1314450"/>
                </a:moveTo>
                <a:lnTo>
                  <a:pt x="0" y="1314450"/>
                </a:lnTo>
                <a:lnTo>
                  <a:pt x="0" y="1543050"/>
                </a:lnTo>
                <a:lnTo>
                  <a:pt x="7448994" y="1543050"/>
                </a:lnTo>
                <a:lnTo>
                  <a:pt x="7448994" y="1314450"/>
                </a:lnTo>
                <a:close/>
              </a:path>
              <a:path extrusionOk="0" h="2594610" w="8194040">
                <a:moveTo>
                  <a:pt x="7587589" y="1840230"/>
                </a:moveTo>
                <a:lnTo>
                  <a:pt x="0" y="1840230"/>
                </a:lnTo>
                <a:lnTo>
                  <a:pt x="0" y="2068830"/>
                </a:lnTo>
                <a:lnTo>
                  <a:pt x="7587589" y="2068830"/>
                </a:lnTo>
                <a:lnTo>
                  <a:pt x="7587589" y="1840230"/>
                </a:lnTo>
                <a:close/>
              </a:path>
              <a:path extrusionOk="0" h="2594610" w="8194040">
                <a:moveTo>
                  <a:pt x="7963294" y="2366010"/>
                </a:moveTo>
                <a:lnTo>
                  <a:pt x="0" y="2366010"/>
                </a:lnTo>
                <a:lnTo>
                  <a:pt x="0" y="2594610"/>
                </a:lnTo>
                <a:lnTo>
                  <a:pt x="7963294" y="2594610"/>
                </a:lnTo>
                <a:lnTo>
                  <a:pt x="7963294" y="2366010"/>
                </a:lnTo>
                <a:close/>
              </a:path>
              <a:path extrusionOk="0" h="2594610" w="8194040">
                <a:moveTo>
                  <a:pt x="7968120" y="262890"/>
                </a:moveTo>
                <a:lnTo>
                  <a:pt x="0" y="262890"/>
                </a:lnTo>
                <a:lnTo>
                  <a:pt x="0" y="491490"/>
                </a:lnTo>
                <a:lnTo>
                  <a:pt x="7968120" y="491490"/>
                </a:lnTo>
                <a:lnTo>
                  <a:pt x="7968120" y="262890"/>
                </a:lnTo>
                <a:close/>
              </a:path>
              <a:path extrusionOk="0" h="2594610" w="8194040">
                <a:moveTo>
                  <a:pt x="8193595" y="788670"/>
                </a:moveTo>
                <a:lnTo>
                  <a:pt x="0" y="788670"/>
                </a:lnTo>
                <a:lnTo>
                  <a:pt x="0" y="1017270"/>
                </a:lnTo>
                <a:lnTo>
                  <a:pt x="8193595" y="1017270"/>
                </a:lnTo>
                <a:lnTo>
                  <a:pt x="8193595" y="788670"/>
                </a:lnTo>
                <a:close/>
              </a:path>
            </a:pathLst>
          </a:custGeom>
          <a:solidFill>
            <a:srgbClr val="CCCCC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5"/>
          <p:cNvSpPr txBox="1"/>
          <p:nvPr/>
        </p:nvSpPr>
        <p:spPr>
          <a:xfrm>
            <a:off x="498262" y="1183589"/>
            <a:ext cx="8209280" cy="2654300"/>
          </a:xfrm>
          <a:prstGeom prst="rect">
            <a:avLst/>
          </a:prstGeom>
          <a:noFill/>
          <a:ln>
            <a:noFill/>
          </a:ln>
        </p:spPr>
        <p:txBody>
          <a:bodyPr anchorCtr="0" anchor="t" bIns="0" lIns="0" spcFirstLastPara="1" rIns="0" wrap="square" tIns="46975">
            <a:spAutoFit/>
          </a:bodyPr>
          <a:lstStyle/>
          <a:p>
            <a:pPr indent="-344169" lvl="0" marL="356235" marR="0" rtl="0" algn="l">
              <a:lnSpc>
                <a:spcPct val="100000"/>
              </a:lnSpc>
              <a:spcBef>
                <a:spcPts val="0"/>
              </a:spcBef>
              <a:spcAft>
                <a:spcPts val="0"/>
              </a:spcAft>
              <a:buClr>
                <a:srgbClr val="595959"/>
              </a:buClr>
              <a:buSzPts val="1500"/>
              <a:buFont typeface="Arial"/>
              <a:buChar char="●"/>
            </a:pPr>
            <a:r>
              <a:rPr lang="en-US" sz="1500">
                <a:solidFill>
                  <a:srgbClr val="202122"/>
                </a:solidFill>
                <a:latin typeface="Arial"/>
                <a:ea typeface="Arial"/>
                <a:cs typeface="Arial"/>
                <a:sym typeface="Arial"/>
              </a:rPr>
              <a:t>ICMPv6 messages may be classified as </a:t>
            </a:r>
            <a:r>
              <a:rPr i="1" lang="en-US" sz="1500">
                <a:solidFill>
                  <a:srgbClr val="202122"/>
                </a:solidFill>
                <a:latin typeface="Arial"/>
                <a:ea typeface="Arial"/>
                <a:cs typeface="Arial"/>
                <a:sym typeface="Arial"/>
              </a:rPr>
              <a:t>error messages </a:t>
            </a:r>
            <a:r>
              <a:rPr lang="en-US" sz="1500">
                <a:solidFill>
                  <a:srgbClr val="202122"/>
                </a:solidFill>
                <a:latin typeface="Arial"/>
                <a:ea typeface="Arial"/>
                <a:cs typeface="Arial"/>
                <a:sym typeface="Arial"/>
              </a:rPr>
              <a:t>and </a:t>
            </a:r>
            <a:r>
              <a:rPr i="1" lang="en-US" sz="1500">
                <a:solidFill>
                  <a:srgbClr val="202122"/>
                </a:solidFill>
                <a:latin typeface="Arial"/>
                <a:ea typeface="Arial"/>
                <a:cs typeface="Arial"/>
                <a:sym typeface="Arial"/>
              </a:rPr>
              <a:t>information messages</a:t>
            </a:r>
            <a:r>
              <a:rPr lang="en-US" sz="1500">
                <a:solidFill>
                  <a:srgbClr val="202122"/>
                </a:solidFill>
                <a:latin typeface="Arial"/>
                <a:ea typeface="Arial"/>
                <a:cs typeface="Arial"/>
                <a:sym typeface="Arial"/>
              </a:rPr>
              <a:t>.</a:t>
            </a:r>
            <a:endParaRPr sz="1500">
              <a:solidFill>
                <a:schemeClr val="dk1"/>
              </a:solidFill>
              <a:latin typeface="Arial"/>
              <a:ea typeface="Arial"/>
              <a:cs typeface="Arial"/>
              <a:sym typeface="Arial"/>
            </a:endParaRPr>
          </a:p>
          <a:p>
            <a:pPr indent="-344169" lvl="0" marL="356235" marR="221615" rtl="0" algn="l">
              <a:lnSpc>
                <a:spcPct val="114999"/>
              </a:lnSpc>
              <a:spcBef>
                <a:spcPts val="0"/>
              </a:spcBef>
              <a:spcAft>
                <a:spcPts val="0"/>
              </a:spcAft>
              <a:buClr>
                <a:srgbClr val="595959"/>
              </a:buClr>
              <a:buSzPts val="1500"/>
              <a:buFont typeface="Arial"/>
              <a:buChar char="●"/>
            </a:pPr>
            <a:r>
              <a:rPr lang="en-US" sz="1500">
                <a:solidFill>
                  <a:srgbClr val="202122"/>
                </a:solidFill>
                <a:latin typeface="Arial"/>
                <a:ea typeface="Arial"/>
                <a:cs typeface="Arial"/>
                <a:sym typeface="Arial"/>
              </a:rPr>
              <a:t>The ICMPv6 message consists of a header and the protocol payload. The header contains  only three fields: </a:t>
            </a:r>
            <a:r>
              <a:rPr i="1" lang="en-US" sz="1500">
                <a:solidFill>
                  <a:srgbClr val="202122"/>
                </a:solidFill>
                <a:latin typeface="Arial"/>
                <a:ea typeface="Arial"/>
                <a:cs typeface="Arial"/>
                <a:sym typeface="Arial"/>
              </a:rPr>
              <a:t>type </a:t>
            </a:r>
            <a:r>
              <a:rPr lang="en-US" sz="1500">
                <a:solidFill>
                  <a:srgbClr val="202122"/>
                </a:solidFill>
                <a:latin typeface="Arial"/>
                <a:ea typeface="Arial"/>
                <a:cs typeface="Arial"/>
                <a:sym typeface="Arial"/>
              </a:rPr>
              <a:t>(8 bits), </a:t>
            </a:r>
            <a:r>
              <a:rPr i="1" lang="en-US" sz="1500">
                <a:solidFill>
                  <a:srgbClr val="202122"/>
                </a:solidFill>
                <a:latin typeface="Arial"/>
                <a:ea typeface="Arial"/>
                <a:cs typeface="Arial"/>
                <a:sym typeface="Arial"/>
              </a:rPr>
              <a:t>code </a:t>
            </a:r>
            <a:r>
              <a:rPr lang="en-US" sz="1500">
                <a:solidFill>
                  <a:srgbClr val="202122"/>
                </a:solidFill>
                <a:latin typeface="Arial"/>
                <a:ea typeface="Arial"/>
                <a:cs typeface="Arial"/>
                <a:sym typeface="Arial"/>
              </a:rPr>
              <a:t>(8 bits), and </a:t>
            </a:r>
            <a:r>
              <a:rPr i="1" lang="en-US" sz="1500">
                <a:solidFill>
                  <a:srgbClr val="202122"/>
                </a:solidFill>
                <a:latin typeface="Arial"/>
                <a:ea typeface="Arial"/>
                <a:cs typeface="Arial"/>
                <a:sym typeface="Arial"/>
              </a:rPr>
              <a:t>checksum </a:t>
            </a:r>
            <a:r>
              <a:rPr lang="en-US" sz="1500">
                <a:solidFill>
                  <a:srgbClr val="202122"/>
                </a:solidFill>
                <a:latin typeface="Arial"/>
                <a:ea typeface="Arial"/>
                <a:cs typeface="Arial"/>
                <a:sym typeface="Arial"/>
              </a:rPr>
              <a:t>(16 bits).</a:t>
            </a:r>
            <a:endParaRPr sz="1500">
              <a:solidFill>
                <a:schemeClr val="dk1"/>
              </a:solidFill>
              <a:latin typeface="Arial"/>
              <a:ea typeface="Arial"/>
              <a:cs typeface="Arial"/>
              <a:sym typeface="Arial"/>
            </a:endParaRPr>
          </a:p>
          <a:p>
            <a:pPr indent="-344169" lvl="0" marL="356235" marR="5080" rtl="0" algn="l">
              <a:lnSpc>
                <a:spcPct val="114999"/>
              </a:lnSpc>
              <a:spcBef>
                <a:spcPts val="0"/>
              </a:spcBef>
              <a:spcAft>
                <a:spcPts val="0"/>
              </a:spcAft>
              <a:buClr>
                <a:srgbClr val="202122"/>
              </a:buClr>
              <a:buSzPts val="1500"/>
              <a:buFont typeface="Arial"/>
              <a:buChar char="●"/>
            </a:pPr>
            <a:r>
              <a:rPr i="1" lang="en-US" sz="1500">
                <a:solidFill>
                  <a:srgbClr val="202122"/>
                </a:solidFill>
                <a:latin typeface="Arial"/>
                <a:ea typeface="Arial"/>
                <a:cs typeface="Arial"/>
                <a:sym typeface="Arial"/>
              </a:rPr>
              <a:t>Type </a:t>
            </a:r>
            <a:r>
              <a:rPr lang="en-US" sz="1500">
                <a:solidFill>
                  <a:srgbClr val="202122"/>
                </a:solidFill>
                <a:latin typeface="Arial"/>
                <a:ea typeface="Arial"/>
                <a:cs typeface="Arial"/>
                <a:sym typeface="Arial"/>
              </a:rPr>
              <a:t>specifies the type of the message. Values in the range from 0 to 127 (high-order bit is 0)  indicate an error message,</a:t>
            </a:r>
            <a:endParaRPr sz="1500">
              <a:solidFill>
                <a:schemeClr val="dk1"/>
              </a:solidFill>
              <a:latin typeface="Arial"/>
              <a:ea typeface="Arial"/>
              <a:cs typeface="Arial"/>
              <a:sym typeface="Arial"/>
            </a:endParaRPr>
          </a:p>
          <a:p>
            <a:pPr indent="-344169" lvl="0" marL="356235" marR="746760" rtl="0" algn="l">
              <a:lnSpc>
                <a:spcPct val="114999"/>
              </a:lnSpc>
              <a:spcBef>
                <a:spcPts val="0"/>
              </a:spcBef>
              <a:spcAft>
                <a:spcPts val="0"/>
              </a:spcAft>
              <a:buClr>
                <a:srgbClr val="202122"/>
              </a:buClr>
              <a:buSzPts val="1500"/>
              <a:buFont typeface="Arial"/>
              <a:buChar char="●"/>
            </a:pPr>
            <a:r>
              <a:rPr lang="en-US" sz="1500">
                <a:solidFill>
                  <a:srgbClr val="202122"/>
                </a:solidFill>
                <a:latin typeface="Arial"/>
                <a:ea typeface="Arial"/>
                <a:cs typeface="Arial"/>
                <a:sym typeface="Arial"/>
              </a:rPr>
              <a:t>while values in the range from 128 to 255 (high-order bit is 1) indicate an information  message.</a:t>
            </a:r>
            <a:endParaRPr sz="1500">
              <a:solidFill>
                <a:schemeClr val="dk1"/>
              </a:solidFill>
              <a:latin typeface="Arial"/>
              <a:ea typeface="Arial"/>
              <a:cs typeface="Arial"/>
              <a:sym typeface="Arial"/>
            </a:endParaRPr>
          </a:p>
          <a:p>
            <a:pPr indent="-344169" lvl="0" marL="356235" marR="608965" rtl="0" algn="l">
              <a:lnSpc>
                <a:spcPct val="114999"/>
              </a:lnSpc>
              <a:spcBef>
                <a:spcPts val="0"/>
              </a:spcBef>
              <a:spcAft>
                <a:spcPts val="0"/>
              </a:spcAft>
              <a:buClr>
                <a:srgbClr val="202122"/>
              </a:buClr>
              <a:buSzPts val="1500"/>
              <a:buFont typeface="Arial"/>
              <a:buChar char="●"/>
            </a:pPr>
            <a:r>
              <a:rPr lang="en-US" sz="1500">
                <a:solidFill>
                  <a:srgbClr val="202122"/>
                </a:solidFill>
                <a:latin typeface="Arial"/>
                <a:ea typeface="Arial"/>
                <a:cs typeface="Arial"/>
                <a:sym typeface="Arial"/>
              </a:rPr>
              <a:t>The </a:t>
            </a:r>
            <a:r>
              <a:rPr i="1" lang="en-US" sz="1500">
                <a:solidFill>
                  <a:srgbClr val="202122"/>
                </a:solidFill>
                <a:latin typeface="Arial"/>
                <a:ea typeface="Arial"/>
                <a:cs typeface="Arial"/>
                <a:sym typeface="Arial"/>
              </a:rPr>
              <a:t>code </a:t>
            </a:r>
            <a:r>
              <a:rPr lang="en-US" sz="1500">
                <a:solidFill>
                  <a:srgbClr val="202122"/>
                </a:solidFill>
                <a:latin typeface="Arial"/>
                <a:ea typeface="Arial"/>
                <a:cs typeface="Arial"/>
                <a:sym typeface="Arial"/>
              </a:rPr>
              <a:t>field value depends on the message type and provides an additional level of  message granularity.</a:t>
            </a:r>
            <a:endParaRPr sz="1500">
              <a:solidFill>
                <a:schemeClr val="dk1"/>
              </a:solidFill>
              <a:latin typeface="Arial"/>
              <a:ea typeface="Arial"/>
              <a:cs typeface="Arial"/>
              <a:sym typeface="Arial"/>
            </a:endParaRPr>
          </a:p>
          <a:p>
            <a:pPr indent="-344169" lvl="0" marL="356235" marR="0" rtl="0" algn="l">
              <a:lnSpc>
                <a:spcPct val="100000"/>
              </a:lnSpc>
              <a:spcBef>
                <a:spcPts val="270"/>
              </a:spcBef>
              <a:spcAft>
                <a:spcPts val="0"/>
              </a:spcAft>
              <a:buClr>
                <a:srgbClr val="202122"/>
              </a:buClr>
              <a:buSzPts val="1500"/>
              <a:buFont typeface="Arial"/>
              <a:buChar char="●"/>
            </a:pPr>
            <a:r>
              <a:rPr lang="en-US" sz="1500">
                <a:solidFill>
                  <a:srgbClr val="202122"/>
                </a:solidFill>
                <a:latin typeface="Arial"/>
                <a:ea typeface="Arial"/>
                <a:cs typeface="Arial"/>
                <a:sym typeface="Arial"/>
              </a:rPr>
              <a:t>The </a:t>
            </a:r>
            <a:r>
              <a:rPr i="1" lang="en-US" sz="1500">
                <a:solidFill>
                  <a:srgbClr val="202122"/>
                </a:solidFill>
                <a:latin typeface="Arial"/>
                <a:ea typeface="Arial"/>
                <a:cs typeface="Arial"/>
                <a:sym typeface="Arial"/>
              </a:rPr>
              <a:t>checksum </a:t>
            </a:r>
            <a:r>
              <a:rPr lang="en-US" sz="1500">
                <a:solidFill>
                  <a:srgbClr val="202122"/>
                </a:solidFill>
                <a:latin typeface="Arial"/>
                <a:ea typeface="Arial"/>
                <a:cs typeface="Arial"/>
                <a:sym typeface="Arial"/>
              </a:rPr>
              <a:t>field provides a minimal level of integrity verification for the ICMP message.</a:t>
            </a:r>
            <a:endParaRPr sz="15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6"/>
          <p:cNvSpPr txBox="1"/>
          <p:nvPr/>
        </p:nvSpPr>
        <p:spPr>
          <a:xfrm>
            <a:off x="628825" y="579501"/>
            <a:ext cx="7755255" cy="9575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550">
                <a:solidFill>
                  <a:srgbClr val="202122"/>
                </a:solidFill>
                <a:latin typeface="Arial"/>
                <a:ea typeface="Arial"/>
                <a:cs typeface="Arial"/>
                <a:sym typeface="Arial"/>
              </a:rPr>
              <a:t>The ICMPv6 message consists of a header and the protocol payload.</a:t>
            </a:r>
            <a:endParaRPr sz="1550">
              <a:solidFill>
                <a:schemeClr val="dk1"/>
              </a:solidFill>
              <a:latin typeface="Arial"/>
              <a:ea typeface="Arial"/>
              <a:cs typeface="Arial"/>
              <a:sym typeface="Arial"/>
            </a:endParaRPr>
          </a:p>
          <a:p>
            <a:pPr indent="0" lvl="0" marL="469900" marR="5080" rtl="0" algn="l">
              <a:lnSpc>
                <a:spcPct val="114999"/>
              </a:lnSpc>
              <a:spcBef>
                <a:spcPts val="1200"/>
              </a:spcBef>
              <a:spcAft>
                <a:spcPts val="0"/>
              </a:spcAft>
              <a:buNone/>
            </a:pPr>
            <a:r>
              <a:rPr lang="en-US" sz="1550">
                <a:solidFill>
                  <a:srgbClr val="202122"/>
                </a:solidFill>
                <a:latin typeface="Arial"/>
                <a:ea typeface="Arial"/>
                <a:cs typeface="Arial"/>
                <a:sym typeface="Arial"/>
              </a:rPr>
              <a:t>The header contains only three fields: </a:t>
            </a:r>
            <a:r>
              <a:rPr i="1" lang="en-US" sz="1550">
                <a:solidFill>
                  <a:srgbClr val="202122"/>
                </a:solidFill>
                <a:latin typeface="Arial"/>
                <a:ea typeface="Arial"/>
                <a:cs typeface="Arial"/>
                <a:sym typeface="Arial"/>
              </a:rPr>
              <a:t>type </a:t>
            </a:r>
            <a:r>
              <a:rPr lang="en-US" sz="1550">
                <a:solidFill>
                  <a:srgbClr val="202122"/>
                </a:solidFill>
                <a:latin typeface="Arial"/>
                <a:ea typeface="Arial"/>
                <a:cs typeface="Arial"/>
                <a:sym typeface="Arial"/>
              </a:rPr>
              <a:t>(8 bits), </a:t>
            </a:r>
            <a:r>
              <a:rPr i="1" lang="en-US" sz="1550">
                <a:solidFill>
                  <a:srgbClr val="202122"/>
                </a:solidFill>
                <a:latin typeface="Arial"/>
                <a:ea typeface="Arial"/>
                <a:cs typeface="Arial"/>
                <a:sym typeface="Arial"/>
              </a:rPr>
              <a:t>code </a:t>
            </a:r>
            <a:r>
              <a:rPr lang="en-US" sz="1550">
                <a:solidFill>
                  <a:srgbClr val="202122"/>
                </a:solidFill>
                <a:latin typeface="Arial"/>
                <a:ea typeface="Arial"/>
                <a:cs typeface="Arial"/>
                <a:sym typeface="Arial"/>
              </a:rPr>
              <a:t>(8 bits), and </a:t>
            </a:r>
            <a:r>
              <a:rPr i="1" lang="en-US" sz="1550">
                <a:solidFill>
                  <a:srgbClr val="202122"/>
                </a:solidFill>
                <a:latin typeface="Arial"/>
                <a:ea typeface="Arial"/>
                <a:cs typeface="Arial"/>
                <a:sym typeface="Arial"/>
              </a:rPr>
              <a:t>checksum </a:t>
            </a:r>
            <a:r>
              <a:rPr lang="en-US" sz="1550">
                <a:solidFill>
                  <a:srgbClr val="202122"/>
                </a:solidFill>
                <a:latin typeface="Arial"/>
                <a:ea typeface="Arial"/>
                <a:cs typeface="Arial"/>
                <a:sym typeface="Arial"/>
              </a:rPr>
              <a:t>(16  bits).</a:t>
            </a:r>
            <a:endParaRPr sz="155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7"/>
          <p:cNvSpPr txBox="1"/>
          <p:nvPr>
            <p:ph type="title"/>
          </p:nvPr>
        </p:nvSpPr>
        <p:spPr>
          <a:xfrm>
            <a:off x="384725" y="505248"/>
            <a:ext cx="350456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ICMPv6 Error Messages</a:t>
            </a:r>
            <a:endParaRPr sz="2500">
              <a:latin typeface="Arial"/>
              <a:ea typeface="Arial"/>
              <a:cs typeface="Arial"/>
              <a:sym typeface="Arial"/>
            </a:endParaRPr>
          </a:p>
        </p:txBody>
      </p:sp>
      <p:sp>
        <p:nvSpPr>
          <p:cNvPr id="88" name="Google Shape;88;p7"/>
          <p:cNvSpPr txBox="1"/>
          <p:nvPr/>
        </p:nvSpPr>
        <p:spPr>
          <a:xfrm>
            <a:off x="482980" y="1341194"/>
            <a:ext cx="2896870" cy="1437640"/>
          </a:xfrm>
          <a:prstGeom prst="rect">
            <a:avLst/>
          </a:prstGeom>
          <a:noFill/>
          <a:ln>
            <a:noFill/>
          </a:ln>
        </p:spPr>
        <p:txBody>
          <a:bodyPr anchorCtr="0" anchor="t" bIns="0" lIns="0" spcFirstLastPara="1" rIns="0" wrap="square" tIns="12700">
            <a:spAutoFit/>
          </a:bodyPr>
          <a:lstStyle/>
          <a:p>
            <a:pPr indent="-359410" lvl="0" marL="371475" marR="0" rtl="0" algn="l">
              <a:lnSpc>
                <a:spcPct val="1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"Destination Unreachable"</a:t>
            </a:r>
            <a:endParaRPr sz="1700">
              <a:solidFill>
                <a:schemeClr val="dk1"/>
              </a:solidFill>
              <a:latin typeface="Arial"/>
              <a:ea typeface="Arial"/>
              <a:cs typeface="Arial"/>
              <a:sym typeface="Arial"/>
            </a:endParaRPr>
          </a:p>
          <a:p>
            <a:pPr indent="-359410" lvl="0" marL="371475" marR="0" rtl="0" algn="l">
              <a:lnSpc>
                <a:spcPct val="1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“Packet Too Big"</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"Time Exceeded”</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"Parameter Problem"</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“Redirection”</a:t>
            </a:r>
            <a:endParaRPr sz="17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8"/>
          <p:cNvSpPr txBox="1"/>
          <p:nvPr>
            <p:ph type="title"/>
          </p:nvPr>
        </p:nvSpPr>
        <p:spPr>
          <a:xfrm>
            <a:off x="384725" y="507077"/>
            <a:ext cx="3521710" cy="35496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sz="2150">
                <a:latin typeface="Arial"/>
                <a:ea typeface="Arial"/>
                <a:cs typeface="Arial"/>
                <a:sym typeface="Arial"/>
              </a:rPr>
              <a:t>1. "Destination Unreachable"</a:t>
            </a:r>
            <a:endParaRPr sz="2150">
              <a:latin typeface="Arial"/>
              <a:ea typeface="Arial"/>
              <a:cs typeface="Arial"/>
              <a:sym typeface="Arial"/>
            </a:endParaRPr>
          </a:p>
        </p:txBody>
      </p:sp>
      <p:sp>
        <p:nvSpPr>
          <p:cNvPr id="94" name="Google Shape;94;p8"/>
          <p:cNvSpPr txBox="1"/>
          <p:nvPr/>
        </p:nvSpPr>
        <p:spPr>
          <a:xfrm>
            <a:off x="245025" y="1219403"/>
            <a:ext cx="7207884" cy="208279"/>
          </a:xfrm>
          <a:prstGeom prst="rect">
            <a:avLst/>
          </a:prstGeom>
          <a:noFill/>
          <a:ln>
            <a:noFill/>
          </a:ln>
        </p:spPr>
        <p:txBody>
          <a:bodyPr anchorCtr="0" anchor="t" bIns="0" lIns="0" spcFirstLastPara="1" rIns="0" wrap="square" tIns="12700">
            <a:spAutoFit/>
          </a:bodyPr>
          <a:lstStyle/>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Message is generated by the source host or a router when an IPv6 datagram packet cannot be delivered</a:t>
            </a:r>
            <a:endParaRPr sz="1200">
              <a:solidFill>
                <a:schemeClr val="dk1"/>
              </a:solidFill>
              <a:latin typeface="Arial"/>
              <a:ea typeface="Arial"/>
              <a:cs typeface="Arial"/>
              <a:sym typeface="Arial"/>
            </a:endParaRPr>
          </a:p>
        </p:txBody>
      </p:sp>
      <p:pic>
        <p:nvPicPr>
          <p:cNvPr id="95" name="Google Shape;95;p8"/>
          <p:cNvPicPr preferRelativeResize="0"/>
          <p:nvPr/>
        </p:nvPicPr>
        <p:blipFill rotWithShape="1">
          <a:blip r:embed="rId3">
            <a:alphaModFix/>
          </a:blip>
          <a:srcRect b="0" l="0" r="0" t="0"/>
          <a:stretch/>
        </p:blipFill>
        <p:spPr>
          <a:xfrm>
            <a:off x="1817350" y="2102650"/>
            <a:ext cx="4885974" cy="2219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245025" y="505350"/>
            <a:ext cx="2625090"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2."Packet Too Big"</a:t>
            </a:r>
            <a:endParaRPr sz="2500">
              <a:latin typeface="Arial"/>
              <a:ea typeface="Arial"/>
              <a:cs typeface="Arial"/>
              <a:sym typeface="Arial"/>
            </a:endParaRPr>
          </a:p>
        </p:txBody>
      </p:sp>
      <p:sp>
        <p:nvSpPr>
          <p:cNvPr id="101" name="Google Shape;101;p9"/>
          <p:cNvSpPr txBox="1"/>
          <p:nvPr/>
        </p:nvSpPr>
        <p:spPr>
          <a:xfrm>
            <a:off x="245025" y="1191971"/>
            <a:ext cx="8368030" cy="1006475"/>
          </a:xfrm>
          <a:prstGeom prst="rect">
            <a:avLst/>
          </a:prstGeom>
          <a:noFill/>
          <a:ln>
            <a:noFill/>
          </a:ln>
        </p:spPr>
        <p:txBody>
          <a:bodyPr anchorCtr="0" anchor="t" bIns="0" lIns="0" spcFirstLastPara="1" rIns="0" wrap="square" tIns="12700">
            <a:spAutoFit/>
          </a:bodyPr>
          <a:lstStyle/>
          <a:p>
            <a:pPr indent="-139700" lvl="0" marL="152400" marR="5080" rtl="0" algn="l">
              <a:lnSpc>
                <a:spcPct val="114999"/>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If a router receives a datagram that is larger than the maximum transmission unit (MTU) size of the network through which  the datagram should pass, two things happen. First, the router discards the datagram and then an ICMP error packet-a  packet-too-big message-is sent to the source.</a:t>
            </a:r>
            <a:endParaRPr sz="120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1100">
              <a:solidFill>
                <a:schemeClr val="dk1"/>
              </a:solidFill>
              <a:latin typeface="Arial"/>
              <a:ea typeface="Arial"/>
              <a:cs typeface="Arial"/>
              <a:sym typeface="Arial"/>
            </a:endParaRPr>
          </a:p>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MTU (Maximum Transmission Unit) is the size of the largest protocol data unit that is supported over the link.</a:t>
            </a:r>
            <a:endParaRPr sz="1200">
              <a:solidFill>
                <a:schemeClr val="dk1"/>
              </a:solidFill>
              <a:latin typeface="Arial"/>
              <a:ea typeface="Arial"/>
              <a:cs typeface="Arial"/>
              <a:sym typeface="Arial"/>
            </a:endParaRPr>
          </a:p>
        </p:txBody>
      </p:sp>
      <p:pic>
        <p:nvPicPr>
          <p:cNvPr id="102" name="Google Shape;102;p9"/>
          <p:cNvPicPr preferRelativeResize="0"/>
          <p:nvPr/>
        </p:nvPicPr>
        <p:blipFill rotWithShape="1">
          <a:blip r:embed="rId3">
            <a:alphaModFix/>
          </a:blip>
          <a:srcRect b="0" l="0" r="0" t="0"/>
          <a:stretch/>
        </p:blipFill>
        <p:spPr>
          <a:xfrm>
            <a:off x="2373250" y="2456949"/>
            <a:ext cx="4397499" cy="2394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0"/>
          <p:cNvSpPr txBox="1"/>
          <p:nvPr>
            <p:ph type="title"/>
          </p:nvPr>
        </p:nvSpPr>
        <p:spPr>
          <a:xfrm>
            <a:off x="245025" y="505350"/>
            <a:ext cx="2706370"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3."Time Exceeded"</a:t>
            </a:r>
            <a:endParaRPr sz="2500">
              <a:latin typeface="Arial"/>
              <a:ea typeface="Arial"/>
              <a:cs typeface="Arial"/>
              <a:sym typeface="Arial"/>
            </a:endParaRPr>
          </a:p>
        </p:txBody>
      </p:sp>
      <p:sp>
        <p:nvSpPr>
          <p:cNvPr id="108" name="Google Shape;108;p10"/>
          <p:cNvSpPr txBox="1"/>
          <p:nvPr/>
        </p:nvSpPr>
        <p:spPr>
          <a:xfrm>
            <a:off x="245025" y="1219403"/>
            <a:ext cx="7592695" cy="1608455"/>
          </a:xfrm>
          <a:prstGeom prst="rect">
            <a:avLst/>
          </a:prstGeom>
          <a:noFill/>
          <a:ln>
            <a:noFill/>
          </a:ln>
        </p:spPr>
        <p:txBody>
          <a:bodyPr anchorCtr="0" anchor="t" bIns="0" lIns="0" spcFirstLastPara="1" rIns="0" wrap="square" tIns="12700">
            <a:spAutoFit/>
          </a:bodyPr>
          <a:lstStyle/>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IPv6 header includes a Hop Limit field.</a:t>
            </a:r>
            <a:endParaRPr sz="120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1100">
              <a:solidFill>
                <a:schemeClr val="dk1"/>
              </a:solidFill>
              <a:latin typeface="Arial"/>
              <a:ea typeface="Arial"/>
              <a:cs typeface="Arial"/>
              <a:sym typeface="Arial"/>
            </a:endParaRPr>
          </a:p>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The Hop Limit field value in IPv6 header is used to prevent routing loops.</a:t>
            </a:r>
            <a:endParaRPr sz="1200">
              <a:solidFill>
                <a:schemeClr val="dk1"/>
              </a:solidFill>
              <a:latin typeface="Arial"/>
              <a:ea typeface="Arial"/>
              <a:cs typeface="Arial"/>
              <a:sym typeface="Arial"/>
            </a:endParaRPr>
          </a:p>
          <a:p>
            <a:pPr indent="0" lvl="0" marL="0" marR="0" rtl="0" algn="l">
              <a:lnSpc>
                <a:spcPct val="100000"/>
              </a:lnSpc>
              <a:spcBef>
                <a:spcPts val="5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Hop Limit field in IPv6 datagram header is decremented by each router that forwards the packet.</a:t>
            </a:r>
            <a:endParaRPr sz="1200">
              <a:solidFill>
                <a:schemeClr val="dk1"/>
              </a:solidFill>
              <a:latin typeface="Arial"/>
              <a:ea typeface="Arial"/>
              <a:cs typeface="Arial"/>
              <a:sym typeface="Arial"/>
            </a:endParaRPr>
          </a:p>
          <a:p>
            <a:pPr indent="-76200" lvl="0" marL="12700" marR="5080" rtl="0" algn="l">
              <a:lnSpc>
                <a:spcPct val="1914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When the Hop Limit field value in IPv6 header reaches zero, the router discards the IPv6 datagram packet and  returns a "Time Exceeded" ICMPv6 error message to the source host.</a:t>
            </a:r>
            <a:endParaRPr sz="1200">
              <a:solidFill>
                <a:schemeClr val="dk1"/>
              </a:solidFill>
              <a:latin typeface="Arial"/>
              <a:ea typeface="Arial"/>
              <a:cs typeface="Arial"/>
              <a:sym typeface="Arial"/>
            </a:endParaRPr>
          </a:p>
        </p:txBody>
      </p:sp>
      <p:pic>
        <p:nvPicPr>
          <p:cNvPr id="109" name="Google Shape;109;p10"/>
          <p:cNvPicPr preferRelativeResize="0"/>
          <p:nvPr/>
        </p:nvPicPr>
        <p:blipFill rotWithShape="1">
          <a:blip r:embed="rId3">
            <a:alphaModFix/>
          </a:blip>
          <a:srcRect b="0" l="0" r="0" t="0"/>
          <a:stretch/>
        </p:blipFill>
        <p:spPr>
          <a:xfrm>
            <a:off x="2958551" y="3174676"/>
            <a:ext cx="3341499" cy="1634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5025" y="505350"/>
            <a:ext cx="3264535"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4."Parameter Problem"</a:t>
            </a:r>
            <a:endParaRPr sz="2500">
              <a:latin typeface="Arial"/>
              <a:ea typeface="Arial"/>
              <a:cs typeface="Arial"/>
              <a:sym typeface="Arial"/>
            </a:endParaRPr>
          </a:p>
        </p:txBody>
      </p:sp>
      <p:sp>
        <p:nvSpPr>
          <p:cNvPr id="115" name="Google Shape;115;p11"/>
          <p:cNvSpPr txBox="1"/>
          <p:nvPr/>
        </p:nvSpPr>
        <p:spPr>
          <a:xfrm>
            <a:off x="245025" y="1219403"/>
            <a:ext cx="8390255" cy="768985"/>
          </a:xfrm>
          <a:prstGeom prst="rect">
            <a:avLst/>
          </a:prstGeom>
          <a:noFill/>
          <a:ln>
            <a:noFill/>
          </a:ln>
        </p:spPr>
        <p:txBody>
          <a:bodyPr anchorCtr="0" anchor="t" bIns="0" lIns="0" spcFirstLastPara="1" rIns="0" wrap="square" tIns="12700">
            <a:spAutoFit/>
          </a:bodyPr>
          <a:lstStyle/>
          <a:p>
            <a:pPr indent="-139700" lvl="0" marL="152400" marR="0" rtl="0" algn="l">
              <a:lnSpc>
                <a:spcPct val="10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Message is typically related with the problems and mistakes related with IPv6 header itself.</a:t>
            </a:r>
            <a:endParaRPr sz="1200">
              <a:solidFill>
                <a:schemeClr val="dk1"/>
              </a:solidFill>
              <a:latin typeface="Arial"/>
              <a:ea typeface="Arial"/>
              <a:cs typeface="Arial"/>
              <a:sym typeface="Arial"/>
            </a:endParaRPr>
          </a:p>
          <a:p>
            <a:pPr indent="-139700" lvl="0" marL="152400" marR="5080" rtl="0" algn="l">
              <a:lnSpc>
                <a:spcPct val="114999"/>
              </a:lnSpc>
              <a:spcBef>
                <a:spcPts val="1100"/>
              </a:spcBef>
              <a:spcAft>
                <a:spcPts val="0"/>
              </a:spcAft>
              <a:buClr>
                <a:schemeClr val="dk1"/>
              </a:buClr>
              <a:buSzPts val="1200"/>
              <a:buFont typeface="Arial"/>
              <a:buChar char="•"/>
            </a:pPr>
            <a:r>
              <a:rPr lang="en-US" sz="1200">
                <a:solidFill>
                  <a:schemeClr val="dk1"/>
                </a:solidFill>
                <a:latin typeface="Arial"/>
                <a:ea typeface="Arial"/>
                <a:cs typeface="Arial"/>
                <a:sym typeface="Arial"/>
              </a:rPr>
              <a:t>When a problem or mistake with an IPv6 header make a router cannot process the packet, the router stops processing the  IPv6 datagram packet, discards the packet and returns a "Parameter Problem" ICMPv6 error message to the source host.</a:t>
            </a:r>
            <a:endParaRPr sz="1200">
              <a:solidFill>
                <a:schemeClr val="dk1"/>
              </a:solidFill>
              <a:latin typeface="Arial"/>
              <a:ea typeface="Arial"/>
              <a:cs typeface="Arial"/>
              <a:sym typeface="Arial"/>
            </a:endParaRPr>
          </a:p>
        </p:txBody>
      </p:sp>
      <p:pic>
        <p:nvPicPr>
          <p:cNvPr id="116" name="Google Shape;116;p11"/>
          <p:cNvPicPr preferRelativeResize="0"/>
          <p:nvPr/>
        </p:nvPicPr>
        <p:blipFill rotWithShape="1">
          <a:blip r:embed="rId3">
            <a:alphaModFix/>
          </a:blip>
          <a:srcRect b="0" l="0" r="0" t="0"/>
          <a:stretch/>
        </p:blipFill>
        <p:spPr>
          <a:xfrm>
            <a:off x="1930275" y="2434055"/>
            <a:ext cx="4726153" cy="21348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2"/>
          <p:cNvSpPr txBox="1"/>
          <p:nvPr/>
        </p:nvSpPr>
        <p:spPr>
          <a:xfrm>
            <a:off x="187400" y="850434"/>
            <a:ext cx="8077200" cy="1017905"/>
          </a:xfrm>
          <a:prstGeom prst="rect">
            <a:avLst/>
          </a:prstGeom>
          <a:noFill/>
          <a:ln>
            <a:noFill/>
          </a:ln>
        </p:spPr>
        <p:txBody>
          <a:bodyPr anchorCtr="0" anchor="t" bIns="0" lIns="0" spcFirstLastPara="1" rIns="0" wrap="square" tIns="12700">
            <a:spAutoFit/>
          </a:bodyPr>
          <a:lstStyle/>
          <a:p>
            <a:pPr indent="-139700" lvl="0" marL="152400" marR="5080" rtl="0" algn="l">
              <a:lnSpc>
                <a:spcPct val="114999"/>
              </a:lnSpc>
              <a:spcBef>
                <a:spcPts val="0"/>
              </a:spcBef>
              <a:spcAft>
                <a:spcPts val="0"/>
              </a:spcAft>
              <a:buNone/>
            </a:pPr>
            <a:r>
              <a:rPr b="1" lang="en-US" sz="1200">
                <a:solidFill>
                  <a:schemeClr val="dk1"/>
                </a:solidFill>
                <a:latin typeface="Arial"/>
                <a:ea typeface="Arial"/>
                <a:cs typeface="Arial"/>
                <a:sym typeface="Arial"/>
              </a:rPr>
              <a:t>T</a:t>
            </a:r>
            <a:r>
              <a:rPr lang="en-US" sz="1200">
                <a:solidFill>
                  <a:schemeClr val="dk1"/>
                </a:solidFill>
                <a:latin typeface="Arial"/>
                <a:ea typeface="Arial"/>
                <a:cs typeface="Arial"/>
                <a:sym typeface="Arial"/>
              </a:rPr>
              <a:t>he IPv6 Redirect Messages feature enables a device to send Internet Control Message Protocol (ICMP) IPv6 neighbor  redirect messages to inform hosts of better first-hop nodes (devices or hosts) on the path to a destination.</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150">
              <a:solidFill>
                <a:schemeClr val="dk1"/>
              </a:solidFill>
              <a:latin typeface="Arial"/>
              <a:ea typeface="Arial"/>
              <a:cs typeface="Arial"/>
              <a:sym typeface="Arial"/>
            </a:endParaRPr>
          </a:p>
          <a:p>
            <a:pPr indent="0" lvl="0" marL="1605280" marR="0" rtl="0" algn="l">
              <a:lnSpc>
                <a:spcPct val="100000"/>
              </a:lnSpc>
              <a:spcBef>
                <a:spcPts val="0"/>
              </a:spcBef>
              <a:spcAft>
                <a:spcPts val="0"/>
              </a:spcAft>
              <a:buNone/>
            </a:pPr>
            <a:r>
              <a:rPr b="1" lang="en-US" sz="1400">
                <a:solidFill>
                  <a:schemeClr val="dk1"/>
                </a:solidFill>
                <a:latin typeface="Arial"/>
                <a:ea typeface="Arial"/>
                <a:cs typeface="Arial"/>
                <a:sym typeface="Arial"/>
              </a:rPr>
              <a:t>Comparison of error-reporting messages in ICMPv4 and ICMPv6</a:t>
            </a:r>
            <a:endParaRPr sz="1400">
              <a:solidFill>
                <a:schemeClr val="dk1"/>
              </a:solidFill>
              <a:latin typeface="Arial"/>
              <a:ea typeface="Arial"/>
              <a:cs typeface="Arial"/>
              <a:sym typeface="Arial"/>
            </a:endParaRPr>
          </a:p>
        </p:txBody>
      </p:sp>
      <p:pic>
        <p:nvPicPr>
          <p:cNvPr id="122" name="Google Shape;122;p12"/>
          <p:cNvPicPr preferRelativeResize="0"/>
          <p:nvPr/>
        </p:nvPicPr>
        <p:blipFill rotWithShape="1">
          <a:blip r:embed="rId3">
            <a:alphaModFix/>
          </a:blip>
          <a:srcRect b="0" l="0" r="0" t="0"/>
          <a:stretch/>
        </p:blipFill>
        <p:spPr>
          <a:xfrm>
            <a:off x="557200" y="2014537"/>
            <a:ext cx="8029574" cy="2828924"/>
          </a:xfrm>
          <a:prstGeom prst="rect">
            <a:avLst/>
          </a:prstGeom>
          <a:noFill/>
          <a:ln>
            <a:noFill/>
          </a:ln>
        </p:spPr>
      </p:pic>
      <p:sp>
        <p:nvSpPr>
          <p:cNvPr id="123" name="Google Shape;123;p12"/>
          <p:cNvSpPr txBox="1"/>
          <p:nvPr>
            <p:ph type="title"/>
          </p:nvPr>
        </p:nvSpPr>
        <p:spPr>
          <a:xfrm>
            <a:off x="235874" y="211599"/>
            <a:ext cx="1896110"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5.Redirection</a:t>
            </a:r>
            <a:endParaRPr sz="25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384725" y="505248"/>
            <a:ext cx="366522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ICMPv6 Query Messages</a:t>
            </a:r>
            <a:endParaRPr sz="2500">
              <a:latin typeface="Arial"/>
              <a:ea typeface="Arial"/>
              <a:cs typeface="Arial"/>
              <a:sym typeface="Arial"/>
            </a:endParaRPr>
          </a:p>
        </p:txBody>
      </p:sp>
      <p:sp>
        <p:nvSpPr>
          <p:cNvPr id="129" name="Google Shape;129;p13"/>
          <p:cNvSpPr txBox="1"/>
          <p:nvPr/>
        </p:nvSpPr>
        <p:spPr>
          <a:xfrm>
            <a:off x="482980" y="1043252"/>
            <a:ext cx="4194175" cy="1217295"/>
          </a:xfrm>
          <a:prstGeom prst="rect">
            <a:avLst/>
          </a:prstGeom>
          <a:noFill/>
          <a:ln>
            <a:noFill/>
          </a:ln>
        </p:spPr>
        <p:txBody>
          <a:bodyPr anchorCtr="0" anchor="t" bIns="0" lIns="0" spcFirstLastPara="1" rIns="0" wrap="square" tIns="51425">
            <a:spAutoFit/>
          </a:bodyPr>
          <a:lstStyle/>
          <a:p>
            <a:pPr indent="-359410" lvl="0" marL="371475" marR="0" rtl="0" algn="l">
              <a:lnSpc>
                <a:spcPct val="1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Echo request and Reply</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Router Solicitation and advertisement</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Neighbor Solicitation and advertisement</a:t>
            </a:r>
            <a:endParaRPr sz="1700">
              <a:solidFill>
                <a:schemeClr val="dk1"/>
              </a:solidFill>
              <a:latin typeface="Arial"/>
              <a:ea typeface="Arial"/>
              <a:cs typeface="Arial"/>
              <a:sym typeface="Arial"/>
            </a:endParaRPr>
          </a:p>
          <a:p>
            <a:pPr indent="-359410" lvl="0" marL="371475" marR="0" rtl="0" algn="l">
              <a:lnSpc>
                <a:spcPct val="100000"/>
              </a:lnSpc>
              <a:spcBef>
                <a:spcPts val="305"/>
              </a:spcBef>
              <a:spcAft>
                <a:spcPts val="0"/>
              </a:spcAft>
              <a:buClr>
                <a:schemeClr val="dk1"/>
              </a:buClr>
              <a:buSzPts val="1700"/>
              <a:buFont typeface="Arial"/>
              <a:buChar char="●"/>
            </a:pPr>
            <a:r>
              <a:rPr lang="en-US" sz="1700">
                <a:solidFill>
                  <a:schemeClr val="dk1"/>
                </a:solidFill>
                <a:latin typeface="Arial"/>
                <a:ea typeface="Arial"/>
                <a:cs typeface="Arial"/>
                <a:sym typeface="Arial"/>
              </a:rPr>
              <a:t>Group membership</a:t>
            </a:r>
            <a:endParaRPr sz="17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384725" y="505248"/>
            <a:ext cx="203263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Echo Request</a:t>
            </a:r>
            <a:endParaRPr sz="2500">
              <a:latin typeface="Arial"/>
              <a:ea typeface="Arial"/>
              <a:cs typeface="Arial"/>
              <a:sym typeface="Arial"/>
            </a:endParaRPr>
          </a:p>
        </p:txBody>
      </p:sp>
      <p:sp>
        <p:nvSpPr>
          <p:cNvPr id="135" name="Google Shape;135;p14"/>
          <p:cNvSpPr txBox="1"/>
          <p:nvPr/>
        </p:nvSpPr>
        <p:spPr>
          <a:xfrm>
            <a:off x="505993" y="1186383"/>
            <a:ext cx="8220709" cy="1497965"/>
          </a:xfrm>
          <a:prstGeom prst="rect">
            <a:avLst/>
          </a:prstGeom>
          <a:noFill/>
          <a:ln>
            <a:noFill/>
          </a:ln>
        </p:spPr>
        <p:txBody>
          <a:bodyPr anchorCtr="0" anchor="t" bIns="0" lIns="0" spcFirstLastPara="1" rIns="0" wrap="square" tIns="44450">
            <a:spAutoFit/>
          </a:bodyPr>
          <a:lstStyle/>
          <a:p>
            <a:pPr indent="-336550" lvl="0" marL="348615" marR="0" rtl="0" algn="l">
              <a:lnSpc>
                <a:spcPct val="10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The Type field is set to 128, the value for the Echo Request.</a:t>
            </a:r>
            <a:endParaRPr sz="1400">
              <a:solidFill>
                <a:schemeClr val="dk1"/>
              </a:solidFill>
              <a:latin typeface="Arial"/>
              <a:ea typeface="Arial"/>
              <a:cs typeface="Arial"/>
              <a:sym typeface="Arial"/>
            </a:endParaRPr>
          </a:p>
          <a:p>
            <a:pPr indent="-336550" lvl="0" marL="348615" marR="110489" rtl="0" algn="l">
              <a:lnSpc>
                <a:spcPct val="114999"/>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1400">
                <a:solidFill>
                  <a:schemeClr val="dk1"/>
                </a:solidFill>
                <a:latin typeface="Arial"/>
                <a:ea typeface="Arial"/>
                <a:cs typeface="Arial"/>
                <a:sym typeface="Arial"/>
              </a:rPr>
              <a:t>The Code Field is not used for this message and is therefore set to 0. The Identifier and Sequence  Number fields are used to match requests with replies.</a:t>
            </a:r>
            <a:endParaRPr sz="1400">
              <a:solidFill>
                <a:schemeClr val="dk1"/>
              </a:solidFill>
              <a:latin typeface="Arial"/>
              <a:ea typeface="Arial"/>
              <a:cs typeface="Arial"/>
              <a:sym typeface="Arial"/>
            </a:endParaRPr>
          </a:p>
          <a:p>
            <a:pPr indent="-382269" lvl="0" marL="394335" marR="0" rtl="0" algn="l">
              <a:lnSpc>
                <a:spcPct val="100000"/>
              </a:lnSpc>
              <a:spcBef>
                <a:spcPts val="254"/>
              </a:spcBef>
              <a:spcAft>
                <a:spcPts val="0"/>
              </a:spcAft>
              <a:buClr>
                <a:schemeClr val="dk1"/>
              </a:buClr>
              <a:buSzPts val="1400"/>
              <a:buFont typeface="Arial"/>
              <a:buChar char="●"/>
            </a:pPr>
            <a:r>
              <a:rPr lang="en-US" sz="1400">
                <a:solidFill>
                  <a:schemeClr val="dk1"/>
                </a:solidFill>
                <a:latin typeface="Arial"/>
                <a:ea typeface="Arial"/>
                <a:cs typeface="Arial"/>
                <a:sym typeface="Arial"/>
              </a:rPr>
              <a:t>The reply contain the same numbers as the request.</a:t>
            </a:r>
            <a:endParaRPr sz="1400">
              <a:solidFill>
                <a:schemeClr val="dk1"/>
              </a:solidFill>
              <a:latin typeface="Arial"/>
              <a:ea typeface="Arial"/>
              <a:cs typeface="Arial"/>
              <a:sym typeface="Arial"/>
            </a:endParaRPr>
          </a:p>
          <a:p>
            <a:pPr indent="-336550" lvl="0" marL="348615" marR="5080" rtl="0" algn="l">
              <a:lnSpc>
                <a:spcPct val="114999"/>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Whether an identifier and a sequence number are used and what kind of arbitrary data is included in  the Echo Request depends on the TCP/IP stack you are using.</a:t>
            </a:r>
            <a:endParaRPr sz="1400">
              <a:solidFill>
                <a:schemeClr val="dk1"/>
              </a:solidFill>
              <a:latin typeface="Arial"/>
              <a:ea typeface="Arial"/>
              <a:cs typeface="Arial"/>
              <a:sym typeface="Arial"/>
            </a:endParaRPr>
          </a:p>
        </p:txBody>
      </p:sp>
      <p:pic>
        <p:nvPicPr>
          <p:cNvPr id="136" name="Google Shape;136;p14"/>
          <p:cNvPicPr preferRelativeResize="0"/>
          <p:nvPr/>
        </p:nvPicPr>
        <p:blipFill rotWithShape="1">
          <a:blip r:embed="rId3">
            <a:alphaModFix/>
          </a:blip>
          <a:srcRect b="0" l="0" r="0" t="0"/>
          <a:stretch/>
        </p:blipFill>
        <p:spPr>
          <a:xfrm>
            <a:off x="4521899" y="2759124"/>
            <a:ext cx="3731224" cy="2262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384725" y="505248"/>
            <a:ext cx="16592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Echo Reply</a:t>
            </a:r>
            <a:endParaRPr sz="2500">
              <a:latin typeface="Arial"/>
              <a:ea typeface="Arial"/>
              <a:cs typeface="Arial"/>
              <a:sym typeface="Arial"/>
            </a:endParaRPr>
          </a:p>
        </p:txBody>
      </p:sp>
      <p:sp>
        <p:nvSpPr>
          <p:cNvPr id="142" name="Google Shape;142;p15"/>
          <p:cNvSpPr txBox="1"/>
          <p:nvPr>
            <p:ph idx="1" type="body"/>
          </p:nvPr>
        </p:nvSpPr>
        <p:spPr>
          <a:xfrm>
            <a:off x="428879" y="1178002"/>
            <a:ext cx="8286241" cy="2409190"/>
          </a:xfrm>
          <a:prstGeom prst="rect">
            <a:avLst/>
          </a:prstGeom>
          <a:noFill/>
          <a:ln>
            <a:noFill/>
          </a:ln>
        </p:spPr>
        <p:txBody>
          <a:bodyPr anchorCtr="0" anchor="t" bIns="0" lIns="0" spcFirstLastPara="1" rIns="0" wrap="square" tIns="12700">
            <a:spAutoFit/>
          </a:bodyPr>
          <a:lstStyle/>
          <a:p>
            <a:pPr indent="-359410" lvl="0" marL="425450" marR="328930" rtl="0" algn="l">
              <a:lnSpc>
                <a:spcPct val="114999"/>
              </a:lnSpc>
              <a:spcBef>
                <a:spcPts val="0"/>
              </a:spcBef>
              <a:spcAft>
                <a:spcPts val="0"/>
              </a:spcAft>
              <a:buClr>
                <a:schemeClr val="dk1"/>
              </a:buClr>
              <a:buSzPts val="1700"/>
              <a:buFont typeface="Arial"/>
              <a:buChar char="●"/>
            </a:pPr>
            <a:r>
              <a:rPr lang="en-US"/>
              <a:t>The Type field contains the value 129 for Echo Reply. The Code field is unused  and set to 0.</a:t>
            </a:r>
            <a:endParaRPr/>
          </a:p>
          <a:p>
            <a:pPr indent="-415290" lvl="0" marL="481330" rtl="0" algn="l">
              <a:lnSpc>
                <a:spcPct val="100000"/>
              </a:lnSpc>
              <a:spcBef>
                <a:spcPts val="305"/>
              </a:spcBef>
              <a:spcAft>
                <a:spcPts val="0"/>
              </a:spcAft>
              <a:buClr>
                <a:schemeClr val="dk1"/>
              </a:buClr>
              <a:buSzPts val="1700"/>
              <a:buFont typeface="Arial"/>
              <a:buChar char="●"/>
            </a:pPr>
            <a:r>
              <a:rPr lang="en-US"/>
              <a:t>The Identifier and Sequence Number fields must match the fields in the request.</a:t>
            </a:r>
            <a:endParaRPr/>
          </a:p>
          <a:p>
            <a:pPr indent="-359410" lvl="0" marL="425450" marR="5080" rtl="0" algn="l">
              <a:lnSpc>
                <a:spcPct val="114999"/>
              </a:lnSpc>
              <a:spcBef>
                <a:spcPts val="0"/>
              </a:spcBef>
              <a:spcAft>
                <a:spcPts val="0"/>
              </a:spcAft>
              <a:buClr>
                <a:schemeClr val="dk1"/>
              </a:buClr>
              <a:buSzPts val="1700"/>
              <a:buFont typeface="Arial"/>
              <a:buChar char="●"/>
            </a:pPr>
            <a:r>
              <a:rPr lang="en-US"/>
              <a:t>	The data of the Echo Request message must be copied into the reply entirely and  unmodified.</a:t>
            </a:r>
            <a:endParaRPr/>
          </a:p>
          <a:p>
            <a:pPr indent="-359410" lvl="0" marL="425450" marR="74930" rtl="0" algn="l">
              <a:lnSpc>
                <a:spcPct val="114999"/>
              </a:lnSpc>
              <a:spcBef>
                <a:spcPts val="0"/>
              </a:spcBef>
              <a:spcAft>
                <a:spcPts val="0"/>
              </a:spcAft>
              <a:buClr>
                <a:schemeClr val="dk1"/>
              </a:buClr>
              <a:buSzPts val="1700"/>
              <a:buFont typeface="Arial"/>
              <a:buChar char="●"/>
            </a:pPr>
            <a:r>
              <a:rPr lang="en-US"/>
              <a:t>Echo Request message was sent to a unicast address, the Source address of the  Echo Reply message must be the same as the Destination address of the Echo  Request message.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384725" y="505248"/>
            <a:ext cx="567309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Neighbor Solicitation and advertisement</a:t>
            </a:r>
            <a:endParaRPr sz="2500">
              <a:latin typeface="Arial"/>
              <a:ea typeface="Arial"/>
              <a:cs typeface="Arial"/>
              <a:sym typeface="Arial"/>
            </a:endParaRPr>
          </a:p>
        </p:txBody>
      </p:sp>
      <p:sp>
        <p:nvSpPr>
          <p:cNvPr id="148" name="Google Shape;148;p16"/>
          <p:cNvSpPr txBox="1"/>
          <p:nvPr/>
        </p:nvSpPr>
        <p:spPr>
          <a:xfrm>
            <a:off x="485946" y="1206936"/>
            <a:ext cx="8044815" cy="2202815"/>
          </a:xfrm>
          <a:prstGeom prst="rect">
            <a:avLst/>
          </a:prstGeom>
          <a:noFill/>
          <a:ln>
            <a:noFill/>
          </a:ln>
        </p:spPr>
        <p:txBody>
          <a:bodyPr anchorCtr="0" anchor="t" bIns="0" lIns="0" spcFirstLastPara="1" rIns="0" wrap="square" tIns="13950">
            <a:spAutoFit/>
          </a:bodyPr>
          <a:lstStyle/>
          <a:p>
            <a:pPr indent="-356235" lvl="0" marL="368300" marR="0" rtl="0" algn="l">
              <a:lnSpc>
                <a:spcPct val="117272"/>
              </a:lnSpc>
              <a:spcBef>
                <a:spcPts val="0"/>
              </a:spcBef>
              <a:spcAft>
                <a:spcPts val="0"/>
              </a:spcAft>
              <a:buClr>
                <a:schemeClr val="dk1"/>
              </a:buClr>
              <a:buSzPts val="1650"/>
              <a:buFont typeface="Arial"/>
              <a:buChar char="●"/>
            </a:pPr>
            <a:r>
              <a:rPr lang="en-US" sz="1650">
                <a:solidFill>
                  <a:schemeClr val="dk1"/>
                </a:solidFill>
                <a:latin typeface="Arial"/>
                <a:ea typeface="Arial"/>
                <a:cs typeface="Arial"/>
                <a:sym typeface="Arial"/>
              </a:rPr>
              <a:t>Improves and modified version of Ipv4</a:t>
            </a:r>
            <a:endParaRPr sz="1650">
              <a:solidFill>
                <a:schemeClr val="dk1"/>
              </a:solidFill>
              <a:latin typeface="Arial"/>
              <a:ea typeface="Arial"/>
              <a:cs typeface="Arial"/>
              <a:sym typeface="Arial"/>
            </a:endParaRPr>
          </a:p>
          <a:p>
            <a:pPr indent="-356235" lvl="0" marL="368300" marR="247650" rtl="0" algn="l">
              <a:lnSpc>
                <a:spcPct val="114484"/>
              </a:lnSpc>
              <a:spcBef>
                <a:spcPts val="95"/>
              </a:spcBef>
              <a:spcAft>
                <a:spcPts val="0"/>
              </a:spcAft>
              <a:buClr>
                <a:schemeClr val="dk1"/>
              </a:buClr>
              <a:buSzPts val="1650"/>
              <a:buFont typeface="Arial"/>
              <a:buChar char="●"/>
            </a:pPr>
            <a:r>
              <a:rPr lang="en-US" sz="1650">
                <a:solidFill>
                  <a:schemeClr val="dk1"/>
                </a:solidFill>
                <a:latin typeface="Arial"/>
                <a:ea typeface="Arial"/>
                <a:cs typeface="Arial"/>
                <a:sym typeface="Arial"/>
              </a:rPr>
              <a:t>New functionality has been added which combines Address Resolution Protocol  (ARP) and ICMP Router Discovery Protocol</a:t>
            </a:r>
            <a:endParaRPr sz="1650">
              <a:solidFill>
                <a:schemeClr val="dk1"/>
              </a:solidFill>
              <a:latin typeface="Arial"/>
              <a:ea typeface="Arial"/>
              <a:cs typeface="Arial"/>
              <a:sym typeface="Arial"/>
            </a:endParaRPr>
          </a:p>
          <a:p>
            <a:pPr indent="-356235" lvl="0" marL="368300" marR="5080" rtl="0" algn="l">
              <a:lnSpc>
                <a:spcPct val="114484"/>
              </a:lnSpc>
              <a:spcBef>
                <a:spcPts val="5"/>
              </a:spcBef>
              <a:spcAft>
                <a:spcPts val="0"/>
              </a:spcAft>
              <a:buClr>
                <a:schemeClr val="dk1"/>
              </a:buClr>
              <a:buSzPts val="1650"/>
              <a:buFont typeface="Arial"/>
              <a:buChar char="●"/>
            </a:pPr>
            <a:r>
              <a:rPr lang="en-US" sz="1650">
                <a:solidFill>
                  <a:schemeClr val="dk1"/>
                </a:solidFill>
                <a:latin typeface="Arial"/>
                <a:ea typeface="Arial"/>
                <a:cs typeface="Arial"/>
                <a:sym typeface="Arial"/>
              </a:rPr>
              <a:t>Neighbor Unreachability Detection (NUD) mechanism has been defined. Duplicate  IP address detection (DAD) has also been implemented.</a:t>
            </a:r>
            <a:endParaRPr sz="1650">
              <a:solidFill>
                <a:schemeClr val="dk1"/>
              </a:solidFill>
              <a:latin typeface="Arial"/>
              <a:ea typeface="Arial"/>
              <a:cs typeface="Arial"/>
              <a:sym typeface="Arial"/>
            </a:endParaRPr>
          </a:p>
          <a:p>
            <a:pPr indent="-356235" lvl="0" marL="368300" marR="0" rtl="0" algn="l">
              <a:lnSpc>
                <a:spcPct val="109393"/>
              </a:lnSpc>
              <a:spcBef>
                <a:spcPts val="0"/>
              </a:spcBef>
              <a:spcAft>
                <a:spcPts val="0"/>
              </a:spcAft>
              <a:buClr>
                <a:schemeClr val="dk1"/>
              </a:buClr>
              <a:buSzPts val="1650"/>
              <a:buFont typeface="Arial"/>
              <a:buChar char="●"/>
            </a:pPr>
            <a:r>
              <a:rPr lang="en-US" sz="1650">
                <a:solidFill>
                  <a:schemeClr val="dk1"/>
                </a:solidFill>
                <a:latin typeface="Arial"/>
                <a:ea typeface="Arial"/>
                <a:cs typeface="Arial"/>
                <a:sym typeface="Arial"/>
              </a:rPr>
              <a:t>IPv6 nodes use Neighbor Discovery</a:t>
            </a:r>
            <a:endParaRPr sz="1650">
              <a:solidFill>
                <a:schemeClr val="dk1"/>
              </a:solidFill>
              <a:latin typeface="Arial"/>
              <a:ea typeface="Arial"/>
              <a:cs typeface="Arial"/>
              <a:sym typeface="Arial"/>
            </a:endParaRPr>
          </a:p>
          <a:p>
            <a:pPr indent="-356235" lvl="0" marL="368300" marR="0" rtl="0" algn="l">
              <a:lnSpc>
                <a:spcPct val="114848"/>
              </a:lnSpc>
              <a:spcBef>
                <a:spcPts val="0"/>
              </a:spcBef>
              <a:spcAft>
                <a:spcPts val="0"/>
              </a:spcAft>
              <a:buClr>
                <a:schemeClr val="dk1"/>
              </a:buClr>
              <a:buSzPts val="1650"/>
              <a:buFont typeface="Arial"/>
              <a:buChar char="●"/>
            </a:pPr>
            <a:r>
              <a:rPr lang="en-US" sz="1650">
                <a:solidFill>
                  <a:schemeClr val="dk1"/>
                </a:solidFill>
                <a:latin typeface="Arial"/>
                <a:ea typeface="Arial"/>
                <a:cs typeface="Arial"/>
                <a:sym typeface="Arial"/>
              </a:rPr>
              <a:t>To find neighboring routers that can forward their packets</a:t>
            </a:r>
            <a:endParaRPr sz="1650">
              <a:solidFill>
                <a:schemeClr val="dk1"/>
              </a:solidFill>
              <a:latin typeface="Arial"/>
              <a:ea typeface="Arial"/>
              <a:cs typeface="Arial"/>
              <a:sym typeface="Arial"/>
            </a:endParaRPr>
          </a:p>
          <a:p>
            <a:pPr indent="-356235" lvl="0" marL="368300" marR="0" rtl="0" algn="l">
              <a:lnSpc>
                <a:spcPct val="114848"/>
              </a:lnSpc>
              <a:spcBef>
                <a:spcPts val="0"/>
              </a:spcBef>
              <a:spcAft>
                <a:spcPts val="0"/>
              </a:spcAft>
              <a:buClr>
                <a:schemeClr val="dk1"/>
              </a:buClr>
              <a:buSzPts val="1650"/>
              <a:buFont typeface="Arial"/>
              <a:buChar char="●"/>
            </a:pPr>
            <a:r>
              <a:rPr lang="en-US" sz="1650">
                <a:solidFill>
                  <a:schemeClr val="dk1"/>
                </a:solidFill>
                <a:latin typeface="Arial"/>
                <a:ea typeface="Arial"/>
                <a:cs typeface="Arial"/>
                <a:sym typeface="Arial"/>
              </a:rPr>
              <a:t>To keep track of which neighbors are reachable and which are not (NUD)</a:t>
            </a:r>
            <a:endParaRPr sz="1650">
              <a:solidFill>
                <a:schemeClr val="dk1"/>
              </a:solidFill>
              <a:latin typeface="Arial"/>
              <a:ea typeface="Arial"/>
              <a:cs typeface="Arial"/>
              <a:sym typeface="Arial"/>
            </a:endParaRPr>
          </a:p>
          <a:p>
            <a:pPr indent="-356235" lvl="0" marL="368300" marR="0" rtl="0" algn="l">
              <a:lnSpc>
                <a:spcPct val="117272"/>
              </a:lnSpc>
              <a:spcBef>
                <a:spcPts val="0"/>
              </a:spcBef>
              <a:spcAft>
                <a:spcPts val="0"/>
              </a:spcAft>
              <a:buClr>
                <a:schemeClr val="dk1"/>
              </a:buClr>
              <a:buSzPts val="1650"/>
              <a:buFont typeface="Arial"/>
              <a:buChar char="●"/>
            </a:pPr>
            <a:r>
              <a:rPr lang="en-US" sz="1650">
                <a:solidFill>
                  <a:schemeClr val="dk1"/>
                </a:solidFill>
                <a:latin typeface="Arial"/>
                <a:ea typeface="Arial"/>
                <a:cs typeface="Arial"/>
                <a:sym typeface="Arial"/>
              </a:rPr>
              <a:t>To detect changed link-layer addresses</a:t>
            </a:r>
            <a:endParaRPr sz="1650">
              <a:solidFill>
                <a:schemeClr val="dk1"/>
              </a:solidFill>
              <a:latin typeface="Arial"/>
              <a:ea typeface="Arial"/>
              <a:cs typeface="Arial"/>
              <a:sym typeface="Arial"/>
            </a:endParaRPr>
          </a:p>
        </p:txBody>
      </p:sp>
      <p:pic>
        <p:nvPicPr>
          <p:cNvPr id="149" name="Google Shape;149;p16"/>
          <p:cNvPicPr preferRelativeResize="0"/>
          <p:nvPr/>
        </p:nvPicPr>
        <p:blipFill rotWithShape="1">
          <a:blip r:embed="rId3">
            <a:alphaModFix/>
          </a:blip>
          <a:srcRect b="0" l="0" r="0" t="0"/>
          <a:stretch/>
        </p:blipFill>
        <p:spPr>
          <a:xfrm>
            <a:off x="4572003" y="3214800"/>
            <a:ext cx="3376400" cy="18097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384725" y="505248"/>
            <a:ext cx="534924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Router Solicitation and Advertisement</a:t>
            </a:r>
            <a:endParaRPr sz="2500">
              <a:latin typeface="Arial"/>
              <a:ea typeface="Arial"/>
              <a:cs typeface="Arial"/>
              <a:sym typeface="Arial"/>
            </a:endParaRPr>
          </a:p>
        </p:txBody>
      </p:sp>
      <p:sp>
        <p:nvSpPr>
          <p:cNvPr id="155" name="Google Shape;155;p17"/>
          <p:cNvSpPr txBox="1"/>
          <p:nvPr/>
        </p:nvSpPr>
        <p:spPr>
          <a:xfrm>
            <a:off x="482980" y="1188727"/>
            <a:ext cx="7366000" cy="919480"/>
          </a:xfrm>
          <a:prstGeom prst="rect">
            <a:avLst/>
          </a:prstGeom>
          <a:noFill/>
          <a:ln>
            <a:noFill/>
          </a:ln>
        </p:spPr>
        <p:txBody>
          <a:bodyPr anchorCtr="0" anchor="t" bIns="0" lIns="0" spcFirstLastPara="1" rIns="0" wrap="square" tIns="51425">
            <a:spAutoFit/>
          </a:bodyPr>
          <a:lstStyle/>
          <a:p>
            <a:pPr indent="-359410" lvl="0" marL="371475" marR="0" rtl="0" algn="l">
              <a:lnSpc>
                <a:spcPct val="1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Routers send out Router Advertisement messages at regular intervals.</a:t>
            </a:r>
            <a:endParaRPr sz="1700">
              <a:solidFill>
                <a:schemeClr val="dk1"/>
              </a:solidFill>
              <a:latin typeface="Arial"/>
              <a:ea typeface="Arial"/>
              <a:cs typeface="Arial"/>
              <a:sym typeface="Arial"/>
            </a:endParaRPr>
          </a:p>
          <a:p>
            <a:pPr indent="-359410" lvl="0" marL="371475" marR="5080" rtl="0" algn="l">
              <a:lnSpc>
                <a:spcPct val="114999"/>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Hosts can request Router Advertisements by issuing a Router Solicitation  message.</a:t>
            </a:r>
            <a:endParaRPr sz="1700">
              <a:solidFill>
                <a:schemeClr val="dk1"/>
              </a:solidFill>
              <a:latin typeface="Arial"/>
              <a:ea typeface="Arial"/>
              <a:cs typeface="Arial"/>
              <a:sym typeface="Arial"/>
            </a:endParaRPr>
          </a:p>
        </p:txBody>
      </p:sp>
      <p:pic>
        <p:nvPicPr>
          <p:cNvPr id="156" name="Google Shape;156;p17"/>
          <p:cNvPicPr preferRelativeResize="0"/>
          <p:nvPr/>
        </p:nvPicPr>
        <p:blipFill rotWithShape="1">
          <a:blip r:embed="rId3">
            <a:alphaModFix/>
          </a:blip>
          <a:srcRect b="0" l="0" r="0" t="0"/>
          <a:stretch/>
        </p:blipFill>
        <p:spPr>
          <a:xfrm>
            <a:off x="1999000" y="2096400"/>
            <a:ext cx="4505324" cy="29102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384725" y="505248"/>
            <a:ext cx="276225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Group membership</a:t>
            </a:r>
            <a:endParaRPr sz="2500">
              <a:latin typeface="Arial"/>
              <a:ea typeface="Arial"/>
              <a:cs typeface="Arial"/>
              <a:sym typeface="Arial"/>
            </a:endParaRPr>
          </a:p>
        </p:txBody>
      </p:sp>
      <p:sp>
        <p:nvSpPr>
          <p:cNvPr id="162" name="Google Shape;162;p18"/>
          <p:cNvSpPr txBox="1"/>
          <p:nvPr/>
        </p:nvSpPr>
        <p:spPr>
          <a:xfrm>
            <a:off x="475249" y="1140099"/>
            <a:ext cx="8213090" cy="942975"/>
          </a:xfrm>
          <a:prstGeom prst="rect">
            <a:avLst/>
          </a:prstGeom>
          <a:noFill/>
          <a:ln>
            <a:noFill/>
          </a:ln>
        </p:spPr>
        <p:txBody>
          <a:bodyPr anchorCtr="0" anchor="t" bIns="0" lIns="0" spcFirstLastPara="1" rIns="0" wrap="square" tIns="56500">
            <a:spAutoFit/>
          </a:bodyPr>
          <a:lstStyle/>
          <a:p>
            <a:pPr indent="-367030" lvl="0" marL="379095" marR="0" rtl="0" algn="l">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t>
            </a:r>
            <a:r>
              <a:rPr lang="en-US" sz="1700">
                <a:solidFill>
                  <a:schemeClr val="dk1"/>
                </a:solidFill>
                <a:latin typeface="Arial"/>
                <a:ea typeface="Arial"/>
                <a:cs typeface="Arial"/>
                <a:sym typeface="Arial"/>
              </a:rPr>
              <a:t>Network layer in version 4 contains an independent protocol called IGMP.</a:t>
            </a:r>
            <a:endParaRPr sz="1700">
              <a:solidFill>
                <a:schemeClr val="dk1"/>
              </a:solidFill>
              <a:latin typeface="Arial"/>
              <a:ea typeface="Arial"/>
              <a:cs typeface="Arial"/>
              <a:sym typeface="Arial"/>
            </a:endParaRPr>
          </a:p>
          <a:p>
            <a:pPr indent="-359410" lvl="0" marL="379095" marR="5080" rtl="0" algn="l">
              <a:lnSpc>
                <a:spcPct val="114999"/>
              </a:lnSpc>
              <a:spcBef>
                <a:spcPts val="25"/>
              </a:spcBef>
              <a:spcAft>
                <a:spcPts val="0"/>
              </a:spcAft>
              <a:buClr>
                <a:schemeClr val="dk1"/>
              </a:buClr>
              <a:buSzPts val="1700"/>
              <a:buFont typeface="Arial"/>
              <a:buChar char="●"/>
            </a:pPr>
            <a:r>
              <a:rPr lang="en-US" sz="1700">
                <a:solidFill>
                  <a:schemeClr val="dk1"/>
                </a:solidFill>
                <a:latin typeface="Arial"/>
                <a:ea typeface="Arial"/>
                <a:cs typeface="Arial"/>
                <a:sym typeface="Arial"/>
              </a:rPr>
              <a:t>In version 6, this protocol is eliminated, and its duties are included in ICMPv6. The  purpose is exactly the same</a:t>
            </a:r>
            <a:endParaRPr sz="17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384725" y="505248"/>
            <a:ext cx="7950200"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b="0" lang="en-US" sz="2500">
                <a:latin typeface="Arial"/>
                <a:ea typeface="Arial"/>
                <a:cs typeface="Arial"/>
                <a:sym typeface="Arial"/>
              </a:rPr>
              <a:t>Comparison of query messages in ICMPv4 and ICMPv6</a:t>
            </a:r>
            <a:endParaRPr sz="2500">
              <a:latin typeface="Arial"/>
              <a:ea typeface="Arial"/>
              <a:cs typeface="Arial"/>
              <a:sym typeface="Arial"/>
            </a:endParaRPr>
          </a:p>
        </p:txBody>
      </p:sp>
      <p:pic>
        <p:nvPicPr>
          <p:cNvPr id="168" name="Google Shape;168;p19"/>
          <p:cNvPicPr preferRelativeResize="0"/>
          <p:nvPr/>
        </p:nvPicPr>
        <p:blipFill rotWithShape="1">
          <a:blip r:embed="rId3">
            <a:alphaModFix/>
          </a:blip>
          <a:srcRect b="0" l="0" r="0" t="0"/>
          <a:stretch/>
        </p:blipFill>
        <p:spPr>
          <a:xfrm>
            <a:off x="449324" y="1566137"/>
            <a:ext cx="7086599" cy="2943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2022-12-16T05:27:30Z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