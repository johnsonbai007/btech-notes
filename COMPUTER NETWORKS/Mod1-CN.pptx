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2"/>
  </p:notesMasterIdLst>
  <p:handoutMasterIdLst>
    <p:handoutMasterId r:id="rId113"/>
  </p:handoutMasterIdLst>
  <p:sldIdLst>
    <p:sldId id="256" r:id="rId2"/>
    <p:sldId id="401" r:id="rId3"/>
    <p:sldId id="400" r:id="rId4"/>
    <p:sldId id="305" r:id="rId5"/>
    <p:sldId id="270" r:id="rId6"/>
    <p:sldId id="313" r:id="rId7"/>
    <p:sldId id="402" r:id="rId8"/>
    <p:sldId id="403" r:id="rId9"/>
    <p:sldId id="404" r:id="rId10"/>
    <p:sldId id="261" r:id="rId11"/>
    <p:sldId id="259" r:id="rId12"/>
    <p:sldId id="314" r:id="rId13"/>
    <p:sldId id="260" r:id="rId14"/>
    <p:sldId id="262" r:id="rId15"/>
    <p:sldId id="406" r:id="rId16"/>
    <p:sldId id="405" r:id="rId17"/>
    <p:sldId id="269" r:id="rId18"/>
    <p:sldId id="271" r:id="rId19"/>
    <p:sldId id="263" r:id="rId20"/>
    <p:sldId id="316" r:id="rId21"/>
    <p:sldId id="318" r:id="rId22"/>
    <p:sldId id="317" r:id="rId23"/>
    <p:sldId id="408" r:id="rId24"/>
    <p:sldId id="306" r:id="rId25"/>
    <p:sldId id="327" r:id="rId26"/>
    <p:sldId id="320" r:id="rId27"/>
    <p:sldId id="321" r:id="rId28"/>
    <p:sldId id="322" r:id="rId29"/>
    <p:sldId id="323" r:id="rId30"/>
    <p:sldId id="398" r:id="rId31"/>
    <p:sldId id="409" r:id="rId32"/>
    <p:sldId id="397" r:id="rId33"/>
    <p:sldId id="324" r:id="rId34"/>
    <p:sldId id="325" r:id="rId35"/>
    <p:sldId id="326" r:id="rId36"/>
    <p:sldId id="266" r:id="rId37"/>
    <p:sldId id="267" r:id="rId38"/>
    <p:sldId id="329" r:id="rId39"/>
    <p:sldId id="328" r:id="rId40"/>
    <p:sldId id="330" r:id="rId41"/>
    <p:sldId id="331" r:id="rId42"/>
    <p:sldId id="268" r:id="rId43"/>
    <p:sldId id="332" r:id="rId44"/>
    <p:sldId id="339" r:id="rId45"/>
    <p:sldId id="307" r:id="rId46"/>
    <p:sldId id="340" r:id="rId47"/>
    <p:sldId id="273" r:id="rId48"/>
    <p:sldId id="341" r:id="rId49"/>
    <p:sldId id="342" r:id="rId50"/>
    <p:sldId id="274" r:id="rId51"/>
    <p:sldId id="275" r:id="rId52"/>
    <p:sldId id="311" r:id="rId53"/>
    <p:sldId id="347" r:id="rId54"/>
    <p:sldId id="343" r:id="rId55"/>
    <p:sldId id="344" r:id="rId56"/>
    <p:sldId id="345" r:id="rId57"/>
    <p:sldId id="276" r:id="rId58"/>
    <p:sldId id="349" r:id="rId59"/>
    <p:sldId id="350" r:id="rId60"/>
    <p:sldId id="351" r:id="rId61"/>
    <p:sldId id="362" r:id="rId62"/>
    <p:sldId id="399" r:id="rId63"/>
    <p:sldId id="363" r:id="rId64"/>
    <p:sldId id="348" r:id="rId65"/>
    <p:sldId id="364" r:id="rId66"/>
    <p:sldId id="277" r:id="rId67"/>
    <p:sldId id="365" r:id="rId68"/>
    <p:sldId id="371" r:id="rId69"/>
    <p:sldId id="366" r:id="rId70"/>
    <p:sldId id="368" r:id="rId71"/>
    <p:sldId id="369" r:id="rId72"/>
    <p:sldId id="370" r:id="rId73"/>
    <p:sldId id="308" r:id="rId74"/>
    <p:sldId id="373" r:id="rId75"/>
    <p:sldId id="374" r:id="rId76"/>
    <p:sldId id="280" r:id="rId77"/>
    <p:sldId id="412" r:id="rId78"/>
    <p:sldId id="410" r:id="rId79"/>
    <p:sldId id="375" r:id="rId80"/>
    <p:sldId id="411" r:id="rId81"/>
    <p:sldId id="376" r:id="rId82"/>
    <p:sldId id="413" r:id="rId83"/>
    <p:sldId id="377" r:id="rId84"/>
    <p:sldId id="378" r:id="rId85"/>
    <p:sldId id="379" r:id="rId86"/>
    <p:sldId id="595" r:id="rId87"/>
    <p:sldId id="380" r:id="rId88"/>
    <p:sldId id="381" r:id="rId89"/>
    <p:sldId id="382" r:id="rId90"/>
    <p:sldId id="597" r:id="rId91"/>
    <p:sldId id="383" r:id="rId92"/>
    <p:sldId id="384" r:id="rId93"/>
    <p:sldId id="598" r:id="rId94"/>
    <p:sldId id="385" r:id="rId95"/>
    <p:sldId id="599" r:id="rId96"/>
    <p:sldId id="601" r:id="rId97"/>
    <p:sldId id="281" r:id="rId98"/>
    <p:sldId id="386" r:id="rId99"/>
    <p:sldId id="387" r:id="rId100"/>
    <p:sldId id="388" r:id="rId101"/>
    <p:sldId id="389" r:id="rId102"/>
    <p:sldId id="390" r:id="rId103"/>
    <p:sldId id="391" r:id="rId104"/>
    <p:sldId id="392" r:id="rId105"/>
    <p:sldId id="393" r:id="rId106"/>
    <p:sldId id="394" r:id="rId107"/>
    <p:sldId id="395" r:id="rId108"/>
    <p:sldId id="396" r:id="rId109"/>
    <p:sldId id="282" r:id="rId110"/>
    <p:sldId id="283" r:id="rId111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444" autoAdjust="0"/>
  </p:normalViewPr>
  <p:slideViewPr>
    <p:cSldViewPr snapToGrid="0">
      <p:cViewPr>
        <p:scale>
          <a:sx n="76" d="100"/>
          <a:sy n="76" d="100"/>
        </p:scale>
        <p:origin x="-1194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228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15E03-82F5-4852-9146-E00F08FA8C74}" type="datetimeFigureOut">
              <a:rPr lang="en-US" smtClean="0"/>
              <a:pPr/>
              <a:t>10/10/2023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7537D-9B0F-48CE-A455-7CE03FF07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C1A7284A-9EC1-459E-B578-BDAD95A5C1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443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A7284A-9EC1-459E-B578-BDAD95A5C18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A7284A-9EC1-459E-B578-BDAD95A5C182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669F6A11-B6DF-46D1-AA77-4B2A545971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581F33-9F54-4FC3-9E72-66C4C4E09CF8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703490" name="Rectangle 2">
            <a:extLst>
              <a:ext uri="{FF2B5EF4-FFF2-40B4-BE49-F238E27FC236}">
                <a16:creationId xmlns:a16="http://schemas.microsoft.com/office/drawing/2014/main" xmlns="" id="{7DA69130-95FB-4507-BD2A-70616FDE58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3491" name="Rectangle 3">
            <a:extLst>
              <a:ext uri="{FF2B5EF4-FFF2-40B4-BE49-F238E27FC236}">
                <a16:creationId xmlns:a16="http://schemas.microsoft.com/office/drawing/2014/main" xmlns="" id="{B3AB3942-E006-4CAA-8DF2-D14F33EC6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879E1284-7724-4F36-9140-9A539D1BC6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B06FA8-AC81-4A63-BA77-8D3BDB0FFFDD}" type="slidenum">
              <a:rPr lang="en-US" altLang="en-US"/>
              <a:pPr/>
              <a:t>90</a:t>
            </a:fld>
            <a:endParaRPr lang="en-US" altLang="en-US"/>
          </a:p>
        </p:txBody>
      </p:sp>
      <p:sp>
        <p:nvSpPr>
          <p:cNvPr id="706562" name="Rectangle 2">
            <a:extLst>
              <a:ext uri="{FF2B5EF4-FFF2-40B4-BE49-F238E27FC236}">
                <a16:creationId xmlns:a16="http://schemas.microsoft.com/office/drawing/2014/main" xmlns="" id="{92F9676B-5978-46B9-9D09-DE2AA7C02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63" name="Rectangle 3">
            <a:extLst>
              <a:ext uri="{FF2B5EF4-FFF2-40B4-BE49-F238E27FC236}">
                <a16:creationId xmlns:a16="http://schemas.microsoft.com/office/drawing/2014/main" xmlns="" id="{BC33C7AE-ADE6-4417-8665-9A7143909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079DFA5E-3349-4499-9FE5-9DE5E12784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A8B02B-6E8E-42AB-A40D-0C95C7EB0BB1}" type="slidenum">
              <a:rPr lang="en-US" altLang="en-US"/>
              <a:pPr/>
              <a:t>96</a:t>
            </a:fld>
            <a:endParaRPr lang="en-US" altLang="en-US"/>
          </a:p>
        </p:txBody>
      </p:sp>
      <p:sp>
        <p:nvSpPr>
          <p:cNvPr id="714754" name="Rectangle 2">
            <a:extLst>
              <a:ext uri="{FF2B5EF4-FFF2-40B4-BE49-F238E27FC236}">
                <a16:creationId xmlns:a16="http://schemas.microsoft.com/office/drawing/2014/main" xmlns="" id="{5D0B4E15-A462-40B2-A465-59997C1BB8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4755" name="Rectangle 3">
            <a:extLst>
              <a:ext uri="{FF2B5EF4-FFF2-40B4-BE49-F238E27FC236}">
                <a16:creationId xmlns:a16="http://schemas.microsoft.com/office/drawing/2014/main" xmlns="" id="{DF7B5A27-A055-4507-8FA6-B804DE78B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587557-AF43-4341-ABD2-C1F5618E2B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A6C05F-EDF5-4737-80F3-12A7E290C3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5E952A-4F49-4C7C-A83B-3DA03EE14E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838" y="5834063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5038" y="5834063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A45672-0B51-4A1E-BBDA-710AFAAFE7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B3E6B9-E334-4C22-A630-4D73182ECC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537A7F-76F9-4AB6-AE01-87E5AC0FB0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EEB9AF-A39E-4443-9B7B-16CEE751EC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D4F139B-A58F-4B77-8E2F-3642CEA966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E9B543-EC97-4E61-B9EE-5225FAA6A6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D62EC3-EC75-49AC-BE13-F3AFCDBE39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1025" y="0"/>
            <a:ext cx="2309813" cy="66722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78625" cy="66722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46D6F20-6887-4CEA-B25D-57F4BB0A74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838" y="5834063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EAFE1349-5DB6-430B-83B8-B30036A75FD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609600" indent="-609600" algn="ctr" rtl="0" fontAlgn="base">
        <a:spcBef>
          <a:spcPct val="20000"/>
        </a:spcBef>
        <a:spcAft>
          <a:spcPct val="0"/>
        </a:spcAft>
        <a:buClr>
          <a:schemeClr val="accent2"/>
        </a:buClr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371600" indent="-4572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752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2098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03853" y="2742371"/>
            <a:ext cx="7364067" cy="835715"/>
          </a:xfrm>
        </p:spPr>
        <p:txBody>
          <a:bodyPr/>
          <a:lstStyle/>
          <a:p>
            <a:r>
              <a:rPr lang="en-US" sz="4400" dirty="0">
                <a:solidFill>
                  <a:srgbClr val="FF3300"/>
                </a:solidFill>
              </a:rPr>
              <a:t>CST303-Computer Networks</a:t>
            </a:r>
            <a:endParaRPr lang="en-US" sz="4400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50692" y="3854294"/>
            <a:ext cx="7772400" cy="1470025"/>
          </a:xfrm>
        </p:spPr>
        <p:txBody>
          <a:bodyPr/>
          <a:lstStyle/>
          <a:p>
            <a:pPr algn="r"/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587557-AF43-4341-ABD2-C1F5618E2BB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E68931-8701-4E02-A328-CB0C7C3E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B31A83-E655-4F27-9026-86707538D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8B244DE-DAA3-4AE7-A6BF-03BFD0D934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E2BBC4A-299F-4BF7-84B2-3BD41BBD3A0A}"/>
              </a:ext>
            </a:extLst>
          </p:cNvPr>
          <p:cNvSpPr txBox="1"/>
          <p:nvPr/>
        </p:nvSpPr>
        <p:spPr>
          <a:xfrm>
            <a:off x="218661" y="612845"/>
            <a:ext cx="85675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latin typeface="+mn-lt"/>
              </a:rPr>
              <a:t>Text Books</a:t>
            </a:r>
          </a:p>
          <a:p>
            <a:pPr algn="just"/>
            <a:r>
              <a:rPr lang="en-IN" sz="2400" dirty="0">
                <a:latin typeface="+mn-lt"/>
              </a:rPr>
              <a:t> 1. </a:t>
            </a:r>
            <a:r>
              <a:rPr lang="en-IN" sz="2400" b="1" dirty="0">
                <a:latin typeface="+mn-lt"/>
              </a:rPr>
              <a:t>Andrew S. Tanenbaum, Computer Networks</a:t>
            </a:r>
            <a:r>
              <a:rPr lang="en-IN" sz="2400" dirty="0">
                <a:latin typeface="+mn-lt"/>
              </a:rPr>
              <a:t>, 4/e, PHI (Prentice Hall India). </a:t>
            </a:r>
          </a:p>
          <a:p>
            <a:pPr marL="179388" indent="-179388" algn="just"/>
            <a:r>
              <a:rPr lang="en-IN" sz="2400" dirty="0">
                <a:latin typeface="+mn-lt"/>
              </a:rPr>
              <a:t> 2. </a:t>
            </a:r>
            <a:r>
              <a:rPr lang="en-IN" sz="2400" b="1" dirty="0">
                <a:latin typeface="+mn-lt"/>
              </a:rPr>
              <a:t>Behrouz A </a:t>
            </a:r>
            <a:r>
              <a:rPr lang="en-IN" sz="2400" b="1" dirty="0" err="1">
                <a:latin typeface="+mn-lt"/>
              </a:rPr>
              <a:t>Forouzan</a:t>
            </a:r>
            <a:r>
              <a:rPr lang="en-IN" sz="2400" b="1" dirty="0">
                <a:latin typeface="+mn-lt"/>
              </a:rPr>
              <a:t>, Data Communication and Networking</a:t>
            </a:r>
            <a:r>
              <a:rPr lang="en-IN" sz="2400" dirty="0">
                <a:latin typeface="+mn-lt"/>
              </a:rPr>
              <a:t>, 4/e, Tata McGraw Hill </a:t>
            </a:r>
          </a:p>
          <a:p>
            <a:pPr marL="268288" indent="-268288" algn="just"/>
            <a:r>
              <a:rPr lang="en-IN" sz="2000" b="1" dirty="0">
                <a:latin typeface="+mn-lt"/>
              </a:rPr>
              <a:t>Reference Books </a:t>
            </a:r>
          </a:p>
          <a:p>
            <a:pPr marL="268288" indent="-268288" algn="just"/>
            <a:r>
              <a:rPr lang="en-IN" sz="2000" dirty="0">
                <a:latin typeface="+mn-lt"/>
              </a:rPr>
              <a:t>1.Larry L Peterson and Bruce S Dave, Computer Networks – A Systems Approach, 5/e, Morgan Kaufmann.</a:t>
            </a:r>
          </a:p>
          <a:p>
            <a:pPr marL="268288" indent="-268288" algn="just"/>
            <a:r>
              <a:rPr lang="en-IN" sz="2000" dirty="0">
                <a:latin typeface="+mn-lt"/>
              </a:rPr>
              <a:t>2.Fred Halsall, Computer Networking and the Internet, 5/e. </a:t>
            </a:r>
          </a:p>
          <a:p>
            <a:pPr marL="268288" indent="-268288" algn="just"/>
            <a:r>
              <a:rPr lang="en-IN" sz="2000" dirty="0">
                <a:latin typeface="+mn-lt"/>
              </a:rPr>
              <a:t>3.James F. Kurose, Keith W. Ross, Computer Networking: A Top-Down Approach, 6/e.</a:t>
            </a:r>
          </a:p>
          <a:p>
            <a:pPr marL="268288" indent="-268288" algn="just"/>
            <a:r>
              <a:rPr lang="en-IN" sz="2000" dirty="0">
                <a:latin typeface="+mn-lt"/>
              </a:rPr>
              <a:t>4.Keshav, An Engineering Approach to Computer Networks, Addison Wesley, 1998.</a:t>
            </a:r>
          </a:p>
          <a:p>
            <a:pPr marL="268288" indent="-268288" algn="just"/>
            <a:r>
              <a:rPr lang="en-IN" sz="2000" dirty="0">
                <a:latin typeface="+mn-lt"/>
              </a:rPr>
              <a:t>5.W. Richard Stevens. TCP/IP Illustrated Volume 1, Addison-Wesley, 2005.</a:t>
            </a:r>
          </a:p>
          <a:p>
            <a:pPr marL="268288" indent="-268288" algn="just"/>
            <a:r>
              <a:rPr lang="en-IN" sz="2000" dirty="0">
                <a:latin typeface="+mn-lt"/>
              </a:rPr>
              <a:t>6.William Stallings, Computer Networking with Internet Protocols, Prentice-Hall, 2004. </a:t>
            </a:r>
          </a:p>
          <a:p>
            <a:pPr marL="268288" indent="-268288" algn="just"/>
            <a:r>
              <a:rPr lang="en-IN" sz="2000" dirty="0">
                <a:latin typeface="+mn-lt"/>
              </a:rPr>
              <a:t>7.Request for Comments (RFC) Pages - IETF -https://www.ietf.org/rfc.html </a:t>
            </a:r>
          </a:p>
        </p:txBody>
      </p:sp>
    </p:spTree>
    <p:extLst>
      <p:ext uri="{BB962C8B-B14F-4D97-AF65-F5344CB8AC3E}">
        <p14:creationId xmlns:p14="http://schemas.microsoft.com/office/powerpoint/2010/main" val="159162240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1E923F-84C4-4A7B-8EF5-07F98F14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395E7E-E4E3-49DE-9608-68F4488A5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909E5C-1272-4B1C-8E0D-244807746A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9C2B609-9611-430D-8764-464744862DA0}"/>
              </a:ext>
            </a:extLst>
          </p:cNvPr>
          <p:cNvSpPr txBox="1"/>
          <p:nvPr/>
        </p:nvSpPr>
        <p:spPr>
          <a:xfrm>
            <a:off x="198783" y="1720840"/>
            <a:ext cx="87066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+mn-lt"/>
              </a:rPr>
              <a:t>Module I</a:t>
            </a:r>
            <a:endParaRPr lang="en-US" sz="2400" dirty="0">
              <a:latin typeface="+mn-lt"/>
            </a:endParaRPr>
          </a:p>
          <a:p>
            <a:pPr algn="just"/>
            <a:endParaRPr lang="en-IN" sz="2400" dirty="0">
              <a:latin typeface="+mn-lt"/>
            </a:endParaRPr>
          </a:p>
          <a:p>
            <a:pPr algn="just"/>
            <a:r>
              <a:rPr lang="en-IN" sz="2400" b="1" dirty="0">
                <a:latin typeface="+mn-lt"/>
              </a:rPr>
              <a:t>Introduction</a:t>
            </a:r>
            <a:r>
              <a:rPr lang="en-IN" sz="2400" dirty="0">
                <a:latin typeface="+mn-lt"/>
              </a:rPr>
              <a:t> – Uses of computer networks, Network hardware, Network software. Reference models – The OSI reference model, The TCP/IP reference model, Comparison of OSI and TCP/IP reference models. </a:t>
            </a:r>
          </a:p>
          <a:p>
            <a:pPr algn="just"/>
            <a:r>
              <a:rPr lang="en-IN" sz="2400" b="1" dirty="0">
                <a:latin typeface="+mn-lt"/>
              </a:rPr>
              <a:t>Physical Layer </a:t>
            </a:r>
            <a:r>
              <a:rPr lang="en-IN" sz="2400" dirty="0">
                <a:latin typeface="+mn-lt"/>
              </a:rPr>
              <a:t>– Modes of communication, Physical topologies, Signal encoding, Repeaters and hub, Transmission media overview. Performance indicators – Bandwidth, Throughput, Latency, Queuing time, Bandwidth–Delay product. </a:t>
            </a:r>
          </a:p>
        </p:txBody>
      </p:sp>
    </p:spTree>
    <p:extLst>
      <p:ext uri="{BB962C8B-B14F-4D97-AF65-F5344CB8AC3E}">
        <p14:creationId xmlns:p14="http://schemas.microsoft.com/office/powerpoint/2010/main" val="27284867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903" y="944383"/>
            <a:ext cx="8844197" cy="5383967"/>
          </a:xfrm>
        </p:spPr>
        <p:txBody>
          <a:bodyPr/>
          <a:lstStyle/>
          <a:p>
            <a:pPr marL="0" indent="0" algn="just"/>
            <a:r>
              <a:rPr lang="en-US" sz="3200" dirty="0"/>
              <a:t>Computer Network:</a:t>
            </a:r>
          </a:p>
          <a:p>
            <a:pPr marL="0" indent="0" algn="just"/>
            <a:endParaRPr lang="en-US" sz="3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 </a:t>
            </a:r>
            <a:r>
              <a:rPr lang="en-US" b="1" dirty="0">
                <a:solidFill>
                  <a:srgbClr val="000000"/>
                </a:solidFill>
              </a:rPr>
              <a:t>network</a:t>
            </a:r>
            <a:r>
              <a:rPr lang="en-US" dirty="0">
                <a:solidFill>
                  <a:srgbClr val="000000"/>
                </a:solidFill>
              </a:rPr>
              <a:t> can be defined as a group of computers and other devices connected in some way so as to be able to exchange data. </a:t>
            </a:r>
          </a:p>
          <a:p>
            <a:pPr lvl="1" algn="just"/>
            <a:r>
              <a:rPr lang="en-US" sz="2400" b="1" i="1" dirty="0">
                <a:solidFill>
                  <a:srgbClr val="C00000"/>
                </a:solidFill>
              </a:rPr>
              <a:t>Communication</a:t>
            </a:r>
            <a:r>
              <a:rPr lang="en-US" sz="2400" i="1" dirty="0"/>
              <a:t> </a:t>
            </a:r>
            <a:r>
              <a:rPr lang="en-US" sz="2400" dirty="0"/>
              <a:t>is the process of </a:t>
            </a:r>
            <a:r>
              <a:rPr lang="en-US" sz="2400" i="1" dirty="0"/>
              <a:t>exchanging information</a:t>
            </a:r>
            <a:r>
              <a:rPr lang="en-US" sz="2400" dirty="0"/>
              <a:t> between two persons or devices</a:t>
            </a:r>
          </a:p>
          <a:p>
            <a:pPr lvl="1" algn="just"/>
            <a:r>
              <a:rPr lang="en-US" sz="2400" dirty="0"/>
              <a:t>Connection can be made via </a:t>
            </a:r>
            <a:r>
              <a:rPr lang="en-US" sz="2400" i="1" dirty="0"/>
              <a:t>copper wire, fiber optics, microwaves or communication satellites</a:t>
            </a:r>
            <a:r>
              <a:rPr lang="en-US" sz="2400" dirty="0"/>
              <a:t> etc </a:t>
            </a:r>
          </a:p>
          <a:p>
            <a:pPr lvl="1" algn="just"/>
            <a:r>
              <a:rPr lang="en-US" sz="2400" dirty="0"/>
              <a:t>If one computer cannot forcibly start, stop or control another computer then it is termed as </a:t>
            </a:r>
            <a:r>
              <a:rPr lang="en-US" sz="2400" dirty="0">
                <a:solidFill>
                  <a:srgbClr val="FF0000"/>
                </a:solidFill>
              </a:rPr>
              <a:t>autonomous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66FDD8-8A79-4E19-8789-947120C7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08" y="2778361"/>
            <a:ext cx="7886700" cy="99417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OF COMPUTER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3542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Uses of Computer Networks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41643"/>
            <a:ext cx="7861852" cy="3959253"/>
          </a:xfrm>
        </p:spPr>
        <p:txBody>
          <a:bodyPr/>
          <a:lstStyle/>
          <a:p>
            <a:pPr lvl="1" algn="just">
              <a:buFontTx/>
              <a:buChar char="•"/>
            </a:pPr>
            <a:r>
              <a:rPr lang="en-US" sz="2400" dirty="0"/>
              <a:t>Business Applications or Networks for companies</a:t>
            </a:r>
          </a:p>
          <a:p>
            <a:pPr lvl="1" algn="just">
              <a:buFontTx/>
              <a:buChar char="•"/>
            </a:pPr>
            <a:r>
              <a:rPr lang="en-US" sz="2400" dirty="0"/>
              <a:t>Home applications or Networks for People</a:t>
            </a:r>
          </a:p>
          <a:p>
            <a:pPr lvl="1" algn="just">
              <a:buFontTx/>
              <a:buChar char="•"/>
            </a:pPr>
            <a:r>
              <a:rPr lang="en-US" sz="2400" dirty="0"/>
              <a:t>Mobile Network Users</a:t>
            </a:r>
          </a:p>
          <a:p>
            <a:pPr lvl="1" algn="just">
              <a:buFontTx/>
              <a:buChar char="•"/>
            </a:pPr>
            <a:r>
              <a:rPr lang="en-US" sz="2400" dirty="0"/>
              <a:t>Social Issues</a:t>
            </a:r>
          </a:p>
          <a:p>
            <a:pPr lvl="1" algn="just">
              <a:buNone/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DC687-96F6-477F-974F-4F47101E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475587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OF 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93514A-1E04-40D8-BF0B-1C94947BD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05" y="1854134"/>
            <a:ext cx="8161845" cy="3635838"/>
          </a:xfrm>
        </p:spPr>
        <p:txBody>
          <a:bodyPr/>
          <a:lstStyle/>
          <a:p>
            <a:pPr marL="0" indent="0"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Applications</a:t>
            </a:r>
          </a:p>
          <a:p>
            <a:pPr marL="0" indent="0" algn="just"/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to make all programs, equipment, and especially data available to anyone on the network without regard to the physical location of the resource or the user</a:t>
            </a:r>
          </a:p>
          <a:p>
            <a:pPr lvl="1"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group of office workers sharing a common printer</a:t>
            </a:r>
          </a:p>
          <a:p>
            <a:pPr marL="342900" lvl="1" indent="0"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Sharing information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Most companies have customer records, product information, inventories, financial statements, tax information, and much more online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VPNs (Virtual Private Networks) may be used to join the individual networks at different sites into one extended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8297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555CF5-AC84-4CE6-AE3C-02E1A09B7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877" y="1697691"/>
            <a:ext cx="4921623" cy="4249271"/>
          </a:xfrm>
        </p:spPr>
        <p:txBody>
          <a:bodyPr>
            <a:normAutofit fontScale="85000" lnSpcReduction="10000"/>
          </a:bodyPr>
          <a:lstStyle/>
          <a:p>
            <a:pPr marL="0" indent="0"/>
            <a:endParaRPr lang="en-US" sz="135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-Bold"/>
              </a:rPr>
              <a:t>Client-server model</a:t>
            </a:r>
          </a:p>
          <a:p>
            <a:pPr marL="0" indent="0"/>
            <a:endParaRPr lang="en-US" sz="1800" dirty="0">
              <a:latin typeface="Times-Roman"/>
            </a:endParaRP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000" dirty="0"/>
              <a:t>Data are stored on powerful computers called </a:t>
            </a:r>
            <a:r>
              <a:rPr lang="en-US" sz="2000" b="1" dirty="0"/>
              <a:t>servers</a:t>
            </a:r>
            <a:r>
              <a:rPr lang="en-US" sz="2000" dirty="0"/>
              <a:t>. Often these are centrally housed and maintained by a system administrator.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000" dirty="0"/>
              <a:t>Employees have simpler machines, called </a:t>
            </a:r>
            <a:r>
              <a:rPr lang="en-US" sz="2000" b="1" dirty="0"/>
              <a:t>clients</a:t>
            </a:r>
            <a:r>
              <a:rPr lang="en-US" sz="2000" dirty="0"/>
              <a:t>, with which they access remote data, for example, to include in spreadsheets they are constructing.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000" dirty="0"/>
              <a:t>Most popular realization - </a:t>
            </a:r>
            <a:r>
              <a:rPr lang="en-US" sz="2000" b="1" dirty="0"/>
              <a:t>Web application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000" dirty="0"/>
              <a:t>One server can handle a large number (hundreds or thousands) of clients simultaneously.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6D851DD-78AD-45D8-B9AE-66F4D78A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832" y="3429000"/>
            <a:ext cx="3472224" cy="211314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CC4BC12F-241C-4FEE-BC71-BB67C56A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06" y="1130234"/>
            <a:ext cx="8401050" cy="47558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Applications</a:t>
            </a:r>
          </a:p>
        </p:txBody>
      </p:sp>
    </p:spTree>
    <p:extLst>
      <p:ext uri="{BB962C8B-B14F-4D97-AF65-F5344CB8AC3E}">
        <p14:creationId xmlns:p14="http://schemas.microsoft.com/office/powerpoint/2010/main" val="77496145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FE57BB-1309-46D6-93BF-41BAB5B4F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071" y="1832162"/>
            <a:ext cx="8353985" cy="2292724"/>
          </a:xfrm>
        </p:spPr>
        <p:txBody>
          <a:bodyPr>
            <a:normAutofit/>
          </a:bodyPr>
          <a:lstStyle/>
          <a:p>
            <a:pPr marL="0" indent="0" algn="l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-Bold"/>
              </a:rPr>
              <a:t>Client-server model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Times-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-Roman"/>
              </a:rPr>
              <a:t>Communication takes the form of the client process sending a message over the network to the server process.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-Roman"/>
              </a:rPr>
              <a:t>The client process then waits for a reply message.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-Roman"/>
              </a:rPr>
              <a:t>When the server process gets the request, it performs the requested work or looks up the requested data and sends back a reply.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3F31E44-2313-4BD6-A415-DEEAD702D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491" y="4235294"/>
            <a:ext cx="6209424" cy="194684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BF75117D-F837-4581-B3CF-482CE0839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06" y="566530"/>
            <a:ext cx="8401050" cy="46282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595761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392938-5204-4F3D-8AA0-C4ED00A49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36" y="917173"/>
            <a:ext cx="8105215" cy="3698152"/>
          </a:xfrm>
        </p:spPr>
        <p:txBody>
          <a:bodyPr>
            <a:noAutofit/>
          </a:bodyPr>
          <a:lstStyle/>
          <a:p>
            <a:pPr marL="0" indent="0" algn="just"/>
            <a:r>
              <a:rPr lang="en-US" b="1" dirty="0">
                <a:solidFill>
                  <a:schemeClr val="accent1"/>
                </a:solidFill>
              </a:rPr>
              <a:t>email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b="1" dirty="0">
                <a:solidFill>
                  <a:schemeClr val="accent1"/>
                </a:solidFill>
              </a:rPr>
              <a:t>electronic mail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dirty="0"/>
              <a:t>Provide a powerful </a:t>
            </a:r>
            <a:r>
              <a:rPr lang="en-US" b="1" dirty="0"/>
              <a:t>communication medium </a:t>
            </a:r>
            <a:r>
              <a:rPr lang="en-US" dirty="0"/>
              <a:t>among employees</a:t>
            </a:r>
          </a:p>
          <a:p>
            <a:pPr marL="0" indent="0" algn="just"/>
            <a:r>
              <a:rPr lang="en-US" b="1" dirty="0">
                <a:solidFill>
                  <a:schemeClr val="accent1"/>
                </a:solidFill>
              </a:rPr>
              <a:t>IP telephony </a:t>
            </a:r>
            <a:r>
              <a:rPr lang="en-US" dirty="0">
                <a:solidFill>
                  <a:schemeClr val="accent1"/>
                </a:solidFill>
              </a:rPr>
              <a:t>or </a:t>
            </a:r>
            <a:r>
              <a:rPr lang="en-US" b="1" dirty="0">
                <a:solidFill>
                  <a:schemeClr val="accent1"/>
                </a:solidFill>
              </a:rPr>
              <a:t>Voice over IP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b="1" dirty="0">
                <a:solidFill>
                  <a:schemeClr val="accent1"/>
                </a:solidFill>
              </a:rPr>
              <a:t>VoIP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microphone and speaker at each end may belong to a VoIP-enabled phone or the employee’s computer.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Companies find this a wonderful way to save on their telephone bills.</a:t>
            </a:r>
          </a:p>
          <a:p>
            <a:pPr marL="0" indent="0" algn="just"/>
            <a:r>
              <a:rPr lang="en-US" b="1" dirty="0">
                <a:solidFill>
                  <a:schemeClr val="accent1"/>
                </a:solidFill>
              </a:rPr>
              <a:t>Desktop sharing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dirty="0"/>
              <a:t>Lets remote workers see and interact with a graphical computer screen. 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dirty="0"/>
              <a:t>This makes it easy for two or more people who work far apart to read and write a shared blackboard or write a report together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554D5F8B-24B1-412B-A90D-262F53EC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06" y="354981"/>
            <a:ext cx="8401050" cy="475587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2087236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Home Network Applications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872" y="1063938"/>
            <a:ext cx="8724276" cy="4784725"/>
          </a:xfrm>
        </p:spPr>
        <p:txBody>
          <a:bodyPr/>
          <a:lstStyle/>
          <a:p>
            <a:pPr algn="l">
              <a:buFontTx/>
              <a:buChar char="•"/>
            </a:pPr>
            <a:r>
              <a:rPr lang="en-US" sz="3200" dirty="0"/>
              <a:t>Access to remote information</a:t>
            </a:r>
          </a:p>
          <a:p>
            <a:pPr lvl="1">
              <a:buFontTx/>
              <a:buChar char="•"/>
            </a:pPr>
            <a:r>
              <a:rPr lang="en-US" dirty="0"/>
              <a:t>Home shopping</a:t>
            </a:r>
          </a:p>
          <a:p>
            <a:pPr lvl="1">
              <a:buFontTx/>
              <a:buChar char="•"/>
            </a:pPr>
            <a:r>
              <a:rPr lang="en-US" dirty="0"/>
              <a:t>Online newspaper</a:t>
            </a:r>
          </a:p>
          <a:p>
            <a:pPr lvl="1">
              <a:buFontTx/>
              <a:buChar char="•"/>
            </a:pPr>
            <a:r>
              <a:rPr lang="en-US" dirty="0"/>
              <a:t>Access to WWW </a:t>
            </a:r>
          </a:p>
          <a:p>
            <a:pPr algn="l">
              <a:buFontTx/>
              <a:buChar char="•"/>
            </a:pPr>
            <a:r>
              <a:rPr lang="en-US" sz="3200" dirty="0"/>
              <a:t>Person-to-person communication</a:t>
            </a:r>
          </a:p>
          <a:p>
            <a:pPr lvl="1">
              <a:buFontTx/>
              <a:buChar char="•"/>
            </a:pPr>
            <a:r>
              <a:rPr lang="en-US" dirty="0"/>
              <a:t>E-mails</a:t>
            </a:r>
          </a:p>
          <a:p>
            <a:pPr lvl="1">
              <a:buFontTx/>
              <a:buChar char="•"/>
            </a:pPr>
            <a:r>
              <a:rPr lang="en-US" dirty="0"/>
              <a:t>Video conference</a:t>
            </a:r>
          </a:p>
          <a:p>
            <a:pPr lvl="1">
              <a:buFontTx/>
              <a:buChar char="•"/>
            </a:pPr>
            <a:r>
              <a:rPr lang="en-US" dirty="0"/>
              <a:t>Worldwide newsgroup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Network Applications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109" y="1063938"/>
            <a:ext cx="8739039" cy="5561714"/>
          </a:xfrm>
        </p:spPr>
        <p:txBody>
          <a:bodyPr/>
          <a:lstStyle/>
          <a:p>
            <a:pPr algn="l">
              <a:buFontTx/>
              <a:buChar char="•"/>
            </a:pPr>
            <a:r>
              <a:rPr lang="en-US" sz="3200" dirty="0"/>
              <a:t>Interactive entertainment</a:t>
            </a:r>
          </a:p>
          <a:p>
            <a:pPr lvl="1">
              <a:buFontTx/>
              <a:buChar char="•"/>
            </a:pPr>
            <a:r>
              <a:rPr lang="en-US" dirty="0"/>
              <a:t>Video on demand</a:t>
            </a:r>
          </a:p>
          <a:p>
            <a:pPr lvl="1">
              <a:buFontTx/>
              <a:buChar char="•"/>
            </a:pPr>
            <a:r>
              <a:rPr lang="en-US" dirty="0"/>
              <a:t>Live Television</a:t>
            </a:r>
          </a:p>
          <a:p>
            <a:pPr lvl="1">
              <a:buFontTx/>
              <a:buChar char="•"/>
            </a:pPr>
            <a:r>
              <a:rPr lang="en-US" dirty="0"/>
              <a:t>Game playing</a:t>
            </a:r>
          </a:p>
          <a:p>
            <a:pPr algn="l">
              <a:buFontTx/>
              <a:buChar char="•"/>
            </a:pPr>
            <a:r>
              <a:rPr lang="en-US" sz="3200" dirty="0"/>
              <a:t>Electronic commerce (e-commerce)</a:t>
            </a:r>
          </a:p>
          <a:p>
            <a:pPr lvl="1">
              <a:buFontTx/>
              <a:buChar char="•"/>
            </a:pPr>
            <a:r>
              <a:rPr lang="en-US" sz="2400" dirty="0"/>
              <a:t>convenience of shopping from home with online catalogs </a:t>
            </a:r>
          </a:p>
        </p:txBody>
      </p:sp>
      <p:pic>
        <p:nvPicPr>
          <p:cNvPr id="5" name="Picture 4" descr="1-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7" y="4415547"/>
            <a:ext cx="8532813" cy="2224087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Network Applications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 peer-to-peer system there are no fixed clients and servers.</a:t>
            </a:r>
          </a:p>
        </p:txBody>
      </p:sp>
      <p:pic>
        <p:nvPicPr>
          <p:cNvPr id="12292" name="Picture 4" descr="1-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9925" y="1666875"/>
            <a:ext cx="7858125" cy="3548063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Network Users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3897442"/>
            <a:ext cx="9144000" cy="764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19920" y="4631961"/>
            <a:ext cx="8837300" cy="1948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06700" y="1361663"/>
            <a:ext cx="8449674" cy="467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7675" indent="-447675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Mobile commerce (m-commerce)-</a:t>
            </a:r>
            <a:r>
              <a:rPr lang="en-US" sz="2400" dirty="0">
                <a:latin typeface="Times-Roman"/>
              </a:rPr>
              <a:t>Short text messages from the mobile are used to authorize payments for food in vending machines, movie tickets, and other small items instead of cash and credit cards.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Times New Roman" panose="02020603050405020304" pitchFamily="18" charset="0"/>
              </a:rPr>
              <a:t>Wearable computers</a:t>
            </a:r>
          </a:p>
          <a:p>
            <a:pPr algn="l"/>
            <a:r>
              <a:rPr lang="en-US" sz="2400" b="1" dirty="0">
                <a:latin typeface="+mn-lt"/>
              </a:rPr>
              <a:t>       </a:t>
            </a:r>
            <a:r>
              <a:rPr lang="en-US" sz="2400" dirty="0">
                <a:latin typeface="+mn-lt"/>
              </a:rPr>
              <a:t>Smart watches with radio.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Implanted devices</a:t>
            </a:r>
          </a:p>
          <a:p>
            <a:pPr marL="685800" indent="-60325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-Roman"/>
              </a:rPr>
              <a:t>Pacemakers and insulin pumps. </a:t>
            </a:r>
          </a:p>
          <a:p>
            <a:pPr marL="685800" indent="-60325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-Roman"/>
              </a:rPr>
              <a:t>Some of these can be controlled over a wireless network</a:t>
            </a:r>
            <a:endParaRPr lang="en-US" sz="2400" dirty="0">
              <a:solidFill>
                <a:schemeClr val="accent1"/>
              </a:solidFill>
              <a:latin typeface="Times-Roman"/>
            </a:endParaRPr>
          </a:p>
          <a:p>
            <a:pPr marL="609600" marR="0" lvl="0" indent="-609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6" grpId="0"/>
      <p:bldP spid="7" grpId="0" build="p"/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AA99E-F63F-4EA2-ADF1-0147BBC6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3C9D2F-AC46-4CAF-BCB3-94DB8D769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26B0F07-4CE2-4208-ADC1-D5A06396D3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5E958EF-2338-481E-8AC8-5779613566D6}"/>
              </a:ext>
            </a:extLst>
          </p:cNvPr>
          <p:cNvSpPr txBox="1"/>
          <p:nvPr/>
        </p:nvSpPr>
        <p:spPr>
          <a:xfrm>
            <a:off x="427383" y="1377723"/>
            <a:ext cx="65126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0" i="0" u="none" strike="noStrike" baseline="0" dirty="0">
                <a:solidFill>
                  <a:srgbClr val="FF0000"/>
                </a:solidFill>
                <a:latin typeface="TimesNewRoman"/>
              </a:rPr>
              <a:t>Mobile Network Users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NewRoman"/>
            </a:endParaRPr>
          </a:p>
          <a:p>
            <a:pPr algn="l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4695F85-10E1-4848-BE03-120B70E08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79" y="2485622"/>
            <a:ext cx="7289442" cy="18867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5748104-56EF-4D17-BA21-D42B1C07470E}"/>
              </a:ext>
            </a:extLst>
          </p:cNvPr>
          <p:cNvSpPr txBox="1"/>
          <p:nvPr/>
        </p:nvSpPr>
        <p:spPr>
          <a:xfrm>
            <a:off x="1023730" y="4556948"/>
            <a:ext cx="5916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NewRoman"/>
              </a:rPr>
              <a:t>Combinations of wireless networks and mobile computing.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62359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4103B0-81AB-468A-8E90-A70D37255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Social Issues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577456-6C1A-4EEF-9F22-507E2B5A7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D0EBBA2-60AE-4FAD-9B5B-48F6B4E085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E271990-C447-4744-9C63-56ADF8EECDD0}"/>
              </a:ext>
            </a:extLst>
          </p:cNvPr>
          <p:cNvSpPr txBox="1"/>
          <p:nvPr/>
        </p:nvSpPr>
        <p:spPr>
          <a:xfrm>
            <a:off x="596348" y="1250284"/>
            <a:ext cx="7861852" cy="44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indent="-357188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networks, message boards, content sharing sites, and a host of other applications allow people to share their views with like-minded individuals. </a:t>
            </a:r>
          </a:p>
          <a:p>
            <a:pPr marL="357188" marR="0" lvl="0" indent="-357188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Exchange messages using newsgroup may lead to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conflicts.</a:t>
            </a:r>
          </a:p>
          <a:p>
            <a:pPr marL="357188" marR="0" lvl="0" indent="-357188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2400" kern="0" dirty="0">
                <a:latin typeface="+mn-lt"/>
              </a:rPr>
              <a:t>Employee </a:t>
            </a:r>
            <a:r>
              <a:rPr lang="en-US" sz="2400" kern="0" dirty="0">
                <a:solidFill>
                  <a:srgbClr val="FF0000"/>
                </a:solidFill>
                <a:latin typeface="+mn-lt"/>
              </a:rPr>
              <a:t>rights</a:t>
            </a:r>
            <a:r>
              <a:rPr lang="en-US" sz="2400" kern="0" dirty="0">
                <a:latin typeface="+mn-lt"/>
              </a:rPr>
              <a:t> vs employer rights</a:t>
            </a:r>
          </a:p>
          <a:p>
            <a:pPr marL="357188" marR="0" lvl="0" indent="-357188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Network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400" kern="0" dirty="0">
                <a:latin typeface="+mn-lt"/>
              </a:rPr>
              <a:t>o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ffers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potential to send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anonymous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messages</a:t>
            </a:r>
          </a:p>
          <a:p>
            <a:pPr marL="357188" marR="0" lvl="0" indent="-357188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Electronic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junk mails (Spam) may contain 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viruses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conflict is centered around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versus citizen’s rights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FBI has installed systems at many Internet service providers to snoop on all incoming and outgoing email.</a:t>
            </a:r>
          </a:p>
        </p:txBody>
      </p:sp>
    </p:spTree>
    <p:extLst>
      <p:ext uri="{BB962C8B-B14F-4D97-AF65-F5344CB8AC3E}">
        <p14:creationId xmlns:p14="http://schemas.microsoft.com/office/powerpoint/2010/main" val="19383857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EED85-53B9-4690-809F-4C018F42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79" y="467138"/>
            <a:ext cx="7886700" cy="37257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0D539A-EEEC-49D0-AB65-44E1018D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179" y="788551"/>
            <a:ext cx="8021171" cy="3886411"/>
          </a:xfrm>
        </p:spPr>
        <p:txBody>
          <a:bodyPr>
            <a:noAutofit/>
          </a:bodyPr>
          <a:lstStyle/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200" dirty="0"/>
              <a:t>Companies that provide </a:t>
            </a:r>
            <a:r>
              <a:rPr lang="en-US" sz="2200" dirty="0">
                <a:solidFill>
                  <a:schemeClr val="accent1"/>
                </a:solidFill>
              </a:rPr>
              <a:t>Web-based services may maintain large amounts of personal information</a:t>
            </a:r>
            <a:r>
              <a:rPr lang="en-US" sz="2200" dirty="0"/>
              <a:t> about their users that allows them to study user activities directly. 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200" dirty="0"/>
              <a:t>For example, Google can read your email and show you advertisements based on your interests if you use its email service, </a:t>
            </a:r>
            <a:r>
              <a:rPr lang="en-US" sz="2200" b="1" dirty="0"/>
              <a:t>Gmail</a:t>
            </a:r>
            <a:r>
              <a:rPr lang="en-US" sz="2200" dirty="0"/>
              <a:t>.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Phishing messages </a:t>
            </a:r>
            <a:r>
              <a:rPr lang="en-US" sz="2200" dirty="0"/>
              <a:t>looks as originating from a trustworthy party, for example, your bank, to try to trick you into revealing sensitive information, for example, credit card numbers. 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Identity theft </a:t>
            </a:r>
            <a:r>
              <a:rPr lang="en-US" sz="2200" dirty="0"/>
              <a:t>is becoming a serious problem as thieves collect enough information about a victim to obtain credit cards and other documents in the victim’s name.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200" dirty="0"/>
              <a:t>A lot of these problems could be solved if the computer industry took computer security seriously. </a:t>
            </a:r>
          </a:p>
          <a:p>
            <a:pPr marL="268288" indent="-268288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If all messages were encrypted and authenticated, it would be harder to commit mischief.</a:t>
            </a:r>
            <a:endParaRPr lang="en-US" sz="22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68288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F27FF1-F244-4B13-9390-26944762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0" y="2738020"/>
            <a:ext cx="7894447" cy="99417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sz="2100" b="1" dirty="0">
                <a:latin typeface="Times-Bold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1818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882" y="689549"/>
            <a:ext cx="8769246" cy="5876144"/>
          </a:xfrm>
        </p:spPr>
        <p:txBody>
          <a:bodyPr/>
          <a:lstStyle/>
          <a:p>
            <a:pPr algn="l">
              <a:buFont typeface="Wingdings" pitchFamily="2" charset="2"/>
              <a:buChar char="Ø"/>
            </a:pPr>
            <a:r>
              <a:rPr lang="en-US" sz="2800" dirty="0"/>
              <a:t>Based on types of transmission technology</a:t>
            </a:r>
          </a:p>
          <a:p>
            <a:pPr lvl="1">
              <a:buFontTx/>
              <a:buChar char="•"/>
            </a:pPr>
            <a:r>
              <a:rPr lang="en-US" dirty="0"/>
              <a:t>Broadcast Networks</a:t>
            </a:r>
          </a:p>
          <a:p>
            <a:pPr lvl="1">
              <a:buFontTx/>
              <a:buChar char="•"/>
            </a:pPr>
            <a:r>
              <a:rPr lang="en-US" dirty="0"/>
              <a:t>Point-to-point Networks</a:t>
            </a:r>
          </a:p>
          <a:p>
            <a:pPr algn="l">
              <a:buFont typeface="Wingdings" pitchFamily="2" charset="2"/>
              <a:buChar char="Ø"/>
            </a:pPr>
            <a:r>
              <a:rPr lang="en-US" sz="2800" dirty="0"/>
              <a:t>Based on Scale</a:t>
            </a:r>
          </a:p>
          <a:p>
            <a:pPr lvl="1">
              <a:buFont typeface="Arial" pitchFamily="34" charset="0"/>
              <a:buChar char="•"/>
            </a:pPr>
            <a:endParaRPr lang="en-US" sz="32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00" y="-1249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Network Hardware</a:t>
            </a:r>
          </a:p>
        </p:txBody>
      </p:sp>
      <p:pic>
        <p:nvPicPr>
          <p:cNvPr id="6" name="Picture 4" descr="1-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4122" y="2701317"/>
            <a:ext cx="6159500" cy="4056063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2" y="751447"/>
            <a:ext cx="8964118" cy="5209108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sz="3600" dirty="0"/>
              <a:t>Broadcast Networks</a:t>
            </a:r>
          </a:p>
          <a:p>
            <a:pPr lvl="1" algn="just">
              <a:buFontTx/>
              <a:buChar char="•"/>
            </a:pPr>
            <a:r>
              <a:rPr lang="en-US" dirty="0"/>
              <a:t>A </a:t>
            </a:r>
            <a:r>
              <a:rPr lang="en-US" i="1" dirty="0">
                <a:solidFill>
                  <a:srgbClr val="FF0000"/>
                </a:solidFill>
              </a:rPr>
              <a:t>single communication channel</a:t>
            </a:r>
            <a:r>
              <a:rPr lang="en-US" dirty="0"/>
              <a:t> is shared by all the machines on the network</a:t>
            </a:r>
          </a:p>
          <a:p>
            <a:pPr lvl="1" algn="just">
              <a:buFontTx/>
              <a:buChar char="•"/>
            </a:pPr>
            <a:r>
              <a:rPr lang="en-US" dirty="0"/>
              <a:t>Short messages called </a:t>
            </a:r>
            <a:r>
              <a:rPr lang="en-US" b="1" i="1" dirty="0">
                <a:solidFill>
                  <a:srgbClr val="FF0000"/>
                </a:solidFill>
              </a:rPr>
              <a:t>packets</a:t>
            </a:r>
            <a:r>
              <a:rPr lang="en-US" dirty="0"/>
              <a:t> sent by any machine are received by all the others</a:t>
            </a:r>
          </a:p>
          <a:p>
            <a:pPr lvl="1" algn="just">
              <a:buFontTx/>
              <a:buChar char="•"/>
            </a:pPr>
            <a:r>
              <a:rPr lang="en-US" dirty="0"/>
              <a:t>Address field in a packet specifies the recipient</a:t>
            </a:r>
            <a:endParaRPr lang="en-US" sz="3600" dirty="0"/>
          </a:p>
          <a:p>
            <a:pPr lvl="1" algn="just">
              <a:buFontTx/>
              <a:buChar char="•"/>
            </a:pPr>
            <a:r>
              <a:rPr lang="en-US" dirty="0"/>
              <a:t>After receiving the packet, the address field is checked</a:t>
            </a:r>
          </a:p>
          <a:p>
            <a:pPr lvl="1" algn="just">
              <a:buFontTx/>
              <a:buChar char="•"/>
            </a:pPr>
            <a:r>
              <a:rPr lang="en-US" dirty="0"/>
              <a:t>If it is intended for itself, it processes the packet, otherwise it is ignored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7480" y="47470"/>
            <a:ext cx="9144000" cy="747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Network Hardware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2" descr="http://www.e-reading.club/illustrations/143/143358-Any2FbImgLoader47"/>
          <p:cNvPicPr>
            <a:picLocks noChangeAspect="1" noChangeArrowheads="1"/>
          </p:cNvPicPr>
          <p:nvPr/>
        </p:nvPicPr>
        <p:blipFill>
          <a:blip r:embed="rId2" cstate="print"/>
          <a:srcRect l="35347" t="-4560" r="33556" b="11657"/>
          <a:stretch>
            <a:fillRect/>
          </a:stretch>
        </p:blipFill>
        <p:spPr bwMode="auto">
          <a:xfrm>
            <a:off x="4719484" y="4852220"/>
            <a:ext cx="3864077" cy="196153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2" y="869431"/>
            <a:ext cx="8964118" cy="5854098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sz="3600" dirty="0"/>
              <a:t>Broadcasting</a:t>
            </a:r>
            <a:endParaRPr lang="en-US" sz="4000" dirty="0"/>
          </a:p>
          <a:p>
            <a:pPr lvl="1" algn="just">
              <a:buFontTx/>
              <a:buChar char="•"/>
            </a:pPr>
            <a:r>
              <a:rPr lang="en-US" dirty="0"/>
              <a:t>Broadcast systems allow the possibility of addressing a packet to all destinations by using </a:t>
            </a:r>
            <a:r>
              <a:rPr lang="en-US" dirty="0">
                <a:solidFill>
                  <a:srgbClr val="FF0000"/>
                </a:solidFill>
              </a:rPr>
              <a:t>special code</a:t>
            </a:r>
            <a:r>
              <a:rPr lang="en-US" dirty="0"/>
              <a:t> in the address field</a:t>
            </a:r>
          </a:p>
          <a:p>
            <a:pPr lvl="1" algn="just">
              <a:buFontTx/>
              <a:buChar char="•"/>
            </a:pPr>
            <a:r>
              <a:rPr lang="en-US" dirty="0"/>
              <a:t>Smaller localized network use broadcasting </a:t>
            </a:r>
          </a:p>
          <a:p>
            <a:pPr algn="just">
              <a:buFontTx/>
              <a:buChar char="•"/>
            </a:pPr>
            <a:r>
              <a:rPr lang="en-US" sz="3600" dirty="0"/>
              <a:t>Multicasting</a:t>
            </a:r>
          </a:p>
          <a:p>
            <a:pPr lvl="1" algn="just">
              <a:buFontTx/>
              <a:buChar char="•"/>
            </a:pPr>
            <a:r>
              <a:rPr lang="en-US" dirty="0"/>
              <a:t>Broadcast systems also support transmission to a </a:t>
            </a:r>
            <a:r>
              <a:rPr lang="en-US" dirty="0">
                <a:solidFill>
                  <a:srgbClr val="FF0000"/>
                </a:solidFill>
              </a:rPr>
              <a:t>subset</a:t>
            </a:r>
            <a:r>
              <a:rPr lang="en-US" dirty="0"/>
              <a:t> of the machines </a:t>
            </a:r>
          </a:p>
          <a:p>
            <a:pPr lvl="1" algn="just">
              <a:buFontTx/>
              <a:buChar char="•"/>
            </a:pPr>
            <a:r>
              <a:rPr lang="en-US" dirty="0"/>
              <a:t>By reserving a bit to indicate multicasting &amp; the remaining n-1 address bits can hold the group number</a:t>
            </a:r>
          </a:p>
          <a:p>
            <a:pPr lvl="1" algn="just">
              <a:buFontTx/>
              <a:buChar char="•"/>
            </a:pPr>
            <a:r>
              <a:rPr lang="en-US" dirty="0"/>
              <a:t>Each machine can subscribe to any or one of the groups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7480" y="47470"/>
            <a:ext cx="9144000" cy="747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         Network Hardware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95234" name="Picture 2" descr="http://www.e-reading.club/illustrations/143/143358-Any2FbImgLoader47"/>
          <p:cNvPicPr>
            <a:picLocks noChangeAspect="1" noChangeArrowheads="1"/>
          </p:cNvPicPr>
          <p:nvPr/>
        </p:nvPicPr>
        <p:blipFill>
          <a:blip r:embed="rId2" cstate="print"/>
          <a:srcRect t="34473" r="68756" b="11334"/>
          <a:stretch>
            <a:fillRect/>
          </a:stretch>
        </p:blipFill>
        <p:spPr bwMode="auto">
          <a:xfrm>
            <a:off x="6774272" y="-1"/>
            <a:ext cx="2369728" cy="137587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2" y="869430"/>
            <a:ext cx="8964118" cy="5767343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sz="3600" dirty="0"/>
              <a:t>Point-to-point Networks</a:t>
            </a:r>
          </a:p>
          <a:p>
            <a:pPr lvl="1" algn="just">
              <a:buFontTx/>
              <a:buChar char="•"/>
            </a:pPr>
            <a:r>
              <a:rPr lang="en-US" dirty="0"/>
              <a:t>Many connections between individual pair of machines</a:t>
            </a:r>
          </a:p>
          <a:p>
            <a:pPr lvl="1" algn="just">
              <a:buFontTx/>
              <a:buChar char="•"/>
            </a:pPr>
            <a:r>
              <a:rPr lang="en-US" dirty="0"/>
              <a:t>Transfer from source to destination may includes one or more intermediate machines</a:t>
            </a:r>
          </a:p>
          <a:p>
            <a:pPr lvl="1" algn="just">
              <a:buFontTx/>
              <a:buChar char="•"/>
            </a:pPr>
            <a:r>
              <a:rPr lang="en-US" dirty="0"/>
              <a:t>Multiple routes of different lengths leads to the role of  routing algorithm for </a:t>
            </a:r>
            <a:r>
              <a:rPr lang="en-US" dirty="0">
                <a:solidFill>
                  <a:srgbClr val="FF0000"/>
                </a:solidFill>
              </a:rPr>
              <a:t>route selection</a:t>
            </a:r>
          </a:p>
          <a:p>
            <a:pPr lvl="1" algn="just">
              <a:buFontTx/>
              <a:buChar char="•"/>
            </a:pPr>
            <a:r>
              <a:rPr lang="en-US" dirty="0"/>
              <a:t>Larger networks use point-to-point</a:t>
            </a:r>
          </a:p>
          <a:p>
            <a:pPr lvl="1" algn="just">
              <a:buFontTx/>
              <a:buChar char="•"/>
            </a:pPr>
            <a:r>
              <a:rPr lang="en-US" dirty="0"/>
              <a:t>Point-to-point transmission with one sender and one receiver is sometimes called </a:t>
            </a:r>
            <a:r>
              <a:rPr lang="en-US" dirty="0" err="1">
                <a:solidFill>
                  <a:srgbClr val="FF0000"/>
                </a:solidFill>
              </a:rPr>
              <a:t>unicasting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7480" y="47470"/>
            <a:ext cx="9144000" cy="747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      Network Hardware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2" descr="http://www.e-reading.club/illustrations/143/143358-Any2FbImgLoader47"/>
          <p:cNvPicPr>
            <a:picLocks noChangeAspect="1" noChangeArrowheads="1"/>
          </p:cNvPicPr>
          <p:nvPr/>
        </p:nvPicPr>
        <p:blipFill>
          <a:blip r:embed="rId2" cstate="print"/>
          <a:srcRect l="70547" t="33827" b="12947"/>
          <a:stretch>
            <a:fillRect/>
          </a:stretch>
        </p:blipFill>
        <p:spPr bwMode="auto">
          <a:xfrm>
            <a:off x="6852151" y="5471652"/>
            <a:ext cx="2291849" cy="1386348"/>
          </a:xfrm>
          <a:prstGeom prst="rect">
            <a:avLst/>
          </a:prstGeom>
          <a:noFill/>
        </p:spPr>
      </p:pic>
      <p:pic>
        <p:nvPicPr>
          <p:cNvPr id="94210" name="Picture 2" descr="http://www.thelifenetwork.org/images/fault_tol_routi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55448" y="0"/>
            <a:ext cx="2488552" cy="1627289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944530-68B0-4FD5-9DB8-83B47B15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69434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-Roman"/>
              </a:rPr>
              <a:t>Point-to-point links</a:t>
            </a:r>
            <a:endParaRPr lang="en-US" sz="2400" dirty="0"/>
          </a:p>
        </p:txBody>
      </p:sp>
      <p:pic>
        <p:nvPicPr>
          <p:cNvPr id="4" name="Picture 2" descr="http://www.e-reading.club/illustrations/143/143358-Any2FbImgLoader47">
            <a:extLst>
              <a:ext uri="{FF2B5EF4-FFF2-40B4-BE49-F238E27FC236}">
                <a16:creationId xmlns:a16="http://schemas.microsoft.com/office/drawing/2014/main" xmlns="" id="{7EC8758E-B66C-4281-BF1E-B0AF5C500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0547" t="33827" b="12947"/>
          <a:stretch>
            <a:fillRect/>
          </a:stretch>
        </p:blipFill>
        <p:spPr bwMode="auto">
          <a:xfrm>
            <a:off x="5035926" y="2057401"/>
            <a:ext cx="3975247" cy="2404642"/>
          </a:xfrm>
          <a:prstGeom prst="rect">
            <a:avLst/>
          </a:prstGeom>
          <a:noFill/>
        </p:spPr>
      </p:pic>
      <p:pic>
        <p:nvPicPr>
          <p:cNvPr id="5" name="Picture 2" descr="http://www.thelifenetwork.org/images/fault_tol_routing.png">
            <a:extLst>
              <a:ext uri="{FF2B5EF4-FFF2-40B4-BE49-F238E27FC236}">
                <a16:creationId xmlns:a16="http://schemas.microsoft.com/office/drawing/2014/main" xmlns="" id="{7D3E1EFF-4715-4D4C-A351-283EC6111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92" y="1825439"/>
            <a:ext cx="4287609" cy="28037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4379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Network Hardware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7900" y="1328129"/>
            <a:ext cx="6449122" cy="3672849"/>
          </a:xfrm>
        </p:spPr>
        <p:txBody>
          <a:bodyPr/>
          <a:lstStyle/>
          <a:p>
            <a:pPr algn="l">
              <a:buFontTx/>
              <a:buChar char="•"/>
            </a:pPr>
            <a:r>
              <a:rPr lang="en-US" sz="3200" dirty="0"/>
              <a:t>Based on Scale</a:t>
            </a:r>
          </a:p>
          <a:p>
            <a:pPr lvl="1">
              <a:buFontTx/>
              <a:buChar char="•"/>
            </a:pPr>
            <a:r>
              <a:rPr lang="en-US" dirty="0"/>
              <a:t>Personal Area Networks</a:t>
            </a:r>
          </a:p>
          <a:p>
            <a:pPr lvl="1">
              <a:buFontTx/>
              <a:buChar char="•"/>
            </a:pPr>
            <a:r>
              <a:rPr lang="en-US" dirty="0"/>
              <a:t>Local Area Networks</a:t>
            </a:r>
          </a:p>
          <a:p>
            <a:pPr lvl="1">
              <a:buFontTx/>
              <a:buChar char="•"/>
            </a:pPr>
            <a:r>
              <a:rPr lang="en-US" dirty="0"/>
              <a:t>Metropolitan Area Networks</a:t>
            </a:r>
          </a:p>
          <a:p>
            <a:pPr lvl="1">
              <a:buFontTx/>
              <a:buChar char="•"/>
            </a:pPr>
            <a:r>
              <a:rPr lang="en-US" dirty="0"/>
              <a:t>Wide Area Networks</a:t>
            </a:r>
          </a:p>
          <a:p>
            <a:pPr lvl="1">
              <a:buFontTx/>
              <a:buChar char="•"/>
            </a:pPr>
            <a:r>
              <a:rPr lang="en-US" dirty="0"/>
              <a:t>Internetworks or 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Network Hardware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705749"/>
            <a:ext cx="8754256" cy="5861153"/>
          </a:xfrm>
        </p:spPr>
        <p:txBody>
          <a:bodyPr/>
          <a:lstStyle/>
          <a:p>
            <a:pPr algn="l">
              <a:buFont typeface="Wingdings" pitchFamily="2" charset="2"/>
              <a:buChar char="ü"/>
            </a:pPr>
            <a:r>
              <a:rPr lang="en-US" sz="2800" dirty="0">
                <a:solidFill>
                  <a:srgbClr val="FF0000"/>
                </a:solidFill>
              </a:rPr>
              <a:t>Personal Area Networks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600" dirty="0"/>
              <a:t>Networks that are meant for one person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600" dirty="0"/>
              <a:t>Eg: a wireless network connecting a computer with its mouse, keyboard, and printer 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>
                <a:solidFill>
                  <a:srgbClr val="FF0000"/>
                </a:solidFill>
              </a:rPr>
              <a:t>Local Area Networks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600" dirty="0"/>
              <a:t>Generally called as LANs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600" dirty="0"/>
              <a:t>Privately owned networks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600" dirty="0"/>
              <a:t>Inter-processor distance:10m to 1km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600" dirty="0"/>
              <a:t>Networks placed in a single room or building or campus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600" dirty="0"/>
              <a:t>LANs are distinguished by 3 characteristics –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500" dirty="0"/>
              <a:t>Size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500" dirty="0"/>
              <a:t>Transmission Technology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500" dirty="0"/>
              <a:t>Topology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61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779489"/>
            <a:ext cx="8754256" cy="5861153"/>
          </a:xfrm>
        </p:spPr>
        <p:txBody>
          <a:bodyPr/>
          <a:lstStyle/>
          <a:p>
            <a:pPr marL="609600" lvl="1" indent="-609600" algn="just">
              <a:buFont typeface="Wingdings" pitchFamily="2" charset="2"/>
              <a:buChar char="ü"/>
            </a:pPr>
            <a:r>
              <a:rPr lang="en-US" b="1" dirty="0"/>
              <a:t>Size</a:t>
            </a:r>
            <a:r>
              <a:rPr lang="en-US" dirty="0"/>
              <a:t> :- </a:t>
            </a:r>
            <a:endParaRPr lang="en-US" sz="2400" dirty="0"/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Worst-case transmission time is bounded and known in advance.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Knowing this bound makes it possible to use certain kinds of designs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Simplifies Network management.</a:t>
            </a:r>
          </a:p>
          <a:p>
            <a:pPr algn="just">
              <a:buFont typeface="Wingdings" pitchFamily="2" charset="2"/>
              <a:buChar char="ü"/>
            </a:pPr>
            <a:r>
              <a:rPr lang="en-US" b="1" dirty="0"/>
              <a:t>Transmission Technology </a:t>
            </a:r>
            <a:r>
              <a:rPr lang="en-US" dirty="0"/>
              <a:t>:-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consist of a single cable to which all the machines are attached 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Traditional LAN runs at speed of 10 to 100 Mbps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Newer LANs operate at 10 </a:t>
            </a:r>
            <a:r>
              <a:rPr lang="en-US" sz="2400" dirty="0" err="1"/>
              <a:t>Gbps</a:t>
            </a:r>
            <a:r>
              <a:rPr lang="en-US" sz="2400" dirty="0"/>
              <a:t>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Low delay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/>
              <a:t>Makes very few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779489"/>
            <a:ext cx="8754256" cy="5861153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800" b="1" dirty="0"/>
              <a:t>Topology</a:t>
            </a:r>
            <a:r>
              <a:rPr lang="en-US" sz="2800" dirty="0"/>
              <a:t> :-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/>
              <a:t>2 broadcast network types: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Bus &amp; Ring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b="1" dirty="0"/>
              <a:t>Bus (Linear cable) network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600" dirty="0"/>
              <a:t>at any instant, at most one machine is the master and is allowed to transmit.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600" dirty="0"/>
              <a:t>All other machines are required to refrain from sending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600" b="1" dirty="0"/>
              <a:t>Arbitration mechanism </a:t>
            </a:r>
            <a:r>
              <a:rPr lang="en-US" sz="2600" dirty="0"/>
              <a:t>:- to resolve conflicts when two or more machines want to transmit simultaneously.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2600" dirty="0"/>
              <a:t>It may be Centralized  or distributed (decentralized)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89090" name="Picture 2" descr="Image result for topolog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5513" y="88488"/>
            <a:ext cx="2978118" cy="193204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779489"/>
            <a:ext cx="8754256" cy="5861153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800" dirty="0"/>
              <a:t>Eg:-</a:t>
            </a:r>
            <a:r>
              <a:rPr lang="en-US" sz="2800" dirty="0">
                <a:solidFill>
                  <a:srgbClr val="FF0000"/>
                </a:solidFill>
              </a:rPr>
              <a:t>IEEE 802.3 </a:t>
            </a:r>
            <a:r>
              <a:rPr lang="en-US" sz="2800" dirty="0"/>
              <a:t>popularly called </a:t>
            </a:r>
            <a:r>
              <a:rPr lang="en-US" sz="2800" dirty="0">
                <a:solidFill>
                  <a:srgbClr val="FF0000"/>
                </a:solidFill>
              </a:rPr>
              <a:t>Ethernet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bus</a:t>
            </a:r>
            <a:r>
              <a:rPr lang="en-US" sz="2800" dirty="0"/>
              <a:t> based </a:t>
            </a:r>
            <a:r>
              <a:rPr lang="en-US" sz="2800" dirty="0">
                <a:solidFill>
                  <a:srgbClr val="FF0000"/>
                </a:solidFill>
              </a:rPr>
              <a:t>broadcast</a:t>
            </a:r>
            <a:r>
              <a:rPr lang="en-US" sz="2800" dirty="0"/>
              <a:t> network with </a:t>
            </a:r>
            <a:r>
              <a:rPr lang="en-US" sz="2800" dirty="0">
                <a:solidFill>
                  <a:srgbClr val="FF0000"/>
                </a:solidFill>
              </a:rPr>
              <a:t>decentralized</a:t>
            </a:r>
            <a:r>
              <a:rPr lang="en-US" sz="2800" dirty="0"/>
              <a:t> control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operates at 10 Mbps to 10 Gbps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Computers on an Ethernet can transmit whenever they want to;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if two or more packets collide, each computer just waits a random time and tries again later</a:t>
            </a:r>
            <a:endParaRPr lang="en-US" sz="3600" dirty="0"/>
          </a:p>
        </p:txBody>
      </p:sp>
      <p:pic>
        <p:nvPicPr>
          <p:cNvPr id="4" name="Picture 4" descr="1-07"/>
          <p:cNvPicPr>
            <a:picLocks noChangeAspect="1" noChangeArrowheads="1"/>
          </p:cNvPicPr>
          <p:nvPr/>
        </p:nvPicPr>
        <p:blipFill>
          <a:blip r:embed="rId2" cstate="print"/>
          <a:srcRect t="23867" r="51040" b="20939"/>
          <a:stretch>
            <a:fillRect/>
          </a:stretch>
        </p:blipFill>
        <p:spPr bwMode="auto">
          <a:xfrm>
            <a:off x="2391347" y="4272196"/>
            <a:ext cx="5013794" cy="2153156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1991027"/>
            <a:ext cx="8754256" cy="4424689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800" b="1" dirty="0"/>
              <a:t>Ring Network: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Devices acts as repeaters to boost the signal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The transmission of data takes place by token passing.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A </a:t>
            </a:r>
            <a:r>
              <a:rPr lang="en-US" b="1" dirty="0"/>
              <a:t>token</a:t>
            </a:r>
            <a:r>
              <a:rPr lang="en-US" dirty="0"/>
              <a:t> is a special series of bits that contains control information.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Possession of the token allows a network device to transmit data to the network.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b="1" dirty="0"/>
              <a:t>Each network </a:t>
            </a:r>
            <a:r>
              <a:rPr lang="en-US" dirty="0"/>
              <a:t>has only </a:t>
            </a:r>
            <a:r>
              <a:rPr lang="en-US" b="1" dirty="0"/>
              <a:t>one token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87044" name="Picture 4" descr="http://4.bp.blogspot.com/_afo8BP96xxY/Srm_V2bZomI/AAAAAAAAAM8/fG7PWTywZeQ/s400/rin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84380" y="0"/>
            <a:ext cx="3459620" cy="255147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855407"/>
            <a:ext cx="8754256" cy="5810864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endParaRPr lang="en-US" sz="2800" dirty="0"/>
          </a:p>
          <a:p>
            <a:pPr algn="just">
              <a:buFont typeface="Wingdings" pitchFamily="2" charset="2"/>
              <a:buChar char="ü"/>
            </a:pPr>
            <a:endParaRPr lang="en-US" sz="2800" dirty="0"/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solidFill>
                  <a:srgbClr val="FF0000"/>
                </a:solidFill>
              </a:rPr>
              <a:t>Working of Ring Network: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The sending computer removes the token from the ring and sends the requested data around the ring.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Each computer passes the data until the packet finds the computer that matches the address on the data.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The receiving computer then returns a message to the sending computer indicating that the data has been received.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After verification, the sending computer creates a new token and releases it to the network.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23909" name="Picture 5" descr="H:\Ramani UKF\UKF Odd 2015-16\CN Final Notes\ring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0446" y="0"/>
            <a:ext cx="2168785" cy="231549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33254C-DD13-477A-8A29-C74DC47C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A21F02-DE5A-4223-8FAA-2673CB528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582503-4AD4-4E9A-A624-78D2739CA3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5" descr="H:\Ramani UKF\UKF Odd 2015-16\CN Final Notes\ring.gif">
            <a:extLst>
              <a:ext uri="{FF2B5EF4-FFF2-40B4-BE49-F238E27FC236}">
                <a16:creationId xmlns:a16="http://schemas.microsoft.com/office/drawing/2014/main" xmlns="" id="{BFB85BEE-FDB4-482C-9979-B0E6DEE0DAC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504" y="1192695"/>
            <a:ext cx="4498731" cy="48030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157090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825911"/>
            <a:ext cx="8754256" cy="5589806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800" dirty="0"/>
              <a:t>Ring Network:</a:t>
            </a:r>
          </a:p>
          <a:p>
            <a:pPr algn="just"/>
            <a:r>
              <a:rPr lang="en-US" i="1" dirty="0">
                <a:solidFill>
                  <a:srgbClr val="FF0000"/>
                </a:solidFill>
              </a:rPr>
              <a:t>Advantages</a:t>
            </a:r>
            <a:r>
              <a:rPr lang="en-US" dirty="0"/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Very orderly network </a:t>
            </a:r>
            <a:r>
              <a:rPr lang="en-US" dirty="0"/>
              <a:t>where every device has access to the token and the opportunity to transmit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Performs better than a bus </a:t>
            </a:r>
            <a:r>
              <a:rPr lang="en-US" dirty="0"/>
              <a:t>topology under </a:t>
            </a:r>
            <a:r>
              <a:rPr lang="en-US" dirty="0">
                <a:solidFill>
                  <a:srgbClr val="FF0000"/>
                </a:solidFill>
              </a:rPr>
              <a:t>heavy</a:t>
            </a:r>
            <a:r>
              <a:rPr lang="en-US" dirty="0"/>
              <a:t> network load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Does not require network server </a:t>
            </a:r>
            <a:r>
              <a:rPr lang="en-US" dirty="0"/>
              <a:t>to manage the connectivity between the computers</a:t>
            </a:r>
          </a:p>
          <a:p>
            <a:pPr algn="just"/>
            <a:r>
              <a:rPr lang="en-US" i="1" dirty="0">
                <a:solidFill>
                  <a:srgbClr val="FF0000"/>
                </a:solidFill>
              </a:rPr>
              <a:t>Disadvantages</a:t>
            </a:r>
            <a:r>
              <a:rPr lang="en-US" dirty="0"/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One malfunctioning workstation or bad port </a:t>
            </a:r>
            <a:r>
              <a:rPr lang="en-US" dirty="0"/>
              <a:t>can create problems for the entire network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Devices moved, added and changed can </a:t>
            </a:r>
            <a:r>
              <a:rPr lang="en-US" dirty="0">
                <a:solidFill>
                  <a:srgbClr val="FF0000"/>
                </a:solidFill>
              </a:rPr>
              <a:t>affect</a:t>
            </a:r>
            <a:r>
              <a:rPr lang="en-US" dirty="0"/>
              <a:t> the network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Network adapter cards are much more </a:t>
            </a:r>
            <a:r>
              <a:rPr lang="en-US" dirty="0">
                <a:solidFill>
                  <a:srgbClr val="FF0000"/>
                </a:solidFill>
              </a:rPr>
              <a:t>expensive</a:t>
            </a:r>
            <a:r>
              <a:rPr lang="en-US" dirty="0"/>
              <a:t> than Ethernet cards and hubs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Much </a:t>
            </a:r>
            <a:r>
              <a:rPr lang="en-US" dirty="0">
                <a:solidFill>
                  <a:srgbClr val="FF0000"/>
                </a:solidFill>
              </a:rPr>
              <a:t>slower</a:t>
            </a:r>
            <a:r>
              <a:rPr lang="en-US" dirty="0"/>
              <a:t> than an Ethernet network under </a:t>
            </a:r>
            <a:r>
              <a:rPr lang="en-US" dirty="0">
                <a:solidFill>
                  <a:srgbClr val="FF0000"/>
                </a:solidFill>
              </a:rPr>
              <a:t>normal</a:t>
            </a:r>
            <a:r>
              <a:rPr lang="en-US" dirty="0"/>
              <a:t> 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779489"/>
            <a:ext cx="8754256" cy="5861153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800" dirty="0"/>
              <a:t>Ring Network: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Egs: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IEEE 802.5 (the IBM token ring), is a ring-based LAN </a:t>
            </a:r>
          </a:p>
          <a:p>
            <a:pPr lvl="3" algn="just">
              <a:buFont typeface="Wingdings" pitchFamily="2" charset="2"/>
              <a:buChar char="ü"/>
            </a:pPr>
            <a:r>
              <a:rPr lang="en-US" sz="2400" dirty="0"/>
              <a:t>operates at 4 and 16 Mbps.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dirty="0"/>
              <a:t>FDDI (</a:t>
            </a:r>
            <a:r>
              <a:rPr lang="en-US" i="1" dirty="0"/>
              <a:t>Fiber Distributed Data Interface</a:t>
            </a:r>
            <a:r>
              <a:rPr lang="en-US" dirty="0"/>
              <a:t>) is another example of a ring network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7" name="Picture 2" descr="https://cherlyndeluna.files.wordpress.com/2011/04/ringtopolog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7924" y="3657600"/>
            <a:ext cx="3133315" cy="316553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779489"/>
            <a:ext cx="8754256" cy="5861153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800" dirty="0"/>
              <a:t>Broadcast networks can be further divided into 2, depending on </a:t>
            </a:r>
            <a:r>
              <a:rPr lang="en-US" sz="2800" b="1" dirty="0"/>
              <a:t>how the channel is allocated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b="1" dirty="0"/>
              <a:t>Static</a:t>
            </a:r>
            <a:r>
              <a:rPr lang="en-US" dirty="0"/>
              <a:t> and </a:t>
            </a:r>
            <a:r>
              <a:rPr lang="en-US" b="1" dirty="0"/>
              <a:t>Dynamic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/>
              <a:t>A typical </a:t>
            </a:r>
            <a:r>
              <a:rPr lang="en-US" sz="2800" dirty="0">
                <a:solidFill>
                  <a:srgbClr val="FF0000"/>
                </a:solidFill>
              </a:rPr>
              <a:t>static</a:t>
            </a:r>
            <a:r>
              <a:rPr lang="en-US" sz="2800" dirty="0"/>
              <a:t> allocation is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to </a:t>
            </a:r>
            <a:r>
              <a:rPr lang="en-US" b="1" dirty="0"/>
              <a:t>divide time into discrete intervals</a:t>
            </a:r>
            <a:r>
              <a:rPr lang="en-US" dirty="0"/>
              <a:t> and use a round-robin algorithm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allowing each machine to broadcast only when its time slot comes up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Drawback</a:t>
            </a:r>
            <a:r>
              <a:rPr lang="en-US" dirty="0"/>
              <a:t>: wastes channel capacity when a machine has nothing to say during its allocated slot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So, most systems attempt to allocate the channel dynamically (i.e., on demand).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54439"/>
          </a:xfrm>
        </p:spPr>
        <p:txBody>
          <a:bodyPr/>
          <a:lstStyle/>
          <a:p>
            <a:r>
              <a:rPr lang="en-US" dirty="0"/>
              <a:t>LAN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862" y="779489"/>
            <a:ext cx="8754256" cy="5861153"/>
          </a:xfrm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800" dirty="0"/>
              <a:t>Dynamic allocation methods are either </a:t>
            </a:r>
            <a:r>
              <a:rPr lang="en-US" sz="2800" b="1" dirty="0"/>
              <a:t>centralized or decentralized.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/>
              <a:t>In the </a:t>
            </a:r>
            <a:r>
              <a:rPr lang="en-US" sz="2800" dirty="0">
                <a:solidFill>
                  <a:srgbClr val="FF0000"/>
                </a:solidFill>
              </a:rPr>
              <a:t>centralized channel allocation </a:t>
            </a:r>
            <a:r>
              <a:rPr lang="en-US" sz="2800" dirty="0"/>
              <a:t>method,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there is a single entity,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for example, a bus arbitration unit,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which determines who goes next.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It might do this by accepting requests and making a decision according to some internal algorithm.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/>
              <a:t>In the </a:t>
            </a:r>
            <a:r>
              <a:rPr lang="en-US" sz="2800" dirty="0">
                <a:solidFill>
                  <a:srgbClr val="FF0000"/>
                </a:solidFill>
              </a:rPr>
              <a:t>decentralized channel allocation </a:t>
            </a:r>
            <a:r>
              <a:rPr lang="en-US" sz="2800" dirty="0"/>
              <a:t>method,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there is no central entity;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each machine must decide for itself whether to transmit.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Metropolitan Area Networks (MAN)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427665"/>
            <a:ext cx="9144000" cy="544159"/>
          </a:xfrm>
        </p:spPr>
        <p:txBody>
          <a:bodyPr/>
          <a:lstStyle/>
          <a:p>
            <a:r>
              <a:rPr lang="en-US" dirty="0"/>
              <a:t>A metropolitan area network based on cable TV in a city.</a:t>
            </a:r>
          </a:p>
          <a:p>
            <a:endParaRPr lang="en-US" sz="1100" dirty="0"/>
          </a:p>
          <a:p>
            <a:pPr algn="just"/>
            <a:r>
              <a:rPr lang="en-US" dirty="0"/>
              <a:t>Another </a:t>
            </a:r>
            <a:r>
              <a:rPr lang="en-US" dirty="0" err="1"/>
              <a:t>eg</a:t>
            </a:r>
            <a:r>
              <a:rPr lang="en-US" dirty="0"/>
              <a:t>: IEEE 802.16 (Broadband wireless MANs) for high-speed wireless Internet access </a:t>
            </a:r>
          </a:p>
        </p:txBody>
      </p:sp>
      <p:pic>
        <p:nvPicPr>
          <p:cNvPr id="18436" name="Picture 4" descr="1-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963" y="1001004"/>
            <a:ext cx="7674681" cy="4232198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79841"/>
            <a:ext cx="9144000" cy="5409669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600" dirty="0"/>
              <a:t>WAN spans a large geographical area, often a country or continent</a:t>
            </a:r>
          </a:p>
          <a:p>
            <a:pPr algn="just">
              <a:buFont typeface="Arial" pitchFamily="34" charset="0"/>
              <a:buChar char="•"/>
            </a:pPr>
            <a:r>
              <a:rPr lang="en-US" sz="2600" dirty="0"/>
              <a:t>It contains a collection of machines called </a:t>
            </a:r>
            <a:r>
              <a:rPr lang="en-US" sz="2600" b="1" dirty="0"/>
              <a:t>hosts</a:t>
            </a:r>
            <a:r>
              <a:rPr lang="en-US" sz="2600" dirty="0"/>
              <a:t> intended for running user (i.e., application) programs</a:t>
            </a:r>
          </a:p>
          <a:p>
            <a:pPr algn="just">
              <a:buFont typeface="Arial" pitchFamily="34" charset="0"/>
              <a:buChar char="•"/>
            </a:pPr>
            <a:r>
              <a:rPr lang="en-US" sz="2600" dirty="0"/>
              <a:t>The </a:t>
            </a:r>
            <a:r>
              <a:rPr lang="en-US" sz="2600" b="1" dirty="0"/>
              <a:t>hosts are owned by the customers</a:t>
            </a:r>
          </a:p>
          <a:p>
            <a:pPr algn="just">
              <a:buFont typeface="Arial" pitchFamily="34" charset="0"/>
              <a:buChar char="•"/>
            </a:pPr>
            <a:r>
              <a:rPr lang="en-US" sz="2600" dirty="0"/>
              <a:t>The hosts are connected by a communication subnet, or just subnet </a:t>
            </a:r>
          </a:p>
          <a:p>
            <a:pPr algn="just">
              <a:buFont typeface="Arial" pitchFamily="34" charset="0"/>
              <a:buChar char="•"/>
            </a:pPr>
            <a:r>
              <a:rPr lang="en-US" sz="2600" dirty="0"/>
              <a:t>The </a:t>
            </a:r>
            <a:r>
              <a:rPr lang="en-US" sz="2600" b="1" dirty="0"/>
              <a:t>communication subnet </a:t>
            </a:r>
            <a:r>
              <a:rPr lang="en-US" sz="2600" dirty="0"/>
              <a:t>is typically </a:t>
            </a:r>
            <a:r>
              <a:rPr lang="en-US" sz="2600" b="1" dirty="0"/>
              <a:t>owned and operated by a telephone company or Internet service provider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600" dirty="0"/>
              <a:t>The job of the </a:t>
            </a:r>
            <a:r>
              <a:rPr lang="en-US" sz="2600" b="1" dirty="0"/>
              <a:t>subnet</a:t>
            </a:r>
            <a:r>
              <a:rPr lang="en-US" sz="2600" dirty="0"/>
              <a:t> is to </a:t>
            </a:r>
            <a:r>
              <a:rPr lang="en-US" sz="2600" b="1" dirty="0"/>
              <a:t>carry messages from host to host</a:t>
            </a:r>
            <a:r>
              <a:rPr lang="en-US" sz="2600" dirty="0"/>
              <a:t>, just as the telephone system carries words from speaker to listener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2107"/>
            <a:ext cx="9144000" cy="5878159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800" dirty="0"/>
              <a:t>Subnet consists of two distinct components: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transmission lines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switching elements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Transmission lines</a:t>
            </a:r>
            <a:r>
              <a:rPr lang="en-US" sz="2800" dirty="0"/>
              <a:t>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move bits between machines.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made of copper wire, optical fiber, or even radio links.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Switching elements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Specialized computers that connect three or more transmission lines.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When data arrive on an incoming line, it must choose an outgoing line on which to forward them.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Switching elements are also called as </a:t>
            </a:r>
            <a:r>
              <a:rPr lang="en-US" dirty="0">
                <a:solidFill>
                  <a:srgbClr val="FF0000"/>
                </a:solidFill>
              </a:rPr>
              <a:t>routers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 between hosts on LANs and the subnet.</a:t>
            </a:r>
          </a:p>
        </p:txBody>
      </p:sp>
      <p:pic>
        <p:nvPicPr>
          <p:cNvPr id="19460" name="Picture 4" descr="1-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5" y="1844675"/>
            <a:ext cx="7808913" cy="320675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84644"/>
            <a:ext cx="9144000" cy="4393671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Store-and-forward or packet-switched subnet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When a packet is sent from one router to another via one or more intermediate routers,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the packet is received at each intermediate router in its entirety,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stored there until the required output line is free, and then forwarded.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When the packets are small and all of the same size, they are often called </a:t>
            </a:r>
            <a:r>
              <a:rPr lang="en-US" b="1" dirty="0"/>
              <a:t>cells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06129"/>
            <a:ext cx="9144000" cy="5238227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800" dirty="0"/>
              <a:t>Principle of a packet-switched WAN: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400" dirty="0"/>
              <a:t>When a process on some host has a message to be sent to a process on some other host,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400" dirty="0"/>
              <a:t>the sending host first cuts the message into packets,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400" dirty="0"/>
              <a:t>each one bearing its number in the sequence.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400" dirty="0"/>
              <a:t>These packets are then injected into the network one at a time in quick succession.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400" dirty="0"/>
              <a:t>The packets are transported individually over the network and deposited at the receiving host, 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400" dirty="0"/>
              <a:t>where they are reassembled into the original message and delivered to the receiving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346222"/>
            <a:ext cx="9144000" cy="2511778"/>
          </a:xfrm>
        </p:spPr>
        <p:txBody>
          <a:bodyPr/>
          <a:lstStyle/>
          <a:p>
            <a:r>
              <a:rPr lang="en-US" dirty="0"/>
              <a:t>A stream of packets from sender to receiver.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Routing decisions are made locally.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When a packet arrives at router A, it is up to A to decide if this packet should be sent on the line to B or the line to C.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How A makes that decision is called the routing algorithm.</a:t>
            </a:r>
          </a:p>
        </p:txBody>
      </p:sp>
      <p:pic>
        <p:nvPicPr>
          <p:cNvPr id="20484" name="Picture 4" descr="1-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899" y="1059385"/>
            <a:ext cx="8731528" cy="3140082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 (WAN)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87841"/>
            <a:ext cx="9144000" cy="4856515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dirty="0"/>
              <a:t>Not all WANs are packet switched.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A second possibility for a WAN is a </a:t>
            </a:r>
            <a:r>
              <a:rPr lang="en-US" dirty="0">
                <a:solidFill>
                  <a:srgbClr val="FF0000"/>
                </a:solidFill>
              </a:rPr>
              <a:t>satellite system</a:t>
            </a:r>
            <a:r>
              <a:rPr lang="en-US" dirty="0"/>
              <a:t>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Each router has an </a:t>
            </a:r>
            <a:r>
              <a:rPr lang="en-US" dirty="0">
                <a:solidFill>
                  <a:srgbClr val="FF0000"/>
                </a:solidFill>
              </a:rPr>
              <a:t>antenna</a:t>
            </a:r>
            <a:r>
              <a:rPr lang="en-US" dirty="0"/>
              <a:t> through which it can send and receive.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All routers can hear the output from the satellite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In some cases, they can also hear the upward transmissions of their fellow routers to the satellite as well.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Sometimes the routers are connected to a substantial point-to-point subnet, with only some of them having a satellite antenna.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Satellite networks are inherently </a:t>
            </a:r>
            <a:r>
              <a:rPr lang="en-US" dirty="0">
                <a:solidFill>
                  <a:srgbClr val="FF0000"/>
                </a:solidFill>
              </a:rPr>
              <a:t>broadcast</a:t>
            </a:r>
            <a:r>
              <a:rPr lang="en-US" dirty="0"/>
              <a:t> and are most useful when the broadcast property is important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Internetworks 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19225"/>
            <a:ext cx="9144000" cy="5133975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sz="2800" dirty="0"/>
              <a:t>A collection of interconnected networks is called an </a:t>
            </a:r>
            <a:r>
              <a:rPr lang="en-US" sz="2800" dirty="0">
                <a:solidFill>
                  <a:srgbClr val="FF0000"/>
                </a:solidFill>
              </a:rPr>
              <a:t>internetwork or internet </a:t>
            </a:r>
          </a:p>
          <a:p>
            <a:pPr algn="just">
              <a:buFontTx/>
              <a:buChar char="•"/>
            </a:pPr>
            <a:r>
              <a:rPr lang="en-US" sz="2800" dirty="0"/>
              <a:t>A common form of internet is a collection of LANs connected by a WAN </a:t>
            </a:r>
          </a:p>
          <a:p>
            <a:pPr algn="just">
              <a:buFontTx/>
              <a:buChar char="•"/>
            </a:pPr>
            <a:r>
              <a:rPr lang="en-US" sz="2800" dirty="0"/>
              <a:t>If the intermediate system contains </a:t>
            </a:r>
            <a:r>
              <a:rPr lang="en-US" sz="2800" b="1" dirty="0"/>
              <a:t>only routers</a:t>
            </a:r>
            <a:r>
              <a:rPr lang="en-US" sz="2800" dirty="0"/>
              <a:t>, it is a </a:t>
            </a:r>
            <a:r>
              <a:rPr lang="en-US" sz="2800" b="1" dirty="0"/>
              <a:t>subnet</a:t>
            </a:r>
          </a:p>
          <a:p>
            <a:pPr algn="just">
              <a:buFontTx/>
              <a:buChar char="•"/>
            </a:pPr>
            <a:r>
              <a:rPr lang="en-US" sz="2800" dirty="0"/>
              <a:t>if it contains </a:t>
            </a:r>
            <a:r>
              <a:rPr lang="en-US" sz="2800" b="1" dirty="0"/>
              <a:t>both routers and hosts</a:t>
            </a:r>
            <a:r>
              <a:rPr lang="en-US" sz="2800" dirty="0"/>
              <a:t>, it is a </a:t>
            </a:r>
            <a:r>
              <a:rPr lang="en-US" sz="2800" b="1" dirty="0"/>
              <a:t>WAN</a:t>
            </a:r>
          </a:p>
          <a:p>
            <a:pPr algn="just">
              <a:buFontTx/>
              <a:buChar char="•"/>
            </a:pPr>
            <a:r>
              <a:rPr lang="en-US" sz="2800" dirty="0"/>
              <a:t>An internetwork is formed when distinct networks are interconnected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Software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4625"/>
            <a:ext cx="9144000" cy="3011488"/>
          </a:xfrm>
        </p:spPr>
        <p:txBody>
          <a:bodyPr/>
          <a:lstStyle/>
          <a:p>
            <a:pPr algn="l">
              <a:buFontTx/>
              <a:buChar char="•"/>
            </a:pPr>
            <a:r>
              <a:rPr lang="en-US" sz="2800" dirty="0"/>
              <a:t>Protocol Hierarchies</a:t>
            </a:r>
          </a:p>
          <a:p>
            <a:pPr algn="l">
              <a:buFontTx/>
              <a:buChar char="•"/>
            </a:pPr>
            <a:r>
              <a:rPr lang="en-US" sz="2800" dirty="0"/>
              <a:t>Design Issues for the Layers</a:t>
            </a:r>
          </a:p>
          <a:p>
            <a:pPr algn="l">
              <a:buFontTx/>
              <a:buChar char="•"/>
            </a:pPr>
            <a:r>
              <a:rPr lang="en-US" sz="2800" dirty="0"/>
              <a:t>Connection-Oriented and Connectionless Services</a:t>
            </a:r>
          </a:p>
          <a:p>
            <a:pPr algn="l">
              <a:buFontTx/>
              <a:buChar char="•"/>
            </a:pPr>
            <a:r>
              <a:rPr lang="en-US" sz="2800" dirty="0"/>
              <a:t>Service Primitives</a:t>
            </a:r>
          </a:p>
          <a:p>
            <a:pPr algn="l">
              <a:buFontTx/>
              <a:buChar char="•"/>
            </a:pPr>
            <a:r>
              <a:rPr lang="en-US" sz="2800" dirty="0"/>
              <a:t>The Relationship of Services to Protocols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4089"/>
          </a:xfrm>
        </p:spPr>
        <p:txBody>
          <a:bodyPr/>
          <a:lstStyle/>
          <a:p>
            <a:r>
              <a:rPr lang="en-US" dirty="0"/>
              <a:t>Protocol Hierarchies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5688"/>
            <a:ext cx="9144000" cy="5757333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sz="2800" dirty="0"/>
              <a:t>To reduce their </a:t>
            </a:r>
            <a:r>
              <a:rPr lang="en-US" sz="2800" dirty="0">
                <a:solidFill>
                  <a:srgbClr val="FF0000"/>
                </a:solidFill>
              </a:rPr>
              <a:t>design complexity</a:t>
            </a:r>
            <a:r>
              <a:rPr lang="en-US" sz="2800" dirty="0"/>
              <a:t>, most networks are organized as a </a:t>
            </a:r>
            <a:r>
              <a:rPr lang="en-US" sz="2800" b="1" dirty="0"/>
              <a:t>stack of layers or levels </a:t>
            </a:r>
          </a:p>
          <a:p>
            <a:pPr algn="just">
              <a:buFontTx/>
              <a:buChar char="•"/>
            </a:pPr>
            <a:r>
              <a:rPr lang="en-US" sz="2800" dirty="0"/>
              <a:t>Number of layers, name of each layer, contents of each layer, and function of each layer differ from network to network </a:t>
            </a:r>
          </a:p>
          <a:p>
            <a:pPr algn="just">
              <a:buFontTx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Purpose of each layer</a:t>
            </a:r>
            <a:r>
              <a:rPr lang="en-US" sz="2800" dirty="0"/>
              <a:t> </a:t>
            </a:r>
          </a:p>
          <a:p>
            <a:pPr lvl="1" algn="just">
              <a:buFontTx/>
              <a:buChar char="•"/>
            </a:pPr>
            <a:r>
              <a:rPr lang="en-US" sz="2400" dirty="0"/>
              <a:t>to offer certain services to the higher layers, </a:t>
            </a:r>
          </a:p>
          <a:p>
            <a:pPr lvl="1" algn="just">
              <a:buFontTx/>
              <a:buChar char="•"/>
            </a:pPr>
            <a:r>
              <a:rPr lang="en-US" sz="2400" dirty="0"/>
              <a:t>shielding those layers from the details of how the offered services are actually implemented </a:t>
            </a:r>
          </a:p>
          <a:p>
            <a:pPr algn="just">
              <a:buFontTx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rules and conventions </a:t>
            </a:r>
            <a:r>
              <a:rPr lang="en-US" sz="2800" dirty="0"/>
              <a:t>used in this conversation are collectively known as the </a:t>
            </a:r>
            <a:r>
              <a:rPr lang="en-US" sz="2800" dirty="0">
                <a:solidFill>
                  <a:srgbClr val="FF0000"/>
                </a:solidFill>
              </a:rPr>
              <a:t>layer n protocol </a:t>
            </a:r>
          </a:p>
          <a:p>
            <a:pPr algn="just">
              <a:buFontTx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Protocol</a:t>
            </a:r>
            <a:r>
              <a:rPr lang="en-US" sz="2800" dirty="0"/>
              <a:t> is an agreement between the communicating parties on how communication is to proceed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Network Software</a:t>
            </a:r>
            <a:br>
              <a:rPr lang="en-US" sz="4000" dirty="0"/>
            </a:br>
            <a:r>
              <a:rPr lang="en-US" sz="3200" dirty="0"/>
              <a:t>Protocol Hierarchies</a:t>
            </a:r>
          </a:p>
        </p:txBody>
      </p:sp>
      <p:pic>
        <p:nvPicPr>
          <p:cNvPr id="26628" name="Picture 4" descr="1-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312" y="1207563"/>
            <a:ext cx="8884355" cy="551189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Hierarchies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65709"/>
            <a:ext cx="9144000" cy="4967112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sz="2800" dirty="0"/>
              <a:t>No data are directly transferred from layer n on one machine to layer n on another machine. </a:t>
            </a:r>
          </a:p>
          <a:p>
            <a:pPr algn="just">
              <a:buFontTx/>
              <a:buChar char="•"/>
            </a:pPr>
            <a:r>
              <a:rPr lang="en-US" sz="2800" dirty="0"/>
              <a:t>Instead, each layer passes </a:t>
            </a:r>
            <a:r>
              <a:rPr lang="en-US" sz="2800" b="1" dirty="0"/>
              <a:t>data </a:t>
            </a:r>
            <a:r>
              <a:rPr lang="en-US" sz="2800" dirty="0"/>
              <a:t>and </a:t>
            </a:r>
            <a:r>
              <a:rPr lang="en-US" sz="2800" b="1" dirty="0"/>
              <a:t>control information </a:t>
            </a:r>
            <a:r>
              <a:rPr lang="en-US" sz="2800" dirty="0"/>
              <a:t>to the layer immediately below it, until the lowest layer is reached. </a:t>
            </a:r>
          </a:p>
          <a:p>
            <a:pPr algn="just">
              <a:buFontTx/>
              <a:buChar char="•"/>
            </a:pPr>
            <a:r>
              <a:rPr lang="en-US" sz="2800" dirty="0"/>
              <a:t>Below layer 1 is the </a:t>
            </a:r>
            <a:r>
              <a:rPr lang="en-US" sz="2800" b="1" dirty="0"/>
              <a:t>physical medium </a:t>
            </a:r>
            <a:r>
              <a:rPr lang="en-US" sz="2800" dirty="0"/>
              <a:t>through which actual communication occurs </a:t>
            </a:r>
          </a:p>
          <a:p>
            <a:pPr algn="just">
              <a:buFontTx/>
              <a:buChar char="•"/>
            </a:pPr>
            <a:r>
              <a:rPr lang="en-US" sz="2800" dirty="0"/>
              <a:t>Between each pair of adjacent layers is an </a:t>
            </a:r>
            <a:r>
              <a:rPr lang="en-US" sz="2800" dirty="0">
                <a:solidFill>
                  <a:srgbClr val="FF0000"/>
                </a:solidFill>
              </a:rPr>
              <a:t>interface </a:t>
            </a:r>
          </a:p>
          <a:p>
            <a:pPr algn="just">
              <a:buFontTx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Interface</a:t>
            </a:r>
            <a:r>
              <a:rPr lang="en-US" sz="2800" dirty="0"/>
              <a:t> defines which </a:t>
            </a:r>
            <a:r>
              <a:rPr lang="en-US" sz="2800" b="1" dirty="0"/>
              <a:t>primitive operations and services </a:t>
            </a:r>
            <a:r>
              <a:rPr lang="en-US" sz="2800" dirty="0"/>
              <a:t>the lower layer makes available to the upper one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Hierarchies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01421"/>
            <a:ext cx="9144000" cy="4651023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sz="2800" dirty="0"/>
              <a:t>Clear-cut interfaces makes it simpler to replace the implementation of one layer with a completely different implementation </a:t>
            </a:r>
          </a:p>
          <a:p>
            <a:pPr algn="just">
              <a:buFontTx/>
              <a:buChar char="•"/>
            </a:pPr>
            <a:r>
              <a:rPr lang="en-US" sz="2800" dirty="0"/>
              <a:t>e.g., all the telephone lines are replaced by satellite channels </a:t>
            </a:r>
          </a:p>
          <a:p>
            <a:pPr algn="just">
              <a:buFontTx/>
              <a:buChar char="•"/>
            </a:pPr>
            <a:r>
              <a:rPr lang="en-US" sz="2800" dirty="0"/>
              <a:t>A set of </a:t>
            </a:r>
            <a:r>
              <a:rPr lang="en-US" sz="2800" b="1" dirty="0"/>
              <a:t>layers</a:t>
            </a:r>
            <a:r>
              <a:rPr lang="en-US" sz="2800" dirty="0"/>
              <a:t> and </a:t>
            </a:r>
            <a:r>
              <a:rPr lang="en-US" sz="2800" b="1" dirty="0"/>
              <a:t>protocols</a:t>
            </a:r>
            <a:r>
              <a:rPr lang="en-US" sz="2800" dirty="0"/>
              <a:t> is called a </a:t>
            </a:r>
            <a:r>
              <a:rPr lang="en-US" sz="2800" dirty="0">
                <a:solidFill>
                  <a:srgbClr val="FF0000"/>
                </a:solidFill>
              </a:rPr>
              <a:t>network architecture </a:t>
            </a:r>
          </a:p>
          <a:p>
            <a:pPr algn="just">
              <a:buFontTx/>
              <a:buChar char="•"/>
            </a:pPr>
            <a:r>
              <a:rPr lang="en-US" sz="2800" dirty="0"/>
              <a:t>A list of protocols used by a certain system, one protocol per layer, is called a </a:t>
            </a:r>
            <a:r>
              <a:rPr lang="en-US" sz="2800" dirty="0">
                <a:solidFill>
                  <a:srgbClr val="FF0000"/>
                </a:solidFill>
              </a:rPr>
              <a:t>protocol stack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45067"/>
          </a:xfrm>
        </p:spPr>
        <p:txBody>
          <a:bodyPr/>
          <a:lstStyle/>
          <a:p>
            <a:r>
              <a:rPr lang="en-US" sz="4000" dirty="0"/>
              <a:t>Protocol Hierarchies</a:t>
            </a:r>
          </a:p>
        </p:txBody>
      </p:sp>
      <p:pic>
        <p:nvPicPr>
          <p:cNvPr id="27652" name="Picture 4" descr="1-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002" y="471044"/>
            <a:ext cx="7461954" cy="6372617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9911"/>
          </a:xfrm>
        </p:spPr>
        <p:txBody>
          <a:bodyPr/>
          <a:lstStyle/>
          <a:p>
            <a:r>
              <a:rPr lang="en-US" sz="4000" dirty="0"/>
              <a:t>Protocol Hierarchies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4763" y="5834063"/>
            <a:ext cx="9144000" cy="838200"/>
          </a:xfrm>
        </p:spPr>
        <p:txBody>
          <a:bodyPr/>
          <a:lstStyle/>
          <a:p>
            <a:pPr algn="just"/>
            <a:r>
              <a:rPr lang="en-US" dirty="0"/>
              <a:t>header &amp; trailer includes </a:t>
            </a:r>
            <a:r>
              <a:rPr lang="en-US" b="1" dirty="0"/>
              <a:t>control information</a:t>
            </a:r>
            <a:r>
              <a:rPr lang="en-US" dirty="0"/>
              <a:t>, such as sequence numbers, sizes, times, and other control fields </a:t>
            </a:r>
          </a:p>
        </p:txBody>
      </p:sp>
      <p:pic>
        <p:nvPicPr>
          <p:cNvPr id="28676" name="Picture 4" descr="1-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581730"/>
            <a:ext cx="9144001" cy="5285174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33778"/>
          </a:xfrm>
        </p:spPr>
        <p:txBody>
          <a:bodyPr/>
          <a:lstStyle/>
          <a:p>
            <a:r>
              <a:rPr lang="en-US" dirty="0"/>
              <a:t>Design Issues for the Layers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688622" y="1444983"/>
            <a:ext cx="6615289" cy="3951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Addressing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Rules for data transfer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Error Control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Flow Control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Long messages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Too short messages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Multiplexing &amp; demultiplexing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7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33778"/>
          </a:xfrm>
        </p:spPr>
        <p:txBody>
          <a:bodyPr/>
          <a:lstStyle/>
          <a:p>
            <a:r>
              <a:rPr lang="en-US" dirty="0"/>
              <a:t>Design Issues for the Layers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79023" y="1128891"/>
            <a:ext cx="8977313" cy="530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dirty="0">
                <a:latin typeface="Times New Roman" pitchFamily="18" charset="0"/>
              </a:rPr>
              <a:t>Addressing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Every layer needs a mechanism for identifying senders and receivers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So, addressing is required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/>
              <a:t>Rules for data transfer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Unidirectional or bidirectional</a:t>
            </a:r>
            <a:r>
              <a:rPr lang="en-US" sz="2400" dirty="0"/>
              <a:t> (Simplex / Half duplex / Full duplex)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/>
              <a:t>Protocol</a:t>
            </a:r>
            <a:r>
              <a:rPr lang="en-US" sz="2400" dirty="0"/>
              <a:t> must determine how many </a:t>
            </a:r>
            <a:r>
              <a:rPr lang="en-US" sz="2400" dirty="0">
                <a:solidFill>
                  <a:srgbClr val="FF0000"/>
                </a:solidFill>
              </a:rPr>
              <a:t>logical channels </a:t>
            </a:r>
            <a:r>
              <a:rPr lang="en-US" sz="2400" dirty="0"/>
              <a:t>the connection corresponds to and what their </a:t>
            </a:r>
            <a:r>
              <a:rPr lang="en-US" sz="2400" dirty="0">
                <a:solidFill>
                  <a:srgbClr val="FF0000"/>
                </a:solidFill>
              </a:rPr>
              <a:t>priorities</a:t>
            </a:r>
            <a:r>
              <a:rPr lang="en-US" sz="2400" dirty="0"/>
              <a:t> are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/>
              <a:t>Many networks provide at least two logical channels per connection, one for </a:t>
            </a:r>
            <a:r>
              <a:rPr lang="en-US" sz="2400" dirty="0">
                <a:solidFill>
                  <a:srgbClr val="FF0000"/>
                </a:solidFill>
              </a:rPr>
              <a:t>normal</a:t>
            </a:r>
            <a:r>
              <a:rPr lang="en-US" sz="2400" dirty="0"/>
              <a:t> data and one for </a:t>
            </a:r>
            <a:r>
              <a:rPr lang="en-US" sz="2400" dirty="0">
                <a:solidFill>
                  <a:srgbClr val="FF0000"/>
                </a:solidFill>
              </a:rPr>
              <a:t>urgent</a:t>
            </a:r>
            <a:r>
              <a:rPr lang="en-US" sz="2400" dirty="0"/>
              <a:t> data. 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7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33778"/>
          </a:xfrm>
        </p:spPr>
        <p:txBody>
          <a:bodyPr/>
          <a:lstStyle/>
          <a:p>
            <a:r>
              <a:rPr lang="en-US" dirty="0"/>
              <a:t>Design Issues for the Layers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79023" y="948267"/>
            <a:ext cx="8977313" cy="576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dirty="0">
                <a:latin typeface="Times New Roman" pitchFamily="18" charset="0"/>
              </a:rPr>
              <a:t>Error Control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Problem</a:t>
            </a:r>
            <a:r>
              <a:rPr lang="en-US" sz="2400" dirty="0"/>
              <a:t>: physical communication </a:t>
            </a:r>
            <a:r>
              <a:rPr lang="en-US" sz="2400" dirty="0">
                <a:solidFill>
                  <a:srgbClr val="FF0000"/>
                </a:solidFill>
              </a:rPr>
              <a:t>circuits</a:t>
            </a:r>
            <a:r>
              <a:rPr lang="en-US" sz="2400" dirty="0"/>
              <a:t> are </a:t>
            </a:r>
            <a:r>
              <a:rPr lang="en-US" sz="2400" dirty="0">
                <a:solidFill>
                  <a:srgbClr val="FF0000"/>
                </a:solidFill>
              </a:rPr>
              <a:t>not perfect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error-detecting and error-correcting </a:t>
            </a:r>
            <a:r>
              <a:rPr lang="en-US" sz="2400" dirty="0"/>
              <a:t>codes are available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both ends of the connection must agree on which one is being used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receiver must have some way of telling the sender which messages have been </a:t>
            </a:r>
            <a:r>
              <a:rPr lang="en-US" sz="2400" dirty="0">
                <a:solidFill>
                  <a:srgbClr val="FF0000"/>
                </a:solidFill>
              </a:rPr>
              <a:t>correctly received </a:t>
            </a:r>
            <a:r>
              <a:rPr lang="en-US" sz="2400" dirty="0"/>
              <a:t>and which have not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To deal with a possible loss of sequencing, the protocol must make explicit provision for the receiver to allow the pieces to be </a:t>
            </a:r>
            <a:r>
              <a:rPr lang="en-US" sz="2400" dirty="0">
                <a:solidFill>
                  <a:srgbClr val="FF0000"/>
                </a:solidFill>
              </a:rPr>
              <a:t>reassembled</a:t>
            </a:r>
            <a:r>
              <a:rPr lang="en-US" sz="2400" dirty="0"/>
              <a:t> properly 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33778"/>
          </a:xfrm>
        </p:spPr>
        <p:txBody>
          <a:bodyPr/>
          <a:lstStyle/>
          <a:p>
            <a:r>
              <a:rPr lang="en-US" dirty="0"/>
              <a:t>Design Issues for the Layers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79023" y="948267"/>
            <a:ext cx="8977313" cy="576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dirty="0">
                <a:latin typeface="Times New Roman" pitchFamily="18" charset="0"/>
              </a:rPr>
              <a:t>Flow Control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Problem</a:t>
            </a:r>
            <a:r>
              <a:rPr lang="en-US" sz="2400" dirty="0"/>
              <a:t>: how to keep a fast sender from swamping (overloading) a slow receiver with data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Solution 1</a:t>
            </a:r>
            <a:r>
              <a:rPr lang="en-US" sz="2400" dirty="0"/>
              <a:t>: some kind of </a:t>
            </a:r>
            <a:r>
              <a:rPr lang="en-US" sz="2400" dirty="0">
                <a:solidFill>
                  <a:srgbClr val="FF0000"/>
                </a:solidFill>
              </a:rPr>
              <a:t>feedback</a:t>
            </a:r>
            <a:r>
              <a:rPr lang="en-US" sz="2400" dirty="0"/>
              <a:t> from the receiver to the sender, about the receiver's current situation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Solution 2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limit</a:t>
            </a:r>
            <a:r>
              <a:rPr lang="en-US" sz="2400" dirty="0"/>
              <a:t> the sender to an agreed-on transmission rate (flow control)</a:t>
            </a:r>
            <a:endParaRPr lang="en-US" sz="2400" dirty="0">
              <a:latin typeface="Times New Roman" pitchFamily="18" charset="0"/>
            </a:endParaRP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dirty="0">
                <a:latin typeface="+mj-lt"/>
              </a:rPr>
              <a:t>Long messages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Problem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inability</a:t>
            </a:r>
            <a:r>
              <a:rPr lang="en-US" sz="2400" dirty="0"/>
              <a:t> of all processes to accept arbitrarily long messages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Solution</a:t>
            </a:r>
            <a:r>
              <a:rPr lang="en-US" sz="2400" dirty="0"/>
              <a:t>: disassembling, transmitting, and then reassembling messages </a:t>
            </a:r>
            <a:endParaRPr lang="en-US" sz="280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33778"/>
          </a:xfrm>
        </p:spPr>
        <p:txBody>
          <a:bodyPr/>
          <a:lstStyle/>
          <a:p>
            <a:r>
              <a:rPr lang="en-US" dirty="0"/>
              <a:t>Design Issues for the Layers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79023" y="948267"/>
            <a:ext cx="8977313" cy="576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/>
              <a:t>Too short messages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Problem</a:t>
            </a:r>
            <a:r>
              <a:rPr lang="en-US" sz="2400" dirty="0"/>
              <a:t>: transmitting data in units that are so small that sending each one separately is inefficient.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Solution</a:t>
            </a:r>
            <a:r>
              <a:rPr lang="en-US" sz="2400" dirty="0"/>
              <a:t>: to </a:t>
            </a:r>
            <a:r>
              <a:rPr lang="en-US" sz="2400" dirty="0">
                <a:solidFill>
                  <a:srgbClr val="FF0000"/>
                </a:solidFill>
              </a:rPr>
              <a:t>gather</a:t>
            </a:r>
            <a:r>
              <a:rPr lang="en-US" sz="2400" dirty="0"/>
              <a:t> several small messages heading toward a common destination into a single large message and </a:t>
            </a:r>
            <a:r>
              <a:rPr lang="en-US" sz="2400" dirty="0">
                <a:solidFill>
                  <a:srgbClr val="FF0000"/>
                </a:solidFill>
              </a:rPr>
              <a:t>dismember</a:t>
            </a:r>
            <a:r>
              <a:rPr lang="en-US" sz="2400" dirty="0"/>
              <a:t> the large message at the other side.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dirty="0">
                <a:latin typeface="+mj-lt"/>
              </a:rPr>
              <a:t>Multiplexing &amp; demultiplexing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underlying layer may decide to use the same connection for </a:t>
            </a:r>
            <a:r>
              <a:rPr lang="en-US" sz="2400" dirty="0">
                <a:solidFill>
                  <a:srgbClr val="FF0000"/>
                </a:solidFill>
              </a:rPr>
              <a:t>multiple, unrelated conversations </a:t>
            </a:r>
            <a:r>
              <a:rPr lang="en-US" sz="2400" dirty="0"/>
              <a:t>(Physical layer)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dirty="0">
                <a:latin typeface="Times New Roman" pitchFamily="18" charset="0"/>
              </a:rPr>
              <a:t>Routing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there are </a:t>
            </a:r>
            <a:r>
              <a:rPr lang="en-US" sz="2400" dirty="0">
                <a:solidFill>
                  <a:srgbClr val="FF0000"/>
                </a:solidFill>
              </a:rPr>
              <a:t>multiple paths </a:t>
            </a:r>
            <a:r>
              <a:rPr lang="en-US" sz="2400" dirty="0"/>
              <a:t>between source and destination, a route must be chosen based on the current traffic 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13"/>
            <a:ext cx="9144000" cy="1143000"/>
          </a:xfrm>
        </p:spPr>
        <p:txBody>
          <a:bodyPr/>
          <a:lstStyle/>
          <a:p>
            <a:r>
              <a:rPr lang="en-US" sz="4000" dirty="0"/>
              <a:t>Connection-Oriented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1444978"/>
            <a:ext cx="8977313" cy="527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Similar to </a:t>
            </a:r>
            <a:r>
              <a:rPr lang="en-US" sz="2400" dirty="0">
                <a:solidFill>
                  <a:srgbClr val="FF0000"/>
                </a:solidFill>
              </a:rPr>
              <a:t>telephone</a:t>
            </a:r>
            <a:r>
              <a:rPr lang="en-US" sz="2400" dirty="0"/>
              <a:t> service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to use a connection-oriented network service, the service user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establishes</a:t>
            </a:r>
            <a:r>
              <a:rPr lang="en-US" sz="2400" dirty="0"/>
              <a:t> a connection,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uses</a:t>
            </a:r>
            <a:r>
              <a:rPr lang="en-US" sz="2400" dirty="0"/>
              <a:t> the connection,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releases</a:t>
            </a:r>
            <a:r>
              <a:rPr lang="en-US" sz="2400" dirty="0"/>
              <a:t> the connection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acts like a </a:t>
            </a:r>
            <a:r>
              <a:rPr lang="en-US" sz="2400" dirty="0">
                <a:solidFill>
                  <a:srgbClr val="FF0000"/>
                </a:solidFill>
              </a:rPr>
              <a:t>tube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sender pushes objects (bits) in at one end, and the receiver takes them out at the other end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order is preserved so that the bits arrive in the order they were sent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13"/>
            <a:ext cx="9144000" cy="732543"/>
          </a:xfrm>
        </p:spPr>
        <p:txBody>
          <a:bodyPr/>
          <a:lstStyle/>
          <a:p>
            <a:r>
              <a:rPr lang="en-US" sz="4000" dirty="0"/>
              <a:t>Connection-Oriented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857956"/>
            <a:ext cx="8977313" cy="591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a connection is established, the sender, receiver, and subnet conduct a </a:t>
            </a:r>
            <a:r>
              <a:rPr lang="en-US" sz="2400" dirty="0">
                <a:solidFill>
                  <a:srgbClr val="FF0000"/>
                </a:solidFill>
              </a:rPr>
              <a:t>negotiation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about parameters to be used, such as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maximum message size,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quality of service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error rates,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bandwidth,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throughput,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transmission delay,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jitter,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Availability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other issues.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Typically, one side makes a proposal and the other side can accept it, reject it, or make a counterproposal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8" name="Picture 2" descr="http://flylib.com/books/2/959/1/html/2/images/mir01f06.jpg"/>
          <p:cNvPicPr>
            <a:picLocks noChangeAspect="1" noChangeArrowheads="1"/>
          </p:cNvPicPr>
          <p:nvPr/>
        </p:nvPicPr>
        <p:blipFill>
          <a:blip r:embed="rId2" cstate="print"/>
          <a:srcRect l="49378" b="18526"/>
          <a:stretch>
            <a:fillRect/>
          </a:stretch>
        </p:blipFill>
        <p:spPr bwMode="auto">
          <a:xfrm>
            <a:off x="4999706" y="2277856"/>
            <a:ext cx="4031740" cy="2751344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13"/>
            <a:ext cx="9144000" cy="755967"/>
          </a:xfrm>
        </p:spPr>
        <p:txBody>
          <a:bodyPr/>
          <a:lstStyle/>
          <a:p>
            <a:r>
              <a:rPr lang="en-US" sz="4000" dirty="0"/>
              <a:t>Connection-Oriented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925830"/>
            <a:ext cx="8977313" cy="5791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Classifications: </a:t>
            </a:r>
            <a:r>
              <a:rPr lang="en-US" sz="2400" b="1" dirty="0"/>
              <a:t>Reliable</a:t>
            </a:r>
            <a:r>
              <a:rPr lang="en-US" sz="2400" dirty="0"/>
              <a:t> &amp; </a:t>
            </a:r>
            <a:r>
              <a:rPr lang="en-US" sz="2400" b="1" dirty="0"/>
              <a:t>Unreliable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Each service can be characterized by a </a:t>
            </a:r>
            <a:r>
              <a:rPr lang="en-US" sz="2400" b="1" dirty="0"/>
              <a:t>quality of service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Some services are </a:t>
            </a:r>
            <a:r>
              <a:rPr lang="en-US" sz="2400" dirty="0">
                <a:solidFill>
                  <a:srgbClr val="FF0000"/>
                </a:solidFill>
              </a:rPr>
              <a:t>reliable</a:t>
            </a:r>
            <a:r>
              <a:rPr lang="en-US" sz="2400" dirty="0"/>
              <a:t> that they never lose data.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reliable</a:t>
            </a:r>
            <a:r>
              <a:rPr lang="en-US" sz="2400" dirty="0"/>
              <a:t> service is implemented by having the receiver </a:t>
            </a:r>
            <a:r>
              <a:rPr lang="en-US" sz="2400" dirty="0">
                <a:solidFill>
                  <a:srgbClr val="FF0000"/>
                </a:solidFill>
              </a:rPr>
              <a:t>acknowledge</a:t>
            </a:r>
            <a:r>
              <a:rPr lang="en-US" sz="2400" dirty="0"/>
              <a:t> the receipt of each message so the sender is sure that it arrived.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acknowledgement process introduces </a:t>
            </a:r>
            <a:r>
              <a:rPr lang="en-US" sz="2400" dirty="0">
                <a:solidFill>
                  <a:srgbClr val="FF0000"/>
                </a:solidFill>
              </a:rPr>
              <a:t>overhead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delays</a:t>
            </a:r>
            <a:r>
              <a:rPr lang="en-US" sz="2400" dirty="0"/>
              <a:t>, which are often worth it but are sometimes undesirable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Eg for reliable connection-oriented service is </a:t>
            </a:r>
            <a:r>
              <a:rPr lang="en-US" sz="2400" dirty="0">
                <a:solidFill>
                  <a:srgbClr val="FF0000"/>
                </a:solidFill>
              </a:rPr>
              <a:t>file transfer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Reliable connection-oriented service has two minor variations: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message sequences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byte streams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13"/>
            <a:ext cx="9144000" cy="1143000"/>
          </a:xfrm>
        </p:spPr>
        <p:txBody>
          <a:bodyPr/>
          <a:lstStyle/>
          <a:p>
            <a:r>
              <a:rPr lang="en-US" sz="4000" dirty="0"/>
              <a:t>Connection-Oriented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1200150"/>
            <a:ext cx="8977313" cy="551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Message sequences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message boundaries are preserved.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two 1024-byte messages are sent, they arrive as two distinct 1024-byte messages, never as one 2048-byte message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Eg: Sending the pages of book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Byte streams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connection is simply a stream of bytes, with no message boundaries.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2048 bytes arrive at the receiver, there is no way to tell if they were sent as one 2048-byte message, two 1024-byte messages, or 2048 1-byte messages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Eg: user logging details to a remote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13"/>
            <a:ext cx="9144000" cy="1143000"/>
          </a:xfrm>
        </p:spPr>
        <p:txBody>
          <a:bodyPr/>
          <a:lstStyle/>
          <a:p>
            <a:r>
              <a:rPr lang="en-US" sz="4000" dirty="0"/>
              <a:t>Connection-Oriented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1444978"/>
            <a:ext cx="8977313" cy="527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For some applications, transit delays introduced by acknowledgements are unacceptable. (</a:t>
            </a:r>
            <a:r>
              <a:rPr lang="en-US" sz="2400" b="1" dirty="0"/>
              <a:t>Unreliable </a:t>
            </a:r>
            <a:r>
              <a:rPr lang="en-US" sz="2400" dirty="0"/>
              <a:t>is better)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Application 1: </a:t>
            </a:r>
            <a:r>
              <a:rPr lang="en-US" sz="2400" dirty="0"/>
              <a:t>digitized voice traffic.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It is preferable for telephone users to hear a bit of noise on the line from time to time than to experience a delay waiting for acknowledgements.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Application 2: </a:t>
            </a:r>
            <a:r>
              <a:rPr lang="en-US" sz="2400" dirty="0"/>
              <a:t>video conference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transmitting a video conference, having a few pixels wrong is no problem, but having the image jerk along as the flow stops to correct errors is irritating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13"/>
            <a:ext cx="9144000" cy="732543"/>
          </a:xfrm>
        </p:spPr>
        <p:txBody>
          <a:bodyPr/>
          <a:lstStyle/>
          <a:p>
            <a:pPr lvl="0">
              <a:defRPr/>
            </a:pPr>
            <a:r>
              <a:rPr lang="en-US" sz="4000" dirty="0"/>
              <a:t>Connectionless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857956"/>
            <a:ext cx="8977313" cy="591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Similar to </a:t>
            </a:r>
            <a:r>
              <a:rPr lang="en-US" sz="2400" dirty="0">
                <a:solidFill>
                  <a:srgbClr val="FF0000"/>
                </a:solidFill>
              </a:rPr>
              <a:t>postal</a:t>
            </a:r>
            <a:r>
              <a:rPr lang="en-US" sz="2400" dirty="0"/>
              <a:t> system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Each message (letter) carries the full destination address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Each one is routed through the system independent of all the others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5260662"/>
            <a:ext cx="9144000" cy="732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1026" name="Picture 2" descr="http://image.slidesharecdn.com/unit-3icmp-150220020603-conversion-gate01/95/cn-unit-3-6-638.jpg?cb=1424397996"/>
          <p:cNvPicPr>
            <a:picLocks noChangeAspect="1" noChangeArrowheads="1"/>
          </p:cNvPicPr>
          <p:nvPr/>
        </p:nvPicPr>
        <p:blipFill>
          <a:blip r:embed="rId2" cstate="print"/>
          <a:srcRect l="6647" t="15292" r="6904" b="38611"/>
          <a:stretch>
            <a:fillRect/>
          </a:stretch>
        </p:blipFill>
        <p:spPr bwMode="auto">
          <a:xfrm>
            <a:off x="648930" y="3082413"/>
            <a:ext cx="7913708" cy="3170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38873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5412"/>
            <a:ext cx="9144000" cy="585787"/>
          </a:xfrm>
        </p:spPr>
        <p:txBody>
          <a:bodyPr/>
          <a:lstStyle/>
          <a:p>
            <a:r>
              <a:rPr lang="en-US" sz="4000" dirty="0"/>
              <a:t>Connectionless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752168"/>
            <a:ext cx="8977313" cy="604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Connectionless service is often called </a:t>
            </a:r>
            <a:r>
              <a:rPr lang="en-US" sz="2400" dirty="0">
                <a:solidFill>
                  <a:srgbClr val="FF0000"/>
                </a:solidFill>
              </a:rPr>
              <a:t>datagram service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Unreliable (meaning not acknowledged) datagram service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does not return an acknowledgement to the sender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 err="1"/>
              <a:t>Eg</a:t>
            </a:r>
            <a:r>
              <a:rPr lang="en-US" sz="2400" dirty="0"/>
              <a:t>: junk mails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acknowledged datagram service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convenience of not having to establish a connection to send one short message is desired,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but reliability is essential.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Eg: sending a registered letter and requesting a return receipt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request-reply service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sender transmits a single datagram containing a request; the reply contains the answer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Egs: a query to the local library, Client server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13"/>
            <a:ext cx="9144000" cy="1143000"/>
          </a:xfrm>
        </p:spPr>
        <p:txBody>
          <a:bodyPr/>
          <a:lstStyle/>
          <a:p>
            <a:r>
              <a:rPr lang="en-US" sz="4000"/>
              <a:t>Connection-Oriented and Connectionless Services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different types of service.</a:t>
            </a:r>
          </a:p>
        </p:txBody>
      </p:sp>
      <p:pic>
        <p:nvPicPr>
          <p:cNvPr id="29700" name="Picture 4" descr="1-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967" y="1678343"/>
            <a:ext cx="8729867" cy="3762904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5412"/>
            <a:ext cx="9144000" cy="585787"/>
          </a:xfrm>
        </p:spPr>
        <p:txBody>
          <a:bodyPr/>
          <a:lstStyle/>
          <a:p>
            <a:r>
              <a:rPr lang="en-US" sz="4000" dirty="0"/>
              <a:t>Interfaces &amp; Services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Active elements in each layer are called </a:t>
            </a:r>
            <a:r>
              <a:rPr lang="en-US" sz="2400" dirty="0">
                <a:solidFill>
                  <a:srgbClr val="FF0000"/>
                </a:solidFill>
              </a:rPr>
              <a:t>entities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An entity can be a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software entity (such as a process), or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hardware entity (such as an intelligent I/O chip)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Entities in the same layer on different machines are called </a:t>
            </a:r>
            <a:r>
              <a:rPr lang="en-US" sz="2400" dirty="0">
                <a:solidFill>
                  <a:srgbClr val="FF0000"/>
                </a:solidFill>
              </a:rPr>
              <a:t>peer entities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Entities in layer n implement a service used by layer n+ 1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Layer n is the service provider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Layer n + 1 is the service user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Classes of services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Fast &amp; expensive communication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Slow &amp; cheap communication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Service Primitives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224850"/>
            <a:ext cx="8977313" cy="5267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service </a:t>
            </a:r>
            <a:r>
              <a:rPr lang="en-US" sz="2400" dirty="0"/>
              <a:t>is specified by a </a:t>
            </a:r>
            <a:r>
              <a:rPr lang="en-US" sz="2400" b="1" dirty="0"/>
              <a:t>set of primitives (operations) </a:t>
            </a:r>
            <a:r>
              <a:rPr lang="en-US" sz="2400" dirty="0"/>
              <a:t>available to a user process to access the service.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These primitives tell the service to </a:t>
            </a:r>
            <a:r>
              <a:rPr lang="en-US" sz="2400" dirty="0">
                <a:solidFill>
                  <a:srgbClr val="FF0000"/>
                </a:solidFill>
              </a:rPr>
              <a:t>perform</a:t>
            </a:r>
            <a:r>
              <a:rPr lang="en-US" sz="2400" dirty="0"/>
              <a:t> some </a:t>
            </a:r>
            <a:r>
              <a:rPr lang="en-US" sz="2400" dirty="0">
                <a:solidFill>
                  <a:srgbClr val="FF3300"/>
                </a:solidFill>
              </a:rPr>
              <a:t>action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FF3300"/>
                </a:solidFill>
              </a:rPr>
              <a:t>report</a:t>
            </a:r>
            <a:r>
              <a:rPr lang="en-US" sz="2400" dirty="0"/>
              <a:t> on an </a:t>
            </a:r>
            <a:r>
              <a:rPr lang="en-US" sz="2400" dirty="0">
                <a:solidFill>
                  <a:srgbClr val="FF0000"/>
                </a:solidFill>
              </a:rPr>
              <a:t>action</a:t>
            </a:r>
            <a:r>
              <a:rPr lang="en-US" sz="2400" dirty="0"/>
              <a:t> taken by a peer entity.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If the protocol stack is located in the operating system, the primitives are normally </a:t>
            </a:r>
            <a:r>
              <a:rPr lang="en-US" sz="2400" dirty="0">
                <a:solidFill>
                  <a:srgbClr val="FF3300"/>
                </a:solidFill>
              </a:rPr>
              <a:t>system calls</a:t>
            </a:r>
            <a:r>
              <a:rPr lang="en-US" sz="2400" dirty="0"/>
              <a:t>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These calls cause a trap to kernel mode, which then turns control of the machine over to the operating system to send the necessary packets.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Primitives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2608" y="1296353"/>
            <a:ext cx="7967662" cy="838200"/>
          </a:xfrm>
        </p:spPr>
        <p:txBody>
          <a:bodyPr/>
          <a:lstStyle/>
          <a:p>
            <a:r>
              <a:rPr lang="en-US" dirty="0">
                <a:latin typeface="Bookman Old Style" pitchFamily="18" charset="0"/>
              </a:rPr>
              <a:t>Five service primitives for implementing a simple connection-oriented service.</a:t>
            </a:r>
          </a:p>
        </p:txBody>
      </p:sp>
      <p:pic>
        <p:nvPicPr>
          <p:cNvPr id="30724" name="Picture 4" descr="1-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838" y="2327910"/>
            <a:ext cx="7845425" cy="260985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67</a:t>
            </a:fld>
            <a:endParaRPr lang="en-US"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Primitives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4686301"/>
            <a:ext cx="8446770" cy="891540"/>
          </a:xfrm>
        </p:spPr>
        <p:txBody>
          <a:bodyPr/>
          <a:lstStyle/>
          <a:p>
            <a:r>
              <a:rPr lang="en-US" dirty="0"/>
              <a:t>Packets sent in a simple client-server interaction on a connection-oriented network.</a:t>
            </a:r>
          </a:p>
        </p:txBody>
      </p:sp>
      <p:pic>
        <p:nvPicPr>
          <p:cNvPr id="31748" name="Picture 4" descr="1-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930" y="1448752"/>
            <a:ext cx="8809050" cy="2483167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Service Primitives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795868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Eg Illustration: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Server</a:t>
            </a:r>
            <a:r>
              <a:rPr lang="en-US" sz="2400" dirty="0"/>
              <a:t> executes </a:t>
            </a:r>
            <a:r>
              <a:rPr lang="en-US" sz="2400" dirty="0">
                <a:solidFill>
                  <a:srgbClr val="FF0000"/>
                </a:solidFill>
              </a:rPr>
              <a:t>LISTEN</a:t>
            </a:r>
            <a:r>
              <a:rPr lang="en-US" sz="2400" dirty="0"/>
              <a:t> to indicate that it is prepared to accept incoming connections.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 common way to implement LISTEN is to make it a </a:t>
            </a:r>
            <a:r>
              <a:rPr lang="en-US" sz="2400" dirty="0">
                <a:solidFill>
                  <a:srgbClr val="FF0000"/>
                </a:solidFill>
              </a:rPr>
              <a:t>blocking system call</a:t>
            </a:r>
            <a:r>
              <a:rPr lang="en-US" sz="2400" dirty="0"/>
              <a:t>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After executing the primitive, the server process is blocked until a request for connection appears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Client</a:t>
            </a:r>
            <a:r>
              <a:rPr lang="en-US" sz="2400" dirty="0"/>
              <a:t> process executes </a:t>
            </a:r>
            <a:r>
              <a:rPr lang="en-US" sz="2400" dirty="0">
                <a:solidFill>
                  <a:srgbClr val="FF0000"/>
                </a:solidFill>
              </a:rPr>
              <a:t>CONNECT</a:t>
            </a:r>
            <a:r>
              <a:rPr lang="en-US" sz="2400" dirty="0"/>
              <a:t> to establish a connection with the server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Operating system then typically sends a packet to the peer asking it to connect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Client process is suspended </a:t>
            </a:r>
            <a:r>
              <a:rPr lang="en-US" sz="2400" dirty="0"/>
              <a:t>until there is a response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Service Primitives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085850"/>
            <a:ext cx="8977313" cy="509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the packet arrives at the server, it is processed by its operating system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the system sees that the packet is requesting a connection, it checks to see if there is a listener.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If so, it does two things: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unblocks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FF0000"/>
                </a:solidFill>
              </a:rPr>
              <a:t>listener</a:t>
            </a:r>
            <a:r>
              <a:rPr lang="en-US" sz="2400" dirty="0"/>
              <a:t>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sends</a:t>
            </a:r>
            <a:r>
              <a:rPr lang="en-US" sz="2400" dirty="0"/>
              <a:t> back an </a:t>
            </a:r>
            <a:r>
              <a:rPr lang="en-US" sz="2400" dirty="0">
                <a:solidFill>
                  <a:srgbClr val="FF0000"/>
                </a:solidFill>
              </a:rPr>
              <a:t>acknowledgement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arrival of this acknowledgement then releases the Client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At this point the Client and Server are both running and they have a connection established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If a connection request arrives and there is no listener, the result is undefined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Service Primitives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795868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next step is for the </a:t>
            </a:r>
            <a:r>
              <a:rPr lang="en-US" sz="2400" dirty="0">
                <a:solidFill>
                  <a:srgbClr val="FF0000"/>
                </a:solidFill>
              </a:rPr>
              <a:t>Server</a:t>
            </a:r>
            <a:r>
              <a:rPr lang="en-US" sz="2400" dirty="0"/>
              <a:t> to execute </a:t>
            </a:r>
            <a:r>
              <a:rPr lang="en-US" sz="2400" dirty="0">
                <a:solidFill>
                  <a:srgbClr val="FF0000"/>
                </a:solidFill>
              </a:rPr>
              <a:t>RECEIVE</a:t>
            </a:r>
            <a:r>
              <a:rPr lang="en-US" sz="2400" dirty="0"/>
              <a:t> to prepare to accept the first request.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Normally, the server does this immediately upon being released from the LISTEN, before the acknowledgement can get back to the client.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RECEIVE call </a:t>
            </a:r>
            <a:r>
              <a:rPr lang="en-US" sz="2400" dirty="0">
                <a:solidFill>
                  <a:srgbClr val="FF0000"/>
                </a:solidFill>
              </a:rPr>
              <a:t>blocks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FF0000"/>
                </a:solidFill>
              </a:rPr>
              <a:t>Server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Then the </a:t>
            </a:r>
            <a:r>
              <a:rPr lang="en-US" sz="2400" dirty="0">
                <a:solidFill>
                  <a:srgbClr val="FF0000"/>
                </a:solidFill>
              </a:rPr>
              <a:t>Client</a:t>
            </a:r>
            <a:r>
              <a:rPr lang="en-US" sz="2400" dirty="0"/>
              <a:t> executes </a:t>
            </a:r>
            <a:r>
              <a:rPr lang="en-US" sz="2400" dirty="0">
                <a:solidFill>
                  <a:srgbClr val="FF0000"/>
                </a:solidFill>
              </a:rPr>
              <a:t>SEND</a:t>
            </a:r>
            <a:r>
              <a:rPr lang="en-US" sz="2400" dirty="0"/>
              <a:t> to transmit its request  </a:t>
            </a:r>
            <a:r>
              <a:rPr lang="en-US" sz="2400" dirty="0">
                <a:solidFill>
                  <a:srgbClr val="FF0000"/>
                </a:solidFill>
              </a:rPr>
              <a:t>followed</a:t>
            </a:r>
            <a:r>
              <a:rPr lang="en-US" sz="2400" dirty="0"/>
              <a:t> by the execution of </a:t>
            </a:r>
            <a:r>
              <a:rPr lang="en-US" sz="2400" dirty="0">
                <a:solidFill>
                  <a:srgbClr val="FF0000"/>
                </a:solidFill>
              </a:rPr>
              <a:t>RECEIVE</a:t>
            </a:r>
            <a:r>
              <a:rPr lang="en-US" sz="2400" dirty="0"/>
              <a:t> to get the reply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arrival of the request packet at the server machine unblocks the Server process so it can process the request.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After it has done the work, it uses </a:t>
            </a:r>
            <a:r>
              <a:rPr lang="en-US" sz="2400" dirty="0">
                <a:solidFill>
                  <a:srgbClr val="FF0000"/>
                </a:solidFill>
              </a:rPr>
              <a:t>SEND</a:t>
            </a:r>
            <a:r>
              <a:rPr lang="en-US" sz="2400" dirty="0"/>
              <a:t> to return the answer to the Client.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arrival of this packet </a:t>
            </a:r>
            <a:r>
              <a:rPr lang="en-US" sz="2400" dirty="0">
                <a:solidFill>
                  <a:srgbClr val="FF0000"/>
                </a:solidFill>
              </a:rPr>
              <a:t>unblocks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FF0000"/>
                </a:solidFill>
              </a:rPr>
              <a:t>Client</a:t>
            </a:r>
            <a:r>
              <a:rPr lang="en-US" sz="2400" dirty="0"/>
              <a:t>, which can now inspect the answer.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Service Primitives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413089"/>
            <a:ext cx="8977313" cy="473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If the Client has additional requests, it can make them now.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If it is done, it can use </a:t>
            </a:r>
            <a:r>
              <a:rPr lang="en-US" sz="2400" dirty="0">
                <a:solidFill>
                  <a:srgbClr val="FF0000"/>
                </a:solidFill>
              </a:rPr>
              <a:t>DISCONNECT</a:t>
            </a:r>
            <a:r>
              <a:rPr lang="en-US" sz="2400" dirty="0"/>
              <a:t> to terminate the connection.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Usually, an initial DISCONNECT is a </a:t>
            </a:r>
            <a:r>
              <a:rPr lang="en-US" sz="2400" dirty="0">
                <a:solidFill>
                  <a:srgbClr val="FF0000"/>
                </a:solidFill>
              </a:rPr>
              <a:t>blocking call</a:t>
            </a:r>
            <a:r>
              <a:rPr lang="en-US" sz="2400" dirty="0"/>
              <a:t>, suspending the client and sending a packet to the server saying that the connection is no longer needed.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the </a:t>
            </a:r>
            <a:r>
              <a:rPr lang="en-US" sz="2400" dirty="0">
                <a:solidFill>
                  <a:srgbClr val="FF0000"/>
                </a:solidFill>
              </a:rPr>
              <a:t>Server</a:t>
            </a:r>
            <a:r>
              <a:rPr lang="en-US" sz="2400" dirty="0"/>
              <a:t> gets the packet, it also issues a </a:t>
            </a:r>
            <a:r>
              <a:rPr lang="en-US" sz="2400" dirty="0">
                <a:solidFill>
                  <a:srgbClr val="FF0000"/>
                </a:solidFill>
              </a:rPr>
              <a:t>DISCONNECT</a:t>
            </a:r>
            <a:r>
              <a:rPr lang="en-US" sz="2400" dirty="0"/>
              <a:t> of its own, acknowledging the client and releasing the connection.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When the Server's packet gets back to the Client machine, the </a:t>
            </a:r>
            <a:r>
              <a:rPr lang="en-US" sz="2400" dirty="0">
                <a:solidFill>
                  <a:srgbClr val="FF0000"/>
                </a:solidFill>
              </a:rPr>
              <a:t>Client</a:t>
            </a:r>
            <a:r>
              <a:rPr lang="en-US" sz="2400" dirty="0"/>
              <a:t> process is </a:t>
            </a:r>
            <a:r>
              <a:rPr lang="en-US" sz="2400" dirty="0">
                <a:solidFill>
                  <a:srgbClr val="FF0000"/>
                </a:solidFill>
              </a:rPr>
              <a:t>released</a:t>
            </a:r>
            <a:r>
              <a:rPr lang="en-US" sz="2400" dirty="0"/>
              <a:t> and the </a:t>
            </a:r>
            <a:r>
              <a:rPr lang="en-US" sz="2400" dirty="0">
                <a:solidFill>
                  <a:srgbClr val="FF0000"/>
                </a:solidFill>
              </a:rPr>
              <a:t>connection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FF0000"/>
                </a:solidFill>
              </a:rPr>
              <a:t>broken</a:t>
            </a:r>
            <a:r>
              <a:rPr lang="en-US" sz="24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Models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1619250"/>
            <a:ext cx="8023225" cy="1558290"/>
          </a:xfrm>
        </p:spPr>
        <p:txBody>
          <a:bodyPr/>
          <a:lstStyle/>
          <a:p>
            <a:pPr algn="l">
              <a:buFontTx/>
              <a:buChar char="•"/>
            </a:pPr>
            <a:r>
              <a:rPr lang="en-US" sz="3200" dirty="0"/>
              <a:t>The OSI Reference Model</a:t>
            </a:r>
          </a:p>
          <a:p>
            <a:pPr algn="l">
              <a:buFontTx/>
              <a:buChar char="•"/>
            </a:pPr>
            <a:r>
              <a:rPr lang="en-US" sz="3200" dirty="0"/>
              <a:t>The TCP/IP Reference Model</a:t>
            </a:r>
          </a:p>
          <a:p>
            <a:pPr algn="l">
              <a:buFontTx/>
              <a:buChar char="•"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880110"/>
            <a:ext cx="8977313" cy="582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model is called the </a:t>
            </a:r>
            <a:r>
              <a:rPr lang="en-US" sz="2400" dirty="0">
                <a:solidFill>
                  <a:srgbClr val="FF0000"/>
                </a:solidFill>
              </a:rPr>
              <a:t>ISO OSI </a:t>
            </a:r>
            <a:r>
              <a:rPr lang="en-US" sz="2400" dirty="0"/>
              <a:t>(International Organization for Standardization Open Systems Interconnection) Reference Model.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because it deals with </a:t>
            </a:r>
            <a:r>
              <a:rPr lang="en-US" sz="2400" dirty="0">
                <a:solidFill>
                  <a:srgbClr val="FF0000"/>
                </a:solidFill>
              </a:rPr>
              <a:t>connecting open systems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 err="1"/>
              <a:t>ie</a:t>
            </a:r>
            <a:r>
              <a:rPr lang="en-US" sz="2400" dirty="0"/>
              <a:t>, systems that are open for communication with other systems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OSI model has </a:t>
            </a:r>
            <a:r>
              <a:rPr lang="en-US" sz="2400" dirty="0">
                <a:solidFill>
                  <a:srgbClr val="FF0000"/>
                </a:solidFill>
              </a:rPr>
              <a:t>seven layers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/>
              <a:t>Physical layer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/>
              <a:t>Data link layer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/>
              <a:t>Network Layer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/>
              <a:t>Transport Layer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/>
              <a:t>Session Layer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/>
              <a:t>Presentation Layer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/>
              <a:t>Application Layer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154430"/>
            <a:ext cx="8977313" cy="5482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Principles behind the seven layer design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A layer should be created where a different </a:t>
            </a:r>
            <a:r>
              <a:rPr lang="en-US" sz="2400" dirty="0">
                <a:solidFill>
                  <a:srgbClr val="FF0000"/>
                </a:solidFill>
              </a:rPr>
              <a:t>abstraction (concept)</a:t>
            </a:r>
            <a:r>
              <a:rPr lang="en-US" sz="2400" dirty="0"/>
              <a:t> is needed.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Each layer should perform a well-defined </a:t>
            </a:r>
            <a:r>
              <a:rPr lang="en-US" sz="2400" dirty="0">
                <a:solidFill>
                  <a:srgbClr val="FF0000"/>
                </a:solidFill>
              </a:rPr>
              <a:t>function</a:t>
            </a:r>
            <a:r>
              <a:rPr lang="en-US" sz="2400" dirty="0"/>
              <a:t>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function of each layer should be based on  internationally </a:t>
            </a:r>
            <a:r>
              <a:rPr lang="en-US" sz="2400" dirty="0">
                <a:solidFill>
                  <a:srgbClr val="FF0000"/>
                </a:solidFill>
              </a:rPr>
              <a:t>Standardized Protocols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The layer boundaries should be chosen to minimize the information flow across the </a:t>
            </a:r>
            <a:r>
              <a:rPr lang="en-US" sz="2400" dirty="0">
                <a:solidFill>
                  <a:srgbClr val="FF0000"/>
                </a:solidFill>
              </a:rPr>
              <a:t>interfaces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/>
              <a:t>Number of layers should be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large</a:t>
            </a:r>
            <a:r>
              <a:rPr lang="en-US" sz="2400" dirty="0"/>
              <a:t> enough that distinct functions need not be thrown together in the same layer out of necessity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small</a:t>
            </a:r>
            <a:r>
              <a:rPr lang="en-US" sz="2400" dirty="0"/>
              <a:t> enough that the architecture does not become unmanageable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Reference Models</a:t>
            </a:r>
          </a:p>
        </p:txBody>
      </p:sp>
      <p:pic>
        <p:nvPicPr>
          <p:cNvPr id="33796" name="Picture 4" descr="1-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532" y="846932"/>
            <a:ext cx="8750935" cy="5697537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FC8159-C970-4346-8304-C3EDFFC2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739"/>
          </a:xfrm>
        </p:spPr>
        <p:txBody>
          <a:bodyPr/>
          <a:lstStyle/>
          <a:p>
            <a:r>
              <a:rPr lang="en-US" dirty="0"/>
              <a:t>Organization of the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C9A470-069A-4330-A8AC-2620A85F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1A6EC91-7550-4AC4-ACB0-405FE3145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5FB18A9-F4EC-44F8-9752-F98B0857204B}"/>
              </a:ext>
            </a:extLst>
          </p:cNvPr>
          <p:cNvSpPr txBox="1"/>
          <p:nvPr/>
        </p:nvSpPr>
        <p:spPr>
          <a:xfrm>
            <a:off x="417443" y="735495"/>
            <a:ext cx="8448261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300" dirty="0">
                <a:latin typeface="+mn-lt"/>
              </a:rPr>
              <a:t>The seven layers can be thought of as belonging to three subgroups.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+mn-lt"/>
              </a:rPr>
              <a:t> Layers I, 2, and 3-physical, data link, and network-are the </a:t>
            </a:r>
            <a:r>
              <a:rPr lang="en-US" sz="2300" b="1" dirty="0">
                <a:solidFill>
                  <a:srgbClr val="FF0000"/>
                </a:solidFill>
                <a:latin typeface="+mn-lt"/>
              </a:rPr>
              <a:t>network support layers</a:t>
            </a:r>
          </a:p>
          <a:p>
            <a:pPr marL="893763" indent="-268288" algn="just">
              <a:buFont typeface="Wingdings" panose="05000000000000000000" pitchFamily="2" charset="2"/>
              <a:buChar char="Ø"/>
            </a:pPr>
            <a:r>
              <a:rPr lang="en-US" sz="2300" dirty="0">
                <a:latin typeface="+mn-lt"/>
              </a:rPr>
              <a:t>They deal with the </a:t>
            </a:r>
            <a:r>
              <a:rPr lang="en-US" sz="2300" b="1" dirty="0">
                <a:latin typeface="+mn-lt"/>
              </a:rPr>
              <a:t>physical aspects of moving data from one device to another</a:t>
            </a:r>
            <a:r>
              <a:rPr lang="en-US" sz="2300" dirty="0">
                <a:latin typeface="+mn-lt"/>
              </a:rPr>
              <a:t> (such as electrical specifications, physical connections, physical addressing, and transport timing and reliability).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+mn-lt"/>
              </a:rPr>
              <a:t>Layers 5, 6, and 7-session, presentation, and application-can be thought of as the </a:t>
            </a:r>
            <a:r>
              <a:rPr lang="en-US" sz="2300" b="1" dirty="0">
                <a:solidFill>
                  <a:srgbClr val="FF0000"/>
                </a:solidFill>
                <a:latin typeface="+mn-lt"/>
              </a:rPr>
              <a:t>user support layers</a:t>
            </a:r>
          </a:p>
          <a:p>
            <a:pPr marL="893763" indent="-268288" algn="just">
              <a:buFont typeface="Wingdings" panose="05000000000000000000" pitchFamily="2" charset="2"/>
              <a:buChar char="Ø"/>
            </a:pPr>
            <a:r>
              <a:rPr lang="en-US" sz="2300" dirty="0">
                <a:latin typeface="+mn-lt"/>
              </a:rPr>
              <a:t>They allow </a:t>
            </a:r>
            <a:r>
              <a:rPr lang="en-US" sz="2300" b="1" dirty="0">
                <a:latin typeface="+mn-lt"/>
              </a:rPr>
              <a:t>interoperability among unrelated software systems.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+mn-lt"/>
              </a:rPr>
              <a:t>Layer 4, the transport layer, </a:t>
            </a:r>
            <a:r>
              <a:rPr lang="en-US" sz="2300" b="1" dirty="0">
                <a:solidFill>
                  <a:srgbClr val="FF0000"/>
                </a:solidFill>
                <a:latin typeface="+mn-lt"/>
              </a:rPr>
              <a:t>links the two subgroups</a:t>
            </a:r>
            <a:r>
              <a:rPr lang="en-US" sz="2300" dirty="0">
                <a:latin typeface="+mn-lt"/>
              </a:rPr>
              <a:t> and ensures that what the lower layers have transmitted is in a form that the upper layers can use.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+mn-lt"/>
              </a:rPr>
              <a:t>The upper OSI layers are almost always implemented in </a:t>
            </a:r>
            <a:r>
              <a:rPr lang="en-US" sz="2300" b="1" dirty="0">
                <a:latin typeface="+mn-lt"/>
              </a:rPr>
              <a:t>software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+mn-lt"/>
              </a:rPr>
              <a:t>Lower layers are a combination of </a:t>
            </a:r>
            <a:r>
              <a:rPr lang="en-US" sz="2300" b="1" dirty="0">
                <a:latin typeface="+mn-lt"/>
              </a:rPr>
              <a:t>hardware and software</a:t>
            </a:r>
            <a:r>
              <a:rPr lang="en-US" sz="2300" dirty="0">
                <a:latin typeface="+mn-lt"/>
              </a:rPr>
              <a:t>, except for the physical layer, which is mostly </a:t>
            </a:r>
            <a:r>
              <a:rPr lang="en-US" sz="2300" b="1" dirty="0">
                <a:latin typeface="+mn-lt"/>
              </a:rPr>
              <a:t>hardware</a:t>
            </a:r>
            <a:r>
              <a:rPr lang="en-US" sz="2300" dirty="0">
                <a:latin typeface="+mn-lt"/>
              </a:rPr>
              <a:t>.</a:t>
            </a:r>
            <a:endParaRPr lang="en-IN" sz="2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8481483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4BD173-F2EC-43AC-A31A-BD8795E5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8200"/>
            <a:ext cx="9144000" cy="304800"/>
          </a:xfrm>
        </p:spPr>
        <p:txBody>
          <a:bodyPr/>
          <a:lstStyle/>
          <a:p>
            <a:r>
              <a:rPr lang="en-US" altLang="en-US" sz="3200" dirty="0"/>
              <a:t>Figure:   </a:t>
            </a:r>
            <a:r>
              <a:rPr lang="en-US" altLang="en-US" sz="3200" i="1" dirty="0"/>
              <a:t>An exchange using the OSI model</a:t>
            </a:r>
            <a:r>
              <a:rPr lang="en-US" altLang="en-US" sz="4400" i="1" dirty="0"/>
              <a:t/>
            </a:r>
            <a:br>
              <a:rPr lang="en-US" altLang="en-US" sz="4400" i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C5C616-8A86-49E2-ADA8-1060B09D3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01FA817-A6D8-47FF-A37A-C9DF617940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78</a:t>
            </a:fld>
            <a:endParaRPr 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xmlns="" id="{E98F211F-D111-4F84-A530-2F5236B66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200150"/>
            <a:ext cx="7523162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060320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765810"/>
            <a:ext cx="8977313" cy="595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i="1" dirty="0"/>
              <a:t>Physical Layer</a:t>
            </a:r>
          </a:p>
          <a:p>
            <a:pPr marL="1073150" indent="-625475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000" dirty="0">
                <a:latin typeface="+mn-lt"/>
              </a:rPr>
              <a:t>The physical layer has as a main function to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transmit bits over a communication channel</a:t>
            </a:r>
            <a:r>
              <a:rPr lang="en-US" sz="2000" dirty="0">
                <a:latin typeface="+mn-lt"/>
              </a:rPr>
              <a:t> as well as to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establish and terminate a connection to a communications medium. </a:t>
            </a:r>
            <a:endParaRPr lang="en-US" sz="2000" i="1" dirty="0">
              <a:solidFill>
                <a:srgbClr val="FF0000"/>
              </a:solidFill>
              <a:latin typeface="+mn-lt"/>
            </a:endParaRP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000" dirty="0">
                <a:latin typeface="+mn-lt"/>
              </a:rPr>
              <a:t>concerned with transmitting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raw bits </a:t>
            </a:r>
            <a:r>
              <a:rPr lang="en-US" sz="2000" dirty="0">
                <a:latin typeface="+mn-lt"/>
              </a:rPr>
              <a:t>over a communication channel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+mn-lt"/>
              </a:rPr>
              <a:t>Design issues </a:t>
            </a:r>
            <a:r>
              <a:rPr lang="en-US" sz="2000" dirty="0">
                <a:latin typeface="+mn-lt"/>
              </a:rPr>
              <a:t>are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when one side sends a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1 bit</a:t>
            </a:r>
            <a:r>
              <a:rPr lang="en-US" sz="2000" dirty="0">
                <a:latin typeface="+mn-lt"/>
              </a:rPr>
              <a:t>, it is received by the other side as a 1 bit, not as a 0 bit.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how many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volts</a:t>
            </a:r>
            <a:r>
              <a:rPr lang="en-US" sz="2000" dirty="0">
                <a:latin typeface="+mn-lt"/>
              </a:rPr>
              <a:t> should be used to represent a 1 and how many for a 0,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how many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nanoseconds</a:t>
            </a:r>
            <a:r>
              <a:rPr lang="en-US" sz="2000" dirty="0">
                <a:latin typeface="+mn-lt"/>
              </a:rPr>
              <a:t> a bit lasts,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whether transmission may proceed simultaneously in both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directions</a:t>
            </a:r>
            <a:r>
              <a:rPr lang="en-US" sz="2000" dirty="0">
                <a:latin typeface="+mn-lt"/>
              </a:rPr>
              <a:t>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how the initial connection is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established</a:t>
            </a:r>
            <a:r>
              <a:rPr lang="en-US" sz="2000" dirty="0">
                <a:latin typeface="+mn-lt"/>
              </a:rPr>
              <a:t> and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how it is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torn down </a:t>
            </a:r>
            <a:r>
              <a:rPr lang="en-US" sz="2000" dirty="0">
                <a:latin typeface="+mn-lt"/>
              </a:rPr>
              <a:t>when both sides are finished, 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how many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pins</a:t>
            </a:r>
            <a:r>
              <a:rPr lang="en-US" sz="2000" dirty="0">
                <a:latin typeface="+mn-lt"/>
              </a:rPr>
              <a:t> the network connector has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what each pin is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used for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79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212B39-5468-4608-98D0-4D316BD2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48DCD5-24D3-42BF-BC64-D1B2E462E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36C3E8A-02A9-4503-AB96-35EFCE93A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xmlns="" id="{77084D74-4F4E-4635-B85F-EBDB3D963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xmlns="" id="{22A6EF10-0052-4D1B-A205-3864752FC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693F19E5-14E5-42AD-8B35-7591C6032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395" y="381000"/>
            <a:ext cx="28969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folHlink"/>
                </a:solidFill>
              </a:rPr>
              <a:t>Figure : </a:t>
            </a:r>
            <a:r>
              <a:rPr lang="en-US" altLang="en-US" sz="2000" i="1" dirty="0"/>
              <a:t>Physical layer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xmlns="" id="{EE386955-1A8E-4ECA-9FD8-12CBF3038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172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xmlns="" id="{805208B0-ED10-433F-B0E4-5E189AAA8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49500"/>
            <a:ext cx="862965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746370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662940"/>
            <a:ext cx="8977313" cy="619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Physical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Design issues deal with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Mechanical, electrical, &amp; timing interfaces, and physical transmission medium, which lies below the physical layer</a:t>
            </a:r>
            <a:r>
              <a:rPr lang="en-US" sz="2400" dirty="0">
                <a:latin typeface="+mn-lt"/>
              </a:rPr>
              <a:t>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>
              <a:latin typeface="+mn-lt"/>
            </a:endParaRP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800" b="1" i="1" dirty="0">
              <a:latin typeface="+mn-lt"/>
            </a:endParaRP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Data link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Main task: </a:t>
            </a:r>
            <a:r>
              <a:rPr lang="en-US" sz="2200" b="1" dirty="0">
                <a:solidFill>
                  <a:srgbClr val="FF0000"/>
                </a:solidFill>
                <a:latin typeface="+mn-lt"/>
              </a:rPr>
              <a:t>Error Control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The data link layer transforms the physical layer, a </a:t>
            </a:r>
            <a:r>
              <a:rPr lang="en-US" sz="2200" b="1" dirty="0">
                <a:latin typeface="+mn-lt"/>
              </a:rPr>
              <a:t>raw transmission facility</a:t>
            </a:r>
            <a:r>
              <a:rPr lang="en-US" sz="2200" dirty="0">
                <a:latin typeface="+mn-lt"/>
              </a:rPr>
              <a:t>, to a reliable link.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It makes the physical layer appear error-free to the upper layer (network layer).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If the service is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reliable</a:t>
            </a:r>
            <a:r>
              <a:rPr lang="en-US" sz="2200" dirty="0">
                <a:latin typeface="+mn-lt"/>
              </a:rPr>
              <a:t>, the receiver confirms correct receipt of each frame by sending back an acknowledgement frame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7FA59E10-4BED-4871-9C25-6F2B6E5F7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427770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/>
              <a:t>The physical layer is responsible for movements of</a:t>
            </a:r>
          </a:p>
          <a:p>
            <a:pPr algn="ctr"/>
            <a:r>
              <a:rPr lang="en-US" altLang="en-US" sz="2400"/>
              <a:t>individual bits from one hop (node) to the next.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4F6B73-DA07-446A-98AF-116829A9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0FD176-94CE-4410-B721-90F10AD1F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8530A39-07CB-40DD-90F1-516D1D285B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96BAAB1-B460-42EF-9E8E-B900C19EEBD5}"/>
              </a:ext>
            </a:extLst>
          </p:cNvPr>
          <p:cNvSpPr txBox="1"/>
          <p:nvPr/>
        </p:nvSpPr>
        <p:spPr>
          <a:xfrm>
            <a:off x="188844" y="2904678"/>
            <a:ext cx="895515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Framing-</a:t>
            </a:r>
            <a:r>
              <a:rPr lang="en-US" sz="2200" dirty="0">
                <a:latin typeface="+mn-lt"/>
              </a:rPr>
              <a:t>The data link layer divides the stream of bits received from the network layer into manageable data units called </a:t>
            </a:r>
            <a:r>
              <a:rPr lang="en-US" sz="2200" b="1" dirty="0">
                <a:latin typeface="+mn-lt"/>
              </a:rPr>
              <a:t>frames</a:t>
            </a:r>
            <a:r>
              <a:rPr lang="en-US" sz="2200" dirty="0">
                <a:latin typeface="+mn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Physical addressing- </a:t>
            </a:r>
            <a:r>
              <a:rPr lang="en-US" sz="2200" dirty="0">
                <a:latin typeface="+mn-lt"/>
              </a:rPr>
              <a:t>If frames are to be distributed to different systems on the network, the data link layer adds a header to the frame to define the </a:t>
            </a:r>
            <a:r>
              <a:rPr lang="en-US" sz="2200" b="1" dirty="0">
                <a:latin typeface="+mn-lt"/>
              </a:rPr>
              <a:t>sender and/or receiver of the frame</a:t>
            </a:r>
            <a:r>
              <a:rPr lang="en-US" sz="2200" dirty="0">
                <a:latin typeface="+mn-lt"/>
              </a:rPr>
              <a:t>. If the frame is intended for a system outside the sender's network, the receiver address is the address of the device that connects the network to the next one.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 Flow control- </a:t>
            </a:r>
            <a:r>
              <a:rPr lang="en-US" sz="2200" dirty="0">
                <a:latin typeface="+mn-lt"/>
              </a:rPr>
              <a:t>If the rate at which the data are absorbed by the receiver is less than the rate at which data are produced in the sender, the data link layer imposes a flow control mechanism to avoid overwhelming the receiver</a:t>
            </a:r>
            <a:r>
              <a:rPr lang="en-US" sz="2100" dirty="0">
                <a:latin typeface="+mn-lt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A726743-4339-48EB-9D6C-8FA05DDB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44" y="109090"/>
            <a:ext cx="8418512" cy="279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9386669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262270"/>
            <a:ext cx="8977313" cy="5595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68288" indent="-268288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Error control-</a:t>
            </a:r>
            <a:r>
              <a:rPr lang="en-US" sz="2200" dirty="0">
                <a:latin typeface="+mn-lt"/>
              </a:rPr>
              <a:t>The data link layer adds reliability to the physical layer by adding mechanisms to </a:t>
            </a:r>
            <a:r>
              <a:rPr lang="en-US" sz="2200" b="1" dirty="0">
                <a:latin typeface="+mn-lt"/>
              </a:rPr>
              <a:t>detect and retransmit damaged or lost frames</a:t>
            </a:r>
            <a:r>
              <a:rPr lang="en-US" sz="2200" dirty="0">
                <a:latin typeface="+mn-lt"/>
              </a:rPr>
              <a:t>. It also uses a mechanism to </a:t>
            </a:r>
            <a:r>
              <a:rPr lang="en-US" sz="2200" b="1" dirty="0">
                <a:latin typeface="+mn-lt"/>
              </a:rPr>
              <a:t>recognize duplicate frames</a:t>
            </a:r>
            <a:r>
              <a:rPr lang="en-US" sz="2200" dirty="0">
                <a:latin typeface="+mn-lt"/>
              </a:rPr>
              <a:t>. Error control is normally achieved through </a:t>
            </a:r>
            <a:r>
              <a:rPr lang="en-US" sz="2200" b="1" dirty="0">
                <a:latin typeface="+mn-lt"/>
              </a:rPr>
              <a:t>a trailer </a:t>
            </a:r>
            <a:r>
              <a:rPr lang="en-US" sz="2200" dirty="0">
                <a:latin typeface="+mn-lt"/>
              </a:rPr>
              <a:t>added to the end of the frame. </a:t>
            </a:r>
          </a:p>
          <a:p>
            <a:pPr marL="268288" indent="-268288" algn="just">
              <a:spcBef>
                <a:spcPct val="20000"/>
              </a:spcBef>
              <a:buClr>
                <a:schemeClr val="accent2"/>
              </a:buClr>
            </a:pPr>
            <a:r>
              <a:rPr lang="en-US" sz="2200" dirty="0">
                <a:latin typeface="+mn-lt"/>
              </a:rPr>
              <a:t>	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Access control</a:t>
            </a:r>
            <a:r>
              <a:rPr lang="en-US" sz="2200" dirty="0">
                <a:latin typeface="+mn-lt"/>
              </a:rPr>
              <a:t>. When two or more devices are connected to the same link, data link layer protocols are necessary to determine </a:t>
            </a:r>
            <a:r>
              <a:rPr lang="en-US" sz="2200" b="1" dirty="0">
                <a:latin typeface="+mn-lt"/>
              </a:rPr>
              <a:t>which device has control over the link </a:t>
            </a:r>
            <a:r>
              <a:rPr lang="en-US" sz="2200" dirty="0">
                <a:latin typeface="+mn-lt"/>
              </a:rPr>
              <a:t>at any given time.</a:t>
            </a:r>
            <a:endParaRPr lang="en-IN" sz="2200" dirty="0">
              <a:latin typeface="+mn-lt"/>
            </a:endParaRP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Data link layer is subdivided into 2 for this purpose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Logical Link Control (LLC) sub layer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Medium Access Control (MAC) sub layer	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MAC handles the broadcast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2CCDA6B6-F361-432E-8E14-F27995287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579713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dirty="0"/>
              <a:t>The data link layer is responsible for moving </a:t>
            </a:r>
            <a:br>
              <a:rPr lang="en-US" altLang="en-US" sz="2400" dirty="0"/>
            </a:br>
            <a:r>
              <a:rPr lang="en-US" altLang="en-US" sz="2400" dirty="0"/>
              <a:t>frames from one hop (node) to the next.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765810"/>
            <a:ext cx="8977313" cy="572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Network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The network layer is responsible for 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source-to-destination delivery of a packet</a:t>
            </a:r>
            <a:r>
              <a:rPr lang="en-US" sz="2200" dirty="0">
                <a:latin typeface="+mn-lt"/>
              </a:rPr>
              <a:t>, possibly across multiple networks (links).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200" dirty="0">
                <a:latin typeface="+mn-lt"/>
              </a:rPr>
              <a:t>Controls the operation of 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subnet.</a:t>
            </a:r>
            <a:r>
              <a:rPr lang="en-US" sz="22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Design issues </a:t>
            </a:r>
            <a:r>
              <a:rPr lang="en-US" sz="2400" dirty="0">
                <a:latin typeface="+mn-lt"/>
              </a:rPr>
              <a:t>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>
                <a:latin typeface="+mn-lt"/>
              </a:rPr>
              <a:t>Determining how packets are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routed</a:t>
            </a:r>
            <a:r>
              <a:rPr lang="en-US" sz="2400" dirty="0">
                <a:latin typeface="+mn-lt"/>
              </a:rPr>
              <a:t> from source to destination 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Routes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can be based on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static tables </a:t>
            </a:r>
            <a:r>
              <a:rPr lang="en-US" sz="2400" dirty="0">
                <a:latin typeface="+mn-lt"/>
              </a:rPr>
              <a:t>that are fixed into the network and are rarely changed 	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can be highly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dynamic</a:t>
            </a:r>
            <a:r>
              <a:rPr lang="en-US" sz="2400" dirty="0">
                <a:latin typeface="+mn-lt"/>
              </a:rPr>
              <a:t>, being determined anew for each packet, to reflect the current network load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can also be determined at the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start</a:t>
            </a:r>
            <a:r>
              <a:rPr lang="en-US" sz="2400" dirty="0">
                <a:latin typeface="+mn-lt"/>
              </a:rPr>
              <a:t> of each conversation (e.g., a login to a remote machine)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89451"/>
            <a:ext cx="9144000" cy="795130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490696"/>
            <a:ext cx="8977313" cy="5313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Network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+mj-lt"/>
              <a:buAutoNum type="arabicPeriod" startAt="2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Congestion control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If too many packets are present in the subnet at the same time, they will get in one another's way creating congestion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</a:pPr>
            <a:r>
              <a:rPr lang="en-US" sz="2400" dirty="0">
                <a:solidFill>
                  <a:schemeClr val="accent2"/>
                </a:solidFill>
                <a:latin typeface="+mn-lt"/>
              </a:rPr>
              <a:t>3.      </a:t>
            </a:r>
            <a:r>
              <a:rPr lang="en-US" sz="2400" dirty="0">
                <a:latin typeface="+mn-lt"/>
              </a:rPr>
              <a:t>Providing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QOS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transit time, delay, jitter, error rate, bandwidth, availability, throughput, etc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Interconnect heterogeneous networks</a:t>
            </a:r>
          </a:p>
          <a:p>
            <a:pPr marL="1257300" lvl="2" indent="-342900" algn="just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addressing used by the second network may be different from that used by the first one. </a:t>
            </a:r>
          </a:p>
          <a:p>
            <a:pPr marL="1257300" lvl="2" indent="-342900" algn="just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one may not accept the packet at all because it is too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large.The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protocols may differ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65FCD605-3069-41FE-AB4C-C95132079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461" y="5575853"/>
            <a:ext cx="8040756" cy="1212889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The network layer is responsible for the </a:t>
            </a:r>
            <a:br>
              <a:rPr lang="en-US" altLang="en-US" sz="2400" dirty="0"/>
            </a:br>
            <a:r>
              <a:rPr lang="en-US" altLang="en-US" sz="2400" dirty="0"/>
              <a:t>delivery of individual packets from </a:t>
            </a:r>
          </a:p>
          <a:p>
            <a:pPr algn="ctr"/>
            <a:r>
              <a:rPr lang="en-US" altLang="en-US" sz="2400" dirty="0"/>
              <a:t>the source host to the destination host.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xmlns="" id="{FE454B5C-D98C-4889-B0E8-47FAE4B13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2.</a:t>
            </a:r>
            <a:fld id="{A7244031-A32B-4135-99A1-5AFF7E7783E0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643074" name="Line 2">
            <a:extLst>
              <a:ext uri="{FF2B5EF4-FFF2-40B4-BE49-F238E27FC236}">
                <a16:creationId xmlns:a16="http://schemas.microsoft.com/office/drawing/2014/main" xmlns="" id="{E85763E7-D69D-4215-977F-E67A8F0F8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3075" name="Line 3">
            <a:extLst>
              <a:ext uri="{FF2B5EF4-FFF2-40B4-BE49-F238E27FC236}">
                <a16:creationId xmlns:a16="http://schemas.microsoft.com/office/drawing/2014/main" xmlns="" id="{ABFA9F4C-8CDE-4F53-9CE7-A7A4D1B33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3076" name="Text Box 4">
            <a:extLst>
              <a:ext uri="{FF2B5EF4-FFF2-40B4-BE49-F238E27FC236}">
                <a16:creationId xmlns:a16="http://schemas.microsoft.com/office/drawing/2014/main" xmlns="" id="{7C55E88E-9304-4EF8-93BF-69561D800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71" y="381000"/>
            <a:ext cx="47916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folHlink"/>
                </a:solidFill>
              </a:rPr>
              <a:t>Figure :- </a:t>
            </a:r>
            <a:r>
              <a:rPr lang="en-US" altLang="en-US" sz="2000" i="1" dirty="0"/>
              <a:t>Source-to-destination delivery</a:t>
            </a:r>
          </a:p>
        </p:txBody>
      </p:sp>
      <p:sp>
        <p:nvSpPr>
          <p:cNvPr id="643077" name="Line 5">
            <a:extLst>
              <a:ext uri="{FF2B5EF4-FFF2-40B4-BE49-F238E27FC236}">
                <a16:creationId xmlns:a16="http://schemas.microsoft.com/office/drawing/2014/main" xmlns="" id="{ED504A54-3234-451E-A136-F0D8D31F6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643078" name="Picture 6">
            <a:extLst>
              <a:ext uri="{FF2B5EF4-FFF2-40B4-BE49-F238E27FC236}">
                <a16:creationId xmlns:a16="http://schemas.microsoft.com/office/drawing/2014/main" xmlns="" id="{19556E56-2F34-465C-BAD2-0D6ABCFB5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1195388"/>
            <a:ext cx="5083175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98174" y="884903"/>
            <a:ext cx="8744225" cy="5767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Transport Layer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The transport layer is responsible for </a:t>
            </a:r>
            <a:r>
              <a:rPr lang="en-US" sz="2400" b="1" dirty="0">
                <a:latin typeface="+mn-lt"/>
              </a:rPr>
              <a:t>process-to-process delivery </a:t>
            </a:r>
            <a:r>
              <a:rPr lang="en-US" sz="2400" dirty="0">
                <a:latin typeface="+mn-lt"/>
              </a:rPr>
              <a:t>of the entire message</a:t>
            </a:r>
            <a:r>
              <a:rPr lang="en-US" sz="2800" dirty="0"/>
              <a:t>.</a:t>
            </a:r>
            <a:endParaRPr lang="en-US" sz="2800" b="1" i="1" dirty="0">
              <a:latin typeface="+mn-lt"/>
            </a:endParaRP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Basic function 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accept</a:t>
            </a:r>
            <a:r>
              <a:rPr lang="en-US" sz="2400" dirty="0">
                <a:latin typeface="+mn-lt"/>
              </a:rPr>
              <a:t> data from above,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split</a:t>
            </a:r>
            <a:r>
              <a:rPr lang="en-US" sz="2400" dirty="0">
                <a:latin typeface="+mn-lt"/>
              </a:rPr>
              <a:t> it up into smaller units if needed,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pass</a:t>
            </a:r>
            <a:r>
              <a:rPr lang="en-US" sz="2400" dirty="0">
                <a:latin typeface="+mn-lt"/>
              </a:rPr>
              <a:t> these to the network layer, and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ensure that all the pieces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arrive correctly </a:t>
            </a:r>
            <a:r>
              <a:rPr lang="en-US" sz="2400" dirty="0">
                <a:latin typeface="+mn-lt"/>
              </a:rPr>
              <a:t>at the other end.</a:t>
            </a:r>
          </a:p>
          <a:p>
            <a:pPr lvl="2" algn="just">
              <a:spcBef>
                <a:spcPct val="20000"/>
              </a:spcBef>
              <a:buClr>
                <a:schemeClr val="accent2"/>
              </a:buClr>
            </a:pPr>
            <a:endParaRPr lang="en-US" sz="2400" dirty="0">
              <a:latin typeface="+mn-lt"/>
            </a:endParaRPr>
          </a:p>
          <a:p>
            <a:pPr marL="447675" lvl="2" indent="-447675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All this must be done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efficiently</a:t>
            </a:r>
            <a:r>
              <a:rPr lang="en-US" sz="2400" dirty="0">
                <a:latin typeface="+mn-lt"/>
              </a:rPr>
              <a:t> in a way that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isolates</a:t>
            </a:r>
            <a:r>
              <a:rPr lang="en-US" sz="2400" dirty="0">
                <a:latin typeface="+mn-lt"/>
              </a:rPr>
              <a:t> the upper layers from the inevitable changes in the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hardware technology</a:t>
            </a:r>
            <a:r>
              <a:rPr lang="en-US" sz="2400" dirty="0">
                <a:latin typeface="+mn-lt"/>
              </a:rPr>
              <a:t> 	</a:t>
            </a:r>
          </a:p>
          <a:p>
            <a:pPr marL="447675" lvl="2" indent="-447675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determines what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type of service </a:t>
            </a:r>
            <a:r>
              <a:rPr lang="en-US" sz="2400" dirty="0">
                <a:latin typeface="+mn-lt"/>
              </a:rPr>
              <a:t>to provide to the session layer, and, ultimately, to the users of the network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143000"/>
            <a:ext cx="8977313" cy="4949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Transport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most popular type of transport connection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error-free point-to-point channel </a:t>
            </a:r>
            <a:r>
              <a:rPr lang="en-US" sz="2400" dirty="0">
                <a:latin typeface="+mn-lt"/>
              </a:rPr>
              <a:t>that delivers messages or bytes in the order in which they were sent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other possible kinds of transport service 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transporting of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isolated messages</a:t>
            </a:r>
            <a:r>
              <a:rPr lang="en-US" sz="2400" dirty="0">
                <a:latin typeface="+mn-lt"/>
              </a:rPr>
              <a:t>, with no guarantee about the order of delivery,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broadcasting</a:t>
            </a:r>
            <a:r>
              <a:rPr lang="en-US" sz="2400" dirty="0">
                <a:latin typeface="+mn-lt"/>
              </a:rPr>
              <a:t> of messages to multiple destinations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Type of service is determined when the connection is established 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143000"/>
            <a:ext cx="8977313" cy="4949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i="1" dirty="0"/>
              <a:t>Transport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transport layer is a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true end-to-end layer</a:t>
            </a:r>
            <a:r>
              <a:rPr lang="en-US" sz="2400" dirty="0">
                <a:latin typeface="+mn-lt"/>
              </a:rPr>
              <a:t>, all the way from the source to the destination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 err="1">
                <a:latin typeface="+mn-lt"/>
              </a:rPr>
              <a:t>ie</a:t>
            </a:r>
            <a:r>
              <a:rPr lang="en-US" sz="2400" dirty="0">
                <a:latin typeface="+mn-lt"/>
              </a:rPr>
              <a:t>, a program on the source machine carries on a conversation with a similar program on the destination  machine, using the message headers and control messages.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In the lower layers, the protocols are between each machine and its immediate neighbors (routers), and not between the ultimate source and destination machines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ACEAAD97-5930-4F4C-88CB-2601193E7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5618229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dirty="0"/>
              <a:t>The transport layer is responsible for the delivery </a:t>
            </a:r>
            <a:br>
              <a:rPr lang="en-US" altLang="en-US" sz="2400" dirty="0"/>
            </a:br>
            <a:r>
              <a:rPr lang="en-US" altLang="en-US" sz="2400" dirty="0"/>
              <a:t>of a message from one process to another.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xmlns="" id="{3A31F8DB-D255-4831-BBA1-AF95380C3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2.</a:t>
            </a:r>
            <a:fld id="{DB1DBB0B-21EC-4462-B782-B0EFD7C39C29}" type="slidenum">
              <a:rPr lang="en-US" altLang="en-US"/>
              <a:pPr/>
              <a:t>90</a:t>
            </a:fld>
            <a:endParaRPr lang="en-US" altLang="en-US"/>
          </a:p>
        </p:txBody>
      </p:sp>
      <p:sp>
        <p:nvSpPr>
          <p:cNvPr id="645122" name="Line 2">
            <a:extLst>
              <a:ext uri="{FF2B5EF4-FFF2-40B4-BE49-F238E27FC236}">
                <a16:creationId xmlns:a16="http://schemas.microsoft.com/office/drawing/2014/main" xmlns="" id="{B54CB460-FA83-49F9-8A51-F88E243B05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5123" name="Line 3">
            <a:extLst>
              <a:ext uri="{FF2B5EF4-FFF2-40B4-BE49-F238E27FC236}">
                <a16:creationId xmlns:a16="http://schemas.microsoft.com/office/drawing/2014/main" xmlns="" id="{FC677D40-A7DA-457E-A6BD-6D397DA46D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5124" name="Text Box 4">
            <a:extLst>
              <a:ext uri="{FF2B5EF4-FFF2-40B4-BE49-F238E27FC236}">
                <a16:creationId xmlns:a16="http://schemas.microsoft.com/office/drawing/2014/main" xmlns="" id="{77B5CA17-9A1E-46ED-962A-F53D85839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43" y="304800"/>
            <a:ext cx="72426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folHlink"/>
                </a:solidFill>
              </a:rPr>
              <a:t>Figure :-  </a:t>
            </a:r>
            <a:r>
              <a:rPr lang="en-US" altLang="en-US" sz="2000" i="1" dirty="0"/>
              <a:t>Reliable process-to-process delivery of a message</a:t>
            </a:r>
          </a:p>
        </p:txBody>
      </p:sp>
      <p:sp>
        <p:nvSpPr>
          <p:cNvPr id="645125" name="Line 5">
            <a:extLst>
              <a:ext uri="{FF2B5EF4-FFF2-40B4-BE49-F238E27FC236}">
                <a16:creationId xmlns:a16="http://schemas.microsoft.com/office/drawing/2014/main" xmlns="" id="{7BC22242-F804-494D-A0EB-00B9A94B6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645126" name="Picture 6">
            <a:extLst>
              <a:ext uri="{FF2B5EF4-FFF2-40B4-BE49-F238E27FC236}">
                <a16:creationId xmlns:a16="http://schemas.microsoft.com/office/drawing/2014/main" xmlns="" id="{2D302B2F-3F4D-44E2-828A-AC9EAB891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025650"/>
            <a:ext cx="7623175" cy="313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496956"/>
            <a:ext cx="8977313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Session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allows users on different machines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establish sessions </a:t>
            </a:r>
            <a:r>
              <a:rPr lang="en-US" sz="2400" dirty="0">
                <a:latin typeface="+mn-lt"/>
              </a:rPr>
              <a:t>between them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Sessions offer various services, including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Dialog control</a:t>
            </a:r>
            <a:r>
              <a:rPr lang="en-US" sz="2400" dirty="0">
                <a:latin typeface="+mn-lt"/>
              </a:rPr>
              <a:t>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keeping track of whose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turn</a:t>
            </a:r>
            <a:r>
              <a:rPr lang="en-US" sz="2400" dirty="0">
                <a:latin typeface="+mn-lt"/>
              </a:rPr>
              <a:t> it is to transmit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Token management</a:t>
            </a:r>
            <a:r>
              <a:rPr lang="en-US" sz="2400" dirty="0">
                <a:latin typeface="+mn-lt"/>
              </a:rPr>
              <a:t>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preventing two parties from attempting the same critical operation at the same time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Synchronization</a:t>
            </a:r>
            <a:r>
              <a:rPr lang="en-US" sz="2400" dirty="0">
                <a:latin typeface="+mn-lt"/>
              </a:rPr>
              <a:t>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check pointing long transmissions to allow them to continue from where they were after a crash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A55AE61C-B8E2-4757-81A1-D45594DA0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5667923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dirty="0"/>
              <a:t>The session layer is responsible for dialog </a:t>
            </a:r>
            <a:br>
              <a:rPr lang="en-US" altLang="en-US" sz="2400" dirty="0"/>
            </a:br>
            <a:r>
              <a:rPr lang="en-US" altLang="en-US" sz="2400" dirty="0"/>
              <a:t>control and synchronization.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1143000"/>
            <a:ext cx="872110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Presentation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300" dirty="0">
                <a:latin typeface="+mn-lt"/>
              </a:rPr>
              <a:t>Concerned with the </a:t>
            </a:r>
            <a:r>
              <a:rPr lang="en-US" sz="2300" i="1" dirty="0">
                <a:solidFill>
                  <a:srgbClr val="FF0000"/>
                </a:solidFill>
                <a:latin typeface="+mn-lt"/>
              </a:rPr>
              <a:t>syntax</a:t>
            </a:r>
            <a:r>
              <a:rPr lang="en-US" sz="2300" dirty="0">
                <a:latin typeface="+mn-lt"/>
              </a:rPr>
              <a:t> and </a:t>
            </a:r>
            <a:r>
              <a:rPr lang="en-US" sz="2300" i="1" dirty="0">
                <a:solidFill>
                  <a:srgbClr val="FF0000"/>
                </a:solidFill>
                <a:latin typeface="+mn-lt"/>
              </a:rPr>
              <a:t>semantics</a:t>
            </a:r>
            <a:r>
              <a:rPr lang="en-US" sz="2300" dirty="0">
                <a:latin typeface="+mn-lt"/>
              </a:rPr>
              <a:t> of the information transmitted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300" b="1" dirty="0">
                <a:solidFill>
                  <a:srgbClr val="FF0000"/>
                </a:solidFill>
                <a:latin typeface="+mn-lt"/>
              </a:rPr>
              <a:t>Translation</a:t>
            </a:r>
            <a:r>
              <a:rPr lang="en-US" sz="2300" dirty="0">
                <a:latin typeface="+mn-lt"/>
              </a:rPr>
              <a:t>- The presentation layer at the sender changes the information from its </a:t>
            </a:r>
            <a:r>
              <a:rPr lang="en-US" sz="2300" b="1" dirty="0">
                <a:latin typeface="+mn-lt"/>
              </a:rPr>
              <a:t>sender-dependent format into a common format.</a:t>
            </a:r>
            <a:r>
              <a:rPr lang="en-US" sz="2300" dirty="0">
                <a:latin typeface="+mn-lt"/>
              </a:rPr>
              <a:t> The presentation layer at the receiving machine changes the </a:t>
            </a:r>
            <a:r>
              <a:rPr lang="en-US" sz="2300" b="1" dirty="0">
                <a:latin typeface="+mn-lt"/>
              </a:rPr>
              <a:t>common format into its receiver-dependent format</a:t>
            </a:r>
            <a:r>
              <a:rPr lang="en-US" sz="2300" dirty="0">
                <a:latin typeface="+mn-lt"/>
              </a:rPr>
              <a:t>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300" b="1" dirty="0">
                <a:solidFill>
                  <a:srgbClr val="FF0000"/>
                </a:solidFill>
                <a:latin typeface="+mn-lt"/>
              </a:rPr>
              <a:t>Encryption</a:t>
            </a:r>
            <a:r>
              <a:rPr lang="en-US" sz="2300" dirty="0">
                <a:latin typeface="+mn-lt"/>
              </a:rPr>
              <a:t>- To carry sensitive information, a system must be able to ensure privacy. </a:t>
            </a:r>
            <a:r>
              <a:rPr lang="en-US" sz="2300" b="1" dirty="0">
                <a:latin typeface="+mn-lt"/>
              </a:rPr>
              <a:t>Encryption</a:t>
            </a:r>
            <a:r>
              <a:rPr lang="en-US" sz="2300" dirty="0">
                <a:latin typeface="+mn-lt"/>
              </a:rPr>
              <a:t> means that the sender transforms the original information to another form and sends the resulting message out over the network. </a:t>
            </a:r>
            <a:r>
              <a:rPr lang="en-US" sz="2300" b="1" dirty="0">
                <a:latin typeface="+mn-lt"/>
              </a:rPr>
              <a:t>Decryption</a:t>
            </a:r>
            <a:r>
              <a:rPr lang="en-US" sz="2300" dirty="0">
                <a:latin typeface="+mn-lt"/>
              </a:rPr>
              <a:t> reverses the original process to transform the message back to its original form.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162669-F246-4AAC-90B3-CAEA2A4E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BB1E8B-CFA6-435D-BD53-2550B82DC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3DAEBA5-C6DB-46DA-9AF6-F0C8E99C24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168FC36-42B9-4F36-98E0-B5A97DF44F4E}"/>
              </a:ext>
            </a:extLst>
          </p:cNvPr>
          <p:cNvSpPr txBox="1"/>
          <p:nvPr/>
        </p:nvSpPr>
        <p:spPr>
          <a:xfrm>
            <a:off x="596348" y="1169649"/>
            <a:ext cx="830911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Compression</a:t>
            </a:r>
            <a:r>
              <a:rPr lang="en-US" sz="2200" dirty="0">
                <a:latin typeface="+mn-lt"/>
              </a:rPr>
              <a:t>-Data compression reduces the number of bits contained in the information. Data compression becomes particularly important in the transmission of multimedia such as text, audio, and video.</a:t>
            </a:r>
          </a:p>
          <a:p>
            <a:pPr algn="just"/>
            <a:endParaRPr lang="en-IN" sz="2200" dirty="0">
              <a:latin typeface="+mn-lt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4BF218A9-1311-4C3A-A9AC-C7406C9CF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dirty="0"/>
              <a:t>The presentation layer is responsible for translation, compression, and encryption.</a:t>
            </a:r>
          </a:p>
        </p:txBody>
      </p:sp>
    </p:spTree>
    <p:extLst>
      <p:ext uri="{BB962C8B-B14F-4D97-AF65-F5344CB8AC3E}">
        <p14:creationId xmlns:p14="http://schemas.microsoft.com/office/powerpoint/2010/main" val="2376237311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OSI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086" y="707923"/>
            <a:ext cx="8977313" cy="6150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b="1" i="1" dirty="0">
                <a:latin typeface="+mn-lt"/>
              </a:rPr>
              <a:t>Application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Contains a variety of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protocols</a:t>
            </a:r>
            <a:r>
              <a:rPr lang="en-US" sz="2400" dirty="0">
                <a:latin typeface="+mn-lt"/>
              </a:rPr>
              <a:t> that are commonly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needed by users </a:t>
            </a:r>
            <a:r>
              <a:rPr lang="en-US" sz="2400" dirty="0">
                <a:latin typeface="+mn-lt"/>
              </a:rPr>
              <a:t>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Widely-used application protocol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HTTP (Hyper Text Transfer Protocol)</a:t>
            </a:r>
            <a:r>
              <a:rPr lang="en-US" sz="2400" dirty="0">
                <a:latin typeface="+mn-lt"/>
              </a:rPr>
              <a:t>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basis for the World Wide Web 	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When a browser wants a Web page, it sends the name of the page it wants to server using HTTP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server then sends the page back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Other application protocols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File transfer (FTP)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Electronic mail (SMTP)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Domain Name System (DNS)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Network News Transfer Protocol (NNTP)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AB0DFC-6DA1-4C0D-ABD5-6277676C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109E3E-7077-40BE-9265-10D72D124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DB2C66-944A-421E-984D-798C1543E7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723D1D3D-24D0-4CBD-AA28-8837D79C6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/>
              <a:t>The application layer is responsible for </a:t>
            </a:r>
            <a:br>
              <a:rPr lang="en-US" altLang="en-US" sz="2400"/>
            </a:br>
            <a:r>
              <a:rPr lang="en-US" altLang="en-US" sz="2400"/>
              <a:t>providing services to the user.</a:t>
            </a:r>
          </a:p>
        </p:txBody>
      </p:sp>
    </p:spTree>
    <p:extLst>
      <p:ext uri="{BB962C8B-B14F-4D97-AF65-F5344CB8AC3E}">
        <p14:creationId xmlns:p14="http://schemas.microsoft.com/office/powerpoint/2010/main" val="2968361472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xmlns="" id="{6F5C6928-B845-4FD1-B9B8-4463F3D20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2.</a:t>
            </a:r>
            <a:fld id="{D357608C-31A8-4AEF-9212-2E37BB81F8E0}" type="slidenum">
              <a:rPr lang="en-US" altLang="en-US"/>
              <a:pPr/>
              <a:t>96</a:t>
            </a:fld>
            <a:endParaRPr lang="en-US" altLang="en-US"/>
          </a:p>
        </p:txBody>
      </p:sp>
      <p:sp>
        <p:nvSpPr>
          <p:cNvPr id="649218" name="Line 2">
            <a:extLst>
              <a:ext uri="{FF2B5EF4-FFF2-40B4-BE49-F238E27FC236}">
                <a16:creationId xmlns:a16="http://schemas.microsoft.com/office/drawing/2014/main" xmlns="" id="{2250C47F-8B77-4F50-8238-F498E6265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9219" name="Line 3">
            <a:extLst>
              <a:ext uri="{FF2B5EF4-FFF2-40B4-BE49-F238E27FC236}">
                <a16:creationId xmlns:a16="http://schemas.microsoft.com/office/drawing/2014/main" xmlns="" id="{A99E1B85-0445-49FD-9EB3-E672D0C11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9220" name="Text Box 4">
            <a:extLst>
              <a:ext uri="{FF2B5EF4-FFF2-40B4-BE49-F238E27FC236}">
                <a16:creationId xmlns:a16="http://schemas.microsoft.com/office/drawing/2014/main" xmlns="" id="{6ADF292B-3C9B-4BBA-8564-55B97B33C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134" y="304800"/>
            <a:ext cx="36359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folHlink"/>
                </a:solidFill>
              </a:rPr>
              <a:t>Figure :-  </a:t>
            </a:r>
            <a:r>
              <a:rPr lang="en-US" altLang="en-US" sz="2000" i="1" dirty="0"/>
              <a:t>Summary of layers</a:t>
            </a:r>
          </a:p>
        </p:txBody>
      </p:sp>
      <p:sp>
        <p:nvSpPr>
          <p:cNvPr id="649221" name="Line 5">
            <a:extLst>
              <a:ext uri="{FF2B5EF4-FFF2-40B4-BE49-F238E27FC236}">
                <a16:creationId xmlns:a16="http://schemas.microsoft.com/office/drawing/2014/main" xmlns="" id="{0A4E1434-039E-41F4-87E2-8CACF4F3A7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649222" name="Picture 6">
            <a:extLst>
              <a:ext uri="{FF2B5EF4-FFF2-40B4-BE49-F238E27FC236}">
                <a16:creationId xmlns:a16="http://schemas.microsoft.com/office/drawing/2014/main" xmlns="" id="{9A3B6343-17EC-459C-94D0-9C57BD6D2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644650"/>
            <a:ext cx="8189912" cy="376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Reference Models </a:t>
            </a:r>
          </a:p>
        </p:txBody>
      </p:sp>
      <p:pic>
        <p:nvPicPr>
          <p:cNvPr id="34820" name="Picture 4" descr="1-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508" y="1042353"/>
            <a:ext cx="8549322" cy="508250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97</a:t>
            </a:fld>
            <a:endParaRPr lang="en-US"/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" y="720090"/>
            <a:ext cx="8977313" cy="6137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Reference model used in the ARPANET (grandparent of all WAN) and its successor, the worldwide Internet 	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ARPANET  (</a:t>
            </a:r>
            <a:r>
              <a:rPr lang="en-US" sz="2400" dirty="0">
                <a:latin typeface="+mn-lt"/>
              </a:rPr>
              <a:t>Advanced Research Projects Agency Network</a:t>
            </a:r>
            <a:r>
              <a:rPr lang="en-US" sz="2400" b="1" i="1" dirty="0">
                <a:latin typeface="+mn-lt"/>
              </a:rPr>
              <a:t>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Research network sponsored by the </a:t>
            </a:r>
            <a:r>
              <a:rPr lang="en-US" sz="2400" dirty="0" err="1">
                <a:latin typeface="+mn-lt"/>
              </a:rPr>
              <a:t>DoD</a:t>
            </a:r>
            <a:r>
              <a:rPr lang="en-US" sz="2400" dirty="0">
                <a:latin typeface="+mn-lt"/>
              </a:rPr>
              <a:t> (U.S. Department of Defense)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Connected hundreds of Universities and Government installations, using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leased telephone lines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When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satellite and radio networks </a:t>
            </a:r>
            <a:r>
              <a:rPr lang="en-US" sz="2400" dirty="0">
                <a:latin typeface="+mn-lt"/>
              </a:rPr>
              <a:t>were added later, the existing protocols had trouble interworking with them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So, a new reference architecture was needed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Thus, the ability to </a:t>
            </a:r>
            <a:r>
              <a:rPr lang="en-US" sz="2400" b="1" dirty="0">
                <a:latin typeface="+mn-lt"/>
              </a:rPr>
              <a:t>connect multiple networks in a seamless way </a:t>
            </a:r>
            <a:r>
              <a:rPr lang="en-US" sz="2400" dirty="0">
                <a:latin typeface="+mn-lt"/>
              </a:rPr>
              <a:t>was one of the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major design goals </a:t>
            </a:r>
            <a:r>
              <a:rPr lang="en-US" sz="2400" dirty="0">
                <a:latin typeface="+mn-lt"/>
              </a:rPr>
              <a:t>from the very beginning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This architecture later became known as the TCP/IP Reference Model, after its two primary protocols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1051560"/>
            <a:ext cx="8977313" cy="566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Another major goal 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network must be able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survive</a:t>
            </a:r>
            <a:r>
              <a:rPr lang="en-US" sz="2400" dirty="0">
                <a:latin typeface="+mn-lt"/>
              </a:rPr>
              <a:t> loss of subnet hardware, with existing conversations not being broken off.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 err="1">
                <a:latin typeface="+mn-lt"/>
              </a:rPr>
              <a:t>ie</a:t>
            </a:r>
            <a:r>
              <a:rPr lang="en-US" sz="2400" dirty="0">
                <a:latin typeface="+mn-lt"/>
              </a:rPr>
              <a:t>, </a:t>
            </a:r>
            <a:r>
              <a:rPr lang="en-US" sz="2400" dirty="0" err="1">
                <a:latin typeface="+mn-lt"/>
              </a:rPr>
              <a:t>DoD</a:t>
            </a:r>
            <a:r>
              <a:rPr lang="en-US" sz="2400" dirty="0">
                <a:latin typeface="+mn-lt"/>
              </a:rPr>
              <a:t> wanted connections to remain intact as long as the source and destination machines were functioning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even if some of the machines or transmission lines in between were suddenly put out of operation.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Also, a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flexible</a:t>
            </a:r>
            <a:r>
              <a:rPr lang="en-US" sz="2400" dirty="0">
                <a:latin typeface="+mn-lt"/>
              </a:rPr>
              <a:t> architecture was needed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since applications with </a:t>
            </a:r>
            <a:r>
              <a:rPr lang="en-US" sz="2400" b="1" dirty="0">
                <a:latin typeface="+mn-lt"/>
              </a:rPr>
              <a:t>divergent requirements</a:t>
            </a:r>
            <a:r>
              <a:rPr lang="en-US" sz="2400" dirty="0">
                <a:latin typeface="+mn-lt"/>
              </a:rPr>
              <a:t> were envisioned, ranging from transferring files to real-time speech transmission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99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1051560"/>
            <a:ext cx="8977313" cy="566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Host-to-Network Layer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host has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connect</a:t>
            </a:r>
            <a:r>
              <a:rPr lang="en-US" sz="2400" dirty="0">
                <a:latin typeface="+mn-lt"/>
              </a:rPr>
              <a:t> to the network using some </a:t>
            </a:r>
            <a:r>
              <a:rPr lang="en-US" sz="2400" b="1" dirty="0">
                <a:latin typeface="+mn-lt"/>
              </a:rPr>
              <a:t>protocol</a:t>
            </a:r>
            <a:r>
              <a:rPr lang="en-US" sz="2400" dirty="0">
                <a:latin typeface="+mn-lt"/>
              </a:rPr>
              <a:t> so that it can send IP packets to it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protocol is not defined and varies from host to host and network to network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TCP/IP reference model does not really say much about what happens here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Internet Layer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All requirements of </a:t>
            </a:r>
            <a:r>
              <a:rPr lang="en-US" sz="2400" dirty="0" err="1">
                <a:latin typeface="+mn-lt"/>
              </a:rPr>
              <a:t>DoD</a:t>
            </a:r>
            <a:r>
              <a:rPr lang="en-US" sz="2400" dirty="0">
                <a:latin typeface="+mn-lt"/>
              </a:rPr>
              <a:t> led to the choice of a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packet-switching</a:t>
            </a:r>
            <a:r>
              <a:rPr lang="en-US" sz="2400" dirty="0">
                <a:latin typeface="+mn-lt"/>
              </a:rPr>
              <a:t> network based on a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connectionless</a:t>
            </a:r>
            <a:r>
              <a:rPr lang="en-US" sz="2400" dirty="0">
                <a:latin typeface="+mn-lt"/>
              </a:rPr>
              <a:t> internetwork layer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This layer is called the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internet</a:t>
            </a:r>
            <a:r>
              <a:rPr lang="en-US" sz="2400" dirty="0">
                <a:latin typeface="+mn-lt"/>
              </a:rPr>
              <a:t> layer, because it is the key player that holds the whole architecture together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0010" y="1143000"/>
            <a:ext cx="8977313" cy="4926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/>
              <a:t>Internet Layer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Job is to permit hosts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inject</a:t>
            </a:r>
            <a:r>
              <a:rPr lang="en-US" sz="2400" dirty="0">
                <a:latin typeface="+mn-lt"/>
              </a:rPr>
              <a:t> packets into any network and have them travel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independently</a:t>
            </a:r>
            <a:r>
              <a:rPr lang="en-US" sz="2400" dirty="0">
                <a:latin typeface="+mn-lt"/>
              </a:rPr>
              <a:t> to the destination on a different network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They may even arrive in a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different order </a:t>
            </a:r>
            <a:r>
              <a:rPr lang="en-US" sz="2400" dirty="0">
                <a:latin typeface="+mn-lt"/>
              </a:rPr>
              <a:t>than they were sent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It is the job of higher layers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rearrange</a:t>
            </a:r>
            <a:r>
              <a:rPr lang="en-US" sz="2400" dirty="0">
                <a:latin typeface="+mn-lt"/>
              </a:rPr>
              <a:t> them, if in-order delivery is desired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0010" y="914400"/>
            <a:ext cx="8977313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/>
              <a:t>Internet Layer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Internet layer defines an official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packet format </a:t>
            </a:r>
            <a:r>
              <a:rPr lang="en-US" sz="2400" dirty="0">
                <a:latin typeface="+mn-lt"/>
              </a:rPr>
              <a:t>and protocol called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IP</a:t>
            </a:r>
            <a:r>
              <a:rPr lang="en-US" sz="2400" dirty="0">
                <a:latin typeface="+mn-lt"/>
              </a:rPr>
              <a:t> (Internet Protocol).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The job of the internet layer is to </a:t>
            </a:r>
            <a:r>
              <a:rPr lang="en-US" sz="2400" b="1" dirty="0">
                <a:latin typeface="+mn-lt"/>
              </a:rPr>
              <a:t>deliver IP packets </a:t>
            </a:r>
            <a:r>
              <a:rPr lang="en-US" sz="2400" dirty="0">
                <a:latin typeface="+mn-lt"/>
              </a:rPr>
              <a:t>where they are supposed to go.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Packet routing </a:t>
            </a:r>
            <a:r>
              <a:rPr lang="en-US" sz="2400" dirty="0">
                <a:latin typeface="+mn-lt"/>
              </a:rPr>
              <a:t>&amp; avoiding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congestion</a:t>
            </a:r>
            <a:r>
              <a:rPr lang="en-US" sz="2400" dirty="0">
                <a:latin typeface="+mn-lt"/>
              </a:rPr>
              <a:t> are the major issue here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For these reasons, it is reasonable to say that the TCP/IP internet layer is similar in functionality to the OSI network layer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0010" y="914400"/>
            <a:ext cx="8977313" cy="5783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Transport Layer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designed to allow peer entities on the source and destination hosts </a:t>
            </a:r>
            <a:r>
              <a:rPr lang="en-US" sz="2400" b="1" dirty="0">
                <a:latin typeface="+mn-lt"/>
              </a:rPr>
              <a:t>to carry on a conversation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Two end-to-end transport protocols 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TCP (Transmission Control Protocol)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UDP (User Datagram Protocol</a:t>
            </a:r>
            <a:r>
              <a:rPr lang="en-US" sz="2400" dirty="0">
                <a:latin typeface="+mn-lt"/>
              </a:rPr>
              <a:t>)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TCP</a:t>
            </a:r>
            <a:r>
              <a:rPr lang="en-US" sz="2400" dirty="0">
                <a:latin typeface="+mn-lt"/>
              </a:rPr>
              <a:t>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Reliable connection-oriented</a:t>
            </a:r>
            <a:r>
              <a:rPr lang="en-US" sz="2400" dirty="0">
                <a:latin typeface="+mn-lt"/>
              </a:rPr>
              <a:t> protocol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allows a byte stream originating on one machine to be delivered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without error </a:t>
            </a:r>
            <a:r>
              <a:rPr lang="en-US" sz="2400" dirty="0">
                <a:latin typeface="+mn-lt"/>
              </a:rPr>
              <a:t>on any other machine in the internet.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It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fragments</a:t>
            </a:r>
            <a:r>
              <a:rPr lang="en-US" sz="2400" dirty="0">
                <a:latin typeface="+mn-lt"/>
              </a:rPr>
              <a:t> the incoming byte stream into discrete messages and passes each one on to the internet layer.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0010" y="1074420"/>
            <a:ext cx="8977313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Transport Layer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TCP</a:t>
            </a:r>
            <a:r>
              <a:rPr lang="en-US" sz="2400" dirty="0">
                <a:latin typeface="+mn-lt"/>
              </a:rPr>
              <a:t>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At the destination, the receiving TCP process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reassembles</a:t>
            </a:r>
            <a:r>
              <a:rPr lang="en-US" sz="2400" dirty="0">
                <a:latin typeface="+mn-lt"/>
              </a:rPr>
              <a:t> the received messages into the output stream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TCP also handles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flow control </a:t>
            </a:r>
            <a:r>
              <a:rPr lang="en-US" sz="2400" dirty="0">
                <a:latin typeface="+mn-lt"/>
              </a:rPr>
              <a:t>to make sure a fast sender cannot swamp a slow receiver with more messages than it can handle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0010" y="1097280"/>
            <a:ext cx="8977313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Transport Layer 	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UDP</a:t>
            </a:r>
            <a:r>
              <a:rPr lang="en-US" sz="2400" dirty="0">
                <a:latin typeface="+mn-lt"/>
              </a:rPr>
              <a:t>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Unreliable connectionless </a:t>
            </a:r>
            <a:r>
              <a:rPr lang="en-US" sz="2400" dirty="0">
                <a:latin typeface="+mn-lt"/>
              </a:rPr>
              <a:t>protocol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for applications that do not want TCP's sequencing or flow control and wish to provide their own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also widely used for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one-shot</a:t>
            </a:r>
            <a:r>
              <a:rPr lang="en-US" sz="2400" dirty="0">
                <a:latin typeface="+mn-lt"/>
              </a:rPr>
              <a:t>, client-server-type request-reply queries and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applications in which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prompt delivery</a:t>
            </a:r>
            <a:r>
              <a:rPr lang="en-US" sz="2400" dirty="0">
                <a:latin typeface="+mn-lt"/>
              </a:rPr>
              <a:t> is more important than accurate delivery, such as transmitting speech or video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>
              <a:latin typeface="+mn-lt"/>
            </a:endParaRP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1440" y="834390"/>
            <a:ext cx="8977313" cy="576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Application Layer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TCP/IP model does not have session or presentation layers 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Because they are of little use to most applications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contains all the higher-level protocols like	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virtual terminal (TELNET)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file transfer (FTP)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electronic mail (SMTP)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Domain Name System (DNS)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Network News Transfer Protocol (NNTP)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Hyper Text Transfer Protocol (HTTP)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1440" y="742950"/>
            <a:ext cx="8977313" cy="585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Application Layer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TELNET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virtual terminal protocol allows a user on one machine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log onto a distant machine </a:t>
            </a:r>
            <a:r>
              <a:rPr lang="en-US" sz="2400" dirty="0">
                <a:latin typeface="+mn-lt"/>
              </a:rPr>
              <a:t>and work there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dirty="0">
              <a:latin typeface="+mn-lt"/>
            </a:endParaRP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FTP (File Transfer Protocol 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provides a way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move data efficiently </a:t>
            </a:r>
            <a:r>
              <a:rPr lang="en-US" sz="2400" dirty="0">
                <a:latin typeface="+mn-lt"/>
              </a:rPr>
              <a:t>from one machine to another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dirty="0">
              <a:latin typeface="+mn-lt"/>
            </a:endParaRP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SMTP (Simple Mail Transfer Protocol)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Electronic mail was originally just a kind of file transfer, but later a specialized protocol (SMTP) was developed for it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78933"/>
          </a:xfrm>
        </p:spPr>
        <p:txBody>
          <a:bodyPr/>
          <a:lstStyle/>
          <a:p>
            <a:r>
              <a:rPr lang="en-US" dirty="0"/>
              <a:t>TCP/IP Reference Model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23" y="869246"/>
            <a:ext cx="8977313" cy="592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1440" y="742950"/>
            <a:ext cx="8977313" cy="585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i="1" dirty="0">
                <a:latin typeface="+mn-lt"/>
              </a:rPr>
              <a:t>Application Layer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DNS (Domain Name System)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for mapping host names onto their network addresses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endParaRPr lang="en-US" sz="2400" dirty="0">
              <a:latin typeface="+mn-lt"/>
            </a:endParaRP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NNTP (Network News Transfer Protocol 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protocol for moving USENET news articles around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USENET (worldwide distributed Internet discussion system)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</a:pPr>
            <a:r>
              <a:rPr lang="en-US" sz="2400" dirty="0">
                <a:latin typeface="+mn-lt"/>
              </a:rPr>
              <a:t>	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b="1" dirty="0">
                <a:latin typeface="+mn-lt"/>
              </a:rPr>
              <a:t>HTTP (Hyper Text Transfer Protocol )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+mn-lt"/>
              </a:rPr>
              <a:t>protocol for fetching pages on the World Wide Web 	(WWW)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Models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96303"/>
            <a:ext cx="9144000" cy="838200"/>
          </a:xfrm>
        </p:spPr>
        <p:txBody>
          <a:bodyPr/>
          <a:lstStyle/>
          <a:p>
            <a:r>
              <a:rPr lang="en-US" dirty="0"/>
              <a:t>Protocols and networks in the TCP/IP model initially.</a:t>
            </a:r>
          </a:p>
        </p:txBody>
      </p:sp>
      <p:pic>
        <p:nvPicPr>
          <p:cNvPr id="35844" name="Picture 4" descr="1-2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100" y="1738313"/>
            <a:ext cx="7940675" cy="327977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880110" y="5509260"/>
            <a:ext cx="710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ARPANET - Advanced Research Projects Agency Network</a:t>
            </a:r>
          </a:p>
          <a:p>
            <a:pPr algn="just"/>
            <a:r>
              <a:rPr lang="en-US" dirty="0"/>
              <a:t>SATNET – Sustainable Agriculture Trainers Network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109</a:t>
            </a:fld>
            <a:endParaRPr lang="en-US"/>
          </a:p>
        </p:txBody>
      </p: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213" y="1806575"/>
            <a:ext cx="7540625" cy="4733925"/>
          </a:xfrm>
        </p:spPr>
        <p:txBody>
          <a:bodyPr/>
          <a:lstStyle/>
          <a:p>
            <a:pPr algn="l"/>
            <a:r>
              <a:rPr lang="en-US" sz="4000" dirty="0"/>
              <a:t>Tutorial I </a:t>
            </a:r>
          </a:p>
          <a:p>
            <a:pPr algn="l"/>
            <a:r>
              <a:rPr lang="en-US" sz="4000" dirty="0"/>
              <a:t>Comparison &amp; critiques of OSI and TCP/IP Models</a:t>
            </a:r>
          </a:p>
          <a:p>
            <a:pPr algn="l"/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6C05F-EDF5-4737-80F3-12A7E290C31D}" type="slidenum">
              <a:rPr lang="en-US" smtClean="0"/>
              <a:pPr/>
              <a:t>110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Tannenbaum</Template>
  <TotalTime>12263</TotalTime>
  <Words>5577</Words>
  <Application>Microsoft Office PowerPoint</Application>
  <PresentationFormat>On-screen Show (4:3)</PresentationFormat>
  <Paragraphs>841</Paragraphs>
  <Slides>110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Tannenbaum</vt:lpstr>
      <vt:lpstr> </vt:lpstr>
      <vt:lpstr>PowerPoint Presentation</vt:lpstr>
      <vt:lpstr>Syllabus</vt:lpstr>
      <vt:lpstr>Introduction</vt:lpstr>
      <vt:lpstr>USES OF COMPUTER NETWORKS</vt:lpstr>
      <vt:lpstr>Uses of Computer Networks</vt:lpstr>
      <vt:lpstr>USES OF COMPUTER NETWORKS</vt:lpstr>
      <vt:lpstr>Business Applications</vt:lpstr>
      <vt:lpstr>Business Applications</vt:lpstr>
      <vt:lpstr>Business Applications</vt:lpstr>
      <vt:lpstr>Home Network Applications</vt:lpstr>
      <vt:lpstr>Home Network Applications</vt:lpstr>
      <vt:lpstr>Home Network Applications</vt:lpstr>
      <vt:lpstr>Mobile Network Users</vt:lpstr>
      <vt:lpstr>PowerPoint Presentation</vt:lpstr>
      <vt:lpstr> Social Issues </vt:lpstr>
      <vt:lpstr>Social Issues</vt:lpstr>
      <vt:lpstr>NETWORK HARDWARE</vt:lpstr>
      <vt:lpstr>PowerPoint Presentation</vt:lpstr>
      <vt:lpstr>PowerPoint Presentation</vt:lpstr>
      <vt:lpstr>PowerPoint Presentation</vt:lpstr>
      <vt:lpstr>PowerPoint Presentation</vt:lpstr>
      <vt:lpstr>Point-to-point links</vt:lpstr>
      <vt:lpstr>Network Hardware</vt:lpstr>
      <vt:lpstr>Network Hardware</vt:lpstr>
      <vt:lpstr>LAN</vt:lpstr>
      <vt:lpstr>LAN</vt:lpstr>
      <vt:lpstr>LAN</vt:lpstr>
      <vt:lpstr>LAN</vt:lpstr>
      <vt:lpstr>LAN</vt:lpstr>
      <vt:lpstr>PowerPoint Presentation</vt:lpstr>
      <vt:lpstr>LAN</vt:lpstr>
      <vt:lpstr>LAN</vt:lpstr>
      <vt:lpstr>LAN</vt:lpstr>
      <vt:lpstr>LAN</vt:lpstr>
      <vt:lpstr>Metropolitan Area Networks (MAN)</vt:lpstr>
      <vt:lpstr>Wide Area Networks (WAN)</vt:lpstr>
      <vt:lpstr>Wide Area Networks (WAN)</vt:lpstr>
      <vt:lpstr>Wide Area Networks (WAN)</vt:lpstr>
      <vt:lpstr>Wide Area Networks (WAN)</vt:lpstr>
      <vt:lpstr>Wide Area Networks (WAN)</vt:lpstr>
      <vt:lpstr>Wide Area Networks</vt:lpstr>
      <vt:lpstr>Wide Area Networks (WAN)</vt:lpstr>
      <vt:lpstr>Internetworks </vt:lpstr>
      <vt:lpstr>Network Software</vt:lpstr>
      <vt:lpstr>Protocol Hierarchies</vt:lpstr>
      <vt:lpstr>Network Software Protocol Hierarchies</vt:lpstr>
      <vt:lpstr>Protocol Hierarchies</vt:lpstr>
      <vt:lpstr>Protocol Hierarchies</vt:lpstr>
      <vt:lpstr>Protocol Hierarchies</vt:lpstr>
      <vt:lpstr>Protocol Hierarchies</vt:lpstr>
      <vt:lpstr>Design Issues for the Layers</vt:lpstr>
      <vt:lpstr>Design Issues for the Layers</vt:lpstr>
      <vt:lpstr>Design Issues for the Layers</vt:lpstr>
      <vt:lpstr>Design Issues for the Layers</vt:lpstr>
      <vt:lpstr>Design Issues for the Layers</vt:lpstr>
      <vt:lpstr>Connection-Oriented Services</vt:lpstr>
      <vt:lpstr>Connection-Oriented Services</vt:lpstr>
      <vt:lpstr>Connection-Oriented Services</vt:lpstr>
      <vt:lpstr>Connection-Oriented Services</vt:lpstr>
      <vt:lpstr>Connection-Oriented Services</vt:lpstr>
      <vt:lpstr>Connectionless Services</vt:lpstr>
      <vt:lpstr>Connectionless Services</vt:lpstr>
      <vt:lpstr>Connection-Oriented and Connectionless Services</vt:lpstr>
      <vt:lpstr>Interfaces &amp; Services</vt:lpstr>
      <vt:lpstr>Service Primitives</vt:lpstr>
      <vt:lpstr>Service Primitives</vt:lpstr>
      <vt:lpstr>Service Primitives </vt:lpstr>
      <vt:lpstr>Service Primitives</vt:lpstr>
      <vt:lpstr>Service Primitives</vt:lpstr>
      <vt:lpstr>Service Primitives</vt:lpstr>
      <vt:lpstr>Service Primitives</vt:lpstr>
      <vt:lpstr>Reference Models</vt:lpstr>
      <vt:lpstr>OSI Reference Model</vt:lpstr>
      <vt:lpstr>OSI Reference Model</vt:lpstr>
      <vt:lpstr>OSI Reference Models</vt:lpstr>
      <vt:lpstr>Organization of the Layers</vt:lpstr>
      <vt:lpstr>Figure:   An exchange using the OSI model </vt:lpstr>
      <vt:lpstr>OSI Reference Model</vt:lpstr>
      <vt:lpstr>PowerPoint Presentation</vt:lpstr>
      <vt:lpstr>OSI Reference Model</vt:lpstr>
      <vt:lpstr>PowerPoint Presentation</vt:lpstr>
      <vt:lpstr>OSI Reference Model</vt:lpstr>
      <vt:lpstr>OSI Reference Model</vt:lpstr>
      <vt:lpstr>OSI Reference Model</vt:lpstr>
      <vt:lpstr>PowerPoint Presentation</vt:lpstr>
      <vt:lpstr>OSI Reference Model</vt:lpstr>
      <vt:lpstr>OSI Reference Model</vt:lpstr>
      <vt:lpstr>OSI Reference Model</vt:lpstr>
      <vt:lpstr>PowerPoint Presentation</vt:lpstr>
      <vt:lpstr>OSI Reference Model</vt:lpstr>
      <vt:lpstr>OSI Reference Model</vt:lpstr>
      <vt:lpstr>PowerPoint Presentation</vt:lpstr>
      <vt:lpstr>OSI Reference Model</vt:lpstr>
      <vt:lpstr>PowerPoint Presentation</vt:lpstr>
      <vt:lpstr>PowerPoint Presentation</vt:lpstr>
      <vt:lpstr>TCP/IP Reference Models </vt:lpstr>
      <vt:lpstr>TCP/IP Reference Model</vt:lpstr>
      <vt:lpstr>TCP/IP Reference Model</vt:lpstr>
      <vt:lpstr>TCP/IP Reference Model</vt:lpstr>
      <vt:lpstr>TCP/IP Reference Model</vt:lpstr>
      <vt:lpstr>TCP/IP Reference Model</vt:lpstr>
      <vt:lpstr>TCP/IP Reference Model</vt:lpstr>
      <vt:lpstr>TCP/IP Reference Model</vt:lpstr>
      <vt:lpstr>TCP/IP Reference Model</vt:lpstr>
      <vt:lpstr>TCP/IP Reference Model</vt:lpstr>
      <vt:lpstr>TCP/IP Reference Model</vt:lpstr>
      <vt:lpstr>TCP/IP Reference Model</vt:lpstr>
      <vt:lpstr>Reference Models</vt:lpstr>
      <vt:lpstr>PowerPoint Presentation</vt:lpstr>
    </vt:vector>
  </TitlesOfParts>
  <Company>East Texas Data Service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Steve Armstrong</dc:creator>
  <cp:lastModifiedBy>Anju markose</cp:lastModifiedBy>
  <cp:revision>524</cp:revision>
  <dcterms:created xsi:type="dcterms:W3CDTF">2002-06-28T19:04:26Z</dcterms:created>
  <dcterms:modified xsi:type="dcterms:W3CDTF">2023-10-10T06:05:54Z</dcterms:modified>
</cp:coreProperties>
</file>