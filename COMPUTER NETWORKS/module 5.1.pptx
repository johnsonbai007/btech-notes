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3"/>
  </p:notesMasterIdLst>
  <p:sldIdLst>
    <p:sldId id="306" r:id="rId2"/>
    <p:sldId id="339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81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380" r:id="rId45"/>
    <p:sldId id="382" r:id="rId46"/>
    <p:sldId id="383" r:id="rId47"/>
    <p:sldId id="384" r:id="rId48"/>
    <p:sldId id="385" r:id="rId49"/>
    <p:sldId id="386" r:id="rId50"/>
    <p:sldId id="387" r:id="rId51"/>
    <p:sldId id="389" r:id="rId52"/>
    <p:sldId id="388" r:id="rId53"/>
    <p:sldId id="390" r:id="rId54"/>
    <p:sldId id="391" r:id="rId55"/>
    <p:sldId id="392" r:id="rId56"/>
    <p:sldId id="393" r:id="rId57"/>
    <p:sldId id="394" r:id="rId58"/>
    <p:sldId id="395" r:id="rId59"/>
    <p:sldId id="396" r:id="rId60"/>
    <p:sldId id="397" r:id="rId61"/>
    <p:sldId id="400" r:id="rId62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7C044-E79A-44FE-BD83-A750A3CD1A45}" type="datetimeFigureOut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F5DE3-3C49-419D-B096-51AD8E047A6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52</a:t>
            </a:fld>
            <a:endParaRPr 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53</a:t>
            </a:fld>
            <a:endParaRPr 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54</a:t>
            </a:fld>
            <a:endParaRPr 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55</a:t>
            </a:fld>
            <a:endParaRPr 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56</a:t>
            </a:fld>
            <a:endParaRPr 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57</a:t>
            </a:fld>
            <a:endParaRPr 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58</a:t>
            </a:fld>
            <a:endParaRPr 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59</a:t>
            </a:fld>
            <a:endParaRPr 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60</a:t>
            </a:fld>
            <a:endParaRPr 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61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362D7A-38B9-4A1C-91CB-FE05FBDF5B7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55C829-AE99-4997-8EBC-414F558758A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8CC6B-B086-4019-9A6B-1D7874CBC23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0445ED-F1CB-4A7A-8277-EC641C976379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9CB95-5005-4683-9F27-FD9CEC8C2E9C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2F2FA5-0ECD-45FB-ADFF-50B964F62A79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A792C1-97CB-47CE-8811-7FD9D72F6C5E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120ED-67C9-4200-9AE3-E543EF218D0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AB78E4-0C88-4767-B60F-E55BCFA972E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00A69-AFA5-4606-8E56-05A639C9AE5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17F2A0-B6FE-4181-9E81-15870594AAC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B6DDB3D3-3028-4451-A3A3-65B85FF8A528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609600" indent="-609600" algn="l" rtl="0" fontAlgn="base">
        <a:spcBef>
          <a:spcPct val="20000"/>
        </a:spcBef>
        <a:spcAft>
          <a:spcPct val="0"/>
        </a:spcAft>
        <a:buClr>
          <a:schemeClr val="accent2"/>
        </a:buClr>
        <a:buAutoNum type="alphaLcParenR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5334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371600" indent="-4572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752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2098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98343"/>
            <a:ext cx="9144000" cy="4567341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smtClean="0">
                <a:solidFill>
                  <a:srgbClr val="FF0000"/>
                </a:solidFill>
              </a:rPr>
              <a:t>Module </a:t>
            </a:r>
            <a:r>
              <a:rPr lang="en-US" sz="4400" smtClean="0">
                <a:solidFill>
                  <a:srgbClr val="FF0000"/>
                </a:solidFill>
              </a:rPr>
              <a:t>V</a:t>
            </a:r>
            <a:r>
              <a:rPr lang="en-US" sz="4400" dirty="0" smtClean="0">
                <a:solidFill>
                  <a:srgbClr val="FF0000"/>
                </a:solidFill>
              </a:rPr>
              <a:t/>
            </a:r>
            <a:br>
              <a:rPr lang="en-US" sz="4400" dirty="0" smtClean="0">
                <a:solidFill>
                  <a:srgbClr val="FF0000"/>
                </a:solidFill>
              </a:rPr>
            </a:br>
            <a:r>
              <a:rPr lang="en-US" sz="4400" dirty="0" smtClean="0">
                <a:solidFill>
                  <a:srgbClr val="FF0000"/>
                </a:solidFill>
              </a:rPr>
              <a:t>Transport layer</a:t>
            </a:r>
          </a:p>
          <a:p>
            <a:pPr marL="0" indent="0" algn="ctr">
              <a:buNone/>
            </a:pPr>
            <a:endParaRPr lang="en-US" sz="3600" dirty="0" smtClean="0"/>
          </a:p>
          <a:p>
            <a:pPr marL="0" indent="0" algn="ctr">
              <a:buNone/>
            </a:pPr>
            <a:r>
              <a:rPr lang="en-US" sz="3600" dirty="0" smtClean="0"/>
              <a:t>TCP &amp; UDP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heart of the whole protocol hierarchy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FF0000"/>
                </a:solidFill>
              </a:rPr>
              <a:t>ultimate goal </a:t>
            </a:r>
            <a:r>
              <a:rPr lang="en-US" sz="2400" dirty="0" smtClean="0"/>
              <a:t>of the transport layer is to provide efficient, reliable, and cost-effective service to its users, normally processes in the application layer.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hardware and/or software within the transport layer that does the work is called the </a:t>
            </a:r>
            <a:r>
              <a:rPr lang="en-US" sz="2400" b="1" dirty="0" smtClean="0"/>
              <a:t>transport entity. 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4852" y="3143422"/>
            <a:ext cx="8634335" cy="367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dirty="0" smtClean="0"/>
              <a:t>Transport service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Two types of transport services: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connection-oriented transport service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connectionless transport service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Egs: client-server computing and streaming multimedia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kumimoji="0" lang="en-US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Both are</a:t>
            </a:r>
            <a:r>
              <a:rPr kumimoji="0" lang="en-US" sz="24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similar to Network layer services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kern="0" baseline="0" dirty="0" smtClean="0">
                <a:latin typeface="Arial" pitchFamily="34" charset="0"/>
                <a:cs typeface="Arial" pitchFamily="34" charset="0"/>
              </a:rPr>
              <a:t>But</a:t>
            </a:r>
            <a:r>
              <a:rPr lang="en-US" sz="2400" kern="0" dirty="0" smtClean="0">
                <a:latin typeface="Arial" pitchFamily="34" charset="0"/>
                <a:cs typeface="Arial" pitchFamily="34" charset="0"/>
              </a:rPr>
              <a:t> difference is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transport code runs entirely on the users' machines,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but the network layer mostly runs on the routers, which are operated by the carrier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Transport layer forms the major boundary between the service provider and service user of the reliable data transmission service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pPr lvl="0"/>
            <a:r>
              <a:rPr lang="en-US" b="1" dirty="0" smtClean="0"/>
              <a:t>Transport Service Primitives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Transport Service Primitives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purpose of the transport layer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provide a reliable service on top of an unreliable network 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237" y="2390495"/>
            <a:ext cx="8826645" cy="341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139252" y="5849023"/>
            <a:ext cx="72402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Fig: The primitives for a simple transport service 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pPr lvl="0"/>
            <a:r>
              <a:rPr lang="en-US" b="1" dirty="0" smtClean="0"/>
              <a:t>Transport Service Primitives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49311" y="5039554"/>
            <a:ext cx="72402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Fig: Nesting of TPDUs, packets, and frames 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8971" y="1445224"/>
            <a:ext cx="8570236" cy="3366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pPr lvl="0"/>
            <a:r>
              <a:rPr lang="en-US" b="1" dirty="0" smtClean="0"/>
              <a:t>Transport Service Primitives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90898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Fig: socket primitives used in Berkeley UNIX for TCP</a:t>
            </a:r>
          </a:p>
          <a:p>
            <a:r>
              <a:rPr lang="en-US" sz="2400" dirty="0" smtClean="0"/>
              <a:t>widely used for Internet programming 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747716"/>
            <a:ext cx="9084287" cy="5158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pPr lvl="0"/>
            <a:r>
              <a:rPr lang="en-US" b="1" dirty="0" smtClean="0"/>
              <a:t>Elements of Transport Protocol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39932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Fig: (a) Environment of the data link layer. </a:t>
            </a:r>
          </a:p>
          <a:p>
            <a:r>
              <a:rPr lang="en-US" sz="2400" dirty="0" smtClean="0"/>
              <a:t>(b) Environment of the transport layer. </a:t>
            </a:r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8060" y="1291106"/>
            <a:ext cx="8725318" cy="3430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Elements of Transport Protocol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Similarities of transport layer with data link layer: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Both have to deal with error control, sequencing, and flow control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kumimoji="0" lang="en-US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Differences: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</a:pPr>
            <a:endParaRPr kumimoji="0" lang="en-US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-3" y="2611203"/>
          <a:ext cx="9144002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8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Data</a:t>
                      </a:r>
                      <a:r>
                        <a:rPr lang="en-US" sz="2400" b="1" baseline="0" dirty="0" smtClean="0"/>
                        <a:t> link Layer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Transport Layer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79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each outgoing line uniquely specifies a particular router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explicit addressing of destinations is required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79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other end is always there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initial connection establishment is more complicated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79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existence of storage capacity in the subnet helps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existence of storage capacity in the subnet needs special protocols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79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Buffering and flow control are simple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Buffering and flow control are complicated for dynamic connections</a:t>
                      </a:r>
                      <a:endParaRPr lang="en-US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Addressing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925183"/>
            <a:ext cx="9144000" cy="4640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When an application process wishes to set up a connection to a remote application process, it must specify which one to connect to.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Method normally used is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define transport addresses to which processes can listen for connection requests.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 the Internet, these end points are called </a:t>
            </a:r>
            <a:r>
              <a:rPr lang="en-US" sz="2400" b="1" dirty="0" smtClean="0"/>
              <a:t>ports.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We will use the generic term </a:t>
            </a:r>
            <a:r>
              <a:rPr lang="en-US" sz="2400" b="1" dirty="0" smtClean="0"/>
              <a:t>TSAP (Transport Service Access Point)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kumimoji="0" lang="en-US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UDP (User Datagram Protocol)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connectionless transport protocol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UDP is basically just IP with a short header added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provides a way for applications to send encapsulated IP datagrams and send them without having to establish a connection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UDP transmits </a:t>
            </a:r>
            <a:r>
              <a:rPr lang="en-US" sz="2400" b="1" dirty="0" smtClean="0"/>
              <a:t>segments </a:t>
            </a:r>
            <a:r>
              <a:rPr lang="en-US" sz="2400" dirty="0" smtClean="0"/>
              <a:t>consisting of an 8-byte header followed by the payload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9486" y="4104886"/>
            <a:ext cx="8684691" cy="2161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006001" y="6287337"/>
            <a:ext cx="32830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Fig: The UDP header 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935542"/>
            <a:ext cx="9144000" cy="545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Two ports are used to identify the end points within the source and destination machines. 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When a UDP packet arrives, its payload is handed to the process attached to the </a:t>
            </a:r>
            <a:r>
              <a:rPr lang="en-US" sz="2400" dirty="0" smtClean="0">
                <a:solidFill>
                  <a:srgbClr val="FF0000"/>
                </a:solidFill>
              </a:rPr>
              <a:t>destination port</a:t>
            </a:r>
            <a:r>
              <a:rPr lang="en-US" sz="2400" dirty="0" smtClean="0"/>
              <a:t>. 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This attachment occurs when BIND primitive is used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Without the port fields, the transport layer would not know what to do with the packet. 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With ports, it delivers segments correctly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FF0000"/>
                </a:solidFill>
              </a:rPr>
              <a:t>source port</a:t>
            </a:r>
            <a:r>
              <a:rPr lang="en-US" sz="2400" dirty="0" smtClean="0"/>
              <a:t> is primarily needed when a reply must be sent back to the source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FF0000"/>
                </a:solidFill>
              </a:rPr>
              <a:t>UDP length </a:t>
            </a:r>
            <a:r>
              <a:rPr lang="en-US" sz="2400" dirty="0" smtClean="0"/>
              <a:t>field includes the 8-byte header and the data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FF0000"/>
                </a:solidFill>
              </a:rPr>
              <a:t>UDP checksum </a:t>
            </a:r>
            <a:r>
              <a:rPr lang="en-US" sz="2400" dirty="0" smtClean="0"/>
              <a:t>is optional and stored as 0 if not computed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UDP does </a:t>
            </a:r>
            <a:r>
              <a:rPr lang="en-US" sz="2400" i="1" dirty="0" smtClean="0"/>
              <a:t>not do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flow control,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error control, or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retransmission upon receipt of a bad segment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UDP does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provide an interface to the IP protocol with the added feature of </a:t>
            </a:r>
            <a:r>
              <a:rPr lang="en-US" sz="2400" dirty="0" err="1" smtClean="0"/>
              <a:t>demultiplexing</a:t>
            </a:r>
            <a:r>
              <a:rPr lang="en-US" sz="2400" dirty="0" smtClean="0"/>
              <a:t> multiple processes using the 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Applications: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client-server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client sends a short request to the server and expects a short reply back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Eg: DNS, RPC, RTP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DNS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program that needs to look up the IP address of some host name can send a UDP packet containing the host name to a DNS server.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server replies with a UDP packet containing the host's IP address.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No setup is needed in advance and no release is needed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1040472"/>
            <a:ext cx="9144000" cy="4580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Remote Procedure Call (RPC)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When a process on machine 1 calls a procedure on machine 2, the calling process on 1 is suspended and execution of the called procedure takes place on 2.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 Information can be transported from the caller to the </a:t>
            </a:r>
            <a:r>
              <a:rPr lang="en-US" sz="2400" dirty="0" err="1" smtClean="0"/>
              <a:t>callee</a:t>
            </a:r>
            <a:r>
              <a:rPr lang="en-US" sz="2400" dirty="0" smtClean="0"/>
              <a:t> in the parameters and can come back in the procedure result.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No message passing is visible to the programmer.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This technique is known as </a:t>
            </a:r>
            <a:r>
              <a:rPr lang="en-US" sz="2400" b="1" dirty="0" smtClean="0"/>
              <a:t>RPC (Remote Procedure Call)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Remote Procedure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2398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/>
              <a:t>Fig: Steps in making a remote procedure call </a:t>
            </a:r>
            <a:endParaRPr lang="en-US" sz="2400" dirty="0"/>
          </a:p>
        </p:txBody>
      </p:sp>
      <p:pic>
        <p:nvPicPr>
          <p:cNvPr id="7" name="Picture 5" descr="6-2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940" y="1329796"/>
            <a:ext cx="8788478" cy="4303360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Steps in making an RPC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 smtClean="0"/>
              <a:t>client calling the client stub.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call is a local procedure call, with the parameters pushed onto the stack in the normal way.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 smtClean="0"/>
              <a:t>client stub packing the parameters into a message and making a system call to send the message.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Packing the parameters is called </a:t>
            </a:r>
            <a:r>
              <a:rPr lang="en-US" sz="2400" b="1" dirty="0" smtClean="0"/>
              <a:t>marshaling.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 smtClean="0"/>
              <a:t>kernel sending the message from the client machine to the server machine.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 smtClean="0"/>
              <a:t>kernel passing the incoming packet to the server stub.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 smtClean="0"/>
              <a:t>server stub calling the server procedure with the </a:t>
            </a:r>
            <a:r>
              <a:rPr lang="en-US" sz="2400" dirty="0" err="1" smtClean="0"/>
              <a:t>unmarshaled</a:t>
            </a:r>
            <a:r>
              <a:rPr lang="en-US" sz="2400" dirty="0" smtClean="0"/>
              <a:t> parameters.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reply traces the same path in the other direction.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950532"/>
            <a:ext cx="9144000" cy="5495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Problems faced by RPC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 smtClean="0">
                <a:solidFill>
                  <a:srgbClr val="FF0000"/>
                </a:solidFill>
              </a:rPr>
              <a:t>passing pointers is impossible </a:t>
            </a:r>
            <a:r>
              <a:rPr lang="en-US" sz="2400" dirty="0" smtClean="0"/>
              <a:t>because the client and server are in different address spaces.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Trick to overcome this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standard calling sequence of call-by-reference has been replaced by copy-restore.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this trick does not always work, for example, if the pointer points to a graph or other complex data structure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 smtClean="0"/>
              <a:t>computes the </a:t>
            </a:r>
            <a:r>
              <a:rPr lang="en-US" sz="2400" dirty="0" smtClean="0">
                <a:solidFill>
                  <a:srgbClr val="FF0000"/>
                </a:solidFill>
              </a:rPr>
              <a:t>inner product of two vectors </a:t>
            </a:r>
            <a:r>
              <a:rPr lang="en-US" sz="2400" dirty="0" smtClean="0"/>
              <a:t>(arrays), without specifying how large either one is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marshalling the parameters has no way of determining how large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1070452"/>
            <a:ext cx="9144000" cy="5240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 startAt="3"/>
            </a:pPr>
            <a:r>
              <a:rPr lang="en-US" sz="2400" dirty="0" smtClean="0"/>
              <a:t>not always possible to </a:t>
            </a:r>
            <a:r>
              <a:rPr lang="en-US" sz="2400" dirty="0" smtClean="0">
                <a:solidFill>
                  <a:srgbClr val="FF0000"/>
                </a:solidFill>
              </a:rPr>
              <a:t>deduce</a:t>
            </a:r>
            <a:r>
              <a:rPr lang="en-US" sz="2400" dirty="0" smtClean="0"/>
              <a:t> the </a:t>
            </a:r>
            <a:r>
              <a:rPr lang="en-US" sz="2400" dirty="0" smtClean="0">
                <a:solidFill>
                  <a:srgbClr val="FF0000"/>
                </a:solidFill>
              </a:rPr>
              <a:t>types of the parameters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example is </a:t>
            </a:r>
            <a:r>
              <a:rPr lang="en-US" sz="2400" i="1" dirty="0" smtClean="0"/>
              <a:t>printf,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which may have any number of parameters with a mixture of integers, shorts, longs, characters, strings, floating-point numbers of various lengths, and other types.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Trying to call printf as a remote procedure would be practically impossible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 startAt="4"/>
            </a:pPr>
            <a:r>
              <a:rPr lang="en-US" sz="2400" dirty="0" smtClean="0"/>
              <a:t>use of </a:t>
            </a:r>
            <a:r>
              <a:rPr lang="en-US" sz="2400" dirty="0" smtClean="0">
                <a:solidFill>
                  <a:srgbClr val="FF0000"/>
                </a:solidFill>
              </a:rPr>
              <a:t>global variables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code will fail because the global variables are no longer shared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Still UDP is commonly used for RPC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965522"/>
            <a:ext cx="9144000" cy="5375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UDP is widely used in another area called real-time multimedia applications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Egs: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Internet radio,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Internet telephony,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music-on-demand,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videoconferencing,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video-on-demand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generic real-time transport protocol for multiple applications called </a:t>
            </a:r>
            <a:r>
              <a:rPr lang="en-US" sz="2400" b="1" dirty="0" smtClean="0"/>
              <a:t>RTP (Real-time Transport Protocol)  </a:t>
            </a:r>
            <a:r>
              <a:rPr lang="en-US" sz="2400" dirty="0" smtClean="0"/>
              <a:t>was born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basic function of RTP is to multiplex several real-time data streams onto a single stream of UDP packets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90572"/>
            <a:ext cx="9144000" cy="5660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Working of RTP: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multimedia application consists of multiple audio, video, text, and possibly other streams.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These are fed into the RTP library, which is in user space along with the application.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library then multiplexes the streams and encodes them in RTP packets, which it then stuffs into a socket.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At the other end of the socket (in the operating system kernel), UDP packets are generated and embedded in IP packets.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 If the computer is on an Ethernet, the IP packets are then put in Ethernet frames for transmission.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is a transport protocol that is implemented in the application layer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endParaRPr lang="en-US" sz="2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5936105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/>
              <a:t>Fig: (a) The position of RTP in the protocol stack. </a:t>
            </a:r>
          </a:p>
          <a:p>
            <a:r>
              <a:rPr lang="en-US" sz="2400" b="1" i="1" dirty="0" smtClean="0"/>
              <a:t>(b) Packet nesting. </a:t>
            </a:r>
            <a:endParaRPr lang="en-US" sz="2400" dirty="0"/>
          </a:p>
        </p:txBody>
      </p:sp>
      <p:pic>
        <p:nvPicPr>
          <p:cNvPr id="7" name="Picture 5" descr="6-2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6280" y="1006298"/>
            <a:ext cx="8804077" cy="4559123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endParaRPr lang="en-US" sz="2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280875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/>
              <a:t>Fig: RTP header </a:t>
            </a:r>
            <a:endParaRPr lang="en-US" sz="2400" dirty="0"/>
          </a:p>
        </p:txBody>
      </p:sp>
      <p:pic>
        <p:nvPicPr>
          <p:cNvPr id="7" name="Picture 7" descr="6-2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896" y="797278"/>
            <a:ext cx="8942990" cy="5513211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920552"/>
            <a:ext cx="9144000" cy="5555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Version field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already at 2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 bit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indicates that the packet has been padded to a multiple of 4 bytes.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last padding byte tells how many bytes were added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X bit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indicates that an extension header is present.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format and meaning of the extension header are not defined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CC field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tells how many contributing sources are present, from 0 to 15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9057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M bit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an application-specific marker bit.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can be used to mark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start of a video frame,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start of a word in an audio channel,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Payload type field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tells which encoding algorithm has been used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(e.g., uncompressed 8-bit audio, MP3, etc.).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Since every packet carries this field, the encoding can change during transmission.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Sequence number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 counter that is incremented on each RTP packet sent.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is used to detect lost packets.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7558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Timestamp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produced by the stream's source to note when the first sample in the packet was made.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value can help reduce jitter at the receiver.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Synchronization source identifier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tells which stream the packet belongs to.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is the method used to multiplex and </a:t>
            </a:r>
            <a:r>
              <a:rPr lang="en-US" sz="2400" dirty="0" err="1" smtClean="0"/>
              <a:t>demultiplex</a:t>
            </a:r>
            <a:r>
              <a:rPr lang="en-US" sz="2400" dirty="0" smtClean="0"/>
              <a:t> multiple data streams onto a single stream of UDP packets.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Contributing source identifiers,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used when mixers are present in the studio.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 that case, the mixer is the synchronizing source, and the streams being mixed are listed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95053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RTP has a little sister protocol called </a:t>
            </a:r>
            <a:r>
              <a:rPr lang="en-US" sz="2400" b="1" dirty="0" smtClean="0"/>
              <a:t>RTCP (</a:t>
            </a:r>
            <a:r>
              <a:rPr lang="en-US" sz="2400" b="1" dirty="0" err="1" smtClean="0"/>
              <a:t>Realtime</a:t>
            </a:r>
            <a:r>
              <a:rPr lang="en-US" sz="2400" b="1" dirty="0" smtClean="0"/>
              <a:t> Transport Control Protocol).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handles feedback, synchronization, and the user interface but does not transport any data.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 smtClean="0"/>
              <a:t>feedback on </a:t>
            </a:r>
            <a:r>
              <a:rPr lang="en-US" sz="2400" dirty="0" smtClean="0">
                <a:solidFill>
                  <a:srgbClr val="FF0000"/>
                </a:solidFill>
              </a:rPr>
              <a:t>delay, jitter, bandwidth, congestion</a:t>
            </a:r>
            <a:r>
              <a:rPr lang="en-US" sz="2400" dirty="0" smtClean="0"/>
              <a:t>, and other network properties to the sources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used by the encoding process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to increase the data rate (and give better quality) when the network is functioning well and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to cut back the data rate when there is trouble in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UDP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1100432"/>
            <a:ext cx="9144000" cy="5285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 startAt="2"/>
            </a:pPr>
            <a:r>
              <a:rPr lang="en-US" sz="2400" dirty="0" smtClean="0"/>
              <a:t>RTCP also handles </a:t>
            </a:r>
            <a:r>
              <a:rPr lang="en-US" sz="2400" dirty="0" err="1" smtClean="0">
                <a:solidFill>
                  <a:srgbClr val="FF0000"/>
                </a:solidFill>
              </a:rPr>
              <a:t>interstream</a:t>
            </a:r>
            <a:r>
              <a:rPr lang="en-US" sz="2400" dirty="0" smtClean="0">
                <a:solidFill>
                  <a:srgbClr val="FF0000"/>
                </a:solidFill>
              </a:rPr>
              <a:t> synchronization</a:t>
            </a:r>
            <a:r>
              <a:rPr lang="en-US" sz="2400" dirty="0" smtClean="0"/>
              <a:t>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problem is that different streams may use different clocks, with different granularities and different drift rates.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RTCP can be used to keep them in sync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 startAt="3"/>
            </a:pPr>
            <a:r>
              <a:rPr lang="en-US" sz="2400" dirty="0" smtClean="0"/>
              <a:t>RTCP provides a way for </a:t>
            </a:r>
            <a:r>
              <a:rPr lang="en-US" sz="2400" dirty="0" smtClean="0">
                <a:solidFill>
                  <a:srgbClr val="FF0000"/>
                </a:solidFill>
              </a:rPr>
              <a:t>naming the various sources </a:t>
            </a:r>
            <a:r>
              <a:rPr lang="en-US" sz="2400" dirty="0" smtClean="0"/>
              <a:t>(e.g., in ASCII text).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information can be displayed on the receiver's screen to indicate who is talking at the moment.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 startAt="2"/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20"/>
            <a:ext cx="9144000" cy="5501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for most Internet applications, reliable, sequenced delivery is needed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UDP cannot provide this, so another protocol is required.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is called </a:t>
            </a:r>
            <a:r>
              <a:rPr lang="en-US" sz="2400" b="1" dirty="0" smtClean="0"/>
              <a:t>TCP</a:t>
            </a:r>
            <a:r>
              <a:rPr lang="en-US" sz="2400" dirty="0" smtClean="0"/>
              <a:t> (</a:t>
            </a:r>
            <a:r>
              <a:rPr lang="en-US" sz="2400" b="1" dirty="0" smtClean="0"/>
              <a:t>Transmission Control Protocol) </a:t>
            </a: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is the main workhorse of the Internet.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TCP was designed to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provide a reliable end-to-end byte stream over an unreliable internetwork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dynamically adapt to properties (different topologies, bandwidths, delays, packet sizes, etc) of the internetwork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be robust in the face of many kinds of failures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20"/>
            <a:ext cx="9144000" cy="5501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Each machine supporting TCP has a </a:t>
            </a:r>
            <a:r>
              <a:rPr lang="en-US" sz="2400" dirty="0" smtClean="0">
                <a:solidFill>
                  <a:srgbClr val="FF0000"/>
                </a:solidFill>
              </a:rPr>
              <a:t>TCP transport entity</a:t>
            </a:r>
            <a:r>
              <a:rPr lang="en-US" sz="2400" dirty="0" smtClean="0"/>
              <a:t>, either a library procedure, a user process, or part of the kernel.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 TCP entity accepts </a:t>
            </a:r>
            <a:r>
              <a:rPr lang="en-US" sz="2400" dirty="0" smtClean="0">
                <a:solidFill>
                  <a:srgbClr val="FF0000"/>
                </a:solidFill>
              </a:rPr>
              <a:t>user data streams </a:t>
            </a:r>
            <a:r>
              <a:rPr lang="en-US" sz="2400" dirty="0" smtClean="0"/>
              <a:t>from local processes, breaks them up into pieces not exceeding 64 KB and sends each piece as a separate IP datagram.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datagrams containing TCP data arrive at a machine, they are given to the TCP entity, which reconstructs the original byte streams.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TCP Service Model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TCP service is obtained by both the sender and receiver creating end points called </a:t>
            </a:r>
            <a:r>
              <a:rPr lang="en-US" sz="2400" dirty="0" smtClean="0">
                <a:solidFill>
                  <a:srgbClr val="FF0000"/>
                </a:solidFill>
              </a:rPr>
              <a:t>sockets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Each socket has a socket number (address) consisting of the IP address of the host and a 16-bit number local to that host, called a </a:t>
            </a:r>
            <a:r>
              <a:rPr lang="en-US" sz="2400" b="1" dirty="0" smtClean="0"/>
              <a:t>port.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FF0000"/>
                </a:solidFill>
              </a:rPr>
              <a:t>port</a:t>
            </a:r>
            <a:r>
              <a:rPr lang="en-US" sz="2400" dirty="0" smtClean="0"/>
              <a:t> is the TCP name for a TSAP.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For TCP service to be obtained, a connection must be explicitly established between a socket on the sending machine and a socket on the receiving machine.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 socket may be used for multiple connections at the same time.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Connections are identified by the socket identifiers at both ends, that is, (</a:t>
            </a:r>
            <a:r>
              <a:rPr lang="en-US" sz="2400" i="1" dirty="0" smtClean="0"/>
              <a:t>socket1, socket2) 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endParaRPr lang="en-US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44" y="811212"/>
            <a:ext cx="8991711" cy="5871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Port numbers below 1024 are called </a:t>
            </a:r>
            <a:r>
              <a:rPr lang="en-US" sz="2400" b="1" dirty="0" smtClean="0"/>
              <a:t>well-known ports </a:t>
            </a:r>
            <a:r>
              <a:rPr lang="en-US" sz="2400" dirty="0" smtClean="0"/>
              <a:t>and are reserved for standard services.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endParaRPr lang="en-US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9318" y="1797024"/>
            <a:ext cx="7595173" cy="4562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708921" y="6368748"/>
            <a:ext cx="4113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 smtClean="0"/>
              <a:t>Fig: Some assigned ports. 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All TCP connections are full duplex and point-to-point.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Full duplex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traffic can go in both directions at the same time.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Point-to-point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each connection has exactly two end points.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TCP </a:t>
            </a:r>
            <a:r>
              <a:rPr lang="en-US" sz="2400" dirty="0" smtClean="0">
                <a:solidFill>
                  <a:srgbClr val="FF0000"/>
                </a:solidFill>
              </a:rPr>
              <a:t>does not support multicasting or broadcasting</a:t>
            </a:r>
            <a:r>
              <a:rPr lang="en-US" sz="2400" dirty="0" smtClean="0"/>
              <a:t>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TCP connection is a </a:t>
            </a:r>
            <a:r>
              <a:rPr lang="en-US" sz="2400" dirty="0" smtClean="0">
                <a:solidFill>
                  <a:srgbClr val="FF0000"/>
                </a:solidFill>
              </a:rPr>
              <a:t>byte stream</a:t>
            </a:r>
            <a:r>
              <a:rPr lang="en-US" sz="2400" dirty="0" smtClean="0"/>
              <a:t>, not a message stream.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Message boundaries are not preserved end to end.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For example, if the sending process writes four 512-byte to a TCP stream, these data may be delivered to the receiving process as four 512-byte chunks, two 1024-byte chunks, one 2048-byte chunk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There is no way for the receiver to detect the unit(s) in which the data were written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To force data out immediately, applications can use the </a:t>
            </a:r>
            <a:r>
              <a:rPr lang="en-US" sz="2400" dirty="0" smtClean="0">
                <a:solidFill>
                  <a:srgbClr val="FF0000"/>
                </a:solidFill>
              </a:rPr>
              <a:t>PUSH</a:t>
            </a:r>
            <a:r>
              <a:rPr lang="en-US" sz="2400" dirty="0" smtClean="0"/>
              <a:t> flag, which tells TCP not to delay the transmission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URGENT</a:t>
            </a:r>
            <a:r>
              <a:rPr lang="en-US" sz="2400" dirty="0" smtClean="0"/>
              <a:t> flag causes TCP to stop accumulating data and transmit everything it has for that connection immediately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end of the urgent data is marked so the application knows when it is over.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endParaRPr lang="en-US" sz="2400" b="1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TCP Protocol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key feature of TCP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every byte on a TCP connection has its own 32-bit sequence number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sending and receiving TCP entities exchange data in the form of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TCP segment </a:t>
            </a:r>
            <a:r>
              <a:rPr lang="en-US" sz="2400" dirty="0" smtClean="0"/>
              <a:t>consists of a fixed 20-byte header (plus an optional part) followed by zero or more data bytes.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TCP software decides how big segments should be.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can accumulate data from several writes into one segment or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can split data from one write over multiple segments.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Two limits restrict the segment size.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each segment including the TCP header, must fit in the 65,515-byte IP payload.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each network has a </a:t>
            </a:r>
            <a:r>
              <a:rPr lang="en-US" sz="2400" b="1" dirty="0" smtClean="0"/>
              <a:t>Maximum Transfer Unit, or MTU</a:t>
            </a:r>
            <a:r>
              <a:rPr lang="en-US" sz="2400" dirty="0" smtClean="0"/>
              <a:t> and each segment must fit in the MTU.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basic protocol used by TCP entities is the sliding window protocol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TCP Segment Header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Every segment begins with a fixed-format, 20-byte header.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fixed header may be followed by header options.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After the options, if any, up to 65,535 - 20 - 20 = 65,495 data bytes may follow,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where the first 20 refer to the IP header and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second to the TCP header.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Segments without any data </a:t>
            </a:r>
            <a:r>
              <a:rPr lang="en-US" sz="2400" dirty="0" smtClean="0"/>
              <a:t>are legal and are commonly used for acknowledgements and control messages. </a:t>
            </a:r>
            <a:r>
              <a:rPr lang="en-US" sz="2400" b="1" dirty="0" smtClean="0"/>
              <a:t> 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405973" y="6368748"/>
            <a:ext cx="26162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 smtClean="0"/>
              <a:t>Fig: TCP header </a:t>
            </a:r>
            <a:endParaRPr lang="en-US" sz="2400" dirty="0"/>
          </a:p>
        </p:txBody>
      </p:sp>
      <p:pic>
        <p:nvPicPr>
          <p:cNvPr id="5" name="Picture 5" descr="6-2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050" y="795337"/>
            <a:ext cx="8887960" cy="5513387"/>
          </a:xfrm>
          <a:prstGeom prst="rect">
            <a:avLst/>
          </a:prstGeom>
          <a:noFill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FF0000"/>
                </a:solidFill>
              </a:rPr>
              <a:t>Source port and Destination port </a:t>
            </a:r>
            <a:r>
              <a:rPr lang="en-US" sz="2400" i="1" dirty="0" smtClean="0"/>
              <a:t>fields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identify the local end points of the connection.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 port plus its host's IP address forms a 48-bit unique end point.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source and destination end points together identify the connection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FF0000"/>
                </a:solidFill>
              </a:rPr>
              <a:t>Sequence number and Acknowledgement number</a:t>
            </a:r>
            <a:r>
              <a:rPr lang="en-US" sz="2400" i="1" dirty="0" smtClean="0"/>
              <a:t> fields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perform their usual functions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err="1" smtClean="0"/>
              <a:t>Ack</a:t>
            </a:r>
            <a:r>
              <a:rPr lang="en-US" sz="2400" dirty="0" smtClean="0"/>
              <a:t> no. specifies the next byte expected, not the last byte correctly received.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Both are 32 bits long because every byte of data is numbered in a TCP stream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FF0000"/>
                </a:solidFill>
              </a:rPr>
              <a:t>TCP header length</a:t>
            </a:r>
            <a:r>
              <a:rPr lang="en-US" sz="2400" i="1" dirty="0" smtClean="0"/>
              <a:t>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tells how many 32-bit words are contained in the TCP header.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information is needed because the Options field is of variable length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Technically, this field really indicates the start of the data within the segment, measured in 32-bit words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six 1-bit flags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URG </a:t>
            </a:r>
            <a:r>
              <a:rPr lang="en-US" sz="2400" dirty="0" smtClean="0"/>
              <a:t>bit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set to 1 if the Urgent pointer is in use.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Urgent pointer is used to indicate a byte offset from the current sequence number at which urgent data are to be found.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ACK</a:t>
            </a:r>
            <a:r>
              <a:rPr lang="en-US" sz="2400" dirty="0" smtClean="0"/>
              <a:t> bit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set to 1 to indicate that the Acknowledgement number is valid.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If ACK is 0, the segment does not contain an acknowledgement so the Acknowledgement number field is ignored.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PSH</a:t>
            </a:r>
            <a:r>
              <a:rPr lang="en-US" sz="2400" dirty="0" smtClean="0"/>
              <a:t> bit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indicates </a:t>
            </a:r>
            <a:r>
              <a:rPr lang="en-US" sz="2400" dirty="0" err="1" smtClean="0"/>
              <a:t>PUSHed</a:t>
            </a:r>
            <a:r>
              <a:rPr lang="en-US" sz="2400" dirty="0" smtClean="0"/>
              <a:t> data.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receiver is hereby kindly requested to deliver the data to the application upon arrival and not buffer it until a full buffer has been received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RST</a:t>
            </a:r>
            <a:r>
              <a:rPr lang="en-US" sz="2400" dirty="0" smtClean="0"/>
              <a:t> bit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used to </a:t>
            </a:r>
            <a:r>
              <a:rPr lang="en-US" sz="2400" dirty="0" smtClean="0">
                <a:solidFill>
                  <a:srgbClr val="FF0000"/>
                </a:solidFill>
              </a:rPr>
              <a:t>reset a connection </a:t>
            </a:r>
            <a:r>
              <a:rPr lang="en-US" sz="2400" dirty="0" smtClean="0"/>
              <a:t>that has become confused due to a host crash or some other reason.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also used to </a:t>
            </a:r>
            <a:r>
              <a:rPr lang="en-US" sz="2400" dirty="0" smtClean="0">
                <a:solidFill>
                  <a:srgbClr val="FF0000"/>
                </a:solidFill>
              </a:rPr>
              <a:t>reject an invalid segment </a:t>
            </a:r>
            <a:r>
              <a:rPr lang="en-US" sz="2400" dirty="0" smtClean="0"/>
              <a:t>or </a:t>
            </a:r>
            <a:r>
              <a:rPr lang="en-US" sz="2400" dirty="0" smtClean="0">
                <a:solidFill>
                  <a:srgbClr val="FF0000"/>
                </a:solidFill>
              </a:rPr>
              <a:t>refuse an attempt to open a connection</a:t>
            </a:r>
            <a:r>
              <a:rPr lang="en-US" sz="2400" dirty="0" smtClean="0"/>
              <a:t>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SYN</a:t>
            </a:r>
            <a:r>
              <a:rPr lang="en-US" sz="2400" dirty="0" smtClean="0"/>
              <a:t> bit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used to establish connections.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CONNECTION REQUEST has SYN = 1 and ACK = 0 to indicate that the piggyback acknowledgement field is not in use.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CONNECTION ACCEPTED reply does bear an acknowledgement, so it has SYN = 1 and ACK = 1.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FIN</a:t>
            </a:r>
            <a:r>
              <a:rPr lang="en-US" sz="2400" dirty="0" smtClean="0"/>
              <a:t> bit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used to release a connection.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specifies that the sender has no more data to transmit.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Window size</a:t>
            </a:r>
            <a:r>
              <a:rPr lang="en-US" sz="2400" dirty="0" smtClean="0"/>
              <a:t> field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tells how many bytes may be sent starting at the byte acknowledged.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Flow control in TCP is handled using a variable-sized sliding window which gives additional flexibility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 Window size field of 0 is legal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says that the bytes up to and including Acknowledgement number - 1 have been received,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but that the receiver is currently badly in need of a rest and would like no more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973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receiver can later grant permission to send by transmitting a segment with the same Acknowledgement number and a nonzero Window size field.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Checksum</a:t>
            </a:r>
            <a:r>
              <a:rPr lang="en-US" sz="2400" dirty="0" smtClean="0"/>
              <a:t> field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provided for extra reliability. It checksums the header, the data, and the conceptual </a:t>
            </a:r>
            <a:r>
              <a:rPr lang="en-US" sz="2400" dirty="0" err="1" smtClean="0"/>
              <a:t>pseudoheader</a:t>
            </a:r>
            <a:r>
              <a:rPr lang="en-US" sz="2400" dirty="0" smtClean="0"/>
              <a:t> shown in Fig.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1569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/>
              <a:t>Fig: </a:t>
            </a:r>
            <a:r>
              <a:rPr lang="en-US" sz="2400" b="1" i="1" dirty="0" err="1" smtClean="0"/>
              <a:t>pseudoheader</a:t>
            </a:r>
            <a:r>
              <a:rPr lang="en-US" sz="2400" b="1" i="1" dirty="0" smtClean="0"/>
              <a:t> included in the TCP checksum </a:t>
            </a:r>
            <a:endParaRPr lang="en-US" sz="2400" dirty="0"/>
          </a:p>
        </p:txBody>
      </p:sp>
      <p:pic>
        <p:nvPicPr>
          <p:cNvPr id="7" name="Picture 5" descr="6-3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358" y="3433763"/>
            <a:ext cx="8718033" cy="2650948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performing this computation,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TCP Checksum field is set to zero and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data field is padded out with an additional zero byte if its length is an odd number.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checksum algorithm is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simply to add up all the 16-bit words in one's complement and then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to take the one's complement of the sum. </a:t>
            </a:r>
            <a:endParaRPr lang="en-US" sz="2400" smtClean="0"/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smtClean="0"/>
              <a:t>As </a:t>
            </a:r>
            <a:r>
              <a:rPr lang="en-US" sz="2400" dirty="0" smtClean="0"/>
              <a:t>a consequence, when the receiver performs the calculation on the entire segment, including the Checksum field, the result should be 0.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FF0000"/>
                </a:solidFill>
              </a:rPr>
              <a:t>Options</a:t>
            </a:r>
            <a:r>
              <a:rPr lang="en-US" sz="2400" i="1" dirty="0" smtClean="0"/>
              <a:t> field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provides a way to add extra facilities not covered by the regular header.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most important option is the one that allows each host to </a:t>
            </a:r>
            <a:r>
              <a:rPr lang="en-US" sz="2400" dirty="0" smtClean="0">
                <a:solidFill>
                  <a:srgbClr val="FF0000"/>
                </a:solidFill>
              </a:rPr>
              <a:t>specify the maximum TCP payload </a:t>
            </a:r>
            <a:r>
              <a:rPr lang="en-US" sz="2400" dirty="0" smtClean="0"/>
              <a:t>it is willing to accept.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During connection setup, each side can announce its maximum and see its partner's.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If a host does not use this option, it defaults to a 536-byte payload.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All Internet hosts are required to accept TCP segments of 536 + 20 = 556 bytes.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8441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Window scale option </a:t>
            </a:r>
            <a:r>
              <a:rPr lang="en-US" sz="2400" dirty="0" smtClean="0"/>
              <a:t>was proposed, allowing the sender and receiver to negotiate a window scale factor.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number allows both sides to shift the Window size field up to 14 bits to the left, thus allowing windows of up to 2</a:t>
            </a:r>
            <a:r>
              <a:rPr lang="en-US" sz="2400" baseline="30000" dirty="0" smtClean="0"/>
              <a:t>30 </a:t>
            </a:r>
            <a:r>
              <a:rPr lang="en-US" sz="2400" dirty="0" smtClean="0"/>
              <a:t>bytes.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Most TCP implementations now support this option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Another option proposed and now widely implemented is the </a:t>
            </a:r>
            <a:r>
              <a:rPr lang="en-US" sz="2400" dirty="0" smtClean="0">
                <a:solidFill>
                  <a:srgbClr val="FF0000"/>
                </a:solidFill>
              </a:rPr>
              <a:t>use of the selective repeat </a:t>
            </a:r>
            <a:r>
              <a:rPr lang="en-US" sz="2400" dirty="0" smtClean="0"/>
              <a:t>instead of go back n protocol.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NAKs are introduced to allow the receiver to ask for a specific segment.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After it gets these, it can acknowledge all the buffered data, thus reducing the amount of data retransmitted.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TCP Connection Establishment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Connections are established in TCP by means of the three-way handshake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</a:pPr>
            <a:r>
              <a:rPr lang="en-US" sz="2400" b="1" dirty="0" smtClean="0"/>
              <a:t> </a:t>
            </a:r>
            <a:endParaRPr lang="en-US" sz="2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211669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/>
              <a:t>Fig: (a) TCP connection establishment in the normal case. </a:t>
            </a:r>
          </a:p>
          <a:p>
            <a:r>
              <a:rPr lang="en-US" sz="2000" b="1" i="1" dirty="0" smtClean="0"/>
              <a:t>(b) Call collision. </a:t>
            </a:r>
            <a:endParaRPr lang="en-US" sz="2000" dirty="0"/>
          </a:p>
        </p:txBody>
      </p:sp>
      <p:pic>
        <p:nvPicPr>
          <p:cNvPr id="7" name="Picture 7" descr="6-3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45" y="1980318"/>
            <a:ext cx="8929511" cy="4002793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TCP Connection Release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To release a connection, either party can send a TCP segment with the FIN bit set, which means that it has no more data to transmit.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the FIN is acknowledged, that direction is shut down for new data.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both directions have been shut down, the connection is released.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Normally, four TCP segments are needed to release a connection, one FIN and one ACK for each direction.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However, it is possible for the first ACK and the second FIN to be contained in the same segment, reducing the total count to three.</a:t>
            </a:r>
            <a:r>
              <a:rPr lang="en-US" sz="2400" b="1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TCP Transmission Policy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endParaRPr lang="en-US" sz="2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6955436" y="2479835"/>
            <a:ext cx="2188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Fig: Window management in TCP. </a:t>
            </a:r>
            <a:endParaRPr lang="en-US" sz="2400" dirty="0"/>
          </a:p>
        </p:txBody>
      </p:sp>
      <p:pic>
        <p:nvPicPr>
          <p:cNvPr id="7" name="Picture 5" descr="6-3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724" y="1217966"/>
            <a:ext cx="6419320" cy="5563288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Nagle's algorithm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data come into the sender one byte at a time, just send the first byte and buffer all the rest until the outstanding byte is acknowledged.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Then send all the buffered characters in one TCP segment and start buffering again until they are all acknowledged.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If the user is typing quickly and the network is slow, a substantial number of characters may go in each segment, greatly reducing the bandwidth used.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algorithm additionally allows a new packet to be sent if enough data have trickled in to fill half the window or a maximum segment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Nagle's algorithm is widely used by TCP implementations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Silly window syndrome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problem that can degrade TCP performance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problem occurs when data are passed to the sending TCP entity in large blocks, but an interactive application on the receiving side reads data 1 byte at a time.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Initially, the TCP buffer on the receiving side is full and the sender knows this (i.e., has a window of size 0).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Then the interactive application reads one character from the TCP stream.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action makes the receiving TCP to send a window update to the sender saying it to send 1 byte.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sender sends 1 byte.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buffer is now full, so the receiver acknowledges the 1-byte segment but sets the window to 0.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behavior can go on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Silly window syndrome</a:t>
            </a:r>
          </a:p>
        </p:txBody>
      </p:sp>
      <p:pic>
        <p:nvPicPr>
          <p:cNvPr id="6" name="Picture 5" descr="6-3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5274" y="1189038"/>
            <a:ext cx="8323426" cy="5053718"/>
          </a:xfrm>
          <a:prstGeom prst="rect">
            <a:avLst/>
          </a:prstGeom>
          <a:noFill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Clark's solution is to prevent the receiver from sending a window update for 1 byte.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receiver must wait until it can handle the maximum segment size it advertised when the connection was established or until its buffer is half empty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Nagle's algorithm and Clark's solution to the silly window syndrome are complementary.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Nagle was trying to solve the problem caused by the sending application delivering data to TCP a byte at a time.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Clark was trying to solve the problem of the receiving application taking the data up from TCP a byte at a time.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Both solutions are valid and can work together.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Goal is for the sender not to send small segments and the receiver not to ask for them.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TCP Congestion Control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the load offered to any network is more than it can handle, congestion builds up.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each sender maintains two windows: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window the receiver has granted and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 second window, the </a:t>
            </a:r>
            <a:r>
              <a:rPr lang="en-US" sz="2400" b="1" dirty="0" smtClean="0"/>
              <a:t>congestion window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Each reflects the number of bytes the sender may transmit.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number of bytes that may be sent is the minimum of the two windows.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a connection is established, the sender initializes the congestion window to the size of the maximum segment in use on the connection.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then sends one maximum segment.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If this segment is acknowledged before the timer goes off, it sends two segments.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As each of these segments is acknowledged, the congestion window is increased by one maximum segment size.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the congestion window is n segments, if all n are acknowledged on time, the congestion window is increased by the byte count corresponding to n segments.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 effect, each burst acknowledged doubles the congestion window.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congestion window keeps growing exponentially until either a timeout occurs or the receiver's window is reached.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algorithm is called </a:t>
            </a:r>
            <a:r>
              <a:rPr lang="en-US" sz="2400" b="1" dirty="0" smtClean="0"/>
              <a:t>slow start, </a:t>
            </a:r>
            <a:r>
              <a:rPr lang="en-US" sz="2400" dirty="0" smtClean="0"/>
              <a:t>but it is not slow at all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is exponential.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All TCP implementations are required to support it.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Internet congestion control algorithm: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uses a third parameter, the </a:t>
            </a:r>
            <a:r>
              <a:rPr lang="en-US" sz="2400" b="1" dirty="0" smtClean="0"/>
              <a:t>threshold</a:t>
            </a:r>
            <a:r>
              <a:rPr lang="en-US" sz="2400" dirty="0" smtClean="0"/>
              <a:t>, initially 64 KB, in addition to the receiver and congestion windows.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a timeout occurs, the threshold is set to half of the current congestion window, and the congestion window is reset to one maximum segment.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Slow start is then used to determine what the network can handle, except that exponential growth stops when the threshold is hit.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TCP Timer Management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TCP uses multiple timers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b="1" dirty="0" smtClean="0"/>
              <a:t>retransmission timer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a segment is sent, a retransmission timer is started.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If the segment is acknowledged before the timer expires, the timer is stopped.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If, on the other hand, the timer goes off before the acknowledgement comes in, the segment is retransmitted and the timer started again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</a:pPr>
            <a:endParaRPr lang="en-US" sz="2400" b="1" dirty="0" smtClean="0"/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</a:pPr>
            <a:endParaRPr lang="en-US" sz="2400" dirty="0" smtClean="0"/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</a:pPr>
            <a:r>
              <a:rPr lang="en-US" sz="2400" dirty="0" smtClean="0"/>
              <a:t>RTT - Round Trip Time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</a:pPr>
            <a:r>
              <a:rPr lang="en-US" sz="2400" dirty="0" smtClean="0"/>
              <a:t>D  - Standard Deviation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2919" y="4996956"/>
            <a:ext cx="4027067" cy="459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One </a:t>
            </a:r>
            <a:r>
              <a:rPr lang="en-US" sz="2400" dirty="0" smtClean="0">
                <a:solidFill>
                  <a:srgbClr val="FF0000"/>
                </a:solidFill>
              </a:rPr>
              <a:t>problem</a:t>
            </a:r>
            <a:r>
              <a:rPr lang="en-US" sz="2400" dirty="0" smtClean="0"/>
              <a:t> that occurs with the dynamic estimation of RTT is what to do when a segment times out and is sent again.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the acknowledgement comes in, it is unclear whether the acknowledgement refers to the first transmission or a later one.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Solution is called </a:t>
            </a:r>
            <a:r>
              <a:rPr lang="en-US" sz="2400" b="1" dirty="0" err="1" smtClean="0"/>
              <a:t>Karn's</a:t>
            </a:r>
            <a:r>
              <a:rPr lang="en-US" sz="2400" b="1" dirty="0" smtClean="0"/>
              <a:t> algorithm.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do not update RTT on any segments that have been retransmitted.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Instead, the timeout is doubled on each failure until the segments get through the first time.</a:t>
            </a:r>
            <a:endParaRPr lang="en-US" sz="2400" b="1" dirty="0" smtClean="0"/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Most TCP implementations use 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 startAt="2"/>
            </a:pPr>
            <a:r>
              <a:rPr lang="en-US" sz="2400" b="1" dirty="0" smtClean="0"/>
              <a:t>persistence timer: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designed to prevent the following deadlock.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receiver sends an acknowledgement with a window size of 0, telling the sender to wait.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Later, the receiver updates the window, but the packet with the update is lost.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Now both the sender and the receiver are waiting for each other to do something.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the persistence timer goes off, the sender transmits a probe to the receiver.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The response to the probe gives the window size.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If it is still zero, the persistence timer is set again and the cycle repeats.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If it is nonzero, data can now be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 startAt="3"/>
            </a:pPr>
            <a:r>
              <a:rPr lang="en-US" sz="2400" b="1" dirty="0" err="1" smtClean="0"/>
              <a:t>keepalive</a:t>
            </a:r>
            <a:r>
              <a:rPr lang="en-US" sz="2400" b="1" dirty="0" smtClean="0"/>
              <a:t> timer: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When a connection has been idle for a long time, the </a:t>
            </a:r>
            <a:r>
              <a:rPr lang="en-US" sz="2400" dirty="0" err="1" smtClean="0"/>
              <a:t>keepalive</a:t>
            </a:r>
            <a:r>
              <a:rPr lang="en-US" sz="2400" dirty="0" smtClean="0"/>
              <a:t> timer may go off to cause one side to check whether the other side is still there.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If it fails to respond, the connection is terminated.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This feature is controversial because it adds overhead and may terminate an otherwise healthy connection due to a temporary network partition.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 startAt="4"/>
            </a:pPr>
            <a:r>
              <a:rPr lang="en-US" sz="2400" dirty="0" smtClean="0"/>
              <a:t>Timer used in the </a:t>
            </a:r>
            <a:r>
              <a:rPr lang="en-US" sz="2400" b="1" dirty="0" smtClean="0"/>
              <a:t>TIMED WAIT </a:t>
            </a:r>
            <a:r>
              <a:rPr lang="en-US" sz="2400" dirty="0" smtClean="0"/>
              <a:t>state while closing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 smtClean="0"/>
              <a:t>It runs for twice the maximum packet lifetime to make sure that when a connection is closed, all packets created by it have died off.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60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Internet Transport Protocols: TCP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04539"/>
            <a:ext cx="9144000" cy="578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 smtClean="0"/>
              <a:t>Transactional TCP (T/TCP) </a:t>
            </a:r>
            <a:r>
              <a:rPr lang="en-US" sz="2400" dirty="0" smtClean="0"/>
              <a:t>handles client-server interactions with a reduced number of packets </a:t>
            </a:r>
            <a:endParaRPr lang="en-US" sz="2400" b="1" dirty="0" smtClean="0"/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endParaRPr lang="en-US" sz="2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376559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/>
              <a:t>Fig: (a) RPC using normal TCP. (b) RPC using T/TCP. </a:t>
            </a:r>
            <a:endParaRPr lang="en-US" sz="2400" dirty="0"/>
          </a:p>
        </p:txBody>
      </p:sp>
      <p:pic>
        <p:nvPicPr>
          <p:cNvPr id="7" name="Picture 5" descr="6-4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890" y="1546225"/>
            <a:ext cx="8884354" cy="4798132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61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Tannenbaum</Template>
  <TotalTime>6513</TotalTime>
  <Words>4658</Words>
  <Application>Microsoft Office PowerPoint</Application>
  <PresentationFormat>On-screen Show (4:3)</PresentationFormat>
  <Paragraphs>551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Times New Roman</vt:lpstr>
      <vt:lpstr>Wingdings</vt:lpstr>
      <vt:lpstr>Tannenbaum</vt:lpstr>
      <vt:lpstr>PowerPoint Presentation</vt:lpstr>
      <vt:lpstr>Introduction</vt:lpstr>
      <vt:lpstr>Transport service</vt:lpstr>
      <vt:lpstr>Transport Service Primitives</vt:lpstr>
      <vt:lpstr>Transport Service Primitives</vt:lpstr>
      <vt:lpstr>Transport Service Primitives</vt:lpstr>
      <vt:lpstr>Elements of Transport Protocol</vt:lpstr>
      <vt:lpstr>Elements of Transport Protocol</vt:lpstr>
      <vt:lpstr>Addressing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UDP 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  <vt:lpstr>Internet Transport Protocols: TCP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Network Layer</dc:title>
  <dc:creator>Steve Armstrong</dc:creator>
  <cp:lastModifiedBy>ASUS</cp:lastModifiedBy>
  <cp:revision>624</cp:revision>
  <dcterms:created xsi:type="dcterms:W3CDTF">2002-07-22T23:52:29Z</dcterms:created>
  <dcterms:modified xsi:type="dcterms:W3CDTF">2024-10-22T10:38:43Z</dcterms:modified>
</cp:coreProperties>
</file>