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Arim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gQZ/SGS/AYWjZ1SiKoCwOgsGdY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Arimo-bold.fntdata"/><Relationship Id="rId21" Type="http://schemas.openxmlformats.org/officeDocument/2006/relationships/slide" Target="slides/slide17.xml"/><Relationship Id="rId43" Type="http://schemas.openxmlformats.org/officeDocument/2006/relationships/font" Target="fonts/Arimo-regular.fntdata"/><Relationship Id="rId24" Type="http://schemas.openxmlformats.org/officeDocument/2006/relationships/slide" Target="slides/slide20.xml"/><Relationship Id="rId46" Type="http://schemas.openxmlformats.org/officeDocument/2006/relationships/font" Target="fonts/Arimo-boldItalic.fntdata"/><Relationship Id="rId23" Type="http://schemas.openxmlformats.org/officeDocument/2006/relationships/slide" Target="slides/slide19.xml"/><Relationship Id="rId45" Type="http://schemas.openxmlformats.org/officeDocument/2006/relationships/font" Target="fonts/Arim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gatevidyalay.com/distance-vector-routing-routing-algorithms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Distance Vector  Routing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Prepared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Divya K 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Adi Shankara Institute of Engineering &amp; Technology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Kalady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0" y="0"/>
            <a:ext cx="9144000" cy="632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Dynamic routing algorithm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1524000" y="710692"/>
            <a:ext cx="9144000" cy="588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Two dynamic algorithms </a:t>
            </a:r>
            <a:r>
              <a:rPr lang="en-US"/>
              <a:t>are the most popular</a:t>
            </a:r>
            <a:endParaRPr/>
          </a:p>
          <a:p>
            <a:pPr indent="-457200" lvl="1" marL="914400" rtl="0" algn="just">
              <a:lnSpc>
                <a:spcPct val="2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Distance vector routing and </a:t>
            </a:r>
            <a:endParaRPr/>
          </a:p>
          <a:p>
            <a:pPr indent="-457200" lvl="1" marL="914400" rtl="0" algn="just">
              <a:lnSpc>
                <a:spcPct val="2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Link state routing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1524000" y="0"/>
            <a:ext cx="9144000" cy="632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Distance Vector Routing (DVR) 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1524000" y="710692"/>
            <a:ext cx="9144000" cy="588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Algorithms operate by having each router maintain a table (i.e, a vector) giving the best known distance to each destination and which line to use to get there.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tables are updated by exchanging information with the </a:t>
            </a:r>
            <a:r>
              <a:rPr lang="en-US">
                <a:solidFill>
                  <a:srgbClr val="FF0000"/>
                </a:solidFill>
              </a:rPr>
              <a:t>neighbors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names: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distributed </a:t>
            </a:r>
            <a:r>
              <a:rPr b="1" lang="en-US">
                <a:solidFill>
                  <a:schemeClr val="accent2"/>
                </a:solidFill>
              </a:rPr>
              <a:t>Bellman-Ford routing algorithm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b="1" lang="en-US">
                <a:solidFill>
                  <a:schemeClr val="accent2"/>
                </a:solidFill>
              </a:rPr>
              <a:t>Ford-Fulkerson algorithm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original ARPANET routing algorithm used in Internet under the name </a:t>
            </a:r>
            <a:r>
              <a:rPr b="1" lang="en-US"/>
              <a:t>RIP (Routing Information Protocol)</a:t>
            </a:r>
            <a:endParaRPr/>
          </a:p>
        </p:txBody>
      </p:sp>
      <p:sp>
        <p:nvSpPr>
          <p:cNvPr id="99" name="Google Shape;9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1524000" y="0"/>
            <a:ext cx="9144000" cy="632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Routing Algorithms - DVR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1524000" y="710692"/>
            <a:ext cx="9144000" cy="588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DVR, each router maintains a routing table containing one entry for each router in the subnet.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This entry contains two parts: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the preferred outgoing line to use for that destination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an estimate of the time or distance to that destination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metric used might be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number of hops,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delay in milliseconds, 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total number of packets queued along the path, or</a:t>
            </a:r>
            <a:endParaRPr/>
          </a:p>
          <a:p>
            <a:pPr indent="-228600" lvl="1" marL="6858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something similar</a:t>
            </a:r>
            <a:endParaRPr/>
          </a:p>
        </p:txBody>
      </p:sp>
      <p:sp>
        <p:nvSpPr>
          <p:cNvPr id="106" name="Google Shape;10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Distance vector Routing 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starting assumption for distance vector routing is that  each node knows the cost  of the link to each of its directly connected neighbours.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Distance to other nodes  are assigned to an infinite cost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838200" y="1546152"/>
            <a:ext cx="12909175" cy="49102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1400" lIns="0" spcFirstLastPara="1" rIns="0" wrap="square" tIns="3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Step-01:</a:t>
            </a:r>
            <a:endParaRPr b="1" i="0" sz="2400" u="none" cap="none" strike="noStrike">
              <a:solidFill>
                <a:srgbClr val="3030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Each router prepares its routing table. By their local knowledge. each router knows about-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All the routers present in the network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Distance to its neighboring routers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i="0" sz="2400" u="none" cap="none" strike="noStrike">
              <a:solidFill>
                <a:srgbClr val="3030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Step-02:</a:t>
            </a:r>
            <a:endParaRPr b="1" i="0" sz="2400" u="none" cap="none" strike="noStrike">
              <a:solidFill>
                <a:srgbClr val="3030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Each router exchanges its distance vector with its neighboring routers.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Each router prepares a new routing table using the distance vectors it has obtained from its neighbors.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This step is repeated for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(n-2) times </a:t>
            </a: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if there are n routers in the network.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03030"/>
                </a:solidFill>
                <a:latin typeface="Calibri"/>
                <a:ea typeface="Calibri"/>
                <a:cs typeface="Calibri"/>
                <a:sym typeface="Calibri"/>
              </a:rPr>
              <a:t>After this, routing tables converge / become stable.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838200" y="365125"/>
            <a:ext cx="10515600" cy="85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u="sng"/>
              <a:t>Distance Vector Routing Example-</a:t>
            </a:r>
            <a:br>
              <a:rPr b="1" lang="en-US"/>
            </a:b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838200" y="1089212"/>
            <a:ext cx="10515600" cy="508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Consider-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a network consisting of 4 routers.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weights are mentioned on the edges.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Weights could be distances or costs or delays.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376" y="3429001"/>
            <a:ext cx="3861827" cy="2984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Step-01:</a:t>
            </a:r>
            <a:br>
              <a:rPr b="1" lang="en-US"/>
            </a:br>
            <a:r>
              <a:rPr lang="en-US" sz="2700"/>
              <a:t>Each router prepares its routing table using its local knowledge.</a:t>
            </a:r>
            <a:endParaRPr/>
          </a:p>
        </p:txBody>
      </p:sp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u="sng"/>
              <a:t>At Router A-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5976" y="2720227"/>
            <a:ext cx="5968215" cy="3803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25" y="0"/>
            <a:ext cx="4757457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325250"/>
            <a:ext cx="5562600" cy="462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582" y="766482"/>
            <a:ext cx="7844193" cy="522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 u="sng"/>
            </a:br>
            <a:r>
              <a:rPr b="1" lang="en-US" u="sng"/>
              <a:t>Step-02:</a:t>
            </a:r>
            <a:br>
              <a:rPr b="1" lang="en-US"/>
            </a:br>
            <a:r>
              <a:rPr lang="en-US"/>
              <a:t> </a:t>
            </a:r>
            <a:br>
              <a:rPr lang="en-US"/>
            </a:br>
            <a:endParaRPr/>
          </a:p>
        </p:txBody>
      </p:sp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838200" y="1425388"/>
            <a:ext cx="10515600" cy="475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router exchanges its distance vector obtained in Step-01 with its neighbors.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exchanging the distance vectors, each router prepares a new routing table by updating the distance based on the following equation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Let dx(y) be the cost of the least-cost path from node x to node 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least costs are related by Bellman-Ford equation,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800">
                <a:solidFill>
                  <a:srgbClr val="FF0000"/>
                </a:solidFill>
              </a:rPr>
              <a:t>dx(y) = minv{c(x,v) + dv(y)}</a:t>
            </a:r>
            <a:endParaRPr sz="28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where,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r>
              <a:rPr i="1" lang="en-US"/>
              <a:t>dx</a:t>
            </a:r>
            <a:r>
              <a:rPr lang="en-US"/>
              <a:t>(</a:t>
            </a:r>
            <a:r>
              <a:rPr i="1" lang="en-US"/>
              <a:t>y</a:t>
            </a:r>
            <a:r>
              <a:rPr lang="en-US"/>
              <a:t>)= The least distance from x to y</a:t>
            </a:r>
            <a:br>
              <a:rPr lang="en-US"/>
            </a:b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,</a:t>
            </a:r>
            <a:r>
              <a:rPr i="1" lang="en-US"/>
              <a:t>v</a:t>
            </a:r>
            <a:r>
              <a:rPr lang="en-US"/>
              <a:t>)= Node x's cost from each of its neighbour v</a:t>
            </a:r>
            <a:br>
              <a:rPr lang="en-US"/>
            </a:br>
            <a:r>
              <a:rPr i="1" lang="en-US"/>
              <a:t>dv</a:t>
            </a:r>
            <a:r>
              <a:rPr lang="en-US"/>
              <a:t>(</a:t>
            </a:r>
            <a:r>
              <a:rPr i="1" lang="en-US"/>
              <a:t>y</a:t>
            </a:r>
            <a:r>
              <a:rPr lang="en-US"/>
              <a:t>)= Distance from neighbor to node y</a:t>
            </a:r>
            <a:br>
              <a:rPr lang="en-US"/>
            </a:br>
            <a:r>
              <a:rPr i="1" lang="en-US"/>
              <a:t>minv</a:t>
            </a:r>
            <a:r>
              <a:rPr lang="en-US"/>
              <a:t>= selecting shortest distance.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106" y="403412"/>
            <a:ext cx="9762565" cy="567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Cost of reaching destination B from router A = min { 2+0 , 1+7 } = 2 via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Cost of reaching destination C from router A = min { 2+3 , 1+11 } = 5 via B.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Cost of reaching destination D from router A = min { 2+7 , 1+0 } = 1 via 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115" y="1113303"/>
            <a:ext cx="9212239" cy="489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612" y="322729"/>
            <a:ext cx="8616763" cy="603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367" y="1378425"/>
            <a:ext cx="8693624" cy="51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>
            <p:ph idx="4294967295" type="title"/>
          </p:nvPr>
        </p:nvSpPr>
        <p:spPr>
          <a:xfrm>
            <a:off x="0" y="481013"/>
            <a:ext cx="6673850" cy="109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3600"/>
              <a:buFont typeface="Arimo"/>
              <a:buNone/>
            </a:pPr>
            <a:r>
              <a:rPr b="0" i="0" lang="en-US" sz="3600" u="none" cap="none" strike="noStrike">
                <a:solidFill>
                  <a:srgbClr val="303030"/>
                </a:solidFill>
                <a:latin typeface="Arimo"/>
                <a:ea typeface="Arimo"/>
                <a:cs typeface="Arimo"/>
                <a:sym typeface="Arimo"/>
              </a:rPr>
              <a:t>New routing table at router B is-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mo"/>
              <a:buNone/>
            </a:pPr>
            <a:br>
              <a:rPr b="0" i="0" lang="en-US" sz="1100" u="none" cap="none" strike="noStrike">
                <a:solidFill>
                  <a:srgbClr val="303030"/>
                </a:solidFill>
                <a:latin typeface="Arimo"/>
                <a:ea typeface="Arimo"/>
                <a:cs typeface="Arimo"/>
                <a:sym typeface="Arimo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810" y="1090612"/>
            <a:ext cx="10563366" cy="541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354" y="699247"/>
            <a:ext cx="8240245" cy="5069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059" y="1166812"/>
            <a:ext cx="10300447" cy="543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9517" y="791570"/>
            <a:ext cx="8607121" cy="517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Step-03:</a:t>
            </a:r>
            <a:br>
              <a:rPr b="1" lang="en-US"/>
            </a:br>
            <a:endParaRPr/>
          </a:p>
        </p:txBody>
      </p:sp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router exchanges its distance vector obtained in Step-02 with its neighboring routers.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 exchanging the distance vectors, each router prepares a new routing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846" y="704850"/>
            <a:ext cx="9048464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646" y="627797"/>
            <a:ext cx="8308275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78" y="909637"/>
            <a:ext cx="10085695" cy="5832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969" y="736980"/>
            <a:ext cx="8407021" cy="5240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583" y="747712"/>
            <a:ext cx="10235820" cy="611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331" y="833718"/>
            <a:ext cx="9867332" cy="496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878" y="800100"/>
            <a:ext cx="10153934" cy="5928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53" y="914400"/>
            <a:ext cx="9117105" cy="4935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Important Notes-</a:t>
            </a:r>
            <a:br>
              <a:rPr b="1" lang="en-US"/>
            </a:br>
            <a:endParaRPr/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Distance Vector Routing,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distance vectors are exchanged.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“Next hop”values are not exchanged.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While preparing a new routing table-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router takes into consideration only the distance vectors it has obtained from its neighboring routers.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does not take into consideration its old routing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algorithm is called so because-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involves exchanging of distance vectors between the routers.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Distance vector is nothing but an array of distance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Routing tables are prepared total (n-1) times if there are n routers in the given network.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because shortest path between any 2 nodes contains at most n-1 edges if there are n nodes in the graph.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Distance Vector Routing suffers from count to infinity problem.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more details: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https://www.gatevidyalay.com/distance-vector-routing-routing-algorithms/</a:t>
            </a: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Count to infinity problem</a:t>
            </a:r>
            <a:endParaRPr/>
          </a:p>
        </p:txBody>
      </p:sp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main issue with Distance Vector Routing (DVR) protocols is Routing  Loops which causes Count to Infinity Problem.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Routing loops usually occur when any interface goes down or two-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routers send updates at the same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diagram shown below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402" y="4523815"/>
            <a:ext cx="77819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Count to infinity problem</a:t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the figure ,B will know that it can get to C at a cost of 1, and A will know that it  can get to C via B at a cost of 2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 link between B and C is disconnected, then B will know that it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can no longer get to C via that link and will update the distance as infinity.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Before it can send any updates it’s possible that it will receive an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update from A which will be advertising that it can get to C at a cost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of 2.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68" name="Google Shape;2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941" y="2724944"/>
            <a:ext cx="75723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Count to infinity problem</a:t>
            </a:r>
            <a:endParaRPr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 can get to A at a cost of 1, so it will update a route to C via A at 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cost of 3.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will then receive updates from B later and update its cost to 4.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They will then go on feeding each other bad information toward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infinity which is called as Count to Infinity problem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 for Count to Infinity problem: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Route Poisoning: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Split horizon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0" name="Google Shape;28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13" y="559558"/>
            <a:ext cx="9697800" cy="4922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ANS: Going via B gives (11, 6, 14, 18, 12, 8).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Going via D gives (19, 15, 9, 3, 9, 10).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Going via E gives (12, 11, 8, 14, 5, 9).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Taking the minimum for each destination except C gives (11, 6, 0, 3, 5, 8).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outgoing lines are (B, B, -, D, E, B).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2" name="Google Shape;292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9344025" cy="344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8" name="Google Shape;298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45" y="365125"/>
            <a:ext cx="79438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Going via B gives (14, 9, 17, 21, 15, 11) Going via D gives (22, 18, 12, 6, 15, 16) Going via E gives (10, 9, 6, 12, 3, 7) Taking the minimum for each destination except F gives (10, 9, 6, 6, 3, -) The outgoing lines are (E, B, E, D, E, -)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2022-11-20T14:35:58Z</dcterms:created>
  <dc:creator>csstaff</dc:creator>
</cp:coreProperties>
</file>