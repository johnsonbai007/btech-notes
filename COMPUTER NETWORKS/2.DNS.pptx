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gs8AY7N5C/OGaM+rXU/TLdTRcb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4732728dd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4732728dd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4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atevidyalay.com/ip-address-classes-of-ip-address-type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4732728dd5_1_0"/>
          <p:cNvSpPr txBox="1"/>
          <p:nvPr>
            <p:ph type="ctrTitle"/>
          </p:nvPr>
        </p:nvSpPr>
        <p:spPr>
          <a:xfrm>
            <a:off x="914400" y="2130426"/>
            <a:ext cx="10363200" cy="147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Domain Name System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24732728dd5_1_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Prepared by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Divya K 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Adi Shankara Institute of Engineering &amp; Technology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Kalady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Domain Name System</a:t>
            </a:r>
            <a:endParaRPr/>
          </a:p>
        </p:txBody>
      </p:sp>
      <p:sp>
        <p:nvSpPr>
          <p:cNvPr id="91" name="Google Shape;91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DNS is a host name to IP Address translation service.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converts the names we type in our web browser address bar to the IP Address of web servers hosting those sites.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helps to resolve the domain  name to numeric address.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Domain names are alphanumeric names for IP addresses e.g., neon.cs.virginia.edu, www.google.com, ietf.org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For eg.Consider the following translation: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www.google.com = 209.85.225.104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Need for DNS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IP Addresses are a complex series of numbers.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So, it is difficult to remember IP Addresses directly while it is easy to remember names.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 </a:t>
            </a:r>
            <a:r>
              <a:rPr b="1" lang="en-US" u="sng">
                <a:solidFill>
                  <a:schemeClr val="hlink"/>
                </a:solidFill>
                <a:hlinkClick r:id="rId3"/>
              </a:rPr>
              <a:t>IP Addresses</a:t>
            </a:r>
            <a:r>
              <a:rPr lang="en-US"/>
              <a:t> are not static and may change dynamically.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So, a mapping is required which maps the domain names to the IP Addresses of their web servers.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HISTORY OF DNS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In the beginning, there was the hosts.txt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– A file containing the names and addresses of all hosts in the network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– Problems: maintainability, size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with increase in number of hosts of internet, the size of host file also increased.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resulted in increased traffic on downloading this file.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 solve this problem the DNS system was introduced.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u="sng"/>
              <a:t>DNS Resolution</a:t>
            </a:r>
            <a:br>
              <a:rPr b="1" lang="en-US"/>
            </a:b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DNS Resolution is a process of resolving a domain name onto an IP Address.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2582864"/>
            <a:ext cx="6143625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609600" y="274638"/>
            <a:ext cx="10972800" cy="868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The steps involved in DNS Resolution  </a:t>
            </a:r>
            <a:br>
              <a:rPr lang="en-US"/>
            </a:br>
            <a:endParaRPr/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609600" y="1066801"/>
            <a:ext cx="10972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Step-01:</a:t>
            </a:r>
            <a:endParaRPr b="1"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 user program sends a name query to a library procedure called the resolver. 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Step-02:</a:t>
            </a:r>
            <a:endParaRPr b="1"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Resolver looks up the local domain name cache for a match.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a match is found, it sends the corresponding IP Address back.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no match is found, it sends a query to the local DNS server.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</a:t>
            </a:r>
            <a:r>
              <a:rPr b="1" lang="en-US" u="sng"/>
              <a:t>Step-03:</a:t>
            </a:r>
            <a:endParaRPr b="1"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DNS server looks up the name.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a match is found, it returns the corresponding IP Address to the resolver.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If no match is found, the local DNS server sends a query to a higher level DNS server.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This process is continued until a result is returned. 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Step-04:</a:t>
            </a:r>
            <a:endParaRPr b="1"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 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After receiving a response, the DNS client returns the resolution result to the application.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Domain Name System Architecture</a:t>
            </a:r>
            <a:br>
              <a:rPr lang="en-US"/>
            </a:br>
            <a:endParaRPr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Domain name system comprises of 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/>
              <a:t>Domain Names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/>
              <a:t> Domain Name Space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b="1" lang="en-US"/>
              <a:t> Name Server</a:t>
            </a:r>
            <a:r>
              <a:rPr lang="en-US"/>
              <a:t> 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Domain Names</a:t>
            </a:r>
            <a:br>
              <a:rPr lang="en-US"/>
            </a:b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Domain Name is a symbolic string associated with an IP address.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There are several domain names available; some of them are generic such as </a:t>
            </a:r>
            <a:r>
              <a:rPr b="1" lang="en-US"/>
              <a:t>com, edu, gov, net</a:t>
            </a:r>
            <a:r>
              <a:rPr lang="en-US"/>
              <a:t> etc, while some country level domain names such as </a:t>
            </a:r>
            <a:r>
              <a:rPr b="1" lang="en-US"/>
              <a:t>au, in, za, us</a:t>
            </a:r>
            <a:r>
              <a:rPr lang="en-US"/>
              <a:t>etc.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Domain Namespace</a:t>
            </a:r>
            <a:br>
              <a:rPr lang="en-US"/>
            </a:b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The naming system on which DNS is based is a hierarchical and logical tree structure called the </a:t>
            </a:r>
            <a:r>
              <a:rPr i="1" lang="en-US"/>
              <a:t>domain namespace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this design the names are defined in an inverted-tree structure with the root at the top.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The tree can have only 128 levels: level 0 (root) to level 127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the Internet, the domain name space (tree) is divided into two different sections: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 generic domains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 countrydomains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066800"/>
            <a:ext cx="84582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457201"/>
            <a:ext cx="8077200" cy="5867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0"/>
            <a:ext cx="8305800" cy="66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Name Servers</a:t>
            </a:r>
            <a:endParaRPr/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Contain the entire DNS database and respond to all queries about it.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In practice, this server would be so overloaded as to be useless.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Furthermore, if it ever went down, the entire Internet would be crippled.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To avoid the problems associated with having only a single source of information, the DNS name space is divided into nonoverlapping   </a:t>
            </a:r>
            <a:r>
              <a:rPr b="1" lang="en-US"/>
              <a:t>zones. </a:t>
            </a:r>
            <a:endParaRPr b="1"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server maintains a database called zone file for every zone. </a:t>
            </a:r>
            <a:endParaRPr b="1"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One possible </a:t>
            </a:r>
            <a:r>
              <a:rPr lang="en-US"/>
              <a:t>way to divide the name space of  is shown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circled zone contains some part of the tree.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609600"/>
            <a:ext cx="10820400" cy="548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Each zone is also associated with one or more name servers.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These are hosts that hold the database for the zone.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Normally, a zone will have one </a:t>
            </a:r>
            <a:r>
              <a:rPr lang="en-US" sz="2800">
                <a:solidFill>
                  <a:srgbClr val="FF0000"/>
                </a:solidFill>
              </a:rPr>
              <a:t>primary name server, </a:t>
            </a:r>
            <a:r>
              <a:rPr lang="en-US" sz="2800"/>
              <a:t>which gets its information from a file on its disk, and one or more </a:t>
            </a:r>
            <a:r>
              <a:rPr lang="en-US" sz="2800">
                <a:solidFill>
                  <a:srgbClr val="FF0000"/>
                </a:solidFill>
              </a:rPr>
              <a:t>secondary name servers,</a:t>
            </a:r>
            <a:r>
              <a:rPr lang="en-US" sz="2800"/>
              <a:t> which get their information from the primary name server.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To improve reliability, some of the name servers can be located outside the zone.</a:t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name servers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Local 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Root 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Top level domain NS(TLD 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Authoritative 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 Application Layer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Local Name Server</a:t>
            </a:r>
            <a:endParaRPr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when host makes DNS query, query is sent to its local DNS server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It is closer to client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acts as proxy, forwards query into hierarchy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does not strictly belong to hierarchy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DNS: Root name servers</a:t>
            </a:r>
            <a:endParaRPr/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contacted by local name server that cannot resolve name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root name server: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contacts authoritative name server if name mapping not known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gets mapping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returns mapping to local name server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There are  13 root name servers worldwide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 Application Layer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TLD and Authoritative Servers</a:t>
            </a:r>
            <a:endParaRPr/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2057400" y="1600200"/>
            <a:ext cx="815975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Top-level domain (TLD) servers: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 responsible for com, org, net, edu, etc, and all top-level country domains uk, fr, ca, jp.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About 200 TLD in internet</a:t>
            </a:r>
            <a:endParaRPr/>
          </a:p>
          <a:p>
            <a:pPr indent="-15494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US">
                <a:solidFill>
                  <a:srgbClr val="FF0000"/>
                </a:solidFill>
              </a:rPr>
              <a:t>Authoritative DNS servers: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Can provide an authoritative answer to a DNS query not just a cached answer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organization’s DNS servers, providing authoritative hostname to IP mappings for organization’s servers (e.g., Web, mail).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can be maintained by organization or service provider</a:t>
            </a:r>
            <a:endParaRPr/>
          </a:p>
          <a:p>
            <a:pPr indent="-121284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21284" lvl="1" marL="742950" rtl="0" algn="l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Dns resource record</a:t>
            </a:r>
            <a:endParaRPr/>
          </a:p>
        </p:txBody>
      </p:sp>
      <p:sp>
        <p:nvSpPr>
          <p:cNvPr id="200" name="Google Shape;200;p1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Domain Resource Records</a:t>
            </a:r>
            <a:br>
              <a:rPr b="1" lang="en-US"/>
            </a:br>
            <a:endParaRPr/>
          </a:p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609600" y="1295401"/>
            <a:ext cx="10058400" cy="5410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70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DNS data is stored in the database in the form of resource records (RR).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Every domain, whether it is a single host or a top-level domain, can have a set of </a:t>
            </a:r>
            <a:r>
              <a:rPr b="1" lang="en-US"/>
              <a:t>resource records associated with it. 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For </a:t>
            </a:r>
            <a:r>
              <a:rPr lang="en-US"/>
              <a:t>a single host, the most common resource record is just its IP address, but many other kinds of resource records also exist.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When a resolver gives a domain name to DNS, what it gets back are the resource records associated with that  name. 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Thus, the primary function of </a:t>
            </a:r>
            <a:r>
              <a:rPr lang="en-US">
                <a:solidFill>
                  <a:srgbClr val="FF0000"/>
                </a:solidFill>
              </a:rPr>
              <a:t>DNS is to map domain names onto resource records.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format of RR</a:t>
            </a:r>
            <a:br>
              <a:rPr lang="en-US"/>
            </a:br>
            <a:endParaRPr/>
          </a:p>
        </p:txBody>
      </p:sp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 resource record is a five-tuple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format of RR:</a:t>
            </a:r>
            <a:endParaRPr/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2800">
                <a:solidFill>
                  <a:srgbClr val="FF0000"/>
                </a:solidFill>
              </a:rPr>
              <a:t>Domain name       </a:t>
            </a:r>
            <a:r>
              <a:rPr lang="en-US" sz="2800">
                <a:solidFill>
                  <a:schemeClr val="dk2"/>
                </a:solidFill>
              </a:rPr>
              <a:t>Time to live  </a:t>
            </a:r>
            <a:r>
              <a:rPr lang="en-US" sz="2800">
                <a:solidFill>
                  <a:srgbClr val="4F6128"/>
                </a:solidFill>
              </a:rPr>
              <a:t>Class</a:t>
            </a:r>
            <a:r>
              <a:rPr lang="en-US" sz="2800"/>
              <a:t> 	</a:t>
            </a:r>
            <a:r>
              <a:rPr lang="en-US" sz="2800">
                <a:solidFill>
                  <a:srgbClr val="FF0000"/>
                </a:solidFill>
              </a:rPr>
              <a:t>Type</a:t>
            </a:r>
            <a:r>
              <a:rPr lang="en-US" sz="2800"/>
              <a:t>   Value</a:t>
            </a:r>
            <a:endParaRPr/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2800">
                <a:solidFill>
                  <a:srgbClr val="FF0000"/>
                </a:solidFill>
              </a:rPr>
              <a:t>Eg: </a:t>
            </a:r>
            <a:endParaRPr sz="2800"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476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 sz="2800">
                <a:solidFill>
                  <a:srgbClr val="FF0000"/>
                </a:solidFill>
              </a:rPr>
              <a:t>www.google.com</a:t>
            </a:r>
            <a:r>
              <a:rPr lang="en-US" sz="2800"/>
              <a:t>   </a:t>
            </a:r>
            <a:r>
              <a:rPr lang="en-US" sz="2800">
                <a:solidFill>
                  <a:schemeClr val="dk2"/>
                </a:solidFill>
              </a:rPr>
              <a:t>86400	   </a:t>
            </a:r>
            <a:r>
              <a:rPr lang="en-US" sz="2800">
                <a:solidFill>
                  <a:srgbClr val="4F6128"/>
                </a:solidFill>
              </a:rPr>
              <a:t>IN</a:t>
            </a:r>
            <a:r>
              <a:rPr lang="en-US" sz="2800"/>
              <a:t>	  </a:t>
            </a:r>
            <a:r>
              <a:rPr lang="en-US" sz="2800">
                <a:solidFill>
                  <a:srgbClr val="FF0000"/>
                </a:solidFill>
              </a:rPr>
              <a:t>A</a:t>
            </a:r>
            <a:r>
              <a:rPr lang="en-US" sz="2800"/>
              <a:t>       130.37.36.23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</a:t>
            </a:r>
            <a:r>
              <a:rPr i="1" lang="en-US"/>
              <a:t>Domain name tells the domain to which this record applies.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609600" y="2840715"/>
            <a:ext cx="6477000" cy="5334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21"/>
          <p:cNvCxnSpPr/>
          <p:nvPr/>
        </p:nvCxnSpPr>
        <p:spPr>
          <a:xfrm>
            <a:off x="2819400" y="2865436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21"/>
          <p:cNvCxnSpPr/>
          <p:nvPr/>
        </p:nvCxnSpPr>
        <p:spPr>
          <a:xfrm>
            <a:off x="4419600" y="2865436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21"/>
          <p:cNvCxnSpPr/>
          <p:nvPr/>
        </p:nvCxnSpPr>
        <p:spPr>
          <a:xfrm>
            <a:off x="5257800" y="2865436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21"/>
          <p:cNvSpPr/>
          <p:nvPr/>
        </p:nvSpPr>
        <p:spPr>
          <a:xfrm>
            <a:off x="609600" y="4267200"/>
            <a:ext cx="7467600" cy="457200"/>
          </a:xfrm>
          <a:prstGeom prst="rect">
            <a:avLst/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21"/>
          <p:cNvCxnSpPr/>
          <p:nvPr/>
        </p:nvCxnSpPr>
        <p:spPr>
          <a:xfrm>
            <a:off x="2971800" y="4267200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4038600" y="4191000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21"/>
          <p:cNvCxnSpPr/>
          <p:nvPr/>
        </p:nvCxnSpPr>
        <p:spPr>
          <a:xfrm>
            <a:off x="5105400" y="4191000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1"/>
          <p:cNvCxnSpPr/>
          <p:nvPr/>
        </p:nvCxnSpPr>
        <p:spPr>
          <a:xfrm>
            <a:off x="5849257" y="4191000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1"/>
          <p:cNvCxnSpPr/>
          <p:nvPr/>
        </p:nvCxnSpPr>
        <p:spPr>
          <a:xfrm>
            <a:off x="5943600" y="2865436"/>
            <a:ext cx="0" cy="5334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 txBox="1"/>
          <p:nvPr>
            <p:ph idx="1" type="body"/>
          </p:nvPr>
        </p:nvSpPr>
        <p:spPr>
          <a:xfrm>
            <a:off x="609600" y="1646237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lang="en-US">
                <a:solidFill>
                  <a:srgbClr val="FF0000"/>
                </a:solidFill>
              </a:rPr>
              <a:t>The </a:t>
            </a:r>
            <a:r>
              <a:rPr i="1" lang="en-US">
                <a:solidFill>
                  <a:srgbClr val="FF0000"/>
                </a:solidFill>
              </a:rPr>
              <a:t>Time to live field </a:t>
            </a:r>
            <a:r>
              <a:rPr i="1" lang="en-US"/>
              <a:t>gives an indication of how stable the record is.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Information </a:t>
            </a:r>
            <a:r>
              <a:rPr lang="en-US"/>
              <a:t>that is highly stable is assigned a large value, such as 86400 (the number of seconds in 1 day).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Information that is highly volatile is assigned a small value, such as 60 (1 minute).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i="1" lang="en-US">
                <a:solidFill>
                  <a:srgbClr val="FF0000"/>
                </a:solidFill>
              </a:rPr>
              <a:t>Class Field 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 For Internet information, </a:t>
            </a:r>
            <a:r>
              <a:rPr lang="en-US"/>
              <a:t>it is always </a:t>
            </a:r>
            <a:r>
              <a:rPr i="1" lang="en-US"/>
              <a:t>IN.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 For non-Internet information, other codes can be used, but in </a:t>
            </a:r>
            <a:r>
              <a:rPr lang="en-US"/>
              <a:t>practice these are rarely seen.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The </a:t>
            </a:r>
            <a:r>
              <a:rPr i="1" lang="en-US" sz="2400"/>
              <a:t>Type field tells what kind </a:t>
            </a:r>
            <a:r>
              <a:rPr lang="en-US" sz="2400"/>
              <a:t>of record this is.</a:t>
            </a:r>
            <a:br>
              <a:rPr lang="en-US" sz="2400"/>
            </a:br>
            <a:r>
              <a:rPr lang="en-US" sz="2400"/>
              <a:t> There are many kinds of DNS records. </a:t>
            </a:r>
            <a:br>
              <a:rPr lang="en-US" sz="2400"/>
            </a:br>
            <a:r>
              <a:rPr lang="en-US" sz="2400"/>
              <a:t>The important types are listed in Fig</a:t>
            </a:r>
            <a:endParaRPr sz="2400"/>
          </a:p>
        </p:txBody>
      </p:sp>
      <p:pic>
        <p:nvPicPr>
          <p:cNvPr id="234" name="Google Shape;234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1" y="1752601"/>
            <a:ext cx="6243637" cy="487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i="1" lang="en-US"/>
              <a:t>Value field.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1" lang="en-US"/>
              <a:t> This field can be a number, a domain name, </a:t>
            </a:r>
            <a:r>
              <a:rPr lang="en-US"/>
              <a:t>or an ASCII string.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semantics depend on the record type.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Working of DNS </a:t>
            </a:r>
            <a:endParaRPr/>
          </a:p>
        </p:txBody>
      </p:sp>
      <p:sp>
        <p:nvSpPr>
          <p:cNvPr id="246" name="Google Shape;246;p2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When a resolver has a query about a domain name, it passes the query to a local name server.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If the domain being sought falls under the jurisdiction of the name server, such </a:t>
            </a:r>
            <a:r>
              <a:rPr lang="en-US">
                <a:solidFill>
                  <a:srgbClr val="FF0000"/>
                </a:solidFill>
              </a:rPr>
              <a:t>as </a:t>
            </a:r>
            <a:r>
              <a:rPr i="1" lang="en-US">
                <a:solidFill>
                  <a:srgbClr val="FF0000"/>
                </a:solidFill>
              </a:rPr>
              <a:t>flit.cs.vu.nl falling under  cs.vu.nl</a:t>
            </a:r>
            <a:r>
              <a:rPr i="1" lang="en-US"/>
              <a:t>, it returns the authoritative </a:t>
            </a:r>
            <a:r>
              <a:rPr lang="en-US"/>
              <a:t>resource records.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2" name="Google Shape;252;p2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when the domain is remote, such as when </a:t>
            </a:r>
            <a:r>
              <a:rPr i="1" lang="en-US">
                <a:solidFill>
                  <a:srgbClr val="FF0000"/>
                </a:solidFill>
              </a:rPr>
              <a:t>flits.cs.vu.nl</a:t>
            </a:r>
            <a:r>
              <a:rPr i="1" lang="en-US"/>
              <a:t> wants to </a:t>
            </a:r>
            <a:r>
              <a:rPr lang="en-US"/>
              <a:t>find the IP address of </a:t>
            </a:r>
            <a:r>
              <a:rPr i="1" lang="en-US">
                <a:solidFill>
                  <a:srgbClr val="FF0000"/>
                </a:solidFill>
              </a:rPr>
              <a:t>robot.cs.washington.edu </a:t>
            </a:r>
            <a:r>
              <a:rPr i="1" lang="en-US"/>
              <a:t>at </a:t>
            </a:r>
            <a:r>
              <a:rPr lang="en-US"/>
              <a:t>University of Washington(	UW)</a:t>
            </a:r>
            <a:endParaRPr i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i="1">
              <a:solidFill>
                <a:srgbClr val="FF0000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this case, and if there is no cached information about the domain available locally, the name server begins a remote query.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This query follows the procedure as shown in figure</a:t>
            </a:r>
            <a:endParaRPr/>
          </a:p>
        </p:txBody>
      </p:sp>
      <p:sp>
        <p:nvSpPr>
          <p:cNvPr id="258" name="Google Shape;258;p27"/>
          <p:cNvSpPr txBox="1"/>
          <p:nvPr>
            <p:ph idx="1" type="body"/>
          </p:nvPr>
        </p:nvSpPr>
        <p:spPr>
          <a:xfrm>
            <a:off x="1811338" y="5715000"/>
            <a:ext cx="88566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a resolver looking up a remote name in 10 steps.</a:t>
            </a:r>
            <a:endParaRPr/>
          </a:p>
        </p:txBody>
      </p:sp>
      <p:pic>
        <p:nvPicPr>
          <p:cNvPr id="259" name="Google Shape;2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4038" y="1547813"/>
            <a:ext cx="8443912" cy="362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Step 1 shows the query that is sent to the local name server.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	The query contains the domain name sought, the type (</a:t>
            </a:r>
            <a:r>
              <a:rPr i="1" lang="en-US" sz="2800"/>
              <a:t>A), and the class(IN).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i="1" lang="en-US" sz="2800"/>
              <a:t>Step 2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	Local name server forward the request to  </a:t>
            </a:r>
            <a:r>
              <a:rPr b="1" lang="en-US" sz="2800"/>
              <a:t>root name servers. These name servers have information about each top-level domain.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	There are 13 root DNS servers</a:t>
            </a:r>
            <a:endParaRPr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Step 3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root name server is unlikely to know the address of a machine at University of Washington(UW), and probably does not know the name server for University of Washington either.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But it must know the name server for the </a:t>
            </a:r>
            <a:r>
              <a:rPr i="1" lang="en-US"/>
              <a:t>edu domain, in which cs.washington.edu is located.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1" lang="en-US"/>
              <a:t> It returns </a:t>
            </a:r>
            <a:r>
              <a:rPr lang="en-US"/>
              <a:t>the name and IP address for that domain.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7" name="Google Shape;277;p3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Step 4.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	 It sends the entire query to the </a:t>
            </a:r>
            <a:r>
              <a:rPr i="1" lang="en-US"/>
              <a:t>edu name server (a.edu-servers.net).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i="1" lang="en-US"/>
              <a:t>Step5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i="1" lang="en-US"/>
              <a:t>That name server returns the name server </a:t>
            </a:r>
            <a:r>
              <a:rPr lang="en-US"/>
              <a:t>for University of Washington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3" name="Google Shape;283;p3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step 6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 The local name server sends the query to the University of Washington name server 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 If the domain name being sought was in the English department, the answer would be found, as the UW zone includes the English department.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 But the Computer Science department has chosen to run its own name server.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step 7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query returns the name and IP address of the UW Computer Science name server 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9" name="Google Shape;289;p3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step 8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The local name server queries the UW Computer Science name server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server is authoritative for the domain </a:t>
            </a:r>
            <a:r>
              <a:rPr i="1" lang="en-US"/>
              <a:t>cs.washington.edu, so it must </a:t>
            </a:r>
            <a:r>
              <a:rPr lang="en-US"/>
              <a:t>have the answer.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step 9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Cs name server  returns the final answer 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i="1" lang="en-US"/>
              <a:t>step 10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local name server forwards  the final answer as a response to </a:t>
            </a:r>
            <a:r>
              <a:rPr i="1" lang="en-US"/>
              <a:t>flits.cs.vu.nl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DNS Caching</a:t>
            </a:r>
            <a:br>
              <a:rPr lang="en-US"/>
            </a:br>
            <a:endParaRPr/>
          </a:p>
        </p:txBody>
      </p:sp>
      <p:sp>
        <p:nvSpPr>
          <p:cNvPr id="295" name="Google Shape;295;p3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time a server receives a query for a name that is not in its domain, it needs to search its database for a server IP address.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Reduction of this search time would increase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	efficiency.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DNS handles this with a mechanism called caching.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When a server asks for a mapping from another server and receives the response, it stores this information in  its cache memory before sending it to the client.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the same or another client asks for  the same mapping, it can check its cache memory and solve the problem.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1" name="Google Shape;301;p3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 o inform the client that the response is coming from the cache memory and not from an  authoritative source, the server marks the response as </a:t>
            </a:r>
            <a:r>
              <a:rPr i="1" lang="en-US"/>
              <a:t>unauthoritative.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Caching speeds up resolution, but it can also be problematic.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If a server caches a mapping for a long time, it may send an outdated mapping to the client.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07" name="Google Shape;307;p3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DNS caching problems can be solved using  two techniques.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First, the authoritative server always adds information to the mapping called </a:t>
            </a:r>
            <a:r>
              <a:rPr i="1" lang="en-US"/>
              <a:t>time-to-live (TTL).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 It defines the time in seconds that the receiving  </a:t>
            </a:r>
            <a:r>
              <a:rPr lang="en-US"/>
              <a:t>server can cache the information.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After that time, the mapping is invalid and any query  must be sent again to the authoritative server.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Second, DNS requires that each server keep a TTL counter for each mapping it caches.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cache memory must be searched periodically, and those mappings with an expired TTL must be purged.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DNS MESSAGES</a:t>
            </a:r>
            <a:endParaRPr/>
          </a:p>
        </p:txBody>
      </p:sp>
      <p:sp>
        <p:nvSpPr>
          <p:cNvPr id="313" name="Google Shape;313;p3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en-US"/>
              <a:t>DNS has two types of messages: query and response.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en-US"/>
              <a:t>Both types have the same format.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en-US"/>
              <a:t> The query message  consists of a header and question records;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1" lang="en-US"/>
              <a:t>The response message consists of a header, question records, answer records, authoritative records, and additional records.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DNS MESSAGE format</a:t>
            </a:r>
            <a:br>
              <a:rPr b="1" lang="en-US"/>
            </a:br>
            <a:r>
              <a:rPr b="1" i="1" lang="en-US"/>
              <a:t>Query and response messages</a:t>
            </a:r>
            <a:endParaRPr/>
          </a:p>
        </p:txBody>
      </p:sp>
      <p:pic>
        <p:nvPicPr>
          <p:cNvPr id="319" name="Google Shape;319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1" y="1676400"/>
            <a:ext cx="7824787" cy="4528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DNS header section</a:t>
            </a:r>
            <a:endParaRPr/>
          </a:p>
        </p:txBody>
      </p:sp>
      <p:pic>
        <p:nvPicPr>
          <p:cNvPr id="325" name="Google Shape;325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1828801"/>
            <a:ext cx="6858000" cy="3020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1" name="Google Shape;331;p3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Question Section: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This is a section consisting of one or more question records.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 It is present on both query and response messages.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Answer Section: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This is a section consisting of one or more resource records.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It is present only on response messages.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This section includes the answer from the server to the client (resolver).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7" name="Google Shape;337;p4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Authoritative Section: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This is a section consisting of one or more resource records.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	It is present only on response messages.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	 This section gives information (domain name) about one or more authoritative servers for the query.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Additional Information Section: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	This is a section consisting of one or more resource   records.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	 It is present only on response messages.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	This section provides additional information that may help the resolver.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2016-04-19T06:30:47Z</dcterms:created>
  <dc:creator>Divya</dc:creator>
</cp:coreProperties>
</file>