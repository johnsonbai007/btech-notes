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L3Egsl9PqCDxQ0hqE/iPWeCkt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3" name="Google Shape;1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4" name="Google Shape;1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1" name="Google Shape;15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8" name="Google Shape;1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5" name="Google Shape;16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2" name="Google Shape;1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9" name="Google Shape;1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6" name="Google Shape;18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javatpoint.com/tcp-ip-full-form" TargetMode="External"/><Relationship Id="rId4" Type="http://schemas.openxmlformats.org/officeDocument/2006/relationships/hyperlink" Target="https://www.javatpoint.com/computer-network-tcp-ip-model" TargetMode="External"/><Relationship Id="rId5" Type="http://schemas.openxmlformats.org/officeDocument/2006/relationships/hyperlink" Target="https://www.javatpoint.com/udp-full-for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Module 4</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100000"/>
              <a:buFont typeface="Arial"/>
              <a:buNone/>
            </a:pPr>
            <a:r>
              <a:rPr lang="en-US"/>
              <a:t>Prepared by</a:t>
            </a:r>
            <a:endParaRPr/>
          </a:p>
          <a:p>
            <a:pPr indent="0" lvl="0" marL="0" rtl="0" algn="l">
              <a:spcBef>
                <a:spcPts val="0"/>
              </a:spcBef>
              <a:spcAft>
                <a:spcPts val="0"/>
              </a:spcAft>
              <a:buClr>
                <a:schemeClr val="dk1"/>
              </a:buClr>
              <a:buSzPct val="100000"/>
              <a:buFont typeface="Arial"/>
              <a:buNone/>
            </a:pPr>
            <a:r>
              <a:rPr lang="en-US"/>
              <a:t>Divya K S</a:t>
            </a:r>
            <a:endParaRPr/>
          </a:p>
          <a:p>
            <a:pPr indent="0" lvl="0" marL="0" rtl="0" algn="l">
              <a:spcBef>
                <a:spcPts val="0"/>
              </a:spcBef>
              <a:spcAft>
                <a:spcPts val="0"/>
              </a:spcAft>
              <a:buClr>
                <a:schemeClr val="dk1"/>
              </a:buClr>
              <a:buSzPct val="100000"/>
              <a:buFont typeface="Arial"/>
              <a:buNone/>
            </a:pPr>
            <a:r>
              <a:rPr lang="en-US"/>
              <a:t>Adi Shankara Institute of Engineering &amp; Technology </a:t>
            </a:r>
            <a:endParaRPr/>
          </a:p>
          <a:p>
            <a:pPr indent="0" lvl="0" marL="0" rtl="0" algn="l">
              <a:spcBef>
                <a:spcPts val="0"/>
              </a:spcBef>
              <a:spcAft>
                <a:spcPts val="0"/>
              </a:spcAft>
              <a:buClr>
                <a:schemeClr val="dk1"/>
              </a:buClr>
              <a:buSzPct val="100000"/>
              <a:buFont typeface="Arial"/>
              <a:buNone/>
            </a:pPr>
            <a:r>
              <a:rPr lang="en-US"/>
              <a:t>Kalady</a:t>
            </a:r>
            <a:endParaRPr/>
          </a:p>
          <a:p>
            <a:pPr indent="0" lvl="0" marL="0" rtl="0" algn="l">
              <a:spcBef>
                <a:spcPts val="0"/>
              </a:spcBef>
              <a:spcAft>
                <a:spcPts val="0"/>
              </a:spcAft>
              <a:buClr>
                <a:schemeClr val="dk1"/>
              </a:buClr>
              <a:buSzPct val="100000"/>
              <a:buFont typeface="Calibri"/>
              <a:buNone/>
            </a:pPr>
            <a:r>
              <a:t/>
            </a:r>
            <a:endParaRPr b="1" sz="4400"/>
          </a:p>
          <a:p>
            <a:pPr indent="0" lvl="0" marL="0" rtl="0" algn="ctr">
              <a:lnSpc>
                <a:spcPct val="90000"/>
              </a:lnSpc>
              <a:spcBef>
                <a:spcPts val="0"/>
              </a:spcBef>
              <a:spcAft>
                <a:spcPts val="0"/>
              </a:spcAft>
              <a:buClr>
                <a:schemeClr val="dk1"/>
              </a:buClr>
              <a:buSzPct val="100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IP protocol, IP addresses, Internet Control Message Protocol (ICMP), Address Resolution Protocol (ARP), Reverse Address Resolution Protocol (RARP), Bootstrap Protocol (BOOTP), Dynamic Host Configuration Protocol (DHCP). Open Shortest Path First(OSPF) Protocol, Border Gateway Protocol (BGP), Internet multicasting, IPv6, ICMPv6.</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IP protocol</a:t>
            </a:r>
            <a:endParaRPr/>
          </a:p>
        </p:txBody>
      </p:sp>
      <p:sp>
        <p:nvSpPr>
          <p:cNvPr id="101" name="Google Shape;101;p3"/>
          <p:cNvSpPr txBox="1"/>
          <p:nvPr>
            <p:ph idx="1" type="body"/>
          </p:nvPr>
        </p:nvSpPr>
        <p:spPr>
          <a:xfrm>
            <a:off x="838200" y="1364776"/>
            <a:ext cx="10515600" cy="48121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IP stands for </a:t>
            </a:r>
            <a:r>
              <a:rPr b="1" lang="en-US"/>
              <a:t>internet protocol</a:t>
            </a:r>
            <a:r>
              <a:rPr lang="en-US"/>
              <a:t>. </a:t>
            </a:r>
            <a:endParaRPr/>
          </a:p>
          <a:p>
            <a:pPr indent="-228600" lvl="0" marL="228600" rtl="0" algn="l">
              <a:lnSpc>
                <a:spcPct val="90000"/>
              </a:lnSpc>
              <a:spcBef>
                <a:spcPts val="1000"/>
              </a:spcBef>
              <a:spcAft>
                <a:spcPts val="0"/>
              </a:spcAft>
              <a:buClr>
                <a:schemeClr val="dk1"/>
              </a:buClr>
              <a:buSzPts val="2800"/>
              <a:buChar char="•"/>
            </a:pPr>
            <a:r>
              <a:rPr lang="en-US"/>
              <a:t>It is a protocol defined in the TCP/IP model used for sending the packets from source to destination. </a:t>
            </a:r>
            <a:endParaRPr/>
          </a:p>
          <a:p>
            <a:pPr indent="-228600" lvl="0" marL="228600" rtl="0" algn="l">
              <a:lnSpc>
                <a:spcPct val="90000"/>
              </a:lnSpc>
              <a:spcBef>
                <a:spcPts val="1000"/>
              </a:spcBef>
              <a:spcAft>
                <a:spcPts val="0"/>
              </a:spcAft>
              <a:buClr>
                <a:schemeClr val="dk1"/>
              </a:buClr>
              <a:buSzPts val="2800"/>
              <a:buChar char="•"/>
            </a:pPr>
            <a:r>
              <a:rPr lang="en-US"/>
              <a:t>The main task of IP is to deliver the packets from source to the destination based on the IP addresses available in the packet headers. </a:t>
            </a:r>
            <a:endParaRPr/>
          </a:p>
          <a:p>
            <a:pPr indent="-228600" lvl="0" marL="228600" rtl="0" algn="l">
              <a:lnSpc>
                <a:spcPct val="90000"/>
              </a:lnSpc>
              <a:spcBef>
                <a:spcPts val="1000"/>
              </a:spcBef>
              <a:spcAft>
                <a:spcPts val="0"/>
              </a:spcAft>
              <a:buClr>
                <a:schemeClr val="dk1"/>
              </a:buClr>
              <a:buSzPts val="2800"/>
              <a:buChar char="•"/>
            </a:pPr>
            <a:r>
              <a:rPr lang="en-US"/>
              <a:t>IP defines </a:t>
            </a:r>
            <a:r>
              <a:rPr lang="en-US">
                <a:solidFill>
                  <a:srgbClr val="FF0000"/>
                </a:solidFill>
              </a:rPr>
              <a:t>the packet structure  as well as the addressing method </a:t>
            </a:r>
            <a:r>
              <a:rPr lang="en-US"/>
              <a:t>.</a:t>
            </a:r>
            <a:endParaRPr/>
          </a:p>
          <a:p>
            <a:pPr indent="-228600" lvl="0" marL="228600" rtl="0" algn="l">
              <a:lnSpc>
                <a:spcPct val="90000"/>
              </a:lnSpc>
              <a:spcBef>
                <a:spcPts val="1000"/>
              </a:spcBef>
              <a:spcAft>
                <a:spcPts val="0"/>
              </a:spcAft>
              <a:buClr>
                <a:schemeClr val="dk1"/>
              </a:buClr>
              <a:buSzPts val="2800"/>
              <a:buChar char="•"/>
            </a:pPr>
            <a:r>
              <a:rPr lang="en-US"/>
              <a:t>An IP protocol provides the </a:t>
            </a:r>
            <a:r>
              <a:rPr lang="en-US">
                <a:solidFill>
                  <a:srgbClr val="FF0000"/>
                </a:solidFill>
              </a:rPr>
              <a:t>connectionless service</a:t>
            </a:r>
            <a:r>
              <a:rPr lang="en-US"/>
              <a:t>, which is accompanied by two transport protocols, i.e., </a:t>
            </a:r>
            <a:r>
              <a:rPr lang="en-US" u="sng">
                <a:solidFill>
                  <a:schemeClr val="hlink"/>
                </a:solidFill>
                <a:hlinkClick r:id="rId3"/>
              </a:rPr>
              <a:t>TCP/IP </a:t>
            </a:r>
            <a:r>
              <a:rPr lang="en-US"/>
              <a:t>and UDP/IP, so internet protocol is also known as </a:t>
            </a:r>
            <a:r>
              <a:rPr lang="en-US" u="sng">
                <a:solidFill>
                  <a:schemeClr val="hlink"/>
                </a:solidFill>
                <a:hlinkClick r:id="rId4"/>
              </a:rPr>
              <a:t>TCP/IP </a:t>
            </a:r>
            <a:r>
              <a:rPr lang="en-US"/>
              <a:t>or </a:t>
            </a:r>
            <a:r>
              <a:rPr lang="en-US" u="sng">
                <a:solidFill>
                  <a:schemeClr val="hlink"/>
                </a:solidFill>
                <a:hlinkClick r:id="rId5"/>
              </a:rPr>
              <a:t>UDP</a:t>
            </a:r>
            <a:r>
              <a:rPr lang="en-US"/>
              <a:t>/IP.</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Effect filter="fade" transition="in">
                                      <p:cBhvr>
                                        <p:cTn dur="500"/>
                                        <p:tgtEl>
                                          <p:spTgt spid="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Effect filter="fade" transition="in">
                                      <p:cBhvr>
                                        <p:cTn dur="500"/>
                                        <p:tgtEl>
                                          <p:spTgt spid="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Effect filter="fade" transition="in">
                                      <p:cBhvr>
                                        <p:cTn dur="500"/>
                                        <p:tgtEl>
                                          <p:spTgt spid="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Effect filter="fade" transition="in">
                                      <p:cBhvr>
                                        <p:cTn dur="500"/>
                                        <p:tgtEl>
                                          <p:spTgt spid="1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Effect filter="fade" transition="in">
                                      <p:cBhvr>
                                        <p:cTn dur="500"/>
                                        <p:tgtEl>
                                          <p:spTgt spid="1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animEffect filter="fade" transition="in">
                                      <p:cBhvr>
                                        <p:cTn dur="500"/>
                                        <p:tgtEl>
                                          <p:spTgt spid="10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IP protocol</a:t>
            </a:r>
            <a:endParaRPr/>
          </a:p>
        </p:txBody>
      </p:sp>
      <p:sp>
        <p:nvSpPr>
          <p:cNvPr id="107" name="Google Shape;107;p4"/>
          <p:cNvSpPr txBox="1"/>
          <p:nvPr>
            <p:ph idx="1" type="body"/>
          </p:nvPr>
        </p:nvSpPr>
        <p:spPr>
          <a:xfrm>
            <a:off x="838200" y="1364776"/>
            <a:ext cx="10515600" cy="48121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Internet Protocol is </a:t>
            </a:r>
            <a:r>
              <a:rPr b="1" lang="en-US"/>
              <a:t>connectionless</a:t>
            </a:r>
            <a:r>
              <a:rPr lang="en-US"/>
              <a:t> and </a:t>
            </a:r>
            <a:r>
              <a:rPr b="1" lang="en-US"/>
              <a:t>unreliable</a:t>
            </a:r>
            <a:r>
              <a:rPr lang="en-US"/>
              <a:t> protocol. </a:t>
            </a:r>
            <a:endParaRPr/>
          </a:p>
          <a:p>
            <a:pPr indent="-228600" lvl="0" marL="228600" rtl="0" algn="l">
              <a:lnSpc>
                <a:spcPct val="90000"/>
              </a:lnSpc>
              <a:spcBef>
                <a:spcPts val="1000"/>
              </a:spcBef>
              <a:spcAft>
                <a:spcPts val="0"/>
              </a:spcAft>
              <a:buClr>
                <a:schemeClr val="dk1"/>
              </a:buClr>
              <a:buSzPts val="2800"/>
              <a:buChar char="•"/>
            </a:pPr>
            <a:r>
              <a:rPr lang="en-US"/>
              <a:t>It ensures no guarantee of successfully transmission of data.</a:t>
            </a:r>
            <a:endParaRPr/>
          </a:p>
          <a:p>
            <a:pPr indent="-228600" lvl="0" marL="228600" rtl="0" algn="l">
              <a:lnSpc>
                <a:spcPct val="90000"/>
              </a:lnSpc>
              <a:spcBef>
                <a:spcPts val="1000"/>
              </a:spcBef>
              <a:spcAft>
                <a:spcPts val="0"/>
              </a:spcAft>
              <a:buClr>
                <a:schemeClr val="dk1"/>
              </a:buClr>
              <a:buSzPts val="2800"/>
              <a:buChar char="•"/>
            </a:pPr>
            <a:r>
              <a:rPr lang="en-US"/>
              <a:t>In order to make it reliable, it must be paired with reliable protocol such as TCP at the transport layer.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first version of IP (Internet Protocol) was IPv4 </a:t>
            </a:r>
            <a:r>
              <a:rPr b="1" lang="en-US">
                <a:solidFill>
                  <a:srgbClr val="006FC0"/>
                </a:solidFill>
                <a:latin typeface="Trebuchet MS"/>
                <a:ea typeface="Trebuchet MS"/>
                <a:cs typeface="Trebuchet MS"/>
                <a:sym typeface="Trebuchet MS"/>
              </a:rPr>
              <a:t>defines an IP address as a 32-  bit number.</a:t>
            </a:r>
            <a:r>
              <a:rPr lang="en-US"/>
              <a:t>. </a:t>
            </a:r>
            <a:endParaRPr/>
          </a:p>
          <a:p>
            <a:pPr indent="-228600" lvl="0" marL="228600" rtl="0" algn="l">
              <a:lnSpc>
                <a:spcPct val="90000"/>
              </a:lnSpc>
              <a:spcBef>
                <a:spcPts val="1000"/>
              </a:spcBef>
              <a:spcAft>
                <a:spcPts val="0"/>
              </a:spcAft>
              <a:buClr>
                <a:schemeClr val="dk1"/>
              </a:buClr>
              <a:buSzPts val="2800"/>
              <a:buChar char="•"/>
            </a:pPr>
            <a:r>
              <a:rPr lang="en-US"/>
              <a:t>After IPv4, IPv6 came into the market,</a:t>
            </a:r>
            <a:r>
              <a:rPr lang="en-US">
                <a:latin typeface="Arial"/>
                <a:ea typeface="Arial"/>
                <a:cs typeface="Arial"/>
                <a:sym typeface="Arial"/>
              </a:rPr>
              <a:t> using 128  bits for the IP address</a:t>
            </a:r>
            <a:r>
              <a:rPr lang="en-US"/>
              <a:t> which has been increasingly used on the public internet since 2006</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Effect filter="fade" transition="in">
                                      <p:cBhvr>
                                        <p:cTn dur="500"/>
                                        <p:tgtEl>
                                          <p:spTgt spid="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Effect filter="fade" transition="in">
                                      <p:cBhvr>
                                        <p:cTn dur="500"/>
                                        <p:tgtEl>
                                          <p:spTgt spid="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Effect filter="fade" transition="in">
                                      <p:cBhvr>
                                        <p:cTn dur="500"/>
                                        <p:tgtEl>
                                          <p:spTgt spid="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animEffect filter="fade" transition="in">
                                      <p:cBhvr>
                                        <p:cTn dur="500"/>
                                        <p:tgtEl>
                                          <p:spTgt spid="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animEffect filter="fade" transition="in">
                                      <p:cBhvr>
                                        <p:cTn dur="500"/>
                                        <p:tgtEl>
                                          <p:spTgt spid="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animEffect filter="fade" transition="in">
                                      <p:cBhvr>
                                        <p:cTn dur="500"/>
                                        <p:tgtEl>
                                          <p:spTgt spid="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animEffect filter="fade" transition="in">
                                      <p:cBhvr>
                                        <p:cTn dur="500"/>
                                        <p:tgtEl>
                                          <p:spTgt spid="10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An internet protocol defines two things:</a:t>
            </a:r>
            <a:br>
              <a:rPr lang="en-US"/>
            </a:br>
            <a:endParaRPr/>
          </a:p>
        </p:txBody>
      </p:sp>
      <p:sp>
        <p:nvSpPr>
          <p:cNvPr id="113" name="Google Shape;11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Format of IP packet</a:t>
            </a:r>
            <a:endParaRPr/>
          </a:p>
          <a:p>
            <a:pPr indent="-228600" lvl="0" marL="228600" rtl="0" algn="l">
              <a:lnSpc>
                <a:spcPct val="90000"/>
              </a:lnSpc>
              <a:spcBef>
                <a:spcPts val="1000"/>
              </a:spcBef>
              <a:spcAft>
                <a:spcPts val="0"/>
              </a:spcAft>
              <a:buClr>
                <a:schemeClr val="dk1"/>
              </a:buClr>
              <a:buSzPts val="2800"/>
              <a:buChar char="•"/>
            </a:pPr>
            <a:r>
              <a:rPr lang="en-US"/>
              <a:t>IP Addressing system</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6"/>
          <p:cNvPicPr preferRelativeResize="0"/>
          <p:nvPr>
            <p:ph idx="4294967295" type="body"/>
          </p:nvPr>
        </p:nvPicPr>
        <p:blipFill rotWithShape="1">
          <a:blip r:embed="rId3">
            <a:alphaModFix/>
          </a:blip>
          <a:srcRect b="0" l="0" r="0" t="0"/>
          <a:stretch/>
        </p:blipFill>
        <p:spPr>
          <a:xfrm>
            <a:off x="1187355" y="1433015"/>
            <a:ext cx="8270543" cy="4667534"/>
          </a:xfrm>
          <a:prstGeom prst="rect">
            <a:avLst/>
          </a:prstGeom>
          <a:noFill/>
          <a:ln>
            <a:noFill/>
          </a:ln>
        </p:spPr>
      </p:pic>
      <p:sp>
        <p:nvSpPr>
          <p:cNvPr id="119" name="Google Shape;119;p6"/>
          <p:cNvSpPr txBox="1"/>
          <p:nvPr>
            <p:ph idx="4294967295" type="title"/>
          </p:nvPr>
        </p:nvSpPr>
        <p:spPr>
          <a:xfrm>
            <a:off x="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Flow of data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packet format</a:t>
            </a:r>
            <a:endParaRPr/>
          </a:p>
        </p:txBody>
      </p:sp>
      <p:sp>
        <p:nvSpPr>
          <p:cNvPr id="126" name="Google Shape;126;p7"/>
          <p:cNvSpPr txBox="1"/>
          <p:nvPr/>
        </p:nvSpPr>
        <p:spPr>
          <a:xfrm>
            <a:off x="1524000" y="1405719"/>
            <a:ext cx="9144000" cy="3911349"/>
          </a:xfrm>
          <a:prstGeom prst="rect">
            <a:avLst/>
          </a:prstGeom>
          <a:noFill/>
          <a:ln>
            <a:noFill/>
          </a:ln>
        </p:spPr>
        <p:txBody>
          <a:bodyPr anchorCtr="0" anchor="t" bIns="45700" lIns="91425" spcFirstLastPara="1" rIns="91425" wrap="square" tIns="45700">
            <a:noAutofit/>
          </a:bodyPr>
          <a:lstStyle/>
          <a:p>
            <a:pPr indent="-190500" lvl="0" marL="342900" marR="0" rtl="0" algn="just">
              <a:spcBef>
                <a:spcPts val="0"/>
              </a:spcBef>
              <a:spcAft>
                <a:spcPts val="0"/>
              </a:spcAft>
              <a:buClr>
                <a:schemeClr val="accent2"/>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just">
              <a:spcBef>
                <a:spcPts val="480"/>
              </a:spcBef>
              <a:spcAft>
                <a:spcPts val="0"/>
              </a:spcAft>
              <a:buClr>
                <a:schemeClr val="accent2"/>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IP datagram (packet)consists of a header part and a data  part</a:t>
            </a:r>
            <a:endParaRPr/>
          </a:p>
          <a:p>
            <a:pPr indent="0" lvl="0" marL="109538" marR="0" rtl="0" algn="just">
              <a:spcBef>
                <a:spcPts val="480"/>
              </a:spcBef>
              <a:spcAft>
                <a:spcPts val="0"/>
              </a:spcAft>
              <a:buClr>
                <a:schemeClr val="accent2"/>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just">
              <a:spcBef>
                <a:spcPts val="480"/>
              </a:spcBef>
              <a:spcAft>
                <a:spcPts val="0"/>
              </a:spcAft>
              <a:buClr>
                <a:schemeClr val="accent2"/>
              </a:buClr>
              <a:buSzPts val="2400"/>
              <a:buFont typeface="Arial"/>
              <a:buChar char="•"/>
            </a:pPr>
            <a:r>
              <a:rPr b="0" i="0" lang="en-US" sz="2400" u="none" cap="none" strike="noStrike">
                <a:solidFill>
                  <a:schemeClr val="dk1"/>
                </a:solidFill>
                <a:latin typeface="Calibri"/>
                <a:ea typeface="Calibri"/>
                <a:cs typeface="Calibri"/>
                <a:sym typeface="Calibri"/>
              </a:rPr>
              <a:t>header has a 20-byte fixed part and a variable length optional part</a:t>
            </a:r>
            <a:endParaRPr b="0"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1524000" y="1"/>
            <a:ext cx="9144000" cy="67733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t>IPV4 Header format</a:t>
            </a:r>
            <a:endParaRPr/>
          </a:p>
        </p:txBody>
      </p:sp>
      <p:sp>
        <p:nvSpPr>
          <p:cNvPr id="132" name="Google Shape;132;p8"/>
          <p:cNvSpPr txBox="1"/>
          <p:nvPr>
            <p:ph idx="1" type="body"/>
          </p:nvPr>
        </p:nvSpPr>
        <p:spPr>
          <a:xfrm>
            <a:off x="1524000" y="6279451"/>
            <a:ext cx="9144000" cy="493889"/>
          </a:xfrm>
          <a:prstGeom prst="rect">
            <a:avLst/>
          </a:prstGeom>
          <a:noFill/>
          <a:ln>
            <a:noFill/>
          </a:ln>
        </p:spPr>
        <p:txBody>
          <a:bodyPr anchorCtr="0" anchor="t" bIns="45700" lIns="91425" spcFirstLastPara="1" rIns="91425" wrap="square" tIns="45700">
            <a:normAutofit/>
          </a:bodyPr>
          <a:lstStyle/>
          <a:p>
            <a:pPr indent="-228600" lvl="0" marL="228600" rtl="0" algn="ctr">
              <a:lnSpc>
                <a:spcPct val="90000"/>
              </a:lnSpc>
              <a:spcBef>
                <a:spcPts val="0"/>
              </a:spcBef>
              <a:spcAft>
                <a:spcPts val="0"/>
              </a:spcAft>
              <a:buClr>
                <a:schemeClr val="dk1"/>
              </a:buClr>
              <a:buSzPts val="2800"/>
              <a:buFont typeface="Calibri"/>
              <a:buNone/>
            </a:pPr>
            <a:r>
              <a:t/>
            </a:r>
            <a:endParaRPr/>
          </a:p>
        </p:txBody>
      </p:sp>
      <p:pic>
        <p:nvPicPr>
          <p:cNvPr descr="5-53" id="133" name="Google Shape;133;p8"/>
          <p:cNvPicPr preferRelativeResize="0"/>
          <p:nvPr/>
        </p:nvPicPr>
        <p:blipFill rotWithShape="1">
          <a:blip r:embed="rId3">
            <a:alphaModFix/>
          </a:blip>
          <a:srcRect b="0" l="0" r="0" t="0"/>
          <a:stretch/>
        </p:blipFill>
        <p:spPr>
          <a:xfrm>
            <a:off x="1703565" y="872949"/>
            <a:ext cx="8765825" cy="54149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40" name="Google Shape;140;p9"/>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609600" lvl="0" marL="609600" marR="0" rtl="0" algn="l">
              <a:spcBef>
                <a:spcPts val="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Version</a:t>
            </a:r>
            <a:r>
              <a:rPr b="0" i="0" lang="en-US" sz="2400" u="none" cap="none" strike="noStrike">
                <a:solidFill>
                  <a:schemeClr val="dk1"/>
                </a:solidFill>
                <a:latin typeface="Calibri"/>
                <a:ea typeface="Calibri"/>
                <a:cs typeface="Calibri"/>
                <a:sym typeface="Calibri"/>
              </a:rPr>
              <a:t> field </a:t>
            </a:r>
            <a:endParaRPr b="0" i="0" sz="2400" u="none" cap="none" strike="noStrike">
              <a:solidFill>
                <a:schemeClr val="dk1"/>
              </a:solidFill>
              <a:latin typeface="Calibri"/>
              <a:ea typeface="Calibri"/>
              <a:cs typeface="Calibri"/>
              <a:sym typeface="Calibri"/>
            </a:endParaRPr>
          </a:p>
          <a:p>
            <a:pPr indent="-609600" lvl="0" marL="609600" marR="0" rtl="0" algn="l">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keeps track of which version of the protocol the datagram belongs to. </a:t>
            </a:r>
            <a:endParaRPr b="0" i="0" sz="2400" u="none" cap="none" strike="noStrike">
              <a:solidFill>
                <a:schemeClr val="dk1"/>
              </a:solidFill>
              <a:latin typeface="Calibri"/>
              <a:ea typeface="Calibri"/>
              <a:cs typeface="Calibri"/>
              <a:sym typeface="Calibri"/>
            </a:endParaRPr>
          </a:p>
          <a:p>
            <a:pPr indent="-457200" lvl="0" marL="609600" marR="0" rtl="0" algn="l">
              <a:spcBef>
                <a:spcPts val="480"/>
              </a:spcBef>
              <a:spcAft>
                <a:spcPts val="0"/>
              </a:spcAft>
              <a:buClr>
                <a:schemeClr val="accent2"/>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609600" lvl="0" marL="609600" marR="0" rtl="0" algn="l">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IHL</a:t>
            </a:r>
            <a:r>
              <a:rPr b="0" i="0" lang="en-US" sz="2400" u="none" cap="none" strike="noStrike">
                <a:solidFill>
                  <a:schemeClr val="dk1"/>
                </a:solidFill>
                <a:latin typeface="Calibri"/>
                <a:ea typeface="Calibri"/>
                <a:cs typeface="Calibri"/>
                <a:sym typeface="Calibri"/>
              </a:rPr>
              <a:t> field</a:t>
            </a:r>
            <a:endParaRPr/>
          </a:p>
          <a:p>
            <a:pPr indent="-609600" lvl="1" marL="1066800" marR="0" rtl="0" algn="l">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Since the header length is not constant, IHL is provided to tell how long the header is, in 32-bit words. </a:t>
            </a:r>
            <a:endParaRPr/>
          </a:p>
          <a:p>
            <a:pPr indent="-609600" lvl="1" marL="1066800" marR="0" rtl="0" algn="l">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The minimum value is 5, which applies when no options are present. </a:t>
            </a:r>
            <a:endParaRPr/>
          </a:p>
          <a:p>
            <a:pPr indent="-609600" lvl="1" marL="1066800" marR="0" rtl="0" algn="l">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The maximum value of this 4-bit field is 15, which limits the header to 60 bytes, and thus the Options field to 40 bytes.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47" name="Google Shape;147;p10"/>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609600" lvl="0" marL="609600" marR="0" rtl="0" algn="just">
              <a:spcBef>
                <a:spcPts val="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Type of service </a:t>
            </a:r>
            <a:r>
              <a:rPr b="0" i="0" lang="en-US" sz="2400" u="none" cap="none" strike="noStrike">
                <a:solidFill>
                  <a:schemeClr val="dk1"/>
                </a:solidFill>
                <a:latin typeface="Calibri"/>
                <a:ea typeface="Calibri"/>
                <a:cs typeface="Calibri"/>
                <a:sym typeface="Calibri"/>
              </a:rPr>
              <a:t>field. </a:t>
            </a:r>
            <a:endParaRPr/>
          </a:p>
          <a:p>
            <a:pPr indent="-609600" lvl="1" marL="1066800" marR="0" rtl="0" algn="just">
              <a:lnSpc>
                <a:spcPct val="15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to distinguish between different classes of service</a:t>
            </a:r>
            <a:endParaRPr/>
          </a:p>
          <a:p>
            <a:pPr indent="-609600" lvl="1" marL="1066800" marR="0" rtl="0" algn="just">
              <a:lnSpc>
                <a:spcPct val="15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6-bit field contained a three-bit </a:t>
            </a:r>
            <a:r>
              <a:rPr b="0" i="0" lang="en-US" sz="2400" u="none" cap="none" strike="noStrike">
                <a:solidFill>
                  <a:srgbClr val="FF0000"/>
                </a:solidFill>
                <a:latin typeface="Calibri"/>
                <a:ea typeface="Calibri"/>
                <a:cs typeface="Calibri"/>
                <a:sym typeface="Calibri"/>
              </a:rPr>
              <a:t>Precedence</a:t>
            </a:r>
            <a:r>
              <a:rPr b="0" i="0" lang="en-US" sz="2400" u="none" cap="none" strike="noStrike">
                <a:solidFill>
                  <a:schemeClr val="dk1"/>
                </a:solidFill>
                <a:latin typeface="Calibri"/>
                <a:ea typeface="Calibri"/>
                <a:cs typeface="Calibri"/>
                <a:sym typeface="Calibri"/>
              </a:rPr>
              <a:t> field and three flags, </a:t>
            </a:r>
            <a:r>
              <a:rPr b="0" i="0" lang="en-US" sz="2400" u="none" cap="none" strike="noStrike">
                <a:solidFill>
                  <a:srgbClr val="FF0000"/>
                </a:solidFill>
                <a:latin typeface="Calibri"/>
                <a:ea typeface="Calibri"/>
                <a:cs typeface="Calibri"/>
                <a:sym typeface="Calibri"/>
              </a:rPr>
              <a:t>D, T, and R. </a:t>
            </a:r>
            <a:endParaRPr/>
          </a:p>
          <a:p>
            <a:pPr indent="-609600" lvl="1" marL="1066800" marR="0" rtl="0" algn="just">
              <a:lnSpc>
                <a:spcPct val="15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The </a:t>
            </a:r>
            <a:r>
              <a:rPr b="0" i="0" lang="en-US" sz="2400" u="none" cap="none" strike="noStrike">
                <a:solidFill>
                  <a:srgbClr val="FF0000"/>
                </a:solidFill>
                <a:latin typeface="Calibri"/>
                <a:ea typeface="Calibri"/>
                <a:cs typeface="Calibri"/>
                <a:sym typeface="Calibri"/>
              </a:rPr>
              <a:t>Precedence</a:t>
            </a:r>
            <a:r>
              <a:rPr b="0" i="0" lang="en-US" sz="2400" u="none" cap="none" strike="noStrike">
                <a:solidFill>
                  <a:schemeClr val="dk1"/>
                </a:solidFill>
                <a:latin typeface="Calibri"/>
                <a:ea typeface="Calibri"/>
                <a:cs typeface="Calibri"/>
                <a:sym typeface="Calibri"/>
              </a:rPr>
              <a:t> field was a priority from 0 (normal) to 7 (network control packet)</a:t>
            </a:r>
            <a:endParaRPr/>
          </a:p>
          <a:p>
            <a:pPr indent="-609600" lvl="1" marL="1066800" marR="0" rtl="0" algn="just">
              <a:lnSpc>
                <a:spcPct val="15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The three flag bits allowed the host to specify from the set {Delay, Throughput, Reliability}</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54" name="Google Shape;154;p11"/>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rgbClr val="FF0000"/>
                </a:solidFill>
                <a:latin typeface="Calibri"/>
                <a:ea typeface="Calibri"/>
                <a:cs typeface="Calibri"/>
                <a:sym typeface="Calibri"/>
              </a:rPr>
              <a:t>Total length </a:t>
            </a:r>
            <a:r>
              <a:rPr b="0" i="0" lang="en-US" sz="2400" u="none" cap="none" strike="noStrike">
                <a:solidFill>
                  <a:schemeClr val="dk1"/>
                </a:solidFill>
                <a:latin typeface="Calibri"/>
                <a:ea typeface="Calibri"/>
                <a:cs typeface="Calibri"/>
                <a:sym typeface="Calibri"/>
              </a:rPr>
              <a:t>field</a:t>
            </a:r>
            <a:endParaRPr/>
          </a:p>
          <a:p>
            <a:pPr indent="0" lvl="1" marL="45720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includes everything in the datagram—both header and data. </a:t>
            </a:r>
            <a:endParaRPr/>
          </a:p>
          <a:p>
            <a:pPr indent="0" lvl="1" marL="45720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The maximum length is 65,535 bytes. </a:t>
            </a:r>
            <a:endParaRPr/>
          </a:p>
          <a:p>
            <a:pPr indent="0" lvl="0" marL="0" marR="0" rtl="0" algn="just">
              <a:spcBef>
                <a:spcPts val="480"/>
              </a:spcBef>
              <a:spcAft>
                <a:spcPts val="0"/>
              </a:spcAft>
              <a:buNone/>
            </a:pPr>
            <a:r>
              <a:rPr b="0" i="0" lang="en-US" sz="2400" u="none" cap="none" strike="noStrike">
                <a:solidFill>
                  <a:srgbClr val="FF0000"/>
                </a:solidFill>
                <a:latin typeface="Calibri"/>
                <a:ea typeface="Calibri"/>
                <a:cs typeface="Calibri"/>
                <a:sym typeface="Calibri"/>
              </a:rPr>
              <a:t>Identification</a:t>
            </a:r>
            <a:r>
              <a:rPr b="0" i="0" lang="en-US" sz="2400" u="none" cap="none" strike="noStrike">
                <a:solidFill>
                  <a:schemeClr val="dk1"/>
                </a:solidFill>
                <a:latin typeface="Calibri"/>
                <a:ea typeface="Calibri"/>
                <a:cs typeface="Calibri"/>
                <a:sym typeface="Calibri"/>
              </a:rPr>
              <a:t> field </a:t>
            </a:r>
            <a:endParaRPr/>
          </a:p>
          <a:p>
            <a:pPr indent="0" lvl="1" marL="45720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needed to allow the destination host to determine which datagram a newly arrived fragment belongs to. </a:t>
            </a:r>
            <a:endParaRPr/>
          </a:p>
          <a:p>
            <a:pPr indent="0" lvl="1" marL="457200" marR="0" rtl="0" algn="just">
              <a:spcBef>
                <a:spcPts val="480"/>
              </a:spcBef>
              <a:spcAft>
                <a:spcPts val="0"/>
              </a:spcAft>
              <a:buNone/>
            </a:pPr>
            <a:r>
              <a:rPr b="0" i="0" lang="en-US" sz="18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If the IP packet is fragmented then each fragmented packet will use the same 16 bit identification number to identify to which IP packet they belong to.</a:t>
            </a:r>
            <a:endParaRPr/>
          </a:p>
          <a:p>
            <a:pPr indent="0" lvl="1" marL="45720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All the fragments of a datagram contain the same Identification value.</a:t>
            </a:r>
            <a:endParaRPr/>
          </a:p>
          <a:p>
            <a:pPr indent="0" lvl="0" marL="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Note:</a:t>
            </a:r>
            <a:endParaRPr/>
          </a:p>
          <a:p>
            <a:pPr indent="0" lvl="1" marL="457200" marR="0" rtl="0" algn="just">
              <a:spcBef>
                <a:spcPts val="360"/>
              </a:spcBef>
              <a:spcAft>
                <a:spcPts val="0"/>
              </a:spcAft>
              <a:buNone/>
            </a:pPr>
            <a:r>
              <a:rPr b="1" i="0" lang="en-US" sz="1800" u="none" cap="none" strike="noStrike">
                <a:solidFill>
                  <a:schemeClr val="dk1"/>
                </a:solidFill>
                <a:latin typeface="Calibri"/>
                <a:ea typeface="Calibri"/>
                <a:cs typeface="Calibri"/>
                <a:sym typeface="Calibri"/>
              </a:rPr>
              <a:t>Fragmentation</a:t>
            </a:r>
            <a:r>
              <a:rPr b="0" i="0" lang="en-US" sz="1800" u="none" cap="none" strike="noStrike">
                <a:solidFill>
                  <a:schemeClr val="dk1"/>
                </a:solidFill>
                <a:latin typeface="Calibri"/>
                <a:ea typeface="Calibri"/>
                <a:cs typeface="Calibri"/>
                <a:sym typeface="Calibri"/>
              </a:rPr>
              <a:t> is done by the network layer when the maximum size of datagram is greater than maximum size of data that can be held in a frame</a:t>
            </a:r>
            <a:endParaRPr b="0"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61" name="Google Shape;161;p12"/>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609600" lvl="0" marL="609600" marR="0" rtl="0" algn="just">
              <a:spcBef>
                <a:spcPts val="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two 1-bit fields: DF &amp; MF</a:t>
            </a:r>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DF</a:t>
            </a:r>
            <a:r>
              <a:rPr b="0" i="0" lang="en-US" sz="2400" u="none" cap="none" strike="noStrike">
                <a:solidFill>
                  <a:schemeClr val="dk1"/>
                </a:solidFill>
                <a:latin typeface="Calibri"/>
                <a:ea typeface="Calibri"/>
                <a:cs typeface="Calibri"/>
                <a:sym typeface="Calibri"/>
              </a:rPr>
              <a:t> stands for </a:t>
            </a:r>
            <a:r>
              <a:rPr b="0" i="0" lang="en-US" sz="2400" u="none" cap="none" strike="noStrike">
                <a:solidFill>
                  <a:srgbClr val="FF0000"/>
                </a:solidFill>
                <a:latin typeface="Calibri"/>
                <a:ea typeface="Calibri"/>
                <a:cs typeface="Calibri"/>
                <a:sym typeface="Calibri"/>
              </a:rPr>
              <a:t>Don't Fragment.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It is an order to the routers not to fragment the datagram because the destination is incapable of putting the pieces back together again. </a:t>
            </a:r>
            <a:endParaRPr/>
          </a:p>
          <a:p>
            <a:pPr indent="0" lvl="1" marL="457200" marR="0" rtl="0" algn="just">
              <a:spcBef>
                <a:spcPts val="480"/>
              </a:spcBef>
              <a:spcAft>
                <a:spcPts val="0"/>
              </a:spcAft>
              <a:buNone/>
            </a:pP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MF</a:t>
            </a:r>
            <a:r>
              <a:rPr b="0" i="0" lang="en-US" sz="2400" u="none" cap="none" strike="noStrike">
                <a:solidFill>
                  <a:schemeClr val="dk1"/>
                </a:solidFill>
                <a:latin typeface="Calibri"/>
                <a:ea typeface="Calibri"/>
                <a:cs typeface="Calibri"/>
                <a:sym typeface="Calibri"/>
              </a:rPr>
              <a:t> stands for </a:t>
            </a:r>
            <a:r>
              <a:rPr b="0" i="0" lang="en-US" sz="2400" u="none" cap="none" strike="noStrike">
                <a:solidFill>
                  <a:srgbClr val="FF0000"/>
                </a:solidFill>
                <a:latin typeface="Calibri"/>
                <a:ea typeface="Calibri"/>
                <a:cs typeface="Calibri"/>
                <a:sym typeface="Calibri"/>
              </a:rPr>
              <a:t>More Fragments.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 – tells if more fragments are ahead of this fragment  if MF = 1, and if MF = 0, it is the last fragment.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68" name="Google Shape;168;p13"/>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609600" lvl="0" marL="609600" marR="0" rtl="0" algn="just">
              <a:spcBef>
                <a:spcPts val="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Fragment offset field:</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 this 13 bit field specifies the position of the fragment in the original fragmented IP packet.</a:t>
            </a:r>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Time to live </a:t>
            </a:r>
            <a:r>
              <a:rPr b="0" i="0" lang="en-US" sz="2400" u="none" cap="none" strike="noStrike">
                <a:solidFill>
                  <a:schemeClr val="dk1"/>
                </a:solidFill>
                <a:latin typeface="Calibri"/>
                <a:ea typeface="Calibri"/>
                <a:cs typeface="Calibri"/>
                <a:sym typeface="Calibri"/>
              </a:rPr>
              <a:t>field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Everytime an IP packet passes through a router, the time to live field is decremented by 1.</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 Once it hits 0 the router will drop the packet and sends  time exceeded message to the sender.</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 The time to live field has 8 bits and is used to prevent packets from looping around forever. Thus prevents datagrams from wandering around forever</a:t>
            </a:r>
            <a:endParaRPr/>
          </a:p>
          <a:p>
            <a:pPr indent="-457200" lvl="1" marL="1066800" marR="0" rtl="0" algn="just">
              <a:spcBef>
                <a:spcPts val="480"/>
              </a:spcBef>
              <a:spcAft>
                <a:spcPts val="0"/>
              </a:spcAft>
              <a:buClr>
                <a:schemeClr val="accent2"/>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75" name="Google Shape;175;p14"/>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0" lvl="1" marL="45720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Protocol</a:t>
            </a:r>
            <a:r>
              <a:rPr b="0" i="0" lang="en-US" sz="2400" u="none" cap="none" strike="noStrike">
                <a:solidFill>
                  <a:schemeClr val="dk1"/>
                </a:solidFill>
                <a:latin typeface="Calibri"/>
                <a:ea typeface="Calibri"/>
                <a:cs typeface="Calibri"/>
                <a:sym typeface="Calibri"/>
              </a:rPr>
              <a:t> field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this 8 bit field tells us which protocol is encapsulated in the IP packet, for example TCP has value 6 and UDP has value 17. </a:t>
            </a:r>
            <a:endParaRPr b="0" i="0" sz="2400" u="none" cap="none" strike="noStrike">
              <a:solidFill>
                <a:schemeClr val="dk1"/>
              </a:solidFill>
              <a:latin typeface="Calibri"/>
              <a:ea typeface="Calibri"/>
              <a:cs typeface="Calibri"/>
              <a:sym typeface="Calibri"/>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Header checksum </a:t>
            </a:r>
            <a:r>
              <a:rPr b="0" i="0" lang="en-US" sz="2400" u="none" cap="none" strike="noStrike">
                <a:solidFill>
                  <a:schemeClr val="dk1"/>
                </a:solidFill>
                <a:latin typeface="Calibri"/>
                <a:ea typeface="Calibri"/>
                <a:cs typeface="Calibri"/>
                <a:sym typeface="Calibri"/>
              </a:rPr>
              <a:t>field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verifies the header only.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field is used to store a checksum of the header. The receiver can use the checksum to check if there are any errors in the header.</a:t>
            </a:r>
            <a:endParaRPr/>
          </a:p>
          <a:p>
            <a:pPr indent="-457200" lvl="1" marL="1066800" marR="0" rtl="0" algn="just">
              <a:spcBef>
                <a:spcPts val="480"/>
              </a:spcBef>
              <a:spcAft>
                <a:spcPts val="0"/>
              </a:spcAft>
              <a:buClr>
                <a:schemeClr val="accent2"/>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IP Protocol</a:t>
            </a:r>
            <a:endParaRPr/>
          </a:p>
        </p:txBody>
      </p:sp>
      <p:sp>
        <p:nvSpPr>
          <p:cNvPr id="182" name="Google Shape;182;p15"/>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Source IP address</a:t>
            </a:r>
            <a:r>
              <a:rPr b="1" i="1" lang="en-US" sz="1800" u="none" cap="none" strike="noStrike">
                <a:solidFill>
                  <a:schemeClr val="dk1"/>
                </a:solidFill>
                <a:latin typeface="Calibri"/>
                <a:ea typeface="Calibri"/>
                <a:cs typeface="Calibri"/>
                <a:sym typeface="Calibri"/>
              </a:rPr>
              <a:t>:</a:t>
            </a:r>
            <a:r>
              <a:rPr b="0" i="1" lang="en-US" sz="18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32 bits IP address of the sender</a:t>
            </a:r>
            <a:endParaRPr/>
          </a:p>
          <a:p>
            <a:pPr indent="0" lvl="0" marL="0" marR="0" rtl="0" algn="l">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Destination IP address</a:t>
            </a:r>
            <a:r>
              <a:rPr b="1" i="1" lang="en-US" sz="1800" u="none" cap="none" strike="noStrike">
                <a:solidFill>
                  <a:schemeClr val="dk1"/>
                </a:solidFill>
                <a:latin typeface="Calibri"/>
                <a:ea typeface="Calibri"/>
                <a:cs typeface="Calibri"/>
                <a:sym typeface="Calibri"/>
              </a:rPr>
              <a:t>:</a:t>
            </a:r>
            <a:r>
              <a:rPr b="0" i="1" lang="en-US" sz="18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32 bits IP address of the receiver</a:t>
            </a:r>
            <a:endParaRPr/>
          </a:p>
          <a:p>
            <a:pPr indent="-609600" lvl="0" marL="609600" marR="0" rtl="0" algn="just">
              <a:spcBef>
                <a:spcPts val="480"/>
              </a:spcBef>
              <a:spcAft>
                <a:spcPts val="0"/>
              </a:spcAft>
              <a:buClr>
                <a:schemeClr val="accent2"/>
              </a:buClr>
              <a:buSzPts val="2400"/>
              <a:buFont typeface="Noto Sans Symbols"/>
              <a:buChar char="▪"/>
            </a:pPr>
            <a:r>
              <a:rPr b="0" i="0" lang="en-US" sz="2400" u="none" cap="none" strike="noStrike">
                <a:solidFill>
                  <a:srgbClr val="FF0000"/>
                </a:solidFill>
                <a:latin typeface="Calibri"/>
                <a:ea typeface="Calibri"/>
                <a:cs typeface="Calibri"/>
                <a:sym typeface="Calibri"/>
              </a:rPr>
              <a:t>Options</a:t>
            </a:r>
            <a:r>
              <a:rPr b="0" i="0" lang="en-US" sz="2400" u="none" cap="none" strike="noStrike">
                <a:solidFill>
                  <a:schemeClr val="dk1"/>
                </a:solidFill>
                <a:latin typeface="Calibri"/>
                <a:ea typeface="Calibri"/>
                <a:cs typeface="Calibri"/>
                <a:sym typeface="Calibri"/>
              </a:rPr>
              <a:t> field </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Optional information such as source route, record route.</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 Used by the Network administrator to check whether a path is working or not</a:t>
            </a:r>
            <a:r>
              <a:rPr b="0" i="1" lang="en-US" sz="1800" u="none" cap="none" strike="noStrike">
                <a:solidFill>
                  <a:schemeClr val="dk1"/>
                </a:solidFill>
                <a:latin typeface="Calibri"/>
                <a:ea typeface="Calibri"/>
                <a:cs typeface="Calibri"/>
                <a:sym typeface="Calibri"/>
              </a:rPr>
              <a:t>.</a:t>
            </a:r>
            <a:endParaRPr/>
          </a:p>
          <a:p>
            <a:pPr indent="-609600" lvl="1" marL="1066800" marR="0" rtl="0" algn="just">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Calibri"/>
                <a:ea typeface="Calibri"/>
                <a:cs typeface="Calibri"/>
                <a:sym typeface="Calibri"/>
              </a:rPr>
              <a:t>The options are variable length and is not used often.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6"/>
          <p:cNvSpPr txBox="1"/>
          <p:nvPr>
            <p:ph type="title"/>
          </p:nvPr>
        </p:nvSpPr>
        <p:spPr>
          <a:xfrm>
            <a:off x="1524000" y="74951"/>
            <a:ext cx="9144000" cy="704543"/>
          </a:xfrm>
          <a:prstGeom prst="rect">
            <a:avLst/>
          </a:prstGeom>
          <a:noFill/>
          <a:ln>
            <a:noFill/>
          </a:ln>
        </p:spPr>
        <p:txBody>
          <a:bodyPr anchorCtr="0" anchor="ctr" bIns="45700" lIns="91425" spcFirstLastPara="1" rIns="91425" wrap="square" tIns="45700">
            <a:normAutofit/>
          </a:bodyPr>
          <a:lstStyle/>
          <a:p>
            <a:pPr indent="-609600" lvl="0" marL="609600" rtl="0" algn="ctr">
              <a:lnSpc>
                <a:spcPct val="90000"/>
              </a:lnSpc>
              <a:spcBef>
                <a:spcPts val="0"/>
              </a:spcBef>
              <a:spcAft>
                <a:spcPts val="0"/>
              </a:spcAft>
              <a:buClr>
                <a:schemeClr val="accent2"/>
              </a:buClr>
              <a:buSzPts val="4400"/>
              <a:buFont typeface="Calibri"/>
              <a:buNone/>
            </a:pPr>
            <a:r>
              <a:rPr lang="en-US"/>
              <a:t>Some of the IP options.</a:t>
            </a:r>
            <a:endParaRPr/>
          </a:p>
        </p:txBody>
      </p:sp>
      <p:sp>
        <p:nvSpPr>
          <p:cNvPr id="189" name="Google Shape;189;p16"/>
          <p:cNvSpPr txBox="1"/>
          <p:nvPr/>
        </p:nvSpPr>
        <p:spPr>
          <a:xfrm>
            <a:off x="1524000" y="710692"/>
            <a:ext cx="9144000" cy="5889978"/>
          </a:xfrm>
          <a:prstGeom prst="rect">
            <a:avLst/>
          </a:prstGeom>
          <a:noFill/>
          <a:ln>
            <a:noFill/>
          </a:ln>
        </p:spPr>
        <p:txBody>
          <a:bodyPr anchorCtr="0" anchor="t" bIns="45700" lIns="91425" spcFirstLastPara="1" rIns="91425" wrap="square" tIns="45700">
            <a:noAutofit/>
          </a:bodyPr>
          <a:lstStyle/>
          <a:p>
            <a:pPr indent="-457200" lvl="1" marL="1066800" marR="0" rtl="0" algn="just">
              <a:spcBef>
                <a:spcPts val="0"/>
              </a:spcBef>
              <a:spcAft>
                <a:spcPts val="0"/>
              </a:spcAft>
              <a:buClr>
                <a:schemeClr val="accent2"/>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pic>
        <p:nvPicPr>
          <p:cNvPr descr="5-54" id="190" name="Google Shape;190;p16"/>
          <p:cNvPicPr preferRelativeResize="0"/>
          <p:nvPr/>
        </p:nvPicPr>
        <p:blipFill rotWithShape="1">
          <a:blip r:embed="rId3">
            <a:alphaModFix/>
          </a:blip>
          <a:srcRect b="0" l="0" r="0" t="0"/>
          <a:stretch/>
        </p:blipFill>
        <p:spPr>
          <a:xfrm>
            <a:off x="1935515" y="2060812"/>
            <a:ext cx="8216900" cy="3662655"/>
          </a:xfrm>
          <a:prstGeom prst="rect">
            <a:avLst/>
          </a:prstGeom>
          <a:noFill/>
          <a:ln>
            <a:noFill/>
          </a:ln>
        </p:spPr>
      </p:pic>
      <p:sp>
        <p:nvSpPr>
          <p:cNvPr id="191" name="Google Shape;191;p16"/>
          <p:cNvSpPr txBox="1"/>
          <p:nvPr/>
        </p:nvSpPr>
        <p:spPr>
          <a:xfrm>
            <a:off x="1518354" y="5991580"/>
            <a:ext cx="9144000" cy="544689"/>
          </a:xfrm>
          <a:prstGeom prst="rect">
            <a:avLst/>
          </a:prstGeom>
          <a:noFill/>
          <a:ln>
            <a:noFill/>
          </a:ln>
        </p:spPr>
        <p:txBody>
          <a:bodyPr anchorCtr="0" anchor="t" bIns="45700" lIns="91425" spcFirstLastPara="1" rIns="91425" wrap="square" tIns="45700">
            <a:noAutofit/>
          </a:bodyPr>
          <a:lstStyle/>
          <a:p>
            <a:pPr indent="-609600" lvl="0" marL="60960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2022-12-10T05:24:18Z</dcterms:created>
  <dc:creator>DIVYA</dc:creator>
</cp:coreProperties>
</file>