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GuwKwmMPbCdS1ToxWr+YnQkqh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5183188" y="987425"/>
            <a:ext cx="6172200" cy="4873625"/>
          </a:xfrm>
          <a:prstGeom prst="rect">
            <a:avLst/>
          </a:prstGeom>
          <a:noFill/>
          <a:ln>
            <a:noFill/>
          </a:ln>
        </p:spPr>
      </p:sp>
      <p:sp>
        <p:nvSpPr>
          <p:cNvPr id="64" name="Google Shape;64;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HDLC</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Link layer protocols</a:t>
            </a:r>
            <a:endParaRPr/>
          </a:p>
        </p:txBody>
      </p:sp>
      <p:pic>
        <p:nvPicPr>
          <p:cNvPr id="91" name="Google Shape;91;p2"/>
          <p:cNvPicPr preferRelativeResize="0"/>
          <p:nvPr>
            <p:ph idx="1" type="body"/>
          </p:nvPr>
        </p:nvPicPr>
        <p:blipFill rotWithShape="1">
          <a:blip r:embed="rId3">
            <a:alphaModFix/>
          </a:blip>
          <a:srcRect b="0" l="0" r="0" t="0"/>
          <a:stretch/>
        </p:blipFill>
        <p:spPr>
          <a:xfrm>
            <a:off x="1635616" y="1571224"/>
            <a:ext cx="7650051" cy="491972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High-Level Data Link Protocol (HDLC)</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High-level Data Link Control (HDLC) is a group of communication protocols of the data link layer </a:t>
            </a:r>
            <a:r>
              <a:rPr lang="en-US">
                <a:solidFill>
                  <a:srgbClr val="FF0000"/>
                </a:solidFill>
              </a:rPr>
              <a:t>for transmitting data between network points or nodes. </a:t>
            </a:r>
            <a:endParaRPr>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Since it is a data link protocol, data is organized into frames. </a:t>
            </a:r>
            <a:endParaRPr/>
          </a:p>
          <a:p>
            <a:pPr indent="-228600" lvl="0" marL="228600" rtl="0" algn="l">
              <a:lnSpc>
                <a:spcPct val="90000"/>
              </a:lnSpc>
              <a:spcBef>
                <a:spcPts val="1000"/>
              </a:spcBef>
              <a:spcAft>
                <a:spcPts val="0"/>
              </a:spcAft>
              <a:buClr>
                <a:schemeClr val="dk1"/>
              </a:buClr>
              <a:buSzPct val="100000"/>
              <a:buChar char="•"/>
            </a:pPr>
            <a:r>
              <a:rPr lang="en-US"/>
              <a:t> It is a bit - oriented protocol that is applicable for both point - to - point and multipoint communications.</a:t>
            </a:r>
            <a:endParaRPr/>
          </a:p>
          <a:p>
            <a:pPr indent="-228600" lvl="0" marL="228600" rtl="0" algn="l">
              <a:lnSpc>
                <a:spcPct val="90000"/>
              </a:lnSpc>
              <a:spcBef>
                <a:spcPts val="1000"/>
              </a:spcBef>
              <a:spcAft>
                <a:spcPts val="0"/>
              </a:spcAft>
              <a:buClr>
                <a:schemeClr val="dk1"/>
              </a:buClr>
              <a:buSzPct val="100000"/>
              <a:buChar char="•"/>
            </a:pPr>
            <a:r>
              <a:rPr lang="en-US"/>
              <a:t>HDLC protocol embeds information in a data frame that allows devices to control data flow and correct errors</a:t>
            </a:r>
            <a:endParaRPr/>
          </a:p>
          <a:p>
            <a:pPr indent="-228600" lvl="0" marL="228600" rtl="0" algn="l">
              <a:lnSpc>
                <a:spcPct val="90000"/>
              </a:lnSpc>
              <a:spcBef>
                <a:spcPts val="1000"/>
              </a:spcBef>
              <a:spcAft>
                <a:spcPts val="0"/>
              </a:spcAft>
              <a:buClr>
                <a:schemeClr val="dk1"/>
              </a:buClr>
              <a:buSzPct val="100000"/>
              <a:buChar char="•"/>
            </a:pPr>
            <a:r>
              <a:rPr lang="en-US"/>
              <a:t>HDLC uses similar format and mechanisms as that of other essential data link protocols.</a:t>
            </a:r>
            <a:endParaRPr/>
          </a:p>
          <a:p>
            <a:pPr indent="-228600" lvl="0" marL="228600" rtl="0" algn="l">
              <a:lnSpc>
                <a:spcPct val="90000"/>
              </a:lnSpc>
              <a:spcBef>
                <a:spcPts val="1000"/>
              </a:spcBef>
              <a:spcAft>
                <a:spcPts val="0"/>
              </a:spcAft>
              <a:buClr>
                <a:schemeClr val="dk1"/>
              </a:buClr>
              <a:buSzPct val="100000"/>
              <a:buChar char="•"/>
            </a:pPr>
            <a:r>
              <a:rPr lang="en-US"/>
              <a:t>It also </a:t>
            </a:r>
            <a:r>
              <a:rPr lang="en-US">
                <a:solidFill>
                  <a:srgbClr val="FF0000"/>
                </a:solidFill>
              </a:rPr>
              <a:t>supports full-duplex communication </a:t>
            </a:r>
            <a:r>
              <a:rPr lang="en-US"/>
              <a:t>or transmission as well as half-duplex communication or transmission.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5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5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500"/>
                                        <p:tgtEl>
                                          <p:spTgt spid="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Effect filter="fade" transition="in">
                                      <p:cBhvr>
                                        <p:cTn dur="500"/>
                                        <p:tgtEl>
                                          <p:spTgt spid="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animEffect filter="fade" transition="in">
                                      <p:cBhvr>
                                        <p:cTn dur="500"/>
                                        <p:tgtEl>
                                          <p:spTgt spid="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animEffect filter="fade" transition="in">
                                      <p:cBhvr>
                                        <p:cTn dur="500"/>
                                        <p:tgtEl>
                                          <p:spTgt spid="9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Types of Stations in HDLC</a:t>
            </a:r>
            <a:br>
              <a:rPr lang="en-US"/>
            </a:b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HDLC generally specifies the three types of stations for data link control as given below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04" name="Google Shape;104;p4"/>
          <p:cNvPicPr preferRelativeResize="0"/>
          <p:nvPr/>
        </p:nvPicPr>
        <p:blipFill rotWithShape="1">
          <a:blip r:embed="rId3">
            <a:alphaModFix/>
          </a:blip>
          <a:srcRect b="0" l="0" r="0" t="0"/>
          <a:stretch/>
        </p:blipFill>
        <p:spPr>
          <a:xfrm>
            <a:off x="2405196" y="3033377"/>
            <a:ext cx="6943725" cy="2800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Primary Station :</a:t>
            </a:r>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Primary Station simply takes care of </a:t>
            </a:r>
            <a:r>
              <a:rPr lang="en-US">
                <a:solidFill>
                  <a:srgbClr val="FF0000"/>
                </a:solidFill>
              </a:rPr>
              <a:t>data link management</a:t>
            </a:r>
            <a:r>
              <a:rPr lang="en-US"/>
              <a:t>.</a:t>
            </a:r>
            <a:endParaRPr/>
          </a:p>
          <a:p>
            <a:pPr indent="-228600" lvl="0" marL="228600" rtl="0" algn="l">
              <a:lnSpc>
                <a:spcPct val="90000"/>
              </a:lnSpc>
              <a:spcBef>
                <a:spcPts val="1000"/>
              </a:spcBef>
              <a:spcAft>
                <a:spcPts val="0"/>
              </a:spcAft>
              <a:buClr>
                <a:schemeClr val="dk1"/>
              </a:buClr>
              <a:buSzPts val="2800"/>
              <a:buChar char="•"/>
            </a:pPr>
            <a:r>
              <a:rPr lang="en-US"/>
              <a:t> The main responsibility of primary station is to control operation of all other stations on links. </a:t>
            </a:r>
            <a:endParaRPr/>
          </a:p>
          <a:p>
            <a:pPr indent="-228600" lvl="0" marL="228600" rtl="0" algn="l">
              <a:lnSpc>
                <a:spcPct val="90000"/>
              </a:lnSpc>
              <a:spcBef>
                <a:spcPts val="1000"/>
              </a:spcBef>
              <a:spcAft>
                <a:spcPts val="0"/>
              </a:spcAft>
              <a:buClr>
                <a:schemeClr val="dk1"/>
              </a:buClr>
              <a:buSzPts val="2800"/>
              <a:buChar char="•"/>
            </a:pPr>
            <a:r>
              <a:rPr lang="en-US"/>
              <a:t>It usually </a:t>
            </a:r>
            <a:r>
              <a:rPr lang="en-US">
                <a:solidFill>
                  <a:srgbClr val="FF0000"/>
                </a:solidFill>
              </a:rPr>
              <a:t>acts as master </a:t>
            </a:r>
            <a:r>
              <a:rPr lang="en-US"/>
              <a:t>and controls operation of secondary stations and also handles error recovery at data link layer.</a:t>
            </a:r>
            <a:endParaRPr/>
          </a:p>
          <a:p>
            <a:pPr indent="-228600" lvl="0" marL="228600" rtl="0" algn="l">
              <a:lnSpc>
                <a:spcPct val="90000"/>
              </a:lnSpc>
              <a:spcBef>
                <a:spcPts val="1000"/>
              </a:spcBef>
              <a:spcAft>
                <a:spcPts val="0"/>
              </a:spcAft>
              <a:buClr>
                <a:schemeClr val="dk1"/>
              </a:buClr>
              <a:buSzPts val="2800"/>
              <a:buChar char="•"/>
            </a:pPr>
            <a:r>
              <a:rPr lang="en-US"/>
              <a:t>It also manages and controls connection to all secondary sessions by sending commands. ( frames issued by the primary station are commonly known as commands.)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Secondary Station :</a:t>
            </a:r>
            <a:endParaRPr/>
          </a:p>
        </p:txBody>
      </p:sp>
      <p:sp>
        <p:nvSpPr>
          <p:cNvPr id="116" name="Google Shape;11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Secondary stations generally </a:t>
            </a:r>
            <a:r>
              <a:rPr lang="en-US">
                <a:solidFill>
                  <a:srgbClr val="FF0000"/>
                </a:solidFill>
              </a:rPr>
              <a:t>give responses </a:t>
            </a:r>
            <a:r>
              <a:rPr lang="en-US"/>
              <a:t>to commands that are sent from primary station.</a:t>
            </a:r>
            <a:endParaRPr/>
          </a:p>
          <a:p>
            <a:pPr indent="-228600" lvl="0" marL="228600" rtl="0" algn="l">
              <a:lnSpc>
                <a:spcPct val="90000"/>
              </a:lnSpc>
              <a:spcBef>
                <a:spcPts val="1000"/>
              </a:spcBef>
              <a:spcAft>
                <a:spcPts val="0"/>
              </a:spcAft>
              <a:buClr>
                <a:schemeClr val="dk1"/>
              </a:buClr>
              <a:buSzPts val="2800"/>
              <a:buChar char="•"/>
            </a:pPr>
            <a:r>
              <a:rPr lang="en-US"/>
              <a:t> This station </a:t>
            </a:r>
            <a:r>
              <a:rPr lang="en-US">
                <a:solidFill>
                  <a:srgbClr val="FF0000"/>
                </a:solidFill>
              </a:rPr>
              <a:t>act as slave </a:t>
            </a:r>
            <a:r>
              <a:rPr lang="en-US"/>
              <a:t>and basically operates and works under control of primary station. </a:t>
            </a:r>
            <a:endParaRPr/>
          </a:p>
          <a:p>
            <a:pPr indent="-228600" lvl="0" marL="228600" rtl="0" algn="l">
              <a:lnSpc>
                <a:spcPct val="90000"/>
              </a:lnSpc>
              <a:spcBef>
                <a:spcPts val="1000"/>
              </a:spcBef>
              <a:spcAft>
                <a:spcPts val="0"/>
              </a:spcAft>
              <a:buClr>
                <a:schemeClr val="dk1"/>
              </a:buClr>
              <a:buSzPts val="2800"/>
              <a:buChar char="•"/>
            </a:pPr>
            <a:r>
              <a:rPr lang="en-US"/>
              <a:t>It only </a:t>
            </a:r>
            <a:r>
              <a:rPr lang="en-US">
                <a:solidFill>
                  <a:srgbClr val="FF0000"/>
                </a:solidFill>
              </a:rPr>
              <a:t>transmits or sends response </a:t>
            </a:r>
            <a:r>
              <a:rPr lang="en-US"/>
              <a:t>frame when this response frame is being requested by primary station.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500"/>
                                        <p:tgtEl>
                                          <p:spTgt spid="1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500"/>
                                        <p:tgtEl>
                                          <p:spTgt spid="1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Effect filter="fade" transition="in">
                                      <p:cBhvr>
                                        <p:cTn dur="500"/>
                                        <p:tgtEl>
                                          <p:spTgt spid="11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Combined Station</a:t>
            </a:r>
            <a:endParaRPr/>
          </a:p>
        </p:txBody>
      </p:sp>
      <p:sp>
        <p:nvSpPr>
          <p:cNvPr id="122" name="Google Shape;122;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The combined station </a:t>
            </a:r>
            <a:r>
              <a:rPr lang="en-US">
                <a:solidFill>
                  <a:srgbClr val="FF0000"/>
                </a:solidFill>
              </a:rPr>
              <a:t>acts as both Primary stations as well as Secondary stations. </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t>The combined station issues both commands as well as responses.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Transfer Modes</a:t>
            </a:r>
            <a:br>
              <a:rPr lang="en-US"/>
            </a:br>
            <a:endParaRPr/>
          </a:p>
        </p:txBody>
      </p:sp>
      <p:sp>
        <p:nvSpPr>
          <p:cNvPr id="128" name="Google Shape;12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HDLC supports two types of transfer modes</a:t>
            </a:r>
            <a:endParaRPr/>
          </a:p>
          <a:p>
            <a:pPr indent="-514350" lvl="1" marL="971550" rtl="0" algn="l">
              <a:lnSpc>
                <a:spcPct val="90000"/>
              </a:lnSpc>
              <a:spcBef>
                <a:spcPts val="500"/>
              </a:spcBef>
              <a:spcAft>
                <a:spcPts val="0"/>
              </a:spcAft>
              <a:buClr>
                <a:schemeClr val="dk1"/>
              </a:buClr>
              <a:buSzPts val="3200"/>
              <a:buFont typeface="Calibri"/>
              <a:buAutoNum type="arabicPeriod"/>
            </a:pPr>
            <a:r>
              <a:rPr lang="en-US" sz="3200"/>
              <a:t>Normal response mode </a:t>
            </a:r>
            <a:endParaRPr sz="3200"/>
          </a:p>
          <a:p>
            <a:pPr indent="-311150" lvl="1" marL="971550" rtl="0" algn="l">
              <a:lnSpc>
                <a:spcPct val="90000"/>
              </a:lnSpc>
              <a:spcBef>
                <a:spcPts val="500"/>
              </a:spcBef>
              <a:spcAft>
                <a:spcPts val="0"/>
              </a:spcAft>
              <a:buClr>
                <a:schemeClr val="dk1"/>
              </a:buClr>
              <a:buSzPts val="3200"/>
              <a:buFont typeface="Calibri"/>
              <a:buNone/>
            </a:pPr>
            <a:r>
              <a:t/>
            </a:r>
            <a:endParaRPr sz="3200"/>
          </a:p>
          <a:p>
            <a:pPr indent="-514350" lvl="1" marL="971550" rtl="0" algn="l">
              <a:lnSpc>
                <a:spcPct val="90000"/>
              </a:lnSpc>
              <a:spcBef>
                <a:spcPts val="500"/>
              </a:spcBef>
              <a:spcAft>
                <a:spcPts val="0"/>
              </a:spcAft>
              <a:buClr>
                <a:schemeClr val="dk1"/>
              </a:buClr>
              <a:buSzPts val="3200"/>
              <a:buFont typeface="Calibri"/>
              <a:buAutoNum type="arabicPeriod"/>
            </a:pPr>
            <a:r>
              <a:rPr lang="en-US" sz="3200"/>
              <a:t>Asynchronous balanced mode.</a:t>
            </a:r>
            <a:endParaRPr/>
          </a:p>
          <a:p>
            <a:pPr indent="-311150" lvl="1" marL="971550" rtl="0" algn="l">
              <a:lnSpc>
                <a:spcPct val="90000"/>
              </a:lnSpc>
              <a:spcBef>
                <a:spcPts val="500"/>
              </a:spcBef>
              <a:spcAft>
                <a:spcPts val="0"/>
              </a:spcAft>
              <a:buClr>
                <a:schemeClr val="dk1"/>
              </a:buClr>
              <a:buSzPts val="3200"/>
              <a:buFont typeface="Calibri"/>
              <a:buNone/>
            </a:pPr>
            <a:r>
              <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Normal Response Mode (NRM)</a:t>
            </a:r>
            <a:r>
              <a:rPr lang="en-US"/>
              <a:t> −</a:t>
            </a:r>
            <a:endParaRPr/>
          </a:p>
        </p:txBody>
      </p:sp>
      <p:sp>
        <p:nvSpPr>
          <p:cNvPr id="134" name="Google Shape;13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Here, two types of stations are there, a primary station that send commands and secondary station that can respond to received commands.</a:t>
            </a:r>
            <a:endParaRPr/>
          </a:p>
          <a:p>
            <a:pPr indent="-228600" lvl="0" marL="228600" rtl="0" algn="l">
              <a:lnSpc>
                <a:spcPct val="90000"/>
              </a:lnSpc>
              <a:spcBef>
                <a:spcPts val="1000"/>
              </a:spcBef>
              <a:spcAft>
                <a:spcPts val="0"/>
              </a:spcAft>
              <a:buClr>
                <a:schemeClr val="dk1"/>
              </a:buClr>
              <a:buSzPts val="2800"/>
              <a:buChar char="•"/>
            </a:pPr>
            <a:r>
              <a:rPr lang="en-US"/>
              <a:t> It is used for both point - to - point and multipoint communications.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35" name="Google Shape;135;p9"/>
          <p:cNvPicPr preferRelativeResize="0"/>
          <p:nvPr/>
        </p:nvPicPr>
        <p:blipFill rotWithShape="1">
          <a:blip r:embed="rId3">
            <a:alphaModFix/>
          </a:blip>
          <a:srcRect b="0" l="0" r="0" t="0"/>
          <a:stretch/>
        </p:blipFill>
        <p:spPr>
          <a:xfrm>
            <a:off x="1854559" y="3734874"/>
            <a:ext cx="7212168" cy="24420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5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5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500"/>
                                        <p:tgtEl>
                                          <p:spTgt spid="13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Normal Response Mode (NRM)</a:t>
            </a:r>
            <a:r>
              <a:rPr lang="en-US"/>
              <a:t> −</a:t>
            </a:r>
            <a:endParaRPr/>
          </a:p>
        </p:txBody>
      </p:sp>
      <p:sp>
        <p:nvSpPr>
          <p:cNvPr id="141" name="Google Shape;14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42" name="Google Shape;142;p10"/>
          <p:cNvPicPr preferRelativeResize="0"/>
          <p:nvPr/>
        </p:nvPicPr>
        <p:blipFill rotWithShape="1">
          <a:blip r:embed="rId3">
            <a:alphaModFix/>
          </a:blip>
          <a:srcRect b="0" l="0" r="0" t="0"/>
          <a:stretch/>
        </p:blipFill>
        <p:spPr>
          <a:xfrm>
            <a:off x="1661375" y="2279561"/>
            <a:ext cx="8512935" cy="32712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Asynchronous Balanced Mode (ABM)</a:t>
            </a:r>
            <a:endParaRPr/>
          </a:p>
        </p:txBody>
      </p:sp>
      <p:sp>
        <p:nvSpPr>
          <p:cNvPr id="148" name="Google Shape;148;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Here, the configuration is balanced, i.e. each station can both send commands and respond to commands.</a:t>
            </a:r>
            <a:endParaRPr/>
          </a:p>
          <a:p>
            <a:pPr indent="-228600" lvl="0" marL="228600" rtl="0" algn="l">
              <a:lnSpc>
                <a:spcPct val="90000"/>
              </a:lnSpc>
              <a:spcBef>
                <a:spcPts val="1000"/>
              </a:spcBef>
              <a:spcAft>
                <a:spcPts val="0"/>
              </a:spcAft>
              <a:buClr>
                <a:schemeClr val="dk1"/>
              </a:buClr>
              <a:buSzPts val="2800"/>
              <a:buChar char="•"/>
            </a:pPr>
            <a:r>
              <a:rPr lang="en-US"/>
              <a:t> It is used for only point - to - point communications.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49" name="Google Shape;149;p11"/>
          <p:cNvPicPr preferRelativeResize="0"/>
          <p:nvPr/>
        </p:nvPicPr>
        <p:blipFill rotWithShape="1">
          <a:blip r:embed="rId3">
            <a:alphaModFix/>
          </a:blip>
          <a:srcRect b="0" l="0" r="0" t="0"/>
          <a:stretch/>
        </p:blipFill>
        <p:spPr>
          <a:xfrm>
            <a:off x="2009104" y="3631842"/>
            <a:ext cx="7662929" cy="268005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Frame structure of HDLC</a:t>
            </a:r>
            <a:endParaRPr/>
          </a:p>
        </p:txBody>
      </p:sp>
      <p:sp>
        <p:nvSpPr>
          <p:cNvPr id="155" name="Google Shape;15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HDLC is a bit - oriented protocol where each frame contains up to six fields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6" name="Google Shape;156;p12"/>
          <p:cNvPicPr preferRelativeResize="0"/>
          <p:nvPr/>
        </p:nvPicPr>
        <p:blipFill rotWithShape="1">
          <a:blip r:embed="rId3">
            <a:alphaModFix/>
          </a:blip>
          <a:srcRect b="0" l="0" r="0" t="0"/>
          <a:stretch/>
        </p:blipFill>
        <p:spPr>
          <a:xfrm>
            <a:off x="1429556" y="3875332"/>
            <a:ext cx="8281114" cy="24365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Frame structure of HDLC</a:t>
            </a:r>
            <a:endParaRPr/>
          </a:p>
        </p:txBody>
      </p:sp>
      <p:sp>
        <p:nvSpPr>
          <p:cNvPr id="162" name="Google Shape;16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Flag</a:t>
            </a:r>
            <a:r>
              <a:rPr lang="en-US"/>
              <a:t> − It is an 8-bit sequence that marks the beginning and the end of the frame. The bit pattern of the flag is 01111110.</a:t>
            </a:r>
            <a:endParaRPr/>
          </a:p>
          <a:p>
            <a:pPr indent="-228600" lvl="0" marL="228600" rtl="0" algn="l">
              <a:lnSpc>
                <a:spcPct val="90000"/>
              </a:lnSpc>
              <a:spcBef>
                <a:spcPts val="1000"/>
              </a:spcBef>
              <a:spcAft>
                <a:spcPts val="0"/>
              </a:spcAft>
              <a:buClr>
                <a:schemeClr val="dk1"/>
              </a:buClr>
              <a:buSzPct val="100000"/>
              <a:buChar char="•"/>
            </a:pPr>
            <a:r>
              <a:rPr b="1" lang="en-US"/>
              <a:t>Address</a:t>
            </a:r>
            <a:r>
              <a:rPr lang="en-US"/>
              <a:t> − It contains the address of the receiver. If the frame is sent by the primary station, it contains the address(es) of the secondary station(s). If it is sent by the secondary station, it contains the address of the primary station. The address field may be from 1 byte to several bytes.</a:t>
            </a:r>
            <a:endParaRPr/>
          </a:p>
          <a:p>
            <a:pPr indent="-228600" lvl="0" marL="228600" rtl="0" algn="l">
              <a:lnSpc>
                <a:spcPct val="90000"/>
              </a:lnSpc>
              <a:spcBef>
                <a:spcPts val="1000"/>
              </a:spcBef>
              <a:spcAft>
                <a:spcPts val="0"/>
              </a:spcAft>
              <a:buClr>
                <a:schemeClr val="dk1"/>
              </a:buClr>
              <a:buSzPct val="100000"/>
              <a:buChar char="•"/>
            </a:pPr>
            <a:r>
              <a:rPr b="1" lang="en-US"/>
              <a:t>Control</a:t>
            </a:r>
            <a:r>
              <a:rPr lang="en-US"/>
              <a:t> − It is 1 or 2 bytes containing flow and error control information.</a:t>
            </a:r>
            <a:endParaRPr/>
          </a:p>
          <a:p>
            <a:pPr indent="-228600" lvl="0" marL="228600" rtl="0" algn="l">
              <a:lnSpc>
                <a:spcPct val="90000"/>
              </a:lnSpc>
              <a:spcBef>
                <a:spcPts val="1000"/>
              </a:spcBef>
              <a:spcAft>
                <a:spcPts val="0"/>
              </a:spcAft>
              <a:buClr>
                <a:schemeClr val="dk1"/>
              </a:buClr>
              <a:buSzPct val="100000"/>
              <a:buChar char="•"/>
            </a:pPr>
            <a:r>
              <a:rPr b="1" lang="en-US"/>
              <a:t>Payload</a:t>
            </a:r>
            <a:r>
              <a:rPr lang="en-US"/>
              <a:t> − This carries the data from the network layer. Its length may vary from one network to another.</a:t>
            </a:r>
            <a:endParaRPr/>
          </a:p>
          <a:p>
            <a:pPr indent="-228600" lvl="0" marL="228600" rtl="0" algn="l">
              <a:lnSpc>
                <a:spcPct val="90000"/>
              </a:lnSpc>
              <a:spcBef>
                <a:spcPts val="1000"/>
              </a:spcBef>
              <a:spcAft>
                <a:spcPts val="0"/>
              </a:spcAft>
              <a:buClr>
                <a:schemeClr val="dk1"/>
              </a:buClr>
              <a:buSzPct val="100000"/>
              <a:buChar char="•"/>
            </a:pPr>
            <a:r>
              <a:rPr b="1" lang="en-US"/>
              <a:t>FCS</a:t>
            </a:r>
            <a:r>
              <a:rPr lang="en-US"/>
              <a:t> − It is a 2 byte or 4 bytes </a:t>
            </a:r>
            <a:r>
              <a:rPr lang="en-US">
                <a:solidFill>
                  <a:srgbClr val="FF0000"/>
                </a:solidFill>
              </a:rPr>
              <a:t>frame check sequence </a:t>
            </a:r>
            <a:r>
              <a:rPr lang="en-US"/>
              <a:t>for error detection. The standard code used is CRC (cyclic redundancy code)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5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5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5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5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500"/>
                                        <p:tgtEl>
                                          <p:spTgt spid="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Effect filter="fade" transition="in">
                                      <p:cBhvr>
                                        <p:cTn dur="500"/>
                                        <p:tgtEl>
                                          <p:spTgt spid="16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HDLC Frames</a:t>
            </a:r>
            <a:br>
              <a:rPr lang="en-US"/>
            </a:br>
            <a:endParaRPr/>
          </a:p>
        </p:txBody>
      </p:sp>
      <p:sp>
        <p:nvSpPr>
          <p:cNvPr id="168" name="Google Shape;16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three types of HDLC frames. The type of frame is determined by the control field of the frame −</a:t>
            </a:r>
            <a:endParaRPr/>
          </a:p>
          <a:p>
            <a:pPr indent="-228600" lvl="0" marL="228600" rtl="0" algn="l">
              <a:lnSpc>
                <a:spcPct val="90000"/>
              </a:lnSpc>
              <a:spcBef>
                <a:spcPts val="1000"/>
              </a:spcBef>
              <a:spcAft>
                <a:spcPts val="0"/>
              </a:spcAft>
              <a:buClr>
                <a:schemeClr val="dk1"/>
              </a:buClr>
              <a:buSzPts val="2800"/>
              <a:buChar char="•"/>
            </a:pPr>
            <a:r>
              <a:rPr b="1" lang="en-US"/>
              <a:t>I-frame</a:t>
            </a:r>
            <a:r>
              <a:rPr lang="en-US"/>
              <a:t>  or Information frames </a:t>
            </a:r>
            <a:endParaRPr/>
          </a:p>
          <a:p>
            <a:pPr indent="-228600" lvl="0" marL="228600" rtl="0" algn="l">
              <a:lnSpc>
                <a:spcPct val="90000"/>
              </a:lnSpc>
              <a:spcBef>
                <a:spcPts val="1000"/>
              </a:spcBef>
              <a:spcAft>
                <a:spcPts val="0"/>
              </a:spcAft>
              <a:buClr>
                <a:schemeClr val="dk1"/>
              </a:buClr>
              <a:buSzPts val="2800"/>
              <a:buChar char="•"/>
            </a:pPr>
            <a:r>
              <a:rPr b="1" lang="en-US"/>
              <a:t>S-frame</a:t>
            </a:r>
            <a:r>
              <a:rPr lang="en-US"/>
              <a:t>  or Supervisory frames </a:t>
            </a:r>
            <a:endParaRPr/>
          </a:p>
          <a:p>
            <a:pPr indent="-228600" lvl="0" marL="228600" rtl="0" algn="l">
              <a:lnSpc>
                <a:spcPct val="90000"/>
              </a:lnSpc>
              <a:spcBef>
                <a:spcPts val="1000"/>
              </a:spcBef>
              <a:spcAft>
                <a:spcPts val="0"/>
              </a:spcAft>
              <a:buClr>
                <a:schemeClr val="dk1"/>
              </a:buClr>
              <a:buSzPts val="2800"/>
              <a:buChar char="•"/>
            </a:pPr>
            <a:r>
              <a:rPr b="1" lang="en-US"/>
              <a:t>U-frame</a:t>
            </a:r>
            <a:r>
              <a:rPr lang="en-US"/>
              <a:t>  or Un-numbered frames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HDLC Frames</a:t>
            </a:r>
            <a:br>
              <a:rPr lang="en-US"/>
            </a:br>
            <a:endParaRPr/>
          </a:p>
        </p:txBody>
      </p:sp>
      <p:sp>
        <p:nvSpPr>
          <p:cNvPr id="174" name="Google Shape;174;p15"/>
          <p:cNvSpPr txBox="1"/>
          <p:nvPr>
            <p:ph idx="1" type="body"/>
          </p:nvPr>
        </p:nvSpPr>
        <p:spPr>
          <a:xfrm>
            <a:off x="838200" y="1339403"/>
            <a:ext cx="10515600" cy="5280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I-frame</a:t>
            </a:r>
            <a:r>
              <a:rPr lang="en-US"/>
              <a:t> − </a:t>
            </a:r>
            <a:endParaRPr/>
          </a:p>
          <a:p>
            <a:pPr indent="-228600" lvl="1" marL="685800" rtl="0" algn="l">
              <a:lnSpc>
                <a:spcPct val="90000"/>
              </a:lnSpc>
              <a:spcBef>
                <a:spcPts val="500"/>
              </a:spcBef>
              <a:spcAft>
                <a:spcPts val="0"/>
              </a:spcAft>
              <a:buClr>
                <a:schemeClr val="dk1"/>
              </a:buClr>
              <a:buSzPts val="2400"/>
              <a:buChar char="•"/>
            </a:pPr>
            <a:r>
              <a:rPr lang="en-US"/>
              <a:t>I-frames or Information frames carry user data from the network layer.</a:t>
            </a:r>
            <a:endParaRPr/>
          </a:p>
          <a:p>
            <a:pPr indent="-228600" lvl="1" marL="685800" rtl="0" algn="l">
              <a:lnSpc>
                <a:spcPct val="90000"/>
              </a:lnSpc>
              <a:spcBef>
                <a:spcPts val="500"/>
              </a:spcBef>
              <a:spcAft>
                <a:spcPts val="0"/>
              </a:spcAft>
              <a:buClr>
                <a:schemeClr val="dk1"/>
              </a:buClr>
              <a:buSzPts val="2400"/>
              <a:buChar char="•"/>
            </a:pPr>
            <a:r>
              <a:rPr lang="en-US"/>
              <a:t> They also include flow and error control information that is piggybacked on user data. </a:t>
            </a:r>
            <a:endParaRPr/>
          </a:p>
          <a:p>
            <a:pPr indent="-228600" lvl="1" marL="685800" rtl="0" algn="l">
              <a:lnSpc>
                <a:spcPct val="90000"/>
              </a:lnSpc>
              <a:spcBef>
                <a:spcPts val="500"/>
              </a:spcBef>
              <a:spcAft>
                <a:spcPts val="0"/>
              </a:spcAft>
              <a:buClr>
                <a:srgbClr val="FF0000"/>
              </a:buClr>
              <a:buSzPts val="2400"/>
              <a:buChar char="•"/>
            </a:pPr>
            <a:r>
              <a:rPr lang="en-US">
                <a:solidFill>
                  <a:srgbClr val="FF0000"/>
                </a:solidFill>
              </a:rPr>
              <a:t>The first bit of control field of I-frame is 0.</a:t>
            </a:r>
            <a:endParaRPr/>
          </a:p>
          <a:p>
            <a:pPr indent="-228600" lvl="0" marL="228600" rtl="0" algn="l">
              <a:lnSpc>
                <a:spcPct val="90000"/>
              </a:lnSpc>
              <a:spcBef>
                <a:spcPts val="1000"/>
              </a:spcBef>
              <a:spcAft>
                <a:spcPts val="0"/>
              </a:spcAft>
              <a:buClr>
                <a:schemeClr val="dk1"/>
              </a:buClr>
              <a:buSzPts val="2800"/>
              <a:buChar char="•"/>
            </a:pPr>
            <a:r>
              <a:rPr b="1" lang="en-US"/>
              <a:t>S-frame</a:t>
            </a:r>
            <a:r>
              <a:rPr lang="en-US"/>
              <a:t> − </a:t>
            </a:r>
            <a:endParaRPr/>
          </a:p>
          <a:p>
            <a:pPr indent="-228600" lvl="1" marL="685800" rtl="0" algn="l">
              <a:lnSpc>
                <a:spcPct val="90000"/>
              </a:lnSpc>
              <a:spcBef>
                <a:spcPts val="500"/>
              </a:spcBef>
              <a:spcAft>
                <a:spcPts val="0"/>
              </a:spcAft>
              <a:buClr>
                <a:schemeClr val="dk1"/>
              </a:buClr>
              <a:buSzPts val="2400"/>
              <a:buChar char="•"/>
            </a:pPr>
            <a:r>
              <a:rPr lang="en-US"/>
              <a:t>S-frames or Supervisory frames do not contain information field. </a:t>
            </a:r>
            <a:endParaRPr/>
          </a:p>
          <a:p>
            <a:pPr indent="-228600" lvl="1" marL="685800" rtl="0" algn="l">
              <a:lnSpc>
                <a:spcPct val="90000"/>
              </a:lnSpc>
              <a:spcBef>
                <a:spcPts val="500"/>
              </a:spcBef>
              <a:spcAft>
                <a:spcPts val="0"/>
              </a:spcAft>
              <a:buClr>
                <a:schemeClr val="dk1"/>
              </a:buClr>
              <a:buSzPts val="2400"/>
              <a:buChar char="•"/>
            </a:pPr>
            <a:r>
              <a:rPr lang="en-US"/>
              <a:t>They are used for flow and error control when piggybacking is not required. </a:t>
            </a:r>
            <a:endParaRPr/>
          </a:p>
          <a:p>
            <a:pPr indent="-228600" lvl="1" marL="685800" rtl="0" algn="l">
              <a:lnSpc>
                <a:spcPct val="90000"/>
              </a:lnSpc>
              <a:spcBef>
                <a:spcPts val="500"/>
              </a:spcBef>
              <a:spcAft>
                <a:spcPts val="0"/>
              </a:spcAft>
              <a:buClr>
                <a:srgbClr val="FF0000"/>
              </a:buClr>
              <a:buSzPts val="2400"/>
              <a:buChar char="•"/>
            </a:pPr>
            <a:r>
              <a:rPr lang="en-US">
                <a:solidFill>
                  <a:srgbClr val="FF0000"/>
                </a:solidFill>
              </a:rPr>
              <a:t>The first two bits of control field of S-frame is 10.</a:t>
            </a:r>
            <a:endParaRPr/>
          </a:p>
          <a:p>
            <a:pPr indent="-228600" lvl="0" marL="228600" rtl="0" algn="l">
              <a:lnSpc>
                <a:spcPct val="90000"/>
              </a:lnSpc>
              <a:spcBef>
                <a:spcPts val="1000"/>
              </a:spcBef>
              <a:spcAft>
                <a:spcPts val="0"/>
              </a:spcAft>
              <a:buClr>
                <a:schemeClr val="dk1"/>
              </a:buClr>
              <a:buSzPts val="2800"/>
              <a:buChar char="•"/>
            </a:pPr>
            <a:r>
              <a:rPr b="1" lang="en-US"/>
              <a:t>U-frame</a:t>
            </a:r>
            <a:r>
              <a:rPr lang="en-US"/>
              <a:t> − </a:t>
            </a:r>
            <a:endParaRPr/>
          </a:p>
          <a:p>
            <a:pPr indent="-228600" lvl="1" marL="685800" rtl="0" algn="l">
              <a:lnSpc>
                <a:spcPct val="90000"/>
              </a:lnSpc>
              <a:spcBef>
                <a:spcPts val="500"/>
              </a:spcBef>
              <a:spcAft>
                <a:spcPts val="0"/>
              </a:spcAft>
              <a:buClr>
                <a:schemeClr val="dk1"/>
              </a:buClr>
              <a:buSzPts val="2400"/>
              <a:buChar char="•"/>
            </a:pPr>
            <a:r>
              <a:rPr lang="en-US"/>
              <a:t>U-frames or Un-numbered frames are used for miscellaneous functions, like link management. </a:t>
            </a:r>
            <a:endParaRPr/>
          </a:p>
          <a:p>
            <a:pPr indent="-228600" lvl="1" marL="685800" rtl="0" algn="l">
              <a:lnSpc>
                <a:spcPct val="90000"/>
              </a:lnSpc>
              <a:spcBef>
                <a:spcPts val="500"/>
              </a:spcBef>
              <a:spcAft>
                <a:spcPts val="0"/>
              </a:spcAft>
              <a:buClr>
                <a:schemeClr val="dk1"/>
              </a:buClr>
              <a:buSzPts val="2400"/>
              <a:buChar char="•"/>
            </a:pPr>
            <a:r>
              <a:rPr lang="en-US"/>
              <a:t>It may contain an information field, if required. </a:t>
            </a:r>
            <a:endParaRPr/>
          </a:p>
          <a:p>
            <a:pPr indent="-228600" lvl="1" marL="685800" rtl="0" algn="l">
              <a:lnSpc>
                <a:spcPct val="90000"/>
              </a:lnSpc>
              <a:spcBef>
                <a:spcPts val="500"/>
              </a:spcBef>
              <a:spcAft>
                <a:spcPts val="0"/>
              </a:spcAft>
              <a:buClr>
                <a:srgbClr val="FF0000"/>
              </a:buClr>
              <a:buSzPts val="2400"/>
              <a:buChar char="•"/>
            </a:pPr>
            <a:r>
              <a:rPr lang="en-US">
                <a:solidFill>
                  <a:srgbClr val="FF0000"/>
                </a:solidFill>
              </a:rPr>
              <a:t>The first two bits of control field of U-frame is 11.</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5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Effect filter="fade" transition="in">
                                      <p:cBhvr>
                                        <p:cTn dur="500"/>
                                        <p:tgtEl>
                                          <p:spTgt spid="1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animEffect filter="fade" transition="in">
                                      <p:cBhvr>
                                        <p:cTn dur="500"/>
                                        <p:tgtEl>
                                          <p:spTgt spid="1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animEffect filter="fade" transition="in">
                                      <p:cBhvr>
                                        <p:cTn dur="500"/>
                                        <p:tgtEl>
                                          <p:spTgt spid="1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animEffect filter="fade" transition="in">
                                      <p:cBhvr>
                                        <p:cTn dur="500"/>
                                        <p:tgtEl>
                                          <p:spTgt spid="1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animEffect filter="fade" transition="in">
                                      <p:cBhvr>
                                        <p:cTn dur="500"/>
                                        <p:tgtEl>
                                          <p:spTgt spid="1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animEffect filter="fade" transition="in">
                                      <p:cBhvr>
                                        <p:cTn dur="500"/>
                                        <p:tgtEl>
                                          <p:spTgt spid="1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animEffect filter="fade" transition="in">
                                      <p:cBhvr>
                                        <p:cTn dur="500"/>
                                        <p:tgtEl>
                                          <p:spTgt spid="1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animEffect filter="fade" transition="in">
                                      <p:cBhvr>
                                        <p:cTn dur="500"/>
                                        <p:tgtEl>
                                          <p:spTgt spid="1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9" st="9"/>
                                            </p:txEl>
                                          </p:spTgt>
                                        </p:tgtEl>
                                        <p:attrNameLst>
                                          <p:attrName>style.visibility</p:attrName>
                                        </p:attrNameLst>
                                      </p:cBhvr>
                                      <p:to>
                                        <p:strVal val="visible"/>
                                      </p:to>
                                    </p:set>
                                    <p:animEffect filter="fade" transition="in">
                                      <p:cBhvr>
                                        <p:cTn dur="500"/>
                                        <p:tgtEl>
                                          <p:spTgt spid="17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0" st="10"/>
                                            </p:txEl>
                                          </p:spTgt>
                                        </p:tgtEl>
                                        <p:attrNameLst>
                                          <p:attrName>style.visibility</p:attrName>
                                        </p:attrNameLst>
                                      </p:cBhvr>
                                      <p:to>
                                        <p:strVal val="visible"/>
                                      </p:to>
                                    </p:set>
                                    <p:animEffect filter="fade" transition="in">
                                      <p:cBhvr>
                                        <p:cTn dur="500"/>
                                        <p:tgtEl>
                                          <p:spTgt spid="17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1" st="11"/>
                                            </p:txEl>
                                          </p:spTgt>
                                        </p:tgtEl>
                                        <p:attrNameLst>
                                          <p:attrName>style.visibility</p:attrName>
                                        </p:attrNameLst>
                                      </p:cBhvr>
                                      <p:to>
                                        <p:strVal val="visible"/>
                                      </p:to>
                                    </p:set>
                                    <p:animEffect filter="fade" transition="in">
                                      <p:cBhvr>
                                        <p:cTn dur="500"/>
                                        <p:tgtEl>
                                          <p:spTgt spid="17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2" st="12"/>
                                            </p:txEl>
                                          </p:spTgt>
                                        </p:tgtEl>
                                        <p:attrNameLst>
                                          <p:attrName>style.visibility</p:attrName>
                                        </p:attrNameLst>
                                      </p:cBhvr>
                                      <p:to>
                                        <p:strVal val="visible"/>
                                      </p:to>
                                    </p:set>
                                    <p:animEffect filter="fade" transition="in">
                                      <p:cBhvr>
                                        <p:cTn dur="500"/>
                                        <p:tgtEl>
                                          <p:spTgt spid="174">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HDLC Frames</a:t>
            </a:r>
            <a:br>
              <a:rPr lang="en-US"/>
            </a:br>
            <a:endParaRPr/>
          </a:p>
        </p:txBody>
      </p:sp>
      <p:pic>
        <p:nvPicPr>
          <p:cNvPr id="180" name="Google Shape;180;p16"/>
          <p:cNvPicPr preferRelativeResize="0"/>
          <p:nvPr>
            <p:ph idx="1" type="body"/>
          </p:nvPr>
        </p:nvPicPr>
        <p:blipFill rotWithShape="1">
          <a:blip r:embed="rId3">
            <a:alphaModFix/>
          </a:blip>
          <a:srcRect b="0" l="0" r="0" t="0"/>
          <a:stretch/>
        </p:blipFill>
        <p:spPr>
          <a:xfrm>
            <a:off x="1700011" y="1429555"/>
            <a:ext cx="8783392" cy="437910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I frame</a:t>
            </a:r>
            <a:endParaRPr/>
          </a:p>
        </p:txBody>
      </p:sp>
      <p:pic>
        <p:nvPicPr>
          <p:cNvPr id="186" name="Google Shape;186;p17"/>
          <p:cNvPicPr preferRelativeResize="0"/>
          <p:nvPr>
            <p:ph idx="1" type="body"/>
          </p:nvPr>
        </p:nvPicPr>
        <p:blipFill rotWithShape="1">
          <a:blip r:embed="rId3">
            <a:alphaModFix/>
          </a:blip>
          <a:srcRect b="0" l="0" r="0" t="0"/>
          <a:stretch/>
        </p:blipFill>
        <p:spPr>
          <a:xfrm>
            <a:off x="2009104" y="1828801"/>
            <a:ext cx="7521262" cy="431442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I frame</a:t>
            </a:r>
            <a:endParaRPr/>
          </a:p>
        </p:txBody>
      </p:sp>
      <p:sp>
        <p:nvSpPr>
          <p:cNvPr id="192" name="Google Shape;192;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first bit of control field is always zero, i.e. the presence of zero at this place indicates that it is I-frame.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Bit number 2, 3 &amp; 4 in control field is called N(S) that specifies the sequence number of the frame. </a:t>
            </a:r>
            <a:endParaRPr/>
          </a:p>
          <a:p>
            <a:pPr indent="-228600" lvl="0" marL="228600" rtl="0" algn="l">
              <a:lnSpc>
                <a:spcPct val="90000"/>
              </a:lnSpc>
              <a:spcBef>
                <a:spcPts val="1000"/>
              </a:spcBef>
              <a:spcAft>
                <a:spcPts val="0"/>
              </a:spcAft>
              <a:buClr>
                <a:schemeClr val="dk1"/>
              </a:buClr>
              <a:buSzPts val="2800"/>
              <a:buChar char="•"/>
            </a:pPr>
            <a:r>
              <a:rPr lang="en-US"/>
              <a:t>Thus it specifies the number of the frame that is currently being sent. Since it is a 3.bit field, only eight sequence numbers are possible 0, 1,2,3,4,5,6, 7 (000 to 111).</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ph type="title"/>
          </p:nvPr>
        </p:nvSpPr>
        <p:spPr>
          <a:xfrm>
            <a:off x="838200" y="365125"/>
            <a:ext cx="10515600" cy="8988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I frame</a:t>
            </a:r>
            <a:endParaRPr/>
          </a:p>
        </p:txBody>
      </p:sp>
      <p:sp>
        <p:nvSpPr>
          <p:cNvPr id="198" name="Google Shape;198;p19"/>
          <p:cNvSpPr txBox="1"/>
          <p:nvPr>
            <p:ph idx="1" type="body"/>
          </p:nvPr>
        </p:nvSpPr>
        <p:spPr>
          <a:xfrm>
            <a:off x="838200" y="1264024"/>
            <a:ext cx="10515600" cy="5257800"/>
          </a:xfrm>
          <a:prstGeom prst="rect">
            <a:avLst/>
          </a:prstGeom>
          <a:noFill/>
          <a:ln>
            <a:noFill/>
          </a:ln>
        </p:spPr>
        <p:txBody>
          <a:bodyPr anchorCtr="0" anchor="t" bIns="45700" lIns="91425" spcFirstLastPara="1" rIns="91425" wrap="square" tIns="45700">
            <a:normAutofit fontScale="92500" lnSpcReduction="20000"/>
          </a:bodyPr>
          <a:lstStyle/>
          <a:p>
            <a:pPr indent="-64135" lvl="0" marL="228600" rtl="0" algn="l">
              <a:lnSpc>
                <a:spcPct val="90000"/>
              </a:lnSpc>
              <a:spcBef>
                <a:spcPts val="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Bit number 5 in control field is </a:t>
            </a:r>
            <a:r>
              <a:rPr lang="en-US">
                <a:solidFill>
                  <a:srgbClr val="FF0000"/>
                </a:solidFill>
              </a:rPr>
              <a:t>P/F i.e. Poll/Final .</a:t>
            </a:r>
            <a:endParaRPr/>
          </a:p>
          <a:p>
            <a:pPr indent="-228600" lvl="0" marL="228600" rtl="0" algn="l">
              <a:lnSpc>
                <a:spcPct val="90000"/>
              </a:lnSpc>
              <a:spcBef>
                <a:spcPts val="1000"/>
              </a:spcBef>
              <a:spcAft>
                <a:spcPts val="0"/>
              </a:spcAft>
              <a:buClr>
                <a:schemeClr val="dk1"/>
              </a:buClr>
              <a:buSzPct val="100000"/>
              <a:buChar char="•"/>
            </a:pPr>
            <a:r>
              <a:rPr lang="en-US"/>
              <a:t>The P/F field is a single bit with a dual purpose.</a:t>
            </a:r>
            <a:endParaRPr/>
          </a:p>
          <a:p>
            <a:pPr indent="-228600" lvl="1" marL="685800" rtl="0" algn="l">
              <a:lnSpc>
                <a:spcPct val="90000"/>
              </a:lnSpc>
              <a:spcBef>
                <a:spcPts val="500"/>
              </a:spcBef>
              <a:spcAft>
                <a:spcPts val="0"/>
              </a:spcAft>
              <a:buClr>
                <a:schemeClr val="dk1"/>
              </a:buClr>
              <a:buSzPct val="100000"/>
              <a:buChar char="•"/>
            </a:pPr>
            <a:r>
              <a:rPr lang="en-US"/>
              <a:t> It has meaning only when it is set (bit = 1) and can mean poll or final.</a:t>
            </a:r>
            <a:endParaRPr/>
          </a:p>
          <a:p>
            <a:pPr indent="-228600" lvl="1" marL="685800" rtl="0" algn="l">
              <a:lnSpc>
                <a:spcPct val="90000"/>
              </a:lnSpc>
              <a:spcBef>
                <a:spcPts val="500"/>
              </a:spcBef>
              <a:spcAft>
                <a:spcPts val="0"/>
              </a:spcAft>
              <a:buClr>
                <a:schemeClr val="dk1"/>
              </a:buClr>
              <a:buSzPct val="100000"/>
              <a:buChar char="•"/>
            </a:pPr>
            <a:r>
              <a:rPr lang="en-US"/>
              <a:t> It means poll when the frame is sent by a primary station to a secondary (when the address field contains the address of the receiver). </a:t>
            </a:r>
            <a:endParaRPr/>
          </a:p>
          <a:p>
            <a:pPr indent="-228600" lvl="1" marL="685800" rtl="0" algn="l">
              <a:lnSpc>
                <a:spcPct val="90000"/>
              </a:lnSpc>
              <a:spcBef>
                <a:spcPts val="500"/>
              </a:spcBef>
              <a:spcAft>
                <a:spcPts val="0"/>
              </a:spcAft>
              <a:buClr>
                <a:schemeClr val="dk1"/>
              </a:buClr>
              <a:buSzPct val="100000"/>
              <a:buChar char="•"/>
            </a:pPr>
            <a:r>
              <a:rPr lang="en-US"/>
              <a:t>It means final when the frame is sent by a secondary to a primary (when the address field contains the address of the sender).</a:t>
            </a:r>
            <a:endParaRPr/>
          </a:p>
          <a:p>
            <a:pPr indent="-228600" lvl="0" marL="228600" rtl="0" algn="l">
              <a:lnSpc>
                <a:spcPct val="90000"/>
              </a:lnSpc>
              <a:spcBef>
                <a:spcPts val="1000"/>
              </a:spcBef>
              <a:spcAft>
                <a:spcPts val="0"/>
              </a:spcAft>
              <a:buClr>
                <a:schemeClr val="dk1"/>
              </a:buClr>
              <a:buSzPct val="100000"/>
              <a:buChar char="•"/>
            </a:pPr>
            <a:r>
              <a:rPr lang="en-US"/>
              <a:t>• Bit number 6, 7, and 8 in control field specifies </a:t>
            </a:r>
            <a:r>
              <a:rPr lang="en-US">
                <a:solidFill>
                  <a:srgbClr val="FF0000"/>
                </a:solidFill>
              </a:rPr>
              <a:t>N(R) i.e. the sequence number of the frame expected in return </a:t>
            </a:r>
            <a:r>
              <a:rPr lang="en-US"/>
              <a:t>in two-way communication.</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If last frame received was error-free then N(R) number will be that of the next frame is sequence. If the last frame was not received correctly, the N(R) number will be the number of the damaged frame, asking for its retransmission.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S frame</a:t>
            </a:r>
            <a:endParaRPr/>
          </a:p>
        </p:txBody>
      </p:sp>
      <p:pic>
        <p:nvPicPr>
          <p:cNvPr id="204" name="Google Shape;204;p20"/>
          <p:cNvPicPr preferRelativeResize="0"/>
          <p:nvPr>
            <p:ph idx="1" type="body"/>
          </p:nvPr>
        </p:nvPicPr>
        <p:blipFill rotWithShape="1">
          <a:blip r:embed="rId3">
            <a:alphaModFix/>
          </a:blip>
          <a:srcRect b="0" l="0" r="0" t="0"/>
          <a:stretch/>
        </p:blipFill>
        <p:spPr>
          <a:xfrm>
            <a:off x="2846231" y="2099256"/>
            <a:ext cx="5330981" cy="33403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S frame</a:t>
            </a:r>
            <a:endParaRPr/>
          </a:p>
        </p:txBody>
      </p:sp>
      <p:sp>
        <p:nvSpPr>
          <p:cNvPr id="210" name="Google Shape;210;p21"/>
          <p:cNvSpPr txBox="1"/>
          <p:nvPr>
            <p:ph idx="1" type="body"/>
          </p:nvPr>
        </p:nvSpPr>
        <p:spPr>
          <a:xfrm>
            <a:off x="838200" y="1519518"/>
            <a:ext cx="10515600" cy="465744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The first two bits in the control field of S-frame are always 10.</a:t>
            </a:r>
            <a:endParaRPr/>
          </a:p>
          <a:p>
            <a:pPr indent="-228600" lvl="0" marL="228600" rtl="0" algn="l">
              <a:lnSpc>
                <a:spcPct val="90000"/>
              </a:lnSpc>
              <a:spcBef>
                <a:spcPts val="1000"/>
              </a:spcBef>
              <a:spcAft>
                <a:spcPts val="0"/>
              </a:spcAft>
              <a:buClr>
                <a:schemeClr val="dk1"/>
              </a:buClr>
              <a:buSzPts val="2800"/>
              <a:buChar char="•"/>
            </a:pPr>
            <a:r>
              <a:rPr lang="en-US"/>
              <a:t>Then there is a bit code field that specifies four types of S-frame with combination 00,01, 10, 11 as shown in table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11" name="Google Shape;211;p21"/>
          <p:cNvPicPr preferRelativeResize="0"/>
          <p:nvPr/>
        </p:nvPicPr>
        <p:blipFill rotWithShape="1">
          <a:blip r:embed="rId3">
            <a:alphaModFix/>
          </a:blip>
          <a:srcRect b="0" l="0" r="0" t="0"/>
          <a:stretch/>
        </p:blipFill>
        <p:spPr>
          <a:xfrm>
            <a:off x="3012141" y="3106271"/>
            <a:ext cx="5580530" cy="342867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S frame</a:t>
            </a:r>
            <a:endParaRPr/>
          </a:p>
        </p:txBody>
      </p:sp>
      <p:sp>
        <p:nvSpPr>
          <p:cNvPr id="217" name="Google Shape;21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  </a:t>
            </a:r>
            <a:r>
              <a:rPr lang="en-US">
                <a:solidFill>
                  <a:srgbClr val="FF0000"/>
                </a:solidFill>
              </a:rPr>
              <a:t>RR, Receive Ready</a:t>
            </a:r>
            <a:r>
              <a:rPr lang="en-US"/>
              <a:t>-used to acknowledge frames when no I-frames are availab1e to piggyback the acknowledgement.</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REJ Reject</a:t>
            </a:r>
            <a:r>
              <a:rPr lang="en-US"/>
              <a:t>-used by the receiver to send a NAK when error has occurred.</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RNR Receive Not Ready</a:t>
            </a:r>
            <a:r>
              <a:rPr lang="en-US"/>
              <a:t>-used for flow control.</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SREJ Selective Reject</a:t>
            </a:r>
            <a:r>
              <a:rPr lang="en-US"/>
              <a:t>-indicates to the transmitter that it should retransmit the frame indicated in the N(R) subfield.</a:t>
            </a:r>
            <a:endParaRPr/>
          </a:p>
          <a:p>
            <a:pPr indent="-228600" lvl="0" marL="228600" rtl="0" algn="l">
              <a:lnSpc>
                <a:spcPct val="90000"/>
              </a:lnSpc>
              <a:spcBef>
                <a:spcPts val="1000"/>
              </a:spcBef>
              <a:spcAft>
                <a:spcPts val="0"/>
              </a:spcAft>
              <a:buClr>
                <a:schemeClr val="dk1"/>
              </a:buClr>
              <a:buSzPct val="100000"/>
              <a:buChar char="•"/>
            </a:pPr>
            <a:r>
              <a:rPr lang="en-US"/>
              <a:t>• There is no N(S) field in control field of S-frame as S-frames do not transmit data.</a:t>
            </a:r>
            <a:endParaRPr/>
          </a:p>
          <a:p>
            <a:pPr indent="-228600" lvl="0" marL="228600" rtl="0" algn="l">
              <a:lnSpc>
                <a:spcPct val="90000"/>
              </a:lnSpc>
              <a:spcBef>
                <a:spcPts val="1000"/>
              </a:spcBef>
              <a:spcAft>
                <a:spcPts val="0"/>
              </a:spcAft>
              <a:buClr>
                <a:schemeClr val="dk1"/>
              </a:buClr>
              <a:buSzPct val="100000"/>
              <a:buChar char="•"/>
            </a:pPr>
            <a:r>
              <a:rPr i="1" lang="en-US"/>
              <a:t> P/F </a:t>
            </a:r>
            <a:r>
              <a:rPr lang="en-US"/>
              <a:t>bit is the fifth bit and serves the same purpose as discussed earlier.</a:t>
            </a:r>
            <a:endParaRPr/>
          </a:p>
          <a:p>
            <a:pPr indent="-228600" lvl="0" marL="228600" rtl="0" algn="l">
              <a:lnSpc>
                <a:spcPct val="90000"/>
              </a:lnSpc>
              <a:spcBef>
                <a:spcPts val="1000"/>
              </a:spcBef>
              <a:spcAft>
                <a:spcPts val="0"/>
              </a:spcAft>
              <a:buClr>
                <a:schemeClr val="dk1"/>
              </a:buClr>
              <a:buSzPct val="100000"/>
              <a:buChar char="•"/>
            </a:pPr>
            <a:r>
              <a:rPr lang="en-US"/>
              <a:t> Last three bits in control field indicates N(R) </a:t>
            </a:r>
            <a:r>
              <a:rPr i="1" lang="en-US"/>
              <a:t>i.e. </a:t>
            </a:r>
            <a:r>
              <a:rPr lang="en-US"/>
              <a:t>they correspond to the ACK or NAK value.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U frame</a:t>
            </a:r>
            <a:endParaRPr/>
          </a:p>
        </p:txBody>
      </p:sp>
      <p:pic>
        <p:nvPicPr>
          <p:cNvPr id="223" name="Google Shape;223;p23"/>
          <p:cNvPicPr preferRelativeResize="0"/>
          <p:nvPr>
            <p:ph idx="1" type="body"/>
          </p:nvPr>
        </p:nvPicPr>
        <p:blipFill rotWithShape="1">
          <a:blip r:embed="rId3">
            <a:alphaModFix/>
          </a:blip>
          <a:srcRect b="0" l="0" r="0" t="0"/>
          <a:stretch/>
        </p:blipFill>
        <p:spPr>
          <a:xfrm>
            <a:off x="3581400" y="2234406"/>
            <a:ext cx="5029200" cy="3533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U frame</a:t>
            </a:r>
            <a:endParaRPr/>
          </a:p>
        </p:txBody>
      </p:sp>
      <p:sp>
        <p:nvSpPr>
          <p:cNvPr id="229" name="Google Shape;22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U-frames are reserved for </a:t>
            </a:r>
            <a:r>
              <a:rPr lang="en-US">
                <a:solidFill>
                  <a:srgbClr val="FF0000"/>
                </a:solidFill>
              </a:rPr>
              <a:t>system management </a:t>
            </a:r>
            <a:r>
              <a:rPr lang="en-US"/>
              <a:t>and information carried by them is used for managing the link</a:t>
            </a:r>
            <a:endParaRPr/>
          </a:p>
          <a:p>
            <a:pPr indent="-228600" lvl="0" marL="228600" rtl="0" algn="l">
              <a:lnSpc>
                <a:spcPct val="90000"/>
              </a:lnSpc>
              <a:spcBef>
                <a:spcPts val="1000"/>
              </a:spcBef>
              <a:spcAft>
                <a:spcPts val="0"/>
              </a:spcAft>
              <a:buClr>
                <a:schemeClr val="dk1"/>
              </a:buClr>
              <a:buSzPts val="2800"/>
              <a:buChar char="•"/>
            </a:pPr>
            <a:r>
              <a:rPr lang="en-US"/>
              <a:t>U-frames are used to exchange session management and control information between the two connected devices.</a:t>
            </a:r>
            <a:endParaRPr/>
          </a:p>
          <a:p>
            <a:pPr indent="-228600" lvl="0" marL="228600" rtl="0" algn="l">
              <a:lnSpc>
                <a:spcPct val="90000"/>
              </a:lnSpc>
              <a:spcBef>
                <a:spcPts val="1000"/>
              </a:spcBef>
              <a:spcAft>
                <a:spcPts val="0"/>
              </a:spcAft>
              <a:buClr>
                <a:schemeClr val="dk1"/>
              </a:buClr>
              <a:buSzPts val="2800"/>
              <a:buChar char="•"/>
            </a:pPr>
            <a:r>
              <a:rPr lang="en-US"/>
              <a:t>Information field in U-frame does not carry use information rather, it carries system management information.</a:t>
            </a:r>
            <a:endParaRPr/>
          </a:p>
          <a:p>
            <a:pPr indent="-228600" lvl="0" marL="228600" rtl="0" algn="l">
              <a:lnSpc>
                <a:spcPct val="90000"/>
              </a:lnSpc>
              <a:spcBef>
                <a:spcPts val="1000"/>
              </a:spcBef>
              <a:spcAft>
                <a:spcPts val="0"/>
              </a:spcAft>
              <a:buClr>
                <a:schemeClr val="dk1"/>
              </a:buClr>
              <a:buSzPts val="2800"/>
              <a:buChar char="•"/>
            </a:pPr>
            <a:r>
              <a:rPr lang="en-US"/>
              <a:t> U-frame is identified by the presence of 11 in the first and second bit position in control field.</a:t>
            </a:r>
            <a:endParaRPr/>
          </a:p>
          <a:p>
            <a:pPr indent="-228600" lvl="0" marL="228600" rtl="0" algn="l">
              <a:lnSpc>
                <a:spcPct val="90000"/>
              </a:lnSpc>
              <a:spcBef>
                <a:spcPts val="1000"/>
              </a:spcBef>
              <a:spcAft>
                <a:spcPts val="0"/>
              </a:spcAft>
              <a:buClr>
                <a:schemeClr val="dk1"/>
              </a:buClr>
              <a:buSzPts val="2800"/>
              <a:buChar char="•"/>
            </a:pPr>
            <a:r>
              <a:rPr lang="en-US"/>
              <a:t>These frames do not contain N(S) or N(R) in control field.</a:t>
            </a:r>
            <a:br>
              <a:rPr lang="en-US"/>
            </a:b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 of the Control field  for U frame</a:t>
            </a:r>
            <a:endParaRPr/>
          </a:p>
        </p:txBody>
      </p:sp>
      <p:sp>
        <p:nvSpPr>
          <p:cNvPr id="235" name="Google Shape;23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U-frame contains two code fields, one two bit and other three bit.</a:t>
            </a:r>
            <a:endParaRPr/>
          </a:p>
          <a:p>
            <a:pPr indent="-228600" lvl="0" marL="228600" rtl="0" algn="l">
              <a:lnSpc>
                <a:spcPct val="90000"/>
              </a:lnSpc>
              <a:spcBef>
                <a:spcPts val="1000"/>
              </a:spcBef>
              <a:spcAft>
                <a:spcPts val="0"/>
              </a:spcAft>
              <a:buClr>
                <a:schemeClr val="dk1"/>
              </a:buClr>
              <a:buSzPts val="2800"/>
              <a:buChar char="•"/>
            </a:pPr>
            <a:r>
              <a:rPr lang="en-US"/>
              <a:t>These five bits can create upto 32 different U-frames.</a:t>
            </a:r>
            <a:endParaRPr/>
          </a:p>
          <a:p>
            <a:pPr indent="-228600" lvl="0" marL="228600" rtl="0" algn="l">
              <a:lnSpc>
                <a:spcPct val="90000"/>
              </a:lnSpc>
              <a:spcBef>
                <a:spcPts val="1000"/>
              </a:spcBef>
              <a:spcAft>
                <a:spcPts val="0"/>
              </a:spcAft>
              <a:buClr>
                <a:schemeClr val="dk1"/>
              </a:buClr>
              <a:buSzPts val="2800"/>
              <a:buChar char="•"/>
            </a:pPr>
            <a:r>
              <a:rPr i="1" lang="en-US"/>
              <a:t>P/F </a:t>
            </a:r>
            <a:r>
              <a:rPr lang="en-US"/>
              <a:t>bit in control field has same purpose in V-frame as discussed earlier.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2022-10-24T14:17:47Z</dcterms:created>
  <dc:creator>DIVYA</dc:creator>
</cp:coreProperties>
</file>