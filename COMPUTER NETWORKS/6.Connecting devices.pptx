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3wpDfY2RaMJVdsEIb80hJxnWN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5183188" y="987425"/>
            <a:ext cx="6172200" cy="4873625"/>
          </a:xfrm>
          <a:prstGeom prst="rect">
            <a:avLst/>
          </a:prstGeom>
          <a:noFill/>
          <a:ln>
            <a:noFill/>
          </a:ln>
        </p:spPr>
      </p:sp>
      <p:sp>
        <p:nvSpPr>
          <p:cNvPr id="64" name="Google Shape;64;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Connecting devices</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lnSpc>
                <a:spcPct val="90000"/>
              </a:lnSpc>
              <a:spcBef>
                <a:spcPts val="0"/>
              </a:spcBef>
              <a:spcAft>
                <a:spcPts val="0"/>
              </a:spcAft>
              <a:buClr>
                <a:schemeClr val="dk1"/>
              </a:buClr>
              <a:buSzPct val="100000"/>
              <a:buNone/>
            </a:pPr>
            <a:r>
              <a:rPr lang="en-US"/>
              <a:t>Repeater,Hub,Bridge,Switch,Router ,Gateway</a:t>
            </a:r>
            <a:endParaRPr/>
          </a:p>
          <a:p>
            <a:pPr indent="0" lvl="0" marL="0" rtl="0" algn="ctr">
              <a:lnSpc>
                <a:spcPct val="90000"/>
              </a:lnSpc>
              <a:spcBef>
                <a:spcPts val="0"/>
              </a:spcBef>
              <a:spcAft>
                <a:spcPts val="0"/>
              </a:spcAft>
              <a:buClr>
                <a:schemeClr val="dk1"/>
              </a:buClr>
              <a:buSzPct val="100000"/>
              <a:buNone/>
            </a:pPr>
            <a:r>
              <a:t/>
            </a:r>
            <a:endParaRPr/>
          </a:p>
          <a:p>
            <a:pPr indent="0" lvl="0" marL="0" rtl="0" algn="l">
              <a:spcBef>
                <a:spcPts val="0"/>
              </a:spcBef>
              <a:spcAft>
                <a:spcPts val="0"/>
              </a:spcAft>
              <a:buClr>
                <a:schemeClr val="dk1"/>
              </a:buClr>
              <a:buSzPct val="100000"/>
              <a:buNone/>
            </a:pPr>
            <a:r>
              <a:rPr lang="en-US"/>
              <a:t>Prepared by</a:t>
            </a:r>
            <a:endParaRPr/>
          </a:p>
          <a:p>
            <a:pPr indent="0" lvl="0" marL="0" rtl="0" algn="l">
              <a:spcBef>
                <a:spcPts val="0"/>
              </a:spcBef>
              <a:spcAft>
                <a:spcPts val="0"/>
              </a:spcAft>
              <a:buClr>
                <a:schemeClr val="dk1"/>
              </a:buClr>
              <a:buSzPct val="100000"/>
              <a:buNone/>
            </a:pPr>
            <a:r>
              <a:rPr lang="en-US"/>
              <a:t>Divya K S</a:t>
            </a:r>
            <a:endParaRPr/>
          </a:p>
          <a:p>
            <a:pPr indent="0" lvl="0" marL="0" rtl="0" algn="l">
              <a:spcBef>
                <a:spcPts val="0"/>
              </a:spcBef>
              <a:spcAft>
                <a:spcPts val="0"/>
              </a:spcAft>
              <a:buClr>
                <a:schemeClr val="dk1"/>
              </a:buClr>
              <a:buSzPct val="100000"/>
              <a:buNone/>
            </a:pPr>
            <a:r>
              <a:rPr lang="en-US"/>
              <a:t>Adi Shankara Institute of Engineering &amp; Technology </a:t>
            </a:r>
            <a:endParaRPr/>
          </a:p>
          <a:p>
            <a:pPr indent="0" lvl="0" marL="0" rtl="0" algn="l">
              <a:spcBef>
                <a:spcPts val="0"/>
              </a:spcBef>
              <a:spcAft>
                <a:spcPts val="0"/>
              </a:spcAft>
              <a:buClr>
                <a:schemeClr val="dk1"/>
              </a:buClr>
              <a:buSzPct val="100000"/>
              <a:buNone/>
            </a:pPr>
            <a:r>
              <a:rPr lang="en-US"/>
              <a:t>Kalady</a:t>
            </a:r>
            <a:endParaRPr/>
          </a:p>
          <a:p>
            <a:pPr indent="0" lvl="0" marL="0" rtl="0" algn="ctr">
              <a:lnSpc>
                <a:spcPct val="90000"/>
              </a:lnSpc>
              <a:spcBef>
                <a:spcPts val="0"/>
              </a:spcBef>
              <a:spcAft>
                <a:spcPts val="0"/>
              </a:spcAft>
              <a:buClr>
                <a:schemeClr val="dk1"/>
              </a:buClr>
              <a:buSzPct val="100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Bridge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Used to connect multiple LANs (working on the same protocol)  together to form a larger LAN. </a:t>
            </a:r>
            <a:endParaRPr/>
          </a:p>
          <a:p>
            <a:pPr indent="-228600" lvl="0" marL="228600" rtl="0" algn="l">
              <a:lnSpc>
                <a:spcPct val="90000"/>
              </a:lnSpc>
              <a:spcBef>
                <a:spcPts val="1000"/>
              </a:spcBef>
              <a:spcAft>
                <a:spcPts val="0"/>
              </a:spcAft>
              <a:buClr>
                <a:schemeClr val="dk1"/>
              </a:buClr>
              <a:buSzPts val="2800"/>
              <a:buChar char="•"/>
            </a:pPr>
            <a:r>
              <a:rPr lang="en-US"/>
              <a:t> Bridges operate at the data link layer of the OSI model and hence also referred as </a:t>
            </a:r>
            <a:r>
              <a:rPr lang="en-US">
                <a:solidFill>
                  <a:srgbClr val="FF0000"/>
                </a:solidFill>
              </a:rPr>
              <a:t>Layer 2 switches</a:t>
            </a:r>
            <a:r>
              <a:rPr lang="en-US"/>
              <a:t>.(can operates in both the physical and the data link layer.)</a:t>
            </a:r>
            <a:endParaRPr/>
          </a:p>
          <a:p>
            <a:pPr indent="-228600" lvl="0" marL="228600" rtl="0" algn="l">
              <a:lnSpc>
                <a:spcPct val="90000"/>
              </a:lnSpc>
              <a:spcBef>
                <a:spcPts val="1000"/>
              </a:spcBef>
              <a:spcAft>
                <a:spcPts val="0"/>
              </a:spcAft>
              <a:buClr>
                <a:schemeClr val="dk1"/>
              </a:buClr>
              <a:buSzPts val="2800"/>
              <a:buChar char="•"/>
            </a:pPr>
            <a:r>
              <a:rPr lang="en-US"/>
              <a:t> As a physical layer device, it regenerates the signal it receives.</a:t>
            </a:r>
            <a:endParaRPr/>
          </a:p>
          <a:p>
            <a:pPr indent="-228600" lvl="0" marL="228600" rtl="0" algn="l">
              <a:lnSpc>
                <a:spcPct val="90000"/>
              </a:lnSpc>
              <a:spcBef>
                <a:spcPts val="1000"/>
              </a:spcBef>
              <a:spcAft>
                <a:spcPts val="0"/>
              </a:spcAft>
              <a:buClr>
                <a:schemeClr val="dk1"/>
              </a:buClr>
              <a:buSzPts val="2800"/>
              <a:buChar char="•"/>
            </a:pPr>
            <a:r>
              <a:rPr lang="en-US"/>
              <a:t> As a data link layer device, the bridge can check the physical (MAC) addresses (source and destination) contained in the frame.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500"/>
                                        <p:tgtEl>
                                          <p:spTgt spid="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Bridge </a:t>
            </a:r>
            <a:endParaRPr/>
          </a:p>
        </p:txBody>
      </p:sp>
      <p:pic>
        <p:nvPicPr>
          <p:cNvPr id="97" name="Google Shape;97;p3"/>
          <p:cNvPicPr preferRelativeResize="0"/>
          <p:nvPr>
            <p:ph idx="1" type="body"/>
          </p:nvPr>
        </p:nvPicPr>
        <p:blipFill rotWithShape="1">
          <a:blip r:embed="rId3">
            <a:alphaModFix/>
          </a:blip>
          <a:srcRect b="0" l="0" r="0" t="0"/>
          <a:stretch/>
        </p:blipFill>
        <p:spPr>
          <a:xfrm>
            <a:off x="1337481" y="1501254"/>
            <a:ext cx="6363481" cy="36811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Bridges</a:t>
            </a:r>
            <a:r>
              <a:rPr lang="en-US"/>
              <a:t> </a:t>
            </a:r>
            <a:br>
              <a:rPr lang="en-US"/>
            </a:b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Bridges are intelligent devices</a:t>
            </a:r>
            <a:endParaRPr/>
          </a:p>
          <a:p>
            <a:pPr indent="-228600" lvl="0" marL="228600" rtl="0" algn="l">
              <a:lnSpc>
                <a:spcPct val="90000"/>
              </a:lnSpc>
              <a:spcBef>
                <a:spcPts val="1000"/>
              </a:spcBef>
              <a:spcAft>
                <a:spcPts val="0"/>
              </a:spcAft>
              <a:buClr>
                <a:schemeClr val="dk1"/>
              </a:buClr>
              <a:buSzPts val="2800"/>
              <a:buChar char="•"/>
            </a:pPr>
            <a:r>
              <a:rPr lang="en-US"/>
              <a:t>It has filtering capability</a:t>
            </a:r>
            <a:endParaRPr/>
          </a:p>
          <a:p>
            <a:pPr indent="-228600" lvl="0" marL="228600" rtl="0" algn="l">
              <a:lnSpc>
                <a:spcPct val="90000"/>
              </a:lnSpc>
              <a:spcBef>
                <a:spcPts val="1000"/>
              </a:spcBef>
              <a:spcAft>
                <a:spcPts val="0"/>
              </a:spcAft>
              <a:buClr>
                <a:schemeClr val="dk1"/>
              </a:buClr>
              <a:buSzPts val="2800"/>
              <a:buChar char="•"/>
            </a:pPr>
            <a:r>
              <a:rPr lang="en-US"/>
              <a:t>Bridge is a repeater, with add on the functionality of filtering content by reading the MAC addresses of the source and destination.</a:t>
            </a:r>
            <a:endParaRPr/>
          </a:p>
          <a:p>
            <a:pPr indent="-228600" lvl="0" marL="228600" rtl="0" algn="l">
              <a:lnSpc>
                <a:spcPct val="90000"/>
              </a:lnSpc>
              <a:spcBef>
                <a:spcPts val="1000"/>
              </a:spcBef>
              <a:spcAft>
                <a:spcPts val="0"/>
              </a:spcAft>
              <a:buClr>
                <a:schemeClr val="dk1"/>
              </a:buClr>
              <a:buSzPts val="2800"/>
              <a:buChar char="•"/>
            </a:pPr>
            <a:r>
              <a:rPr lang="en-US"/>
              <a:t> It is also used for interconnecting two LANs working on the same protocol.</a:t>
            </a:r>
            <a:endParaRPr/>
          </a:p>
          <a:p>
            <a:pPr indent="-228600" lvl="0" marL="228600" rtl="0" algn="l">
              <a:lnSpc>
                <a:spcPct val="90000"/>
              </a:lnSpc>
              <a:spcBef>
                <a:spcPts val="1000"/>
              </a:spcBef>
              <a:spcAft>
                <a:spcPts val="0"/>
              </a:spcAft>
              <a:buClr>
                <a:schemeClr val="dk1"/>
              </a:buClr>
              <a:buSzPts val="2800"/>
              <a:buChar char="•"/>
            </a:pPr>
            <a:r>
              <a:rPr lang="en-US"/>
              <a:t> It has a single input and single output port, thus making it a 2 port device.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Uses of Bridge in Computer Network</a:t>
            </a:r>
            <a:br>
              <a:rPr b="1" lang="en-US"/>
            </a:b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Bridges can also expand the physical size of a network.</a:t>
            </a:r>
            <a:endParaRPr/>
          </a:p>
          <a:p>
            <a:pPr indent="-228600" lvl="0" marL="228600" rtl="0" algn="l">
              <a:lnSpc>
                <a:spcPct val="90000"/>
              </a:lnSpc>
              <a:spcBef>
                <a:spcPts val="1000"/>
              </a:spcBef>
              <a:spcAft>
                <a:spcPts val="0"/>
              </a:spcAft>
              <a:buClr>
                <a:schemeClr val="dk1"/>
              </a:buClr>
              <a:buSzPts val="2800"/>
              <a:buChar char="•"/>
            </a:pPr>
            <a:r>
              <a:rPr lang="en-US"/>
              <a:t>Bridges are also used to connect a LAN segment to another LAN segment in another location via a synchronous modem connection.</a:t>
            </a:r>
            <a:endParaRPr/>
          </a:p>
          <a:p>
            <a:pPr indent="-228600" lvl="0" marL="228600" rtl="0" algn="l">
              <a:lnSpc>
                <a:spcPct val="90000"/>
              </a:lnSpc>
              <a:spcBef>
                <a:spcPts val="1000"/>
              </a:spcBef>
              <a:spcAft>
                <a:spcPts val="0"/>
              </a:spcAft>
              <a:buClr>
                <a:schemeClr val="dk1"/>
              </a:buClr>
              <a:buSzPts val="2800"/>
              <a:buChar char="•"/>
            </a:pPr>
            <a:r>
              <a:rPr lang="en-US"/>
              <a:t>Bridges are used to split large, busy networks into smaller, interconnected networks to improve performance.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Bridge</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Routing  Bridges(Source routing bridges)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Transparent Bridges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Local  Bridges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Remote  Bridges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Bridge</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Routing  Bridges(Source routing bridges)</a:t>
            </a:r>
            <a:endParaRPr/>
          </a:p>
          <a:p>
            <a:pPr indent="-228600" lvl="1" marL="685800" rtl="0" algn="l">
              <a:lnSpc>
                <a:spcPct val="90000"/>
              </a:lnSpc>
              <a:spcBef>
                <a:spcPts val="500"/>
              </a:spcBef>
              <a:spcAft>
                <a:spcPts val="0"/>
              </a:spcAft>
              <a:buClr>
                <a:schemeClr val="dk1"/>
              </a:buClr>
              <a:buSzPts val="2400"/>
              <a:buChar char="•"/>
            </a:pPr>
            <a:r>
              <a:rPr lang="en-US"/>
              <a:t>Source routing bridge decides the route between two hosts. </a:t>
            </a:r>
            <a:endParaRPr/>
          </a:p>
          <a:p>
            <a:pPr indent="-228600" lvl="1" marL="685800" rtl="0" algn="l">
              <a:lnSpc>
                <a:spcPct val="90000"/>
              </a:lnSpc>
              <a:spcBef>
                <a:spcPts val="500"/>
              </a:spcBef>
              <a:spcAft>
                <a:spcPts val="0"/>
              </a:spcAft>
              <a:buClr>
                <a:schemeClr val="dk1"/>
              </a:buClr>
              <a:buSzPts val="2400"/>
              <a:buChar char="•"/>
            </a:pPr>
            <a:r>
              <a:rPr lang="en-US"/>
              <a:t>Source routing bridge uses the MAC destination address of a frame to direct it by the source routing algorithm</a:t>
            </a:r>
            <a:endParaRPr/>
          </a:p>
          <a:p>
            <a:pPr indent="0" lvl="0" marL="0" rtl="0" algn="l">
              <a:lnSpc>
                <a:spcPct val="90000"/>
              </a:lnSpc>
              <a:spcBef>
                <a:spcPts val="1000"/>
              </a:spcBef>
              <a:spcAft>
                <a:spcPts val="0"/>
              </a:spcAft>
              <a:buClr>
                <a:schemeClr val="dk1"/>
              </a:buClr>
              <a:buSzPts val="2800"/>
              <a:buNone/>
            </a:pPr>
            <a:r>
              <a:rPr lang="en-US"/>
              <a:t>Transparent Bridges</a:t>
            </a:r>
            <a:endParaRPr/>
          </a:p>
          <a:p>
            <a:pPr indent="-228600" lvl="1" marL="685800" rtl="0" algn="l">
              <a:lnSpc>
                <a:spcPct val="90000"/>
              </a:lnSpc>
              <a:spcBef>
                <a:spcPts val="500"/>
              </a:spcBef>
              <a:spcAft>
                <a:spcPts val="0"/>
              </a:spcAft>
              <a:buClr>
                <a:schemeClr val="dk1"/>
              </a:buClr>
              <a:buSzPts val="2400"/>
              <a:buChar char="•"/>
            </a:pPr>
            <a:r>
              <a:rPr lang="en-US"/>
              <a:t>Transparent Bridges is invisible to the other devices on the network. Transparent Bridge only perform the function of blocking or forwarding data based on MAC address</a:t>
            </a:r>
            <a:endParaRPr/>
          </a:p>
          <a:p>
            <a:pPr indent="-228600" lvl="1" marL="685800" rtl="0" algn="l">
              <a:lnSpc>
                <a:spcPct val="90000"/>
              </a:lnSpc>
              <a:spcBef>
                <a:spcPts val="500"/>
              </a:spcBef>
              <a:spcAft>
                <a:spcPts val="0"/>
              </a:spcAft>
              <a:buClr>
                <a:schemeClr val="dk1"/>
              </a:buClr>
              <a:buSzPts val="2400"/>
              <a:buChar char="•"/>
            </a:pPr>
            <a:r>
              <a:rPr lang="en-US"/>
              <a:t> other devices in the network are entirely unaware that bridges exist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5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500"/>
                                        <p:tgtEl>
                                          <p:spTgt spid="1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Effect filter="fade" transition="in">
                                      <p:cBhvr>
                                        <p:cTn dur="500"/>
                                        <p:tgtEl>
                                          <p:spTgt spid="1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Effect filter="fade" transition="in">
                                      <p:cBhvr>
                                        <p:cTn dur="500"/>
                                        <p:tgtEl>
                                          <p:spTgt spid="1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Effect filter="fade" transition="in">
                                      <p:cBhvr>
                                        <p:cTn dur="500"/>
                                        <p:tgtEl>
                                          <p:spTgt spid="1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animEffect filter="fade" transition="in">
                                      <p:cBhvr>
                                        <p:cTn dur="500"/>
                                        <p:tgtEl>
                                          <p:spTgt spid="1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Bridge</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Local Bridge </a:t>
            </a:r>
            <a:endParaRPr/>
          </a:p>
          <a:p>
            <a:pPr indent="-228600" lvl="1" marL="685800" rtl="0" algn="l">
              <a:lnSpc>
                <a:spcPct val="90000"/>
              </a:lnSpc>
              <a:spcBef>
                <a:spcPts val="500"/>
              </a:spcBef>
              <a:spcAft>
                <a:spcPts val="0"/>
              </a:spcAft>
              <a:buClr>
                <a:schemeClr val="dk1"/>
              </a:buClr>
              <a:buSzPts val="2400"/>
              <a:buChar char="•"/>
            </a:pPr>
            <a:r>
              <a:rPr lang="en-US"/>
              <a:t>Provides direct connection between multiple LAN segments in same area</a:t>
            </a:r>
            <a:endParaRPr/>
          </a:p>
          <a:p>
            <a:pPr indent="-76200" lvl="1" marL="685800" rtl="0" algn="l">
              <a:lnSpc>
                <a:spcPct val="90000"/>
              </a:lnSpc>
              <a:spcBef>
                <a:spcPts val="500"/>
              </a:spcBef>
              <a:spcAft>
                <a:spcPts val="0"/>
              </a:spcAft>
              <a:buClr>
                <a:schemeClr val="dk1"/>
              </a:buClr>
              <a:buSzPts val="2400"/>
              <a:buNone/>
            </a:pPr>
            <a:r>
              <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Remote Bridge</a:t>
            </a:r>
            <a:endParaRPr/>
          </a:p>
          <a:p>
            <a:pPr indent="-228600" lvl="1" marL="685800" rtl="0" algn="l">
              <a:lnSpc>
                <a:spcPct val="90000"/>
              </a:lnSpc>
              <a:spcBef>
                <a:spcPts val="500"/>
              </a:spcBef>
              <a:spcAft>
                <a:spcPts val="0"/>
              </a:spcAft>
              <a:buClr>
                <a:schemeClr val="dk1"/>
              </a:buClr>
              <a:buSzPts val="2400"/>
              <a:buChar char="•"/>
            </a:pPr>
            <a:r>
              <a:rPr lang="en-US"/>
              <a:t>Connect multiple LAN segments different areas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Switch</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Used to join multiple computers together with  in one local area network (LAN).</a:t>
            </a:r>
            <a:endParaRPr/>
          </a:p>
          <a:p>
            <a:pPr indent="-228600" lvl="0" marL="228600" rtl="0" algn="l">
              <a:lnSpc>
                <a:spcPct val="90000"/>
              </a:lnSpc>
              <a:spcBef>
                <a:spcPts val="1000"/>
              </a:spcBef>
              <a:spcAft>
                <a:spcPts val="0"/>
              </a:spcAft>
              <a:buClr>
                <a:schemeClr val="dk1"/>
              </a:buClr>
              <a:buSzPts val="2800"/>
              <a:buChar char="•"/>
            </a:pPr>
            <a:r>
              <a:rPr lang="en-US"/>
              <a:t>switches operate at layer 2 (Data link layer) in the OSI model.</a:t>
            </a:r>
            <a:endParaRPr/>
          </a:p>
          <a:p>
            <a:pPr indent="-228600" lvl="0" marL="228600" rtl="0" algn="l">
              <a:lnSpc>
                <a:spcPct val="90000"/>
              </a:lnSpc>
              <a:spcBef>
                <a:spcPts val="1000"/>
              </a:spcBef>
              <a:spcAft>
                <a:spcPts val="0"/>
              </a:spcAft>
              <a:buClr>
                <a:schemeClr val="dk1"/>
              </a:buClr>
              <a:buSzPts val="2800"/>
              <a:buChar char="•"/>
            </a:pPr>
            <a:r>
              <a:rPr lang="en-US"/>
              <a:t>A switch has many ports, to which computers are plugged in.</a:t>
            </a:r>
            <a:endParaRPr/>
          </a:p>
          <a:p>
            <a:pPr indent="-228600" lvl="0" marL="228600" rtl="0" algn="l">
              <a:lnSpc>
                <a:spcPct val="90000"/>
              </a:lnSpc>
              <a:spcBef>
                <a:spcPts val="1000"/>
              </a:spcBef>
              <a:spcAft>
                <a:spcPts val="0"/>
              </a:spcAft>
              <a:buClr>
                <a:schemeClr val="dk1"/>
              </a:buClr>
              <a:buSzPts val="2800"/>
              <a:buChar char="•"/>
            </a:pPr>
            <a:r>
              <a:rPr lang="en-US"/>
              <a:t>Switch are more intelligent than hub</a:t>
            </a:r>
            <a:endParaRPr/>
          </a:p>
          <a:p>
            <a:pPr indent="-228600" lvl="0" marL="228600" rtl="0" algn="l">
              <a:lnSpc>
                <a:spcPct val="90000"/>
              </a:lnSpc>
              <a:spcBef>
                <a:spcPts val="1000"/>
              </a:spcBef>
              <a:spcAft>
                <a:spcPts val="0"/>
              </a:spcAft>
              <a:buClr>
                <a:schemeClr val="dk1"/>
              </a:buClr>
              <a:buSzPts val="2800"/>
              <a:buChar char="•"/>
            </a:pPr>
            <a:r>
              <a:rPr lang="en-US"/>
              <a:t>When a data frame arrives at any port of a network switch, it examines the destination address, performs necessary checks and sends the frame to the corresponding device</a:t>
            </a:r>
            <a:endParaRPr/>
          </a:p>
          <a:p>
            <a:pPr indent="-228600" lvl="0" marL="228600" rtl="0" algn="l">
              <a:lnSpc>
                <a:spcPct val="90000"/>
              </a:lnSpc>
              <a:spcBef>
                <a:spcPts val="1000"/>
              </a:spcBef>
              <a:spcAft>
                <a:spcPts val="0"/>
              </a:spcAft>
              <a:buClr>
                <a:schemeClr val="dk1"/>
              </a:buClr>
              <a:buSzPts val="2800"/>
              <a:buChar char="•"/>
            </a:pPr>
            <a:r>
              <a:rPr lang="en-US"/>
              <a:t>Switches are used to forward the packets based on MAC addresses.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5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Effect filter="fade" transition="in">
                                      <p:cBhvr>
                                        <p:cTn dur="500"/>
                                        <p:tgtEl>
                                          <p:spTgt spid="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Effect filter="fade" transition="in">
                                      <p:cBhvr>
                                        <p:cTn dur="500"/>
                                        <p:tgtEl>
                                          <p:spTgt spid="1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animEffect filter="fade" transition="in">
                                      <p:cBhvr>
                                        <p:cTn dur="500"/>
                                        <p:tgtEl>
                                          <p:spTgt spid="1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animEffect filter="fade" transition="in">
                                      <p:cBhvr>
                                        <p:cTn dur="500"/>
                                        <p:tgtEl>
                                          <p:spTgt spid="1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animEffect filter="fade" transition="in">
                                      <p:cBhvr>
                                        <p:cTn dur="500"/>
                                        <p:tgtEl>
                                          <p:spTgt spid="1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animEffect filter="fade" transition="in">
                                      <p:cBhvr>
                                        <p:cTn dur="500"/>
                                        <p:tgtEl>
                                          <p:spTgt spid="13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Switch</a:t>
            </a:r>
            <a:endParaRPr/>
          </a:p>
        </p:txBody>
      </p:sp>
      <p:pic>
        <p:nvPicPr>
          <p:cNvPr id="139" name="Google Shape;139;p10"/>
          <p:cNvPicPr preferRelativeResize="0"/>
          <p:nvPr>
            <p:ph idx="1" type="body"/>
          </p:nvPr>
        </p:nvPicPr>
        <p:blipFill rotWithShape="1">
          <a:blip r:embed="rId3">
            <a:alphaModFix/>
          </a:blip>
          <a:srcRect b="0" l="0" r="0" t="0"/>
          <a:stretch/>
        </p:blipFill>
        <p:spPr>
          <a:xfrm>
            <a:off x="1897040" y="1460310"/>
            <a:ext cx="5527698" cy="37554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Switch</a:t>
            </a:r>
            <a:endParaRPr/>
          </a:p>
        </p:txBody>
      </p:sp>
      <p:sp>
        <p:nvSpPr>
          <p:cNvPr id="145" name="Google Shape;14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Devices connected to switch will be on same subnet</a:t>
            </a:r>
            <a:endParaRPr/>
          </a:p>
          <a:p>
            <a:pPr indent="-228600" lvl="0" marL="228600" rtl="0" algn="l">
              <a:lnSpc>
                <a:spcPct val="90000"/>
              </a:lnSpc>
              <a:spcBef>
                <a:spcPts val="1000"/>
              </a:spcBef>
              <a:spcAft>
                <a:spcPts val="0"/>
              </a:spcAft>
              <a:buClr>
                <a:schemeClr val="dk1"/>
              </a:buClr>
              <a:buSzPts val="2800"/>
              <a:buChar char="•"/>
            </a:pPr>
            <a:r>
              <a:rPr lang="en-US"/>
              <a:t>Switch wont send data to computers on different subnet</a:t>
            </a:r>
            <a:endParaRPr/>
          </a:p>
          <a:p>
            <a:pPr indent="-228600" lvl="0" marL="228600" rtl="0" algn="l">
              <a:lnSpc>
                <a:spcPct val="90000"/>
              </a:lnSpc>
              <a:spcBef>
                <a:spcPts val="1000"/>
              </a:spcBef>
              <a:spcAft>
                <a:spcPts val="0"/>
              </a:spcAft>
              <a:buClr>
                <a:schemeClr val="dk1"/>
              </a:buClr>
              <a:buSzPts val="2800"/>
              <a:buChar char="•"/>
            </a:pPr>
            <a:r>
              <a:rPr lang="en-US"/>
              <a:t>It is operated in full duplex mode.</a:t>
            </a:r>
            <a:endParaRPr/>
          </a:p>
          <a:p>
            <a:pPr indent="-228600" lvl="0" marL="228600" rtl="0" algn="l">
              <a:lnSpc>
                <a:spcPct val="90000"/>
              </a:lnSpc>
              <a:spcBef>
                <a:spcPts val="1000"/>
              </a:spcBef>
              <a:spcAft>
                <a:spcPts val="0"/>
              </a:spcAft>
              <a:buClr>
                <a:schemeClr val="dk1"/>
              </a:buClr>
              <a:buSzPts val="2800"/>
              <a:buChar char="•"/>
            </a:pPr>
            <a:r>
              <a:rPr lang="en-US"/>
              <a:t>Packet collision is minimum as it directly communicates between source and destination.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500"/>
                                        <p:tgtEl>
                                          <p:spTgt spid="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Effect filter="fade" transition="in">
                                      <p:cBhvr>
                                        <p:cTn dur="500"/>
                                        <p:tgtEl>
                                          <p:spTgt spid="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Effect filter="fade" transition="in">
                                      <p:cBhvr>
                                        <p:cTn dur="500"/>
                                        <p:tgtEl>
                                          <p:spTgt spid="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Effect filter="fade" transition="in">
                                      <p:cBhvr>
                                        <p:cTn dur="500"/>
                                        <p:tgtEl>
                                          <p:spTgt spid="1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animEffect filter="fade" transition="in">
                                      <p:cBhvr>
                                        <p:cTn dur="500"/>
                                        <p:tgtEl>
                                          <p:spTgt spid="14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Router </a:t>
            </a:r>
            <a:endParaRPr/>
          </a:p>
        </p:txBody>
      </p:sp>
      <p:sp>
        <p:nvSpPr>
          <p:cNvPr id="151" name="Google Shape;15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Routers are networking devices operating at layer 3 or a network layer of the OSI model. </a:t>
            </a:r>
            <a:endParaRPr/>
          </a:p>
          <a:p>
            <a:pPr indent="-228600" lvl="0" marL="228600" rtl="0" algn="l">
              <a:lnSpc>
                <a:spcPct val="90000"/>
              </a:lnSpc>
              <a:spcBef>
                <a:spcPts val="1000"/>
              </a:spcBef>
              <a:spcAft>
                <a:spcPts val="0"/>
              </a:spcAft>
              <a:buClr>
                <a:schemeClr val="dk1"/>
              </a:buClr>
              <a:buSzPct val="100000"/>
              <a:buChar char="•"/>
            </a:pPr>
            <a:r>
              <a:rPr lang="en-US"/>
              <a:t>It connects different networks together and sends data packets from one network to another.</a:t>
            </a:r>
            <a:endParaRPr/>
          </a:p>
          <a:p>
            <a:pPr indent="-228600" lvl="0" marL="228600" rtl="0" algn="l">
              <a:lnSpc>
                <a:spcPct val="90000"/>
              </a:lnSpc>
              <a:spcBef>
                <a:spcPts val="1000"/>
              </a:spcBef>
              <a:spcAft>
                <a:spcPts val="0"/>
              </a:spcAft>
              <a:buClr>
                <a:schemeClr val="dk1"/>
              </a:buClr>
              <a:buSzPct val="100000"/>
              <a:buChar char="•"/>
            </a:pPr>
            <a:r>
              <a:rPr lang="en-US"/>
              <a:t>It transfers data in the form of </a:t>
            </a:r>
            <a:r>
              <a:rPr lang="en-US">
                <a:solidFill>
                  <a:srgbClr val="FF0000"/>
                </a:solidFill>
              </a:rPr>
              <a:t>IP packets</a:t>
            </a:r>
            <a:r>
              <a:rPr lang="en-US"/>
              <a:t>. </a:t>
            </a:r>
            <a:endParaRPr/>
          </a:p>
          <a:p>
            <a:pPr indent="-228600" lvl="0" marL="228600" rtl="0" algn="l">
              <a:lnSpc>
                <a:spcPct val="90000"/>
              </a:lnSpc>
              <a:spcBef>
                <a:spcPts val="1000"/>
              </a:spcBef>
              <a:spcAft>
                <a:spcPts val="0"/>
              </a:spcAft>
              <a:buClr>
                <a:schemeClr val="dk1"/>
              </a:buClr>
              <a:buSzPct val="100000"/>
              <a:buChar char="•"/>
            </a:pPr>
            <a:r>
              <a:rPr lang="en-US"/>
              <a:t>In order to transmit data, it uses </a:t>
            </a:r>
            <a:r>
              <a:rPr lang="en-US">
                <a:solidFill>
                  <a:srgbClr val="FF0000"/>
                </a:solidFill>
              </a:rPr>
              <a:t>IP address </a:t>
            </a:r>
            <a:r>
              <a:rPr lang="en-US"/>
              <a:t>mentioned in the destination field of the IP packet.</a:t>
            </a:r>
            <a:endParaRPr/>
          </a:p>
          <a:p>
            <a:pPr indent="-228600" lvl="0" marL="228600" rtl="0" algn="l">
              <a:lnSpc>
                <a:spcPct val="90000"/>
              </a:lnSpc>
              <a:spcBef>
                <a:spcPts val="1000"/>
              </a:spcBef>
              <a:spcAft>
                <a:spcPts val="0"/>
              </a:spcAft>
              <a:buClr>
                <a:schemeClr val="dk1"/>
              </a:buClr>
              <a:buSzPct val="100000"/>
              <a:buChar char="•"/>
            </a:pPr>
            <a:r>
              <a:rPr lang="en-US"/>
              <a:t>Routers have a </a:t>
            </a:r>
            <a:r>
              <a:rPr lang="en-US">
                <a:solidFill>
                  <a:srgbClr val="FF0000"/>
                </a:solidFill>
              </a:rPr>
              <a:t>routing table </a:t>
            </a:r>
            <a:r>
              <a:rPr lang="en-US"/>
              <a:t>in it that is refreshed periodically according to the changes in the network. </a:t>
            </a:r>
            <a:endParaRPr/>
          </a:p>
          <a:p>
            <a:pPr indent="-228600" lvl="0" marL="228600" rtl="0" algn="l">
              <a:lnSpc>
                <a:spcPct val="90000"/>
              </a:lnSpc>
              <a:spcBef>
                <a:spcPts val="1000"/>
              </a:spcBef>
              <a:spcAft>
                <a:spcPts val="0"/>
              </a:spcAft>
              <a:buClr>
                <a:schemeClr val="dk1"/>
              </a:buClr>
              <a:buSzPct val="100000"/>
              <a:buChar char="•"/>
            </a:pPr>
            <a:r>
              <a:rPr lang="en-US"/>
              <a:t>In order to transmit data packets, it consults the table and uses a routing protocol.</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5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5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5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5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5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5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Effect filter="fade" transition="in">
                                      <p:cBhvr>
                                        <p:cTn dur="500"/>
                                        <p:tgtEl>
                                          <p:spTgt spid="15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Router </a:t>
            </a:r>
            <a:endParaRPr/>
          </a:p>
        </p:txBody>
      </p:sp>
      <p:sp>
        <p:nvSpPr>
          <p:cNvPr id="157" name="Google Shape;15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They are responsible for receiving, analysing, and forwarding data packets among the connected computer networks. </a:t>
            </a:r>
            <a:endParaRPr/>
          </a:p>
          <a:p>
            <a:pPr indent="-228600" lvl="0" marL="228600" rtl="0" algn="l">
              <a:lnSpc>
                <a:spcPct val="90000"/>
              </a:lnSpc>
              <a:spcBef>
                <a:spcPts val="1000"/>
              </a:spcBef>
              <a:spcAft>
                <a:spcPts val="0"/>
              </a:spcAft>
              <a:buClr>
                <a:schemeClr val="dk1"/>
              </a:buClr>
              <a:buSzPts val="2800"/>
              <a:buChar char="•"/>
            </a:pPr>
            <a:r>
              <a:rPr lang="en-US"/>
              <a:t>When a data packet arrives, the router inspects the destination address, consults its routing tables to decide the optimal route and then transfers the packet along this route.</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Main functions  of router are  forwarding and routing of packets</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5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5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500"/>
                                        <p:tgtEl>
                                          <p:spTgt spid="15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Functions  of router</a:t>
            </a:r>
            <a:endParaRPr/>
          </a:p>
        </p:txBody>
      </p:sp>
      <p:sp>
        <p:nvSpPr>
          <p:cNvPr id="163" name="Google Shape;16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Forwarding –</a:t>
            </a:r>
            <a:r>
              <a:rPr lang="en-US"/>
              <a:t> </a:t>
            </a:r>
            <a:br>
              <a:rPr lang="en-US"/>
            </a:br>
            <a:r>
              <a:rPr lang="en-US"/>
              <a:t>The router receives the packets from its input ports, checks its header, performs some basic functions like checking checksum, and then looks up to the routing table to find the appropriate output port to dump the packets onto, and forwards the packets onto that output port.</a:t>
            </a:r>
            <a:endParaRPr/>
          </a:p>
          <a:p>
            <a:pPr indent="-228600" lvl="0" marL="228600" rtl="0" algn="l">
              <a:lnSpc>
                <a:spcPct val="90000"/>
              </a:lnSpc>
              <a:spcBef>
                <a:spcPts val="1000"/>
              </a:spcBef>
              <a:spcAft>
                <a:spcPts val="0"/>
              </a:spcAft>
              <a:buClr>
                <a:schemeClr val="dk1"/>
              </a:buClr>
              <a:buSzPts val="2800"/>
              <a:buChar char="•"/>
            </a:pPr>
            <a:r>
              <a:rPr b="1" lang="en-US"/>
              <a:t>Routing –</a:t>
            </a:r>
            <a:r>
              <a:rPr lang="en-US"/>
              <a:t> </a:t>
            </a:r>
            <a:br>
              <a:rPr lang="en-US"/>
            </a:br>
            <a:r>
              <a:rPr lang="en-US"/>
              <a:t>Routing is the process by which the router ascertains what is the best path for the packet to reach the destination, It maintains a routing table which is made using different algorithms by the router only.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Connection of networks through  router</a:t>
            </a:r>
            <a:endParaRPr/>
          </a:p>
        </p:txBody>
      </p:sp>
      <p:pic>
        <p:nvPicPr>
          <p:cNvPr id="169" name="Google Shape;169;p15"/>
          <p:cNvPicPr preferRelativeResize="0"/>
          <p:nvPr>
            <p:ph idx="1" type="body"/>
          </p:nvPr>
        </p:nvPicPr>
        <p:blipFill rotWithShape="1">
          <a:blip r:embed="rId3">
            <a:alphaModFix/>
          </a:blip>
          <a:srcRect b="0" l="0" r="0" t="0"/>
          <a:stretch/>
        </p:blipFill>
        <p:spPr>
          <a:xfrm>
            <a:off x="1519519" y="1690688"/>
            <a:ext cx="7572094" cy="370125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Router</a:t>
            </a:r>
            <a:br>
              <a:rPr lang="en-US"/>
            </a:br>
            <a:endParaRPr/>
          </a:p>
        </p:txBody>
      </p:sp>
      <p:sp>
        <p:nvSpPr>
          <p:cNvPr id="175" name="Google Shape;17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mainly two types of the router</a:t>
            </a:r>
            <a:endParaRPr/>
          </a:p>
          <a:p>
            <a:pPr indent="-50800" lvl="0" marL="22860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b="1" lang="en-US"/>
              <a:t>1. Wireless Router</a:t>
            </a:r>
            <a:endParaRPr/>
          </a:p>
          <a:p>
            <a:pPr indent="-228600" lvl="0" marL="228600" rtl="0" algn="l">
              <a:lnSpc>
                <a:spcPct val="90000"/>
              </a:lnSpc>
              <a:spcBef>
                <a:spcPts val="1000"/>
              </a:spcBef>
              <a:spcAft>
                <a:spcPts val="0"/>
              </a:spcAft>
              <a:buClr>
                <a:schemeClr val="dk1"/>
              </a:buClr>
              <a:buSzPts val="2800"/>
              <a:buChar char="•"/>
            </a:pPr>
            <a:r>
              <a:rPr b="1" lang="en-US"/>
              <a:t>2. Wired Router/Broadband Router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Router</a:t>
            </a:r>
            <a:br>
              <a:rPr lang="en-US"/>
            </a:br>
            <a:endParaRPr/>
          </a:p>
        </p:txBody>
      </p:sp>
      <p:sp>
        <p:nvSpPr>
          <p:cNvPr id="181" name="Google Shape;18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There are mainly two types of the router, which are given below:</a:t>
            </a:r>
            <a:endParaRPr/>
          </a:p>
          <a:p>
            <a:pPr indent="-228600" lvl="0" marL="228600" rtl="0" algn="l">
              <a:lnSpc>
                <a:spcPct val="90000"/>
              </a:lnSpc>
              <a:spcBef>
                <a:spcPts val="1000"/>
              </a:spcBef>
              <a:spcAft>
                <a:spcPts val="0"/>
              </a:spcAft>
              <a:buClr>
                <a:schemeClr val="dk1"/>
              </a:buClr>
              <a:buSzPct val="100000"/>
              <a:buChar char="•"/>
            </a:pPr>
            <a:r>
              <a:rPr b="1" lang="en-US"/>
              <a:t>1. Wireless Router</a:t>
            </a:r>
            <a:endParaRPr/>
          </a:p>
          <a:p>
            <a:pPr indent="-228600" lvl="0" marL="228600" rtl="0" algn="l">
              <a:lnSpc>
                <a:spcPct val="90000"/>
              </a:lnSpc>
              <a:spcBef>
                <a:spcPts val="1000"/>
              </a:spcBef>
              <a:spcAft>
                <a:spcPts val="0"/>
              </a:spcAft>
              <a:buClr>
                <a:schemeClr val="dk1"/>
              </a:buClr>
              <a:buSzPct val="100000"/>
              <a:buChar char="•"/>
            </a:pPr>
            <a:r>
              <a:rPr lang="en-US"/>
              <a:t>Wireless routers are the most commonly used routers in offices and homes as they don't need any wire or cable to connect with networking devices.</a:t>
            </a:r>
            <a:endParaRPr/>
          </a:p>
          <a:p>
            <a:pPr indent="-228600" lvl="0" marL="228600" rtl="0" algn="l">
              <a:lnSpc>
                <a:spcPct val="90000"/>
              </a:lnSpc>
              <a:spcBef>
                <a:spcPts val="1000"/>
              </a:spcBef>
              <a:spcAft>
                <a:spcPts val="0"/>
              </a:spcAft>
              <a:buClr>
                <a:schemeClr val="dk1"/>
              </a:buClr>
              <a:buSzPct val="100000"/>
              <a:buChar char="•"/>
            </a:pPr>
            <a:r>
              <a:rPr lang="en-US"/>
              <a:t>It provides a secure connection, and only authenticated users can access the network using the id &amp; password.</a:t>
            </a:r>
            <a:endParaRPr/>
          </a:p>
          <a:p>
            <a:pPr indent="-228600" lvl="0" marL="228600" rtl="0" algn="l">
              <a:lnSpc>
                <a:spcPct val="90000"/>
              </a:lnSpc>
              <a:spcBef>
                <a:spcPts val="1000"/>
              </a:spcBef>
              <a:spcAft>
                <a:spcPts val="0"/>
              </a:spcAft>
              <a:buClr>
                <a:schemeClr val="dk1"/>
              </a:buClr>
              <a:buSzPct val="100000"/>
              <a:buChar char="•"/>
            </a:pPr>
            <a:r>
              <a:rPr lang="en-US"/>
              <a:t>Using wireless router, internet can be accessed by the n number of users within the specified range.</a:t>
            </a:r>
            <a:endParaRPr/>
          </a:p>
          <a:p>
            <a:pPr indent="-228600" lvl="0" marL="228600" rtl="0" algn="l">
              <a:lnSpc>
                <a:spcPct val="90000"/>
              </a:lnSpc>
              <a:spcBef>
                <a:spcPts val="1000"/>
              </a:spcBef>
              <a:spcAft>
                <a:spcPts val="0"/>
              </a:spcAft>
              <a:buClr>
                <a:schemeClr val="dk1"/>
              </a:buClr>
              <a:buSzPct val="100000"/>
              <a:buChar char="•"/>
            </a:pPr>
            <a:r>
              <a:rPr b="1" lang="en-US"/>
              <a:t>2. Wired Router/Broadband Router</a:t>
            </a:r>
            <a:endParaRPr/>
          </a:p>
          <a:p>
            <a:pPr indent="-228600" lvl="0" marL="228600" rtl="0" algn="l">
              <a:lnSpc>
                <a:spcPct val="90000"/>
              </a:lnSpc>
              <a:spcBef>
                <a:spcPts val="1000"/>
              </a:spcBef>
              <a:spcAft>
                <a:spcPts val="0"/>
              </a:spcAft>
              <a:buClr>
                <a:schemeClr val="dk1"/>
              </a:buClr>
              <a:buSzPct val="100000"/>
              <a:buChar char="•"/>
            </a:pPr>
            <a:r>
              <a:rPr lang="en-US"/>
              <a:t>As its name suggests, it requires a wire or cable to connect to the network devices.</a:t>
            </a:r>
            <a:endParaRPr/>
          </a:p>
          <a:p>
            <a:pPr indent="-228600" lvl="0" marL="228600" rtl="0" algn="l">
              <a:lnSpc>
                <a:spcPct val="90000"/>
              </a:lnSpc>
              <a:spcBef>
                <a:spcPts val="1000"/>
              </a:spcBef>
              <a:spcAft>
                <a:spcPts val="0"/>
              </a:spcAft>
              <a:buClr>
                <a:schemeClr val="dk1"/>
              </a:buClr>
              <a:buSzPct val="100000"/>
              <a:buChar char="•"/>
            </a:pPr>
            <a:r>
              <a:rPr lang="en-US"/>
              <a:t>Such routers are mostly used in schools or small offices to connect the PCs with the Ethernet cable.</a:t>
            </a:r>
            <a:endParaRPr/>
          </a:p>
          <a:p>
            <a:pPr indent="-228600" lvl="0" marL="228600" rtl="0" algn="l">
              <a:lnSpc>
                <a:spcPct val="90000"/>
              </a:lnSpc>
              <a:spcBef>
                <a:spcPts val="1000"/>
              </a:spcBef>
              <a:spcAft>
                <a:spcPts val="0"/>
              </a:spcAft>
              <a:buClr>
                <a:schemeClr val="dk1"/>
              </a:buClr>
              <a:buSzPct val="100000"/>
              <a:buChar char="•"/>
            </a:pPr>
            <a:r>
              <a:rPr lang="en-US"/>
              <a:t>It also has a Wi-fi access point, and a mobile phone can be connected to it using the VOIP (Voice-over-Internet Protocol) technology.</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Gateways</a:t>
            </a:r>
            <a:endParaRPr/>
          </a:p>
        </p:txBody>
      </p:sp>
      <p:sp>
        <p:nvSpPr>
          <p:cNvPr id="187" name="Google Shape;187;p18"/>
          <p:cNvSpPr txBox="1"/>
          <p:nvPr>
            <p:ph idx="1" type="body"/>
          </p:nvPr>
        </p:nvSpPr>
        <p:spPr>
          <a:xfrm>
            <a:off x="838200" y="1528549"/>
            <a:ext cx="10515600" cy="513155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Connects two networks with different  communication protocols, data format or different architectures. </a:t>
            </a:r>
            <a:endParaRPr/>
          </a:p>
          <a:p>
            <a:pPr indent="-228600" lvl="0" marL="228600" rtl="0" algn="l">
              <a:lnSpc>
                <a:spcPct val="90000"/>
              </a:lnSpc>
              <a:spcBef>
                <a:spcPts val="1000"/>
              </a:spcBef>
              <a:spcAft>
                <a:spcPts val="0"/>
              </a:spcAft>
              <a:buClr>
                <a:schemeClr val="dk1"/>
              </a:buClr>
              <a:buSzPts val="2800"/>
              <a:buChar char="•"/>
            </a:pPr>
            <a:r>
              <a:rPr lang="en-US"/>
              <a:t>The gateway acts as a “</a:t>
            </a:r>
            <a:r>
              <a:rPr b="1" lang="en-US"/>
              <a:t>Translator</a:t>
            </a:r>
            <a:r>
              <a:rPr lang="en-US"/>
              <a:t>”  or protocol converter  in between two different systems</a:t>
            </a:r>
            <a:endParaRPr/>
          </a:p>
          <a:p>
            <a:pPr indent="-228600" lvl="0" marL="228600" rtl="0" algn="l">
              <a:lnSpc>
                <a:spcPct val="90000"/>
              </a:lnSpc>
              <a:spcBef>
                <a:spcPts val="1000"/>
              </a:spcBef>
              <a:spcAft>
                <a:spcPts val="0"/>
              </a:spcAft>
              <a:buClr>
                <a:schemeClr val="dk1"/>
              </a:buClr>
              <a:buSzPts val="2800"/>
              <a:buChar char="•"/>
            </a:pPr>
            <a:r>
              <a:rPr lang="en-US"/>
              <a:t>Depending on its functionality it operates in all the layers of the model</a:t>
            </a:r>
            <a:endParaRPr/>
          </a:p>
          <a:p>
            <a:pPr indent="-228600" lvl="0" marL="228600" rtl="0" algn="l">
              <a:lnSpc>
                <a:spcPct val="90000"/>
              </a:lnSpc>
              <a:spcBef>
                <a:spcPts val="1000"/>
              </a:spcBef>
              <a:spcAft>
                <a:spcPts val="0"/>
              </a:spcAft>
              <a:buClr>
                <a:schemeClr val="dk1"/>
              </a:buClr>
              <a:buSzPts val="2800"/>
              <a:buChar char="•"/>
            </a:pPr>
            <a:r>
              <a:rPr lang="en-US"/>
              <a:t>For eg </a:t>
            </a:r>
            <a:r>
              <a:rPr lang="en-US">
                <a:solidFill>
                  <a:srgbClr val="FF0000"/>
                </a:solidFill>
              </a:rPr>
              <a:t>transport gateways</a:t>
            </a:r>
            <a:r>
              <a:rPr lang="en-US"/>
              <a:t>  connect two computers that use different connection-oriented transport protocols. </a:t>
            </a:r>
            <a:endParaRPr/>
          </a:p>
          <a:p>
            <a:pPr indent="-228600" lvl="1" marL="685800" rtl="0" algn="l">
              <a:lnSpc>
                <a:spcPct val="90000"/>
              </a:lnSpc>
              <a:spcBef>
                <a:spcPts val="500"/>
              </a:spcBef>
              <a:spcAft>
                <a:spcPts val="0"/>
              </a:spcAft>
              <a:buClr>
                <a:schemeClr val="dk1"/>
              </a:buClr>
              <a:buSzPts val="2400"/>
              <a:buChar char="•"/>
            </a:pPr>
            <a:r>
              <a:rPr lang="en-US"/>
              <a:t> suppose a computer using the connection-oriented </a:t>
            </a:r>
            <a:r>
              <a:rPr lang="en-US">
                <a:solidFill>
                  <a:srgbClr val="FF0000"/>
                </a:solidFill>
              </a:rPr>
              <a:t>TCP/IP protocol </a:t>
            </a:r>
            <a:r>
              <a:rPr lang="en-US"/>
              <a:t>needs to talk to a computer using the connection-oriented </a:t>
            </a:r>
            <a:r>
              <a:rPr lang="en-US">
                <a:solidFill>
                  <a:srgbClr val="FF0000"/>
                </a:solidFill>
              </a:rPr>
              <a:t>ATM transport protocol</a:t>
            </a:r>
            <a:r>
              <a:rPr lang="en-US"/>
              <a:t>. </a:t>
            </a:r>
            <a:endParaRPr/>
          </a:p>
          <a:p>
            <a:pPr indent="-228600" lvl="1" marL="685800" rtl="0" algn="l">
              <a:lnSpc>
                <a:spcPct val="90000"/>
              </a:lnSpc>
              <a:spcBef>
                <a:spcPts val="500"/>
              </a:spcBef>
              <a:spcAft>
                <a:spcPts val="0"/>
              </a:spcAft>
              <a:buClr>
                <a:schemeClr val="dk1"/>
              </a:buClr>
              <a:buSzPts val="2400"/>
              <a:buChar char="•"/>
            </a:pPr>
            <a:r>
              <a:rPr lang="en-US"/>
              <a:t>The transport gateway can copy the packets from one connection to the other, reformatting them as need be.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Effect filter="fade" transition="in">
                                      <p:cBhvr>
                                        <p:cTn dur="500"/>
                                        <p:tgtEl>
                                          <p:spTgt spid="1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Effect filter="fade" transition="in">
                                      <p:cBhvr>
                                        <p:cTn dur="500"/>
                                        <p:tgtEl>
                                          <p:spTgt spid="1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Effect filter="fade" transition="in">
                                      <p:cBhvr>
                                        <p:cTn dur="500"/>
                                        <p:tgtEl>
                                          <p:spTgt spid="1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Effect filter="fade" transition="in">
                                      <p:cBhvr>
                                        <p:cTn dur="500"/>
                                        <p:tgtEl>
                                          <p:spTgt spid="1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4" st="4"/>
                                            </p:txEl>
                                          </p:spTgt>
                                        </p:tgtEl>
                                        <p:attrNameLst>
                                          <p:attrName>style.visibility</p:attrName>
                                        </p:attrNameLst>
                                      </p:cBhvr>
                                      <p:to>
                                        <p:strVal val="visible"/>
                                      </p:to>
                                    </p:set>
                                    <p:animEffect filter="fade" transition="in">
                                      <p:cBhvr>
                                        <p:cTn dur="500"/>
                                        <p:tgtEl>
                                          <p:spTgt spid="1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5" st="5"/>
                                            </p:txEl>
                                          </p:spTgt>
                                        </p:tgtEl>
                                        <p:attrNameLst>
                                          <p:attrName>style.visibility</p:attrName>
                                        </p:attrNameLst>
                                      </p:cBhvr>
                                      <p:to>
                                        <p:strVal val="visible"/>
                                      </p:to>
                                    </p:set>
                                    <p:animEffect filter="fade" transition="in">
                                      <p:cBhvr>
                                        <p:cTn dur="500"/>
                                        <p:tgtEl>
                                          <p:spTgt spid="18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Gateways</a:t>
            </a:r>
            <a:endParaRPr/>
          </a:p>
        </p:txBody>
      </p:sp>
      <p:sp>
        <p:nvSpPr>
          <p:cNvPr id="193" name="Google Shape;19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lang="en-US">
                <a:solidFill>
                  <a:srgbClr val="FF0000"/>
                </a:solidFill>
              </a:rPr>
              <a:t>Application gateways </a:t>
            </a:r>
            <a:r>
              <a:rPr lang="en-US"/>
              <a:t>understand the format and contents of the data and  translate messages from one format to another. </a:t>
            </a:r>
            <a:endParaRPr/>
          </a:p>
          <a:p>
            <a:pPr indent="-228600" lvl="1" marL="685800" rtl="0" algn="l">
              <a:lnSpc>
                <a:spcPct val="90000"/>
              </a:lnSpc>
              <a:spcBef>
                <a:spcPts val="500"/>
              </a:spcBef>
              <a:spcAft>
                <a:spcPts val="0"/>
              </a:spcAft>
              <a:buClr>
                <a:schemeClr val="dk1"/>
              </a:buClr>
              <a:buSzPts val="2400"/>
              <a:buChar char="•"/>
            </a:pPr>
            <a:r>
              <a:rPr lang="en-US"/>
              <a:t>An e-mail gateway could translate Internet messages into SMS messages for mobile phones.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 other words, a gateway is a node on a network that serves as an entrance to another network.</a:t>
            </a:r>
            <a:endParaRPr/>
          </a:p>
          <a:p>
            <a:pPr indent="-228600" lvl="0" marL="228600" rtl="0" algn="l">
              <a:lnSpc>
                <a:spcPct val="90000"/>
              </a:lnSpc>
              <a:spcBef>
                <a:spcPts val="1000"/>
              </a:spcBef>
              <a:spcAft>
                <a:spcPts val="0"/>
              </a:spcAft>
              <a:buClr>
                <a:schemeClr val="dk1"/>
              </a:buClr>
              <a:buSzPts val="2800"/>
              <a:buChar char="•"/>
            </a:pPr>
            <a:r>
              <a:rPr lang="en-US"/>
              <a:t>They take data from one system, interpret it, and transfer it to another system.</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animEffect filter="fade" transition="in">
                                      <p:cBhvr>
                                        <p:cTn dur="500"/>
                                        <p:tgtEl>
                                          <p:spTgt spid="1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1" st="1"/>
                                            </p:txEl>
                                          </p:spTgt>
                                        </p:tgtEl>
                                        <p:attrNameLst>
                                          <p:attrName>style.visibility</p:attrName>
                                        </p:attrNameLst>
                                      </p:cBhvr>
                                      <p:to>
                                        <p:strVal val="visible"/>
                                      </p:to>
                                    </p:set>
                                    <p:animEffect filter="fade" transition="in">
                                      <p:cBhvr>
                                        <p:cTn dur="500"/>
                                        <p:tgtEl>
                                          <p:spTgt spid="1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2" st="2"/>
                                            </p:txEl>
                                          </p:spTgt>
                                        </p:tgtEl>
                                        <p:attrNameLst>
                                          <p:attrName>style.visibility</p:attrName>
                                        </p:attrNameLst>
                                      </p:cBhvr>
                                      <p:to>
                                        <p:strVal val="visible"/>
                                      </p:to>
                                    </p:set>
                                    <p:animEffect filter="fade" transition="in">
                                      <p:cBhvr>
                                        <p:cTn dur="500"/>
                                        <p:tgtEl>
                                          <p:spTgt spid="1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3" st="3"/>
                                            </p:txEl>
                                          </p:spTgt>
                                        </p:tgtEl>
                                        <p:attrNameLst>
                                          <p:attrName>style.visibility</p:attrName>
                                        </p:attrNameLst>
                                      </p:cBhvr>
                                      <p:to>
                                        <p:strVal val="visible"/>
                                      </p:to>
                                    </p:set>
                                    <p:animEffect filter="fade" transition="in">
                                      <p:cBhvr>
                                        <p:cTn dur="500"/>
                                        <p:tgtEl>
                                          <p:spTgt spid="1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4" st="4"/>
                                            </p:txEl>
                                          </p:spTgt>
                                        </p:tgtEl>
                                        <p:attrNameLst>
                                          <p:attrName>style.visibility</p:attrName>
                                        </p:attrNameLst>
                                      </p:cBhvr>
                                      <p:to>
                                        <p:strVal val="visible"/>
                                      </p:to>
                                    </p:set>
                                    <p:animEffect filter="fade" transition="in">
                                      <p:cBhvr>
                                        <p:cTn dur="500"/>
                                        <p:tgtEl>
                                          <p:spTgt spid="1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5" st="5"/>
                                            </p:txEl>
                                          </p:spTgt>
                                        </p:tgtEl>
                                        <p:attrNameLst>
                                          <p:attrName>style.visibility</p:attrName>
                                        </p:attrNameLst>
                                      </p:cBhvr>
                                      <p:to>
                                        <p:strVal val="visible"/>
                                      </p:to>
                                    </p:set>
                                    <p:animEffect filter="fade" transition="in">
                                      <p:cBhvr>
                                        <p:cTn dur="500"/>
                                        <p:tgtEl>
                                          <p:spTgt spid="19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Gateways</a:t>
            </a:r>
            <a:endParaRPr/>
          </a:p>
        </p:txBody>
      </p:sp>
      <p:sp>
        <p:nvSpPr>
          <p:cNvPr id="199" name="Google Shape;199;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Gateway is the most intelligent device among the network connecting devices.</a:t>
            </a:r>
            <a:endParaRPr/>
          </a:p>
          <a:p>
            <a:pPr indent="-228600" lvl="0" marL="228600" rtl="0" algn="l">
              <a:lnSpc>
                <a:spcPct val="90000"/>
              </a:lnSpc>
              <a:spcBef>
                <a:spcPts val="1000"/>
              </a:spcBef>
              <a:spcAft>
                <a:spcPts val="0"/>
              </a:spcAft>
              <a:buClr>
                <a:schemeClr val="dk1"/>
              </a:buClr>
              <a:buSzPts val="2800"/>
              <a:buChar char="•"/>
            </a:pPr>
            <a:r>
              <a:rPr lang="en-US"/>
              <a:t> Intelligent in terms of its working, error control, data packet routing, transmission speed, etc. </a:t>
            </a:r>
            <a:endParaRPr/>
          </a:p>
          <a:p>
            <a:pPr indent="-228600" lvl="0" marL="228600" rtl="0" algn="l">
              <a:lnSpc>
                <a:spcPct val="90000"/>
              </a:lnSpc>
              <a:spcBef>
                <a:spcPts val="1000"/>
              </a:spcBef>
              <a:spcAft>
                <a:spcPts val="0"/>
              </a:spcAft>
              <a:buClr>
                <a:schemeClr val="dk1"/>
              </a:buClr>
              <a:buSzPts val="2800"/>
              <a:buChar char="•"/>
            </a:pPr>
            <a:r>
              <a:rPr lang="en-US"/>
              <a:t>It is a combination of both hardware as well as software components.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5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5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500"/>
                                        <p:tgtEl>
                                          <p:spTgt spid="19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Brouter</a:t>
            </a:r>
            <a:endParaRPr/>
          </a:p>
        </p:txBody>
      </p:sp>
      <p:sp>
        <p:nvSpPr>
          <p:cNvPr id="205" name="Google Shape;205;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 It is also known as the bridging router is a device that combines features of both bridge and router. </a:t>
            </a:r>
            <a:endParaRPr/>
          </a:p>
          <a:p>
            <a:pPr indent="-228600" lvl="0" marL="228600" rtl="0" algn="l">
              <a:lnSpc>
                <a:spcPct val="90000"/>
              </a:lnSpc>
              <a:spcBef>
                <a:spcPts val="1000"/>
              </a:spcBef>
              <a:spcAft>
                <a:spcPts val="0"/>
              </a:spcAft>
              <a:buClr>
                <a:schemeClr val="dk1"/>
              </a:buClr>
              <a:buSzPts val="2800"/>
              <a:buChar char="•"/>
            </a:pPr>
            <a:r>
              <a:rPr lang="en-US"/>
              <a:t>It can work either at the data link layer or a network layer. </a:t>
            </a:r>
            <a:endParaRPr/>
          </a:p>
          <a:p>
            <a:pPr indent="-228600" lvl="0" marL="228600" rtl="0" algn="l">
              <a:lnSpc>
                <a:spcPct val="90000"/>
              </a:lnSpc>
              <a:spcBef>
                <a:spcPts val="1000"/>
              </a:spcBef>
              <a:spcAft>
                <a:spcPts val="0"/>
              </a:spcAft>
              <a:buClr>
                <a:schemeClr val="dk1"/>
              </a:buClr>
              <a:buSzPts val="2800"/>
              <a:buChar char="•"/>
            </a:pPr>
            <a:r>
              <a:rPr lang="en-US"/>
              <a:t>Working as a router, it is capable of routing packets across networks and working as the bridge, it is capable of filtering local area network traffic.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NIC- Network interface card  </a:t>
            </a:r>
            <a:endParaRPr/>
          </a:p>
        </p:txBody>
      </p:sp>
      <p:sp>
        <p:nvSpPr>
          <p:cNvPr id="211" name="Google Shape;2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NIC or network interface card is a network adapter that is used to connect the computer to the network. </a:t>
            </a:r>
            <a:endParaRPr/>
          </a:p>
          <a:p>
            <a:pPr indent="-228600" lvl="0" marL="228600" rtl="0" algn="l">
              <a:lnSpc>
                <a:spcPct val="90000"/>
              </a:lnSpc>
              <a:spcBef>
                <a:spcPts val="1000"/>
              </a:spcBef>
              <a:spcAft>
                <a:spcPts val="0"/>
              </a:spcAft>
              <a:buClr>
                <a:schemeClr val="dk1"/>
              </a:buClr>
              <a:buSzPts val="2800"/>
              <a:buChar char="•"/>
            </a:pPr>
            <a:r>
              <a:rPr lang="en-US"/>
              <a:t>It is installed in the computer to establish a LAN. </a:t>
            </a:r>
            <a:endParaRPr/>
          </a:p>
          <a:p>
            <a:pPr indent="-228600" lvl="0" marL="228600" rtl="0" algn="l">
              <a:lnSpc>
                <a:spcPct val="90000"/>
              </a:lnSpc>
              <a:spcBef>
                <a:spcPts val="1000"/>
              </a:spcBef>
              <a:spcAft>
                <a:spcPts val="0"/>
              </a:spcAft>
              <a:buClr>
                <a:schemeClr val="dk1"/>
              </a:buClr>
              <a:buSzPts val="2800"/>
              <a:buChar char="•"/>
            </a:pPr>
            <a:r>
              <a:rPr lang="en-US"/>
              <a:t> It has a unique id(MAC address) that is written on the chip, and it has a connector to connect the cable to it. </a:t>
            </a:r>
            <a:endParaRPr/>
          </a:p>
          <a:p>
            <a:pPr indent="-228600" lvl="0" marL="228600" rtl="0" algn="l">
              <a:lnSpc>
                <a:spcPct val="90000"/>
              </a:lnSpc>
              <a:spcBef>
                <a:spcPts val="1000"/>
              </a:spcBef>
              <a:spcAft>
                <a:spcPts val="0"/>
              </a:spcAft>
              <a:buClr>
                <a:schemeClr val="dk1"/>
              </a:buClr>
              <a:buSzPts val="2800"/>
              <a:buChar char="•"/>
            </a:pPr>
            <a:r>
              <a:rPr lang="en-US"/>
              <a:t>The cable acts as an interface between the computer and the router or modem. </a:t>
            </a:r>
            <a:endParaRPr/>
          </a:p>
          <a:p>
            <a:pPr indent="-228600" lvl="0" marL="228600" rtl="0" algn="l">
              <a:lnSpc>
                <a:spcPct val="90000"/>
              </a:lnSpc>
              <a:spcBef>
                <a:spcPts val="1000"/>
              </a:spcBef>
              <a:spcAft>
                <a:spcPts val="0"/>
              </a:spcAft>
              <a:buClr>
                <a:schemeClr val="dk1"/>
              </a:buClr>
              <a:buSzPts val="2800"/>
              <a:buChar char="•"/>
            </a:pPr>
            <a:r>
              <a:rPr lang="en-US"/>
              <a:t>NIC card is a layer 2 device which means that it works on both the physical and data link layers of the network model.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2022-10-28T14:08:51Z</dcterms:created>
  <dc:creator>DIVYA</dc:creator>
</cp:coreProperties>
</file>