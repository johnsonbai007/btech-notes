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b3Gq5ET3MeZUJ5tz3xE3tY60L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Prepared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Divya K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Adi Shankara Institute of Engineering &amp; Technology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Kalady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Syllabus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Network layer design issues. Routing algorithms - The Optimality Principle, Shortest path routing, Flooding, Distance Vector Routing, Link State Routing, Multicast routing, Routing for mobile hosts. Congestion control algorithms. Quality of Service (QoS) - requirements, Techniques for achieving good QoS.</a:t>
            </a:r>
            <a:br>
              <a:rPr lang="en-US"/>
            </a:br>
            <a:r>
              <a:rPr lang="en-US" sz="3600"/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Network layer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network layer is responsible for host-to-host delivery and for routing the packets through the routers or switches.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 functions include  Routing and Congestion control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Network Layer Design Issues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1650326" y="1283514"/>
            <a:ext cx="8867775" cy="474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Store-and-Forward Packet Switching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Services Provided to the Transport Layer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Implementation of Connectionless Service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Implementation of Connection-Oriented Service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Comparison of Virtual-Circuit and Datagram Subnets</a:t>
            </a:r>
            <a:endParaRPr sz="2800"/>
          </a:p>
        </p:txBody>
      </p:sp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Store-and-Forward Packet Switching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1524000" y="6134721"/>
            <a:ext cx="9144000" cy="580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The environment of the network layer protocols.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4359275" y="2730500"/>
            <a:ext cx="2520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5-1</a:t>
            </a:r>
            <a:endParaRPr/>
          </a:p>
        </p:txBody>
      </p:sp>
      <p:pic>
        <p:nvPicPr>
          <p:cNvPr descr="5-01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3980" y="2043953"/>
            <a:ext cx="9041582" cy="3682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Store-and-Forward Packet Switching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major components of the system are the carrier's equipment (routers connected by transmission lines), shown inside the shaded oval,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the customers' equipment, shown outside the oval.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Host </a:t>
            </a:r>
            <a:r>
              <a:rPr i="1" lang="en-US"/>
              <a:t>H1 </a:t>
            </a:r>
            <a:r>
              <a:rPr lang="en-US"/>
              <a:t>is directly connected to one of the carrier's routers, </a:t>
            </a:r>
            <a:r>
              <a:rPr i="1" lang="en-US"/>
              <a:t>A</a:t>
            </a:r>
            <a:r>
              <a:rPr lang="en-US"/>
              <a:t>, by a leased line.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contrast, </a:t>
            </a:r>
            <a:r>
              <a:rPr i="1" lang="en-US"/>
              <a:t>H2 </a:t>
            </a:r>
            <a:r>
              <a:rPr lang="en-US"/>
              <a:t>is on a LAN with a router, </a:t>
            </a:r>
            <a:r>
              <a:rPr i="1" lang="en-US"/>
              <a:t>F</a:t>
            </a:r>
            <a:r>
              <a:rPr lang="en-US"/>
              <a:t>, owned and operated by the customer.</a:t>
            </a:r>
            <a:endParaRPr/>
          </a:p>
        </p:txBody>
      </p:sp>
      <p:sp>
        <p:nvSpPr>
          <p:cNvPr id="120" name="Google Shape;1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Store-and-Forward Packet Switching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host with a packet to send transmits it to the nearest router, either on its own LAN or over a point-to-point link to the carrier.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packet is stored  there until it has fully arrived so the checksum can be verified.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it is forwarded to the next router along the path until it reaches the destination host, where it is delivered.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mechanism is store-and-forward packet switching</a:t>
            </a:r>
            <a:endParaRPr/>
          </a:p>
        </p:txBody>
      </p:sp>
      <p:sp>
        <p:nvSpPr>
          <p:cNvPr id="127" name="Google Shape;12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Services Provided to the Transport Layer</a:t>
            </a:r>
            <a:endParaRPr sz="4000"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1650326" y="1482178"/>
            <a:ext cx="8867775" cy="412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1. The services should be </a:t>
            </a:r>
            <a:r>
              <a:rPr lang="en-US" sz="2800">
                <a:solidFill>
                  <a:srgbClr val="FF0000"/>
                </a:solidFill>
              </a:rPr>
              <a:t>independent </a:t>
            </a:r>
            <a:r>
              <a:rPr lang="en-US" sz="2800"/>
              <a:t>of the router technology.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2.  The transport layer should be </a:t>
            </a:r>
            <a:r>
              <a:rPr lang="en-US" sz="2800">
                <a:solidFill>
                  <a:srgbClr val="FF0000"/>
                </a:solidFill>
              </a:rPr>
              <a:t>shielded</a:t>
            </a:r>
            <a:r>
              <a:rPr lang="en-US" sz="2800"/>
              <a:t> from the number, type, and topology of the routers present.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3. The network addresses made available to the transport layer should use a </a:t>
            </a:r>
            <a:r>
              <a:rPr lang="en-US" sz="2800">
                <a:solidFill>
                  <a:srgbClr val="FF0000"/>
                </a:solidFill>
              </a:rPr>
              <a:t>uniform numbering plan</a:t>
            </a:r>
            <a:r>
              <a:rPr lang="en-US" sz="2800"/>
              <a:t>, even across LANs and WANs. </a:t>
            </a:r>
            <a:endParaRPr sz="2800"/>
          </a:p>
        </p:txBody>
      </p:sp>
      <p:sp>
        <p:nvSpPr>
          <p:cNvPr id="134" name="Google Shape;13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services by network layer 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838200" y="1492624"/>
            <a:ext cx="10515600" cy="4684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Two different services are possible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Connection Oriented 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Connectionless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connectionless service is offered, packets are injected into the subnet individually and routed independently of each other.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No advance setup is needed.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this context, the packets are frequently called </a:t>
            </a:r>
            <a:r>
              <a:rPr b="1" lang="en-US"/>
              <a:t>datagrams </a:t>
            </a:r>
            <a:r>
              <a:rPr lang="en-US"/>
              <a:t>and the subnet is called a </a:t>
            </a:r>
            <a:r>
              <a:rPr b="1" lang="en-US"/>
              <a:t>datagram subnet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connection-oriented service is used, a path from the source router to the destination router must be established before any data packets can be 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This connection is called a </a:t>
            </a:r>
            <a:r>
              <a:rPr b="1" lang="en-US"/>
              <a:t>VC </a:t>
            </a:r>
            <a:r>
              <a:rPr lang="en-US"/>
              <a:t>(</a:t>
            </a:r>
            <a:r>
              <a:rPr b="1" lang="en-US"/>
              <a:t>virtual circuit</a:t>
            </a:r>
            <a:r>
              <a:rPr lang="en-US"/>
              <a:t>), in analogy with the physical circuits set up by the telephone system, and the subnet is called a </a:t>
            </a:r>
            <a:r>
              <a:rPr b="1" lang="en-US"/>
              <a:t>virtual-circuit subnet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1524000" y="1"/>
            <a:ext cx="9144000" cy="779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Implementation of Connectionless Service</a:t>
            </a:r>
            <a:endParaRPr/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1524000" y="6269630"/>
            <a:ext cx="9144000" cy="588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Routing within a datagram subnet.</a:t>
            </a:r>
            <a:endParaRPr/>
          </a:p>
        </p:txBody>
      </p:sp>
      <p:pic>
        <p:nvPicPr>
          <p:cNvPr descr="5-02"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317" y="875859"/>
            <a:ext cx="8765811" cy="53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Implementation of Connectionless Service</a:t>
            </a:r>
            <a:endParaRPr sz="4000"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that the process </a:t>
            </a:r>
            <a:r>
              <a:rPr i="1" lang="en-US"/>
              <a:t>P1 </a:t>
            </a:r>
            <a:r>
              <a:rPr lang="en-US"/>
              <a:t>has a long message for </a:t>
            </a:r>
            <a:r>
              <a:rPr i="1" lang="en-US"/>
              <a:t>P2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Let us assume that the message is four times longer than the maximum packet size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so the network layer has to break it into four packets, 1, 2, 3, and 4 and sends each of them in turn to router A</a:t>
            </a:r>
            <a:r>
              <a:rPr i="1" lang="en-US" sz="2800"/>
              <a:t> </a:t>
            </a:r>
            <a:r>
              <a:rPr lang="en-US" sz="2800"/>
              <a:t>using PPP</a:t>
            </a:r>
            <a:r>
              <a:rPr i="1" lang="en-US" sz="2800"/>
              <a:t>. </a:t>
            </a:r>
            <a:endParaRPr i="1"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At this point the carrier takes over.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Every router has an internal table telling it where to send packets for each possible destination.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Each table entry is a pair consisting of a destination and the outgoing line to use for that destination.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Only directly-connected lines can be used. </a:t>
            </a:r>
            <a:endParaRPr sz="2800"/>
          </a:p>
        </p:txBody>
      </p:sp>
      <p:sp>
        <p:nvSpPr>
          <p:cNvPr id="155" name="Google Shape;15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Implementation of Connectionless Service</a:t>
            </a:r>
            <a:endParaRPr sz="4000"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For example, in Fig., A has only two outgoing lines—to B and C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so every incoming packet must be sent to one of these routers, even if the ultimate destination is some other router.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A's initial routing table is shown in the figure under the label ‘initially’.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As they arrived at A, packets 1, 2, and 3 were stored briefly (to verify their checksums).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Then each was forwarded to C according to A's table.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Packet 1 was then forwarded to E and then to F.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When it got to F, it was encapsulated in a data link layer frame and sent to H2 over the LAN.</a:t>
            </a:r>
            <a:endParaRPr/>
          </a:p>
        </p:txBody>
      </p:sp>
      <p:sp>
        <p:nvSpPr>
          <p:cNvPr id="162" name="Google Shape;16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Implementation of Connectionless Service</a:t>
            </a:r>
            <a:endParaRPr sz="4000"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Packets 2 and 3 follow the same route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something different happened to packet 4.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When it got to A it was sent to router B, even though it is also destined for F.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learned about a traffic jam somewhere along the ACE path and updated its routing table, as shown under the label ‘later’.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So, A decided to send packet 4 via a different route than that of the first three.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The algorithm that manages the tables and makes the routing decisions is called the </a:t>
            </a:r>
            <a:r>
              <a:rPr b="1" lang="en-US" sz="2800"/>
              <a:t>routing algorithm </a:t>
            </a:r>
            <a:r>
              <a:rPr lang="en-US" sz="2800"/>
              <a:t> </a:t>
            </a:r>
            <a:endParaRPr sz="2800"/>
          </a:p>
        </p:txBody>
      </p:sp>
      <p:sp>
        <p:nvSpPr>
          <p:cNvPr id="169" name="Google Shape;16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1524000" y="0"/>
            <a:ext cx="9144000" cy="764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Implementation of Connection-Oriented Service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1538990" y="6299610"/>
            <a:ext cx="9144000" cy="47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Routing within a virtual-circuit subnet.</a:t>
            </a:r>
            <a:endParaRPr/>
          </a:p>
        </p:txBody>
      </p:sp>
      <p:pic>
        <p:nvPicPr>
          <p:cNvPr descr="5-03"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675" y="854543"/>
            <a:ext cx="8714463" cy="544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Implementation of Connection-Oriented Service</a:t>
            </a:r>
            <a:endParaRPr sz="3600"/>
          </a:p>
        </p:txBody>
      </p:sp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For connection-oriented service, we need a virtual-circuit subnet.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The idea behind virtual circuits is to avoid having to choose a new route for every packet sent.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when a connection is established, a route from the source machine to the destination machine is chosen as part of the connection setup and stored in tables inside the routers.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That route is used for all traffic flowing over the connection, exactly the same way that the telephone system works.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When the connection is released, the virtual circuit is also terminated. </a:t>
            </a:r>
            <a:endParaRPr sz="2800"/>
          </a:p>
        </p:txBody>
      </p:sp>
      <p:sp>
        <p:nvSpPr>
          <p:cNvPr id="184" name="Google Shape;18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Implementation of Connection-Oriented Service</a:t>
            </a:r>
            <a:endParaRPr sz="3600"/>
          </a:p>
        </p:txBody>
      </p:sp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With connection-oriented service, each packet carries an identifier telling which virtual circuit it belongs to.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Eg: In fig, host H1 has established connection 1 with host H2.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It is remembered as the first entry in each of the routing tables.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The first line of A's table says that if a packet bearing connection identifier 1 comes in from H1, it is to be sent to router C and given connection identifier 1.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Similarly, the first entry at C routes the packet to E, also with connection identifier 1. </a:t>
            </a:r>
            <a:endParaRPr/>
          </a:p>
        </p:txBody>
      </p:sp>
      <p:sp>
        <p:nvSpPr>
          <p:cNvPr id="191" name="Google Shape;19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Implementation of Connection-Oriented Service</a:t>
            </a:r>
            <a:endParaRPr sz="3600"/>
          </a:p>
        </p:txBody>
      </p:sp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Now let us consider what happens if H3 also wants to establish a connection to H2.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It chooses connection identifier 1 (because it is initiating the connection and this is its only connection) tells the subnet to establish the virtual circuit.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This leads to the second row in the tables.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Note that we have a conflict  because although A can easily distinguish connection 1 packets from H1 from connection 1 packets from H3, C cannot do this. </a:t>
            </a:r>
            <a:endParaRPr sz="2800"/>
          </a:p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1524000" y="0"/>
            <a:ext cx="9144000" cy="71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Implementation of Connection-Oriented Service</a:t>
            </a:r>
            <a:endParaRPr sz="3600"/>
          </a:p>
        </p:txBody>
      </p:sp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1680306" y="764497"/>
            <a:ext cx="8867775" cy="57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For this reason, A assigns a different connection identifier to the outgoing traffic for the second connection.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Avoiding conflicts of this kind is why routers need the ability to replace connection identifiers in outgoing packets. </a:t>
            </a:r>
            <a:endParaRPr sz="28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In some contexts, this is called </a:t>
            </a:r>
            <a:r>
              <a:rPr lang="en-US" sz="2800">
                <a:solidFill>
                  <a:srgbClr val="FF0000"/>
                </a:solidFill>
              </a:rPr>
              <a:t>label switching </a:t>
            </a:r>
            <a:endParaRPr/>
          </a:p>
        </p:txBody>
      </p:sp>
      <p:sp>
        <p:nvSpPr>
          <p:cNvPr id="205" name="Google Shape;20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Comparison of Virtual-Circuit and Datagram Subnets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4841876" y="3095625"/>
            <a:ext cx="10715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5-4</a:t>
            </a:r>
            <a:endParaRPr/>
          </a:p>
        </p:txBody>
      </p:sp>
      <p:pic>
        <p:nvPicPr>
          <p:cNvPr descr="5-4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614" y="1815353"/>
            <a:ext cx="8733514" cy="498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2022-11-12T15:59:48Z</dcterms:created>
  <dc:creator>csstaff</dc:creator>
</cp:coreProperties>
</file>