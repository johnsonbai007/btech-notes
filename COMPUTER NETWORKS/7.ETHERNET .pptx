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Merriweather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jlBWBINhabgffX6e6VYEXCEZnb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44" Type="http://schemas.openxmlformats.org/officeDocument/2006/relationships/font" Target="fonts/Lato-boldItalic.fntdata"/><Relationship Id="rId43" Type="http://schemas.openxmlformats.org/officeDocument/2006/relationships/font" Target="fonts/Lato-italic.fntdata"/><Relationship Id="rId46" Type="http://schemas.openxmlformats.org/officeDocument/2006/relationships/font" Target="fonts/Merriweather-bold.fntdata"/><Relationship Id="rId45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erriweather-boldItalic.fntdata"/><Relationship Id="rId47" Type="http://schemas.openxmlformats.org/officeDocument/2006/relationships/font" Target="fonts/Merriweather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Raleway-regular.fntdata"/><Relationship Id="rId36" Type="http://schemas.openxmlformats.org/officeDocument/2006/relationships/slide" Target="slides/slide31.xml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2bfbb7e88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192bfbb7e8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938ba0e6b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1938ba0e6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92bfbb7e88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192bfbb7e8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92bfbb7e88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192bfbb7e8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92bfbb7e88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192bfbb7e8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92bfbb7e88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192bfbb7e8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92bfbb7e8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192bfbb7e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92bfbb7e8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92bfbb7e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92bfbb7e88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192bfbb7e8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729450" y="164842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7575"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2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9" name="Google Shape;59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3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3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3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3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6400"/>
              <a:t>ETHERNET</a:t>
            </a:r>
            <a:endParaRPr sz="64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4746900" y="3172900"/>
            <a:ext cx="36708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Prepared by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Divya K 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Adi Shankara Institute of Engineering &amp; Technology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Kalady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8431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772886"/>
            <a:ext cx="7688700" cy="7511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600"/>
              <a:t>Ethernet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648425"/>
            <a:ext cx="7688700" cy="2749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800"/>
              <a:t>Ethernet cabling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800"/>
              <a:t> Manchester encoding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800"/>
              <a:t> Ethernet MAC sublayer protocol( Ethernet Frame format)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800"/>
              <a:t> Binary Exponential Backoff algorithm.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729450" y="1253625"/>
            <a:ext cx="7688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729450" y="1648425"/>
            <a:ext cx="7688700" cy="3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2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94"/>
              <a:buChar char="●"/>
            </a:pPr>
            <a:r>
              <a:rPr lang="en" sz="1993">
                <a:solidFill>
                  <a:schemeClr val="dk2"/>
                </a:solidFill>
              </a:rPr>
              <a:t>Ethernet is a way of connecting computers together in a local area network or LAN.</a:t>
            </a:r>
            <a:endParaRPr sz="1993">
              <a:solidFill>
                <a:schemeClr val="dk2"/>
              </a:solidFill>
            </a:endParaRPr>
          </a:p>
          <a:p>
            <a:pPr indent="-3552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94"/>
              <a:buChar char="●"/>
            </a:pPr>
            <a:r>
              <a:rPr lang="en" sz="1993">
                <a:solidFill>
                  <a:schemeClr val="dk2"/>
                </a:solidFill>
              </a:rPr>
              <a:t>It has been the most widely used method of linking computers together in LANS since the 1990s.</a:t>
            </a:r>
            <a:endParaRPr sz="1993">
              <a:solidFill>
                <a:schemeClr val="dk2"/>
              </a:solidFill>
            </a:endParaRPr>
          </a:p>
          <a:p>
            <a:pPr indent="-3552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94"/>
              <a:buChar char="●"/>
            </a:pPr>
            <a:r>
              <a:rPr lang="en" sz="1993">
                <a:solidFill>
                  <a:schemeClr val="dk2"/>
                </a:solidFill>
              </a:rPr>
              <a:t>The basic idea of its design is that multiple computers have access to it and can send data at any time.</a:t>
            </a:r>
            <a:endParaRPr sz="1993">
              <a:solidFill>
                <a:schemeClr val="dk2"/>
              </a:solidFill>
            </a:endParaRPr>
          </a:p>
          <a:p>
            <a:pPr indent="-3552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94"/>
              <a:buChar char="●"/>
            </a:pPr>
            <a:r>
              <a:rPr lang="en" sz="1993">
                <a:solidFill>
                  <a:schemeClr val="dk2"/>
                </a:solidFill>
              </a:rPr>
              <a:t>describing how networked devices can format data for transmission to other network devices on the same network segment, and how to put that data out on the network connection.</a:t>
            </a:r>
            <a:endParaRPr sz="1993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9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79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729450" y="1318650"/>
            <a:ext cx="768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988"/>
              <a:buNone/>
            </a:pPr>
            <a:r>
              <a:rPr lang="en" sz="3175"/>
              <a:t>ETHERNET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729450" y="2156550"/>
            <a:ext cx="7688700" cy="2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170"/>
              <a:buNone/>
            </a:pPr>
            <a:r>
              <a:rPr lang="en" sz="3175">
                <a:solidFill>
                  <a:schemeClr val="dk2"/>
                </a:solidFill>
              </a:rPr>
              <a:t>Ethernet is a network protocol that controls how data is transmitted over a LAN.</a:t>
            </a:r>
            <a:endParaRPr sz="3175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8170"/>
              <a:buNone/>
            </a:pPr>
            <a:r>
              <a:rPr lang="en" sz="3175">
                <a:solidFill>
                  <a:schemeClr val="dk2"/>
                </a:solidFill>
              </a:rPr>
              <a:t>Technically it is referred to as the IEEE 802.3 protocol.</a:t>
            </a:r>
            <a:endParaRPr sz="3175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48170"/>
              <a:buNone/>
            </a:pPr>
            <a:r>
              <a:t/>
            </a:r>
            <a:endParaRPr sz="317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2bfbb7e88_0_56"/>
          <p:cNvSpPr txBox="1"/>
          <p:nvPr>
            <p:ph type="title"/>
          </p:nvPr>
        </p:nvSpPr>
        <p:spPr>
          <a:xfrm>
            <a:off x="729450" y="1318650"/>
            <a:ext cx="76887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Advantages of Ethernet over other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technologies: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1" name="Google Shape;111;g192bfbb7e88_0_56"/>
          <p:cNvSpPr txBox="1"/>
          <p:nvPr>
            <p:ph idx="1" type="body"/>
          </p:nvPr>
        </p:nvSpPr>
        <p:spPr>
          <a:xfrm>
            <a:off x="729450" y="2329575"/>
            <a:ext cx="76887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It is easy to understand, implement,manage, and maintain.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It allows low-cost network implementations.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It provides extensive topologicalflexibility for network installation.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729450" y="1318650"/>
            <a:ext cx="76887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ETHERNET CABLING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665700" y="2020350"/>
            <a:ext cx="7688700" cy="2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5"/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Four types of cabling are commonly used in Ethernet.</a:t>
            </a:r>
            <a:endParaRPr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AutoNum type="arabicPeriod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10Base5</a:t>
            </a:r>
            <a:endParaRPr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AutoNum type="arabicPeriod"/>
            </a:pPr>
            <a:r>
              <a:rPr lang="en" sz="2000"/>
              <a:t>10 Base 2</a:t>
            </a:r>
            <a:endParaRPr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AutoNum type="arabicPeriod"/>
            </a:pPr>
            <a:r>
              <a:rPr lang="en" sz="2000"/>
              <a:t>10 Base – T</a:t>
            </a:r>
            <a:endParaRPr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AutoNum type="arabicPeriod"/>
            </a:pPr>
            <a:r>
              <a:rPr lang="en" sz="2000"/>
              <a:t>10Base - F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5"/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333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333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729450" y="1318650"/>
            <a:ext cx="76887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ETHERNET CABLING-</a:t>
            </a:r>
            <a:r>
              <a:rPr lang="en" sz="2800" u="sng"/>
              <a:t>10Base5</a:t>
            </a:r>
            <a:br>
              <a:rPr lang="en" sz="2800" u="sng"/>
            </a:b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665700" y="2020350"/>
            <a:ext cx="7688700" cy="2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7200">
                <a:solidFill>
                  <a:schemeClr val="dk2"/>
                </a:solidFill>
              </a:rPr>
              <a:t>Thick Ethernet.</a:t>
            </a:r>
            <a:endParaRPr sz="72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7200">
                <a:solidFill>
                  <a:schemeClr val="dk2"/>
                </a:solidFill>
              </a:rPr>
              <a:t>Up to 100 stations can be connected to the cable using vampire taps (bus)</a:t>
            </a:r>
            <a:endParaRPr sz="72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7200">
                <a:solidFill>
                  <a:schemeClr val="dk2"/>
                </a:solidFill>
              </a:rPr>
              <a:t>The system is difficult to install and maintain.</a:t>
            </a:r>
            <a:endParaRPr sz="7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6666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16666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10 base 5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727650" y="1995450"/>
            <a:ext cx="7688700" cy="30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9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4"/>
              <a:buChar char="●"/>
            </a:pPr>
            <a:r>
              <a:rPr lang="en" sz="1643">
                <a:solidFill>
                  <a:schemeClr val="dk2"/>
                </a:solidFill>
              </a:rPr>
              <a:t>The 10 refers to its transmission speed of 10 Mbit/s. The BASE is short for baseband signaling as opposed to broadband,</a:t>
            </a:r>
            <a:endParaRPr sz="1643">
              <a:solidFill>
                <a:schemeClr val="dk2"/>
              </a:solidFill>
            </a:endParaRPr>
          </a:p>
          <a:p>
            <a:pPr indent="-3329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4"/>
              <a:buChar char="●"/>
            </a:pPr>
            <a:r>
              <a:rPr lang="en" sz="1643">
                <a:solidFill>
                  <a:schemeClr val="dk2"/>
                </a:solidFill>
              </a:rPr>
              <a:t>The 5 stands for the maximum segment length of 500 meters (1,600 ft.).</a:t>
            </a:r>
            <a:endParaRPr sz="1643">
              <a:solidFill>
                <a:schemeClr val="dk2"/>
              </a:solidFill>
            </a:endParaRPr>
          </a:p>
          <a:p>
            <a:pPr indent="-33299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4"/>
              <a:buChar char="●"/>
            </a:pPr>
            <a:r>
              <a:rPr lang="en" sz="1643">
                <a:solidFill>
                  <a:schemeClr val="dk2"/>
                </a:solidFill>
              </a:rPr>
              <a:t>It was the first Ethernet specification to use a bus topology with a external transceiver connected via a tap to a thick coaxial cable.</a:t>
            </a:r>
            <a:endParaRPr sz="1643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43">
              <a:solidFill>
                <a:schemeClr val="dk2"/>
              </a:solidFill>
            </a:endParaRPr>
          </a:p>
          <a:p>
            <a:pPr indent="-3329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3"/>
              <a:buChar char="●"/>
            </a:pPr>
            <a:r>
              <a:rPr b="1" lang="en" sz="1643">
                <a:solidFill>
                  <a:schemeClr val="dk2"/>
                </a:solidFill>
              </a:rPr>
              <a:t>Advantages: </a:t>
            </a:r>
            <a:r>
              <a:rPr lang="en" sz="1643">
                <a:solidFill>
                  <a:schemeClr val="dk2"/>
                </a:solidFill>
              </a:rPr>
              <a:t>Low attenuation, excellent noise</a:t>
            </a:r>
            <a:endParaRPr sz="1643">
              <a:solidFill>
                <a:schemeClr val="dk2"/>
              </a:solidFill>
            </a:endParaRPr>
          </a:p>
          <a:p>
            <a:pPr indent="-3329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3"/>
              <a:buChar char="●"/>
            </a:pPr>
            <a:r>
              <a:rPr lang="en" sz="1643">
                <a:solidFill>
                  <a:schemeClr val="dk2"/>
                </a:solidFill>
              </a:rPr>
              <a:t>immunity, superior mechanical strength</a:t>
            </a:r>
            <a:endParaRPr sz="1643">
              <a:solidFill>
                <a:schemeClr val="dk2"/>
              </a:solidFill>
            </a:endParaRPr>
          </a:p>
          <a:p>
            <a:pPr indent="-332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3"/>
              <a:buChar char="●"/>
            </a:pPr>
            <a:r>
              <a:rPr b="1" lang="en" sz="1643">
                <a:solidFill>
                  <a:schemeClr val="dk2"/>
                </a:solidFill>
              </a:rPr>
              <a:t>Disadvantages: </a:t>
            </a:r>
            <a:r>
              <a:rPr lang="en" sz="1643">
                <a:solidFill>
                  <a:schemeClr val="dk2"/>
                </a:solidFill>
              </a:rPr>
              <a:t>Bulky, difficult to pull, transceiver</a:t>
            </a:r>
            <a:endParaRPr sz="1643">
              <a:solidFill>
                <a:schemeClr val="dk2"/>
              </a:solidFill>
            </a:endParaRPr>
          </a:p>
          <a:p>
            <a:pPr indent="-3329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43"/>
              <a:buChar char="●"/>
            </a:pPr>
            <a:r>
              <a:rPr lang="en" sz="1643">
                <a:solidFill>
                  <a:schemeClr val="dk2"/>
                </a:solidFill>
              </a:rPr>
              <a:t>boxes too expensive</a:t>
            </a:r>
            <a:endParaRPr sz="1643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4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10 Base 2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803825" y="1752950"/>
            <a:ext cx="8030100" cy="3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10BASE2 (also known as cheapernet, thin Ethernet, thinnet, and thinwire) is a variant of Ethernet that uses thin coaxial cable, terminated with BNC connectors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10BASE2 coax cables have a maximum length of 185 metres (607 ft).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The maximum practical number of nodes that can be connected to a 10BASE2 segment is limited to 30 with a minimum distance of 50 cm.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b="1"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Advantages: </a:t>
            </a: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Easier to install, reduced hardware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cost, BNC connectors widely deployed 🡺 lower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installation costs.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b="1"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Disadvantages: </a:t>
            </a: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Attenuation not as good, could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not support as many stations due to signal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3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reflection caused by BNC Tee Connector.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10 Base - T</a:t>
            </a:r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729450" y="1853850"/>
            <a:ext cx="8414400" cy="2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2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94"/>
              <a:buChar char="●"/>
            </a:pPr>
            <a:r>
              <a:rPr lang="en" sz="1693">
                <a:solidFill>
                  <a:schemeClr val="dk2"/>
                </a:solidFill>
              </a:rPr>
              <a:t>Cables look like thick phone cables, but with 8 copper wires instead of </a:t>
            </a: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2 or 4, and they go from each computer' to a Hub or a Switch.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4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Supported speed is 10 MBit/second.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4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It uses star topology and the station are connected via two pairs of twisted cable(one for sending another for receiving) between the station and the hub.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981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94"/>
              <a:buFont typeface="Merriweather"/>
              <a:buChar char="●"/>
            </a:pPr>
            <a:r>
              <a:rPr lang="en" sz="15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The maximum length of the twisted cable here is defined as 100m,to minimize the effect of attenuation in the twisted cable.</a:t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93"/>
              <a:buFont typeface="Merriweather"/>
              <a:buChar char="●"/>
            </a:pPr>
            <a:r>
              <a:rPr b="1" lang="en" sz="16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Advantages: </a:t>
            </a:r>
            <a:r>
              <a:rPr lang="en" sz="16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could be done without pulling new wires. </a:t>
            </a:r>
            <a:endParaRPr sz="16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693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Each hub amplifies and restores incoming signal.</a:t>
            </a:r>
            <a:endParaRPr sz="1693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10Base - F</a:t>
            </a: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655100" y="208222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82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5"/>
              <a:buChar char="●"/>
            </a:pPr>
            <a:r>
              <a:rPr lang="en" sz="2193">
                <a:solidFill>
                  <a:schemeClr val="dk2"/>
                </a:solidFill>
              </a:rPr>
              <a:t> Same as 10Base-T, but cables transmit light pulses, instead of electrical signals</a:t>
            </a:r>
            <a:endParaRPr sz="2193">
              <a:solidFill>
                <a:schemeClr val="dk2"/>
              </a:solidFill>
            </a:endParaRPr>
          </a:p>
          <a:p>
            <a:pPr indent="-2682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5"/>
              <a:buChar char="●"/>
            </a:pPr>
            <a:r>
              <a:rPr lang="en" sz="2193">
                <a:solidFill>
                  <a:schemeClr val="dk2"/>
                </a:solidFill>
              </a:rPr>
              <a:t>Using star topology.</a:t>
            </a:r>
            <a:endParaRPr sz="2193">
              <a:solidFill>
                <a:schemeClr val="dk2"/>
              </a:solidFill>
            </a:endParaRPr>
          </a:p>
          <a:p>
            <a:pPr indent="-2682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5"/>
              <a:buChar char="●"/>
            </a:pPr>
            <a:r>
              <a:rPr lang="en" sz="2193">
                <a:solidFill>
                  <a:schemeClr val="dk2"/>
                </a:solidFill>
              </a:rPr>
              <a:t>Expensive due to the cost of the connectors and terminators.</a:t>
            </a:r>
            <a:endParaRPr sz="2193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893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MANCHESTER ENCODING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727650" y="235487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19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5"/>
              <a:buChar char="●"/>
            </a:pPr>
            <a:r>
              <a:rPr lang="en" sz="2093">
                <a:solidFill>
                  <a:schemeClr val="dk2"/>
                </a:solidFill>
              </a:rPr>
              <a:t>Manchester coding is a very common data coding method, probably the most common used today.</a:t>
            </a:r>
            <a:endParaRPr sz="2093">
              <a:solidFill>
                <a:schemeClr val="dk2"/>
              </a:solidFill>
            </a:endParaRPr>
          </a:p>
          <a:p>
            <a:pPr indent="-2619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5"/>
              <a:buChar char="●"/>
            </a:pPr>
            <a:r>
              <a:rPr lang="en" sz="2093">
                <a:solidFill>
                  <a:schemeClr val="dk2"/>
                </a:solidFill>
              </a:rPr>
              <a:t>With Manchester coding, we can encode both clock and signal into one, and transmit the signal serially.</a:t>
            </a:r>
            <a:endParaRPr sz="2093">
              <a:solidFill>
                <a:schemeClr val="dk2"/>
              </a:solidFill>
            </a:endParaRPr>
          </a:p>
          <a:p>
            <a:pPr indent="-2619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5"/>
              <a:buChar char="●"/>
            </a:pPr>
            <a:r>
              <a:rPr lang="en" sz="2093">
                <a:solidFill>
                  <a:schemeClr val="dk2"/>
                </a:solidFill>
              </a:rPr>
              <a:t>Manchester encoding is also widely used in infrared data transmissions, like for example the Phillips RC protocol.</a:t>
            </a:r>
            <a:endParaRPr sz="2093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89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MANCHESTER ENCODING</a:t>
            </a:r>
            <a:endParaRPr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729450" y="1933450"/>
            <a:ext cx="76887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5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5"/>
              <a:buChar char="●"/>
            </a:pPr>
            <a:r>
              <a:rPr lang="en" sz="1993">
                <a:solidFill>
                  <a:schemeClr val="dk2"/>
                </a:solidFill>
              </a:rPr>
              <a:t> Here data are represented by logic 1 or 0, but with line transitions.</a:t>
            </a:r>
            <a:endParaRPr sz="1993">
              <a:solidFill>
                <a:schemeClr val="dk2"/>
              </a:solidFill>
            </a:endParaRPr>
          </a:p>
          <a:p>
            <a:pPr indent="-255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5"/>
              <a:buChar char="●"/>
            </a:pPr>
            <a:r>
              <a:rPr lang="en" sz="1993">
                <a:solidFill>
                  <a:schemeClr val="dk2"/>
                </a:solidFill>
              </a:rPr>
              <a:t>A logic LOW (0) is represented by a transition from HIGH to LOW.</a:t>
            </a:r>
            <a:endParaRPr sz="1993">
              <a:solidFill>
                <a:schemeClr val="dk2"/>
              </a:solidFill>
            </a:endParaRPr>
          </a:p>
          <a:p>
            <a:pPr indent="-255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5"/>
              <a:buChar char="●"/>
            </a:pPr>
            <a:r>
              <a:rPr lang="en" sz="1993">
                <a:solidFill>
                  <a:schemeClr val="dk2"/>
                </a:solidFill>
              </a:rPr>
              <a:t>And a logic HIGH (1) is represented by a transition from LOW to HIGH.</a:t>
            </a:r>
            <a:endParaRPr sz="1993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893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938ba0e6b9_0_0"/>
          <p:cNvSpPr txBox="1"/>
          <p:nvPr>
            <p:ph type="title"/>
          </p:nvPr>
        </p:nvSpPr>
        <p:spPr>
          <a:xfrm>
            <a:off x="729450" y="1330175"/>
            <a:ext cx="76887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>
                <a:latin typeface="Merriweather"/>
                <a:ea typeface="Merriweather"/>
                <a:cs typeface="Merriweather"/>
                <a:sym typeface="Merriweather"/>
              </a:rPr>
              <a:t>Differential Manchester encoding.</a:t>
            </a:r>
            <a:endParaRPr sz="274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5" name="Google Shape;165;g1938ba0e6b9_0_0"/>
          <p:cNvSpPr txBox="1"/>
          <p:nvPr>
            <p:ph idx="1" type="body"/>
          </p:nvPr>
        </p:nvSpPr>
        <p:spPr>
          <a:xfrm>
            <a:off x="729450" y="2190450"/>
            <a:ext cx="76887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Variation of Manchester encoding.</a:t>
            </a:r>
            <a:endParaRPr sz="1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Bit 1 is indicated by absence of transition at the start of interval</a:t>
            </a:r>
            <a:endParaRPr sz="1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Bit 0 is indicated by presence of transition at the start of interval.</a:t>
            </a:r>
            <a:endParaRPr sz="1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ETHERNET MAC SUBLAYER PROTOCOL</a:t>
            </a:r>
            <a:endParaRPr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729450" y="215657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7293"/>
              <a:buNone/>
            </a:pPr>
            <a:r>
              <a:rPr lang="en">
                <a:solidFill>
                  <a:schemeClr val="dk2"/>
                </a:solidFill>
              </a:rPr>
              <a:t>In standard Ethernet, the MAC sublayer,governs the operation of the access method.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7293"/>
              <a:buNone/>
            </a:pPr>
            <a:r>
              <a:rPr lang="en">
                <a:solidFill>
                  <a:schemeClr val="dk2"/>
                </a:solidFill>
              </a:rPr>
              <a:t> It also frames data received from the upper layer and passes them to the physical layer.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7293"/>
              <a:buNone/>
            </a:pPr>
            <a:r>
              <a:rPr lang="en">
                <a:solidFill>
                  <a:schemeClr val="dk2"/>
                </a:solidFill>
              </a:rPr>
              <a:t>Acknowledgement must be implemented at the higher layers.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86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1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342900"/>
            <a:ext cx="6007894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ETHERNET MAC SUBLAYER PROTOCOL</a:t>
            </a:r>
            <a:endParaRPr/>
          </a:p>
        </p:txBody>
      </p:sp>
      <p:sp>
        <p:nvSpPr>
          <p:cNvPr id="182" name="Google Shape;182;p12"/>
          <p:cNvSpPr txBox="1"/>
          <p:nvPr>
            <p:ph idx="1" type="body"/>
          </p:nvPr>
        </p:nvSpPr>
        <p:spPr>
          <a:xfrm>
            <a:off x="729450" y="2032600"/>
            <a:ext cx="76887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7293"/>
              <a:buNone/>
            </a:pPr>
            <a:r>
              <a:rPr lang="en">
                <a:solidFill>
                  <a:schemeClr val="dk2"/>
                </a:solidFill>
              </a:rPr>
              <a:t>D The Ethernet frames contains seven fields: preamble,SFD,DA,SA,length or type of protocol data unit(PDU), upper-layer data, the Checksum.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7293"/>
              <a:buNone/>
            </a:pPr>
            <a:r>
              <a:rPr lang="en">
                <a:solidFill>
                  <a:schemeClr val="dk2"/>
                </a:solidFill>
              </a:rPr>
              <a:t>Ethernet does not provide any mechanism for acknowledging received frames, making it what is known as an unreliable medium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86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92bfbb7e88_0_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ETHERNET FRAME FORMAT</a:t>
            </a:r>
            <a:endParaRPr/>
          </a:p>
        </p:txBody>
      </p:sp>
      <p:sp>
        <p:nvSpPr>
          <p:cNvPr id="188" name="Google Shape;188;g192bfbb7e88_0_27"/>
          <p:cNvSpPr txBox="1"/>
          <p:nvPr>
            <p:ph idx="1" type="body"/>
          </p:nvPr>
        </p:nvSpPr>
        <p:spPr>
          <a:xfrm>
            <a:off x="729450" y="2087375"/>
            <a:ext cx="7688700" cy="28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3000"/>
              <a:t>.</a:t>
            </a:r>
            <a:endParaRPr sz="3000"/>
          </a:p>
        </p:txBody>
      </p:sp>
      <p:pic>
        <p:nvPicPr>
          <p:cNvPr id="189" name="Google Shape;189;g192bfbb7e88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675" y="2480928"/>
            <a:ext cx="6819900" cy="22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2bfbb7e88_0_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ETHERNET FRAME FORMAT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5" name="Google Shape;195;g192bfbb7e88_0_35"/>
          <p:cNvSpPr txBox="1"/>
          <p:nvPr>
            <p:ph idx="1" type="body"/>
          </p:nvPr>
        </p:nvSpPr>
        <p:spPr>
          <a:xfrm>
            <a:off x="729450" y="2040525"/>
            <a:ext cx="76887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3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5"/>
              <a:buFont typeface="Merriweather"/>
              <a:buChar char="●"/>
            </a:pPr>
            <a:r>
              <a:rPr b="1" lang="en" sz="155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Preamble</a:t>
            </a:r>
            <a:endParaRPr b="1"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55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consists of seven bytes all of the form 10101010.</a:t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55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this informs the receiving stations that a frame is starting as well as enabling synchronisation.</a:t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73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5"/>
              <a:buFont typeface="Merriweather"/>
              <a:buChar char="●"/>
            </a:pPr>
            <a:r>
              <a:rPr b="1" lang="en" sz="155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The Start frame delimiter</a:t>
            </a:r>
            <a:r>
              <a:rPr lang="en" sz="155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is a single byte, 10101011, which is a frame flag, indicating the start of a frame.</a:t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55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92bfbb7e88_0_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ETHERNET FRAME FORMAT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1" name="Google Shape;201;g192bfbb7e88_0_41"/>
          <p:cNvSpPr txBox="1"/>
          <p:nvPr>
            <p:ph idx="1" type="body"/>
          </p:nvPr>
        </p:nvSpPr>
        <p:spPr>
          <a:xfrm>
            <a:off x="727650" y="2155850"/>
            <a:ext cx="7688700" cy="2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Destination Address (DA) -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This field contains the address of station for which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 is intended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Source Address (SA) -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The source address consists of six bytes, and it is used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to identify the sending station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92bfbb7e88_0_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ETHERNET FRAME FORMAT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7" name="Google Shape;207;g192bfbb7e88_0_47"/>
          <p:cNvSpPr txBox="1"/>
          <p:nvPr>
            <p:ph idx="1" type="body"/>
          </p:nvPr>
        </p:nvSpPr>
        <p:spPr>
          <a:xfrm>
            <a:off x="729450" y="1853850"/>
            <a:ext cx="7688700" cy="3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Length – Length is a 2-Byte field, which indicates the length of entire Ethernet frame.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807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Data – This is the place where actual data is inserted,also known as Payload.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807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If the length of the field is less than 46 bytes, then padding data is added to bring its length up to the required minimum of 46 bytes.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807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Checksum – contains a 32-bit Cyclic Redundancy Check (CRC) which allows detection of corrupted data.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/>
          <p:nvPr>
            <p:ph type="title"/>
          </p:nvPr>
        </p:nvSpPr>
        <p:spPr>
          <a:xfrm>
            <a:off x="729450" y="1231750"/>
            <a:ext cx="76887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/>
              <a:t>BINARY EXPONENTIAL BACK OFF ALGORITHM</a:t>
            </a:r>
            <a:endParaRPr sz="2540"/>
          </a:p>
        </p:txBody>
      </p:sp>
      <p:sp>
        <p:nvSpPr>
          <p:cNvPr id="213" name="Google Shape;213;p13"/>
          <p:cNvSpPr txBox="1"/>
          <p:nvPr>
            <p:ph idx="1" type="body"/>
          </p:nvPr>
        </p:nvSpPr>
        <p:spPr>
          <a:xfrm>
            <a:off x="729450" y="1933450"/>
            <a:ext cx="7688700" cy="1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35"/>
              <a:buFont typeface="Merriweather"/>
              <a:buChar char="●"/>
            </a:pPr>
            <a:r>
              <a:rPr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Back-off algorithm is a </a:t>
            </a:r>
            <a:r>
              <a:rPr b="1"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collision resolution</a:t>
            </a:r>
            <a:r>
              <a:rPr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mechanism which is used in random access MAC protocols (CSMA/CD).</a:t>
            </a:r>
            <a:endParaRPr sz="1835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35"/>
              <a:buFont typeface="Merriweather"/>
              <a:buChar char="●"/>
            </a:pPr>
            <a:r>
              <a:rPr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This algorithm is generally used in Ethernet to schedule re-transmissions after collisions.</a:t>
            </a:r>
            <a:endParaRPr sz="1835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35"/>
              <a:buFont typeface="Merriweather"/>
              <a:buChar char="●"/>
            </a:pPr>
            <a:r>
              <a:rPr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If a collision takes place between 2 stations, they may restart transmission as soon as they can after the collision</a:t>
            </a:r>
            <a:endParaRPr sz="1835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35"/>
              <a:buFont typeface="Merriweather"/>
              <a:buChar char="●"/>
            </a:pPr>
            <a:r>
              <a:rPr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. This will always lead to another collision and form an infinite loop of collisions leading to a deadlock. </a:t>
            </a:r>
            <a:endParaRPr sz="1835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835"/>
              <a:buFont typeface="Merriweather"/>
              <a:buChar char="●"/>
            </a:pPr>
            <a:r>
              <a:rPr lang="en" sz="1835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To prevent such scenario back-off algorithm is used.</a:t>
            </a:r>
            <a:endParaRPr sz="1835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6439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 txBox="1"/>
          <p:nvPr>
            <p:ph type="title"/>
          </p:nvPr>
        </p:nvSpPr>
        <p:spPr>
          <a:xfrm>
            <a:off x="729450" y="12195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565"/>
              <a:buFont typeface="Arial"/>
              <a:buNone/>
            </a:pPr>
            <a:r>
              <a:rPr lang="en" sz="3040"/>
              <a:t>BACK OFF ALGORITHM</a:t>
            </a:r>
            <a:endParaRPr sz="30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19" name="Google Shape;219;p15"/>
          <p:cNvSpPr txBox="1"/>
          <p:nvPr>
            <p:ph idx="1" type="body"/>
          </p:nvPr>
        </p:nvSpPr>
        <p:spPr>
          <a:xfrm>
            <a:off x="729450" y="195827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900"/>
              <a:buFont typeface="Merriweather"/>
              <a:buChar char="●"/>
            </a:pPr>
            <a:r>
              <a:rPr lang="en" sz="19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After a collision, time is divided into discrete slots (</a:t>
            </a:r>
            <a:r>
              <a:rPr b="1" lang="en" sz="19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</a:t>
            </a:r>
            <a:r>
              <a:rPr b="1" baseline="-25000" lang="en" sz="19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9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) whose length is equal to 2t, where t is the maximum propagation delay in the network.</a:t>
            </a:r>
            <a:endParaRPr sz="1900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900"/>
              <a:buFont typeface="Merriweather"/>
              <a:buChar char="●"/>
            </a:pPr>
            <a:r>
              <a:rPr lang="en" sz="19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The stations involved in the collision randomly pick an integer from the set K i.e {0, 1}. </a:t>
            </a:r>
            <a:endParaRPr sz="1900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900"/>
              <a:buFont typeface="Merriweather"/>
              <a:buChar char="●"/>
            </a:pPr>
            <a:r>
              <a:rPr lang="en" sz="19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This set is called the contention window.</a:t>
            </a:r>
            <a:endParaRPr sz="1900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92bfbb7e88_0_0"/>
          <p:cNvSpPr txBox="1"/>
          <p:nvPr>
            <p:ph type="title"/>
          </p:nvPr>
        </p:nvSpPr>
        <p:spPr>
          <a:xfrm>
            <a:off x="727650" y="13301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565"/>
              <a:buFont typeface="Arial"/>
              <a:buNone/>
            </a:pPr>
            <a:r>
              <a:rPr lang="en" sz="3040"/>
              <a:t>BACK OFF ALGORITHM</a:t>
            </a:r>
            <a:endParaRPr sz="30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25" name="Google Shape;225;g192bfbb7e88_0_0"/>
          <p:cNvSpPr txBox="1"/>
          <p:nvPr>
            <p:ph idx="1" type="body"/>
          </p:nvPr>
        </p:nvSpPr>
        <p:spPr>
          <a:xfrm>
            <a:off x="426700" y="1949000"/>
            <a:ext cx="79914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If the sources collide again because they picked the same integer, the contention window size is doubled and it becomes {0, 1, 2, 3}.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Now the sources involved in the second collision randomly pick an integer from the set {0, 1, 2, 3} and wait that number of time slots before trying again.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Before they try to transmit, they listen to the channel and transmit only if the channel is idle.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92bfbb7e88_0_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29"/>
              <a:buNone/>
            </a:pPr>
            <a:r>
              <a:rPr lang="en" sz="3040"/>
              <a:t>BACK OFF ALGORITHM</a:t>
            </a:r>
            <a:endParaRPr sz="30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1" name="Google Shape;231;g192bfbb7e88_0_15"/>
          <p:cNvSpPr txBox="1"/>
          <p:nvPr>
            <p:ph idx="1" type="body"/>
          </p:nvPr>
        </p:nvSpPr>
        <p:spPr>
          <a:xfrm>
            <a:off x="729450" y="2305775"/>
            <a:ext cx="76887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65"/>
              <a:buFont typeface="Merriweather"/>
              <a:buChar char="●"/>
            </a:pPr>
            <a:r>
              <a:rPr lang="en" sz="166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This causes the source which picked the smallest integer in the contention window to succeed in transmitting its frame.</a:t>
            </a:r>
            <a:endParaRPr sz="166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6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432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65"/>
              <a:buFont typeface="Merriweather"/>
              <a:buChar char="●"/>
            </a:pPr>
            <a:r>
              <a:rPr lang="en" sz="166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In general After nth collision ,randomly choose 1 slot in next 2^n</a:t>
            </a:r>
            <a:endParaRPr sz="166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6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432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65"/>
              <a:buFont typeface="Merriweather"/>
              <a:buChar char="●"/>
            </a:pPr>
            <a:r>
              <a:rPr lang="en" sz="166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Back off is called exponential because the range from which the back off value is chosen is doubled after every successive collision involving the same packet</a:t>
            </a:r>
            <a:endParaRPr sz="166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565"/>
              <a:buFont typeface="Arial"/>
              <a:buNone/>
            </a:pPr>
            <a:r>
              <a:rPr lang="en" sz="3040"/>
              <a:t>BACK OFF ALGORITHM</a:t>
            </a:r>
            <a:endParaRPr sz="30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7" name="Google Shape;237;p16"/>
          <p:cNvSpPr txBox="1"/>
          <p:nvPr>
            <p:ph idx="1" type="body"/>
          </p:nvPr>
        </p:nvSpPr>
        <p:spPr>
          <a:xfrm>
            <a:off x="729450" y="1797125"/>
            <a:ext cx="7688700" cy="21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5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905"/>
              <a:buFont typeface="Merriweather"/>
              <a:buChar char="●"/>
            </a:pPr>
            <a:r>
              <a:rPr lang="en" sz="1904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Back-off algorithm defines a </a:t>
            </a:r>
            <a:r>
              <a:rPr i="1" lang="en" sz="1904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waiting time for the stations involved in collision</a:t>
            </a:r>
            <a:r>
              <a:rPr lang="en" sz="1904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, i.e. for how much time the station should wait to re-transmit.</a:t>
            </a:r>
            <a:endParaRPr sz="1904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5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905"/>
              <a:buFont typeface="Arial"/>
              <a:buChar char="●"/>
            </a:pPr>
            <a:r>
              <a:rPr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Waiting time = back–off time</a:t>
            </a:r>
            <a:endParaRPr sz="1904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Let n = collision number or re-transmission serial number. </a:t>
            </a:r>
            <a:endParaRPr sz="1904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Then, </a:t>
            </a:r>
            <a:endParaRPr sz="1904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Waiting time = K * T</a:t>
            </a:r>
            <a:r>
              <a:rPr baseline="-25000"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slot</a:t>
            </a:r>
            <a:endParaRPr sz="1904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76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where K = [0, 2</a:t>
            </a:r>
            <a:r>
              <a:rPr baseline="30000"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904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– 1 ] </a:t>
            </a:r>
            <a:endParaRPr sz="1904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5266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>
            <p:ph type="title"/>
          </p:nvPr>
        </p:nvSpPr>
        <p:spPr>
          <a:xfrm>
            <a:off x="729450" y="5502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29"/>
              <a:buNone/>
            </a:pPr>
            <a:r>
              <a:rPr lang="en" sz="3040"/>
              <a:t>BACK OFF ALGORITHM EXAMPLE</a:t>
            </a:r>
            <a:endParaRPr sz="30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 txBox="1"/>
          <p:nvPr>
            <p:ph idx="1" type="body"/>
          </p:nvPr>
        </p:nvSpPr>
        <p:spPr>
          <a:xfrm>
            <a:off x="729450" y="1289000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Suppose 2 stations A and B start transmitting data (Packet 1) at the same time then, collision occurs. So, the collision number n for both their data (Packet 1) = 1. Now, both the station randomly pick an integer from the set K i.e. {0, 1}.</a:t>
            </a:r>
            <a:endParaRPr sz="1600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6175" y="2292875"/>
            <a:ext cx="5600050" cy="27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655100" y="5378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29"/>
              <a:buNone/>
            </a:pPr>
            <a:r>
              <a:rPr lang="en" sz="3040"/>
              <a:t>BACK OFF ALGORITHM EXAMPLE</a:t>
            </a:r>
            <a:endParaRPr sz="3040"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365150" y="1437700"/>
            <a:ext cx="82686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056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88"/>
              <a:buFont typeface="Merriweather"/>
              <a:buChar char="●"/>
            </a:pPr>
            <a:r>
              <a:rPr b="1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When both A and B choose K = 0</a:t>
            </a:r>
            <a:br>
              <a:rPr b="1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–&gt; Waiting time for A = 0 *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0</a:t>
            </a:r>
            <a:b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Waiting time for B = 0 *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0</a:t>
            </a:r>
            <a:b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Therefore, both stations will transmit at the same time and hence collision occurs.</a:t>
            </a:r>
            <a:endParaRPr sz="1487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056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88"/>
              <a:buFont typeface="Merriweather"/>
              <a:buChar char="●"/>
            </a:pPr>
            <a:r>
              <a:rPr b="1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When A chooses K = 0 and B chooses K = 1</a:t>
            </a:r>
            <a:br>
              <a:rPr b="1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–&gt; Waiting time for A = 0 *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0</a:t>
            </a:r>
            <a:b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Waiting time for B = 1 *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b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Therefore, A transmits the packet and B waits for time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for transmitting and hence A wins.</a:t>
            </a:r>
            <a:endParaRPr sz="1487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056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88"/>
              <a:buFont typeface="Merriweather"/>
              <a:buChar char="●"/>
            </a:pPr>
            <a:r>
              <a:rPr b="1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When A chooses K = 1 and B chooses K = 0</a:t>
            </a:r>
            <a:br>
              <a:rPr b="1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–&gt; Waiting time for A = 1 *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b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Waiting time for B = 0 * T</a:t>
            </a:r>
            <a:r>
              <a:rPr baseline="-25000"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4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0</a:t>
            </a:r>
            <a:endParaRPr sz="1487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056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88"/>
              <a:buFont typeface="Merriweather"/>
              <a:buChar char="●"/>
            </a:pPr>
            <a:r>
              <a:rPr lang="en" sz="15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Therefore, B transmits the packet and A waits for time T</a:t>
            </a:r>
            <a:r>
              <a:rPr baseline="-25000" lang="en" sz="15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500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for transmitting and hence B wins.</a:t>
            </a:r>
            <a:endParaRPr sz="1887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642700" y="4634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29"/>
              <a:buNone/>
            </a:pPr>
            <a:r>
              <a:rPr lang="en" sz="3040"/>
              <a:t>BACK OFF ALGORITHM EXAMPLE</a:t>
            </a:r>
            <a:endParaRPr sz="3040"/>
          </a:p>
        </p:txBody>
      </p:sp>
      <p:sp>
        <p:nvSpPr>
          <p:cNvPr id="256" name="Google Shape;256;p19"/>
          <p:cNvSpPr txBox="1"/>
          <p:nvPr>
            <p:ph idx="1" type="body"/>
          </p:nvPr>
        </p:nvSpPr>
        <p:spPr>
          <a:xfrm>
            <a:off x="729450" y="164842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106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788"/>
              <a:buFont typeface="Merriweather"/>
              <a:buChar char="●"/>
            </a:pPr>
            <a:r>
              <a:rPr b="1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When both A and B choose K = 1</a:t>
            </a:r>
            <a:br>
              <a:rPr b="1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–&gt; Waiting time for A = 1 * T</a:t>
            </a:r>
            <a: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T</a:t>
            </a:r>
            <a: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b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Waiting time for B = 1 * T</a:t>
            </a:r>
            <a: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= T</a:t>
            </a:r>
            <a: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b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Therefore, both will wait for the same time T</a:t>
            </a:r>
            <a:r>
              <a:rPr baseline="-25000"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slot</a:t>
            </a:r>
            <a:r>
              <a:rPr lang="en" sz="1787">
                <a:solidFill>
                  <a:srgbClr val="353535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 and then transmit. Hence, collision occurs.</a:t>
            </a:r>
            <a:endParaRPr sz="1787">
              <a:solidFill>
                <a:srgbClr val="353535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2300"/>
              </a:spcBef>
              <a:spcAft>
                <a:spcPts val="0"/>
              </a:spcAft>
              <a:buSzPts val="688"/>
              <a:buNone/>
            </a:pPr>
            <a:r>
              <a:rPr lang="en" sz="1787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Probability that A wins = 1/4</a:t>
            </a:r>
            <a:endParaRPr sz="1787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787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Probability that B wins = 1/4</a:t>
            </a:r>
            <a:endParaRPr sz="1787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76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787">
                <a:solidFill>
                  <a:srgbClr val="353535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Probability of collision  = 2/4</a:t>
            </a:r>
            <a:endParaRPr sz="1787">
              <a:solidFill>
                <a:srgbClr val="353535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4734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92bfbb7e88_0_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565"/>
              <a:buFont typeface="Arial"/>
              <a:buNone/>
            </a:pPr>
            <a:r>
              <a:rPr lang="en" sz="3040"/>
              <a:t>BACK OFF ALGORITHM</a:t>
            </a:r>
            <a:endParaRPr sz="30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62" name="Google Shape;262;g192bfbb7e88_0_21"/>
          <p:cNvSpPr txBox="1"/>
          <p:nvPr>
            <p:ph idx="1" type="body"/>
          </p:nvPr>
        </p:nvSpPr>
        <p:spPr>
          <a:xfrm>
            <a:off x="727650" y="2190450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671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erriweather"/>
              <a:buChar char="●"/>
            </a:pPr>
            <a:r>
              <a:rPr b="1" lang="en" sz="2399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Advantage –</a:t>
            </a:r>
            <a:endParaRPr b="1" sz="2399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Collision probability decreases exponentially.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46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erriweather"/>
              <a:buChar char="●"/>
            </a:pPr>
            <a:r>
              <a:rPr b="1" lang="en" sz="2152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Disadvantages –</a:t>
            </a:r>
            <a:endParaRPr b="1" sz="2152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Capture effect: Station who wins ones keeps on winning.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t/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3188"/>
              <a:buNone/>
            </a:pPr>
            <a:r>
              <a:rPr lang="en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Works only for 2 stations or hosts.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 txBox="1"/>
          <p:nvPr>
            <p:ph idx="1" type="body"/>
          </p:nvPr>
        </p:nvSpPr>
        <p:spPr>
          <a:xfrm>
            <a:off x="729450" y="1648425"/>
            <a:ext cx="76887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69" name="Google Shape;269;p22"/>
          <p:cNvPicPr preferRelativeResize="0"/>
          <p:nvPr/>
        </p:nvPicPr>
        <p:blipFill rotWithShape="1">
          <a:blip r:embed="rId3">
            <a:alphaModFix/>
          </a:blip>
          <a:srcRect b="9543" l="0" r="0" t="0"/>
          <a:stretch/>
        </p:blipFill>
        <p:spPr>
          <a:xfrm>
            <a:off x="582525" y="979150"/>
            <a:ext cx="8130450" cy="34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