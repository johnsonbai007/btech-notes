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48"/>
  </p:notesMasterIdLst>
  <p:handoutMasterIdLst>
    <p:handoutMasterId r:id="rId49"/>
  </p:handoutMasterIdLst>
  <p:sldIdLst>
    <p:sldId id="256" r:id="rId5"/>
    <p:sldId id="269" r:id="rId6"/>
    <p:sldId id="270" r:id="rId7"/>
    <p:sldId id="271" r:id="rId8"/>
    <p:sldId id="272" r:id="rId9"/>
    <p:sldId id="273" r:id="rId10"/>
    <p:sldId id="274" r:id="rId11"/>
    <p:sldId id="275" r:id="rId12"/>
    <p:sldId id="314" r:id="rId13"/>
    <p:sldId id="276" r:id="rId14"/>
    <p:sldId id="277" r:id="rId15"/>
    <p:sldId id="278" r:id="rId16"/>
    <p:sldId id="279" r:id="rId17"/>
    <p:sldId id="311" r:id="rId18"/>
    <p:sldId id="280" r:id="rId19"/>
    <p:sldId id="282" r:id="rId20"/>
    <p:sldId id="283" r:id="rId21"/>
    <p:sldId id="285" r:id="rId22"/>
    <p:sldId id="287" r:id="rId23"/>
    <p:sldId id="288" r:id="rId24"/>
    <p:sldId id="289" r:id="rId25"/>
    <p:sldId id="290" r:id="rId26"/>
    <p:sldId id="291" r:id="rId27"/>
    <p:sldId id="292" r:id="rId28"/>
    <p:sldId id="293" r:id="rId29"/>
    <p:sldId id="294" r:id="rId30"/>
    <p:sldId id="295" r:id="rId31"/>
    <p:sldId id="297" r:id="rId32"/>
    <p:sldId id="298" r:id="rId33"/>
    <p:sldId id="299" r:id="rId34"/>
    <p:sldId id="296" r:id="rId35"/>
    <p:sldId id="300" r:id="rId36"/>
    <p:sldId id="302" r:id="rId37"/>
    <p:sldId id="306" r:id="rId38"/>
    <p:sldId id="307" r:id="rId39"/>
    <p:sldId id="303" r:id="rId40"/>
    <p:sldId id="304" r:id="rId41"/>
    <p:sldId id="305" r:id="rId42"/>
    <p:sldId id="308" r:id="rId43"/>
    <p:sldId id="310" r:id="rId44"/>
    <p:sldId id="309" r:id="rId45"/>
    <p:sldId id="312" r:id="rId46"/>
    <p:sldId id="313"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35" autoAdjust="0"/>
  </p:normalViewPr>
  <p:slideViewPr>
    <p:cSldViewPr>
      <p:cViewPr varScale="1">
        <p:scale>
          <a:sx n="62" d="100"/>
          <a:sy n="62" d="100"/>
        </p:scale>
        <p:origin x="-156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22A8A43-07B8-47E1-9F90-9DF3DF73C843}" type="datetimeFigureOut">
              <a:rPr lang="en-US" smtClean="0"/>
              <a:pPr/>
              <a:t>4/3/2024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BF2C98-EEB3-49AC-B796-FFA79F898A70}" type="slidenum">
              <a:rPr lang="en-US" smtClean="0"/>
              <a:pPr/>
              <a:t>‹#›</a:t>
            </a:fld>
            <a:endParaRPr lang="en-US"/>
          </a:p>
        </p:txBody>
      </p:sp>
    </p:spTree>
    <p:extLst>
      <p:ext uri="{BB962C8B-B14F-4D97-AF65-F5344CB8AC3E}">
        <p14:creationId xmlns:p14="http://schemas.microsoft.com/office/powerpoint/2010/main" val="23404175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ED025F2-3DBC-4BE2-BA70-920A2C93F4D7}" type="datetimeFigureOut">
              <a:rPr lang="en-IN" smtClean="0"/>
              <a:pPr/>
              <a:t>03-04-2024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D2065E-49CF-4A66-B660-BBB1F5D2B0C8}" type="slidenum">
              <a:rPr lang="en-IN" smtClean="0"/>
              <a:pPr/>
              <a:t>‹#›</a:t>
            </a:fld>
            <a:endParaRPr lang="en-IN"/>
          </a:p>
        </p:txBody>
      </p:sp>
    </p:spTree>
    <p:extLst>
      <p:ext uri="{BB962C8B-B14F-4D97-AF65-F5344CB8AC3E}">
        <p14:creationId xmlns:p14="http://schemas.microsoft.com/office/powerpoint/2010/main" val="2710065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4/3/2024</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4/3/2024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4/3/2024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PROFESSIONAL ETHICS </a:t>
            </a:r>
            <a:br>
              <a:rPr lang="en-US" sz="4000" dirty="0" smtClean="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a:t>
            </a:r>
            <a:r>
              <a:rPr lang="en-US" sz="4000" dirty="0" smtClean="0">
                <a:latin typeface="Times New Roman" panose="02020603050405020304" pitchFamily="18" charset="0"/>
                <a:cs typeface="Times New Roman" panose="02020603050405020304" pitchFamily="18" charset="0"/>
              </a:rPr>
              <a:t>HUT 200)</a:t>
            </a:r>
            <a:endParaRPr lang="en-IN"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47800" y="5029200"/>
            <a:ext cx="7406640" cy="990600"/>
          </a:xfrm>
        </p:spPr>
        <p:txBody>
          <a:bodyPr>
            <a:normAutofit/>
          </a:bodyPr>
          <a:lstStyle/>
          <a:p>
            <a:pPr algn="r"/>
            <a:r>
              <a:rPr lang="en-US" dirty="0" smtClean="0">
                <a:latin typeface="Times New Roman" panose="02020603050405020304" pitchFamily="18" charset="0"/>
                <a:cs typeface="Times New Roman" panose="02020603050405020304" pitchFamily="18" charset="0"/>
              </a:rPr>
              <a:t>Module IV</a:t>
            </a:r>
            <a:endParaRPr lang="en-US" dirty="0">
              <a:latin typeface="Times New Roman" panose="02020603050405020304" pitchFamily="18" charset="0"/>
              <a:cs typeface="Times New Roman" panose="02020603050405020304" pitchFamily="18" charset="0"/>
            </a:endParaRPr>
          </a:p>
          <a:p>
            <a:pPr algn="r"/>
            <a:r>
              <a:rPr lang="en-US" dirty="0">
                <a:latin typeface="Times New Roman" panose="02020603050405020304" pitchFamily="18" charset="0"/>
                <a:cs typeface="Times New Roman" panose="02020603050405020304" pitchFamily="18" charset="0"/>
              </a:rPr>
              <a:t>RESPONSIBILITIES </a:t>
            </a:r>
            <a:r>
              <a:rPr lang="en-US" dirty="0" smtClean="0">
                <a:latin typeface="Times New Roman" panose="02020603050405020304" pitchFamily="18" charset="0"/>
                <a:cs typeface="Times New Roman" panose="02020603050405020304" pitchFamily="18" charset="0"/>
              </a:rPr>
              <a:t>AND RIGHTS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673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Syllabus</a:t>
            </a:r>
            <a:endParaRPr lang="en-IN" dirty="0"/>
          </a:p>
        </p:txBody>
      </p:sp>
      <p:sp>
        <p:nvSpPr>
          <p:cNvPr id="3" name="Content Placeholder 2"/>
          <p:cNvSpPr>
            <a:spLocks noGrp="1"/>
          </p:cNvSpPr>
          <p:nvPr>
            <p:ph idx="1"/>
          </p:nvPr>
        </p:nvSpPr>
        <p:spPr>
          <a:xfrm>
            <a:off x="838200" y="1447800"/>
            <a:ext cx="8095488" cy="4800600"/>
          </a:xfrm>
        </p:spPr>
        <p:txBody>
          <a:bodyPr>
            <a:normAutofit/>
          </a:bodyPr>
          <a:lstStyle/>
          <a:p>
            <a:pPr algn="just"/>
            <a:r>
              <a:rPr lang="en-IN" dirty="0">
                <a:latin typeface="Times New Roman" panose="02020603050405020304" pitchFamily="18" charset="0"/>
                <a:cs typeface="Times New Roman" panose="02020603050405020304" pitchFamily="18" charset="0"/>
              </a:rPr>
              <a:t>Collegiality and loyalty – Managing conflict- Respect for authority- </a:t>
            </a:r>
            <a:r>
              <a:rPr lang="en-IN" dirty="0" smtClean="0">
                <a:latin typeface="Times New Roman" panose="02020603050405020304" pitchFamily="18" charset="0"/>
                <a:cs typeface="Times New Roman" panose="02020603050405020304" pitchFamily="18" charset="0"/>
              </a:rPr>
              <a:t>Collective bargaining- </a:t>
            </a:r>
            <a:r>
              <a:rPr lang="en-IN" dirty="0">
                <a:latin typeface="Times New Roman" panose="02020603050405020304" pitchFamily="18" charset="0"/>
                <a:cs typeface="Times New Roman" panose="02020603050405020304" pitchFamily="18" charset="0"/>
              </a:rPr>
              <a:t>Confidentiality-Role of confidentiality in moral </a:t>
            </a:r>
            <a:r>
              <a:rPr lang="en-IN" dirty="0" smtClean="0">
                <a:latin typeface="Times New Roman" panose="02020603050405020304" pitchFamily="18" charset="0"/>
                <a:cs typeface="Times New Roman" panose="02020603050405020304" pitchFamily="18" charset="0"/>
              </a:rPr>
              <a:t>integrity-Conflicts of </a:t>
            </a:r>
            <a:r>
              <a:rPr lang="en-IN" dirty="0">
                <a:latin typeface="Times New Roman" panose="02020603050405020304" pitchFamily="18" charset="0"/>
                <a:cs typeface="Times New Roman" panose="02020603050405020304" pitchFamily="18" charset="0"/>
              </a:rPr>
              <a:t>interest- Occupational crime- Professional rights-Employee right- </a:t>
            </a:r>
            <a:r>
              <a:rPr lang="en-IN" dirty="0" smtClean="0">
                <a:latin typeface="Times New Roman" panose="02020603050405020304" pitchFamily="18" charset="0"/>
                <a:cs typeface="Times New Roman" panose="02020603050405020304" pitchFamily="18" charset="0"/>
              </a:rPr>
              <a:t>IPR Discrimination</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325136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498080"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Collegiality</a:t>
            </a:r>
          </a:p>
        </p:txBody>
      </p:sp>
      <p:sp>
        <p:nvSpPr>
          <p:cNvPr id="3" name="Content Placeholder 2"/>
          <p:cNvSpPr>
            <a:spLocks noGrp="1"/>
          </p:cNvSpPr>
          <p:nvPr>
            <p:ph idx="1"/>
          </p:nvPr>
        </p:nvSpPr>
        <p:spPr>
          <a:xfrm>
            <a:off x="990600" y="1447800"/>
            <a:ext cx="7943088" cy="5410200"/>
          </a:xfrm>
        </p:spPr>
        <p:txBody>
          <a:bodyPr>
            <a:normAutofit/>
          </a:bodyPr>
          <a:lstStyle/>
          <a:p>
            <a:pPr algn="just"/>
            <a:r>
              <a:rPr lang="en-IN" sz="2400" dirty="0">
                <a:latin typeface="Times New Roman" panose="02020603050405020304" pitchFamily="18" charset="0"/>
                <a:cs typeface="Times New Roman" panose="02020603050405020304" pitchFamily="18" charset="0"/>
              </a:rPr>
              <a:t>Collegiality is the term that describes a work environment where responsibility </a:t>
            </a:r>
            <a:r>
              <a:rPr lang="en-IN" sz="2400" dirty="0" smtClean="0">
                <a:latin typeface="Times New Roman" panose="02020603050405020304" pitchFamily="18" charset="0"/>
                <a:cs typeface="Times New Roman" panose="02020603050405020304" pitchFamily="18" charset="0"/>
              </a:rPr>
              <a:t>and authority </a:t>
            </a:r>
            <a:r>
              <a:rPr lang="en-IN" sz="2400" dirty="0">
                <a:latin typeface="Times New Roman" panose="02020603050405020304" pitchFamily="18" charset="0"/>
                <a:cs typeface="Times New Roman" panose="02020603050405020304" pitchFamily="18" charset="0"/>
              </a:rPr>
              <a:t>are shared among the colleagues</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It is a relationship between colleagues and is </a:t>
            </a:r>
            <a:r>
              <a:rPr lang="en-IN" sz="2400" dirty="0">
                <a:latin typeface="Times New Roman" panose="02020603050405020304" pitchFamily="18" charset="0"/>
                <a:cs typeface="Times New Roman" panose="02020603050405020304" pitchFamily="18" charset="0"/>
              </a:rPr>
              <a:t>the tendency to support and cooperate with </a:t>
            </a:r>
            <a:r>
              <a:rPr lang="en-IN" sz="2400" dirty="0" smtClean="0">
                <a:latin typeface="Times New Roman" panose="02020603050405020304" pitchFamily="18" charset="0"/>
                <a:cs typeface="Times New Roman" panose="02020603050405020304" pitchFamily="18" charset="0"/>
              </a:rPr>
              <a:t>them.</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Colleague is a fellow member of the same profession who are all united for a purpose.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6375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IN" dirty="0"/>
          </a:p>
        </p:txBody>
      </p:sp>
      <p:sp>
        <p:nvSpPr>
          <p:cNvPr id="3" name="Content Placeholder 2"/>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The main </a:t>
            </a:r>
            <a:r>
              <a:rPr lang="en-IN" sz="2400" dirty="0" smtClean="0">
                <a:latin typeface="Times New Roman" panose="02020603050405020304" pitchFamily="18" charset="0"/>
                <a:cs typeface="Times New Roman" panose="02020603050405020304" pitchFamily="18" charset="0"/>
              </a:rPr>
              <a:t>factors of collegiality</a:t>
            </a:r>
          </a:p>
          <a:p>
            <a:pPr lvl="1" algn="just"/>
            <a:r>
              <a:rPr lang="en-IN" sz="2400" dirty="0" smtClean="0">
                <a:latin typeface="Times New Roman" panose="02020603050405020304" pitchFamily="18" charset="0"/>
                <a:cs typeface="Times New Roman" panose="02020603050405020304" pitchFamily="18" charset="0"/>
              </a:rPr>
              <a:t>Respect: Results in support and cooperation with one’s colleagues.</a:t>
            </a:r>
            <a:endParaRPr lang="en-IN" sz="2400" dirty="0">
              <a:latin typeface="Times New Roman" panose="02020603050405020304" pitchFamily="18" charset="0"/>
              <a:cs typeface="Times New Roman" panose="02020603050405020304" pitchFamily="18" charset="0"/>
            </a:endParaRPr>
          </a:p>
          <a:p>
            <a:pPr lvl="1" algn="just"/>
            <a:r>
              <a:rPr lang="en-IN" sz="2400" dirty="0" smtClean="0">
                <a:latin typeface="Times New Roman" panose="02020603050405020304" pitchFamily="18" charset="0"/>
                <a:cs typeface="Times New Roman" panose="02020603050405020304" pitchFamily="18" charset="0"/>
              </a:rPr>
              <a:t>Commitment: towards moral decisions, actions, goals of the organization, and values of the profession.</a:t>
            </a:r>
            <a:endParaRPr lang="en-IN" sz="2400" dirty="0">
              <a:latin typeface="Times New Roman" panose="02020603050405020304" pitchFamily="18" charset="0"/>
              <a:cs typeface="Times New Roman" panose="02020603050405020304" pitchFamily="18" charset="0"/>
            </a:endParaRPr>
          </a:p>
          <a:p>
            <a:pPr lvl="1" algn="just"/>
            <a:r>
              <a:rPr lang="en-IN" sz="2400" dirty="0" smtClean="0">
                <a:latin typeface="Times New Roman" panose="02020603050405020304" pitchFamily="18" charset="0"/>
                <a:cs typeface="Times New Roman" panose="02020603050405020304" pitchFamily="18" charset="0"/>
              </a:rPr>
              <a:t>Connectedness: means shared commitment and mutual understanding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39497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790688"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Loyalty</a:t>
            </a:r>
          </a:p>
        </p:txBody>
      </p:sp>
      <p:sp>
        <p:nvSpPr>
          <p:cNvPr id="3" name="Content Placeholder 2"/>
          <p:cNvSpPr>
            <a:spLocks noGrp="1"/>
          </p:cNvSpPr>
          <p:nvPr>
            <p:ph idx="1"/>
          </p:nvPr>
        </p:nvSpPr>
        <p:spPr>
          <a:xfrm>
            <a:off x="838200" y="1447800"/>
            <a:ext cx="8305800" cy="5334000"/>
          </a:xfrm>
        </p:spPr>
        <p:txBody>
          <a:bodyPr>
            <a:normAutofit/>
          </a:bodyPr>
          <a:lstStyle/>
          <a:p>
            <a:pPr algn="just"/>
            <a:r>
              <a:rPr lang="en-IN" sz="2600" dirty="0">
                <a:latin typeface="Times New Roman" panose="02020603050405020304" pitchFamily="18" charset="0"/>
                <a:cs typeface="Times New Roman" panose="02020603050405020304" pitchFamily="18" charset="0"/>
              </a:rPr>
              <a:t>Loyalty is a devotion and faithfulness to a nation, cause, philosophy, country, group, or </a:t>
            </a:r>
            <a:r>
              <a:rPr lang="en-IN" sz="2600" dirty="0" smtClean="0">
                <a:latin typeface="Times New Roman" panose="02020603050405020304" pitchFamily="18" charset="0"/>
                <a:cs typeface="Times New Roman" panose="02020603050405020304" pitchFamily="18" charset="0"/>
              </a:rPr>
              <a:t>person.</a:t>
            </a:r>
          </a:p>
          <a:p>
            <a:pPr algn="just"/>
            <a:endParaRPr lang="en-IN" sz="2600" dirty="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Loyalty is the faithful adherence to an organization and </a:t>
            </a:r>
            <a:r>
              <a:rPr lang="en-IN" sz="2600" dirty="0" smtClean="0">
                <a:latin typeface="Times New Roman" panose="02020603050405020304" pitchFamily="18" charset="0"/>
                <a:cs typeface="Times New Roman" panose="02020603050405020304" pitchFamily="18" charset="0"/>
              </a:rPr>
              <a:t>the </a:t>
            </a:r>
            <a:r>
              <a:rPr lang="en-IN" sz="2600" dirty="0">
                <a:latin typeface="Times New Roman" panose="02020603050405020304" pitchFamily="18" charset="0"/>
                <a:cs typeface="Times New Roman" panose="02020603050405020304" pitchFamily="18" charset="0"/>
              </a:rPr>
              <a:t>employer. </a:t>
            </a:r>
            <a:endParaRPr lang="en-IN" sz="2600" dirty="0" smtClean="0">
              <a:latin typeface="Times New Roman" panose="02020603050405020304" pitchFamily="18" charset="0"/>
              <a:cs typeface="Times New Roman" panose="02020603050405020304" pitchFamily="18" charset="0"/>
            </a:endParaRPr>
          </a:p>
          <a:p>
            <a:pPr algn="just"/>
            <a:endParaRPr lang="en-IN" sz="2600" dirty="0" smtClean="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Loyalty to an employer can be either of the two types</a:t>
            </a:r>
          </a:p>
          <a:p>
            <a:pPr lvl="1" algn="just"/>
            <a:r>
              <a:rPr lang="en-IN" sz="2600" dirty="0">
                <a:latin typeface="Times New Roman" panose="02020603050405020304" pitchFamily="18" charset="0"/>
                <a:cs typeface="Times New Roman" panose="02020603050405020304" pitchFamily="18" charset="0"/>
              </a:rPr>
              <a:t>Agency-loyalty − </a:t>
            </a:r>
            <a:r>
              <a:rPr lang="en-IN" sz="2600" dirty="0" smtClean="0">
                <a:latin typeface="Times New Roman" panose="02020603050405020304" pitchFamily="18" charset="0"/>
                <a:cs typeface="Times New Roman" panose="02020603050405020304" pitchFamily="18" charset="0"/>
              </a:rPr>
              <a:t>acting </a:t>
            </a:r>
            <a:r>
              <a:rPr lang="en-IN" sz="2600" dirty="0">
                <a:latin typeface="Times New Roman" panose="02020603050405020304" pitchFamily="18" charset="0"/>
                <a:cs typeface="Times New Roman" panose="02020603050405020304" pitchFamily="18" charset="0"/>
              </a:rPr>
              <a:t>to </a:t>
            </a:r>
            <a:r>
              <a:rPr lang="en-IN" sz="2600" dirty="0" smtClean="0">
                <a:latin typeface="Times New Roman" panose="02020603050405020304" pitchFamily="18" charset="0"/>
                <a:cs typeface="Times New Roman" panose="02020603050405020304" pitchFamily="18" charset="0"/>
              </a:rPr>
              <a:t>fulfil </a:t>
            </a:r>
            <a:r>
              <a:rPr lang="en-IN" sz="2600" dirty="0">
                <a:latin typeface="Times New Roman" panose="02020603050405020304" pitchFamily="18" charset="0"/>
                <a:cs typeface="Times New Roman" panose="02020603050405020304" pitchFamily="18" charset="0"/>
              </a:rPr>
              <a:t>one’s contractual duties to an </a:t>
            </a:r>
            <a:r>
              <a:rPr lang="en-IN" sz="2600" dirty="0" smtClean="0">
                <a:latin typeface="Times New Roman" panose="02020603050405020304" pitchFamily="18" charset="0"/>
                <a:cs typeface="Times New Roman" panose="02020603050405020304" pitchFamily="18" charset="0"/>
              </a:rPr>
              <a:t>employer.</a:t>
            </a:r>
            <a:endParaRPr lang="en-IN" sz="2600" dirty="0">
              <a:latin typeface="Times New Roman" panose="02020603050405020304" pitchFamily="18" charset="0"/>
              <a:cs typeface="Times New Roman" panose="02020603050405020304" pitchFamily="18" charset="0"/>
            </a:endParaRPr>
          </a:p>
          <a:p>
            <a:pPr lvl="1" algn="just"/>
            <a:r>
              <a:rPr lang="en-IN" sz="2600" dirty="0">
                <a:latin typeface="Times New Roman" panose="02020603050405020304" pitchFamily="18" charset="0"/>
                <a:cs typeface="Times New Roman" panose="02020603050405020304" pitchFamily="18" charset="0"/>
              </a:rPr>
              <a:t>Attitude-loyalty </a:t>
            </a:r>
            <a:r>
              <a:rPr lang="en-IN" sz="2600" dirty="0" smtClean="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has a lot to do with attitudes, emotions and a sense of personal identity as it does with actions.</a:t>
            </a:r>
          </a:p>
          <a:p>
            <a:pPr algn="just"/>
            <a:endParaRPr lang="en-IN" dirty="0"/>
          </a:p>
        </p:txBody>
      </p:sp>
    </p:spTree>
    <p:extLst>
      <p:ext uri="{BB962C8B-B14F-4D97-AF65-F5344CB8AC3E}">
        <p14:creationId xmlns:p14="http://schemas.microsoft.com/office/powerpoint/2010/main" val="20657190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790688" cy="868362"/>
          </a:xfrm>
        </p:spPr>
        <p:txBody>
          <a:bodyPr>
            <a:normAutofit/>
          </a:bodyPr>
          <a:lstStyle/>
          <a:p>
            <a:pPr algn="ctr"/>
            <a:r>
              <a:rPr lang="en-IN" sz="4000" b="1" dirty="0" smtClean="0">
                <a:effectLst/>
                <a:latin typeface="Times New Roman" panose="02020603050405020304" pitchFamily="18" charset="0"/>
                <a:cs typeface="Times New Roman" panose="02020603050405020304" pitchFamily="18" charset="0"/>
              </a:rPr>
              <a:t>Managing Conflict</a:t>
            </a:r>
            <a:endParaRPr lang="en-IN" sz="4000" b="1"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1219200"/>
            <a:ext cx="8153400" cy="5638800"/>
          </a:xfrm>
        </p:spPr>
        <p:txBody>
          <a:bodyPr>
            <a:normAutofit/>
          </a:bodyPr>
          <a:lstStyle/>
          <a:p>
            <a:pPr algn="just"/>
            <a:r>
              <a:rPr lang="en-IN" sz="2400" dirty="0" smtClean="0">
                <a:latin typeface="Times New Roman" panose="02020603050405020304" pitchFamily="18" charset="0"/>
                <a:cs typeface="Times New Roman" panose="02020603050405020304" pitchFamily="18" charset="0"/>
              </a:rPr>
              <a:t>Conflict - a “</a:t>
            </a:r>
            <a:r>
              <a:rPr lang="en-IN" sz="2400" dirty="0">
                <a:latin typeface="Times New Roman" panose="02020603050405020304" pitchFamily="18" charset="0"/>
                <a:cs typeface="Times New Roman" panose="02020603050405020304" pitchFamily="18" charset="0"/>
              </a:rPr>
              <a:t>disagreement between two or more organisational members or groups </a:t>
            </a:r>
            <a:r>
              <a:rPr lang="en-IN" sz="2400" dirty="0" smtClean="0">
                <a:latin typeface="Times New Roman" panose="02020603050405020304" pitchFamily="18" charset="0"/>
                <a:cs typeface="Times New Roman" panose="02020603050405020304" pitchFamily="18" charset="0"/>
              </a:rPr>
              <a:t>arising from </a:t>
            </a:r>
            <a:r>
              <a:rPr lang="en-IN" sz="2400" dirty="0">
                <a:latin typeface="Times New Roman" panose="02020603050405020304" pitchFamily="18" charset="0"/>
                <a:cs typeface="Times New Roman" panose="02020603050405020304" pitchFamily="18" charset="0"/>
              </a:rPr>
              <a:t>the fact they must share resources of work activities and/or from the fact </a:t>
            </a:r>
            <a:r>
              <a:rPr lang="en-IN" sz="2400" dirty="0" smtClean="0">
                <a:latin typeface="Times New Roman" panose="02020603050405020304" pitchFamily="18" charset="0"/>
                <a:cs typeface="Times New Roman" panose="02020603050405020304" pitchFamily="18" charset="0"/>
              </a:rPr>
              <a:t>that they </a:t>
            </a:r>
            <a:r>
              <a:rPr lang="en-IN" sz="2400" dirty="0">
                <a:latin typeface="Times New Roman" panose="02020603050405020304" pitchFamily="18" charset="0"/>
                <a:cs typeface="Times New Roman" panose="02020603050405020304" pitchFamily="18" charset="0"/>
              </a:rPr>
              <a:t>have different status, goals, values or perceptions</a:t>
            </a:r>
            <a:r>
              <a:rPr lang="en-IN" sz="2400" dirty="0" smtClean="0">
                <a:latin typeface="Times New Roman" panose="02020603050405020304" pitchFamily="18" charset="0"/>
                <a:cs typeface="Times New Roman" panose="02020603050405020304" pitchFamily="18" charset="0"/>
              </a:rPr>
              <a:t>.”</a:t>
            </a:r>
          </a:p>
          <a:p>
            <a:pPr marL="82296" indent="0" algn="just">
              <a:buNone/>
            </a:pPr>
            <a:r>
              <a:rPr lang="en-IN" sz="2400" dirty="0" smtClean="0">
                <a:latin typeface="Times New Roman" panose="02020603050405020304" pitchFamily="18" charset="0"/>
                <a:cs typeface="Times New Roman" panose="02020603050405020304" pitchFamily="18" charset="0"/>
              </a:rPr>
              <a:t> </a:t>
            </a:r>
          </a:p>
          <a:p>
            <a:pPr algn="just"/>
            <a:r>
              <a:rPr lang="en-IN" sz="2400" dirty="0" smtClean="0">
                <a:latin typeface="Times New Roman" panose="02020603050405020304" pitchFamily="18" charset="0"/>
                <a:cs typeface="Times New Roman" panose="02020603050405020304" pitchFamily="18" charset="0"/>
              </a:rPr>
              <a:t>In </a:t>
            </a:r>
            <a:r>
              <a:rPr lang="en-IN" sz="2400" dirty="0">
                <a:latin typeface="Times New Roman" panose="02020603050405020304" pitchFamily="18" charset="0"/>
                <a:cs typeface="Times New Roman" panose="02020603050405020304" pitchFamily="18" charset="0"/>
              </a:rPr>
              <a:t>short, conflict refers </a:t>
            </a:r>
            <a:r>
              <a:rPr lang="en-IN" sz="2400" dirty="0" smtClean="0">
                <a:latin typeface="Times New Roman" panose="02020603050405020304" pitchFamily="18" charset="0"/>
                <a:cs typeface="Times New Roman" panose="02020603050405020304" pitchFamily="18" charset="0"/>
              </a:rPr>
              <a:t>to any </a:t>
            </a:r>
            <a:r>
              <a:rPr lang="en-IN" sz="2400" dirty="0">
                <a:latin typeface="Times New Roman" panose="02020603050405020304" pitchFamily="18" charset="0"/>
                <a:cs typeface="Times New Roman" panose="02020603050405020304" pitchFamily="18" charset="0"/>
              </a:rPr>
              <a:t>kind of opposition or antagonistic intersection between two or more parties</a:t>
            </a:r>
            <a:r>
              <a:rPr lang="en-IN" sz="2400" dirty="0" smtClean="0">
                <a:latin typeface="Times New Roman" panose="02020603050405020304" pitchFamily="18" charset="0"/>
                <a:cs typeface="Times New Roman" panose="02020603050405020304" pitchFamily="18" charset="0"/>
              </a:rPr>
              <a:t>.</a:t>
            </a:r>
          </a:p>
          <a:p>
            <a:pPr marL="82296" indent="0" algn="just">
              <a:buNone/>
            </a:pPr>
            <a:endParaRPr lang="en-IN" sz="2400" dirty="0" smtClean="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 it is managed correctly, it can be helpful (functional) in meeting the organisational goals. </a:t>
            </a:r>
            <a:endParaRPr lang="en-IN" sz="2400" dirty="0" smtClean="0">
              <a:latin typeface="Times New Roman" panose="02020603050405020304" pitchFamily="18" charset="0"/>
              <a:cs typeface="Times New Roman" panose="02020603050405020304" pitchFamily="18" charset="0"/>
            </a:endParaRPr>
          </a:p>
          <a:p>
            <a:pPr marL="82296"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 it is mishandled or not managed correctly, it can be destructive (dysfunctional</a:t>
            </a: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63135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8305800" cy="6858000"/>
          </a:xfrm>
        </p:spPr>
        <p:txBody>
          <a:bodyPr>
            <a:normAutofit/>
          </a:bodyPr>
          <a:lstStyle/>
          <a:p>
            <a:pPr algn="just"/>
            <a:r>
              <a:rPr lang="en-US" sz="2600" b="1" u="sng" dirty="0">
                <a:latin typeface="Times New Roman" panose="02020603050405020304" pitchFamily="18" charset="0"/>
                <a:cs typeface="Times New Roman" panose="02020603050405020304" pitchFamily="18" charset="0"/>
              </a:rPr>
              <a:t>Causes of Conflict</a:t>
            </a:r>
          </a:p>
          <a:p>
            <a:pPr lvl="1" algn="just"/>
            <a:r>
              <a:rPr lang="en-US" sz="2400" b="1" i="1" dirty="0" smtClean="0">
                <a:latin typeface="Times New Roman" panose="02020603050405020304" pitchFamily="18" charset="0"/>
                <a:cs typeface="Times New Roman" panose="02020603050405020304" pitchFamily="18" charset="0"/>
              </a:rPr>
              <a:t>Problems in communication - </a:t>
            </a:r>
            <a:r>
              <a:rPr lang="en-IN" sz="2200" dirty="0" smtClean="0">
                <a:latin typeface="Times New Roman" pitchFamily="18" charset="0"/>
                <a:cs typeface="Times New Roman" pitchFamily="18" charset="0"/>
              </a:rPr>
              <a:t>(e.g</a:t>
            </a:r>
            <a:r>
              <a:rPr lang="en-IN" sz="2200" dirty="0">
                <a:latin typeface="Times New Roman" pitchFamily="18" charset="0"/>
                <a:cs typeface="Times New Roman" pitchFamily="18" charset="0"/>
              </a:rPr>
              <a:t>., misunderstandings due to semantics, unfamiliar language, or ambiguous or incomplete information</a:t>
            </a:r>
            <a:r>
              <a:rPr lang="en-IN" sz="2200" dirty="0" smtClean="0">
                <a:latin typeface="Times New Roman" pitchFamily="18" charset="0"/>
                <a:cs typeface="Times New Roman" pitchFamily="18" charset="0"/>
              </a:rPr>
              <a:t>)</a:t>
            </a:r>
          </a:p>
          <a:p>
            <a:pPr lvl="1" algn="just"/>
            <a:endParaRPr lang="en-US" sz="2200" dirty="0" smtClean="0">
              <a:latin typeface="Times New Roman" panose="02020603050405020304" pitchFamily="18" charset="0"/>
              <a:cs typeface="Times New Roman" panose="02020603050405020304" pitchFamily="18" charset="0"/>
            </a:endParaRPr>
          </a:p>
          <a:p>
            <a:pPr lvl="1" algn="just"/>
            <a:r>
              <a:rPr lang="en-US" sz="2400" b="1" i="1" dirty="0" smtClean="0">
                <a:latin typeface="Times New Roman" panose="02020603050405020304" pitchFamily="18" charset="0"/>
                <a:cs typeface="Times New Roman" panose="02020603050405020304" pitchFamily="18" charset="0"/>
              </a:rPr>
              <a:t>Personal relationships </a:t>
            </a:r>
            <a:r>
              <a:rPr lang="en-US" sz="2400" dirty="0" smtClean="0">
                <a:latin typeface="Times New Roman" panose="02020603050405020304" pitchFamily="18" charset="0"/>
                <a:cs typeface="Times New Roman" panose="02020603050405020304" pitchFamily="18" charset="0"/>
              </a:rPr>
              <a:t>- (</a:t>
            </a:r>
            <a:r>
              <a:rPr lang="en-IN" sz="2400" dirty="0">
                <a:latin typeface="Times New Roman" pitchFamily="18" charset="0"/>
                <a:cs typeface="Times New Roman" pitchFamily="18" charset="0"/>
              </a:rPr>
              <a:t>e.g., incompatibility of personal goals or social values of </a:t>
            </a:r>
            <a:r>
              <a:rPr lang="en-IN" sz="2400" dirty="0" smtClean="0">
                <a:latin typeface="Times New Roman" pitchFamily="18" charset="0"/>
                <a:cs typeface="Times New Roman" pitchFamily="18" charset="0"/>
              </a:rPr>
              <a:t>employees)</a:t>
            </a:r>
          </a:p>
          <a:p>
            <a:pPr lvl="1" algn="just"/>
            <a:endParaRPr lang="en-US" sz="2400" dirty="0">
              <a:latin typeface="Times New Roman" panose="02020603050405020304" pitchFamily="18" charset="0"/>
              <a:cs typeface="Times New Roman" panose="02020603050405020304" pitchFamily="18" charset="0"/>
            </a:endParaRPr>
          </a:p>
          <a:p>
            <a:pPr lvl="1" algn="just"/>
            <a:r>
              <a:rPr lang="en-US" sz="2400" b="1" i="1" dirty="0" smtClean="0">
                <a:latin typeface="Times New Roman" panose="02020603050405020304" pitchFamily="18" charset="0"/>
                <a:cs typeface="Times New Roman" panose="02020603050405020304" pitchFamily="18" charset="0"/>
              </a:rPr>
              <a:t>Organizational structure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eg</a:t>
            </a:r>
            <a:r>
              <a:rPr lang="en-US" sz="2400" dirty="0" smtClean="0">
                <a:latin typeface="Times New Roman" panose="02020603050405020304" pitchFamily="18" charset="0"/>
                <a:cs typeface="Times New Roman" panose="02020603050405020304" pitchFamily="18" charset="0"/>
              </a:rPr>
              <a:t>: </a:t>
            </a:r>
            <a:r>
              <a:rPr lang="en-IN" sz="2400" dirty="0" smtClean="0">
                <a:latin typeface="Times New Roman" pitchFamily="18" charset="0"/>
                <a:cs typeface="Times New Roman" pitchFamily="18" charset="0"/>
              </a:rPr>
              <a:t>power </a:t>
            </a:r>
            <a:r>
              <a:rPr lang="en-IN" sz="2400" dirty="0">
                <a:latin typeface="Times New Roman" pitchFamily="18" charset="0"/>
                <a:cs typeface="Times New Roman" pitchFamily="18" charset="0"/>
              </a:rPr>
              <a:t>struggles between departments with conflicting objectives or reward </a:t>
            </a:r>
            <a:r>
              <a:rPr lang="en-IN" sz="2400" dirty="0" smtClean="0">
                <a:latin typeface="Times New Roman" pitchFamily="18" charset="0"/>
                <a:cs typeface="Times New Roman" pitchFamily="18" charset="0"/>
              </a:rPr>
              <a:t>systems)</a:t>
            </a:r>
          </a:p>
          <a:p>
            <a:pPr lvl="1" algn="just"/>
            <a:endParaRPr lang="en-US" sz="2400" dirty="0">
              <a:latin typeface="Times New Roman" panose="02020603050405020304" pitchFamily="18" charset="0"/>
              <a:cs typeface="Times New Roman" panose="02020603050405020304" pitchFamily="18" charset="0"/>
            </a:endParaRPr>
          </a:p>
          <a:p>
            <a:pPr lvl="1" algn="just"/>
            <a:r>
              <a:rPr lang="en-IN" sz="2400" b="1" i="1" dirty="0" smtClean="0">
                <a:latin typeface="Times New Roman" panose="02020603050405020304" pitchFamily="18" charset="0"/>
                <a:cs typeface="Times New Roman" panose="02020603050405020304" pitchFamily="18" charset="0"/>
              </a:rPr>
              <a:t>Interdependence of </a:t>
            </a:r>
            <a:r>
              <a:rPr lang="en-IN" sz="2400" b="1" i="1" dirty="0">
                <a:latin typeface="Times New Roman" panose="02020603050405020304" pitchFamily="18" charset="0"/>
                <a:cs typeface="Times New Roman" panose="02020603050405020304" pitchFamily="18" charset="0"/>
              </a:rPr>
              <a:t>two or more groups </a:t>
            </a:r>
            <a:r>
              <a:rPr lang="en-IN" sz="2400" b="1" i="1" dirty="0" smtClean="0">
                <a:latin typeface="Times New Roman" panose="02020603050405020304" pitchFamily="18" charset="0"/>
                <a:cs typeface="Times New Roman" panose="02020603050405020304" pitchFamily="18" charset="0"/>
              </a:rPr>
              <a:t>to achieve </a:t>
            </a:r>
            <a:r>
              <a:rPr lang="en-IN" sz="2400" b="1" i="1" dirty="0">
                <a:latin typeface="Times New Roman" panose="02020603050405020304" pitchFamily="18" charset="0"/>
                <a:cs typeface="Times New Roman" panose="02020603050405020304" pitchFamily="18" charset="0"/>
              </a:rPr>
              <a:t>certain common </a:t>
            </a:r>
            <a:r>
              <a:rPr lang="en-IN" sz="2400" b="1" i="1" dirty="0" smtClean="0">
                <a:latin typeface="Times New Roman" panose="02020603050405020304" pitchFamily="18" charset="0"/>
                <a:cs typeface="Times New Roman" panose="02020603050405020304" pitchFamily="18" charset="0"/>
              </a:rPr>
              <a:t>goals.</a:t>
            </a:r>
          </a:p>
          <a:p>
            <a:pPr lvl="1" algn="just"/>
            <a:endParaRPr lang="en-IN" sz="2400" b="1" i="1" dirty="0" smtClean="0">
              <a:latin typeface="Times New Roman" panose="02020603050405020304" pitchFamily="18" charset="0"/>
              <a:cs typeface="Times New Roman" panose="02020603050405020304" pitchFamily="18" charset="0"/>
            </a:endParaRPr>
          </a:p>
          <a:p>
            <a:pPr lvl="1" algn="just"/>
            <a:r>
              <a:rPr lang="en-IN" sz="2400" b="1" i="1" dirty="0" smtClean="0">
                <a:latin typeface="Times New Roman" panose="02020603050405020304" pitchFamily="18" charset="0"/>
                <a:cs typeface="Times New Roman" panose="02020603050405020304" pitchFamily="18" charset="0"/>
              </a:rPr>
              <a:t>Personality characteristics </a:t>
            </a:r>
            <a:r>
              <a:rPr lang="en-IN" sz="2400" dirty="0" smtClean="0">
                <a:latin typeface="Times New Roman" panose="02020603050405020304" pitchFamily="18" charset="0"/>
                <a:cs typeface="Times New Roman" panose="02020603050405020304" pitchFamily="18" charset="0"/>
              </a:rPr>
              <a:t>such as authoritarianism or dogmatism.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741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a:bodyPr>
          <a:lstStyle/>
          <a:p>
            <a:r>
              <a:rPr lang="en-IN" sz="2800" b="1" u="sng" dirty="0">
                <a:latin typeface="Times New Roman" panose="02020603050405020304" pitchFamily="18" charset="0"/>
                <a:cs typeface="Times New Roman" panose="02020603050405020304" pitchFamily="18" charset="0"/>
              </a:rPr>
              <a:t>Methods for Managing Conflict</a:t>
            </a:r>
          </a:p>
        </p:txBody>
      </p:sp>
      <p:sp>
        <p:nvSpPr>
          <p:cNvPr id="3" name="Content Placeholder 2"/>
          <p:cNvSpPr>
            <a:spLocks noGrp="1"/>
          </p:cNvSpPr>
          <p:nvPr>
            <p:ph idx="1"/>
          </p:nvPr>
        </p:nvSpPr>
        <p:spPr>
          <a:xfrm>
            <a:off x="990600" y="1447800"/>
            <a:ext cx="8153400" cy="5257800"/>
          </a:xfrm>
        </p:spPr>
        <p:txBody>
          <a:bodyPr>
            <a:normAutofit/>
          </a:bodyPr>
          <a:lstStyle/>
          <a:p>
            <a:pPr algn="just"/>
            <a:r>
              <a:rPr lang="en-IN" sz="2400" dirty="0">
                <a:latin typeface="Times New Roman" panose="02020603050405020304" pitchFamily="18" charset="0"/>
                <a:cs typeface="Times New Roman" panose="02020603050405020304" pitchFamily="18" charset="0"/>
              </a:rPr>
              <a:t>Collective Bargaining : </a:t>
            </a:r>
            <a:r>
              <a:rPr lang="en-IN" sz="2400" dirty="0" smtClean="0">
                <a:latin typeface="Times New Roman" panose="02020603050405020304" pitchFamily="18" charset="0"/>
                <a:cs typeface="Times New Roman" panose="02020603050405020304" pitchFamily="18" charset="0"/>
              </a:rPr>
              <a:t>Negotiations.</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Conciliation : Series of conferences, including informal sitting between representatives of the two </a:t>
            </a:r>
            <a:r>
              <a:rPr lang="en-IN" sz="2400" dirty="0" smtClean="0">
                <a:latin typeface="Times New Roman" panose="02020603050405020304" pitchFamily="18" charset="0"/>
                <a:cs typeface="Times New Roman" panose="02020603050405020304" pitchFamily="18" charset="0"/>
              </a:rPr>
              <a:t>parties.</a:t>
            </a:r>
          </a:p>
          <a:p>
            <a:pPr marL="82296" indent="0" algn="just">
              <a:buNone/>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Mediation: Third party acts as a moderating influence on the two contending </a:t>
            </a:r>
            <a:r>
              <a:rPr lang="en-IN" sz="2400" dirty="0" smtClean="0">
                <a:latin typeface="Times New Roman" panose="02020603050405020304" pitchFamily="18" charset="0"/>
                <a:cs typeface="Times New Roman" panose="02020603050405020304" pitchFamily="18" charset="0"/>
              </a:rPr>
              <a:t>parties.</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Arbitration: A third person is chosen as the Arbitrator by agreement between the employers and </a:t>
            </a:r>
            <a:r>
              <a:rPr lang="en-IN" sz="2400" dirty="0" smtClean="0">
                <a:latin typeface="Times New Roman" panose="02020603050405020304" pitchFamily="18" charset="0"/>
                <a:cs typeface="Times New Roman" panose="02020603050405020304" pitchFamily="18" charset="0"/>
              </a:rPr>
              <a:t>employees.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3601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2573"/>
            <a:ext cx="8229600" cy="176622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981199"/>
            <a:ext cx="8305800" cy="4907281"/>
          </a:xfrm>
          <a:prstGeom prst="rect">
            <a:avLst/>
          </a:prstGeom>
        </p:spPr>
      </p:pic>
    </p:spTree>
    <p:extLst>
      <p:ext uri="{BB962C8B-B14F-4D97-AF65-F5344CB8AC3E}">
        <p14:creationId xmlns:p14="http://schemas.microsoft.com/office/powerpoint/2010/main" val="268138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914400"/>
          </a:xfrm>
        </p:spPr>
        <p:txBody>
          <a:bodyPr>
            <a:normAutofit/>
          </a:bodyPr>
          <a:lstStyle/>
          <a:p>
            <a:r>
              <a:rPr lang="en-IN" sz="3200" b="1" u="sng" dirty="0">
                <a:latin typeface="Times New Roman" panose="02020603050405020304" pitchFamily="18" charset="0"/>
                <a:cs typeface="Times New Roman" panose="02020603050405020304" pitchFamily="18" charset="0"/>
              </a:rPr>
              <a:t>Conflict Management Process</a:t>
            </a:r>
          </a:p>
        </p:txBody>
      </p:sp>
      <p:sp>
        <p:nvSpPr>
          <p:cNvPr id="3" name="Content Placeholder 2"/>
          <p:cNvSpPr>
            <a:spLocks noGrp="1"/>
          </p:cNvSpPr>
          <p:nvPr>
            <p:ph idx="1"/>
          </p:nvPr>
        </p:nvSpPr>
        <p:spPr>
          <a:xfrm>
            <a:off x="838200" y="914400"/>
            <a:ext cx="8153400" cy="5943600"/>
          </a:xfrm>
        </p:spPr>
        <p:txBody>
          <a:bodyPr>
            <a:normAutofit fontScale="92500" lnSpcReduction="20000"/>
          </a:bodyPr>
          <a:lstStyle/>
          <a:p>
            <a:r>
              <a:rPr lang="en-IN" sz="2400" b="1" i="1" dirty="0">
                <a:latin typeface="Times New Roman" panose="02020603050405020304" pitchFamily="18" charset="0"/>
                <a:cs typeface="Times New Roman" panose="02020603050405020304" pitchFamily="18" charset="0"/>
              </a:rPr>
              <a:t>Preliminary step </a:t>
            </a:r>
            <a:r>
              <a:rPr lang="en-IN" sz="2400" dirty="0">
                <a:latin typeface="Times New Roman" panose="02020603050405020304" pitchFamily="18" charset="0"/>
                <a:cs typeface="Times New Roman" panose="02020603050405020304" pitchFamily="18" charset="0"/>
              </a:rPr>
              <a:t>— knowing the </a:t>
            </a:r>
            <a:r>
              <a:rPr lang="en-IN" sz="2400" dirty="0" smtClean="0">
                <a:latin typeface="Times New Roman" panose="02020603050405020304" pitchFamily="18" charset="0"/>
                <a:cs typeface="Times New Roman" panose="02020603050405020304" pitchFamily="18" charset="0"/>
              </a:rPr>
              <a:t>conflict. </a:t>
            </a:r>
          </a:p>
          <a:p>
            <a:pPr lvl="1"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first stage in resolving the conflict is to know the full details of the conflict</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As soon as the conflict comes to the knowledge of the senior or superior, he should handle the conflict </a:t>
            </a:r>
            <a:r>
              <a:rPr lang="en-IN" sz="2200" dirty="0" smtClean="0">
                <a:latin typeface="Times New Roman" pitchFamily="18" charset="0"/>
                <a:cs typeface="Times New Roman" pitchFamily="18" charset="0"/>
              </a:rPr>
              <a:t>skilfully. </a:t>
            </a:r>
          </a:p>
          <a:p>
            <a:pPr algn="just">
              <a:buNone/>
            </a:pPr>
            <a:endParaRPr lang="en-IN" sz="2400" dirty="0">
              <a:latin typeface="Times New Roman" panose="02020603050405020304" pitchFamily="18" charset="0"/>
              <a:cs typeface="Times New Roman" panose="02020603050405020304" pitchFamily="18" charset="0"/>
            </a:endParaRPr>
          </a:p>
          <a:p>
            <a:pPr algn="just"/>
            <a:r>
              <a:rPr lang="en-IN" sz="2400" b="1" i="1" dirty="0">
                <a:latin typeface="Times New Roman" panose="02020603050405020304" pitchFamily="18" charset="0"/>
                <a:cs typeface="Times New Roman" panose="02020603050405020304" pitchFamily="18" charset="0"/>
              </a:rPr>
              <a:t>Diagnosing the </a:t>
            </a:r>
            <a:r>
              <a:rPr lang="en-IN" sz="2400" b="1" i="1" dirty="0" smtClean="0">
                <a:latin typeface="Times New Roman" panose="02020603050405020304" pitchFamily="18" charset="0"/>
                <a:cs typeface="Times New Roman" panose="02020603050405020304" pitchFamily="18" charset="0"/>
              </a:rPr>
              <a:t>issue.</a:t>
            </a:r>
          </a:p>
          <a:p>
            <a:pPr lvl="1" algn="just"/>
            <a:r>
              <a:rPr lang="en-IN" sz="2200" dirty="0">
                <a:latin typeface="Times New Roman" pitchFamily="18" charset="0"/>
                <a:cs typeface="Times New Roman" pitchFamily="18" charset="0"/>
              </a:rPr>
              <a:t>In diagnosing the issues, the issues involved in the conflict should be analysed and it should be understood what this conflict is </a:t>
            </a:r>
            <a:r>
              <a:rPr lang="en-IN" sz="2200" dirty="0" smtClean="0">
                <a:latin typeface="Times New Roman" pitchFamily="18" charset="0"/>
                <a:cs typeface="Times New Roman" pitchFamily="18" charset="0"/>
              </a:rPr>
              <a:t>about</a:t>
            </a:r>
            <a:r>
              <a:rPr lang="en-IN" sz="2200" dirty="0">
                <a:latin typeface="Times New Roman" pitchFamily="18" charset="0"/>
                <a:cs typeface="Times New Roman" pitchFamily="18" charset="0"/>
              </a:rPr>
              <a:t>. Generally, conflict may arise due to facts, goals, methods, and values. The next thing in diagnosing the issue is to know why these differences between the two parties have </a:t>
            </a:r>
            <a:r>
              <a:rPr lang="en-IN" sz="2200" dirty="0" err="1" smtClean="0">
                <a:latin typeface="Times New Roman" pitchFamily="18" charset="0"/>
                <a:cs typeface="Times New Roman" pitchFamily="18" charset="0"/>
              </a:rPr>
              <a:t>arised</a:t>
            </a:r>
            <a:r>
              <a:rPr lang="en-IN" sz="2200" dirty="0" smtClean="0">
                <a:latin typeface="Times New Roman" pitchFamily="18" charset="0"/>
                <a:cs typeface="Times New Roman" pitchFamily="18" charset="0"/>
              </a:rPr>
              <a:t>. </a:t>
            </a:r>
          </a:p>
          <a:p>
            <a:endParaRPr lang="en-IN" sz="2400" dirty="0">
              <a:latin typeface="Times New Roman" panose="02020603050405020304" pitchFamily="18" charset="0"/>
              <a:cs typeface="Times New Roman" panose="02020603050405020304" pitchFamily="18" charset="0"/>
            </a:endParaRPr>
          </a:p>
          <a:p>
            <a:r>
              <a:rPr lang="en-IN" sz="2400" b="1" i="1" dirty="0" smtClean="0">
                <a:latin typeface="Times New Roman" panose="02020603050405020304" pitchFamily="18" charset="0"/>
                <a:cs typeface="Times New Roman" panose="02020603050405020304" pitchFamily="18" charset="0"/>
              </a:rPr>
              <a:t>Apply any Conflict </a:t>
            </a:r>
            <a:r>
              <a:rPr lang="en-IN" sz="2400" b="1" i="1" dirty="0">
                <a:latin typeface="Times New Roman" panose="02020603050405020304" pitchFamily="18" charset="0"/>
                <a:cs typeface="Times New Roman" panose="02020603050405020304" pitchFamily="18" charset="0"/>
              </a:rPr>
              <a:t>Handling Modes</a:t>
            </a:r>
          </a:p>
          <a:p>
            <a:pPr lvl="1"/>
            <a:r>
              <a:rPr lang="en-IN" sz="2400" dirty="0">
                <a:latin typeface="Times New Roman" panose="02020603050405020304" pitchFamily="18" charset="0"/>
                <a:cs typeface="Times New Roman" panose="02020603050405020304" pitchFamily="18" charset="0"/>
              </a:rPr>
              <a:t>To avoid appearance of conflict</a:t>
            </a:r>
          </a:p>
          <a:p>
            <a:pPr lvl="1"/>
            <a:r>
              <a:rPr lang="en-IN" sz="2400" dirty="0">
                <a:latin typeface="Times New Roman" panose="02020603050405020304" pitchFamily="18" charset="0"/>
                <a:cs typeface="Times New Roman" panose="02020603050405020304" pitchFamily="18" charset="0"/>
              </a:rPr>
              <a:t>Not permitting conflict to surface</a:t>
            </a:r>
          </a:p>
          <a:p>
            <a:pPr lvl="1"/>
            <a:r>
              <a:rPr lang="en-IN" sz="2400" dirty="0">
                <a:latin typeface="Times New Roman" panose="02020603050405020304" pitchFamily="18" charset="0"/>
                <a:cs typeface="Times New Roman" panose="02020603050405020304" pitchFamily="18" charset="0"/>
              </a:rPr>
              <a:t>Mediation</a:t>
            </a:r>
          </a:p>
          <a:p>
            <a:pPr lvl="1"/>
            <a:r>
              <a:rPr lang="en-IN" sz="2400" dirty="0">
                <a:latin typeface="Times New Roman" panose="02020603050405020304" pitchFamily="18" charset="0"/>
                <a:cs typeface="Times New Roman" panose="02020603050405020304" pitchFamily="18" charset="0"/>
              </a:rPr>
              <a:t>Letting the parties in conflict to settle their scores</a:t>
            </a:r>
          </a:p>
          <a:p>
            <a:pPr lvl="1"/>
            <a:r>
              <a:rPr lang="en-IN" sz="2400" dirty="0">
                <a:latin typeface="Times New Roman" panose="02020603050405020304" pitchFamily="18" charset="0"/>
                <a:cs typeface="Times New Roman" panose="02020603050405020304" pitchFamily="18" charset="0"/>
              </a:rPr>
              <a:t>To solve the problems mutually</a:t>
            </a:r>
          </a:p>
          <a:p>
            <a:endParaRPr lang="en-IN" dirty="0"/>
          </a:p>
        </p:txBody>
      </p:sp>
    </p:spTree>
    <p:extLst>
      <p:ext uri="{BB962C8B-B14F-4D97-AF65-F5344CB8AC3E}">
        <p14:creationId xmlns:p14="http://schemas.microsoft.com/office/powerpoint/2010/main" val="5021505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838200"/>
          </a:xfrm>
        </p:spPr>
        <p:txBody>
          <a:bodyPr>
            <a:normAutofit/>
          </a:bodyPr>
          <a:lstStyle/>
          <a:p>
            <a:pPr algn="ctr"/>
            <a:r>
              <a:rPr lang="en-IN" sz="4000" b="1" dirty="0" smtClean="0">
                <a:effectLst/>
                <a:latin typeface="Times New Roman" panose="02020603050405020304" pitchFamily="18" charset="0"/>
                <a:cs typeface="Times New Roman" panose="02020603050405020304" pitchFamily="18" charset="0"/>
              </a:rPr>
              <a:t>Respect for Authority</a:t>
            </a:r>
            <a:endParaRPr lang="en-IN" sz="4000" b="1"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1066800"/>
            <a:ext cx="8153400" cy="5791200"/>
          </a:xfrm>
        </p:spPr>
        <p:txBody>
          <a:bodyPr>
            <a:normAutofit/>
          </a:bodyPr>
          <a:lstStyle/>
          <a:p>
            <a:pPr algn="just"/>
            <a:r>
              <a:rPr lang="en-IN" sz="2400" dirty="0">
                <a:latin typeface="Times New Roman" panose="02020603050405020304" pitchFamily="18" charset="0"/>
                <a:cs typeface="Times New Roman" panose="02020603050405020304" pitchFamily="18" charset="0"/>
              </a:rPr>
              <a:t>In order to meet the organizational goals, the professionals should possess </a:t>
            </a:r>
            <a:r>
              <a:rPr lang="en-IN" sz="2400" dirty="0" smtClean="0">
                <a:latin typeface="Times New Roman" panose="02020603050405020304" pitchFamily="18" charset="0"/>
                <a:cs typeface="Times New Roman" panose="02020603050405020304" pitchFamily="18" charset="0"/>
              </a:rPr>
              <a:t>respect for </a:t>
            </a:r>
            <a:r>
              <a:rPr lang="en-IN" sz="2400" dirty="0">
                <a:latin typeface="Times New Roman" panose="02020603050405020304" pitchFamily="18" charset="0"/>
                <a:cs typeface="Times New Roman" panose="02020603050405020304" pitchFamily="18" charset="0"/>
              </a:rPr>
              <a:t>authority. </a:t>
            </a:r>
            <a:endParaRPr lang="en-IN" sz="2400" dirty="0" smtClean="0">
              <a:latin typeface="Times New Roman" panose="02020603050405020304" pitchFamily="18" charset="0"/>
              <a:cs typeface="Times New Roman" panose="02020603050405020304" pitchFamily="18" charset="0"/>
            </a:endParaRP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levels of authority maintained by the organization provides </a:t>
            </a:r>
            <a:r>
              <a:rPr lang="en-IN" sz="2400" dirty="0" smtClean="0">
                <a:latin typeface="Times New Roman" panose="02020603050405020304" pitchFamily="18" charset="0"/>
                <a:cs typeface="Times New Roman" panose="02020603050405020304" pitchFamily="18" charset="0"/>
              </a:rPr>
              <a:t>a means </a:t>
            </a:r>
            <a:r>
              <a:rPr lang="en-IN" sz="2400" dirty="0">
                <a:latin typeface="Times New Roman" panose="02020603050405020304" pitchFamily="18" charset="0"/>
                <a:cs typeface="Times New Roman" panose="02020603050405020304" pitchFamily="18" charset="0"/>
              </a:rPr>
              <a:t>for identifying areas of personal responsibility and accountability</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Types of Authority </a:t>
            </a:r>
          </a:p>
          <a:p>
            <a:pPr lvl="1" algn="just"/>
            <a:r>
              <a:rPr lang="en-IN" sz="2400" b="1" dirty="0">
                <a:latin typeface="Times New Roman" panose="02020603050405020304" pitchFamily="18" charset="0"/>
                <a:cs typeface="Times New Roman" panose="02020603050405020304" pitchFamily="18" charset="0"/>
              </a:rPr>
              <a:t>Executive Authority </a:t>
            </a:r>
            <a:r>
              <a:rPr lang="en-IN" sz="2400" dirty="0">
                <a:latin typeface="Times New Roman" panose="02020603050405020304" pitchFamily="18" charset="0"/>
                <a:cs typeface="Times New Roman" panose="02020603050405020304" pitchFamily="18" charset="0"/>
              </a:rPr>
              <a:t>− The corporate or institutional right given to a person to exercise power based on the resources of an organization.</a:t>
            </a:r>
          </a:p>
          <a:p>
            <a:pPr lvl="1" algn="just"/>
            <a:r>
              <a:rPr lang="en-IN" sz="2400" b="1" dirty="0">
                <a:latin typeface="Times New Roman" panose="02020603050405020304" pitchFamily="18" charset="0"/>
                <a:cs typeface="Times New Roman" panose="02020603050405020304" pitchFamily="18" charset="0"/>
              </a:rPr>
              <a:t>Expert Authority </a:t>
            </a:r>
            <a:r>
              <a:rPr lang="en-IN" sz="2400" dirty="0">
                <a:latin typeface="Times New Roman" panose="02020603050405020304" pitchFamily="18" charset="0"/>
                <a:cs typeface="Times New Roman" panose="02020603050405020304" pitchFamily="18" charset="0"/>
              </a:rPr>
              <a:t>− This is the possession of special knowledge, skill or competence to perform a particular task or to give sound advice</a:t>
            </a: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6083914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498080" cy="715962"/>
          </a:xfrm>
        </p:spPr>
        <p:txBody>
          <a:bodyPr>
            <a:normAutofit fontScale="90000"/>
          </a:bodyPr>
          <a:lstStyle/>
          <a:p>
            <a:r>
              <a:rPr lang="en-US" dirty="0" smtClean="0">
                <a:latin typeface="Times New Roman" panose="02020603050405020304" pitchFamily="18" charset="0"/>
                <a:cs typeface="Times New Roman" panose="02020603050405020304" pitchFamily="18" charset="0"/>
              </a:rPr>
              <a:t>Continue..</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66800" y="1143000"/>
            <a:ext cx="7924800" cy="5715000"/>
          </a:xfrm>
        </p:spPr>
        <p:txBody>
          <a:bodyPr>
            <a:normAutofit/>
          </a:bodyPr>
          <a:lstStyle/>
          <a:p>
            <a:pPr algn="just"/>
            <a:r>
              <a:rPr lang="en-IN" sz="2400" dirty="0">
                <a:latin typeface="Times New Roman" panose="02020603050405020304" pitchFamily="18" charset="0"/>
                <a:cs typeface="Times New Roman" panose="02020603050405020304" pitchFamily="18" charset="0"/>
              </a:rPr>
              <a:t>According to the goals of the company, the hierarchical authority is distributed</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Service </a:t>
            </a:r>
            <a:r>
              <a:rPr lang="en-IN" sz="2400" dirty="0">
                <a:latin typeface="Times New Roman" panose="02020603050405020304" pitchFamily="18" charset="0"/>
                <a:cs typeface="Times New Roman" panose="02020603050405020304" pitchFamily="18" charset="0"/>
              </a:rPr>
              <a:t>oriented or engineer-oriented company concentrates on the quality of </a:t>
            </a:r>
            <a:r>
              <a:rPr lang="en-IN" sz="2400" dirty="0" smtClean="0">
                <a:latin typeface="Times New Roman" panose="02020603050405020304" pitchFamily="18" charset="0"/>
                <a:cs typeface="Times New Roman" panose="02020603050405020304" pitchFamily="18" charset="0"/>
              </a:rPr>
              <a:t>the products.</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Customer-oriented </a:t>
            </a:r>
            <a:r>
              <a:rPr lang="en-IN" sz="2400" dirty="0">
                <a:latin typeface="Times New Roman" panose="02020603050405020304" pitchFamily="18" charset="0"/>
                <a:cs typeface="Times New Roman" panose="02020603050405020304" pitchFamily="18" charset="0"/>
              </a:rPr>
              <a:t>company, focuses primarily on </a:t>
            </a:r>
            <a:r>
              <a:rPr lang="en-IN" sz="2400" dirty="0" smtClean="0">
                <a:latin typeface="Times New Roman" panose="02020603050405020304" pitchFamily="18" charset="0"/>
                <a:cs typeface="Times New Roman" panose="02020603050405020304" pitchFamily="18" charset="0"/>
              </a:rPr>
              <a:t>the satisfaction </a:t>
            </a:r>
            <a:r>
              <a:rPr lang="en-IN" sz="2400" dirty="0">
                <a:latin typeface="Times New Roman" panose="02020603050405020304" pitchFamily="18" charset="0"/>
                <a:cs typeface="Times New Roman" panose="02020603050405020304" pitchFamily="18" charset="0"/>
              </a:rPr>
              <a:t>of the customers.</a:t>
            </a:r>
          </a:p>
        </p:txBody>
      </p:sp>
    </p:spTree>
    <p:extLst>
      <p:ext uri="{BB962C8B-B14F-4D97-AF65-F5344CB8AC3E}">
        <p14:creationId xmlns:p14="http://schemas.microsoft.com/office/powerpoint/2010/main" val="27916200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
            <a:ext cx="7498080" cy="1143000"/>
          </a:xfrm>
        </p:spPr>
        <p:txBody>
          <a:bodyPr>
            <a:normAutofit/>
          </a:bodyPr>
          <a:lstStyle/>
          <a:p>
            <a:pPr algn="ctr"/>
            <a:r>
              <a:rPr lang="en-IN" sz="4000" b="1" dirty="0" smtClean="0">
                <a:effectLst/>
                <a:latin typeface="Times New Roman" panose="02020603050405020304" pitchFamily="18" charset="0"/>
                <a:cs typeface="Times New Roman" panose="02020603050405020304" pitchFamily="18" charset="0"/>
              </a:rPr>
              <a:t>Collective Bargaining</a:t>
            </a:r>
            <a:endParaRPr lang="en-IN" sz="4000" b="1" dirty="0">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173480"/>
            <a:ext cx="8229600" cy="5684520"/>
          </a:xfrm>
        </p:spPr>
        <p:txBody>
          <a:bodyPr>
            <a:normAutofit lnSpcReduction="10000"/>
          </a:bodyPr>
          <a:lstStyle/>
          <a:p>
            <a:pPr algn="just"/>
            <a:r>
              <a:rPr lang="en-IN" sz="2400" dirty="0">
                <a:latin typeface="Times New Roman" panose="02020603050405020304" pitchFamily="18" charset="0"/>
                <a:cs typeface="Times New Roman" panose="02020603050405020304" pitchFamily="18" charset="0"/>
              </a:rPr>
              <a:t>The process of voluntary negotiations between the employers and a group of employees to resolve the conflicts is called Collective Bargaining</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parties often refer to the result of the negotiation as a </a:t>
            </a:r>
          </a:p>
          <a:p>
            <a:pPr lvl="1" algn="just"/>
            <a:r>
              <a:rPr lang="en-IN" sz="2400" dirty="0">
                <a:latin typeface="Times New Roman" panose="02020603050405020304" pitchFamily="18" charset="0"/>
                <a:cs typeface="Times New Roman" panose="02020603050405020304" pitchFamily="18" charset="0"/>
              </a:rPr>
              <a:t>Collective Bargaining Agreement (CBA) or as a </a:t>
            </a:r>
          </a:p>
          <a:p>
            <a:pPr lvl="1" algn="just"/>
            <a:r>
              <a:rPr lang="en-IN" sz="2400" dirty="0">
                <a:latin typeface="Times New Roman" panose="02020603050405020304" pitchFamily="18" charset="0"/>
                <a:cs typeface="Times New Roman" panose="02020603050405020304" pitchFamily="18" charset="0"/>
              </a:rPr>
              <a:t>Collective Employment Agreement (CEA).</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It </a:t>
            </a:r>
            <a:r>
              <a:rPr lang="en-IN" sz="2400" dirty="0">
                <a:latin typeface="Times New Roman" panose="02020603050405020304" pitchFamily="18" charset="0"/>
                <a:cs typeface="Times New Roman" panose="02020603050405020304" pitchFamily="18" charset="0"/>
              </a:rPr>
              <a:t>is the responsibility of an organization to look into the welfare of the section of people working in it</a:t>
            </a:r>
            <a:r>
              <a:rPr lang="en-IN" sz="2400" dirty="0" smtClean="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order to deal with such complex situations, an Employee Union is formed wherein, each employee becomes a member and a leader is elected to represent the group whenever needed</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3828112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a:bodyPr>
          <a:lstStyle/>
          <a:p>
            <a:r>
              <a:rPr lang="en-IN" sz="3200" b="1" u="sng" dirty="0">
                <a:latin typeface="Times New Roman" panose="02020603050405020304" pitchFamily="18" charset="0"/>
                <a:cs typeface="Times New Roman" panose="02020603050405020304" pitchFamily="18" charset="0"/>
              </a:rPr>
              <a:t>Objectives of Collective </a:t>
            </a:r>
            <a:r>
              <a:rPr lang="en-IN" sz="3200" b="1" u="sng" dirty="0" smtClean="0">
                <a:latin typeface="Times New Roman" panose="02020603050405020304" pitchFamily="18" charset="0"/>
                <a:cs typeface="Times New Roman" panose="02020603050405020304" pitchFamily="18" charset="0"/>
              </a:rPr>
              <a:t>Bargaining</a:t>
            </a:r>
            <a:endParaRPr lang="en-IN" sz="32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1447800"/>
            <a:ext cx="7943088" cy="5410200"/>
          </a:xfrm>
        </p:spPr>
        <p:txBody>
          <a:bodyPr>
            <a:normAutofit lnSpcReduction="10000"/>
          </a:bodyPr>
          <a:lstStyle/>
          <a:p>
            <a:pPr algn="just"/>
            <a:r>
              <a:rPr lang="en-IN" sz="2400" dirty="0">
                <a:latin typeface="Times New Roman" panose="02020603050405020304" pitchFamily="18" charset="0"/>
                <a:cs typeface="Times New Roman" panose="02020603050405020304" pitchFamily="18" charset="0"/>
              </a:rPr>
              <a:t>To increase mutual confidence between the employer and </a:t>
            </a:r>
            <a:r>
              <a:rPr lang="en-IN" sz="2400" dirty="0" smtClean="0">
                <a:latin typeface="Times New Roman" panose="02020603050405020304" pitchFamily="18" charset="0"/>
                <a:cs typeface="Times New Roman" panose="02020603050405020304" pitchFamily="18" charset="0"/>
              </a:rPr>
              <a:t>employees.</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regulate terms and conditions of employment without intervention of a </a:t>
            </a:r>
            <a:r>
              <a:rPr lang="en-IN" sz="2400" dirty="0" smtClean="0">
                <a:latin typeface="Times New Roman" panose="02020603050405020304" pitchFamily="18" charset="0"/>
                <a:cs typeface="Times New Roman" panose="02020603050405020304" pitchFamily="18" charset="0"/>
              </a:rPr>
              <a:t>third party.</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create cordial environment in the </a:t>
            </a:r>
            <a:r>
              <a:rPr lang="en-IN" sz="2400" dirty="0" smtClean="0">
                <a:latin typeface="Times New Roman" panose="02020603050405020304" pitchFamily="18" charset="0"/>
                <a:cs typeface="Times New Roman" panose="02020603050405020304" pitchFamily="18" charset="0"/>
              </a:rPr>
              <a:t>establishment.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protect the interest of the employees; through collective action and </a:t>
            </a:r>
            <a:r>
              <a:rPr lang="en-IN" sz="2400" dirty="0" smtClean="0">
                <a:latin typeface="Times New Roman" panose="02020603050405020304" pitchFamily="18" charset="0"/>
                <a:cs typeface="Times New Roman" panose="02020603050405020304" pitchFamily="18" charset="0"/>
              </a:rPr>
              <a:t>by preventing </a:t>
            </a:r>
            <a:r>
              <a:rPr lang="en-IN" sz="2400" dirty="0">
                <a:latin typeface="Times New Roman" panose="02020603050405020304" pitchFamily="18" charset="0"/>
                <a:cs typeface="Times New Roman" panose="02020603050405020304" pitchFamily="18" charset="0"/>
              </a:rPr>
              <a:t>unilateral action on the part of the </a:t>
            </a:r>
            <a:r>
              <a:rPr lang="en-IN" sz="2400" dirty="0" smtClean="0">
                <a:latin typeface="Times New Roman" panose="02020603050405020304" pitchFamily="18" charset="0"/>
                <a:cs typeface="Times New Roman" panose="02020603050405020304" pitchFamily="18" charset="0"/>
              </a:rPr>
              <a:t>employer.</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raise the socio-economic attributes of the employees.</a:t>
            </a:r>
          </a:p>
        </p:txBody>
      </p:sp>
    </p:spTree>
    <p:extLst>
      <p:ext uri="{BB962C8B-B14F-4D97-AF65-F5344CB8AC3E}">
        <p14:creationId xmlns:p14="http://schemas.microsoft.com/office/powerpoint/2010/main" val="22942810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normAutofit/>
          </a:bodyPr>
          <a:lstStyle/>
          <a:p>
            <a:r>
              <a:rPr lang="en-IN" sz="3200" b="1" u="sng" dirty="0">
                <a:latin typeface="Times New Roman" pitchFamily="18" charset="0"/>
                <a:cs typeface="Times New Roman" pitchFamily="18" charset="0"/>
              </a:rPr>
              <a:t>Types of Collective Bargaining</a:t>
            </a:r>
          </a:p>
        </p:txBody>
      </p:sp>
      <p:sp>
        <p:nvSpPr>
          <p:cNvPr id="3" name="Content Placeholder 2"/>
          <p:cNvSpPr>
            <a:spLocks noGrp="1"/>
          </p:cNvSpPr>
          <p:nvPr>
            <p:ph idx="1"/>
          </p:nvPr>
        </p:nvSpPr>
        <p:spPr>
          <a:xfrm>
            <a:off x="990600" y="1143000"/>
            <a:ext cx="7943088" cy="5486400"/>
          </a:xfrm>
        </p:spPr>
        <p:txBody>
          <a:bodyPr>
            <a:normAutofit fontScale="92500" lnSpcReduction="10000"/>
          </a:bodyPr>
          <a:lstStyle/>
          <a:p>
            <a:pPr algn="just"/>
            <a:r>
              <a:rPr lang="en-IN" sz="2600" dirty="0">
                <a:latin typeface="Times New Roman" panose="02020603050405020304" pitchFamily="18" charset="0"/>
                <a:cs typeface="Times New Roman" panose="02020603050405020304" pitchFamily="18" charset="0"/>
              </a:rPr>
              <a:t>Distributive Bargaining − In this, one party’s gain is another party’s loss. Example − </a:t>
            </a:r>
            <a:r>
              <a:rPr lang="en-IN" sz="2600" dirty="0" smtClean="0">
                <a:latin typeface="Times New Roman" panose="02020603050405020304" pitchFamily="18" charset="0"/>
                <a:cs typeface="Times New Roman" panose="02020603050405020304" pitchFamily="18" charset="0"/>
              </a:rPr>
              <a:t>Wages</a:t>
            </a:r>
          </a:p>
          <a:p>
            <a:pPr algn="just"/>
            <a:endParaRPr lang="en-IN" sz="2600" dirty="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Integrative Bargaining − In this, both the parties may gain or none of the parties may face a loss. Example − Better training </a:t>
            </a:r>
            <a:r>
              <a:rPr lang="en-IN" sz="2600" dirty="0" smtClean="0">
                <a:latin typeface="Times New Roman" panose="02020603050405020304" pitchFamily="18" charset="0"/>
                <a:cs typeface="Times New Roman" panose="02020603050405020304" pitchFamily="18" charset="0"/>
              </a:rPr>
              <a:t>programs</a:t>
            </a:r>
          </a:p>
          <a:p>
            <a:pPr algn="just"/>
            <a:endParaRPr lang="en-IN" sz="2600" dirty="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Attitudinal Structuring − When there is backlog of bitterness between both the parties then attitudinal structuring is required to make smooth industrial relations</a:t>
            </a:r>
            <a:r>
              <a:rPr lang="en-IN" sz="2600" dirty="0" smtClean="0">
                <a:latin typeface="Times New Roman" panose="02020603050405020304" pitchFamily="18" charset="0"/>
                <a:cs typeface="Times New Roman" panose="02020603050405020304" pitchFamily="18" charset="0"/>
              </a:rPr>
              <a:t>.</a:t>
            </a:r>
          </a:p>
          <a:p>
            <a:pPr algn="just"/>
            <a:endParaRPr lang="en-IN" sz="2600" dirty="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Intra-organizational Bargaining − There can be conflicting groups in both management and unions also. So, there is need to achieve consensus in these groups.</a:t>
            </a:r>
          </a:p>
          <a:p>
            <a:pPr algn="just"/>
            <a:endParaRPr lang="en-IN" dirty="0"/>
          </a:p>
        </p:txBody>
      </p:sp>
    </p:spTree>
    <p:extLst>
      <p:ext uri="{BB962C8B-B14F-4D97-AF65-F5344CB8AC3E}">
        <p14:creationId xmlns:p14="http://schemas.microsoft.com/office/powerpoint/2010/main" val="33793649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866888" cy="533400"/>
          </a:xfrm>
        </p:spPr>
        <p:txBody>
          <a:bodyPr>
            <a:normAutofit/>
          </a:bodyPr>
          <a:lstStyle/>
          <a:p>
            <a:r>
              <a:rPr lang="en-IN" sz="2800" b="1" u="sng" dirty="0">
                <a:latin typeface="Times New Roman" panose="02020603050405020304" pitchFamily="18" charset="0"/>
                <a:cs typeface="Times New Roman" panose="02020603050405020304" pitchFamily="18" charset="0"/>
              </a:rPr>
              <a:t>Process of Collective </a:t>
            </a:r>
            <a:r>
              <a:rPr lang="en-IN" sz="2800" b="1" u="sng" dirty="0" smtClean="0">
                <a:latin typeface="Times New Roman" panose="02020603050405020304" pitchFamily="18" charset="0"/>
                <a:cs typeface="Times New Roman" panose="02020603050405020304" pitchFamily="18" charset="0"/>
              </a:rPr>
              <a:t>Bargaining</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457200"/>
            <a:ext cx="8534400" cy="6400800"/>
          </a:xfrm>
        </p:spPr>
        <p:txBody>
          <a:bodyPr>
            <a:noAutofit/>
          </a:bodyPr>
          <a:lstStyle/>
          <a:p>
            <a:pPr algn="just"/>
            <a:r>
              <a:rPr lang="en-IN" sz="2000" b="1" i="1" dirty="0" smtClean="0">
                <a:latin typeface="Times New Roman" pitchFamily="18" charset="0"/>
                <a:cs typeface="Times New Roman" panose="02020603050405020304" pitchFamily="18" charset="0"/>
              </a:rPr>
              <a:t>Identifying </a:t>
            </a:r>
            <a:r>
              <a:rPr lang="en-IN" sz="2000" b="1" i="1" dirty="0">
                <a:latin typeface="Times New Roman" panose="02020603050405020304" pitchFamily="18" charset="0"/>
                <a:cs typeface="Times New Roman" panose="02020603050405020304" pitchFamily="18" charset="0"/>
              </a:rPr>
              <a:t>Bargaining </a:t>
            </a:r>
            <a:r>
              <a:rPr lang="en-IN" sz="2000" b="1" i="1" dirty="0" smtClean="0">
                <a:latin typeface="Times New Roman" panose="02020603050405020304" pitchFamily="18" charset="0"/>
                <a:cs typeface="Times New Roman" panose="02020603050405020304" pitchFamily="18" charset="0"/>
              </a:rPr>
              <a:t>Issues</a:t>
            </a:r>
          </a:p>
          <a:p>
            <a:pPr lvl="1" algn="just"/>
            <a:r>
              <a:rPr lang="en-IN" sz="2000" dirty="0">
                <a:latin typeface="Times New Roman" pitchFamily="18" charset="0"/>
                <a:cs typeface="Times New Roman" pitchFamily="18" charset="0"/>
              </a:rPr>
              <a:t>Before going for negotiation, the issue and possible related areas for discussion are to be identified. </a:t>
            </a:r>
            <a:r>
              <a:rPr lang="en-IN" sz="2000" dirty="0" smtClean="0">
                <a:latin typeface="Times New Roman" pitchFamily="18" charset="0"/>
                <a:cs typeface="Times New Roman" pitchFamily="18" charset="0"/>
              </a:rPr>
              <a:t> </a:t>
            </a:r>
          </a:p>
          <a:p>
            <a:pPr algn="just"/>
            <a:r>
              <a:rPr lang="en-IN" sz="2000" b="1" i="1" dirty="0" smtClean="0">
                <a:latin typeface="Times New Roman" panose="02020603050405020304" pitchFamily="18" charset="0"/>
                <a:cs typeface="Times New Roman" panose="02020603050405020304" pitchFamily="18" charset="0"/>
              </a:rPr>
              <a:t>Preparing for Negotiations</a:t>
            </a:r>
          </a:p>
          <a:p>
            <a:pPr lvl="1" algn="just"/>
            <a:r>
              <a:rPr lang="en-IN" sz="2000" dirty="0" smtClean="0">
                <a:latin typeface="Times New Roman" pitchFamily="18" charset="0"/>
                <a:cs typeface="Times New Roman" pitchFamily="18" charset="0"/>
              </a:rPr>
              <a:t>Both </a:t>
            </a:r>
            <a:r>
              <a:rPr lang="en-IN" sz="2000" dirty="0">
                <a:latin typeface="Times New Roman" pitchFamily="18" charset="0"/>
                <a:cs typeface="Times New Roman" pitchFamily="18" charset="0"/>
              </a:rPr>
              <a:t>the parties involved in collective bargaining should prepare before going for negotiation so that there can be proper negotiation at the time of discussion. The preparation would include the issue, parties involved, causes, costs and impacts</a:t>
            </a:r>
            <a:endParaRPr lang="en-IN" sz="2000" dirty="0" smtClean="0">
              <a:latin typeface="Times New Roman" panose="02020603050405020304" pitchFamily="18" charset="0"/>
              <a:cs typeface="Times New Roman" panose="02020603050405020304" pitchFamily="18" charset="0"/>
            </a:endParaRPr>
          </a:p>
          <a:p>
            <a:pPr algn="just"/>
            <a:r>
              <a:rPr lang="en-IN" sz="2000" b="1" i="1" dirty="0" smtClean="0">
                <a:latin typeface="Times New Roman" panose="02020603050405020304" pitchFamily="18" charset="0"/>
                <a:cs typeface="Times New Roman" panose="02020603050405020304" pitchFamily="18" charset="0"/>
              </a:rPr>
              <a:t>Negotiations Procedure</a:t>
            </a:r>
          </a:p>
          <a:p>
            <a:pPr lvl="1" algn="just"/>
            <a:r>
              <a:rPr lang="en-IN" sz="2000" dirty="0">
                <a:latin typeface="Times New Roman" pitchFamily="18" charset="0"/>
                <a:cs typeface="Times New Roman" pitchFamily="18" charset="0"/>
              </a:rPr>
              <a:t>Negotiation procedure is the method of negotiation. It would show </a:t>
            </a:r>
            <a:r>
              <a:rPr lang="en-IN" sz="2000" dirty="0" smtClean="0">
                <a:latin typeface="Times New Roman" pitchFamily="18" charset="0"/>
                <a:cs typeface="Times New Roman" pitchFamily="18" charset="0"/>
              </a:rPr>
              <a:t>what activities </a:t>
            </a:r>
            <a:r>
              <a:rPr lang="en-IN" sz="2000" dirty="0">
                <a:latin typeface="Times New Roman" pitchFamily="18" charset="0"/>
                <a:cs typeface="Times New Roman" pitchFamily="18" charset="0"/>
              </a:rPr>
              <a:t>are to be performed, who would perform and sequence and timing of the </a:t>
            </a:r>
            <a:r>
              <a:rPr lang="en-IN" sz="2000" dirty="0" smtClean="0">
                <a:latin typeface="Times New Roman" pitchFamily="18" charset="0"/>
                <a:cs typeface="Times New Roman" pitchFamily="18" charset="0"/>
              </a:rPr>
              <a:t>activities.</a:t>
            </a:r>
            <a:endParaRPr lang="en-IN" sz="2000" dirty="0">
              <a:latin typeface="Times New Roman" panose="02020603050405020304" pitchFamily="18" charset="0"/>
              <a:cs typeface="Times New Roman" panose="02020603050405020304" pitchFamily="18" charset="0"/>
            </a:endParaRPr>
          </a:p>
          <a:p>
            <a:pPr algn="just"/>
            <a:r>
              <a:rPr lang="en-IN" sz="2000" b="1" i="1" dirty="0">
                <a:latin typeface="Times New Roman" panose="02020603050405020304" pitchFamily="18" charset="0"/>
                <a:cs typeface="Times New Roman" panose="02020603050405020304" pitchFamily="18" charset="0"/>
              </a:rPr>
              <a:t>Reaching the </a:t>
            </a:r>
            <a:r>
              <a:rPr lang="en-IN" sz="2000" b="1" i="1" dirty="0" smtClean="0">
                <a:latin typeface="Times New Roman" panose="02020603050405020304" pitchFamily="18" charset="0"/>
                <a:cs typeface="Times New Roman" panose="02020603050405020304" pitchFamily="18" charset="0"/>
              </a:rPr>
              <a:t>Agreement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itchFamily="18" charset="0"/>
                <a:cs typeface="Times New Roman" pitchFamily="18" charset="0"/>
              </a:rPr>
              <a:t>Negotiation completes with a mutually acceptable agreement.</a:t>
            </a:r>
          </a:p>
          <a:p>
            <a:pPr algn="just"/>
            <a:r>
              <a:rPr lang="en-IN" sz="2000" b="1" i="1" dirty="0">
                <a:latin typeface="Times New Roman" panose="02020603050405020304" pitchFamily="18" charset="0"/>
                <a:cs typeface="Times New Roman" panose="02020603050405020304" pitchFamily="18" charset="0"/>
              </a:rPr>
              <a:t>Ratifying the </a:t>
            </a:r>
            <a:r>
              <a:rPr lang="en-IN" sz="2000" b="1" i="1" dirty="0" smtClean="0">
                <a:latin typeface="Times New Roman" panose="02020603050405020304" pitchFamily="18" charset="0"/>
                <a:cs typeface="Times New Roman" panose="02020603050405020304" pitchFamily="18" charset="0"/>
              </a:rPr>
              <a:t>Agreement </a:t>
            </a:r>
            <a:r>
              <a:rPr lang="en-IN" sz="2000" dirty="0" smtClean="0">
                <a:latin typeface="Times New Roman" panose="02020603050405020304" pitchFamily="18" charset="0"/>
                <a:cs typeface="Times New Roman" panose="02020603050405020304" pitchFamily="18" charset="0"/>
              </a:rPr>
              <a:t>–  By Approving the agreement </a:t>
            </a:r>
            <a:r>
              <a:rPr lang="en-IN" sz="2000" dirty="0">
                <a:latin typeface="Times New Roman" pitchFamily="18" charset="0"/>
                <a:cs typeface="Times New Roman" pitchFamily="18" charset="0"/>
              </a:rPr>
              <a:t>the issue of difference or conflict is over and negotiation comes to an </a:t>
            </a:r>
            <a:r>
              <a:rPr lang="en-IN" sz="2000" dirty="0" smtClean="0">
                <a:latin typeface="Times New Roman" pitchFamily="18" charset="0"/>
                <a:cs typeface="Times New Roman" pitchFamily="18" charset="0"/>
              </a:rPr>
              <a:t>end.</a:t>
            </a:r>
            <a:endParaRPr lang="en-IN" sz="2000" dirty="0">
              <a:latin typeface="Times New Roman" panose="02020603050405020304" pitchFamily="18" charset="0"/>
              <a:cs typeface="Times New Roman" panose="02020603050405020304" pitchFamily="18" charset="0"/>
            </a:endParaRPr>
          </a:p>
          <a:p>
            <a:pPr algn="just"/>
            <a:r>
              <a:rPr lang="en-IN" sz="2000" b="1" i="1" dirty="0">
                <a:latin typeface="Times New Roman" panose="02020603050405020304" pitchFamily="18" charset="0"/>
                <a:cs typeface="Times New Roman" panose="02020603050405020304" pitchFamily="18" charset="0"/>
              </a:rPr>
              <a:t>Administration of the </a:t>
            </a:r>
            <a:r>
              <a:rPr lang="en-IN" sz="2000" b="1" i="1" dirty="0" smtClean="0">
                <a:latin typeface="Times New Roman" panose="02020603050405020304" pitchFamily="18" charset="0"/>
                <a:cs typeface="Times New Roman" panose="02020603050405020304" pitchFamily="18" charset="0"/>
              </a:rPr>
              <a:t>Agreement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itchFamily="18" charset="0"/>
                <a:cs typeface="Times New Roman" pitchFamily="18" charset="0"/>
              </a:rPr>
              <a:t>Once the agreement is accepted and signed, the agreement will be administered as per the terms and conditions of the </a:t>
            </a:r>
            <a:r>
              <a:rPr lang="en-IN" sz="2000" dirty="0" smtClean="0">
                <a:latin typeface="Times New Roman" pitchFamily="18" charset="0"/>
                <a:cs typeface="Times New Roman" pitchFamily="18" charset="0"/>
              </a:rPr>
              <a:t>agreement.</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6873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792162"/>
          </a:xfrm>
        </p:spPr>
        <p:txBody>
          <a:bodyPr>
            <a:noAutofit/>
          </a:bodyPr>
          <a:lstStyle/>
          <a:p>
            <a:r>
              <a:rPr lang="en-IN" sz="2800" b="1" u="sng" dirty="0">
                <a:latin typeface="Times New Roman" panose="02020603050405020304" pitchFamily="18" charset="0"/>
                <a:cs typeface="Times New Roman" panose="02020603050405020304" pitchFamily="18" charset="0"/>
              </a:rPr>
              <a:t>Advantages of Collective Bargaining:</a:t>
            </a:r>
          </a:p>
        </p:txBody>
      </p:sp>
      <p:sp>
        <p:nvSpPr>
          <p:cNvPr id="3" name="Content Placeholder 2"/>
          <p:cNvSpPr>
            <a:spLocks noGrp="1"/>
          </p:cNvSpPr>
          <p:nvPr>
            <p:ph idx="1"/>
          </p:nvPr>
        </p:nvSpPr>
        <p:spPr>
          <a:xfrm>
            <a:off x="914400" y="1143000"/>
            <a:ext cx="8095488" cy="5181600"/>
          </a:xfrm>
        </p:spPr>
        <p:txBody>
          <a:bodyPr>
            <a:normAutofit/>
          </a:bodyPr>
          <a:lstStyle/>
          <a:p>
            <a:pPr algn="just"/>
            <a:r>
              <a:rPr lang="en-IN" sz="2400" dirty="0">
                <a:latin typeface="Times New Roman" panose="02020603050405020304" pitchFamily="18" charset="0"/>
                <a:cs typeface="Times New Roman" panose="02020603050405020304" pitchFamily="18" charset="0"/>
              </a:rPr>
              <a:t>Effective in Protecting and Promoting Interests of </a:t>
            </a:r>
            <a:r>
              <a:rPr lang="en-IN" sz="2400" dirty="0" smtClean="0">
                <a:latin typeface="Times New Roman" panose="02020603050405020304" pitchFamily="18" charset="0"/>
                <a:cs typeface="Times New Roman" panose="02020603050405020304" pitchFamily="18" charset="0"/>
              </a:rPr>
              <a:t>Workers</a:t>
            </a:r>
          </a:p>
          <a:p>
            <a:pPr algn="just"/>
            <a:r>
              <a:rPr lang="en-IN" sz="2400" dirty="0" smtClean="0">
                <a:latin typeface="Times New Roman" panose="02020603050405020304" pitchFamily="18" charset="0"/>
                <a:cs typeface="Times New Roman" panose="02020603050405020304" pitchFamily="18" charset="0"/>
              </a:rPr>
              <a:t>Control </a:t>
            </a:r>
            <a:r>
              <a:rPr lang="en-IN" sz="2400" dirty="0">
                <a:latin typeface="Times New Roman" panose="02020603050405020304" pitchFamily="18" charset="0"/>
                <a:cs typeface="Times New Roman" panose="02020603050405020304" pitchFamily="18" charset="0"/>
              </a:rPr>
              <a:t>of Management’s </a:t>
            </a:r>
            <a:r>
              <a:rPr lang="en-IN" sz="2400" dirty="0" smtClean="0">
                <a:latin typeface="Times New Roman" panose="02020603050405020304" pitchFamily="18" charset="0"/>
                <a:cs typeface="Times New Roman" panose="02020603050405020304" pitchFamily="18" charset="0"/>
              </a:rPr>
              <a:t>Autocracy</a:t>
            </a:r>
          </a:p>
          <a:p>
            <a:pPr algn="just"/>
            <a:r>
              <a:rPr lang="en-IN" sz="2400" dirty="0" smtClean="0">
                <a:latin typeface="Times New Roman" panose="02020603050405020304" pitchFamily="18" charset="0"/>
                <a:cs typeface="Times New Roman" panose="02020603050405020304" pitchFamily="18" charset="0"/>
              </a:rPr>
              <a:t>Promotion </a:t>
            </a:r>
            <a:r>
              <a:rPr lang="en-IN" sz="2400" dirty="0">
                <a:latin typeface="Times New Roman" panose="02020603050405020304" pitchFamily="18" charset="0"/>
                <a:cs typeface="Times New Roman" panose="02020603050405020304" pitchFamily="18" charset="0"/>
              </a:rPr>
              <a:t>of Durable Industrial </a:t>
            </a:r>
            <a:r>
              <a:rPr lang="en-IN" sz="2400" dirty="0" smtClean="0">
                <a:latin typeface="Times New Roman" panose="02020603050405020304" pitchFamily="18" charset="0"/>
                <a:cs typeface="Times New Roman" panose="02020603050405020304" pitchFamily="18" charset="0"/>
              </a:rPr>
              <a:t>Peace</a:t>
            </a:r>
          </a:p>
          <a:p>
            <a:pPr algn="just"/>
            <a:r>
              <a:rPr lang="en-IN" sz="2400" dirty="0" smtClean="0">
                <a:latin typeface="Times New Roman" panose="02020603050405020304" pitchFamily="18" charset="0"/>
                <a:cs typeface="Times New Roman" panose="02020603050405020304" pitchFamily="18" charset="0"/>
              </a:rPr>
              <a:t>Conducive </a:t>
            </a:r>
            <a:r>
              <a:rPr lang="en-IN" sz="2400" dirty="0">
                <a:latin typeface="Times New Roman" panose="02020603050405020304" pitchFamily="18" charset="0"/>
                <a:cs typeface="Times New Roman" panose="02020603050405020304" pitchFamily="18" charset="0"/>
              </a:rPr>
              <a:t>to the Enhancement of Managerial </a:t>
            </a:r>
            <a:r>
              <a:rPr lang="en-IN" sz="2400" dirty="0" smtClean="0">
                <a:latin typeface="Times New Roman" panose="02020603050405020304" pitchFamily="18" charset="0"/>
                <a:cs typeface="Times New Roman" panose="02020603050405020304" pitchFamily="18" charset="0"/>
              </a:rPr>
              <a:t>Efficiency</a:t>
            </a:r>
          </a:p>
          <a:p>
            <a:pPr algn="just"/>
            <a:r>
              <a:rPr lang="en-IN" sz="2400" dirty="0" smtClean="0">
                <a:latin typeface="Times New Roman" panose="02020603050405020304" pitchFamily="18" charset="0"/>
                <a:cs typeface="Times New Roman" panose="02020603050405020304" pitchFamily="18" charset="0"/>
              </a:rPr>
              <a:t>Establishment </a:t>
            </a:r>
            <a:r>
              <a:rPr lang="en-IN" sz="2400" dirty="0">
                <a:latin typeface="Times New Roman" panose="02020603050405020304" pitchFamily="18" charset="0"/>
                <a:cs typeface="Times New Roman" panose="02020603050405020304" pitchFamily="18" charset="0"/>
              </a:rPr>
              <a:t>of Industrial Rules and Creation of Labour </a:t>
            </a:r>
            <a:r>
              <a:rPr lang="en-IN" sz="2400" dirty="0" smtClean="0">
                <a:latin typeface="Times New Roman" panose="02020603050405020304" pitchFamily="18" charset="0"/>
                <a:cs typeface="Times New Roman" panose="02020603050405020304" pitchFamily="18" charset="0"/>
              </a:rPr>
              <a:t>Standards</a:t>
            </a:r>
          </a:p>
          <a:p>
            <a:pPr algn="just"/>
            <a:endParaRPr lang="en-IN" sz="2400" dirty="0" smtClean="0">
              <a:latin typeface="Times New Roman" panose="02020603050405020304" pitchFamily="18" charset="0"/>
              <a:cs typeface="Times New Roman" panose="02020603050405020304" pitchFamily="18" charset="0"/>
            </a:endParaRPr>
          </a:p>
          <a:p>
            <a:pPr algn="just">
              <a:buNone/>
            </a:pPr>
            <a:r>
              <a:rPr lang="en-IN" sz="2800" b="1" u="sng" dirty="0" smtClean="0">
                <a:solidFill>
                  <a:schemeClr val="accent3">
                    <a:lumMod val="50000"/>
                  </a:schemeClr>
                </a:solidFill>
                <a:latin typeface="Times New Roman" panose="02020603050405020304" pitchFamily="18" charset="0"/>
                <a:cs typeface="Times New Roman" panose="02020603050405020304" pitchFamily="18" charset="0"/>
              </a:rPr>
              <a:t>Disadvantages of Collective Bargaining</a:t>
            </a:r>
          </a:p>
          <a:p>
            <a:r>
              <a:rPr lang="en-IN" sz="2400" dirty="0" smtClean="0">
                <a:latin typeface="Times New Roman" panose="02020603050405020304" pitchFamily="18" charset="0"/>
                <a:cs typeface="Times New Roman" panose="02020603050405020304" pitchFamily="18" charset="0"/>
              </a:rPr>
              <a:t>Strikes</a:t>
            </a:r>
          </a:p>
          <a:p>
            <a:r>
              <a:rPr lang="en-IN" sz="2400" dirty="0" smtClean="0">
                <a:latin typeface="Times New Roman" panose="02020603050405020304" pitchFamily="18" charset="0"/>
                <a:cs typeface="Times New Roman" panose="02020603050405020304" pitchFamily="18" charset="0"/>
              </a:rPr>
              <a:t>Based on Power and Conflict</a:t>
            </a:r>
          </a:p>
          <a:p>
            <a:r>
              <a:rPr lang="en-IN" sz="2400" dirty="0" smtClean="0">
                <a:latin typeface="Times New Roman" panose="02020603050405020304" pitchFamily="18" charset="0"/>
                <a:cs typeface="Times New Roman" panose="02020603050405020304" pitchFamily="18" charset="0"/>
              </a:rPr>
              <a:t>Lacks Safeguards for Public Interest</a:t>
            </a:r>
          </a:p>
          <a:p>
            <a:pPr algn="just"/>
            <a:endParaRPr lang="en-IN"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54613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smtClean="0">
                <a:latin typeface="Times New Roman" panose="02020603050405020304" pitchFamily="18" charset="0"/>
                <a:cs typeface="Times New Roman" panose="02020603050405020304" pitchFamily="18" charset="0"/>
              </a:rPr>
              <a:t>Confidentiality</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1447800"/>
            <a:ext cx="8153400" cy="4800600"/>
          </a:xfrm>
        </p:spPr>
        <p:txBody>
          <a:bodyPr>
            <a:normAutofit lnSpcReduction="10000"/>
          </a:bodyPr>
          <a:lstStyle/>
          <a:p>
            <a:pPr algn="just"/>
            <a:r>
              <a:rPr lang="en-IN" sz="2400" dirty="0">
                <a:latin typeface="Times New Roman" panose="02020603050405020304" pitchFamily="18" charset="0"/>
                <a:cs typeface="Times New Roman" panose="02020603050405020304" pitchFamily="18" charset="0"/>
              </a:rPr>
              <a:t>Confidentiality is that practice which helps to keep all information secret</a:t>
            </a:r>
            <a:r>
              <a:rPr lang="en-IN" sz="2400" dirty="0" smtClean="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Important responsibility </a:t>
            </a:r>
            <a:r>
              <a:rPr lang="en-IN" sz="2400" dirty="0">
                <a:latin typeface="Times New Roman" panose="02020603050405020304" pitchFamily="18" charset="0"/>
                <a:cs typeface="Times New Roman" panose="02020603050405020304" pitchFamily="18" charset="0"/>
              </a:rPr>
              <a:t>of an employee or an engineer is to maintain </a:t>
            </a:r>
            <a:r>
              <a:rPr lang="en-IN" sz="2400" dirty="0" smtClean="0">
                <a:latin typeface="Times New Roman" panose="02020603050405020304" pitchFamily="18" charset="0"/>
                <a:cs typeface="Times New Roman" panose="02020603050405020304" pitchFamily="18" charset="0"/>
              </a:rPr>
              <a:t>the confidentiality </a:t>
            </a:r>
            <a:r>
              <a:rPr lang="en-IN" sz="2400" dirty="0">
                <a:latin typeface="Times New Roman" panose="02020603050405020304" pitchFamily="18" charset="0"/>
                <a:cs typeface="Times New Roman" panose="02020603050405020304" pitchFamily="18" charset="0"/>
              </a:rPr>
              <a:t>of the organization or the employer</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r>
              <a:rPr lang="en-IN" sz="2400" i="1" dirty="0" smtClean="0">
                <a:latin typeface="Times New Roman" panose="02020603050405020304" pitchFamily="18" charset="0"/>
                <a:cs typeface="Times New Roman" panose="02020603050405020304" pitchFamily="18" charset="0"/>
              </a:rPr>
              <a:t>Moral principles </a:t>
            </a:r>
            <a:r>
              <a:rPr lang="en-IN" sz="2400" dirty="0" smtClean="0">
                <a:latin typeface="Times New Roman" panose="02020603050405020304" pitchFamily="18" charset="0"/>
                <a:cs typeface="Times New Roman" panose="02020603050405020304" pitchFamily="18" charset="0"/>
              </a:rPr>
              <a:t>justifying confidentiality</a:t>
            </a:r>
          </a:p>
          <a:p>
            <a:pPr lvl="1"/>
            <a:r>
              <a:rPr lang="en-IN" sz="2400" dirty="0" smtClean="0">
                <a:latin typeface="Times New Roman" panose="02020603050405020304" pitchFamily="18" charset="0"/>
                <a:cs typeface="Times New Roman" panose="02020603050405020304" pitchFamily="18" charset="0"/>
              </a:rPr>
              <a:t>Respect for Autonomy</a:t>
            </a:r>
          </a:p>
          <a:p>
            <a:pPr lvl="1"/>
            <a:r>
              <a:rPr lang="en-US" sz="2400" dirty="0" smtClean="0">
                <a:latin typeface="Times New Roman" panose="02020603050405020304" pitchFamily="18" charset="0"/>
                <a:cs typeface="Times New Roman" panose="02020603050405020304" pitchFamily="18" charset="0"/>
              </a:rPr>
              <a:t>Respect for Promise</a:t>
            </a:r>
          </a:p>
          <a:p>
            <a:pPr lvl="1"/>
            <a:r>
              <a:rPr lang="en-US" sz="2400" dirty="0" smtClean="0">
                <a:latin typeface="Times New Roman" panose="02020603050405020304" pitchFamily="18" charset="0"/>
                <a:cs typeface="Times New Roman" panose="02020603050405020304" pitchFamily="18" charset="0"/>
              </a:rPr>
              <a:t>Trustworthiness</a:t>
            </a:r>
          </a:p>
          <a:p>
            <a:pPr lvl="1"/>
            <a:r>
              <a:rPr lang="en-US" sz="2400" dirty="0" smtClean="0">
                <a:latin typeface="Times New Roman" panose="02020603050405020304" pitchFamily="18" charset="0"/>
                <a:cs typeface="Times New Roman" panose="02020603050405020304" pitchFamily="18" charset="0"/>
              </a:rPr>
              <a:t>Respect for Public Welfare</a:t>
            </a:r>
          </a:p>
          <a:p>
            <a:pPr algn="just"/>
            <a:endParaRPr lang="en-IN" sz="2400" dirty="0" smtClean="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3430975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a:bodyPr>
          <a:lstStyle/>
          <a:p>
            <a:r>
              <a:rPr lang="en-IN" sz="3200" b="1" u="sng" dirty="0">
                <a:latin typeface="Times New Roman" panose="02020603050405020304" pitchFamily="18" charset="0"/>
                <a:cs typeface="Times New Roman" panose="02020603050405020304" pitchFamily="18" charset="0"/>
              </a:rPr>
              <a:t>Types of information under confidentiality </a:t>
            </a:r>
          </a:p>
        </p:txBody>
      </p:sp>
      <p:sp>
        <p:nvSpPr>
          <p:cNvPr id="3" name="Content Placeholder 2"/>
          <p:cNvSpPr>
            <a:spLocks noGrp="1"/>
          </p:cNvSpPr>
          <p:nvPr>
            <p:ph idx="1"/>
          </p:nvPr>
        </p:nvSpPr>
        <p:spPr>
          <a:xfrm>
            <a:off x="1066800" y="1447800"/>
            <a:ext cx="7866888" cy="5410200"/>
          </a:xfrm>
        </p:spPr>
        <p:txBody>
          <a:bodyPr/>
          <a:lstStyle/>
          <a:p>
            <a:r>
              <a:rPr lang="en-IN" sz="2400" dirty="0" smtClean="0">
                <a:latin typeface="Times New Roman" panose="02020603050405020304" pitchFamily="18" charset="0"/>
                <a:cs typeface="Times New Roman" panose="02020603050405020304" pitchFamily="18" charset="0"/>
              </a:rPr>
              <a:t>Privileged </a:t>
            </a:r>
            <a:r>
              <a:rPr lang="en-IN" sz="2400" dirty="0">
                <a:latin typeface="Times New Roman" panose="02020603050405020304" pitchFamily="18" charset="0"/>
                <a:cs typeface="Times New Roman" panose="02020603050405020304" pitchFamily="18" charset="0"/>
              </a:rPr>
              <a:t>information : “available only on the basis of special privilege” such as a privilege accorded </a:t>
            </a:r>
            <a:r>
              <a:rPr lang="en-IN" sz="2400" dirty="0" smtClean="0">
                <a:latin typeface="Times New Roman" panose="02020603050405020304" pitchFamily="18" charset="0"/>
                <a:cs typeface="Times New Roman" panose="02020603050405020304" pitchFamily="18" charset="0"/>
              </a:rPr>
              <a:t>on an </a:t>
            </a:r>
            <a:r>
              <a:rPr lang="en-IN" sz="2400" dirty="0">
                <a:latin typeface="Times New Roman" panose="02020603050405020304" pitchFamily="18" charset="0"/>
                <a:cs typeface="Times New Roman" panose="02020603050405020304" pitchFamily="18" charset="0"/>
              </a:rPr>
              <a:t>employee working on a special </a:t>
            </a:r>
            <a:r>
              <a:rPr lang="en-IN" sz="2400" dirty="0" smtClean="0">
                <a:latin typeface="Times New Roman" panose="02020603050405020304" pitchFamily="18" charset="0"/>
                <a:cs typeface="Times New Roman" panose="02020603050405020304" pitchFamily="18" charset="0"/>
              </a:rPr>
              <a:t>assignment.</a:t>
            </a:r>
          </a:p>
          <a:p>
            <a:endParaRPr lang="en-IN" sz="2400" dirty="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Proprietary </a:t>
            </a:r>
            <a:r>
              <a:rPr lang="en-IN" sz="2400" dirty="0">
                <a:latin typeface="Times New Roman" panose="02020603050405020304" pitchFamily="18" charset="0"/>
                <a:cs typeface="Times New Roman" panose="02020603050405020304" pitchFamily="18" charset="0"/>
              </a:rPr>
              <a:t>information : The information that a company owns or is the proprietor of, and hence is a term carefully defined by property law. It is simply called trade secret.</a:t>
            </a:r>
          </a:p>
          <a:p>
            <a:endParaRPr lang="en-IN" dirty="0"/>
          </a:p>
          <a:p>
            <a:endParaRPr lang="en-IN" dirty="0"/>
          </a:p>
        </p:txBody>
      </p:sp>
    </p:spTree>
    <p:extLst>
      <p:ext uri="{BB962C8B-B14F-4D97-AF65-F5344CB8AC3E}">
        <p14:creationId xmlns:p14="http://schemas.microsoft.com/office/powerpoint/2010/main" val="928341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smtClean="0">
                <a:latin typeface="Times New Roman" panose="02020603050405020304" pitchFamily="18" charset="0"/>
                <a:cs typeface="Times New Roman" panose="02020603050405020304" pitchFamily="18" charset="0"/>
              </a:rPr>
              <a:t>Conflicts of Interest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447800"/>
            <a:ext cx="8229600" cy="5410200"/>
          </a:xfrm>
        </p:spPr>
        <p:txBody>
          <a:bodyPr>
            <a:normAutofit/>
          </a:bodyPr>
          <a:lstStyle/>
          <a:p>
            <a:pPr algn="just"/>
            <a:r>
              <a:rPr lang="en-IN" sz="2400" dirty="0">
                <a:latin typeface="Times New Roman" panose="02020603050405020304" pitchFamily="18" charset="0"/>
                <a:cs typeface="Times New Roman" panose="02020603050405020304" pitchFamily="18" charset="0"/>
              </a:rPr>
              <a:t>A conflict of interest occurs when the employee has more than one </a:t>
            </a:r>
            <a:r>
              <a:rPr lang="en-IN" sz="2400" dirty="0" smtClean="0">
                <a:latin typeface="Times New Roman" panose="02020603050405020304" pitchFamily="18" charset="0"/>
                <a:cs typeface="Times New Roman" panose="02020603050405020304" pitchFamily="18" charset="0"/>
              </a:rPr>
              <a:t>interest.</a:t>
            </a:r>
          </a:p>
          <a:p>
            <a:pPr algn="just"/>
            <a:endParaRPr lang="en-IN"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 professional conflict of interest is the situation where the professional has an interest that, if pursued, might prevent him from meeting his obligations to his employer or clients.</a:t>
            </a:r>
          </a:p>
          <a:p>
            <a:pPr lvl="1" algn="just"/>
            <a:r>
              <a:rPr lang="en-IN" sz="2000" dirty="0" err="1" smtClean="0">
                <a:latin typeface="Times New Roman" pitchFamily="18" charset="0"/>
                <a:cs typeface="Times New Roman" pitchFamily="18" charset="0"/>
              </a:rPr>
              <a:t>Eg</a:t>
            </a:r>
            <a:r>
              <a:rPr lang="en-IN" sz="2000" dirty="0" smtClean="0">
                <a:latin typeface="Times New Roman" pitchFamily="18" charset="0"/>
                <a:cs typeface="Times New Roman" pitchFamily="18" charset="0"/>
              </a:rPr>
              <a:t>: If a </a:t>
            </a:r>
            <a:r>
              <a:rPr lang="en-IN" sz="2000" dirty="0">
                <a:latin typeface="Times New Roman" pitchFamily="18" charset="0"/>
                <a:cs typeface="Times New Roman" pitchFamily="18" charset="0"/>
              </a:rPr>
              <a:t>man works for a company</a:t>
            </a:r>
            <a:r>
              <a:rPr lang="en-IN" sz="2000" dirty="0" smtClean="0">
                <a:latin typeface="Times New Roman" pitchFamily="18" charset="0"/>
                <a:cs typeface="Times New Roman" pitchFamily="18" charset="0"/>
              </a:rPr>
              <a:t>, and is in </a:t>
            </a:r>
            <a:r>
              <a:rPr lang="en-IN" sz="2000" dirty="0">
                <a:latin typeface="Times New Roman" pitchFamily="18" charset="0"/>
                <a:cs typeface="Times New Roman" pitchFamily="18" charset="0"/>
              </a:rPr>
              <a:t>some crucial position where he has access to all the confidential information and if he works as an unofficial adviser to his wife’s company, it would be morally wrong, where a moral conflict definitely arises. This can be termed as “Conflict in interests”.</a:t>
            </a:r>
            <a:endParaRPr lang="en-US" sz="20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Conflict of interest is different from conflicting interests.</a:t>
            </a:r>
          </a:p>
          <a:p>
            <a:pPr lvl="1" algn="just"/>
            <a:r>
              <a:rPr lang="en-US" sz="2000" dirty="0" err="1" smtClean="0">
                <a:latin typeface="Times New Roman" panose="02020603050405020304" pitchFamily="18" charset="0"/>
                <a:cs typeface="Times New Roman" panose="02020603050405020304" pitchFamily="18" charset="0"/>
              </a:rPr>
              <a:t>Eg</a:t>
            </a:r>
            <a:r>
              <a:rPr lang="en-US" sz="2000" dirty="0" smtClean="0">
                <a:latin typeface="Times New Roman" panose="02020603050405020304" pitchFamily="18" charset="0"/>
                <a:cs typeface="Times New Roman" panose="02020603050405020304" pitchFamily="18" charset="0"/>
              </a:rPr>
              <a:t>: a person has passion for music, sports apart from his regular job.</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9874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790688" cy="762000"/>
          </a:xfrm>
        </p:spPr>
        <p:txBody>
          <a:bodyPr>
            <a:normAutofit/>
          </a:bodyPr>
          <a:lstStyle/>
          <a:p>
            <a:r>
              <a:rPr lang="en-US" sz="2800" b="1" u="sng" dirty="0" smtClean="0">
                <a:latin typeface="Times New Roman" panose="02020603050405020304" pitchFamily="18" charset="0"/>
                <a:cs typeface="Times New Roman" panose="02020603050405020304" pitchFamily="18" charset="0"/>
              </a:rPr>
              <a:t>Types of Conflicts of Interest</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838200"/>
            <a:ext cx="8153400" cy="6019800"/>
          </a:xfrm>
        </p:spPr>
        <p:txBody>
          <a:bodyPr>
            <a:normAutofit lnSpcReduction="10000"/>
          </a:bodyPr>
          <a:lstStyle/>
          <a:p>
            <a:pPr algn="just"/>
            <a:r>
              <a:rPr lang="en-US" sz="2400" b="1" i="1" dirty="0" smtClean="0">
                <a:latin typeface="Times New Roman" panose="02020603050405020304" pitchFamily="18" charset="0"/>
                <a:cs typeface="Times New Roman" panose="02020603050405020304" pitchFamily="18" charset="0"/>
              </a:rPr>
              <a:t>Actual Conflict of Interest</a:t>
            </a:r>
            <a:r>
              <a:rPr lang="en-US" sz="2400" dirty="0" smtClean="0">
                <a:latin typeface="Times New Roman" panose="02020603050405020304" pitchFamily="18" charset="0"/>
                <a:cs typeface="Times New Roman" panose="02020603050405020304" pitchFamily="18" charset="0"/>
              </a:rPr>
              <a:t> </a:t>
            </a:r>
          </a:p>
          <a:p>
            <a:pPr lvl="1" algn="just"/>
            <a:r>
              <a:rPr lang="en-IN" sz="2000" dirty="0" smtClean="0">
                <a:latin typeface="Times New Roman" pitchFamily="18" charset="0"/>
                <a:cs typeface="Times New Roman" pitchFamily="18" charset="0"/>
              </a:rPr>
              <a:t>Actual </a:t>
            </a:r>
            <a:r>
              <a:rPr lang="en-IN" sz="2000" dirty="0">
                <a:latin typeface="Times New Roman" pitchFamily="18" charset="0"/>
                <a:cs typeface="Times New Roman" pitchFamily="18" charset="0"/>
              </a:rPr>
              <a:t>conflicts of interest arise when there is a direct conflict between a staff member's duties and responsibilities and their personal interests which influence the performance of those duties.</a:t>
            </a:r>
            <a:endParaRPr lang="en-US" sz="2000" dirty="0" smtClean="0">
              <a:latin typeface="Times New Roman" panose="02020603050405020304" pitchFamily="18" charset="0"/>
              <a:cs typeface="Times New Roman" panose="02020603050405020304" pitchFamily="18" charset="0"/>
            </a:endParaRPr>
          </a:p>
          <a:p>
            <a:pPr algn="just"/>
            <a:r>
              <a:rPr lang="en-US" sz="2400" b="1" i="1" dirty="0" smtClean="0">
                <a:latin typeface="Times New Roman" panose="02020603050405020304" pitchFamily="18" charset="0"/>
                <a:cs typeface="Times New Roman" panose="02020603050405020304" pitchFamily="18" charset="0"/>
              </a:rPr>
              <a:t>Apparent Conflict of Interest </a:t>
            </a:r>
          </a:p>
          <a:p>
            <a:pPr lvl="1" algn="just"/>
            <a:r>
              <a:rPr lang="en-IN" sz="2000" dirty="0">
                <a:latin typeface="Times New Roman" pitchFamily="18" charset="0"/>
                <a:cs typeface="Times New Roman" pitchFamily="18" charset="0"/>
              </a:rPr>
              <a:t>Apparent conflicts of interest arise when there is a situation that gives the appearance of a conflict, even if there is no actual conflict present</a:t>
            </a:r>
            <a:endParaRPr lang="en-US" sz="2000" dirty="0" smtClean="0">
              <a:latin typeface="Times New Roman" panose="02020603050405020304" pitchFamily="18" charset="0"/>
              <a:cs typeface="Times New Roman" panose="02020603050405020304" pitchFamily="18" charset="0"/>
            </a:endParaRPr>
          </a:p>
          <a:p>
            <a:pPr algn="just"/>
            <a:r>
              <a:rPr lang="en-US" sz="2400" b="1" i="1" dirty="0" smtClean="0">
                <a:latin typeface="Times New Roman" panose="02020603050405020304" pitchFamily="18" charset="0"/>
                <a:cs typeface="Times New Roman" panose="02020603050405020304" pitchFamily="18" charset="0"/>
              </a:rPr>
              <a:t>Potential Conflict of Interest</a:t>
            </a:r>
          </a:p>
          <a:p>
            <a:pPr lvl="1" algn="just"/>
            <a:r>
              <a:rPr lang="en-US" sz="2200" i="1" dirty="0" smtClean="0">
                <a:latin typeface="Times New Roman" panose="02020603050405020304" pitchFamily="18" charset="0"/>
                <a:cs typeface="Times New Roman" panose="02020603050405020304" pitchFamily="18" charset="0"/>
              </a:rPr>
              <a:t>Bribe and Gift</a:t>
            </a:r>
          </a:p>
          <a:p>
            <a:pPr lvl="1" algn="just"/>
            <a:r>
              <a:rPr lang="en-US" sz="2200" i="1" dirty="0" smtClean="0">
                <a:latin typeface="Times New Roman" panose="02020603050405020304" pitchFamily="18" charset="0"/>
                <a:cs typeface="Times New Roman" panose="02020603050405020304" pitchFamily="18" charset="0"/>
              </a:rPr>
              <a:t>Moonlighting</a:t>
            </a:r>
          </a:p>
          <a:p>
            <a:pPr lvl="2" algn="just"/>
            <a:r>
              <a:rPr lang="en-IN" sz="2000" dirty="0" smtClean="0">
                <a:latin typeface="Times New Roman" pitchFamily="18" charset="0"/>
                <a:cs typeface="Times New Roman" pitchFamily="18" charset="0"/>
              </a:rPr>
              <a:t>Moonlighting </a:t>
            </a:r>
            <a:r>
              <a:rPr lang="en-IN" sz="2000" dirty="0">
                <a:latin typeface="Times New Roman" pitchFamily="18" charset="0"/>
                <a:cs typeface="Times New Roman" pitchFamily="18" charset="0"/>
              </a:rPr>
              <a:t>usually refers to when a person holds a second job outside of normal working hours</a:t>
            </a:r>
            <a:endParaRPr lang="en-US" sz="2000" dirty="0" smtClean="0">
              <a:latin typeface="Times New Roman" panose="02020603050405020304" pitchFamily="18" charset="0"/>
              <a:cs typeface="Times New Roman" panose="02020603050405020304" pitchFamily="18" charset="0"/>
            </a:endParaRPr>
          </a:p>
          <a:p>
            <a:pPr lvl="1" algn="just"/>
            <a:r>
              <a:rPr lang="en-US" sz="2200" i="1" dirty="0" smtClean="0">
                <a:latin typeface="Times New Roman" panose="02020603050405020304" pitchFamily="18" charset="0"/>
                <a:cs typeface="Times New Roman" panose="02020603050405020304" pitchFamily="18" charset="0"/>
              </a:rPr>
              <a:t>Insider Information </a:t>
            </a:r>
          </a:p>
          <a:p>
            <a:pPr lvl="2" algn="just"/>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insider information might concern one’s own company or another company with which one does business. Leakage of the information for the interest of some other benefits is like digging one’s own pit</a:t>
            </a:r>
          </a:p>
        </p:txBody>
      </p:sp>
    </p:spTree>
    <p:extLst>
      <p:ext uri="{BB962C8B-B14F-4D97-AF65-F5344CB8AC3E}">
        <p14:creationId xmlns:p14="http://schemas.microsoft.com/office/powerpoint/2010/main" val="10266686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
            <a:ext cx="7498080" cy="1051560"/>
          </a:xfrm>
        </p:spPr>
        <p:txBody>
          <a:bodyPr>
            <a:normAutofit/>
          </a:bodyPr>
          <a:lstStyle/>
          <a:p>
            <a:pPr algn="ctr"/>
            <a:r>
              <a:rPr lang="en-IN" sz="4000" b="1" dirty="0">
                <a:latin typeface="Times New Roman" panose="02020603050405020304" pitchFamily="18" charset="0"/>
                <a:cs typeface="Times New Roman" panose="02020603050405020304" pitchFamily="18" charset="0"/>
              </a:rPr>
              <a:t>Occupational </a:t>
            </a:r>
            <a:r>
              <a:rPr lang="en-IN" sz="4000" b="1" dirty="0" smtClean="0">
                <a:latin typeface="Times New Roman" panose="02020603050405020304" pitchFamily="18" charset="0"/>
                <a:cs typeface="Times New Roman" panose="02020603050405020304" pitchFamily="18" charset="0"/>
              </a:rPr>
              <a:t>Crime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219200"/>
            <a:ext cx="8229600" cy="5638800"/>
          </a:xfrm>
        </p:spPr>
        <p:txBody>
          <a:bodyPr>
            <a:normAutofit fontScale="92500" lnSpcReduction="10000"/>
          </a:bodyPr>
          <a:lstStyle/>
          <a:p>
            <a:pPr algn="just"/>
            <a:r>
              <a:rPr lang="en-IN" sz="2600" dirty="0">
                <a:latin typeface="Times New Roman" panose="02020603050405020304" pitchFamily="18" charset="0"/>
                <a:cs typeface="Times New Roman" panose="02020603050405020304" pitchFamily="18" charset="0"/>
              </a:rPr>
              <a:t>Occupational crimes are defined as offenses that are committed by someone during the course of his or her employment. </a:t>
            </a:r>
            <a:endParaRPr lang="en-IN" sz="2600" dirty="0" smtClean="0">
              <a:latin typeface="Times New Roman" panose="02020603050405020304" pitchFamily="18" charset="0"/>
              <a:cs typeface="Times New Roman" panose="02020603050405020304" pitchFamily="18" charset="0"/>
            </a:endParaRPr>
          </a:p>
          <a:p>
            <a:pPr algn="just"/>
            <a:endParaRPr lang="en-IN" sz="2600" dirty="0" smtClean="0">
              <a:latin typeface="Times New Roman" panose="02020603050405020304" pitchFamily="18" charset="0"/>
              <a:cs typeface="Times New Roman" panose="02020603050405020304" pitchFamily="18" charset="0"/>
            </a:endParaRPr>
          </a:p>
          <a:p>
            <a:pPr algn="just"/>
            <a:r>
              <a:rPr lang="en-IN" sz="2600" dirty="0">
                <a:latin typeface="Times New Roman" panose="02020603050405020304" pitchFamily="18" charset="0"/>
                <a:cs typeface="Times New Roman" panose="02020603050405020304" pitchFamily="18" charset="0"/>
              </a:rPr>
              <a:t>An occupational crime may be committed by </a:t>
            </a:r>
            <a:endParaRPr lang="en-IN" sz="2600" dirty="0" smtClean="0">
              <a:latin typeface="Times New Roman" panose="02020603050405020304" pitchFamily="18" charset="0"/>
              <a:cs typeface="Times New Roman" panose="02020603050405020304" pitchFamily="18" charset="0"/>
            </a:endParaRPr>
          </a:p>
          <a:p>
            <a:pPr lvl="1" algn="just"/>
            <a:r>
              <a:rPr lang="en-IN" sz="2600" dirty="0" smtClean="0">
                <a:latin typeface="Times New Roman" panose="02020603050405020304" pitchFamily="18" charset="0"/>
                <a:cs typeface="Times New Roman" panose="02020603050405020304" pitchFamily="18" charset="0"/>
              </a:rPr>
              <a:t>wrong </a:t>
            </a:r>
            <a:r>
              <a:rPr lang="en-IN" sz="2600" dirty="0">
                <a:latin typeface="Times New Roman" panose="02020603050405020304" pitchFamily="18" charset="0"/>
                <a:cs typeface="Times New Roman" panose="02020603050405020304" pitchFamily="18" charset="0"/>
              </a:rPr>
              <a:t>actions of a person through one’s </a:t>
            </a:r>
            <a:r>
              <a:rPr lang="en-IN" sz="2600" dirty="0" smtClean="0">
                <a:latin typeface="Times New Roman" panose="02020603050405020304" pitchFamily="18" charset="0"/>
                <a:cs typeface="Times New Roman" panose="02020603050405020304" pitchFamily="18" charset="0"/>
              </a:rPr>
              <a:t>lawful employment or</a:t>
            </a:r>
          </a:p>
          <a:p>
            <a:pPr lvl="1" algn="just"/>
            <a:r>
              <a:rPr lang="en-IN" sz="2600" dirty="0" smtClean="0">
                <a:latin typeface="Times New Roman" panose="02020603050405020304" pitchFamily="18" charset="0"/>
                <a:cs typeface="Times New Roman" panose="02020603050405020304" pitchFamily="18" charset="0"/>
              </a:rPr>
              <a:t>crime </a:t>
            </a:r>
            <a:r>
              <a:rPr lang="en-IN" sz="2600" dirty="0">
                <a:latin typeface="Times New Roman" panose="02020603050405020304" pitchFamily="18" charset="0"/>
                <a:cs typeface="Times New Roman" panose="02020603050405020304" pitchFamily="18" charset="0"/>
              </a:rPr>
              <a:t>by an employee to promote ones own or employer’s interest or </a:t>
            </a:r>
            <a:endParaRPr lang="en-IN" sz="2600" dirty="0" smtClean="0">
              <a:latin typeface="Times New Roman" panose="02020603050405020304" pitchFamily="18" charset="0"/>
              <a:cs typeface="Times New Roman" panose="02020603050405020304" pitchFamily="18" charset="0"/>
            </a:endParaRPr>
          </a:p>
          <a:p>
            <a:pPr lvl="1" algn="just"/>
            <a:r>
              <a:rPr lang="en-IN" sz="2600" dirty="0" smtClean="0">
                <a:latin typeface="Times New Roman" panose="02020603050405020304" pitchFamily="18" charset="0"/>
                <a:cs typeface="Times New Roman" panose="02020603050405020304" pitchFamily="18" charset="0"/>
              </a:rPr>
              <a:t>theft or pilferage by the employee or</a:t>
            </a:r>
          </a:p>
          <a:p>
            <a:pPr lvl="1" algn="just"/>
            <a:r>
              <a:rPr lang="en-US" sz="2600" dirty="0">
                <a:latin typeface="Times New Roman" panose="02020603050405020304" pitchFamily="18" charset="0"/>
                <a:cs typeface="Times New Roman" panose="02020603050405020304" pitchFamily="18" charset="0"/>
              </a:rPr>
              <a:t>d</a:t>
            </a:r>
            <a:r>
              <a:rPr lang="en-US" sz="2600" dirty="0" smtClean="0">
                <a:latin typeface="Times New Roman" panose="02020603050405020304" pitchFamily="18" charset="0"/>
                <a:cs typeface="Times New Roman" panose="02020603050405020304" pitchFamily="18" charset="0"/>
              </a:rPr>
              <a:t>amage to the property of an employee of one’s organization.</a:t>
            </a:r>
          </a:p>
          <a:p>
            <a:pPr lvl="1" algn="just"/>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Also known as white-collared crimes.</a:t>
            </a:r>
            <a:endParaRPr lang="en-IN" sz="2600"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24394285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a:bodyPr>
          <a:lstStyle/>
          <a:p>
            <a:r>
              <a:rPr lang="en-US" sz="2800" b="1" u="sng" dirty="0" smtClean="0">
                <a:latin typeface="Times New Roman" panose="02020603050405020304" pitchFamily="18" charset="0"/>
                <a:cs typeface="Times New Roman" panose="02020603050405020304" pitchFamily="18" charset="0"/>
              </a:rPr>
              <a:t>Common examples</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66800" y="1447800"/>
            <a:ext cx="7866888" cy="5105400"/>
          </a:xfrm>
        </p:spPr>
        <p:txBody>
          <a:bodyPr>
            <a:normAutofit/>
          </a:bodyPr>
          <a:lstStyle/>
          <a:p>
            <a:r>
              <a:rPr lang="en-IN" sz="2400" dirty="0" smtClean="0">
                <a:latin typeface="Times New Roman" panose="02020603050405020304" pitchFamily="18" charset="0"/>
                <a:cs typeface="Times New Roman" panose="02020603050405020304" pitchFamily="18" charset="0"/>
              </a:rPr>
              <a:t>Embezzlement - theft </a:t>
            </a:r>
            <a:r>
              <a:rPr lang="en-IN" sz="2400" dirty="0">
                <a:latin typeface="Times New Roman" pitchFamily="18" charset="0"/>
                <a:cs typeface="Times New Roman" pitchFamily="18" charset="0"/>
              </a:rPr>
              <a:t>or misappropriation of funds placed in one's trust or belonging to one's employer.</a:t>
            </a:r>
          </a:p>
          <a:p>
            <a:r>
              <a:rPr lang="en-IN" sz="2400" dirty="0" smtClean="0">
                <a:latin typeface="Times New Roman" panose="02020603050405020304" pitchFamily="18" charset="0"/>
                <a:cs typeface="Times New Roman" panose="02020603050405020304" pitchFamily="18" charset="0"/>
              </a:rPr>
              <a:t>Altering </a:t>
            </a:r>
            <a:r>
              <a:rPr lang="en-IN" sz="2400" dirty="0">
                <a:latin typeface="Times New Roman" panose="02020603050405020304" pitchFamily="18" charset="0"/>
                <a:cs typeface="Times New Roman" panose="02020603050405020304" pitchFamily="18" charset="0"/>
              </a:rPr>
              <a:t>company records without authorization</a:t>
            </a:r>
          </a:p>
          <a:p>
            <a:r>
              <a:rPr lang="en-IN" sz="2400" dirty="0">
                <a:latin typeface="Times New Roman" panose="02020603050405020304" pitchFamily="18" charset="0"/>
                <a:cs typeface="Times New Roman" panose="02020603050405020304" pitchFamily="18" charset="0"/>
              </a:rPr>
              <a:t>Committing tax fraud</a:t>
            </a:r>
          </a:p>
          <a:p>
            <a:r>
              <a:rPr lang="en-IN" sz="2400" dirty="0">
                <a:latin typeface="Times New Roman" panose="02020603050405020304" pitchFamily="18" charset="0"/>
                <a:cs typeface="Times New Roman" panose="02020603050405020304" pitchFamily="18" charset="0"/>
              </a:rPr>
              <a:t>Money laundering</a:t>
            </a:r>
          </a:p>
          <a:p>
            <a:r>
              <a:rPr lang="en-IN" sz="2400" dirty="0">
                <a:latin typeface="Times New Roman" panose="02020603050405020304" pitchFamily="18" charset="0"/>
                <a:cs typeface="Times New Roman" panose="02020603050405020304" pitchFamily="18" charset="0"/>
              </a:rPr>
              <a:t>Misusing company data or property</a:t>
            </a:r>
          </a:p>
          <a:p>
            <a:r>
              <a:rPr lang="en-IN" sz="2400" dirty="0">
                <a:latin typeface="Times New Roman" panose="02020603050405020304" pitchFamily="18" charset="0"/>
                <a:cs typeface="Times New Roman" panose="02020603050405020304" pitchFamily="18" charset="0"/>
              </a:rPr>
              <a:t>Committing stock and securities </a:t>
            </a:r>
            <a:r>
              <a:rPr lang="en-IN" sz="2400" dirty="0" smtClean="0">
                <a:latin typeface="Times New Roman" panose="02020603050405020304" pitchFamily="18" charset="0"/>
                <a:cs typeface="Times New Roman" panose="02020603050405020304" pitchFamily="18" charset="0"/>
              </a:rPr>
              <a:t>violations</a:t>
            </a:r>
          </a:p>
          <a:p>
            <a:r>
              <a:rPr lang="en-IN" sz="2400" dirty="0" smtClean="0">
                <a:latin typeface="Times New Roman" panose="02020603050405020304" pitchFamily="18" charset="0"/>
                <a:cs typeface="Times New Roman" panose="02020603050405020304" pitchFamily="18" charset="0"/>
              </a:rPr>
              <a:t>Racketeering</a:t>
            </a:r>
          </a:p>
          <a:p>
            <a:pPr lvl="1"/>
            <a:r>
              <a:rPr lang="en-IN" sz="2000" dirty="0">
                <a:latin typeface="Times New Roman" pitchFamily="18" charset="0"/>
                <a:cs typeface="Times New Roman" pitchFamily="18" charset="0"/>
              </a:rPr>
              <a:t>Racketeering is a set of illegal activities aimed at commercial profit that may be disguised as legitimate business deals. Racketeering is defined by a coordinated effort by multiple people to repeatedly earn a profit.</a:t>
            </a:r>
          </a:p>
          <a:p>
            <a:endParaRPr lang="en-IN" dirty="0"/>
          </a:p>
        </p:txBody>
      </p:sp>
    </p:spTree>
    <p:extLst>
      <p:ext uri="{BB962C8B-B14F-4D97-AF65-F5344CB8AC3E}">
        <p14:creationId xmlns:p14="http://schemas.microsoft.com/office/powerpoint/2010/main" val="11872903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a:bodyPr>
          <a:lstStyle/>
          <a:p>
            <a:r>
              <a:rPr lang="en-IN" sz="2800" b="1" u="sng" dirty="0">
                <a:latin typeface="Times New Roman" panose="02020603050405020304" pitchFamily="18" charset="0"/>
                <a:cs typeface="Times New Roman" panose="02020603050405020304" pitchFamily="18" charset="0"/>
              </a:rPr>
              <a:t>Categories of Occupational </a:t>
            </a:r>
            <a:r>
              <a:rPr lang="en-IN" sz="2800" b="1" u="sng" dirty="0" smtClean="0">
                <a:latin typeface="Times New Roman" panose="02020603050405020304" pitchFamily="18" charset="0"/>
                <a:cs typeface="Times New Roman" panose="02020603050405020304" pitchFamily="18" charset="0"/>
              </a:rPr>
              <a:t>Crimes</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1447800"/>
            <a:ext cx="8153400" cy="5410200"/>
          </a:xfrm>
        </p:spPr>
        <p:txBody>
          <a:bodyPr>
            <a:normAutofit/>
          </a:bodyPr>
          <a:lstStyle/>
          <a:p>
            <a:pPr algn="just"/>
            <a:r>
              <a:rPr lang="en-IN" sz="2400" dirty="0">
                <a:latin typeface="Times New Roman" panose="02020603050405020304" pitchFamily="18" charset="0"/>
                <a:cs typeface="Times New Roman" panose="02020603050405020304" pitchFamily="18" charset="0"/>
              </a:rPr>
              <a:t>Crimes of trust, or property crimes that involve deliberate contact with at </a:t>
            </a:r>
            <a:r>
              <a:rPr lang="en-IN" sz="2400" dirty="0" smtClean="0">
                <a:latin typeface="Times New Roman" panose="02020603050405020304" pitchFamily="18" charset="0"/>
                <a:cs typeface="Times New Roman" panose="02020603050405020304" pitchFamily="18" charset="0"/>
              </a:rPr>
              <a:t>least one </a:t>
            </a:r>
            <a:r>
              <a:rPr lang="en-IN" sz="2400" dirty="0">
                <a:latin typeface="Times New Roman" panose="02020603050405020304" pitchFamily="18" charset="0"/>
                <a:cs typeface="Times New Roman" panose="02020603050405020304" pitchFamily="18" charset="0"/>
              </a:rPr>
              <a:t>victim or an attempt to conceal the fact that a crime has been committed</a:t>
            </a:r>
            <a:r>
              <a:rPr lang="en-IN" sz="2400" dirty="0" smtClean="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Offenses </a:t>
            </a:r>
            <a:r>
              <a:rPr lang="en-IN" sz="2400" dirty="0">
                <a:latin typeface="Times New Roman" panose="02020603050405020304" pitchFamily="18" charset="0"/>
                <a:cs typeface="Times New Roman" panose="02020603050405020304" pitchFamily="18" charset="0"/>
              </a:rPr>
              <a:t>that were committed in the course of employment, such as </a:t>
            </a:r>
            <a:r>
              <a:rPr lang="en-IN" sz="2400" dirty="0" smtClean="0">
                <a:latin typeface="Times New Roman" panose="02020603050405020304" pitchFamily="18" charset="0"/>
                <a:cs typeface="Times New Roman" panose="02020603050405020304" pitchFamily="18" charset="0"/>
              </a:rPr>
              <a:t>accepting bribes;</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Crimes </a:t>
            </a:r>
            <a:r>
              <a:rPr lang="en-IN" sz="2400" dirty="0">
                <a:latin typeface="Times New Roman" panose="02020603050405020304" pitchFamily="18" charset="0"/>
                <a:cs typeface="Times New Roman" panose="02020603050405020304" pitchFamily="18" charset="0"/>
              </a:rPr>
              <a:t>committed in furtherance of business operations, but not </a:t>
            </a:r>
            <a:r>
              <a:rPr lang="en-IN" sz="2400" dirty="0" smtClean="0">
                <a:latin typeface="Times New Roman" panose="02020603050405020304" pitchFamily="18" charset="0"/>
                <a:cs typeface="Times New Roman" panose="02020603050405020304" pitchFamily="18" charset="0"/>
              </a:rPr>
              <a:t>operations that </a:t>
            </a:r>
            <a:r>
              <a:rPr lang="en-IN" sz="2400" dirty="0">
                <a:latin typeface="Times New Roman" panose="02020603050405020304" pitchFamily="18" charset="0"/>
                <a:cs typeface="Times New Roman" panose="02020603050405020304" pitchFamily="18" charset="0"/>
              </a:rPr>
              <a:t>are central to business purposes, such as misrepresentation </a:t>
            </a:r>
            <a:r>
              <a:rPr lang="en-IN" sz="2400" dirty="0" smtClean="0">
                <a:latin typeface="Times New Roman" panose="02020603050405020304" pitchFamily="18" charset="0"/>
                <a:cs typeface="Times New Roman" panose="02020603050405020304" pitchFamily="18" charset="0"/>
              </a:rPr>
              <a:t>in advertising</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and</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Offenses </a:t>
            </a:r>
            <a:r>
              <a:rPr lang="en-IN" sz="2400" dirty="0">
                <a:latin typeface="Times New Roman" panose="02020603050405020304" pitchFamily="18" charset="0"/>
                <a:cs typeface="Times New Roman" panose="02020603050405020304" pitchFamily="18" charset="0"/>
              </a:rPr>
              <a:t>in which crime is the central activity of the business, such as </a:t>
            </a:r>
            <a:r>
              <a:rPr lang="en-IN" sz="2400" dirty="0" smtClean="0">
                <a:latin typeface="Times New Roman" panose="02020603050405020304" pitchFamily="18" charset="0"/>
                <a:cs typeface="Times New Roman" panose="02020603050405020304" pitchFamily="18" charset="0"/>
              </a:rPr>
              <a:t>real estate </a:t>
            </a:r>
            <a:r>
              <a:rPr lang="en-IN" sz="2400" dirty="0">
                <a:latin typeface="Times New Roman" panose="02020603050405020304" pitchFamily="18" charset="0"/>
                <a:cs typeface="Times New Roman" panose="02020603050405020304" pitchFamily="18" charset="0"/>
              </a:rPr>
              <a:t>fraud.</a:t>
            </a:r>
          </a:p>
        </p:txBody>
      </p:sp>
    </p:spTree>
    <p:extLst>
      <p:ext uri="{BB962C8B-B14F-4D97-AF65-F5344CB8AC3E}">
        <p14:creationId xmlns:p14="http://schemas.microsoft.com/office/powerpoint/2010/main" val="25865263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effectLst/>
              </a:rPr>
              <a:t>Professional Rights</a:t>
            </a:r>
            <a:endParaRPr lang="en-IN" dirty="0">
              <a:effectLst/>
            </a:endParaRPr>
          </a:p>
        </p:txBody>
      </p:sp>
      <p:sp>
        <p:nvSpPr>
          <p:cNvPr id="3" name="Content Placeholder 2"/>
          <p:cNvSpPr>
            <a:spLocks noGrp="1"/>
          </p:cNvSpPr>
          <p:nvPr>
            <p:ph idx="1"/>
          </p:nvPr>
        </p:nvSpPr>
        <p:spPr>
          <a:xfrm>
            <a:off x="1295400" y="1447800"/>
            <a:ext cx="7638288" cy="5181600"/>
          </a:xfrm>
        </p:spPr>
        <p:txBody>
          <a:bodyPr>
            <a:normAutofit/>
          </a:bodyPr>
          <a:lstStyle/>
          <a:p>
            <a:pPr algn="just"/>
            <a:r>
              <a:rPr lang="en-IN" dirty="0" smtClean="0"/>
              <a:t>The basic rights of engineers as other employees, include </a:t>
            </a:r>
          </a:p>
          <a:p>
            <a:pPr lvl="1" algn="just"/>
            <a:r>
              <a:rPr lang="en-IN" dirty="0" smtClean="0"/>
              <a:t>the right to live freely and pursue their legitimate interests as any human being, </a:t>
            </a:r>
          </a:p>
          <a:p>
            <a:pPr lvl="1" algn="just"/>
            <a:r>
              <a:rPr lang="en-IN" dirty="0" smtClean="0"/>
              <a:t>the right to be against racial or sexual discrimination, </a:t>
            </a:r>
          </a:p>
          <a:p>
            <a:pPr lvl="1" algn="just"/>
            <a:r>
              <a:rPr lang="en-IN" dirty="0" smtClean="0"/>
              <a:t>receiving one’s salary according to the work, </a:t>
            </a:r>
          </a:p>
          <a:p>
            <a:pPr lvl="1" algn="just"/>
            <a:r>
              <a:rPr lang="en-IN" dirty="0" smtClean="0"/>
              <a:t>choosing of political activities, etc., </a:t>
            </a:r>
            <a:endParaRPr lang="en-IN" dirty="0"/>
          </a:p>
        </p:txBody>
      </p:sp>
    </p:spTree>
    <p:extLst>
      <p:ext uri="{BB962C8B-B14F-4D97-AF65-F5344CB8AC3E}">
        <p14:creationId xmlns:p14="http://schemas.microsoft.com/office/powerpoint/2010/main" val="38164898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IN" dirty="0"/>
          </a:p>
        </p:txBody>
      </p:sp>
      <p:sp>
        <p:nvSpPr>
          <p:cNvPr id="3" name="Content Placeholder 2"/>
          <p:cNvSpPr>
            <a:spLocks noGrp="1"/>
          </p:cNvSpPr>
          <p:nvPr>
            <p:ph idx="1"/>
          </p:nvPr>
        </p:nvSpPr>
        <p:spPr>
          <a:xfrm>
            <a:off x="1435608" y="1295400"/>
            <a:ext cx="7498080" cy="5334000"/>
          </a:xfrm>
        </p:spPr>
        <p:txBody>
          <a:bodyPr>
            <a:normAutofit/>
          </a:bodyPr>
          <a:lstStyle/>
          <a:p>
            <a:pPr algn="just"/>
            <a:r>
              <a:rPr lang="en-IN" dirty="0"/>
              <a:t> The rights that engineers have as professionals are called Professional Rights. These professional rights includes: </a:t>
            </a:r>
          </a:p>
          <a:p>
            <a:pPr lvl="1" algn="just"/>
            <a:r>
              <a:rPr lang="en-IN" dirty="0" smtClean="0"/>
              <a:t>The </a:t>
            </a:r>
            <a:r>
              <a:rPr lang="en-IN" dirty="0"/>
              <a:t>basic right of professional conscience: Moral right to exercise professional judgment in pursuing professional responsibilities.</a:t>
            </a:r>
          </a:p>
          <a:p>
            <a:pPr lvl="1" algn="just"/>
            <a:r>
              <a:rPr lang="en-IN" dirty="0" smtClean="0"/>
              <a:t>The </a:t>
            </a:r>
            <a:r>
              <a:rPr lang="en-IN" dirty="0"/>
              <a:t>right of conscientious refusal: Right to refuse to engage in unethical </a:t>
            </a:r>
            <a:r>
              <a:rPr lang="en-IN" dirty="0" err="1"/>
              <a:t>behavior</a:t>
            </a:r>
            <a:endParaRPr lang="en-IN" dirty="0"/>
          </a:p>
          <a:p>
            <a:pPr lvl="1" algn="just"/>
            <a:r>
              <a:rPr lang="en-IN" dirty="0" smtClean="0"/>
              <a:t>The </a:t>
            </a:r>
            <a:r>
              <a:rPr lang="en-IN" dirty="0"/>
              <a:t>right of professional recognition: Right to the recognition of one’s work and accomplishments. </a:t>
            </a:r>
          </a:p>
        </p:txBody>
      </p:sp>
    </p:spTree>
    <p:extLst>
      <p:ext uri="{BB962C8B-B14F-4D97-AF65-F5344CB8AC3E}">
        <p14:creationId xmlns:p14="http://schemas.microsoft.com/office/powerpoint/2010/main" val="31541884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effectLst/>
              </a:rPr>
              <a:t>Employee Rights</a:t>
            </a:r>
            <a:endParaRPr lang="en-IN" dirty="0">
              <a:effectLst/>
            </a:endParaRPr>
          </a:p>
        </p:txBody>
      </p:sp>
      <p:sp>
        <p:nvSpPr>
          <p:cNvPr id="3" name="Content Placeholder 2"/>
          <p:cNvSpPr>
            <a:spLocks noGrp="1"/>
          </p:cNvSpPr>
          <p:nvPr>
            <p:ph idx="1"/>
          </p:nvPr>
        </p:nvSpPr>
        <p:spPr/>
        <p:txBody>
          <a:bodyPr/>
          <a:lstStyle/>
          <a:p>
            <a:pPr algn="just"/>
            <a:r>
              <a:rPr lang="en-US" dirty="0" smtClean="0"/>
              <a:t>The moral and legal rights that are obtained by the status of being an employee.</a:t>
            </a:r>
          </a:p>
          <a:p>
            <a:pPr lvl="1" algn="just"/>
            <a:r>
              <a:rPr lang="en-US" dirty="0" smtClean="0"/>
              <a:t>Basic human Rights</a:t>
            </a:r>
          </a:p>
          <a:p>
            <a:pPr lvl="1" algn="just"/>
            <a:r>
              <a:rPr lang="en-US" dirty="0" smtClean="0"/>
              <a:t>Professional Rights</a:t>
            </a:r>
          </a:p>
          <a:p>
            <a:pPr lvl="1" algn="just"/>
            <a:r>
              <a:rPr lang="en-US" dirty="0" smtClean="0"/>
              <a:t>Institutional / Contractual Rights</a:t>
            </a:r>
          </a:p>
          <a:p>
            <a:pPr lvl="1" algn="just"/>
            <a:r>
              <a:rPr lang="en-US" dirty="0" smtClean="0"/>
              <a:t>Non- Contractual Employee Rights</a:t>
            </a:r>
          </a:p>
          <a:p>
            <a:pPr lvl="1" algn="just"/>
            <a:endParaRPr lang="en-IN" dirty="0"/>
          </a:p>
        </p:txBody>
      </p:sp>
    </p:spTree>
    <p:extLst>
      <p:ext uri="{BB962C8B-B14F-4D97-AF65-F5344CB8AC3E}">
        <p14:creationId xmlns:p14="http://schemas.microsoft.com/office/powerpoint/2010/main" val="36184430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Professional rights </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a:t>
            </a:r>
            <a:r>
              <a:rPr lang="en-US" sz="3000" dirty="0" smtClean="0"/>
              <a:t>The rights that engineers have as professionals are called Professional Rights. These professional rights includes: </a:t>
            </a:r>
          </a:p>
          <a:p>
            <a:pPr lvl="1">
              <a:buNone/>
            </a:pPr>
            <a:r>
              <a:rPr lang="en-US" sz="3000" dirty="0" smtClean="0"/>
              <a:t>1)  </a:t>
            </a:r>
            <a:r>
              <a:rPr lang="en-US" sz="3000" u="sng" dirty="0" smtClean="0"/>
              <a:t>The basic right of professional conscience:</a:t>
            </a:r>
            <a:r>
              <a:rPr lang="en-US" sz="3000" dirty="0" smtClean="0"/>
              <a:t> Moral right to exercise professional judgment in pursuing professional responsibilities.</a:t>
            </a:r>
          </a:p>
          <a:p>
            <a:pPr lvl="1">
              <a:buNone/>
            </a:pPr>
            <a:r>
              <a:rPr lang="en-US" sz="3000" dirty="0" smtClean="0"/>
              <a:t>2.) </a:t>
            </a:r>
            <a:r>
              <a:rPr lang="en-US" sz="3000" u="sng" dirty="0" smtClean="0"/>
              <a:t>The right of conscientious refusal</a:t>
            </a:r>
            <a:r>
              <a:rPr lang="en-US" sz="3000" dirty="0" smtClean="0"/>
              <a:t>: Right to refuse to engage in unethical behavior</a:t>
            </a:r>
          </a:p>
          <a:p>
            <a:pPr lvl="1">
              <a:buNone/>
            </a:pPr>
            <a:r>
              <a:rPr lang="en-US" sz="3000" dirty="0" smtClean="0"/>
              <a:t>3.) </a:t>
            </a:r>
            <a:r>
              <a:rPr lang="en-US" sz="3000" u="sng" dirty="0" smtClean="0"/>
              <a:t>The right of professional recognition: </a:t>
            </a:r>
          </a:p>
          <a:p>
            <a:pPr lvl="1">
              <a:buNone/>
            </a:pPr>
            <a:r>
              <a:rPr lang="en-US" sz="3000" u="sng" dirty="0" smtClean="0"/>
              <a:t> </a:t>
            </a:r>
            <a:r>
              <a:rPr lang="en-US" sz="3000" dirty="0" smtClean="0"/>
              <a:t>Right to the recognition of one’s work and accomplishments. </a:t>
            </a:r>
          </a:p>
          <a:p>
            <a:pPr lvl="1">
              <a:buNone/>
            </a:pPr>
            <a:r>
              <a:rPr lang="en-US" sz="3000" dirty="0" smtClean="0"/>
              <a:t>4. Right to warn the public about dangers. </a:t>
            </a:r>
            <a:endParaRPr lang="en-US" sz="3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Human Rights </a:t>
            </a:r>
            <a:endParaRPr lang="en-US" dirty="0"/>
          </a:p>
        </p:txBody>
      </p:sp>
      <p:sp>
        <p:nvSpPr>
          <p:cNvPr id="3" name="Content Placeholder 2"/>
          <p:cNvSpPr>
            <a:spLocks noGrp="1"/>
          </p:cNvSpPr>
          <p:nvPr>
            <p:ph idx="1"/>
          </p:nvPr>
        </p:nvSpPr>
        <p:spPr/>
        <p:txBody>
          <a:bodyPr/>
          <a:lstStyle/>
          <a:p>
            <a:r>
              <a:rPr lang="en-US" dirty="0" smtClean="0"/>
              <a:t>1. Right to pursue legitimate personal  	interest </a:t>
            </a:r>
          </a:p>
          <a:p>
            <a:r>
              <a:rPr lang="en-US" dirty="0" smtClean="0"/>
              <a:t> 2. Right to make a living</a:t>
            </a:r>
          </a:p>
          <a:p>
            <a:r>
              <a:rPr lang="en-US" dirty="0" smtClean="0"/>
              <a:t> 3. Right to privacy</a:t>
            </a:r>
          </a:p>
          <a:p>
            <a:r>
              <a:rPr lang="en-US" dirty="0" smtClean="0"/>
              <a:t> 4. Right to property </a:t>
            </a:r>
          </a:p>
          <a:p>
            <a:r>
              <a:rPr lang="en-US" dirty="0" smtClean="0"/>
              <a:t> 5. Right of non-discrimination </a:t>
            </a:r>
          </a:p>
          <a:p>
            <a:r>
              <a:rPr lang="en-US" dirty="0" smtClean="0"/>
              <a:t> 6. No sexual harassment</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Institutional / Contractual  Employee Rights</a:t>
            </a:r>
            <a:br>
              <a:rPr lang="en-US" dirty="0" smtClean="0"/>
            </a:br>
            <a:endParaRPr lang="en-US" dirty="0"/>
          </a:p>
        </p:txBody>
      </p:sp>
      <p:sp>
        <p:nvSpPr>
          <p:cNvPr id="3" name="Content Placeholder 2"/>
          <p:cNvSpPr>
            <a:spLocks noGrp="1"/>
          </p:cNvSpPr>
          <p:nvPr>
            <p:ph idx="1"/>
          </p:nvPr>
        </p:nvSpPr>
        <p:spPr/>
        <p:txBody>
          <a:bodyPr/>
          <a:lstStyle/>
          <a:p>
            <a:r>
              <a:rPr lang="en-US" dirty="0" smtClean="0"/>
              <a:t>Right to receive specified salary</a:t>
            </a:r>
          </a:p>
          <a:p>
            <a:r>
              <a:rPr lang="en-US" dirty="0" smtClean="0"/>
              <a:t>Increments </a:t>
            </a:r>
          </a:p>
          <a:p>
            <a:r>
              <a:rPr lang="en-US" dirty="0" smtClean="0"/>
              <a:t>Benefits</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Non- Contractual Employee </a:t>
            </a:r>
            <a:r>
              <a:rPr lang="en-IN" dirty="0" smtClean="0"/>
              <a:t>Rights</a:t>
            </a:r>
            <a:endParaRPr lang="en-IN" dirty="0"/>
          </a:p>
        </p:txBody>
      </p:sp>
      <p:sp>
        <p:nvSpPr>
          <p:cNvPr id="3" name="Content Placeholder 2"/>
          <p:cNvSpPr>
            <a:spLocks noGrp="1"/>
          </p:cNvSpPr>
          <p:nvPr>
            <p:ph idx="1"/>
          </p:nvPr>
        </p:nvSpPr>
        <p:spPr/>
        <p:txBody>
          <a:bodyPr>
            <a:normAutofit/>
          </a:bodyPr>
          <a:lstStyle/>
          <a:p>
            <a:r>
              <a:rPr lang="en-US" sz="3000" dirty="0" smtClean="0"/>
              <a:t>Right to Privacy</a:t>
            </a:r>
          </a:p>
          <a:p>
            <a:pPr lvl="1"/>
            <a:r>
              <a:rPr lang="en-US" sz="3000" dirty="0" smtClean="0"/>
              <a:t> right of having a private life </a:t>
            </a:r>
          </a:p>
          <a:p>
            <a:r>
              <a:rPr lang="en-US" sz="3000" dirty="0" smtClean="0"/>
              <a:t>Right to Equal Opportunity—Non-discrimination</a:t>
            </a:r>
          </a:p>
          <a:p>
            <a:r>
              <a:rPr lang="en-US" sz="3000" dirty="0" smtClean="0"/>
              <a:t>Equal Opportunity – Sexual Harassment</a:t>
            </a:r>
          </a:p>
          <a:p>
            <a:r>
              <a:rPr lang="en-US" sz="3000" dirty="0" smtClean="0"/>
              <a:t>Equal opportunity – Affirmative Action</a:t>
            </a:r>
          </a:p>
          <a:p>
            <a:pPr lvl="1"/>
            <a:r>
              <a:rPr lang="en-US" sz="3000" dirty="0" smtClean="0"/>
              <a:t> Affirmative action – preference given to a person or a group who was denied equal importance in the past .</a:t>
            </a:r>
          </a:p>
          <a:p>
            <a:endParaRPr lang="en-IN" dirty="0"/>
          </a:p>
        </p:txBody>
      </p:sp>
    </p:spTree>
    <p:extLst>
      <p:ext uri="{BB962C8B-B14F-4D97-AF65-F5344CB8AC3E}">
        <p14:creationId xmlns:p14="http://schemas.microsoft.com/office/powerpoint/2010/main" val="1541246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Intellectual property rights</a:t>
            </a:r>
            <a:endParaRPr lang="en-US" dirty="0"/>
          </a:p>
        </p:txBody>
      </p:sp>
      <p:sp>
        <p:nvSpPr>
          <p:cNvPr id="3" name="Content Placeholder 2"/>
          <p:cNvSpPr>
            <a:spLocks noGrp="1"/>
          </p:cNvSpPr>
          <p:nvPr>
            <p:ph idx="1"/>
          </p:nvPr>
        </p:nvSpPr>
        <p:spPr/>
        <p:txBody>
          <a:bodyPr>
            <a:normAutofit/>
          </a:bodyPr>
          <a:lstStyle/>
          <a:p>
            <a:r>
              <a:rPr lang="en-US" dirty="0" smtClean="0"/>
              <a:t>Intellectual property right is a type of property right which allows the creators or owners of patents trademarks or copyrighted works to benefit from their own work or investment. </a:t>
            </a:r>
          </a:p>
          <a:p>
            <a:r>
              <a:rPr lang="en-US" dirty="0" smtClean="0"/>
              <a:t>The global IPR system strengthens protection, increases the incentives for innovation, and raises returns on international technology transfer</a:t>
            </a:r>
            <a:r>
              <a:rPr lang="en-US" b="1" dirty="0" smtClean="0"/>
              <a:t>. </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Protection of IPR / Why IPR ?</a:t>
            </a:r>
            <a:endParaRPr lang="en-US" b="1" u="sng" dirty="0"/>
          </a:p>
        </p:txBody>
      </p:sp>
      <p:sp>
        <p:nvSpPr>
          <p:cNvPr id="3" name="Content Placeholder 2"/>
          <p:cNvSpPr>
            <a:spLocks noGrp="1"/>
          </p:cNvSpPr>
          <p:nvPr>
            <p:ph idx="1"/>
          </p:nvPr>
        </p:nvSpPr>
        <p:spPr>
          <a:xfrm>
            <a:off x="1524000" y="1600200"/>
            <a:ext cx="7162800" cy="4800600"/>
          </a:xfrm>
        </p:spPr>
        <p:txBody>
          <a:bodyPr>
            <a:normAutofit/>
          </a:bodyPr>
          <a:lstStyle/>
          <a:p>
            <a:pPr algn="just"/>
            <a:r>
              <a:rPr lang="en-US" sz="2800" dirty="0" smtClean="0"/>
              <a:t> IPR protection stimulates creativity,   research, and innovation by ensuring freedom to individuals and organizations to benefit from their creative intellectual investments. </a:t>
            </a:r>
          </a:p>
          <a:p>
            <a:r>
              <a:rPr lang="en-US" sz="2800" dirty="0" smtClean="0"/>
              <a:t>The IP serves many purposes, namely</a:t>
            </a:r>
          </a:p>
          <a:p>
            <a:pPr lvl="3"/>
            <a:r>
              <a:rPr lang="en-US" sz="2800" dirty="0" smtClean="0"/>
              <a:t>It prevents others using it,</a:t>
            </a:r>
          </a:p>
          <a:p>
            <a:pPr lvl="3"/>
            <a:r>
              <a:rPr lang="en-US" sz="2800" dirty="0" smtClean="0"/>
              <a:t>Prevent using it for financial gain,</a:t>
            </a:r>
          </a:p>
          <a:p>
            <a:pPr lvl="3"/>
            <a:r>
              <a:rPr lang="en-US" sz="2800" dirty="0" smtClean="0"/>
              <a:t>Prevent plagiarism</a:t>
            </a:r>
          </a:p>
          <a:p>
            <a:pPr lvl="3"/>
            <a:r>
              <a:rPr lang="en-US" sz="2800" dirty="0" smtClean="0"/>
              <a:t>Provides a strategy to generate steady income etc,.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Types of Protection </a:t>
            </a:r>
            <a:endParaRPr lang="en-US" b="1" u="sng"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1. </a:t>
            </a:r>
            <a:r>
              <a:rPr lang="en-US" b="1" u="sng" dirty="0" smtClean="0"/>
              <a:t>Patents</a:t>
            </a:r>
            <a:r>
              <a:rPr lang="en-US" b="1" dirty="0" smtClean="0"/>
              <a:t> </a:t>
            </a:r>
          </a:p>
          <a:p>
            <a:r>
              <a:rPr lang="en-US" dirty="0" smtClean="0"/>
              <a:t>A Patent is an exclusive right granted for an invention. It provides the patent owners with protection generally for a period of 20years. </a:t>
            </a:r>
          </a:p>
          <a:p>
            <a:r>
              <a:rPr lang="en-US" dirty="0" smtClean="0"/>
              <a:t>Once the patent protection is granted, that invention cannot be commercially made, used, distributed or sold without the patent owner’s consent. </a:t>
            </a:r>
          </a:p>
          <a:p>
            <a:r>
              <a:rPr lang="en-US" dirty="0" smtClean="0"/>
              <a:t>Courts provide the legal safety for these patent rights.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patents</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740061" y="1295400"/>
            <a:ext cx="8403939" cy="49530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638800"/>
          </a:xfrm>
        </p:spPr>
        <p:txBody>
          <a:bodyPr>
            <a:normAutofit/>
          </a:bodyPr>
          <a:lstStyle/>
          <a:p>
            <a:pPr algn="just">
              <a:buNone/>
            </a:pPr>
            <a:r>
              <a:rPr lang="en-US" b="1" dirty="0" smtClean="0"/>
              <a:t>2.  </a:t>
            </a:r>
            <a:r>
              <a:rPr lang="en-US" sz="2800" b="1" u="sng" dirty="0" smtClean="0"/>
              <a:t>Trademarks</a:t>
            </a:r>
          </a:p>
          <a:p>
            <a:pPr lvl="1" algn="just"/>
            <a:r>
              <a:rPr lang="en-US" dirty="0" smtClean="0"/>
              <a:t>It means certain distinctive marks or signs that identifies certain goods or services produced or provided by an individual or a company. </a:t>
            </a:r>
          </a:p>
          <a:p>
            <a:pPr lvl="1" algn="just"/>
            <a:r>
              <a:rPr lang="en-US" dirty="0" smtClean="0"/>
              <a:t>The protection offered through the trademarks is limited for a period, but can be renewed indefinitely upon payment of the corresponding fee.</a:t>
            </a:r>
          </a:p>
          <a:p>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85000" lnSpcReduction="20000"/>
          </a:bodyPr>
          <a:lstStyle/>
          <a:p>
            <a:pPr lvl="0">
              <a:buNone/>
            </a:pPr>
            <a:r>
              <a:rPr lang="en-US" b="1" dirty="0" smtClean="0"/>
              <a:t>3. </a:t>
            </a:r>
            <a:r>
              <a:rPr lang="en-US" b="1" u="sng" dirty="0" smtClean="0"/>
              <a:t>Copyright</a:t>
            </a:r>
            <a:endParaRPr lang="en-US" u="sng" dirty="0" smtClean="0"/>
          </a:p>
          <a:p>
            <a:pPr>
              <a:buNone/>
            </a:pPr>
            <a:r>
              <a:rPr lang="en-US" b="1" dirty="0" smtClean="0"/>
              <a:t>   </a:t>
            </a:r>
            <a:r>
              <a:rPr lang="en-US" sz="3600" dirty="0" smtClean="0"/>
              <a:t>The copyright is a specific and exclusive right, describing rights given to creators for their literary and artistic works. </a:t>
            </a:r>
            <a:r>
              <a:rPr lang="en-US" sz="3600" dirty="0" err="1" smtClean="0"/>
              <a:t>E.g</a:t>
            </a:r>
            <a:r>
              <a:rPr lang="en-US" sz="3600" dirty="0" smtClean="0"/>
              <a:t> software, multimedia, paintings, sculptures Etc., </a:t>
            </a:r>
          </a:p>
          <a:p>
            <a:r>
              <a:rPr lang="en-US" sz="3600" dirty="0" smtClean="0"/>
              <a:t>Copyright is effective in</a:t>
            </a:r>
          </a:p>
          <a:p>
            <a:pPr lvl="1"/>
            <a:r>
              <a:rPr lang="en-US" dirty="0" smtClean="0"/>
              <a:t>(</a:t>
            </a:r>
            <a:r>
              <a:rPr lang="en-US" i="1" dirty="0" smtClean="0"/>
              <a:t>a) preventing others from copying or reproducing or storing the work,</a:t>
            </a:r>
          </a:p>
          <a:p>
            <a:pPr lvl="1"/>
            <a:r>
              <a:rPr lang="en-US" i="1" dirty="0" smtClean="0"/>
              <a:t>(b) publishing and selling the </a:t>
            </a:r>
            <a:r>
              <a:rPr lang="en-US" dirty="0" smtClean="0"/>
              <a:t>copies</a:t>
            </a:r>
          </a:p>
          <a:p>
            <a:pPr lvl="1"/>
            <a:r>
              <a:rPr lang="en-US" dirty="0" smtClean="0"/>
              <a:t>(</a:t>
            </a:r>
            <a:r>
              <a:rPr lang="en-US" i="1" dirty="0" smtClean="0"/>
              <a:t>c) performing the work in public, commercially </a:t>
            </a:r>
          </a:p>
          <a:p>
            <a:pPr lvl="1"/>
            <a:r>
              <a:rPr lang="en-US" i="1" dirty="0" smtClean="0"/>
              <a:t>(d) to make film </a:t>
            </a:r>
          </a:p>
          <a:p>
            <a:pPr lvl="1"/>
            <a:r>
              <a:rPr lang="en-US" i="1" dirty="0" smtClean="0"/>
              <a:t>(e) to make translation of </a:t>
            </a:r>
            <a:r>
              <a:rPr lang="en-US" dirty="0" smtClean="0"/>
              <a:t>the work,</a:t>
            </a:r>
          </a:p>
          <a:p>
            <a:pPr lvl="1"/>
            <a:r>
              <a:rPr lang="en-US" dirty="0" smtClean="0"/>
              <a:t> (</a:t>
            </a:r>
            <a:r>
              <a:rPr lang="en-US" i="1" dirty="0" smtClean="0"/>
              <a:t>f) to make any adaptation of the work. </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457200"/>
            <a:ext cx="7315200" cy="5943600"/>
          </a:xfrm>
        </p:spPr>
        <p:txBody>
          <a:bodyPr>
            <a:normAutofit/>
          </a:bodyPr>
          <a:lstStyle/>
          <a:p>
            <a:pPr>
              <a:buNone/>
            </a:pPr>
            <a:r>
              <a:rPr lang="en-US" b="1" dirty="0" smtClean="0"/>
              <a:t>4. </a:t>
            </a:r>
            <a:r>
              <a:rPr lang="en-US" b="1" u="sng" dirty="0" smtClean="0"/>
              <a:t>Trade Secret </a:t>
            </a:r>
          </a:p>
          <a:p>
            <a:pPr lvl="1" algn="just"/>
            <a:r>
              <a:rPr lang="en-US" dirty="0" smtClean="0"/>
              <a:t>A trade secret is the information which is kept confidential as a secret. </a:t>
            </a:r>
          </a:p>
          <a:p>
            <a:pPr lvl="1" algn="just"/>
            <a:r>
              <a:rPr lang="en-US" dirty="0" smtClean="0"/>
              <a:t>This information is not accessed by the any other (competitor) than the owner.</a:t>
            </a:r>
          </a:p>
          <a:p>
            <a:pPr lvl="1" algn="just"/>
            <a:r>
              <a:rPr lang="en-US" dirty="0" smtClean="0"/>
              <a:t>The trade secrets may be formulae, methods,  programs, process, test results, data collected, analyzed, synthesized etc., </a:t>
            </a:r>
          </a:p>
          <a:p>
            <a:endParaRPr lang="en-US" b="1" dirty="0" smtClean="0"/>
          </a:p>
          <a:p>
            <a:endParaRPr lang="en-US" b="1"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Industrial designs </a:t>
            </a:r>
            <a:endParaRPr lang="en-US" dirty="0"/>
          </a:p>
        </p:txBody>
      </p:sp>
      <p:sp>
        <p:nvSpPr>
          <p:cNvPr id="3" name="Content Placeholder 2"/>
          <p:cNvSpPr>
            <a:spLocks noGrp="1"/>
          </p:cNvSpPr>
          <p:nvPr>
            <p:ph idx="1"/>
          </p:nvPr>
        </p:nvSpPr>
        <p:spPr/>
        <p:txBody>
          <a:bodyPr/>
          <a:lstStyle/>
          <a:p>
            <a:r>
              <a:rPr lang="en-US" dirty="0" smtClean="0"/>
              <a:t>Ownership of industrial designs protect it from duplication .</a:t>
            </a:r>
          </a:p>
          <a:p>
            <a:pPr algn="just"/>
            <a:r>
              <a:rPr lang="en-US" b="1" dirty="0" smtClean="0"/>
              <a:t>Industrial Design</a:t>
            </a:r>
            <a:r>
              <a:rPr lang="en-US" dirty="0" smtClean="0"/>
              <a:t> (ID) is the professional practice of designing products, devices, objects and services used by millions of people around the world every day.</a:t>
            </a:r>
          </a:p>
          <a:p>
            <a:pPr algn="just"/>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6. Geographical Area indication </a:t>
            </a:r>
            <a:endParaRPr lang="en-US" dirty="0"/>
          </a:p>
        </p:txBody>
      </p:sp>
      <p:sp>
        <p:nvSpPr>
          <p:cNvPr id="3" name="Content Placeholder 2"/>
          <p:cNvSpPr>
            <a:spLocks noGrp="1"/>
          </p:cNvSpPr>
          <p:nvPr>
            <p:ph idx="1"/>
          </p:nvPr>
        </p:nvSpPr>
        <p:spPr/>
        <p:txBody>
          <a:bodyPr>
            <a:normAutofit/>
          </a:bodyPr>
          <a:lstStyle/>
          <a:p>
            <a:r>
              <a:rPr lang="en-US" sz="2800" dirty="0" smtClean="0"/>
              <a:t>Helpful for the customers to identify the </a:t>
            </a:r>
            <a:r>
              <a:rPr lang="en-US" sz="2800" dirty="0" err="1" smtClean="0"/>
              <a:t>orginal</a:t>
            </a:r>
            <a:r>
              <a:rPr lang="en-US" sz="2800" dirty="0" smtClean="0"/>
              <a:t> and quality products which are produced using the raw materials of that geographical area. </a:t>
            </a:r>
          </a:p>
          <a:p>
            <a:r>
              <a:rPr lang="en-US" sz="2800" dirty="0" smtClean="0"/>
              <a:t>Examples : Brazil for coffee beans</a:t>
            </a: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br>
              <a:rPr lang="en-US" dirty="0" smtClean="0"/>
            </a:br>
            <a:r>
              <a:rPr lang="en-US" dirty="0" smtClean="0"/>
              <a:t>Advantages of Intellectual Property Rights</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Intellectual property rights are advantageous in the following ways −</a:t>
            </a:r>
          </a:p>
          <a:p>
            <a:r>
              <a:rPr lang="en-US" dirty="0" smtClean="0"/>
              <a:t>Provides exclusive rights to the creators or inventors.</a:t>
            </a:r>
          </a:p>
          <a:p>
            <a:r>
              <a:rPr lang="en-US" dirty="0" smtClean="0"/>
              <a:t>Encourages individuals to distribute and share information and data instead of keeping it confidential.</a:t>
            </a:r>
          </a:p>
          <a:p>
            <a:r>
              <a:rPr lang="en-US" dirty="0" smtClean="0"/>
              <a:t>Provides legal defense and offers the creators the incentive of their work.</a:t>
            </a:r>
          </a:p>
          <a:p>
            <a:r>
              <a:rPr lang="en-US" dirty="0" smtClean="0"/>
              <a:t>Helps in social and financial development.</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866888" cy="609600"/>
          </a:xfrm>
        </p:spPr>
        <p:txBody>
          <a:bodyPr>
            <a:normAutofit/>
          </a:bodyPr>
          <a:lstStyle/>
          <a:p>
            <a:pPr algn="ctr"/>
            <a:r>
              <a:rPr lang="en-US" sz="3200" b="1" dirty="0" smtClean="0">
                <a:latin typeface="Times New Roman" pitchFamily="18" charset="0"/>
                <a:cs typeface="Times New Roman" pitchFamily="18" charset="0"/>
              </a:rPr>
              <a:t>UNIVERSITY QUESTIONS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914400" y="762000"/>
            <a:ext cx="8019288" cy="6096000"/>
          </a:xfrm>
        </p:spPr>
        <p:txBody>
          <a:bodyPr>
            <a:normAutofit/>
          </a:bodyPr>
          <a:lstStyle/>
          <a:p>
            <a:pPr marL="82296" indent="0">
              <a:buNone/>
            </a:pPr>
            <a:r>
              <a:rPr lang="en-US" sz="2200" dirty="0" smtClean="0">
                <a:latin typeface="Times New Roman" pitchFamily="18" charset="0"/>
                <a:cs typeface="Times New Roman" pitchFamily="18" charset="0"/>
              </a:rPr>
              <a:t>1.  Define collegiality and loyalty.(3)</a:t>
            </a:r>
          </a:p>
          <a:p>
            <a:pPr marL="82296" indent="0">
              <a:buNone/>
            </a:pPr>
            <a:r>
              <a:rPr lang="en-IN" sz="2200" dirty="0" smtClean="0">
                <a:latin typeface="Times New Roman" pitchFamily="18" charset="0"/>
                <a:cs typeface="Times New Roman" pitchFamily="18" charset="0"/>
              </a:rPr>
              <a:t>2.  What </a:t>
            </a:r>
            <a:r>
              <a:rPr lang="en-IN" sz="2200" dirty="0">
                <a:latin typeface="Times New Roman" pitchFamily="18" charset="0"/>
                <a:cs typeface="Times New Roman" pitchFamily="18" charset="0"/>
              </a:rPr>
              <a:t>are the two senses of Loyalty? (3) </a:t>
            </a:r>
            <a:endParaRPr lang="en-IN" sz="2200" dirty="0" smtClean="0">
              <a:latin typeface="Times New Roman" pitchFamily="18" charset="0"/>
              <a:cs typeface="Times New Roman" pitchFamily="18" charset="0"/>
            </a:endParaRPr>
          </a:p>
          <a:p>
            <a:pPr marL="82296" indent="0">
              <a:buNone/>
            </a:pPr>
            <a:r>
              <a:rPr lang="en-IN" sz="2200" dirty="0" smtClean="0">
                <a:latin typeface="Times New Roman" pitchFamily="18" charset="0"/>
                <a:cs typeface="Times New Roman" pitchFamily="18" charset="0"/>
              </a:rPr>
              <a:t>3. What </a:t>
            </a:r>
            <a:r>
              <a:rPr lang="en-IN" sz="2200" dirty="0">
                <a:latin typeface="Times New Roman" pitchFamily="18" charset="0"/>
                <a:cs typeface="Times New Roman" pitchFamily="18" charset="0"/>
              </a:rPr>
              <a:t>are Conflicts of Interests? (3)</a:t>
            </a:r>
            <a:endParaRPr lang="en-US" sz="2200" dirty="0" smtClean="0">
              <a:latin typeface="Times New Roman" pitchFamily="18" charset="0"/>
              <a:cs typeface="Times New Roman" pitchFamily="18" charset="0"/>
            </a:endParaRPr>
          </a:p>
          <a:p>
            <a:pPr marL="82296" indent="0">
              <a:buNone/>
            </a:pPr>
            <a:r>
              <a:rPr lang="en-US" sz="2200" dirty="0" smtClean="0">
                <a:latin typeface="Times New Roman" pitchFamily="18" charset="0"/>
                <a:cs typeface="Times New Roman" pitchFamily="18" charset="0"/>
              </a:rPr>
              <a:t>4.  What is confidentiality and why is it needed. (3)	</a:t>
            </a:r>
          </a:p>
          <a:p>
            <a:pPr marL="82296" indent="0">
              <a:buNone/>
            </a:pPr>
            <a:r>
              <a:rPr lang="en-US" sz="2200" dirty="0" smtClean="0">
                <a:latin typeface="Times New Roman" pitchFamily="18" charset="0"/>
                <a:cs typeface="Times New Roman" pitchFamily="18" charset="0"/>
              </a:rPr>
              <a:t>5. Differentiate between Patents and Trademarks.(3)</a:t>
            </a:r>
          </a:p>
          <a:p>
            <a:pPr marL="82296" indent="0">
              <a:buNone/>
            </a:pPr>
            <a:endParaRPr lang="en-US" sz="2200" dirty="0" smtClean="0">
              <a:latin typeface="Times New Roman" pitchFamily="18" charset="0"/>
              <a:cs typeface="Times New Roman" pitchFamily="18" charset="0"/>
            </a:endParaRPr>
          </a:p>
          <a:p>
            <a:pPr marL="82296" indent="0">
              <a:buNone/>
            </a:pPr>
            <a:r>
              <a:rPr lang="en-US" sz="2200" dirty="0" smtClean="0">
                <a:latin typeface="Times New Roman" pitchFamily="18" charset="0"/>
                <a:cs typeface="Times New Roman" pitchFamily="18" charset="0"/>
              </a:rPr>
              <a:t>6. Describe </a:t>
            </a:r>
            <a:r>
              <a:rPr lang="en-US" sz="2200" dirty="0">
                <a:latin typeface="Times New Roman" pitchFamily="18" charset="0"/>
                <a:cs typeface="Times New Roman" pitchFamily="18" charset="0"/>
              </a:rPr>
              <a:t>the major steps involved in the process of collective bargaining. </a:t>
            </a:r>
            <a:r>
              <a:rPr lang="en-US" sz="2200" dirty="0" smtClean="0">
                <a:latin typeface="Times New Roman" pitchFamily="18" charset="0"/>
                <a:cs typeface="Times New Roman" pitchFamily="18" charset="0"/>
              </a:rPr>
              <a:t>(</a:t>
            </a:r>
            <a:r>
              <a:rPr lang="en-US" sz="2200" dirty="0">
                <a:latin typeface="Times New Roman" pitchFamily="18" charset="0"/>
                <a:cs typeface="Times New Roman" pitchFamily="18" charset="0"/>
              </a:rPr>
              <a:t>7) </a:t>
            </a:r>
          </a:p>
          <a:p>
            <a:pPr marL="82296" indent="0">
              <a:buNone/>
            </a:pPr>
            <a:r>
              <a:rPr lang="en-US" sz="2200" dirty="0" smtClean="0">
                <a:latin typeface="Times New Roman" pitchFamily="18" charset="0"/>
                <a:cs typeface="Times New Roman" pitchFamily="18" charset="0"/>
              </a:rPr>
              <a:t>7. Explain the different steps in managing conflicts in an organization. (7)</a:t>
            </a:r>
          </a:p>
          <a:p>
            <a:pPr marL="82296" indent="0">
              <a:buNone/>
            </a:pPr>
            <a:r>
              <a:rPr lang="en-US" sz="2200" dirty="0" smtClean="0">
                <a:latin typeface="Times New Roman" pitchFamily="18" charset="0"/>
                <a:cs typeface="Times New Roman" pitchFamily="18" charset="0"/>
              </a:rPr>
              <a:t>8. Exemplify conflicts of interest and conflicts in interest.(6)</a:t>
            </a:r>
          </a:p>
          <a:p>
            <a:pPr marL="82296" indent="0">
              <a:buNone/>
            </a:pPr>
            <a:r>
              <a:rPr lang="en-US" sz="2200" dirty="0" smtClean="0">
                <a:latin typeface="Times New Roman" pitchFamily="18" charset="0"/>
                <a:cs typeface="Times New Roman" pitchFamily="18" charset="0"/>
              </a:rPr>
              <a:t>9. Illustrate various rights of an engineer as a professional. (8) 	</a:t>
            </a:r>
          </a:p>
          <a:p>
            <a:pPr marL="82296" indent="0">
              <a:buNone/>
            </a:pPr>
            <a:r>
              <a:rPr lang="en-US" sz="2200" dirty="0" smtClean="0">
                <a:latin typeface="Times New Roman" pitchFamily="18" charset="0"/>
                <a:cs typeface="Times New Roman" pitchFamily="18" charset="0"/>
              </a:rPr>
              <a:t>10. Discuss the methods to improve collegiality and loyalty. (7)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609600"/>
            <a:ext cx="7866888" cy="6096000"/>
          </a:xfrm>
        </p:spPr>
        <p:txBody>
          <a:bodyPr>
            <a:normAutofit fontScale="85000" lnSpcReduction="20000"/>
          </a:bodyPr>
          <a:lstStyle/>
          <a:p>
            <a:pPr marL="82296" indent="0">
              <a:buNone/>
            </a:pPr>
            <a:r>
              <a:rPr lang="en-US" sz="2600" dirty="0">
                <a:latin typeface="Times New Roman" pitchFamily="18" charset="0"/>
                <a:cs typeface="Times New Roman" pitchFamily="18" charset="0"/>
              </a:rPr>
              <a:t>11. Explain collective bargaining. 	(7</a:t>
            </a:r>
            <a:r>
              <a:rPr lang="en-US" sz="2600" dirty="0" smtClean="0">
                <a:latin typeface="Times New Roman" pitchFamily="18" charset="0"/>
                <a:cs typeface="Times New Roman" pitchFamily="18" charset="0"/>
              </a:rPr>
              <a:t>)</a:t>
            </a:r>
          </a:p>
          <a:p>
            <a:pPr marL="82296" indent="0">
              <a:buNone/>
            </a:pPr>
            <a:endParaRPr lang="en-US" sz="2600" dirty="0">
              <a:latin typeface="Times New Roman" pitchFamily="18" charset="0"/>
              <a:cs typeface="Times New Roman" pitchFamily="18" charset="0"/>
            </a:endParaRPr>
          </a:p>
          <a:p>
            <a:pPr marL="82296" indent="0">
              <a:buNone/>
            </a:pPr>
            <a:r>
              <a:rPr lang="en-US" sz="2600" dirty="0">
                <a:latin typeface="Times New Roman" pitchFamily="18" charset="0"/>
                <a:cs typeface="Times New Roman" pitchFamily="18" charset="0"/>
              </a:rPr>
              <a:t>12. What are occupational crimes? Give examples 	(8</a:t>
            </a:r>
            <a:r>
              <a:rPr lang="en-US" sz="2600" dirty="0" smtClean="0">
                <a:latin typeface="Times New Roman" pitchFamily="18" charset="0"/>
                <a:cs typeface="Times New Roman" pitchFamily="18" charset="0"/>
              </a:rPr>
              <a:t>)</a:t>
            </a:r>
          </a:p>
          <a:p>
            <a:pPr marL="82296" indent="0">
              <a:buNone/>
            </a:pPr>
            <a:endParaRPr lang="en-US" sz="2600" dirty="0">
              <a:latin typeface="Times New Roman" pitchFamily="18" charset="0"/>
              <a:cs typeface="Times New Roman" pitchFamily="18" charset="0"/>
            </a:endParaRPr>
          </a:p>
          <a:p>
            <a:pPr marL="82296" indent="0">
              <a:buNone/>
            </a:pPr>
            <a:r>
              <a:rPr lang="en-US" sz="2600" dirty="0">
                <a:latin typeface="Times New Roman" pitchFamily="18" charset="0"/>
                <a:cs typeface="Times New Roman" pitchFamily="18" charset="0"/>
              </a:rPr>
              <a:t>13. How conflicts can be managed in a workplace? 	(6</a:t>
            </a:r>
            <a:r>
              <a:rPr lang="en-US" sz="2600" dirty="0" smtClean="0">
                <a:latin typeface="Times New Roman" pitchFamily="18" charset="0"/>
                <a:cs typeface="Times New Roman" pitchFamily="18" charset="0"/>
              </a:rPr>
              <a:t>)</a:t>
            </a:r>
          </a:p>
          <a:p>
            <a:pPr marL="82296" indent="0">
              <a:buNone/>
            </a:pPr>
            <a:endParaRPr lang="en-US" sz="2600" dirty="0">
              <a:latin typeface="Times New Roman" pitchFamily="18" charset="0"/>
              <a:cs typeface="Times New Roman" pitchFamily="18" charset="0"/>
            </a:endParaRPr>
          </a:p>
          <a:p>
            <a:pPr marL="82296" indent="0">
              <a:buNone/>
            </a:pPr>
            <a:r>
              <a:rPr lang="en-IN" sz="2600" dirty="0">
                <a:latin typeface="Times New Roman" pitchFamily="18" charset="0"/>
                <a:cs typeface="Times New Roman" pitchFamily="18" charset="0"/>
              </a:rPr>
              <a:t>14. What are intellectual property rights? Explain the elements of intellectual property rights in details and benefits of IPR. (7) </a:t>
            </a:r>
            <a:endParaRPr lang="en-IN" sz="2600" dirty="0" smtClean="0">
              <a:latin typeface="Times New Roman" pitchFamily="18" charset="0"/>
              <a:cs typeface="Times New Roman" pitchFamily="18" charset="0"/>
            </a:endParaRPr>
          </a:p>
          <a:p>
            <a:pPr marL="82296" indent="0">
              <a:buNone/>
            </a:pPr>
            <a:endParaRPr lang="en-IN" sz="2600" dirty="0">
              <a:latin typeface="Times New Roman" pitchFamily="18" charset="0"/>
              <a:cs typeface="Times New Roman" pitchFamily="18" charset="0"/>
            </a:endParaRPr>
          </a:p>
          <a:p>
            <a:pPr marL="82296" indent="0">
              <a:buNone/>
            </a:pPr>
            <a:r>
              <a:rPr lang="en-IN" sz="2600" dirty="0">
                <a:latin typeface="Times New Roman" pitchFamily="18" charset="0"/>
                <a:cs typeface="Times New Roman" pitchFamily="18" charset="0"/>
              </a:rPr>
              <a:t>15. What is meant by ‘whistle blowing’? List four aspects of ‘whistle blowing’ (7</a:t>
            </a:r>
            <a:r>
              <a:rPr lang="en-IN" sz="2600" dirty="0" smtClean="0">
                <a:latin typeface="Times New Roman" pitchFamily="18" charset="0"/>
                <a:cs typeface="Times New Roman" pitchFamily="18" charset="0"/>
              </a:rPr>
              <a:t>)</a:t>
            </a:r>
          </a:p>
          <a:p>
            <a:pPr marL="82296" indent="0">
              <a:buNone/>
            </a:pPr>
            <a:endParaRPr lang="en-IN" sz="2600" dirty="0">
              <a:latin typeface="Times New Roman" pitchFamily="18" charset="0"/>
              <a:cs typeface="Times New Roman" pitchFamily="18" charset="0"/>
            </a:endParaRPr>
          </a:p>
          <a:p>
            <a:pPr marL="82296" indent="0">
              <a:buNone/>
            </a:pPr>
            <a:r>
              <a:rPr lang="en-IN" sz="2600" dirty="0">
                <a:latin typeface="Times New Roman" pitchFamily="18" charset="0"/>
                <a:cs typeface="Times New Roman" pitchFamily="18" charset="0"/>
              </a:rPr>
              <a:t>16. Discuss in detail about the employee Rights and its role in the organizations. (7) </a:t>
            </a:r>
            <a:endParaRPr lang="en-IN" sz="2600" dirty="0" smtClean="0">
              <a:latin typeface="Times New Roman" pitchFamily="18" charset="0"/>
              <a:cs typeface="Times New Roman" pitchFamily="18" charset="0"/>
            </a:endParaRPr>
          </a:p>
          <a:p>
            <a:pPr marL="82296" indent="0">
              <a:buNone/>
            </a:pPr>
            <a:endParaRPr lang="en-IN" sz="2600" dirty="0">
              <a:latin typeface="Times New Roman" pitchFamily="18" charset="0"/>
              <a:cs typeface="Times New Roman" pitchFamily="18" charset="0"/>
            </a:endParaRPr>
          </a:p>
          <a:p>
            <a:pPr marL="82296" indent="0">
              <a:buNone/>
            </a:pPr>
            <a:r>
              <a:rPr lang="en-IN" sz="2600" dirty="0">
                <a:latin typeface="Times New Roman" pitchFamily="18" charset="0"/>
                <a:cs typeface="Times New Roman" pitchFamily="18" charset="0"/>
              </a:rPr>
              <a:t>17. What does the term collective bargaining refer to? Explain. (7) </a:t>
            </a:r>
            <a:r>
              <a:rPr lang="en-US" sz="2600" dirty="0">
                <a:latin typeface="Times New Roman" pitchFamily="18" charset="0"/>
                <a:cs typeface="Times New Roman" pitchFamily="18" charset="0"/>
              </a:rPr>
              <a:t>	</a:t>
            </a:r>
          </a:p>
          <a:p>
            <a:endParaRPr lang="en-IN" dirty="0"/>
          </a:p>
        </p:txBody>
      </p:sp>
    </p:spTree>
    <p:extLst>
      <p:ext uri="{BB962C8B-B14F-4D97-AF65-F5344CB8AC3E}">
        <p14:creationId xmlns:p14="http://schemas.microsoft.com/office/powerpoint/2010/main" val="6299954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372CB6AEA17F64A849F517D41DF1CC3" ma:contentTypeVersion="2" ma:contentTypeDescription="Create a new document." ma:contentTypeScope="" ma:versionID="a9e7fb790f1f000b77a0be4639b52e19">
  <xsd:schema xmlns:xsd="http://www.w3.org/2001/XMLSchema" xmlns:xs="http://www.w3.org/2001/XMLSchema" xmlns:p="http://schemas.microsoft.com/office/2006/metadata/properties" xmlns:ns2="5b34f6ea-6ba5-4f9a-8468-2276eeedaef2" targetNamespace="http://schemas.microsoft.com/office/2006/metadata/properties" ma:root="true" ma:fieldsID="df654fc844fbcbc089734ba4b31cffc5" ns2:_="">
    <xsd:import namespace="5b34f6ea-6ba5-4f9a-8468-2276eeedaef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34f6ea-6ba5-4f9a-8468-2276eeeda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D658CF-3CBA-479A-B4D6-B9F26C4D1B3B}">
  <ds:schemaRefs>
    <ds:schemaRef ds:uri="http://schemas.microsoft.com/sharepoint/v3/contenttype/forms"/>
  </ds:schemaRefs>
</ds:datastoreItem>
</file>

<file path=customXml/itemProps2.xml><?xml version="1.0" encoding="utf-8"?>
<ds:datastoreItem xmlns:ds="http://schemas.openxmlformats.org/officeDocument/2006/customXml" ds:itemID="{DA4CA7C0-93C2-410A-8FE3-27A65318C6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34f6ea-6ba5-4f9a-8468-2276eeedae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322D58-5AC8-408C-B78B-912EE0E743A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Solstice</Template>
  <TotalTime>3333</TotalTime>
  <Words>2531</Words>
  <Application>Microsoft Office PowerPoint</Application>
  <PresentationFormat>On-screen Show (4:3)</PresentationFormat>
  <Paragraphs>297</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Solstice</vt:lpstr>
      <vt:lpstr>PROFESSIONAL ETHICS  (HUT 200)</vt:lpstr>
      <vt:lpstr>Syllabus</vt:lpstr>
      <vt:lpstr>Collegiality</vt:lpstr>
      <vt:lpstr>Continued..</vt:lpstr>
      <vt:lpstr>Loyalty</vt:lpstr>
      <vt:lpstr>Managing Conflict</vt:lpstr>
      <vt:lpstr>PowerPoint Presentation</vt:lpstr>
      <vt:lpstr>Methods for Managing Conflict</vt:lpstr>
      <vt:lpstr>PowerPoint Presentation</vt:lpstr>
      <vt:lpstr>Conflict Management Process</vt:lpstr>
      <vt:lpstr>Respect for Authority</vt:lpstr>
      <vt:lpstr>Continue..</vt:lpstr>
      <vt:lpstr>Collective Bargaining</vt:lpstr>
      <vt:lpstr>Objectives of Collective Bargaining</vt:lpstr>
      <vt:lpstr>Types of Collective Bargaining</vt:lpstr>
      <vt:lpstr>Process of Collective Bargaining</vt:lpstr>
      <vt:lpstr>Advantages of Collective Bargaining:</vt:lpstr>
      <vt:lpstr>Confidentiality</vt:lpstr>
      <vt:lpstr>Types of information under confidentiality </vt:lpstr>
      <vt:lpstr>Conflicts of Interest</vt:lpstr>
      <vt:lpstr>Types of Conflicts of Interest</vt:lpstr>
      <vt:lpstr>Occupational Crime</vt:lpstr>
      <vt:lpstr>Common examples</vt:lpstr>
      <vt:lpstr>Categories of Occupational Crimes</vt:lpstr>
      <vt:lpstr>Professional Rights</vt:lpstr>
      <vt:lpstr>Continued..</vt:lpstr>
      <vt:lpstr>Employee Rights</vt:lpstr>
      <vt:lpstr>Professional rights </vt:lpstr>
      <vt:lpstr>Human Rights </vt:lpstr>
      <vt:lpstr> Institutional / Contractual  Employee Rights </vt:lpstr>
      <vt:lpstr>Non- Contractual Employee Rights</vt:lpstr>
      <vt:lpstr>Intellectual property rights</vt:lpstr>
      <vt:lpstr>Protection of IPR / Why IPR ?</vt:lpstr>
      <vt:lpstr>Types of Protection </vt:lpstr>
      <vt:lpstr>Types of patents</vt:lpstr>
      <vt:lpstr>PowerPoint Presentation</vt:lpstr>
      <vt:lpstr>PowerPoint Presentation</vt:lpstr>
      <vt:lpstr>PowerPoint Presentation</vt:lpstr>
      <vt:lpstr>5. Industrial designs </vt:lpstr>
      <vt:lpstr>6. Geographical Area indication </vt:lpstr>
      <vt:lpstr>.  Advantages of Intellectual Property Rights </vt:lpstr>
      <vt:lpstr>UNIVERSITY QUESTIONS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ETHICS  (HUT 200)</dc:title>
  <dc:creator>Amel</dc:creator>
  <cp:lastModifiedBy>Ms. Cinita Mary Mathew</cp:lastModifiedBy>
  <cp:revision>184</cp:revision>
  <dcterms:created xsi:type="dcterms:W3CDTF">2006-08-16T00:00:00Z</dcterms:created>
  <dcterms:modified xsi:type="dcterms:W3CDTF">2024-04-03T09:38:18Z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0x0101006372CB6AEA17F64A849F517D41DF1CC3</vt:lpwstr>
  </property>
</Properties>
</file>