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Lst>
  <p:sldSz cx="9144000" cy="6858000" type="screen4x3"/>
  <p:notesSz cx="6858000" cy="9144000"/>
  <p:embeddedFontLst>
    <p:embeddedFont>
      <p:font typeface="Gill Sans" panose="020B0604020202020204" charset="0"/>
      <p:regular r:id="rId43"/>
      <p:bold r:id="rId44"/>
    </p:embeddedFont>
    <p:embeddedFont>
      <p:font typeface="Verdana" panose="020B0604030504040204" pitchFamily="34" charset="0"/>
      <p:regular r:id="rId45"/>
      <p:bold r:id="rId46"/>
      <p:italic r:id="rId47"/>
      <p:boldItalic r:id="rId48"/>
    </p:embeddedFont>
    <p:embeddedFont>
      <p:font typeface="Calibri" panose="020F05020202040302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gn16zXuPQQxJ9DnWvnc/ru1+bi4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5118108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2191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0712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0204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120" name="Google Shape;12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3477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4974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7770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2652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9858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7843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6994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09284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92961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9593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7034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34782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14176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41279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62532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47541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22208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91433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76943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39026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95265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00918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46421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34945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92442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28668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4880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373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40972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16877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2858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57512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84845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67161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12054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1110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5731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44"/>
          <p:cNvSpPr txBox="1">
            <a:spLocks noGrp="1"/>
          </p:cNvSpPr>
          <p:nvPr>
            <p:ph type="ctrTitle"/>
          </p:nvPr>
        </p:nvSpPr>
        <p:spPr>
          <a:xfrm>
            <a:off x="1432560" y="359898"/>
            <a:ext cx="7406640" cy="147218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562214"/>
              </a:buClr>
              <a:buSzPts val="43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44"/>
          <p:cNvSpPr txBox="1">
            <a:spLocks noGrp="1"/>
          </p:cNvSpPr>
          <p:nvPr>
            <p:ph type="subTitle" idx="1"/>
          </p:nvPr>
        </p:nvSpPr>
        <p:spPr>
          <a:xfrm>
            <a:off x="1432560" y="1850064"/>
            <a:ext cx="7406640" cy="1752600"/>
          </a:xfrm>
          <a:prstGeom prst="rect">
            <a:avLst/>
          </a:prstGeom>
          <a:noFill/>
          <a:ln>
            <a:noFill/>
          </a:ln>
        </p:spPr>
        <p:txBody>
          <a:bodyPr spcFirstLastPara="1" wrap="square" lIns="91425" tIns="0" rIns="91425" bIns="45700" anchor="t" anchorCtr="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a:endParaRPr/>
          </a:p>
        </p:txBody>
      </p:sp>
      <p:sp>
        <p:nvSpPr>
          <p:cNvPr id="23" name="Google Shape;23;p44"/>
          <p:cNvSpPr txBox="1">
            <a:spLocks noGrp="1"/>
          </p:cNvSpPr>
          <p:nvPr>
            <p:ph type="dt" idx="10"/>
          </p:nvPr>
        </p:nvSpPr>
        <p:spPr>
          <a:xfrm>
            <a:off x="3581400" y="6305550"/>
            <a:ext cx="21336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44"/>
          <p:cNvSpPr txBox="1">
            <a:spLocks noGrp="1"/>
          </p:cNvSpPr>
          <p:nvPr>
            <p:ph type="ftr" idx="11"/>
          </p:nvPr>
        </p:nvSpPr>
        <p:spPr>
          <a:xfrm>
            <a:off x="5715000" y="6305550"/>
            <a:ext cx="28956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4"/>
          <p:cNvSpPr txBox="1">
            <a:spLocks noGrp="1"/>
          </p:cNvSpPr>
          <p:nvPr>
            <p:ph type="sldNum" idx="12"/>
          </p:nvPr>
        </p:nvSpPr>
        <p:spPr>
          <a:xfrm>
            <a:off x="8613648" y="6305550"/>
            <a:ext cx="4572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pPr marL="0" lvl="0" indent="0" algn="ctr" rtl="0">
                <a:spcBef>
                  <a:spcPts val="0"/>
                </a:spcBef>
                <a:spcAft>
                  <a:spcPts val="0"/>
                </a:spcAft>
                <a:buNone/>
              </a:pPr>
              <a:t>‹#›</a:t>
            </a:fld>
            <a:endParaRPr/>
          </a:p>
        </p:txBody>
      </p:sp>
      <p:sp>
        <p:nvSpPr>
          <p:cNvPr id="26" name="Google Shape;26;p44"/>
          <p:cNvSpPr/>
          <p:nvPr/>
        </p:nvSpPr>
        <p:spPr>
          <a:xfrm>
            <a:off x="921433" y="1413802"/>
            <a:ext cx="210312" cy="210312"/>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a:path>
            <a:tileRect/>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Gill Sans"/>
              <a:ea typeface="Gill Sans"/>
              <a:cs typeface="Gill Sans"/>
              <a:sym typeface="Gill Sans"/>
            </a:endParaRPr>
          </a:p>
        </p:txBody>
      </p:sp>
      <p:sp>
        <p:nvSpPr>
          <p:cNvPr id="27" name="Google Shape;27;p44"/>
          <p:cNvSpPr/>
          <p:nvPr/>
        </p:nvSpPr>
        <p:spPr>
          <a:xfrm>
            <a:off x="1157176" y="1345016"/>
            <a:ext cx="64008" cy="64008"/>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45"/>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5"/>
          <p:cNvSpPr txBox="1">
            <a:spLocks noGrp="1"/>
          </p:cNvSpPr>
          <p:nvPr>
            <p:ph type="body" idx="1"/>
          </p:nvPr>
        </p:nvSpPr>
        <p:spPr>
          <a:xfrm>
            <a:off x="1435608" y="1447800"/>
            <a:ext cx="7498080" cy="480060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1" name="Google Shape;31;p45"/>
          <p:cNvSpPr txBox="1">
            <a:spLocks noGrp="1"/>
          </p:cNvSpPr>
          <p:nvPr>
            <p:ph type="dt" idx="10"/>
          </p:nvPr>
        </p:nvSpPr>
        <p:spPr>
          <a:xfrm>
            <a:off x="3581400" y="6305550"/>
            <a:ext cx="21336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5"/>
          <p:cNvSpPr txBox="1">
            <a:spLocks noGrp="1"/>
          </p:cNvSpPr>
          <p:nvPr>
            <p:ph type="ftr" idx="11"/>
          </p:nvPr>
        </p:nvSpPr>
        <p:spPr>
          <a:xfrm>
            <a:off x="5715000" y="6305550"/>
            <a:ext cx="28956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5"/>
          <p:cNvSpPr txBox="1">
            <a:spLocks noGrp="1"/>
          </p:cNvSpPr>
          <p:nvPr>
            <p:ph type="sldNum" idx="12"/>
          </p:nvPr>
        </p:nvSpPr>
        <p:spPr>
          <a:xfrm>
            <a:off x="8613648" y="6305550"/>
            <a:ext cx="4572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pPr marL="0" lvl="0" indent="0" algn="ct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4"/>
        <p:cNvGrpSpPr/>
        <p:nvPr/>
      </p:nvGrpSpPr>
      <p:grpSpPr>
        <a:xfrm>
          <a:off x="0" y="0"/>
          <a:ext cx="0" cy="0"/>
          <a:chOff x="0" y="0"/>
          <a:chExt cx="0" cy="0"/>
        </a:xfrm>
      </p:grpSpPr>
      <p:sp>
        <p:nvSpPr>
          <p:cNvPr id="35" name="Google Shape;35;p46"/>
          <p:cNvSpPr/>
          <p:nvPr/>
        </p:nvSpPr>
        <p:spPr>
          <a:xfrm>
            <a:off x="2282890" y="-54"/>
            <a:ext cx="6858000" cy="685805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36" name="Google Shape;36;p46"/>
          <p:cNvSpPr txBox="1">
            <a:spLocks noGrp="1"/>
          </p:cNvSpPr>
          <p:nvPr>
            <p:ph type="title"/>
          </p:nvPr>
        </p:nvSpPr>
        <p:spPr>
          <a:xfrm>
            <a:off x="2578392" y="2600325"/>
            <a:ext cx="6400800" cy="2286000"/>
          </a:xfrm>
          <a:prstGeom prst="rect">
            <a:avLst/>
          </a:prstGeom>
          <a:noFill/>
          <a:ln>
            <a:noFill/>
          </a:ln>
        </p:spPr>
        <p:txBody>
          <a:bodyPr spcFirstLastPara="1" wrap="square" lIns="91425" tIns="45700" rIns="91425" bIns="45700" anchor="t" anchorCtr="0">
            <a:normAutofit/>
          </a:bodyPr>
          <a:lstStyle>
            <a:lvl1pPr lvl="0" algn="l">
              <a:lnSpc>
                <a:spcPct val="112500"/>
              </a:lnSpc>
              <a:spcBef>
                <a:spcPts val="0"/>
              </a:spcBef>
              <a:spcAft>
                <a:spcPts val="0"/>
              </a:spcAft>
              <a:buClr>
                <a:srgbClr val="562214"/>
              </a:buClr>
              <a:buSzPts val="4000"/>
              <a:buFont typeface="Gill Sans"/>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46"/>
          <p:cNvSpPr txBox="1">
            <a:spLocks noGrp="1"/>
          </p:cNvSpPr>
          <p:nvPr>
            <p:ph type="body" idx="1"/>
          </p:nvPr>
        </p:nvSpPr>
        <p:spPr>
          <a:xfrm>
            <a:off x="2578392" y="1066800"/>
            <a:ext cx="6400800" cy="1509712"/>
          </a:xfrm>
          <a:prstGeom prst="rect">
            <a:avLst/>
          </a:prstGeom>
          <a:noFill/>
          <a:ln>
            <a:noFill/>
          </a:ln>
        </p:spPr>
        <p:txBody>
          <a:bodyPr spcFirstLastPara="1" wrap="square" lIns="91425" tIns="45700" rIns="91425" bIns="45700" anchor="b" anchorCtr="0">
            <a:normAutofit/>
          </a:bodyPr>
          <a:lstStyle>
            <a:lvl1pPr marL="457200" lvl="0" indent="-228600" algn="l">
              <a:lnSpc>
                <a:spcPct val="115000"/>
              </a:lnSpc>
              <a:spcBef>
                <a:spcPts val="0"/>
              </a:spcBef>
              <a:spcAft>
                <a:spcPts val="0"/>
              </a:spcAft>
              <a:buSzPts val="1600"/>
              <a:buNone/>
              <a:defRPr sz="2000">
                <a:solidFill>
                  <a:srgbClr val="341108"/>
                </a:solidFill>
              </a:defRPr>
            </a:lvl1pPr>
            <a:lvl2pPr marL="914400" lvl="1" indent="-228600" algn="l">
              <a:lnSpc>
                <a:spcPct val="100000"/>
              </a:lnSpc>
              <a:spcBef>
                <a:spcPts val="550"/>
              </a:spcBef>
              <a:spcAft>
                <a:spcPts val="0"/>
              </a:spcAft>
              <a:buSzPts val="1800"/>
              <a:buNone/>
              <a:defRPr sz="1800">
                <a:solidFill>
                  <a:srgbClr val="888888"/>
                </a:solidFill>
              </a:defRPr>
            </a:lvl2pPr>
            <a:lvl3pPr marL="1371600" lvl="2" indent="-228600" algn="l">
              <a:lnSpc>
                <a:spcPct val="100000"/>
              </a:lnSpc>
              <a:spcBef>
                <a:spcPts val="320"/>
              </a:spcBef>
              <a:spcAft>
                <a:spcPts val="0"/>
              </a:spcAft>
              <a:buSzPts val="1600"/>
              <a:buNone/>
              <a:defRPr sz="1600">
                <a:solidFill>
                  <a:srgbClr val="888888"/>
                </a:solidFill>
              </a:defRPr>
            </a:lvl3pPr>
            <a:lvl4pPr marL="1828800" lvl="3" indent="-228600" algn="l">
              <a:lnSpc>
                <a:spcPct val="100000"/>
              </a:lnSpc>
              <a:spcBef>
                <a:spcPts val="280"/>
              </a:spcBef>
              <a:spcAft>
                <a:spcPts val="0"/>
              </a:spcAft>
              <a:buSzPts val="1400"/>
              <a:buNone/>
              <a:defRPr sz="1400">
                <a:solidFill>
                  <a:srgbClr val="888888"/>
                </a:solidFill>
              </a:defRPr>
            </a:lvl4pPr>
            <a:lvl5pPr marL="2286000" lvl="4" indent="-228600" algn="l">
              <a:lnSpc>
                <a:spcPct val="100000"/>
              </a:lnSpc>
              <a:spcBef>
                <a:spcPts val="280"/>
              </a:spcBef>
              <a:spcAft>
                <a:spcPts val="0"/>
              </a:spcAft>
              <a:buSzPts val="1400"/>
              <a:buNone/>
              <a:defRPr sz="1400">
                <a:solidFill>
                  <a:srgbClr val="888888"/>
                </a:solidFill>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8" name="Google Shape;38;p46"/>
          <p:cNvSpPr txBox="1">
            <a:spLocks noGrp="1"/>
          </p:cNvSpPr>
          <p:nvPr>
            <p:ph type="dt" idx="10"/>
          </p:nvPr>
        </p:nvSpPr>
        <p:spPr>
          <a:xfrm>
            <a:off x="3581400" y="6305550"/>
            <a:ext cx="21336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6"/>
          <p:cNvSpPr txBox="1">
            <a:spLocks noGrp="1"/>
          </p:cNvSpPr>
          <p:nvPr>
            <p:ph type="ftr" idx="11"/>
          </p:nvPr>
        </p:nvSpPr>
        <p:spPr>
          <a:xfrm>
            <a:off x="5715000" y="6305550"/>
            <a:ext cx="28956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6"/>
          <p:cNvSpPr txBox="1">
            <a:spLocks noGrp="1"/>
          </p:cNvSpPr>
          <p:nvPr>
            <p:ph type="sldNum" idx="12"/>
          </p:nvPr>
        </p:nvSpPr>
        <p:spPr>
          <a:xfrm>
            <a:off x="8613648" y="6305550"/>
            <a:ext cx="4572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pPr marL="0" lvl="0" indent="0" algn="ctr" rtl="0">
                <a:spcBef>
                  <a:spcPts val="0"/>
                </a:spcBef>
                <a:spcAft>
                  <a:spcPts val="0"/>
                </a:spcAft>
                <a:buNone/>
              </a:pPr>
              <a:t>‹#›</a:t>
            </a:fld>
            <a:endParaRPr/>
          </a:p>
        </p:txBody>
      </p:sp>
      <p:sp>
        <p:nvSpPr>
          <p:cNvPr id="41" name="Google Shape;41;p46"/>
          <p:cNvSpPr/>
          <p:nvPr/>
        </p:nvSpPr>
        <p:spPr>
          <a:xfrm>
            <a:off x="2286000" y="0"/>
            <a:ext cx="76200" cy="6858054"/>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42" name="Google Shape;42;p46"/>
          <p:cNvSpPr/>
          <p:nvPr/>
        </p:nvSpPr>
        <p:spPr>
          <a:xfrm>
            <a:off x="2172321" y="2814656"/>
            <a:ext cx="210312" cy="210312"/>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a:path>
            <a:tileRect/>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Gill Sans"/>
              <a:ea typeface="Gill Sans"/>
              <a:cs typeface="Gill Sans"/>
              <a:sym typeface="Gill Sans"/>
            </a:endParaRPr>
          </a:p>
        </p:txBody>
      </p:sp>
      <p:sp>
        <p:nvSpPr>
          <p:cNvPr id="43" name="Google Shape;43;p46"/>
          <p:cNvSpPr/>
          <p:nvPr/>
        </p:nvSpPr>
        <p:spPr>
          <a:xfrm>
            <a:off x="2408064" y="2745870"/>
            <a:ext cx="64008" cy="64008"/>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47"/>
          <p:cNvSpPr txBox="1">
            <a:spLocks noGrp="1"/>
          </p:cNvSpPr>
          <p:nvPr>
            <p:ph type="title"/>
          </p:nvPr>
        </p:nvSpPr>
        <p:spPr>
          <a:xfrm>
            <a:off x="1435608" y="274320"/>
            <a:ext cx="749808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47"/>
          <p:cNvSpPr txBox="1">
            <a:spLocks noGrp="1"/>
          </p:cNvSpPr>
          <p:nvPr>
            <p:ph type="body" idx="1"/>
          </p:nvPr>
        </p:nvSpPr>
        <p:spPr>
          <a:xfrm>
            <a:off x="1435608" y="1524000"/>
            <a:ext cx="3657600" cy="466344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7" name="Google Shape;47;p47"/>
          <p:cNvSpPr txBox="1">
            <a:spLocks noGrp="1"/>
          </p:cNvSpPr>
          <p:nvPr>
            <p:ph type="body" idx="2"/>
          </p:nvPr>
        </p:nvSpPr>
        <p:spPr>
          <a:xfrm>
            <a:off x="5276088" y="1524000"/>
            <a:ext cx="3657600" cy="466344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8" name="Google Shape;48;p47"/>
          <p:cNvSpPr txBox="1">
            <a:spLocks noGrp="1"/>
          </p:cNvSpPr>
          <p:nvPr>
            <p:ph type="dt" idx="10"/>
          </p:nvPr>
        </p:nvSpPr>
        <p:spPr>
          <a:xfrm>
            <a:off x="3581400" y="6305550"/>
            <a:ext cx="21336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7"/>
          <p:cNvSpPr txBox="1">
            <a:spLocks noGrp="1"/>
          </p:cNvSpPr>
          <p:nvPr>
            <p:ph type="ftr" idx="11"/>
          </p:nvPr>
        </p:nvSpPr>
        <p:spPr>
          <a:xfrm>
            <a:off x="5715000" y="6305550"/>
            <a:ext cx="28956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47"/>
          <p:cNvSpPr txBox="1">
            <a:spLocks noGrp="1"/>
          </p:cNvSpPr>
          <p:nvPr>
            <p:ph type="sldNum" idx="12"/>
          </p:nvPr>
        </p:nvSpPr>
        <p:spPr>
          <a:xfrm>
            <a:off x="8613648" y="6305550"/>
            <a:ext cx="4572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pPr marL="0" lvl="0" indent="0" algn="ct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51"/>
        <p:cNvGrpSpPr/>
        <p:nvPr/>
      </p:nvGrpSpPr>
      <p:grpSpPr>
        <a:xfrm>
          <a:off x="0" y="0"/>
          <a:ext cx="0" cy="0"/>
          <a:chOff x="0" y="0"/>
          <a:chExt cx="0" cy="0"/>
        </a:xfrm>
      </p:grpSpPr>
      <p:sp>
        <p:nvSpPr>
          <p:cNvPr id="52" name="Google Shape;52;p48"/>
          <p:cNvSpPr txBox="1">
            <a:spLocks noGrp="1"/>
          </p:cNvSpPr>
          <p:nvPr>
            <p:ph type="title"/>
          </p:nvPr>
        </p:nvSpPr>
        <p:spPr>
          <a:xfrm>
            <a:off x="457200" y="5160336"/>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562214"/>
              </a:buClr>
              <a:buSzPts val="4500"/>
              <a:buFont typeface="Gill Sans"/>
              <a:buNone/>
              <a:defRPr sz="45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48"/>
          <p:cNvSpPr txBox="1">
            <a:spLocks noGrp="1"/>
          </p:cNvSpPr>
          <p:nvPr>
            <p:ph type="body" idx="1"/>
          </p:nvPr>
        </p:nvSpPr>
        <p:spPr>
          <a:xfrm>
            <a:off x="457200" y="328278"/>
            <a:ext cx="4023360" cy="64008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4" name="Google Shape;54;p48"/>
          <p:cNvSpPr txBox="1">
            <a:spLocks noGrp="1"/>
          </p:cNvSpPr>
          <p:nvPr>
            <p:ph type="body" idx="2"/>
          </p:nvPr>
        </p:nvSpPr>
        <p:spPr>
          <a:xfrm>
            <a:off x="4663440" y="328278"/>
            <a:ext cx="4023360" cy="64008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5" name="Google Shape;55;p48"/>
          <p:cNvSpPr txBox="1">
            <a:spLocks noGrp="1"/>
          </p:cNvSpPr>
          <p:nvPr>
            <p:ph type="body" idx="3"/>
          </p:nvPr>
        </p:nvSpPr>
        <p:spPr>
          <a:xfrm>
            <a:off x="457200" y="969336"/>
            <a:ext cx="4023360" cy="41148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6" name="Google Shape;56;p48"/>
          <p:cNvSpPr txBox="1">
            <a:spLocks noGrp="1"/>
          </p:cNvSpPr>
          <p:nvPr>
            <p:ph type="body" idx="4"/>
          </p:nvPr>
        </p:nvSpPr>
        <p:spPr>
          <a:xfrm>
            <a:off x="4663440" y="969336"/>
            <a:ext cx="4023360" cy="41148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7" name="Google Shape;57;p48"/>
          <p:cNvSpPr txBox="1">
            <a:spLocks noGrp="1"/>
          </p:cNvSpPr>
          <p:nvPr>
            <p:ph type="dt" idx="10"/>
          </p:nvPr>
        </p:nvSpPr>
        <p:spPr>
          <a:xfrm>
            <a:off x="3581400" y="6305550"/>
            <a:ext cx="21336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48"/>
          <p:cNvSpPr txBox="1">
            <a:spLocks noGrp="1"/>
          </p:cNvSpPr>
          <p:nvPr>
            <p:ph type="ftr" idx="11"/>
          </p:nvPr>
        </p:nvSpPr>
        <p:spPr>
          <a:xfrm>
            <a:off x="5715000" y="6305550"/>
            <a:ext cx="28956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8"/>
          <p:cNvSpPr txBox="1">
            <a:spLocks noGrp="1"/>
          </p:cNvSpPr>
          <p:nvPr>
            <p:ph type="sldNum" idx="12"/>
          </p:nvPr>
        </p:nvSpPr>
        <p:spPr>
          <a:xfrm>
            <a:off x="8613648" y="6305550"/>
            <a:ext cx="4572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pPr marL="0" lvl="0" indent="0" algn="ct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49"/>
          <p:cNvSpPr txBox="1">
            <a:spLocks noGrp="1"/>
          </p:cNvSpPr>
          <p:nvPr>
            <p:ph type="title"/>
          </p:nvPr>
        </p:nvSpPr>
        <p:spPr>
          <a:xfrm>
            <a:off x="1435608" y="274320"/>
            <a:ext cx="749808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49"/>
          <p:cNvSpPr txBox="1">
            <a:spLocks noGrp="1"/>
          </p:cNvSpPr>
          <p:nvPr>
            <p:ph type="dt" idx="10"/>
          </p:nvPr>
        </p:nvSpPr>
        <p:spPr>
          <a:xfrm>
            <a:off x="3581400" y="6305550"/>
            <a:ext cx="21336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9"/>
          <p:cNvSpPr txBox="1">
            <a:spLocks noGrp="1"/>
          </p:cNvSpPr>
          <p:nvPr>
            <p:ph type="ftr" idx="11"/>
          </p:nvPr>
        </p:nvSpPr>
        <p:spPr>
          <a:xfrm>
            <a:off x="5715000" y="6305550"/>
            <a:ext cx="28956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9"/>
          <p:cNvSpPr txBox="1">
            <a:spLocks noGrp="1"/>
          </p:cNvSpPr>
          <p:nvPr>
            <p:ph type="sldNum" idx="12"/>
          </p:nvPr>
        </p:nvSpPr>
        <p:spPr>
          <a:xfrm>
            <a:off x="8613648" y="6305550"/>
            <a:ext cx="4572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pPr marL="0" lvl="0" indent="0" algn="ct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5"/>
        <p:cNvGrpSpPr/>
        <p:nvPr/>
      </p:nvGrpSpPr>
      <p:grpSpPr>
        <a:xfrm>
          <a:off x="0" y="0"/>
          <a:ext cx="0" cy="0"/>
          <a:chOff x="0" y="0"/>
          <a:chExt cx="0" cy="0"/>
        </a:xfrm>
      </p:grpSpPr>
      <p:sp>
        <p:nvSpPr>
          <p:cNvPr id="66" name="Google Shape;66;p50"/>
          <p:cNvSpPr/>
          <p:nvPr/>
        </p:nvSpPr>
        <p:spPr>
          <a:xfrm>
            <a:off x="1014984" y="0"/>
            <a:ext cx="8129016"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67" name="Google Shape;67;p50"/>
          <p:cNvSpPr txBox="1">
            <a:spLocks noGrp="1"/>
          </p:cNvSpPr>
          <p:nvPr>
            <p:ph type="dt" idx="10"/>
          </p:nvPr>
        </p:nvSpPr>
        <p:spPr>
          <a:xfrm>
            <a:off x="3581400" y="6305550"/>
            <a:ext cx="21336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50"/>
          <p:cNvSpPr txBox="1">
            <a:spLocks noGrp="1"/>
          </p:cNvSpPr>
          <p:nvPr>
            <p:ph type="ftr" idx="11"/>
          </p:nvPr>
        </p:nvSpPr>
        <p:spPr>
          <a:xfrm>
            <a:off x="5715000" y="6305550"/>
            <a:ext cx="28956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50"/>
          <p:cNvSpPr txBox="1">
            <a:spLocks noGrp="1"/>
          </p:cNvSpPr>
          <p:nvPr>
            <p:ph type="sldNum" idx="12"/>
          </p:nvPr>
        </p:nvSpPr>
        <p:spPr>
          <a:xfrm>
            <a:off x="8613648" y="6305550"/>
            <a:ext cx="4572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pPr marL="0" lvl="0" indent="0" algn="ctr" rtl="0">
                <a:spcBef>
                  <a:spcPts val="0"/>
                </a:spcBef>
                <a:spcAft>
                  <a:spcPts val="0"/>
                </a:spcAft>
                <a:buNone/>
              </a:pPr>
              <a:t>‹#›</a:t>
            </a:fld>
            <a:endParaRPr/>
          </a:p>
        </p:txBody>
      </p:sp>
      <p:sp>
        <p:nvSpPr>
          <p:cNvPr id="70" name="Google Shape;70;p50"/>
          <p:cNvSpPr/>
          <p:nvPr/>
        </p:nvSpPr>
        <p:spPr>
          <a:xfrm>
            <a:off x="1014984" y="-54"/>
            <a:ext cx="73152" cy="6858054"/>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1"/>
        <p:cNvGrpSpPr/>
        <p:nvPr/>
      </p:nvGrpSpPr>
      <p:grpSpPr>
        <a:xfrm>
          <a:off x="0" y="0"/>
          <a:ext cx="0" cy="0"/>
          <a:chOff x="0" y="0"/>
          <a:chExt cx="0" cy="0"/>
        </a:xfrm>
      </p:grpSpPr>
      <p:sp>
        <p:nvSpPr>
          <p:cNvPr id="72" name="Google Shape;72;p51"/>
          <p:cNvSpPr txBox="1">
            <a:spLocks noGrp="1"/>
          </p:cNvSpPr>
          <p:nvPr>
            <p:ph type="title"/>
          </p:nvPr>
        </p:nvSpPr>
        <p:spPr>
          <a:xfrm>
            <a:off x="457200" y="216778"/>
            <a:ext cx="3810000" cy="1162050"/>
          </a:xfrm>
          <a:prstGeom prst="rect">
            <a:avLst/>
          </a:prstGeom>
          <a:noFill/>
          <a:ln>
            <a:noFill/>
          </a:ln>
        </p:spPr>
        <p:txBody>
          <a:bodyPr spcFirstLastPara="1" wrap="square" lIns="91425" tIns="45700" rIns="91425" bIns="45700" anchor="b" anchorCtr="0">
            <a:normAutofit/>
          </a:bodyPr>
          <a:lstStyle>
            <a:lvl1pPr lvl="0" algn="l">
              <a:lnSpc>
                <a:spcPct val="90909"/>
              </a:lnSpc>
              <a:spcBef>
                <a:spcPts val="0"/>
              </a:spcBef>
              <a:spcAft>
                <a:spcPts val="0"/>
              </a:spcAft>
              <a:buClr>
                <a:srgbClr val="562214"/>
              </a:buClr>
              <a:buSzPts val="2200"/>
              <a:buFont typeface="Gill Sans"/>
              <a:buNone/>
              <a:defRPr sz="2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51"/>
          <p:cNvSpPr txBox="1">
            <a:spLocks noGrp="1"/>
          </p:cNvSpPr>
          <p:nvPr>
            <p:ph type="body" idx="1"/>
          </p:nvPr>
        </p:nvSpPr>
        <p:spPr>
          <a:xfrm>
            <a:off x="457200" y="1406964"/>
            <a:ext cx="3810000" cy="6985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1120"/>
              <a:buNone/>
              <a:defRPr sz="1400"/>
            </a:lvl1pPr>
            <a:lvl2pPr marL="914400" lvl="1" indent="-228600" algn="l">
              <a:lnSpc>
                <a:spcPct val="100000"/>
              </a:lnSpc>
              <a:spcBef>
                <a:spcPts val="55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4" name="Google Shape;74;p51"/>
          <p:cNvSpPr txBox="1">
            <a:spLocks noGrp="1"/>
          </p:cNvSpPr>
          <p:nvPr>
            <p:ph type="body" idx="2"/>
          </p:nvPr>
        </p:nvSpPr>
        <p:spPr>
          <a:xfrm>
            <a:off x="457200" y="2133600"/>
            <a:ext cx="8153400" cy="3992563"/>
          </a:xfrm>
          <a:prstGeom prst="rect">
            <a:avLst/>
          </a:prstGeom>
          <a:noFill/>
          <a:ln>
            <a:noFill/>
          </a:ln>
        </p:spPr>
        <p:txBody>
          <a:bodyPr spcFirstLastPara="1" wrap="square" lIns="91425" tIns="45700" rIns="91425" bIns="45700" anchor="t" anchorCtr="0">
            <a:normAutofit/>
          </a:bodyPr>
          <a:lstStyle>
            <a:lvl1pPr marL="457200" lvl="0" indent="-391160" algn="l">
              <a:lnSpc>
                <a:spcPct val="100000"/>
              </a:lnSpc>
              <a:spcBef>
                <a:spcPts val="600"/>
              </a:spcBef>
              <a:spcAft>
                <a:spcPts val="0"/>
              </a:spcAft>
              <a:buSzPts val="2560"/>
              <a:buChar char="⚫"/>
              <a:defRPr sz="3200"/>
            </a:lvl1pPr>
            <a:lvl2pPr marL="914400" lvl="1" indent="-406400" algn="l">
              <a:lnSpc>
                <a:spcPct val="100000"/>
              </a:lnSpc>
              <a:spcBef>
                <a:spcPts val="550"/>
              </a:spcBef>
              <a:spcAft>
                <a:spcPts val="0"/>
              </a:spcAft>
              <a:buSzPts val="280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5" name="Google Shape;75;p51"/>
          <p:cNvSpPr txBox="1">
            <a:spLocks noGrp="1"/>
          </p:cNvSpPr>
          <p:nvPr>
            <p:ph type="dt" idx="10"/>
          </p:nvPr>
        </p:nvSpPr>
        <p:spPr>
          <a:xfrm>
            <a:off x="3581400" y="6305550"/>
            <a:ext cx="21336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1"/>
          <p:cNvSpPr txBox="1">
            <a:spLocks noGrp="1"/>
          </p:cNvSpPr>
          <p:nvPr>
            <p:ph type="ftr" idx="11"/>
          </p:nvPr>
        </p:nvSpPr>
        <p:spPr>
          <a:xfrm>
            <a:off x="5715000" y="6305550"/>
            <a:ext cx="28956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1"/>
          <p:cNvSpPr txBox="1">
            <a:spLocks noGrp="1"/>
          </p:cNvSpPr>
          <p:nvPr>
            <p:ph type="sldNum" idx="12"/>
          </p:nvPr>
        </p:nvSpPr>
        <p:spPr>
          <a:xfrm>
            <a:off x="8613648" y="6305550"/>
            <a:ext cx="4572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pPr marL="0" lvl="0" indent="0" algn="ct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52"/>
          <p:cNvSpPr txBox="1">
            <a:spLocks noGrp="1"/>
          </p:cNvSpPr>
          <p:nvPr>
            <p:ph type="title"/>
          </p:nvPr>
        </p:nvSpPr>
        <p:spPr>
          <a:xfrm>
            <a:off x="5886896" y="1066800"/>
            <a:ext cx="2743200" cy="1981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562214"/>
              </a:buClr>
              <a:buSzPts val="2100"/>
              <a:buFont typeface="Gill Sans"/>
              <a:buNone/>
              <a:defRPr sz="21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52"/>
          <p:cNvSpPr txBox="1">
            <a:spLocks noGrp="1"/>
          </p:cNvSpPr>
          <p:nvPr>
            <p:ph type="dt" idx="10"/>
          </p:nvPr>
        </p:nvSpPr>
        <p:spPr>
          <a:xfrm>
            <a:off x="3581400" y="6305550"/>
            <a:ext cx="21336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52"/>
          <p:cNvSpPr txBox="1">
            <a:spLocks noGrp="1"/>
          </p:cNvSpPr>
          <p:nvPr>
            <p:ph type="ftr" idx="11"/>
          </p:nvPr>
        </p:nvSpPr>
        <p:spPr>
          <a:xfrm>
            <a:off x="5715000" y="6305550"/>
            <a:ext cx="28956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52"/>
          <p:cNvSpPr txBox="1">
            <a:spLocks noGrp="1"/>
          </p:cNvSpPr>
          <p:nvPr>
            <p:ph type="sldNum" idx="12"/>
          </p:nvPr>
        </p:nvSpPr>
        <p:spPr>
          <a:xfrm>
            <a:off x="8613648" y="6305550"/>
            <a:ext cx="4572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pPr marL="0" lvl="0" indent="0" algn="ctr" rtl="0">
                <a:spcBef>
                  <a:spcPts val="0"/>
                </a:spcBef>
                <a:spcAft>
                  <a:spcPts val="0"/>
                </a:spcAft>
                <a:buNone/>
              </a:pPr>
              <a:t>‹#›</a:t>
            </a:fld>
            <a:endParaRPr/>
          </a:p>
        </p:txBody>
      </p:sp>
      <p:sp>
        <p:nvSpPr>
          <p:cNvPr id="83" name="Google Shape;83;p52"/>
          <p:cNvSpPr/>
          <p:nvPr/>
        </p:nvSpPr>
        <p:spPr>
          <a:xfrm>
            <a:off x="762000" y="1066800"/>
            <a:ext cx="4572000" cy="4572000"/>
          </a:xfrm>
          <a:prstGeom prst="rect">
            <a:avLst/>
          </a:prstGeom>
          <a:solidFill>
            <a:srgbClr val="FFFFFF"/>
          </a:solidFill>
          <a:ln w="88900" cap="sq" cmpd="sng">
            <a:solidFill>
              <a:srgbClr val="FFFFFF"/>
            </a:solidFill>
            <a:prstDash val="solid"/>
            <a:miter lim="800000"/>
            <a:headEnd type="none" w="sm" len="sm"/>
            <a:tailEnd type="none" w="sm" len="sm"/>
          </a:ln>
          <a:effectLst>
            <a:outerShdw blurRad="55500" dist="18500" dir="5400000" algn="tl" rotWithShape="0">
              <a:srgbClr val="000000">
                <a:alpha val="34901"/>
              </a:srgbClr>
            </a:outerShdw>
          </a:effectLst>
        </p:spPr>
        <p:txBody>
          <a:bodyPr spcFirstLastPara="1" wrap="square" lIns="91425" tIns="274300" rIns="91425" bIns="45700" anchor="t" anchorCtr="0">
            <a:normAutofit/>
          </a:bodyPr>
          <a:lstStyle/>
          <a:p>
            <a:pPr marL="0" marR="0" lvl="0" indent="0" algn="l" rtl="0">
              <a:lnSpc>
                <a:spcPct val="93750"/>
              </a:lnSpc>
              <a:spcBef>
                <a:spcPts val="0"/>
              </a:spcBef>
              <a:spcAft>
                <a:spcPts val="0"/>
              </a:spcAft>
              <a:buClr>
                <a:schemeClr val="accent1"/>
              </a:buClr>
              <a:buSzPts val="2560"/>
              <a:buFont typeface="Noto Sans Symbols"/>
              <a:buNone/>
            </a:pPr>
            <a:endParaRPr sz="3200" b="0" i="0" u="none" strike="noStrike" cap="none">
              <a:solidFill>
                <a:schemeClr val="dk1"/>
              </a:solidFill>
              <a:latin typeface="Gill Sans"/>
              <a:ea typeface="Gill Sans"/>
              <a:cs typeface="Gill Sans"/>
              <a:sym typeface="Gill Sans"/>
            </a:endParaRPr>
          </a:p>
        </p:txBody>
      </p:sp>
      <p:sp>
        <p:nvSpPr>
          <p:cNvPr id="84" name="Google Shape;84;p52"/>
          <p:cNvSpPr>
            <a:spLocks noGrp="1"/>
          </p:cNvSpPr>
          <p:nvPr>
            <p:ph type="pic" idx="2"/>
          </p:nvPr>
        </p:nvSpPr>
        <p:spPr>
          <a:xfrm>
            <a:off x="838200" y="1143003"/>
            <a:ext cx="4419600" cy="3514531"/>
          </a:xfrm>
          <a:prstGeom prst="roundRect">
            <a:avLst>
              <a:gd name="adj" fmla="val 783"/>
            </a:avLst>
          </a:prstGeom>
          <a:solidFill>
            <a:schemeClr val="lt2"/>
          </a:solidFill>
          <a:ln>
            <a:noFill/>
          </a:ln>
        </p:spPr>
      </p:sp>
      <p:sp>
        <p:nvSpPr>
          <p:cNvPr id="85" name="Google Shape;85;p52"/>
          <p:cNvSpPr/>
          <p:nvPr/>
        </p:nvSpPr>
        <p:spPr>
          <a:xfrm rot="-2131329">
            <a:off x="396725" y="954341"/>
            <a:ext cx="685800" cy="204310"/>
          </a:xfrm>
          <a:prstGeom prst="flowChartProcess">
            <a:avLst/>
          </a:prstGeom>
          <a:solidFill>
            <a:srgbClr val="FBFBFB">
              <a:alpha val="44705"/>
            </a:srgbClr>
          </a:solidFill>
          <a:ln w="9525" cap="rnd" cmpd="sng">
            <a:solidFill>
              <a:srgbClr val="FFFFFF"/>
            </a:solidFill>
            <a:prstDash val="solid"/>
            <a:round/>
            <a:headEnd type="none" w="sm" len="sm"/>
            <a:tailEnd type="none" w="sm" len="sm"/>
          </a:ln>
          <a:effectLst>
            <a:outerShdw blurRad="25400" dist="25400" dir="3300000" sx="96000" sy="96000" algn="tl" rotWithShape="0">
              <a:srgbClr val="EAD8B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86" name="Google Shape;86;p52"/>
          <p:cNvSpPr/>
          <p:nvPr/>
        </p:nvSpPr>
        <p:spPr>
          <a:xfrm rot="2103354" flipH="1">
            <a:off x="5003667" y="936786"/>
            <a:ext cx="649224" cy="204310"/>
          </a:xfrm>
          <a:prstGeom prst="flowChartProcess">
            <a:avLst/>
          </a:prstGeom>
          <a:solidFill>
            <a:srgbClr val="FBFBFB">
              <a:alpha val="44705"/>
            </a:srgbClr>
          </a:solidFill>
          <a:ln w="9525" cap="rnd" cmpd="sng">
            <a:solidFill>
              <a:srgbClr val="FFFFFF"/>
            </a:solidFill>
            <a:prstDash val="solid"/>
            <a:round/>
            <a:headEnd type="none" w="sm" len="sm"/>
            <a:tailEnd type="none" w="sm" len="sm"/>
          </a:ln>
          <a:effectLst>
            <a:outerShdw blurRad="25400" dist="25400" dir="3300000" sx="96000" sy="96000" algn="tl" rotWithShape="0">
              <a:schemeClr val="lt2">
                <a:alpha val="20000"/>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87" name="Google Shape;87;p52"/>
          <p:cNvSpPr txBox="1">
            <a:spLocks noGrp="1"/>
          </p:cNvSpPr>
          <p:nvPr>
            <p:ph type="body" idx="1"/>
          </p:nvPr>
        </p:nvSpPr>
        <p:spPr>
          <a:xfrm>
            <a:off x="838200" y="4800600"/>
            <a:ext cx="4419600" cy="762000"/>
          </a:xfrm>
          <a:prstGeom prst="rect">
            <a:avLst/>
          </a:prstGeom>
          <a:noFill/>
          <a:ln>
            <a:noFill/>
          </a:ln>
        </p:spPr>
        <p:txBody>
          <a:bodyPr spcFirstLastPara="1" wrap="square" lIns="91425" tIns="45700" rIns="91425" bIns="45700" anchor="ctr" anchorCtr="0">
            <a:normAutofit/>
          </a:bodyPr>
          <a:lstStyle>
            <a:lvl1pPr marL="457200" lvl="0" indent="-228600" algn="l">
              <a:lnSpc>
                <a:spcPct val="114285"/>
              </a:lnSpc>
              <a:spcBef>
                <a:spcPts val="0"/>
              </a:spcBef>
              <a:spcAft>
                <a:spcPts val="0"/>
              </a:spcAft>
              <a:buSzPts val="1120"/>
              <a:buNone/>
              <a:defRPr sz="1400">
                <a:solidFill>
                  <a:srgbClr val="777777"/>
                </a:solidFill>
              </a:defRPr>
            </a:lvl1pPr>
            <a:lvl2pPr marL="914400" lvl="1" indent="-304800" algn="l">
              <a:lnSpc>
                <a:spcPct val="100000"/>
              </a:lnSpc>
              <a:spcBef>
                <a:spcPts val="550"/>
              </a:spcBef>
              <a:spcAft>
                <a:spcPts val="0"/>
              </a:spcAft>
              <a:buSzPts val="1200"/>
              <a:buChar char="◦"/>
              <a:defRPr sz="1200"/>
            </a:lvl2pPr>
            <a:lvl3pPr marL="1371600" lvl="2" indent="-292100" algn="l">
              <a:lnSpc>
                <a:spcPct val="100000"/>
              </a:lnSpc>
              <a:spcBef>
                <a:spcPts val="200"/>
              </a:spcBef>
              <a:spcAft>
                <a:spcPts val="0"/>
              </a:spcAft>
              <a:buSzPts val="1000"/>
              <a:buChar char="●"/>
              <a:defRPr sz="1000"/>
            </a:lvl3pPr>
            <a:lvl4pPr marL="1828800" lvl="3" indent="-285750" algn="l">
              <a:lnSpc>
                <a:spcPct val="100000"/>
              </a:lnSpc>
              <a:spcBef>
                <a:spcPts val="180"/>
              </a:spcBef>
              <a:spcAft>
                <a:spcPts val="0"/>
              </a:spcAft>
              <a:buSzPts val="900"/>
              <a:buChar char="●"/>
              <a:defRPr sz="900"/>
            </a:lvl4pPr>
            <a:lvl5pPr marL="2286000" lvl="4" indent="-285750" algn="l">
              <a:lnSpc>
                <a:spcPct val="100000"/>
              </a:lnSpc>
              <a:spcBef>
                <a:spcPts val="180"/>
              </a:spcBef>
              <a:spcAft>
                <a:spcPts val="0"/>
              </a:spcAft>
              <a:buSzPts val="900"/>
              <a:buChar char="●"/>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8"/>
        <p:cNvGrpSpPr/>
        <p:nvPr/>
      </p:nvGrpSpPr>
      <p:grpSpPr>
        <a:xfrm>
          <a:off x="0" y="0"/>
          <a:ext cx="0" cy="0"/>
          <a:chOff x="0" y="0"/>
          <a:chExt cx="0" cy="0"/>
        </a:xfrm>
      </p:grpSpPr>
      <p:sp>
        <p:nvSpPr>
          <p:cNvPr id="89" name="Google Shape;89;p53"/>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53"/>
          <p:cNvSpPr txBox="1">
            <a:spLocks noGrp="1"/>
          </p:cNvSpPr>
          <p:nvPr>
            <p:ph type="body" idx="1"/>
          </p:nvPr>
        </p:nvSpPr>
        <p:spPr>
          <a:xfrm rot="5400000">
            <a:off x="2784348" y="99060"/>
            <a:ext cx="4800600" cy="749808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91" name="Google Shape;91;p53"/>
          <p:cNvSpPr txBox="1">
            <a:spLocks noGrp="1"/>
          </p:cNvSpPr>
          <p:nvPr>
            <p:ph type="dt" idx="10"/>
          </p:nvPr>
        </p:nvSpPr>
        <p:spPr>
          <a:xfrm>
            <a:off x="3581400" y="6305550"/>
            <a:ext cx="21336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53"/>
          <p:cNvSpPr txBox="1">
            <a:spLocks noGrp="1"/>
          </p:cNvSpPr>
          <p:nvPr>
            <p:ph type="ftr" idx="11"/>
          </p:nvPr>
        </p:nvSpPr>
        <p:spPr>
          <a:xfrm>
            <a:off x="5715000" y="6305550"/>
            <a:ext cx="28956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53"/>
          <p:cNvSpPr txBox="1">
            <a:spLocks noGrp="1"/>
          </p:cNvSpPr>
          <p:nvPr>
            <p:ph type="sldNum" idx="12"/>
          </p:nvPr>
        </p:nvSpPr>
        <p:spPr>
          <a:xfrm>
            <a:off x="8613648" y="6305550"/>
            <a:ext cx="4572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pPr marL="0" lvl="0" indent="0" algn="ct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4"/>
        <p:cNvGrpSpPr/>
        <p:nvPr/>
      </p:nvGrpSpPr>
      <p:grpSpPr>
        <a:xfrm>
          <a:off x="0" y="0"/>
          <a:ext cx="0" cy="0"/>
          <a:chOff x="0" y="0"/>
          <a:chExt cx="0" cy="0"/>
        </a:xfrm>
      </p:grpSpPr>
      <p:sp>
        <p:nvSpPr>
          <p:cNvPr id="95" name="Google Shape;95;p54"/>
          <p:cNvSpPr txBox="1">
            <a:spLocks noGrp="1"/>
          </p:cNvSpPr>
          <p:nvPr>
            <p:ph type="title"/>
          </p:nvPr>
        </p:nvSpPr>
        <p:spPr>
          <a:xfrm rot="5400000">
            <a:off x="4846638" y="2286002"/>
            <a:ext cx="5851525" cy="1828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54"/>
          <p:cNvSpPr txBox="1">
            <a:spLocks noGrp="1"/>
          </p:cNvSpPr>
          <p:nvPr>
            <p:ph type="body" idx="1"/>
          </p:nvPr>
        </p:nvSpPr>
        <p:spPr>
          <a:xfrm rot="5400000">
            <a:off x="998538" y="419103"/>
            <a:ext cx="5851525" cy="556260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97" name="Google Shape;97;p54"/>
          <p:cNvSpPr txBox="1">
            <a:spLocks noGrp="1"/>
          </p:cNvSpPr>
          <p:nvPr>
            <p:ph type="dt" idx="10"/>
          </p:nvPr>
        </p:nvSpPr>
        <p:spPr>
          <a:xfrm>
            <a:off x="3581400" y="6305550"/>
            <a:ext cx="2133600" cy="476250"/>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54"/>
          <p:cNvSpPr txBox="1">
            <a:spLocks noGrp="1"/>
          </p:cNvSpPr>
          <p:nvPr>
            <p:ph type="ftr" idx="11"/>
          </p:nvPr>
        </p:nvSpPr>
        <p:spPr>
          <a:xfrm>
            <a:off x="5715000" y="6305550"/>
            <a:ext cx="2895600" cy="4762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54"/>
          <p:cNvSpPr txBox="1">
            <a:spLocks noGrp="1"/>
          </p:cNvSpPr>
          <p:nvPr>
            <p:ph type="sldNum" idx="12"/>
          </p:nvPr>
        </p:nvSpPr>
        <p:spPr>
          <a:xfrm>
            <a:off x="8613648" y="6305550"/>
            <a:ext cx="457200" cy="476250"/>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pPr marL="0" lvl="0" indent="0" algn="ct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blip>
          <a:tile tx="0" ty="0" sx="90000" sy="90000" flip="xy" algn="tl"/>
        </a:blipFill>
        <a:effectLst/>
      </p:bgPr>
    </p:bg>
    <p:spTree>
      <p:nvGrpSpPr>
        <p:cNvPr id="1" name="Shape 9"/>
        <p:cNvGrpSpPr/>
        <p:nvPr/>
      </p:nvGrpSpPr>
      <p:grpSpPr>
        <a:xfrm>
          <a:off x="0" y="0"/>
          <a:ext cx="0" cy="0"/>
          <a:chOff x="0" y="0"/>
          <a:chExt cx="0" cy="0"/>
        </a:xfrm>
      </p:grpSpPr>
      <p:sp>
        <p:nvSpPr>
          <p:cNvPr id="10" name="Google Shape;10;p43"/>
          <p:cNvSpPr/>
          <p:nvPr/>
        </p:nvSpPr>
        <p:spPr>
          <a:xfrm>
            <a:off x="-815927" y="-815922"/>
            <a:ext cx="1638887" cy="1638887"/>
          </a:xfrm>
          <a:prstGeom prst="pie">
            <a:avLst>
              <a:gd name="adj1" fmla="val 0"/>
              <a:gd name="adj2" fmla="val 5402120"/>
            </a:avLst>
          </a:prstGeom>
          <a:solidFill>
            <a:srgbClr val="FEF9F3">
              <a:alpha val="32941"/>
            </a:srgbClr>
          </a:solidFill>
          <a:ln w="9525" cap="rnd" cmpd="sng">
            <a:solidFill>
              <a:srgbClr val="D1C1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11" name="Google Shape;11;p43"/>
          <p:cNvSpPr/>
          <p:nvPr/>
        </p:nvSpPr>
        <p:spPr>
          <a:xfrm>
            <a:off x="168816" y="21102"/>
            <a:ext cx="1702191" cy="1702191"/>
          </a:xfrm>
          <a:prstGeom prst="ellipse">
            <a:avLst/>
          </a:prstGeom>
          <a:noFill/>
          <a:ln w="27300" cap="rnd" cmpd="sng">
            <a:solidFill>
              <a:srgbClr val="FFF5DB"/>
            </a:solidFill>
            <a:prstDash val="solid"/>
            <a:round/>
            <a:headEnd type="none" w="sm" len="sm"/>
            <a:tailEnd type="none" w="sm" len="sm"/>
          </a:ln>
          <a:effectLst>
            <a:outerShdw blurRad="25400" dist="25400" dir="5400000" algn="tl" rotWithShape="0">
              <a:srgbClr val="ADA48C">
                <a:alpha val="8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12" name="Google Shape;12;p43"/>
          <p:cNvSpPr/>
          <p:nvPr/>
        </p:nvSpPr>
        <p:spPr>
          <a:xfrm rot="2315675">
            <a:off x="182881" y="1055077"/>
            <a:ext cx="1125717" cy="1102624"/>
          </a:xfrm>
          <a:prstGeom prst="donut">
            <a:avLst>
              <a:gd name="adj" fmla="val 11833"/>
            </a:avLst>
          </a:prstGeom>
          <a:gradFill>
            <a:gsLst>
              <a:gs pos="0">
                <a:srgbClr val="FEFBF4">
                  <a:alpha val="69803"/>
                </a:srgbClr>
              </a:gs>
              <a:gs pos="70000">
                <a:srgbClr val="FFFDF8">
                  <a:alpha val="54901"/>
                </a:srgbClr>
              </a:gs>
              <a:gs pos="100000">
                <a:srgbClr val="EDCF8C">
                  <a:alpha val="60000"/>
                </a:srgbClr>
              </a:gs>
            </a:gsLst>
            <a:path path="circle">
              <a:fillToRect/>
            </a:path>
            <a:tileRect/>
          </a:gradFill>
          <a:ln w="9525" cap="rnd" cmpd="sng">
            <a:solidFill>
              <a:srgbClr val="C5B390"/>
            </a:solidFill>
            <a:prstDash val="solid"/>
            <a:round/>
            <a:headEnd type="none" w="sm" len="sm"/>
            <a:tailEnd type="none" w="sm" len="sm"/>
          </a:ln>
          <a:effectLst>
            <a:outerShdw blurRad="12700" dist="15000" dir="4500000" algn="tl" rotWithShape="0">
              <a:srgbClr val="564E4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13" name="Google Shape;13;p43"/>
          <p:cNvSpPr/>
          <p:nvPr/>
        </p:nvSpPr>
        <p:spPr>
          <a:xfrm>
            <a:off x="1012873" y="-54"/>
            <a:ext cx="8131127" cy="685805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14" name="Google Shape;14;p43"/>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562214"/>
              </a:buClr>
              <a:buSzPts val="4300"/>
              <a:buFont typeface="Gill Sans"/>
              <a:buNone/>
              <a:defRPr sz="4300" b="0" i="0" u="none" strike="noStrike" cap="non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43"/>
          <p:cNvSpPr txBox="1">
            <a:spLocks noGrp="1"/>
          </p:cNvSpPr>
          <p:nvPr>
            <p:ph type="body" idx="1"/>
          </p:nvPr>
        </p:nvSpPr>
        <p:spPr>
          <a:xfrm>
            <a:off x="1435608" y="1447800"/>
            <a:ext cx="7498080" cy="4800600"/>
          </a:xfrm>
          <a:prstGeom prst="rect">
            <a:avLst/>
          </a:prstGeom>
          <a:noFill/>
          <a:ln>
            <a:noFill/>
          </a:ln>
        </p:spPr>
        <p:txBody>
          <a:bodyPr spcFirstLastPara="1" wrap="square" lIns="91425" tIns="45700" rIns="91425" bIns="45700" anchor="t" anchorCtr="0">
            <a:normAutofit/>
          </a:bodyPr>
          <a:lstStyle>
            <a:lvl1pPr marL="457200" marR="0" lvl="0" indent="-391160" algn="l" rtl="0">
              <a:lnSpc>
                <a:spcPct val="100000"/>
              </a:lnSpc>
              <a:spcBef>
                <a:spcPts val="600"/>
              </a:spcBef>
              <a:spcAft>
                <a:spcPts val="0"/>
              </a:spcAft>
              <a:buClr>
                <a:schemeClr val="accent1"/>
              </a:buClr>
              <a:buSzPts val="2560"/>
              <a:buFont typeface="Noto Sans Symbols"/>
              <a:buChar char="⚫"/>
              <a:defRPr sz="3200" b="0" i="0" u="none" strike="noStrike" cap="none">
                <a:solidFill>
                  <a:schemeClr val="dk1"/>
                </a:solidFill>
                <a:latin typeface="Gill Sans"/>
                <a:ea typeface="Gill Sans"/>
                <a:cs typeface="Gill Sans"/>
                <a:sym typeface="Gill Sans"/>
              </a:defRPr>
            </a:lvl1pPr>
            <a:lvl2pPr marL="914400" marR="0" lvl="1" indent="-406400" algn="l" rtl="0">
              <a:lnSpc>
                <a:spcPct val="100000"/>
              </a:lnSpc>
              <a:spcBef>
                <a:spcPts val="550"/>
              </a:spcBef>
              <a:spcAft>
                <a:spcPts val="0"/>
              </a:spcAft>
              <a:buClr>
                <a:schemeClr val="accent1"/>
              </a:buClr>
              <a:buSzPts val="2800"/>
              <a:buFont typeface="Verdana"/>
              <a:buChar char="◦"/>
              <a:defRPr sz="2800" b="0" i="0" u="none" strike="noStrike" cap="none">
                <a:solidFill>
                  <a:schemeClr val="dk1"/>
                </a:solidFill>
                <a:latin typeface="Gill Sans"/>
                <a:ea typeface="Gill Sans"/>
                <a:cs typeface="Gill Sans"/>
                <a:sym typeface="Gill Sans"/>
              </a:defRPr>
            </a:lvl2pPr>
            <a:lvl3pPr marL="1371600" marR="0" lvl="2" indent="-381000" algn="l" rtl="0">
              <a:lnSpc>
                <a:spcPct val="100000"/>
              </a:lnSpc>
              <a:spcBef>
                <a:spcPts val="480"/>
              </a:spcBef>
              <a:spcAft>
                <a:spcPts val="0"/>
              </a:spcAft>
              <a:buClr>
                <a:schemeClr val="accent2"/>
              </a:buClr>
              <a:buSzPts val="2400"/>
              <a:buFont typeface="Noto Sans Symbols"/>
              <a:buChar char="●"/>
              <a:defRPr sz="2400" b="0" i="0" u="none" strike="noStrike" cap="none">
                <a:solidFill>
                  <a:schemeClr val="dk1"/>
                </a:solidFill>
                <a:latin typeface="Gill Sans"/>
                <a:ea typeface="Gill Sans"/>
                <a:cs typeface="Gill Sans"/>
                <a:sym typeface="Gill Sans"/>
              </a:defRPr>
            </a:lvl3pPr>
            <a:lvl4pPr marL="1828800" marR="0" lvl="3" indent="-355600" algn="l" rtl="0">
              <a:lnSpc>
                <a:spcPct val="100000"/>
              </a:lnSpc>
              <a:spcBef>
                <a:spcPts val="400"/>
              </a:spcBef>
              <a:spcAft>
                <a:spcPts val="0"/>
              </a:spcAft>
              <a:buClr>
                <a:schemeClr val="accent3"/>
              </a:buClr>
              <a:buSzPts val="2000"/>
              <a:buFont typeface="Noto Sans Symbols"/>
              <a:buChar char="●"/>
              <a:defRPr sz="2000" b="0" i="0" u="none" strike="noStrike" cap="none">
                <a:solidFill>
                  <a:schemeClr val="dk1"/>
                </a:solidFill>
                <a:latin typeface="Gill Sans"/>
                <a:ea typeface="Gill Sans"/>
                <a:cs typeface="Gill Sans"/>
                <a:sym typeface="Gill Sans"/>
              </a:defRPr>
            </a:lvl4pPr>
            <a:lvl5pPr marL="2286000" marR="0" lvl="4" indent="-355600" algn="l" rtl="0">
              <a:lnSpc>
                <a:spcPct val="100000"/>
              </a:lnSpc>
              <a:spcBef>
                <a:spcPts val="400"/>
              </a:spcBef>
              <a:spcAft>
                <a:spcPts val="0"/>
              </a:spcAft>
              <a:buClr>
                <a:schemeClr val="accent4"/>
              </a:buClr>
              <a:buSzPts val="2000"/>
              <a:buFont typeface="Noto Sans Symbols"/>
              <a:buChar char="●"/>
              <a:defRPr sz="2000" b="0" i="0" u="none" strike="noStrike" cap="none">
                <a:solidFill>
                  <a:schemeClr val="dk1"/>
                </a:solidFill>
                <a:latin typeface="Gill Sans"/>
                <a:ea typeface="Gill Sans"/>
                <a:cs typeface="Gill Sans"/>
                <a:sym typeface="Gill Sans"/>
              </a:defRPr>
            </a:lvl5pPr>
            <a:lvl6pPr marL="2743200" marR="0" lvl="5" indent="-355600"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L="3200400" marR="0" lvl="6"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L="3657600" marR="0" lvl="7"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L="4114800" marR="0" lvl="8"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16" name="Google Shape;16;p43"/>
          <p:cNvSpPr txBox="1">
            <a:spLocks noGrp="1"/>
          </p:cNvSpPr>
          <p:nvPr>
            <p:ph type="dt" idx="10"/>
          </p:nvPr>
        </p:nvSpPr>
        <p:spPr>
          <a:xfrm>
            <a:off x="3581400" y="6305550"/>
            <a:ext cx="2133600" cy="476250"/>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200" b="0" i="0" u="none" strike="noStrike" cap="none">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7" name="Google Shape;17;p43"/>
          <p:cNvSpPr txBox="1">
            <a:spLocks noGrp="1"/>
          </p:cNvSpPr>
          <p:nvPr>
            <p:ph type="ftr" idx="11"/>
          </p:nvPr>
        </p:nvSpPr>
        <p:spPr>
          <a:xfrm>
            <a:off x="5715000" y="6305550"/>
            <a:ext cx="2895600" cy="4762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8" name="Google Shape;18;p43"/>
          <p:cNvSpPr txBox="1">
            <a:spLocks noGrp="1"/>
          </p:cNvSpPr>
          <p:nvPr>
            <p:ph type="sldNum" idx="12"/>
          </p:nvPr>
        </p:nvSpPr>
        <p:spPr>
          <a:xfrm>
            <a:off x="8613648" y="6305550"/>
            <a:ext cx="457200" cy="476250"/>
          </a:xfrm>
          <a:prstGeom prst="rect">
            <a:avLst/>
          </a:prstGeom>
          <a:noFill/>
          <a:ln>
            <a:noFill/>
          </a:ln>
        </p:spPr>
        <p:txBody>
          <a:bodyPr spcFirstLastPara="1" wrap="square" lIns="91425" tIns="45700" rIns="91425" bIns="45700" anchor="b" anchorCtr="0">
            <a:noAutofit/>
          </a:bodyPr>
          <a:lstStyle>
            <a:lvl1pPr marL="0" marR="0" lvl="0" indent="0" algn="ctr" rtl="0">
              <a:spcBef>
                <a:spcPts val="0"/>
              </a:spcBef>
              <a:buNone/>
              <a:defRPr sz="1200" b="0" i="0" u="none" strike="noStrike" cap="none">
                <a:solidFill>
                  <a:srgbClr val="B3A787"/>
                </a:solidFill>
                <a:latin typeface="Gill Sans"/>
                <a:ea typeface="Gill Sans"/>
                <a:cs typeface="Gill Sans"/>
                <a:sym typeface="Gill Sans"/>
              </a:defRPr>
            </a:lvl1pPr>
            <a:lvl2pPr marL="0" marR="0" lvl="1" indent="0" algn="ctr" rtl="0">
              <a:spcBef>
                <a:spcPts val="0"/>
              </a:spcBef>
              <a:buNone/>
              <a:defRPr sz="1200" b="0" i="0" u="none" strike="noStrike" cap="none">
                <a:solidFill>
                  <a:srgbClr val="B3A787"/>
                </a:solidFill>
                <a:latin typeface="Gill Sans"/>
                <a:ea typeface="Gill Sans"/>
                <a:cs typeface="Gill Sans"/>
                <a:sym typeface="Gill Sans"/>
              </a:defRPr>
            </a:lvl2pPr>
            <a:lvl3pPr marL="0" marR="0" lvl="2" indent="0" algn="ctr" rtl="0">
              <a:spcBef>
                <a:spcPts val="0"/>
              </a:spcBef>
              <a:buNone/>
              <a:defRPr sz="1200" b="0" i="0" u="none" strike="noStrike" cap="none">
                <a:solidFill>
                  <a:srgbClr val="B3A787"/>
                </a:solidFill>
                <a:latin typeface="Gill Sans"/>
                <a:ea typeface="Gill Sans"/>
                <a:cs typeface="Gill Sans"/>
                <a:sym typeface="Gill Sans"/>
              </a:defRPr>
            </a:lvl3pPr>
            <a:lvl4pPr marL="0" marR="0" lvl="3" indent="0" algn="ctr" rtl="0">
              <a:spcBef>
                <a:spcPts val="0"/>
              </a:spcBef>
              <a:buNone/>
              <a:defRPr sz="1200" b="0" i="0" u="none" strike="noStrike" cap="none">
                <a:solidFill>
                  <a:srgbClr val="B3A787"/>
                </a:solidFill>
                <a:latin typeface="Gill Sans"/>
                <a:ea typeface="Gill Sans"/>
                <a:cs typeface="Gill Sans"/>
                <a:sym typeface="Gill Sans"/>
              </a:defRPr>
            </a:lvl4pPr>
            <a:lvl5pPr marL="0" marR="0" lvl="4" indent="0" algn="ctr" rtl="0">
              <a:spcBef>
                <a:spcPts val="0"/>
              </a:spcBef>
              <a:buNone/>
              <a:defRPr sz="1200" b="0" i="0" u="none" strike="noStrike" cap="none">
                <a:solidFill>
                  <a:srgbClr val="B3A787"/>
                </a:solidFill>
                <a:latin typeface="Gill Sans"/>
                <a:ea typeface="Gill Sans"/>
                <a:cs typeface="Gill Sans"/>
                <a:sym typeface="Gill Sans"/>
              </a:defRPr>
            </a:lvl5pPr>
            <a:lvl6pPr marL="0" marR="0" lvl="5" indent="0" algn="ctr" rtl="0">
              <a:spcBef>
                <a:spcPts val="0"/>
              </a:spcBef>
              <a:buNone/>
              <a:defRPr sz="1200" b="0" i="0" u="none" strike="noStrike" cap="none">
                <a:solidFill>
                  <a:srgbClr val="B3A787"/>
                </a:solidFill>
                <a:latin typeface="Gill Sans"/>
                <a:ea typeface="Gill Sans"/>
                <a:cs typeface="Gill Sans"/>
                <a:sym typeface="Gill Sans"/>
              </a:defRPr>
            </a:lvl6pPr>
            <a:lvl7pPr marL="0" marR="0" lvl="6" indent="0" algn="ctr" rtl="0">
              <a:spcBef>
                <a:spcPts val="0"/>
              </a:spcBef>
              <a:buNone/>
              <a:defRPr sz="1200" b="0" i="0" u="none" strike="noStrike" cap="none">
                <a:solidFill>
                  <a:srgbClr val="B3A787"/>
                </a:solidFill>
                <a:latin typeface="Gill Sans"/>
                <a:ea typeface="Gill Sans"/>
                <a:cs typeface="Gill Sans"/>
                <a:sym typeface="Gill Sans"/>
              </a:defRPr>
            </a:lvl7pPr>
            <a:lvl8pPr marL="0" marR="0" lvl="7" indent="0" algn="ctr" rtl="0">
              <a:spcBef>
                <a:spcPts val="0"/>
              </a:spcBef>
              <a:buNone/>
              <a:defRPr sz="1200" b="0" i="0" u="none" strike="noStrike" cap="none">
                <a:solidFill>
                  <a:srgbClr val="B3A787"/>
                </a:solidFill>
                <a:latin typeface="Gill Sans"/>
                <a:ea typeface="Gill Sans"/>
                <a:cs typeface="Gill Sans"/>
                <a:sym typeface="Gill Sans"/>
              </a:defRPr>
            </a:lvl8pPr>
            <a:lvl9pPr marL="0" marR="0" lvl="8" indent="0" algn="ctr" rtl="0">
              <a:spcBef>
                <a:spcPts val="0"/>
              </a:spcBef>
              <a:buNone/>
              <a:defRPr sz="1200" b="0" i="0" u="none" strike="noStrike" cap="none">
                <a:solidFill>
                  <a:srgbClr val="B3A787"/>
                </a:solidFill>
                <a:latin typeface="Gill Sans"/>
                <a:ea typeface="Gill Sans"/>
                <a:cs typeface="Gill Sans"/>
                <a:sym typeface="Gill Sans"/>
              </a:defRPr>
            </a:lvl9pPr>
          </a:lstStyle>
          <a:p>
            <a:pPr marL="0" lvl="0" indent="0" algn="ctr" rtl="0">
              <a:spcBef>
                <a:spcPts val="0"/>
              </a:spcBef>
              <a:spcAft>
                <a:spcPts val="0"/>
              </a:spcAft>
              <a:buNone/>
            </a:pPr>
            <a:fld id="{00000000-1234-1234-1234-123412341234}" type="slidenum">
              <a:rPr lang="en-IN"/>
              <a:pPr marL="0" lvl="0" indent="0" algn="ctr" rtl="0">
                <a:spcBef>
                  <a:spcPts val="0"/>
                </a:spcBef>
                <a:spcAft>
                  <a:spcPts val="0"/>
                </a:spcAft>
                <a:buNone/>
              </a:pPr>
              <a:t>‹#›</a:t>
            </a:fld>
            <a:endParaRPr/>
          </a:p>
        </p:txBody>
      </p:sp>
      <p:sp>
        <p:nvSpPr>
          <p:cNvPr id="19" name="Google Shape;19;p43"/>
          <p:cNvSpPr/>
          <p:nvPr/>
        </p:nvSpPr>
        <p:spPr>
          <a:xfrm>
            <a:off x="1014984" y="-54"/>
            <a:ext cx="73152" cy="6858054"/>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
          <p:cNvSpPr txBox="1">
            <a:spLocks noGrp="1"/>
          </p:cNvSpPr>
          <p:nvPr>
            <p:ph type="ctrTitle"/>
          </p:nvPr>
        </p:nvSpPr>
        <p:spPr>
          <a:xfrm>
            <a:off x="1432560" y="359898"/>
            <a:ext cx="7406640" cy="1472184"/>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rgbClr val="562214"/>
              </a:buClr>
              <a:buSzPts val="4300"/>
              <a:buFont typeface="Gill Sans"/>
              <a:buNone/>
            </a:pPr>
            <a:r>
              <a:rPr lang="en-IN"/>
              <a:t>PROFESSIONAL ETHICS </a:t>
            </a:r>
            <a:br>
              <a:rPr lang="en-IN"/>
            </a:br>
            <a:r>
              <a:rPr lang="en-IN" sz="3200"/>
              <a:t>(</a:t>
            </a:r>
            <a:r>
              <a:rPr lang="en-IN" sz="2800"/>
              <a:t>HUT 200</a:t>
            </a:r>
            <a:r>
              <a:rPr lang="en-IN" sz="3200"/>
              <a:t>)</a:t>
            </a:r>
            <a:endParaRPr/>
          </a:p>
        </p:txBody>
      </p:sp>
      <p:sp>
        <p:nvSpPr>
          <p:cNvPr id="105" name="Google Shape;105;p1"/>
          <p:cNvSpPr txBox="1">
            <a:spLocks noGrp="1"/>
          </p:cNvSpPr>
          <p:nvPr>
            <p:ph type="subTitle" idx="1"/>
          </p:nvPr>
        </p:nvSpPr>
        <p:spPr>
          <a:xfrm>
            <a:off x="1447800" y="4267200"/>
            <a:ext cx="7406640" cy="1752600"/>
          </a:xfrm>
          <a:prstGeom prst="rect">
            <a:avLst/>
          </a:prstGeom>
          <a:noFill/>
          <a:ln>
            <a:noFill/>
          </a:ln>
        </p:spPr>
        <p:txBody>
          <a:bodyPr spcFirstLastPara="1" wrap="square" lIns="91425" tIns="0" rIns="91425" bIns="45700" anchor="t" anchorCtr="0">
            <a:normAutofit/>
          </a:bodyPr>
          <a:lstStyle/>
          <a:p>
            <a:pPr marL="27432" lvl="0" indent="0" algn="r" rtl="0">
              <a:lnSpc>
                <a:spcPct val="100000"/>
              </a:lnSpc>
              <a:spcBef>
                <a:spcPts val="0"/>
              </a:spcBef>
              <a:spcAft>
                <a:spcPts val="0"/>
              </a:spcAft>
              <a:buSzPts val="2080"/>
              <a:buNone/>
            </a:pPr>
            <a:r>
              <a:rPr lang="en-IN"/>
              <a:t>Module II</a:t>
            </a:r>
            <a:endParaRPr/>
          </a:p>
          <a:p>
            <a:pPr marL="27432" lvl="0" indent="0" algn="r" rtl="0">
              <a:lnSpc>
                <a:spcPct val="100000"/>
              </a:lnSpc>
              <a:spcBef>
                <a:spcPts val="600"/>
              </a:spcBef>
              <a:spcAft>
                <a:spcPts val="0"/>
              </a:spcAft>
              <a:buSzPts val="2080"/>
              <a:buNone/>
            </a:pPr>
            <a:r>
              <a:rPr lang="en-IN"/>
              <a:t>ENGINEERING ETHICS AND</a:t>
            </a:r>
            <a:endParaRPr/>
          </a:p>
          <a:p>
            <a:pPr marL="27432" lvl="0" indent="0" algn="r" rtl="0">
              <a:lnSpc>
                <a:spcPct val="100000"/>
              </a:lnSpc>
              <a:spcBef>
                <a:spcPts val="600"/>
              </a:spcBef>
              <a:spcAft>
                <a:spcPts val="0"/>
              </a:spcAft>
              <a:buSzPts val="2080"/>
              <a:buNone/>
            </a:pPr>
            <a:r>
              <a:rPr lang="en-IN"/>
              <a:t>PROFESSIONALISM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a:t>Syllabus</a:t>
            </a:r>
            <a:endParaRPr/>
          </a:p>
        </p:txBody>
      </p:sp>
      <p:sp>
        <p:nvSpPr>
          <p:cNvPr id="111" name="Google Shape;111;p2"/>
          <p:cNvSpPr txBox="1">
            <a:spLocks noGrp="1"/>
          </p:cNvSpPr>
          <p:nvPr>
            <p:ph type="body" idx="1"/>
          </p:nvPr>
        </p:nvSpPr>
        <p:spPr>
          <a:xfrm>
            <a:off x="1435608" y="1447800"/>
            <a:ext cx="7498080" cy="4800600"/>
          </a:xfrm>
          <a:prstGeom prst="rect">
            <a:avLst/>
          </a:prstGeom>
          <a:noFill/>
          <a:ln>
            <a:noFill/>
          </a:ln>
        </p:spPr>
        <p:txBody>
          <a:bodyPr spcFirstLastPara="1" wrap="square" lIns="91425" tIns="45700" rIns="91425" bIns="45700" anchor="t" anchorCtr="0">
            <a:normAutofit/>
          </a:bodyPr>
          <a:lstStyle/>
          <a:p>
            <a:pPr marL="365760" lvl="0" indent="-283464" algn="just" rtl="0">
              <a:lnSpc>
                <a:spcPct val="100000"/>
              </a:lnSpc>
              <a:spcBef>
                <a:spcPts val="0"/>
              </a:spcBef>
              <a:spcAft>
                <a:spcPts val="0"/>
              </a:spcAft>
              <a:buSzPts val="2560"/>
              <a:buChar char="⚫"/>
            </a:pPr>
            <a:r>
              <a:rPr lang="en-IN"/>
              <a:t>Senses of Engineering Ethics - Variety of moral issues- Types of inquiry- Moral dilemmas –Moral Autonomy – Kohlberg’s theory- Gilligan’s theory-Consensus and Controversy-Profession and Professionalism- Models of professional roles - Theories about right action – Self interest -Customs and Religion- Uses of Ethical Theories.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3"/>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a:t>Introduction</a:t>
            </a:r>
            <a:endParaRPr/>
          </a:p>
        </p:txBody>
      </p:sp>
      <p:sp>
        <p:nvSpPr>
          <p:cNvPr id="117" name="Google Shape;117;p3"/>
          <p:cNvSpPr txBox="1">
            <a:spLocks noGrp="1"/>
          </p:cNvSpPr>
          <p:nvPr>
            <p:ph type="body" idx="1"/>
          </p:nvPr>
        </p:nvSpPr>
        <p:spPr>
          <a:xfrm>
            <a:off x="959026" y="1447800"/>
            <a:ext cx="7974600" cy="4800600"/>
          </a:xfrm>
          <a:prstGeom prst="rect">
            <a:avLst/>
          </a:prstGeom>
          <a:noFill/>
          <a:ln>
            <a:noFill/>
          </a:ln>
        </p:spPr>
        <p:txBody>
          <a:bodyPr spcFirstLastPara="1" wrap="square" lIns="91425" tIns="45700" rIns="91425" bIns="45700" anchor="t" anchorCtr="0">
            <a:normAutofit/>
          </a:bodyPr>
          <a:lstStyle/>
          <a:p>
            <a:pPr marL="365760" lvl="0" indent="-295656" algn="just" rtl="0">
              <a:lnSpc>
                <a:spcPct val="100000"/>
              </a:lnSpc>
              <a:spcBef>
                <a:spcPts val="600"/>
              </a:spcBef>
              <a:spcAft>
                <a:spcPts val="0"/>
              </a:spcAft>
              <a:buSzPts val="2560"/>
              <a:buFont typeface="Times New Roman"/>
              <a:buChar char="⚫"/>
            </a:pPr>
            <a:r>
              <a:rPr lang="en-IN" dirty="0">
                <a:latin typeface="Times New Roman"/>
                <a:ea typeface="Times New Roman"/>
                <a:cs typeface="Times New Roman"/>
                <a:sym typeface="Times New Roman"/>
              </a:rPr>
              <a:t>Professional ethics is a set of ethical standards and values a practicing engineer is required to follow.</a:t>
            </a:r>
            <a:endParaRPr dirty="0">
              <a:latin typeface="Times New Roman"/>
              <a:ea typeface="Times New Roman"/>
              <a:cs typeface="Times New Roman"/>
              <a:sym typeface="Times New Roman"/>
            </a:endParaRPr>
          </a:p>
          <a:p>
            <a:pPr marL="365760" lvl="0" indent="0" algn="just" rtl="0">
              <a:lnSpc>
                <a:spcPct val="100000"/>
              </a:lnSpc>
              <a:spcBef>
                <a:spcPts val="600"/>
              </a:spcBef>
              <a:spcAft>
                <a:spcPts val="0"/>
              </a:spcAft>
              <a:buNone/>
            </a:pPr>
            <a:endParaRPr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4"/>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4000" b="1" dirty="0">
                <a:latin typeface="Times New Roman"/>
                <a:ea typeface="Times New Roman"/>
                <a:cs typeface="Times New Roman"/>
                <a:sym typeface="Times New Roman"/>
              </a:rPr>
              <a:t>Ethics in Engineering</a:t>
            </a:r>
            <a:endParaRPr sz="4000" b="1" dirty="0">
              <a:latin typeface="Times New Roman"/>
              <a:ea typeface="Times New Roman"/>
              <a:cs typeface="Times New Roman"/>
              <a:sym typeface="Times New Roman"/>
            </a:endParaRPr>
          </a:p>
        </p:txBody>
      </p:sp>
      <p:sp>
        <p:nvSpPr>
          <p:cNvPr id="123" name="Google Shape;123;p4"/>
          <p:cNvSpPr txBox="1">
            <a:spLocks noGrp="1"/>
          </p:cNvSpPr>
          <p:nvPr>
            <p:ph type="body" idx="1"/>
          </p:nvPr>
        </p:nvSpPr>
        <p:spPr>
          <a:xfrm>
            <a:off x="989175" y="1447800"/>
            <a:ext cx="8084700" cy="4800600"/>
          </a:xfrm>
          <a:prstGeom prst="rect">
            <a:avLst/>
          </a:prstGeom>
          <a:noFill/>
          <a:ln>
            <a:noFill/>
          </a:ln>
        </p:spPr>
        <p:txBody>
          <a:bodyPr spcFirstLastPara="1" wrap="square" lIns="91425" tIns="45700" rIns="91425" bIns="45700" anchor="t" anchorCtr="0">
            <a:normAutofit/>
          </a:bodyPr>
          <a:lstStyle/>
          <a:p>
            <a:pPr marL="365760" lvl="0" indent="-286003" algn="just" rtl="0">
              <a:lnSpc>
                <a:spcPct val="100000"/>
              </a:lnSpc>
              <a:spcBef>
                <a:spcPts val="0"/>
              </a:spcBef>
              <a:spcAft>
                <a:spcPts val="0"/>
              </a:spcAft>
              <a:buSzPts val="2600"/>
              <a:buFont typeface="Times New Roman"/>
              <a:buChar char="⚫"/>
            </a:pPr>
            <a:r>
              <a:rPr lang="en-IN" sz="2600" dirty="0">
                <a:latin typeface="Times New Roman"/>
                <a:ea typeface="Times New Roman"/>
                <a:cs typeface="Times New Roman"/>
                <a:sym typeface="Times New Roman"/>
              </a:rPr>
              <a:t>Ethics in engineering is the ability as well as the responsibility of an engineer to judge the decisions from the context of the general well being of the society.</a:t>
            </a:r>
            <a:endParaRPr sz="2600" dirty="0">
              <a:latin typeface="Times New Roman"/>
              <a:ea typeface="Times New Roman"/>
              <a:cs typeface="Times New Roman"/>
              <a:sym typeface="Times New Roman"/>
            </a:endParaRPr>
          </a:p>
          <a:p>
            <a:pPr marL="365760" lvl="0" indent="0" algn="just" rtl="0">
              <a:lnSpc>
                <a:spcPct val="100000"/>
              </a:lnSpc>
              <a:spcBef>
                <a:spcPts val="0"/>
              </a:spcBef>
              <a:spcAft>
                <a:spcPts val="0"/>
              </a:spcAft>
              <a:buNone/>
            </a:pPr>
            <a:endParaRPr sz="2600" dirty="0">
              <a:latin typeface="Times New Roman"/>
              <a:ea typeface="Times New Roman"/>
              <a:cs typeface="Times New Roman"/>
              <a:sym typeface="Times New Roman"/>
            </a:endParaRPr>
          </a:p>
          <a:p>
            <a:pPr marL="365760" lvl="0" indent="-286003" algn="just" rtl="0">
              <a:lnSpc>
                <a:spcPct val="100000"/>
              </a:lnSpc>
              <a:spcBef>
                <a:spcPts val="600"/>
              </a:spcBef>
              <a:spcAft>
                <a:spcPts val="0"/>
              </a:spcAft>
              <a:buSzPts val="2600"/>
              <a:buFont typeface="Times New Roman"/>
              <a:buChar char="⚫"/>
            </a:pPr>
            <a:r>
              <a:rPr lang="en-IN" sz="2600" dirty="0">
                <a:latin typeface="Times New Roman"/>
                <a:ea typeface="Times New Roman"/>
                <a:cs typeface="Times New Roman"/>
                <a:sym typeface="Times New Roman"/>
              </a:rPr>
              <a:t>Professional engineering bodies and other organizations have evolved comprehensive ethics codes relevant to their respective professions.</a:t>
            </a:r>
            <a:endParaRPr sz="2600" dirty="0">
              <a:latin typeface="Times New Roman"/>
              <a:ea typeface="Times New Roman"/>
              <a:cs typeface="Times New Roman"/>
              <a:sym typeface="Times New Roman"/>
            </a:endParaRPr>
          </a:p>
          <a:p>
            <a:pPr marL="365760" lvl="0" indent="-120903" algn="just" rtl="0">
              <a:lnSpc>
                <a:spcPct val="100000"/>
              </a:lnSpc>
              <a:spcBef>
                <a:spcPts val="600"/>
              </a:spcBef>
              <a:spcAft>
                <a:spcPts val="0"/>
              </a:spcAft>
              <a:buSzPts val="2560"/>
              <a:buNone/>
            </a:pPr>
            <a:endParaRPr sz="2600" dirty="0">
              <a:latin typeface="Times New Roman"/>
              <a:ea typeface="Times New Roman"/>
              <a:cs typeface="Times New Roman"/>
              <a:sym typeface="Times New Roman"/>
            </a:endParaRPr>
          </a:p>
          <a:p>
            <a:pPr marL="365760" lvl="0" indent="-120903" algn="just" rtl="0">
              <a:lnSpc>
                <a:spcPct val="100000"/>
              </a:lnSpc>
              <a:spcBef>
                <a:spcPts val="600"/>
              </a:spcBef>
              <a:spcAft>
                <a:spcPts val="0"/>
              </a:spcAft>
              <a:buSzPts val="2560"/>
              <a:buNone/>
            </a:pPr>
            <a:endParaRPr sz="2600" dirty="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5"/>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3200" b="1">
                <a:latin typeface="Times New Roman"/>
                <a:ea typeface="Times New Roman"/>
                <a:cs typeface="Times New Roman"/>
                <a:sym typeface="Times New Roman"/>
              </a:rPr>
              <a:t>Factors Influencing Ethical Standards in Engineering</a:t>
            </a:r>
            <a:endParaRPr sz="3200" b="1">
              <a:latin typeface="Times New Roman"/>
              <a:ea typeface="Times New Roman"/>
              <a:cs typeface="Times New Roman"/>
              <a:sym typeface="Times New Roman"/>
            </a:endParaRPr>
          </a:p>
        </p:txBody>
      </p:sp>
      <p:sp>
        <p:nvSpPr>
          <p:cNvPr id="129" name="Google Shape;129;p5"/>
          <p:cNvSpPr txBox="1">
            <a:spLocks noGrp="1"/>
          </p:cNvSpPr>
          <p:nvPr>
            <p:ph type="body" idx="1"/>
          </p:nvPr>
        </p:nvSpPr>
        <p:spPr>
          <a:xfrm>
            <a:off x="936050" y="1447800"/>
            <a:ext cx="8157600" cy="5257800"/>
          </a:xfrm>
          <a:prstGeom prst="rect">
            <a:avLst/>
          </a:prstGeom>
          <a:noFill/>
          <a:ln>
            <a:noFill/>
          </a:ln>
        </p:spPr>
        <p:txBody>
          <a:bodyPr spcFirstLastPara="1" wrap="square" lIns="91425" tIns="45700" rIns="91425" bIns="45700" anchor="t" anchorCtr="0">
            <a:normAutofit lnSpcReduction="10000"/>
          </a:bodyPr>
          <a:lstStyle/>
          <a:p>
            <a:pPr marL="365760" lvl="0" indent="-285496" algn="just" rtl="0">
              <a:lnSpc>
                <a:spcPct val="100000"/>
              </a:lnSpc>
              <a:spcBef>
                <a:spcPts val="0"/>
              </a:spcBef>
              <a:spcAft>
                <a:spcPts val="0"/>
              </a:spcAft>
              <a:buSzPts val="2400"/>
              <a:buFont typeface="Times New Roman"/>
              <a:buChar char="⚫"/>
            </a:pPr>
            <a:r>
              <a:rPr lang="en-IN" sz="2400">
                <a:latin typeface="Times New Roman"/>
                <a:ea typeface="Times New Roman"/>
                <a:cs typeface="Times New Roman"/>
                <a:sym typeface="Times New Roman"/>
              </a:rPr>
              <a:t>Engineering as an experimentation for the good of mankind is a notable factor involving far reaching consequence, </a:t>
            </a:r>
            <a:endParaRPr sz="2400">
              <a:latin typeface="Times New Roman"/>
              <a:ea typeface="Times New Roman"/>
              <a:cs typeface="Times New Roman"/>
              <a:sym typeface="Times New Roman"/>
            </a:endParaRPr>
          </a:p>
          <a:p>
            <a:pPr marL="365760" lvl="0" indent="0" algn="just" rtl="0">
              <a:lnSpc>
                <a:spcPct val="100000"/>
              </a:lnSpc>
              <a:spcBef>
                <a:spcPts val="0"/>
              </a:spcBef>
              <a:spcAft>
                <a:spcPts val="0"/>
              </a:spcAft>
              <a:buNone/>
            </a:pPr>
            <a:endParaRPr sz="2400">
              <a:latin typeface="Times New Roman"/>
              <a:ea typeface="Times New Roman"/>
              <a:cs typeface="Times New Roman"/>
              <a:sym typeface="Times New Roman"/>
            </a:endParaRPr>
          </a:p>
          <a:p>
            <a:pPr marL="365760" lvl="0" indent="-285496"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Ethical dilemmas make engineering decisions relatively difficult to make. </a:t>
            </a:r>
            <a:endParaRPr sz="2400">
              <a:latin typeface="Times New Roman"/>
              <a:ea typeface="Times New Roman"/>
              <a:cs typeface="Times New Roman"/>
              <a:sym typeface="Times New Roman"/>
            </a:endParaRPr>
          </a:p>
          <a:p>
            <a:pPr marL="365760" lvl="0" indent="0" algn="just" rtl="0">
              <a:lnSpc>
                <a:spcPct val="100000"/>
              </a:lnSpc>
              <a:spcBef>
                <a:spcPts val="600"/>
              </a:spcBef>
              <a:spcAft>
                <a:spcPts val="0"/>
              </a:spcAft>
              <a:buNone/>
            </a:pPr>
            <a:endParaRPr sz="2400">
              <a:latin typeface="Times New Roman"/>
              <a:ea typeface="Times New Roman"/>
              <a:cs typeface="Times New Roman"/>
              <a:sym typeface="Times New Roman"/>
            </a:endParaRPr>
          </a:p>
          <a:p>
            <a:pPr marL="365760" lvl="0" indent="-285496"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Risk and safety of citizens as a social responsibility is a prime concern of an engineer, </a:t>
            </a:r>
            <a:endParaRPr sz="2400">
              <a:latin typeface="Times New Roman"/>
              <a:ea typeface="Times New Roman"/>
              <a:cs typeface="Times New Roman"/>
              <a:sym typeface="Times New Roman"/>
            </a:endParaRPr>
          </a:p>
          <a:p>
            <a:pPr marL="365760" lvl="0" indent="0" algn="just" rtl="0">
              <a:lnSpc>
                <a:spcPct val="100000"/>
              </a:lnSpc>
              <a:spcBef>
                <a:spcPts val="600"/>
              </a:spcBef>
              <a:spcAft>
                <a:spcPts val="0"/>
              </a:spcAft>
              <a:buNone/>
            </a:pPr>
            <a:endParaRPr sz="2400">
              <a:latin typeface="Times New Roman"/>
              <a:ea typeface="Times New Roman"/>
              <a:cs typeface="Times New Roman"/>
              <a:sym typeface="Times New Roman"/>
            </a:endParaRPr>
          </a:p>
          <a:p>
            <a:pPr marL="365760" lvl="0" indent="-285496"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Technological advancement can be very demanding on the engineering skill in the global context, </a:t>
            </a:r>
            <a:endParaRPr sz="2400">
              <a:latin typeface="Times New Roman"/>
              <a:ea typeface="Times New Roman"/>
              <a:cs typeface="Times New Roman"/>
              <a:sym typeface="Times New Roman"/>
            </a:endParaRPr>
          </a:p>
          <a:p>
            <a:pPr marL="365760" lvl="0" indent="0" algn="just" rtl="0">
              <a:lnSpc>
                <a:spcPct val="100000"/>
              </a:lnSpc>
              <a:spcBef>
                <a:spcPts val="600"/>
              </a:spcBef>
              <a:spcAft>
                <a:spcPts val="0"/>
              </a:spcAft>
              <a:buNone/>
            </a:pPr>
            <a:endParaRPr sz="2400">
              <a:latin typeface="Times New Roman"/>
              <a:ea typeface="Times New Roman"/>
              <a:cs typeface="Times New Roman"/>
              <a:sym typeface="Times New Roman"/>
            </a:endParaRPr>
          </a:p>
          <a:p>
            <a:pPr marL="365760" lvl="0" indent="-285496"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Moral values and responsible conduct will play a crucial role in decision making.</a:t>
            </a:r>
            <a:endParaRPr sz="24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6"/>
          <p:cNvSpPr txBox="1">
            <a:spLocks noGrp="1"/>
          </p:cNvSpPr>
          <p:nvPr>
            <p:ph type="title"/>
          </p:nvPr>
        </p:nvSpPr>
        <p:spPr>
          <a:xfrm>
            <a:off x="1412375" y="54172"/>
            <a:ext cx="7498200" cy="843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4000" b="1">
                <a:latin typeface="Times New Roman"/>
                <a:ea typeface="Times New Roman"/>
                <a:cs typeface="Times New Roman"/>
                <a:sym typeface="Times New Roman"/>
              </a:rPr>
              <a:t>Senses of Engineering Ethics</a:t>
            </a:r>
            <a:endParaRPr sz="4000" b="1">
              <a:latin typeface="Times New Roman"/>
              <a:ea typeface="Times New Roman"/>
              <a:cs typeface="Times New Roman"/>
              <a:sym typeface="Times New Roman"/>
            </a:endParaRPr>
          </a:p>
        </p:txBody>
      </p:sp>
      <p:sp>
        <p:nvSpPr>
          <p:cNvPr id="135" name="Google Shape;135;p6"/>
          <p:cNvSpPr txBox="1">
            <a:spLocks noGrp="1"/>
          </p:cNvSpPr>
          <p:nvPr>
            <p:ph type="body" idx="1"/>
          </p:nvPr>
        </p:nvSpPr>
        <p:spPr>
          <a:xfrm>
            <a:off x="1005675" y="990225"/>
            <a:ext cx="8138400" cy="5867700"/>
          </a:xfrm>
          <a:prstGeom prst="rect">
            <a:avLst/>
          </a:prstGeom>
          <a:noFill/>
          <a:ln>
            <a:noFill/>
          </a:ln>
        </p:spPr>
        <p:txBody>
          <a:bodyPr spcFirstLastPara="1" wrap="square" lIns="91425" tIns="45700" rIns="91425" bIns="45700" anchor="t" anchorCtr="0">
            <a:normAutofit lnSpcReduction="10000"/>
          </a:bodyPr>
          <a:lstStyle/>
          <a:p>
            <a:pPr marL="365760" lvl="0" indent="-297687" algn="just" rtl="0">
              <a:lnSpc>
                <a:spcPct val="100000"/>
              </a:lnSpc>
              <a:spcBef>
                <a:spcPts val="0"/>
              </a:spcBef>
              <a:spcAft>
                <a:spcPts val="0"/>
              </a:spcAft>
              <a:buSzPts val="2400"/>
              <a:buFont typeface="Times New Roman"/>
              <a:buChar char="⚫"/>
            </a:pPr>
            <a:r>
              <a:rPr lang="en-IN" sz="2400">
                <a:latin typeface="Times New Roman"/>
                <a:ea typeface="Times New Roman"/>
                <a:cs typeface="Times New Roman"/>
                <a:sym typeface="Times New Roman"/>
              </a:rPr>
              <a:t>There are two different senses (meanings) of engineering ethics, namely the Normative and the Descriptive senses.</a:t>
            </a:r>
            <a:endParaRPr sz="2400">
              <a:latin typeface="Times New Roman"/>
              <a:ea typeface="Times New Roman"/>
              <a:cs typeface="Times New Roman"/>
              <a:sym typeface="Times New Roman"/>
            </a:endParaRPr>
          </a:p>
          <a:p>
            <a:pPr marL="365760" lvl="0" indent="0" algn="just" rtl="0">
              <a:lnSpc>
                <a:spcPct val="100000"/>
              </a:lnSpc>
              <a:spcBef>
                <a:spcPts val="0"/>
              </a:spcBef>
              <a:spcAft>
                <a:spcPts val="0"/>
              </a:spcAft>
              <a:buNone/>
            </a:pPr>
            <a:endParaRPr sz="2400">
              <a:latin typeface="Times New Roman"/>
              <a:ea typeface="Times New Roman"/>
              <a:cs typeface="Times New Roman"/>
              <a:sym typeface="Times New Roman"/>
            </a:endParaRPr>
          </a:p>
          <a:p>
            <a:pPr marL="365760" lvl="0" indent="-297687"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Normative</a:t>
            </a:r>
            <a:endParaRPr sz="2400">
              <a:latin typeface="Times New Roman"/>
              <a:ea typeface="Times New Roman"/>
              <a:cs typeface="Times New Roman"/>
              <a:sym typeface="Times New Roman"/>
            </a:endParaRPr>
          </a:p>
          <a:p>
            <a:pPr marL="640080" lvl="1" indent="-239014" algn="just" rtl="0">
              <a:lnSpc>
                <a:spcPct val="100000"/>
              </a:lnSpc>
              <a:spcBef>
                <a:spcPts val="550"/>
              </a:spcBef>
              <a:spcAft>
                <a:spcPts val="0"/>
              </a:spcAft>
              <a:buSzPts val="2400"/>
              <a:buFont typeface="Times New Roman"/>
              <a:buChar char="◦"/>
            </a:pPr>
            <a:r>
              <a:rPr lang="en-IN" sz="2400">
                <a:latin typeface="Times New Roman"/>
                <a:ea typeface="Times New Roman"/>
                <a:cs typeface="Times New Roman"/>
                <a:sym typeface="Times New Roman"/>
              </a:rPr>
              <a:t>Knowing moral values, finding accurate solutions to moral problems and justifying moral judgments in engineering practices,</a:t>
            </a:r>
            <a:endParaRPr sz="2400">
              <a:latin typeface="Times New Roman"/>
              <a:ea typeface="Times New Roman"/>
              <a:cs typeface="Times New Roman"/>
              <a:sym typeface="Times New Roman"/>
            </a:endParaRPr>
          </a:p>
          <a:p>
            <a:pPr marL="640080" lvl="1" indent="-239014" algn="just" rtl="0">
              <a:lnSpc>
                <a:spcPct val="100000"/>
              </a:lnSpc>
              <a:spcBef>
                <a:spcPts val="550"/>
              </a:spcBef>
              <a:spcAft>
                <a:spcPts val="0"/>
              </a:spcAft>
              <a:buSzPts val="2400"/>
              <a:buFont typeface="Times New Roman"/>
              <a:buChar char="◦"/>
            </a:pPr>
            <a:r>
              <a:rPr lang="en-IN" sz="2400">
                <a:latin typeface="Times New Roman"/>
                <a:ea typeface="Times New Roman"/>
                <a:cs typeface="Times New Roman"/>
                <a:sym typeface="Times New Roman"/>
              </a:rPr>
              <a:t>Study of decisions, policies, and values that are morally desirable in the engineering practice and research, and</a:t>
            </a:r>
            <a:endParaRPr sz="2400">
              <a:latin typeface="Times New Roman"/>
              <a:ea typeface="Times New Roman"/>
              <a:cs typeface="Times New Roman"/>
              <a:sym typeface="Times New Roman"/>
            </a:endParaRPr>
          </a:p>
          <a:p>
            <a:pPr marL="640080" lvl="1" indent="-239014" algn="just" rtl="0">
              <a:lnSpc>
                <a:spcPct val="100000"/>
              </a:lnSpc>
              <a:spcBef>
                <a:spcPts val="550"/>
              </a:spcBef>
              <a:spcAft>
                <a:spcPts val="0"/>
              </a:spcAft>
              <a:buSzPts val="2400"/>
              <a:buFont typeface="Times New Roman"/>
              <a:buChar char="◦"/>
            </a:pPr>
            <a:r>
              <a:rPr lang="en-IN" sz="2400">
                <a:latin typeface="Times New Roman"/>
                <a:ea typeface="Times New Roman"/>
                <a:cs typeface="Times New Roman"/>
                <a:sym typeface="Times New Roman"/>
              </a:rPr>
              <a:t>Using codes of ethics and standards and applying them in their transactions by engineers. </a:t>
            </a:r>
            <a:endParaRPr sz="2400">
              <a:latin typeface="Times New Roman"/>
              <a:ea typeface="Times New Roman"/>
              <a:cs typeface="Times New Roman"/>
              <a:sym typeface="Times New Roman"/>
            </a:endParaRPr>
          </a:p>
          <a:p>
            <a:pPr marL="640080" lvl="0" indent="0" algn="just" rtl="0">
              <a:lnSpc>
                <a:spcPct val="100000"/>
              </a:lnSpc>
              <a:spcBef>
                <a:spcPts val="550"/>
              </a:spcBef>
              <a:spcAft>
                <a:spcPts val="0"/>
              </a:spcAft>
              <a:buNone/>
            </a:pPr>
            <a:endParaRPr sz="2400">
              <a:latin typeface="Times New Roman"/>
              <a:ea typeface="Times New Roman"/>
              <a:cs typeface="Times New Roman"/>
              <a:sym typeface="Times New Roman"/>
            </a:endParaRPr>
          </a:p>
          <a:p>
            <a:pPr marL="365760" lvl="0" indent="-297687"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The descriptive sense refers to what specific individual or group of engineers believe an act, without justifying their beliefs or actions.</a:t>
            </a:r>
            <a:endParaRPr sz="24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7"/>
          <p:cNvSpPr txBox="1">
            <a:spLocks noGrp="1"/>
          </p:cNvSpPr>
          <p:nvPr>
            <p:ph type="title"/>
          </p:nvPr>
        </p:nvSpPr>
        <p:spPr>
          <a:xfrm>
            <a:off x="1307950" y="-2"/>
            <a:ext cx="7498200" cy="920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4000" b="1">
                <a:latin typeface="Times New Roman"/>
                <a:ea typeface="Times New Roman"/>
                <a:cs typeface="Times New Roman"/>
                <a:sym typeface="Times New Roman"/>
              </a:rPr>
              <a:t>Variety of Moral Issues</a:t>
            </a:r>
            <a:endParaRPr sz="4000" b="1">
              <a:latin typeface="Times New Roman"/>
              <a:ea typeface="Times New Roman"/>
              <a:cs typeface="Times New Roman"/>
              <a:sym typeface="Times New Roman"/>
            </a:endParaRPr>
          </a:p>
        </p:txBody>
      </p:sp>
      <p:sp>
        <p:nvSpPr>
          <p:cNvPr id="141" name="Google Shape;141;p7"/>
          <p:cNvSpPr txBox="1">
            <a:spLocks noGrp="1"/>
          </p:cNvSpPr>
          <p:nvPr>
            <p:ph type="body" idx="1"/>
          </p:nvPr>
        </p:nvSpPr>
        <p:spPr>
          <a:xfrm>
            <a:off x="982475" y="1036625"/>
            <a:ext cx="8161500" cy="5821500"/>
          </a:xfrm>
          <a:prstGeom prst="rect">
            <a:avLst/>
          </a:prstGeom>
          <a:noFill/>
          <a:ln>
            <a:noFill/>
          </a:ln>
        </p:spPr>
        <p:txBody>
          <a:bodyPr spcFirstLastPara="1" wrap="square" lIns="91425" tIns="45700" rIns="91425" bIns="45700" anchor="t" anchorCtr="0">
            <a:normAutofit/>
          </a:bodyPr>
          <a:lstStyle/>
          <a:p>
            <a:pPr marL="365760" lvl="0" indent="-285496" algn="just" rtl="0">
              <a:lnSpc>
                <a:spcPct val="100000"/>
              </a:lnSpc>
              <a:spcBef>
                <a:spcPts val="0"/>
              </a:spcBef>
              <a:spcAft>
                <a:spcPts val="0"/>
              </a:spcAft>
              <a:buSzPts val="2400"/>
              <a:buFont typeface="Times New Roman"/>
              <a:buChar char="⚫"/>
            </a:pPr>
            <a:r>
              <a:rPr lang="en-IN" sz="2400" dirty="0">
                <a:latin typeface="Times New Roman"/>
                <a:ea typeface="Times New Roman"/>
                <a:cs typeface="Times New Roman"/>
                <a:sym typeface="Times New Roman"/>
              </a:rPr>
              <a:t>According to the Oxford dictionary, morality means principles concerning right and wrong or good and bad </a:t>
            </a:r>
            <a:r>
              <a:rPr lang="en-IN" sz="2400" dirty="0" smtClean="0">
                <a:latin typeface="Times New Roman"/>
                <a:ea typeface="Times New Roman"/>
                <a:cs typeface="Times New Roman"/>
                <a:sym typeface="Times New Roman"/>
              </a:rPr>
              <a:t>behaviour. </a:t>
            </a:r>
            <a:endParaRPr sz="2400" dirty="0">
              <a:latin typeface="Times New Roman"/>
              <a:ea typeface="Times New Roman"/>
              <a:cs typeface="Times New Roman"/>
              <a:sym typeface="Times New Roman"/>
            </a:endParaRPr>
          </a:p>
          <a:p>
            <a:pPr marL="365760" lvl="0" indent="0" algn="just" rtl="0">
              <a:lnSpc>
                <a:spcPct val="100000"/>
              </a:lnSpc>
              <a:spcBef>
                <a:spcPts val="0"/>
              </a:spcBef>
              <a:spcAft>
                <a:spcPts val="0"/>
              </a:spcAft>
              <a:buNone/>
            </a:pPr>
            <a:endParaRPr sz="2400" dirty="0">
              <a:latin typeface="Times New Roman"/>
              <a:ea typeface="Times New Roman"/>
              <a:cs typeface="Times New Roman"/>
              <a:sym typeface="Times New Roman"/>
            </a:endParaRPr>
          </a:p>
          <a:p>
            <a:pPr marL="365760" lvl="0" indent="-285496" algn="just" rtl="0">
              <a:lnSpc>
                <a:spcPct val="100000"/>
              </a:lnSpc>
              <a:spcBef>
                <a:spcPts val="600"/>
              </a:spcBef>
              <a:spcAft>
                <a:spcPts val="0"/>
              </a:spcAft>
              <a:buSzPts val="2400"/>
              <a:buFont typeface="Times New Roman"/>
              <a:buChar char="⚫"/>
            </a:pPr>
            <a:r>
              <a:rPr lang="en-IN" sz="2400" dirty="0">
                <a:latin typeface="Times New Roman"/>
                <a:ea typeface="Times New Roman"/>
                <a:cs typeface="Times New Roman"/>
                <a:sym typeface="Times New Roman"/>
              </a:rPr>
              <a:t>The word morality is concerned with:</a:t>
            </a:r>
            <a:endParaRPr sz="2400" dirty="0">
              <a:latin typeface="Times New Roman"/>
              <a:ea typeface="Times New Roman"/>
              <a:cs typeface="Times New Roman"/>
              <a:sym typeface="Times New Roman"/>
            </a:endParaRPr>
          </a:p>
          <a:p>
            <a:pPr marL="640080" lvl="1" indent="-225679" algn="just" rtl="0">
              <a:lnSpc>
                <a:spcPct val="100000"/>
              </a:lnSpc>
              <a:spcBef>
                <a:spcPts val="550"/>
              </a:spcBef>
              <a:spcAft>
                <a:spcPts val="0"/>
              </a:spcAft>
              <a:buSzPts val="2400"/>
              <a:buFont typeface="Times New Roman"/>
              <a:buChar char="◦"/>
            </a:pPr>
            <a:r>
              <a:rPr lang="en-IN" sz="2400" dirty="0">
                <a:latin typeface="Times New Roman"/>
                <a:ea typeface="Times New Roman"/>
                <a:cs typeface="Times New Roman"/>
                <a:sym typeface="Times New Roman"/>
              </a:rPr>
              <a:t>What morally ought or ought not to be given in a situation</a:t>
            </a:r>
            <a:endParaRPr sz="2400" dirty="0">
              <a:latin typeface="Times New Roman"/>
              <a:ea typeface="Times New Roman"/>
              <a:cs typeface="Times New Roman"/>
              <a:sym typeface="Times New Roman"/>
            </a:endParaRPr>
          </a:p>
          <a:p>
            <a:pPr marL="640080" lvl="1" indent="-225679" algn="just" rtl="0">
              <a:lnSpc>
                <a:spcPct val="100000"/>
              </a:lnSpc>
              <a:spcBef>
                <a:spcPts val="550"/>
              </a:spcBef>
              <a:spcAft>
                <a:spcPts val="0"/>
              </a:spcAft>
              <a:buSzPts val="2400"/>
              <a:buFont typeface="Times New Roman"/>
              <a:buChar char="◦"/>
            </a:pPr>
            <a:r>
              <a:rPr lang="en-IN" sz="2400" dirty="0">
                <a:latin typeface="Times New Roman"/>
                <a:ea typeface="Times New Roman"/>
                <a:cs typeface="Times New Roman"/>
                <a:sym typeface="Times New Roman"/>
              </a:rPr>
              <a:t>What is morally right or wrong in handling a situation</a:t>
            </a:r>
            <a:endParaRPr sz="2400" dirty="0">
              <a:latin typeface="Times New Roman"/>
              <a:ea typeface="Times New Roman"/>
              <a:cs typeface="Times New Roman"/>
              <a:sym typeface="Times New Roman"/>
            </a:endParaRPr>
          </a:p>
          <a:p>
            <a:pPr marL="640080" lvl="1" indent="-225679" algn="just" rtl="0">
              <a:lnSpc>
                <a:spcPct val="100000"/>
              </a:lnSpc>
              <a:spcBef>
                <a:spcPts val="550"/>
              </a:spcBef>
              <a:spcAft>
                <a:spcPts val="0"/>
              </a:spcAft>
              <a:buSzPts val="2400"/>
              <a:buFont typeface="Times New Roman"/>
              <a:buChar char="◦"/>
            </a:pPr>
            <a:r>
              <a:rPr lang="en-IN" sz="2400" dirty="0">
                <a:latin typeface="Times New Roman"/>
                <a:ea typeface="Times New Roman"/>
                <a:cs typeface="Times New Roman"/>
                <a:sym typeface="Times New Roman"/>
              </a:rPr>
              <a:t>What is morally good or bad about the people, policies, and ideals involved in it?</a:t>
            </a:r>
            <a:endParaRPr sz="2400" dirty="0">
              <a:latin typeface="Times New Roman"/>
              <a:ea typeface="Times New Roman"/>
              <a:cs typeface="Times New Roman"/>
              <a:sym typeface="Times New Roman"/>
            </a:endParaRPr>
          </a:p>
          <a:p>
            <a:pPr marL="80264" lvl="0" indent="0" algn="just" rtl="0">
              <a:lnSpc>
                <a:spcPct val="100000"/>
              </a:lnSpc>
              <a:spcBef>
                <a:spcPts val="600"/>
              </a:spcBef>
              <a:spcAft>
                <a:spcPts val="0"/>
              </a:spcAft>
              <a:buSzPts val="2400"/>
              <a:buNone/>
            </a:pPr>
            <a:endParaRPr sz="2400" dirty="0">
              <a:latin typeface="Times New Roman"/>
              <a:ea typeface="Times New Roman"/>
              <a:cs typeface="Times New Roman"/>
              <a:sym typeface="Times New Roman"/>
            </a:endParaRPr>
          </a:p>
          <a:p>
            <a:pPr marL="365760" lvl="0" indent="-133096" algn="just" rtl="0">
              <a:lnSpc>
                <a:spcPct val="100000"/>
              </a:lnSpc>
              <a:spcBef>
                <a:spcPts val="600"/>
              </a:spcBef>
              <a:spcAft>
                <a:spcPts val="0"/>
              </a:spcAft>
              <a:buSzPts val="2560"/>
              <a:buNone/>
            </a:pPr>
            <a:endParaRPr sz="2400" dirty="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3000" b="1">
                <a:latin typeface="Times New Roman"/>
                <a:ea typeface="Times New Roman"/>
                <a:cs typeface="Times New Roman"/>
                <a:sym typeface="Times New Roman"/>
              </a:rPr>
              <a:t>Continued…</a:t>
            </a:r>
            <a:endParaRPr sz="3000" b="1">
              <a:latin typeface="Times New Roman"/>
              <a:ea typeface="Times New Roman"/>
              <a:cs typeface="Times New Roman"/>
              <a:sym typeface="Times New Roman"/>
            </a:endParaRPr>
          </a:p>
        </p:txBody>
      </p:sp>
      <p:sp>
        <p:nvSpPr>
          <p:cNvPr id="147" name="Google Shape;147;p8"/>
          <p:cNvSpPr txBox="1">
            <a:spLocks noGrp="1"/>
          </p:cNvSpPr>
          <p:nvPr>
            <p:ph type="body" idx="1"/>
          </p:nvPr>
        </p:nvSpPr>
        <p:spPr>
          <a:xfrm>
            <a:off x="1075300" y="1447800"/>
            <a:ext cx="7858500" cy="5344500"/>
          </a:xfrm>
          <a:prstGeom prst="rect">
            <a:avLst/>
          </a:prstGeom>
          <a:noFill/>
          <a:ln>
            <a:noFill/>
          </a:ln>
        </p:spPr>
        <p:txBody>
          <a:bodyPr spcFirstLastPara="1" wrap="square" lIns="91425" tIns="45700" rIns="91425" bIns="45700" anchor="t" anchorCtr="0">
            <a:normAutofit/>
          </a:bodyPr>
          <a:lstStyle/>
          <a:p>
            <a:pPr marL="596646" lvl="0" indent="-516889" algn="l" rtl="0">
              <a:lnSpc>
                <a:spcPct val="100000"/>
              </a:lnSpc>
              <a:spcBef>
                <a:spcPts val="0"/>
              </a:spcBef>
              <a:spcAft>
                <a:spcPts val="0"/>
              </a:spcAft>
              <a:buSzPts val="2600"/>
              <a:buFont typeface="Times New Roman"/>
              <a:buAutoNum type="arabicPeriod"/>
            </a:pPr>
            <a:r>
              <a:rPr lang="en-IN" sz="2600">
                <a:latin typeface="Times New Roman"/>
                <a:ea typeface="Times New Roman"/>
                <a:cs typeface="Times New Roman"/>
                <a:sym typeface="Times New Roman"/>
              </a:rPr>
              <a:t>Organization oriented issues.</a:t>
            </a:r>
            <a:endParaRPr sz="2600">
              <a:latin typeface="Times New Roman"/>
              <a:ea typeface="Times New Roman"/>
              <a:cs typeface="Times New Roman"/>
              <a:sym typeface="Times New Roman"/>
            </a:endParaRPr>
          </a:p>
          <a:p>
            <a:pPr marL="596646" lvl="0" indent="-516889" algn="l" rtl="0">
              <a:lnSpc>
                <a:spcPct val="100000"/>
              </a:lnSpc>
              <a:spcBef>
                <a:spcPts val="600"/>
              </a:spcBef>
              <a:spcAft>
                <a:spcPts val="0"/>
              </a:spcAft>
              <a:buSzPts val="2600"/>
              <a:buFont typeface="Times New Roman"/>
              <a:buAutoNum type="arabicPeriod"/>
            </a:pPr>
            <a:r>
              <a:rPr lang="en-IN" sz="2600">
                <a:latin typeface="Times New Roman"/>
                <a:ea typeface="Times New Roman"/>
                <a:cs typeface="Times New Roman"/>
                <a:sym typeface="Times New Roman"/>
              </a:rPr>
              <a:t>Clients or customers oriented issues.</a:t>
            </a:r>
            <a:endParaRPr sz="2600">
              <a:latin typeface="Times New Roman"/>
              <a:ea typeface="Times New Roman"/>
              <a:cs typeface="Times New Roman"/>
              <a:sym typeface="Times New Roman"/>
            </a:endParaRPr>
          </a:p>
          <a:p>
            <a:pPr marL="596646" lvl="0" indent="-516889" algn="l" rtl="0">
              <a:lnSpc>
                <a:spcPct val="100000"/>
              </a:lnSpc>
              <a:spcBef>
                <a:spcPts val="600"/>
              </a:spcBef>
              <a:spcAft>
                <a:spcPts val="0"/>
              </a:spcAft>
              <a:buSzPts val="2600"/>
              <a:buFont typeface="Times New Roman"/>
              <a:buAutoNum type="arabicPeriod"/>
            </a:pPr>
            <a:r>
              <a:rPr lang="en-IN" sz="2600">
                <a:latin typeface="Times New Roman"/>
                <a:ea typeface="Times New Roman"/>
                <a:cs typeface="Times New Roman"/>
                <a:sym typeface="Times New Roman"/>
              </a:rPr>
              <a:t>Competitors oriented issues.</a:t>
            </a:r>
            <a:endParaRPr sz="2600">
              <a:latin typeface="Times New Roman"/>
              <a:ea typeface="Times New Roman"/>
              <a:cs typeface="Times New Roman"/>
              <a:sym typeface="Times New Roman"/>
            </a:endParaRPr>
          </a:p>
          <a:p>
            <a:pPr marL="596646" lvl="0" indent="-516889" algn="l" rtl="0">
              <a:lnSpc>
                <a:spcPct val="100000"/>
              </a:lnSpc>
              <a:spcBef>
                <a:spcPts val="600"/>
              </a:spcBef>
              <a:spcAft>
                <a:spcPts val="0"/>
              </a:spcAft>
              <a:buSzPts val="2600"/>
              <a:buFont typeface="Times New Roman"/>
              <a:buAutoNum type="arabicPeriod"/>
            </a:pPr>
            <a:r>
              <a:rPr lang="en-IN" sz="2600">
                <a:latin typeface="Times New Roman"/>
                <a:ea typeface="Times New Roman"/>
                <a:cs typeface="Times New Roman"/>
                <a:sym typeface="Times New Roman"/>
              </a:rPr>
              <a:t>Law, government and public agencies oriented issues.</a:t>
            </a:r>
            <a:endParaRPr sz="2600">
              <a:latin typeface="Times New Roman"/>
              <a:ea typeface="Times New Roman"/>
              <a:cs typeface="Times New Roman"/>
              <a:sym typeface="Times New Roman"/>
            </a:endParaRPr>
          </a:p>
          <a:p>
            <a:pPr marL="596646" lvl="0" indent="-516889" algn="l" rtl="0">
              <a:lnSpc>
                <a:spcPct val="100000"/>
              </a:lnSpc>
              <a:spcBef>
                <a:spcPts val="600"/>
              </a:spcBef>
              <a:spcAft>
                <a:spcPts val="0"/>
              </a:spcAft>
              <a:buSzPts val="2600"/>
              <a:buFont typeface="Times New Roman"/>
              <a:buAutoNum type="arabicPeriod"/>
            </a:pPr>
            <a:r>
              <a:rPr lang="en-IN" sz="2600">
                <a:latin typeface="Times New Roman"/>
                <a:ea typeface="Times New Roman"/>
                <a:cs typeface="Times New Roman"/>
                <a:sym typeface="Times New Roman"/>
              </a:rPr>
              <a:t>Professional societies oriented issues.</a:t>
            </a:r>
            <a:endParaRPr sz="2600">
              <a:latin typeface="Times New Roman"/>
              <a:ea typeface="Times New Roman"/>
              <a:cs typeface="Times New Roman"/>
              <a:sym typeface="Times New Roman"/>
            </a:endParaRPr>
          </a:p>
          <a:p>
            <a:pPr marL="596646" lvl="0" indent="-516889" algn="l" rtl="0">
              <a:lnSpc>
                <a:spcPct val="100000"/>
              </a:lnSpc>
              <a:spcBef>
                <a:spcPts val="600"/>
              </a:spcBef>
              <a:spcAft>
                <a:spcPts val="0"/>
              </a:spcAft>
              <a:buSzPts val="2600"/>
              <a:buFont typeface="Times New Roman"/>
              <a:buAutoNum type="arabicPeriod"/>
            </a:pPr>
            <a:r>
              <a:rPr lang="en-IN" sz="2600">
                <a:latin typeface="Times New Roman"/>
                <a:ea typeface="Times New Roman"/>
                <a:cs typeface="Times New Roman"/>
                <a:sym typeface="Times New Roman"/>
              </a:rPr>
              <a:t>Social and environmental oriented issues.</a:t>
            </a:r>
            <a:endParaRPr sz="2600">
              <a:latin typeface="Times New Roman"/>
              <a:ea typeface="Times New Roman"/>
              <a:cs typeface="Times New Roman"/>
              <a:sym typeface="Times New Roman"/>
            </a:endParaRPr>
          </a:p>
          <a:p>
            <a:pPr marL="596646" lvl="0" indent="-516889" algn="l" rtl="0">
              <a:lnSpc>
                <a:spcPct val="100000"/>
              </a:lnSpc>
              <a:spcBef>
                <a:spcPts val="600"/>
              </a:spcBef>
              <a:spcAft>
                <a:spcPts val="0"/>
              </a:spcAft>
              <a:buSzPts val="2600"/>
              <a:buFont typeface="Times New Roman"/>
              <a:buAutoNum type="arabicPeriod"/>
            </a:pPr>
            <a:r>
              <a:rPr lang="en-IN" sz="2600">
                <a:latin typeface="Times New Roman"/>
                <a:ea typeface="Times New Roman"/>
                <a:cs typeface="Times New Roman"/>
                <a:sym typeface="Times New Roman"/>
              </a:rPr>
              <a:t>Family oriented issues.</a:t>
            </a:r>
            <a:endParaRPr sz="26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9"/>
          <p:cNvSpPr txBox="1">
            <a:spLocks noGrp="1"/>
          </p:cNvSpPr>
          <p:nvPr>
            <p:ph type="title"/>
          </p:nvPr>
        </p:nvSpPr>
        <p:spPr>
          <a:xfrm>
            <a:off x="1168725" y="-5"/>
            <a:ext cx="7498200" cy="6885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rgbClr val="562214"/>
              </a:buClr>
              <a:buSzPct val="107500"/>
              <a:buFont typeface="Gill Sans"/>
              <a:buNone/>
            </a:pPr>
            <a:r>
              <a:rPr lang="en-IN" sz="4000" b="1">
                <a:latin typeface="Times New Roman"/>
                <a:ea typeface="Times New Roman"/>
                <a:cs typeface="Times New Roman"/>
                <a:sym typeface="Times New Roman"/>
              </a:rPr>
              <a:t>Types of Inquiry</a:t>
            </a:r>
            <a:endParaRPr sz="4000" b="1">
              <a:latin typeface="Times New Roman"/>
              <a:ea typeface="Times New Roman"/>
              <a:cs typeface="Times New Roman"/>
              <a:sym typeface="Times New Roman"/>
            </a:endParaRPr>
          </a:p>
        </p:txBody>
      </p:sp>
      <p:sp>
        <p:nvSpPr>
          <p:cNvPr id="153" name="Google Shape;153;p9"/>
          <p:cNvSpPr txBox="1">
            <a:spLocks noGrp="1"/>
          </p:cNvSpPr>
          <p:nvPr>
            <p:ph type="body" idx="1"/>
          </p:nvPr>
        </p:nvSpPr>
        <p:spPr>
          <a:xfrm>
            <a:off x="982475" y="920600"/>
            <a:ext cx="8161500" cy="5937300"/>
          </a:xfrm>
          <a:prstGeom prst="rect">
            <a:avLst/>
          </a:prstGeom>
          <a:noFill/>
          <a:ln>
            <a:noFill/>
          </a:ln>
        </p:spPr>
        <p:txBody>
          <a:bodyPr spcFirstLastPara="1" wrap="square" lIns="91425" tIns="45700" rIns="91425" bIns="45700" anchor="t" anchorCtr="0">
            <a:normAutofit/>
          </a:bodyPr>
          <a:lstStyle/>
          <a:p>
            <a:pPr marL="365760" lvl="0" indent="-273303" algn="just" rtl="0">
              <a:lnSpc>
                <a:spcPct val="100000"/>
              </a:lnSpc>
              <a:spcBef>
                <a:spcPts val="0"/>
              </a:spcBef>
              <a:spcAft>
                <a:spcPts val="0"/>
              </a:spcAft>
              <a:buSzPts val="2400"/>
              <a:buFont typeface="Times New Roman"/>
              <a:buChar char="⚫"/>
            </a:pPr>
            <a:r>
              <a:rPr lang="en-IN" sz="2400">
                <a:latin typeface="Times New Roman"/>
                <a:ea typeface="Times New Roman"/>
                <a:cs typeface="Times New Roman"/>
                <a:sym typeface="Times New Roman"/>
              </a:rPr>
              <a:t>Inquiry means an investigation. </a:t>
            </a:r>
            <a:endParaRPr sz="2400">
              <a:latin typeface="Times New Roman"/>
              <a:ea typeface="Times New Roman"/>
              <a:cs typeface="Times New Roman"/>
              <a:sym typeface="Times New Roman"/>
            </a:endParaRPr>
          </a:p>
          <a:p>
            <a:pPr marL="365760" lvl="0" indent="-273303"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Engineering ethics also involves investigations into values, meaning and facts.</a:t>
            </a:r>
            <a:endParaRPr sz="2400">
              <a:latin typeface="Times New Roman"/>
              <a:ea typeface="Times New Roman"/>
              <a:cs typeface="Times New Roman"/>
              <a:sym typeface="Times New Roman"/>
            </a:endParaRPr>
          </a:p>
          <a:p>
            <a:pPr marL="365760" lvl="0" indent="-273303"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Types of Inquiries in the field of Engineering ethics </a:t>
            </a:r>
            <a:endParaRPr sz="2400">
              <a:latin typeface="Times New Roman"/>
              <a:ea typeface="Times New Roman"/>
              <a:cs typeface="Times New Roman"/>
              <a:sym typeface="Times New Roman"/>
            </a:endParaRPr>
          </a:p>
          <a:p>
            <a:pPr marL="640080" lvl="1" indent="-212344" algn="just" rtl="0">
              <a:lnSpc>
                <a:spcPct val="100000"/>
              </a:lnSpc>
              <a:spcBef>
                <a:spcPts val="550"/>
              </a:spcBef>
              <a:spcAft>
                <a:spcPts val="0"/>
              </a:spcAft>
              <a:buSzPts val="2400"/>
              <a:buFont typeface="Times New Roman"/>
              <a:buChar char="◦"/>
            </a:pPr>
            <a:r>
              <a:rPr lang="en-IN" sz="2400">
                <a:latin typeface="Times New Roman"/>
                <a:ea typeface="Times New Roman"/>
                <a:cs typeface="Times New Roman"/>
                <a:sym typeface="Times New Roman"/>
              </a:rPr>
              <a:t>Normative Inquiries</a:t>
            </a:r>
            <a:endParaRPr sz="2400">
              <a:latin typeface="Times New Roman"/>
              <a:ea typeface="Times New Roman"/>
              <a:cs typeface="Times New Roman"/>
              <a:sym typeface="Times New Roman"/>
            </a:endParaRPr>
          </a:p>
          <a:p>
            <a:pPr marL="640080" lvl="1" indent="-212344" algn="just" rtl="0">
              <a:lnSpc>
                <a:spcPct val="100000"/>
              </a:lnSpc>
              <a:spcBef>
                <a:spcPts val="550"/>
              </a:spcBef>
              <a:spcAft>
                <a:spcPts val="0"/>
              </a:spcAft>
              <a:buSzPts val="2400"/>
              <a:buFont typeface="Times New Roman"/>
              <a:buChar char="◦"/>
            </a:pPr>
            <a:r>
              <a:rPr lang="en-IN" sz="2400">
                <a:latin typeface="Times New Roman"/>
                <a:ea typeface="Times New Roman"/>
                <a:cs typeface="Times New Roman"/>
                <a:sym typeface="Times New Roman"/>
              </a:rPr>
              <a:t>Conceptual Inquiries</a:t>
            </a:r>
            <a:endParaRPr sz="2400">
              <a:latin typeface="Times New Roman"/>
              <a:ea typeface="Times New Roman"/>
              <a:cs typeface="Times New Roman"/>
              <a:sym typeface="Times New Roman"/>
            </a:endParaRPr>
          </a:p>
          <a:p>
            <a:pPr marL="640080" lvl="1" indent="-212344" algn="just" rtl="0">
              <a:lnSpc>
                <a:spcPct val="100000"/>
              </a:lnSpc>
              <a:spcBef>
                <a:spcPts val="550"/>
              </a:spcBef>
              <a:spcAft>
                <a:spcPts val="0"/>
              </a:spcAft>
              <a:buSzPts val="2400"/>
              <a:buFont typeface="Times New Roman"/>
              <a:buChar char="◦"/>
            </a:pPr>
            <a:r>
              <a:rPr lang="en-IN" sz="2400">
                <a:latin typeface="Times New Roman"/>
                <a:ea typeface="Times New Roman"/>
                <a:cs typeface="Times New Roman"/>
                <a:sym typeface="Times New Roman"/>
              </a:rPr>
              <a:t>Factual or Descriptive Inquiries</a:t>
            </a:r>
            <a:endParaRPr sz="2400">
              <a:latin typeface="Times New Roman"/>
              <a:ea typeface="Times New Roman"/>
              <a:cs typeface="Times New Roman"/>
              <a:sym typeface="Times New Roman"/>
            </a:endParaRPr>
          </a:p>
          <a:p>
            <a:pPr marL="365760" lvl="0" indent="-120903" algn="just" rtl="0">
              <a:lnSpc>
                <a:spcPct val="100000"/>
              </a:lnSpc>
              <a:spcBef>
                <a:spcPts val="600"/>
              </a:spcBef>
              <a:spcAft>
                <a:spcPts val="0"/>
              </a:spcAft>
              <a:buSzPts val="2560"/>
              <a:buNone/>
            </a:pPr>
            <a:endParaRPr/>
          </a:p>
        </p:txBody>
      </p:sp>
      <p:pic>
        <p:nvPicPr>
          <p:cNvPr id="154" name="Google Shape;154;p9"/>
          <p:cNvPicPr preferRelativeResize="0"/>
          <p:nvPr/>
        </p:nvPicPr>
        <p:blipFill>
          <a:blip r:embed="rId3">
            <a:alphaModFix/>
          </a:blip>
          <a:stretch>
            <a:fillRect/>
          </a:stretch>
        </p:blipFill>
        <p:spPr>
          <a:xfrm>
            <a:off x="1168725" y="4123300"/>
            <a:ext cx="7878576" cy="2734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0"/>
          <p:cNvSpPr txBox="1">
            <a:spLocks noGrp="1"/>
          </p:cNvSpPr>
          <p:nvPr>
            <p:ph type="title"/>
          </p:nvPr>
        </p:nvSpPr>
        <p:spPr>
          <a:xfrm>
            <a:off x="1064275" y="-3"/>
            <a:ext cx="7498200" cy="8973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3200" b="1" u="sng">
                <a:latin typeface="Times New Roman"/>
                <a:ea typeface="Times New Roman"/>
                <a:cs typeface="Times New Roman"/>
                <a:sym typeface="Times New Roman"/>
              </a:rPr>
              <a:t>Normative Inquiries</a:t>
            </a:r>
            <a:endParaRPr sz="3200" b="1" u="sng">
              <a:latin typeface="Times New Roman"/>
              <a:ea typeface="Times New Roman"/>
              <a:cs typeface="Times New Roman"/>
              <a:sym typeface="Times New Roman"/>
            </a:endParaRPr>
          </a:p>
        </p:txBody>
      </p:sp>
      <p:sp>
        <p:nvSpPr>
          <p:cNvPr id="160" name="Google Shape;160;p10"/>
          <p:cNvSpPr txBox="1">
            <a:spLocks noGrp="1"/>
          </p:cNvSpPr>
          <p:nvPr>
            <p:ph type="body" idx="1"/>
          </p:nvPr>
        </p:nvSpPr>
        <p:spPr>
          <a:xfrm>
            <a:off x="1064275" y="978600"/>
            <a:ext cx="8079600" cy="5879400"/>
          </a:xfrm>
          <a:prstGeom prst="rect">
            <a:avLst/>
          </a:prstGeom>
          <a:noFill/>
          <a:ln>
            <a:noFill/>
          </a:ln>
        </p:spPr>
        <p:txBody>
          <a:bodyPr spcFirstLastPara="1" wrap="square" lIns="91425" tIns="45700" rIns="91425" bIns="45700" anchor="t" anchorCtr="0">
            <a:normAutofit/>
          </a:bodyPr>
          <a:lstStyle/>
          <a:p>
            <a:pPr marL="365760" lvl="0" indent="-297687" algn="just" rtl="0">
              <a:lnSpc>
                <a:spcPct val="150000"/>
              </a:lnSpc>
              <a:spcBef>
                <a:spcPts val="0"/>
              </a:spcBef>
              <a:spcAft>
                <a:spcPts val="0"/>
              </a:spcAft>
              <a:buSzPts val="2400"/>
              <a:buFont typeface="Times New Roman"/>
              <a:buChar char="⚫"/>
            </a:pPr>
            <a:r>
              <a:rPr lang="en-IN" sz="2400">
                <a:latin typeface="Times New Roman"/>
                <a:ea typeface="Times New Roman"/>
                <a:cs typeface="Times New Roman"/>
                <a:sym typeface="Times New Roman"/>
              </a:rPr>
              <a:t>These inquiries are mostly helpful to identify the values which guide the individuals and groups in taking a decision. </a:t>
            </a:r>
            <a:endParaRPr sz="2400">
              <a:latin typeface="Times New Roman"/>
              <a:ea typeface="Times New Roman"/>
              <a:cs typeface="Times New Roman"/>
              <a:sym typeface="Times New Roman"/>
            </a:endParaRPr>
          </a:p>
          <a:p>
            <a:pPr marL="365760" lvl="0" indent="0" algn="just" rtl="0">
              <a:lnSpc>
                <a:spcPct val="150000"/>
              </a:lnSpc>
              <a:spcBef>
                <a:spcPts val="0"/>
              </a:spcBef>
              <a:spcAft>
                <a:spcPts val="0"/>
              </a:spcAft>
              <a:buNone/>
            </a:pPr>
            <a:endParaRPr sz="2400">
              <a:latin typeface="Times New Roman"/>
              <a:ea typeface="Times New Roman"/>
              <a:cs typeface="Times New Roman"/>
              <a:sym typeface="Times New Roman"/>
            </a:endParaRPr>
          </a:p>
          <a:p>
            <a:pPr marL="365760" lvl="0" indent="-297687" algn="just" rtl="0">
              <a:lnSpc>
                <a:spcPct val="15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These are meant for identifying and justifying some norms and standards of morally desirable nature for guiding individuals as well as groups.</a:t>
            </a:r>
            <a:endParaRPr sz="2400">
              <a:latin typeface="Times New Roman"/>
              <a:ea typeface="Times New Roman"/>
              <a:cs typeface="Times New Roman"/>
              <a:sym typeface="Times New Roman"/>
            </a:endParaRPr>
          </a:p>
          <a:p>
            <a:pPr marL="365760" lvl="0" indent="0" algn="just" rtl="0">
              <a:lnSpc>
                <a:spcPct val="150000"/>
              </a:lnSpc>
              <a:spcBef>
                <a:spcPts val="600"/>
              </a:spcBef>
              <a:spcAft>
                <a:spcPts val="0"/>
              </a:spcAft>
              <a:buNone/>
            </a:pPr>
            <a:endParaRPr sz="2400">
              <a:latin typeface="Times New Roman"/>
              <a:ea typeface="Times New Roman"/>
              <a:cs typeface="Times New Roman"/>
              <a:sym typeface="Times New Roman"/>
            </a:endParaRPr>
          </a:p>
          <a:p>
            <a:pPr marL="365760" lvl="0" indent="-297687" algn="just" rtl="0">
              <a:lnSpc>
                <a:spcPct val="15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Have the theoretical goal of justifying moral judgments.</a:t>
            </a:r>
            <a:endParaRPr sz="24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1"/>
          <p:cNvSpPr txBox="1">
            <a:spLocks noGrp="1"/>
          </p:cNvSpPr>
          <p:nvPr>
            <p:ph type="title"/>
          </p:nvPr>
        </p:nvSpPr>
        <p:spPr>
          <a:xfrm>
            <a:off x="1052650" y="77373"/>
            <a:ext cx="7498200" cy="947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3200" b="1" u="sng">
                <a:latin typeface="Times New Roman"/>
                <a:ea typeface="Times New Roman"/>
                <a:cs typeface="Times New Roman"/>
                <a:sym typeface="Times New Roman"/>
              </a:rPr>
              <a:t>Conceptual Inquiries</a:t>
            </a:r>
            <a:endParaRPr sz="3200" b="1" u="sng">
              <a:latin typeface="Times New Roman"/>
              <a:ea typeface="Times New Roman"/>
              <a:cs typeface="Times New Roman"/>
              <a:sym typeface="Times New Roman"/>
            </a:endParaRPr>
          </a:p>
        </p:txBody>
      </p:sp>
      <p:sp>
        <p:nvSpPr>
          <p:cNvPr id="166" name="Google Shape;166;p11"/>
          <p:cNvSpPr txBox="1">
            <a:spLocks noGrp="1"/>
          </p:cNvSpPr>
          <p:nvPr>
            <p:ph type="body" idx="1"/>
          </p:nvPr>
        </p:nvSpPr>
        <p:spPr>
          <a:xfrm>
            <a:off x="1052650" y="1220375"/>
            <a:ext cx="8091300" cy="5637600"/>
          </a:xfrm>
          <a:prstGeom prst="rect">
            <a:avLst/>
          </a:prstGeom>
          <a:noFill/>
          <a:ln>
            <a:noFill/>
          </a:ln>
        </p:spPr>
        <p:txBody>
          <a:bodyPr spcFirstLastPara="1" wrap="square" lIns="91425" tIns="45700" rIns="91425" bIns="45700" anchor="t" anchorCtr="0">
            <a:normAutofit lnSpcReduction="10000"/>
          </a:bodyPr>
          <a:lstStyle/>
          <a:p>
            <a:pPr marL="365760" lvl="0" indent="-286003" algn="just" rtl="0">
              <a:lnSpc>
                <a:spcPct val="150000"/>
              </a:lnSpc>
              <a:spcBef>
                <a:spcPts val="0"/>
              </a:spcBef>
              <a:spcAft>
                <a:spcPts val="0"/>
              </a:spcAft>
              <a:buSzPts val="2600"/>
              <a:buFont typeface="Times New Roman"/>
              <a:buChar char="⚫"/>
            </a:pPr>
            <a:r>
              <a:rPr lang="en-IN" sz="2600">
                <a:latin typeface="Times New Roman"/>
                <a:ea typeface="Times New Roman"/>
                <a:cs typeface="Times New Roman"/>
                <a:sym typeface="Times New Roman"/>
              </a:rPr>
              <a:t>These are meant for describing the meaning of concepts, principles, and issues related to Engineering Ethics. </a:t>
            </a:r>
            <a:endParaRPr sz="2600">
              <a:latin typeface="Times New Roman"/>
              <a:ea typeface="Times New Roman"/>
              <a:cs typeface="Times New Roman"/>
              <a:sym typeface="Times New Roman"/>
            </a:endParaRPr>
          </a:p>
          <a:p>
            <a:pPr marL="365760" lvl="0" indent="0" algn="just" rtl="0">
              <a:lnSpc>
                <a:spcPct val="150000"/>
              </a:lnSpc>
              <a:spcBef>
                <a:spcPts val="0"/>
              </a:spcBef>
              <a:spcAft>
                <a:spcPts val="0"/>
              </a:spcAft>
              <a:buNone/>
            </a:pPr>
            <a:endParaRPr sz="2600">
              <a:latin typeface="Times New Roman"/>
              <a:ea typeface="Times New Roman"/>
              <a:cs typeface="Times New Roman"/>
              <a:sym typeface="Times New Roman"/>
            </a:endParaRPr>
          </a:p>
          <a:p>
            <a:pPr marL="365760" lvl="0" indent="-353949" algn="l" rtl="0">
              <a:lnSpc>
                <a:spcPct val="115000"/>
              </a:lnSpc>
              <a:spcBef>
                <a:spcPts val="700"/>
              </a:spcBef>
              <a:spcAft>
                <a:spcPts val="0"/>
              </a:spcAft>
              <a:buSzPts val="2550"/>
              <a:buFont typeface="Times New Roman"/>
              <a:buChar char="⚫"/>
            </a:pPr>
            <a:r>
              <a:rPr lang="en-IN" sz="2550">
                <a:latin typeface="Times New Roman"/>
                <a:ea typeface="Times New Roman"/>
                <a:cs typeface="Times New Roman"/>
                <a:sym typeface="Times New Roman"/>
              </a:rPr>
              <a:t>For example,</a:t>
            </a:r>
            <a:endParaRPr sz="2550">
              <a:latin typeface="Times New Roman"/>
              <a:ea typeface="Times New Roman"/>
              <a:cs typeface="Times New Roman"/>
              <a:sym typeface="Times New Roman"/>
            </a:endParaRPr>
          </a:p>
          <a:p>
            <a:pPr marL="365760" lvl="0" indent="0" algn="l" rtl="0">
              <a:lnSpc>
                <a:spcPct val="115000"/>
              </a:lnSpc>
              <a:spcBef>
                <a:spcPts val="700"/>
              </a:spcBef>
              <a:spcAft>
                <a:spcPts val="0"/>
              </a:spcAft>
              <a:buNone/>
            </a:pPr>
            <a:r>
              <a:rPr lang="en-IN" sz="2550">
                <a:latin typeface="Times New Roman"/>
                <a:ea typeface="Times New Roman"/>
                <a:cs typeface="Times New Roman"/>
                <a:sym typeface="Times New Roman"/>
              </a:rPr>
              <a:t>(</a:t>
            </a:r>
            <a:r>
              <a:rPr lang="en-IN" sz="2550" i="1">
                <a:latin typeface="Times New Roman"/>
                <a:ea typeface="Times New Roman"/>
                <a:cs typeface="Times New Roman"/>
                <a:sym typeface="Times New Roman"/>
              </a:rPr>
              <a:t>a) What is meant by safety?</a:t>
            </a:r>
            <a:endParaRPr sz="2550" i="1">
              <a:latin typeface="Times New Roman"/>
              <a:ea typeface="Times New Roman"/>
              <a:cs typeface="Times New Roman"/>
              <a:sym typeface="Times New Roman"/>
            </a:endParaRPr>
          </a:p>
          <a:p>
            <a:pPr marL="365760" lvl="0" indent="0" algn="l" rtl="0">
              <a:lnSpc>
                <a:spcPct val="115000"/>
              </a:lnSpc>
              <a:spcBef>
                <a:spcPts val="700"/>
              </a:spcBef>
              <a:spcAft>
                <a:spcPts val="0"/>
              </a:spcAft>
              <a:buNone/>
            </a:pPr>
            <a:r>
              <a:rPr lang="en-IN" sz="2550">
                <a:latin typeface="Times New Roman"/>
                <a:ea typeface="Times New Roman"/>
                <a:cs typeface="Times New Roman"/>
                <a:sym typeface="Times New Roman"/>
              </a:rPr>
              <a:t>(</a:t>
            </a:r>
            <a:r>
              <a:rPr lang="en-IN" sz="2550" i="1">
                <a:latin typeface="Times New Roman"/>
                <a:ea typeface="Times New Roman"/>
                <a:cs typeface="Times New Roman"/>
                <a:sym typeface="Times New Roman"/>
              </a:rPr>
              <a:t>b) How is it related to risk?</a:t>
            </a:r>
            <a:endParaRPr sz="2550" i="1">
              <a:latin typeface="Times New Roman"/>
              <a:ea typeface="Times New Roman"/>
              <a:cs typeface="Times New Roman"/>
              <a:sym typeface="Times New Roman"/>
            </a:endParaRPr>
          </a:p>
          <a:p>
            <a:pPr marL="365760" lvl="0" indent="0" algn="l" rtl="0">
              <a:lnSpc>
                <a:spcPct val="115000"/>
              </a:lnSpc>
              <a:spcBef>
                <a:spcPts val="700"/>
              </a:spcBef>
              <a:spcAft>
                <a:spcPts val="0"/>
              </a:spcAft>
              <a:buNone/>
            </a:pPr>
            <a:r>
              <a:rPr lang="en-IN" sz="2550" i="1">
                <a:latin typeface="Times New Roman"/>
                <a:ea typeface="Times New Roman"/>
                <a:cs typeface="Times New Roman"/>
                <a:sym typeface="Times New Roman"/>
              </a:rPr>
              <a:t>(c) What is a bribe?</a:t>
            </a:r>
            <a:endParaRPr sz="2550" i="1">
              <a:latin typeface="Times New Roman"/>
              <a:ea typeface="Times New Roman"/>
              <a:cs typeface="Times New Roman"/>
              <a:sym typeface="Times New Roman"/>
            </a:endParaRPr>
          </a:p>
          <a:p>
            <a:pPr marL="365760" lvl="0" indent="0" algn="just" rtl="0">
              <a:lnSpc>
                <a:spcPct val="150000"/>
              </a:lnSpc>
              <a:spcBef>
                <a:spcPts val="0"/>
              </a:spcBef>
              <a:spcAft>
                <a:spcPts val="0"/>
              </a:spcAft>
              <a:buNone/>
            </a:pPr>
            <a:endParaRPr sz="2600">
              <a:latin typeface="Times New Roman"/>
              <a:ea typeface="Times New Roman"/>
              <a:cs typeface="Times New Roman"/>
              <a:sym typeface="Times New Roman"/>
            </a:endParaRPr>
          </a:p>
          <a:p>
            <a:pPr marL="365760" lvl="0" indent="-286003" algn="just" rtl="0">
              <a:lnSpc>
                <a:spcPct val="150000"/>
              </a:lnSpc>
              <a:spcBef>
                <a:spcPts val="600"/>
              </a:spcBef>
              <a:spcAft>
                <a:spcPts val="0"/>
              </a:spcAft>
              <a:buSzPts val="2600"/>
              <a:buFont typeface="Times New Roman"/>
              <a:buChar char="⚫"/>
            </a:pPr>
            <a:r>
              <a:rPr lang="en-IN" sz="2600">
                <a:latin typeface="Times New Roman"/>
                <a:ea typeface="Times New Roman"/>
                <a:cs typeface="Times New Roman"/>
                <a:sym typeface="Times New Roman"/>
              </a:rPr>
              <a:t>These inquiries also explain whether the concepts and ideas are expressed by single word or by phrases.</a:t>
            </a:r>
            <a:endParaRPr sz="2600">
              <a:latin typeface="Times New Roman"/>
              <a:ea typeface="Times New Roman"/>
              <a:cs typeface="Times New Roman"/>
              <a:sym typeface="Times New Roman"/>
            </a:endParaRPr>
          </a:p>
          <a:p>
            <a:pPr marL="365760" lvl="0" indent="0" algn="l" rtl="0">
              <a:lnSpc>
                <a:spcPct val="115000"/>
              </a:lnSpc>
              <a:spcBef>
                <a:spcPts val="700"/>
              </a:spcBef>
              <a:spcAft>
                <a:spcPts val="0"/>
              </a:spcAft>
              <a:buNone/>
            </a:pPr>
            <a:endParaRPr sz="26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2"/>
          <p:cNvSpPr txBox="1">
            <a:spLocks noGrp="1"/>
          </p:cNvSpPr>
          <p:nvPr>
            <p:ph type="title"/>
          </p:nvPr>
        </p:nvSpPr>
        <p:spPr>
          <a:xfrm>
            <a:off x="1017875" y="-4"/>
            <a:ext cx="7498200" cy="7581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3200" b="1" u="sng">
                <a:latin typeface="Times New Roman"/>
                <a:ea typeface="Times New Roman"/>
                <a:cs typeface="Times New Roman"/>
                <a:sym typeface="Times New Roman"/>
              </a:rPr>
              <a:t>Factual / Descriptive Inquiries</a:t>
            </a:r>
            <a:endParaRPr sz="3200" b="1" u="sng">
              <a:latin typeface="Times New Roman"/>
              <a:ea typeface="Times New Roman"/>
              <a:cs typeface="Times New Roman"/>
              <a:sym typeface="Times New Roman"/>
            </a:endParaRPr>
          </a:p>
        </p:txBody>
      </p:sp>
      <p:sp>
        <p:nvSpPr>
          <p:cNvPr id="172" name="Google Shape;172;p12"/>
          <p:cNvSpPr txBox="1">
            <a:spLocks noGrp="1"/>
          </p:cNvSpPr>
          <p:nvPr>
            <p:ph type="body" idx="1"/>
          </p:nvPr>
        </p:nvSpPr>
        <p:spPr>
          <a:xfrm>
            <a:off x="773600" y="700100"/>
            <a:ext cx="8370600" cy="6157800"/>
          </a:xfrm>
          <a:prstGeom prst="rect">
            <a:avLst/>
          </a:prstGeom>
          <a:noFill/>
          <a:ln>
            <a:noFill/>
          </a:ln>
        </p:spPr>
        <p:txBody>
          <a:bodyPr spcFirstLastPara="1" wrap="square" lIns="91425" tIns="45700" rIns="91425" bIns="45700" anchor="t" anchorCtr="0">
            <a:noAutofit/>
          </a:bodyPr>
          <a:lstStyle/>
          <a:p>
            <a:pPr marL="365760" lvl="0" indent="-273303" algn="just" rtl="0">
              <a:lnSpc>
                <a:spcPct val="100000"/>
              </a:lnSpc>
              <a:spcBef>
                <a:spcPts val="0"/>
              </a:spcBef>
              <a:spcAft>
                <a:spcPts val="0"/>
              </a:spcAft>
              <a:buSzPts val="2400"/>
              <a:buFont typeface="Times New Roman"/>
              <a:buChar char="⚫"/>
            </a:pPr>
            <a:r>
              <a:rPr lang="en-IN" sz="2400" dirty="0">
                <a:latin typeface="Times New Roman"/>
                <a:ea typeface="Times New Roman"/>
                <a:cs typeface="Times New Roman"/>
                <a:sym typeface="Times New Roman"/>
              </a:rPr>
              <a:t>These help to provide fact for understanding and finding solutions to value based issues.</a:t>
            </a:r>
            <a:endParaRPr sz="2400" dirty="0">
              <a:latin typeface="Times New Roman"/>
              <a:ea typeface="Times New Roman"/>
              <a:cs typeface="Times New Roman"/>
              <a:sym typeface="Times New Roman"/>
            </a:endParaRPr>
          </a:p>
          <a:p>
            <a:pPr marL="365760" lvl="0" indent="-273303" algn="just" rtl="0">
              <a:lnSpc>
                <a:spcPct val="100000"/>
              </a:lnSpc>
              <a:spcBef>
                <a:spcPts val="600"/>
              </a:spcBef>
              <a:spcAft>
                <a:spcPts val="0"/>
              </a:spcAft>
              <a:buSzPts val="2400"/>
              <a:buFont typeface="Times New Roman"/>
              <a:buChar char="⚫"/>
            </a:pPr>
            <a:r>
              <a:rPr lang="en-IN" sz="2400" dirty="0" smtClean="0">
                <a:latin typeface="Times New Roman"/>
                <a:ea typeface="Times New Roman"/>
                <a:cs typeface="Times New Roman"/>
                <a:sym typeface="Times New Roman"/>
              </a:rPr>
              <a:t>The </a:t>
            </a:r>
            <a:r>
              <a:rPr lang="en-IN" sz="2400" dirty="0">
                <a:latin typeface="Times New Roman"/>
                <a:ea typeface="Times New Roman"/>
                <a:cs typeface="Times New Roman"/>
                <a:sym typeface="Times New Roman"/>
              </a:rPr>
              <a:t>engineer has to conduct factual inquiries by using scientific techniques.</a:t>
            </a:r>
            <a:endParaRPr sz="2400" dirty="0">
              <a:latin typeface="Times New Roman"/>
              <a:ea typeface="Times New Roman"/>
              <a:cs typeface="Times New Roman"/>
              <a:sym typeface="Times New Roman"/>
            </a:endParaRPr>
          </a:p>
          <a:p>
            <a:pPr marL="365760" lvl="0" indent="-273303" algn="just" rtl="0">
              <a:lnSpc>
                <a:spcPct val="100000"/>
              </a:lnSpc>
              <a:spcBef>
                <a:spcPts val="600"/>
              </a:spcBef>
              <a:spcAft>
                <a:spcPts val="0"/>
              </a:spcAft>
              <a:buSzPts val="2400"/>
              <a:buFont typeface="Times New Roman"/>
              <a:buChar char="⚫"/>
            </a:pPr>
            <a:r>
              <a:rPr lang="en-IN" sz="2400" dirty="0" smtClean="0">
                <a:latin typeface="Times New Roman"/>
                <a:ea typeface="Times New Roman"/>
                <a:cs typeface="Times New Roman"/>
                <a:sym typeface="Times New Roman"/>
              </a:rPr>
              <a:t>These </a:t>
            </a:r>
            <a:r>
              <a:rPr lang="en-IN" sz="2400" dirty="0">
                <a:latin typeface="Times New Roman"/>
                <a:ea typeface="Times New Roman"/>
                <a:cs typeface="Times New Roman"/>
                <a:sym typeface="Times New Roman"/>
              </a:rPr>
              <a:t>facts are also helpful in solving moral problems by using alternative ways of solutions.</a:t>
            </a:r>
            <a:endParaRPr sz="2400" dirty="0">
              <a:latin typeface="Times New Roman"/>
              <a:ea typeface="Times New Roman"/>
              <a:cs typeface="Times New Roman"/>
              <a:sym typeface="Times New Roman"/>
            </a:endParaRPr>
          </a:p>
          <a:p>
            <a:pPr marL="365760" lvl="0" indent="-344424" algn="just" rtl="0">
              <a:spcBef>
                <a:spcPts val="600"/>
              </a:spcBef>
              <a:spcAft>
                <a:spcPts val="0"/>
              </a:spcAft>
              <a:buSzPts val="2400"/>
              <a:buFont typeface="Times New Roman"/>
              <a:buChar char="⚫"/>
            </a:pPr>
            <a:r>
              <a:rPr lang="en-IN" sz="2400" dirty="0" smtClean="0">
                <a:latin typeface="Times New Roman"/>
                <a:ea typeface="Times New Roman"/>
                <a:cs typeface="Times New Roman"/>
                <a:sym typeface="Times New Roman"/>
              </a:rPr>
              <a:t>Information </a:t>
            </a:r>
            <a:r>
              <a:rPr lang="en-IN" sz="2400" dirty="0">
                <a:latin typeface="Times New Roman"/>
                <a:ea typeface="Times New Roman"/>
                <a:cs typeface="Times New Roman"/>
                <a:sym typeface="Times New Roman"/>
              </a:rPr>
              <a:t>from all the inquiries are necessary to convince the superior of an employee.</a:t>
            </a:r>
            <a:endParaRPr sz="2400" dirty="0">
              <a:latin typeface="Times New Roman"/>
              <a:ea typeface="Times New Roman"/>
              <a:cs typeface="Times New Roman"/>
              <a:sym typeface="Times New Roman"/>
            </a:endParaRPr>
          </a:p>
          <a:p>
            <a:pPr marL="365760" lvl="0" indent="-344424" algn="l" rtl="0">
              <a:lnSpc>
                <a:spcPct val="115000"/>
              </a:lnSpc>
              <a:spcBef>
                <a:spcPts val="0"/>
              </a:spcBef>
              <a:spcAft>
                <a:spcPts val="0"/>
              </a:spcAft>
              <a:buSzPts val="2400"/>
              <a:buFont typeface="Times New Roman"/>
              <a:buChar char="⚫"/>
            </a:pPr>
            <a:r>
              <a:rPr lang="en-IN" sz="2400" dirty="0">
                <a:latin typeface="Times New Roman"/>
                <a:ea typeface="Times New Roman"/>
                <a:cs typeface="Times New Roman"/>
                <a:sym typeface="Times New Roman"/>
              </a:rPr>
              <a:t>For example,</a:t>
            </a:r>
            <a:endParaRPr sz="2400" dirty="0">
              <a:latin typeface="Times New Roman"/>
              <a:ea typeface="Times New Roman"/>
              <a:cs typeface="Times New Roman"/>
              <a:sym typeface="Times New Roman"/>
            </a:endParaRPr>
          </a:p>
          <a:p>
            <a:pPr marL="365760" lvl="0" indent="0" algn="l" rtl="0">
              <a:lnSpc>
                <a:spcPct val="115000"/>
              </a:lnSpc>
              <a:spcBef>
                <a:spcPts val="500"/>
              </a:spcBef>
              <a:spcAft>
                <a:spcPts val="0"/>
              </a:spcAft>
              <a:buNone/>
            </a:pPr>
            <a:r>
              <a:rPr lang="en-IN" sz="2200" dirty="0">
                <a:latin typeface="Times New Roman"/>
                <a:ea typeface="Times New Roman"/>
                <a:cs typeface="Times New Roman"/>
                <a:sym typeface="Times New Roman"/>
              </a:rPr>
              <a:t>What are procedures followed in risk assessment? </a:t>
            </a:r>
            <a:endParaRPr lang="en-IN" sz="2200" dirty="0" smtClean="0">
              <a:latin typeface="Times New Roman"/>
              <a:ea typeface="Times New Roman"/>
              <a:cs typeface="Times New Roman"/>
              <a:sym typeface="Times New Roman"/>
            </a:endParaRPr>
          </a:p>
          <a:p>
            <a:pPr marL="365760" lvl="0" indent="0" algn="l" rtl="0">
              <a:lnSpc>
                <a:spcPct val="115000"/>
              </a:lnSpc>
              <a:spcBef>
                <a:spcPts val="500"/>
              </a:spcBef>
              <a:spcAft>
                <a:spcPts val="0"/>
              </a:spcAft>
              <a:buNone/>
            </a:pPr>
            <a:r>
              <a:rPr lang="en-IN" sz="2200" dirty="0" smtClean="0">
                <a:latin typeface="Times New Roman"/>
                <a:ea typeface="Times New Roman"/>
                <a:cs typeface="Times New Roman"/>
                <a:sym typeface="Times New Roman"/>
              </a:rPr>
              <a:t>What </a:t>
            </a:r>
            <a:r>
              <a:rPr lang="en-IN" sz="2200" dirty="0">
                <a:latin typeface="Times New Roman"/>
                <a:ea typeface="Times New Roman"/>
                <a:cs typeface="Times New Roman"/>
                <a:sym typeface="Times New Roman"/>
              </a:rPr>
              <a:t>are short-term and long-term effects of drinking water being polluted? </a:t>
            </a:r>
            <a:endParaRPr lang="en-IN" sz="2200" dirty="0" smtClean="0">
              <a:latin typeface="Times New Roman"/>
              <a:ea typeface="Times New Roman"/>
              <a:cs typeface="Times New Roman"/>
              <a:sym typeface="Times New Roman"/>
            </a:endParaRPr>
          </a:p>
          <a:p>
            <a:pPr marL="365760" lvl="0" indent="0" algn="l" rtl="0">
              <a:lnSpc>
                <a:spcPct val="115000"/>
              </a:lnSpc>
              <a:spcBef>
                <a:spcPts val="500"/>
              </a:spcBef>
              <a:spcAft>
                <a:spcPts val="0"/>
              </a:spcAft>
              <a:buNone/>
            </a:pPr>
            <a:r>
              <a:rPr lang="en-IN" sz="2200" dirty="0" smtClean="0">
                <a:latin typeface="Times New Roman"/>
                <a:ea typeface="Times New Roman"/>
                <a:cs typeface="Times New Roman"/>
                <a:sym typeface="Times New Roman"/>
              </a:rPr>
              <a:t>Who </a:t>
            </a:r>
            <a:r>
              <a:rPr lang="en-IN" sz="2200" dirty="0">
                <a:latin typeface="Times New Roman"/>
                <a:ea typeface="Times New Roman"/>
                <a:cs typeface="Times New Roman"/>
                <a:sym typeface="Times New Roman"/>
              </a:rPr>
              <a:t>conducted the tests on materials?</a:t>
            </a:r>
            <a:endParaRPr sz="2200" dirty="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4"/>
          <p:cNvSpPr txBox="1">
            <a:spLocks noGrp="1"/>
          </p:cNvSpPr>
          <p:nvPr>
            <p:ph type="title"/>
          </p:nvPr>
        </p:nvSpPr>
        <p:spPr>
          <a:xfrm>
            <a:off x="1063701" y="274650"/>
            <a:ext cx="78699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4000" b="1">
                <a:latin typeface="Times New Roman"/>
                <a:ea typeface="Times New Roman"/>
                <a:cs typeface="Times New Roman"/>
                <a:sym typeface="Times New Roman"/>
              </a:rPr>
              <a:t>Moral Dilemmas</a:t>
            </a:r>
            <a:endParaRPr sz="4000" b="1">
              <a:latin typeface="Times New Roman"/>
              <a:ea typeface="Times New Roman"/>
              <a:cs typeface="Times New Roman"/>
              <a:sym typeface="Times New Roman"/>
            </a:endParaRPr>
          </a:p>
        </p:txBody>
      </p:sp>
      <p:sp>
        <p:nvSpPr>
          <p:cNvPr id="178" name="Google Shape;178;p14"/>
          <p:cNvSpPr txBox="1">
            <a:spLocks noGrp="1"/>
          </p:cNvSpPr>
          <p:nvPr>
            <p:ph type="body" idx="1"/>
          </p:nvPr>
        </p:nvSpPr>
        <p:spPr>
          <a:xfrm>
            <a:off x="970875" y="1447800"/>
            <a:ext cx="8173200" cy="5321100"/>
          </a:xfrm>
          <a:prstGeom prst="rect">
            <a:avLst/>
          </a:prstGeom>
          <a:noFill/>
          <a:ln>
            <a:noFill/>
          </a:ln>
        </p:spPr>
        <p:txBody>
          <a:bodyPr spcFirstLastPara="1" wrap="square" lIns="91425" tIns="45700" rIns="91425" bIns="45700" anchor="t" anchorCtr="0">
            <a:normAutofit/>
          </a:bodyPr>
          <a:lstStyle/>
          <a:p>
            <a:pPr marL="365760" lvl="0" indent="-273303" algn="just" rtl="0">
              <a:lnSpc>
                <a:spcPct val="100000"/>
              </a:lnSpc>
              <a:spcBef>
                <a:spcPts val="0"/>
              </a:spcBef>
              <a:spcAft>
                <a:spcPts val="0"/>
              </a:spcAft>
              <a:buSzPts val="2400"/>
              <a:buFont typeface="Times New Roman"/>
              <a:buChar char="⚫"/>
            </a:pPr>
            <a:r>
              <a:rPr lang="en-IN" sz="2400">
                <a:latin typeface="Times New Roman"/>
                <a:ea typeface="Times New Roman"/>
                <a:cs typeface="Times New Roman"/>
                <a:sym typeface="Times New Roman"/>
              </a:rPr>
              <a:t>Moral dilemmas are situations in which two or more moral obligations, duties, rights, goods, or ideals come into conflict with each other.</a:t>
            </a:r>
            <a:endParaRPr sz="2400">
              <a:latin typeface="Times New Roman"/>
              <a:ea typeface="Times New Roman"/>
              <a:cs typeface="Times New Roman"/>
              <a:sym typeface="Times New Roman"/>
            </a:endParaRPr>
          </a:p>
          <a:p>
            <a:pPr marL="640080" lvl="1" indent="-212344" algn="just" rtl="0">
              <a:lnSpc>
                <a:spcPct val="100000"/>
              </a:lnSpc>
              <a:spcBef>
                <a:spcPts val="550"/>
              </a:spcBef>
              <a:spcAft>
                <a:spcPts val="0"/>
              </a:spcAft>
              <a:buSzPts val="2400"/>
              <a:buFont typeface="Times New Roman"/>
              <a:buChar char="◦"/>
            </a:pPr>
            <a:r>
              <a:rPr lang="en-IN" sz="2400">
                <a:latin typeface="Times New Roman"/>
                <a:ea typeface="Times New Roman"/>
                <a:cs typeface="Times New Roman"/>
                <a:sym typeface="Times New Roman"/>
              </a:rPr>
              <a:t>All the moral principles cannot be fully respected in a given situation.</a:t>
            </a:r>
            <a:endParaRPr sz="2400">
              <a:latin typeface="Times New Roman"/>
              <a:ea typeface="Times New Roman"/>
              <a:cs typeface="Times New Roman"/>
              <a:sym typeface="Times New Roman"/>
            </a:endParaRPr>
          </a:p>
          <a:p>
            <a:pPr marL="640080" lvl="0" indent="0" algn="just" rtl="0">
              <a:lnSpc>
                <a:spcPct val="100000"/>
              </a:lnSpc>
              <a:spcBef>
                <a:spcPts val="550"/>
              </a:spcBef>
              <a:spcAft>
                <a:spcPts val="0"/>
              </a:spcAft>
              <a:buNone/>
            </a:pPr>
            <a:endParaRPr sz="2400">
              <a:latin typeface="Times New Roman"/>
              <a:ea typeface="Times New Roman"/>
              <a:cs typeface="Times New Roman"/>
              <a:sym typeface="Times New Roman"/>
            </a:endParaRPr>
          </a:p>
          <a:p>
            <a:pPr marL="640080" lvl="1" indent="-212344" algn="just" rtl="0">
              <a:lnSpc>
                <a:spcPct val="100000"/>
              </a:lnSpc>
              <a:spcBef>
                <a:spcPts val="550"/>
              </a:spcBef>
              <a:spcAft>
                <a:spcPts val="0"/>
              </a:spcAft>
              <a:buSzPts val="2400"/>
              <a:buFont typeface="Times New Roman"/>
              <a:buChar char="◦"/>
            </a:pPr>
            <a:r>
              <a:rPr lang="en-IN" sz="2400">
                <a:latin typeface="Times New Roman"/>
                <a:ea typeface="Times New Roman"/>
                <a:cs typeface="Times New Roman"/>
                <a:sym typeface="Times New Roman"/>
              </a:rPr>
              <a:t>Solving one moral principle can create two or more conflicting applications for a particular situation.</a:t>
            </a:r>
            <a:endParaRPr sz="2400">
              <a:latin typeface="Times New Roman"/>
              <a:ea typeface="Times New Roman"/>
              <a:cs typeface="Times New Roman"/>
              <a:sym typeface="Times New Roman"/>
            </a:endParaRPr>
          </a:p>
          <a:p>
            <a:pPr marL="640080" lvl="0" indent="0" algn="just" rtl="0">
              <a:lnSpc>
                <a:spcPct val="100000"/>
              </a:lnSpc>
              <a:spcBef>
                <a:spcPts val="550"/>
              </a:spcBef>
              <a:spcAft>
                <a:spcPts val="0"/>
              </a:spcAft>
              <a:buNone/>
            </a:pPr>
            <a:endParaRPr sz="2400">
              <a:latin typeface="Times New Roman"/>
              <a:ea typeface="Times New Roman"/>
              <a:cs typeface="Times New Roman"/>
              <a:sym typeface="Times New Roman"/>
            </a:endParaRPr>
          </a:p>
          <a:p>
            <a:pPr marL="640080" lvl="1" indent="-275844" algn="l" rtl="0">
              <a:lnSpc>
                <a:spcPct val="115000"/>
              </a:lnSpc>
              <a:spcBef>
                <a:spcPts val="700"/>
              </a:spcBef>
              <a:spcAft>
                <a:spcPts val="0"/>
              </a:spcAft>
              <a:buSzPts val="2400"/>
              <a:buFont typeface="Times New Roman"/>
              <a:buChar char="◦"/>
            </a:pPr>
            <a:r>
              <a:rPr lang="en-IN" sz="2400">
                <a:latin typeface="Times New Roman"/>
                <a:ea typeface="Times New Roman"/>
                <a:cs typeface="Times New Roman"/>
                <a:sym typeface="Times New Roman"/>
              </a:rPr>
              <a:t>For example: A person promised to meet a friend Or to help his uncle who is involved in an accident - one has to fix the priority.</a:t>
            </a:r>
            <a:endParaRPr sz="2400">
              <a:latin typeface="Times New Roman"/>
              <a:ea typeface="Times New Roman"/>
              <a:cs typeface="Times New Roman"/>
              <a:sym typeface="Times New Roman"/>
            </a:endParaRPr>
          </a:p>
          <a:p>
            <a:pPr marL="640080" lvl="0" indent="0" algn="just" rtl="0">
              <a:lnSpc>
                <a:spcPct val="100000"/>
              </a:lnSpc>
              <a:spcBef>
                <a:spcPts val="550"/>
              </a:spcBef>
              <a:spcAft>
                <a:spcPts val="0"/>
              </a:spcAft>
              <a:buNone/>
            </a:pPr>
            <a:endParaRPr sz="24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5"/>
          <p:cNvSpPr txBox="1">
            <a:spLocks noGrp="1"/>
          </p:cNvSpPr>
          <p:nvPr>
            <p:ph type="title"/>
          </p:nvPr>
        </p:nvSpPr>
        <p:spPr>
          <a:xfrm>
            <a:off x="1005676" y="274650"/>
            <a:ext cx="79281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3200" b="1" u="sng">
                <a:latin typeface="Times New Roman"/>
                <a:ea typeface="Times New Roman"/>
                <a:cs typeface="Times New Roman"/>
                <a:sym typeface="Times New Roman"/>
              </a:rPr>
              <a:t>Causes of Moral Dilemmas</a:t>
            </a:r>
            <a:endParaRPr sz="3200" b="1" u="sng">
              <a:latin typeface="Times New Roman"/>
              <a:ea typeface="Times New Roman"/>
              <a:cs typeface="Times New Roman"/>
              <a:sym typeface="Times New Roman"/>
            </a:endParaRPr>
          </a:p>
        </p:txBody>
      </p:sp>
      <p:sp>
        <p:nvSpPr>
          <p:cNvPr id="184" name="Google Shape;184;p15"/>
          <p:cNvSpPr txBox="1">
            <a:spLocks noGrp="1"/>
          </p:cNvSpPr>
          <p:nvPr>
            <p:ph type="body" idx="1"/>
          </p:nvPr>
        </p:nvSpPr>
        <p:spPr>
          <a:xfrm>
            <a:off x="1121726" y="1447800"/>
            <a:ext cx="7812000" cy="4800600"/>
          </a:xfrm>
          <a:prstGeom prst="rect">
            <a:avLst/>
          </a:prstGeom>
          <a:noFill/>
          <a:ln>
            <a:noFill/>
          </a:ln>
        </p:spPr>
        <p:txBody>
          <a:bodyPr spcFirstLastPara="1" wrap="square" lIns="91425" tIns="45700" rIns="91425" bIns="45700" anchor="t" anchorCtr="0">
            <a:normAutofit/>
          </a:bodyPr>
          <a:lstStyle/>
          <a:p>
            <a:pPr marL="365760" lvl="0" indent="-273303" algn="l" rtl="0">
              <a:lnSpc>
                <a:spcPct val="100000"/>
              </a:lnSpc>
              <a:spcBef>
                <a:spcPts val="0"/>
              </a:spcBef>
              <a:spcAft>
                <a:spcPts val="0"/>
              </a:spcAft>
              <a:buSzPts val="2400"/>
              <a:buFont typeface="Times New Roman"/>
              <a:buChar char="⚫"/>
            </a:pPr>
            <a:r>
              <a:rPr lang="en-IN" sz="2400" b="1" dirty="0">
                <a:latin typeface="Times New Roman"/>
                <a:ea typeface="Times New Roman"/>
                <a:cs typeface="Times New Roman"/>
                <a:sym typeface="Times New Roman"/>
              </a:rPr>
              <a:t>Problem of vagueness</a:t>
            </a:r>
            <a:r>
              <a:rPr lang="en-IN" sz="2400" dirty="0">
                <a:latin typeface="Times New Roman"/>
                <a:ea typeface="Times New Roman"/>
                <a:cs typeface="Times New Roman"/>
                <a:sym typeface="Times New Roman"/>
              </a:rPr>
              <a:t> </a:t>
            </a:r>
            <a:r>
              <a:rPr lang="en-IN" sz="2400" dirty="0" smtClean="0">
                <a:latin typeface="Times New Roman"/>
                <a:ea typeface="Times New Roman"/>
                <a:cs typeface="Times New Roman"/>
                <a:sym typeface="Times New Roman"/>
              </a:rPr>
              <a:t>– Decision maker is not clear about the situation.(Miscommunication, lack of facts etc.</a:t>
            </a:r>
            <a:endParaRPr sz="2400" dirty="0">
              <a:latin typeface="Times New Roman"/>
              <a:ea typeface="Times New Roman"/>
              <a:cs typeface="Times New Roman"/>
              <a:sym typeface="Times New Roman"/>
            </a:endParaRPr>
          </a:p>
          <a:p>
            <a:pPr marL="365760" lvl="0" indent="0" algn="l" rtl="0">
              <a:lnSpc>
                <a:spcPct val="100000"/>
              </a:lnSpc>
              <a:spcBef>
                <a:spcPts val="0"/>
              </a:spcBef>
              <a:spcAft>
                <a:spcPts val="0"/>
              </a:spcAft>
              <a:buNone/>
            </a:pPr>
            <a:endParaRPr sz="2400" dirty="0">
              <a:latin typeface="Times New Roman"/>
              <a:ea typeface="Times New Roman"/>
              <a:cs typeface="Times New Roman"/>
              <a:sym typeface="Times New Roman"/>
            </a:endParaRPr>
          </a:p>
          <a:p>
            <a:pPr marL="365760" lvl="0" indent="-273303" algn="l" rtl="0">
              <a:lnSpc>
                <a:spcPct val="100000"/>
              </a:lnSpc>
              <a:spcBef>
                <a:spcPts val="600"/>
              </a:spcBef>
              <a:spcAft>
                <a:spcPts val="0"/>
              </a:spcAft>
              <a:buSzPts val="2400"/>
              <a:buFont typeface="Times New Roman"/>
              <a:buChar char="⚫"/>
            </a:pPr>
            <a:r>
              <a:rPr lang="en-IN" sz="2400" b="1" dirty="0">
                <a:latin typeface="Times New Roman"/>
                <a:ea typeface="Times New Roman"/>
                <a:cs typeface="Times New Roman"/>
                <a:sym typeface="Times New Roman"/>
              </a:rPr>
              <a:t>Problem of conflicting reasons</a:t>
            </a:r>
            <a:r>
              <a:rPr lang="en-IN" sz="2400" dirty="0">
                <a:latin typeface="Times New Roman"/>
                <a:ea typeface="Times New Roman"/>
                <a:cs typeface="Times New Roman"/>
                <a:sym typeface="Times New Roman"/>
              </a:rPr>
              <a:t> - One is unable to choose between two good moral solutions. One has to fix priority, through knowledge or value system.</a:t>
            </a:r>
            <a:endParaRPr sz="2400" dirty="0">
              <a:latin typeface="Times New Roman"/>
              <a:ea typeface="Times New Roman"/>
              <a:cs typeface="Times New Roman"/>
              <a:sym typeface="Times New Roman"/>
            </a:endParaRPr>
          </a:p>
          <a:p>
            <a:pPr marL="365760" lvl="0" indent="0" algn="l" rtl="0">
              <a:lnSpc>
                <a:spcPct val="100000"/>
              </a:lnSpc>
              <a:spcBef>
                <a:spcPts val="600"/>
              </a:spcBef>
              <a:spcAft>
                <a:spcPts val="0"/>
              </a:spcAft>
              <a:buNone/>
            </a:pPr>
            <a:endParaRPr sz="2400" dirty="0">
              <a:latin typeface="Times New Roman"/>
              <a:ea typeface="Times New Roman"/>
              <a:cs typeface="Times New Roman"/>
              <a:sym typeface="Times New Roman"/>
            </a:endParaRPr>
          </a:p>
          <a:p>
            <a:pPr marL="365760" lvl="0" indent="-273303" algn="l" rtl="0">
              <a:lnSpc>
                <a:spcPct val="100000"/>
              </a:lnSpc>
              <a:spcBef>
                <a:spcPts val="600"/>
              </a:spcBef>
              <a:spcAft>
                <a:spcPts val="0"/>
              </a:spcAft>
              <a:buSzPts val="2400"/>
              <a:buFont typeface="Times New Roman"/>
              <a:buChar char="⚫"/>
            </a:pPr>
            <a:r>
              <a:rPr lang="en-IN" sz="2400" b="1" dirty="0">
                <a:latin typeface="Times New Roman"/>
                <a:ea typeface="Times New Roman"/>
                <a:cs typeface="Times New Roman"/>
                <a:sym typeface="Times New Roman"/>
              </a:rPr>
              <a:t>Problem of disagreement</a:t>
            </a:r>
            <a:r>
              <a:rPr lang="en-IN" sz="2400" dirty="0">
                <a:latin typeface="Times New Roman"/>
                <a:ea typeface="Times New Roman"/>
                <a:cs typeface="Times New Roman"/>
                <a:sym typeface="Times New Roman"/>
              </a:rPr>
              <a:t> - There may be two or more solutions and none of them </a:t>
            </a:r>
            <a:r>
              <a:rPr lang="en-IN" sz="2400" dirty="0" smtClean="0">
                <a:latin typeface="Times New Roman"/>
                <a:ea typeface="Times New Roman"/>
                <a:cs typeface="Times New Roman"/>
                <a:sym typeface="Times New Roman"/>
              </a:rPr>
              <a:t>are mandatory</a:t>
            </a:r>
            <a:r>
              <a:rPr lang="en-IN" sz="2400" dirty="0">
                <a:latin typeface="Times New Roman"/>
                <a:ea typeface="Times New Roman"/>
                <a:cs typeface="Times New Roman"/>
                <a:sym typeface="Times New Roman"/>
              </a:rPr>
              <a:t>. </a:t>
            </a:r>
            <a:r>
              <a:rPr lang="en-IN" sz="2400" smtClean="0">
                <a:latin typeface="Times New Roman"/>
                <a:ea typeface="Times New Roman"/>
                <a:cs typeface="Times New Roman"/>
                <a:sym typeface="Times New Roman"/>
              </a:rPr>
              <a:t>(Basically </a:t>
            </a:r>
            <a:r>
              <a:rPr lang="en-IN" sz="2400" dirty="0" smtClean="0">
                <a:latin typeface="Times New Roman"/>
                <a:ea typeface="Times New Roman"/>
                <a:cs typeface="Times New Roman"/>
                <a:sym typeface="Times New Roman"/>
              </a:rPr>
              <a:t>deals with the thinking that your opinion/solution is best and disagrees on the </a:t>
            </a:r>
            <a:r>
              <a:rPr lang="en-IN" sz="2400" smtClean="0">
                <a:latin typeface="Times New Roman"/>
                <a:ea typeface="Times New Roman"/>
                <a:cs typeface="Times New Roman"/>
                <a:sym typeface="Times New Roman"/>
              </a:rPr>
              <a:t>others solution.)</a:t>
            </a:r>
            <a:endParaRPr sz="2400" dirty="0">
              <a:latin typeface="Times New Roman"/>
              <a:ea typeface="Times New Roman"/>
              <a:cs typeface="Times New Roman"/>
              <a:sym typeface="Times New Roman"/>
            </a:endParaRPr>
          </a:p>
          <a:p>
            <a:pPr marL="365760" lvl="0" indent="0" algn="l" rtl="0">
              <a:lnSpc>
                <a:spcPct val="100000"/>
              </a:lnSpc>
              <a:spcBef>
                <a:spcPts val="600"/>
              </a:spcBef>
              <a:spcAft>
                <a:spcPts val="0"/>
              </a:spcAft>
              <a:buNone/>
            </a:pPr>
            <a:endParaRPr sz="2600" dirty="0">
              <a:latin typeface="Times New Roman"/>
              <a:ea typeface="Times New Roman"/>
              <a:cs typeface="Times New Roman"/>
              <a:sym typeface="Times New Roman"/>
            </a:endParaRPr>
          </a:p>
          <a:p>
            <a:pPr marL="365760" lvl="0" indent="-120903" algn="l" rtl="0">
              <a:lnSpc>
                <a:spcPct val="100000"/>
              </a:lnSpc>
              <a:spcBef>
                <a:spcPts val="600"/>
              </a:spcBef>
              <a:spcAft>
                <a:spcPts val="0"/>
              </a:spcAft>
              <a:buSzPts val="2560"/>
              <a:buNone/>
            </a:pPr>
            <a:endParaRPr sz="2600" dirty="0">
              <a:latin typeface="Times New Roman"/>
              <a:ea typeface="Times New Roman"/>
              <a:cs typeface="Times New Roman"/>
              <a:sym typeface="Times New Roman"/>
            </a:endParaRPr>
          </a:p>
          <a:p>
            <a:pPr marL="365760" lvl="0" indent="-120903" algn="l" rtl="0">
              <a:lnSpc>
                <a:spcPct val="100000"/>
              </a:lnSpc>
              <a:spcBef>
                <a:spcPts val="600"/>
              </a:spcBef>
              <a:spcAft>
                <a:spcPts val="0"/>
              </a:spcAft>
              <a:buSzPts val="2560"/>
              <a:buNone/>
            </a:pPr>
            <a:endParaRPr sz="2600" dirty="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6"/>
          <p:cNvSpPr txBox="1">
            <a:spLocks noGrp="1"/>
          </p:cNvSpPr>
          <p:nvPr>
            <p:ph type="title"/>
          </p:nvPr>
        </p:nvSpPr>
        <p:spPr>
          <a:xfrm>
            <a:off x="828900" y="54550"/>
            <a:ext cx="82389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562214"/>
              </a:buClr>
              <a:buSzPts val="4300"/>
              <a:buFont typeface="Gill Sans"/>
              <a:buNone/>
            </a:pPr>
            <a:r>
              <a:rPr lang="en-IN" sz="3200" b="1" u="sng">
                <a:latin typeface="Times New Roman"/>
                <a:ea typeface="Times New Roman"/>
                <a:cs typeface="Times New Roman"/>
                <a:sym typeface="Times New Roman"/>
              </a:rPr>
              <a:t>Steps / Procedures in Facing / Confronting Moral Dilemma</a:t>
            </a:r>
            <a:endParaRPr sz="3200" b="1" u="sng">
              <a:latin typeface="Times New Roman"/>
              <a:ea typeface="Times New Roman"/>
              <a:cs typeface="Times New Roman"/>
              <a:sym typeface="Times New Roman"/>
            </a:endParaRPr>
          </a:p>
        </p:txBody>
      </p:sp>
      <p:sp>
        <p:nvSpPr>
          <p:cNvPr id="190" name="Google Shape;190;p16"/>
          <p:cNvSpPr txBox="1">
            <a:spLocks noGrp="1"/>
          </p:cNvSpPr>
          <p:nvPr>
            <p:ph type="body" idx="1"/>
          </p:nvPr>
        </p:nvSpPr>
        <p:spPr>
          <a:xfrm>
            <a:off x="1066800" y="1371600"/>
            <a:ext cx="8001000" cy="5410200"/>
          </a:xfrm>
          <a:prstGeom prst="rect">
            <a:avLst/>
          </a:prstGeom>
          <a:noFill/>
          <a:ln>
            <a:noFill/>
          </a:ln>
        </p:spPr>
        <p:txBody>
          <a:bodyPr spcFirstLastPara="1" wrap="square" lIns="91425" tIns="45700" rIns="91425" bIns="45700" anchor="t" anchorCtr="0">
            <a:normAutofit/>
          </a:bodyPr>
          <a:lstStyle/>
          <a:p>
            <a:pPr marL="365760" lvl="0" indent="-297687" algn="just" rtl="0">
              <a:lnSpc>
                <a:spcPct val="100000"/>
              </a:lnSpc>
              <a:spcBef>
                <a:spcPts val="0"/>
              </a:spcBef>
              <a:spcAft>
                <a:spcPts val="0"/>
              </a:spcAft>
              <a:buSzPts val="2400"/>
              <a:buFont typeface="Times New Roman"/>
              <a:buChar char="⚫"/>
            </a:pPr>
            <a:r>
              <a:rPr lang="en-IN" sz="2400">
                <a:latin typeface="Times New Roman"/>
                <a:ea typeface="Times New Roman"/>
                <a:cs typeface="Times New Roman"/>
                <a:sym typeface="Times New Roman"/>
              </a:rPr>
              <a:t>Identifying the relevant moral factors and reasons.</a:t>
            </a:r>
            <a:endParaRPr sz="2400">
              <a:latin typeface="Times New Roman"/>
              <a:ea typeface="Times New Roman"/>
              <a:cs typeface="Times New Roman"/>
              <a:sym typeface="Times New Roman"/>
            </a:endParaRPr>
          </a:p>
          <a:p>
            <a:pPr marL="365760" lvl="0" indent="-297687"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Collecting and gathering all the available facts which are relevant to the moral factors while resolving.</a:t>
            </a:r>
            <a:endParaRPr sz="2400">
              <a:latin typeface="Times New Roman"/>
              <a:ea typeface="Times New Roman"/>
              <a:cs typeface="Times New Roman"/>
              <a:sym typeface="Times New Roman"/>
            </a:endParaRPr>
          </a:p>
          <a:p>
            <a:pPr marL="365760" lvl="0" indent="-297687"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Ranking the moral considerations or principles on the basis of importance as applicable to the situation.</a:t>
            </a:r>
            <a:endParaRPr sz="2400">
              <a:latin typeface="Times New Roman"/>
              <a:ea typeface="Times New Roman"/>
              <a:cs typeface="Times New Roman"/>
              <a:sym typeface="Times New Roman"/>
            </a:endParaRPr>
          </a:p>
          <a:p>
            <a:pPr marL="365760" lvl="0" indent="-297687"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Considering alternative courses of action for resolving the problems and tracing the full implications of each.</a:t>
            </a:r>
            <a:endParaRPr sz="2400">
              <a:latin typeface="Times New Roman"/>
              <a:ea typeface="Times New Roman"/>
              <a:cs typeface="Times New Roman"/>
              <a:sym typeface="Times New Roman"/>
            </a:endParaRPr>
          </a:p>
          <a:p>
            <a:pPr marL="365760" lvl="0" indent="-297687"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Having talked with the colleagues, friend about the problem getting their suggestions and alternative ideas on resolving that dilemma</a:t>
            </a:r>
            <a:endParaRPr sz="2400">
              <a:latin typeface="Times New Roman"/>
              <a:ea typeface="Times New Roman"/>
              <a:cs typeface="Times New Roman"/>
              <a:sym typeface="Times New Roman"/>
            </a:endParaRPr>
          </a:p>
          <a:p>
            <a:pPr marL="365760" lvl="0" indent="-297687"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Arriving at a careful and reasonable judgment or solution by taking into consideration of all important moral factors and reasons on the basis of the facts or truths.</a:t>
            </a:r>
            <a:endParaRPr sz="24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7"/>
          <p:cNvSpPr txBox="1">
            <a:spLocks noGrp="1"/>
          </p:cNvSpPr>
          <p:nvPr>
            <p:ph type="title"/>
          </p:nvPr>
        </p:nvSpPr>
        <p:spPr>
          <a:xfrm>
            <a:off x="959276" y="76200"/>
            <a:ext cx="79743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4000" b="1">
                <a:latin typeface="Times New Roman"/>
                <a:ea typeface="Times New Roman"/>
                <a:cs typeface="Times New Roman"/>
                <a:sym typeface="Times New Roman"/>
              </a:rPr>
              <a:t>MORAL AUTONOMY</a:t>
            </a:r>
            <a:endParaRPr sz="4000" b="1">
              <a:latin typeface="Times New Roman"/>
              <a:ea typeface="Times New Roman"/>
              <a:cs typeface="Times New Roman"/>
              <a:sym typeface="Times New Roman"/>
            </a:endParaRPr>
          </a:p>
        </p:txBody>
      </p:sp>
      <p:sp>
        <p:nvSpPr>
          <p:cNvPr id="196" name="Google Shape;196;p17"/>
          <p:cNvSpPr txBox="1">
            <a:spLocks noGrp="1"/>
          </p:cNvSpPr>
          <p:nvPr>
            <p:ph type="body" idx="1"/>
          </p:nvPr>
        </p:nvSpPr>
        <p:spPr>
          <a:xfrm>
            <a:off x="959400" y="1219200"/>
            <a:ext cx="8184600" cy="5638800"/>
          </a:xfrm>
          <a:prstGeom prst="rect">
            <a:avLst/>
          </a:prstGeom>
          <a:noFill/>
          <a:ln>
            <a:noFill/>
          </a:ln>
        </p:spPr>
        <p:txBody>
          <a:bodyPr spcFirstLastPara="1" wrap="square" lIns="91425" tIns="45700" rIns="91425" bIns="45700" anchor="t" anchorCtr="0">
            <a:normAutofit/>
          </a:bodyPr>
          <a:lstStyle/>
          <a:p>
            <a:pPr marL="365760" lvl="0" indent="-297687" algn="just" rtl="0">
              <a:lnSpc>
                <a:spcPct val="100000"/>
              </a:lnSpc>
              <a:spcBef>
                <a:spcPts val="0"/>
              </a:spcBef>
              <a:spcAft>
                <a:spcPts val="0"/>
              </a:spcAft>
              <a:buSzPts val="2400"/>
              <a:buFont typeface="Times New Roman"/>
              <a:buChar char="⚫"/>
            </a:pPr>
            <a:r>
              <a:rPr lang="en-IN" sz="2400">
                <a:latin typeface="Times New Roman"/>
                <a:ea typeface="Times New Roman"/>
                <a:cs typeface="Times New Roman"/>
                <a:sym typeface="Times New Roman"/>
              </a:rPr>
              <a:t>It is the philosophy which is self-governing or self-determining, i.e., acting independently without the influence or distortion of others.</a:t>
            </a:r>
            <a:endParaRPr sz="2400">
              <a:latin typeface="Times New Roman"/>
              <a:ea typeface="Times New Roman"/>
              <a:cs typeface="Times New Roman"/>
              <a:sym typeface="Times New Roman"/>
            </a:endParaRPr>
          </a:p>
          <a:p>
            <a:pPr marL="365760" lvl="0" indent="0" algn="just" rtl="0">
              <a:lnSpc>
                <a:spcPct val="100000"/>
              </a:lnSpc>
              <a:spcBef>
                <a:spcPts val="0"/>
              </a:spcBef>
              <a:spcAft>
                <a:spcPts val="0"/>
              </a:spcAft>
              <a:buNone/>
            </a:pPr>
            <a:endParaRPr sz="2400">
              <a:latin typeface="Times New Roman"/>
              <a:ea typeface="Times New Roman"/>
              <a:cs typeface="Times New Roman"/>
              <a:sym typeface="Times New Roman"/>
            </a:endParaRPr>
          </a:p>
          <a:p>
            <a:pPr marL="365760" lvl="0" indent="-297687"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The moral autonomy is the ability to think critically and independently about moral issues and apply this moral thinking to situations that arise during the professional engineering practice.</a:t>
            </a:r>
            <a:endParaRPr sz="2400">
              <a:latin typeface="Times New Roman"/>
              <a:ea typeface="Times New Roman"/>
              <a:cs typeface="Times New Roman"/>
              <a:sym typeface="Times New Roman"/>
            </a:endParaRPr>
          </a:p>
          <a:p>
            <a:pPr marL="365760" lvl="0" indent="0" algn="just" rtl="0">
              <a:lnSpc>
                <a:spcPct val="100000"/>
              </a:lnSpc>
              <a:spcBef>
                <a:spcPts val="600"/>
              </a:spcBef>
              <a:spcAft>
                <a:spcPts val="0"/>
              </a:spcAft>
              <a:buNone/>
            </a:pPr>
            <a:endParaRPr sz="2400">
              <a:latin typeface="Times New Roman"/>
              <a:ea typeface="Times New Roman"/>
              <a:cs typeface="Times New Roman"/>
              <a:sym typeface="Times New Roman"/>
            </a:endParaRPr>
          </a:p>
          <a:p>
            <a:pPr marL="365760" lvl="0" indent="-297687"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The moral autonomy relates to the individual ideas whether right or wrong conduct which is independent of ethical issues.</a:t>
            </a:r>
            <a:endParaRPr sz="2400">
              <a:latin typeface="Times New Roman"/>
              <a:ea typeface="Times New Roman"/>
              <a:cs typeface="Times New Roman"/>
              <a:sym typeface="Times New Roman"/>
            </a:endParaRPr>
          </a:p>
          <a:p>
            <a:pPr marL="365760" lvl="0" indent="0" algn="just" rtl="0">
              <a:lnSpc>
                <a:spcPct val="100000"/>
              </a:lnSpc>
              <a:spcBef>
                <a:spcPts val="600"/>
              </a:spcBef>
              <a:spcAft>
                <a:spcPts val="0"/>
              </a:spcAft>
              <a:buNone/>
            </a:pPr>
            <a:r>
              <a:rPr lang="en-IN"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marL="365760" lvl="0" indent="-297687"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The concept of moral autonomy helps in improving self-determination.</a:t>
            </a:r>
            <a:endParaRPr sz="24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8"/>
          <p:cNvSpPr txBox="1">
            <a:spLocks noGrp="1"/>
          </p:cNvSpPr>
          <p:nvPr>
            <p:ph type="title"/>
          </p:nvPr>
        </p:nvSpPr>
        <p:spPr>
          <a:xfrm>
            <a:off x="1005600" y="0"/>
            <a:ext cx="7928100" cy="827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3200" b="1" u="sng">
                <a:latin typeface="Times New Roman"/>
                <a:ea typeface="Times New Roman"/>
                <a:cs typeface="Times New Roman"/>
                <a:sym typeface="Times New Roman"/>
              </a:rPr>
              <a:t>Moral Autonomy – Skills Needed</a:t>
            </a:r>
            <a:endParaRPr sz="3200" b="1" u="sng">
              <a:latin typeface="Times New Roman"/>
              <a:ea typeface="Times New Roman"/>
              <a:cs typeface="Times New Roman"/>
              <a:sym typeface="Times New Roman"/>
            </a:endParaRPr>
          </a:p>
        </p:txBody>
      </p:sp>
      <p:sp>
        <p:nvSpPr>
          <p:cNvPr id="202" name="Google Shape;202;p18"/>
          <p:cNvSpPr txBox="1">
            <a:spLocks noGrp="1"/>
          </p:cNvSpPr>
          <p:nvPr>
            <p:ph type="body" idx="1"/>
          </p:nvPr>
        </p:nvSpPr>
        <p:spPr>
          <a:xfrm>
            <a:off x="1005600" y="885775"/>
            <a:ext cx="8138400" cy="5972100"/>
          </a:xfrm>
          <a:prstGeom prst="rect">
            <a:avLst/>
          </a:prstGeom>
          <a:noFill/>
          <a:ln>
            <a:noFill/>
          </a:ln>
        </p:spPr>
        <p:txBody>
          <a:bodyPr spcFirstLastPara="1" wrap="square" lIns="91425" tIns="45700" rIns="91425" bIns="45700" anchor="t" anchorCtr="0">
            <a:normAutofit/>
          </a:bodyPr>
          <a:lstStyle/>
          <a:p>
            <a:pPr marL="365760" lvl="0" indent="-285496" algn="just" rtl="0">
              <a:lnSpc>
                <a:spcPct val="100000"/>
              </a:lnSpc>
              <a:spcBef>
                <a:spcPts val="0"/>
              </a:spcBef>
              <a:spcAft>
                <a:spcPts val="0"/>
              </a:spcAft>
              <a:buSzPts val="2400"/>
              <a:buFont typeface="Times New Roman"/>
              <a:buChar char="⚫"/>
            </a:pPr>
            <a:r>
              <a:rPr lang="en-IN" sz="2400">
                <a:latin typeface="Times New Roman"/>
                <a:ea typeface="Times New Roman"/>
                <a:cs typeface="Times New Roman"/>
                <a:sym typeface="Times New Roman"/>
              </a:rPr>
              <a:t>Ability to relate the problems with the problems of law, economics and religious principles.</a:t>
            </a:r>
            <a:endParaRPr sz="2400">
              <a:latin typeface="Times New Roman"/>
              <a:ea typeface="Times New Roman"/>
              <a:cs typeface="Times New Roman"/>
              <a:sym typeface="Times New Roman"/>
            </a:endParaRPr>
          </a:p>
          <a:p>
            <a:pPr marL="365760" lvl="0" indent="0" algn="just" rtl="0">
              <a:lnSpc>
                <a:spcPct val="100000"/>
              </a:lnSpc>
              <a:spcBef>
                <a:spcPts val="0"/>
              </a:spcBef>
              <a:spcAft>
                <a:spcPts val="0"/>
              </a:spcAft>
              <a:buNone/>
            </a:pPr>
            <a:endParaRPr sz="2400">
              <a:latin typeface="Times New Roman"/>
              <a:ea typeface="Times New Roman"/>
              <a:cs typeface="Times New Roman"/>
              <a:sym typeface="Times New Roman"/>
            </a:endParaRPr>
          </a:p>
          <a:p>
            <a:pPr marL="365760" lvl="0" indent="-285496"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Skill to process, clarify and understand the arguments against the moral issues.</a:t>
            </a:r>
            <a:endParaRPr sz="2400">
              <a:latin typeface="Times New Roman"/>
              <a:ea typeface="Times New Roman"/>
              <a:cs typeface="Times New Roman"/>
              <a:sym typeface="Times New Roman"/>
            </a:endParaRPr>
          </a:p>
          <a:p>
            <a:pPr marL="365760" lvl="0" indent="0" algn="just" rtl="0">
              <a:lnSpc>
                <a:spcPct val="100000"/>
              </a:lnSpc>
              <a:spcBef>
                <a:spcPts val="600"/>
              </a:spcBef>
              <a:spcAft>
                <a:spcPts val="0"/>
              </a:spcAft>
              <a:buNone/>
            </a:pPr>
            <a:endParaRPr sz="2400">
              <a:latin typeface="Times New Roman"/>
              <a:ea typeface="Times New Roman"/>
              <a:cs typeface="Times New Roman"/>
              <a:sym typeface="Times New Roman"/>
            </a:endParaRPr>
          </a:p>
          <a:p>
            <a:pPr marL="365760" lvl="0" indent="-285496"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Ability to suggest the solutions to moral issues on the basis of facts.</a:t>
            </a:r>
            <a:endParaRPr sz="2400">
              <a:latin typeface="Times New Roman"/>
              <a:ea typeface="Times New Roman"/>
              <a:cs typeface="Times New Roman"/>
              <a:sym typeface="Times New Roman"/>
            </a:endParaRPr>
          </a:p>
          <a:p>
            <a:pPr marL="365760" lvl="0" indent="0" algn="just" rtl="0">
              <a:lnSpc>
                <a:spcPct val="100000"/>
              </a:lnSpc>
              <a:spcBef>
                <a:spcPts val="600"/>
              </a:spcBef>
              <a:spcAft>
                <a:spcPts val="0"/>
              </a:spcAft>
              <a:buNone/>
            </a:pPr>
            <a:endParaRPr sz="2400">
              <a:latin typeface="Times New Roman"/>
              <a:ea typeface="Times New Roman"/>
              <a:cs typeface="Times New Roman"/>
              <a:sym typeface="Times New Roman"/>
            </a:endParaRPr>
          </a:p>
          <a:p>
            <a:pPr marL="365760" lvl="0" indent="-285496"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Must have the imaginative skill to view the problems from all the viewpoints.</a:t>
            </a:r>
            <a:endParaRPr sz="2400">
              <a:latin typeface="Times New Roman"/>
              <a:ea typeface="Times New Roman"/>
              <a:cs typeface="Times New Roman"/>
              <a:sym typeface="Times New Roman"/>
            </a:endParaRPr>
          </a:p>
          <a:p>
            <a:pPr marL="365760" lvl="0" indent="0" algn="just" rtl="0">
              <a:lnSpc>
                <a:spcPct val="100000"/>
              </a:lnSpc>
              <a:spcBef>
                <a:spcPts val="600"/>
              </a:spcBef>
              <a:spcAft>
                <a:spcPts val="0"/>
              </a:spcAft>
              <a:buNone/>
            </a:pPr>
            <a:endParaRPr sz="2400">
              <a:latin typeface="Times New Roman"/>
              <a:ea typeface="Times New Roman"/>
              <a:cs typeface="Times New Roman"/>
              <a:sym typeface="Times New Roman"/>
            </a:endParaRPr>
          </a:p>
          <a:p>
            <a:pPr marL="365760" lvl="0" indent="-285496"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Tolerance while giving moral judgment, which may cause trouble</a:t>
            </a:r>
            <a:endParaRPr sz="24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9"/>
          <p:cNvSpPr txBox="1">
            <a:spLocks noGrp="1"/>
          </p:cNvSpPr>
          <p:nvPr>
            <p:ph type="title"/>
          </p:nvPr>
        </p:nvSpPr>
        <p:spPr>
          <a:xfrm>
            <a:off x="1005675" y="-76200"/>
            <a:ext cx="81384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3600"/>
              <a:buFont typeface="Gill Sans"/>
              <a:buNone/>
            </a:pPr>
            <a:r>
              <a:rPr lang="en-IN" sz="3200" b="1" u="sng">
                <a:latin typeface="Times New Roman"/>
                <a:ea typeface="Times New Roman"/>
                <a:cs typeface="Times New Roman"/>
                <a:sym typeface="Times New Roman"/>
              </a:rPr>
              <a:t>Skills for Improving Moral Autonomy</a:t>
            </a:r>
            <a:endParaRPr sz="3200" b="1" u="sng">
              <a:latin typeface="Times New Roman"/>
              <a:ea typeface="Times New Roman"/>
              <a:cs typeface="Times New Roman"/>
              <a:sym typeface="Times New Roman"/>
            </a:endParaRPr>
          </a:p>
        </p:txBody>
      </p:sp>
      <p:sp>
        <p:nvSpPr>
          <p:cNvPr id="208" name="Google Shape;208;p19"/>
          <p:cNvSpPr txBox="1">
            <a:spLocks noGrp="1"/>
          </p:cNvSpPr>
          <p:nvPr>
            <p:ph type="body" idx="1"/>
          </p:nvPr>
        </p:nvSpPr>
        <p:spPr>
          <a:xfrm>
            <a:off x="1005675" y="1066800"/>
            <a:ext cx="8138400" cy="5791200"/>
          </a:xfrm>
          <a:prstGeom prst="rect">
            <a:avLst/>
          </a:prstGeom>
          <a:noFill/>
          <a:ln>
            <a:noFill/>
          </a:ln>
        </p:spPr>
        <p:txBody>
          <a:bodyPr spcFirstLastPara="1" wrap="square" lIns="91425" tIns="45700" rIns="91425" bIns="45700" anchor="t" anchorCtr="0">
            <a:normAutofit/>
          </a:bodyPr>
          <a:lstStyle/>
          <a:p>
            <a:pPr marL="365760" lvl="0" indent="-297687" algn="just" rtl="0">
              <a:lnSpc>
                <a:spcPct val="100000"/>
              </a:lnSpc>
              <a:spcBef>
                <a:spcPts val="0"/>
              </a:spcBef>
              <a:spcAft>
                <a:spcPts val="0"/>
              </a:spcAft>
              <a:buSzPts val="2400"/>
              <a:buFont typeface="Times New Roman"/>
              <a:buChar char="⚫"/>
            </a:pPr>
            <a:r>
              <a:rPr lang="en-IN" sz="2400">
                <a:latin typeface="Times New Roman"/>
                <a:ea typeface="Times New Roman"/>
                <a:cs typeface="Times New Roman"/>
                <a:sym typeface="Times New Roman"/>
              </a:rPr>
              <a:t>One should have a lot of patience and interest. </a:t>
            </a:r>
            <a:endParaRPr sz="2400">
              <a:latin typeface="Times New Roman"/>
              <a:ea typeface="Times New Roman"/>
              <a:cs typeface="Times New Roman"/>
              <a:sym typeface="Times New Roman"/>
            </a:endParaRPr>
          </a:p>
          <a:p>
            <a:pPr marL="365760" lvl="0" indent="-297687"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One should adhere to the basic principles of humanity and should be strict with the Don’ts he has in mind and liberal with his Do’s. </a:t>
            </a:r>
            <a:endParaRPr sz="2400">
              <a:latin typeface="Times New Roman"/>
              <a:ea typeface="Times New Roman"/>
              <a:cs typeface="Times New Roman"/>
              <a:sym typeface="Times New Roman"/>
            </a:endParaRPr>
          </a:p>
          <a:p>
            <a:pPr marL="365760" lvl="0" indent="-297687"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The kindness towards the fellow beings.</a:t>
            </a:r>
            <a:endParaRPr sz="2400">
              <a:latin typeface="Times New Roman"/>
              <a:ea typeface="Times New Roman"/>
              <a:cs typeface="Times New Roman"/>
              <a:sym typeface="Times New Roman"/>
            </a:endParaRPr>
          </a:p>
          <a:p>
            <a:pPr marL="365760" lvl="0" indent="-297687"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A Person must have adequate knowledge and understanding about the use of ethical language. </a:t>
            </a:r>
            <a:endParaRPr sz="2400">
              <a:latin typeface="Times New Roman"/>
              <a:ea typeface="Times New Roman"/>
              <a:cs typeface="Times New Roman"/>
              <a:sym typeface="Times New Roman"/>
            </a:endParaRPr>
          </a:p>
          <a:p>
            <a:pPr marL="365760" lvl="0" indent="-297687"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He must have better knowledge in understanding the importance of suggestions and better solutions while resolving moral problems and also about the importance of tolerance on some critical situations.</a:t>
            </a:r>
            <a:endParaRPr sz="2400">
              <a:latin typeface="Times New Roman"/>
              <a:ea typeface="Times New Roman"/>
              <a:cs typeface="Times New Roman"/>
              <a:sym typeface="Times New Roman"/>
            </a:endParaRPr>
          </a:p>
          <a:p>
            <a:pPr marL="365760" lvl="0" indent="-297687" algn="just" rtl="0">
              <a:lnSpc>
                <a:spcPct val="100000"/>
              </a:lnSpc>
              <a:spcBef>
                <a:spcPts val="600"/>
              </a:spcBef>
              <a:spcAft>
                <a:spcPts val="0"/>
              </a:spcAft>
              <a:buSzPts val="2400"/>
              <a:buFont typeface="Times New Roman"/>
              <a:buChar char="⚫"/>
            </a:pPr>
            <a:r>
              <a:rPr lang="en-IN" sz="2400">
                <a:latin typeface="Times New Roman"/>
                <a:ea typeface="Times New Roman"/>
                <a:cs typeface="Times New Roman"/>
                <a:sym typeface="Times New Roman"/>
              </a:rPr>
              <a:t>One must understand the importance of maintaining moral honesty and should be liberal to understand the human behavior under certain circumstances.</a:t>
            </a:r>
            <a:endParaRPr sz="24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0"/>
          <p:cNvSpPr txBox="1">
            <a:spLocks noGrp="1"/>
          </p:cNvSpPr>
          <p:nvPr>
            <p:ph type="title"/>
          </p:nvPr>
        </p:nvSpPr>
        <p:spPr>
          <a:xfrm>
            <a:off x="1017300" y="0"/>
            <a:ext cx="7916400" cy="10365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4000" b="1" dirty="0">
                <a:latin typeface="Times New Roman"/>
                <a:ea typeface="Times New Roman"/>
                <a:cs typeface="Times New Roman"/>
                <a:sym typeface="Times New Roman"/>
              </a:rPr>
              <a:t>Moral Development Theories </a:t>
            </a:r>
            <a:endParaRPr sz="4000" b="1" dirty="0">
              <a:latin typeface="Times New Roman"/>
              <a:ea typeface="Times New Roman"/>
              <a:cs typeface="Times New Roman"/>
              <a:sym typeface="Times New Roman"/>
            </a:endParaRPr>
          </a:p>
        </p:txBody>
      </p:sp>
      <p:sp>
        <p:nvSpPr>
          <p:cNvPr id="214" name="Google Shape;214;p20"/>
          <p:cNvSpPr txBox="1">
            <a:spLocks noGrp="1"/>
          </p:cNvSpPr>
          <p:nvPr>
            <p:ph type="body" idx="1"/>
          </p:nvPr>
        </p:nvSpPr>
        <p:spPr>
          <a:xfrm>
            <a:off x="1017300" y="1129450"/>
            <a:ext cx="8076300" cy="5728500"/>
          </a:xfrm>
          <a:prstGeom prst="rect">
            <a:avLst/>
          </a:prstGeom>
          <a:noFill/>
          <a:ln>
            <a:noFill/>
          </a:ln>
        </p:spPr>
        <p:txBody>
          <a:bodyPr spcFirstLastPara="1" wrap="square" lIns="91425" tIns="45700" rIns="91425" bIns="45700" anchor="t" anchorCtr="0">
            <a:normAutofit/>
          </a:bodyPr>
          <a:lstStyle/>
          <a:p>
            <a:pPr marL="365760" lvl="0" indent="-297687" algn="just" rtl="0">
              <a:lnSpc>
                <a:spcPct val="100000"/>
              </a:lnSpc>
              <a:spcBef>
                <a:spcPts val="0"/>
              </a:spcBef>
              <a:spcAft>
                <a:spcPts val="0"/>
              </a:spcAft>
              <a:buSzPts val="2400"/>
              <a:buFont typeface="Times New Roman"/>
              <a:buChar char="⚫"/>
            </a:pPr>
            <a:r>
              <a:rPr lang="en-IN" sz="2800" b="1" u="sng" dirty="0">
                <a:solidFill>
                  <a:schemeClr val="accent2">
                    <a:lumMod val="50000"/>
                  </a:schemeClr>
                </a:solidFill>
                <a:latin typeface="Times New Roman"/>
                <a:ea typeface="Times New Roman"/>
                <a:cs typeface="Times New Roman"/>
                <a:sym typeface="Times New Roman"/>
              </a:rPr>
              <a:t>KOHLBERG’S THEORY</a:t>
            </a:r>
            <a:endParaRPr sz="2800" b="1" u="sng" dirty="0">
              <a:solidFill>
                <a:schemeClr val="accent2">
                  <a:lumMod val="50000"/>
                </a:schemeClr>
              </a:solidFill>
              <a:latin typeface="Times New Roman"/>
              <a:ea typeface="Times New Roman"/>
              <a:cs typeface="Times New Roman"/>
              <a:sym typeface="Times New Roman"/>
            </a:endParaRPr>
          </a:p>
          <a:p>
            <a:pPr marL="640080" lvl="1" indent="-239014" algn="just" rtl="0">
              <a:lnSpc>
                <a:spcPct val="100000"/>
              </a:lnSpc>
              <a:spcBef>
                <a:spcPts val="550"/>
              </a:spcBef>
              <a:spcAft>
                <a:spcPts val="0"/>
              </a:spcAft>
              <a:buSzPts val="2400"/>
              <a:buFont typeface="Times New Roman"/>
              <a:buChar char="◦"/>
            </a:pPr>
            <a:r>
              <a:rPr lang="en-IN" sz="2400" dirty="0">
                <a:latin typeface="Times New Roman"/>
                <a:ea typeface="Times New Roman"/>
                <a:cs typeface="Times New Roman"/>
                <a:sym typeface="Times New Roman"/>
              </a:rPr>
              <a:t>Lawrence Kohlberg proposed that people progress in moral reasoning based on their ethical </a:t>
            </a:r>
            <a:r>
              <a:rPr lang="en-IN" sz="2400" dirty="0" smtClean="0">
                <a:latin typeface="Times New Roman"/>
                <a:ea typeface="Times New Roman"/>
                <a:cs typeface="Times New Roman"/>
                <a:sym typeface="Times New Roman"/>
              </a:rPr>
              <a:t>behaviour.</a:t>
            </a:r>
            <a:endParaRPr sz="2400" dirty="0">
              <a:latin typeface="Times New Roman"/>
              <a:ea typeface="Times New Roman"/>
              <a:cs typeface="Times New Roman"/>
              <a:sym typeface="Times New Roman"/>
            </a:endParaRPr>
          </a:p>
          <a:p>
            <a:pPr marL="640080" lvl="0" indent="0" algn="just" rtl="0">
              <a:lnSpc>
                <a:spcPct val="100000"/>
              </a:lnSpc>
              <a:spcBef>
                <a:spcPts val="550"/>
              </a:spcBef>
              <a:spcAft>
                <a:spcPts val="0"/>
              </a:spcAft>
              <a:buNone/>
            </a:pPr>
            <a:endParaRPr sz="2400" dirty="0">
              <a:latin typeface="Times New Roman"/>
              <a:ea typeface="Times New Roman"/>
              <a:cs typeface="Times New Roman"/>
              <a:sym typeface="Times New Roman"/>
            </a:endParaRPr>
          </a:p>
          <a:p>
            <a:pPr marL="640080" lvl="1" indent="-239014" algn="just" rtl="0">
              <a:lnSpc>
                <a:spcPct val="100000"/>
              </a:lnSpc>
              <a:spcBef>
                <a:spcPts val="550"/>
              </a:spcBef>
              <a:spcAft>
                <a:spcPts val="0"/>
              </a:spcAft>
              <a:buSzPts val="2400"/>
              <a:buFont typeface="Times New Roman"/>
              <a:buChar char="◦"/>
            </a:pPr>
            <a:r>
              <a:rPr lang="en-IN" sz="2400" dirty="0">
                <a:latin typeface="Times New Roman"/>
                <a:ea typeface="Times New Roman"/>
                <a:cs typeface="Times New Roman"/>
                <a:sym typeface="Times New Roman"/>
              </a:rPr>
              <a:t>He postulated this theory based on the thinking of younger children throughout their growing period as adults. </a:t>
            </a:r>
            <a:endParaRPr sz="2400" dirty="0">
              <a:latin typeface="Times New Roman"/>
              <a:ea typeface="Times New Roman"/>
              <a:cs typeface="Times New Roman"/>
              <a:sym typeface="Times New Roman"/>
            </a:endParaRPr>
          </a:p>
          <a:p>
            <a:pPr marL="640080" lvl="0" indent="0" algn="just" rtl="0">
              <a:lnSpc>
                <a:spcPct val="100000"/>
              </a:lnSpc>
              <a:spcBef>
                <a:spcPts val="550"/>
              </a:spcBef>
              <a:spcAft>
                <a:spcPts val="0"/>
              </a:spcAft>
              <a:buNone/>
            </a:pPr>
            <a:endParaRPr sz="2400" dirty="0">
              <a:latin typeface="Times New Roman"/>
              <a:ea typeface="Times New Roman"/>
              <a:cs typeface="Times New Roman"/>
              <a:sym typeface="Times New Roman"/>
            </a:endParaRPr>
          </a:p>
          <a:p>
            <a:pPr marL="640080" lvl="1" indent="-239014" algn="just" rtl="0">
              <a:lnSpc>
                <a:spcPct val="100000"/>
              </a:lnSpc>
              <a:spcBef>
                <a:spcPts val="550"/>
              </a:spcBef>
              <a:spcAft>
                <a:spcPts val="0"/>
              </a:spcAft>
              <a:buSzPts val="2400"/>
              <a:buFont typeface="Times New Roman"/>
              <a:buChar char="◦"/>
            </a:pPr>
            <a:r>
              <a:rPr lang="en-IN" sz="2400" dirty="0">
                <a:latin typeface="Times New Roman"/>
                <a:ea typeface="Times New Roman"/>
                <a:cs typeface="Times New Roman"/>
                <a:sym typeface="Times New Roman"/>
              </a:rPr>
              <a:t>He conveyed that younger children make judgment based on the consequences that might occur and the older children make judgment based on their intuitions.</a:t>
            </a:r>
            <a:endParaRPr sz="2400" dirty="0">
              <a:latin typeface="Times New Roman"/>
              <a:ea typeface="Times New Roman"/>
              <a:cs typeface="Times New Roman"/>
              <a:sym typeface="Times New Roman"/>
            </a:endParaRPr>
          </a:p>
          <a:p>
            <a:pPr marL="640080" lvl="1" indent="-239014" algn="just" rtl="0">
              <a:lnSpc>
                <a:spcPct val="100000"/>
              </a:lnSpc>
              <a:spcBef>
                <a:spcPts val="550"/>
              </a:spcBef>
              <a:spcAft>
                <a:spcPts val="0"/>
              </a:spcAft>
              <a:buSzPts val="2400"/>
              <a:buFont typeface="Times New Roman"/>
              <a:buChar char="◦"/>
            </a:pPr>
            <a:endParaRPr sz="2400" dirty="0">
              <a:latin typeface="Times New Roman"/>
              <a:ea typeface="Times New Roman"/>
              <a:cs typeface="Times New Roman"/>
              <a:sym typeface="Times New Roman"/>
            </a:endParaRPr>
          </a:p>
          <a:p>
            <a:pPr marL="640080" lvl="1" indent="-239014" algn="just" rtl="0">
              <a:lnSpc>
                <a:spcPct val="100000"/>
              </a:lnSpc>
              <a:spcBef>
                <a:spcPts val="550"/>
              </a:spcBef>
              <a:spcAft>
                <a:spcPts val="0"/>
              </a:spcAft>
              <a:buSzPts val="2400"/>
              <a:buFont typeface="Times New Roman"/>
              <a:buChar char="◦"/>
            </a:pPr>
            <a:r>
              <a:rPr lang="en-IN" sz="2400" dirty="0">
                <a:latin typeface="Times New Roman"/>
                <a:ea typeface="Times New Roman"/>
                <a:cs typeface="Times New Roman"/>
                <a:sym typeface="Times New Roman"/>
              </a:rPr>
              <a:t>He believed that there are six stages of moral development which are further classified into three levels.</a:t>
            </a:r>
            <a:endParaRPr sz="2400" dirty="0">
              <a:latin typeface="Times New Roman"/>
              <a:ea typeface="Times New Roman"/>
              <a:cs typeface="Times New Roman"/>
              <a:sym typeface="Times New Roman"/>
            </a:endParaRPr>
          </a:p>
          <a:p>
            <a:pPr marL="365760" lvl="0" indent="-145287" algn="just" rtl="0">
              <a:lnSpc>
                <a:spcPct val="100000"/>
              </a:lnSpc>
              <a:spcBef>
                <a:spcPts val="600"/>
              </a:spcBef>
              <a:spcAft>
                <a:spcPts val="0"/>
              </a:spcAft>
              <a:buSzPts val="2560"/>
              <a:buNone/>
            </a:pPr>
            <a:endParaRPr sz="2400" dirty="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1"/>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a:t>Continued..</a:t>
            </a:r>
            <a:endParaRPr/>
          </a:p>
        </p:txBody>
      </p:sp>
      <p:sp>
        <p:nvSpPr>
          <p:cNvPr id="220" name="Google Shape;220;p21"/>
          <p:cNvSpPr txBox="1">
            <a:spLocks noGrp="1"/>
          </p:cNvSpPr>
          <p:nvPr>
            <p:ph type="body" idx="1"/>
          </p:nvPr>
        </p:nvSpPr>
        <p:spPr>
          <a:xfrm>
            <a:off x="1435608" y="1447800"/>
            <a:ext cx="7498080" cy="4800600"/>
          </a:xfrm>
          <a:prstGeom prst="rect">
            <a:avLst/>
          </a:prstGeom>
          <a:noFill/>
          <a:ln>
            <a:noFill/>
          </a:ln>
        </p:spPr>
        <p:txBody>
          <a:bodyPr spcFirstLastPara="1" wrap="square" lIns="91425" tIns="45700" rIns="91425" bIns="45700" anchor="t" anchorCtr="0">
            <a:normAutofit/>
          </a:bodyPr>
          <a:lstStyle/>
          <a:p>
            <a:pPr marL="365760" lvl="0" indent="-120903" algn="l" rtl="0">
              <a:lnSpc>
                <a:spcPct val="100000"/>
              </a:lnSpc>
              <a:spcBef>
                <a:spcPts val="0"/>
              </a:spcBef>
              <a:spcAft>
                <a:spcPts val="0"/>
              </a:spcAft>
              <a:buSzPts val="2560"/>
              <a:buNone/>
            </a:pPr>
            <a:endParaRPr/>
          </a:p>
        </p:txBody>
      </p:sp>
      <p:pic>
        <p:nvPicPr>
          <p:cNvPr id="221" name="Google Shape;221;p21"/>
          <p:cNvPicPr preferRelativeResize="0"/>
          <p:nvPr/>
        </p:nvPicPr>
        <p:blipFill rotWithShape="1">
          <a:blip r:embed="rId3">
            <a:alphaModFix/>
          </a:blip>
          <a:srcRect l="27627" t="40517" r="34448" b="15517"/>
          <a:stretch/>
        </p:blipFill>
        <p:spPr>
          <a:xfrm>
            <a:off x="1447800" y="1564764"/>
            <a:ext cx="7081345" cy="461532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2"/>
          <p:cNvSpPr txBox="1">
            <a:spLocks noGrp="1"/>
          </p:cNvSpPr>
          <p:nvPr>
            <p:ph type="title"/>
          </p:nvPr>
        </p:nvSpPr>
        <p:spPr>
          <a:xfrm>
            <a:off x="971585" y="0"/>
            <a:ext cx="7498080" cy="92804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2800" b="1" u="sng" dirty="0" smtClean="0">
                <a:solidFill>
                  <a:schemeClr val="tx1"/>
                </a:solidFill>
                <a:latin typeface="Times New Roman" panose="02020603050405020304" pitchFamily="18" charset="0"/>
                <a:cs typeface="Times New Roman" panose="02020603050405020304" pitchFamily="18" charset="0"/>
              </a:rPr>
              <a:t>1. Pre-Conventional </a:t>
            </a:r>
            <a:r>
              <a:rPr lang="en-IN" sz="2800" b="1" u="sng" dirty="0">
                <a:solidFill>
                  <a:schemeClr val="tx1"/>
                </a:solidFill>
                <a:latin typeface="Times New Roman" panose="02020603050405020304" pitchFamily="18" charset="0"/>
                <a:cs typeface="Times New Roman" panose="02020603050405020304" pitchFamily="18" charset="0"/>
              </a:rPr>
              <a:t>Level</a:t>
            </a:r>
            <a:endParaRPr sz="2800" b="1" u="sng" dirty="0">
              <a:solidFill>
                <a:schemeClr val="tx1"/>
              </a:solidFill>
              <a:latin typeface="Times New Roman" panose="02020603050405020304" pitchFamily="18" charset="0"/>
              <a:cs typeface="Times New Roman" panose="02020603050405020304" pitchFamily="18" charset="0"/>
            </a:endParaRPr>
          </a:p>
        </p:txBody>
      </p:sp>
      <p:sp>
        <p:nvSpPr>
          <p:cNvPr id="227" name="Google Shape;227;p22"/>
          <p:cNvSpPr txBox="1">
            <a:spLocks noGrp="1"/>
          </p:cNvSpPr>
          <p:nvPr>
            <p:ph type="body" idx="1"/>
          </p:nvPr>
        </p:nvSpPr>
        <p:spPr>
          <a:xfrm>
            <a:off x="971585" y="1037230"/>
            <a:ext cx="8172415" cy="5820770"/>
          </a:xfrm>
          <a:prstGeom prst="rect">
            <a:avLst/>
          </a:prstGeom>
          <a:noFill/>
          <a:ln>
            <a:noFill/>
          </a:ln>
        </p:spPr>
        <p:txBody>
          <a:bodyPr spcFirstLastPara="1" wrap="square" lIns="91425" tIns="45700" rIns="91425" bIns="45700" anchor="t" anchorCtr="0">
            <a:normAutofit/>
          </a:bodyPr>
          <a:lstStyle/>
          <a:p>
            <a:pPr marL="365760" lvl="0" indent="-283464" algn="just" rtl="0">
              <a:lnSpc>
                <a:spcPct val="100000"/>
              </a:lnSpc>
              <a:spcBef>
                <a:spcPts val="0"/>
              </a:spcBef>
              <a:spcAft>
                <a:spcPts val="0"/>
              </a:spcAft>
              <a:buSzPct val="80000"/>
              <a:buChar char="⚫"/>
            </a:pPr>
            <a:r>
              <a:rPr lang="en-IN" sz="2200" dirty="0">
                <a:latin typeface="Times New Roman" panose="02020603050405020304" pitchFamily="18" charset="0"/>
                <a:cs typeface="Times New Roman" panose="02020603050405020304" pitchFamily="18" charset="0"/>
              </a:rPr>
              <a:t>The first level of moral thinking, which is generally found at Elementary school level. </a:t>
            </a:r>
            <a:endParaRPr lang="en-IN" sz="2200" dirty="0" smtClean="0">
              <a:latin typeface="Times New Roman" panose="02020603050405020304" pitchFamily="18" charset="0"/>
              <a:cs typeface="Times New Roman" panose="02020603050405020304" pitchFamily="18" charset="0"/>
            </a:endParaRPr>
          </a:p>
          <a:p>
            <a:pPr marL="365760" lvl="0" indent="-283464" algn="just" rtl="0">
              <a:lnSpc>
                <a:spcPct val="100000"/>
              </a:lnSpc>
              <a:spcBef>
                <a:spcPts val="0"/>
              </a:spcBef>
              <a:spcAft>
                <a:spcPts val="0"/>
              </a:spcAft>
              <a:buSzPct val="80000"/>
              <a:buChar char="⚫"/>
            </a:pPr>
            <a:endParaRPr sz="2200" dirty="0">
              <a:latin typeface="Times New Roman" panose="02020603050405020304" pitchFamily="18" charset="0"/>
              <a:cs typeface="Times New Roman" panose="02020603050405020304" pitchFamily="18" charset="0"/>
            </a:endParaRPr>
          </a:p>
          <a:p>
            <a:pPr marL="365760" lvl="0" indent="-283464" algn="just" rtl="0">
              <a:lnSpc>
                <a:spcPct val="100000"/>
              </a:lnSpc>
              <a:spcBef>
                <a:spcPts val="600"/>
              </a:spcBef>
              <a:spcAft>
                <a:spcPts val="0"/>
              </a:spcAft>
              <a:buSzPct val="80000"/>
              <a:buChar char="⚫"/>
            </a:pPr>
            <a:r>
              <a:rPr lang="en-IN" sz="2200" dirty="0">
                <a:latin typeface="Times New Roman" panose="02020603050405020304" pitchFamily="18" charset="0"/>
                <a:cs typeface="Times New Roman" panose="02020603050405020304" pitchFamily="18" charset="0"/>
              </a:rPr>
              <a:t>The thinker at this stage tends to think and behave based on the direct consequences that might occur</a:t>
            </a:r>
            <a:r>
              <a:rPr lang="en-IN" sz="2200" dirty="0" smtClean="0">
                <a:latin typeface="Times New Roman" panose="02020603050405020304" pitchFamily="18" charset="0"/>
                <a:cs typeface="Times New Roman" panose="02020603050405020304" pitchFamily="18" charset="0"/>
              </a:rPr>
              <a:t>.</a:t>
            </a:r>
          </a:p>
          <a:p>
            <a:pPr marL="365760" lvl="0" indent="-283464" algn="just" rtl="0">
              <a:lnSpc>
                <a:spcPct val="100000"/>
              </a:lnSpc>
              <a:spcBef>
                <a:spcPts val="600"/>
              </a:spcBef>
              <a:spcAft>
                <a:spcPts val="0"/>
              </a:spcAft>
              <a:buSzPct val="80000"/>
              <a:buChar char="⚫"/>
            </a:pPr>
            <a:endParaRPr sz="2200" dirty="0">
              <a:latin typeface="Times New Roman" panose="02020603050405020304" pitchFamily="18" charset="0"/>
              <a:cs typeface="Times New Roman" panose="02020603050405020304" pitchFamily="18" charset="0"/>
            </a:endParaRPr>
          </a:p>
          <a:p>
            <a:pPr marL="365760" lvl="0" indent="-283464" algn="just" rtl="0">
              <a:lnSpc>
                <a:spcPct val="100000"/>
              </a:lnSpc>
              <a:spcBef>
                <a:spcPts val="600"/>
              </a:spcBef>
              <a:spcAft>
                <a:spcPts val="0"/>
              </a:spcAft>
              <a:buSzPct val="80000"/>
              <a:buChar char="⚫"/>
            </a:pPr>
            <a:r>
              <a:rPr lang="en-IN" sz="2200" dirty="0">
                <a:latin typeface="Times New Roman" panose="02020603050405020304" pitchFamily="18" charset="0"/>
                <a:cs typeface="Times New Roman" panose="02020603050405020304" pitchFamily="18" charset="0"/>
              </a:rPr>
              <a:t>There are two sub-stages in this.</a:t>
            </a: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ct val="100000"/>
              <a:buChar char="◦"/>
            </a:pPr>
            <a:r>
              <a:rPr lang="en-IN" sz="2200" b="1" dirty="0">
                <a:latin typeface="Times New Roman" panose="02020603050405020304" pitchFamily="18" charset="0"/>
                <a:cs typeface="Times New Roman" panose="02020603050405020304" pitchFamily="18" charset="0"/>
              </a:rPr>
              <a:t>Avoid Punishments:</a:t>
            </a:r>
            <a:r>
              <a:rPr lang="en-IN" sz="2200" dirty="0">
                <a:latin typeface="Times New Roman" panose="02020603050405020304" pitchFamily="18" charset="0"/>
                <a:cs typeface="Times New Roman" panose="02020603050405020304" pitchFamily="18" charset="0"/>
              </a:rPr>
              <a:t> A thinker at this stage generally thinks and believes that the judgment are to be made as per the socially acceptable norms as they are said so by some higher official</a:t>
            </a:r>
            <a:r>
              <a:rPr lang="en-IN" sz="2200" dirty="0" smtClean="0">
                <a:latin typeface="Times New Roman" panose="02020603050405020304" pitchFamily="18" charset="0"/>
                <a:cs typeface="Times New Roman" panose="02020603050405020304" pitchFamily="18" charset="0"/>
              </a:rPr>
              <a:t>.</a:t>
            </a:r>
          </a:p>
          <a:p>
            <a:pPr marL="402336" lvl="1" indent="0" algn="just" rtl="0">
              <a:lnSpc>
                <a:spcPct val="100000"/>
              </a:lnSpc>
              <a:spcBef>
                <a:spcPts val="550"/>
              </a:spcBef>
              <a:spcAft>
                <a:spcPts val="0"/>
              </a:spcAft>
              <a:buSzPct val="100000"/>
              <a:buNone/>
            </a:pP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ct val="100000"/>
              <a:buChar char="◦"/>
            </a:pPr>
            <a:r>
              <a:rPr lang="en-IN" sz="2200" b="1" dirty="0">
                <a:latin typeface="Times New Roman" panose="02020603050405020304" pitchFamily="18" charset="0"/>
                <a:cs typeface="Times New Roman" panose="02020603050405020304" pitchFamily="18" charset="0"/>
              </a:rPr>
              <a:t>Self–interest:</a:t>
            </a:r>
            <a:r>
              <a:rPr lang="en-IN" sz="2200" dirty="0">
                <a:latin typeface="Times New Roman" panose="02020603050405020304" pitchFamily="18" charset="0"/>
                <a:cs typeface="Times New Roman" panose="02020603050405020304" pitchFamily="18" charset="0"/>
              </a:rPr>
              <a:t> A thinker at this stage, shows interest in making decisions according to the rewards they get in exchange.</a:t>
            </a:r>
            <a:endParaRPr sz="2200" dirty="0">
              <a:latin typeface="Times New Roman" panose="02020603050405020304" pitchFamily="18" charset="0"/>
              <a:cs typeface="Times New Roman" panose="02020603050405020304" pitchFamily="18" charset="0"/>
            </a:endParaRPr>
          </a:p>
          <a:p>
            <a:pPr marL="365760" lvl="0" indent="-133096" algn="just" rtl="0">
              <a:lnSpc>
                <a:spcPct val="100000"/>
              </a:lnSpc>
              <a:spcBef>
                <a:spcPts val="600"/>
              </a:spcBef>
              <a:spcAft>
                <a:spcPts val="0"/>
              </a:spcAft>
              <a:buSzPct val="80000"/>
              <a:buNone/>
            </a:pP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3"/>
          <p:cNvSpPr txBox="1">
            <a:spLocks noGrp="1"/>
          </p:cNvSpPr>
          <p:nvPr>
            <p:ph type="title"/>
          </p:nvPr>
        </p:nvSpPr>
        <p:spPr>
          <a:xfrm>
            <a:off x="1053471" y="97217"/>
            <a:ext cx="7498080" cy="967308"/>
          </a:xfrm>
          <a:prstGeom prst="rect">
            <a:avLst/>
          </a:prstGeom>
          <a:noFill/>
          <a:ln>
            <a:noFill/>
          </a:ln>
        </p:spPr>
        <p:txBody>
          <a:bodyPr spcFirstLastPara="1" wrap="square" lIns="91425" tIns="45700" rIns="91425" bIns="45700" anchor="ctr" anchorCtr="0">
            <a:normAutofit/>
          </a:bodyPr>
          <a:lstStyle/>
          <a:p>
            <a:pPr lvl="0">
              <a:buSzPts val="4300"/>
            </a:pPr>
            <a:r>
              <a:rPr lang="en-IN" sz="2800" b="1" u="sng" dirty="0" smtClean="0">
                <a:solidFill>
                  <a:schemeClr val="tx1"/>
                </a:solidFill>
                <a:latin typeface="Times New Roman" panose="02020603050405020304" pitchFamily="18" charset="0"/>
                <a:cs typeface="Times New Roman" panose="02020603050405020304" pitchFamily="18" charset="0"/>
              </a:rPr>
              <a:t>2. Conventional Level</a:t>
            </a:r>
            <a:endParaRPr sz="2800" dirty="0"/>
          </a:p>
        </p:txBody>
      </p:sp>
      <p:sp>
        <p:nvSpPr>
          <p:cNvPr id="233" name="Google Shape;233;p23"/>
          <p:cNvSpPr txBox="1">
            <a:spLocks noGrp="1"/>
          </p:cNvSpPr>
          <p:nvPr>
            <p:ph type="body" idx="1"/>
          </p:nvPr>
        </p:nvSpPr>
        <p:spPr>
          <a:xfrm>
            <a:off x="1053471" y="1064525"/>
            <a:ext cx="8090529" cy="5793475"/>
          </a:xfrm>
          <a:prstGeom prst="rect">
            <a:avLst/>
          </a:prstGeom>
          <a:noFill/>
          <a:ln>
            <a:noFill/>
          </a:ln>
        </p:spPr>
        <p:txBody>
          <a:bodyPr spcFirstLastPara="1" wrap="square" lIns="91425" tIns="45700" rIns="91425" bIns="45700" anchor="t" anchorCtr="0">
            <a:normAutofit/>
          </a:bodyPr>
          <a:lstStyle/>
          <a:p>
            <a:pPr marL="365760" lvl="0" indent="-283464" algn="just" rtl="0">
              <a:lnSpc>
                <a:spcPct val="100000"/>
              </a:lnSpc>
              <a:spcBef>
                <a:spcPts val="0"/>
              </a:spcBef>
              <a:spcAft>
                <a:spcPts val="0"/>
              </a:spcAft>
              <a:buSzPct val="80000"/>
              <a:buChar char="⚫"/>
            </a:pPr>
            <a:r>
              <a:rPr lang="en-IN" sz="2200" dirty="0">
                <a:latin typeface="Times New Roman" panose="02020603050405020304" pitchFamily="18" charset="0"/>
                <a:cs typeface="Times New Roman" panose="02020603050405020304" pitchFamily="18" charset="0"/>
              </a:rPr>
              <a:t>The second level of moral thinking, which is generally found at the primary and high school level. </a:t>
            </a:r>
            <a:endParaRPr lang="en-IN" sz="2200" dirty="0" smtClean="0">
              <a:latin typeface="Times New Roman" panose="02020603050405020304" pitchFamily="18" charset="0"/>
              <a:cs typeface="Times New Roman" panose="02020603050405020304" pitchFamily="18" charset="0"/>
            </a:endParaRPr>
          </a:p>
          <a:p>
            <a:pPr marL="82296" lvl="0" indent="0" algn="just" rtl="0">
              <a:lnSpc>
                <a:spcPct val="100000"/>
              </a:lnSpc>
              <a:spcBef>
                <a:spcPts val="0"/>
              </a:spcBef>
              <a:spcAft>
                <a:spcPts val="0"/>
              </a:spcAft>
              <a:buSzPct val="80000"/>
              <a:buNone/>
            </a:pPr>
            <a:endParaRPr sz="2200" dirty="0">
              <a:latin typeface="Times New Roman" panose="02020603050405020304" pitchFamily="18" charset="0"/>
              <a:cs typeface="Times New Roman" panose="02020603050405020304" pitchFamily="18" charset="0"/>
            </a:endParaRPr>
          </a:p>
          <a:p>
            <a:pPr marL="365760" lvl="0" indent="-283464" algn="just" rtl="0">
              <a:lnSpc>
                <a:spcPct val="100000"/>
              </a:lnSpc>
              <a:spcBef>
                <a:spcPts val="600"/>
              </a:spcBef>
              <a:spcAft>
                <a:spcPts val="0"/>
              </a:spcAft>
              <a:buSzPct val="80000"/>
              <a:buChar char="⚫"/>
            </a:pPr>
            <a:r>
              <a:rPr lang="en-IN" sz="2200" dirty="0">
                <a:latin typeface="Times New Roman" panose="02020603050405020304" pitchFamily="18" charset="0"/>
                <a:cs typeface="Times New Roman" panose="02020603050405020304" pitchFamily="18" charset="0"/>
              </a:rPr>
              <a:t>The thinker at this stage tends to think and behave based on the want to please others. </a:t>
            </a:r>
            <a:endParaRPr lang="en-IN" sz="2200" dirty="0" smtClean="0">
              <a:latin typeface="Times New Roman" panose="02020603050405020304" pitchFamily="18" charset="0"/>
              <a:cs typeface="Times New Roman" panose="02020603050405020304" pitchFamily="18" charset="0"/>
            </a:endParaRPr>
          </a:p>
          <a:p>
            <a:pPr marL="82296" lvl="0" indent="0" algn="just" rtl="0">
              <a:lnSpc>
                <a:spcPct val="100000"/>
              </a:lnSpc>
              <a:spcBef>
                <a:spcPts val="600"/>
              </a:spcBef>
              <a:spcAft>
                <a:spcPts val="0"/>
              </a:spcAft>
              <a:buSzPct val="80000"/>
              <a:buNone/>
            </a:pPr>
            <a:endParaRPr sz="2200" dirty="0">
              <a:latin typeface="Times New Roman" panose="02020603050405020304" pitchFamily="18" charset="0"/>
              <a:cs typeface="Times New Roman" panose="02020603050405020304" pitchFamily="18" charset="0"/>
            </a:endParaRPr>
          </a:p>
          <a:p>
            <a:pPr marL="365760" lvl="0" indent="-283464" algn="just" rtl="0">
              <a:lnSpc>
                <a:spcPct val="100000"/>
              </a:lnSpc>
              <a:spcBef>
                <a:spcPts val="600"/>
              </a:spcBef>
              <a:spcAft>
                <a:spcPts val="0"/>
              </a:spcAft>
              <a:buSzPct val="80000"/>
              <a:buChar char="⚫"/>
            </a:pPr>
            <a:r>
              <a:rPr lang="en-IN" sz="2200" dirty="0">
                <a:latin typeface="Times New Roman" panose="02020603050405020304" pitchFamily="18" charset="0"/>
                <a:cs typeface="Times New Roman" panose="02020603050405020304" pitchFamily="18" charset="0"/>
              </a:rPr>
              <a:t>Two sub-stages</a:t>
            </a: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ct val="100000"/>
              <a:buChar char="◦"/>
            </a:pPr>
            <a:r>
              <a:rPr lang="en-IN" sz="2200" b="1" dirty="0">
                <a:latin typeface="Times New Roman" panose="02020603050405020304" pitchFamily="18" charset="0"/>
                <a:cs typeface="Times New Roman" panose="02020603050405020304" pitchFamily="18" charset="0"/>
              </a:rPr>
              <a:t>Getting people to like them</a:t>
            </a:r>
            <a:r>
              <a:rPr lang="en-IN" sz="2200" dirty="0">
                <a:latin typeface="Times New Roman" panose="02020603050405020304" pitchFamily="18" charset="0"/>
                <a:cs typeface="Times New Roman" panose="02020603050405020304" pitchFamily="18" charset="0"/>
              </a:rPr>
              <a:t>: Whatever the result is, the thinking process is based on how to impress others or society and on how to please the people around. This decision may or may not support the law</a:t>
            </a:r>
            <a:r>
              <a:rPr lang="en-IN" sz="2200" dirty="0" smtClean="0">
                <a:latin typeface="Times New Roman" panose="02020603050405020304" pitchFamily="18" charset="0"/>
                <a:cs typeface="Times New Roman" panose="02020603050405020304" pitchFamily="18" charset="0"/>
              </a:rPr>
              <a:t>.</a:t>
            </a:r>
          </a:p>
          <a:p>
            <a:pPr marL="402336" lvl="1" indent="0" algn="just" rtl="0">
              <a:lnSpc>
                <a:spcPct val="100000"/>
              </a:lnSpc>
              <a:spcBef>
                <a:spcPts val="550"/>
              </a:spcBef>
              <a:spcAft>
                <a:spcPts val="0"/>
              </a:spcAft>
              <a:buSzPct val="100000"/>
              <a:buNone/>
            </a:pP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ct val="100000"/>
              <a:buChar char="◦"/>
            </a:pPr>
            <a:r>
              <a:rPr lang="en-IN" sz="2200" b="1" dirty="0">
                <a:latin typeface="Times New Roman" panose="02020603050405020304" pitchFamily="18" charset="0"/>
                <a:cs typeface="Times New Roman" panose="02020603050405020304" pitchFamily="18" charset="0"/>
              </a:rPr>
              <a:t>Maintain functioning in society</a:t>
            </a:r>
            <a:r>
              <a:rPr lang="en-IN" sz="2200" dirty="0">
                <a:latin typeface="Times New Roman" panose="02020603050405020304" pitchFamily="18" charset="0"/>
                <a:cs typeface="Times New Roman" panose="02020603050405020304" pitchFamily="18" charset="0"/>
              </a:rPr>
              <a:t>: A thinker at this stage, considers to follow the rules for the good of the society.</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4"/>
          <p:cNvSpPr txBox="1">
            <a:spLocks noGrp="1"/>
          </p:cNvSpPr>
          <p:nvPr>
            <p:ph type="title"/>
          </p:nvPr>
        </p:nvSpPr>
        <p:spPr>
          <a:xfrm>
            <a:off x="1012527" y="0"/>
            <a:ext cx="7498080" cy="92804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2800" b="1" u="sng" dirty="0" smtClean="0">
                <a:solidFill>
                  <a:schemeClr val="tx1"/>
                </a:solidFill>
                <a:latin typeface="Times New Roman" panose="02020603050405020304" pitchFamily="18" charset="0"/>
                <a:cs typeface="Times New Roman" panose="02020603050405020304" pitchFamily="18" charset="0"/>
              </a:rPr>
              <a:t>3. Post-Conventional </a:t>
            </a:r>
            <a:r>
              <a:rPr lang="en-IN" sz="2800" b="1" u="sng" dirty="0">
                <a:solidFill>
                  <a:schemeClr val="tx1"/>
                </a:solidFill>
                <a:latin typeface="Times New Roman" panose="02020603050405020304" pitchFamily="18" charset="0"/>
                <a:cs typeface="Times New Roman" panose="02020603050405020304" pitchFamily="18" charset="0"/>
              </a:rPr>
              <a:t>Level</a:t>
            </a:r>
            <a:endParaRPr sz="2800" b="1" u="sng" dirty="0">
              <a:solidFill>
                <a:schemeClr val="tx1"/>
              </a:solidFill>
              <a:latin typeface="Times New Roman" panose="02020603050405020304" pitchFamily="18" charset="0"/>
              <a:cs typeface="Times New Roman" panose="02020603050405020304" pitchFamily="18" charset="0"/>
            </a:endParaRPr>
          </a:p>
        </p:txBody>
      </p:sp>
      <p:sp>
        <p:nvSpPr>
          <p:cNvPr id="239" name="Google Shape;239;p24"/>
          <p:cNvSpPr txBox="1">
            <a:spLocks noGrp="1"/>
          </p:cNvSpPr>
          <p:nvPr>
            <p:ph type="body" idx="1"/>
          </p:nvPr>
        </p:nvSpPr>
        <p:spPr>
          <a:xfrm>
            <a:off x="1012527" y="928047"/>
            <a:ext cx="8131473" cy="5513695"/>
          </a:xfrm>
          <a:prstGeom prst="rect">
            <a:avLst/>
          </a:prstGeom>
          <a:noFill/>
          <a:ln>
            <a:noFill/>
          </a:ln>
        </p:spPr>
        <p:txBody>
          <a:bodyPr spcFirstLastPara="1" wrap="square" lIns="91425" tIns="45700" rIns="91425" bIns="45700" anchor="t" anchorCtr="0">
            <a:normAutofit/>
          </a:bodyPr>
          <a:lstStyle/>
          <a:p>
            <a:pPr marL="365760" lvl="0" indent="-283464" algn="just" rtl="0">
              <a:lnSpc>
                <a:spcPct val="100000"/>
              </a:lnSpc>
              <a:spcBef>
                <a:spcPts val="0"/>
              </a:spcBef>
              <a:spcAft>
                <a:spcPts val="0"/>
              </a:spcAft>
              <a:buSzPts val="2560"/>
              <a:buChar char="⚫"/>
            </a:pPr>
            <a:r>
              <a:rPr lang="en-IN" sz="2200" dirty="0">
                <a:latin typeface="Times New Roman" panose="02020603050405020304" pitchFamily="18" charset="0"/>
                <a:cs typeface="Times New Roman" panose="02020603050405020304" pitchFamily="18" charset="0"/>
              </a:rPr>
              <a:t>The third level of Moral thinking, which is generally found after the high school level. </a:t>
            </a:r>
            <a:endParaRPr lang="en-IN" sz="2200" dirty="0" smtClean="0">
              <a:latin typeface="Times New Roman" panose="02020603050405020304" pitchFamily="18" charset="0"/>
              <a:cs typeface="Times New Roman" panose="02020603050405020304" pitchFamily="18" charset="0"/>
            </a:endParaRPr>
          </a:p>
          <a:p>
            <a:pPr marL="82296" lvl="0" indent="0" algn="just" rtl="0">
              <a:lnSpc>
                <a:spcPct val="100000"/>
              </a:lnSpc>
              <a:spcBef>
                <a:spcPts val="0"/>
              </a:spcBef>
              <a:spcAft>
                <a:spcPts val="0"/>
              </a:spcAft>
              <a:buSzPts val="2560"/>
              <a:buNone/>
            </a:pPr>
            <a:endParaRPr sz="2200" dirty="0">
              <a:latin typeface="Times New Roman" panose="02020603050405020304" pitchFamily="18" charset="0"/>
              <a:cs typeface="Times New Roman" panose="02020603050405020304" pitchFamily="18" charset="0"/>
            </a:endParaRPr>
          </a:p>
          <a:p>
            <a:pPr marL="365760" lvl="0" indent="-283464" algn="just" rtl="0">
              <a:lnSpc>
                <a:spcPct val="100000"/>
              </a:lnSpc>
              <a:spcBef>
                <a:spcPts val="600"/>
              </a:spcBef>
              <a:spcAft>
                <a:spcPts val="0"/>
              </a:spcAft>
              <a:buSzPts val="2560"/>
              <a:buChar char="⚫"/>
            </a:pPr>
            <a:r>
              <a:rPr lang="en-IN" sz="2200" dirty="0">
                <a:latin typeface="Times New Roman" panose="02020603050405020304" pitchFamily="18" charset="0"/>
                <a:cs typeface="Times New Roman" panose="02020603050405020304" pitchFamily="18" charset="0"/>
              </a:rPr>
              <a:t>The thinker at this stage tends to think and behave based on a sense of justice. </a:t>
            </a:r>
            <a:endParaRPr lang="en-IN" sz="2200" dirty="0" smtClean="0">
              <a:latin typeface="Times New Roman" panose="02020603050405020304" pitchFamily="18" charset="0"/>
              <a:cs typeface="Times New Roman" panose="02020603050405020304" pitchFamily="18" charset="0"/>
            </a:endParaRPr>
          </a:p>
          <a:p>
            <a:pPr marL="82296" lvl="0" indent="0" algn="just" rtl="0">
              <a:lnSpc>
                <a:spcPct val="100000"/>
              </a:lnSpc>
              <a:spcBef>
                <a:spcPts val="600"/>
              </a:spcBef>
              <a:spcAft>
                <a:spcPts val="0"/>
              </a:spcAft>
              <a:buSzPts val="2560"/>
              <a:buNone/>
            </a:pPr>
            <a:endParaRPr sz="2200" dirty="0">
              <a:latin typeface="Times New Roman" panose="02020603050405020304" pitchFamily="18" charset="0"/>
              <a:cs typeface="Times New Roman" panose="02020603050405020304" pitchFamily="18" charset="0"/>
            </a:endParaRPr>
          </a:p>
          <a:p>
            <a:pPr marL="365760" lvl="0" indent="-283464" algn="just" rtl="0">
              <a:lnSpc>
                <a:spcPct val="100000"/>
              </a:lnSpc>
              <a:spcBef>
                <a:spcPts val="600"/>
              </a:spcBef>
              <a:spcAft>
                <a:spcPts val="0"/>
              </a:spcAft>
              <a:buSzPts val="2560"/>
              <a:buChar char="⚫"/>
            </a:pPr>
            <a:r>
              <a:rPr lang="en-IN" sz="2200" dirty="0">
                <a:latin typeface="Times New Roman" panose="02020603050405020304" pitchFamily="18" charset="0"/>
                <a:cs typeface="Times New Roman" panose="02020603050405020304" pitchFamily="18" charset="0"/>
              </a:rPr>
              <a:t>Two sub-stages</a:t>
            </a: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ts val="2800"/>
              <a:buChar char="◦"/>
            </a:pPr>
            <a:r>
              <a:rPr lang="en-IN" sz="2200" b="1" dirty="0">
                <a:latin typeface="Times New Roman" panose="02020603050405020304" pitchFamily="18" charset="0"/>
                <a:cs typeface="Times New Roman" panose="02020603050405020304" pitchFamily="18" charset="0"/>
              </a:rPr>
              <a:t>Reject rigidity of laws</a:t>
            </a:r>
            <a:r>
              <a:rPr lang="en-IN" sz="2200" dirty="0">
                <a:latin typeface="Times New Roman" panose="02020603050405020304" pitchFamily="18" charset="0"/>
                <a:cs typeface="Times New Roman" panose="02020603050405020304" pitchFamily="18" charset="0"/>
              </a:rPr>
              <a:t>: The thinker uses his moral thinking skills at a commendable pace</a:t>
            </a:r>
            <a:r>
              <a:rPr lang="en-IN" sz="2200" dirty="0" smtClean="0">
                <a:latin typeface="Times New Roman" panose="02020603050405020304" pitchFamily="18" charset="0"/>
                <a:cs typeface="Times New Roman" panose="02020603050405020304" pitchFamily="18" charset="0"/>
              </a:rPr>
              <a:t>.</a:t>
            </a:r>
          </a:p>
          <a:p>
            <a:pPr marL="640080" lvl="1" indent="-237744" algn="just" rtl="0">
              <a:lnSpc>
                <a:spcPct val="100000"/>
              </a:lnSpc>
              <a:spcBef>
                <a:spcPts val="550"/>
              </a:spcBef>
              <a:spcAft>
                <a:spcPts val="0"/>
              </a:spcAft>
              <a:buSzPts val="2800"/>
              <a:buChar char="◦"/>
            </a:pP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ts val="2800"/>
              <a:buChar char="◦"/>
            </a:pPr>
            <a:r>
              <a:rPr lang="en-IN" sz="2200" b="1" dirty="0">
                <a:latin typeface="Times New Roman" panose="02020603050405020304" pitchFamily="18" charset="0"/>
                <a:cs typeface="Times New Roman" panose="02020603050405020304" pitchFamily="18" charset="0"/>
              </a:rPr>
              <a:t>Sense of justice:</a:t>
            </a:r>
            <a:r>
              <a:rPr lang="en-IN" sz="2200" dirty="0">
                <a:latin typeface="Times New Roman" panose="02020603050405020304" pitchFamily="18" charset="0"/>
                <a:cs typeface="Times New Roman" panose="02020603050405020304" pitchFamily="18" charset="0"/>
              </a:rPr>
              <a:t> The thinker feels a sense of justice for the protagonist.</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5"/>
          <p:cNvSpPr txBox="1">
            <a:spLocks noGrp="1"/>
          </p:cNvSpPr>
          <p:nvPr>
            <p:ph type="title"/>
          </p:nvPr>
        </p:nvSpPr>
        <p:spPr>
          <a:xfrm>
            <a:off x="1053471" y="0"/>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2800" b="1" u="sng" dirty="0">
                <a:latin typeface="Times New Roman" panose="02020603050405020304" pitchFamily="18" charset="0"/>
                <a:cs typeface="Times New Roman" panose="02020603050405020304" pitchFamily="18" charset="0"/>
              </a:rPr>
              <a:t>GILLIGAN’S THEORY</a:t>
            </a:r>
            <a:endParaRPr sz="2800" b="1" u="sng" dirty="0">
              <a:latin typeface="Times New Roman" panose="02020603050405020304" pitchFamily="18" charset="0"/>
              <a:cs typeface="Times New Roman" panose="02020603050405020304" pitchFamily="18" charset="0"/>
            </a:endParaRPr>
          </a:p>
        </p:txBody>
      </p:sp>
      <p:sp>
        <p:nvSpPr>
          <p:cNvPr id="245" name="Google Shape;245;p25"/>
          <p:cNvSpPr txBox="1">
            <a:spLocks noGrp="1"/>
          </p:cNvSpPr>
          <p:nvPr>
            <p:ph type="body" idx="1"/>
          </p:nvPr>
        </p:nvSpPr>
        <p:spPr>
          <a:xfrm>
            <a:off x="1053471" y="1143000"/>
            <a:ext cx="8090529" cy="5715000"/>
          </a:xfrm>
          <a:prstGeom prst="rect">
            <a:avLst/>
          </a:prstGeom>
          <a:noFill/>
          <a:ln>
            <a:noFill/>
          </a:ln>
        </p:spPr>
        <p:txBody>
          <a:bodyPr spcFirstLastPara="1" wrap="square" lIns="91425" tIns="45700" rIns="91425" bIns="45700" anchor="t" anchorCtr="0">
            <a:normAutofit lnSpcReduction="10000"/>
          </a:bodyPr>
          <a:lstStyle/>
          <a:p>
            <a:pPr marL="365760" lvl="0" indent="-283464" algn="just" rtl="0">
              <a:lnSpc>
                <a:spcPct val="100000"/>
              </a:lnSpc>
              <a:spcBef>
                <a:spcPts val="0"/>
              </a:spcBef>
              <a:spcAft>
                <a:spcPts val="0"/>
              </a:spcAft>
              <a:buSzPct val="80000"/>
              <a:buChar char="⚫"/>
            </a:pPr>
            <a:r>
              <a:rPr lang="en-IN" sz="2200" dirty="0">
                <a:latin typeface="Times New Roman" panose="02020603050405020304" pitchFamily="18" charset="0"/>
                <a:cs typeface="Times New Roman" panose="02020603050405020304" pitchFamily="18" charset="0"/>
              </a:rPr>
              <a:t>An advancement of Kohlberg’s </a:t>
            </a:r>
            <a:r>
              <a:rPr lang="en-IN" sz="2200" dirty="0" smtClean="0">
                <a:latin typeface="Times New Roman" panose="02020603050405020304" pitchFamily="18" charset="0"/>
                <a:cs typeface="Times New Roman" panose="02020603050405020304" pitchFamily="18" charset="0"/>
              </a:rPr>
              <a:t>theory</a:t>
            </a:r>
            <a:r>
              <a:rPr lang="en-IN" sz="2200" dirty="0">
                <a:latin typeface="Times New Roman" panose="02020603050405020304" pitchFamily="18" charset="0"/>
                <a:cs typeface="Times New Roman" panose="02020603050405020304" pitchFamily="18" charset="0"/>
              </a:rPr>
              <a:t>.</a:t>
            </a:r>
            <a:endParaRPr lang="en-IN" sz="2200" dirty="0" smtClean="0">
              <a:latin typeface="Times New Roman" panose="02020603050405020304" pitchFamily="18" charset="0"/>
              <a:cs typeface="Times New Roman" panose="02020603050405020304" pitchFamily="18" charset="0"/>
            </a:endParaRPr>
          </a:p>
          <a:p>
            <a:pPr marL="82296" lvl="0" indent="0" algn="just" rtl="0">
              <a:lnSpc>
                <a:spcPct val="100000"/>
              </a:lnSpc>
              <a:spcBef>
                <a:spcPts val="0"/>
              </a:spcBef>
              <a:spcAft>
                <a:spcPts val="0"/>
              </a:spcAft>
              <a:buSzPct val="80000"/>
              <a:buNone/>
            </a:pPr>
            <a:endParaRPr sz="2200" dirty="0">
              <a:latin typeface="Times New Roman" panose="02020603050405020304" pitchFamily="18" charset="0"/>
              <a:cs typeface="Times New Roman" panose="02020603050405020304" pitchFamily="18" charset="0"/>
            </a:endParaRPr>
          </a:p>
          <a:p>
            <a:pPr marL="365760" lvl="0" indent="-283464" algn="just">
              <a:buSzPct val="80000"/>
            </a:pPr>
            <a:r>
              <a:rPr lang="en-US" sz="2200" dirty="0">
                <a:latin typeface="Times New Roman" panose="02020603050405020304" pitchFamily="18" charset="0"/>
                <a:cs typeface="Times New Roman" panose="02020603050405020304" pitchFamily="18" charset="0"/>
              </a:rPr>
              <a:t>Carol Gilligan found that Kohlberg’s theory had a strong male </a:t>
            </a:r>
            <a:r>
              <a:rPr lang="en-US" sz="2200" dirty="0" smtClean="0">
                <a:latin typeface="Times New Roman" panose="02020603050405020304" pitchFamily="18" charset="0"/>
                <a:cs typeface="Times New Roman" panose="02020603050405020304" pitchFamily="18" charset="0"/>
              </a:rPr>
              <a:t>bias.</a:t>
            </a:r>
          </a:p>
          <a:p>
            <a:pPr marL="82296" lvl="0" indent="0" algn="just">
              <a:buSzPct val="80000"/>
              <a:buNone/>
            </a:pPr>
            <a:endParaRPr lang="en-US" sz="2200" dirty="0" smtClean="0">
              <a:latin typeface="Times New Roman" panose="02020603050405020304" pitchFamily="18" charset="0"/>
              <a:cs typeface="Times New Roman" panose="02020603050405020304" pitchFamily="18" charset="0"/>
            </a:endParaRPr>
          </a:p>
          <a:p>
            <a:pPr marL="365760" lvl="0" indent="-283464" algn="just">
              <a:buSzPct val="80000"/>
            </a:pPr>
            <a:r>
              <a:rPr lang="en-US" sz="2200" dirty="0" smtClean="0">
                <a:latin typeface="Times New Roman" panose="02020603050405020304" pitchFamily="18" charset="0"/>
                <a:cs typeface="Times New Roman" panose="02020603050405020304" pitchFamily="18" charset="0"/>
              </a:rPr>
              <a:t>According </a:t>
            </a:r>
            <a:r>
              <a:rPr lang="en-US" sz="2200" dirty="0">
                <a:latin typeface="Times New Roman" panose="02020603050405020304" pitchFamily="18" charset="0"/>
                <a:cs typeface="Times New Roman" panose="02020603050405020304" pitchFamily="18" charset="0"/>
              </a:rPr>
              <a:t>to Gilligan’s studies</a:t>
            </a:r>
            <a:r>
              <a:rPr lang="en-US" sz="2200" dirty="0" smtClean="0">
                <a:latin typeface="Times New Roman" panose="02020603050405020304" pitchFamily="18" charset="0"/>
                <a:cs typeface="Times New Roman" panose="02020603050405020304" pitchFamily="18" charset="0"/>
              </a:rPr>
              <a:t>, men </a:t>
            </a:r>
            <a:r>
              <a:rPr lang="en-US" sz="2200" dirty="0">
                <a:latin typeface="Times New Roman" panose="02020603050405020304" pitchFamily="18" charset="0"/>
                <a:cs typeface="Times New Roman" panose="02020603050405020304" pitchFamily="18" charset="0"/>
              </a:rPr>
              <a:t>had a tendency to solve problems by applying abstract moral </a:t>
            </a:r>
            <a:r>
              <a:rPr lang="en-US" sz="2200" dirty="0" smtClean="0">
                <a:latin typeface="Times New Roman" panose="02020603050405020304" pitchFamily="18" charset="0"/>
                <a:cs typeface="Times New Roman" panose="02020603050405020304" pitchFamily="18" charset="0"/>
              </a:rPr>
              <a:t>principles.</a:t>
            </a:r>
          </a:p>
          <a:p>
            <a:pPr marL="82296" lvl="0" indent="0" algn="just">
              <a:buSzPct val="80000"/>
              <a:buNone/>
            </a:pPr>
            <a:endParaRPr lang="en-US" sz="2200" dirty="0" smtClean="0">
              <a:latin typeface="Times New Roman" panose="02020603050405020304" pitchFamily="18" charset="0"/>
              <a:cs typeface="Times New Roman" panose="02020603050405020304" pitchFamily="18" charset="0"/>
            </a:endParaRPr>
          </a:p>
          <a:p>
            <a:pPr marL="365760" lvl="0" indent="-283464" algn="just">
              <a:buSzPct val="80000"/>
            </a:pPr>
            <a:r>
              <a:rPr lang="en-US" sz="2200" dirty="0">
                <a:latin typeface="Times New Roman" panose="02020603050405020304" pitchFamily="18" charset="0"/>
                <a:cs typeface="Times New Roman" panose="02020603050405020304" pitchFamily="18" charset="0"/>
              </a:rPr>
              <a:t>Men were found to resolve moral dilemma by choosing the most important moral rule, overriding other rules. </a:t>
            </a:r>
            <a:endParaRPr lang="en-US" sz="2200" dirty="0" smtClean="0">
              <a:latin typeface="Times New Roman" panose="02020603050405020304" pitchFamily="18" charset="0"/>
              <a:cs typeface="Times New Roman" panose="02020603050405020304" pitchFamily="18" charset="0"/>
            </a:endParaRPr>
          </a:p>
          <a:p>
            <a:pPr marL="82296" lvl="0" indent="0" algn="just">
              <a:buSzPct val="80000"/>
              <a:buNone/>
            </a:pPr>
            <a:endParaRPr lang="en-US" sz="2200" dirty="0" smtClean="0">
              <a:latin typeface="Times New Roman" panose="02020603050405020304" pitchFamily="18" charset="0"/>
              <a:cs typeface="Times New Roman" panose="02020603050405020304" pitchFamily="18" charset="0"/>
            </a:endParaRPr>
          </a:p>
          <a:p>
            <a:pPr marL="365760" lvl="0" indent="-283464" algn="just">
              <a:buSzPct val="80000"/>
            </a:pPr>
            <a:r>
              <a:rPr lang="en-US" sz="2200" dirty="0" smtClean="0">
                <a:latin typeface="Times New Roman" panose="02020603050405020304" pitchFamily="18" charset="0"/>
                <a:cs typeface="Times New Roman" panose="02020603050405020304" pitchFamily="18" charset="0"/>
              </a:rPr>
              <a:t>In </a:t>
            </a:r>
            <a:r>
              <a:rPr lang="en-US" sz="2200" dirty="0">
                <a:latin typeface="Times New Roman" panose="02020603050405020304" pitchFamily="18" charset="0"/>
                <a:cs typeface="Times New Roman" panose="02020603050405020304" pitchFamily="18" charset="0"/>
              </a:rPr>
              <a:t>contrast</a:t>
            </a:r>
            <a:r>
              <a:rPr lang="en-US" sz="2200" dirty="0" smtClean="0">
                <a:latin typeface="Times New Roman" panose="02020603050405020304" pitchFamily="18" charset="0"/>
                <a:cs typeface="Times New Roman" panose="02020603050405020304" pitchFamily="18" charset="0"/>
              </a:rPr>
              <a:t>, women </a:t>
            </a:r>
            <a:r>
              <a:rPr lang="en-US" sz="2200" dirty="0">
                <a:latin typeface="Times New Roman" panose="02020603050405020304" pitchFamily="18" charset="0"/>
                <a:cs typeface="Times New Roman" panose="02020603050405020304" pitchFamily="18" charset="0"/>
              </a:rPr>
              <a:t>gave importance to preserve personal relationships with all the people involved. </a:t>
            </a:r>
            <a:endParaRPr sz="2200" dirty="0">
              <a:latin typeface="Times New Roman" panose="02020603050405020304" pitchFamily="18" charset="0"/>
              <a:cs typeface="Times New Roman" panose="02020603050405020304" pitchFamily="18" charset="0"/>
            </a:endParaRPr>
          </a:p>
          <a:p>
            <a:pPr marL="82296" lvl="0" indent="0" algn="just" rtl="0">
              <a:lnSpc>
                <a:spcPct val="100000"/>
              </a:lnSpc>
              <a:spcBef>
                <a:spcPts val="600"/>
              </a:spcBef>
              <a:spcAft>
                <a:spcPts val="0"/>
              </a:spcAft>
              <a:buSzPct val="80000"/>
              <a:buNone/>
            </a:pPr>
            <a:endParaRPr sz="2200" dirty="0">
              <a:latin typeface="Times New Roman" panose="02020603050405020304" pitchFamily="18" charset="0"/>
              <a:cs typeface="Times New Roman" panose="02020603050405020304" pitchFamily="18" charset="0"/>
            </a:endParaRPr>
          </a:p>
          <a:p>
            <a:pPr marL="365760" lvl="0" indent="-283464" algn="just" rtl="0">
              <a:lnSpc>
                <a:spcPct val="100000"/>
              </a:lnSpc>
              <a:spcBef>
                <a:spcPts val="600"/>
              </a:spcBef>
              <a:spcAft>
                <a:spcPts val="0"/>
              </a:spcAft>
              <a:buSzPct val="80000"/>
              <a:buChar char="⚫"/>
            </a:pPr>
            <a:r>
              <a:rPr lang="en-IN" sz="2200" dirty="0">
                <a:latin typeface="Times New Roman" panose="02020603050405020304" pitchFamily="18" charset="0"/>
                <a:cs typeface="Times New Roman" panose="02020603050405020304" pitchFamily="18" charset="0"/>
              </a:rPr>
              <a:t>For women, moral development involves caring which shows its effect on human relationships.</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6"/>
          <p:cNvSpPr txBox="1">
            <a:spLocks noGrp="1"/>
          </p:cNvSpPr>
          <p:nvPr>
            <p:ph type="title"/>
          </p:nvPr>
        </p:nvSpPr>
        <p:spPr>
          <a:xfrm>
            <a:off x="928048" y="0"/>
            <a:ext cx="7896458" cy="97467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2800" b="1" u="sng" dirty="0">
                <a:solidFill>
                  <a:schemeClr val="tx1"/>
                </a:solidFill>
                <a:latin typeface="Times New Roman" panose="02020603050405020304" pitchFamily="18" charset="0"/>
                <a:cs typeface="Times New Roman" panose="02020603050405020304" pitchFamily="18" charset="0"/>
              </a:rPr>
              <a:t>Stages of GILLIGAN’S THEORY</a:t>
            </a:r>
            <a:endParaRPr sz="2800" b="1" u="sng" dirty="0">
              <a:solidFill>
                <a:schemeClr val="tx1"/>
              </a:solidFill>
              <a:latin typeface="Times New Roman" panose="02020603050405020304" pitchFamily="18" charset="0"/>
              <a:cs typeface="Times New Roman" panose="02020603050405020304" pitchFamily="18" charset="0"/>
            </a:endParaRPr>
          </a:p>
        </p:txBody>
      </p:sp>
      <p:sp>
        <p:nvSpPr>
          <p:cNvPr id="251" name="Google Shape;251;p26"/>
          <p:cNvSpPr txBox="1">
            <a:spLocks noGrp="1"/>
          </p:cNvSpPr>
          <p:nvPr>
            <p:ph type="body" idx="1"/>
          </p:nvPr>
        </p:nvSpPr>
        <p:spPr>
          <a:xfrm>
            <a:off x="928048" y="1023582"/>
            <a:ext cx="8215952" cy="5834418"/>
          </a:xfrm>
          <a:prstGeom prst="rect">
            <a:avLst/>
          </a:prstGeom>
          <a:noFill/>
          <a:ln>
            <a:noFill/>
          </a:ln>
        </p:spPr>
        <p:txBody>
          <a:bodyPr spcFirstLastPara="1" wrap="square" lIns="91425" tIns="45700" rIns="91425" bIns="45700" anchor="t" anchorCtr="0">
            <a:normAutofit/>
          </a:bodyPr>
          <a:lstStyle/>
          <a:p>
            <a:pPr marL="82296" lvl="0" indent="0" algn="just" rtl="0">
              <a:lnSpc>
                <a:spcPct val="100000"/>
              </a:lnSpc>
              <a:spcBef>
                <a:spcPts val="0"/>
              </a:spcBef>
              <a:spcAft>
                <a:spcPts val="0"/>
              </a:spcAft>
              <a:buSzPct val="80000"/>
              <a:buNone/>
            </a:pPr>
            <a:r>
              <a:rPr lang="en-IN" sz="2200" dirty="0" smtClean="0">
                <a:latin typeface="Times New Roman" panose="02020603050405020304" pitchFamily="18" charset="0"/>
                <a:cs typeface="Times New Roman" panose="02020603050405020304" pitchFamily="18" charset="0"/>
              </a:rPr>
              <a:t>1. Pre-conventional </a:t>
            </a:r>
            <a:r>
              <a:rPr lang="en-IN" sz="2200" dirty="0">
                <a:latin typeface="Times New Roman" panose="02020603050405020304" pitchFamily="18" charset="0"/>
                <a:cs typeface="Times New Roman" panose="02020603050405020304" pitchFamily="18" charset="0"/>
              </a:rPr>
              <a:t>Level</a:t>
            </a: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ct val="100000"/>
              <a:buChar char="◦"/>
            </a:pPr>
            <a:r>
              <a:rPr lang="en-IN" sz="2200" dirty="0">
                <a:latin typeface="Times New Roman" panose="02020603050405020304" pitchFamily="18" charset="0"/>
                <a:cs typeface="Times New Roman" panose="02020603050405020304" pitchFamily="18" charset="0"/>
              </a:rPr>
              <a:t>A person in this stage cares for oneself to ensure survival.</a:t>
            </a: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ct val="100000"/>
              <a:buChar char="◦"/>
            </a:pPr>
            <a:r>
              <a:rPr lang="en-IN" sz="2200" dirty="0">
                <a:latin typeface="Times New Roman" panose="02020603050405020304" pitchFamily="18" charset="0"/>
                <a:cs typeface="Times New Roman" panose="02020603050405020304" pitchFamily="18" charset="0"/>
              </a:rPr>
              <a:t>Though the person’s attitude is selfish, this is the transition phase, where the person finds the connection between oneself and others</a:t>
            </a:r>
            <a:r>
              <a:rPr lang="en-IN" sz="2200" dirty="0" smtClean="0">
                <a:latin typeface="Times New Roman" panose="02020603050405020304" pitchFamily="18" charset="0"/>
                <a:cs typeface="Times New Roman" panose="02020603050405020304" pitchFamily="18" charset="0"/>
              </a:rPr>
              <a:t>.</a:t>
            </a:r>
          </a:p>
          <a:p>
            <a:pPr marL="402336" lvl="1" indent="0" algn="just" rtl="0">
              <a:lnSpc>
                <a:spcPct val="100000"/>
              </a:lnSpc>
              <a:spcBef>
                <a:spcPts val="550"/>
              </a:spcBef>
              <a:spcAft>
                <a:spcPts val="0"/>
              </a:spcAft>
              <a:buSzPct val="100000"/>
              <a:buNone/>
            </a:pPr>
            <a:endParaRPr sz="2200" dirty="0">
              <a:latin typeface="Times New Roman" panose="02020603050405020304" pitchFamily="18" charset="0"/>
              <a:cs typeface="Times New Roman" panose="02020603050405020304" pitchFamily="18" charset="0"/>
            </a:endParaRPr>
          </a:p>
          <a:p>
            <a:pPr marL="82296" lvl="0" indent="0" algn="just" rtl="0">
              <a:lnSpc>
                <a:spcPct val="100000"/>
              </a:lnSpc>
              <a:spcBef>
                <a:spcPts val="600"/>
              </a:spcBef>
              <a:spcAft>
                <a:spcPts val="0"/>
              </a:spcAft>
              <a:buSzPct val="80000"/>
              <a:buNone/>
            </a:pPr>
            <a:r>
              <a:rPr lang="en-IN" sz="2200" dirty="0" smtClean="0">
                <a:latin typeface="Times New Roman" panose="02020603050405020304" pitchFamily="18" charset="0"/>
                <a:cs typeface="Times New Roman" panose="02020603050405020304" pitchFamily="18" charset="0"/>
              </a:rPr>
              <a:t>2. Conventional </a:t>
            </a:r>
            <a:r>
              <a:rPr lang="en-IN" sz="2200" dirty="0">
                <a:latin typeface="Times New Roman" panose="02020603050405020304" pitchFamily="18" charset="0"/>
                <a:cs typeface="Times New Roman" panose="02020603050405020304" pitchFamily="18" charset="0"/>
              </a:rPr>
              <a:t>Level</a:t>
            </a: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ct val="100000"/>
              <a:buChar char="◦"/>
            </a:pPr>
            <a:r>
              <a:rPr lang="en-IN" sz="2200" dirty="0">
                <a:latin typeface="Times New Roman" panose="02020603050405020304" pitchFamily="18" charset="0"/>
                <a:cs typeface="Times New Roman" panose="02020603050405020304" pitchFamily="18" charset="0"/>
              </a:rPr>
              <a:t>In this stage, the person feels responsible and shows care towards other people</a:t>
            </a:r>
            <a:r>
              <a:rPr lang="en-IN" sz="2200" dirty="0" smtClean="0">
                <a:latin typeface="Times New Roman" panose="02020603050405020304" pitchFamily="18" charset="0"/>
                <a:cs typeface="Times New Roman" panose="02020603050405020304" pitchFamily="18" charset="0"/>
              </a:rPr>
              <a:t>.</a:t>
            </a:r>
          </a:p>
          <a:p>
            <a:pPr marL="402336" lvl="1" indent="0" algn="just" rtl="0">
              <a:lnSpc>
                <a:spcPct val="100000"/>
              </a:lnSpc>
              <a:spcBef>
                <a:spcPts val="550"/>
              </a:spcBef>
              <a:spcAft>
                <a:spcPts val="0"/>
              </a:spcAft>
              <a:buSzPct val="100000"/>
              <a:buNone/>
            </a:pPr>
            <a:endParaRPr sz="2200" dirty="0">
              <a:latin typeface="Times New Roman" panose="02020603050405020304" pitchFamily="18" charset="0"/>
              <a:cs typeface="Times New Roman" panose="02020603050405020304" pitchFamily="18" charset="0"/>
            </a:endParaRPr>
          </a:p>
          <a:p>
            <a:pPr marL="82296" lvl="0" indent="0" algn="just" rtl="0">
              <a:lnSpc>
                <a:spcPct val="100000"/>
              </a:lnSpc>
              <a:spcBef>
                <a:spcPts val="600"/>
              </a:spcBef>
              <a:spcAft>
                <a:spcPts val="0"/>
              </a:spcAft>
              <a:buSzPct val="80000"/>
              <a:buNone/>
            </a:pPr>
            <a:r>
              <a:rPr lang="en-IN" sz="2200" dirty="0" smtClean="0">
                <a:latin typeface="Times New Roman" panose="02020603050405020304" pitchFamily="18" charset="0"/>
                <a:cs typeface="Times New Roman" panose="02020603050405020304" pitchFamily="18" charset="0"/>
              </a:rPr>
              <a:t>3. Post-conventional </a:t>
            </a:r>
            <a:r>
              <a:rPr lang="en-IN" sz="2200" dirty="0">
                <a:latin typeface="Times New Roman" panose="02020603050405020304" pitchFamily="18" charset="0"/>
                <a:cs typeface="Times New Roman" panose="02020603050405020304" pitchFamily="18" charset="0"/>
              </a:rPr>
              <a:t>Level</a:t>
            </a: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ct val="100000"/>
              <a:buChar char="◦"/>
            </a:pPr>
            <a:r>
              <a:rPr lang="en-IN" sz="2200" dirty="0">
                <a:latin typeface="Times New Roman" panose="02020603050405020304" pitchFamily="18" charset="0"/>
                <a:cs typeface="Times New Roman" panose="02020603050405020304" pitchFamily="18" charset="0"/>
              </a:rPr>
              <a:t>This is the stage, where the principle of care for self as well as others, is accepted.</a:t>
            </a: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ct val="100000"/>
              <a:buChar char="◦"/>
            </a:pPr>
            <a:r>
              <a:rPr lang="en-IN" sz="2200" dirty="0">
                <a:latin typeface="Times New Roman" panose="02020603050405020304" pitchFamily="18" charset="0"/>
                <a:cs typeface="Times New Roman" panose="02020603050405020304" pitchFamily="18" charset="0"/>
              </a:rPr>
              <a:t>However, a section of people may never reach this level.</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7"/>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3200" dirty="0">
                <a:latin typeface="Times New Roman" panose="02020603050405020304" pitchFamily="18" charset="0"/>
                <a:cs typeface="Times New Roman" panose="02020603050405020304" pitchFamily="18" charset="0"/>
              </a:rPr>
              <a:t>Continued..</a:t>
            </a:r>
            <a:endParaRPr sz="3200" dirty="0">
              <a:latin typeface="Times New Roman" panose="02020603050405020304" pitchFamily="18" charset="0"/>
              <a:cs typeface="Times New Roman" panose="02020603050405020304" pitchFamily="18" charset="0"/>
            </a:endParaRPr>
          </a:p>
        </p:txBody>
      </p:sp>
      <p:sp>
        <p:nvSpPr>
          <p:cNvPr id="257" name="Google Shape;257;p27"/>
          <p:cNvSpPr txBox="1">
            <a:spLocks noGrp="1"/>
          </p:cNvSpPr>
          <p:nvPr>
            <p:ph type="body" idx="1"/>
          </p:nvPr>
        </p:nvSpPr>
        <p:spPr>
          <a:xfrm>
            <a:off x="1435608" y="1447800"/>
            <a:ext cx="7498080" cy="4800600"/>
          </a:xfrm>
          <a:prstGeom prst="rect">
            <a:avLst/>
          </a:prstGeom>
          <a:noFill/>
          <a:ln>
            <a:noFill/>
          </a:ln>
        </p:spPr>
        <p:txBody>
          <a:bodyPr spcFirstLastPara="1" wrap="square" lIns="91425" tIns="45700" rIns="91425" bIns="45700" anchor="t" anchorCtr="0">
            <a:normAutofit/>
          </a:bodyPr>
          <a:lstStyle/>
          <a:p>
            <a:pPr marL="365760" lvl="0" indent="-283464" algn="just" rtl="0">
              <a:lnSpc>
                <a:spcPct val="100000"/>
              </a:lnSpc>
              <a:spcBef>
                <a:spcPts val="0"/>
              </a:spcBef>
              <a:spcAft>
                <a:spcPts val="0"/>
              </a:spcAft>
              <a:buSzPts val="2560"/>
              <a:buChar char="⚫"/>
            </a:pPr>
            <a:r>
              <a:rPr lang="en-IN" sz="2200" dirty="0">
                <a:latin typeface="Times New Roman" panose="02020603050405020304" pitchFamily="18" charset="0"/>
                <a:cs typeface="Times New Roman" panose="02020603050405020304" pitchFamily="18" charset="0"/>
              </a:rPr>
              <a:t>Carol Gilligan researched and found that the post-conventional level of thinking is not being easy for women to go through because they care for the relationships</a:t>
            </a:r>
            <a:r>
              <a:rPr lang="en-IN" sz="2200" dirty="0" smtClean="0">
                <a:latin typeface="Times New Roman" panose="02020603050405020304" pitchFamily="18" charset="0"/>
                <a:cs typeface="Times New Roman" panose="02020603050405020304" pitchFamily="18" charset="0"/>
              </a:rPr>
              <a:t>.</a:t>
            </a:r>
          </a:p>
          <a:p>
            <a:pPr marL="82296" lvl="0" indent="0" algn="just" rtl="0">
              <a:lnSpc>
                <a:spcPct val="100000"/>
              </a:lnSpc>
              <a:spcBef>
                <a:spcPts val="0"/>
              </a:spcBef>
              <a:spcAft>
                <a:spcPts val="0"/>
              </a:spcAft>
              <a:buSzPts val="2560"/>
              <a:buNone/>
            </a:pPr>
            <a:endParaRPr sz="2200" dirty="0">
              <a:latin typeface="Times New Roman" panose="02020603050405020304" pitchFamily="18" charset="0"/>
              <a:cs typeface="Times New Roman" panose="02020603050405020304" pitchFamily="18" charset="0"/>
            </a:endParaRPr>
          </a:p>
          <a:p>
            <a:pPr marL="365760" lvl="0" indent="-283464" algn="just" rtl="0">
              <a:lnSpc>
                <a:spcPct val="100000"/>
              </a:lnSpc>
              <a:spcBef>
                <a:spcPts val="600"/>
              </a:spcBef>
              <a:spcAft>
                <a:spcPts val="0"/>
              </a:spcAft>
              <a:buSzPts val="2560"/>
              <a:buChar char="⚫"/>
            </a:pPr>
            <a:r>
              <a:rPr lang="en-IN" sz="2200" dirty="0">
                <a:latin typeface="Times New Roman" panose="02020603050405020304" pitchFamily="18" charset="0"/>
                <a:cs typeface="Times New Roman" panose="02020603050405020304" pitchFamily="18" charset="0"/>
              </a:rPr>
              <a:t>Levels of Thinking in the post-conventional level</a:t>
            </a: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ts val="2800"/>
              <a:buChar char="◦"/>
            </a:pPr>
            <a:r>
              <a:rPr lang="en-IN" sz="2200" dirty="0">
                <a:latin typeface="Times New Roman" panose="02020603050405020304" pitchFamily="18" charset="0"/>
                <a:cs typeface="Times New Roman" panose="02020603050405020304" pitchFamily="18" charset="0"/>
              </a:rPr>
              <a:t>Care-based Morality: Found in women</a:t>
            </a:r>
            <a:r>
              <a:rPr lang="en-IN" sz="2200" dirty="0" smtClean="0">
                <a:latin typeface="Times New Roman" panose="02020603050405020304" pitchFamily="18" charset="0"/>
                <a:cs typeface="Times New Roman" panose="02020603050405020304" pitchFamily="18" charset="0"/>
              </a:rPr>
              <a:t>.</a:t>
            </a:r>
          </a:p>
          <a:p>
            <a:pPr marL="402336" lvl="1" indent="0" algn="just" rtl="0">
              <a:lnSpc>
                <a:spcPct val="100000"/>
              </a:lnSpc>
              <a:spcBef>
                <a:spcPts val="550"/>
              </a:spcBef>
              <a:spcAft>
                <a:spcPts val="0"/>
              </a:spcAft>
              <a:buSzPts val="2800"/>
              <a:buNone/>
            </a:pP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ts val="2800"/>
              <a:buChar char="◦"/>
            </a:pPr>
            <a:r>
              <a:rPr lang="en-IN" sz="2200" dirty="0">
                <a:latin typeface="Times New Roman" panose="02020603050405020304" pitchFamily="18" charset="0"/>
                <a:cs typeface="Times New Roman" panose="02020603050405020304" pitchFamily="18" charset="0"/>
              </a:rPr>
              <a:t>Justice-based Morality: Found in men.</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9"/>
          <p:cNvSpPr txBox="1">
            <a:spLocks noGrp="1"/>
          </p:cNvSpPr>
          <p:nvPr>
            <p:ph type="title"/>
          </p:nvPr>
        </p:nvSpPr>
        <p:spPr>
          <a:xfrm>
            <a:off x="1039822" y="0"/>
            <a:ext cx="7498080" cy="95534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4000" b="1" dirty="0">
                <a:latin typeface="Times New Roman" panose="02020603050405020304" pitchFamily="18" charset="0"/>
                <a:cs typeface="Times New Roman" panose="02020603050405020304" pitchFamily="18" charset="0"/>
              </a:rPr>
              <a:t>Consensus And Controversy</a:t>
            </a:r>
            <a:endParaRPr sz="4000" b="1" dirty="0">
              <a:latin typeface="Times New Roman" panose="02020603050405020304" pitchFamily="18" charset="0"/>
              <a:cs typeface="Times New Roman" panose="02020603050405020304" pitchFamily="18" charset="0"/>
            </a:endParaRPr>
          </a:p>
        </p:txBody>
      </p:sp>
      <p:sp>
        <p:nvSpPr>
          <p:cNvPr id="270" name="Google Shape;270;p29"/>
          <p:cNvSpPr txBox="1">
            <a:spLocks noGrp="1"/>
          </p:cNvSpPr>
          <p:nvPr>
            <p:ph type="body" idx="1"/>
          </p:nvPr>
        </p:nvSpPr>
        <p:spPr>
          <a:xfrm>
            <a:off x="914400" y="955343"/>
            <a:ext cx="8229600" cy="5902657"/>
          </a:xfrm>
          <a:prstGeom prst="rect">
            <a:avLst/>
          </a:prstGeom>
          <a:noFill/>
          <a:ln>
            <a:noFill/>
          </a:ln>
        </p:spPr>
        <p:txBody>
          <a:bodyPr spcFirstLastPara="1" wrap="square" lIns="91425" tIns="45700" rIns="91425" bIns="45700" anchor="t" anchorCtr="0">
            <a:normAutofit/>
          </a:bodyPr>
          <a:lstStyle/>
          <a:p>
            <a:pPr marL="365760" lvl="0" indent="-283464" algn="just" rtl="0">
              <a:lnSpc>
                <a:spcPct val="100000"/>
              </a:lnSpc>
              <a:spcBef>
                <a:spcPts val="0"/>
              </a:spcBef>
              <a:spcAft>
                <a:spcPts val="0"/>
              </a:spcAft>
              <a:buSzPct val="80000"/>
              <a:buChar char="⚫"/>
            </a:pPr>
            <a:r>
              <a:rPr lang="en-IN" sz="2200" dirty="0">
                <a:latin typeface="Times New Roman" panose="02020603050405020304" pitchFamily="18" charset="0"/>
                <a:cs typeface="Times New Roman" panose="02020603050405020304" pitchFamily="18" charset="0"/>
              </a:rPr>
              <a:t>The moral judgment may lead to </a:t>
            </a:r>
            <a:r>
              <a:rPr lang="en-IN" sz="2200" dirty="0" smtClean="0">
                <a:latin typeface="Times New Roman" panose="02020603050405020304" pitchFamily="18" charset="0"/>
                <a:cs typeface="Times New Roman" panose="02020603050405020304" pitchFamily="18" charset="0"/>
              </a:rPr>
              <a:t>conflicts. Two </a:t>
            </a:r>
            <a:r>
              <a:rPr lang="en-IN" sz="2200" dirty="0">
                <a:latin typeface="Times New Roman" panose="02020603050405020304" pitchFamily="18" charset="0"/>
                <a:cs typeface="Times New Roman" panose="02020603050405020304" pitchFamily="18" charset="0"/>
              </a:rPr>
              <a:t>stages after the </a:t>
            </a:r>
            <a:r>
              <a:rPr lang="en-IN" sz="2200" dirty="0" smtClean="0">
                <a:latin typeface="Times New Roman" panose="02020603050405020304" pitchFamily="18" charset="0"/>
                <a:cs typeface="Times New Roman" panose="02020603050405020304" pitchFamily="18" charset="0"/>
              </a:rPr>
              <a:t>judgement are:</a:t>
            </a:r>
          </a:p>
          <a:p>
            <a:pPr marL="82296" lvl="0" indent="0" algn="just" rtl="0">
              <a:lnSpc>
                <a:spcPct val="100000"/>
              </a:lnSpc>
              <a:spcBef>
                <a:spcPts val="600"/>
              </a:spcBef>
              <a:spcAft>
                <a:spcPts val="0"/>
              </a:spcAft>
              <a:buSzPct val="80000"/>
              <a:buNone/>
            </a:pPr>
            <a:endParaRPr sz="2200" dirty="0">
              <a:latin typeface="Times New Roman" panose="02020603050405020304" pitchFamily="18" charset="0"/>
              <a:cs typeface="Times New Roman" panose="02020603050405020304" pitchFamily="18" charset="0"/>
            </a:endParaRPr>
          </a:p>
          <a:p>
            <a:pPr marL="82296" lvl="0" indent="0" algn="just" rtl="0">
              <a:lnSpc>
                <a:spcPct val="100000"/>
              </a:lnSpc>
              <a:spcBef>
                <a:spcPts val="600"/>
              </a:spcBef>
              <a:spcAft>
                <a:spcPts val="0"/>
              </a:spcAft>
              <a:buSzPct val="80000"/>
              <a:buNone/>
            </a:pPr>
            <a:r>
              <a:rPr lang="en-IN" sz="2200" dirty="0" smtClean="0">
                <a:latin typeface="Times New Roman" panose="02020603050405020304" pitchFamily="18" charset="0"/>
                <a:cs typeface="Times New Roman" panose="02020603050405020304" pitchFamily="18" charset="0"/>
              </a:rPr>
              <a:t>1. CONSENSUS  - means agreement</a:t>
            </a:r>
            <a:endParaRPr sz="2200" dirty="0">
              <a:latin typeface="Times New Roman" panose="02020603050405020304" pitchFamily="18" charset="0"/>
              <a:cs typeface="Times New Roman" panose="02020603050405020304" pitchFamily="18" charset="0"/>
            </a:endParaRPr>
          </a:p>
          <a:p>
            <a:pPr marL="640080" lvl="1" indent="-237743" algn="just" rtl="0">
              <a:lnSpc>
                <a:spcPct val="100000"/>
              </a:lnSpc>
              <a:spcBef>
                <a:spcPts val="550"/>
              </a:spcBef>
              <a:spcAft>
                <a:spcPts val="0"/>
              </a:spcAft>
              <a:buSzPct val="100000"/>
              <a:buChar char="◦"/>
            </a:pPr>
            <a:r>
              <a:rPr lang="en-IN" sz="2200" dirty="0">
                <a:latin typeface="Times New Roman" panose="02020603050405020304" pitchFamily="18" charset="0"/>
                <a:cs typeface="Times New Roman" panose="02020603050405020304" pitchFamily="18" charset="0"/>
              </a:rPr>
              <a:t>This is that state where people come into agreement with the judgment given and will leave the people with a feel that justice has been </a:t>
            </a:r>
            <a:r>
              <a:rPr lang="en-IN" sz="2200" dirty="0" smtClean="0">
                <a:latin typeface="Times New Roman" panose="02020603050405020304" pitchFamily="18" charset="0"/>
                <a:cs typeface="Times New Roman" panose="02020603050405020304" pitchFamily="18" charset="0"/>
              </a:rPr>
              <a:t>done.</a:t>
            </a:r>
          </a:p>
          <a:p>
            <a:pPr marL="402337" lvl="1" indent="0" algn="just" rtl="0">
              <a:lnSpc>
                <a:spcPct val="100000"/>
              </a:lnSpc>
              <a:spcBef>
                <a:spcPts val="550"/>
              </a:spcBef>
              <a:spcAft>
                <a:spcPts val="0"/>
              </a:spcAft>
              <a:buSzPct val="100000"/>
              <a:buNone/>
            </a:pPr>
            <a:endParaRPr sz="2200" dirty="0">
              <a:latin typeface="Times New Roman" panose="02020603050405020304" pitchFamily="18" charset="0"/>
              <a:cs typeface="Times New Roman" panose="02020603050405020304" pitchFamily="18" charset="0"/>
            </a:endParaRPr>
          </a:p>
          <a:p>
            <a:pPr marL="82296" lvl="0" indent="0" algn="just" rtl="0">
              <a:lnSpc>
                <a:spcPct val="100000"/>
              </a:lnSpc>
              <a:spcBef>
                <a:spcPts val="600"/>
              </a:spcBef>
              <a:spcAft>
                <a:spcPts val="0"/>
              </a:spcAft>
              <a:buSzPct val="80000"/>
              <a:buNone/>
            </a:pPr>
            <a:r>
              <a:rPr lang="en-IN" sz="2200" dirty="0" smtClean="0">
                <a:latin typeface="Times New Roman" panose="02020603050405020304" pitchFamily="18" charset="0"/>
                <a:cs typeface="Times New Roman" panose="02020603050405020304" pitchFamily="18" charset="0"/>
              </a:rPr>
              <a:t>2. CONTROVERSY – means conflict or disagreement</a:t>
            </a:r>
            <a:endParaRPr sz="2200" dirty="0">
              <a:latin typeface="Times New Roman" panose="02020603050405020304" pitchFamily="18" charset="0"/>
              <a:cs typeface="Times New Roman" panose="02020603050405020304" pitchFamily="18" charset="0"/>
            </a:endParaRPr>
          </a:p>
          <a:p>
            <a:pPr marL="640080" lvl="1" indent="-237743" algn="just" rtl="0">
              <a:lnSpc>
                <a:spcPct val="100000"/>
              </a:lnSpc>
              <a:spcBef>
                <a:spcPts val="550"/>
              </a:spcBef>
              <a:spcAft>
                <a:spcPts val="0"/>
              </a:spcAft>
              <a:buSzPct val="100000"/>
              <a:buChar char="◦"/>
            </a:pPr>
            <a:r>
              <a:rPr lang="en-IN" sz="2200" dirty="0">
                <a:latin typeface="Times New Roman" panose="02020603050405020304" pitchFamily="18" charset="0"/>
                <a:cs typeface="Times New Roman" panose="02020603050405020304" pitchFamily="18" charset="0"/>
              </a:rPr>
              <a:t>This is that state where the persons involved in an issue are not satisfied by the verdict and might feel that it was decided on partial interests. </a:t>
            </a:r>
            <a:endParaRPr lang="en-IN" sz="2200" dirty="0" smtClean="0">
              <a:latin typeface="Times New Roman" panose="02020603050405020304" pitchFamily="18" charset="0"/>
              <a:cs typeface="Times New Roman" panose="02020603050405020304" pitchFamily="18" charset="0"/>
            </a:endParaRPr>
          </a:p>
          <a:p>
            <a:pPr marL="402337" lvl="1" indent="0" algn="just" rtl="0">
              <a:lnSpc>
                <a:spcPct val="100000"/>
              </a:lnSpc>
              <a:spcBef>
                <a:spcPts val="550"/>
              </a:spcBef>
              <a:spcAft>
                <a:spcPts val="0"/>
              </a:spcAft>
              <a:buSzPct val="100000"/>
              <a:buNone/>
            </a:pPr>
            <a:endParaRPr sz="2200" dirty="0">
              <a:latin typeface="Times New Roman" panose="02020603050405020304" pitchFamily="18" charset="0"/>
              <a:cs typeface="Times New Roman" panose="02020603050405020304" pitchFamily="18" charset="0"/>
            </a:endParaRPr>
          </a:p>
          <a:p>
            <a:pPr marL="640080" lvl="1" indent="-237743" algn="just" rtl="0">
              <a:lnSpc>
                <a:spcPct val="100000"/>
              </a:lnSpc>
              <a:spcBef>
                <a:spcPts val="550"/>
              </a:spcBef>
              <a:spcAft>
                <a:spcPts val="0"/>
              </a:spcAft>
              <a:buSzPct val="100000"/>
              <a:buChar char="◦"/>
            </a:pPr>
            <a:r>
              <a:rPr lang="en-IN" sz="2200" dirty="0">
                <a:latin typeface="Times New Roman" panose="02020603050405020304" pitchFamily="18" charset="0"/>
                <a:cs typeface="Times New Roman" panose="02020603050405020304" pitchFamily="18" charset="0"/>
              </a:rPr>
              <a:t>This will leave the people with a sense of dissatisfaction that justice was not done, which might lead to another conflict.</a:t>
            </a:r>
            <a:endParaRPr sz="2200" dirty="0">
              <a:latin typeface="Times New Roman" panose="02020603050405020304" pitchFamily="18" charset="0"/>
              <a:cs typeface="Times New Roman" panose="02020603050405020304" pitchFamily="18" charset="0"/>
            </a:endParaRPr>
          </a:p>
          <a:p>
            <a:pPr marL="365760" lvl="0" indent="-145287" algn="just" rtl="0">
              <a:lnSpc>
                <a:spcPct val="100000"/>
              </a:lnSpc>
              <a:spcBef>
                <a:spcPts val="600"/>
              </a:spcBef>
              <a:spcAft>
                <a:spcPts val="0"/>
              </a:spcAft>
              <a:buSzPct val="80000"/>
              <a:buNone/>
            </a:pPr>
            <a:endParaRPr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0"/>
          <p:cNvSpPr txBox="1">
            <a:spLocks noGrp="1"/>
          </p:cNvSpPr>
          <p:nvPr>
            <p:ph type="title"/>
          </p:nvPr>
        </p:nvSpPr>
        <p:spPr>
          <a:xfrm>
            <a:off x="1039823" y="0"/>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sz="4000" b="1" dirty="0">
                <a:latin typeface="Times New Roman" panose="02020603050405020304" pitchFamily="18" charset="0"/>
                <a:cs typeface="Times New Roman" panose="02020603050405020304" pitchFamily="18" charset="0"/>
              </a:rPr>
              <a:t>Profession and Professionalism</a:t>
            </a:r>
            <a:endParaRPr sz="4000" b="1" dirty="0">
              <a:latin typeface="Times New Roman" panose="02020603050405020304" pitchFamily="18" charset="0"/>
              <a:cs typeface="Times New Roman" panose="02020603050405020304" pitchFamily="18" charset="0"/>
            </a:endParaRPr>
          </a:p>
        </p:txBody>
      </p:sp>
      <p:sp>
        <p:nvSpPr>
          <p:cNvPr id="276" name="Google Shape;276;p30"/>
          <p:cNvSpPr txBox="1">
            <a:spLocks noGrp="1"/>
          </p:cNvSpPr>
          <p:nvPr>
            <p:ph type="body" idx="1"/>
          </p:nvPr>
        </p:nvSpPr>
        <p:spPr>
          <a:xfrm>
            <a:off x="1039823" y="1143000"/>
            <a:ext cx="8008643" cy="5715000"/>
          </a:xfrm>
          <a:prstGeom prst="rect">
            <a:avLst/>
          </a:prstGeom>
          <a:noFill/>
          <a:ln>
            <a:noFill/>
          </a:ln>
        </p:spPr>
        <p:txBody>
          <a:bodyPr spcFirstLastPara="1" wrap="square" lIns="91425" tIns="45700" rIns="91425" bIns="45700" anchor="t" anchorCtr="0">
            <a:normAutofit/>
          </a:bodyPr>
          <a:lstStyle/>
          <a:p>
            <a:pPr marL="365760" lvl="0" indent="-283464" algn="just" rtl="0">
              <a:lnSpc>
                <a:spcPct val="100000"/>
              </a:lnSpc>
              <a:spcBef>
                <a:spcPts val="0"/>
              </a:spcBef>
              <a:spcAft>
                <a:spcPts val="0"/>
              </a:spcAft>
              <a:buSzPct val="80000"/>
              <a:buChar char="⚫"/>
            </a:pPr>
            <a:r>
              <a:rPr lang="en-IN" sz="2400" b="1" u="sng" dirty="0">
                <a:latin typeface="Times New Roman" panose="02020603050405020304" pitchFamily="18" charset="0"/>
                <a:cs typeface="Times New Roman" panose="02020603050405020304" pitchFamily="18" charset="0"/>
              </a:rPr>
              <a:t>Profession</a:t>
            </a:r>
            <a:endParaRPr sz="2400" b="1" u="sng"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ct val="100000"/>
              <a:buChar char="◦"/>
            </a:pPr>
            <a:r>
              <a:rPr lang="en-IN" sz="2200" dirty="0">
                <a:latin typeface="Times New Roman" panose="02020603050405020304" pitchFamily="18" charset="0"/>
                <a:cs typeface="Times New Roman" panose="02020603050405020304" pitchFamily="18" charset="0"/>
              </a:rPr>
              <a:t>Profession means a job or an occupation, that helps a person earn his living. </a:t>
            </a:r>
            <a:endParaRPr lang="en-IN" sz="2200" dirty="0" smtClean="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ct val="100000"/>
              <a:buChar char="◦"/>
            </a:pP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ct val="100000"/>
              <a:buChar char="◦"/>
            </a:pPr>
            <a:r>
              <a:rPr lang="en-IN" sz="2200" dirty="0">
                <a:latin typeface="Times New Roman" panose="02020603050405020304" pitchFamily="18" charset="0"/>
                <a:cs typeface="Times New Roman" panose="02020603050405020304" pitchFamily="18" charset="0"/>
              </a:rPr>
              <a:t>The main criteria of a profession involves the following.</a:t>
            </a:r>
            <a:endParaRPr sz="2200" dirty="0">
              <a:latin typeface="Times New Roman" panose="02020603050405020304" pitchFamily="18" charset="0"/>
              <a:cs typeface="Times New Roman" panose="02020603050405020304" pitchFamily="18" charset="0"/>
            </a:endParaRPr>
          </a:p>
          <a:p>
            <a:pPr marL="886967" lvl="2" indent="-228599" algn="just" rtl="0">
              <a:lnSpc>
                <a:spcPct val="100000"/>
              </a:lnSpc>
              <a:spcBef>
                <a:spcPts val="444"/>
              </a:spcBef>
              <a:spcAft>
                <a:spcPts val="0"/>
              </a:spcAft>
              <a:buSzPct val="100000"/>
              <a:buChar char="●"/>
            </a:pPr>
            <a:r>
              <a:rPr lang="en-IN" sz="2200" dirty="0">
                <a:latin typeface="Times New Roman" panose="02020603050405020304" pitchFamily="18" charset="0"/>
                <a:cs typeface="Times New Roman" panose="02020603050405020304" pitchFamily="18" charset="0"/>
              </a:rPr>
              <a:t>Advanced </a:t>
            </a:r>
            <a:r>
              <a:rPr lang="en-IN" sz="2200" dirty="0" smtClean="0">
                <a:latin typeface="Times New Roman" panose="02020603050405020304" pitchFamily="18" charset="0"/>
                <a:cs typeface="Times New Roman" panose="02020603050405020304" pitchFamily="18" charset="0"/>
              </a:rPr>
              <a:t>expertise</a:t>
            </a:r>
          </a:p>
          <a:p>
            <a:pPr marL="1344167" lvl="3" indent="-228599" algn="just">
              <a:spcBef>
                <a:spcPts val="444"/>
              </a:spcBef>
              <a:buSzPct val="100000"/>
            </a:pPr>
            <a:r>
              <a:rPr lang="en-IN" sz="1800" dirty="0" smtClean="0">
                <a:latin typeface="Times New Roman" panose="02020603050405020304" pitchFamily="18" charset="0"/>
                <a:cs typeface="Times New Roman" panose="02020603050405020304" pitchFamily="18" charset="0"/>
              </a:rPr>
              <a:t> require necessary skills and knowledge</a:t>
            </a:r>
          </a:p>
          <a:p>
            <a:pPr marL="1344167" lvl="3" indent="-228599" algn="just">
              <a:spcBef>
                <a:spcPts val="444"/>
              </a:spcBef>
              <a:buSzPct val="100000"/>
            </a:pPr>
            <a:endParaRPr sz="1800" dirty="0">
              <a:latin typeface="Times New Roman" panose="02020603050405020304" pitchFamily="18" charset="0"/>
              <a:cs typeface="Times New Roman" panose="02020603050405020304" pitchFamily="18" charset="0"/>
            </a:endParaRPr>
          </a:p>
          <a:p>
            <a:pPr marL="886967" lvl="2" indent="-228599" algn="just" rtl="0">
              <a:lnSpc>
                <a:spcPct val="100000"/>
              </a:lnSpc>
              <a:spcBef>
                <a:spcPts val="444"/>
              </a:spcBef>
              <a:spcAft>
                <a:spcPts val="0"/>
              </a:spcAft>
              <a:buSzPct val="100000"/>
              <a:buChar char="●"/>
            </a:pPr>
            <a:r>
              <a:rPr lang="en-IN" sz="2200" dirty="0" smtClean="0">
                <a:latin typeface="Times New Roman" panose="02020603050405020304" pitchFamily="18" charset="0"/>
                <a:cs typeface="Times New Roman" panose="02020603050405020304" pitchFamily="18" charset="0"/>
              </a:rPr>
              <a:t>Self-regulation </a:t>
            </a:r>
          </a:p>
          <a:p>
            <a:pPr marL="1344167" lvl="3" indent="-228599" algn="just">
              <a:spcBef>
                <a:spcPts val="444"/>
              </a:spcBef>
              <a:buSzPct val="100000"/>
            </a:pPr>
            <a:r>
              <a:rPr lang="en-US" sz="1800" dirty="0" smtClean="0">
                <a:latin typeface="Times New Roman" panose="02020603050405020304" pitchFamily="18" charset="0"/>
                <a:cs typeface="Times New Roman" panose="02020603050405020304" pitchFamily="18" charset="0"/>
              </a:rPr>
              <a:t>Enforcing standards of conduct.</a:t>
            </a:r>
          </a:p>
          <a:p>
            <a:pPr marL="1115568" lvl="3" indent="0" algn="just">
              <a:spcBef>
                <a:spcPts val="444"/>
              </a:spcBef>
              <a:buSzPct val="100000"/>
              <a:buNone/>
            </a:pPr>
            <a:endParaRPr sz="1800" dirty="0">
              <a:latin typeface="Times New Roman" panose="02020603050405020304" pitchFamily="18" charset="0"/>
              <a:cs typeface="Times New Roman" panose="02020603050405020304" pitchFamily="18" charset="0"/>
            </a:endParaRPr>
          </a:p>
          <a:p>
            <a:pPr marL="886967" lvl="2" indent="-228599" algn="just" rtl="0">
              <a:lnSpc>
                <a:spcPct val="100000"/>
              </a:lnSpc>
              <a:spcBef>
                <a:spcPts val="444"/>
              </a:spcBef>
              <a:spcAft>
                <a:spcPts val="0"/>
              </a:spcAft>
              <a:buSzPct val="100000"/>
              <a:buChar char="●"/>
            </a:pPr>
            <a:r>
              <a:rPr lang="en-IN" sz="2200" dirty="0">
                <a:latin typeface="Times New Roman" panose="02020603050405020304" pitchFamily="18" charset="0"/>
                <a:cs typeface="Times New Roman" panose="02020603050405020304" pitchFamily="18" charset="0"/>
              </a:rPr>
              <a:t>Public good </a:t>
            </a:r>
          </a:p>
          <a:p>
            <a:pPr marL="1344167" lvl="3" indent="-228599" algn="just">
              <a:spcBef>
                <a:spcPts val="444"/>
              </a:spcBef>
              <a:buSzPct val="100000"/>
            </a:pPr>
            <a:r>
              <a:rPr lang="en-IN" sz="1800" dirty="0" smtClean="0">
                <a:latin typeface="Times New Roman" panose="02020603050405020304" pitchFamily="18" charset="0"/>
                <a:cs typeface="Times New Roman" panose="02020603050405020304" pitchFamily="18" charset="0"/>
              </a:rPr>
              <a:t>Occupation provides public good.</a:t>
            </a:r>
          </a:p>
          <a:p>
            <a:pPr marL="1344167" lvl="3" indent="-228599" algn="just">
              <a:spcBef>
                <a:spcPts val="444"/>
              </a:spcBef>
              <a:buSzPct val="100000"/>
            </a:pPr>
            <a:r>
              <a:rPr lang="en-IN" sz="1800" dirty="0" err="1" smtClean="0">
                <a:latin typeface="Times New Roman" panose="02020603050405020304" pitchFamily="18" charset="0"/>
                <a:cs typeface="Times New Roman" panose="02020603050405020304" pitchFamily="18" charset="0"/>
              </a:rPr>
              <a:t>Eg</a:t>
            </a:r>
            <a:r>
              <a:rPr lang="en-IN" sz="1800" dirty="0" smtClean="0">
                <a:latin typeface="Times New Roman" panose="02020603050405020304" pitchFamily="18" charset="0"/>
                <a:cs typeface="Times New Roman" panose="02020603050405020304" pitchFamily="18" charset="0"/>
              </a:rPr>
              <a:t>: physician promotes health, a lawyer protects legal rights, an engineer provides a product or project for use by the public towards their health, welfare and safety.</a:t>
            </a:r>
          </a:p>
          <a:p>
            <a:pPr marL="886967" lvl="2" indent="-228599" algn="just" rtl="0">
              <a:lnSpc>
                <a:spcPct val="100000"/>
              </a:lnSpc>
              <a:spcBef>
                <a:spcPts val="444"/>
              </a:spcBef>
              <a:spcAft>
                <a:spcPts val="0"/>
              </a:spcAft>
              <a:buSzPct val="100000"/>
              <a:buChar char="●"/>
            </a:pPr>
            <a:endParaRPr lang="en-IN" sz="2200" dirty="0" smtClean="0">
              <a:latin typeface="Times New Roman" panose="02020603050405020304" pitchFamily="18" charset="0"/>
              <a:cs typeface="Times New Roman" panose="02020603050405020304" pitchFamily="18" charset="0"/>
            </a:endParaRPr>
          </a:p>
          <a:p>
            <a:pPr marL="886967" lvl="2" indent="-228599" algn="just" rtl="0">
              <a:lnSpc>
                <a:spcPct val="100000"/>
              </a:lnSpc>
              <a:spcBef>
                <a:spcPts val="444"/>
              </a:spcBef>
              <a:spcAft>
                <a:spcPts val="0"/>
              </a:spcAft>
              <a:buSzPct val="100000"/>
              <a:buChar char="●"/>
            </a:pPr>
            <a:endParaRPr sz="2200" dirty="0">
              <a:latin typeface="Times New Roman" panose="02020603050405020304" pitchFamily="18" charset="0"/>
              <a:cs typeface="Times New Roman" panose="02020603050405020304" pitchFamily="18" charset="0"/>
            </a:endParaRPr>
          </a:p>
          <a:p>
            <a:pPr marL="365760" lvl="0" indent="-133096" algn="just" rtl="0">
              <a:lnSpc>
                <a:spcPct val="100000"/>
              </a:lnSpc>
              <a:spcBef>
                <a:spcPts val="600"/>
              </a:spcBef>
              <a:spcAft>
                <a:spcPts val="0"/>
              </a:spcAft>
              <a:buSzPct val="80000"/>
              <a:buNone/>
            </a:pP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2" name="Google Shape;282;p31"/>
          <p:cNvSpPr txBox="1">
            <a:spLocks noGrp="1"/>
          </p:cNvSpPr>
          <p:nvPr>
            <p:ph type="body" idx="1"/>
          </p:nvPr>
        </p:nvSpPr>
        <p:spPr>
          <a:xfrm>
            <a:off x="1067119" y="136478"/>
            <a:ext cx="7954051" cy="6721522"/>
          </a:xfrm>
          <a:prstGeom prst="rect">
            <a:avLst/>
          </a:prstGeom>
          <a:noFill/>
          <a:ln>
            <a:noFill/>
          </a:ln>
        </p:spPr>
        <p:txBody>
          <a:bodyPr spcFirstLastPara="1" wrap="square" lIns="91425" tIns="45700" rIns="91425" bIns="45700" anchor="t" anchorCtr="0">
            <a:normAutofit lnSpcReduction="10000"/>
          </a:bodyPr>
          <a:lstStyle/>
          <a:p>
            <a:pPr marL="365760" lvl="0" indent="-283464" algn="just">
              <a:buSzPct val="80000"/>
            </a:pPr>
            <a:r>
              <a:rPr lang="en-US" sz="2400" b="1" u="sng" dirty="0" smtClean="0">
                <a:latin typeface="Times New Roman" panose="02020603050405020304" pitchFamily="18" charset="0"/>
                <a:cs typeface="Times New Roman" panose="02020603050405020304" pitchFamily="18" charset="0"/>
              </a:rPr>
              <a:t>Professional</a:t>
            </a:r>
            <a:endParaRPr lang="en-US" sz="2400" b="1" u="sng" dirty="0">
              <a:latin typeface="Times New Roman" panose="02020603050405020304" pitchFamily="18" charset="0"/>
              <a:cs typeface="Times New Roman" panose="02020603050405020304" pitchFamily="18" charset="0"/>
            </a:endParaRPr>
          </a:p>
          <a:p>
            <a:pPr marL="640080" lvl="1" indent="-237744" algn="just">
              <a:buSzPct val="100000"/>
            </a:pPr>
            <a:r>
              <a:rPr lang="en-US" sz="2200" dirty="0">
                <a:latin typeface="Times New Roman" panose="02020603050405020304" pitchFamily="18" charset="0"/>
                <a:cs typeface="Times New Roman" panose="02020603050405020304" pitchFamily="18" charset="0"/>
              </a:rPr>
              <a:t>A person who is paid for getting involved in a particular profession in order to earn a living as well as to satisfy the laws of that </a:t>
            </a:r>
            <a:r>
              <a:rPr lang="en-US" sz="2200" dirty="0" smtClean="0">
                <a:latin typeface="Times New Roman" panose="02020603050405020304" pitchFamily="18" charset="0"/>
                <a:cs typeface="Times New Roman" panose="02020603050405020304" pitchFamily="18" charset="0"/>
              </a:rPr>
              <a:t>profession. The term professional means a person as well as a status.</a:t>
            </a:r>
          </a:p>
          <a:p>
            <a:pPr marL="640080" lvl="1" indent="-237744" algn="just">
              <a:buSzPct val="100000"/>
            </a:pPr>
            <a:endParaRPr lang="en-US" sz="2200" dirty="0">
              <a:latin typeface="Times New Roman" panose="02020603050405020304" pitchFamily="18" charset="0"/>
              <a:cs typeface="Times New Roman" panose="02020603050405020304" pitchFamily="18" charset="0"/>
            </a:endParaRPr>
          </a:p>
          <a:p>
            <a:pPr marL="365760" lvl="0" indent="-283464" algn="just">
              <a:buSzPct val="80000"/>
            </a:pPr>
            <a:r>
              <a:rPr lang="en-US" sz="2400" b="1" u="sng" dirty="0" smtClean="0">
                <a:latin typeface="Times New Roman" panose="02020603050405020304" pitchFamily="18" charset="0"/>
                <a:cs typeface="Times New Roman" panose="02020603050405020304" pitchFamily="18" charset="0"/>
              </a:rPr>
              <a:t>Professionalism</a:t>
            </a:r>
            <a:endParaRPr lang="en-US" sz="2200" dirty="0" smtClean="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ts val="2800"/>
              <a:buChar char="◦"/>
            </a:pPr>
            <a:r>
              <a:rPr lang="en-IN" sz="2200" dirty="0" smtClean="0">
                <a:latin typeface="Times New Roman" panose="02020603050405020304" pitchFamily="18" charset="0"/>
                <a:cs typeface="Times New Roman" panose="02020603050405020304" pitchFamily="18" charset="0"/>
              </a:rPr>
              <a:t>The </a:t>
            </a:r>
            <a:r>
              <a:rPr lang="en-IN" sz="2200" dirty="0">
                <a:latin typeface="Times New Roman" panose="02020603050405020304" pitchFamily="18" charset="0"/>
                <a:cs typeface="Times New Roman" panose="02020603050405020304" pitchFamily="18" charset="0"/>
              </a:rPr>
              <a:t>art of Professionalism can be understood as the practice of doing the right thing, not because how one feels but regardless of how one </a:t>
            </a:r>
            <a:r>
              <a:rPr lang="en-IN" sz="2200" dirty="0" smtClean="0">
                <a:latin typeface="Times New Roman" panose="02020603050405020304" pitchFamily="18" charset="0"/>
                <a:cs typeface="Times New Roman" panose="02020603050405020304" pitchFamily="18" charset="0"/>
              </a:rPr>
              <a:t>feels.</a:t>
            </a:r>
          </a:p>
          <a:p>
            <a:pPr marL="640080" lvl="1" indent="-237744" algn="just" rtl="0">
              <a:lnSpc>
                <a:spcPct val="100000"/>
              </a:lnSpc>
              <a:spcBef>
                <a:spcPts val="550"/>
              </a:spcBef>
              <a:spcAft>
                <a:spcPts val="0"/>
              </a:spcAft>
              <a:buSzPts val="2800"/>
              <a:buChar char="◦"/>
            </a:pP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ts val="2800"/>
              <a:buChar char="◦"/>
            </a:pPr>
            <a:r>
              <a:rPr lang="en-IN" sz="2200" dirty="0">
                <a:latin typeface="Times New Roman" panose="02020603050405020304" pitchFamily="18" charset="0"/>
                <a:cs typeface="Times New Roman" panose="02020603050405020304" pitchFamily="18" charset="0"/>
              </a:rPr>
              <a:t>Professionalism covers comprehensively all areas of practice of a particular profession. </a:t>
            </a:r>
            <a:endParaRPr lang="en-IN" sz="2200" dirty="0" smtClean="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ts val="2800"/>
              <a:buChar char="◦"/>
            </a:pP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ts val="2800"/>
              <a:buChar char="◦"/>
            </a:pPr>
            <a:r>
              <a:rPr lang="en-IN" sz="2200" dirty="0">
                <a:latin typeface="Times New Roman" panose="02020603050405020304" pitchFamily="18" charset="0"/>
                <a:cs typeface="Times New Roman" panose="02020603050405020304" pitchFamily="18" charset="0"/>
              </a:rPr>
              <a:t>It requires skills and responsibilities involved in engineering profession. </a:t>
            </a:r>
            <a:endParaRPr lang="en-IN" sz="2200" dirty="0" smtClean="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ts val="2800"/>
              <a:buChar char="◦"/>
            </a:pPr>
            <a:endParaRPr sz="2200" dirty="0">
              <a:latin typeface="Times New Roman" panose="02020603050405020304" pitchFamily="18" charset="0"/>
              <a:cs typeface="Times New Roman" panose="02020603050405020304" pitchFamily="18" charset="0"/>
            </a:endParaRPr>
          </a:p>
          <a:p>
            <a:pPr marL="640080" lvl="1" indent="-237744" algn="just" rtl="0">
              <a:lnSpc>
                <a:spcPct val="100000"/>
              </a:lnSpc>
              <a:spcBef>
                <a:spcPts val="550"/>
              </a:spcBef>
              <a:spcAft>
                <a:spcPts val="0"/>
              </a:spcAft>
              <a:buSzPts val="2800"/>
              <a:buChar char="◦"/>
            </a:pPr>
            <a:r>
              <a:rPr lang="en-IN" sz="2200" dirty="0">
                <a:latin typeface="Times New Roman" panose="02020603050405020304" pitchFamily="18" charset="0"/>
                <a:cs typeface="Times New Roman" panose="02020603050405020304" pitchFamily="18" charset="0"/>
              </a:rPr>
              <a:t>Professionalism implies a certain set of </a:t>
            </a:r>
            <a:r>
              <a:rPr lang="en-IN" sz="2200" dirty="0" smtClean="0">
                <a:latin typeface="Times New Roman" panose="02020603050405020304" pitchFamily="18" charset="0"/>
                <a:cs typeface="Times New Roman" panose="02020603050405020304" pitchFamily="18" charset="0"/>
              </a:rPr>
              <a:t>attitudes.</a:t>
            </a:r>
            <a:endParaRPr sz="2200" dirty="0">
              <a:latin typeface="Times New Roman" panose="02020603050405020304" pitchFamily="18" charset="0"/>
              <a:cs typeface="Times New Roman" panose="02020603050405020304" pitchFamily="18" charset="0"/>
            </a:endParaRPr>
          </a:p>
          <a:p>
            <a:pPr marL="365760" lvl="0" indent="-120903" algn="l" rtl="0">
              <a:lnSpc>
                <a:spcPct val="100000"/>
              </a:lnSpc>
              <a:spcBef>
                <a:spcPts val="600"/>
              </a:spcBef>
              <a:spcAft>
                <a:spcPts val="0"/>
              </a:spcAft>
              <a:buSzPts val="2560"/>
              <a:buNone/>
            </a:pP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2"/>
          <p:cNvSpPr txBox="1">
            <a:spLocks noGrp="1"/>
          </p:cNvSpPr>
          <p:nvPr>
            <p:ph type="title"/>
          </p:nvPr>
        </p:nvSpPr>
        <p:spPr>
          <a:xfrm>
            <a:off x="1053471" y="0"/>
            <a:ext cx="7926756" cy="928048"/>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rgbClr val="562214"/>
              </a:buClr>
              <a:buSzPts val="4300"/>
              <a:buFont typeface="Gill Sans"/>
              <a:buNone/>
            </a:pPr>
            <a:r>
              <a:rPr lang="en-IN" sz="4000" b="1" dirty="0">
                <a:latin typeface="Times New Roman" panose="02020603050405020304" pitchFamily="18" charset="0"/>
                <a:cs typeface="Times New Roman" panose="02020603050405020304" pitchFamily="18" charset="0"/>
              </a:rPr>
              <a:t>Models of Professional </a:t>
            </a:r>
            <a:r>
              <a:rPr lang="en-IN" sz="4000" b="1" dirty="0" smtClean="0">
                <a:latin typeface="Times New Roman" panose="02020603050405020304" pitchFamily="18" charset="0"/>
                <a:cs typeface="Times New Roman" panose="02020603050405020304" pitchFamily="18" charset="0"/>
              </a:rPr>
              <a:t>Roles</a:t>
            </a:r>
            <a:r>
              <a:rPr lang="en-IN" sz="3100" b="1" dirty="0" smtClean="0">
                <a:latin typeface="Times New Roman" panose="02020603050405020304" pitchFamily="18" charset="0"/>
                <a:cs typeface="Times New Roman" panose="02020603050405020304" pitchFamily="18" charset="0"/>
              </a:rPr>
              <a:t>                 (Professional Roles to be played by an Engineer)</a:t>
            </a:r>
            <a:endParaRPr sz="3100" b="1" dirty="0">
              <a:latin typeface="Times New Roman" panose="02020603050405020304" pitchFamily="18" charset="0"/>
              <a:cs typeface="Times New Roman" panose="02020603050405020304" pitchFamily="18" charset="0"/>
            </a:endParaRPr>
          </a:p>
        </p:txBody>
      </p:sp>
      <p:sp>
        <p:nvSpPr>
          <p:cNvPr id="288" name="Google Shape;288;p32"/>
          <p:cNvSpPr txBox="1">
            <a:spLocks noGrp="1"/>
          </p:cNvSpPr>
          <p:nvPr>
            <p:ph type="body" idx="1"/>
          </p:nvPr>
        </p:nvSpPr>
        <p:spPr>
          <a:xfrm>
            <a:off x="846161" y="928048"/>
            <a:ext cx="8297839" cy="5929952"/>
          </a:xfrm>
          <a:prstGeom prst="rect">
            <a:avLst/>
          </a:prstGeom>
          <a:noFill/>
          <a:ln>
            <a:noFill/>
          </a:ln>
        </p:spPr>
        <p:txBody>
          <a:bodyPr spcFirstLastPara="1" wrap="square" lIns="91425" tIns="45700" rIns="91425" bIns="45700" anchor="t" anchorCtr="0">
            <a:normAutofit fontScale="92500" lnSpcReduction="10000"/>
          </a:bodyPr>
          <a:lstStyle/>
          <a:p>
            <a:pPr marL="365760" lvl="0" indent="-283464" algn="just" rtl="0">
              <a:lnSpc>
                <a:spcPct val="100000"/>
              </a:lnSpc>
              <a:spcBef>
                <a:spcPts val="0"/>
              </a:spcBef>
              <a:spcAft>
                <a:spcPts val="0"/>
              </a:spcAft>
              <a:buSzPct val="80000"/>
              <a:buChar char="⚫"/>
            </a:pPr>
            <a:r>
              <a:rPr lang="en-IN" sz="2200" dirty="0">
                <a:latin typeface="Times New Roman" panose="02020603050405020304" pitchFamily="18" charset="0"/>
                <a:cs typeface="Times New Roman" panose="02020603050405020304" pitchFamily="18" charset="0"/>
              </a:rPr>
              <a:t>Engineer has to play many roles while exercising his professional obligations.</a:t>
            </a:r>
            <a:endParaRPr sz="2200" dirty="0">
              <a:latin typeface="Times New Roman" panose="02020603050405020304" pitchFamily="18" charset="0"/>
              <a:cs typeface="Times New Roman" panose="02020603050405020304" pitchFamily="18" charset="0"/>
            </a:endParaRPr>
          </a:p>
          <a:p>
            <a:pPr marL="640080" lvl="1" indent="-237743" algn="just" rtl="0">
              <a:lnSpc>
                <a:spcPct val="100000"/>
              </a:lnSpc>
              <a:spcBef>
                <a:spcPts val="550"/>
              </a:spcBef>
              <a:spcAft>
                <a:spcPts val="0"/>
              </a:spcAft>
              <a:buSzPct val="100000"/>
              <a:buChar char="◦"/>
            </a:pPr>
            <a:r>
              <a:rPr lang="en-IN" sz="2200" b="1" i="1" dirty="0">
                <a:latin typeface="Times New Roman" panose="02020603050405020304" pitchFamily="18" charset="0"/>
                <a:cs typeface="Times New Roman" panose="02020603050405020304" pitchFamily="18" charset="0"/>
              </a:rPr>
              <a:t>Engineers as </a:t>
            </a:r>
            <a:r>
              <a:rPr lang="en-IN" sz="2200" b="1" i="1" dirty="0" err="1">
                <a:latin typeface="Times New Roman" panose="02020603050405020304" pitchFamily="18" charset="0"/>
                <a:cs typeface="Times New Roman" panose="02020603050405020304" pitchFamily="18" charset="0"/>
              </a:rPr>
              <a:t>Saviors</a:t>
            </a:r>
            <a:r>
              <a:rPr lang="en-IN" sz="2200" dirty="0">
                <a:latin typeface="Times New Roman" panose="02020603050405020304" pitchFamily="18" charset="0"/>
                <a:cs typeface="Times New Roman" panose="02020603050405020304" pitchFamily="18" charset="0"/>
              </a:rPr>
              <a:t>: Improves society through technological developments</a:t>
            </a:r>
            <a:r>
              <a:rPr lang="en-IN" sz="2200" dirty="0" smtClean="0">
                <a:latin typeface="Times New Roman" panose="02020603050405020304" pitchFamily="18" charset="0"/>
                <a:cs typeface="Times New Roman" panose="02020603050405020304" pitchFamily="18" charset="0"/>
              </a:rPr>
              <a:t>.</a:t>
            </a:r>
          </a:p>
          <a:p>
            <a:pPr marL="640080" lvl="1" indent="-237743" algn="just" rtl="0">
              <a:lnSpc>
                <a:spcPct val="100000"/>
              </a:lnSpc>
              <a:spcBef>
                <a:spcPts val="550"/>
              </a:spcBef>
              <a:spcAft>
                <a:spcPts val="0"/>
              </a:spcAft>
              <a:buSzPct val="100000"/>
              <a:buChar char="◦"/>
            </a:pPr>
            <a:endParaRPr sz="2200" dirty="0">
              <a:latin typeface="Times New Roman" panose="02020603050405020304" pitchFamily="18" charset="0"/>
              <a:cs typeface="Times New Roman" panose="02020603050405020304" pitchFamily="18" charset="0"/>
            </a:endParaRPr>
          </a:p>
          <a:p>
            <a:pPr marL="640080" lvl="1" indent="-237743" algn="just" rtl="0">
              <a:lnSpc>
                <a:spcPct val="100000"/>
              </a:lnSpc>
              <a:spcBef>
                <a:spcPts val="550"/>
              </a:spcBef>
              <a:spcAft>
                <a:spcPts val="0"/>
              </a:spcAft>
              <a:buSzPct val="100000"/>
              <a:buChar char="◦"/>
            </a:pPr>
            <a:r>
              <a:rPr lang="en-IN" sz="2200" b="1" i="1" dirty="0">
                <a:latin typeface="Times New Roman" panose="02020603050405020304" pitchFamily="18" charset="0"/>
                <a:cs typeface="Times New Roman" panose="02020603050405020304" pitchFamily="18" charset="0"/>
              </a:rPr>
              <a:t>Engineers as Guardians</a:t>
            </a:r>
            <a:r>
              <a:rPr lang="en-IN" sz="2200" dirty="0">
                <a:latin typeface="Times New Roman" panose="02020603050405020304" pitchFamily="18" charset="0"/>
                <a:cs typeface="Times New Roman" panose="02020603050405020304" pitchFamily="18" charset="0"/>
              </a:rPr>
              <a:t>: know the direction &amp; Speed in which technology should develop</a:t>
            </a:r>
            <a:r>
              <a:rPr lang="en-IN" sz="2200" dirty="0" smtClean="0">
                <a:latin typeface="Times New Roman" panose="02020603050405020304" pitchFamily="18" charset="0"/>
                <a:cs typeface="Times New Roman" panose="02020603050405020304" pitchFamily="18" charset="0"/>
              </a:rPr>
              <a:t>.</a:t>
            </a:r>
          </a:p>
          <a:p>
            <a:pPr marL="640080" lvl="1" indent="-237743" algn="just" rtl="0">
              <a:lnSpc>
                <a:spcPct val="100000"/>
              </a:lnSpc>
              <a:spcBef>
                <a:spcPts val="550"/>
              </a:spcBef>
              <a:spcAft>
                <a:spcPts val="0"/>
              </a:spcAft>
              <a:buSzPct val="100000"/>
              <a:buChar char="◦"/>
            </a:pPr>
            <a:endParaRPr sz="2200" dirty="0">
              <a:latin typeface="Times New Roman" panose="02020603050405020304" pitchFamily="18" charset="0"/>
              <a:cs typeface="Times New Roman" panose="02020603050405020304" pitchFamily="18" charset="0"/>
            </a:endParaRPr>
          </a:p>
          <a:p>
            <a:pPr marL="640080" lvl="1" indent="-237743" algn="just" rtl="0">
              <a:lnSpc>
                <a:spcPct val="100000"/>
              </a:lnSpc>
              <a:spcBef>
                <a:spcPts val="550"/>
              </a:spcBef>
              <a:spcAft>
                <a:spcPts val="0"/>
              </a:spcAft>
              <a:buSzPct val="100000"/>
              <a:buChar char="◦"/>
            </a:pPr>
            <a:r>
              <a:rPr lang="en-IN" sz="2200" b="1" i="1" dirty="0">
                <a:latin typeface="Times New Roman" panose="02020603050405020304" pitchFamily="18" charset="0"/>
                <a:cs typeface="Times New Roman" panose="02020603050405020304" pitchFamily="18" charset="0"/>
              </a:rPr>
              <a:t>Engineers as Bureaucratic Servants</a:t>
            </a:r>
            <a:r>
              <a:rPr lang="en-IN" sz="2200" dirty="0">
                <a:latin typeface="Times New Roman" panose="02020603050405020304" pitchFamily="18" charset="0"/>
                <a:cs typeface="Times New Roman" panose="02020603050405020304" pitchFamily="18" charset="0"/>
              </a:rPr>
              <a:t>: receives and translates the directives of management into solid accomplishments</a:t>
            </a:r>
            <a:r>
              <a:rPr lang="en-IN" sz="2200" dirty="0" smtClean="0">
                <a:latin typeface="Times New Roman" panose="02020603050405020304" pitchFamily="18" charset="0"/>
                <a:cs typeface="Times New Roman" panose="02020603050405020304" pitchFamily="18" charset="0"/>
              </a:rPr>
              <a:t>.</a:t>
            </a:r>
          </a:p>
          <a:p>
            <a:pPr marL="640080" lvl="1" indent="-237743" algn="just" rtl="0">
              <a:lnSpc>
                <a:spcPct val="100000"/>
              </a:lnSpc>
              <a:spcBef>
                <a:spcPts val="550"/>
              </a:spcBef>
              <a:spcAft>
                <a:spcPts val="0"/>
              </a:spcAft>
              <a:buSzPct val="100000"/>
              <a:buChar char="◦"/>
            </a:pPr>
            <a:endParaRPr sz="2200" dirty="0">
              <a:latin typeface="Times New Roman" panose="02020603050405020304" pitchFamily="18" charset="0"/>
              <a:cs typeface="Times New Roman" panose="02020603050405020304" pitchFamily="18" charset="0"/>
            </a:endParaRPr>
          </a:p>
          <a:p>
            <a:pPr marL="640080" lvl="1" indent="-237743" algn="just" rtl="0">
              <a:lnSpc>
                <a:spcPct val="100000"/>
              </a:lnSpc>
              <a:spcBef>
                <a:spcPts val="550"/>
              </a:spcBef>
              <a:spcAft>
                <a:spcPts val="0"/>
              </a:spcAft>
              <a:buSzPct val="100000"/>
              <a:buChar char="◦"/>
            </a:pPr>
            <a:r>
              <a:rPr lang="en-IN" sz="2200" b="1" i="1" dirty="0">
                <a:latin typeface="Times New Roman" panose="02020603050405020304" pitchFamily="18" charset="0"/>
                <a:cs typeface="Times New Roman" panose="02020603050405020304" pitchFamily="18" charset="0"/>
              </a:rPr>
              <a:t>Engineers as Social </a:t>
            </a:r>
            <a:r>
              <a:rPr lang="en-IN" sz="2200" b="1" i="1" dirty="0" smtClean="0">
                <a:latin typeface="Times New Roman" panose="02020603050405020304" pitchFamily="18" charset="0"/>
                <a:cs typeface="Times New Roman" panose="02020603050405020304" pitchFamily="18" charset="0"/>
              </a:rPr>
              <a:t>Servants</a:t>
            </a:r>
          </a:p>
          <a:p>
            <a:pPr marL="640080" lvl="1" indent="-237743" algn="just" rtl="0">
              <a:lnSpc>
                <a:spcPct val="100000"/>
              </a:lnSpc>
              <a:spcBef>
                <a:spcPts val="550"/>
              </a:spcBef>
              <a:spcAft>
                <a:spcPts val="0"/>
              </a:spcAft>
              <a:buSzPct val="100000"/>
              <a:buChar char="◦"/>
            </a:pPr>
            <a:endParaRPr sz="2200" dirty="0">
              <a:latin typeface="Times New Roman" panose="02020603050405020304" pitchFamily="18" charset="0"/>
              <a:cs typeface="Times New Roman" panose="02020603050405020304" pitchFamily="18" charset="0"/>
            </a:endParaRPr>
          </a:p>
          <a:p>
            <a:pPr marL="640080" lvl="1" indent="-237743" algn="just" rtl="0">
              <a:lnSpc>
                <a:spcPct val="100000"/>
              </a:lnSpc>
              <a:spcBef>
                <a:spcPts val="550"/>
              </a:spcBef>
              <a:spcAft>
                <a:spcPts val="0"/>
              </a:spcAft>
              <a:buSzPct val="100000"/>
              <a:buChar char="◦"/>
            </a:pPr>
            <a:r>
              <a:rPr lang="en-IN" sz="2200" b="1" i="1" dirty="0">
                <a:latin typeface="Times New Roman" panose="02020603050405020304" pitchFamily="18" charset="0"/>
                <a:cs typeface="Times New Roman" panose="02020603050405020304" pitchFamily="18" charset="0"/>
              </a:rPr>
              <a:t>Engineers as Social Enablers and Catalysts</a:t>
            </a:r>
            <a:r>
              <a:rPr lang="en-IN" sz="2200" dirty="0">
                <a:latin typeface="Times New Roman" panose="02020603050405020304" pitchFamily="18" charset="0"/>
                <a:cs typeface="Times New Roman" panose="02020603050405020304" pitchFamily="18" charset="0"/>
              </a:rPr>
              <a:t>: help the management and the society to understand their needs</a:t>
            </a:r>
            <a:r>
              <a:rPr lang="en-IN" sz="2200" dirty="0" smtClean="0">
                <a:latin typeface="Times New Roman" panose="02020603050405020304" pitchFamily="18" charset="0"/>
                <a:cs typeface="Times New Roman" panose="02020603050405020304" pitchFamily="18" charset="0"/>
              </a:rPr>
              <a:t>.</a:t>
            </a:r>
          </a:p>
          <a:p>
            <a:pPr marL="640080" lvl="1" indent="-237743" algn="just" rtl="0">
              <a:lnSpc>
                <a:spcPct val="100000"/>
              </a:lnSpc>
              <a:spcBef>
                <a:spcPts val="550"/>
              </a:spcBef>
              <a:spcAft>
                <a:spcPts val="0"/>
              </a:spcAft>
              <a:buSzPct val="100000"/>
              <a:buChar char="◦"/>
            </a:pPr>
            <a:endParaRPr sz="2200" dirty="0">
              <a:latin typeface="Times New Roman" panose="02020603050405020304" pitchFamily="18" charset="0"/>
              <a:cs typeface="Times New Roman" panose="02020603050405020304" pitchFamily="18" charset="0"/>
            </a:endParaRPr>
          </a:p>
          <a:p>
            <a:pPr marL="640080" lvl="1" indent="-237743" algn="just" rtl="0">
              <a:lnSpc>
                <a:spcPct val="100000"/>
              </a:lnSpc>
              <a:spcBef>
                <a:spcPts val="550"/>
              </a:spcBef>
              <a:spcAft>
                <a:spcPts val="0"/>
              </a:spcAft>
              <a:buSzPct val="100000"/>
              <a:buChar char="◦"/>
            </a:pPr>
            <a:r>
              <a:rPr lang="en-IN" sz="2200" b="1" i="1" dirty="0">
                <a:latin typeface="Times New Roman" panose="02020603050405020304" pitchFamily="18" charset="0"/>
                <a:cs typeface="Times New Roman" panose="02020603050405020304" pitchFamily="18" charset="0"/>
              </a:rPr>
              <a:t>Engineers as Game Players</a:t>
            </a:r>
            <a:r>
              <a:rPr lang="en-IN" sz="2200" dirty="0">
                <a:latin typeface="Times New Roman" panose="02020603050405020304" pitchFamily="18" charset="0"/>
                <a:cs typeface="Times New Roman" panose="02020603050405020304" pitchFamily="18" charset="0"/>
              </a:rPr>
              <a:t>: engineers are neither servants nor masters of anyone.</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3"/>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a:t>Theories About Right Action</a:t>
            </a:r>
            <a:endParaRPr/>
          </a:p>
        </p:txBody>
      </p:sp>
      <p:sp>
        <p:nvSpPr>
          <p:cNvPr id="294" name="Google Shape;294;p33"/>
          <p:cNvSpPr txBox="1">
            <a:spLocks noGrp="1"/>
          </p:cNvSpPr>
          <p:nvPr>
            <p:ph type="body" idx="1"/>
          </p:nvPr>
        </p:nvSpPr>
        <p:spPr>
          <a:xfrm>
            <a:off x="1435608" y="1447800"/>
            <a:ext cx="7498080" cy="4800600"/>
          </a:xfrm>
          <a:prstGeom prst="rect">
            <a:avLst/>
          </a:prstGeom>
          <a:noFill/>
          <a:ln>
            <a:noFill/>
          </a:ln>
        </p:spPr>
        <p:txBody>
          <a:bodyPr spcFirstLastPara="1" wrap="square" lIns="91425" tIns="45700" rIns="91425" bIns="45700" anchor="t" anchorCtr="0">
            <a:normAutofit/>
          </a:bodyPr>
          <a:lstStyle/>
          <a:p>
            <a:pPr marL="365760" lvl="0" indent="-283464" algn="just" rtl="0">
              <a:lnSpc>
                <a:spcPct val="100000"/>
              </a:lnSpc>
              <a:spcBef>
                <a:spcPts val="0"/>
              </a:spcBef>
              <a:spcAft>
                <a:spcPts val="0"/>
              </a:spcAft>
              <a:buSzPts val="2560"/>
              <a:buChar char="⚫"/>
            </a:pPr>
            <a:r>
              <a:rPr lang="en-IN"/>
              <a:t>Depending upon the ethics a person is intended to follow, four theories were postulated by four different philosophers.</a:t>
            </a:r>
            <a:endParaRPr/>
          </a:p>
          <a:p>
            <a:pPr marL="365760" lvl="0" indent="-120903" algn="just" rtl="0">
              <a:lnSpc>
                <a:spcPct val="100000"/>
              </a:lnSpc>
              <a:spcBef>
                <a:spcPts val="600"/>
              </a:spcBef>
              <a:spcAft>
                <a:spcPts val="0"/>
              </a:spcAft>
              <a:buSzPts val="2560"/>
              <a:buNone/>
            </a:pPr>
            <a:endParaRPr/>
          </a:p>
        </p:txBody>
      </p:sp>
      <p:pic>
        <p:nvPicPr>
          <p:cNvPr id="295" name="Google Shape;295;p33"/>
          <p:cNvPicPr preferRelativeResize="0"/>
          <p:nvPr/>
        </p:nvPicPr>
        <p:blipFill rotWithShape="1">
          <a:blip r:embed="rId3">
            <a:alphaModFix/>
          </a:blip>
          <a:srcRect l="26415" t="42026" r="26329" b="26076"/>
          <a:stretch/>
        </p:blipFill>
        <p:spPr>
          <a:xfrm>
            <a:off x="1447801" y="3657600"/>
            <a:ext cx="7239000" cy="256189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4"/>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a:t>Continued..</a:t>
            </a:r>
            <a:endParaRPr/>
          </a:p>
        </p:txBody>
      </p:sp>
      <p:sp>
        <p:nvSpPr>
          <p:cNvPr id="301" name="Google Shape;301;p34"/>
          <p:cNvSpPr txBox="1">
            <a:spLocks noGrp="1"/>
          </p:cNvSpPr>
          <p:nvPr>
            <p:ph type="body" idx="1"/>
          </p:nvPr>
        </p:nvSpPr>
        <p:spPr>
          <a:xfrm>
            <a:off x="1435608" y="1447800"/>
            <a:ext cx="7498080" cy="4800600"/>
          </a:xfrm>
          <a:prstGeom prst="rect">
            <a:avLst/>
          </a:prstGeom>
          <a:noFill/>
          <a:ln>
            <a:noFill/>
          </a:ln>
        </p:spPr>
        <p:txBody>
          <a:bodyPr spcFirstLastPara="1" wrap="square" lIns="91425" tIns="45700" rIns="91425" bIns="45700" anchor="t" anchorCtr="0">
            <a:normAutofit lnSpcReduction="10000"/>
          </a:bodyPr>
          <a:lstStyle/>
          <a:p>
            <a:pPr marL="365760" lvl="0" indent="-283464" algn="just" rtl="0">
              <a:lnSpc>
                <a:spcPct val="100000"/>
              </a:lnSpc>
              <a:spcBef>
                <a:spcPts val="0"/>
              </a:spcBef>
              <a:spcAft>
                <a:spcPts val="0"/>
              </a:spcAft>
              <a:buSzPts val="2560"/>
              <a:buChar char="⚫"/>
            </a:pPr>
            <a:r>
              <a:rPr lang="en-IN"/>
              <a:t>Golden Mean</a:t>
            </a:r>
            <a:endParaRPr/>
          </a:p>
          <a:p>
            <a:pPr marL="640080" lvl="1" indent="-237744" algn="just" rtl="0">
              <a:lnSpc>
                <a:spcPct val="100000"/>
              </a:lnSpc>
              <a:spcBef>
                <a:spcPts val="550"/>
              </a:spcBef>
              <a:spcAft>
                <a:spcPts val="0"/>
              </a:spcAft>
              <a:buSzPts val="2800"/>
              <a:buChar char="◦"/>
            </a:pPr>
            <a:r>
              <a:rPr lang="en-IN"/>
              <a:t>proposed by Aristotle.</a:t>
            </a:r>
            <a:endParaRPr/>
          </a:p>
          <a:p>
            <a:pPr marL="640080" lvl="1" indent="-237744" algn="just" rtl="0">
              <a:lnSpc>
                <a:spcPct val="100000"/>
              </a:lnSpc>
              <a:spcBef>
                <a:spcPts val="550"/>
              </a:spcBef>
              <a:spcAft>
                <a:spcPts val="0"/>
              </a:spcAft>
              <a:buSzPts val="2800"/>
              <a:buChar char="◦"/>
            </a:pPr>
            <a:r>
              <a:rPr lang="en-IN"/>
              <a:t>The solution to a problem is found by analyzing the reason and the logic. </a:t>
            </a:r>
            <a:endParaRPr/>
          </a:p>
          <a:p>
            <a:pPr marL="640080" lvl="1" indent="-237744" algn="just" rtl="0">
              <a:lnSpc>
                <a:spcPct val="100000"/>
              </a:lnSpc>
              <a:spcBef>
                <a:spcPts val="550"/>
              </a:spcBef>
              <a:spcAft>
                <a:spcPts val="0"/>
              </a:spcAft>
              <a:buSzPts val="2800"/>
              <a:buChar char="◦"/>
            </a:pPr>
            <a:r>
              <a:rPr lang="en-IN"/>
              <a:t>A “Mean value of solution” between the extremes of excess and deficiency.</a:t>
            </a:r>
            <a:endParaRPr/>
          </a:p>
          <a:p>
            <a:pPr marL="365760" lvl="0" indent="-283464" algn="just" rtl="0">
              <a:lnSpc>
                <a:spcPct val="100000"/>
              </a:lnSpc>
              <a:spcBef>
                <a:spcPts val="600"/>
              </a:spcBef>
              <a:spcAft>
                <a:spcPts val="0"/>
              </a:spcAft>
              <a:buSzPts val="2560"/>
              <a:buChar char="⚫"/>
            </a:pPr>
            <a:r>
              <a:rPr lang="en-IN"/>
              <a:t>Duty-based Ethical Theory</a:t>
            </a:r>
            <a:endParaRPr/>
          </a:p>
          <a:p>
            <a:pPr marL="640080" lvl="1" indent="-237744" algn="just" rtl="0">
              <a:lnSpc>
                <a:spcPct val="100000"/>
              </a:lnSpc>
              <a:spcBef>
                <a:spcPts val="550"/>
              </a:spcBef>
              <a:spcAft>
                <a:spcPts val="0"/>
              </a:spcAft>
              <a:buSzPts val="2800"/>
              <a:buChar char="◦"/>
            </a:pPr>
            <a:r>
              <a:rPr lang="en-IN"/>
              <a:t>Proposed by Immanuel Kant.</a:t>
            </a:r>
            <a:endParaRPr/>
          </a:p>
          <a:p>
            <a:pPr marL="640080" lvl="1" indent="-237744" algn="just" rtl="0">
              <a:lnSpc>
                <a:spcPct val="100000"/>
              </a:lnSpc>
              <a:spcBef>
                <a:spcPts val="550"/>
              </a:spcBef>
              <a:spcAft>
                <a:spcPts val="0"/>
              </a:spcAft>
              <a:buSzPts val="2800"/>
              <a:buChar char="◦"/>
            </a:pPr>
            <a:r>
              <a:rPr lang="en-IN"/>
              <a:t>Every person has a duty to follow which is accepted universally, with no exceptions.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5"/>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a:t>Continued..</a:t>
            </a:r>
            <a:endParaRPr/>
          </a:p>
        </p:txBody>
      </p:sp>
      <p:sp>
        <p:nvSpPr>
          <p:cNvPr id="307" name="Google Shape;307;p35"/>
          <p:cNvSpPr txBox="1">
            <a:spLocks noGrp="1"/>
          </p:cNvSpPr>
          <p:nvPr>
            <p:ph type="body" idx="1"/>
          </p:nvPr>
        </p:nvSpPr>
        <p:spPr>
          <a:xfrm>
            <a:off x="1435608" y="1447800"/>
            <a:ext cx="7498080" cy="4800600"/>
          </a:xfrm>
          <a:prstGeom prst="rect">
            <a:avLst/>
          </a:prstGeom>
          <a:noFill/>
          <a:ln>
            <a:noFill/>
          </a:ln>
        </p:spPr>
        <p:txBody>
          <a:bodyPr spcFirstLastPara="1" wrap="square" lIns="91425" tIns="45700" rIns="91425" bIns="45700" anchor="t" anchorCtr="0">
            <a:normAutofit/>
          </a:bodyPr>
          <a:lstStyle/>
          <a:p>
            <a:pPr marL="365760" lvl="0" indent="-283464" algn="just" rtl="0">
              <a:lnSpc>
                <a:spcPct val="100000"/>
              </a:lnSpc>
              <a:spcBef>
                <a:spcPts val="0"/>
              </a:spcBef>
              <a:spcAft>
                <a:spcPts val="0"/>
              </a:spcAft>
              <a:buSzPts val="2560"/>
              <a:buChar char="⚫"/>
            </a:pPr>
            <a:r>
              <a:rPr lang="en-IN"/>
              <a:t>Rights-based Ethical Theory</a:t>
            </a:r>
            <a:endParaRPr/>
          </a:p>
          <a:p>
            <a:pPr marL="640080" lvl="1" indent="-237744" algn="just" rtl="0">
              <a:lnSpc>
                <a:spcPct val="100000"/>
              </a:lnSpc>
              <a:spcBef>
                <a:spcPts val="550"/>
              </a:spcBef>
              <a:spcAft>
                <a:spcPts val="0"/>
              </a:spcAft>
              <a:buSzPts val="2800"/>
              <a:buChar char="◦"/>
            </a:pPr>
            <a:r>
              <a:rPr lang="en-IN"/>
              <a:t>Proposed by John Locke.</a:t>
            </a:r>
            <a:endParaRPr/>
          </a:p>
          <a:p>
            <a:pPr marL="640080" lvl="1" indent="-237744" algn="just" rtl="0">
              <a:lnSpc>
                <a:spcPct val="100000"/>
              </a:lnSpc>
              <a:spcBef>
                <a:spcPts val="550"/>
              </a:spcBef>
              <a:spcAft>
                <a:spcPts val="0"/>
              </a:spcAft>
              <a:buSzPts val="2800"/>
              <a:buChar char="◦"/>
            </a:pPr>
            <a:r>
              <a:rPr lang="en-IN"/>
              <a:t>The solution to a problem is by realizing that every person has a right to live.</a:t>
            </a:r>
            <a:endParaRPr/>
          </a:p>
          <a:p>
            <a:pPr marL="640080" lvl="1" indent="-237744" algn="just" rtl="0">
              <a:lnSpc>
                <a:spcPct val="100000"/>
              </a:lnSpc>
              <a:spcBef>
                <a:spcPts val="550"/>
              </a:spcBef>
              <a:spcAft>
                <a:spcPts val="0"/>
              </a:spcAft>
              <a:buSzPts val="2800"/>
              <a:buChar char="◦"/>
            </a:pPr>
            <a:r>
              <a:rPr lang="en-IN"/>
              <a:t>Live and let live is the philosophy behind this theory. </a:t>
            </a:r>
            <a:endParaRPr/>
          </a:p>
          <a:p>
            <a:pPr marL="640080" lvl="1" indent="-237744" algn="just" rtl="0">
              <a:lnSpc>
                <a:spcPct val="100000"/>
              </a:lnSpc>
              <a:spcBef>
                <a:spcPts val="550"/>
              </a:spcBef>
              <a:spcAft>
                <a:spcPts val="0"/>
              </a:spcAft>
              <a:buSzPts val="2800"/>
              <a:buChar char="◦"/>
            </a:pPr>
            <a:r>
              <a:rPr lang="en-IN"/>
              <a:t>The rights of a person towards life, health, liberty, possession, etc. are taken care of under this theory.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6"/>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a:t>Continued..</a:t>
            </a:r>
            <a:endParaRPr/>
          </a:p>
        </p:txBody>
      </p:sp>
      <p:sp>
        <p:nvSpPr>
          <p:cNvPr id="313" name="Google Shape;313;p36"/>
          <p:cNvSpPr txBox="1">
            <a:spLocks noGrp="1"/>
          </p:cNvSpPr>
          <p:nvPr>
            <p:ph type="body" idx="1"/>
          </p:nvPr>
        </p:nvSpPr>
        <p:spPr>
          <a:xfrm>
            <a:off x="1435608" y="1447800"/>
            <a:ext cx="7498080" cy="4800600"/>
          </a:xfrm>
          <a:prstGeom prst="rect">
            <a:avLst/>
          </a:prstGeom>
          <a:noFill/>
          <a:ln>
            <a:noFill/>
          </a:ln>
        </p:spPr>
        <p:txBody>
          <a:bodyPr spcFirstLastPara="1" wrap="square" lIns="91425" tIns="45700" rIns="91425" bIns="45700" anchor="t" anchorCtr="0">
            <a:normAutofit/>
          </a:bodyPr>
          <a:lstStyle/>
          <a:p>
            <a:pPr marL="365760" lvl="0" indent="-283464" algn="just" rtl="0">
              <a:lnSpc>
                <a:spcPct val="100000"/>
              </a:lnSpc>
              <a:spcBef>
                <a:spcPts val="0"/>
              </a:spcBef>
              <a:spcAft>
                <a:spcPts val="0"/>
              </a:spcAft>
              <a:buSzPts val="2560"/>
              <a:buChar char="⚫"/>
            </a:pPr>
            <a:r>
              <a:rPr lang="en-IN"/>
              <a:t>Utilitarian Ethics</a:t>
            </a:r>
            <a:endParaRPr/>
          </a:p>
          <a:p>
            <a:pPr marL="640080" lvl="1" indent="-237744" algn="just" rtl="0">
              <a:lnSpc>
                <a:spcPct val="100000"/>
              </a:lnSpc>
              <a:spcBef>
                <a:spcPts val="550"/>
              </a:spcBef>
              <a:spcAft>
                <a:spcPts val="0"/>
              </a:spcAft>
              <a:buSzPts val="2800"/>
              <a:buChar char="◦"/>
            </a:pPr>
            <a:r>
              <a:rPr lang="en-IN"/>
              <a:t>Proposed by John Stuart.</a:t>
            </a:r>
            <a:endParaRPr/>
          </a:p>
          <a:p>
            <a:pPr marL="640080" lvl="1" indent="-237744" algn="just" rtl="0">
              <a:lnSpc>
                <a:spcPct val="100000"/>
              </a:lnSpc>
              <a:spcBef>
                <a:spcPts val="550"/>
              </a:spcBef>
              <a:spcAft>
                <a:spcPts val="0"/>
              </a:spcAft>
              <a:buSzPts val="2800"/>
              <a:buChar char="◦"/>
            </a:pPr>
            <a:r>
              <a:rPr lang="en-IN"/>
              <a:t>The happiness or pleasure of a greatest number of people in the society is considered as the greatest good. </a:t>
            </a:r>
            <a:endParaRPr/>
          </a:p>
          <a:p>
            <a:pPr marL="640080" lvl="1" indent="-237744" algn="just" rtl="0">
              <a:lnSpc>
                <a:spcPct val="100000"/>
              </a:lnSpc>
              <a:spcBef>
                <a:spcPts val="550"/>
              </a:spcBef>
              <a:spcAft>
                <a:spcPts val="0"/>
              </a:spcAft>
              <a:buSzPts val="2800"/>
              <a:buChar char="◦"/>
            </a:pPr>
            <a:r>
              <a:rPr lang="en-IN"/>
              <a:t>According to this philosophy, an action is morally right if its consequences lead to happiness of people and wrong if they lead to their unhappiness.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7"/>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a:t>Formulation of Ethical Theories</a:t>
            </a:r>
            <a:endParaRPr/>
          </a:p>
        </p:txBody>
      </p:sp>
      <p:sp>
        <p:nvSpPr>
          <p:cNvPr id="319" name="Google Shape;319;p37"/>
          <p:cNvSpPr txBox="1">
            <a:spLocks noGrp="1"/>
          </p:cNvSpPr>
          <p:nvPr>
            <p:ph type="body" idx="1"/>
          </p:nvPr>
        </p:nvSpPr>
        <p:spPr>
          <a:xfrm>
            <a:off x="1435608" y="1447800"/>
            <a:ext cx="7498080" cy="4800600"/>
          </a:xfrm>
          <a:prstGeom prst="rect">
            <a:avLst/>
          </a:prstGeom>
          <a:noFill/>
          <a:ln>
            <a:noFill/>
          </a:ln>
        </p:spPr>
        <p:txBody>
          <a:bodyPr spcFirstLastPara="1" wrap="square" lIns="91425" tIns="45700" rIns="91425" bIns="45700" anchor="t" anchorCtr="0">
            <a:normAutofit fontScale="92500" lnSpcReduction="10000"/>
          </a:bodyPr>
          <a:lstStyle/>
          <a:p>
            <a:pPr marL="365760" lvl="0" indent="-283464" algn="just" rtl="0">
              <a:lnSpc>
                <a:spcPct val="100000"/>
              </a:lnSpc>
              <a:spcBef>
                <a:spcPts val="0"/>
              </a:spcBef>
              <a:spcAft>
                <a:spcPts val="0"/>
              </a:spcAft>
              <a:buSzPct val="80000"/>
              <a:buChar char="⚫"/>
            </a:pPr>
            <a:r>
              <a:rPr lang="en-IN"/>
              <a:t>Consider the following points:</a:t>
            </a:r>
            <a:endParaRPr/>
          </a:p>
          <a:p>
            <a:pPr marL="640080" lvl="1" indent="-237744" algn="just" rtl="0">
              <a:lnSpc>
                <a:spcPct val="100000"/>
              </a:lnSpc>
              <a:spcBef>
                <a:spcPts val="550"/>
              </a:spcBef>
              <a:spcAft>
                <a:spcPts val="0"/>
              </a:spcAft>
              <a:buSzPct val="100000"/>
              <a:buChar char="◦"/>
            </a:pPr>
            <a:r>
              <a:rPr lang="en-IN"/>
              <a:t>The concepts of the theory formulated must be coherent.</a:t>
            </a:r>
            <a:endParaRPr/>
          </a:p>
          <a:p>
            <a:pPr marL="640080" lvl="1" indent="-237744" algn="just" rtl="0">
              <a:lnSpc>
                <a:spcPct val="100000"/>
              </a:lnSpc>
              <a:spcBef>
                <a:spcPts val="550"/>
              </a:spcBef>
              <a:spcAft>
                <a:spcPts val="0"/>
              </a:spcAft>
              <a:buSzPct val="100000"/>
              <a:buChar char="◦"/>
            </a:pPr>
            <a:r>
              <a:rPr lang="en-IN"/>
              <a:t>The tenets of the theory should never contradict the other.</a:t>
            </a:r>
            <a:endParaRPr/>
          </a:p>
          <a:p>
            <a:pPr marL="640080" lvl="1" indent="-237744" algn="just" rtl="0">
              <a:lnSpc>
                <a:spcPct val="100000"/>
              </a:lnSpc>
              <a:spcBef>
                <a:spcPts val="550"/>
              </a:spcBef>
              <a:spcAft>
                <a:spcPts val="0"/>
              </a:spcAft>
              <a:buSzPct val="100000"/>
              <a:buChar char="◦"/>
            </a:pPr>
            <a:r>
              <a:rPr lang="en-IN"/>
              <a:t>The theory should never be defended upon false information.</a:t>
            </a:r>
            <a:endParaRPr/>
          </a:p>
          <a:p>
            <a:pPr marL="640080" lvl="1" indent="-237744" algn="just" rtl="0">
              <a:lnSpc>
                <a:spcPct val="100000"/>
              </a:lnSpc>
              <a:spcBef>
                <a:spcPts val="550"/>
              </a:spcBef>
              <a:spcAft>
                <a:spcPts val="0"/>
              </a:spcAft>
              <a:buSzPct val="100000"/>
              <a:buChar char="◦"/>
            </a:pPr>
            <a:r>
              <a:rPr lang="en-IN"/>
              <a:t>The theory should guide in specific situations comprehending all aspects possible.</a:t>
            </a:r>
            <a:endParaRPr/>
          </a:p>
          <a:p>
            <a:pPr marL="640080" lvl="1" indent="-237744" algn="just" rtl="0">
              <a:lnSpc>
                <a:spcPct val="100000"/>
              </a:lnSpc>
              <a:spcBef>
                <a:spcPts val="550"/>
              </a:spcBef>
              <a:spcAft>
                <a:spcPts val="0"/>
              </a:spcAft>
              <a:buSzPct val="100000"/>
              <a:buChar char="◦"/>
            </a:pPr>
            <a:r>
              <a:rPr lang="en-IN"/>
              <a:t>The theory should be compatible with individual’s moral convictions in any situation.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8"/>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a:t>Self-Interest</a:t>
            </a:r>
            <a:endParaRPr/>
          </a:p>
        </p:txBody>
      </p:sp>
      <p:sp>
        <p:nvSpPr>
          <p:cNvPr id="325" name="Google Shape;325;p38"/>
          <p:cNvSpPr txBox="1">
            <a:spLocks noGrp="1"/>
          </p:cNvSpPr>
          <p:nvPr>
            <p:ph type="body" idx="1"/>
          </p:nvPr>
        </p:nvSpPr>
        <p:spPr>
          <a:xfrm>
            <a:off x="1435608" y="1447800"/>
            <a:ext cx="7498080" cy="4800600"/>
          </a:xfrm>
          <a:prstGeom prst="rect">
            <a:avLst/>
          </a:prstGeom>
          <a:noFill/>
          <a:ln>
            <a:noFill/>
          </a:ln>
        </p:spPr>
        <p:txBody>
          <a:bodyPr spcFirstLastPara="1" wrap="square" lIns="91425" tIns="45700" rIns="91425" bIns="45700" anchor="t" anchorCtr="0">
            <a:normAutofit fontScale="85000" lnSpcReduction="20000"/>
          </a:bodyPr>
          <a:lstStyle/>
          <a:p>
            <a:pPr marL="365760" lvl="0" indent="-283464" algn="just" rtl="0">
              <a:lnSpc>
                <a:spcPct val="100000"/>
              </a:lnSpc>
              <a:spcBef>
                <a:spcPts val="0"/>
              </a:spcBef>
              <a:spcAft>
                <a:spcPts val="0"/>
              </a:spcAft>
              <a:buSzPct val="80000"/>
              <a:buChar char="⚫"/>
            </a:pPr>
            <a:r>
              <a:rPr lang="en-IN"/>
              <a:t>Self-interest is nothing but one’s personal good. </a:t>
            </a:r>
            <a:endParaRPr/>
          </a:p>
          <a:p>
            <a:pPr marL="365760" lvl="0" indent="-283464" algn="just" rtl="0">
              <a:lnSpc>
                <a:spcPct val="100000"/>
              </a:lnSpc>
              <a:spcBef>
                <a:spcPts val="600"/>
              </a:spcBef>
              <a:spcAft>
                <a:spcPts val="0"/>
              </a:spcAft>
              <a:buSzPct val="80000"/>
              <a:buChar char="⚫"/>
            </a:pPr>
            <a:r>
              <a:rPr lang="en-IN"/>
              <a:t>It refers to the goodness of oneself in the long run. </a:t>
            </a:r>
            <a:endParaRPr/>
          </a:p>
          <a:p>
            <a:pPr marL="365760" lvl="0" indent="-283464" algn="just" rtl="0">
              <a:lnSpc>
                <a:spcPct val="100000"/>
              </a:lnSpc>
              <a:spcBef>
                <a:spcPts val="600"/>
              </a:spcBef>
              <a:spcAft>
                <a:spcPts val="0"/>
              </a:spcAft>
              <a:buSzPct val="80000"/>
              <a:buChar char="⚫"/>
            </a:pPr>
            <a:r>
              <a:rPr lang="en-IN"/>
              <a:t>Each of the ethical theories recognizes the importance of self-respect.</a:t>
            </a:r>
            <a:endParaRPr/>
          </a:p>
          <a:p>
            <a:pPr marL="365760" lvl="0" indent="-283464" algn="just" rtl="0">
              <a:lnSpc>
                <a:spcPct val="100000"/>
              </a:lnSpc>
              <a:spcBef>
                <a:spcPts val="600"/>
              </a:spcBef>
              <a:spcAft>
                <a:spcPts val="0"/>
              </a:spcAft>
              <a:buSzPct val="80000"/>
              <a:buChar char="⚫"/>
            </a:pPr>
            <a:r>
              <a:rPr lang="en-IN"/>
              <a:t>The pursuit of self – interest must be balanced and kept under control by moral responsibilities to other people.</a:t>
            </a:r>
            <a:endParaRPr/>
          </a:p>
          <a:p>
            <a:pPr marL="365760" lvl="0" indent="-283464" algn="just" rtl="0">
              <a:lnSpc>
                <a:spcPct val="100000"/>
              </a:lnSpc>
              <a:spcBef>
                <a:spcPts val="600"/>
              </a:spcBef>
              <a:spcAft>
                <a:spcPts val="0"/>
              </a:spcAft>
              <a:buSzPct val="80000"/>
              <a:buChar char="⚫"/>
            </a:pPr>
            <a:r>
              <a:rPr lang="en-IN"/>
              <a:t>Ethical Egoism</a:t>
            </a:r>
            <a:endParaRPr/>
          </a:p>
          <a:p>
            <a:pPr marL="365760" lvl="0" indent="-283464" algn="just" rtl="0">
              <a:lnSpc>
                <a:spcPct val="100000"/>
              </a:lnSpc>
              <a:spcBef>
                <a:spcPts val="600"/>
              </a:spcBef>
              <a:spcAft>
                <a:spcPts val="0"/>
              </a:spcAft>
              <a:buSzPct val="80000"/>
              <a:buChar char="⚫"/>
            </a:pPr>
            <a:r>
              <a:rPr lang="en-IN"/>
              <a:t>Morality essentially needs a willingness on the part of both individuals and corporations to place some restrictions on the pursuit of private self – interests.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39"/>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a:t>Customs and Religions</a:t>
            </a:r>
            <a:endParaRPr/>
          </a:p>
        </p:txBody>
      </p:sp>
      <p:sp>
        <p:nvSpPr>
          <p:cNvPr id="331" name="Google Shape;331;p39"/>
          <p:cNvSpPr txBox="1">
            <a:spLocks noGrp="1"/>
          </p:cNvSpPr>
          <p:nvPr>
            <p:ph type="body" idx="1"/>
          </p:nvPr>
        </p:nvSpPr>
        <p:spPr>
          <a:xfrm>
            <a:off x="1435608" y="1447800"/>
            <a:ext cx="7498080" cy="4800600"/>
          </a:xfrm>
          <a:prstGeom prst="rect">
            <a:avLst/>
          </a:prstGeom>
          <a:noFill/>
          <a:ln>
            <a:noFill/>
          </a:ln>
        </p:spPr>
        <p:txBody>
          <a:bodyPr spcFirstLastPara="1" wrap="square" lIns="91425" tIns="45700" rIns="91425" bIns="45700" anchor="t" anchorCtr="0">
            <a:normAutofit fontScale="85000" lnSpcReduction="20000"/>
          </a:bodyPr>
          <a:lstStyle/>
          <a:p>
            <a:pPr marL="365760" lvl="0" indent="-283464" algn="just" rtl="0">
              <a:lnSpc>
                <a:spcPct val="100000"/>
              </a:lnSpc>
              <a:spcBef>
                <a:spcPts val="0"/>
              </a:spcBef>
              <a:spcAft>
                <a:spcPts val="0"/>
              </a:spcAft>
              <a:buSzPct val="80000"/>
              <a:buChar char="⚫"/>
            </a:pPr>
            <a:r>
              <a:rPr lang="en-IN"/>
              <a:t>Ethical pluralism</a:t>
            </a:r>
            <a:endParaRPr/>
          </a:p>
          <a:p>
            <a:pPr marL="640080" lvl="1" indent="-237743" algn="just" rtl="0">
              <a:lnSpc>
                <a:spcPct val="100000"/>
              </a:lnSpc>
              <a:spcBef>
                <a:spcPts val="550"/>
              </a:spcBef>
              <a:spcAft>
                <a:spcPts val="0"/>
              </a:spcAft>
              <a:buSzPct val="100000"/>
              <a:buChar char="◦"/>
            </a:pPr>
            <a:r>
              <a:rPr lang="en-IN"/>
              <a:t>It views that there may be alternative moral attitudes that are reasonable.</a:t>
            </a:r>
            <a:endParaRPr/>
          </a:p>
          <a:p>
            <a:pPr marL="365760" lvl="0" indent="-283464" algn="just" rtl="0">
              <a:lnSpc>
                <a:spcPct val="100000"/>
              </a:lnSpc>
              <a:spcBef>
                <a:spcPts val="600"/>
              </a:spcBef>
              <a:spcAft>
                <a:spcPts val="0"/>
              </a:spcAft>
              <a:buSzPct val="80000"/>
              <a:buChar char="⚫"/>
            </a:pPr>
            <a:r>
              <a:rPr lang="en-IN"/>
              <a:t>Ethical relativism </a:t>
            </a:r>
            <a:endParaRPr/>
          </a:p>
          <a:p>
            <a:pPr marL="640080" lvl="1" indent="-237743" algn="just" rtl="0">
              <a:lnSpc>
                <a:spcPct val="100000"/>
              </a:lnSpc>
              <a:spcBef>
                <a:spcPts val="550"/>
              </a:spcBef>
              <a:spcAft>
                <a:spcPts val="0"/>
              </a:spcAft>
              <a:buSzPct val="100000"/>
              <a:buChar char="◦"/>
            </a:pPr>
            <a:r>
              <a:rPr lang="en-IN"/>
              <a:t>Actions are morally right when they are approved by law or custom and they are said to be wrong when they violate laws or customs.</a:t>
            </a:r>
            <a:endParaRPr/>
          </a:p>
          <a:p>
            <a:pPr marL="365760" lvl="0" indent="-283464" algn="just" rtl="0">
              <a:lnSpc>
                <a:spcPct val="100000"/>
              </a:lnSpc>
              <a:spcBef>
                <a:spcPts val="600"/>
              </a:spcBef>
              <a:spcAft>
                <a:spcPts val="0"/>
              </a:spcAft>
              <a:buSzPct val="80000"/>
              <a:buChar char="⚫"/>
            </a:pPr>
            <a:r>
              <a:rPr lang="en-IN"/>
              <a:t>Reasons for accepting ethical relativism</a:t>
            </a:r>
            <a:endParaRPr/>
          </a:p>
          <a:p>
            <a:pPr marL="640080" lvl="1" indent="-237743" algn="just" rtl="0">
              <a:lnSpc>
                <a:spcPct val="100000"/>
              </a:lnSpc>
              <a:spcBef>
                <a:spcPts val="550"/>
              </a:spcBef>
              <a:spcAft>
                <a:spcPts val="0"/>
              </a:spcAft>
              <a:buSzPct val="100000"/>
              <a:buChar char="◦"/>
            </a:pPr>
            <a:r>
              <a:rPr lang="en-IN"/>
              <a:t>Laws and customs seem to be definite, real and clear – cut.</a:t>
            </a:r>
            <a:endParaRPr/>
          </a:p>
          <a:p>
            <a:pPr marL="640080" lvl="1" indent="-237743" algn="just" rtl="0">
              <a:lnSpc>
                <a:spcPct val="100000"/>
              </a:lnSpc>
              <a:spcBef>
                <a:spcPts val="550"/>
              </a:spcBef>
              <a:spcAft>
                <a:spcPts val="0"/>
              </a:spcAft>
              <a:buSzPct val="100000"/>
              <a:buChar char="◦"/>
            </a:pPr>
            <a:r>
              <a:rPr lang="en-IN"/>
              <a:t>It believes the values are subjective at the cultural level.</a:t>
            </a:r>
            <a:endParaRPr/>
          </a:p>
          <a:p>
            <a:pPr marL="640080" lvl="1" indent="-237743" algn="just" rtl="0">
              <a:lnSpc>
                <a:spcPct val="100000"/>
              </a:lnSpc>
              <a:spcBef>
                <a:spcPts val="550"/>
              </a:spcBef>
              <a:spcAft>
                <a:spcPts val="0"/>
              </a:spcAft>
              <a:buSzPct val="100000"/>
              <a:buChar char="◦"/>
            </a:pPr>
            <a:r>
              <a:rPr lang="en-IN"/>
              <a:t>Moral relationalism or moral contextulaism.</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0"/>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a:t>Continued..</a:t>
            </a:r>
            <a:endParaRPr/>
          </a:p>
        </p:txBody>
      </p:sp>
      <p:sp>
        <p:nvSpPr>
          <p:cNvPr id="337" name="Google Shape;337;p40"/>
          <p:cNvSpPr txBox="1">
            <a:spLocks noGrp="1"/>
          </p:cNvSpPr>
          <p:nvPr>
            <p:ph type="body" idx="1"/>
          </p:nvPr>
        </p:nvSpPr>
        <p:spPr>
          <a:xfrm>
            <a:off x="1435608" y="1447800"/>
            <a:ext cx="7498080" cy="5410200"/>
          </a:xfrm>
          <a:prstGeom prst="rect">
            <a:avLst/>
          </a:prstGeom>
          <a:noFill/>
          <a:ln>
            <a:noFill/>
          </a:ln>
        </p:spPr>
        <p:txBody>
          <a:bodyPr spcFirstLastPara="1" wrap="square" lIns="91425" tIns="45700" rIns="91425" bIns="45700" anchor="t" anchorCtr="0">
            <a:normAutofit/>
          </a:bodyPr>
          <a:lstStyle/>
          <a:p>
            <a:pPr marL="365760" lvl="0" indent="-283464" algn="l" rtl="0">
              <a:lnSpc>
                <a:spcPct val="100000"/>
              </a:lnSpc>
              <a:spcBef>
                <a:spcPts val="0"/>
              </a:spcBef>
              <a:spcAft>
                <a:spcPts val="0"/>
              </a:spcAft>
              <a:buSzPts val="2880"/>
              <a:buChar char="⚫"/>
            </a:pPr>
            <a:r>
              <a:rPr lang="en-IN" sz="3600"/>
              <a:t>Religion and Divine Command Ethics</a:t>
            </a:r>
            <a:endParaRPr/>
          </a:p>
          <a:p>
            <a:pPr marL="640080" lvl="1" indent="-237744" algn="l" rtl="0">
              <a:lnSpc>
                <a:spcPct val="100000"/>
              </a:lnSpc>
              <a:spcBef>
                <a:spcPts val="550"/>
              </a:spcBef>
              <a:spcAft>
                <a:spcPts val="0"/>
              </a:spcAft>
              <a:buSzPts val="3200"/>
              <a:buChar char="◦"/>
            </a:pPr>
            <a:r>
              <a:rPr lang="en-IN" sz="3200"/>
              <a:t>They are related historically.</a:t>
            </a:r>
            <a:endParaRPr/>
          </a:p>
          <a:p>
            <a:pPr marL="640080" lvl="1" indent="-237744" algn="just" rtl="0">
              <a:lnSpc>
                <a:spcPct val="100000"/>
              </a:lnSpc>
              <a:spcBef>
                <a:spcPts val="550"/>
              </a:spcBef>
              <a:spcAft>
                <a:spcPts val="0"/>
              </a:spcAft>
              <a:buSzPts val="3200"/>
              <a:buChar char="◦"/>
            </a:pPr>
            <a:r>
              <a:rPr lang="en-IN" sz="3200"/>
              <a:t>Religions or religious hopes imply trust. This trust gives an inspiration to be moral.</a:t>
            </a:r>
            <a:endParaRPr/>
          </a:p>
          <a:p>
            <a:pPr marL="640080" lvl="1" indent="-237744" algn="just" rtl="0">
              <a:lnSpc>
                <a:spcPct val="100000"/>
              </a:lnSpc>
              <a:spcBef>
                <a:spcPts val="550"/>
              </a:spcBef>
              <a:spcAft>
                <a:spcPts val="0"/>
              </a:spcAft>
              <a:buSzPts val="3200"/>
              <a:buChar char="◦"/>
            </a:pPr>
            <a:r>
              <a:rPr lang="en-IN" sz="3200"/>
              <a:t>Religion supports many people to follow their beliefs and promote tolerance and moral concern for others.</a:t>
            </a:r>
            <a:endParaRPr/>
          </a:p>
          <a:p>
            <a:pPr marL="640080" lvl="1" indent="-237744" algn="just" rtl="0">
              <a:lnSpc>
                <a:spcPct val="100000"/>
              </a:lnSpc>
              <a:spcBef>
                <a:spcPts val="550"/>
              </a:spcBef>
              <a:spcAft>
                <a:spcPts val="0"/>
              </a:spcAft>
              <a:buSzPts val="3200"/>
              <a:buChar char="◦"/>
            </a:pPr>
            <a:r>
              <a:rPr lang="en-IN" sz="3200"/>
              <a:t>Religions form a set of higher moral standards.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1"/>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a:t>Uses of Ethical Theories</a:t>
            </a:r>
            <a:endParaRPr/>
          </a:p>
        </p:txBody>
      </p:sp>
      <p:sp>
        <p:nvSpPr>
          <p:cNvPr id="343" name="Google Shape;343;p41"/>
          <p:cNvSpPr txBox="1">
            <a:spLocks noGrp="1"/>
          </p:cNvSpPr>
          <p:nvPr>
            <p:ph type="body" idx="1"/>
          </p:nvPr>
        </p:nvSpPr>
        <p:spPr>
          <a:xfrm>
            <a:off x="1435608" y="1447800"/>
            <a:ext cx="7498080" cy="4800600"/>
          </a:xfrm>
          <a:prstGeom prst="rect">
            <a:avLst/>
          </a:prstGeom>
          <a:noFill/>
          <a:ln>
            <a:noFill/>
          </a:ln>
        </p:spPr>
        <p:txBody>
          <a:bodyPr spcFirstLastPara="1" wrap="square" lIns="91425" tIns="45700" rIns="91425" bIns="45700" anchor="t" anchorCtr="0">
            <a:normAutofit lnSpcReduction="10000"/>
          </a:bodyPr>
          <a:lstStyle/>
          <a:p>
            <a:pPr marL="365760" lvl="0" indent="-283464" algn="l" rtl="0">
              <a:lnSpc>
                <a:spcPct val="100000"/>
              </a:lnSpc>
              <a:spcBef>
                <a:spcPts val="0"/>
              </a:spcBef>
              <a:spcAft>
                <a:spcPts val="0"/>
              </a:spcAft>
              <a:buSzPts val="2560"/>
              <a:buChar char="⚫"/>
            </a:pPr>
            <a:r>
              <a:rPr lang="en-IN"/>
              <a:t>Aid in identifying the moral considerations or reasons that constitute a dilemma.</a:t>
            </a:r>
            <a:endParaRPr/>
          </a:p>
          <a:p>
            <a:pPr marL="365760" lvl="0" indent="-283464" algn="l" rtl="0">
              <a:lnSpc>
                <a:spcPct val="100000"/>
              </a:lnSpc>
              <a:spcBef>
                <a:spcPts val="600"/>
              </a:spcBef>
              <a:spcAft>
                <a:spcPts val="0"/>
              </a:spcAft>
              <a:buSzPts val="2560"/>
              <a:buChar char="⚫"/>
            </a:pPr>
            <a:r>
              <a:rPr lang="en-IN"/>
              <a:t>Provide a precise sense of what kinds of information are relevant to solving moral development.</a:t>
            </a:r>
            <a:endParaRPr/>
          </a:p>
          <a:p>
            <a:pPr marL="365760" lvl="0" indent="-283464" algn="l" rtl="0">
              <a:lnSpc>
                <a:spcPct val="100000"/>
              </a:lnSpc>
              <a:spcBef>
                <a:spcPts val="600"/>
              </a:spcBef>
              <a:spcAft>
                <a:spcPts val="0"/>
              </a:spcAft>
              <a:buSzPts val="2560"/>
              <a:buChar char="⚫"/>
            </a:pPr>
            <a:r>
              <a:rPr lang="en-IN"/>
              <a:t>Offer ways to rank the relevant moral considerations in order of importance and provide a rough guidance in solving moral problems.</a:t>
            </a:r>
            <a:endParaRPr/>
          </a:p>
          <a:p>
            <a:pPr marL="365760" lvl="0" indent="-120903" algn="l" rtl="0">
              <a:lnSpc>
                <a:spcPct val="100000"/>
              </a:lnSpc>
              <a:spcBef>
                <a:spcPts val="600"/>
              </a:spcBef>
              <a:spcAft>
                <a:spcPts val="0"/>
              </a:spcAft>
              <a:buSzPts val="2560"/>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2"/>
          <p:cNvSpPr txBox="1">
            <a:spLocks noGrp="1"/>
          </p:cNvSpPr>
          <p:nvPr>
            <p:ph type="title"/>
          </p:nvPr>
        </p:nvSpPr>
        <p:spPr>
          <a:xfrm>
            <a:off x="1435608" y="274638"/>
            <a:ext cx="749808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4300"/>
              <a:buFont typeface="Gill Sans"/>
              <a:buNone/>
            </a:pPr>
            <a:r>
              <a:rPr lang="en-IN"/>
              <a:t>Continued..</a:t>
            </a:r>
            <a:endParaRPr/>
          </a:p>
        </p:txBody>
      </p:sp>
      <p:sp>
        <p:nvSpPr>
          <p:cNvPr id="349" name="Google Shape;349;p42"/>
          <p:cNvSpPr txBox="1">
            <a:spLocks noGrp="1"/>
          </p:cNvSpPr>
          <p:nvPr>
            <p:ph type="body" idx="1"/>
          </p:nvPr>
        </p:nvSpPr>
        <p:spPr>
          <a:xfrm>
            <a:off x="1435608" y="1447800"/>
            <a:ext cx="7498080" cy="4800600"/>
          </a:xfrm>
          <a:prstGeom prst="rect">
            <a:avLst/>
          </a:prstGeom>
          <a:noFill/>
          <a:ln>
            <a:noFill/>
          </a:ln>
        </p:spPr>
        <p:txBody>
          <a:bodyPr spcFirstLastPara="1" wrap="square" lIns="91425" tIns="45700" rIns="91425" bIns="45700" anchor="t" anchorCtr="0">
            <a:normAutofit fontScale="92500" lnSpcReduction="10000"/>
          </a:bodyPr>
          <a:lstStyle/>
          <a:p>
            <a:pPr marL="365760" lvl="0" indent="-283464" algn="just" rtl="0">
              <a:lnSpc>
                <a:spcPct val="100000"/>
              </a:lnSpc>
              <a:spcBef>
                <a:spcPts val="0"/>
              </a:spcBef>
              <a:spcAft>
                <a:spcPts val="0"/>
              </a:spcAft>
              <a:buSzPct val="80000"/>
              <a:buChar char="⚫"/>
            </a:pPr>
            <a:r>
              <a:rPr lang="en-IN"/>
              <a:t>Help us identify the full moral ramifications of alternative courses of action, urging a wide perspective on the moral implications of the options and providing a systematic framework of comparing alternatives.</a:t>
            </a:r>
            <a:endParaRPr/>
          </a:p>
          <a:p>
            <a:pPr marL="365760" lvl="0" indent="-283464" algn="just" rtl="0">
              <a:lnSpc>
                <a:spcPct val="100000"/>
              </a:lnSpc>
              <a:spcBef>
                <a:spcPts val="600"/>
              </a:spcBef>
              <a:spcAft>
                <a:spcPts val="0"/>
              </a:spcAft>
              <a:buSzPct val="80000"/>
              <a:buChar char="⚫"/>
            </a:pPr>
            <a:r>
              <a:rPr lang="en-IN"/>
              <a:t>Augment the precision with which we use moral terms and they provide frame works for moral reasoning when discussing moral issues with colleagues.</a:t>
            </a:r>
            <a:endParaRPr/>
          </a:p>
          <a:p>
            <a:pPr marL="365760" lvl="0" indent="-283464" algn="just" rtl="0">
              <a:lnSpc>
                <a:spcPct val="100000"/>
              </a:lnSpc>
              <a:spcBef>
                <a:spcPts val="600"/>
              </a:spcBef>
              <a:spcAft>
                <a:spcPts val="0"/>
              </a:spcAft>
              <a:buSzPct val="80000"/>
              <a:buChar char="⚫"/>
            </a:pPr>
            <a:r>
              <a:rPr lang="en-IN"/>
              <a:t>Strengthen our ability to reach balanced and insightful judgments.</a:t>
            </a:r>
            <a:endParaRPr/>
          </a:p>
        </p:txBody>
      </p:sp>
    </p:spTree>
  </p:cSld>
  <p:clrMapOvr>
    <a:masterClrMapping/>
  </p:clrMapOvr>
</p:sld>
</file>

<file path=ppt/theme/theme1.xml><?xml version="1.0" encoding="utf-8"?>
<a:theme xmlns:a="http://schemas.openxmlformats.org/drawingml/2006/main"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TotalTime>
  <Words>2841</Words>
  <Application>Microsoft Office PowerPoint</Application>
  <PresentationFormat>On-screen Show (4:3)</PresentationFormat>
  <Paragraphs>297</Paragraphs>
  <Slides>40</Slides>
  <Notes>40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Gill Sans</vt:lpstr>
      <vt:lpstr>Arial</vt:lpstr>
      <vt:lpstr>Verdana</vt:lpstr>
      <vt:lpstr>Calibri</vt:lpstr>
      <vt:lpstr>Times New Roman</vt:lpstr>
      <vt:lpstr>Noto Sans Symbols</vt:lpstr>
      <vt:lpstr>Solstice</vt:lpstr>
      <vt:lpstr>PROFESSIONAL ETHICS  (HUT 200)</vt:lpstr>
      <vt:lpstr>Syllabus</vt:lpstr>
      <vt:lpstr>Introduction</vt:lpstr>
      <vt:lpstr>Ethics in Engineering</vt:lpstr>
      <vt:lpstr>Factors Influencing Ethical Standards in Engineering</vt:lpstr>
      <vt:lpstr>Senses of Engineering Ethics</vt:lpstr>
      <vt:lpstr>Variety of Moral Issues</vt:lpstr>
      <vt:lpstr>Continued…</vt:lpstr>
      <vt:lpstr>Types of Inquiry</vt:lpstr>
      <vt:lpstr>Normative Inquiries</vt:lpstr>
      <vt:lpstr>Conceptual Inquiries</vt:lpstr>
      <vt:lpstr>Factual / Descriptive Inquiries</vt:lpstr>
      <vt:lpstr>Moral Dilemmas</vt:lpstr>
      <vt:lpstr>Causes of Moral Dilemmas</vt:lpstr>
      <vt:lpstr>Steps / Procedures in Facing / Confronting Moral Dilemma</vt:lpstr>
      <vt:lpstr>MORAL AUTONOMY</vt:lpstr>
      <vt:lpstr>Moral Autonomy – Skills Needed</vt:lpstr>
      <vt:lpstr>Skills for Improving Moral Autonomy</vt:lpstr>
      <vt:lpstr>Moral Development Theories </vt:lpstr>
      <vt:lpstr>Continued..</vt:lpstr>
      <vt:lpstr>1. Pre-Conventional Level</vt:lpstr>
      <vt:lpstr>2. Conventional Level</vt:lpstr>
      <vt:lpstr>3. Post-Conventional Level</vt:lpstr>
      <vt:lpstr>GILLIGAN’S THEORY</vt:lpstr>
      <vt:lpstr>Stages of GILLIGAN’S THEORY</vt:lpstr>
      <vt:lpstr>Continued..</vt:lpstr>
      <vt:lpstr>Consensus And Controversy</vt:lpstr>
      <vt:lpstr>Profession and Professionalism</vt:lpstr>
      <vt:lpstr>PowerPoint Presentation</vt:lpstr>
      <vt:lpstr>Models of Professional Roles                 (Professional Roles to be played by an Engineer)</vt:lpstr>
      <vt:lpstr>Theories About Right Action</vt:lpstr>
      <vt:lpstr>Continued..</vt:lpstr>
      <vt:lpstr>Continued..</vt:lpstr>
      <vt:lpstr>Continued..</vt:lpstr>
      <vt:lpstr>Formulation of Ethical Theories</vt:lpstr>
      <vt:lpstr>Self-Interest</vt:lpstr>
      <vt:lpstr>Customs and Religions</vt:lpstr>
      <vt:lpstr>Continued..</vt:lpstr>
      <vt:lpstr>Uses of Ethical Theories</vt:lpstr>
      <vt:lpstr>Continued..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ETHICS  (HUT 200)</dc:title>
  <cp:lastModifiedBy>DELL</cp:lastModifiedBy>
  <cp:revision>21</cp:revision>
  <dcterms:created xsi:type="dcterms:W3CDTF">2006-08-16T00:00:00Z</dcterms:created>
  <dcterms:modified xsi:type="dcterms:W3CDTF">2023-03-08T17:19:13Z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0x0101006372CB6AEA17F64A849F517D41DF1CC3</vt:lpwstr>
  </property>
</Properties>
</file>