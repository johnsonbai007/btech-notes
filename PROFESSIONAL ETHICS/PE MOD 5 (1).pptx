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39"/>
  </p:notesMasterIdLst>
  <p:handoutMasterIdLst>
    <p:handoutMasterId r:id="rId40"/>
  </p:handoutMasterIdLst>
  <p:sldIdLst>
    <p:sldId id="256" r:id="rId5"/>
    <p:sldId id="269" r:id="rId6"/>
    <p:sldId id="270" r:id="rId7"/>
    <p:sldId id="305" r:id="rId8"/>
    <p:sldId id="307" r:id="rId9"/>
    <p:sldId id="308" r:id="rId10"/>
    <p:sldId id="309" r:id="rId11"/>
    <p:sldId id="310" r:id="rId12"/>
    <p:sldId id="279" r:id="rId13"/>
    <p:sldId id="314" r:id="rId14"/>
    <p:sldId id="312" r:id="rId15"/>
    <p:sldId id="311" r:id="rId16"/>
    <p:sldId id="280" r:id="rId17"/>
    <p:sldId id="281" r:id="rId18"/>
    <p:sldId id="282" r:id="rId19"/>
    <p:sldId id="283" r:id="rId20"/>
    <p:sldId id="284" r:id="rId21"/>
    <p:sldId id="286" r:id="rId22"/>
    <p:sldId id="313" r:id="rId23"/>
    <p:sldId id="287" r:id="rId24"/>
    <p:sldId id="288" r:id="rId25"/>
    <p:sldId id="291" r:id="rId26"/>
    <p:sldId id="292" r:id="rId27"/>
    <p:sldId id="293" r:id="rId28"/>
    <p:sldId id="294" r:id="rId29"/>
    <p:sldId id="295" r:id="rId30"/>
    <p:sldId id="296" r:id="rId31"/>
    <p:sldId id="315" r:id="rId32"/>
    <p:sldId id="297" r:id="rId33"/>
    <p:sldId id="299" r:id="rId34"/>
    <p:sldId id="300" r:id="rId35"/>
    <p:sldId id="301" r:id="rId36"/>
    <p:sldId id="303" r:id="rId37"/>
    <p:sldId id="304"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435" autoAdjust="0"/>
  </p:normalViewPr>
  <p:slideViewPr>
    <p:cSldViewPr>
      <p:cViewPr varScale="1">
        <p:scale>
          <a:sx n="62" d="100"/>
          <a:sy n="62" d="100"/>
        </p:scale>
        <p:origin x="-156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15B04B-E45B-4ADE-8C28-E016C3BFFCCF}" type="datetimeFigureOut">
              <a:rPr lang="en-US" smtClean="0"/>
              <a:t>5/8/2024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1A44B2A-174E-4B9F-AE08-81E5BDA76F42}" type="slidenum">
              <a:rPr lang="en-US" smtClean="0"/>
              <a:t>‹#›</a:t>
            </a:fld>
            <a:endParaRPr lang="en-US"/>
          </a:p>
        </p:txBody>
      </p:sp>
    </p:spTree>
    <p:extLst>
      <p:ext uri="{BB962C8B-B14F-4D97-AF65-F5344CB8AC3E}">
        <p14:creationId xmlns:p14="http://schemas.microsoft.com/office/powerpoint/2010/main" val="42442851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ED025F2-3DBC-4BE2-BA70-920A2C93F4D7}" type="datetimeFigureOut">
              <a:rPr lang="en-IN" smtClean="0"/>
              <a:pPr/>
              <a:t>08-05-2024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CD2065E-49CF-4A66-B660-BBB1F5D2B0C8}" type="slidenum">
              <a:rPr lang="en-IN" smtClean="0"/>
              <a:pPr/>
              <a:t>‹#›</a:t>
            </a:fld>
            <a:endParaRPr lang="en-IN"/>
          </a:p>
        </p:txBody>
      </p:sp>
    </p:spTree>
    <p:extLst>
      <p:ext uri="{BB962C8B-B14F-4D97-AF65-F5344CB8AC3E}">
        <p14:creationId xmlns:p14="http://schemas.microsoft.com/office/powerpoint/2010/main" val="2710065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5/8/2024</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5/8/2024</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PROFESSIONAL ETHICS </a:t>
            </a:r>
            <a:br>
              <a:rPr lang="en-US" dirty="0" smtClean="0"/>
            </a:br>
            <a:r>
              <a:rPr lang="en-US" sz="3200" dirty="0"/>
              <a:t>(</a:t>
            </a:r>
            <a:r>
              <a:rPr lang="en-US" sz="2800" dirty="0" smtClean="0"/>
              <a:t>HUT 200</a:t>
            </a:r>
            <a:r>
              <a:rPr lang="en-US" sz="3200" dirty="0" smtClean="0"/>
              <a:t>)</a:t>
            </a:r>
            <a:endParaRPr lang="en-IN" dirty="0"/>
          </a:p>
        </p:txBody>
      </p:sp>
      <p:sp>
        <p:nvSpPr>
          <p:cNvPr id="3" name="Subtitle 2"/>
          <p:cNvSpPr>
            <a:spLocks noGrp="1"/>
          </p:cNvSpPr>
          <p:nvPr>
            <p:ph type="subTitle" idx="1"/>
          </p:nvPr>
        </p:nvSpPr>
        <p:spPr>
          <a:xfrm>
            <a:off x="1447800" y="5029200"/>
            <a:ext cx="7406640" cy="990600"/>
          </a:xfrm>
        </p:spPr>
        <p:txBody>
          <a:bodyPr>
            <a:normAutofit/>
          </a:bodyPr>
          <a:lstStyle/>
          <a:p>
            <a:pPr algn="r"/>
            <a:r>
              <a:rPr lang="en-US" dirty="0" smtClean="0"/>
              <a:t>Module V</a:t>
            </a:r>
            <a:endParaRPr lang="en-US" dirty="0"/>
          </a:p>
          <a:p>
            <a:pPr algn="r"/>
            <a:r>
              <a:rPr lang="en-US" dirty="0"/>
              <a:t>Global Ethical Issues </a:t>
            </a:r>
            <a:endParaRPr lang="en-IN" dirty="0"/>
          </a:p>
        </p:txBody>
      </p:sp>
    </p:spTree>
    <p:extLst>
      <p:ext uri="{BB962C8B-B14F-4D97-AF65-F5344CB8AC3E}">
        <p14:creationId xmlns:p14="http://schemas.microsoft.com/office/powerpoint/2010/main" val="697673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790688" cy="1143000"/>
          </a:xfrm>
        </p:spPr>
        <p:txBody>
          <a:bodyPr/>
          <a:lstStyle/>
          <a:p>
            <a:r>
              <a:rPr lang="en-US" dirty="0" smtClean="0"/>
              <a:t>Syllabus</a:t>
            </a:r>
            <a:endParaRPr lang="en-IN" dirty="0"/>
          </a:p>
        </p:txBody>
      </p:sp>
      <p:sp>
        <p:nvSpPr>
          <p:cNvPr id="3" name="Content Placeholder 2"/>
          <p:cNvSpPr>
            <a:spLocks noGrp="1"/>
          </p:cNvSpPr>
          <p:nvPr>
            <p:ph idx="1"/>
          </p:nvPr>
        </p:nvSpPr>
        <p:spPr>
          <a:xfrm>
            <a:off x="990600" y="1447800"/>
            <a:ext cx="7943088" cy="4800600"/>
          </a:xfrm>
        </p:spPr>
        <p:txBody>
          <a:bodyPr>
            <a:normAutofit/>
          </a:bodyPr>
          <a:lstStyle/>
          <a:p>
            <a:pPr marL="82296" indent="0" algn="just">
              <a:buNone/>
            </a:pPr>
            <a:r>
              <a:rPr lang="en-IN" dirty="0"/>
              <a:t>Multinational </a:t>
            </a:r>
            <a:r>
              <a:rPr lang="en-IN" dirty="0" smtClean="0"/>
              <a:t>Corporations - </a:t>
            </a:r>
            <a:r>
              <a:rPr lang="en-IN" dirty="0"/>
              <a:t>Environmental </a:t>
            </a:r>
            <a:r>
              <a:rPr lang="en-IN" dirty="0" smtClean="0"/>
              <a:t>Ethics - </a:t>
            </a:r>
            <a:r>
              <a:rPr lang="en-IN" dirty="0"/>
              <a:t>Business </a:t>
            </a:r>
            <a:r>
              <a:rPr lang="en-IN" dirty="0" smtClean="0"/>
              <a:t>Ethics - Computer </a:t>
            </a:r>
            <a:r>
              <a:rPr lang="en-IN" dirty="0"/>
              <a:t>Ethics -Role in Technological </a:t>
            </a:r>
            <a:r>
              <a:rPr lang="en-IN" dirty="0" smtClean="0"/>
              <a:t>Development - Engineers as Managers - </a:t>
            </a:r>
            <a:r>
              <a:rPr lang="en-IN" dirty="0"/>
              <a:t>Consulting Engineers- Engineers as Expert witnesses </a:t>
            </a:r>
            <a:r>
              <a:rPr lang="en-IN" dirty="0" smtClean="0"/>
              <a:t>and advisors -Moral </a:t>
            </a:r>
            <a:r>
              <a:rPr lang="en-IN" dirty="0"/>
              <a:t>leadership.</a:t>
            </a:r>
          </a:p>
        </p:txBody>
      </p:sp>
    </p:spTree>
    <p:extLst>
      <p:ext uri="{BB962C8B-B14F-4D97-AF65-F5344CB8AC3E}">
        <p14:creationId xmlns:p14="http://schemas.microsoft.com/office/powerpoint/2010/main" val="26325136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8229600" cy="1143000"/>
          </a:xfrm>
        </p:spPr>
        <p:txBody>
          <a:bodyPr>
            <a:noAutofit/>
          </a:bodyPr>
          <a:lstStyle/>
          <a:p>
            <a:r>
              <a:rPr lang="en-IN" sz="3600" b="1" dirty="0" smtClean="0">
                <a:latin typeface="Times New Roman" pitchFamily="18" charset="0"/>
                <a:cs typeface="Times New Roman" pitchFamily="18" charset="0"/>
              </a:rPr>
              <a:t>  MULTINATIONAL CORPORATIONS  			(MNCs)</a:t>
            </a:r>
            <a:endParaRPr lang="en-IN" sz="3600" b="1" dirty="0">
              <a:latin typeface="Times New Roman" pitchFamily="18" charset="0"/>
              <a:cs typeface="Times New Roman" pitchFamily="18" charset="0"/>
            </a:endParaRPr>
          </a:p>
        </p:txBody>
      </p:sp>
      <p:sp>
        <p:nvSpPr>
          <p:cNvPr id="3" name="Content Placeholder 2"/>
          <p:cNvSpPr>
            <a:spLocks noGrp="1"/>
          </p:cNvSpPr>
          <p:nvPr>
            <p:ph idx="1"/>
          </p:nvPr>
        </p:nvSpPr>
        <p:spPr>
          <a:xfrm>
            <a:off x="990600" y="1447800"/>
            <a:ext cx="7943088" cy="5410200"/>
          </a:xfrm>
        </p:spPr>
        <p:txBody>
          <a:bodyPr>
            <a:normAutofit/>
          </a:bodyPr>
          <a:lstStyle/>
          <a:p>
            <a:pPr algn="just"/>
            <a:r>
              <a:rPr lang="en-IN" sz="2400" dirty="0" smtClean="0">
                <a:latin typeface="Times New Roman" pitchFamily="18" charset="0"/>
                <a:cs typeface="Times New Roman" pitchFamily="18" charset="0"/>
              </a:rPr>
              <a:t>Organisations who have established business in more than one country, are called multinational corporation. </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 Multinational Company is one which is incorporated in one country(called the home country) and which carries business in other countries(called the host countries) in addition to the home country.</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 Multinational corporation is known by several names such as global enterprise, international enterprise, world enterprise etc.</a:t>
            </a:r>
          </a:p>
          <a:p>
            <a:pPr algn="just"/>
            <a:endParaRPr lang="en-IN" sz="2400" dirty="0" smtClean="0">
              <a:latin typeface="Times New Roman" pitchFamily="18" charset="0"/>
              <a:cs typeface="Times New Roman" pitchFamily="18" charset="0"/>
            </a:endParaRPr>
          </a:p>
          <a:p>
            <a:pPr algn="just"/>
            <a:r>
              <a:rPr lang="en-IN" sz="2400" dirty="0" err="1" smtClean="0">
                <a:latin typeface="Times New Roman" pitchFamily="18" charset="0"/>
                <a:cs typeface="Times New Roman" pitchFamily="18" charset="0"/>
              </a:rPr>
              <a:t>Eg</a:t>
            </a:r>
            <a:r>
              <a:rPr lang="en-IN" sz="2400" dirty="0" smtClean="0">
                <a:latin typeface="Times New Roman" pitchFamily="18" charset="0"/>
                <a:cs typeface="Times New Roman" pitchFamily="18" charset="0"/>
              </a:rPr>
              <a:t>: Cadbury, Coca-Cola Corporation, Unilever etc.</a:t>
            </a:r>
          </a:p>
        </p:txBody>
      </p:sp>
    </p:spTree>
    <p:extLst>
      <p:ext uri="{BB962C8B-B14F-4D97-AF65-F5344CB8AC3E}">
        <p14:creationId xmlns:p14="http://schemas.microsoft.com/office/powerpoint/2010/main" val="38344620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90600" y="1447800"/>
            <a:ext cx="7943088" cy="5410200"/>
          </a:xfrm>
        </p:spPr>
        <p:txBody>
          <a:bodyPr>
            <a:normAutofit/>
          </a:bodyPr>
          <a:lstStyle/>
          <a:p>
            <a:pPr>
              <a:buNone/>
            </a:pPr>
            <a:r>
              <a:rPr lang="en-US" sz="2800" b="1" i="1" u="sng" dirty="0" smtClean="0">
                <a:latin typeface="Times New Roman" pitchFamily="18" charset="0"/>
                <a:cs typeface="Times New Roman" pitchFamily="18" charset="0"/>
              </a:rPr>
              <a:t>Features of Multinational Corporations (MNCs):</a:t>
            </a:r>
          </a:p>
          <a:p>
            <a:r>
              <a:rPr lang="en-US" sz="2400" dirty="0" smtClean="0">
                <a:latin typeface="Times New Roman" pitchFamily="18" charset="0"/>
                <a:cs typeface="Times New Roman" pitchFamily="18" charset="0"/>
              </a:rPr>
              <a:t>Huge Assets and </a:t>
            </a:r>
            <a:r>
              <a:rPr lang="en-US" sz="2400" dirty="0" smtClean="0">
                <a:latin typeface="Times New Roman" pitchFamily="18" charset="0"/>
                <a:cs typeface="Times New Roman" pitchFamily="18" charset="0"/>
              </a:rPr>
              <a:t>Turnover</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International Operations through a network of branches.</a:t>
            </a:r>
          </a:p>
          <a:p>
            <a:r>
              <a:rPr lang="en-US" sz="2400" dirty="0" smtClean="0">
                <a:latin typeface="Times New Roman" pitchFamily="18" charset="0"/>
                <a:cs typeface="Times New Roman" pitchFamily="18" charset="0"/>
              </a:rPr>
              <a:t>Unity of Control</a:t>
            </a:r>
          </a:p>
          <a:p>
            <a:r>
              <a:rPr lang="en-US" sz="2400" dirty="0" smtClean="0">
                <a:latin typeface="Times New Roman" pitchFamily="18" charset="0"/>
                <a:cs typeface="Times New Roman" pitchFamily="18" charset="0"/>
              </a:rPr>
              <a:t>Advanced and sophisticated technology</a:t>
            </a:r>
          </a:p>
          <a:p>
            <a:r>
              <a:rPr lang="en-US" sz="2400" dirty="0" smtClean="0">
                <a:latin typeface="Times New Roman" pitchFamily="18" charset="0"/>
                <a:cs typeface="Times New Roman" pitchFamily="18" charset="0"/>
              </a:rPr>
              <a:t>Professional Management</a:t>
            </a:r>
          </a:p>
          <a:p>
            <a:r>
              <a:rPr lang="en-US" sz="2400" dirty="0" smtClean="0">
                <a:latin typeface="Times New Roman" pitchFamily="18" charset="0"/>
                <a:cs typeface="Times New Roman" pitchFamily="18" charset="0"/>
              </a:rPr>
              <a:t>Aggressive Advertising and Marketing</a:t>
            </a:r>
          </a:p>
          <a:p>
            <a:r>
              <a:rPr lang="en-US" sz="2400" dirty="0" smtClean="0">
                <a:latin typeface="Times New Roman" pitchFamily="18" charset="0"/>
                <a:cs typeface="Times New Roman" pitchFamily="18" charset="0"/>
              </a:rPr>
              <a:t>Better Quality of Products</a:t>
            </a:r>
            <a:endParaRPr lang="en-US" sz="24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90600" y="1447800"/>
            <a:ext cx="7943088" cy="5410200"/>
          </a:xfrm>
        </p:spPr>
        <p:txBody>
          <a:bodyPr>
            <a:normAutofit/>
          </a:bodyPr>
          <a:lstStyle/>
          <a:p>
            <a:pPr>
              <a:buNone/>
            </a:pPr>
            <a:r>
              <a:rPr lang="en-US" sz="2800" b="1" i="1" u="sng" dirty="0" smtClean="0">
                <a:latin typeface="Times New Roman" pitchFamily="18" charset="0"/>
                <a:cs typeface="Times New Roman" pitchFamily="18" charset="0"/>
              </a:rPr>
              <a:t>Advantages of MNCs from viewpoint of host country</a:t>
            </a:r>
          </a:p>
          <a:p>
            <a:r>
              <a:rPr lang="en-US" sz="2400" dirty="0" smtClean="0">
                <a:latin typeface="Times New Roman" pitchFamily="18" charset="0"/>
                <a:cs typeface="Times New Roman" pitchFamily="18" charset="0"/>
              </a:rPr>
              <a:t>Employment generation</a:t>
            </a:r>
          </a:p>
          <a:p>
            <a:r>
              <a:rPr lang="en-US" sz="2400" dirty="0" smtClean="0">
                <a:latin typeface="Times New Roman" pitchFamily="18" charset="0"/>
                <a:cs typeface="Times New Roman" pitchFamily="18" charset="0"/>
              </a:rPr>
              <a:t>Automatic Inflow of Foreign Capital</a:t>
            </a:r>
          </a:p>
          <a:p>
            <a:r>
              <a:rPr lang="en-US" sz="2400" dirty="0" smtClean="0">
                <a:latin typeface="Times New Roman" pitchFamily="18" charset="0"/>
                <a:cs typeface="Times New Roman" pitchFamily="18" charset="0"/>
              </a:rPr>
              <a:t>Proper Use of Idle Resources</a:t>
            </a:r>
          </a:p>
          <a:p>
            <a:r>
              <a:rPr lang="en-US" sz="2400" dirty="0" smtClean="0">
                <a:latin typeface="Times New Roman" pitchFamily="18" charset="0"/>
                <a:cs typeface="Times New Roman" pitchFamily="18" charset="0"/>
              </a:rPr>
              <a:t>Technical Development</a:t>
            </a:r>
          </a:p>
          <a:p>
            <a:r>
              <a:rPr lang="en-US" sz="2400" dirty="0" smtClean="0">
                <a:latin typeface="Times New Roman" pitchFamily="18" charset="0"/>
                <a:cs typeface="Times New Roman" pitchFamily="18" charset="0"/>
              </a:rPr>
              <a:t>Managerial Development</a:t>
            </a:r>
          </a:p>
          <a:p>
            <a:r>
              <a:rPr lang="en-US" sz="2400" dirty="0" smtClean="0">
                <a:latin typeface="Times New Roman" pitchFamily="18" charset="0"/>
                <a:cs typeface="Times New Roman" pitchFamily="18" charset="0"/>
              </a:rPr>
              <a:t>End of Local Monopolies</a:t>
            </a:r>
          </a:p>
          <a:p>
            <a:r>
              <a:rPr lang="en-US" sz="2400" dirty="0" smtClean="0">
                <a:latin typeface="Times New Roman" pitchFamily="18" charset="0"/>
                <a:cs typeface="Times New Roman" pitchFamily="18" charset="0"/>
              </a:rPr>
              <a:t>Improvement in Standard of Living</a:t>
            </a:r>
          </a:p>
          <a:p>
            <a:r>
              <a:rPr lang="en-US" sz="2400" dirty="0" smtClean="0">
                <a:latin typeface="Times New Roman" pitchFamily="18" charset="0"/>
                <a:cs typeface="Times New Roman" pitchFamily="18" charset="0"/>
              </a:rPr>
              <a:t>Promotion of International brotherhood and culture</a:t>
            </a:r>
            <a:endParaRPr lang="en-US" sz="24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90600" y="1447800"/>
            <a:ext cx="7943088" cy="5410200"/>
          </a:xfrm>
        </p:spPr>
        <p:txBody>
          <a:bodyPr>
            <a:normAutofit/>
          </a:bodyPr>
          <a:lstStyle/>
          <a:p>
            <a:pPr>
              <a:buNone/>
            </a:pPr>
            <a:r>
              <a:rPr lang="en-US" sz="2800" b="1" i="1" u="sng" dirty="0" smtClean="0">
                <a:latin typeface="Times New Roman" pitchFamily="18" charset="0"/>
                <a:cs typeface="Times New Roman" pitchFamily="18" charset="0"/>
              </a:rPr>
              <a:t>Limitations of MNCs from viewpoint of host country</a:t>
            </a:r>
          </a:p>
          <a:p>
            <a:r>
              <a:rPr lang="en-US" sz="2400" dirty="0" smtClean="0">
                <a:latin typeface="Times New Roman" pitchFamily="18" charset="0"/>
                <a:cs typeface="Times New Roman" pitchFamily="18" charset="0"/>
              </a:rPr>
              <a:t>Danger for Domestic industries</a:t>
            </a:r>
          </a:p>
          <a:p>
            <a:r>
              <a:rPr lang="en-US" sz="2400" dirty="0" smtClean="0">
                <a:latin typeface="Times New Roman" pitchFamily="18" charset="0"/>
                <a:cs typeface="Times New Roman" pitchFamily="18" charset="0"/>
              </a:rPr>
              <a:t>Repatriation of Profits</a:t>
            </a:r>
          </a:p>
          <a:p>
            <a:r>
              <a:rPr lang="en-US" sz="2400" dirty="0" smtClean="0">
                <a:latin typeface="Times New Roman" pitchFamily="18" charset="0"/>
                <a:cs typeface="Times New Roman" pitchFamily="18" charset="0"/>
              </a:rPr>
              <a:t>No Benefit to poor people</a:t>
            </a:r>
          </a:p>
          <a:p>
            <a:r>
              <a:rPr lang="en-US" sz="2400" dirty="0" smtClean="0">
                <a:latin typeface="Times New Roman" pitchFamily="18" charset="0"/>
                <a:cs typeface="Times New Roman" pitchFamily="18" charset="0"/>
              </a:rPr>
              <a:t>Danger to independence</a:t>
            </a:r>
          </a:p>
          <a:p>
            <a:r>
              <a:rPr lang="en-US" sz="2400" dirty="0" smtClean="0">
                <a:latin typeface="Times New Roman" pitchFamily="18" charset="0"/>
                <a:cs typeface="Times New Roman" pitchFamily="18" charset="0"/>
              </a:rPr>
              <a:t>Disregard to the national interests of the host country</a:t>
            </a:r>
          </a:p>
          <a:p>
            <a:r>
              <a:rPr lang="en-US" sz="2400" dirty="0" smtClean="0">
                <a:latin typeface="Times New Roman" pitchFamily="18" charset="0"/>
                <a:cs typeface="Times New Roman" pitchFamily="18" charset="0"/>
              </a:rPr>
              <a:t>Careless exploitation of natural resources</a:t>
            </a:r>
          </a:p>
          <a:p>
            <a:r>
              <a:rPr lang="en-US" sz="2400" dirty="0" smtClean="0">
                <a:latin typeface="Times New Roman" pitchFamily="18" charset="0"/>
                <a:cs typeface="Times New Roman" pitchFamily="18" charset="0"/>
              </a:rPr>
              <a:t>Selfish promotion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90600" y="1447800"/>
            <a:ext cx="7943088" cy="5410200"/>
          </a:xfrm>
        </p:spPr>
        <p:txBody>
          <a:bodyPr>
            <a:normAutofit/>
          </a:bodyPr>
          <a:lstStyle/>
          <a:p>
            <a:pPr>
              <a:buNone/>
            </a:pPr>
            <a:r>
              <a:rPr lang="en-US" sz="2800" b="1" i="1" u="sng" dirty="0" smtClean="0">
                <a:latin typeface="Times New Roman" pitchFamily="18" charset="0"/>
                <a:cs typeface="Times New Roman" pitchFamily="18" charset="0"/>
              </a:rPr>
              <a:t>Advantages of MNCs from viewpoint of home country</a:t>
            </a:r>
          </a:p>
          <a:p>
            <a:r>
              <a:rPr lang="en-US" sz="2400" dirty="0" smtClean="0">
                <a:latin typeface="Times New Roman" pitchFamily="18" charset="0"/>
                <a:cs typeface="Times New Roman" pitchFamily="18" charset="0"/>
              </a:rPr>
              <a:t>MNC’s usually get raw-materials and </a:t>
            </a:r>
            <a:r>
              <a:rPr lang="en-US" sz="2400" dirty="0" err="1" smtClean="0">
                <a:latin typeface="Times New Roman" pitchFamily="18" charset="0"/>
                <a:cs typeface="Times New Roman" pitchFamily="18" charset="0"/>
              </a:rPr>
              <a:t>labour</a:t>
            </a:r>
            <a:r>
              <a:rPr lang="en-US" sz="2400" dirty="0" smtClean="0">
                <a:latin typeface="Times New Roman" pitchFamily="18" charset="0"/>
                <a:cs typeface="Times New Roman" pitchFamily="18" charset="0"/>
              </a:rPr>
              <a:t> supplies from host countries at lower prices.</a:t>
            </a:r>
          </a:p>
          <a:p>
            <a:r>
              <a:rPr lang="en-US" sz="2400" dirty="0" smtClean="0">
                <a:latin typeface="Times New Roman" pitchFamily="18" charset="0"/>
                <a:cs typeface="Times New Roman" pitchFamily="18" charset="0"/>
              </a:rPr>
              <a:t>MNC’s can widen their market for goods by selling in host countries, and increase their profits. They usually have good earnings by way of dividends earned from operations in host countries.</a:t>
            </a:r>
          </a:p>
          <a:p>
            <a:r>
              <a:rPr lang="en-US" sz="2400" dirty="0" smtClean="0">
                <a:latin typeface="Times New Roman" pitchFamily="18" charset="0"/>
                <a:cs typeface="Times New Roman" pitchFamily="18" charset="0"/>
              </a:rPr>
              <a:t> Through operating in many countries and providing quality services, MNCs add to their international goodwill on which they can capitalize in the long run.</a:t>
            </a:r>
            <a:endParaRPr lang="en-US" sz="24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990600" y="1447800"/>
            <a:ext cx="8153400" cy="5410200"/>
          </a:xfrm>
        </p:spPr>
        <p:txBody>
          <a:bodyPr>
            <a:normAutofit/>
          </a:bodyPr>
          <a:lstStyle/>
          <a:p>
            <a:pPr>
              <a:buNone/>
            </a:pPr>
            <a:r>
              <a:rPr lang="en-US" sz="2800" b="1" i="1" u="sng" dirty="0" smtClean="0">
                <a:latin typeface="Times New Roman" pitchFamily="18" charset="0"/>
                <a:cs typeface="Times New Roman" pitchFamily="18" charset="0"/>
              </a:rPr>
              <a:t>Limitations of MNCs from viewpoint of home country</a:t>
            </a:r>
          </a:p>
          <a:p>
            <a:r>
              <a:rPr lang="en-US" sz="2400" dirty="0" smtClean="0">
                <a:latin typeface="Times New Roman" pitchFamily="18" charset="0"/>
                <a:cs typeface="Times New Roman" pitchFamily="18" charset="0"/>
              </a:rPr>
              <a:t>There maybe loss of employment in the home country, due to spreading manufacturing and marketing operations in other countries.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MNCs face several problems of managing cultural diversity.</a:t>
            </a:r>
            <a:endParaRPr lang="en-US"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0"/>
            <a:ext cx="7498080" cy="914400"/>
          </a:xfrm>
        </p:spPr>
        <p:txBody>
          <a:bodyPr>
            <a:normAutofit/>
          </a:bodyPr>
          <a:lstStyle/>
          <a:p>
            <a:pPr algn="ctr"/>
            <a:r>
              <a:rPr lang="en-IN" sz="4000" b="1" dirty="0">
                <a:latin typeface="Times New Roman" pitchFamily="18" charset="0"/>
                <a:cs typeface="Times New Roman" pitchFamily="18" charset="0"/>
              </a:rPr>
              <a:t>ENVIRONMENTAL ETHICS</a:t>
            </a:r>
          </a:p>
        </p:txBody>
      </p:sp>
      <p:sp>
        <p:nvSpPr>
          <p:cNvPr id="3" name="Content Placeholder 2"/>
          <p:cNvSpPr>
            <a:spLocks noGrp="1"/>
          </p:cNvSpPr>
          <p:nvPr>
            <p:ph idx="1"/>
          </p:nvPr>
        </p:nvSpPr>
        <p:spPr>
          <a:xfrm>
            <a:off x="914400" y="838200"/>
            <a:ext cx="8229600" cy="6019800"/>
          </a:xfrm>
        </p:spPr>
        <p:txBody>
          <a:bodyPr>
            <a:normAutofit fontScale="92500"/>
          </a:bodyPr>
          <a:lstStyle/>
          <a:p>
            <a:pPr algn="just"/>
            <a:r>
              <a:rPr lang="en-IN" sz="2400" dirty="0" smtClean="0">
                <a:latin typeface="Times New Roman" pitchFamily="18" charset="0"/>
                <a:cs typeface="Times New Roman" pitchFamily="18" charset="0"/>
              </a:rPr>
              <a:t>Environmental ethics deal with issues related to the rights of individuals in concern with the environment.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environment ethics include</a:t>
            </a:r>
          </a:p>
          <a:p>
            <a:pPr lvl="1" algn="just"/>
            <a:r>
              <a:rPr lang="en-IN" sz="2400" dirty="0" smtClean="0">
                <a:latin typeface="Times New Roman" pitchFamily="18" charset="0"/>
                <a:cs typeface="Times New Roman" pitchFamily="18" charset="0"/>
              </a:rPr>
              <a:t>Study of moral </a:t>
            </a:r>
            <a:r>
              <a:rPr lang="en-IN" sz="2400" dirty="0">
                <a:latin typeface="Times New Roman" pitchFamily="18" charset="0"/>
                <a:cs typeface="Times New Roman" pitchFamily="18" charset="0"/>
              </a:rPr>
              <a:t>issues concerning the </a:t>
            </a:r>
            <a:r>
              <a:rPr lang="en-IN" sz="2400" dirty="0" smtClean="0">
                <a:latin typeface="Times New Roman" pitchFamily="18" charset="0"/>
                <a:cs typeface="Times New Roman" pitchFamily="18" charset="0"/>
              </a:rPr>
              <a:t>environment</a:t>
            </a:r>
          </a:p>
          <a:p>
            <a:pPr lvl="1" algn="just"/>
            <a:r>
              <a:rPr lang="en-IN" sz="2400" dirty="0" smtClean="0">
                <a:latin typeface="Times New Roman" pitchFamily="18" charset="0"/>
                <a:cs typeface="Times New Roman" pitchFamily="18" charset="0"/>
              </a:rPr>
              <a:t>moral perspectives</a:t>
            </a:r>
            <a:r>
              <a:rPr lang="en-IN" sz="2400" dirty="0">
                <a:latin typeface="Times New Roman" pitchFamily="18" charset="0"/>
                <a:cs typeface="Times New Roman" pitchFamily="18" charset="0"/>
              </a:rPr>
              <a:t>, beliefs, or attitudes concerning those issues</a:t>
            </a:r>
            <a:r>
              <a:rPr lang="en-IN" sz="2400" dirty="0" smtClean="0">
                <a:latin typeface="Times New Roman" pitchFamily="18" charset="0"/>
                <a:cs typeface="Times New Roman" pitchFamily="18" charset="0"/>
              </a:rPr>
              <a:t>.</a:t>
            </a:r>
          </a:p>
          <a:p>
            <a:pPr algn="just"/>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It has become important that engineers design eco-friendly tools, machines, sustainable products, processes and projects.</a:t>
            </a:r>
          </a:p>
          <a:p>
            <a:pPr algn="just">
              <a:buNone/>
            </a:pP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These are essential to</a:t>
            </a:r>
          </a:p>
          <a:p>
            <a:pPr lvl="1" algn="just"/>
            <a:r>
              <a:rPr lang="en-IN" sz="2400" dirty="0">
                <a:latin typeface="Times New Roman" pitchFamily="18" charset="0"/>
                <a:cs typeface="Times New Roman" pitchFamily="18" charset="0"/>
              </a:rPr>
              <a:t>E</a:t>
            </a:r>
            <a:r>
              <a:rPr lang="en-IN" sz="2400" dirty="0" smtClean="0">
                <a:latin typeface="Times New Roman" pitchFamily="18" charset="0"/>
                <a:cs typeface="Times New Roman" pitchFamily="18" charset="0"/>
              </a:rPr>
              <a:t>nsure </a:t>
            </a:r>
            <a:r>
              <a:rPr lang="en-IN" sz="2400" dirty="0">
                <a:latin typeface="Times New Roman" pitchFamily="18" charset="0"/>
                <a:cs typeface="Times New Roman" pitchFamily="18" charset="0"/>
              </a:rPr>
              <a:t>protection (safety) of </a:t>
            </a:r>
            <a:r>
              <a:rPr lang="en-IN" sz="2400" dirty="0" smtClean="0">
                <a:latin typeface="Times New Roman" pitchFamily="18" charset="0"/>
                <a:cs typeface="Times New Roman" pitchFamily="18" charset="0"/>
              </a:rPr>
              <a:t>environment</a:t>
            </a:r>
          </a:p>
          <a:p>
            <a:pPr lvl="1" algn="just"/>
            <a:r>
              <a:rPr lang="en-IN" sz="2400" dirty="0" smtClean="0">
                <a:latin typeface="Times New Roman" pitchFamily="18" charset="0"/>
                <a:cs typeface="Times New Roman" pitchFamily="18" charset="0"/>
              </a:rPr>
              <a:t>Prevent </a:t>
            </a:r>
            <a:r>
              <a:rPr lang="en-IN" sz="2400" dirty="0">
                <a:latin typeface="Times New Roman" pitchFamily="18" charset="0"/>
                <a:cs typeface="Times New Roman" pitchFamily="18" charset="0"/>
              </a:rPr>
              <a:t>the degradation of environment, and </a:t>
            </a:r>
            <a:endParaRPr lang="en-IN" sz="2400" dirty="0" smtClean="0">
              <a:latin typeface="Times New Roman" pitchFamily="18" charset="0"/>
              <a:cs typeface="Times New Roman" pitchFamily="18" charset="0"/>
            </a:endParaRPr>
          </a:p>
          <a:p>
            <a:pPr lvl="1" algn="just"/>
            <a:r>
              <a:rPr lang="en-IN" sz="2400" dirty="0" smtClean="0">
                <a:latin typeface="Times New Roman" pitchFamily="18" charset="0"/>
                <a:cs typeface="Times New Roman" pitchFamily="18" charset="0"/>
              </a:rPr>
              <a:t>Slow </a:t>
            </a:r>
            <a:r>
              <a:rPr lang="en-IN" sz="2400" dirty="0">
                <a:latin typeface="Times New Roman" pitchFamily="18" charset="0"/>
                <a:cs typeface="Times New Roman" pitchFamily="18" charset="0"/>
              </a:rPr>
              <a:t>down the exploitation of the natural resources, </a:t>
            </a:r>
            <a:r>
              <a:rPr lang="en-IN" sz="2400" dirty="0" smtClean="0">
                <a:latin typeface="Times New Roman" pitchFamily="18" charset="0"/>
                <a:cs typeface="Times New Roman" pitchFamily="18" charset="0"/>
              </a:rPr>
              <a:t>so that </a:t>
            </a:r>
            <a:r>
              <a:rPr lang="en-IN" sz="2400" dirty="0">
                <a:latin typeface="Times New Roman" pitchFamily="18" charset="0"/>
                <a:cs typeface="Times New Roman" pitchFamily="18" charset="0"/>
              </a:rPr>
              <a:t>the future generation can survive.</a:t>
            </a:r>
          </a:p>
        </p:txBody>
      </p:sp>
    </p:spTree>
    <p:extLst>
      <p:ext uri="{BB962C8B-B14F-4D97-AF65-F5344CB8AC3E}">
        <p14:creationId xmlns:p14="http://schemas.microsoft.com/office/powerpoint/2010/main" val="4044725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714488" cy="1143000"/>
          </a:xfrm>
        </p:spPr>
        <p:txBody>
          <a:bodyPr>
            <a:normAutofit/>
          </a:bodyPr>
          <a:lstStyle/>
          <a:p>
            <a:r>
              <a:rPr lang="en-US" sz="2800" b="1" u="sng" dirty="0" smtClean="0">
                <a:solidFill>
                  <a:schemeClr val="tx1"/>
                </a:solidFill>
                <a:latin typeface="Times New Roman" pitchFamily="18" charset="0"/>
                <a:cs typeface="Times New Roman" pitchFamily="18" charset="0"/>
              </a:rPr>
              <a:t>Two world views on Environmental ethics </a:t>
            </a:r>
            <a:endParaRPr lang="en-US" sz="2800" b="1" u="sng"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596646" indent="-514350">
              <a:buAutoNum type="arabicPeriod"/>
            </a:pPr>
            <a:r>
              <a:rPr lang="en-US" sz="2400" b="1" dirty="0" smtClean="0">
                <a:latin typeface="Times New Roman" pitchFamily="18" charset="0"/>
                <a:cs typeface="Times New Roman" pitchFamily="18" charset="0"/>
              </a:rPr>
              <a:t>Anthropocentric Worldview / Human-centered environmental ethics</a:t>
            </a:r>
          </a:p>
          <a:p>
            <a:pPr marL="596646" indent="-514350">
              <a:buAutoNum type="arabicPeriod"/>
            </a:pPr>
            <a:endParaRPr lang="en-US" sz="2400" dirty="0" smtClean="0">
              <a:latin typeface="Times New Roman" pitchFamily="18" charset="0"/>
              <a:cs typeface="Times New Roman" pitchFamily="18" charset="0"/>
            </a:endParaRPr>
          </a:p>
          <a:p>
            <a:pPr marL="596646" indent="-514350">
              <a:buAutoNum type="arabicPeriod"/>
            </a:pPr>
            <a:r>
              <a:rPr lang="en-US" sz="2400" b="1" dirty="0" smtClean="0">
                <a:latin typeface="Times New Roman" pitchFamily="18" charset="0"/>
                <a:cs typeface="Times New Roman" pitchFamily="18" charset="0"/>
              </a:rPr>
              <a:t>Eco-centric Worldview / Nature-centered ethics</a:t>
            </a:r>
            <a:endParaRPr lang="en-US" sz="2400" b="1"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038466" y="609600"/>
            <a:ext cx="8105534" cy="48768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583830" y="990600"/>
            <a:ext cx="8560170" cy="4304212"/>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28600"/>
            <a:ext cx="8001000" cy="6629400"/>
          </a:xfrm>
        </p:spPr>
        <p:txBody>
          <a:bodyPr>
            <a:normAutofit/>
          </a:bodyPr>
          <a:lstStyle/>
          <a:p>
            <a:r>
              <a:rPr lang="en-IN" sz="2400" dirty="0" smtClean="0">
                <a:latin typeface="Times New Roman" pitchFamily="18" charset="0"/>
                <a:cs typeface="Times New Roman" pitchFamily="18" charset="0"/>
              </a:rPr>
              <a:t>Engineers as experimenters have duties towards </a:t>
            </a:r>
            <a:r>
              <a:rPr lang="en-IN" sz="2400" dirty="0">
                <a:latin typeface="Times New Roman" pitchFamily="18" charset="0"/>
                <a:cs typeface="Times New Roman" pitchFamily="18" charset="0"/>
              </a:rPr>
              <a:t>environmental </a:t>
            </a:r>
            <a:r>
              <a:rPr lang="en-IN" sz="2400" dirty="0" smtClean="0">
                <a:latin typeface="Times New Roman" pitchFamily="18" charset="0"/>
                <a:cs typeface="Times New Roman" pitchFamily="18" charset="0"/>
              </a:rPr>
              <a:t>ethics namely:</a:t>
            </a:r>
          </a:p>
          <a:p>
            <a:pPr lvl="1" algn="just"/>
            <a:r>
              <a:rPr lang="en-IN" sz="2400" b="1" i="1" dirty="0">
                <a:latin typeface="Times New Roman" pitchFamily="18" charset="0"/>
                <a:cs typeface="Times New Roman" pitchFamily="18" charset="0"/>
              </a:rPr>
              <a:t>Environmental impact </a:t>
            </a:r>
            <a:r>
              <a:rPr lang="en-IN" sz="2400" b="1" i="1" dirty="0" smtClean="0">
                <a:latin typeface="Times New Roman" pitchFamily="18" charset="0"/>
                <a:cs typeface="Times New Roman" pitchFamily="18" charset="0"/>
              </a:rPr>
              <a:t>assessment : </a:t>
            </a:r>
            <a:r>
              <a:rPr lang="en-IN" sz="2200" dirty="0" smtClean="0">
                <a:latin typeface="Times New Roman" pitchFamily="18" charset="0"/>
                <a:cs typeface="Times New Roman" pitchFamily="18" charset="0"/>
              </a:rPr>
              <a:t>Study of how the industry and technology affect the environment. </a:t>
            </a:r>
            <a:r>
              <a:rPr lang="en-IN" sz="2200" dirty="0" err="1" smtClean="0">
                <a:latin typeface="Times New Roman" pitchFamily="18" charset="0"/>
                <a:cs typeface="Times New Roman" pitchFamily="18" charset="0"/>
              </a:rPr>
              <a:t>Eg</a:t>
            </a:r>
            <a:r>
              <a:rPr lang="en-IN" sz="2200" dirty="0" smtClean="0">
                <a:latin typeface="Times New Roman" pitchFamily="18" charset="0"/>
                <a:cs typeface="Times New Roman" pitchFamily="18" charset="0"/>
              </a:rPr>
              <a:t>: in terms of wastage, pollution of land, air, water etc.</a:t>
            </a:r>
          </a:p>
          <a:p>
            <a:pPr lvl="1" algn="just"/>
            <a:endParaRPr lang="en-IN" sz="2400" b="1" i="1" dirty="0" smtClean="0">
              <a:latin typeface="Times New Roman" pitchFamily="18" charset="0"/>
              <a:cs typeface="Times New Roman" pitchFamily="18" charset="0"/>
            </a:endParaRPr>
          </a:p>
          <a:p>
            <a:pPr lvl="1" algn="just"/>
            <a:r>
              <a:rPr lang="en-IN" sz="2400" b="1" i="1" dirty="0">
                <a:latin typeface="Times New Roman" pitchFamily="18" charset="0"/>
                <a:cs typeface="Times New Roman" pitchFamily="18" charset="0"/>
              </a:rPr>
              <a:t>Establish </a:t>
            </a:r>
            <a:r>
              <a:rPr lang="en-IN" sz="2400" b="1" i="1" dirty="0" smtClean="0">
                <a:latin typeface="Times New Roman" pitchFamily="18" charset="0"/>
                <a:cs typeface="Times New Roman" pitchFamily="18" charset="0"/>
              </a:rPr>
              <a:t>standards :</a:t>
            </a:r>
            <a:r>
              <a:rPr lang="en-IN" sz="2200" dirty="0" smtClean="0">
                <a:latin typeface="Times New Roman" pitchFamily="18" charset="0"/>
                <a:cs typeface="Times New Roman" pitchFamily="18" charset="0"/>
              </a:rPr>
              <a:t> Study and fix the tolerable and actual pollution levels.</a:t>
            </a:r>
          </a:p>
          <a:p>
            <a:pPr lvl="1" algn="just"/>
            <a:endParaRPr lang="en-IN" sz="2400" b="1" i="1" dirty="0" smtClean="0">
              <a:latin typeface="Times New Roman" pitchFamily="18" charset="0"/>
              <a:cs typeface="Times New Roman" pitchFamily="18" charset="0"/>
            </a:endParaRPr>
          </a:p>
          <a:p>
            <a:pPr lvl="1" algn="just"/>
            <a:r>
              <a:rPr lang="en-IN" sz="2400" b="1" i="1" dirty="0">
                <a:latin typeface="Times New Roman" pitchFamily="18" charset="0"/>
                <a:cs typeface="Times New Roman" pitchFamily="18" charset="0"/>
              </a:rPr>
              <a:t>Counter </a:t>
            </a:r>
            <a:r>
              <a:rPr lang="en-IN" sz="2400" b="1" i="1" dirty="0" smtClean="0">
                <a:latin typeface="Times New Roman" pitchFamily="18" charset="0"/>
                <a:cs typeface="Times New Roman" pitchFamily="18" charset="0"/>
              </a:rPr>
              <a:t>measures : </a:t>
            </a:r>
            <a:r>
              <a:rPr lang="en-IN" sz="2200" dirty="0" smtClean="0">
                <a:latin typeface="Times New Roman" pitchFamily="18" charset="0"/>
                <a:cs typeface="Times New Roman" pitchFamily="18" charset="0"/>
              </a:rPr>
              <a:t>Study what protective or eliminating measures are available for immediate implementation.</a:t>
            </a:r>
          </a:p>
          <a:p>
            <a:pPr lvl="1" algn="just"/>
            <a:endParaRPr lang="en-IN" sz="2400" b="1" i="1" dirty="0" smtClean="0">
              <a:latin typeface="Times New Roman" pitchFamily="18" charset="0"/>
              <a:cs typeface="Times New Roman" pitchFamily="18" charset="0"/>
            </a:endParaRPr>
          </a:p>
          <a:p>
            <a:pPr lvl="1" algn="just"/>
            <a:r>
              <a:rPr lang="en-IN" sz="2400" b="1" i="1" dirty="0">
                <a:latin typeface="Times New Roman" pitchFamily="18" charset="0"/>
                <a:cs typeface="Times New Roman" pitchFamily="18" charset="0"/>
              </a:rPr>
              <a:t>Environmental </a:t>
            </a:r>
            <a:r>
              <a:rPr lang="en-IN" sz="2400" b="1" i="1" dirty="0" smtClean="0">
                <a:latin typeface="Times New Roman" pitchFamily="18" charset="0"/>
                <a:cs typeface="Times New Roman" pitchFamily="18" charset="0"/>
              </a:rPr>
              <a:t>awareness : </a:t>
            </a:r>
            <a:r>
              <a:rPr lang="en-IN" sz="2200" dirty="0" smtClean="0">
                <a:latin typeface="Times New Roman" pitchFamily="18" charset="0"/>
                <a:cs typeface="Times New Roman" pitchFamily="18" charset="0"/>
              </a:rPr>
              <a:t>Study on how to educate the people on environmental practices, issues and possible remedies.</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2720046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457200"/>
            <a:ext cx="7866888" cy="5791200"/>
          </a:xfrm>
        </p:spPr>
        <p:txBody>
          <a:bodyPr>
            <a:normAutofit/>
          </a:bodyPr>
          <a:lstStyle/>
          <a:p>
            <a:pPr algn="just"/>
            <a:r>
              <a:rPr lang="en-IN" sz="2400" b="1" i="1" dirty="0" smtClean="0">
                <a:latin typeface="Times New Roman" pitchFamily="18" charset="0"/>
                <a:cs typeface="Times New Roman" pitchFamily="18" charset="0"/>
              </a:rPr>
              <a:t>Disasters</a:t>
            </a:r>
          </a:p>
          <a:p>
            <a:pPr lvl="1" algn="just"/>
            <a:r>
              <a:rPr lang="en-IN" sz="2400" dirty="0">
                <a:latin typeface="Times New Roman" pitchFamily="18" charset="0"/>
                <a:cs typeface="Times New Roman" pitchFamily="18" charset="0"/>
              </a:rPr>
              <a:t>Plastic Waste </a:t>
            </a:r>
            <a:r>
              <a:rPr lang="en-IN" sz="2400" dirty="0" smtClean="0">
                <a:latin typeface="Times New Roman" pitchFamily="18" charset="0"/>
                <a:cs typeface="Times New Roman" pitchFamily="18" charset="0"/>
              </a:rPr>
              <a:t>Disposal</a:t>
            </a:r>
          </a:p>
          <a:p>
            <a:pPr lvl="1" algn="just"/>
            <a:r>
              <a:rPr lang="en-IN" sz="2400" dirty="0">
                <a:latin typeface="Times New Roman" pitchFamily="18" charset="0"/>
                <a:cs typeface="Times New Roman" pitchFamily="18" charset="0"/>
              </a:rPr>
              <a:t>e-Waste </a:t>
            </a:r>
            <a:r>
              <a:rPr lang="en-IN" sz="2400" dirty="0" smtClean="0">
                <a:latin typeface="Times New Roman" pitchFamily="18" charset="0"/>
                <a:cs typeface="Times New Roman" pitchFamily="18" charset="0"/>
              </a:rPr>
              <a:t>Disposal</a:t>
            </a:r>
          </a:p>
          <a:p>
            <a:pPr lvl="1" algn="just"/>
            <a:r>
              <a:rPr lang="en-IN" sz="2400" dirty="0">
                <a:latin typeface="Times New Roman" pitchFamily="18" charset="0"/>
                <a:cs typeface="Times New Roman" pitchFamily="18" charset="0"/>
              </a:rPr>
              <a:t>Industrial Waste </a:t>
            </a:r>
            <a:r>
              <a:rPr lang="en-IN" sz="2400" dirty="0" smtClean="0">
                <a:latin typeface="Times New Roman" pitchFamily="18" charset="0"/>
                <a:cs typeface="Times New Roman" pitchFamily="18" charset="0"/>
              </a:rPr>
              <a:t>Disposal</a:t>
            </a:r>
          </a:p>
          <a:p>
            <a:pPr lvl="1" algn="just"/>
            <a:r>
              <a:rPr lang="en-IN" sz="2400" dirty="0">
                <a:latin typeface="Times New Roman" pitchFamily="18" charset="0"/>
                <a:cs typeface="Times New Roman" pitchFamily="18" charset="0"/>
              </a:rPr>
              <a:t>Depletion of Ozone </a:t>
            </a:r>
            <a:r>
              <a:rPr lang="en-IN" sz="2400" dirty="0" smtClean="0">
                <a:latin typeface="Times New Roman" pitchFamily="18" charset="0"/>
                <a:cs typeface="Times New Roman" pitchFamily="18" charset="0"/>
              </a:rPr>
              <a:t>Layer </a:t>
            </a:r>
          </a:p>
          <a:p>
            <a:pPr lvl="1" algn="just"/>
            <a:r>
              <a:rPr lang="en-IN" sz="2400" dirty="0">
                <a:latin typeface="Times New Roman" pitchFamily="18" charset="0"/>
                <a:cs typeface="Times New Roman" pitchFamily="18" charset="0"/>
              </a:rPr>
              <a:t>Global </a:t>
            </a:r>
            <a:r>
              <a:rPr lang="en-IN" sz="2400" dirty="0" smtClean="0">
                <a:latin typeface="Times New Roman" pitchFamily="18" charset="0"/>
                <a:cs typeface="Times New Roman" pitchFamily="18" charset="0"/>
              </a:rPr>
              <a:t>Warming</a:t>
            </a:r>
          </a:p>
          <a:p>
            <a:pPr lvl="1" algn="just"/>
            <a:r>
              <a:rPr lang="en-IN" sz="2400" dirty="0">
                <a:latin typeface="Times New Roman" pitchFamily="18" charset="0"/>
                <a:cs typeface="Times New Roman" pitchFamily="18" charset="0"/>
              </a:rPr>
              <a:t>Acid </a:t>
            </a:r>
            <a:r>
              <a:rPr lang="en-IN" sz="2400" dirty="0" smtClean="0">
                <a:latin typeface="Times New Roman" pitchFamily="18" charset="0"/>
                <a:cs typeface="Times New Roman" pitchFamily="18" charset="0"/>
              </a:rPr>
              <a:t>Rain </a:t>
            </a:r>
          </a:p>
          <a:p>
            <a:pPr marL="82296" indent="0" algn="just">
              <a:buNone/>
            </a:pPr>
            <a:endParaRPr lang="en-IN" dirty="0" smtClean="0"/>
          </a:p>
        </p:txBody>
      </p:sp>
    </p:spTree>
    <p:extLst>
      <p:ext uri="{BB962C8B-B14F-4D97-AF65-F5344CB8AC3E}">
        <p14:creationId xmlns:p14="http://schemas.microsoft.com/office/powerpoint/2010/main" val="6155437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30480"/>
            <a:ext cx="7498080"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BUSINESS ETHICS</a:t>
            </a:r>
          </a:p>
        </p:txBody>
      </p:sp>
      <p:sp>
        <p:nvSpPr>
          <p:cNvPr id="3" name="Content Placeholder 2"/>
          <p:cNvSpPr>
            <a:spLocks noGrp="1"/>
          </p:cNvSpPr>
          <p:nvPr>
            <p:ph idx="1"/>
          </p:nvPr>
        </p:nvSpPr>
        <p:spPr>
          <a:xfrm>
            <a:off x="990600" y="1447800"/>
            <a:ext cx="8153400" cy="5410200"/>
          </a:xfrm>
        </p:spPr>
        <p:txBody>
          <a:bodyPr>
            <a:normAutofit/>
          </a:bodyPr>
          <a:lstStyle/>
          <a:p>
            <a:pPr algn="just"/>
            <a:r>
              <a:rPr lang="en-IN" sz="2400" dirty="0" smtClean="0">
                <a:latin typeface="Times New Roman" panose="02020603050405020304" pitchFamily="18" charset="0"/>
                <a:cs typeface="Times New Roman" panose="02020603050405020304" pitchFamily="18" charset="0"/>
              </a:rPr>
              <a:t>The system </a:t>
            </a:r>
            <a:r>
              <a:rPr lang="en-IN" sz="2400" dirty="0">
                <a:latin typeface="Times New Roman" panose="02020603050405020304" pitchFamily="18" charset="0"/>
                <a:cs typeface="Times New Roman" panose="02020603050405020304" pitchFamily="18" charset="0"/>
              </a:rPr>
              <a:t>of moral principles and rules of </a:t>
            </a:r>
            <a:r>
              <a:rPr lang="en-IN" sz="2400" dirty="0" smtClean="0">
                <a:latin typeface="Times New Roman" panose="02020603050405020304" pitchFamily="18" charset="0"/>
                <a:cs typeface="Times New Roman" panose="02020603050405020304" pitchFamily="18" charset="0"/>
              </a:rPr>
              <a:t>the conduct </a:t>
            </a:r>
            <a:r>
              <a:rPr lang="en-IN" sz="2400" dirty="0">
                <a:latin typeface="Times New Roman" panose="02020603050405020304" pitchFamily="18" charset="0"/>
                <a:cs typeface="Times New Roman" panose="02020603050405020304" pitchFamily="18" charset="0"/>
              </a:rPr>
              <a:t>applied to business</a:t>
            </a:r>
            <a:r>
              <a:rPr lang="en-IN" sz="2400" dirty="0" smtClean="0">
                <a:latin typeface="Times New Roman" panose="02020603050405020304" pitchFamily="18" charset="0"/>
                <a:cs typeface="Times New Roman" panose="02020603050405020304" pitchFamily="18" charset="0"/>
              </a:rPr>
              <a:t>.</a:t>
            </a:r>
          </a:p>
          <a:p>
            <a:pPr marL="82296" indent="0" algn="just">
              <a:buNone/>
            </a:pPr>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Defined as </a:t>
            </a:r>
            <a:r>
              <a:rPr lang="en-IN" sz="2400" dirty="0">
                <a:latin typeface="Times New Roman" panose="02020603050405020304" pitchFamily="18" charset="0"/>
                <a:cs typeface="Times New Roman" panose="02020603050405020304" pitchFamily="18" charset="0"/>
              </a:rPr>
              <a:t>the systematic study of ethical </a:t>
            </a:r>
            <a:r>
              <a:rPr lang="en-IN" sz="2400" dirty="0" smtClean="0">
                <a:latin typeface="Times New Roman" panose="02020603050405020304" pitchFamily="18" charset="0"/>
                <a:cs typeface="Times New Roman" panose="02020603050405020304" pitchFamily="18" charset="0"/>
              </a:rPr>
              <a:t>matters pertaining </a:t>
            </a:r>
            <a:r>
              <a:rPr lang="en-IN" sz="2400" dirty="0">
                <a:latin typeface="Times New Roman" panose="02020603050405020304" pitchFamily="18" charset="0"/>
                <a:cs typeface="Times New Roman" panose="02020603050405020304" pitchFamily="18" charset="0"/>
              </a:rPr>
              <a:t>to the business, industry or related activities, institutions and beliefs</a:t>
            </a: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6685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1080" y="0"/>
            <a:ext cx="7498080" cy="792162"/>
          </a:xfrm>
        </p:spPr>
        <p:txBody>
          <a:bodyPr>
            <a:normAutofit/>
          </a:bodyPr>
          <a:lstStyle/>
          <a:p>
            <a:r>
              <a:rPr lang="en-US" sz="3200" b="1" i="1" u="sng" dirty="0" smtClean="0">
                <a:solidFill>
                  <a:schemeClr val="tx1"/>
                </a:solidFill>
                <a:latin typeface="Times New Roman" panose="02020603050405020304" pitchFamily="18" charset="0"/>
                <a:cs typeface="Times New Roman" panose="02020603050405020304" pitchFamily="18" charset="0"/>
              </a:rPr>
              <a:t>Factors Considered</a:t>
            </a:r>
            <a:endParaRPr lang="en-IN" sz="3200" b="1" i="1" u="sng"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1066800"/>
            <a:ext cx="8153400" cy="5791200"/>
          </a:xfrm>
        </p:spPr>
        <p:txBody>
          <a:bodyPr>
            <a:normAutofit lnSpcReduction="10000"/>
          </a:bodyPr>
          <a:lstStyle/>
          <a:p>
            <a:pPr algn="just"/>
            <a:r>
              <a:rPr lang="en-IN" sz="2400" dirty="0">
                <a:latin typeface="Times New Roman" panose="02020603050405020304" pitchFamily="18" charset="0"/>
                <a:cs typeface="Times New Roman" panose="02020603050405020304" pitchFamily="18" charset="0"/>
              </a:rPr>
              <a:t>A business should aim to have fair dealing with everyone dealing with it</a:t>
            </a:r>
            <a:r>
              <a:rPr lang="en-IN" sz="2400" dirty="0" smtClean="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Ethics </a:t>
            </a:r>
            <a:r>
              <a:rPr lang="en-IN" sz="2400" dirty="0">
                <a:latin typeface="Times New Roman" panose="02020603050405020304" pitchFamily="18" charset="0"/>
                <a:cs typeface="Times New Roman" panose="02020603050405020304" pitchFamily="18" charset="0"/>
              </a:rPr>
              <a:t>should be fixed for everyone working in the organisation at any level </a:t>
            </a:r>
            <a:r>
              <a:rPr lang="en-IN" sz="2400" dirty="0" smtClean="0">
                <a:latin typeface="Times New Roman" panose="02020603050405020304" pitchFamily="18" charset="0"/>
                <a:cs typeface="Times New Roman" panose="02020603050405020304" pitchFamily="18" charset="0"/>
              </a:rPr>
              <a:t>and their </a:t>
            </a:r>
            <a:r>
              <a:rPr lang="en-IN" sz="2400" dirty="0">
                <a:latin typeface="Times New Roman" panose="02020603050405020304" pitchFamily="18" charset="0"/>
                <a:cs typeface="Times New Roman" panose="02020603050405020304" pitchFamily="18" charset="0"/>
              </a:rPr>
              <a:t>implementation should be linked with reward- punishment system</a:t>
            </a:r>
            <a:r>
              <a:rPr lang="en-IN" sz="2400" dirty="0" smtClean="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Any </a:t>
            </a:r>
            <a:r>
              <a:rPr lang="en-IN" sz="2400" dirty="0">
                <a:latin typeface="Times New Roman" panose="02020603050405020304" pitchFamily="18" charset="0"/>
                <a:cs typeface="Times New Roman" panose="02020603050405020304" pitchFamily="18" charset="0"/>
              </a:rPr>
              <a:t>violation of ethics should be detected at the earliest and remedial </a:t>
            </a:r>
            <a:r>
              <a:rPr lang="en-IN" sz="2400" dirty="0" smtClean="0">
                <a:latin typeface="Times New Roman" panose="02020603050405020304" pitchFamily="18" charset="0"/>
                <a:cs typeface="Times New Roman" panose="02020603050405020304" pitchFamily="18" charset="0"/>
              </a:rPr>
              <a:t>measures taken </a:t>
            </a:r>
            <a:r>
              <a:rPr lang="en-IN" sz="2400" dirty="0">
                <a:latin typeface="Times New Roman" panose="02020603050405020304" pitchFamily="18" charset="0"/>
                <a:cs typeface="Times New Roman" panose="02020603050405020304" pitchFamily="18" charset="0"/>
              </a:rPr>
              <a:t>immediately</a:t>
            </a:r>
            <a:r>
              <a:rPr lang="en-IN" sz="2400" dirty="0" smtClean="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Business </a:t>
            </a:r>
            <a:r>
              <a:rPr lang="en-IN" sz="2400" dirty="0">
                <a:latin typeface="Times New Roman" panose="02020603050405020304" pitchFamily="18" charset="0"/>
                <a:cs typeface="Times New Roman" panose="02020603050405020304" pitchFamily="18" charset="0"/>
              </a:rPr>
              <a:t>ethics should be based on broad guidelines of what should be done </a:t>
            </a:r>
            <a:r>
              <a:rPr lang="en-IN" sz="2400" dirty="0" smtClean="0">
                <a:latin typeface="Times New Roman" panose="02020603050405020304" pitchFamily="18" charset="0"/>
                <a:cs typeface="Times New Roman" panose="02020603050405020304" pitchFamily="18" charset="0"/>
              </a:rPr>
              <a:t>and what </a:t>
            </a:r>
            <a:r>
              <a:rPr lang="en-IN" sz="2400" dirty="0">
                <a:latin typeface="Times New Roman" panose="02020603050405020304" pitchFamily="18" charset="0"/>
                <a:cs typeface="Times New Roman" panose="02020603050405020304" pitchFamily="18" charset="0"/>
              </a:rPr>
              <a:t>should be avoided</a:t>
            </a:r>
            <a:r>
              <a:rPr lang="en-IN" sz="2400" dirty="0" smtClean="0">
                <a:latin typeface="Times New Roman" panose="02020603050405020304" pitchFamily="18" charset="0"/>
                <a:cs typeface="Times New Roman" panose="02020603050405020304" pitchFamily="18" charset="0"/>
              </a:rPr>
              <a:t>.</a:t>
            </a:r>
          </a:p>
          <a:p>
            <a:pPr algn="just"/>
            <a:endParaRPr lang="en-IN" sz="2400" dirty="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The </a:t>
            </a:r>
            <a:r>
              <a:rPr lang="en-IN" sz="2400" dirty="0">
                <a:latin typeface="Times New Roman" panose="02020603050405020304" pitchFamily="18" charset="0"/>
                <a:cs typeface="Times New Roman" panose="02020603050405020304" pitchFamily="18" charset="0"/>
              </a:rPr>
              <a:t>ethics should be based on the perception of what is right.</a:t>
            </a:r>
          </a:p>
        </p:txBody>
      </p:sp>
    </p:spTree>
    <p:extLst>
      <p:ext uri="{BB962C8B-B14F-4D97-AF65-F5344CB8AC3E}">
        <p14:creationId xmlns:p14="http://schemas.microsoft.com/office/powerpoint/2010/main" val="2830290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228600"/>
            <a:ext cx="8077200" cy="6629400"/>
          </a:xfrm>
        </p:spPr>
        <p:txBody>
          <a:bodyPr>
            <a:normAutofit/>
          </a:bodyPr>
          <a:lstStyle/>
          <a:p>
            <a:r>
              <a:rPr lang="en-IN" sz="2600" b="1" i="1" u="sng" dirty="0">
                <a:latin typeface="Times New Roman" panose="02020603050405020304" pitchFamily="18" charset="0"/>
                <a:cs typeface="Times New Roman" panose="02020603050405020304" pitchFamily="18" charset="0"/>
              </a:rPr>
              <a:t>Sources of Business </a:t>
            </a:r>
            <a:r>
              <a:rPr lang="en-IN" sz="2600" b="1" i="1" u="sng" dirty="0" smtClean="0">
                <a:latin typeface="Times New Roman" panose="02020603050405020304" pitchFamily="18" charset="0"/>
                <a:cs typeface="Times New Roman" panose="02020603050405020304" pitchFamily="18" charset="0"/>
              </a:rPr>
              <a:t>Ethic</a:t>
            </a:r>
          </a:p>
          <a:p>
            <a:pPr lvl="1"/>
            <a:r>
              <a:rPr lang="en-US" sz="2400" dirty="0" smtClean="0">
                <a:latin typeface="Times New Roman" panose="02020603050405020304" pitchFamily="18" charset="0"/>
                <a:cs typeface="Times New Roman" panose="02020603050405020304" pitchFamily="18" charset="0"/>
              </a:rPr>
              <a:t>Religion, Culture and Law</a:t>
            </a:r>
          </a:p>
          <a:p>
            <a:pPr lvl="1"/>
            <a:endParaRPr lang="en-US" sz="2400" dirty="0" smtClean="0">
              <a:latin typeface="Times New Roman" panose="02020603050405020304" pitchFamily="18" charset="0"/>
              <a:cs typeface="Times New Roman" panose="02020603050405020304" pitchFamily="18" charset="0"/>
            </a:endParaRPr>
          </a:p>
          <a:p>
            <a:r>
              <a:rPr lang="en-IN" sz="2600" b="1" i="1" u="sng" dirty="0">
                <a:latin typeface="Times New Roman" panose="02020603050405020304" pitchFamily="18" charset="0"/>
                <a:cs typeface="Times New Roman" panose="02020603050405020304" pitchFamily="18" charset="0"/>
              </a:rPr>
              <a:t>Importance of Business </a:t>
            </a:r>
            <a:r>
              <a:rPr lang="en-IN" sz="2600" b="1" i="1" u="sng" dirty="0" smtClean="0">
                <a:latin typeface="Times New Roman" panose="02020603050405020304" pitchFamily="18" charset="0"/>
                <a:cs typeface="Times New Roman" panose="02020603050405020304" pitchFamily="18" charset="0"/>
              </a:rPr>
              <a:t>Ethics</a:t>
            </a:r>
          </a:p>
          <a:p>
            <a:pPr lvl="1"/>
            <a:r>
              <a:rPr lang="en-IN" sz="2400" dirty="0">
                <a:latin typeface="Times New Roman" panose="02020603050405020304" pitchFamily="18" charset="0"/>
                <a:cs typeface="Times New Roman" panose="02020603050405020304" pitchFamily="18" charset="0"/>
              </a:rPr>
              <a:t>Corresponds to Basic Human </a:t>
            </a:r>
            <a:r>
              <a:rPr lang="en-IN" sz="2400" dirty="0" smtClean="0">
                <a:latin typeface="Times New Roman" panose="02020603050405020304" pitchFamily="18" charset="0"/>
                <a:cs typeface="Times New Roman" panose="02020603050405020304" pitchFamily="18" charset="0"/>
              </a:rPr>
              <a:t>Needs</a:t>
            </a:r>
          </a:p>
          <a:p>
            <a:pPr lvl="1"/>
            <a:r>
              <a:rPr lang="en-IN" sz="2400" dirty="0">
                <a:latin typeface="Times New Roman" panose="02020603050405020304" pitchFamily="18" charset="0"/>
                <a:cs typeface="Times New Roman" panose="02020603050405020304" pitchFamily="18" charset="0"/>
              </a:rPr>
              <a:t>Credibility in the </a:t>
            </a:r>
            <a:r>
              <a:rPr lang="en-IN" sz="2400" dirty="0" smtClean="0">
                <a:latin typeface="Times New Roman" panose="02020603050405020304" pitchFamily="18" charset="0"/>
                <a:cs typeface="Times New Roman" panose="02020603050405020304" pitchFamily="18" charset="0"/>
              </a:rPr>
              <a:t>Public</a:t>
            </a:r>
            <a:endParaRPr lang="en-IN" sz="2400" dirty="0">
              <a:latin typeface="Times New Roman" panose="02020603050405020304" pitchFamily="18" charset="0"/>
              <a:cs typeface="Times New Roman" panose="02020603050405020304" pitchFamily="18" charset="0"/>
            </a:endParaRPr>
          </a:p>
          <a:p>
            <a:pPr lvl="1"/>
            <a:r>
              <a:rPr lang="en-IN" sz="2400" dirty="0">
                <a:latin typeface="Times New Roman" panose="02020603050405020304" pitchFamily="18" charset="0"/>
                <a:cs typeface="Times New Roman" panose="02020603050405020304" pitchFamily="18" charset="0"/>
              </a:rPr>
              <a:t>Credibility with the </a:t>
            </a:r>
            <a:r>
              <a:rPr lang="en-IN" sz="2400" dirty="0" smtClean="0">
                <a:latin typeface="Times New Roman" panose="02020603050405020304" pitchFamily="18" charset="0"/>
                <a:cs typeface="Times New Roman" panose="02020603050405020304" pitchFamily="18" charset="0"/>
              </a:rPr>
              <a:t>Employees</a:t>
            </a:r>
          </a:p>
          <a:p>
            <a:pPr lvl="1"/>
            <a:r>
              <a:rPr lang="en-IN" sz="2400" dirty="0">
                <a:latin typeface="Times New Roman" panose="02020603050405020304" pitchFamily="18" charset="0"/>
                <a:cs typeface="Times New Roman" panose="02020603050405020304" pitchFamily="18" charset="0"/>
              </a:rPr>
              <a:t>Better Decision </a:t>
            </a:r>
            <a:r>
              <a:rPr lang="en-IN" sz="2400" dirty="0" smtClean="0">
                <a:latin typeface="Times New Roman" panose="02020603050405020304" pitchFamily="18" charset="0"/>
                <a:cs typeface="Times New Roman" panose="02020603050405020304" pitchFamily="18" charset="0"/>
              </a:rPr>
              <a:t>Making</a:t>
            </a:r>
          </a:p>
          <a:p>
            <a:pPr lvl="1"/>
            <a:r>
              <a:rPr lang="en-IN" sz="2400" dirty="0" smtClean="0">
                <a:latin typeface="Times New Roman" panose="02020603050405020304" pitchFamily="18" charset="0"/>
                <a:cs typeface="Times New Roman" panose="02020603050405020304" pitchFamily="18" charset="0"/>
              </a:rPr>
              <a:t>Profitability</a:t>
            </a:r>
          </a:p>
          <a:p>
            <a:pPr lvl="1"/>
            <a:r>
              <a:rPr lang="en-IN" sz="2400" dirty="0">
                <a:latin typeface="Times New Roman" panose="02020603050405020304" pitchFamily="18" charset="0"/>
                <a:cs typeface="Times New Roman" panose="02020603050405020304" pitchFamily="18" charset="0"/>
              </a:rPr>
              <a:t>Protection of </a:t>
            </a:r>
            <a:r>
              <a:rPr lang="en-IN" sz="2400" dirty="0" smtClean="0">
                <a:latin typeface="Times New Roman" panose="02020603050405020304" pitchFamily="18" charset="0"/>
                <a:cs typeface="Times New Roman" panose="02020603050405020304" pitchFamily="18" charset="0"/>
              </a:rPr>
              <a:t>Society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70579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368" y="0"/>
            <a:ext cx="7498080" cy="1143000"/>
          </a:xfrm>
        </p:spPr>
        <p:txBody>
          <a:bodyPr>
            <a:normAutofit/>
          </a:bodyPr>
          <a:lstStyle/>
          <a:p>
            <a:pPr algn="ctr"/>
            <a:r>
              <a:rPr lang="en-IN" sz="4000" b="1" dirty="0">
                <a:latin typeface="Times New Roman" panose="02020603050405020304" pitchFamily="18" charset="0"/>
                <a:cs typeface="Times New Roman" panose="02020603050405020304" pitchFamily="18" charset="0"/>
              </a:rPr>
              <a:t>COMPUTER ETHICS</a:t>
            </a:r>
          </a:p>
        </p:txBody>
      </p:sp>
      <p:sp>
        <p:nvSpPr>
          <p:cNvPr id="3" name="Content Placeholder 2"/>
          <p:cNvSpPr>
            <a:spLocks noGrp="1"/>
          </p:cNvSpPr>
          <p:nvPr>
            <p:ph idx="1"/>
          </p:nvPr>
        </p:nvSpPr>
        <p:spPr>
          <a:xfrm>
            <a:off x="990600" y="1143000"/>
            <a:ext cx="8077200" cy="5715000"/>
          </a:xfrm>
        </p:spPr>
        <p:txBody>
          <a:bodyPr>
            <a:normAutofit/>
          </a:bodyPr>
          <a:lstStyle/>
          <a:p>
            <a:pPr algn="just"/>
            <a:r>
              <a:rPr lang="en-IN" sz="2400" dirty="0">
                <a:latin typeface="Times New Roman" panose="02020603050405020304" pitchFamily="18" charset="0"/>
                <a:cs typeface="Times New Roman" panose="02020603050405020304" pitchFamily="18" charset="0"/>
              </a:rPr>
              <a:t>Computer ethics is defined as </a:t>
            </a:r>
            <a:endParaRPr lang="en-IN" sz="2400" dirty="0" smtClean="0">
              <a:latin typeface="Times New Roman" panose="02020603050405020304" pitchFamily="18" charset="0"/>
              <a:cs typeface="Times New Roman" panose="02020603050405020304" pitchFamily="18" charset="0"/>
            </a:endParaRPr>
          </a:p>
          <a:p>
            <a:pPr lvl="1" algn="just"/>
            <a:r>
              <a:rPr lang="en-IN" sz="2400" dirty="0" smtClean="0">
                <a:latin typeface="Times New Roman" panose="02020603050405020304" pitchFamily="18" charset="0"/>
                <a:cs typeface="Times New Roman" panose="02020603050405020304" pitchFamily="18" charset="0"/>
              </a:rPr>
              <a:t>(</a:t>
            </a:r>
            <a:r>
              <a:rPr lang="en-IN" sz="2400" i="1" dirty="0">
                <a:latin typeface="Times New Roman" panose="02020603050405020304" pitchFamily="18" charset="0"/>
                <a:cs typeface="Times New Roman" panose="02020603050405020304" pitchFamily="18" charset="0"/>
              </a:rPr>
              <a:t>a</a:t>
            </a:r>
            <a:r>
              <a:rPr lang="en-IN" sz="2400" dirty="0">
                <a:latin typeface="Times New Roman" panose="02020603050405020304" pitchFamily="18" charset="0"/>
                <a:cs typeface="Times New Roman" panose="02020603050405020304" pitchFamily="18" charset="0"/>
              </a:rPr>
              <a:t>) study and analysis of nature and social impact of computer technology,</a:t>
            </a:r>
          </a:p>
          <a:p>
            <a:pPr lvl="1" algn="just"/>
            <a:r>
              <a:rPr lang="en-IN" sz="2400" dirty="0">
                <a:latin typeface="Times New Roman" panose="02020603050405020304" pitchFamily="18" charset="0"/>
                <a:cs typeface="Times New Roman" panose="02020603050405020304" pitchFamily="18" charset="0"/>
              </a:rPr>
              <a:t>(</a:t>
            </a:r>
            <a:r>
              <a:rPr lang="en-IN" sz="2400" i="1" dirty="0">
                <a:latin typeface="Times New Roman" panose="02020603050405020304" pitchFamily="18" charset="0"/>
                <a:cs typeface="Times New Roman" panose="02020603050405020304" pitchFamily="18" charset="0"/>
              </a:rPr>
              <a:t>b</a:t>
            </a:r>
            <a:r>
              <a:rPr lang="en-IN" sz="2400" dirty="0">
                <a:latin typeface="Times New Roman" panose="02020603050405020304" pitchFamily="18" charset="0"/>
                <a:cs typeface="Times New Roman" panose="02020603050405020304" pitchFamily="18" charset="0"/>
              </a:rPr>
              <a:t>) formulation and justification of policies, for ethical use of computers</a:t>
            </a:r>
            <a:r>
              <a:rPr lang="en-IN" sz="2400" dirty="0" smtClean="0">
                <a:latin typeface="Times New Roman" panose="02020603050405020304" pitchFamily="18" charset="0"/>
                <a:cs typeface="Times New Roman" panose="02020603050405020304" pitchFamily="18" charset="0"/>
              </a:rPr>
              <a:t>.</a:t>
            </a:r>
          </a:p>
          <a:p>
            <a:pPr lvl="1"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Computer ethics is related to all the computer professionals such as programmers, analysts, operators, designers etc along with the users.</a:t>
            </a:r>
          </a:p>
        </p:txBody>
      </p:sp>
    </p:spTree>
    <p:extLst>
      <p:ext uri="{BB962C8B-B14F-4D97-AF65-F5344CB8AC3E}">
        <p14:creationId xmlns:p14="http://schemas.microsoft.com/office/powerpoint/2010/main" val="3366804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0" y="228600"/>
            <a:ext cx="9144000" cy="66294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0"/>
            <a:ext cx="8153400" cy="6781800"/>
          </a:xfrm>
        </p:spPr>
        <p:txBody>
          <a:bodyPr>
            <a:normAutofit fontScale="85000" lnSpcReduction="20000"/>
          </a:bodyPr>
          <a:lstStyle/>
          <a:p>
            <a:pPr algn="just">
              <a:lnSpc>
                <a:spcPct val="150000"/>
              </a:lnSpc>
            </a:pPr>
            <a:r>
              <a:rPr lang="en-IN" sz="3100" b="1" i="1" u="sng" dirty="0">
                <a:latin typeface="Times New Roman" panose="02020603050405020304" pitchFamily="18" charset="0"/>
                <a:cs typeface="Times New Roman" panose="02020603050405020304" pitchFamily="18" charset="0"/>
              </a:rPr>
              <a:t>Types of </a:t>
            </a:r>
            <a:r>
              <a:rPr lang="en-IN" sz="3100" b="1" i="1" u="sng" dirty="0" smtClean="0">
                <a:latin typeface="Times New Roman" panose="02020603050405020304" pitchFamily="18" charset="0"/>
                <a:cs typeface="Times New Roman" panose="02020603050405020304" pitchFamily="18" charset="0"/>
              </a:rPr>
              <a:t>Issues</a:t>
            </a:r>
          </a:p>
          <a:p>
            <a:pPr lvl="1" algn="just">
              <a:lnSpc>
                <a:spcPct val="150000"/>
              </a:lnSpc>
            </a:pPr>
            <a:r>
              <a:rPr lang="en-IN" b="1" dirty="0">
                <a:latin typeface="Times New Roman" panose="02020603050405020304" pitchFamily="18" charset="0"/>
                <a:cs typeface="Times New Roman" panose="02020603050405020304" pitchFamily="18" charset="0"/>
              </a:rPr>
              <a:t>Computer as the Instrument of Unethical </a:t>
            </a:r>
            <a:r>
              <a:rPr lang="en-IN" b="1" dirty="0" smtClean="0">
                <a:latin typeface="Times New Roman" panose="02020603050405020304" pitchFamily="18" charset="0"/>
                <a:cs typeface="Times New Roman" panose="02020603050405020304" pitchFamily="18" charset="0"/>
              </a:rPr>
              <a:t>Acts</a:t>
            </a:r>
          </a:p>
          <a:p>
            <a:pPr lvl="2" algn="just">
              <a:lnSpc>
                <a:spcPct val="150000"/>
              </a:lnSpc>
            </a:pPr>
            <a:r>
              <a:rPr lang="en-IN" dirty="0">
                <a:latin typeface="Times New Roman" panose="02020603050405020304" pitchFamily="18" charset="0"/>
                <a:cs typeface="Times New Roman" panose="02020603050405020304" pitchFamily="18" charset="0"/>
              </a:rPr>
              <a:t>U</a:t>
            </a:r>
            <a:r>
              <a:rPr lang="en-IN" dirty="0" smtClean="0">
                <a:latin typeface="Times New Roman" panose="02020603050405020304" pitchFamily="18" charset="0"/>
                <a:cs typeface="Times New Roman" panose="02020603050405020304" pitchFamily="18" charset="0"/>
              </a:rPr>
              <a:t>sage of computer replaces the job positions</a:t>
            </a:r>
          </a:p>
          <a:p>
            <a:pPr lvl="2" algn="just">
              <a:lnSpc>
                <a:spcPct val="150000"/>
              </a:lnSpc>
            </a:pPr>
            <a:r>
              <a:rPr lang="en-IN" dirty="0" smtClean="0">
                <a:latin typeface="Times New Roman" panose="02020603050405020304" pitchFamily="18" charset="0"/>
                <a:cs typeface="Times New Roman" panose="02020603050405020304" pitchFamily="18" charset="0"/>
              </a:rPr>
              <a:t>Breaking privacy: Information or data of individuals accessed or erased or ownership changed</a:t>
            </a:r>
          </a:p>
          <a:p>
            <a:pPr lvl="2" algn="just">
              <a:lnSpc>
                <a:spcPct val="150000"/>
              </a:lnSpc>
            </a:pPr>
            <a:r>
              <a:rPr lang="en-IN" dirty="0" smtClean="0">
                <a:latin typeface="Times New Roman" panose="02020603050405020304" pitchFamily="18" charset="0"/>
                <a:cs typeface="Times New Roman" panose="02020603050405020304" pitchFamily="18" charset="0"/>
              </a:rPr>
              <a:t>Defraud a bank or a client: By accessing and withdrawing money from others bank account.</a:t>
            </a:r>
          </a:p>
          <a:p>
            <a:pPr lvl="2" algn="just">
              <a:lnSpc>
                <a:spcPct val="150000"/>
              </a:lnSpc>
            </a:pPr>
            <a:endParaRPr lang="en-IN" dirty="0" smtClean="0">
              <a:latin typeface="Times New Roman" panose="02020603050405020304" pitchFamily="18" charset="0"/>
              <a:cs typeface="Times New Roman" panose="02020603050405020304" pitchFamily="18" charset="0"/>
            </a:endParaRPr>
          </a:p>
          <a:p>
            <a:pPr lvl="1" algn="just">
              <a:lnSpc>
                <a:spcPct val="150000"/>
              </a:lnSpc>
            </a:pPr>
            <a:r>
              <a:rPr lang="en-IN" b="1" dirty="0">
                <a:latin typeface="Times New Roman" panose="02020603050405020304" pitchFamily="18" charset="0"/>
                <a:cs typeface="Times New Roman" panose="02020603050405020304" pitchFamily="18" charset="0"/>
              </a:rPr>
              <a:t>Computer as the Object of Unethical </a:t>
            </a:r>
            <a:r>
              <a:rPr lang="en-IN" b="1" dirty="0" smtClean="0">
                <a:latin typeface="Times New Roman" panose="02020603050405020304" pitchFamily="18" charset="0"/>
                <a:cs typeface="Times New Roman" panose="02020603050405020304" pitchFamily="18" charset="0"/>
              </a:rPr>
              <a:t>Act</a:t>
            </a:r>
            <a:r>
              <a:rPr lang="en-IN" dirty="0" smtClean="0">
                <a:latin typeface="Times New Roman" panose="02020603050405020304" pitchFamily="18" charset="0"/>
                <a:cs typeface="Times New Roman" panose="02020603050405020304" pitchFamily="18" charset="0"/>
              </a:rPr>
              <a:t>: Hacking, </a:t>
            </a:r>
            <a:r>
              <a:rPr lang="en-IN" dirty="0">
                <a:latin typeface="Times New Roman" panose="02020603050405020304" pitchFamily="18" charset="0"/>
                <a:cs typeface="Times New Roman" panose="02020603050405020304" pitchFamily="18" charset="0"/>
              </a:rPr>
              <a:t>Spreading </a:t>
            </a:r>
            <a:r>
              <a:rPr lang="en-IN" dirty="0" smtClean="0">
                <a:latin typeface="Times New Roman" panose="02020603050405020304" pitchFamily="18" charset="0"/>
                <a:cs typeface="Times New Roman" panose="02020603050405020304" pitchFamily="18" charset="0"/>
              </a:rPr>
              <a:t>virus,</a:t>
            </a:r>
            <a:r>
              <a:rPr lang="en-IN" dirty="0">
                <a:latin typeface="Times New Roman" panose="02020603050405020304" pitchFamily="18" charset="0"/>
                <a:cs typeface="Times New Roman" panose="02020603050405020304" pitchFamily="18" charset="0"/>
              </a:rPr>
              <a:t> Health </a:t>
            </a:r>
            <a:r>
              <a:rPr lang="en-IN" dirty="0" smtClean="0">
                <a:latin typeface="Times New Roman" panose="02020603050405020304" pitchFamily="18" charset="0"/>
                <a:cs typeface="Times New Roman" panose="02020603050405020304" pitchFamily="18" charset="0"/>
              </a:rPr>
              <a:t>hazard</a:t>
            </a:r>
          </a:p>
          <a:p>
            <a:pPr lvl="1" algn="just">
              <a:lnSpc>
                <a:spcPct val="150000"/>
              </a:lnSpc>
            </a:pPr>
            <a:endParaRPr lang="en-IN" i="1" dirty="0" smtClean="0">
              <a:latin typeface="Times New Roman" panose="02020603050405020304" pitchFamily="18" charset="0"/>
              <a:cs typeface="Times New Roman" panose="02020603050405020304" pitchFamily="18" charset="0"/>
            </a:endParaRPr>
          </a:p>
          <a:p>
            <a:pPr lvl="1" algn="just">
              <a:lnSpc>
                <a:spcPct val="150000"/>
              </a:lnSpc>
            </a:pPr>
            <a:r>
              <a:rPr lang="en-IN" b="1" dirty="0">
                <a:latin typeface="Times New Roman" panose="02020603050405020304" pitchFamily="18" charset="0"/>
                <a:cs typeface="Times New Roman" panose="02020603050405020304" pitchFamily="18" charset="0"/>
              </a:rPr>
              <a:t>Problems Related to the Autonomous Nature of </a:t>
            </a:r>
            <a:r>
              <a:rPr lang="en-IN" b="1" dirty="0" smtClean="0">
                <a:latin typeface="Times New Roman" panose="02020603050405020304" pitchFamily="18" charset="0"/>
                <a:cs typeface="Times New Roman" panose="02020603050405020304" pitchFamily="18" charset="0"/>
              </a:rPr>
              <a:t>Computer</a:t>
            </a: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Security </a:t>
            </a:r>
            <a:r>
              <a:rPr lang="en-IN" dirty="0" smtClean="0">
                <a:latin typeface="Times New Roman" panose="02020603050405020304" pitchFamily="18" charset="0"/>
                <a:cs typeface="Times New Roman" panose="02020603050405020304" pitchFamily="18" charset="0"/>
              </a:rPr>
              <a:t>risk, </a:t>
            </a:r>
            <a:r>
              <a:rPr lang="en-IN" dirty="0">
                <a:latin typeface="Times New Roman" panose="02020603050405020304" pitchFamily="18" charset="0"/>
                <a:cs typeface="Times New Roman" panose="02020603050405020304" pitchFamily="18" charset="0"/>
              </a:rPr>
              <a:t>Loss of human lives</a:t>
            </a:r>
            <a:endParaRPr lang="en-IN" dirty="0" smtClean="0">
              <a:latin typeface="Times New Roman" panose="02020603050405020304" pitchFamily="18" charset="0"/>
              <a:cs typeface="Times New Roman" panose="02020603050405020304" pitchFamily="18" charset="0"/>
            </a:endParaRPr>
          </a:p>
          <a:p>
            <a:pPr lvl="1"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090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7943088" cy="533400"/>
          </a:xfrm>
        </p:spPr>
        <p:txBody>
          <a:bodyPr>
            <a:normAutofit/>
          </a:bodyPr>
          <a:lstStyle/>
          <a:p>
            <a:r>
              <a:rPr lang="en-US" sz="2600" b="1" i="1" u="sng" dirty="0" smtClean="0">
                <a:solidFill>
                  <a:schemeClr val="tx1"/>
                </a:solidFill>
                <a:latin typeface="Times New Roman" panose="02020603050405020304" pitchFamily="18" charset="0"/>
                <a:cs typeface="Times New Roman" panose="02020603050405020304" pitchFamily="18" charset="0"/>
              </a:rPr>
              <a:t>Computers in Workplace</a:t>
            </a:r>
            <a:endParaRPr lang="en-IN" sz="2600" b="1" i="1" u="sng"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381000"/>
            <a:ext cx="8382000" cy="6477000"/>
          </a:xfrm>
        </p:spPr>
        <p:txBody>
          <a:bodyPr>
            <a:noAutofit/>
          </a:bodyPr>
          <a:lstStyle/>
          <a:p>
            <a:pPr algn="just"/>
            <a:r>
              <a:rPr lang="en-IN" sz="2400" dirty="0" smtClean="0">
                <a:latin typeface="Times New Roman" panose="02020603050405020304" pitchFamily="18" charset="0"/>
                <a:cs typeface="Times New Roman" panose="02020603050405020304" pitchFamily="18" charset="0"/>
              </a:rPr>
              <a:t>Ethical problems initiated by computers in workplace are:</a:t>
            </a:r>
          </a:p>
          <a:p>
            <a:pPr lvl="1" algn="just"/>
            <a:r>
              <a:rPr lang="en-IN" sz="2400" dirty="0">
                <a:latin typeface="Times New Roman" panose="02020603050405020304" pitchFamily="18" charset="0"/>
                <a:cs typeface="Times New Roman" panose="02020603050405020304" pitchFamily="18" charset="0"/>
              </a:rPr>
              <a:t>Elimination of routine and manual </a:t>
            </a:r>
            <a:r>
              <a:rPr lang="en-IN" sz="2400" dirty="0" smtClean="0">
                <a:latin typeface="Times New Roman" panose="02020603050405020304" pitchFamily="18" charset="0"/>
                <a:cs typeface="Times New Roman" panose="02020603050405020304" pitchFamily="18" charset="0"/>
              </a:rPr>
              <a:t>jobs</a:t>
            </a:r>
          </a:p>
          <a:p>
            <a:pPr lvl="1" algn="just"/>
            <a:r>
              <a:rPr lang="en-IN" sz="2400" dirty="0">
                <a:latin typeface="Times New Roman" panose="02020603050405020304" pitchFamily="18" charset="0"/>
                <a:cs typeface="Times New Roman" panose="02020603050405020304" pitchFamily="18" charset="0"/>
              </a:rPr>
              <a:t>Health and </a:t>
            </a:r>
            <a:r>
              <a:rPr lang="en-IN" sz="2400" dirty="0" smtClean="0">
                <a:latin typeface="Times New Roman" panose="02020603050405020304" pitchFamily="18" charset="0"/>
                <a:cs typeface="Times New Roman" panose="02020603050405020304" pitchFamily="18" charset="0"/>
              </a:rPr>
              <a:t>safety</a:t>
            </a:r>
          </a:p>
          <a:p>
            <a:pPr lvl="1" algn="just"/>
            <a:r>
              <a:rPr lang="en-IN" sz="2400" dirty="0">
                <a:latin typeface="Times New Roman" panose="02020603050405020304" pitchFamily="18" charset="0"/>
                <a:cs typeface="Times New Roman" panose="02020603050405020304" pitchFamily="18" charset="0"/>
              </a:rPr>
              <a:t>Computer </a:t>
            </a:r>
            <a:r>
              <a:rPr lang="en-IN" sz="2400" dirty="0" smtClean="0">
                <a:latin typeface="Times New Roman" panose="02020603050405020304" pitchFamily="18" charset="0"/>
                <a:cs typeface="Times New Roman" panose="02020603050405020304" pitchFamily="18" charset="0"/>
              </a:rPr>
              <a:t>failure</a:t>
            </a:r>
          </a:p>
          <a:p>
            <a:pPr lvl="1" algn="just"/>
            <a:endParaRPr lang="en-IN" sz="2400" dirty="0" smtClean="0">
              <a:latin typeface="Times New Roman" panose="02020603050405020304" pitchFamily="18" charset="0"/>
              <a:cs typeface="Times New Roman" panose="02020603050405020304" pitchFamily="18" charset="0"/>
            </a:endParaRPr>
          </a:p>
          <a:p>
            <a:pPr algn="just"/>
            <a:r>
              <a:rPr lang="en-IN" sz="2600" b="1" i="1" u="sng" dirty="0">
                <a:latin typeface="Times New Roman" panose="02020603050405020304" pitchFamily="18" charset="0"/>
                <a:cs typeface="Times New Roman" panose="02020603050405020304" pitchFamily="18" charset="0"/>
              </a:rPr>
              <a:t>Property </a:t>
            </a:r>
            <a:r>
              <a:rPr lang="en-IN" sz="2600" b="1" i="1" u="sng" dirty="0" smtClean="0">
                <a:latin typeface="Times New Roman" panose="02020603050405020304" pitchFamily="18" charset="0"/>
                <a:cs typeface="Times New Roman" panose="02020603050405020304" pitchFamily="18" charset="0"/>
              </a:rPr>
              <a:t>Issues</a:t>
            </a:r>
          </a:p>
          <a:p>
            <a:pPr lvl="1" algn="just"/>
            <a:r>
              <a:rPr lang="en-IN" sz="2400" dirty="0">
                <a:latin typeface="Times New Roman" panose="02020603050405020304" pitchFamily="18" charset="0"/>
                <a:cs typeface="Times New Roman" panose="02020603050405020304" pitchFamily="18" charset="0"/>
              </a:rPr>
              <a:t>Computers have been used to extort money through anonymous telephone calls.</a:t>
            </a:r>
          </a:p>
          <a:p>
            <a:pPr lvl="1" algn="just"/>
            <a:r>
              <a:rPr lang="en-IN" sz="2400" dirty="0" smtClean="0">
                <a:latin typeface="Times New Roman" panose="02020603050405020304" pitchFamily="18" charset="0"/>
                <a:cs typeface="Times New Roman" panose="02020603050405020304" pitchFamily="18" charset="0"/>
              </a:rPr>
              <a:t>Computers </a:t>
            </a:r>
            <a:r>
              <a:rPr lang="en-IN" sz="2400" dirty="0">
                <a:latin typeface="Times New Roman" panose="02020603050405020304" pitchFamily="18" charset="0"/>
                <a:cs typeface="Times New Roman" panose="02020603050405020304" pitchFamily="18" charset="0"/>
              </a:rPr>
              <a:t>are used to cheat and steal by current as well as previous employees.</a:t>
            </a:r>
          </a:p>
          <a:p>
            <a:pPr lvl="1" algn="just"/>
            <a:r>
              <a:rPr lang="en-IN" sz="2400" dirty="0" smtClean="0">
                <a:latin typeface="Times New Roman" panose="02020603050405020304" pitchFamily="18" charset="0"/>
                <a:cs typeface="Times New Roman" panose="02020603050405020304" pitchFamily="18" charset="0"/>
              </a:rPr>
              <a:t>Cheating </a:t>
            </a:r>
            <a:r>
              <a:rPr lang="en-IN" sz="2400" dirty="0">
                <a:latin typeface="Times New Roman" panose="02020603050405020304" pitchFamily="18" charset="0"/>
                <a:cs typeface="Times New Roman" panose="02020603050405020304" pitchFamily="18" charset="0"/>
              </a:rPr>
              <a:t>of and stealing from the customers and clients.</a:t>
            </a:r>
          </a:p>
          <a:p>
            <a:pPr lvl="1" algn="just"/>
            <a:r>
              <a:rPr lang="en-IN" sz="2400" dirty="0" smtClean="0">
                <a:latin typeface="Times New Roman" panose="02020603050405020304" pitchFamily="18" charset="0"/>
                <a:cs typeface="Times New Roman" panose="02020603050405020304" pitchFamily="18" charset="0"/>
              </a:rPr>
              <a:t>Violation </a:t>
            </a:r>
            <a:r>
              <a:rPr lang="en-IN" sz="2400" dirty="0">
                <a:latin typeface="Times New Roman" panose="02020603050405020304" pitchFamily="18" charset="0"/>
                <a:cs typeface="Times New Roman" panose="02020603050405020304" pitchFamily="18" charset="0"/>
              </a:rPr>
              <a:t>of contracts on computer sales and services.</a:t>
            </a:r>
          </a:p>
          <a:p>
            <a:pPr lvl="1" algn="just"/>
            <a:r>
              <a:rPr lang="en-IN" sz="2400" dirty="0" smtClean="0">
                <a:latin typeface="Times New Roman" panose="02020603050405020304" pitchFamily="18" charset="0"/>
                <a:cs typeface="Times New Roman" panose="02020603050405020304" pitchFamily="18" charset="0"/>
              </a:rPr>
              <a:t>Conspiracy </a:t>
            </a:r>
            <a:r>
              <a:rPr lang="en-IN" sz="2400" dirty="0">
                <a:latin typeface="Times New Roman" panose="02020603050405020304" pitchFamily="18" charset="0"/>
                <a:cs typeface="Times New Roman" panose="02020603050405020304" pitchFamily="18" charset="0"/>
              </a:rPr>
              <a:t>as a group, especially with the internet, to defraud the gullible, stealing </a:t>
            </a:r>
            <a:r>
              <a:rPr lang="en-IN" sz="2400" dirty="0" smtClean="0">
                <a:latin typeface="Times New Roman" panose="02020603050405020304" pitchFamily="18" charset="0"/>
                <a:cs typeface="Times New Roman" panose="02020603050405020304" pitchFamily="18" charset="0"/>
              </a:rPr>
              <a:t>the identity </a:t>
            </a:r>
            <a:r>
              <a:rPr lang="en-IN" sz="2400" dirty="0">
                <a:latin typeface="Times New Roman" panose="02020603050405020304" pitchFamily="18" charset="0"/>
                <a:cs typeface="Times New Roman" panose="02020603050405020304" pitchFamily="18" charset="0"/>
              </a:rPr>
              <a:t>and to forge documents.</a:t>
            </a:r>
          </a:p>
          <a:p>
            <a:pPr lvl="1" algn="just"/>
            <a:r>
              <a:rPr lang="en-IN" sz="2400" dirty="0" smtClean="0">
                <a:latin typeface="Times New Roman" panose="02020603050405020304" pitchFamily="18" charset="0"/>
                <a:cs typeface="Times New Roman" panose="02020603050405020304" pitchFamily="18" charset="0"/>
              </a:rPr>
              <a:t>Violation </a:t>
            </a:r>
            <a:r>
              <a:rPr lang="en-IN" sz="2400" dirty="0">
                <a:latin typeface="Times New Roman" panose="02020603050405020304" pitchFamily="18" charset="0"/>
                <a:cs typeface="Times New Roman" panose="02020603050405020304" pitchFamily="18" charset="0"/>
              </a:rPr>
              <a:t>of property rights</a:t>
            </a:r>
          </a:p>
        </p:txBody>
      </p:sp>
    </p:spTree>
    <p:extLst>
      <p:ext uri="{BB962C8B-B14F-4D97-AF65-F5344CB8AC3E}">
        <p14:creationId xmlns:p14="http://schemas.microsoft.com/office/powerpoint/2010/main" val="2203840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0368" y="0"/>
            <a:ext cx="7498080" cy="1066800"/>
          </a:xfrm>
        </p:spPr>
        <p:txBody>
          <a:bodyPr>
            <a:normAutofit/>
          </a:bodyPr>
          <a:lstStyle/>
          <a:p>
            <a:pPr algn="ctr"/>
            <a:r>
              <a:rPr lang="en-IN" sz="4000" b="1" dirty="0">
                <a:latin typeface="Times New Roman" panose="02020603050405020304" pitchFamily="18" charset="0"/>
                <a:cs typeface="Times New Roman" panose="02020603050405020304" pitchFamily="18" charset="0"/>
              </a:rPr>
              <a:t>ENGINEERS AS MANAGERS</a:t>
            </a:r>
          </a:p>
        </p:txBody>
      </p:sp>
      <p:sp>
        <p:nvSpPr>
          <p:cNvPr id="3" name="Content Placeholder 2"/>
          <p:cNvSpPr>
            <a:spLocks noGrp="1"/>
          </p:cNvSpPr>
          <p:nvPr>
            <p:ph idx="1"/>
          </p:nvPr>
        </p:nvSpPr>
        <p:spPr>
          <a:xfrm>
            <a:off x="914400" y="1066800"/>
            <a:ext cx="8229600" cy="5791200"/>
          </a:xfrm>
        </p:spPr>
        <p:txBody>
          <a:bodyPr>
            <a:normAutofit/>
          </a:bodyPr>
          <a:lstStyle/>
          <a:p>
            <a:pPr marL="82296" indent="0" algn="just">
              <a:buNone/>
            </a:pPr>
            <a:r>
              <a:rPr lang="en-IN" sz="2600" b="1" i="1" u="sng" dirty="0" smtClean="0">
                <a:latin typeface="Times New Roman" panose="02020603050405020304" pitchFamily="18" charset="0"/>
                <a:cs typeface="Times New Roman" panose="02020603050405020304" pitchFamily="18" charset="0"/>
              </a:rPr>
              <a:t>Characteristics of engineers as managers are:</a:t>
            </a:r>
          </a:p>
          <a:p>
            <a:pPr lvl="1" algn="just"/>
            <a:r>
              <a:rPr lang="en-IN" sz="2400" dirty="0">
                <a:latin typeface="Times New Roman" panose="02020603050405020304" pitchFamily="18" charset="0"/>
                <a:cs typeface="Times New Roman" panose="02020603050405020304" pitchFamily="18" charset="0"/>
              </a:rPr>
              <a:t>Promote an ethical climate, through framing organization policies, responsibilities and </a:t>
            </a:r>
            <a:r>
              <a:rPr lang="en-IN" sz="2400" dirty="0" smtClean="0">
                <a:latin typeface="Times New Roman" panose="02020603050405020304" pitchFamily="18" charset="0"/>
                <a:cs typeface="Times New Roman" panose="02020603050405020304" pitchFamily="18" charset="0"/>
              </a:rPr>
              <a:t>by personal </a:t>
            </a:r>
            <a:r>
              <a:rPr lang="en-IN" sz="2400" dirty="0">
                <a:latin typeface="Times New Roman" panose="02020603050405020304" pitchFamily="18" charset="0"/>
                <a:cs typeface="Times New Roman" panose="02020603050405020304" pitchFamily="18" charset="0"/>
              </a:rPr>
              <a:t>attitudes and obligations</a:t>
            </a:r>
            <a:r>
              <a:rPr lang="en-IN" sz="2400" dirty="0" smtClean="0">
                <a:latin typeface="Times New Roman" panose="02020603050405020304" pitchFamily="18" charset="0"/>
                <a:cs typeface="Times New Roman" panose="02020603050405020304" pitchFamily="18" charset="0"/>
              </a:rPr>
              <a:t>.</a:t>
            </a:r>
          </a:p>
          <a:p>
            <a:pPr lvl="1" algn="just"/>
            <a:endParaRPr lang="en-IN" sz="2400" dirty="0">
              <a:latin typeface="Times New Roman" panose="02020603050405020304" pitchFamily="18" charset="0"/>
              <a:cs typeface="Times New Roman" panose="02020603050405020304" pitchFamily="18" charset="0"/>
            </a:endParaRPr>
          </a:p>
          <a:p>
            <a:pPr lvl="1" algn="just"/>
            <a:r>
              <a:rPr lang="en-IN" sz="2400" dirty="0" smtClean="0">
                <a:latin typeface="Times New Roman" panose="02020603050405020304" pitchFamily="18" charset="0"/>
                <a:cs typeface="Times New Roman" panose="02020603050405020304" pitchFamily="18" charset="0"/>
              </a:rPr>
              <a:t>Resolving </a:t>
            </a:r>
            <a:r>
              <a:rPr lang="en-IN" sz="2400" dirty="0">
                <a:latin typeface="Times New Roman" panose="02020603050405020304" pitchFamily="18" charset="0"/>
                <a:cs typeface="Times New Roman" panose="02020603050405020304" pitchFamily="18" charset="0"/>
              </a:rPr>
              <a:t>conflicts, by evolving priority, developing mutual understanding, generating </a:t>
            </a:r>
            <a:r>
              <a:rPr lang="en-IN" sz="2400" dirty="0" smtClean="0">
                <a:latin typeface="Times New Roman" panose="02020603050405020304" pitchFamily="18" charset="0"/>
                <a:cs typeface="Times New Roman" panose="02020603050405020304" pitchFamily="18" charset="0"/>
              </a:rPr>
              <a:t>various alternative </a:t>
            </a:r>
            <a:r>
              <a:rPr lang="en-IN" sz="2400" dirty="0">
                <a:latin typeface="Times New Roman" panose="02020603050405020304" pitchFamily="18" charset="0"/>
                <a:cs typeface="Times New Roman" panose="02020603050405020304" pitchFamily="18" charset="0"/>
              </a:rPr>
              <a:t>solutions to problems</a:t>
            </a:r>
            <a:r>
              <a:rPr lang="en-IN" sz="2400" dirty="0" smtClean="0">
                <a:latin typeface="Times New Roman" panose="02020603050405020304" pitchFamily="18" charset="0"/>
                <a:cs typeface="Times New Roman" panose="02020603050405020304" pitchFamily="18" charset="0"/>
              </a:rPr>
              <a:t>.</a:t>
            </a:r>
          </a:p>
          <a:p>
            <a:pPr lvl="1" algn="just"/>
            <a:endParaRPr lang="en-IN" sz="2400" dirty="0">
              <a:latin typeface="Times New Roman" panose="02020603050405020304" pitchFamily="18" charset="0"/>
              <a:cs typeface="Times New Roman" panose="02020603050405020304" pitchFamily="18" charset="0"/>
            </a:endParaRPr>
          </a:p>
          <a:p>
            <a:pPr lvl="1" algn="just"/>
            <a:r>
              <a:rPr lang="en-IN" sz="2400" dirty="0" smtClean="0">
                <a:latin typeface="Times New Roman" panose="02020603050405020304" pitchFamily="18" charset="0"/>
                <a:cs typeface="Times New Roman" panose="02020603050405020304" pitchFamily="18" charset="0"/>
              </a:rPr>
              <a:t>Social </a:t>
            </a:r>
            <a:r>
              <a:rPr lang="en-IN" sz="2400" dirty="0">
                <a:latin typeface="Times New Roman" panose="02020603050405020304" pitchFamily="18" charset="0"/>
                <a:cs typeface="Times New Roman" panose="02020603050405020304" pitchFamily="18" charset="0"/>
              </a:rPr>
              <a:t>responsibility to stakeholders, customers and employers</a:t>
            </a:r>
          </a:p>
        </p:txBody>
      </p:sp>
    </p:spTree>
    <p:extLst>
      <p:ext uri="{BB962C8B-B14F-4D97-AF65-F5344CB8AC3E}">
        <p14:creationId xmlns:p14="http://schemas.microsoft.com/office/powerpoint/2010/main" val="34490668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228600"/>
            <a:ext cx="8001000" cy="6629400"/>
          </a:xfrm>
        </p:spPr>
        <p:txBody>
          <a:bodyPr>
            <a:normAutofit/>
          </a:bodyPr>
          <a:lstStyle/>
          <a:p>
            <a:pPr marL="82296" indent="0" algn="just">
              <a:buNone/>
            </a:pPr>
            <a:r>
              <a:rPr lang="en-IN" sz="2600" b="1" i="1" u="sng" dirty="0">
                <a:latin typeface="Times New Roman" panose="02020603050405020304" pitchFamily="18" charset="0"/>
                <a:cs typeface="Times New Roman" panose="02020603050405020304" pitchFamily="18" charset="0"/>
              </a:rPr>
              <a:t>Managing </a:t>
            </a:r>
            <a:r>
              <a:rPr lang="en-IN" sz="2600" b="1" i="1" u="sng" dirty="0" smtClean="0">
                <a:latin typeface="Times New Roman" panose="02020603050405020304" pitchFamily="18" charset="0"/>
                <a:cs typeface="Times New Roman" panose="02020603050405020304" pitchFamily="18" charset="0"/>
              </a:rPr>
              <a:t>Conflicts</a:t>
            </a:r>
          </a:p>
          <a:p>
            <a:pPr algn="just"/>
            <a:r>
              <a:rPr lang="en-IN" sz="2400" dirty="0" smtClean="0">
                <a:latin typeface="Times New Roman" panose="02020603050405020304" pitchFamily="18" charset="0"/>
                <a:cs typeface="Times New Roman" panose="02020603050405020304" pitchFamily="18" charset="0"/>
              </a:rPr>
              <a:t>The conflicts in case of project managers arise in the following manners:</a:t>
            </a:r>
          </a:p>
          <a:p>
            <a:pPr lvl="1" algn="just"/>
            <a:r>
              <a:rPr lang="en-IN" sz="2400" dirty="0">
                <a:latin typeface="Times New Roman" panose="02020603050405020304" pitchFamily="18" charset="0"/>
                <a:cs typeface="Times New Roman" panose="02020603050405020304" pitchFamily="18" charset="0"/>
              </a:rPr>
              <a:t>Conflicts based on </a:t>
            </a:r>
            <a:r>
              <a:rPr lang="en-IN" sz="2400" dirty="0" smtClean="0">
                <a:latin typeface="Times New Roman" panose="02020603050405020304" pitchFamily="18" charset="0"/>
                <a:cs typeface="Times New Roman" panose="02020603050405020304" pitchFamily="18" charset="0"/>
              </a:rPr>
              <a:t>schedules</a:t>
            </a:r>
          </a:p>
          <a:p>
            <a:pPr lvl="1" algn="just"/>
            <a:r>
              <a:rPr lang="en-IN" sz="2400" dirty="0">
                <a:latin typeface="Times New Roman" panose="02020603050405020304" pitchFamily="18" charset="0"/>
                <a:cs typeface="Times New Roman" panose="02020603050405020304" pitchFamily="18" charset="0"/>
              </a:rPr>
              <a:t>Conflicts arising out of fixing the priority to different projects or </a:t>
            </a:r>
            <a:r>
              <a:rPr lang="en-IN" sz="2400" dirty="0" smtClean="0">
                <a:latin typeface="Times New Roman" panose="02020603050405020304" pitchFamily="18" charset="0"/>
                <a:cs typeface="Times New Roman" panose="02020603050405020304" pitchFamily="18" charset="0"/>
              </a:rPr>
              <a:t>departments</a:t>
            </a:r>
          </a:p>
          <a:p>
            <a:pPr lvl="1" algn="just"/>
            <a:r>
              <a:rPr lang="en-IN" sz="2400" dirty="0">
                <a:latin typeface="Times New Roman" panose="02020603050405020304" pitchFamily="18" charset="0"/>
                <a:cs typeface="Times New Roman" panose="02020603050405020304" pitchFamily="18" charset="0"/>
              </a:rPr>
              <a:t>Conflict based on the availability of </a:t>
            </a:r>
            <a:r>
              <a:rPr lang="en-IN" sz="2400" dirty="0" smtClean="0">
                <a:latin typeface="Times New Roman" panose="02020603050405020304" pitchFamily="18" charset="0"/>
                <a:cs typeface="Times New Roman" panose="02020603050405020304" pitchFamily="18" charset="0"/>
              </a:rPr>
              <a:t>personnel</a:t>
            </a:r>
          </a:p>
          <a:p>
            <a:pPr lvl="1" algn="just"/>
            <a:r>
              <a:rPr lang="en-IN" sz="2400" dirty="0">
                <a:latin typeface="Times New Roman" panose="02020603050405020304" pitchFamily="18" charset="0"/>
                <a:cs typeface="Times New Roman" panose="02020603050405020304" pitchFamily="18" charset="0"/>
              </a:rPr>
              <a:t>Conflict over technical, economic, and time </a:t>
            </a:r>
            <a:r>
              <a:rPr lang="en-IN" sz="2400" dirty="0" smtClean="0">
                <a:latin typeface="Times New Roman" panose="02020603050405020304" pitchFamily="18" charset="0"/>
                <a:cs typeface="Times New Roman" panose="02020603050405020304" pitchFamily="18" charset="0"/>
              </a:rPr>
              <a:t>factors</a:t>
            </a:r>
          </a:p>
          <a:p>
            <a:pPr lvl="1" algn="just"/>
            <a:r>
              <a:rPr lang="en-IN" sz="2400" dirty="0">
                <a:latin typeface="Times New Roman" panose="02020603050405020304" pitchFamily="18" charset="0"/>
                <a:cs typeface="Times New Roman" panose="02020603050405020304" pitchFamily="18" charset="0"/>
              </a:rPr>
              <a:t>Conflict arising in </a:t>
            </a:r>
            <a:r>
              <a:rPr lang="en-IN" sz="2400" dirty="0" smtClean="0">
                <a:latin typeface="Times New Roman" panose="02020603050405020304" pitchFamily="18" charset="0"/>
                <a:cs typeface="Times New Roman" panose="02020603050405020304" pitchFamily="18" charset="0"/>
              </a:rPr>
              <a:t>administration</a:t>
            </a:r>
          </a:p>
          <a:p>
            <a:pPr lvl="1" algn="just"/>
            <a:r>
              <a:rPr lang="en-IN" sz="2400" dirty="0">
                <a:latin typeface="Times New Roman" panose="02020603050405020304" pitchFamily="18" charset="0"/>
                <a:cs typeface="Times New Roman" panose="02020603050405020304" pitchFamily="18" charset="0"/>
              </a:rPr>
              <a:t>Conflicts of personality, human psychology and ego </a:t>
            </a:r>
            <a:r>
              <a:rPr lang="en-IN" sz="2400" dirty="0" smtClean="0">
                <a:latin typeface="Times New Roman" panose="02020603050405020304" pitchFamily="18" charset="0"/>
                <a:cs typeface="Times New Roman" panose="02020603050405020304" pitchFamily="18" charset="0"/>
              </a:rPr>
              <a:t>problems</a:t>
            </a:r>
          </a:p>
          <a:p>
            <a:pPr lvl="1" algn="just"/>
            <a:r>
              <a:rPr lang="en-IN" sz="2400" dirty="0">
                <a:latin typeface="Times New Roman" panose="02020603050405020304" pitchFamily="18" charset="0"/>
                <a:cs typeface="Times New Roman" panose="02020603050405020304" pitchFamily="18" charset="0"/>
              </a:rPr>
              <a:t>Conflict over expenditure and its deviations</a:t>
            </a:r>
          </a:p>
        </p:txBody>
      </p:sp>
    </p:spTree>
    <p:extLst>
      <p:ext uri="{BB962C8B-B14F-4D97-AF65-F5344CB8AC3E}">
        <p14:creationId xmlns:p14="http://schemas.microsoft.com/office/powerpoint/2010/main" val="30332619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304800"/>
            <a:ext cx="7943088" cy="5943600"/>
          </a:xfrm>
        </p:spPr>
        <p:txBody>
          <a:bodyPr>
            <a:normAutofit/>
          </a:bodyPr>
          <a:lstStyle/>
          <a:p>
            <a:pPr marL="82296" indent="0" algn="just">
              <a:buNone/>
            </a:pPr>
            <a:r>
              <a:rPr lang="en-IN" sz="2600" b="1" i="1" u="sng" dirty="0" smtClean="0">
                <a:latin typeface="Times New Roman" panose="02020603050405020304" pitchFamily="18" charset="0"/>
                <a:cs typeface="Times New Roman" panose="02020603050405020304" pitchFamily="18" charset="0"/>
              </a:rPr>
              <a:t>Solving conflicts</a:t>
            </a:r>
          </a:p>
          <a:p>
            <a:pPr lvl="1" algn="just"/>
            <a:r>
              <a:rPr lang="en-IN" sz="2400" dirty="0" smtClean="0">
                <a:latin typeface="Times New Roman" panose="02020603050405020304" pitchFamily="18" charset="0"/>
                <a:cs typeface="Times New Roman" panose="02020603050405020304" pitchFamily="18" charset="0"/>
              </a:rPr>
              <a:t>People: </a:t>
            </a:r>
            <a:r>
              <a:rPr lang="en-IN" sz="2400" dirty="0">
                <a:latin typeface="Times New Roman" panose="02020603050405020304" pitchFamily="18" charset="0"/>
                <a:cs typeface="Times New Roman" panose="02020603050405020304" pitchFamily="18" charset="0"/>
              </a:rPr>
              <a:t>views of all concerned should be </a:t>
            </a:r>
            <a:r>
              <a:rPr lang="en-IN" sz="2400" dirty="0" smtClean="0">
                <a:latin typeface="Times New Roman" panose="02020603050405020304" pitchFamily="18" charset="0"/>
                <a:cs typeface="Times New Roman" panose="02020603050405020304" pitchFamily="18" charset="0"/>
              </a:rPr>
              <a:t>obtained.</a:t>
            </a:r>
          </a:p>
          <a:p>
            <a:pPr lvl="1" algn="just"/>
            <a:endParaRPr lang="en-IN" sz="2400" dirty="0" smtClean="0">
              <a:latin typeface="Times New Roman" panose="02020603050405020304" pitchFamily="18" charset="0"/>
              <a:cs typeface="Times New Roman" panose="02020603050405020304" pitchFamily="18" charset="0"/>
            </a:endParaRPr>
          </a:p>
          <a:p>
            <a:pPr lvl="1" algn="just"/>
            <a:r>
              <a:rPr lang="en-IN" sz="2400" dirty="0" smtClean="0">
                <a:latin typeface="Times New Roman" panose="02020603050405020304" pitchFamily="18" charset="0"/>
                <a:cs typeface="Times New Roman" panose="02020603050405020304" pitchFamily="18" charset="0"/>
              </a:rPr>
              <a:t>Interests: </a:t>
            </a:r>
            <a:r>
              <a:rPr lang="en-IN" sz="2400" dirty="0">
                <a:latin typeface="Times New Roman" panose="02020603050405020304" pitchFamily="18" charset="0"/>
                <a:cs typeface="Times New Roman" panose="02020603050405020304" pitchFamily="18" charset="0"/>
              </a:rPr>
              <a:t>Focus must be </a:t>
            </a:r>
            <a:r>
              <a:rPr lang="en-IN" sz="2400" dirty="0" smtClean="0">
                <a:latin typeface="Times New Roman" panose="02020603050405020304" pitchFamily="18" charset="0"/>
                <a:cs typeface="Times New Roman" panose="02020603050405020304" pitchFamily="18" charset="0"/>
              </a:rPr>
              <a:t>only on </a:t>
            </a:r>
            <a:r>
              <a:rPr lang="en-IN" sz="2400" dirty="0">
                <a:latin typeface="Times New Roman" panose="02020603050405020304" pitchFamily="18" charset="0"/>
                <a:cs typeface="Times New Roman" panose="02020603050405020304" pitchFamily="18" charset="0"/>
              </a:rPr>
              <a:t>the ethical attitudes or motives and not on the </a:t>
            </a:r>
            <a:r>
              <a:rPr lang="en-IN" sz="2400" dirty="0" smtClean="0">
                <a:latin typeface="Times New Roman" panose="02020603050405020304" pitchFamily="18" charset="0"/>
                <a:cs typeface="Times New Roman" panose="02020603050405020304" pitchFamily="18" charset="0"/>
              </a:rPr>
              <a:t>positions..</a:t>
            </a:r>
          </a:p>
          <a:p>
            <a:pPr lvl="1" algn="just"/>
            <a:endParaRPr lang="en-IN" sz="2400" dirty="0" smtClean="0">
              <a:latin typeface="Times New Roman" panose="02020603050405020304" pitchFamily="18" charset="0"/>
              <a:cs typeface="Times New Roman" panose="02020603050405020304" pitchFamily="18" charset="0"/>
            </a:endParaRPr>
          </a:p>
          <a:p>
            <a:pPr lvl="1" algn="just"/>
            <a:r>
              <a:rPr lang="en-IN" sz="2400" dirty="0" smtClean="0">
                <a:latin typeface="Times New Roman" panose="02020603050405020304" pitchFamily="18" charset="0"/>
                <a:cs typeface="Times New Roman" panose="02020603050405020304" pitchFamily="18" charset="0"/>
              </a:rPr>
              <a:t>Options: </a:t>
            </a:r>
            <a:r>
              <a:rPr lang="en-IN" sz="2400" dirty="0">
                <a:latin typeface="Times New Roman" panose="02020603050405020304" pitchFamily="18" charset="0"/>
                <a:cs typeface="Times New Roman" panose="02020603050405020304" pitchFamily="18" charset="0"/>
              </a:rPr>
              <a:t>Generate various options as </a:t>
            </a:r>
            <a:r>
              <a:rPr lang="en-IN" sz="2400" dirty="0" smtClean="0">
                <a:latin typeface="Times New Roman" panose="02020603050405020304" pitchFamily="18" charset="0"/>
                <a:cs typeface="Times New Roman" panose="02020603050405020304" pitchFamily="18" charset="0"/>
              </a:rPr>
              <a:t>solutions.</a:t>
            </a:r>
          </a:p>
          <a:p>
            <a:pPr lvl="1" algn="just"/>
            <a:endParaRPr lang="en-IN" sz="2400" dirty="0" smtClean="0">
              <a:latin typeface="Times New Roman" panose="02020603050405020304" pitchFamily="18" charset="0"/>
              <a:cs typeface="Times New Roman" panose="02020603050405020304" pitchFamily="18" charset="0"/>
            </a:endParaRPr>
          </a:p>
          <a:p>
            <a:pPr lvl="1" algn="just"/>
            <a:r>
              <a:rPr lang="en-IN" sz="2400" dirty="0">
                <a:latin typeface="Times New Roman" panose="02020603050405020304" pitchFamily="18" charset="0"/>
                <a:cs typeface="Times New Roman" panose="02020603050405020304" pitchFamily="18" charset="0"/>
              </a:rPr>
              <a:t>Evaluation: based on some specified objectives such as efficiency, quality</a:t>
            </a:r>
            <a:r>
              <a:rPr lang="en-IN" sz="2400" dirty="0" smtClean="0">
                <a:latin typeface="Times New Roman" panose="02020603050405020304" pitchFamily="18" charset="0"/>
                <a:cs typeface="Times New Roman" panose="02020603050405020304" pitchFamily="18" charset="0"/>
              </a:rPr>
              <a:t>, and </a:t>
            </a:r>
            <a:r>
              <a:rPr lang="en-IN" sz="2400" dirty="0">
                <a:latin typeface="Times New Roman" panose="02020603050405020304" pitchFamily="18" charset="0"/>
                <a:cs typeface="Times New Roman" panose="02020603050405020304" pitchFamily="18" charset="0"/>
              </a:rPr>
              <a:t>customer satisfaction</a:t>
            </a:r>
          </a:p>
          <a:p>
            <a:pPr lvl="1"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81331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CONSULTING ENGINEERS</a:t>
            </a:r>
          </a:p>
        </p:txBody>
      </p:sp>
      <p:sp>
        <p:nvSpPr>
          <p:cNvPr id="3" name="Content Placeholder 2"/>
          <p:cNvSpPr>
            <a:spLocks noGrp="1"/>
          </p:cNvSpPr>
          <p:nvPr>
            <p:ph idx="1"/>
          </p:nvPr>
        </p:nvSpPr>
        <p:spPr/>
        <p:txBody>
          <a:bodyPr>
            <a:normAutofit/>
          </a:bodyPr>
          <a:lstStyle/>
          <a:p>
            <a:pPr algn="just"/>
            <a:r>
              <a:rPr lang="en-IN" sz="2400" dirty="0" smtClean="0">
                <a:latin typeface="Times New Roman" panose="02020603050405020304" pitchFamily="18" charset="0"/>
                <a:cs typeface="Times New Roman" panose="02020603050405020304" pitchFamily="18" charset="0"/>
              </a:rPr>
              <a:t>Consulting engineers differ from the salaried engineers of an organisation.</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The consulting engineers work </a:t>
            </a:r>
            <a:r>
              <a:rPr lang="en-IN" sz="2400" dirty="0">
                <a:latin typeface="Times New Roman" panose="02020603050405020304" pitchFamily="18" charset="0"/>
                <a:cs typeface="Times New Roman" panose="02020603050405020304" pitchFamily="18" charset="0"/>
              </a:rPr>
              <a:t>in </a:t>
            </a:r>
            <a:r>
              <a:rPr lang="en-IN" sz="2400" dirty="0" smtClean="0">
                <a:latin typeface="Times New Roman" panose="02020603050405020304" pitchFamily="18" charset="0"/>
                <a:cs typeface="Times New Roman" panose="02020603050405020304" pitchFamily="18" charset="0"/>
              </a:rPr>
              <a:t>private and are paid per advice they offer or for the service given.</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Consultants are individuals who typically work for themselves but may also be associated with a consulting firm.</a:t>
            </a:r>
          </a:p>
          <a:p>
            <a:pPr algn="just"/>
            <a:endParaRPr lang="en-IN" sz="2400" dirty="0" smtClean="0">
              <a:latin typeface="Times New Roman" panose="02020603050405020304" pitchFamily="18" charset="0"/>
              <a:cs typeface="Times New Roman" panose="02020603050405020304" pitchFamily="18" charset="0"/>
            </a:endParaRPr>
          </a:p>
          <a:p>
            <a:pPr marL="82296"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4197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52400"/>
            <a:ext cx="8382000" cy="6705600"/>
          </a:xfrm>
        </p:spPr>
        <p:txBody>
          <a:bodyPr>
            <a:normAutofit lnSpcReduction="10000"/>
          </a:bodyPr>
          <a:lstStyle/>
          <a:p>
            <a:pPr marL="82296" indent="0" algn="just">
              <a:buNone/>
            </a:pPr>
            <a:r>
              <a:rPr lang="en-IN" sz="2600" b="1" i="1" u="sng" dirty="0" smtClean="0">
                <a:latin typeface="Times New Roman" panose="02020603050405020304" pitchFamily="18" charset="0"/>
                <a:cs typeface="Times New Roman" panose="02020603050405020304" pitchFamily="18" charset="0"/>
              </a:rPr>
              <a:t>Ethical responsibilities of consulting engineers</a:t>
            </a:r>
          </a:p>
          <a:p>
            <a:pPr lvl="1" algn="just"/>
            <a:r>
              <a:rPr lang="en-IN" sz="2400" b="1" dirty="0" smtClean="0">
                <a:latin typeface="Times New Roman" panose="02020603050405020304" pitchFamily="18" charset="0"/>
                <a:cs typeface="Times New Roman" panose="02020603050405020304" pitchFamily="18" charset="0"/>
              </a:rPr>
              <a:t>Advertising</a:t>
            </a:r>
          </a:p>
          <a:p>
            <a:pPr lvl="2" algn="just"/>
            <a:r>
              <a:rPr lang="en-IN" dirty="0" smtClean="0">
                <a:latin typeface="Times New Roman" panose="02020603050405020304" pitchFamily="18" charset="0"/>
                <a:cs typeface="Times New Roman" panose="02020603050405020304" pitchFamily="18" charset="0"/>
              </a:rPr>
              <a:t>They are directly responsible for advertising their services</a:t>
            </a:r>
          </a:p>
          <a:p>
            <a:pPr lvl="2" algn="just"/>
            <a:r>
              <a:rPr lang="en-IN" dirty="0">
                <a:latin typeface="Times New Roman" panose="02020603050405020304" pitchFamily="18" charset="0"/>
                <a:cs typeface="Times New Roman" panose="02020603050405020304" pitchFamily="18" charset="0"/>
              </a:rPr>
              <a:t>Deceptive </a:t>
            </a:r>
            <a:r>
              <a:rPr lang="en-IN" dirty="0" smtClean="0">
                <a:latin typeface="Times New Roman" panose="02020603050405020304" pitchFamily="18" charset="0"/>
                <a:cs typeface="Times New Roman" panose="02020603050405020304" pitchFamily="18" charset="0"/>
              </a:rPr>
              <a:t>advertisings </a:t>
            </a:r>
            <a:r>
              <a:rPr lang="en-IN" dirty="0">
                <a:latin typeface="Times New Roman" panose="02020603050405020304" pitchFamily="18" charset="0"/>
                <a:cs typeface="Times New Roman" panose="02020603050405020304" pitchFamily="18" charset="0"/>
              </a:rPr>
              <a:t>are </a:t>
            </a:r>
            <a:r>
              <a:rPr lang="en-IN" dirty="0" smtClean="0">
                <a:latin typeface="Times New Roman" panose="02020603050405020304" pitchFamily="18" charset="0"/>
                <a:cs typeface="Times New Roman" panose="02020603050405020304" pitchFamily="18" charset="0"/>
              </a:rPr>
              <a:t>prohibited (white lies, Half-truth, </a:t>
            </a:r>
            <a:r>
              <a:rPr lang="en-IN" dirty="0">
                <a:latin typeface="Times New Roman" panose="02020603050405020304" pitchFamily="18" charset="0"/>
                <a:cs typeface="Times New Roman" panose="02020603050405020304" pitchFamily="18" charset="0"/>
              </a:rPr>
              <a:t>e</a:t>
            </a:r>
            <a:r>
              <a:rPr lang="en-IN" dirty="0" smtClean="0">
                <a:latin typeface="Times New Roman" panose="02020603050405020304" pitchFamily="18" charset="0"/>
                <a:cs typeface="Times New Roman" panose="02020603050405020304" pitchFamily="18" charset="0"/>
              </a:rPr>
              <a:t>xaggerated claims, </a:t>
            </a:r>
            <a:r>
              <a:rPr lang="en-IN" dirty="0">
                <a:latin typeface="Times New Roman" panose="02020603050405020304" pitchFamily="18" charset="0"/>
                <a:cs typeface="Times New Roman" panose="02020603050405020304" pitchFamily="18" charset="0"/>
              </a:rPr>
              <a:t>m</a:t>
            </a:r>
            <a:r>
              <a:rPr lang="en-IN" dirty="0" smtClean="0">
                <a:latin typeface="Times New Roman" panose="02020603050405020304" pitchFamily="18" charset="0"/>
                <a:cs typeface="Times New Roman" panose="02020603050405020304" pitchFamily="18" charset="0"/>
              </a:rPr>
              <a:t>aking </a:t>
            </a:r>
            <a:r>
              <a:rPr lang="en-IN" dirty="0">
                <a:latin typeface="Times New Roman" panose="02020603050405020304" pitchFamily="18" charset="0"/>
                <a:cs typeface="Times New Roman" panose="02020603050405020304" pitchFamily="18" charset="0"/>
              </a:rPr>
              <a:t>false </a:t>
            </a:r>
            <a:r>
              <a:rPr lang="en-IN" dirty="0" smtClean="0">
                <a:latin typeface="Times New Roman" panose="02020603050405020304" pitchFamily="18" charset="0"/>
                <a:cs typeface="Times New Roman" panose="02020603050405020304" pitchFamily="18" charset="0"/>
              </a:rPr>
              <a:t>suggestions, </a:t>
            </a:r>
            <a:r>
              <a:rPr lang="en-IN" dirty="0">
                <a:latin typeface="Times New Roman" panose="02020603050405020304" pitchFamily="18" charset="0"/>
                <a:cs typeface="Times New Roman" panose="02020603050405020304" pitchFamily="18" charset="0"/>
              </a:rPr>
              <a:t>t</a:t>
            </a:r>
            <a:r>
              <a:rPr lang="en-IN" dirty="0" smtClean="0">
                <a:latin typeface="Times New Roman" panose="02020603050405020304" pitchFamily="18" charset="0"/>
                <a:cs typeface="Times New Roman" panose="02020603050405020304" pitchFamily="18" charset="0"/>
              </a:rPr>
              <a:t>hrough </a:t>
            </a:r>
            <a:r>
              <a:rPr lang="en-IN" dirty="0">
                <a:latin typeface="Times New Roman" panose="02020603050405020304" pitchFamily="18" charset="0"/>
                <a:cs typeface="Times New Roman" panose="02020603050405020304" pitchFamily="18" charset="0"/>
              </a:rPr>
              <a:t>vague wordings or slogans</a:t>
            </a:r>
            <a:r>
              <a:rPr lang="en-IN" dirty="0" smtClean="0">
                <a:latin typeface="Times New Roman" panose="02020603050405020304" pitchFamily="18" charset="0"/>
                <a:cs typeface="Times New Roman" panose="02020603050405020304" pitchFamily="18" charset="0"/>
              </a:rPr>
              <a:t>.)</a:t>
            </a:r>
          </a:p>
          <a:p>
            <a:pPr lvl="2" algn="just"/>
            <a:endParaRPr lang="en-IN" dirty="0" smtClean="0">
              <a:latin typeface="Times New Roman" panose="02020603050405020304" pitchFamily="18" charset="0"/>
              <a:cs typeface="Times New Roman" panose="02020603050405020304" pitchFamily="18" charset="0"/>
            </a:endParaRPr>
          </a:p>
          <a:p>
            <a:pPr lvl="1" algn="just"/>
            <a:r>
              <a:rPr lang="en-IN" sz="2400" b="1" dirty="0">
                <a:latin typeface="Times New Roman" panose="02020603050405020304" pitchFamily="18" charset="0"/>
                <a:cs typeface="Times New Roman" panose="02020603050405020304" pitchFamily="18" charset="0"/>
              </a:rPr>
              <a:t>Competitive </a:t>
            </a:r>
            <a:r>
              <a:rPr lang="en-IN" sz="2400" b="1" dirty="0" smtClean="0">
                <a:latin typeface="Times New Roman" panose="02020603050405020304" pitchFamily="18" charset="0"/>
                <a:cs typeface="Times New Roman" panose="02020603050405020304" pitchFamily="18" charset="0"/>
              </a:rPr>
              <a:t>Bidding</a:t>
            </a:r>
          </a:p>
          <a:p>
            <a:pPr lvl="2" algn="just"/>
            <a:r>
              <a:rPr lang="en-IN" dirty="0" smtClean="0">
                <a:latin typeface="Times New Roman" panose="02020603050405020304" pitchFamily="18" charset="0"/>
                <a:cs typeface="Times New Roman" panose="02020603050405020304" pitchFamily="18" charset="0"/>
              </a:rPr>
              <a:t>Offer a price and get something in return for the service offered.</a:t>
            </a:r>
          </a:p>
          <a:p>
            <a:pPr lvl="2" algn="just"/>
            <a:endParaRPr lang="en-IN" dirty="0" smtClean="0">
              <a:latin typeface="Times New Roman" panose="02020603050405020304" pitchFamily="18" charset="0"/>
              <a:cs typeface="Times New Roman" panose="02020603050405020304" pitchFamily="18" charset="0"/>
            </a:endParaRPr>
          </a:p>
          <a:p>
            <a:pPr lvl="1" algn="just"/>
            <a:r>
              <a:rPr lang="en-IN" sz="2400" b="1" dirty="0">
                <a:latin typeface="Times New Roman" panose="02020603050405020304" pitchFamily="18" charset="0"/>
                <a:cs typeface="Times New Roman" panose="02020603050405020304" pitchFamily="18" charset="0"/>
              </a:rPr>
              <a:t>Contingency </a:t>
            </a:r>
            <a:r>
              <a:rPr lang="en-IN" sz="2400" b="1" dirty="0" smtClean="0">
                <a:latin typeface="Times New Roman" panose="02020603050405020304" pitchFamily="18" charset="0"/>
                <a:cs typeface="Times New Roman" panose="02020603050405020304" pitchFamily="18" charset="0"/>
              </a:rPr>
              <a:t>Fee</a:t>
            </a:r>
          </a:p>
          <a:p>
            <a:pPr lvl="2" algn="just"/>
            <a:r>
              <a:rPr lang="en-IN" dirty="0" smtClean="0">
                <a:latin typeface="Times New Roman" panose="02020603050405020304" pitchFamily="18" charset="0"/>
                <a:cs typeface="Times New Roman" panose="02020603050405020304" pitchFamily="18" charset="0"/>
              </a:rPr>
              <a:t>Fee </a:t>
            </a:r>
            <a:r>
              <a:rPr lang="en-IN" dirty="0">
                <a:latin typeface="Times New Roman" panose="02020603050405020304" pitchFamily="18" charset="0"/>
                <a:cs typeface="Times New Roman" panose="02020603050405020304" pitchFamily="18" charset="0"/>
              </a:rPr>
              <a:t>or commission paid to the </a:t>
            </a:r>
            <a:r>
              <a:rPr lang="en-IN" dirty="0" smtClean="0">
                <a:latin typeface="Times New Roman" panose="02020603050405020304" pitchFamily="18" charset="0"/>
                <a:cs typeface="Times New Roman" panose="02020603050405020304" pitchFamily="18" charset="0"/>
              </a:rPr>
              <a:t>consultant, when one is successful in saving the expenses for the client.</a:t>
            </a:r>
          </a:p>
          <a:p>
            <a:pPr lvl="2" algn="just"/>
            <a:endParaRPr lang="en-IN" dirty="0" smtClean="0">
              <a:latin typeface="Times New Roman" panose="02020603050405020304" pitchFamily="18" charset="0"/>
              <a:cs typeface="Times New Roman" panose="02020603050405020304" pitchFamily="18" charset="0"/>
            </a:endParaRPr>
          </a:p>
          <a:p>
            <a:pPr lvl="1" algn="just"/>
            <a:r>
              <a:rPr lang="en-IN" sz="2400" b="1" dirty="0">
                <a:latin typeface="Times New Roman" panose="02020603050405020304" pitchFamily="18" charset="0"/>
                <a:cs typeface="Times New Roman" panose="02020603050405020304" pitchFamily="18" charset="0"/>
              </a:rPr>
              <a:t>Safety and Client’s Needs</a:t>
            </a:r>
            <a:endParaRPr lang="en-IN" sz="2400" b="1" dirty="0" smtClean="0">
              <a:latin typeface="Times New Roman" panose="02020603050405020304" pitchFamily="18" charset="0"/>
              <a:cs typeface="Times New Roman" panose="02020603050405020304" pitchFamily="18" charset="0"/>
            </a:endParaRPr>
          </a:p>
          <a:p>
            <a:pPr lvl="2" algn="just"/>
            <a:endParaRPr lang="en-IN" dirty="0"/>
          </a:p>
        </p:txBody>
      </p:sp>
    </p:spTree>
    <p:extLst>
      <p:ext uri="{BB962C8B-B14F-4D97-AF65-F5344CB8AC3E}">
        <p14:creationId xmlns:p14="http://schemas.microsoft.com/office/powerpoint/2010/main" val="26792239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8229600" cy="762000"/>
          </a:xfrm>
        </p:spPr>
        <p:txBody>
          <a:bodyPr>
            <a:noAutofit/>
          </a:bodyPr>
          <a:lstStyle/>
          <a:p>
            <a:pPr algn="ctr"/>
            <a:r>
              <a:rPr lang="en-IN" sz="3600" b="1" dirty="0">
                <a:latin typeface="Times New Roman" panose="02020603050405020304" pitchFamily="18" charset="0"/>
                <a:cs typeface="Times New Roman" panose="02020603050405020304" pitchFamily="18" charset="0"/>
              </a:rPr>
              <a:t>ENGINEERS AS EXPERT WITNESS</a:t>
            </a:r>
          </a:p>
        </p:txBody>
      </p:sp>
      <p:sp>
        <p:nvSpPr>
          <p:cNvPr id="3" name="Content Placeholder 2"/>
          <p:cNvSpPr>
            <a:spLocks noGrp="1"/>
          </p:cNvSpPr>
          <p:nvPr>
            <p:ph idx="1"/>
          </p:nvPr>
        </p:nvSpPr>
        <p:spPr>
          <a:xfrm>
            <a:off x="838200" y="838200"/>
            <a:ext cx="8095488" cy="5410200"/>
          </a:xfrm>
        </p:spPr>
        <p:txBody>
          <a:bodyPr>
            <a:normAutofit/>
          </a:bodyPr>
          <a:lstStyle/>
          <a:p>
            <a:pPr algn="just"/>
            <a:r>
              <a:rPr lang="en-IN" sz="2200" dirty="0" smtClean="0">
                <a:latin typeface="Times New Roman" panose="02020603050405020304" pitchFamily="18" charset="0"/>
                <a:cs typeface="Times New Roman" panose="02020603050405020304" pitchFamily="18" charset="0"/>
              </a:rPr>
              <a:t>Required to </a:t>
            </a:r>
            <a:r>
              <a:rPr lang="en-IN" sz="2200" dirty="0">
                <a:latin typeface="Times New Roman" panose="02020603050405020304" pitchFamily="18" charset="0"/>
                <a:cs typeface="Times New Roman" panose="02020603050405020304" pitchFamily="18" charset="0"/>
              </a:rPr>
              <a:t>provide expert opinion and views in </a:t>
            </a:r>
            <a:r>
              <a:rPr lang="en-IN" sz="2200" dirty="0" smtClean="0">
                <a:latin typeface="Times New Roman" panose="02020603050405020304" pitchFamily="18" charset="0"/>
                <a:cs typeface="Times New Roman" panose="02020603050405020304" pitchFamily="18" charset="0"/>
              </a:rPr>
              <a:t>many legal </a:t>
            </a:r>
            <a:r>
              <a:rPr lang="en-IN" sz="2200" dirty="0">
                <a:latin typeface="Times New Roman" panose="02020603050405020304" pitchFamily="18" charset="0"/>
                <a:cs typeface="Times New Roman" panose="02020603050405020304" pitchFamily="18" charset="0"/>
              </a:rPr>
              <a:t>cases of the past events</a:t>
            </a:r>
            <a:r>
              <a:rPr lang="en-IN" sz="2200" dirty="0" smtClean="0">
                <a:latin typeface="Times New Roman" panose="02020603050405020304" pitchFamily="18" charset="0"/>
                <a:cs typeface="Times New Roman" panose="02020603050405020304" pitchFamily="18" charset="0"/>
              </a:rPr>
              <a:t>.</a:t>
            </a:r>
          </a:p>
          <a:p>
            <a:pPr algn="just"/>
            <a:r>
              <a:rPr lang="en-IN" sz="2200" dirty="0" smtClean="0">
                <a:latin typeface="Times New Roman" panose="02020603050405020304" pitchFamily="18" charset="0"/>
                <a:cs typeface="Times New Roman" panose="02020603050405020304" pitchFamily="18" charset="0"/>
              </a:rPr>
              <a:t>They are required to explain the causes of accidents, malfunctions and other technological behavior of structures, machines and instruments.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693" y="2667000"/>
            <a:ext cx="8053101"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10086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1014902" y="1219200"/>
            <a:ext cx="8129098" cy="50292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lnSpcReduction="10000"/>
          </a:bodyPr>
          <a:lstStyle/>
          <a:p>
            <a:pPr algn="just"/>
            <a:r>
              <a:rPr lang="en-IN" sz="2400" dirty="0" smtClean="0">
                <a:latin typeface="Times New Roman" panose="02020603050405020304" pitchFamily="18" charset="0"/>
                <a:cs typeface="Times New Roman" panose="02020603050405020304" pitchFamily="18" charset="0"/>
              </a:rPr>
              <a:t>Expert-witnesses, </a:t>
            </a:r>
            <a:r>
              <a:rPr lang="en-IN" sz="2400" dirty="0">
                <a:latin typeface="Times New Roman" panose="02020603050405020304" pitchFamily="18" charset="0"/>
                <a:cs typeface="Times New Roman" panose="02020603050405020304" pitchFamily="18" charset="0"/>
              </a:rPr>
              <a:t>are likely to abuse their positions in the </a:t>
            </a:r>
            <a:r>
              <a:rPr lang="en-IN" sz="2400" dirty="0" smtClean="0">
                <a:latin typeface="Times New Roman" panose="02020603050405020304" pitchFamily="18" charset="0"/>
                <a:cs typeface="Times New Roman" panose="02020603050405020304" pitchFamily="18" charset="0"/>
              </a:rPr>
              <a:t>following manners:</a:t>
            </a:r>
          </a:p>
          <a:p>
            <a:pPr lvl="1" algn="just"/>
            <a:r>
              <a:rPr lang="en-IN" sz="2400" b="1" dirty="0">
                <a:latin typeface="Times New Roman" panose="02020603050405020304" pitchFamily="18" charset="0"/>
                <a:cs typeface="Times New Roman" panose="02020603050405020304" pitchFamily="18" charset="0"/>
              </a:rPr>
              <a:t>Hired </a:t>
            </a:r>
            <a:r>
              <a:rPr lang="en-IN" sz="2400" b="1" dirty="0" smtClean="0">
                <a:latin typeface="Times New Roman" panose="02020603050405020304" pitchFamily="18" charset="0"/>
                <a:cs typeface="Times New Roman" panose="02020603050405020304" pitchFamily="18" charset="0"/>
              </a:rPr>
              <a:t>Guns</a:t>
            </a:r>
          </a:p>
          <a:p>
            <a:pPr lvl="2" algn="just"/>
            <a:r>
              <a:rPr lang="en-US" sz="2200" dirty="0" smtClean="0">
                <a:latin typeface="Times New Roman" panose="02020603050405020304" pitchFamily="18" charset="0"/>
                <a:cs typeface="Times New Roman" panose="02020603050405020304" pitchFamily="18" charset="0"/>
              </a:rPr>
              <a:t>Mostly </a:t>
            </a:r>
            <a:r>
              <a:rPr lang="en-US" sz="2200" dirty="0">
                <a:latin typeface="Times New Roman" panose="02020603050405020304" pitchFamily="18" charset="0"/>
                <a:cs typeface="Times New Roman" panose="02020603050405020304" pitchFamily="18" charset="0"/>
              </a:rPr>
              <a:t>lawyers hire engineers to serve the interest of their clients. Lawyers are permitted and required </a:t>
            </a:r>
            <a:r>
              <a:rPr lang="en-US" sz="2200" dirty="0" smtClean="0">
                <a:latin typeface="Times New Roman" panose="02020603050405020304" pitchFamily="18" charset="0"/>
                <a:cs typeface="Times New Roman" panose="02020603050405020304" pitchFamily="18" charset="0"/>
              </a:rPr>
              <a:t>to </a:t>
            </a:r>
            <a:r>
              <a:rPr lang="en-US" sz="2200" dirty="0">
                <a:latin typeface="Times New Roman" panose="02020603050405020304" pitchFamily="18" charset="0"/>
                <a:cs typeface="Times New Roman" panose="02020603050405020304" pitchFamily="18" charset="0"/>
              </a:rPr>
              <a:t>project the case in a way favorable to their clients. </a:t>
            </a:r>
            <a:r>
              <a:rPr lang="en-US" sz="2200" dirty="0" smtClean="0">
                <a:latin typeface="Times New Roman" panose="02020603050405020304" pitchFamily="18" charset="0"/>
                <a:cs typeface="Times New Roman" panose="02020603050405020304" pitchFamily="18" charset="0"/>
              </a:rPr>
              <a:t>But </a:t>
            </a:r>
            <a:r>
              <a:rPr lang="en-US" sz="2200" dirty="0">
                <a:latin typeface="Times New Roman" panose="02020603050405020304" pitchFamily="18" charset="0"/>
                <a:cs typeface="Times New Roman" panose="02020603050405020304" pitchFamily="18" charset="0"/>
              </a:rPr>
              <a:t>the engineers have obligations to thoroughly </a:t>
            </a:r>
            <a:r>
              <a:rPr lang="en-US" sz="2200" dirty="0" smtClean="0">
                <a:latin typeface="Times New Roman" panose="02020603050405020304" pitchFamily="18" charset="0"/>
                <a:cs typeface="Times New Roman" panose="02020603050405020304" pitchFamily="18" charset="0"/>
              </a:rPr>
              <a:t>examine </a:t>
            </a:r>
            <a:r>
              <a:rPr lang="en-US" sz="2200" dirty="0">
                <a:latin typeface="Times New Roman" panose="02020603050405020304" pitchFamily="18" charset="0"/>
                <a:cs typeface="Times New Roman" panose="02020603050405020304" pitchFamily="18" charset="0"/>
              </a:rPr>
              <a:t>the events and demonstrate their professional integrity to testify only the truth in the court. </a:t>
            </a:r>
            <a:endParaRPr lang="en-US" sz="2200" dirty="0" smtClean="0">
              <a:latin typeface="Times New Roman" panose="02020603050405020304" pitchFamily="18" charset="0"/>
              <a:cs typeface="Times New Roman" panose="02020603050405020304" pitchFamily="18" charset="0"/>
            </a:endParaRPr>
          </a:p>
          <a:p>
            <a:pPr lvl="2" algn="just"/>
            <a:endParaRPr lang="en-US" dirty="0" smtClean="0">
              <a:latin typeface="Times New Roman" panose="02020603050405020304" pitchFamily="18" charset="0"/>
              <a:cs typeface="Times New Roman" panose="02020603050405020304" pitchFamily="18" charset="0"/>
            </a:endParaRPr>
          </a:p>
          <a:p>
            <a:pPr lvl="1" algn="just"/>
            <a:r>
              <a:rPr lang="en-IN" sz="2400" b="1" dirty="0" smtClean="0">
                <a:latin typeface="Times New Roman" panose="02020603050405020304" pitchFamily="18" charset="0"/>
                <a:cs typeface="Times New Roman" panose="02020603050405020304" pitchFamily="18" charset="0"/>
              </a:rPr>
              <a:t>Money Bias</a:t>
            </a:r>
          </a:p>
          <a:p>
            <a:pPr lvl="2" algn="just"/>
            <a:r>
              <a:rPr lang="en-US" sz="2200" dirty="0" smtClean="0">
                <a:latin typeface="Times New Roman" panose="02020603050405020304" pitchFamily="18" charset="0"/>
                <a:cs typeface="Times New Roman" panose="02020603050405020304" pitchFamily="18" charset="0"/>
              </a:rPr>
              <a:t>Consultants </a:t>
            </a:r>
            <a:r>
              <a:rPr lang="en-US" sz="2200" dirty="0">
                <a:latin typeface="Times New Roman" panose="02020603050405020304" pitchFamily="18" charset="0"/>
                <a:cs typeface="Times New Roman" panose="02020603050405020304" pitchFamily="18" charset="0"/>
              </a:rPr>
              <a:t>may be influenced or prejudiced for monitory considerations, gain reputation and make </a:t>
            </a:r>
            <a:r>
              <a:rPr lang="en-US" sz="2200" dirty="0" smtClean="0">
                <a:latin typeface="Times New Roman" panose="02020603050405020304" pitchFamily="18" charset="0"/>
                <a:cs typeface="Times New Roman" panose="02020603050405020304" pitchFamily="18" charset="0"/>
              </a:rPr>
              <a:t>a fortune</a:t>
            </a:r>
            <a:r>
              <a:rPr lang="en-US" sz="2200" dirty="0">
                <a:latin typeface="Times New Roman" panose="02020603050405020304" pitchFamily="18" charset="0"/>
                <a:cs typeface="Times New Roman" panose="02020603050405020304" pitchFamily="18" charset="0"/>
              </a:rPr>
              <a:t>. </a:t>
            </a:r>
            <a:endParaRPr lang="en-US" sz="2200" dirty="0" smtClean="0">
              <a:latin typeface="Times New Roman" panose="02020603050405020304" pitchFamily="18" charset="0"/>
              <a:cs typeface="Times New Roman" panose="02020603050405020304" pitchFamily="18" charset="0"/>
            </a:endParaRPr>
          </a:p>
          <a:p>
            <a:pPr lvl="2" algn="just"/>
            <a:endParaRPr lang="en-US" sz="2200" dirty="0" smtClean="0">
              <a:latin typeface="Times New Roman" panose="02020603050405020304" pitchFamily="18" charset="0"/>
              <a:cs typeface="Times New Roman" panose="02020603050405020304" pitchFamily="18" charset="0"/>
            </a:endParaRPr>
          </a:p>
          <a:p>
            <a:pPr lvl="1" algn="just"/>
            <a:r>
              <a:rPr lang="en-IN" sz="2400" b="1" dirty="0" smtClean="0">
                <a:latin typeface="Times New Roman" panose="02020603050405020304" pitchFamily="18" charset="0"/>
                <a:cs typeface="Times New Roman" panose="02020603050405020304" pitchFamily="18" charset="0"/>
              </a:rPr>
              <a:t>Ego Bias</a:t>
            </a:r>
          </a:p>
          <a:p>
            <a:pPr lvl="2" algn="just"/>
            <a:r>
              <a:rPr lang="en-US" sz="2200" dirty="0">
                <a:latin typeface="Times New Roman" panose="02020603050405020304" pitchFamily="18" charset="0"/>
                <a:cs typeface="Times New Roman" panose="02020603050405020304" pitchFamily="18" charset="0"/>
              </a:rPr>
              <a:t>The assumption that the own side is innocent and the other side is guilty, is responsible for this behavior </a:t>
            </a:r>
            <a:endParaRPr lang="en-US" sz="2200" dirty="0" smtClean="0">
              <a:latin typeface="Times New Roman" panose="02020603050405020304" pitchFamily="18" charset="0"/>
              <a:cs typeface="Times New Roman" panose="02020603050405020304" pitchFamily="18" charset="0"/>
            </a:endParaRPr>
          </a:p>
          <a:p>
            <a:pPr lvl="2" algn="just"/>
            <a:endParaRPr lang="en-IN" sz="2200" dirty="0" smtClean="0">
              <a:latin typeface="Times New Roman" panose="02020603050405020304" pitchFamily="18" charset="0"/>
              <a:cs typeface="Times New Roman" panose="02020603050405020304" pitchFamily="18" charset="0"/>
            </a:endParaRPr>
          </a:p>
          <a:p>
            <a:pPr lvl="1" algn="just"/>
            <a:r>
              <a:rPr lang="en-IN" sz="2400" b="1" dirty="0">
                <a:latin typeface="Times New Roman" panose="02020603050405020304" pitchFamily="18" charset="0"/>
                <a:cs typeface="Times New Roman" panose="02020603050405020304" pitchFamily="18" charset="0"/>
              </a:rPr>
              <a:t>Sympathy </a:t>
            </a:r>
            <a:r>
              <a:rPr lang="en-IN" sz="2400" b="1" dirty="0" smtClean="0">
                <a:latin typeface="Times New Roman" panose="02020603050405020304" pitchFamily="18" charset="0"/>
                <a:cs typeface="Times New Roman" panose="02020603050405020304" pitchFamily="18" charset="0"/>
              </a:rPr>
              <a:t>Bias</a:t>
            </a:r>
          </a:p>
          <a:p>
            <a:pPr lvl="2" algn="just"/>
            <a:r>
              <a:rPr lang="en-US" sz="2200" dirty="0">
                <a:latin typeface="Times New Roman" panose="02020603050405020304" pitchFamily="18" charset="0"/>
                <a:cs typeface="Times New Roman" panose="02020603050405020304" pitchFamily="18" charset="0"/>
              </a:rPr>
              <a:t>Sympathy for the victim on the opposite side may upset the testimony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373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
            <a:ext cx="7943088" cy="1143000"/>
          </a:xfrm>
        </p:spPr>
        <p:txBody>
          <a:bodyPr>
            <a:noAutofit/>
          </a:bodyPr>
          <a:lstStyle/>
          <a:p>
            <a:pPr algn="ctr"/>
            <a:r>
              <a:rPr lang="en-IN" sz="3600" b="1" dirty="0">
                <a:latin typeface="Times New Roman" panose="02020603050405020304" pitchFamily="18" charset="0"/>
                <a:cs typeface="Times New Roman" panose="02020603050405020304" pitchFamily="18" charset="0"/>
              </a:rPr>
              <a:t>ENGINEERS AS ADVISORS IN PLANNING AND POLICY MAKING</a:t>
            </a:r>
          </a:p>
        </p:txBody>
      </p:sp>
      <p:sp>
        <p:nvSpPr>
          <p:cNvPr id="3" name="Content Placeholder 2"/>
          <p:cNvSpPr>
            <a:spLocks noGrp="1"/>
          </p:cNvSpPr>
          <p:nvPr>
            <p:ph idx="1"/>
          </p:nvPr>
        </p:nvSpPr>
        <p:spPr>
          <a:xfrm>
            <a:off x="990600" y="1371600"/>
            <a:ext cx="7943088" cy="5334000"/>
          </a:xfrm>
        </p:spPr>
        <p:txBody>
          <a:bodyPr>
            <a:normAutofit/>
          </a:bodyPr>
          <a:lstStyle/>
          <a:p>
            <a:pPr algn="just"/>
            <a:r>
              <a:rPr lang="en-IN" sz="2400" dirty="0" smtClean="0">
                <a:latin typeface="Times New Roman" panose="02020603050405020304" pitchFamily="18" charset="0"/>
                <a:cs typeface="Times New Roman" panose="02020603050405020304" pitchFamily="18" charset="0"/>
              </a:rPr>
              <a:t>As advisor, give </a:t>
            </a:r>
            <a:r>
              <a:rPr lang="en-IN" sz="2400" dirty="0">
                <a:latin typeface="Times New Roman" panose="02020603050405020304" pitchFamily="18" charset="0"/>
                <a:cs typeface="Times New Roman" panose="02020603050405020304" pitchFamily="18" charset="0"/>
              </a:rPr>
              <a:t>their view on the future such as in planning, policy-making, </a:t>
            </a:r>
            <a:r>
              <a:rPr lang="en-IN" sz="2400" dirty="0" smtClean="0">
                <a:latin typeface="Times New Roman" panose="02020603050405020304" pitchFamily="18" charset="0"/>
                <a:cs typeface="Times New Roman" panose="02020603050405020304" pitchFamily="18" charset="0"/>
              </a:rPr>
              <a:t>which involves </a:t>
            </a:r>
            <a:r>
              <a:rPr lang="en-IN" sz="2400" dirty="0">
                <a:latin typeface="Times New Roman" panose="02020603050405020304" pitchFamily="18" charset="0"/>
                <a:cs typeface="Times New Roman" panose="02020603050405020304" pitchFamily="18" charset="0"/>
              </a:rPr>
              <a:t>the technology</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600" b="1" i="1" u="sng" dirty="0" smtClean="0">
                <a:latin typeface="Times New Roman" panose="02020603050405020304" pitchFamily="18" charset="0"/>
                <a:cs typeface="Times New Roman" panose="02020603050405020304" pitchFamily="18" charset="0"/>
              </a:rPr>
              <a:t>Issues and requirements</a:t>
            </a:r>
          </a:p>
          <a:p>
            <a:pPr lvl="1" algn="just"/>
            <a:r>
              <a:rPr lang="en-IN" sz="2400" b="1" dirty="0" smtClean="0">
                <a:latin typeface="Times New Roman" panose="02020603050405020304" pitchFamily="18" charset="0"/>
                <a:cs typeface="Times New Roman" panose="02020603050405020304" pitchFamily="18" charset="0"/>
              </a:rPr>
              <a:t>Objectivity: </a:t>
            </a:r>
            <a:r>
              <a:rPr lang="en-IN" sz="2400" dirty="0">
                <a:latin typeface="Times New Roman" panose="02020603050405020304" pitchFamily="18" charset="0"/>
                <a:cs typeface="Times New Roman" panose="02020603050405020304" pitchFamily="18" charset="0"/>
              </a:rPr>
              <a:t>study the cost and benefits of all possible alternative means in objective manner</a:t>
            </a:r>
            <a:endParaRPr lang="en-IN" sz="2400" dirty="0" smtClean="0">
              <a:latin typeface="Times New Roman" panose="02020603050405020304" pitchFamily="18" charset="0"/>
              <a:cs typeface="Times New Roman" panose="02020603050405020304" pitchFamily="18" charset="0"/>
            </a:endParaRPr>
          </a:p>
          <a:p>
            <a:pPr lvl="1" algn="just"/>
            <a:r>
              <a:rPr lang="en-IN" sz="2400" b="1" dirty="0">
                <a:latin typeface="Times New Roman" panose="02020603050405020304" pitchFamily="18" charset="0"/>
                <a:cs typeface="Times New Roman" panose="02020603050405020304" pitchFamily="18" charset="0"/>
              </a:rPr>
              <a:t>Study All Aspects</a:t>
            </a:r>
            <a:r>
              <a:rPr lang="en-IN" sz="2400" dirty="0">
                <a:latin typeface="Times New Roman" panose="02020603050405020304" pitchFamily="18" charset="0"/>
                <a:cs typeface="Times New Roman" panose="02020603050405020304" pitchFamily="18" charset="0"/>
              </a:rPr>
              <a:t>: economic viability (effectiveness), technical feasibility (efficiency), </a:t>
            </a:r>
            <a:r>
              <a:rPr lang="en-IN" sz="2400" dirty="0" smtClean="0">
                <a:latin typeface="Times New Roman" panose="02020603050405020304" pitchFamily="18" charset="0"/>
                <a:cs typeface="Times New Roman" panose="02020603050405020304" pitchFamily="18" charset="0"/>
              </a:rPr>
              <a:t>operational feasibility </a:t>
            </a:r>
            <a:r>
              <a:rPr lang="en-IN" sz="2400" dirty="0">
                <a:latin typeface="Times New Roman" panose="02020603050405020304" pitchFamily="18" charset="0"/>
                <a:cs typeface="Times New Roman" panose="02020603050405020304" pitchFamily="18" charset="0"/>
              </a:rPr>
              <a:t>(skills) and social </a:t>
            </a:r>
            <a:r>
              <a:rPr lang="en-IN" sz="2400" dirty="0" smtClean="0">
                <a:latin typeface="Times New Roman" panose="02020603050405020304" pitchFamily="18" charset="0"/>
                <a:cs typeface="Times New Roman" panose="02020603050405020304" pitchFamily="18" charset="0"/>
              </a:rPr>
              <a:t>acceptability</a:t>
            </a:r>
          </a:p>
          <a:p>
            <a:pPr lvl="1" algn="just"/>
            <a:r>
              <a:rPr lang="en-IN" sz="2400" b="1" dirty="0" smtClean="0">
                <a:latin typeface="Times New Roman" panose="02020603050405020304" pitchFamily="18" charset="0"/>
                <a:cs typeface="Times New Roman" panose="02020603050405020304" pitchFamily="18" charset="0"/>
              </a:rPr>
              <a:t>Values</a:t>
            </a:r>
          </a:p>
          <a:p>
            <a:pPr lvl="1" algn="just"/>
            <a:r>
              <a:rPr lang="en-IN" sz="2400" b="1" dirty="0">
                <a:latin typeface="Times New Roman" panose="02020603050405020304" pitchFamily="18" charset="0"/>
                <a:cs typeface="Times New Roman" panose="02020603050405020304" pitchFamily="18" charset="0"/>
              </a:rPr>
              <a:t>Technical </a:t>
            </a:r>
            <a:r>
              <a:rPr lang="en-IN" sz="2400" b="1" dirty="0" smtClean="0">
                <a:latin typeface="Times New Roman" panose="02020603050405020304" pitchFamily="18" charset="0"/>
                <a:cs typeface="Times New Roman" panose="02020603050405020304" pitchFamily="18" charset="0"/>
              </a:rPr>
              <a:t>Complexity</a:t>
            </a:r>
          </a:p>
          <a:p>
            <a:pPr lvl="1" algn="just"/>
            <a:r>
              <a:rPr lang="en-IN" sz="2400" b="1" dirty="0">
                <a:latin typeface="Times New Roman" panose="02020603050405020304" pitchFamily="18" charset="0"/>
                <a:cs typeface="Times New Roman" panose="02020603050405020304" pitchFamily="18" charset="0"/>
              </a:rPr>
              <a:t>National Security</a:t>
            </a:r>
          </a:p>
          <a:p>
            <a:pPr lvl="1"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61833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0"/>
            <a:ext cx="8229600" cy="6858000"/>
          </a:xfrm>
        </p:spPr>
        <p:txBody>
          <a:bodyPr>
            <a:normAutofit lnSpcReduction="10000"/>
          </a:bodyPr>
          <a:lstStyle/>
          <a:p>
            <a:r>
              <a:rPr lang="en-IN" sz="2400" dirty="0" smtClean="0">
                <a:latin typeface="Times New Roman" panose="02020603050405020304" pitchFamily="18" charset="0"/>
                <a:cs typeface="Times New Roman" panose="02020603050405020304" pitchFamily="18" charset="0"/>
              </a:rPr>
              <a:t>Shared understanding </a:t>
            </a:r>
            <a:r>
              <a:rPr lang="en-IN" sz="2400" dirty="0">
                <a:latin typeface="Times New Roman" panose="02020603050405020304" pitchFamily="18" charset="0"/>
                <a:cs typeface="Times New Roman" panose="02020603050405020304" pitchFamily="18" charset="0"/>
              </a:rPr>
              <a:t>can be effected by the following roles or </a:t>
            </a:r>
            <a:r>
              <a:rPr lang="en-IN" sz="2400" dirty="0" smtClean="0">
                <a:latin typeface="Times New Roman" panose="02020603050405020304" pitchFamily="18" charset="0"/>
                <a:cs typeface="Times New Roman" panose="02020603050405020304" pitchFamily="18" charset="0"/>
              </a:rPr>
              <a:t>models:</a:t>
            </a:r>
          </a:p>
          <a:p>
            <a:pPr lvl="1"/>
            <a:r>
              <a:rPr lang="en-IN" sz="2400" b="1" dirty="0">
                <a:latin typeface="Times New Roman" panose="02020603050405020304" pitchFamily="18" charset="0"/>
                <a:cs typeface="Times New Roman" panose="02020603050405020304" pitchFamily="18" charset="0"/>
              </a:rPr>
              <a:t>Hired </a:t>
            </a:r>
            <a:r>
              <a:rPr lang="en-IN" sz="2400" b="1" dirty="0" smtClean="0">
                <a:latin typeface="Times New Roman" panose="02020603050405020304" pitchFamily="18" charset="0"/>
                <a:cs typeface="Times New Roman" panose="02020603050405020304" pitchFamily="18" charset="0"/>
              </a:rPr>
              <a:t>Gun</a:t>
            </a:r>
          </a:p>
          <a:p>
            <a:pPr lvl="2"/>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prime obligation is shown to the clients. The data and facts favorable to the clients are highlighted, </a:t>
            </a:r>
            <a:r>
              <a:rPr lang="en-US" sz="2200" dirty="0" smtClean="0">
                <a:latin typeface="Times New Roman" panose="02020603050405020304" pitchFamily="18" charset="0"/>
                <a:cs typeface="Times New Roman" panose="02020603050405020304" pitchFamily="18" charset="0"/>
              </a:rPr>
              <a:t>and </a:t>
            </a:r>
            <a:r>
              <a:rPr lang="en-US" sz="2200" dirty="0">
                <a:latin typeface="Times New Roman" panose="02020603050405020304" pitchFamily="18" charset="0"/>
                <a:cs typeface="Times New Roman" panose="02020603050405020304" pitchFamily="18" charset="0"/>
              </a:rPr>
              <a:t>unfavorable aspects are hidden or treated as </a:t>
            </a:r>
            <a:r>
              <a:rPr lang="en-US" sz="2200" dirty="0" smtClean="0">
                <a:latin typeface="Times New Roman" panose="02020603050405020304" pitchFamily="18" charset="0"/>
                <a:cs typeface="Times New Roman" panose="02020603050405020304" pitchFamily="18" charset="0"/>
              </a:rPr>
              <a:t>insignificant.</a:t>
            </a:r>
          </a:p>
          <a:p>
            <a:pPr lvl="2"/>
            <a:r>
              <a:rPr lang="en-US" sz="2200" dirty="0" smtClean="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minimal level of interest is shown </a:t>
            </a:r>
            <a:r>
              <a:rPr lang="en-US" sz="2200" dirty="0" smtClean="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public welfare </a:t>
            </a:r>
            <a:endParaRPr lang="en-US" sz="2200" dirty="0" smtClean="0">
              <a:latin typeface="Times New Roman" panose="02020603050405020304" pitchFamily="18" charset="0"/>
              <a:cs typeface="Times New Roman" panose="02020603050405020304" pitchFamily="18" charset="0"/>
            </a:endParaRPr>
          </a:p>
          <a:p>
            <a:pPr lvl="2"/>
            <a:endParaRPr lang="en-IN" dirty="0" smtClean="0">
              <a:latin typeface="Times New Roman" panose="02020603050405020304" pitchFamily="18" charset="0"/>
              <a:cs typeface="Times New Roman" panose="02020603050405020304" pitchFamily="18" charset="0"/>
            </a:endParaRPr>
          </a:p>
          <a:p>
            <a:pPr lvl="1"/>
            <a:r>
              <a:rPr lang="en-IN" sz="2400" b="1" dirty="0">
                <a:latin typeface="Times New Roman" panose="02020603050405020304" pitchFamily="18" charset="0"/>
                <a:cs typeface="Times New Roman" panose="02020603050405020304" pitchFamily="18" charset="0"/>
              </a:rPr>
              <a:t>Value-neutral </a:t>
            </a:r>
            <a:r>
              <a:rPr lang="en-IN" sz="2400" b="1" dirty="0" smtClean="0">
                <a:latin typeface="Times New Roman" panose="02020603050405020304" pitchFamily="18" charset="0"/>
                <a:cs typeface="Times New Roman" panose="02020603050405020304" pitchFamily="18" charset="0"/>
              </a:rPr>
              <a:t>Analysts </a:t>
            </a:r>
          </a:p>
          <a:p>
            <a:pPr lvl="2"/>
            <a:r>
              <a:rPr lang="en-US" sz="2200" dirty="0" smtClean="0">
                <a:latin typeface="Times New Roman" panose="02020603050405020304" pitchFamily="18" charset="0"/>
                <a:cs typeface="Times New Roman" panose="02020603050405020304" pitchFamily="18" charset="0"/>
              </a:rPr>
              <a:t>This </a:t>
            </a:r>
            <a:r>
              <a:rPr lang="en-US" sz="2200" dirty="0">
                <a:latin typeface="Times New Roman" panose="02020603050405020304" pitchFamily="18" charset="0"/>
                <a:cs typeface="Times New Roman" panose="02020603050405020304" pitchFamily="18" charset="0"/>
              </a:rPr>
              <a:t>assumes an impartial engineer. </a:t>
            </a:r>
            <a:endParaRPr lang="en-US" sz="2200" dirty="0" smtClean="0">
              <a:latin typeface="Times New Roman" panose="02020603050405020304" pitchFamily="18" charset="0"/>
              <a:cs typeface="Times New Roman" panose="02020603050405020304" pitchFamily="18" charset="0"/>
            </a:endParaRPr>
          </a:p>
          <a:p>
            <a:pPr lvl="2"/>
            <a:r>
              <a:rPr lang="en-US" sz="2200" dirty="0" smtClean="0">
                <a:latin typeface="Times New Roman" panose="02020603050405020304" pitchFamily="18" charset="0"/>
                <a:cs typeface="Times New Roman" panose="02020603050405020304" pitchFamily="18" charset="0"/>
              </a:rPr>
              <a:t>They </a:t>
            </a:r>
            <a:r>
              <a:rPr lang="en-US" sz="2200" dirty="0">
                <a:latin typeface="Times New Roman" panose="02020603050405020304" pitchFamily="18" charset="0"/>
                <a:cs typeface="Times New Roman" panose="02020603050405020304" pitchFamily="18" charset="0"/>
              </a:rPr>
              <a:t>exhibit conscientious decisions, impartiality i.e., without </a:t>
            </a:r>
            <a:r>
              <a:rPr lang="en-US" sz="2200" dirty="0" smtClean="0">
                <a:latin typeface="Times New Roman" panose="02020603050405020304" pitchFamily="18" charset="0"/>
                <a:cs typeface="Times New Roman" panose="02020603050405020304" pitchFamily="18" charset="0"/>
              </a:rPr>
              <a:t>bias</a:t>
            </a:r>
            <a:r>
              <a:rPr lang="en-US" sz="2200" dirty="0">
                <a:latin typeface="Times New Roman" panose="02020603050405020304" pitchFamily="18" charset="0"/>
                <a:cs typeface="Times New Roman" panose="02020603050405020304" pitchFamily="18" charset="0"/>
              </a:rPr>
              <a:t>, fear or favor, and absence of advocacy. </a:t>
            </a:r>
            <a:endParaRPr lang="en-IN" sz="2200" dirty="0" smtClean="0">
              <a:latin typeface="Times New Roman" panose="02020603050405020304" pitchFamily="18" charset="0"/>
              <a:cs typeface="Times New Roman" panose="02020603050405020304" pitchFamily="18" charset="0"/>
            </a:endParaRPr>
          </a:p>
          <a:p>
            <a:pPr lvl="1"/>
            <a:endParaRPr lang="en-IN" sz="2400" dirty="0" smtClean="0">
              <a:latin typeface="Times New Roman" panose="02020603050405020304" pitchFamily="18" charset="0"/>
              <a:cs typeface="Times New Roman" panose="02020603050405020304" pitchFamily="18" charset="0"/>
            </a:endParaRPr>
          </a:p>
          <a:p>
            <a:pPr lvl="1"/>
            <a:r>
              <a:rPr lang="en-IN" sz="2400" b="1" dirty="0">
                <a:latin typeface="Times New Roman" panose="02020603050405020304" pitchFamily="18" charset="0"/>
                <a:cs typeface="Times New Roman" panose="02020603050405020304" pitchFamily="18" charset="0"/>
              </a:rPr>
              <a:t>Value-guided </a:t>
            </a:r>
            <a:r>
              <a:rPr lang="en-IN" sz="2400" b="1" dirty="0" smtClean="0">
                <a:latin typeface="Times New Roman" panose="02020603050405020304" pitchFamily="18" charset="0"/>
                <a:cs typeface="Times New Roman" panose="02020603050405020304" pitchFamily="18" charset="0"/>
              </a:rPr>
              <a:t>Advocates </a:t>
            </a:r>
            <a:endParaRPr lang="en-IN" sz="2400" dirty="0" smtClean="0">
              <a:latin typeface="Times New Roman" panose="02020603050405020304" pitchFamily="18" charset="0"/>
              <a:cs typeface="Times New Roman" panose="02020603050405020304" pitchFamily="18" charset="0"/>
            </a:endParaRPr>
          </a:p>
          <a:p>
            <a:pPr lvl="2"/>
            <a:r>
              <a:rPr lang="en-US" sz="2200" dirty="0">
                <a:latin typeface="Times New Roman" panose="02020603050405020304" pitchFamily="18" charset="0"/>
                <a:cs typeface="Times New Roman" panose="02020603050405020304" pitchFamily="18" charset="0"/>
              </a:rPr>
              <a:t>The consulting engineers remain honest (frank in stating all the relevant facts and truthful in interpretation of the facts) and autonomous (independent) in judgement and show paramount importance to the public (as different from the hired guns).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8484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0"/>
            <a:ext cx="7498080" cy="838200"/>
          </a:xfrm>
        </p:spPr>
        <p:txBody>
          <a:bodyPr>
            <a:normAutofit/>
          </a:bodyPr>
          <a:lstStyle/>
          <a:p>
            <a:pPr algn="ctr"/>
            <a:r>
              <a:rPr lang="en-IN" sz="4000" b="1" dirty="0">
                <a:latin typeface="Times New Roman" panose="02020603050405020304" pitchFamily="18" charset="0"/>
                <a:cs typeface="Times New Roman" panose="02020603050405020304" pitchFamily="18" charset="0"/>
              </a:rPr>
              <a:t>MORAL LEADERSHIP</a:t>
            </a:r>
          </a:p>
        </p:txBody>
      </p:sp>
      <p:sp>
        <p:nvSpPr>
          <p:cNvPr id="3" name="Content Placeholder 2"/>
          <p:cNvSpPr>
            <a:spLocks noGrp="1"/>
          </p:cNvSpPr>
          <p:nvPr>
            <p:ph idx="1"/>
          </p:nvPr>
        </p:nvSpPr>
        <p:spPr>
          <a:xfrm>
            <a:off x="914400" y="838200"/>
            <a:ext cx="8019288" cy="6019800"/>
          </a:xfrm>
        </p:spPr>
        <p:txBody>
          <a:bodyPr>
            <a:noAutofit/>
          </a:bodyPr>
          <a:lstStyle/>
          <a:p>
            <a:pPr algn="just"/>
            <a:r>
              <a:rPr lang="en-IN" sz="2400" dirty="0" smtClean="0">
                <a:latin typeface="Times New Roman" panose="02020603050405020304" pitchFamily="18" charset="0"/>
                <a:cs typeface="Times New Roman" panose="02020603050405020304" pitchFamily="18" charset="0"/>
              </a:rPr>
              <a:t>Moral leaders are the individuals who adopt reasonable </a:t>
            </a:r>
            <a:r>
              <a:rPr lang="en-IN" sz="2400" dirty="0">
                <a:latin typeface="Times New Roman" panose="02020603050405020304" pitchFamily="18" charset="0"/>
                <a:cs typeface="Times New Roman" panose="02020603050405020304" pitchFamily="18" charset="0"/>
              </a:rPr>
              <a:t>means to motivate the groups </a:t>
            </a:r>
            <a:r>
              <a:rPr lang="en-IN" sz="2400" dirty="0" smtClean="0">
                <a:latin typeface="Times New Roman" panose="02020603050405020304" pitchFamily="18" charset="0"/>
                <a:cs typeface="Times New Roman" panose="02020603050405020304" pitchFamily="18" charset="0"/>
              </a:rPr>
              <a:t>to achieve </a:t>
            </a:r>
            <a:r>
              <a:rPr lang="en-IN" sz="2400" dirty="0">
                <a:latin typeface="Times New Roman" panose="02020603050405020304" pitchFamily="18" charset="0"/>
                <a:cs typeface="Times New Roman" panose="02020603050405020304" pitchFamily="18" charset="0"/>
              </a:rPr>
              <a:t>morally desirable goals</a:t>
            </a:r>
            <a:r>
              <a:rPr lang="en-IN" sz="2400" dirty="0" smtClean="0">
                <a:latin typeface="Times New Roman" panose="02020603050405020304" pitchFamily="18" charset="0"/>
                <a:cs typeface="Times New Roman" panose="02020603050405020304" pitchFamily="18" charset="0"/>
              </a:rPr>
              <a:t>.</a:t>
            </a:r>
          </a:p>
          <a:p>
            <a:pPr algn="just"/>
            <a:endParaRPr lang="en-IN" sz="2400" dirty="0" smtClean="0">
              <a:latin typeface="Times New Roman" panose="02020603050405020304" pitchFamily="18" charset="0"/>
              <a:cs typeface="Times New Roman" panose="02020603050405020304" pitchFamily="18" charset="0"/>
            </a:endParaRPr>
          </a:p>
          <a:p>
            <a:pPr algn="just"/>
            <a:r>
              <a:rPr lang="en-IN" sz="2400" dirty="0" smtClean="0">
                <a:latin typeface="Times New Roman" panose="02020603050405020304" pitchFamily="18" charset="0"/>
                <a:cs typeface="Times New Roman" panose="02020603050405020304" pitchFamily="18" charset="0"/>
              </a:rPr>
              <a:t>Moral Leadership is required for </a:t>
            </a:r>
            <a:r>
              <a:rPr lang="en-IN" sz="2400" dirty="0">
                <a:latin typeface="Times New Roman" panose="02020603050405020304" pitchFamily="18" charset="0"/>
                <a:cs typeface="Times New Roman" panose="02020603050405020304" pitchFamily="18" charset="0"/>
              </a:rPr>
              <a:t>engineers, for the reasons listed as </a:t>
            </a:r>
            <a:r>
              <a:rPr lang="en-IN" sz="2400" dirty="0" smtClean="0">
                <a:latin typeface="Times New Roman" panose="02020603050405020304" pitchFamily="18" charset="0"/>
                <a:cs typeface="Times New Roman" panose="02020603050405020304" pitchFamily="18" charset="0"/>
              </a:rPr>
              <a:t>follows:</a:t>
            </a:r>
          </a:p>
          <a:p>
            <a:pPr lvl="1" algn="just"/>
            <a:r>
              <a:rPr lang="en-IN" sz="2200" b="1" i="1" dirty="0" smtClean="0">
                <a:latin typeface="Times New Roman" panose="02020603050405020304" pitchFamily="18" charset="0"/>
                <a:cs typeface="Times New Roman" panose="02020603050405020304" pitchFamily="18" charset="0"/>
              </a:rPr>
              <a:t>To build morally creative leaders </a:t>
            </a:r>
            <a:r>
              <a:rPr lang="en-IN" sz="2200" dirty="0" smtClean="0">
                <a:latin typeface="Times New Roman" panose="02020603050405020304" pitchFamily="18" charset="0"/>
                <a:cs typeface="Times New Roman" panose="02020603050405020304" pitchFamily="18" charset="0"/>
              </a:rPr>
              <a:t>– </a:t>
            </a:r>
          </a:p>
          <a:p>
            <a:pPr lvl="2" algn="just"/>
            <a:r>
              <a:rPr lang="en-IN" sz="1800" dirty="0" smtClean="0">
                <a:latin typeface="Times New Roman" panose="02020603050405020304" pitchFamily="18" charset="0"/>
                <a:cs typeface="Times New Roman" panose="02020603050405020304" pitchFamily="18" charset="0"/>
              </a:rPr>
              <a:t>The </a:t>
            </a:r>
            <a:r>
              <a:rPr lang="en-IN" sz="1800" dirty="0">
                <a:latin typeface="Times New Roman" panose="02020603050405020304" pitchFamily="18" charset="0"/>
                <a:cs typeface="Times New Roman" panose="02020603050405020304" pitchFamily="18" charset="0"/>
              </a:rPr>
              <a:t>leadership shall direct and motivate the group to move through morally desirable ways</a:t>
            </a:r>
            <a:r>
              <a:rPr lang="en-IN" sz="1800" dirty="0" smtClean="0">
                <a:latin typeface="Times New Roman" panose="02020603050405020304" pitchFamily="18" charset="0"/>
                <a:cs typeface="Times New Roman" panose="02020603050405020304" pitchFamily="18" charset="0"/>
              </a:rPr>
              <a:t>.</a:t>
            </a:r>
          </a:p>
          <a:p>
            <a:pPr lvl="2" algn="just"/>
            <a:r>
              <a:rPr lang="en-IN" sz="1800" dirty="0">
                <a:latin typeface="Times New Roman" panose="02020603050405020304" pitchFamily="18" charset="0"/>
                <a:cs typeface="Times New Roman" panose="02020603050405020304" pitchFamily="18" charset="0"/>
              </a:rPr>
              <a:t>They lead by thinking ahead in time, and morally creative towards new applications, </a:t>
            </a:r>
            <a:r>
              <a:rPr lang="en-IN" sz="1800" dirty="0" smtClean="0">
                <a:latin typeface="Times New Roman" panose="02020603050405020304" pitchFamily="18" charset="0"/>
                <a:cs typeface="Times New Roman" panose="02020603050405020304" pitchFamily="18" charset="0"/>
              </a:rPr>
              <a:t>extension and </a:t>
            </a:r>
            <a:r>
              <a:rPr lang="en-IN" sz="1800" dirty="0">
                <a:latin typeface="Times New Roman" panose="02020603050405020304" pitchFamily="18" charset="0"/>
                <a:cs typeface="Times New Roman" panose="02020603050405020304" pitchFamily="18" charset="0"/>
              </a:rPr>
              <a:t>putting values into practice</a:t>
            </a:r>
            <a:r>
              <a:rPr lang="en-IN" sz="1800" dirty="0" smtClean="0">
                <a:latin typeface="Times New Roman" panose="02020603050405020304" pitchFamily="18" charset="0"/>
                <a:cs typeface="Times New Roman" panose="02020603050405020304" pitchFamily="18" charset="0"/>
              </a:rPr>
              <a:t>.</a:t>
            </a:r>
          </a:p>
          <a:p>
            <a:pPr lvl="1" algn="just"/>
            <a:r>
              <a:rPr lang="en-IN" sz="2200" b="1" i="1" dirty="0" smtClean="0">
                <a:latin typeface="Times New Roman" panose="02020603050405020304" pitchFamily="18" charset="0"/>
                <a:cs typeface="Times New Roman" panose="02020603050405020304" pitchFamily="18" charset="0"/>
              </a:rPr>
              <a:t>Participation in Professional Societies</a:t>
            </a:r>
          </a:p>
          <a:p>
            <a:pPr lvl="1" algn="just"/>
            <a:r>
              <a:rPr lang="en-IN" sz="2200" b="1" i="1" dirty="0" smtClean="0">
                <a:latin typeface="Times New Roman" panose="02020603050405020304" pitchFamily="18" charset="0"/>
                <a:cs typeface="Times New Roman" panose="02020603050405020304" pitchFamily="18" charset="0"/>
              </a:rPr>
              <a:t>Voluntary Service</a:t>
            </a:r>
          </a:p>
          <a:p>
            <a:pPr lvl="1" algn="just"/>
            <a:r>
              <a:rPr lang="en-IN" sz="2200" b="1" i="1" dirty="0" smtClean="0">
                <a:latin typeface="Times New Roman" panose="02020603050405020304" pitchFamily="18" charset="0"/>
                <a:cs typeface="Times New Roman" panose="02020603050405020304" pitchFamily="18" charset="0"/>
              </a:rPr>
              <a:t>Leadership in Communities</a:t>
            </a:r>
          </a:p>
          <a:p>
            <a:pPr lvl="1" algn="just"/>
            <a:r>
              <a:rPr lang="en-IN" sz="2200" b="1" i="1" dirty="0" smtClean="0">
                <a:latin typeface="Times New Roman" panose="02020603050405020304" pitchFamily="18" charset="0"/>
                <a:cs typeface="Times New Roman" panose="02020603050405020304" pitchFamily="18" charset="0"/>
              </a:rPr>
              <a:t>Motivate the group</a:t>
            </a:r>
            <a:endParaRPr lang="en-IN" sz="22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13301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498080" cy="762000"/>
          </a:xfrm>
        </p:spPr>
        <p:txBody>
          <a:bodyPr/>
          <a:lstStyle/>
          <a:p>
            <a:r>
              <a:rPr lang="en-US" dirty="0" smtClean="0"/>
              <a:t>University Questions</a:t>
            </a:r>
            <a:endParaRPr lang="en-US" dirty="0"/>
          </a:p>
        </p:txBody>
      </p:sp>
      <p:sp>
        <p:nvSpPr>
          <p:cNvPr id="3" name="Content Placeholder 2"/>
          <p:cNvSpPr>
            <a:spLocks noGrp="1"/>
          </p:cNvSpPr>
          <p:nvPr>
            <p:ph idx="1"/>
          </p:nvPr>
        </p:nvSpPr>
        <p:spPr>
          <a:xfrm>
            <a:off x="990600" y="762000"/>
            <a:ext cx="7943088" cy="6096000"/>
          </a:xfrm>
        </p:spPr>
        <p:txBody>
          <a:bodyPr>
            <a:normAutofit fontScale="47500" lnSpcReduction="20000"/>
          </a:bodyPr>
          <a:lstStyle/>
          <a:p>
            <a:pPr marL="596646" indent="-514350">
              <a:buAutoNum type="arabicPeriod"/>
            </a:pPr>
            <a:r>
              <a:rPr lang="en-US" sz="4000" dirty="0" smtClean="0">
                <a:latin typeface="Times New Roman" pitchFamily="18" charset="0"/>
                <a:cs typeface="Times New Roman" pitchFamily="18" charset="0"/>
              </a:rPr>
              <a:t>Describe the various requirements for engineers who act as advisors. 	(3) </a:t>
            </a:r>
          </a:p>
          <a:p>
            <a:pPr marL="596646" indent="-514350">
              <a:buAutoNum type="arabicPeriod"/>
            </a:pPr>
            <a:r>
              <a:rPr lang="en-US" sz="4000" dirty="0" smtClean="0">
                <a:latin typeface="Times New Roman" pitchFamily="18" charset="0"/>
                <a:cs typeface="Times New Roman" pitchFamily="18" charset="0"/>
              </a:rPr>
              <a:t>List out the importance of Business Ethics. (3) </a:t>
            </a:r>
          </a:p>
          <a:p>
            <a:pPr marL="596646" indent="-514350">
              <a:buFont typeface="Wingdings 2"/>
              <a:buAutoNum type="arabicPeriod"/>
            </a:pPr>
            <a:r>
              <a:rPr lang="en-US" sz="4000" dirty="0" smtClean="0">
                <a:latin typeface="Times New Roman" pitchFamily="18" charset="0"/>
                <a:cs typeface="Times New Roman" pitchFamily="18" charset="0"/>
              </a:rPr>
              <a:t>What is environmental ethics?(3)</a:t>
            </a:r>
          </a:p>
          <a:p>
            <a:pPr marL="596646" indent="-514350">
              <a:buAutoNum type="arabicPeriod"/>
            </a:pPr>
            <a:r>
              <a:rPr lang="en-US" sz="4000" dirty="0" smtClean="0">
                <a:latin typeface="Times New Roman" pitchFamily="18" charset="0"/>
                <a:cs typeface="Times New Roman" pitchFamily="18" charset="0"/>
              </a:rPr>
              <a:t> Justify the need of moral leadership in today’s business environment?(</a:t>
            </a:r>
            <a:r>
              <a:rPr lang="en-US" sz="4000" dirty="0" smtClean="0">
                <a:latin typeface="Times New Roman" pitchFamily="18" charset="0"/>
                <a:cs typeface="Times New Roman" pitchFamily="18" charset="0"/>
              </a:rPr>
              <a:t>3)</a:t>
            </a:r>
          </a:p>
          <a:p>
            <a:pPr marL="596646" indent="-514350">
              <a:buAutoNum type="arabicPeriod"/>
            </a:pPr>
            <a:r>
              <a:rPr lang="en-IN" sz="3800" dirty="0">
                <a:latin typeface="Times New Roman" pitchFamily="18" charset="0"/>
                <a:cs typeface="Times New Roman" pitchFamily="18" charset="0"/>
              </a:rPr>
              <a:t>What are the fundamental duties to be kept in mind while engineers </a:t>
            </a:r>
            <a:r>
              <a:rPr lang="en-IN" sz="3800" dirty="0" err="1">
                <a:latin typeface="Times New Roman" pitchFamily="18" charset="0"/>
                <a:cs typeface="Times New Roman" pitchFamily="18" charset="0"/>
              </a:rPr>
              <a:t>fulfill</a:t>
            </a:r>
            <a:r>
              <a:rPr lang="en-IN" sz="3800" dirty="0">
                <a:latin typeface="Times New Roman" pitchFamily="18" charset="0"/>
                <a:cs typeface="Times New Roman" pitchFamily="18" charset="0"/>
              </a:rPr>
              <a:t> their professional duties? (3</a:t>
            </a:r>
            <a:r>
              <a:rPr lang="en-IN" sz="3800" dirty="0" smtClean="0">
                <a:latin typeface="Times New Roman" pitchFamily="18" charset="0"/>
                <a:cs typeface="Times New Roman" pitchFamily="18" charset="0"/>
              </a:rPr>
              <a:t>)</a:t>
            </a:r>
            <a:endParaRPr lang="en-US" sz="4000" dirty="0" smtClean="0">
              <a:latin typeface="Times New Roman" pitchFamily="18" charset="0"/>
              <a:cs typeface="Times New Roman" pitchFamily="18" charset="0"/>
            </a:endParaRPr>
          </a:p>
          <a:p>
            <a:pPr marL="596646" indent="-514350">
              <a:buAutoNum type="arabicPeriod"/>
            </a:pPr>
            <a:r>
              <a:rPr lang="en-US" sz="4000" dirty="0" smtClean="0">
                <a:latin typeface="Times New Roman" pitchFamily="18" charset="0"/>
                <a:cs typeface="Times New Roman" pitchFamily="18" charset="0"/>
              </a:rPr>
              <a:t>Describe the two world views on Environmental Ethics.(8)</a:t>
            </a:r>
          </a:p>
          <a:p>
            <a:pPr marL="596646" indent="-514350">
              <a:buAutoNum type="arabicPeriod"/>
            </a:pPr>
            <a:endParaRPr lang="en-US" sz="4000" dirty="0" smtClean="0">
              <a:latin typeface="Times New Roman" pitchFamily="18" charset="0"/>
              <a:cs typeface="Times New Roman" pitchFamily="18" charset="0"/>
            </a:endParaRPr>
          </a:p>
          <a:p>
            <a:pPr marL="596646" indent="-514350">
              <a:buAutoNum type="arabicPeriod"/>
            </a:pPr>
            <a:r>
              <a:rPr lang="en-US" sz="4000" dirty="0" smtClean="0">
                <a:latin typeface="Times New Roman" pitchFamily="18" charset="0"/>
                <a:cs typeface="Times New Roman" pitchFamily="18" charset="0"/>
              </a:rPr>
              <a:t>Explain the different types of issues in Computer Ethics.(6)</a:t>
            </a:r>
          </a:p>
          <a:p>
            <a:pPr marL="596646" indent="-514350">
              <a:buAutoNum type="arabicPeriod"/>
            </a:pPr>
            <a:endParaRPr lang="en-US" sz="4000" dirty="0" smtClean="0">
              <a:latin typeface="Times New Roman" pitchFamily="18" charset="0"/>
              <a:cs typeface="Times New Roman" pitchFamily="18" charset="0"/>
            </a:endParaRPr>
          </a:p>
          <a:p>
            <a:pPr marL="596646" indent="-514350">
              <a:buAutoNum type="arabicPeriod"/>
            </a:pPr>
            <a:r>
              <a:rPr lang="en-US" sz="4000" dirty="0" smtClean="0">
                <a:latin typeface="Times New Roman" pitchFamily="18" charset="0"/>
                <a:cs typeface="Times New Roman" pitchFamily="18" charset="0"/>
              </a:rPr>
              <a:t>Explain the features, advantages and limitations of MNCs.(14)</a:t>
            </a:r>
          </a:p>
          <a:p>
            <a:pPr marL="596646" indent="-514350">
              <a:buAutoNum type="arabicPeriod"/>
            </a:pPr>
            <a:endParaRPr lang="en-US" sz="4000" dirty="0" smtClean="0">
              <a:latin typeface="Times New Roman" pitchFamily="18" charset="0"/>
              <a:cs typeface="Times New Roman" pitchFamily="18" charset="0"/>
            </a:endParaRPr>
          </a:p>
          <a:p>
            <a:pPr marL="596646" indent="-514350">
              <a:buAutoNum type="arabicPeriod"/>
            </a:pPr>
            <a:r>
              <a:rPr lang="en-US" sz="4000" dirty="0" smtClean="0">
                <a:latin typeface="Times New Roman" pitchFamily="18" charset="0"/>
                <a:cs typeface="Times New Roman" pitchFamily="18" charset="0"/>
              </a:rPr>
              <a:t>Discuss in detail about the moral and ethical issues involved in the use of computers and internet with examples.(14)</a:t>
            </a:r>
          </a:p>
          <a:p>
            <a:pPr marL="596646" indent="-514350">
              <a:buAutoNum type="arabicPeriod"/>
            </a:pPr>
            <a:endParaRPr lang="en-US" sz="4000" dirty="0" smtClean="0">
              <a:latin typeface="Times New Roman" pitchFamily="18" charset="0"/>
              <a:cs typeface="Times New Roman" pitchFamily="18" charset="0"/>
            </a:endParaRPr>
          </a:p>
          <a:p>
            <a:pPr marL="596646" indent="-514350">
              <a:buAutoNum type="arabicPeriod"/>
            </a:pPr>
            <a:r>
              <a:rPr lang="en-US" sz="4000" dirty="0" smtClean="0">
                <a:latin typeface="Times New Roman" pitchFamily="18" charset="0"/>
                <a:cs typeface="Times New Roman" pitchFamily="18" charset="0"/>
              </a:rPr>
              <a:t>Discuss the following in detail: (14 marks)</a:t>
            </a:r>
          </a:p>
          <a:p>
            <a:pPr marL="596646" indent="-514350">
              <a:buNone/>
            </a:pPr>
            <a:r>
              <a:rPr lang="en-US" sz="4000" dirty="0" smtClean="0">
                <a:latin typeface="Times New Roman" pitchFamily="18" charset="0"/>
                <a:cs typeface="Times New Roman" pitchFamily="18" charset="0"/>
              </a:rPr>
              <a:t>	a) Engineers as consultants</a:t>
            </a:r>
          </a:p>
          <a:p>
            <a:pPr marL="596646" indent="-514350">
              <a:buNone/>
            </a:pPr>
            <a:r>
              <a:rPr lang="en-US" sz="4000" dirty="0" smtClean="0">
                <a:latin typeface="Times New Roman" pitchFamily="18" charset="0"/>
                <a:cs typeface="Times New Roman" pitchFamily="18" charset="0"/>
              </a:rPr>
              <a:t>	b) Engineers as expert witnesses</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76200"/>
            <a:ext cx="8153400" cy="6781800"/>
          </a:xfrm>
        </p:spPr>
        <p:txBody>
          <a:bodyPr>
            <a:normAutofit fontScale="55000" lnSpcReduction="20000"/>
          </a:bodyPr>
          <a:lstStyle/>
          <a:p>
            <a:pPr>
              <a:buNone/>
            </a:pPr>
            <a:r>
              <a:rPr lang="en-US" sz="3400" dirty="0" smtClean="0">
                <a:latin typeface="Times New Roman" pitchFamily="18" charset="0"/>
                <a:cs typeface="Times New Roman" pitchFamily="18" charset="0"/>
              </a:rPr>
              <a:t>1. What is Environmental Ethics? </a:t>
            </a:r>
          </a:p>
          <a:p>
            <a:pPr>
              <a:buNone/>
            </a:pPr>
            <a:r>
              <a:rPr lang="en-US" sz="3400" dirty="0" smtClean="0">
                <a:latin typeface="Times New Roman" pitchFamily="18" charset="0"/>
                <a:cs typeface="Times New Roman" pitchFamily="18" charset="0"/>
              </a:rPr>
              <a:t>2. What is CSR?</a:t>
            </a:r>
          </a:p>
          <a:p>
            <a:pPr>
              <a:buNone/>
            </a:pPr>
            <a:r>
              <a:rPr lang="en-US" sz="3400" dirty="0" smtClean="0">
                <a:latin typeface="Times New Roman" pitchFamily="18" charset="0"/>
                <a:cs typeface="Times New Roman" pitchFamily="18" charset="0"/>
              </a:rPr>
              <a:t>3. What is meant by globalization? </a:t>
            </a:r>
          </a:p>
          <a:p>
            <a:pPr>
              <a:buNone/>
            </a:pPr>
            <a:r>
              <a:rPr lang="en-US" sz="3400" dirty="0" smtClean="0">
                <a:latin typeface="Times New Roman" pitchFamily="18" charset="0"/>
                <a:cs typeface="Times New Roman" pitchFamily="18" charset="0"/>
              </a:rPr>
              <a:t>4. What is meant by moral leadership? </a:t>
            </a:r>
          </a:p>
          <a:p>
            <a:pPr>
              <a:buNone/>
            </a:pPr>
            <a:r>
              <a:rPr lang="en-US" sz="3400" dirty="0" smtClean="0">
                <a:latin typeface="Times New Roman" pitchFamily="18" charset="0"/>
                <a:cs typeface="Times New Roman" pitchFamily="18" charset="0"/>
              </a:rPr>
              <a:t> </a:t>
            </a:r>
          </a:p>
          <a:p>
            <a:pPr>
              <a:buNone/>
            </a:pPr>
            <a:r>
              <a:rPr lang="en-US" sz="3400" dirty="0" smtClean="0">
                <a:latin typeface="Times New Roman" pitchFamily="18" charset="0"/>
                <a:cs typeface="Times New Roman" pitchFamily="18" charset="0"/>
              </a:rPr>
              <a:t>PART B </a:t>
            </a:r>
          </a:p>
          <a:p>
            <a:pPr>
              <a:buNone/>
            </a:pPr>
            <a:r>
              <a:rPr lang="en-US" sz="3400" dirty="0" smtClean="0">
                <a:latin typeface="Times New Roman" pitchFamily="18" charset="0"/>
                <a:cs typeface="Times New Roman" pitchFamily="18" charset="0"/>
              </a:rPr>
              <a:t>1. Discuss the role and importance of Ethics in Engineering? </a:t>
            </a:r>
          </a:p>
          <a:p>
            <a:pPr>
              <a:buNone/>
            </a:pPr>
            <a:r>
              <a:rPr lang="en-US" sz="3400" dirty="0" smtClean="0">
                <a:latin typeface="Times New Roman" pitchFamily="18" charset="0"/>
                <a:cs typeface="Times New Roman" pitchFamily="18" charset="0"/>
              </a:rPr>
              <a:t>2. Explain the significance of environmental ethics for an engineer with suitable example </a:t>
            </a:r>
          </a:p>
          <a:p>
            <a:pPr>
              <a:buNone/>
            </a:pPr>
            <a:r>
              <a:rPr lang="en-US" sz="3400" dirty="0" smtClean="0">
                <a:latin typeface="Times New Roman" pitchFamily="18" charset="0"/>
                <a:cs typeface="Times New Roman" pitchFamily="18" charset="0"/>
              </a:rPr>
              <a:t>3. Discuss the role of ethical engineers in weapon development with suitable examples </a:t>
            </a:r>
          </a:p>
          <a:p>
            <a:pPr>
              <a:buNone/>
            </a:pPr>
            <a:r>
              <a:rPr lang="en-US" sz="3400" dirty="0" smtClean="0">
                <a:latin typeface="Times New Roman" pitchFamily="18" charset="0"/>
                <a:cs typeface="Times New Roman" pitchFamily="18" charset="0"/>
              </a:rPr>
              <a:t>4. Justify engineers as expert witnesses and advisors with suitable examples</a:t>
            </a:r>
          </a:p>
          <a:p>
            <a:pPr>
              <a:buNone/>
            </a:pPr>
            <a:r>
              <a:rPr lang="en-US" sz="3400" dirty="0" smtClean="0">
                <a:latin typeface="Times New Roman" pitchFamily="18" charset="0"/>
                <a:cs typeface="Times New Roman" pitchFamily="18" charset="0"/>
              </a:rPr>
              <a:t>5. Explain the different types of issues in computer ethics</a:t>
            </a:r>
          </a:p>
          <a:p>
            <a:pPr>
              <a:buNone/>
            </a:pPr>
            <a:r>
              <a:rPr lang="en-US" sz="3400" dirty="0" smtClean="0">
                <a:latin typeface="Times New Roman" pitchFamily="18" charset="0"/>
                <a:cs typeface="Times New Roman" pitchFamily="18" charset="0"/>
              </a:rPr>
              <a:t>6. What are the various conflict situations faced by a project manager managing a work site </a:t>
            </a:r>
          </a:p>
          <a:p>
            <a:pPr>
              <a:buNone/>
            </a:pPr>
            <a:r>
              <a:rPr lang="en-US" sz="3400" dirty="0" smtClean="0">
                <a:latin typeface="Times New Roman" pitchFamily="18" charset="0"/>
                <a:cs typeface="Times New Roman" pitchFamily="18" charset="0"/>
              </a:rPr>
              <a:t>7. Explain human centered ethics with nature centered Ethics .</a:t>
            </a:r>
          </a:p>
          <a:p>
            <a:pPr>
              <a:buNone/>
            </a:pPr>
            <a:r>
              <a:rPr lang="en-US" sz="3400" dirty="0" smtClean="0">
                <a:latin typeface="Times New Roman" pitchFamily="18" charset="0"/>
                <a:cs typeface="Times New Roman" pitchFamily="18" charset="0"/>
              </a:rPr>
              <a:t>8. Discuss the merits and demerits of </a:t>
            </a:r>
            <a:r>
              <a:rPr lang="en-US" sz="3400" dirty="0" smtClean="0">
                <a:latin typeface="Times New Roman" pitchFamily="18" charset="0"/>
                <a:cs typeface="Times New Roman" pitchFamily="18" charset="0"/>
              </a:rPr>
              <a:t>MNC’s</a:t>
            </a:r>
          </a:p>
          <a:p>
            <a:pPr>
              <a:buNone/>
            </a:pPr>
            <a:r>
              <a:rPr lang="en-IN" sz="3100" dirty="0" smtClean="0">
                <a:latin typeface="Times New Roman" pitchFamily="18" charset="0"/>
                <a:cs typeface="Times New Roman" pitchFamily="18" charset="0"/>
              </a:rPr>
              <a:t>9. What </a:t>
            </a:r>
            <a:r>
              <a:rPr lang="en-IN" sz="3100" dirty="0">
                <a:latin typeface="Times New Roman" pitchFamily="18" charset="0"/>
                <a:cs typeface="Times New Roman" pitchFamily="18" charset="0"/>
              </a:rPr>
              <a:t>is the role of Computers in Technological development? Recall the ten commandments in Computer ethics? (7) </a:t>
            </a:r>
            <a:endParaRPr lang="en-IN" sz="3100" dirty="0" smtClean="0">
              <a:latin typeface="Times New Roman" pitchFamily="18" charset="0"/>
              <a:cs typeface="Times New Roman" pitchFamily="18" charset="0"/>
            </a:endParaRPr>
          </a:p>
          <a:p>
            <a:pPr>
              <a:buNone/>
            </a:pPr>
            <a:r>
              <a:rPr lang="en-IN" sz="3100" dirty="0">
                <a:latin typeface="Times New Roman" pitchFamily="18" charset="0"/>
                <a:cs typeface="Times New Roman" pitchFamily="18" charset="0"/>
              </a:rPr>
              <a:t>	</a:t>
            </a:r>
            <a:r>
              <a:rPr lang="en-IN" sz="3100" dirty="0" smtClean="0">
                <a:latin typeface="Times New Roman" pitchFamily="18" charset="0"/>
                <a:cs typeface="Times New Roman" pitchFamily="18" charset="0"/>
              </a:rPr>
              <a:t>(</a:t>
            </a:r>
            <a:r>
              <a:rPr lang="en-IN" sz="3100" dirty="0">
                <a:latin typeface="Times New Roman" pitchFamily="18" charset="0"/>
                <a:cs typeface="Times New Roman" pitchFamily="18" charset="0"/>
              </a:rPr>
              <a:t>b) What do you understand by moral leadership? Explain </a:t>
            </a:r>
            <a:r>
              <a:rPr lang="en-IN" sz="3100" dirty="0" smtClean="0">
                <a:latin typeface="Times New Roman" pitchFamily="18" charset="0"/>
                <a:cs typeface="Times New Roman" pitchFamily="18" charset="0"/>
              </a:rPr>
              <a:t>(</a:t>
            </a:r>
            <a:r>
              <a:rPr lang="en-IN" sz="3100" dirty="0">
                <a:latin typeface="Times New Roman" pitchFamily="18" charset="0"/>
                <a:cs typeface="Times New Roman" pitchFamily="18" charset="0"/>
              </a:rPr>
              <a:t>7) </a:t>
            </a:r>
            <a:endParaRPr lang="en-IN" sz="3100" dirty="0" smtClean="0">
              <a:latin typeface="Times New Roman" pitchFamily="18" charset="0"/>
              <a:cs typeface="Times New Roman" pitchFamily="18" charset="0"/>
            </a:endParaRPr>
          </a:p>
          <a:p>
            <a:pPr>
              <a:buNone/>
            </a:pPr>
            <a:r>
              <a:rPr lang="en-IN" sz="3100" dirty="0" smtClean="0">
                <a:latin typeface="Times New Roman" pitchFamily="18" charset="0"/>
                <a:cs typeface="Times New Roman" pitchFamily="18" charset="0"/>
              </a:rPr>
              <a:t>10 </a:t>
            </a:r>
            <a:r>
              <a:rPr lang="en-IN" sz="3100" dirty="0">
                <a:latin typeface="Times New Roman" pitchFamily="18" charset="0"/>
                <a:cs typeface="Times New Roman" pitchFamily="18" charset="0"/>
              </a:rPr>
              <a:t>(a) What are the salient features of MNC? List the merits and demerits of MNCS in the host country? (7) </a:t>
            </a:r>
            <a:endParaRPr lang="en-IN" sz="3100" dirty="0" smtClean="0">
              <a:latin typeface="Times New Roman" pitchFamily="18" charset="0"/>
              <a:cs typeface="Times New Roman" pitchFamily="18" charset="0"/>
            </a:endParaRPr>
          </a:p>
          <a:p>
            <a:pPr>
              <a:buNone/>
            </a:pPr>
            <a:r>
              <a:rPr lang="en-IN" sz="3100" dirty="0" smtClean="0">
                <a:latin typeface="Times New Roman" pitchFamily="18" charset="0"/>
                <a:cs typeface="Times New Roman" pitchFamily="18" charset="0"/>
              </a:rPr>
              <a:t>(</a:t>
            </a:r>
            <a:r>
              <a:rPr lang="en-IN" sz="3100" dirty="0">
                <a:latin typeface="Times New Roman" pitchFamily="18" charset="0"/>
                <a:cs typeface="Times New Roman" pitchFamily="18" charset="0"/>
              </a:rPr>
              <a:t>b) Point out the responsibilities of consulting engineers? </a:t>
            </a:r>
            <a:r>
              <a:rPr lang="en-IN" sz="3100" dirty="0" smtClean="0">
                <a:latin typeface="Times New Roman" pitchFamily="18" charset="0"/>
                <a:cs typeface="Times New Roman" pitchFamily="18" charset="0"/>
              </a:rPr>
              <a:t>(</a:t>
            </a:r>
            <a:r>
              <a:rPr lang="en-IN" sz="3100" dirty="0">
                <a:latin typeface="Times New Roman" pitchFamily="18" charset="0"/>
                <a:cs typeface="Times New Roman" pitchFamily="18" charset="0"/>
              </a:rPr>
              <a:t>7) </a:t>
            </a:r>
            <a:endParaRPr lang="en-US" sz="3100" dirty="0" smtClean="0">
              <a:latin typeface="Times New Roman" pitchFamily="18" charset="0"/>
              <a:cs typeface="Times New Roman" pitchFamily="18" charset="0"/>
            </a:endParaRP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372CB6AEA17F64A849F517D41DF1CC3" ma:contentTypeVersion="2" ma:contentTypeDescription="Create a new document." ma:contentTypeScope="" ma:versionID="a9e7fb790f1f000b77a0be4639b52e19">
  <xsd:schema xmlns:xsd="http://www.w3.org/2001/XMLSchema" xmlns:xs="http://www.w3.org/2001/XMLSchema" xmlns:p="http://schemas.microsoft.com/office/2006/metadata/properties" xmlns:ns2="5b34f6ea-6ba5-4f9a-8468-2276eeedaef2" targetNamespace="http://schemas.microsoft.com/office/2006/metadata/properties" ma:root="true" ma:fieldsID="df654fc844fbcbc089734ba4b31cffc5" ns2:_="">
    <xsd:import namespace="5b34f6ea-6ba5-4f9a-8468-2276eeedaef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34f6ea-6ba5-4f9a-8468-2276eeedaef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4AEAC58-0B36-4BC6-81CF-C0C07481B06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43290D3-02B1-477C-9418-BC0D6838BF0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34f6ea-6ba5-4f9a-8468-2276eeedae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FB442E3-957C-4442-A4F3-3CFBF245C7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Solstice</Template>
  <TotalTime>4483</TotalTime>
  <Words>1773</Words>
  <Application>Microsoft Office PowerPoint</Application>
  <PresentationFormat>On-screen Show (4:3)</PresentationFormat>
  <Paragraphs>253</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Solstice</vt:lpstr>
      <vt:lpstr>PROFESSIONAL ETHICS  (HUT 200)</vt:lpstr>
      <vt:lpstr>Syllabus</vt:lpstr>
      <vt:lpstr>  MULTINATIONAL CORPORATIONS     (MNCs)</vt:lpstr>
      <vt:lpstr>PowerPoint Presentation</vt:lpstr>
      <vt:lpstr>PowerPoint Presentation</vt:lpstr>
      <vt:lpstr>PowerPoint Presentation</vt:lpstr>
      <vt:lpstr>PowerPoint Presentation</vt:lpstr>
      <vt:lpstr>PowerPoint Presentation</vt:lpstr>
      <vt:lpstr>ENVIRONMENTAL ETHICS</vt:lpstr>
      <vt:lpstr>Two world views on Environmental ethics </vt:lpstr>
      <vt:lpstr>PowerPoint Presentation</vt:lpstr>
      <vt:lpstr>PowerPoint Presentation</vt:lpstr>
      <vt:lpstr>PowerPoint Presentation</vt:lpstr>
      <vt:lpstr>PowerPoint Presentation</vt:lpstr>
      <vt:lpstr>BUSINESS ETHICS</vt:lpstr>
      <vt:lpstr>Factors Considered</vt:lpstr>
      <vt:lpstr>PowerPoint Presentation</vt:lpstr>
      <vt:lpstr>COMPUTER ETHICS</vt:lpstr>
      <vt:lpstr>PowerPoint Presentation</vt:lpstr>
      <vt:lpstr>PowerPoint Presentation</vt:lpstr>
      <vt:lpstr>Computers in Workplace</vt:lpstr>
      <vt:lpstr>ENGINEERS AS MANAGERS</vt:lpstr>
      <vt:lpstr>PowerPoint Presentation</vt:lpstr>
      <vt:lpstr>PowerPoint Presentation</vt:lpstr>
      <vt:lpstr>CONSULTING ENGINEERS</vt:lpstr>
      <vt:lpstr>PowerPoint Presentation</vt:lpstr>
      <vt:lpstr>ENGINEERS AS EXPERT WITNESS</vt:lpstr>
      <vt:lpstr>PowerPoint Presentation</vt:lpstr>
      <vt:lpstr>PowerPoint Presentation</vt:lpstr>
      <vt:lpstr>ENGINEERS AS ADVISORS IN PLANNING AND POLICY MAKING</vt:lpstr>
      <vt:lpstr>PowerPoint Presentation</vt:lpstr>
      <vt:lpstr>MORAL LEADERSHIP</vt:lpstr>
      <vt:lpstr>University Questions</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ETHICS  (HUT 200)</dc:title>
  <cp:lastModifiedBy>Ms. Cinita Mary Mathew</cp:lastModifiedBy>
  <cp:revision>236</cp:revision>
  <dcterms:created xsi:type="dcterms:W3CDTF">2006-08-16T00:00:00Z</dcterms:created>
  <dcterms:modified xsi:type="dcterms:W3CDTF">2024-05-08T09:15:33Z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0x0101006372CB6AEA17F64A849F517D41DF1CC3</vt:lpwstr>
  </property>
</Properties>
</file>