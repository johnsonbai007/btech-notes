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34"/>
  </p:notesMasterIdLst>
  <p:handoutMasterIdLst>
    <p:handoutMasterId r:id="rId35"/>
  </p:handoutMasterIdLst>
  <p:sldIdLst>
    <p:sldId id="256" r:id="rId5"/>
    <p:sldId id="269" r:id="rId6"/>
    <p:sldId id="270" r:id="rId7"/>
    <p:sldId id="271" r:id="rId8"/>
    <p:sldId id="272" r:id="rId9"/>
    <p:sldId id="273" r:id="rId10"/>
    <p:sldId id="274" r:id="rId11"/>
    <p:sldId id="279" r:id="rId12"/>
    <p:sldId id="280" r:id="rId13"/>
    <p:sldId id="275" r:id="rId14"/>
    <p:sldId id="296" r:id="rId15"/>
    <p:sldId id="297" r:id="rId16"/>
    <p:sldId id="276" r:id="rId17"/>
    <p:sldId id="277" r:id="rId18"/>
    <p:sldId id="278" r:id="rId19"/>
    <p:sldId id="281" r:id="rId20"/>
    <p:sldId id="282" r:id="rId21"/>
    <p:sldId id="283" r:id="rId22"/>
    <p:sldId id="284" r:id="rId23"/>
    <p:sldId id="287" r:id="rId24"/>
    <p:sldId id="288" r:id="rId25"/>
    <p:sldId id="289" r:id="rId26"/>
    <p:sldId id="290" r:id="rId27"/>
    <p:sldId id="291" r:id="rId28"/>
    <p:sldId id="292" r:id="rId29"/>
    <p:sldId id="293" r:id="rId30"/>
    <p:sldId id="294" r:id="rId31"/>
    <p:sldId id="295" r:id="rId32"/>
    <p:sldId id="298" r:id="rId33"/>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42A5EB-C00D-429C-9EFA-996A38DB72AF}" v="40" dt="2022-03-22T10:42:27.0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435" autoAdjust="0"/>
  </p:normalViewPr>
  <p:slideViewPr>
    <p:cSldViewPr>
      <p:cViewPr varScale="1">
        <p:scale>
          <a:sx n="62" d="100"/>
          <a:sy n="62" d="100"/>
        </p:scale>
        <p:origin x="-156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Neenu Daniel" userId="S::csfac111@viswajyothicet.onmicrosoft.com::9378f2b8-d14c-4c0f-8b2f-1594aa7db6e9" providerId="AD" clId="Web-{8442A5EB-C00D-429C-9EFA-996A38DB72AF}"/>
    <pc:docChg chg="modSld">
      <pc:chgData name="Ms. Neenu Daniel" userId="S::csfac111@viswajyothicet.onmicrosoft.com::9378f2b8-d14c-4c0f-8b2f-1594aa7db6e9" providerId="AD" clId="Web-{8442A5EB-C00D-429C-9EFA-996A38DB72AF}" dt="2022-03-22T10:42:27.095" v="43"/>
      <pc:docMkLst>
        <pc:docMk/>
      </pc:docMkLst>
      <pc:sldChg chg="addSp">
        <pc:chgData name="Ms. Neenu Daniel" userId="S::csfac111@viswajyothicet.onmicrosoft.com::9378f2b8-d14c-4c0f-8b2f-1594aa7db6e9" providerId="AD" clId="Web-{8442A5EB-C00D-429C-9EFA-996A38DB72AF}" dt="2022-03-22T10:42:27.095" v="43"/>
        <pc:sldMkLst>
          <pc:docMk/>
          <pc:sldMk cId="920429683" sldId="270"/>
        </pc:sldMkLst>
        <pc:spChg chg="add">
          <ac:chgData name="Ms. Neenu Daniel" userId="S::csfac111@viswajyothicet.onmicrosoft.com::9378f2b8-d14c-4c0f-8b2f-1594aa7db6e9" providerId="AD" clId="Web-{8442A5EB-C00D-429C-9EFA-996A38DB72AF}" dt="2022-03-22T10:42:27.095" v="43"/>
          <ac:spMkLst>
            <pc:docMk/>
            <pc:sldMk cId="920429683" sldId="270"/>
            <ac:spMk id="4" creationId="{38E232B8-E451-63D7-A7DA-DCC5C3D6B779}"/>
          </ac:spMkLst>
        </pc:spChg>
      </pc:sldChg>
      <pc:sldChg chg="modSp">
        <pc:chgData name="Ms. Neenu Daniel" userId="S::csfac111@viswajyothicet.onmicrosoft.com::9378f2b8-d14c-4c0f-8b2f-1594aa7db6e9" providerId="AD" clId="Web-{8442A5EB-C00D-429C-9EFA-996A38DB72AF}" dt="2022-03-22T10:12:57.735" v="5" actId="20577"/>
        <pc:sldMkLst>
          <pc:docMk/>
          <pc:sldMk cId="0" sldId="290"/>
        </pc:sldMkLst>
        <pc:spChg chg="mod">
          <ac:chgData name="Ms. Neenu Daniel" userId="S::csfac111@viswajyothicet.onmicrosoft.com::9378f2b8-d14c-4c0f-8b2f-1594aa7db6e9" providerId="AD" clId="Web-{8442A5EB-C00D-429C-9EFA-996A38DB72AF}" dt="2022-03-22T10:12:57.735" v="5" actId="20577"/>
          <ac:spMkLst>
            <pc:docMk/>
            <pc:sldMk cId="0" sldId="290"/>
            <ac:spMk id="3" creationId="{00000000-0000-0000-0000-000000000000}"/>
          </ac:spMkLst>
        </pc:spChg>
      </pc:sldChg>
      <pc:sldChg chg="modSp">
        <pc:chgData name="Ms. Neenu Daniel" userId="S::csfac111@viswajyothicet.onmicrosoft.com::9378f2b8-d14c-4c0f-8b2f-1594aa7db6e9" providerId="AD" clId="Web-{8442A5EB-C00D-429C-9EFA-996A38DB72AF}" dt="2022-03-22T10:13:15.094" v="13" actId="20577"/>
        <pc:sldMkLst>
          <pc:docMk/>
          <pc:sldMk cId="0" sldId="292"/>
        </pc:sldMkLst>
        <pc:spChg chg="mod">
          <ac:chgData name="Ms. Neenu Daniel" userId="S::csfac111@viswajyothicet.onmicrosoft.com::9378f2b8-d14c-4c0f-8b2f-1594aa7db6e9" providerId="AD" clId="Web-{8442A5EB-C00D-429C-9EFA-996A38DB72AF}" dt="2022-03-22T10:13:15.094" v="13" actId="20577"/>
          <ac:spMkLst>
            <pc:docMk/>
            <pc:sldMk cId="0" sldId="292"/>
            <ac:spMk id="3" creationId="{00000000-0000-0000-0000-000000000000}"/>
          </ac:spMkLst>
        </pc:spChg>
      </pc:sldChg>
      <pc:sldChg chg="modSp">
        <pc:chgData name="Ms. Neenu Daniel" userId="S::csfac111@viswajyothicet.onmicrosoft.com::9378f2b8-d14c-4c0f-8b2f-1594aa7db6e9" providerId="AD" clId="Web-{8442A5EB-C00D-429C-9EFA-996A38DB72AF}" dt="2022-03-22T10:14:22.564" v="42" actId="20577"/>
        <pc:sldMkLst>
          <pc:docMk/>
          <pc:sldMk cId="0" sldId="293"/>
        </pc:sldMkLst>
        <pc:spChg chg="mod">
          <ac:chgData name="Ms. Neenu Daniel" userId="S::csfac111@viswajyothicet.onmicrosoft.com::9378f2b8-d14c-4c0f-8b2f-1594aa7db6e9" providerId="AD" clId="Web-{8442A5EB-C00D-429C-9EFA-996A38DB72AF}" dt="2022-03-22T10:14:22.564" v="42" actId="20577"/>
          <ac:spMkLst>
            <pc:docMk/>
            <pc:sldMk cId="0" sldId="293"/>
            <ac:spMk id="3" creationId="{00000000-0000-0000-0000-000000000000}"/>
          </ac:spMkLst>
        </pc:spChg>
      </pc:sldChg>
      <pc:sldChg chg="modSp">
        <pc:chgData name="Ms. Neenu Daniel" userId="S::csfac111@viswajyothicet.onmicrosoft.com::9378f2b8-d14c-4c0f-8b2f-1594aa7db6e9" providerId="AD" clId="Web-{8442A5EB-C00D-429C-9EFA-996A38DB72AF}" dt="2022-03-22T10:13:22.032" v="14" actId="14100"/>
        <pc:sldMkLst>
          <pc:docMk/>
          <pc:sldMk cId="0" sldId="294"/>
        </pc:sldMkLst>
        <pc:spChg chg="mod">
          <ac:chgData name="Ms. Neenu Daniel" userId="S::csfac111@viswajyothicet.onmicrosoft.com::9378f2b8-d14c-4c0f-8b2f-1594aa7db6e9" providerId="AD" clId="Web-{8442A5EB-C00D-429C-9EFA-996A38DB72AF}" dt="2022-03-22T10:13:22.032" v="14" actId="14100"/>
          <ac:spMkLst>
            <pc:docMk/>
            <pc:sldMk cId="0" sldId="294"/>
            <ac:spMk id="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DBD2C918-CE5B-425C-9B75-2A1D701850C5}" type="datetimeFigureOut">
              <a:rPr lang="en-US" smtClean="0"/>
              <a:pPr/>
              <a:t>4/3/2024</a:t>
            </a:fld>
            <a:endParaRPr lang="en-US"/>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396E2F72-1456-4A25-9D6C-9C05295141F0}" type="slidenum">
              <a:rPr lang="en-US" smtClean="0"/>
              <a:pPr/>
              <a:t>‹#›</a:t>
            </a:fld>
            <a:endParaRPr lang="en-US"/>
          </a:p>
        </p:txBody>
      </p:sp>
    </p:spTree>
    <p:extLst>
      <p:ext uri="{BB962C8B-B14F-4D97-AF65-F5344CB8AC3E}">
        <p14:creationId xmlns:p14="http://schemas.microsoft.com/office/powerpoint/2010/main" val="2838317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9ED025F2-3DBC-4BE2-BA70-920A2C93F4D7}" type="datetimeFigureOut">
              <a:rPr lang="en-IN" smtClean="0"/>
              <a:pPr/>
              <a:t>03-04-2024</a:t>
            </a:fld>
            <a:endParaRPr lang="en-IN"/>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DCD2065E-49CF-4A66-B660-BBB1F5D2B0C8}" type="slidenum">
              <a:rPr lang="en-IN" smtClean="0"/>
              <a:pPr/>
              <a:t>‹#›</a:t>
            </a:fld>
            <a:endParaRPr lang="en-IN"/>
          </a:p>
        </p:txBody>
      </p:sp>
    </p:spTree>
    <p:extLst>
      <p:ext uri="{BB962C8B-B14F-4D97-AF65-F5344CB8AC3E}">
        <p14:creationId xmlns:p14="http://schemas.microsoft.com/office/powerpoint/2010/main" val="2710065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4/3/2024</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4/3/2024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4/3/2024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4/3/2024</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PROFESSIONAL ETHICS </a:t>
            </a:r>
            <a:br>
              <a:rPr lang="en-US" dirty="0"/>
            </a:br>
            <a:r>
              <a:rPr lang="en-US" sz="3200" dirty="0"/>
              <a:t>(</a:t>
            </a:r>
            <a:r>
              <a:rPr lang="en-US" sz="2800" dirty="0"/>
              <a:t>HUT 200</a:t>
            </a:r>
            <a:r>
              <a:rPr lang="en-US" sz="3200" dirty="0"/>
              <a:t>)</a:t>
            </a:r>
            <a:endParaRPr lang="en-IN" dirty="0"/>
          </a:p>
        </p:txBody>
      </p:sp>
      <p:sp>
        <p:nvSpPr>
          <p:cNvPr id="3" name="Subtitle 2"/>
          <p:cNvSpPr>
            <a:spLocks noGrp="1"/>
          </p:cNvSpPr>
          <p:nvPr>
            <p:ph type="subTitle" idx="1"/>
          </p:nvPr>
        </p:nvSpPr>
        <p:spPr>
          <a:xfrm>
            <a:off x="1447800" y="5029200"/>
            <a:ext cx="7406640" cy="990600"/>
          </a:xfrm>
        </p:spPr>
        <p:txBody>
          <a:bodyPr/>
          <a:lstStyle/>
          <a:p>
            <a:pPr algn="r"/>
            <a:r>
              <a:rPr lang="en-US" dirty="0"/>
              <a:t>Module III</a:t>
            </a:r>
          </a:p>
          <a:p>
            <a:pPr algn="r"/>
            <a:r>
              <a:rPr lang="en-US" dirty="0"/>
              <a:t>ENGINEERING AS SOCIAL EXPERIMENTATION</a:t>
            </a:r>
            <a:endParaRPr lang="en-IN" dirty="0"/>
          </a:p>
        </p:txBody>
      </p:sp>
    </p:spTree>
    <p:extLst>
      <p:ext uri="{BB962C8B-B14F-4D97-AF65-F5344CB8AC3E}">
        <p14:creationId xmlns:p14="http://schemas.microsoft.com/office/powerpoint/2010/main" val="69767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Syllabus</a:t>
            </a:r>
            <a:endParaRPr lang="en-IN" dirty="0"/>
          </a:p>
        </p:txBody>
      </p:sp>
      <p:sp>
        <p:nvSpPr>
          <p:cNvPr id="3" name="Content Placeholder 2"/>
          <p:cNvSpPr>
            <a:spLocks noGrp="1"/>
          </p:cNvSpPr>
          <p:nvPr>
            <p:ph idx="1"/>
          </p:nvPr>
        </p:nvSpPr>
        <p:spPr>
          <a:xfrm>
            <a:off x="1066800" y="1447800"/>
            <a:ext cx="7866888" cy="4800600"/>
          </a:xfrm>
        </p:spPr>
        <p:txBody>
          <a:bodyPr>
            <a:normAutofit/>
          </a:bodyPr>
          <a:lstStyle/>
          <a:p>
            <a:pPr algn="just"/>
            <a:r>
              <a:rPr lang="en-IN" dirty="0"/>
              <a:t>Engineering as Experimentation – Engineers as responsible Experimenters- Codes of Ethics- Plagiarism-A balanced outlook on law - Challenges case study- Bhopal gas tragedy.</a:t>
            </a:r>
          </a:p>
        </p:txBody>
      </p:sp>
    </p:spTree>
    <p:extLst>
      <p:ext uri="{BB962C8B-B14F-4D97-AF65-F5344CB8AC3E}">
        <p14:creationId xmlns:p14="http://schemas.microsoft.com/office/powerpoint/2010/main" val="2632513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498080" cy="1143000"/>
          </a:xfrm>
        </p:spPr>
        <p:txBody>
          <a:bodyPr>
            <a:normAutofit/>
          </a:bodyPr>
          <a:lstStyle/>
          <a:p>
            <a:r>
              <a:rPr lang="en-US" sz="4000" b="1" dirty="0">
                <a:latin typeface="Times New Roman" pitchFamily="18" charset="0"/>
                <a:cs typeface="Times New Roman" pitchFamily="18" charset="0"/>
              </a:rPr>
              <a:t>Introduction</a:t>
            </a:r>
            <a:endParaRPr lang="en-IN"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914400" y="1219200"/>
            <a:ext cx="8229600" cy="5638800"/>
          </a:xfrm>
        </p:spPr>
        <p:txBody>
          <a:bodyPr>
            <a:normAutofit/>
          </a:bodyPr>
          <a:lstStyle/>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process of engineering lets you go through a series of different experiments when it comes to practical use</a:t>
            </a:r>
            <a:r>
              <a:rPr lang="en-IN" sz="2400" dirty="0" smtClean="0">
                <a:latin typeface="Times New Roman" pitchFamily="18" charset="0"/>
                <a:cs typeface="Times New Roman" pitchFamily="18" charset="0"/>
              </a:rPr>
              <a:t>.</a:t>
            </a:r>
          </a:p>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Though it is not like an experiment in laboratory under controlled conditions, which is done while learning, an engineer should be ready to do the same on a social scale involving human subjects</a:t>
            </a:r>
            <a:r>
              <a:rPr lang="en-IN" sz="2400" dirty="0" smtClean="0">
                <a:latin typeface="Times New Roman" pitchFamily="18" charset="0"/>
                <a:cs typeface="Times New Roman" pitchFamily="18" charset="0"/>
              </a:rPr>
              <a:t>.</a:t>
            </a:r>
          </a:p>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Experimentation plays an important role in the process of designing the product</a:t>
            </a:r>
            <a:r>
              <a:rPr lang="en-IN" sz="2400" dirty="0" smtClean="0">
                <a:latin typeface="Times New Roman" pitchFamily="18" charset="0"/>
                <a:cs typeface="Times New Roman" pitchFamily="18" charset="0"/>
              </a:rPr>
              <a:t>.</a:t>
            </a:r>
          </a:p>
          <a:p>
            <a:pPr algn="just"/>
            <a:endParaRPr lang="en-IN" sz="24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920429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498080" cy="1143000"/>
          </a:xfrm>
        </p:spPr>
        <p:txBody>
          <a:bodyPr>
            <a:normAutofit/>
          </a:bodyPr>
          <a:lstStyle/>
          <a:p>
            <a:r>
              <a:rPr lang="en-IN" sz="4000" b="1" dirty="0">
                <a:latin typeface="Times New Roman" pitchFamily="18" charset="0"/>
                <a:cs typeface="Times New Roman" pitchFamily="18" charset="0"/>
              </a:rPr>
              <a:t>Engineering </a:t>
            </a:r>
            <a:r>
              <a:rPr lang="en-IN" sz="4000" b="1" dirty="0" smtClean="0">
                <a:latin typeface="Times New Roman" pitchFamily="18" charset="0"/>
                <a:cs typeface="Times New Roman" pitchFamily="18" charset="0"/>
              </a:rPr>
              <a:t>as </a:t>
            </a:r>
            <a:r>
              <a:rPr lang="en-IN" sz="4000" b="1" dirty="0">
                <a:latin typeface="Times New Roman" pitchFamily="18" charset="0"/>
                <a:cs typeface="Times New Roman" pitchFamily="18" charset="0"/>
              </a:rPr>
              <a:t>Experimentation</a:t>
            </a:r>
          </a:p>
        </p:txBody>
      </p:sp>
      <p:sp>
        <p:nvSpPr>
          <p:cNvPr id="3" name="Content Placeholder 2"/>
          <p:cNvSpPr>
            <a:spLocks noGrp="1"/>
          </p:cNvSpPr>
          <p:nvPr>
            <p:ph idx="1"/>
          </p:nvPr>
        </p:nvSpPr>
        <p:spPr>
          <a:xfrm>
            <a:off x="838200" y="1143000"/>
            <a:ext cx="8305800" cy="5638800"/>
          </a:xfrm>
        </p:spPr>
        <p:txBody>
          <a:bodyPr>
            <a:normAutofit fontScale="92500" lnSpcReduction="10000"/>
          </a:bodyPr>
          <a:lstStyle/>
          <a:p>
            <a:pPr algn="just"/>
            <a:r>
              <a:rPr lang="en-IN" sz="2400" dirty="0" smtClean="0">
                <a:latin typeface="Times New Roman" pitchFamily="18" charset="0"/>
                <a:cs typeface="Times New Roman" pitchFamily="18" charset="0"/>
              </a:rPr>
              <a:t>Experimentation plays an important role in the process of designing the product.</a:t>
            </a:r>
          </a:p>
          <a:p>
            <a:pPr algn="just">
              <a:buNone/>
            </a:pP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When </a:t>
            </a:r>
            <a:r>
              <a:rPr lang="en-IN" sz="2400" dirty="0">
                <a:latin typeface="Times New Roman" pitchFamily="18" charset="0"/>
                <a:cs typeface="Times New Roman" pitchFamily="18" charset="0"/>
              </a:rPr>
              <a:t>it is decided to change a new engineering concept into its first rough design;</a:t>
            </a:r>
          </a:p>
          <a:p>
            <a:pPr lvl="1" algn="just"/>
            <a:r>
              <a:rPr lang="en-IN" sz="2400" dirty="0">
                <a:latin typeface="Times New Roman" pitchFamily="18" charset="0"/>
                <a:cs typeface="Times New Roman" pitchFamily="18" charset="0"/>
              </a:rPr>
              <a:t>Preliminary tests or simulation should be conducted. </a:t>
            </a:r>
          </a:p>
          <a:p>
            <a:pPr lvl="1" algn="just"/>
            <a:r>
              <a:rPr lang="en-IN" sz="2400" dirty="0">
                <a:latin typeface="Times New Roman" pitchFamily="18" charset="0"/>
                <a:cs typeface="Times New Roman" pitchFamily="18" charset="0"/>
              </a:rPr>
              <a:t>Using formal experimental methods, the materials and methods of designing are tried out. </a:t>
            </a:r>
          </a:p>
          <a:p>
            <a:pPr lvl="1" algn="just"/>
            <a:r>
              <a:rPr lang="en-IN" sz="2400" dirty="0">
                <a:latin typeface="Times New Roman" pitchFamily="18" charset="0"/>
                <a:cs typeface="Times New Roman" pitchFamily="18" charset="0"/>
              </a:rPr>
              <a:t>These tests may be based on more detailed designs. </a:t>
            </a:r>
          </a:p>
          <a:p>
            <a:pPr lvl="1" algn="just"/>
            <a:r>
              <a:rPr lang="en-IN" sz="2400" dirty="0">
                <a:latin typeface="Times New Roman" pitchFamily="18" charset="0"/>
                <a:cs typeface="Times New Roman" pitchFamily="18" charset="0"/>
              </a:rPr>
              <a:t>The test for designing should be evolved till the final product produced. </a:t>
            </a:r>
          </a:p>
          <a:p>
            <a:pPr lvl="1" algn="just"/>
            <a:r>
              <a:rPr lang="en-IN" sz="2400" dirty="0">
                <a:latin typeface="Times New Roman" pitchFamily="18" charset="0"/>
                <a:cs typeface="Times New Roman" pitchFamily="18" charset="0"/>
              </a:rPr>
              <a:t>With the help of feedback of several tests, further modification can be made if necessary. </a:t>
            </a:r>
            <a:endParaRPr lang="en-IN" sz="2400" dirty="0" smtClean="0">
              <a:latin typeface="Times New Roman" pitchFamily="18" charset="0"/>
              <a:cs typeface="Times New Roman" pitchFamily="18" charset="0"/>
            </a:endParaRPr>
          </a:p>
          <a:p>
            <a:pPr lvl="1"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Beyond these tests and experiments, each engineering project has to be viewed as an experiment.</a:t>
            </a:r>
          </a:p>
        </p:txBody>
      </p:sp>
    </p:spTree>
    <p:extLst>
      <p:ext uri="{BB962C8B-B14F-4D97-AF65-F5344CB8AC3E}">
        <p14:creationId xmlns:p14="http://schemas.microsoft.com/office/powerpoint/2010/main" val="1799639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latin typeface="Times New Roman" pitchFamily="18" charset="0"/>
                <a:cs typeface="Times New Roman" pitchFamily="18" charset="0"/>
              </a:rPr>
              <a:t>Similarities to Standard Experiments</a:t>
            </a:r>
          </a:p>
        </p:txBody>
      </p:sp>
      <p:sp>
        <p:nvSpPr>
          <p:cNvPr id="3" name="Content Placeholder 2"/>
          <p:cNvSpPr>
            <a:spLocks noGrp="1"/>
          </p:cNvSpPr>
          <p:nvPr>
            <p:ph idx="1"/>
          </p:nvPr>
        </p:nvSpPr>
        <p:spPr>
          <a:xfrm>
            <a:off x="990600" y="1447800"/>
            <a:ext cx="7943088" cy="5410200"/>
          </a:xfrm>
        </p:spPr>
        <p:txBody>
          <a:bodyPr>
            <a:normAutofit fontScale="92500" lnSpcReduction="20000"/>
          </a:bodyPr>
          <a:lstStyle/>
          <a:p>
            <a:r>
              <a:rPr lang="en-IN" sz="2400" b="1" i="1" dirty="0">
                <a:latin typeface="Times New Roman" pitchFamily="18" charset="0"/>
                <a:cs typeface="Times New Roman" pitchFamily="18" charset="0"/>
              </a:rPr>
              <a:t>Partial ignorance</a:t>
            </a:r>
          </a:p>
          <a:p>
            <a:pPr lvl="1"/>
            <a:r>
              <a:rPr lang="en-IN" sz="2400" dirty="0">
                <a:latin typeface="Times New Roman" pitchFamily="18" charset="0"/>
                <a:cs typeface="Times New Roman" pitchFamily="18" charset="0"/>
              </a:rPr>
              <a:t>Engineers </a:t>
            </a:r>
            <a:r>
              <a:rPr lang="en-IN" sz="2400" dirty="0" smtClean="0">
                <a:latin typeface="Times New Roman" pitchFamily="18" charset="0"/>
                <a:cs typeface="Times New Roman" pitchFamily="18" charset="0"/>
              </a:rPr>
              <a:t>don't </a:t>
            </a:r>
            <a:r>
              <a:rPr lang="en-IN" sz="2400" dirty="0">
                <a:latin typeface="Times New Roman" pitchFamily="18" charset="0"/>
                <a:cs typeface="Times New Roman" pitchFamily="18" charset="0"/>
              </a:rPr>
              <a:t>have all the needed facts available well in advance before starting the project</a:t>
            </a:r>
            <a:r>
              <a:rPr lang="en-IN" sz="2400" dirty="0" smtClean="0">
                <a:latin typeface="Times New Roman" pitchFamily="18" charset="0"/>
                <a:cs typeface="Times New Roman" pitchFamily="18" charset="0"/>
              </a:rPr>
              <a:t>.</a:t>
            </a:r>
          </a:p>
          <a:p>
            <a:pPr lvl="1"/>
            <a:endParaRPr lang="en-IN" sz="2400" dirty="0">
              <a:latin typeface="Times New Roman" pitchFamily="18" charset="0"/>
              <a:cs typeface="Times New Roman" pitchFamily="18" charset="0"/>
            </a:endParaRPr>
          </a:p>
          <a:p>
            <a:pPr algn="just"/>
            <a:r>
              <a:rPr lang="en-IN" sz="2400" b="1" i="1" dirty="0">
                <a:latin typeface="Times New Roman" pitchFamily="18" charset="0"/>
                <a:cs typeface="Times New Roman" pitchFamily="18" charset="0"/>
              </a:rPr>
              <a:t>Uncertainties in </a:t>
            </a:r>
            <a:r>
              <a:rPr lang="en-IN" sz="2400" b="1" i="1" dirty="0" smtClean="0">
                <a:latin typeface="Times New Roman" pitchFamily="18" charset="0"/>
                <a:cs typeface="Times New Roman" pitchFamily="18" charset="0"/>
              </a:rPr>
              <a:t>outcome</a:t>
            </a:r>
          </a:p>
          <a:p>
            <a:pPr lvl="1" algn="just"/>
            <a:r>
              <a:rPr lang="en-IN" sz="2000" dirty="0" smtClean="0">
                <a:latin typeface="Times New Roman" pitchFamily="18" charset="0"/>
                <a:cs typeface="Times New Roman" pitchFamily="18" charset="0"/>
              </a:rPr>
              <a:t>Final outcomes of engineering projects are generally uncertain like that of experiments. </a:t>
            </a:r>
          </a:p>
          <a:p>
            <a:pPr lvl="1" algn="just"/>
            <a:r>
              <a:rPr lang="en-IN" sz="2000" dirty="0" err="1" smtClean="0">
                <a:latin typeface="Times New Roman" pitchFamily="18" charset="0"/>
                <a:cs typeface="Times New Roman" pitchFamily="18" charset="0"/>
              </a:rPr>
              <a:t>Eg</a:t>
            </a:r>
            <a:r>
              <a:rPr lang="en-IN" sz="2000" dirty="0" smtClean="0">
                <a:latin typeface="Times New Roman" pitchFamily="18" charset="0"/>
                <a:cs typeface="Times New Roman" pitchFamily="18" charset="0"/>
              </a:rPr>
              <a:t>: model used for design calculation, exact characteristics of the materials purchased etc.</a:t>
            </a:r>
          </a:p>
          <a:p>
            <a:pPr algn="just"/>
            <a:endParaRPr lang="en-IN" sz="2400" dirty="0">
              <a:latin typeface="Times New Roman" pitchFamily="18" charset="0"/>
              <a:cs typeface="Times New Roman" pitchFamily="18" charset="0"/>
            </a:endParaRPr>
          </a:p>
          <a:p>
            <a:pPr algn="just"/>
            <a:r>
              <a:rPr lang="en-IN" sz="2400" b="1" i="1" dirty="0">
                <a:latin typeface="Times New Roman" pitchFamily="18" charset="0"/>
                <a:cs typeface="Times New Roman" pitchFamily="18" charset="0"/>
              </a:rPr>
              <a:t>Continuous </a:t>
            </a:r>
            <a:r>
              <a:rPr lang="en-IN" sz="2400" b="1" i="1" dirty="0" smtClean="0">
                <a:latin typeface="Times New Roman" pitchFamily="18" charset="0"/>
                <a:cs typeface="Times New Roman" pitchFamily="18" charset="0"/>
              </a:rPr>
              <a:t>monitoring </a:t>
            </a:r>
          </a:p>
          <a:p>
            <a:pPr lvl="1" algn="just"/>
            <a:r>
              <a:rPr lang="en-IN" sz="2000" dirty="0" smtClean="0">
                <a:latin typeface="Times New Roman" pitchFamily="18" charset="0"/>
                <a:cs typeface="Times New Roman" pitchFamily="18" charset="0"/>
              </a:rPr>
              <a:t>good and effective engineering depends upon the knowledge possessed about the products at the initial and end stages.</a:t>
            </a:r>
          </a:p>
          <a:p>
            <a:pPr lvl="1" algn="just"/>
            <a:r>
              <a:rPr lang="en-IN" sz="2000" dirty="0" smtClean="0">
                <a:latin typeface="Times New Roman" pitchFamily="18" charset="0"/>
                <a:cs typeface="Times New Roman" pitchFamily="18" charset="0"/>
              </a:rPr>
              <a:t>The monitoring is done by making periodic observations and tests.</a:t>
            </a:r>
          </a:p>
          <a:p>
            <a:pPr algn="just"/>
            <a:endParaRPr lang="en-IN" sz="2400" dirty="0">
              <a:latin typeface="Times New Roman" pitchFamily="18" charset="0"/>
              <a:cs typeface="Times New Roman" pitchFamily="18" charset="0"/>
            </a:endParaRPr>
          </a:p>
          <a:p>
            <a:pPr algn="just"/>
            <a:r>
              <a:rPr lang="en-IN" sz="2400" b="1" i="1" dirty="0">
                <a:latin typeface="Times New Roman" pitchFamily="18" charset="0"/>
                <a:cs typeface="Times New Roman" pitchFamily="18" charset="0"/>
              </a:rPr>
              <a:t>Learning from the past</a:t>
            </a:r>
          </a:p>
        </p:txBody>
      </p:sp>
    </p:spTree>
    <p:extLst>
      <p:ext uri="{BB962C8B-B14F-4D97-AF65-F5344CB8AC3E}">
        <p14:creationId xmlns:p14="http://schemas.microsoft.com/office/powerpoint/2010/main" val="3712330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20000" cy="762000"/>
          </a:xfrm>
        </p:spPr>
        <p:txBody>
          <a:bodyPr>
            <a:normAutofit/>
          </a:bodyPr>
          <a:lstStyle/>
          <a:p>
            <a:r>
              <a:rPr lang="en-IN" sz="3200" b="1" u="sng" dirty="0" smtClean="0">
                <a:latin typeface="Times New Roman" pitchFamily="18" charset="0"/>
                <a:cs typeface="Times New Roman" pitchFamily="18" charset="0"/>
              </a:rPr>
              <a:t>Differences </a:t>
            </a:r>
            <a:r>
              <a:rPr lang="en-IN" sz="3200" b="1" u="sng" dirty="0">
                <a:latin typeface="Times New Roman" pitchFamily="18" charset="0"/>
                <a:cs typeface="Times New Roman" pitchFamily="18" charset="0"/>
              </a:rPr>
              <a:t>with Standard Experiments</a:t>
            </a:r>
          </a:p>
        </p:txBody>
      </p:sp>
      <p:sp>
        <p:nvSpPr>
          <p:cNvPr id="3" name="Content Placeholder 2"/>
          <p:cNvSpPr>
            <a:spLocks noGrp="1"/>
          </p:cNvSpPr>
          <p:nvPr>
            <p:ph idx="1"/>
          </p:nvPr>
        </p:nvSpPr>
        <p:spPr>
          <a:xfrm>
            <a:off x="762000" y="685800"/>
            <a:ext cx="8382000" cy="6172200"/>
          </a:xfrm>
        </p:spPr>
        <p:txBody>
          <a:bodyPr>
            <a:noAutofit/>
          </a:bodyPr>
          <a:lstStyle/>
          <a:p>
            <a:pPr algn="just"/>
            <a:r>
              <a:rPr lang="en-IN" sz="2400" b="1" i="1" u="sng" dirty="0">
                <a:latin typeface="Times New Roman" pitchFamily="18" charset="0"/>
                <a:cs typeface="Times New Roman" pitchFamily="18" charset="0"/>
              </a:rPr>
              <a:t>Experimental </a:t>
            </a:r>
            <a:r>
              <a:rPr lang="en-IN" sz="2400" b="1" i="1" u="sng" dirty="0" smtClean="0">
                <a:latin typeface="Times New Roman" pitchFamily="18" charset="0"/>
                <a:cs typeface="Times New Roman" pitchFamily="18" charset="0"/>
              </a:rPr>
              <a:t>Control</a:t>
            </a:r>
            <a:r>
              <a:rPr lang="en-IN" sz="2400" b="1" i="1"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  </a:t>
            </a:r>
            <a:r>
              <a:rPr lang="en-IN" sz="2000" dirty="0" smtClean="0">
                <a:latin typeface="Times New Roman" pitchFamily="18" charset="0"/>
                <a:cs typeface="Times New Roman" pitchFamily="18" charset="0"/>
              </a:rPr>
              <a:t>standard experiments are done in a controlled environment whereas engineers do their experimentation on a social scale keeping in mind of the end consumers using the product.</a:t>
            </a:r>
            <a:endParaRPr lang="en-IN" sz="2000" dirty="0">
              <a:latin typeface="Times New Roman" pitchFamily="18" charset="0"/>
              <a:cs typeface="Times New Roman" pitchFamily="18" charset="0"/>
            </a:endParaRPr>
          </a:p>
          <a:p>
            <a:pPr algn="just"/>
            <a:r>
              <a:rPr lang="en-IN" sz="2400" b="1" i="1" u="sng" dirty="0">
                <a:latin typeface="Times New Roman" pitchFamily="18" charset="0"/>
                <a:cs typeface="Times New Roman" pitchFamily="18" charset="0"/>
              </a:rPr>
              <a:t>Humane </a:t>
            </a:r>
            <a:r>
              <a:rPr lang="en-IN" sz="2400" b="1" i="1" u="sng" dirty="0" smtClean="0">
                <a:latin typeface="Times New Roman" pitchFamily="18" charset="0"/>
                <a:cs typeface="Times New Roman" pitchFamily="18" charset="0"/>
              </a:rPr>
              <a:t>touch</a:t>
            </a:r>
            <a:r>
              <a:rPr lang="en-IN" sz="2400" b="1" i="1"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in engineering the experimental subjects are human beings who are out of the control of the experimenters.</a:t>
            </a:r>
          </a:p>
          <a:p>
            <a:pPr algn="just"/>
            <a:r>
              <a:rPr lang="en-IN" sz="2400" b="1" i="1" u="sng" dirty="0">
                <a:latin typeface="Times New Roman" pitchFamily="18" charset="0"/>
                <a:cs typeface="Times New Roman" pitchFamily="18" charset="0"/>
              </a:rPr>
              <a:t>Informed consent</a:t>
            </a:r>
          </a:p>
          <a:p>
            <a:pPr lvl="1" algn="just"/>
            <a:r>
              <a:rPr lang="en-IN" sz="2000" dirty="0">
                <a:latin typeface="Times New Roman" pitchFamily="18" charset="0"/>
                <a:cs typeface="Times New Roman" pitchFamily="18" charset="0"/>
              </a:rPr>
              <a:t>The knowledge about the product </a:t>
            </a:r>
          </a:p>
          <a:p>
            <a:pPr lvl="1" algn="just"/>
            <a:r>
              <a:rPr lang="en-IN" sz="2000" dirty="0">
                <a:latin typeface="Times New Roman" pitchFamily="18" charset="0"/>
                <a:cs typeface="Times New Roman" pitchFamily="18" charset="0"/>
              </a:rPr>
              <a:t>Risks and benefits of using the product and </a:t>
            </a:r>
          </a:p>
          <a:p>
            <a:pPr lvl="1" algn="just"/>
            <a:r>
              <a:rPr lang="en-IN" sz="2000" dirty="0">
                <a:latin typeface="Times New Roman" pitchFamily="18" charset="0"/>
                <a:cs typeface="Times New Roman" pitchFamily="18" charset="0"/>
              </a:rPr>
              <a:t>All relevant information on the product, such as how to use and how not to use (do’s and don’ts).</a:t>
            </a:r>
          </a:p>
          <a:p>
            <a:pPr lvl="1" algn="just"/>
            <a:r>
              <a:rPr lang="en-US" sz="2000" dirty="0">
                <a:latin typeface="Times New Roman" pitchFamily="18" charset="0"/>
                <a:cs typeface="Times New Roman" pitchFamily="18" charset="0"/>
              </a:rPr>
              <a:t>Knowledge and voluntariness</a:t>
            </a:r>
            <a:endParaRPr lang="en-IN" sz="2000" dirty="0">
              <a:latin typeface="Times New Roman" pitchFamily="18" charset="0"/>
              <a:cs typeface="Times New Roman" pitchFamily="18" charset="0"/>
            </a:endParaRPr>
          </a:p>
          <a:p>
            <a:pPr algn="just"/>
            <a:r>
              <a:rPr lang="en-IN" sz="2400" b="1" i="1" u="sng" dirty="0">
                <a:latin typeface="Times New Roman" pitchFamily="18" charset="0"/>
                <a:cs typeface="Times New Roman" pitchFamily="18" charset="0"/>
              </a:rPr>
              <a:t>Knowledge </a:t>
            </a:r>
            <a:r>
              <a:rPr lang="en-IN" sz="2400" b="1" i="1" u="sng" dirty="0" smtClean="0">
                <a:latin typeface="Times New Roman" pitchFamily="18" charset="0"/>
                <a:cs typeface="Times New Roman" pitchFamily="18" charset="0"/>
              </a:rPr>
              <a:t>gained</a:t>
            </a:r>
          </a:p>
          <a:p>
            <a:pPr marL="82296" indent="0" algn="just">
              <a:buNone/>
            </a:pPr>
            <a:r>
              <a:rPr lang="en-IN" sz="2000" dirty="0" smtClean="0">
                <a:latin typeface="Times New Roman" pitchFamily="18" charset="0"/>
                <a:cs typeface="Times New Roman" pitchFamily="18" charset="0"/>
              </a:rPr>
              <a:t>Scientific </a:t>
            </a:r>
            <a:r>
              <a:rPr lang="en-IN" sz="2000" dirty="0">
                <a:latin typeface="Times New Roman" pitchFamily="18" charset="0"/>
                <a:cs typeface="Times New Roman" pitchFamily="18" charset="0"/>
              </a:rPr>
              <a:t>experiments have been conducted to acquire new knowledge. </a:t>
            </a:r>
            <a:r>
              <a:rPr lang="en-IN" sz="2000" dirty="0" smtClean="0">
                <a:latin typeface="Times New Roman" pitchFamily="18" charset="0"/>
                <a:cs typeface="Times New Roman" pitchFamily="18" charset="0"/>
              </a:rPr>
              <a:t>Whereas </a:t>
            </a:r>
            <a:r>
              <a:rPr lang="en-IN" sz="2000" dirty="0">
                <a:latin typeface="Times New Roman" pitchFamily="18" charset="0"/>
                <a:cs typeface="Times New Roman" pitchFamily="18" charset="0"/>
              </a:rPr>
              <a:t>engineering projects are conducted as experiments not for </a:t>
            </a:r>
            <a:r>
              <a:rPr lang="en-IN" sz="2000" dirty="0" smtClean="0">
                <a:latin typeface="Times New Roman" pitchFamily="18" charset="0"/>
                <a:cs typeface="Times New Roman" pitchFamily="18" charset="0"/>
              </a:rPr>
              <a:t>getting </a:t>
            </a:r>
            <a:r>
              <a:rPr lang="en-IN" sz="2000" dirty="0">
                <a:latin typeface="Times New Roman" pitchFamily="18" charset="0"/>
                <a:cs typeface="Times New Roman" pitchFamily="18" charset="0"/>
              </a:rPr>
              <a:t>new knowledge. Suppose the outcomes of the experiment is </a:t>
            </a:r>
            <a:r>
              <a:rPr lang="en-IN" sz="2000" dirty="0" smtClean="0">
                <a:latin typeface="Times New Roman" pitchFamily="18" charset="0"/>
                <a:cs typeface="Times New Roman" pitchFamily="18" charset="0"/>
              </a:rPr>
              <a:t>best</a:t>
            </a:r>
            <a:r>
              <a:rPr lang="en-IN" sz="2000" dirty="0">
                <a:latin typeface="Times New Roman" pitchFamily="18" charset="0"/>
                <a:cs typeface="Times New Roman" pitchFamily="18" charset="0"/>
              </a:rPr>
              <a:t>, it tells us nothing new, but merely affirms that we are right about </a:t>
            </a:r>
            <a:r>
              <a:rPr lang="en-IN" sz="2000" dirty="0" smtClean="0">
                <a:latin typeface="Times New Roman" pitchFamily="18" charset="0"/>
                <a:cs typeface="Times New Roman" pitchFamily="18" charset="0"/>
              </a:rPr>
              <a:t>something</a:t>
            </a:r>
            <a:r>
              <a:rPr lang="en-IN" sz="2000" dirty="0">
                <a:latin typeface="Times New Roman" pitchFamily="18" charset="0"/>
                <a:cs typeface="Times New Roman" pitchFamily="18" charset="0"/>
              </a:rPr>
              <a:t>. Meanwhile, the unexpected outcomes put us search for new knowledge.</a:t>
            </a:r>
            <a:endParaRPr lang="en-IN" sz="2000" i="1" dirty="0">
              <a:latin typeface="Times New Roman" pitchFamily="18" charset="0"/>
              <a:cs typeface="Times New Roman" pitchFamily="18" charset="0"/>
            </a:endParaRPr>
          </a:p>
        </p:txBody>
      </p:sp>
    </p:spTree>
    <p:extLst>
      <p:ext uri="{BB962C8B-B14F-4D97-AF65-F5344CB8AC3E}">
        <p14:creationId xmlns:p14="http://schemas.microsoft.com/office/powerpoint/2010/main" val="740214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229600" cy="1143000"/>
          </a:xfrm>
        </p:spPr>
        <p:txBody>
          <a:bodyPr>
            <a:noAutofit/>
          </a:bodyPr>
          <a:lstStyle/>
          <a:p>
            <a:pPr algn="ctr"/>
            <a:r>
              <a:rPr lang="en-IN" sz="4000" b="1" dirty="0">
                <a:latin typeface="Times New Roman" pitchFamily="18" charset="0"/>
                <a:cs typeface="Times New Roman" pitchFamily="18" charset="0"/>
              </a:rPr>
              <a:t>ENGINEERS AS RESPONSIBLE EXPERIMENTERS</a:t>
            </a:r>
          </a:p>
        </p:txBody>
      </p:sp>
      <p:sp>
        <p:nvSpPr>
          <p:cNvPr id="3" name="Content Placeholder 2"/>
          <p:cNvSpPr>
            <a:spLocks noGrp="1"/>
          </p:cNvSpPr>
          <p:nvPr>
            <p:ph idx="1"/>
          </p:nvPr>
        </p:nvSpPr>
        <p:spPr>
          <a:xfrm>
            <a:off x="990600" y="1676400"/>
            <a:ext cx="8153400" cy="5181600"/>
          </a:xfrm>
        </p:spPr>
        <p:txBody>
          <a:bodyPr>
            <a:noAutofit/>
          </a:bodyPr>
          <a:lstStyle/>
          <a:p>
            <a:pPr algn="just"/>
            <a:r>
              <a:rPr lang="en-IN" sz="2400" dirty="0">
                <a:latin typeface="Times New Roman" pitchFamily="18" charset="0"/>
                <a:cs typeface="Times New Roman" pitchFamily="18" charset="0"/>
              </a:rPr>
              <a:t>In the process of developing a product, an engineer generally learns through experimentation</a:t>
            </a:r>
            <a:r>
              <a:rPr lang="en-IN" sz="2400" dirty="0" smtClean="0">
                <a:latin typeface="Times New Roman" pitchFamily="18" charset="0"/>
                <a:cs typeface="Times New Roman" pitchFamily="18" charset="0"/>
              </a:rPr>
              <a:t>.</a:t>
            </a:r>
          </a:p>
          <a:p>
            <a:pPr algn="just"/>
            <a:r>
              <a:rPr lang="en-IN" sz="2400" dirty="0">
                <a:latin typeface="Times New Roman" pitchFamily="18" charset="0"/>
                <a:cs typeface="Times New Roman" pitchFamily="18" charset="0"/>
              </a:rPr>
              <a:t>A trial and error method is the mostly </a:t>
            </a:r>
            <a:r>
              <a:rPr lang="en-IN" sz="2400" dirty="0" smtClean="0">
                <a:latin typeface="Times New Roman" pitchFamily="18" charset="0"/>
                <a:cs typeface="Times New Roman" pitchFamily="18" charset="0"/>
              </a:rPr>
              <a:t>widely used </a:t>
            </a:r>
            <a:r>
              <a:rPr lang="en-IN" sz="2400" dirty="0">
                <a:latin typeface="Times New Roman" pitchFamily="18" charset="0"/>
                <a:cs typeface="Times New Roman" pitchFamily="18" charset="0"/>
              </a:rPr>
              <a:t>method.</a:t>
            </a:r>
          </a:p>
          <a:p>
            <a:pPr algn="just"/>
            <a:r>
              <a:rPr lang="en-IN" sz="2400" dirty="0">
                <a:latin typeface="Times New Roman" pitchFamily="18" charset="0"/>
                <a:cs typeface="Times New Roman" pitchFamily="18" charset="0"/>
              </a:rPr>
              <a:t>An engineer should always be ready for the unexpected </a:t>
            </a:r>
            <a:r>
              <a:rPr lang="en-IN" sz="2400" dirty="0" smtClean="0">
                <a:latin typeface="Times New Roman" pitchFamily="18" charset="0"/>
                <a:cs typeface="Times New Roman" pitchFamily="18" charset="0"/>
              </a:rPr>
              <a:t>output. Nothing </a:t>
            </a:r>
            <a:r>
              <a:rPr lang="en-IN" sz="2400" dirty="0">
                <a:latin typeface="Times New Roman" pitchFamily="18" charset="0"/>
                <a:cs typeface="Times New Roman" pitchFamily="18" charset="0"/>
              </a:rPr>
              <a:t>is really predictable.</a:t>
            </a:r>
          </a:p>
          <a:p>
            <a:pPr algn="just"/>
            <a:r>
              <a:rPr lang="en-IN" sz="2400" dirty="0" smtClean="0">
                <a:latin typeface="Times New Roman" pitchFamily="18" charset="0"/>
                <a:cs typeface="Times New Roman" pitchFamily="18" charset="0"/>
              </a:rPr>
              <a:t>Engineers </a:t>
            </a:r>
            <a:r>
              <a:rPr lang="en-IN" sz="2400" dirty="0">
                <a:latin typeface="Times New Roman" pitchFamily="18" charset="0"/>
                <a:cs typeface="Times New Roman" pitchFamily="18" charset="0"/>
              </a:rPr>
              <a:t>share a greater responsibility while monitoring the projects, identifying the risks, and informing the clients and the public with facts. </a:t>
            </a:r>
          </a:p>
          <a:p>
            <a:pPr algn="just"/>
            <a:r>
              <a:rPr lang="en-IN" sz="2400" dirty="0">
                <a:latin typeface="Times New Roman" pitchFamily="18" charset="0"/>
                <a:cs typeface="Times New Roman" pitchFamily="18" charset="0"/>
              </a:rPr>
              <a:t>Based on this, they can take decisions to participate or protest or promote.</a:t>
            </a:r>
          </a:p>
          <a:p>
            <a:pPr algn="just"/>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005814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7866888" cy="1143000"/>
          </a:xfrm>
        </p:spPr>
        <p:txBody>
          <a:bodyPr>
            <a:normAutofit fontScale="90000"/>
          </a:bodyPr>
          <a:lstStyle/>
          <a:p>
            <a:r>
              <a:rPr lang="en-IN" sz="4400" dirty="0">
                <a:latin typeface="Times New Roman" pitchFamily="18" charset="0"/>
                <a:cs typeface="Times New Roman" pitchFamily="18" charset="0"/>
              </a:rPr>
              <a:t>Responsibility of Engineers in Experimentation</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838200" y="1447800"/>
            <a:ext cx="8095488" cy="5410200"/>
          </a:xfrm>
        </p:spPr>
        <p:txBody>
          <a:bodyPr>
            <a:normAutofit lnSpcReduction="10000"/>
          </a:bodyPr>
          <a:lstStyle/>
          <a:p>
            <a:pPr algn="just"/>
            <a:r>
              <a:rPr lang="en-IN" sz="2400" b="1" u="sng" dirty="0">
                <a:latin typeface="Times New Roman" pitchFamily="18" charset="0"/>
                <a:cs typeface="Times New Roman" pitchFamily="18" charset="0"/>
              </a:rPr>
              <a:t>Conscientiousness ( Sense of awareness)</a:t>
            </a:r>
          </a:p>
          <a:p>
            <a:pPr lvl="1" algn="just"/>
            <a:r>
              <a:rPr lang="en-IN" sz="2000" dirty="0" smtClean="0">
                <a:latin typeface="Times New Roman" pitchFamily="18" charset="0"/>
                <a:cs typeface="Times New Roman" pitchFamily="18" charset="0"/>
              </a:rPr>
              <a:t>Conscientiousness </a:t>
            </a:r>
            <a:r>
              <a:rPr lang="en-IN" sz="2000" dirty="0">
                <a:latin typeface="Times New Roman" pitchFamily="18" charset="0"/>
                <a:cs typeface="Times New Roman" pitchFamily="18" charset="0"/>
              </a:rPr>
              <a:t>implies consciousness which means the sense of awareness. </a:t>
            </a:r>
            <a:endParaRPr lang="en-IN" sz="2000" dirty="0" smtClean="0">
              <a:latin typeface="Times New Roman" pitchFamily="18" charset="0"/>
              <a:cs typeface="Times New Roman" pitchFamily="18" charset="0"/>
            </a:endParaRPr>
          </a:p>
          <a:p>
            <a:pPr lvl="1" algn="just"/>
            <a:r>
              <a:rPr lang="en-IN" sz="2000" dirty="0" smtClean="0">
                <a:latin typeface="Times New Roman" pitchFamily="18" charset="0"/>
                <a:cs typeface="Times New Roman" pitchFamily="18" charset="0"/>
              </a:rPr>
              <a:t>Every </a:t>
            </a:r>
            <a:r>
              <a:rPr lang="en-IN" sz="2000" dirty="0">
                <a:latin typeface="Times New Roman" pitchFamily="18" charset="0"/>
                <a:cs typeface="Times New Roman" pitchFamily="18" charset="0"/>
              </a:rPr>
              <a:t>engineer is expected to have some moral standards irrespective of the role he is performing. </a:t>
            </a:r>
            <a:endParaRPr lang="en-IN" sz="2000" dirty="0" smtClean="0">
              <a:latin typeface="Times New Roman" pitchFamily="18" charset="0"/>
              <a:cs typeface="Times New Roman" pitchFamily="18" charset="0"/>
            </a:endParaRPr>
          </a:p>
          <a:p>
            <a:pPr lvl="1" algn="just"/>
            <a:r>
              <a:rPr lang="en-IN" sz="2000" dirty="0">
                <a:latin typeface="Times New Roman" pitchFamily="18" charset="0"/>
                <a:cs typeface="Times New Roman" pitchFamily="18" charset="0"/>
              </a:rPr>
              <a:t>Along with satisfying the employer’s goals, by behaving as a responsible employee, by not doing any fraud, not breaking confidentiality and violating patent rights etc., an engineer should be conscious about the unexpected. Adverse outcome may come up as unexpected result of their experiments; for this, they are answerable to the public</a:t>
            </a:r>
            <a:r>
              <a:rPr lang="en-IN" sz="2200" dirty="0">
                <a:latin typeface="Times New Roman" pitchFamily="18" charset="0"/>
                <a:cs typeface="Times New Roman" pitchFamily="18" charset="0"/>
              </a:rPr>
              <a:t>.</a:t>
            </a:r>
          </a:p>
          <a:p>
            <a:pPr algn="just"/>
            <a:r>
              <a:rPr lang="en-IN" sz="2400" b="1" u="sng" dirty="0">
                <a:latin typeface="Times New Roman" pitchFamily="18" charset="0"/>
                <a:cs typeface="Times New Roman" pitchFamily="18" charset="0"/>
              </a:rPr>
              <a:t>Comprehensive </a:t>
            </a:r>
            <a:r>
              <a:rPr lang="en-IN" sz="2400" b="1" u="sng" dirty="0" smtClean="0">
                <a:latin typeface="Times New Roman" pitchFamily="18" charset="0"/>
                <a:cs typeface="Times New Roman" pitchFamily="18" charset="0"/>
              </a:rPr>
              <a:t>Perspective/Informed Consent</a:t>
            </a:r>
            <a:endParaRPr lang="en-IN" sz="2400" b="1" u="sng" dirty="0">
              <a:latin typeface="Times New Roman" pitchFamily="18" charset="0"/>
              <a:cs typeface="Times New Roman" pitchFamily="18" charset="0"/>
            </a:endParaRPr>
          </a:p>
          <a:p>
            <a:pPr lvl="1"/>
            <a:r>
              <a:rPr lang="en-IN" sz="2000" dirty="0">
                <a:latin typeface="Times New Roman" pitchFamily="18" charset="0"/>
                <a:cs typeface="Times New Roman" pitchFamily="18" charset="0"/>
              </a:rPr>
              <a:t>The engineer should grasp the context of his work and ensure that the work involved results in only moral ends</a:t>
            </a:r>
            <a:r>
              <a:rPr lang="en-IN" sz="2000" dirty="0" smtClean="0">
                <a:latin typeface="Times New Roman" pitchFamily="18" charset="0"/>
                <a:cs typeface="Times New Roman" pitchFamily="18" charset="0"/>
              </a:rPr>
              <a:t>.</a:t>
            </a:r>
          </a:p>
          <a:p>
            <a:pPr lvl="1"/>
            <a:r>
              <a:rPr lang="en-IN" sz="2000" dirty="0">
                <a:latin typeface="Times New Roman" pitchFamily="18" charset="0"/>
                <a:cs typeface="Times New Roman" pitchFamily="18" charset="0"/>
              </a:rPr>
              <a:t>The engineered products of the company should be in such a way that they can never be used to perform any illegal or unsocial activities, which causes </a:t>
            </a:r>
            <a:r>
              <a:rPr lang="en-IN" sz="2000" dirty="0" smtClean="0">
                <a:latin typeface="Times New Roman" pitchFamily="18" charset="0"/>
                <a:cs typeface="Times New Roman" pitchFamily="18" charset="0"/>
              </a:rPr>
              <a:t>destruction.</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433787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30480"/>
            <a:ext cx="7498080" cy="487362"/>
          </a:xfrm>
        </p:spPr>
        <p:txBody>
          <a:bodyPr>
            <a:normAutofit fontScale="90000"/>
          </a:bodyPr>
          <a:lstStyle/>
          <a:p>
            <a:r>
              <a:rPr lang="en-US" dirty="0"/>
              <a:t>Continued..</a:t>
            </a:r>
            <a:endParaRPr lang="en-IN" dirty="0"/>
          </a:p>
        </p:txBody>
      </p:sp>
      <p:sp>
        <p:nvSpPr>
          <p:cNvPr id="3" name="Content Placeholder 2"/>
          <p:cNvSpPr>
            <a:spLocks noGrp="1"/>
          </p:cNvSpPr>
          <p:nvPr>
            <p:ph idx="1"/>
          </p:nvPr>
        </p:nvSpPr>
        <p:spPr>
          <a:xfrm>
            <a:off x="838200" y="762000"/>
            <a:ext cx="8153400" cy="6096000"/>
          </a:xfrm>
        </p:spPr>
        <p:txBody>
          <a:bodyPr>
            <a:normAutofit/>
          </a:bodyPr>
          <a:lstStyle/>
          <a:p>
            <a:pPr algn="just"/>
            <a:r>
              <a:rPr lang="en-IN" sz="2400" b="1" u="sng" dirty="0">
                <a:latin typeface="Times New Roman" pitchFamily="18" charset="0"/>
                <a:cs typeface="Times New Roman" pitchFamily="18" charset="0"/>
              </a:rPr>
              <a:t>Moral Autonomy</a:t>
            </a:r>
          </a:p>
          <a:p>
            <a:pPr lvl="1" algn="just"/>
            <a:r>
              <a:rPr lang="en-IN" sz="2200" dirty="0">
                <a:latin typeface="Times New Roman" pitchFamily="18" charset="0"/>
                <a:cs typeface="Times New Roman" pitchFamily="18" charset="0"/>
              </a:rPr>
              <a:t>Any person can be morally autonomous only when one is being genuine in one’s commitment towards moral values. </a:t>
            </a:r>
            <a:endParaRPr lang="en-IN" sz="2200" dirty="0" smtClean="0">
              <a:latin typeface="Times New Roman" pitchFamily="18" charset="0"/>
              <a:cs typeface="Times New Roman" pitchFamily="18" charset="0"/>
            </a:endParaRPr>
          </a:p>
          <a:p>
            <a:pPr lvl="1" algn="just"/>
            <a:r>
              <a:rPr lang="en-IN" sz="2200" dirty="0" smtClean="0">
                <a:latin typeface="Times New Roman" pitchFamily="18" charset="0"/>
                <a:cs typeface="Times New Roman" pitchFamily="18" charset="0"/>
              </a:rPr>
              <a:t>Moral </a:t>
            </a:r>
            <a:r>
              <a:rPr lang="en-IN" sz="2200" dirty="0">
                <a:latin typeface="Times New Roman" pitchFamily="18" charset="0"/>
                <a:cs typeface="Times New Roman" pitchFamily="18" charset="0"/>
              </a:rPr>
              <a:t>beliefs and attitudes must be integrated into an individual’s personality which leads to a committed </a:t>
            </a:r>
            <a:r>
              <a:rPr lang="en-IN" sz="2200" dirty="0" smtClean="0">
                <a:latin typeface="Times New Roman" pitchFamily="18" charset="0"/>
                <a:cs typeface="Times New Roman" pitchFamily="18" charset="0"/>
              </a:rPr>
              <a:t>action.</a:t>
            </a:r>
          </a:p>
          <a:p>
            <a:pPr lvl="1" algn="just"/>
            <a:r>
              <a:rPr lang="en-IN" sz="2200" dirty="0">
                <a:latin typeface="Times New Roman" pitchFamily="18" charset="0"/>
                <a:cs typeface="Times New Roman" pitchFamily="18" charset="0"/>
              </a:rPr>
              <a:t>The responsibility to answer an unexpected result, influences an engineer to involve himself personally into the work. This leads to moral autonomy wherein, he also gains the trust of the employer, through his commitment.</a:t>
            </a:r>
            <a:endParaRPr lang="en-IN" sz="2200" dirty="0" smtClean="0">
              <a:latin typeface="Times New Roman" pitchFamily="18" charset="0"/>
              <a:cs typeface="Times New Roman" pitchFamily="18" charset="0"/>
            </a:endParaRPr>
          </a:p>
          <a:p>
            <a:pPr lvl="1" algn="just"/>
            <a:endParaRPr lang="en-IN" sz="2400" dirty="0">
              <a:latin typeface="Times New Roman" pitchFamily="18" charset="0"/>
              <a:cs typeface="Times New Roman" pitchFamily="18" charset="0"/>
            </a:endParaRPr>
          </a:p>
          <a:p>
            <a:pPr algn="just"/>
            <a:r>
              <a:rPr lang="en-IN" sz="2400" b="1" u="sng" dirty="0" smtClean="0">
                <a:latin typeface="Times New Roman" pitchFamily="18" charset="0"/>
                <a:cs typeface="Times New Roman" pitchFamily="18" charset="0"/>
              </a:rPr>
              <a:t>Accountability</a:t>
            </a:r>
            <a:r>
              <a:rPr lang="en-IN" sz="2400" b="1" u="sng" dirty="0">
                <a:latin typeface="Times New Roman" pitchFamily="18" charset="0"/>
                <a:cs typeface="Times New Roman" pitchFamily="18" charset="0"/>
              </a:rPr>
              <a:t>/</a:t>
            </a:r>
            <a:r>
              <a:rPr lang="en-IN" sz="2400" b="1" u="sng" dirty="0" smtClean="0">
                <a:latin typeface="Times New Roman" pitchFamily="18" charset="0"/>
                <a:cs typeface="Times New Roman" pitchFamily="18" charset="0"/>
              </a:rPr>
              <a:t>(Moral responsibility)</a:t>
            </a:r>
            <a:endParaRPr lang="en-IN" sz="2400" b="1" u="sng" dirty="0">
              <a:latin typeface="Times New Roman" pitchFamily="18" charset="0"/>
              <a:cs typeface="Times New Roman" pitchFamily="18" charset="0"/>
            </a:endParaRPr>
          </a:p>
          <a:p>
            <a:pPr lvl="1" algn="just"/>
            <a:r>
              <a:rPr lang="en-IN" sz="2000" dirty="0">
                <a:latin typeface="Times New Roman" pitchFamily="18" charset="0"/>
                <a:cs typeface="Times New Roman" pitchFamily="18" charset="0"/>
              </a:rPr>
              <a:t>Accountability can be understood as the moral responsibility that we have towards our actions</a:t>
            </a:r>
            <a:r>
              <a:rPr lang="en-IN" sz="2000" dirty="0" smtClean="0">
                <a:latin typeface="Times New Roman" pitchFamily="18" charset="0"/>
                <a:cs typeface="Times New Roman" pitchFamily="18" charset="0"/>
              </a:rPr>
              <a:t>.</a:t>
            </a:r>
          </a:p>
          <a:p>
            <a:pPr lvl="1" algn="just"/>
            <a:r>
              <a:rPr lang="en-IN" sz="2000" dirty="0" smtClean="0">
                <a:latin typeface="Times New Roman" pitchFamily="18" charset="0"/>
                <a:cs typeface="Times New Roman" pitchFamily="18" charset="0"/>
              </a:rPr>
              <a:t> </a:t>
            </a:r>
            <a:r>
              <a:rPr lang="en-IN" sz="2000" dirty="0">
                <a:latin typeface="Times New Roman" pitchFamily="18" charset="0"/>
                <a:cs typeface="Times New Roman" pitchFamily="18" charset="0"/>
              </a:rPr>
              <a:t>It means a tendency to be willing to openly accept the moral examinations towards one’s actions and being responsive to the assessment of others.</a:t>
            </a:r>
          </a:p>
        </p:txBody>
      </p:sp>
    </p:spTree>
    <p:extLst>
      <p:ext uri="{BB962C8B-B14F-4D97-AF65-F5344CB8AC3E}">
        <p14:creationId xmlns:p14="http://schemas.microsoft.com/office/powerpoint/2010/main" val="560245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7498080" cy="1143000"/>
          </a:xfrm>
        </p:spPr>
        <p:txBody>
          <a:bodyPr>
            <a:normAutofit/>
          </a:bodyPr>
          <a:lstStyle/>
          <a:p>
            <a:r>
              <a:rPr lang="en-IN" sz="4000" b="1" dirty="0">
                <a:latin typeface="Times New Roman" pitchFamily="18" charset="0"/>
                <a:cs typeface="Times New Roman" pitchFamily="18" charset="0"/>
              </a:rPr>
              <a:t>CODES OF ETHICS</a:t>
            </a:r>
          </a:p>
        </p:txBody>
      </p:sp>
      <p:sp>
        <p:nvSpPr>
          <p:cNvPr id="3" name="Content Placeholder 2"/>
          <p:cNvSpPr>
            <a:spLocks noGrp="1"/>
          </p:cNvSpPr>
          <p:nvPr>
            <p:ph idx="1"/>
          </p:nvPr>
        </p:nvSpPr>
        <p:spPr>
          <a:xfrm>
            <a:off x="1066800" y="1143000"/>
            <a:ext cx="8077200" cy="5715000"/>
          </a:xfrm>
        </p:spPr>
        <p:txBody>
          <a:bodyPr>
            <a:normAutofit/>
          </a:bodyPr>
          <a:lstStyle/>
          <a:p>
            <a:pPr algn="just"/>
            <a:r>
              <a:rPr lang="en-IN" sz="2400" dirty="0">
                <a:latin typeface="Times New Roman" pitchFamily="18" charset="0"/>
                <a:cs typeface="Times New Roman" pitchFamily="18" charset="0"/>
              </a:rPr>
              <a:t> The ‘codes of ethics’ exhibit, rights, duties, and obligations of the members of a profession and a professional society</a:t>
            </a:r>
            <a:r>
              <a:rPr lang="en-IN" sz="2400" dirty="0" smtClean="0">
                <a:latin typeface="Times New Roman" pitchFamily="18" charset="0"/>
                <a:cs typeface="Times New Roman" pitchFamily="18" charset="0"/>
              </a:rPr>
              <a:t>.</a:t>
            </a:r>
          </a:p>
          <a:p>
            <a:pPr algn="just">
              <a:buNone/>
            </a:pPr>
            <a:endParaRPr lang="en-IN" sz="2400" dirty="0">
              <a:latin typeface="Times New Roman" pitchFamily="18" charset="0"/>
              <a:cs typeface="Times New Roman" pitchFamily="18" charset="0"/>
            </a:endParaRPr>
          </a:p>
          <a:p>
            <a:pPr algn="just"/>
            <a:r>
              <a:rPr lang="en-IN" sz="2400" b="1" i="1" dirty="0">
                <a:latin typeface="Times New Roman" pitchFamily="18" charset="0"/>
                <a:cs typeface="Times New Roman" pitchFamily="18" charset="0"/>
              </a:rPr>
              <a:t>The codes exhibit the following essential </a:t>
            </a:r>
            <a:r>
              <a:rPr lang="en-IN" sz="2400" b="1" i="1" dirty="0" smtClean="0">
                <a:latin typeface="Times New Roman" pitchFamily="18" charset="0"/>
                <a:cs typeface="Times New Roman" pitchFamily="18" charset="0"/>
              </a:rPr>
              <a:t>roles/functions:</a:t>
            </a:r>
            <a:endParaRPr lang="en-IN" sz="2400" b="1" i="1" dirty="0">
              <a:latin typeface="Times New Roman" pitchFamily="18" charset="0"/>
              <a:cs typeface="Times New Roman" pitchFamily="18" charset="0"/>
            </a:endParaRPr>
          </a:p>
          <a:p>
            <a:pPr lvl="1" algn="just"/>
            <a:r>
              <a:rPr lang="en-IN" sz="2400" dirty="0">
                <a:latin typeface="Times New Roman" pitchFamily="18" charset="0"/>
                <a:cs typeface="Times New Roman" pitchFamily="18" charset="0"/>
              </a:rPr>
              <a:t>Serving and protecting the </a:t>
            </a:r>
            <a:r>
              <a:rPr lang="en-IN" sz="2400" dirty="0" smtClean="0">
                <a:latin typeface="Times New Roman" pitchFamily="18" charset="0"/>
                <a:cs typeface="Times New Roman" pitchFamily="18" charset="0"/>
              </a:rPr>
              <a:t>public</a:t>
            </a:r>
          </a:p>
          <a:p>
            <a:pPr lvl="1" algn="just"/>
            <a:r>
              <a:rPr lang="en-IN" sz="2400" dirty="0" smtClean="0">
                <a:latin typeface="Times New Roman" pitchFamily="18" charset="0"/>
                <a:cs typeface="Times New Roman" pitchFamily="18" charset="0"/>
              </a:rPr>
              <a:t>Guidance</a:t>
            </a:r>
          </a:p>
          <a:p>
            <a:pPr lvl="1" algn="just"/>
            <a:r>
              <a:rPr lang="en-IN" sz="2400" dirty="0" smtClean="0">
                <a:latin typeface="Times New Roman" pitchFamily="18" charset="0"/>
                <a:cs typeface="Times New Roman" pitchFamily="18" charset="0"/>
              </a:rPr>
              <a:t>Inspiration </a:t>
            </a:r>
          </a:p>
          <a:p>
            <a:pPr lvl="1" algn="just"/>
            <a:r>
              <a:rPr lang="en-IN" sz="2400" dirty="0" smtClean="0">
                <a:latin typeface="Times New Roman" pitchFamily="18" charset="0"/>
                <a:cs typeface="Times New Roman" pitchFamily="18" charset="0"/>
              </a:rPr>
              <a:t>Shared Standards</a:t>
            </a:r>
          </a:p>
          <a:p>
            <a:pPr lvl="1" algn="just"/>
            <a:r>
              <a:rPr lang="en-IN" sz="2400" dirty="0">
                <a:latin typeface="Times New Roman" pitchFamily="18" charset="0"/>
                <a:cs typeface="Times New Roman" pitchFamily="18" charset="0"/>
              </a:rPr>
              <a:t>Support </a:t>
            </a:r>
            <a:r>
              <a:rPr lang="en-IN" sz="2400" dirty="0" smtClean="0">
                <a:latin typeface="Times New Roman" pitchFamily="18" charset="0"/>
                <a:cs typeface="Times New Roman" pitchFamily="18" charset="0"/>
              </a:rPr>
              <a:t>for responsible professionals</a:t>
            </a:r>
          </a:p>
          <a:p>
            <a:pPr lvl="1" algn="just"/>
            <a:r>
              <a:rPr lang="en-IN" sz="2400" dirty="0">
                <a:latin typeface="Times New Roman" pitchFamily="18" charset="0"/>
                <a:cs typeface="Times New Roman" pitchFamily="18" charset="0"/>
              </a:rPr>
              <a:t>Education and Mutual understanding</a:t>
            </a:r>
          </a:p>
          <a:p>
            <a:pPr lvl="1" algn="just"/>
            <a:r>
              <a:rPr lang="en-IN" sz="2400" dirty="0" smtClean="0">
                <a:latin typeface="Times New Roman" pitchFamily="18" charset="0"/>
                <a:cs typeface="Times New Roman" pitchFamily="18" charset="0"/>
              </a:rPr>
              <a:t>Deterrence </a:t>
            </a:r>
            <a:r>
              <a:rPr lang="en-IN" sz="2400" dirty="0">
                <a:latin typeface="Times New Roman" pitchFamily="18" charset="0"/>
                <a:cs typeface="Times New Roman" pitchFamily="18" charset="0"/>
              </a:rPr>
              <a:t>(discourage to act immorally) and discipline (regulate to act morally).</a:t>
            </a:r>
          </a:p>
          <a:p>
            <a:pPr lvl="1" algn="just"/>
            <a:r>
              <a:rPr lang="en-IN" sz="2400" dirty="0" smtClean="0">
                <a:latin typeface="Times New Roman" pitchFamily="18" charset="0"/>
                <a:cs typeface="Times New Roman" pitchFamily="18" charset="0"/>
              </a:rPr>
              <a:t>Contributing to the profession’s image</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682148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0"/>
            <a:ext cx="8305800" cy="6781800"/>
          </a:xfrm>
        </p:spPr>
        <p:txBody>
          <a:bodyPr/>
          <a:lstStyle/>
          <a:p>
            <a:pPr marL="82296" indent="0">
              <a:buNone/>
            </a:pP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52400"/>
            <a:ext cx="807720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9817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0"/>
            <a:ext cx="8382000" cy="6705600"/>
          </a:xfrm>
        </p:spPr>
        <p:txBody>
          <a:bodyPr/>
          <a:lstStyle/>
          <a:p>
            <a:pPr marL="82296" indent="0">
              <a:buNone/>
            </a:pP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62669"/>
            <a:ext cx="7803221" cy="6466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1414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943088" cy="1143000"/>
          </a:xfrm>
        </p:spPr>
        <p:txBody>
          <a:bodyPr>
            <a:normAutofit fontScale="90000"/>
          </a:bodyPr>
          <a:lstStyle/>
          <a:p>
            <a:pPr lvl="0"/>
            <a:r>
              <a:rPr lang="en-US" sz="3600" b="1" dirty="0" smtClean="0">
                <a:latin typeface="Times New Roman" pitchFamily="18" charset="0"/>
                <a:cs typeface="Times New Roman" pitchFamily="18" charset="0"/>
              </a:rPr>
              <a:t>Advantages(Why Code of ethics is important)</a:t>
            </a: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990600" y="1371600"/>
            <a:ext cx="7943088" cy="5486400"/>
          </a:xfrm>
        </p:spPr>
        <p:txBody>
          <a:bodyPr>
            <a:normAutofit/>
          </a:bodyPr>
          <a:lstStyle/>
          <a:p>
            <a:pPr algn="just"/>
            <a:r>
              <a:rPr lang="en-US" sz="2400" dirty="0">
                <a:latin typeface="Times New Roman" pitchFamily="18" charset="0"/>
                <a:cs typeface="Times New Roman" pitchFamily="18" charset="0"/>
              </a:rPr>
              <a:t>Set out the ideals and responsibilities of the profession.</a:t>
            </a:r>
          </a:p>
          <a:p>
            <a:pPr algn="just"/>
            <a:r>
              <a:rPr lang="en-IN" sz="2400" dirty="0">
                <a:latin typeface="Times New Roman" pitchFamily="18" charset="0"/>
                <a:cs typeface="Times New Roman" pitchFamily="18" charset="0"/>
              </a:rPr>
              <a:t>Exert a de facto regulatory effect protecting both clients and professionals.</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Improve the profile of the profession.</a:t>
            </a:r>
          </a:p>
          <a:p>
            <a:pPr algn="just"/>
            <a:r>
              <a:rPr lang="en-US" sz="2400" dirty="0">
                <a:latin typeface="Times New Roman" pitchFamily="18" charset="0"/>
                <a:cs typeface="Times New Roman" pitchFamily="18" charset="0"/>
              </a:rPr>
              <a:t>Motivate and inspire practitioners</a:t>
            </a:r>
          </a:p>
          <a:p>
            <a:pPr algn="just"/>
            <a:r>
              <a:rPr lang="en-US" sz="2400" dirty="0">
                <a:latin typeface="Times New Roman" pitchFamily="18" charset="0"/>
                <a:cs typeface="Times New Roman" pitchFamily="18" charset="0"/>
              </a:rPr>
              <a:t>Provide guidance.</a:t>
            </a:r>
          </a:p>
          <a:p>
            <a:pPr algn="just"/>
            <a:r>
              <a:rPr lang="en-US" sz="2400" dirty="0">
                <a:latin typeface="Times New Roman" pitchFamily="18" charset="0"/>
                <a:cs typeface="Times New Roman" pitchFamily="18" charset="0"/>
              </a:rPr>
              <a:t>Raise awareness and consciousness of issues.</a:t>
            </a:r>
          </a:p>
          <a:p>
            <a:pPr algn="just"/>
            <a:r>
              <a:rPr lang="en-US" sz="2400" dirty="0">
                <a:latin typeface="Times New Roman" pitchFamily="18" charset="0"/>
                <a:cs typeface="Times New Roman" pitchFamily="18" charset="0"/>
              </a:rPr>
              <a:t>Improve quality and consistency.</a:t>
            </a:r>
          </a:p>
        </p:txBody>
      </p:sp>
    </p:spTree>
    <p:extLst>
      <p:ext uri="{BB962C8B-B14F-4D97-AF65-F5344CB8AC3E}">
        <p14:creationId xmlns:p14="http://schemas.microsoft.com/office/powerpoint/2010/main" val="1111816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1143000"/>
          </a:xfrm>
        </p:spPr>
        <p:txBody>
          <a:bodyPr>
            <a:normAutofit/>
          </a:bodyPr>
          <a:lstStyle/>
          <a:p>
            <a:r>
              <a:rPr lang="en-US" sz="3600" b="1" dirty="0">
                <a:latin typeface="Times New Roman" pitchFamily="18" charset="0"/>
                <a:cs typeface="Times New Roman" pitchFamily="18" charset="0"/>
              </a:rPr>
              <a:t>Limitations</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a:xfrm>
            <a:off x="990600" y="1447800"/>
            <a:ext cx="7943088" cy="5410200"/>
          </a:xfrm>
        </p:spPr>
        <p:txBody>
          <a:bodyPr>
            <a:normAutofit/>
          </a:bodyPr>
          <a:lstStyle/>
          <a:p>
            <a:r>
              <a:rPr lang="en-US" sz="2400" dirty="0">
                <a:latin typeface="Times New Roman" pitchFamily="18" charset="0"/>
                <a:cs typeface="Times New Roman" pitchFamily="18" charset="0"/>
              </a:rPr>
              <a:t>General and vague wordings</a:t>
            </a:r>
          </a:p>
          <a:p>
            <a:r>
              <a:rPr lang="en-US" sz="2400" dirty="0">
                <a:latin typeface="Times New Roman" pitchFamily="18" charset="0"/>
                <a:cs typeface="Times New Roman" pitchFamily="18" charset="0"/>
              </a:rPr>
              <a:t>Not applicable to all situations</a:t>
            </a:r>
          </a:p>
          <a:p>
            <a:r>
              <a:rPr lang="en-US" sz="2400" dirty="0">
                <a:latin typeface="Times New Roman" pitchFamily="18" charset="0"/>
                <a:cs typeface="Times New Roman" pitchFamily="18" charset="0"/>
              </a:rPr>
              <a:t>Often have internal conflicts</a:t>
            </a:r>
          </a:p>
          <a:p>
            <a:pPr algn="just"/>
            <a:r>
              <a:rPr lang="en-IN" sz="2400" dirty="0">
                <a:latin typeface="Times New Roman" pitchFamily="18" charset="0"/>
                <a:cs typeface="Times New Roman" pitchFamily="18" charset="0"/>
              </a:rPr>
              <a:t>Can not be treated as final moral authority for professional conduct</a:t>
            </a:r>
          </a:p>
          <a:p>
            <a:pPr algn="just"/>
            <a:r>
              <a:rPr lang="en-IN" sz="2400" dirty="0">
                <a:latin typeface="Times New Roman" pitchFamily="18" charset="0"/>
                <a:cs typeface="Times New Roman" pitchFamily="18" charset="0"/>
              </a:rPr>
              <a:t>Only a few </a:t>
            </a:r>
            <a:r>
              <a:rPr lang="en-IN" sz="2400" dirty="0" err="1">
                <a:latin typeface="Times New Roman" pitchFamily="18" charset="0"/>
                <a:cs typeface="Times New Roman" pitchFamily="18" charset="0"/>
              </a:rPr>
              <a:t>enroll</a:t>
            </a:r>
            <a:r>
              <a:rPr lang="en-IN" sz="2400" dirty="0">
                <a:latin typeface="Times New Roman" pitchFamily="18" charset="0"/>
                <a:cs typeface="Times New Roman" pitchFamily="18" charset="0"/>
              </a:rPr>
              <a:t> as members in professional society</a:t>
            </a:r>
          </a:p>
          <a:p>
            <a:pPr lvl="1" algn="just"/>
            <a:r>
              <a:rPr lang="en-IN" sz="2400" dirty="0">
                <a:latin typeface="Times New Roman" pitchFamily="18" charset="0"/>
                <a:cs typeface="Times New Roman" pitchFamily="18" charset="0"/>
              </a:rPr>
              <a:t>Many are unaware of the codes</a:t>
            </a:r>
          </a:p>
          <a:p>
            <a:pPr algn="just"/>
            <a:r>
              <a:rPr lang="en-IN" sz="2400" dirty="0">
                <a:latin typeface="Times New Roman" pitchFamily="18" charset="0"/>
                <a:cs typeface="Times New Roman" pitchFamily="18" charset="0"/>
              </a:rPr>
              <a:t>Different societies have different </a:t>
            </a:r>
            <a:r>
              <a:rPr lang="en-IN" sz="2400" dirty="0" smtClean="0">
                <a:latin typeface="Times New Roman" pitchFamily="18" charset="0"/>
                <a:cs typeface="Times New Roman" pitchFamily="18" charset="0"/>
              </a:rPr>
              <a:t>codes.</a:t>
            </a:r>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Sometimes claimed to be threatening and forceful.</a:t>
            </a:r>
          </a:p>
        </p:txBody>
      </p:sp>
    </p:spTree>
    <p:extLst>
      <p:ext uri="{BB962C8B-B14F-4D97-AF65-F5344CB8AC3E}">
        <p14:creationId xmlns:p14="http://schemas.microsoft.com/office/powerpoint/2010/main" val="299882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28600"/>
            <a:ext cx="7498080" cy="1143000"/>
          </a:xfrm>
        </p:spPr>
        <p:txBody>
          <a:bodyPr>
            <a:normAutofit/>
          </a:bodyPr>
          <a:lstStyle/>
          <a:p>
            <a:r>
              <a:rPr lang="en-US" sz="4000" b="1" dirty="0">
                <a:latin typeface="Times New Roman" pitchFamily="18" charset="0"/>
                <a:cs typeface="Times New Roman" pitchFamily="18" charset="0"/>
              </a:rPr>
              <a:t>PLAGIARISM</a:t>
            </a:r>
            <a:endParaRPr lang="en-IN" sz="40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685800"/>
            <a:ext cx="8305800" cy="6172200"/>
          </a:xfrm>
        </p:spPr>
        <p:txBody>
          <a:bodyPr>
            <a:normAutofit lnSpcReduction="10000"/>
          </a:bodyPr>
          <a:lstStyle/>
          <a:p>
            <a:pPr algn="just"/>
            <a:r>
              <a:rPr lang="en-IN" sz="2200" dirty="0">
                <a:latin typeface="Times New Roman" pitchFamily="18" charset="0"/>
                <a:cs typeface="Times New Roman" pitchFamily="18" charset="0"/>
              </a:rPr>
              <a:t>Stanford sees plagiarism as the "use, without giving reasonable and appropriate credit to or acknowledging the author or source, of another person's original work, whether such work is made up of code, formulas, ideas, language, research, strategies, writing or other form</a:t>
            </a:r>
            <a:r>
              <a:rPr lang="en-IN" sz="2200" dirty="0" smtClean="0">
                <a:latin typeface="Times New Roman" pitchFamily="18" charset="0"/>
                <a:cs typeface="Times New Roman" pitchFamily="18" charset="0"/>
              </a:rPr>
              <a:t>.“</a:t>
            </a: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Princeton perceives plagiarism as the "deliberate" use of "someone else's language, ideas, or other original (not common-knowledge) material without acknowledging its source</a:t>
            </a:r>
            <a:r>
              <a:rPr lang="en-IN" sz="2200" dirty="0" smtClean="0">
                <a:latin typeface="Times New Roman" pitchFamily="18" charset="0"/>
                <a:cs typeface="Times New Roman" pitchFamily="18" charset="0"/>
              </a:rPr>
              <a:t>.“</a:t>
            </a: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Oxford characterizes plagiarism as the use of "a writer's ideas or phraseology without giving due credit</a:t>
            </a:r>
            <a:r>
              <a:rPr lang="en-IN" sz="2200" dirty="0" smtClean="0">
                <a:latin typeface="Times New Roman" pitchFamily="18" charset="0"/>
                <a:cs typeface="Times New Roman" pitchFamily="18" charset="0"/>
              </a:rPr>
              <a:t>.“</a:t>
            </a: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Plagiarism can occur in many forms (writing, art, music, computer code, mathematics etc.,) </a:t>
            </a:r>
            <a:endParaRPr lang="en-IN" sz="2200" dirty="0" smtClean="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What we call originality is actually the innovative combining, amending, or extending of material from that pool.</a:t>
            </a:r>
          </a:p>
        </p:txBody>
      </p:sp>
    </p:spTree>
    <p:extLst>
      <p:ext uri="{BB962C8B-B14F-4D97-AF65-F5344CB8AC3E}">
        <p14:creationId xmlns:p14="http://schemas.microsoft.com/office/powerpoint/2010/main" val="1233771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u="sng" dirty="0">
                <a:latin typeface="Times New Roman" pitchFamily="18" charset="0"/>
                <a:cs typeface="Times New Roman" pitchFamily="18" charset="0"/>
              </a:rPr>
              <a:t>Avoid Plagiarism</a:t>
            </a:r>
          </a:p>
        </p:txBody>
      </p:sp>
      <p:sp>
        <p:nvSpPr>
          <p:cNvPr id="3" name="Content Placeholder 2"/>
          <p:cNvSpPr>
            <a:spLocks noGrp="1"/>
          </p:cNvSpPr>
          <p:nvPr>
            <p:ph idx="1"/>
          </p:nvPr>
        </p:nvSpPr>
        <p:spPr>
          <a:xfrm>
            <a:off x="990600" y="1447800"/>
            <a:ext cx="7943088" cy="5257800"/>
          </a:xfrm>
        </p:spPr>
        <p:txBody>
          <a:bodyPr>
            <a:normAutofit/>
          </a:bodyPr>
          <a:lstStyle/>
          <a:p>
            <a:pPr algn="just"/>
            <a:r>
              <a:rPr lang="en-IN" sz="2400" dirty="0">
                <a:latin typeface="Times New Roman" pitchFamily="18" charset="0"/>
                <a:cs typeface="Times New Roman" pitchFamily="18" charset="0"/>
              </a:rPr>
              <a:t>Always distinguish between what has been learned from others and what is </a:t>
            </a:r>
            <a:r>
              <a:rPr lang="en-IN" sz="2400" dirty="0" smtClean="0">
                <a:latin typeface="Times New Roman" pitchFamily="18" charset="0"/>
                <a:cs typeface="Times New Roman" pitchFamily="18" charset="0"/>
              </a:rPr>
              <a:t>being personally </a:t>
            </a:r>
            <a:r>
              <a:rPr lang="en-IN" sz="2400" dirty="0">
                <a:latin typeface="Times New Roman" pitchFamily="18" charset="0"/>
                <a:cs typeface="Times New Roman" pitchFamily="18" charset="0"/>
              </a:rPr>
              <a:t>contributed to the reader's understanding</a:t>
            </a:r>
            <a:r>
              <a:rPr lang="en-IN" sz="2400" dirty="0" smtClean="0">
                <a:latin typeface="Times New Roman" pitchFamily="18" charset="0"/>
                <a:cs typeface="Times New Roman" pitchFamily="18" charset="0"/>
              </a:rPr>
              <a:t>.</a:t>
            </a:r>
          </a:p>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It is important to understand how to attribute words and ideas which are use to their proper source</a:t>
            </a:r>
            <a:r>
              <a:rPr lang="en-IN" sz="2400" dirty="0" smtClean="0">
                <a:latin typeface="Times New Roman" pitchFamily="18" charset="0"/>
                <a:cs typeface="Times New Roman" pitchFamily="18" charset="0"/>
              </a:rPr>
              <a:t>.</a:t>
            </a:r>
          </a:p>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Must learn how to declare intellectual debts</a:t>
            </a:r>
            <a:r>
              <a:rPr lang="en-IN" sz="2400" dirty="0" smtClean="0">
                <a:latin typeface="Times New Roman" pitchFamily="18" charset="0"/>
                <a:cs typeface="Times New Roman" pitchFamily="18" charset="0"/>
              </a:rPr>
              <a:t>.</a:t>
            </a:r>
          </a:p>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Proper attribution acknowledges those debts </a:t>
            </a:r>
            <a:r>
              <a:rPr lang="en-IN" sz="2400" b="1" dirty="0">
                <a:latin typeface="Times New Roman" pitchFamily="18" charset="0"/>
                <a:cs typeface="Times New Roman" pitchFamily="18" charset="0"/>
              </a:rPr>
              <a:t>responsibly, usefully, and respectfully</a:t>
            </a:r>
            <a:r>
              <a:rPr lang="en-IN" sz="2400" dirty="0">
                <a:latin typeface="Times New Roman" pitchFamily="18" charset="0"/>
                <a:cs typeface="Times New Roman" pitchFamily="18" charset="0"/>
              </a:rPr>
              <a:t>.</a:t>
            </a:r>
          </a:p>
        </p:txBody>
      </p:sp>
    </p:spTree>
    <p:extLst>
      <p:ext uri="{BB962C8B-B14F-4D97-AF65-F5344CB8AC3E}">
        <p14:creationId xmlns:p14="http://schemas.microsoft.com/office/powerpoint/2010/main" val="1923678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b="1" dirty="0">
                <a:latin typeface="Times New Roman" pitchFamily="18" charset="0"/>
                <a:cs typeface="Times New Roman" pitchFamily="18" charset="0"/>
              </a:rPr>
              <a:t>A BALANCED OUTLOOK ON LAW</a:t>
            </a:r>
          </a:p>
        </p:txBody>
      </p:sp>
      <p:sp>
        <p:nvSpPr>
          <p:cNvPr id="3" name="Content Placeholder 2"/>
          <p:cNvSpPr>
            <a:spLocks noGrp="1"/>
          </p:cNvSpPr>
          <p:nvPr>
            <p:ph idx="1"/>
          </p:nvPr>
        </p:nvSpPr>
        <p:spPr>
          <a:xfrm>
            <a:off x="990600" y="1447800"/>
            <a:ext cx="7943088" cy="5410200"/>
          </a:xfrm>
        </p:spPr>
        <p:txBody>
          <a:bodyPr>
            <a:normAutofit/>
          </a:bodyPr>
          <a:lstStyle/>
          <a:p>
            <a:pPr algn="just"/>
            <a:r>
              <a:rPr lang="en-IN" sz="2800" dirty="0">
                <a:latin typeface="Times New Roman" pitchFamily="18" charset="0"/>
                <a:cs typeface="Times New Roman" pitchFamily="18" charset="0"/>
              </a:rPr>
              <a:t>To live in harmony in the society, one should learn to maintain a balance between individual needs and collective needs of the society</a:t>
            </a:r>
            <a:r>
              <a:rPr lang="en-IN" sz="2800" dirty="0" smtClean="0">
                <a:latin typeface="Times New Roman" pitchFamily="18" charset="0"/>
                <a:cs typeface="Times New Roman" pitchFamily="18" charset="0"/>
              </a:rPr>
              <a:t>.</a:t>
            </a:r>
          </a:p>
          <a:p>
            <a:pPr algn="just"/>
            <a:endParaRPr lang="en-IN" sz="2800" dirty="0">
              <a:latin typeface="Times New Roman" pitchFamily="18" charset="0"/>
              <a:cs typeface="Times New Roman" pitchFamily="18" charset="0"/>
            </a:endParaRPr>
          </a:p>
          <a:p>
            <a:pPr algn="just"/>
            <a:r>
              <a:rPr lang="en-IN" sz="2800" dirty="0">
                <a:latin typeface="Times New Roman" pitchFamily="18" charset="0"/>
                <a:cs typeface="Times New Roman" pitchFamily="18" charset="0"/>
              </a:rPr>
              <a:t>The ‘balanced outlook on law’ in engineering practice stresses the necessity of laws and regulations and also their limitations in directing and controlling the engineering practice</a:t>
            </a:r>
            <a:r>
              <a:rPr lang="en-IN" sz="2800" dirty="0" smtClean="0">
                <a:latin typeface="Times New Roman" pitchFamily="18" charset="0"/>
                <a:cs typeface="Times New Roman" pitchFamily="18" charset="0"/>
              </a:rPr>
              <a:t>.</a:t>
            </a:r>
          </a:p>
          <a:p>
            <a:pPr algn="just"/>
            <a:endParaRPr lang="en-IN" sz="2800" dirty="0">
              <a:latin typeface="Times New Roman" pitchFamily="18" charset="0"/>
              <a:cs typeface="Times New Roman" pitchFamily="18" charset="0"/>
            </a:endParaRPr>
          </a:p>
          <a:p>
            <a:pPr algn="just"/>
            <a:r>
              <a:rPr lang="en-IN" sz="2800" dirty="0">
                <a:latin typeface="Times New Roman" pitchFamily="18" charset="0"/>
                <a:cs typeface="Times New Roman" pitchFamily="18" charset="0"/>
              </a:rPr>
              <a:t>Laws are needed to provide a minimum level of compliance</a:t>
            </a:r>
          </a:p>
        </p:txBody>
      </p:sp>
    </p:spTree>
    <p:extLst>
      <p:ext uri="{BB962C8B-B14F-4D97-AF65-F5344CB8AC3E}">
        <p14:creationId xmlns:p14="http://schemas.microsoft.com/office/powerpoint/2010/main" val="3089816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990600"/>
          </a:xfrm>
        </p:spPr>
        <p:txBody>
          <a:bodyPr>
            <a:normAutofit/>
          </a:bodyPr>
          <a:lstStyle/>
          <a:p>
            <a:r>
              <a:rPr lang="en-US" sz="3600" u="sng" dirty="0">
                <a:latin typeface="Times New Roman" pitchFamily="18" charset="0"/>
                <a:cs typeface="Times New Roman" pitchFamily="18" charset="0"/>
              </a:rPr>
              <a:t>Examples</a:t>
            </a:r>
            <a:endParaRPr lang="en-IN" sz="3600" u="sng" dirty="0">
              <a:latin typeface="Times New Roman" pitchFamily="18" charset="0"/>
              <a:cs typeface="Times New Roman" pitchFamily="18" charset="0"/>
            </a:endParaRPr>
          </a:p>
        </p:txBody>
      </p:sp>
      <p:sp>
        <p:nvSpPr>
          <p:cNvPr id="3" name="Content Placeholder 2"/>
          <p:cNvSpPr>
            <a:spLocks noGrp="1"/>
          </p:cNvSpPr>
          <p:nvPr>
            <p:ph idx="1"/>
          </p:nvPr>
        </p:nvSpPr>
        <p:spPr>
          <a:xfrm>
            <a:off x="762000" y="838200"/>
            <a:ext cx="8382000" cy="6019800"/>
          </a:xfrm>
        </p:spPr>
        <p:txBody>
          <a:bodyPr>
            <a:normAutofit fontScale="92500"/>
          </a:bodyPr>
          <a:lstStyle/>
          <a:p>
            <a:pPr algn="just"/>
            <a:r>
              <a:rPr lang="en-IN" sz="2400" b="1" dirty="0">
                <a:latin typeface="Times New Roman" pitchFamily="18" charset="0"/>
                <a:cs typeface="Times New Roman" pitchFamily="18" charset="0"/>
              </a:rPr>
              <a:t>Babylon’s Building Code </a:t>
            </a:r>
            <a:r>
              <a:rPr lang="en-IN" sz="2400" dirty="0">
                <a:latin typeface="Times New Roman" pitchFamily="18" charset="0"/>
                <a:cs typeface="Times New Roman" pitchFamily="18" charset="0"/>
              </a:rPr>
              <a:t>(1758 BC) set by Hammurabi, king of </a:t>
            </a:r>
            <a:r>
              <a:rPr lang="en-IN" sz="2400" dirty="0" smtClean="0">
                <a:latin typeface="Times New Roman" pitchFamily="18" charset="0"/>
                <a:cs typeface="Times New Roman" pitchFamily="18" charset="0"/>
              </a:rPr>
              <a:t>Babylon.</a:t>
            </a:r>
          </a:p>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It aimed at the builders of his time.</a:t>
            </a:r>
          </a:p>
          <a:p>
            <a:pPr marL="402336" lvl="1" indent="0" algn="just">
              <a:buNone/>
            </a:pPr>
            <a:r>
              <a:rPr lang="en-IN" sz="2400" dirty="0">
                <a:latin typeface="Times New Roman" pitchFamily="18" charset="0"/>
                <a:cs typeface="Times New Roman" pitchFamily="18" charset="0"/>
              </a:rPr>
              <a:t>“If a builder has built a house for a man and has not made his work sound, and the house which he has built was fallen down and so caused the death of the householder, that builder shall be put to death. If it causes the death of the house holder’s son, they shall put that builder’s son to death. If it causes the death of the house holder’s slave, he shall give slave to the householder.</a:t>
            </a:r>
          </a:p>
          <a:p>
            <a:pPr marL="402336" lvl="1" indent="0" algn="just">
              <a:buNone/>
            </a:pPr>
            <a:r>
              <a:rPr lang="en-IN" sz="2400" dirty="0">
                <a:latin typeface="Times New Roman" pitchFamily="18" charset="0"/>
                <a:cs typeface="Times New Roman" pitchFamily="18" charset="0"/>
              </a:rPr>
              <a:t>If it destroys property, he shall replace anything it has destroyed; and because he has not made the house sound which he has built and it has fallen down, he shall rebuild the house which has fallen down from his own property. If a builder has built a house for a man and does not make his work perfect and the wall bulges, that builder shall put that wall into sound condition at his own cost”.</a:t>
            </a:r>
          </a:p>
          <a:p>
            <a:pPr algn="just"/>
            <a:endParaRPr lang="en-IN" dirty="0"/>
          </a:p>
        </p:txBody>
      </p:sp>
    </p:spTree>
    <p:extLst>
      <p:ext uri="{BB962C8B-B14F-4D97-AF65-F5344CB8AC3E}">
        <p14:creationId xmlns:p14="http://schemas.microsoft.com/office/powerpoint/2010/main" val="825901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685800"/>
          </a:xfrm>
        </p:spPr>
        <p:txBody>
          <a:bodyPr>
            <a:normAutofit/>
          </a:bodyPr>
          <a:lstStyle/>
          <a:p>
            <a:r>
              <a:rPr lang="en-US" sz="3200" dirty="0">
                <a:latin typeface="Times New Roman" pitchFamily="18" charset="0"/>
                <a:cs typeface="Times New Roman" pitchFamily="18" charset="0"/>
              </a:rPr>
              <a:t>Continued..</a:t>
            </a: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a:xfrm>
            <a:off x="914400" y="685800"/>
            <a:ext cx="8019288" cy="6019800"/>
          </a:xfrm>
        </p:spPr>
        <p:txBody>
          <a:bodyPr>
            <a:normAutofit fontScale="92500" lnSpcReduction="10000"/>
          </a:bodyPr>
          <a:lstStyle/>
          <a:p>
            <a:pPr algn="just"/>
            <a:r>
              <a:rPr lang="en-IN" sz="2400" dirty="0">
                <a:latin typeface="Times New Roman" pitchFamily="18" charset="0"/>
                <a:cs typeface="Times New Roman" pitchFamily="18" charset="0"/>
              </a:rPr>
              <a:t>The </a:t>
            </a:r>
            <a:r>
              <a:rPr lang="en-IN" sz="2400" b="1" dirty="0">
                <a:latin typeface="Times New Roman" pitchFamily="18" charset="0"/>
                <a:cs typeface="Times New Roman" pitchFamily="18" charset="0"/>
              </a:rPr>
              <a:t>United States Steamboat Code </a:t>
            </a:r>
            <a:r>
              <a:rPr lang="en-IN" sz="2400" dirty="0">
                <a:latin typeface="Times New Roman" pitchFamily="18" charset="0"/>
                <a:cs typeface="Times New Roman" pitchFamily="18" charset="0"/>
              </a:rPr>
              <a:t>(1852 AD):</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steam engines used for travel during those days were really heavy and bulky with a major problem of boiler explosions</a:t>
            </a:r>
            <a:r>
              <a:rPr lang="en-IN" sz="2400" dirty="0" smtClean="0">
                <a:latin typeface="Times New Roman" pitchFamily="18" charset="0"/>
                <a:cs typeface="Times New Roman" pitchFamily="18" charset="0"/>
              </a:rPr>
              <a:t>.</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speed of the boats if increased led to the explosion of the boilers on steam boats causing disasters</a:t>
            </a:r>
            <a:endParaRPr lang="en-IN" sz="2400" dirty="0" smtClean="0">
              <a:latin typeface="Times New Roman" pitchFamily="18" charset="0"/>
              <a:cs typeface="Times New Roman" pitchFamily="18" charset="0"/>
            </a:endParaRPr>
          </a:p>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Alfred Guthrie, an engineer of Illinois had inspected around 200 steam boats with his own funding and found out the reasons for the boiler explosions and later prepared a report relating to the care that could be taken later</a:t>
            </a:r>
            <a:r>
              <a:rPr lang="en-IN" sz="2400" dirty="0" smtClean="0">
                <a:latin typeface="Times New Roman" pitchFamily="18" charset="0"/>
                <a:cs typeface="Times New Roman" pitchFamily="18" charset="0"/>
              </a:rPr>
              <a:t>.</a:t>
            </a:r>
          </a:p>
          <a:p>
            <a:pPr algn="just"/>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The recommendations were published by Senator Shields of Illinois and incorporated in senate documents which later was made a law, which made the ASME, to formulate the standards in the manufacturing of steam boats.</a:t>
            </a:r>
          </a:p>
        </p:txBody>
      </p:sp>
    </p:spTree>
    <p:extLst>
      <p:ext uri="{BB962C8B-B14F-4D97-AF65-F5344CB8AC3E}">
        <p14:creationId xmlns:p14="http://schemas.microsoft.com/office/powerpoint/2010/main" val="2874786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Autofit/>
          </a:bodyPr>
          <a:lstStyle/>
          <a:p>
            <a:r>
              <a:rPr lang="en-US" sz="4000" b="1" dirty="0">
                <a:latin typeface="Times New Roman" pitchFamily="18" charset="0"/>
                <a:cs typeface="Times New Roman" pitchFamily="18" charset="0"/>
              </a:rPr>
              <a:t>The Challenger Case study</a:t>
            </a:r>
            <a:br>
              <a:rPr lang="en-US" sz="4000" b="1" dirty="0">
                <a:latin typeface="Times New Roman" pitchFamily="18" charset="0"/>
                <a:cs typeface="Times New Roman" pitchFamily="18" charset="0"/>
              </a:rPr>
            </a:br>
            <a:endParaRPr lang="en-US" sz="4000" b="1" dirty="0">
              <a:latin typeface="Times New Roman" pitchFamily="18" charset="0"/>
              <a:cs typeface="Times New Roman" pitchFamily="18" charset="0"/>
            </a:endParaRPr>
          </a:p>
        </p:txBody>
      </p:sp>
      <p:sp>
        <p:nvSpPr>
          <p:cNvPr id="6" name="Content Placeholder 2"/>
          <p:cNvSpPr>
            <a:spLocks noGrp="1"/>
          </p:cNvSpPr>
          <p:nvPr>
            <p:ph idx="1"/>
          </p:nvPr>
        </p:nvSpPr>
        <p:spPr>
          <a:xfrm>
            <a:off x="990600" y="914400"/>
            <a:ext cx="8153400" cy="5943600"/>
          </a:xfrm>
        </p:spPr>
        <p:txBody>
          <a:bodyPr>
            <a:normAutofit fontScale="25000" lnSpcReduction="20000"/>
          </a:bodyPr>
          <a:lstStyle/>
          <a:p>
            <a:endParaRPr lang="en-US" dirty="0"/>
          </a:p>
          <a:p>
            <a:r>
              <a:rPr lang="en-US" sz="9600" dirty="0">
                <a:latin typeface="Times New Roman" pitchFamily="18" charset="0"/>
                <a:cs typeface="Times New Roman" pitchFamily="18" charset="0"/>
              </a:rPr>
              <a:t>Explosion of the space shuttle ‘Challenger’</a:t>
            </a:r>
          </a:p>
          <a:p>
            <a:endParaRPr lang="en-US" sz="9600" dirty="0">
              <a:latin typeface="Times New Roman" pitchFamily="18" charset="0"/>
              <a:cs typeface="Times New Roman" pitchFamily="18" charset="0"/>
            </a:endParaRPr>
          </a:p>
          <a:p>
            <a:r>
              <a:rPr lang="en-US" sz="9600" dirty="0">
                <a:latin typeface="Times New Roman" pitchFamily="18" charset="0"/>
                <a:cs typeface="Times New Roman" pitchFamily="18" charset="0"/>
              </a:rPr>
              <a:t>This case had been reviewed vigorously by </a:t>
            </a:r>
            <a:r>
              <a:rPr lang="en-US" sz="9600" dirty="0" err="1">
                <a:latin typeface="Times New Roman" pitchFamily="18" charset="0"/>
                <a:cs typeface="Times New Roman" pitchFamily="18" charset="0"/>
              </a:rPr>
              <a:t>mediacoverage</a:t>
            </a:r>
            <a:r>
              <a:rPr lang="en-US" sz="9600" dirty="0">
                <a:latin typeface="Times New Roman" pitchFamily="18" charset="0"/>
                <a:cs typeface="Times New Roman" pitchFamily="18" charset="0"/>
              </a:rPr>
              <a:t>, government reports and transcripts </a:t>
            </a:r>
            <a:r>
              <a:rPr lang="en-US" sz="9600" dirty="0" smtClean="0">
                <a:latin typeface="Times New Roman" pitchFamily="18" charset="0"/>
                <a:cs typeface="Times New Roman" pitchFamily="18" charset="0"/>
              </a:rPr>
              <a:t>of hearings</a:t>
            </a:r>
            <a:r>
              <a:rPr lang="en-US" sz="9600" dirty="0">
                <a:latin typeface="Times New Roman" pitchFamily="18" charset="0"/>
                <a:cs typeface="Times New Roman" pitchFamily="18" charset="0"/>
              </a:rPr>
              <a:t>. This case deals with many ethical </a:t>
            </a:r>
            <a:r>
              <a:rPr lang="en-US" sz="9600" dirty="0" smtClean="0">
                <a:latin typeface="Times New Roman" pitchFamily="18" charset="0"/>
                <a:cs typeface="Times New Roman" pitchFamily="18" charset="0"/>
              </a:rPr>
              <a:t>issues which </a:t>
            </a:r>
            <a:r>
              <a:rPr lang="en-US" sz="9600" dirty="0">
                <a:latin typeface="Times New Roman" pitchFamily="18" charset="0"/>
                <a:cs typeface="Times New Roman" pitchFamily="18" charset="0"/>
              </a:rPr>
              <a:t>engineers faced.</a:t>
            </a:r>
          </a:p>
          <a:p>
            <a:endParaRPr lang="en-US" sz="9600" dirty="0">
              <a:latin typeface="Times New Roman" pitchFamily="18" charset="0"/>
              <a:cs typeface="Times New Roman" pitchFamily="18" charset="0"/>
            </a:endParaRPr>
          </a:p>
          <a:p>
            <a:r>
              <a:rPr lang="en-US" sz="9600" dirty="0">
                <a:latin typeface="Times New Roman" pitchFamily="18" charset="0"/>
                <a:cs typeface="Times New Roman" pitchFamily="18" charset="0"/>
              </a:rPr>
              <a:t>It poses many questions before us. A few questions are listed below </a:t>
            </a:r>
            <a:endParaRPr lang="en-US" sz="9600" dirty="0" smtClean="0">
              <a:latin typeface="Times New Roman" pitchFamily="18" charset="0"/>
              <a:cs typeface="Times New Roman" pitchFamily="18" charset="0"/>
            </a:endParaRPr>
          </a:p>
          <a:p>
            <a:pPr lvl="1"/>
            <a:r>
              <a:rPr lang="en-US" sz="9200" dirty="0" smtClean="0">
                <a:latin typeface="Times New Roman" pitchFamily="18" charset="0"/>
                <a:cs typeface="Times New Roman" pitchFamily="18" charset="0"/>
              </a:rPr>
              <a:t>What </a:t>
            </a:r>
            <a:r>
              <a:rPr lang="en-US" sz="9200" dirty="0">
                <a:latin typeface="Times New Roman" pitchFamily="18" charset="0"/>
                <a:cs typeface="Times New Roman" pitchFamily="18" charset="0"/>
              </a:rPr>
              <a:t>is the exact role of the engineer when safety issues are </a:t>
            </a:r>
            <a:r>
              <a:rPr lang="en-US" sz="9200" dirty="0" smtClean="0">
                <a:latin typeface="Times New Roman" pitchFamily="18" charset="0"/>
                <a:cs typeface="Times New Roman" pitchFamily="18" charset="0"/>
              </a:rPr>
              <a:t>concerned?</a:t>
            </a:r>
          </a:p>
          <a:p>
            <a:pPr lvl="1"/>
            <a:endParaRPr lang="en-US" sz="9200" dirty="0" smtClean="0">
              <a:latin typeface="Times New Roman" pitchFamily="18" charset="0"/>
              <a:cs typeface="Times New Roman" pitchFamily="18" charset="0"/>
            </a:endParaRPr>
          </a:p>
          <a:p>
            <a:pPr lvl="1"/>
            <a:r>
              <a:rPr lang="en-US" sz="9600" dirty="0" smtClean="0">
                <a:latin typeface="Times New Roman" pitchFamily="18" charset="0"/>
                <a:cs typeface="Times New Roman" pitchFamily="18" charset="0"/>
              </a:rPr>
              <a:t>Who </a:t>
            </a:r>
            <a:r>
              <a:rPr lang="en-US" sz="9600" dirty="0">
                <a:latin typeface="Times New Roman" pitchFamily="18" charset="0"/>
                <a:cs typeface="Times New Roman" pitchFamily="18" charset="0"/>
              </a:rPr>
              <a:t>should have the ultimate authority for decision making to order for a </a:t>
            </a:r>
            <a:r>
              <a:rPr lang="en-US" sz="9600" dirty="0" smtClean="0">
                <a:latin typeface="Times New Roman" pitchFamily="18" charset="0"/>
                <a:cs typeface="Times New Roman" pitchFamily="18" charset="0"/>
              </a:rPr>
              <a:t>launch?</a:t>
            </a:r>
          </a:p>
          <a:p>
            <a:pPr lvl="1"/>
            <a:endParaRPr lang="en-US" sz="9600" dirty="0" smtClean="0">
              <a:latin typeface="Times New Roman" pitchFamily="18" charset="0"/>
              <a:cs typeface="Times New Roman" pitchFamily="18" charset="0"/>
            </a:endParaRPr>
          </a:p>
          <a:p>
            <a:pPr lvl="1"/>
            <a:r>
              <a:rPr lang="en-US" sz="9600" dirty="0" smtClean="0">
                <a:latin typeface="Times New Roman" pitchFamily="18" charset="0"/>
                <a:cs typeface="Times New Roman" pitchFamily="18" charset="0"/>
              </a:rPr>
              <a:t>Whether </a:t>
            </a:r>
            <a:r>
              <a:rPr lang="en-US" sz="9600" dirty="0">
                <a:latin typeface="Times New Roman" pitchFamily="18" charset="0"/>
                <a:cs typeface="Times New Roman" pitchFamily="18" charset="0"/>
              </a:rPr>
              <a:t>the ordering of a launch be an engineering or a managerial decision?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itchFamily="18" charset="0"/>
                <a:cs typeface="Times New Roman" pitchFamily="18" charset="0"/>
              </a:rPr>
              <a:t>The Challenger Case </a:t>
            </a:r>
            <a:r>
              <a:rPr lang="en-US" sz="3200" dirty="0" smtClean="0">
                <a:latin typeface="Times New Roman" pitchFamily="18" charset="0"/>
                <a:cs typeface="Times New Roman" pitchFamily="18" charset="0"/>
              </a:rPr>
              <a:t>study contd.</a:t>
            </a:r>
            <a:r>
              <a:rPr lang="en-US" sz="3200" dirty="0">
                <a:latin typeface="Times New Roman" pitchFamily="18" charset="0"/>
                <a:cs typeface="Times New Roman" pitchFamily="18" charset="0"/>
              </a:rPr>
              <a:t/>
            </a:r>
            <a:br>
              <a:rPr lang="en-US" sz="3200" dirty="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990600" y="1447800"/>
            <a:ext cx="7943088" cy="5334000"/>
          </a:xfrm>
        </p:spPr>
        <p:txBody>
          <a:bodyPr>
            <a:normAutofit/>
          </a:bodyPr>
          <a:lstStyle/>
          <a:p>
            <a:r>
              <a:rPr lang="en-US" sz="2200" dirty="0">
                <a:latin typeface="Times New Roman" pitchFamily="18" charset="0"/>
                <a:cs typeface="Times New Roman" pitchFamily="18" charset="0"/>
              </a:rPr>
              <a:t>Challenger space shuttle mainly consisted of an orbiter, two solid propellant boosters and a single liquid-propeller booster, which was actually designed to be a reusable one. All the boosters were ignited and the orbiter took a lift-off from the earth. But the cold temperature caused trouble to the O-rings which were eroded.</a:t>
            </a:r>
          </a:p>
          <a:p>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accident took place on 28th January 1986,due to the failure of one of the solid boosters. In the design of the space shuttle, the main parts which needed careful design of the fields joints where the individual cylinders were placed together.</a:t>
            </a:r>
          </a:p>
          <a:p>
            <a:endParaRPr lang="en-US" sz="22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498080" cy="1143000"/>
          </a:xfrm>
        </p:spPr>
        <p:txBody>
          <a:bodyPr>
            <a:normAutofit/>
          </a:bodyPr>
          <a:lstStyle/>
          <a:p>
            <a:r>
              <a:rPr lang="en-US" sz="3200" dirty="0">
                <a:latin typeface="Times New Roman" pitchFamily="18" charset="0"/>
                <a:cs typeface="Times New Roman" pitchFamily="18" charset="0"/>
              </a:rPr>
              <a:t>Challenger Case </a:t>
            </a:r>
            <a:r>
              <a:rPr lang="en-US" sz="3200" dirty="0" smtClean="0">
                <a:latin typeface="Times New Roman" pitchFamily="18" charset="0"/>
                <a:cs typeface="Times New Roman" pitchFamily="18" charset="0"/>
              </a:rPr>
              <a:t>study contd. </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1066800" y="1143000"/>
            <a:ext cx="8077200" cy="5715000"/>
          </a:xfrm>
        </p:spPr>
        <p:txBody>
          <a:bodyPr>
            <a:normAutofit/>
          </a:bodyPr>
          <a:lstStyle/>
          <a:p>
            <a:r>
              <a:rPr lang="en-US" sz="2400" dirty="0" smtClean="0">
                <a:latin typeface="Times New Roman" pitchFamily="18" charset="0"/>
                <a:cs typeface="Times New Roman" pitchFamily="18" charset="0"/>
              </a:rPr>
              <a:t>President </a:t>
            </a:r>
            <a:r>
              <a:rPr lang="en-US" sz="2400" dirty="0">
                <a:latin typeface="Times New Roman" pitchFamily="18" charset="0"/>
                <a:cs typeface="Times New Roman" pitchFamily="18" charset="0"/>
              </a:rPr>
              <a:t>Regan appointed a </a:t>
            </a:r>
            <a:r>
              <a:rPr lang="en-US" sz="2400" dirty="0" smtClean="0">
                <a:latin typeface="Times New Roman" pitchFamily="18" charset="0"/>
                <a:cs typeface="Times New Roman" pitchFamily="18" charset="0"/>
              </a:rPr>
              <a:t>commission called </a:t>
            </a:r>
            <a:r>
              <a:rPr lang="en-US" sz="2400" dirty="0">
                <a:latin typeface="Times New Roman" pitchFamily="18" charset="0"/>
                <a:cs typeface="Times New Roman" pitchFamily="18" charset="0"/>
              </a:rPr>
              <a:t>the Rogers Commission </a:t>
            </a:r>
            <a:r>
              <a:rPr lang="en-US" sz="2400" dirty="0" smtClean="0">
                <a:latin typeface="Times New Roman" pitchFamily="18" charset="0"/>
                <a:cs typeface="Times New Roman" pitchFamily="18" charset="0"/>
              </a:rPr>
              <a:t>which constituted </a:t>
            </a:r>
            <a:r>
              <a:rPr lang="en-US" sz="2400" dirty="0">
                <a:latin typeface="Times New Roman" pitchFamily="18" charset="0"/>
                <a:cs typeface="Times New Roman" pitchFamily="18" charset="0"/>
              </a:rPr>
              <a:t>of many distinguished </a:t>
            </a:r>
            <a:r>
              <a:rPr lang="en-US" sz="2400" dirty="0" smtClean="0">
                <a:latin typeface="Times New Roman" pitchFamily="18" charset="0"/>
                <a:cs typeface="Times New Roman" pitchFamily="18" charset="0"/>
              </a:rPr>
              <a:t>scientists and </a:t>
            </a:r>
            <a:r>
              <a:rPr lang="en-US" sz="2400" dirty="0">
                <a:latin typeface="Times New Roman" pitchFamily="18" charset="0"/>
                <a:cs typeface="Times New Roman" pitchFamily="18" charset="0"/>
              </a:rPr>
              <a:t>engineers.</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The investigation results shows how lack </a:t>
            </a:r>
            <a:r>
              <a:rPr lang="en-US" sz="2400" dirty="0" smtClean="0">
                <a:latin typeface="Times New Roman" pitchFamily="18" charset="0"/>
                <a:cs typeface="Times New Roman" pitchFamily="18" charset="0"/>
              </a:rPr>
              <a:t>of responsibility </a:t>
            </a:r>
            <a:r>
              <a:rPr lang="en-US" sz="2400" dirty="0">
                <a:latin typeface="Times New Roman" pitchFamily="18" charset="0"/>
                <a:cs typeface="Times New Roman" pitchFamily="18" charset="0"/>
              </a:rPr>
              <a:t>and morality, </a:t>
            </a:r>
            <a:r>
              <a:rPr lang="en-US" sz="2400" dirty="0" smtClean="0">
                <a:latin typeface="Times New Roman" pitchFamily="18" charset="0"/>
                <a:cs typeface="Times New Roman" pitchFamily="18" charset="0"/>
              </a:rPr>
              <a:t>improper functions</a:t>
            </a:r>
            <a:r>
              <a:rPr lang="en-US" sz="2400" dirty="0">
                <a:latin typeface="Times New Roman" pitchFamily="18" charset="0"/>
                <a:cs typeface="Times New Roman" pitchFamily="18" charset="0"/>
              </a:rPr>
              <a:t>, and </a:t>
            </a:r>
            <a:r>
              <a:rPr lang="en-US" sz="2400" dirty="0" smtClean="0">
                <a:latin typeface="Times New Roman" pitchFamily="18" charset="0"/>
                <a:cs typeface="Times New Roman" pitchFamily="18" charset="0"/>
              </a:rPr>
              <a:t>lack of </a:t>
            </a:r>
            <a:r>
              <a:rPr lang="en-US" sz="2400" dirty="0">
                <a:latin typeface="Times New Roman" pitchFamily="18" charset="0"/>
                <a:cs typeface="Times New Roman" pitchFamily="18" charset="0"/>
              </a:rPr>
              <a:t>performance of duties </a:t>
            </a:r>
            <a:r>
              <a:rPr lang="en-US" sz="2400" dirty="0" smtClean="0">
                <a:latin typeface="Times New Roman" pitchFamily="18" charset="0"/>
                <a:cs typeface="Times New Roman" pitchFamily="18" charset="0"/>
              </a:rPr>
              <a:t>of the </a:t>
            </a:r>
            <a:r>
              <a:rPr lang="en-US" sz="2400" dirty="0">
                <a:latin typeface="Times New Roman" pitchFamily="18" charset="0"/>
                <a:cs typeface="Times New Roman" pitchFamily="18" charset="0"/>
              </a:rPr>
              <a:t>engineers resulted in the crash.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normAutofit fontScale="90000"/>
          </a:bodyPr>
          <a:lstStyle/>
          <a:p>
            <a:r>
              <a:rPr lang="en-US" sz="3600" b="1" u="sng" dirty="0">
                <a:latin typeface="Times New Roman" pitchFamily="18" charset="0"/>
                <a:cs typeface="Times New Roman" pitchFamily="18" charset="0"/>
              </a:rPr>
              <a:t>The Challenger Case study : Inferences</a:t>
            </a:r>
            <a:r>
              <a:rPr lang="en-US" b="1" u="sng" dirty="0"/>
              <a:t/>
            </a:r>
            <a:br>
              <a:rPr lang="en-US" b="1" u="sng" dirty="0"/>
            </a:br>
            <a:endParaRPr lang="en-US" b="1" u="sng" dirty="0"/>
          </a:p>
        </p:txBody>
      </p:sp>
      <p:sp>
        <p:nvSpPr>
          <p:cNvPr id="3" name="Content Placeholder 2"/>
          <p:cNvSpPr>
            <a:spLocks noGrp="1"/>
          </p:cNvSpPr>
          <p:nvPr>
            <p:ph idx="1"/>
          </p:nvPr>
        </p:nvSpPr>
        <p:spPr>
          <a:xfrm>
            <a:off x="1066800" y="990600"/>
            <a:ext cx="7848600" cy="5867400"/>
          </a:xfrm>
        </p:spPr>
        <p:txBody>
          <a:bodyPr lIns="91440" tIns="45720" rIns="91440" bIns="45720" anchor="t">
            <a:normAutofit/>
          </a:bodyPr>
          <a:lstStyle/>
          <a:p>
            <a:pPr indent="-283210">
              <a:buNone/>
            </a:pPr>
            <a:r>
              <a:rPr lang="en-US" sz="2600" b="1" u="sng" dirty="0" smtClean="0">
                <a:latin typeface="Times New Roman" pitchFamily="18" charset="0"/>
                <a:cs typeface="Times New Roman" pitchFamily="18" charset="0"/>
              </a:rPr>
              <a:t>Moral/Normative </a:t>
            </a:r>
            <a:r>
              <a:rPr lang="en-US" sz="2600" b="1" u="sng" dirty="0">
                <a:latin typeface="Times New Roman" pitchFamily="18" charset="0"/>
                <a:cs typeface="Times New Roman" pitchFamily="18" charset="0"/>
              </a:rPr>
              <a:t>Issues</a:t>
            </a:r>
          </a:p>
          <a:p>
            <a:pPr indent="-283210"/>
            <a:endParaRPr lang="en-US" sz="2600" dirty="0">
              <a:latin typeface="Times New Roman" pitchFamily="18" charset="0"/>
              <a:cs typeface="Times New Roman" pitchFamily="18" charset="0"/>
            </a:endParaRPr>
          </a:p>
          <a:p>
            <a:pPr indent="-283210" algn="just"/>
            <a:r>
              <a:rPr lang="en-US" sz="2400" dirty="0">
                <a:latin typeface="Times New Roman" pitchFamily="18" charset="0"/>
                <a:cs typeface="Times New Roman" pitchFamily="18" charset="0"/>
              </a:rPr>
              <a:t>The crew had no escape mechanism.  A ‘safe exit’ was </a:t>
            </a:r>
            <a:r>
              <a:rPr lang="en-US" sz="2400" dirty="0" smtClean="0">
                <a:latin typeface="Times New Roman" pitchFamily="18" charset="0"/>
                <a:cs typeface="Times New Roman" pitchFamily="18" charset="0"/>
              </a:rPr>
              <a:t>rejected </a:t>
            </a:r>
            <a:r>
              <a:rPr lang="en-US" sz="2400" dirty="0">
                <a:latin typeface="Times New Roman" pitchFamily="18" charset="0"/>
                <a:cs typeface="Times New Roman" pitchFamily="18" charset="0"/>
              </a:rPr>
              <a:t>as too expensive</a:t>
            </a:r>
          </a:p>
          <a:p>
            <a:pPr indent="-283210" algn="just"/>
            <a:endParaRPr lang="en-US" sz="2400" dirty="0">
              <a:latin typeface="Times New Roman" pitchFamily="18" charset="0"/>
              <a:cs typeface="Times New Roman" pitchFamily="18" charset="0"/>
            </a:endParaRPr>
          </a:p>
          <a:p>
            <a:pPr indent="-283210" algn="just"/>
            <a:r>
              <a:rPr lang="en-US" sz="2400" dirty="0">
                <a:latin typeface="Times New Roman" pitchFamily="18" charset="0"/>
                <a:cs typeface="Times New Roman" pitchFamily="18" charset="0"/>
              </a:rPr>
              <a:t>The crew were not informed of the problems existing in the field joints.</a:t>
            </a:r>
          </a:p>
          <a:p>
            <a:pPr indent="-283210" algn="just"/>
            <a:endParaRPr lang="en-US" sz="2400" dirty="0">
              <a:latin typeface="Times New Roman" pitchFamily="18" charset="0"/>
              <a:cs typeface="Times New Roman" pitchFamily="18" charset="0"/>
            </a:endParaRPr>
          </a:p>
          <a:p>
            <a:pPr indent="-283210" algn="just"/>
            <a:r>
              <a:rPr lang="en-US" sz="2400" dirty="0">
                <a:latin typeface="Times New Roman" pitchFamily="18" charset="0"/>
                <a:cs typeface="Times New Roman" pitchFamily="18" charset="0"/>
              </a:rPr>
              <a:t>Engineers gave warning signals on safety. But the management group prevailed over and ignored the warning.</a:t>
            </a:r>
          </a:p>
          <a:p>
            <a:pPr indent="-283210"/>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smtClean="0">
                <a:latin typeface="Times New Roman" pitchFamily="18" charset="0"/>
                <a:cs typeface="Times New Roman" pitchFamily="18" charset="0"/>
              </a:rPr>
              <a:t>The Challenger Case study : Inferences</a:t>
            </a:r>
            <a:br>
              <a:rPr lang="en-US" sz="3200" b="1" u="sng" dirty="0" smtClean="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8153400" cy="5715000"/>
          </a:xfrm>
        </p:spPr>
        <p:txBody>
          <a:bodyPr>
            <a:normAutofit/>
          </a:bodyPr>
          <a:lstStyle/>
          <a:p>
            <a:pPr>
              <a:buNone/>
            </a:pPr>
            <a:r>
              <a:rPr lang="en-US" sz="2600" b="1" u="sng" dirty="0">
                <a:latin typeface="Times New Roman" pitchFamily="18" charset="0"/>
                <a:cs typeface="Times New Roman" pitchFamily="18" charset="0"/>
              </a:rPr>
              <a:t>Conceptual Issues</a:t>
            </a:r>
          </a:p>
          <a:p>
            <a:r>
              <a:rPr lang="en-US" sz="2400" dirty="0" smtClean="0">
                <a:latin typeface="Times New Roman" pitchFamily="18" charset="0"/>
                <a:cs typeface="Times New Roman" pitchFamily="18" charset="0"/>
              </a:rPr>
              <a:t>NASA </a:t>
            </a:r>
            <a:r>
              <a:rPr lang="en-US" sz="2400" dirty="0">
                <a:latin typeface="Times New Roman" pitchFamily="18" charset="0"/>
                <a:cs typeface="Times New Roman" pitchFamily="18" charset="0"/>
              </a:rPr>
              <a:t>counted that the probability of failure of the craft was one in one </a:t>
            </a:r>
            <a:r>
              <a:rPr lang="en-US" sz="2400" dirty="0" err="1">
                <a:latin typeface="Times New Roman" pitchFamily="18" charset="0"/>
                <a:cs typeface="Times New Roman" pitchFamily="18" charset="0"/>
              </a:rPr>
              <a:t>lakh</a:t>
            </a:r>
            <a:r>
              <a:rPr lang="en-US" sz="2400" dirty="0">
                <a:latin typeface="Times New Roman" pitchFamily="18" charset="0"/>
                <a:cs typeface="Times New Roman" pitchFamily="18" charset="0"/>
              </a:rPr>
              <a:t> launches</a:t>
            </a:r>
            <a:r>
              <a:rPr lang="en-US" sz="2400" dirty="0" smtClean="0">
                <a:latin typeface="Times New Roman" pitchFamily="18" charset="0"/>
                <a:cs typeface="Times New Roman" pitchFamily="18" charset="0"/>
              </a:rPr>
              <a:t>.</a:t>
            </a: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There were 700 criticality items, which included the field joints.  A failure in any one of them would have caused the tragedy. </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No back-up or </a:t>
            </a:r>
            <a:r>
              <a:rPr lang="en-US" sz="2400" dirty="0" smtClean="0">
                <a:latin typeface="Times New Roman" pitchFamily="18" charset="0"/>
                <a:cs typeface="Times New Roman" pitchFamily="18" charset="0"/>
              </a:rPr>
              <a:t>stand-by </a:t>
            </a:r>
            <a:r>
              <a:rPr lang="en-US" sz="2400" dirty="0">
                <a:latin typeface="Times New Roman" pitchFamily="18" charset="0"/>
                <a:cs typeface="Times New Roman" pitchFamily="18" charset="0"/>
              </a:rPr>
              <a:t>had been provided for these criticality components.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u="sng" dirty="0">
                <a:latin typeface="Times New Roman" pitchFamily="18" charset="0"/>
                <a:cs typeface="Times New Roman" pitchFamily="18" charset="0"/>
              </a:rPr>
              <a:t>The Challenger Case study : Inferences</a:t>
            </a:r>
            <a:r>
              <a:rPr lang="en-US" dirty="0"/>
              <a:t/>
            </a:r>
            <a:br>
              <a:rPr lang="en-US" dirty="0"/>
            </a:br>
            <a:endParaRPr lang="en-US" dirty="0"/>
          </a:p>
        </p:txBody>
      </p:sp>
      <p:sp>
        <p:nvSpPr>
          <p:cNvPr id="3" name="Content Placeholder 2"/>
          <p:cNvSpPr>
            <a:spLocks noGrp="1"/>
          </p:cNvSpPr>
          <p:nvPr>
            <p:ph idx="1"/>
          </p:nvPr>
        </p:nvSpPr>
        <p:spPr>
          <a:xfrm>
            <a:off x="1066800" y="1295400"/>
            <a:ext cx="7924800" cy="5562600"/>
          </a:xfrm>
        </p:spPr>
        <p:txBody>
          <a:bodyPr lIns="91440" tIns="45720" rIns="91440" bIns="45720" anchor="t">
            <a:normAutofit/>
          </a:bodyPr>
          <a:lstStyle/>
          <a:p>
            <a:pPr indent="-283210">
              <a:buNone/>
            </a:pPr>
            <a:r>
              <a:rPr lang="en-US" sz="2600" b="1" u="sng" dirty="0">
                <a:latin typeface="Times New Roman" pitchFamily="18" charset="0"/>
                <a:cs typeface="Times New Roman" pitchFamily="18" charset="0"/>
              </a:rPr>
              <a:t>Factual/Descriptive Issues</a:t>
            </a:r>
            <a:endParaRPr lang="en-US" sz="2600" u="sng" dirty="0">
              <a:latin typeface="Times New Roman" pitchFamily="18" charset="0"/>
              <a:cs typeface="Times New Roman" pitchFamily="18" charset="0"/>
            </a:endParaRPr>
          </a:p>
          <a:p>
            <a:pPr indent="-283210"/>
            <a:endParaRPr lang="en-US" sz="2400" dirty="0">
              <a:latin typeface="Times New Roman" pitchFamily="18" charset="0"/>
              <a:cs typeface="Times New Roman" pitchFamily="18" charset="0"/>
            </a:endParaRPr>
          </a:p>
          <a:p>
            <a:pPr indent="-283210" algn="just"/>
            <a:r>
              <a:rPr lang="en-US" sz="2400" dirty="0">
                <a:latin typeface="Times New Roman" pitchFamily="18" charset="0"/>
                <a:cs typeface="Times New Roman" pitchFamily="18" charset="0"/>
              </a:rPr>
              <a:t>Field joints gave way in earlier flights. But the authorities felt the risk is not high</a:t>
            </a:r>
            <a:r>
              <a:rPr lang="en-US" sz="2400" dirty="0" smtClean="0">
                <a:latin typeface="Times New Roman" pitchFamily="18" charset="0"/>
                <a:cs typeface="Times New Roman" pitchFamily="18" charset="0"/>
              </a:rPr>
              <a:t>.</a:t>
            </a:r>
          </a:p>
          <a:p>
            <a:pPr indent="-283210" algn="just"/>
            <a:endParaRPr lang="en-US" sz="2400" dirty="0">
              <a:latin typeface="Times New Roman" pitchFamily="18" charset="0"/>
              <a:cs typeface="Times New Roman" pitchFamily="18" charset="0"/>
            </a:endParaRPr>
          </a:p>
          <a:p>
            <a:pPr indent="-283210" algn="just"/>
            <a:r>
              <a:rPr lang="en-US" sz="2400" dirty="0">
                <a:latin typeface="Times New Roman" pitchFamily="18" charset="0"/>
                <a:cs typeface="Times New Roman" pitchFamily="18" charset="0"/>
              </a:rPr>
              <a:t>NASA has disregarded warnings about the bad weather, at </a:t>
            </a:r>
            <a:r>
              <a:rPr lang="en-US" sz="2400" dirty="0" smtClean="0">
                <a:latin typeface="Times New Roman" pitchFamily="18" charset="0"/>
                <a:cs typeface="Times New Roman" pitchFamily="18" charset="0"/>
              </a:rPr>
              <a:t>the time </a:t>
            </a:r>
            <a:r>
              <a:rPr lang="en-US" sz="2400" dirty="0">
                <a:latin typeface="Times New Roman" pitchFamily="18" charset="0"/>
                <a:cs typeface="Times New Roman" pitchFamily="18" charset="0"/>
              </a:rPr>
              <a:t>of launch, because they wanted to complete the </a:t>
            </a:r>
            <a:r>
              <a:rPr lang="en-US" sz="2400" dirty="0" smtClean="0">
                <a:latin typeface="Times New Roman" pitchFamily="18" charset="0"/>
                <a:cs typeface="Times New Roman" pitchFamily="18" charset="0"/>
              </a:rPr>
              <a:t>project, prove </a:t>
            </a:r>
            <a:r>
              <a:rPr lang="en-US" sz="2400" dirty="0">
                <a:latin typeface="Times New Roman" pitchFamily="18" charset="0"/>
                <a:cs typeface="Times New Roman" pitchFamily="18" charset="0"/>
              </a:rPr>
              <a:t>their supremacy, get the funding from </a:t>
            </a:r>
            <a:r>
              <a:rPr lang="en-US" sz="2400" dirty="0" smtClean="0">
                <a:latin typeface="Times New Roman" pitchFamily="18" charset="0"/>
                <a:cs typeface="Times New Roman" pitchFamily="18" charset="0"/>
              </a:rPr>
              <a:t>Government continued </a:t>
            </a:r>
            <a:r>
              <a:rPr lang="en-US" sz="2400" dirty="0">
                <a:latin typeface="Times New Roman" pitchFamily="18" charset="0"/>
                <a:cs typeface="Times New Roman" pitchFamily="18" charset="0"/>
              </a:rPr>
              <a:t>and get an applaud from the President of USA.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Times New Roman" pitchFamily="18" charset="0"/>
                <a:cs typeface="Times New Roman" pitchFamily="18" charset="0"/>
              </a:rPr>
              <a:t>BHOPAL GAS TRAGEDY</a:t>
            </a:r>
            <a:br>
              <a:rPr lang="en-US" sz="3600" b="1" dirty="0">
                <a:latin typeface="Times New Roman" pitchFamily="18" charset="0"/>
                <a:cs typeface="Times New Roman" pitchFamily="18" charset="0"/>
              </a:rPr>
            </a:b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1066800" y="1219200"/>
            <a:ext cx="8077200" cy="5638800"/>
          </a:xfrm>
        </p:spPr>
        <p:txBody>
          <a:bodyPr lIns="91440" tIns="45720" rIns="91440" bIns="45720" anchor="t">
            <a:normAutofit/>
          </a:bodyPr>
          <a:lstStyle/>
          <a:p>
            <a:pPr indent="-283210"/>
            <a:endParaRPr lang="en-US" dirty="0"/>
          </a:p>
          <a:p>
            <a:pPr indent="-283210"/>
            <a:r>
              <a:rPr lang="en-US" sz="2600" dirty="0">
                <a:latin typeface="Times New Roman" pitchFamily="18" charset="0"/>
                <a:cs typeface="Times New Roman" pitchFamily="18" charset="0"/>
              </a:rPr>
              <a:t>Bhopal’s Gas tragedy is the world’s worst industrial disaster that occurred in 1984, due to the gas leakage from a pesticide production plant, The Union Carbide India Limited (UCIL)located in Bhopal, Madhya Pradesh.</a:t>
            </a:r>
          </a:p>
          <a:p>
            <a:pPr indent="-283210"/>
            <a:endParaRPr lang="en-US" sz="2600" dirty="0">
              <a:latin typeface="Times New Roman" pitchFamily="18" charset="0"/>
              <a:cs typeface="Times New Roman" pitchFamily="18" charset="0"/>
            </a:endParaRPr>
          </a:p>
          <a:p>
            <a:pPr indent="-283210"/>
            <a:r>
              <a:rPr lang="en-US" sz="2600" dirty="0">
                <a:latin typeface="Times New Roman" pitchFamily="18" charset="0"/>
                <a:cs typeface="Times New Roman" pitchFamily="18" charset="0"/>
              </a:rPr>
              <a:t>It was believed that slack management and deferred maintenance together created a situation where routine pipe maintenance caused a backflow of water into the MIC tank</a:t>
            </a:r>
            <a:r>
              <a:rPr lang="en-US" sz="2600" dirty="0" smtClean="0">
                <a:latin typeface="Times New Roman" pitchFamily="18" charset="0"/>
                <a:cs typeface="Times New Roman" pitchFamily="18" charset="0"/>
              </a:rPr>
              <a:t>, triggering </a:t>
            </a:r>
            <a:r>
              <a:rPr lang="en-US" sz="2600" dirty="0">
                <a:latin typeface="Times New Roman" pitchFamily="18" charset="0"/>
                <a:cs typeface="Times New Roman" pitchFamily="18" charset="0"/>
              </a:rPr>
              <a:t>the disaster.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BHOPAL GAS TRAGEDY</a:t>
            </a:r>
            <a:br>
              <a:rPr lang="en-US" dirty="0"/>
            </a:br>
            <a:endParaRPr lang="en-US" dirty="0"/>
          </a:p>
        </p:txBody>
      </p:sp>
      <p:sp>
        <p:nvSpPr>
          <p:cNvPr id="3" name="Content Placeholder 2"/>
          <p:cNvSpPr>
            <a:spLocks noGrp="1"/>
          </p:cNvSpPr>
          <p:nvPr>
            <p:ph idx="1"/>
          </p:nvPr>
        </p:nvSpPr>
        <p:spPr>
          <a:xfrm>
            <a:off x="1143000" y="1143000"/>
            <a:ext cx="8001000" cy="5715000"/>
          </a:xfrm>
        </p:spPr>
        <p:txBody>
          <a:bodyPr/>
          <a:lstStyle/>
          <a:p>
            <a:pPr>
              <a:buNone/>
            </a:pPr>
            <a:endParaRPr lang="en-US" dirty="0"/>
          </a:p>
        </p:txBody>
      </p:sp>
      <p:sp>
        <p:nvSpPr>
          <p:cNvPr id="4" name="Rectangle 3"/>
          <p:cNvSpPr/>
          <p:nvPr/>
        </p:nvSpPr>
        <p:spPr>
          <a:xfrm>
            <a:off x="1143000" y="1720840"/>
            <a:ext cx="8001000" cy="3785652"/>
          </a:xfrm>
          <a:prstGeom prst="rect">
            <a:avLst/>
          </a:prstGeom>
        </p:spPr>
        <p:txBody>
          <a:bodyPr wrap="square">
            <a:spAutoFit/>
          </a:bodyPr>
          <a:lstStyle/>
          <a:p>
            <a:pPr algn="just"/>
            <a:r>
              <a:rPr lang="en-US" sz="2400" dirty="0">
                <a:latin typeface="Times New Roman" pitchFamily="18" charset="0"/>
                <a:cs typeface="Times New Roman" pitchFamily="18" charset="0"/>
              </a:rPr>
              <a:t>It was understood that a large volume of water had been released into the MIC tank and this further caused a chemical reaction that forced the pressure release valve to open and allowed the gas to leak</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As per government’s announcement, a total of 3,787 deaths occurred immediately. Around 8,000 of the survivors died within two weeks and other 8,000 or more died from acute diseases caused due to the gas</a:t>
            </a:r>
          </a:p>
          <a:p>
            <a:pPr algn="just"/>
            <a:r>
              <a:rPr lang="en-US" sz="2400" dirty="0">
                <a:latin typeface="Times New Roman" pitchFamily="18" charset="0"/>
                <a:cs typeface="Times New Roman" pitchFamily="18" charset="0"/>
              </a:rPr>
              <a:t>later.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792162"/>
          </a:xfrm>
        </p:spPr>
        <p:txBody>
          <a:bodyPr/>
          <a:lstStyle/>
          <a:p>
            <a:r>
              <a:rPr lang="en-US" smtClean="0"/>
              <a:t>University </a:t>
            </a:r>
            <a:r>
              <a:rPr lang="en-US" dirty="0" smtClean="0"/>
              <a:t>Questions</a:t>
            </a:r>
            <a:endParaRPr lang="en-US" dirty="0"/>
          </a:p>
        </p:txBody>
      </p:sp>
      <p:sp>
        <p:nvSpPr>
          <p:cNvPr id="3" name="Content Placeholder 2"/>
          <p:cNvSpPr>
            <a:spLocks noGrp="1"/>
          </p:cNvSpPr>
          <p:nvPr>
            <p:ph idx="1"/>
          </p:nvPr>
        </p:nvSpPr>
        <p:spPr>
          <a:xfrm>
            <a:off x="838200" y="1143000"/>
            <a:ext cx="8305800" cy="5715000"/>
          </a:xfrm>
        </p:spPr>
        <p:txBody>
          <a:bodyPr>
            <a:normAutofit fontScale="92500"/>
          </a:bodyPr>
          <a:lstStyle/>
          <a:p>
            <a:pPr marL="596646" indent="-514350">
              <a:buAutoNum type="arabicPeriod"/>
            </a:pPr>
            <a:r>
              <a:rPr lang="en-US" sz="2200" dirty="0" smtClean="0">
                <a:latin typeface="Times New Roman" pitchFamily="18" charset="0"/>
                <a:cs typeface="Times New Roman" pitchFamily="18" charset="0"/>
              </a:rPr>
              <a:t>What are the essential conditions for a valid informed consent?(3)</a:t>
            </a:r>
          </a:p>
          <a:p>
            <a:pPr marL="596646" indent="-514350">
              <a:buAutoNum type="arabicPeriod"/>
            </a:pPr>
            <a:r>
              <a:rPr lang="en-US" sz="2200" dirty="0" smtClean="0">
                <a:latin typeface="Times New Roman" pitchFamily="18" charset="0"/>
                <a:cs typeface="Times New Roman" pitchFamily="18" charset="0"/>
              </a:rPr>
              <a:t>List out the limitations of Codes of Ethics.	(3)</a:t>
            </a:r>
          </a:p>
          <a:p>
            <a:pPr marL="596646" indent="-514350">
              <a:buAutoNum type="arabicPeriod"/>
            </a:pPr>
            <a:r>
              <a:rPr lang="en-US" sz="2200" dirty="0" smtClean="0">
                <a:latin typeface="Times New Roman" pitchFamily="18" charset="0"/>
                <a:cs typeface="Times New Roman" pitchFamily="18" charset="0"/>
              </a:rPr>
              <a:t>Why are codes of ethics important?    (3)</a:t>
            </a:r>
          </a:p>
          <a:p>
            <a:pPr marL="596646" indent="-514350">
              <a:buAutoNum type="arabicPeriod"/>
            </a:pPr>
            <a:r>
              <a:rPr lang="en-US" sz="2200" dirty="0" smtClean="0">
                <a:latin typeface="Times New Roman" pitchFamily="18" charset="0"/>
                <a:cs typeface="Times New Roman" pitchFamily="18" charset="0"/>
              </a:rPr>
              <a:t>Explain the term “Balanced outlook on law”  (3</a:t>
            </a:r>
            <a:r>
              <a:rPr lang="en-US" sz="2200" dirty="0" smtClean="0">
                <a:latin typeface="Times New Roman" pitchFamily="18" charset="0"/>
                <a:cs typeface="Times New Roman" pitchFamily="18" charset="0"/>
              </a:rPr>
              <a:t>)</a:t>
            </a:r>
          </a:p>
          <a:p>
            <a:pPr marL="596646" indent="-514350">
              <a:buAutoNum type="arabicPeriod"/>
            </a:pPr>
            <a:r>
              <a:rPr lang="en-IN" sz="2200" dirty="0">
                <a:latin typeface="Times New Roman" pitchFamily="18" charset="0"/>
                <a:cs typeface="Times New Roman" pitchFamily="18" charset="0"/>
              </a:rPr>
              <a:t>What are the features of morally responsible Engineering Experimenters? (3) </a:t>
            </a:r>
            <a:endParaRPr lang="en-IN" sz="2200" dirty="0" smtClean="0">
              <a:latin typeface="Times New Roman" pitchFamily="18" charset="0"/>
              <a:cs typeface="Times New Roman" pitchFamily="18" charset="0"/>
            </a:endParaRPr>
          </a:p>
          <a:p>
            <a:pPr marL="596646" indent="-514350">
              <a:buAutoNum type="arabicPeriod"/>
            </a:pPr>
            <a:r>
              <a:rPr lang="en-IN" sz="2200" dirty="0" smtClean="0">
                <a:latin typeface="Times New Roman" pitchFamily="18" charset="0"/>
                <a:cs typeface="Times New Roman" pitchFamily="18" charset="0"/>
              </a:rPr>
              <a:t> </a:t>
            </a:r>
            <a:r>
              <a:rPr lang="en-IN" sz="2200" dirty="0">
                <a:latin typeface="Times New Roman" pitchFamily="18" charset="0"/>
                <a:cs typeface="Times New Roman" pitchFamily="18" charset="0"/>
              </a:rPr>
              <a:t>What is the role of codes of ethics? (3</a:t>
            </a:r>
            <a:r>
              <a:rPr lang="en-IN" sz="2200" dirty="0" smtClean="0">
                <a:latin typeface="Times New Roman" pitchFamily="18" charset="0"/>
                <a:cs typeface="Times New Roman" pitchFamily="18" charset="0"/>
              </a:rPr>
              <a:t>)</a:t>
            </a:r>
          </a:p>
          <a:p>
            <a:pPr marL="596646" indent="-514350">
              <a:buAutoNum type="arabicPeriod"/>
            </a:pPr>
            <a:endParaRPr lang="en-US" sz="2200" dirty="0" smtClean="0">
              <a:latin typeface="Times New Roman" pitchFamily="18" charset="0"/>
              <a:cs typeface="Times New Roman" pitchFamily="18" charset="0"/>
            </a:endParaRPr>
          </a:p>
          <a:p>
            <a:pPr marL="596646" indent="-514350">
              <a:buAutoNum type="arabicPeriod"/>
            </a:pPr>
            <a:r>
              <a:rPr lang="en-US" sz="2200" dirty="0" smtClean="0">
                <a:latin typeface="Times New Roman" pitchFamily="18" charset="0"/>
                <a:cs typeface="Times New Roman" pitchFamily="18" charset="0"/>
              </a:rPr>
              <a:t>Describe the causes and fatal effects of Bhopal Gas Tragedy (7)</a:t>
            </a:r>
          </a:p>
          <a:p>
            <a:pPr marL="596646" indent="-514350">
              <a:buAutoNum type="arabicPeriod"/>
            </a:pPr>
            <a:r>
              <a:rPr lang="en-US" sz="2200" dirty="0" smtClean="0">
                <a:latin typeface="Times New Roman" pitchFamily="18" charset="0"/>
                <a:cs typeface="Times New Roman" pitchFamily="18" charset="0"/>
              </a:rPr>
              <a:t>Illustrate the role of engineers as experimenters. (7)</a:t>
            </a:r>
          </a:p>
          <a:p>
            <a:pPr marL="596646" indent="-514350">
              <a:buAutoNum type="arabicPeriod"/>
            </a:pPr>
            <a:r>
              <a:rPr lang="en-US" sz="2200" dirty="0" smtClean="0">
                <a:latin typeface="Times New Roman" pitchFamily="18" charset="0"/>
                <a:cs typeface="Times New Roman" pitchFamily="18" charset="0"/>
              </a:rPr>
              <a:t>Evaluate the importance of accountability in a professional’s life. (6)</a:t>
            </a:r>
          </a:p>
          <a:p>
            <a:pPr marL="596646" indent="-514350">
              <a:buAutoNum type="arabicPeriod"/>
            </a:pPr>
            <a:r>
              <a:rPr lang="en-US" sz="2200" dirty="0" smtClean="0">
                <a:latin typeface="Times New Roman" pitchFamily="18" charset="0"/>
                <a:cs typeface="Times New Roman" pitchFamily="18" charset="0"/>
              </a:rPr>
              <a:t>Explain the role of Codes of Ethics in the service life of a professional Engineer. (8)</a:t>
            </a:r>
          </a:p>
          <a:p>
            <a:pPr marL="596646" indent="-514350">
              <a:buAutoNum type="arabicPeriod"/>
            </a:pPr>
            <a:r>
              <a:rPr lang="en-US" sz="2200" dirty="0" smtClean="0">
                <a:latin typeface="Times New Roman" pitchFamily="18" charset="0"/>
                <a:cs typeface="Times New Roman" pitchFamily="18" charset="0"/>
              </a:rPr>
              <a:t>What are the different roles and functions of “Code of ethics”? (14)</a:t>
            </a:r>
          </a:p>
          <a:p>
            <a:endParaRPr lang="en-US" sz="2200" dirty="0" smtClean="0">
              <a:latin typeface="Times New Roman" pitchFamily="18" charset="0"/>
              <a:cs typeface="Times New Roman" pitchFamily="18" charset="0"/>
            </a:endParaRPr>
          </a:p>
          <a:p>
            <a:endParaRPr lang="en-US" sz="2200" dirty="0" smtClean="0">
              <a:latin typeface="Times New Roman" pitchFamily="18" charset="0"/>
              <a:cs typeface="Times New Roman" pitchFamily="18" charset="0"/>
            </a:endParaRPr>
          </a:p>
          <a:p>
            <a:endParaRPr lang="en-US" sz="2200" dirty="0" smtClean="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1066800" y="1447800"/>
            <a:ext cx="7866888" cy="5257800"/>
          </a:xfrm>
        </p:spPr>
        <p:txBody>
          <a:bodyPr>
            <a:normAutofit fontScale="92500" lnSpcReduction="10000"/>
          </a:bodyPr>
          <a:lstStyle/>
          <a:p>
            <a:pPr marL="82296" indent="0">
              <a:buNone/>
            </a:pPr>
            <a:r>
              <a:rPr lang="en-US" sz="2400" dirty="0" smtClean="0">
                <a:latin typeface="Times New Roman" pitchFamily="18" charset="0"/>
                <a:cs typeface="Times New Roman" pitchFamily="18" charset="0"/>
              </a:rPr>
              <a:t>12. Explain </a:t>
            </a:r>
            <a:r>
              <a:rPr lang="en-US" sz="2400" dirty="0">
                <a:latin typeface="Times New Roman" pitchFamily="18" charset="0"/>
                <a:cs typeface="Times New Roman" pitchFamily="18" charset="0"/>
              </a:rPr>
              <a:t>the Bhopal gas tragedy. Discuss the violation of moral, ethics, and professional codes of standards in it. (14)</a:t>
            </a:r>
          </a:p>
          <a:p>
            <a:pPr marL="82296" indent="0">
              <a:buNone/>
            </a:pPr>
            <a:endParaRPr lang="en-IN" sz="2400" dirty="0" smtClean="0">
              <a:latin typeface="Times New Roman" pitchFamily="18" charset="0"/>
              <a:cs typeface="Times New Roman" pitchFamily="18" charset="0"/>
            </a:endParaRPr>
          </a:p>
          <a:p>
            <a:pPr marL="82296" indent="0">
              <a:buNone/>
            </a:pPr>
            <a:r>
              <a:rPr lang="en-IN" sz="2400" dirty="0" smtClean="0">
                <a:latin typeface="Times New Roman" pitchFamily="18" charset="0"/>
                <a:cs typeface="Times New Roman" pitchFamily="18" charset="0"/>
              </a:rPr>
              <a:t>13. What </a:t>
            </a:r>
            <a:r>
              <a:rPr lang="en-IN" sz="2400" dirty="0">
                <a:latin typeface="Times New Roman" pitchFamily="18" charset="0"/>
                <a:cs typeface="Times New Roman" pitchFamily="18" charset="0"/>
              </a:rPr>
              <a:t>are the similarities between engineering experiments and standard experiments? (7) </a:t>
            </a:r>
            <a:endParaRPr lang="en-IN" sz="2400" dirty="0" smtClean="0">
              <a:latin typeface="Times New Roman" pitchFamily="18" charset="0"/>
              <a:cs typeface="Times New Roman" pitchFamily="18" charset="0"/>
            </a:endParaRPr>
          </a:p>
          <a:p>
            <a:pPr marL="82296" indent="0">
              <a:buNone/>
            </a:pPr>
            <a:endParaRPr lang="en-IN" sz="2400" dirty="0" smtClean="0">
              <a:latin typeface="Times New Roman" pitchFamily="18" charset="0"/>
              <a:cs typeface="Times New Roman" pitchFamily="18" charset="0"/>
            </a:endParaRPr>
          </a:p>
          <a:p>
            <a:pPr marL="82296" indent="0">
              <a:buNone/>
            </a:pPr>
            <a:r>
              <a:rPr lang="en-IN" sz="2400" dirty="0" smtClean="0">
                <a:latin typeface="Times New Roman" pitchFamily="18" charset="0"/>
                <a:cs typeface="Times New Roman" pitchFamily="18" charset="0"/>
              </a:rPr>
              <a:t>14. What </a:t>
            </a:r>
            <a:r>
              <a:rPr lang="en-IN" sz="2400" dirty="0">
                <a:latin typeface="Times New Roman" pitchFamily="18" charset="0"/>
                <a:cs typeface="Times New Roman" pitchFamily="18" charset="0"/>
              </a:rPr>
              <a:t>is the significance of Industrial Standards? List the advantages of industrial standards? </a:t>
            </a:r>
            <a:r>
              <a:rPr lang="en-IN" sz="2400" dirty="0" smtClean="0">
                <a:latin typeface="Times New Roman" pitchFamily="18" charset="0"/>
                <a:cs typeface="Times New Roman" pitchFamily="18" charset="0"/>
              </a:rPr>
              <a:t>(</a:t>
            </a:r>
            <a:r>
              <a:rPr lang="en-IN" sz="2400" dirty="0">
                <a:latin typeface="Times New Roman" pitchFamily="18" charset="0"/>
                <a:cs typeface="Times New Roman" pitchFamily="18" charset="0"/>
              </a:rPr>
              <a:t>7) </a:t>
            </a:r>
            <a:endParaRPr lang="en-IN" sz="2400" dirty="0" smtClean="0">
              <a:latin typeface="Times New Roman" pitchFamily="18" charset="0"/>
              <a:cs typeface="Times New Roman" pitchFamily="18" charset="0"/>
            </a:endParaRPr>
          </a:p>
          <a:p>
            <a:pPr marL="82296" indent="0">
              <a:buNone/>
            </a:pPr>
            <a:endParaRPr lang="en-IN" sz="2400" dirty="0" smtClean="0">
              <a:latin typeface="Times New Roman" pitchFamily="18" charset="0"/>
              <a:cs typeface="Times New Roman" pitchFamily="18" charset="0"/>
            </a:endParaRPr>
          </a:p>
          <a:p>
            <a:pPr marL="82296" indent="0">
              <a:buNone/>
            </a:pPr>
            <a:r>
              <a:rPr lang="en-IN" sz="2400" dirty="0" smtClean="0">
                <a:latin typeface="Times New Roman" pitchFamily="18" charset="0"/>
                <a:cs typeface="Times New Roman" pitchFamily="18" charset="0"/>
              </a:rPr>
              <a:t>15. What </a:t>
            </a:r>
            <a:r>
              <a:rPr lang="en-IN" sz="2400" dirty="0">
                <a:latin typeface="Times New Roman" pitchFamily="18" charset="0"/>
                <a:cs typeface="Times New Roman" pitchFamily="18" charset="0"/>
              </a:rPr>
              <a:t>does the ‘balanced outlook on law’ stress in engineering profession? (7) </a:t>
            </a:r>
            <a:endParaRPr lang="en-IN" sz="2400" dirty="0" smtClean="0">
              <a:latin typeface="Times New Roman" pitchFamily="18" charset="0"/>
              <a:cs typeface="Times New Roman" pitchFamily="18" charset="0"/>
            </a:endParaRPr>
          </a:p>
          <a:p>
            <a:pPr marL="82296" indent="0">
              <a:buNone/>
            </a:pPr>
            <a:endParaRPr lang="en-IN" sz="2400" dirty="0" smtClean="0">
              <a:latin typeface="Times New Roman" pitchFamily="18" charset="0"/>
              <a:cs typeface="Times New Roman" pitchFamily="18" charset="0"/>
            </a:endParaRPr>
          </a:p>
          <a:p>
            <a:pPr marL="82296" indent="0">
              <a:buNone/>
            </a:pPr>
            <a:r>
              <a:rPr lang="en-IN" sz="2400" dirty="0" smtClean="0">
                <a:latin typeface="Times New Roman" pitchFamily="18" charset="0"/>
                <a:cs typeface="Times New Roman" pitchFamily="18" charset="0"/>
              </a:rPr>
              <a:t>16. What </a:t>
            </a:r>
            <a:r>
              <a:rPr lang="en-IN" sz="2400" dirty="0">
                <a:latin typeface="Times New Roman" pitchFamily="18" charset="0"/>
                <a:cs typeface="Times New Roman" pitchFamily="18" charset="0"/>
              </a:rPr>
              <a:t>are the safety lessons that we can be learned from space shuttle challenger tragedy</a:t>
            </a:r>
            <a:r>
              <a:rPr lang="en-IN" sz="2400" dirty="0" smtClean="0">
                <a:latin typeface="Times New Roman" pitchFamily="18" charset="0"/>
                <a:cs typeface="Times New Roman" pitchFamily="18" charset="0"/>
              </a:rPr>
              <a:t>?</a:t>
            </a:r>
            <a:r>
              <a:rPr lang="en-IN" sz="2400" dirty="0">
                <a:latin typeface="Times New Roman" pitchFamily="18" charset="0"/>
                <a:cs typeface="Times New Roman" pitchFamily="18" charset="0"/>
              </a:rPr>
              <a:t> (7) </a:t>
            </a:r>
          </a:p>
          <a:p>
            <a:pPr marL="82296" indent="0">
              <a:buNone/>
            </a:pPr>
            <a:endParaRPr lang="en-IN" dirty="0"/>
          </a:p>
        </p:txBody>
      </p:sp>
    </p:spTree>
    <p:extLst>
      <p:ext uri="{BB962C8B-B14F-4D97-AF65-F5344CB8AC3E}">
        <p14:creationId xmlns:p14="http://schemas.microsoft.com/office/powerpoint/2010/main" val="6062713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372CB6AEA17F64A849F517D41DF1CC3" ma:contentTypeVersion="2" ma:contentTypeDescription="Create a new document." ma:contentTypeScope="" ma:versionID="a9e7fb790f1f000b77a0be4639b52e19">
  <xsd:schema xmlns:xsd="http://www.w3.org/2001/XMLSchema" xmlns:xs="http://www.w3.org/2001/XMLSchema" xmlns:p="http://schemas.microsoft.com/office/2006/metadata/properties" xmlns:ns2="5b34f6ea-6ba5-4f9a-8468-2276eeedaef2" targetNamespace="http://schemas.microsoft.com/office/2006/metadata/properties" ma:root="true" ma:fieldsID="df654fc844fbcbc089734ba4b31cffc5" ns2:_="">
    <xsd:import namespace="5b34f6ea-6ba5-4f9a-8468-2276eeedaef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34f6ea-6ba5-4f9a-8468-2276eeedae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CD1A481-5B69-4CA3-9FAB-DE99CB6BF41B}">
  <ds:schemaRefs>
    <ds:schemaRef ds:uri="http://schemas.microsoft.com/sharepoint/v3/contenttype/forms"/>
  </ds:schemaRefs>
</ds:datastoreItem>
</file>

<file path=customXml/itemProps2.xml><?xml version="1.0" encoding="utf-8"?>
<ds:datastoreItem xmlns:ds="http://schemas.openxmlformats.org/officeDocument/2006/customXml" ds:itemID="{66A29E12-7F90-4D2B-9A79-071E43AF94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34f6ea-6ba5-4f9a-8468-2276eeedae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4B2B12F-1D03-44B9-8624-1087A6FC7237}">
  <ds:schemaRefs>
    <ds:schemaRef ds:uri="http://purl.org/dc/elements/1.1/"/>
    <ds:schemaRef ds:uri="http://schemas.microsoft.com/office/2006/metadata/properties"/>
    <ds:schemaRef ds:uri="http://purl.org/dc/terms/"/>
    <ds:schemaRef ds:uri="5b34f6ea-6ba5-4f9a-8468-2276eeedaef2"/>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Solstice</Template>
  <TotalTime>2691</TotalTime>
  <Words>2217</Words>
  <Application>Microsoft Office PowerPoint</Application>
  <PresentationFormat>On-screen Show (4:3)</PresentationFormat>
  <Paragraphs>212</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Solstice</vt:lpstr>
      <vt:lpstr>PROFESSIONAL ETHICS  (HUT 200)</vt:lpstr>
      <vt:lpstr>Syllabus</vt:lpstr>
      <vt:lpstr>Introduction</vt:lpstr>
      <vt:lpstr>Engineering as Experimentation</vt:lpstr>
      <vt:lpstr>Similarities to Standard Experiments</vt:lpstr>
      <vt:lpstr>Differences with Standard Experiments</vt:lpstr>
      <vt:lpstr>ENGINEERS AS RESPONSIBLE EXPERIMENTERS</vt:lpstr>
      <vt:lpstr>Responsibility of Engineers in Experimentation</vt:lpstr>
      <vt:lpstr>Continued..</vt:lpstr>
      <vt:lpstr>CODES OF ETHICS</vt:lpstr>
      <vt:lpstr>PowerPoint Presentation</vt:lpstr>
      <vt:lpstr>PowerPoint Presentation</vt:lpstr>
      <vt:lpstr>Advantages(Why Code of ethics is important)</vt:lpstr>
      <vt:lpstr>Limitations</vt:lpstr>
      <vt:lpstr>PLAGIARISM</vt:lpstr>
      <vt:lpstr>Avoid Plagiarism</vt:lpstr>
      <vt:lpstr>A BALANCED OUTLOOK ON LAW</vt:lpstr>
      <vt:lpstr>Examples</vt:lpstr>
      <vt:lpstr>Continued..</vt:lpstr>
      <vt:lpstr>The Challenger Case study </vt:lpstr>
      <vt:lpstr>The Challenger Case study contd. </vt:lpstr>
      <vt:lpstr>Challenger Case study contd. </vt:lpstr>
      <vt:lpstr>The Challenger Case study : Inferences </vt:lpstr>
      <vt:lpstr>The Challenger Case study : Inferences </vt:lpstr>
      <vt:lpstr>The Challenger Case study : Inferences </vt:lpstr>
      <vt:lpstr>BHOPAL GAS TRAGEDY </vt:lpstr>
      <vt:lpstr>BHOPAL GAS TRAGEDY </vt:lpstr>
      <vt:lpstr>University Questions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ETHICS  (HUT 200)</dc:title>
  <dc:creator>Amel</dc:creator>
  <cp:lastModifiedBy>Ms. Cinita Mary Mathew</cp:lastModifiedBy>
  <cp:revision>167</cp:revision>
  <cp:lastPrinted>2024-03-20T05:24:32Z</cp:lastPrinted>
  <dcterms:created xsi:type="dcterms:W3CDTF">2006-08-16T00:00:00Z</dcterms:created>
  <dcterms:modified xsi:type="dcterms:W3CDTF">2024-04-03T03:55:35Z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0x0101006372CB6AEA17F64A849F517D41DF1CC3</vt:lpwstr>
  </property>
</Properties>
</file>