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7"/>
  </p:notesMasterIdLst>
  <p:sldIdLst>
    <p:sldId id="256" r:id="rId5"/>
    <p:sldId id="269" r:id="rId6"/>
    <p:sldId id="304" r:id="rId7"/>
    <p:sldId id="257" r:id="rId8"/>
    <p:sldId id="259" r:id="rId9"/>
    <p:sldId id="260" r:id="rId10"/>
    <p:sldId id="263" r:id="rId11"/>
    <p:sldId id="264" r:id="rId12"/>
    <p:sldId id="265" r:id="rId13"/>
    <p:sldId id="266" r:id="rId14"/>
    <p:sldId id="267" r:id="rId15"/>
    <p:sldId id="270" r:id="rId16"/>
    <p:sldId id="272" r:id="rId17"/>
    <p:sldId id="268" r:id="rId18"/>
    <p:sldId id="274" r:id="rId19"/>
    <p:sldId id="306" r:id="rId20"/>
    <p:sldId id="276" r:id="rId21"/>
    <p:sldId id="277" r:id="rId22"/>
    <p:sldId id="278" r:id="rId23"/>
    <p:sldId id="279" r:id="rId24"/>
    <p:sldId id="281" r:id="rId25"/>
    <p:sldId id="283" r:id="rId26"/>
    <p:sldId id="285" r:id="rId27"/>
    <p:sldId id="286" r:id="rId28"/>
    <p:sldId id="284" r:id="rId29"/>
    <p:sldId id="288" r:id="rId30"/>
    <p:sldId id="289" r:id="rId31"/>
    <p:sldId id="290" r:id="rId32"/>
    <p:sldId id="292" r:id="rId33"/>
    <p:sldId id="293" r:id="rId34"/>
    <p:sldId id="294" r:id="rId35"/>
    <p:sldId id="295" r:id="rId36"/>
    <p:sldId id="296" r:id="rId37"/>
    <p:sldId id="298" r:id="rId38"/>
    <p:sldId id="299" r:id="rId39"/>
    <p:sldId id="300" r:id="rId40"/>
    <p:sldId id="301" r:id="rId41"/>
    <p:sldId id="302" r:id="rId42"/>
    <p:sldId id="303" r:id="rId43"/>
    <p:sldId id="307" r:id="rId44"/>
    <p:sldId id="309" r:id="rId45"/>
    <p:sldId id="308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35" autoAdjust="0"/>
  </p:normalViewPr>
  <p:slideViewPr>
    <p:cSldViewPr>
      <p:cViewPr>
        <p:scale>
          <a:sx n="69" d="100"/>
          <a:sy n="69" d="100"/>
        </p:scale>
        <p:origin x="-1404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025F2-3DBC-4BE2-BA70-920A2C93F4D7}" type="datetimeFigureOut">
              <a:rPr lang="en-IN" smtClean="0"/>
              <a:pPr/>
              <a:t>05-02-2024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2065E-49CF-4A66-B660-BBB1F5D2B0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6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2065E-49CF-4A66-B660-BBB1F5D2B0C8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64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The International </a:t>
            </a:r>
            <a:r>
              <a:rPr lang="en-IN" dirty="0" err="1" smtClean="0"/>
              <a:t>Center</a:t>
            </a:r>
            <a:r>
              <a:rPr lang="en-IN" dirty="0" smtClean="0"/>
              <a:t> for Academic Integrity (ICAI)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2065E-49CF-4A66-B660-BBB1F5D2B0C8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69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Synergy -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2065E-49CF-4A66-B660-BBB1F5D2B0C8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61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PROFESSIONAL ETHICS </a:t>
            </a:r>
            <a:br>
              <a:rPr lang="en-US" dirty="0" smtClean="0"/>
            </a:br>
            <a:r>
              <a:rPr lang="en-US" sz="3200" dirty="0"/>
              <a:t>(</a:t>
            </a:r>
            <a:r>
              <a:rPr lang="en-US" sz="2800" dirty="0" smtClean="0"/>
              <a:t>HUT 200</a:t>
            </a:r>
            <a:r>
              <a:rPr lang="en-US" sz="3200" dirty="0" smtClean="0"/>
              <a:t>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267200"/>
            <a:ext cx="7406640" cy="1752600"/>
          </a:xfrm>
        </p:spPr>
        <p:txBody>
          <a:bodyPr/>
          <a:lstStyle/>
          <a:p>
            <a:pPr algn="r"/>
            <a:r>
              <a:rPr lang="en-US" dirty="0" smtClean="0"/>
              <a:t>Module 1</a:t>
            </a:r>
          </a:p>
          <a:p>
            <a:pPr algn="r"/>
            <a:r>
              <a:rPr lang="en-US" dirty="0" smtClean="0"/>
              <a:t>Human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6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Syllabus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8095488" cy="4800600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Morals, values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Ethics – Integrity-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Academic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Integrity - Work Ethics - Service Learning - Civic Virtue - Respect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others -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Living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peacefully - Caring and Sharing – Honestly - Courage-Cooperation Commitment - Empathy-Self Confidence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-Social Expectations.</a:t>
            </a:r>
          </a:p>
        </p:txBody>
      </p:sp>
    </p:spTree>
    <p:extLst>
      <p:ext uri="{BB962C8B-B14F-4D97-AF65-F5344CB8AC3E}">
        <p14:creationId xmlns:p14="http://schemas.microsoft.com/office/powerpoint/2010/main" val="2632513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498080" cy="8382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Morals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8305800" cy="6172200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Morals are the prevailing standards of behavior that enable people to live cooperatively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 groups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Moral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refers to what societies sanction as right and acceptable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Morals are the principles that guide individual conduct within society. </a:t>
            </a: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While morals may change over time, they remain the standards of behavior that we use to judge right and wrong.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Morality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often requires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that people sacrifice their own short-term interests for the benefit of society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endParaRPr lang="en-IN" sz="2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eople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or entities that are indifferent to right and wrong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and do evil acts are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considered immoral.</a:t>
            </a:r>
          </a:p>
        </p:txBody>
      </p:sp>
    </p:spTree>
    <p:extLst>
      <p:ext uri="{BB962C8B-B14F-4D97-AF65-F5344CB8AC3E}">
        <p14:creationId xmlns:p14="http://schemas.microsoft.com/office/powerpoint/2010/main" val="128315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792162"/>
          </a:xfrm>
        </p:spPr>
        <p:txBody>
          <a:bodyPr/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Values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8382000" cy="59436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term Value comes from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latin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word VALERE which means ‘t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 be of worth’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Values are defined as something which are desirable and worthy of esteem for their own sake.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Values are the basis of human personality and are a very powerful but silent force affecting human behavior.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Human Values – those values which help man to live in harmony with the world.</a:t>
            </a:r>
          </a:p>
          <a:p>
            <a:pPr lvl="2" algn="just"/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Love, brotherhood, respect of others, honesty, sincerity, truthfulness, non-violence, gratitude, tolerance, sense of responsibility, cooperation, self-reliance, secularism, etc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1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Sources of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181600"/>
          </a:xfrm>
        </p:spPr>
        <p:txBody>
          <a:bodyPr>
            <a:normAutofit/>
          </a:bodyPr>
          <a:lstStyle/>
          <a:p>
            <a:pPr marL="642366" indent="-514350">
              <a:buFont typeface="+mj-lt"/>
              <a:buAutoNum type="arabicPeriod"/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Family Factor</a:t>
            </a:r>
          </a:p>
          <a:p>
            <a:pPr marL="642366" indent="-514350">
              <a:buFont typeface="+mj-lt"/>
              <a:buAutoNum type="arabicPeriod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Social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Factors</a:t>
            </a:r>
          </a:p>
          <a:p>
            <a:pPr marL="642366" indent="-514350">
              <a:buFont typeface="+mj-lt"/>
              <a:buAutoNum type="arabicPeriod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Personal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Factors</a:t>
            </a:r>
          </a:p>
          <a:p>
            <a:pPr marL="642366" indent="-514350">
              <a:buFont typeface="+mj-lt"/>
              <a:buAutoNum type="arabicPeriod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Cultural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Factors</a:t>
            </a:r>
          </a:p>
          <a:p>
            <a:pPr marL="642366" indent="-514350">
              <a:buFont typeface="+mj-lt"/>
              <a:buAutoNum type="arabicPeriod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Religious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Factors</a:t>
            </a:r>
          </a:p>
          <a:p>
            <a:pPr marL="642366" indent="-514350">
              <a:buFont typeface="+mj-lt"/>
              <a:buAutoNum type="arabicPeriod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Life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Experiences</a:t>
            </a:r>
          </a:p>
          <a:p>
            <a:pPr marL="642366" indent="-514350">
              <a:buFont typeface="+mj-lt"/>
              <a:buAutoNum type="arabicPeriod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Role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Demands</a:t>
            </a:r>
          </a:p>
          <a:p>
            <a:pPr marL="642366" indent="-514350">
              <a:buFont typeface="+mj-lt"/>
              <a:buAutoNum type="arabicPeriod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Halo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Effect</a:t>
            </a:r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90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152400"/>
            <a:ext cx="7866888" cy="1143000"/>
          </a:xfrm>
        </p:spPr>
        <p:txBody>
          <a:bodyPr>
            <a:normAutofit/>
          </a:bodyPr>
          <a:lstStyle/>
          <a:p>
            <a:r>
              <a:rPr lang="en-IN" sz="3200" b="1" u="sng" dirty="0"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IN" sz="3200" b="1" u="sng" dirty="0" smtClean="0">
                <a:latin typeface="Times New Roman" pitchFamily="18" charset="0"/>
                <a:cs typeface="Times New Roman" pitchFamily="18" charset="0"/>
              </a:rPr>
              <a:t> Values</a:t>
            </a:r>
            <a:endParaRPr lang="en-IN" sz="32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8153400" cy="6019800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Ultimate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pPr marL="596646" indent="-51435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Democratic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pPr marL="596646" indent="-51435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Educational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pPr marL="596646" indent="-514350"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Subjective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(Or Internal)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pPr marL="596646" indent="-514350"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Objective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(Or External)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pPr marL="596646" indent="-514350">
              <a:buFont typeface="+mj-lt"/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Instrumental Values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70966" lvl="1" indent="-514350"/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584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790688" cy="10668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Ethics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90600"/>
            <a:ext cx="8229600" cy="5867400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meaning of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ethics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is a “system of moral principles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, rules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and conduct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.” (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Oxford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Dictionary).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Ethics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is a “science of morals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.”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words ethics has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emerged from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Latin ‘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Ethicus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’ or in Greek ‘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Ethicos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’.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beliefs what is right, what is fair and what is proper are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our moral standards.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Any action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that can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be termed good or right or bad or wrong are relative and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moral judgments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09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IN" sz="3600" u="sng" dirty="0">
                <a:latin typeface="Times New Roman" pitchFamily="18" charset="0"/>
                <a:cs typeface="Times New Roman" pitchFamily="18" charset="0"/>
              </a:rPr>
              <a:t>Importance of </a:t>
            </a:r>
            <a:r>
              <a:rPr lang="en-IN" sz="3600" u="sng" dirty="0" smtClean="0">
                <a:latin typeface="Times New Roman" pitchFamily="18" charset="0"/>
                <a:cs typeface="Times New Roman" pitchFamily="18" charset="0"/>
              </a:rPr>
              <a:t>Ethics</a:t>
            </a:r>
            <a:endParaRPr lang="en-IN" sz="36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800600"/>
          </a:xfrm>
        </p:spPr>
        <p:txBody>
          <a:bodyPr>
            <a:normAutofit/>
          </a:bodyPr>
          <a:lstStyle/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Part of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Society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Expectations of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Public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Trust of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Employees</a:t>
            </a:r>
          </a:p>
          <a:p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Image</a:t>
            </a:r>
          </a:p>
          <a:p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Costs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Pride of Best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Companies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Overall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Benefit</a:t>
            </a:r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76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0"/>
            <a:ext cx="7943088" cy="60607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6030278"/>
            <a:ext cx="815340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5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8683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Integrity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5410200"/>
          </a:xfrm>
        </p:spPr>
        <p:txBody>
          <a:bodyPr/>
          <a:lstStyle/>
          <a:p>
            <a:pPr algn="just"/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A term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used to describe a person's level of honesty, moral commitments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willingness to do what's right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Employees show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integrity to the outside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world by following work ethics.</a:t>
            </a:r>
          </a:p>
          <a:p>
            <a:pPr algn="just"/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would increase the self-respect of an individual and also would enable him to command respect from others </a:t>
            </a: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92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Autofit/>
          </a:bodyPr>
          <a:lstStyle/>
          <a:p>
            <a:r>
              <a:rPr lang="en-IN" sz="3600" u="sng" dirty="0" smtClean="0">
                <a:latin typeface="Times New Roman" pitchFamily="18" charset="0"/>
                <a:cs typeface="Times New Roman" pitchFamily="18" charset="0"/>
              </a:rPr>
              <a:t>Academic Integrity</a:t>
            </a:r>
            <a:br>
              <a:rPr lang="en-IN" sz="3600" u="sng" dirty="0" smtClean="0">
                <a:latin typeface="Times New Roman" pitchFamily="18" charset="0"/>
                <a:cs typeface="Times New Roman" pitchFamily="18" charset="0"/>
              </a:rPr>
            </a:br>
            <a:endParaRPr lang="en-IN" sz="36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7943088" cy="5715000"/>
          </a:xfrm>
        </p:spPr>
        <p:txBody>
          <a:bodyPr>
            <a:normAutofit fontScale="85000" lnSpcReduction="20000"/>
          </a:bodyPr>
          <a:lstStyle/>
          <a:p>
            <a:endParaRPr lang="en-US" sz="2800" dirty="0"/>
          </a:p>
          <a:p>
            <a:pPr algn="just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is the commitment to and demonstration of honest and moral behavior in an academic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setting. </a:t>
            </a:r>
          </a:p>
          <a:p>
            <a:pPr algn="just"/>
            <a:endParaRPr lang="en-US" sz="3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Acknowledge contribution of other people. Failure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such acknowledgement is considered plagiarism.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Five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Pillars of Academic Integrity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Honesty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Trust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Fairness</a:t>
            </a:r>
          </a:p>
          <a:p>
            <a:pPr lvl="1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Respect</a:t>
            </a:r>
          </a:p>
          <a:p>
            <a:pPr lvl="1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Responsibility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93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866888" cy="94456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WORK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8153400" cy="5867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Work Ethics is a value based on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hard work and diligence.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Traditional – Work Hard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production</a:t>
            </a:r>
          </a:p>
          <a:p>
            <a:pPr lvl="1"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Current – Work Smart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quality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productivity</a:t>
            </a:r>
          </a:p>
          <a:p>
            <a:pPr lvl="1"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Importance of work ethics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Productive work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Cooperation</a:t>
            </a:r>
          </a:p>
          <a:p>
            <a:pPr lvl="1"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Individuals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with strong work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ethic</a:t>
            </a:r>
          </a:p>
          <a:p>
            <a:pPr lvl="1"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Will have inculcated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principles that guide them in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their work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Leads them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 consistent higher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productivity.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957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914400"/>
          </a:xfrm>
        </p:spPr>
        <p:txBody>
          <a:bodyPr>
            <a:normAutofit/>
          </a:bodyPr>
          <a:lstStyle/>
          <a:p>
            <a:r>
              <a:rPr lang="en-IN" sz="3600" u="sng" dirty="0">
                <a:latin typeface="Times New Roman" pitchFamily="18" charset="0"/>
                <a:cs typeface="Times New Roman" pitchFamily="18" charset="0"/>
              </a:rPr>
              <a:t>Basic Work Ethic for an </a:t>
            </a:r>
            <a:r>
              <a:rPr lang="en-IN" sz="3600" u="sng" dirty="0" smtClean="0">
                <a:latin typeface="Times New Roman" pitchFamily="18" charset="0"/>
                <a:cs typeface="Times New Roman" pitchFamily="18" charset="0"/>
              </a:rPr>
              <a:t>Organization</a:t>
            </a:r>
            <a:endParaRPr lang="en-IN" sz="36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8153400" cy="5943600"/>
          </a:xfrm>
        </p:spPr>
        <p:txBody>
          <a:bodyPr>
            <a:normAutofit/>
          </a:bodyPr>
          <a:lstStyle/>
          <a:p>
            <a:pPr algn="just"/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Uniform rules and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regulations.</a:t>
            </a: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Communication of the rules and regulation to all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employees.</a:t>
            </a: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Respect for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Employees.</a:t>
            </a: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Allow a degree of freedom to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employees.</a:t>
            </a: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Clear cut salary and promotion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policy.</a:t>
            </a:r>
          </a:p>
          <a:p>
            <a:pPr algn="just"/>
            <a:endParaRPr lang="en-IN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Clear and uniform holiday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101695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66888" cy="868362"/>
          </a:xfrm>
        </p:spPr>
        <p:txBody>
          <a:bodyPr>
            <a:normAutofit/>
          </a:bodyPr>
          <a:lstStyle/>
          <a:p>
            <a:r>
              <a:rPr lang="en-IN" sz="3600" u="sng" dirty="0">
                <a:latin typeface="Times New Roman" pitchFamily="18" charset="0"/>
                <a:cs typeface="Times New Roman" pitchFamily="18" charset="0"/>
              </a:rPr>
              <a:t>How to develop strong work </a:t>
            </a:r>
            <a:r>
              <a:rPr lang="en-IN" sz="3600" u="sng" dirty="0" smtClean="0">
                <a:latin typeface="Times New Roman" pitchFamily="18" charset="0"/>
                <a:cs typeface="Times New Roman" pitchFamily="18" charset="0"/>
              </a:rPr>
              <a:t>ethic</a:t>
            </a:r>
            <a:endParaRPr lang="en-IN" sz="36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8153400" cy="58674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1: Be professional about your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work.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Reliability and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honesty.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Deliver best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outputs.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Be consistent in delivering good quality work and earn good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reputation.</a:t>
            </a:r>
          </a:p>
          <a:p>
            <a:pPr lvl="1"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2: Manage your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time.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Know your strength and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weaknesses.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Set yourself deadlines for delivering even small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tasks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Prioritize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tasks.</a:t>
            </a:r>
          </a:p>
          <a:p>
            <a:pPr lvl="1"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Avoid procrastination.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Avoid negative talk and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gossip.</a:t>
            </a:r>
          </a:p>
        </p:txBody>
      </p:sp>
    </p:spTree>
    <p:extLst>
      <p:ext uri="{BB962C8B-B14F-4D97-AF65-F5344CB8AC3E}">
        <p14:creationId xmlns:p14="http://schemas.microsoft.com/office/powerpoint/2010/main" val="250227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Continued..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3: Keep a balance and deliver consistent high performance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work.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Do sport, sleep well, and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socialize</a:t>
            </a:r>
          </a:p>
          <a:p>
            <a:pPr lvl="1"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4: Develop good work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habits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Create and learn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habits : Valuing punctuality, time, orderliness etc.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“Do it now”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habit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“Do it right”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habit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43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3600" u="sng" dirty="0" smtClean="0">
                <a:latin typeface="Times New Roman" pitchFamily="18" charset="0"/>
                <a:cs typeface="Times New Roman" pitchFamily="18" charset="0"/>
              </a:rPr>
              <a:t>Elements of a strong work ethic</a:t>
            </a:r>
            <a:endParaRPr lang="en-US" sz="36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19288" cy="4800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Honesty &amp; Integrity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Alertness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Openness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Respect for others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Reliability and Dependability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Determination and Dedication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Accountability and Responsibility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Initiative	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66888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SERVICE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8305800" cy="5867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Service-learning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refers to learning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that actively involves students in a wide range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of experiences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which often benefit others and the community, while also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advancing the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goals of a given curriculum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offers direct application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of theoretical models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allows students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 synthesize course material in more meaningful ways.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Common goals includes gaining;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deeper understanding of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course/curricular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content,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broader appreciation of the discipline and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n enhanced sense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of civic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309298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IN" sz="3600" u="sng" dirty="0">
                <a:latin typeface="Times New Roman" pitchFamily="18" charset="0"/>
                <a:cs typeface="Times New Roman" pitchFamily="18" charset="0"/>
              </a:rPr>
              <a:t>Qualities of service-learning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/>
          <a:lstStyle/>
          <a:p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Integrative</a:t>
            </a:r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Reflective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Contextualized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Strength-Based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Reciprocal</a:t>
            </a:r>
          </a:p>
          <a:p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Lifelong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67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609600"/>
          </a:xfrm>
        </p:spPr>
        <p:txBody>
          <a:bodyPr>
            <a:normAutofit/>
          </a:bodyPr>
          <a:lstStyle/>
          <a:p>
            <a:r>
              <a:rPr lang="en-IN" sz="3000" u="sng" dirty="0">
                <a:latin typeface="Times New Roman" pitchFamily="18" charset="0"/>
                <a:cs typeface="Times New Roman" pitchFamily="18" charset="0"/>
              </a:rPr>
              <a:t>Benefits of </a:t>
            </a:r>
            <a:r>
              <a:rPr lang="en-IN" sz="3000" u="sng" dirty="0" smtClean="0">
                <a:latin typeface="Times New Roman" pitchFamily="18" charset="0"/>
                <a:cs typeface="Times New Roman" pitchFamily="18" charset="0"/>
              </a:rPr>
              <a:t>Service Learning/Social Learning</a:t>
            </a:r>
            <a:endParaRPr lang="en-IN" sz="30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3400"/>
            <a:ext cx="8095488" cy="6324600"/>
          </a:xfrm>
        </p:spPr>
        <p:txBody>
          <a:bodyPr>
            <a:normAutofit/>
          </a:bodyPr>
          <a:lstStyle/>
          <a:p>
            <a:r>
              <a:rPr lang="en-IN" sz="2200" b="1" i="1" dirty="0">
                <a:latin typeface="Times New Roman" pitchFamily="18" charset="0"/>
                <a:cs typeface="Times New Roman" pitchFamily="18" charset="0"/>
              </a:rPr>
              <a:t>Learning Outcomes </a:t>
            </a:r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Personal Outcomes</a:t>
            </a:r>
          </a:p>
          <a:p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Social Outcomes</a:t>
            </a:r>
          </a:p>
          <a:p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Career Development</a:t>
            </a:r>
          </a:p>
          <a:p>
            <a:endParaRPr lang="en-IN" sz="2200" b="1" i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200" b="1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Relationship with </a:t>
            </a:r>
            <a:r>
              <a:rPr lang="en-IN" sz="2200" b="1" i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Institution</a:t>
            </a:r>
            <a:endParaRPr lang="en-IN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46" y="921327"/>
            <a:ext cx="7086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9799"/>
            <a:ext cx="7100455" cy="609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64" y="3124200"/>
            <a:ext cx="5943600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64" y="3962400"/>
            <a:ext cx="6885709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818" y="5715000"/>
            <a:ext cx="3657600" cy="8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94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943088" cy="8382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CIVIC VIRTUE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0600"/>
            <a:ext cx="8382000" cy="58674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Civic virtue is morality or a standard of righteous behavior in relationship to a citizen's involvement in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society.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Civic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virtue is the harvesting of habits important for the success of the community. </a:t>
            </a:r>
          </a:p>
          <a:p>
            <a:pPr algn="just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pay tax, follow road safety rules,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voting, volunteering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organizing a book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group etc.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often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conceived as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dedication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of citizens to the common welfare of their community even at the cost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of their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individual interests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Civic virtue is not an inherent human quality but needs to be developed.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6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86836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RESPECT FOR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8305800" cy="56388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Respect, also called esteem, is a positive feeling or action shown towards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someone or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something considered important, or held in high esteem or regard.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is also the process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of honouring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someone by exhibiting care, concern, or consideration for their needs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or feelings.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conveys a sense of admiration for good or valuable qualities. 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Courtesies that show respect may include simple words and phrases like "Thank you" in the West or "Namaste" in the Indian subcontinent, or simple physical signs like a slight bow, a smile, or a simple handshake.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68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8019288" cy="1143000"/>
          </a:xfrm>
        </p:spPr>
        <p:txBody>
          <a:bodyPr>
            <a:normAutofit/>
          </a:bodyPr>
          <a:lstStyle/>
          <a:p>
            <a:r>
              <a:rPr lang="en-IN" sz="3200" u="sng" dirty="0">
                <a:latin typeface="Times New Roman" pitchFamily="18" charset="0"/>
                <a:cs typeface="Times New Roman" pitchFamily="18" charset="0"/>
              </a:rPr>
              <a:t>How to Respect </a:t>
            </a:r>
            <a:r>
              <a:rPr lang="en-IN" sz="3200" u="sng" dirty="0" smtClean="0">
                <a:latin typeface="Times New Roman" pitchFamily="18" charset="0"/>
                <a:cs typeface="Times New Roman" pitchFamily="18" charset="0"/>
              </a:rPr>
              <a:t>Others</a:t>
            </a:r>
            <a:r>
              <a:rPr lang="en-IN" sz="3200" u="sng" dirty="0"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90600"/>
            <a:ext cx="8229600" cy="5867400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Listening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 the other person.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Being empathetic, understanding each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other.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Apologizing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 each other when we make mistakes.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Keeping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other people’s secrets.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Complying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with and respecting laws and regulations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Respecting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privacy and intimacy of others.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Respect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personal space.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Helping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others when it is in our power to do so.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Being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grateful.</a:t>
            </a:r>
          </a:p>
        </p:txBody>
      </p:sp>
    </p:spTree>
    <p:extLst>
      <p:ext uri="{BB962C8B-B14F-4D97-AF65-F5344CB8AC3E}">
        <p14:creationId xmlns:p14="http://schemas.microsoft.com/office/powerpoint/2010/main" val="120519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8382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LIVING PEACEFULLY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8305800" cy="58674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 live peacefully, one should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install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peace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within.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Only who are at peace can spread peace.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Self&gt;Family&gt;Workspace&gt;Society&gt;World.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600" b="1" u="sng" dirty="0">
                <a:latin typeface="Times New Roman" pitchFamily="18" charset="0"/>
                <a:cs typeface="Times New Roman" pitchFamily="18" charset="0"/>
              </a:rPr>
              <a:t>Factors that Promote Peaceful </a:t>
            </a:r>
            <a:r>
              <a:rPr lang="en-US" sz="2600" b="1" u="sng" dirty="0" smtClean="0">
                <a:latin typeface="Times New Roman" pitchFamily="18" charset="0"/>
                <a:cs typeface="Times New Roman" pitchFamily="18" charset="0"/>
              </a:rPr>
              <a:t>Living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Conducive environment (safe, ventilated, illuminated and comfortable).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Secured job and motivated with ‘recognition and reward’.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Absence of threat or tension by pressure due to limitations of money or time.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Absence of unnecessary interference or disturbance, except as guidelines.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Healthy labour relations and family situations.</a:t>
            </a:r>
          </a:p>
          <a:p>
            <a:pPr algn="just"/>
            <a:endParaRPr lang="en-US" sz="2800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31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>
            <a:normAutofit/>
          </a:bodyPr>
          <a:lstStyle/>
          <a:p>
            <a:r>
              <a:rPr lang="en-IN" sz="3200" u="sng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IN" sz="3200" u="sng" dirty="0" smtClean="0">
                <a:latin typeface="Times New Roman" pitchFamily="18" charset="0"/>
                <a:cs typeface="Times New Roman" pitchFamily="18" charset="0"/>
              </a:rPr>
              <a:t>eans to be Adopted to Live Peacefully</a:t>
            </a:r>
            <a:endParaRPr lang="en-IN" sz="32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8305800" cy="5943600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Order in one’s life (self-regulation, discipline, and duty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Pure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thoughts in one’s soul (loving others, blessing others, friendly, and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not criticizing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or hurting others by thought, word or deed).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Creativity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 one’s head (useful and constructive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Beauty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 one’s heart (love, service, happiness, and peace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Good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health/body (physical strength for service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Help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needy with head, heart, and hands (charity). Service to the poor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is considered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holier than the service to God.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hurting and torturing others either physically, verbally, or mentally.</a:t>
            </a:r>
          </a:p>
        </p:txBody>
      </p:sp>
    </p:spTree>
    <p:extLst>
      <p:ext uri="{BB962C8B-B14F-4D97-AF65-F5344CB8AC3E}">
        <p14:creationId xmlns:p14="http://schemas.microsoft.com/office/powerpoint/2010/main" val="122614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944562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CARING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6800"/>
            <a:ext cx="8305800" cy="57912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Caring is feeling for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others.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Caring means to protect the emotions/feelings of others without causing much damage.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It includes showing respect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to the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feelings of others, and also respecting and preserving the interests of all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others concerned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Caring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is reflected in activities such as friendship, membership in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social clubs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and professional societies, and through various transactions in the family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, fraternity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community, country and in international councils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89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"/>
            <a:ext cx="7866888" cy="1143000"/>
          </a:xfrm>
        </p:spPr>
        <p:txBody>
          <a:bodyPr/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58240"/>
            <a:ext cx="8229600" cy="569976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means sharing of feelings,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ideas, thoughts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resources and profits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Sharing is voluntary and it cannot be driven by force, but motivated successfully through ethical principles. </a:t>
            </a: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Sharing should be genuine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legal, positive, voluntary, and without any expectation in return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Sharing is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‘charity’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humanity, ‘sharing’ is a culture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paves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way for peace,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prosperity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sustains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17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"/>
            <a:ext cx="7924800" cy="1036320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HONESTY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8077200" cy="5791200"/>
          </a:xfrm>
        </p:spPr>
        <p:txBody>
          <a:bodyPr>
            <a:normAutofit/>
          </a:bodyPr>
          <a:lstStyle/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Honesty is speaking the truth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speaking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honest truth means: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Honesty means you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 things about people that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not true.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honest means you admit to your actions, even if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in trouble. 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Honesty means you explain how a situation really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happened.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</a:t>
            </a: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honest means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act in a way that you know is the right thing to do.</a:t>
            </a:r>
          </a:p>
        </p:txBody>
      </p:sp>
    </p:spTree>
    <p:extLst>
      <p:ext uri="{BB962C8B-B14F-4D97-AF65-F5344CB8AC3E}">
        <p14:creationId xmlns:p14="http://schemas.microsoft.com/office/powerpoint/2010/main" val="91890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8305800" cy="6858000"/>
          </a:xfrm>
        </p:spPr>
        <p:txBody>
          <a:bodyPr>
            <a:normAutofit fontScale="92500"/>
          </a:bodyPr>
          <a:lstStyle/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Honesty is a virtue, and it is exhibited in two aspects namely,</a:t>
            </a:r>
          </a:p>
          <a:p>
            <a:pPr marL="402336" lvl="1" indent="0" algn="just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Truthfulness </a:t>
            </a:r>
          </a:p>
          <a:p>
            <a:pPr marL="402336" lvl="1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Truthfulness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face the responsibilities upon telling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truth.</a:t>
            </a:r>
          </a:p>
          <a:p>
            <a:pPr marL="402336" lvl="1" indent="0" algn="just">
              <a:buNone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Trustworthiness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Trustworthiness is maintaining integrity and taking responsibility for personal performance</a:t>
            </a:r>
          </a:p>
          <a:p>
            <a:pPr algn="just"/>
            <a:endParaRPr lang="en-IN" dirty="0" smtClean="0"/>
          </a:p>
          <a:p>
            <a:pPr algn="just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actions of an engineer that leads to dishonesty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Lying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Deliberate deception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Withholding the information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seeking the truth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maintaining confidentiality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professional judgment under the influence of extraneous factors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6826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8077200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430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Courage is the tendency to accept and face risks and difficult tasks in rational ways. 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Self-confidence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basic requirement to nurture courage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Courage,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types of risks, namely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courage ( Physical strength, including the muscle power )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courage  (Leadership abilities )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courage   (Empathy and Sacrifice)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626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553200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Courage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criticism, owning responsibility, and accepting the mistakes or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 when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committed and exposed are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expressions of courage.</a:t>
            </a:r>
          </a:p>
          <a:p>
            <a:pPr lvl="1"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courageous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</a:p>
          <a:p>
            <a:pPr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Perseverance (sustained hard work),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(preparedness to face the challenges, that is, unexpected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unintended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results),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Involvement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(attitude, clear and firm resolve to act), and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(willing to get into action and to reach the desired goals by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alternative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ethical means).</a:t>
            </a:r>
          </a:p>
        </p:txBody>
      </p:sp>
    </p:spTree>
    <p:extLst>
      <p:ext uri="{BB962C8B-B14F-4D97-AF65-F5344CB8AC3E}">
        <p14:creationId xmlns:p14="http://schemas.microsoft.com/office/powerpoint/2010/main" val="3444186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6394"/>
            <a:ext cx="7866888" cy="954206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8305800" cy="58674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team-spirit present with every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Cooperation is activity between two persons or sectors that aims at integration of operations (synergy), while not sacrificing the autonomy of either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Cooperation promotes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co-ordination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synergy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cooperation leads to lack of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undue delay between supply, production, marketing,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consumption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078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090" y="152400"/>
            <a:ext cx="8153400" cy="586740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hindrance/impediments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successful cooperation are: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Clash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ego of individuals.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leadership and motivation.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Conflicts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interests, based on region, religion, language, and caste.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Ignorance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lack of interest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2336" lvl="1" indent="0">
              <a:buNone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careful planning, motivation, leadership, fostering and rewarding team work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professionalism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humanism beyond the ‘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divides’,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on appreciation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different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cultures, mutual understanding ‘cooperation‘ can be developed and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sustained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718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137"/>
            <a:ext cx="7498080" cy="9132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38199"/>
            <a:ext cx="8229600" cy="5943601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 means acceptance of the responsibilities and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duties.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 means alignment to goals and adherence to ethical principles during the activities. 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teams that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committed and cooperative are more likely to achieve the goals the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has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 helps :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or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quality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Reaching or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exceeding production targets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Decreasing complaints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team members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conflict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team members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Fewer workplace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injuries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212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1845"/>
            <a:ext cx="7498080" cy="88255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14400"/>
            <a:ext cx="8077200" cy="53340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what others feel about, without their open talk, is the essence of empathy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Empathy begins with showing concern, and then obtaining and understanding the feelings of others, from others‘ point of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benefits of empathy includes: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Harmonious labour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vendor-producer relationship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831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498080" cy="4800600"/>
          </a:xfrm>
        </p:spPr>
        <p:txBody>
          <a:bodyPr>
            <a:norm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need to be developed by a good leader to practice empathy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249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8153400" cy="5867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Belief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one’s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capabilities, values, and goals, is self-confidence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Self-confidence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positive attitude, wherein the individual has some positive and realistic view of himself, with respect to the situations in which one gets involved. 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people with self- confidence exhibit courage to get into action and unshakable faith in their abilities, whatever may be their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self-confidence in a person develops a sense of partnership, respect, and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to obtain maximum ideas, efforts,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guidelines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its employees.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9800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676" y="152400"/>
            <a:ext cx="7943088" cy="64770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people with self-confidence have the following characteristics: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self-assured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listen to learn from others and adopt (flexibility),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Frank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speak the truth, and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Respect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others’ efforts and give due credit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factors/sources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shape self-confidence in a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Heredity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(attitudes of parents) and family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environment,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Friendship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(influence of friends/colleagues),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superiors/role models, and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</p:txBody>
      </p:sp>
    </p:spTree>
    <p:extLst>
      <p:ext uri="{BB962C8B-B14F-4D97-AF65-F5344CB8AC3E}">
        <p14:creationId xmlns:p14="http://schemas.microsoft.com/office/powerpoint/2010/main" val="2102408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800"/>
            <a:ext cx="8305800" cy="655320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methodologies are effective in developing self-confidence in a person: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Encouraging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analysis. By evaluating their strength and weakness,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anticipate and be prepared to face the results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risks and face them (self-acceptance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Self-talk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conditioning the mind for preparing the self to act, without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doubt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his capabilities. This make one accepts himself while still striving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improvement.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group discussion, on the history of leaders and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innovators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161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8197"/>
            <a:ext cx="7498080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61197"/>
            <a:ext cx="8153400" cy="5087203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expectations are ideas that we have of how someone in our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surroundings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behave in the future or in a specific situation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exactly what society expects from you. i.e. how best or how morally you behave in the society.</a:t>
            </a: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social or behavioural expectations greatly influence our own behaviour.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868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KTU </a:t>
            </a:r>
            <a:r>
              <a:rPr lang="en-IN" sz="4000" b="1" smtClean="0">
                <a:latin typeface="Times New Roman" pitchFamily="18" charset="0"/>
                <a:cs typeface="Times New Roman" pitchFamily="18" charset="0"/>
              </a:rPr>
              <a:t>University Questions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181600"/>
          </a:xfrm>
        </p:spPr>
        <p:txBody>
          <a:bodyPr>
            <a:normAutofit/>
          </a:bodyPr>
          <a:lstStyle/>
          <a:p>
            <a:pPr marL="82296" indent="0" algn="ctr">
              <a:buNone/>
            </a:pP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PART A (3 MARKS EACH)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1. Distinguish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between morality and ethics. 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2. List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factors that enhance the self confidence in a person. 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3. How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does integrity help to build up the value system of a professional?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4. Define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term service learning? 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5. Define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empathy. What is the difference between empathy and sympathy?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6. What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is a civic virtue and how is it related to respect for others?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7. Define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empathy and honesty. 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8. Briefly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explain about morals, values and ethics.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55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8153400" cy="6781800"/>
          </a:xfrm>
        </p:spPr>
        <p:txBody>
          <a:bodyPr>
            <a:normAutofit fontScale="92500" lnSpcReduction="10000"/>
          </a:bodyPr>
          <a:lstStyle/>
          <a:p>
            <a:pPr marL="82296" indent="0" algn="ctr">
              <a:buNone/>
            </a:pPr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PART B</a:t>
            </a: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1.a Explain the qualities of service learning (7).</a:t>
            </a: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b. Describe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qualities required live a peaceful life. (7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82296" indent="0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2. a. Explain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steps for developing a strong work ethic. (8)</a:t>
            </a: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 b. Classify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courage based on the type of risk. (6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82296" indent="0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3.a. How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does civic virtues play a vital role in a life of a Professional? (7) </a:t>
            </a: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b. 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Explain the principles required to respect others? (7)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4.a. Explain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different aspects of honesty?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(7)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b. Explain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role of Commitment in the life of a Professional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?(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7)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5.a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Explain the role of caring and sharing in a workplace. (5) </a:t>
            </a:r>
          </a:p>
          <a:p>
            <a:pPr marL="82296" indent="0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  b. How integrity plays a major role in work ethics. Discuss with suitable examples. (9) </a:t>
            </a:r>
          </a:p>
          <a:p>
            <a:pPr marL="82296" indent="0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7054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181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6.a. Explain the need of cooperation and commitment. (8)</a:t>
            </a:r>
          </a:p>
          <a:p>
            <a:pPr marL="82296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  b. Write a note on “Social Expectations”.(6)</a:t>
            </a:r>
          </a:p>
          <a:p>
            <a:pPr marL="82296" indent="0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7. a.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Classify the relationship between ethical values and law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?(10)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b.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Compare between caring and sharing.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(4) </a:t>
            </a:r>
          </a:p>
          <a:p>
            <a:pPr marL="82296" indent="0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8. a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Exemplify a comprehensive review about integrity and respect for others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.(8)</a:t>
            </a:r>
          </a:p>
          <a:p>
            <a:pPr marL="82296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b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Discuss about co-operation and commitment.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(6)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170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72CB6AEA17F64A849F517D41DF1CC3" ma:contentTypeVersion="2" ma:contentTypeDescription="Create a new document." ma:contentTypeScope="" ma:versionID="a9e7fb790f1f000b77a0be4639b52e19">
  <xsd:schema xmlns:xsd="http://www.w3.org/2001/XMLSchema" xmlns:xs="http://www.w3.org/2001/XMLSchema" xmlns:p="http://schemas.microsoft.com/office/2006/metadata/properties" xmlns:ns2="5b34f6ea-6ba5-4f9a-8468-2276eeedaef2" targetNamespace="http://schemas.microsoft.com/office/2006/metadata/properties" ma:root="true" ma:fieldsID="df654fc844fbcbc089734ba4b31cffc5" ns2:_="">
    <xsd:import namespace="5b34f6ea-6ba5-4f9a-8468-2276eeedae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34f6ea-6ba5-4f9a-8468-2276eeedae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BB0D87-41F8-4598-B282-71FE21D882B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85162B2-CDB3-4451-AAFF-7634C345E4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7F16F1-F86C-49CD-A551-46B88B677D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34f6ea-6ba5-4f9a-8468-2276eeedae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1957</TotalTime>
  <Words>2726</Words>
  <Application>Microsoft Office PowerPoint</Application>
  <PresentationFormat>On-screen Show (4:3)</PresentationFormat>
  <Paragraphs>389</Paragraphs>
  <Slides>42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Solstice</vt:lpstr>
      <vt:lpstr>PROFESSIONAL ETHICS  (HUT 200)</vt:lpstr>
      <vt:lpstr>Syllabus</vt:lpstr>
      <vt:lpstr>Morals</vt:lpstr>
      <vt:lpstr>Values</vt:lpstr>
      <vt:lpstr>Sources of Values</vt:lpstr>
      <vt:lpstr>Types of  Values</vt:lpstr>
      <vt:lpstr>Ethics</vt:lpstr>
      <vt:lpstr>Importance of Ethics</vt:lpstr>
      <vt:lpstr>PowerPoint Presentation</vt:lpstr>
      <vt:lpstr>Integrity</vt:lpstr>
      <vt:lpstr>Academic Integrity </vt:lpstr>
      <vt:lpstr>WORK ETHICS</vt:lpstr>
      <vt:lpstr>Basic Work Ethic for an Organization</vt:lpstr>
      <vt:lpstr>How to develop strong work ethic</vt:lpstr>
      <vt:lpstr>Continued..</vt:lpstr>
      <vt:lpstr>Elements of a strong work ethic</vt:lpstr>
      <vt:lpstr>SERVICE LEARNING</vt:lpstr>
      <vt:lpstr>Qualities of service-learning </vt:lpstr>
      <vt:lpstr>Benefits of Service Learning/Social Learning</vt:lpstr>
      <vt:lpstr>CIVIC VIRTUE</vt:lpstr>
      <vt:lpstr>RESPECT FOR OTHERS</vt:lpstr>
      <vt:lpstr>How to Respect Others?</vt:lpstr>
      <vt:lpstr>LIVING PEACEFULLY</vt:lpstr>
      <vt:lpstr>Means to be Adopted to Live Peacefully</vt:lpstr>
      <vt:lpstr>CARING</vt:lpstr>
      <vt:lpstr>SHARING</vt:lpstr>
      <vt:lpstr>HONESTY</vt:lpstr>
      <vt:lpstr>PowerPoint Presentation</vt:lpstr>
      <vt:lpstr>COURAGE</vt:lpstr>
      <vt:lpstr>PowerPoint Presentation</vt:lpstr>
      <vt:lpstr>COOPERATION</vt:lpstr>
      <vt:lpstr>PowerPoint Presentation</vt:lpstr>
      <vt:lpstr>COMMITMENT</vt:lpstr>
      <vt:lpstr>EMPATHY</vt:lpstr>
      <vt:lpstr>PowerPoint Presentation</vt:lpstr>
      <vt:lpstr>SELF-CONFIDENCE</vt:lpstr>
      <vt:lpstr>PowerPoint Presentation</vt:lpstr>
      <vt:lpstr>PowerPoint Presentation</vt:lpstr>
      <vt:lpstr>SOCIAL EXPECTATIONS</vt:lpstr>
      <vt:lpstr>KTU University Questions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ETHICS  (HUT 200)</dc:title>
  <dc:creator>Amel</dc:creator>
  <cp:lastModifiedBy>Ms. Cinita Mary Mathew</cp:lastModifiedBy>
  <cp:revision>125</cp:revision>
  <dcterms:created xsi:type="dcterms:W3CDTF">2006-08-16T00:00:00Z</dcterms:created>
  <dcterms:modified xsi:type="dcterms:W3CDTF">2024-02-05T05:56:23Z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0x0101006372CB6AEA17F64A849F517D41DF1CC3</vt:lpwstr>
  </property>
</Properties>
</file>