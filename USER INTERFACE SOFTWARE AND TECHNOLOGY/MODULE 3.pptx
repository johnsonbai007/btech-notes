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1"/>
  </p:notesMasterIdLst>
  <p:sldIdLst>
    <p:sldId id="256" r:id="rId2"/>
    <p:sldId id="260" r:id="rId3"/>
    <p:sldId id="271" r:id="rId4"/>
    <p:sldId id="258" r:id="rId5"/>
    <p:sldId id="261" r:id="rId6"/>
    <p:sldId id="262" r:id="rId7"/>
    <p:sldId id="257" r:id="rId8"/>
    <p:sldId id="259" r:id="rId9"/>
    <p:sldId id="263" r:id="rId10"/>
    <p:sldId id="264" r:id="rId11"/>
    <p:sldId id="267" r:id="rId12"/>
    <p:sldId id="268" r:id="rId13"/>
    <p:sldId id="265" r:id="rId14"/>
    <p:sldId id="266" r:id="rId15"/>
    <p:sldId id="269" r:id="rId16"/>
    <p:sldId id="270" r:id="rId17"/>
    <p:sldId id="272" r:id="rId18"/>
    <p:sldId id="273" r:id="rId19"/>
    <p:sldId id="274" r:id="rId20"/>
    <p:sldId id="275" r:id="rId21"/>
    <p:sldId id="276" r:id="rId22"/>
    <p:sldId id="277" r:id="rId23"/>
    <p:sldId id="278" r:id="rId24"/>
    <p:sldId id="281" r:id="rId25"/>
    <p:sldId id="279" r:id="rId26"/>
    <p:sldId id="280" r:id="rId27"/>
    <p:sldId id="286" r:id="rId28"/>
    <p:sldId id="282" r:id="rId29"/>
    <p:sldId id="283" r:id="rId30"/>
    <p:sldId id="284" r:id="rId31"/>
    <p:sldId id="285" r:id="rId32"/>
    <p:sldId id="287" r:id="rId33"/>
    <p:sldId id="288" r:id="rId34"/>
    <p:sldId id="289" r:id="rId35"/>
    <p:sldId id="290" r:id="rId36"/>
    <p:sldId id="291" r:id="rId37"/>
    <p:sldId id="292" r:id="rId38"/>
    <p:sldId id="293" r:id="rId39"/>
    <p:sldId id="294" r:id="rId40"/>
    <p:sldId id="295" r:id="rId41"/>
    <p:sldId id="296" r:id="rId42"/>
    <p:sldId id="297" r:id="rId43"/>
    <p:sldId id="299" r:id="rId44"/>
    <p:sldId id="298" r:id="rId45"/>
    <p:sldId id="300" r:id="rId46"/>
    <p:sldId id="301" r:id="rId47"/>
    <p:sldId id="302" r:id="rId48"/>
    <p:sldId id="304" r:id="rId49"/>
    <p:sldId id="311" r:id="rId50"/>
    <p:sldId id="303" r:id="rId51"/>
    <p:sldId id="305" r:id="rId52"/>
    <p:sldId id="307" r:id="rId53"/>
    <p:sldId id="306" r:id="rId54"/>
    <p:sldId id="308" r:id="rId55"/>
    <p:sldId id="309" r:id="rId56"/>
    <p:sldId id="312" r:id="rId57"/>
    <p:sldId id="310" r:id="rId58"/>
    <p:sldId id="313" r:id="rId59"/>
    <p:sldId id="319" r:id="rId60"/>
    <p:sldId id="314" r:id="rId61"/>
    <p:sldId id="315" r:id="rId62"/>
    <p:sldId id="316" r:id="rId63"/>
    <p:sldId id="317" r:id="rId64"/>
    <p:sldId id="318" r:id="rId65"/>
    <p:sldId id="320" r:id="rId66"/>
    <p:sldId id="321" r:id="rId67"/>
    <p:sldId id="322" r:id="rId68"/>
    <p:sldId id="326" r:id="rId69"/>
    <p:sldId id="323" r:id="rId70"/>
    <p:sldId id="324" r:id="rId71"/>
    <p:sldId id="325" r:id="rId72"/>
    <p:sldId id="327" r:id="rId73"/>
    <p:sldId id="329" r:id="rId74"/>
    <p:sldId id="328" r:id="rId75"/>
    <p:sldId id="330" r:id="rId76"/>
    <p:sldId id="331" r:id="rId77"/>
    <p:sldId id="332" r:id="rId78"/>
    <p:sldId id="333" r:id="rId79"/>
    <p:sldId id="334" r:id="rId8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8627" autoAdjust="0"/>
  </p:normalViewPr>
  <p:slideViewPr>
    <p:cSldViewPr snapToGrid="0">
      <p:cViewPr varScale="1">
        <p:scale>
          <a:sx n="73" d="100"/>
          <a:sy n="73" d="100"/>
        </p:scale>
        <p:origin x="1042"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14D74EB-6991-4102-9F23-5220B39ED586}" type="datetimeFigureOut">
              <a:rPr lang="en-IN" smtClean="0"/>
              <a:t>30-10-2024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7794D78-8CDE-4757-9E59-E2FC644641E3}" type="slidenum">
              <a:rPr lang="en-IN" smtClean="0"/>
              <a:t>‹#›</a:t>
            </a:fld>
            <a:endParaRPr lang="en-IN"/>
          </a:p>
        </p:txBody>
      </p:sp>
    </p:spTree>
    <p:extLst>
      <p:ext uri="{BB962C8B-B14F-4D97-AF65-F5344CB8AC3E}">
        <p14:creationId xmlns:p14="http://schemas.microsoft.com/office/powerpoint/2010/main" val="26202003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7794D78-8CDE-4757-9E59-E2FC644641E3}" type="slidenum">
              <a:rPr lang="en-IN" smtClean="0"/>
              <a:t>5</a:t>
            </a:fld>
            <a:endParaRPr lang="en-IN"/>
          </a:p>
        </p:txBody>
      </p:sp>
    </p:spTree>
    <p:extLst>
      <p:ext uri="{BB962C8B-B14F-4D97-AF65-F5344CB8AC3E}">
        <p14:creationId xmlns:p14="http://schemas.microsoft.com/office/powerpoint/2010/main" val="29868508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7794D78-8CDE-4757-9E59-E2FC644641E3}" type="slidenum">
              <a:rPr lang="en-IN" smtClean="0"/>
              <a:t>7</a:t>
            </a:fld>
            <a:endParaRPr lang="en-IN"/>
          </a:p>
        </p:txBody>
      </p:sp>
    </p:spTree>
    <p:extLst>
      <p:ext uri="{BB962C8B-B14F-4D97-AF65-F5344CB8AC3E}">
        <p14:creationId xmlns:p14="http://schemas.microsoft.com/office/powerpoint/2010/main" val="21183846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7794D78-8CDE-4757-9E59-E2FC644641E3}" type="slidenum">
              <a:rPr lang="en-IN" smtClean="0"/>
              <a:t>26</a:t>
            </a:fld>
            <a:endParaRPr lang="en-IN"/>
          </a:p>
        </p:txBody>
      </p:sp>
    </p:spTree>
    <p:extLst>
      <p:ext uri="{BB962C8B-B14F-4D97-AF65-F5344CB8AC3E}">
        <p14:creationId xmlns:p14="http://schemas.microsoft.com/office/powerpoint/2010/main" val="9539722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7794D78-8CDE-4757-9E59-E2FC644641E3}" type="slidenum">
              <a:rPr lang="en-IN" smtClean="0"/>
              <a:t>47</a:t>
            </a:fld>
            <a:endParaRPr lang="en-IN"/>
          </a:p>
        </p:txBody>
      </p:sp>
    </p:spTree>
    <p:extLst>
      <p:ext uri="{BB962C8B-B14F-4D97-AF65-F5344CB8AC3E}">
        <p14:creationId xmlns:p14="http://schemas.microsoft.com/office/powerpoint/2010/main" val="34227935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733CF-7085-01FE-B2FD-FC3EB21F361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9E73C31-D9E2-7FA5-15F5-4B6CE5B1EFC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05863A9-446F-0000-0EEE-D7AE34DC820E}"/>
              </a:ext>
            </a:extLst>
          </p:cNvPr>
          <p:cNvSpPr>
            <a:spLocks noGrp="1"/>
          </p:cNvSpPr>
          <p:nvPr>
            <p:ph type="dt" sz="half" idx="10"/>
          </p:nvPr>
        </p:nvSpPr>
        <p:spPr/>
        <p:txBody>
          <a:bodyPr/>
          <a:lstStyle/>
          <a:p>
            <a:fld id="{F1D05331-151E-42CD-8035-59428EF48D03}" type="datetimeFigureOut">
              <a:rPr lang="en-IN" smtClean="0"/>
              <a:t>30-10-2024</a:t>
            </a:fld>
            <a:endParaRPr lang="en-IN"/>
          </a:p>
        </p:txBody>
      </p:sp>
      <p:sp>
        <p:nvSpPr>
          <p:cNvPr id="5" name="Footer Placeholder 4">
            <a:extLst>
              <a:ext uri="{FF2B5EF4-FFF2-40B4-BE49-F238E27FC236}">
                <a16:creationId xmlns:a16="http://schemas.microsoft.com/office/drawing/2014/main" id="{F91A07F6-F805-C9AF-D486-00EB6FAD6DA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73ECB1E-1C2C-8071-4300-B296446340D0}"/>
              </a:ext>
            </a:extLst>
          </p:cNvPr>
          <p:cNvSpPr>
            <a:spLocks noGrp="1"/>
          </p:cNvSpPr>
          <p:nvPr>
            <p:ph type="sldNum" sz="quarter" idx="12"/>
          </p:nvPr>
        </p:nvSpPr>
        <p:spPr/>
        <p:txBody>
          <a:bodyPr/>
          <a:lstStyle/>
          <a:p>
            <a:fld id="{812CA9A6-9D7D-4DDB-8345-5277B86A4078}" type="slidenum">
              <a:rPr lang="en-IN" smtClean="0"/>
              <a:t>‹#›</a:t>
            </a:fld>
            <a:endParaRPr lang="en-IN"/>
          </a:p>
        </p:txBody>
      </p:sp>
    </p:spTree>
    <p:extLst>
      <p:ext uri="{BB962C8B-B14F-4D97-AF65-F5344CB8AC3E}">
        <p14:creationId xmlns:p14="http://schemas.microsoft.com/office/powerpoint/2010/main" val="2896964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E6D442-5B68-B81C-131C-1B76A8C2FAF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3177B7D-8AF8-3B46-5452-9EC4497829C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AC90B41-D8BF-4A6A-95BC-7E130083995E}"/>
              </a:ext>
            </a:extLst>
          </p:cNvPr>
          <p:cNvSpPr>
            <a:spLocks noGrp="1"/>
          </p:cNvSpPr>
          <p:nvPr>
            <p:ph type="dt" sz="half" idx="10"/>
          </p:nvPr>
        </p:nvSpPr>
        <p:spPr/>
        <p:txBody>
          <a:bodyPr/>
          <a:lstStyle/>
          <a:p>
            <a:fld id="{F1D05331-151E-42CD-8035-59428EF48D03}" type="datetimeFigureOut">
              <a:rPr lang="en-IN" smtClean="0"/>
              <a:t>30-10-2024</a:t>
            </a:fld>
            <a:endParaRPr lang="en-IN"/>
          </a:p>
        </p:txBody>
      </p:sp>
      <p:sp>
        <p:nvSpPr>
          <p:cNvPr id="5" name="Footer Placeholder 4">
            <a:extLst>
              <a:ext uri="{FF2B5EF4-FFF2-40B4-BE49-F238E27FC236}">
                <a16:creationId xmlns:a16="http://schemas.microsoft.com/office/drawing/2014/main" id="{28D32F38-B6E8-75D4-524B-473E05D3D22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15B47AF-509F-4B03-4855-49D0ADBD5D84}"/>
              </a:ext>
            </a:extLst>
          </p:cNvPr>
          <p:cNvSpPr>
            <a:spLocks noGrp="1"/>
          </p:cNvSpPr>
          <p:nvPr>
            <p:ph type="sldNum" sz="quarter" idx="12"/>
          </p:nvPr>
        </p:nvSpPr>
        <p:spPr/>
        <p:txBody>
          <a:bodyPr/>
          <a:lstStyle/>
          <a:p>
            <a:fld id="{812CA9A6-9D7D-4DDB-8345-5277B86A4078}" type="slidenum">
              <a:rPr lang="en-IN" smtClean="0"/>
              <a:t>‹#›</a:t>
            </a:fld>
            <a:endParaRPr lang="en-IN"/>
          </a:p>
        </p:txBody>
      </p:sp>
    </p:spTree>
    <p:extLst>
      <p:ext uri="{BB962C8B-B14F-4D97-AF65-F5344CB8AC3E}">
        <p14:creationId xmlns:p14="http://schemas.microsoft.com/office/powerpoint/2010/main" val="16587857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41CAE-59AA-CD22-40E5-8CB67C625A1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EE86FFC-96D6-4995-8E20-2F113B544BA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CA93660-E5EA-A53C-2691-7B43F13DF3B2}"/>
              </a:ext>
            </a:extLst>
          </p:cNvPr>
          <p:cNvSpPr>
            <a:spLocks noGrp="1"/>
          </p:cNvSpPr>
          <p:nvPr>
            <p:ph type="dt" sz="half" idx="10"/>
          </p:nvPr>
        </p:nvSpPr>
        <p:spPr/>
        <p:txBody>
          <a:bodyPr/>
          <a:lstStyle/>
          <a:p>
            <a:fld id="{F1D05331-151E-42CD-8035-59428EF48D03}" type="datetimeFigureOut">
              <a:rPr lang="en-IN" smtClean="0"/>
              <a:t>30-10-2024</a:t>
            </a:fld>
            <a:endParaRPr lang="en-IN"/>
          </a:p>
        </p:txBody>
      </p:sp>
      <p:sp>
        <p:nvSpPr>
          <p:cNvPr id="5" name="Footer Placeholder 4">
            <a:extLst>
              <a:ext uri="{FF2B5EF4-FFF2-40B4-BE49-F238E27FC236}">
                <a16:creationId xmlns:a16="http://schemas.microsoft.com/office/drawing/2014/main" id="{199F8500-3E40-7090-6C26-212FEFD53A0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E842ACB-1386-ACBA-B8E6-0EDFA1BF5872}"/>
              </a:ext>
            </a:extLst>
          </p:cNvPr>
          <p:cNvSpPr>
            <a:spLocks noGrp="1"/>
          </p:cNvSpPr>
          <p:nvPr>
            <p:ph type="sldNum" sz="quarter" idx="12"/>
          </p:nvPr>
        </p:nvSpPr>
        <p:spPr/>
        <p:txBody>
          <a:bodyPr/>
          <a:lstStyle/>
          <a:p>
            <a:fld id="{812CA9A6-9D7D-4DDB-8345-5277B86A4078}" type="slidenum">
              <a:rPr lang="en-IN" smtClean="0"/>
              <a:t>‹#›</a:t>
            </a:fld>
            <a:endParaRPr lang="en-IN"/>
          </a:p>
        </p:txBody>
      </p:sp>
    </p:spTree>
    <p:extLst>
      <p:ext uri="{BB962C8B-B14F-4D97-AF65-F5344CB8AC3E}">
        <p14:creationId xmlns:p14="http://schemas.microsoft.com/office/powerpoint/2010/main" val="9954684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983797-7FEE-1237-D677-52450D7325A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AC9981F-CF32-0EB5-63D3-DFF5F7D157A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1CB9C9A-3146-9224-E72D-039ACAA8171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38B9FB7-66BD-A515-2DCA-A566F89D1F62}"/>
              </a:ext>
            </a:extLst>
          </p:cNvPr>
          <p:cNvSpPr>
            <a:spLocks noGrp="1"/>
          </p:cNvSpPr>
          <p:nvPr>
            <p:ph type="dt" sz="half" idx="10"/>
          </p:nvPr>
        </p:nvSpPr>
        <p:spPr/>
        <p:txBody>
          <a:bodyPr/>
          <a:lstStyle/>
          <a:p>
            <a:fld id="{F1D05331-151E-42CD-8035-59428EF48D03}" type="datetimeFigureOut">
              <a:rPr lang="en-IN" smtClean="0"/>
              <a:t>30-10-2024</a:t>
            </a:fld>
            <a:endParaRPr lang="en-IN"/>
          </a:p>
        </p:txBody>
      </p:sp>
      <p:sp>
        <p:nvSpPr>
          <p:cNvPr id="6" name="Footer Placeholder 5">
            <a:extLst>
              <a:ext uri="{FF2B5EF4-FFF2-40B4-BE49-F238E27FC236}">
                <a16:creationId xmlns:a16="http://schemas.microsoft.com/office/drawing/2014/main" id="{F78F7AC4-60E2-7D84-53E3-2B26D0ED9F7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CD2E2E7-910E-AE1E-04C4-EC3EBAF3D7C3}"/>
              </a:ext>
            </a:extLst>
          </p:cNvPr>
          <p:cNvSpPr>
            <a:spLocks noGrp="1"/>
          </p:cNvSpPr>
          <p:nvPr>
            <p:ph type="sldNum" sz="quarter" idx="12"/>
          </p:nvPr>
        </p:nvSpPr>
        <p:spPr/>
        <p:txBody>
          <a:bodyPr/>
          <a:lstStyle/>
          <a:p>
            <a:fld id="{812CA9A6-9D7D-4DDB-8345-5277B86A4078}" type="slidenum">
              <a:rPr lang="en-IN" smtClean="0"/>
              <a:t>‹#›</a:t>
            </a:fld>
            <a:endParaRPr lang="en-IN"/>
          </a:p>
        </p:txBody>
      </p:sp>
    </p:spTree>
    <p:extLst>
      <p:ext uri="{BB962C8B-B14F-4D97-AF65-F5344CB8AC3E}">
        <p14:creationId xmlns:p14="http://schemas.microsoft.com/office/powerpoint/2010/main" val="21602211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DB9EC0-D670-03AE-4ACF-D40B159DF30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7003DD8-F942-825A-5B66-827E348C21B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7A0AC4D-D78B-5C6E-0649-42AC6C18CE8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FEBE35E-4825-9302-3E9B-6AE01F3B831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2582F66-6D2C-9A32-ED25-E962F5B0F64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9B81B91-3B5B-0C4B-1984-A32A1DA9CCFE}"/>
              </a:ext>
            </a:extLst>
          </p:cNvPr>
          <p:cNvSpPr>
            <a:spLocks noGrp="1"/>
          </p:cNvSpPr>
          <p:nvPr>
            <p:ph type="dt" sz="half" idx="10"/>
          </p:nvPr>
        </p:nvSpPr>
        <p:spPr/>
        <p:txBody>
          <a:bodyPr/>
          <a:lstStyle/>
          <a:p>
            <a:fld id="{F1D05331-151E-42CD-8035-59428EF48D03}" type="datetimeFigureOut">
              <a:rPr lang="en-IN" smtClean="0"/>
              <a:t>30-10-2024</a:t>
            </a:fld>
            <a:endParaRPr lang="en-IN"/>
          </a:p>
        </p:txBody>
      </p:sp>
      <p:sp>
        <p:nvSpPr>
          <p:cNvPr id="8" name="Footer Placeholder 7">
            <a:extLst>
              <a:ext uri="{FF2B5EF4-FFF2-40B4-BE49-F238E27FC236}">
                <a16:creationId xmlns:a16="http://schemas.microsoft.com/office/drawing/2014/main" id="{050BB891-1D9D-CCF9-9DB9-0FC7C14CADB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0547436-EDAF-AF15-D55E-D1E932DC89B8}"/>
              </a:ext>
            </a:extLst>
          </p:cNvPr>
          <p:cNvSpPr>
            <a:spLocks noGrp="1"/>
          </p:cNvSpPr>
          <p:nvPr>
            <p:ph type="sldNum" sz="quarter" idx="12"/>
          </p:nvPr>
        </p:nvSpPr>
        <p:spPr/>
        <p:txBody>
          <a:bodyPr/>
          <a:lstStyle/>
          <a:p>
            <a:fld id="{812CA9A6-9D7D-4DDB-8345-5277B86A4078}" type="slidenum">
              <a:rPr lang="en-IN" smtClean="0"/>
              <a:t>‹#›</a:t>
            </a:fld>
            <a:endParaRPr lang="en-IN"/>
          </a:p>
        </p:txBody>
      </p:sp>
    </p:spTree>
    <p:extLst>
      <p:ext uri="{BB962C8B-B14F-4D97-AF65-F5344CB8AC3E}">
        <p14:creationId xmlns:p14="http://schemas.microsoft.com/office/powerpoint/2010/main" val="34979264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7F4A4E-F9C3-2890-F8AD-B5EB8E109A9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0B7976C-5D1E-B079-AFE5-3D3B8FD42D45}"/>
              </a:ext>
            </a:extLst>
          </p:cNvPr>
          <p:cNvSpPr>
            <a:spLocks noGrp="1"/>
          </p:cNvSpPr>
          <p:nvPr>
            <p:ph type="dt" sz="half" idx="10"/>
          </p:nvPr>
        </p:nvSpPr>
        <p:spPr/>
        <p:txBody>
          <a:bodyPr/>
          <a:lstStyle/>
          <a:p>
            <a:fld id="{F1D05331-151E-42CD-8035-59428EF48D03}" type="datetimeFigureOut">
              <a:rPr lang="en-IN" smtClean="0"/>
              <a:t>30-10-2024</a:t>
            </a:fld>
            <a:endParaRPr lang="en-IN"/>
          </a:p>
        </p:txBody>
      </p:sp>
      <p:sp>
        <p:nvSpPr>
          <p:cNvPr id="4" name="Footer Placeholder 3">
            <a:extLst>
              <a:ext uri="{FF2B5EF4-FFF2-40B4-BE49-F238E27FC236}">
                <a16:creationId xmlns:a16="http://schemas.microsoft.com/office/drawing/2014/main" id="{08921CCD-F822-FB92-61E6-3B5E39705D2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9A561A0-A635-CB03-CCA1-FCD1F1DC41A5}"/>
              </a:ext>
            </a:extLst>
          </p:cNvPr>
          <p:cNvSpPr>
            <a:spLocks noGrp="1"/>
          </p:cNvSpPr>
          <p:nvPr>
            <p:ph type="sldNum" sz="quarter" idx="12"/>
          </p:nvPr>
        </p:nvSpPr>
        <p:spPr/>
        <p:txBody>
          <a:bodyPr/>
          <a:lstStyle/>
          <a:p>
            <a:fld id="{812CA9A6-9D7D-4DDB-8345-5277B86A4078}" type="slidenum">
              <a:rPr lang="en-IN" smtClean="0"/>
              <a:t>‹#›</a:t>
            </a:fld>
            <a:endParaRPr lang="en-IN"/>
          </a:p>
        </p:txBody>
      </p:sp>
    </p:spTree>
    <p:extLst>
      <p:ext uri="{BB962C8B-B14F-4D97-AF65-F5344CB8AC3E}">
        <p14:creationId xmlns:p14="http://schemas.microsoft.com/office/powerpoint/2010/main" val="16727422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8681762-A9E5-A072-D538-6BA0DB44B5EC}"/>
              </a:ext>
            </a:extLst>
          </p:cNvPr>
          <p:cNvSpPr>
            <a:spLocks noGrp="1"/>
          </p:cNvSpPr>
          <p:nvPr>
            <p:ph type="dt" sz="half" idx="10"/>
          </p:nvPr>
        </p:nvSpPr>
        <p:spPr/>
        <p:txBody>
          <a:bodyPr/>
          <a:lstStyle/>
          <a:p>
            <a:fld id="{F1D05331-151E-42CD-8035-59428EF48D03}" type="datetimeFigureOut">
              <a:rPr lang="en-IN" smtClean="0"/>
              <a:t>30-10-2024</a:t>
            </a:fld>
            <a:endParaRPr lang="en-IN"/>
          </a:p>
        </p:txBody>
      </p:sp>
      <p:sp>
        <p:nvSpPr>
          <p:cNvPr id="3" name="Footer Placeholder 2">
            <a:extLst>
              <a:ext uri="{FF2B5EF4-FFF2-40B4-BE49-F238E27FC236}">
                <a16:creationId xmlns:a16="http://schemas.microsoft.com/office/drawing/2014/main" id="{33C5C767-0152-45D2-2A1F-5EA1B48F603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FCF3BD3-9297-399A-932E-235F738AB0B6}"/>
              </a:ext>
            </a:extLst>
          </p:cNvPr>
          <p:cNvSpPr>
            <a:spLocks noGrp="1"/>
          </p:cNvSpPr>
          <p:nvPr>
            <p:ph type="sldNum" sz="quarter" idx="12"/>
          </p:nvPr>
        </p:nvSpPr>
        <p:spPr/>
        <p:txBody>
          <a:bodyPr/>
          <a:lstStyle/>
          <a:p>
            <a:fld id="{812CA9A6-9D7D-4DDB-8345-5277B86A4078}" type="slidenum">
              <a:rPr lang="en-IN" smtClean="0"/>
              <a:t>‹#›</a:t>
            </a:fld>
            <a:endParaRPr lang="en-IN"/>
          </a:p>
        </p:txBody>
      </p:sp>
    </p:spTree>
    <p:extLst>
      <p:ext uri="{BB962C8B-B14F-4D97-AF65-F5344CB8AC3E}">
        <p14:creationId xmlns:p14="http://schemas.microsoft.com/office/powerpoint/2010/main" val="19469204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6AD169-74D8-A1DD-A636-A044B70F345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D66AB23-FC36-3984-F5DF-1FA3DA1A4C2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32CA81A-EAEE-9F58-5461-280C3B66C2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6544622-ED6D-2BB0-A829-0A13997D6EE1}"/>
              </a:ext>
            </a:extLst>
          </p:cNvPr>
          <p:cNvSpPr>
            <a:spLocks noGrp="1"/>
          </p:cNvSpPr>
          <p:nvPr>
            <p:ph type="dt" sz="half" idx="10"/>
          </p:nvPr>
        </p:nvSpPr>
        <p:spPr/>
        <p:txBody>
          <a:bodyPr/>
          <a:lstStyle/>
          <a:p>
            <a:fld id="{F1D05331-151E-42CD-8035-59428EF48D03}" type="datetimeFigureOut">
              <a:rPr lang="en-IN" smtClean="0"/>
              <a:t>30-10-2024</a:t>
            </a:fld>
            <a:endParaRPr lang="en-IN"/>
          </a:p>
        </p:txBody>
      </p:sp>
      <p:sp>
        <p:nvSpPr>
          <p:cNvPr id="6" name="Footer Placeholder 5">
            <a:extLst>
              <a:ext uri="{FF2B5EF4-FFF2-40B4-BE49-F238E27FC236}">
                <a16:creationId xmlns:a16="http://schemas.microsoft.com/office/drawing/2014/main" id="{E1D8279E-4FD5-9CD2-F712-F4A5E26BC0C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96DF89B-40C1-00EB-043F-4BA8B17E7A89}"/>
              </a:ext>
            </a:extLst>
          </p:cNvPr>
          <p:cNvSpPr>
            <a:spLocks noGrp="1"/>
          </p:cNvSpPr>
          <p:nvPr>
            <p:ph type="sldNum" sz="quarter" idx="12"/>
          </p:nvPr>
        </p:nvSpPr>
        <p:spPr/>
        <p:txBody>
          <a:bodyPr/>
          <a:lstStyle/>
          <a:p>
            <a:fld id="{812CA9A6-9D7D-4DDB-8345-5277B86A4078}" type="slidenum">
              <a:rPr lang="en-IN" smtClean="0"/>
              <a:t>‹#›</a:t>
            </a:fld>
            <a:endParaRPr lang="en-IN"/>
          </a:p>
        </p:txBody>
      </p:sp>
    </p:spTree>
    <p:extLst>
      <p:ext uri="{BB962C8B-B14F-4D97-AF65-F5344CB8AC3E}">
        <p14:creationId xmlns:p14="http://schemas.microsoft.com/office/powerpoint/2010/main" val="21256787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AA6F7B-CDFE-20BA-B3D2-8AD8E352220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00C526F-03A0-987E-4BAE-7AE50580BD3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A4C865E-726A-FC39-6F3D-B3EEE35B2D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FD95F39-5E60-9C2D-01E1-534F92C2A408}"/>
              </a:ext>
            </a:extLst>
          </p:cNvPr>
          <p:cNvSpPr>
            <a:spLocks noGrp="1"/>
          </p:cNvSpPr>
          <p:nvPr>
            <p:ph type="dt" sz="half" idx="10"/>
          </p:nvPr>
        </p:nvSpPr>
        <p:spPr/>
        <p:txBody>
          <a:bodyPr/>
          <a:lstStyle/>
          <a:p>
            <a:fld id="{F1D05331-151E-42CD-8035-59428EF48D03}" type="datetimeFigureOut">
              <a:rPr lang="en-IN" smtClean="0"/>
              <a:t>30-10-2024</a:t>
            </a:fld>
            <a:endParaRPr lang="en-IN"/>
          </a:p>
        </p:txBody>
      </p:sp>
      <p:sp>
        <p:nvSpPr>
          <p:cNvPr id="6" name="Footer Placeholder 5">
            <a:extLst>
              <a:ext uri="{FF2B5EF4-FFF2-40B4-BE49-F238E27FC236}">
                <a16:creationId xmlns:a16="http://schemas.microsoft.com/office/drawing/2014/main" id="{F6D9AE1C-E9A3-0D3F-B34C-0FAA5BFE7BC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CDC5959-0B50-6261-0F76-835FFF9F10E5}"/>
              </a:ext>
            </a:extLst>
          </p:cNvPr>
          <p:cNvSpPr>
            <a:spLocks noGrp="1"/>
          </p:cNvSpPr>
          <p:nvPr>
            <p:ph type="sldNum" sz="quarter" idx="12"/>
          </p:nvPr>
        </p:nvSpPr>
        <p:spPr/>
        <p:txBody>
          <a:bodyPr/>
          <a:lstStyle/>
          <a:p>
            <a:fld id="{812CA9A6-9D7D-4DDB-8345-5277B86A4078}" type="slidenum">
              <a:rPr lang="en-IN" smtClean="0"/>
              <a:t>‹#›</a:t>
            </a:fld>
            <a:endParaRPr lang="en-IN"/>
          </a:p>
        </p:txBody>
      </p:sp>
    </p:spTree>
    <p:extLst>
      <p:ext uri="{BB962C8B-B14F-4D97-AF65-F5344CB8AC3E}">
        <p14:creationId xmlns:p14="http://schemas.microsoft.com/office/powerpoint/2010/main" val="6838364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E9761C-EBB3-0D04-E3F6-E0AEEAFA6D6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ABC4AA4-7FE9-67F4-AE66-988327F7A6D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AFB842D-3D0D-EA54-849C-E9F8ABA95AEA}"/>
              </a:ext>
            </a:extLst>
          </p:cNvPr>
          <p:cNvSpPr>
            <a:spLocks noGrp="1"/>
          </p:cNvSpPr>
          <p:nvPr>
            <p:ph type="dt" sz="half" idx="10"/>
          </p:nvPr>
        </p:nvSpPr>
        <p:spPr/>
        <p:txBody>
          <a:bodyPr/>
          <a:lstStyle/>
          <a:p>
            <a:fld id="{F1D05331-151E-42CD-8035-59428EF48D03}" type="datetimeFigureOut">
              <a:rPr lang="en-IN" smtClean="0"/>
              <a:t>30-10-2024</a:t>
            </a:fld>
            <a:endParaRPr lang="en-IN"/>
          </a:p>
        </p:txBody>
      </p:sp>
      <p:sp>
        <p:nvSpPr>
          <p:cNvPr id="5" name="Footer Placeholder 4">
            <a:extLst>
              <a:ext uri="{FF2B5EF4-FFF2-40B4-BE49-F238E27FC236}">
                <a16:creationId xmlns:a16="http://schemas.microsoft.com/office/drawing/2014/main" id="{772B9D23-7ECA-56BE-6FF1-A886EF77E20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D54804D-1FA4-BE00-5569-26BF2AE3E108}"/>
              </a:ext>
            </a:extLst>
          </p:cNvPr>
          <p:cNvSpPr>
            <a:spLocks noGrp="1"/>
          </p:cNvSpPr>
          <p:nvPr>
            <p:ph type="sldNum" sz="quarter" idx="12"/>
          </p:nvPr>
        </p:nvSpPr>
        <p:spPr/>
        <p:txBody>
          <a:bodyPr/>
          <a:lstStyle/>
          <a:p>
            <a:fld id="{812CA9A6-9D7D-4DDB-8345-5277B86A4078}" type="slidenum">
              <a:rPr lang="en-IN" smtClean="0"/>
              <a:t>‹#›</a:t>
            </a:fld>
            <a:endParaRPr lang="en-IN"/>
          </a:p>
        </p:txBody>
      </p:sp>
    </p:spTree>
    <p:extLst>
      <p:ext uri="{BB962C8B-B14F-4D97-AF65-F5344CB8AC3E}">
        <p14:creationId xmlns:p14="http://schemas.microsoft.com/office/powerpoint/2010/main" val="38784472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8191478-017F-3638-0605-C3A2F1E629B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6DDD3C6-9626-D496-9EE2-0A6618C5081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D34193D-CA0B-C06B-7557-77F955A8C742}"/>
              </a:ext>
            </a:extLst>
          </p:cNvPr>
          <p:cNvSpPr>
            <a:spLocks noGrp="1"/>
          </p:cNvSpPr>
          <p:nvPr>
            <p:ph type="dt" sz="half" idx="10"/>
          </p:nvPr>
        </p:nvSpPr>
        <p:spPr/>
        <p:txBody>
          <a:bodyPr/>
          <a:lstStyle/>
          <a:p>
            <a:fld id="{F1D05331-151E-42CD-8035-59428EF48D03}" type="datetimeFigureOut">
              <a:rPr lang="en-IN" smtClean="0"/>
              <a:t>30-10-2024</a:t>
            </a:fld>
            <a:endParaRPr lang="en-IN"/>
          </a:p>
        </p:txBody>
      </p:sp>
      <p:sp>
        <p:nvSpPr>
          <p:cNvPr id="5" name="Footer Placeholder 4">
            <a:extLst>
              <a:ext uri="{FF2B5EF4-FFF2-40B4-BE49-F238E27FC236}">
                <a16:creationId xmlns:a16="http://schemas.microsoft.com/office/drawing/2014/main" id="{0FD6FDE7-F8F7-7546-1659-2D34666CC0F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FD96610-7DD5-FF76-43B7-EC6A26A4BE7E}"/>
              </a:ext>
            </a:extLst>
          </p:cNvPr>
          <p:cNvSpPr>
            <a:spLocks noGrp="1"/>
          </p:cNvSpPr>
          <p:nvPr>
            <p:ph type="sldNum" sz="quarter" idx="12"/>
          </p:nvPr>
        </p:nvSpPr>
        <p:spPr/>
        <p:txBody>
          <a:bodyPr/>
          <a:lstStyle/>
          <a:p>
            <a:fld id="{812CA9A6-9D7D-4DDB-8345-5277B86A4078}" type="slidenum">
              <a:rPr lang="en-IN" smtClean="0"/>
              <a:t>‹#›</a:t>
            </a:fld>
            <a:endParaRPr lang="en-IN"/>
          </a:p>
        </p:txBody>
      </p:sp>
    </p:spTree>
    <p:extLst>
      <p:ext uri="{BB962C8B-B14F-4D97-AF65-F5344CB8AC3E}">
        <p14:creationId xmlns:p14="http://schemas.microsoft.com/office/powerpoint/2010/main" val="6357708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A1C2F50-E21C-04B7-1BB6-1501D4B2670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8231309-0850-491C-E091-C60DEED82D9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BCDCBD6-D164-6768-8C57-76C2A6B48B5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1D05331-151E-42CD-8035-59428EF48D03}" type="datetimeFigureOut">
              <a:rPr lang="en-IN" smtClean="0"/>
              <a:t>30-10-2024</a:t>
            </a:fld>
            <a:endParaRPr lang="en-IN"/>
          </a:p>
        </p:txBody>
      </p:sp>
      <p:sp>
        <p:nvSpPr>
          <p:cNvPr id="5" name="Footer Placeholder 4">
            <a:extLst>
              <a:ext uri="{FF2B5EF4-FFF2-40B4-BE49-F238E27FC236}">
                <a16:creationId xmlns:a16="http://schemas.microsoft.com/office/drawing/2014/main" id="{72A779A8-CC64-2212-0701-F6D2B5067BB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9BBA3F6-39D7-D152-C485-648DBCB6A1F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2CA9A6-9D7D-4DDB-8345-5277B86A4078}" type="slidenum">
              <a:rPr lang="en-IN" smtClean="0"/>
              <a:t>‹#›</a:t>
            </a:fld>
            <a:endParaRPr lang="en-IN"/>
          </a:p>
        </p:txBody>
      </p:sp>
    </p:spTree>
    <p:extLst>
      <p:ext uri="{BB962C8B-B14F-4D97-AF65-F5344CB8AC3E}">
        <p14:creationId xmlns:p14="http://schemas.microsoft.com/office/powerpoint/2010/main" val="39228584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7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0ED4A8-332D-D550-4DA7-6F2543606440}"/>
              </a:ext>
            </a:extLst>
          </p:cNvPr>
          <p:cNvSpPr>
            <a:spLocks noGrp="1"/>
          </p:cNvSpPr>
          <p:nvPr>
            <p:ph type="ctrTitle"/>
          </p:nvPr>
        </p:nvSpPr>
        <p:spPr/>
        <p:txBody>
          <a:bodyPr/>
          <a:lstStyle/>
          <a:p>
            <a:r>
              <a:rPr lang="en-US" b="1" dirty="0"/>
              <a:t>MODULE 3</a:t>
            </a:r>
            <a:endParaRPr lang="en-IN" b="1" dirty="0"/>
          </a:p>
        </p:txBody>
      </p:sp>
      <p:sp>
        <p:nvSpPr>
          <p:cNvPr id="3" name="Subtitle 2">
            <a:extLst>
              <a:ext uri="{FF2B5EF4-FFF2-40B4-BE49-F238E27FC236}">
                <a16:creationId xmlns:a16="http://schemas.microsoft.com/office/drawing/2014/main" id="{3FBEB8C3-3FA8-5422-1C32-A54B579EBCEA}"/>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36132295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4F57B3-18A4-D874-1CC1-E594AE987CA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66F7191-EB52-6CEB-D137-7FE6B97DB577}"/>
              </a:ext>
            </a:extLst>
          </p:cNvPr>
          <p:cNvSpPr>
            <a:spLocks noGrp="1"/>
          </p:cNvSpPr>
          <p:nvPr>
            <p:ph idx="1"/>
          </p:nvPr>
        </p:nvSpPr>
        <p:spPr/>
        <p:txBody>
          <a:bodyPr/>
          <a:lstStyle/>
          <a:p>
            <a:r>
              <a:rPr lang="en-US" b="1" dirty="0">
                <a:solidFill>
                  <a:srgbClr val="0D0D0D"/>
                </a:solidFill>
                <a:effectLst/>
                <a:latin typeface="Times New Roman" panose="02020603050405020304" pitchFamily="18" charset="0"/>
                <a:ea typeface="Times New Roman" panose="02020603050405020304" pitchFamily="18" charset="0"/>
              </a:rPr>
              <a:t>Introduction to navigation design and signposts - Navigational models, Design conventions for websites, Patterns - clear entry points, menus, and breadcrumbs</a:t>
            </a:r>
            <a:r>
              <a:rPr lang="en-US" b="1" dirty="0">
                <a:effectLst/>
                <a:latin typeface="Times New Roman" panose="02020603050405020304" pitchFamily="18" charset="0"/>
                <a:ea typeface="Times New Roman" panose="02020603050405020304" pitchFamily="18" charset="0"/>
              </a:rPr>
              <a:t>. Bootstrap 5's navigation components- navbar, dropdowns, and pagination</a:t>
            </a:r>
            <a:r>
              <a:rPr lang="en-US" sz="1800" dirty="0">
                <a:effectLst/>
                <a:latin typeface="Times New Roman" panose="02020603050405020304" pitchFamily="18" charset="0"/>
                <a:ea typeface="Times New Roman" panose="02020603050405020304" pitchFamily="18" charset="0"/>
              </a:rPr>
              <a:t>.</a:t>
            </a:r>
            <a:endParaRPr lang="en-IN" dirty="0"/>
          </a:p>
        </p:txBody>
      </p:sp>
    </p:spTree>
    <p:extLst>
      <p:ext uri="{BB962C8B-B14F-4D97-AF65-F5344CB8AC3E}">
        <p14:creationId xmlns:p14="http://schemas.microsoft.com/office/powerpoint/2010/main" val="10571722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B1DCBA-0F68-7928-5D74-09C3667E0112}"/>
              </a:ext>
            </a:extLst>
          </p:cNvPr>
          <p:cNvSpPr>
            <a:spLocks noGrp="1"/>
          </p:cNvSpPr>
          <p:nvPr>
            <p:ph type="title"/>
          </p:nvPr>
        </p:nvSpPr>
        <p:spPr/>
        <p:txBody>
          <a:bodyPr/>
          <a:lstStyle/>
          <a:p>
            <a:r>
              <a:rPr lang="en-US" dirty="0"/>
              <a:t>NAVIGATION</a:t>
            </a:r>
            <a:endParaRPr lang="en-IN" dirty="0"/>
          </a:p>
        </p:txBody>
      </p:sp>
      <p:sp>
        <p:nvSpPr>
          <p:cNvPr id="3" name="Content Placeholder 2">
            <a:extLst>
              <a:ext uri="{FF2B5EF4-FFF2-40B4-BE49-F238E27FC236}">
                <a16:creationId xmlns:a16="http://schemas.microsoft.com/office/drawing/2014/main" id="{DF6E17AB-466B-3CC0-B943-66A7A79AE7A0}"/>
              </a:ext>
            </a:extLst>
          </p:cNvPr>
          <p:cNvSpPr>
            <a:spLocks noGrp="1"/>
          </p:cNvSpPr>
          <p:nvPr>
            <p:ph idx="1"/>
          </p:nvPr>
        </p:nvSpPr>
        <p:spPr/>
        <p:txBody>
          <a:bodyPr/>
          <a:lstStyle/>
          <a:p>
            <a:r>
              <a:rPr lang="en-IN" dirty="0"/>
              <a:t>In terms of User Interface (UI) design, Navigation is defined as </a:t>
            </a:r>
            <a:r>
              <a:rPr lang="en-IN" b="1" dirty="0"/>
              <a:t>the set of actions guiding the users navigate/move around the app so that they are able to complete their tasks easily</a:t>
            </a:r>
            <a:r>
              <a:rPr lang="en-IN" dirty="0"/>
              <a:t>.</a:t>
            </a:r>
          </a:p>
        </p:txBody>
      </p:sp>
    </p:spTree>
    <p:extLst>
      <p:ext uri="{BB962C8B-B14F-4D97-AF65-F5344CB8AC3E}">
        <p14:creationId xmlns:p14="http://schemas.microsoft.com/office/powerpoint/2010/main" val="12392371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9BB0E-4232-6B25-BDD1-CF88E7726FED}"/>
              </a:ext>
            </a:extLst>
          </p:cNvPr>
          <p:cNvSpPr>
            <a:spLocks noGrp="1"/>
          </p:cNvSpPr>
          <p:nvPr>
            <p:ph type="title"/>
          </p:nvPr>
        </p:nvSpPr>
        <p:spPr/>
        <p:txBody>
          <a:bodyPr/>
          <a:lstStyle/>
          <a:p>
            <a:r>
              <a:rPr lang="en-US" b="1" dirty="0"/>
              <a:t>NAVIGATION DESIGN</a:t>
            </a:r>
            <a:endParaRPr lang="en-IN" b="1" dirty="0"/>
          </a:p>
        </p:txBody>
      </p:sp>
      <p:sp>
        <p:nvSpPr>
          <p:cNvPr id="3" name="Content Placeholder 2">
            <a:extLst>
              <a:ext uri="{FF2B5EF4-FFF2-40B4-BE49-F238E27FC236}">
                <a16:creationId xmlns:a16="http://schemas.microsoft.com/office/drawing/2014/main" id="{16508791-5786-91C6-935F-3E57F0E39D5E}"/>
              </a:ext>
            </a:extLst>
          </p:cNvPr>
          <p:cNvSpPr>
            <a:spLocks noGrp="1"/>
          </p:cNvSpPr>
          <p:nvPr>
            <p:ph idx="1"/>
          </p:nvPr>
        </p:nvSpPr>
        <p:spPr/>
        <p:txBody>
          <a:bodyPr/>
          <a:lstStyle/>
          <a:p>
            <a:r>
              <a:rPr lang="en-US" dirty="0"/>
              <a:t>Navigation design involves creating, analyzing, and implementing ways for users to navigate through a website or app.</a:t>
            </a:r>
          </a:p>
          <a:p>
            <a:r>
              <a:rPr lang="en-US" dirty="0"/>
              <a:t> Effective navigation design is central to good user interface as it directly impacts user interaction and product use. </a:t>
            </a:r>
          </a:p>
          <a:p>
            <a:r>
              <a:rPr lang="en-US" dirty="0"/>
              <a:t>It helps users move from point A to point B (and beyond) with minimal frustration by employing UI patterns such as links, labels, and other elements to provide relevant information and facilitate easier interactions.</a:t>
            </a:r>
            <a:endParaRPr lang="en-IN" dirty="0"/>
          </a:p>
        </p:txBody>
      </p:sp>
    </p:spTree>
    <p:extLst>
      <p:ext uri="{BB962C8B-B14F-4D97-AF65-F5344CB8AC3E}">
        <p14:creationId xmlns:p14="http://schemas.microsoft.com/office/powerpoint/2010/main" val="35894113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4D10C4-ECF6-3057-9549-0A02FB576969}"/>
              </a:ext>
            </a:extLst>
          </p:cNvPr>
          <p:cNvSpPr>
            <a:spLocks noGrp="1"/>
          </p:cNvSpPr>
          <p:nvPr>
            <p:ph type="title"/>
          </p:nvPr>
        </p:nvSpPr>
        <p:spPr/>
        <p:txBody>
          <a:bodyPr/>
          <a:lstStyle/>
          <a:p>
            <a:r>
              <a:rPr lang="en-US" b="1" dirty="0"/>
              <a:t>Why navigation design is so important</a:t>
            </a:r>
            <a:br>
              <a:rPr lang="en-US" b="1" dirty="0"/>
            </a:br>
            <a:endParaRPr lang="en-IN" dirty="0"/>
          </a:p>
        </p:txBody>
      </p:sp>
      <p:sp>
        <p:nvSpPr>
          <p:cNvPr id="3" name="Content Placeholder 2">
            <a:extLst>
              <a:ext uri="{FF2B5EF4-FFF2-40B4-BE49-F238E27FC236}">
                <a16:creationId xmlns:a16="http://schemas.microsoft.com/office/drawing/2014/main" id="{0BBB9DA9-A761-491A-30A4-0BDA362AA4A5}"/>
              </a:ext>
            </a:extLst>
          </p:cNvPr>
          <p:cNvSpPr>
            <a:spLocks noGrp="1"/>
          </p:cNvSpPr>
          <p:nvPr>
            <p:ph idx="1"/>
          </p:nvPr>
        </p:nvSpPr>
        <p:spPr/>
        <p:txBody>
          <a:bodyPr>
            <a:normAutofit/>
          </a:bodyPr>
          <a:lstStyle/>
          <a:p>
            <a:r>
              <a:rPr lang="en-US" dirty="0"/>
              <a:t>Easy-to-use navigation is key. Confusing menus and hard-to-find pages frustrate users and drive them away. That’s why good navigation is so important for a positive user experience. Here’s why:</a:t>
            </a:r>
          </a:p>
          <a:p>
            <a:pPr>
              <a:buFont typeface="Arial" panose="020B0604020202020204" pitchFamily="34" charset="0"/>
              <a:buChar char="•"/>
            </a:pPr>
            <a:r>
              <a:rPr lang="en-US" b="1" dirty="0"/>
              <a:t>Enhances understanding</a:t>
            </a:r>
            <a:r>
              <a:rPr lang="en-US" dirty="0"/>
              <a:t>: Good navigation guides users effortlessly through your product, making it a easy to find what they’re looking for and achieve their goals. </a:t>
            </a:r>
          </a:p>
          <a:p>
            <a:pPr>
              <a:buFont typeface="Arial" panose="020B0604020202020204" pitchFamily="34" charset="0"/>
              <a:buChar char="•"/>
            </a:pPr>
            <a:r>
              <a:rPr lang="en-US" b="1" dirty="0"/>
              <a:t>Builds confidence</a:t>
            </a:r>
            <a:r>
              <a:rPr lang="en-US" dirty="0"/>
              <a:t>: When paths are clear and menus are simple, users feel more comfortable and confident navigating the product. </a:t>
            </a:r>
          </a:p>
          <a:p>
            <a:endParaRPr lang="en-IN" dirty="0"/>
          </a:p>
        </p:txBody>
      </p:sp>
    </p:spTree>
    <p:extLst>
      <p:ext uri="{BB962C8B-B14F-4D97-AF65-F5344CB8AC3E}">
        <p14:creationId xmlns:p14="http://schemas.microsoft.com/office/powerpoint/2010/main" val="4625691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D3C2D-CDE0-1521-A787-1B275708CB6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C1E6ECD-A232-3AEA-CC0C-86A62A60C00B}"/>
              </a:ext>
            </a:extLst>
          </p:cNvPr>
          <p:cNvSpPr>
            <a:spLocks noGrp="1"/>
          </p:cNvSpPr>
          <p:nvPr>
            <p:ph idx="1"/>
          </p:nvPr>
        </p:nvSpPr>
        <p:spPr/>
        <p:txBody>
          <a:bodyPr/>
          <a:lstStyle/>
          <a:p>
            <a:r>
              <a:rPr lang="en-US" b="1" dirty="0"/>
              <a:t>Reflects your brand</a:t>
            </a:r>
            <a:r>
              <a:rPr lang="en-US" dirty="0"/>
              <a:t>: A clear, easy-to-use design creates a great first impression, helping to build a strong brand identity. </a:t>
            </a:r>
          </a:p>
          <a:p>
            <a:r>
              <a:rPr lang="en-US" b="1" dirty="0"/>
              <a:t>Tells users their location</a:t>
            </a:r>
            <a:r>
              <a:rPr lang="en-US" dirty="0"/>
              <a:t>: Think of navigation as a map that shows users where they are and how to get to other places. This reduces frustration and helps users feel more in control.</a:t>
            </a:r>
          </a:p>
          <a:p>
            <a:r>
              <a:rPr lang="en-US" b="1" dirty="0"/>
              <a:t>Supports accessibility: </a:t>
            </a:r>
            <a:r>
              <a:rPr lang="en-US" dirty="0"/>
              <a:t>Inclusive navigation design is crucial. It ensures that everyone, including users with disabilities, can effectively use your product, broadening your audience and promoting inclusivity.</a:t>
            </a:r>
            <a:endParaRPr lang="en-IN" dirty="0"/>
          </a:p>
        </p:txBody>
      </p:sp>
    </p:spTree>
    <p:extLst>
      <p:ext uri="{BB962C8B-B14F-4D97-AF65-F5344CB8AC3E}">
        <p14:creationId xmlns:p14="http://schemas.microsoft.com/office/powerpoint/2010/main" val="24151438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BCABA2-52B8-332F-169B-78B0606B11CF}"/>
              </a:ext>
            </a:extLst>
          </p:cNvPr>
          <p:cNvSpPr>
            <a:spLocks noGrp="1"/>
          </p:cNvSpPr>
          <p:nvPr>
            <p:ph type="title"/>
          </p:nvPr>
        </p:nvSpPr>
        <p:spPr/>
        <p:txBody>
          <a:bodyPr/>
          <a:lstStyle/>
          <a:p>
            <a:r>
              <a:rPr lang="en-US" dirty="0"/>
              <a:t>NAVIGATION -COST</a:t>
            </a:r>
            <a:endParaRPr lang="en-IN" dirty="0"/>
          </a:p>
        </p:txBody>
      </p:sp>
      <p:sp>
        <p:nvSpPr>
          <p:cNvPr id="3" name="Content Placeholder 2">
            <a:extLst>
              <a:ext uri="{FF2B5EF4-FFF2-40B4-BE49-F238E27FC236}">
                <a16:creationId xmlns:a16="http://schemas.microsoft.com/office/drawing/2014/main" id="{4D759D4F-70CE-72A4-9370-32EF8F1D537E}"/>
              </a:ext>
            </a:extLst>
          </p:cNvPr>
          <p:cNvSpPr>
            <a:spLocks noGrp="1"/>
          </p:cNvSpPr>
          <p:nvPr>
            <p:ph idx="1"/>
          </p:nvPr>
        </p:nvSpPr>
        <p:spPr/>
        <p:txBody>
          <a:bodyPr>
            <a:normAutofit fontScale="92500" lnSpcReduction="10000"/>
          </a:bodyPr>
          <a:lstStyle/>
          <a:p>
            <a:r>
              <a:rPr lang="en-US" dirty="0"/>
              <a:t>Navigating an unfamiliar web page or application window incurs a cognitive cost (</a:t>
            </a:r>
            <a:r>
              <a:rPr lang="en-IN" b="1" dirty="0"/>
              <a:t>the amount of information needed )</a:t>
            </a:r>
            <a:endParaRPr lang="en-US" dirty="0"/>
          </a:p>
          <a:p>
            <a:r>
              <a:rPr lang="en-US" dirty="0"/>
              <a:t>Users quickly assess the layout, content, and navigation options, which requires mental effort and time. </a:t>
            </a:r>
          </a:p>
          <a:p>
            <a:r>
              <a:rPr lang="en-US" dirty="0"/>
              <a:t>Even familiar interfaces can impose this cognitive load, compounded by actual delays in loading or displaying content. </a:t>
            </a:r>
          </a:p>
          <a:p>
            <a:r>
              <a:rPr lang="en-US" dirty="0"/>
              <a:t>This cost impacts user experience, as prolonged loading times can frustrate users, leading them to abandon pages or avoid exploring the site altogether. </a:t>
            </a:r>
          </a:p>
          <a:p>
            <a:r>
              <a:rPr lang="en-US" dirty="0"/>
              <a:t>Effective design minimizes cognitive and loading costs to retain and engage users more effectively.</a:t>
            </a:r>
            <a:endParaRPr lang="en-IN" dirty="0"/>
          </a:p>
        </p:txBody>
      </p:sp>
    </p:spTree>
    <p:extLst>
      <p:ext uri="{BB962C8B-B14F-4D97-AF65-F5344CB8AC3E}">
        <p14:creationId xmlns:p14="http://schemas.microsoft.com/office/powerpoint/2010/main" val="24936857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2F133-C3A8-EB76-3410-2F7AC7531CC6}"/>
              </a:ext>
            </a:extLst>
          </p:cNvPr>
          <p:cNvSpPr>
            <a:spLocks noGrp="1"/>
          </p:cNvSpPr>
          <p:nvPr>
            <p:ph type="title"/>
          </p:nvPr>
        </p:nvSpPr>
        <p:spPr/>
        <p:txBody>
          <a:bodyPr/>
          <a:lstStyle/>
          <a:p>
            <a:r>
              <a:rPr lang="en-US" dirty="0"/>
              <a:t>HOW TO NAVIGATE</a:t>
            </a:r>
            <a:endParaRPr lang="en-IN" dirty="0"/>
          </a:p>
        </p:txBody>
      </p:sp>
      <p:sp>
        <p:nvSpPr>
          <p:cNvPr id="3" name="Content Placeholder 2">
            <a:extLst>
              <a:ext uri="{FF2B5EF4-FFF2-40B4-BE49-F238E27FC236}">
                <a16:creationId xmlns:a16="http://schemas.microsoft.com/office/drawing/2014/main" id="{C6BE750E-6D13-9992-7814-E62D09462875}"/>
              </a:ext>
            </a:extLst>
          </p:cNvPr>
          <p:cNvSpPr>
            <a:spLocks noGrp="1"/>
          </p:cNvSpPr>
          <p:nvPr>
            <p:ph idx="1"/>
          </p:nvPr>
        </p:nvSpPr>
        <p:spPr>
          <a:xfrm>
            <a:off x="838199" y="1825625"/>
            <a:ext cx="10940845" cy="4351338"/>
          </a:xfrm>
        </p:spPr>
        <p:txBody>
          <a:bodyPr>
            <a:normAutofit lnSpcReduction="10000"/>
          </a:bodyPr>
          <a:lstStyle/>
          <a:p>
            <a:pPr marL="0" indent="0">
              <a:buNone/>
            </a:pPr>
            <a:r>
              <a:rPr lang="en-US" b="1" dirty="0"/>
              <a:t>Signposts</a:t>
            </a:r>
            <a:r>
              <a:rPr lang="en-US" dirty="0"/>
              <a:t> </a:t>
            </a:r>
          </a:p>
          <a:p>
            <a:r>
              <a:rPr lang="en-US" dirty="0"/>
              <a:t>Signposts are features that help users figure out their immediate surroundings. </a:t>
            </a:r>
          </a:p>
          <a:p>
            <a:r>
              <a:rPr lang="en-US" dirty="0"/>
              <a:t>Common signposts include page and window titles, web page logos and other branding devices, tabs, and selection indicators. </a:t>
            </a:r>
          </a:p>
          <a:p>
            <a:r>
              <a:rPr lang="en-US" dirty="0"/>
              <a:t>Patterns and techniques such as good global and local navigation links, Sequence Map, Breadcrumbs, and Annotated Scrollbars </a:t>
            </a:r>
            <a:r>
              <a:rPr lang="en-US" dirty="0" err="1"/>
              <a:t>etc</a:t>
            </a:r>
            <a:r>
              <a:rPr lang="en-US" dirty="0"/>
              <a:t> tell users where they currently are, and often where they can go with only one more jump. </a:t>
            </a:r>
          </a:p>
          <a:p>
            <a:r>
              <a:rPr lang="en-US" dirty="0"/>
              <a:t>They help a user to stay “found” and to plan his next steps.</a:t>
            </a:r>
            <a:endParaRPr lang="en-IN" dirty="0"/>
          </a:p>
        </p:txBody>
      </p:sp>
    </p:spTree>
    <p:extLst>
      <p:ext uri="{BB962C8B-B14F-4D97-AF65-F5344CB8AC3E}">
        <p14:creationId xmlns:p14="http://schemas.microsoft.com/office/powerpoint/2010/main" val="40614940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6A943B-50FE-1723-0C30-04510E11A968}"/>
              </a:ext>
            </a:extLst>
          </p:cNvPr>
          <p:cNvSpPr>
            <a:spLocks noGrp="1"/>
          </p:cNvSpPr>
          <p:nvPr>
            <p:ph type="title"/>
          </p:nvPr>
        </p:nvSpPr>
        <p:spPr/>
        <p:txBody>
          <a:bodyPr/>
          <a:lstStyle/>
          <a:p>
            <a:r>
              <a:rPr lang="en-US" b="1" dirty="0"/>
              <a:t>WAYFINDING</a:t>
            </a:r>
            <a:endParaRPr lang="en-IN" b="1" dirty="0"/>
          </a:p>
        </p:txBody>
      </p:sp>
      <p:sp>
        <p:nvSpPr>
          <p:cNvPr id="3" name="Content Placeholder 2">
            <a:extLst>
              <a:ext uri="{FF2B5EF4-FFF2-40B4-BE49-F238E27FC236}">
                <a16:creationId xmlns:a16="http://schemas.microsoft.com/office/drawing/2014/main" id="{27C0ABA2-BCE0-234A-1A47-F534F17CF253}"/>
              </a:ext>
            </a:extLst>
          </p:cNvPr>
          <p:cNvSpPr>
            <a:spLocks noGrp="1"/>
          </p:cNvSpPr>
          <p:nvPr>
            <p:ph idx="1"/>
          </p:nvPr>
        </p:nvSpPr>
        <p:spPr/>
        <p:txBody>
          <a:bodyPr>
            <a:normAutofit lnSpcReduction="10000"/>
          </a:bodyPr>
          <a:lstStyle/>
          <a:p>
            <a:pPr marL="0" indent="0">
              <a:buNone/>
            </a:pPr>
            <a:r>
              <a:rPr lang="en-US" dirty="0"/>
              <a:t>Wayfinding is what people do as they find their way toward their goal. These common-sense features help users with wayfinding:</a:t>
            </a:r>
          </a:p>
          <a:p>
            <a:pPr marL="0" indent="0">
              <a:buNone/>
            </a:pPr>
            <a:r>
              <a:rPr lang="en-US" b="1" dirty="0"/>
              <a:t>Good signage</a:t>
            </a:r>
          </a:p>
          <a:p>
            <a:r>
              <a:rPr lang="en-US" dirty="0"/>
              <a:t>Clear, unambiguous labels anticipate what you’re looking for and tell you where to go; signs are where you expect them to be, and you’re never left standing at a decision point without guidance. </a:t>
            </a:r>
          </a:p>
          <a:p>
            <a:r>
              <a:rPr lang="en-US" dirty="0"/>
              <a:t>You can check this by walking through the artifact you’re designing and following the paths of all the major use cases. </a:t>
            </a:r>
          </a:p>
          <a:p>
            <a:r>
              <a:rPr lang="en-US" dirty="0"/>
              <a:t>Make sure that each point where a user must decide where to go next is signed or labeled appropriately.</a:t>
            </a:r>
          </a:p>
        </p:txBody>
      </p:sp>
    </p:spTree>
    <p:extLst>
      <p:ext uri="{BB962C8B-B14F-4D97-AF65-F5344CB8AC3E}">
        <p14:creationId xmlns:p14="http://schemas.microsoft.com/office/powerpoint/2010/main" val="35626524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0CC2D9-F8E1-6463-3EAB-60BA1259CEE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3CC4FB0-43FF-4D08-DD85-C7817CC24AB0}"/>
              </a:ext>
            </a:extLst>
          </p:cNvPr>
          <p:cNvSpPr>
            <a:spLocks noGrp="1"/>
          </p:cNvSpPr>
          <p:nvPr>
            <p:ph idx="1"/>
          </p:nvPr>
        </p:nvSpPr>
        <p:spPr/>
        <p:txBody>
          <a:bodyPr>
            <a:normAutofit fontScale="92500" lnSpcReduction="10000"/>
          </a:bodyPr>
          <a:lstStyle/>
          <a:p>
            <a:pPr marL="0" indent="0">
              <a:buNone/>
            </a:pPr>
            <a:r>
              <a:rPr lang="en-US" b="1" dirty="0"/>
              <a:t>Environmental clues</a:t>
            </a:r>
          </a:p>
          <a:p>
            <a:r>
              <a:rPr lang="en-US" dirty="0"/>
              <a:t>You would look for an “X” close button at the top right of a modal dialog and logos in the upper-left corner of a web page.</a:t>
            </a:r>
          </a:p>
          <a:p>
            <a:r>
              <a:rPr lang="en-US" dirty="0"/>
              <a:t>Keep in mind that these clues are often culturally determined, and someone new to the culture (e.g., someone who’s never used a given operating system before) will not be aware of them.</a:t>
            </a:r>
          </a:p>
          <a:p>
            <a:pPr marL="0" indent="0">
              <a:buNone/>
            </a:pPr>
            <a:r>
              <a:rPr lang="en-US" b="1" dirty="0"/>
              <a:t>Maps</a:t>
            </a:r>
          </a:p>
          <a:p>
            <a:r>
              <a:rPr lang="en-US" dirty="0"/>
              <a:t>Sometimes people go from sign to sign or link to link without ever really knowing where they’re going in a larger frame of reference. </a:t>
            </a:r>
          </a:p>
          <a:p>
            <a:r>
              <a:rPr lang="en-US" dirty="0"/>
              <a:t>Also, in badly signed or densely built spaces, maps may be the only navigational aids people have.</a:t>
            </a:r>
            <a:endParaRPr lang="en-IN" dirty="0"/>
          </a:p>
        </p:txBody>
      </p:sp>
    </p:spTree>
    <p:extLst>
      <p:ext uri="{BB962C8B-B14F-4D97-AF65-F5344CB8AC3E}">
        <p14:creationId xmlns:p14="http://schemas.microsoft.com/office/powerpoint/2010/main" val="24670793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F76F7A-8AB8-E427-C7C2-A23E345DD798}"/>
              </a:ext>
            </a:extLst>
          </p:cNvPr>
          <p:cNvSpPr>
            <a:spLocks noGrp="1"/>
          </p:cNvSpPr>
          <p:nvPr>
            <p:ph type="title"/>
          </p:nvPr>
        </p:nvSpPr>
        <p:spPr/>
        <p:txBody>
          <a:bodyPr/>
          <a:lstStyle/>
          <a:p>
            <a:r>
              <a:rPr lang="en-US" b="1" dirty="0"/>
              <a:t>TYPES OF NAVIGATION</a:t>
            </a:r>
            <a:endParaRPr lang="en-IN" b="1" dirty="0"/>
          </a:p>
        </p:txBody>
      </p:sp>
      <p:sp>
        <p:nvSpPr>
          <p:cNvPr id="3" name="Content Placeholder 2">
            <a:extLst>
              <a:ext uri="{FF2B5EF4-FFF2-40B4-BE49-F238E27FC236}">
                <a16:creationId xmlns:a16="http://schemas.microsoft.com/office/drawing/2014/main" id="{DC8375CA-94E2-05B6-110D-E1E8CFEB711A}"/>
              </a:ext>
            </a:extLst>
          </p:cNvPr>
          <p:cNvSpPr>
            <a:spLocks noGrp="1"/>
          </p:cNvSpPr>
          <p:nvPr>
            <p:ph idx="1"/>
          </p:nvPr>
        </p:nvSpPr>
        <p:spPr/>
        <p:txBody>
          <a:bodyPr>
            <a:normAutofit/>
          </a:bodyPr>
          <a:lstStyle/>
          <a:p>
            <a:pPr marL="0" indent="0">
              <a:buNone/>
            </a:pPr>
            <a:r>
              <a:rPr lang="en-US" dirty="0"/>
              <a:t>3 TYPES</a:t>
            </a:r>
          </a:p>
          <a:p>
            <a:pPr>
              <a:buFont typeface="Wingdings" panose="05000000000000000000" pitchFamily="2" charset="2"/>
              <a:buChar char="Ø"/>
            </a:pPr>
            <a:r>
              <a:rPr lang="en-US" dirty="0"/>
              <a:t>GLOBAL</a:t>
            </a:r>
          </a:p>
          <a:p>
            <a:pPr>
              <a:buFont typeface="Wingdings" panose="05000000000000000000" pitchFamily="2" charset="2"/>
              <a:buChar char="Ø"/>
            </a:pPr>
            <a:r>
              <a:rPr lang="en-US" dirty="0"/>
              <a:t>UTILITY</a:t>
            </a:r>
          </a:p>
          <a:p>
            <a:pPr>
              <a:buFont typeface="Wingdings" panose="05000000000000000000" pitchFamily="2" charset="2"/>
              <a:buChar char="Ø"/>
            </a:pPr>
            <a:r>
              <a:rPr lang="en-US" dirty="0"/>
              <a:t>INLINE OR ASSOCIATIVE</a:t>
            </a:r>
          </a:p>
          <a:p>
            <a:pPr marL="0" indent="0">
              <a:buNone/>
            </a:pPr>
            <a:r>
              <a:rPr lang="en-US" b="1" u="sng" dirty="0"/>
              <a:t>Global navigation </a:t>
            </a:r>
            <a:r>
              <a:rPr lang="en-US" dirty="0"/>
              <a:t>is what’s found on every main screen. </a:t>
            </a:r>
          </a:p>
          <a:p>
            <a:r>
              <a:rPr lang="en-US" dirty="0"/>
              <a:t>It usually takes the form of menus, tabs, and/or sidebars, and this is how users move around the formal navigational structure of the site.</a:t>
            </a:r>
            <a:endParaRPr lang="en-IN" dirty="0"/>
          </a:p>
        </p:txBody>
      </p:sp>
    </p:spTree>
    <p:extLst>
      <p:ext uri="{BB962C8B-B14F-4D97-AF65-F5344CB8AC3E}">
        <p14:creationId xmlns:p14="http://schemas.microsoft.com/office/powerpoint/2010/main" val="19943763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9C3CE2-BB94-9CD0-EF26-B95BF6703F2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584C5A4-B95D-FFD5-44F8-6FBF305B73FE}"/>
              </a:ext>
            </a:extLst>
          </p:cNvPr>
          <p:cNvSpPr>
            <a:spLocks noGrp="1"/>
          </p:cNvSpPr>
          <p:nvPr>
            <p:ph idx="1"/>
          </p:nvPr>
        </p:nvSpPr>
        <p:spPr/>
        <p:txBody>
          <a:bodyPr>
            <a:normAutofit/>
          </a:bodyPr>
          <a:lstStyle/>
          <a:p>
            <a:pPr marL="0" indent="0">
              <a:buNone/>
            </a:pPr>
            <a:r>
              <a:rPr lang="en-US" b="1" dirty="0"/>
              <a:t>Utility navigation</a:t>
            </a:r>
            <a:r>
              <a:rPr lang="en-US" dirty="0"/>
              <a:t>, also found on every main screen, contains links and tools related to non content aspects of the site or application: sign-in, help, print, Settings Editors language tools, and so on.</a:t>
            </a:r>
          </a:p>
          <a:p>
            <a:pPr marL="0" indent="0">
              <a:buNone/>
            </a:pPr>
            <a:endParaRPr lang="en-US" b="1" dirty="0"/>
          </a:p>
          <a:p>
            <a:pPr marL="0" indent="0">
              <a:buNone/>
            </a:pPr>
            <a:r>
              <a:rPr lang="en-US" b="1" dirty="0"/>
              <a:t>Associative and inline navigation </a:t>
            </a:r>
            <a:r>
              <a:rPr lang="en-US" dirty="0"/>
              <a:t>embed links in or near the actual content. As the user reads or interacts with the site, these links present options that might be immediately relevant to the user. They tie content together thematically.</a:t>
            </a:r>
            <a:endParaRPr lang="en-IN" dirty="0"/>
          </a:p>
        </p:txBody>
      </p:sp>
    </p:spTree>
    <p:extLst>
      <p:ext uri="{BB962C8B-B14F-4D97-AF65-F5344CB8AC3E}">
        <p14:creationId xmlns:p14="http://schemas.microsoft.com/office/powerpoint/2010/main" val="27781464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B5BEE-5206-0733-5A64-4C2E1187CB1A}"/>
              </a:ext>
            </a:extLst>
          </p:cNvPr>
          <p:cNvSpPr>
            <a:spLocks noGrp="1"/>
          </p:cNvSpPr>
          <p:nvPr>
            <p:ph type="title"/>
          </p:nvPr>
        </p:nvSpPr>
        <p:spPr/>
        <p:txBody>
          <a:bodyPr/>
          <a:lstStyle/>
          <a:p>
            <a:r>
              <a:rPr lang="en-US" b="1" dirty="0"/>
              <a:t>NAVIGATION MODELS</a:t>
            </a:r>
            <a:endParaRPr lang="en-IN" b="1" dirty="0"/>
          </a:p>
        </p:txBody>
      </p:sp>
      <p:sp>
        <p:nvSpPr>
          <p:cNvPr id="3" name="Content Placeholder 2">
            <a:extLst>
              <a:ext uri="{FF2B5EF4-FFF2-40B4-BE49-F238E27FC236}">
                <a16:creationId xmlns:a16="http://schemas.microsoft.com/office/drawing/2014/main" id="{792FA3EA-1E6C-12A6-1CD4-2E2269EE8E32}"/>
              </a:ext>
            </a:extLst>
          </p:cNvPr>
          <p:cNvSpPr>
            <a:spLocks noGrp="1"/>
          </p:cNvSpPr>
          <p:nvPr>
            <p:ph idx="1"/>
          </p:nvPr>
        </p:nvSpPr>
        <p:spPr/>
        <p:txBody>
          <a:bodyPr/>
          <a:lstStyle/>
          <a:p>
            <a:r>
              <a:rPr lang="en-US" dirty="0"/>
              <a:t>Navigation modeling is the process of designing and planning a navigation system for a website. </a:t>
            </a:r>
          </a:p>
          <a:p>
            <a:r>
              <a:rPr lang="en-US" dirty="0"/>
              <a:t>The navigation model helps determine how content will be organized and presented to users.</a:t>
            </a:r>
          </a:p>
          <a:p>
            <a:r>
              <a:rPr lang="en-US" dirty="0"/>
              <a:t> A navigation model is important because it helps you organize your website's content in a way that makes sense to your users.</a:t>
            </a:r>
            <a:endParaRPr lang="en-IN" dirty="0"/>
          </a:p>
        </p:txBody>
      </p:sp>
    </p:spTree>
    <p:extLst>
      <p:ext uri="{BB962C8B-B14F-4D97-AF65-F5344CB8AC3E}">
        <p14:creationId xmlns:p14="http://schemas.microsoft.com/office/powerpoint/2010/main" val="2161444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8E9C9-F8B3-C46F-BCB2-664D8D2D502D}"/>
              </a:ext>
            </a:extLst>
          </p:cNvPr>
          <p:cNvSpPr>
            <a:spLocks noGrp="1"/>
          </p:cNvSpPr>
          <p:nvPr>
            <p:ph type="title"/>
          </p:nvPr>
        </p:nvSpPr>
        <p:spPr>
          <a:xfrm>
            <a:off x="838200" y="196646"/>
            <a:ext cx="10515600" cy="983226"/>
          </a:xfrm>
        </p:spPr>
        <p:txBody>
          <a:bodyPr/>
          <a:lstStyle/>
          <a:p>
            <a:r>
              <a:rPr lang="en-IN" dirty="0"/>
              <a:t>1. Hub and spoke</a:t>
            </a:r>
          </a:p>
        </p:txBody>
      </p:sp>
      <p:sp>
        <p:nvSpPr>
          <p:cNvPr id="3" name="Content Placeholder 2">
            <a:extLst>
              <a:ext uri="{FF2B5EF4-FFF2-40B4-BE49-F238E27FC236}">
                <a16:creationId xmlns:a16="http://schemas.microsoft.com/office/drawing/2014/main" id="{B953283C-9055-60C5-7F1A-0A3748AB220F}"/>
              </a:ext>
            </a:extLst>
          </p:cNvPr>
          <p:cNvSpPr>
            <a:spLocks noGrp="1"/>
          </p:cNvSpPr>
          <p:nvPr>
            <p:ph idx="1"/>
          </p:nvPr>
        </p:nvSpPr>
        <p:spPr>
          <a:xfrm>
            <a:off x="334297" y="1179872"/>
            <a:ext cx="11444748" cy="4744547"/>
          </a:xfrm>
        </p:spPr>
        <p:txBody>
          <a:bodyPr>
            <a:normAutofit/>
          </a:bodyPr>
          <a:lstStyle/>
          <a:p>
            <a:r>
              <a:rPr lang="en-US" dirty="0"/>
              <a:t>Most often found on mobile devices, this architecture lists all the major parts of the site or app on the home screen, or “hub.”</a:t>
            </a:r>
          </a:p>
          <a:p>
            <a:r>
              <a:rPr lang="en-US" dirty="0"/>
              <a:t> The user clicks or taps through to them, does what she needs to do, and comes back to the hub to go somewhere else.</a:t>
            </a:r>
          </a:p>
          <a:p>
            <a:r>
              <a:rPr lang="en-US" dirty="0"/>
              <a:t>This model uses a single central screen which acts to enable the user to explore different sections (spokes) of the app. </a:t>
            </a:r>
          </a:p>
          <a:p>
            <a:r>
              <a:rPr lang="en-US" dirty="0"/>
              <a:t>If you wish to shift from one spoke to another – you must do so via the hub. This is a good way of minimizing onscreen noise and works very well for apps that are more concerned with task execution than presenting large volumes of content.</a:t>
            </a:r>
            <a:endParaRPr lang="en-IN" dirty="0"/>
          </a:p>
        </p:txBody>
      </p:sp>
      <p:pic>
        <p:nvPicPr>
          <p:cNvPr id="5" name="Picture 4">
            <a:extLst>
              <a:ext uri="{FF2B5EF4-FFF2-40B4-BE49-F238E27FC236}">
                <a16:creationId xmlns:a16="http://schemas.microsoft.com/office/drawing/2014/main" id="{2412DBEB-02E3-233C-E750-DD0A2C78829A}"/>
              </a:ext>
            </a:extLst>
          </p:cNvPr>
          <p:cNvPicPr>
            <a:picLocks noChangeAspect="1"/>
          </p:cNvPicPr>
          <p:nvPr/>
        </p:nvPicPr>
        <p:blipFill>
          <a:blip r:embed="rId2"/>
          <a:stretch>
            <a:fillRect/>
          </a:stretch>
        </p:blipFill>
        <p:spPr>
          <a:xfrm>
            <a:off x="7935817" y="5182109"/>
            <a:ext cx="2829320" cy="1479246"/>
          </a:xfrm>
          <a:prstGeom prst="rect">
            <a:avLst/>
          </a:prstGeom>
        </p:spPr>
      </p:pic>
    </p:spTree>
    <p:extLst>
      <p:ext uri="{BB962C8B-B14F-4D97-AF65-F5344CB8AC3E}">
        <p14:creationId xmlns:p14="http://schemas.microsoft.com/office/powerpoint/2010/main" val="20604158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FB220-7D80-2FC2-2FD7-E8A267B782F0}"/>
              </a:ext>
            </a:extLst>
          </p:cNvPr>
          <p:cNvSpPr>
            <a:spLocks noGrp="1"/>
          </p:cNvSpPr>
          <p:nvPr>
            <p:ph type="title"/>
          </p:nvPr>
        </p:nvSpPr>
        <p:spPr/>
        <p:txBody>
          <a:bodyPr/>
          <a:lstStyle/>
          <a:p>
            <a:r>
              <a:rPr lang="en-US" dirty="0"/>
              <a:t>2. Fully connected</a:t>
            </a:r>
            <a:br>
              <a:rPr lang="en-US" dirty="0"/>
            </a:br>
            <a:endParaRPr lang="en-IN" dirty="0"/>
          </a:p>
        </p:txBody>
      </p:sp>
      <p:sp>
        <p:nvSpPr>
          <p:cNvPr id="3" name="Content Placeholder 2">
            <a:extLst>
              <a:ext uri="{FF2B5EF4-FFF2-40B4-BE49-F238E27FC236}">
                <a16:creationId xmlns:a16="http://schemas.microsoft.com/office/drawing/2014/main" id="{1981A395-FA3C-35C3-FCB7-0497DC23C25D}"/>
              </a:ext>
            </a:extLst>
          </p:cNvPr>
          <p:cNvSpPr>
            <a:spLocks noGrp="1"/>
          </p:cNvSpPr>
          <p:nvPr>
            <p:ph idx="1"/>
          </p:nvPr>
        </p:nvSpPr>
        <p:spPr/>
        <p:txBody>
          <a:bodyPr>
            <a:normAutofit/>
          </a:bodyPr>
          <a:lstStyle/>
          <a:p>
            <a:r>
              <a:rPr lang="en-US" dirty="0"/>
              <a:t>Many websites follow this model. There’s a home page or screen, but it and every other page link to all the others they each have a global navigation feature, such as a top menu. </a:t>
            </a:r>
          </a:p>
          <a:p>
            <a:r>
              <a:rPr lang="en-US" dirty="0"/>
              <a:t>The global navigation may be a single level , or it might be deep and complex, with multiple levels and deeply buried content. </a:t>
            </a:r>
          </a:p>
          <a:p>
            <a:r>
              <a:rPr lang="en-US" dirty="0"/>
              <a:t>As long as the user can reach any page from any other with a single jump, it’s fully connected</a:t>
            </a:r>
            <a:endParaRPr lang="en-IN" dirty="0"/>
          </a:p>
        </p:txBody>
      </p:sp>
      <p:pic>
        <p:nvPicPr>
          <p:cNvPr id="5" name="Picture 4">
            <a:extLst>
              <a:ext uri="{FF2B5EF4-FFF2-40B4-BE49-F238E27FC236}">
                <a16:creationId xmlns:a16="http://schemas.microsoft.com/office/drawing/2014/main" id="{5D41A81E-6DA8-86CE-B87B-8368267C0D77}"/>
              </a:ext>
            </a:extLst>
          </p:cNvPr>
          <p:cNvPicPr>
            <a:picLocks noChangeAspect="1"/>
          </p:cNvPicPr>
          <p:nvPr/>
        </p:nvPicPr>
        <p:blipFill>
          <a:blip r:embed="rId2"/>
          <a:stretch>
            <a:fillRect/>
          </a:stretch>
        </p:blipFill>
        <p:spPr>
          <a:xfrm>
            <a:off x="6186002" y="4625714"/>
            <a:ext cx="2400635" cy="1867161"/>
          </a:xfrm>
          <a:prstGeom prst="rect">
            <a:avLst/>
          </a:prstGeom>
        </p:spPr>
      </p:pic>
    </p:spTree>
    <p:extLst>
      <p:ext uri="{BB962C8B-B14F-4D97-AF65-F5344CB8AC3E}">
        <p14:creationId xmlns:p14="http://schemas.microsoft.com/office/powerpoint/2010/main" val="20399382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C6F0F4-116C-DB8B-6C29-F1F09C46EE01}"/>
              </a:ext>
            </a:extLst>
          </p:cNvPr>
          <p:cNvSpPr>
            <a:spLocks noGrp="1"/>
          </p:cNvSpPr>
          <p:nvPr>
            <p:ph type="title"/>
          </p:nvPr>
        </p:nvSpPr>
        <p:spPr>
          <a:xfrm>
            <a:off x="838200" y="121285"/>
            <a:ext cx="10515600" cy="1325563"/>
          </a:xfrm>
        </p:spPr>
        <p:txBody>
          <a:bodyPr>
            <a:normAutofit/>
          </a:bodyPr>
          <a:lstStyle/>
          <a:p>
            <a:r>
              <a:rPr lang="en-US" dirty="0"/>
              <a:t>3. Multi-level</a:t>
            </a:r>
            <a:br>
              <a:rPr lang="en-US" dirty="0"/>
            </a:br>
            <a:endParaRPr lang="en-IN" dirty="0"/>
          </a:p>
        </p:txBody>
      </p:sp>
      <p:sp>
        <p:nvSpPr>
          <p:cNvPr id="3" name="Content Placeholder 2">
            <a:extLst>
              <a:ext uri="{FF2B5EF4-FFF2-40B4-BE49-F238E27FC236}">
                <a16:creationId xmlns:a16="http://schemas.microsoft.com/office/drawing/2014/main" id="{7F181408-2260-B882-2B73-76EC470D1F3E}"/>
              </a:ext>
            </a:extLst>
          </p:cNvPr>
          <p:cNvSpPr>
            <a:spLocks noGrp="1"/>
          </p:cNvSpPr>
          <p:nvPr>
            <p:ph idx="1"/>
          </p:nvPr>
        </p:nvSpPr>
        <p:spPr>
          <a:xfrm>
            <a:off x="838200" y="904398"/>
            <a:ext cx="11282680" cy="5049203"/>
          </a:xfrm>
        </p:spPr>
        <p:txBody>
          <a:bodyPr>
            <a:normAutofit/>
          </a:bodyPr>
          <a:lstStyle/>
          <a:p>
            <a:r>
              <a:rPr lang="en-US" dirty="0"/>
              <a:t>This is also common among websites .</a:t>
            </a:r>
          </a:p>
          <a:p>
            <a:r>
              <a:rPr lang="en-US" dirty="0"/>
              <a:t> The main pages are fully connected with each other, but the subpages are only connected among themselves (and usually to the other main pages, via global navigation).</a:t>
            </a:r>
          </a:p>
          <a:p>
            <a:r>
              <a:rPr lang="en-US" dirty="0"/>
              <a:t>You’ve seen this on sites that have subpages listed only in sidebars or subtabs users see these on menus that only show up after they’ve clicked the link for the main page or category. </a:t>
            </a:r>
          </a:p>
          <a:p>
            <a:r>
              <a:rPr lang="en-US" dirty="0"/>
              <a:t>It takes two or more jumps to get from one arbitrary subpage to another. </a:t>
            </a:r>
          </a:p>
          <a:p>
            <a:r>
              <a:rPr lang="en-US" dirty="0"/>
              <a:t>                    </a:t>
            </a:r>
            <a:endParaRPr lang="en-IN" dirty="0"/>
          </a:p>
        </p:txBody>
      </p:sp>
      <p:pic>
        <p:nvPicPr>
          <p:cNvPr id="7" name="Picture 6">
            <a:extLst>
              <a:ext uri="{FF2B5EF4-FFF2-40B4-BE49-F238E27FC236}">
                <a16:creationId xmlns:a16="http://schemas.microsoft.com/office/drawing/2014/main" id="{D47F4DAE-7806-F442-8645-9381C42E769D}"/>
              </a:ext>
            </a:extLst>
          </p:cNvPr>
          <p:cNvPicPr>
            <a:picLocks noChangeAspect="1"/>
          </p:cNvPicPr>
          <p:nvPr/>
        </p:nvPicPr>
        <p:blipFill>
          <a:blip r:embed="rId2"/>
          <a:stretch>
            <a:fillRect/>
          </a:stretch>
        </p:blipFill>
        <p:spPr>
          <a:xfrm>
            <a:off x="6479540" y="4511040"/>
            <a:ext cx="4726940" cy="2153920"/>
          </a:xfrm>
          <a:prstGeom prst="rect">
            <a:avLst/>
          </a:prstGeom>
        </p:spPr>
      </p:pic>
    </p:spTree>
    <p:extLst>
      <p:ext uri="{BB962C8B-B14F-4D97-AF65-F5344CB8AC3E}">
        <p14:creationId xmlns:p14="http://schemas.microsoft.com/office/powerpoint/2010/main" val="25145530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EE005A-7FCA-EAE7-2D01-FCA36F6045F2}"/>
              </a:ext>
            </a:extLst>
          </p:cNvPr>
          <p:cNvSpPr>
            <a:spLocks noGrp="1"/>
          </p:cNvSpPr>
          <p:nvPr>
            <p:ph type="title"/>
          </p:nvPr>
        </p:nvSpPr>
        <p:spPr>
          <a:xfrm>
            <a:off x="838200" y="121921"/>
            <a:ext cx="10515600" cy="1568768"/>
          </a:xfrm>
        </p:spPr>
        <p:txBody>
          <a:bodyPr/>
          <a:lstStyle/>
          <a:p>
            <a:r>
              <a:rPr lang="en-US" dirty="0"/>
              <a:t>4. Stepwise</a:t>
            </a:r>
            <a:br>
              <a:rPr lang="en-US" dirty="0"/>
            </a:br>
            <a:endParaRPr lang="en-IN" dirty="0"/>
          </a:p>
        </p:txBody>
      </p:sp>
      <p:sp>
        <p:nvSpPr>
          <p:cNvPr id="3" name="Content Placeholder 2">
            <a:extLst>
              <a:ext uri="{FF2B5EF4-FFF2-40B4-BE49-F238E27FC236}">
                <a16:creationId xmlns:a16="http://schemas.microsoft.com/office/drawing/2014/main" id="{081D2171-DA6B-8177-C27B-7DBC2BBD99C5}"/>
              </a:ext>
            </a:extLst>
          </p:cNvPr>
          <p:cNvSpPr>
            <a:spLocks noGrp="1"/>
          </p:cNvSpPr>
          <p:nvPr>
            <p:ph idx="1"/>
          </p:nvPr>
        </p:nvSpPr>
        <p:spPr>
          <a:xfrm>
            <a:off x="594360" y="934720"/>
            <a:ext cx="11008360" cy="4927441"/>
          </a:xfrm>
        </p:spPr>
        <p:txBody>
          <a:bodyPr>
            <a:normAutofit fontScale="92500" lnSpcReduction="10000"/>
          </a:bodyPr>
          <a:lstStyle/>
          <a:p>
            <a:r>
              <a:rPr lang="en-US" dirty="0"/>
              <a:t>Slideshows, process flows, and Wizards lead the user step by step through the screens in a prescribed sequence </a:t>
            </a:r>
          </a:p>
          <a:p>
            <a:pPr marL="0" indent="0">
              <a:buNone/>
            </a:pPr>
            <a:r>
              <a:rPr lang="en-US" dirty="0"/>
              <a:t>Back/Next links are prominent on the page.</a:t>
            </a:r>
          </a:p>
          <a:p>
            <a:pPr marL="0" indent="0">
              <a:buNone/>
            </a:pPr>
            <a:endParaRPr lang="en-US" dirty="0"/>
          </a:p>
          <a:p>
            <a:pPr marL="0" indent="0">
              <a:buNone/>
            </a:pPr>
            <a:endParaRPr lang="en-US" dirty="0"/>
          </a:p>
          <a:p>
            <a:pPr marL="0" indent="0">
              <a:buNone/>
            </a:pPr>
            <a:r>
              <a:rPr lang="en-US" sz="5700" u="sng" dirty="0">
                <a:latin typeface="+mj-lt"/>
                <a:ea typeface="+mj-ea"/>
                <a:cs typeface="+mj-cs"/>
              </a:rPr>
              <a:t>5.Pyramid</a:t>
            </a:r>
          </a:p>
          <a:p>
            <a:pPr marL="0" indent="0">
              <a:buFont typeface="Arial" panose="020B0604020202020204" pitchFamily="34" charset="0"/>
              <a:buNone/>
            </a:pPr>
            <a:r>
              <a:rPr lang="en-US" dirty="0"/>
              <a:t>A variant on the stepwise model, a pyramid uses a hub page or menu page to list an entire sequence of items or subpages in one </a:t>
            </a:r>
          </a:p>
          <a:p>
            <a:pPr marL="0" indent="0">
              <a:buFont typeface="Arial" panose="020B0604020202020204" pitchFamily="34" charset="0"/>
              <a:buNone/>
            </a:pPr>
            <a:r>
              <a:rPr lang="en-US" dirty="0"/>
              <a:t>The user picks out any item, jumps to it, and then has the option to use Back/Next links to step through other items in order. He can go back to the hub page anytime. </a:t>
            </a:r>
            <a:endParaRPr lang="en-IN" dirty="0"/>
          </a:p>
        </p:txBody>
      </p:sp>
      <p:pic>
        <p:nvPicPr>
          <p:cNvPr id="5" name="Picture 4">
            <a:extLst>
              <a:ext uri="{FF2B5EF4-FFF2-40B4-BE49-F238E27FC236}">
                <a16:creationId xmlns:a16="http://schemas.microsoft.com/office/drawing/2014/main" id="{D14994F2-CA12-E484-D16E-247EF503884D}"/>
              </a:ext>
            </a:extLst>
          </p:cNvPr>
          <p:cNvPicPr>
            <a:picLocks noChangeAspect="1"/>
          </p:cNvPicPr>
          <p:nvPr/>
        </p:nvPicPr>
        <p:blipFill>
          <a:blip r:embed="rId2"/>
          <a:stretch>
            <a:fillRect/>
          </a:stretch>
        </p:blipFill>
        <p:spPr>
          <a:xfrm>
            <a:off x="3914577" y="2610803"/>
            <a:ext cx="2838846" cy="523948"/>
          </a:xfrm>
          <a:prstGeom prst="rect">
            <a:avLst/>
          </a:prstGeom>
        </p:spPr>
      </p:pic>
      <p:pic>
        <p:nvPicPr>
          <p:cNvPr id="7" name="Picture 6">
            <a:extLst>
              <a:ext uri="{FF2B5EF4-FFF2-40B4-BE49-F238E27FC236}">
                <a16:creationId xmlns:a16="http://schemas.microsoft.com/office/drawing/2014/main" id="{94F74938-621F-77D7-80C3-6DE36145D85F}"/>
              </a:ext>
            </a:extLst>
          </p:cNvPr>
          <p:cNvPicPr>
            <a:picLocks noChangeAspect="1"/>
          </p:cNvPicPr>
          <p:nvPr/>
        </p:nvPicPr>
        <p:blipFill>
          <a:blip r:embed="rId3"/>
          <a:stretch>
            <a:fillRect/>
          </a:stretch>
        </p:blipFill>
        <p:spPr>
          <a:xfrm>
            <a:off x="6450141" y="5229483"/>
            <a:ext cx="2705478" cy="1552792"/>
          </a:xfrm>
          <a:prstGeom prst="rect">
            <a:avLst/>
          </a:prstGeom>
        </p:spPr>
      </p:pic>
    </p:spTree>
    <p:extLst>
      <p:ext uri="{BB962C8B-B14F-4D97-AF65-F5344CB8AC3E}">
        <p14:creationId xmlns:p14="http://schemas.microsoft.com/office/powerpoint/2010/main" val="11650191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D9432-F347-B538-9036-346A4DA91D3E}"/>
              </a:ext>
            </a:extLst>
          </p:cNvPr>
          <p:cNvSpPr>
            <a:spLocks noGrp="1"/>
          </p:cNvSpPr>
          <p:nvPr>
            <p:ph type="title"/>
          </p:nvPr>
        </p:nvSpPr>
        <p:spPr/>
        <p:txBody>
          <a:bodyPr/>
          <a:lstStyle/>
          <a:p>
            <a:r>
              <a:rPr lang="en-IN" dirty="0"/>
              <a:t>6. Pan-and-zoom</a:t>
            </a:r>
          </a:p>
        </p:txBody>
      </p:sp>
      <p:sp>
        <p:nvSpPr>
          <p:cNvPr id="3" name="Content Placeholder 2">
            <a:extLst>
              <a:ext uri="{FF2B5EF4-FFF2-40B4-BE49-F238E27FC236}">
                <a16:creationId xmlns:a16="http://schemas.microsoft.com/office/drawing/2014/main" id="{30C85967-200B-CC4B-9569-3F556C7BDD16}"/>
              </a:ext>
            </a:extLst>
          </p:cNvPr>
          <p:cNvSpPr>
            <a:spLocks noGrp="1"/>
          </p:cNvSpPr>
          <p:nvPr>
            <p:ph idx="1"/>
          </p:nvPr>
        </p:nvSpPr>
        <p:spPr/>
        <p:txBody>
          <a:bodyPr>
            <a:normAutofit/>
          </a:bodyPr>
          <a:lstStyle/>
          <a:p>
            <a:r>
              <a:rPr lang="en-US" dirty="0"/>
              <a:t>Some artifacts are best represented as single large spaces, not many small ones. </a:t>
            </a:r>
          </a:p>
          <a:p>
            <a:r>
              <a:rPr lang="en-US" dirty="0"/>
              <a:t>Maps, large images, large text documents, information graphics, and representations of time based media (such as sound and video) fall into this category. </a:t>
            </a:r>
          </a:p>
          <a:p>
            <a:r>
              <a:rPr lang="en-US" dirty="0"/>
              <a:t>Panning and zooming are still navigation so offer controls for panning (moving horizontally or vertically), zooming in and out, and resetting to a known position and state. </a:t>
            </a:r>
            <a:endParaRPr lang="en-IN" dirty="0"/>
          </a:p>
        </p:txBody>
      </p:sp>
      <p:pic>
        <p:nvPicPr>
          <p:cNvPr id="5" name="Picture 4">
            <a:extLst>
              <a:ext uri="{FF2B5EF4-FFF2-40B4-BE49-F238E27FC236}">
                <a16:creationId xmlns:a16="http://schemas.microsoft.com/office/drawing/2014/main" id="{C9E7508A-59C2-4DF4-5CE1-E36F6A7C73CA}"/>
              </a:ext>
            </a:extLst>
          </p:cNvPr>
          <p:cNvPicPr>
            <a:picLocks noChangeAspect="1"/>
          </p:cNvPicPr>
          <p:nvPr/>
        </p:nvPicPr>
        <p:blipFill>
          <a:blip r:embed="rId2"/>
          <a:stretch>
            <a:fillRect/>
          </a:stretch>
        </p:blipFill>
        <p:spPr>
          <a:xfrm>
            <a:off x="6369886" y="4844845"/>
            <a:ext cx="1667108" cy="1467055"/>
          </a:xfrm>
          <a:prstGeom prst="rect">
            <a:avLst/>
          </a:prstGeom>
        </p:spPr>
      </p:pic>
    </p:spTree>
    <p:extLst>
      <p:ext uri="{BB962C8B-B14F-4D97-AF65-F5344CB8AC3E}">
        <p14:creationId xmlns:p14="http://schemas.microsoft.com/office/powerpoint/2010/main" val="18082548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341917-E365-6560-7BBF-A8421AF072A7}"/>
              </a:ext>
            </a:extLst>
          </p:cNvPr>
          <p:cNvSpPr>
            <a:spLocks noGrp="1"/>
          </p:cNvSpPr>
          <p:nvPr>
            <p:ph type="title"/>
          </p:nvPr>
        </p:nvSpPr>
        <p:spPr/>
        <p:txBody>
          <a:bodyPr/>
          <a:lstStyle/>
          <a:p>
            <a:r>
              <a:rPr lang="en-US" dirty="0"/>
              <a:t>7.Flat navigation</a:t>
            </a:r>
            <a:br>
              <a:rPr lang="en-US" dirty="0"/>
            </a:br>
            <a:endParaRPr lang="en-IN" dirty="0"/>
          </a:p>
        </p:txBody>
      </p:sp>
      <p:sp>
        <p:nvSpPr>
          <p:cNvPr id="3" name="Content Placeholder 2">
            <a:extLst>
              <a:ext uri="{FF2B5EF4-FFF2-40B4-BE49-F238E27FC236}">
                <a16:creationId xmlns:a16="http://schemas.microsoft.com/office/drawing/2014/main" id="{5B42561B-B79E-4D06-FEF9-21182A504A70}"/>
              </a:ext>
            </a:extLst>
          </p:cNvPr>
          <p:cNvSpPr>
            <a:spLocks noGrp="1"/>
          </p:cNvSpPr>
          <p:nvPr>
            <p:ph idx="1"/>
          </p:nvPr>
        </p:nvSpPr>
        <p:spPr/>
        <p:txBody>
          <a:bodyPr>
            <a:normAutofit/>
          </a:bodyPr>
          <a:lstStyle/>
          <a:p>
            <a:r>
              <a:rPr lang="en-US" dirty="0"/>
              <a:t>Some types of applications need little or no navigation at all. </a:t>
            </a:r>
          </a:p>
          <a:p>
            <a:r>
              <a:rPr lang="en-US" dirty="0"/>
              <a:t>Consider Canvas Plus Palette applications such as Photoshop, or other complex apps such as Excel these offer tons of tools and functions that are easily reached via menus, toolbars, and palettes. </a:t>
            </a:r>
          </a:p>
          <a:p>
            <a:r>
              <a:rPr lang="en-US" dirty="0"/>
              <a:t> These types of applications seem to be qualitatively different from the other navigation styles listed here: the user always knows where he is, but he may not easily find the tools he needs because of the </a:t>
            </a:r>
            <a:r>
              <a:rPr lang="en-US"/>
              <a:t>sheer number of </a:t>
            </a:r>
            <a:r>
              <a:rPr lang="en-US" dirty="0"/>
              <a:t>features available at one time</a:t>
            </a:r>
            <a:endParaRPr lang="en-IN" dirty="0"/>
          </a:p>
        </p:txBody>
      </p:sp>
    </p:spTree>
    <p:extLst>
      <p:ext uri="{BB962C8B-B14F-4D97-AF65-F5344CB8AC3E}">
        <p14:creationId xmlns:p14="http://schemas.microsoft.com/office/powerpoint/2010/main" val="20214058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3E5993-AA9D-A915-D37E-DD11C4A09150}"/>
              </a:ext>
            </a:extLst>
          </p:cNvPr>
          <p:cNvSpPr>
            <a:spLocks noGrp="1"/>
          </p:cNvSpPr>
          <p:nvPr>
            <p:ph type="title"/>
          </p:nvPr>
        </p:nvSpPr>
        <p:spPr>
          <a:xfrm>
            <a:off x="838200" y="365126"/>
            <a:ext cx="10515600" cy="696420"/>
          </a:xfrm>
        </p:spPr>
        <p:txBody>
          <a:bodyPr>
            <a:normAutofit fontScale="90000"/>
          </a:bodyPr>
          <a:lstStyle/>
          <a:p>
            <a:r>
              <a:rPr lang="en-US" dirty="0"/>
              <a:t>8.Modal panel</a:t>
            </a:r>
            <a:br>
              <a:rPr lang="en-US" dirty="0"/>
            </a:br>
            <a:endParaRPr lang="en-IN" dirty="0"/>
          </a:p>
        </p:txBody>
      </p:sp>
      <p:sp>
        <p:nvSpPr>
          <p:cNvPr id="3" name="Content Placeholder 2">
            <a:extLst>
              <a:ext uri="{FF2B5EF4-FFF2-40B4-BE49-F238E27FC236}">
                <a16:creationId xmlns:a16="http://schemas.microsoft.com/office/drawing/2014/main" id="{3A589A91-58B5-E71E-0D96-E41B607AF47B}"/>
              </a:ext>
            </a:extLst>
          </p:cNvPr>
          <p:cNvSpPr>
            <a:spLocks noGrp="1"/>
          </p:cNvSpPr>
          <p:nvPr>
            <p:ph idx="1"/>
          </p:nvPr>
        </p:nvSpPr>
        <p:spPr>
          <a:xfrm>
            <a:off x="838200" y="1061546"/>
            <a:ext cx="10515600" cy="5115417"/>
          </a:xfrm>
        </p:spPr>
        <p:txBody>
          <a:bodyPr/>
          <a:lstStyle/>
          <a:p>
            <a:r>
              <a:rPr lang="en-US" dirty="0"/>
              <a:t>This brings a user to a screen with no navigation options other than acknowledging its message, completing its form, or clicking the panel away </a:t>
            </a:r>
          </a:p>
          <a:p>
            <a:r>
              <a:rPr lang="en-US" dirty="0"/>
              <a:t>A modal window creates a mode that disables user interaction with the main window but keeps it visible, with the modal window as a child window in front of it. Users </a:t>
            </a:r>
            <a:r>
              <a:rPr lang="en-US" i="1" dirty="0"/>
              <a:t>must</a:t>
            </a:r>
            <a:r>
              <a:rPr lang="en-US" dirty="0"/>
              <a:t> interact with the modal window before they can return to the parent window.</a:t>
            </a:r>
          </a:p>
          <a:p>
            <a:r>
              <a:rPr lang="en-US" dirty="0"/>
              <a:t>User interfaces typically use modal windows to command user awareness and to display emergency states</a:t>
            </a:r>
            <a:endParaRPr lang="en-IN" dirty="0"/>
          </a:p>
        </p:txBody>
      </p:sp>
      <p:pic>
        <p:nvPicPr>
          <p:cNvPr id="5" name="Picture 4">
            <a:extLst>
              <a:ext uri="{FF2B5EF4-FFF2-40B4-BE49-F238E27FC236}">
                <a16:creationId xmlns:a16="http://schemas.microsoft.com/office/drawing/2014/main" id="{77E654EF-A472-49A3-D4A3-8AB2942D52D9}"/>
              </a:ext>
            </a:extLst>
          </p:cNvPr>
          <p:cNvPicPr>
            <a:picLocks noChangeAspect="1"/>
          </p:cNvPicPr>
          <p:nvPr/>
        </p:nvPicPr>
        <p:blipFill>
          <a:blip r:embed="rId2"/>
          <a:stretch>
            <a:fillRect/>
          </a:stretch>
        </p:blipFill>
        <p:spPr>
          <a:xfrm>
            <a:off x="7874274" y="4674012"/>
            <a:ext cx="3905795" cy="1924319"/>
          </a:xfrm>
          <a:prstGeom prst="rect">
            <a:avLst/>
          </a:prstGeom>
        </p:spPr>
      </p:pic>
    </p:spTree>
    <p:extLst>
      <p:ext uri="{BB962C8B-B14F-4D97-AF65-F5344CB8AC3E}">
        <p14:creationId xmlns:p14="http://schemas.microsoft.com/office/powerpoint/2010/main" val="36467106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CED70-E6E0-3B11-83EC-1C2AFA9603E8}"/>
              </a:ext>
            </a:extLst>
          </p:cNvPr>
          <p:cNvSpPr>
            <a:spLocks noGrp="1"/>
          </p:cNvSpPr>
          <p:nvPr>
            <p:ph type="title"/>
          </p:nvPr>
        </p:nvSpPr>
        <p:spPr/>
        <p:txBody>
          <a:bodyPr/>
          <a:lstStyle/>
          <a:p>
            <a:r>
              <a:rPr lang="en-US" dirty="0"/>
              <a:t>9.Clear entry points</a:t>
            </a:r>
            <a:br>
              <a:rPr lang="en-US" dirty="0"/>
            </a:br>
            <a:endParaRPr lang="en-IN" dirty="0"/>
          </a:p>
        </p:txBody>
      </p:sp>
      <p:sp>
        <p:nvSpPr>
          <p:cNvPr id="3" name="Content Placeholder 2">
            <a:extLst>
              <a:ext uri="{FF2B5EF4-FFF2-40B4-BE49-F238E27FC236}">
                <a16:creationId xmlns:a16="http://schemas.microsoft.com/office/drawing/2014/main" id="{694E106F-604F-1251-7321-C1DDBFECDF7E}"/>
              </a:ext>
            </a:extLst>
          </p:cNvPr>
          <p:cNvSpPr>
            <a:spLocks noGrp="1"/>
          </p:cNvSpPr>
          <p:nvPr>
            <p:ph idx="1"/>
          </p:nvPr>
        </p:nvSpPr>
        <p:spPr/>
        <p:txBody>
          <a:bodyPr/>
          <a:lstStyle/>
          <a:p>
            <a:r>
              <a:rPr lang="en-US" dirty="0"/>
              <a:t>How does a user know where to start in a complex site or app? </a:t>
            </a:r>
          </a:p>
          <a:p>
            <a:r>
              <a:rPr lang="en-US" dirty="0"/>
              <a:t>The Clear Entry Points pattern shows him where to go first.</a:t>
            </a:r>
          </a:p>
          <a:p>
            <a:r>
              <a:rPr lang="en-US" dirty="0"/>
              <a:t> For first-time and infrequent users, it removes some of the burden of learning the site.</a:t>
            </a:r>
            <a:endParaRPr lang="en-IN" dirty="0"/>
          </a:p>
        </p:txBody>
      </p:sp>
      <p:pic>
        <p:nvPicPr>
          <p:cNvPr id="5" name="Picture 4">
            <a:extLst>
              <a:ext uri="{FF2B5EF4-FFF2-40B4-BE49-F238E27FC236}">
                <a16:creationId xmlns:a16="http://schemas.microsoft.com/office/drawing/2014/main" id="{5E97FAEA-9FDF-AF63-53F5-05321FADBDE9}"/>
              </a:ext>
            </a:extLst>
          </p:cNvPr>
          <p:cNvPicPr>
            <a:picLocks noChangeAspect="1"/>
          </p:cNvPicPr>
          <p:nvPr/>
        </p:nvPicPr>
        <p:blipFill>
          <a:blip r:embed="rId2"/>
          <a:stretch>
            <a:fillRect/>
          </a:stretch>
        </p:blipFill>
        <p:spPr>
          <a:xfrm>
            <a:off x="5345459" y="3871591"/>
            <a:ext cx="2867425" cy="2305372"/>
          </a:xfrm>
          <a:prstGeom prst="rect">
            <a:avLst/>
          </a:prstGeom>
        </p:spPr>
      </p:pic>
    </p:spTree>
    <p:extLst>
      <p:ext uri="{BB962C8B-B14F-4D97-AF65-F5344CB8AC3E}">
        <p14:creationId xmlns:p14="http://schemas.microsoft.com/office/powerpoint/2010/main" val="33027687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B58F1-CA53-B24F-0499-1323EE26B8EE}"/>
              </a:ext>
            </a:extLst>
          </p:cNvPr>
          <p:cNvSpPr>
            <a:spLocks noGrp="1"/>
          </p:cNvSpPr>
          <p:nvPr>
            <p:ph type="title"/>
          </p:nvPr>
        </p:nvSpPr>
        <p:spPr/>
        <p:txBody>
          <a:bodyPr/>
          <a:lstStyle/>
          <a:p>
            <a:r>
              <a:rPr lang="en-US" dirty="0"/>
              <a:t>10. Bookmarks</a:t>
            </a:r>
            <a:br>
              <a:rPr lang="en-US" dirty="0"/>
            </a:br>
            <a:endParaRPr lang="en-IN" dirty="0"/>
          </a:p>
        </p:txBody>
      </p:sp>
      <p:sp>
        <p:nvSpPr>
          <p:cNvPr id="3" name="Content Placeholder 2">
            <a:extLst>
              <a:ext uri="{FF2B5EF4-FFF2-40B4-BE49-F238E27FC236}">
                <a16:creationId xmlns:a16="http://schemas.microsoft.com/office/drawing/2014/main" id="{0E84CF12-5A6D-AB53-ADF4-255211FED364}"/>
              </a:ext>
            </a:extLst>
          </p:cNvPr>
          <p:cNvSpPr>
            <a:spLocks noGrp="1"/>
          </p:cNvSpPr>
          <p:nvPr>
            <p:ph idx="1"/>
          </p:nvPr>
        </p:nvSpPr>
        <p:spPr>
          <a:xfrm>
            <a:off x="838200" y="1282262"/>
            <a:ext cx="10515600" cy="4894701"/>
          </a:xfrm>
        </p:spPr>
        <p:txBody>
          <a:bodyPr/>
          <a:lstStyle/>
          <a:p>
            <a:r>
              <a:rPr lang="en-US" dirty="0"/>
              <a:t>Bookmarks, permalinks, deep links, and Deep-linked State are all ways for a user to conveniently navigate to a point of his choice, anytime he wants, even f it’s deep inside a navigational structure. </a:t>
            </a:r>
          </a:p>
          <a:p>
            <a:r>
              <a:rPr lang="en-US" dirty="0"/>
              <a:t>These give him a way to avoid traversing many links to get to a desired page or state.</a:t>
            </a:r>
          </a:p>
          <a:p>
            <a:r>
              <a:rPr lang="en-IN" dirty="0"/>
              <a:t>A bookmark is </a:t>
            </a:r>
            <a:r>
              <a:rPr lang="en-IN" b="1" dirty="0"/>
              <a:t>a place holder for a web page that will allow you quick access to that page instead of having to browse to it or search for it</a:t>
            </a:r>
            <a:r>
              <a:rPr lang="en-IN" dirty="0"/>
              <a:t>.</a:t>
            </a:r>
          </a:p>
        </p:txBody>
      </p:sp>
      <p:pic>
        <p:nvPicPr>
          <p:cNvPr id="5" name="Picture 4">
            <a:extLst>
              <a:ext uri="{FF2B5EF4-FFF2-40B4-BE49-F238E27FC236}">
                <a16:creationId xmlns:a16="http://schemas.microsoft.com/office/drawing/2014/main" id="{7AC593AF-31DD-F3F5-0C17-741119676D8C}"/>
              </a:ext>
            </a:extLst>
          </p:cNvPr>
          <p:cNvPicPr>
            <a:picLocks noChangeAspect="1"/>
          </p:cNvPicPr>
          <p:nvPr/>
        </p:nvPicPr>
        <p:blipFill>
          <a:blip r:embed="rId2"/>
          <a:stretch>
            <a:fillRect/>
          </a:stretch>
        </p:blipFill>
        <p:spPr>
          <a:xfrm>
            <a:off x="5549563" y="4508789"/>
            <a:ext cx="3258005" cy="2133898"/>
          </a:xfrm>
          <a:prstGeom prst="rect">
            <a:avLst/>
          </a:prstGeom>
        </p:spPr>
      </p:pic>
    </p:spTree>
    <p:extLst>
      <p:ext uri="{BB962C8B-B14F-4D97-AF65-F5344CB8AC3E}">
        <p14:creationId xmlns:p14="http://schemas.microsoft.com/office/powerpoint/2010/main" val="23982995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EDE9D7-13D0-799A-F28F-E0FF21E16E1E}"/>
              </a:ext>
            </a:extLst>
          </p:cNvPr>
          <p:cNvSpPr>
            <a:spLocks noGrp="1"/>
          </p:cNvSpPr>
          <p:nvPr>
            <p:ph type="title"/>
          </p:nvPr>
        </p:nvSpPr>
        <p:spPr/>
        <p:txBody>
          <a:bodyPr/>
          <a:lstStyle/>
          <a:p>
            <a:r>
              <a:rPr lang="en-US" dirty="0"/>
              <a:t>11. Escape hatch</a:t>
            </a:r>
            <a:br>
              <a:rPr lang="en-US" dirty="0"/>
            </a:br>
            <a:endParaRPr lang="en-IN" dirty="0"/>
          </a:p>
        </p:txBody>
      </p:sp>
      <p:sp>
        <p:nvSpPr>
          <p:cNvPr id="3" name="Content Placeholder 2">
            <a:extLst>
              <a:ext uri="{FF2B5EF4-FFF2-40B4-BE49-F238E27FC236}">
                <a16:creationId xmlns:a16="http://schemas.microsoft.com/office/drawing/2014/main" id="{7B4C4AED-0D88-AE1D-7417-8691C398B7E6}"/>
              </a:ext>
            </a:extLst>
          </p:cNvPr>
          <p:cNvSpPr>
            <a:spLocks noGrp="1"/>
          </p:cNvSpPr>
          <p:nvPr>
            <p:ph idx="1"/>
          </p:nvPr>
        </p:nvSpPr>
        <p:spPr>
          <a:xfrm>
            <a:off x="838200" y="1825625"/>
            <a:ext cx="10912366" cy="4351338"/>
          </a:xfrm>
        </p:spPr>
        <p:txBody>
          <a:bodyPr/>
          <a:lstStyle/>
          <a:p>
            <a:r>
              <a:rPr lang="en-US" dirty="0"/>
              <a:t>When a user is hopelessly entangled in an app, reaches an error state, or gets deep- linked into a page that he has no context for understanding, he needs an escape hatch a well-labeled link to get back to a known place. </a:t>
            </a:r>
            <a:endParaRPr lang="en-IN" dirty="0"/>
          </a:p>
        </p:txBody>
      </p:sp>
      <p:pic>
        <p:nvPicPr>
          <p:cNvPr id="7" name="Picture 6">
            <a:extLst>
              <a:ext uri="{FF2B5EF4-FFF2-40B4-BE49-F238E27FC236}">
                <a16:creationId xmlns:a16="http://schemas.microsoft.com/office/drawing/2014/main" id="{FF6336ED-5672-D671-97B4-6CF38369F2D6}"/>
              </a:ext>
            </a:extLst>
          </p:cNvPr>
          <p:cNvPicPr>
            <a:picLocks noChangeAspect="1"/>
          </p:cNvPicPr>
          <p:nvPr/>
        </p:nvPicPr>
        <p:blipFill>
          <a:blip r:embed="rId2"/>
          <a:stretch>
            <a:fillRect/>
          </a:stretch>
        </p:blipFill>
        <p:spPr>
          <a:xfrm>
            <a:off x="3651555" y="3510003"/>
            <a:ext cx="4258269" cy="1771897"/>
          </a:xfrm>
          <a:prstGeom prst="rect">
            <a:avLst/>
          </a:prstGeom>
        </p:spPr>
      </p:pic>
    </p:spTree>
    <p:extLst>
      <p:ext uri="{BB962C8B-B14F-4D97-AF65-F5344CB8AC3E}">
        <p14:creationId xmlns:p14="http://schemas.microsoft.com/office/powerpoint/2010/main" val="35550818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287274-F24E-495F-1022-F6DD1D7F8B5A}"/>
              </a:ext>
            </a:extLst>
          </p:cNvPr>
          <p:cNvSpPr>
            <a:spLocks noGrp="1"/>
          </p:cNvSpPr>
          <p:nvPr>
            <p:ph type="title"/>
          </p:nvPr>
        </p:nvSpPr>
        <p:spPr/>
        <p:txBody>
          <a:bodyPr/>
          <a:lstStyle/>
          <a:p>
            <a:r>
              <a:rPr lang="en-US" b="1" dirty="0"/>
              <a:t>There are three things to notice about these navigational models</a:t>
            </a:r>
            <a:r>
              <a:rPr lang="en-US" dirty="0"/>
              <a:t>. </a:t>
            </a:r>
            <a:endParaRPr lang="en-IN" dirty="0"/>
          </a:p>
        </p:txBody>
      </p:sp>
      <p:sp>
        <p:nvSpPr>
          <p:cNvPr id="3" name="Content Placeholder 2">
            <a:extLst>
              <a:ext uri="{FF2B5EF4-FFF2-40B4-BE49-F238E27FC236}">
                <a16:creationId xmlns:a16="http://schemas.microsoft.com/office/drawing/2014/main" id="{259D65E5-5A1E-77A8-F983-52E4CE7E6915}"/>
              </a:ext>
            </a:extLst>
          </p:cNvPr>
          <p:cNvSpPr>
            <a:spLocks noGrp="1"/>
          </p:cNvSpPr>
          <p:nvPr>
            <p:ph idx="1"/>
          </p:nvPr>
        </p:nvSpPr>
        <p:spPr/>
        <p:txBody>
          <a:bodyPr>
            <a:normAutofit fontScale="92500" lnSpcReduction="20000"/>
          </a:bodyPr>
          <a:lstStyle/>
          <a:p>
            <a:r>
              <a:rPr lang="en-US" b="1" dirty="0"/>
              <a:t>Mix-and-Match: </a:t>
            </a:r>
            <a:r>
              <a:rPr lang="en-US" dirty="0"/>
              <a:t>Different navigational mechanisms such as Modal Panels, Clear Entry Points, bookmarks, and Escape Hatches can be combined to suit various contexts without disrupting overall navigation strategies.</a:t>
            </a:r>
            <a:endParaRPr lang="en-US" b="1" dirty="0"/>
          </a:p>
          <a:p>
            <a:r>
              <a:rPr lang="en-US" b="1" dirty="0"/>
              <a:t>Navigation Restriction</a:t>
            </a:r>
            <a:r>
              <a:rPr lang="en-US" dirty="0"/>
              <a:t>: The second thing is that some of these mechanisms actually restrict a user’s navigation. </a:t>
            </a:r>
          </a:p>
          <a:p>
            <a:r>
              <a:rPr lang="en-US" dirty="0"/>
              <a:t>when a user is in the middle of a full-screen slideshow, she doesn’t want to see a complicated global navigation menu! She would rather just focus on the slideshow itself, so Back/Next controls and an Escape Hatch are all that’s necessary.</a:t>
            </a:r>
          </a:p>
          <a:p>
            <a:r>
              <a:rPr lang="en-US" b="1" dirty="0"/>
              <a:t>Implementation Flexibility: </a:t>
            </a:r>
            <a:r>
              <a:rPr lang="en-US" dirty="0"/>
              <a:t>Visual representation of navigation elements (tabs, menus, sidebars) and modals (lightboxes or dialogs) can be adapted based on design needs. Prioritize information architecture and navigational models before finalizing visual design.</a:t>
            </a:r>
            <a:endParaRPr lang="en-IN" dirty="0"/>
          </a:p>
        </p:txBody>
      </p:sp>
    </p:spTree>
    <p:extLst>
      <p:ext uri="{BB962C8B-B14F-4D97-AF65-F5344CB8AC3E}">
        <p14:creationId xmlns:p14="http://schemas.microsoft.com/office/powerpoint/2010/main" val="34092345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005526-2589-87F1-AD19-5955A48B48AF}"/>
              </a:ext>
            </a:extLst>
          </p:cNvPr>
          <p:cNvSpPr>
            <a:spLocks noGrp="1"/>
          </p:cNvSpPr>
          <p:nvPr>
            <p:ph type="title"/>
          </p:nvPr>
        </p:nvSpPr>
        <p:spPr/>
        <p:txBody>
          <a:bodyPr/>
          <a:lstStyle/>
          <a:p>
            <a:r>
              <a:rPr lang="en-IN" dirty="0"/>
              <a:t>Design Conventions for Websites</a:t>
            </a:r>
          </a:p>
        </p:txBody>
      </p:sp>
      <p:sp>
        <p:nvSpPr>
          <p:cNvPr id="3" name="Content Placeholder 2">
            <a:extLst>
              <a:ext uri="{FF2B5EF4-FFF2-40B4-BE49-F238E27FC236}">
                <a16:creationId xmlns:a16="http://schemas.microsoft.com/office/drawing/2014/main" id="{43ED9067-AA56-E71E-CDD9-2F54DB60D799}"/>
              </a:ext>
            </a:extLst>
          </p:cNvPr>
          <p:cNvSpPr>
            <a:spLocks noGrp="1"/>
          </p:cNvSpPr>
          <p:nvPr>
            <p:ph idx="1"/>
          </p:nvPr>
        </p:nvSpPr>
        <p:spPr/>
        <p:txBody>
          <a:bodyPr>
            <a:normAutofit fontScale="92500" lnSpcReduction="10000"/>
          </a:bodyPr>
          <a:lstStyle/>
          <a:p>
            <a:r>
              <a:rPr lang="en-US" dirty="0"/>
              <a:t>It’s a fine thing to separate the navigational model from its visual design</a:t>
            </a:r>
          </a:p>
          <a:p>
            <a:r>
              <a:rPr lang="en-US" dirty="0"/>
              <a:t>But websites have certain conventions regarding visual placement of navigational features, and it’s probably unwise to ignore them.</a:t>
            </a:r>
          </a:p>
          <a:p>
            <a:pPr>
              <a:buFont typeface="Wingdings" panose="05000000000000000000" pitchFamily="2" charset="2"/>
              <a:buChar char="Ø"/>
            </a:pPr>
            <a:r>
              <a:rPr lang="en-US" b="1" dirty="0"/>
              <a:t>Global navigation </a:t>
            </a:r>
            <a:r>
              <a:rPr lang="en-US" dirty="0"/>
              <a:t>is almost always shown at the top or left of a web page, sometimes both. Rarely, it can be found on the right this placement can cause problems with page size and horizontal scrolling</a:t>
            </a:r>
          </a:p>
          <a:p>
            <a:pPr>
              <a:buFont typeface="Wingdings" panose="05000000000000000000" pitchFamily="2" charset="2"/>
              <a:buChar char="Ø"/>
            </a:pPr>
            <a:r>
              <a:rPr lang="en-US" b="1" dirty="0"/>
              <a:t>Navigation Patterns</a:t>
            </a:r>
            <a:r>
              <a:rPr lang="en-US" dirty="0"/>
              <a:t>:</a:t>
            </a:r>
          </a:p>
          <a:p>
            <a:pPr>
              <a:buFont typeface="Arial" panose="020B0604020202020204" pitchFamily="34" charset="0"/>
              <a:buChar char="•"/>
            </a:pPr>
            <a:r>
              <a:rPr lang="en-US" b="1" dirty="0"/>
              <a:t>Fat Menus and Sitemap Footers</a:t>
            </a:r>
            <a:r>
              <a:rPr lang="en-US" dirty="0"/>
              <a:t>: Display the entire site structure, using header or footer space.</a:t>
            </a:r>
          </a:p>
          <a:p>
            <a:pPr>
              <a:buFont typeface="Arial" panose="020B0604020202020204" pitchFamily="34" charset="0"/>
              <a:buChar char="•"/>
            </a:pPr>
            <a:r>
              <a:rPr lang="en-US" b="1" dirty="0"/>
              <a:t>Utility Navigation</a:t>
            </a:r>
            <a:r>
              <a:rPr lang="en-US" dirty="0"/>
              <a:t>: For signed-in users, navigation links like account settings and logout are usually positioned in the upper-right corner.</a:t>
            </a:r>
          </a:p>
          <a:p>
            <a:endParaRPr lang="en-US" dirty="0"/>
          </a:p>
        </p:txBody>
      </p:sp>
    </p:spTree>
    <p:extLst>
      <p:ext uri="{BB962C8B-B14F-4D97-AF65-F5344CB8AC3E}">
        <p14:creationId xmlns:p14="http://schemas.microsoft.com/office/powerpoint/2010/main" val="15110559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ABD07-58C2-8FC3-2815-E46E5F726208}"/>
              </a:ext>
            </a:extLst>
          </p:cNvPr>
          <p:cNvSpPr>
            <a:spLocks noGrp="1"/>
          </p:cNvSpPr>
          <p:nvPr>
            <p:ph type="title"/>
          </p:nvPr>
        </p:nvSpPr>
        <p:spPr/>
        <p:txBody>
          <a:bodyPr/>
          <a:lstStyle/>
          <a:p>
            <a:r>
              <a:rPr lang="en-IN" dirty="0"/>
              <a:t>Design Conventions for Websites</a:t>
            </a:r>
          </a:p>
        </p:txBody>
      </p:sp>
      <p:sp>
        <p:nvSpPr>
          <p:cNvPr id="3" name="Content Placeholder 2">
            <a:extLst>
              <a:ext uri="{FF2B5EF4-FFF2-40B4-BE49-F238E27FC236}">
                <a16:creationId xmlns:a16="http://schemas.microsoft.com/office/drawing/2014/main" id="{970B335E-8AE7-06B8-C656-DDEF57EE4BFD}"/>
              </a:ext>
            </a:extLst>
          </p:cNvPr>
          <p:cNvSpPr>
            <a:spLocks noGrp="1"/>
          </p:cNvSpPr>
          <p:nvPr>
            <p:ph idx="1"/>
          </p:nvPr>
        </p:nvSpPr>
        <p:spPr/>
        <p:txBody>
          <a:bodyPr>
            <a:normAutofit fontScale="85000" lnSpcReduction="20000"/>
          </a:bodyPr>
          <a:lstStyle/>
          <a:p>
            <a:pPr>
              <a:buFont typeface="Wingdings" panose="05000000000000000000" pitchFamily="2" charset="2"/>
              <a:buChar char="Ø"/>
            </a:pPr>
            <a:r>
              <a:rPr lang="en-US" b="1" dirty="0"/>
              <a:t>Associative Navigation:</a:t>
            </a:r>
          </a:p>
          <a:p>
            <a:r>
              <a:rPr lang="en-US" dirty="0"/>
              <a:t> Related Articles: Links to similar content near the main content.</a:t>
            </a:r>
          </a:p>
          <a:p>
            <a:r>
              <a:rPr lang="en-US" dirty="0"/>
              <a:t>    Tags: Enhance navigation by linking articles with common themes, often displayed at the end of articles or as tag clouds.</a:t>
            </a:r>
          </a:p>
          <a:p>
            <a:r>
              <a:rPr lang="en-US" dirty="0"/>
              <a:t>Tags, both user-defined and system-defined, can help support associative navigation and related articles or links. </a:t>
            </a:r>
          </a:p>
          <a:p>
            <a:r>
              <a:rPr lang="en-US" dirty="0"/>
              <a:t>Tag clouds support topical findability on some sites, especially where the number of articles is very large and the topics fine-grained. </a:t>
            </a:r>
          </a:p>
          <a:p>
            <a:r>
              <a:rPr lang="en-US" dirty="0"/>
              <a:t>A more common navigational technique is to list an article’s tags at the end; each tag is a link leading to a whole set of articles that share that tag.</a:t>
            </a:r>
          </a:p>
          <a:p>
            <a:endParaRPr lang="en-US" dirty="0"/>
          </a:p>
          <a:p>
            <a:r>
              <a:rPr lang="en-US" b="1" dirty="0"/>
              <a:t>Social Media Integration: </a:t>
            </a:r>
            <a:r>
              <a:rPr lang="en-US" dirty="0"/>
              <a:t>Adds additional navigation options such as News Boxes, Content Leaderboards, and Social Sharing Widgets.</a:t>
            </a:r>
            <a:endParaRPr lang="en-IN" dirty="0"/>
          </a:p>
        </p:txBody>
      </p:sp>
    </p:spTree>
    <p:extLst>
      <p:ext uri="{BB962C8B-B14F-4D97-AF65-F5344CB8AC3E}">
        <p14:creationId xmlns:p14="http://schemas.microsoft.com/office/powerpoint/2010/main" val="24578603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830CC8-6046-7A90-6F0F-0CF0225BD6EC}"/>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BC5A3D3B-D341-6D8F-5F7B-93C2A8A28F4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74751" y="1825625"/>
            <a:ext cx="7642497" cy="4351338"/>
          </a:xfrm>
        </p:spPr>
      </p:pic>
    </p:spTree>
    <p:extLst>
      <p:ext uri="{BB962C8B-B14F-4D97-AF65-F5344CB8AC3E}">
        <p14:creationId xmlns:p14="http://schemas.microsoft.com/office/powerpoint/2010/main" val="11861215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F5EDAF-F2BF-5E37-DE8A-DEC7CAB72E7F}"/>
              </a:ext>
            </a:extLst>
          </p:cNvPr>
          <p:cNvSpPr>
            <a:spLocks noGrp="1"/>
          </p:cNvSpPr>
          <p:nvPr>
            <p:ph type="title"/>
          </p:nvPr>
        </p:nvSpPr>
        <p:spPr/>
        <p:txBody>
          <a:bodyPr/>
          <a:lstStyle/>
          <a:p>
            <a:r>
              <a:rPr lang="en-IN" b="1" dirty="0"/>
              <a:t>The Patterns- NAVIGATION PATTERNS</a:t>
            </a:r>
          </a:p>
        </p:txBody>
      </p:sp>
      <p:sp>
        <p:nvSpPr>
          <p:cNvPr id="3" name="Content Placeholder 2">
            <a:extLst>
              <a:ext uri="{FF2B5EF4-FFF2-40B4-BE49-F238E27FC236}">
                <a16:creationId xmlns:a16="http://schemas.microsoft.com/office/drawing/2014/main" id="{35C01F28-B5E8-F606-8612-4C778504ABA3}"/>
              </a:ext>
            </a:extLst>
          </p:cNvPr>
          <p:cNvSpPr>
            <a:spLocks noGrp="1"/>
          </p:cNvSpPr>
          <p:nvPr>
            <p:ph idx="1"/>
          </p:nvPr>
        </p:nvSpPr>
        <p:spPr/>
        <p:txBody>
          <a:bodyPr/>
          <a:lstStyle/>
          <a:p>
            <a:endParaRPr lang="en-IN" dirty="0"/>
          </a:p>
        </p:txBody>
      </p:sp>
    </p:spTree>
    <p:extLst>
      <p:ext uri="{BB962C8B-B14F-4D97-AF65-F5344CB8AC3E}">
        <p14:creationId xmlns:p14="http://schemas.microsoft.com/office/powerpoint/2010/main" val="18963962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49B8E7-FCF0-9DC3-97AE-0F59E1A9FFB7}"/>
              </a:ext>
            </a:extLst>
          </p:cNvPr>
          <p:cNvSpPr>
            <a:spLocks noGrp="1"/>
          </p:cNvSpPr>
          <p:nvPr>
            <p:ph type="title"/>
          </p:nvPr>
        </p:nvSpPr>
        <p:spPr/>
        <p:txBody>
          <a:bodyPr/>
          <a:lstStyle/>
          <a:p>
            <a:r>
              <a:rPr lang="en-IN" b="1" dirty="0"/>
              <a:t>Clear Entry Points</a:t>
            </a:r>
          </a:p>
        </p:txBody>
      </p:sp>
      <p:sp>
        <p:nvSpPr>
          <p:cNvPr id="3" name="Content Placeholder 2">
            <a:extLst>
              <a:ext uri="{FF2B5EF4-FFF2-40B4-BE49-F238E27FC236}">
                <a16:creationId xmlns:a16="http://schemas.microsoft.com/office/drawing/2014/main" id="{47597873-9FDF-D38A-9CC5-7610B9CA2317}"/>
              </a:ext>
            </a:extLst>
          </p:cNvPr>
          <p:cNvSpPr>
            <a:spLocks noGrp="1"/>
          </p:cNvSpPr>
          <p:nvPr>
            <p:ph idx="1"/>
          </p:nvPr>
        </p:nvSpPr>
        <p:spPr/>
        <p:txBody>
          <a:bodyPr>
            <a:normAutofit fontScale="92500" lnSpcReduction="10000"/>
          </a:bodyPr>
          <a:lstStyle/>
          <a:p>
            <a:r>
              <a:rPr lang="en-US" dirty="0"/>
              <a:t>Present only a few main entry points into the interface; make them task-oriented and descriptive.</a:t>
            </a:r>
          </a:p>
          <a:p>
            <a:pPr marL="0" indent="0">
              <a:buNone/>
            </a:pPr>
            <a:r>
              <a:rPr lang="en-IN" b="1" u="sng" dirty="0"/>
              <a:t>Use when</a:t>
            </a:r>
          </a:p>
          <a:p>
            <a:r>
              <a:rPr lang="en-US" dirty="0"/>
              <a:t>You’re designing a site or app that has a lot of first-time or infrequent users. </a:t>
            </a:r>
          </a:p>
          <a:p>
            <a:r>
              <a:rPr lang="en-US" dirty="0"/>
              <a:t>Most of these users would be best served by reading a certain piece of introductory text, doing an initial task, or choosing from a very small number of frequently used options.</a:t>
            </a:r>
          </a:p>
          <a:p>
            <a:r>
              <a:rPr lang="en-US" dirty="0"/>
              <a:t>If the purpose is clear to nearly everyone who starts using it, and if adding another navigation step might annoy most users (especially those who are intermediate to expert), this design choice might not be the best.</a:t>
            </a:r>
            <a:endParaRPr lang="en-IN" dirty="0"/>
          </a:p>
        </p:txBody>
      </p:sp>
    </p:spTree>
    <p:extLst>
      <p:ext uri="{BB962C8B-B14F-4D97-AF65-F5344CB8AC3E}">
        <p14:creationId xmlns:p14="http://schemas.microsoft.com/office/powerpoint/2010/main" val="1138298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2AD222-D507-BFD7-B336-DE8125420F45}"/>
              </a:ext>
            </a:extLst>
          </p:cNvPr>
          <p:cNvSpPr>
            <a:spLocks noGrp="1"/>
          </p:cNvSpPr>
          <p:nvPr>
            <p:ph type="title"/>
          </p:nvPr>
        </p:nvSpPr>
        <p:spPr/>
        <p:txBody>
          <a:bodyPr/>
          <a:lstStyle/>
          <a:p>
            <a:r>
              <a:rPr lang="en-IN" b="1" dirty="0"/>
              <a:t>Clear Entry Points- WHY</a:t>
            </a:r>
            <a:endParaRPr lang="en-IN" dirty="0"/>
          </a:p>
        </p:txBody>
      </p:sp>
      <p:sp>
        <p:nvSpPr>
          <p:cNvPr id="3" name="Content Placeholder 2">
            <a:extLst>
              <a:ext uri="{FF2B5EF4-FFF2-40B4-BE49-F238E27FC236}">
                <a16:creationId xmlns:a16="http://schemas.microsoft.com/office/drawing/2014/main" id="{8DCDD863-006D-B719-3D6B-7E25AFC70704}"/>
              </a:ext>
            </a:extLst>
          </p:cNvPr>
          <p:cNvSpPr>
            <a:spLocks noGrp="1"/>
          </p:cNvSpPr>
          <p:nvPr>
            <p:ph idx="1"/>
          </p:nvPr>
        </p:nvSpPr>
        <p:spPr>
          <a:xfrm>
            <a:off x="838200" y="1825625"/>
            <a:ext cx="10670628" cy="4351338"/>
          </a:xfrm>
        </p:spPr>
        <p:txBody>
          <a:bodyPr/>
          <a:lstStyle/>
          <a:p>
            <a:r>
              <a:rPr lang="en-US" dirty="0"/>
              <a:t>Some apps and websites can be confusing with too much information and no clear instructions. </a:t>
            </a:r>
          </a:p>
          <a:p>
            <a:r>
              <a:rPr lang="en-US" dirty="0"/>
              <a:t>To help users, provide a few easy options for getting started.</a:t>
            </a:r>
          </a:p>
          <a:p>
            <a:r>
              <a:rPr lang="en-US" dirty="0"/>
              <a:t> If these options fit what they expect, they can quickly choose one and start using the app or site, leading to immediate satisfaction.</a:t>
            </a:r>
          </a:p>
          <a:p>
            <a:r>
              <a:rPr lang="en-US" dirty="0"/>
              <a:t> If not, they will at least understand what the app or site does because you’ve clearly shown the main tasks or categories. This makes the app or site easier to understand.</a:t>
            </a:r>
            <a:endParaRPr lang="en-IN" dirty="0"/>
          </a:p>
        </p:txBody>
      </p:sp>
    </p:spTree>
    <p:extLst>
      <p:ext uri="{BB962C8B-B14F-4D97-AF65-F5344CB8AC3E}">
        <p14:creationId xmlns:p14="http://schemas.microsoft.com/office/powerpoint/2010/main" val="13296232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B31D1-FB3F-6579-F3FD-5E79395C0E06}"/>
              </a:ext>
            </a:extLst>
          </p:cNvPr>
          <p:cNvSpPr>
            <a:spLocks noGrp="1"/>
          </p:cNvSpPr>
          <p:nvPr>
            <p:ph type="title"/>
          </p:nvPr>
        </p:nvSpPr>
        <p:spPr/>
        <p:txBody>
          <a:bodyPr/>
          <a:lstStyle/>
          <a:p>
            <a:r>
              <a:rPr lang="en-IN" b="1" dirty="0"/>
              <a:t>Clear Entry Points- HOW</a:t>
            </a:r>
            <a:endParaRPr lang="en-IN" dirty="0"/>
          </a:p>
        </p:txBody>
      </p:sp>
      <p:sp>
        <p:nvSpPr>
          <p:cNvPr id="3" name="Content Placeholder 2">
            <a:extLst>
              <a:ext uri="{FF2B5EF4-FFF2-40B4-BE49-F238E27FC236}">
                <a16:creationId xmlns:a16="http://schemas.microsoft.com/office/drawing/2014/main" id="{234DAB23-9385-5575-D5BD-684D8FCFFEA1}"/>
              </a:ext>
            </a:extLst>
          </p:cNvPr>
          <p:cNvSpPr>
            <a:spLocks noGrp="1"/>
          </p:cNvSpPr>
          <p:nvPr>
            <p:ph idx="1"/>
          </p:nvPr>
        </p:nvSpPr>
        <p:spPr/>
        <p:txBody>
          <a:bodyPr>
            <a:normAutofit fontScale="92500" lnSpcReduction="20000"/>
          </a:bodyPr>
          <a:lstStyle/>
          <a:p>
            <a:r>
              <a:rPr lang="en-US" dirty="0"/>
              <a:t>When a user first visits the site or opens the app, show them clear "doors" to the main content. </a:t>
            </a:r>
          </a:p>
          <a:p>
            <a:r>
              <a:rPr lang="en-US" dirty="0"/>
              <a:t>These entry points should guide the user smoothly into the app, giving them enough information to continue on their own. </a:t>
            </a:r>
          </a:p>
          <a:p>
            <a:r>
              <a:rPr lang="en-US" dirty="0"/>
              <a:t>Make sure these entry points cover the most common reasons users come to the site or app. </a:t>
            </a:r>
          </a:p>
          <a:p>
            <a:r>
              <a:rPr lang="en-US" dirty="0"/>
              <a:t>There could be just a few or many, depending on your design. Use simple, easy-to-understand language, avoiding technical terms that might confuse new users.</a:t>
            </a:r>
          </a:p>
          <a:p>
            <a:r>
              <a:rPr lang="en-US" dirty="0"/>
              <a:t>On the home page or starting page, most sites will additionally list other navigation links—global navigation, utility navigation, and so on and these should be smaller and less prominent than the Clear Entry Points.</a:t>
            </a:r>
          </a:p>
          <a:p>
            <a:r>
              <a:rPr lang="en-US" dirty="0"/>
              <a:t>The Clear Entry Points should serve as the “front doors.”</a:t>
            </a:r>
          </a:p>
          <a:p>
            <a:endParaRPr lang="en-IN" dirty="0"/>
          </a:p>
        </p:txBody>
      </p:sp>
    </p:spTree>
    <p:extLst>
      <p:ext uri="{BB962C8B-B14F-4D97-AF65-F5344CB8AC3E}">
        <p14:creationId xmlns:p14="http://schemas.microsoft.com/office/powerpoint/2010/main" val="1373448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647D4-2D3E-1E25-FDD0-ED4ABF662287}"/>
              </a:ext>
            </a:extLst>
          </p:cNvPr>
          <p:cNvSpPr>
            <a:spLocks noGrp="1"/>
          </p:cNvSpPr>
          <p:nvPr>
            <p:ph type="title"/>
          </p:nvPr>
        </p:nvSpPr>
        <p:spPr/>
        <p:txBody>
          <a:bodyPr/>
          <a:lstStyle/>
          <a:p>
            <a:r>
              <a:rPr lang="en-IN" b="1" dirty="0"/>
              <a:t>Clear Entry Points- EXAMPLES</a:t>
            </a:r>
            <a:endParaRPr lang="en-IN" dirty="0"/>
          </a:p>
        </p:txBody>
      </p:sp>
      <p:sp>
        <p:nvSpPr>
          <p:cNvPr id="3" name="Content Placeholder 2">
            <a:extLst>
              <a:ext uri="{FF2B5EF4-FFF2-40B4-BE49-F238E27FC236}">
                <a16:creationId xmlns:a16="http://schemas.microsoft.com/office/drawing/2014/main" id="{58BEB2C1-3B2E-1FF7-B576-826DEB0F551B}"/>
              </a:ext>
            </a:extLst>
          </p:cNvPr>
          <p:cNvSpPr>
            <a:spLocks noGrp="1"/>
          </p:cNvSpPr>
          <p:nvPr>
            <p:ph idx="1"/>
          </p:nvPr>
        </p:nvSpPr>
        <p:spPr/>
        <p:txBody>
          <a:bodyPr/>
          <a:lstStyle/>
          <a:p>
            <a:r>
              <a:rPr lang="en-US" dirty="0"/>
              <a:t>Fireworks and other applications show a startup dialog when the application is started . </a:t>
            </a:r>
          </a:p>
          <a:p>
            <a:r>
              <a:rPr lang="en-US" dirty="0"/>
              <a:t>This orients a new or infrequent user to the possibilities for action; creating something new, opening an existing document, or reading help resources are the most common items to be found here. </a:t>
            </a:r>
            <a:endParaRPr lang="en-IN" dirty="0"/>
          </a:p>
        </p:txBody>
      </p:sp>
      <p:pic>
        <p:nvPicPr>
          <p:cNvPr id="5" name="Picture 4">
            <a:extLst>
              <a:ext uri="{FF2B5EF4-FFF2-40B4-BE49-F238E27FC236}">
                <a16:creationId xmlns:a16="http://schemas.microsoft.com/office/drawing/2014/main" id="{36E1D6B3-09CB-8523-CCFB-CC31D19520BD}"/>
              </a:ext>
            </a:extLst>
          </p:cNvPr>
          <p:cNvPicPr>
            <a:picLocks noChangeAspect="1"/>
          </p:cNvPicPr>
          <p:nvPr/>
        </p:nvPicPr>
        <p:blipFill>
          <a:blip r:embed="rId2"/>
          <a:stretch>
            <a:fillRect/>
          </a:stretch>
        </p:blipFill>
        <p:spPr>
          <a:xfrm>
            <a:off x="4078015" y="4109544"/>
            <a:ext cx="6225586" cy="2748455"/>
          </a:xfrm>
          <a:prstGeom prst="rect">
            <a:avLst/>
          </a:prstGeom>
        </p:spPr>
      </p:pic>
    </p:spTree>
    <p:extLst>
      <p:ext uri="{BB962C8B-B14F-4D97-AF65-F5344CB8AC3E}">
        <p14:creationId xmlns:p14="http://schemas.microsoft.com/office/powerpoint/2010/main" val="3989797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1A3EAB-1A5F-6C3D-C1D4-4C6DE5CEFAD9}"/>
              </a:ext>
            </a:extLst>
          </p:cNvPr>
          <p:cNvSpPr>
            <a:spLocks noGrp="1"/>
          </p:cNvSpPr>
          <p:nvPr>
            <p:ph type="title"/>
          </p:nvPr>
        </p:nvSpPr>
        <p:spPr/>
        <p:txBody>
          <a:bodyPr/>
          <a:lstStyle/>
          <a:p>
            <a:r>
              <a:rPr lang="en-IN" b="1" dirty="0"/>
              <a:t>Menu Page</a:t>
            </a:r>
          </a:p>
        </p:txBody>
      </p:sp>
      <p:sp>
        <p:nvSpPr>
          <p:cNvPr id="3" name="Content Placeholder 2">
            <a:extLst>
              <a:ext uri="{FF2B5EF4-FFF2-40B4-BE49-F238E27FC236}">
                <a16:creationId xmlns:a16="http://schemas.microsoft.com/office/drawing/2014/main" id="{E446638F-A15B-B0DF-29E9-26C34EC75656}"/>
              </a:ext>
            </a:extLst>
          </p:cNvPr>
          <p:cNvSpPr>
            <a:spLocks noGrp="1"/>
          </p:cNvSpPr>
          <p:nvPr>
            <p:ph idx="1"/>
          </p:nvPr>
        </p:nvSpPr>
        <p:spPr/>
        <p:txBody>
          <a:bodyPr>
            <a:normAutofit fontScale="77500" lnSpcReduction="20000"/>
          </a:bodyPr>
          <a:lstStyle/>
          <a:p>
            <a:r>
              <a:rPr lang="en-US" dirty="0"/>
              <a:t>Fill the page with a list of links to content-rich pages in your site or app. Show enough information about each link to enable the user to choose well. </a:t>
            </a:r>
          </a:p>
          <a:p>
            <a:r>
              <a:rPr lang="en-US" dirty="0"/>
              <a:t>Show no other significant content on the page.</a:t>
            </a:r>
          </a:p>
          <a:p>
            <a:pPr marL="0" indent="0">
              <a:buNone/>
            </a:pPr>
            <a:r>
              <a:rPr lang="en-IN" b="1" u="sng" dirty="0"/>
              <a:t>Use when</a:t>
            </a:r>
            <a:endParaRPr lang="en-US" dirty="0"/>
          </a:p>
          <a:p>
            <a:r>
              <a:rPr lang="en-US" dirty="0"/>
              <a:t>When designing a Menu Page or a table of contents, focus on clarity and simplicity.</a:t>
            </a:r>
          </a:p>
          <a:p>
            <a:r>
              <a:rPr lang="en-US" dirty="0"/>
              <a:t> This type of page serves as a navigation hub, allowing users to easily find and access different sections of your site or app.</a:t>
            </a:r>
          </a:p>
          <a:p>
            <a:r>
              <a:rPr lang="en-US" dirty="0"/>
              <a:t> Since it may not include featured content, the design should prioritize a clean layout with clear labels and organized links. </a:t>
            </a:r>
          </a:p>
          <a:p>
            <a:r>
              <a:rPr lang="en-US" dirty="0"/>
              <a:t>Mobile apps and sites especially need Menu Pages to make the best use of their small screens</a:t>
            </a:r>
          </a:p>
          <a:p>
            <a:r>
              <a:rPr lang="en-US" dirty="0"/>
              <a:t> While Menu Pages are effective for straightforward navigation, other types of pages might benefit from incorporating promotional or value-explaining content to engage and retain visitors.</a:t>
            </a:r>
            <a:endParaRPr lang="en-IN" dirty="0"/>
          </a:p>
        </p:txBody>
      </p:sp>
    </p:spTree>
    <p:extLst>
      <p:ext uri="{BB962C8B-B14F-4D97-AF65-F5344CB8AC3E}">
        <p14:creationId xmlns:p14="http://schemas.microsoft.com/office/powerpoint/2010/main" val="17049930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9BDD76-58E4-2C46-2BD6-8B5494ADBA74}"/>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76C8D4F6-7941-1A6D-9263-0D5AB3CD771E}"/>
              </a:ext>
            </a:extLst>
          </p:cNvPr>
          <p:cNvSpPr>
            <a:spLocks noGrp="1"/>
          </p:cNvSpPr>
          <p:nvPr>
            <p:ph idx="1"/>
          </p:nvPr>
        </p:nvSpPr>
        <p:spPr/>
        <p:txBody>
          <a:bodyPr/>
          <a:lstStyle/>
          <a:p>
            <a:pPr marL="0" indent="0">
              <a:buNone/>
            </a:pPr>
            <a:r>
              <a:rPr lang="en-US" dirty="0"/>
              <a:t>Designing a Menu Page requires confidence because you need to be sure that:</a:t>
            </a:r>
          </a:p>
          <a:p>
            <a:r>
              <a:rPr lang="en-US" dirty="0"/>
              <a:t>Visitors know what the site or app is about.</a:t>
            </a:r>
          </a:p>
          <a:p>
            <a:pPr marL="0" indent="0">
              <a:buNone/>
            </a:pPr>
            <a:r>
              <a:rPr lang="en-US" dirty="0"/>
              <a:t>• They know what they came for and how to find it.</a:t>
            </a:r>
          </a:p>
          <a:p>
            <a:pPr marL="0" indent="0">
              <a:buNone/>
            </a:pPr>
            <a:r>
              <a:rPr lang="en-US" dirty="0"/>
              <a:t>• They wouldn’t be interested in news, updates, or features.</a:t>
            </a:r>
            <a:endParaRPr lang="en-IN" dirty="0"/>
          </a:p>
        </p:txBody>
      </p:sp>
    </p:spTree>
    <p:extLst>
      <p:ext uri="{BB962C8B-B14F-4D97-AF65-F5344CB8AC3E}">
        <p14:creationId xmlns:p14="http://schemas.microsoft.com/office/powerpoint/2010/main" val="362829664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1DC83B-4A35-C06E-CD98-30857A599E1E}"/>
              </a:ext>
            </a:extLst>
          </p:cNvPr>
          <p:cNvSpPr>
            <a:spLocks noGrp="1"/>
          </p:cNvSpPr>
          <p:nvPr>
            <p:ph type="title"/>
          </p:nvPr>
        </p:nvSpPr>
        <p:spPr/>
        <p:txBody>
          <a:bodyPr/>
          <a:lstStyle/>
          <a:p>
            <a:r>
              <a:rPr lang="en-IN" dirty="0"/>
              <a:t>Why</a:t>
            </a:r>
          </a:p>
        </p:txBody>
      </p:sp>
      <p:sp>
        <p:nvSpPr>
          <p:cNvPr id="3" name="Content Placeholder 2">
            <a:extLst>
              <a:ext uri="{FF2B5EF4-FFF2-40B4-BE49-F238E27FC236}">
                <a16:creationId xmlns:a16="http://schemas.microsoft.com/office/drawing/2014/main" id="{E19FB0C7-E9FD-D285-4601-F0D065A793CB}"/>
              </a:ext>
            </a:extLst>
          </p:cNvPr>
          <p:cNvSpPr>
            <a:spLocks noGrp="1"/>
          </p:cNvSpPr>
          <p:nvPr>
            <p:ph idx="1"/>
          </p:nvPr>
        </p:nvSpPr>
        <p:spPr/>
        <p:txBody>
          <a:bodyPr/>
          <a:lstStyle/>
          <a:p>
            <a:r>
              <a:rPr lang="en-US" dirty="0"/>
              <a:t>With no distractions, users can focus all their attention on the available navigation options.</a:t>
            </a:r>
          </a:p>
          <a:p>
            <a:r>
              <a:rPr lang="en-US" dirty="0"/>
              <a:t>You get the entire screen (or most of it, anyway) to organize, explain, and illustrate those links, and can thus direct users to the most appropriate destination page for their needs.</a:t>
            </a:r>
            <a:endParaRPr lang="en-IN" dirty="0"/>
          </a:p>
        </p:txBody>
      </p:sp>
    </p:spTree>
    <p:extLst>
      <p:ext uri="{BB962C8B-B14F-4D97-AF65-F5344CB8AC3E}">
        <p14:creationId xmlns:p14="http://schemas.microsoft.com/office/powerpoint/2010/main" val="32811800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1111A4-A342-4E3C-A2C1-8BD859C73518}"/>
              </a:ext>
            </a:extLst>
          </p:cNvPr>
          <p:cNvSpPr>
            <a:spLocks noGrp="1"/>
          </p:cNvSpPr>
          <p:nvPr>
            <p:ph type="title"/>
          </p:nvPr>
        </p:nvSpPr>
        <p:spPr/>
        <p:txBody>
          <a:bodyPr/>
          <a:lstStyle/>
          <a:p>
            <a:r>
              <a:rPr lang="en-IN" dirty="0"/>
              <a:t>HOW</a:t>
            </a:r>
          </a:p>
        </p:txBody>
      </p:sp>
      <p:sp>
        <p:nvSpPr>
          <p:cNvPr id="3" name="Content Placeholder 2">
            <a:extLst>
              <a:ext uri="{FF2B5EF4-FFF2-40B4-BE49-F238E27FC236}">
                <a16:creationId xmlns:a16="http://schemas.microsoft.com/office/drawing/2014/main" id="{CCAFAB1A-61BC-26FA-896C-B7F09C75F5B6}"/>
              </a:ext>
            </a:extLst>
          </p:cNvPr>
          <p:cNvSpPr>
            <a:spLocks noGrp="1"/>
          </p:cNvSpPr>
          <p:nvPr>
            <p:ph idx="1"/>
          </p:nvPr>
        </p:nvSpPr>
        <p:spPr/>
        <p:txBody>
          <a:bodyPr>
            <a:normAutofit fontScale="92500" lnSpcReduction="20000"/>
          </a:bodyPr>
          <a:lstStyle/>
          <a:p>
            <a:r>
              <a:rPr lang="en-US" b="1" dirty="0"/>
              <a:t>For mobile design, </a:t>
            </a:r>
            <a:r>
              <a:rPr lang="en-US" dirty="0"/>
              <a:t>use Menu Pages to manage complex sites or apps. Keep list labels short, ensure buttons are big enough to tap easily, and avoid deep hierarchies.</a:t>
            </a:r>
          </a:p>
          <a:p>
            <a:pPr marL="0" indent="0">
              <a:buNone/>
            </a:pPr>
            <a:r>
              <a:rPr lang="en-US" b="1" dirty="0"/>
              <a:t>For full-size sites and apps:</a:t>
            </a:r>
          </a:p>
          <a:p>
            <a:pPr>
              <a:buFont typeface="+mj-lt"/>
              <a:buAutoNum type="arabicPeriod"/>
            </a:pPr>
            <a:r>
              <a:rPr lang="en-US" b="1" dirty="0"/>
              <a:t>Label Links Clearly</a:t>
            </a:r>
            <a:r>
              <a:rPr lang="en-US" dirty="0"/>
              <a:t>: Use brief and descriptive labels. If extra info or images help users decide, include them carefully to avoid clutter.</a:t>
            </a:r>
          </a:p>
          <a:p>
            <a:pPr>
              <a:buFont typeface="+mj-lt"/>
              <a:buAutoNum type="arabicPeriod"/>
            </a:pPr>
            <a:r>
              <a:rPr lang="en-US" b="1" dirty="0"/>
              <a:t>Organize Links</a:t>
            </a:r>
            <a:r>
              <a:rPr lang="en-US" dirty="0"/>
              <a:t>: Group them logically by category, hierarchy, or date and show this organization clearly.</a:t>
            </a:r>
          </a:p>
          <a:p>
            <a:pPr>
              <a:buFont typeface="+mj-lt"/>
              <a:buAutoNum type="arabicPeriod"/>
            </a:pPr>
            <a:r>
              <a:rPr lang="en-US" b="1" dirty="0"/>
              <a:t>Include a Search Box</a:t>
            </a:r>
            <a:r>
              <a:rPr lang="en-US" dirty="0"/>
              <a:t>: Make it easy for users to find specific content.</a:t>
            </a:r>
          </a:p>
          <a:p>
            <a:pPr>
              <a:buFont typeface="+mj-lt"/>
              <a:buAutoNum type="arabicPeriod"/>
            </a:pPr>
            <a:r>
              <a:rPr lang="en-US" b="1" dirty="0"/>
              <a:t>Use Space Wisely</a:t>
            </a:r>
            <a:r>
              <a:rPr lang="en-US" dirty="0"/>
              <a:t>: On home pages, consider adding interesting content like article teasers or visual elements if it enhances user engagement without overwhelming them</a:t>
            </a:r>
          </a:p>
          <a:p>
            <a:endParaRPr lang="en-IN" dirty="0"/>
          </a:p>
        </p:txBody>
      </p:sp>
    </p:spTree>
    <p:extLst>
      <p:ext uri="{BB962C8B-B14F-4D97-AF65-F5344CB8AC3E}">
        <p14:creationId xmlns:p14="http://schemas.microsoft.com/office/powerpoint/2010/main" val="355883661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5768CD-25E5-03E3-E3E3-A6AEA3F92948}"/>
              </a:ext>
            </a:extLst>
          </p:cNvPr>
          <p:cNvSpPr>
            <a:spLocks noGrp="1"/>
          </p:cNvSpPr>
          <p:nvPr>
            <p:ph type="title"/>
          </p:nvPr>
        </p:nvSpPr>
        <p:spPr/>
        <p:txBody>
          <a:bodyPr/>
          <a:lstStyle/>
          <a:p>
            <a:r>
              <a:rPr lang="en-IN" dirty="0"/>
              <a:t>EXAMPLES</a:t>
            </a:r>
          </a:p>
        </p:txBody>
      </p:sp>
      <p:sp>
        <p:nvSpPr>
          <p:cNvPr id="3" name="Content Placeholder 2">
            <a:extLst>
              <a:ext uri="{FF2B5EF4-FFF2-40B4-BE49-F238E27FC236}">
                <a16:creationId xmlns:a16="http://schemas.microsoft.com/office/drawing/2014/main" id="{7FB352D2-F6E2-4895-64B7-6E2234348BA2}"/>
              </a:ext>
            </a:extLst>
          </p:cNvPr>
          <p:cNvSpPr>
            <a:spLocks noGrp="1"/>
          </p:cNvSpPr>
          <p:nvPr>
            <p:ph idx="1"/>
          </p:nvPr>
        </p:nvSpPr>
        <p:spPr/>
        <p:txBody>
          <a:bodyPr/>
          <a:lstStyle/>
          <a:p>
            <a:r>
              <a:rPr lang="en-US" dirty="0"/>
              <a:t>The Museum of Modern Art uses large images and little text on this Menu Page</a:t>
            </a:r>
            <a:endParaRPr lang="en-IN" dirty="0"/>
          </a:p>
        </p:txBody>
      </p:sp>
      <p:pic>
        <p:nvPicPr>
          <p:cNvPr id="5" name="Picture 4">
            <a:extLst>
              <a:ext uri="{FF2B5EF4-FFF2-40B4-BE49-F238E27FC236}">
                <a16:creationId xmlns:a16="http://schemas.microsoft.com/office/drawing/2014/main" id="{C13AC0DC-05BB-7BAA-ACD7-A9E810DCB5F6}"/>
              </a:ext>
            </a:extLst>
          </p:cNvPr>
          <p:cNvPicPr>
            <a:picLocks noChangeAspect="1"/>
          </p:cNvPicPr>
          <p:nvPr/>
        </p:nvPicPr>
        <p:blipFill>
          <a:blip r:embed="rId2"/>
          <a:stretch>
            <a:fillRect/>
          </a:stretch>
        </p:blipFill>
        <p:spPr>
          <a:xfrm>
            <a:off x="1087103" y="2647362"/>
            <a:ext cx="4572176" cy="3448638"/>
          </a:xfrm>
          <a:prstGeom prst="rect">
            <a:avLst/>
          </a:prstGeom>
        </p:spPr>
      </p:pic>
      <p:pic>
        <p:nvPicPr>
          <p:cNvPr id="7" name="Picture 6">
            <a:extLst>
              <a:ext uri="{FF2B5EF4-FFF2-40B4-BE49-F238E27FC236}">
                <a16:creationId xmlns:a16="http://schemas.microsoft.com/office/drawing/2014/main" id="{5F415E8D-073B-6369-6D92-637CEB0147BA}"/>
              </a:ext>
            </a:extLst>
          </p:cNvPr>
          <p:cNvPicPr>
            <a:picLocks noChangeAspect="1"/>
          </p:cNvPicPr>
          <p:nvPr/>
        </p:nvPicPr>
        <p:blipFill>
          <a:blip r:embed="rId3"/>
          <a:stretch>
            <a:fillRect/>
          </a:stretch>
        </p:blipFill>
        <p:spPr>
          <a:xfrm>
            <a:off x="6348073" y="2506662"/>
            <a:ext cx="4572176" cy="4351338"/>
          </a:xfrm>
          <a:prstGeom prst="rect">
            <a:avLst/>
          </a:prstGeom>
        </p:spPr>
      </p:pic>
    </p:spTree>
    <p:extLst>
      <p:ext uri="{BB962C8B-B14F-4D97-AF65-F5344CB8AC3E}">
        <p14:creationId xmlns:p14="http://schemas.microsoft.com/office/powerpoint/2010/main" val="30947686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D8CA8F-D7DC-A257-5721-FE2EF08A065A}"/>
              </a:ext>
            </a:extLst>
          </p:cNvPr>
          <p:cNvSpPr>
            <a:spLocks noGrp="1"/>
          </p:cNvSpPr>
          <p:nvPr>
            <p:ph type="title"/>
          </p:nvPr>
        </p:nvSpPr>
        <p:spPr/>
        <p:txBody>
          <a:bodyPr/>
          <a:lstStyle/>
          <a:p>
            <a:r>
              <a:rPr lang="en-IN" b="1" dirty="0"/>
              <a:t>Breadcrumbs</a:t>
            </a:r>
          </a:p>
        </p:txBody>
      </p:sp>
      <p:sp>
        <p:nvSpPr>
          <p:cNvPr id="3" name="Content Placeholder 2">
            <a:extLst>
              <a:ext uri="{FF2B5EF4-FFF2-40B4-BE49-F238E27FC236}">
                <a16:creationId xmlns:a16="http://schemas.microsoft.com/office/drawing/2014/main" id="{8A971669-15DA-C57E-8B1A-5B62BBF49309}"/>
              </a:ext>
            </a:extLst>
          </p:cNvPr>
          <p:cNvSpPr>
            <a:spLocks noGrp="1"/>
          </p:cNvSpPr>
          <p:nvPr>
            <p:ph idx="1"/>
          </p:nvPr>
        </p:nvSpPr>
        <p:spPr/>
        <p:txBody>
          <a:bodyPr>
            <a:normAutofit lnSpcReduction="10000"/>
          </a:bodyPr>
          <a:lstStyle/>
          <a:p>
            <a:r>
              <a:rPr lang="en-US" dirty="0"/>
              <a:t>On each page in a deep navigational hierarchy, show a list of all the parent pages, up to the main or home page.</a:t>
            </a:r>
          </a:p>
          <a:p>
            <a:pPr marL="0" indent="0">
              <a:buNone/>
            </a:pPr>
            <a:r>
              <a:rPr lang="en-IN" b="1" dirty="0"/>
              <a:t>Use when</a:t>
            </a:r>
          </a:p>
          <a:p>
            <a:r>
              <a:rPr lang="en-US" dirty="0"/>
              <a:t>For applications or websites with deep or complex hierarchies, global navigation may not clearly show a user’s current location. Instead, use clear “You are here” indicators(signposts) to help users understand where they are within the structure.</a:t>
            </a:r>
          </a:p>
          <a:p>
            <a:r>
              <a:rPr lang="en-US" dirty="0"/>
              <a:t>In cases with large datasets, like online product catalogs, provide effective browsing and filtering tools. This helps users find what they need even if the site’s categorization doesn’t match their search approach.</a:t>
            </a:r>
          </a:p>
          <a:p>
            <a:endParaRPr lang="en-IN" b="1" dirty="0"/>
          </a:p>
        </p:txBody>
      </p:sp>
    </p:spTree>
    <p:extLst>
      <p:ext uri="{BB962C8B-B14F-4D97-AF65-F5344CB8AC3E}">
        <p14:creationId xmlns:p14="http://schemas.microsoft.com/office/powerpoint/2010/main" val="428946609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CA740-B32F-410E-8CA3-E387039A02EB}"/>
              </a:ext>
            </a:extLst>
          </p:cNvPr>
          <p:cNvSpPr>
            <a:spLocks noGrp="1"/>
          </p:cNvSpPr>
          <p:nvPr>
            <p:ph type="title"/>
          </p:nvPr>
        </p:nvSpPr>
        <p:spPr/>
        <p:txBody>
          <a:bodyPr/>
          <a:lstStyle/>
          <a:p>
            <a:r>
              <a:rPr lang="en-IN" dirty="0"/>
              <a:t>WHY</a:t>
            </a:r>
          </a:p>
        </p:txBody>
      </p:sp>
      <p:sp>
        <p:nvSpPr>
          <p:cNvPr id="3" name="Content Placeholder 2">
            <a:extLst>
              <a:ext uri="{FF2B5EF4-FFF2-40B4-BE49-F238E27FC236}">
                <a16:creationId xmlns:a16="http://schemas.microsoft.com/office/drawing/2014/main" id="{2D1BF002-6418-D3B3-C59E-37E592705342}"/>
              </a:ext>
            </a:extLst>
          </p:cNvPr>
          <p:cNvSpPr>
            <a:spLocks noGrp="1"/>
          </p:cNvSpPr>
          <p:nvPr>
            <p:ph idx="1"/>
          </p:nvPr>
        </p:nvSpPr>
        <p:spPr/>
        <p:txBody>
          <a:bodyPr>
            <a:normAutofit fontScale="92500" lnSpcReduction="20000"/>
          </a:bodyPr>
          <a:lstStyle/>
          <a:p>
            <a:pPr algn="just"/>
            <a:r>
              <a:rPr lang="en-US" dirty="0"/>
              <a:t>Breadcrumbs are navigation aids that display the path from the top of the site or app to the current page. </a:t>
            </a:r>
          </a:p>
          <a:p>
            <a:pPr algn="just"/>
            <a:r>
              <a:rPr lang="en-US" dirty="0"/>
              <a:t>They help users understand their location within a hierarchy, especially after jumping deep into the structure through search results or filters. </a:t>
            </a:r>
          </a:p>
          <a:p>
            <a:pPr algn="just"/>
            <a:r>
              <a:rPr lang="en-US" dirty="0"/>
              <a:t>However, unlike Sequence Maps, Breadcrumbs don't indicate the user's next steps; they only show the current position and how the user arrived there. </a:t>
            </a:r>
          </a:p>
          <a:p>
            <a:pPr algn="just"/>
            <a:r>
              <a:rPr lang="en-US" dirty="0"/>
              <a:t>They are most useful when users have navigated straight down from the top, but less so for complex navigation paths involving multiple branches or direct links.</a:t>
            </a:r>
          </a:p>
          <a:p>
            <a:pPr algn="just"/>
            <a:r>
              <a:rPr lang="en-US" dirty="0"/>
              <a:t>Finally, Breadcrumbs are usually clickable links or buttons. This turns them into a navigational device in their own right.</a:t>
            </a:r>
            <a:endParaRPr lang="en-IN" dirty="0"/>
          </a:p>
        </p:txBody>
      </p:sp>
    </p:spTree>
    <p:extLst>
      <p:ext uri="{BB962C8B-B14F-4D97-AF65-F5344CB8AC3E}">
        <p14:creationId xmlns:p14="http://schemas.microsoft.com/office/powerpoint/2010/main" val="166307473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71605-7819-209C-E787-D685D254770D}"/>
              </a:ext>
            </a:extLst>
          </p:cNvPr>
          <p:cNvSpPr>
            <a:spLocks noGrp="1"/>
          </p:cNvSpPr>
          <p:nvPr>
            <p:ph type="title"/>
          </p:nvPr>
        </p:nvSpPr>
        <p:spPr/>
        <p:txBody>
          <a:bodyPr/>
          <a:lstStyle/>
          <a:p>
            <a:r>
              <a:rPr lang="en-IN" dirty="0"/>
              <a:t>HOW</a:t>
            </a:r>
          </a:p>
        </p:txBody>
      </p:sp>
      <p:sp>
        <p:nvSpPr>
          <p:cNvPr id="3" name="Content Placeholder 2">
            <a:extLst>
              <a:ext uri="{FF2B5EF4-FFF2-40B4-BE49-F238E27FC236}">
                <a16:creationId xmlns:a16="http://schemas.microsoft.com/office/drawing/2014/main" id="{504C27F5-5D35-E78B-6F3E-E4851A572B01}"/>
              </a:ext>
            </a:extLst>
          </p:cNvPr>
          <p:cNvSpPr>
            <a:spLocks noGrp="1"/>
          </p:cNvSpPr>
          <p:nvPr>
            <p:ph idx="1"/>
          </p:nvPr>
        </p:nvSpPr>
        <p:spPr/>
        <p:txBody>
          <a:bodyPr>
            <a:normAutofit lnSpcReduction="10000"/>
          </a:bodyPr>
          <a:lstStyle/>
          <a:p>
            <a:r>
              <a:rPr lang="en-US" dirty="0"/>
              <a:t>Place a line of text or icons near the top of the page to show the current hierarchical level. </a:t>
            </a:r>
          </a:p>
          <a:p>
            <a:r>
              <a:rPr lang="en-US" dirty="0"/>
              <a:t>Start with the top level and include each subsequent level leading to the current page, separated by symbols like arrows (→), slashes (/), or greater-than signs (&gt;). </a:t>
            </a:r>
          </a:p>
          <a:p>
            <a:r>
              <a:rPr lang="en-US" dirty="0"/>
              <a:t>Use page titles for labels, which should be recognizable or self-explanatory.</a:t>
            </a:r>
          </a:p>
          <a:p>
            <a:r>
              <a:rPr lang="en-US" dirty="0"/>
              <a:t> These labels should be clickable links to their respective pages. </a:t>
            </a:r>
          </a:p>
          <a:p>
            <a:r>
              <a:rPr lang="en-US" dirty="0"/>
              <a:t>The current page can be the last item in the breadcrumb trail, but it should be visually distinct and not a link, to indicate its current status.</a:t>
            </a:r>
            <a:endParaRPr lang="en-IN" dirty="0"/>
          </a:p>
        </p:txBody>
      </p:sp>
    </p:spTree>
    <p:extLst>
      <p:ext uri="{BB962C8B-B14F-4D97-AF65-F5344CB8AC3E}">
        <p14:creationId xmlns:p14="http://schemas.microsoft.com/office/powerpoint/2010/main" val="101762216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E81F6F-DF6D-DF47-FF08-7AC95CA2F054}"/>
              </a:ext>
            </a:extLst>
          </p:cNvPr>
          <p:cNvSpPr>
            <a:spLocks noGrp="1"/>
          </p:cNvSpPr>
          <p:nvPr>
            <p:ph type="title"/>
          </p:nvPr>
        </p:nvSpPr>
        <p:spPr/>
        <p:txBody>
          <a:bodyPr/>
          <a:lstStyle/>
          <a:p>
            <a:r>
              <a:rPr lang="en-IN" dirty="0"/>
              <a:t>Examples</a:t>
            </a:r>
          </a:p>
        </p:txBody>
      </p:sp>
      <p:sp>
        <p:nvSpPr>
          <p:cNvPr id="3" name="Content Placeholder 2">
            <a:extLst>
              <a:ext uri="{FF2B5EF4-FFF2-40B4-BE49-F238E27FC236}">
                <a16:creationId xmlns:a16="http://schemas.microsoft.com/office/drawing/2014/main" id="{4191D765-CF59-4040-375C-06337526A866}"/>
              </a:ext>
            </a:extLst>
          </p:cNvPr>
          <p:cNvSpPr>
            <a:spLocks noGrp="1"/>
          </p:cNvSpPr>
          <p:nvPr>
            <p:ph idx="1"/>
          </p:nvPr>
        </p:nvSpPr>
        <p:spPr/>
        <p:txBody>
          <a:bodyPr/>
          <a:lstStyle/>
          <a:p>
            <a:r>
              <a:rPr lang="en-US" dirty="0"/>
              <a:t>The Windows 7 control panel is a hierarchical Settings Editor that can be three levels deep. </a:t>
            </a:r>
            <a:endParaRPr lang="en-IN" dirty="0"/>
          </a:p>
        </p:txBody>
      </p:sp>
      <p:pic>
        <p:nvPicPr>
          <p:cNvPr id="5" name="Picture 4">
            <a:extLst>
              <a:ext uri="{FF2B5EF4-FFF2-40B4-BE49-F238E27FC236}">
                <a16:creationId xmlns:a16="http://schemas.microsoft.com/office/drawing/2014/main" id="{659EF564-6235-3AC5-E2E6-1F529778B6DE}"/>
              </a:ext>
            </a:extLst>
          </p:cNvPr>
          <p:cNvPicPr>
            <a:picLocks noChangeAspect="1"/>
          </p:cNvPicPr>
          <p:nvPr/>
        </p:nvPicPr>
        <p:blipFill>
          <a:blip r:embed="rId2"/>
          <a:stretch>
            <a:fillRect/>
          </a:stretch>
        </p:blipFill>
        <p:spPr>
          <a:xfrm>
            <a:off x="1495895" y="2626609"/>
            <a:ext cx="7392432" cy="2667372"/>
          </a:xfrm>
          <a:prstGeom prst="rect">
            <a:avLst/>
          </a:prstGeom>
        </p:spPr>
      </p:pic>
      <p:pic>
        <p:nvPicPr>
          <p:cNvPr id="7" name="Picture 6">
            <a:extLst>
              <a:ext uri="{FF2B5EF4-FFF2-40B4-BE49-F238E27FC236}">
                <a16:creationId xmlns:a16="http://schemas.microsoft.com/office/drawing/2014/main" id="{E210A792-6912-2D26-63A2-EEFD7C6069FD}"/>
              </a:ext>
            </a:extLst>
          </p:cNvPr>
          <p:cNvPicPr>
            <a:picLocks noChangeAspect="1"/>
          </p:cNvPicPr>
          <p:nvPr/>
        </p:nvPicPr>
        <p:blipFill>
          <a:blip r:embed="rId3"/>
          <a:stretch>
            <a:fillRect/>
          </a:stretch>
        </p:blipFill>
        <p:spPr>
          <a:xfrm>
            <a:off x="3781559" y="5428918"/>
            <a:ext cx="7440063" cy="1124107"/>
          </a:xfrm>
          <a:prstGeom prst="rect">
            <a:avLst/>
          </a:prstGeom>
        </p:spPr>
      </p:pic>
    </p:spTree>
    <p:extLst>
      <p:ext uri="{BB962C8B-B14F-4D97-AF65-F5344CB8AC3E}">
        <p14:creationId xmlns:p14="http://schemas.microsoft.com/office/powerpoint/2010/main" val="243514459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9AFD2-1F45-9528-F6DF-CE3C68F72BBA}"/>
              </a:ext>
            </a:extLst>
          </p:cNvPr>
          <p:cNvSpPr>
            <a:spLocks noGrp="1"/>
          </p:cNvSpPr>
          <p:nvPr>
            <p:ph type="title"/>
          </p:nvPr>
        </p:nvSpPr>
        <p:spPr/>
        <p:txBody>
          <a:bodyPr/>
          <a:lstStyle/>
          <a:p>
            <a:r>
              <a:rPr lang="en-IN" b="1" dirty="0"/>
              <a:t>Bootstrap 5 </a:t>
            </a:r>
            <a:r>
              <a:rPr lang="en-IN" b="1" dirty="0" err="1"/>
              <a:t>Navs</a:t>
            </a:r>
            <a:br>
              <a:rPr lang="en-IN" b="1" dirty="0"/>
            </a:br>
            <a:endParaRPr lang="en-IN" dirty="0"/>
          </a:p>
        </p:txBody>
      </p:sp>
      <p:sp>
        <p:nvSpPr>
          <p:cNvPr id="3" name="Content Placeholder 2">
            <a:extLst>
              <a:ext uri="{FF2B5EF4-FFF2-40B4-BE49-F238E27FC236}">
                <a16:creationId xmlns:a16="http://schemas.microsoft.com/office/drawing/2014/main" id="{03DACE88-CD06-DAC0-57D0-A2F049DC8C82}"/>
              </a:ext>
            </a:extLst>
          </p:cNvPr>
          <p:cNvSpPr>
            <a:spLocks noGrp="1"/>
          </p:cNvSpPr>
          <p:nvPr>
            <p:ph idx="1"/>
          </p:nvPr>
        </p:nvSpPr>
        <p:spPr/>
        <p:txBody>
          <a:bodyPr>
            <a:normAutofit fontScale="77500" lnSpcReduction="20000"/>
          </a:bodyPr>
          <a:lstStyle/>
          <a:p>
            <a:r>
              <a:rPr lang="en-US" dirty="0"/>
              <a:t>If you want to create a simple horizontal menu, add the </a:t>
            </a:r>
            <a:r>
              <a:rPr lang="en-US" b="1" dirty="0"/>
              <a:t>.nav class to a &lt;</a:t>
            </a:r>
            <a:r>
              <a:rPr lang="en-US" b="1" dirty="0" err="1"/>
              <a:t>ul</a:t>
            </a:r>
            <a:r>
              <a:rPr lang="en-US" b="1" dirty="0"/>
              <a:t>&gt; element</a:t>
            </a:r>
            <a:r>
              <a:rPr lang="en-US" dirty="0"/>
              <a:t>, followed by </a:t>
            </a:r>
            <a:r>
              <a:rPr lang="en-US" b="1" dirty="0"/>
              <a:t>.nav-item for each &lt;li&gt; </a:t>
            </a:r>
            <a:r>
              <a:rPr lang="en-US" dirty="0"/>
              <a:t>and add the .</a:t>
            </a:r>
            <a:r>
              <a:rPr lang="en-US" b="1" dirty="0"/>
              <a:t>nav-link class to their links</a:t>
            </a:r>
            <a:r>
              <a:rPr lang="en-US" dirty="0"/>
              <a:t>:</a:t>
            </a:r>
          </a:p>
          <a:p>
            <a:endParaRPr lang="en-US" dirty="0"/>
          </a:p>
          <a:p>
            <a:endParaRPr lang="en-US" dirty="0"/>
          </a:p>
          <a:p>
            <a:r>
              <a:rPr lang="en-US" dirty="0">
                <a:solidFill>
                  <a:srgbClr val="0000CD"/>
                </a:solidFill>
                <a:effectLst/>
              </a:rPr>
              <a:t>&lt;</a:t>
            </a:r>
            <a:r>
              <a:rPr lang="en-US" dirty="0" err="1">
                <a:solidFill>
                  <a:srgbClr val="A52A2A"/>
                </a:solidFill>
                <a:effectLst/>
              </a:rPr>
              <a:t>ul</a:t>
            </a:r>
            <a:r>
              <a:rPr lang="en-US" dirty="0">
                <a:solidFill>
                  <a:srgbClr val="FF0000"/>
                </a:solidFill>
                <a:effectLst/>
              </a:rPr>
              <a:t> class</a:t>
            </a:r>
            <a:r>
              <a:rPr lang="en-US" dirty="0">
                <a:solidFill>
                  <a:srgbClr val="0000CD"/>
                </a:solidFill>
                <a:effectLst/>
              </a:rPr>
              <a:t>="nav"&gt;</a:t>
            </a:r>
            <a:br>
              <a:rPr lang="en-US" dirty="0"/>
            </a:br>
            <a:r>
              <a:rPr lang="en-US" dirty="0"/>
              <a:t>  </a:t>
            </a:r>
            <a:r>
              <a:rPr lang="en-US" dirty="0">
                <a:solidFill>
                  <a:srgbClr val="0000CD"/>
                </a:solidFill>
                <a:effectLst/>
              </a:rPr>
              <a:t>&lt;</a:t>
            </a:r>
            <a:r>
              <a:rPr lang="en-US" dirty="0">
                <a:solidFill>
                  <a:srgbClr val="A52A2A"/>
                </a:solidFill>
                <a:effectLst/>
              </a:rPr>
              <a:t>li</a:t>
            </a:r>
            <a:r>
              <a:rPr lang="en-US" dirty="0">
                <a:solidFill>
                  <a:srgbClr val="FF0000"/>
                </a:solidFill>
                <a:effectLst/>
              </a:rPr>
              <a:t> class</a:t>
            </a:r>
            <a:r>
              <a:rPr lang="en-US" dirty="0">
                <a:solidFill>
                  <a:srgbClr val="0000CD"/>
                </a:solidFill>
                <a:effectLst/>
              </a:rPr>
              <a:t>="nav-item"&gt;</a:t>
            </a:r>
            <a:br>
              <a:rPr lang="en-US" dirty="0"/>
            </a:br>
            <a:r>
              <a:rPr lang="en-US" dirty="0"/>
              <a:t>    </a:t>
            </a:r>
            <a:r>
              <a:rPr lang="en-US" dirty="0">
                <a:solidFill>
                  <a:srgbClr val="0000CD"/>
                </a:solidFill>
                <a:effectLst/>
              </a:rPr>
              <a:t>&lt;</a:t>
            </a:r>
            <a:r>
              <a:rPr lang="en-US" dirty="0">
                <a:solidFill>
                  <a:srgbClr val="A52A2A"/>
                </a:solidFill>
                <a:effectLst/>
              </a:rPr>
              <a:t>a</a:t>
            </a:r>
            <a:r>
              <a:rPr lang="en-US" dirty="0">
                <a:solidFill>
                  <a:srgbClr val="FF0000"/>
                </a:solidFill>
                <a:effectLst/>
              </a:rPr>
              <a:t> class</a:t>
            </a:r>
            <a:r>
              <a:rPr lang="en-US" dirty="0">
                <a:solidFill>
                  <a:srgbClr val="0000CD"/>
                </a:solidFill>
                <a:effectLst/>
              </a:rPr>
              <a:t>="nav-link"</a:t>
            </a:r>
            <a:r>
              <a:rPr lang="en-US" dirty="0">
                <a:solidFill>
                  <a:srgbClr val="FF0000"/>
                </a:solidFill>
                <a:effectLst/>
              </a:rPr>
              <a:t> </a:t>
            </a:r>
            <a:r>
              <a:rPr lang="en-US" dirty="0" err="1">
                <a:solidFill>
                  <a:srgbClr val="FF0000"/>
                </a:solidFill>
                <a:effectLst/>
              </a:rPr>
              <a:t>href</a:t>
            </a:r>
            <a:r>
              <a:rPr lang="en-US" dirty="0">
                <a:solidFill>
                  <a:srgbClr val="0000CD"/>
                </a:solidFill>
                <a:effectLst/>
              </a:rPr>
              <a:t>="#"&gt;</a:t>
            </a:r>
            <a:r>
              <a:rPr lang="en-US" dirty="0"/>
              <a:t>Link</a:t>
            </a:r>
            <a:r>
              <a:rPr lang="en-US" dirty="0">
                <a:solidFill>
                  <a:srgbClr val="0000CD"/>
                </a:solidFill>
                <a:effectLst/>
              </a:rPr>
              <a:t>&lt;</a:t>
            </a:r>
            <a:r>
              <a:rPr lang="en-US" dirty="0">
                <a:solidFill>
                  <a:srgbClr val="A52A2A"/>
                </a:solidFill>
                <a:effectLst/>
              </a:rPr>
              <a:t>/a</a:t>
            </a:r>
            <a:r>
              <a:rPr lang="en-US" dirty="0">
                <a:solidFill>
                  <a:srgbClr val="0000CD"/>
                </a:solidFill>
                <a:effectLst/>
              </a:rPr>
              <a:t>&gt;</a:t>
            </a:r>
            <a:br>
              <a:rPr lang="en-US" dirty="0"/>
            </a:br>
            <a:r>
              <a:rPr lang="en-US" dirty="0"/>
              <a:t>  </a:t>
            </a:r>
            <a:r>
              <a:rPr lang="en-US" dirty="0">
                <a:solidFill>
                  <a:srgbClr val="0000CD"/>
                </a:solidFill>
                <a:effectLst/>
              </a:rPr>
              <a:t>&lt;</a:t>
            </a:r>
            <a:r>
              <a:rPr lang="en-US" dirty="0">
                <a:solidFill>
                  <a:srgbClr val="A52A2A"/>
                </a:solidFill>
                <a:effectLst/>
              </a:rPr>
              <a:t>/li</a:t>
            </a:r>
            <a:r>
              <a:rPr lang="en-US" dirty="0">
                <a:solidFill>
                  <a:srgbClr val="0000CD"/>
                </a:solidFill>
                <a:effectLst/>
              </a:rPr>
              <a:t>&gt;</a:t>
            </a:r>
          </a:p>
          <a:p>
            <a:br>
              <a:rPr lang="en-US" dirty="0"/>
            </a:br>
            <a:r>
              <a:rPr lang="en-US" dirty="0"/>
              <a:t>  </a:t>
            </a:r>
            <a:r>
              <a:rPr lang="en-US" dirty="0">
                <a:solidFill>
                  <a:srgbClr val="0000CD"/>
                </a:solidFill>
                <a:effectLst/>
              </a:rPr>
              <a:t>&lt;</a:t>
            </a:r>
            <a:r>
              <a:rPr lang="en-US" dirty="0">
                <a:solidFill>
                  <a:srgbClr val="A52A2A"/>
                </a:solidFill>
                <a:effectLst/>
              </a:rPr>
              <a:t>li</a:t>
            </a:r>
            <a:r>
              <a:rPr lang="en-US" dirty="0">
                <a:solidFill>
                  <a:srgbClr val="FF0000"/>
                </a:solidFill>
                <a:effectLst/>
              </a:rPr>
              <a:t> class</a:t>
            </a:r>
            <a:r>
              <a:rPr lang="en-US" dirty="0">
                <a:solidFill>
                  <a:srgbClr val="0000CD"/>
                </a:solidFill>
                <a:effectLst/>
              </a:rPr>
              <a:t>="nav-item"&gt;</a:t>
            </a:r>
            <a:br>
              <a:rPr lang="en-US" dirty="0"/>
            </a:br>
            <a:r>
              <a:rPr lang="en-US" dirty="0"/>
              <a:t>    </a:t>
            </a:r>
            <a:r>
              <a:rPr lang="en-US" dirty="0">
                <a:solidFill>
                  <a:srgbClr val="0000CD"/>
                </a:solidFill>
                <a:effectLst/>
              </a:rPr>
              <a:t>&lt;</a:t>
            </a:r>
            <a:r>
              <a:rPr lang="en-US" dirty="0">
                <a:solidFill>
                  <a:srgbClr val="A52A2A"/>
                </a:solidFill>
                <a:effectLst/>
              </a:rPr>
              <a:t>a</a:t>
            </a:r>
            <a:r>
              <a:rPr lang="en-US" dirty="0">
                <a:solidFill>
                  <a:srgbClr val="FF0000"/>
                </a:solidFill>
                <a:effectLst/>
              </a:rPr>
              <a:t> class</a:t>
            </a:r>
            <a:r>
              <a:rPr lang="en-US" dirty="0">
                <a:solidFill>
                  <a:srgbClr val="0000CD"/>
                </a:solidFill>
                <a:effectLst/>
              </a:rPr>
              <a:t>="nav-link"</a:t>
            </a:r>
            <a:r>
              <a:rPr lang="en-US" dirty="0">
                <a:solidFill>
                  <a:srgbClr val="FF0000"/>
                </a:solidFill>
                <a:effectLst/>
              </a:rPr>
              <a:t> </a:t>
            </a:r>
            <a:r>
              <a:rPr lang="en-US" dirty="0" err="1">
                <a:solidFill>
                  <a:srgbClr val="FF0000"/>
                </a:solidFill>
                <a:effectLst/>
              </a:rPr>
              <a:t>href</a:t>
            </a:r>
            <a:r>
              <a:rPr lang="en-US" dirty="0">
                <a:solidFill>
                  <a:srgbClr val="0000CD"/>
                </a:solidFill>
                <a:effectLst/>
              </a:rPr>
              <a:t>="#"&gt;</a:t>
            </a:r>
            <a:r>
              <a:rPr lang="en-US" dirty="0"/>
              <a:t>Link</a:t>
            </a:r>
            <a:r>
              <a:rPr lang="en-US" dirty="0">
                <a:solidFill>
                  <a:srgbClr val="0000CD"/>
                </a:solidFill>
                <a:effectLst/>
              </a:rPr>
              <a:t>&lt;</a:t>
            </a:r>
            <a:r>
              <a:rPr lang="en-US" dirty="0">
                <a:solidFill>
                  <a:srgbClr val="A52A2A"/>
                </a:solidFill>
                <a:effectLst/>
              </a:rPr>
              <a:t>/a</a:t>
            </a:r>
            <a:r>
              <a:rPr lang="en-US" dirty="0">
                <a:solidFill>
                  <a:srgbClr val="0000CD"/>
                </a:solidFill>
                <a:effectLst/>
              </a:rPr>
              <a:t>&gt;</a:t>
            </a:r>
            <a:br>
              <a:rPr lang="en-US" dirty="0"/>
            </a:br>
            <a:r>
              <a:rPr lang="en-US" dirty="0"/>
              <a:t>  </a:t>
            </a:r>
            <a:r>
              <a:rPr lang="en-US" dirty="0">
                <a:solidFill>
                  <a:srgbClr val="0000CD"/>
                </a:solidFill>
                <a:effectLst/>
              </a:rPr>
              <a:t>&lt;</a:t>
            </a:r>
            <a:r>
              <a:rPr lang="en-US" dirty="0">
                <a:solidFill>
                  <a:srgbClr val="A52A2A"/>
                </a:solidFill>
                <a:effectLst/>
              </a:rPr>
              <a:t>/li</a:t>
            </a:r>
            <a:r>
              <a:rPr lang="en-US" dirty="0">
                <a:solidFill>
                  <a:srgbClr val="0000CD"/>
                </a:solidFill>
                <a:effectLst/>
              </a:rPr>
              <a:t>&gt;</a:t>
            </a:r>
          </a:p>
          <a:p>
            <a:pPr marL="0" indent="0">
              <a:buNone/>
            </a:pPr>
            <a:r>
              <a:rPr lang="en-US" dirty="0">
                <a:solidFill>
                  <a:srgbClr val="0000CD"/>
                </a:solidFill>
                <a:effectLst/>
              </a:rPr>
              <a:t>  ……</a:t>
            </a:r>
          </a:p>
          <a:p>
            <a:r>
              <a:rPr lang="en-US" dirty="0">
                <a:solidFill>
                  <a:srgbClr val="0000CD"/>
                </a:solidFill>
              </a:rPr>
              <a:t>&lt;/</a:t>
            </a:r>
            <a:r>
              <a:rPr lang="en-US" dirty="0" err="1">
                <a:solidFill>
                  <a:srgbClr val="0000CD"/>
                </a:solidFill>
              </a:rPr>
              <a:t>ul</a:t>
            </a:r>
            <a:r>
              <a:rPr lang="en-US" dirty="0">
                <a:solidFill>
                  <a:srgbClr val="0000CD"/>
                </a:solidFill>
              </a:rPr>
              <a:t>&gt;</a:t>
            </a:r>
            <a:endParaRPr lang="en-IN" dirty="0"/>
          </a:p>
        </p:txBody>
      </p:sp>
      <p:pic>
        <p:nvPicPr>
          <p:cNvPr id="6" name="Picture 5">
            <a:extLst>
              <a:ext uri="{FF2B5EF4-FFF2-40B4-BE49-F238E27FC236}">
                <a16:creationId xmlns:a16="http://schemas.microsoft.com/office/drawing/2014/main" id="{A8DA2DF2-7F31-C192-3584-7A73B5A0464B}"/>
              </a:ext>
            </a:extLst>
          </p:cNvPr>
          <p:cNvPicPr>
            <a:picLocks noChangeAspect="1"/>
          </p:cNvPicPr>
          <p:nvPr/>
        </p:nvPicPr>
        <p:blipFill>
          <a:blip r:embed="rId2"/>
          <a:stretch>
            <a:fillRect/>
          </a:stretch>
        </p:blipFill>
        <p:spPr>
          <a:xfrm>
            <a:off x="6601582" y="3429000"/>
            <a:ext cx="3688046" cy="390580"/>
          </a:xfrm>
          <a:prstGeom prst="rect">
            <a:avLst/>
          </a:prstGeom>
        </p:spPr>
      </p:pic>
    </p:spTree>
    <p:extLst>
      <p:ext uri="{BB962C8B-B14F-4D97-AF65-F5344CB8AC3E}">
        <p14:creationId xmlns:p14="http://schemas.microsoft.com/office/powerpoint/2010/main" val="90836075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EF593-BC93-3A19-0026-EC29F97B3169}"/>
              </a:ext>
            </a:extLst>
          </p:cNvPr>
          <p:cNvSpPr>
            <a:spLocks noGrp="1"/>
          </p:cNvSpPr>
          <p:nvPr>
            <p:ph type="title"/>
          </p:nvPr>
        </p:nvSpPr>
        <p:spPr/>
        <p:txBody>
          <a:bodyPr/>
          <a:lstStyle/>
          <a:p>
            <a:r>
              <a:rPr lang="en-IN" b="1" dirty="0"/>
              <a:t>Aligned Nav</a:t>
            </a:r>
            <a:br>
              <a:rPr lang="en-IN" b="1" dirty="0"/>
            </a:br>
            <a:endParaRPr lang="en-IN" dirty="0"/>
          </a:p>
        </p:txBody>
      </p:sp>
      <p:sp>
        <p:nvSpPr>
          <p:cNvPr id="3" name="Content Placeholder 2">
            <a:extLst>
              <a:ext uri="{FF2B5EF4-FFF2-40B4-BE49-F238E27FC236}">
                <a16:creationId xmlns:a16="http://schemas.microsoft.com/office/drawing/2014/main" id="{8C81BC4B-ADB8-0475-7AA4-A008DA6DE29D}"/>
              </a:ext>
            </a:extLst>
          </p:cNvPr>
          <p:cNvSpPr>
            <a:spLocks noGrp="1"/>
          </p:cNvSpPr>
          <p:nvPr>
            <p:ph idx="1"/>
          </p:nvPr>
        </p:nvSpPr>
        <p:spPr/>
        <p:txBody>
          <a:bodyPr/>
          <a:lstStyle/>
          <a:p>
            <a:r>
              <a:rPr lang="en-US" dirty="0"/>
              <a:t>Add the </a:t>
            </a:r>
            <a:r>
              <a:rPr lang="en-US" b="1" dirty="0"/>
              <a:t>.justify-content-center </a:t>
            </a:r>
            <a:r>
              <a:rPr lang="en-US" dirty="0"/>
              <a:t>class to </a:t>
            </a:r>
            <a:r>
              <a:rPr lang="en-US" b="1" dirty="0"/>
              <a:t>center the nav,</a:t>
            </a:r>
            <a:r>
              <a:rPr lang="en-US" dirty="0"/>
              <a:t> and the </a:t>
            </a:r>
            <a:r>
              <a:rPr lang="en-US" b="1" dirty="0"/>
              <a:t>.justify-content-end </a:t>
            </a:r>
            <a:r>
              <a:rPr lang="en-US" dirty="0"/>
              <a:t>class to </a:t>
            </a:r>
            <a:r>
              <a:rPr lang="en-US" b="1" dirty="0"/>
              <a:t>right-align the nav</a:t>
            </a:r>
            <a:r>
              <a:rPr lang="en-US" dirty="0"/>
              <a:t>.</a:t>
            </a:r>
          </a:p>
          <a:p>
            <a:r>
              <a:rPr lang="en-US" dirty="0">
                <a:solidFill>
                  <a:srgbClr val="008000"/>
                </a:solidFill>
                <a:effectLst/>
              </a:rPr>
              <a:t>&lt;!-- Centered nav --&gt;</a:t>
            </a:r>
            <a:br>
              <a:rPr lang="en-US" dirty="0"/>
            </a:br>
            <a:r>
              <a:rPr lang="en-US" dirty="0">
                <a:solidFill>
                  <a:srgbClr val="0000CD"/>
                </a:solidFill>
                <a:effectLst/>
              </a:rPr>
              <a:t>&lt;</a:t>
            </a:r>
            <a:r>
              <a:rPr lang="en-US" dirty="0" err="1">
                <a:solidFill>
                  <a:srgbClr val="A52A2A"/>
                </a:solidFill>
                <a:effectLst/>
              </a:rPr>
              <a:t>ul</a:t>
            </a:r>
            <a:r>
              <a:rPr lang="en-US" dirty="0">
                <a:solidFill>
                  <a:srgbClr val="FF0000"/>
                </a:solidFill>
                <a:effectLst/>
              </a:rPr>
              <a:t> class</a:t>
            </a:r>
            <a:r>
              <a:rPr lang="en-US" dirty="0">
                <a:solidFill>
                  <a:srgbClr val="0000CD"/>
                </a:solidFill>
                <a:effectLst/>
              </a:rPr>
              <a:t>="nav justify-content-center"&gt;</a:t>
            </a:r>
            <a:br>
              <a:rPr lang="en-US" dirty="0"/>
            </a:br>
            <a:br>
              <a:rPr lang="en-US" dirty="0"/>
            </a:br>
            <a:r>
              <a:rPr lang="en-US" dirty="0">
                <a:solidFill>
                  <a:srgbClr val="008000"/>
                </a:solidFill>
                <a:effectLst/>
              </a:rPr>
              <a:t>&lt;!-- Right-aligned nav --&gt;</a:t>
            </a:r>
            <a:br>
              <a:rPr lang="en-US" dirty="0"/>
            </a:br>
            <a:r>
              <a:rPr lang="en-US" dirty="0">
                <a:solidFill>
                  <a:srgbClr val="0000CD"/>
                </a:solidFill>
                <a:effectLst/>
              </a:rPr>
              <a:t>&lt;</a:t>
            </a:r>
            <a:r>
              <a:rPr lang="en-US" dirty="0" err="1">
                <a:solidFill>
                  <a:srgbClr val="A52A2A"/>
                </a:solidFill>
                <a:effectLst/>
              </a:rPr>
              <a:t>ul</a:t>
            </a:r>
            <a:r>
              <a:rPr lang="en-US" dirty="0">
                <a:solidFill>
                  <a:srgbClr val="FF0000"/>
                </a:solidFill>
                <a:effectLst/>
              </a:rPr>
              <a:t> class</a:t>
            </a:r>
            <a:r>
              <a:rPr lang="en-US" dirty="0">
                <a:solidFill>
                  <a:srgbClr val="0000CD"/>
                </a:solidFill>
                <a:effectLst/>
              </a:rPr>
              <a:t>="nav justify-content-end"&gt;</a:t>
            </a:r>
          </a:p>
          <a:p>
            <a:r>
              <a:rPr lang="en-US" dirty="0"/>
              <a:t>Add the </a:t>
            </a:r>
            <a:r>
              <a:rPr lang="en-US" b="1" dirty="0"/>
              <a:t>.flex-column </a:t>
            </a:r>
            <a:r>
              <a:rPr lang="en-US" dirty="0"/>
              <a:t>class to create a vertical nav:</a:t>
            </a:r>
          </a:p>
          <a:p>
            <a:pPr marL="0" indent="0">
              <a:buNone/>
            </a:pPr>
            <a:r>
              <a:rPr lang="en-IN" dirty="0">
                <a:solidFill>
                  <a:srgbClr val="0000CD"/>
                </a:solidFill>
                <a:effectLst/>
              </a:rPr>
              <a:t>     &lt;</a:t>
            </a:r>
            <a:r>
              <a:rPr lang="en-IN" dirty="0" err="1">
                <a:solidFill>
                  <a:srgbClr val="A52A2A"/>
                </a:solidFill>
                <a:effectLst/>
              </a:rPr>
              <a:t>ul</a:t>
            </a:r>
            <a:r>
              <a:rPr lang="en-IN" dirty="0">
                <a:solidFill>
                  <a:srgbClr val="FF0000"/>
                </a:solidFill>
                <a:effectLst/>
              </a:rPr>
              <a:t> class</a:t>
            </a:r>
            <a:r>
              <a:rPr lang="en-IN" dirty="0">
                <a:solidFill>
                  <a:srgbClr val="0000CD"/>
                </a:solidFill>
                <a:effectLst/>
              </a:rPr>
              <a:t>="nav flex-column"&gt;</a:t>
            </a:r>
            <a:endParaRPr lang="en-IN" dirty="0"/>
          </a:p>
        </p:txBody>
      </p:sp>
    </p:spTree>
    <p:extLst>
      <p:ext uri="{BB962C8B-B14F-4D97-AF65-F5344CB8AC3E}">
        <p14:creationId xmlns:p14="http://schemas.microsoft.com/office/powerpoint/2010/main" val="38551040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19F33B-AC3D-A7FC-5C7F-BD13ADCBCE89}"/>
              </a:ext>
            </a:extLst>
          </p:cNvPr>
          <p:cNvSpPr>
            <a:spLocks noGrp="1"/>
          </p:cNvSpPr>
          <p:nvPr>
            <p:ph type="title"/>
          </p:nvPr>
        </p:nvSpPr>
        <p:spPr/>
        <p:txBody>
          <a:bodyPr/>
          <a:lstStyle/>
          <a:p>
            <a:r>
              <a:rPr lang="en-IN" b="1" dirty="0"/>
              <a:t>Navbar</a:t>
            </a:r>
            <a:br>
              <a:rPr lang="en-IN" b="1" dirty="0"/>
            </a:br>
            <a:endParaRPr lang="en-IN" dirty="0"/>
          </a:p>
        </p:txBody>
      </p:sp>
      <p:sp>
        <p:nvSpPr>
          <p:cNvPr id="3" name="Content Placeholder 2">
            <a:extLst>
              <a:ext uri="{FF2B5EF4-FFF2-40B4-BE49-F238E27FC236}">
                <a16:creationId xmlns:a16="http://schemas.microsoft.com/office/drawing/2014/main" id="{43A1BB95-A55E-C7ED-24FD-2A2026E33507}"/>
              </a:ext>
            </a:extLst>
          </p:cNvPr>
          <p:cNvSpPr>
            <a:spLocks noGrp="1"/>
          </p:cNvSpPr>
          <p:nvPr>
            <p:ph idx="1"/>
          </p:nvPr>
        </p:nvSpPr>
        <p:spPr>
          <a:xfrm>
            <a:off x="764628" y="1027906"/>
            <a:ext cx="10515600" cy="4351338"/>
          </a:xfrm>
        </p:spPr>
        <p:txBody>
          <a:bodyPr>
            <a:normAutofit lnSpcReduction="10000"/>
          </a:bodyPr>
          <a:lstStyle/>
          <a:p>
            <a:r>
              <a:rPr lang="en-US" dirty="0"/>
              <a:t>A "navbar" is an area on a page that contains navigation components (links, buttons, </a:t>
            </a:r>
            <a:r>
              <a:rPr lang="en-US" dirty="0" err="1"/>
              <a:t>etc</a:t>
            </a:r>
            <a:r>
              <a:rPr lang="en-US" dirty="0"/>
              <a:t>) for getting to other pages of the website.</a:t>
            </a:r>
          </a:p>
          <a:p>
            <a:r>
              <a:rPr lang="en-US" dirty="0"/>
              <a:t>With Bootstrap, a navigation bar can extend or collapse, depending on the screen size.</a:t>
            </a:r>
          </a:p>
          <a:p>
            <a:r>
              <a:rPr lang="en-US" dirty="0"/>
              <a:t>A standard navigation bar is created with the </a:t>
            </a:r>
            <a:r>
              <a:rPr lang="en-US" b="1" dirty="0"/>
              <a:t>.navbar class</a:t>
            </a:r>
            <a:r>
              <a:rPr lang="en-US" dirty="0"/>
              <a:t>, followed by a responsive collapsing class: .</a:t>
            </a:r>
            <a:r>
              <a:rPr lang="en-US" b="1" dirty="0" err="1"/>
              <a:t>navbar-expand-xxl|xl|lg|md|sm</a:t>
            </a:r>
            <a:r>
              <a:rPr lang="en-US" dirty="0"/>
              <a:t>.</a:t>
            </a:r>
          </a:p>
          <a:p>
            <a:r>
              <a:rPr lang="en-US" dirty="0"/>
              <a:t>To add links inside the navbar, use either an </a:t>
            </a:r>
            <a:r>
              <a:rPr lang="en-US" b="1" dirty="0"/>
              <a:t>&lt;</a:t>
            </a:r>
            <a:r>
              <a:rPr lang="en-US" b="1" dirty="0" err="1"/>
              <a:t>ul</a:t>
            </a:r>
            <a:r>
              <a:rPr lang="en-US" b="1" dirty="0"/>
              <a:t>&gt; element (or a &lt;div&gt;) with class="navbar-nav". </a:t>
            </a:r>
            <a:r>
              <a:rPr lang="en-US" dirty="0"/>
              <a:t>Then add </a:t>
            </a:r>
            <a:r>
              <a:rPr lang="en-US" b="1" dirty="0"/>
              <a:t>&lt;li&gt; elements with a .nav-item class followed by an &lt;a&gt; element with a .nav-link class:</a:t>
            </a:r>
          </a:p>
          <a:p>
            <a:r>
              <a:rPr lang="en-US" b="1" dirty="0"/>
              <a:t>Add the .active class on .nav-link to indicate the current page.</a:t>
            </a:r>
          </a:p>
          <a:p>
            <a:endParaRPr lang="en-US" b="1" dirty="0"/>
          </a:p>
          <a:p>
            <a:endParaRPr lang="en-IN" b="1" dirty="0"/>
          </a:p>
        </p:txBody>
      </p:sp>
      <p:pic>
        <p:nvPicPr>
          <p:cNvPr id="6" name="Picture 5">
            <a:extLst>
              <a:ext uri="{FF2B5EF4-FFF2-40B4-BE49-F238E27FC236}">
                <a16:creationId xmlns:a16="http://schemas.microsoft.com/office/drawing/2014/main" id="{E9738E7C-67AD-F098-23AB-855CB3DFEE85}"/>
              </a:ext>
            </a:extLst>
          </p:cNvPr>
          <p:cNvPicPr>
            <a:picLocks noChangeAspect="1"/>
          </p:cNvPicPr>
          <p:nvPr/>
        </p:nvPicPr>
        <p:blipFill>
          <a:blip r:embed="rId2"/>
          <a:stretch>
            <a:fillRect/>
          </a:stretch>
        </p:blipFill>
        <p:spPr>
          <a:xfrm>
            <a:off x="691056" y="5379244"/>
            <a:ext cx="10145541" cy="1314633"/>
          </a:xfrm>
          <a:prstGeom prst="rect">
            <a:avLst/>
          </a:prstGeom>
        </p:spPr>
      </p:pic>
    </p:spTree>
    <p:extLst>
      <p:ext uri="{BB962C8B-B14F-4D97-AF65-F5344CB8AC3E}">
        <p14:creationId xmlns:p14="http://schemas.microsoft.com/office/powerpoint/2010/main" val="54758002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B0BAB3-0A55-FC1F-AE6A-2515A507AD9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6AACD5F-6626-AD07-FA5A-916695B9A878}"/>
              </a:ext>
            </a:extLst>
          </p:cNvPr>
          <p:cNvSpPr>
            <a:spLocks noGrp="1"/>
          </p:cNvSpPr>
          <p:nvPr>
            <p:ph idx="1"/>
          </p:nvPr>
        </p:nvSpPr>
        <p:spPr/>
        <p:txBody>
          <a:bodyPr>
            <a:normAutofit lnSpcReduction="10000"/>
          </a:bodyPr>
          <a:lstStyle/>
          <a:p>
            <a:r>
              <a:rPr lang="en-IN" dirty="0">
                <a:solidFill>
                  <a:srgbClr val="0000CD"/>
                </a:solidFill>
                <a:effectLst/>
              </a:rPr>
              <a:t>&lt;</a:t>
            </a:r>
            <a:r>
              <a:rPr lang="en-IN" dirty="0">
                <a:solidFill>
                  <a:srgbClr val="A52A2A"/>
                </a:solidFill>
                <a:effectLst/>
              </a:rPr>
              <a:t>nav</a:t>
            </a:r>
            <a:r>
              <a:rPr lang="en-IN" dirty="0">
                <a:solidFill>
                  <a:srgbClr val="FF0000"/>
                </a:solidFill>
                <a:effectLst/>
              </a:rPr>
              <a:t> class</a:t>
            </a:r>
            <a:r>
              <a:rPr lang="en-IN" dirty="0">
                <a:solidFill>
                  <a:srgbClr val="0000CD"/>
                </a:solidFill>
                <a:effectLst/>
              </a:rPr>
              <a:t>="navbar navbar-expand-</a:t>
            </a:r>
            <a:r>
              <a:rPr lang="en-IN" dirty="0" err="1">
                <a:solidFill>
                  <a:srgbClr val="0000CD"/>
                </a:solidFill>
                <a:effectLst/>
              </a:rPr>
              <a:t>sm</a:t>
            </a:r>
            <a:r>
              <a:rPr lang="en-IN" dirty="0">
                <a:solidFill>
                  <a:srgbClr val="0000CD"/>
                </a:solidFill>
                <a:effectLst/>
              </a:rPr>
              <a:t> "&gt;</a:t>
            </a:r>
            <a:br>
              <a:rPr lang="en-IN" dirty="0"/>
            </a:br>
            <a:br>
              <a:rPr lang="en-IN" dirty="0"/>
            </a:br>
            <a:r>
              <a:rPr lang="en-IN" dirty="0"/>
              <a:t>  </a:t>
            </a:r>
            <a:r>
              <a:rPr lang="en-IN" dirty="0">
                <a:solidFill>
                  <a:srgbClr val="0000CD"/>
                </a:solidFill>
                <a:effectLst/>
              </a:rPr>
              <a:t>&lt;</a:t>
            </a:r>
            <a:r>
              <a:rPr lang="en-IN" dirty="0">
                <a:solidFill>
                  <a:srgbClr val="A52A2A"/>
                </a:solidFill>
                <a:effectLst/>
              </a:rPr>
              <a:t>div</a:t>
            </a:r>
            <a:r>
              <a:rPr lang="en-IN" dirty="0">
                <a:solidFill>
                  <a:srgbClr val="FF0000"/>
                </a:solidFill>
                <a:effectLst/>
              </a:rPr>
              <a:t> class</a:t>
            </a:r>
            <a:r>
              <a:rPr lang="en-IN" dirty="0">
                <a:solidFill>
                  <a:srgbClr val="0000CD"/>
                </a:solidFill>
                <a:effectLst/>
              </a:rPr>
              <a:t>="container-fluid"&gt;</a:t>
            </a:r>
            <a:br>
              <a:rPr lang="en-IN" dirty="0"/>
            </a:br>
            <a:r>
              <a:rPr lang="en-IN" dirty="0"/>
              <a:t>    </a:t>
            </a:r>
            <a:r>
              <a:rPr lang="en-IN" dirty="0">
                <a:solidFill>
                  <a:srgbClr val="008000"/>
                </a:solidFill>
                <a:effectLst/>
              </a:rPr>
              <a:t>&lt;!-- Links --&gt;</a:t>
            </a:r>
            <a:br>
              <a:rPr lang="en-IN" dirty="0"/>
            </a:br>
            <a:r>
              <a:rPr lang="en-IN" dirty="0"/>
              <a:t>    </a:t>
            </a:r>
            <a:r>
              <a:rPr lang="en-IN" dirty="0">
                <a:solidFill>
                  <a:srgbClr val="0000CD"/>
                </a:solidFill>
                <a:effectLst/>
              </a:rPr>
              <a:t>&lt;</a:t>
            </a:r>
            <a:r>
              <a:rPr lang="en-IN" dirty="0" err="1">
                <a:solidFill>
                  <a:srgbClr val="A52A2A"/>
                </a:solidFill>
                <a:effectLst/>
              </a:rPr>
              <a:t>ul</a:t>
            </a:r>
            <a:r>
              <a:rPr lang="en-IN" dirty="0">
                <a:solidFill>
                  <a:srgbClr val="FF0000"/>
                </a:solidFill>
                <a:effectLst/>
              </a:rPr>
              <a:t> class</a:t>
            </a:r>
            <a:r>
              <a:rPr lang="en-IN" dirty="0">
                <a:solidFill>
                  <a:srgbClr val="0000CD"/>
                </a:solidFill>
                <a:effectLst/>
              </a:rPr>
              <a:t>="navbar-nav"&gt;</a:t>
            </a:r>
            <a:br>
              <a:rPr lang="en-IN" dirty="0"/>
            </a:br>
            <a:r>
              <a:rPr lang="en-IN" dirty="0"/>
              <a:t>      </a:t>
            </a:r>
            <a:r>
              <a:rPr lang="en-IN" dirty="0">
                <a:solidFill>
                  <a:srgbClr val="0000CD"/>
                </a:solidFill>
                <a:effectLst/>
              </a:rPr>
              <a:t>&lt;</a:t>
            </a:r>
            <a:r>
              <a:rPr lang="en-IN" dirty="0">
                <a:solidFill>
                  <a:srgbClr val="A52A2A"/>
                </a:solidFill>
                <a:effectLst/>
              </a:rPr>
              <a:t>li</a:t>
            </a:r>
            <a:r>
              <a:rPr lang="en-IN" dirty="0">
                <a:solidFill>
                  <a:srgbClr val="FF0000"/>
                </a:solidFill>
                <a:effectLst/>
              </a:rPr>
              <a:t> class</a:t>
            </a:r>
            <a:r>
              <a:rPr lang="en-IN" dirty="0">
                <a:solidFill>
                  <a:srgbClr val="0000CD"/>
                </a:solidFill>
                <a:effectLst/>
              </a:rPr>
              <a:t>="nav-item"&gt;</a:t>
            </a:r>
            <a:br>
              <a:rPr lang="en-IN" dirty="0"/>
            </a:br>
            <a:r>
              <a:rPr lang="en-IN" dirty="0"/>
              <a:t>        </a:t>
            </a:r>
            <a:r>
              <a:rPr lang="en-IN" dirty="0">
                <a:solidFill>
                  <a:srgbClr val="0000CD"/>
                </a:solidFill>
                <a:effectLst/>
              </a:rPr>
              <a:t>&lt;</a:t>
            </a:r>
            <a:r>
              <a:rPr lang="en-IN" dirty="0">
                <a:solidFill>
                  <a:srgbClr val="A52A2A"/>
                </a:solidFill>
                <a:effectLst/>
              </a:rPr>
              <a:t>a</a:t>
            </a:r>
            <a:r>
              <a:rPr lang="en-IN" dirty="0">
                <a:solidFill>
                  <a:srgbClr val="FF0000"/>
                </a:solidFill>
                <a:effectLst/>
              </a:rPr>
              <a:t> class</a:t>
            </a:r>
            <a:r>
              <a:rPr lang="en-IN" dirty="0">
                <a:solidFill>
                  <a:srgbClr val="0000CD"/>
                </a:solidFill>
                <a:effectLst/>
              </a:rPr>
              <a:t>="nav-link"</a:t>
            </a:r>
            <a:r>
              <a:rPr lang="en-IN" dirty="0">
                <a:solidFill>
                  <a:srgbClr val="FF0000"/>
                </a:solidFill>
                <a:effectLst/>
              </a:rPr>
              <a:t> </a:t>
            </a:r>
            <a:r>
              <a:rPr lang="en-IN" dirty="0" err="1">
                <a:solidFill>
                  <a:srgbClr val="FF0000"/>
                </a:solidFill>
                <a:effectLst/>
              </a:rPr>
              <a:t>href</a:t>
            </a:r>
            <a:r>
              <a:rPr lang="en-IN" dirty="0">
                <a:solidFill>
                  <a:srgbClr val="0000CD"/>
                </a:solidFill>
                <a:effectLst/>
              </a:rPr>
              <a:t>="#"&gt;</a:t>
            </a:r>
            <a:r>
              <a:rPr lang="en-IN" dirty="0"/>
              <a:t>Link 1</a:t>
            </a:r>
            <a:r>
              <a:rPr lang="en-IN" dirty="0">
                <a:solidFill>
                  <a:srgbClr val="0000CD"/>
                </a:solidFill>
                <a:effectLst/>
              </a:rPr>
              <a:t>&lt;</a:t>
            </a:r>
            <a:r>
              <a:rPr lang="en-IN" dirty="0">
                <a:solidFill>
                  <a:srgbClr val="A52A2A"/>
                </a:solidFill>
                <a:effectLst/>
              </a:rPr>
              <a:t>/a</a:t>
            </a:r>
            <a:r>
              <a:rPr lang="en-IN" dirty="0">
                <a:solidFill>
                  <a:srgbClr val="0000CD"/>
                </a:solidFill>
                <a:effectLst/>
              </a:rPr>
              <a:t>&gt;</a:t>
            </a:r>
            <a:br>
              <a:rPr lang="en-IN" dirty="0"/>
            </a:br>
            <a:r>
              <a:rPr lang="en-IN" dirty="0"/>
              <a:t>      </a:t>
            </a:r>
            <a:r>
              <a:rPr lang="en-IN" dirty="0">
                <a:solidFill>
                  <a:srgbClr val="0000CD"/>
                </a:solidFill>
                <a:effectLst/>
              </a:rPr>
              <a:t>&lt;</a:t>
            </a:r>
            <a:r>
              <a:rPr lang="en-IN" dirty="0">
                <a:solidFill>
                  <a:srgbClr val="A52A2A"/>
                </a:solidFill>
                <a:effectLst/>
              </a:rPr>
              <a:t>/li</a:t>
            </a:r>
            <a:r>
              <a:rPr lang="en-IN" dirty="0">
                <a:solidFill>
                  <a:srgbClr val="0000CD"/>
                </a:solidFill>
                <a:effectLst/>
              </a:rPr>
              <a:t>&gt;</a:t>
            </a:r>
          </a:p>
          <a:p>
            <a:pPr marL="0" indent="0">
              <a:buNone/>
            </a:pPr>
            <a:r>
              <a:rPr lang="en-IN" dirty="0">
                <a:solidFill>
                  <a:srgbClr val="0000CD"/>
                </a:solidFill>
              </a:rPr>
              <a:t> </a:t>
            </a:r>
            <a:r>
              <a:rPr lang="en-IN" dirty="0">
                <a:solidFill>
                  <a:srgbClr val="0000CD"/>
                </a:solidFill>
                <a:effectLst/>
              </a:rPr>
              <a:t>&lt;</a:t>
            </a:r>
            <a:r>
              <a:rPr lang="en-IN" dirty="0">
                <a:solidFill>
                  <a:srgbClr val="A52A2A"/>
                </a:solidFill>
                <a:effectLst/>
              </a:rPr>
              <a:t>/</a:t>
            </a:r>
            <a:r>
              <a:rPr lang="en-IN" dirty="0" err="1">
                <a:solidFill>
                  <a:srgbClr val="A52A2A"/>
                </a:solidFill>
                <a:effectLst/>
              </a:rPr>
              <a:t>ul</a:t>
            </a:r>
            <a:r>
              <a:rPr lang="en-IN" dirty="0">
                <a:solidFill>
                  <a:srgbClr val="0000CD"/>
                </a:solidFill>
                <a:effectLst/>
              </a:rPr>
              <a:t>&gt;</a:t>
            </a:r>
            <a:br>
              <a:rPr lang="en-IN" dirty="0"/>
            </a:br>
            <a:r>
              <a:rPr lang="en-IN" dirty="0"/>
              <a:t>  </a:t>
            </a:r>
            <a:r>
              <a:rPr lang="en-IN" dirty="0">
                <a:solidFill>
                  <a:srgbClr val="0000CD"/>
                </a:solidFill>
                <a:effectLst/>
              </a:rPr>
              <a:t>&lt;</a:t>
            </a:r>
            <a:r>
              <a:rPr lang="en-IN" dirty="0">
                <a:solidFill>
                  <a:srgbClr val="A52A2A"/>
                </a:solidFill>
                <a:effectLst/>
              </a:rPr>
              <a:t>/div</a:t>
            </a:r>
            <a:r>
              <a:rPr lang="en-IN" dirty="0">
                <a:solidFill>
                  <a:srgbClr val="0000CD"/>
                </a:solidFill>
                <a:effectLst/>
              </a:rPr>
              <a:t>&gt;</a:t>
            </a:r>
            <a:br>
              <a:rPr lang="en-IN" dirty="0"/>
            </a:br>
            <a:br>
              <a:rPr lang="en-IN" dirty="0"/>
            </a:br>
            <a:r>
              <a:rPr lang="en-IN" dirty="0">
                <a:solidFill>
                  <a:srgbClr val="0000CD"/>
                </a:solidFill>
                <a:effectLst/>
              </a:rPr>
              <a:t>&lt;</a:t>
            </a:r>
            <a:r>
              <a:rPr lang="en-IN" dirty="0">
                <a:solidFill>
                  <a:srgbClr val="A52A2A"/>
                </a:solidFill>
                <a:effectLst/>
              </a:rPr>
              <a:t>/nav</a:t>
            </a:r>
            <a:r>
              <a:rPr lang="en-IN" dirty="0">
                <a:solidFill>
                  <a:srgbClr val="0000CD"/>
                </a:solidFill>
                <a:effectLst/>
              </a:rPr>
              <a:t>&gt;</a:t>
            </a:r>
            <a:endParaRPr lang="en-IN" dirty="0"/>
          </a:p>
        </p:txBody>
      </p:sp>
    </p:spTree>
    <p:extLst>
      <p:ext uri="{BB962C8B-B14F-4D97-AF65-F5344CB8AC3E}">
        <p14:creationId xmlns:p14="http://schemas.microsoft.com/office/powerpoint/2010/main" val="221692266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DFE59A-AEFC-CF87-602F-5C438E7D1831}"/>
              </a:ext>
            </a:extLst>
          </p:cNvPr>
          <p:cNvSpPr>
            <a:spLocks noGrp="1"/>
          </p:cNvSpPr>
          <p:nvPr>
            <p:ph type="title"/>
          </p:nvPr>
        </p:nvSpPr>
        <p:spPr>
          <a:xfrm>
            <a:off x="838200" y="511504"/>
            <a:ext cx="10515600" cy="885606"/>
          </a:xfrm>
        </p:spPr>
        <p:txBody>
          <a:bodyPr>
            <a:normAutofit fontScale="90000"/>
          </a:bodyPr>
          <a:lstStyle/>
          <a:p>
            <a:r>
              <a:rPr lang="en-IN" b="1" dirty="0"/>
              <a:t>Vertical Navbar &amp; </a:t>
            </a:r>
            <a:r>
              <a:rPr lang="en-IN" b="1" dirty="0" err="1"/>
              <a:t>Centered</a:t>
            </a:r>
            <a:r>
              <a:rPr lang="en-IN" b="1" dirty="0"/>
              <a:t> Navbar</a:t>
            </a:r>
            <a:br>
              <a:rPr lang="en-IN" b="1" dirty="0"/>
            </a:br>
            <a:br>
              <a:rPr lang="en-IN" b="1" dirty="0"/>
            </a:br>
            <a:endParaRPr lang="en-IN" dirty="0"/>
          </a:p>
        </p:txBody>
      </p:sp>
      <p:sp>
        <p:nvSpPr>
          <p:cNvPr id="3" name="Content Placeholder 2">
            <a:extLst>
              <a:ext uri="{FF2B5EF4-FFF2-40B4-BE49-F238E27FC236}">
                <a16:creationId xmlns:a16="http://schemas.microsoft.com/office/drawing/2014/main" id="{EECE3717-BF40-F0D3-EF8A-943F28130283}"/>
              </a:ext>
            </a:extLst>
          </p:cNvPr>
          <p:cNvSpPr>
            <a:spLocks noGrp="1"/>
          </p:cNvSpPr>
          <p:nvPr>
            <p:ph idx="1"/>
          </p:nvPr>
        </p:nvSpPr>
        <p:spPr/>
        <p:txBody>
          <a:bodyPr/>
          <a:lstStyle/>
          <a:p>
            <a:r>
              <a:rPr lang="en-US" b="1" dirty="0"/>
              <a:t>Remove the .navbar-expand-* class </a:t>
            </a:r>
            <a:r>
              <a:rPr lang="en-US" dirty="0"/>
              <a:t>to create a navigation bar that will always be vertical:</a:t>
            </a:r>
          </a:p>
          <a:p>
            <a:pPr marL="0" indent="0">
              <a:buNone/>
            </a:pPr>
            <a:r>
              <a:rPr lang="en-US" dirty="0">
                <a:solidFill>
                  <a:srgbClr val="0000CD"/>
                </a:solidFill>
                <a:effectLst/>
              </a:rPr>
              <a:t>&lt;</a:t>
            </a:r>
            <a:r>
              <a:rPr lang="en-US" dirty="0">
                <a:solidFill>
                  <a:srgbClr val="A52A2A"/>
                </a:solidFill>
                <a:effectLst/>
              </a:rPr>
              <a:t>nav</a:t>
            </a:r>
            <a:r>
              <a:rPr lang="en-US" dirty="0">
                <a:solidFill>
                  <a:srgbClr val="FF0000"/>
                </a:solidFill>
                <a:effectLst/>
              </a:rPr>
              <a:t> class</a:t>
            </a:r>
            <a:r>
              <a:rPr lang="en-US" dirty="0">
                <a:solidFill>
                  <a:srgbClr val="0000CD"/>
                </a:solidFill>
                <a:effectLst/>
              </a:rPr>
              <a:t>="navbar "&gt;</a:t>
            </a:r>
            <a:br>
              <a:rPr lang="en-US" dirty="0"/>
            </a:br>
            <a:r>
              <a:rPr lang="en-US" dirty="0"/>
              <a:t>  ...</a:t>
            </a:r>
            <a:br>
              <a:rPr lang="en-US" dirty="0"/>
            </a:br>
            <a:r>
              <a:rPr lang="en-US" dirty="0">
                <a:solidFill>
                  <a:srgbClr val="0000CD"/>
                </a:solidFill>
                <a:effectLst/>
              </a:rPr>
              <a:t>&lt;</a:t>
            </a:r>
            <a:r>
              <a:rPr lang="en-US" dirty="0">
                <a:solidFill>
                  <a:srgbClr val="A52A2A"/>
                </a:solidFill>
                <a:effectLst/>
              </a:rPr>
              <a:t>/nav</a:t>
            </a:r>
            <a:r>
              <a:rPr lang="en-US" dirty="0">
                <a:solidFill>
                  <a:srgbClr val="0000CD"/>
                </a:solidFill>
                <a:effectLst/>
              </a:rPr>
              <a:t>&gt;</a:t>
            </a:r>
          </a:p>
          <a:p>
            <a:r>
              <a:rPr lang="en-US" dirty="0"/>
              <a:t>Add the </a:t>
            </a:r>
            <a:r>
              <a:rPr lang="en-US" b="1" dirty="0"/>
              <a:t>.justify-content-center </a:t>
            </a:r>
            <a:r>
              <a:rPr lang="en-US" dirty="0"/>
              <a:t>class to center the navigation bar:</a:t>
            </a:r>
          </a:p>
          <a:p>
            <a:r>
              <a:rPr lang="en-US" dirty="0">
                <a:solidFill>
                  <a:srgbClr val="0000CD"/>
                </a:solidFill>
                <a:effectLst/>
              </a:rPr>
              <a:t>&lt;</a:t>
            </a:r>
            <a:r>
              <a:rPr lang="en-US" dirty="0">
                <a:solidFill>
                  <a:srgbClr val="A52A2A"/>
                </a:solidFill>
                <a:effectLst/>
              </a:rPr>
              <a:t>nav</a:t>
            </a:r>
            <a:r>
              <a:rPr lang="en-US" dirty="0">
                <a:solidFill>
                  <a:srgbClr val="FF0000"/>
                </a:solidFill>
                <a:effectLst/>
              </a:rPr>
              <a:t> class</a:t>
            </a:r>
            <a:r>
              <a:rPr lang="en-US" dirty="0">
                <a:solidFill>
                  <a:srgbClr val="0000CD"/>
                </a:solidFill>
                <a:effectLst/>
              </a:rPr>
              <a:t>="navbar navbar-expand-</a:t>
            </a:r>
            <a:r>
              <a:rPr lang="en-US" dirty="0" err="1">
                <a:solidFill>
                  <a:srgbClr val="0000CD"/>
                </a:solidFill>
                <a:effectLst/>
              </a:rPr>
              <a:t>sm</a:t>
            </a:r>
            <a:r>
              <a:rPr lang="en-US" dirty="0">
                <a:solidFill>
                  <a:srgbClr val="0000CD"/>
                </a:solidFill>
                <a:effectLst/>
              </a:rPr>
              <a:t>  justify-content-center"&gt;</a:t>
            </a:r>
            <a:br>
              <a:rPr lang="en-US" dirty="0"/>
            </a:br>
            <a:r>
              <a:rPr lang="en-US" dirty="0"/>
              <a:t>  ...</a:t>
            </a:r>
            <a:br>
              <a:rPr lang="en-US" dirty="0"/>
            </a:br>
            <a:r>
              <a:rPr lang="en-US" dirty="0">
                <a:solidFill>
                  <a:srgbClr val="0000CD"/>
                </a:solidFill>
                <a:effectLst/>
              </a:rPr>
              <a:t>&lt;</a:t>
            </a:r>
            <a:r>
              <a:rPr lang="en-US" dirty="0">
                <a:solidFill>
                  <a:srgbClr val="A52A2A"/>
                </a:solidFill>
                <a:effectLst/>
              </a:rPr>
              <a:t>/nav</a:t>
            </a:r>
            <a:r>
              <a:rPr lang="en-US" dirty="0">
                <a:solidFill>
                  <a:srgbClr val="0000CD"/>
                </a:solidFill>
                <a:effectLst/>
              </a:rPr>
              <a:t>&gt;</a:t>
            </a:r>
            <a:r>
              <a:rPr lang="en-US" dirty="0"/>
              <a:t> </a:t>
            </a:r>
          </a:p>
          <a:p>
            <a:endParaRPr lang="en-US" dirty="0"/>
          </a:p>
          <a:p>
            <a:pPr marL="0" indent="0">
              <a:buNone/>
            </a:pPr>
            <a:endParaRPr lang="en-IN" dirty="0"/>
          </a:p>
        </p:txBody>
      </p:sp>
      <p:pic>
        <p:nvPicPr>
          <p:cNvPr id="5" name="Picture 4">
            <a:extLst>
              <a:ext uri="{FF2B5EF4-FFF2-40B4-BE49-F238E27FC236}">
                <a16:creationId xmlns:a16="http://schemas.microsoft.com/office/drawing/2014/main" id="{A69B93E1-6D63-2317-A5C7-F52C55300190}"/>
              </a:ext>
            </a:extLst>
          </p:cNvPr>
          <p:cNvPicPr>
            <a:picLocks noChangeAspect="1"/>
          </p:cNvPicPr>
          <p:nvPr/>
        </p:nvPicPr>
        <p:blipFill>
          <a:blip r:embed="rId2"/>
          <a:stretch>
            <a:fillRect/>
          </a:stretch>
        </p:blipFill>
        <p:spPr>
          <a:xfrm>
            <a:off x="5541776" y="2493495"/>
            <a:ext cx="1886213" cy="1219370"/>
          </a:xfrm>
          <a:prstGeom prst="rect">
            <a:avLst/>
          </a:prstGeom>
        </p:spPr>
      </p:pic>
      <p:pic>
        <p:nvPicPr>
          <p:cNvPr id="8" name="Picture 7">
            <a:extLst>
              <a:ext uri="{FF2B5EF4-FFF2-40B4-BE49-F238E27FC236}">
                <a16:creationId xmlns:a16="http://schemas.microsoft.com/office/drawing/2014/main" id="{906C7538-47BE-B453-0FC0-D03FEDC09335}"/>
              </a:ext>
            </a:extLst>
          </p:cNvPr>
          <p:cNvPicPr>
            <a:picLocks noChangeAspect="1"/>
          </p:cNvPicPr>
          <p:nvPr/>
        </p:nvPicPr>
        <p:blipFill>
          <a:blip r:embed="rId3"/>
          <a:stretch>
            <a:fillRect/>
          </a:stretch>
        </p:blipFill>
        <p:spPr>
          <a:xfrm>
            <a:off x="838200" y="5843372"/>
            <a:ext cx="10515600" cy="762106"/>
          </a:xfrm>
          <a:prstGeom prst="rect">
            <a:avLst/>
          </a:prstGeom>
        </p:spPr>
      </p:pic>
    </p:spTree>
    <p:extLst>
      <p:ext uri="{BB962C8B-B14F-4D97-AF65-F5344CB8AC3E}">
        <p14:creationId xmlns:p14="http://schemas.microsoft.com/office/powerpoint/2010/main" val="271710745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BE35C3-B7E5-2F5D-0C1D-99DBA1293660}"/>
              </a:ext>
            </a:extLst>
          </p:cNvPr>
          <p:cNvSpPr>
            <a:spLocks noGrp="1"/>
          </p:cNvSpPr>
          <p:nvPr>
            <p:ph type="title"/>
          </p:nvPr>
        </p:nvSpPr>
        <p:spPr/>
        <p:txBody>
          <a:bodyPr/>
          <a:lstStyle/>
          <a:p>
            <a:r>
              <a:rPr lang="en-IN" b="1" dirty="0" err="1"/>
              <a:t>Colored</a:t>
            </a:r>
            <a:r>
              <a:rPr lang="en-IN" b="1" dirty="0"/>
              <a:t> Navbar</a:t>
            </a:r>
            <a:br>
              <a:rPr lang="en-IN" b="1" dirty="0"/>
            </a:br>
            <a:endParaRPr lang="en-IN" dirty="0"/>
          </a:p>
        </p:txBody>
      </p:sp>
      <p:sp>
        <p:nvSpPr>
          <p:cNvPr id="3" name="Content Placeholder 2">
            <a:extLst>
              <a:ext uri="{FF2B5EF4-FFF2-40B4-BE49-F238E27FC236}">
                <a16:creationId xmlns:a16="http://schemas.microsoft.com/office/drawing/2014/main" id="{AE8506CA-105D-D26F-E7E6-50ED54F56323}"/>
              </a:ext>
            </a:extLst>
          </p:cNvPr>
          <p:cNvSpPr>
            <a:spLocks noGrp="1"/>
          </p:cNvSpPr>
          <p:nvPr>
            <p:ph idx="1"/>
          </p:nvPr>
        </p:nvSpPr>
        <p:spPr/>
        <p:txBody>
          <a:bodyPr/>
          <a:lstStyle/>
          <a:p>
            <a:r>
              <a:rPr lang="en-US" dirty="0"/>
              <a:t>Use any of the </a:t>
            </a:r>
            <a:r>
              <a:rPr lang="en-US" b="1" dirty="0"/>
              <a:t>.</a:t>
            </a:r>
            <a:r>
              <a:rPr lang="en-US" b="1" dirty="0" err="1"/>
              <a:t>bg</a:t>
            </a:r>
            <a:r>
              <a:rPr lang="en-US" b="1" dirty="0"/>
              <a:t>-color </a:t>
            </a:r>
            <a:r>
              <a:rPr lang="en-US" dirty="0"/>
              <a:t>classes to change the background color of the navbar (.</a:t>
            </a:r>
            <a:r>
              <a:rPr lang="en-US" dirty="0" err="1"/>
              <a:t>bg</a:t>
            </a:r>
            <a:r>
              <a:rPr lang="en-US" dirty="0"/>
              <a:t>-primary, .</a:t>
            </a:r>
            <a:r>
              <a:rPr lang="en-US" dirty="0" err="1"/>
              <a:t>bg</a:t>
            </a:r>
            <a:r>
              <a:rPr lang="en-US" dirty="0"/>
              <a:t>-success, .</a:t>
            </a:r>
            <a:r>
              <a:rPr lang="en-US" dirty="0" err="1"/>
              <a:t>bg</a:t>
            </a:r>
            <a:r>
              <a:rPr lang="en-US" dirty="0"/>
              <a:t>-info, .</a:t>
            </a:r>
            <a:r>
              <a:rPr lang="en-US" dirty="0" err="1"/>
              <a:t>bg</a:t>
            </a:r>
            <a:r>
              <a:rPr lang="en-US" dirty="0"/>
              <a:t>-warning, .</a:t>
            </a:r>
            <a:r>
              <a:rPr lang="en-US" dirty="0" err="1"/>
              <a:t>bg</a:t>
            </a:r>
            <a:r>
              <a:rPr lang="en-US" dirty="0"/>
              <a:t>-danger, .</a:t>
            </a:r>
            <a:r>
              <a:rPr lang="en-US" dirty="0" err="1"/>
              <a:t>bg</a:t>
            </a:r>
            <a:r>
              <a:rPr lang="en-US" dirty="0"/>
              <a:t>-secondary, .</a:t>
            </a:r>
            <a:r>
              <a:rPr lang="en-US" dirty="0" err="1"/>
              <a:t>bg</a:t>
            </a:r>
            <a:r>
              <a:rPr lang="en-US" dirty="0"/>
              <a:t>-dark and .</a:t>
            </a:r>
            <a:r>
              <a:rPr lang="en-US" dirty="0" err="1"/>
              <a:t>bg</a:t>
            </a:r>
            <a:r>
              <a:rPr lang="en-US" dirty="0"/>
              <a:t>-light)</a:t>
            </a:r>
          </a:p>
          <a:p>
            <a:r>
              <a:rPr lang="en-IN" dirty="0">
                <a:solidFill>
                  <a:srgbClr val="0000CD"/>
                </a:solidFill>
                <a:effectLst/>
              </a:rPr>
              <a:t>&lt;</a:t>
            </a:r>
            <a:r>
              <a:rPr lang="en-IN" dirty="0">
                <a:solidFill>
                  <a:srgbClr val="A52A2A"/>
                </a:solidFill>
                <a:effectLst/>
              </a:rPr>
              <a:t>nav</a:t>
            </a:r>
            <a:r>
              <a:rPr lang="en-IN" dirty="0">
                <a:solidFill>
                  <a:srgbClr val="FF0000"/>
                </a:solidFill>
                <a:effectLst/>
              </a:rPr>
              <a:t> class</a:t>
            </a:r>
            <a:r>
              <a:rPr lang="en-IN" dirty="0">
                <a:solidFill>
                  <a:srgbClr val="0000CD"/>
                </a:solidFill>
                <a:effectLst/>
              </a:rPr>
              <a:t>="navbar navbar-expand-</a:t>
            </a:r>
            <a:r>
              <a:rPr lang="en-IN" dirty="0" err="1">
                <a:solidFill>
                  <a:srgbClr val="0000CD"/>
                </a:solidFill>
                <a:effectLst/>
              </a:rPr>
              <a:t>sm</a:t>
            </a:r>
            <a:r>
              <a:rPr lang="en-IN" dirty="0">
                <a:solidFill>
                  <a:srgbClr val="0000CD"/>
                </a:solidFill>
                <a:effectLst/>
              </a:rPr>
              <a:t> </a:t>
            </a:r>
            <a:r>
              <a:rPr lang="en-IN" dirty="0" err="1">
                <a:solidFill>
                  <a:srgbClr val="0000CD"/>
                </a:solidFill>
                <a:effectLst/>
              </a:rPr>
              <a:t>bg</a:t>
            </a:r>
            <a:r>
              <a:rPr lang="en-IN" dirty="0">
                <a:solidFill>
                  <a:srgbClr val="0000CD"/>
                </a:solidFill>
                <a:effectLst/>
              </a:rPr>
              <a:t>-light navbar-light"&gt;</a:t>
            </a:r>
          </a:p>
          <a:p>
            <a:r>
              <a:rPr lang="en-US" dirty="0">
                <a:effectLst/>
              </a:rPr>
              <a:t>Add a </a:t>
            </a:r>
            <a:r>
              <a:rPr lang="en-US" b="1" dirty="0">
                <a:effectLst/>
              </a:rPr>
              <a:t>white text color </a:t>
            </a:r>
            <a:r>
              <a:rPr lang="en-US" dirty="0">
                <a:effectLst/>
              </a:rPr>
              <a:t>to all links in the navbar with the </a:t>
            </a:r>
            <a:r>
              <a:rPr lang="en-US" b="1" dirty="0">
                <a:effectLst/>
              </a:rPr>
              <a:t>.navbar-dark </a:t>
            </a:r>
            <a:r>
              <a:rPr lang="en-US" dirty="0">
                <a:effectLst/>
              </a:rPr>
              <a:t>class, or use the </a:t>
            </a:r>
            <a:r>
              <a:rPr lang="en-US" b="1" dirty="0">
                <a:effectLst/>
              </a:rPr>
              <a:t>.navbar-light </a:t>
            </a:r>
            <a:r>
              <a:rPr lang="en-US" dirty="0">
                <a:effectLst/>
              </a:rPr>
              <a:t>class to add a </a:t>
            </a:r>
            <a:r>
              <a:rPr lang="en-US" b="1" dirty="0">
                <a:effectLst/>
              </a:rPr>
              <a:t>black text color.</a:t>
            </a:r>
            <a:endParaRPr lang="en-IN" b="1" dirty="0">
              <a:effectLst/>
            </a:endParaRPr>
          </a:p>
          <a:p>
            <a:endParaRPr lang="en-US" dirty="0">
              <a:solidFill>
                <a:srgbClr val="0000CD"/>
              </a:solidFill>
              <a:effectLst/>
            </a:endParaRPr>
          </a:p>
          <a:p>
            <a:endParaRPr lang="en-IN" dirty="0"/>
          </a:p>
        </p:txBody>
      </p:sp>
    </p:spTree>
    <p:extLst>
      <p:ext uri="{BB962C8B-B14F-4D97-AF65-F5344CB8AC3E}">
        <p14:creationId xmlns:p14="http://schemas.microsoft.com/office/powerpoint/2010/main" val="56989405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E71B8F-DC1A-BF75-E7DE-579925200893}"/>
              </a:ext>
            </a:extLst>
          </p:cNvPr>
          <p:cNvSpPr>
            <a:spLocks noGrp="1"/>
          </p:cNvSpPr>
          <p:nvPr>
            <p:ph type="title"/>
          </p:nvPr>
        </p:nvSpPr>
        <p:spPr/>
        <p:txBody>
          <a:bodyPr/>
          <a:lstStyle/>
          <a:p>
            <a:r>
              <a:rPr lang="en-IN" b="1" dirty="0"/>
              <a:t>Brand / Logo</a:t>
            </a:r>
            <a:br>
              <a:rPr lang="en-IN" b="1" dirty="0"/>
            </a:br>
            <a:endParaRPr lang="en-IN" dirty="0"/>
          </a:p>
        </p:txBody>
      </p:sp>
      <p:sp>
        <p:nvSpPr>
          <p:cNvPr id="3" name="Content Placeholder 2">
            <a:extLst>
              <a:ext uri="{FF2B5EF4-FFF2-40B4-BE49-F238E27FC236}">
                <a16:creationId xmlns:a16="http://schemas.microsoft.com/office/drawing/2014/main" id="{21A109D5-7C5D-40E5-0EFA-5F39649CDBCF}"/>
              </a:ext>
            </a:extLst>
          </p:cNvPr>
          <p:cNvSpPr>
            <a:spLocks noGrp="1"/>
          </p:cNvSpPr>
          <p:nvPr>
            <p:ph idx="1"/>
          </p:nvPr>
        </p:nvSpPr>
        <p:spPr/>
        <p:txBody>
          <a:bodyPr/>
          <a:lstStyle/>
          <a:p>
            <a:r>
              <a:rPr lang="en-US" dirty="0"/>
              <a:t>The </a:t>
            </a:r>
            <a:r>
              <a:rPr lang="en-US" b="1" dirty="0"/>
              <a:t>.navbar-brand </a:t>
            </a:r>
            <a:r>
              <a:rPr lang="en-US" dirty="0"/>
              <a:t>class is used to highlight the brand/logo/project name of your page:</a:t>
            </a:r>
          </a:p>
          <a:p>
            <a:r>
              <a:rPr lang="en-IN" dirty="0">
                <a:solidFill>
                  <a:srgbClr val="0000CD"/>
                </a:solidFill>
                <a:effectLst/>
              </a:rPr>
              <a:t>&lt;</a:t>
            </a:r>
            <a:r>
              <a:rPr lang="en-IN" dirty="0">
                <a:solidFill>
                  <a:srgbClr val="A52A2A"/>
                </a:solidFill>
                <a:effectLst/>
              </a:rPr>
              <a:t>a</a:t>
            </a:r>
            <a:r>
              <a:rPr lang="en-IN" dirty="0">
                <a:solidFill>
                  <a:srgbClr val="FF0000"/>
                </a:solidFill>
                <a:effectLst/>
              </a:rPr>
              <a:t> class</a:t>
            </a:r>
            <a:r>
              <a:rPr lang="en-IN" dirty="0">
                <a:solidFill>
                  <a:srgbClr val="0000CD"/>
                </a:solidFill>
                <a:effectLst/>
              </a:rPr>
              <a:t>="navbar-brand"</a:t>
            </a:r>
            <a:r>
              <a:rPr lang="en-IN" dirty="0">
                <a:solidFill>
                  <a:srgbClr val="FF0000"/>
                </a:solidFill>
                <a:effectLst/>
              </a:rPr>
              <a:t> </a:t>
            </a:r>
            <a:r>
              <a:rPr lang="en-IN" dirty="0" err="1">
                <a:solidFill>
                  <a:srgbClr val="FF0000"/>
                </a:solidFill>
                <a:effectLst/>
              </a:rPr>
              <a:t>href</a:t>
            </a:r>
            <a:r>
              <a:rPr lang="en-IN" dirty="0">
                <a:solidFill>
                  <a:srgbClr val="0000CD"/>
                </a:solidFill>
                <a:effectLst/>
              </a:rPr>
              <a:t>="#"&gt;</a:t>
            </a:r>
            <a:r>
              <a:rPr lang="en-IN" dirty="0"/>
              <a:t>Logo</a:t>
            </a:r>
            <a:r>
              <a:rPr lang="en-IN" dirty="0">
                <a:solidFill>
                  <a:srgbClr val="0000CD"/>
                </a:solidFill>
                <a:effectLst/>
              </a:rPr>
              <a:t>&lt;</a:t>
            </a:r>
            <a:r>
              <a:rPr lang="en-IN" dirty="0">
                <a:solidFill>
                  <a:srgbClr val="A52A2A"/>
                </a:solidFill>
                <a:effectLst/>
              </a:rPr>
              <a:t>/a</a:t>
            </a:r>
            <a:r>
              <a:rPr lang="en-IN" dirty="0">
                <a:solidFill>
                  <a:srgbClr val="0000CD"/>
                </a:solidFill>
                <a:effectLst/>
              </a:rPr>
              <a:t>&gt;</a:t>
            </a:r>
            <a:endParaRPr lang="en-US" dirty="0">
              <a:solidFill>
                <a:srgbClr val="0000CD"/>
              </a:solidFill>
              <a:effectLst/>
            </a:endParaRPr>
          </a:p>
          <a:p>
            <a:r>
              <a:rPr lang="en-US" dirty="0"/>
              <a:t>When using the </a:t>
            </a:r>
            <a:r>
              <a:rPr lang="en-US" b="1" dirty="0"/>
              <a:t>.navbar-brand </a:t>
            </a:r>
            <a:r>
              <a:rPr lang="en-US" dirty="0"/>
              <a:t>class with images, Bootstrap 5 will automatically style the images</a:t>
            </a:r>
          </a:p>
          <a:p>
            <a:r>
              <a:rPr lang="en-IN" dirty="0">
                <a:solidFill>
                  <a:srgbClr val="0000CD"/>
                </a:solidFill>
                <a:effectLst/>
              </a:rPr>
              <a:t>&lt;</a:t>
            </a:r>
            <a:r>
              <a:rPr lang="en-IN" dirty="0">
                <a:solidFill>
                  <a:srgbClr val="A52A2A"/>
                </a:solidFill>
                <a:effectLst/>
              </a:rPr>
              <a:t>a</a:t>
            </a:r>
            <a:r>
              <a:rPr lang="en-IN" dirty="0">
                <a:solidFill>
                  <a:srgbClr val="FF0000"/>
                </a:solidFill>
                <a:effectLst/>
              </a:rPr>
              <a:t> class</a:t>
            </a:r>
            <a:r>
              <a:rPr lang="en-IN" dirty="0">
                <a:solidFill>
                  <a:srgbClr val="0000CD"/>
                </a:solidFill>
                <a:effectLst/>
              </a:rPr>
              <a:t>="navbar-brand"</a:t>
            </a:r>
            <a:r>
              <a:rPr lang="en-IN" dirty="0">
                <a:solidFill>
                  <a:srgbClr val="FF0000"/>
                </a:solidFill>
                <a:effectLst/>
              </a:rPr>
              <a:t> </a:t>
            </a:r>
            <a:r>
              <a:rPr lang="en-IN" dirty="0" err="1">
                <a:solidFill>
                  <a:srgbClr val="FF0000"/>
                </a:solidFill>
                <a:effectLst/>
              </a:rPr>
              <a:t>href</a:t>
            </a:r>
            <a:r>
              <a:rPr lang="en-IN" dirty="0">
                <a:solidFill>
                  <a:srgbClr val="0000CD"/>
                </a:solidFill>
                <a:effectLst/>
              </a:rPr>
              <a:t>="#"&gt;</a:t>
            </a:r>
            <a:br>
              <a:rPr lang="en-IN" dirty="0"/>
            </a:br>
            <a:r>
              <a:rPr lang="en-IN" dirty="0"/>
              <a:t>      </a:t>
            </a:r>
            <a:r>
              <a:rPr lang="en-IN" dirty="0">
                <a:solidFill>
                  <a:srgbClr val="0000CD"/>
                </a:solidFill>
                <a:effectLst/>
              </a:rPr>
              <a:t>&lt;</a:t>
            </a:r>
            <a:r>
              <a:rPr lang="en-IN" dirty="0" err="1">
                <a:solidFill>
                  <a:srgbClr val="A52A2A"/>
                </a:solidFill>
                <a:effectLst/>
              </a:rPr>
              <a:t>img</a:t>
            </a:r>
            <a:r>
              <a:rPr lang="en-IN" dirty="0">
                <a:solidFill>
                  <a:srgbClr val="FF0000"/>
                </a:solidFill>
                <a:effectLst/>
              </a:rPr>
              <a:t> </a:t>
            </a:r>
            <a:r>
              <a:rPr lang="en-IN" dirty="0" err="1">
                <a:solidFill>
                  <a:srgbClr val="FF0000"/>
                </a:solidFill>
                <a:effectLst/>
              </a:rPr>
              <a:t>src</a:t>
            </a:r>
            <a:r>
              <a:rPr lang="en-IN" dirty="0">
                <a:solidFill>
                  <a:srgbClr val="0000CD"/>
                </a:solidFill>
                <a:effectLst/>
              </a:rPr>
              <a:t>="logo.png"</a:t>
            </a:r>
            <a:r>
              <a:rPr lang="en-IN" dirty="0">
                <a:solidFill>
                  <a:srgbClr val="FF0000"/>
                </a:solidFill>
                <a:effectLst/>
              </a:rPr>
              <a:t> alt</a:t>
            </a:r>
            <a:r>
              <a:rPr lang="en-IN" dirty="0">
                <a:solidFill>
                  <a:srgbClr val="0000CD"/>
                </a:solidFill>
                <a:effectLst/>
              </a:rPr>
              <a:t>="Avatar Logo"</a:t>
            </a:r>
            <a:r>
              <a:rPr lang="en-IN" dirty="0">
                <a:solidFill>
                  <a:srgbClr val="FF0000"/>
                </a:solidFill>
                <a:effectLst/>
              </a:rPr>
              <a:t> class</a:t>
            </a:r>
            <a:r>
              <a:rPr lang="en-IN" dirty="0">
                <a:solidFill>
                  <a:srgbClr val="0000CD"/>
                </a:solidFill>
                <a:effectLst/>
              </a:rPr>
              <a:t>="rounded"&gt;</a:t>
            </a:r>
            <a:r>
              <a:rPr lang="en-IN" dirty="0"/>
              <a:t>  </a:t>
            </a:r>
            <a:br>
              <a:rPr lang="en-IN" dirty="0"/>
            </a:br>
            <a:r>
              <a:rPr lang="en-IN" dirty="0"/>
              <a:t>    </a:t>
            </a:r>
            <a:r>
              <a:rPr lang="en-IN" dirty="0">
                <a:solidFill>
                  <a:srgbClr val="0000CD"/>
                </a:solidFill>
                <a:effectLst/>
              </a:rPr>
              <a:t>&lt;</a:t>
            </a:r>
            <a:r>
              <a:rPr lang="en-IN" dirty="0">
                <a:solidFill>
                  <a:srgbClr val="A52A2A"/>
                </a:solidFill>
                <a:effectLst/>
              </a:rPr>
              <a:t>/a</a:t>
            </a:r>
            <a:r>
              <a:rPr lang="en-IN" dirty="0">
                <a:solidFill>
                  <a:srgbClr val="0000CD"/>
                </a:solidFill>
                <a:effectLst/>
              </a:rPr>
              <a:t>&gt;</a:t>
            </a:r>
            <a:endParaRPr lang="en-IN" dirty="0"/>
          </a:p>
        </p:txBody>
      </p:sp>
      <p:pic>
        <p:nvPicPr>
          <p:cNvPr id="5" name="Picture 4">
            <a:extLst>
              <a:ext uri="{FF2B5EF4-FFF2-40B4-BE49-F238E27FC236}">
                <a16:creationId xmlns:a16="http://schemas.microsoft.com/office/drawing/2014/main" id="{82F3E283-A24C-03BD-9B5E-0C0C7828A942}"/>
              </a:ext>
            </a:extLst>
          </p:cNvPr>
          <p:cNvPicPr>
            <a:picLocks noChangeAspect="1"/>
          </p:cNvPicPr>
          <p:nvPr/>
        </p:nvPicPr>
        <p:blipFill>
          <a:blip r:embed="rId2"/>
          <a:stretch>
            <a:fillRect/>
          </a:stretch>
        </p:blipFill>
        <p:spPr>
          <a:xfrm>
            <a:off x="3317277" y="5681594"/>
            <a:ext cx="3077004" cy="990738"/>
          </a:xfrm>
          <a:prstGeom prst="rect">
            <a:avLst/>
          </a:prstGeom>
        </p:spPr>
      </p:pic>
    </p:spTree>
    <p:extLst>
      <p:ext uri="{BB962C8B-B14F-4D97-AF65-F5344CB8AC3E}">
        <p14:creationId xmlns:p14="http://schemas.microsoft.com/office/powerpoint/2010/main" val="122911569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A5FE69-C380-7D1D-F861-ED55D0954B0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9419232-FE10-1CE2-4D6F-B71B4CCCA0EE}"/>
              </a:ext>
            </a:extLst>
          </p:cNvPr>
          <p:cNvSpPr>
            <a:spLocks noGrp="1"/>
          </p:cNvSpPr>
          <p:nvPr>
            <p:ph idx="1"/>
          </p:nvPr>
        </p:nvSpPr>
        <p:spPr/>
        <p:txBody>
          <a:bodyPr>
            <a:normAutofit fontScale="77500" lnSpcReduction="20000"/>
          </a:bodyPr>
          <a:lstStyle/>
          <a:p>
            <a:pPr marL="0" indent="0">
              <a:buNone/>
            </a:pPr>
            <a:r>
              <a:rPr lang="en-IN" dirty="0">
                <a:solidFill>
                  <a:srgbClr val="FF0000"/>
                </a:solidFill>
              </a:rPr>
              <a:t>&lt;nav class="navbar navbar-light </a:t>
            </a:r>
            <a:r>
              <a:rPr lang="en-IN" dirty="0" err="1">
                <a:solidFill>
                  <a:srgbClr val="FF0000"/>
                </a:solidFill>
              </a:rPr>
              <a:t>bg</a:t>
            </a:r>
            <a:r>
              <a:rPr lang="en-IN" dirty="0">
                <a:solidFill>
                  <a:srgbClr val="FF0000"/>
                </a:solidFill>
              </a:rPr>
              <a:t>-light"&gt;</a:t>
            </a:r>
          </a:p>
          <a:p>
            <a:pPr marL="0" indent="0">
              <a:buNone/>
            </a:pPr>
            <a:r>
              <a:rPr lang="en-IN" dirty="0">
                <a:solidFill>
                  <a:srgbClr val="FF0000"/>
                </a:solidFill>
              </a:rPr>
              <a:t>  &lt;div class="container-fluid"&gt;</a:t>
            </a:r>
          </a:p>
          <a:p>
            <a:pPr marL="0" indent="0">
              <a:buNone/>
            </a:pPr>
            <a:r>
              <a:rPr lang="en-IN" dirty="0">
                <a:solidFill>
                  <a:srgbClr val="FF0000"/>
                </a:solidFill>
              </a:rPr>
              <a:t>    &lt;a class="navbar-brand" </a:t>
            </a:r>
            <a:r>
              <a:rPr lang="en-IN" dirty="0" err="1">
                <a:solidFill>
                  <a:srgbClr val="FF0000"/>
                </a:solidFill>
              </a:rPr>
              <a:t>href</a:t>
            </a:r>
            <a:r>
              <a:rPr lang="en-IN" dirty="0">
                <a:solidFill>
                  <a:srgbClr val="FF0000"/>
                </a:solidFill>
              </a:rPr>
              <a:t>="#"&gt;Navbar&lt;/a&gt;</a:t>
            </a:r>
          </a:p>
          <a:p>
            <a:pPr marL="0" indent="0">
              <a:buNone/>
            </a:pPr>
            <a:r>
              <a:rPr lang="en-IN" dirty="0">
                <a:solidFill>
                  <a:srgbClr val="FF0000"/>
                </a:solidFill>
              </a:rPr>
              <a:t>  &lt;/div&gt;</a:t>
            </a:r>
          </a:p>
          <a:p>
            <a:pPr marL="0" indent="0">
              <a:buNone/>
            </a:pPr>
            <a:r>
              <a:rPr lang="en-IN" dirty="0">
                <a:solidFill>
                  <a:srgbClr val="FF0000"/>
                </a:solidFill>
              </a:rPr>
              <a:t>&lt;/nav&gt;</a:t>
            </a:r>
          </a:p>
          <a:p>
            <a:pPr marL="0" indent="0">
              <a:buNone/>
            </a:pPr>
            <a:endParaRPr lang="en-IN" dirty="0">
              <a:solidFill>
                <a:srgbClr val="FF0000"/>
              </a:solidFill>
            </a:endParaRPr>
          </a:p>
          <a:p>
            <a:pPr marL="0" indent="0">
              <a:buNone/>
            </a:pPr>
            <a:r>
              <a:rPr lang="en-IN" dirty="0">
                <a:solidFill>
                  <a:srgbClr val="FF0000"/>
                </a:solidFill>
              </a:rPr>
              <a:t>&lt;!-- As a heading --&gt;</a:t>
            </a:r>
          </a:p>
          <a:p>
            <a:pPr marL="0" indent="0">
              <a:buNone/>
            </a:pPr>
            <a:r>
              <a:rPr lang="en-IN" dirty="0">
                <a:solidFill>
                  <a:srgbClr val="FF0000"/>
                </a:solidFill>
              </a:rPr>
              <a:t>&lt;nav class="navbar navbar-light </a:t>
            </a:r>
            <a:r>
              <a:rPr lang="en-IN" dirty="0" err="1">
                <a:solidFill>
                  <a:srgbClr val="FF0000"/>
                </a:solidFill>
              </a:rPr>
              <a:t>bg</a:t>
            </a:r>
            <a:r>
              <a:rPr lang="en-IN" dirty="0">
                <a:solidFill>
                  <a:srgbClr val="FF0000"/>
                </a:solidFill>
              </a:rPr>
              <a:t>-light"&gt;</a:t>
            </a:r>
          </a:p>
          <a:p>
            <a:pPr marL="0" indent="0">
              <a:buNone/>
            </a:pPr>
            <a:r>
              <a:rPr lang="en-IN" dirty="0">
                <a:solidFill>
                  <a:srgbClr val="FF0000"/>
                </a:solidFill>
              </a:rPr>
              <a:t>  &lt;div class="container-fluid"&gt;</a:t>
            </a:r>
          </a:p>
          <a:p>
            <a:pPr marL="0" indent="0">
              <a:buNone/>
            </a:pPr>
            <a:r>
              <a:rPr lang="en-IN" dirty="0">
                <a:solidFill>
                  <a:srgbClr val="FF0000"/>
                </a:solidFill>
              </a:rPr>
              <a:t>    &lt;span class="navbar-brand mb-0 h1"&gt;Navbar&lt;/span&gt;</a:t>
            </a:r>
          </a:p>
          <a:p>
            <a:pPr marL="0" indent="0">
              <a:buNone/>
            </a:pPr>
            <a:r>
              <a:rPr lang="en-IN" dirty="0">
                <a:solidFill>
                  <a:srgbClr val="FF0000"/>
                </a:solidFill>
              </a:rPr>
              <a:t>  &lt;/div&gt;</a:t>
            </a:r>
          </a:p>
          <a:p>
            <a:pPr marL="0" indent="0">
              <a:buNone/>
            </a:pPr>
            <a:r>
              <a:rPr lang="en-IN" dirty="0">
                <a:solidFill>
                  <a:srgbClr val="FF0000"/>
                </a:solidFill>
              </a:rPr>
              <a:t>&lt;/nav&gt;</a:t>
            </a:r>
          </a:p>
        </p:txBody>
      </p:sp>
    </p:spTree>
    <p:extLst>
      <p:ext uri="{BB962C8B-B14F-4D97-AF65-F5344CB8AC3E}">
        <p14:creationId xmlns:p14="http://schemas.microsoft.com/office/powerpoint/2010/main" val="406928170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8FBE9-8CA8-FED0-B540-94FD40F38E71}"/>
              </a:ext>
            </a:extLst>
          </p:cNvPr>
          <p:cNvSpPr>
            <a:spLocks noGrp="1"/>
          </p:cNvSpPr>
          <p:nvPr>
            <p:ph type="title"/>
          </p:nvPr>
        </p:nvSpPr>
        <p:spPr/>
        <p:txBody>
          <a:bodyPr/>
          <a:lstStyle/>
          <a:p>
            <a:r>
              <a:rPr lang="en-IN" b="1" dirty="0"/>
              <a:t>Image and text </a:t>
            </a:r>
            <a:br>
              <a:rPr lang="en-IN" b="1" dirty="0"/>
            </a:br>
            <a:endParaRPr lang="en-IN" dirty="0"/>
          </a:p>
        </p:txBody>
      </p:sp>
      <p:sp>
        <p:nvSpPr>
          <p:cNvPr id="3" name="Content Placeholder 2">
            <a:extLst>
              <a:ext uri="{FF2B5EF4-FFF2-40B4-BE49-F238E27FC236}">
                <a16:creationId xmlns:a16="http://schemas.microsoft.com/office/drawing/2014/main" id="{D5F2BF21-9AA3-D2EB-9349-3DC27ED46567}"/>
              </a:ext>
            </a:extLst>
          </p:cNvPr>
          <p:cNvSpPr>
            <a:spLocks noGrp="1"/>
          </p:cNvSpPr>
          <p:nvPr>
            <p:ph idx="1"/>
          </p:nvPr>
        </p:nvSpPr>
        <p:spPr>
          <a:xfrm>
            <a:off x="838200" y="1825625"/>
            <a:ext cx="10985938" cy="4351338"/>
          </a:xfrm>
        </p:spPr>
        <p:txBody>
          <a:bodyPr>
            <a:normAutofit fontScale="92500" lnSpcReduction="20000"/>
          </a:bodyPr>
          <a:lstStyle/>
          <a:p>
            <a:r>
              <a:rPr lang="en-US" dirty="0"/>
              <a:t>Some additional utilities to add an image and text at the same time. </a:t>
            </a:r>
          </a:p>
          <a:p>
            <a:r>
              <a:rPr lang="en-US" dirty="0"/>
              <a:t>Note the addition </a:t>
            </a:r>
            <a:r>
              <a:rPr lang="en-US" b="1" dirty="0"/>
              <a:t>of .d-inline-block and .align-text-top on the &lt;</a:t>
            </a:r>
            <a:r>
              <a:rPr lang="en-US" b="1" dirty="0" err="1"/>
              <a:t>img</a:t>
            </a:r>
            <a:r>
              <a:rPr lang="en-US" b="1" dirty="0"/>
              <a:t>&gt;.</a:t>
            </a:r>
            <a:endParaRPr lang="en-IN" b="1" dirty="0"/>
          </a:p>
          <a:p>
            <a:pPr marL="0" indent="0">
              <a:buNone/>
            </a:pPr>
            <a:r>
              <a:rPr lang="en-IN" dirty="0"/>
              <a:t>&lt;nav class="navbar navbar-light </a:t>
            </a:r>
            <a:r>
              <a:rPr lang="en-IN" dirty="0" err="1"/>
              <a:t>bg</a:t>
            </a:r>
            <a:r>
              <a:rPr lang="en-IN" dirty="0"/>
              <a:t>-light"&gt;</a:t>
            </a:r>
          </a:p>
          <a:p>
            <a:pPr marL="0" indent="0">
              <a:buNone/>
            </a:pPr>
            <a:r>
              <a:rPr lang="en-IN" dirty="0"/>
              <a:t>  &lt;div class="container-fluid"&gt;</a:t>
            </a:r>
          </a:p>
          <a:p>
            <a:pPr marL="0" indent="0">
              <a:buNone/>
            </a:pPr>
            <a:r>
              <a:rPr lang="en-IN" dirty="0"/>
              <a:t>    &lt;a class="navbar-brand" </a:t>
            </a:r>
            <a:r>
              <a:rPr lang="en-IN" dirty="0" err="1"/>
              <a:t>href</a:t>
            </a:r>
            <a:r>
              <a:rPr lang="en-IN" dirty="0"/>
              <a:t>="#"&gt;</a:t>
            </a:r>
          </a:p>
          <a:p>
            <a:pPr marL="0" indent="0">
              <a:buNone/>
            </a:pPr>
            <a:r>
              <a:rPr lang="en-IN" dirty="0"/>
              <a:t>      &lt;</a:t>
            </a:r>
            <a:r>
              <a:rPr lang="en-IN" dirty="0" err="1"/>
              <a:t>img</a:t>
            </a:r>
            <a:r>
              <a:rPr lang="en-IN" dirty="0"/>
              <a:t> </a:t>
            </a:r>
            <a:r>
              <a:rPr lang="en-IN" dirty="0" err="1"/>
              <a:t>src</a:t>
            </a:r>
            <a:r>
              <a:rPr lang="en-IN" dirty="0"/>
              <a:t>="/docs/5.0/assets/brand/bootstrap-</a:t>
            </a:r>
            <a:r>
              <a:rPr lang="en-IN" dirty="0" err="1"/>
              <a:t>logo.svg</a:t>
            </a:r>
            <a:r>
              <a:rPr lang="en-IN" dirty="0"/>
              <a:t>" alt="" width="30" height="24" class="d-inline-block align-text-top"&gt;</a:t>
            </a:r>
          </a:p>
          <a:p>
            <a:pPr marL="0" indent="0">
              <a:buNone/>
            </a:pPr>
            <a:r>
              <a:rPr lang="en-IN" dirty="0"/>
              <a:t>      Bootstrap</a:t>
            </a:r>
          </a:p>
          <a:p>
            <a:pPr marL="0" indent="0">
              <a:buNone/>
            </a:pPr>
            <a:r>
              <a:rPr lang="en-IN" dirty="0"/>
              <a:t>    &lt;/a&gt;</a:t>
            </a:r>
          </a:p>
          <a:p>
            <a:pPr marL="0" indent="0">
              <a:buNone/>
            </a:pPr>
            <a:r>
              <a:rPr lang="en-IN" dirty="0"/>
              <a:t>  &lt;/div&gt;</a:t>
            </a:r>
          </a:p>
          <a:p>
            <a:pPr marL="0" indent="0">
              <a:buNone/>
            </a:pPr>
            <a:r>
              <a:rPr lang="en-IN" dirty="0"/>
              <a:t>&lt;/nav&gt;</a:t>
            </a:r>
          </a:p>
        </p:txBody>
      </p:sp>
      <p:pic>
        <p:nvPicPr>
          <p:cNvPr id="7" name="Picture 6">
            <a:extLst>
              <a:ext uri="{FF2B5EF4-FFF2-40B4-BE49-F238E27FC236}">
                <a16:creationId xmlns:a16="http://schemas.microsoft.com/office/drawing/2014/main" id="{9932480E-FC42-C71A-629E-802DB151D29C}"/>
              </a:ext>
            </a:extLst>
          </p:cNvPr>
          <p:cNvPicPr>
            <a:picLocks noChangeAspect="1"/>
          </p:cNvPicPr>
          <p:nvPr/>
        </p:nvPicPr>
        <p:blipFill>
          <a:blip r:embed="rId2"/>
          <a:stretch>
            <a:fillRect/>
          </a:stretch>
        </p:blipFill>
        <p:spPr>
          <a:xfrm>
            <a:off x="5431668" y="4753889"/>
            <a:ext cx="3010320" cy="1028844"/>
          </a:xfrm>
          <a:prstGeom prst="rect">
            <a:avLst/>
          </a:prstGeom>
        </p:spPr>
      </p:pic>
    </p:spTree>
    <p:extLst>
      <p:ext uri="{BB962C8B-B14F-4D97-AF65-F5344CB8AC3E}">
        <p14:creationId xmlns:p14="http://schemas.microsoft.com/office/powerpoint/2010/main" val="312444081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850F36-9B38-B302-4845-F2F8E5F86AEE}"/>
              </a:ext>
            </a:extLst>
          </p:cNvPr>
          <p:cNvSpPr>
            <a:spLocks noGrp="1"/>
          </p:cNvSpPr>
          <p:nvPr>
            <p:ph type="title"/>
          </p:nvPr>
        </p:nvSpPr>
        <p:spPr/>
        <p:txBody>
          <a:bodyPr/>
          <a:lstStyle/>
          <a:p>
            <a:r>
              <a:rPr lang="en-IN" b="1" dirty="0"/>
              <a:t>Text</a:t>
            </a:r>
            <a:br>
              <a:rPr lang="en-IN" b="1" dirty="0"/>
            </a:br>
            <a:endParaRPr lang="en-IN" dirty="0"/>
          </a:p>
        </p:txBody>
      </p:sp>
      <p:sp>
        <p:nvSpPr>
          <p:cNvPr id="3" name="Content Placeholder 2">
            <a:extLst>
              <a:ext uri="{FF2B5EF4-FFF2-40B4-BE49-F238E27FC236}">
                <a16:creationId xmlns:a16="http://schemas.microsoft.com/office/drawing/2014/main" id="{A939ADBF-3762-3810-DE7A-A57107ABE11F}"/>
              </a:ext>
            </a:extLst>
          </p:cNvPr>
          <p:cNvSpPr>
            <a:spLocks noGrp="1"/>
          </p:cNvSpPr>
          <p:nvPr>
            <p:ph idx="1"/>
          </p:nvPr>
        </p:nvSpPr>
        <p:spPr/>
        <p:txBody>
          <a:bodyPr>
            <a:normAutofit fontScale="92500"/>
          </a:bodyPr>
          <a:lstStyle/>
          <a:p>
            <a:r>
              <a:rPr lang="en-US" dirty="0"/>
              <a:t>Navbars may contain bits of text with the help of </a:t>
            </a:r>
            <a:r>
              <a:rPr lang="en-US" b="1" dirty="0"/>
              <a:t>.navbar-text</a:t>
            </a:r>
            <a:r>
              <a:rPr lang="en-US" dirty="0"/>
              <a:t>. This class adjusts vertical alignment and horizontal spacing for strings of text.</a:t>
            </a:r>
          </a:p>
          <a:p>
            <a:pPr marL="0" indent="0">
              <a:buNone/>
            </a:pPr>
            <a:r>
              <a:rPr lang="en-IN" dirty="0">
                <a:solidFill>
                  <a:srgbClr val="FF0000"/>
                </a:solidFill>
              </a:rPr>
              <a:t>&lt;nav class="navbar navbar-light </a:t>
            </a:r>
            <a:r>
              <a:rPr lang="en-IN" dirty="0" err="1">
                <a:solidFill>
                  <a:srgbClr val="FF0000"/>
                </a:solidFill>
              </a:rPr>
              <a:t>bg</a:t>
            </a:r>
            <a:r>
              <a:rPr lang="en-IN" dirty="0">
                <a:solidFill>
                  <a:srgbClr val="FF0000"/>
                </a:solidFill>
              </a:rPr>
              <a:t>-light"&gt;</a:t>
            </a:r>
          </a:p>
          <a:p>
            <a:pPr marL="0" indent="0">
              <a:buNone/>
            </a:pPr>
            <a:r>
              <a:rPr lang="en-IN" dirty="0">
                <a:solidFill>
                  <a:srgbClr val="FF0000"/>
                </a:solidFill>
              </a:rPr>
              <a:t>  &lt;div class="container-fluid"&gt;</a:t>
            </a:r>
          </a:p>
          <a:p>
            <a:pPr marL="0" indent="0">
              <a:buNone/>
            </a:pPr>
            <a:r>
              <a:rPr lang="en-IN" dirty="0">
                <a:solidFill>
                  <a:srgbClr val="FF0000"/>
                </a:solidFill>
              </a:rPr>
              <a:t>    &lt;span class="navbar-text"&gt;</a:t>
            </a:r>
          </a:p>
          <a:p>
            <a:pPr marL="0" indent="0">
              <a:buNone/>
            </a:pPr>
            <a:r>
              <a:rPr lang="en-IN" dirty="0">
                <a:solidFill>
                  <a:srgbClr val="FF0000"/>
                </a:solidFill>
              </a:rPr>
              <a:t>      Navbar text with an inline element</a:t>
            </a:r>
          </a:p>
          <a:p>
            <a:pPr marL="0" indent="0">
              <a:buNone/>
            </a:pPr>
            <a:r>
              <a:rPr lang="en-IN" dirty="0">
                <a:solidFill>
                  <a:srgbClr val="FF0000"/>
                </a:solidFill>
              </a:rPr>
              <a:t>    &lt;/span&gt;</a:t>
            </a:r>
          </a:p>
          <a:p>
            <a:pPr marL="0" indent="0">
              <a:buNone/>
            </a:pPr>
            <a:r>
              <a:rPr lang="en-IN" dirty="0">
                <a:solidFill>
                  <a:srgbClr val="FF0000"/>
                </a:solidFill>
              </a:rPr>
              <a:t>  &lt;/div&gt;</a:t>
            </a:r>
          </a:p>
          <a:p>
            <a:pPr marL="0" indent="0">
              <a:buNone/>
            </a:pPr>
            <a:r>
              <a:rPr lang="en-IN" dirty="0">
                <a:solidFill>
                  <a:srgbClr val="FF0000"/>
                </a:solidFill>
              </a:rPr>
              <a:t>&lt;/nav</a:t>
            </a:r>
          </a:p>
        </p:txBody>
      </p:sp>
    </p:spTree>
    <p:extLst>
      <p:ext uri="{BB962C8B-B14F-4D97-AF65-F5344CB8AC3E}">
        <p14:creationId xmlns:p14="http://schemas.microsoft.com/office/powerpoint/2010/main" val="98064000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899DE-17EE-F3B8-A890-CEB3FA3DAC13}"/>
              </a:ext>
            </a:extLst>
          </p:cNvPr>
          <p:cNvSpPr>
            <a:spLocks noGrp="1"/>
          </p:cNvSpPr>
          <p:nvPr>
            <p:ph type="title"/>
          </p:nvPr>
        </p:nvSpPr>
        <p:spPr/>
        <p:txBody>
          <a:bodyPr/>
          <a:lstStyle/>
          <a:p>
            <a:r>
              <a:rPr lang="en-IN" b="1" dirty="0"/>
              <a:t>Navbar With Dropdown</a:t>
            </a:r>
            <a:br>
              <a:rPr lang="en-IN" b="1" dirty="0"/>
            </a:br>
            <a:endParaRPr lang="en-IN" dirty="0"/>
          </a:p>
        </p:txBody>
      </p:sp>
      <p:sp>
        <p:nvSpPr>
          <p:cNvPr id="3" name="Content Placeholder 2">
            <a:extLst>
              <a:ext uri="{FF2B5EF4-FFF2-40B4-BE49-F238E27FC236}">
                <a16:creationId xmlns:a16="http://schemas.microsoft.com/office/drawing/2014/main" id="{85052080-A7D3-6D23-9400-0702149B85AD}"/>
              </a:ext>
            </a:extLst>
          </p:cNvPr>
          <p:cNvSpPr>
            <a:spLocks noGrp="1"/>
          </p:cNvSpPr>
          <p:nvPr>
            <p:ph idx="1"/>
          </p:nvPr>
        </p:nvSpPr>
        <p:spPr/>
        <p:txBody>
          <a:bodyPr/>
          <a:lstStyle/>
          <a:p>
            <a:r>
              <a:rPr lang="en-IN" dirty="0">
                <a:solidFill>
                  <a:srgbClr val="0000CD"/>
                </a:solidFill>
                <a:effectLst/>
              </a:rPr>
              <a:t>&lt;</a:t>
            </a:r>
            <a:r>
              <a:rPr lang="en-IN" dirty="0">
                <a:solidFill>
                  <a:srgbClr val="A52A2A"/>
                </a:solidFill>
                <a:effectLst/>
              </a:rPr>
              <a:t>li</a:t>
            </a:r>
            <a:r>
              <a:rPr lang="en-IN" dirty="0">
                <a:solidFill>
                  <a:srgbClr val="FF0000"/>
                </a:solidFill>
                <a:effectLst/>
              </a:rPr>
              <a:t> class</a:t>
            </a:r>
            <a:r>
              <a:rPr lang="en-IN" dirty="0">
                <a:solidFill>
                  <a:srgbClr val="0000CD"/>
                </a:solidFill>
                <a:effectLst/>
              </a:rPr>
              <a:t>="nav-item dropdown"&gt;</a:t>
            </a:r>
            <a:br>
              <a:rPr lang="en-IN" dirty="0"/>
            </a:br>
            <a:r>
              <a:rPr lang="en-IN" dirty="0"/>
              <a:t>  </a:t>
            </a:r>
            <a:r>
              <a:rPr lang="en-IN" dirty="0">
                <a:solidFill>
                  <a:srgbClr val="0000CD"/>
                </a:solidFill>
                <a:effectLst/>
              </a:rPr>
              <a:t>&lt;</a:t>
            </a:r>
            <a:r>
              <a:rPr lang="en-IN" dirty="0">
                <a:solidFill>
                  <a:srgbClr val="A52A2A"/>
                </a:solidFill>
                <a:effectLst/>
              </a:rPr>
              <a:t>a</a:t>
            </a:r>
            <a:r>
              <a:rPr lang="en-IN" dirty="0">
                <a:solidFill>
                  <a:srgbClr val="FF0000"/>
                </a:solidFill>
                <a:effectLst/>
              </a:rPr>
              <a:t> class</a:t>
            </a:r>
            <a:r>
              <a:rPr lang="en-IN" dirty="0">
                <a:solidFill>
                  <a:srgbClr val="0000CD"/>
                </a:solidFill>
                <a:effectLst/>
              </a:rPr>
              <a:t>="nav-link dropdown-toggle"</a:t>
            </a:r>
            <a:r>
              <a:rPr lang="en-IN" dirty="0">
                <a:solidFill>
                  <a:srgbClr val="FF0000"/>
                </a:solidFill>
                <a:effectLst/>
              </a:rPr>
              <a:t> </a:t>
            </a:r>
            <a:r>
              <a:rPr lang="en-IN" dirty="0" err="1">
                <a:solidFill>
                  <a:srgbClr val="FF0000"/>
                </a:solidFill>
                <a:effectLst/>
              </a:rPr>
              <a:t>href</a:t>
            </a:r>
            <a:r>
              <a:rPr lang="en-IN" dirty="0">
                <a:solidFill>
                  <a:srgbClr val="0000CD"/>
                </a:solidFill>
                <a:effectLst/>
              </a:rPr>
              <a:t>="#"</a:t>
            </a:r>
            <a:r>
              <a:rPr lang="en-IN" dirty="0">
                <a:solidFill>
                  <a:srgbClr val="FF0000"/>
                </a:solidFill>
                <a:effectLst/>
              </a:rPr>
              <a:t> role</a:t>
            </a:r>
            <a:r>
              <a:rPr lang="en-IN" dirty="0">
                <a:solidFill>
                  <a:srgbClr val="0000CD"/>
                </a:solidFill>
                <a:effectLst/>
              </a:rPr>
              <a:t>="button"</a:t>
            </a:r>
            <a:r>
              <a:rPr lang="en-IN" dirty="0">
                <a:solidFill>
                  <a:srgbClr val="FF0000"/>
                </a:solidFill>
                <a:effectLst/>
              </a:rPr>
              <a:t> data-bs-toggle</a:t>
            </a:r>
            <a:r>
              <a:rPr lang="en-IN" dirty="0">
                <a:solidFill>
                  <a:srgbClr val="0000CD"/>
                </a:solidFill>
                <a:effectLst/>
              </a:rPr>
              <a:t>="dropdown"&gt;</a:t>
            </a:r>
            <a:r>
              <a:rPr lang="en-IN" dirty="0"/>
              <a:t>Dropdown</a:t>
            </a:r>
            <a:r>
              <a:rPr lang="en-IN" dirty="0">
                <a:solidFill>
                  <a:srgbClr val="0000CD"/>
                </a:solidFill>
                <a:effectLst/>
              </a:rPr>
              <a:t>&lt;</a:t>
            </a:r>
            <a:r>
              <a:rPr lang="en-IN" dirty="0">
                <a:solidFill>
                  <a:srgbClr val="A52A2A"/>
                </a:solidFill>
                <a:effectLst/>
              </a:rPr>
              <a:t>/a</a:t>
            </a:r>
            <a:r>
              <a:rPr lang="en-IN" dirty="0">
                <a:solidFill>
                  <a:srgbClr val="0000CD"/>
                </a:solidFill>
                <a:effectLst/>
              </a:rPr>
              <a:t>&gt;</a:t>
            </a:r>
            <a:br>
              <a:rPr lang="en-IN" dirty="0"/>
            </a:br>
            <a:r>
              <a:rPr lang="en-IN" dirty="0"/>
              <a:t>  </a:t>
            </a:r>
            <a:r>
              <a:rPr lang="en-IN" dirty="0">
                <a:solidFill>
                  <a:srgbClr val="0000CD"/>
                </a:solidFill>
                <a:effectLst/>
              </a:rPr>
              <a:t>&lt;</a:t>
            </a:r>
            <a:r>
              <a:rPr lang="en-IN" dirty="0" err="1">
                <a:solidFill>
                  <a:srgbClr val="A52A2A"/>
                </a:solidFill>
                <a:effectLst/>
              </a:rPr>
              <a:t>ul</a:t>
            </a:r>
            <a:r>
              <a:rPr lang="en-IN" dirty="0">
                <a:solidFill>
                  <a:srgbClr val="FF0000"/>
                </a:solidFill>
                <a:effectLst/>
              </a:rPr>
              <a:t> class</a:t>
            </a:r>
            <a:r>
              <a:rPr lang="en-IN" dirty="0">
                <a:solidFill>
                  <a:srgbClr val="0000CD"/>
                </a:solidFill>
                <a:effectLst/>
              </a:rPr>
              <a:t>="dropdown-menu"&gt;</a:t>
            </a:r>
            <a:br>
              <a:rPr lang="en-IN" dirty="0"/>
            </a:br>
            <a:r>
              <a:rPr lang="en-IN" dirty="0"/>
              <a:t>    </a:t>
            </a:r>
            <a:r>
              <a:rPr lang="en-IN" dirty="0">
                <a:solidFill>
                  <a:srgbClr val="0000CD"/>
                </a:solidFill>
                <a:effectLst/>
              </a:rPr>
              <a:t>&lt;</a:t>
            </a:r>
            <a:r>
              <a:rPr lang="en-IN" dirty="0">
                <a:solidFill>
                  <a:srgbClr val="A52A2A"/>
                </a:solidFill>
                <a:effectLst/>
              </a:rPr>
              <a:t>li</a:t>
            </a:r>
            <a:r>
              <a:rPr lang="en-IN" dirty="0">
                <a:solidFill>
                  <a:srgbClr val="0000CD"/>
                </a:solidFill>
                <a:effectLst/>
              </a:rPr>
              <a:t>&gt;&lt;</a:t>
            </a:r>
            <a:r>
              <a:rPr lang="en-IN" dirty="0">
                <a:solidFill>
                  <a:srgbClr val="A52A2A"/>
                </a:solidFill>
                <a:effectLst/>
              </a:rPr>
              <a:t>a</a:t>
            </a:r>
            <a:r>
              <a:rPr lang="en-IN" dirty="0">
                <a:solidFill>
                  <a:srgbClr val="FF0000"/>
                </a:solidFill>
                <a:effectLst/>
              </a:rPr>
              <a:t> class</a:t>
            </a:r>
            <a:r>
              <a:rPr lang="en-IN" dirty="0">
                <a:solidFill>
                  <a:srgbClr val="0000CD"/>
                </a:solidFill>
                <a:effectLst/>
              </a:rPr>
              <a:t>="dropdown-item"</a:t>
            </a:r>
            <a:r>
              <a:rPr lang="en-IN" dirty="0">
                <a:solidFill>
                  <a:srgbClr val="FF0000"/>
                </a:solidFill>
                <a:effectLst/>
              </a:rPr>
              <a:t> </a:t>
            </a:r>
            <a:r>
              <a:rPr lang="en-IN" dirty="0" err="1">
                <a:solidFill>
                  <a:srgbClr val="FF0000"/>
                </a:solidFill>
                <a:effectLst/>
              </a:rPr>
              <a:t>href</a:t>
            </a:r>
            <a:r>
              <a:rPr lang="en-IN" dirty="0">
                <a:solidFill>
                  <a:srgbClr val="0000CD"/>
                </a:solidFill>
                <a:effectLst/>
              </a:rPr>
              <a:t>="#"&gt;</a:t>
            </a:r>
            <a:r>
              <a:rPr lang="en-IN" dirty="0"/>
              <a:t>Link</a:t>
            </a:r>
            <a:r>
              <a:rPr lang="en-IN" dirty="0">
                <a:solidFill>
                  <a:srgbClr val="0000CD"/>
                </a:solidFill>
                <a:effectLst/>
              </a:rPr>
              <a:t>&lt;</a:t>
            </a:r>
            <a:r>
              <a:rPr lang="en-IN" dirty="0">
                <a:solidFill>
                  <a:srgbClr val="A52A2A"/>
                </a:solidFill>
                <a:effectLst/>
              </a:rPr>
              <a:t>/a</a:t>
            </a:r>
            <a:r>
              <a:rPr lang="en-IN" dirty="0">
                <a:solidFill>
                  <a:srgbClr val="0000CD"/>
                </a:solidFill>
                <a:effectLst/>
              </a:rPr>
              <a:t>&gt;&lt;</a:t>
            </a:r>
            <a:r>
              <a:rPr lang="en-IN" dirty="0">
                <a:solidFill>
                  <a:srgbClr val="A52A2A"/>
                </a:solidFill>
                <a:effectLst/>
              </a:rPr>
              <a:t>/li</a:t>
            </a:r>
            <a:r>
              <a:rPr lang="en-IN" dirty="0">
                <a:solidFill>
                  <a:srgbClr val="0000CD"/>
                </a:solidFill>
                <a:effectLst/>
              </a:rPr>
              <a:t>&gt;</a:t>
            </a:r>
            <a:br>
              <a:rPr lang="en-IN" dirty="0"/>
            </a:br>
            <a:r>
              <a:rPr lang="en-IN" dirty="0"/>
              <a:t>    </a:t>
            </a:r>
            <a:r>
              <a:rPr lang="en-IN" dirty="0">
                <a:solidFill>
                  <a:srgbClr val="0000CD"/>
                </a:solidFill>
                <a:effectLst/>
              </a:rPr>
              <a:t>&lt;</a:t>
            </a:r>
            <a:r>
              <a:rPr lang="en-IN" dirty="0">
                <a:solidFill>
                  <a:srgbClr val="A52A2A"/>
                </a:solidFill>
                <a:effectLst/>
              </a:rPr>
              <a:t>li</a:t>
            </a:r>
            <a:r>
              <a:rPr lang="en-IN" dirty="0">
                <a:solidFill>
                  <a:srgbClr val="0000CD"/>
                </a:solidFill>
                <a:effectLst/>
              </a:rPr>
              <a:t>&gt;&lt;</a:t>
            </a:r>
            <a:r>
              <a:rPr lang="en-IN" dirty="0">
                <a:solidFill>
                  <a:srgbClr val="A52A2A"/>
                </a:solidFill>
                <a:effectLst/>
              </a:rPr>
              <a:t>a</a:t>
            </a:r>
            <a:r>
              <a:rPr lang="en-IN" dirty="0">
                <a:solidFill>
                  <a:srgbClr val="FF0000"/>
                </a:solidFill>
                <a:effectLst/>
              </a:rPr>
              <a:t> class</a:t>
            </a:r>
            <a:r>
              <a:rPr lang="en-IN" dirty="0">
                <a:solidFill>
                  <a:srgbClr val="0000CD"/>
                </a:solidFill>
                <a:effectLst/>
              </a:rPr>
              <a:t>="dropdown-item"</a:t>
            </a:r>
            <a:r>
              <a:rPr lang="en-IN" dirty="0">
                <a:solidFill>
                  <a:srgbClr val="FF0000"/>
                </a:solidFill>
                <a:effectLst/>
              </a:rPr>
              <a:t> </a:t>
            </a:r>
            <a:r>
              <a:rPr lang="en-IN" dirty="0" err="1">
                <a:solidFill>
                  <a:srgbClr val="FF0000"/>
                </a:solidFill>
                <a:effectLst/>
              </a:rPr>
              <a:t>href</a:t>
            </a:r>
            <a:r>
              <a:rPr lang="en-IN" dirty="0">
                <a:solidFill>
                  <a:srgbClr val="0000CD"/>
                </a:solidFill>
                <a:effectLst/>
              </a:rPr>
              <a:t>="#"&gt;</a:t>
            </a:r>
            <a:r>
              <a:rPr lang="en-IN" dirty="0"/>
              <a:t>Another link</a:t>
            </a:r>
            <a:r>
              <a:rPr lang="en-IN" dirty="0">
                <a:solidFill>
                  <a:srgbClr val="0000CD"/>
                </a:solidFill>
                <a:effectLst/>
              </a:rPr>
              <a:t>&lt;</a:t>
            </a:r>
            <a:r>
              <a:rPr lang="en-IN" dirty="0">
                <a:solidFill>
                  <a:srgbClr val="A52A2A"/>
                </a:solidFill>
                <a:effectLst/>
              </a:rPr>
              <a:t>/a</a:t>
            </a:r>
            <a:r>
              <a:rPr lang="en-IN" dirty="0">
                <a:solidFill>
                  <a:srgbClr val="0000CD"/>
                </a:solidFill>
                <a:effectLst/>
              </a:rPr>
              <a:t>&gt;&lt;</a:t>
            </a:r>
            <a:r>
              <a:rPr lang="en-IN" dirty="0">
                <a:solidFill>
                  <a:srgbClr val="A52A2A"/>
                </a:solidFill>
                <a:effectLst/>
              </a:rPr>
              <a:t>/li</a:t>
            </a:r>
            <a:r>
              <a:rPr lang="en-IN" dirty="0">
                <a:solidFill>
                  <a:srgbClr val="0000CD"/>
                </a:solidFill>
                <a:effectLst/>
              </a:rPr>
              <a:t>&gt;</a:t>
            </a:r>
            <a:br>
              <a:rPr lang="en-IN" dirty="0"/>
            </a:br>
            <a:r>
              <a:rPr lang="en-IN" dirty="0"/>
              <a:t>    </a:t>
            </a:r>
            <a:r>
              <a:rPr lang="en-IN" dirty="0">
                <a:solidFill>
                  <a:srgbClr val="0000CD"/>
                </a:solidFill>
                <a:effectLst/>
              </a:rPr>
              <a:t>&lt;</a:t>
            </a:r>
            <a:r>
              <a:rPr lang="en-IN" dirty="0">
                <a:solidFill>
                  <a:srgbClr val="A52A2A"/>
                </a:solidFill>
                <a:effectLst/>
              </a:rPr>
              <a:t>li</a:t>
            </a:r>
            <a:r>
              <a:rPr lang="en-IN" dirty="0">
                <a:solidFill>
                  <a:srgbClr val="0000CD"/>
                </a:solidFill>
                <a:effectLst/>
              </a:rPr>
              <a:t>&gt;&lt;</a:t>
            </a:r>
            <a:r>
              <a:rPr lang="en-IN" dirty="0">
                <a:solidFill>
                  <a:srgbClr val="A52A2A"/>
                </a:solidFill>
                <a:effectLst/>
              </a:rPr>
              <a:t>a</a:t>
            </a:r>
            <a:r>
              <a:rPr lang="en-IN" dirty="0">
                <a:solidFill>
                  <a:srgbClr val="FF0000"/>
                </a:solidFill>
                <a:effectLst/>
              </a:rPr>
              <a:t> class</a:t>
            </a:r>
            <a:r>
              <a:rPr lang="en-IN" dirty="0">
                <a:solidFill>
                  <a:srgbClr val="0000CD"/>
                </a:solidFill>
                <a:effectLst/>
              </a:rPr>
              <a:t>="dropdown-item"</a:t>
            </a:r>
            <a:r>
              <a:rPr lang="en-IN" dirty="0">
                <a:solidFill>
                  <a:srgbClr val="FF0000"/>
                </a:solidFill>
                <a:effectLst/>
              </a:rPr>
              <a:t> </a:t>
            </a:r>
            <a:r>
              <a:rPr lang="en-IN" dirty="0" err="1">
                <a:solidFill>
                  <a:srgbClr val="FF0000"/>
                </a:solidFill>
                <a:effectLst/>
              </a:rPr>
              <a:t>href</a:t>
            </a:r>
            <a:r>
              <a:rPr lang="en-IN" dirty="0">
                <a:solidFill>
                  <a:srgbClr val="0000CD"/>
                </a:solidFill>
                <a:effectLst/>
              </a:rPr>
              <a:t>="#"&gt;</a:t>
            </a:r>
            <a:r>
              <a:rPr lang="en-IN" dirty="0"/>
              <a:t>A third link</a:t>
            </a:r>
            <a:r>
              <a:rPr lang="en-IN" dirty="0">
                <a:solidFill>
                  <a:srgbClr val="0000CD"/>
                </a:solidFill>
                <a:effectLst/>
              </a:rPr>
              <a:t>&lt;</a:t>
            </a:r>
            <a:r>
              <a:rPr lang="en-IN" dirty="0">
                <a:solidFill>
                  <a:srgbClr val="A52A2A"/>
                </a:solidFill>
                <a:effectLst/>
              </a:rPr>
              <a:t>/a</a:t>
            </a:r>
            <a:r>
              <a:rPr lang="en-IN" dirty="0">
                <a:solidFill>
                  <a:srgbClr val="0000CD"/>
                </a:solidFill>
                <a:effectLst/>
              </a:rPr>
              <a:t>&gt;&lt;</a:t>
            </a:r>
            <a:r>
              <a:rPr lang="en-IN" dirty="0">
                <a:solidFill>
                  <a:srgbClr val="A52A2A"/>
                </a:solidFill>
                <a:effectLst/>
              </a:rPr>
              <a:t>/li</a:t>
            </a:r>
            <a:r>
              <a:rPr lang="en-IN" dirty="0">
                <a:solidFill>
                  <a:srgbClr val="0000CD"/>
                </a:solidFill>
                <a:effectLst/>
              </a:rPr>
              <a:t>&gt;</a:t>
            </a:r>
            <a:br>
              <a:rPr lang="en-IN" dirty="0"/>
            </a:br>
            <a:r>
              <a:rPr lang="en-IN" dirty="0"/>
              <a:t>  </a:t>
            </a:r>
            <a:r>
              <a:rPr lang="en-IN" dirty="0">
                <a:solidFill>
                  <a:srgbClr val="0000CD"/>
                </a:solidFill>
                <a:effectLst/>
              </a:rPr>
              <a:t>&lt;</a:t>
            </a:r>
            <a:r>
              <a:rPr lang="en-IN" dirty="0">
                <a:solidFill>
                  <a:srgbClr val="A52A2A"/>
                </a:solidFill>
                <a:effectLst/>
              </a:rPr>
              <a:t>/</a:t>
            </a:r>
            <a:r>
              <a:rPr lang="en-IN" dirty="0" err="1">
                <a:solidFill>
                  <a:srgbClr val="A52A2A"/>
                </a:solidFill>
                <a:effectLst/>
              </a:rPr>
              <a:t>ul</a:t>
            </a:r>
            <a:r>
              <a:rPr lang="en-IN" dirty="0">
                <a:solidFill>
                  <a:srgbClr val="0000CD"/>
                </a:solidFill>
                <a:effectLst/>
              </a:rPr>
              <a:t>&gt;</a:t>
            </a:r>
            <a:br>
              <a:rPr lang="en-IN" dirty="0"/>
            </a:br>
            <a:r>
              <a:rPr lang="en-IN" dirty="0">
                <a:solidFill>
                  <a:srgbClr val="0000CD"/>
                </a:solidFill>
                <a:effectLst/>
              </a:rPr>
              <a:t>&lt;</a:t>
            </a:r>
            <a:r>
              <a:rPr lang="en-IN" dirty="0">
                <a:solidFill>
                  <a:srgbClr val="A52A2A"/>
                </a:solidFill>
                <a:effectLst/>
              </a:rPr>
              <a:t>/li</a:t>
            </a:r>
            <a:r>
              <a:rPr lang="en-IN" dirty="0">
                <a:solidFill>
                  <a:srgbClr val="0000CD"/>
                </a:solidFill>
                <a:effectLst/>
              </a:rPr>
              <a:t>&gt;</a:t>
            </a:r>
            <a:r>
              <a:rPr lang="en-IN" dirty="0"/>
              <a:t> </a:t>
            </a:r>
          </a:p>
          <a:p>
            <a:endParaRPr lang="en-IN" dirty="0"/>
          </a:p>
        </p:txBody>
      </p:sp>
    </p:spTree>
    <p:extLst>
      <p:ext uri="{BB962C8B-B14F-4D97-AF65-F5344CB8AC3E}">
        <p14:creationId xmlns:p14="http://schemas.microsoft.com/office/powerpoint/2010/main" val="59046585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338D6-4E70-EE6F-2CEE-EC0400E41597}"/>
              </a:ext>
            </a:extLst>
          </p:cNvPr>
          <p:cNvSpPr>
            <a:spLocks noGrp="1"/>
          </p:cNvSpPr>
          <p:nvPr>
            <p:ph type="title"/>
          </p:nvPr>
        </p:nvSpPr>
        <p:spPr/>
        <p:txBody>
          <a:bodyPr/>
          <a:lstStyle/>
          <a:p>
            <a:r>
              <a:rPr lang="en-IN" b="1" dirty="0"/>
              <a:t>Fixed Navigation Bar</a:t>
            </a:r>
            <a:br>
              <a:rPr lang="en-IN" b="1" dirty="0"/>
            </a:br>
            <a:endParaRPr lang="en-IN" dirty="0"/>
          </a:p>
        </p:txBody>
      </p:sp>
      <p:sp>
        <p:nvSpPr>
          <p:cNvPr id="3" name="Content Placeholder 2">
            <a:extLst>
              <a:ext uri="{FF2B5EF4-FFF2-40B4-BE49-F238E27FC236}">
                <a16:creationId xmlns:a16="http://schemas.microsoft.com/office/drawing/2014/main" id="{EFC18326-82F1-B144-611D-5D55187CA28C}"/>
              </a:ext>
            </a:extLst>
          </p:cNvPr>
          <p:cNvSpPr>
            <a:spLocks noGrp="1"/>
          </p:cNvSpPr>
          <p:nvPr>
            <p:ph idx="1"/>
          </p:nvPr>
        </p:nvSpPr>
        <p:spPr/>
        <p:txBody>
          <a:bodyPr/>
          <a:lstStyle/>
          <a:p>
            <a:r>
              <a:rPr lang="en-US" dirty="0"/>
              <a:t>The navigation bar can also be fixed at the top or at the bottom of the page.</a:t>
            </a:r>
          </a:p>
          <a:p>
            <a:endParaRPr lang="en-US" dirty="0"/>
          </a:p>
          <a:p>
            <a:r>
              <a:rPr lang="en-US" dirty="0"/>
              <a:t>A fixed navigation bar stays visible in a fixed position (top or bottom) independent of the page scroll.</a:t>
            </a:r>
          </a:p>
          <a:p>
            <a:endParaRPr lang="en-US" dirty="0"/>
          </a:p>
          <a:p>
            <a:r>
              <a:rPr lang="en-US" dirty="0"/>
              <a:t>The </a:t>
            </a:r>
            <a:r>
              <a:rPr lang="en-US" b="1" dirty="0"/>
              <a:t>.fixed-top </a:t>
            </a:r>
            <a:r>
              <a:rPr lang="en-US" dirty="0"/>
              <a:t>class makes the navigation bar fixed at the top:</a:t>
            </a:r>
            <a:endParaRPr lang="en-IN" dirty="0"/>
          </a:p>
        </p:txBody>
      </p:sp>
    </p:spTree>
    <p:extLst>
      <p:ext uri="{BB962C8B-B14F-4D97-AF65-F5344CB8AC3E}">
        <p14:creationId xmlns:p14="http://schemas.microsoft.com/office/powerpoint/2010/main" val="114739396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E1A26-78DB-1D33-32D7-DCE7EA9A99E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96D74FC-5695-771E-18EC-11C16180E994}"/>
              </a:ext>
            </a:extLst>
          </p:cNvPr>
          <p:cNvSpPr>
            <a:spLocks noGrp="1"/>
          </p:cNvSpPr>
          <p:nvPr>
            <p:ph idx="1"/>
          </p:nvPr>
        </p:nvSpPr>
        <p:spPr/>
        <p:txBody>
          <a:bodyPr/>
          <a:lstStyle/>
          <a:p>
            <a:r>
              <a:rPr lang="en-IN" dirty="0">
                <a:solidFill>
                  <a:srgbClr val="0000CD"/>
                </a:solidFill>
                <a:effectLst/>
              </a:rPr>
              <a:t>&lt;</a:t>
            </a:r>
            <a:r>
              <a:rPr lang="en-IN" dirty="0">
                <a:solidFill>
                  <a:srgbClr val="A52A2A"/>
                </a:solidFill>
                <a:effectLst/>
              </a:rPr>
              <a:t>nav</a:t>
            </a:r>
            <a:r>
              <a:rPr lang="en-IN" dirty="0">
                <a:solidFill>
                  <a:srgbClr val="FF0000"/>
                </a:solidFill>
                <a:effectLst/>
              </a:rPr>
              <a:t> class</a:t>
            </a:r>
            <a:r>
              <a:rPr lang="en-IN" dirty="0">
                <a:solidFill>
                  <a:srgbClr val="0000CD"/>
                </a:solidFill>
                <a:effectLst/>
              </a:rPr>
              <a:t>="navbar navbar-expand-</a:t>
            </a:r>
            <a:r>
              <a:rPr lang="en-IN" dirty="0" err="1">
                <a:solidFill>
                  <a:srgbClr val="0000CD"/>
                </a:solidFill>
                <a:effectLst/>
              </a:rPr>
              <a:t>sm</a:t>
            </a:r>
            <a:r>
              <a:rPr lang="en-IN" dirty="0">
                <a:solidFill>
                  <a:srgbClr val="0000CD"/>
                </a:solidFill>
                <a:effectLst/>
              </a:rPr>
              <a:t> </a:t>
            </a:r>
            <a:r>
              <a:rPr lang="en-IN" dirty="0" err="1">
                <a:solidFill>
                  <a:srgbClr val="0000CD"/>
                </a:solidFill>
                <a:effectLst/>
              </a:rPr>
              <a:t>bg</a:t>
            </a:r>
            <a:r>
              <a:rPr lang="en-IN" dirty="0">
                <a:solidFill>
                  <a:srgbClr val="0000CD"/>
                </a:solidFill>
                <a:effectLst/>
              </a:rPr>
              <a:t>-dark navbar-dark fixed-top"&gt;</a:t>
            </a:r>
            <a:br>
              <a:rPr lang="en-IN" dirty="0"/>
            </a:br>
            <a:r>
              <a:rPr lang="en-IN" dirty="0"/>
              <a:t>  ...</a:t>
            </a:r>
            <a:br>
              <a:rPr lang="en-IN" dirty="0"/>
            </a:br>
            <a:r>
              <a:rPr lang="en-IN" dirty="0">
                <a:solidFill>
                  <a:srgbClr val="0000CD"/>
                </a:solidFill>
                <a:effectLst/>
              </a:rPr>
              <a:t>&lt;</a:t>
            </a:r>
            <a:r>
              <a:rPr lang="en-IN" dirty="0">
                <a:solidFill>
                  <a:srgbClr val="A52A2A"/>
                </a:solidFill>
                <a:effectLst/>
              </a:rPr>
              <a:t>/nav</a:t>
            </a:r>
            <a:r>
              <a:rPr lang="en-IN" dirty="0">
                <a:solidFill>
                  <a:srgbClr val="0000CD"/>
                </a:solidFill>
                <a:effectLst/>
              </a:rPr>
              <a:t>&gt;</a:t>
            </a:r>
            <a:r>
              <a:rPr lang="en-IN" dirty="0"/>
              <a:t> </a:t>
            </a:r>
          </a:p>
          <a:p>
            <a:r>
              <a:rPr lang="en-US" dirty="0"/>
              <a:t>Use the </a:t>
            </a:r>
            <a:r>
              <a:rPr lang="en-US" b="1" dirty="0"/>
              <a:t>.fixed-bottom </a:t>
            </a:r>
            <a:r>
              <a:rPr lang="en-US" dirty="0"/>
              <a:t>class to make the navbar stay at the bottom of the page:</a:t>
            </a:r>
          </a:p>
          <a:p>
            <a:r>
              <a:rPr lang="en-IN" dirty="0">
                <a:solidFill>
                  <a:srgbClr val="0000CD"/>
                </a:solidFill>
                <a:effectLst/>
              </a:rPr>
              <a:t>&lt;</a:t>
            </a:r>
            <a:r>
              <a:rPr lang="en-IN" dirty="0">
                <a:solidFill>
                  <a:srgbClr val="A52A2A"/>
                </a:solidFill>
                <a:effectLst/>
              </a:rPr>
              <a:t>nav</a:t>
            </a:r>
            <a:r>
              <a:rPr lang="en-IN" dirty="0">
                <a:solidFill>
                  <a:srgbClr val="FF0000"/>
                </a:solidFill>
                <a:effectLst/>
              </a:rPr>
              <a:t> class</a:t>
            </a:r>
            <a:r>
              <a:rPr lang="en-IN" dirty="0">
                <a:solidFill>
                  <a:srgbClr val="0000CD"/>
                </a:solidFill>
                <a:effectLst/>
              </a:rPr>
              <a:t>="navbar navbar-expand-</a:t>
            </a:r>
            <a:r>
              <a:rPr lang="en-IN" dirty="0" err="1">
                <a:solidFill>
                  <a:srgbClr val="0000CD"/>
                </a:solidFill>
                <a:effectLst/>
              </a:rPr>
              <a:t>sm</a:t>
            </a:r>
            <a:r>
              <a:rPr lang="en-IN" dirty="0">
                <a:solidFill>
                  <a:srgbClr val="0000CD"/>
                </a:solidFill>
                <a:effectLst/>
              </a:rPr>
              <a:t> </a:t>
            </a:r>
            <a:r>
              <a:rPr lang="en-IN" dirty="0" err="1">
                <a:solidFill>
                  <a:srgbClr val="0000CD"/>
                </a:solidFill>
                <a:effectLst/>
              </a:rPr>
              <a:t>bg</a:t>
            </a:r>
            <a:r>
              <a:rPr lang="en-IN" dirty="0">
                <a:solidFill>
                  <a:srgbClr val="0000CD"/>
                </a:solidFill>
                <a:effectLst/>
              </a:rPr>
              <a:t>-dark navbar-dark fixed-bottom"&gt;</a:t>
            </a:r>
            <a:br>
              <a:rPr lang="en-IN" dirty="0"/>
            </a:br>
            <a:r>
              <a:rPr lang="en-IN" dirty="0"/>
              <a:t>  ...</a:t>
            </a:r>
            <a:br>
              <a:rPr lang="en-IN" dirty="0"/>
            </a:br>
            <a:r>
              <a:rPr lang="en-IN" dirty="0">
                <a:solidFill>
                  <a:srgbClr val="0000CD"/>
                </a:solidFill>
                <a:effectLst/>
              </a:rPr>
              <a:t>&lt;</a:t>
            </a:r>
            <a:r>
              <a:rPr lang="en-IN" dirty="0">
                <a:solidFill>
                  <a:srgbClr val="A52A2A"/>
                </a:solidFill>
                <a:effectLst/>
              </a:rPr>
              <a:t>/nav</a:t>
            </a:r>
            <a:r>
              <a:rPr lang="en-IN" dirty="0">
                <a:solidFill>
                  <a:srgbClr val="0000CD"/>
                </a:solidFill>
                <a:effectLst/>
              </a:rPr>
              <a:t>&gt;</a:t>
            </a:r>
            <a:r>
              <a:rPr lang="en-IN" dirty="0"/>
              <a:t> </a:t>
            </a:r>
          </a:p>
          <a:p>
            <a:endParaRPr lang="en-IN" dirty="0"/>
          </a:p>
        </p:txBody>
      </p:sp>
    </p:spTree>
    <p:extLst>
      <p:ext uri="{BB962C8B-B14F-4D97-AF65-F5344CB8AC3E}">
        <p14:creationId xmlns:p14="http://schemas.microsoft.com/office/powerpoint/2010/main" val="383945763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31C63E-E8F7-EF30-4427-BE02F3E5D9D3}"/>
              </a:ext>
            </a:extLst>
          </p:cNvPr>
          <p:cNvSpPr>
            <a:spLocks noGrp="1"/>
          </p:cNvSpPr>
          <p:nvPr>
            <p:ph type="title"/>
          </p:nvPr>
        </p:nvSpPr>
        <p:spPr/>
        <p:txBody>
          <a:bodyPr/>
          <a:lstStyle/>
          <a:p>
            <a:r>
              <a:rPr lang="en-IN" b="1" dirty="0"/>
              <a:t>Sticky Navbar</a:t>
            </a:r>
            <a:br>
              <a:rPr lang="en-IN" b="1" dirty="0"/>
            </a:br>
            <a:endParaRPr lang="en-IN" dirty="0"/>
          </a:p>
        </p:txBody>
      </p:sp>
      <p:sp>
        <p:nvSpPr>
          <p:cNvPr id="3" name="Content Placeholder 2">
            <a:extLst>
              <a:ext uri="{FF2B5EF4-FFF2-40B4-BE49-F238E27FC236}">
                <a16:creationId xmlns:a16="http://schemas.microsoft.com/office/drawing/2014/main" id="{1A32BAEE-396C-86B4-9947-AED0EB4FC183}"/>
              </a:ext>
            </a:extLst>
          </p:cNvPr>
          <p:cNvSpPr>
            <a:spLocks noGrp="1"/>
          </p:cNvSpPr>
          <p:nvPr>
            <p:ph idx="1"/>
          </p:nvPr>
        </p:nvSpPr>
        <p:spPr/>
        <p:txBody>
          <a:bodyPr/>
          <a:lstStyle/>
          <a:p>
            <a:r>
              <a:rPr lang="en-US" dirty="0"/>
              <a:t>Use the </a:t>
            </a:r>
            <a:r>
              <a:rPr lang="en-US" b="1" dirty="0"/>
              <a:t>.sticky-top </a:t>
            </a:r>
            <a:r>
              <a:rPr lang="en-US" dirty="0"/>
              <a:t>class to make the navbar fixed/stay at the top of the page when you scroll past it. Note: This class does not work in IE11 and earlier</a:t>
            </a:r>
          </a:p>
          <a:p>
            <a:r>
              <a:rPr lang="en-IN" dirty="0">
                <a:solidFill>
                  <a:srgbClr val="0000CD"/>
                </a:solidFill>
                <a:effectLst/>
              </a:rPr>
              <a:t>&lt;</a:t>
            </a:r>
            <a:r>
              <a:rPr lang="en-IN" dirty="0">
                <a:solidFill>
                  <a:srgbClr val="A52A2A"/>
                </a:solidFill>
                <a:effectLst/>
              </a:rPr>
              <a:t>nav</a:t>
            </a:r>
            <a:r>
              <a:rPr lang="en-IN" dirty="0">
                <a:solidFill>
                  <a:srgbClr val="FF0000"/>
                </a:solidFill>
                <a:effectLst/>
              </a:rPr>
              <a:t> class</a:t>
            </a:r>
            <a:r>
              <a:rPr lang="en-IN" dirty="0">
                <a:solidFill>
                  <a:srgbClr val="0000CD"/>
                </a:solidFill>
                <a:effectLst/>
              </a:rPr>
              <a:t>="navbar navbar-expand-</a:t>
            </a:r>
            <a:r>
              <a:rPr lang="en-IN" dirty="0" err="1">
                <a:solidFill>
                  <a:srgbClr val="0000CD"/>
                </a:solidFill>
                <a:effectLst/>
              </a:rPr>
              <a:t>sm</a:t>
            </a:r>
            <a:r>
              <a:rPr lang="en-IN" dirty="0">
                <a:solidFill>
                  <a:srgbClr val="0000CD"/>
                </a:solidFill>
                <a:effectLst/>
              </a:rPr>
              <a:t> </a:t>
            </a:r>
            <a:r>
              <a:rPr lang="en-IN" dirty="0" err="1">
                <a:solidFill>
                  <a:srgbClr val="0000CD"/>
                </a:solidFill>
                <a:effectLst/>
              </a:rPr>
              <a:t>bg</a:t>
            </a:r>
            <a:r>
              <a:rPr lang="en-IN" dirty="0">
                <a:solidFill>
                  <a:srgbClr val="0000CD"/>
                </a:solidFill>
                <a:effectLst/>
              </a:rPr>
              <a:t>-dark navbar-dark sticky-top"&gt;</a:t>
            </a:r>
            <a:br>
              <a:rPr lang="en-IN" dirty="0"/>
            </a:br>
            <a:r>
              <a:rPr lang="en-IN" dirty="0"/>
              <a:t>  ...</a:t>
            </a:r>
            <a:br>
              <a:rPr lang="en-IN" dirty="0"/>
            </a:br>
            <a:r>
              <a:rPr lang="en-IN" dirty="0">
                <a:solidFill>
                  <a:srgbClr val="0000CD"/>
                </a:solidFill>
                <a:effectLst/>
              </a:rPr>
              <a:t>&lt;</a:t>
            </a:r>
            <a:r>
              <a:rPr lang="en-IN" dirty="0">
                <a:solidFill>
                  <a:srgbClr val="A52A2A"/>
                </a:solidFill>
                <a:effectLst/>
              </a:rPr>
              <a:t>/nav</a:t>
            </a:r>
            <a:r>
              <a:rPr lang="en-IN" dirty="0">
                <a:solidFill>
                  <a:srgbClr val="0000CD"/>
                </a:solidFill>
                <a:effectLst/>
              </a:rPr>
              <a:t>&gt;</a:t>
            </a:r>
            <a:r>
              <a:rPr lang="en-IN" dirty="0"/>
              <a:t> </a:t>
            </a:r>
          </a:p>
          <a:p>
            <a:endParaRPr lang="en-IN" dirty="0"/>
          </a:p>
        </p:txBody>
      </p:sp>
    </p:spTree>
    <p:extLst>
      <p:ext uri="{BB962C8B-B14F-4D97-AF65-F5344CB8AC3E}">
        <p14:creationId xmlns:p14="http://schemas.microsoft.com/office/powerpoint/2010/main" val="404479994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4A3DD-08FB-E65B-8C9A-B95BFF21A9C4}"/>
              </a:ext>
            </a:extLst>
          </p:cNvPr>
          <p:cNvSpPr>
            <a:spLocks noGrp="1"/>
          </p:cNvSpPr>
          <p:nvPr>
            <p:ph type="title"/>
          </p:nvPr>
        </p:nvSpPr>
        <p:spPr/>
        <p:txBody>
          <a:bodyPr/>
          <a:lstStyle/>
          <a:p>
            <a:r>
              <a:rPr lang="en-IN" b="1" dirty="0"/>
              <a:t>Scrolling</a:t>
            </a:r>
            <a:br>
              <a:rPr lang="en-IN" b="1" dirty="0"/>
            </a:br>
            <a:endParaRPr lang="en-IN" dirty="0"/>
          </a:p>
        </p:txBody>
      </p:sp>
      <p:sp>
        <p:nvSpPr>
          <p:cNvPr id="3" name="Content Placeholder 2">
            <a:extLst>
              <a:ext uri="{FF2B5EF4-FFF2-40B4-BE49-F238E27FC236}">
                <a16:creationId xmlns:a16="http://schemas.microsoft.com/office/drawing/2014/main" id="{0AC42CAF-6CD4-2B04-A0D8-852B31914C25}"/>
              </a:ext>
            </a:extLst>
          </p:cNvPr>
          <p:cNvSpPr>
            <a:spLocks noGrp="1"/>
          </p:cNvSpPr>
          <p:nvPr>
            <p:ph idx="1"/>
          </p:nvPr>
        </p:nvSpPr>
        <p:spPr/>
        <p:txBody>
          <a:bodyPr/>
          <a:lstStyle/>
          <a:p>
            <a:r>
              <a:rPr lang="en-US" dirty="0"/>
              <a:t>Add </a:t>
            </a:r>
            <a:r>
              <a:rPr lang="en-US" b="1" dirty="0"/>
              <a:t>.navbar-nav-scroll </a:t>
            </a:r>
            <a:r>
              <a:rPr lang="en-US" dirty="0"/>
              <a:t>to a </a:t>
            </a:r>
            <a:r>
              <a:rPr lang="en-US" b="1" dirty="0"/>
              <a:t>.navbar-nav </a:t>
            </a:r>
            <a:r>
              <a:rPr lang="en-US" dirty="0"/>
              <a:t>(or other navbar sub-component) to enable vertical scrolling within the toggleable contents of a collapsed navbar</a:t>
            </a:r>
            <a:endParaRPr lang="en-IN" dirty="0"/>
          </a:p>
        </p:txBody>
      </p:sp>
    </p:spTree>
    <p:extLst>
      <p:ext uri="{BB962C8B-B14F-4D97-AF65-F5344CB8AC3E}">
        <p14:creationId xmlns:p14="http://schemas.microsoft.com/office/powerpoint/2010/main" val="146071615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AAD4D-6D08-56E7-C34E-8A17ACFBAF50}"/>
              </a:ext>
            </a:extLst>
          </p:cNvPr>
          <p:cNvSpPr>
            <a:spLocks noGrp="1"/>
          </p:cNvSpPr>
          <p:nvPr>
            <p:ph type="title"/>
          </p:nvPr>
        </p:nvSpPr>
        <p:spPr/>
        <p:txBody>
          <a:bodyPr/>
          <a:lstStyle/>
          <a:p>
            <a:r>
              <a:rPr lang="en-IN" b="1" dirty="0"/>
              <a:t>How it works</a:t>
            </a:r>
            <a:br>
              <a:rPr lang="en-IN" b="1" dirty="0"/>
            </a:br>
            <a:endParaRPr lang="en-IN" dirty="0"/>
          </a:p>
        </p:txBody>
      </p:sp>
      <p:sp>
        <p:nvSpPr>
          <p:cNvPr id="3" name="Content Placeholder 2">
            <a:extLst>
              <a:ext uri="{FF2B5EF4-FFF2-40B4-BE49-F238E27FC236}">
                <a16:creationId xmlns:a16="http://schemas.microsoft.com/office/drawing/2014/main" id="{0752AB94-C7D4-5610-0B6B-DD6752148D46}"/>
              </a:ext>
            </a:extLst>
          </p:cNvPr>
          <p:cNvSpPr>
            <a:spLocks noGrp="1"/>
          </p:cNvSpPr>
          <p:nvPr>
            <p:ph idx="1"/>
          </p:nvPr>
        </p:nvSpPr>
        <p:spPr/>
        <p:txBody>
          <a:bodyPr>
            <a:normAutofit fontScale="77500" lnSpcReduction="20000"/>
          </a:bodyPr>
          <a:lstStyle/>
          <a:p>
            <a:endParaRPr lang="en-US" dirty="0"/>
          </a:p>
          <a:p>
            <a:r>
              <a:rPr lang="en-US" dirty="0"/>
              <a:t> Navbars require a wrapping </a:t>
            </a:r>
            <a:r>
              <a:rPr lang="en-US" b="1" dirty="0"/>
              <a:t>.navbar</a:t>
            </a:r>
            <a:r>
              <a:rPr lang="en-US" dirty="0"/>
              <a:t> with </a:t>
            </a:r>
            <a:r>
              <a:rPr lang="en-US" b="1" dirty="0"/>
              <a:t>.navbar-expand{-</a:t>
            </a:r>
            <a:r>
              <a:rPr lang="en-US" b="1" dirty="0" err="1"/>
              <a:t>sm</a:t>
            </a:r>
            <a:r>
              <a:rPr lang="en-US" b="1" dirty="0"/>
              <a:t>|-md|-lg|-xl|-</a:t>
            </a:r>
            <a:r>
              <a:rPr lang="en-US" b="1" dirty="0" err="1"/>
              <a:t>xxl</a:t>
            </a:r>
            <a:r>
              <a:rPr lang="en-US" b="1" dirty="0"/>
              <a:t>} </a:t>
            </a:r>
            <a:r>
              <a:rPr lang="en-US" dirty="0"/>
              <a:t>for responsive collapsing and color scheme classes.</a:t>
            </a:r>
          </a:p>
          <a:p>
            <a:r>
              <a:rPr lang="en-US" dirty="0"/>
              <a:t> Navbars and their contents are fluid by default. Change the container to limit their horizontal width in different ways.</a:t>
            </a:r>
          </a:p>
          <a:p>
            <a:r>
              <a:rPr lang="en-US" dirty="0"/>
              <a:t>Use our spacing and flex utility classes for controlling spacing and alignment within navbars.</a:t>
            </a:r>
          </a:p>
          <a:p>
            <a:r>
              <a:rPr lang="en-US" dirty="0"/>
              <a:t>  Navbars are responsive by default, but you can easily modify them to change that. </a:t>
            </a:r>
          </a:p>
          <a:p>
            <a:r>
              <a:rPr lang="en-US" dirty="0"/>
              <a:t>Ensure accessibility by using a &lt;nav&gt; element or, if using a more generic element such as a &lt;div&gt;, add a </a:t>
            </a:r>
            <a:r>
              <a:rPr lang="en-US" b="1" dirty="0"/>
              <a:t>role="navigation</a:t>
            </a:r>
            <a:r>
              <a:rPr lang="en-US" dirty="0"/>
              <a:t>" to every navbar to explicitly identify it as a landmark region for users of assistive technologies.</a:t>
            </a:r>
          </a:p>
          <a:p>
            <a:r>
              <a:rPr lang="en-US" dirty="0"/>
              <a:t>    Indicate the current item by </a:t>
            </a:r>
            <a:r>
              <a:rPr lang="en-US" b="1" dirty="0"/>
              <a:t>using aria-current="page" for the current pag</a:t>
            </a:r>
            <a:r>
              <a:rPr lang="en-US" dirty="0"/>
              <a:t>e or </a:t>
            </a:r>
            <a:r>
              <a:rPr lang="en-US" b="1" dirty="0"/>
              <a:t>aria-current="true" for the current item in a set.</a:t>
            </a:r>
          </a:p>
          <a:p>
            <a:r>
              <a:rPr lang="en-US" dirty="0"/>
              <a:t>You should also add the aria-current attribute on the active .nav-link.</a:t>
            </a:r>
            <a:endParaRPr lang="en-IN" dirty="0"/>
          </a:p>
          <a:p>
            <a:endParaRPr lang="en-IN" dirty="0"/>
          </a:p>
        </p:txBody>
      </p:sp>
    </p:spTree>
    <p:extLst>
      <p:ext uri="{BB962C8B-B14F-4D97-AF65-F5344CB8AC3E}">
        <p14:creationId xmlns:p14="http://schemas.microsoft.com/office/powerpoint/2010/main" val="413458147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EB014-93C7-538E-8AB5-CDCEAE1CF87E}"/>
              </a:ext>
            </a:extLst>
          </p:cNvPr>
          <p:cNvSpPr>
            <a:spLocks noGrp="1"/>
          </p:cNvSpPr>
          <p:nvPr>
            <p:ph type="title"/>
          </p:nvPr>
        </p:nvSpPr>
        <p:spPr/>
        <p:txBody>
          <a:bodyPr/>
          <a:lstStyle/>
          <a:p>
            <a:r>
              <a:rPr lang="en-IN" b="1" dirty="0"/>
              <a:t>Pagination</a:t>
            </a:r>
            <a:br>
              <a:rPr lang="en-IN" b="1" dirty="0"/>
            </a:br>
            <a:endParaRPr lang="en-IN" dirty="0"/>
          </a:p>
        </p:txBody>
      </p:sp>
      <p:sp>
        <p:nvSpPr>
          <p:cNvPr id="3" name="Content Placeholder 2">
            <a:extLst>
              <a:ext uri="{FF2B5EF4-FFF2-40B4-BE49-F238E27FC236}">
                <a16:creationId xmlns:a16="http://schemas.microsoft.com/office/drawing/2014/main" id="{CB4C0420-41E1-8920-9A83-E6E91B1374CB}"/>
              </a:ext>
            </a:extLst>
          </p:cNvPr>
          <p:cNvSpPr>
            <a:spLocks noGrp="1"/>
          </p:cNvSpPr>
          <p:nvPr>
            <p:ph idx="1"/>
          </p:nvPr>
        </p:nvSpPr>
        <p:spPr/>
        <p:txBody>
          <a:bodyPr/>
          <a:lstStyle/>
          <a:p>
            <a:r>
              <a:rPr lang="en-US" dirty="0"/>
              <a:t>If you have a web site with lots of pages, you may wish to add some sort of pagination to each page.</a:t>
            </a:r>
          </a:p>
          <a:p>
            <a:r>
              <a:rPr lang="en-US" dirty="0"/>
              <a:t>A basic pagination in Bootstrap looks like this:</a:t>
            </a:r>
          </a:p>
          <a:p>
            <a:endParaRPr lang="en-US" dirty="0"/>
          </a:p>
          <a:p>
            <a:endParaRPr lang="en-US" dirty="0"/>
          </a:p>
          <a:p>
            <a:endParaRPr lang="en-US" dirty="0"/>
          </a:p>
          <a:p>
            <a:r>
              <a:rPr lang="en-US" dirty="0"/>
              <a:t>To create a basic pagination, add the .pagination class to an &lt;</a:t>
            </a:r>
            <a:r>
              <a:rPr lang="en-US" dirty="0" err="1"/>
              <a:t>ul</a:t>
            </a:r>
            <a:r>
              <a:rPr lang="en-US" dirty="0"/>
              <a:t>&gt; element:</a:t>
            </a:r>
            <a:endParaRPr lang="en-IN" dirty="0"/>
          </a:p>
        </p:txBody>
      </p:sp>
      <p:pic>
        <p:nvPicPr>
          <p:cNvPr id="5" name="Picture 4">
            <a:extLst>
              <a:ext uri="{FF2B5EF4-FFF2-40B4-BE49-F238E27FC236}">
                <a16:creationId xmlns:a16="http://schemas.microsoft.com/office/drawing/2014/main" id="{60491784-ABA1-FD27-8C0A-C4C0E5F842AB}"/>
              </a:ext>
            </a:extLst>
          </p:cNvPr>
          <p:cNvPicPr>
            <a:picLocks noChangeAspect="1"/>
          </p:cNvPicPr>
          <p:nvPr/>
        </p:nvPicPr>
        <p:blipFill>
          <a:blip r:embed="rId2"/>
          <a:stretch>
            <a:fillRect/>
          </a:stretch>
        </p:blipFill>
        <p:spPr>
          <a:xfrm>
            <a:off x="2507038" y="3077240"/>
            <a:ext cx="2448267" cy="924054"/>
          </a:xfrm>
          <a:prstGeom prst="rect">
            <a:avLst/>
          </a:prstGeom>
        </p:spPr>
      </p:pic>
    </p:spTree>
    <p:extLst>
      <p:ext uri="{BB962C8B-B14F-4D97-AF65-F5344CB8AC3E}">
        <p14:creationId xmlns:p14="http://schemas.microsoft.com/office/powerpoint/2010/main" val="84468315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88C78C-F907-B7D5-50C3-9ACAE99498B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C97741D-ED69-B5B2-B47F-132814D1645D}"/>
              </a:ext>
            </a:extLst>
          </p:cNvPr>
          <p:cNvSpPr>
            <a:spLocks noGrp="1"/>
          </p:cNvSpPr>
          <p:nvPr>
            <p:ph idx="1"/>
          </p:nvPr>
        </p:nvSpPr>
        <p:spPr/>
        <p:txBody>
          <a:bodyPr/>
          <a:lstStyle/>
          <a:p>
            <a:pPr marL="0" indent="0">
              <a:buNone/>
            </a:pPr>
            <a:r>
              <a:rPr lang="en-IN" dirty="0">
                <a:solidFill>
                  <a:srgbClr val="FF0000"/>
                </a:solidFill>
              </a:rPr>
              <a:t>&lt;</a:t>
            </a:r>
            <a:r>
              <a:rPr lang="en-IN" dirty="0" err="1">
                <a:solidFill>
                  <a:srgbClr val="FF0000"/>
                </a:solidFill>
              </a:rPr>
              <a:t>ul</a:t>
            </a:r>
            <a:r>
              <a:rPr lang="en-IN" dirty="0">
                <a:solidFill>
                  <a:srgbClr val="FF0000"/>
                </a:solidFill>
              </a:rPr>
              <a:t> class="pagination"&gt;</a:t>
            </a:r>
          </a:p>
          <a:p>
            <a:pPr marL="0" indent="0">
              <a:buNone/>
            </a:pPr>
            <a:r>
              <a:rPr lang="en-IN" dirty="0">
                <a:solidFill>
                  <a:srgbClr val="FF0000"/>
                </a:solidFill>
              </a:rPr>
              <a:t>    &lt;li class="page-item"&gt;&lt;a class="page-link" </a:t>
            </a:r>
            <a:r>
              <a:rPr lang="en-IN" dirty="0" err="1">
                <a:solidFill>
                  <a:srgbClr val="FF0000"/>
                </a:solidFill>
              </a:rPr>
              <a:t>href</a:t>
            </a:r>
            <a:r>
              <a:rPr lang="en-IN" dirty="0">
                <a:solidFill>
                  <a:srgbClr val="FF0000"/>
                </a:solidFill>
              </a:rPr>
              <a:t>="#"&gt; Previous &lt;/a&gt; &lt;/li&gt;</a:t>
            </a:r>
          </a:p>
          <a:p>
            <a:pPr marL="0" indent="0">
              <a:buNone/>
            </a:pPr>
            <a:r>
              <a:rPr lang="en-IN" dirty="0">
                <a:solidFill>
                  <a:srgbClr val="FF0000"/>
                </a:solidFill>
              </a:rPr>
              <a:t>    &lt;li class="page-item"&gt;&lt;a class="page-link" </a:t>
            </a:r>
            <a:r>
              <a:rPr lang="en-IN" dirty="0" err="1">
                <a:solidFill>
                  <a:srgbClr val="FF0000"/>
                </a:solidFill>
              </a:rPr>
              <a:t>href</a:t>
            </a:r>
            <a:r>
              <a:rPr lang="en-IN" dirty="0">
                <a:solidFill>
                  <a:srgbClr val="FF0000"/>
                </a:solidFill>
              </a:rPr>
              <a:t>="#"&gt;1&lt;/a&gt;&lt;/li&gt;</a:t>
            </a:r>
          </a:p>
          <a:p>
            <a:pPr marL="0" indent="0">
              <a:buNone/>
            </a:pPr>
            <a:r>
              <a:rPr lang="en-IN" dirty="0">
                <a:solidFill>
                  <a:srgbClr val="FF0000"/>
                </a:solidFill>
              </a:rPr>
              <a:t>    &lt;li class="page-item"&gt;&lt;a class="page-link" </a:t>
            </a:r>
            <a:r>
              <a:rPr lang="en-IN" dirty="0" err="1">
                <a:solidFill>
                  <a:srgbClr val="FF0000"/>
                </a:solidFill>
              </a:rPr>
              <a:t>href</a:t>
            </a:r>
            <a:r>
              <a:rPr lang="en-IN" dirty="0">
                <a:solidFill>
                  <a:srgbClr val="FF0000"/>
                </a:solidFill>
              </a:rPr>
              <a:t>="#"&gt;2&lt;/a&gt;&lt;/li&gt;</a:t>
            </a:r>
          </a:p>
          <a:p>
            <a:pPr marL="0" indent="0">
              <a:buNone/>
            </a:pPr>
            <a:r>
              <a:rPr lang="en-IN" dirty="0">
                <a:solidFill>
                  <a:srgbClr val="FF0000"/>
                </a:solidFill>
              </a:rPr>
              <a:t>    &lt;li class="page-item"&gt;&lt;a class="page-link" </a:t>
            </a:r>
            <a:r>
              <a:rPr lang="en-IN" dirty="0" err="1">
                <a:solidFill>
                  <a:srgbClr val="FF0000"/>
                </a:solidFill>
              </a:rPr>
              <a:t>href</a:t>
            </a:r>
            <a:r>
              <a:rPr lang="en-IN" dirty="0">
                <a:solidFill>
                  <a:srgbClr val="FF0000"/>
                </a:solidFill>
              </a:rPr>
              <a:t>="#"&gt;3&lt;/a&gt;&lt;/li&gt;</a:t>
            </a:r>
          </a:p>
          <a:p>
            <a:pPr marL="0" indent="0">
              <a:buNone/>
            </a:pPr>
            <a:r>
              <a:rPr lang="en-IN" dirty="0">
                <a:solidFill>
                  <a:srgbClr val="FF0000"/>
                </a:solidFill>
              </a:rPr>
              <a:t>    &lt;li class="page-item"&gt;&lt;a class="page-link" </a:t>
            </a:r>
            <a:r>
              <a:rPr lang="en-IN" dirty="0" err="1">
                <a:solidFill>
                  <a:srgbClr val="FF0000"/>
                </a:solidFill>
              </a:rPr>
              <a:t>href</a:t>
            </a:r>
            <a:r>
              <a:rPr lang="en-IN" dirty="0">
                <a:solidFill>
                  <a:srgbClr val="FF0000"/>
                </a:solidFill>
              </a:rPr>
              <a:t>="#"&gt;Next&lt;/a&gt;&lt;/li&gt;</a:t>
            </a:r>
          </a:p>
          <a:p>
            <a:pPr marL="0" indent="0">
              <a:buNone/>
            </a:pPr>
            <a:r>
              <a:rPr lang="en-IN" dirty="0">
                <a:solidFill>
                  <a:srgbClr val="FF0000"/>
                </a:solidFill>
              </a:rPr>
              <a:t>  &lt;/</a:t>
            </a:r>
            <a:r>
              <a:rPr lang="en-IN" dirty="0" err="1">
                <a:solidFill>
                  <a:srgbClr val="FF0000"/>
                </a:solidFill>
              </a:rPr>
              <a:t>ul</a:t>
            </a:r>
            <a:r>
              <a:rPr lang="en-IN" dirty="0">
                <a:solidFill>
                  <a:srgbClr val="FF0000"/>
                </a:solidFill>
              </a:rPr>
              <a:t>&gt;</a:t>
            </a:r>
          </a:p>
        </p:txBody>
      </p:sp>
    </p:spTree>
    <p:extLst>
      <p:ext uri="{BB962C8B-B14F-4D97-AF65-F5344CB8AC3E}">
        <p14:creationId xmlns:p14="http://schemas.microsoft.com/office/powerpoint/2010/main" val="22786824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18A3D2-E449-7130-A9D9-791226CFE92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275A4D0-2CC6-45DC-544B-1493CA4994FC}"/>
              </a:ext>
            </a:extLst>
          </p:cNvPr>
          <p:cNvSpPr>
            <a:spLocks noGrp="1"/>
          </p:cNvSpPr>
          <p:nvPr>
            <p:ph idx="1"/>
          </p:nvPr>
        </p:nvSpPr>
        <p:spPr/>
        <p:txBody>
          <a:bodyPr/>
          <a:lstStyle/>
          <a:p>
            <a:r>
              <a:rPr lang="it-IT" dirty="0">
                <a:solidFill>
                  <a:srgbClr val="0000CD"/>
                </a:solidFill>
                <a:effectLst/>
              </a:rPr>
              <a:t>&lt;</a:t>
            </a:r>
            <a:r>
              <a:rPr lang="it-IT" dirty="0">
                <a:solidFill>
                  <a:srgbClr val="A52A2A"/>
                </a:solidFill>
                <a:effectLst/>
              </a:rPr>
              <a:t>ul</a:t>
            </a:r>
            <a:r>
              <a:rPr lang="it-IT" dirty="0">
                <a:solidFill>
                  <a:srgbClr val="FF0000"/>
                </a:solidFill>
                <a:effectLst/>
              </a:rPr>
              <a:t> class</a:t>
            </a:r>
            <a:r>
              <a:rPr lang="it-IT" dirty="0">
                <a:solidFill>
                  <a:srgbClr val="0000CD"/>
                </a:solidFill>
                <a:effectLst/>
              </a:rPr>
              <a:t>="pagination"&gt;</a:t>
            </a:r>
            <a:br>
              <a:rPr lang="it-IT" dirty="0"/>
            </a:br>
            <a:r>
              <a:rPr lang="it-IT" dirty="0"/>
              <a:t>  </a:t>
            </a:r>
            <a:r>
              <a:rPr lang="it-IT" dirty="0">
                <a:solidFill>
                  <a:srgbClr val="0000CD"/>
                </a:solidFill>
                <a:effectLst/>
              </a:rPr>
              <a:t>&lt;</a:t>
            </a:r>
            <a:r>
              <a:rPr lang="it-IT" dirty="0">
                <a:solidFill>
                  <a:srgbClr val="A52A2A"/>
                </a:solidFill>
                <a:effectLst/>
              </a:rPr>
              <a:t>li</a:t>
            </a:r>
            <a:r>
              <a:rPr lang="it-IT" dirty="0">
                <a:solidFill>
                  <a:srgbClr val="0000CD"/>
                </a:solidFill>
                <a:effectLst/>
              </a:rPr>
              <a:t>&gt;&lt;</a:t>
            </a:r>
            <a:r>
              <a:rPr lang="it-IT" dirty="0">
                <a:solidFill>
                  <a:srgbClr val="A52A2A"/>
                </a:solidFill>
                <a:effectLst/>
              </a:rPr>
              <a:t>a</a:t>
            </a:r>
            <a:r>
              <a:rPr lang="it-IT" dirty="0">
                <a:solidFill>
                  <a:srgbClr val="FF0000"/>
                </a:solidFill>
                <a:effectLst/>
              </a:rPr>
              <a:t> href</a:t>
            </a:r>
            <a:r>
              <a:rPr lang="it-IT" dirty="0">
                <a:solidFill>
                  <a:srgbClr val="0000CD"/>
                </a:solidFill>
                <a:effectLst/>
              </a:rPr>
              <a:t>="#"&gt;</a:t>
            </a:r>
            <a:r>
              <a:rPr lang="it-IT" dirty="0"/>
              <a:t>1</a:t>
            </a:r>
            <a:r>
              <a:rPr lang="it-IT" dirty="0">
                <a:solidFill>
                  <a:srgbClr val="0000CD"/>
                </a:solidFill>
                <a:effectLst/>
              </a:rPr>
              <a:t>&lt;</a:t>
            </a:r>
            <a:r>
              <a:rPr lang="it-IT" dirty="0">
                <a:solidFill>
                  <a:srgbClr val="A52A2A"/>
                </a:solidFill>
                <a:effectLst/>
              </a:rPr>
              <a:t>/a</a:t>
            </a:r>
            <a:r>
              <a:rPr lang="it-IT" dirty="0">
                <a:solidFill>
                  <a:srgbClr val="0000CD"/>
                </a:solidFill>
                <a:effectLst/>
              </a:rPr>
              <a:t>&gt;&lt;</a:t>
            </a:r>
            <a:r>
              <a:rPr lang="it-IT" dirty="0">
                <a:solidFill>
                  <a:srgbClr val="A52A2A"/>
                </a:solidFill>
                <a:effectLst/>
              </a:rPr>
              <a:t>/li</a:t>
            </a:r>
            <a:r>
              <a:rPr lang="it-IT" dirty="0">
                <a:solidFill>
                  <a:srgbClr val="0000CD"/>
                </a:solidFill>
                <a:effectLst/>
              </a:rPr>
              <a:t>&gt;</a:t>
            </a:r>
            <a:br>
              <a:rPr lang="it-IT" dirty="0"/>
            </a:br>
            <a:r>
              <a:rPr lang="it-IT" dirty="0"/>
              <a:t>  </a:t>
            </a:r>
            <a:r>
              <a:rPr lang="it-IT" dirty="0">
                <a:solidFill>
                  <a:srgbClr val="0000CD"/>
                </a:solidFill>
                <a:effectLst/>
              </a:rPr>
              <a:t>&lt;</a:t>
            </a:r>
            <a:r>
              <a:rPr lang="it-IT" dirty="0">
                <a:solidFill>
                  <a:srgbClr val="A52A2A"/>
                </a:solidFill>
                <a:effectLst/>
              </a:rPr>
              <a:t>li</a:t>
            </a:r>
            <a:r>
              <a:rPr lang="it-IT" dirty="0">
                <a:solidFill>
                  <a:srgbClr val="0000CD"/>
                </a:solidFill>
                <a:effectLst/>
              </a:rPr>
              <a:t>&gt;&lt;</a:t>
            </a:r>
            <a:r>
              <a:rPr lang="it-IT" dirty="0">
                <a:solidFill>
                  <a:srgbClr val="A52A2A"/>
                </a:solidFill>
                <a:effectLst/>
              </a:rPr>
              <a:t>a</a:t>
            </a:r>
            <a:r>
              <a:rPr lang="it-IT" dirty="0">
                <a:solidFill>
                  <a:srgbClr val="FF0000"/>
                </a:solidFill>
                <a:effectLst/>
              </a:rPr>
              <a:t> href</a:t>
            </a:r>
            <a:r>
              <a:rPr lang="it-IT" dirty="0">
                <a:solidFill>
                  <a:srgbClr val="0000CD"/>
                </a:solidFill>
                <a:effectLst/>
              </a:rPr>
              <a:t>="#"&gt;</a:t>
            </a:r>
            <a:r>
              <a:rPr lang="it-IT" dirty="0"/>
              <a:t>2</a:t>
            </a:r>
            <a:r>
              <a:rPr lang="it-IT" dirty="0">
                <a:solidFill>
                  <a:srgbClr val="0000CD"/>
                </a:solidFill>
                <a:effectLst/>
              </a:rPr>
              <a:t>&lt;</a:t>
            </a:r>
            <a:r>
              <a:rPr lang="it-IT" dirty="0">
                <a:solidFill>
                  <a:srgbClr val="A52A2A"/>
                </a:solidFill>
                <a:effectLst/>
              </a:rPr>
              <a:t>/a</a:t>
            </a:r>
            <a:r>
              <a:rPr lang="it-IT" dirty="0">
                <a:solidFill>
                  <a:srgbClr val="0000CD"/>
                </a:solidFill>
                <a:effectLst/>
              </a:rPr>
              <a:t>&gt;&lt;</a:t>
            </a:r>
            <a:r>
              <a:rPr lang="it-IT" dirty="0">
                <a:solidFill>
                  <a:srgbClr val="A52A2A"/>
                </a:solidFill>
                <a:effectLst/>
              </a:rPr>
              <a:t>/li</a:t>
            </a:r>
            <a:r>
              <a:rPr lang="it-IT" dirty="0">
                <a:solidFill>
                  <a:srgbClr val="0000CD"/>
                </a:solidFill>
                <a:effectLst/>
              </a:rPr>
              <a:t>&gt;</a:t>
            </a:r>
            <a:br>
              <a:rPr lang="it-IT" dirty="0"/>
            </a:br>
            <a:r>
              <a:rPr lang="it-IT" dirty="0"/>
              <a:t>  </a:t>
            </a:r>
            <a:r>
              <a:rPr lang="it-IT" dirty="0">
                <a:solidFill>
                  <a:srgbClr val="0000CD"/>
                </a:solidFill>
                <a:effectLst/>
              </a:rPr>
              <a:t>&lt;</a:t>
            </a:r>
            <a:r>
              <a:rPr lang="it-IT" dirty="0">
                <a:solidFill>
                  <a:srgbClr val="A52A2A"/>
                </a:solidFill>
                <a:effectLst/>
              </a:rPr>
              <a:t>li</a:t>
            </a:r>
            <a:r>
              <a:rPr lang="it-IT" dirty="0">
                <a:solidFill>
                  <a:srgbClr val="0000CD"/>
                </a:solidFill>
                <a:effectLst/>
              </a:rPr>
              <a:t>&gt;&lt;</a:t>
            </a:r>
            <a:r>
              <a:rPr lang="it-IT" dirty="0">
                <a:solidFill>
                  <a:srgbClr val="A52A2A"/>
                </a:solidFill>
                <a:effectLst/>
              </a:rPr>
              <a:t>a</a:t>
            </a:r>
            <a:r>
              <a:rPr lang="it-IT" dirty="0">
                <a:solidFill>
                  <a:srgbClr val="FF0000"/>
                </a:solidFill>
                <a:effectLst/>
              </a:rPr>
              <a:t> href</a:t>
            </a:r>
            <a:r>
              <a:rPr lang="it-IT" dirty="0">
                <a:solidFill>
                  <a:srgbClr val="0000CD"/>
                </a:solidFill>
                <a:effectLst/>
              </a:rPr>
              <a:t>="#"&gt;</a:t>
            </a:r>
            <a:r>
              <a:rPr lang="it-IT" dirty="0"/>
              <a:t>3</a:t>
            </a:r>
            <a:r>
              <a:rPr lang="it-IT" dirty="0">
                <a:solidFill>
                  <a:srgbClr val="0000CD"/>
                </a:solidFill>
                <a:effectLst/>
              </a:rPr>
              <a:t>&lt;</a:t>
            </a:r>
            <a:r>
              <a:rPr lang="it-IT" dirty="0">
                <a:solidFill>
                  <a:srgbClr val="A52A2A"/>
                </a:solidFill>
                <a:effectLst/>
              </a:rPr>
              <a:t>/a</a:t>
            </a:r>
            <a:r>
              <a:rPr lang="it-IT" dirty="0">
                <a:solidFill>
                  <a:srgbClr val="0000CD"/>
                </a:solidFill>
                <a:effectLst/>
              </a:rPr>
              <a:t>&gt;&lt;</a:t>
            </a:r>
            <a:r>
              <a:rPr lang="it-IT" dirty="0">
                <a:solidFill>
                  <a:srgbClr val="A52A2A"/>
                </a:solidFill>
                <a:effectLst/>
              </a:rPr>
              <a:t>/li</a:t>
            </a:r>
            <a:r>
              <a:rPr lang="it-IT" dirty="0">
                <a:solidFill>
                  <a:srgbClr val="0000CD"/>
                </a:solidFill>
                <a:effectLst/>
              </a:rPr>
              <a:t>&gt;</a:t>
            </a:r>
            <a:br>
              <a:rPr lang="it-IT" dirty="0"/>
            </a:br>
            <a:r>
              <a:rPr lang="it-IT" dirty="0"/>
              <a:t>  </a:t>
            </a:r>
            <a:r>
              <a:rPr lang="it-IT" dirty="0">
                <a:solidFill>
                  <a:srgbClr val="0000CD"/>
                </a:solidFill>
                <a:effectLst/>
              </a:rPr>
              <a:t>&lt;</a:t>
            </a:r>
            <a:r>
              <a:rPr lang="it-IT" dirty="0">
                <a:solidFill>
                  <a:srgbClr val="A52A2A"/>
                </a:solidFill>
                <a:effectLst/>
              </a:rPr>
              <a:t>li</a:t>
            </a:r>
            <a:r>
              <a:rPr lang="it-IT" dirty="0">
                <a:solidFill>
                  <a:srgbClr val="0000CD"/>
                </a:solidFill>
                <a:effectLst/>
              </a:rPr>
              <a:t>&gt;&lt;</a:t>
            </a:r>
            <a:r>
              <a:rPr lang="it-IT" dirty="0">
                <a:solidFill>
                  <a:srgbClr val="A52A2A"/>
                </a:solidFill>
                <a:effectLst/>
              </a:rPr>
              <a:t>a</a:t>
            </a:r>
            <a:r>
              <a:rPr lang="it-IT" dirty="0">
                <a:solidFill>
                  <a:srgbClr val="FF0000"/>
                </a:solidFill>
                <a:effectLst/>
              </a:rPr>
              <a:t> href</a:t>
            </a:r>
            <a:r>
              <a:rPr lang="it-IT" dirty="0">
                <a:solidFill>
                  <a:srgbClr val="0000CD"/>
                </a:solidFill>
                <a:effectLst/>
              </a:rPr>
              <a:t>="#"&gt;</a:t>
            </a:r>
            <a:r>
              <a:rPr lang="it-IT" dirty="0"/>
              <a:t>4</a:t>
            </a:r>
            <a:r>
              <a:rPr lang="it-IT" dirty="0">
                <a:solidFill>
                  <a:srgbClr val="0000CD"/>
                </a:solidFill>
                <a:effectLst/>
              </a:rPr>
              <a:t>&lt;</a:t>
            </a:r>
            <a:r>
              <a:rPr lang="it-IT" dirty="0">
                <a:solidFill>
                  <a:srgbClr val="A52A2A"/>
                </a:solidFill>
                <a:effectLst/>
              </a:rPr>
              <a:t>/a</a:t>
            </a:r>
            <a:r>
              <a:rPr lang="it-IT" dirty="0">
                <a:solidFill>
                  <a:srgbClr val="0000CD"/>
                </a:solidFill>
                <a:effectLst/>
              </a:rPr>
              <a:t>&gt;&lt;</a:t>
            </a:r>
            <a:r>
              <a:rPr lang="it-IT" dirty="0">
                <a:solidFill>
                  <a:srgbClr val="A52A2A"/>
                </a:solidFill>
                <a:effectLst/>
              </a:rPr>
              <a:t>/li</a:t>
            </a:r>
            <a:r>
              <a:rPr lang="it-IT" dirty="0">
                <a:solidFill>
                  <a:srgbClr val="0000CD"/>
                </a:solidFill>
                <a:effectLst/>
              </a:rPr>
              <a:t>&gt;</a:t>
            </a:r>
            <a:br>
              <a:rPr lang="it-IT" dirty="0"/>
            </a:br>
            <a:r>
              <a:rPr lang="it-IT" dirty="0"/>
              <a:t>  </a:t>
            </a:r>
            <a:r>
              <a:rPr lang="it-IT" dirty="0">
                <a:solidFill>
                  <a:srgbClr val="0000CD"/>
                </a:solidFill>
                <a:effectLst/>
              </a:rPr>
              <a:t>&lt;</a:t>
            </a:r>
            <a:r>
              <a:rPr lang="it-IT" dirty="0">
                <a:solidFill>
                  <a:srgbClr val="A52A2A"/>
                </a:solidFill>
                <a:effectLst/>
              </a:rPr>
              <a:t>li</a:t>
            </a:r>
            <a:r>
              <a:rPr lang="it-IT" dirty="0">
                <a:solidFill>
                  <a:srgbClr val="0000CD"/>
                </a:solidFill>
                <a:effectLst/>
              </a:rPr>
              <a:t>&gt;&lt;</a:t>
            </a:r>
            <a:r>
              <a:rPr lang="it-IT" dirty="0">
                <a:solidFill>
                  <a:srgbClr val="A52A2A"/>
                </a:solidFill>
                <a:effectLst/>
              </a:rPr>
              <a:t>a</a:t>
            </a:r>
            <a:r>
              <a:rPr lang="it-IT" dirty="0">
                <a:solidFill>
                  <a:srgbClr val="FF0000"/>
                </a:solidFill>
                <a:effectLst/>
              </a:rPr>
              <a:t> href</a:t>
            </a:r>
            <a:r>
              <a:rPr lang="it-IT" dirty="0">
                <a:solidFill>
                  <a:srgbClr val="0000CD"/>
                </a:solidFill>
                <a:effectLst/>
              </a:rPr>
              <a:t>="#"&gt;</a:t>
            </a:r>
            <a:r>
              <a:rPr lang="it-IT" dirty="0"/>
              <a:t>5</a:t>
            </a:r>
            <a:r>
              <a:rPr lang="it-IT" dirty="0">
                <a:solidFill>
                  <a:srgbClr val="0000CD"/>
                </a:solidFill>
                <a:effectLst/>
              </a:rPr>
              <a:t>&lt;</a:t>
            </a:r>
            <a:r>
              <a:rPr lang="it-IT" dirty="0">
                <a:solidFill>
                  <a:srgbClr val="A52A2A"/>
                </a:solidFill>
                <a:effectLst/>
              </a:rPr>
              <a:t>/a</a:t>
            </a:r>
            <a:r>
              <a:rPr lang="it-IT" dirty="0">
                <a:solidFill>
                  <a:srgbClr val="0000CD"/>
                </a:solidFill>
                <a:effectLst/>
              </a:rPr>
              <a:t>&gt;&lt;</a:t>
            </a:r>
            <a:r>
              <a:rPr lang="it-IT" dirty="0">
                <a:solidFill>
                  <a:srgbClr val="A52A2A"/>
                </a:solidFill>
                <a:effectLst/>
              </a:rPr>
              <a:t>/li</a:t>
            </a:r>
            <a:r>
              <a:rPr lang="it-IT" dirty="0">
                <a:solidFill>
                  <a:srgbClr val="0000CD"/>
                </a:solidFill>
                <a:effectLst/>
              </a:rPr>
              <a:t>&gt;</a:t>
            </a:r>
            <a:br>
              <a:rPr lang="it-IT" dirty="0"/>
            </a:br>
            <a:r>
              <a:rPr lang="it-IT" dirty="0">
                <a:solidFill>
                  <a:srgbClr val="0000CD"/>
                </a:solidFill>
                <a:effectLst/>
              </a:rPr>
              <a:t>&lt;</a:t>
            </a:r>
            <a:r>
              <a:rPr lang="it-IT" dirty="0">
                <a:solidFill>
                  <a:srgbClr val="A52A2A"/>
                </a:solidFill>
                <a:effectLst/>
              </a:rPr>
              <a:t>/ul</a:t>
            </a:r>
            <a:r>
              <a:rPr lang="it-IT" dirty="0">
                <a:solidFill>
                  <a:srgbClr val="0000CD"/>
                </a:solidFill>
                <a:effectLst/>
              </a:rPr>
              <a:t>&gt;</a:t>
            </a:r>
            <a:r>
              <a:rPr lang="it-IT" dirty="0"/>
              <a:t> </a:t>
            </a:r>
          </a:p>
          <a:p>
            <a:endParaRPr lang="en-IN" dirty="0"/>
          </a:p>
        </p:txBody>
      </p:sp>
      <p:pic>
        <p:nvPicPr>
          <p:cNvPr id="4" name="Picture 3">
            <a:extLst>
              <a:ext uri="{FF2B5EF4-FFF2-40B4-BE49-F238E27FC236}">
                <a16:creationId xmlns:a16="http://schemas.microsoft.com/office/drawing/2014/main" id="{1E21683F-8213-8D83-70F7-FE0622DE262E}"/>
              </a:ext>
            </a:extLst>
          </p:cNvPr>
          <p:cNvPicPr>
            <a:picLocks noChangeAspect="1"/>
          </p:cNvPicPr>
          <p:nvPr/>
        </p:nvPicPr>
        <p:blipFill>
          <a:blip r:embed="rId2"/>
          <a:stretch>
            <a:fillRect/>
          </a:stretch>
        </p:blipFill>
        <p:spPr>
          <a:xfrm>
            <a:off x="6096000" y="2842588"/>
            <a:ext cx="2450804" cy="920576"/>
          </a:xfrm>
          <a:prstGeom prst="rect">
            <a:avLst/>
          </a:prstGeom>
        </p:spPr>
      </p:pic>
    </p:spTree>
    <p:extLst>
      <p:ext uri="{BB962C8B-B14F-4D97-AF65-F5344CB8AC3E}">
        <p14:creationId xmlns:p14="http://schemas.microsoft.com/office/powerpoint/2010/main" val="321675183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15056-BC86-ECC6-177D-A541A1F4161E}"/>
              </a:ext>
            </a:extLst>
          </p:cNvPr>
          <p:cNvSpPr>
            <a:spLocks noGrp="1"/>
          </p:cNvSpPr>
          <p:nvPr>
            <p:ph type="title"/>
          </p:nvPr>
        </p:nvSpPr>
        <p:spPr/>
        <p:txBody>
          <a:bodyPr/>
          <a:lstStyle/>
          <a:p>
            <a:r>
              <a:rPr lang="en-US" b="1" dirty="0"/>
              <a:t>Active State</a:t>
            </a:r>
            <a:br>
              <a:rPr lang="en-US" b="1" dirty="0"/>
            </a:br>
            <a:endParaRPr lang="en-IN" dirty="0"/>
          </a:p>
        </p:txBody>
      </p:sp>
      <p:sp>
        <p:nvSpPr>
          <p:cNvPr id="3" name="Content Placeholder 2">
            <a:extLst>
              <a:ext uri="{FF2B5EF4-FFF2-40B4-BE49-F238E27FC236}">
                <a16:creationId xmlns:a16="http://schemas.microsoft.com/office/drawing/2014/main" id="{D5E27EAC-F6B2-2268-108A-3AE6D0625817}"/>
              </a:ext>
            </a:extLst>
          </p:cNvPr>
          <p:cNvSpPr>
            <a:spLocks noGrp="1"/>
          </p:cNvSpPr>
          <p:nvPr>
            <p:ph idx="1"/>
          </p:nvPr>
        </p:nvSpPr>
        <p:spPr/>
        <p:txBody>
          <a:bodyPr/>
          <a:lstStyle/>
          <a:p>
            <a:r>
              <a:rPr lang="en-US" dirty="0"/>
              <a:t>The active state shows what is the current page:</a:t>
            </a:r>
          </a:p>
          <a:p>
            <a:r>
              <a:rPr lang="en-US" dirty="0"/>
              <a:t>Add class </a:t>
            </a:r>
            <a:r>
              <a:rPr lang="en-US" b="1" dirty="0"/>
              <a:t>.active </a:t>
            </a:r>
            <a:r>
              <a:rPr lang="en-US" dirty="0"/>
              <a:t>to let the user know which page he/she is on:</a:t>
            </a:r>
          </a:p>
          <a:p>
            <a:r>
              <a:rPr lang="it-IT" dirty="0">
                <a:solidFill>
                  <a:srgbClr val="0000CD"/>
                </a:solidFill>
                <a:effectLst/>
              </a:rPr>
              <a:t>&lt;</a:t>
            </a:r>
            <a:r>
              <a:rPr lang="it-IT" dirty="0">
                <a:solidFill>
                  <a:srgbClr val="A52A2A"/>
                </a:solidFill>
                <a:effectLst/>
              </a:rPr>
              <a:t>ul</a:t>
            </a:r>
            <a:r>
              <a:rPr lang="it-IT" dirty="0">
                <a:solidFill>
                  <a:srgbClr val="FF0000"/>
                </a:solidFill>
                <a:effectLst/>
              </a:rPr>
              <a:t> class</a:t>
            </a:r>
            <a:r>
              <a:rPr lang="it-IT" dirty="0">
                <a:solidFill>
                  <a:srgbClr val="0000CD"/>
                </a:solidFill>
                <a:effectLst/>
              </a:rPr>
              <a:t>="pagination"&gt;</a:t>
            </a:r>
            <a:br>
              <a:rPr lang="it-IT" dirty="0"/>
            </a:br>
            <a:r>
              <a:rPr lang="it-IT" dirty="0"/>
              <a:t>  </a:t>
            </a:r>
            <a:r>
              <a:rPr lang="it-IT" dirty="0">
                <a:solidFill>
                  <a:srgbClr val="0000CD"/>
                </a:solidFill>
                <a:effectLst/>
              </a:rPr>
              <a:t>&lt;</a:t>
            </a:r>
            <a:r>
              <a:rPr lang="it-IT" dirty="0">
                <a:solidFill>
                  <a:srgbClr val="A52A2A"/>
                </a:solidFill>
                <a:effectLst/>
              </a:rPr>
              <a:t>li</a:t>
            </a:r>
            <a:r>
              <a:rPr lang="it-IT" dirty="0">
                <a:solidFill>
                  <a:srgbClr val="0000CD"/>
                </a:solidFill>
                <a:effectLst/>
              </a:rPr>
              <a:t>&gt;&lt;</a:t>
            </a:r>
            <a:r>
              <a:rPr lang="it-IT" dirty="0">
                <a:solidFill>
                  <a:srgbClr val="A52A2A"/>
                </a:solidFill>
                <a:effectLst/>
              </a:rPr>
              <a:t>a</a:t>
            </a:r>
            <a:r>
              <a:rPr lang="it-IT" dirty="0">
                <a:solidFill>
                  <a:srgbClr val="FF0000"/>
                </a:solidFill>
                <a:effectLst/>
              </a:rPr>
              <a:t> href</a:t>
            </a:r>
            <a:r>
              <a:rPr lang="it-IT" dirty="0">
                <a:solidFill>
                  <a:srgbClr val="0000CD"/>
                </a:solidFill>
                <a:effectLst/>
              </a:rPr>
              <a:t>="#"&gt;</a:t>
            </a:r>
            <a:r>
              <a:rPr lang="it-IT" dirty="0"/>
              <a:t>1</a:t>
            </a:r>
            <a:r>
              <a:rPr lang="it-IT" dirty="0">
                <a:solidFill>
                  <a:srgbClr val="0000CD"/>
                </a:solidFill>
                <a:effectLst/>
              </a:rPr>
              <a:t>&lt;</a:t>
            </a:r>
            <a:r>
              <a:rPr lang="it-IT" dirty="0">
                <a:solidFill>
                  <a:srgbClr val="A52A2A"/>
                </a:solidFill>
                <a:effectLst/>
              </a:rPr>
              <a:t>/a</a:t>
            </a:r>
            <a:r>
              <a:rPr lang="it-IT" dirty="0">
                <a:solidFill>
                  <a:srgbClr val="0000CD"/>
                </a:solidFill>
                <a:effectLst/>
              </a:rPr>
              <a:t>&gt;&lt;</a:t>
            </a:r>
            <a:r>
              <a:rPr lang="it-IT" dirty="0">
                <a:solidFill>
                  <a:srgbClr val="A52A2A"/>
                </a:solidFill>
                <a:effectLst/>
              </a:rPr>
              <a:t>/li</a:t>
            </a:r>
            <a:r>
              <a:rPr lang="it-IT" dirty="0">
                <a:solidFill>
                  <a:srgbClr val="0000CD"/>
                </a:solidFill>
                <a:effectLst/>
              </a:rPr>
              <a:t>&gt;</a:t>
            </a:r>
            <a:br>
              <a:rPr lang="it-IT" dirty="0"/>
            </a:br>
            <a:r>
              <a:rPr lang="it-IT" dirty="0"/>
              <a:t>  </a:t>
            </a:r>
            <a:r>
              <a:rPr lang="it-IT" dirty="0">
                <a:solidFill>
                  <a:srgbClr val="0000CD"/>
                </a:solidFill>
                <a:effectLst/>
              </a:rPr>
              <a:t>&lt;</a:t>
            </a:r>
            <a:r>
              <a:rPr lang="it-IT" dirty="0">
                <a:solidFill>
                  <a:srgbClr val="A52A2A"/>
                </a:solidFill>
                <a:effectLst/>
              </a:rPr>
              <a:t>li</a:t>
            </a:r>
            <a:r>
              <a:rPr lang="it-IT" dirty="0">
                <a:solidFill>
                  <a:srgbClr val="FF0000"/>
                </a:solidFill>
                <a:effectLst/>
              </a:rPr>
              <a:t> class</a:t>
            </a:r>
            <a:r>
              <a:rPr lang="it-IT" dirty="0">
                <a:solidFill>
                  <a:srgbClr val="0000CD"/>
                </a:solidFill>
                <a:effectLst/>
              </a:rPr>
              <a:t>="active"&gt;&lt;</a:t>
            </a:r>
            <a:r>
              <a:rPr lang="it-IT" dirty="0">
                <a:solidFill>
                  <a:srgbClr val="A52A2A"/>
                </a:solidFill>
                <a:effectLst/>
              </a:rPr>
              <a:t>a</a:t>
            </a:r>
            <a:r>
              <a:rPr lang="it-IT" dirty="0">
                <a:solidFill>
                  <a:srgbClr val="FF0000"/>
                </a:solidFill>
                <a:effectLst/>
              </a:rPr>
              <a:t> href</a:t>
            </a:r>
            <a:r>
              <a:rPr lang="it-IT" dirty="0">
                <a:solidFill>
                  <a:srgbClr val="0000CD"/>
                </a:solidFill>
                <a:effectLst/>
              </a:rPr>
              <a:t>="#"&gt;</a:t>
            </a:r>
            <a:r>
              <a:rPr lang="it-IT" dirty="0"/>
              <a:t>2</a:t>
            </a:r>
            <a:r>
              <a:rPr lang="it-IT" dirty="0">
                <a:solidFill>
                  <a:srgbClr val="0000CD"/>
                </a:solidFill>
                <a:effectLst/>
              </a:rPr>
              <a:t>&lt;</a:t>
            </a:r>
            <a:r>
              <a:rPr lang="it-IT" dirty="0">
                <a:solidFill>
                  <a:srgbClr val="A52A2A"/>
                </a:solidFill>
                <a:effectLst/>
              </a:rPr>
              <a:t>/a</a:t>
            </a:r>
            <a:r>
              <a:rPr lang="it-IT" dirty="0">
                <a:solidFill>
                  <a:srgbClr val="0000CD"/>
                </a:solidFill>
                <a:effectLst/>
              </a:rPr>
              <a:t>&gt;&lt;</a:t>
            </a:r>
            <a:r>
              <a:rPr lang="it-IT" dirty="0">
                <a:solidFill>
                  <a:srgbClr val="A52A2A"/>
                </a:solidFill>
                <a:effectLst/>
              </a:rPr>
              <a:t>/li</a:t>
            </a:r>
            <a:r>
              <a:rPr lang="it-IT" dirty="0">
                <a:solidFill>
                  <a:srgbClr val="0000CD"/>
                </a:solidFill>
                <a:effectLst/>
              </a:rPr>
              <a:t>&gt;</a:t>
            </a:r>
            <a:br>
              <a:rPr lang="it-IT" dirty="0"/>
            </a:br>
            <a:r>
              <a:rPr lang="it-IT" dirty="0"/>
              <a:t>  </a:t>
            </a:r>
            <a:r>
              <a:rPr lang="it-IT" dirty="0">
                <a:solidFill>
                  <a:srgbClr val="0000CD"/>
                </a:solidFill>
                <a:effectLst/>
              </a:rPr>
              <a:t>&lt;</a:t>
            </a:r>
            <a:r>
              <a:rPr lang="it-IT" dirty="0">
                <a:solidFill>
                  <a:srgbClr val="A52A2A"/>
                </a:solidFill>
                <a:effectLst/>
              </a:rPr>
              <a:t>li</a:t>
            </a:r>
            <a:r>
              <a:rPr lang="it-IT" dirty="0">
                <a:solidFill>
                  <a:srgbClr val="0000CD"/>
                </a:solidFill>
                <a:effectLst/>
              </a:rPr>
              <a:t>&gt;&lt;</a:t>
            </a:r>
            <a:r>
              <a:rPr lang="it-IT" dirty="0">
                <a:solidFill>
                  <a:srgbClr val="A52A2A"/>
                </a:solidFill>
                <a:effectLst/>
              </a:rPr>
              <a:t>a</a:t>
            </a:r>
            <a:r>
              <a:rPr lang="it-IT" dirty="0">
                <a:solidFill>
                  <a:srgbClr val="FF0000"/>
                </a:solidFill>
                <a:effectLst/>
              </a:rPr>
              <a:t> href</a:t>
            </a:r>
            <a:r>
              <a:rPr lang="it-IT" dirty="0">
                <a:solidFill>
                  <a:srgbClr val="0000CD"/>
                </a:solidFill>
                <a:effectLst/>
              </a:rPr>
              <a:t>="#"&gt;</a:t>
            </a:r>
            <a:r>
              <a:rPr lang="it-IT" dirty="0"/>
              <a:t>3</a:t>
            </a:r>
            <a:r>
              <a:rPr lang="it-IT" dirty="0">
                <a:solidFill>
                  <a:srgbClr val="0000CD"/>
                </a:solidFill>
                <a:effectLst/>
              </a:rPr>
              <a:t>&lt;</a:t>
            </a:r>
            <a:r>
              <a:rPr lang="it-IT" dirty="0">
                <a:solidFill>
                  <a:srgbClr val="A52A2A"/>
                </a:solidFill>
                <a:effectLst/>
              </a:rPr>
              <a:t>/a</a:t>
            </a:r>
            <a:r>
              <a:rPr lang="it-IT" dirty="0">
                <a:solidFill>
                  <a:srgbClr val="0000CD"/>
                </a:solidFill>
                <a:effectLst/>
              </a:rPr>
              <a:t>&gt;&lt;</a:t>
            </a:r>
            <a:r>
              <a:rPr lang="it-IT" dirty="0">
                <a:solidFill>
                  <a:srgbClr val="A52A2A"/>
                </a:solidFill>
                <a:effectLst/>
              </a:rPr>
              <a:t>/li</a:t>
            </a:r>
            <a:r>
              <a:rPr lang="it-IT" dirty="0">
                <a:solidFill>
                  <a:srgbClr val="0000CD"/>
                </a:solidFill>
                <a:effectLst/>
              </a:rPr>
              <a:t>&gt;</a:t>
            </a:r>
            <a:br>
              <a:rPr lang="it-IT" dirty="0"/>
            </a:br>
            <a:r>
              <a:rPr lang="it-IT" dirty="0"/>
              <a:t>  </a:t>
            </a:r>
            <a:r>
              <a:rPr lang="it-IT" dirty="0">
                <a:solidFill>
                  <a:srgbClr val="0000CD"/>
                </a:solidFill>
                <a:effectLst/>
              </a:rPr>
              <a:t>&lt;</a:t>
            </a:r>
            <a:r>
              <a:rPr lang="it-IT" dirty="0">
                <a:solidFill>
                  <a:srgbClr val="A52A2A"/>
                </a:solidFill>
                <a:effectLst/>
              </a:rPr>
              <a:t>li</a:t>
            </a:r>
            <a:r>
              <a:rPr lang="it-IT" dirty="0">
                <a:solidFill>
                  <a:srgbClr val="0000CD"/>
                </a:solidFill>
                <a:effectLst/>
              </a:rPr>
              <a:t>&gt;&lt;</a:t>
            </a:r>
            <a:r>
              <a:rPr lang="it-IT" dirty="0">
                <a:solidFill>
                  <a:srgbClr val="A52A2A"/>
                </a:solidFill>
                <a:effectLst/>
              </a:rPr>
              <a:t>a</a:t>
            </a:r>
            <a:r>
              <a:rPr lang="it-IT" dirty="0">
                <a:solidFill>
                  <a:srgbClr val="FF0000"/>
                </a:solidFill>
                <a:effectLst/>
              </a:rPr>
              <a:t> href</a:t>
            </a:r>
            <a:r>
              <a:rPr lang="it-IT" dirty="0">
                <a:solidFill>
                  <a:srgbClr val="0000CD"/>
                </a:solidFill>
                <a:effectLst/>
              </a:rPr>
              <a:t>="#"&gt;</a:t>
            </a:r>
            <a:r>
              <a:rPr lang="it-IT" dirty="0"/>
              <a:t>4</a:t>
            </a:r>
            <a:r>
              <a:rPr lang="it-IT" dirty="0">
                <a:solidFill>
                  <a:srgbClr val="0000CD"/>
                </a:solidFill>
                <a:effectLst/>
              </a:rPr>
              <a:t>&lt;</a:t>
            </a:r>
            <a:r>
              <a:rPr lang="it-IT" dirty="0">
                <a:solidFill>
                  <a:srgbClr val="A52A2A"/>
                </a:solidFill>
                <a:effectLst/>
              </a:rPr>
              <a:t>/a</a:t>
            </a:r>
            <a:r>
              <a:rPr lang="it-IT" dirty="0">
                <a:solidFill>
                  <a:srgbClr val="0000CD"/>
                </a:solidFill>
                <a:effectLst/>
              </a:rPr>
              <a:t>&gt;&lt;</a:t>
            </a:r>
            <a:r>
              <a:rPr lang="it-IT" dirty="0">
                <a:solidFill>
                  <a:srgbClr val="A52A2A"/>
                </a:solidFill>
                <a:effectLst/>
              </a:rPr>
              <a:t>/li</a:t>
            </a:r>
            <a:r>
              <a:rPr lang="it-IT" dirty="0">
                <a:solidFill>
                  <a:srgbClr val="0000CD"/>
                </a:solidFill>
                <a:effectLst/>
              </a:rPr>
              <a:t>&gt;</a:t>
            </a:r>
            <a:br>
              <a:rPr lang="it-IT" dirty="0"/>
            </a:br>
            <a:r>
              <a:rPr lang="it-IT" dirty="0"/>
              <a:t>  </a:t>
            </a:r>
            <a:r>
              <a:rPr lang="it-IT" dirty="0">
                <a:solidFill>
                  <a:srgbClr val="0000CD"/>
                </a:solidFill>
                <a:effectLst/>
              </a:rPr>
              <a:t>&lt;</a:t>
            </a:r>
            <a:r>
              <a:rPr lang="it-IT" dirty="0">
                <a:solidFill>
                  <a:srgbClr val="A52A2A"/>
                </a:solidFill>
                <a:effectLst/>
              </a:rPr>
              <a:t>li</a:t>
            </a:r>
            <a:r>
              <a:rPr lang="it-IT" dirty="0">
                <a:solidFill>
                  <a:srgbClr val="0000CD"/>
                </a:solidFill>
                <a:effectLst/>
              </a:rPr>
              <a:t>&gt;&lt;</a:t>
            </a:r>
            <a:r>
              <a:rPr lang="it-IT" dirty="0">
                <a:solidFill>
                  <a:srgbClr val="A52A2A"/>
                </a:solidFill>
                <a:effectLst/>
              </a:rPr>
              <a:t>a</a:t>
            </a:r>
            <a:r>
              <a:rPr lang="it-IT" dirty="0">
                <a:solidFill>
                  <a:srgbClr val="FF0000"/>
                </a:solidFill>
                <a:effectLst/>
              </a:rPr>
              <a:t> href</a:t>
            </a:r>
            <a:r>
              <a:rPr lang="it-IT" dirty="0">
                <a:solidFill>
                  <a:srgbClr val="0000CD"/>
                </a:solidFill>
                <a:effectLst/>
              </a:rPr>
              <a:t>="#"&gt;</a:t>
            </a:r>
            <a:r>
              <a:rPr lang="it-IT" dirty="0"/>
              <a:t>5</a:t>
            </a:r>
            <a:r>
              <a:rPr lang="it-IT" dirty="0">
                <a:solidFill>
                  <a:srgbClr val="0000CD"/>
                </a:solidFill>
                <a:effectLst/>
              </a:rPr>
              <a:t>&lt;</a:t>
            </a:r>
            <a:r>
              <a:rPr lang="it-IT" dirty="0">
                <a:solidFill>
                  <a:srgbClr val="A52A2A"/>
                </a:solidFill>
                <a:effectLst/>
              </a:rPr>
              <a:t>/a</a:t>
            </a:r>
            <a:r>
              <a:rPr lang="it-IT" dirty="0">
                <a:solidFill>
                  <a:srgbClr val="0000CD"/>
                </a:solidFill>
                <a:effectLst/>
              </a:rPr>
              <a:t>&gt;&lt;</a:t>
            </a:r>
            <a:r>
              <a:rPr lang="it-IT" dirty="0">
                <a:solidFill>
                  <a:srgbClr val="A52A2A"/>
                </a:solidFill>
                <a:effectLst/>
              </a:rPr>
              <a:t>/li</a:t>
            </a:r>
            <a:r>
              <a:rPr lang="it-IT" dirty="0">
                <a:solidFill>
                  <a:srgbClr val="0000CD"/>
                </a:solidFill>
                <a:effectLst/>
              </a:rPr>
              <a:t>&gt;</a:t>
            </a:r>
            <a:br>
              <a:rPr lang="it-IT" dirty="0"/>
            </a:br>
            <a:r>
              <a:rPr lang="it-IT" dirty="0">
                <a:solidFill>
                  <a:srgbClr val="0000CD"/>
                </a:solidFill>
                <a:effectLst/>
              </a:rPr>
              <a:t>&lt;</a:t>
            </a:r>
            <a:r>
              <a:rPr lang="it-IT" dirty="0">
                <a:solidFill>
                  <a:srgbClr val="A52A2A"/>
                </a:solidFill>
                <a:effectLst/>
              </a:rPr>
              <a:t>/ul</a:t>
            </a:r>
            <a:r>
              <a:rPr lang="it-IT" dirty="0">
                <a:solidFill>
                  <a:srgbClr val="0000CD"/>
                </a:solidFill>
                <a:effectLst/>
              </a:rPr>
              <a:t>&gt;</a:t>
            </a:r>
            <a:r>
              <a:rPr lang="it-IT" dirty="0"/>
              <a:t> </a:t>
            </a:r>
          </a:p>
          <a:p>
            <a:endParaRPr lang="en-US" dirty="0"/>
          </a:p>
          <a:p>
            <a:endParaRPr lang="en-US" dirty="0"/>
          </a:p>
          <a:p>
            <a:endParaRPr lang="en-IN" dirty="0"/>
          </a:p>
        </p:txBody>
      </p:sp>
      <p:pic>
        <p:nvPicPr>
          <p:cNvPr id="6" name="Picture 5">
            <a:extLst>
              <a:ext uri="{FF2B5EF4-FFF2-40B4-BE49-F238E27FC236}">
                <a16:creationId xmlns:a16="http://schemas.microsoft.com/office/drawing/2014/main" id="{FA487DC5-A76E-7129-F6AB-D1687707CB3C}"/>
              </a:ext>
            </a:extLst>
          </p:cNvPr>
          <p:cNvPicPr>
            <a:picLocks noChangeAspect="1"/>
          </p:cNvPicPr>
          <p:nvPr/>
        </p:nvPicPr>
        <p:blipFill>
          <a:blip r:embed="rId2"/>
          <a:stretch>
            <a:fillRect/>
          </a:stretch>
        </p:blipFill>
        <p:spPr>
          <a:xfrm>
            <a:off x="7973559" y="3220135"/>
            <a:ext cx="2572109" cy="781159"/>
          </a:xfrm>
          <a:prstGeom prst="rect">
            <a:avLst/>
          </a:prstGeom>
        </p:spPr>
      </p:pic>
    </p:spTree>
    <p:extLst>
      <p:ext uri="{BB962C8B-B14F-4D97-AF65-F5344CB8AC3E}">
        <p14:creationId xmlns:p14="http://schemas.microsoft.com/office/powerpoint/2010/main" val="244419872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54DA47-77B9-05E0-BC37-4BF224E25EFF}"/>
              </a:ext>
            </a:extLst>
          </p:cNvPr>
          <p:cNvSpPr>
            <a:spLocks noGrp="1"/>
          </p:cNvSpPr>
          <p:nvPr>
            <p:ph type="title"/>
          </p:nvPr>
        </p:nvSpPr>
        <p:spPr/>
        <p:txBody>
          <a:bodyPr/>
          <a:lstStyle/>
          <a:p>
            <a:r>
              <a:rPr lang="en-US" dirty="0"/>
              <a:t>Disabled State</a:t>
            </a:r>
            <a:br>
              <a:rPr lang="en-US" dirty="0"/>
            </a:br>
            <a:endParaRPr lang="en-IN" dirty="0"/>
          </a:p>
        </p:txBody>
      </p:sp>
      <p:sp>
        <p:nvSpPr>
          <p:cNvPr id="3" name="Content Placeholder 2">
            <a:extLst>
              <a:ext uri="{FF2B5EF4-FFF2-40B4-BE49-F238E27FC236}">
                <a16:creationId xmlns:a16="http://schemas.microsoft.com/office/drawing/2014/main" id="{A2FAFAE1-2766-223A-48B4-CB318CE7BA4F}"/>
              </a:ext>
            </a:extLst>
          </p:cNvPr>
          <p:cNvSpPr>
            <a:spLocks noGrp="1"/>
          </p:cNvSpPr>
          <p:nvPr>
            <p:ph idx="1"/>
          </p:nvPr>
        </p:nvSpPr>
        <p:spPr/>
        <p:txBody>
          <a:bodyPr>
            <a:normAutofit/>
          </a:bodyPr>
          <a:lstStyle/>
          <a:p>
            <a:endParaRPr lang="en-US" dirty="0"/>
          </a:p>
          <a:p>
            <a:r>
              <a:rPr lang="en-US" dirty="0"/>
              <a:t>A disabled link cannot be clicked:</a:t>
            </a:r>
          </a:p>
          <a:p>
            <a:pPr marL="0" indent="0">
              <a:buNone/>
            </a:pPr>
            <a:endParaRPr lang="en-US" dirty="0"/>
          </a:p>
          <a:p>
            <a:r>
              <a:rPr lang="en-US" dirty="0"/>
              <a:t>Add class </a:t>
            </a:r>
            <a:r>
              <a:rPr lang="en-US" b="1" dirty="0"/>
              <a:t>.disabled </a:t>
            </a:r>
            <a:r>
              <a:rPr lang="en-US" dirty="0"/>
              <a:t>if a link for some reason is disabled:</a:t>
            </a:r>
          </a:p>
          <a:p>
            <a:r>
              <a:rPr lang="en-IN" dirty="0">
                <a:solidFill>
                  <a:srgbClr val="0000CD"/>
                </a:solidFill>
                <a:effectLst/>
              </a:rPr>
              <a:t>&lt;</a:t>
            </a:r>
            <a:r>
              <a:rPr lang="en-IN" dirty="0">
                <a:solidFill>
                  <a:srgbClr val="A52A2A"/>
                </a:solidFill>
                <a:effectLst/>
              </a:rPr>
              <a:t>li</a:t>
            </a:r>
            <a:r>
              <a:rPr lang="en-IN" dirty="0">
                <a:solidFill>
                  <a:srgbClr val="FF0000"/>
                </a:solidFill>
                <a:effectLst/>
              </a:rPr>
              <a:t> class</a:t>
            </a:r>
            <a:r>
              <a:rPr lang="en-IN" dirty="0">
                <a:solidFill>
                  <a:srgbClr val="0000CD"/>
                </a:solidFill>
                <a:effectLst/>
              </a:rPr>
              <a:t>="disabled"&gt;&lt;</a:t>
            </a:r>
            <a:r>
              <a:rPr lang="en-IN" dirty="0">
                <a:solidFill>
                  <a:srgbClr val="A52A2A"/>
                </a:solidFill>
                <a:effectLst/>
              </a:rPr>
              <a:t>a</a:t>
            </a:r>
            <a:r>
              <a:rPr lang="en-IN" dirty="0">
                <a:solidFill>
                  <a:srgbClr val="FF0000"/>
                </a:solidFill>
                <a:effectLst/>
              </a:rPr>
              <a:t> </a:t>
            </a:r>
            <a:r>
              <a:rPr lang="en-IN" dirty="0" err="1">
                <a:solidFill>
                  <a:srgbClr val="FF0000"/>
                </a:solidFill>
                <a:effectLst/>
              </a:rPr>
              <a:t>href</a:t>
            </a:r>
            <a:r>
              <a:rPr lang="en-IN" dirty="0">
                <a:solidFill>
                  <a:srgbClr val="0000CD"/>
                </a:solidFill>
                <a:effectLst/>
              </a:rPr>
              <a:t>="#"&gt;</a:t>
            </a:r>
            <a:r>
              <a:rPr lang="en-IN" dirty="0"/>
              <a:t>4</a:t>
            </a:r>
            <a:r>
              <a:rPr lang="en-IN" dirty="0">
                <a:solidFill>
                  <a:srgbClr val="0000CD"/>
                </a:solidFill>
                <a:effectLst/>
              </a:rPr>
              <a:t>&lt;</a:t>
            </a:r>
            <a:r>
              <a:rPr lang="en-IN" dirty="0">
                <a:solidFill>
                  <a:srgbClr val="A52A2A"/>
                </a:solidFill>
                <a:effectLst/>
              </a:rPr>
              <a:t>/a</a:t>
            </a:r>
            <a:r>
              <a:rPr lang="en-IN" dirty="0">
                <a:solidFill>
                  <a:srgbClr val="0000CD"/>
                </a:solidFill>
                <a:effectLst/>
              </a:rPr>
              <a:t>&gt;&lt;</a:t>
            </a:r>
            <a:r>
              <a:rPr lang="en-IN" dirty="0">
                <a:solidFill>
                  <a:srgbClr val="A52A2A"/>
                </a:solidFill>
                <a:effectLst/>
              </a:rPr>
              <a:t>/li</a:t>
            </a:r>
            <a:r>
              <a:rPr lang="en-IN" dirty="0">
                <a:solidFill>
                  <a:srgbClr val="0000CD"/>
                </a:solidFill>
                <a:effectLst/>
              </a:rPr>
              <a:t>&gt;</a:t>
            </a:r>
            <a:endParaRPr lang="en-IN" dirty="0"/>
          </a:p>
        </p:txBody>
      </p:sp>
    </p:spTree>
    <p:extLst>
      <p:ext uri="{BB962C8B-B14F-4D97-AF65-F5344CB8AC3E}">
        <p14:creationId xmlns:p14="http://schemas.microsoft.com/office/powerpoint/2010/main" val="29525008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A13E9E-BF43-FC6A-9B9B-9930FC2C4546}"/>
              </a:ext>
            </a:extLst>
          </p:cNvPr>
          <p:cNvSpPr>
            <a:spLocks noGrp="1"/>
          </p:cNvSpPr>
          <p:nvPr>
            <p:ph type="title"/>
          </p:nvPr>
        </p:nvSpPr>
        <p:spPr/>
        <p:txBody>
          <a:bodyPr/>
          <a:lstStyle/>
          <a:p>
            <a:r>
              <a:rPr lang="en-US" b="1" dirty="0"/>
              <a:t>Pagination Sizing</a:t>
            </a:r>
            <a:br>
              <a:rPr lang="en-US" b="1" dirty="0"/>
            </a:br>
            <a:endParaRPr lang="en-IN" dirty="0"/>
          </a:p>
        </p:txBody>
      </p:sp>
      <p:sp>
        <p:nvSpPr>
          <p:cNvPr id="3" name="Content Placeholder 2">
            <a:extLst>
              <a:ext uri="{FF2B5EF4-FFF2-40B4-BE49-F238E27FC236}">
                <a16:creationId xmlns:a16="http://schemas.microsoft.com/office/drawing/2014/main" id="{B8414700-C2F5-0620-50DD-69C44089487A}"/>
              </a:ext>
            </a:extLst>
          </p:cNvPr>
          <p:cNvSpPr>
            <a:spLocks noGrp="1"/>
          </p:cNvSpPr>
          <p:nvPr>
            <p:ph idx="1"/>
          </p:nvPr>
        </p:nvSpPr>
        <p:spPr/>
        <p:txBody>
          <a:bodyPr/>
          <a:lstStyle/>
          <a:p>
            <a:r>
              <a:rPr lang="en-US" dirty="0"/>
              <a:t>Pagination blocks can also be sized to a larger size or a smaller size:</a:t>
            </a:r>
          </a:p>
          <a:p>
            <a:endParaRPr lang="en-IN" dirty="0"/>
          </a:p>
          <a:p>
            <a:endParaRPr lang="en-IN" dirty="0"/>
          </a:p>
          <a:p>
            <a:r>
              <a:rPr lang="en-US" dirty="0"/>
              <a:t>Add class .</a:t>
            </a:r>
            <a:r>
              <a:rPr lang="en-US" b="1" dirty="0"/>
              <a:t>pagination-lg</a:t>
            </a:r>
            <a:r>
              <a:rPr lang="en-US" dirty="0"/>
              <a:t> for larger blocks or .</a:t>
            </a:r>
            <a:r>
              <a:rPr lang="en-US" b="1" dirty="0"/>
              <a:t>pagination-</a:t>
            </a:r>
            <a:r>
              <a:rPr lang="en-US" b="1" dirty="0" err="1"/>
              <a:t>sm</a:t>
            </a:r>
            <a:r>
              <a:rPr lang="en-US" dirty="0"/>
              <a:t> for smaller blocks:</a:t>
            </a:r>
            <a:endParaRPr lang="en-IN" dirty="0"/>
          </a:p>
          <a:p>
            <a:r>
              <a:rPr lang="en-IN" dirty="0">
                <a:solidFill>
                  <a:srgbClr val="0000CD"/>
                </a:solidFill>
                <a:effectLst/>
              </a:rPr>
              <a:t>&lt;</a:t>
            </a:r>
            <a:r>
              <a:rPr lang="en-IN" dirty="0" err="1">
                <a:solidFill>
                  <a:srgbClr val="A52A2A"/>
                </a:solidFill>
                <a:effectLst/>
              </a:rPr>
              <a:t>ul</a:t>
            </a:r>
            <a:r>
              <a:rPr lang="en-IN" dirty="0">
                <a:solidFill>
                  <a:srgbClr val="FF0000"/>
                </a:solidFill>
                <a:effectLst/>
              </a:rPr>
              <a:t> class</a:t>
            </a:r>
            <a:r>
              <a:rPr lang="en-IN" dirty="0">
                <a:solidFill>
                  <a:srgbClr val="0000CD"/>
                </a:solidFill>
                <a:effectLst/>
              </a:rPr>
              <a:t>="pagination pagination-</a:t>
            </a:r>
            <a:r>
              <a:rPr lang="en-IN" dirty="0" err="1">
                <a:solidFill>
                  <a:srgbClr val="0000CD"/>
                </a:solidFill>
                <a:effectLst/>
              </a:rPr>
              <a:t>sm</a:t>
            </a:r>
            <a:r>
              <a:rPr lang="en-IN" dirty="0">
                <a:solidFill>
                  <a:srgbClr val="0000CD"/>
                </a:solidFill>
                <a:effectLst/>
              </a:rPr>
              <a:t>"&gt;</a:t>
            </a:r>
            <a:endParaRPr lang="en-IN" dirty="0"/>
          </a:p>
        </p:txBody>
      </p:sp>
      <p:pic>
        <p:nvPicPr>
          <p:cNvPr id="5" name="Picture 4">
            <a:extLst>
              <a:ext uri="{FF2B5EF4-FFF2-40B4-BE49-F238E27FC236}">
                <a16:creationId xmlns:a16="http://schemas.microsoft.com/office/drawing/2014/main" id="{DDC09644-8528-B23E-1681-44150AAE6358}"/>
              </a:ext>
            </a:extLst>
          </p:cNvPr>
          <p:cNvPicPr>
            <a:picLocks noChangeAspect="1"/>
          </p:cNvPicPr>
          <p:nvPr/>
        </p:nvPicPr>
        <p:blipFill>
          <a:blip r:embed="rId2"/>
          <a:stretch>
            <a:fillRect/>
          </a:stretch>
        </p:blipFill>
        <p:spPr>
          <a:xfrm>
            <a:off x="1588177" y="2426852"/>
            <a:ext cx="5210902" cy="743054"/>
          </a:xfrm>
          <a:prstGeom prst="rect">
            <a:avLst/>
          </a:prstGeom>
        </p:spPr>
      </p:pic>
    </p:spTree>
    <p:extLst>
      <p:ext uri="{BB962C8B-B14F-4D97-AF65-F5344CB8AC3E}">
        <p14:creationId xmlns:p14="http://schemas.microsoft.com/office/powerpoint/2010/main" val="9987063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207F64-0D69-5809-21E4-BE3CBBE17E99}"/>
              </a:ext>
            </a:extLst>
          </p:cNvPr>
          <p:cNvSpPr>
            <a:spLocks noGrp="1"/>
          </p:cNvSpPr>
          <p:nvPr>
            <p:ph type="title"/>
          </p:nvPr>
        </p:nvSpPr>
        <p:spPr/>
        <p:txBody>
          <a:bodyPr/>
          <a:lstStyle/>
          <a:p>
            <a:r>
              <a:rPr lang="en-US" b="1" dirty="0"/>
              <a:t>Breadcrumbs</a:t>
            </a:r>
            <a:br>
              <a:rPr lang="en-US" b="1" dirty="0"/>
            </a:br>
            <a:endParaRPr lang="en-IN" dirty="0"/>
          </a:p>
        </p:txBody>
      </p:sp>
      <p:sp>
        <p:nvSpPr>
          <p:cNvPr id="3" name="Content Placeholder 2">
            <a:extLst>
              <a:ext uri="{FF2B5EF4-FFF2-40B4-BE49-F238E27FC236}">
                <a16:creationId xmlns:a16="http://schemas.microsoft.com/office/drawing/2014/main" id="{A3739859-8EB3-94E3-6FA9-517B0908B45A}"/>
              </a:ext>
            </a:extLst>
          </p:cNvPr>
          <p:cNvSpPr>
            <a:spLocks noGrp="1"/>
          </p:cNvSpPr>
          <p:nvPr>
            <p:ph idx="1"/>
          </p:nvPr>
        </p:nvSpPr>
        <p:spPr/>
        <p:txBody>
          <a:bodyPr/>
          <a:lstStyle/>
          <a:p>
            <a:r>
              <a:rPr lang="en-US" dirty="0"/>
              <a:t>Another form for pagination, is breadcrumbs:</a:t>
            </a:r>
          </a:p>
          <a:p>
            <a:endParaRPr lang="en-US" dirty="0"/>
          </a:p>
          <a:p>
            <a:endParaRPr lang="en-US" dirty="0"/>
          </a:p>
          <a:p>
            <a:r>
              <a:rPr lang="en-US" dirty="0"/>
              <a:t>The .</a:t>
            </a:r>
            <a:r>
              <a:rPr lang="en-US" b="1" dirty="0"/>
              <a:t>breadcrumb</a:t>
            </a:r>
            <a:r>
              <a:rPr lang="en-US" dirty="0"/>
              <a:t> class indicates the current page's location within a navigational hierarchy:</a:t>
            </a:r>
          </a:p>
          <a:p>
            <a:r>
              <a:rPr lang="en-IN" dirty="0">
                <a:solidFill>
                  <a:srgbClr val="0000CD"/>
                </a:solidFill>
                <a:effectLst/>
              </a:rPr>
              <a:t>&lt;</a:t>
            </a:r>
            <a:r>
              <a:rPr lang="en-IN" dirty="0" err="1">
                <a:solidFill>
                  <a:srgbClr val="A52A2A"/>
                </a:solidFill>
                <a:effectLst/>
              </a:rPr>
              <a:t>ul</a:t>
            </a:r>
            <a:r>
              <a:rPr lang="en-IN" dirty="0">
                <a:solidFill>
                  <a:srgbClr val="FF0000"/>
                </a:solidFill>
                <a:effectLst/>
              </a:rPr>
              <a:t> class</a:t>
            </a:r>
            <a:r>
              <a:rPr lang="en-IN" dirty="0">
                <a:solidFill>
                  <a:srgbClr val="0000CD"/>
                </a:solidFill>
                <a:effectLst/>
              </a:rPr>
              <a:t>="breadcrumb"&gt;</a:t>
            </a:r>
            <a:endParaRPr lang="en-US" dirty="0"/>
          </a:p>
          <a:p>
            <a:endParaRPr lang="en-IN" dirty="0"/>
          </a:p>
        </p:txBody>
      </p:sp>
      <p:pic>
        <p:nvPicPr>
          <p:cNvPr id="5" name="Picture 4">
            <a:extLst>
              <a:ext uri="{FF2B5EF4-FFF2-40B4-BE49-F238E27FC236}">
                <a16:creationId xmlns:a16="http://schemas.microsoft.com/office/drawing/2014/main" id="{417C4FF8-1857-2747-EECE-C2B78D21C3C9}"/>
              </a:ext>
            </a:extLst>
          </p:cNvPr>
          <p:cNvPicPr>
            <a:picLocks noChangeAspect="1"/>
          </p:cNvPicPr>
          <p:nvPr/>
        </p:nvPicPr>
        <p:blipFill>
          <a:blip r:embed="rId2"/>
          <a:stretch>
            <a:fillRect/>
          </a:stretch>
        </p:blipFill>
        <p:spPr>
          <a:xfrm>
            <a:off x="1734252" y="2635761"/>
            <a:ext cx="6411220" cy="514422"/>
          </a:xfrm>
          <a:prstGeom prst="rect">
            <a:avLst/>
          </a:prstGeom>
        </p:spPr>
      </p:pic>
    </p:spTree>
    <p:extLst>
      <p:ext uri="{BB962C8B-B14F-4D97-AF65-F5344CB8AC3E}">
        <p14:creationId xmlns:p14="http://schemas.microsoft.com/office/powerpoint/2010/main" val="233822555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7CA57-5389-6975-FDEB-C5428447E0D1}"/>
              </a:ext>
            </a:extLst>
          </p:cNvPr>
          <p:cNvSpPr>
            <a:spLocks noGrp="1"/>
          </p:cNvSpPr>
          <p:nvPr>
            <p:ph type="title"/>
          </p:nvPr>
        </p:nvSpPr>
        <p:spPr/>
        <p:txBody>
          <a:bodyPr/>
          <a:lstStyle/>
          <a:p>
            <a:r>
              <a:rPr lang="en-US" dirty="0"/>
              <a:t>Alignment</a:t>
            </a:r>
            <a:br>
              <a:rPr lang="en-US" dirty="0"/>
            </a:br>
            <a:endParaRPr lang="en-IN" dirty="0"/>
          </a:p>
        </p:txBody>
      </p:sp>
      <p:sp>
        <p:nvSpPr>
          <p:cNvPr id="3" name="Content Placeholder 2">
            <a:extLst>
              <a:ext uri="{FF2B5EF4-FFF2-40B4-BE49-F238E27FC236}">
                <a16:creationId xmlns:a16="http://schemas.microsoft.com/office/drawing/2014/main" id="{32BE4BC5-066C-0EF7-A8B3-2E8F9FAADE26}"/>
              </a:ext>
            </a:extLst>
          </p:cNvPr>
          <p:cNvSpPr>
            <a:spLocks noGrp="1"/>
          </p:cNvSpPr>
          <p:nvPr>
            <p:ph idx="1"/>
          </p:nvPr>
        </p:nvSpPr>
        <p:spPr/>
        <p:txBody>
          <a:bodyPr/>
          <a:lstStyle/>
          <a:p>
            <a:endParaRPr lang="en-US" dirty="0"/>
          </a:p>
          <a:p>
            <a:r>
              <a:rPr lang="en-US" dirty="0"/>
              <a:t>Change the alignment of pagination components with flexbox utilities.</a:t>
            </a:r>
          </a:p>
          <a:p>
            <a:r>
              <a:rPr lang="en-US" dirty="0"/>
              <a:t>Add the </a:t>
            </a:r>
            <a:r>
              <a:rPr lang="en-US" b="1" dirty="0"/>
              <a:t>.justify-content-center </a:t>
            </a:r>
            <a:r>
              <a:rPr lang="en-US" dirty="0"/>
              <a:t>class to </a:t>
            </a:r>
            <a:r>
              <a:rPr lang="en-US" b="1" dirty="0"/>
              <a:t>center the pagination,</a:t>
            </a:r>
            <a:r>
              <a:rPr lang="en-US" dirty="0"/>
              <a:t> and the </a:t>
            </a:r>
            <a:r>
              <a:rPr lang="en-US" b="1" dirty="0"/>
              <a:t>.justify-content-end </a:t>
            </a:r>
            <a:r>
              <a:rPr lang="en-US" dirty="0"/>
              <a:t>class to </a:t>
            </a:r>
            <a:r>
              <a:rPr lang="en-US" b="1" dirty="0"/>
              <a:t>right-align the pagination</a:t>
            </a:r>
          </a:p>
          <a:p>
            <a:pPr marL="0" indent="0">
              <a:buNone/>
            </a:pPr>
            <a:r>
              <a:rPr lang="en-IN" dirty="0"/>
              <a:t>&lt;</a:t>
            </a:r>
            <a:r>
              <a:rPr lang="en-IN" dirty="0" err="1"/>
              <a:t>ul</a:t>
            </a:r>
            <a:r>
              <a:rPr lang="en-IN" dirty="0"/>
              <a:t> class="pagination justify-content-</a:t>
            </a:r>
            <a:r>
              <a:rPr lang="en-IN" dirty="0" err="1"/>
              <a:t>center</a:t>
            </a:r>
            <a:r>
              <a:rPr lang="en-IN" dirty="0"/>
              <a:t>"&gt;</a:t>
            </a:r>
          </a:p>
        </p:txBody>
      </p:sp>
    </p:spTree>
    <p:extLst>
      <p:ext uri="{BB962C8B-B14F-4D97-AF65-F5344CB8AC3E}">
        <p14:creationId xmlns:p14="http://schemas.microsoft.com/office/powerpoint/2010/main" val="416349021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A231D7-8FD0-8013-C945-967C8AABB372}"/>
              </a:ext>
            </a:extLst>
          </p:cNvPr>
          <p:cNvSpPr>
            <a:spLocks noGrp="1"/>
          </p:cNvSpPr>
          <p:nvPr>
            <p:ph type="title"/>
          </p:nvPr>
        </p:nvSpPr>
        <p:spPr/>
        <p:txBody>
          <a:bodyPr/>
          <a:lstStyle/>
          <a:p>
            <a:r>
              <a:rPr lang="en-IN" b="1" dirty="0"/>
              <a:t>Bootstrap 5 Dropdowns</a:t>
            </a:r>
            <a:br>
              <a:rPr lang="en-IN" b="1" dirty="0"/>
            </a:br>
            <a:endParaRPr lang="en-IN" dirty="0"/>
          </a:p>
        </p:txBody>
      </p:sp>
      <p:sp>
        <p:nvSpPr>
          <p:cNvPr id="3" name="Content Placeholder 2">
            <a:extLst>
              <a:ext uri="{FF2B5EF4-FFF2-40B4-BE49-F238E27FC236}">
                <a16:creationId xmlns:a16="http://schemas.microsoft.com/office/drawing/2014/main" id="{1BA815A2-0DD6-D926-BB61-70FC78454327}"/>
              </a:ext>
            </a:extLst>
          </p:cNvPr>
          <p:cNvSpPr>
            <a:spLocks noGrp="1"/>
          </p:cNvSpPr>
          <p:nvPr>
            <p:ph idx="1"/>
          </p:nvPr>
        </p:nvSpPr>
        <p:spPr/>
        <p:txBody>
          <a:bodyPr>
            <a:normAutofit fontScale="92500" lnSpcReduction="10000"/>
          </a:bodyPr>
          <a:lstStyle/>
          <a:p>
            <a:r>
              <a:rPr lang="en-US" dirty="0"/>
              <a:t>A dropdown menu is a toggleable menu that allows the user to choose one value from a predefined list:</a:t>
            </a:r>
          </a:p>
          <a:p>
            <a:r>
              <a:rPr lang="en-IN" dirty="0">
                <a:solidFill>
                  <a:srgbClr val="0000CD"/>
                </a:solidFill>
                <a:effectLst/>
              </a:rPr>
              <a:t>&lt;</a:t>
            </a:r>
            <a:r>
              <a:rPr lang="en-IN" dirty="0">
                <a:solidFill>
                  <a:srgbClr val="A52A2A"/>
                </a:solidFill>
                <a:effectLst/>
              </a:rPr>
              <a:t>div</a:t>
            </a:r>
            <a:r>
              <a:rPr lang="en-IN" dirty="0">
                <a:solidFill>
                  <a:srgbClr val="FF0000"/>
                </a:solidFill>
                <a:effectLst/>
              </a:rPr>
              <a:t> class</a:t>
            </a:r>
            <a:r>
              <a:rPr lang="en-IN" dirty="0">
                <a:solidFill>
                  <a:srgbClr val="0000CD"/>
                </a:solidFill>
                <a:effectLst/>
              </a:rPr>
              <a:t>="dropdown"&gt;</a:t>
            </a:r>
            <a:br>
              <a:rPr lang="en-IN" dirty="0"/>
            </a:br>
            <a:r>
              <a:rPr lang="en-IN" dirty="0"/>
              <a:t>  </a:t>
            </a:r>
            <a:r>
              <a:rPr lang="en-IN" dirty="0">
                <a:solidFill>
                  <a:srgbClr val="0000CD"/>
                </a:solidFill>
                <a:effectLst/>
              </a:rPr>
              <a:t>&lt;</a:t>
            </a:r>
            <a:r>
              <a:rPr lang="en-IN" dirty="0">
                <a:solidFill>
                  <a:srgbClr val="A52A2A"/>
                </a:solidFill>
                <a:effectLst/>
              </a:rPr>
              <a:t>button</a:t>
            </a:r>
            <a:r>
              <a:rPr lang="en-IN" dirty="0">
                <a:solidFill>
                  <a:srgbClr val="FF0000"/>
                </a:solidFill>
                <a:effectLst/>
              </a:rPr>
              <a:t> type</a:t>
            </a:r>
            <a:r>
              <a:rPr lang="en-IN" dirty="0">
                <a:solidFill>
                  <a:srgbClr val="0000CD"/>
                </a:solidFill>
                <a:effectLst/>
              </a:rPr>
              <a:t>="button"</a:t>
            </a:r>
            <a:r>
              <a:rPr lang="en-IN" dirty="0">
                <a:solidFill>
                  <a:srgbClr val="FF0000"/>
                </a:solidFill>
                <a:effectLst/>
              </a:rPr>
              <a:t> class</a:t>
            </a:r>
            <a:r>
              <a:rPr lang="en-IN" dirty="0">
                <a:solidFill>
                  <a:srgbClr val="0000CD"/>
                </a:solidFill>
                <a:effectLst/>
              </a:rPr>
              <a:t>="</a:t>
            </a:r>
            <a:r>
              <a:rPr lang="en-IN" dirty="0" err="1">
                <a:solidFill>
                  <a:srgbClr val="0000CD"/>
                </a:solidFill>
                <a:effectLst/>
              </a:rPr>
              <a:t>btn</a:t>
            </a:r>
            <a:r>
              <a:rPr lang="en-IN" dirty="0">
                <a:solidFill>
                  <a:srgbClr val="0000CD"/>
                </a:solidFill>
                <a:effectLst/>
              </a:rPr>
              <a:t> </a:t>
            </a:r>
            <a:r>
              <a:rPr lang="en-IN" dirty="0" err="1">
                <a:solidFill>
                  <a:srgbClr val="0000CD"/>
                </a:solidFill>
                <a:effectLst/>
              </a:rPr>
              <a:t>btn</a:t>
            </a:r>
            <a:r>
              <a:rPr lang="en-IN" dirty="0">
                <a:solidFill>
                  <a:srgbClr val="0000CD"/>
                </a:solidFill>
                <a:effectLst/>
              </a:rPr>
              <a:t>-primary dropdown-toggle"</a:t>
            </a:r>
            <a:r>
              <a:rPr lang="en-IN" dirty="0">
                <a:solidFill>
                  <a:srgbClr val="FF0000"/>
                </a:solidFill>
                <a:effectLst/>
              </a:rPr>
              <a:t> data-bs-toggle</a:t>
            </a:r>
            <a:r>
              <a:rPr lang="en-IN" dirty="0">
                <a:solidFill>
                  <a:srgbClr val="0000CD"/>
                </a:solidFill>
                <a:effectLst/>
              </a:rPr>
              <a:t>="dropdown"&gt;</a:t>
            </a:r>
            <a:br>
              <a:rPr lang="en-IN" dirty="0"/>
            </a:br>
            <a:r>
              <a:rPr lang="en-IN" dirty="0"/>
              <a:t>    Dropdown button</a:t>
            </a:r>
            <a:br>
              <a:rPr lang="en-IN" dirty="0"/>
            </a:br>
            <a:r>
              <a:rPr lang="en-IN" dirty="0"/>
              <a:t>  </a:t>
            </a:r>
            <a:r>
              <a:rPr lang="en-IN" dirty="0">
                <a:solidFill>
                  <a:srgbClr val="0000CD"/>
                </a:solidFill>
                <a:effectLst/>
              </a:rPr>
              <a:t>&lt;</a:t>
            </a:r>
            <a:r>
              <a:rPr lang="en-IN" dirty="0">
                <a:solidFill>
                  <a:srgbClr val="A52A2A"/>
                </a:solidFill>
                <a:effectLst/>
              </a:rPr>
              <a:t>/button</a:t>
            </a:r>
            <a:r>
              <a:rPr lang="en-IN" dirty="0">
                <a:solidFill>
                  <a:srgbClr val="0000CD"/>
                </a:solidFill>
                <a:effectLst/>
              </a:rPr>
              <a:t>&gt;</a:t>
            </a:r>
            <a:br>
              <a:rPr lang="en-IN" dirty="0"/>
            </a:br>
            <a:r>
              <a:rPr lang="en-IN" dirty="0"/>
              <a:t>  </a:t>
            </a:r>
            <a:r>
              <a:rPr lang="en-IN" dirty="0">
                <a:solidFill>
                  <a:srgbClr val="0000CD"/>
                </a:solidFill>
                <a:effectLst/>
              </a:rPr>
              <a:t>&lt;</a:t>
            </a:r>
            <a:r>
              <a:rPr lang="en-IN" dirty="0" err="1">
                <a:solidFill>
                  <a:srgbClr val="A52A2A"/>
                </a:solidFill>
                <a:effectLst/>
              </a:rPr>
              <a:t>ul</a:t>
            </a:r>
            <a:r>
              <a:rPr lang="en-IN" dirty="0">
                <a:solidFill>
                  <a:srgbClr val="FF0000"/>
                </a:solidFill>
                <a:effectLst/>
              </a:rPr>
              <a:t> class</a:t>
            </a:r>
            <a:r>
              <a:rPr lang="en-IN" dirty="0">
                <a:solidFill>
                  <a:srgbClr val="0000CD"/>
                </a:solidFill>
                <a:effectLst/>
              </a:rPr>
              <a:t>="dropdown-menu"&gt;</a:t>
            </a:r>
            <a:br>
              <a:rPr lang="en-IN" dirty="0"/>
            </a:br>
            <a:r>
              <a:rPr lang="en-IN" dirty="0"/>
              <a:t>    </a:t>
            </a:r>
            <a:r>
              <a:rPr lang="en-IN" dirty="0">
                <a:solidFill>
                  <a:srgbClr val="0000CD"/>
                </a:solidFill>
                <a:effectLst/>
              </a:rPr>
              <a:t>&lt;</a:t>
            </a:r>
            <a:r>
              <a:rPr lang="en-IN" dirty="0">
                <a:solidFill>
                  <a:srgbClr val="A52A2A"/>
                </a:solidFill>
                <a:effectLst/>
              </a:rPr>
              <a:t>li</a:t>
            </a:r>
            <a:r>
              <a:rPr lang="en-IN" dirty="0">
                <a:solidFill>
                  <a:srgbClr val="0000CD"/>
                </a:solidFill>
                <a:effectLst/>
              </a:rPr>
              <a:t>&gt;&lt;</a:t>
            </a:r>
            <a:r>
              <a:rPr lang="en-IN" dirty="0">
                <a:solidFill>
                  <a:srgbClr val="A52A2A"/>
                </a:solidFill>
                <a:effectLst/>
              </a:rPr>
              <a:t>a</a:t>
            </a:r>
            <a:r>
              <a:rPr lang="en-IN" dirty="0">
                <a:solidFill>
                  <a:srgbClr val="FF0000"/>
                </a:solidFill>
                <a:effectLst/>
              </a:rPr>
              <a:t> class</a:t>
            </a:r>
            <a:r>
              <a:rPr lang="en-IN" dirty="0">
                <a:solidFill>
                  <a:srgbClr val="0000CD"/>
                </a:solidFill>
                <a:effectLst/>
              </a:rPr>
              <a:t>="dropdown-item"</a:t>
            </a:r>
            <a:r>
              <a:rPr lang="en-IN" dirty="0">
                <a:solidFill>
                  <a:srgbClr val="FF0000"/>
                </a:solidFill>
                <a:effectLst/>
              </a:rPr>
              <a:t> </a:t>
            </a:r>
            <a:r>
              <a:rPr lang="en-IN" dirty="0" err="1">
                <a:solidFill>
                  <a:srgbClr val="FF0000"/>
                </a:solidFill>
                <a:effectLst/>
              </a:rPr>
              <a:t>href</a:t>
            </a:r>
            <a:r>
              <a:rPr lang="en-IN" dirty="0">
                <a:solidFill>
                  <a:srgbClr val="0000CD"/>
                </a:solidFill>
                <a:effectLst/>
              </a:rPr>
              <a:t>="#"&gt;</a:t>
            </a:r>
            <a:r>
              <a:rPr lang="en-IN" dirty="0"/>
              <a:t>Link 1</a:t>
            </a:r>
            <a:r>
              <a:rPr lang="en-IN" dirty="0">
                <a:solidFill>
                  <a:srgbClr val="0000CD"/>
                </a:solidFill>
                <a:effectLst/>
              </a:rPr>
              <a:t>&lt;</a:t>
            </a:r>
            <a:r>
              <a:rPr lang="en-IN" dirty="0">
                <a:solidFill>
                  <a:srgbClr val="A52A2A"/>
                </a:solidFill>
                <a:effectLst/>
              </a:rPr>
              <a:t>/a</a:t>
            </a:r>
            <a:r>
              <a:rPr lang="en-IN" dirty="0">
                <a:solidFill>
                  <a:srgbClr val="0000CD"/>
                </a:solidFill>
                <a:effectLst/>
              </a:rPr>
              <a:t>&gt;&lt;</a:t>
            </a:r>
            <a:r>
              <a:rPr lang="en-IN" dirty="0">
                <a:solidFill>
                  <a:srgbClr val="A52A2A"/>
                </a:solidFill>
                <a:effectLst/>
              </a:rPr>
              <a:t>/li</a:t>
            </a:r>
            <a:r>
              <a:rPr lang="en-IN" dirty="0">
                <a:solidFill>
                  <a:srgbClr val="0000CD"/>
                </a:solidFill>
                <a:effectLst/>
              </a:rPr>
              <a:t>&gt;</a:t>
            </a:r>
            <a:br>
              <a:rPr lang="en-IN" dirty="0"/>
            </a:br>
            <a:r>
              <a:rPr lang="en-IN" dirty="0"/>
              <a:t>    </a:t>
            </a:r>
            <a:r>
              <a:rPr lang="en-IN" dirty="0">
                <a:solidFill>
                  <a:srgbClr val="0000CD"/>
                </a:solidFill>
                <a:effectLst/>
              </a:rPr>
              <a:t>&lt;</a:t>
            </a:r>
            <a:r>
              <a:rPr lang="en-IN" dirty="0">
                <a:solidFill>
                  <a:srgbClr val="A52A2A"/>
                </a:solidFill>
                <a:effectLst/>
              </a:rPr>
              <a:t>li</a:t>
            </a:r>
            <a:r>
              <a:rPr lang="en-IN" dirty="0">
                <a:solidFill>
                  <a:srgbClr val="0000CD"/>
                </a:solidFill>
                <a:effectLst/>
              </a:rPr>
              <a:t>&gt;&lt;</a:t>
            </a:r>
            <a:r>
              <a:rPr lang="en-IN" dirty="0">
                <a:solidFill>
                  <a:srgbClr val="A52A2A"/>
                </a:solidFill>
                <a:effectLst/>
              </a:rPr>
              <a:t>a</a:t>
            </a:r>
            <a:r>
              <a:rPr lang="en-IN" dirty="0">
                <a:solidFill>
                  <a:srgbClr val="FF0000"/>
                </a:solidFill>
                <a:effectLst/>
              </a:rPr>
              <a:t> class</a:t>
            </a:r>
            <a:r>
              <a:rPr lang="en-IN" dirty="0">
                <a:solidFill>
                  <a:srgbClr val="0000CD"/>
                </a:solidFill>
                <a:effectLst/>
              </a:rPr>
              <a:t>="dropdown-item"</a:t>
            </a:r>
            <a:r>
              <a:rPr lang="en-IN" dirty="0">
                <a:solidFill>
                  <a:srgbClr val="FF0000"/>
                </a:solidFill>
                <a:effectLst/>
              </a:rPr>
              <a:t> </a:t>
            </a:r>
            <a:r>
              <a:rPr lang="en-IN" dirty="0" err="1">
                <a:solidFill>
                  <a:srgbClr val="FF0000"/>
                </a:solidFill>
                <a:effectLst/>
              </a:rPr>
              <a:t>href</a:t>
            </a:r>
            <a:r>
              <a:rPr lang="en-IN" dirty="0">
                <a:solidFill>
                  <a:srgbClr val="0000CD"/>
                </a:solidFill>
                <a:effectLst/>
              </a:rPr>
              <a:t>="#"&gt;</a:t>
            </a:r>
            <a:r>
              <a:rPr lang="en-IN" dirty="0"/>
              <a:t>Link 2</a:t>
            </a:r>
            <a:r>
              <a:rPr lang="en-IN" dirty="0">
                <a:solidFill>
                  <a:srgbClr val="0000CD"/>
                </a:solidFill>
                <a:effectLst/>
              </a:rPr>
              <a:t>&lt;</a:t>
            </a:r>
            <a:r>
              <a:rPr lang="en-IN" dirty="0">
                <a:solidFill>
                  <a:srgbClr val="A52A2A"/>
                </a:solidFill>
                <a:effectLst/>
              </a:rPr>
              <a:t>/a</a:t>
            </a:r>
            <a:r>
              <a:rPr lang="en-IN" dirty="0">
                <a:solidFill>
                  <a:srgbClr val="0000CD"/>
                </a:solidFill>
                <a:effectLst/>
              </a:rPr>
              <a:t>&gt;&lt;</a:t>
            </a:r>
            <a:r>
              <a:rPr lang="en-IN" dirty="0">
                <a:solidFill>
                  <a:srgbClr val="A52A2A"/>
                </a:solidFill>
                <a:effectLst/>
              </a:rPr>
              <a:t>/li</a:t>
            </a:r>
            <a:r>
              <a:rPr lang="en-IN" dirty="0">
                <a:solidFill>
                  <a:srgbClr val="0000CD"/>
                </a:solidFill>
                <a:effectLst/>
              </a:rPr>
              <a:t>&gt;</a:t>
            </a:r>
            <a:br>
              <a:rPr lang="en-IN" dirty="0"/>
            </a:br>
            <a:r>
              <a:rPr lang="en-IN" dirty="0"/>
              <a:t>    </a:t>
            </a:r>
            <a:r>
              <a:rPr lang="en-IN" dirty="0">
                <a:solidFill>
                  <a:srgbClr val="0000CD"/>
                </a:solidFill>
                <a:effectLst/>
              </a:rPr>
              <a:t>&lt;</a:t>
            </a:r>
            <a:r>
              <a:rPr lang="en-IN" dirty="0">
                <a:solidFill>
                  <a:srgbClr val="A52A2A"/>
                </a:solidFill>
                <a:effectLst/>
              </a:rPr>
              <a:t>li</a:t>
            </a:r>
            <a:r>
              <a:rPr lang="en-IN" dirty="0">
                <a:solidFill>
                  <a:srgbClr val="0000CD"/>
                </a:solidFill>
                <a:effectLst/>
              </a:rPr>
              <a:t>&gt;&lt;</a:t>
            </a:r>
            <a:r>
              <a:rPr lang="en-IN" dirty="0">
                <a:solidFill>
                  <a:srgbClr val="A52A2A"/>
                </a:solidFill>
                <a:effectLst/>
              </a:rPr>
              <a:t>a</a:t>
            </a:r>
            <a:r>
              <a:rPr lang="en-IN" dirty="0">
                <a:solidFill>
                  <a:srgbClr val="FF0000"/>
                </a:solidFill>
                <a:effectLst/>
              </a:rPr>
              <a:t> class</a:t>
            </a:r>
            <a:r>
              <a:rPr lang="en-IN" dirty="0">
                <a:solidFill>
                  <a:srgbClr val="0000CD"/>
                </a:solidFill>
                <a:effectLst/>
              </a:rPr>
              <a:t>="dropdown-item"</a:t>
            </a:r>
            <a:r>
              <a:rPr lang="en-IN" dirty="0">
                <a:solidFill>
                  <a:srgbClr val="FF0000"/>
                </a:solidFill>
                <a:effectLst/>
              </a:rPr>
              <a:t> </a:t>
            </a:r>
            <a:r>
              <a:rPr lang="en-IN" dirty="0" err="1">
                <a:solidFill>
                  <a:srgbClr val="FF0000"/>
                </a:solidFill>
                <a:effectLst/>
              </a:rPr>
              <a:t>href</a:t>
            </a:r>
            <a:r>
              <a:rPr lang="en-IN" dirty="0">
                <a:solidFill>
                  <a:srgbClr val="0000CD"/>
                </a:solidFill>
                <a:effectLst/>
              </a:rPr>
              <a:t>="#"&gt;</a:t>
            </a:r>
            <a:r>
              <a:rPr lang="en-IN" dirty="0"/>
              <a:t>Link 3</a:t>
            </a:r>
            <a:r>
              <a:rPr lang="en-IN" dirty="0">
                <a:solidFill>
                  <a:srgbClr val="0000CD"/>
                </a:solidFill>
                <a:effectLst/>
              </a:rPr>
              <a:t>&lt;</a:t>
            </a:r>
            <a:r>
              <a:rPr lang="en-IN" dirty="0">
                <a:solidFill>
                  <a:srgbClr val="A52A2A"/>
                </a:solidFill>
                <a:effectLst/>
              </a:rPr>
              <a:t>/a</a:t>
            </a:r>
            <a:r>
              <a:rPr lang="en-IN" dirty="0">
                <a:solidFill>
                  <a:srgbClr val="0000CD"/>
                </a:solidFill>
                <a:effectLst/>
              </a:rPr>
              <a:t>&gt;&lt;</a:t>
            </a:r>
            <a:r>
              <a:rPr lang="en-IN" dirty="0">
                <a:solidFill>
                  <a:srgbClr val="A52A2A"/>
                </a:solidFill>
                <a:effectLst/>
              </a:rPr>
              <a:t>/li</a:t>
            </a:r>
            <a:r>
              <a:rPr lang="en-IN" dirty="0">
                <a:solidFill>
                  <a:srgbClr val="0000CD"/>
                </a:solidFill>
                <a:effectLst/>
              </a:rPr>
              <a:t>&gt;</a:t>
            </a:r>
            <a:br>
              <a:rPr lang="en-IN" dirty="0"/>
            </a:br>
            <a:r>
              <a:rPr lang="en-IN" dirty="0"/>
              <a:t>  </a:t>
            </a:r>
            <a:r>
              <a:rPr lang="en-IN" dirty="0">
                <a:solidFill>
                  <a:srgbClr val="0000CD"/>
                </a:solidFill>
                <a:effectLst/>
              </a:rPr>
              <a:t>&lt;</a:t>
            </a:r>
            <a:r>
              <a:rPr lang="en-IN" dirty="0">
                <a:solidFill>
                  <a:srgbClr val="A52A2A"/>
                </a:solidFill>
                <a:effectLst/>
              </a:rPr>
              <a:t>/</a:t>
            </a:r>
            <a:r>
              <a:rPr lang="en-IN" dirty="0" err="1">
                <a:solidFill>
                  <a:srgbClr val="A52A2A"/>
                </a:solidFill>
                <a:effectLst/>
              </a:rPr>
              <a:t>ul</a:t>
            </a:r>
            <a:r>
              <a:rPr lang="en-IN" dirty="0">
                <a:solidFill>
                  <a:srgbClr val="0000CD"/>
                </a:solidFill>
                <a:effectLst/>
              </a:rPr>
              <a:t>&gt;</a:t>
            </a:r>
            <a:br>
              <a:rPr lang="en-IN" dirty="0"/>
            </a:br>
            <a:r>
              <a:rPr lang="en-IN" dirty="0">
                <a:solidFill>
                  <a:srgbClr val="0000CD"/>
                </a:solidFill>
                <a:effectLst/>
              </a:rPr>
              <a:t>&lt;</a:t>
            </a:r>
            <a:r>
              <a:rPr lang="en-IN" dirty="0">
                <a:solidFill>
                  <a:srgbClr val="A52A2A"/>
                </a:solidFill>
                <a:effectLst/>
              </a:rPr>
              <a:t>/div</a:t>
            </a:r>
            <a:r>
              <a:rPr lang="en-IN" dirty="0">
                <a:solidFill>
                  <a:srgbClr val="0000CD"/>
                </a:solidFill>
                <a:effectLst/>
              </a:rPr>
              <a:t>&gt;</a:t>
            </a:r>
            <a:r>
              <a:rPr lang="en-IN" dirty="0"/>
              <a:t> </a:t>
            </a:r>
          </a:p>
          <a:p>
            <a:endParaRPr lang="en-IN" dirty="0"/>
          </a:p>
        </p:txBody>
      </p:sp>
    </p:spTree>
    <p:extLst>
      <p:ext uri="{BB962C8B-B14F-4D97-AF65-F5344CB8AC3E}">
        <p14:creationId xmlns:p14="http://schemas.microsoft.com/office/powerpoint/2010/main" val="123265852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3F81F2-4F71-F50E-2CB8-C2C5C2AD20A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D069CB9-8161-51A9-9F0E-0139173F7DCA}"/>
              </a:ext>
            </a:extLst>
          </p:cNvPr>
          <p:cNvSpPr>
            <a:spLocks noGrp="1"/>
          </p:cNvSpPr>
          <p:nvPr>
            <p:ph idx="1"/>
          </p:nvPr>
        </p:nvSpPr>
        <p:spPr/>
        <p:txBody>
          <a:bodyPr>
            <a:normAutofit fontScale="77500" lnSpcReduction="20000"/>
          </a:bodyPr>
          <a:lstStyle/>
          <a:p>
            <a:r>
              <a:rPr lang="en-US" dirty="0"/>
              <a:t>The .</a:t>
            </a:r>
            <a:r>
              <a:rPr lang="en-US" dirty="0">
                <a:highlight>
                  <a:srgbClr val="FFFF00"/>
                </a:highlight>
              </a:rPr>
              <a:t>dropdown</a:t>
            </a:r>
            <a:r>
              <a:rPr lang="en-US" dirty="0"/>
              <a:t> class indicates a dropdown menu.</a:t>
            </a:r>
          </a:p>
          <a:p>
            <a:endParaRPr lang="en-US" dirty="0"/>
          </a:p>
          <a:p>
            <a:r>
              <a:rPr lang="en-US" dirty="0"/>
              <a:t>To open the dropdown menu, use a button or a link with </a:t>
            </a:r>
            <a:r>
              <a:rPr lang="en-US" dirty="0">
                <a:highlight>
                  <a:srgbClr val="FFFF00"/>
                </a:highlight>
              </a:rPr>
              <a:t>a class of .dropdown-toggle</a:t>
            </a:r>
            <a:r>
              <a:rPr lang="en-US" dirty="0"/>
              <a:t> and the </a:t>
            </a:r>
            <a:r>
              <a:rPr lang="en-US" dirty="0">
                <a:highlight>
                  <a:srgbClr val="FFFF00"/>
                </a:highlight>
              </a:rPr>
              <a:t>data-bs-toggle="dropdown</a:t>
            </a:r>
            <a:r>
              <a:rPr lang="en-US" dirty="0"/>
              <a:t>" attribute.</a:t>
            </a:r>
          </a:p>
          <a:p>
            <a:endParaRPr lang="en-US" dirty="0"/>
          </a:p>
          <a:p>
            <a:r>
              <a:rPr lang="en-US" b="1" dirty="0"/>
              <a:t>data-bs-toggle:</a:t>
            </a:r>
            <a:r>
              <a:rPr lang="en-US" dirty="0"/>
              <a:t> This attribute is used to describe what type of toggling will be done to the button to which it is attached.</a:t>
            </a:r>
          </a:p>
          <a:p>
            <a:endParaRPr lang="en-US" dirty="0"/>
          </a:p>
          <a:p>
            <a:r>
              <a:rPr lang="en-US" dirty="0"/>
              <a:t>Add </a:t>
            </a:r>
            <a:r>
              <a:rPr lang="en-US" dirty="0">
                <a:highlight>
                  <a:srgbClr val="FFFF00"/>
                </a:highlight>
              </a:rPr>
              <a:t>the .dropdown-menu </a:t>
            </a:r>
            <a:r>
              <a:rPr lang="en-US" dirty="0"/>
              <a:t>class to a container element, like &lt;div&gt; or &lt;</a:t>
            </a:r>
            <a:r>
              <a:rPr lang="en-US" dirty="0" err="1"/>
              <a:t>ul</a:t>
            </a:r>
            <a:r>
              <a:rPr lang="en-US" dirty="0"/>
              <a:t>&gt;, to actually build the dropdown menu. </a:t>
            </a:r>
          </a:p>
          <a:p>
            <a:endParaRPr lang="en-US" dirty="0"/>
          </a:p>
          <a:p>
            <a:r>
              <a:rPr lang="en-US" dirty="0"/>
              <a:t>Then add the </a:t>
            </a:r>
            <a:r>
              <a:rPr lang="en-US" dirty="0">
                <a:highlight>
                  <a:srgbClr val="FFFF00"/>
                </a:highlight>
              </a:rPr>
              <a:t>.dropdown-item </a:t>
            </a:r>
            <a:r>
              <a:rPr lang="en-US" dirty="0"/>
              <a:t>class to each element (links or buttons) inside the dropdown menu.</a:t>
            </a:r>
            <a:endParaRPr lang="en-IN" dirty="0"/>
          </a:p>
        </p:txBody>
      </p:sp>
    </p:spTree>
    <p:extLst>
      <p:ext uri="{BB962C8B-B14F-4D97-AF65-F5344CB8AC3E}">
        <p14:creationId xmlns:p14="http://schemas.microsoft.com/office/powerpoint/2010/main" val="323835430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B324F3-9A8E-E1EB-D736-0E594EB3D1A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DC052C8-6544-700D-A542-94EC7F728CE9}"/>
              </a:ext>
            </a:extLst>
          </p:cNvPr>
          <p:cNvSpPr>
            <a:spLocks noGrp="1"/>
          </p:cNvSpPr>
          <p:nvPr>
            <p:ph idx="1"/>
          </p:nvPr>
        </p:nvSpPr>
        <p:spPr/>
        <p:txBody>
          <a:bodyPr>
            <a:normAutofit/>
          </a:bodyPr>
          <a:lstStyle/>
          <a:p>
            <a:r>
              <a:rPr lang="en-IN" dirty="0"/>
              <a:t>Dropdowns are toggleable, contextual overlays for displaying lists of links and more. They’re made interactive with the included Bootstrap dropdown JavaScript plugin. They’re toggled by clicking, not by hovering; this is an intentional design decision.</a:t>
            </a:r>
          </a:p>
          <a:p>
            <a:endParaRPr lang="en-IN" dirty="0"/>
          </a:p>
          <a:p>
            <a:r>
              <a:rPr lang="en-IN" dirty="0"/>
              <a:t>Dropdowns are built on a third party library, Popper, which provides dynamic positioning and viewport detection. Be sure to include popper.min.js before Bootstrap’s JavaScript or use bootstrap.bundle.min.js / bootstrap.bundle.js which contains Popper. </a:t>
            </a:r>
          </a:p>
        </p:txBody>
      </p:sp>
    </p:spTree>
    <p:extLst>
      <p:ext uri="{BB962C8B-B14F-4D97-AF65-F5344CB8AC3E}">
        <p14:creationId xmlns:p14="http://schemas.microsoft.com/office/powerpoint/2010/main" val="240079796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B45D4E-8302-BD9B-5766-E6D2467BA459}"/>
              </a:ext>
            </a:extLst>
          </p:cNvPr>
          <p:cNvSpPr>
            <a:spLocks noGrp="1"/>
          </p:cNvSpPr>
          <p:nvPr>
            <p:ph type="title"/>
          </p:nvPr>
        </p:nvSpPr>
        <p:spPr/>
        <p:txBody>
          <a:bodyPr/>
          <a:lstStyle/>
          <a:p>
            <a:r>
              <a:rPr lang="en-IN" b="1" dirty="0"/>
              <a:t>Dropdown Divider</a:t>
            </a:r>
            <a:br>
              <a:rPr lang="en-IN" b="1" dirty="0"/>
            </a:br>
            <a:endParaRPr lang="en-IN" dirty="0"/>
          </a:p>
        </p:txBody>
      </p:sp>
      <p:sp>
        <p:nvSpPr>
          <p:cNvPr id="3" name="Content Placeholder 2">
            <a:extLst>
              <a:ext uri="{FF2B5EF4-FFF2-40B4-BE49-F238E27FC236}">
                <a16:creationId xmlns:a16="http://schemas.microsoft.com/office/drawing/2014/main" id="{E3D24E64-39D9-E902-8915-45B3CF68088E}"/>
              </a:ext>
            </a:extLst>
          </p:cNvPr>
          <p:cNvSpPr>
            <a:spLocks noGrp="1"/>
          </p:cNvSpPr>
          <p:nvPr>
            <p:ph idx="1"/>
          </p:nvPr>
        </p:nvSpPr>
        <p:spPr/>
        <p:txBody>
          <a:bodyPr/>
          <a:lstStyle/>
          <a:p>
            <a:r>
              <a:rPr lang="en-US" dirty="0"/>
              <a:t>The</a:t>
            </a:r>
            <a:r>
              <a:rPr lang="en-US" dirty="0">
                <a:highlight>
                  <a:srgbClr val="FFFF00"/>
                </a:highlight>
              </a:rPr>
              <a:t> .dropdown-divider </a:t>
            </a:r>
            <a:r>
              <a:rPr lang="en-US" dirty="0"/>
              <a:t>class is used to separate links inside the dropdown menu with a thin horizontal border:</a:t>
            </a:r>
          </a:p>
          <a:p>
            <a:r>
              <a:rPr lang="en-IN" dirty="0">
                <a:solidFill>
                  <a:srgbClr val="0000CD"/>
                </a:solidFill>
                <a:effectLst/>
              </a:rPr>
              <a:t>&lt;</a:t>
            </a:r>
            <a:r>
              <a:rPr lang="en-IN" dirty="0">
                <a:solidFill>
                  <a:srgbClr val="A52A2A"/>
                </a:solidFill>
                <a:effectLst/>
              </a:rPr>
              <a:t>li</a:t>
            </a:r>
            <a:r>
              <a:rPr lang="en-IN" dirty="0">
                <a:solidFill>
                  <a:srgbClr val="0000CD"/>
                </a:solidFill>
                <a:effectLst/>
              </a:rPr>
              <a:t>&gt;&lt;</a:t>
            </a:r>
            <a:r>
              <a:rPr lang="en-IN" dirty="0">
                <a:solidFill>
                  <a:srgbClr val="A52A2A"/>
                </a:solidFill>
                <a:effectLst/>
              </a:rPr>
              <a:t>hr</a:t>
            </a:r>
            <a:r>
              <a:rPr lang="en-IN" dirty="0">
                <a:solidFill>
                  <a:srgbClr val="FF0000"/>
                </a:solidFill>
                <a:effectLst/>
              </a:rPr>
              <a:t> class</a:t>
            </a:r>
            <a:r>
              <a:rPr lang="en-IN" dirty="0">
                <a:solidFill>
                  <a:srgbClr val="0000CD"/>
                </a:solidFill>
                <a:effectLst/>
              </a:rPr>
              <a:t>="dropdown-divider"&gt;&lt;</a:t>
            </a:r>
            <a:r>
              <a:rPr lang="en-IN" dirty="0">
                <a:solidFill>
                  <a:srgbClr val="A52A2A"/>
                </a:solidFill>
                <a:effectLst/>
              </a:rPr>
              <a:t>/hr</a:t>
            </a:r>
            <a:r>
              <a:rPr lang="en-IN" dirty="0">
                <a:solidFill>
                  <a:srgbClr val="0000CD"/>
                </a:solidFill>
                <a:effectLst/>
              </a:rPr>
              <a:t>&gt;&lt;</a:t>
            </a:r>
            <a:r>
              <a:rPr lang="en-IN" dirty="0">
                <a:solidFill>
                  <a:srgbClr val="A52A2A"/>
                </a:solidFill>
                <a:effectLst/>
              </a:rPr>
              <a:t>/li</a:t>
            </a:r>
            <a:r>
              <a:rPr lang="en-IN" dirty="0">
                <a:solidFill>
                  <a:srgbClr val="0000CD"/>
                </a:solidFill>
                <a:effectLst/>
              </a:rPr>
              <a:t>&gt;</a:t>
            </a:r>
            <a:r>
              <a:rPr lang="en-IN" dirty="0"/>
              <a:t> </a:t>
            </a:r>
          </a:p>
          <a:p>
            <a:endParaRPr lang="en-IN" dirty="0"/>
          </a:p>
        </p:txBody>
      </p:sp>
      <p:pic>
        <p:nvPicPr>
          <p:cNvPr id="6" name="Picture 5">
            <a:extLst>
              <a:ext uri="{FF2B5EF4-FFF2-40B4-BE49-F238E27FC236}">
                <a16:creationId xmlns:a16="http://schemas.microsoft.com/office/drawing/2014/main" id="{CB3B9EED-81DD-5572-2636-5825016A5510}"/>
              </a:ext>
            </a:extLst>
          </p:cNvPr>
          <p:cNvPicPr>
            <a:picLocks noChangeAspect="1"/>
          </p:cNvPicPr>
          <p:nvPr/>
        </p:nvPicPr>
        <p:blipFill>
          <a:blip r:embed="rId2"/>
          <a:stretch>
            <a:fillRect/>
          </a:stretch>
        </p:blipFill>
        <p:spPr>
          <a:xfrm>
            <a:off x="2072649" y="3429000"/>
            <a:ext cx="2686425" cy="2276793"/>
          </a:xfrm>
          <a:prstGeom prst="rect">
            <a:avLst/>
          </a:prstGeom>
        </p:spPr>
      </p:pic>
    </p:spTree>
    <p:extLst>
      <p:ext uri="{BB962C8B-B14F-4D97-AF65-F5344CB8AC3E}">
        <p14:creationId xmlns:p14="http://schemas.microsoft.com/office/powerpoint/2010/main" val="376077080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05112-ADB5-D122-A94B-C1D524F49275}"/>
              </a:ext>
            </a:extLst>
          </p:cNvPr>
          <p:cNvSpPr>
            <a:spLocks noGrp="1"/>
          </p:cNvSpPr>
          <p:nvPr>
            <p:ph type="title"/>
          </p:nvPr>
        </p:nvSpPr>
        <p:spPr/>
        <p:txBody>
          <a:bodyPr/>
          <a:lstStyle/>
          <a:p>
            <a:r>
              <a:rPr lang="en-IN" b="1" dirty="0"/>
              <a:t>Dropdown Header</a:t>
            </a:r>
            <a:br>
              <a:rPr lang="en-IN" b="1" dirty="0"/>
            </a:br>
            <a:endParaRPr lang="en-IN" dirty="0"/>
          </a:p>
        </p:txBody>
      </p:sp>
      <p:sp>
        <p:nvSpPr>
          <p:cNvPr id="3" name="Content Placeholder 2">
            <a:extLst>
              <a:ext uri="{FF2B5EF4-FFF2-40B4-BE49-F238E27FC236}">
                <a16:creationId xmlns:a16="http://schemas.microsoft.com/office/drawing/2014/main" id="{977777FE-7219-74C4-E01E-6929E959E42A}"/>
              </a:ext>
            </a:extLst>
          </p:cNvPr>
          <p:cNvSpPr>
            <a:spLocks noGrp="1"/>
          </p:cNvSpPr>
          <p:nvPr>
            <p:ph idx="1"/>
          </p:nvPr>
        </p:nvSpPr>
        <p:spPr/>
        <p:txBody>
          <a:bodyPr/>
          <a:lstStyle/>
          <a:p>
            <a:r>
              <a:rPr lang="en-US" dirty="0">
                <a:solidFill>
                  <a:srgbClr val="0000CD"/>
                </a:solidFill>
                <a:effectLst/>
              </a:rPr>
              <a:t>The .dropdown-header class is used to add headers inside the dropdown menu:</a:t>
            </a:r>
          </a:p>
          <a:p>
            <a:r>
              <a:rPr lang="en-US" dirty="0">
                <a:solidFill>
                  <a:srgbClr val="0000CD"/>
                </a:solidFill>
                <a:effectLst/>
              </a:rPr>
              <a:t>&lt;</a:t>
            </a:r>
            <a:r>
              <a:rPr lang="en-US" dirty="0">
                <a:solidFill>
                  <a:srgbClr val="A52A2A"/>
                </a:solidFill>
                <a:effectLst/>
              </a:rPr>
              <a:t>li</a:t>
            </a:r>
            <a:r>
              <a:rPr lang="en-US" dirty="0">
                <a:solidFill>
                  <a:srgbClr val="0000CD"/>
                </a:solidFill>
                <a:effectLst/>
              </a:rPr>
              <a:t>&gt;&lt;</a:t>
            </a:r>
            <a:r>
              <a:rPr lang="en-US" dirty="0">
                <a:solidFill>
                  <a:srgbClr val="A52A2A"/>
                </a:solidFill>
                <a:effectLst/>
              </a:rPr>
              <a:t>h5</a:t>
            </a:r>
            <a:r>
              <a:rPr lang="en-US" dirty="0">
                <a:solidFill>
                  <a:srgbClr val="FF0000"/>
                </a:solidFill>
                <a:effectLst/>
              </a:rPr>
              <a:t> class</a:t>
            </a:r>
            <a:r>
              <a:rPr lang="en-US" dirty="0">
                <a:solidFill>
                  <a:srgbClr val="0000CD"/>
                </a:solidFill>
                <a:effectLst/>
              </a:rPr>
              <a:t>="dropdown-header"&gt;</a:t>
            </a:r>
            <a:r>
              <a:rPr lang="en-US" dirty="0"/>
              <a:t>Dropdown header 1</a:t>
            </a:r>
            <a:r>
              <a:rPr lang="en-US" dirty="0">
                <a:solidFill>
                  <a:srgbClr val="0000CD"/>
                </a:solidFill>
                <a:effectLst/>
              </a:rPr>
              <a:t>&lt;</a:t>
            </a:r>
            <a:r>
              <a:rPr lang="en-US" dirty="0">
                <a:solidFill>
                  <a:srgbClr val="A52A2A"/>
                </a:solidFill>
                <a:effectLst/>
              </a:rPr>
              <a:t>/h5</a:t>
            </a:r>
            <a:r>
              <a:rPr lang="en-US" dirty="0">
                <a:solidFill>
                  <a:srgbClr val="0000CD"/>
                </a:solidFill>
                <a:effectLst/>
              </a:rPr>
              <a:t>&gt;&lt;</a:t>
            </a:r>
            <a:r>
              <a:rPr lang="en-US" dirty="0">
                <a:solidFill>
                  <a:srgbClr val="A52A2A"/>
                </a:solidFill>
                <a:effectLst/>
              </a:rPr>
              <a:t>/li</a:t>
            </a:r>
            <a:r>
              <a:rPr lang="en-US" dirty="0">
                <a:solidFill>
                  <a:srgbClr val="0000CD"/>
                </a:solidFill>
                <a:effectLst/>
              </a:rPr>
              <a:t>&gt;</a:t>
            </a:r>
            <a:r>
              <a:rPr lang="en-US" dirty="0"/>
              <a:t> </a:t>
            </a:r>
          </a:p>
          <a:p>
            <a:endParaRPr lang="en-IN" dirty="0"/>
          </a:p>
          <a:p>
            <a:endParaRPr lang="en-IN" dirty="0"/>
          </a:p>
        </p:txBody>
      </p:sp>
      <p:pic>
        <p:nvPicPr>
          <p:cNvPr id="5" name="Picture 4">
            <a:extLst>
              <a:ext uri="{FF2B5EF4-FFF2-40B4-BE49-F238E27FC236}">
                <a16:creationId xmlns:a16="http://schemas.microsoft.com/office/drawing/2014/main" id="{70703A4E-7D85-0B38-E75D-4F2737800AA0}"/>
              </a:ext>
            </a:extLst>
          </p:cNvPr>
          <p:cNvPicPr>
            <a:picLocks noChangeAspect="1"/>
          </p:cNvPicPr>
          <p:nvPr/>
        </p:nvPicPr>
        <p:blipFill>
          <a:blip r:embed="rId2"/>
          <a:stretch>
            <a:fillRect/>
          </a:stretch>
        </p:blipFill>
        <p:spPr>
          <a:xfrm>
            <a:off x="1062002" y="3627543"/>
            <a:ext cx="2857899" cy="2419688"/>
          </a:xfrm>
          <a:prstGeom prst="rect">
            <a:avLst/>
          </a:prstGeom>
        </p:spPr>
      </p:pic>
    </p:spTree>
    <p:extLst>
      <p:ext uri="{BB962C8B-B14F-4D97-AF65-F5344CB8AC3E}">
        <p14:creationId xmlns:p14="http://schemas.microsoft.com/office/powerpoint/2010/main" val="25533551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0E4C95-0506-CB69-2B1F-A899F8C5AB14}"/>
              </a:ext>
            </a:extLst>
          </p:cNvPr>
          <p:cNvSpPr>
            <a:spLocks noGrp="1"/>
          </p:cNvSpPr>
          <p:nvPr>
            <p:ph type="title"/>
          </p:nvPr>
        </p:nvSpPr>
        <p:spPr/>
        <p:txBody>
          <a:bodyPr/>
          <a:lstStyle/>
          <a:p>
            <a:r>
              <a:rPr lang="en-IN" b="1" dirty="0"/>
              <a:t>Disable and Active items</a:t>
            </a:r>
            <a:br>
              <a:rPr lang="en-IN" b="1" dirty="0"/>
            </a:br>
            <a:endParaRPr lang="en-IN" dirty="0"/>
          </a:p>
        </p:txBody>
      </p:sp>
      <p:sp>
        <p:nvSpPr>
          <p:cNvPr id="3" name="Content Placeholder 2">
            <a:extLst>
              <a:ext uri="{FF2B5EF4-FFF2-40B4-BE49-F238E27FC236}">
                <a16:creationId xmlns:a16="http://schemas.microsoft.com/office/drawing/2014/main" id="{EE0A69FC-25C5-7552-A37F-3F80DCD6E71A}"/>
              </a:ext>
            </a:extLst>
          </p:cNvPr>
          <p:cNvSpPr>
            <a:spLocks noGrp="1"/>
          </p:cNvSpPr>
          <p:nvPr>
            <p:ph idx="1"/>
          </p:nvPr>
        </p:nvSpPr>
        <p:spPr>
          <a:xfrm>
            <a:off x="838200" y="1804605"/>
            <a:ext cx="10515600" cy="4351338"/>
          </a:xfrm>
        </p:spPr>
        <p:txBody>
          <a:bodyPr/>
          <a:lstStyle/>
          <a:p>
            <a:r>
              <a:rPr lang="en-US" dirty="0"/>
              <a:t>Highlight a specific dropdown item with the .active class (adds a blue background color).</a:t>
            </a:r>
          </a:p>
          <a:p>
            <a:endParaRPr lang="en-US" dirty="0"/>
          </a:p>
          <a:p>
            <a:r>
              <a:rPr lang="en-US" dirty="0"/>
              <a:t>To disable an item in the dropdown menu, use the .disabled class (gets a light-grey text color and a "no-parking-sign" icon on hover):</a:t>
            </a:r>
            <a:endParaRPr lang="en-IN" dirty="0"/>
          </a:p>
        </p:txBody>
      </p:sp>
      <p:pic>
        <p:nvPicPr>
          <p:cNvPr id="6" name="Picture 5">
            <a:extLst>
              <a:ext uri="{FF2B5EF4-FFF2-40B4-BE49-F238E27FC236}">
                <a16:creationId xmlns:a16="http://schemas.microsoft.com/office/drawing/2014/main" id="{2E568114-C99E-55E3-1301-AEA4DF41CA39}"/>
              </a:ext>
            </a:extLst>
          </p:cNvPr>
          <p:cNvPicPr>
            <a:picLocks noChangeAspect="1"/>
          </p:cNvPicPr>
          <p:nvPr/>
        </p:nvPicPr>
        <p:blipFill>
          <a:blip r:embed="rId2"/>
          <a:stretch>
            <a:fillRect/>
          </a:stretch>
        </p:blipFill>
        <p:spPr>
          <a:xfrm>
            <a:off x="3064245" y="4728961"/>
            <a:ext cx="2553056" cy="1448002"/>
          </a:xfrm>
          <a:prstGeom prst="rect">
            <a:avLst/>
          </a:prstGeom>
        </p:spPr>
      </p:pic>
    </p:spTree>
    <p:extLst>
      <p:ext uri="{BB962C8B-B14F-4D97-AF65-F5344CB8AC3E}">
        <p14:creationId xmlns:p14="http://schemas.microsoft.com/office/powerpoint/2010/main" val="306824361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72A4B3-5161-76BE-197A-8D8AFBACEA9D}"/>
              </a:ext>
            </a:extLst>
          </p:cNvPr>
          <p:cNvSpPr>
            <a:spLocks noGrp="1"/>
          </p:cNvSpPr>
          <p:nvPr>
            <p:ph type="title"/>
          </p:nvPr>
        </p:nvSpPr>
        <p:spPr/>
        <p:txBody>
          <a:bodyPr/>
          <a:lstStyle/>
          <a:p>
            <a:r>
              <a:rPr lang="en-IN" b="1" dirty="0"/>
              <a:t>Sizing</a:t>
            </a:r>
            <a:br>
              <a:rPr lang="en-IN" b="1" dirty="0"/>
            </a:br>
            <a:endParaRPr lang="en-IN" dirty="0"/>
          </a:p>
        </p:txBody>
      </p:sp>
      <p:sp>
        <p:nvSpPr>
          <p:cNvPr id="3" name="Content Placeholder 2">
            <a:extLst>
              <a:ext uri="{FF2B5EF4-FFF2-40B4-BE49-F238E27FC236}">
                <a16:creationId xmlns:a16="http://schemas.microsoft.com/office/drawing/2014/main" id="{917CC1BC-06ED-F8C8-3521-67C84AC30249}"/>
              </a:ext>
            </a:extLst>
          </p:cNvPr>
          <p:cNvSpPr>
            <a:spLocks noGrp="1"/>
          </p:cNvSpPr>
          <p:nvPr>
            <p:ph idx="1"/>
          </p:nvPr>
        </p:nvSpPr>
        <p:spPr/>
        <p:txBody>
          <a:bodyPr/>
          <a:lstStyle/>
          <a:p>
            <a:r>
              <a:rPr lang="en-US" dirty="0"/>
              <a:t>Button dropdowns work with buttons of all sizes, including default and split dropdown buttons.</a:t>
            </a:r>
          </a:p>
          <a:p>
            <a:r>
              <a:rPr lang="en-IN" dirty="0"/>
              <a:t>&lt;button class="</a:t>
            </a:r>
            <a:r>
              <a:rPr lang="en-IN" dirty="0" err="1"/>
              <a:t>btn</a:t>
            </a:r>
            <a:r>
              <a:rPr lang="en-IN" dirty="0"/>
              <a:t> </a:t>
            </a:r>
            <a:r>
              <a:rPr lang="en-IN" dirty="0" err="1"/>
              <a:t>btn</a:t>
            </a:r>
            <a:r>
              <a:rPr lang="en-IN" dirty="0"/>
              <a:t>-secondary </a:t>
            </a:r>
            <a:r>
              <a:rPr lang="en-IN" dirty="0" err="1"/>
              <a:t>btn-lg</a:t>
            </a:r>
            <a:r>
              <a:rPr lang="en-IN" dirty="0"/>
              <a:t> dropdown-toggle" type="button" data-bs-toggle="dropdown“&gt;</a:t>
            </a:r>
          </a:p>
          <a:p>
            <a:r>
              <a:rPr lang="en-IN" dirty="0"/>
              <a:t> &lt;button class="</a:t>
            </a:r>
            <a:r>
              <a:rPr lang="en-IN" dirty="0" err="1"/>
              <a:t>btn</a:t>
            </a:r>
            <a:r>
              <a:rPr lang="en-IN" dirty="0"/>
              <a:t> </a:t>
            </a:r>
            <a:r>
              <a:rPr lang="en-IN" dirty="0" err="1"/>
              <a:t>btn</a:t>
            </a:r>
            <a:r>
              <a:rPr lang="en-IN" dirty="0"/>
              <a:t>-secondary </a:t>
            </a:r>
            <a:r>
              <a:rPr lang="en-IN" dirty="0" err="1"/>
              <a:t>btn-sm</a:t>
            </a:r>
            <a:r>
              <a:rPr lang="en-IN" dirty="0"/>
              <a:t> dropdown-toggle" type="button" data-bs-toggle="dropdown“&gt;</a:t>
            </a:r>
          </a:p>
        </p:txBody>
      </p:sp>
    </p:spTree>
    <p:extLst>
      <p:ext uri="{BB962C8B-B14F-4D97-AF65-F5344CB8AC3E}">
        <p14:creationId xmlns:p14="http://schemas.microsoft.com/office/powerpoint/2010/main" val="58744486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CAB06-4840-4E0B-D0E8-963CC82AA836}"/>
              </a:ext>
            </a:extLst>
          </p:cNvPr>
          <p:cNvSpPr>
            <a:spLocks noGrp="1"/>
          </p:cNvSpPr>
          <p:nvPr>
            <p:ph type="title"/>
          </p:nvPr>
        </p:nvSpPr>
        <p:spPr/>
        <p:txBody>
          <a:bodyPr/>
          <a:lstStyle/>
          <a:p>
            <a:r>
              <a:rPr lang="en-IN" b="1" dirty="0"/>
              <a:t>Split button</a:t>
            </a:r>
            <a:br>
              <a:rPr lang="en-IN" b="1" dirty="0"/>
            </a:br>
            <a:endParaRPr lang="en-IN" dirty="0"/>
          </a:p>
        </p:txBody>
      </p:sp>
      <p:sp>
        <p:nvSpPr>
          <p:cNvPr id="3" name="Content Placeholder 2">
            <a:extLst>
              <a:ext uri="{FF2B5EF4-FFF2-40B4-BE49-F238E27FC236}">
                <a16:creationId xmlns:a16="http://schemas.microsoft.com/office/drawing/2014/main" id="{89F34BB4-CF39-CD05-353B-DCA20D3AEC65}"/>
              </a:ext>
            </a:extLst>
          </p:cNvPr>
          <p:cNvSpPr>
            <a:spLocks noGrp="1"/>
          </p:cNvSpPr>
          <p:nvPr>
            <p:ph idx="1"/>
          </p:nvPr>
        </p:nvSpPr>
        <p:spPr/>
        <p:txBody>
          <a:bodyPr/>
          <a:lstStyle/>
          <a:p>
            <a:r>
              <a:rPr lang="en-US" dirty="0"/>
              <a:t>create split button dropdowns with virtually the same markup as single button dropdowns, but with the addition of </a:t>
            </a:r>
            <a:r>
              <a:rPr lang="en-US" dirty="0">
                <a:highlight>
                  <a:srgbClr val="FFFF00"/>
                </a:highlight>
              </a:rPr>
              <a:t>.dropdown-toggle-split</a:t>
            </a:r>
            <a:r>
              <a:rPr lang="en-US" dirty="0"/>
              <a:t> for proper spacing around the dropdown caret.</a:t>
            </a:r>
          </a:p>
          <a:p>
            <a:r>
              <a:rPr lang="en-IN" dirty="0"/>
              <a:t>&lt;button type="button" class="</a:t>
            </a:r>
            <a:r>
              <a:rPr lang="en-IN" dirty="0" err="1"/>
              <a:t>btn</a:t>
            </a:r>
            <a:r>
              <a:rPr lang="en-IN" dirty="0"/>
              <a:t> </a:t>
            </a:r>
            <a:r>
              <a:rPr lang="en-IN" dirty="0" err="1"/>
              <a:t>btn</a:t>
            </a:r>
            <a:r>
              <a:rPr lang="en-IN" dirty="0"/>
              <a:t>-danger dropdown-toggle dropdown-toggle-split“&gt;</a:t>
            </a:r>
          </a:p>
        </p:txBody>
      </p:sp>
      <p:pic>
        <p:nvPicPr>
          <p:cNvPr id="11" name="Picture 10">
            <a:extLst>
              <a:ext uri="{FF2B5EF4-FFF2-40B4-BE49-F238E27FC236}">
                <a16:creationId xmlns:a16="http://schemas.microsoft.com/office/drawing/2014/main" id="{32BDADF1-9EB3-5C80-E559-47D6EE933709}"/>
              </a:ext>
            </a:extLst>
          </p:cNvPr>
          <p:cNvPicPr>
            <a:picLocks noChangeAspect="1"/>
          </p:cNvPicPr>
          <p:nvPr/>
        </p:nvPicPr>
        <p:blipFill>
          <a:blip r:embed="rId2"/>
          <a:stretch>
            <a:fillRect/>
          </a:stretch>
        </p:blipFill>
        <p:spPr>
          <a:xfrm>
            <a:off x="6552966" y="4200154"/>
            <a:ext cx="3353268" cy="2657846"/>
          </a:xfrm>
          <a:prstGeom prst="rect">
            <a:avLst/>
          </a:prstGeom>
        </p:spPr>
      </p:pic>
    </p:spTree>
    <p:extLst>
      <p:ext uri="{BB962C8B-B14F-4D97-AF65-F5344CB8AC3E}">
        <p14:creationId xmlns:p14="http://schemas.microsoft.com/office/powerpoint/2010/main" val="103800515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1135D-DAB7-D605-8095-11DD3FE307E0}"/>
              </a:ext>
            </a:extLst>
          </p:cNvPr>
          <p:cNvSpPr>
            <a:spLocks noGrp="1"/>
          </p:cNvSpPr>
          <p:nvPr>
            <p:ph type="title"/>
          </p:nvPr>
        </p:nvSpPr>
        <p:spPr/>
        <p:txBody>
          <a:bodyPr/>
          <a:lstStyle/>
          <a:p>
            <a:r>
              <a:rPr lang="en-IN" b="1" dirty="0"/>
              <a:t>Dark dropdowns</a:t>
            </a:r>
            <a:br>
              <a:rPr lang="en-IN" b="1" dirty="0"/>
            </a:br>
            <a:endParaRPr lang="en-IN" dirty="0"/>
          </a:p>
        </p:txBody>
      </p:sp>
      <p:sp>
        <p:nvSpPr>
          <p:cNvPr id="3" name="Content Placeholder 2">
            <a:extLst>
              <a:ext uri="{FF2B5EF4-FFF2-40B4-BE49-F238E27FC236}">
                <a16:creationId xmlns:a16="http://schemas.microsoft.com/office/drawing/2014/main" id="{C08330C4-ED2C-DA3B-A533-49A128809DBE}"/>
              </a:ext>
            </a:extLst>
          </p:cNvPr>
          <p:cNvSpPr>
            <a:spLocks noGrp="1"/>
          </p:cNvSpPr>
          <p:nvPr>
            <p:ph idx="1"/>
          </p:nvPr>
        </p:nvSpPr>
        <p:spPr/>
        <p:txBody>
          <a:bodyPr/>
          <a:lstStyle/>
          <a:p>
            <a:r>
              <a:rPr lang="en-US" dirty="0" err="1"/>
              <a:t>Opt</a:t>
            </a:r>
            <a:r>
              <a:rPr lang="en-US" dirty="0"/>
              <a:t> into darker dropdowns to match a dark navbar or custom style by adding .</a:t>
            </a:r>
            <a:r>
              <a:rPr lang="en-US" b="1" dirty="0"/>
              <a:t>dropdown-menu-dark</a:t>
            </a:r>
            <a:r>
              <a:rPr lang="en-US" dirty="0"/>
              <a:t> onto an existing </a:t>
            </a:r>
            <a:r>
              <a:rPr lang="en-US" b="1" dirty="0"/>
              <a:t>.dropdown-menu</a:t>
            </a:r>
            <a:r>
              <a:rPr lang="en-US" dirty="0"/>
              <a:t>. No changes are required to the dropdown items.</a:t>
            </a:r>
          </a:p>
          <a:p>
            <a:r>
              <a:rPr lang="en-IN" dirty="0"/>
              <a:t>&lt;</a:t>
            </a:r>
            <a:r>
              <a:rPr lang="en-IN" dirty="0" err="1"/>
              <a:t>ul</a:t>
            </a:r>
            <a:r>
              <a:rPr lang="en-IN" dirty="0"/>
              <a:t> class="dropdown-menu dropdown-menu-dark“&gt;</a:t>
            </a:r>
          </a:p>
          <a:p>
            <a:endParaRPr lang="en-IN" dirty="0"/>
          </a:p>
        </p:txBody>
      </p:sp>
      <p:pic>
        <p:nvPicPr>
          <p:cNvPr id="6" name="Picture 5">
            <a:extLst>
              <a:ext uri="{FF2B5EF4-FFF2-40B4-BE49-F238E27FC236}">
                <a16:creationId xmlns:a16="http://schemas.microsoft.com/office/drawing/2014/main" id="{992E6B06-B8DE-814A-DE8A-67C56C6251AE}"/>
              </a:ext>
            </a:extLst>
          </p:cNvPr>
          <p:cNvPicPr>
            <a:picLocks noChangeAspect="1"/>
          </p:cNvPicPr>
          <p:nvPr/>
        </p:nvPicPr>
        <p:blipFill>
          <a:blip r:embed="rId2"/>
          <a:stretch>
            <a:fillRect/>
          </a:stretch>
        </p:blipFill>
        <p:spPr>
          <a:xfrm>
            <a:off x="1745531" y="3623907"/>
            <a:ext cx="2457793" cy="2553056"/>
          </a:xfrm>
          <a:prstGeom prst="rect">
            <a:avLst/>
          </a:prstGeom>
        </p:spPr>
      </p:pic>
    </p:spTree>
    <p:extLst>
      <p:ext uri="{BB962C8B-B14F-4D97-AF65-F5344CB8AC3E}">
        <p14:creationId xmlns:p14="http://schemas.microsoft.com/office/powerpoint/2010/main" val="12596900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B653BD-EABB-EB95-4357-AB550B5132D1}"/>
              </a:ext>
            </a:extLst>
          </p:cNvPr>
          <p:cNvSpPr>
            <a:spLocks noGrp="1"/>
          </p:cNvSpPr>
          <p:nvPr>
            <p:ph type="title"/>
          </p:nvPr>
        </p:nvSpPr>
        <p:spPr/>
        <p:txBody>
          <a:bodyPr/>
          <a:lstStyle/>
          <a:p>
            <a:r>
              <a:rPr lang="en-IN" b="1" dirty="0"/>
              <a:t>Directions</a:t>
            </a:r>
            <a:br>
              <a:rPr lang="en-IN" b="1" dirty="0"/>
            </a:br>
            <a:endParaRPr lang="en-IN" dirty="0"/>
          </a:p>
        </p:txBody>
      </p:sp>
      <p:sp>
        <p:nvSpPr>
          <p:cNvPr id="3" name="Content Placeholder 2">
            <a:extLst>
              <a:ext uri="{FF2B5EF4-FFF2-40B4-BE49-F238E27FC236}">
                <a16:creationId xmlns:a16="http://schemas.microsoft.com/office/drawing/2014/main" id="{8687725A-BFB4-D59A-BF70-17D755C27362}"/>
              </a:ext>
            </a:extLst>
          </p:cNvPr>
          <p:cNvSpPr>
            <a:spLocks noGrp="1"/>
          </p:cNvSpPr>
          <p:nvPr>
            <p:ph idx="1"/>
          </p:nvPr>
        </p:nvSpPr>
        <p:spPr>
          <a:xfrm>
            <a:off x="838200" y="1229710"/>
            <a:ext cx="10515600" cy="4947253"/>
          </a:xfrm>
        </p:spPr>
        <p:txBody>
          <a:bodyPr>
            <a:normAutofit lnSpcReduction="10000"/>
          </a:bodyPr>
          <a:lstStyle/>
          <a:p>
            <a:r>
              <a:rPr lang="en-US" b="1" dirty="0" err="1"/>
              <a:t>Dropup</a:t>
            </a:r>
            <a:r>
              <a:rPr lang="en-US" dirty="0"/>
              <a:t>---Trigger dropdown menus above elements by adding .</a:t>
            </a:r>
            <a:r>
              <a:rPr lang="en-US" dirty="0" err="1">
                <a:highlight>
                  <a:srgbClr val="FFFF00"/>
                </a:highlight>
              </a:rPr>
              <a:t>dropup</a:t>
            </a:r>
            <a:r>
              <a:rPr lang="en-US" dirty="0"/>
              <a:t> to the parent element.</a:t>
            </a:r>
          </a:p>
          <a:p>
            <a:pPr marL="0" indent="0">
              <a:buNone/>
            </a:pPr>
            <a:r>
              <a:rPr lang="en-IN" dirty="0"/>
              <a:t>&lt;div class=“</a:t>
            </a:r>
            <a:r>
              <a:rPr lang="en-IN" dirty="0" err="1"/>
              <a:t>btn</a:t>
            </a:r>
            <a:r>
              <a:rPr lang="en-IN" dirty="0"/>
              <a:t>-group </a:t>
            </a:r>
            <a:r>
              <a:rPr lang="en-IN" dirty="0" err="1"/>
              <a:t>dropup</a:t>
            </a:r>
            <a:r>
              <a:rPr lang="en-IN" dirty="0"/>
              <a:t>"&gt;</a:t>
            </a:r>
          </a:p>
          <a:p>
            <a:pPr marL="0" indent="0">
              <a:buNone/>
            </a:pPr>
            <a:endParaRPr lang="en-IN" dirty="0"/>
          </a:p>
          <a:p>
            <a:r>
              <a:rPr lang="en-US" b="1" dirty="0" err="1"/>
              <a:t>Dropright</a:t>
            </a:r>
            <a:r>
              <a:rPr lang="en-US" b="1" dirty="0"/>
              <a:t>---</a:t>
            </a:r>
            <a:r>
              <a:rPr lang="en-US" dirty="0"/>
              <a:t>Trigger dropdown menus at the right of the elements by adding </a:t>
            </a:r>
            <a:r>
              <a:rPr lang="en-US" dirty="0">
                <a:highlight>
                  <a:srgbClr val="FFFF00"/>
                </a:highlight>
              </a:rPr>
              <a:t>.</a:t>
            </a:r>
            <a:r>
              <a:rPr lang="en-US" dirty="0" err="1">
                <a:highlight>
                  <a:srgbClr val="FFFF00"/>
                </a:highlight>
              </a:rPr>
              <a:t>dropend</a:t>
            </a:r>
            <a:r>
              <a:rPr lang="en-US" dirty="0">
                <a:highlight>
                  <a:srgbClr val="FFFF00"/>
                </a:highlight>
              </a:rPr>
              <a:t> </a:t>
            </a:r>
            <a:r>
              <a:rPr lang="en-US" dirty="0"/>
              <a:t>to the parent element.</a:t>
            </a:r>
          </a:p>
          <a:p>
            <a:r>
              <a:rPr lang="en-US" dirty="0"/>
              <a:t>&lt;div class="</a:t>
            </a:r>
            <a:r>
              <a:rPr lang="en-US" dirty="0" err="1"/>
              <a:t>btn</a:t>
            </a:r>
            <a:r>
              <a:rPr lang="en-US" dirty="0"/>
              <a:t>-group </a:t>
            </a:r>
            <a:r>
              <a:rPr lang="en-US" dirty="0" err="1"/>
              <a:t>dropend</a:t>
            </a:r>
            <a:r>
              <a:rPr lang="en-US" dirty="0"/>
              <a:t>"&gt;</a:t>
            </a:r>
          </a:p>
          <a:p>
            <a:endParaRPr lang="en-US" dirty="0"/>
          </a:p>
          <a:p>
            <a:r>
              <a:rPr lang="en-US" b="1" dirty="0" err="1"/>
              <a:t>Dropleft</a:t>
            </a:r>
            <a:r>
              <a:rPr lang="en-US" b="1" dirty="0"/>
              <a:t>---</a:t>
            </a:r>
            <a:r>
              <a:rPr lang="en-US" dirty="0"/>
              <a:t>Trigger dropdown menus at the left of the elements by adding </a:t>
            </a:r>
            <a:r>
              <a:rPr lang="en-US" dirty="0">
                <a:highlight>
                  <a:srgbClr val="FFFF00"/>
                </a:highlight>
              </a:rPr>
              <a:t>.</a:t>
            </a:r>
            <a:r>
              <a:rPr lang="en-US" dirty="0" err="1">
                <a:highlight>
                  <a:srgbClr val="FFFF00"/>
                </a:highlight>
              </a:rPr>
              <a:t>dropstart</a:t>
            </a:r>
            <a:r>
              <a:rPr lang="en-US" dirty="0">
                <a:highlight>
                  <a:srgbClr val="FFFF00"/>
                </a:highlight>
              </a:rPr>
              <a:t> </a:t>
            </a:r>
            <a:r>
              <a:rPr lang="en-US" dirty="0"/>
              <a:t>to the parent element.</a:t>
            </a:r>
          </a:p>
          <a:p>
            <a:r>
              <a:rPr lang="en-IN" dirty="0"/>
              <a:t>&lt;div class="</a:t>
            </a:r>
            <a:r>
              <a:rPr lang="en-IN" dirty="0" err="1"/>
              <a:t>btn</a:t>
            </a:r>
            <a:r>
              <a:rPr lang="en-IN" dirty="0"/>
              <a:t>-group </a:t>
            </a:r>
            <a:r>
              <a:rPr lang="en-IN" dirty="0" err="1"/>
              <a:t>dropstart</a:t>
            </a:r>
            <a:r>
              <a:rPr lang="en-IN" dirty="0"/>
              <a:t>"&gt;</a:t>
            </a:r>
          </a:p>
          <a:p>
            <a:endParaRPr lang="en-IN" dirty="0"/>
          </a:p>
        </p:txBody>
      </p:sp>
      <p:pic>
        <p:nvPicPr>
          <p:cNvPr id="13" name="Picture 12">
            <a:extLst>
              <a:ext uri="{FF2B5EF4-FFF2-40B4-BE49-F238E27FC236}">
                <a16:creationId xmlns:a16="http://schemas.microsoft.com/office/drawing/2014/main" id="{F02D6312-29A1-8562-4462-4CD511601574}"/>
              </a:ext>
            </a:extLst>
          </p:cNvPr>
          <p:cNvPicPr>
            <a:picLocks noChangeAspect="1"/>
          </p:cNvPicPr>
          <p:nvPr/>
        </p:nvPicPr>
        <p:blipFill>
          <a:blip r:embed="rId2"/>
          <a:stretch>
            <a:fillRect/>
          </a:stretch>
        </p:blipFill>
        <p:spPr>
          <a:xfrm>
            <a:off x="6787786" y="5347263"/>
            <a:ext cx="1483855" cy="562053"/>
          </a:xfrm>
          <a:prstGeom prst="rect">
            <a:avLst/>
          </a:prstGeom>
        </p:spPr>
      </p:pic>
      <p:pic>
        <p:nvPicPr>
          <p:cNvPr id="15" name="Picture 14">
            <a:extLst>
              <a:ext uri="{FF2B5EF4-FFF2-40B4-BE49-F238E27FC236}">
                <a16:creationId xmlns:a16="http://schemas.microsoft.com/office/drawing/2014/main" id="{3AB6A9B4-6729-D9C9-5E75-7EE82B81D7F1}"/>
              </a:ext>
            </a:extLst>
          </p:cNvPr>
          <p:cNvPicPr>
            <a:picLocks noChangeAspect="1"/>
          </p:cNvPicPr>
          <p:nvPr/>
        </p:nvPicPr>
        <p:blipFill>
          <a:blip r:embed="rId3"/>
          <a:stretch>
            <a:fillRect/>
          </a:stretch>
        </p:blipFill>
        <p:spPr>
          <a:xfrm>
            <a:off x="6533056" y="3955584"/>
            <a:ext cx="1543265" cy="447737"/>
          </a:xfrm>
          <a:prstGeom prst="rect">
            <a:avLst/>
          </a:prstGeom>
        </p:spPr>
      </p:pic>
      <p:pic>
        <p:nvPicPr>
          <p:cNvPr id="17" name="Picture 16">
            <a:extLst>
              <a:ext uri="{FF2B5EF4-FFF2-40B4-BE49-F238E27FC236}">
                <a16:creationId xmlns:a16="http://schemas.microsoft.com/office/drawing/2014/main" id="{C85AF69A-58FB-ADFD-3D6F-897E2D57A1D9}"/>
              </a:ext>
            </a:extLst>
          </p:cNvPr>
          <p:cNvPicPr>
            <a:picLocks noChangeAspect="1"/>
          </p:cNvPicPr>
          <p:nvPr/>
        </p:nvPicPr>
        <p:blipFill>
          <a:blip r:embed="rId4"/>
          <a:stretch>
            <a:fillRect/>
          </a:stretch>
        </p:blipFill>
        <p:spPr>
          <a:xfrm>
            <a:off x="6533056" y="1942559"/>
            <a:ext cx="1305107" cy="571580"/>
          </a:xfrm>
          <a:prstGeom prst="rect">
            <a:avLst/>
          </a:prstGeom>
        </p:spPr>
      </p:pic>
    </p:spTree>
    <p:extLst>
      <p:ext uri="{BB962C8B-B14F-4D97-AF65-F5344CB8AC3E}">
        <p14:creationId xmlns:p14="http://schemas.microsoft.com/office/powerpoint/2010/main" val="296980154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9E9302-7EF5-1DBF-601C-118F07C62747}"/>
              </a:ext>
            </a:extLst>
          </p:cNvPr>
          <p:cNvSpPr>
            <a:spLocks noGrp="1"/>
          </p:cNvSpPr>
          <p:nvPr>
            <p:ph type="title"/>
          </p:nvPr>
        </p:nvSpPr>
        <p:spPr/>
        <p:txBody>
          <a:bodyPr/>
          <a:lstStyle/>
          <a:p>
            <a:r>
              <a:rPr lang="en-IN" b="1" dirty="0"/>
              <a:t>Menu alignment</a:t>
            </a:r>
            <a:br>
              <a:rPr lang="en-IN" b="1" dirty="0"/>
            </a:br>
            <a:endParaRPr lang="en-IN" dirty="0"/>
          </a:p>
        </p:txBody>
      </p:sp>
      <p:sp>
        <p:nvSpPr>
          <p:cNvPr id="3" name="Content Placeholder 2">
            <a:extLst>
              <a:ext uri="{FF2B5EF4-FFF2-40B4-BE49-F238E27FC236}">
                <a16:creationId xmlns:a16="http://schemas.microsoft.com/office/drawing/2014/main" id="{15E392A2-EC99-62AE-0A30-16320FABA0D2}"/>
              </a:ext>
            </a:extLst>
          </p:cNvPr>
          <p:cNvSpPr>
            <a:spLocks noGrp="1"/>
          </p:cNvSpPr>
          <p:nvPr>
            <p:ph idx="1"/>
          </p:nvPr>
        </p:nvSpPr>
        <p:spPr>
          <a:xfrm>
            <a:off x="838200" y="1261241"/>
            <a:ext cx="10515600" cy="4915722"/>
          </a:xfrm>
        </p:spPr>
        <p:txBody>
          <a:bodyPr>
            <a:normAutofit/>
          </a:bodyPr>
          <a:lstStyle/>
          <a:p>
            <a:r>
              <a:rPr lang="en-US" dirty="0"/>
              <a:t>By default, a dropdown menu is automatically positioned 100% from the top and along the left side of its parent. You can change this with the directional </a:t>
            </a:r>
            <a:r>
              <a:rPr lang="en-US" dirty="0">
                <a:highlight>
                  <a:srgbClr val="FFFF00"/>
                </a:highlight>
              </a:rPr>
              <a:t>.drop* </a:t>
            </a:r>
            <a:r>
              <a:rPr lang="en-US" dirty="0"/>
              <a:t>classes, but you can also control them with additional modifier classes.</a:t>
            </a:r>
          </a:p>
          <a:p>
            <a:endParaRPr lang="en-US" dirty="0"/>
          </a:p>
          <a:p>
            <a:endParaRPr lang="en-US" dirty="0"/>
          </a:p>
          <a:p>
            <a:endParaRPr lang="en-US" dirty="0"/>
          </a:p>
          <a:p>
            <a:endParaRPr lang="en-US" dirty="0"/>
          </a:p>
          <a:p>
            <a:endParaRPr lang="en-US" dirty="0"/>
          </a:p>
        </p:txBody>
      </p:sp>
      <p:pic>
        <p:nvPicPr>
          <p:cNvPr id="4" name="Picture 3">
            <a:extLst>
              <a:ext uri="{FF2B5EF4-FFF2-40B4-BE49-F238E27FC236}">
                <a16:creationId xmlns:a16="http://schemas.microsoft.com/office/drawing/2014/main" id="{84FD69EC-DB85-C345-222F-9452474A3B49}"/>
              </a:ext>
            </a:extLst>
          </p:cNvPr>
          <p:cNvPicPr>
            <a:picLocks noChangeAspect="1"/>
          </p:cNvPicPr>
          <p:nvPr/>
        </p:nvPicPr>
        <p:blipFill>
          <a:blip r:embed="rId2"/>
          <a:stretch>
            <a:fillRect/>
          </a:stretch>
        </p:blipFill>
        <p:spPr>
          <a:xfrm>
            <a:off x="3617669" y="3429000"/>
            <a:ext cx="2686425" cy="2276793"/>
          </a:xfrm>
          <a:prstGeom prst="rect">
            <a:avLst/>
          </a:prstGeom>
        </p:spPr>
      </p:pic>
    </p:spTree>
    <p:extLst>
      <p:ext uri="{BB962C8B-B14F-4D97-AF65-F5344CB8AC3E}">
        <p14:creationId xmlns:p14="http://schemas.microsoft.com/office/powerpoint/2010/main" val="373245146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4E7712-517B-393F-5E7A-AF51D9CDD8D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5130286-38B1-BF8C-022A-5D00AD038A6F}"/>
              </a:ext>
            </a:extLst>
          </p:cNvPr>
          <p:cNvSpPr>
            <a:spLocks noGrp="1"/>
          </p:cNvSpPr>
          <p:nvPr>
            <p:ph idx="1"/>
          </p:nvPr>
        </p:nvSpPr>
        <p:spPr/>
        <p:txBody>
          <a:bodyPr/>
          <a:lstStyle/>
          <a:p>
            <a:r>
              <a:rPr lang="en-US" dirty="0"/>
              <a:t>Add .</a:t>
            </a:r>
            <a:r>
              <a:rPr lang="en-US" dirty="0">
                <a:highlight>
                  <a:srgbClr val="FFFF00"/>
                </a:highlight>
              </a:rPr>
              <a:t>dropdown-menu-end to a .dropdown-menu to right align the dropdown menu. </a:t>
            </a:r>
            <a:endParaRPr lang="en-IN" dirty="0">
              <a:highlight>
                <a:srgbClr val="FFFF00"/>
              </a:highlight>
            </a:endParaRPr>
          </a:p>
          <a:p>
            <a:r>
              <a:rPr lang="en-IN" dirty="0"/>
              <a:t>&lt;</a:t>
            </a:r>
            <a:r>
              <a:rPr lang="en-IN" dirty="0" err="1"/>
              <a:t>ul</a:t>
            </a:r>
            <a:r>
              <a:rPr lang="en-IN" dirty="0"/>
              <a:t> class="dropdown-menu dropdown-menu-end"&gt;</a:t>
            </a:r>
          </a:p>
          <a:p>
            <a:endParaRPr lang="en-IN" dirty="0"/>
          </a:p>
          <a:p>
            <a:endParaRPr lang="en-IN" dirty="0"/>
          </a:p>
        </p:txBody>
      </p:sp>
      <p:pic>
        <p:nvPicPr>
          <p:cNvPr id="10" name="Picture 9">
            <a:extLst>
              <a:ext uri="{FF2B5EF4-FFF2-40B4-BE49-F238E27FC236}">
                <a16:creationId xmlns:a16="http://schemas.microsoft.com/office/drawing/2014/main" id="{E3C3CAC3-41F7-D177-FF82-33CCCD2F5999}"/>
              </a:ext>
            </a:extLst>
          </p:cNvPr>
          <p:cNvPicPr>
            <a:picLocks noChangeAspect="1"/>
          </p:cNvPicPr>
          <p:nvPr/>
        </p:nvPicPr>
        <p:blipFill>
          <a:blip r:embed="rId2"/>
          <a:stretch>
            <a:fillRect/>
          </a:stretch>
        </p:blipFill>
        <p:spPr>
          <a:xfrm>
            <a:off x="3324696" y="3744569"/>
            <a:ext cx="4484490" cy="2432394"/>
          </a:xfrm>
          <a:prstGeom prst="rect">
            <a:avLst/>
          </a:prstGeom>
        </p:spPr>
      </p:pic>
    </p:spTree>
    <p:extLst>
      <p:ext uri="{BB962C8B-B14F-4D97-AF65-F5344CB8AC3E}">
        <p14:creationId xmlns:p14="http://schemas.microsoft.com/office/powerpoint/2010/main" val="185518000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A06CA7-1B39-0D83-3D8A-BA775761C9CE}"/>
              </a:ext>
            </a:extLst>
          </p:cNvPr>
          <p:cNvSpPr>
            <a:spLocks noGrp="1"/>
          </p:cNvSpPr>
          <p:nvPr>
            <p:ph type="title"/>
          </p:nvPr>
        </p:nvSpPr>
        <p:spPr>
          <a:xfrm>
            <a:off x="838200" y="365125"/>
            <a:ext cx="10515600" cy="717441"/>
          </a:xfrm>
        </p:spPr>
        <p:txBody>
          <a:bodyPr>
            <a:normAutofit fontScale="90000"/>
          </a:bodyPr>
          <a:lstStyle/>
          <a:p>
            <a:r>
              <a:rPr lang="en-IN" b="1" dirty="0"/>
              <a:t>Responsive alignment</a:t>
            </a:r>
            <a:br>
              <a:rPr lang="en-IN" b="1" dirty="0"/>
            </a:br>
            <a:endParaRPr lang="en-IN" dirty="0"/>
          </a:p>
        </p:txBody>
      </p:sp>
      <p:sp>
        <p:nvSpPr>
          <p:cNvPr id="3" name="Content Placeholder 2">
            <a:extLst>
              <a:ext uri="{FF2B5EF4-FFF2-40B4-BE49-F238E27FC236}">
                <a16:creationId xmlns:a16="http://schemas.microsoft.com/office/drawing/2014/main" id="{E29D4314-C6ED-9AB7-A568-020B99637730}"/>
              </a:ext>
            </a:extLst>
          </p:cNvPr>
          <p:cNvSpPr>
            <a:spLocks noGrp="1"/>
          </p:cNvSpPr>
          <p:nvPr>
            <p:ph idx="1"/>
          </p:nvPr>
        </p:nvSpPr>
        <p:spPr>
          <a:xfrm>
            <a:off x="838200" y="851338"/>
            <a:ext cx="10515600" cy="5325625"/>
          </a:xfrm>
        </p:spPr>
        <p:txBody>
          <a:bodyPr/>
          <a:lstStyle/>
          <a:p>
            <a:r>
              <a:rPr lang="en-US" dirty="0"/>
              <a:t>If you want to use responsive alignment, disable dynamic positioning by adding the </a:t>
            </a:r>
            <a:r>
              <a:rPr lang="en-US" b="1" dirty="0"/>
              <a:t>data-bs-display="static" attribute and use the responsive variation classes</a:t>
            </a:r>
            <a:r>
              <a:rPr lang="en-US" dirty="0"/>
              <a:t>.</a:t>
            </a:r>
          </a:p>
          <a:p>
            <a:pPr marL="0" indent="0">
              <a:buNone/>
            </a:pPr>
            <a:r>
              <a:rPr lang="en-US" b="1" dirty="0"/>
              <a:t>LEFT ALIGNED BUT RIGHT ALIGNED ON LARGE SCREEN</a:t>
            </a:r>
          </a:p>
          <a:p>
            <a:r>
              <a:rPr lang="en-US" dirty="0"/>
              <a:t>To align right the dropdown menu with the given breakpoint or larger, add </a:t>
            </a:r>
            <a:r>
              <a:rPr lang="en-US" b="1" dirty="0"/>
              <a:t>.dropdown-menu{-</a:t>
            </a:r>
            <a:r>
              <a:rPr lang="en-US" b="1" dirty="0" err="1"/>
              <a:t>sm</a:t>
            </a:r>
            <a:r>
              <a:rPr lang="en-US" b="1" dirty="0"/>
              <a:t>|-md|-lg|-xl|-</a:t>
            </a:r>
            <a:r>
              <a:rPr lang="en-US" b="1" dirty="0" err="1"/>
              <a:t>xxl</a:t>
            </a:r>
            <a:r>
              <a:rPr lang="en-US" b="1" dirty="0"/>
              <a:t>}-end.</a:t>
            </a:r>
          </a:p>
          <a:p>
            <a:r>
              <a:rPr lang="en-US" b="1" dirty="0"/>
              <a:t> &lt;button type="button" class="</a:t>
            </a:r>
            <a:r>
              <a:rPr lang="en-US" b="1" dirty="0" err="1"/>
              <a:t>btn</a:t>
            </a:r>
            <a:r>
              <a:rPr lang="en-US" b="1" dirty="0"/>
              <a:t> </a:t>
            </a:r>
            <a:r>
              <a:rPr lang="en-US" b="1" dirty="0" err="1"/>
              <a:t>btn</a:t>
            </a:r>
            <a:r>
              <a:rPr lang="en-US" b="1" dirty="0"/>
              <a:t>-secondary dropdown-toggle" data-bs-toggle="dropdown" data-bs-display="static“&gt;</a:t>
            </a:r>
          </a:p>
          <a:p>
            <a:r>
              <a:rPr lang="en-US" b="1" dirty="0"/>
              <a:t>&lt;</a:t>
            </a:r>
            <a:r>
              <a:rPr lang="en-US" b="1" dirty="0" err="1"/>
              <a:t>ul</a:t>
            </a:r>
            <a:r>
              <a:rPr lang="en-US" b="1" dirty="0"/>
              <a:t> class="dropdown-menu dropdown-menu-lg-end"&gt;</a:t>
            </a:r>
          </a:p>
          <a:p>
            <a:endParaRPr lang="en-US" b="1" dirty="0"/>
          </a:p>
          <a:p>
            <a:endParaRPr lang="en-IN" b="1" dirty="0"/>
          </a:p>
        </p:txBody>
      </p:sp>
      <p:pic>
        <p:nvPicPr>
          <p:cNvPr id="5" name="Picture 4">
            <a:extLst>
              <a:ext uri="{FF2B5EF4-FFF2-40B4-BE49-F238E27FC236}">
                <a16:creationId xmlns:a16="http://schemas.microsoft.com/office/drawing/2014/main" id="{246D32BC-FB4E-16DA-8D24-DA6874DC0CD7}"/>
              </a:ext>
            </a:extLst>
          </p:cNvPr>
          <p:cNvPicPr>
            <a:picLocks noChangeAspect="1"/>
          </p:cNvPicPr>
          <p:nvPr/>
        </p:nvPicPr>
        <p:blipFill>
          <a:blip r:embed="rId2"/>
          <a:stretch>
            <a:fillRect/>
          </a:stretch>
        </p:blipFill>
        <p:spPr>
          <a:xfrm>
            <a:off x="9186041" y="4412195"/>
            <a:ext cx="3293858" cy="2562583"/>
          </a:xfrm>
          <a:prstGeom prst="rect">
            <a:avLst/>
          </a:prstGeom>
        </p:spPr>
      </p:pic>
    </p:spTree>
    <p:extLst>
      <p:ext uri="{BB962C8B-B14F-4D97-AF65-F5344CB8AC3E}">
        <p14:creationId xmlns:p14="http://schemas.microsoft.com/office/powerpoint/2010/main" val="55775748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A4F279-9238-814B-56A8-23C04C57932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95E5408-A5C7-1D0E-D451-C21640E492AC}"/>
              </a:ext>
            </a:extLst>
          </p:cNvPr>
          <p:cNvSpPr>
            <a:spLocks noGrp="1"/>
          </p:cNvSpPr>
          <p:nvPr>
            <p:ph idx="1"/>
          </p:nvPr>
        </p:nvSpPr>
        <p:spPr/>
        <p:txBody>
          <a:bodyPr/>
          <a:lstStyle/>
          <a:p>
            <a:r>
              <a:rPr lang="en-US" b="1" dirty="0"/>
              <a:t>RIGHT ALIGNED BUT LEFT ALIGNED ON LARGE SCREEN</a:t>
            </a:r>
          </a:p>
          <a:p>
            <a:r>
              <a:rPr lang="en-IN" dirty="0"/>
              <a:t>To align left the dropdown menu with the given breakpoint or larger, add .dropdown-menu-end and .dropdown-menu{-</a:t>
            </a:r>
            <a:r>
              <a:rPr lang="en-IN" dirty="0" err="1"/>
              <a:t>sm</a:t>
            </a:r>
            <a:r>
              <a:rPr lang="en-IN" dirty="0"/>
              <a:t>|-md|-</a:t>
            </a:r>
            <a:r>
              <a:rPr lang="en-IN" dirty="0" err="1"/>
              <a:t>lg</a:t>
            </a:r>
            <a:r>
              <a:rPr lang="en-IN" dirty="0"/>
              <a:t>|-xl|-</a:t>
            </a:r>
            <a:r>
              <a:rPr lang="en-IN" dirty="0" err="1"/>
              <a:t>xxl</a:t>
            </a:r>
            <a:r>
              <a:rPr lang="en-IN" dirty="0"/>
              <a:t>}-start</a:t>
            </a:r>
            <a:r>
              <a:rPr lang="en-IN"/>
              <a:t>. </a:t>
            </a:r>
          </a:p>
          <a:p>
            <a:r>
              <a:rPr lang="en-IN"/>
              <a:t>&lt;</a:t>
            </a:r>
            <a:r>
              <a:rPr lang="en-IN" dirty="0" err="1"/>
              <a:t>ul</a:t>
            </a:r>
            <a:r>
              <a:rPr lang="en-IN" dirty="0"/>
              <a:t> class="dropdown-menu dropdown-menu-end dropdown-menu-</a:t>
            </a:r>
            <a:r>
              <a:rPr lang="en-IN" dirty="0" err="1"/>
              <a:t>lg</a:t>
            </a:r>
            <a:r>
              <a:rPr lang="en-IN" dirty="0"/>
              <a:t>-start"&gt;</a:t>
            </a:r>
          </a:p>
          <a:p>
            <a:endParaRPr lang="en-IN" dirty="0"/>
          </a:p>
        </p:txBody>
      </p:sp>
    </p:spTree>
    <p:extLst>
      <p:ext uri="{BB962C8B-B14F-4D97-AF65-F5344CB8AC3E}">
        <p14:creationId xmlns:p14="http://schemas.microsoft.com/office/powerpoint/2010/main" val="25092297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2154</TotalTime>
  <Words>6118</Words>
  <Application>Microsoft Office PowerPoint</Application>
  <PresentationFormat>Widescreen</PresentationFormat>
  <Paragraphs>384</Paragraphs>
  <Slides>79</Slides>
  <Notes>4</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79</vt:i4>
      </vt:variant>
    </vt:vector>
  </HeadingPairs>
  <TitlesOfParts>
    <vt:vector size="85" baseType="lpstr">
      <vt:lpstr>Arial</vt:lpstr>
      <vt:lpstr>Calibri</vt:lpstr>
      <vt:lpstr>Calibri Light</vt:lpstr>
      <vt:lpstr>Times New Roman</vt:lpstr>
      <vt:lpstr>Wingdings</vt:lpstr>
      <vt:lpstr>Office Theme</vt:lpstr>
      <vt:lpstr>MODULE 3</vt:lpstr>
      <vt:lpstr>PowerPoint Presentation</vt:lpstr>
      <vt:lpstr>NAVIGATION</vt:lpstr>
      <vt:lpstr>NAVIGATION DESIGN</vt:lpstr>
      <vt:lpstr>Why navigation design is so important </vt:lpstr>
      <vt:lpstr>PowerPoint Presentation</vt:lpstr>
      <vt:lpstr>NAVIGATION -COST</vt:lpstr>
      <vt:lpstr>HOW TO NAVIGATE</vt:lpstr>
      <vt:lpstr>WAYFINDING</vt:lpstr>
      <vt:lpstr>PowerPoint Presentation</vt:lpstr>
      <vt:lpstr>TYPES OF NAVIGATION</vt:lpstr>
      <vt:lpstr>PowerPoint Presentation</vt:lpstr>
      <vt:lpstr>NAVIGATION MODELS</vt:lpstr>
      <vt:lpstr>1. Hub and spoke</vt:lpstr>
      <vt:lpstr>2. Fully connected </vt:lpstr>
      <vt:lpstr>3. Multi-level </vt:lpstr>
      <vt:lpstr>4. Stepwise </vt:lpstr>
      <vt:lpstr>6. Pan-and-zoom</vt:lpstr>
      <vt:lpstr>7.Flat navigation </vt:lpstr>
      <vt:lpstr>8.Modal panel </vt:lpstr>
      <vt:lpstr>9.Clear entry points </vt:lpstr>
      <vt:lpstr>10. Bookmarks </vt:lpstr>
      <vt:lpstr>11. Escape hatch </vt:lpstr>
      <vt:lpstr>There are three things to notice about these navigational models. </vt:lpstr>
      <vt:lpstr>Design Conventions for Websites</vt:lpstr>
      <vt:lpstr>Design Conventions for Websites</vt:lpstr>
      <vt:lpstr>PowerPoint Presentation</vt:lpstr>
      <vt:lpstr>The Patterns- NAVIGATION PATTERNS</vt:lpstr>
      <vt:lpstr>Clear Entry Points</vt:lpstr>
      <vt:lpstr>Clear Entry Points- WHY</vt:lpstr>
      <vt:lpstr>Clear Entry Points- HOW</vt:lpstr>
      <vt:lpstr>Clear Entry Points- EXAMPLES</vt:lpstr>
      <vt:lpstr>Menu Page</vt:lpstr>
      <vt:lpstr>PowerPoint Presentation</vt:lpstr>
      <vt:lpstr>Why</vt:lpstr>
      <vt:lpstr>HOW</vt:lpstr>
      <vt:lpstr>EXAMPLES</vt:lpstr>
      <vt:lpstr>Breadcrumbs</vt:lpstr>
      <vt:lpstr>WHY</vt:lpstr>
      <vt:lpstr>HOW</vt:lpstr>
      <vt:lpstr>Examples</vt:lpstr>
      <vt:lpstr>Bootstrap 5 Navs </vt:lpstr>
      <vt:lpstr>Aligned Nav </vt:lpstr>
      <vt:lpstr>Navbar </vt:lpstr>
      <vt:lpstr>PowerPoint Presentation</vt:lpstr>
      <vt:lpstr>Vertical Navbar &amp; Centered Navbar  </vt:lpstr>
      <vt:lpstr>Colored Navbar </vt:lpstr>
      <vt:lpstr>Brand / Logo </vt:lpstr>
      <vt:lpstr>PowerPoint Presentation</vt:lpstr>
      <vt:lpstr>Image and text  </vt:lpstr>
      <vt:lpstr>Text </vt:lpstr>
      <vt:lpstr>Navbar With Dropdown </vt:lpstr>
      <vt:lpstr>Fixed Navigation Bar </vt:lpstr>
      <vt:lpstr>PowerPoint Presentation</vt:lpstr>
      <vt:lpstr>Sticky Navbar </vt:lpstr>
      <vt:lpstr>Scrolling </vt:lpstr>
      <vt:lpstr>How it works </vt:lpstr>
      <vt:lpstr>Pagination </vt:lpstr>
      <vt:lpstr>PowerPoint Presentation</vt:lpstr>
      <vt:lpstr>PowerPoint Presentation</vt:lpstr>
      <vt:lpstr>Active State </vt:lpstr>
      <vt:lpstr>Disabled State </vt:lpstr>
      <vt:lpstr>Pagination Sizing </vt:lpstr>
      <vt:lpstr>Breadcrumbs </vt:lpstr>
      <vt:lpstr>Alignment </vt:lpstr>
      <vt:lpstr>Bootstrap 5 Dropdowns </vt:lpstr>
      <vt:lpstr>PowerPoint Presentation</vt:lpstr>
      <vt:lpstr>PowerPoint Presentation</vt:lpstr>
      <vt:lpstr>Dropdown Divider </vt:lpstr>
      <vt:lpstr>Dropdown Header </vt:lpstr>
      <vt:lpstr>Disable and Active items </vt:lpstr>
      <vt:lpstr>Sizing </vt:lpstr>
      <vt:lpstr>Split button </vt:lpstr>
      <vt:lpstr>Dark dropdowns </vt:lpstr>
      <vt:lpstr>Directions </vt:lpstr>
      <vt:lpstr>Menu alignment </vt:lpstr>
      <vt:lpstr>PowerPoint Presentation</vt:lpstr>
      <vt:lpstr>Responsive alignment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HONEY JOHN</dc:creator>
  <cp:lastModifiedBy>HONEY JOHN</cp:lastModifiedBy>
  <cp:revision>22</cp:revision>
  <dcterms:created xsi:type="dcterms:W3CDTF">2024-09-02T10:34:43Z</dcterms:created>
  <dcterms:modified xsi:type="dcterms:W3CDTF">2024-10-30T07:24:41Z</dcterms:modified>
</cp:coreProperties>
</file>