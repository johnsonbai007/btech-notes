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8" r:id="rId5"/>
    <p:sldId id="269" r:id="rId6"/>
    <p:sldId id="270" r:id="rId7"/>
    <p:sldId id="271" r:id="rId8"/>
    <p:sldId id="272" r:id="rId9"/>
    <p:sldId id="273" r:id="rId10"/>
    <p:sldId id="259" r:id="rId11"/>
    <p:sldId id="260" r:id="rId12"/>
    <p:sldId id="261" r:id="rId13"/>
    <p:sldId id="262" r:id="rId14"/>
    <p:sldId id="263" r:id="rId15"/>
    <p:sldId id="264" r:id="rId16"/>
    <p:sldId id="265" r:id="rId17"/>
    <p:sldId id="266" r:id="rId18"/>
    <p:sldId id="267"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10/30/2024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10/30/2024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10/30/2024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10/30/2024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sym typeface="+mn-ea"/>
              </a:rPr>
              <a:t>Module - 5 (Interactivity, Forms, and Control)</a:t>
            </a:r>
            <a:endParaRPr lang="en-US"/>
          </a:p>
        </p:txBody>
      </p:sp>
      <p:sp>
        <p:nvSpPr>
          <p:cNvPr id="3" name="Subtitle 2"/>
          <p:cNvSpPr>
            <a:spLocks noGrp="1"/>
          </p:cNvSpPr>
          <p:nvPr>
            <p:ph type="subTitle" idx="1"/>
          </p:nvPr>
        </p:nvSpPr>
        <p:spPr/>
        <p:txBody>
          <a:bodyPr>
            <a:normAutofit fontScale="70000"/>
          </a:bodyPr>
          <a:lstStyle/>
          <a:p>
            <a:r>
              <a:rPr lang="en-US" sz="3430">
                <a:solidFill>
                  <a:srgbClr val="FF0000"/>
                </a:solidFill>
              </a:rPr>
              <a:t>Introduction to interactive elements: Actions and Commands - Exploring patterns- buttons, hover</a:t>
            </a:r>
            <a:r>
              <a:rPr lang="en-IN" altLang="en-US" sz="3430">
                <a:solidFill>
                  <a:srgbClr val="FF0000"/>
                </a:solidFill>
              </a:rPr>
              <a:t> </a:t>
            </a:r>
            <a:r>
              <a:rPr lang="en-US" sz="3430">
                <a:solidFill>
                  <a:srgbClr val="FF0000"/>
                </a:solidFill>
              </a:rPr>
              <a:t>tools, action panels, progress indicators.</a:t>
            </a:r>
            <a:r>
              <a:rPr lang="en-US"/>
              <a:t> </a:t>
            </a:r>
            <a:r>
              <a:rPr lang="en-US" sz="4000"/>
              <a:t>Bootstrap 5's form components -form controls, input groups,and custom form elements.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Introduction to interactive elements</a:t>
            </a:r>
            <a:endParaRPr lang="en-US"/>
          </a:p>
        </p:txBody>
      </p:sp>
      <p:sp>
        <p:nvSpPr>
          <p:cNvPr id="3" name="Content Placeholder 2"/>
          <p:cNvSpPr>
            <a:spLocks noGrp="1"/>
          </p:cNvSpPr>
          <p:nvPr>
            <p:ph idx="1"/>
          </p:nvPr>
        </p:nvSpPr>
        <p:spPr>
          <a:xfrm>
            <a:off x="838200" y="1408922"/>
            <a:ext cx="10515600" cy="4768041"/>
          </a:xfrm>
        </p:spPr>
        <p:txBody>
          <a:bodyPr>
            <a:normAutofit fontScale="82500" lnSpcReduction="20000"/>
          </a:bodyPr>
          <a:lstStyle/>
          <a:p>
            <a:pPr marL="0" indent="0">
              <a:buNone/>
            </a:pPr>
            <a:r>
              <a:rPr lang="en-US" b="1" dirty="0"/>
              <a:t>Interactive elements are features that allow users to interact with a website or other content, and can help to increase user engagement: </a:t>
            </a:r>
          </a:p>
          <a:p>
            <a:r>
              <a:rPr lang="en-US" b="1" dirty="0"/>
              <a:t>Surveys: </a:t>
            </a:r>
            <a:r>
              <a:rPr lang="en-US" dirty="0"/>
              <a:t>Can encourage customers to share their opinions </a:t>
            </a:r>
          </a:p>
          <a:p>
            <a:r>
              <a:rPr lang="en-US" b="1" dirty="0"/>
              <a:t>Social sharing buttons</a:t>
            </a:r>
            <a:r>
              <a:rPr lang="en-US" dirty="0"/>
              <a:t>: Can encourage users to share content </a:t>
            </a:r>
          </a:p>
          <a:p>
            <a:r>
              <a:rPr lang="en-US" b="1" dirty="0"/>
              <a:t>Quizzes: </a:t>
            </a:r>
            <a:r>
              <a:rPr lang="en-US" dirty="0"/>
              <a:t>Can help to prolong users' attention span and provide valuable data </a:t>
            </a:r>
          </a:p>
          <a:p>
            <a:r>
              <a:rPr lang="en-US" b="1" dirty="0"/>
              <a:t>Animations:</a:t>
            </a:r>
            <a:r>
              <a:rPr lang="en-US" dirty="0"/>
              <a:t> Can make a page more unique and interactive </a:t>
            </a:r>
          </a:p>
          <a:p>
            <a:r>
              <a:rPr lang="en-US" b="1" dirty="0"/>
              <a:t>Videos: </a:t>
            </a:r>
            <a:r>
              <a:rPr lang="en-US" dirty="0"/>
              <a:t>Can be highly engaging and help people remember information </a:t>
            </a:r>
          </a:p>
          <a:p>
            <a:r>
              <a:rPr lang="en-US" b="1" dirty="0"/>
              <a:t>Buttons: </a:t>
            </a:r>
            <a:r>
              <a:rPr lang="en-US" dirty="0"/>
              <a:t>Can be used to make something happen when clicked </a:t>
            </a:r>
          </a:p>
          <a:p>
            <a:r>
              <a:rPr lang="en-US" b="1" dirty="0"/>
              <a:t>Inputs: </a:t>
            </a:r>
            <a:r>
              <a:rPr lang="en-US" dirty="0"/>
              <a:t>Can be used to make something happen when typed into </a:t>
            </a:r>
          </a:p>
          <a:p>
            <a:r>
              <a:rPr lang="en-US" b="1" dirty="0"/>
              <a:t>Checkboxes</a:t>
            </a:r>
            <a:r>
              <a:rPr lang="en-US" dirty="0"/>
              <a:t>: Can be used to make something happen when selected </a:t>
            </a:r>
          </a:p>
          <a:p>
            <a:r>
              <a:rPr lang="en-US" b="1" dirty="0"/>
              <a:t>Drop-down menus: </a:t>
            </a:r>
            <a:r>
              <a:rPr lang="en-US" dirty="0"/>
              <a:t>Can be used to make something happen when selected </a:t>
            </a:r>
          </a:p>
          <a:p>
            <a:r>
              <a:rPr lang="en-US" b="1" dirty="0"/>
              <a:t>Interactive email marketing: </a:t>
            </a:r>
            <a:r>
              <a:rPr lang="en-US" dirty="0"/>
              <a:t>Can help to improve click-through rates and keep users loyal to a brand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7050"/>
            <a:ext cx="10515600" cy="5650230"/>
          </a:xfrm>
        </p:spPr>
        <p:txBody>
          <a:bodyPr/>
          <a:lstStyle/>
          <a:p>
            <a:r>
              <a:rPr lang="en-US"/>
              <a:t>Interactive elements can help to make websites more engaging, organize content, and enhance the user experience. </a:t>
            </a:r>
          </a:p>
          <a:p>
            <a:r>
              <a:rPr lang="en-US"/>
              <a:t>They can also help to encourage users to actively engage with content rather than passively consuming it</a:t>
            </a:r>
            <a:r>
              <a:rPr lang="en-IN" altLang="en-US"/>
              <a:t>.</a:t>
            </a:r>
          </a:p>
          <a:p>
            <a:r>
              <a:rPr lang="en-IN" altLang="en-US"/>
              <a:t>An interactive element (in a user interface) is every component that implies any interaction with the user.</a:t>
            </a:r>
          </a:p>
          <a:p>
            <a:r>
              <a:rPr lang="en-IN" altLang="en-US"/>
              <a:t>Interactive elements can help you to transform a static and forgettable page into something that captures the imagination of users and holds their attention.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0530"/>
            <a:ext cx="10515600" cy="6171565"/>
          </a:xfrm>
        </p:spPr>
        <p:txBody>
          <a:bodyPr>
            <a:normAutofit fontScale="80000" lnSpcReduction="10000"/>
          </a:bodyPr>
          <a:lstStyle/>
          <a:p>
            <a:r>
              <a:rPr lang="en-US" dirty="0"/>
              <a:t>Interactive elements in user interfaces (UIs) are crucial for enabling user engagement and functionality.</a:t>
            </a:r>
          </a:p>
          <a:p>
            <a:r>
              <a:rPr lang="en-US" dirty="0"/>
              <a:t> They can be broadly categorized into two main types: Actions and Commands. </a:t>
            </a:r>
          </a:p>
          <a:p>
            <a:r>
              <a:rPr lang="en-IN" b="1" dirty="0"/>
              <a:t>Commands refer to specific instructions or actions that users can invoke to interact with a system or perform specific tasks</a:t>
            </a:r>
            <a:r>
              <a:rPr lang="en-IN" dirty="0"/>
              <a:t>.</a:t>
            </a:r>
            <a:endParaRPr lang="en-US" dirty="0"/>
          </a:p>
          <a:p>
            <a:pPr marL="0" indent="0">
              <a:buNone/>
            </a:pPr>
            <a:r>
              <a:rPr lang="en-US" b="1" u="sng" dirty="0"/>
              <a:t>1. Actions</a:t>
            </a:r>
          </a:p>
          <a:p>
            <a:pPr marL="0" indent="0">
              <a:buNone/>
            </a:pPr>
            <a:r>
              <a:rPr lang="en-US" dirty="0"/>
              <a:t>Actions refer to user-initiated operations that affect the state of the application or perform a specific task. These are typically triggered by direct user interactions with UI elements.</a:t>
            </a:r>
          </a:p>
          <a:p>
            <a:pPr marL="0" indent="0">
              <a:buNone/>
            </a:pPr>
            <a:endParaRPr lang="en-US" dirty="0"/>
          </a:p>
          <a:p>
            <a:pPr marL="0" indent="0">
              <a:buNone/>
            </a:pPr>
            <a:r>
              <a:rPr lang="en-US" u="sng" dirty="0"/>
              <a:t>Common Action Elements:</a:t>
            </a:r>
          </a:p>
          <a:p>
            <a:pPr marL="0" indent="0">
              <a:buNone/>
            </a:pPr>
            <a:r>
              <a:rPr lang="en-US" b="1" dirty="0"/>
              <a:t>Buttons: </a:t>
            </a:r>
            <a:r>
              <a:rPr lang="en-US" dirty="0"/>
              <a:t>Clickable elements that trigger a specific action, such as "Submit," "Save," or "Cancel." Buttons are often used to execute commands, submit forms, or navigate to different views.</a:t>
            </a:r>
          </a:p>
          <a:p>
            <a:pPr marL="0" indent="0">
              <a:buNone/>
            </a:pPr>
            <a:r>
              <a:rPr lang="en-US" b="1" dirty="0"/>
              <a:t>Links: </a:t>
            </a:r>
            <a:r>
              <a:rPr lang="en-US" dirty="0"/>
              <a:t>Text or elements that direct users to a different page or section. Links are commonly used for navigation purposes.</a:t>
            </a:r>
          </a:p>
          <a:p>
            <a:pPr marL="0" indent="0">
              <a:buNone/>
            </a:pPr>
            <a:r>
              <a:rPr lang="en-US" b="1" dirty="0"/>
              <a:t>Checkboxes: </a:t>
            </a:r>
            <a:r>
              <a:rPr lang="en-US" dirty="0"/>
              <a:t>Allow users to select one or more options from a set. Each checkbox represents an independent action or option.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6730"/>
            <a:ext cx="10515600" cy="5670550"/>
          </a:xfrm>
        </p:spPr>
        <p:txBody>
          <a:bodyPr>
            <a:normAutofit fontScale="90000" lnSpcReduction="20000"/>
          </a:bodyPr>
          <a:lstStyle/>
          <a:p>
            <a:r>
              <a:rPr lang="en-US" b="1" dirty="0"/>
              <a:t>Radio Buttons: </a:t>
            </a:r>
            <a:r>
              <a:rPr lang="en-US" dirty="0"/>
              <a:t>Used for selecting a single option from a group. They represent mutually exclusive choices.</a:t>
            </a:r>
          </a:p>
          <a:p>
            <a:r>
              <a:rPr lang="en-US" b="1" dirty="0"/>
              <a:t>Sliders: </a:t>
            </a:r>
            <a:r>
              <a:rPr lang="en-US" dirty="0"/>
              <a:t>Allow users to adjust a value within a range. Sliders are used for settings such as volume or brightness.</a:t>
            </a:r>
          </a:p>
          <a:p>
            <a:r>
              <a:rPr lang="en-US" b="1" dirty="0"/>
              <a:t>Switches/Toggles</a:t>
            </a:r>
            <a:r>
              <a:rPr lang="en-US" dirty="0"/>
              <a:t>: Enable users to switch between two states, such as on/off or enabled/disabled.</a:t>
            </a:r>
          </a:p>
          <a:p>
            <a:r>
              <a:rPr lang="en-US" b="1" dirty="0"/>
              <a:t>Dropdowns:</a:t>
            </a:r>
            <a:r>
              <a:rPr lang="en-US" dirty="0"/>
              <a:t> Provide a list of options from which users can select one. Dropdowns are often used for selecting categories, filtering data, or choosing from a list of predefined values.</a:t>
            </a:r>
          </a:p>
          <a:p>
            <a:pPr marL="0" indent="0">
              <a:buNone/>
            </a:pPr>
            <a:r>
              <a:rPr lang="en-US" u="sng" dirty="0"/>
              <a:t>Design Considerations for Actions:</a:t>
            </a:r>
          </a:p>
          <a:p>
            <a:r>
              <a:rPr lang="en-US" b="1" dirty="0"/>
              <a:t>Clarity: </a:t>
            </a:r>
            <a:r>
              <a:rPr lang="en-US" dirty="0"/>
              <a:t>Ensure that the purpose of the action is clear through labels, icons, or context.</a:t>
            </a:r>
          </a:p>
          <a:p>
            <a:r>
              <a:rPr lang="en-US" b="1" dirty="0"/>
              <a:t>Feedback: </a:t>
            </a:r>
            <a:r>
              <a:rPr lang="en-US" dirty="0"/>
              <a:t>Provide immediate feedback to indicate that the action has been successfully executed or if there’s an error.</a:t>
            </a:r>
          </a:p>
          <a:p>
            <a:r>
              <a:rPr lang="en-US" b="1" dirty="0"/>
              <a:t>Affordance: </a:t>
            </a:r>
            <a:r>
              <a:rPr lang="en-US" dirty="0"/>
              <a:t>Design elements to look interactive, so users understand that they can perform an action (e.g., using buttons with a 3D effect).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9755"/>
            <a:ext cx="10515600" cy="5597525"/>
          </a:xfrm>
        </p:spPr>
        <p:txBody>
          <a:bodyPr>
            <a:normAutofit fontScale="87500" lnSpcReduction="20000"/>
          </a:bodyPr>
          <a:lstStyle/>
          <a:p>
            <a:pPr marL="0" indent="0">
              <a:buNone/>
            </a:pPr>
            <a:r>
              <a:rPr lang="en-US" b="1" dirty="0"/>
              <a:t>2. Commands</a:t>
            </a:r>
          </a:p>
          <a:p>
            <a:r>
              <a:rPr lang="en-US" dirty="0"/>
              <a:t>Commands are specific instructions or functions that can be executed by the user. They often encapsulate a set of actions or operations and can be activated through various UI elements or keyboard shortcuts.</a:t>
            </a:r>
          </a:p>
          <a:p>
            <a:pPr marL="0" indent="0">
              <a:buNone/>
            </a:pPr>
            <a:r>
              <a:rPr lang="en-US" u="sng" dirty="0"/>
              <a:t>Common Command Elements:</a:t>
            </a:r>
          </a:p>
          <a:p>
            <a:r>
              <a:rPr lang="en-US" b="1" dirty="0"/>
              <a:t>Menus: </a:t>
            </a:r>
            <a:r>
              <a:rPr lang="en-US" dirty="0"/>
              <a:t>Provide a list of commands or options grouped into categories. Menus can be drop-down, context (right-click), or navigation menus.</a:t>
            </a:r>
          </a:p>
          <a:p>
            <a:r>
              <a:rPr lang="en-US" b="1" dirty="0"/>
              <a:t>Context Menus: </a:t>
            </a:r>
            <a:r>
              <a:rPr lang="en-US" dirty="0"/>
              <a:t>Pop-up menus that appear when users right-click or perform a secondary action. They offer commands relevant to the selected item or context.</a:t>
            </a:r>
          </a:p>
          <a:p>
            <a:r>
              <a:rPr lang="en-US" b="1" dirty="0"/>
              <a:t>Toolbars: </a:t>
            </a:r>
            <a:r>
              <a:rPr lang="en-US" dirty="0"/>
              <a:t>A set of commands usually represented by icons, placed in a bar format, offering quick access to common tasks or functions.</a:t>
            </a:r>
          </a:p>
          <a:p>
            <a:r>
              <a:rPr lang="en-US" b="1" dirty="0"/>
              <a:t>Keyboard Shortcuts: </a:t>
            </a:r>
            <a:r>
              <a:rPr lang="en-US" dirty="0"/>
              <a:t>Allow users to execute commands through specific key combinations, enhancing efficiency and speed for experienced users.</a:t>
            </a:r>
          </a:p>
          <a:p>
            <a:r>
              <a:rPr lang="en-US" b="1" dirty="0"/>
              <a:t>Voice Commands: </a:t>
            </a:r>
            <a:r>
              <a:rPr lang="en-US" dirty="0"/>
              <a:t>Enable users to perform actions using spoken instructions. This is becoming increasingly popular with voice-activated assistants and applications.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9595"/>
            <a:ext cx="10515600" cy="5607685"/>
          </a:xfrm>
        </p:spPr>
        <p:txBody>
          <a:bodyPr/>
          <a:lstStyle/>
          <a:p>
            <a:pPr marL="0" indent="0">
              <a:buNone/>
            </a:pPr>
            <a:r>
              <a:rPr lang="en-US" u="sng" dirty="0"/>
              <a:t>Design Considerations for Commands:</a:t>
            </a:r>
          </a:p>
          <a:p>
            <a:r>
              <a:rPr lang="en-US" b="1" dirty="0"/>
              <a:t>Discoverability: </a:t>
            </a:r>
            <a:r>
              <a:rPr lang="en-US" dirty="0"/>
              <a:t>Make commands easily discoverable through clear labels, icons, or contextual hints.</a:t>
            </a:r>
          </a:p>
          <a:p>
            <a:r>
              <a:rPr lang="en-US" b="1" dirty="0"/>
              <a:t>Consistency: </a:t>
            </a:r>
            <a:r>
              <a:rPr lang="en-US" dirty="0"/>
              <a:t>Maintain consistency in command placement and behavior across the application to build familiarity and ease of use.</a:t>
            </a:r>
          </a:p>
          <a:p>
            <a:r>
              <a:rPr lang="en-US" b="1" dirty="0"/>
              <a:t>Customization: </a:t>
            </a:r>
            <a:r>
              <a:rPr lang="en-US" dirty="0"/>
              <a:t>Allow users to customize commands or shortcuts to suit their preferences and improve their workflow.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9595"/>
            <a:ext cx="10515600" cy="5607685"/>
          </a:xfrm>
        </p:spPr>
        <p:txBody>
          <a:bodyPr/>
          <a:lstStyle/>
          <a:p>
            <a:pPr marL="0" indent="0">
              <a:buNone/>
            </a:pPr>
            <a:r>
              <a:rPr lang="en-US" u="sng" dirty="0"/>
              <a:t>Interactions Between Actions and Commands</a:t>
            </a:r>
          </a:p>
          <a:p>
            <a:r>
              <a:rPr lang="en-US" b="1" dirty="0"/>
              <a:t>Action vs. Command: </a:t>
            </a:r>
            <a:r>
              <a:rPr lang="en-US" dirty="0"/>
              <a:t>While actions are often immediate and perform a task directly (e.g., clicking a "Submit" button), commands might trigger a series of actions or open additional menus/options (e.g., a "File" menu with options like "Open," "Save," "Print").</a:t>
            </a:r>
          </a:p>
          <a:p>
            <a:r>
              <a:rPr lang="en-US" b="1" dirty="0"/>
              <a:t>Feedback and Confirmation: </a:t>
            </a:r>
            <a:r>
              <a:rPr lang="en-US" dirty="0"/>
              <a:t>Both actions and commands should provide feedback to users. For actions, this might be a visual change or notification, while commands might involve dialogs or progress indicators.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7750"/>
            <a:ext cx="10515600" cy="4351338"/>
          </a:xfrm>
        </p:spPr>
        <p:txBody>
          <a:bodyPr>
            <a:normAutofit fontScale="90000" lnSpcReduction="20000"/>
          </a:bodyPr>
          <a:lstStyle/>
          <a:p>
            <a:pPr marL="0" indent="0">
              <a:buNone/>
            </a:pPr>
            <a:r>
              <a:rPr lang="en-US" u="sng" dirty="0"/>
              <a:t>Best Practices for Interactive Elements</a:t>
            </a:r>
          </a:p>
          <a:p>
            <a:r>
              <a:rPr lang="en-US" b="1" dirty="0"/>
              <a:t>User-Centric Design</a:t>
            </a:r>
            <a:r>
              <a:rPr lang="en-US" dirty="0"/>
              <a:t>: Always design actions and commands with the user’s needs and expectations in mind. Ensure they are intuitive and align with user workflows.</a:t>
            </a:r>
          </a:p>
          <a:p>
            <a:r>
              <a:rPr lang="en-US" b="1" dirty="0"/>
              <a:t>Error Handling: </a:t>
            </a:r>
            <a:r>
              <a:rPr lang="en-US" dirty="0"/>
              <a:t>Implement clear error messages and recovery options to guide users if an action or command fails.</a:t>
            </a:r>
          </a:p>
          <a:p>
            <a:r>
              <a:rPr lang="en-US" b="1" dirty="0"/>
              <a:t>Accessibility: </a:t>
            </a:r>
            <a:r>
              <a:rPr lang="en-US" dirty="0"/>
              <a:t>Ensure that interactive elements are accessible to all users, including those with disabilities, by supporting keyboard navigation, screen readers, and other assistive technologies.</a:t>
            </a:r>
          </a:p>
          <a:p>
            <a:endParaRPr lang="en-US" dirty="0"/>
          </a:p>
          <a:p>
            <a:r>
              <a:rPr lang="en-US" dirty="0"/>
              <a:t>By carefully designing and implementing interactive elements, you can create a more engaging and functional user experience that meets the needs of your audience.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79730" y="273050"/>
            <a:ext cx="11292205" cy="59340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4065" y="1016635"/>
            <a:ext cx="10515600" cy="4351338"/>
          </a:xfrm>
        </p:spPr>
        <p:txBody>
          <a:bodyPr>
            <a:normAutofit fontScale="90000" lnSpcReduction="10000"/>
          </a:bodyPr>
          <a:lstStyle/>
          <a:p>
            <a:pPr marL="0" indent="0">
              <a:buNone/>
            </a:pPr>
            <a:r>
              <a:rPr lang="en-US" dirty="0"/>
              <a:t>1. </a:t>
            </a:r>
            <a:r>
              <a:rPr lang="en-US" b="1" dirty="0"/>
              <a:t>Navigation Patterns</a:t>
            </a:r>
          </a:p>
          <a:p>
            <a:pPr marL="0" indent="0">
              <a:buNone/>
            </a:pPr>
            <a:endParaRPr lang="en-US" dirty="0"/>
          </a:p>
          <a:p>
            <a:r>
              <a:rPr lang="en-US" b="1" dirty="0"/>
              <a:t>Top Navigation Bar: </a:t>
            </a:r>
            <a:r>
              <a:rPr lang="en-US" dirty="0"/>
              <a:t>A horizontal bar at the top of the screen containing the primary navigation links. This pattern is often used for key sections of the site or app.</a:t>
            </a:r>
          </a:p>
          <a:p>
            <a:r>
              <a:rPr lang="en-US" b="1" dirty="0"/>
              <a:t>Side Navigation (Sidebar): </a:t>
            </a:r>
            <a:r>
              <a:rPr lang="en-US" dirty="0"/>
              <a:t>A vertical menu usually located on the left side of the screen. It's useful for applications with many sections or categories.</a:t>
            </a:r>
          </a:p>
          <a:p>
            <a:r>
              <a:rPr lang="en-US" b="1" dirty="0"/>
              <a:t>Tab Bar: </a:t>
            </a:r>
            <a:r>
              <a:rPr lang="en-US" dirty="0"/>
              <a:t>A set of tabs that allows users to switch between different views or sections of an app. Commonly found in mobile apps and web applications.</a:t>
            </a:r>
          </a:p>
          <a:p>
            <a:r>
              <a:rPr lang="en-US" b="1" dirty="0"/>
              <a:t>Breadcrumbs: </a:t>
            </a:r>
            <a:r>
              <a:rPr lang="en-US" dirty="0"/>
              <a:t>A secondary navigation aid showing the user's current location within the site hierarchy, useful for deep navigation.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2. Input Patterns</a:t>
            </a:r>
          </a:p>
          <a:p>
            <a:r>
              <a:rPr lang="en-US" b="1" dirty="0"/>
              <a:t>Forms: </a:t>
            </a:r>
            <a:r>
              <a:rPr lang="en-US" dirty="0"/>
              <a:t>Collecting user data through fields like text boxes, dropdowns, checkboxes, and radio buttons. Use clear labels and provide validation feedback.</a:t>
            </a:r>
          </a:p>
          <a:p>
            <a:r>
              <a:rPr lang="en-US" b="1" dirty="0"/>
              <a:t>Search Box: </a:t>
            </a:r>
            <a:r>
              <a:rPr lang="en-US" dirty="0"/>
              <a:t>An input field that allows users to search for content or functionality. Autocomplete and suggestions can enhance usability.</a:t>
            </a:r>
          </a:p>
          <a:p>
            <a:r>
              <a:rPr lang="en-US" b="1" dirty="0"/>
              <a:t>Date Picker: </a:t>
            </a:r>
            <a:r>
              <a:rPr lang="en-US" dirty="0"/>
              <a:t>A control for selecting dates, often used in forms. It can be a dropdown, calendar view, or a combination.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82351"/>
            <a:ext cx="10515600" cy="5094612"/>
          </a:xfrm>
        </p:spPr>
        <p:txBody>
          <a:bodyPr/>
          <a:lstStyle/>
          <a:p>
            <a:pPr marL="0" indent="0">
              <a:buNone/>
            </a:pPr>
            <a:r>
              <a:rPr lang="en-US" b="1" dirty="0"/>
              <a:t>3. Feedback Patterns</a:t>
            </a:r>
          </a:p>
          <a:p>
            <a:r>
              <a:rPr lang="en-US" b="1" dirty="0"/>
              <a:t>Loading Indicators: </a:t>
            </a:r>
            <a:r>
              <a:rPr lang="en-US" dirty="0"/>
              <a:t>Visual cues that indicate an operation is in progress, such as spinning wheels or progress bars.</a:t>
            </a:r>
          </a:p>
          <a:p>
            <a:r>
              <a:rPr lang="en-US" b="1" dirty="0"/>
              <a:t>Tooltips: </a:t>
            </a:r>
            <a:r>
              <a:rPr lang="en-US" dirty="0"/>
              <a:t>Small pop-up boxes that provide additional information about a UI element when users hover over or focus on it.</a:t>
            </a:r>
          </a:p>
          <a:p>
            <a:r>
              <a:rPr lang="en-US" b="1" dirty="0"/>
              <a:t>Notifications: </a:t>
            </a:r>
            <a:r>
              <a:rPr lang="en-US" dirty="0"/>
              <a:t>Alerts or messages that inform users about important events or changes, often displayed at the top or bottom of the screen.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66327"/>
            <a:ext cx="10515600" cy="5010636"/>
          </a:xfrm>
        </p:spPr>
        <p:txBody>
          <a:bodyPr/>
          <a:lstStyle/>
          <a:p>
            <a:pPr marL="0" indent="0">
              <a:buNone/>
            </a:pPr>
            <a:r>
              <a:rPr lang="en-US" dirty="0"/>
              <a:t>4. </a:t>
            </a:r>
            <a:r>
              <a:rPr lang="en-US" b="1" dirty="0"/>
              <a:t>Interaction Patterns</a:t>
            </a:r>
          </a:p>
          <a:p>
            <a:r>
              <a:rPr lang="en-US" b="1" dirty="0"/>
              <a:t>Modal Windows: </a:t>
            </a:r>
            <a:r>
              <a:rPr lang="en-US" dirty="0"/>
              <a:t>Dialog boxes that appear on top of the main content to capture user input or display important information without navigating away.</a:t>
            </a:r>
          </a:p>
          <a:p>
            <a:r>
              <a:rPr lang="en-US" b="1" dirty="0"/>
              <a:t>Hover Effects: </a:t>
            </a:r>
            <a:r>
              <a:rPr lang="en-US" dirty="0"/>
              <a:t>Changes in UI elements (e.g., color changes, shadows) when users hover their cursor over them, indicating interactivity.</a:t>
            </a:r>
          </a:p>
          <a:p>
            <a:r>
              <a:rPr lang="en-US" b="1" dirty="0"/>
              <a:t>Draggable Elements: </a:t>
            </a:r>
            <a:r>
              <a:rPr lang="en-US" dirty="0"/>
              <a:t>Allowing users to move elements around the screen, often used for customization or organization.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2392"/>
            <a:ext cx="10515600" cy="5234571"/>
          </a:xfrm>
        </p:spPr>
        <p:txBody>
          <a:bodyPr/>
          <a:lstStyle/>
          <a:p>
            <a:pPr marL="0" indent="0">
              <a:buNone/>
            </a:pPr>
            <a:r>
              <a:rPr lang="en-US" dirty="0"/>
              <a:t>5</a:t>
            </a:r>
            <a:r>
              <a:rPr lang="en-US" b="1" dirty="0"/>
              <a:t>. Layout Patterns</a:t>
            </a:r>
          </a:p>
          <a:p>
            <a:r>
              <a:rPr lang="en-US" b="1" dirty="0"/>
              <a:t>Card Layout: </a:t>
            </a:r>
            <a:r>
              <a:rPr lang="en-US" dirty="0"/>
              <a:t>Items are organized in cards, which are visually distinct and often used for displaying grouped information like product listings or news articles.</a:t>
            </a:r>
          </a:p>
          <a:p>
            <a:r>
              <a:rPr lang="en-US" b="1" dirty="0"/>
              <a:t>Grid Layout: </a:t>
            </a:r>
            <a:r>
              <a:rPr lang="en-US" dirty="0"/>
              <a:t>Arranging content in a grid to create a structured and visually appealing design, often used for galleries or product displays.</a:t>
            </a:r>
          </a:p>
          <a:p>
            <a:r>
              <a:rPr lang="en-US" b="1" dirty="0"/>
              <a:t>Single-Page Layout: </a:t>
            </a:r>
            <a:r>
              <a:rPr lang="en-US" dirty="0"/>
              <a:t>A design where all content is presented on a single page with scrolling or dynamic loading to navigate between sections.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71525"/>
            <a:ext cx="10515600" cy="5405755"/>
          </a:xfrm>
        </p:spPr>
        <p:txBody>
          <a:bodyPr>
            <a:normAutofit fontScale="90000" lnSpcReduction="10000"/>
          </a:bodyPr>
          <a:lstStyle/>
          <a:p>
            <a:pPr marL="0" indent="0">
              <a:buNone/>
            </a:pPr>
            <a:r>
              <a:rPr lang="en-US" dirty="0"/>
              <a:t>6. </a:t>
            </a:r>
            <a:r>
              <a:rPr lang="en-US" b="1" dirty="0"/>
              <a:t>Error Handling Patterns</a:t>
            </a:r>
          </a:p>
          <a:p>
            <a:r>
              <a:rPr lang="en-US" b="1" dirty="0"/>
              <a:t>Inline Validation: </a:t>
            </a:r>
            <a:r>
              <a:rPr lang="en-US" dirty="0"/>
              <a:t>Displaying error messages or validation feedback directly next to the relevant input field, helping users correct issues in real-time.</a:t>
            </a:r>
          </a:p>
          <a:p>
            <a:r>
              <a:rPr lang="en-US" b="1" dirty="0"/>
              <a:t>Error Messages: </a:t>
            </a:r>
            <a:r>
              <a:rPr lang="en-US" dirty="0"/>
              <a:t>Clear and concise messages indicating what went wrong and how to resolve it, often accompanied by suggestions or steps for correction.</a:t>
            </a:r>
          </a:p>
          <a:p>
            <a:pPr marL="0" indent="0">
              <a:buNone/>
            </a:pPr>
            <a:endParaRPr lang="en-US" dirty="0"/>
          </a:p>
          <a:p>
            <a:pPr marL="0" indent="0">
              <a:buNone/>
            </a:pPr>
            <a:r>
              <a:rPr lang="en-US" dirty="0"/>
              <a:t>7. </a:t>
            </a:r>
            <a:r>
              <a:rPr lang="en-US" b="1" dirty="0"/>
              <a:t>Accessibility Patterns</a:t>
            </a:r>
          </a:p>
          <a:p>
            <a:r>
              <a:rPr lang="en-US" b="1" dirty="0"/>
              <a:t>Keyboard Navigation: </a:t>
            </a:r>
            <a:r>
              <a:rPr lang="en-US" dirty="0"/>
              <a:t>Ensuring that all interactive elements are accessible via keyboard shortcuts and focus states.</a:t>
            </a:r>
          </a:p>
          <a:p>
            <a:r>
              <a:rPr lang="en-US" b="1" dirty="0"/>
              <a:t>Screen Reader Support: </a:t>
            </a:r>
            <a:r>
              <a:rPr lang="en-US" dirty="0"/>
              <a:t>Providing descriptive text and roles for screen readers to assist users with visual impairments.</a:t>
            </a:r>
          </a:p>
          <a:p>
            <a:r>
              <a:rPr lang="en-US" b="1" dirty="0"/>
              <a:t>Color Contrast: </a:t>
            </a:r>
            <a:r>
              <a:rPr lang="en-US" dirty="0"/>
              <a:t>Ensuring sufficient contrast between text and background to improve readability for users with visual impairments.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8545"/>
            <a:ext cx="10515600" cy="5118735"/>
          </a:xfrm>
        </p:spPr>
        <p:txBody>
          <a:bodyPr>
            <a:normAutofit lnSpcReduction="10000"/>
          </a:bodyPr>
          <a:lstStyle/>
          <a:p>
            <a:pPr marL="0" indent="0">
              <a:buNone/>
            </a:pPr>
            <a:r>
              <a:rPr lang="en-US" dirty="0"/>
              <a:t>8. </a:t>
            </a:r>
            <a:r>
              <a:rPr lang="en-US" b="1" dirty="0"/>
              <a:t>Responsive Design Patterns</a:t>
            </a:r>
          </a:p>
          <a:p>
            <a:r>
              <a:rPr lang="en-US" b="1" dirty="0"/>
              <a:t>Fluid Layouts: </a:t>
            </a:r>
            <a:r>
              <a:rPr lang="en-US" dirty="0"/>
              <a:t>Designs that adjust smoothly to different screen sizes and orientations, using flexible grids and media queries.</a:t>
            </a:r>
          </a:p>
          <a:p>
            <a:r>
              <a:rPr lang="en-US" b="1" dirty="0"/>
              <a:t>Adaptive Components: </a:t>
            </a:r>
            <a:r>
              <a:rPr lang="en-US" dirty="0"/>
              <a:t>Components that change their appearance or functionality based on the device or screen size, ensuring usability across different devices.</a:t>
            </a:r>
          </a:p>
          <a:p>
            <a:pPr marL="0" indent="0">
              <a:buNone/>
            </a:pPr>
            <a:endParaRPr lang="en-US" dirty="0"/>
          </a:p>
          <a:p>
            <a:pPr marL="0" indent="0">
              <a:buNone/>
            </a:pPr>
            <a:r>
              <a:rPr lang="en-US" b="1" dirty="0"/>
              <a:t>9. Data Visualization Patterns</a:t>
            </a:r>
          </a:p>
          <a:p>
            <a:r>
              <a:rPr lang="en-US" b="1" dirty="0"/>
              <a:t>Charts and Graphs: </a:t>
            </a:r>
            <a:r>
              <a:rPr lang="en-US" dirty="0"/>
              <a:t>Representing data visually with bar charts, line graphs, pie charts, etc., to make complex data more understandable.</a:t>
            </a:r>
          </a:p>
          <a:p>
            <a:r>
              <a:rPr lang="en-US" b="1" dirty="0"/>
              <a:t>Tables: </a:t>
            </a:r>
            <a:r>
              <a:rPr lang="en-US" dirty="0"/>
              <a:t>Structured grids for displaying tabular data, often with features like sorting, filtering, and pagination.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770" y="654685"/>
            <a:ext cx="10515600" cy="4351338"/>
          </a:xfrm>
        </p:spPr>
        <p:txBody>
          <a:bodyPr/>
          <a:lstStyle/>
          <a:p>
            <a:pPr marL="0" indent="0">
              <a:buNone/>
            </a:pPr>
            <a:r>
              <a:rPr lang="en-US" b="1" dirty="0"/>
              <a:t>10. User Onboarding Patterns</a:t>
            </a:r>
          </a:p>
          <a:p>
            <a:r>
              <a:rPr lang="en-US" b="1" dirty="0"/>
              <a:t>Walkthroughs: </a:t>
            </a:r>
            <a:r>
              <a:rPr lang="en-US" dirty="0"/>
              <a:t>Guided tours that introduce users to key features and functionality of the app or site.</a:t>
            </a:r>
          </a:p>
          <a:p>
            <a:r>
              <a:rPr lang="en-US" b="1" dirty="0"/>
              <a:t>Tutorials: </a:t>
            </a:r>
            <a:r>
              <a:rPr lang="en-US" dirty="0"/>
              <a:t>Step-by-step instructions or interactive tutorials to help users learn how to use the application effectively.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b="1" dirty="0"/>
              <a:t>Exploring patterns</a:t>
            </a:r>
          </a:p>
        </p:txBody>
      </p:sp>
      <p:sp>
        <p:nvSpPr>
          <p:cNvPr id="3" name="Content Placeholder 2"/>
          <p:cNvSpPr>
            <a:spLocks noGrp="1"/>
          </p:cNvSpPr>
          <p:nvPr>
            <p:ph idx="1"/>
          </p:nvPr>
        </p:nvSpPr>
        <p:spPr>
          <a:xfrm>
            <a:off x="838200" y="1474470"/>
            <a:ext cx="10515600" cy="5032375"/>
          </a:xfrm>
        </p:spPr>
        <p:txBody>
          <a:bodyPr>
            <a:normAutofit fontScale="85000" lnSpcReduction="20000"/>
          </a:bodyPr>
          <a:lstStyle/>
          <a:p>
            <a:pPr marL="0" indent="0">
              <a:buNone/>
            </a:pPr>
            <a:r>
              <a:rPr lang="en-US" b="1" dirty="0"/>
              <a:t>1. Buttons</a:t>
            </a:r>
          </a:p>
          <a:p>
            <a:r>
              <a:rPr lang="en-US" b="1" dirty="0"/>
              <a:t>Purpose: </a:t>
            </a:r>
            <a:r>
              <a:rPr lang="en-US" dirty="0"/>
              <a:t>Buttons are primary interactive elements used to initiate actions or commands. They are a core component of most user interfaces, facilitating user interaction with the application or website.</a:t>
            </a:r>
          </a:p>
          <a:p>
            <a:endParaRPr lang="en-US" dirty="0"/>
          </a:p>
          <a:p>
            <a:pPr marL="0" indent="0">
              <a:buNone/>
            </a:pPr>
            <a:r>
              <a:rPr lang="en-US" u="sng" dirty="0"/>
              <a:t>Types of Buttons:</a:t>
            </a:r>
          </a:p>
          <a:p>
            <a:endParaRPr lang="en-US" dirty="0"/>
          </a:p>
          <a:p>
            <a:r>
              <a:rPr lang="en-US" b="1" dirty="0"/>
              <a:t>Primary Buttons: </a:t>
            </a:r>
            <a:r>
              <a:rPr lang="en-US" dirty="0"/>
              <a:t>Emphasize the main action on a page, such as "Submit" or "Save." They typically use a distinct color or style to stand out.</a:t>
            </a:r>
          </a:p>
          <a:p>
            <a:r>
              <a:rPr lang="en-US" b="1" dirty="0"/>
              <a:t>Secondary Buttons: </a:t>
            </a:r>
            <a:r>
              <a:rPr lang="en-US" dirty="0"/>
              <a:t>Support less critical actions, like "Cancel" or "Back." They are usually styled with a less prominent color.</a:t>
            </a:r>
          </a:p>
          <a:p>
            <a:r>
              <a:rPr lang="en-US" b="1" dirty="0"/>
              <a:t>Tertiary Buttons: </a:t>
            </a:r>
            <a:r>
              <a:rPr lang="en-US" dirty="0"/>
              <a:t>Often used for less important actions or links within a button format.</a:t>
            </a:r>
          </a:p>
          <a:p>
            <a:r>
              <a:rPr lang="en-US" b="1" dirty="0"/>
              <a:t>Icon Buttons: </a:t>
            </a:r>
            <a:r>
              <a:rPr lang="en-US" dirty="0"/>
              <a:t>Contain only an icon (e.g., a trash can for delete) and are used when space is limited or to add a visual cue.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7159"/>
            <a:ext cx="10515600" cy="5579804"/>
          </a:xfrm>
        </p:spPr>
        <p:txBody>
          <a:bodyPr>
            <a:normAutofit fontScale="97500"/>
          </a:bodyPr>
          <a:lstStyle/>
          <a:p>
            <a:pPr marL="0" indent="0">
              <a:buNone/>
            </a:pPr>
            <a:r>
              <a:rPr lang="en-US" b="1" u="sng" dirty="0"/>
              <a:t>Design Considerations:</a:t>
            </a:r>
          </a:p>
          <a:p>
            <a:endParaRPr lang="en-US" dirty="0"/>
          </a:p>
          <a:p>
            <a:r>
              <a:rPr lang="en-US" b="1" dirty="0"/>
              <a:t>Clarity: </a:t>
            </a:r>
            <a:r>
              <a:rPr lang="en-US" dirty="0"/>
              <a:t>Ensure buttons have clear, concise labels that describe the action they perform.</a:t>
            </a:r>
          </a:p>
          <a:p>
            <a:r>
              <a:rPr lang="en-US" b="1" dirty="0"/>
              <a:t>Size and Placement: </a:t>
            </a:r>
            <a:r>
              <a:rPr lang="en-US" dirty="0"/>
              <a:t>Buttons should be large enough to be easily clickable and placed where users naturally expect them, like at the end of forms or in prominent areas of the interface.</a:t>
            </a:r>
          </a:p>
          <a:p>
            <a:r>
              <a:rPr lang="en-US" b="1" dirty="0"/>
              <a:t>Feedback: </a:t>
            </a:r>
            <a:r>
              <a:rPr lang="en-US" dirty="0"/>
              <a:t>Provide visual feedback (e.g., color change, shadow effect) when a button is hovered over, pressed, or disabled to indicate its state.</a:t>
            </a:r>
          </a:p>
          <a:p>
            <a:r>
              <a:rPr lang="en-US" b="1" dirty="0"/>
              <a:t>Accessibility: </a:t>
            </a:r>
            <a:r>
              <a:rPr lang="en-US" dirty="0"/>
              <a:t>Use </a:t>
            </a:r>
            <a:r>
              <a:rPr lang="en-US"/>
              <a:t>proper labels </a:t>
            </a:r>
            <a:r>
              <a:rPr lang="en-US" dirty="0"/>
              <a:t>and ensure buttons are accessible via keyboard navigation.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0550"/>
            <a:ext cx="10515600" cy="5586730"/>
          </a:xfrm>
        </p:spPr>
        <p:txBody>
          <a:bodyPr>
            <a:normAutofit fontScale="87500" lnSpcReduction="10000"/>
          </a:bodyPr>
          <a:lstStyle/>
          <a:p>
            <a:pPr marL="0" indent="0">
              <a:buNone/>
            </a:pPr>
            <a:r>
              <a:rPr lang="en-US" dirty="0"/>
              <a:t>2</a:t>
            </a:r>
            <a:r>
              <a:rPr lang="en-US" b="1" dirty="0"/>
              <a:t>. Hover Tools</a:t>
            </a:r>
          </a:p>
          <a:p>
            <a:r>
              <a:rPr lang="en-US" dirty="0"/>
              <a:t>Purpose: Hover tools, or hover effects, provide additional information or interactive elements when the user places their cursor over a UI element. They enhance usability by offering context or options without cluttering the interface.</a:t>
            </a:r>
          </a:p>
          <a:p>
            <a:endParaRPr lang="en-US" dirty="0"/>
          </a:p>
          <a:p>
            <a:pPr marL="0" indent="0">
              <a:buNone/>
            </a:pPr>
            <a:r>
              <a:rPr lang="en-US" u="sng" dirty="0"/>
              <a:t>Types of Hover Tools:</a:t>
            </a:r>
          </a:p>
          <a:p>
            <a:endParaRPr lang="en-US" dirty="0"/>
          </a:p>
          <a:p>
            <a:r>
              <a:rPr lang="en-US" b="1" dirty="0"/>
              <a:t>Tooltips</a:t>
            </a:r>
            <a:r>
              <a:rPr lang="en-US" dirty="0"/>
              <a:t>: Small pop-ups that appear when the user hovers over an element, providing brief explanatory text or additional information.</a:t>
            </a:r>
          </a:p>
          <a:p>
            <a:r>
              <a:rPr lang="en-US" b="1" dirty="0"/>
              <a:t>Hover Menus: </a:t>
            </a:r>
            <a:r>
              <a:rPr lang="en-US" dirty="0"/>
              <a:t>Menus that appear when hovering over a specific item, revealing additional options or actions related to that item.</a:t>
            </a:r>
          </a:p>
          <a:p>
            <a:r>
              <a:rPr lang="en-US" b="1" dirty="0"/>
              <a:t>Hover Effects: </a:t>
            </a:r>
            <a:r>
              <a:rPr lang="en-US" dirty="0"/>
              <a:t>Visual changes such as color shifts, enlargements, or animations that provide feedback and make elements appear interactive.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9167" y="522515"/>
            <a:ext cx="10515600" cy="5327877"/>
          </a:xfrm>
        </p:spPr>
        <p:txBody>
          <a:bodyPr>
            <a:normAutofit/>
          </a:bodyPr>
          <a:lstStyle/>
          <a:p>
            <a:pPr marL="0" indent="0">
              <a:buNone/>
            </a:pPr>
            <a:r>
              <a:rPr lang="en-US" u="sng" dirty="0"/>
              <a:t>Design Considerations:</a:t>
            </a:r>
          </a:p>
          <a:p>
            <a:endParaRPr lang="en-US" dirty="0"/>
          </a:p>
          <a:p>
            <a:r>
              <a:rPr lang="en-US" b="1" dirty="0"/>
              <a:t>Visibility</a:t>
            </a:r>
            <a:r>
              <a:rPr lang="en-US" dirty="0"/>
              <a:t>: Ensure hover tools appear consistently and are easy to spot. Tooltips should be clearly visible and not obstruct other important content.</a:t>
            </a:r>
          </a:p>
          <a:p>
            <a:r>
              <a:rPr lang="en-US" b="1" dirty="0"/>
              <a:t>Timing: </a:t>
            </a:r>
            <a:r>
              <a:rPr lang="en-US" dirty="0"/>
              <a:t>Avoid delays or overly long hover effects that could frustrate users. Hover tools should appear and disappear quickly and smoothly.</a:t>
            </a:r>
          </a:p>
          <a:p>
            <a:r>
              <a:rPr lang="en-US" b="1" dirty="0"/>
              <a:t>Accessibility: </a:t>
            </a:r>
            <a:r>
              <a:rPr lang="en-US" dirty="0"/>
              <a:t>Provide equivalent functionality for users who do not use a mouse, such as touchscreens or keyboard navigation, and ensure hover effects are not the only way to access important information.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5680"/>
            <a:ext cx="10515600" cy="5181600"/>
          </a:xfrm>
        </p:spPr>
        <p:txBody>
          <a:bodyPr>
            <a:normAutofit fontScale="87500" lnSpcReduction="20000"/>
          </a:bodyPr>
          <a:lstStyle/>
          <a:p>
            <a:pPr marL="0" indent="0">
              <a:buNone/>
            </a:pPr>
            <a:r>
              <a:rPr lang="en-US" dirty="0"/>
              <a:t>3</a:t>
            </a:r>
            <a:r>
              <a:rPr lang="en-US" b="1" dirty="0"/>
              <a:t>. Action Panels</a:t>
            </a:r>
          </a:p>
          <a:p>
            <a:r>
              <a:rPr lang="en-US" dirty="0"/>
              <a:t>Purpose: Action panels are dedicated sections or components of an interface that group related actions or commands together. They help users manage or interact with content or settings more efficiently.</a:t>
            </a:r>
          </a:p>
          <a:p>
            <a:endParaRPr lang="en-US" dirty="0"/>
          </a:p>
          <a:p>
            <a:pPr marL="0" indent="0">
              <a:buNone/>
            </a:pPr>
            <a:r>
              <a:rPr lang="en-US" u="sng" dirty="0"/>
              <a:t>Types of Action Panels:</a:t>
            </a:r>
          </a:p>
          <a:p>
            <a:endParaRPr lang="en-US" dirty="0"/>
          </a:p>
          <a:p>
            <a:r>
              <a:rPr lang="en-US" b="1" dirty="0"/>
              <a:t>Sidebar Panels</a:t>
            </a:r>
            <a:r>
              <a:rPr lang="en-US" dirty="0"/>
              <a:t>: Vertical panels that slide in from the side of the screen, typically used for navigation or managing settings.</a:t>
            </a:r>
          </a:p>
          <a:p>
            <a:r>
              <a:rPr lang="en-US" b="1" dirty="0"/>
              <a:t>Modal Panels: </a:t>
            </a:r>
            <a:r>
              <a:rPr lang="en-US" dirty="0"/>
              <a:t>Overlay panels that appear on top of the main content, used for tasks like editing or detailed settings.</a:t>
            </a:r>
          </a:p>
          <a:p>
            <a:r>
              <a:rPr lang="en-US" b="1" dirty="0"/>
              <a:t>Floating Action Buttons (FABs): </a:t>
            </a:r>
            <a:r>
              <a:rPr lang="en-US" dirty="0"/>
              <a:t>Prominently placed buttons that trigger primary actions, often used in mobile apps to provide quick access to core functionalities.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6890"/>
            <a:ext cx="10515600" cy="5660390"/>
          </a:xfrm>
        </p:spPr>
        <p:txBody>
          <a:bodyPr>
            <a:normAutofit lnSpcReduction="10000"/>
          </a:bodyPr>
          <a:lstStyle/>
          <a:p>
            <a:pPr marL="0" indent="0">
              <a:buNone/>
            </a:pPr>
            <a:r>
              <a:rPr lang="en-US" u="sng" dirty="0"/>
              <a:t>Design Considerations:</a:t>
            </a:r>
          </a:p>
          <a:p>
            <a:endParaRPr lang="en-US" dirty="0"/>
          </a:p>
          <a:p>
            <a:r>
              <a:rPr lang="en-US" b="1" dirty="0"/>
              <a:t>Organization: </a:t>
            </a:r>
            <a:r>
              <a:rPr lang="en-US" dirty="0"/>
              <a:t>Group related actions logically to minimize user effort and confusion. Use clear labels and visual hierarchy to guide users.</a:t>
            </a:r>
          </a:p>
          <a:p>
            <a:r>
              <a:rPr lang="en-US" b="1" dirty="0"/>
              <a:t>Visibility and Accessibility: </a:t>
            </a:r>
            <a:r>
              <a:rPr lang="en-US" dirty="0"/>
              <a:t>Ensure action panels are easy to access and don’t obstruct important content. Consider how they will be displayed on different devices or screen sizes.</a:t>
            </a:r>
          </a:p>
          <a:p>
            <a:pPr marL="0" indent="0">
              <a:buNone/>
            </a:pPr>
            <a:endParaRPr lang="en-US" dirty="0"/>
          </a:p>
          <a:p>
            <a:pPr marL="0" indent="0">
              <a:buNone/>
            </a:pPr>
            <a:r>
              <a:rPr lang="en-US" b="1" dirty="0"/>
              <a:t>**Consistency</a:t>
            </a:r>
          </a:p>
          <a:p>
            <a:r>
              <a:rPr lang="en-US" dirty="0"/>
              <a:t>Consistency: Maintain consistent design patterns for action panels across the application to help users quickly learn and navigate the interface. Ensure the style, layout, and behavior of action panels align with the overall design language.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8800"/>
            <a:ext cx="10515600" cy="5948680"/>
          </a:xfrm>
        </p:spPr>
        <p:txBody>
          <a:bodyPr>
            <a:normAutofit fontScale="77500" lnSpcReduction="20000"/>
          </a:bodyPr>
          <a:lstStyle/>
          <a:p>
            <a:pPr marL="0" indent="0">
              <a:buNone/>
            </a:pPr>
            <a:r>
              <a:rPr lang="en-US" b="1" dirty="0"/>
              <a:t>4. Progress Indicators</a:t>
            </a:r>
          </a:p>
          <a:p>
            <a:r>
              <a:rPr lang="en-US" dirty="0"/>
              <a:t>Purpose: Progress indicators show the status of ongoing processes, such as loading, file uploads, or form submissions. They provide feedback on how much of a task is completed and how much remains, helping to manage user expectations and reduce frustration.</a:t>
            </a:r>
          </a:p>
          <a:p>
            <a:endParaRPr lang="en-US" dirty="0"/>
          </a:p>
          <a:p>
            <a:pPr marL="0" indent="0">
              <a:buNone/>
            </a:pPr>
            <a:r>
              <a:rPr lang="en-US" b="1" dirty="0"/>
              <a:t>Types of Progress Indicators:</a:t>
            </a:r>
          </a:p>
          <a:p>
            <a:endParaRPr lang="en-US" dirty="0"/>
          </a:p>
          <a:p>
            <a:r>
              <a:rPr lang="en-US" b="1" dirty="0"/>
              <a:t>Progress Bars: </a:t>
            </a:r>
            <a:r>
              <a:rPr lang="en-US" dirty="0"/>
              <a:t>Horizontal bars that fill up as the task progresses, showing a percentage or visual representation of completion. They can be determinate (showing exact progress) or indeterminate (showing a general sense of activity, often with an animated element).</a:t>
            </a:r>
          </a:p>
          <a:p>
            <a:r>
              <a:rPr lang="en-US" b="1" dirty="0"/>
              <a:t>Spinners/Loading Indicators: </a:t>
            </a:r>
            <a:r>
              <a:rPr lang="en-US" dirty="0"/>
              <a:t>Animated elements (e.g., spinning circles) that indicate that a process is in progress. They are typically used when the duration of the task is unknown or variable.</a:t>
            </a:r>
          </a:p>
          <a:p>
            <a:r>
              <a:rPr lang="en-US" b="1" dirty="0"/>
              <a:t>Percentage Indicators: </a:t>
            </a:r>
            <a:r>
              <a:rPr lang="en-US" dirty="0"/>
              <a:t>Display the exact percentage of completion, often used in conjunction with progress bars for more precise feedback.</a:t>
            </a:r>
          </a:p>
          <a:p>
            <a:r>
              <a:rPr lang="en-US" b="1" dirty="0"/>
              <a:t>Step Indicators: </a:t>
            </a:r>
            <a:r>
              <a:rPr lang="en-US" dirty="0"/>
              <a:t>Show progress through a multi-step process, often used in wizards or onboarding flows. They indicate which step the user is currently on and how many steps are remaining.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918" y="1253331"/>
            <a:ext cx="10515600" cy="4351338"/>
          </a:xfrm>
        </p:spPr>
        <p:txBody>
          <a:bodyPr>
            <a:normAutofit fontScale="85000" lnSpcReduction="20000"/>
          </a:bodyPr>
          <a:lstStyle/>
          <a:p>
            <a:pPr marL="0" indent="0">
              <a:buNone/>
            </a:pPr>
            <a:r>
              <a:rPr lang="en-US" b="1" dirty="0"/>
              <a:t>Design Considerations:</a:t>
            </a:r>
          </a:p>
          <a:p>
            <a:endParaRPr lang="en-US" dirty="0"/>
          </a:p>
          <a:p>
            <a:r>
              <a:rPr lang="en-US" b="1" dirty="0"/>
              <a:t>Clarity: </a:t>
            </a:r>
            <a:r>
              <a:rPr lang="en-US" dirty="0"/>
              <a:t>Make sure progress indicators are easily recognizable and provide clear feedback on the current status of the task. Avoid ambiguity about whether the process is ongoing or stalled.</a:t>
            </a:r>
          </a:p>
          <a:p>
            <a:r>
              <a:rPr lang="en-US" b="1" dirty="0"/>
              <a:t>Feedback: </a:t>
            </a:r>
            <a:r>
              <a:rPr lang="en-US" dirty="0"/>
              <a:t>Use different types of progress indicators appropriately based on the nature of the task. For example, use spinners for tasks with unknown duration and progress bars for tasks with a clear endpoint.</a:t>
            </a:r>
          </a:p>
          <a:p>
            <a:r>
              <a:rPr lang="en-US" b="1" dirty="0"/>
              <a:t>Visibility: </a:t>
            </a:r>
            <a:r>
              <a:rPr lang="en-US" dirty="0"/>
              <a:t>Ensure progress indicators are placed where users can easily see them without disrupting their workflow. They should be prominent enough to draw attention but not overly distracting.</a:t>
            </a:r>
          </a:p>
          <a:p>
            <a:r>
              <a:rPr lang="en-US" b="1" dirty="0"/>
              <a:t>Performance: </a:t>
            </a:r>
            <a:r>
              <a:rPr lang="en-US" dirty="0"/>
              <a:t>For tasks that take a significant amount of time, consider providing additional information or options (like cancel buttons) to manage long-running processes effectively.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4845"/>
            <a:ext cx="10515600" cy="5512435"/>
          </a:xfrm>
        </p:spPr>
        <p:txBody>
          <a:bodyPr>
            <a:normAutofit fontScale="85000" lnSpcReduction="20000"/>
          </a:bodyPr>
          <a:lstStyle/>
          <a:p>
            <a:pPr marL="0" indent="0">
              <a:buNone/>
            </a:pPr>
            <a:r>
              <a:rPr lang="en-US" b="1" dirty="0"/>
              <a:t>Best Practices for All Patterns</a:t>
            </a:r>
          </a:p>
          <a:p>
            <a:r>
              <a:rPr lang="en-US" b="1" dirty="0"/>
              <a:t>Consistency: </a:t>
            </a:r>
            <a:r>
              <a:rPr lang="en-US" dirty="0"/>
              <a:t>Apply a consistent design language across all interactive elements to create a cohesive user experience. Consistent placement, styling, and behavior help users to understand and interact with the interface.</a:t>
            </a:r>
          </a:p>
          <a:p>
            <a:endParaRPr lang="en-US" dirty="0"/>
          </a:p>
          <a:p>
            <a:r>
              <a:rPr lang="en-US" b="1" dirty="0"/>
              <a:t>Usability Testing</a:t>
            </a:r>
            <a:r>
              <a:rPr lang="en-US" dirty="0"/>
              <a:t>: Regularly test interactive elements with real users to identify any issues or areas for improvement. User feedback is crucial for refining design and ensuring functionality meets user needs.</a:t>
            </a:r>
          </a:p>
          <a:p>
            <a:endParaRPr lang="en-US" dirty="0"/>
          </a:p>
          <a:p>
            <a:r>
              <a:rPr lang="en-US" b="1" dirty="0"/>
              <a:t>Accessibility: </a:t>
            </a:r>
            <a:r>
              <a:rPr lang="en-US" dirty="0"/>
              <a:t>Ensure all interactive elements are accessible to users with disabilities. This includes providing keyboard navigation, screen reader support, and sufficient contrast for visibility.</a:t>
            </a:r>
          </a:p>
          <a:p>
            <a:endParaRPr lang="en-US" dirty="0"/>
          </a:p>
          <a:p>
            <a:r>
              <a:rPr lang="en-US" b="1" dirty="0"/>
              <a:t>Responsive Design: </a:t>
            </a:r>
            <a:r>
              <a:rPr lang="en-US" dirty="0"/>
              <a:t>Design interactive elements to work seamlessly across various devices and screen sizes. Consider how elements like buttons, panels, and indicators will adapt to different resolutions and orientations.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8460"/>
            <a:ext cx="10515600" cy="6096635"/>
          </a:xfrm>
        </p:spPr>
        <p:txBody>
          <a:bodyPr>
            <a:normAutofit fontScale="70000"/>
          </a:bodyPr>
          <a:lstStyle/>
          <a:p>
            <a:r>
              <a:rPr lang="en-US" dirty="0">
                <a:latin typeface="Times New Roman" panose="02020603050405020304" charset="0"/>
                <a:cs typeface="Times New Roman" panose="02020603050405020304" charset="0"/>
              </a:rPr>
              <a:t>Bootstrap 5 provides a comprehensive suite of form components to help developers create stylish and functional forms with ease. Here's a breakdown of Bootstrap 5's form components, including form controls, input groups, and custom form elements:</a:t>
            </a:r>
          </a:p>
          <a:p>
            <a:pPr marL="0" indent="0">
              <a:buNone/>
            </a:pPr>
            <a:r>
              <a:rPr lang="en-US" u="sng" dirty="0">
                <a:latin typeface="Times New Roman" panose="02020603050405020304" charset="0"/>
                <a:cs typeface="Times New Roman" panose="02020603050405020304" charset="0"/>
              </a:rPr>
              <a:t>1. Form Controls</a:t>
            </a:r>
          </a:p>
          <a:p>
            <a:r>
              <a:rPr lang="en-US" dirty="0">
                <a:latin typeface="Times New Roman" panose="02020603050405020304" charset="0"/>
                <a:cs typeface="Times New Roman" panose="02020603050405020304" charset="0"/>
              </a:rPr>
              <a:t>Form controls are the basic building blocks for creating forms in Bootstrap 5. They include input fields, text areas, select menus, and more.</a:t>
            </a:r>
          </a:p>
          <a:p>
            <a:pPr marL="0" indent="0">
              <a:buNone/>
            </a:pPr>
            <a:r>
              <a:rPr lang="en-US" u="sng" dirty="0">
                <a:latin typeface="Times New Roman" panose="02020603050405020304" charset="0"/>
                <a:cs typeface="Times New Roman" panose="02020603050405020304" charset="0"/>
              </a:rPr>
              <a:t>Input Fields:</a:t>
            </a:r>
          </a:p>
          <a:p>
            <a:r>
              <a:rPr lang="en-US" dirty="0">
                <a:latin typeface="Times New Roman" panose="02020603050405020304" charset="0"/>
                <a:cs typeface="Times New Roman" panose="02020603050405020304" charset="0"/>
              </a:rPr>
              <a:t>Text Input: &lt;input type="text" class="form-control" placeholder="Enter text"&gt;</a:t>
            </a:r>
          </a:p>
          <a:p>
            <a:pPr marL="0" indent="0">
              <a:buNone/>
            </a:pPr>
            <a:r>
              <a:rPr lang="en-IN" altLang="en-US" dirty="0">
                <a:latin typeface="Times New Roman" panose="02020603050405020304" charset="0"/>
                <a:cs typeface="Times New Roman" panose="02020603050405020304" charset="0"/>
              </a:rPr>
              <a:t>    </a:t>
            </a:r>
            <a:r>
              <a:rPr lang="en-US" dirty="0">
                <a:latin typeface="Times New Roman" panose="02020603050405020304" charset="0"/>
                <a:cs typeface="Times New Roman" panose="02020603050405020304" charset="0"/>
              </a:rPr>
              <a:t>Standard text input field with customizable size and appearance.</a:t>
            </a:r>
          </a:p>
          <a:p>
            <a:r>
              <a:rPr lang="en-US" dirty="0">
                <a:latin typeface="Times New Roman" panose="02020603050405020304" charset="0"/>
                <a:cs typeface="Times New Roman" panose="02020603050405020304" charset="0"/>
              </a:rPr>
              <a:t>Password Input: &lt;input type="password" class="form-control" placeholder="Enter password"&gt;</a:t>
            </a:r>
          </a:p>
          <a:p>
            <a:pPr marL="0" indent="0">
              <a:buNone/>
            </a:pPr>
            <a:r>
              <a:rPr lang="en-IN" altLang="en-US" dirty="0">
                <a:latin typeface="Times New Roman" panose="02020603050405020304" charset="0"/>
                <a:cs typeface="Times New Roman" panose="02020603050405020304" charset="0"/>
              </a:rPr>
              <a:t>   </a:t>
            </a:r>
            <a:r>
              <a:rPr lang="en-US" dirty="0">
                <a:latin typeface="Times New Roman" panose="02020603050405020304" charset="0"/>
                <a:cs typeface="Times New Roman" panose="02020603050405020304" charset="0"/>
              </a:rPr>
              <a:t>Input field for entering sensitive information. Masked by default.</a:t>
            </a:r>
          </a:p>
          <a:p>
            <a:r>
              <a:rPr lang="en-US" dirty="0">
                <a:latin typeface="Times New Roman" panose="02020603050405020304" charset="0"/>
                <a:cs typeface="Times New Roman" panose="02020603050405020304" charset="0"/>
              </a:rPr>
              <a:t>Email Input: &lt;input type="email" class="form-control" placeholder="Enter email"&gt;</a:t>
            </a:r>
          </a:p>
          <a:p>
            <a:pPr marL="0" indent="0">
              <a:buNone/>
            </a:pPr>
            <a:r>
              <a:rPr lang="en-IN" altLang="en-US" dirty="0">
                <a:latin typeface="Times New Roman" panose="02020603050405020304" charset="0"/>
                <a:cs typeface="Times New Roman" panose="02020603050405020304" charset="0"/>
              </a:rPr>
              <a:t>   </a:t>
            </a:r>
            <a:r>
              <a:rPr lang="en-US" dirty="0">
                <a:latin typeface="Times New Roman" panose="02020603050405020304" charset="0"/>
                <a:cs typeface="Times New Roman" panose="02020603050405020304" charset="0"/>
              </a:rPr>
              <a:t>Validates email addresses and provides built-in browser validation.</a:t>
            </a:r>
          </a:p>
          <a:p>
            <a:r>
              <a:rPr lang="en-US" dirty="0">
                <a:latin typeface="Times New Roman" panose="02020603050405020304" charset="0"/>
                <a:cs typeface="Times New Roman" panose="02020603050405020304" charset="0"/>
              </a:rPr>
              <a:t>Number Input: &lt;input type="number" class="form-control" placeholder="Enter number"&gt;</a:t>
            </a:r>
          </a:p>
          <a:p>
            <a:pPr marL="0" indent="0">
              <a:buNone/>
            </a:pPr>
            <a:r>
              <a:rPr lang="en-IN" altLang="en-US" dirty="0">
                <a:latin typeface="Times New Roman" panose="02020603050405020304" charset="0"/>
                <a:cs typeface="Times New Roman" panose="02020603050405020304" charset="0"/>
              </a:rPr>
              <a:t>    </a:t>
            </a:r>
            <a:r>
              <a:rPr lang="en-US" dirty="0">
                <a:latin typeface="Times New Roman" panose="02020603050405020304" charset="0"/>
                <a:cs typeface="Times New Roman" panose="02020603050405020304" charset="0"/>
              </a:rPr>
              <a:t>Allows numeric input with optional step and min/max attributes.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9755"/>
            <a:ext cx="10515600" cy="5949315"/>
          </a:xfrm>
        </p:spPr>
        <p:txBody>
          <a:bodyPr/>
          <a:lstStyle/>
          <a:p>
            <a:r>
              <a:rPr lang="en-US" sz="2000" dirty="0">
                <a:latin typeface="Times New Roman" panose="02020603050405020304" charset="0"/>
                <a:cs typeface="Times New Roman" panose="02020603050405020304" charset="0"/>
              </a:rPr>
              <a:t>Text Areas:</a:t>
            </a:r>
          </a:p>
          <a:p>
            <a:pPr marL="0" indent="0">
              <a:buNone/>
            </a:pPr>
            <a:r>
              <a:rPr lang="en-US" sz="2000" dirty="0" err="1">
                <a:latin typeface="Times New Roman" panose="02020603050405020304" charset="0"/>
                <a:cs typeface="Times New Roman" panose="02020603050405020304" charset="0"/>
              </a:rPr>
              <a:t>Textarea</a:t>
            </a:r>
            <a:r>
              <a:rPr lang="en-US" sz="2000" dirty="0">
                <a:latin typeface="Times New Roman" panose="02020603050405020304" charset="0"/>
                <a:cs typeface="Times New Roman" panose="02020603050405020304" charset="0"/>
              </a:rPr>
              <a:t>: &lt;</a:t>
            </a:r>
            <a:r>
              <a:rPr lang="en-US" sz="2000" dirty="0" err="1">
                <a:latin typeface="Times New Roman" panose="02020603050405020304" charset="0"/>
                <a:cs typeface="Times New Roman" panose="02020603050405020304" charset="0"/>
              </a:rPr>
              <a:t>textarea</a:t>
            </a:r>
            <a:r>
              <a:rPr lang="en-US" sz="2000" dirty="0">
                <a:latin typeface="Times New Roman" panose="02020603050405020304" charset="0"/>
                <a:cs typeface="Times New Roman" panose="02020603050405020304" charset="0"/>
              </a:rPr>
              <a:t> class="form-control" rows="3" placeholder="Enter text"&gt;&lt;/</a:t>
            </a:r>
            <a:r>
              <a:rPr lang="en-US" sz="2000" dirty="0" err="1">
                <a:latin typeface="Times New Roman" panose="02020603050405020304" charset="0"/>
                <a:cs typeface="Times New Roman" panose="02020603050405020304" charset="0"/>
              </a:rPr>
              <a:t>textarea</a:t>
            </a:r>
            <a:r>
              <a:rPr lang="en-US" sz="2000" dirty="0">
                <a:latin typeface="Times New Roman" panose="02020603050405020304" charset="0"/>
                <a:cs typeface="Times New Roman" panose="02020603050405020304" charset="0"/>
              </a:rPr>
              <a:t>&gt;</a:t>
            </a:r>
          </a:p>
          <a:p>
            <a:r>
              <a:rPr lang="en-US" sz="2000" dirty="0">
                <a:latin typeface="Times New Roman" panose="02020603050405020304" charset="0"/>
                <a:cs typeface="Times New Roman" panose="02020603050405020304" charset="0"/>
              </a:rPr>
              <a:t>Multi-line input for longer text entries. Adjustable in size using the rows attribute.</a:t>
            </a:r>
          </a:p>
          <a:p>
            <a:r>
              <a:rPr lang="en-US" sz="2000" dirty="0">
                <a:latin typeface="Times New Roman" panose="02020603050405020304" charset="0"/>
                <a:cs typeface="Times New Roman" panose="02020603050405020304" charset="0"/>
              </a:rPr>
              <a:t>Select Menus:</a:t>
            </a:r>
          </a:p>
          <a:p>
            <a:pPr marL="0" indent="0">
              <a:buNone/>
            </a:pPr>
            <a:r>
              <a:rPr lang="en-US" sz="2000" dirty="0">
                <a:latin typeface="Times New Roman" panose="02020603050405020304" charset="0"/>
                <a:cs typeface="Times New Roman" panose="02020603050405020304" charset="0"/>
              </a:rPr>
              <a:t>&lt;select class="form-select" aria-label="Select option"&gt;</a:t>
            </a:r>
          </a:p>
          <a:p>
            <a:pPr marL="0" indent="0">
              <a:buNone/>
            </a:pPr>
            <a:r>
              <a:rPr lang="en-US" sz="2000" dirty="0">
                <a:latin typeface="Times New Roman" panose="02020603050405020304" charset="0"/>
                <a:cs typeface="Times New Roman" panose="02020603050405020304" charset="0"/>
              </a:rPr>
              <a:t>  &lt;option selected&gt;Select option&lt;/option&gt;</a:t>
            </a:r>
          </a:p>
          <a:p>
            <a:pPr marL="0" indent="0">
              <a:buNone/>
            </a:pPr>
            <a:r>
              <a:rPr lang="en-US" sz="2000" dirty="0">
                <a:latin typeface="Times New Roman" panose="02020603050405020304" charset="0"/>
                <a:cs typeface="Times New Roman" panose="02020603050405020304" charset="0"/>
              </a:rPr>
              <a:t>  &lt;option value="1"&gt;Option 1&lt;/option&gt;</a:t>
            </a:r>
          </a:p>
          <a:p>
            <a:pPr marL="0" indent="0">
              <a:buNone/>
            </a:pPr>
            <a:r>
              <a:rPr lang="en-US" sz="2000" dirty="0">
                <a:latin typeface="Times New Roman" panose="02020603050405020304" charset="0"/>
                <a:cs typeface="Times New Roman" panose="02020603050405020304" charset="0"/>
              </a:rPr>
              <a:t>  &lt;option value="2"&gt;Option 2&lt;/option&gt;</a:t>
            </a:r>
          </a:p>
          <a:p>
            <a:pPr marL="0" indent="0">
              <a:buNone/>
            </a:pPr>
            <a:r>
              <a:rPr lang="en-US" sz="2000" dirty="0">
                <a:latin typeface="Times New Roman" panose="02020603050405020304" charset="0"/>
                <a:cs typeface="Times New Roman" panose="02020603050405020304" charset="0"/>
              </a:rPr>
              <a:t>&lt;/select&gt;</a:t>
            </a:r>
          </a:p>
          <a:p>
            <a:r>
              <a:rPr lang="en-US" sz="2000" dirty="0">
                <a:latin typeface="Times New Roman" panose="02020603050405020304" charset="0"/>
                <a:cs typeface="Times New Roman" panose="02020603050405020304" charset="0"/>
              </a:rPr>
              <a:t>Drop-down menu for selecting one or more options from a list.</a:t>
            </a:r>
          </a:p>
          <a:p>
            <a:pPr marL="0" indent="0">
              <a:buNone/>
            </a:pPr>
            <a:r>
              <a:rPr lang="en-US" sz="2000" u="sng" dirty="0">
                <a:latin typeface="Times New Roman" panose="02020603050405020304" charset="0"/>
                <a:cs typeface="Times New Roman" panose="02020603050405020304" charset="0"/>
              </a:rPr>
              <a:t>Form Controls Design Considerations:</a:t>
            </a:r>
          </a:p>
          <a:p>
            <a:r>
              <a:rPr lang="en-US" sz="2000" dirty="0">
                <a:latin typeface="Times New Roman" panose="02020603050405020304" charset="0"/>
                <a:cs typeface="Times New Roman" panose="02020603050405020304" charset="0"/>
              </a:rPr>
              <a:t>Sizing: Use .form-control-lg or .form-control-</a:t>
            </a:r>
            <a:r>
              <a:rPr lang="en-US" sz="2000" dirty="0" err="1">
                <a:latin typeface="Times New Roman" panose="02020603050405020304" charset="0"/>
                <a:cs typeface="Times New Roman" panose="02020603050405020304" charset="0"/>
              </a:rPr>
              <a:t>sm</a:t>
            </a:r>
            <a:r>
              <a:rPr lang="en-US" sz="2000" dirty="0">
                <a:latin typeface="Times New Roman" panose="02020603050405020304" charset="0"/>
                <a:cs typeface="Times New Roman" panose="02020603050405020304" charset="0"/>
              </a:rPr>
              <a:t> classes to adjust the size of form controls.</a:t>
            </a:r>
          </a:p>
          <a:p>
            <a:r>
              <a:rPr lang="en-US" sz="2000" dirty="0">
                <a:latin typeface="Times New Roman" panose="02020603050405020304" charset="0"/>
                <a:cs typeface="Times New Roman" panose="02020603050405020304" charset="0"/>
              </a:rPr>
              <a:t>Validation States: Use .is-valid or .is-invalid classes to indicate validation status.</a:t>
            </a:r>
          </a:p>
          <a:p>
            <a:r>
              <a:rPr lang="en-US" sz="2000" dirty="0">
                <a:latin typeface="Times New Roman" panose="02020603050405020304" charset="0"/>
                <a:cs typeface="Times New Roman" panose="02020603050405020304" charset="0"/>
              </a:rPr>
              <a:t>Disabled State: Add the disabled attribute to make a form control non-interactive.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3850"/>
            <a:ext cx="10515600" cy="5853430"/>
          </a:xfrm>
        </p:spPr>
        <p:txBody>
          <a:bodyPr>
            <a:noAutofit/>
          </a:bodyPr>
          <a:lstStyle/>
          <a:p>
            <a:pPr marL="0" indent="0">
              <a:buNone/>
            </a:pPr>
            <a:r>
              <a:rPr lang="en-US" sz="1700" dirty="0"/>
              <a:t>2. Input Groups</a:t>
            </a:r>
          </a:p>
          <a:p>
            <a:r>
              <a:rPr lang="en-US" sz="1700" dirty="0"/>
              <a:t>Input groups allow you to prepend or append additional elements to form controls. This is useful for adding icons, text, or buttons inside the input field.</a:t>
            </a:r>
          </a:p>
          <a:p>
            <a:endParaRPr lang="en-US" sz="1700" dirty="0"/>
          </a:p>
          <a:p>
            <a:r>
              <a:rPr lang="en-US" sz="1700" dirty="0"/>
              <a:t>Basic Input Group:</a:t>
            </a:r>
          </a:p>
          <a:p>
            <a:pPr marL="0" indent="0">
              <a:buNone/>
            </a:pPr>
            <a:r>
              <a:rPr lang="en-US" sz="1700" dirty="0"/>
              <a:t>&lt;div class="input-group"&gt;</a:t>
            </a:r>
          </a:p>
          <a:p>
            <a:pPr marL="0" indent="0">
              <a:buNone/>
            </a:pPr>
            <a:r>
              <a:rPr lang="en-US" sz="1700" dirty="0"/>
              <a:t>&lt;span class="input-group-text"&gt;$&lt;/span&gt;</a:t>
            </a:r>
          </a:p>
          <a:p>
            <a:pPr marL="0" indent="0">
              <a:buNone/>
            </a:pPr>
            <a:r>
              <a:rPr lang="en-US" sz="1700" dirty="0"/>
              <a:t>&lt;input type="text" class="form-control" placeholder="Amount"&gt;</a:t>
            </a:r>
          </a:p>
          <a:p>
            <a:pPr marL="0" indent="0">
              <a:buNone/>
            </a:pPr>
            <a:r>
              <a:rPr lang="en-US" sz="1700" dirty="0"/>
              <a:t>&lt;/div&gt;</a:t>
            </a:r>
          </a:p>
          <a:p>
            <a:pPr marL="0" indent="0">
              <a:buNone/>
            </a:pPr>
            <a:endParaRPr lang="en-US" sz="1700" dirty="0"/>
          </a:p>
          <a:p>
            <a:pPr marL="0" indent="0">
              <a:buNone/>
            </a:pPr>
            <a:r>
              <a:rPr lang="en-US" sz="1700" dirty="0"/>
              <a:t>Adds a text prefix or suffix to an input field, such as a currency symbol or unit of measurement.</a:t>
            </a:r>
          </a:p>
          <a:p>
            <a:pPr marL="0" indent="0">
              <a:buNone/>
            </a:pPr>
            <a:r>
              <a:rPr lang="en-US" sz="1700" dirty="0"/>
              <a:t>Input Group with Button:</a:t>
            </a:r>
          </a:p>
          <a:p>
            <a:pPr marL="0" indent="0">
              <a:buNone/>
            </a:pPr>
            <a:endParaRPr lang="en-US" sz="1700" dirty="0"/>
          </a:p>
          <a:p>
            <a:pPr marL="0" indent="0">
              <a:buNone/>
            </a:pPr>
            <a:r>
              <a:rPr lang="en-US" sz="1700" dirty="0"/>
              <a:t>&lt;div class="input-group"&gt;</a:t>
            </a:r>
          </a:p>
          <a:p>
            <a:pPr marL="0" indent="0">
              <a:buNone/>
            </a:pPr>
            <a:r>
              <a:rPr lang="en-US" sz="1700" dirty="0"/>
              <a:t>  &lt;input type="text" class="form-control" placeholder="Enter something"&gt;</a:t>
            </a:r>
          </a:p>
          <a:p>
            <a:pPr marL="0" indent="0">
              <a:buNone/>
            </a:pPr>
            <a:r>
              <a:rPr lang="en-US" sz="1700" dirty="0"/>
              <a:t>  &lt;button class="</a:t>
            </a:r>
            <a:r>
              <a:rPr lang="en-US" sz="1700" dirty="0" err="1"/>
              <a:t>btn</a:t>
            </a:r>
            <a:r>
              <a:rPr lang="en-US" sz="1700" dirty="0"/>
              <a:t> </a:t>
            </a:r>
            <a:r>
              <a:rPr lang="en-US" sz="1700" dirty="0" err="1"/>
              <a:t>btn</a:t>
            </a:r>
            <a:r>
              <a:rPr lang="en-US" sz="1700" dirty="0"/>
              <a:t>-outline-secondary" type="button"&gt;Button&lt;/button&gt;</a:t>
            </a:r>
          </a:p>
          <a:p>
            <a:pPr marL="0" indent="0">
              <a:buNone/>
            </a:pPr>
            <a:r>
              <a:rPr lang="en-US" sz="1700" dirty="0"/>
              <a:t>&lt;/div&gt;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8800"/>
            <a:ext cx="10515600" cy="5618480"/>
          </a:xfrm>
        </p:spPr>
        <p:txBody>
          <a:bodyPr/>
          <a:lstStyle/>
          <a:p>
            <a:r>
              <a:rPr lang="en-US"/>
              <a:t>Multiple Addons:</a:t>
            </a:r>
          </a:p>
          <a:p>
            <a:pPr marL="0" indent="0">
              <a:buNone/>
            </a:pPr>
            <a:r>
              <a:rPr lang="en-US"/>
              <a:t>&lt;div class="input-group"&gt;</a:t>
            </a:r>
          </a:p>
          <a:p>
            <a:pPr marL="0" indent="0">
              <a:buNone/>
            </a:pPr>
            <a:r>
              <a:rPr lang="en-US"/>
              <a:t>&lt;span class="input-group-text"&gt;Prefix&lt;/span&gt;</a:t>
            </a:r>
          </a:p>
          <a:p>
            <a:pPr marL="0" indent="0">
              <a:buNone/>
            </a:pPr>
            <a:r>
              <a:rPr lang="en-US"/>
              <a:t>&lt;input type="text" class="form-control" placeholder="Enter text"&gt;</a:t>
            </a:r>
          </a:p>
          <a:p>
            <a:pPr marL="0" indent="0">
              <a:buNone/>
            </a:pPr>
            <a:r>
              <a:rPr lang="en-US"/>
              <a:t>&lt;span class="input-group-text"&gt;Suffix&lt;/span&gt;</a:t>
            </a:r>
          </a:p>
          <a:p>
            <a:pPr marL="0" indent="0">
              <a:buNone/>
            </a:pPr>
            <a:r>
              <a:rPr lang="en-US"/>
              <a:t>&lt;/div&gt;</a:t>
            </a:r>
          </a:p>
          <a:p>
            <a:pPr marL="0" indent="0">
              <a:buNone/>
            </a:pPr>
            <a:r>
              <a:rPr lang="en-US"/>
              <a:t>Input Groups Design Considerations:</a:t>
            </a:r>
          </a:p>
          <a:p>
            <a:pPr marL="0" indent="0">
              <a:buNone/>
            </a:pPr>
            <a:r>
              <a:rPr lang="en-US"/>
              <a:t>Alignment: Ensure that text, buttons, or icons within the input group align properly with the input field.</a:t>
            </a:r>
          </a:p>
          <a:p>
            <a:pPr marL="0" indent="0">
              <a:buNone/>
            </a:pPr>
            <a:r>
              <a:rPr lang="en-US"/>
              <a:t>Accessibility: Use appropriate ARIA roles and labels to ensure input groups are accessible to screen readers.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8620"/>
            <a:ext cx="10515600" cy="5788660"/>
          </a:xfrm>
        </p:spPr>
        <p:txBody>
          <a:bodyPr>
            <a:noAutofit/>
          </a:bodyPr>
          <a:lstStyle/>
          <a:p>
            <a:pPr marL="0" indent="0">
              <a:buNone/>
            </a:pPr>
            <a:r>
              <a:rPr lang="en-US" sz="1900" dirty="0"/>
              <a:t>3. Custom Form Elements</a:t>
            </a:r>
          </a:p>
          <a:p>
            <a:r>
              <a:rPr lang="en-US" sz="1900" dirty="0"/>
              <a:t>Bootstrap 5 allows for extensive customization of form elements, providing a way to create more unique and tailored UI components.</a:t>
            </a:r>
          </a:p>
          <a:p>
            <a:pPr marL="0" indent="0">
              <a:buNone/>
            </a:pPr>
            <a:r>
              <a:rPr lang="en-US" sz="1900" dirty="0"/>
              <a:t>Custom Forms:</a:t>
            </a:r>
          </a:p>
          <a:p>
            <a:r>
              <a:rPr lang="en-US" sz="1900" dirty="0"/>
              <a:t>Custom Checkboxes and Radio Buttons:</a:t>
            </a:r>
          </a:p>
          <a:p>
            <a:pPr marL="0" indent="0">
              <a:buNone/>
            </a:pPr>
            <a:r>
              <a:rPr lang="en-US" sz="1900" dirty="0"/>
              <a:t>&lt;div class="form-check"&gt;</a:t>
            </a:r>
          </a:p>
          <a:p>
            <a:pPr marL="0" indent="0">
              <a:buNone/>
            </a:pPr>
            <a:r>
              <a:rPr lang="en-US" sz="1900" dirty="0"/>
              <a:t>&lt;input class="form-check-input" type="checkbox" id="customCheck1"&gt;</a:t>
            </a:r>
          </a:p>
          <a:p>
            <a:pPr marL="0" indent="0">
              <a:buNone/>
            </a:pPr>
            <a:r>
              <a:rPr lang="en-US" sz="1900" dirty="0"/>
              <a:t> &lt;label class="form-check-label" for="customCheck1"&gt;</a:t>
            </a:r>
          </a:p>
          <a:p>
            <a:pPr marL="0" indent="0">
              <a:buNone/>
            </a:pPr>
            <a:r>
              <a:rPr lang="en-US" sz="1900" dirty="0"/>
              <a:t> Check this custom checkbox</a:t>
            </a:r>
          </a:p>
          <a:p>
            <a:pPr marL="0" indent="0">
              <a:buNone/>
            </a:pPr>
            <a:r>
              <a:rPr lang="en-US" sz="1900" dirty="0"/>
              <a:t>&lt;/label&gt;</a:t>
            </a:r>
          </a:p>
          <a:p>
            <a:pPr marL="0" indent="0">
              <a:buNone/>
            </a:pPr>
            <a:r>
              <a:rPr lang="en-US" sz="1900" dirty="0"/>
              <a:t>&lt;/div&gt;</a:t>
            </a:r>
          </a:p>
          <a:p>
            <a:endParaRPr lang="en-US" sz="1900" dirty="0"/>
          </a:p>
          <a:p>
            <a:pPr marL="0" indent="0">
              <a:buNone/>
            </a:pPr>
            <a:r>
              <a:rPr lang="en-US" sz="1900" dirty="0"/>
              <a:t>&lt;div class="form-check"&gt;</a:t>
            </a:r>
          </a:p>
          <a:p>
            <a:pPr marL="0" indent="0">
              <a:buNone/>
            </a:pPr>
            <a:r>
              <a:rPr lang="en-US" sz="1900" dirty="0"/>
              <a:t>  &lt;input class="form-check-input" type="radio" name="options" id="customRadio1" value="option1"&gt;</a:t>
            </a:r>
          </a:p>
          <a:p>
            <a:pPr marL="0" indent="0">
              <a:buNone/>
            </a:pPr>
            <a:r>
              <a:rPr lang="en-US" sz="1900" dirty="0"/>
              <a:t>  &lt;label class="form-check-label" for="customRadio1"&gt;</a:t>
            </a:r>
          </a:p>
          <a:p>
            <a:pPr marL="0" indent="0">
              <a:buNone/>
            </a:pPr>
            <a:r>
              <a:rPr lang="en-US" sz="1900" dirty="0"/>
              <a:t>    Select this custom radio</a:t>
            </a:r>
          </a:p>
          <a:p>
            <a:pPr marL="0" indent="0">
              <a:buNone/>
            </a:pPr>
            <a:r>
              <a:rPr lang="en-US" sz="1900" dirty="0"/>
              <a:t>  &lt;/label&gt;</a:t>
            </a:r>
          </a:p>
          <a:p>
            <a:pPr marL="0" indent="0">
              <a:buNone/>
            </a:pPr>
            <a:r>
              <a:rPr lang="en-US" sz="1900" dirty="0"/>
              <a:t>&lt;/div&gt;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a:t>Custom Forms Design Considerations:</a:t>
            </a:r>
          </a:p>
          <a:p>
            <a:r>
              <a:rPr lang="en-US"/>
              <a:t>Styling: Utilize Bootstrap’s utility classes to adjust padding, margins, and other styles for custom form elements.</a:t>
            </a:r>
          </a:p>
          <a:p>
            <a:r>
              <a:rPr lang="en-US"/>
              <a:t>Consistency: Ensure that custom form elements maintain visual consistency with the rest of the Bootstrap components.</a:t>
            </a:r>
          </a:p>
          <a:p>
            <a:r>
              <a:rPr lang="en-US"/>
              <a:t>Accessibility: Make sure custom elements are fully accessible and provide appropriate labels and instructions for users.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TotalTime>
  <Words>3630</Words>
  <Application>Microsoft Office PowerPoint</Application>
  <PresentationFormat>Widescreen</PresentationFormat>
  <Paragraphs>236</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Times New Roman</vt:lpstr>
      <vt:lpstr>Office Theme</vt:lpstr>
      <vt:lpstr>Module - 5 (Interactivity, Forms, and Control)</vt:lpstr>
      <vt:lpstr>Introduction to interactive elements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Exploring patterns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- 5 (Interactivity, Forms, and Control)</dc:title>
  <dc:creator>silna</dc:creator>
  <cp:lastModifiedBy>HONEY JOHN</cp:lastModifiedBy>
  <cp:revision>88</cp:revision>
  <dcterms:created xsi:type="dcterms:W3CDTF">2024-09-11T13:25:03Z</dcterms:created>
  <dcterms:modified xsi:type="dcterms:W3CDTF">2024-10-30T10:44:33Z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1BBDA65DE5CE4C399BE952BB986B619D_11</vt:lpwstr>
  </property>
  <property fmtid="{D5CDD505-2E9C-101B-9397-08002B2CF9AE}" pid="3" name="KSOProductBuildVer">
    <vt:lpwstr>1033-12.2.0.17562</vt:lpwstr>
  </property>
</Properties>
</file>