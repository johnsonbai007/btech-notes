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1"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p:scale>
          <a:sx n="70" d="100"/>
          <a:sy n="70" d="100"/>
        </p:scale>
        <p:origin x="-732"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E90DBA-7EC0-BEB3-E5F3-5DB33CBE29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C388739-5F51-CA3E-7AE2-5409527EB2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F0DCA6A-826A-6255-CDFF-E7DC5D924A8B}"/>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5" name="Footer Placeholder 4">
            <a:extLst>
              <a:ext uri="{FF2B5EF4-FFF2-40B4-BE49-F238E27FC236}">
                <a16:creationId xmlns:a16="http://schemas.microsoft.com/office/drawing/2014/main" xmlns="" id="{C5CF4921-DBC5-F89E-19A4-617989704E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4D2824C-8D2D-3E46-1FE7-F58A00564DFC}"/>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1720887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80B903-4CAD-86AE-F79E-2C7C8AFC5A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4F3190E-026F-143D-82DD-38CC3361A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5516BA7-7111-BD7A-6E04-89E613F76E31}"/>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5" name="Footer Placeholder 4">
            <a:extLst>
              <a:ext uri="{FF2B5EF4-FFF2-40B4-BE49-F238E27FC236}">
                <a16:creationId xmlns:a16="http://schemas.microsoft.com/office/drawing/2014/main" xmlns="" id="{5A52AE44-E242-969A-B30F-EA5523DEE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B8ADB8D-A830-0592-9C3D-AD4DA4FB57FE}"/>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470200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3833EA-5390-CCFC-B8EB-66AC21FE83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930C5DC-E4B5-6525-7AAE-86A9276DFE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F0FDF73E-EDB9-647C-6833-12304FAFF047}"/>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5" name="Footer Placeholder 4">
            <a:extLst>
              <a:ext uri="{FF2B5EF4-FFF2-40B4-BE49-F238E27FC236}">
                <a16:creationId xmlns:a16="http://schemas.microsoft.com/office/drawing/2014/main" xmlns="" id="{7936B718-21CB-8921-F160-6C846536D7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6F7D0E2-1216-48AF-F9FA-4C5F28DA1A10}"/>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2600535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CC87C6-CBAF-70AE-C56D-9DBD5C65B6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67FDAB9-1E20-9F3F-D7CF-333FC329BB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50DCD4A2-DA49-ED5A-0F47-D93EB2789B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EFF11EEE-670C-B723-33D1-F42B132172D1}"/>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6" name="Footer Placeholder 5">
            <a:extLst>
              <a:ext uri="{FF2B5EF4-FFF2-40B4-BE49-F238E27FC236}">
                <a16:creationId xmlns:a16="http://schemas.microsoft.com/office/drawing/2014/main" xmlns="" id="{2CD99526-B8DA-E533-0CDC-ED4FC15770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F90955E-6965-3BF1-FD8C-FD6352426186}"/>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223241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C48F89-A82B-E5F6-5A78-3F2E144C3D1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7D647B5-37EB-5540-AEE8-8A23DE419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8E4B765-6DEA-7CF5-486C-7370DA3C86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5797AB15-2F0C-4007-E645-840046E231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8B2ABEC-2063-673A-8DCF-180FA88DA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7194183-1721-D4C9-6152-102B37F9A60D}"/>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8" name="Footer Placeholder 7">
            <a:extLst>
              <a:ext uri="{FF2B5EF4-FFF2-40B4-BE49-F238E27FC236}">
                <a16:creationId xmlns:a16="http://schemas.microsoft.com/office/drawing/2014/main" xmlns="" id="{C01C3B1B-692A-69E0-FD05-D0CFC9EF5C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B8C3A5CE-6368-619C-968D-2E1C71C9CCA0}"/>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165376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B4594F-7833-522B-AB89-5548A5AB97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617A72E-151A-1B9C-EBE2-888A4D8E57AA}"/>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4" name="Footer Placeholder 3">
            <a:extLst>
              <a:ext uri="{FF2B5EF4-FFF2-40B4-BE49-F238E27FC236}">
                <a16:creationId xmlns:a16="http://schemas.microsoft.com/office/drawing/2014/main" xmlns="" id="{F3DC8B11-125D-5F1C-D773-6C3F33912B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AA14AD43-EBFA-D3CE-06AC-E2259E3143F7}"/>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1264188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63EA3C9-B45F-1510-2983-8F808F938922}"/>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3" name="Footer Placeholder 2">
            <a:extLst>
              <a:ext uri="{FF2B5EF4-FFF2-40B4-BE49-F238E27FC236}">
                <a16:creationId xmlns:a16="http://schemas.microsoft.com/office/drawing/2014/main" xmlns="" id="{D40107B8-A2EA-6F20-4111-C723D0B4F3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C72E05C-6B00-17B8-10EC-CE1457584235}"/>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1617618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5F80AC-EB13-D525-2A38-CDE03384BD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C9729A3-CA5E-64ED-7C2E-F50FBBE9CB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426D7CE-8F38-8AD4-9573-1192E829A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F309922-8C18-52E6-7A1C-96EB0D288EE9}"/>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6" name="Footer Placeholder 5">
            <a:extLst>
              <a:ext uri="{FF2B5EF4-FFF2-40B4-BE49-F238E27FC236}">
                <a16:creationId xmlns:a16="http://schemas.microsoft.com/office/drawing/2014/main" xmlns="" id="{15AEDB7B-3E2B-8668-AEF0-98D4F0E498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7AC88C41-11AC-D1BB-9A8B-D9AC109CAC26}"/>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1221601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4E72A8-85C3-A7A9-39F3-E731588AF4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AEF656D-E5D7-8C0F-CBA0-7908068C68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343B3D8-362F-821A-3361-B6B0D8BED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F4638DC-5E92-D85B-211F-79336A5F8AED}"/>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6" name="Footer Placeholder 5">
            <a:extLst>
              <a:ext uri="{FF2B5EF4-FFF2-40B4-BE49-F238E27FC236}">
                <a16:creationId xmlns:a16="http://schemas.microsoft.com/office/drawing/2014/main" xmlns="" id="{3434F8D3-955E-93A6-0195-7D2F9589AE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1DE1668-0DC9-908F-6F43-7D2089E02B16}"/>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1380037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9E32EB-907F-D670-88DB-03411DF174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2243F79-7573-A816-9355-65189219D0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CCF93AE-67B1-0CB1-7C13-727158BC43E0}"/>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5" name="Footer Placeholder 4">
            <a:extLst>
              <a:ext uri="{FF2B5EF4-FFF2-40B4-BE49-F238E27FC236}">
                <a16:creationId xmlns:a16="http://schemas.microsoft.com/office/drawing/2014/main" xmlns="" id="{B9A0C837-DF2D-BBCD-384F-FD05ACD2CF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944F82A-7CB1-C1FD-2D7C-FFC920970BD7}"/>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2201996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E16880B-51B7-BD22-735F-BC2C0253EB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56269EC-E9DD-DF4A-F9BF-2DBC73507E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4E20B93-412E-3C9A-777F-33E3583093AA}"/>
              </a:ext>
            </a:extLst>
          </p:cNvPr>
          <p:cNvSpPr>
            <a:spLocks noGrp="1"/>
          </p:cNvSpPr>
          <p:nvPr>
            <p:ph type="dt" sz="half" idx="10"/>
          </p:nvPr>
        </p:nvSpPr>
        <p:spPr/>
        <p:txBody>
          <a:bodyPr/>
          <a:lstStyle/>
          <a:p>
            <a:fld id="{2757533E-ACFA-47DD-849F-E4177887F2B2}" type="datetimeFigureOut">
              <a:rPr lang="en-IN" smtClean="0"/>
              <a:t>27-09-2025</a:t>
            </a:fld>
            <a:endParaRPr lang="en-IN"/>
          </a:p>
        </p:txBody>
      </p:sp>
      <p:sp>
        <p:nvSpPr>
          <p:cNvPr id="5" name="Footer Placeholder 4">
            <a:extLst>
              <a:ext uri="{FF2B5EF4-FFF2-40B4-BE49-F238E27FC236}">
                <a16:creationId xmlns:a16="http://schemas.microsoft.com/office/drawing/2014/main" xmlns="" id="{6700BCE9-5865-1E98-12B8-26B73F2EF7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0F40B14-5AE0-40E8-F4FD-87156088565C}"/>
              </a:ext>
            </a:extLst>
          </p:cNvPr>
          <p:cNvSpPr>
            <a:spLocks noGrp="1"/>
          </p:cNvSpPr>
          <p:nvPr>
            <p:ph type="sldNum" sz="quarter" idx="12"/>
          </p:nvPr>
        </p:nvSpPr>
        <p:spPr/>
        <p:txBody>
          <a:bodyPr/>
          <a:lstStyle/>
          <a:p>
            <a:fld id="{A72537DD-E6A9-4526-AEF7-194AF9832B64}" type="slidenum">
              <a:rPr lang="en-IN" smtClean="0"/>
              <a:t>‹#›</a:t>
            </a:fld>
            <a:endParaRPr lang="en-IN"/>
          </a:p>
        </p:txBody>
      </p:sp>
    </p:spTree>
    <p:extLst>
      <p:ext uri="{BB962C8B-B14F-4D97-AF65-F5344CB8AC3E}">
        <p14:creationId xmlns:p14="http://schemas.microsoft.com/office/powerpoint/2010/main" val="3132973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A77C36A-DEE8-0652-51A2-EE545BF9CA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9814BB6-CB52-9744-1289-CA8E5D03A4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A2F119A-A5AF-DC25-9AF4-FD6485C920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57533E-ACFA-47DD-849F-E4177887F2B2}" type="datetimeFigureOut">
              <a:rPr lang="en-IN" smtClean="0"/>
              <a:t>27-09-2025</a:t>
            </a:fld>
            <a:endParaRPr lang="en-IN"/>
          </a:p>
        </p:txBody>
      </p:sp>
      <p:sp>
        <p:nvSpPr>
          <p:cNvPr id="5" name="Footer Placeholder 4">
            <a:extLst>
              <a:ext uri="{FF2B5EF4-FFF2-40B4-BE49-F238E27FC236}">
                <a16:creationId xmlns:a16="http://schemas.microsoft.com/office/drawing/2014/main" xmlns="" id="{41805847-BF68-B4AA-ABD6-28E6AE9F1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4282D770-9FBE-6BA5-1335-DA9C09F09C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2537DD-E6A9-4526-AEF7-194AF9832B64}" type="slidenum">
              <a:rPr lang="en-IN" smtClean="0"/>
              <a:t>‹#›</a:t>
            </a:fld>
            <a:endParaRPr lang="en-IN"/>
          </a:p>
        </p:txBody>
      </p:sp>
    </p:spTree>
    <p:extLst>
      <p:ext uri="{BB962C8B-B14F-4D97-AF65-F5344CB8AC3E}">
        <p14:creationId xmlns:p14="http://schemas.microsoft.com/office/powerpoint/2010/main" val="1798108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D0D693-EE3E-AA3B-B129-5A232E69ABB4}"/>
              </a:ext>
            </a:extLst>
          </p:cNvPr>
          <p:cNvSpPr>
            <a:spLocks noGrp="1"/>
          </p:cNvSpPr>
          <p:nvPr>
            <p:ph type="ctrTitle"/>
          </p:nvPr>
        </p:nvSpPr>
        <p:spPr/>
        <p:txBody>
          <a:bodyPr/>
          <a:lstStyle/>
          <a:p>
            <a:r>
              <a:rPr lang="en-US" dirty="0"/>
              <a:t>MODULE 4</a:t>
            </a:r>
            <a:endParaRPr lang="en-IN" dirty="0"/>
          </a:p>
        </p:txBody>
      </p:sp>
      <p:sp>
        <p:nvSpPr>
          <p:cNvPr id="3" name="Subtitle 2">
            <a:extLst>
              <a:ext uri="{FF2B5EF4-FFF2-40B4-BE49-F238E27FC236}">
                <a16:creationId xmlns:a16="http://schemas.microsoft.com/office/drawing/2014/main" xmlns="" id="{574C0B14-9D28-C49B-5512-31D1FC1BA9D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85061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F68022-71FC-39EC-959D-26B3BA3AD5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930D809-EAC8-5986-FC7A-5B0AF44FE45E}"/>
              </a:ext>
            </a:extLst>
          </p:cNvPr>
          <p:cNvSpPr>
            <a:spLocks noGrp="1"/>
          </p:cNvSpPr>
          <p:nvPr>
            <p:ph idx="1"/>
          </p:nvPr>
        </p:nvSpPr>
        <p:spPr>
          <a:xfrm>
            <a:off x="838200" y="1825625"/>
            <a:ext cx="10515600" cy="2343252"/>
          </a:xfrm>
        </p:spPr>
        <p:txBody>
          <a:bodyPr>
            <a:normAutofit lnSpcReduction="10000"/>
          </a:bodyPr>
          <a:lstStyle/>
          <a:p>
            <a:pPr marL="0" indent="0" algn="ctr">
              <a:buNone/>
            </a:pPr>
            <a:r>
              <a:rPr lang="en-US" dirty="0">
                <a:solidFill>
                  <a:srgbClr val="0D0D0D"/>
                </a:solidFill>
                <a:effectLst/>
                <a:latin typeface="Times New Roman" panose="02020603050405020304" pitchFamily="18" charset="0"/>
                <a:ea typeface="Times New Roman" panose="02020603050405020304" pitchFamily="18" charset="0"/>
              </a:rPr>
              <a:t>Introduction to page layout principles and visual frameworks - Basics of page layout, Layout patterns -centerstage, grid of equals, module tabs, </a:t>
            </a:r>
            <a:r>
              <a:rPr lang="en-US" sz="3200" b="1" dirty="0">
                <a:solidFill>
                  <a:srgbClr val="0D0D0D"/>
                </a:solidFill>
                <a:effectLst/>
                <a:latin typeface="Times New Roman" panose="02020603050405020304" pitchFamily="18" charset="0"/>
                <a:ea typeface="Times New Roman" panose="02020603050405020304" pitchFamily="18" charset="0"/>
              </a:rPr>
              <a:t>accordion, collapsible panels, diagonal balance, and liquid layout</a:t>
            </a:r>
            <a:r>
              <a:rPr lang="en-US" sz="3200" b="1" dirty="0">
                <a:solidFill>
                  <a:srgbClr val="333333"/>
                </a:solidFill>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Creation of responsive and flexible page layouts-Usage of containers, rows, and columns to structure content on different devices using Bootstrap 5.</a:t>
            </a:r>
            <a:endParaRPr lang="en-IN"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2527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156EE5-57EE-7DA8-5BA2-042861057285}"/>
              </a:ext>
            </a:extLst>
          </p:cNvPr>
          <p:cNvSpPr>
            <a:spLocks noGrp="1"/>
          </p:cNvSpPr>
          <p:nvPr>
            <p:ph type="title"/>
          </p:nvPr>
        </p:nvSpPr>
        <p:spPr/>
        <p:txBody>
          <a:bodyPr/>
          <a:lstStyle/>
          <a:p>
            <a:r>
              <a:rPr lang="en-US" b="1" dirty="0"/>
              <a:t>The Basics of Page Layout</a:t>
            </a:r>
            <a:endParaRPr lang="en-IN" b="1" dirty="0"/>
          </a:p>
        </p:txBody>
      </p:sp>
      <p:sp>
        <p:nvSpPr>
          <p:cNvPr id="3" name="Content Placeholder 2">
            <a:extLst>
              <a:ext uri="{FF2B5EF4-FFF2-40B4-BE49-F238E27FC236}">
                <a16:creationId xmlns:a16="http://schemas.microsoft.com/office/drawing/2014/main" xmlns="" id="{9AA0D303-9285-776C-A9E3-4A65A76B2B57}"/>
              </a:ext>
            </a:extLst>
          </p:cNvPr>
          <p:cNvSpPr>
            <a:spLocks noGrp="1"/>
          </p:cNvSpPr>
          <p:nvPr>
            <p:ph idx="1"/>
          </p:nvPr>
        </p:nvSpPr>
        <p:spPr/>
        <p:txBody>
          <a:bodyPr/>
          <a:lstStyle/>
          <a:p>
            <a:r>
              <a:rPr lang="en-US" dirty="0"/>
              <a:t>Page layout is the art of manipulating the user’s attention on a page to convey meaning, sequence, and points of interaction</a:t>
            </a:r>
          </a:p>
          <a:p>
            <a:r>
              <a:rPr lang="en-US" dirty="0"/>
              <a:t>several elements of page layout: </a:t>
            </a:r>
          </a:p>
          <a:p>
            <a:pPr>
              <a:buFont typeface="Wingdings" panose="05000000000000000000" pitchFamily="2" charset="2"/>
              <a:buChar char="Ø"/>
            </a:pPr>
            <a:r>
              <a:rPr lang="en-US" b="1" dirty="0"/>
              <a:t>visual hierarchy</a:t>
            </a:r>
          </a:p>
          <a:p>
            <a:pPr>
              <a:buFont typeface="Wingdings" panose="05000000000000000000" pitchFamily="2" charset="2"/>
              <a:buChar char="Ø"/>
            </a:pPr>
            <a:r>
              <a:rPr lang="en-US" b="1" dirty="0"/>
              <a:t>visual flow</a:t>
            </a:r>
          </a:p>
          <a:p>
            <a:pPr>
              <a:buFont typeface="Wingdings" panose="05000000000000000000" pitchFamily="2" charset="2"/>
              <a:buChar char="Ø"/>
            </a:pPr>
            <a:r>
              <a:rPr lang="en-US" b="1" dirty="0"/>
              <a:t>how to use dynamic displays.</a:t>
            </a:r>
            <a:endParaRPr lang="en-IN" b="1" dirty="0"/>
          </a:p>
        </p:txBody>
      </p:sp>
    </p:spTree>
    <p:extLst>
      <p:ext uri="{BB962C8B-B14F-4D97-AF65-F5344CB8AC3E}">
        <p14:creationId xmlns:p14="http://schemas.microsoft.com/office/powerpoint/2010/main" val="3461528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833CC5-177A-7781-4558-B26DC488DF29}"/>
              </a:ext>
            </a:extLst>
          </p:cNvPr>
          <p:cNvSpPr>
            <a:spLocks noGrp="1"/>
          </p:cNvSpPr>
          <p:nvPr>
            <p:ph type="title"/>
          </p:nvPr>
        </p:nvSpPr>
        <p:spPr/>
        <p:txBody>
          <a:bodyPr/>
          <a:lstStyle/>
          <a:p>
            <a:r>
              <a:rPr lang="en-US" b="1" dirty="0"/>
              <a:t>Visual Hierarchy: What’s Important? What’s Related?</a:t>
            </a:r>
            <a:endParaRPr lang="en-IN" b="1" dirty="0"/>
          </a:p>
        </p:txBody>
      </p:sp>
      <p:sp>
        <p:nvSpPr>
          <p:cNvPr id="3" name="Content Placeholder 2">
            <a:extLst>
              <a:ext uri="{FF2B5EF4-FFF2-40B4-BE49-F238E27FC236}">
                <a16:creationId xmlns:a16="http://schemas.microsoft.com/office/drawing/2014/main" xmlns="" id="{54637E5F-D37A-6BED-3FD3-43E9C6F8AB16}"/>
              </a:ext>
            </a:extLst>
          </p:cNvPr>
          <p:cNvSpPr>
            <a:spLocks noGrp="1"/>
          </p:cNvSpPr>
          <p:nvPr>
            <p:ph idx="1"/>
          </p:nvPr>
        </p:nvSpPr>
        <p:spPr/>
        <p:txBody>
          <a:bodyPr>
            <a:normAutofit lnSpcReduction="10000"/>
          </a:bodyPr>
          <a:lstStyle/>
          <a:p>
            <a:r>
              <a:rPr lang="en-US" sz="2400" dirty="0"/>
              <a:t>The concept of visual hierarchy plays a part in all forms of graphic design.</a:t>
            </a:r>
          </a:p>
          <a:p>
            <a:r>
              <a:rPr lang="en-US" sz="2400" dirty="0"/>
              <a:t>Visual hierarchy is essential for effective design, guiding the reader's attention and conveying the importance of content. The key principles include:</a:t>
            </a:r>
          </a:p>
          <a:p>
            <a:r>
              <a:rPr lang="en-US" sz="2400" b="1" dirty="0"/>
              <a:t>Emphasis on Important Content: </a:t>
            </a:r>
            <a:r>
              <a:rPr lang="en-US" sz="2400" dirty="0"/>
              <a:t>The most crucial information should be prominent, using size, color, and placement to draw focus.</a:t>
            </a:r>
          </a:p>
          <a:p>
            <a:r>
              <a:rPr lang="en-US" sz="2400" b="1" dirty="0"/>
              <a:t>Clear Structure: </a:t>
            </a:r>
            <a:r>
              <a:rPr lang="en-US" sz="2400" dirty="0"/>
              <a:t>Titles should be distinct from subtitles, and lists should be visually recognizable. This helps readers quickly understand the layout and flow of information.</a:t>
            </a:r>
          </a:p>
          <a:p>
            <a:r>
              <a:rPr lang="en-US" sz="2400" b="1" dirty="0"/>
              <a:t>Ranking Elements: </a:t>
            </a:r>
            <a:r>
              <a:rPr lang="en-US" sz="2400" dirty="0"/>
              <a:t>Arrange content in descending order of importance, ensuring that less critical elements are less eye-catching.</a:t>
            </a:r>
          </a:p>
          <a:p>
            <a:r>
              <a:rPr lang="en-US" sz="2400" b="1" dirty="0"/>
              <a:t>Relationships Among Elements: </a:t>
            </a:r>
            <a:r>
              <a:rPr lang="en-US" sz="2400" dirty="0"/>
              <a:t>Use spacing and alignment to illustrate how different pieces of information relate to one another.</a:t>
            </a:r>
            <a:endParaRPr lang="en-IN" sz="2400" dirty="0"/>
          </a:p>
        </p:txBody>
      </p:sp>
    </p:spTree>
    <p:extLst>
      <p:ext uri="{BB962C8B-B14F-4D97-AF65-F5344CB8AC3E}">
        <p14:creationId xmlns:p14="http://schemas.microsoft.com/office/powerpoint/2010/main" val="81054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3BC5A0-506F-1F28-456E-2D4A91C24D86}"/>
              </a:ext>
            </a:extLst>
          </p:cNvPr>
          <p:cNvSpPr>
            <a:spLocks noGrp="1"/>
          </p:cNvSpPr>
          <p:nvPr>
            <p:ph type="title"/>
          </p:nvPr>
        </p:nvSpPr>
        <p:spPr/>
        <p:txBody>
          <a:bodyPr/>
          <a:lstStyle/>
          <a:p>
            <a:r>
              <a:rPr lang="en-US" dirty="0"/>
              <a:t>How to make things look important</a:t>
            </a:r>
            <a:endParaRPr lang="en-IN" dirty="0"/>
          </a:p>
        </p:txBody>
      </p:sp>
      <p:sp>
        <p:nvSpPr>
          <p:cNvPr id="3" name="Content Placeholder 2">
            <a:extLst>
              <a:ext uri="{FF2B5EF4-FFF2-40B4-BE49-F238E27FC236}">
                <a16:creationId xmlns:a16="http://schemas.microsoft.com/office/drawing/2014/main" xmlns="" id="{3F12F19F-17E3-E3AD-3EEE-7CEDBA1CC2E5}"/>
              </a:ext>
            </a:extLst>
          </p:cNvPr>
          <p:cNvSpPr>
            <a:spLocks noGrp="1"/>
          </p:cNvSpPr>
          <p:nvPr>
            <p:ph idx="1"/>
          </p:nvPr>
        </p:nvSpPr>
        <p:spPr/>
        <p:txBody>
          <a:bodyPr/>
          <a:lstStyle/>
          <a:p>
            <a:r>
              <a:rPr lang="en-US" dirty="0"/>
              <a:t>For short but large text such as headlines and short phrase use font size, contrasting color, and visual weight </a:t>
            </a:r>
          </a:p>
          <a:p>
            <a:r>
              <a:rPr lang="en-US" dirty="0"/>
              <a:t>You can also make text look very dramatic by setting it off with generous whitespace or background color. </a:t>
            </a:r>
          </a:p>
          <a:p>
            <a:r>
              <a:rPr lang="en-US" dirty="0"/>
              <a:t>Use two or more of these characteristics at a time on emphasized text to differentiate it from body text.</a:t>
            </a:r>
            <a:endParaRPr lang="en-IN" dirty="0"/>
          </a:p>
        </p:txBody>
      </p:sp>
    </p:spTree>
    <p:extLst>
      <p:ext uri="{BB962C8B-B14F-4D97-AF65-F5344CB8AC3E}">
        <p14:creationId xmlns:p14="http://schemas.microsoft.com/office/powerpoint/2010/main" val="346671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8915F07-F337-7271-2DA4-B09EAF6B0E37}"/>
              </a:ext>
            </a:extLst>
          </p:cNvPr>
          <p:cNvSpPr>
            <a:spLocks noGrp="1"/>
          </p:cNvSpPr>
          <p:nvPr>
            <p:ph idx="1"/>
          </p:nvPr>
        </p:nvSpPr>
        <p:spPr>
          <a:xfrm>
            <a:off x="913356" y="1086589"/>
            <a:ext cx="10515600" cy="4351338"/>
          </a:xfrm>
        </p:spPr>
        <p:txBody>
          <a:bodyPr>
            <a:normAutofit fontScale="85000" lnSpcReduction="20000"/>
          </a:bodyPr>
          <a:lstStyle/>
          <a:p>
            <a:r>
              <a:rPr lang="en-US" dirty="0"/>
              <a:t>Blocks of smaller items such as body text, links, or interactive tools can be emphasized or deemphasized with these tools.</a:t>
            </a:r>
          </a:p>
          <a:p>
            <a:r>
              <a:rPr lang="en-US" b="1" dirty="0"/>
              <a:t>Density</a:t>
            </a:r>
            <a:r>
              <a:rPr lang="en-US" dirty="0"/>
              <a:t>--A dense, heavy-looking block has stronger contrast with the surrounding page; an open look has less contrast.</a:t>
            </a:r>
          </a:p>
          <a:p>
            <a:r>
              <a:rPr lang="en-US" b="1" dirty="0"/>
              <a:t>Background color--</a:t>
            </a:r>
            <a:r>
              <a:rPr lang="en-US" dirty="0"/>
              <a:t>Contrast draws attention. Black on white, or vice versa, is the strongest contrast possible.</a:t>
            </a:r>
          </a:p>
          <a:p>
            <a:r>
              <a:rPr lang="en-US" b="1" dirty="0"/>
              <a:t>Position and size-</a:t>
            </a:r>
            <a:r>
              <a:rPr lang="en-US" dirty="0"/>
              <a:t>-A medium or large text block, roughly in the center of the page, calls attention to itself as the primary content (like an article or blog post). But a small strip of text at the bottom of the page says quietly, “I’m just a footer” and begs to be ignored!</a:t>
            </a:r>
          </a:p>
          <a:p>
            <a:r>
              <a:rPr lang="en-US" b="1" dirty="0"/>
              <a:t>Rhythm-- </a:t>
            </a:r>
            <a:r>
              <a:rPr lang="en-US" dirty="0"/>
              <a:t>Lists, grids, alternating elements such as headlines and summaries, and whitespace separation can create a strong visual rhythm that irresistibly draws the eye.</a:t>
            </a:r>
            <a:endParaRPr lang="en-IN" dirty="0"/>
          </a:p>
        </p:txBody>
      </p:sp>
    </p:spTree>
    <p:extLst>
      <p:ext uri="{BB962C8B-B14F-4D97-AF65-F5344CB8AC3E}">
        <p14:creationId xmlns:p14="http://schemas.microsoft.com/office/powerpoint/2010/main" val="625991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2D1910F3-74C5-3E61-49E7-3F827A99DA78}"/>
              </a:ext>
            </a:extLst>
          </p:cNvPr>
          <p:cNvPicPr>
            <a:picLocks noGrp="1" noChangeAspect="1"/>
          </p:cNvPicPr>
          <p:nvPr>
            <p:ph idx="1"/>
          </p:nvPr>
        </p:nvPicPr>
        <p:blipFill>
          <a:blip r:embed="rId2"/>
          <a:stretch>
            <a:fillRect/>
          </a:stretch>
        </p:blipFill>
        <p:spPr>
          <a:xfrm>
            <a:off x="1123570" y="776287"/>
            <a:ext cx="9861756" cy="5163149"/>
          </a:xfrm>
        </p:spPr>
      </p:pic>
    </p:spTree>
    <p:extLst>
      <p:ext uri="{BB962C8B-B14F-4D97-AF65-F5344CB8AC3E}">
        <p14:creationId xmlns:p14="http://schemas.microsoft.com/office/powerpoint/2010/main" val="2089166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A0DA63-3B7A-A25F-15AF-75B9D0CC64AA}"/>
              </a:ext>
            </a:extLst>
          </p:cNvPr>
          <p:cNvSpPr>
            <a:spLocks noGrp="1"/>
          </p:cNvSpPr>
          <p:nvPr>
            <p:ph idx="1"/>
          </p:nvPr>
        </p:nvSpPr>
        <p:spPr>
          <a:xfrm>
            <a:off x="900830" y="1199324"/>
            <a:ext cx="10515600" cy="4351338"/>
          </a:xfrm>
        </p:spPr>
        <p:txBody>
          <a:bodyPr/>
          <a:lstStyle/>
          <a:p>
            <a:r>
              <a:rPr lang="en-US" dirty="0"/>
              <a:t>To highlight small but important items on a page, place them at the top, along the left side, or in the top-right corner. </a:t>
            </a:r>
          </a:p>
          <a:p>
            <a:r>
              <a:rPr lang="en-US" dirty="0"/>
              <a:t>Use high contrast, visual weight, and ample whitespace to make these items stand out. In text-heavy environments, like websites, essential controls such as search fields, sign-in boxes, and large buttons naturally draw attention due to their functionality. </a:t>
            </a:r>
          </a:p>
          <a:p>
            <a:r>
              <a:rPr lang="en-US" dirty="0"/>
              <a:t>Users often naturally look for these elements, so their placement and prominence are crucial for usability</a:t>
            </a:r>
            <a:endParaRPr lang="en-IN" dirty="0"/>
          </a:p>
        </p:txBody>
      </p:sp>
    </p:spTree>
    <p:extLst>
      <p:ext uri="{BB962C8B-B14F-4D97-AF65-F5344CB8AC3E}">
        <p14:creationId xmlns:p14="http://schemas.microsoft.com/office/powerpoint/2010/main" val="3816900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9434C13-EAF0-037E-CBD9-9821696E8368}"/>
              </a:ext>
            </a:extLst>
          </p:cNvPr>
          <p:cNvSpPr>
            <a:spLocks noGrp="1"/>
          </p:cNvSpPr>
          <p:nvPr>
            <p:ph idx="1"/>
          </p:nvPr>
        </p:nvSpPr>
        <p:spPr>
          <a:xfrm>
            <a:off x="863252" y="1161746"/>
            <a:ext cx="10515600" cy="4351338"/>
          </a:xfrm>
        </p:spPr>
        <p:txBody>
          <a:bodyPr/>
          <a:lstStyle/>
          <a:p>
            <a:r>
              <a:rPr lang="en-US" dirty="0"/>
              <a:t>High-contrast and dramatic images can capture attention, especially pictures of faces, but viewers often overlook images when focused on gathering information or completing tasks. </a:t>
            </a:r>
          </a:p>
          <a:p>
            <a:r>
              <a:rPr lang="en-US" dirty="0"/>
              <a:t>Images can disrupt visual hierarchy if not used thoughtfully, as they may distract from important content.</a:t>
            </a:r>
          </a:p>
          <a:p>
            <a:r>
              <a:rPr lang="en-US" dirty="0"/>
              <a:t> Additionally, users may experience "ad blindness," consciously ignoring elements that resemble advertisements, even if they contain valuable information. </a:t>
            </a:r>
          </a:p>
          <a:p>
            <a:r>
              <a:rPr lang="en-US" dirty="0"/>
              <a:t>This highlights that users actively choose what to focus on, filtering out what they perceive as unnecessary.</a:t>
            </a:r>
            <a:endParaRPr lang="en-IN" dirty="0"/>
          </a:p>
        </p:txBody>
      </p:sp>
    </p:spTree>
    <p:extLst>
      <p:ext uri="{BB962C8B-B14F-4D97-AF65-F5344CB8AC3E}">
        <p14:creationId xmlns:p14="http://schemas.microsoft.com/office/powerpoint/2010/main" val="262106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2A946B-64C9-52EA-025E-4A3C86121492}"/>
              </a:ext>
            </a:extLst>
          </p:cNvPr>
          <p:cNvSpPr>
            <a:spLocks noGrp="1"/>
          </p:cNvSpPr>
          <p:nvPr>
            <p:ph type="title"/>
          </p:nvPr>
        </p:nvSpPr>
        <p:spPr/>
        <p:txBody>
          <a:bodyPr/>
          <a:lstStyle/>
          <a:p>
            <a:r>
              <a:rPr lang="en-US" b="1" dirty="0"/>
              <a:t>How to show relationships among page elements</a:t>
            </a:r>
            <a:endParaRPr lang="en-IN" b="1" dirty="0"/>
          </a:p>
        </p:txBody>
      </p:sp>
      <p:sp>
        <p:nvSpPr>
          <p:cNvPr id="3" name="Content Placeholder 2">
            <a:extLst>
              <a:ext uri="{FF2B5EF4-FFF2-40B4-BE49-F238E27FC236}">
                <a16:creationId xmlns:a16="http://schemas.microsoft.com/office/drawing/2014/main" xmlns="" id="{52990B18-9D4B-FD26-161F-559D2401F03F}"/>
              </a:ext>
            </a:extLst>
          </p:cNvPr>
          <p:cNvSpPr>
            <a:spLocks noGrp="1"/>
          </p:cNvSpPr>
          <p:nvPr>
            <p:ph idx="1"/>
          </p:nvPr>
        </p:nvSpPr>
        <p:spPr>
          <a:xfrm>
            <a:off x="838200" y="1484671"/>
            <a:ext cx="10515600" cy="4692292"/>
          </a:xfrm>
        </p:spPr>
        <p:txBody>
          <a:bodyPr>
            <a:normAutofit fontScale="92500" lnSpcReduction="20000"/>
          </a:bodyPr>
          <a:lstStyle/>
          <a:p>
            <a:pPr marL="0" indent="0">
              <a:buNone/>
            </a:pPr>
            <a:endParaRPr lang="en-US" dirty="0"/>
          </a:p>
          <a:p>
            <a:r>
              <a:rPr lang="en-US" dirty="0"/>
              <a:t>Grouped items look related . Conversely, isolation implies distinction</a:t>
            </a:r>
          </a:p>
          <a:p>
            <a:r>
              <a:rPr lang="en-US" dirty="0"/>
              <a:t>To make one item stand out among similar ones, give it a different treatment, like a contrasting background color, while keeping it consistent with the others. </a:t>
            </a:r>
          </a:p>
          <a:p>
            <a:r>
              <a:rPr lang="en-US" dirty="0"/>
              <a:t>You can also use graphic elements to disrupt alignment, such as bumps or overlaps. </a:t>
            </a:r>
          </a:p>
          <a:p>
            <a:r>
              <a:rPr lang="en-US" dirty="0"/>
              <a:t>When listing similar items in a strong line or column, ensure they are precisely aligned to create a visual flow. </a:t>
            </a:r>
          </a:p>
          <a:p>
            <a:r>
              <a:rPr lang="en-US" dirty="0"/>
              <a:t>This helps viewers process the items in a specific order, following Gestalt principles. Examples include bulleted lists, navigation menus, and tables. Using alternating repetition can add visual appeal and rhythm to the layout.</a:t>
            </a:r>
          </a:p>
        </p:txBody>
      </p:sp>
    </p:spTree>
    <p:extLst>
      <p:ext uri="{BB962C8B-B14F-4D97-AF65-F5344CB8AC3E}">
        <p14:creationId xmlns:p14="http://schemas.microsoft.com/office/powerpoint/2010/main" val="2757931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47972159-9EDF-9BE9-18ED-7C75DB3BACF1}"/>
              </a:ext>
            </a:extLst>
          </p:cNvPr>
          <p:cNvPicPr>
            <a:picLocks noGrp="1" noChangeAspect="1"/>
          </p:cNvPicPr>
          <p:nvPr>
            <p:ph idx="1"/>
          </p:nvPr>
        </p:nvPicPr>
        <p:blipFill>
          <a:blip r:embed="rId2"/>
          <a:stretch>
            <a:fillRect/>
          </a:stretch>
        </p:blipFill>
        <p:spPr>
          <a:xfrm>
            <a:off x="1676602" y="747521"/>
            <a:ext cx="7993625" cy="4994787"/>
          </a:xfrm>
        </p:spPr>
      </p:pic>
    </p:spTree>
    <p:extLst>
      <p:ext uri="{BB962C8B-B14F-4D97-AF65-F5344CB8AC3E}">
        <p14:creationId xmlns:p14="http://schemas.microsoft.com/office/powerpoint/2010/main" val="620166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012245-D52C-1715-097A-D4FEC5D48CA8}"/>
              </a:ext>
            </a:extLst>
          </p:cNvPr>
          <p:cNvSpPr>
            <a:spLocks noGrp="1"/>
          </p:cNvSpPr>
          <p:nvPr>
            <p:ph idx="1"/>
          </p:nvPr>
        </p:nvSpPr>
        <p:spPr>
          <a:xfrm>
            <a:off x="850726" y="1174271"/>
            <a:ext cx="10515600" cy="4351338"/>
          </a:xfrm>
        </p:spPr>
        <p:txBody>
          <a:bodyPr/>
          <a:lstStyle/>
          <a:p>
            <a:r>
              <a:rPr lang="en-US" dirty="0"/>
              <a:t>Indented and smaller text beneath a stronger element, like image captions or secondary information, modifies the main element's emphasis.</a:t>
            </a:r>
          </a:p>
          <a:p>
            <a:r>
              <a:rPr lang="en-US" dirty="0"/>
              <a:t> Containment, using boxes or blocks of color, suggests a parent/child relationship among related items. </a:t>
            </a:r>
          </a:p>
          <a:p>
            <a:r>
              <a:rPr lang="en-US" dirty="0"/>
              <a:t>This can be achieved with various design elements like Module Tabs or Accordions, utilizing whitespace to clearly nest items.</a:t>
            </a:r>
          </a:p>
          <a:p>
            <a:r>
              <a:rPr lang="en-US" dirty="0"/>
              <a:t> Indenting also indicates relationships, especially in outlines or hierarchical menus, reinforcing how information is organized.</a:t>
            </a:r>
          </a:p>
          <a:p>
            <a:endParaRPr lang="en-IN" dirty="0"/>
          </a:p>
        </p:txBody>
      </p:sp>
    </p:spTree>
    <p:extLst>
      <p:ext uri="{BB962C8B-B14F-4D97-AF65-F5344CB8AC3E}">
        <p14:creationId xmlns:p14="http://schemas.microsoft.com/office/powerpoint/2010/main" val="3019209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D24B55D6-395A-AD45-0966-EAB788DC8816}"/>
              </a:ext>
            </a:extLst>
          </p:cNvPr>
          <p:cNvPicPr>
            <a:picLocks noGrp="1" noChangeAspect="1"/>
          </p:cNvPicPr>
          <p:nvPr>
            <p:ph idx="1"/>
          </p:nvPr>
        </p:nvPicPr>
        <p:blipFill>
          <a:blip r:embed="rId2"/>
          <a:stretch>
            <a:fillRect/>
          </a:stretch>
        </p:blipFill>
        <p:spPr>
          <a:xfrm>
            <a:off x="2235891" y="1764496"/>
            <a:ext cx="7941308" cy="2757399"/>
          </a:xfrm>
        </p:spPr>
      </p:pic>
    </p:spTree>
    <p:extLst>
      <p:ext uri="{BB962C8B-B14F-4D97-AF65-F5344CB8AC3E}">
        <p14:creationId xmlns:p14="http://schemas.microsoft.com/office/powerpoint/2010/main" val="3723825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1177B3-5024-83ED-5D45-5D2603CAF5C6}"/>
              </a:ext>
            </a:extLst>
          </p:cNvPr>
          <p:cNvSpPr>
            <a:spLocks noGrp="1"/>
          </p:cNvSpPr>
          <p:nvPr>
            <p:ph type="title"/>
          </p:nvPr>
        </p:nvSpPr>
        <p:spPr/>
        <p:txBody>
          <a:bodyPr/>
          <a:lstStyle/>
          <a:p>
            <a:r>
              <a:rPr lang="en-US" b="1" dirty="0"/>
              <a:t>Visual Flow: What Should I Look at Next?</a:t>
            </a:r>
            <a:endParaRPr lang="en-IN" b="1" dirty="0"/>
          </a:p>
        </p:txBody>
      </p:sp>
      <p:sp>
        <p:nvSpPr>
          <p:cNvPr id="3" name="Content Placeholder 2">
            <a:extLst>
              <a:ext uri="{FF2B5EF4-FFF2-40B4-BE49-F238E27FC236}">
                <a16:creationId xmlns:a16="http://schemas.microsoft.com/office/drawing/2014/main" xmlns="" id="{6ABE99D0-27A2-B2D8-37C4-25688F03B1E3}"/>
              </a:ext>
            </a:extLst>
          </p:cNvPr>
          <p:cNvSpPr>
            <a:spLocks noGrp="1"/>
          </p:cNvSpPr>
          <p:nvPr>
            <p:ph idx="1"/>
          </p:nvPr>
        </p:nvSpPr>
        <p:spPr/>
        <p:txBody>
          <a:bodyPr>
            <a:normAutofit fontScale="92500" lnSpcReduction="20000"/>
          </a:bodyPr>
          <a:lstStyle/>
          <a:p>
            <a:r>
              <a:rPr lang="en-US" dirty="0"/>
              <a:t>Visual flow refers to the path that readers' eyes follow as they scan a page, closely linked to visual hierarchy. </a:t>
            </a:r>
          </a:p>
          <a:p>
            <a:r>
              <a:rPr lang="en-US" dirty="0"/>
              <a:t>A well-structured visual hierarchy creates focal points that draw attention to important elements and guides the eye to less critical information in a desired sequence. </a:t>
            </a:r>
          </a:p>
          <a:p>
            <a:r>
              <a:rPr lang="en-US" dirty="0"/>
              <a:t>Readers typically scan from top to bottom and left to right, but strong focal points can disrupt this natural flow. </a:t>
            </a:r>
          </a:p>
          <a:p>
            <a:r>
              <a:rPr lang="en-US" dirty="0"/>
              <a:t>Effective design uses a limited number of focal points to maintain their importance, ensuring that viewers are directed to the right places in the right order. </a:t>
            </a:r>
          </a:p>
          <a:p>
            <a:r>
              <a:rPr lang="en-US" dirty="0"/>
              <a:t>Observing well-designed ads can provide insights into how focal points effectively capture attention.</a:t>
            </a:r>
            <a:endParaRPr lang="en-IN" dirty="0"/>
          </a:p>
        </p:txBody>
      </p:sp>
    </p:spTree>
    <p:extLst>
      <p:ext uri="{BB962C8B-B14F-4D97-AF65-F5344CB8AC3E}">
        <p14:creationId xmlns:p14="http://schemas.microsoft.com/office/powerpoint/2010/main" val="2691441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A2205B-27D1-0FC0-6793-03057F858D32}"/>
              </a:ext>
            </a:extLst>
          </p:cNvPr>
          <p:cNvSpPr>
            <a:spLocks noGrp="1"/>
          </p:cNvSpPr>
          <p:nvPr>
            <p:ph type="title"/>
          </p:nvPr>
        </p:nvSpPr>
        <p:spPr/>
        <p:txBody>
          <a:bodyPr/>
          <a:lstStyle/>
          <a:p>
            <a:r>
              <a:rPr lang="en-US"/>
              <a:t>So how do you create a good visual flow?</a:t>
            </a:r>
            <a:endParaRPr lang="en-IN"/>
          </a:p>
        </p:txBody>
      </p:sp>
      <p:pic>
        <p:nvPicPr>
          <p:cNvPr id="5" name="Content Placeholder 4">
            <a:extLst>
              <a:ext uri="{FF2B5EF4-FFF2-40B4-BE49-F238E27FC236}">
                <a16:creationId xmlns:a16="http://schemas.microsoft.com/office/drawing/2014/main" xmlns="" id="{2297ADAE-F273-3B93-055F-D7E3F404A407}"/>
              </a:ext>
            </a:extLst>
          </p:cNvPr>
          <p:cNvPicPr>
            <a:picLocks noGrp="1" noChangeAspect="1"/>
          </p:cNvPicPr>
          <p:nvPr>
            <p:ph idx="1"/>
          </p:nvPr>
        </p:nvPicPr>
        <p:blipFill>
          <a:blip r:embed="rId2"/>
          <a:stretch>
            <a:fillRect/>
          </a:stretch>
        </p:blipFill>
        <p:spPr>
          <a:xfrm>
            <a:off x="652255" y="1826490"/>
            <a:ext cx="4296375" cy="2638793"/>
          </a:xfrm>
        </p:spPr>
      </p:pic>
      <p:pic>
        <p:nvPicPr>
          <p:cNvPr id="7" name="Picture 6">
            <a:extLst>
              <a:ext uri="{FF2B5EF4-FFF2-40B4-BE49-F238E27FC236}">
                <a16:creationId xmlns:a16="http://schemas.microsoft.com/office/drawing/2014/main" xmlns="" id="{B440B285-F05A-322F-747E-8AB9CAD5A81C}"/>
              </a:ext>
            </a:extLst>
          </p:cNvPr>
          <p:cNvPicPr>
            <a:picLocks noChangeAspect="1"/>
          </p:cNvPicPr>
          <p:nvPr/>
        </p:nvPicPr>
        <p:blipFill>
          <a:blip r:embed="rId3"/>
          <a:stretch>
            <a:fillRect/>
          </a:stretch>
        </p:blipFill>
        <p:spPr>
          <a:xfrm>
            <a:off x="4682053" y="1826490"/>
            <a:ext cx="7059010" cy="2819794"/>
          </a:xfrm>
          <a:prstGeom prst="rect">
            <a:avLst/>
          </a:prstGeom>
        </p:spPr>
      </p:pic>
    </p:spTree>
    <p:extLst>
      <p:ext uri="{BB962C8B-B14F-4D97-AF65-F5344CB8AC3E}">
        <p14:creationId xmlns:p14="http://schemas.microsoft.com/office/powerpoint/2010/main" val="2384572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FD2C7255-FDFF-ADFA-5493-696DE5215D97}"/>
              </a:ext>
            </a:extLst>
          </p:cNvPr>
          <p:cNvPicPr>
            <a:picLocks noGrp="1" noChangeAspect="1"/>
          </p:cNvPicPr>
          <p:nvPr>
            <p:ph idx="1"/>
          </p:nvPr>
        </p:nvPicPr>
        <p:blipFill rotWithShape="1">
          <a:blip r:embed="rId2"/>
          <a:srcRect l="6411" t="3349" r="7217" b="6985"/>
          <a:stretch/>
        </p:blipFill>
        <p:spPr>
          <a:xfrm>
            <a:off x="839244" y="139847"/>
            <a:ext cx="10011026" cy="6479317"/>
          </a:xfrm>
        </p:spPr>
      </p:pic>
    </p:spTree>
    <p:extLst>
      <p:ext uri="{BB962C8B-B14F-4D97-AF65-F5344CB8AC3E}">
        <p14:creationId xmlns:p14="http://schemas.microsoft.com/office/powerpoint/2010/main" val="3579704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0F9AEAF-0B45-0517-B114-1430002E7DB1}"/>
              </a:ext>
            </a:extLst>
          </p:cNvPr>
          <p:cNvPicPr>
            <a:picLocks noGrp="1" noChangeAspect="1"/>
          </p:cNvPicPr>
          <p:nvPr>
            <p:ph idx="1"/>
          </p:nvPr>
        </p:nvPicPr>
        <p:blipFill>
          <a:blip r:embed="rId2"/>
          <a:stretch>
            <a:fillRect/>
          </a:stretch>
        </p:blipFill>
        <p:spPr>
          <a:xfrm>
            <a:off x="1526908" y="436728"/>
            <a:ext cx="8217594" cy="4837052"/>
          </a:xfrm>
        </p:spPr>
      </p:pic>
    </p:spTree>
    <p:extLst>
      <p:ext uri="{BB962C8B-B14F-4D97-AF65-F5344CB8AC3E}">
        <p14:creationId xmlns:p14="http://schemas.microsoft.com/office/powerpoint/2010/main" val="262409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BB7CE6-8A0D-719D-9270-D47C43529CDB}"/>
              </a:ext>
            </a:extLst>
          </p:cNvPr>
          <p:cNvSpPr>
            <a:spLocks noGrp="1"/>
          </p:cNvSpPr>
          <p:nvPr>
            <p:ph type="title"/>
          </p:nvPr>
        </p:nvSpPr>
        <p:spPr/>
        <p:txBody>
          <a:bodyPr/>
          <a:lstStyle/>
          <a:p>
            <a:r>
              <a:rPr lang="en-IN" b="1" dirty="0"/>
              <a:t>Using Dynamic Displays</a:t>
            </a:r>
          </a:p>
        </p:txBody>
      </p:sp>
      <p:sp>
        <p:nvSpPr>
          <p:cNvPr id="3" name="Content Placeholder 2">
            <a:extLst>
              <a:ext uri="{FF2B5EF4-FFF2-40B4-BE49-F238E27FC236}">
                <a16:creationId xmlns:a16="http://schemas.microsoft.com/office/drawing/2014/main" xmlns="" id="{1B006D6F-D439-9A1F-30B3-878D725679B9}"/>
              </a:ext>
            </a:extLst>
          </p:cNvPr>
          <p:cNvSpPr>
            <a:spLocks noGrp="1"/>
          </p:cNvSpPr>
          <p:nvPr>
            <p:ph idx="1"/>
          </p:nvPr>
        </p:nvSpPr>
        <p:spPr/>
        <p:txBody>
          <a:bodyPr>
            <a:normAutofit fontScale="92500" lnSpcReduction="20000"/>
          </a:bodyPr>
          <a:lstStyle/>
          <a:p>
            <a:r>
              <a:rPr lang="en-US" dirty="0"/>
              <a:t>Unlike static layouts (posters, magazines), computer displays allow for dynamic interaction over time.</a:t>
            </a:r>
          </a:p>
          <a:p>
            <a:r>
              <a:rPr lang="en-US" dirty="0"/>
              <a:t>Screens, especially mobile devices, have limited space compared to traditional media, requiring efficient use of that space.</a:t>
            </a:r>
          </a:p>
          <a:p>
            <a:endParaRPr lang="en-US" dirty="0"/>
          </a:p>
          <a:p>
            <a:r>
              <a:rPr lang="en-US" dirty="0"/>
              <a:t>Dynamic Techniques:</a:t>
            </a:r>
          </a:p>
          <a:p>
            <a:pPr>
              <a:buFont typeface="Wingdings" panose="05000000000000000000" pitchFamily="2" charset="2"/>
              <a:buChar char="Ø"/>
            </a:pPr>
            <a:r>
              <a:rPr lang="en-US" dirty="0"/>
              <a:t>    Scrollbars: Enable users to navigate through large content areas.</a:t>
            </a:r>
          </a:p>
          <a:p>
            <a:pPr>
              <a:buFont typeface="Wingdings" panose="05000000000000000000" pitchFamily="2" charset="2"/>
              <a:buChar char="Ø"/>
            </a:pPr>
            <a:r>
              <a:rPr lang="en-US" dirty="0"/>
              <a:t>    Content Organization:</a:t>
            </a:r>
          </a:p>
          <a:p>
            <a:pPr lvl="1"/>
            <a:r>
              <a:rPr lang="en-US" dirty="0"/>
              <a:t>	 Module Tabs: Allow users to switch between different content sections.</a:t>
            </a:r>
          </a:p>
          <a:p>
            <a:pPr lvl="1"/>
            <a:r>
              <a:rPr lang="en-US" dirty="0"/>
              <a:t>	 Accordions: Expand/collapse content to save space.</a:t>
            </a:r>
          </a:p>
          <a:p>
            <a:pPr lvl="1"/>
            <a:r>
              <a:rPr lang="en-US" dirty="0"/>
              <a:t>	Collapsible Panels: Provide a clean way to manage content visibility.</a:t>
            </a:r>
          </a:p>
          <a:p>
            <a:pPr lvl="1"/>
            <a:r>
              <a:rPr lang="en-US" dirty="0"/>
              <a:t>	 Movable Panels: Give users control over their layout.</a:t>
            </a:r>
          </a:p>
          <a:p>
            <a:endParaRPr lang="en-US" dirty="0"/>
          </a:p>
        </p:txBody>
      </p:sp>
    </p:spTree>
    <p:extLst>
      <p:ext uri="{BB962C8B-B14F-4D97-AF65-F5344CB8AC3E}">
        <p14:creationId xmlns:p14="http://schemas.microsoft.com/office/powerpoint/2010/main" val="4137410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4D8790-B7DC-2201-6D38-3BF0CD7C9249}"/>
              </a:ext>
            </a:extLst>
          </p:cNvPr>
          <p:cNvSpPr>
            <a:spLocks noGrp="1"/>
          </p:cNvSpPr>
          <p:nvPr>
            <p:ph type="title"/>
          </p:nvPr>
        </p:nvSpPr>
        <p:spPr/>
        <p:txBody>
          <a:bodyPr/>
          <a:lstStyle/>
          <a:p>
            <a:r>
              <a:rPr lang="en-IN" dirty="0"/>
              <a:t>Using Dynamic Displays</a:t>
            </a:r>
          </a:p>
        </p:txBody>
      </p:sp>
      <p:sp>
        <p:nvSpPr>
          <p:cNvPr id="3" name="Content Placeholder 2">
            <a:extLst>
              <a:ext uri="{FF2B5EF4-FFF2-40B4-BE49-F238E27FC236}">
                <a16:creationId xmlns:a16="http://schemas.microsoft.com/office/drawing/2014/main" xmlns="" id="{BF5669C3-B3EC-5A1C-3441-94750F027C99}"/>
              </a:ext>
            </a:extLst>
          </p:cNvPr>
          <p:cNvSpPr>
            <a:spLocks noGrp="1"/>
          </p:cNvSpPr>
          <p:nvPr>
            <p:ph idx="1"/>
          </p:nvPr>
        </p:nvSpPr>
        <p:spPr/>
        <p:txBody>
          <a:bodyPr/>
          <a:lstStyle/>
          <a:p>
            <a:r>
              <a:rPr lang="en-US" dirty="0"/>
              <a:t>Navigation: Breaking content into virtual pages can enhance user experience by allowing navigation through sections.</a:t>
            </a:r>
          </a:p>
          <a:p>
            <a:endParaRPr lang="en-US" dirty="0"/>
          </a:p>
          <a:p>
            <a:r>
              <a:rPr lang="en-US" dirty="0"/>
              <a:t>Guided User Experience: Techniques like Responsive Enabling and Responsive Disclosure help direct users through a sequence of steps.</a:t>
            </a:r>
            <a:endParaRPr lang="en-IN" dirty="0"/>
          </a:p>
          <a:p>
            <a:endParaRPr lang="en-IN" dirty="0"/>
          </a:p>
        </p:txBody>
      </p:sp>
    </p:spTree>
    <p:extLst>
      <p:ext uri="{BB962C8B-B14F-4D97-AF65-F5344CB8AC3E}">
        <p14:creationId xmlns:p14="http://schemas.microsoft.com/office/powerpoint/2010/main" val="1157704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880E18-791A-163B-7A71-31B91E348C10}"/>
              </a:ext>
            </a:extLst>
          </p:cNvPr>
          <p:cNvSpPr>
            <a:spLocks noGrp="1"/>
          </p:cNvSpPr>
          <p:nvPr>
            <p:ph type="title"/>
          </p:nvPr>
        </p:nvSpPr>
        <p:spPr/>
        <p:txBody>
          <a:bodyPr/>
          <a:lstStyle/>
          <a:p>
            <a:r>
              <a:rPr lang="en-IN" dirty="0"/>
              <a:t>The Patterns</a:t>
            </a:r>
          </a:p>
        </p:txBody>
      </p:sp>
      <p:sp>
        <p:nvSpPr>
          <p:cNvPr id="3" name="Content Placeholder 2">
            <a:extLst>
              <a:ext uri="{FF2B5EF4-FFF2-40B4-BE49-F238E27FC236}">
                <a16:creationId xmlns:a16="http://schemas.microsoft.com/office/drawing/2014/main" xmlns="" id="{A0C0E9F5-5F38-F288-19E7-0249E78C9444}"/>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684313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190ADC-0731-48E9-4E29-AC988B621909}"/>
              </a:ext>
            </a:extLst>
          </p:cNvPr>
          <p:cNvSpPr>
            <a:spLocks noGrp="1"/>
          </p:cNvSpPr>
          <p:nvPr>
            <p:ph type="title"/>
          </p:nvPr>
        </p:nvSpPr>
        <p:spPr/>
        <p:txBody>
          <a:bodyPr/>
          <a:lstStyle/>
          <a:p>
            <a:r>
              <a:rPr lang="en-IN" b="1" dirty="0" err="1"/>
              <a:t>Center</a:t>
            </a:r>
            <a:r>
              <a:rPr lang="en-IN" b="1" dirty="0"/>
              <a:t> Stage</a:t>
            </a:r>
          </a:p>
        </p:txBody>
      </p:sp>
      <p:sp>
        <p:nvSpPr>
          <p:cNvPr id="3" name="Content Placeholder 2">
            <a:extLst>
              <a:ext uri="{FF2B5EF4-FFF2-40B4-BE49-F238E27FC236}">
                <a16:creationId xmlns:a16="http://schemas.microsoft.com/office/drawing/2014/main" xmlns="" id="{D4CC35FE-29A7-FA44-4737-BC1DE033A87E}"/>
              </a:ext>
            </a:extLst>
          </p:cNvPr>
          <p:cNvSpPr>
            <a:spLocks noGrp="1"/>
          </p:cNvSpPr>
          <p:nvPr>
            <p:ph idx="1"/>
          </p:nvPr>
        </p:nvSpPr>
        <p:spPr/>
        <p:txBody>
          <a:bodyPr/>
          <a:lstStyle/>
          <a:p>
            <a:r>
              <a:rPr lang="en-US" dirty="0"/>
              <a:t>Put the most important part of the UI into the largest subsection of the page or window; cluster secondary tools and content around it in smaller panels.</a:t>
            </a:r>
            <a:endParaRPr lang="en-IN" dirty="0"/>
          </a:p>
        </p:txBody>
      </p:sp>
      <p:pic>
        <p:nvPicPr>
          <p:cNvPr id="5" name="Picture 4">
            <a:extLst>
              <a:ext uri="{FF2B5EF4-FFF2-40B4-BE49-F238E27FC236}">
                <a16:creationId xmlns:a16="http://schemas.microsoft.com/office/drawing/2014/main" xmlns="" id="{5CF70FEB-AC37-3189-9BCA-FF866DC8E83E}"/>
              </a:ext>
            </a:extLst>
          </p:cNvPr>
          <p:cNvPicPr>
            <a:picLocks noChangeAspect="1"/>
          </p:cNvPicPr>
          <p:nvPr/>
        </p:nvPicPr>
        <p:blipFill>
          <a:blip r:embed="rId2"/>
          <a:stretch>
            <a:fillRect/>
          </a:stretch>
        </p:blipFill>
        <p:spPr>
          <a:xfrm>
            <a:off x="1731976" y="3429000"/>
            <a:ext cx="7135221" cy="2949677"/>
          </a:xfrm>
          <a:prstGeom prst="rect">
            <a:avLst/>
          </a:prstGeom>
        </p:spPr>
      </p:pic>
    </p:spTree>
    <p:extLst>
      <p:ext uri="{BB962C8B-B14F-4D97-AF65-F5344CB8AC3E}">
        <p14:creationId xmlns:p14="http://schemas.microsoft.com/office/powerpoint/2010/main" val="980724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3C864C-FC55-CA1B-7FC0-6A8CF626E21F}"/>
              </a:ext>
            </a:extLst>
          </p:cNvPr>
          <p:cNvSpPr>
            <a:spLocks noGrp="1"/>
          </p:cNvSpPr>
          <p:nvPr>
            <p:ph type="title"/>
          </p:nvPr>
        </p:nvSpPr>
        <p:spPr/>
        <p:txBody>
          <a:bodyPr/>
          <a:lstStyle/>
          <a:p>
            <a:r>
              <a:rPr lang="en-IN" b="1" dirty="0" err="1"/>
              <a:t>Center</a:t>
            </a:r>
            <a:r>
              <a:rPr lang="en-IN" b="1" dirty="0"/>
              <a:t> Stage</a:t>
            </a:r>
            <a:endParaRPr lang="en-IN" dirty="0"/>
          </a:p>
        </p:txBody>
      </p:sp>
      <p:sp>
        <p:nvSpPr>
          <p:cNvPr id="3" name="Content Placeholder 2">
            <a:extLst>
              <a:ext uri="{FF2B5EF4-FFF2-40B4-BE49-F238E27FC236}">
                <a16:creationId xmlns:a16="http://schemas.microsoft.com/office/drawing/2014/main" xmlns="" id="{95D2E9DA-DE1F-57DB-A2B2-45668B6C67B3}"/>
              </a:ext>
            </a:extLst>
          </p:cNvPr>
          <p:cNvSpPr>
            <a:spLocks noGrp="1"/>
          </p:cNvSpPr>
          <p:nvPr>
            <p:ph idx="1"/>
          </p:nvPr>
        </p:nvSpPr>
        <p:spPr>
          <a:xfrm>
            <a:off x="838199" y="1825625"/>
            <a:ext cx="10616381" cy="4351338"/>
          </a:xfrm>
        </p:spPr>
        <p:txBody>
          <a:bodyPr/>
          <a:lstStyle/>
          <a:p>
            <a:r>
              <a:rPr lang="en-US" dirty="0"/>
              <a:t>The page’s primary job is to show a single unit of coherent information to the user, let him edit a document, or enable him to perform a certain task. </a:t>
            </a:r>
          </a:p>
          <a:p>
            <a:r>
              <a:rPr lang="en-US" dirty="0"/>
              <a:t>Other content and functions are secondary to this one.</a:t>
            </a:r>
          </a:p>
          <a:p>
            <a:pPr marL="0" indent="0">
              <a:buNone/>
            </a:pPr>
            <a:r>
              <a:rPr lang="en-IN" b="1" dirty="0"/>
              <a:t>Why</a:t>
            </a:r>
          </a:p>
          <a:p>
            <a:pPr marL="0" indent="0">
              <a:buNone/>
            </a:pPr>
            <a:r>
              <a:rPr lang="en-US" dirty="0"/>
              <a:t>The design should guide the user’s eyes immediately to the start of the most important information (or task) rather than have them wandering over the page in confusion</a:t>
            </a:r>
            <a:endParaRPr lang="en-IN" dirty="0"/>
          </a:p>
        </p:txBody>
      </p:sp>
    </p:spTree>
    <p:extLst>
      <p:ext uri="{BB962C8B-B14F-4D97-AF65-F5344CB8AC3E}">
        <p14:creationId xmlns:p14="http://schemas.microsoft.com/office/powerpoint/2010/main" val="712529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B94284-904C-7EF8-39F8-C6481A1E6336}"/>
              </a:ext>
            </a:extLst>
          </p:cNvPr>
          <p:cNvSpPr>
            <a:spLocks noGrp="1"/>
          </p:cNvSpPr>
          <p:nvPr>
            <p:ph type="title"/>
          </p:nvPr>
        </p:nvSpPr>
        <p:spPr/>
        <p:txBody>
          <a:bodyPr/>
          <a:lstStyle/>
          <a:p>
            <a:r>
              <a:rPr lang="en-IN" dirty="0"/>
              <a:t>WHY</a:t>
            </a:r>
          </a:p>
        </p:txBody>
      </p:sp>
      <p:sp>
        <p:nvSpPr>
          <p:cNvPr id="3" name="Content Placeholder 2">
            <a:extLst>
              <a:ext uri="{FF2B5EF4-FFF2-40B4-BE49-F238E27FC236}">
                <a16:creationId xmlns:a16="http://schemas.microsoft.com/office/drawing/2014/main" xmlns="" id="{4E0DD160-9DA4-34A1-A447-281F172B7C56}"/>
              </a:ext>
            </a:extLst>
          </p:cNvPr>
          <p:cNvSpPr>
            <a:spLocks noGrp="1"/>
          </p:cNvSpPr>
          <p:nvPr>
            <p:ph idx="1"/>
          </p:nvPr>
        </p:nvSpPr>
        <p:spPr/>
        <p:txBody>
          <a:bodyPr/>
          <a:lstStyle/>
          <a:p>
            <a:r>
              <a:rPr lang="en-US" dirty="0"/>
              <a:t>A clear central entity in a user interface acts as an anchor for the user's attention, much like the lead sentence in a news article sets the stage for the content. </a:t>
            </a:r>
          </a:p>
          <a:p>
            <a:r>
              <a:rPr lang="en-US" dirty="0"/>
              <a:t>This focal point establishes the UI's purpose, allowing users to easily assess surrounding elements in relation to it. </a:t>
            </a:r>
          </a:p>
          <a:p>
            <a:r>
              <a:rPr lang="en-US" dirty="0"/>
              <a:t>Instead of scanning the page multiple times to determine the order and relevance of information, users can quickly understand how peripheral items connect to the central theme, enhancing their overall navigation and comprehension.</a:t>
            </a:r>
            <a:endParaRPr lang="en-IN" dirty="0"/>
          </a:p>
        </p:txBody>
      </p:sp>
    </p:spTree>
    <p:extLst>
      <p:ext uri="{BB962C8B-B14F-4D97-AF65-F5344CB8AC3E}">
        <p14:creationId xmlns:p14="http://schemas.microsoft.com/office/powerpoint/2010/main" val="3571155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4C1741-E905-0417-1CDE-9C12E657CCC7}"/>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a16="http://schemas.microsoft.com/office/drawing/2014/main" xmlns="" id="{B21DE719-7A9C-42A0-02F3-782DD0A26471}"/>
              </a:ext>
            </a:extLst>
          </p:cNvPr>
          <p:cNvSpPr>
            <a:spLocks noGrp="1"/>
          </p:cNvSpPr>
          <p:nvPr>
            <p:ph idx="1"/>
          </p:nvPr>
        </p:nvSpPr>
        <p:spPr/>
        <p:txBody>
          <a:bodyPr>
            <a:normAutofit fontScale="92500" lnSpcReduction="20000"/>
          </a:bodyPr>
          <a:lstStyle/>
          <a:p>
            <a:r>
              <a:rPr lang="en-US" dirty="0"/>
              <a:t>Establish a visual hierarchy with the primary content or document dominating everything else</a:t>
            </a:r>
          </a:p>
          <a:p>
            <a:r>
              <a:rPr lang="en-US" dirty="0"/>
              <a:t>When designing a Center Stage, consider following factors,</a:t>
            </a:r>
          </a:p>
          <a:p>
            <a:pPr>
              <a:buFont typeface="Wingdings" panose="05000000000000000000" pitchFamily="2" charset="2"/>
              <a:buChar char="Ø"/>
            </a:pPr>
            <a:r>
              <a:rPr lang="en-US" b="1" dirty="0"/>
              <a:t>Size - </a:t>
            </a:r>
            <a:r>
              <a:rPr lang="en-US" dirty="0"/>
              <a:t>The Center Stage content should be at least twice as wide as whatever’s in its side margins, and twice as tall as its top and bottom margins. </a:t>
            </a:r>
          </a:p>
          <a:p>
            <a:pPr>
              <a:buFont typeface="Wingdings" panose="05000000000000000000" pitchFamily="2" charset="2"/>
              <a:buChar char="Ø"/>
            </a:pPr>
            <a:r>
              <a:rPr lang="en-US" b="1" dirty="0"/>
              <a:t>Color- </a:t>
            </a:r>
            <a:r>
              <a:rPr lang="en-US" dirty="0"/>
              <a:t>Use a color that contrasts with the items in the margins. In desktop UIs, white works well against Windows gray, especially for tables and trees. </a:t>
            </a:r>
          </a:p>
          <a:p>
            <a:pPr marL="0" indent="0">
              <a:buNone/>
            </a:pPr>
            <a:r>
              <a:rPr lang="en-US" dirty="0"/>
              <a:t> 	As it happens, white often works in web pages too, since ads and navigation bars usually use other colors as their backgrounds; also, web users have been “trained” by convention to look for the plain text on a white background.</a:t>
            </a:r>
            <a:endParaRPr lang="en-IN" dirty="0"/>
          </a:p>
        </p:txBody>
      </p:sp>
    </p:spTree>
    <p:extLst>
      <p:ext uri="{BB962C8B-B14F-4D97-AF65-F5344CB8AC3E}">
        <p14:creationId xmlns:p14="http://schemas.microsoft.com/office/powerpoint/2010/main" val="1654467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8A3750-BA7E-BD50-37E6-AC9D243C90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C10E732-9144-8FBF-6FFD-11E3C8F0EB3C}"/>
              </a:ext>
            </a:extLst>
          </p:cNvPr>
          <p:cNvSpPr>
            <a:spLocks noGrp="1"/>
          </p:cNvSpPr>
          <p:nvPr>
            <p:ph idx="1"/>
          </p:nvPr>
        </p:nvSpPr>
        <p:spPr/>
        <p:txBody>
          <a:bodyPr/>
          <a:lstStyle/>
          <a:p>
            <a:pPr>
              <a:buFont typeface="Wingdings" panose="05000000000000000000" pitchFamily="2" charset="2"/>
              <a:buChar char="Ø"/>
            </a:pPr>
            <a:r>
              <a:rPr lang="en-US" b="1" dirty="0"/>
              <a:t>Headlines- </a:t>
            </a:r>
            <a:r>
              <a:rPr lang="en-US" dirty="0"/>
              <a:t>Big headlines are focal points, and can draw the user’s eye to the top of the Center Stage. </a:t>
            </a:r>
          </a:p>
          <a:p>
            <a:pPr>
              <a:buFont typeface="Wingdings" panose="05000000000000000000" pitchFamily="2" charset="2"/>
              <a:buChar char="Ø"/>
            </a:pPr>
            <a:r>
              <a:rPr lang="en-US" b="1" dirty="0"/>
              <a:t>Context- </a:t>
            </a:r>
            <a:r>
              <a:rPr lang="en-US" dirty="0"/>
              <a:t>What does the user expect to see when she opens up the page? A graphic editor? A long text article? A map? A filesystem tree? Work with her preconceptions; put that in Center Stage and make it recognizable.</a:t>
            </a:r>
          </a:p>
          <a:p>
            <a:endParaRPr lang="en-IN" dirty="0"/>
          </a:p>
        </p:txBody>
      </p:sp>
    </p:spTree>
    <p:extLst>
      <p:ext uri="{BB962C8B-B14F-4D97-AF65-F5344CB8AC3E}">
        <p14:creationId xmlns:p14="http://schemas.microsoft.com/office/powerpoint/2010/main" val="226057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60C831-242E-FBFA-43DA-12E3596AF212}"/>
              </a:ext>
            </a:extLst>
          </p:cNvPr>
          <p:cNvSpPr>
            <a:spLocks noGrp="1"/>
          </p:cNvSpPr>
          <p:nvPr>
            <p:ph type="title"/>
          </p:nvPr>
        </p:nvSpPr>
        <p:spPr>
          <a:xfrm>
            <a:off x="1333891" y="281993"/>
            <a:ext cx="10515600" cy="1325563"/>
          </a:xfrm>
        </p:spPr>
        <p:txBody>
          <a:bodyPr/>
          <a:lstStyle/>
          <a:p>
            <a:r>
              <a:rPr lang="en-IN" dirty="0"/>
              <a:t>Grid of Equals</a:t>
            </a:r>
          </a:p>
        </p:txBody>
      </p:sp>
      <p:sp>
        <p:nvSpPr>
          <p:cNvPr id="3" name="Content Placeholder 2">
            <a:extLst>
              <a:ext uri="{FF2B5EF4-FFF2-40B4-BE49-F238E27FC236}">
                <a16:creationId xmlns:a16="http://schemas.microsoft.com/office/drawing/2014/main" xmlns="" id="{4FB4C01C-2055-DF10-CFB4-E3190FBE955A}"/>
              </a:ext>
            </a:extLst>
          </p:cNvPr>
          <p:cNvSpPr>
            <a:spLocks noGrp="1"/>
          </p:cNvSpPr>
          <p:nvPr>
            <p:ph idx="1"/>
          </p:nvPr>
        </p:nvSpPr>
        <p:spPr/>
        <p:txBody>
          <a:bodyPr/>
          <a:lstStyle/>
          <a:p>
            <a:r>
              <a:rPr lang="en-US" dirty="0"/>
              <a:t>Arrange content items in a grid or matrix. Each item should follow a common template, and each item’s visual weight should be similar. Link to jump pages as necessary</a:t>
            </a:r>
            <a:endParaRPr lang="en-IN" dirty="0"/>
          </a:p>
        </p:txBody>
      </p:sp>
      <p:pic>
        <p:nvPicPr>
          <p:cNvPr id="5" name="Picture 4">
            <a:extLst>
              <a:ext uri="{FF2B5EF4-FFF2-40B4-BE49-F238E27FC236}">
                <a16:creationId xmlns:a16="http://schemas.microsoft.com/office/drawing/2014/main" xmlns="" id="{EB9C0C95-D273-E9E6-6D72-E56BE939D790}"/>
              </a:ext>
            </a:extLst>
          </p:cNvPr>
          <p:cNvPicPr>
            <a:picLocks noChangeAspect="1"/>
          </p:cNvPicPr>
          <p:nvPr/>
        </p:nvPicPr>
        <p:blipFill>
          <a:blip r:embed="rId2"/>
          <a:stretch>
            <a:fillRect/>
          </a:stretch>
        </p:blipFill>
        <p:spPr>
          <a:xfrm>
            <a:off x="1400259" y="3587327"/>
            <a:ext cx="7602011" cy="3124636"/>
          </a:xfrm>
          <a:prstGeom prst="rect">
            <a:avLst/>
          </a:prstGeom>
        </p:spPr>
      </p:pic>
    </p:spTree>
    <p:extLst>
      <p:ext uri="{BB962C8B-B14F-4D97-AF65-F5344CB8AC3E}">
        <p14:creationId xmlns:p14="http://schemas.microsoft.com/office/powerpoint/2010/main" val="2132862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5E1963-5572-7F8D-EF7D-11DD8FFB7C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D560F56-8A38-25A7-3381-B2876CC04F22}"/>
              </a:ext>
            </a:extLst>
          </p:cNvPr>
          <p:cNvSpPr>
            <a:spLocks noGrp="1"/>
          </p:cNvSpPr>
          <p:nvPr>
            <p:ph idx="1"/>
          </p:nvPr>
        </p:nvSpPr>
        <p:spPr/>
        <p:txBody>
          <a:bodyPr>
            <a:normAutofit fontScale="85000" lnSpcReduction="20000"/>
          </a:bodyPr>
          <a:lstStyle/>
          <a:p>
            <a:r>
              <a:rPr lang="en-US" dirty="0"/>
              <a:t>The page contains many content items that have similar style and importance, such as news articles, blog posts, products, or subject areas. </a:t>
            </a:r>
          </a:p>
          <a:p>
            <a:r>
              <a:rPr lang="en-US" dirty="0"/>
              <a:t>You want to present the viewer with rich opportunities to preview and select these items.</a:t>
            </a:r>
          </a:p>
          <a:p>
            <a:pPr marL="0" indent="0">
              <a:buNone/>
            </a:pPr>
            <a:r>
              <a:rPr lang="en-US" b="1" dirty="0"/>
              <a:t>WHY</a:t>
            </a:r>
          </a:p>
          <a:p>
            <a:r>
              <a:rPr lang="en-US" dirty="0"/>
              <a:t>A grid that gives each item equal space announces that they have equal importance. </a:t>
            </a:r>
          </a:p>
          <a:p>
            <a:r>
              <a:rPr lang="en-US" dirty="0"/>
              <a:t>The common template for items within the grid tells the user that the items are similar to each other. </a:t>
            </a:r>
          </a:p>
          <a:p>
            <a:r>
              <a:rPr lang="en-US" dirty="0"/>
              <a:t>Together, these techniques establish a powerful visual hierarchy that should match the semantics of your content.</a:t>
            </a:r>
          </a:p>
          <a:p>
            <a:r>
              <a:rPr lang="en-US" dirty="0"/>
              <a:t>Grids look neat, ordered, and calming. That may suit the style of your site or app.</a:t>
            </a:r>
            <a:endParaRPr lang="en-IN" dirty="0"/>
          </a:p>
        </p:txBody>
      </p:sp>
    </p:spTree>
    <p:extLst>
      <p:ext uri="{BB962C8B-B14F-4D97-AF65-F5344CB8AC3E}">
        <p14:creationId xmlns:p14="http://schemas.microsoft.com/office/powerpoint/2010/main" val="1970071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749EB9-39E6-7A0D-44F5-23503E51C4D4}"/>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a16="http://schemas.microsoft.com/office/drawing/2014/main" xmlns="" id="{D0B3684C-796F-D319-BEEA-37490C9794B0}"/>
              </a:ext>
            </a:extLst>
          </p:cNvPr>
          <p:cNvSpPr>
            <a:spLocks noGrp="1"/>
          </p:cNvSpPr>
          <p:nvPr>
            <p:ph idx="1"/>
          </p:nvPr>
        </p:nvSpPr>
        <p:spPr/>
        <p:txBody>
          <a:bodyPr>
            <a:normAutofit lnSpcReduction="10000"/>
          </a:bodyPr>
          <a:lstStyle/>
          <a:p>
            <a:r>
              <a:rPr lang="en-US" dirty="0"/>
              <a:t>Figure out how to lay out each item in the grid. </a:t>
            </a:r>
          </a:p>
          <a:p>
            <a:r>
              <a:rPr lang="en-US" dirty="0"/>
              <a:t>Do they have thumbnail images or graphics? Headlines, subheads, summary text? Links to jump pages (e.g., a page with the </a:t>
            </a:r>
            <a:r>
              <a:rPr lang="en-US" dirty="0" err="1"/>
              <a:t>fullstory</a:t>
            </a:r>
            <a:r>
              <a:rPr lang="en-US" dirty="0"/>
              <a:t>)? </a:t>
            </a:r>
          </a:p>
          <a:p>
            <a:r>
              <a:rPr lang="en-US" dirty="0"/>
              <a:t>To create an engaging layout, use colorful headlines for each section—blue for events and green for highlights. Add plenty of whitespace to keep it clean and readable. </a:t>
            </a:r>
          </a:p>
          <a:p>
            <a:r>
              <a:rPr lang="en-US" dirty="0"/>
              <a:t>Arrange the items in a grid with tall, wide, or square boxes, including images alongside the text.</a:t>
            </a:r>
          </a:p>
          <a:p>
            <a:r>
              <a:rPr lang="en-US" dirty="0"/>
              <a:t> This way, important details like dates and descriptions are clear and easy to find while making the overall presentation visually appealing.</a:t>
            </a:r>
            <a:endParaRPr lang="en-IN" dirty="0"/>
          </a:p>
        </p:txBody>
      </p:sp>
    </p:spTree>
    <p:extLst>
      <p:ext uri="{BB962C8B-B14F-4D97-AF65-F5344CB8AC3E}">
        <p14:creationId xmlns:p14="http://schemas.microsoft.com/office/powerpoint/2010/main" val="2666700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1CF73A-C412-BC27-719F-C763B210FE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A2E4A9E-4063-0C81-FC45-85F5C4815750}"/>
              </a:ext>
            </a:extLst>
          </p:cNvPr>
          <p:cNvSpPr>
            <a:spLocks noGrp="1"/>
          </p:cNvSpPr>
          <p:nvPr>
            <p:ph idx="1"/>
          </p:nvPr>
        </p:nvSpPr>
        <p:spPr/>
        <p:txBody>
          <a:bodyPr/>
          <a:lstStyle/>
          <a:p>
            <a:r>
              <a:rPr lang="en-US" dirty="0"/>
              <a:t>Arrange items in a grid with two or three items per row, making sure it looks good on narrow screens and mobile devices. </a:t>
            </a:r>
          </a:p>
          <a:p>
            <a:r>
              <a:rPr lang="en-US" dirty="0"/>
              <a:t>Use hover effects to highlight specific items with color changes, but keep their size and position the same. </a:t>
            </a:r>
          </a:p>
          <a:p>
            <a:r>
              <a:rPr lang="en-US" dirty="0"/>
              <a:t>This way, the design stays stable while still drawing attention to key elements, ensuring a smooth experience for users.</a:t>
            </a:r>
            <a:endParaRPr lang="en-IN" dirty="0"/>
          </a:p>
        </p:txBody>
      </p:sp>
    </p:spTree>
    <p:extLst>
      <p:ext uri="{BB962C8B-B14F-4D97-AF65-F5344CB8AC3E}">
        <p14:creationId xmlns:p14="http://schemas.microsoft.com/office/powerpoint/2010/main" val="1508867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523A6F-1349-C748-10A9-EAA23E74867B}"/>
              </a:ext>
            </a:extLst>
          </p:cNvPr>
          <p:cNvSpPr>
            <a:spLocks noGrp="1"/>
          </p:cNvSpPr>
          <p:nvPr>
            <p:ph type="title"/>
          </p:nvPr>
        </p:nvSpPr>
        <p:spPr/>
        <p:txBody>
          <a:bodyPr/>
          <a:lstStyle/>
          <a:p>
            <a:r>
              <a:rPr lang="en-IN" b="1" dirty="0"/>
              <a:t>Module Tabs</a:t>
            </a:r>
          </a:p>
        </p:txBody>
      </p:sp>
      <p:sp>
        <p:nvSpPr>
          <p:cNvPr id="3" name="Content Placeholder 2">
            <a:extLst>
              <a:ext uri="{FF2B5EF4-FFF2-40B4-BE49-F238E27FC236}">
                <a16:creationId xmlns:a16="http://schemas.microsoft.com/office/drawing/2014/main" xmlns="" id="{1DCEC1CA-0C7A-12E6-9114-B4D3494DFFDE}"/>
              </a:ext>
            </a:extLst>
          </p:cNvPr>
          <p:cNvSpPr>
            <a:spLocks noGrp="1"/>
          </p:cNvSpPr>
          <p:nvPr>
            <p:ph idx="1"/>
          </p:nvPr>
        </p:nvSpPr>
        <p:spPr/>
        <p:txBody>
          <a:bodyPr/>
          <a:lstStyle/>
          <a:p>
            <a:r>
              <a:rPr lang="en-US" dirty="0"/>
              <a:t>Put modules of content into a small tabbed area so that only one module is visible at a time. The user clicks on tabs to bring different modules to the top.</a:t>
            </a:r>
            <a:endParaRPr lang="en-IN" dirty="0"/>
          </a:p>
        </p:txBody>
      </p:sp>
      <p:pic>
        <p:nvPicPr>
          <p:cNvPr id="5" name="Picture 4">
            <a:extLst>
              <a:ext uri="{FF2B5EF4-FFF2-40B4-BE49-F238E27FC236}">
                <a16:creationId xmlns:a16="http://schemas.microsoft.com/office/drawing/2014/main" xmlns="" id="{306C3EA7-CCC9-3C68-AC37-91BC2D072666}"/>
              </a:ext>
            </a:extLst>
          </p:cNvPr>
          <p:cNvPicPr>
            <a:picLocks noChangeAspect="1"/>
          </p:cNvPicPr>
          <p:nvPr/>
        </p:nvPicPr>
        <p:blipFill>
          <a:blip r:embed="rId2"/>
          <a:stretch>
            <a:fillRect/>
          </a:stretch>
        </p:blipFill>
        <p:spPr>
          <a:xfrm>
            <a:off x="1943349" y="3184336"/>
            <a:ext cx="7440063" cy="3439005"/>
          </a:xfrm>
          <a:prstGeom prst="rect">
            <a:avLst/>
          </a:prstGeom>
        </p:spPr>
      </p:pic>
    </p:spTree>
    <p:extLst>
      <p:ext uri="{BB962C8B-B14F-4D97-AF65-F5344CB8AC3E}">
        <p14:creationId xmlns:p14="http://schemas.microsoft.com/office/powerpoint/2010/main" val="1419082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56E06E-9C1D-B973-4056-F80F38975A15}"/>
              </a:ext>
            </a:extLst>
          </p:cNvPr>
          <p:cNvSpPr>
            <a:spLocks noGrp="1"/>
          </p:cNvSpPr>
          <p:nvPr>
            <p:ph type="title"/>
          </p:nvPr>
        </p:nvSpPr>
        <p:spPr/>
        <p:txBody>
          <a:bodyPr/>
          <a:lstStyle/>
          <a:p>
            <a:r>
              <a:rPr lang="en-US" dirty="0"/>
              <a:t>Use when</a:t>
            </a:r>
            <a:br>
              <a:rPr lang="en-US" dirty="0"/>
            </a:br>
            <a:endParaRPr lang="en-IN" dirty="0"/>
          </a:p>
        </p:txBody>
      </p:sp>
      <p:sp>
        <p:nvSpPr>
          <p:cNvPr id="3" name="Content Placeholder 2">
            <a:extLst>
              <a:ext uri="{FF2B5EF4-FFF2-40B4-BE49-F238E27FC236}">
                <a16:creationId xmlns:a16="http://schemas.microsoft.com/office/drawing/2014/main" xmlns="" id="{047602E7-91AB-F7AC-A978-CE6D932ED7C5}"/>
              </a:ext>
            </a:extLst>
          </p:cNvPr>
          <p:cNvSpPr>
            <a:spLocks noGrp="1"/>
          </p:cNvSpPr>
          <p:nvPr>
            <p:ph idx="1"/>
          </p:nvPr>
        </p:nvSpPr>
        <p:spPr>
          <a:xfrm>
            <a:off x="838200" y="1484671"/>
            <a:ext cx="10515600" cy="4692292"/>
          </a:xfrm>
        </p:spPr>
        <p:txBody>
          <a:bodyPr>
            <a:normAutofit lnSpcReduction="10000"/>
          </a:bodyPr>
          <a:lstStyle/>
          <a:p>
            <a:r>
              <a:rPr lang="en-US" dirty="0"/>
              <a:t>You have a lot of heterogeneous content to show on the page, possibly including text blocks, lists, buttons, form controls, or images. You don’t have room for everything.</a:t>
            </a:r>
          </a:p>
          <a:p>
            <a:r>
              <a:rPr lang="en-US" dirty="0"/>
              <a:t>Some of the page content comes in groups or modules (or can be sorted into coherent groups). </a:t>
            </a:r>
          </a:p>
          <a:p>
            <a:r>
              <a:rPr lang="en-US" dirty="0"/>
              <a:t>Those modules have the following characteristics:</a:t>
            </a:r>
          </a:p>
          <a:p>
            <a:pPr lvl="1">
              <a:buFont typeface="Wingdings" panose="05000000000000000000" pitchFamily="2" charset="2"/>
              <a:buChar char="Ø"/>
            </a:pPr>
            <a:r>
              <a:rPr lang="en-US" dirty="0"/>
              <a:t>	Users only need to see one module at a time.</a:t>
            </a:r>
          </a:p>
          <a:p>
            <a:pPr lvl="1">
              <a:buFont typeface="Wingdings" panose="05000000000000000000" pitchFamily="2" charset="2"/>
              <a:buChar char="Ø"/>
            </a:pPr>
            <a:r>
              <a:rPr lang="en-US" dirty="0"/>
              <a:t>	They are of similar length and height.</a:t>
            </a:r>
          </a:p>
          <a:p>
            <a:pPr lvl="1">
              <a:buFont typeface="Wingdings" panose="05000000000000000000" pitchFamily="2" charset="2"/>
              <a:buChar char="Ø"/>
            </a:pPr>
            <a:r>
              <a:rPr lang="en-US" dirty="0"/>
              <a:t>	There aren’t many modules—fewer than 10, and preferably a small handful.</a:t>
            </a:r>
          </a:p>
          <a:p>
            <a:pPr lvl="1">
              <a:buFont typeface="Wingdings" panose="05000000000000000000" pitchFamily="2" charset="2"/>
              <a:buChar char="Ø"/>
            </a:pPr>
            <a:r>
              <a:rPr lang="en-US" dirty="0"/>
              <a:t>	The set of modules is fairly static; new pages won’t be added frequently, nor 	will existing pages be changed or removed frequently.</a:t>
            </a:r>
          </a:p>
          <a:p>
            <a:pPr lvl="1">
              <a:buFont typeface="Wingdings" panose="05000000000000000000" pitchFamily="2" charset="2"/>
              <a:buChar char="Ø"/>
            </a:pPr>
            <a:r>
              <a:rPr lang="en-US" dirty="0"/>
              <a:t>	 The modules’ contents may be related or similar to each other.</a:t>
            </a:r>
            <a:endParaRPr lang="en-IN" dirty="0"/>
          </a:p>
        </p:txBody>
      </p:sp>
    </p:spTree>
    <p:extLst>
      <p:ext uri="{BB962C8B-B14F-4D97-AF65-F5344CB8AC3E}">
        <p14:creationId xmlns:p14="http://schemas.microsoft.com/office/powerpoint/2010/main" val="382587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CEE23A-D4B1-A9E0-5996-7C919866551C}"/>
              </a:ext>
            </a:extLst>
          </p:cNvPr>
          <p:cNvSpPr>
            <a:spLocks noGrp="1"/>
          </p:cNvSpPr>
          <p:nvPr>
            <p:ph type="title"/>
          </p:nvPr>
        </p:nvSpPr>
        <p:spPr/>
        <p:txBody>
          <a:bodyPr/>
          <a:lstStyle/>
          <a:p>
            <a:r>
              <a:rPr lang="en-IN" dirty="0"/>
              <a:t>WHY</a:t>
            </a:r>
          </a:p>
        </p:txBody>
      </p:sp>
      <p:sp>
        <p:nvSpPr>
          <p:cNvPr id="3" name="Content Placeholder 2">
            <a:extLst>
              <a:ext uri="{FF2B5EF4-FFF2-40B4-BE49-F238E27FC236}">
                <a16:creationId xmlns:a16="http://schemas.microsoft.com/office/drawing/2014/main" xmlns="" id="{336A7FDC-22F1-CAEC-6144-595BAEAB7B7D}"/>
              </a:ext>
            </a:extLst>
          </p:cNvPr>
          <p:cNvSpPr>
            <a:spLocks noGrp="1"/>
          </p:cNvSpPr>
          <p:nvPr>
            <p:ph idx="1"/>
          </p:nvPr>
        </p:nvSpPr>
        <p:spPr/>
        <p:txBody>
          <a:bodyPr/>
          <a:lstStyle/>
          <a:p>
            <a:r>
              <a:rPr lang="en-US" dirty="0"/>
              <a:t>Tabs are common in desktop interfaces and websites, making them easy to understand. They effectively group and hide content, helping to declutter the interface. This way, users can easily switch between different sections without feeling confused</a:t>
            </a:r>
          </a:p>
          <a:p>
            <a:endParaRPr lang="en-IN" dirty="0"/>
          </a:p>
        </p:txBody>
      </p:sp>
    </p:spTree>
    <p:extLst>
      <p:ext uri="{BB962C8B-B14F-4D97-AF65-F5344CB8AC3E}">
        <p14:creationId xmlns:p14="http://schemas.microsoft.com/office/powerpoint/2010/main" val="1812789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924D27-F18D-D217-70AC-1D6778382DAC}"/>
              </a:ext>
            </a:extLst>
          </p:cNvPr>
          <p:cNvSpPr>
            <a:spLocks noGrp="1"/>
          </p:cNvSpPr>
          <p:nvPr>
            <p:ph type="title"/>
          </p:nvPr>
        </p:nvSpPr>
        <p:spPr/>
        <p:txBody>
          <a:bodyPr/>
          <a:lstStyle/>
          <a:p>
            <a:r>
              <a:rPr lang="en-IN" dirty="0"/>
              <a:t>How</a:t>
            </a:r>
          </a:p>
        </p:txBody>
      </p:sp>
      <p:sp>
        <p:nvSpPr>
          <p:cNvPr id="3" name="Content Placeholder 2">
            <a:extLst>
              <a:ext uri="{FF2B5EF4-FFF2-40B4-BE49-F238E27FC236}">
                <a16:creationId xmlns:a16="http://schemas.microsoft.com/office/drawing/2014/main" xmlns="" id="{CABD63F1-EBAB-80BC-886F-63BD17C3D7C0}"/>
              </a:ext>
            </a:extLst>
          </p:cNvPr>
          <p:cNvSpPr>
            <a:spLocks noGrp="1"/>
          </p:cNvSpPr>
          <p:nvPr>
            <p:ph idx="1"/>
          </p:nvPr>
        </p:nvSpPr>
        <p:spPr/>
        <p:txBody>
          <a:bodyPr>
            <a:normAutofit/>
          </a:bodyPr>
          <a:lstStyle/>
          <a:p>
            <a:r>
              <a:rPr lang="en-US" dirty="0"/>
              <a:t>First, get the information architecture right. Split up the content into coherent chunks, if it hasn’t already been done for you, and give them short, memorable titles (one or two words, if possible). </a:t>
            </a:r>
          </a:p>
          <a:p>
            <a:r>
              <a:rPr lang="en-US" dirty="0"/>
              <a:t>If you split up the content incorrectly, users will be forced to switch back and forth between tabs as they compare them or look for information they can’t find. </a:t>
            </a:r>
          </a:p>
          <a:p>
            <a:r>
              <a:rPr lang="en-US" dirty="0"/>
              <a:t>Indicate the selected tab unambiguously, such as by making it contiguous with the panel itself.</a:t>
            </a:r>
            <a:endParaRPr lang="en-IN" dirty="0"/>
          </a:p>
        </p:txBody>
      </p:sp>
    </p:spTree>
    <p:extLst>
      <p:ext uri="{BB962C8B-B14F-4D97-AF65-F5344CB8AC3E}">
        <p14:creationId xmlns:p14="http://schemas.microsoft.com/office/powerpoint/2010/main" val="14764562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AE73CE-2D80-F0A1-ED45-D5EA562421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E8D95B9-9EDB-2F23-D129-A7BB3778818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61271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3175</TotalTime>
  <Words>2002</Words>
  <Application>Microsoft Office PowerPoint</Application>
  <PresentationFormat>Custom</PresentationFormat>
  <Paragraphs>119</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MODULE 4</vt:lpstr>
      <vt:lpstr>PowerPoint Presentation</vt:lpstr>
      <vt:lpstr>The Basics of Page Layout</vt:lpstr>
      <vt:lpstr>Visual Hierarchy: What’s Important? What’s Related?</vt:lpstr>
      <vt:lpstr>How to make things look important</vt:lpstr>
      <vt:lpstr>PowerPoint Presentation</vt:lpstr>
      <vt:lpstr>PowerPoint Presentation</vt:lpstr>
      <vt:lpstr>PowerPoint Presentation</vt:lpstr>
      <vt:lpstr>PowerPoint Presentation</vt:lpstr>
      <vt:lpstr>How to show relationships among page elements</vt:lpstr>
      <vt:lpstr>PowerPoint Presentation</vt:lpstr>
      <vt:lpstr>PowerPoint Presentation</vt:lpstr>
      <vt:lpstr>PowerPoint Presentation</vt:lpstr>
      <vt:lpstr>Visual Flow: What Should I Look at Next?</vt:lpstr>
      <vt:lpstr>So how do you create a good visual flow?</vt:lpstr>
      <vt:lpstr>PowerPoint Presentation</vt:lpstr>
      <vt:lpstr>PowerPoint Presentation</vt:lpstr>
      <vt:lpstr>Using Dynamic Displays</vt:lpstr>
      <vt:lpstr>Using Dynamic Displays</vt:lpstr>
      <vt:lpstr>The Patterns</vt:lpstr>
      <vt:lpstr>Center Stage</vt:lpstr>
      <vt:lpstr>Center Stage</vt:lpstr>
      <vt:lpstr>WHY</vt:lpstr>
      <vt:lpstr>HOW</vt:lpstr>
      <vt:lpstr>PowerPoint Presentation</vt:lpstr>
      <vt:lpstr>Grid of Equals</vt:lpstr>
      <vt:lpstr>PowerPoint Presentation</vt:lpstr>
      <vt:lpstr>HOW</vt:lpstr>
      <vt:lpstr>PowerPoint Presentation</vt:lpstr>
      <vt:lpstr>Module Tabs</vt:lpstr>
      <vt:lpstr>Use when </vt:lpstr>
      <vt:lpstr>WHY</vt:lpstr>
      <vt:lpstr>How</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HONEY JOHN</dc:creator>
  <cp:lastModifiedBy>Susmitha John</cp:lastModifiedBy>
  <cp:revision>7</cp:revision>
  <dcterms:created xsi:type="dcterms:W3CDTF">2024-09-26T14:36:14Z</dcterms:created>
  <dcterms:modified xsi:type="dcterms:W3CDTF">2025-09-27T10:18:23Z</dcterms:modified>
</cp:coreProperties>
</file>