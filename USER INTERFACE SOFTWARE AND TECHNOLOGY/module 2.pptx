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7" r:id="rId6"/>
    <p:sldId id="260" r:id="rId7"/>
    <p:sldId id="261" r:id="rId8"/>
    <p:sldId id="262" r:id="rId9"/>
    <p:sldId id="263" r:id="rId10"/>
    <p:sldId id="264" r:id="rId11"/>
    <p:sldId id="266" r:id="rId12"/>
    <p:sldId id="269" r:id="rId13"/>
    <p:sldId id="265" r:id="rId14"/>
    <p:sldId id="270" r:id="rId15"/>
    <p:sldId id="271" r:id="rId16"/>
    <p:sldId id="272" r:id="rId17"/>
    <p:sldId id="273" r:id="rId18"/>
    <p:sldId id="278" r:id="rId19"/>
    <p:sldId id="277" r:id="rId20"/>
    <p:sldId id="274" r:id="rId21"/>
    <p:sldId id="275" r:id="rId22"/>
    <p:sldId id="284" r:id="rId23"/>
    <p:sldId id="279" r:id="rId24"/>
    <p:sldId id="280" r:id="rId25"/>
    <p:sldId id="281" r:id="rId26"/>
    <p:sldId id="282" r:id="rId27"/>
    <p:sldId id="283" r:id="rId28"/>
    <p:sldId id="285" r:id="rId29"/>
    <p:sldId id="286" r:id="rId30"/>
    <p:sldId id="287" r:id="rId31"/>
    <p:sldId id="289" r:id="rId32"/>
    <p:sldId id="290" r:id="rId33"/>
    <p:sldId id="291" r:id="rId34"/>
    <p:sldId id="292" r:id="rId35"/>
    <p:sldId id="293" r:id="rId36"/>
    <p:sldId id="294" r:id="rId37"/>
    <p:sldId id="295" r:id="rId38"/>
    <p:sldId id="296" r:id="rId39"/>
    <p:sldId id="297" r:id="rId40"/>
    <p:sldId id="298" r:id="rId41"/>
    <p:sldId id="352" r:id="rId42"/>
    <p:sldId id="353" r:id="rId43"/>
    <p:sldId id="354" r:id="rId44"/>
    <p:sldId id="355" r:id="rId45"/>
    <p:sldId id="356" r:id="rId46"/>
    <p:sldId id="357" r:id="rId47"/>
    <p:sldId id="358" r:id="rId48"/>
    <p:sldId id="359" r:id="rId49"/>
    <p:sldId id="360" r:id="rId50"/>
    <p:sldId id="361" r:id="rId51"/>
    <p:sldId id="362" r:id="rId52"/>
    <p:sldId id="363" r:id="rId53"/>
    <p:sldId id="300" r:id="rId54"/>
    <p:sldId id="303" r:id="rId55"/>
    <p:sldId id="305" r:id="rId56"/>
    <p:sldId id="306" r:id="rId57"/>
    <p:sldId id="307" r:id="rId58"/>
    <p:sldId id="308" r:id="rId59"/>
    <p:sldId id="311" r:id="rId60"/>
    <p:sldId id="313" r:id="rId61"/>
    <p:sldId id="314" r:id="rId62"/>
    <p:sldId id="315" r:id="rId63"/>
    <p:sldId id="316" r:id="rId64"/>
    <p:sldId id="317" r:id="rId65"/>
    <p:sldId id="318" r:id="rId66"/>
    <p:sldId id="319" r:id="rId67"/>
    <p:sldId id="320" r:id="rId68"/>
    <p:sldId id="323" r:id="rId69"/>
    <p:sldId id="324" r:id="rId70"/>
    <p:sldId id="325" r:id="rId71"/>
    <p:sldId id="326" r:id="rId72"/>
    <p:sldId id="327" r:id="rId73"/>
    <p:sldId id="332" r:id="rId74"/>
    <p:sldId id="328" r:id="rId75"/>
    <p:sldId id="329" r:id="rId76"/>
    <p:sldId id="331" r:id="rId77"/>
    <p:sldId id="330" r:id="rId78"/>
    <p:sldId id="333" r:id="rId79"/>
    <p:sldId id="334" r:id="rId80"/>
    <p:sldId id="335" r:id="rId81"/>
    <p:sldId id="336" r:id="rId82"/>
    <p:sldId id="341" r:id="rId83"/>
    <p:sldId id="338" r:id="rId84"/>
    <p:sldId id="348" r:id="rId85"/>
    <p:sldId id="340" r:id="rId86"/>
    <p:sldId id="342" r:id="rId87"/>
    <p:sldId id="344" r:id="rId88"/>
    <p:sldId id="339" r:id="rId89"/>
    <p:sldId id="337" r:id="rId90"/>
    <p:sldId id="343" r:id="rId91"/>
    <p:sldId id="345" r:id="rId92"/>
    <p:sldId id="346" r:id="rId93"/>
    <p:sldId id="347" r:id="rId94"/>
    <p:sldId id="349" r:id="rId95"/>
    <p:sldId id="350" r:id="rId96"/>
    <p:sldId id="351" r:id="rId9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45A2F-D2A0-BEC9-255C-1C3EEB2F34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219C7EE-F095-6530-8C45-A31A46E595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558603C-B61D-1F93-182B-F2C1F1B89F03}"/>
              </a:ext>
            </a:extLst>
          </p:cNvPr>
          <p:cNvSpPr>
            <a:spLocks noGrp="1"/>
          </p:cNvSpPr>
          <p:nvPr>
            <p:ph type="dt" sz="half" idx="10"/>
          </p:nvPr>
        </p:nvSpPr>
        <p:spPr/>
        <p:txBody>
          <a:bodyPr/>
          <a:lstStyle/>
          <a:p>
            <a:fld id="{71C30216-0DAE-495C-84A6-0380423B0139}" type="datetimeFigureOut">
              <a:rPr lang="en-IN" smtClean="0"/>
              <a:t>03-09-2024</a:t>
            </a:fld>
            <a:endParaRPr lang="en-IN"/>
          </a:p>
        </p:txBody>
      </p:sp>
      <p:sp>
        <p:nvSpPr>
          <p:cNvPr id="5" name="Footer Placeholder 4">
            <a:extLst>
              <a:ext uri="{FF2B5EF4-FFF2-40B4-BE49-F238E27FC236}">
                <a16:creationId xmlns:a16="http://schemas.microsoft.com/office/drawing/2014/main" id="{4C34795E-31E9-54EB-739A-8322021F7D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153B4D-DA30-B6C5-300B-9130F8AA2B02}"/>
              </a:ext>
            </a:extLst>
          </p:cNvPr>
          <p:cNvSpPr>
            <a:spLocks noGrp="1"/>
          </p:cNvSpPr>
          <p:nvPr>
            <p:ph type="sldNum" sz="quarter" idx="12"/>
          </p:nvPr>
        </p:nvSpPr>
        <p:spPr/>
        <p:txBody>
          <a:bodyPr/>
          <a:lstStyle/>
          <a:p>
            <a:fld id="{E38AF5F2-897C-4B3E-868C-67D9BD01A614}" type="slidenum">
              <a:rPr lang="en-IN" smtClean="0"/>
              <a:t>‹#›</a:t>
            </a:fld>
            <a:endParaRPr lang="en-IN"/>
          </a:p>
        </p:txBody>
      </p:sp>
    </p:spTree>
    <p:extLst>
      <p:ext uri="{BB962C8B-B14F-4D97-AF65-F5344CB8AC3E}">
        <p14:creationId xmlns:p14="http://schemas.microsoft.com/office/powerpoint/2010/main" val="1601560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275CA-C0BB-8DC4-196F-1C2C98A8E3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5D1926-4F4C-BD9A-A81A-200E42DD6D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EF1A42-2513-E9C1-B22A-1BF949EF88EE}"/>
              </a:ext>
            </a:extLst>
          </p:cNvPr>
          <p:cNvSpPr>
            <a:spLocks noGrp="1"/>
          </p:cNvSpPr>
          <p:nvPr>
            <p:ph type="dt" sz="half" idx="10"/>
          </p:nvPr>
        </p:nvSpPr>
        <p:spPr/>
        <p:txBody>
          <a:bodyPr/>
          <a:lstStyle/>
          <a:p>
            <a:fld id="{71C30216-0DAE-495C-84A6-0380423B0139}" type="datetimeFigureOut">
              <a:rPr lang="en-IN" smtClean="0"/>
              <a:t>03-09-2024</a:t>
            </a:fld>
            <a:endParaRPr lang="en-IN"/>
          </a:p>
        </p:txBody>
      </p:sp>
      <p:sp>
        <p:nvSpPr>
          <p:cNvPr id="5" name="Footer Placeholder 4">
            <a:extLst>
              <a:ext uri="{FF2B5EF4-FFF2-40B4-BE49-F238E27FC236}">
                <a16:creationId xmlns:a16="http://schemas.microsoft.com/office/drawing/2014/main" id="{1CF83EA7-BEEA-2DFC-EBEE-23F3E65C38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6DCB77-D78B-5FD3-775F-37853D325A92}"/>
              </a:ext>
            </a:extLst>
          </p:cNvPr>
          <p:cNvSpPr>
            <a:spLocks noGrp="1"/>
          </p:cNvSpPr>
          <p:nvPr>
            <p:ph type="sldNum" sz="quarter" idx="12"/>
          </p:nvPr>
        </p:nvSpPr>
        <p:spPr/>
        <p:txBody>
          <a:bodyPr/>
          <a:lstStyle/>
          <a:p>
            <a:fld id="{E38AF5F2-897C-4B3E-868C-67D9BD01A614}" type="slidenum">
              <a:rPr lang="en-IN" smtClean="0"/>
              <a:t>‹#›</a:t>
            </a:fld>
            <a:endParaRPr lang="en-IN"/>
          </a:p>
        </p:txBody>
      </p:sp>
    </p:spTree>
    <p:extLst>
      <p:ext uri="{BB962C8B-B14F-4D97-AF65-F5344CB8AC3E}">
        <p14:creationId xmlns:p14="http://schemas.microsoft.com/office/powerpoint/2010/main" val="3089357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A0A18-8252-48E2-6CB8-97BEBDEC23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D55A254-7C17-EE00-8898-5843AC2510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D25F27-8292-29A2-8B6C-C08A534AEB55}"/>
              </a:ext>
            </a:extLst>
          </p:cNvPr>
          <p:cNvSpPr>
            <a:spLocks noGrp="1"/>
          </p:cNvSpPr>
          <p:nvPr>
            <p:ph type="dt" sz="half" idx="10"/>
          </p:nvPr>
        </p:nvSpPr>
        <p:spPr/>
        <p:txBody>
          <a:bodyPr/>
          <a:lstStyle/>
          <a:p>
            <a:fld id="{71C30216-0DAE-495C-84A6-0380423B0139}" type="datetimeFigureOut">
              <a:rPr lang="en-IN" smtClean="0"/>
              <a:t>03-09-2024</a:t>
            </a:fld>
            <a:endParaRPr lang="en-IN"/>
          </a:p>
        </p:txBody>
      </p:sp>
      <p:sp>
        <p:nvSpPr>
          <p:cNvPr id="5" name="Footer Placeholder 4">
            <a:extLst>
              <a:ext uri="{FF2B5EF4-FFF2-40B4-BE49-F238E27FC236}">
                <a16:creationId xmlns:a16="http://schemas.microsoft.com/office/drawing/2014/main" id="{992154E5-1501-B8ED-1502-D516963D1D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88355B-FBDE-5748-6BAB-A4CA1F6BEC36}"/>
              </a:ext>
            </a:extLst>
          </p:cNvPr>
          <p:cNvSpPr>
            <a:spLocks noGrp="1"/>
          </p:cNvSpPr>
          <p:nvPr>
            <p:ph type="sldNum" sz="quarter" idx="12"/>
          </p:nvPr>
        </p:nvSpPr>
        <p:spPr/>
        <p:txBody>
          <a:bodyPr/>
          <a:lstStyle/>
          <a:p>
            <a:fld id="{E38AF5F2-897C-4B3E-868C-67D9BD01A614}" type="slidenum">
              <a:rPr lang="en-IN" smtClean="0"/>
              <a:t>‹#›</a:t>
            </a:fld>
            <a:endParaRPr lang="en-IN"/>
          </a:p>
        </p:txBody>
      </p:sp>
    </p:spTree>
    <p:extLst>
      <p:ext uri="{BB962C8B-B14F-4D97-AF65-F5344CB8AC3E}">
        <p14:creationId xmlns:p14="http://schemas.microsoft.com/office/powerpoint/2010/main" val="1795478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AF660-6083-AFCC-21A9-7BD4245FAA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316EAE-218C-A647-6919-C233F98250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5FF85EA-E006-273D-BE2B-B1240F6BAC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F75212F-CFCE-470C-7F2E-DFF13322330C}"/>
              </a:ext>
            </a:extLst>
          </p:cNvPr>
          <p:cNvSpPr>
            <a:spLocks noGrp="1"/>
          </p:cNvSpPr>
          <p:nvPr>
            <p:ph type="dt" sz="half" idx="10"/>
          </p:nvPr>
        </p:nvSpPr>
        <p:spPr/>
        <p:txBody>
          <a:bodyPr/>
          <a:lstStyle/>
          <a:p>
            <a:fld id="{71C30216-0DAE-495C-84A6-0380423B0139}" type="datetimeFigureOut">
              <a:rPr lang="en-IN" smtClean="0"/>
              <a:t>03-09-2024</a:t>
            </a:fld>
            <a:endParaRPr lang="en-IN"/>
          </a:p>
        </p:txBody>
      </p:sp>
      <p:sp>
        <p:nvSpPr>
          <p:cNvPr id="6" name="Footer Placeholder 5">
            <a:extLst>
              <a:ext uri="{FF2B5EF4-FFF2-40B4-BE49-F238E27FC236}">
                <a16:creationId xmlns:a16="http://schemas.microsoft.com/office/drawing/2014/main" id="{F30C5A65-4A34-8F49-C90C-4DA988A29E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5C4626-734F-5BC6-6824-A63ECCB3F127}"/>
              </a:ext>
            </a:extLst>
          </p:cNvPr>
          <p:cNvSpPr>
            <a:spLocks noGrp="1"/>
          </p:cNvSpPr>
          <p:nvPr>
            <p:ph type="sldNum" sz="quarter" idx="12"/>
          </p:nvPr>
        </p:nvSpPr>
        <p:spPr/>
        <p:txBody>
          <a:bodyPr/>
          <a:lstStyle/>
          <a:p>
            <a:fld id="{E38AF5F2-897C-4B3E-868C-67D9BD01A614}" type="slidenum">
              <a:rPr lang="en-IN" smtClean="0"/>
              <a:t>‹#›</a:t>
            </a:fld>
            <a:endParaRPr lang="en-IN"/>
          </a:p>
        </p:txBody>
      </p:sp>
    </p:spTree>
    <p:extLst>
      <p:ext uri="{BB962C8B-B14F-4D97-AF65-F5344CB8AC3E}">
        <p14:creationId xmlns:p14="http://schemas.microsoft.com/office/powerpoint/2010/main" val="1183457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F305B-9D41-AF9D-2D7C-322DFDD45E1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ECA643-6BE6-D1BD-BDF6-FF58CACDB8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D12702-BBD5-37C5-75C1-D9F75D27A4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EDE9A7A-2252-BC1E-582C-7FBECC6480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C0BF21-026D-40AF-CED9-98B946D0F0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0480EE-74E2-D57A-3AA7-50D2658DA41B}"/>
              </a:ext>
            </a:extLst>
          </p:cNvPr>
          <p:cNvSpPr>
            <a:spLocks noGrp="1"/>
          </p:cNvSpPr>
          <p:nvPr>
            <p:ph type="dt" sz="half" idx="10"/>
          </p:nvPr>
        </p:nvSpPr>
        <p:spPr/>
        <p:txBody>
          <a:bodyPr/>
          <a:lstStyle/>
          <a:p>
            <a:fld id="{71C30216-0DAE-495C-84A6-0380423B0139}" type="datetimeFigureOut">
              <a:rPr lang="en-IN" smtClean="0"/>
              <a:t>03-09-2024</a:t>
            </a:fld>
            <a:endParaRPr lang="en-IN"/>
          </a:p>
        </p:txBody>
      </p:sp>
      <p:sp>
        <p:nvSpPr>
          <p:cNvPr id="8" name="Footer Placeholder 7">
            <a:extLst>
              <a:ext uri="{FF2B5EF4-FFF2-40B4-BE49-F238E27FC236}">
                <a16:creationId xmlns:a16="http://schemas.microsoft.com/office/drawing/2014/main" id="{E325F73F-1AC4-B22E-1A6A-290A50B854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6304175-A0DA-2807-9425-5A2914412B23}"/>
              </a:ext>
            </a:extLst>
          </p:cNvPr>
          <p:cNvSpPr>
            <a:spLocks noGrp="1"/>
          </p:cNvSpPr>
          <p:nvPr>
            <p:ph type="sldNum" sz="quarter" idx="12"/>
          </p:nvPr>
        </p:nvSpPr>
        <p:spPr/>
        <p:txBody>
          <a:bodyPr/>
          <a:lstStyle/>
          <a:p>
            <a:fld id="{E38AF5F2-897C-4B3E-868C-67D9BD01A614}" type="slidenum">
              <a:rPr lang="en-IN" smtClean="0"/>
              <a:t>‹#›</a:t>
            </a:fld>
            <a:endParaRPr lang="en-IN"/>
          </a:p>
        </p:txBody>
      </p:sp>
    </p:spTree>
    <p:extLst>
      <p:ext uri="{BB962C8B-B14F-4D97-AF65-F5344CB8AC3E}">
        <p14:creationId xmlns:p14="http://schemas.microsoft.com/office/powerpoint/2010/main" val="3667816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DA9D4-658F-2399-7503-65E8CB09844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17053E6-6512-D4AE-BF56-3E935BF6FDAA}"/>
              </a:ext>
            </a:extLst>
          </p:cNvPr>
          <p:cNvSpPr>
            <a:spLocks noGrp="1"/>
          </p:cNvSpPr>
          <p:nvPr>
            <p:ph type="dt" sz="half" idx="10"/>
          </p:nvPr>
        </p:nvSpPr>
        <p:spPr/>
        <p:txBody>
          <a:bodyPr/>
          <a:lstStyle/>
          <a:p>
            <a:fld id="{71C30216-0DAE-495C-84A6-0380423B0139}" type="datetimeFigureOut">
              <a:rPr lang="en-IN" smtClean="0"/>
              <a:t>03-09-2024</a:t>
            </a:fld>
            <a:endParaRPr lang="en-IN"/>
          </a:p>
        </p:txBody>
      </p:sp>
      <p:sp>
        <p:nvSpPr>
          <p:cNvPr id="4" name="Footer Placeholder 3">
            <a:extLst>
              <a:ext uri="{FF2B5EF4-FFF2-40B4-BE49-F238E27FC236}">
                <a16:creationId xmlns:a16="http://schemas.microsoft.com/office/drawing/2014/main" id="{A31C0260-64D3-B7C8-37E9-55CD977DBE9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06B5A31-0034-D260-32EF-693914357644}"/>
              </a:ext>
            </a:extLst>
          </p:cNvPr>
          <p:cNvSpPr>
            <a:spLocks noGrp="1"/>
          </p:cNvSpPr>
          <p:nvPr>
            <p:ph type="sldNum" sz="quarter" idx="12"/>
          </p:nvPr>
        </p:nvSpPr>
        <p:spPr/>
        <p:txBody>
          <a:bodyPr/>
          <a:lstStyle/>
          <a:p>
            <a:fld id="{E38AF5F2-897C-4B3E-868C-67D9BD01A614}" type="slidenum">
              <a:rPr lang="en-IN" smtClean="0"/>
              <a:t>‹#›</a:t>
            </a:fld>
            <a:endParaRPr lang="en-IN"/>
          </a:p>
        </p:txBody>
      </p:sp>
    </p:spTree>
    <p:extLst>
      <p:ext uri="{BB962C8B-B14F-4D97-AF65-F5344CB8AC3E}">
        <p14:creationId xmlns:p14="http://schemas.microsoft.com/office/powerpoint/2010/main" val="4242815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CB6165-28B8-83B5-38DE-E7C2F81605A3}"/>
              </a:ext>
            </a:extLst>
          </p:cNvPr>
          <p:cNvSpPr>
            <a:spLocks noGrp="1"/>
          </p:cNvSpPr>
          <p:nvPr>
            <p:ph type="dt" sz="half" idx="10"/>
          </p:nvPr>
        </p:nvSpPr>
        <p:spPr/>
        <p:txBody>
          <a:bodyPr/>
          <a:lstStyle/>
          <a:p>
            <a:fld id="{71C30216-0DAE-495C-84A6-0380423B0139}" type="datetimeFigureOut">
              <a:rPr lang="en-IN" smtClean="0"/>
              <a:t>03-09-2024</a:t>
            </a:fld>
            <a:endParaRPr lang="en-IN"/>
          </a:p>
        </p:txBody>
      </p:sp>
      <p:sp>
        <p:nvSpPr>
          <p:cNvPr id="3" name="Footer Placeholder 2">
            <a:extLst>
              <a:ext uri="{FF2B5EF4-FFF2-40B4-BE49-F238E27FC236}">
                <a16:creationId xmlns:a16="http://schemas.microsoft.com/office/drawing/2014/main" id="{08CB6086-FC1A-CF0E-4C3C-429B354B044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60DF02-9D86-421C-0E42-E6BC50902C1B}"/>
              </a:ext>
            </a:extLst>
          </p:cNvPr>
          <p:cNvSpPr>
            <a:spLocks noGrp="1"/>
          </p:cNvSpPr>
          <p:nvPr>
            <p:ph type="sldNum" sz="quarter" idx="12"/>
          </p:nvPr>
        </p:nvSpPr>
        <p:spPr/>
        <p:txBody>
          <a:bodyPr/>
          <a:lstStyle/>
          <a:p>
            <a:fld id="{E38AF5F2-897C-4B3E-868C-67D9BD01A614}" type="slidenum">
              <a:rPr lang="en-IN" smtClean="0"/>
              <a:t>‹#›</a:t>
            </a:fld>
            <a:endParaRPr lang="en-IN"/>
          </a:p>
        </p:txBody>
      </p:sp>
    </p:spTree>
    <p:extLst>
      <p:ext uri="{BB962C8B-B14F-4D97-AF65-F5344CB8AC3E}">
        <p14:creationId xmlns:p14="http://schemas.microsoft.com/office/powerpoint/2010/main" val="2805216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7041E-2552-0093-97D1-49A50FD48D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015F8B0-515A-BAE5-3973-F8DEC10175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323FE20-DB44-6F2E-1B29-573AAB3B13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541B76-C320-88CD-6513-D92B96DA9EF2}"/>
              </a:ext>
            </a:extLst>
          </p:cNvPr>
          <p:cNvSpPr>
            <a:spLocks noGrp="1"/>
          </p:cNvSpPr>
          <p:nvPr>
            <p:ph type="dt" sz="half" idx="10"/>
          </p:nvPr>
        </p:nvSpPr>
        <p:spPr/>
        <p:txBody>
          <a:bodyPr/>
          <a:lstStyle/>
          <a:p>
            <a:fld id="{71C30216-0DAE-495C-84A6-0380423B0139}" type="datetimeFigureOut">
              <a:rPr lang="en-IN" smtClean="0"/>
              <a:t>03-09-2024</a:t>
            </a:fld>
            <a:endParaRPr lang="en-IN"/>
          </a:p>
        </p:txBody>
      </p:sp>
      <p:sp>
        <p:nvSpPr>
          <p:cNvPr id="6" name="Footer Placeholder 5">
            <a:extLst>
              <a:ext uri="{FF2B5EF4-FFF2-40B4-BE49-F238E27FC236}">
                <a16:creationId xmlns:a16="http://schemas.microsoft.com/office/drawing/2014/main" id="{3C6F2B8A-D99B-9BA9-7EDD-D70BAC902E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508205-8EC1-C891-C5CD-F1F64A4A7B39}"/>
              </a:ext>
            </a:extLst>
          </p:cNvPr>
          <p:cNvSpPr>
            <a:spLocks noGrp="1"/>
          </p:cNvSpPr>
          <p:nvPr>
            <p:ph type="sldNum" sz="quarter" idx="12"/>
          </p:nvPr>
        </p:nvSpPr>
        <p:spPr/>
        <p:txBody>
          <a:bodyPr/>
          <a:lstStyle/>
          <a:p>
            <a:fld id="{E38AF5F2-897C-4B3E-868C-67D9BD01A614}" type="slidenum">
              <a:rPr lang="en-IN" smtClean="0"/>
              <a:t>‹#›</a:t>
            </a:fld>
            <a:endParaRPr lang="en-IN"/>
          </a:p>
        </p:txBody>
      </p:sp>
    </p:spTree>
    <p:extLst>
      <p:ext uri="{BB962C8B-B14F-4D97-AF65-F5344CB8AC3E}">
        <p14:creationId xmlns:p14="http://schemas.microsoft.com/office/powerpoint/2010/main" val="2500120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4F5A6-4C0D-6ABF-226E-CB92183699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9001482-3C22-BF3B-827A-F2B37BDDF4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C2BDAC7-7002-6CF4-28E6-04B06F218D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9DACF0-248C-D39D-B9BA-2162D4F4520F}"/>
              </a:ext>
            </a:extLst>
          </p:cNvPr>
          <p:cNvSpPr>
            <a:spLocks noGrp="1"/>
          </p:cNvSpPr>
          <p:nvPr>
            <p:ph type="dt" sz="half" idx="10"/>
          </p:nvPr>
        </p:nvSpPr>
        <p:spPr/>
        <p:txBody>
          <a:bodyPr/>
          <a:lstStyle/>
          <a:p>
            <a:fld id="{71C30216-0DAE-495C-84A6-0380423B0139}" type="datetimeFigureOut">
              <a:rPr lang="en-IN" smtClean="0"/>
              <a:t>03-09-2024</a:t>
            </a:fld>
            <a:endParaRPr lang="en-IN"/>
          </a:p>
        </p:txBody>
      </p:sp>
      <p:sp>
        <p:nvSpPr>
          <p:cNvPr id="6" name="Footer Placeholder 5">
            <a:extLst>
              <a:ext uri="{FF2B5EF4-FFF2-40B4-BE49-F238E27FC236}">
                <a16:creationId xmlns:a16="http://schemas.microsoft.com/office/drawing/2014/main" id="{792E0068-E105-9A96-1DF1-4C2750D79E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377AFB-C62B-6D26-BFE2-89BF4A9CAF13}"/>
              </a:ext>
            </a:extLst>
          </p:cNvPr>
          <p:cNvSpPr>
            <a:spLocks noGrp="1"/>
          </p:cNvSpPr>
          <p:nvPr>
            <p:ph type="sldNum" sz="quarter" idx="12"/>
          </p:nvPr>
        </p:nvSpPr>
        <p:spPr/>
        <p:txBody>
          <a:bodyPr/>
          <a:lstStyle/>
          <a:p>
            <a:fld id="{E38AF5F2-897C-4B3E-868C-67D9BD01A614}" type="slidenum">
              <a:rPr lang="en-IN" smtClean="0"/>
              <a:t>‹#›</a:t>
            </a:fld>
            <a:endParaRPr lang="en-IN"/>
          </a:p>
        </p:txBody>
      </p:sp>
    </p:spTree>
    <p:extLst>
      <p:ext uri="{BB962C8B-B14F-4D97-AF65-F5344CB8AC3E}">
        <p14:creationId xmlns:p14="http://schemas.microsoft.com/office/powerpoint/2010/main" val="2707796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B01D4-1F44-0D84-68B5-797F0D59B0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E70EF7-42A7-A3F4-6AE5-7E674A1349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2ACC40-BE1D-4973-4439-AEFDC4C62512}"/>
              </a:ext>
            </a:extLst>
          </p:cNvPr>
          <p:cNvSpPr>
            <a:spLocks noGrp="1"/>
          </p:cNvSpPr>
          <p:nvPr>
            <p:ph type="dt" sz="half" idx="10"/>
          </p:nvPr>
        </p:nvSpPr>
        <p:spPr/>
        <p:txBody>
          <a:bodyPr/>
          <a:lstStyle/>
          <a:p>
            <a:fld id="{71C30216-0DAE-495C-84A6-0380423B0139}" type="datetimeFigureOut">
              <a:rPr lang="en-IN" smtClean="0"/>
              <a:t>03-09-2024</a:t>
            </a:fld>
            <a:endParaRPr lang="en-IN"/>
          </a:p>
        </p:txBody>
      </p:sp>
      <p:sp>
        <p:nvSpPr>
          <p:cNvPr id="5" name="Footer Placeholder 4">
            <a:extLst>
              <a:ext uri="{FF2B5EF4-FFF2-40B4-BE49-F238E27FC236}">
                <a16:creationId xmlns:a16="http://schemas.microsoft.com/office/drawing/2014/main" id="{1CB0E370-D2FD-E337-C6B7-607B0442B9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4FA7F0-76DE-3778-C2B9-7E08FB57523D}"/>
              </a:ext>
            </a:extLst>
          </p:cNvPr>
          <p:cNvSpPr>
            <a:spLocks noGrp="1"/>
          </p:cNvSpPr>
          <p:nvPr>
            <p:ph type="sldNum" sz="quarter" idx="12"/>
          </p:nvPr>
        </p:nvSpPr>
        <p:spPr/>
        <p:txBody>
          <a:bodyPr/>
          <a:lstStyle/>
          <a:p>
            <a:fld id="{E38AF5F2-897C-4B3E-868C-67D9BD01A614}" type="slidenum">
              <a:rPr lang="en-IN" smtClean="0"/>
              <a:t>‹#›</a:t>
            </a:fld>
            <a:endParaRPr lang="en-IN"/>
          </a:p>
        </p:txBody>
      </p:sp>
    </p:spTree>
    <p:extLst>
      <p:ext uri="{BB962C8B-B14F-4D97-AF65-F5344CB8AC3E}">
        <p14:creationId xmlns:p14="http://schemas.microsoft.com/office/powerpoint/2010/main" val="1345586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62D3DD-9977-C38C-9F06-8203972298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F208D0-E59D-C125-8D8C-D039773CAE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0B0D03-4685-8F60-31A4-4B5E7C720B02}"/>
              </a:ext>
            </a:extLst>
          </p:cNvPr>
          <p:cNvSpPr>
            <a:spLocks noGrp="1"/>
          </p:cNvSpPr>
          <p:nvPr>
            <p:ph type="dt" sz="half" idx="10"/>
          </p:nvPr>
        </p:nvSpPr>
        <p:spPr/>
        <p:txBody>
          <a:bodyPr/>
          <a:lstStyle/>
          <a:p>
            <a:fld id="{71C30216-0DAE-495C-84A6-0380423B0139}" type="datetimeFigureOut">
              <a:rPr lang="en-IN" smtClean="0"/>
              <a:t>03-09-2024</a:t>
            </a:fld>
            <a:endParaRPr lang="en-IN"/>
          </a:p>
        </p:txBody>
      </p:sp>
      <p:sp>
        <p:nvSpPr>
          <p:cNvPr id="5" name="Footer Placeholder 4">
            <a:extLst>
              <a:ext uri="{FF2B5EF4-FFF2-40B4-BE49-F238E27FC236}">
                <a16:creationId xmlns:a16="http://schemas.microsoft.com/office/drawing/2014/main" id="{29CDFE1A-FD33-04CE-9B63-2C4B342766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D83ECF-507C-F002-7C2D-9EA0723B6E29}"/>
              </a:ext>
            </a:extLst>
          </p:cNvPr>
          <p:cNvSpPr>
            <a:spLocks noGrp="1"/>
          </p:cNvSpPr>
          <p:nvPr>
            <p:ph type="sldNum" sz="quarter" idx="12"/>
          </p:nvPr>
        </p:nvSpPr>
        <p:spPr/>
        <p:txBody>
          <a:bodyPr/>
          <a:lstStyle/>
          <a:p>
            <a:fld id="{E38AF5F2-897C-4B3E-868C-67D9BD01A614}" type="slidenum">
              <a:rPr lang="en-IN" smtClean="0"/>
              <a:t>‹#›</a:t>
            </a:fld>
            <a:endParaRPr lang="en-IN"/>
          </a:p>
        </p:txBody>
      </p:sp>
    </p:spTree>
    <p:extLst>
      <p:ext uri="{BB962C8B-B14F-4D97-AF65-F5344CB8AC3E}">
        <p14:creationId xmlns:p14="http://schemas.microsoft.com/office/powerpoint/2010/main" val="187439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4515E6-9101-F54D-A840-B878AAFD0B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44F5A5-C467-A66C-3EC1-1BFA82FEFF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479CC7-110D-00AD-66CC-2ABAB03640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C30216-0DAE-495C-84A6-0380423B0139}" type="datetimeFigureOut">
              <a:rPr lang="en-IN" smtClean="0"/>
              <a:t>03-09-2024</a:t>
            </a:fld>
            <a:endParaRPr lang="en-IN"/>
          </a:p>
        </p:txBody>
      </p:sp>
      <p:sp>
        <p:nvSpPr>
          <p:cNvPr id="5" name="Footer Placeholder 4">
            <a:extLst>
              <a:ext uri="{FF2B5EF4-FFF2-40B4-BE49-F238E27FC236}">
                <a16:creationId xmlns:a16="http://schemas.microsoft.com/office/drawing/2014/main" id="{72B9BEA0-A885-920F-673E-9A59DA10A0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17DA381-9E65-1929-BCEF-77D6B47B5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8AF5F2-897C-4B3E-868C-67D9BD01A614}" type="slidenum">
              <a:rPr lang="en-IN" smtClean="0"/>
              <a:t>‹#›</a:t>
            </a:fld>
            <a:endParaRPr lang="en-IN"/>
          </a:p>
        </p:txBody>
      </p:sp>
    </p:spTree>
    <p:extLst>
      <p:ext uri="{BB962C8B-B14F-4D97-AF65-F5344CB8AC3E}">
        <p14:creationId xmlns:p14="http://schemas.microsoft.com/office/powerpoint/2010/main" val="37489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hyperlink" Target="https://getbootstrap.com/docs/5.0/utilities/sizing/" TargetMode="Externa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7944E-7CC3-CC66-1C7B-1F5FC4068538}"/>
              </a:ext>
            </a:extLst>
          </p:cNvPr>
          <p:cNvSpPr>
            <a:spLocks noGrp="1"/>
          </p:cNvSpPr>
          <p:nvPr>
            <p:ph type="ctrTitle"/>
          </p:nvPr>
        </p:nvSpPr>
        <p:spPr/>
        <p:txBody>
          <a:bodyPr>
            <a:normAutofit/>
          </a:bodyPr>
          <a:lstStyle/>
          <a:p>
            <a:pPr>
              <a:spcBef>
                <a:spcPts val="1500"/>
              </a:spcBef>
              <a:spcAft>
                <a:spcPts val="1500"/>
              </a:spcAft>
            </a:pPr>
            <a:r>
              <a:rPr lang="en-US" sz="4800" b="1" dirty="0">
                <a:solidFill>
                  <a:srgbClr val="000000"/>
                </a:solidFill>
                <a:effectLst/>
                <a:highlight>
                  <a:srgbClr val="FFFFFF"/>
                </a:highlight>
                <a:latin typeface="Times New Roman" panose="02020603050405020304" pitchFamily="18" charset="0"/>
                <a:ea typeface="Times New Roman" panose="02020603050405020304" pitchFamily="18" charset="0"/>
              </a:rPr>
              <a:t> MODULE- 2</a:t>
            </a:r>
            <a:endParaRPr lang="en-IN" sz="16600" dirty="0"/>
          </a:p>
        </p:txBody>
      </p:sp>
      <p:sp>
        <p:nvSpPr>
          <p:cNvPr id="3" name="Subtitle 2">
            <a:extLst>
              <a:ext uri="{FF2B5EF4-FFF2-40B4-BE49-F238E27FC236}">
                <a16:creationId xmlns:a16="http://schemas.microsoft.com/office/drawing/2014/main" id="{554C345D-8C99-6C92-0F87-4115A2D002A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321434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04850-C33C-6D84-78E4-EC1FF73EF7E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CEE7B07-CA4B-32C3-311D-F7C893359D22}"/>
              </a:ext>
            </a:extLst>
          </p:cNvPr>
          <p:cNvSpPr>
            <a:spLocks noGrp="1"/>
          </p:cNvSpPr>
          <p:nvPr>
            <p:ph idx="1"/>
          </p:nvPr>
        </p:nvSpPr>
        <p:spPr/>
        <p:txBody>
          <a:bodyPr/>
          <a:lstStyle/>
          <a:p>
            <a:pPr>
              <a:spcBef>
                <a:spcPts val="1500"/>
              </a:spcBef>
              <a:spcAft>
                <a:spcPts val="1500"/>
              </a:spcAft>
            </a:pPr>
            <a:r>
              <a:rPr lang="en-US" sz="1800" b="1" dirty="0">
                <a:solidFill>
                  <a:srgbClr val="000000"/>
                </a:solidFill>
                <a:effectLst/>
                <a:highlight>
                  <a:srgbClr val="FFFFFF"/>
                </a:highlight>
                <a:latin typeface="Times New Roman" panose="02020603050405020304" pitchFamily="18" charset="0"/>
                <a:ea typeface="Times New Roman" panose="02020603050405020304" pitchFamily="18" charset="0"/>
              </a:rPr>
              <a:t> Module- 2 (Organizing Content and Information Architecture)</a:t>
            </a:r>
            <a:endParaRPr lang="en-IN" sz="1800" dirty="0">
              <a:effectLst/>
              <a:highlight>
                <a:srgbClr val="FFFFFF"/>
              </a:highlight>
              <a:latin typeface="Times New Roman" panose="02020603050405020304" pitchFamily="18" charset="0"/>
              <a:ea typeface="Times New Roman" panose="02020603050405020304" pitchFamily="18" charset="0"/>
            </a:endParaRPr>
          </a:p>
          <a:p>
            <a:pPr marL="279400" indent="0" algn="just">
              <a:lnSpc>
                <a:spcPct val="115000"/>
              </a:lnSpc>
              <a:buNone/>
            </a:pPr>
            <a:r>
              <a:rPr lang="en-US" sz="1800" b="0" kern="0" dirty="0">
                <a:solidFill>
                  <a:srgbClr val="0D0D0D"/>
                </a:solidFill>
                <a:effectLst/>
                <a:latin typeface="Times New Roman" panose="02020603050405020304" pitchFamily="18" charset="0"/>
              </a:rPr>
              <a:t>Introduction to information architecture and application structure - Exploring patterns for feature organization, search, and browsing. </a:t>
            </a:r>
            <a:r>
              <a:rPr lang="en-US" sz="1800" b="0" kern="0" dirty="0">
                <a:effectLst/>
                <a:latin typeface="Times New Roman" panose="02020603050405020304" pitchFamily="18" charset="0"/>
              </a:rPr>
              <a:t>Organizing content in Bootstrap 5- images, cards, lists, and tables. </a:t>
            </a:r>
            <a:endParaRPr lang="en-IN" dirty="0"/>
          </a:p>
        </p:txBody>
      </p:sp>
    </p:spTree>
    <p:extLst>
      <p:ext uri="{BB962C8B-B14F-4D97-AF65-F5344CB8AC3E}">
        <p14:creationId xmlns:p14="http://schemas.microsoft.com/office/powerpoint/2010/main" val="3600160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DD5DD-6266-76DD-93FD-3A2BB93D4D77}"/>
              </a:ext>
            </a:extLst>
          </p:cNvPr>
          <p:cNvSpPr>
            <a:spLocks noGrp="1"/>
          </p:cNvSpPr>
          <p:nvPr>
            <p:ph type="title"/>
          </p:nvPr>
        </p:nvSpPr>
        <p:spPr/>
        <p:txBody>
          <a:bodyPr>
            <a:normAutofit/>
          </a:bodyPr>
          <a:lstStyle/>
          <a:p>
            <a:r>
              <a:rPr lang="en-US" sz="3600" b="1" dirty="0"/>
              <a:t>Information architecture (IA) &amp; Application structure </a:t>
            </a:r>
            <a:endParaRPr lang="en-IN" sz="3600" b="1" dirty="0"/>
          </a:p>
        </p:txBody>
      </p:sp>
      <p:sp>
        <p:nvSpPr>
          <p:cNvPr id="3" name="Content Placeholder 2">
            <a:extLst>
              <a:ext uri="{FF2B5EF4-FFF2-40B4-BE49-F238E27FC236}">
                <a16:creationId xmlns:a16="http://schemas.microsoft.com/office/drawing/2014/main" id="{CDC5E035-BC15-C361-3F53-36A106605460}"/>
              </a:ext>
            </a:extLst>
          </p:cNvPr>
          <p:cNvSpPr>
            <a:spLocks noGrp="1"/>
          </p:cNvSpPr>
          <p:nvPr>
            <p:ph idx="1"/>
          </p:nvPr>
        </p:nvSpPr>
        <p:spPr/>
        <p:txBody>
          <a:bodyPr/>
          <a:lstStyle/>
          <a:p>
            <a:pPr algn="just"/>
            <a:r>
              <a:rPr lang="en-US" b="1" dirty="0"/>
              <a:t>Information architecture (IA) </a:t>
            </a:r>
            <a:r>
              <a:rPr lang="en-US" dirty="0"/>
              <a:t>is the art of organizing an information space. It encompasses many things: presenting, searching, browsing, labeling, categorizing, sorting, manipulating, and strategically hiding information. </a:t>
            </a:r>
          </a:p>
          <a:p>
            <a:pPr algn="just"/>
            <a:r>
              <a:rPr lang="en-US" dirty="0"/>
              <a:t>Especially if you’re working with a new product, this is where you should start.</a:t>
            </a:r>
          </a:p>
          <a:p>
            <a:pPr algn="just"/>
            <a:r>
              <a:rPr lang="en-US" b="1" dirty="0"/>
              <a:t>Application structure </a:t>
            </a:r>
            <a:r>
              <a:rPr lang="en-US" dirty="0"/>
              <a:t>refers to the overall architecture of an application, including how different components interact and how information flows within the system. It encompasses both the technical and user-facing aspects of an application.</a:t>
            </a:r>
            <a:endParaRPr lang="en-IN" dirty="0"/>
          </a:p>
        </p:txBody>
      </p:sp>
    </p:spTree>
    <p:extLst>
      <p:ext uri="{BB962C8B-B14F-4D97-AF65-F5344CB8AC3E}">
        <p14:creationId xmlns:p14="http://schemas.microsoft.com/office/powerpoint/2010/main" val="2107947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4C94F-2579-CC09-0042-110888F40956}"/>
              </a:ext>
            </a:extLst>
          </p:cNvPr>
          <p:cNvSpPr>
            <a:spLocks noGrp="1"/>
          </p:cNvSpPr>
          <p:nvPr>
            <p:ph type="title"/>
          </p:nvPr>
        </p:nvSpPr>
        <p:spPr/>
        <p:txBody>
          <a:bodyPr/>
          <a:lstStyle/>
          <a:p>
            <a:r>
              <a:rPr lang="en-US" sz="3600" b="1" dirty="0"/>
              <a:t>Introduction to information architecture and application structure </a:t>
            </a:r>
            <a:endParaRPr lang="en-IN" sz="3600" b="1" dirty="0"/>
          </a:p>
        </p:txBody>
      </p:sp>
      <p:sp>
        <p:nvSpPr>
          <p:cNvPr id="3" name="Content Placeholder 2">
            <a:extLst>
              <a:ext uri="{FF2B5EF4-FFF2-40B4-BE49-F238E27FC236}">
                <a16:creationId xmlns:a16="http://schemas.microsoft.com/office/drawing/2014/main" id="{972B01DC-403E-E22C-F1F1-8C6FCE3BFE0F}"/>
              </a:ext>
            </a:extLst>
          </p:cNvPr>
          <p:cNvSpPr>
            <a:spLocks noGrp="1"/>
          </p:cNvSpPr>
          <p:nvPr>
            <p:ph idx="1"/>
          </p:nvPr>
        </p:nvSpPr>
        <p:spPr>
          <a:xfrm>
            <a:off x="838200" y="1825625"/>
            <a:ext cx="10515600" cy="4667250"/>
          </a:xfrm>
        </p:spPr>
        <p:txBody>
          <a:bodyPr>
            <a:normAutofit lnSpcReduction="10000"/>
          </a:bodyPr>
          <a:lstStyle/>
          <a:p>
            <a:pPr algn="just"/>
            <a:r>
              <a:rPr lang="en-US" dirty="0"/>
              <a:t>At the highest level of application design, it's essential to consider the various functions of sites or app serves, such as providing software services, sharing information, selling products, branding, and facilitating social communication. The home page should effectively guide users to their desired areas through clear text and imagery.</a:t>
            </a:r>
          </a:p>
          <a:p>
            <a:pPr algn="just"/>
            <a:r>
              <a:rPr lang="en-US" dirty="0"/>
              <a:t>Key decisions at this level include </a:t>
            </a:r>
          </a:p>
          <a:p>
            <a:pPr algn="just">
              <a:buFont typeface="Wingdings" panose="05000000000000000000" pitchFamily="2" charset="2"/>
              <a:buChar char="Ø"/>
            </a:pPr>
            <a:r>
              <a:rPr lang="en-US" dirty="0"/>
              <a:t>selecting an interaction model</a:t>
            </a:r>
          </a:p>
          <a:p>
            <a:pPr algn="just">
              <a:buFont typeface="Wingdings" panose="05000000000000000000" pitchFamily="2" charset="2"/>
              <a:buChar char="Ø"/>
            </a:pPr>
            <a:r>
              <a:rPr lang="en-US" dirty="0"/>
              <a:t>whether to use a desktop metaphor</a:t>
            </a:r>
          </a:p>
          <a:p>
            <a:pPr algn="just">
              <a:buFont typeface="Wingdings" panose="05000000000000000000" pitchFamily="2" charset="2"/>
              <a:buChar char="Ø"/>
            </a:pPr>
            <a:r>
              <a:rPr lang="en-US" dirty="0"/>
              <a:t>a traditional website layout, or a more interactive approach. </a:t>
            </a:r>
          </a:p>
          <a:p>
            <a:pPr algn="just"/>
            <a:r>
              <a:rPr lang="en-US" dirty="0"/>
              <a:t>This model ensures consistency and defines how users navigate through different functionalities.</a:t>
            </a:r>
            <a:endParaRPr lang="en-IN" dirty="0"/>
          </a:p>
        </p:txBody>
      </p:sp>
    </p:spTree>
    <p:extLst>
      <p:ext uri="{BB962C8B-B14F-4D97-AF65-F5344CB8AC3E}">
        <p14:creationId xmlns:p14="http://schemas.microsoft.com/office/powerpoint/2010/main" val="4256860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CCEDF-6AE3-C7E3-8786-C7E76D05EE5B}"/>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0514F670-C91F-61FC-9D3E-A61109AF26F9}"/>
              </a:ext>
            </a:extLst>
          </p:cNvPr>
          <p:cNvSpPr>
            <a:spLocks noGrp="1"/>
          </p:cNvSpPr>
          <p:nvPr>
            <p:ph idx="1"/>
          </p:nvPr>
        </p:nvSpPr>
        <p:spPr/>
        <p:txBody>
          <a:bodyPr>
            <a:normAutofit fontScale="92500"/>
          </a:bodyPr>
          <a:lstStyle/>
          <a:p>
            <a:r>
              <a:rPr lang="en-US" dirty="0"/>
              <a:t>When focusing on smaller units within the application, such as pages dedicated to specific functions, each page typically serves one of four primary purposes:</a:t>
            </a:r>
          </a:p>
          <a:p>
            <a:pPr>
              <a:buFont typeface="+mj-lt"/>
              <a:buAutoNum type="arabicPeriod"/>
            </a:pPr>
            <a:r>
              <a:rPr lang="en-US" dirty="0"/>
              <a:t>Displaying a single item (e.g., a map or video).</a:t>
            </a:r>
          </a:p>
          <a:p>
            <a:pPr>
              <a:buFont typeface="+mj-lt"/>
              <a:buAutoNum type="arabicPeriod"/>
            </a:pPr>
            <a:r>
              <a:rPr lang="en-US" dirty="0"/>
              <a:t>Presenting a list or collection of items.</a:t>
            </a:r>
          </a:p>
          <a:p>
            <a:pPr>
              <a:buFont typeface="+mj-lt"/>
              <a:buAutoNum type="arabicPeriod"/>
            </a:pPr>
            <a:r>
              <a:rPr lang="en-US" dirty="0"/>
              <a:t>Offering tools for creation (e.g., a document editor).</a:t>
            </a:r>
          </a:p>
          <a:p>
            <a:pPr>
              <a:buFont typeface="+mj-lt"/>
              <a:buAutoNum type="arabicPeriod"/>
            </a:pPr>
            <a:r>
              <a:rPr lang="en-US" dirty="0"/>
              <a:t>Facilitating a specific task (e.g., a registration form).</a:t>
            </a:r>
          </a:p>
          <a:p>
            <a:r>
              <a:rPr lang="en-US" dirty="0"/>
              <a:t>Most apps combine these functions, and each part should be designed to fit its main purpose. This follows Theresa Neil's framework, which organizes app structures based on user goals: information, process, and creation.</a:t>
            </a:r>
            <a:endParaRPr lang="en-IN" dirty="0"/>
          </a:p>
        </p:txBody>
      </p:sp>
    </p:spTree>
    <p:extLst>
      <p:ext uri="{BB962C8B-B14F-4D97-AF65-F5344CB8AC3E}">
        <p14:creationId xmlns:p14="http://schemas.microsoft.com/office/powerpoint/2010/main" val="91038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60062-F0F6-C37F-B35D-3DDC0E597A5B}"/>
              </a:ext>
            </a:extLst>
          </p:cNvPr>
          <p:cNvSpPr>
            <a:spLocks noGrp="1"/>
          </p:cNvSpPr>
          <p:nvPr>
            <p:ph type="title"/>
          </p:nvPr>
        </p:nvSpPr>
        <p:spPr/>
        <p:txBody>
          <a:bodyPr/>
          <a:lstStyle/>
          <a:p>
            <a:r>
              <a:rPr lang="en-US" b="1" dirty="0"/>
              <a:t>Displaying a single item</a:t>
            </a:r>
            <a:endParaRPr lang="en-IN" b="1" dirty="0"/>
          </a:p>
        </p:txBody>
      </p:sp>
      <p:sp>
        <p:nvSpPr>
          <p:cNvPr id="3" name="Content Placeholder 2">
            <a:extLst>
              <a:ext uri="{FF2B5EF4-FFF2-40B4-BE49-F238E27FC236}">
                <a16:creationId xmlns:a16="http://schemas.microsoft.com/office/drawing/2014/main" id="{0FAB20FB-1989-E5DF-F7AD-FC312EF803CD}"/>
              </a:ext>
            </a:extLst>
          </p:cNvPr>
          <p:cNvSpPr>
            <a:spLocks noGrp="1"/>
          </p:cNvSpPr>
          <p:nvPr>
            <p:ph idx="1"/>
          </p:nvPr>
        </p:nvSpPr>
        <p:spPr/>
        <p:txBody>
          <a:bodyPr/>
          <a:lstStyle/>
          <a:p>
            <a:r>
              <a:rPr lang="en-US" dirty="0"/>
              <a:t>The primary focus of your page's design is to showcase or play a single piece of content without distractions</a:t>
            </a:r>
          </a:p>
          <a:p>
            <a:pPr marL="0" indent="0">
              <a:buNone/>
            </a:pPr>
            <a:r>
              <a:rPr lang="en-US" b="1" dirty="0"/>
              <a:t>Key Considerations:</a:t>
            </a:r>
            <a:endParaRPr lang="en-US" dirty="0"/>
          </a:p>
          <a:p>
            <a:pPr>
              <a:buFont typeface="Wingdings" panose="05000000000000000000" pitchFamily="2" charset="2"/>
              <a:buChar char="Ø"/>
            </a:pPr>
            <a:r>
              <a:rPr lang="en-US" dirty="0"/>
              <a:t>Your main task is to manage user interaction with this singular piece of content.</a:t>
            </a:r>
          </a:p>
          <a:p>
            <a:pPr>
              <a:buFont typeface="Wingdings" panose="05000000000000000000" pitchFamily="2" charset="2"/>
              <a:buChar char="Ø"/>
            </a:pPr>
            <a:r>
              <a:rPr lang="en-US" dirty="0"/>
              <a:t>The Information Architecture (IA) is likely straightforward, with minor tools surrounding the content (e.g., scrollers, sliders, sign-in boxes, global navigation, headers, and footers).</a:t>
            </a:r>
          </a:p>
          <a:p>
            <a:endParaRPr lang="en-IN" dirty="0"/>
          </a:p>
        </p:txBody>
      </p:sp>
    </p:spTree>
    <p:extLst>
      <p:ext uri="{BB962C8B-B14F-4D97-AF65-F5344CB8AC3E}">
        <p14:creationId xmlns:p14="http://schemas.microsoft.com/office/powerpoint/2010/main" val="2207896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04971-84D0-CEC0-DE9C-E15BB5C497D5}"/>
              </a:ext>
            </a:extLst>
          </p:cNvPr>
          <p:cNvSpPr>
            <a:spLocks noGrp="1"/>
          </p:cNvSpPr>
          <p:nvPr>
            <p:ph type="title"/>
          </p:nvPr>
        </p:nvSpPr>
        <p:spPr/>
        <p:txBody>
          <a:bodyPr/>
          <a:lstStyle/>
          <a:p>
            <a:r>
              <a:rPr lang="en-US" b="1" dirty="0"/>
              <a:t>Displaying a single item</a:t>
            </a:r>
            <a:endParaRPr lang="en-IN" b="1" dirty="0"/>
          </a:p>
        </p:txBody>
      </p:sp>
      <p:sp>
        <p:nvSpPr>
          <p:cNvPr id="3" name="Content Placeholder 2">
            <a:extLst>
              <a:ext uri="{FF2B5EF4-FFF2-40B4-BE49-F238E27FC236}">
                <a16:creationId xmlns:a16="http://schemas.microsoft.com/office/drawing/2014/main" id="{11437EA4-D3E5-8037-2804-1206EE872A26}"/>
              </a:ext>
            </a:extLst>
          </p:cNvPr>
          <p:cNvSpPr>
            <a:spLocks noGrp="1"/>
          </p:cNvSpPr>
          <p:nvPr>
            <p:ph idx="1"/>
          </p:nvPr>
        </p:nvSpPr>
        <p:spPr/>
        <p:txBody>
          <a:bodyPr>
            <a:normAutofit fontScale="77500" lnSpcReduction="20000"/>
          </a:bodyPr>
          <a:lstStyle/>
          <a:p>
            <a:pPr marL="0" indent="0">
              <a:buNone/>
            </a:pPr>
            <a:r>
              <a:rPr lang="en-US" b="1" dirty="0"/>
              <a:t>Possible Design Shapes:</a:t>
            </a:r>
            <a:endParaRPr lang="en-US" dirty="0"/>
          </a:p>
          <a:p>
            <a:pPr>
              <a:buFont typeface="+mj-lt"/>
              <a:buAutoNum type="arabicPeriod"/>
            </a:pPr>
            <a:r>
              <a:rPr lang="en-US" b="1" dirty="0"/>
              <a:t>Long, Vertically Scrolled Page:</a:t>
            </a:r>
            <a:r>
              <a:rPr lang="en-US" dirty="0"/>
              <a:t> Ideal for articles, books, and other long-form content.</a:t>
            </a:r>
          </a:p>
          <a:p>
            <a:pPr>
              <a:buFont typeface="+mj-lt"/>
              <a:buAutoNum type="arabicPeriod"/>
            </a:pPr>
            <a:r>
              <a:rPr lang="en-US" b="1" dirty="0"/>
              <a:t>Zoomable Interface:</a:t>
            </a:r>
            <a:r>
              <a:rPr lang="en-US" dirty="0"/>
              <a:t> Suitable for large, detailed artifacts like maps or images (e.g., Google Maps).</a:t>
            </a:r>
          </a:p>
          <a:p>
            <a:pPr>
              <a:buFont typeface="+mj-lt"/>
              <a:buAutoNum type="arabicPeriod"/>
            </a:pPr>
            <a:r>
              <a:rPr lang="en-US" b="1" dirty="0"/>
              <a:t>Media Player Idiom:</a:t>
            </a:r>
            <a:r>
              <a:rPr lang="en-US" dirty="0"/>
              <a:t> For video and audio content.</a:t>
            </a:r>
          </a:p>
          <a:p>
            <a:pPr marL="0" indent="0">
              <a:buNone/>
            </a:pPr>
            <a:r>
              <a:rPr lang="en-US" b="1" dirty="0"/>
              <a:t>Design Patterns and Techniques to support design:</a:t>
            </a:r>
            <a:endParaRPr lang="en-US" dirty="0"/>
          </a:p>
          <a:p>
            <a:pPr>
              <a:buFont typeface="Arial" panose="020B0604020202020204" pitchFamily="34" charset="0"/>
              <a:buChar char="•"/>
            </a:pPr>
            <a:r>
              <a:rPr lang="en-US" b="1" dirty="0"/>
              <a:t>Alternative Views:</a:t>
            </a:r>
            <a:r>
              <a:rPr lang="en-US" dirty="0"/>
              <a:t> Offer multiple ways to present the content.</a:t>
            </a:r>
          </a:p>
          <a:p>
            <a:pPr>
              <a:buFont typeface="Arial" panose="020B0604020202020204" pitchFamily="34" charset="0"/>
              <a:buChar char="•"/>
            </a:pPr>
            <a:r>
              <a:rPr lang="en-US" b="1" dirty="0"/>
              <a:t>Many Workspaces:</a:t>
            </a:r>
            <a:r>
              <a:rPr lang="en-US" dirty="0"/>
              <a:t> Allow users to view multiple states or documents simultaneously.</a:t>
            </a:r>
          </a:p>
          <a:p>
            <a:pPr>
              <a:buFont typeface="Arial" panose="020B0604020202020204" pitchFamily="34" charset="0"/>
              <a:buChar char="•"/>
            </a:pPr>
            <a:r>
              <a:rPr lang="en-US" b="1" dirty="0"/>
              <a:t>Deep-linked State:</a:t>
            </a:r>
            <a:r>
              <a:rPr lang="en-US" dirty="0"/>
              <a:t> Enable users to save specific locations within the content for easy return or sharing via URL.</a:t>
            </a:r>
          </a:p>
          <a:p>
            <a:pPr>
              <a:buFont typeface="Arial" panose="020B0604020202020204" pitchFamily="34" charset="0"/>
              <a:buChar char="•"/>
            </a:pPr>
            <a:r>
              <a:rPr lang="en-US" b="1" dirty="0"/>
              <a:t>Sharing Widget:</a:t>
            </a:r>
            <a:r>
              <a:rPr lang="en-US" dirty="0"/>
              <a:t> Incorporate social sharing features.</a:t>
            </a:r>
          </a:p>
          <a:p>
            <a:pPr>
              <a:buFont typeface="Arial" panose="020B0604020202020204" pitchFamily="34" charset="0"/>
              <a:buChar char="•"/>
            </a:pPr>
            <a:r>
              <a:rPr lang="en-US" b="1" dirty="0"/>
              <a:t>Mobile Patterns:</a:t>
            </a:r>
            <a:r>
              <a:rPr lang="en-US" dirty="0"/>
              <a:t> Consider mobile-friendly designs if targeting mobile device users.</a:t>
            </a:r>
          </a:p>
          <a:p>
            <a:endParaRPr lang="en-IN" dirty="0"/>
          </a:p>
        </p:txBody>
      </p:sp>
    </p:spTree>
    <p:extLst>
      <p:ext uri="{BB962C8B-B14F-4D97-AF65-F5344CB8AC3E}">
        <p14:creationId xmlns:p14="http://schemas.microsoft.com/office/powerpoint/2010/main" val="909795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E5870-B09E-1019-0362-191C63181B48}"/>
              </a:ext>
            </a:extLst>
          </p:cNvPr>
          <p:cNvSpPr>
            <a:spLocks noGrp="1"/>
          </p:cNvSpPr>
          <p:nvPr>
            <p:ph type="title"/>
          </p:nvPr>
        </p:nvSpPr>
        <p:spPr/>
        <p:txBody>
          <a:bodyPr/>
          <a:lstStyle/>
          <a:p>
            <a:r>
              <a:rPr lang="en-US" b="1" dirty="0"/>
              <a:t>Presenting a list or collection of items</a:t>
            </a:r>
            <a:endParaRPr lang="en-IN" b="1" dirty="0"/>
          </a:p>
        </p:txBody>
      </p:sp>
      <p:sp>
        <p:nvSpPr>
          <p:cNvPr id="4" name="Rectangle 1">
            <a:extLst>
              <a:ext uri="{FF2B5EF4-FFF2-40B4-BE49-F238E27FC236}">
                <a16:creationId xmlns:a16="http://schemas.microsoft.com/office/drawing/2014/main" id="{797ADD50-96E2-DE32-95FF-BB7D57E3344D}"/>
              </a:ext>
            </a:extLst>
          </p:cNvPr>
          <p:cNvSpPr>
            <a:spLocks noGrp="1" noChangeArrowheads="1"/>
          </p:cNvSpPr>
          <p:nvPr>
            <p:ph idx="1"/>
          </p:nvPr>
        </p:nvSpPr>
        <p:spPr bwMode="auto">
          <a:xfrm>
            <a:off x="838200" y="1432669"/>
            <a:ext cx="11058832" cy="7222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fontAlgn="base">
              <a:spcAft>
                <a:spcPct val="0"/>
              </a:spcAft>
              <a:buClrTx/>
              <a:buSzTx/>
              <a:buFontTx/>
              <a:buChar char="•"/>
              <a:tabLst/>
            </a:pPr>
            <a:r>
              <a:rPr lang="en-US" altLang="en-US" dirty="0"/>
              <a:t>Common List Formats: Digital artifacts often utilize various list formats, including text lists, menus, image grids, search results, email threads, tables, and trees.</a:t>
            </a:r>
          </a:p>
          <a:p>
            <a:pPr marL="0" marR="0" lvl="0" indent="0" fontAlgn="base">
              <a:spcAft>
                <a:spcPct val="0"/>
              </a:spcAft>
              <a:buClrTx/>
              <a:buSzTx/>
              <a:buFontTx/>
              <a:buChar char="•"/>
              <a:tabLst/>
            </a:pPr>
            <a:r>
              <a:rPr lang="en-US" altLang="en-US" dirty="0"/>
              <a:t>Lists present rich challenges in information architecture. </a:t>
            </a:r>
          </a:p>
          <a:p>
            <a:pPr marL="0" marR="0" lvl="0" indent="0" fontAlgn="base">
              <a:spcAft>
                <a:spcPct val="0"/>
              </a:spcAft>
              <a:buClrTx/>
              <a:buSzTx/>
              <a:buFontTx/>
              <a:buChar char="•"/>
              <a:tabLst/>
            </a:pPr>
            <a:r>
              <a:rPr lang="en-US" altLang="en-US" dirty="0"/>
              <a:t>Information Architecture Challenges:</a:t>
            </a:r>
          </a:p>
          <a:p>
            <a:pPr marR="0" lvl="0" fontAlgn="base">
              <a:spcAft>
                <a:spcPct val="0"/>
              </a:spcAft>
              <a:buClrTx/>
              <a:buSzTx/>
              <a:buFont typeface="Wingdings" panose="05000000000000000000" pitchFamily="2" charset="2"/>
              <a:buChar char="Ø"/>
              <a:tabLst/>
            </a:pPr>
            <a:r>
              <a:rPr lang="en-US" altLang="en-US" dirty="0"/>
              <a:t>Length of the list </a:t>
            </a:r>
          </a:p>
          <a:p>
            <a:pPr marR="0" lvl="0" fontAlgn="base">
              <a:spcAft>
                <a:spcPct val="0"/>
              </a:spcAft>
              <a:buClrTx/>
              <a:buSzTx/>
              <a:buFont typeface="Wingdings" panose="05000000000000000000" pitchFamily="2" charset="2"/>
              <a:buChar char="Ø"/>
              <a:tabLst/>
            </a:pPr>
            <a:r>
              <a:rPr lang="en-US" altLang="en-US" dirty="0"/>
              <a:t>Flat vs. hierarchical structure </a:t>
            </a:r>
          </a:p>
          <a:p>
            <a:pPr marR="0" lvl="0" fontAlgn="base">
              <a:spcAft>
                <a:spcPct val="0"/>
              </a:spcAft>
              <a:buClrTx/>
              <a:buSzTx/>
              <a:buFont typeface="Wingdings" panose="05000000000000000000" pitchFamily="2" charset="2"/>
              <a:buChar char="Ø"/>
              <a:tabLst/>
            </a:pPr>
            <a:r>
              <a:rPr lang="en-US" altLang="en-US" dirty="0"/>
              <a:t>Ordering and dynamic reordering options </a:t>
            </a:r>
          </a:p>
          <a:p>
            <a:pPr marR="0" lvl="0" fontAlgn="base">
              <a:spcAft>
                <a:spcPct val="0"/>
              </a:spcAft>
              <a:buClrTx/>
              <a:buSzTx/>
              <a:buFont typeface="Wingdings" panose="05000000000000000000" pitchFamily="2" charset="2"/>
              <a:buChar char="Ø"/>
              <a:tabLst/>
            </a:pPr>
            <a:r>
              <a:rPr lang="en-US" altLang="en-US" dirty="0"/>
              <a:t>Filtering and searching capabilities </a:t>
            </a:r>
          </a:p>
          <a:p>
            <a:pPr marR="0" lvl="0" fontAlgn="base">
              <a:spcAft>
                <a:spcPct val="0"/>
              </a:spcAft>
              <a:buClrTx/>
              <a:buSzTx/>
              <a:buFont typeface="Wingdings" panose="05000000000000000000" pitchFamily="2" charset="2"/>
              <a:buChar char="Ø"/>
              <a:tabLst/>
            </a:pPr>
            <a:r>
              <a:rPr lang="en-US" altLang="en-US" dirty="0"/>
              <a:t>Associated information or operations for each item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73238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2B7FC-46CC-CD80-2F43-E3238533D622}"/>
              </a:ext>
            </a:extLst>
          </p:cNvPr>
          <p:cNvSpPr>
            <a:spLocks noGrp="1"/>
          </p:cNvSpPr>
          <p:nvPr>
            <p:ph type="title"/>
          </p:nvPr>
        </p:nvSpPr>
        <p:spPr/>
        <p:txBody>
          <a:bodyPr/>
          <a:lstStyle/>
          <a:p>
            <a:r>
              <a:rPr lang="en-US" b="1" dirty="0"/>
              <a:t>Presenting a list or collection of items</a:t>
            </a:r>
            <a:endParaRPr lang="en-IN" b="1" dirty="0"/>
          </a:p>
        </p:txBody>
      </p:sp>
      <p:sp>
        <p:nvSpPr>
          <p:cNvPr id="4" name="Rectangle 1">
            <a:extLst>
              <a:ext uri="{FF2B5EF4-FFF2-40B4-BE49-F238E27FC236}">
                <a16:creationId xmlns:a16="http://schemas.microsoft.com/office/drawing/2014/main" id="{786CC157-003A-2E42-8652-ADE3B1DD04C1}"/>
              </a:ext>
            </a:extLst>
          </p:cNvPr>
          <p:cNvSpPr>
            <a:spLocks noGrp="1" noChangeArrowheads="1"/>
          </p:cNvSpPr>
          <p:nvPr>
            <p:ph idx="1"/>
          </p:nvPr>
        </p:nvSpPr>
        <p:spPr bwMode="auto">
          <a:xfrm>
            <a:off x="723900" y="1656042"/>
            <a:ext cx="10744200" cy="4926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fontAlgn="base">
              <a:spcAft>
                <a:spcPct val="0"/>
              </a:spcAft>
              <a:buNone/>
            </a:pPr>
            <a:r>
              <a:rPr lang="en-US" altLang="en-US" sz="2600" b="1" dirty="0"/>
              <a:t>Design Patterns:</a:t>
            </a:r>
          </a:p>
          <a:p>
            <a:pPr marL="0" indent="0" fontAlgn="base">
              <a:spcAft>
                <a:spcPct val="0"/>
              </a:spcAft>
              <a:buFontTx/>
              <a:buChar char="•"/>
            </a:pPr>
            <a:r>
              <a:rPr lang="en-US" altLang="en-US" sz="2600" b="1" dirty="0"/>
              <a:t>Feature, Search, and Browse: </a:t>
            </a:r>
            <a:r>
              <a:rPr lang="en-US" altLang="en-US" sz="2600" dirty="0"/>
              <a:t>Common in e-commerce and content sites, allowing users to search or browse items, with a featured item on the front page. </a:t>
            </a:r>
          </a:p>
          <a:p>
            <a:pPr marL="0" indent="0" fontAlgn="base">
              <a:spcAft>
                <a:spcPct val="0"/>
              </a:spcAft>
              <a:buFontTx/>
              <a:buChar char="•"/>
            </a:pPr>
            <a:r>
              <a:rPr lang="en-US" altLang="en-US" sz="2600" b="1" dirty="0"/>
              <a:t>News Stream: </a:t>
            </a:r>
            <a:r>
              <a:rPr lang="en-US" altLang="en-US" sz="2600" dirty="0"/>
              <a:t>Used by blogs and social media, displaying the most recent updates at the top. </a:t>
            </a:r>
          </a:p>
          <a:p>
            <a:pPr marL="0" indent="0" fontAlgn="base">
              <a:spcAft>
                <a:spcPct val="0"/>
              </a:spcAft>
              <a:buFontTx/>
              <a:buChar char="•"/>
            </a:pPr>
            <a:r>
              <a:rPr lang="en-US" altLang="en-US" sz="2600" b="1" dirty="0"/>
              <a:t>Picture Manager</a:t>
            </a:r>
            <a:r>
              <a:rPr lang="en-US" altLang="en-US" sz="2600" dirty="0"/>
              <a:t>: A specialized interface for managing photos, supporting both hierarchical and flat lists, with tools for arrangement and direct operations on images. </a:t>
            </a:r>
          </a:p>
          <a:p>
            <a:pPr marL="0" indent="0" fontAlgn="base">
              <a:spcAft>
                <a:spcPct val="0"/>
              </a:spcAft>
              <a:buFontTx/>
              <a:buChar char="•"/>
            </a:pPr>
            <a:r>
              <a:rPr lang="en-IN" sz="2600" b="1" dirty="0"/>
              <a:t>Integration of Techniques: </a:t>
            </a:r>
            <a:r>
              <a:rPr lang="en-US" altLang="en-US" sz="2600" dirty="0"/>
              <a:t>Once a primary design pattern is chosen, consider additional techniques (e.g., Thumbnail Grid, Pagination) to enhance list presentation within the selected framework</a:t>
            </a:r>
          </a:p>
        </p:txBody>
      </p:sp>
    </p:spTree>
    <p:extLst>
      <p:ext uri="{BB962C8B-B14F-4D97-AF65-F5344CB8AC3E}">
        <p14:creationId xmlns:p14="http://schemas.microsoft.com/office/powerpoint/2010/main" val="4043154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FA665-3092-9EF7-FFFC-5D556942819C}"/>
              </a:ext>
            </a:extLst>
          </p:cNvPr>
          <p:cNvSpPr>
            <a:spLocks noGrp="1"/>
          </p:cNvSpPr>
          <p:nvPr>
            <p:ph type="title"/>
          </p:nvPr>
        </p:nvSpPr>
        <p:spPr/>
        <p:txBody>
          <a:bodyPr/>
          <a:lstStyle/>
          <a:p>
            <a:r>
              <a:rPr lang="en-US" b="1" dirty="0"/>
              <a:t>Offering tools for creation</a:t>
            </a:r>
            <a:endParaRPr lang="en-IN" b="1" dirty="0"/>
          </a:p>
        </p:txBody>
      </p:sp>
      <p:sp>
        <p:nvSpPr>
          <p:cNvPr id="3" name="Content Placeholder 2">
            <a:extLst>
              <a:ext uri="{FF2B5EF4-FFF2-40B4-BE49-F238E27FC236}">
                <a16:creationId xmlns:a16="http://schemas.microsoft.com/office/drawing/2014/main" id="{23336409-9BA7-1EA2-861B-7F65712C5C2E}"/>
              </a:ext>
            </a:extLst>
          </p:cNvPr>
          <p:cNvSpPr>
            <a:spLocks noGrp="1"/>
          </p:cNvSpPr>
          <p:nvPr>
            <p:ph idx="1"/>
          </p:nvPr>
        </p:nvSpPr>
        <p:spPr>
          <a:xfrm>
            <a:off x="838200" y="1690688"/>
            <a:ext cx="10515600" cy="4802187"/>
          </a:xfrm>
        </p:spPr>
        <p:txBody>
          <a:bodyPr>
            <a:normAutofit fontScale="92500" lnSpcReduction="20000"/>
          </a:bodyPr>
          <a:lstStyle/>
          <a:p>
            <a:r>
              <a:rPr lang="en-US" b="1" dirty="0"/>
              <a:t>Key Examples:</a:t>
            </a:r>
            <a:r>
              <a:rPr lang="en-US" dirty="0"/>
              <a:t> Microsoft Office Suite (Word, Excel, PowerPoint), Adobe Creative Suite (Photoshop, Illustrator, InDesign, Dreamweaver), and various code editors/IDEs.</a:t>
            </a:r>
          </a:p>
          <a:p>
            <a:pPr marL="0" indent="0">
              <a:buNone/>
            </a:pPr>
            <a:r>
              <a:rPr lang="en-US" b="1" dirty="0"/>
              <a:t>At the level of application structure or IA, the following patterns are often found to design different aspects of these tools</a:t>
            </a:r>
          </a:p>
          <a:p>
            <a:r>
              <a:rPr lang="en-US" b="1" dirty="0"/>
              <a:t> Canvas Plus Palette:</a:t>
            </a:r>
            <a:r>
              <a:rPr lang="en-US" dirty="0"/>
              <a:t> A recognizable pattern for visual editors that sets strong user expectations.</a:t>
            </a:r>
          </a:p>
          <a:p>
            <a:pPr>
              <a:buFont typeface="Arial" panose="020B0604020202020204" pitchFamily="34" charset="0"/>
              <a:buChar char="•"/>
            </a:pPr>
            <a:r>
              <a:rPr lang="en-US" b="1" dirty="0"/>
              <a:t>Many Workspaces:</a:t>
            </a:r>
            <a:r>
              <a:rPr lang="en-US" dirty="0"/>
              <a:t> Allows users to manage multiple documents in parallel through separate windows.</a:t>
            </a:r>
          </a:p>
          <a:p>
            <a:pPr>
              <a:buFont typeface="Arial" panose="020B0604020202020204" pitchFamily="34" charset="0"/>
              <a:buChar char="•"/>
            </a:pPr>
            <a:r>
              <a:rPr lang="en-US" b="1" dirty="0"/>
              <a:t>Alternative Views:</a:t>
            </a:r>
            <a:r>
              <a:rPr lang="en-US" dirty="0"/>
              <a:t> Enables users to view a single document through different perspectives.</a:t>
            </a:r>
          </a:p>
          <a:p>
            <a:pPr>
              <a:buFont typeface="Arial" panose="020B0604020202020204" pitchFamily="34" charset="0"/>
              <a:buChar char="•"/>
            </a:pPr>
            <a:r>
              <a:rPr lang="en-US" b="1" dirty="0"/>
              <a:t>Blank Slate Invitation:</a:t>
            </a:r>
            <a:r>
              <a:rPr lang="en-US" dirty="0"/>
              <a:t> Encourages users to start new projects with a clean slate, enhancing creativity and usability.</a:t>
            </a:r>
          </a:p>
          <a:p>
            <a:endParaRPr lang="en-IN" dirty="0"/>
          </a:p>
        </p:txBody>
      </p:sp>
    </p:spTree>
    <p:extLst>
      <p:ext uri="{BB962C8B-B14F-4D97-AF65-F5344CB8AC3E}">
        <p14:creationId xmlns:p14="http://schemas.microsoft.com/office/powerpoint/2010/main" val="1266511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BF75D-864A-0B6B-EFD5-666883A99875}"/>
              </a:ext>
            </a:extLst>
          </p:cNvPr>
          <p:cNvSpPr>
            <a:spLocks noGrp="1"/>
          </p:cNvSpPr>
          <p:nvPr>
            <p:ph type="title"/>
          </p:nvPr>
        </p:nvSpPr>
        <p:spPr/>
        <p:txBody>
          <a:bodyPr>
            <a:normAutofit fontScale="90000"/>
          </a:bodyPr>
          <a:lstStyle/>
          <a:p>
            <a:br>
              <a:rPr lang="en-US" b="1" dirty="0"/>
            </a:br>
            <a:r>
              <a:rPr lang="en-US" b="1" dirty="0"/>
              <a:t>Facilitating a specific task</a:t>
            </a:r>
            <a:br>
              <a:rPr lang="en-US" b="1" dirty="0"/>
            </a:br>
            <a:endParaRPr lang="en-IN" dirty="0"/>
          </a:p>
        </p:txBody>
      </p:sp>
      <p:sp>
        <p:nvSpPr>
          <p:cNvPr id="3" name="Content Placeholder 2">
            <a:extLst>
              <a:ext uri="{FF2B5EF4-FFF2-40B4-BE49-F238E27FC236}">
                <a16:creationId xmlns:a16="http://schemas.microsoft.com/office/drawing/2014/main" id="{A3567C07-16C2-39B4-2EAF-EC64C028F029}"/>
              </a:ext>
            </a:extLst>
          </p:cNvPr>
          <p:cNvSpPr>
            <a:spLocks noGrp="1"/>
          </p:cNvSpPr>
          <p:nvPr>
            <p:ph idx="1"/>
          </p:nvPr>
        </p:nvSpPr>
        <p:spPr/>
        <p:txBody>
          <a:bodyPr>
            <a:normAutofit fontScale="77500" lnSpcReduction="20000"/>
          </a:bodyPr>
          <a:lstStyle/>
          <a:p>
            <a:pPr marL="0" indent="0">
              <a:buNone/>
            </a:pPr>
            <a:r>
              <a:rPr lang="en-US" b="1" dirty="0"/>
              <a:t>User Interface Design for Task Completion</a:t>
            </a:r>
          </a:p>
          <a:p>
            <a:pPr>
              <a:buFont typeface="Arial" panose="020B0604020202020204" pitchFamily="34" charset="0"/>
              <a:buChar char="•"/>
            </a:pPr>
            <a:r>
              <a:rPr lang="en-US" b="1" dirty="0"/>
              <a:t> </a:t>
            </a:r>
            <a:r>
              <a:rPr lang="en-US" dirty="0"/>
              <a:t>Signing in, registering, posting, printing, uploading, purchasing, changing a setting—all such tasks fall into this category.</a:t>
            </a:r>
          </a:p>
          <a:p>
            <a:pPr>
              <a:buFont typeface="Arial" panose="020B0604020202020204" pitchFamily="34" charset="0"/>
              <a:buChar char="•"/>
            </a:pPr>
            <a:r>
              <a:rPr lang="en-US" dirty="0"/>
              <a:t>The interface should prioritize getting tasks done </a:t>
            </a:r>
          </a:p>
          <a:p>
            <a:pPr>
              <a:buFont typeface="Arial" panose="020B0604020202020204" pitchFamily="34" charset="0"/>
              <a:buChar char="•"/>
            </a:pPr>
            <a:r>
              <a:rPr lang="en-US" b="1" dirty="0"/>
              <a:t>Role of Forms:</a:t>
            </a:r>
            <a:r>
              <a:rPr lang="en-US" dirty="0"/>
              <a:t> Forms are essential for facilitating user tasks. </a:t>
            </a:r>
          </a:p>
          <a:p>
            <a:pPr>
              <a:buFont typeface="Arial" panose="020B0604020202020204" pitchFamily="34" charset="0"/>
              <a:buChar char="•"/>
            </a:pPr>
            <a:r>
              <a:rPr lang="en-US" b="1" dirty="0"/>
              <a:t>Task Complexity:</a:t>
            </a:r>
            <a:endParaRPr lang="en-US" dirty="0"/>
          </a:p>
          <a:p>
            <a:pPr marL="742950" lvl="1" indent="-285750">
              <a:buFont typeface="Arial" panose="020B0604020202020204" pitchFamily="34" charset="0"/>
              <a:buChar char="•"/>
            </a:pPr>
            <a:r>
              <a:rPr lang="en-US" dirty="0"/>
              <a:t>For simple tasks, a contained area (like a sign-in box) suffices.</a:t>
            </a:r>
          </a:p>
          <a:p>
            <a:pPr marL="742950" lvl="1" indent="-285750">
              <a:buFont typeface="Arial" panose="020B0604020202020204" pitchFamily="34" charset="0"/>
              <a:buChar char="•"/>
            </a:pPr>
            <a:r>
              <a:rPr lang="en-US" dirty="0"/>
              <a:t>For more complex tasks (long, branched, or with many options), it's important to structure the task effectively.</a:t>
            </a:r>
          </a:p>
          <a:p>
            <a:pPr>
              <a:buFont typeface="Arial" panose="020B0604020202020204" pitchFamily="34" charset="0"/>
              <a:buChar char="•"/>
            </a:pPr>
            <a:r>
              <a:rPr lang="en-US" b="1" dirty="0"/>
              <a:t>Breaking Down Tasks:</a:t>
            </a:r>
            <a:endParaRPr lang="en-US" dirty="0"/>
          </a:p>
          <a:p>
            <a:pPr marL="742950" lvl="1" indent="-285750">
              <a:buFont typeface="Arial" panose="020B0604020202020204" pitchFamily="34" charset="0"/>
              <a:buChar char="•"/>
            </a:pPr>
            <a:r>
              <a:rPr lang="en-US" dirty="0"/>
              <a:t>Consider using a </a:t>
            </a:r>
            <a:r>
              <a:rPr lang="en-US" b="1" dirty="0"/>
              <a:t>Wizard</a:t>
            </a:r>
            <a:r>
              <a:rPr lang="en-US" dirty="0"/>
              <a:t> for guiding users through multi-step tasks.</a:t>
            </a:r>
          </a:p>
          <a:p>
            <a:pPr>
              <a:buFont typeface="Arial" panose="020B0604020202020204" pitchFamily="34" charset="0"/>
              <a:buChar char="•"/>
            </a:pPr>
            <a:r>
              <a:rPr lang="en-US" b="1" dirty="0"/>
              <a:t>Settings Editor:</a:t>
            </a:r>
            <a:endParaRPr lang="en-US" dirty="0"/>
          </a:p>
          <a:p>
            <a:pPr marL="742950" lvl="1" indent="-285750">
              <a:buFont typeface="Arial" panose="020B0604020202020204" pitchFamily="34" charset="0"/>
              <a:buChar char="•"/>
            </a:pPr>
            <a:r>
              <a:rPr lang="en-US" dirty="0"/>
              <a:t>This interface allows users to change settings/preferences without a step-by-step approach. Users should have open access to various options and be able to navigate freely.</a:t>
            </a:r>
          </a:p>
          <a:p>
            <a:endParaRPr lang="en-IN" dirty="0"/>
          </a:p>
        </p:txBody>
      </p:sp>
    </p:spTree>
    <p:extLst>
      <p:ext uri="{BB962C8B-B14F-4D97-AF65-F5344CB8AC3E}">
        <p14:creationId xmlns:p14="http://schemas.microsoft.com/office/powerpoint/2010/main" val="2353386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295B9-E9D5-EF13-9145-4CB42F813379}"/>
              </a:ext>
            </a:extLst>
          </p:cNvPr>
          <p:cNvSpPr>
            <a:spLocks noGrp="1"/>
          </p:cNvSpPr>
          <p:nvPr>
            <p:ph type="title"/>
          </p:nvPr>
        </p:nvSpPr>
        <p:spPr/>
        <p:txBody>
          <a:bodyPr/>
          <a:lstStyle/>
          <a:p>
            <a:r>
              <a:rPr lang="en-IN" b="1" dirty="0"/>
              <a:t>The Patterns</a:t>
            </a:r>
          </a:p>
        </p:txBody>
      </p:sp>
      <p:sp>
        <p:nvSpPr>
          <p:cNvPr id="3" name="Content Placeholder 2">
            <a:extLst>
              <a:ext uri="{FF2B5EF4-FFF2-40B4-BE49-F238E27FC236}">
                <a16:creationId xmlns:a16="http://schemas.microsoft.com/office/drawing/2014/main" id="{C30C43DC-29CF-F68A-FEBF-66ACAE319D2A}"/>
              </a:ext>
            </a:extLst>
          </p:cNvPr>
          <p:cNvSpPr>
            <a:spLocks noGrp="1"/>
          </p:cNvSpPr>
          <p:nvPr>
            <p:ph idx="1"/>
          </p:nvPr>
        </p:nvSpPr>
        <p:spPr/>
        <p:txBody>
          <a:bodyPr/>
          <a:lstStyle/>
          <a:p>
            <a:pPr algn="just"/>
            <a:r>
              <a:rPr lang="en-US" dirty="0"/>
              <a:t>Interface patterns that define interactions for significant parts of applications or websites.</a:t>
            </a:r>
          </a:p>
          <a:p>
            <a:pPr algn="just"/>
            <a:r>
              <a:rPr lang="en-US" dirty="0"/>
              <a:t> Patterns like Picture Manager, Canvas Plus Palette, and Feature, Search, and Browse are "guilds" of smaller patterns, working together to provide comprehensive functionality and user experience across large sections or entire sites.</a:t>
            </a:r>
            <a:endParaRPr lang="en-IN" dirty="0"/>
          </a:p>
        </p:txBody>
      </p:sp>
    </p:spTree>
    <p:extLst>
      <p:ext uri="{BB962C8B-B14F-4D97-AF65-F5344CB8AC3E}">
        <p14:creationId xmlns:p14="http://schemas.microsoft.com/office/powerpoint/2010/main" val="1897082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8DC7A-E91D-2C58-1897-2E3EC5827D2B}"/>
              </a:ext>
            </a:extLst>
          </p:cNvPr>
          <p:cNvSpPr>
            <a:spLocks noGrp="1"/>
          </p:cNvSpPr>
          <p:nvPr>
            <p:ph type="title"/>
          </p:nvPr>
        </p:nvSpPr>
        <p:spPr/>
        <p:txBody>
          <a:bodyPr/>
          <a:lstStyle/>
          <a:p>
            <a:r>
              <a:rPr lang="en-IN" b="1" dirty="0"/>
              <a:t>The Patterns</a:t>
            </a:r>
            <a:endParaRPr lang="en-IN" dirty="0"/>
          </a:p>
        </p:txBody>
      </p:sp>
      <p:sp>
        <p:nvSpPr>
          <p:cNvPr id="3" name="Content Placeholder 2">
            <a:extLst>
              <a:ext uri="{FF2B5EF4-FFF2-40B4-BE49-F238E27FC236}">
                <a16:creationId xmlns:a16="http://schemas.microsoft.com/office/drawing/2014/main" id="{71D8E4F1-4666-F76F-06A8-A83FF0FF8390}"/>
              </a:ext>
            </a:extLst>
          </p:cNvPr>
          <p:cNvSpPr>
            <a:spLocks noGrp="1"/>
          </p:cNvSpPr>
          <p:nvPr>
            <p:ph idx="1"/>
          </p:nvPr>
        </p:nvSpPr>
        <p:spPr/>
        <p:txBody>
          <a:bodyPr>
            <a:normAutofit fontScale="77500" lnSpcReduction="20000"/>
          </a:bodyPr>
          <a:lstStyle/>
          <a:p>
            <a:pPr marL="0" indent="0">
              <a:buNone/>
            </a:pPr>
            <a:r>
              <a:rPr lang="en-US" dirty="0"/>
              <a:t>1. Feature, Search, and Browse</a:t>
            </a:r>
          </a:p>
          <a:p>
            <a:pPr marL="0" indent="0">
              <a:buNone/>
            </a:pPr>
            <a:r>
              <a:rPr lang="en-US" dirty="0"/>
              <a:t>2. News Stream</a:t>
            </a:r>
          </a:p>
          <a:p>
            <a:pPr marL="0" indent="0">
              <a:buNone/>
            </a:pPr>
            <a:r>
              <a:rPr lang="en-US" dirty="0"/>
              <a:t>3. Picture Manager</a:t>
            </a:r>
          </a:p>
          <a:p>
            <a:pPr marL="0" indent="0">
              <a:buNone/>
            </a:pPr>
            <a:r>
              <a:rPr lang="en-US" dirty="0"/>
              <a:t>4. Dashboard</a:t>
            </a:r>
          </a:p>
          <a:p>
            <a:pPr marL="0" indent="0">
              <a:buNone/>
            </a:pPr>
            <a:r>
              <a:rPr lang="en-US" dirty="0"/>
              <a:t>5. Canvas Plus Palette</a:t>
            </a:r>
          </a:p>
          <a:p>
            <a:pPr marL="0" indent="0">
              <a:buNone/>
            </a:pPr>
            <a:r>
              <a:rPr lang="en-US" dirty="0"/>
              <a:t>6. Wizard</a:t>
            </a:r>
          </a:p>
          <a:p>
            <a:pPr marL="0" indent="0">
              <a:buNone/>
            </a:pPr>
            <a:r>
              <a:rPr lang="en-US" dirty="0"/>
              <a:t>7. Settings Editor</a:t>
            </a:r>
          </a:p>
          <a:p>
            <a:pPr marL="0" indent="0">
              <a:buNone/>
            </a:pPr>
            <a:r>
              <a:rPr lang="en-US" b="1" dirty="0"/>
              <a:t>The last three patterns are more “meta,” in the sense that they can apply to the other patterns in the preceding list</a:t>
            </a:r>
          </a:p>
          <a:p>
            <a:pPr marL="0" indent="0">
              <a:buNone/>
            </a:pPr>
            <a:r>
              <a:rPr lang="en-US" dirty="0"/>
              <a:t>8. Alternative Views</a:t>
            </a:r>
          </a:p>
          <a:p>
            <a:pPr marL="0" indent="0">
              <a:buNone/>
            </a:pPr>
            <a:r>
              <a:rPr lang="en-US" dirty="0"/>
              <a:t>9. Many Workspaces</a:t>
            </a:r>
          </a:p>
          <a:p>
            <a:pPr marL="0" indent="0">
              <a:buNone/>
            </a:pPr>
            <a:r>
              <a:rPr lang="en-US" dirty="0"/>
              <a:t>10. Multi-Level Help</a:t>
            </a:r>
          </a:p>
          <a:p>
            <a:endParaRPr lang="en-US" dirty="0"/>
          </a:p>
          <a:p>
            <a:endParaRPr lang="en-IN" dirty="0"/>
          </a:p>
        </p:txBody>
      </p:sp>
    </p:spTree>
    <p:extLst>
      <p:ext uri="{BB962C8B-B14F-4D97-AF65-F5344CB8AC3E}">
        <p14:creationId xmlns:p14="http://schemas.microsoft.com/office/powerpoint/2010/main" val="2158641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9B2CA-AB64-B7C2-F83E-A990EA251534}"/>
              </a:ext>
            </a:extLst>
          </p:cNvPr>
          <p:cNvSpPr>
            <a:spLocks noGrp="1"/>
          </p:cNvSpPr>
          <p:nvPr>
            <p:ph type="title"/>
          </p:nvPr>
        </p:nvSpPr>
        <p:spPr/>
        <p:txBody>
          <a:bodyPr/>
          <a:lstStyle/>
          <a:p>
            <a:r>
              <a:rPr lang="en-US" dirty="0"/>
              <a:t>1</a:t>
            </a:r>
            <a:r>
              <a:rPr lang="en-US" b="1" dirty="0"/>
              <a:t>. Feature, Search, and Browse</a:t>
            </a:r>
            <a:br>
              <a:rPr lang="en-US" dirty="0"/>
            </a:br>
            <a:endParaRPr lang="en-IN" dirty="0"/>
          </a:p>
        </p:txBody>
      </p:sp>
      <p:sp>
        <p:nvSpPr>
          <p:cNvPr id="3" name="Content Placeholder 2">
            <a:extLst>
              <a:ext uri="{FF2B5EF4-FFF2-40B4-BE49-F238E27FC236}">
                <a16:creationId xmlns:a16="http://schemas.microsoft.com/office/drawing/2014/main" id="{14F958E0-0EF5-C91C-2995-B2E4B780ECBE}"/>
              </a:ext>
            </a:extLst>
          </p:cNvPr>
          <p:cNvSpPr>
            <a:spLocks noGrp="1"/>
          </p:cNvSpPr>
          <p:nvPr>
            <p:ph idx="1"/>
          </p:nvPr>
        </p:nvSpPr>
        <p:spPr/>
        <p:txBody>
          <a:bodyPr/>
          <a:lstStyle/>
          <a:p>
            <a:r>
              <a:rPr lang="en-US" dirty="0"/>
              <a:t>Put three elements on the main page of the site or app: a featured </a:t>
            </a:r>
            <a:r>
              <a:rPr lang="en-US" b="1" dirty="0"/>
              <a:t>article or product</a:t>
            </a:r>
            <a:r>
              <a:rPr lang="en-US" dirty="0"/>
              <a:t>, </a:t>
            </a:r>
            <a:r>
              <a:rPr lang="en-US" b="1" dirty="0"/>
              <a:t>a search box</a:t>
            </a:r>
            <a:r>
              <a:rPr lang="en-US" dirty="0"/>
              <a:t>, and </a:t>
            </a:r>
            <a:r>
              <a:rPr lang="en-US" b="1" dirty="0"/>
              <a:t>a list of items or categories that can be browsed</a:t>
            </a:r>
          </a:p>
          <a:p>
            <a:r>
              <a:rPr lang="en-US" dirty="0"/>
              <a:t>This approach helps users quickly find engaging content and encourages them to explore more of what your site has to offer.</a:t>
            </a:r>
            <a:endParaRPr lang="en-US" b="1" dirty="0"/>
          </a:p>
          <a:p>
            <a:endParaRPr lang="en-IN" b="1" dirty="0"/>
          </a:p>
        </p:txBody>
      </p:sp>
      <p:pic>
        <p:nvPicPr>
          <p:cNvPr id="5" name="Picture 4">
            <a:extLst>
              <a:ext uri="{FF2B5EF4-FFF2-40B4-BE49-F238E27FC236}">
                <a16:creationId xmlns:a16="http://schemas.microsoft.com/office/drawing/2014/main" id="{B3FCA10E-3DD9-CFAE-B14C-A071428E6ED9}"/>
              </a:ext>
            </a:extLst>
          </p:cNvPr>
          <p:cNvPicPr>
            <a:picLocks noChangeAspect="1"/>
          </p:cNvPicPr>
          <p:nvPr/>
        </p:nvPicPr>
        <p:blipFill>
          <a:blip r:embed="rId2"/>
          <a:stretch>
            <a:fillRect/>
          </a:stretch>
        </p:blipFill>
        <p:spPr>
          <a:xfrm>
            <a:off x="1425677" y="3982065"/>
            <a:ext cx="10144433" cy="2752622"/>
          </a:xfrm>
          <a:prstGeom prst="rect">
            <a:avLst/>
          </a:prstGeom>
        </p:spPr>
      </p:pic>
    </p:spTree>
    <p:extLst>
      <p:ext uri="{BB962C8B-B14F-4D97-AF65-F5344CB8AC3E}">
        <p14:creationId xmlns:p14="http://schemas.microsoft.com/office/powerpoint/2010/main" val="678431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64786-E3CB-F660-90A2-689456A3880C}"/>
              </a:ext>
            </a:extLst>
          </p:cNvPr>
          <p:cNvSpPr>
            <a:spLocks noGrp="1"/>
          </p:cNvSpPr>
          <p:nvPr>
            <p:ph type="title"/>
          </p:nvPr>
        </p:nvSpPr>
        <p:spPr/>
        <p:txBody>
          <a:bodyPr/>
          <a:lstStyle/>
          <a:p>
            <a:r>
              <a:rPr lang="en-US" b="1" dirty="0"/>
              <a:t>1. Feature, Search, and Browse - WHY</a:t>
            </a:r>
            <a:br>
              <a:rPr lang="en-US" dirty="0"/>
            </a:br>
            <a:endParaRPr lang="en-IN" dirty="0"/>
          </a:p>
        </p:txBody>
      </p:sp>
      <p:sp>
        <p:nvSpPr>
          <p:cNvPr id="3" name="Content Placeholder 2">
            <a:extLst>
              <a:ext uri="{FF2B5EF4-FFF2-40B4-BE49-F238E27FC236}">
                <a16:creationId xmlns:a16="http://schemas.microsoft.com/office/drawing/2014/main" id="{43EB0EAB-BA51-E5DC-4BE3-D0E11376BE84}"/>
              </a:ext>
            </a:extLst>
          </p:cNvPr>
          <p:cNvSpPr>
            <a:spLocks noGrp="1"/>
          </p:cNvSpPr>
          <p:nvPr>
            <p:ph idx="1"/>
          </p:nvPr>
        </p:nvSpPr>
        <p:spPr/>
        <p:txBody>
          <a:bodyPr>
            <a:normAutofit fontScale="92500" lnSpcReduction="10000"/>
          </a:bodyPr>
          <a:lstStyle/>
          <a:p>
            <a:r>
              <a:rPr lang="en-US" dirty="0"/>
              <a:t>Successful sites often use three key elements together: search ,browsing options, and featured items. </a:t>
            </a:r>
          </a:p>
          <a:p>
            <a:pPr>
              <a:buFont typeface="Wingdings" panose="05000000000000000000" pitchFamily="2" charset="2"/>
              <a:buChar char="Ø"/>
            </a:pPr>
            <a:r>
              <a:rPr lang="en-US" dirty="0"/>
              <a:t>Search lets users find exactly what they want. </a:t>
            </a:r>
          </a:p>
          <a:p>
            <a:pPr>
              <a:buFont typeface="Wingdings" panose="05000000000000000000" pitchFamily="2" charset="2"/>
              <a:buChar char="Ø"/>
            </a:pPr>
            <a:r>
              <a:rPr lang="en-US" dirty="0"/>
              <a:t>while browsing helps them discover new things. </a:t>
            </a:r>
          </a:p>
          <a:p>
            <a:pPr>
              <a:buFont typeface="Wingdings" panose="05000000000000000000" pitchFamily="2" charset="2"/>
              <a:buChar char="Ø"/>
            </a:pPr>
            <a:r>
              <a:rPr lang="en-US" dirty="0"/>
              <a:t>Featured items grab attention with appealing images and headlines, giving users something interesting to engage with right away. </a:t>
            </a:r>
          </a:p>
          <a:p>
            <a:r>
              <a:rPr lang="en-US" dirty="0"/>
              <a:t>This approach can make users more interested in your site and keep them exploring.</a:t>
            </a:r>
          </a:p>
          <a:p>
            <a:r>
              <a:rPr lang="en-US" dirty="0"/>
              <a:t>A user who lands on a page now has something to read or experiment with, without doing any additional work at all and he may find it more interesting than whatever he originally came for.</a:t>
            </a:r>
          </a:p>
          <a:p>
            <a:endParaRPr lang="en-IN" dirty="0"/>
          </a:p>
        </p:txBody>
      </p:sp>
    </p:spTree>
    <p:extLst>
      <p:ext uri="{BB962C8B-B14F-4D97-AF65-F5344CB8AC3E}">
        <p14:creationId xmlns:p14="http://schemas.microsoft.com/office/powerpoint/2010/main" val="3194480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FDDFA-4F29-D57D-1C2C-1822C8B1ECA6}"/>
              </a:ext>
            </a:extLst>
          </p:cNvPr>
          <p:cNvSpPr>
            <a:spLocks noGrp="1"/>
          </p:cNvSpPr>
          <p:nvPr>
            <p:ph type="title"/>
          </p:nvPr>
        </p:nvSpPr>
        <p:spPr/>
        <p:txBody>
          <a:bodyPr/>
          <a:lstStyle/>
          <a:p>
            <a:r>
              <a:rPr lang="en-US" b="1" dirty="0"/>
              <a:t>1. Feature, Search, and Browse- HOW</a:t>
            </a:r>
            <a:endParaRPr lang="en-IN" dirty="0"/>
          </a:p>
        </p:txBody>
      </p:sp>
      <p:sp>
        <p:nvSpPr>
          <p:cNvPr id="3" name="Content Placeholder 2">
            <a:extLst>
              <a:ext uri="{FF2B5EF4-FFF2-40B4-BE49-F238E27FC236}">
                <a16:creationId xmlns:a16="http://schemas.microsoft.com/office/drawing/2014/main" id="{A567C518-C961-4D09-C636-2CDB46A814D3}"/>
              </a:ext>
            </a:extLst>
          </p:cNvPr>
          <p:cNvSpPr>
            <a:spLocks noGrp="1"/>
          </p:cNvSpPr>
          <p:nvPr>
            <p:ph idx="1"/>
          </p:nvPr>
        </p:nvSpPr>
        <p:spPr/>
        <p:txBody>
          <a:bodyPr>
            <a:normAutofit fontScale="92500" lnSpcReduction="10000"/>
          </a:bodyPr>
          <a:lstStyle/>
          <a:p>
            <a:pPr algn="just"/>
            <a:r>
              <a:rPr lang="en-US" dirty="0"/>
              <a:t>Place the search box in a prominent spot, like the top corner or across the top of the page. Use whitespace and a different background color to make it stand out and avoid confusion with other text fields.</a:t>
            </a:r>
          </a:p>
          <a:p>
            <a:pPr algn="just"/>
            <a:r>
              <a:rPr lang="en-US" dirty="0"/>
              <a:t>Set aside Center Stage for the featured article, product, or video. Very near it, and still above the fold, place an area for browsing the rest of the site’s content.</a:t>
            </a:r>
          </a:p>
          <a:p>
            <a:pPr algn="just"/>
            <a:r>
              <a:rPr lang="en-US" dirty="0"/>
              <a:t>Use lists, menus, or expandable categories to help users explore more easily.</a:t>
            </a:r>
          </a:p>
          <a:p>
            <a:pPr algn="just"/>
            <a:r>
              <a:rPr lang="en-US" dirty="0"/>
              <a:t>If the category labels open in place to show subcategories, the list behaves like a tree. Some sites, such as Amazon, turn the category labels into menus: when the pointer rolls over the label, a menu of subcategories appears.</a:t>
            </a:r>
          </a:p>
          <a:p>
            <a:endParaRPr lang="en-IN" dirty="0"/>
          </a:p>
        </p:txBody>
      </p:sp>
    </p:spTree>
    <p:extLst>
      <p:ext uri="{BB962C8B-B14F-4D97-AF65-F5344CB8AC3E}">
        <p14:creationId xmlns:p14="http://schemas.microsoft.com/office/powerpoint/2010/main" val="961949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34AFC-D207-20C8-CB69-C38BBE85912A}"/>
              </a:ext>
            </a:extLst>
          </p:cNvPr>
          <p:cNvSpPr>
            <a:spLocks noGrp="1"/>
          </p:cNvSpPr>
          <p:nvPr>
            <p:ph type="title"/>
          </p:nvPr>
        </p:nvSpPr>
        <p:spPr/>
        <p:txBody>
          <a:bodyPr/>
          <a:lstStyle/>
          <a:p>
            <a:r>
              <a:rPr lang="en-US" b="1" dirty="0"/>
              <a:t>1. Feature, Search, and Browse- HOW</a:t>
            </a:r>
            <a:endParaRPr lang="en-IN" dirty="0"/>
          </a:p>
        </p:txBody>
      </p:sp>
      <p:sp>
        <p:nvSpPr>
          <p:cNvPr id="3" name="Content Placeholder 2">
            <a:extLst>
              <a:ext uri="{FF2B5EF4-FFF2-40B4-BE49-F238E27FC236}">
                <a16:creationId xmlns:a16="http://schemas.microsoft.com/office/drawing/2014/main" id="{4FCEFA2B-D6DB-CADA-81E1-A02D1B8293D4}"/>
              </a:ext>
            </a:extLst>
          </p:cNvPr>
          <p:cNvSpPr>
            <a:spLocks noGrp="1"/>
          </p:cNvSpPr>
          <p:nvPr>
            <p:ph idx="1"/>
          </p:nvPr>
        </p:nvSpPr>
        <p:spPr/>
        <p:txBody>
          <a:bodyPr/>
          <a:lstStyle/>
          <a:p>
            <a:r>
              <a:rPr lang="en-US" dirty="0"/>
              <a:t>Choose your featured items carefully. </a:t>
            </a:r>
          </a:p>
          <a:p>
            <a:r>
              <a:rPr lang="en-US" dirty="0"/>
              <a:t>Features are a good way to sell items, advertise specials, and call attention to breaking news.</a:t>
            </a:r>
          </a:p>
          <a:p>
            <a:r>
              <a:rPr lang="en-US" dirty="0"/>
              <a:t> However, they also define what your site is about.</a:t>
            </a:r>
          </a:p>
          <a:p>
            <a:r>
              <a:rPr lang="en-US" dirty="0"/>
              <a:t>They should reflect your site's values and interests—whether that's promoting products, specials, or charitable efforts.</a:t>
            </a:r>
          </a:p>
          <a:p>
            <a:r>
              <a:rPr lang="en-US" dirty="0"/>
              <a:t> Understand what your users care about and what will keep them engaged with your site.</a:t>
            </a:r>
            <a:endParaRPr lang="en-IN" dirty="0"/>
          </a:p>
        </p:txBody>
      </p:sp>
    </p:spTree>
    <p:extLst>
      <p:ext uri="{BB962C8B-B14F-4D97-AF65-F5344CB8AC3E}">
        <p14:creationId xmlns:p14="http://schemas.microsoft.com/office/powerpoint/2010/main" val="3919649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2F212-01D9-7BFC-7AE9-B95A370148A0}"/>
              </a:ext>
            </a:extLst>
          </p:cNvPr>
          <p:cNvSpPr>
            <a:spLocks noGrp="1"/>
          </p:cNvSpPr>
          <p:nvPr>
            <p:ph type="title"/>
          </p:nvPr>
        </p:nvSpPr>
        <p:spPr>
          <a:xfrm>
            <a:off x="838200" y="500062"/>
            <a:ext cx="10515600" cy="1325563"/>
          </a:xfrm>
        </p:spPr>
        <p:txBody>
          <a:bodyPr/>
          <a:lstStyle/>
          <a:p>
            <a:r>
              <a:rPr lang="en-US" b="1" dirty="0"/>
              <a:t>2. News Stream</a:t>
            </a:r>
            <a:r>
              <a:rPr lang="en-US" dirty="0"/>
              <a:t>- </a:t>
            </a:r>
            <a:r>
              <a:rPr lang="en-US" b="1" dirty="0"/>
              <a:t>WHAT &amp; WHEN</a:t>
            </a:r>
            <a:endParaRPr lang="en-IN" b="1" dirty="0"/>
          </a:p>
        </p:txBody>
      </p:sp>
      <p:sp>
        <p:nvSpPr>
          <p:cNvPr id="3" name="Content Placeholder 2">
            <a:extLst>
              <a:ext uri="{FF2B5EF4-FFF2-40B4-BE49-F238E27FC236}">
                <a16:creationId xmlns:a16="http://schemas.microsoft.com/office/drawing/2014/main" id="{7D67A797-9E9F-E6E0-D3EA-D4C10C680B6B}"/>
              </a:ext>
            </a:extLst>
          </p:cNvPr>
          <p:cNvSpPr>
            <a:spLocks noGrp="1"/>
          </p:cNvSpPr>
          <p:nvPr>
            <p:ph idx="1"/>
          </p:nvPr>
        </p:nvSpPr>
        <p:spPr/>
        <p:txBody>
          <a:bodyPr/>
          <a:lstStyle/>
          <a:p>
            <a:r>
              <a:rPr lang="en-US" dirty="0"/>
              <a:t>Display , time-sensitive items in a reverse chronological order, with the latest at the top. </a:t>
            </a:r>
          </a:p>
          <a:p>
            <a:r>
              <a:rPr lang="en-US" dirty="0"/>
              <a:t>Update the list dynamically and combine items from various sources into a single stream.</a:t>
            </a:r>
          </a:p>
          <a:p>
            <a:r>
              <a:rPr lang="en-US" dirty="0"/>
              <a:t>Your site or app uses communication channels like blogs, email, social media, or news updates to deliver timely content. </a:t>
            </a:r>
            <a:endParaRPr lang="en-IN" dirty="0"/>
          </a:p>
        </p:txBody>
      </p:sp>
    </p:spTree>
    <p:extLst>
      <p:ext uri="{BB962C8B-B14F-4D97-AF65-F5344CB8AC3E}">
        <p14:creationId xmlns:p14="http://schemas.microsoft.com/office/powerpoint/2010/main" val="1780032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BC66E-32A3-2530-2BA0-26C417CAEB8A}"/>
              </a:ext>
            </a:extLst>
          </p:cNvPr>
          <p:cNvSpPr>
            <a:spLocks noGrp="1"/>
          </p:cNvSpPr>
          <p:nvPr>
            <p:ph type="title"/>
          </p:nvPr>
        </p:nvSpPr>
        <p:spPr/>
        <p:txBody>
          <a:bodyPr/>
          <a:lstStyle/>
          <a:p>
            <a:r>
              <a:rPr lang="en-US" b="1" dirty="0"/>
              <a:t>2. News Stream</a:t>
            </a:r>
            <a:r>
              <a:rPr lang="en-US" dirty="0"/>
              <a:t>- </a:t>
            </a:r>
            <a:r>
              <a:rPr lang="en-US" b="1" dirty="0"/>
              <a:t>WHY</a:t>
            </a:r>
            <a:endParaRPr lang="en-IN" dirty="0"/>
          </a:p>
        </p:txBody>
      </p:sp>
      <p:sp>
        <p:nvSpPr>
          <p:cNvPr id="3" name="Content Placeholder 2">
            <a:extLst>
              <a:ext uri="{FF2B5EF4-FFF2-40B4-BE49-F238E27FC236}">
                <a16:creationId xmlns:a16="http://schemas.microsoft.com/office/drawing/2014/main" id="{03D97659-C561-1980-4E78-D2BCED5DB80E}"/>
              </a:ext>
            </a:extLst>
          </p:cNvPr>
          <p:cNvSpPr>
            <a:spLocks noGrp="1"/>
          </p:cNvSpPr>
          <p:nvPr>
            <p:ph idx="1"/>
          </p:nvPr>
        </p:nvSpPr>
        <p:spPr/>
        <p:txBody>
          <a:bodyPr>
            <a:normAutofit fontScale="92500" lnSpcReduction="10000"/>
          </a:bodyPr>
          <a:lstStyle/>
          <a:p>
            <a:r>
              <a:rPr lang="en-US" dirty="0"/>
              <a:t>News streams are easy to follow because the latest items always appear at the top automatically. </a:t>
            </a:r>
          </a:p>
          <a:p>
            <a:r>
              <a:rPr lang="en-US" dirty="0"/>
              <a:t>They can check in often and be assured of seeing what they need to see</a:t>
            </a:r>
          </a:p>
          <a:p>
            <a:r>
              <a:rPr lang="en-US" dirty="0"/>
              <a:t>People visit various sites and apps daily to stay updated on friends, conversations, or topics of interest. Combining multiple news sources into one place makes it easier to keep track of everything. This aligns with the Microbreaks pattern, allowing users to get a lot of information quickly and effortlessly.</a:t>
            </a:r>
          </a:p>
          <a:p>
            <a:r>
              <a:rPr lang="en-US" dirty="0"/>
              <a:t>For publishers, including a News Box or similar feature on your main page helps visitors see the latest updates and important content, such as new products, blog posts, videos, news, and other initiatives. This is especially useful for large organizations with many ongoing activities.</a:t>
            </a:r>
          </a:p>
          <a:p>
            <a:endParaRPr lang="en-IN" dirty="0"/>
          </a:p>
        </p:txBody>
      </p:sp>
    </p:spTree>
    <p:extLst>
      <p:ext uri="{BB962C8B-B14F-4D97-AF65-F5344CB8AC3E}">
        <p14:creationId xmlns:p14="http://schemas.microsoft.com/office/powerpoint/2010/main" val="3375154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5CDFA-93D7-A74A-7943-29C4AEA26EBE}"/>
              </a:ext>
            </a:extLst>
          </p:cNvPr>
          <p:cNvSpPr>
            <a:spLocks noGrp="1"/>
          </p:cNvSpPr>
          <p:nvPr>
            <p:ph type="title"/>
          </p:nvPr>
        </p:nvSpPr>
        <p:spPr/>
        <p:txBody>
          <a:bodyPr/>
          <a:lstStyle/>
          <a:p>
            <a:r>
              <a:rPr lang="en-US" b="1" dirty="0"/>
              <a:t>2. News Stream- HOW</a:t>
            </a:r>
            <a:endParaRPr lang="en-IN" dirty="0"/>
          </a:p>
        </p:txBody>
      </p:sp>
      <p:sp>
        <p:nvSpPr>
          <p:cNvPr id="3" name="Content Placeholder 2">
            <a:extLst>
              <a:ext uri="{FF2B5EF4-FFF2-40B4-BE49-F238E27FC236}">
                <a16:creationId xmlns:a16="http://schemas.microsoft.com/office/drawing/2014/main" id="{6023FB39-34AE-18F9-3CD6-5D66002AAAEF}"/>
              </a:ext>
            </a:extLst>
          </p:cNvPr>
          <p:cNvSpPr>
            <a:spLocks noGrp="1"/>
          </p:cNvSpPr>
          <p:nvPr>
            <p:ph idx="1"/>
          </p:nvPr>
        </p:nvSpPr>
        <p:spPr/>
        <p:txBody>
          <a:bodyPr>
            <a:normAutofit fontScale="85000" lnSpcReduction="20000"/>
          </a:bodyPr>
          <a:lstStyle/>
          <a:p>
            <a:r>
              <a:rPr lang="en-US" dirty="0"/>
              <a:t>To help users keep up with multiple news sources easily, follow these guidelines:</a:t>
            </a:r>
          </a:p>
          <a:p>
            <a:pPr>
              <a:buFont typeface="+mj-lt"/>
              <a:buAutoNum type="arabicPeriod"/>
            </a:pPr>
            <a:r>
              <a:rPr lang="en-US" b="1" dirty="0"/>
              <a:t>Display Items</a:t>
            </a:r>
            <a:r>
              <a:rPr lang="en-US" dirty="0"/>
              <a:t>: List news items in reverse chronological order, with the newest at the top. If possible, automatically update the list with new items and provide an option to manually refresh.</a:t>
            </a:r>
          </a:p>
          <a:p>
            <a:pPr>
              <a:buFont typeface="+mj-lt"/>
              <a:buAutoNum type="arabicPeriod"/>
            </a:pPr>
            <a:r>
              <a:rPr lang="en-US" b="1" dirty="0"/>
              <a:t>Organize Streams</a:t>
            </a:r>
            <a:r>
              <a:rPr lang="en-US" dirty="0"/>
              <a:t>: For busy feeds, break content into sub streams by topic, sender, or other factors. Allow users to choose which sub streams they want to view.</a:t>
            </a:r>
          </a:p>
          <a:p>
            <a:pPr>
              <a:buFont typeface="+mj-lt"/>
              <a:buAutoNum type="arabicPeriod"/>
            </a:pPr>
            <a:r>
              <a:rPr lang="en-US" b="1" dirty="0"/>
              <a:t>Information to Include</a:t>
            </a:r>
            <a:r>
              <a:rPr lang="en-US" dirty="0"/>
              <a:t>:</a:t>
            </a:r>
          </a:p>
          <a:p>
            <a:pPr marL="742950" lvl="1" indent="-285750">
              <a:buFont typeface="+mj-lt"/>
              <a:buAutoNum type="arabicPeriod"/>
            </a:pPr>
            <a:r>
              <a:rPr lang="en-US" b="1" dirty="0"/>
              <a:t>What</a:t>
            </a:r>
            <a:r>
              <a:rPr lang="en-US" dirty="0"/>
              <a:t>: Show the full micro-update or, for longer content, include a title, brief teaser, and thumbnail image.</a:t>
            </a:r>
          </a:p>
          <a:p>
            <a:pPr marL="742950" lvl="1" indent="-285750">
              <a:buFont typeface="+mj-lt"/>
              <a:buAutoNum type="arabicPeriod"/>
            </a:pPr>
            <a:r>
              <a:rPr lang="en-US" b="1" dirty="0"/>
              <a:t>Who</a:t>
            </a:r>
            <a:r>
              <a:rPr lang="en-US" dirty="0"/>
              <a:t>: Display the name of the author or source, balancing personal names with institutional names.</a:t>
            </a:r>
          </a:p>
          <a:p>
            <a:pPr marL="742950" lvl="1" indent="-285750">
              <a:buFont typeface="+mj-lt"/>
              <a:buAutoNum type="arabicPeriod"/>
            </a:pPr>
            <a:r>
              <a:rPr lang="en-US" b="1" dirty="0"/>
              <a:t>When</a:t>
            </a:r>
            <a:r>
              <a:rPr lang="en-US" dirty="0"/>
              <a:t>: Provide a date or timestamp, and consider using relative times like “Yesterday” or “11 minutes ago.”</a:t>
            </a:r>
          </a:p>
          <a:p>
            <a:pPr marL="742950" lvl="1" indent="-285750">
              <a:buFont typeface="+mj-lt"/>
              <a:buAutoNum type="arabicPeriod"/>
            </a:pPr>
            <a:r>
              <a:rPr lang="en-US" b="1" dirty="0"/>
              <a:t>Where</a:t>
            </a:r>
            <a:r>
              <a:rPr lang="en-US" dirty="0"/>
              <a:t>: Link to the source of the item, or show geolocation data if applicable.</a:t>
            </a:r>
          </a:p>
          <a:p>
            <a:endParaRPr lang="en-IN" dirty="0"/>
          </a:p>
        </p:txBody>
      </p:sp>
    </p:spTree>
    <p:extLst>
      <p:ext uri="{BB962C8B-B14F-4D97-AF65-F5344CB8AC3E}">
        <p14:creationId xmlns:p14="http://schemas.microsoft.com/office/powerpoint/2010/main" val="1448083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059DE-3E16-477F-2A26-D2FD0087679E}"/>
              </a:ext>
            </a:extLst>
          </p:cNvPr>
          <p:cNvSpPr>
            <a:spLocks noGrp="1"/>
          </p:cNvSpPr>
          <p:nvPr>
            <p:ph type="title"/>
          </p:nvPr>
        </p:nvSpPr>
        <p:spPr/>
        <p:txBody>
          <a:bodyPr/>
          <a:lstStyle/>
          <a:p>
            <a:r>
              <a:rPr lang="en-US" b="1" dirty="0"/>
              <a:t>2. News Stream</a:t>
            </a:r>
            <a:endParaRPr lang="en-IN" dirty="0"/>
          </a:p>
        </p:txBody>
      </p:sp>
      <p:sp>
        <p:nvSpPr>
          <p:cNvPr id="3" name="Content Placeholder 2">
            <a:extLst>
              <a:ext uri="{FF2B5EF4-FFF2-40B4-BE49-F238E27FC236}">
                <a16:creationId xmlns:a16="http://schemas.microsoft.com/office/drawing/2014/main" id="{304469AB-4B3E-F70B-F745-E5F431DA0BD6}"/>
              </a:ext>
            </a:extLst>
          </p:cNvPr>
          <p:cNvSpPr>
            <a:spLocks noGrp="1"/>
          </p:cNvSpPr>
          <p:nvPr>
            <p:ph idx="1"/>
          </p:nvPr>
        </p:nvSpPr>
        <p:spPr/>
        <p:txBody>
          <a:bodyPr>
            <a:normAutofit fontScale="77500" lnSpcReduction="20000"/>
          </a:bodyPr>
          <a:lstStyle/>
          <a:p>
            <a:r>
              <a:rPr lang="en-US" dirty="0"/>
              <a:t>For handling content in a News Stream:</a:t>
            </a:r>
          </a:p>
          <a:p>
            <a:pPr>
              <a:buFont typeface="+mj-lt"/>
              <a:buAutoNum type="arabicPeriod"/>
            </a:pPr>
            <a:r>
              <a:rPr lang="en-US" b="1" dirty="0"/>
              <a:t>Expand Content</a:t>
            </a:r>
            <a:r>
              <a:rPr lang="en-US" dirty="0"/>
              <a:t>: If an item is too long to display fully, include a “More” link or button to view the entire content. Consider using Two-Panel Selector, One-Window Drilldown, or List Inlay methods to show additional details.</a:t>
            </a:r>
          </a:p>
          <a:p>
            <a:pPr>
              <a:buFont typeface="+mj-lt"/>
              <a:buAutoNum type="arabicPeriod"/>
            </a:pPr>
            <a:r>
              <a:rPr lang="en-US" b="1" dirty="0"/>
              <a:t>Encourage Interaction</a:t>
            </a:r>
            <a:r>
              <a:rPr lang="en-US" dirty="0"/>
              <a:t>: Allow users to quickly respond to items with actions like stars, thumbs-up, likes, or favorites. Also, provide options for longer replies and place these controls next to each item to promote engagement.</a:t>
            </a:r>
          </a:p>
          <a:p>
            <a:pPr>
              <a:buFont typeface="+mj-lt"/>
              <a:buAutoNum type="arabicPeriod"/>
            </a:pPr>
            <a:r>
              <a:rPr lang="en-US" b="1" dirty="0"/>
              <a:t>Enable Sharing</a:t>
            </a:r>
            <a:r>
              <a:rPr lang="en-US" dirty="0"/>
              <a:t>: Facilitate easy sharing of items via email or social media. </a:t>
            </a:r>
          </a:p>
          <a:p>
            <a:pPr>
              <a:buFont typeface="+mj-lt"/>
              <a:buAutoNum type="arabicPeriod"/>
            </a:pPr>
            <a:r>
              <a:rPr lang="en-US" b="1" dirty="0"/>
              <a:t>Mobile Design</a:t>
            </a:r>
            <a:r>
              <a:rPr lang="en-US" dirty="0"/>
              <a:t>: On mobile devices, use a full-screen list, often a Thumbnail-and-Text List, where users can tap or click to view items in detail. Infinite List patterns, which load more content as users scroll, are common in mobile and full-screen designs.</a:t>
            </a:r>
          </a:p>
          <a:p>
            <a:pPr>
              <a:buFont typeface="+mj-lt"/>
              <a:buAutoNum type="arabicPeriod"/>
            </a:pPr>
            <a:r>
              <a:rPr lang="en-US" b="1" dirty="0"/>
              <a:t>Activity Streams</a:t>
            </a:r>
            <a:r>
              <a:rPr lang="en-US" dirty="0"/>
              <a:t>: Note that activity streams focus on time-ordered actions performed by entities (individuals, systems, or organizations), while News Streams aggregate diverse sources of interest to users.</a:t>
            </a:r>
          </a:p>
          <a:p>
            <a:endParaRPr lang="en-IN" dirty="0"/>
          </a:p>
        </p:txBody>
      </p:sp>
    </p:spTree>
    <p:extLst>
      <p:ext uri="{BB962C8B-B14F-4D97-AF65-F5344CB8AC3E}">
        <p14:creationId xmlns:p14="http://schemas.microsoft.com/office/powerpoint/2010/main" val="117912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7E3B6-C9C5-E958-B54D-4ADDB645E16C}"/>
              </a:ext>
            </a:extLst>
          </p:cNvPr>
          <p:cNvSpPr>
            <a:spLocks noGrp="1"/>
          </p:cNvSpPr>
          <p:nvPr>
            <p:ph type="title"/>
          </p:nvPr>
        </p:nvSpPr>
        <p:spPr/>
        <p:txBody>
          <a:bodyPr/>
          <a:lstStyle/>
          <a:p>
            <a:endParaRPr lang="en-IN" dirty="0"/>
          </a:p>
        </p:txBody>
      </p:sp>
      <p:pic>
        <p:nvPicPr>
          <p:cNvPr id="13" name="Picture 12">
            <a:extLst>
              <a:ext uri="{FF2B5EF4-FFF2-40B4-BE49-F238E27FC236}">
                <a16:creationId xmlns:a16="http://schemas.microsoft.com/office/drawing/2014/main" id="{B738A4B1-B977-B898-DC8C-12FFEE3D1E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892" y="0"/>
            <a:ext cx="5829089" cy="3736258"/>
          </a:xfrm>
          <a:prstGeom prst="rect">
            <a:avLst/>
          </a:prstGeom>
        </p:spPr>
      </p:pic>
      <p:pic>
        <p:nvPicPr>
          <p:cNvPr id="17" name="Picture 16">
            <a:extLst>
              <a:ext uri="{FF2B5EF4-FFF2-40B4-BE49-F238E27FC236}">
                <a16:creationId xmlns:a16="http://schemas.microsoft.com/office/drawing/2014/main" id="{82B910B1-30F2-1494-8072-5B01A7485B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7289" y="-267929"/>
            <a:ext cx="6204154" cy="3003755"/>
          </a:xfrm>
          <a:prstGeom prst="rect">
            <a:avLst/>
          </a:prstGeom>
        </p:spPr>
      </p:pic>
    </p:spTree>
    <p:extLst>
      <p:ext uri="{BB962C8B-B14F-4D97-AF65-F5344CB8AC3E}">
        <p14:creationId xmlns:p14="http://schemas.microsoft.com/office/powerpoint/2010/main" val="1282536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D089F-801E-637C-2A96-F11C213FA45E}"/>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A9F55A5A-D1F2-CB78-6254-4E17676214A7}"/>
              </a:ext>
            </a:extLst>
          </p:cNvPr>
          <p:cNvPicPr>
            <a:picLocks noGrp="1" noChangeAspect="1"/>
          </p:cNvPicPr>
          <p:nvPr>
            <p:ph idx="1"/>
          </p:nvPr>
        </p:nvPicPr>
        <p:blipFill>
          <a:blip r:embed="rId2"/>
          <a:stretch>
            <a:fillRect/>
          </a:stretch>
        </p:blipFill>
        <p:spPr>
          <a:xfrm>
            <a:off x="387953" y="498270"/>
            <a:ext cx="5398752" cy="4351338"/>
          </a:xfrm>
        </p:spPr>
      </p:pic>
      <p:sp>
        <p:nvSpPr>
          <p:cNvPr id="7" name="TextBox 6">
            <a:extLst>
              <a:ext uri="{FF2B5EF4-FFF2-40B4-BE49-F238E27FC236}">
                <a16:creationId xmlns:a16="http://schemas.microsoft.com/office/drawing/2014/main" id="{475D2957-1DF6-A1D5-DA59-763B2BF3436E}"/>
              </a:ext>
            </a:extLst>
          </p:cNvPr>
          <p:cNvSpPr txBox="1"/>
          <p:nvPr/>
        </p:nvSpPr>
        <p:spPr>
          <a:xfrm>
            <a:off x="3048000" y="3246792"/>
            <a:ext cx="6096000" cy="369332"/>
          </a:xfrm>
          <a:prstGeom prst="rect">
            <a:avLst/>
          </a:prstGeom>
          <a:noFill/>
        </p:spPr>
        <p:txBody>
          <a:bodyPr wrap="square">
            <a:spAutoFit/>
          </a:bodyPr>
          <a:lstStyle/>
          <a:p>
            <a:endParaRPr lang="en-IN" dirty="0"/>
          </a:p>
        </p:txBody>
      </p:sp>
      <p:sp>
        <p:nvSpPr>
          <p:cNvPr id="9" name="TextBox 8">
            <a:extLst>
              <a:ext uri="{FF2B5EF4-FFF2-40B4-BE49-F238E27FC236}">
                <a16:creationId xmlns:a16="http://schemas.microsoft.com/office/drawing/2014/main" id="{ADDA1FBC-738B-8E21-0EE7-FFBB67549DA5}"/>
              </a:ext>
            </a:extLst>
          </p:cNvPr>
          <p:cNvSpPr txBox="1"/>
          <p:nvPr/>
        </p:nvSpPr>
        <p:spPr>
          <a:xfrm>
            <a:off x="3048000" y="3246792"/>
            <a:ext cx="6096000" cy="369332"/>
          </a:xfrm>
          <a:prstGeom prst="rect">
            <a:avLst/>
          </a:prstGeom>
          <a:noFill/>
        </p:spPr>
        <p:txBody>
          <a:bodyPr wrap="square">
            <a:spAutoFit/>
          </a:bodyPr>
          <a:lstStyle/>
          <a:p>
            <a:endParaRPr lang="en-IN" dirty="0"/>
          </a:p>
        </p:txBody>
      </p:sp>
      <p:pic>
        <p:nvPicPr>
          <p:cNvPr id="19" name="Picture 18">
            <a:extLst>
              <a:ext uri="{FF2B5EF4-FFF2-40B4-BE49-F238E27FC236}">
                <a16:creationId xmlns:a16="http://schemas.microsoft.com/office/drawing/2014/main" id="{2FBA8AB7-9BE7-12F1-0CF2-66A9E5EDE3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6247" y="1221658"/>
            <a:ext cx="3048000" cy="4572000"/>
          </a:xfrm>
          <a:prstGeom prst="rect">
            <a:avLst/>
          </a:prstGeom>
        </p:spPr>
      </p:pic>
    </p:spTree>
    <p:extLst>
      <p:ext uri="{BB962C8B-B14F-4D97-AF65-F5344CB8AC3E}">
        <p14:creationId xmlns:p14="http://schemas.microsoft.com/office/powerpoint/2010/main" val="35129275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288E-C9F7-D683-CF28-CECB7FCD54AB}"/>
              </a:ext>
            </a:extLst>
          </p:cNvPr>
          <p:cNvSpPr>
            <a:spLocks noGrp="1"/>
          </p:cNvSpPr>
          <p:nvPr>
            <p:ph type="title"/>
          </p:nvPr>
        </p:nvSpPr>
        <p:spPr/>
        <p:txBody>
          <a:bodyPr/>
          <a:lstStyle/>
          <a:p>
            <a:r>
              <a:rPr lang="en-IN" b="1" dirty="0"/>
              <a:t>3.Picture Manager- WHAT &amp; WHEN</a:t>
            </a:r>
          </a:p>
        </p:txBody>
      </p:sp>
      <p:sp>
        <p:nvSpPr>
          <p:cNvPr id="3" name="Content Placeholder 2">
            <a:extLst>
              <a:ext uri="{FF2B5EF4-FFF2-40B4-BE49-F238E27FC236}">
                <a16:creationId xmlns:a16="http://schemas.microsoft.com/office/drawing/2014/main" id="{B172CFA9-41AE-E7A7-77D3-72FD66C14C13}"/>
              </a:ext>
            </a:extLst>
          </p:cNvPr>
          <p:cNvSpPr>
            <a:spLocks noGrp="1"/>
          </p:cNvSpPr>
          <p:nvPr>
            <p:ph idx="1"/>
          </p:nvPr>
        </p:nvSpPr>
        <p:spPr/>
        <p:txBody>
          <a:bodyPr>
            <a:normAutofit/>
          </a:bodyPr>
          <a:lstStyle/>
          <a:p>
            <a:r>
              <a:rPr lang="en-US" dirty="0"/>
              <a:t>Use thumbnails, item views, and a browsing interface to create a familiar structure for managing photos, videos, and other pictorial items.</a:t>
            </a:r>
          </a:p>
          <a:p>
            <a:r>
              <a:rPr lang="en-US" dirty="0"/>
              <a:t>People use your software to work with lists or collections of pictorial things: photos, drawings, video clips, and so on. </a:t>
            </a:r>
          </a:p>
          <a:p>
            <a:r>
              <a:rPr lang="en-US" dirty="0"/>
              <a:t>The list might be in a web page, or in an application, or both.</a:t>
            </a:r>
          </a:p>
          <a:p>
            <a:r>
              <a:rPr lang="en-US" dirty="0"/>
              <a:t>It might allow editing by the owner of the content, or it might simply show the content to the public for browsing, viewing, and comments.</a:t>
            </a:r>
            <a:endParaRPr lang="en-IN" dirty="0"/>
          </a:p>
        </p:txBody>
      </p:sp>
    </p:spTree>
    <p:extLst>
      <p:ext uri="{BB962C8B-B14F-4D97-AF65-F5344CB8AC3E}">
        <p14:creationId xmlns:p14="http://schemas.microsoft.com/office/powerpoint/2010/main" val="11812928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D47B3-EE20-4078-6F85-D029FE9276CF}"/>
              </a:ext>
            </a:extLst>
          </p:cNvPr>
          <p:cNvSpPr>
            <a:spLocks noGrp="1"/>
          </p:cNvSpPr>
          <p:nvPr>
            <p:ph type="title"/>
          </p:nvPr>
        </p:nvSpPr>
        <p:spPr/>
        <p:txBody>
          <a:bodyPr/>
          <a:lstStyle/>
          <a:p>
            <a:r>
              <a:rPr lang="en-IN" b="1" dirty="0"/>
              <a:t>Picture Manager- HOW</a:t>
            </a:r>
            <a:endParaRPr lang="en-IN" dirty="0"/>
          </a:p>
        </p:txBody>
      </p:sp>
      <p:sp>
        <p:nvSpPr>
          <p:cNvPr id="3" name="Content Placeholder 2">
            <a:extLst>
              <a:ext uri="{FF2B5EF4-FFF2-40B4-BE49-F238E27FC236}">
                <a16:creationId xmlns:a16="http://schemas.microsoft.com/office/drawing/2014/main" id="{71D58B48-BCA4-4005-B830-CD4E840BA735}"/>
              </a:ext>
            </a:extLst>
          </p:cNvPr>
          <p:cNvSpPr>
            <a:spLocks noGrp="1"/>
          </p:cNvSpPr>
          <p:nvPr>
            <p:ph idx="1"/>
          </p:nvPr>
        </p:nvSpPr>
        <p:spPr/>
        <p:txBody>
          <a:bodyPr/>
          <a:lstStyle/>
          <a:p>
            <a:pPr marL="0" indent="0">
              <a:buNone/>
            </a:pPr>
            <a:r>
              <a:rPr lang="en-US" dirty="0"/>
              <a:t>Set up two principal views: </a:t>
            </a:r>
          </a:p>
          <a:p>
            <a:pPr>
              <a:buFont typeface="Wingdings" panose="05000000000000000000" pitchFamily="2" charset="2"/>
              <a:buChar char="Ø"/>
            </a:pPr>
            <a:r>
              <a:rPr lang="en-US" dirty="0"/>
              <a:t> Thumbnail Grid of the items in the list</a:t>
            </a:r>
          </a:p>
          <a:p>
            <a:pPr>
              <a:buFont typeface="Wingdings" panose="05000000000000000000" pitchFamily="2" charset="2"/>
              <a:buChar char="Ø"/>
            </a:pPr>
            <a:r>
              <a:rPr lang="en-US" dirty="0"/>
              <a:t> large view of a single item.</a:t>
            </a:r>
          </a:p>
          <a:p>
            <a:pPr marL="0" indent="0">
              <a:buNone/>
            </a:pPr>
            <a:r>
              <a:rPr lang="en-US" dirty="0"/>
              <a:t>Users will go back and forth between these. </a:t>
            </a:r>
          </a:p>
          <a:p>
            <a:pPr marL="0" indent="0">
              <a:buNone/>
            </a:pPr>
            <a:r>
              <a:rPr lang="en-US" dirty="0"/>
              <a:t>Design a browsing interface and associate it with the Thumbnail Grid to let users explore a large collection easily.</a:t>
            </a:r>
            <a:endParaRPr lang="en-IN" dirty="0"/>
          </a:p>
        </p:txBody>
      </p:sp>
    </p:spTree>
    <p:extLst>
      <p:ext uri="{BB962C8B-B14F-4D97-AF65-F5344CB8AC3E}">
        <p14:creationId xmlns:p14="http://schemas.microsoft.com/office/powerpoint/2010/main" val="2531348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0B627-07B5-F040-334C-2FD33B6517FE}"/>
              </a:ext>
            </a:extLst>
          </p:cNvPr>
          <p:cNvSpPr>
            <a:spLocks noGrp="1"/>
          </p:cNvSpPr>
          <p:nvPr>
            <p:ph type="title"/>
          </p:nvPr>
        </p:nvSpPr>
        <p:spPr/>
        <p:txBody>
          <a:bodyPr/>
          <a:lstStyle/>
          <a:p>
            <a:r>
              <a:rPr lang="en-US" dirty="0"/>
              <a:t>THUMBNAILS</a:t>
            </a:r>
            <a:endParaRPr lang="en-IN" dirty="0"/>
          </a:p>
        </p:txBody>
      </p:sp>
      <p:sp>
        <p:nvSpPr>
          <p:cNvPr id="3" name="Content Placeholder 2">
            <a:extLst>
              <a:ext uri="{FF2B5EF4-FFF2-40B4-BE49-F238E27FC236}">
                <a16:creationId xmlns:a16="http://schemas.microsoft.com/office/drawing/2014/main" id="{8CD4138C-C1F5-2FB2-61AA-BF6838D744F2}"/>
              </a:ext>
            </a:extLst>
          </p:cNvPr>
          <p:cNvSpPr>
            <a:spLocks noGrp="1"/>
          </p:cNvSpPr>
          <p:nvPr>
            <p:ph idx="1"/>
          </p:nvPr>
        </p:nvSpPr>
        <p:spPr/>
        <p:txBody>
          <a:bodyPr>
            <a:normAutofit/>
          </a:bodyPr>
          <a:lstStyle/>
          <a:p>
            <a:r>
              <a:rPr lang="en-US" dirty="0"/>
              <a:t>Use the Thumbnail Grid to display a sequence of items</a:t>
            </a:r>
          </a:p>
          <a:p>
            <a:r>
              <a:rPr lang="en-US" dirty="0"/>
              <a:t>Many Picture Managers show a small amount of metadata with each item, such as its filename or author, and it  offer a control to adjust the size of the thumbnails. </a:t>
            </a:r>
          </a:p>
          <a:p>
            <a:r>
              <a:rPr lang="en-US" dirty="0"/>
              <a:t>There may also be a way to sort the items by different criteria, such as date, label, or rating, or to filter it and show only the starred items (for instance).</a:t>
            </a:r>
          </a:p>
          <a:p>
            <a:r>
              <a:rPr lang="en-US" dirty="0"/>
              <a:t>When a user clicks on an item, show it immediately in the single-item view. </a:t>
            </a:r>
            <a:endParaRPr lang="en-IN" dirty="0"/>
          </a:p>
        </p:txBody>
      </p:sp>
    </p:spTree>
    <p:extLst>
      <p:ext uri="{BB962C8B-B14F-4D97-AF65-F5344CB8AC3E}">
        <p14:creationId xmlns:p14="http://schemas.microsoft.com/office/powerpoint/2010/main" val="27908935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64B9A-B0CF-15FE-B6EB-4B6060417A69}"/>
              </a:ext>
            </a:extLst>
          </p:cNvPr>
          <p:cNvSpPr>
            <a:spLocks noGrp="1"/>
          </p:cNvSpPr>
          <p:nvPr>
            <p:ph type="title"/>
          </p:nvPr>
        </p:nvSpPr>
        <p:spPr>
          <a:xfrm>
            <a:off x="838200" y="384789"/>
            <a:ext cx="10515600" cy="1325563"/>
          </a:xfrm>
        </p:spPr>
        <p:txBody>
          <a:bodyPr/>
          <a:lstStyle/>
          <a:p>
            <a:r>
              <a:rPr lang="en-US" dirty="0"/>
              <a:t>THUMBNAILS</a:t>
            </a:r>
            <a:endParaRPr lang="en-IN" dirty="0"/>
          </a:p>
        </p:txBody>
      </p:sp>
      <p:sp>
        <p:nvSpPr>
          <p:cNvPr id="3" name="Content Placeholder 2">
            <a:extLst>
              <a:ext uri="{FF2B5EF4-FFF2-40B4-BE49-F238E27FC236}">
                <a16:creationId xmlns:a16="http://schemas.microsoft.com/office/drawing/2014/main" id="{994AF855-4F5A-29D6-650D-44F1EABED17D}"/>
              </a:ext>
            </a:extLst>
          </p:cNvPr>
          <p:cNvSpPr>
            <a:spLocks noGrp="1"/>
          </p:cNvSpPr>
          <p:nvPr>
            <p:ph idx="1"/>
          </p:nvPr>
        </p:nvSpPr>
        <p:spPr/>
        <p:txBody>
          <a:bodyPr/>
          <a:lstStyle/>
          <a:p>
            <a:r>
              <a:rPr lang="en-US" dirty="0"/>
              <a:t>If the user owns the items, offer ways to move, reorder, and delete items at this level in the interface. </a:t>
            </a:r>
          </a:p>
          <a:p>
            <a:r>
              <a:rPr lang="en-US" dirty="0"/>
              <a:t>Cut, copy, and paste should also work in applications</a:t>
            </a:r>
            <a:endParaRPr lang="en-IN" dirty="0"/>
          </a:p>
        </p:txBody>
      </p:sp>
    </p:spTree>
    <p:extLst>
      <p:ext uri="{BB962C8B-B14F-4D97-AF65-F5344CB8AC3E}">
        <p14:creationId xmlns:p14="http://schemas.microsoft.com/office/powerpoint/2010/main" val="1680778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1923-1A8A-6979-7B0E-7536E159EE95}"/>
              </a:ext>
            </a:extLst>
          </p:cNvPr>
          <p:cNvSpPr>
            <a:spLocks noGrp="1"/>
          </p:cNvSpPr>
          <p:nvPr>
            <p:ph type="title"/>
          </p:nvPr>
        </p:nvSpPr>
        <p:spPr/>
        <p:txBody>
          <a:bodyPr/>
          <a:lstStyle/>
          <a:p>
            <a:r>
              <a:rPr lang="en-US" dirty="0"/>
              <a:t>Single-Item View</a:t>
            </a:r>
            <a:endParaRPr lang="en-IN" dirty="0"/>
          </a:p>
        </p:txBody>
      </p:sp>
      <p:sp>
        <p:nvSpPr>
          <p:cNvPr id="3" name="Content Placeholder 2">
            <a:extLst>
              <a:ext uri="{FF2B5EF4-FFF2-40B4-BE49-F238E27FC236}">
                <a16:creationId xmlns:a16="http://schemas.microsoft.com/office/drawing/2014/main" id="{E577C5F9-A72F-A969-A2E4-942501DCE7C0}"/>
              </a:ext>
            </a:extLst>
          </p:cNvPr>
          <p:cNvSpPr>
            <a:spLocks noGrp="1"/>
          </p:cNvSpPr>
          <p:nvPr>
            <p:ph idx="1"/>
          </p:nvPr>
        </p:nvSpPr>
        <p:spPr/>
        <p:txBody>
          <a:bodyPr/>
          <a:lstStyle/>
          <a:p>
            <a:r>
              <a:rPr lang="en-US" dirty="0"/>
              <a:t>The Single-Item View provides a detailed, large view of a selected item (image or video), along with relevant metadata and additional features.</a:t>
            </a:r>
          </a:p>
          <a:p>
            <a:r>
              <a:rPr lang="en-US" b="1" dirty="0"/>
              <a:t>Layout Options:</a:t>
            </a:r>
            <a:endParaRPr lang="en-US" dirty="0"/>
          </a:p>
          <a:p>
            <a:pPr>
              <a:buFont typeface="Arial" panose="020B0604020202020204" pitchFamily="34" charset="0"/>
              <a:buChar char="•"/>
            </a:pPr>
            <a:r>
              <a:rPr lang="en-US" b="1" dirty="0"/>
              <a:t>Two-Panel Selector:</a:t>
            </a:r>
            <a:r>
              <a:rPr lang="en-US" dirty="0"/>
              <a:t> Use this layout to show the Single-Item View alongside the Thumbnail Grid if screen space allows.</a:t>
            </a:r>
          </a:p>
          <a:p>
            <a:pPr>
              <a:buFont typeface="Arial" panose="020B0604020202020204" pitchFamily="34" charset="0"/>
              <a:buChar char="•"/>
            </a:pPr>
            <a:r>
              <a:rPr lang="en-US" b="1" dirty="0"/>
              <a:t>One-Window Drilldown:</a:t>
            </a:r>
            <a:r>
              <a:rPr lang="en-US" dirty="0"/>
              <a:t> Replace the Thumbnail Grid with the Single-Item View for a more focused experience on smaller screens.</a:t>
            </a:r>
          </a:p>
          <a:p>
            <a:endParaRPr lang="en-IN" dirty="0"/>
          </a:p>
        </p:txBody>
      </p:sp>
    </p:spTree>
    <p:extLst>
      <p:ext uri="{BB962C8B-B14F-4D97-AF65-F5344CB8AC3E}">
        <p14:creationId xmlns:p14="http://schemas.microsoft.com/office/powerpoint/2010/main" val="8069181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94160-3EAF-FE7E-4531-0C636CAB8216}"/>
              </a:ext>
            </a:extLst>
          </p:cNvPr>
          <p:cNvSpPr>
            <a:spLocks noGrp="1"/>
          </p:cNvSpPr>
          <p:nvPr>
            <p:ph type="title"/>
          </p:nvPr>
        </p:nvSpPr>
        <p:spPr/>
        <p:txBody>
          <a:bodyPr/>
          <a:lstStyle/>
          <a:p>
            <a:r>
              <a:rPr lang="en-US" dirty="0"/>
              <a:t>Single-Item View</a:t>
            </a:r>
            <a:endParaRPr lang="en-IN" dirty="0"/>
          </a:p>
        </p:txBody>
      </p:sp>
      <p:sp>
        <p:nvSpPr>
          <p:cNvPr id="3" name="Content Placeholder 2">
            <a:extLst>
              <a:ext uri="{FF2B5EF4-FFF2-40B4-BE49-F238E27FC236}">
                <a16:creationId xmlns:a16="http://schemas.microsoft.com/office/drawing/2014/main" id="{9378D582-E05F-588B-297D-45B98C15005A}"/>
              </a:ext>
            </a:extLst>
          </p:cNvPr>
          <p:cNvSpPr>
            <a:spLocks noGrp="1"/>
          </p:cNvSpPr>
          <p:nvPr>
            <p:ph idx="1"/>
          </p:nvPr>
        </p:nvSpPr>
        <p:spPr/>
        <p:txBody>
          <a:bodyPr>
            <a:normAutofit fontScale="92500" lnSpcReduction="10000"/>
          </a:bodyPr>
          <a:lstStyle/>
          <a:p>
            <a:r>
              <a:rPr lang="en-US" dirty="0"/>
              <a:t>Editing features for individual items will live here, also. For instance, a photo manager might offer simple functionality such as cropping, color and brightness adjustment, and red-eye reduction</a:t>
            </a:r>
          </a:p>
          <a:p>
            <a:r>
              <a:rPr lang="en-US" dirty="0"/>
              <a:t>Use Button Groups to maintain a simple, comprehensible visual grouping of all these features.</a:t>
            </a:r>
          </a:p>
          <a:p>
            <a:r>
              <a:rPr lang="en-US" dirty="0"/>
              <a:t>If the interface is web-based, consider adding social features in the Single-Item View. This can include options for users to comment, like, or share the item, as well as tag or label it either privately or publicly. </a:t>
            </a:r>
          </a:p>
          <a:p>
            <a:r>
              <a:rPr lang="en-US" dirty="0"/>
              <a:t>Additionally, providing a recommendation feature for “other items you may like” can enhance the browsing experience and encourage further exploration.</a:t>
            </a:r>
            <a:endParaRPr lang="en-IN" dirty="0"/>
          </a:p>
        </p:txBody>
      </p:sp>
    </p:spTree>
    <p:extLst>
      <p:ext uri="{BB962C8B-B14F-4D97-AF65-F5344CB8AC3E}">
        <p14:creationId xmlns:p14="http://schemas.microsoft.com/office/powerpoint/2010/main" val="20271629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9B33B-A124-FA8A-45EF-A7AAB362F729}"/>
              </a:ext>
            </a:extLst>
          </p:cNvPr>
          <p:cNvSpPr>
            <a:spLocks noGrp="1"/>
          </p:cNvSpPr>
          <p:nvPr>
            <p:ph type="title"/>
          </p:nvPr>
        </p:nvSpPr>
        <p:spPr/>
        <p:txBody>
          <a:bodyPr/>
          <a:lstStyle/>
          <a:p>
            <a:r>
              <a:rPr lang="en-IN" b="1" dirty="0"/>
              <a:t>4. Dashboard</a:t>
            </a:r>
          </a:p>
        </p:txBody>
      </p:sp>
      <p:sp>
        <p:nvSpPr>
          <p:cNvPr id="7" name="Content Placeholder 6">
            <a:extLst>
              <a:ext uri="{FF2B5EF4-FFF2-40B4-BE49-F238E27FC236}">
                <a16:creationId xmlns:a16="http://schemas.microsoft.com/office/drawing/2014/main" id="{14B24B92-FAB6-A1C7-2993-BF6B845FECA2}"/>
              </a:ext>
            </a:extLst>
          </p:cNvPr>
          <p:cNvSpPr>
            <a:spLocks noGrp="1"/>
          </p:cNvSpPr>
          <p:nvPr>
            <p:ph idx="1"/>
          </p:nvPr>
        </p:nvSpPr>
        <p:spPr>
          <a:xfrm>
            <a:off x="838200" y="1560154"/>
            <a:ext cx="10515600" cy="4351338"/>
          </a:xfrm>
        </p:spPr>
        <p:txBody>
          <a:bodyPr/>
          <a:lstStyle/>
          <a:p>
            <a:r>
              <a:rPr lang="en-US" b="1" dirty="0"/>
              <a:t>Dashboard</a:t>
            </a:r>
            <a:r>
              <a:rPr lang="en-US" dirty="0"/>
              <a:t> is a type of graphical user interface which often provides at-a-glance views of data relevant to a particular objective or process through a combination of visualizations and summary information</a:t>
            </a:r>
          </a:p>
          <a:p>
            <a:r>
              <a:rPr lang="en-US" dirty="0"/>
              <a:t>Arrange data displays into a single information-dense page, updated regularly. </a:t>
            </a:r>
          </a:p>
          <a:p>
            <a:r>
              <a:rPr lang="en-US" dirty="0"/>
              <a:t>Show users relevant, actionable information, and let them customize the display as necessary</a:t>
            </a:r>
            <a:endParaRPr lang="en-IN" dirty="0"/>
          </a:p>
        </p:txBody>
      </p:sp>
      <p:pic>
        <p:nvPicPr>
          <p:cNvPr id="11" name="Picture 10">
            <a:extLst>
              <a:ext uri="{FF2B5EF4-FFF2-40B4-BE49-F238E27FC236}">
                <a16:creationId xmlns:a16="http://schemas.microsoft.com/office/drawing/2014/main" id="{E6C16F2F-D1C3-4B44-1438-55D6266D4A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2813" y="4159045"/>
            <a:ext cx="4562167" cy="2873324"/>
          </a:xfrm>
          <a:prstGeom prst="rect">
            <a:avLst/>
          </a:prstGeom>
        </p:spPr>
      </p:pic>
    </p:spTree>
    <p:extLst>
      <p:ext uri="{BB962C8B-B14F-4D97-AF65-F5344CB8AC3E}">
        <p14:creationId xmlns:p14="http://schemas.microsoft.com/office/powerpoint/2010/main" val="39820951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81CA9-E70D-065D-DC79-452F7B29635B}"/>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73AD9CB9-1637-5BA2-C3DA-A01E2D08319F}"/>
              </a:ext>
            </a:extLst>
          </p:cNvPr>
          <p:cNvSpPr>
            <a:spLocks noGrp="1"/>
          </p:cNvSpPr>
          <p:nvPr>
            <p:ph idx="1"/>
          </p:nvPr>
        </p:nvSpPr>
        <p:spPr>
          <a:xfrm>
            <a:off x="838200" y="1543665"/>
            <a:ext cx="10515600" cy="4633298"/>
          </a:xfrm>
        </p:spPr>
        <p:txBody>
          <a:bodyPr>
            <a:normAutofit fontScale="92500" lnSpcReduction="10000"/>
          </a:bodyPr>
          <a:lstStyle/>
          <a:p>
            <a:r>
              <a:rPr lang="en-US" dirty="0"/>
              <a:t>Dashboards are a well-known and familiar page style, both online and offline. They display useful information and update automatically.</a:t>
            </a:r>
          </a:p>
          <a:p>
            <a:r>
              <a:rPr lang="en-US" dirty="0"/>
              <a:t> Typically, they use graphics like charts and graphs to present data in an easy-to-understand way. </a:t>
            </a:r>
          </a:p>
          <a:p>
            <a:pPr marL="0" indent="0">
              <a:buNone/>
            </a:pPr>
            <a:r>
              <a:rPr lang="en-US" dirty="0"/>
              <a:t>To design an effective dashboard, follow these steps:</a:t>
            </a:r>
          </a:p>
          <a:p>
            <a:pPr>
              <a:buFont typeface="+mj-lt"/>
              <a:buAutoNum type="arabicPeriod"/>
            </a:pPr>
            <a:r>
              <a:rPr lang="en-US" b="1" dirty="0"/>
              <a:t>Identify Key Information</a:t>
            </a:r>
            <a:r>
              <a:rPr lang="en-US" dirty="0"/>
              <a:t>: Determine what users need or want to see. </a:t>
            </a:r>
          </a:p>
          <a:p>
            <a:pPr>
              <a:buFont typeface="+mj-lt"/>
              <a:buAutoNum type="arabicPeriod"/>
            </a:pPr>
            <a:r>
              <a:rPr lang="en-US" b="1" dirty="0"/>
              <a:t>Use Visual Hierarchy</a:t>
            </a:r>
            <a:r>
              <a:rPr lang="en-US" dirty="0"/>
              <a:t>: Arrange information clearly using lists, tables, and graphics. Keep important data visible on one page without excessive scrolling. </a:t>
            </a:r>
          </a:p>
          <a:p>
            <a:pPr>
              <a:buFont typeface="+mj-lt"/>
              <a:buAutoNum type="arabicPeriod"/>
            </a:pPr>
            <a:r>
              <a:rPr lang="en-US" b="1" dirty="0"/>
              <a:t>Enable Drilldown</a:t>
            </a:r>
            <a:r>
              <a:rPr lang="en-US" dirty="0"/>
              <a:t>: Allow users to click on elements to view more details. </a:t>
            </a:r>
            <a:r>
              <a:rPr lang="en-US" dirty="0" err="1"/>
              <a:t>Datatips</a:t>
            </a:r>
            <a:r>
              <a:rPr lang="en-US" dirty="0"/>
              <a:t> work well to show individual data points when the pointer rolls over an information graphic.</a:t>
            </a:r>
            <a:endParaRPr lang="en-IN" dirty="0"/>
          </a:p>
        </p:txBody>
      </p:sp>
    </p:spTree>
    <p:extLst>
      <p:ext uri="{BB962C8B-B14F-4D97-AF65-F5344CB8AC3E}">
        <p14:creationId xmlns:p14="http://schemas.microsoft.com/office/powerpoint/2010/main" val="23161192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0F563-26DD-ABCB-6084-E0B491009A2E}"/>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9A0C94A2-AE0A-B8F8-DD05-87FC0010BEA6}"/>
              </a:ext>
            </a:extLst>
          </p:cNvPr>
          <p:cNvSpPr>
            <a:spLocks noGrp="1"/>
          </p:cNvSpPr>
          <p:nvPr>
            <p:ph idx="1"/>
          </p:nvPr>
        </p:nvSpPr>
        <p:spPr/>
        <p:txBody>
          <a:bodyPr/>
          <a:lstStyle/>
          <a:p>
            <a:pPr marL="0" indent="0">
              <a:buNone/>
            </a:pPr>
            <a:r>
              <a:rPr lang="en-US" b="1" dirty="0"/>
              <a:t>4. Choose the Right Graphics</a:t>
            </a:r>
            <a:r>
              <a:rPr lang="en-US" dirty="0"/>
              <a:t>: Use simple line and bar charts for comparing data, especially over time. For numbers and text, use lists and tables. </a:t>
            </a:r>
          </a:p>
          <a:p>
            <a:pPr marL="0" indent="0">
              <a:buNone/>
            </a:pPr>
            <a:r>
              <a:rPr lang="en-US" b="1" dirty="0"/>
              <a:t>5. Highlight Key Information</a:t>
            </a:r>
            <a:r>
              <a:rPr lang="en-US" dirty="0"/>
              <a:t>: Make important text and numbers stand out so users can quickly spot actionable information</a:t>
            </a:r>
          </a:p>
          <a:p>
            <a:pPr marL="0" indent="0">
              <a:buNone/>
            </a:pPr>
            <a:r>
              <a:rPr lang="en-US" b="1" dirty="0"/>
              <a:t>6. Allow Customization</a:t>
            </a:r>
            <a:r>
              <a:rPr lang="en-US" dirty="0"/>
              <a:t>: Letting them rearrange sections and select which widgets or gadgets to display.</a:t>
            </a:r>
            <a:endParaRPr lang="en-IN" dirty="0"/>
          </a:p>
        </p:txBody>
      </p:sp>
    </p:spTree>
    <p:extLst>
      <p:ext uri="{BB962C8B-B14F-4D97-AF65-F5344CB8AC3E}">
        <p14:creationId xmlns:p14="http://schemas.microsoft.com/office/powerpoint/2010/main" val="11998573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37491-FB85-2BE1-46D8-106910D29BA3}"/>
              </a:ext>
            </a:extLst>
          </p:cNvPr>
          <p:cNvSpPr>
            <a:spLocks noGrp="1"/>
          </p:cNvSpPr>
          <p:nvPr>
            <p:ph type="title"/>
          </p:nvPr>
        </p:nvSpPr>
        <p:spPr/>
        <p:txBody>
          <a:bodyPr/>
          <a:lstStyle/>
          <a:p>
            <a:r>
              <a:rPr lang="en-IN" b="1" dirty="0"/>
              <a:t>5. Canvas Plus Palette</a:t>
            </a:r>
          </a:p>
        </p:txBody>
      </p:sp>
      <p:sp>
        <p:nvSpPr>
          <p:cNvPr id="3" name="Content Placeholder 2">
            <a:extLst>
              <a:ext uri="{FF2B5EF4-FFF2-40B4-BE49-F238E27FC236}">
                <a16:creationId xmlns:a16="http://schemas.microsoft.com/office/drawing/2014/main" id="{CCD2120D-64D9-D531-029A-26C733148F2E}"/>
              </a:ext>
            </a:extLst>
          </p:cNvPr>
          <p:cNvSpPr>
            <a:spLocks noGrp="1"/>
          </p:cNvSpPr>
          <p:nvPr>
            <p:ph idx="1"/>
          </p:nvPr>
        </p:nvSpPr>
        <p:spPr/>
        <p:txBody>
          <a:bodyPr/>
          <a:lstStyle/>
          <a:p>
            <a:r>
              <a:rPr lang="en-US" dirty="0"/>
              <a:t>Place an iconic palette next to a blank canvas; the user clicks on the palette buttons to create objects on the canvas.</a:t>
            </a:r>
            <a:endParaRPr lang="en-IN" dirty="0"/>
          </a:p>
        </p:txBody>
      </p:sp>
      <p:pic>
        <p:nvPicPr>
          <p:cNvPr id="5" name="Picture 4">
            <a:extLst>
              <a:ext uri="{FF2B5EF4-FFF2-40B4-BE49-F238E27FC236}">
                <a16:creationId xmlns:a16="http://schemas.microsoft.com/office/drawing/2014/main" id="{B1EDF5BB-D16F-9539-222E-A99D8114AE12}"/>
              </a:ext>
            </a:extLst>
          </p:cNvPr>
          <p:cNvPicPr>
            <a:picLocks noChangeAspect="1"/>
          </p:cNvPicPr>
          <p:nvPr/>
        </p:nvPicPr>
        <p:blipFill>
          <a:blip r:embed="rId2"/>
          <a:stretch>
            <a:fillRect/>
          </a:stretch>
        </p:blipFill>
        <p:spPr>
          <a:xfrm>
            <a:off x="5494503" y="2608985"/>
            <a:ext cx="6323872" cy="4249015"/>
          </a:xfrm>
          <a:prstGeom prst="rect">
            <a:avLst/>
          </a:prstGeom>
        </p:spPr>
      </p:pic>
    </p:spTree>
    <p:extLst>
      <p:ext uri="{BB962C8B-B14F-4D97-AF65-F5344CB8AC3E}">
        <p14:creationId xmlns:p14="http://schemas.microsoft.com/office/powerpoint/2010/main" val="27797076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C1F38-07F0-1888-8E82-4B8ADF00C33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9208BBE-FA86-611E-2D8F-954DD1F46A0E}"/>
              </a:ext>
            </a:extLst>
          </p:cNvPr>
          <p:cNvSpPr>
            <a:spLocks noGrp="1"/>
          </p:cNvSpPr>
          <p:nvPr>
            <p:ph idx="1"/>
          </p:nvPr>
        </p:nvSpPr>
        <p:spPr/>
        <p:txBody>
          <a:bodyPr/>
          <a:lstStyle/>
          <a:p>
            <a:pPr marL="0" indent="0">
              <a:buNone/>
            </a:pPr>
            <a:r>
              <a:rPr lang="en-US" dirty="0"/>
              <a:t>This pair of panels</a:t>
            </a:r>
          </a:p>
          <a:p>
            <a:pPr>
              <a:buFont typeface="Wingdings" panose="05000000000000000000" pitchFamily="2" charset="2"/>
              <a:buChar char="Ø"/>
            </a:pPr>
            <a:r>
              <a:rPr lang="en-US" dirty="0"/>
              <a:t>a palette for choosing tools </a:t>
            </a:r>
          </a:p>
          <a:p>
            <a:pPr>
              <a:buFont typeface="Wingdings" panose="05000000000000000000" pitchFamily="2" charset="2"/>
              <a:buChar char="Ø"/>
            </a:pPr>
            <a:r>
              <a:rPr lang="en-US" dirty="0"/>
              <a:t> a canvas for creating</a:t>
            </a:r>
          </a:p>
          <a:p>
            <a:pPr marL="0" indent="0">
              <a:buNone/>
            </a:pPr>
            <a:r>
              <a:rPr lang="en-US" dirty="0"/>
              <a:t>are common in desktop software. </a:t>
            </a:r>
          </a:p>
          <a:p>
            <a:r>
              <a:rPr lang="en-US" dirty="0"/>
              <a:t>They mirror real-life objects, making them easy to understand. </a:t>
            </a:r>
          </a:p>
          <a:p>
            <a:r>
              <a:rPr lang="en-US" dirty="0"/>
              <a:t>The palette uses familiar icons, like paintbrushes and magnifying glasses, which are consistently used across different applications.</a:t>
            </a:r>
            <a:endParaRPr lang="en-IN" dirty="0"/>
          </a:p>
        </p:txBody>
      </p:sp>
    </p:spTree>
    <p:extLst>
      <p:ext uri="{BB962C8B-B14F-4D97-AF65-F5344CB8AC3E}">
        <p14:creationId xmlns:p14="http://schemas.microsoft.com/office/powerpoint/2010/main" val="27635200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83CF-42A9-5FAD-13AC-33FBA19504A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E36D969-9165-2962-6AC9-03F678E763A0}"/>
              </a:ext>
            </a:extLst>
          </p:cNvPr>
          <p:cNvSpPr>
            <a:spLocks noGrp="1"/>
          </p:cNvSpPr>
          <p:nvPr>
            <p:ph idx="1"/>
          </p:nvPr>
        </p:nvSpPr>
        <p:spPr/>
        <p:txBody>
          <a:bodyPr>
            <a:normAutofit fontScale="92500"/>
          </a:bodyPr>
          <a:lstStyle/>
          <a:p>
            <a:r>
              <a:rPr lang="en-US" dirty="0"/>
              <a:t>Create a large empty area as the canvas where users can work. This canvas can be in its own window or part of a page with other tools. Place the canvas next to a palette that contains tool icons.</a:t>
            </a:r>
          </a:p>
          <a:p>
            <a:r>
              <a:rPr lang="en-US" dirty="0"/>
              <a:t>The palette should have a grid of buttons with icons, and text if needed, to make it clear what each button does. Position the palette to the left or top of the canvas, and you can organize it with tabs or collapsible panels.</a:t>
            </a:r>
          </a:p>
          <a:p>
            <a:r>
              <a:rPr lang="en-US" dirty="0"/>
              <a:t>Most buttons on the palette will directly create items on the canvas. However, you can also include functions like zoom or selection tools. Different applications use various methods to interact with the palette, such as drag-and-drop or clicking, so testing these interactions is crucial to ensure usability.</a:t>
            </a:r>
          </a:p>
          <a:p>
            <a:endParaRPr lang="en-IN" dirty="0"/>
          </a:p>
        </p:txBody>
      </p:sp>
    </p:spTree>
    <p:extLst>
      <p:ext uri="{BB962C8B-B14F-4D97-AF65-F5344CB8AC3E}">
        <p14:creationId xmlns:p14="http://schemas.microsoft.com/office/powerpoint/2010/main" val="20281219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0A3B3-EF32-6F6F-C93D-4436CAD63B6A}"/>
              </a:ext>
            </a:extLst>
          </p:cNvPr>
          <p:cNvSpPr>
            <a:spLocks noGrp="1"/>
          </p:cNvSpPr>
          <p:nvPr>
            <p:ph type="title"/>
          </p:nvPr>
        </p:nvSpPr>
        <p:spPr/>
        <p:txBody>
          <a:bodyPr/>
          <a:lstStyle/>
          <a:p>
            <a:r>
              <a:rPr lang="en-IN" b="1" dirty="0"/>
              <a:t>6. Settings Editor</a:t>
            </a:r>
          </a:p>
        </p:txBody>
      </p:sp>
      <p:sp>
        <p:nvSpPr>
          <p:cNvPr id="3" name="Content Placeholder 2">
            <a:extLst>
              <a:ext uri="{FF2B5EF4-FFF2-40B4-BE49-F238E27FC236}">
                <a16:creationId xmlns:a16="http://schemas.microsoft.com/office/drawing/2014/main" id="{D3F8494E-DCB3-843B-F424-F15316B121CD}"/>
              </a:ext>
            </a:extLst>
          </p:cNvPr>
          <p:cNvSpPr>
            <a:spLocks noGrp="1"/>
          </p:cNvSpPr>
          <p:nvPr>
            <p:ph idx="1"/>
          </p:nvPr>
        </p:nvSpPr>
        <p:spPr/>
        <p:txBody>
          <a:bodyPr>
            <a:normAutofit/>
          </a:bodyPr>
          <a:lstStyle/>
          <a:p>
            <a:r>
              <a:rPr lang="en-US" dirty="0"/>
              <a:t>Provide an easy-to-find, self-contained page or window where users can change settings, preferences, or properties. </a:t>
            </a:r>
          </a:p>
          <a:p>
            <a:r>
              <a:rPr lang="en-US" dirty="0"/>
              <a:t>A user must be able to find and edit a desired property without being forced to walk through a prescribed sequence of steps—random access is important.</a:t>
            </a:r>
          </a:p>
          <a:p>
            <a:r>
              <a:rPr lang="en-US" dirty="0"/>
              <a:t>To aid findability, the properties should be grouped into categories that are well labeled and make immediate sense.</a:t>
            </a:r>
          </a:p>
          <a:p>
            <a:r>
              <a:rPr lang="en-US" dirty="0"/>
              <a:t>Another important aspect of Settings Editor design is that people will use it for viewing existing settings, not just changing them. The design needs to communicate the values of those settings at a glance.</a:t>
            </a:r>
            <a:endParaRPr lang="en-IN" dirty="0"/>
          </a:p>
        </p:txBody>
      </p:sp>
    </p:spTree>
    <p:extLst>
      <p:ext uri="{BB962C8B-B14F-4D97-AF65-F5344CB8AC3E}">
        <p14:creationId xmlns:p14="http://schemas.microsoft.com/office/powerpoint/2010/main" val="11388265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18CA8-05EF-4EFA-063A-9E39C9A4066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833CBAB-2753-2E76-28FA-1B947311BBAC}"/>
              </a:ext>
            </a:extLst>
          </p:cNvPr>
          <p:cNvSpPr>
            <a:spLocks noGrp="1"/>
          </p:cNvSpPr>
          <p:nvPr>
            <p:ph idx="1"/>
          </p:nvPr>
        </p:nvSpPr>
        <p:spPr/>
        <p:txBody>
          <a:bodyPr>
            <a:normAutofit fontScale="92500" lnSpcReduction="20000"/>
          </a:bodyPr>
          <a:lstStyle/>
          <a:p>
            <a:r>
              <a:rPr lang="en-US" dirty="0"/>
              <a:t>To design an effective settings editor:</a:t>
            </a:r>
          </a:p>
          <a:p>
            <a:pPr>
              <a:buFont typeface="+mj-lt"/>
              <a:buAutoNum type="arabicPeriod"/>
            </a:pPr>
            <a:r>
              <a:rPr lang="en-US" b="1" dirty="0"/>
              <a:t>Make It Findable:</a:t>
            </a:r>
            <a:r>
              <a:rPr lang="en-US" dirty="0"/>
              <a:t> Place settings in standard locations. For apps, follow common conventions; for websites, put account and profile links where the username is, usually in the upper-right or -left corner.</a:t>
            </a:r>
          </a:p>
          <a:p>
            <a:pPr>
              <a:buFont typeface="+mj-lt"/>
              <a:buAutoNum type="arabicPeriod"/>
            </a:pPr>
            <a:r>
              <a:rPr lang="en-US" b="1" dirty="0"/>
              <a:t>Organize Properties:</a:t>
            </a:r>
            <a:r>
              <a:rPr lang="en-US" dirty="0"/>
              <a:t> Use card sorting with users to determine these groups and their names. Avoid deep hierarchies that require too many clicks to navigate.</a:t>
            </a:r>
          </a:p>
          <a:p>
            <a:pPr>
              <a:buFont typeface="+mj-lt"/>
              <a:buAutoNum type="arabicPeriod"/>
            </a:pPr>
            <a:r>
              <a:rPr lang="en-US" b="1" dirty="0"/>
              <a:t>Choose a Layout:</a:t>
            </a:r>
            <a:r>
              <a:rPr lang="en-US" dirty="0"/>
              <a:t> Use common layouts like tabs, two-panel selectors, or one-window drilldowns</a:t>
            </a:r>
          </a:p>
          <a:p>
            <a:pPr>
              <a:buFont typeface="+mj-lt"/>
              <a:buAutoNum type="arabicPeriod"/>
            </a:pPr>
            <a:r>
              <a:rPr lang="en-US" b="1" dirty="0"/>
              <a:t>Form Design:</a:t>
            </a:r>
            <a:r>
              <a:rPr lang="en-US" dirty="0"/>
              <a:t> patterns and techniques for designing forms.</a:t>
            </a:r>
          </a:p>
          <a:p>
            <a:pPr>
              <a:buFont typeface="+mj-lt"/>
              <a:buAutoNum type="arabicPeriod"/>
            </a:pPr>
            <a:r>
              <a:rPr lang="en-US" b="1" dirty="0"/>
              <a:t>Apply Changes:</a:t>
            </a:r>
            <a:r>
              <a:rPr lang="en-US" dirty="0"/>
              <a:t> Decide whether to apply changes immediately or use Save and Cancel buttons based on the type of settings and established conventions. Test with users to determine the best approach.</a:t>
            </a:r>
          </a:p>
          <a:p>
            <a:endParaRPr lang="en-IN" dirty="0"/>
          </a:p>
        </p:txBody>
      </p:sp>
    </p:spTree>
    <p:extLst>
      <p:ext uri="{BB962C8B-B14F-4D97-AF65-F5344CB8AC3E}">
        <p14:creationId xmlns:p14="http://schemas.microsoft.com/office/powerpoint/2010/main" val="3471987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3D2C2-C122-8A31-826C-0B5640C0C737}"/>
              </a:ext>
            </a:extLst>
          </p:cNvPr>
          <p:cNvSpPr>
            <a:spLocks noGrp="1"/>
          </p:cNvSpPr>
          <p:nvPr>
            <p:ph type="title"/>
          </p:nvPr>
        </p:nvSpPr>
        <p:spPr/>
        <p:txBody>
          <a:bodyPr/>
          <a:lstStyle/>
          <a:p>
            <a:r>
              <a:rPr lang="en-IN" b="1" dirty="0"/>
              <a:t>7. Alternative Views</a:t>
            </a:r>
          </a:p>
        </p:txBody>
      </p:sp>
      <p:sp>
        <p:nvSpPr>
          <p:cNvPr id="3" name="Content Placeholder 2">
            <a:extLst>
              <a:ext uri="{FF2B5EF4-FFF2-40B4-BE49-F238E27FC236}">
                <a16:creationId xmlns:a16="http://schemas.microsoft.com/office/drawing/2014/main" id="{26821B6A-2BB7-F482-0C82-95EF9CC2C2A1}"/>
              </a:ext>
            </a:extLst>
          </p:cNvPr>
          <p:cNvSpPr>
            <a:spLocks noGrp="1"/>
          </p:cNvSpPr>
          <p:nvPr>
            <p:ph idx="1"/>
          </p:nvPr>
        </p:nvSpPr>
        <p:spPr/>
        <p:txBody>
          <a:bodyPr/>
          <a:lstStyle/>
          <a:p>
            <a:r>
              <a:rPr lang="en-US" dirty="0"/>
              <a:t>Let the user choose among alternative views that are substantially different from the default view.</a:t>
            </a:r>
          </a:p>
          <a:p>
            <a:r>
              <a:rPr lang="en-US" dirty="0"/>
              <a:t>If you're building a tool for viewing or editing complex content, you may already offer basic customizations like font size or zoom level. </a:t>
            </a:r>
          </a:p>
          <a:p>
            <a:r>
              <a:rPr lang="en-US" dirty="0"/>
              <a:t>However, if you need to accommodate more complex needs or conflicting requirements, you have to provide different design with different feature sets. Let users choose between these versions to meet their specific needs.</a:t>
            </a:r>
            <a:endParaRPr lang="en-IN" dirty="0"/>
          </a:p>
        </p:txBody>
      </p:sp>
    </p:spTree>
    <p:extLst>
      <p:ext uri="{BB962C8B-B14F-4D97-AF65-F5344CB8AC3E}">
        <p14:creationId xmlns:p14="http://schemas.microsoft.com/office/powerpoint/2010/main" val="39292096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96FFA-B212-32DD-4BC0-6B6E4B0A366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2CB6243-F38E-80A1-D828-E3DAF8BE7943}"/>
              </a:ext>
            </a:extLst>
          </p:cNvPr>
          <p:cNvPicPr>
            <a:picLocks noGrp="1" noChangeAspect="1"/>
          </p:cNvPicPr>
          <p:nvPr>
            <p:ph idx="1"/>
          </p:nvPr>
        </p:nvPicPr>
        <p:blipFill>
          <a:blip r:embed="rId2"/>
          <a:stretch>
            <a:fillRect/>
          </a:stretch>
        </p:blipFill>
        <p:spPr>
          <a:xfrm>
            <a:off x="3192528" y="2987746"/>
            <a:ext cx="5806943" cy="2027096"/>
          </a:xfrm>
        </p:spPr>
      </p:pic>
    </p:spTree>
    <p:extLst>
      <p:ext uri="{BB962C8B-B14F-4D97-AF65-F5344CB8AC3E}">
        <p14:creationId xmlns:p14="http://schemas.microsoft.com/office/powerpoint/2010/main" val="40849727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7B67C-8588-C75B-54E3-EF7016643E5D}"/>
              </a:ext>
            </a:extLst>
          </p:cNvPr>
          <p:cNvSpPr>
            <a:spLocks noGrp="1"/>
          </p:cNvSpPr>
          <p:nvPr>
            <p:ph type="title"/>
          </p:nvPr>
        </p:nvSpPr>
        <p:spPr/>
        <p:txBody>
          <a:bodyPr/>
          <a:lstStyle/>
          <a:p>
            <a:r>
              <a:rPr lang="en-US" dirty="0"/>
              <a:t>WHY</a:t>
            </a:r>
            <a:endParaRPr lang="en-IN" dirty="0"/>
          </a:p>
        </p:txBody>
      </p:sp>
      <p:sp>
        <p:nvSpPr>
          <p:cNvPr id="3" name="Content Placeholder 2">
            <a:extLst>
              <a:ext uri="{FF2B5EF4-FFF2-40B4-BE49-F238E27FC236}">
                <a16:creationId xmlns:a16="http://schemas.microsoft.com/office/drawing/2014/main" id="{42E34C93-8CDF-90F9-5093-F9BCBD0CBD40}"/>
              </a:ext>
            </a:extLst>
          </p:cNvPr>
          <p:cNvSpPr>
            <a:spLocks noGrp="1"/>
          </p:cNvSpPr>
          <p:nvPr>
            <p:ph idx="1"/>
          </p:nvPr>
        </p:nvSpPr>
        <p:spPr/>
        <p:txBody>
          <a:bodyPr>
            <a:normAutofit/>
          </a:bodyPr>
          <a:lstStyle/>
          <a:p>
            <a:pPr marL="0" indent="0">
              <a:buNone/>
            </a:pPr>
            <a:r>
              <a:rPr lang="en-US" dirty="0"/>
              <a:t>There are several reasons for Alternative Views:</a:t>
            </a:r>
          </a:p>
          <a:p>
            <a:pPr algn="just"/>
            <a:r>
              <a:rPr lang="en-US" dirty="0"/>
              <a:t>Users have preferences with regard to speed, visual style, and other factors.</a:t>
            </a:r>
          </a:p>
          <a:p>
            <a:pPr algn="just"/>
            <a:r>
              <a:rPr lang="en-US" dirty="0"/>
              <a:t> A user might need to temporarily view data through a different “lens” or perspective in order to gain insight into a problem. </a:t>
            </a:r>
          </a:p>
          <a:p>
            <a:pPr algn="just"/>
            <a:r>
              <a:rPr lang="en-US" dirty="0"/>
              <a:t>If a user is editing a slideshow or website, for instance, he may do most of his editing while using a “structural” view of the document, containing editing handles, markers for invisible content, layout guides, private notes, and so on. But sometimes he will want to see the work as an end user would see it.</a:t>
            </a:r>
            <a:endParaRPr lang="en-IN" dirty="0"/>
          </a:p>
        </p:txBody>
      </p:sp>
    </p:spTree>
    <p:extLst>
      <p:ext uri="{BB962C8B-B14F-4D97-AF65-F5344CB8AC3E}">
        <p14:creationId xmlns:p14="http://schemas.microsoft.com/office/powerpoint/2010/main" val="475836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A1B71-7435-32D9-4F7E-577FE7955A8F}"/>
              </a:ext>
            </a:extLst>
          </p:cNvPr>
          <p:cNvSpPr>
            <a:spLocks noGrp="1"/>
          </p:cNvSpPr>
          <p:nvPr>
            <p:ph type="title"/>
          </p:nvPr>
        </p:nvSpPr>
        <p:spPr/>
        <p:txBody>
          <a:bodyPr/>
          <a:lstStyle/>
          <a:p>
            <a:r>
              <a:rPr lang="en-US" dirty="0"/>
              <a:t>HOW</a:t>
            </a:r>
            <a:endParaRPr lang="en-IN" dirty="0"/>
          </a:p>
        </p:txBody>
      </p:sp>
      <p:sp>
        <p:nvSpPr>
          <p:cNvPr id="3" name="Content Placeholder 2">
            <a:extLst>
              <a:ext uri="{FF2B5EF4-FFF2-40B4-BE49-F238E27FC236}">
                <a16:creationId xmlns:a16="http://schemas.microsoft.com/office/drawing/2014/main" id="{C53AB342-4D27-AA36-6E56-98C70B7778C7}"/>
              </a:ext>
            </a:extLst>
          </p:cNvPr>
          <p:cNvSpPr>
            <a:spLocks noGrp="1"/>
          </p:cNvSpPr>
          <p:nvPr>
            <p:ph idx="1"/>
          </p:nvPr>
        </p:nvSpPr>
        <p:spPr>
          <a:xfrm>
            <a:off x="727587" y="1238865"/>
            <a:ext cx="11189109" cy="4938098"/>
          </a:xfrm>
        </p:spPr>
        <p:txBody>
          <a:bodyPr>
            <a:normAutofit/>
          </a:bodyPr>
          <a:lstStyle/>
          <a:p>
            <a:r>
              <a:rPr lang="en-US" dirty="0"/>
              <a:t>Design specialized views for the scenarios, and present them as alternatives within the same window or screen.</a:t>
            </a:r>
          </a:p>
          <a:p>
            <a:r>
              <a:rPr lang="en-US" dirty="0"/>
              <a:t>In these alternative views, some information might be added and some might be taken away, but the core content should remain more or less the same. </a:t>
            </a:r>
          </a:p>
          <a:p>
            <a:r>
              <a:rPr lang="en-US" dirty="0"/>
              <a:t>A common way to switch views is to change the rendering of a list; file finders in both Windows and Mac OS let users switch from lists to Thumbnail Grids to Tree Tables to Cascading Lists to Carousels, for instance.</a:t>
            </a:r>
            <a:endParaRPr lang="en-IN" dirty="0"/>
          </a:p>
        </p:txBody>
      </p:sp>
    </p:spTree>
    <p:extLst>
      <p:ext uri="{BB962C8B-B14F-4D97-AF65-F5344CB8AC3E}">
        <p14:creationId xmlns:p14="http://schemas.microsoft.com/office/powerpoint/2010/main" val="33216602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38039-A04F-D5DE-FEF9-9FE684425954}"/>
              </a:ext>
            </a:extLst>
          </p:cNvPr>
          <p:cNvSpPr>
            <a:spLocks noGrp="1"/>
          </p:cNvSpPr>
          <p:nvPr>
            <p:ph type="title"/>
          </p:nvPr>
        </p:nvSpPr>
        <p:spPr/>
        <p:txBody>
          <a:bodyPr/>
          <a:lstStyle/>
          <a:p>
            <a:r>
              <a:rPr lang="en-US" b="1" dirty="0"/>
              <a:t>HOW</a:t>
            </a:r>
            <a:endParaRPr lang="en-IN" b="1" dirty="0"/>
          </a:p>
        </p:txBody>
      </p:sp>
      <p:sp>
        <p:nvSpPr>
          <p:cNvPr id="3" name="Content Placeholder 2">
            <a:extLst>
              <a:ext uri="{FF2B5EF4-FFF2-40B4-BE49-F238E27FC236}">
                <a16:creationId xmlns:a16="http://schemas.microsoft.com/office/drawing/2014/main" id="{473B91A7-B03A-5CA4-EDB9-8F8FDB3AF020}"/>
              </a:ext>
            </a:extLst>
          </p:cNvPr>
          <p:cNvSpPr>
            <a:spLocks noGrp="1"/>
          </p:cNvSpPr>
          <p:nvPr>
            <p:ph idx="1"/>
          </p:nvPr>
        </p:nvSpPr>
        <p:spPr/>
        <p:txBody>
          <a:bodyPr>
            <a:normAutofit fontScale="92500" lnSpcReduction="10000"/>
          </a:bodyPr>
          <a:lstStyle/>
          <a:p>
            <a:r>
              <a:rPr lang="en-US" dirty="0"/>
              <a:t>Most applications represent the alternative views with iconic buttons. </a:t>
            </a:r>
          </a:p>
          <a:p>
            <a:r>
              <a:rPr lang="en-US" dirty="0"/>
              <a:t>As the user switches back and forth, preserve all of the application’s current state selections, the user’s location in the document, uncommitted changes, undo/redo operations, and so on .</a:t>
            </a:r>
          </a:p>
          <a:p>
            <a:r>
              <a:rPr lang="en-US" dirty="0"/>
              <a:t>If a user decides to switch to an alternative view, the application will just use that view by default next time. </a:t>
            </a:r>
          </a:p>
          <a:p>
            <a:r>
              <a:rPr lang="en-US" dirty="0"/>
              <a:t>Websites can do this by using cookies; desktop applications can keep track of preferences per user; an app on a mobile device can simply remember what view it used the last time it was invoked. </a:t>
            </a:r>
          </a:p>
          <a:p>
            <a:r>
              <a:rPr lang="en-US" dirty="0"/>
              <a:t>Web pages may have the option of implementing Alternative Views as alternative CSS pages.</a:t>
            </a:r>
            <a:endParaRPr lang="en-IN" dirty="0"/>
          </a:p>
        </p:txBody>
      </p:sp>
    </p:spTree>
    <p:extLst>
      <p:ext uri="{BB962C8B-B14F-4D97-AF65-F5344CB8AC3E}">
        <p14:creationId xmlns:p14="http://schemas.microsoft.com/office/powerpoint/2010/main" val="28639005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72D3F-2F81-3979-16DC-2E356390FA42}"/>
              </a:ext>
            </a:extLst>
          </p:cNvPr>
          <p:cNvSpPr>
            <a:spLocks noGrp="1"/>
          </p:cNvSpPr>
          <p:nvPr>
            <p:ph type="title"/>
          </p:nvPr>
        </p:nvSpPr>
        <p:spPr/>
        <p:txBody>
          <a:bodyPr/>
          <a:lstStyle/>
          <a:p>
            <a:r>
              <a:rPr lang="en-IN" b="1" dirty="0"/>
              <a:t>Many Workspaces</a:t>
            </a:r>
          </a:p>
        </p:txBody>
      </p:sp>
      <p:sp>
        <p:nvSpPr>
          <p:cNvPr id="3" name="Content Placeholder 2">
            <a:extLst>
              <a:ext uri="{FF2B5EF4-FFF2-40B4-BE49-F238E27FC236}">
                <a16:creationId xmlns:a16="http://schemas.microsoft.com/office/drawing/2014/main" id="{D43A8039-2027-2547-0D56-6075731A118E}"/>
              </a:ext>
            </a:extLst>
          </p:cNvPr>
          <p:cNvSpPr>
            <a:spLocks noGrp="1"/>
          </p:cNvSpPr>
          <p:nvPr>
            <p:ph idx="1"/>
          </p:nvPr>
        </p:nvSpPr>
        <p:spPr/>
        <p:txBody>
          <a:bodyPr/>
          <a:lstStyle/>
          <a:p>
            <a:r>
              <a:rPr lang="en-US" dirty="0"/>
              <a:t>Use multiple top-level tabs, tab groups, and windows so that users can view more than one page, project, file, or context at a time.</a:t>
            </a:r>
          </a:p>
          <a:p>
            <a:r>
              <a:rPr lang="en-US" dirty="0"/>
              <a:t> Let users place these workspaces side by side if possible.</a:t>
            </a:r>
            <a:endParaRPr lang="en-IN" dirty="0"/>
          </a:p>
        </p:txBody>
      </p:sp>
      <p:pic>
        <p:nvPicPr>
          <p:cNvPr id="5" name="Picture 4">
            <a:extLst>
              <a:ext uri="{FF2B5EF4-FFF2-40B4-BE49-F238E27FC236}">
                <a16:creationId xmlns:a16="http://schemas.microsoft.com/office/drawing/2014/main" id="{17AD9149-6C71-B125-0437-08D1807F8F96}"/>
              </a:ext>
            </a:extLst>
          </p:cNvPr>
          <p:cNvPicPr>
            <a:picLocks noChangeAspect="1"/>
          </p:cNvPicPr>
          <p:nvPr/>
        </p:nvPicPr>
        <p:blipFill>
          <a:blip r:embed="rId2"/>
          <a:stretch>
            <a:fillRect/>
          </a:stretch>
        </p:blipFill>
        <p:spPr>
          <a:xfrm>
            <a:off x="2236961" y="3301580"/>
            <a:ext cx="7049484" cy="3010320"/>
          </a:xfrm>
          <a:prstGeom prst="rect">
            <a:avLst/>
          </a:prstGeom>
        </p:spPr>
      </p:pic>
    </p:spTree>
    <p:extLst>
      <p:ext uri="{BB962C8B-B14F-4D97-AF65-F5344CB8AC3E}">
        <p14:creationId xmlns:p14="http://schemas.microsoft.com/office/powerpoint/2010/main" val="38199803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3FE6E-7100-64F6-A399-3685FFF51D37}"/>
              </a:ext>
            </a:extLst>
          </p:cNvPr>
          <p:cNvSpPr>
            <a:spLocks noGrp="1"/>
          </p:cNvSpPr>
          <p:nvPr>
            <p:ph type="title"/>
          </p:nvPr>
        </p:nvSpPr>
        <p:spPr/>
        <p:txBody>
          <a:bodyPr/>
          <a:lstStyle/>
          <a:p>
            <a:r>
              <a:rPr lang="en-US" dirty="0"/>
              <a:t>WHY</a:t>
            </a:r>
            <a:endParaRPr lang="en-IN" dirty="0"/>
          </a:p>
        </p:txBody>
      </p:sp>
      <p:sp>
        <p:nvSpPr>
          <p:cNvPr id="3" name="Content Placeholder 2">
            <a:extLst>
              <a:ext uri="{FF2B5EF4-FFF2-40B4-BE49-F238E27FC236}">
                <a16:creationId xmlns:a16="http://schemas.microsoft.com/office/drawing/2014/main" id="{55248964-2A3B-3494-95EE-E970CA59AD5D}"/>
              </a:ext>
            </a:extLst>
          </p:cNvPr>
          <p:cNvSpPr>
            <a:spLocks noGrp="1"/>
          </p:cNvSpPr>
          <p:nvPr>
            <p:ph idx="1"/>
          </p:nvPr>
        </p:nvSpPr>
        <p:spPr/>
        <p:txBody>
          <a:bodyPr>
            <a:normAutofit fontScale="92500" lnSpcReduction="20000"/>
          </a:bodyPr>
          <a:lstStyle/>
          <a:p>
            <a:r>
              <a:rPr lang="en-US" dirty="0"/>
              <a:t>People multitask. </a:t>
            </a:r>
          </a:p>
          <a:p>
            <a:r>
              <a:rPr lang="en-US" dirty="0"/>
              <a:t>They go off on tangents, abandon trains of thought, stop working on task A to switch to task B, and eventually come back to something they left hanging.</a:t>
            </a:r>
          </a:p>
          <a:p>
            <a:r>
              <a:rPr lang="en-US" dirty="0"/>
              <a:t> One way or the other, they will multitask, so you might as well support it directly with a well- designed interface for doing so.</a:t>
            </a:r>
          </a:p>
          <a:p>
            <a:r>
              <a:rPr lang="en-US" dirty="0"/>
              <a:t>Side-by-side comparisons between two or more items can help people learn and gain insight. </a:t>
            </a:r>
          </a:p>
          <a:p>
            <a:r>
              <a:rPr lang="en-US" dirty="0"/>
              <a:t>Let users pull up pages or documents next to each other without having to laboriously switch context from one to another.</a:t>
            </a:r>
          </a:p>
          <a:p>
            <a:r>
              <a:rPr lang="en-US" dirty="0"/>
              <a:t>This pattern directly supports some patterns, such as Prospective Memory (a user may leave a window open as a self-reminder to finish something) and Safe Exploration</a:t>
            </a:r>
            <a:endParaRPr lang="en-IN" dirty="0"/>
          </a:p>
        </p:txBody>
      </p:sp>
    </p:spTree>
    <p:extLst>
      <p:ext uri="{BB962C8B-B14F-4D97-AF65-F5344CB8AC3E}">
        <p14:creationId xmlns:p14="http://schemas.microsoft.com/office/powerpoint/2010/main" val="28338695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8DF5E-7F0A-3862-7B42-812E6CB5E56D}"/>
              </a:ext>
            </a:extLst>
          </p:cNvPr>
          <p:cNvSpPr>
            <a:spLocks noGrp="1"/>
          </p:cNvSpPr>
          <p:nvPr>
            <p:ph type="title"/>
          </p:nvPr>
        </p:nvSpPr>
        <p:spPr/>
        <p:txBody>
          <a:bodyPr/>
          <a:lstStyle/>
          <a:p>
            <a:r>
              <a:rPr lang="en-US" dirty="0"/>
              <a:t>HOW</a:t>
            </a:r>
            <a:endParaRPr lang="en-IN" dirty="0"/>
          </a:p>
        </p:txBody>
      </p:sp>
      <p:sp>
        <p:nvSpPr>
          <p:cNvPr id="3" name="Content Placeholder 2">
            <a:extLst>
              <a:ext uri="{FF2B5EF4-FFF2-40B4-BE49-F238E27FC236}">
                <a16:creationId xmlns:a16="http://schemas.microsoft.com/office/drawing/2014/main" id="{BCC82B19-EC1F-3676-62E7-16E8046D2E7E}"/>
              </a:ext>
            </a:extLst>
          </p:cNvPr>
          <p:cNvSpPr>
            <a:spLocks noGrp="1"/>
          </p:cNvSpPr>
          <p:nvPr>
            <p:ph idx="1"/>
          </p:nvPr>
        </p:nvSpPr>
        <p:spPr/>
        <p:txBody>
          <a:bodyPr>
            <a:normAutofit fontScale="92500" lnSpcReduction="10000"/>
          </a:bodyPr>
          <a:lstStyle/>
          <a:p>
            <a:r>
              <a:rPr lang="en-US" dirty="0"/>
              <a:t>Choose one or more ways to show multiple workspaces. </a:t>
            </a:r>
          </a:p>
          <a:p>
            <a:r>
              <a:rPr lang="en-US" dirty="0"/>
              <a:t>Many well-known applications use the following:</a:t>
            </a:r>
          </a:p>
          <a:p>
            <a:pPr>
              <a:buFont typeface="Wingdings" panose="05000000000000000000" pitchFamily="2" charset="2"/>
              <a:buChar char="Ø"/>
            </a:pPr>
            <a:r>
              <a:rPr lang="en-US" dirty="0"/>
              <a:t> Tabs</a:t>
            </a:r>
          </a:p>
          <a:p>
            <a:pPr>
              <a:buFont typeface="Wingdings" panose="05000000000000000000" pitchFamily="2" charset="2"/>
              <a:buChar char="Ø"/>
            </a:pPr>
            <a:r>
              <a:rPr lang="en-US" dirty="0"/>
              <a:t>Separate operating-system windows</a:t>
            </a:r>
          </a:p>
          <a:p>
            <a:pPr>
              <a:buFont typeface="Wingdings" panose="05000000000000000000" pitchFamily="2" charset="2"/>
              <a:buChar char="Ø"/>
            </a:pPr>
            <a:r>
              <a:rPr lang="en-US" dirty="0"/>
              <a:t>Columns or panels within a window</a:t>
            </a:r>
          </a:p>
          <a:p>
            <a:pPr>
              <a:buFont typeface="Wingdings" panose="05000000000000000000" pitchFamily="2" charset="2"/>
              <a:buChar char="Ø"/>
            </a:pPr>
            <a:r>
              <a:rPr lang="en-US" dirty="0"/>
              <a:t>Split windows, with the ability to adjust the splitters interactively</a:t>
            </a:r>
          </a:p>
          <a:p>
            <a:r>
              <a:rPr lang="en-US" dirty="0"/>
              <a:t>If you deal with fairly simple content in each workspace such as text files, lists, or News Streams split windows or panels work fine. </a:t>
            </a:r>
          </a:p>
          <a:p>
            <a:r>
              <a:rPr lang="en-US" dirty="0"/>
              <a:t>More complex content might warrant entire tab pages or windows of their own so that a user can see a larger area at once.</a:t>
            </a:r>
            <a:endParaRPr lang="en-IN" dirty="0"/>
          </a:p>
        </p:txBody>
      </p:sp>
    </p:spTree>
    <p:extLst>
      <p:ext uri="{BB962C8B-B14F-4D97-AF65-F5344CB8AC3E}">
        <p14:creationId xmlns:p14="http://schemas.microsoft.com/office/powerpoint/2010/main" val="13323335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5127F-4466-BA6A-839D-77B06142ABE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65B9192-AA5D-E099-2BCA-0C1E34CBB5D7}"/>
              </a:ext>
            </a:extLst>
          </p:cNvPr>
          <p:cNvSpPr>
            <a:spLocks noGrp="1"/>
          </p:cNvSpPr>
          <p:nvPr>
            <p:ph idx="1"/>
          </p:nvPr>
        </p:nvSpPr>
        <p:spPr/>
        <p:txBody>
          <a:bodyPr/>
          <a:lstStyle/>
          <a:p>
            <a:r>
              <a:rPr lang="en-US" dirty="0"/>
              <a:t>When users close some web browsers, such as Chrome, the set of workspaces (all open web pages, in tabs and windows) gets automatically saved for later use. </a:t>
            </a:r>
          </a:p>
          <a:p>
            <a:r>
              <a:rPr lang="en-US" dirty="0"/>
              <a:t>Then when the user restarts the browser, her entire set of previously opened web pages is restored, almost as she left it. This is especially nice when the browser or machine has crashed</a:t>
            </a:r>
            <a:r>
              <a:rPr lang="en-US"/>
              <a:t>. </a:t>
            </a:r>
            <a:endParaRPr lang="en-IN" dirty="0"/>
          </a:p>
        </p:txBody>
      </p:sp>
    </p:spTree>
    <p:extLst>
      <p:ext uri="{BB962C8B-B14F-4D97-AF65-F5344CB8AC3E}">
        <p14:creationId xmlns:p14="http://schemas.microsoft.com/office/powerpoint/2010/main" val="4458487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B3351-BE3B-2629-11B5-7509F1EE80F9}"/>
              </a:ext>
            </a:extLst>
          </p:cNvPr>
          <p:cNvSpPr>
            <a:spLocks noGrp="1"/>
          </p:cNvSpPr>
          <p:nvPr>
            <p:ph type="title"/>
          </p:nvPr>
        </p:nvSpPr>
        <p:spPr/>
        <p:txBody>
          <a:bodyPr/>
          <a:lstStyle/>
          <a:p>
            <a:r>
              <a:rPr lang="en-IN" dirty="0"/>
              <a:t>Multi-Level Help</a:t>
            </a:r>
          </a:p>
        </p:txBody>
      </p:sp>
      <p:pic>
        <p:nvPicPr>
          <p:cNvPr id="5" name="Content Placeholder 4">
            <a:extLst>
              <a:ext uri="{FF2B5EF4-FFF2-40B4-BE49-F238E27FC236}">
                <a16:creationId xmlns:a16="http://schemas.microsoft.com/office/drawing/2014/main" id="{C4E509D7-6771-18A1-6B2E-59509F28C9FF}"/>
              </a:ext>
            </a:extLst>
          </p:cNvPr>
          <p:cNvPicPr>
            <a:picLocks noGrp="1" noChangeAspect="1"/>
          </p:cNvPicPr>
          <p:nvPr>
            <p:ph idx="1"/>
          </p:nvPr>
        </p:nvPicPr>
        <p:blipFill>
          <a:blip r:embed="rId2"/>
          <a:stretch>
            <a:fillRect/>
          </a:stretch>
        </p:blipFill>
        <p:spPr>
          <a:xfrm>
            <a:off x="995516" y="1766631"/>
            <a:ext cx="8984226" cy="5091369"/>
          </a:xfrm>
        </p:spPr>
      </p:pic>
    </p:spTree>
    <p:extLst>
      <p:ext uri="{BB962C8B-B14F-4D97-AF65-F5344CB8AC3E}">
        <p14:creationId xmlns:p14="http://schemas.microsoft.com/office/powerpoint/2010/main" val="7475769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BC1DC-05FA-FCAE-DE57-44CDE533E887}"/>
              </a:ext>
            </a:extLst>
          </p:cNvPr>
          <p:cNvSpPr>
            <a:spLocks noGrp="1"/>
          </p:cNvSpPr>
          <p:nvPr>
            <p:ph type="title"/>
          </p:nvPr>
        </p:nvSpPr>
        <p:spPr/>
        <p:txBody>
          <a:bodyPr/>
          <a:lstStyle/>
          <a:p>
            <a:r>
              <a:rPr lang="en-IN" dirty="0"/>
              <a:t>Multi-Level Help</a:t>
            </a:r>
          </a:p>
        </p:txBody>
      </p:sp>
      <p:sp>
        <p:nvSpPr>
          <p:cNvPr id="3" name="Content Placeholder 2">
            <a:extLst>
              <a:ext uri="{FF2B5EF4-FFF2-40B4-BE49-F238E27FC236}">
                <a16:creationId xmlns:a16="http://schemas.microsoft.com/office/drawing/2014/main" id="{8D97F8E2-17CA-EDEC-604F-0E3E18EC4A4C}"/>
              </a:ext>
            </a:extLst>
          </p:cNvPr>
          <p:cNvSpPr>
            <a:spLocks noGrp="1"/>
          </p:cNvSpPr>
          <p:nvPr>
            <p:ph idx="1"/>
          </p:nvPr>
        </p:nvSpPr>
        <p:spPr/>
        <p:txBody>
          <a:bodyPr/>
          <a:lstStyle/>
          <a:p>
            <a:r>
              <a:rPr lang="en-US" dirty="0"/>
              <a:t>Use a mixture of lightweight and heavyweight help techniques to support users with varying needs</a:t>
            </a:r>
          </a:p>
          <a:p>
            <a:r>
              <a:rPr lang="en-US" dirty="0"/>
              <a:t>When designing a complex application, it's crucial to support both beginners and experienced users effectively. </a:t>
            </a:r>
          </a:p>
          <a:p>
            <a:r>
              <a:rPr lang="en-US" dirty="0"/>
              <a:t>Some users may need a full-fledged help system, but most users won’t take the time to use it</a:t>
            </a:r>
            <a:endParaRPr lang="en-IN" dirty="0"/>
          </a:p>
        </p:txBody>
      </p:sp>
    </p:spTree>
    <p:extLst>
      <p:ext uri="{BB962C8B-B14F-4D97-AF65-F5344CB8AC3E}">
        <p14:creationId xmlns:p14="http://schemas.microsoft.com/office/powerpoint/2010/main" val="37364639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5854D-9325-A348-BED6-D0C2029A0435}"/>
              </a:ext>
            </a:extLst>
          </p:cNvPr>
          <p:cNvSpPr>
            <a:spLocks noGrp="1"/>
          </p:cNvSpPr>
          <p:nvPr>
            <p:ph type="title"/>
          </p:nvPr>
        </p:nvSpPr>
        <p:spPr/>
        <p:txBody>
          <a:bodyPr/>
          <a:lstStyle/>
          <a:p>
            <a:r>
              <a:rPr lang="en-IN" dirty="0"/>
              <a:t>Multi-Level Help- WHY</a:t>
            </a:r>
          </a:p>
        </p:txBody>
      </p:sp>
      <p:sp>
        <p:nvSpPr>
          <p:cNvPr id="3" name="Content Placeholder 2">
            <a:extLst>
              <a:ext uri="{FF2B5EF4-FFF2-40B4-BE49-F238E27FC236}">
                <a16:creationId xmlns:a16="http://schemas.microsoft.com/office/drawing/2014/main" id="{8425645D-0F6B-896D-D2CC-5188AF754645}"/>
              </a:ext>
            </a:extLst>
          </p:cNvPr>
          <p:cNvSpPr>
            <a:spLocks noGrp="1"/>
          </p:cNvSpPr>
          <p:nvPr>
            <p:ph idx="1"/>
          </p:nvPr>
        </p:nvSpPr>
        <p:spPr/>
        <p:txBody>
          <a:bodyPr>
            <a:normAutofit/>
          </a:bodyPr>
          <a:lstStyle/>
          <a:p>
            <a:r>
              <a:rPr lang="en-US" dirty="0"/>
              <a:t>Users of almost any software artifact need varying levels of support for the tasks they’re trying to accomplish.</a:t>
            </a:r>
          </a:p>
          <a:p>
            <a:r>
              <a:rPr lang="en-US" dirty="0"/>
              <a:t> Someone approaching it for the first time ever (or the first time in a while) needs different support than someone who uses it frequently. </a:t>
            </a:r>
          </a:p>
          <a:p>
            <a:r>
              <a:rPr lang="en-US" dirty="0"/>
              <a:t>Even among first time users, enormous differences exist in commitment level and learning styles.</a:t>
            </a:r>
          </a:p>
          <a:p>
            <a:r>
              <a:rPr lang="en-US" dirty="0"/>
              <a:t> Some people want to read a tutorial, some won’t; most find tool tips helpful, but a few find them irritating</a:t>
            </a:r>
            <a:endParaRPr lang="en-IN" dirty="0"/>
          </a:p>
        </p:txBody>
      </p:sp>
    </p:spTree>
    <p:extLst>
      <p:ext uri="{BB962C8B-B14F-4D97-AF65-F5344CB8AC3E}">
        <p14:creationId xmlns:p14="http://schemas.microsoft.com/office/powerpoint/2010/main" val="36799683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E18E7-B07F-463D-A860-80EE9EE34411}"/>
              </a:ext>
            </a:extLst>
          </p:cNvPr>
          <p:cNvSpPr>
            <a:spLocks noGrp="1"/>
          </p:cNvSpPr>
          <p:nvPr>
            <p:ph type="title"/>
          </p:nvPr>
        </p:nvSpPr>
        <p:spPr/>
        <p:txBody>
          <a:bodyPr/>
          <a:lstStyle/>
          <a:p>
            <a:r>
              <a:rPr lang="en-IN" dirty="0"/>
              <a:t>Multi-Level Help- WHY</a:t>
            </a:r>
          </a:p>
        </p:txBody>
      </p:sp>
      <p:sp>
        <p:nvSpPr>
          <p:cNvPr id="3" name="Content Placeholder 2">
            <a:extLst>
              <a:ext uri="{FF2B5EF4-FFF2-40B4-BE49-F238E27FC236}">
                <a16:creationId xmlns:a16="http://schemas.microsoft.com/office/drawing/2014/main" id="{07B7F96B-8B0D-25AA-8B5D-4C351E408E19}"/>
              </a:ext>
            </a:extLst>
          </p:cNvPr>
          <p:cNvSpPr>
            <a:spLocks noGrp="1"/>
          </p:cNvSpPr>
          <p:nvPr>
            <p:ph idx="1"/>
          </p:nvPr>
        </p:nvSpPr>
        <p:spPr/>
        <p:txBody>
          <a:bodyPr/>
          <a:lstStyle/>
          <a:p>
            <a:r>
              <a:rPr lang="en-US" dirty="0"/>
              <a:t>Help texts that are provided on many levels at once even when they don’t look like traditional “help systems” reach everyone who needs them. </a:t>
            </a:r>
          </a:p>
          <a:p>
            <a:r>
              <a:rPr lang="en-US" dirty="0"/>
              <a:t>Many good help techniques put the help texts within easy reach, but not directly in the user’s face all the time, so users don’t get irritated.</a:t>
            </a:r>
            <a:endParaRPr lang="en-IN" dirty="0"/>
          </a:p>
        </p:txBody>
      </p:sp>
    </p:spTree>
    <p:extLst>
      <p:ext uri="{BB962C8B-B14F-4D97-AF65-F5344CB8AC3E}">
        <p14:creationId xmlns:p14="http://schemas.microsoft.com/office/powerpoint/2010/main" val="31563907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5D8F6-BBF5-06F4-FB08-54DB48643116}"/>
              </a:ext>
            </a:extLst>
          </p:cNvPr>
          <p:cNvSpPr>
            <a:spLocks noGrp="1"/>
          </p:cNvSpPr>
          <p:nvPr>
            <p:ph type="title"/>
          </p:nvPr>
        </p:nvSpPr>
        <p:spPr>
          <a:xfrm>
            <a:off x="838200" y="365126"/>
            <a:ext cx="10515600" cy="903236"/>
          </a:xfrm>
        </p:spPr>
        <p:txBody>
          <a:bodyPr/>
          <a:lstStyle/>
          <a:p>
            <a:r>
              <a:rPr lang="en-IN" dirty="0"/>
              <a:t>Multi-Level Help- HOW</a:t>
            </a:r>
          </a:p>
        </p:txBody>
      </p:sp>
      <p:sp>
        <p:nvSpPr>
          <p:cNvPr id="3" name="Content Placeholder 2">
            <a:extLst>
              <a:ext uri="{FF2B5EF4-FFF2-40B4-BE49-F238E27FC236}">
                <a16:creationId xmlns:a16="http://schemas.microsoft.com/office/drawing/2014/main" id="{7180A766-6127-0CC4-7B5A-E4636B2455BB}"/>
              </a:ext>
            </a:extLst>
          </p:cNvPr>
          <p:cNvSpPr>
            <a:spLocks noGrp="1"/>
          </p:cNvSpPr>
          <p:nvPr>
            <p:ph idx="1"/>
          </p:nvPr>
        </p:nvSpPr>
        <p:spPr>
          <a:xfrm>
            <a:off x="838200" y="1435510"/>
            <a:ext cx="10515600" cy="4741453"/>
          </a:xfrm>
        </p:spPr>
        <p:txBody>
          <a:bodyPr>
            <a:normAutofit fontScale="92500" lnSpcReduction="20000"/>
          </a:bodyPr>
          <a:lstStyle/>
          <a:p>
            <a:r>
              <a:rPr lang="en-US" dirty="0"/>
              <a:t>Captions and instructions directly on the page, including patterns such as Input Hints and Input Prompt</a:t>
            </a:r>
          </a:p>
          <a:p>
            <a:r>
              <a:rPr lang="en-US" b="1" dirty="0"/>
              <a:t>Tool tips. </a:t>
            </a:r>
            <a:r>
              <a:rPr lang="en-US" dirty="0"/>
              <a:t>Use them to show very brief, one- or two-line descriptions of interface features that aren’t self-evident</a:t>
            </a:r>
          </a:p>
          <a:p>
            <a:r>
              <a:rPr lang="en-US" b="1" dirty="0"/>
              <a:t>Hover Tools</a:t>
            </a:r>
            <a:r>
              <a:rPr lang="en-US" dirty="0"/>
              <a:t>. These can display slightly longer descriptions, shown dynamically as the user selects or rolls over certain interface elements.</a:t>
            </a:r>
          </a:p>
          <a:p>
            <a:r>
              <a:rPr lang="en-US" dirty="0"/>
              <a:t>Longer help texts contained inside Collapsible Panels</a:t>
            </a:r>
          </a:p>
          <a:p>
            <a:r>
              <a:rPr lang="en-US" dirty="0"/>
              <a:t>Introductory material, such as static introductory screens, guided tours, and videos.</a:t>
            </a:r>
          </a:p>
          <a:p>
            <a:r>
              <a:rPr lang="en-US" dirty="0"/>
              <a:t>Help shown in a separate window, often in HTML via browsers, but sometimes in </a:t>
            </a:r>
            <a:r>
              <a:rPr lang="en-US" dirty="0" err="1"/>
              <a:t>WinHelp</a:t>
            </a:r>
            <a:r>
              <a:rPr lang="en-US" dirty="0"/>
              <a:t> or Mac Help.</a:t>
            </a:r>
          </a:p>
          <a:p>
            <a:r>
              <a:rPr lang="en-US" dirty="0"/>
              <a:t>Live” technical support, usually via email, the Web, Twitter, or telephone.</a:t>
            </a:r>
          </a:p>
          <a:p>
            <a:r>
              <a:rPr lang="en-US" dirty="0"/>
              <a:t>Informal community support</a:t>
            </a:r>
          </a:p>
          <a:p>
            <a:endParaRPr lang="en-IN" dirty="0"/>
          </a:p>
        </p:txBody>
      </p:sp>
    </p:spTree>
    <p:extLst>
      <p:ext uri="{BB962C8B-B14F-4D97-AF65-F5344CB8AC3E}">
        <p14:creationId xmlns:p14="http://schemas.microsoft.com/office/powerpoint/2010/main" val="36203193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73746-EF7F-FAE0-62FB-61DBF35BC381}"/>
              </a:ext>
            </a:extLst>
          </p:cNvPr>
          <p:cNvSpPr>
            <a:spLocks noGrp="1"/>
          </p:cNvSpPr>
          <p:nvPr>
            <p:ph type="title"/>
          </p:nvPr>
        </p:nvSpPr>
        <p:spPr>
          <a:xfrm>
            <a:off x="936523" y="2766218"/>
            <a:ext cx="10515600" cy="1325563"/>
          </a:xfrm>
        </p:spPr>
        <p:txBody>
          <a:bodyPr/>
          <a:lstStyle/>
          <a:p>
            <a:pPr algn="ctr"/>
            <a:r>
              <a:rPr lang="en-US" b="1" dirty="0"/>
              <a:t>BOOTSTRAP</a:t>
            </a:r>
            <a:endParaRPr lang="en-IN" b="1" dirty="0"/>
          </a:p>
        </p:txBody>
      </p:sp>
      <p:sp>
        <p:nvSpPr>
          <p:cNvPr id="3" name="Content Placeholder 2">
            <a:extLst>
              <a:ext uri="{FF2B5EF4-FFF2-40B4-BE49-F238E27FC236}">
                <a16:creationId xmlns:a16="http://schemas.microsoft.com/office/drawing/2014/main" id="{0BCE5F88-EAAE-C29E-81BD-27D44EA1BABD}"/>
              </a:ext>
            </a:extLst>
          </p:cNvPr>
          <p:cNvSpPr>
            <a:spLocks noGrp="1"/>
          </p:cNvSpPr>
          <p:nvPr>
            <p:ph idx="1"/>
          </p:nvPr>
        </p:nvSpPr>
        <p:spPr/>
        <p:txBody>
          <a:bodyPr/>
          <a:lstStyle/>
          <a:p>
            <a:r>
              <a:rPr lang="en-US" dirty="0"/>
              <a:t>`</a:t>
            </a:r>
            <a:endParaRPr lang="en-IN" dirty="0"/>
          </a:p>
        </p:txBody>
      </p:sp>
    </p:spTree>
    <p:extLst>
      <p:ext uri="{BB962C8B-B14F-4D97-AF65-F5344CB8AC3E}">
        <p14:creationId xmlns:p14="http://schemas.microsoft.com/office/powerpoint/2010/main" val="40401869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C00B1-D9F7-4B82-C3A7-A8E70F45E148}"/>
              </a:ext>
            </a:extLst>
          </p:cNvPr>
          <p:cNvSpPr>
            <a:spLocks noGrp="1"/>
          </p:cNvSpPr>
          <p:nvPr>
            <p:ph type="title"/>
          </p:nvPr>
        </p:nvSpPr>
        <p:spPr/>
        <p:txBody>
          <a:bodyPr/>
          <a:lstStyle/>
          <a:p>
            <a:r>
              <a:rPr lang="en-US" altLang="en-US" b="1" dirty="0">
                <a:latin typeface="Arial" panose="020B0604020202020204" pitchFamily="34" charset="0"/>
              </a:rPr>
              <a:t>BOOTSTRAP -</a:t>
            </a:r>
            <a:r>
              <a:rPr kumimoji="0" lang="en-US" altLang="en-US" sz="4400" b="1" i="0" u="none" strike="noStrike" cap="none" normalizeH="0" baseline="0" dirty="0">
                <a:ln>
                  <a:noFill/>
                </a:ln>
                <a:solidFill>
                  <a:schemeClr val="tx1"/>
                </a:solidFill>
                <a:effectLst/>
                <a:latin typeface="Arial" panose="020B0604020202020204" pitchFamily="34" charset="0"/>
              </a:rPr>
              <a:t>Responsive images</a:t>
            </a:r>
            <a:endParaRPr lang="en-IN" dirty="0"/>
          </a:p>
        </p:txBody>
      </p:sp>
      <p:sp>
        <p:nvSpPr>
          <p:cNvPr id="3" name="Content Placeholder 2">
            <a:extLst>
              <a:ext uri="{FF2B5EF4-FFF2-40B4-BE49-F238E27FC236}">
                <a16:creationId xmlns:a16="http://schemas.microsoft.com/office/drawing/2014/main" id="{4D84A0CE-00A7-98F6-D41C-B80A981F7627}"/>
              </a:ext>
            </a:extLst>
          </p:cNvPr>
          <p:cNvSpPr>
            <a:spLocks noGrp="1"/>
          </p:cNvSpPr>
          <p:nvPr>
            <p:ph idx="1"/>
          </p:nvPr>
        </p:nvSpPr>
        <p:spPr/>
        <p:txBody>
          <a:bodyPr/>
          <a:lstStyle/>
          <a:p>
            <a:pPr algn="just">
              <a:lnSpc>
                <a:spcPct val="80000"/>
              </a:lnSpc>
            </a:pPr>
            <a:r>
              <a:rPr lang="en-US" sz="2400" dirty="0">
                <a:latin typeface="Arial" panose="020B0604020202020204" pitchFamily="34" charset="0"/>
              </a:rPr>
              <a:t>Images come in all sizes. So do screens. Responsive images automatically adjust to fit the size of the screen. </a:t>
            </a:r>
            <a:endParaRPr lang="en-US" altLang="en-US" sz="2400" dirty="0">
              <a:latin typeface="Arial" panose="020B0604020202020204" pitchFamily="34" charset="0"/>
            </a:endParaRPr>
          </a:p>
          <a:p>
            <a:pPr algn="just">
              <a:lnSpc>
                <a:spcPct val="80000"/>
              </a:lnSpc>
            </a:pPr>
            <a:r>
              <a:rPr lang="en-US" altLang="en-US" sz="2400" dirty="0">
                <a:latin typeface="Arial" panose="020B0604020202020204" pitchFamily="34" charset="0"/>
              </a:rPr>
              <a:t>Images in Bootstrap are made responsive with .</a:t>
            </a:r>
            <a:r>
              <a:rPr lang="en-US" altLang="en-US" sz="2400" dirty="0" err="1">
                <a:latin typeface="Arial" panose="020B0604020202020204" pitchFamily="34" charset="0"/>
              </a:rPr>
              <a:t>img</a:t>
            </a:r>
            <a:r>
              <a:rPr lang="en-US" altLang="en-US" sz="2400" dirty="0">
                <a:latin typeface="Arial" panose="020B0604020202020204" pitchFamily="34" charset="0"/>
              </a:rPr>
              <a:t>-fluid. This applies max-width: 100%; and height: auto; to the image so that it scales with the parent element.</a:t>
            </a:r>
          </a:p>
          <a:p>
            <a:pPr algn="just">
              <a:lnSpc>
                <a:spcPct val="80000"/>
              </a:lnSpc>
              <a:buFont typeface="Wingdings" panose="05000000000000000000" pitchFamily="2" charset="2"/>
              <a:buChar char="Ø"/>
            </a:pPr>
            <a:r>
              <a:rPr lang="en-US" altLang="en-US" sz="2400" dirty="0">
                <a:latin typeface="Arial" panose="020B0604020202020204" pitchFamily="34" charset="0"/>
              </a:rPr>
              <a:t>&lt;</a:t>
            </a:r>
            <a:r>
              <a:rPr lang="en-US" altLang="en-US" sz="2400" dirty="0" err="1">
                <a:latin typeface="Arial" panose="020B0604020202020204" pitchFamily="34" charset="0"/>
              </a:rPr>
              <a:t>img</a:t>
            </a:r>
            <a:r>
              <a:rPr lang="en-US" altLang="en-US" sz="2400" dirty="0">
                <a:latin typeface="Arial" panose="020B0604020202020204" pitchFamily="34" charset="0"/>
              </a:rPr>
              <a:t> </a:t>
            </a:r>
            <a:r>
              <a:rPr lang="en-US" altLang="en-US" sz="2400" dirty="0" err="1">
                <a:latin typeface="Arial" panose="020B0604020202020204" pitchFamily="34" charset="0"/>
              </a:rPr>
              <a:t>src</a:t>
            </a:r>
            <a:r>
              <a:rPr lang="en-US" altLang="en-US" sz="2400" dirty="0">
                <a:latin typeface="Arial" panose="020B0604020202020204" pitchFamily="34" charset="0"/>
              </a:rPr>
              <a:t>="..." </a:t>
            </a:r>
            <a:r>
              <a:rPr kumimoji="0" lang="en-US" altLang="en-US" sz="3200" b="0" i="0" u="none" strike="noStrike" cap="none" normalizeH="0" baseline="0" dirty="0">
                <a:ln>
                  <a:noFill/>
                </a:ln>
                <a:solidFill>
                  <a:schemeClr val="tx1"/>
                </a:solidFill>
                <a:effectLst/>
                <a:latin typeface="Arial Unicode MS"/>
              </a:rPr>
              <a:t>class</a:t>
            </a:r>
            <a:r>
              <a:rPr kumimoji="0" lang="en-US" altLang="en-US" sz="3200" b="0" i="0" u="none" strike="noStrike" cap="none" normalizeH="0" baseline="0" dirty="0">
                <a:ln>
                  <a:noFill/>
                </a:ln>
                <a:solidFill>
                  <a:schemeClr val="tx1"/>
                </a:solidFill>
                <a:effectLst/>
                <a:latin typeface="Arial" panose="020B0604020202020204" pitchFamily="34" charset="0"/>
              </a:rPr>
              <a:t>=</a:t>
            </a:r>
            <a:r>
              <a:rPr kumimoji="0" lang="en-US" altLang="en-US" sz="3200" b="0" i="0" u="none" strike="noStrike" cap="none" normalizeH="0" baseline="0" dirty="0">
                <a:ln>
                  <a:noFill/>
                </a:ln>
                <a:solidFill>
                  <a:schemeClr val="tx1"/>
                </a:solidFill>
                <a:effectLst/>
                <a:latin typeface="Arial Unicode MS"/>
              </a:rPr>
              <a:t>"</a:t>
            </a:r>
            <a:r>
              <a:rPr kumimoji="0" lang="en-US" altLang="en-US" sz="3200" b="0" i="0" u="none" strike="noStrike" cap="none" normalizeH="0" baseline="0" dirty="0" err="1">
                <a:ln>
                  <a:noFill/>
                </a:ln>
                <a:solidFill>
                  <a:schemeClr val="tx1"/>
                </a:solidFill>
                <a:effectLst/>
                <a:latin typeface="Arial Unicode MS"/>
              </a:rPr>
              <a:t>img</a:t>
            </a:r>
            <a:r>
              <a:rPr kumimoji="0" lang="en-US" altLang="en-US" sz="3200" b="0" i="0" u="none" strike="noStrike" cap="none" normalizeH="0" baseline="0" dirty="0">
                <a:ln>
                  <a:noFill/>
                </a:ln>
                <a:solidFill>
                  <a:schemeClr val="tx1"/>
                </a:solidFill>
                <a:effectLst/>
                <a:latin typeface="Arial Unicode MS"/>
              </a:rPr>
              <a:t>-fluid" alt</a:t>
            </a:r>
            <a:r>
              <a:rPr kumimoji="0" lang="en-US" altLang="en-US" sz="3200" b="0" i="0" u="none" strike="noStrike" cap="none" normalizeH="0" baseline="0" dirty="0">
                <a:ln>
                  <a:noFill/>
                </a:ln>
                <a:solidFill>
                  <a:schemeClr val="tx1"/>
                </a:solidFill>
                <a:effectLst/>
                <a:latin typeface="Arial" panose="020B0604020202020204" pitchFamily="34" charset="0"/>
              </a:rPr>
              <a:t>=</a:t>
            </a:r>
            <a:r>
              <a:rPr kumimoji="0" lang="en-US" altLang="en-US" sz="3200" b="0" i="0" u="none" strike="noStrike" cap="none" normalizeH="0" baseline="0" dirty="0">
                <a:ln>
                  <a:noFill/>
                </a:ln>
                <a:solidFill>
                  <a:schemeClr val="tx1"/>
                </a:solidFill>
                <a:effectLst/>
                <a:latin typeface="Arial Unicode MS"/>
              </a:rPr>
              <a:t>"..."&gt;</a:t>
            </a:r>
          </a:p>
          <a:p>
            <a:pPr algn="just">
              <a:lnSpc>
                <a:spcPct val="80000"/>
              </a:lnSpc>
              <a:buFont typeface="Wingdings" panose="05000000000000000000" pitchFamily="2" charset="2"/>
              <a:buChar char="Ø"/>
            </a:pPr>
            <a:endParaRPr kumimoji="0" lang="en-US" altLang="en-US" sz="3200" b="0" i="0" u="none" strike="noStrike" cap="none" normalizeH="0" baseline="0" dirty="0">
              <a:ln>
                <a:noFill/>
              </a:ln>
              <a:solidFill>
                <a:schemeClr val="tx1"/>
              </a:solidFill>
              <a:effectLst/>
              <a:latin typeface="Arial" panose="020B0604020202020204" pitchFamily="34" charset="0"/>
            </a:endParaRPr>
          </a:p>
          <a:p>
            <a:endParaRPr kumimoji="0" lang="en-US" altLang="en-US" sz="6000" b="0" i="0" u="none" strike="noStrike" cap="none" normalizeH="0" baseline="0" dirty="0">
              <a:ln>
                <a:noFill/>
              </a:ln>
              <a:solidFill>
                <a:schemeClr val="tx1"/>
              </a:solidFill>
              <a:effectLst/>
              <a:latin typeface="Arial" panose="020B0604020202020204" pitchFamily="34" charset="0"/>
            </a:endParaRPr>
          </a:p>
          <a:p>
            <a:endParaRPr lang="en-IN" dirty="0"/>
          </a:p>
          <a:p>
            <a:endParaRPr lang="en-IN" dirty="0"/>
          </a:p>
        </p:txBody>
      </p:sp>
      <p:pic>
        <p:nvPicPr>
          <p:cNvPr id="6" name="Content Placeholder 4">
            <a:extLst>
              <a:ext uri="{FF2B5EF4-FFF2-40B4-BE49-F238E27FC236}">
                <a16:creationId xmlns:a16="http://schemas.microsoft.com/office/drawing/2014/main" id="{950248B9-F447-6709-9610-0879DF4C1E0D}"/>
              </a:ext>
            </a:extLst>
          </p:cNvPr>
          <p:cNvPicPr>
            <a:picLocks noChangeAspect="1"/>
          </p:cNvPicPr>
          <p:nvPr/>
        </p:nvPicPr>
        <p:blipFill>
          <a:blip r:embed="rId2"/>
          <a:stretch>
            <a:fillRect/>
          </a:stretch>
        </p:blipFill>
        <p:spPr>
          <a:xfrm>
            <a:off x="1042220" y="4228118"/>
            <a:ext cx="8994058" cy="2629882"/>
          </a:xfrm>
          <a:prstGeom prst="rect">
            <a:avLst/>
          </a:prstGeom>
        </p:spPr>
      </p:pic>
    </p:spTree>
    <p:extLst>
      <p:ext uri="{BB962C8B-B14F-4D97-AF65-F5344CB8AC3E}">
        <p14:creationId xmlns:p14="http://schemas.microsoft.com/office/powerpoint/2010/main" val="32833521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02D5F-0CC3-7FDA-0007-97449DEAB1E5}"/>
              </a:ext>
            </a:extLst>
          </p:cNvPr>
          <p:cNvSpPr>
            <a:spLocks noGrp="1"/>
          </p:cNvSpPr>
          <p:nvPr>
            <p:ph type="title"/>
          </p:nvPr>
        </p:nvSpPr>
        <p:spPr/>
        <p:txBody>
          <a:bodyPr/>
          <a:lstStyle/>
          <a:p>
            <a:r>
              <a:rPr lang="en-IN" b="1" dirty="0"/>
              <a:t>IMAGE SHAPES</a:t>
            </a:r>
          </a:p>
        </p:txBody>
      </p:sp>
      <p:sp>
        <p:nvSpPr>
          <p:cNvPr id="3" name="Content Placeholder 2">
            <a:extLst>
              <a:ext uri="{FF2B5EF4-FFF2-40B4-BE49-F238E27FC236}">
                <a16:creationId xmlns:a16="http://schemas.microsoft.com/office/drawing/2014/main" id="{21C2B986-E9DB-B39A-310B-8E7B481FBEF5}"/>
              </a:ext>
            </a:extLst>
          </p:cNvPr>
          <p:cNvSpPr>
            <a:spLocks noGrp="1"/>
          </p:cNvSpPr>
          <p:nvPr>
            <p:ph idx="1"/>
          </p:nvPr>
        </p:nvSpPr>
        <p:spPr/>
        <p:txBody>
          <a:bodyPr>
            <a:normAutofit fontScale="85000" lnSpcReduction="10000"/>
          </a:bodyPr>
          <a:lstStyle/>
          <a:p>
            <a:r>
              <a:rPr lang="en-US" altLang="en-US" dirty="0">
                <a:latin typeface="Arial" panose="020B0604020202020204" pitchFamily="34" charset="0"/>
              </a:rPr>
              <a:t>The</a:t>
            </a:r>
            <a:r>
              <a:rPr lang="en-US" altLang="en-US" b="1" dirty="0">
                <a:latin typeface="Arial" panose="020B0604020202020204" pitchFamily="34" charset="0"/>
              </a:rPr>
              <a:t> .rounded </a:t>
            </a:r>
            <a:r>
              <a:rPr lang="en-US" altLang="en-US" dirty="0">
                <a:latin typeface="Arial" panose="020B0604020202020204" pitchFamily="34" charset="0"/>
              </a:rPr>
              <a:t>class adds rounded corners to an image</a:t>
            </a:r>
          </a:p>
          <a:p>
            <a:pPr>
              <a:buFont typeface="Wingdings" panose="05000000000000000000" pitchFamily="2" charset="2"/>
              <a:buChar char="Ø"/>
            </a:pPr>
            <a:r>
              <a:rPr lang="en-IN" dirty="0">
                <a:solidFill>
                  <a:srgbClr val="0000CD"/>
                </a:solidFill>
                <a:effectLst/>
              </a:rPr>
              <a:t>&lt;</a:t>
            </a:r>
            <a:r>
              <a:rPr lang="en-IN" dirty="0" err="1">
                <a:solidFill>
                  <a:srgbClr val="A52A2A"/>
                </a:solidFill>
                <a:effectLst/>
              </a:rPr>
              <a:t>img</a:t>
            </a:r>
            <a:r>
              <a:rPr lang="en-IN" dirty="0">
                <a:solidFill>
                  <a:srgbClr val="FF0000"/>
                </a:solidFill>
                <a:effectLst/>
              </a:rPr>
              <a:t> </a:t>
            </a:r>
            <a:r>
              <a:rPr lang="en-IN" dirty="0" err="1">
                <a:solidFill>
                  <a:srgbClr val="FF0000"/>
                </a:solidFill>
                <a:effectLst/>
              </a:rPr>
              <a:t>src</a:t>
            </a:r>
            <a:r>
              <a:rPr lang="en-IN" dirty="0">
                <a:solidFill>
                  <a:srgbClr val="0000CD"/>
                </a:solidFill>
                <a:effectLst/>
              </a:rPr>
              <a:t>="cinqueterre.jpg"</a:t>
            </a:r>
            <a:r>
              <a:rPr lang="en-IN" dirty="0">
                <a:solidFill>
                  <a:srgbClr val="FF0000"/>
                </a:solidFill>
                <a:effectLst/>
              </a:rPr>
              <a:t> class</a:t>
            </a:r>
            <a:r>
              <a:rPr lang="en-IN" dirty="0">
                <a:solidFill>
                  <a:srgbClr val="0000CD"/>
                </a:solidFill>
                <a:effectLst/>
              </a:rPr>
              <a:t>="rounded"</a:t>
            </a:r>
            <a:r>
              <a:rPr lang="en-IN" dirty="0">
                <a:solidFill>
                  <a:srgbClr val="FF0000"/>
                </a:solidFill>
                <a:effectLst/>
              </a:rPr>
              <a:t> alt</a:t>
            </a:r>
            <a:r>
              <a:rPr lang="en-IN" dirty="0">
                <a:solidFill>
                  <a:srgbClr val="0000CD"/>
                </a:solidFill>
                <a:effectLst/>
              </a:rPr>
              <a:t>="Cinque Terre"&gt;</a:t>
            </a:r>
          </a:p>
          <a:p>
            <a:pPr marL="0" indent="0">
              <a:buNone/>
            </a:pPr>
            <a:endParaRPr lang="en-IN" dirty="0">
              <a:solidFill>
                <a:srgbClr val="0000CD"/>
              </a:solidFill>
              <a:effectLst/>
            </a:endParaRPr>
          </a:p>
          <a:p>
            <a:r>
              <a:rPr lang="en-US" altLang="en-US" dirty="0">
                <a:latin typeface="Arial" panose="020B0604020202020204" pitchFamily="34" charset="0"/>
              </a:rPr>
              <a:t>The </a:t>
            </a:r>
            <a:r>
              <a:rPr lang="en-US" altLang="en-US" b="1" dirty="0">
                <a:latin typeface="Arial" panose="020B0604020202020204" pitchFamily="34" charset="0"/>
              </a:rPr>
              <a:t>.rounded-circle</a:t>
            </a:r>
            <a:r>
              <a:rPr lang="en-US" altLang="en-US" dirty="0">
                <a:latin typeface="Arial" panose="020B0604020202020204" pitchFamily="34" charset="0"/>
              </a:rPr>
              <a:t> class shapes the image to a circle: </a:t>
            </a:r>
          </a:p>
          <a:p>
            <a:pPr>
              <a:buFont typeface="Wingdings" panose="05000000000000000000" pitchFamily="2" charset="2"/>
              <a:buChar char="Ø"/>
            </a:pPr>
            <a:r>
              <a:rPr lang="en-IN" dirty="0">
                <a:latin typeface="Arial" panose="020B0604020202020204" pitchFamily="34" charset="0"/>
              </a:rPr>
              <a:t> &lt;</a:t>
            </a:r>
            <a:r>
              <a:rPr lang="en-IN" dirty="0" err="1">
                <a:latin typeface="Arial" panose="020B0604020202020204" pitchFamily="34" charset="0"/>
              </a:rPr>
              <a:t>img</a:t>
            </a:r>
            <a:r>
              <a:rPr lang="en-IN" dirty="0">
                <a:latin typeface="Arial" panose="020B0604020202020204" pitchFamily="34" charset="0"/>
              </a:rPr>
              <a:t> </a:t>
            </a:r>
            <a:r>
              <a:rPr lang="en-IN" dirty="0" err="1">
                <a:latin typeface="Arial" panose="020B0604020202020204" pitchFamily="34" charset="0"/>
              </a:rPr>
              <a:t>src</a:t>
            </a:r>
            <a:r>
              <a:rPr lang="en-IN" dirty="0">
                <a:latin typeface="Arial" panose="020B0604020202020204" pitchFamily="34" charset="0"/>
              </a:rPr>
              <a:t>="cinqueterre.jpg" class="rounded-circle" alt="Cinque Terre"&gt; </a:t>
            </a:r>
          </a:p>
          <a:p>
            <a:pPr marL="0" indent="0">
              <a:buNone/>
            </a:pPr>
            <a:endParaRPr lang="en-IN" dirty="0">
              <a:latin typeface="Arial" panose="020B0604020202020204" pitchFamily="34" charset="0"/>
            </a:endParaRPr>
          </a:p>
          <a:p>
            <a:r>
              <a:rPr lang="en-US" altLang="en-US" dirty="0">
                <a:latin typeface="Arial" panose="020B0604020202020204" pitchFamily="34" charset="0"/>
              </a:rPr>
              <a:t>The </a:t>
            </a:r>
            <a:r>
              <a:rPr lang="en-US" altLang="en-US" b="1" dirty="0">
                <a:latin typeface="Arial" panose="020B0604020202020204" pitchFamily="34" charset="0"/>
              </a:rPr>
              <a:t>.</a:t>
            </a:r>
            <a:r>
              <a:rPr lang="en-US" altLang="en-US" b="1" dirty="0" err="1">
                <a:latin typeface="Arial" panose="020B0604020202020204" pitchFamily="34" charset="0"/>
              </a:rPr>
              <a:t>img</a:t>
            </a:r>
            <a:r>
              <a:rPr lang="en-US" altLang="en-US" b="1" dirty="0">
                <a:latin typeface="Arial" panose="020B0604020202020204" pitchFamily="34" charset="0"/>
              </a:rPr>
              <a:t>-thumbnail </a:t>
            </a:r>
            <a:r>
              <a:rPr lang="en-US" altLang="en-US" dirty="0">
                <a:latin typeface="Arial" panose="020B0604020202020204" pitchFamily="34" charset="0"/>
              </a:rPr>
              <a:t>class shapes the image to a thumbnail (bordered): </a:t>
            </a:r>
          </a:p>
          <a:p>
            <a:pPr>
              <a:buFont typeface="Wingdings" panose="05000000000000000000" pitchFamily="2" charset="2"/>
              <a:buChar char="Ø"/>
            </a:pPr>
            <a:r>
              <a:rPr lang="en-IN" dirty="0">
                <a:latin typeface="Arial" panose="020B0604020202020204" pitchFamily="34" charset="0"/>
              </a:rPr>
              <a:t>&lt;</a:t>
            </a:r>
            <a:r>
              <a:rPr lang="en-IN" dirty="0" err="1">
                <a:latin typeface="Arial" panose="020B0604020202020204" pitchFamily="34" charset="0"/>
              </a:rPr>
              <a:t>img</a:t>
            </a:r>
            <a:r>
              <a:rPr lang="en-IN" dirty="0">
                <a:latin typeface="Arial" panose="020B0604020202020204" pitchFamily="34" charset="0"/>
              </a:rPr>
              <a:t> </a:t>
            </a:r>
            <a:r>
              <a:rPr lang="en-IN" dirty="0" err="1">
                <a:latin typeface="Arial" panose="020B0604020202020204" pitchFamily="34" charset="0"/>
              </a:rPr>
              <a:t>src</a:t>
            </a:r>
            <a:r>
              <a:rPr lang="en-IN" dirty="0">
                <a:latin typeface="Arial" panose="020B0604020202020204" pitchFamily="34" charset="0"/>
              </a:rPr>
              <a:t>="cinqueterre.jpg" class="</a:t>
            </a:r>
            <a:r>
              <a:rPr lang="en-IN" dirty="0" err="1">
                <a:latin typeface="Arial" panose="020B0604020202020204" pitchFamily="34" charset="0"/>
              </a:rPr>
              <a:t>img</a:t>
            </a:r>
            <a:r>
              <a:rPr lang="en-IN" dirty="0">
                <a:latin typeface="Arial" panose="020B0604020202020204" pitchFamily="34" charset="0"/>
              </a:rPr>
              <a:t>-thumbnail" alt="Cinque Terre"&gt; </a:t>
            </a:r>
          </a:p>
          <a:p>
            <a:endParaRPr lang="en-IN" dirty="0"/>
          </a:p>
          <a:p>
            <a:r>
              <a:rPr lang="en-IN" dirty="0"/>
              <a:t> </a:t>
            </a:r>
          </a:p>
          <a:p>
            <a:endParaRPr lang="en-IN" dirty="0">
              <a:latin typeface="Arial" panose="020B0604020202020204" pitchFamily="34" charset="0"/>
            </a:endParaRPr>
          </a:p>
        </p:txBody>
      </p:sp>
    </p:spTree>
    <p:extLst>
      <p:ext uri="{BB962C8B-B14F-4D97-AF65-F5344CB8AC3E}">
        <p14:creationId xmlns:p14="http://schemas.microsoft.com/office/powerpoint/2010/main" val="24001484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CD06C-ED3A-B1A1-D1A4-21A73ABD52CA}"/>
              </a:ext>
            </a:extLst>
          </p:cNvPr>
          <p:cNvSpPr>
            <a:spLocks noGrp="1"/>
          </p:cNvSpPr>
          <p:nvPr>
            <p:ph type="title"/>
          </p:nvPr>
        </p:nvSpPr>
        <p:spPr/>
        <p:txBody>
          <a:bodyPr/>
          <a:lstStyle/>
          <a:p>
            <a:r>
              <a:rPr lang="en-IN" b="1" dirty="0"/>
              <a:t>Aligning Images</a:t>
            </a:r>
            <a:endParaRPr lang="en-IN" dirty="0"/>
          </a:p>
        </p:txBody>
      </p:sp>
      <p:sp>
        <p:nvSpPr>
          <p:cNvPr id="3" name="Content Placeholder 2">
            <a:extLst>
              <a:ext uri="{FF2B5EF4-FFF2-40B4-BE49-F238E27FC236}">
                <a16:creationId xmlns:a16="http://schemas.microsoft.com/office/drawing/2014/main" id="{31B4BCCD-A1F6-2281-2C73-3314062A6868}"/>
              </a:ext>
            </a:extLst>
          </p:cNvPr>
          <p:cNvSpPr>
            <a:spLocks noGrp="1"/>
          </p:cNvSpPr>
          <p:nvPr>
            <p:ph idx="1"/>
          </p:nvPr>
        </p:nvSpPr>
        <p:spPr/>
        <p:txBody>
          <a:bodyPr/>
          <a:lstStyle/>
          <a:p>
            <a:r>
              <a:rPr kumimoji="0" lang="en-US" altLang="en-US" sz="2800" b="0" i="0" u="none" strike="noStrike" cap="none" normalizeH="0" baseline="0" dirty="0">
                <a:ln>
                  <a:noFill/>
                </a:ln>
                <a:solidFill>
                  <a:schemeClr val="tx1"/>
                </a:solidFill>
                <a:effectLst/>
                <a:latin typeface="Arial" panose="020B0604020202020204" pitchFamily="34" charset="0"/>
              </a:rPr>
              <a:t>Float an image to the left with the </a:t>
            </a:r>
            <a:r>
              <a:rPr lang="en-US" altLang="en-US" sz="1600" dirty="0">
                <a:latin typeface="Arial Unicode MS"/>
              </a:rPr>
              <a:t>.</a:t>
            </a:r>
            <a:r>
              <a:rPr lang="en-US" altLang="en-US" dirty="0">
                <a:latin typeface="Arial" panose="020B0604020202020204" pitchFamily="34" charset="0"/>
              </a:rPr>
              <a:t>float-start class or to the right with .float-end</a:t>
            </a:r>
          </a:p>
          <a:p>
            <a:r>
              <a:rPr lang="en-IN" dirty="0">
                <a:solidFill>
                  <a:srgbClr val="0000CD"/>
                </a:solidFill>
                <a:effectLst/>
              </a:rPr>
              <a:t>&lt;</a:t>
            </a:r>
            <a:r>
              <a:rPr lang="en-IN" dirty="0" err="1">
                <a:solidFill>
                  <a:srgbClr val="A52A2A"/>
                </a:solidFill>
                <a:effectLst/>
              </a:rPr>
              <a:t>img</a:t>
            </a:r>
            <a:r>
              <a:rPr lang="en-IN" dirty="0">
                <a:solidFill>
                  <a:srgbClr val="FF0000"/>
                </a:solidFill>
                <a:effectLst/>
              </a:rPr>
              <a:t> </a:t>
            </a:r>
            <a:r>
              <a:rPr lang="en-IN" dirty="0" err="1">
                <a:solidFill>
                  <a:srgbClr val="FF0000"/>
                </a:solidFill>
                <a:effectLst/>
              </a:rPr>
              <a:t>src</a:t>
            </a:r>
            <a:r>
              <a:rPr lang="en-IN" dirty="0">
                <a:solidFill>
                  <a:srgbClr val="0000CD"/>
                </a:solidFill>
                <a:effectLst/>
              </a:rPr>
              <a:t>="paris.jpg"</a:t>
            </a:r>
            <a:r>
              <a:rPr lang="en-IN" dirty="0">
                <a:solidFill>
                  <a:srgbClr val="FF0000"/>
                </a:solidFill>
                <a:effectLst/>
              </a:rPr>
              <a:t> class</a:t>
            </a:r>
            <a:r>
              <a:rPr lang="en-IN" dirty="0">
                <a:solidFill>
                  <a:srgbClr val="0000CD"/>
                </a:solidFill>
                <a:effectLst/>
              </a:rPr>
              <a:t>="float-start"&gt;</a:t>
            </a:r>
            <a:r>
              <a:rPr lang="en-IN" dirty="0"/>
              <a:t> </a:t>
            </a:r>
            <a:br>
              <a:rPr lang="en-IN" dirty="0"/>
            </a:br>
            <a:r>
              <a:rPr lang="en-IN" dirty="0">
                <a:solidFill>
                  <a:srgbClr val="0000CD"/>
                </a:solidFill>
                <a:effectLst/>
              </a:rPr>
              <a:t>&lt;</a:t>
            </a:r>
            <a:r>
              <a:rPr lang="en-IN" dirty="0" err="1">
                <a:solidFill>
                  <a:srgbClr val="A52A2A"/>
                </a:solidFill>
                <a:effectLst/>
              </a:rPr>
              <a:t>img</a:t>
            </a:r>
            <a:r>
              <a:rPr lang="en-IN" dirty="0">
                <a:solidFill>
                  <a:srgbClr val="FF0000"/>
                </a:solidFill>
                <a:effectLst/>
              </a:rPr>
              <a:t> </a:t>
            </a:r>
            <a:r>
              <a:rPr lang="en-IN" dirty="0" err="1">
                <a:solidFill>
                  <a:srgbClr val="FF0000"/>
                </a:solidFill>
                <a:effectLst/>
              </a:rPr>
              <a:t>src</a:t>
            </a:r>
            <a:r>
              <a:rPr lang="en-IN" dirty="0">
                <a:solidFill>
                  <a:srgbClr val="0000CD"/>
                </a:solidFill>
                <a:effectLst/>
              </a:rPr>
              <a:t>="paris.jpg"</a:t>
            </a:r>
            <a:r>
              <a:rPr lang="en-IN" dirty="0">
                <a:solidFill>
                  <a:srgbClr val="FF0000"/>
                </a:solidFill>
                <a:effectLst/>
              </a:rPr>
              <a:t> class</a:t>
            </a:r>
            <a:r>
              <a:rPr lang="en-IN" dirty="0">
                <a:solidFill>
                  <a:srgbClr val="0000CD"/>
                </a:solidFill>
                <a:effectLst/>
              </a:rPr>
              <a:t>="float-end"&gt;</a:t>
            </a:r>
            <a:r>
              <a:rPr lang="en-IN" dirty="0"/>
              <a:t> </a:t>
            </a:r>
          </a:p>
          <a:p>
            <a:endParaRPr lang="en-IN" dirty="0"/>
          </a:p>
        </p:txBody>
      </p:sp>
      <p:pic>
        <p:nvPicPr>
          <p:cNvPr id="5" name="Picture 4">
            <a:extLst>
              <a:ext uri="{FF2B5EF4-FFF2-40B4-BE49-F238E27FC236}">
                <a16:creationId xmlns:a16="http://schemas.microsoft.com/office/drawing/2014/main" id="{A5724639-6B0D-A0B1-7099-7F286C6FA033}"/>
              </a:ext>
            </a:extLst>
          </p:cNvPr>
          <p:cNvPicPr>
            <a:picLocks noChangeAspect="1"/>
          </p:cNvPicPr>
          <p:nvPr/>
        </p:nvPicPr>
        <p:blipFill>
          <a:blip r:embed="rId2"/>
          <a:stretch>
            <a:fillRect/>
          </a:stretch>
        </p:blipFill>
        <p:spPr>
          <a:xfrm>
            <a:off x="1160205" y="3549657"/>
            <a:ext cx="10004323" cy="2943218"/>
          </a:xfrm>
          <a:prstGeom prst="rect">
            <a:avLst/>
          </a:prstGeom>
        </p:spPr>
      </p:pic>
    </p:spTree>
    <p:extLst>
      <p:ext uri="{BB962C8B-B14F-4D97-AF65-F5344CB8AC3E}">
        <p14:creationId xmlns:p14="http://schemas.microsoft.com/office/powerpoint/2010/main" val="24428495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95D32-334B-3CDC-5B33-4DA37C17F78C}"/>
              </a:ext>
            </a:extLst>
          </p:cNvPr>
          <p:cNvSpPr>
            <a:spLocks noGrp="1"/>
          </p:cNvSpPr>
          <p:nvPr>
            <p:ph type="title"/>
          </p:nvPr>
        </p:nvSpPr>
        <p:spPr/>
        <p:txBody>
          <a:bodyPr/>
          <a:lstStyle/>
          <a:p>
            <a:r>
              <a:rPr lang="en-IN" b="1" dirty="0"/>
              <a:t>Aligning Images</a:t>
            </a:r>
            <a:endParaRPr lang="en-IN" dirty="0"/>
          </a:p>
        </p:txBody>
      </p:sp>
      <p:sp>
        <p:nvSpPr>
          <p:cNvPr id="3" name="Content Placeholder 2">
            <a:extLst>
              <a:ext uri="{FF2B5EF4-FFF2-40B4-BE49-F238E27FC236}">
                <a16:creationId xmlns:a16="http://schemas.microsoft.com/office/drawing/2014/main" id="{2284A558-9489-0DB8-5352-B4D179507EE0}"/>
              </a:ext>
            </a:extLst>
          </p:cNvPr>
          <p:cNvSpPr>
            <a:spLocks noGrp="1"/>
          </p:cNvSpPr>
          <p:nvPr>
            <p:ph idx="1"/>
          </p:nvPr>
        </p:nvSpPr>
        <p:spPr/>
        <p:txBody>
          <a:bodyPr/>
          <a:lstStyle/>
          <a:p>
            <a:r>
              <a:rPr kumimoji="0" lang="en-US" altLang="en-US" sz="2800" b="0" i="0" u="none" strike="noStrike" cap="none" normalizeH="0" baseline="0" dirty="0">
                <a:ln>
                  <a:noFill/>
                </a:ln>
                <a:solidFill>
                  <a:schemeClr val="tx1"/>
                </a:solidFill>
                <a:effectLst/>
                <a:latin typeface="Arial" panose="020B0604020202020204" pitchFamily="34" charset="0"/>
              </a:rPr>
              <a:t>Center an image by adding the utility classes </a:t>
            </a:r>
            <a:r>
              <a:rPr kumimoji="0" lang="en-US" altLang="en-US" sz="3600" b="0" i="0" u="none" strike="noStrike" cap="none" normalizeH="0" baseline="0" dirty="0">
                <a:ln>
                  <a:noFill/>
                </a:ln>
                <a:solidFill>
                  <a:schemeClr val="tx1"/>
                </a:solidFill>
                <a:effectLst/>
                <a:latin typeface="Arial Unicode MS"/>
              </a:rPr>
              <a:t>.mx-auto</a:t>
            </a:r>
            <a:r>
              <a:rPr kumimoji="0" lang="en-US" altLang="en-US" sz="2800" b="0" i="0" u="none" strike="noStrike" cap="none" normalizeH="0" baseline="0" dirty="0">
                <a:ln>
                  <a:noFill/>
                </a:ln>
                <a:solidFill>
                  <a:schemeClr val="tx1"/>
                </a:solidFill>
                <a:effectLst/>
              </a:rPr>
              <a:t> (</a:t>
            </a:r>
            <a:r>
              <a:rPr kumimoji="0" lang="en-US" altLang="en-US" sz="2800" b="0" i="0" u="none" strike="noStrike" cap="none" normalizeH="0" baseline="0" dirty="0" err="1">
                <a:ln>
                  <a:noFill/>
                </a:ln>
                <a:solidFill>
                  <a:schemeClr val="tx1"/>
                </a:solidFill>
                <a:effectLst/>
              </a:rPr>
              <a:t>margin:auto</a:t>
            </a:r>
            <a:r>
              <a:rPr kumimoji="0" lang="en-US" altLang="en-US" sz="2800" b="0" i="0" u="none" strike="noStrike" cap="none" normalizeH="0" baseline="0" dirty="0">
                <a:ln>
                  <a:noFill/>
                </a:ln>
                <a:solidFill>
                  <a:schemeClr val="tx1"/>
                </a:solidFill>
                <a:effectLst/>
              </a:rPr>
              <a:t>) and </a:t>
            </a:r>
            <a:r>
              <a:rPr kumimoji="0" lang="en-US" altLang="en-US" sz="3600" b="0" i="0" u="none" strike="noStrike" cap="none" normalizeH="0" baseline="0" dirty="0">
                <a:ln>
                  <a:noFill/>
                </a:ln>
                <a:solidFill>
                  <a:schemeClr val="tx1"/>
                </a:solidFill>
                <a:effectLst/>
                <a:latin typeface="Arial Unicode MS"/>
              </a:rPr>
              <a:t>.d-block</a:t>
            </a:r>
            <a:r>
              <a:rPr kumimoji="0" lang="en-US" altLang="en-US" sz="2800" b="0" i="0" u="none" strike="noStrike" cap="none" normalizeH="0" baseline="0" dirty="0">
                <a:ln>
                  <a:noFill/>
                </a:ln>
                <a:solidFill>
                  <a:schemeClr val="tx1"/>
                </a:solidFill>
                <a:effectLst/>
              </a:rPr>
              <a:t> (</a:t>
            </a:r>
            <a:r>
              <a:rPr kumimoji="0" lang="en-US" altLang="en-US" sz="2800" b="0" i="0" u="none" strike="noStrike" cap="none" normalizeH="0" baseline="0" dirty="0" err="1">
                <a:ln>
                  <a:noFill/>
                </a:ln>
                <a:solidFill>
                  <a:schemeClr val="tx1"/>
                </a:solidFill>
                <a:effectLst/>
              </a:rPr>
              <a:t>display:block</a:t>
            </a:r>
            <a:r>
              <a:rPr kumimoji="0" lang="en-US" altLang="en-US" sz="2800" b="0" i="0" u="none" strike="noStrike" cap="none" normalizeH="0" baseline="0" dirty="0">
                <a:ln>
                  <a:noFill/>
                </a:ln>
                <a:solidFill>
                  <a:schemeClr val="tx1"/>
                </a:solidFill>
                <a:effectLst/>
              </a:rPr>
              <a:t>) to the image</a:t>
            </a:r>
            <a:endParaRPr kumimoji="0" lang="en-US" altLang="en-US" sz="6600" b="0" i="0" u="none" strike="noStrike" cap="none" normalizeH="0" baseline="0" dirty="0">
              <a:ln>
                <a:noFill/>
              </a:ln>
              <a:solidFill>
                <a:schemeClr val="tx1"/>
              </a:solidFill>
              <a:effectLst/>
              <a:latin typeface="Arial" panose="020B0604020202020204" pitchFamily="34" charset="0"/>
            </a:endParaRPr>
          </a:p>
          <a:p>
            <a:r>
              <a:rPr lang="en-US" dirty="0">
                <a:solidFill>
                  <a:srgbClr val="0000CD"/>
                </a:solidFill>
                <a:effectLst/>
              </a:rPr>
              <a:t>&lt;</a:t>
            </a:r>
            <a:r>
              <a:rPr lang="en-US" dirty="0" err="1">
                <a:solidFill>
                  <a:srgbClr val="A52A2A"/>
                </a:solidFill>
                <a:effectLst/>
              </a:rPr>
              <a:t>img</a:t>
            </a:r>
            <a:r>
              <a:rPr lang="en-US" dirty="0">
                <a:solidFill>
                  <a:srgbClr val="FF0000"/>
                </a:solidFill>
                <a:effectLst/>
              </a:rPr>
              <a:t> </a:t>
            </a:r>
            <a:r>
              <a:rPr lang="en-US" dirty="0" err="1">
                <a:solidFill>
                  <a:srgbClr val="FF0000"/>
                </a:solidFill>
                <a:effectLst/>
              </a:rPr>
              <a:t>src</a:t>
            </a:r>
            <a:r>
              <a:rPr lang="en-US" dirty="0">
                <a:solidFill>
                  <a:srgbClr val="0000CD"/>
                </a:solidFill>
                <a:effectLst/>
              </a:rPr>
              <a:t>="paris.jpg"</a:t>
            </a:r>
            <a:r>
              <a:rPr lang="en-US" dirty="0">
                <a:solidFill>
                  <a:srgbClr val="FF0000"/>
                </a:solidFill>
                <a:effectLst/>
              </a:rPr>
              <a:t> class</a:t>
            </a:r>
            <a:r>
              <a:rPr lang="en-US" dirty="0">
                <a:solidFill>
                  <a:srgbClr val="0000CD"/>
                </a:solidFill>
                <a:effectLst/>
              </a:rPr>
              <a:t>="mx-auto d-block"&gt;</a:t>
            </a:r>
            <a:r>
              <a:rPr lang="en-US" dirty="0"/>
              <a:t> </a:t>
            </a:r>
          </a:p>
          <a:p>
            <a:endParaRPr lang="en-US" dirty="0"/>
          </a:p>
          <a:p>
            <a:r>
              <a:rPr lang="en-US" altLang="en-US" dirty="0">
                <a:solidFill>
                  <a:srgbClr val="0000CD"/>
                </a:solidFill>
              </a:rPr>
              <a:t>&lt;</a:t>
            </a:r>
            <a:r>
              <a:rPr lang="en-US" altLang="en-US" dirty="0" err="1">
                <a:solidFill>
                  <a:srgbClr val="0000CD"/>
                </a:solidFill>
              </a:rPr>
              <a:t>img</a:t>
            </a:r>
            <a:r>
              <a:rPr lang="en-US" altLang="en-US" dirty="0">
                <a:solidFill>
                  <a:srgbClr val="0000CD"/>
                </a:solidFill>
              </a:rPr>
              <a:t> </a:t>
            </a:r>
            <a:r>
              <a:rPr lang="en-US" altLang="en-US" dirty="0" err="1">
                <a:solidFill>
                  <a:srgbClr val="0000CD"/>
                </a:solidFill>
              </a:rPr>
              <a:t>src</a:t>
            </a:r>
            <a:r>
              <a:rPr lang="en-US" altLang="en-US" dirty="0">
                <a:solidFill>
                  <a:srgbClr val="0000CD"/>
                </a:solidFill>
              </a:rPr>
              <a:t>="..." class="rounded mx-auto d-block" alt="..."&gt;</a:t>
            </a:r>
          </a:p>
          <a:p>
            <a:endParaRPr lang="en-IN" dirty="0"/>
          </a:p>
        </p:txBody>
      </p:sp>
    </p:spTree>
    <p:extLst>
      <p:ext uri="{BB962C8B-B14F-4D97-AF65-F5344CB8AC3E}">
        <p14:creationId xmlns:p14="http://schemas.microsoft.com/office/powerpoint/2010/main" val="26315102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B08EA-1F8F-A000-18D1-81BB0CAF702E}"/>
              </a:ext>
            </a:extLst>
          </p:cNvPr>
          <p:cNvSpPr>
            <a:spLocks noGrp="1"/>
          </p:cNvSpPr>
          <p:nvPr>
            <p:ph type="title"/>
          </p:nvPr>
        </p:nvSpPr>
        <p:spPr/>
        <p:txBody>
          <a:bodyPr>
            <a:normAutofit/>
          </a:bodyPr>
          <a:lstStyle/>
          <a:p>
            <a:r>
              <a:rPr lang="en-IN" sz="4400" b="1" dirty="0"/>
              <a:t>Sass- Variables</a:t>
            </a:r>
            <a:br>
              <a:rPr lang="en-IN" sz="4400" b="1" dirty="0"/>
            </a:br>
            <a:endParaRPr lang="en-IN" dirty="0"/>
          </a:p>
        </p:txBody>
      </p:sp>
      <p:sp>
        <p:nvSpPr>
          <p:cNvPr id="3" name="Content Placeholder 2">
            <a:extLst>
              <a:ext uri="{FF2B5EF4-FFF2-40B4-BE49-F238E27FC236}">
                <a16:creationId xmlns:a16="http://schemas.microsoft.com/office/drawing/2014/main" id="{2B3B400E-E9CA-71EF-EB1F-EEFE16D0B54E}"/>
              </a:ext>
            </a:extLst>
          </p:cNvPr>
          <p:cNvSpPr>
            <a:spLocks noGrp="1"/>
          </p:cNvSpPr>
          <p:nvPr>
            <p:ph idx="1"/>
          </p:nvPr>
        </p:nvSpPr>
        <p:spPr/>
        <p:txBody>
          <a:bodyPr>
            <a:normAutofit lnSpcReduction="10000"/>
          </a:bodyPr>
          <a:lstStyle/>
          <a:p>
            <a:endParaRPr kumimoji="0" lang="en-US" altLang="en-US" sz="2600" b="0" i="0" u="none" strike="noStrike" cap="none" normalizeH="0" baseline="0" dirty="0">
              <a:ln>
                <a:noFill/>
              </a:ln>
              <a:solidFill>
                <a:schemeClr val="tx1"/>
              </a:solidFill>
              <a:effectLst/>
              <a:latin typeface="Arial Unicode MS"/>
            </a:endParaRPr>
          </a:p>
          <a:p>
            <a:pPr marL="0" indent="0">
              <a:buNone/>
            </a:pPr>
            <a:r>
              <a:rPr lang="en-IN" sz="3300" dirty="0"/>
              <a:t>Variables are available for image thumbnails.</a:t>
            </a:r>
          </a:p>
          <a:p>
            <a:pPr marL="0" indent="0">
              <a:buNone/>
            </a:pPr>
            <a:endParaRPr kumimoji="0" lang="en-US" altLang="en-US" sz="2600" b="0" i="0" u="none" strike="noStrike" cap="none" normalizeH="0" baseline="0" dirty="0">
              <a:ln>
                <a:noFill/>
              </a:ln>
              <a:solidFill>
                <a:schemeClr val="tx1"/>
              </a:solidFill>
              <a:effectLst/>
              <a:latin typeface="Arial Unicode MS"/>
            </a:endParaRPr>
          </a:p>
          <a:p>
            <a:r>
              <a:rPr kumimoji="0" lang="en-US" altLang="en-US" sz="2600" b="0" i="0" u="none" strike="noStrike" cap="none" normalizeH="0" baseline="0" dirty="0">
                <a:ln>
                  <a:noFill/>
                </a:ln>
                <a:solidFill>
                  <a:schemeClr val="tx1"/>
                </a:solidFill>
                <a:effectLst/>
                <a:latin typeface="Arial Unicode MS"/>
              </a:rPr>
              <a:t>$thumbnail-padding</a:t>
            </a:r>
            <a:r>
              <a:rPr kumimoji="0" lang="en-US" altLang="en-US" sz="2600" b="0" i="0" u="none" strike="noStrike" cap="none" normalizeH="0" baseline="0" dirty="0">
                <a:ln>
                  <a:noFill/>
                </a:ln>
                <a:solidFill>
                  <a:schemeClr val="tx1"/>
                </a:solidFill>
                <a:effectLst/>
                <a:latin typeface="Arial" panose="020B0604020202020204" pitchFamily="34" charset="0"/>
              </a:rPr>
              <a:t>:</a:t>
            </a:r>
            <a:r>
              <a:rPr kumimoji="0" lang="en-US" altLang="en-US" sz="2600" b="0" i="0" u="none" strike="noStrike" cap="none" normalizeH="0" baseline="0" dirty="0">
                <a:ln>
                  <a:noFill/>
                </a:ln>
                <a:solidFill>
                  <a:schemeClr val="tx1"/>
                </a:solidFill>
                <a:effectLst/>
                <a:latin typeface="Arial Unicode MS"/>
              </a:rPr>
              <a:t> .25rem;</a:t>
            </a:r>
          </a:p>
          <a:p>
            <a:r>
              <a:rPr kumimoji="0" lang="en-US" altLang="en-US" sz="2600" b="0" i="0" u="none" strike="noStrike" cap="none" normalizeH="0" baseline="0" dirty="0">
                <a:ln>
                  <a:noFill/>
                </a:ln>
                <a:solidFill>
                  <a:schemeClr val="tx1"/>
                </a:solidFill>
                <a:effectLst/>
                <a:latin typeface="Arial Unicode MS"/>
              </a:rPr>
              <a:t> $thumbnail-</a:t>
            </a:r>
            <a:r>
              <a:rPr kumimoji="0" lang="en-US" altLang="en-US" sz="2600" b="0" i="0" u="none" strike="noStrike" cap="none" normalizeH="0" baseline="0" dirty="0" err="1">
                <a:ln>
                  <a:noFill/>
                </a:ln>
                <a:solidFill>
                  <a:schemeClr val="tx1"/>
                </a:solidFill>
                <a:effectLst/>
                <a:latin typeface="Arial Unicode MS"/>
              </a:rPr>
              <a:t>bg</a:t>
            </a:r>
            <a:r>
              <a:rPr kumimoji="0" lang="en-US" altLang="en-US" sz="2600" b="0" i="0" u="none" strike="noStrike" cap="none" normalizeH="0" baseline="0" dirty="0">
                <a:ln>
                  <a:noFill/>
                </a:ln>
                <a:solidFill>
                  <a:schemeClr val="tx1"/>
                </a:solidFill>
                <a:effectLst/>
                <a:latin typeface="Arial" panose="020B0604020202020204" pitchFamily="34" charset="0"/>
              </a:rPr>
              <a:t>:</a:t>
            </a:r>
            <a:r>
              <a:rPr kumimoji="0" lang="en-US" altLang="en-US" sz="2600" b="0" i="0" u="none" strike="noStrike" cap="none" normalizeH="0" baseline="0" dirty="0">
                <a:ln>
                  <a:noFill/>
                </a:ln>
                <a:solidFill>
                  <a:schemeClr val="tx1"/>
                </a:solidFill>
                <a:effectLst/>
                <a:latin typeface="Arial Unicode MS"/>
              </a:rPr>
              <a:t> $body-</a:t>
            </a:r>
            <a:r>
              <a:rPr kumimoji="0" lang="en-US" altLang="en-US" sz="2600" b="0" i="0" u="none" strike="noStrike" cap="none" normalizeH="0" baseline="0" dirty="0" err="1">
                <a:ln>
                  <a:noFill/>
                </a:ln>
                <a:solidFill>
                  <a:schemeClr val="tx1"/>
                </a:solidFill>
                <a:effectLst/>
                <a:latin typeface="Arial Unicode MS"/>
              </a:rPr>
              <a:t>bg</a:t>
            </a:r>
            <a:r>
              <a:rPr kumimoji="0" lang="en-US" altLang="en-US" sz="2600" b="0" i="0" u="none" strike="noStrike" cap="none" normalizeH="0" baseline="0" dirty="0">
                <a:ln>
                  <a:noFill/>
                </a:ln>
                <a:solidFill>
                  <a:schemeClr val="tx1"/>
                </a:solidFill>
                <a:effectLst/>
                <a:latin typeface="Arial Unicode MS"/>
              </a:rPr>
              <a:t>;</a:t>
            </a:r>
          </a:p>
          <a:p>
            <a:r>
              <a:rPr kumimoji="0" lang="en-US" altLang="en-US" sz="2600" b="0" i="0" u="none" strike="noStrike" cap="none" normalizeH="0" baseline="0" dirty="0">
                <a:ln>
                  <a:noFill/>
                </a:ln>
                <a:solidFill>
                  <a:schemeClr val="tx1"/>
                </a:solidFill>
                <a:effectLst/>
                <a:latin typeface="Arial Unicode MS"/>
              </a:rPr>
              <a:t> $thumbnail-border-width</a:t>
            </a:r>
            <a:r>
              <a:rPr kumimoji="0" lang="en-US" altLang="en-US" sz="2600" b="0" i="0" u="none" strike="noStrike" cap="none" normalizeH="0" baseline="0" dirty="0">
                <a:ln>
                  <a:noFill/>
                </a:ln>
                <a:solidFill>
                  <a:schemeClr val="tx1"/>
                </a:solidFill>
                <a:effectLst/>
                <a:latin typeface="Arial" panose="020B0604020202020204" pitchFamily="34" charset="0"/>
              </a:rPr>
              <a:t>:</a:t>
            </a:r>
            <a:r>
              <a:rPr kumimoji="0" lang="en-US" altLang="en-US" sz="2600" b="0" i="0" u="none" strike="noStrike" cap="none" normalizeH="0" baseline="0" dirty="0">
                <a:ln>
                  <a:noFill/>
                </a:ln>
                <a:solidFill>
                  <a:schemeClr val="tx1"/>
                </a:solidFill>
                <a:effectLst/>
                <a:latin typeface="Arial Unicode MS"/>
              </a:rPr>
              <a:t> $border-width;</a:t>
            </a:r>
          </a:p>
          <a:p>
            <a:r>
              <a:rPr kumimoji="0" lang="en-US" altLang="en-US" sz="2600" b="0" i="0" u="none" strike="noStrike" cap="none" normalizeH="0" baseline="0" dirty="0">
                <a:ln>
                  <a:noFill/>
                </a:ln>
                <a:solidFill>
                  <a:schemeClr val="tx1"/>
                </a:solidFill>
                <a:effectLst/>
                <a:latin typeface="Arial Unicode MS"/>
              </a:rPr>
              <a:t> $thumbnail-border-color</a:t>
            </a:r>
            <a:r>
              <a:rPr kumimoji="0" lang="en-US" altLang="en-US" sz="2600" b="0" i="0" u="none" strike="noStrike" cap="none" normalizeH="0" baseline="0" dirty="0">
                <a:ln>
                  <a:noFill/>
                </a:ln>
                <a:solidFill>
                  <a:schemeClr val="tx1"/>
                </a:solidFill>
                <a:effectLst/>
                <a:latin typeface="Arial" panose="020B0604020202020204" pitchFamily="34" charset="0"/>
              </a:rPr>
              <a:t>:</a:t>
            </a:r>
            <a:r>
              <a:rPr kumimoji="0" lang="en-US" altLang="en-US" sz="2600" b="0" i="0" u="none" strike="noStrike" cap="none" normalizeH="0" baseline="0" dirty="0">
                <a:ln>
                  <a:noFill/>
                </a:ln>
                <a:solidFill>
                  <a:schemeClr val="tx1"/>
                </a:solidFill>
                <a:effectLst/>
                <a:latin typeface="Arial Unicode MS"/>
              </a:rPr>
              <a:t> $gray-300; </a:t>
            </a:r>
          </a:p>
          <a:p>
            <a:r>
              <a:rPr kumimoji="0" lang="en-US" altLang="en-US" sz="2600" b="0" i="0" u="none" strike="noStrike" cap="none" normalizeH="0" baseline="0" dirty="0">
                <a:ln>
                  <a:noFill/>
                </a:ln>
                <a:solidFill>
                  <a:schemeClr val="tx1"/>
                </a:solidFill>
                <a:effectLst/>
                <a:latin typeface="Arial Unicode MS"/>
              </a:rPr>
              <a:t>$thumbnail-border-radius</a:t>
            </a:r>
            <a:r>
              <a:rPr kumimoji="0" lang="en-US" altLang="en-US" sz="2600" b="0" i="0" u="none" strike="noStrike" cap="none" normalizeH="0" baseline="0" dirty="0">
                <a:ln>
                  <a:noFill/>
                </a:ln>
                <a:solidFill>
                  <a:schemeClr val="tx1"/>
                </a:solidFill>
                <a:effectLst/>
                <a:latin typeface="Arial" panose="020B0604020202020204" pitchFamily="34" charset="0"/>
              </a:rPr>
              <a:t>:</a:t>
            </a:r>
            <a:r>
              <a:rPr kumimoji="0" lang="en-US" altLang="en-US" sz="2600" b="0" i="0" u="none" strike="noStrike" cap="none" normalizeH="0" baseline="0" dirty="0">
                <a:ln>
                  <a:noFill/>
                </a:ln>
                <a:solidFill>
                  <a:schemeClr val="tx1"/>
                </a:solidFill>
                <a:effectLst/>
                <a:latin typeface="Arial Unicode MS"/>
              </a:rPr>
              <a:t> $border-radius; </a:t>
            </a:r>
          </a:p>
          <a:p>
            <a:r>
              <a:rPr kumimoji="0" lang="en-US" altLang="en-US" sz="2600" b="0" i="0" u="none" strike="noStrike" cap="none" normalizeH="0" baseline="0" dirty="0">
                <a:ln>
                  <a:noFill/>
                </a:ln>
                <a:solidFill>
                  <a:schemeClr val="tx1"/>
                </a:solidFill>
                <a:effectLst/>
                <a:latin typeface="Arial Unicode MS"/>
              </a:rPr>
              <a:t>$thumbnail-box-shadow</a:t>
            </a:r>
            <a:r>
              <a:rPr kumimoji="0" lang="en-US" altLang="en-US" sz="2600" b="0" i="0" u="none" strike="noStrike" cap="none" normalizeH="0" baseline="0" dirty="0">
                <a:ln>
                  <a:noFill/>
                </a:ln>
                <a:solidFill>
                  <a:schemeClr val="tx1"/>
                </a:solidFill>
                <a:effectLst/>
                <a:latin typeface="Arial" panose="020B0604020202020204" pitchFamily="34" charset="0"/>
              </a:rPr>
              <a:t>:</a:t>
            </a:r>
            <a:r>
              <a:rPr kumimoji="0" lang="en-US" altLang="en-US" sz="2600" b="0" i="0" u="none" strike="noStrike" cap="none" normalizeH="0" baseline="0" dirty="0">
                <a:ln>
                  <a:noFill/>
                </a:ln>
                <a:solidFill>
                  <a:schemeClr val="tx1"/>
                </a:solidFill>
                <a:effectLst/>
                <a:latin typeface="Arial Unicode MS"/>
              </a:rPr>
              <a:t> $box-shadow-</a:t>
            </a:r>
            <a:r>
              <a:rPr kumimoji="0" lang="en-US" altLang="en-US" sz="2600" b="0" i="0" u="none" strike="noStrike" cap="none" normalizeH="0" baseline="0" dirty="0" err="1">
                <a:ln>
                  <a:noFill/>
                </a:ln>
                <a:solidFill>
                  <a:schemeClr val="tx1"/>
                </a:solidFill>
                <a:effectLst/>
                <a:latin typeface="Arial Unicode MS"/>
              </a:rPr>
              <a:t>sm</a:t>
            </a:r>
            <a:r>
              <a:rPr kumimoji="0" lang="en-US" altLang="en-US" sz="2600" b="0" i="0" u="none" strike="noStrike" cap="none" normalizeH="0" baseline="0" dirty="0">
                <a:ln>
                  <a:noFill/>
                </a:ln>
                <a:solidFill>
                  <a:schemeClr val="tx1"/>
                </a:solidFill>
                <a:effectLst/>
                <a:latin typeface="Arial Unicode MS"/>
              </a:rPr>
              <a:t>; </a:t>
            </a:r>
            <a:endParaRPr kumimoji="0" lang="en-US" altLang="en-US" sz="2600"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9350259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1F39-F729-CF3C-939C-9486C110C200}"/>
              </a:ext>
            </a:extLst>
          </p:cNvPr>
          <p:cNvSpPr>
            <a:spLocks noGrp="1"/>
          </p:cNvSpPr>
          <p:nvPr>
            <p:ph type="title"/>
          </p:nvPr>
        </p:nvSpPr>
        <p:spPr/>
        <p:txBody>
          <a:bodyPr/>
          <a:lstStyle/>
          <a:p>
            <a:r>
              <a:rPr lang="en-IN" b="1" dirty="0"/>
              <a:t>Tables</a:t>
            </a:r>
            <a:br>
              <a:rPr lang="en-IN" b="1" dirty="0"/>
            </a:br>
            <a:endParaRPr lang="en-IN" dirty="0"/>
          </a:p>
        </p:txBody>
      </p:sp>
      <p:sp>
        <p:nvSpPr>
          <p:cNvPr id="3" name="Content Placeholder 2">
            <a:extLst>
              <a:ext uri="{FF2B5EF4-FFF2-40B4-BE49-F238E27FC236}">
                <a16:creationId xmlns:a16="http://schemas.microsoft.com/office/drawing/2014/main" id="{EFF43150-FC46-07E3-48ED-502ABCF539ED}"/>
              </a:ext>
            </a:extLst>
          </p:cNvPr>
          <p:cNvSpPr>
            <a:spLocks noGrp="1"/>
          </p:cNvSpPr>
          <p:nvPr>
            <p:ph idx="1"/>
          </p:nvPr>
        </p:nvSpPr>
        <p:spPr/>
        <p:txBody>
          <a:bodyPr/>
          <a:lstStyle/>
          <a:p>
            <a:r>
              <a:rPr kumimoji="0" lang="en-US" altLang="en-US" sz="2600" b="0" i="0" u="none" strike="noStrike" cap="none" normalizeH="0" baseline="0" dirty="0">
                <a:ln>
                  <a:noFill/>
                </a:ln>
                <a:solidFill>
                  <a:schemeClr val="tx1"/>
                </a:solidFill>
                <a:effectLst/>
                <a:latin typeface="Arial" panose="020B0604020202020204" pitchFamily="34" charset="0"/>
              </a:rPr>
              <a:t>In Bootstrap, tables use the </a:t>
            </a:r>
            <a:r>
              <a:rPr kumimoji="0" lang="en-US" altLang="en-US" sz="2600" b="1" i="0" u="none" strike="noStrike" cap="none" normalizeH="0" baseline="0" dirty="0">
                <a:ln>
                  <a:noFill/>
                </a:ln>
                <a:solidFill>
                  <a:schemeClr val="tx1"/>
                </a:solidFill>
                <a:effectLst/>
                <a:latin typeface="Arial Unicode MS"/>
              </a:rPr>
              <a:t>.table</a:t>
            </a:r>
            <a:r>
              <a:rPr kumimoji="0" lang="en-US" altLang="en-US" sz="2600" b="1" i="0" u="none" strike="noStrike" cap="none" normalizeH="0" baseline="0" dirty="0">
                <a:ln>
                  <a:noFill/>
                </a:ln>
                <a:solidFill>
                  <a:schemeClr val="tx1"/>
                </a:solidFill>
                <a:effectLst/>
              </a:rPr>
              <a:t> </a:t>
            </a:r>
            <a:r>
              <a:rPr kumimoji="0" lang="en-US" altLang="en-US" sz="2600" b="0" i="0" u="none" strike="noStrike" cap="none" normalizeH="0" baseline="0" dirty="0">
                <a:ln>
                  <a:noFill/>
                </a:ln>
                <a:solidFill>
                  <a:schemeClr val="tx1"/>
                </a:solidFill>
                <a:effectLst/>
              </a:rPr>
              <a:t>class for styling. </a:t>
            </a:r>
          </a:p>
          <a:p>
            <a:r>
              <a:rPr kumimoji="0" lang="en-US" altLang="en-US" sz="2600" b="0" i="0" u="none" strike="noStrike" cap="none" normalizeH="0" baseline="0" dirty="0">
                <a:ln>
                  <a:noFill/>
                </a:ln>
                <a:solidFill>
                  <a:schemeClr val="tx1"/>
                </a:solidFill>
                <a:effectLst/>
              </a:rPr>
              <a:t>Since many third-party widgets like calendars use </a:t>
            </a:r>
            <a:r>
              <a:rPr kumimoji="0" lang="en-US" altLang="en-US" sz="2600" b="0" i="0" u="none" strike="noStrike" cap="none" normalizeH="0" baseline="0" dirty="0">
                <a:ln>
                  <a:noFill/>
                </a:ln>
                <a:solidFill>
                  <a:schemeClr val="tx1"/>
                </a:solidFill>
                <a:effectLst/>
                <a:latin typeface="Arial Unicode MS"/>
              </a:rPr>
              <a:t>&lt;table&gt;</a:t>
            </a:r>
            <a:r>
              <a:rPr kumimoji="0" lang="en-US" altLang="en-US" sz="2600" b="0" i="0" u="none" strike="noStrike" cap="none" normalizeH="0" baseline="0" dirty="0">
                <a:ln>
                  <a:noFill/>
                </a:ln>
                <a:solidFill>
                  <a:schemeClr val="tx1"/>
                </a:solidFill>
                <a:effectLst/>
              </a:rPr>
              <a:t> elements, Bootstrap's table styles are not applied automatically. </a:t>
            </a:r>
          </a:p>
          <a:p>
            <a:r>
              <a:rPr kumimoji="0" lang="en-US" altLang="en-US" sz="2600" b="0" i="0" u="none" strike="noStrike" cap="none" normalizeH="0" baseline="0" dirty="0">
                <a:ln>
                  <a:noFill/>
                </a:ln>
                <a:solidFill>
                  <a:schemeClr val="tx1"/>
                </a:solidFill>
                <a:effectLst/>
              </a:rPr>
              <a:t>To style a table with Bootstrap, just add the </a:t>
            </a:r>
            <a:r>
              <a:rPr kumimoji="0" lang="en-US" altLang="en-US" sz="2600" b="1" i="0" u="none" strike="noStrike" cap="none" normalizeH="0" baseline="0" dirty="0">
                <a:ln>
                  <a:noFill/>
                </a:ln>
                <a:solidFill>
                  <a:schemeClr val="tx1"/>
                </a:solidFill>
                <a:effectLst/>
                <a:latin typeface="Arial Unicode MS"/>
              </a:rPr>
              <a:t>.table</a:t>
            </a:r>
            <a:r>
              <a:rPr kumimoji="0" lang="en-US" altLang="en-US" sz="2600" b="1" i="0" u="none" strike="noStrike" cap="none" normalizeH="0" baseline="0" dirty="0">
                <a:ln>
                  <a:noFill/>
                </a:ln>
                <a:solidFill>
                  <a:schemeClr val="tx1"/>
                </a:solidFill>
                <a:effectLst/>
              </a:rPr>
              <a:t> </a:t>
            </a:r>
            <a:r>
              <a:rPr kumimoji="0" lang="en-US" altLang="en-US" sz="2600" b="0" i="0" u="none" strike="noStrike" cap="none" normalizeH="0" baseline="0" dirty="0">
                <a:ln>
                  <a:noFill/>
                </a:ln>
                <a:solidFill>
                  <a:schemeClr val="tx1"/>
                </a:solidFill>
                <a:effectLst/>
              </a:rPr>
              <a:t>class to it.</a:t>
            </a:r>
          </a:p>
          <a:p>
            <a:pPr marL="0" indent="0" algn="ctr">
              <a:buNone/>
            </a:pPr>
            <a:r>
              <a:rPr kumimoji="0" lang="en-US" altLang="en-US" sz="2400" b="1" i="0" u="none" strike="noStrike" cap="none" normalizeH="0" baseline="0" dirty="0">
                <a:ln>
                  <a:noFill/>
                </a:ln>
                <a:solidFill>
                  <a:schemeClr val="tx1"/>
                </a:solidFill>
                <a:effectLst/>
                <a:latin typeface="Arial Unicode MS"/>
              </a:rPr>
              <a:t>&lt;table class</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1" i="0" u="none" strike="noStrike" cap="none" normalizeH="0" baseline="0" dirty="0">
                <a:ln>
                  <a:noFill/>
                </a:ln>
                <a:solidFill>
                  <a:schemeClr val="tx1"/>
                </a:solidFill>
                <a:effectLst/>
                <a:latin typeface="Arial Unicode MS"/>
              </a:rPr>
              <a:t>"table"&gt;</a:t>
            </a:r>
            <a:r>
              <a:rPr kumimoji="0" lang="en-US" altLang="en-US" sz="2400" b="1" i="0" u="none" strike="noStrike" cap="none" normalizeH="0" baseline="0" dirty="0">
                <a:ln>
                  <a:noFill/>
                </a:ln>
                <a:solidFill>
                  <a:schemeClr val="tx1"/>
                </a:solidFill>
                <a:effectLst/>
              </a:rPr>
              <a:t> </a:t>
            </a:r>
            <a:endParaRPr kumimoji="0" lang="en-US" altLang="en-US" sz="2400" b="1" i="0" u="none" strike="noStrike" cap="none" normalizeH="0" baseline="0" dirty="0">
              <a:ln>
                <a:noFill/>
              </a:ln>
              <a:solidFill>
                <a:schemeClr val="tx1"/>
              </a:solidFill>
              <a:effectLst/>
              <a:latin typeface="Arial" panose="020B0604020202020204" pitchFamily="34" charset="0"/>
            </a:endParaRPr>
          </a:p>
          <a:p>
            <a:endParaRPr kumimoji="0" lang="en-US" altLang="en-US" sz="2600" b="0" i="0" u="none" strike="noStrike" cap="none" normalizeH="0" baseline="0" dirty="0">
              <a:ln>
                <a:noFill/>
              </a:ln>
              <a:solidFill>
                <a:schemeClr val="tx1"/>
              </a:solidFill>
              <a:effectLst/>
            </a:endParaRPr>
          </a:p>
          <a:p>
            <a:endParaRPr kumimoji="0" lang="en-US" altLang="en-US" sz="2600" b="0" i="0" u="none" strike="noStrike" cap="none" normalizeH="0" baseline="0" dirty="0">
              <a:ln>
                <a:noFill/>
              </a:ln>
              <a:solidFill>
                <a:schemeClr val="tx1"/>
              </a:solidFill>
              <a:effectLst/>
              <a:latin typeface="Arial" panose="020B0604020202020204" pitchFamily="34" charset="0"/>
            </a:endParaRPr>
          </a:p>
          <a:p>
            <a:endParaRPr lang="en-IN" dirty="0"/>
          </a:p>
        </p:txBody>
      </p:sp>
      <p:pic>
        <p:nvPicPr>
          <p:cNvPr id="6" name="Content Placeholder 4">
            <a:extLst>
              <a:ext uri="{FF2B5EF4-FFF2-40B4-BE49-F238E27FC236}">
                <a16:creationId xmlns:a16="http://schemas.microsoft.com/office/drawing/2014/main" id="{E709D79D-AF5A-0B32-F60B-B74A1E94A42E}"/>
              </a:ext>
            </a:extLst>
          </p:cNvPr>
          <p:cNvPicPr>
            <a:picLocks noChangeAspect="1"/>
          </p:cNvPicPr>
          <p:nvPr/>
        </p:nvPicPr>
        <p:blipFill>
          <a:blip r:embed="rId2"/>
          <a:stretch>
            <a:fillRect/>
          </a:stretch>
        </p:blipFill>
        <p:spPr>
          <a:xfrm>
            <a:off x="1524270" y="4396740"/>
            <a:ext cx="7513050" cy="2171700"/>
          </a:xfrm>
          <a:prstGeom prst="rect">
            <a:avLst/>
          </a:prstGeom>
        </p:spPr>
      </p:pic>
    </p:spTree>
    <p:extLst>
      <p:ext uri="{BB962C8B-B14F-4D97-AF65-F5344CB8AC3E}">
        <p14:creationId xmlns:p14="http://schemas.microsoft.com/office/powerpoint/2010/main" val="20846672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E4A4C-6149-1CD9-AF1B-FD47FB37BCE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4758B8A-A971-1142-A288-01709477ECD1}"/>
              </a:ext>
            </a:extLst>
          </p:cNvPr>
          <p:cNvSpPr>
            <a:spLocks noGrp="1"/>
          </p:cNvSpPr>
          <p:nvPr>
            <p:ph idx="1"/>
          </p:nvPr>
        </p:nvSpPr>
        <p:spPr/>
        <p:txBody>
          <a:bodyPr>
            <a:normAutofit lnSpcReduction="10000"/>
          </a:bodyPr>
          <a:lstStyle/>
          <a:p>
            <a:r>
              <a:rPr lang="en-US" dirty="0"/>
              <a:t>&lt;table class="table"&gt;</a:t>
            </a:r>
          </a:p>
          <a:p>
            <a:r>
              <a:rPr lang="en-US" dirty="0"/>
              <a:t>  &lt;</a:t>
            </a:r>
            <a:r>
              <a:rPr lang="en-US" dirty="0" err="1"/>
              <a:t>thead</a:t>
            </a:r>
            <a:r>
              <a:rPr lang="en-US" dirty="0"/>
              <a:t>&gt;</a:t>
            </a:r>
          </a:p>
          <a:p>
            <a:r>
              <a:rPr lang="en-US" dirty="0"/>
              <a:t>    &lt;tr&gt;</a:t>
            </a:r>
          </a:p>
          <a:p>
            <a:r>
              <a:rPr lang="en-US" dirty="0"/>
              <a:t>      &lt;</a:t>
            </a:r>
            <a:r>
              <a:rPr lang="en-US" dirty="0" err="1"/>
              <a:t>th</a:t>
            </a:r>
            <a:r>
              <a:rPr lang="en-US" dirty="0"/>
              <a:t> scope="col"&gt;#&lt;/th&gt;</a:t>
            </a:r>
          </a:p>
          <a:p>
            <a:r>
              <a:rPr lang="en-US" dirty="0"/>
              <a:t>      &lt;</a:t>
            </a:r>
            <a:r>
              <a:rPr lang="en-US" dirty="0" err="1"/>
              <a:t>th</a:t>
            </a:r>
            <a:r>
              <a:rPr lang="en-US" dirty="0"/>
              <a:t> scope="col"&gt;First&lt;/</a:t>
            </a:r>
            <a:r>
              <a:rPr lang="en-US" dirty="0" err="1"/>
              <a:t>th</a:t>
            </a:r>
            <a:r>
              <a:rPr lang="en-US" dirty="0"/>
              <a:t>&gt;</a:t>
            </a:r>
          </a:p>
          <a:p>
            <a:r>
              <a:rPr lang="en-US" dirty="0"/>
              <a:t>      &lt;</a:t>
            </a:r>
            <a:r>
              <a:rPr lang="en-US" dirty="0" err="1"/>
              <a:t>th</a:t>
            </a:r>
            <a:r>
              <a:rPr lang="en-US" dirty="0"/>
              <a:t> scope="col"&gt;Last&lt;/</a:t>
            </a:r>
            <a:r>
              <a:rPr lang="en-US" dirty="0" err="1"/>
              <a:t>th</a:t>
            </a:r>
            <a:r>
              <a:rPr lang="en-US" dirty="0"/>
              <a:t>&gt;</a:t>
            </a:r>
          </a:p>
          <a:p>
            <a:r>
              <a:rPr lang="en-US" dirty="0"/>
              <a:t>      &lt;</a:t>
            </a:r>
            <a:r>
              <a:rPr lang="en-US" dirty="0" err="1"/>
              <a:t>th</a:t>
            </a:r>
            <a:r>
              <a:rPr lang="en-US" dirty="0"/>
              <a:t> scope="col"&gt;Handle&lt;/</a:t>
            </a:r>
            <a:r>
              <a:rPr lang="en-US" dirty="0" err="1"/>
              <a:t>th</a:t>
            </a:r>
            <a:r>
              <a:rPr lang="en-US" dirty="0"/>
              <a:t>&gt;</a:t>
            </a:r>
          </a:p>
          <a:p>
            <a:r>
              <a:rPr lang="en-US" dirty="0"/>
              <a:t>    &lt;/tr&gt;</a:t>
            </a:r>
          </a:p>
          <a:p>
            <a:r>
              <a:rPr lang="en-US" dirty="0"/>
              <a:t>  &lt;/</a:t>
            </a:r>
            <a:r>
              <a:rPr lang="en-US" dirty="0" err="1"/>
              <a:t>thead</a:t>
            </a:r>
            <a:r>
              <a:rPr lang="en-US" dirty="0"/>
              <a:t>&gt;</a:t>
            </a:r>
            <a:endParaRPr lang="en-IN" dirty="0"/>
          </a:p>
        </p:txBody>
      </p:sp>
    </p:spTree>
    <p:extLst>
      <p:ext uri="{BB962C8B-B14F-4D97-AF65-F5344CB8AC3E}">
        <p14:creationId xmlns:p14="http://schemas.microsoft.com/office/powerpoint/2010/main" val="5169900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7411A-48EC-9C4C-B620-3AD24C3A938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FAF06CC-C5BB-50F1-51C6-CAB907DC9FAD}"/>
              </a:ext>
            </a:extLst>
          </p:cNvPr>
          <p:cNvSpPr>
            <a:spLocks noGrp="1"/>
          </p:cNvSpPr>
          <p:nvPr>
            <p:ph idx="1"/>
          </p:nvPr>
        </p:nvSpPr>
        <p:spPr>
          <a:xfrm>
            <a:off x="838200" y="1140542"/>
            <a:ext cx="10515600" cy="5036421"/>
          </a:xfrm>
        </p:spPr>
        <p:txBody>
          <a:bodyPr>
            <a:normAutofit fontScale="25000" lnSpcReduction="20000"/>
          </a:bodyPr>
          <a:lstStyle/>
          <a:p>
            <a:r>
              <a:rPr lang="en-US" sz="8000" dirty="0"/>
              <a:t>&lt;</a:t>
            </a:r>
            <a:r>
              <a:rPr lang="en-US" sz="8000" dirty="0" err="1"/>
              <a:t>tbody</a:t>
            </a:r>
            <a:r>
              <a:rPr lang="en-US" sz="8000" dirty="0"/>
              <a:t>&gt;</a:t>
            </a:r>
          </a:p>
          <a:p>
            <a:r>
              <a:rPr lang="en-US" sz="8000" dirty="0"/>
              <a:t>    &lt;tr&gt;</a:t>
            </a:r>
          </a:p>
          <a:p>
            <a:r>
              <a:rPr lang="en-US" sz="8000" dirty="0"/>
              <a:t>      &lt;</a:t>
            </a:r>
            <a:r>
              <a:rPr lang="en-US" sz="8000" dirty="0" err="1"/>
              <a:t>th</a:t>
            </a:r>
            <a:r>
              <a:rPr lang="en-US" sz="8000" dirty="0"/>
              <a:t> scope="row"&gt;1&lt;/</a:t>
            </a:r>
            <a:r>
              <a:rPr lang="en-US" sz="8000" dirty="0" err="1"/>
              <a:t>th</a:t>
            </a:r>
            <a:r>
              <a:rPr lang="en-US" sz="8000" dirty="0"/>
              <a:t>&gt;</a:t>
            </a:r>
          </a:p>
          <a:p>
            <a:r>
              <a:rPr lang="en-US" sz="8000" dirty="0"/>
              <a:t>      &lt;td&gt;Mark&lt;/td&gt;</a:t>
            </a:r>
          </a:p>
          <a:p>
            <a:r>
              <a:rPr lang="en-US" sz="8000" dirty="0"/>
              <a:t>      &lt;td&gt;Otto&lt;/td&gt;</a:t>
            </a:r>
          </a:p>
          <a:p>
            <a:r>
              <a:rPr lang="en-US" sz="8000" dirty="0"/>
              <a:t>      &lt;td&gt;@mdo&lt;/td&gt;</a:t>
            </a:r>
          </a:p>
          <a:p>
            <a:r>
              <a:rPr lang="en-US" sz="8000" dirty="0"/>
              <a:t>    &lt;/tr&gt;</a:t>
            </a:r>
          </a:p>
          <a:p>
            <a:r>
              <a:rPr lang="en-US" sz="8000" dirty="0"/>
              <a:t>    &lt;tr&gt;</a:t>
            </a:r>
          </a:p>
          <a:p>
            <a:r>
              <a:rPr lang="en-US" sz="8000" dirty="0"/>
              <a:t>      ……</a:t>
            </a:r>
          </a:p>
          <a:p>
            <a:r>
              <a:rPr lang="en-US" sz="8000" dirty="0"/>
              <a:t>    &lt;/tr&gt;</a:t>
            </a:r>
          </a:p>
          <a:p>
            <a:r>
              <a:rPr lang="en-US" sz="8000" dirty="0"/>
              <a:t>    &lt;tr&gt;</a:t>
            </a:r>
          </a:p>
          <a:p>
            <a:r>
              <a:rPr lang="en-US" sz="8000" dirty="0"/>
              <a:t>      …….</a:t>
            </a:r>
          </a:p>
          <a:p>
            <a:r>
              <a:rPr lang="en-US" sz="8000" dirty="0"/>
              <a:t>    &lt;/tr&gt;</a:t>
            </a:r>
          </a:p>
          <a:p>
            <a:r>
              <a:rPr lang="en-US" sz="8000" dirty="0"/>
              <a:t>  &lt;/</a:t>
            </a:r>
            <a:r>
              <a:rPr lang="en-US" sz="8000" dirty="0" err="1"/>
              <a:t>tbody</a:t>
            </a:r>
            <a:r>
              <a:rPr lang="en-US" sz="8000" dirty="0"/>
              <a:t>&gt;</a:t>
            </a:r>
          </a:p>
          <a:p>
            <a:r>
              <a:rPr lang="en-US" sz="8000" dirty="0"/>
              <a:t>&lt;/table&gt;</a:t>
            </a:r>
            <a:endParaRPr lang="en-IN" dirty="0"/>
          </a:p>
        </p:txBody>
      </p:sp>
    </p:spTree>
    <p:extLst>
      <p:ext uri="{BB962C8B-B14F-4D97-AF65-F5344CB8AC3E}">
        <p14:creationId xmlns:p14="http://schemas.microsoft.com/office/powerpoint/2010/main" val="11210779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93B33-6928-0AFE-5B0E-874ECE802497}"/>
              </a:ext>
            </a:extLst>
          </p:cNvPr>
          <p:cNvSpPr>
            <a:spLocks noGrp="1"/>
          </p:cNvSpPr>
          <p:nvPr>
            <p:ph type="title"/>
          </p:nvPr>
        </p:nvSpPr>
        <p:spPr/>
        <p:txBody>
          <a:bodyPr/>
          <a:lstStyle/>
          <a:p>
            <a:r>
              <a:rPr lang="en-US" dirty="0"/>
              <a:t>Striped Rows &amp; Bordered Table</a:t>
            </a:r>
            <a:br>
              <a:rPr lang="en-US" dirty="0"/>
            </a:br>
            <a:endParaRPr lang="en-IN" dirty="0"/>
          </a:p>
        </p:txBody>
      </p:sp>
      <p:sp>
        <p:nvSpPr>
          <p:cNvPr id="3" name="Content Placeholder 2">
            <a:extLst>
              <a:ext uri="{FF2B5EF4-FFF2-40B4-BE49-F238E27FC236}">
                <a16:creationId xmlns:a16="http://schemas.microsoft.com/office/drawing/2014/main" id="{0CE90836-61A2-38EC-435F-486B21D62ECA}"/>
              </a:ext>
            </a:extLst>
          </p:cNvPr>
          <p:cNvSpPr>
            <a:spLocks noGrp="1"/>
          </p:cNvSpPr>
          <p:nvPr>
            <p:ph idx="1"/>
          </p:nvPr>
        </p:nvSpPr>
        <p:spPr/>
        <p:txBody>
          <a:bodyPr/>
          <a:lstStyle/>
          <a:p>
            <a:r>
              <a:rPr lang="en-US" dirty="0"/>
              <a:t>The </a:t>
            </a:r>
            <a:r>
              <a:rPr lang="en-US" b="1" dirty="0"/>
              <a:t>.table-striped </a:t>
            </a:r>
            <a:r>
              <a:rPr lang="en-US" dirty="0"/>
              <a:t>class adds zebra-stripes to a table:</a:t>
            </a:r>
          </a:p>
          <a:p>
            <a:pPr marL="0" indent="0">
              <a:buNone/>
            </a:pPr>
            <a:r>
              <a:rPr lang="en-IN" dirty="0"/>
              <a:t> &lt;table class="table table-striped"&gt;</a:t>
            </a:r>
          </a:p>
          <a:p>
            <a:pPr marL="0" indent="0">
              <a:buNone/>
            </a:pPr>
            <a:endParaRPr lang="en-IN" dirty="0"/>
          </a:p>
          <a:p>
            <a:pPr marL="0" indent="0">
              <a:buNone/>
            </a:pPr>
            <a:endParaRPr lang="en-IN" dirty="0"/>
          </a:p>
          <a:p>
            <a:pPr marL="0" indent="0">
              <a:buNone/>
            </a:pPr>
            <a:r>
              <a:rPr lang="en-US" dirty="0"/>
              <a:t>The </a:t>
            </a:r>
            <a:r>
              <a:rPr lang="en-US" b="1" dirty="0"/>
              <a:t>.table-bordered </a:t>
            </a:r>
            <a:r>
              <a:rPr lang="en-US" dirty="0"/>
              <a:t>class adds borders on all sides of the table and cells:</a:t>
            </a:r>
            <a:endParaRPr lang="en-IN" dirty="0"/>
          </a:p>
          <a:p>
            <a:pPr marL="0" indent="0">
              <a:buNone/>
            </a:pPr>
            <a:endParaRPr lang="en-IN" dirty="0"/>
          </a:p>
          <a:p>
            <a:pPr marL="0" indent="0">
              <a:buNone/>
            </a:pPr>
            <a:r>
              <a:rPr lang="en-IN" dirty="0"/>
              <a:t>&lt;table class="table table-bordered"&gt;</a:t>
            </a:r>
          </a:p>
          <a:p>
            <a:pPr marL="0" indent="0">
              <a:buNone/>
            </a:pPr>
            <a:endParaRPr lang="en-IN" dirty="0"/>
          </a:p>
        </p:txBody>
      </p:sp>
      <p:pic>
        <p:nvPicPr>
          <p:cNvPr id="5" name="Picture 4">
            <a:extLst>
              <a:ext uri="{FF2B5EF4-FFF2-40B4-BE49-F238E27FC236}">
                <a16:creationId xmlns:a16="http://schemas.microsoft.com/office/drawing/2014/main" id="{90497A78-CD7B-4C40-771F-F1D6FD526B1C}"/>
              </a:ext>
            </a:extLst>
          </p:cNvPr>
          <p:cNvPicPr>
            <a:picLocks noChangeAspect="1"/>
          </p:cNvPicPr>
          <p:nvPr/>
        </p:nvPicPr>
        <p:blipFill>
          <a:blip r:embed="rId2"/>
          <a:stretch>
            <a:fillRect/>
          </a:stretch>
        </p:blipFill>
        <p:spPr>
          <a:xfrm>
            <a:off x="9016182" y="1825625"/>
            <a:ext cx="3667432" cy="1910633"/>
          </a:xfrm>
          <a:prstGeom prst="rect">
            <a:avLst/>
          </a:prstGeom>
        </p:spPr>
      </p:pic>
      <p:pic>
        <p:nvPicPr>
          <p:cNvPr id="8" name="Picture 7">
            <a:extLst>
              <a:ext uri="{FF2B5EF4-FFF2-40B4-BE49-F238E27FC236}">
                <a16:creationId xmlns:a16="http://schemas.microsoft.com/office/drawing/2014/main" id="{C0F9F165-06D5-4EA7-CEED-6965D55920F5}"/>
              </a:ext>
            </a:extLst>
          </p:cNvPr>
          <p:cNvPicPr>
            <a:picLocks noChangeAspect="1"/>
          </p:cNvPicPr>
          <p:nvPr/>
        </p:nvPicPr>
        <p:blipFill>
          <a:blip r:embed="rId3"/>
          <a:stretch>
            <a:fillRect/>
          </a:stretch>
        </p:blipFill>
        <p:spPr>
          <a:xfrm>
            <a:off x="7299142" y="4410526"/>
            <a:ext cx="3667432" cy="2343477"/>
          </a:xfrm>
          <a:prstGeom prst="rect">
            <a:avLst/>
          </a:prstGeom>
        </p:spPr>
      </p:pic>
    </p:spTree>
    <p:extLst>
      <p:ext uri="{BB962C8B-B14F-4D97-AF65-F5344CB8AC3E}">
        <p14:creationId xmlns:p14="http://schemas.microsoft.com/office/powerpoint/2010/main" val="26957386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EED21-4444-CA96-C13B-9328CB5A8C9A}"/>
              </a:ext>
            </a:extLst>
          </p:cNvPr>
          <p:cNvSpPr>
            <a:spLocks noGrp="1"/>
          </p:cNvSpPr>
          <p:nvPr>
            <p:ph type="title"/>
          </p:nvPr>
        </p:nvSpPr>
        <p:spPr/>
        <p:txBody>
          <a:bodyPr/>
          <a:lstStyle/>
          <a:p>
            <a:r>
              <a:rPr lang="en-IN" b="1" dirty="0"/>
              <a:t>Hover Rows</a:t>
            </a:r>
            <a:br>
              <a:rPr lang="en-IN" b="1" dirty="0"/>
            </a:br>
            <a:endParaRPr lang="en-IN" dirty="0"/>
          </a:p>
        </p:txBody>
      </p:sp>
      <p:sp>
        <p:nvSpPr>
          <p:cNvPr id="3" name="Content Placeholder 2">
            <a:extLst>
              <a:ext uri="{FF2B5EF4-FFF2-40B4-BE49-F238E27FC236}">
                <a16:creationId xmlns:a16="http://schemas.microsoft.com/office/drawing/2014/main" id="{7692F1B4-6945-799A-DDCF-9CBDB7838EBA}"/>
              </a:ext>
            </a:extLst>
          </p:cNvPr>
          <p:cNvSpPr>
            <a:spLocks noGrp="1"/>
          </p:cNvSpPr>
          <p:nvPr>
            <p:ph idx="1"/>
          </p:nvPr>
        </p:nvSpPr>
        <p:spPr/>
        <p:txBody>
          <a:bodyPr>
            <a:normAutofit/>
          </a:bodyPr>
          <a:lstStyle/>
          <a:p>
            <a:r>
              <a:rPr lang="en-US" dirty="0"/>
              <a:t>The </a:t>
            </a:r>
            <a:r>
              <a:rPr lang="en-US" b="1" dirty="0"/>
              <a:t>.table-hover </a:t>
            </a:r>
            <a:r>
              <a:rPr lang="en-US" dirty="0"/>
              <a:t>class enables a hover state (grey background on mouse over) on table rows</a:t>
            </a:r>
          </a:p>
          <a:p>
            <a:pPr marL="0" indent="0">
              <a:buNone/>
            </a:pPr>
            <a:r>
              <a:rPr lang="en-IN" dirty="0"/>
              <a:t>&lt;table class="table table-hover"&gt;</a:t>
            </a:r>
          </a:p>
          <a:p>
            <a:pPr marL="0" indent="0">
              <a:buNone/>
            </a:pPr>
            <a:r>
              <a:rPr lang="en-US" b="1" u="sng" dirty="0"/>
              <a:t>Black/Dark Table</a:t>
            </a:r>
          </a:p>
          <a:p>
            <a:pPr marL="0" indent="0">
              <a:buNone/>
            </a:pPr>
            <a:r>
              <a:rPr lang="en-US" dirty="0"/>
              <a:t>The</a:t>
            </a:r>
            <a:r>
              <a:rPr lang="en-US" b="1" dirty="0"/>
              <a:t> .table-dark </a:t>
            </a:r>
            <a:r>
              <a:rPr lang="en-US" dirty="0"/>
              <a:t>class adds a black background to the table:</a:t>
            </a:r>
          </a:p>
          <a:p>
            <a:pPr marL="0" indent="0">
              <a:buNone/>
            </a:pPr>
            <a:r>
              <a:rPr lang="en-US" b="1" dirty="0"/>
              <a:t>&lt;table class="table table-dark table-hover"&gt; </a:t>
            </a:r>
            <a:r>
              <a:rPr lang="en-US" dirty="0"/>
              <a:t>//combining hover and dark table</a:t>
            </a:r>
          </a:p>
          <a:p>
            <a:pPr marL="0" indent="0">
              <a:buNone/>
            </a:pPr>
            <a:r>
              <a:rPr lang="en-US" b="1" u="sng" dirty="0"/>
              <a:t>Borderless Table</a:t>
            </a:r>
            <a:endParaRPr lang="en-US" dirty="0"/>
          </a:p>
          <a:p>
            <a:pPr marL="0" indent="0">
              <a:buNone/>
            </a:pPr>
            <a:r>
              <a:rPr lang="en-US" dirty="0"/>
              <a:t>The </a:t>
            </a:r>
            <a:r>
              <a:rPr lang="en-US" b="1" dirty="0"/>
              <a:t>.table-borderless </a:t>
            </a:r>
            <a:r>
              <a:rPr lang="en-US" dirty="0"/>
              <a:t>class removes borders from the table</a:t>
            </a:r>
            <a:endParaRPr lang="en-IN" dirty="0"/>
          </a:p>
        </p:txBody>
      </p:sp>
    </p:spTree>
    <p:extLst>
      <p:ext uri="{BB962C8B-B14F-4D97-AF65-F5344CB8AC3E}">
        <p14:creationId xmlns:p14="http://schemas.microsoft.com/office/powerpoint/2010/main" val="26003505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910BC-BF0D-A8F9-609C-79E1E885C877}"/>
              </a:ext>
            </a:extLst>
          </p:cNvPr>
          <p:cNvSpPr>
            <a:spLocks noGrp="1"/>
          </p:cNvSpPr>
          <p:nvPr>
            <p:ph type="title"/>
          </p:nvPr>
        </p:nvSpPr>
        <p:spPr/>
        <p:txBody>
          <a:bodyPr/>
          <a:lstStyle/>
          <a:p>
            <a:r>
              <a:rPr lang="en-IN" b="1" dirty="0"/>
              <a:t>Variants</a:t>
            </a:r>
            <a:br>
              <a:rPr lang="en-IN" b="1" dirty="0"/>
            </a:br>
            <a:endParaRPr lang="en-IN" dirty="0"/>
          </a:p>
        </p:txBody>
      </p:sp>
      <p:sp>
        <p:nvSpPr>
          <p:cNvPr id="3" name="Content Placeholder 2">
            <a:extLst>
              <a:ext uri="{FF2B5EF4-FFF2-40B4-BE49-F238E27FC236}">
                <a16:creationId xmlns:a16="http://schemas.microsoft.com/office/drawing/2014/main" id="{CD1D1ADC-6C8C-1B1F-5BC8-7D0043CAD8DC}"/>
              </a:ext>
            </a:extLst>
          </p:cNvPr>
          <p:cNvSpPr>
            <a:spLocks noGrp="1"/>
          </p:cNvSpPr>
          <p:nvPr>
            <p:ph idx="1"/>
          </p:nvPr>
        </p:nvSpPr>
        <p:spPr>
          <a:xfrm>
            <a:off x="838200" y="1157032"/>
            <a:ext cx="10515600" cy="4351338"/>
          </a:xfrm>
        </p:spPr>
        <p:txBody>
          <a:bodyPr/>
          <a:lstStyle/>
          <a:p>
            <a:r>
              <a:rPr lang="en-US" dirty="0"/>
              <a:t>Use contextual classes to color tables, table rows or individual cells.</a:t>
            </a:r>
            <a:endParaRPr lang="en-IN" dirty="0"/>
          </a:p>
        </p:txBody>
      </p:sp>
      <p:pic>
        <p:nvPicPr>
          <p:cNvPr id="5" name="Picture 4">
            <a:extLst>
              <a:ext uri="{FF2B5EF4-FFF2-40B4-BE49-F238E27FC236}">
                <a16:creationId xmlns:a16="http://schemas.microsoft.com/office/drawing/2014/main" id="{6C7E058A-EFD6-13C9-950C-30192CC84CB0}"/>
              </a:ext>
            </a:extLst>
          </p:cNvPr>
          <p:cNvPicPr>
            <a:picLocks noChangeAspect="1"/>
          </p:cNvPicPr>
          <p:nvPr/>
        </p:nvPicPr>
        <p:blipFill>
          <a:blip r:embed="rId2"/>
          <a:stretch>
            <a:fillRect/>
          </a:stretch>
        </p:blipFill>
        <p:spPr>
          <a:xfrm>
            <a:off x="1159874" y="1690688"/>
            <a:ext cx="9164329" cy="4991797"/>
          </a:xfrm>
          <a:prstGeom prst="rect">
            <a:avLst/>
          </a:prstGeom>
        </p:spPr>
      </p:pic>
    </p:spTree>
    <p:extLst>
      <p:ext uri="{BB962C8B-B14F-4D97-AF65-F5344CB8AC3E}">
        <p14:creationId xmlns:p14="http://schemas.microsoft.com/office/powerpoint/2010/main" val="17217697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43B3F-4561-6597-4FF6-48B40F5A88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3C150E-0D50-2445-B03B-4272D74F5358}"/>
              </a:ext>
            </a:extLst>
          </p:cNvPr>
          <p:cNvSpPr>
            <a:spLocks noGrp="1"/>
          </p:cNvSpPr>
          <p:nvPr>
            <p:ph idx="1"/>
          </p:nvPr>
        </p:nvSpPr>
        <p:spPr>
          <a:xfrm>
            <a:off x="838200" y="1013460"/>
            <a:ext cx="10515600" cy="5163503"/>
          </a:xfrm>
        </p:spPr>
        <p:txBody>
          <a:bodyPr/>
          <a:lstStyle/>
          <a:p>
            <a:r>
              <a:rPr lang="en-IN" dirty="0"/>
              <a:t>&lt;table class="table-primary"&gt;...&lt;/table&gt;</a:t>
            </a:r>
          </a:p>
          <a:p>
            <a:r>
              <a:rPr lang="en-IN" dirty="0"/>
              <a:t>&lt;tr class="table-primary"&gt;...&lt;/tr&gt;</a:t>
            </a:r>
          </a:p>
          <a:p>
            <a:r>
              <a:rPr lang="en-IN" dirty="0"/>
              <a:t>&lt;td class="table-primary"&gt;...&lt;/td&gt;</a:t>
            </a:r>
          </a:p>
          <a:p>
            <a:pPr marL="0" indent="0">
              <a:buNone/>
            </a:pPr>
            <a:r>
              <a:rPr lang="en-US" b="1" u="sng" dirty="0"/>
              <a:t>Active tables</a:t>
            </a:r>
            <a:endParaRPr lang="en-IN" b="1" u="sng" dirty="0"/>
          </a:p>
          <a:p>
            <a:r>
              <a:rPr lang="en-US" dirty="0"/>
              <a:t>Highlight a table row or cell by adding a </a:t>
            </a:r>
            <a:r>
              <a:rPr lang="en-US" b="1" dirty="0"/>
              <a:t>.table-active </a:t>
            </a:r>
            <a:r>
              <a:rPr lang="en-US" dirty="0"/>
              <a:t>class</a:t>
            </a:r>
          </a:p>
          <a:p>
            <a:pPr marL="0" indent="0">
              <a:buNone/>
            </a:pPr>
            <a:r>
              <a:rPr lang="en-US" b="1" u="sng" dirty="0"/>
              <a:t>Small table</a:t>
            </a:r>
          </a:p>
          <a:p>
            <a:r>
              <a:rPr lang="en-US" dirty="0"/>
              <a:t>The </a:t>
            </a:r>
            <a:r>
              <a:rPr lang="en-US" b="1" dirty="0"/>
              <a:t>.table-</a:t>
            </a:r>
            <a:r>
              <a:rPr lang="en-US" b="1" dirty="0" err="1"/>
              <a:t>sm</a:t>
            </a:r>
            <a:r>
              <a:rPr lang="en-US" b="1" dirty="0"/>
              <a:t> </a:t>
            </a:r>
            <a:r>
              <a:rPr lang="en-US" dirty="0"/>
              <a:t>class makes the table smaller by cutting cell padding in half:</a:t>
            </a:r>
          </a:p>
          <a:p>
            <a:endParaRPr lang="en-IN" dirty="0"/>
          </a:p>
          <a:p>
            <a:endParaRPr lang="en-IN" dirty="0"/>
          </a:p>
          <a:p>
            <a:endParaRPr lang="en-IN" dirty="0"/>
          </a:p>
        </p:txBody>
      </p:sp>
    </p:spTree>
    <p:extLst>
      <p:ext uri="{BB962C8B-B14F-4D97-AF65-F5344CB8AC3E}">
        <p14:creationId xmlns:p14="http://schemas.microsoft.com/office/powerpoint/2010/main" val="21831831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5EDDC-11C1-261F-C154-635999521D08}"/>
              </a:ext>
            </a:extLst>
          </p:cNvPr>
          <p:cNvSpPr>
            <a:spLocks noGrp="1"/>
          </p:cNvSpPr>
          <p:nvPr>
            <p:ph type="title"/>
          </p:nvPr>
        </p:nvSpPr>
        <p:spPr/>
        <p:txBody>
          <a:bodyPr>
            <a:normAutofit fontScale="90000"/>
          </a:bodyPr>
          <a:lstStyle/>
          <a:p>
            <a:r>
              <a:rPr lang="en-US" b="1" u="sng" dirty="0"/>
              <a:t>Responsive Tables</a:t>
            </a:r>
            <a:br>
              <a:rPr lang="en-US" dirty="0"/>
            </a:br>
            <a:br>
              <a:rPr lang="en-US" dirty="0"/>
            </a:br>
            <a:endParaRPr lang="en-IN" dirty="0"/>
          </a:p>
        </p:txBody>
      </p:sp>
      <p:sp>
        <p:nvSpPr>
          <p:cNvPr id="3" name="Content Placeholder 2">
            <a:extLst>
              <a:ext uri="{FF2B5EF4-FFF2-40B4-BE49-F238E27FC236}">
                <a16:creationId xmlns:a16="http://schemas.microsoft.com/office/drawing/2014/main" id="{D24B38E0-9DF2-F8B6-A03D-3FF2D9E57D03}"/>
              </a:ext>
            </a:extLst>
          </p:cNvPr>
          <p:cNvSpPr>
            <a:spLocks noGrp="1"/>
          </p:cNvSpPr>
          <p:nvPr>
            <p:ph idx="1"/>
          </p:nvPr>
        </p:nvSpPr>
        <p:spPr>
          <a:xfrm>
            <a:off x="749710" y="1253331"/>
            <a:ext cx="10515600" cy="5239544"/>
          </a:xfrm>
        </p:spPr>
        <p:txBody>
          <a:bodyPr>
            <a:normAutofit/>
          </a:bodyPr>
          <a:lstStyle/>
          <a:p>
            <a:r>
              <a:rPr lang="en-US" dirty="0"/>
              <a:t>The </a:t>
            </a:r>
            <a:r>
              <a:rPr lang="en-US" b="1" dirty="0"/>
              <a:t>.table-responsive </a:t>
            </a:r>
            <a:r>
              <a:rPr lang="en-US" dirty="0"/>
              <a:t>class adds a scrollbar to the table when needed (when it is too big horizontally):</a:t>
            </a:r>
          </a:p>
          <a:p>
            <a:pPr marL="0" indent="0">
              <a:buNone/>
            </a:pPr>
            <a:r>
              <a:rPr lang="en-US" dirty="0"/>
              <a:t> &lt;div class="table-responsive"&gt;</a:t>
            </a:r>
          </a:p>
          <a:p>
            <a:pPr marL="0" indent="0">
              <a:buNone/>
            </a:pPr>
            <a:r>
              <a:rPr lang="en-US" dirty="0"/>
              <a:t>  &lt;table class="table"&gt;</a:t>
            </a:r>
          </a:p>
          <a:p>
            <a:pPr marL="0" indent="0">
              <a:buNone/>
            </a:pPr>
            <a:r>
              <a:rPr lang="en-US" dirty="0"/>
              <a:t> ...</a:t>
            </a:r>
          </a:p>
          <a:p>
            <a:pPr marL="0" indent="0">
              <a:buNone/>
            </a:pPr>
            <a:r>
              <a:rPr lang="en-US" dirty="0"/>
              <a:t>  &lt;/table&gt;</a:t>
            </a:r>
          </a:p>
          <a:p>
            <a:pPr marL="0" indent="0">
              <a:buNone/>
            </a:pPr>
            <a:r>
              <a:rPr lang="en-US" dirty="0"/>
              <a:t>&lt;/div&gt; </a:t>
            </a:r>
            <a:endParaRPr lang="en-IN" dirty="0"/>
          </a:p>
        </p:txBody>
      </p:sp>
    </p:spTree>
    <p:extLst>
      <p:ext uri="{BB962C8B-B14F-4D97-AF65-F5344CB8AC3E}">
        <p14:creationId xmlns:p14="http://schemas.microsoft.com/office/powerpoint/2010/main" val="17852099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3DC9D-7B96-A5B7-3F50-75B2ED39BAD7}"/>
              </a:ext>
            </a:extLst>
          </p:cNvPr>
          <p:cNvSpPr>
            <a:spLocks noGrp="1"/>
          </p:cNvSpPr>
          <p:nvPr>
            <p:ph type="title"/>
          </p:nvPr>
        </p:nvSpPr>
        <p:spPr>
          <a:xfrm>
            <a:off x="708660" y="90805"/>
            <a:ext cx="10515600" cy="1325563"/>
          </a:xfrm>
        </p:spPr>
        <p:txBody>
          <a:bodyPr/>
          <a:lstStyle/>
          <a:p>
            <a:r>
              <a:rPr lang="en-US" b="1" u="sng" dirty="0"/>
              <a:t>Responsive Tables</a:t>
            </a:r>
            <a:br>
              <a:rPr lang="en-US" dirty="0"/>
            </a:br>
            <a:endParaRPr lang="en-IN" dirty="0"/>
          </a:p>
        </p:txBody>
      </p:sp>
      <p:sp>
        <p:nvSpPr>
          <p:cNvPr id="3" name="Content Placeholder 2">
            <a:extLst>
              <a:ext uri="{FF2B5EF4-FFF2-40B4-BE49-F238E27FC236}">
                <a16:creationId xmlns:a16="http://schemas.microsoft.com/office/drawing/2014/main" id="{B42881D2-69DF-86F0-28A7-9C5850C333D4}"/>
              </a:ext>
            </a:extLst>
          </p:cNvPr>
          <p:cNvSpPr>
            <a:spLocks noGrp="1"/>
          </p:cNvSpPr>
          <p:nvPr>
            <p:ph idx="1"/>
          </p:nvPr>
        </p:nvSpPr>
        <p:spPr>
          <a:xfrm>
            <a:off x="518160" y="914400"/>
            <a:ext cx="10515600" cy="4866323"/>
          </a:xfrm>
        </p:spPr>
        <p:txBody>
          <a:bodyPr/>
          <a:lstStyle/>
          <a:p>
            <a:r>
              <a:rPr lang="en-US" dirty="0"/>
              <a:t>You can also decide when the table should get a scrollbar, depending on the screen width:</a:t>
            </a:r>
          </a:p>
          <a:p>
            <a:endParaRPr lang="en-US" b="1" dirty="0"/>
          </a:p>
          <a:p>
            <a:endParaRPr lang="en-US" b="1" dirty="0"/>
          </a:p>
          <a:p>
            <a:endParaRPr lang="en-US" b="1" dirty="0"/>
          </a:p>
          <a:p>
            <a:endParaRPr lang="en-US" b="1" dirty="0"/>
          </a:p>
          <a:p>
            <a:endParaRPr lang="en-US" b="1" dirty="0"/>
          </a:p>
          <a:p>
            <a:endParaRPr lang="en-US" b="1" dirty="0"/>
          </a:p>
          <a:p>
            <a:r>
              <a:rPr lang="en-IN" dirty="0">
                <a:solidFill>
                  <a:srgbClr val="0000CD"/>
                </a:solidFill>
                <a:effectLst/>
              </a:rPr>
              <a:t>&lt;</a:t>
            </a:r>
            <a:r>
              <a:rPr lang="en-IN" dirty="0">
                <a:solidFill>
                  <a:srgbClr val="A52A2A"/>
                </a:solidFill>
                <a:effectLst/>
              </a:rPr>
              <a:t>div</a:t>
            </a:r>
            <a:r>
              <a:rPr lang="en-IN" dirty="0">
                <a:solidFill>
                  <a:srgbClr val="FF0000"/>
                </a:solidFill>
                <a:effectLst/>
              </a:rPr>
              <a:t> class</a:t>
            </a:r>
            <a:r>
              <a:rPr lang="en-IN" dirty="0">
                <a:solidFill>
                  <a:srgbClr val="0000CD"/>
                </a:solidFill>
                <a:effectLst/>
              </a:rPr>
              <a:t>="table-responsive-</a:t>
            </a:r>
            <a:r>
              <a:rPr lang="en-IN" dirty="0" err="1">
                <a:solidFill>
                  <a:srgbClr val="0000CD"/>
                </a:solidFill>
                <a:effectLst/>
              </a:rPr>
              <a:t>sm</a:t>
            </a:r>
            <a:r>
              <a:rPr lang="en-IN" dirty="0">
                <a:solidFill>
                  <a:srgbClr val="0000CD"/>
                </a:solidFill>
                <a:effectLst/>
              </a:rPr>
              <a:t>"&gt;</a:t>
            </a:r>
            <a:endParaRPr lang="en-IN" b="1" dirty="0"/>
          </a:p>
        </p:txBody>
      </p:sp>
      <p:pic>
        <p:nvPicPr>
          <p:cNvPr id="5" name="Picture 4">
            <a:extLst>
              <a:ext uri="{FF2B5EF4-FFF2-40B4-BE49-F238E27FC236}">
                <a16:creationId xmlns:a16="http://schemas.microsoft.com/office/drawing/2014/main" id="{847A2DEB-9F64-BD4C-2C79-1B16E2779DB2}"/>
              </a:ext>
            </a:extLst>
          </p:cNvPr>
          <p:cNvPicPr>
            <a:picLocks noChangeAspect="1"/>
          </p:cNvPicPr>
          <p:nvPr/>
        </p:nvPicPr>
        <p:blipFill>
          <a:blip r:embed="rId2"/>
          <a:stretch>
            <a:fillRect/>
          </a:stretch>
        </p:blipFill>
        <p:spPr>
          <a:xfrm>
            <a:off x="868679" y="1956231"/>
            <a:ext cx="8359141" cy="2739387"/>
          </a:xfrm>
          <a:prstGeom prst="rect">
            <a:avLst/>
          </a:prstGeom>
        </p:spPr>
      </p:pic>
    </p:spTree>
    <p:extLst>
      <p:ext uri="{BB962C8B-B14F-4D97-AF65-F5344CB8AC3E}">
        <p14:creationId xmlns:p14="http://schemas.microsoft.com/office/powerpoint/2010/main" val="11617474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FC7F9-7C0A-47D9-581D-F316600F24CC}"/>
              </a:ext>
            </a:extLst>
          </p:cNvPr>
          <p:cNvSpPr>
            <a:spLocks noGrp="1"/>
          </p:cNvSpPr>
          <p:nvPr>
            <p:ph type="title"/>
          </p:nvPr>
        </p:nvSpPr>
        <p:spPr/>
        <p:txBody>
          <a:bodyPr/>
          <a:lstStyle/>
          <a:p>
            <a:r>
              <a:rPr lang="en-IN" b="1" dirty="0"/>
              <a:t>Vertical alignment</a:t>
            </a:r>
            <a:br>
              <a:rPr lang="en-IN" b="1" dirty="0"/>
            </a:br>
            <a:endParaRPr lang="en-IN" dirty="0"/>
          </a:p>
        </p:txBody>
      </p:sp>
      <p:sp>
        <p:nvSpPr>
          <p:cNvPr id="3" name="Content Placeholder 2">
            <a:extLst>
              <a:ext uri="{FF2B5EF4-FFF2-40B4-BE49-F238E27FC236}">
                <a16:creationId xmlns:a16="http://schemas.microsoft.com/office/drawing/2014/main" id="{ED9B8959-563A-B3B0-AE4B-078DB881DACA}"/>
              </a:ext>
            </a:extLst>
          </p:cNvPr>
          <p:cNvSpPr>
            <a:spLocks noGrp="1"/>
          </p:cNvSpPr>
          <p:nvPr>
            <p:ph idx="1"/>
          </p:nvPr>
        </p:nvSpPr>
        <p:spPr>
          <a:xfrm>
            <a:off x="274320" y="1162685"/>
            <a:ext cx="10515600" cy="4351338"/>
          </a:xfrm>
        </p:spPr>
        <p:txBody>
          <a:bodyPr>
            <a:normAutofit fontScale="92500" lnSpcReduction="10000"/>
          </a:bodyPr>
          <a:lstStyle/>
          <a:p>
            <a:r>
              <a:rPr lang="en-US" dirty="0"/>
              <a:t>Table cells of &lt;</a:t>
            </a:r>
            <a:r>
              <a:rPr lang="en-US" dirty="0" err="1"/>
              <a:t>thead</a:t>
            </a:r>
            <a:r>
              <a:rPr lang="en-US" dirty="0"/>
              <a:t>&gt; are always vertical aligned to the bottom.</a:t>
            </a:r>
          </a:p>
          <a:p>
            <a:r>
              <a:rPr lang="en-US" dirty="0"/>
              <a:t> Table cells in &lt;</a:t>
            </a:r>
            <a:r>
              <a:rPr lang="en-US" dirty="0" err="1"/>
              <a:t>tbody</a:t>
            </a:r>
            <a:r>
              <a:rPr lang="en-US" dirty="0"/>
              <a:t>&gt; inherit their alignment from &lt;table&gt; and are aligned to the </a:t>
            </a:r>
            <a:r>
              <a:rPr lang="en-US" dirty="0" err="1"/>
              <a:t>the</a:t>
            </a:r>
            <a:r>
              <a:rPr lang="en-US" dirty="0"/>
              <a:t> top by default. </a:t>
            </a:r>
          </a:p>
          <a:p>
            <a:r>
              <a:rPr lang="en-US" dirty="0"/>
              <a:t>Use the </a:t>
            </a:r>
            <a:r>
              <a:rPr lang="en-US" b="1" dirty="0"/>
              <a:t>vertical align </a:t>
            </a:r>
            <a:r>
              <a:rPr lang="en-US" dirty="0"/>
              <a:t>classes to re-align where needed.</a:t>
            </a:r>
          </a:p>
          <a:p>
            <a:pPr>
              <a:buFont typeface="Wingdings" panose="05000000000000000000" pitchFamily="2" charset="2"/>
              <a:buChar char="Ø"/>
            </a:pPr>
            <a:r>
              <a:rPr lang="en-US" dirty="0"/>
              <a:t> align-middle</a:t>
            </a:r>
          </a:p>
          <a:p>
            <a:pPr>
              <a:buFont typeface="Wingdings" panose="05000000000000000000" pitchFamily="2" charset="2"/>
              <a:buChar char="Ø"/>
            </a:pPr>
            <a:r>
              <a:rPr lang="en-US" dirty="0"/>
              <a:t>align-bottom</a:t>
            </a:r>
          </a:p>
          <a:p>
            <a:pPr>
              <a:buFont typeface="Wingdings" panose="05000000000000000000" pitchFamily="2" charset="2"/>
              <a:buChar char="Ø"/>
            </a:pPr>
            <a:r>
              <a:rPr lang="en-US" dirty="0"/>
              <a:t>align-top</a:t>
            </a:r>
          </a:p>
          <a:p>
            <a:r>
              <a:rPr lang="en-IN" dirty="0"/>
              <a:t> &lt;table class="table align-middle"&gt; </a:t>
            </a:r>
          </a:p>
          <a:p>
            <a:r>
              <a:rPr lang="en-IN" dirty="0"/>
              <a:t>&lt;tr class="align-bottom"&gt;</a:t>
            </a:r>
          </a:p>
          <a:p>
            <a:r>
              <a:rPr lang="en-IN" dirty="0"/>
              <a:t>&lt;td class="align-top"&gt;</a:t>
            </a:r>
          </a:p>
          <a:p>
            <a:endParaRPr lang="en-IN" dirty="0"/>
          </a:p>
          <a:p>
            <a:pPr>
              <a:buFont typeface="Wingdings" panose="05000000000000000000" pitchFamily="2" charset="2"/>
              <a:buChar char="Ø"/>
            </a:pPr>
            <a:endParaRPr lang="en-US" dirty="0"/>
          </a:p>
          <a:p>
            <a:endParaRPr lang="en-IN" dirty="0"/>
          </a:p>
        </p:txBody>
      </p:sp>
    </p:spTree>
    <p:extLst>
      <p:ext uri="{BB962C8B-B14F-4D97-AF65-F5344CB8AC3E}">
        <p14:creationId xmlns:p14="http://schemas.microsoft.com/office/powerpoint/2010/main" val="9731921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3DBCB-4760-AAE5-5CCD-3688FE59DE95}"/>
              </a:ext>
            </a:extLst>
          </p:cNvPr>
          <p:cNvSpPr>
            <a:spLocks noGrp="1"/>
          </p:cNvSpPr>
          <p:nvPr>
            <p:ph type="title"/>
          </p:nvPr>
        </p:nvSpPr>
        <p:spPr/>
        <p:txBody>
          <a:bodyPr>
            <a:normAutofit/>
          </a:bodyPr>
          <a:lstStyle/>
          <a:p>
            <a:br>
              <a:rPr lang="en-US" b="1" dirty="0"/>
            </a:br>
            <a:endParaRPr lang="en-IN" dirty="0"/>
          </a:p>
        </p:txBody>
      </p:sp>
      <p:sp>
        <p:nvSpPr>
          <p:cNvPr id="3" name="Content Placeholder 2">
            <a:extLst>
              <a:ext uri="{FF2B5EF4-FFF2-40B4-BE49-F238E27FC236}">
                <a16:creationId xmlns:a16="http://schemas.microsoft.com/office/drawing/2014/main" id="{A46DB892-F810-FB6A-B698-EA0470E900A1}"/>
              </a:ext>
            </a:extLst>
          </p:cNvPr>
          <p:cNvSpPr>
            <a:spLocks noGrp="1"/>
          </p:cNvSpPr>
          <p:nvPr>
            <p:ph idx="1"/>
          </p:nvPr>
        </p:nvSpPr>
        <p:spPr>
          <a:xfrm>
            <a:off x="723901" y="1151164"/>
            <a:ext cx="10515600" cy="5033963"/>
          </a:xfrm>
        </p:spPr>
        <p:txBody>
          <a:bodyPr>
            <a:normAutofit fontScale="92500"/>
          </a:bodyPr>
          <a:lstStyle/>
          <a:p>
            <a:pPr marL="0" indent="0">
              <a:buNone/>
            </a:pPr>
            <a:r>
              <a:rPr lang="en-US" b="1" u="sng" dirty="0"/>
              <a:t>Nesting</a:t>
            </a:r>
          </a:p>
          <a:p>
            <a:r>
              <a:rPr lang="en-US" dirty="0"/>
              <a:t>Border styles, active styles, and table variants are not inherited by nested tables. Captions</a:t>
            </a:r>
          </a:p>
          <a:p>
            <a:pPr marL="0" indent="0">
              <a:buNone/>
            </a:pPr>
            <a:r>
              <a:rPr lang="en-US" b="1" u="sng" dirty="0"/>
              <a:t>CAPTIONS</a:t>
            </a:r>
          </a:p>
          <a:p>
            <a:r>
              <a:rPr lang="en-US" dirty="0"/>
              <a:t>A &lt;caption&gt; functions like a heading for a table. It helps users with screen readers to find a table and understand what it’s about and decide if they want to read it.</a:t>
            </a:r>
          </a:p>
          <a:p>
            <a:pPr marL="0" indent="0">
              <a:buNone/>
            </a:pPr>
            <a:r>
              <a:rPr lang="en-US" dirty="0"/>
              <a:t>&lt;caption&gt;……….&lt;/caption&gt;</a:t>
            </a:r>
          </a:p>
          <a:p>
            <a:r>
              <a:rPr lang="en-US" dirty="0"/>
              <a:t>You can also put the &lt;caption&gt; on the top of the table with .caption-top.</a:t>
            </a:r>
          </a:p>
          <a:p>
            <a:pPr marL="0" indent="0">
              <a:buNone/>
            </a:pPr>
            <a:r>
              <a:rPr lang="en-US" dirty="0"/>
              <a:t>&lt;table class="table caption-top"&gt;</a:t>
            </a:r>
          </a:p>
          <a:p>
            <a:pPr marL="0" indent="0">
              <a:buNone/>
            </a:pPr>
            <a:r>
              <a:rPr lang="en-US" dirty="0"/>
              <a:t>&lt;caption&gt;List of users&lt;/caption&gt;</a:t>
            </a:r>
            <a:endParaRPr lang="en-IN" dirty="0"/>
          </a:p>
        </p:txBody>
      </p:sp>
    </p:spTree>
    <p:extLst>
      <p:ext uri="{BB962C8B-B14F-4D97-AF65-F5344CB8AC3E}">
        <p14:creationId xmlns:p14="http://schemas.microsoft.com/office/powerpoint/2010/main" val="29533425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D953A-9C31-1BB0-71C3-2EE0000DF25C}"/>
              </a:ext>
            </a:extLst>
          </p:cNvPr>
          <p:cNvSpPr>
            <a:spLocks noGrp="1"/>
          </p:cNvSpPr>
          <p:nvPr>
            <p:ph type="title"/>
          </p:nvPr>
        </p:nvSpPr>
        <p:spPr/>
        <p:txBody>
          <a:bodyPr/>
          <a:lstStyle/>
          <a:p>
            <a:r>
              <a:rPr lang="en-IN" b="1" dirty="0"/>
              <a:t>List</a:t>
            </a:r>
            <a:endParaRPr lang="en-IN" dirty="0"/>
          </a:p>
        </p:txBody>
      </p:sp>
      <p:sp>
        <p:nvSpPr>
          <p:cNvPr id="3" name="Content Placeholder 2">
            <a:extLst>
              <a:ext uri="{FF2B5EF4-FFF2-40B4-BE49-F238E27FC236}">
                <a16:creationId xmlns:a16="http://schemas.microsoft.com/office/drawing/2014/main" id="{B256AB9F-4BA3-77EA-52FC-4541BAA5B7E3}"/>
              </a:ext>
            </a:extLst>
          </p:cNvPr>
          <p:cNvSpPr>
            <a:spLocks noGrp="1"/>
          </p:cNvSpPr>
          <p:nvPr>
            <p:ph idx="1"/>
          </p:nvPr>
        </p:nvSpPr>
        <p:spPr/>
        <p:txBody>
          <a:bodyPr>
            <a:normAutofit fontScale="92500" lnSpcReduction="20000"/>
          </a:bodyPr>
          <a:lstStyle/>
          <a:p>
            <a:r>
              <a:rPr lang="en-US" dirty="0"/>
              <a:t>List groups are a flexible and powerful component for displaying a series of content. Modify and extend them to support just about any content within.</a:t>
            </a:r>
          </a:p>
          <a:p>
            <a:r>
              <a:rPr lang="en-US" dirty="0"/>
              <a:t>The most basic list group is an unordered list with list items:</a:t>
            </a:r>
          </a:p>
          <a:p>
            <a:r>
              <a:rPr lang="en-US" dirty="0"/>
              <a:t>To create a basic list group, use an </a:t>
            </a:r>
            <a:r>
              <a:rPr lang="en-US" b="1" dirty="0"/>
              <a:t>&lt;</a:t>
            </a:r>
            <a:r>
              <a:rPr lang="en-US" b="1" dirty="0" err="1"/>
              <a:t>ul</a:t>
            </a:r>
            <a:r>
              <a:rPr lang="en-US" b="1" dirty="0"/>
              <a:t>&gt; </a:t>
            </a:r>
            <a:r>
              <a:rPr lang="en-US" dirty="0"/>
              <a:t>element with class </a:t>
            </a:r>
            <a:r>
              <a:rPr lang="en-US" b="1" dirty="0"/>
              <a:t>.list-group</a:t>
            </a:r>
            <a:r>
              <a:rPr lang="en-US" dirty="0"/>
              <a:t>, and </a:t>
            </a:r>
            <a:r>
              <a:rPr lang="en-US" b="1" dirty="0"/>
              <a:t>&lt;li&gt; </a:t>
            </a:r>
            <a:r>
              <a:rPr lang="en-US" dirty="0"/>
              <a:t>elements with class </a:t>
            </a:r>
            <a:r>
              <a:rPr lang="en-US" b="1" dirty="0"/>
              <a:t>.list-group-item</a:t>
            </a:r>
            <a:r>
              <a:rPr lang="en-US" dirty="0"/>
              <a:t>: </a:t>
            </a:r>
          </a:p>
          <a:p>
            <a:pPr marL="0" indent="0">
              <a:buNone/>
            </a:pPr>
            <a:endParaRPr lang="en-US" dirty="0"/>
          </a:p>
          <a:p>
            <a:pPr marL="0" indent="0">
              <a:buNone/>
            </a:pPr>
            <a:r>
              <a:rPr lang="en-US" dirty="0"/>
              <a:t>&lt;</a:t>
            </a:r>
            <a:r>
              <a:rPr lang="en-US" dirty="0" err="1"/>
              <a:t>ul</a:t>
            </a:r>
            <a:r>
              <a:rPr lang="en-US" dirty="0"/>
              <a:t> class="list-group"&gt;</a:t>
            </a:r>
          </a:p>
          <a:p>
            <a:pPr marL="0" indent="0">
              <a:buNone/>
            </a:pPr>
            <a:r>
              <a:rPr lang="en-US" dirty="0"/>
              <a:t>&lt;li class="list-group-item"&gt;First item&lt;/li&gt;</a:t>
            </a:r>
          </a:p>
          <a:p>
            <a:pPr marL="0" indent="0">
              <a:buNone/>
            </a:pPr>
            <a:r>
              <a:rPr lang="en-US" dirty="0"/>
              <a:t>  &lt;li class="list-group-item"&gt;Second item&lt;/li&gt;</a:t>
            </a:r>
          </a:p>
          <a:p>
            <a:pPr marL="0" indent="0">
              <a:buNone/>
            </a:pPr>
            <a:r>
              <a:rPr lang="en-US" dirty="0"/>
              <a:t>  &lt;li class="list-group-item"&gt;Third item&lt;/li&gt;</a:t>
            </a:r>
          </a:p>
          <a:p>
            <a:pPr marL="0" indent="0">
              <a:buNone/>
            </a:pPr>
            <a:r>
              <a:rPr lang="en-US" dirty="0"/>
              <a:t>&lt;/</a:t>
            </a:r>
            <a:r>
              <a:rPr lang="en-US" dirty="0" err="1"/>
              <a:t>ul</a:t>
            </a:r>
            <a:r>
              <a:rPr lang="en-US" dirty="0"/>
              <a:t>&gt; </a:t>
            </a:r>
          </a:p>
          <a:p>
            <a:endParaRPr lang="en-US" dirty="0"/>
          </a:p>
          <a:p>
            <a:endParaRPr lang="en-IN" dirty="0"/>
          </a:p>
        </p:txBody>
      </p:sp>
    </p:spTree>
    <p:extLst>
      <p:ext uri="{BB962C8B-B14F-4D97-AF65-F5344CB8AC3E}">
        <p14:creationId xmlns:p14="http://schemas.microsoft.com/office/powerpoint/2010/main" val="18993119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D46F6-3993-1DE6-5944-1573D64ADA40}"/>
              </a:ext>
            </a:extLst>
          </p:cNvPr>
          <p:cNvSpPr>
            <a:spLocks noGrp="1"/>
          </p:cNvSpPr>
          <p:nvPr>
            <p:ph type="title"/>
          </p:nvPr>
        </p:nvSpPr>
        <p:spPr/>
        <p:txBody>
          <a:bodyPr/>
          <a:lstStyle/>
          <a:p>
            <a:r>
              <a:rPr lang="en-IN" dirty="0"/>
              <a:t>List-Badges</a:t>
            </a:r>
          </a:p>
        </p:txBody>
      </p:sp>
      <p:sp>
        <p:nvSpPr>
          <p:cNvPr id="3" name="Content Placeholder 2">
            <a:extLst>
              <a:ext uri="{FF2B5EF4-FFF2-40B4-BE49-F238E27FC236}">
                <a16:creationId xmlns:a16="http://schemas.microsoft.com/office/drawing/2014/main" id="{AC0D87F3-7BE4-EA68-4E85-415C85BAE756}"/>
              </a:ext>
            </a:extLst>
          </p:cNvPr>
          <p:cNvSpPr>
            <a:spLocks noGrp="1"/>
          </p:cNvSpPr>
          <p:nvPr>
            <p:ph idx="1"/>
          </p:nvPr>
        </p:nvSpPr>
        <p:spPr/>
        <p:txBody>
          <a:bodyPr/>
          <a:lstStyle/>
          <a:p>
            <a:r>
              <a:rPr lang="en-US" dirty="0"/>
              <a:t>We can also add badges to a list group. The badges will automatically be positioned on the right:</a:t>
            </a:r>
          </a:p>
          <a:p>
            <a:r>
              <a:rPr lang="en-US" dirty="0"/>
              <a:t>To create a badge, create a </a:t>
            </a:r>
            <a:r>
              <a:rPr lang="en-US" b="1" dirty="0"/>
              <a:t>&lt;span&gt; </a:t>
            </a:r>
            <a:r>
              <a:rPr lang="en-US" dirty="0"/>
              <a:t>element with class </a:t>
            </a:r>
            <a:r>
              <a:rPr lang="en-US" b="1" dirty="0"/>
              <a:t>.badge </a:t>
            </a:r>
            <a:r>
              <a:rPr lang="en-US" dirty="0"/>
              <a:t>inside the list item</a:t>
            </a:r>
          </a:p>
          <a:p>
            <a:pPr marL="0" indent="0">
              <a:buNone/>
            </a:pPr>
            <a:r>
              <a:rPr lang="en-US" dirty="0"/>
              <a:t>&lt;</a:t>
            </a:r>
            <a:r>
              <a:rPr lang="en-US" dirty="0" err="1"/>
              <a:t>ul</a:t>
            </a:r>
            <a:r>
              <a:rPr lang="en-US" dirty="0"/>
              <a:t> class="list-group"&gt;</a:t>
            </a:r>
          </a:p>
          <a:p>
            <a:pPr marL="0" indent="0">
              <a:buNone/>
            </a:pPr>
            <a:r>
              <a:rPr lang="en-US" dirty="0"/>
              <a:t>&lt;li class="list-group-item"&gt;New &lt;span class="badge"&gt;12&lt;/span&gt;&lt;/li&gt;</a:t>
            </a:r>
          </a:p>
          <a:p>
            <a:pPr marL="0" indent="0">
              <a:buNone/>
            </a:pPr>
            <a:r>
              <a:rPr lang="en-US" dirty="0"/>
              <a:t>&lt;/</a:t>
            </a:r>
            <a:r>
              <a:rPr lang="en-US" dirty="0" err="1"/>
              <a:t>uI</a:t>
            </a:r>
            <a:r>
              <a:rPr lang="en-US" dirty="0"/>
              <a:t>&gt;</a:t>
            </a:r>
            <a:endParaRPr lang="en-IN" dirty="0"/>
          </a:p>
        </p:txBody>
      </p:sp>
      <p:pic>
        <p:nvPicPr>
          <p:cNvPr id="6" name="Picture 5">
            <a:extLst>
              <a:ext uri="{FF2B5EF4-FFF2-40B4-BE49-F238E27FC236}">
                <a16:creationId xmlns:a16="http://schemas.microsoft.com/office/drawing/2014/main" id="{8791A1C6-B748-AAA8-5034-C396B2380192}"/>
              </a:ext>
            </a:extLst>
          </p:cNvPr>
          <p:cNvPicPr>
            <a:picLocks noChangeAspect="1"/>
          </p:cNvPicPr>
          <p:nvPr/>
        </p:nvPicPr>
        <p:blipFill>
          <a:blip r:embed="rId2"/>
          <a:stretch>
            <a:fillRect/>
          </a:stretch>
        </p:blipFill>
        <p:spPr>
          <a:xfrm>
            <a:off x="1278195" y="5315688"/>
            <a:ext cx="5388076" cy="690470"/>
          </a:xfrm>
          <a:prstGeom prst="rect">
            <a:avLst/>
          </a:prstGeom>
        </p:spPr>
      </p:pic>
    </p:spTree>
    <p:extLst>
      <p:ext uri="{BB962C8B-B14F-4D97-AF65-F5344CB8AC3E}">
        <p14:creationId xmlns:p14="http://schemas.microsoft.com/office/powerpoint/2010/main" val="21847158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433F-580C-9C42-601F-E5C759C42F87}"/>
              </a:ext>
            </a:extLst>
          </p:cNvPr>
          <p:cNvSpPr>
            <a:spLocks noGrp="1"/>
          </p:cNvSpPr>
          <p:nvPr>
            <p:ph type="title"/>
          </p:nvPr>
        </p:nvSpPr>
        <p:spPr/>
        <p:txBody>
          <a:bodyPr>
            <a:normAutofit/>
          </a:bodyPr>
          <a:lstStyle/>
          <a:p>
            <a:r>
              <a:rPr lang="en-US" dirty="0"/>
              <a:t>List Group With Linked Items</a:t>
            </a:r>
            <a:br>
              <a:rPr lang="en-US" b="1" dirty="0"/>
            </a:br>
            <a:endParaRPr lang="en-IN" dirty="0"/>
          </a:p>
        </p:txBody>
      </p:sp>
      <p:sp>
        <p:nvSpPr>
          <p:cNvPr id="3" name="Content Placeholder 2">
            <a:extLst>
              <a:ext uri="{FF2B5EF4-FFF2-40B4-BE49-F238E27FC236}">
                <a16:creationId xmlns:a16="http://schemas.microsoft.com/office/drawing/2014/main" id="{F6D178B3-B526-F0F3-C599-D1C1B6CEBCF4}"/>
              </a:ext>
            </a:extLst>
          </p:cNvPr>
          <p:cNvSpPr>
            <a:spLocks noGrp="1"/>
          </p:cNvSpPr>
          <p:nvPr>
            <p:ph idx="1"/>
          </p:nvPr>
        </p:nvSpPr>
        <p:spPr/>
        <p:txBody>
          <a:bodyPr/>
          <a:lstStyle/>
          <a:p>
            <a:r>
              <a:rPr lang="en-US" dirty="0"/>
              <a:t>The items in a list group can also be hyperlinks. This will add a grey background color on hover:</a:t>
            </a:r>
          </a:p>
          <a:p>
            <a:r>
              <a:rPr lang="en-US" dirty="0">
                <a:solidFill>
                  <a:srgbClr val="0000CD"/>
                </a:solidFill>
                <a:effectLst/>
              </a:rPr>
              <a:t>&lt;</a:t>
            </a:r>
            <a:r>
              <a:rPr lang="en-US" dirty="0">
                <a:solidFill>
                  <a:srgbClr val="A52A2A"/>
                </a:solidFill>
                <a:effectLst/>
              </a:rPr>
              <a:t>div</a:t>
            </a:r>
            <a:r>
              <a:rPr lang="en-US" dirty="0">
                <a:solidFill>
                  <a:srgbClr val="FF0000"/>
                </a:solidFill>
                <a:effectLst/>
              </a:rPr>
              <a:t> class</a:t>
            </a:r>
            <a:r>
              <a:rPr lang="en-US" dirty="0">
                <a:solidFill>
                  <a:srgbClr val="0000CD"/>
                </a:solidFill>
                <a:effectLst/>
              </a:rPr>
              <a:t>="list-group"&gt;</a:t>
            </a:r>
            <a:br>
              <a:rPr lang="en-US" dirty="0"/>
            </a:br>
            <a:r>
              <a:rPr lang="en-US" dirty="0"/>
              <a:t>  </a:t>
            </a:r>
            <a:r>
              <a:rPr lang="en-US" dirty="0">
                <a:solidFill>
                  <a:srgbClr val="0000CD"/>
                </a:solidFill>
                <a:effectLst/>
              </a:rPr>
              <a:t>&lt;</a:t>
            </a:r>
            <a:r>
              <a:rPr lang="en-US" dirty="0">
                <a:solidFill>
                  <a:srgbClr val="A52A2A"/>
                </a:solidFill>
                <a:effectLst/>
              </a:rPr>
              <a:t>a</a:t>
            </a:r>
            <a:r>
              <a:rPr lang="en-US" dirty="0">
                <a:solidFill>
                  <a:srgbClr val="FF0000"/>
                </a:solidFill>
                <a:effectLst/>
              </a:rPr>
              <a:t> </a:t>
            </a:r>
            <a:r>
              <a:rPr lang="en-US" dirty="0" err="1">
                <a:solidFill>
                  <a:srgbClr val="FF0000"/>
                </a:solidFill>
                <a:effectLst/>
              </a:rPr>
              <a:t>href</a:t>
            </a:r>
            <a:r>
              <a:rPr lang="en-US" dirty="0">
                <a:solidFill>
                  <a:srgbClr val="0000CD"/>
                </a:solidFill>
                <a:effectLst/>
              </a:rPr>
              <a:t>="#"</a:t>
            </a:r>
            <a:r>
              <a:rPr lang="en-US" dirty="0">
                <a:solidFill>
                  <a:srgbClr val="FF0000"/>
                </a:solidFill>
                <a:effectLst/>
              </a:rPr>
              <a:t> class</a:t>
            </a:r>
            <a:r>
              <a:rPr lang="en-US" dirty="0">
                <a:solidFill>
                  <a:srgbClr val="0000CD"/>
                </a:solidFill>
                <a:effectLst/>
              </a:rPr>
              <a:t>="list-group-item"&gt;</a:t>
            </a:r>
            <a:r>
              <a:rPr lang="en-US" dirty="0"/>
              <a:t>First item</a:t>
            </a:r>
            <a:r>
              <a:rPr lang="en-US" dirty="0">
                <a:solidFill>
                  <a:srgbClr val="0000CD"/>
                </a:solidFill>
                <a:effectLst/>
              </a:rPr>
              <a:t>&lt;</a:t>
            </a:r>
            <a:r>
              <a:rPr lang="en-US" dirty="0">
                <a:solidFill>
                  <a:srgbClr val="A52A2A"/>
                </a:solidFill>
                <a:effectLst/>
              </a:rPr>
              <a:t>/a</a:t>
            </a:r>
            <a:r>
              <a:rPr lang="en-US" dirty="0">
                <a:solidFill>
                  <a:srgbClr val="0000CD"/>
                </a:solidFill>
                <a:effectLst/>
              </a:rPr>
              <a:t>&gt;</a:t>
            </a:r>
            <a:br>
              <a:rPr lang="en-US" dirty="0"/>
            </a:br>
            <a:r>
              <a:rPr lang="en-US" dirty="0"/>
              <a:t>  </a:t>
            </a:r>
            <a:r>
              <a:rPr lang="en-US" dirty="0">
                <a:solidFill>
                  <a:srgbClr val="0000CD"/>
                </a:solidFill>
                <a:effectLst/>
              </a:rPr>
              <a:t>&lt;</a:t>
            </a:r>
            <a:r>
              <a:rPr lang="en-US" dirty="0">
                <a:solidFill>
                  <a:srgbClr val="A52A2A"/>
                </a:solidFill>
                <a:effectLst/>
              </a:rPr>
              <a:t>a</a:t>
            </a:r>
            <a:r>
              <a:rPr lang="en-US" dirty="0">
                <a:solidFill>
                  <a:srgbClr val="FF0000"/>
                </a:solidFill>
                <a:effectLst/>
              </a:rPr>
              <a:t> </a:t>
            </a:r>
            <a:r>
              <a:rPr lang="en-US" dirty="0" err="1">
                <a:solidFill>
                  <a:srgbClr val="FF0000"/>
                </a:solidFill>
                <a:effectLst/>
              </a:rPr>
              <a:t>href</a:t>
            </a:r>
            <a:r>
              <a:rPr lang="en-US" dirty="0">
                <a:solidFill>
                  <a:srgbClr val="0000CD"/>
                </a:solidFill>
                <a:effectLst/>
              </a:rPr>
              <a:t>="#"</a:t>
            </a:r>
            <a:r>
              <a:rPr lang="en-US" dirty="0">
                <a:solidFill>
                  <a:srgbClr val="FF0000"/>
                </a:solidFill>
                <a:effectLst/>
              </a:rPr>
              <a:t> class</a:t>
            </a:r>
            <a:r>
              <a:rPr lang="en-US" dirty="0">
                <a:solidFill>
                  <a:srgbClr val="0000CD"/>
                </a:solidFill>
                <a:effectLst/>
              </a:rPr>
              <a:t>="list-group-item"&gt;</a:t>
            </a:r>
            <a:r>
              <a:rPr lang="en-US" dirty="0"/>
              <a:t>Second item</a:t>
            </a:r>
            <a:r>
              <a:rPr lang="en-US" dirty="0">
                <a:solidFill>
                  <a:srgbClr val="0000CD"/>
                </a:solidFill>
                <a:effectLst/>
              </a:rPr>
              <a:t>&lt;</a:t>
            </a:r>
            <a:r>
              <a:rPr lang="en-US" dirty="0">
                <a:solidFill>
                  <a:srgbClr val="A52A2A"/>
                </a:solidFill>
                <a:effectLst/>
              </a:rPr>
              <a:t>/a</a:t>
            </a:r>
            <a:r>
              <a:rPr lang="en-US" dirty="0">
                <a:solidFill>
                  <a:srgbClr val="0000CD"/>
                </a:solidFill>
                <a:effectLst/>
              </a:rPr>
              <a:t>&gt;</a:t>
            </a:r>
            <a:br>
              <a:rPr lang="en-US" dirty="0"/>
            </a:br>
            <a:r>
              <a:rPr lang="en-US" dirty="0"/>
              <a:t>  </a:t>
            </a:r>
            <a:r>
              <a:rPr lang="en-US" dirty="0">
                <a:solidFill>
                  <a:srgbClr val="0000CD"/>
                </a:solidFill>
                <a:effectLst/>
              </a:rPr>
              <a:t>&lt;</a:t>
            </a:r>
            <a:r>
              <a:rPr lang="en-US" dirty="0">
                <a:solidFill>
                  <a:srgbClr val="A52A2A"/>
                </a:solidFill>
                <a:effectLst/>
              </a:rPr>
              <a:t>a</a:t>
            </a:r>
            <a:r>
              <a:rPr lang="en-US" dirty="0">
                <a:solidFill>
                  <a:srgbClr val="FF0000"/>
                </a:solidFill>
                <a:effectLst/>
              </a:rPr>
              <a:t> </a:t>
            </a:r>
            <a:r>
              <a:rPr lang="en-US" dirty="0" err="1">
                <a:solidFill>
                  <a:srgbClr val="FF0000"/>
                </a:solidFill>
                <a:effectLst/>
              </a:rPr>
              <a:t>href</a:t>
            </a:r>
            <a:r>
              <a:rPr lang="en-US" dirty="0">
                <a:solidFill>
                  <a:srgbClr val="0000CD"/>
                </a:solidFill>
                <a:effectLst/>
              </a:rPr>
              <a:t>="#"</a:t>
            </a:r>
            <a:r>
              <a:rPr lang="en-US" dirty="0">
                <a:solidFill>
                  <a:srgbClr val="FF0000"/>
                </a:solidFill>
                <a:effectLst/>
              </a:rPr>
              <a:t> class</a:t>
            </a:r>
            <a:r>
              <a:rPr lang="en-US" dirty="0">
                <a:solidFill>
                  <a:srgbClr val="0000CD"/>
                </a:solidFill>
                <a:effectLst/>
              </a:rPr>
              <a:t>="list-group-item"&gt;</a:t>
            </a:r>
            <a:r>
              <a:rPr lang="en-US" dirty="0"/>
              <a:t>Third item</a:t>
            </a:r>
            <a:r>
              <a:rPr lang="en-US" dirty="0">
                <a:solidFill>
                  <a:srgbClr val="0000CD"/>
                </a:solidFill>
                <a:effectLst/>
              </a:rPr>
              <a:t>&lt;</a:t>
            </a:r>
            <a:r>
              <a:rPr lang="en-US" dirty="0">
                <a:solidFill>
                  <a:srgbClr val="A52A2A"/>
                </a:solidFill>
                <a:effectLst/>
              </a:rPr>
              <a:t>/a</a:t>
            </a:r>
            <a:r>
              <a:rPr lang="en-US" dirty="0">
                <a:solidFill>
                  <a:srgbClr val="0000CD"/>
                </a:solidFill>
                <a:effectLst/>
              </a:rPr>
              <a:t>&gt;</a:t>
            </a:r>
            <a:br>
              <a:rPr lang="en-US" dirty="0"/>
            </a:br>
            <a:r>
              <a:rPr lang="en-US" dirty="0">
                <a:solidFill>
                  <a:srgbClr val="0000CD"/>
                </a:solidFill>
                <a:effectLst/>
              </a:rPr>
              <a:t>&lt;</a:t>
            </a:r>
            <a:r>
              <a:rPr lang="en-US" dirty="0">
                <a:solidFill>
                  <a:srgbClr val="A52A2A"/>
                </a:solidFill>
                <a:effectLst/>
              </a:rPr>
              <a:t>/div</a:t>
            </a:r>
            <a:r>
              <a:rPr lang="en-US" dirty="0">
                <a:solidFill>
                  <a:srgbClr val="0000CD"/>
                </a:solidFill>
                <a:effectLst/>
              </a:rPr>
              <a:t>&gt;</a:t>
            </a:r>
            <a:r>
              <a:rPr lang="en-US" dirty="0"/>
              <a:t> </a:t>
            </a:r>
          </a:p>
          <a:p>
            <a:r>
              <a:rPr lang="en-US" dirty="0"/>
              <a:t>To create a list group with linked items, use &lt;div&gt; instead of &lt;</a:t>
            </a:r>
            <a:r>
              <a:rPr lang="en-US" dirty="0" err="1"/>
              <a:t>ul</a:t>
            </a:r>
            <a:r>
              <a:rPr lang="en-US" dirty="0"/>
              <a:t>&gt; and &lt;a&gt; instead of &lt;li&gt;</a:t>
            </a:r>
            <a:br>
              <a:rPr lang="en-US" dirty="0"/>
            </a:br>
            <a:endParaRPr lang="en-IN" dirty="0"/>
          </a:p>
        </p:txBody>
      </p:sp>
    </p:spTree>
    <p:extLst>
      <p:ext uri="{BB962C8B-B14F-4D97-AF65-F5344CB8AC3E}">
        <p14:creationId xmlns:p14="http://schemas.microsoft.com/office/powerpoint/2010/main" val="367661333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9C02B-2642-9A49-4B11-0DC7101524F5}"/>
              </a:ext>
            </a:extLst>
          </p:cNvPr>
          <p:cNvSpPr>
            <a:spLocks noGrp="1"/>
          </p:cNvSpPr>
          <p:nvPr>
            <p:ph type="title"/>
          </p:nvPr>
        </p:nvSpPr>
        <p:spPr/>
        <p:txBody>
          <a:bodyPr/>
          <a:lstStyle/>
          <a:p>
            <a:r>
              <a:rPr lang="en-IN" b="1" dirty="0"/>
              <a:t>Active State</a:t>
            </a:r>
            <a:br>
              <a:rPr lang="en-IN" b="1" dirty="0"/>
            </a:br>
            <a:endParaRPr lang="en-IN" dirty="0"/>
          </a:p>
        </p:txBody>
      </p:sp>
      <p:sp>
        <p:nvSpPr>
          <p:cNvPr id="3" name="Content Placeholder 2">
            <a:extLst>
              <a:ext uri="{FF2B5EF4-FFF2-40B4-BE49-F238E27FC236}">
                <a16:creationId xmlns:a16="http://schemas.microsoft.com/office/drawing/2014/main" id="{4B5D8984-302C-0E4A-C885-34A84C5F64A0}"/>
              </a:ext>
            </a:extLst>
          </p:cNvPr>
          <p:cNvSpPr>
            <a:spLocks noGrp="1"/>
          </p:cNvSpPr>
          <p:nvPr>
            <p:ph idx="1"/>
          </p:nvPr>
        </p:nvSpPr>
        <p:spPr/>
        <p:txBody>
          <a:bodyPr/>
          <a:lstStyle/>
          <a:p>
            <a:r>
              <a:rPr lang="en-US" dirty="0"/>
              <a:t>Use the .active class to highlight the current item:</a:t>
            </a:r>
          </a:p>
          <a:p>
            <a:pPr marL="0" indent="0">
              <a:buNone/>
            </a:pPr>
            <a:r>
              <a:rPr lang="en-US" dirty="0"/>
              <a:t>&lt;</a:t>
            </a:r>
            <a:r>
              <a:rPr lang="en-US" dirty="0" err="1"/>
              <a:t>ul</a:t>
            </a:r>
            <a:r>
              <a:rPr lang="en-US" dirty="0"/>
              <a:t> class="list-group"&gt;</a:t>
            </a:r>
          </a:p>
          <a:p>
            <a:pPr marL="0" indent="0">
              <a:buNone/>
            </a:pPr>
            <a:r>
              <a:rPr lang="en-US" dirty="0"/>
              <a:t>  &lt;li class="list-group-item active"&gt;Cras </a:t>
            </a:r>
            <a:r>
              <a:rPr lang="en-US" dirty="0" err="1"/>
              <a:t>justo</a:t>
            </a:r>
            <a:r>
              <a:rPr lang="en-US" dirty="0"/>
              <a:t> </a:t>
            </a:r>
            <a:r>
              <a:rPr lang="en-US" dirty="0" err="1"/>
              <a:t>odio</a:t>
            </a:r>
            <a:r>
              <a:rPr lang="en-US" dirty="0"/>
              <a:t>&lt;/li&gt;</a:t>
            </a:r>
          </a:p>
          <a:p>
            <a:pPr marL="0" indent="0">
              <a:buNone/>
            </a:pPr>
            <a:r>
              <a:rPr lang="en-US" dirty="0"/>
              <a:t>&lt;/</a:t>
            </a:r>
            <a:r>
              <a:rPr lang="en-US" dirty="0" err="1"/>
              <a:t>uI</a:t>
            </a:r>
            <a:r>
              <a:rPr lang="en-US" dirty="0"/>
              <a:t>&gt;</a:t>
            </a:r>
          </a:p>
          <a:p>
            <a:pPr marL="0" indent="0">
              <a:buNone/>
            </a:pPr>
            <a:r>
              <a:rPr lang="en-IN" b="1" u="sng" dirty="0"/>
              <a:t>Disabled item</a:t>
            </a:r>
          </a:p>
          <a:p>
            <a:pPr marL="0" indent="0">
              <a:buNone/>
            </a:pPr>
            <a:r>
              <a:rPr lang="en-US" dirty="0"/>
              <a:t>To disable an item, add the </a:t>
            </a:r>
            <a:r>
              <a:rPr lang="en-US" b="1" dirty="0"/>
              <a:t>.disabled </a:t>
            </a:r>
            <a:r>
              <a:rPr lang="en-US" dirty="0"/>
              <a:t>class:</a:t>
            </a:r>
          </a:p>
          <a:p>
            <a:pPr marL="0" indent="0">
              <a:buNone/>
            </a:pPr>
            <a:r>
              <a:rPr lang="en-US" dirty="0"/>
              <a:t> &lt;li class="list-group-item disabled"&gt;Cras </a:t>
            </a:r>
            <a:r>
              <a:rPr lang="en-US" dirty="0" err="1"/>
              <a:t>justo</a:t>
            </a:r>
            <a:r>
              <a:rPr lang="en-US" dirty="0"/>
              <a:t> </a:t>
            </a:r>
            <a:r>
              <a:rPr lang="en-US" dirty="0" err="1"/>
              <a:t>odio</a:t>
            </a:r>
            <a:r>
              <a:rPr lang="en-US" dirty="0"/>
              <a:t>&lt;/li&gt;</a:t>
            </a:r>
            <a:endParaRPr lang="en-IN" dirty="0"/>
          </a:p>
        </p:txBody>
      </p:sp>
    </p:spTree>
    <p:extLst>
      <p:ext uri="{BB962C8B-B14F-4D97-AF65-F5344CB8AC3E}">
        <p14:creationId xmlns:p14="http://schemas.microsoft.com/office/powerpoint/2010/main" val="19160920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E2873-4356-456D-A1E8-EE3879FB1C40}"/>
              </a:ext>
            </a:extLst>
          </p:cNvPr>
          <p:cNvSpPr>
            <a:spLocks noGrp="1"/>
          </p:cNvSpPr>
          <p:nvPr>
            <p:ph type="title"/>
          </p:nvPr>
        </p:nvSpPr>
        <p:spPr/>
        <p:txBody>
          <a:bodyPr/>
          <a:lstStyle/>
          <a:p>
            <a:r>
              <a:rPr lang="en-IN" b="1" dirty="0"/>
              <a:t>Buttons</a:t>
            </a:r>
            <a:br>
              <a:rPr lang="en-IN" b="1" dirty="0"/>
            </a:br>
            <a:endParaRPr lang="en-IN" dirty="0"/>
          </a:p>
        </p:txBody>
      </p:sp>
      <p:sp>
        <p:nvSpPr>
          <p:cNvPr id="3" name="Content Placeholder 2">
            <a:extLst>
              <a:ext uri="{FF2B5EF4-FFF2-40B4-BE49-F238E27FC236}">
                <a16:creationId xmlns:a16="http://schemas.microsoft.com/office/drawing/2014/main" id="{04A30F59-C13E-49A8-DF94-CE7068389342}"/>
              </a:ext>
            </a:extLst>
          </p:cNvPr>
          <p:cNvSpPr>
            <a:spLocks noGrp="1"/>
          </p:cNvSpPr>
          <p:nvPr>
            <p:ph idx="1"/>
          </p:nvPr>
        </p:nvSpPr>
        <p:spPr/>
        <p:txBody>
          <a:bodyPr>
            <a:normAutofit fontScale="85000" lnSpcReduction="20000"/>
          </a:bodyPr>
          <a:lstStyle/>
          <a:p>
            <a:r>
              <a:rPr lang="en-US" dirty="0"/>
              <a:t>With &lt;button&gt;s, you can also make use of the disabled attribute instead of the .disabled class</a:t>
            </a:r>
          </a:p>
          <a:p>
            <a:pPr marL="0" indent="0">
              <a:buNone/>
            </a:pPr>
            <a:r>
              <a:rPr lang="en-US" b="1" dirty="0"/>
              <a:t>&lt;div class="list-group"&gt;</a:t>
            </a:r>
          </a:p>
          <a:p>
            <a:pPr marL="0" indent="0">
              <a:buNone/>
            </a:pPr>
            <a:r>
              <a:rPr lang="en-US" b="1" dirty="0"/>
              <a:t>  &lt;button type="button" class="list-group-item list-group-item-action active" aria-current="true"&gt;</a:t>
            </a:r>
          </a:p>
          <a:p>
            <a:pPr marL="0" indent="0">
              <a:buNone/>
            </a:pPr>
            <a:r>
              <a:rPr lang="en-US" b="1" dirty="0"/>
              <a:t>    The current button</a:t>
            </a:r>
          </a:p>
          <a:p>
            <a:pPr marL="0" indent="0">
              <a:buNone/>
            </a:pPr>
            <a:r>
              <a:rPr lang="en-US" b="1" dirty="0"/>
              <a:t>  &lt;/button&gt;</a:t>
            </a:r>
          </a:p>
          <a:p>
            <a:pPr marL="0" indent="0">
              <a:buNone/>
            </a:pPr>
            <a:r>
              <a:rPr lang="en-US" b="1" dirty="0"/>
              <a:t>&lt;button type="button" class="list-group-item list-group-item-action"&gt;A fourth button item&lt;/button&gt;</a:t>
            </a:r>
          </a:p>
          <a:p>
            <a:pPr marL="0" indent="0">
              <a:buNone/>
            </a:pPr>
            <a:r>
              <a:rPr lang="en-US" b="1" dirty="0"/>
              <a:t>  &lt;button type="button" class="list-group-item list-group-item-action" disabled&gt;A disabled button item&lt;/button&gt;</a:t>
            </a:r>
          </a:p>
          <a:p>
            <a:pPr marL="0" indent="0">
              <a:buNone/>
            </a:pPr>
            <a:r>
              <a:rPr lang="en-US" b="1" dirty="0"/>
              <a:t>&lt;/div&gt;</a:t>
            </a:r>
            <a:endParaRPr lang="en-IN" b="1" dirty="0"/>
          </a:p>
        </p:txBody>
      </p:sp>
    </p:spTree>
    <p:extLst>
      <p:ext uri="{BB962C8B-B14F-4D97-AF65-F5344CB8AC3E}">
        <p14:creationId xmlns:p14="http://schemas.microsoft.com/office/powerpoint/2010/main" val="26649096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148EC-AD34-1CA4-6D97-108B597CB65D}"/>
              </a:ext>
            </a:extLst>
          </p:cNvPr>
          <p:cNvSpPr>
            <a:spLocks noGrp="1"/>
          </p:cNvSpPr>
          <p:nvPr>
            <p:ph type="title"/>
          </p:nvPr>
        </p:nvSpPr>
        <p:spPr/>
        <p:txBody>
          <a:bodyPr/>
          <a:lstStyle/>
          <a:p>
            <a:r>
              <a:rPr lang="en-IN" b="1" dirty="0"/>
              <a:t>Flush</a:t>
            </a:r>
            <a:br>
              <a:rPr lang="en-IN" b="1" dirty="0"/>
            </a:br>
            <a:endParaRPr lang="en-IN" dirty="0"/>
          </a:p>
        </p:txBody>
      </p:sp>
      <p:sp>
        <p:nvSpPr>
          <p:cNvPr id="3" name="Content Placeholder 2">
            <a:extLst>
              <a:ext uri="{FF2B5EF4-FFF2-40B4-BE49-F238E27FC236}">
                <a16:creationId xmlns:a16="http://schemas.microsoft.com/office/drawing/2014/main" id="{713AF0FE-0AF5-D7DA-38BB-C6069F663546}"/>
              </a:ext>
            </a:extLst>
          </p:cNvPr>
          <p:cNvSpPr>
            <a:spLocks noGrp="1"/>
          </p:cNvSpPr>
          <p:nvPr>
            <p:ph idx="1"/>
          </p:nvPr>
        </p:nvSpPr>
        <p:spPr/>
        <p:txBody>
          <a:bodyPr/>
          <a:lstStyle/>
          <a:p>
            <a:r>
              <a:rPr lang="en-US" dirty="0"/>
              <a:t>Add .list-group-flush to remove some borders and rounded corners to render list group items edge-to-edge in a parent container</a:t>
            </a:r>
          </a:p>
          <a:p>
            <a:pPr marL="0" indent="0">
              <a:buNone/>
            </a:pPr>
            <a:r>
              <a:rPr lang="en-IN" dirty="0"/>
              <a:t>&lt;</a:t>
            </a:r>
            <a:r>
              <a:rPr lang="en-IN" dirty="0" err="1"/>
              <a:t>ul</a:t>
            </a:r>
            <a:r>
              <a:rPr lang="en-IN" dirty="0"/>
              <a:t> class="list-group list-group-flush"&gt;</a:t>
            </a:r>
          </a:p>
          <a:p>
            <a:pPr marL="0" indent="0">
              <a:buNone/>
            </a:pPr>
            <a:r>
              <a:rPr lang="en-IN" b="1" u="sng" dirty="0"/>
              <a:t>Contextual Classes</a:t>
            </a:r>
          </a:p>
          <a:p>
            <a:pPr marL="0" indent="0">
              <a:buNone/>
            </a:pPr>
            <a:r>
              <a:rPr lang="en-US" dirty="0"/>
              <a:t>Contextual classes can be used to color list items:</a:t>
            </a:r>
          </a:p>
          <a:p>
            <a:pPr marL="0" indent="0">
              <a:buNone/>
            </a:pPr>
            <a:r>
              <a:rPr lang="en-US" dirty="0"/>
              <a:t>The classes for coloring list-items are: .</a:t>
            </a:r>
            <a:r>
              <a:rPr lang="en-US" b="1" dirty="0"/>
              <a:t>list-group-item-success, list-group-item-info, list-group-item-warning, and .list-group-item-danger</a:t>
            </a:r>
            <a:r>
              <a:rPr lang="en-US" dirty="0"/>
              <a:t>:</a:t>
            </a:r>
          </a:p>
          <a:p>
            <a:pPr marL="0" indent="0">
              <a:buNone/>
            </a:pPr>
            <a:r>
              <a:rPr lang="en-US" i="1" dirty="0"/>
              <a:t>And all the contextual classes defined in tables</a:t>
            </a:r>
            <a:endParaRPr lang="en-IN" i="1" dirty="0"/>
          </a:p>
        </p:txBody>
      </p:sp>
    </p:spTree>
    <p:extLst>
      <p:ext uri="{BB962C8B-B14F-4D97-AF65-F5344CB8AC3E}">
        <p14:creationId xmlns:p14="http://schemas.microsoft.com/office/powerpoint/2010/main" val="29411798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9C1D3-617C-2A64-1567-BBEB7CF641DE}"/>
              </a:ext>
            </a:extLst>
          </p:cNvPr>
          <p:cNvSpPr>
            <a:spLocks noGrp="1"/>
          </p:cNvSpPr>
          <p:nvPr>
            <p:ph type="title"/>
          </p:nvPr>
        </p:nvSpPr>
        <p:spPr/>
        <p:txBody>
          <a:bodyPr/>
          <a:lstStyle/>
          <a:p>
            <a:r>
              <a:rPr lang="en-IN" b="1" dirty="0"/>
              <a:t>Custom content</a:t>
            </a:r>
            <a:br>
              <a:rPr lang="en-IN" b="1" dirty="0"/>
            </a:br>
            <a:endParaRPr lang="en-IN" dirty="0"/>
          </a:p>
        </p:txBody>
      </p:sp>
      <p:sp>
        <p:nvSpPr>
          <p:cNvPr id="3" name="Content Placeholder 2">
            <a:extLst>
              <a:ext uri="{FF2B5EF4-FFF2-40B4-BE49-F238E27FC236}">
                <a16:creationId xmlns:a16="http://schemas.microsoft.com/office/drawing/2014/main" id="{EA233158-7007-E178-7CEA-0FA9CD410037}"/>
              </a:ext>
            </a:extLst>
          </p:cNvPr>
          <p:cNvSpPr>
            <a:spLocks noGrp="1"/>
          </p:cNvSpPr>
          <p:nvPr>
            <p:ph idx="1"/>
          </p:nvPr>
        </p:nvSpPr>
        <p:spPr/>
        <p:txBody>
          <a:bodyPr>
            <a:normAutofit fontScale="92500"/>
          </a:bodyPr>
          <a:lstStyle/>
          <a:p>
            <a:r>
              <a:rPr lang="en-US" dirty="0"/>
              <a:t>Bootstrap provides the classes .</a:t>
            </a:r>
            <a:r>
              <a:rPr lang="en-US" b="1" dirty="0"/>
              <a:t>list-group-item-heading and .list-group-item-text </a:t>
            </a:r>
            <a:r>
              <a:rPr lang="en-US" dirty="0"/>
              <a:t>which can be used as follows: </a:t>
            </a:r>
          </a:p>
          <a:p>
            <a:r>
              <a:rPr lang="en-US" dirty="0"/>
              <a:t>&lt;div class="list-group"&gt;</a:t>
            </a:r>
          </a:p>
          <a:p>
            <a:r>
              <a:rPr lang="en-US" dirty="0"/>
              <a:t>  &lt;a </a:t>
            </a:r>
            <a:r>
              <a:rPr lang="en-US" dirty="0" err="1"/>
              <a:t>href</a:t>
            </a:r>
            <a:r>
              <a:rPr lang="en-US" dirty="0"/>
              <a:t>="#" class="list-group-item active"&gt;</a:t>
            </a:r>
          </a:p>
          <a:p>
            <a:r>
              <a:rPr lang="en-US" dirty="0"/>
              <a:t>    &lt;h4 class="list-group-item-heading"&gt;First List Group Item Heading&lt;/h4&gt;</a:t>
            </a:r>
          </a:p>
          <a:p>
            <a:r>
              <a:rPr lang="en-US" dirty="0"/>
              <a:t>    &lt;p class="list-group-item-text"&gt;List Group Item Text&lt;/p&gt;</a:t>
            </a:r>
          </a:p>
          <a:p>
            <a:r>
              <a:rPr lang="en-US" dirty="0"/>
              <a:t>  &lt;/a&gt;</a:t>
            </a:r>
          </a:p>
          <a:p>
            <a:r>
              <a:rPr lang="en-US" dirty="0"/>
              <a:t>………….</a:t>
            </a:r>
          </a:p>
          <a:p>
            <a:r>
              <a:rPr lang="en-US" dirty="0"/>
              <a:t>&lt;/div&gt; </a:t>
            </a:r>
          </a:p>
          <a:p>
            <a:endParaRPr lang="en-US" dirty="0"/>
          </a:p>
          <a:p>
            <a:endParaRPr lang="en-IN" dirty="0"/>
          </a:p>
        </p:txBody>
      </p:sp>
      <p:pic>
        <p:nvPicPr>
          <p:cNvPr id="8" name="Picture 7">
            <a:extLst>
              <a:ext uri="{FF2B5EF4-FFF2-40B4-BE49-F238E27FC236}">
                <a16:creationId xmlns:a16="http://schemas.microsoft.com/office/drawing/2014/main" id="{0CD4A85B-77DE-ED84-083E-4BD62705CCE5}"/>
              </a:ext>
            </a:extLst>
          </p:cNvPr>
          <p:cNvPicPr>
            <a:picLocks noChangeAspect="1"/>
          </p:cNvPicPr>
          <p:nvPr/>
        </p:nvPicPr>
        <p:blipFill>
          <a:blip r:embed="rId2"/>
          <a:stretch>
            <a:fillRect/>
          </a:stretch>
        </p:blipFill>
        <p:spPr>
          <a:xfrm>
            <a:off x="6296979" y="4571681"/>
            <a:ext cx="3943900" cy="2286319"/>
          </a:xfrm>
          <a:prstGeom prst="rect">
            <a:avLst/>
          </a:prstGeom>
        </p:spPr>
      </p:pic>
    </p:spTree>
    <p:extLst>
      <p:ext uri="{BB962C8B-B14F-4D97-AF65-F5344CB8AC3E}">
        <p14:creationId xmlns:p14="http://schemas.microsoft.com/office/powerpoint/2010/main" val="14029468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BD9F6-A9DC-0829-B5D8-6902EF926976}"/>
              </a:ext>
            </a:extLst>
          </p:cNvPr>
          <p:cNvSpPr>
            <a:spLocks noGrp="1"/>
          </p:cNvSpPr>
          <p:nvPr>
            <p:ph type="title"/>
          </p:nvPr>
        </p:nvSpPr>
        <p:spPr/>
        <p:txBody>
          <a:bodyPr/>
          <a:lstStyle/>
          <a:p>
            <a:r>
              <a:rPr lang="en-IN" b="1" dirty="0" err="1"/>
              <a:t>Unstyled</a:t>
            </a:r>
            <a:br>
              <a:rPr lang="en-IN" b="1" dirty="0"/>
            </a:br>
            <a:endParaRPr lang="en-IN" dirty="0"/>
          </a:p>
        </p:txBody>
      </p:sp>
      <p:sp>
        <p:nvSpPr>
          <p:cNvPr id="3" name="Content Placeholder 2">
            <a:extLst>
              <a:ext uri="{FF2B5EF4-FFF2-40B4-BE49-F238E27FC236}">
                <a16:creationId xmlns:a16="http://schemas.microsoft.com/office/drawing/2014/main" id="{D9F029DB-23A6-CC6D-5892-FFBC3F69B4BF}"/>
              </a:ext>
            </a:extLst>
          </p:cNvPr>
          <p:cNvSpPr>
            <a:spLocks noGrp="1"/>
          </p:cNvSpPr>
          <p:nvPr>
            <p:ph idx="1"/>
          </p:nvPr>
        </p:nvSpPr>
        <p:spPr/>
        <p:txBody>
          <a:bodyPr/>
          <a:lstStyle/>
          <a:p>
            <a:pPr>
              <a:buFont typeface="Arial" panose="020B0604020202020204" pitchFamily="34" charset="0"/>
              <a:buChar char="•"/>
            </a:pPr>
            <a:r>
              <a:rPr lang="en-US" dirty="0"/>
              <a:t>This is a list and it appears completely unstyled.</a:t>
            </a:r>
          </a:p>
          <a:p>
            <a:pPr>
              <a:buFont typeface="Arial" panose="020B0604020202020204" pitchFamily="34" charset="0"/>
              <a:buChar char="•"/>
            </a:pPr>
            <a:r>
              <a:rPr lang="en-US" dirty="0"/>
              <a:t>Structurally, it's still a </a:t>
            </a:r>
            <a:r>
              <a:rPr lang="en-US" dirty="0" err="1"/>
              <a:t>list.However</a:t>
            </a:r>
            <a:r>
              <a:rPr lang="en-US" dirty="0"/>
              <a:t>, this style only applies to immediate child elements.</a:t>
            </a:r>
          </a:p>
          <a:p>
            <a:pPr>
              <a:buFont typeface="Arial" panose="020B0604020202020204" pitchFamily="34" charset="0"/>
              <a:buChar char="•"/>
            </a:pPr>
            <a:r>
              <a:rPr lang="en-US" dirty="0"/>
              <a:t>Nested lists: </a:t>
            </a:r>
          </a:p>
          <a:p>
            <a:pPr marL="742950" lvl="1" indent="-285750">
              <a:buFont typeface="Arial" panose="020B0604020202020204" pitchFamily="34" charset="0"/>
              <a:buChar char="•"/>
            </a:pPr>
            <a:r>
              <a:rPr lang="en-US" dirty="0"/>
              <a:t>are unaffected by this style</a:t>
            </a:r>
          </a:p>
          <a:p>
            <a:pPr marL="742950" lvl="1" indent="-285750">
              <a:buFont typeface="Arial" panose="020B0604020202020204" pitchFamily="34" charset="0"/>
              <a:buChar char="•"/>
            </a:pPr>
            <a:r>
              <a:rPr lang="en-US" dirty="0"/>
              <a:t>will still show a bullet</a:t>
            </a:r>
          </a:p>
          <a:p>
            <a:pPr marL="742950" lvl="1" indent="-285750">
              <a:buFont typeface="Arial" panose="020B0604020202020204" pitchFamily="34" charset="0"/>
              <a:buChar char="•"/>
            </a:pPr>
            <a:r>
              <a:rPr lang="en-US" dirty="0"/>
              <a:t>and have appropriate left margin</a:t>
            </a:r>
          </a:p>
          <a:p>
            <a:r>
              <a:rPr lang="en-IN" dirty="0"/>
              <a:t>&lt;</a:t>
            </a:r>
            <a:r>
              <a:rPr lang="en-IN" dirty="0" err="1"/>
              <a:t>ul</a:t>
            </a:r>
            <a:r>
              <a:rPr lang="en-IN" dirty="0"/>
              <a:t> class="list-unstyled"&gt;</a:t>
            </a:r>
          </a:p>
        </p:txBody>
      </p:sp>
    </p:spTree>
    <p:extLst>
      <p:ext uri="{BB962C8B-B14F-4D97-AF65-F5344CB8AC3E}">
        <p14:creationId xmlns:p14="http://schemas.microsoft.com/office/powerpoint/2010/main" val="10424982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25C4B-509E-BF13-B066-EBF3EC50F69B}"/>
              </a:ext>
            </a:extLst>
          </p:cNvPr>
          <p:cNvSpPr>
            <a:spLocks noGrp="1"/>
          </p:cNvSpPr>
          <p:nvPr>
            <p:ph type="title"/>
          </p:nvPr>
        </p:nvSpPr>
        <p:spPr/>
        <p:txBody>
          <a:bodyPr/>
          <a:lstStyle/>
          <a:p>
            <a:r>
              <a:rPr lang="en-US" dirty="0"/>
              <a:t>Inline</a:t>
            </a:r>
            <a:br>
              <a:rPr lang="en-US" dirty="0"/>
            </a:br>
            <a:endParaRPr lang="en-IN" dirty="0"/>
          </a:p>
        </p:txBody>
      </p:sp>
      <p:sp>
        <p:nvSpPr>
          <p:cNvPr id="3" name="Content Placeholder 2">
            <a:extLst>
              <a:ext uri="{FF2B5EF4-FFF2-40B4-BE49-F238E27FC236}">
                <a16:creationId xmlns:a16="http://schemas.microsoft.com/office/drawing/2014/main" id="{6594E4B7-7617-0763-8935-F9E0C73D8569}"/>
              </a:ext>
            </a:extLst>
          </p:cNvPr>
          <p:cNvSpPr>
            <a:spLocks noGrp="1"/>
          </p:cNvSpPr>
          <p:nvPr>
            <p:ph idx="1"/>
          </p:nvPr>
        </p:nvSpPr>
        <p:spPr/>
        <p:txBody>
          <a:bodyPr/>
          <a:lstStyle/>
          <a:p>
            <a:r>
              <a:rPr lang="en-US" dirty="0"/>
              <a:t>Remove a list’s bullets and apply some light margin with a combination of two classes, .</a:t>
            </a:r>
            <a:r>
              <a:rPr lang="en-US" b="1" dirty="0"/>
              <a:t>list-inline and .list-inline-item</a:t>
            </a:r>
            <a:r>
              <a:rPr lang="en-US" dirty="0"/>
              <a:t>.</a:t>
            </a:r>
          </a:p>
          <a:p>
            <a:r>
              <a:rPr lang="en-US" dirty="0"/>
              <a:t> &lt;</a:t>
            </a:r>
            <a:r>
              <a:rPr lang="en-US" dirty="0" err="1"/>
              <a:t>ul</a:t>
            </a:r>
            <a:r>
              <a:rPr lang="en-US" dirty="0"/>
              <a:t> class="list-inline"&gt;</a:t>
            </a:r>
          </a:p>
          <a:p>
            <a:pPr marL="0" indent="0">
              <a:buNone/>
            </a:pPr>
            <a:r>
              <a:rPr lang="en-US" dirty="0"/>
              <a:t>  &lt;li class="list-inline-item"&gt;This is a list item.&lt;/li&gt;</a:t>
            </a:r>
          </a:p>
          <a:p>
            <a:pPr marL="0" indent="0">
              <a:buNone/>
            </a:pPr>
            <a:r>
              <a:rPr lang="en-US" dirty="0"/>
              <a:t>  &lt;li class="list-inline-item"&gt;And another one.&lt;/li&gt;</a:t>
            </a:r>
          </a:p>
          <a:p>
            <a:pPr marL="0" indent="0">
              <a:buNone/>
            </a:pPr>
            <a:r>
              <a:rPr lang="en-US" dirty="0"/>
              <a:t>  &lt;li class="list-inline-item"&gt;But they're displayed inline.&lt;/li&gt;</a:t>
            </a:r>
          </a:p>
          <a:p>
            <a:pPr marL="0" indent="0">
              <a:buNone/>
            </a:pPr>
            <a:r>
              <a:rPr lang="en-US" dirty="0"/>
              <a:t>&lt;/</a:t>
            </a:r>
            <a:r>
              <a:rPr lang="en-US" dirty="0" err="1"/>
              <a:t>ul</a:t>
            </a:r>
            <a:r>
              <a:rPr lang="en-US" dirty="0"/>
              <a:t>&gt;</a:t>
            </a:r>
          </a:p>
          <a:p>
            <a:endParaRPr lang="en-IN" dirty="0"/>
          </a:p>
        </p:txBody>
      </p:sp>
      <p:pic>
        <p:nvPicPr>
          <p:cNvPr id="7" name="Picture 6">
            <a:extLst>
              <a:ext uri="{FF2B5EF4-FFF2-40B4-BE49-F238E27FC236}">
                <a16:creationId xmlns:a16="http://schemas.microsoft.com/office/drawing/2014/main" id="{D63CE540-AFDA-3429-8A23-E1D64182A4C1}"/>
              </a:ext>
            </a:extLst>
          </p:cNvPr>
          <p:cNvPicPr>
            <a:picLocks noChangeAspect="1"/>
          </p:cNvPicPr>
          <p:nvPr/>
        </p:nvPicPr>
        <p:blipFill>
          <a:blip r:embed="rId2"/>
          <a:stretch>
            <a:fillRect/>
          </a:stretch>
        </p:blipFill>
        <p:spPr>
          <a:xfrm>
            <a:off x="2599093" y="4958463"/>
            <a:ext cx="6639852" cy="952633"/>
          </a:xfrm>
          <a:prstGeom prst="rect">
            <a:avLst/>
          </a:prstGeom>
        </p:spPr>
      </p:pic>
    </p:spTree>
    <p:extLst>
      <p:ext uri="{BB962C8B-B14F-4D97-AF65-F5344CB8AC3E}">
        <p14:creationId xmlns:p14="http://schemas.microsoft.com/office/powerpoint/2010/main" val="2628566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B4477-750A-F7A5-78B2-41BA20CE6020}"/>
              </a:ext>
            </a:extLst>
          </p:cNvPr>
          <p:cNvSpPr>
            <a:spLocks noGrp="1"/>
          </p:cNvSpPr>
          <p:nvPr>
            <p:ph type="title"/>
          </p:nvPr>
        </p:nvSpPr>
        <p:spPr/>
        <p:txBody>
          <a:bodyPr/>
          <a:lstStyle/>
          <a:p>
            <a:r>
              <a:rPr lang="en-IN" b="1" dirty="0"/>
              <a:t>Numbered</a:t>
            </a:r>
            <a:br>
              <a:rPr lang="en-IN" b="1" dirty="0"/>
            </a:br>
            <a:endParaRPr lang="en-IN" dirty="0"/>
          </a:p>
        </p:txBody>
      </p:sp>
      <p:sp>
        <p:nvSpPr>
          <p:cNvPr id="3" name="Content Placeholder 2">
            <a:extLst>
              <a:ext uri="{FF2B5EF4-FFF2-40B4-BE49-F238E27FC236}">
                <a16:creationId xmlns:a16="http://schemas.microsoft.com/office/drawing/2014/main" id="{FBC5085A-7312-39E4-1337-3EDDDFC22D97}"/>
              </a:ext>
            </a:extLst>
          </p:cNvPr>
          <p:cNvSpPr>
            <a:spLocks noGrp="1"/>
          </p:cNvSpPr>
          <p:nvPr>
            <p:ph idx="1"/>
          </p:nvPr>
        </p:nvSpPr>
        <p:spPr/>
        <p:txBody>
          <a:bodyPr/>
          <a:lstStyle/>
          <a:p>
            <a:r>
              <a:rPr lang="en-US" dirty="0"/>
              <a:t>Add the .list-group-numbered modifier class (and optionally use an &lt;</a:t>
            </a:r>
            <a:r>
              <a:rPr lang="en-US" dirty="0" err="1"/>
              <a:t>ol</a:t>
            </a:r>
            <a:r>
              <a:rPr lang="en-US" dirty="0"/>
              <a:t>&gt; element) to opt into numbered list group item</a:t>
            </a:r>
          </a:p>
          <a:p>
            <a:pPr marL="0" indent="0">
              <a:buNone/>
            </a:pPr>
            <a:endParaRPr lang="en-IN" dirty="0"/>
          </a:p>
          <a:p>
            <a:pPr marL="0" indent="0">
              <a:buNone/>
            </a:pPr>
            <a:r>
              <a:rPr lang="en-IN" dirty="0"/>
              <a:t>&lt;</a:t>
            </a:r>
            <a:r>
              <a:rPr lang="en-IN" dirty="0" err="1"/>
              <a:t>ol</a:t>
            </a:r>
            <a:r>
              <a:rPr lang="en-IN" dirty="0"/>
              <a:t> class="list-group list-group-numbered"&gt;</a:t>
            </a:r>
          </a:p>
        </p:txBody>
      </p:sp>
    </p:spTree>
    <p:extLst>
      <p:ext uri="{BB962C8B-B14F-4D97-AF65-F5344CB8AC3E}">
        <p14:creationId xmlns:p14="http://schemas.microsoft.com/office/powerpoint/2010/main" val="30585494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1525B-18FE-7561-3025-0E5C089A4594}"/>
              </a:ext>
            </a:extLst>
          </p:cNvPr>
          <p:cNvSpPr>
            <a:spLocks noGrp="1"/>
          </p:cNvSpPr>
          <p:nvPr>
            <p:ph type="title"/>
          </p:nvPr>
        </p:nvSpPr>
        <p:spPr/>
        <p:txBody>
          <a:bodyPr/>
          <a:lstStyle/>
          <a:p>
            <a:r>
              <a:rPr lang="en-IN" b="1" dirty="0"/>
              <a:t>Checkboxes and radios</a:t>
            </a:r>
            <a:br>
              <a:rPr lang="en-IN" b="1" dirty="0"/>
            </a:br>
            <a:endParaRPr lang="en-IN" dirty="0"/>
          </a:p>
        </p:txBody>
      </p:sp>
      <p:sp>
        <p:nvSpPr>
          <p:cNvPr id="3" name="Content Placeholder 2">
            <a:extLst>
              <a:ext uri="{FF2B5EF4-FFF2-40B4-BE49-F238E27FC236}">
                <a16:creationId xmlns:a16="http://schemas.microsoft.com/office/drawing/2014/main" id="{3A69E362-A486-A492-9D94-7728A2122A08}"/>
              </a:ext>
            </a:extLst>
          </p:cNvPr>
          <p:cNvSpPr>
            <a:spLocks noGrp="1"/>
          </p:cNvSpPr>
          <p:nvPr>
            <p:ph idx="1"/>
          </p:nvPr>
        </p:nvSpPr>
        <p:spPr/>
        <p:txBody>
          <a:bodyPr/>
          <a:lstStyle/>
          <a:p>
            <a:pPr marL="0" indent="0">
              <a:buNone/>
            </a:pPr>
            <a:r>
              <a:rPr lang="en-US" dirty="0"/>
              <a:t>Place Bootstrap’s checkboxes and radios within list group items and customize as needed. You can use them without &lt;label&gt;s, but please remember to include an aria-label attribute and value for accessibility.</a:t>
            </a:r>
          </a:p>
          <a:p>
            <a:pPr marL="0" indent="0">
              <a:buNone/>
            </a:pPr>
            <a:r>
              <a:rPr lang="en-US" dirty="0"/>
              <a:t>&lt;</a:t>
            </a:r>
            <a:r>
              <a:rPr lang="en-US" dirty="0" err="1"/>
              <a:t>ul</a:t>
            </a:r>
            <a:r>
              <a:rPr lang="en-US" dirty="0"/>
              <a:t> class="list-group"&gt;</a:t>
            </a:r>
          </a:p>
          <a:p>
            <a:pPr marL="0" indent="0">
              <a:buNone/>
            </a:pPr>
            <a:r>
              <a:rPr lang="en-US" dirty="0"/>
              <a:t>  &lt;li class="list-group-item"&gt;</a:t>
            </a:r>
          </a:p>
          <a:p>
            <a:pPr marL="0" indent="0">
              <a:buNone/>
            </a:pPr>
            <a:r>
              <a:rPr lang="en-US" dirty="0"/>
              <a:t>    &lt;input class="form-check-input me-1" type="checkbox" value="" aria-label="..."&gt;</a:t>
            </a:r>
          </a:p>
          <a:p>
            <a:pPr marL="0" indent="0">
              <a:buNone/>
            </a:pPr>
            <a:r>
              <a:rPr lang="en-US" dirty="0"/>
              <a:t>    First checkbox</a:t>
            </a:r>
          </a:p>
          <a:p>
            <a:pPr marL="0" indent="0">
              <a:buNone/>
            </a:pPr>
            <a:r>
              <a:rPr lang="en-US" dirty="0"/>
              <a:t>  &lt;/li&gt;</a:t>
            </a:r>
            <a:endParaRPr lang="en-IN" dirty="0"/>
          </a:p>
        </p:txBody>
      </p:sp>
    </p:spTree>
    <p:extLst>
      <p:ext uri="{BB962C8B-B14F-4D97-AF65-F5344CB8AC3E}">
        <p14:creationId xmlns:p14="http://schemas.microsoft.com/office/powerpoint/2010/main" val="42005344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A6BDF-43A5-7C9D-83FA-F35579539D44}"/>
              </a:ext>
            </a:extLst>
          </p:cNvPr>
          <p:cNvSpPr>
            <a:spLocks noGrp="1"/>
          </p:cNvSpPr>
          <p:nvPr>
            <p:ph type="title"/>
          </p:nvPr>
        </p:nvSpPr>
        <p:spPr/>
        <p:txBody>
          <a:bodyPr/>
          <a:lstStyle/>
          <a:p>
            <a:r>
              <a:rPr lang="en-IN" b="1" dirty="0"/>
              <a:t>Cards</a:t>
            </a:r>
            <a:br>
              <a:rPr lang="en-IN" b="1" dirty="0"/>
            </a:br>
            <a:endParaRPr lang="en-IN" dirty="0"/>
          </a:p>
        </p:txBody>
      </p:sp>
      <p:sp>
        <p:nvSpPr>
          <p:cNvPr id="3" name="Content Placeholder 2">
            <a:extLst>
              <a:ext uri="{FF2B5EF4-FFF2-40B4-BE49-F238E27FC236}">
                <a16:creationId xmlns:a16="http://schemas.microsoft.com/office/drawing/2014/main" id="{DF1EE82B-89A9-7161-E26E-109EF30E866C}"/>
              </a:ext>
            </a:extLst>
          </p:cNvPr>
          <p:cNvSpPr>
            <a:spLocks noGrp="1"/>
          </p:cNvSpPr>
          <p:nvPr>
            <p:ph idx="1"/>
          </p:nvPr>
        </p:nvSpPr>
        <p:spPr/>
        <p:txBody>
          <a:bodyPr/>
          <a:lstStyle/>
          <a:p>
            <a:r>
              <a:rPr lang="en-US" dirty="0"/>
              <a:t>A </a:t>
            </a:r>
            <a:r>
              <a:rPr lang="en-US" b="1" dirty="0"/>
              <a:t>card</a:t>
            </a:r>
            <a:r>
              <a:rPr lang="en-US" dirty="0"/>
              <a:t> is a flexible and extensible content container.</a:t>
            </a:r>
          </a:p>
          <a:p>
            <a:r>
              <a:rPr lang="en-US" dirty="0"/>
              <a:t> It includes options for headers and footers, a wide variety of content, contextual background colors, and powerful display options</a:t>
            </a:r>
          </a:p>
          <a:p>
            <a:r>
              <a:rPr lang="en-US" dirty="0"/>
              <a:t>Cards are built with as little markup and styles as possible, but still manage to deliver a ton of control and customization.</a:t>
            </a:r>
          </a:p>
          <a:p>
            <a:r>
              <a:rPr lang="en-US" dirty="0"/>
              <a:t>They have no margin by default, so use spacing utilities as needed.</a:t>
            </a:r>
            <a:endParaRPr lang="en-IN" dirty="0"/>
          </a:p>
        </p:txBody>
      </p:sp>
    </p:spTree>
    <p:extLst>
      <p:ext uri="{BB962C8B-B14F-4D97-AF65-F5344CB8AC3E}">
        <p14:creationId xmlns:p14="http://schemas.microsoft.com/office/powerpoint/2010/main" val="5134871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316BB-E916-C552-236B-B622356C38AB}"/>
              </a:ext>
            </a:extLst>
          </p:cNvPr>
          <p:cNvSpPr>
            <a:spLocks noGrp="1"/>
          </p:cNvSpPr>
          <p:nvPr>
            <p:ph type="title"/>
          </p:nvPr>
        </p:nvSpPr>
        <p:spPr/>
        <p:txBody>
          <a:bodyPr/>
          <a:lstStyle/>
          <a:p>
            <a:r>
              <a:rPr lang="en-IN" b="1" dirty="0"/>
              <a:t>Content types</a:t>
            </a:r>
            <a:br>
              <a:rPr lang="en-IN" b="1" dirty="0"/>
            </a:br>
            <a:endParaRPr lang="en-IN" dirty="0"/>
          </a:p>
        </p:txBody>
      </p:sp>
      <p:sp>
        <p:nvSpPr>
          <p:cNvPr id="7" name="Content Placeholder 6">
            <a:extLst>
              <a:ext uri="{FF2B5EF4-FFF2-40B4-BE49-F238E27FC236}">
                <a16:creationId xmlns:a16="http://schemas.microsoft.com/office/drawing/2014/main" id="{ABBD30D0-0B24-53F0-B5B5-1A8C4A203545}"/>
              </a:ext>
            </a:extLst>
          </p:cNvPr>
          <p:cNvSpPr>
            <a:spLocks noGrp="1"/>
          </p:cNvSpPr>
          <p:nvPr>
            <p:ph idx="1"/>
          </p:nvPr>
        </p:nvSpPr>
        <p:spPr/>
        <p:txBody>
          <a:bodyPr>
            <a:normAutofit fontScale="92500" lnSpcReduction="10000"/>
          </a:bodyPr>
          <a:lstStyle/>
          <a:p>
            <a:r>
              <a:rPr lang="en-US" dirty="0"/>
              <a:t>Cards support a wide variety of content, including images, text, list groups, links, and more. </a:t>
            </a:r>
          </a:p>
          <a:p>
            <a:pPr marL="0" indent="0">
              <a:buNone/>
            </a:pPr>
            <a:r>
              <a:rPr lang="en-US" b="1" u="sng" dirty="0"/>
              <a:t>Body</a:t>
            </a:r>
            <a:endParaRPr lang="en-US" dirty="0"/>
          </a:p>
          <a:p>
            <a:r>
              <a:rPr lang="en-US" dirty="0"/>
              <a:t>The building block of a card is the </a:t>
            </a:r>
            <a:r>
              <a:rPr lang="en-US" b="1" dirty="0"/>
              <a:t>.card-body</a:t>
            </a:r>
            <a:r>
              <a:rPr lang="en-US" dirty="0"/>
              <a:t>. Use it whenever you need a padded section within a card.</a:t>
            </a:r>
          </a:p>
          <a:p>
            <a:r>
              <a:rPr lang="en-US" dirty="0"/>
              <a:t>&lt;div class="card"&gt;</a:t>
            </a:r>
          </a:p>
          <a:p>
            <a:r>
              <a:rPr lang="en-US" dirty="0"/>
              <a:t>  &lt;div class="card-body"&gt;</a:t>
            </a:r>
          </a:p>
          <a:p>
            <a:r>
              <a:rPr lang="en-US" dirty="0"/>
              <a:t>    This is some text within a card body.</a:t>
            </a:r>
          </a:p>
          <a:p>
            <a:r>
              <a:rPr lang="en-US" dirty="0"/>
              <a:t>  &lt;/div&gt;</a:t>
            </a:r>
          </a:p>
          <a:p>
            <a:r>
              <a:rPr lang="en-US" dirty="0"/>
              <a:t>&lt;/div&gt;</a:t>
            </a:r>
            <a:endParaRPr lang="en-IN" dirty="0"/>
          </a:p>
        </p:txBody>
      </p:sp>
      <p:pic>
        <p:nvPicPr>
          <p:cNvPr id="9" name="Picture 8">
            <a:extLst>
              <a:ext uri="{FF2B5EF4-FFF2-40B4-BE49-F238E27FC236}">
                <a16:creationId xmlns:a16="http://schemas.microsoft.com/office/drawing/2014/main" id="{94F2A54B-2552-663E-A79E-69FB95D19B12}"/>
              </a:ext>
            </a:extLst>
          </p:cNvPr>
          <p:cNvPicPr>
            <a:picLocks noChangeAspect="1"/>
          </p:cNvPicPr>
          <p:nvPr/>
        </p:nvPicPr>
        <p:blipFill>
          <a:blip r:embed="rId2"/>
          <a:stretch>
            <a:fillRect/>
          </a:stretch>
        </p:blipFill>
        <p:spPr>
          <a:xfrm>
            <a:off x="2922881" y="5273505"/>
            <a:ext cx="9269119" cy="1219370"/>
          </a:xfrm>
          <a:prstGeom prst="rect">
            <a:avLst/>
          </a:prstGeom>
        </p:spPr>
      </p:pic>
    </p:spTree>
    <p:extLst>
      <p:ext uri="{BB962C8B-B14F-4D97-AF65-F5344CB8AC3E}">
        <p14:creationId xmlns:p14="http://schemas.microsoft.com/office/powerpoint/2010/main" val="372182022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105B7-B0B3-9509-D821-903840BFDBEB}"/>
              </a:ext>
            </a:extLst>
          </p:cNvPr>
          <p:cNvSpPr>
            <a:spLocks noGrp="1"/>
          </p:cNvSpPr>
          <p:nvPr>
            <p:ph type="title"/>
          </p:nvPr>
        </p:nvSpPr>
        <p:spPr>
          <a:xfrm>
            <a:off x="838200" y="365125"/>
            <a:ext cx="10515600" cy="922901"/>
          </a:xfrm>
        </p:spPr>
        <p:txBody>
          <a:bodyPr>
            <a:normAutofit fontScale="90000"/>
          </a:bodyPr>
          <a:lstStyle/>
          <a:p>
            <a:r>
              <a:rPr lang="en-IN" b="1" dirty="0"/>
              <a:t>Titles, text, and links</a:t>
            </a:r>
            <a:br>
              <a:rPr lang="en-IN" b="1" dirty="0"/>
            </a:br>
            <a:endParaRPr lang="en-IN" dirty="0"/>
          </a:p>
        </p:txBody>
      </p:sp>
      <p:sp>
        <p:nvSpPr>
          <p:cNvPr id="3" name="Content Placeholder 2">
            <a:extLst>
              <a:ext uri="{FF2B5EF4-FFF2-40B4-BE49-F238E27FC236}">
                <a16:creationId xmlns:a16="http://schemas.microsoft.com/office/drawing/2014/main" id="{39D96F2C-BFF2-DA22-F8EB-C46C5162C533}"/>
              </a:ext>
            </a:extLst>
          </p:cNvPr>
          <p:cNvSpPr>
            <a:spLocks noGrp="1"/>
          </p:cNvSpPr>
          <p:nvPr>
            <p:ph idx="1"/>
          </p:nvPr>
        </p:nvSpPr>
        <p:spPr/>
        <p:txBody>
          <a:bodyPr>
            <a:normAutofit fontScale="92500" lnSpcReduction="20000"/>
          </a:bodyPr>
          <a:lstStyle/>
          <a:p>
            <a:r>
              <a:rPr lang="en-US" dirty="0"/>
              <a:t>Use </a:t>
            </a:r>
            <a:r>
              <a:rPr lang="en-US" b="1" dirty="0"/>
              <a:t>.card-title </a:t>
            </a:r>
            <a:r>
              <a:rPr lang="en-US" dirty="0"/>
              <a:t>to add card titles to any heading element. </a:t>
            </a:r>
          </a:p>
          <a:p>
            <a:r>
              <a:rPr lang="en-US" dirty="0"/>
              <a:t>With </a:t>
            </a:r>
            <a:r>
              <a:rPr lang="en-US" b="1" dirty="0"/>
              <a:t>.card-text</a:t>
            </a:r>
            <a:r>
              <a:rPr lang="en-US" dirty="0"/>
              <a:t>, text can be added to the card. Text within .</a:t>
            </a:r>
            <a:r>
              <a:rPr lang="en-US" b="1" dirty="0"/>
              <a:t>card-text</a:t>
            </a:r>
            <a:r>
              <a:rPr lang="en-US" dirty="0"/>
              <a:t> can also be styled with the standard HTML tags.</a:t>
            </a:r>
          </a:p>
          <a:p>
            <a:r>
              <a:rPr lang="en-US" dirty="0"/>
              <a:t> The </a:t>
            </a:r>
            <a:r>
              <a:rPr lang="en-US" b="1" dirty="0"/>
              <a:t>.card-link </a:t>
            </a:r>
            <a:r>
              <a:rPr lang="en-US" dirty="0"/>
              <a:t>class adds a blue color to any link, and a hover effect.</a:t>
            </a:r>
          </a:p>
          <a:p>
            <a:r>
              <a:rPr lang="en-US" dirty="0"/>
              <a:t>Instead of this card link you can use buttons </a:t>
            </a:r>
            <a:r>
              <a:rPr lang="en-US" b="1" dirty="0"/>
              <a:t>class=“</a:t>
            </a:r>
            <a:r>
              <a:rPr lang="en-US" b="1" dirty="0" err="1"/>
              <a:t>btn</a:t>
            </a:r>
            <a:r>
              <a:rPr lang="en-US" dirty="0"/>
              <a:t>” also</a:t>
            </a:r>
          </a:p>
          <a:p>
            <a:r>
              <a:rPr lang="en-US" dirty="0">
                <a:solidFill>
                  <a:srgbClr val="0000CD"/>
                </a:solidFill>
                <a:effectLst/>
              </a:rPr>
              <a:t>&lt;</a:t>
            </a:r>
            <a:r>
              <a:rPr lang="en-US" dirty="0">
                <a:solidFill>
                  <a:srgbClr val="A52A2A"/>
                </a:solidFill>
                <a:effectLst/>
              </a:rPr>
              <a:t>div</a:t>
            </a:r>
            <a:r>
              <a:rPr lang="en-US" dirty="0">
                <a:solidFill>
                  <a:srgbClr val="FF0000"/>
                </a:solidFill>
                <a:effectLst/>
              </a:rPr>
              <a:t> class</a:t>
            </a:r>
            <a:r>
              <a:rPr lang="en-US" dirty="0">
                <a:solidFill>
                  <a:srgbClr val="0000CD"/>
                </a:solidFill>
                <a:effectLst/>
              </a:rPr>
              <a:t>="card"&gt;</a:t>
            </a:r>
            <a:br>
              <a:rPr lang="en-US" dirty="0"/>
            </a:br>
            <a:r>
              <a:rPr lang="en-US" dirty="0"/>
              <a:t>  </a:t>
            </a:r>
            <a:r>
              <a:rPr lang="en-US" dirty="0">
                <a:solidFill>
                  <a:srgbClr val="0000CD"/>
                </a:solidFill>
                <a:effectLst/>
              </a:rPr>
              <a:t>&lt;</a:t>
            </a:r>
            <a:r>
              <a:rPr lang="en-US" dirty="0">
                <a:solidFill>
                  <a:srgbClr val="A52A2A"/>
                </a:solidFill>
                <a:effectLst/>
              </a:rPr>
              <a:t>div</a:t>
            </a:r>
            <a:r>
              <a:rPr lang="en-US" dirty="0">
                <a:solidFill>
                  <a:srgbClr val="FF0000"/>
                </a:solidFill>
                <a:effectLst/>
              </a:rPr>
              <a:t> class</a:t>
            </a:r>
            <a:r>
              <a:rPr lang="en-US" dirty="0">
                <a:solidFill>
                  <a:srgbClr val="0000CD"/>
                </a:solidFill>
                <a:effectLst/>
              </a:rPr>
              <a:t>="card-body"&gt;</a:t>
            </a:r>
            <a:br>
              <a:rPr lang="en-US" dirty="0"/>
            </a:br>
            <a:r>
              <a:rPr lang="en-US" dirty="0"/>
              <a:t>    </a:t>
            </a:r>
            <a:r>
              <a:rPr lang="en-US" dirty="0">
                <a:solidFill>
                  <a:srgbClr val="0000CD"/>
                </a:solidFill>
                <a:effectLst/>
              </a:rPr>
              <a:t>&lt;</a:t>
            </a:r>
            <a:r>
              <a:rPr lang="en-US" dirty="0">
                <a:solidFill>
                  <a:srgbClr val="A52A2A"/>
                </a:solidFill>
                <a:effectLst/>
              </a:rPr>
              <a:t>h4</a:t>
            </a:r>
            <a:r>
              <a:rPr lang="en-US" dirty="0">
                <a:solidFill>
                  <a:srgbClr val="FF0000"/>
                </a:solidFill>
                <a:effectLst/>
              </a:rPr>
              <a:t> class</a:t>
            </a:r>
            <a:r>
              <a:rPr lang="en-US" dirty="0">
                <a:solidFill>
                  <a:srgbClr val="0000CD"/>
                </a:solidFill>
                <a:effectLst/>
              </a:rPr>
              <a:t>="card-title"&gt;</a:t>
            </a:r>
            <a:r>
              <a:rPr lang="en-US" dirty="0"/>
              <a:t>Card title</a:t>
            </a:r>
            <a:r>
              <a:rPr lang="en-US" dirty="0">
                <a:solidFill>
                  <a:srgbClr val="0000CD"/>
                </a:solidFill>
                <a:effectLst/>
              </a:rPr>
              <a:t>&lt;</a:t>
            </a:r>
            <a:r>
              <a:rPr lang="en-US" dirty="0">
                <a:solidFill>
                  <a:srgbClr val="A52A2A"/>
                </a:solidFill>
                <a:effectLst/>
              </a:rPr>
              <a:t>/h4</a:t>
            </a:r>
            <a:r>
              <a:rPr lang="en-US" dirty="0">
                <a:solidFill>
                  <a:srgbClr val="0000CD"/>
                </a:solidFill>
                <a:effectLst/>
              </a:rPr>
              <a:t>&gt;</a:t>
            </a:r>
            <a:br>
              <a:rPr lang="en-US" dirty="0"/>
            </a:br>
            <a:r>
              <a:rPr lang="en-US" dirty="0"/>
              <a:t>    </a:t>
            </a:r>
            <a:r>
              <a:rPr lang="en-US" dirty="0">
                <a:solidFill>
                  <a:srgbClr val="0000CD"/>
                </a:solidFill>
                <a:effectLst/>
              </a:rPr>
              <a:t>&lt;</a:t>
            </a:r>
            <a:r>
              <a:rPr lang="en-US" dirty="0">
                <a:solidFill>
                  <a:srgbClr val="A52A2A"/>
                </a:solidFill>
                <a:effectLst/>
              </a:rPr>
              <a:t>p</a:t>
            </a:r>
            <a:r>
              <a:rPr lang="en-US" dirty="0">
                <a:solidFill>
                  <a:srgbClr val="FF0000"/>
                </a:solidFill>
                <a:effectLst/>
              </a:rPr>
              <a:t> class</a:t>
            </a:r>
            <a:r>
              <a:rPr lang="en-US" dirty="0">
                <a:solidFill>
                  <a:srgbClr val="0000CD"/>
                </a:solidFill>
                <a:effectLst/>
              </a:rPr>
              <a:t>="card-text"&gt;</a:t>
            </a:r>
            <a:r>
              <a:rPr lang="en-US" dirty="0"/>
              <a:t>Some example text. Some example text.</a:t>
            </a:r>
            <a:r>
              <a:rPr lang="en-US" dirty="0">
                <a:solidFill>
                  <a:srgbClr val="0000CD"/>
                </a:solidFill>
                <a:effectLst/>
              </a:rPr>
              <a:t>&lt;</a:t>
            </a:r>
            <a:r>
              <a:rPr lang="en-US" dirty="0">
                <a:solidFill>
                  <a:srgbClr val="A52A2A"/>
                </a:solidFill>
                <a:effectLst/>
              </a:rPr>
              <a:t>/p</a:t>
            </a:r>
            <a:r>
              <a:rPr lang="en-US" dirty="0">
                <a:solidFill>
                  <a:srgbClr val="0000CD"/>
                </a:solidFill>
                <a:effectLst/>
              </a:rPr>
              <a:t>&gt;</a:t>
            </a:r>
            <a:br>
              <a:rPr lang="en-US" dirty="0"/>
            </a:br>
            <a:r>
              <a:rPr lang="en-US" dirty="0"/>
              <a:t>    </a:t>
            </a:r>
            <a:r>
              <a:rPr lang="en-US" dirty="0">
                <a:solidFill>
                  <a:srgbClr val="0000CD"/>
                </a:solidFill>
                <a:effectLst/>
              </a:rPr>
              <a:t>&lt;</a:t>
            </a:r>
            <a:r>
              <a:rPr lang="en-US" dirty="0">
                <a:solidFill>
                  <a:srgbClr val="A52A2A"/>
                </a:solidFill>
                <a:effectLst/>
              </a:rPr>
              <a:t>a</a:t>
            </a:r>
            <a:r>
              <a:rPr lang="en-US" dirty="0">
                <a:solidFill>
                  <a:srgbClr val="FF0000"/>
                </a:solidFill>
                <a:effectLst/>
              </a:rPr>
              <a:t> </a:t>
            </a:r>
            <a:r>
              <a:rPr lang="en-US" dirty="0" err="1">
                <a:solidFill>
                  <a:srgbClr val="FF0000"/>
                </a:solidFill>
                <a:effectLst/>
              </a:rPr>
              <a:t>href</a:t>
            </a:r>
            <a:r>
              <a:rPr lang="en-US" dirty="0">
                <a:solidFill>
                  <a:srgbClr val="0000CD"/>
                </a:solidFill>
                <a:effectLst/>
              </a:rPr>
              <a:t>="#"</a:t>
            </a:r>
            <a:r>
              <a:rPr lang="en-US" dirty="0">
                <a:solidFill>
                  <a:srgbClr val="FF0000"/>
                </a:solidFill>
                <a:effectLst/>
              </a:rPr>
              <a:t> class</a:t>
            </a:r>
            <a:r>
              <a:rPr lang="en-US" dirty="0">
                <a:solidFill>
                  <a:srgbClr val="0000CD"/>
                </a:solidFill>
                <a:effectLst/>
              </a:rPr>
              <a:t>="card-link"&gt;</a:t>
            </a:r>
            <a:r>
              <a:rPr lang="en-US" dirty="0"/>
              <a:t>Card link</a:t>
            </a:r>
            <a:r>
              <a:rPr lang="en-US" dirty="0">
                <a:solidFill>
                  <a:srgbClr val="0000CD"/>
                </a:solidFill>
                <a:effectLst/>
              </a:rPr>
              <a:t>&lt;</a:t>
            </a:r>
            <a:r>
              <a:rPr lang="en-US" dirty="0">
                <a:solidFill>
                  <a:srgbClr val="A52A2A"/>
                </a:solidFill>
                <a:effectLst/>
              </a:rPr>
              <a:t>/a</a:t>
            </a:r>
            <a:r>
              <a:rPr lang="en-US" dirty="0">
                <a:solidFill>
                  <a:srgbClr val="0000CD"/>
                </a:solidFill>
                <a:effectLst/>
              </a:rPr>
              <a:t>&gt;</a:t>
            </a:r>
            <a:br>
              <a:rPr lang="en-US" dirty="0"/>
            </a:br>
            <a:r>
              <a:rPr lang="en-US" dirty="0"/>
              <a:t>      </a:t>
            </a:r>
            <a:r>
              <a:rPr lang="en-US" dirty="0">
                <a:solidFill>
                  <a:srgbClr val="0000CD"/>
                </a:solidFill>
                <a:effectLst/>
              </a:rPr>
              <a:t>&lt;</a:t>
            </a:r>
            <a:r>
              <a:rPr lang="en-US" dirty="0">
                <a:solidFill>
                  <a:srgbClr val="A52A2A"/>
                </a:solidFill>
                <a:effectLst/>
              </a:rPr>
              <a:t>/div</a:t>
            </a:r>
            <a:r>
              <a:rPr lang="en-US" dirty="0">
                <a:solidFill>
                  <a:srgbClr val="0000CD"/>
                </a:solidFill>
                <a:effectLst/>
              </a:rPr>
              <a:t>&gt;</a:t>
            </a:r>
            <a:br>
              <a:rPr lang="en-US" dirty="0"/>
            </a:br>
            <a:r>
              <a:rPr lang="en-US" dirty="0">
                <a:solidFill>
                  <a:srgbClr val="0000CD"/>
                </a:solidFill>
                <a:effectLst/>
              </a:rPr>
              <a:t>&lt;</a:t>
            </a:r>
            <a:r>
              <a:rPr lang="en-US" dirty="0">
                <a:solidFill>
                  <a:srgbClr val="A52A2A"/>
                </a:solidFill>
                <a:effectLst/>
              </a:rPr>
              <a:t>/div</a:t>
            </a:r>
            <a:r>
              <a:rPr lang="en-US" dirty="0">
                <a:solidFill>
                  <a:srgbClr val="0000CD"/>
                </a:solidFill>
                <a:effectLst/>
              </a:rPr>
              <a:t>&gt;</a:t>
            </a:r>
            <a:endParaRPr lang="en-IN" dirty="0"/>
          </a:p>
        </p:txBody>
      </p:sp>
      <p:pic>
        <p:nvPicPr>
          <p:cNvPr id="5" name="Picture 4">
            <a:extLst>
              <a:ext uri="{FF2B5EF4-FFF2-40B4-BE49-F238E27FC236}">
                <a16:creationId xmlns:a16="http://schemas.microsoft.com/office/drawing/2014/main" id="{392738E5-05B6-F161-1515-7125141547DC}"/>
              </a:ext>
            </a:extLst>
          </p:cNvPr>
          <p:cNvPicPr>
            <a:picLocks noChangeAspect="1"/>
          </p:cNvPicPr>
          <p:nvPr/>
        </p:nvPicPr>
        <p:blipFill>
          <a:blip r:embed="rId2"/>
          <a:stretch>
            <a:fillRect/>
          </a:stretch>
        </p:blipFill>
        <p:spPr>
          <a:xfrm>
            <a:off x="7678994" y="4837470"/>
            <a:ext cx="3940628" cy="1877091"/>
          </a:xfrm>
          <a:prstGeom prst="rect">
            <a:avLst/>
          </a:prstGeom>
        </p:spPr>
      </p:pic>
    </p:spTree>
    <p:extLst>
      <p:ext uri="{BB962C8B-B14F-4D97-AF65-F5344CB8AC3E}">
        <p14:creationId xmlns:p14="http://schemas.microsoft.com/office/powerpoint/2010/main" val="68802706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8DD53-D3AF-2F31-E36F-A4199541383B}"/>
              </a:ext>
            </a:extLst>
          </p:cNvPr>
          <p:cNvSpPr>
            <a:spLocks noGrp="1"/>
          </p:cNvSpPr>
          <p:nvPr>
            <p:ph type="title"/>
          </p:nvPr>
        </p:nvSpPr>
        <p:spPr>
          <a:xfrm>
            <a:off x="838200" y="365125"/>
            <a:ext cx="10515600" cy="1188372"/>
          </a:xfrm>
        </p:spPr>
        <p:txBody>
          <a:bodyPr>
            <a:normAutofit fontScale="90000"/>
          </a:bodyPr>
          <a:lstStyle/>
          <a:p>
            <a:br>
              <a:rPr lang="en-IN" b="1" dirty="0"/>
            </a:br>
            <a:r>
              <a:rPr lang="en-IN" b="1" dirty="0"/>
              <a:t>Header and Footer</a:t>
            </a:r>
            <a:br>
              <a:rPr lang="en-IN" b="1" dirty="0"/>
            </a:br>
            <a:br>
              <a:rPr lang="en-IN" b="1" dirty="0"/>
            </a:br>
            <a:endParaRPr lang="en-IN" dirty="0"/>
          </a:p>
        </p:txBody>
      </p:sp>
      <p:sp>
        <p:nvSpPr>
          <p:cNvPr id="3" name="Content Placeholder 2">
            <a:extLst>
              <a:ext uri="{FF2B5EF4-FFF2-40B4-BE49-F238E27FC236}">
                <a16:creationId xmlns:a16="http://schemas.microsoft.com/office/drawing/2014/main" id="{263BEC9B-87EB-5C07-EF1F-A7CB28248715}"/>
              </a:ext>
            </a:extLst>
          </p:cNvPr>
          <p:cNvSpPr>
            <a:spLocks noGrp="1"/>
          </p:cNvSpPr>
          <p:nvPr>
            <p:ph idx="1"/>
          </p:nvPr>
        </p:nvSpPr>
        <p:spPr>
          <a:xfrm>
            <a:off x="838200" y="1327355"/>
            <a:ext cx="10515600" cy="4849608"/>
          </a:xfrm>
        </p:spPr>
        <p:txBody>
          <a:bodyPr/>
          <a:lstStyle/>
          <a:p>
            <a:r>
              <a:rPr lang="en-US" dirty="0"/>
              <a:t>The </a:t>
            </a:r>
            <a:r>
              <a:rPr lang="en-US" b="1" dirty="0"/>
              <a:t>.card-header </a:t>
            </a:r>
            <a:r>
              <a:rPr lang="en-US" dirty="0"/>
              <a:t>class adds a heading to the card and </a:t>
            </a:r>
            <a:r>
              <a:rPr lang="en-US" b="1" dirty="0"/>
              <a:t>the .card-footer </a:t>
            </a:r>
            <a:r>
              <a:rPr lang="en-US" dirty="0"/>
              <a:t>class adds a footer to the card:</a:t>
            </a:r>
          </a:p>
          <a:p>
            <a:pPr marL="0" indent="0">
              <a:buNone/>
            </a:pPr>
            <a:r>
              <a:rPr lang="en-US" dirty="0"/>
              <a:t>&lt;div class="card"&gt;</a:t>
            </a:r>
          </a:p>
          <a:p>
            <a:pPr marL="0" indent="0">
              <a:buNone/>
            </a:pPr>
            <a:r>
              <a:rPr lang="en-US" dirty="0"/>
              <a:t>  &lt;div class="card-header"&gt;Header&lt;/div&gt;</a:t>
            </a:r>
          </a:p>
          <a:p>
            <a:pPr marL="0" indent="0">
              <a:buNone/>
            </a:pPr>
            <a:r>
              <a:rPr lang="en-US" dirty="0"/>
              <a:t>  &lt;div class="card-body"&gt;Content&lt;/div&gt;</a:t>
            </a:r>
          </a:p>
          <a:p>
            <a:pPr marL="0" indent="0">
              <a:buNone/>
            </a:pPr>
            <a:r>
              <a:rPr lang="en-US" dirty="0"/>
              <a:t>  &lt;div class="card-footer"&gt;Footer&lt;/div&gt;</a:t>
            </a:r>
          </a:p>
          <a:p>
            <a:pPr marL="0" indent="0">
              <a:buNone/>
            </a:pPr>
            <a:r>
              <a:rPr lang="en-US" dirty="0"/>
              <a:t>&lt;/div&gt;</a:t>
            </a:r>
          </a:p>
          <a:p>
            <a:pPr marL="0" indent="0">
              <a:buNone/>
            </a:pPr>
            <a:endParaRPr lang="en-US" dirty="0"/>
          </a:p>
          <a:p>
            <a:pPr marL="0" indent="0">
              <a:buNone/>
            </a:pPr>
            <a:endParaRPr lang="en-IN" dirty="0"/>
          </a:p>
        </p:txBody>
      </p:sp>
      <p:pic>
        <p:nvPicPr>
          <p:cNvPr id="8" name="Picture 7">
            <a:extLst>
              <a:ext uri="{FF2B5EF4-FFF2-40B4-BE49-F238E27FC236}">
                <a16:creationId xmlns:a16="http://schemas.microsoft.com/office/drawing/2014/main" id="{B769676C-57C4-B654-43CD-BAB0A83C5895}"/>
              </a:ext>
            </a:extLst>
          </p:cNvPr>
          <p:cNvPicPr>
            <a:picLocks noChangeAspect="1"/>
          </p:cNvPicPr>
          <p:nvPr/>
        </p:nvPicPr>
        <p:blipFill>
          <a:blip r:embed="rId2"/>
          <a:stretch>
            <a:fillRect/>
          </a:stretch>
        </p:blipFill>
        <p:spPr>
          <a:xfrm>
            <a:off x="5427407" y="4112342"/>
            <a:ext cx="7866312" cy="2580968"/>
          </a:xfrm>
          <a:prstGeom prst="rect">
            <a:avLst/>
          </a:prstGeom>
        </p:spPr>
      </p:pic>
    </p:spTree>
    <p:extLst>
      <p:ext uri="{BB962C8B-B14F-4D97-AF65-F5344CB8AC3E}">
        <p14:creationId xmlns:p14="http://schemas.microsoft.com/office/powerpoint/2010/main" val="340081835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C3E6-86A1-A75C-5178-26DABB92BFBC}"/>
              </a:ext>
            </a:extLst>
          </p:cNvPr>
          <p:cNvSpPr>
            <a:spLocks noGrp="1"/>
          </p:cNvSpPr>
          <p:nvPr>
            <p:ph type="title"/>
          </p:nvPr>
        </p:nvSpPr>
        <p:spPr/>
        <p:txBody>
          <a:bodyPr/>
          <a:lstStyle/>
          <a:p>
            <a:r>
              <a:rPr lang="en-IN" b="1" dirty="0"/>
              <a:t>Text alignment</a:t>
            </a:r>
            <a:br>
              <a:rPr lang="en-IN" b="1" dirty="0"/>
            </a:br>
            <a:endParaRPr lang="en-IN" dirty="0"/>
          </a:p>
        </p:txBody>
      </p:sp>
      <p:sp>
        <p:nvSpPr>
          <p:cNvPr id="3" name="Content Placeholder 2">
            <a:extLst>
              <a:ext uri="{FF2B5EF4-FFF2-40B4-BE49-F238E27FC236}">
                <a16:creationId xmlns:a16="http://schemas.microsoft.com/office/drawing/2014/main" id="{A9DFA2FC-A59C-4B23-9AA1-72712D9AE7AC}"/>
              </a:ext>
            </a:extLst>
          </p:cNvPr>
          <p:cNvSpPr>
            <a:spLocks noGrp="1"/>
          </p:cNvSpPr>
          <p:nvPr>
            <p:ph idx="1"/>
          </p:nvPr>
        </p:nvSpPr>
        <p:spPr/>
        <p:txBody>
          <a:bodyPr/>
          <a:lstStyle/>
          <a:p>
            <a:pPr marL="0" indent="0">
              <a:buNone/>
            </a:pPr>
            <a:r>
              <a:rPr lang="en-US" dirty="0"/>
              <a:t>&lt;div class="card" style="width: 18rem;"&gt;</a:t>
            </a:r>
          </a:p>
          <a:p>
            <a:pPr marL="0" indent="0">
              <a:buNone/>
            </a:pPr>
            <a:r>
              <a:rPr lang="en-US" dirty="0"/>
              <a:t>&lt;div class="card text-center" style="width: 18rem;"&gt;</a:t>
            </a:r>
          </a:p>
          <a:p>
            <a:pPr marL="0" indent="0">
              <a:buNone/>
            </a:pPr>
            <a:r>
              <a:rPr lang="en-US" dirty="0"/>
              <a:t>&lt;div class="card text-end" style="width: 18rem;"&gt;</a:t>
            </a:r>
            <a:endParaRPr lang="en-IN" dirty="0"/>
          </a:p>
        </p:txBody>
      </p:sp>
      <p:pic>
        <p:nvPicPr>
          <p:cNvPr id="7" name="Picture 6">
            <a:extLst>
              <a:ext uri="{FF2B5EF4-FFF2-40B4-BE49-F238E27FC236}">
                <a16:creationId xmlns:a16="http://schemas.microsoft.com/office/drawing/2014/main" id="{1E3A8B11-5DB4-38AB-F26A-3886CBB4B80A}"/>
              </a:ext>
            </a:extLst>
          </p:cNvPr>
          <p:cNvPicPr>
            <a:picLocks noChangeAspect="1"/>
          </p:cNvPicPr>
          <p:nvPr/>
        </p:nvPicPr>
        <p:blipFill>
          <a:blip r:embed="rId2"/>
          <a:stretch>
            <a:fillRect/>
          </a:stretch>
        </p:blipFill>
        <p:spPr>
          <a:xfrm>
            <a:off x="8495070" y="-78658"/>
            <a:ext cx="3489317" cy="6858000"/>
          </a:xfrm>
          <a:prstGeom prst="rect">
            <a:avLst/>
          </a:prstGeom>
        </p:spPr>
      </p:pic>
    </p:spTree>
    <p:extLst>
      <p:ext uri="{BB962C8B-B14F-4D97-AF65-F5344CB8AC3E}">
        <p14:creationId xmlns:p14="http://schemas.microsoft.com/office/powerpoint/2010/main" val="363491306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031A0-54D2-2AAF-C113-4835180FDB03}"/>
              </a:ext>
            </a:extLst>
          </p:cNvPr>
          <p:cNvSpPr>
            <a:spLocks noGrp="1"/>
          </p:cNvSpPr>
          <p:nvPr>
            <p:ph type="title"/>
          </p:nvPr>
        </p:nvSpPr>
        <p:spPr>
          <a:xfrm>
            <a:off x="838200" y="365126"/>
            <a:ext cx="10515600" cy="824578"/>
          </a:xfrm>
        </p:spPr>
        <p:txBody>
          <a:bodyPr>
            <a:normAutofit fontScale="90000"/>
          </a:bodyPr>
          <a:lstStyle/>
          <a:p>
            <a:r>
              <a:rPr lang="en-US" b="1" dirty="0"/>
              <a:t>Contextual Cards</a:t>
            </a:r>
            <a:br>
              <a:rPr lang="en-US" dirty="0"/>
            </a:br>
            <a:endParaRPr lang="en-IN" dirty="0"/>
          </a:p>
        </p:txBody>
      </p:sp>
      <p:sp>
        <p:nvSpPr>
          <p:cNvPr id="3" name="Content Placeholder 2">
            <a:extLst>
              <a:ext uri="{FF2B5EF4-FFF2-40B4-BE49-F238E27FC236}">
                <a16:creationId xmlns:a16="http://schemas.microsoft.com/office/drawing/2014/main" id="{A1395D77-E609-B916-ACBB-DA548F0C1F84}"/>
              </a:ext>
            </a:extLst>
          </p:cNvPr>
          <p:cNvSpPr>
            <a:spLocks noGrp="1"/>
          </p:cNvSpPr>
          <p:nvPr>
            <p:ph idx="1"/>
          </p:nvPr>
        </p:nvSpPr>
        <p:spPr>
          <a:xfrm>
            <a:off x="838200" y="1543665"/>
            <a:ext cx="10515600" cy="4633298"/>
          </a:xfrm>
        </p:spPr>
        <p:txBody>
          <a:bodyPr/>
          <a:lstStyle/>
          <a:p>
            <a:r>
              <a:rPr lang="en-US" dirty="0"/>
              <a:t>To add a background color to the card, use contextual classes (.</a:t>
            </a:r>
            <a:r>
              <a:rPr lang="en-US" dirty="0" err="1"/>
              <a:t>bg</a:t>
            </a:r>
            <a:r>
              <a:rPr lang="en-US" dirty="0"/>
              <a:t>-primary, </a:t>
            </a:r>
            <a:r>
              <a:rPr lang="en-US" b="1" dirty="0"/>
              <a:t>.</a:t>
            </a:r>
            <a:r>
              <a:rPr lang="en-US" b="1" dirty="0" err="1"/>
              <a:t>bg</a:t>
            </a:r>
            <a:r>
              <a:rPr lang="en-US" b="1" dirty="0"/>
              <a:t>-success, .</a:t>
            </a:r>
            <a:r>
              <a:rPr lang="en-US" b="1" dirty="0" err="1"/>
              <a:t>bg</a:t>
            </a:r>
            <a:r>
              <a:rPr lang="en-US" b="1" dirty="0"/>
              <a:t>-info, .</a:t>
            </a:r>
            <a:r>
              <a:rPr lang="en-US" b="1" dirty="0" err="1"/>
              <a:t>bg</a:t>
            </a:r>
            <a:r>
              <a:rPr lang="en-US" b="1" dirty="0"/>
              <a:t>-warning, .</a:t>
            </a:r>
            <a:r>
              <a:rPr lang="en-US" b="1" dirty="0" err="1"/>
              <a:t>bg</a:t>
            </a:r>
            <a:r>
              <a:rPr lang="en-US" b="1" dirty="0"/>
              <a:t>-danger, .</a:t>
            </a:r>
            <a:r>
              <a:rPr lang="en-US" b="1" dirty="0" err="1"/>
              <a:t>bg</a:t>
            </a:r>
            <a:r>
              <a:rPr lang="en-US" b="1" dirty="0"/>
              <a:t>-secondary, .</a:t>
            </a:r>
            <a:r>
              <a:rPr lang="en-US" b="1" dirty="0" err="1"/>
              <a:t>bg</a:t>
            </a:r>
            <a:r>
              <a:rPr lang="en-US" b="1" dirty="0"/>
              <a:t>-dark and .</a:t>
            </a:r>
            <a:r>
              <a:rPr lang="en-US" b="1" dirty="0" err="1"/>
              <a:t>bg</a:t>
            </a:r>
            <a:r>
              <a:rPr lang="en-US" b="1" dirty="0"/>
              <a:t>-light</a:t>
            </a:r>
            <a:r>
              <a:rPr lang="en-US" dirty="0"/>
              <a:t>.</a:t>
            </a:r>
          </a:p>
          <a:p>
            <a:pPr marL="0" indent="0">
              <a:buNone/>
            </a:pPr>
            <a:r>
              <a:rPr lang="en-US" b="1" dirty="0"/>
              <a:t>&lt;div class="card </a:t>
            </a:r>
            <a:r>
              <a:rPr lang="en-US" b="1" dirty="0" err="1"/>
              <a:t>bg</a:t>
            </a:r>
            <a:r>
              <a:rPr lang="en-US" b="1" dirty="0"/>
              <a:t>-primary text-white"&gt;</a:t>
            </a:r>
          </a:p>
          <a:p>
            <a:pPr marL="0" indent="0">
              <a:buNone/>
            </a:pPr>
            <a:endParaRPr lang="en-IN" b="1" dirty="0"/>
          </a:p>
        </p:txBody>
      </p:sp>
    </p:spTree>
    <p:extLst>
      <p:ext uri="{BB962C8B-B14F-4D97-AF65-F5344CB8AC3E}">
        <p14:creationId xmlns:p14="http://schemas.microsoft.com/office/powerpoint/2010/main" val="209450087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DD5B-8120-9219-D1A0-35FE6E43BEF5}"/>
              </a:ext>
            </a:extLst>
          </p:cNvPr>
          <p:cNvSpPr>
            <a:spLocks noGrp="1"/>
          </p:cNvSpPr>
          <p:nvPr>
            <p:ph type="title"/>
          </p:nvPr>
        </p:nvSpPr>
        <p:spPr/>
        <p:txBody>
          <a:bodyPr/>
          <a:lstStyle/>
          <a:p>
            <a:r>
              <a:rPr lang="en-IN" b="1" dirty="0"/>
              <a:t>Card Images</a:t>
            </a:r>
            <a:br>
              <a:rPr lang="en-IN" b="1" dirty="0"/>
            </a:br>
            <a:endParaRPr lang="en-IN" dirty="0"/>
          </a:p>
        </p:txBody>
      </p:sp>
      <p:sp>
        <p:nvSpPr>
          <p:cNvPr id="3" name="Content Placeholder 2">
            <a:extLst>
              <a:ext uri="{FF2B5EF4-FFF2-40B4-BE49-F238E27FC236}">
                <a16:creationId xmlns:a16="http://schemas.microsoft.com/office/drawing/2014/main" id="{2EE27789-E96E-C7FD-6567-A31A936CE079}"/>
              </a:ext>
            </a:extLst>
          </p:cNvPr>
          <p:cNvSpPr>
            <a:spLocks noGrp="1"/>
          </p:cNvSpPr>
          <p:nvPr>
            <p:ph idx="1"/>
          </p:nvPr>
        </p:nvSpPr>
        <p:spPr/>
        <p:txBody>
          <a:bodyPr/>
          <a:lstStyle/>
          <a:p>
            <a:r>
              <a:rPr lang="en-US" dirty="0"/>
              <a:t>Add </a:t>
            </a:r>
            <a:r>
              <a:rPr lang="en-US" b="1" dirty="0"/>
              <a:t>.card-</a:t>
            </a:r>
            <a:r>
              <a:rPr lang="en-US" b="1" dirty="0" err="1"/>
              <a:t>img</a:t>
            </a:r>
            <a:r>
              <a:rPr lang="en-US" b="1" dirty="0"/>
              <a:t>-top </a:t>
            </a:r>
            <a:r>
              <a:rPr lang="en-US" dirty="0"/>
              <a:t>or </a:t>
            </a:r>
            <a:r>
              <a:rPr lang="en-US" b="1" dirty="0"/>
              <a:t>.card-</a:t>
            </a:r>
            <a:r>
              <a:rPr lang="en-US" b="1" dirty="0" err="1"/>
              <a:t>img</a:t>
            </a:r>
            <a:r>
              <a:rPr lang="en-US" b="1" dirty="0"/>
              <a:t>-bottom </a:t>
            </a:r>
            <a:r>
              <a:rPr lang="en-US" dirty="0"/>
              <a:t>to an &lt;</a:t>
            </a:r>
            <a:r>
              <a:rPr lang="en-US" dirty="0" err="1"/>
              <a:t>img</a:t>
            </a:r>
            <a:r>
              <a:rPr lang="en-US" dirty="0"/>
              <a:t>&gt; to place the image at the top or at the bottom inside the card.</a:t>
            </a:r>
          </a:p>
          <a:p>
            <a:r>
              <a:rPr lang="en-US" dirty="0"/>
              <a:t> Note that we have added the image outside of the .card-body to span the entire width:</a:t>
            </a:r>
          </a:p>
          <a:p>
            <a:pPr marL="0" indent="0">
              <a:buNone/>
            </a:pPr>
            <a:r>
              <a:rPr lang="en-US" dirty="0">
                <a:solidFill>
                  <a:srgbClr val="0000CD"/>
                </a:solidFill>
                <a:effectLst/>
              </a:rPr>
              <a:t> &lt;</a:t>
            </a:r>
            <a:r>
              <a:rPr lang="en-US" dirty="0">
                <a:solidFill>
                  <a:srgbClr val="A52A2A"/>
                </a:solidFill>
                <a:effectLst/>
              </a:rPr>
              <a:t>div</a:t>
            </a:r>
            <a:r>
              <a:rPr lang="en-US" dirty="0">
                <a:solidFill>
                  <a:srgbClr val="FF0000"/>
                </a:solidFill>
                <a:effectLst/>
              </a:rPr>
              <a:t> class</a:t>
            </a:r>
            <a:r>
              <a:rPr lang="en-US" dirty="0">
                <a:solidFill>
                  <a:srgbClr val="0000CD"/>
                </a:solidFill>
                <a:effectLst/>
              </a:rPr>
              <a:t>="card"</a:t>
            </a:r>
            <a:r>
              <a:rPr lang="en-US" dirty="0">
                <a:solidFill>
                  <a:srgbClr val="FF0000"/>
                </a:solidFill>
                <a:effectLst/>
              </a:rPr>
              <a:t> style</a:t>
            </a:r>
            <a:r>
              <a:rPr lang="en-US" dirty="0">
                <a:solidFill>
                  <a:srgbClr val="0000CD"/>
                </a:solidFill>
                <a:effectLst/>
              </a:rPr>
              <a:t>="width:400px"&gt;</a:t>
            </a:r>
            <a:br>
              <a:rPr lang="en-US" dirty="0"/>
            </a:br>
            <a:r>
              <a:rPr lang="en-US" dirty="0"/>
              <a:t>  </a:t>
            </a:r>
            <a:r>
              <a:rPr lang="en-US" dirty="0">
                <a:solidFill>
                  <a:srgbClr val="0000CD"/>
                </a:solidFill>
                <a:effectLst/>
              </a:rPr>
              <a:t>&lt;</a:t>
            </a:r>
            <a:r>
              <a:rPr lang="en-US" dirty="0" err="1">
                <a:solidFill>
                  <a:srgbClr val="A52A2A"/>
                </a:solidFill>
                <a:effectLst/>
              </a:rPr>
              <a:t>img</a:t>
            </a:r>
            <a:r>
              <a:rPr lang="en-US" dirty="0">
                <a:solidFill>
                  <a:srgbClr val="FF0000"/>
                </a:solidFill>
                <a:effectLst/>
              </a:rPr>
              <a:t> class</a:t>
            </a:r>
            <a:r>
              <a:rPr lang="en-US" dirty="0">
                <a:solidFill>
                  <a:srgbClr val="0000CD"/>
                </a:solidFill>
                <a:effectLst/>
              </a:rPr>
              <a:t>="card-</a:t>
            </a:r>
            <a:r>
              <a:rPr lang="en-US" dirty="0" err="1">
                <a:solidFill>
                  <a:srgbClr val="0000CD"/>
                </a:solidFill>
                <a:effectLst/>
              </a:rPr>
              <a:t>img</a:t>
            </a:r>
            <a:r>
              <a:rPr lang="en-US" dirty="0">
                <a:solidFill>
                  <a:srgbClr val="0000CD"/>
                </a:solidFill>
                <a:effectLst/>
              </a:rPr>
              <a:t>-top"</a:t>
            </a:r>
            <a:r>
              <a:rPr lang="en-US" dirty="0">
                <a:solidFill>
                  <a:srgbClr val="FF0000"/>
                </a:solidFill>
                <a:effectLst/>
              </a:rPr>
              <a:t> </a:t>
            </a:r>
            <a:r>
              <a:rPr lang="en-US" dirty="0" err="1">
                <a:solidFill>
                  <a:srgbClr val="FF0000"/>
                </a:solidFill>
                <a:effectLst/>
              </a:rPr>
              <a:t>src</a:t>
            </a:r>
            <a:r>
              <a:rPr lang="en-US" dirty="0">
                <a:solidFill>
                  <a:srgbClr val="0000CD"/>
                </a:solidFill>
                <a:effectLst/>
              </a:rPr>
              <a:t>="img_avatar1.png"</a:t>
            </a:r>
            <a:r>
              <a:rPr lang="en-US" dirty="0">
                <a:solidFill>
                  <a:srgbClr val="FF0000"/>
                </a:solidFill>
                <a:effectLst/>
              </a:rPr>
              <a:t> alt</a:t>
            </a:r>
            <a:r>
              <a:rPr lang="en-US" dirty="0">
                <a:solidFill>
                  <a:srgbClr val="0000CD"/>
                </a:solidFill>
                <a:effectLst/>
              </a:rPr>
              <a:t>="Card image"&gt;</a:t>
            </a:r>
            <a:br>
              <a:rPr lang="en-US" dirty="0"/>
            </a:br>
            <a:r>
              <a:rPr lang="en-US" dirty="0"/>
              <a:t>  </a:t>
            </a:r>
            <a:r>
              <a:rPr lang="en-US" dirty="0">
                <a:solidFill>
                  <a:srgbClr val="0000CD"/>
                </a:solidFill>
                <a:effectLst/>
              </a:rPr>
              <a:t>&lt;</a:t>
            </a:r>
            <a:r>
              <a:rPr lang="en-US" dirty="0">
                <a:solidFill>
                  <a:srgbClr val="A52A2A"/>
                </a:solidFill>
                <a:effectLst/>
              </a:rPr>
              <a:t>div</a:t>
            </a:r>
            <a:r>
              <a:rPr lang="en-US" dirty="0">
                <a:solidFill>
                  <a:srgbClr val="FF0000"/>
                </a:solidFill>
                <a:effectLst/>
              </a:rPr>
              <a:t> class</a:t>
            </a:r>
            <a:r>
              <a:rPr lang="en-US" dirty="0">
                <a:solidFill>
                  <a:srgbClr val="0000CD"/>
                </a:solidFill>
                <a:effectLst/>
              </a:rPr>
              <a:t>="card-body"&gt;</a:t>
            </a:r>
          </a:p>
          <a:p>
            <a:pPr marL="0" indent="0">
              <a:buNone/>
            </a:pPr>
            <a:r>
              <a:rPr lang="en-US" dirty="0">
                <a:solidFill>
                  <a:srgbClr val="0000CD"/>
                </a:solidFill>
              </a:rPr>
              <a:t> …….</a:t>
            </a:r>
            <a:endParaRPr lang="en-IN" dirty="0"/>
          </a:p>
        </p:txBody>
      </p:sp>
      <p:pic>
        <p:nvPicPr>
          <p:cNvPr id="6" name="Picture 5">
            <a:extLst>
              <a:ext uri="{FF2B5EF4-FFF2-40B4-BE49-F238E27FC236}">
                <a16:creationId xmlns:a16="http://schemas.microsoft.com/office/drawing/2014/main" id="{1DAE8E35-2B4D-D77B-13DC-AFD6E672C6DC}"/>
              </a:ext>
            </a:extLst>
          </p:cNvPr>
          <p:cNvPicPr>
            <a:picLocks noChangeAspect="1"/>
          </p:cNvPicPr>
          <p:nvPr/>
        </p:nvPicPr>
        <p:blipFill>
          <a:blip r:embed="rId2"/>
          <a:stretch>
            <a:fillRect/>
          </a:stretch>
        </p:blipFill>
        <p:spPr>
          <a:xfrm>
            <a:off x="7649497" y="4342387"/>
            <a:ext cx="2103963" cy="2314052"/>
          </a:xfrm>
          <a:prstGeom prst="rect">
            <a:avLst/>
          </a:prstGeom>
        </p:spPr>
      </p:pic>
    </p:spTree>
    <p:extLst>
      <p:ext uri="{BB962C8B-B14F-4D97-AF65-F5344CB8AC3E}">
        <p14:creationId xmlns:p14="http://schemas.microsoft.com/office/powerpoint/2010/main" val="7768172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8E26-E5FC-2054-5633-50C3BEB40164}"/>
              </a:ext>
            </a:extLst>
          </p:cNvPr>
          <p:cNvSpPr>
            <a:spLocks noGrp="1"/>
          </p:cNvSpPr>
          <p:nvPr>
            <p:ph type="title"/>
          </p:nvPr>
        </p:nvSpPr>
        <p:spPr/>
        <p:txBody>
          <a:bodyPr/>
          <a:lstStyle/>
          <a:p>
            <a:r>
              <a:rPr lang="en-IN" b="1" dirty="0"/>
              <a:t>Card Image Overlays</a:t>
            </a:r>
            <a:br>
              <a:rPr lang="en-IN" b="1" dirty="0"/>
            </a:br>
            <a:endParaRPr lang="en-IN" dirty="0"/>
          </a:p>
        </p:txBody>
      </p:sp>
      <p:sp>
        <p:nvSpPr>
          <p:cNvPr id="3" name="Content Placeholder 2">
            <a:extLst>
              <a:ext uri="{FF2B5EF4-FFF2-40B4-BE49-F238E27FC236}">
                <a16:creationId xmlns:a16="http://schemas.microsoft.com/office/drawing/2014/main" id="{E03C2843-E456-8387-F560-EDFE911A8A16}"/>
              </a:ext>
            </a:extLst>
          </p:cNvPr>
          <p:cNvSpPr>
            <a:spLocks noGrp="1"/>
          </p:cNvSpPr>
          <p:nvPr>
            <p:ph idx="1"/>
          </p:nvPr>
        </p:nvSpPr>
        <p:spPr/>
        <p:txBody>
          <a:bodyPr/>
          <a:lstStyle/>
          <a:p>
            <a:r>
              <a:rPr lang="en-US" dirty="0"/>
              <a:t>Turn an image into a card background and use .</a:t>
            </a:r>
            <a:r>
              <a:rPr lang="en-US" b="1" dirty="0"/>
              <a:t>card-</a:t>
            </a:r>
            <a:r>
              <a:rPr lang="en-US" b="1" dirty="0" err="1"/>
              <a:t>img</a:t>
            </a:r>
            <a:r>
              <a:rPr lang="en-US" b="1" dirty="0"/>
              <a:t>-overlay</a:t>
            </a:r>
            <a:r>
              <a:rPr lang="en-US" dirty="0"/>
              <a:t> to add text on top of the image:</a:t>
            </a:r>
          </a:p>
          <a:p>
            <a:pPr marL="0" indent="0">
              <a:buNone/>
            </a:pPr>
            <a:r>
              <a:rPr lang="en-US" dirty="0">
                <a:solidFill>
                  <a:srgbClr val="0000CD"/>
                </a:solidFill>
                <a:effectLst/>
              </a:rPr>
              <a:t>&lt;</a:t>
            </a:r>
            <a:r>
              <a:rPr lang="en-US" dirty="0">
                <a:solidFill>
                  <a:srgbClr val="A52A2A"/>
                </a:solidFill>
                <a:effectLst/>
              </a:rPr>
              <a:t>div</a:t>
            </a:r>
            <a:r>
              <a:rPr lang="en-US" dirty="0">
                <a:solidFill>
                  <a:srgbClr val="FF0000"/>
                </a:solidFill>
                <a:effectLst/>
              </a:rPr>
              <a:t> class</a:t>
            </a:r>
            <a:r>
              <a:rPr lang="en-US" dirty="0">
                <a:solidFill>
                  <a:srgbClr val="0000CD"/>
                </a:solidFill>
                <a:effectLst/>
              </a:rPr>
              <a:t>="card"</a:t>
            </a:r>
            <a:r>
              <a:rPr lang="en-US" dirty="0">
                <a:solidFill>
                  <a:srgbClr val="FF0000"/>
                </a:solidFill>
                <a:effectLst/>
              </a:rPr>
              <a:t> style</a:t>
            </a:r>
            <a:r>
              <a:rPr lang="en-US" dirty="0">
                <a:solidFill>
                  <a:srgbClr val="0000CD"/>
                </a:solidFill>
                <a:effectLst/>
              </a:rPr>
              <a:t>="width:500px"&gt;</a:t>
            </a:r>
            <a:br>
              <a:rPr lang="en-US" dirty="0"/>
            </a:br>
            <a:r>
              <a:rPr lang="en-US" dirty="0"/>
              <a:t>  </a:t>
            </a:r>
            <a:r>
              <a:rPr lang="en-US" dirty="0">
                <a:solidFill>
                  <a:srgbClr val="0000CD"/>
                </a:solidFill>
                <a:effectLst/>
              </a:rPr>
              <a:t>&lt;</a:t>
            </a:r>
            <a:r>
              <a:rPr lang="en-US" dirty="0" err="1">
                <a:solidFill>
                  <a:srgbClr val="A52A2A"/>
                </a:solidFill>
                <a:effectLst/>
              </a:rPr>
              <a:t>img</a:t>
            </a:r>
            <a:r>
              <a:rPr lang="en-US" dirty="0">
                <a:solidFill>
                  <a:srgbClr val="FF0000"/>
                </a:solidFill>
                <a:effectLst/>
              </a:rPr>
              <a:t> class</a:t>
            </a:r>
            <a:r>
              <a:rPr lang="en-US" dirty="0">
                <a:solidFill>
                  <a:srgbClr val="0000CD"/>
                </a:solidFill>
                <a:effectLst/>
              </a:rPr>
              <a:t>="card-</a:t>
            </a:r>
            <a:r>
              <a:rPr lang="en-US" dirty="0" err="1">
                <a:solidFill>
                  <a:srgbClr val="0000CD"/>
                </a:solidFill>
                <a:effectLst/>
              </a:rPr>
              <a:t>img</a:t>
            </a:r>
            <a:r>
              <a:rPr lang="en-US" dirty="0">
                <a:solidFill>
                  <a:srgbClr val="0000CD"/>
                </a:solidFill>
                <a:effectLst/>
              </a:rPr>
              <a:t>-top"</a:t>
            </a:r>
            <a:r>
              <a:rPr lang="en-US" dirty="0">
                <a:solidFill>
                  <a:srgbClr val="FF0000"/>
                </a:solidFill>
                <a:effectLst/>
              </a:rPr>
              <a:t> </a:t>
            </a:r>
            <a:r>
              <a:rPr lang="en-US" dirty="0" err="1">
                <a:solidFill>
                  <a:srgbClr val="FF0000"/>
                </a:solidFill>
                <a:effectLst/>
              </a:rPr>
              <a:t>src</a:t>
            </a:r>
            <a:r>
              <a:rPr lang="en-US" dirty="0">
                <a:solidFill>
                  <a:srgbClr val="0000CD"/>
                </a:solidFill>
                <a:effectLst/>
              </a:rPr>
              <a:t>="img_avatar1.png"</a:t>
            </a:r>
            <a:r>
              <a:rPr lang="en-US" dirty="0">
                <a:solidFill>
                  <a:srgbClr val="FF0000"/>
                </a:solidFill>
                <a:effectLst/>
              </a:rPr>
              <a:t> alt</a:t>
            </a:r>
            <a:r>
              <a:rPr lang="en-US" dirty="0">
                <a:solidFill>
                  <a:srgbClr val="0000CD"/>
                </a:solidFill>
                <a:effectLst/>
              </a:rPr>
              <a:t>="Card image"&gt;</a:t>
            </a:r>
            <a:br>
              <a:rPr lang="en-US" dirty="0"/>
            </a:br>
            <a:r>
              <a:rPr lang="en-US" dirty="0"/>
              <a:t>  </a:t>
            </a:r>
            <a:r>
              <a:rPr lang="en-US" dirty="0">
                <a:solidFill>
                  <a:srgbClr val="0000CD"/>
                </a:solidFill>
                <a:effectLst/>
              </a:rPr>
              <a:t>&lt;</a:t>
            </a:r>
            <a:r>
              <a:rPr lang="en-US" dirty="0">
                <a:solidFill>
                  <a:srgbClr val="A52A2A"/>
                </a:solidFill>
                <a:effectLst/>
              </a:rPr>
              <a:t>div</a:t>
            </a:r>
            <a:r>
              <a:rPr lang="en-US" dirty="0">
                <a:solidFill>
                  <a:srgbClr val="FF0000"/>
                </a:solidFill>
                <a:effectLst/>
              </a:rPr>
              <a:t> class</a:t>
            </a:r>
            <a:r>
              <a:rPr lang="en-US" dirty="0">
                <a:solidFill>
                  <a:srgbClr val="0000CD"/>
                </a:solidFill>
                <a:effectLst/>
              </a:rPr>
              <a:t>="card-</a:t>
            </a:r>
            <a:r>
              <a:rPr lang="en-US" dirty="0" err="1">
                <a:solidFill>
                  <a:srgbClr val="0000CD"/>
                </a:solidFill>
                <a:effectLst/>
              </a:rPr>
              <a:t>img</a:t>
            </a:r>
            <a:r>
              <a:rPr lang="en-US" dirty="0">
                <a:solidFill>
                  <a:srgbClr val="0000CD"/>
                </a:solidFill>
                <a:effectLst/>
              </a:rPr>
              <a:t>-overlay"&gt;</a:t>
            </a:r>
          </a:p>
          <a:p>
            <a:pPr marL="0" indent="0">
              <a:buNone/>
            </a:pPr>
            <a:endParaRPr lang="en-IN" dirty="0"/>
          </a:p>
        </p:txBody>
      </p:sp>
      <p:pic>
        <p:nvPicPr>
          <p:cNvPr id="5" name="Picture 4">
            <a:extLst>
              <a:ext uri="{FF2B5EF4-FFF2-40B4-BE49-F238E27FC236}">
                <a16:creationId xmlns:a16="http://schemas.microsoft.com/office/drawing/2014/main" id="{2E2D682B-0DCD-D76E-55DA-4657FBD60A87}"/>
              </a:ext>
            </a:extLst>
          </p:cNvPr>
          <p:cNvPicPr>
            <a:picLocks noChangeAspect="1"/>
          </p:cNvPicPr>
          <p:nvPr/>
        </p:nvPicPr>
        <p:blipFill>
          <a:blip r:embed="rId2"/>
          <a:stretch>
            <a:fillRect/>
          </a:stretch>
        </p:blipFill>
        <p:spPr>
          <a:xfrm>
            <a:off x="5211097" y="3914093"/>
            <a:ext cx="5239795" cy="2578782"/>
          </a:xfrm>
          <a:prstGeom prst="rect">
            <a:avLst/>
          </a:prstGeom>
        </p:spPr>
      </p:pic>
    </p:spTree>
    <p:extLst>
      <p:ext uri="{BB962C8B-B14F-4D97-AF65-F5344CB8AC3E}">
        <p14:creationId xmlns:p14="http://schemas.microsoft.com/office/powerpoint/2010/main" val="31257136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55367-6242-6D26-3204-A63B24EA9B29}"/>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25DF17BC-0919-8EFD-D718-332D06B9356C}"/>
              </a:ext>
            </a:extLst>
          </p:cNvPr>
          <p:cNvPicPr>
            <a:picLocks noGrp="1" noChangeAspect="1"/>
          </p:cNvPicPr>
          <p:nvPr>
            <p:ph idx="1"/>
          </p:nvPr>
        </p:nvPicPr>
        <p:blipFill>
          <a:blip r:embed="rId2"/>
          <a:stretch>
            <a:fillRect/>
          </a:stretch>
        </p:blipFill>
        <p:spPr>
          <a:xfrm>
            <a:off x="4380452" y="1825625"/>
            <a:ext cx="3431096" cy="4351338"/>
          </a:xfrm>
          <a:prstGeom prst="rect">
            <a:avLst/>
          </a:prstGeom>
        </p:spPr>
      </p:pic>
    </p:spTree>
    <p:extLst>
      <p:ext uri="{BB962C8B-B14F-4D97-AF65-F5344CB8AC3E}">
        <p14:creationId xmlns:p14="http://schemas.microsoft.com/office/powerpoint/2010/main" val="238236865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ED504-DFDA-F531-85E0-A94AC00A1A8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56D5474-9AE8-EF3C-FC85-CE8B3261E7E0}"/>
              </a:ext>
            </a:extLst>
          </p:cNvPr>
          <p:cNvSpPr>
            <a:spLocks noGrp="1"/>
          </p:cNvSpPr>
          <p:nvPr>
            <p:ph idx="1"/>
          </p:nvPr>
        </p:nvSpPr>
        <p:spPr>
          <a:xfrm>
            <a:off x="838200" y="1445342"/>
            <a:ext cx="10515600" cy="4731621"/>
          </a:xfrm>
        </p:spPr>
        <p:txBody>
          <a:bodyPr>
            <a:normAutofit fontScale="92500" lnSpcReduction="20000"/>
          </a:bodyPr>
          <a:lstStyle/>
          <a:p>
            <a:r>
              <a:rPr lang="en-US" b="1" dirty="0"/>
              <a:t>&lt;div class="card" style="width: 18rem;"&gt;</a:t>
            </a:r>
          </a:p>
          <a:p>
            <a:r>
              <a:rPr lang="en-US" dirty="0"/>
              <a:t>  &lt;</a:t>
            </a:r>
            <a:r>
              <a:rPr lang="en-US" dirty="0" err="1"/>
              <a:t>img</a:t>
            </a:r>
            <a:r>
              <a:rPr lang="en-US" dirty="0"/>
              <a:t> </a:t>
            </a:r>
            <a:r>
              <a:rPr lang="en-US" dirty="0" err="1"/>
              <a:t>src</a:t>
            </a:r>
            <a:r>
              <a:rPr lang="en-US" dirty="0"/>
              <a:t>="..." class="card-</a:t>
            </a:r>
            <a:r>
              <a:rPr lang="en-US" dirty="0" err="1"/>
              <a:t>img</a:t>
            </a:r>
            <a:r>
              <a:rPr lang="en-US" dirty="0"/>
              <a:t>-top" alt="..."&gt;</a:t>
            </a:r>
          </a:p>
          <a:p>
            <a:endParaRPr lang="en-US" dirty="0"/>
          </a:p>
          <a:p>
            <a:r>
              <a:rPr lang="en-US" dirty="0"/>
              <a:t>  &lt;div class="card-body"&gt;</a:t>
            </a:r>
          </a:p>
          <a:p>
            <a:r>
              <a:rPr lang="en-US" dirty="0"/>
              <a:t>    &lt;h5 class="card-title"&gt;Card title&lt;/h5&gt;</a:t>
            </a:r>
          </a:p>
          <a:p>
            <a:endParaRPr lang="en-US" dirty="0"/>
          </a:p>
          <a:p>
            <a:r>
              <a:rPr lang="en-US" dirty="0"/>
              <a:t>    &lt;p class="card-text"&gt;Some quick example text to build on the card title and make up the bulk of the card's content.&lt;/p&gt;</a:t>
            </a:r>
          </a:p>
          <a:p>
            <a:endParaRPr lang="en-US" dirty="0"/>
          </a:p>
          <a:p>
            <a:r>
              <a:rPr lang="en-US" dirty="0"/>
              <a:t>    &lt;a </a:t>
            </a:r>
            <a:r>
              <a:rPr lang="en-US" dirty="0" err="1"/>
              <a:t>href</a:t>
            </a:r>
            <a:r>
              <a:rPr lang="en-US" dirty="0"/>
              <a:t>="#" class="</a:t>
            </a:r>
            <a:r>
              <a:rPr lang="en-US" dirty="0" err="1"/>
              <a:t>btn</a:t>
            </a:r>
            <a:r>
              <a:rPr lang="en-US" dirty="0"/>
              <a:t> </a:t>
            </a:r>
            <a:r>
              <a:rPr lang="en-US" dirty="0" err="1"/>
              <a:t>btn</a:t>
            </a:r>
            <a:r>
              <a:rPr lang="en-US" dirty="0"/>
              <a:t>-primary"&gt;Go somewhere&lt;/a&gt;</a:t>
            </a:r>
          </a:p>
          <a:p>
            <a:r>
              <a:rPr lang="en-US" dirty="0"/>
              <a:t>  &lt;/div&gt;</a:t>
            </a:r>
          </a:p>
          <a:p>
            <a:r>
              <a:rPr lang="en-US" dirty="0"/>
              <a:t>&lt;/div&gt;</a:t>
            </a:r>
            <a:endParaRPr lang="en-IN" dirty="0"/>
          </a:p>
        </p:txBody>
      </p:sp>
    </p:spTree>
    <p:extLst>
      <p:ext uri="{BB962C8B-B14F-4D97-AF65-F5344CB8AC3E}">
        <p14:creationId xmlns:p14="http://schemas.microsoft.com/office/powerpoint/2010/main" val="56472381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C1913-ADA4-7497-DD85-6F2F53E3E07F}"/>
              </a:ext>
            </a:extLst>
          </p:cNvPr>
          <p:cNvSpPr>
            <a:spLocks noGrp="1"/>
          </p:cNvSpPr>
          <p:nvPr>
            <p:ph type="title"/>
          </p:nvPr>
        </p:nvSpPr>
        <p:spPr/>
        <p:txBody>
          <a:bodyPr/>
          <a:lstStyle/>
          <a:p>
            <a:r>
              <a:rPr lang="en-IN" b="1" dirty="0"/>
              <a:t>List groups</a:t>
            </a:r>
            <a:br>
              <a:rPr lang="en-IN" b="1" dirty="0"/>
            </a:br>
            <a:endParaRPr lang="en-IN" dirty="0"/>
          </a:p>
        </p:txBody>
      </p:sp>
      <p:sp>
        <p:nvSpPr>
          <p:cNvPr id="3" name="Content Placeholder 2">
            <a:extLst>
              <a:ext uri="{FF2B5EF4-FFF2-40B4-BE49-F238E27FC236}">
                <a16:creationId xmlns:a16="http://schemas.microsoft.com/office/drawing/2014/main" id="{C9F4A965-11EB-E9FA-B36E-D9DE6895A42F}"/>
              </a:ext>
            </a:extLst>
          </p:cNvPr>
          <p:cNvSpPr>
            <a:spLocks noGrp="1"/>
          </p:cNvSpPr>
          <p:nvPr>
            <p:ph idx="1"/>
          </p:nvPr>
        </p:nvSpPr>
        <p:spPr/>
        <p:txBody>
          <a:bodyPr/>
          <a:lstStyle/>
          <a:p>
            <a:r>
              <a:rPr lang="en-US" dirty="0"/>
              <a:t>Create lists of content in a card with a flush list group.</a:t>
            </a:r>
          </a:p>
          <a:p>
            <a:pPr marL="0" indent="0">
              <a:buNone/>
            </a:pPr>
            <a:r>
              <a:rPr lang="en-IN" dirty="0"/>
              <a:t>&lt;div class="card" style="width: 18rem;"&gt;</a:t>
            </a:r>
          </a:p>
          <a:p>
            <a:pPr marL="0" indent="0">
              <a:buNone/>
            </a:pPr>
            <a:r>
              <a:rPr lang="en-IN" dirty="0"/>
              <a:t>  &lt;</a:t>
            </a:r>
            <a:r>
              <a:rPr lang="en-IN" dirty="0" err="1"/>
              <a:t>ul</a:t>
            </a:r>
            <a:r>
              <a:rPr lang="en-IN" dirty="0"/>
              <a:t> class="list-group list-group-flush"&gt;</a:t>
            </a:r>
          </a:p>
          <a:p>
            <a:pPr marL="0" indent="0">
              <a:buNone/>
            </a:pPr>
            <a:r>
              <a:rPr lang="en-IN" dirty="0"/>
              <a:t>    &lt;li class="list-group-item"&gt;An item&lt;/li&gt;</a:t>
            </a:r>
          </a:p>
          <a:p>
            <a:pPr marL="0" indent="0">
              <a:buNone/>
            </a:pPr>
            <a:r>
              <a:rPr lang="en-IN" dirty="0"/>
              <a:t>    &lt;li class="list-group-item"&gt;A second item&lt;/li&gt;</a:t>
            </a:r>
          </a:p>
          <a:p>
            <a:pPr marL="0" indent="0">
              <a:buNone/>
            </a:pPr>
            <a:r>
              <a:rPr lang="en-IN" dirty="0"/>
              <a:t>    &lt;li class="list-group-item"&gt;A third item&lt;/li&gt;</a:t>
            </a:r>
          </a:p>
          <a:p>
            <a:pPr marL="0" indent="0">
              <a:buNone/>
            </a:pPr>
            <a:r>
              <a:rPr lang="en-IN" dirty="0"/>
              <a:t>  &lt;/</a:t>
            </a:r>
            <a:r>
              <a:rPr lang="en-IN" dirty="0" err="1"/>
              <a:t>ul</a:t>
            </a:r>
            <a:r>
              <a:rPr lang="en-IN" dirty="0"/>
              <a:t>&gt;</a:t>
            </a:r>
          </a:p>
          <a:p>
            <a:pPr marL="0" indent="0">
              <a:buNone/>
            </a:pPr>
            <a:r>
              <a:rPr lang="en-IN" dirty="0"/>
              <a:t>&lt;/div&gt;</a:t>
            </a:r>
          </a:p>
        </p:txBody>
      </p:sp>
      <p:pic>
        <p:nvPicPr>
          <p:cNvPr id="6" name="Picture 5">
            <a:extLst>
              <a:ext uri="{FF2B5EF4-FFF2-40B4-BE49-F238E27FC236}">
                <a16:creationId xmlns:a16="http://schemas.microsoft.com/office/drawing/2014/main" id="{5725A848-9842-3DFF-5508-E3CA8B01735A}"/>
              </a:ext>
            </a:extLst>
          </p:cNvPr>
          <p:cNvPicPr>
            <a:picLocks noChangeAspect="1"/>
          </p:cNvPicPr>
          <p:nvPr/>
        </p:nvPicPr>
        <p:blipFill>
          <a:blip r:embed="rId2"/>
          <a:stretch>
            <a:fillRect/>
          </a:stretch>
        </p:blipFill>
        <p:spPr>
          <a:xfrm>
            <a:off x="5191134" y="4815850"/>
            <a:ext cx="4267796" cy="2276793"/>
          </a:xfrm>
          <a:prstGeom prst="rect">
            <a:avLst/>
          </a:prstGeom>
        </p:spPr>
      </p:pic>
    </p:spTree>
    <p:extLst>
      <p:ext uri="{BB962C8B-B14F-4D97-AF65-F5344CB8AC3E}">
        <p14:creationId xmlns:p14="http://schemas.microsoft.com/office/powerpoint/2010/main" val="29125018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1BECF-B5B8-3BC0-F85A-5486886A695C}"/>
              </a:ext>
            </a:extLst>
          </p:cNvPr>
          <p:cNvSpPr>
            <a:spLocks noGrp="1"/>
          </p:cNvSpPr>
          <p:nvPr>
            <p:ph type="title"/>
          </p:nvPr>
        </p:nvSpPr>
        <p:spPr/>
        <p:txBody>
          <a:bodyPr/>
          <a:lstStyle/>
          <a:p>
            <a:r>
              <a:rPr lang="en-IN" b="1" dirty="0"/>
              <a:t>Kitchen sink</a:t>
            </a:r>
            <a:br>
              <a:rPr lang="en-IN" b="1" dirty="0"/>
            </a:br>
            <a:endParaRPr lang="en-IN" dirty="0"/>
          </a:p>
        </p:txBody>
      </p:sp>
      <p:sp>
        <p:nvSpPr>
          <p:cNvPr id="3" name="Content Placeholder 2">
            <a:extLst>
              <a:ext uri="{FF2B5EF4-FFF2-40B4-BE49-F238E27FC236}">
                <a16:creationId xmlns:a16="http://schemas.microsoft.com/office/drawing/2014/main" id="{E00698E9-5D0C-F85A-E929-CAB67A6109AA}"/>
              </a:ext>
            </a:extLst>
          </p:cNvPr>
          <p:cNvSpPr>
            <a:spLocks noGrp="1"/>
          </p:cNvSpPr>
          <p:nvPr>
            <p:ph idx="1"/>
          </p:nvPr>
        </p:nvSpPr>
        <p:spPr>
          <a:xfrm>
            <a:off x="838200" y="1815793"/>
            <a:ext cx="10515600" cy="4351338"/>
          </a:xfrm>
        </p:spPr>
        <p:txBody>
          <a:bodyPr/>
          <a:lstStyle/>
          <a:p>
            <a:r>
              <a:rPr lang="en-US" dirty="0"/>
              <a:t>Mix and match multiple content types to create the card you need, or throw everything in there. Shown below are image styles, blocks, text styles, and a list group—all wrapped in a fixed-width card.</a:t>
            </a:r>
            <a:endParaRPr lang="en-IN" dirty="0"/>
          </a:p>
        </p:txBody>
      </p:sp>
      <p:pic>
        <p:nvPicPr>
          <p:cNvPr id="5" name="Picture 4">
            <a:extLst>
              <a:ext uri="{FF2B5EF4-FFF2-40B4-BE49-F238E27FC236}">
                <a16:creationId xmlns:a16="http://schemas.microsoft.com/office/drawing/2014/main" id="{7C1F049D-CFCD-08CB-1970-C3E0509352E4}"/>
              </a:ext>
            </a:extLst>
          </p:cNvPr>
          <p:cNvPicPr>
            <a:picLocks noChangeAspect="1"/>
          </p:cNvPicPr>
          <p:nvPr/>
        </p:nvPicPr>
        <p:blipFill>
          <a:blip r:embed="rId2"/>
          <a:stretch>
            <a:fillRect/>
          </a:stretch>
        </p:blipFill>
        <p:spPr>
          <a:xfrm>
            <a:off x="4963943" y="2971083"/>
            <a:ext cx="3896269" cy="3886917"/>
          </a:xfrm>
          <a:prstGeom prst="rect">
            <a:avLst/>
          </a:prstGeom>
        </p:spPr>
      </p:pic>
    </p:spTree>
    <p:extLst>
      <p:ext uri="{BB962C8B-B14F-4D97-AF65-F5344CB8AC3E}">
        <p14:creationId xmlns:p14="http://schemas.microsoft.com/office/powerpoint/2010/main" val="77549297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B62BE-56A0-C484-FE66-2436C0B38A7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AB1E1D8-7887-ACD5-1B56-E16C0912D925}"/>
              </a:ext>
            </a:extLst>
          </p:cNvPr>
          <p:cNvSpPr>
            <a:spLocks noGrp="1"/>
          </p:cNvSpPr>
          <p:nvPr>
            <p:ph idx="1"/>
          </p:nvPr>
        </p:nvSpPr>
        <p:spPr>
          <a:xfrm>
            <a:off x="838200" y="1396182"/>
            <a:ext cx="10515600" cy="4780782"/>
          </a:xfrm>
        </p:spPr>
        <p:txBody>
          <a:bodyPr>
            <a:normAutofit fontScale="55000" lnSpcReduction="20000"/>
          </a:bodyPr>
          <a:lstStyle/>
          <a:p>
            <a:pPr marL="0" indent="0">
              <a:buNone/>
            </a:pPr>
            <a:r>
              <a:rPr lang="en-US" dirty="0"/>
              <a:t>&lt;div class="card" style="width: 18rem;"&gt;</a:t>
            </a:r>
          </a:p>
          <a:p>
            <a:pPr marL="0" indent="0">
              <a:buNone/>
            </a:pPr>
            <a:r>
              <a:rPr lang="en-US" dirty="0"/>
              <a:t>  &lt;</a:t>
            </a:r>
            <a:r>
              <a:rPr lang="en-US" dirty="0" err="1"/>
              <a:t>img</a:t>
            </a:r>
            <a:r>
              <a:rPr lang="en-US" dirty="0"/>
              <a:t> </a:t>
            </a:r>
            <a:r>
              <a:rPr lang="en-US" dirty="0" err="1"/>
              <a:t>src</a:t>
            </a:r>
            <a:r>
              <a:rPr lang="en-US" dirty="0"/>
              <a:t>="..." class="card-</a:t>
            </a:r>
            <a:r>
              <a:rPr lang="en-US" dirty="0" err="1"/>
              <a:t>img</a:t>
            </a:r>
            <a:r>
              <a:rPr lang="en-US" dirty="0"/>
              <a:t>-top" alt="..."&gt;</a:t>
            </a:r>
          </a:p>
          <a:p>
            <a:pPr marL="0" indent="0">
              <a:buNone/>
            </a:pPr>
            <a:r>
              <a:rPr lang="en-US" dirty="0"/>
              <a:t>  &lt;div class="card-body"&gt;</a:t>
            </a:r>
          </a:p>
          <a:p>
            <a:pPr marL="0" indent="0">
              <a:buNone/>
            </a:pPr>
            <a:r>
              <a:rPr lang="en-US" dirty="0"/>
              <a:t>    &lt;h5 class="card-title"&gt;Card title&lt;/h5&gt;</a:t>
            </a:r>
          </a:p>
          <a:p>
            <a:pPr marL="0" indent="0">
              <a:buNone/>
            </a:pPr>
            <a:r>
              <a:rPr lang="en-US" dirty="0"/>
              <a:t>    &lt;p class="card-text"&gt;Some quick example text to build on the card title and make up the bulk of the card's content.&lt;/p&gt;</a:t>
            </a:r>
          </a:p>
          <a:p>
            <a:pPr marL="0" indent="0">
              <a:buNone/>
            </a:pPr>
            <a:r>
              <a:rPr lang="en-US" dirty="0"/>
              <a:t>  &lt;/div&gt;</a:t>
            </a:r>
          </a:p>
          <a:p>
            <a:pPr marL="0" indent="0">
              <a:buNone/>
            </a:pPr>
            <a:r>
              <a:rPr lang="en-US" dirty="0"/>
              <a:t>  &lt;</a:t>
            </a:r>
            <a:r>
              <a:rPr lang="en-US" dirty="0" err="1"/>
              <a:t>ul</a:t>
            </a:r>
            <a:r>
              <a:rPr lang="en-US" dirty="0"/>
              <a:t> class="list-group list-group-flush"&gt;</a:t>
            </a:r>
          </a:p>
          <a:p>
            <a:pPr marL="0" indent="0">
              <a:buNone/>
            </a:pPr>
            <a:r>
              <a:rPr lang="en-US" dirty="0"/>
              <a:t>    &lt;li class="list-group-item"&gt;An item&lt;/li&gt;</a:t>
            </a:r>
          </a:p>
          <a:p>
            <a:pPr marL="0" indent="0">
              <a:buNone/>
            </a:pPr>
            <a:r>
              <a:rPr lang="en-US" dirty="0"/>
              <a:t>    &lt;li class="list-group-item"&gt;A second item&lt;/li&gt;</a:t>
            </a:r>
          </a:p>
          <a:p>
            <a:pPr marL="0" indent="0">
              <a:buNone/>
            </a:pPr>
            <a:r>
              <a:rPr lang="en-US" dirty="0"/>
              <a:t>    &lt;li class="list-group-item"&gt;A third item&lt;/li&gt;</a:t>
            </a:r>
          </a:p>
          <a:p>
            <a:pPr marL="0" indent="0">
              <a:buNone/>
            </a:pPr>
            <a:r>
              <a:rPr lang="en-US" dirty="0"/>
              <a:t>  &lt;/</a:t>
            </a:r>
            <a:r>
              <a:rPr lang="en-US" dirty="0" err="1"/>
              <a:t>ul</a:t>
            </a:r>
            <a:r>
              <a:rPr lang="en-US" dirty="0"/>
              <a:t>&gt;</a:t>
            </a:r>
          </a:p>
          <a:p>
            <a:pPr marL="0" indent="0">
              <a:buNone/>
            </a:pPr>
            <a:r>
              <a:rPr lang="en-US" dirty="0"/>
              <a:t>  &lt;div class="card-body"&gt;</a:t>
            </a:r>
          </a:p>
          <a:p>
            <a:pPr marL="0" indent="0">
              <a:buNone/>
            </a:pPr>
            <a:r>
              <a:rPr lang="en-US" dirty="0"/>
              <a:t>    &lt;a </a:t>
            </a:r>
            <a:r>
              <a:rPr lang="en-US" dirty="0" err="1"/>
              <a:t>href</a:t>
            </a:r>
            <a:r>
              <a:rPr lang="en-US" dirty="0"/>
              <a:t>="#" class="card-link"&gt;Card link&lt;/a&gt;</a:t>
            </a:r>
          </a:p>
          <a:p>
            <a:pPr marL="0" indent="0">
              <a:buNone/>
            </a:pPr>
            <a:r>
              <a:rPr lang="en-US" dirty="0"/>
              <a:t>    &lt;a </a:t>
            </a:r>
            <a:r>
              <a:rPr lang="en-US" dirty="0" err="1"/>
              <a:t>href</a:t>
            </a:r>
            <a:r>
              <a:rPr lang="en-US" dirty="0"/>
              <a:t>="#" class="card-link"&gt;Another link&lt;/a&gt;</a:t>
            </a:r>
          </a:p>
          <a:p>
            <a:pPr marL="0" indent="0">
              <a:buNone/>
            </a:pPr>
            <a:r>
              <a:rPr lang="en-US" dirty="0"/>
              <a:t>  &lt;/div&gt;</a:t>
            </a:r>
          </a:p>
          <a:p>
            <a:pPr marL="0" indent="0">
              <a:buNone/>
            </a:pPr>
            <a:r>
              <a:rPr lang="en-US" dirty="0"/>
              <a:t>&lt;/div&gt;</a:t>
            </a:r>
            <a:endParaRPr lang="en-IN" dirty="0"/>
          </a:p>
        </p:txBody>
      </p:sp>
    </p:spTree>
    <p:extLst>
      <p:ext uri="{BB962C8B-B14F-4D97-AF65-F5344CB8AC3E}">
        <p14:creationId xmlns:p14="http://schemas.microsoft.com/office/powerpoint/2010/main" val="160163060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70A67-6472-E2F7-EA9E-0A8D6BBF1029}"/>
              </a:ext>
            </a:extLst>
          </p:cNvPr>
          <p:cNvSpPr>
            <a:spLocks noGrp="1"/>
          </p:cNvSpPr>
          <p:nvPr>
            <p:ph type="title"/>
          </p:nvPr>
        </p:nvSpPr>
        <p:spPr/>
        <p:txBody>
          <a:bodyPr/>
          <a:lstStyle/>
          <a:p>
            <a:r>
              <a:rPr lang="en-IN" b="1" dirty="0"/>
              <a:t>Sizing</a:t>
            </a:r>
            <a:br>
              <a:rPr lang="en-IN" b="1" dirty="0"/>
            </a:br>
            <a:endParaRPr lang="en-IN" dirty="0"/>
          </a:p>
        </p:txBody>
      </p:sp>
      <p:sp>
        <p:nvSpPr>
          <p:cNvPr id="3" name="Content Placeholder 2">
            <a:extLst>
              <a:ext uri="{FF2B5EF4-FFF2-40B4-BE49-F238E27FC236}">
                <a16:creationId xmlns:a16="http://schemas.microsoft.com/office/drawing/2014/main" id="{F7FADFE5-3B59-B9DA-E11A-5810B5BAEEC1}"/>
              </a:ext>
            </a:extLst>
          </p:cNvPr>
          <p:cNvSpPr>
            <a:spLocks noGrp="1"/>
          </p:cNvSpPr>
          <p:nvPr>
            <p:ph idx="1"/>
          </p:nvPr>
        </p:nvSpPr>
        <p:spPr>
          <a:xfrm>
            <a:off x="838200" y="1297858"/>
            <a:ext cx="10675374" cy="4879105"/>
          </a:xfrm>
        </p:spPr>
        <p:txBody>
          <a:bodyPr/>
          <a:lstStyle/>
          <a:p>
            <a:r>
              <a:rPr lang="en-US" dirty="0"/>
              <a:t>Cards assume no specific width to start, so they’ll be 100% wide unless otherwise stated.</a:t>
            </a:r>
          </a:p>
          <a:p>
            <a:r>
              <a:rPr lang="en-US" dirty="0"/>
              <a:t> You can change this as needed with custom CSS, grid classes, grid Sass </a:t>
            </a:r>
            <a:r>
              <a:rPr lang="en-US" dirty="0" err="1"/>
              <a:t>mixins</a:t>
            </a:r>
            <a:r>
              <a:rPr lang="en-US" dirty="0"/>
              <a:t>, or utilities.</a:t>
            </a:r>
          </a:p>
          <a:p>
            <a:r>
              <a:rPr lang="en-US" b="1" dirty="0"/>
              <a:t>Custom CSS- </a:t>
            </a:r>
            <a:r>
              <a:rPr lang="en-US" dirty="0"/>
              <a:t>&lt;div class="card" style="width: 18rem;"&gt;</a:t>
            </a:r>
          </a:p>
          <a:p>
            <a:r>
              <a:rPr lang="en-IN" b="1" dirty="0"/>
              <a:t>Using grid markup-</a:t>
            </a:r>
            <a:r>
              <a:rPr lang="en-US" dirty="0"/>
              <a:t>Using the grid, wrap cards in columns and rows as needed.</a:t>
            </a:r>
            <a:endParaRPr lang="en-IN" b="1" dirty="0"/>
          </a:p>
          <a:p>
            <a:endParaRPr lang="en-IN" dirty="0"/>
          </a:p>
        </p:txBody>
      </p:sp>
      <p:pic>
        <p:nvPicPr>
          <p:cNvPr id="8" name="Picture 7">
            <a:extLst>
              <a:ext uri="{FF2B5EF4-FFF2-40B4-BE49-F238E27FC236}">
                <a16:creationId xmlns:a16="http://schemas.microsoft.com/office/drawing/2014/main" id="{BD2AF884-1BE0-13DB-D6CD-A241E7400761}"/>
              </a:ext>
            </a:extLst>
          </p:cNvPr>
          <p:cNvPicPr>
            <a:picLocks noChangeAspect="1"/>
          </p:cNvPicPr>
          <p:nvPr/>
        </p:nvPicPr>
        <p:blipFill>
          <a:blip r:embed="rId2"/>
          <a:stretch>
            <a:fillRect/>
          </a:stretch>
        </p:blipFill>
        <p:spPr>
          <a:xfrm>
            <a:off x="2094091" y="4465514"/>
            <a:ext cx="10097909" cy="2189256"/>
          </a:xfrm>
          <a:prstGeom prst="rect">
            <a:avLst/>
          </a:prstGeom>
        </p:spPr>
      </p:pic>
    </p:spTree>
    <p:extLst>
      <p:ext uri="{BB962C8B-B14F-4D97-AF65-F5344CB8AC3E}">
        <p14:creationId xmlns:p14="http://schemas.microsoft.com/office/powerpoint/2010/main" val="298650651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9090B-FCE1-D66F-6699-759E9FE6CA3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AFD1058-1417-75AC-F0D3-A81619D8FE34}"/>
              </a:ext>
            </a:extLst>
          </p:cNvPr>
          <p:cNvSpPr>
            <a:spLocks noGrp="1"/>
          </p:cNvSpPr>
          <p:nvPr>
            <p:ph idx="1"/>
          </p:nvPr>
        </p:nvSpPr>
        <p:spPr>
          <a:xfrm>
            <a:off x="838200" y="1288026"/>
            <a:ext cx="10515600" cy="4888937"/>
          </a:xfrm>
        </p:spPr>
        <p:txBody>
          <a:bodyPr>
            <a:normAutofit fontScale="55000" lnSpcReduction="20000"/>
          </a:bodyPr>
          <a:lstStyle/>
          <a:p>
            <a:r>
              <a:rPr lang="en-US" dirty="0"/>
              <a:t>&lt;div class="row"&gt;</a:t>
            </a:r>
          </a:p>
          <a:p>
            <a:r>
              <a:rPr lang="en-US" dirty="0"/>
              <a:t>  &lt;div class="col-sm-6"&gt;</a:t>
            </a:r>
          </a:p>
          <a:p>
            <a:r>
              <a:rPr lang="en-US" dirty="0"/>
              <a:t>    &lt;div class="card"&gt;</a:t>
            </a:r>
          </a:p>
          <a:p>
            <a:r>
              <a:rPr lang="en-US" dirty="0"/>
              <a:t>      &lt;div class="card-body"&gt;</a:t>
            </a:r>
          </a:p>
          <a:p>
            <a:r>
              <a:rPr lang="en-US" dirty="0"/>
              <a:t>        ………..</a:t>
            </a:r>
          </a:p>
          <a:p>
            <a:r>
              <a:rPr lang="en-US" dirty="0"/>
              <a:t>      &lt;/div&gt;</a:t>
            </a:r>
          </a:p>
          <a:p>
            <a:r>
              <a:rPr lang="en-US" dirty="0"/>
              <a:t>    &lt;/div&gt;</a:t>
            </a:r>
          </a:p>
          <a:p>
            <a:r>
              <a:rPr lang="en-US" dirty="0"/>
              <a:t>  &lt;/div&gt;</a:t>
            </a:r>
          </a:p>
          <a:p>
            <a:r>
              <a:rPr lang="en-US" dirty="0"/>
              <a:t>  &lt;div class="col-sm-6"&gt;</a:t>
            </a:r>
          </a:p>
          <a:p>
            <a:r>
              <a:rPr lang="en-US" dirty="0"/>
              <a:t>    &lt;div class="card"&gt;</a:t>
            </a:r>
          </a:p>
          <a:p>
            <a:r>
              <a:rPr lang="en-US" dirty="0"/>
              <a:t>      &lt;div class="card-body"&gt;</a:t>
            </a:r>
          </a:p>
          <a:p>
            <a:r>
              <a:rPr lang="en-US" dirty="0"/>
              <a:t>………………</a:t>
            </a:r>
          </a:p>
          <a:p>
            <a:r>
              <a:rPr lang="en-US" dirty="0"/>
              <a:t>      &lt;/div&gt;</a:t>
            </a:r>
          </a:p>
          <a:p>
            <a:r>
              <a:rPr lang="en-US" dirty="0"/>
              <a:t>    &lt;/div&gt;</a:t>
            </a:r>
          </a:p>
          <a:p>
            <a:r>
              <a:rPr lang="en-US" dirty="0"/>
              <a:t>  &lt;/div&gt;</a:t>
            </a:r>
          </a:p>
          <a:p>
            <a:r>
              <a:rPr lang="en-US" dirty="0"/>
              <a:t>&lt;/div&gt;</a:t>
            </a:r>
            <a:endParaRPr lang="en-IN" dirty="0"/>
          </a:p>
        </p:txBody>
      </p:sp>
    </p:spTree>
    <p:extLst>
      <p:ext uri="{BB962C8B-B14F-4D97-AF65-F5344CB8AC3E}">
        <p14:creationId xmlns:p14="http://schemas.microsoft.com/office/powerpoint/2010/main" val="244920428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8452A0-6E98-DCAF-D600-C54658362BFD}"/>
              </a:ext>
            </a:extLst>
          </p:cNvPr>
          <p:cNvSpPr>
            <a:spLocks noGrp="1"/>
          </p:cNvSpPr>
          <p:nvPr>
            <p:ph idx="1"/>
          </p:nvPr>
        </p:nvSpPr>
        <p:spPr>
          <a:xfrm>
            <a:off x="838200" y="973394"/>
            <a:ext cx="10515600" cy="5203569"/>
          </a:xfrm>
        </p:spPr>
        <p:txBody>
          <a:bodyPr/>
          <a:lstStyle/>
          <a:p>
            <a:r>
              <a:rPr lang="en-IN" b="1" dirty="0"/>
              <a:t>Using utilities</a:t>
            </a:r>
          </a:p>
          <a:p>
            <a:r>
              <a:rPr lang="en-US" dirty="0"/>
              <a:t>Use our handful of </a:t>
            </a:r>
            <a:r>
              <a:rPr lang="en-US" dirty="0">
                <a:hlinkClick r:id="rId2"/>
              </a:rPr>
              <a:t>available sizing utilities</a:t>
            </a:r>
            <a:r>
              <a:rPr lang="en-US" dirty="0"/>
              <a:t> to quickly set a card’s width.</a:t>
            </a:r>
            <a:endParaRPr lang="en-IN" b="1" dirty="0"/>
          </a:p>
          <a:p>
            <a:pPr marL="0" indent="0">
              <a:buNone/>
            </a:pPr>
            <a:r>
              <a:rPr lang="en-IN" dirty="0"/>
              <a:t>       &lt;div class="card w-75"&gt;</a:t>
            </a:r>
          </a:p>
        </p:txBody>
      </p:sp>
    </p:spTree>
    <p:extLst>
      <p:ext uri="{BB962C8B-B14F-4D97-AF65-F5344CB8AC3E}">
        <p14:creationId xmlns:p14="http://schemas.microsoft.com/office/powerpoint/2010/main" val="282350441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32423-8247-151A-2CB8-724B41E956FC}"/>
              </a:ext>
            </a:extLst>
          </p:cNvPr>
          <p:cNvSpPr>
            <a:spLocks noGrp="1"/>
          </p:cNvSpPr>
          <p:nvPr>
            <p:ph type="title"/>
          </p:nvPr>
        </p:nvSpPr>
        <p:spPr/>
        <p:txBody>
          <a:bodyPr/>
          <a:lstStyle/>
          <a:p>
            <a:r>
              <a:rPr lang="en-IN" b="1" dirty="0"/>
              <a:t>Horizontal</a:t>
            </a:r>
            <a:br>
              <a:rPr lang="en-IN" b="1" dirty="0"/>
            </a:br>
            <a:endParaRPr lang="en-IN" dirty="0"/>
          </a:p>
        </p:txBody>
      </p:sp>
      <p:sp>
        <p:nvSpPr>
          <p:cNvPr id="3" name="Content Placeholder 2">
            <a:extLst>
              <a:ext uri="{FF2B5EF4-FFF2-40B4-BE49-F238E27FC236}">
                <a16:creationId xmlns:a16="http://schemas.microsoft.com/office/drawing/2014/main" id="{62135488-E490-58CD-0711-0D901295F212}"/>
              </a:ext>
            </a:extLst>
          </p:cNvPr>
          <p:cNvSpPr>
            <a:spLocks noGrp="1"/>
          </p:cNvSpPr>
          <p:nvPr>
            <p:ph idx="1"/>
          </p:nvPr>
        </p:nvSpPr>
        <p:spPr/>
        <p:txBody>
          <a:bodyPr>
            <a:normAutofit fontScale="92500" lnSpcReduction="20000"/>
          </a:bodyPr>
          <a:lstStyle/>
          <a:p>
            <a:r>
              <a:rPr lang="en-US" dirty="0"/>
              <a:t>Using a combination of grid and utility classes, cards can be made horizontal in a mobile-friendly and responsive way. </a:t>
            </a:r>
          </a:p>
          <a:p>
            <a:r>
              <a:rPr lang="en-US" dirty="0"/>
              <a:t>In the example below, we remove the grid gutters with </a:t>
            </a:r>
            <a:r>
              <a:rPr lang="en-US" b="1" dirty="0"/>
              <a:t>.g-0 </a:t>
            </a:r>
            <a:r>
              <a:rPr lang="en-US" dirty="0"/>
              <a:t>and use </a:t>
            </a:r>
            <a:r>
              <a:rPr lang="en-US" b="1" dirty="0"/>
              <a:t>.col-md-* </a:t>
            </a:r>
            <a:r>
              <a:rPr lang="en-US" dirty="0"/>
              <a:t>classes to make the card horizontal at the md breakpoint. Further adjustments may be needed depending on your card content. </a:t>
            </a:r>
          </a:p>
          <a:p>
            <a:pPr marL="0" indent="0">
              <a:buNone/>
            </a:pPr>
            <a:r>
              <a:rPr lang="en-US" dirty="0"/>
              <a:t>&lt;div class="card mb-3" style="max-width: 540px;"&gt;</a:t>
            </a:r>
          </a:p>
          <a:p>
            <a:pPr marL="0" indent="0">
              <a:buNone/>
            </a:pPr>
            <a:r>
              <a:rPr lang="en-US" dirty="0"/>
              <a:t>  &lt;div class="row g-0"&gt;</a:t>
            </a:r>
          </a:p>
          <a:p>
            <a:pPr marL="0" indent="0">
              <a:buNone/>
            </a:pPr>
            <a:r>
              <a:rPr lang="en-US" dirty="0"/>
              <a:t>    &lt;div class="col-md-4"&gt;</a:t>
            </a:r>
          </a:p>
          <a:p>
            <a:pPr marL="0" indent="0">
              <a:buNone/>
            </a:pPr>
            <a:r>
              <a:rPr lang="en-US" dirty="0"/>
              <a:t>      &lt;</a:t>
            </a:r>
            <a:r>
              <a:rPr lang="en-US" dirty="0" err="1"/>
              <a:t>img</a:t>
            </a:r>
            <a:r>
              <a:rPr lang="en-US" dirty="0"/>
              <a:t> </a:t>
            </a:r>
            <a:r>
              <a:rPr lang="en-US" dirty="0" err="1"/>
              <a:t>src</a:t>
            </a:r>
            <a:r>
              <a:rPr lang="en-US" dirty="0"/>
              <a:t>="..." class="</a:t>
            </a:r>
            <a:r>
              <a:rPr lang="en-US" dirty="0" err="1"/>
              <a:t>img</a:t>
            </a:r>
            <a:r>
              <a:rPr lang="en-US" dirty="0"/>
              <a:t>-fluid rounded-start" alt="..."&gt;</a:t>
            </a:r>
          </a:p>
          <a:p>
            <a:pPr marL="0" indent="0">
              <a:buNone/>
            </a:pPr>
            <a:r>
              <a:rPr lang="en-US" dirty="0"/>
              <a:t>    &lt;/div&gt;</a:t>
            </a:r>
          </a:p>
          <a:p>
            <a:pPr marL="0" indent="0">
              <a:buNone/>
            </a:pPr>
            <a:r>
              <a:rPr lang="en-US" dirty="0"/>
              <a:t>    &lt;div class="col-md-8"&gt;</a:t>
            </a:r>
          </a:p>
          <a:p>
            <a:endParaRPr lang="en-IN" dirty="0"/>
          </a:p>
        </p:txBody>
      </p:sp>
      <p:pic>
        <p:nvPicPr>
          <p:cNvPr id="5" name="Picture 4">
            <a:extLst>
              <a:ext uri="{FF2B5EF4-FFF2-40B4-BE49-F238E27FC236}">
                <a16:creationId xmlns:a16="http://schemas.microsoft.com/office/drawing/2014/main" id="{A24221B0-A1E4-7D32-A6A3-05BDF8F27B95}"/>
              </a:ext>
            </a:extLst>
          </p:cNvPr>
          <p:cNvPicPr>
            <a:picLocks noChangeAspect="1"/>
          </p:cNvPicPr>
          <p:nvPr/>
        </p:nvPicPr>
        <p:blipFill>
          <a:blip r:embed="rId2"/>
          <a:stretch>
            <a:fillRect/>
          </a:stretch>
        </p:blipFill>
        <p:spPr>
          <a:xfrm>
            <a:off x="8851144" y="3304679"/>
            <a:ext cx="3262198" cy="3553321"/>
          </a:xfrm>
          <a:prstGeom prst="rect">
            <a:avLst/>
          </a:prstGeom>
        </p:spPr>
      </p:pic>
    </p:spTree>
    <p:extLst>
      <p:ext uri="{BB962C8B-B14F-4D97-AF65-F5344CB8AC3E}">
        <p14:creationId xmlns:p14="http://schemas.microsoft.com/office/powerpoint/2010/main" val="15454840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2541</TotalTime>
  <Words>7461</Words>
  <Application>Microsoft Office PowerPoint</Application>
  <PresentationFormat>Widescreen</PresentationFormat>
  <Paragraphs>584</Paragraphs>
  <Slides>96</Slides>
  <Notes>0</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96</vt:i4>
      </vt:variant>
    </vt:vector>
  </HeadingPairs>
  <TitlesOfParts>
    <vt:vector size="103" baseType="lpstr">
      <vt:lpstr>Arial</vt:lpstr>
      <vt:lpstr>Arial Unicode MS</vt:lpstr>
      <vt:lpstr>Calibri</vt:lpstr>
      <vt:lpstr>Calibri Light</vt:lpstr>
      <vt:lpstr>Times New Roman</vt:lpstr>
      <vt:lpstr>Wingdings</vt:lpstr>
      <vt:lpstr>Office Theme</vt:lpstr>
      <vt:lpstr> MODULE- 2</vt:lpstr>
      <vt:lpstr>PowerPoint Presentation</vt:lpstr>
      <vt:lpstr>Information architecture (IA) &amp; Application structure </vt:lpstr>
      <vt:lpstr>Introduction to information architecture and application structure </vt:lpstr>
      <vt:lpstr>PowerPoint Presentation</vt:lpstr>
      <vt:lpstr>Displaying a single item</vt:lpstr>
      <vt:lpstr>Displaying a single item</vt:lpstr>
      <vt:lpstr>Presenting a list or collection of items</vt:lpstr>
      <vt:lpstr>Presenting a list or collection of items</vt:lpstr>
      <vt:lpstr>Offering tools for creation</vt:lpstr>
      <vt:lpstr> Facilitating a specific task </vt:lpstr>
      <vt:lpstr>The Patterns</vt:lpstr>
      <vt:lpstr>The Patterns</vt:lpstr>
      <vt:lpstr>1. Feature, Search, and Browse </vt:lpstr>
      <vt:lpstr>1. Feature, Search, and Browse - WHY </vt:lpstr>
      <vt:lpstr>1. Feature, Search, and Browse- HOW</vt:lpstr>
      <vt:lpstr>1. Feature, Search, and Browse- HOW</vt:lpstr>
      <vt:lpstr>2. News Stream- WHAT &amp; WHEN</vt:lpstr>
      <vt:lpstr>2. News Stream- WHY</vt:lpstr>
      <vt:lpstr>2. News Stream- HOW</vt:lpstr>
      <vt:lpstr>2. News Stream</vt:lpstr>
      <vt:lpstr>PowerPoint Presentation</vt:lpstr>
      <vt:lpstr>PowerPoint Presentation</vt:lpstr>
      <vt:lpstr>3.Picture Manager- WHAT &amp; WHEN</vt:lpstr>
      <vt:lpstr>Picture Manager- HOW</vt:lpstr>
      <vt:lpstr>THUMBNAILS</vt:lpstr>
      <vt:lpstr>THUMBNAILS</vt:lpstr>
      <vt:lpstr>Single-Item View</vt:lpstr>
      <vt:lpstr>Single-Item View</vt:lpstr>
      <vt:lpstr>4. Dashboard</vt:lpstr>
      <vt:lpstr>PowerPoint Presentation</vt:lpstr>
      <vt:lpstr>PowerPoint Presentation</vt:lpstr>
      <vt:lpstr>5. Canvas Plus Palette</vt:lpstr>
      <vt:lpstr>PowerPoint Presentation</vt:lpstr>
      <vt:lpstr>PowerPoint Presentation</vt:lpstr>
      <vt:lpstr>6. Settings Editor</vt:lpstr>
      <vt:lpstr>PowerPoint Presentation</vt:lpstr>
      <vt:lpstr>7. Alternative Views</vt:lpstr>
      <vt:lpstr>PowerPoint Presentation</vt:lpstr>
      <vt:lpstr>WHY</vt:lpstr>
      <vt:lpstr>HOW</vt:lpstr>
      <vt:lpstr>HOW</vt:lpstr>
      <vt:lpstr>Many Workspaces</vt:lpstr>
      <vt:lpstr>WHY</vt:lpstr>
      <vt:lpstr>HOW</vt:lpstr>
      <vt:lpstr>PowerPoint Presentation</vt:lpstr>
      <vt:lpstr>Multi-Level Help</vt:lpstr>
      <vt:lpstr>Multi-Level Help</vt:lpstr>
      <vt:lpstr>Multi-Level Help- WHY</vt:lpstr>
      <vt:lpstr>Multi-Level Help- WHY</vt:lpstr>
      <vt:lpstr>Multi-Level Help- HOW</vt:lpstr>
      <vt:lpstr>BOOTSTRAP</vt:lpstr>
      <vt:lpstr>BOOTSTRAP -Responsive images</vt:lpstr>
      <vt:lpstr>IMAGE SHAPES</vt:lpstr>
      <vt:lpstr>Aligning Images</vt:lpstr>
      <vt:lpstr>Aligning Images</vt:lpstr>
      <vt:lpstr>Sass- Variables </vt:lpstr>
      <vt:lpstr>Tables </vt:lpstr>
      <vt:lpstr>PowerPoint Presentation</vt:lpstr>
      <vt:lpstr>PowerPoint Presentation</vt:lpstr>
      <vt:lpstr>Striped Rows &amp; Bordered Table </vt:lpstr>
      <vt:lpstr>Hover Rows </vt:lpstr>
      <vt:lpstr>Variants </vt:lpstr>
      <vt:lpstr>PowerPoint Presentation</vt:lpstr>
      <vt:lpstr>Responsive Tables  </vt:lpstr>
      <vt:lpstr>Responsive Tables </vt:lpstr>
      <vt:lpstr>Vertical alignment </vt:lpstr>
      <vt:lpstr> </vt:lpstr>
      <vt:lpstr>List</vt:lpstr>
      <vt:lpstr>List-Badges</vt:lpstr>
      <vt:lpstr>List Group With Linked Items </vt:lpstr>
      <vt:lpstr>Active State </vt:lpstr>
      <vt:lpstr>Buttons </vt:lpstr>
      <vt:lpstr>Flush </vt:lpstr>
      <vt:lpstr>Custom content </vt:lpstr>
      <vt:lpstr>Unstyled </vt:lpstr>
      <vt:lpstr>Inline </vt:lpstr>
      <vt:lpstr>Numbered </vt:lpstr>
      <vt:lpstr>Checkboxes and radios </vt:lpstr>
      <vt:lpstr>Cards </vt:lpstr>
      <vt:lpstr>Content types </vt:lpstr>
      <vt:lpstr>Titles, text, and links </vt:lpstr>
      <vt:lpstr> Header and Footer  </vt:lpstr>
      <vt:lpstr>Text alignment </vt:lpstr>
      <vt:lpstr>Contextual Cards </vt:lpstr>
      <vt:lpstr>Card Images </vt:lpstr>
      <vt:lpstr>Card Image Overlays </vt:lpstr>
      <vt:lpstr>PowerPoint Presentation</vt:lpstr>
      <vt:lpstr>PowerPoint Presentation</vt:lpstr>
      <vt:lpstr>List groups </vt:lpstr>
      <vt:lpstr>Kitchen sink </vt:lpstr>
      <vt:lpstr>PowerPoint Presentation</vt:lpstr>
      <vt:lpstr>Sizing </vt:lpstr>
      <vt:lpstr>PowerPoint Presentation</vt:lpstr>
      <vt:lpstr>PowerPoint Presentation</vt:lpstr>
      <vt:lpstr>Horizontal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HONEY JOHN</dc:creator>
  <cp:lastModifiedBy>HONEY JOHN</cp:lastModifiedBy>
  <cp:revision>22</cp:revision>
  <dcterms:created xsi:type="dcterms:W3CDTF">2024-08-05T05:46:33Z</dcterms:created>
  <dcterms:modified xsi:type="dcterms:W3CDTF">2024-09-03T04:42:10Z</dcterms:modified>
</cp:coreProperties>
</file>