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299"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 id="341" r:id="rId43"/>
    <p:sldId id="342" r:id="rId44"/>
    <p:sldId id="343" r:id="rId45"/>
    <p:sldId id="344" r:id="rId46"/>
    <p:sldId id="345" r:id="rId47"/>
    <p:sldId id="346" r:id="rId48"/>
    <p:sldId id="347" r:id="rId49"/>
    <p:sldId id="348" r:id="rId50"/>
    <p:sldId id="349" r:id="rId51"/>
    <p:sldId id="393" r:id="rId52"/>
    <p:sldId id="353" r:id="rId53"/>
    <p:sldId id="354" r:id="rId54"/>
    <p:sldId id="355" r:id="rId55"/>
    <p:sldId id="356" r:id="rId56"/>
    <p:sldId id="357" r:id="rId57"/>
    <p:sldId id="358" r:id="rId58"/>
    <p:sldId id="359" r:id="rId59"/>
    <p:sldId id="360" r:id="rId60"/>
    <p:sldId id="361" r:id="rId61"/>
    <p:sldId id="362" r:id="rId62"/>
    <p:sldId id="389" r:id="rId63"/>
    <p:sldId id="390" r:id="rId64"/>
    <p:sldId id="365" r:id="rId65"/>
    <p:sldId id="366" r:id="rId66"/>
    <p:sldId id="391" r:id="rId67"/>
    <p:sldId id="392" r:id="rId68"/>
    <p:sldId id="369" r:id="rId69"/>
    <p:sldId id="370" r:id="rId70"/>
    <p:sldId id="395" r:id="rId71"/>
    <p:sldId id="396" r:id="rId72"/>
    <p:sldId id="397" r:id="rId73"/>
    <p:sldId id="398" r:id="rId74"/>
    <p:sldId id="399" r:id="rId75"/>
    <p:sldId id="400" r:id="rId76"/>
    <p:sldId id="385" r:id="rId77"/>
    <p:sldId id="386" r:id="rId78"/>
    <p:sldId id="387" r:id="rId79"/>
    <p:sldId id="388" r:id="rId80"/>
    <p:sldId id="402" r:id="rId81"/>
    <p:sldId id="403" r:id="rId82"/>
    <p:sldId id="404" r:id="rId83"/>
    <p:sldId id="405" r:id="rId84"/>
    <p:sldId id="407" r:id="rId85"/>
    <p:sldId id="408" r:id="rId86"/>
    <p:sldId id="409" r:id="rId87"/>
    <p:sldId id="410" r:id="rId88"/>
    <p:sldId id="411" r:id="rId89"/>
    <p:sldId id="412" r:id="rId90"/>
    <p:sldId id="413" r:id="rId91"/>
    <p:sldId id="414" r:id="rId92"/>
    <p:sldId id="415" r:id="rId93"/>
    <p:sldId id="416" r:id="rId94"/>
    <p:sldId id="417" r:id="rId95"/>
    <p:sldId id="418" r:id="rId96"/>
    <p:sldId id="419"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p:scale>
          <a:sx n="70" d="100"/>
          <a:sy n="70" d="100"/>
        </p:scale>
        <p:origin x="-1386" y="-90"/>
      </p:cViewPr>
      <p:guideLst>
        <p:guide orient="horz" pos="2160"/>
        <p:guide pos="2880"/>
      </p:guideLst>
    </p:cSldViewPr>
  </p:slideViewPr>
  <p:outlineViewPr>
    <p:cViewPr>
      <p:scale>
        <a:sx n="33" d="100"/>
        <a:sy n="33" d="100"/>
      </p:scale>
      <p:origin x="66" y="3262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B5C081-E732-4737-9190-6EA04A610FF9}" type="datetimeFigureOut">
              <a:rPr lang="en-IN" smtClean="0"/>
              <a:t>29-09-2025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DE6C75-53A9-4527-9701-77E5618A6A46}" type="slidenum">
              <a:rPr lang="en-IN" smtClean="0"/>
              <a:t>‹#›</a:t>
            </a:fld>
            <a:endParaRPr lang="en-IN"/>
          </a:p>
        </p:txBody>
      </p:sp>
    </p:spTree>
    <p:extLst>
      <p:ext uri="{BB962C8B-B14F-4D97-AF65-F5344CB8AC3E}">
        <p14:creationId xmlns:p14="http://schemas.microsoft.com/office/powerpoint/2010/main" val="406133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2307451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52326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3777376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3586675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330108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241495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605481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2635247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820363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993090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213704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237813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864704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03E349C-F7C8-4F11-A1C4-25C61290B39B}"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1593029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03E349C-F7C8-4F11-A1C4-25C61290B39B}"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1805546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03E349C-F7C8-4F11-A1C4-25C61290B39B}"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3983980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03E349C-F7C8-4F11-A1C4-25C61290B39B}" type="datetimeFigureOut">
              <a:rPr lang="en-IN" smtClean="0"/>
              <a:t>29-09-2025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1528834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03E349C-F7C8-4F11-A1C4-25C61290B39B}" type="datetimeFigureOut">
              <a:rPr lang="en-IN" smtClean="0"/>
              <a:t>29-09-2025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363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03E349C-F7C8-4F11-A1C4-25C61290B39B}" type="datetimeFigureOut">
              <a:rPr lang="en-IN" smtClean="0"/>
              <a:t>29-09-2025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2815302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3E349C-F7C8-4F11-A1C4-25C61290B39B}" type="datetimeFigureOut">
              <a:rPr lang="en-IN" smtClean="0"/>
              <a:t>29-09-2025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641041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3E349C-F7C8-4F11-A1C4-25C61290B39B}" type="datetimeFigureOut">
              <a:rPr lang="en-IN" smtClean="0"/>
              <a:t>29-09-2025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1233413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3E349C-F7C8-4F11-A1C4-25C61290B39B}" type="datetimeFigureOut">
              <a:rPr lang="en-IN" smtClean="0"/>
              <a:t>29-09-2025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303630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03E349C-F7C8-4F11-A1C4-25C61290B39B}"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70547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03E349C-F7C8-4F11-A1C4-25C61290B39B}" type="datetimeFigureOut">
              <a:rPr lang="en-IN" smtClean="0"/>
              <a:t>29-09-2025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D62FE5-9564-4629-8D44-C5AD68D4FD45}" type="slidenum">
              <a:rPr lang="en-IN" smtClean="0"/>
              <a:t>‹#›</a:t>
            </a:fld>
            <a:endParaRPr lang="en-IN"/>
          </a:p>
        </p:txBody>
      </p:sp>
    </p:spTree>
    <p:extLst>
      <p:ext uri="{BB962C8B-B14F-4D97-AF65-F5344CB8AC3E}">
        <p14:creationId xmlns:p14="http://schemas.microsoft.com/office/powerpoint/2010/main" val="70931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with image right">
    <p:spTree>
      <p:nvGrpSpPr>
        <p:cNvPr id="1" name=""/>
        <p:cNvGrpSpPr/>
        <p:nvPr/>
      </p:nvGrpSpPr>
      <p:grpSpPr>
        <a:xfrm>
          <a:off x="0" y="0"/>
          <a:ext cx="0" cy="0"/>
          <a:chOff x="0" y="0"/>
          <a:chExt cx="0" cy="0"/>
        </a:xfrm>
      </p:grpSpPr>
      <p:sp>
        <p:nvSpPr>
          <p:cNvPr id="5" name="Freeform: Shape 4">
            <a:extLst>
              <a:ext uri="{FF2B5EF4-FFF2-40B4-BE49-F238E27FC236}">
                <a16:creationId xmlns="" xmlns:a16="http://schemas.microsoft.com/office/drawing/2014/main" id="{F738F023-8BDF-71DB-D6AB-776F7C6413B2}"/>
              </a:ext>
            </a:extLst>
          </p:cNvPr>
          <p:cNvSpPr/>
          <p:nvPr userDrawn="1"/>
        </p:nvSpPr>
        <p:spPr>
          <a:xfrm>
            <a:off x="6457950" y="0"/>
            <a:ext cx="2686050" cy="6858000"/>
          </a:xfrm>
          <a:custGeom>
            <a:avLst/>
            <a:gdLst>
              <a:gd name="connsiteX0" fmla="*/ 0 w 3581400"/>
              <a:gd name="connsiteY0" fmla="*/ 0 h 6858000"/>
              <a:gd name="connsiteX1" fmla="*/ 3581400 w 3581400"/>
              <a:gd name="connsiteY1" fmla="*/ 0 h 6858000"/>
              <a:gd name="connsiteX2" fmla="*/ 3581400 w 3581400"/>
              <a:gd name="connsiteY2" fmla="*/ 6858000 h 6858000"/>
              <a:gd name="connsiteX3" fmla="*/ 0 w 3581400"/>
              <a:gd name="connsiteY3" fmla="*/ 6858000 h 6858000"/>
              <a:gd name="connsiteX4" fmla="*/ 0 w 3581400"/>
              <a:gd name="connsiteY4" fmla="*/ 6172201 h 6858000"/>
              <a:gd name="connsiteX5" fmla="*/ 2971800 w 3581400"/>
              <a:gd name="connsiteY5" fmla="*/ 6172201 h 6858000"/>
              <a:gd name="connsiteX6" fmla="*/ 2971800 w 3581400"/>
              <a:gd name="connsiteY6" fmla="*/ 685800 h 6858000"/>
              <a:gd name="connsiteX7" fmla="*/ 0 w 3581400"/>
              <a:gd name="connsiteY7" fmla="*/ 685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1400" h="68580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 xmlns:a16="http://schemas.microsoft.com/office/drawing/2014/main" id="{3CD97974-B93C-4C96-B3F6-F69E3D6DE6CA}"/>
              </a:ext>
            </a:extLst>
          </p:cNvPr>
          <p:cNvSpPr>
            <a:spLocks noGrp="1"/>
          </p:cNvSpPr>
          <p:nvPr>
            <p:ph type="title"/>
          </p:nvPr>
        </p:nvSpPr>
        <p:spPr>
          <a:xfrm>
            <a:off x="960120" y="1097280"/>
            <a:ext cx="3086100" cy="2286000"/>
          </a:xfrm>
        </p:spPr>
        <p:txBody>
          <a:bodyPr/>
          <a:lstStyle>
            <a:lvl1pPr>
              <a:defRPr sz="3200" spc="300" baseline="0"/>
            </a:lvl1pPr>
          </a:lstStyle>
          <a:p>
            <a:r>
              <a:rPr lang="en-US"/>
              <a:t>Click to edit Master title style</a:t>
            </a:r>
            <a:endParaRPr lang="en-US" dirty="0"/>
          </a:p>
        </p:txBody>
      </p:sp>
      <p:sp>
        <p:nvSpPr>
          <p:cNvPr id="3" name="Content Placeholder 2">
            <a:extLst>
              <a:ext uri="{FF2B5EF4-FFF2-40B4-BE49-F238E27FC236}">
                <a16:creationId xmlns="" xmlns:a16="http://schemas.microsoft.com/office/drawing/2014/main" id="{8A6FC6F2-80B4-49A7-9448-33FE2DF0E967}"/>
              </a:ext>
            </a:extLst>
          </p:cNvPr>
          <p:cNvSpPr>
            <a:spLocks noGrp="1"/>
          </p:cNvSpPr>
          <p:nvPr>
            <p:ph idx="1"/>
          </p:nvPr>
        </p:nvSpPr>
        <p:spPr>
          <a:xfrm>
            <a:off x="960120" y="3566160"/>
            <a:ext cx="3086100" cy="2651760"/>
          </a:xfrm>
        </p:spPr>
        <p:txBody>
          <a:bodyPr>
            <a:normAutofit/>
          </a:bodyPr>
          <a:lstStyle>
            <a:lvl1pPr marL="457200" indent="-457200">
              <a:lnSpc>
                <a:spcPct val="100000"/>
              </a:lnSpc>
              <a:spcBef>
                <a:spcPts val="1400"/>
              </a:spcBef>
              <a:buClr>
                <a:schemeClr val="accent1"/>
              </a:buClr>
              <a:buFont typeface="Courier New" panose="02070309020205020404" pitchFamily="49" charset="0"/>
              <a:buChar char="o"/>
              <a:defRPr sz="2400" cap="all" spc="0" baseline="0"/>
            </a:lvl1pPr>
            <a:lvl2pPr marL="914400">
              <a:defRPr spc="0" baseline="0"/>
            </a:lvl2pPr>
            <a:lvl3pPr marL="1371600">
              <a:defRPr spc="0" baseline="0"/>
            </a:lvl3pPr>
            <a:lvl4pPr marL="1828800">
              <a:defRPr spc="0" baseline="0"/>
            </a:lvl4pPr>
            <a:lvl5pPr marL="2286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 xmlns:a16="http://schemas.microsoft.com/office/drawing/2014/main" id="{90AD0F96-99DE-C9D9-569E-AE6FC6307EA7}"/>
              </a:ext>
            </a:extLst>
          </p:cNvPr>
          <p:cNvSpPr>
            <a:spLocks noGrp="1"/>
          </p:cNvSpPr>
          <p:nvPr>
            <p:ph type="pic" sz="quarter" idx="13"/>
          </p:nvPr>
        </p:nvSpPr>
        <p:spPr>
          <a:xfrm>
            <a:off x="4265676" y="1435608"/>
            <a:ext cx="4423410" cy="3977640"/>
          </a:xfrm>
          <a:noFill/>
        </p:spPr>
        <p:txBody>
          <a:bodyPr anchor="ctr"/>
          <a:lstStyle>
            <a:lvl1pPr marL="0" indent="0" algn="ctr">
              <a:buNone/>
              <a:defRPr/>
            </a:lvl1pPr>
          </a:lstStyle>
          <a:p>
            <a:r>
              <a:rPr lang="en-US"/>
              <a:t>Click icon to add picture</a:t>
            </a:r>
            <a:endParaRPr lang="en-US" dirty="0"/>
          </a:p>
        </p:txBody>
      </p:sp>
      <p:sp>
        <p:nvSpPr>
          <p:cNvPr id="9" name="Slide Number Placeholder 8">
            <a:extLst>
              <a:ext uri="{FF2B5EF4-FFF2-40B4-BE49-F238E27FC236}">
                <a16:creationId xmlns=""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13" name="Straight Connector 12">
            <a:extLst>
              <a:ext uri="{FF2B5EF4-FFF2-40B4-BE49-F238E27FC236}">
                <a16:creationId xmlns="" xmlns:a16="http://schemas.microsoft.com/office/drawing/2014/main" id="{323EB7E3-3953-BAB4-1B15-383082C6C31E}"/>
              </a:ext>
            </a:extLst>
          </p:cNvPr>
          <p:cNvCxnSpPr>
            <a:cxnSpLocks/>
          </p:cNvCxnSpPr>
          <p:nvPr userDrawn="1"/>
        </p:nvCxnSpPr>
        <p:spPr>
          <a:xfrm>
            <a:off x="971550" y="822960"/>
            <a:ext cx="30861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1228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15" name="Freeform 14">
            <a:extLst>
              <a:ext uri="{FF2B5EF4-FFF2-40B4-BE49-F238E27FC236}">
                <a16:creationId xmlns="" xmlns:a16="http://schemas.microsoft.com/office/drawing/2014/main" id="{A510974D-B222-2876-052D-21F0E075D288}"/>
              </a:ext>
            </a:extLst>
          </p:cNvPr>
          <p:cNvSpPr/>
          <p:nvPr userDrawn="1"/>
        </p:nvSpPr>
        <p:spPr>
          <a:xfrm>
            <a:off x="0" y="0"/>
            <a:ext cx="9144000" cy="4457700"/>
          </a:xfrm>
          <a:custGeom>
            <a:avLst/>
            <a:gdLst>
              <a:gd name="connsiteX0" fmla="*/ 0 w 12192000"/>
              <a:gd name="connsiteY0" fmla="*/ 0 h 4457700"/>
              <a:gd name="connsiteX1" fmla="*/ 12192000 w 12192000"/>
              <a:gd name="connsiteY1" fmla="*/ 0 h 4457700"/>
              <a:gd name="connsiteX2" fmla="*/ 12192000 w 12192000"/>
              <a:gd name="connsiteY2" fmla="*/ 4457700 h 4457700"/>
              <a:gd name="connsiteX3" fmla="*/ 11563350 w 12192000"/>
              <a:gd name="connsiteY3" fmla="*/ 4457700 h 4457700"/>
              <a:gd name="connsiteX4" fmla="*/ 11563350 w 12192000"/>
              <a:gd name="connsiteY4" fmla="*/ 685800 h 4457700"/>
              <a:gd name="connsiteX5" fmla="*/ 628650 w 12192000"/>
              <a:gd name="connsiteY5" fmla="*/ 685800 h 4457700"/>
              <a:gd name="connsiteX6" fmla="*/ 628650 w 12192000"/>
              <a:gd name="connsiteY6" fmla="*/ 4457700 h 4457700"/>
              <a:gd name="connsiteX7" fmla="*/ 0 w 12192000"/>
              <a:gd name="connsiteY7" fmla="*/ 4457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577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 xmlns:a16="http://schemas.microsoft.com/office/drawing/2014/main" id="{32772C41-A024-2F33-1F04-21E003FA7291}"/>
              </a:ext>
            </a:extLst>
          </p:cNvPr>
          <p:cNvSpPr>
            <a:spLocks noGrp="1"/>
          </p:cNvSpPr>
          <p:nvPr>
            <p:ph type="ctrTitle"/>
          </p:nvPr>
        </p:nvSpPr>
        <p:spPr>
          <a:xfrm>
            <a:off x="733806" y="1143000"/>
            <a:ext cx="7680960" cy="22860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 xmlns:a16="http://schemas.microsoft.com/office/drawing/2014/main" id="{473BC2DF-9C2A-052C-AD2C-0A8ABAA50374}"/>
              </a:ext>
            </a:extLst>
          </p:cNvPr>
          <p:cNvSpPr>
            <a:spLocks noGrp="1"/>
          </p:cNvSpPr>
          <p:nvPr>
            <p:ph type="subTitle" idx="1"/>
          </p:nvPr>
        </p:nvSpPr>
        <p:spPr>
          <a:xfrm>
            <a:off x="1556766" y="3803904"/>
            <a:ext cx="6035040" cy="914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Rectangle 15">
            <a:extLst>
              <a:ext uri="{FF2B5EF4-FFF2-40B4-BE49-F238E27FC236}">
                <a16:creationId xmlns="" xmlns:a16="http://schemas.microsoft.com/office/drawing/2014/main" id="{8A1A471A-8A28-B00F-72E9-849D5E6B7257}"/>
              </a:ext>
            </a:extLst>
          </p:cNvPr>
          <p:cNvSpPr/>
          <p:nvPr userDrawn="1"/>
        </p:nvSpPr>
        <p:spPr>
          <a:xfrm>
            <a:off x="4418410" y="5628222"/>
            <a:ext cx="307181"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03524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93BB82FF-5339-5456-4D30-0C2DA7907AAE}"/>
              </a:ext>
            </a:extLst>
          </p:cNvPr>
          <p:cNvSpPr/>
          <p:nvPr userDrawn="1"/>
        </p:nvSpPr>
        <p:spPr>
          <a:xfrm>
            <a:off x="0" y="0"/>
            <a:ext cx="267462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3CD97974-B93C-4C96-B3F6-F69E3D6DE6CA}"/>
              </a:ext>
            </a:extLst>
          </p:cNvPr>
          <p:cNvSpPr>
            <a:spLocks noGrp="1"/>
          </p:cNvSpPr>
          <p:nvPr>
            <p:ph type="title"/>
          </p:nvPr>
        </p:nvSpPr>
        <p:spPr>
          <a:xfrm>
            <a:off x="4005072" y="1097280"/>
            <a:ext cx="4663440" cy="1828800"/>
          </a:xfrm>
        </p:spPr>
        <p:txBody>
          <a:bodyPr/>
          <a:lstStyle>
            <a:lvl1pPr>
              <a:defRPr sz="3200" spc="300"/>
            </a:lvl1pPr>
          </a:lstStyle>
          <a:p>
            <a:r>
              <a:rPr lang="en-US"/>
              <a:t>Click to edit Master title style</a:t>
            </a:r>
            <a:endParaRPr lang="en-US" dirty="0"/>
          </a:p>
        </p:txBody>
      </p:sp>
      <p:sp>
        <p:nvSpPr>
          <p:cNvPr id="8" name="Picture Placeholder 7">
            <a:extLst>
              <a:ext uri="{FF2B5EF4-FFF2-40B4-BE49-F238E27FC236}">
                <a16:creationId xmlns="" xmlns:a16="http://schemas.microsoft.com/office/drawing/2014/main" id="{2C39A257-2366-FF6B-67AD-9342B6B0B682}"/>
              </a:ext>
            </a:extLst>
          </p:cNvPr>
          <p:cNvSpPr>
            <a:spLocks noGrp="1"/>
          </p:cNvSpPr>
          <p:nvPr>
            <p:ph type="pic" sz="quarter" idx="13"/>
          </p:nvPr>
        </p:nvSpPr>
        <p:spPr>
          <a:xfrm>
            <a:off x="973836" y="1828800"/>
            <a:ext cx="2400300" cy="320040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 xmlns:a16="http://schemas.microsoft.com/office/drawing/2014/main" id="{8A6FC6F2-80B4-49A7-9448-33FE2DF0E967}"/>
              </a:ext>
            </a:extLst>
          </p:cNvPr>
          <p:cNvSpPr>
            <a:spLocks noGrp="1"/>
          </p:cNvSpPr>
          <p:nvPr>
            <p:ph idx="1"/>
          </p:nvPr>
        </p:nvSpPr>
        <p:spPr>
          <a:xfrm>
            <a:off x="4005072" y="3429000"/>
            <a:ext cx="4663440" cy="2743200"/>
          </a:xfrm>
        </p:spPr>
        <p:txBody>
          <a:bodyPr>
            <a:normAutofit/>
          </a:bodyPr>
          <a:lstStyle>
            <a:lvl1pPr marL="457200">
              <a:spcBef>
                <a:spcPts val="1400"/>
              </a:spcBef>
              <a:buSzPct val="80000"/>
              <a:defRPr cap="all" spc="0" baseline="0"/>
            </a:lvl1pPr>
            <a:lvl2pPr marL="914400">
              <a:buSzPct val="80000"/>
              <a:defRPr spc="0" baseline="0"/>
            </a:lvl2pPr>
            <a:lvl3pPr marL="1371600">
              <a:buSzPct val="80000"/>
              <a:defRPr spc="0" baseline="0"/>
            </a:lvl3pPr>
            <a:lvl4pPr marL="1828800">
              <a:buSzPct val="80000"/>
              <a:defRPr spc="0" baseline="0"/>
            </a:lvl4pPr>
            <a:lvl5pPr marL="2286000">
              <a:buSzPct val="80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 xmlns:a16="http://schemas.microsoft.com/office/drawing/2014/main" id="{D17F99EA-AB5F-24F3-D971-2B9BDE3B4F3C}"/>
              </a:ext>
            </a:extLst>
          </p:cNvPr>
          <p:cNvSpPr txBox="1"/>
          <p:nvPr userDrawn="1"/>
        </p:nvSpPr>
        <p:spPr>
          <a:xfrm>
            <a:off x="481379"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5" name="Straight Connector 4">
            <a:extLst>
              <a:ext uri="{FF2B5EF4-FFF2-40B4-BE49-F238E27FC236}">
                <a16:creationId xmlns="" xmlns:a16="http://schemas.microsoft.com/office/drawing/2014/main" id="{ADA4A755-28B6-5A01-94AB-C3CCC4368885}"/>
              </a:ext>
            </a:extLst>
          </p:cNvPr>
          <p:cNvCxnSpPr>
            <a:cxnSpLocks/>
          </p:cNvCxnSpPr>
          <p:nvPr userDrawn="1"/>
        </p:nvCxnSpPr>
        <p:spPr>
          <a:xfrm>
            <a:off x="4005072" y="822960"/>
            <a:ext cx="30861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8561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 xmlns:a16="http://schemas.microsoft.com/office/drawing/2014/main" id="{89BC2AC2-003C-AACD-1271-F2F8FBE8FD3D}"/>
              </a:ext>
            </a:extLst>
          </p:cNvPr>
          <p:cNvSpPr>
            <a:spLocks noGrp="1"/>
          </p:cNvSpPr>
          <p:nvPr>
            <p:ph type="title"/>
          </p:nvPr>
        </p:nvSpPr>
        <p:spPr>
          <a:xfrm>
            <a:off x="960120" y="1097280"/>
            <a:ext cx="3771900" cy="18288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 xmlns:a16="http://schemas.microsoft.com/office/drawing/2014/main" id="{DD758F50-A87C-F2A1-40E8-08F07081E9C3}"/>
              </a:ext>
            </a:extLst>
          </p:cNvPr>
          <p:cNvSpPr>
            <a:spLocks noGrp="1"/>
          </p:cNvSpPr>
          <p:nvPr>
            <p:ph sz="half" idx="1"/>
          </p:nvPr>
        </p:nvSpPr>
        <p:spPr>
          <a:xfrm>
            <a:off x="5088636" y="1097280"/>
            <a:ext cx="3429000" cy="182880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 xmlns:a16="http://schemas.microsoft.com/office/drawing/2014/main" id="{023B02AB-1DB6-AF79-E1B3-175C76BE57ED}"/>
              </a:ext>
            </a:extLst>
          </p:cNvPr>
          <p:cNvSpPr>
            <a:spLocks noGrp="1"/>
          </p:cNvSpPr>
          <p:nvPr>
            <p:ph sz="half" idx="2"/>
          </p:nvPr>
        </p:nvSpPr>
        <p:spPr>
          <a:xfrm>
            <a:off x="960120" y="3172968"/>
            <a:ext cx="7557516" cy="310896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 xmlns:a16="http://schemas.microsoft.com/office/drawing/2014/main" id="{C2041A78-2CBE-4D73-EF5D-E65139C79DC2}"/>
              </a:ext>
            </a:extLst>
          </p:cNvPr>
          <p:cNvCxnSpPr>
            <a:cxnSpLocks/>
          </p:cNvCxnSpPr>
          <p:nvPr userDrawn="1"/>
        </p:nvCxnSpPr>
        <p:spPr>
          <a:xfrm>
            <a:off x="971550" y="822960"/>
            <a:ext cx="30861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4700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white">
    <p:spTree>
      <p:nvGrpSpPr>
        <p:cNvPr id="1" name=""/>
        <p:cNvGrpSpPr/>
        <p:nvPr/>
      </p:nvGrpSpPr>
      <p:grpSpPr>
        <a:xfrm>
          <a:off x="0" y="0"/>
          <a:ext cx="0" cy="0"/>
          <a:chOff x="0" y="0"/>
          <a:chExt cx="0" cy="0"/>
        </a:xfrm>
      </p:grpSpPr>
      <p:sp>
        <p:nvSpPr>
          <p:cNvPr id="7" name="Slide Number Placeholder 6">
            <a:extLst>
              <a:ext uri="{FF2B5EF4-FFF2-40B4-BE49-F238E27FC236}">
                <a16:creationId xmlns=""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 xmlns:a16="http://schemas.microsoft.com/office/drawing/2014/main" id="{89BC2AC2-003C-AACD-1271-F2F8FBE8FD3D}"/>
              </a:ext>
            </a:extLst>
          </p:cNvPr>
          <p:cNvSpPr>
            <a:spLocks noGrp="1"/>
          </p:cNvSpPr>
          <p:nvPr>
            <p:ph type="title"/>
          </p:nvPr>
        </p:nvSpPr>
        <p:spPr>
          <a:xfrm>
            <a:off x="960120" y="1097280"/>
            <a:ext cx="7365492" cy="9144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 xmlns:a16="http://schemas.microsoft.com/office/drawing/2014/main" id="{DD758F50-A87C-F2A1-40E8-08F07081E9C3}"/>
              </a:ext>
            </a:extLst>
          </p:cNvPr>
          <p:cNvSpPr>
            <a:spLocks noGrp="1"/>
          </p:cNvSpPr>
          <p:nvPr>
            <p:ph sz="half" idx="1"/>
          </p:nvPr>
        </p:nvSpPr>
        <p:spPr>
          <a:xfrm>
            <a:off x="960120" y="2377440"/>
            <a:ext cx="3429000" cy="3429000"/>
          </a:xfrm>
          <a:noFill/>
        </p:spPr>
        <p:txBody>
          <a:bodyPr lIns="0" tIns="0" rIns="0" bIns="0">
            <a:normAutofit/>
          </a:bodyPr>
          <a:lstStyle>
            <a:lvl1pPr marL="228600" indent="-228600">
              <a:lnSpc>
                <a:spcPct val="90000"/>
              </a:lnSpc>
              <a:spcBef>
                <a:spcPts val="1400"/>
              </a:spcBef>
              <a:buSzPct val="80000"/>
              <a:defRPr sz="1800" b="1"/>
            </a:lvl1pPr>
            <a:lvl2pPr marL="457200" indent="0">
              <a:lnSpc>
                <a:spcPct val="90000"/>
              </a:lnSpc>
              <a:spcBef>
                <a:spcPts val="1400"/>
              </a:spcBef>
              <a:buSzPct val="80000"/>
              <a:buNone/>
              <a:defRPr sz="1800"/>
            </a:lvl2pPr>
            <a:lvl3pPr marL="914400">
              <a:lnSpc>
                <a:spcPct val="90000"/>
              </a:lnSpc>
              <a:spcBef>
                <a:spcPts val="1400"/>
              </a:spcBef>
              <a:buSzPct val="80000"/>
              <a:defRPr sz="1800"/>
            </a:lvl3pPr>
            <a:lvl4pPr marL="914400" indent="0">
              <a:lnSpc>
                <a:spcPct val="90000"/>
              </a:lnSpc>
              <a:spcBef>
                <a:spcPts val="1400"/>
              </a:spcBef>
              <a:buSzPct val="80000"/>
              <a:buNone/>
              <a:defRPr sz="1800"/>
            </a:lvl4pPr>
            <a:lvl5pPr marL="1371600">
              <a:lnSpc>
                <a:spcPct val="90000"/>
              </a:lnSpc>
              <a:spcBef>
                <a:spcPts val="1400"/>
              </a:spcBef>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 xmlns:a16="http://schemas.microsoft.com/office/drawing/2014/main" id="{023B02AB-1DB6-AF79-E1B3-175C76BE57ED}"/>
              </a:ext>
            </a:extLst>
          </p:cNvPr>
          <p:cNvSpPr>
            <a:spLocks noGrp="1"/>
          </p:cNvSpPr>
          <p:nvPr>
            <p:ph sz="half" idx="2"/>
          </p:nvPr>
        </p:nvSpPr>
        <p:spPr>
          <a:xfrm>
            <a:off x="4670298" y="2377440"/>
            <a:ext cx="3483864" cy="3429000"/>
          </a:xfrm>
          <a:noFill/>
        </p:spPr>
        <p:txBody>
          <a:bodyPr lIns="0" tIns="0" rIns="0" bIns="0">
            <a:normAutofit/>
          </a:bodyPr>
          <a:lstStyle>
            <a:lvl1pPr marL="457200">
              <a:spcBef>
                <a:spcPts val="1400"/>
              </a:spcBef>
              <a:buSzPct val="80000"/>
              <a:defRPr sz="1800"/>
            </a:lvl1pPr>
            <a:lvl2pPr marL="914400">
              <a:buSzPct val="80000"/>
              <a:defRPr sz="1800"/>
            </a:lvl2pPr>
            <a:lvl3pPr marL="1371600">
              <a:buSzPct val="80000"/>
              <a:defRPr sz="1800"/>
            </a:lvl3pPr>
            <a:lvl4pPr marL="1828800">
              <a:buSzPct val="80000"/>
              <a:defRPr sz="1800"/>
            </a:lvl4pPr>
            <a:lvl5pPr marL="2286000">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 xmlns:a16="http://schemas.microsoft.com/office/drawing/2014/main" id="{C2041A78-2CBE-4D73-EF5D-E65139C79DC2}"/>
              </a:ext>
            </a:extLst>
          </p:cNvPr>
          <p:cNvCxnSpPr>
            <a:cxnSpLocks/>
          </p:cNvCxnSpPr>
          <p:nvPr userDrawn="1"/>
        </p:nvCxnSpPr>
        <p:spPr>
          <a:xfrm>
            <a:off x="971550" y="822960"/>
            <a:ext cx="30861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61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Title 1">
            <a:extLst>
              <a:ext uri="{FF2B5EF4-FFF2-40B4-BE49-F238E27FC236}">
                <a16:creationId xmlns="" xmlns:a16="http://schemas.microsoft.com/office/drawing/2014/main" id="{A659BA83-0C6E-2A70-AED3-E386CABE654A}"/>
              </a:ext>
            </a:extLst>
          </p:cNvPr>
          <p:cNvSpPr>
            <a:spLocks noGrp="1"/>
          </p:cNvSpPr>
          <p:nvPr>
            <p:ph type="title"/>
          </p:nvPr>
        </p:nvSpPr>
        <p:spPr>
          <a:xfrm>
            <a:off x="960120" y="1097280"/>
            <a:ext cx="7200900" cy="914400"/>
          </a:xfrm>
        </p:spPr>
        <p:txBody>
          <a:bodyPr anchor="t" anchorCtr="0"/>
          <a:lstStyle>
            <a:lvl1pPr>
              <a:defRPr sz="3200"/>
            </a:lvl1pPr>
          </a:lstStyle>
          <a:p>
            <a:r>
              <a:rPr lang="en-US"/>
              <a:t>Click to edit Master title style</a:t>
            </a:r>
            <a:endParaRPr lang="en-US" dirty="0"/>
          </a:p>
        </p:txBody>
      </p:sp>
      <p:sp>
        <p:nvSpPr>
          <p:cNvPr id="8" name="Table Placeholder 7">
            <a:extLst>
              <a:ext uri="{FF2B5EF4-FFF2-40B4-BE49-F238E27FC236}">
                <a16:creationId xmlns="" xmlns:a16="http://schemas.microsoft.com/office/drawing/2014/main" id="{0CEAFE70-86D3-8690-31CA-F9A1FBA494D0}"/>
              </a:ext>
            </a:extLst>
          </p:cNvPr>
          <p:cNvSpPr>
            <a:spLocks noGrp="1"/>
          </p:cNvSpPr>
          <p:nvPr>
            <p:ph type="tbl" sz="quarter" idx="13"/>
          </p:nvPr>
        </p:nvSpPr>
        <p:spPr>
          <a:xfrm>
            <a:off x="960120" y="2377440"/>
            <a:ext cx="7214616" cy="3429000"/>
          </a:xfrm>
        </p:spPr>
        <p:txBody>
          <a:bodyPr/>
          <a:lstStyle>
            <a:lvl1pPr marL="0" indent="0">
              <a:buNone/>
              <a:defRPr/>
            </a:lvl1pPr>
          </a:lstStyle>
          <a:p>
            <a:r>
              <a:rPr lang="en-US"/>
              <a:t>Click icon to add table</a:t>
            </a:r>
            <a:endParaRPr lang="en-US" dirty="0"/>
          </a:p>
        </p:txBody>
      </p:sp>
      <p:cxnSp>
        <p:nvCxnSpPr>
          <p:cNvPr id="7" name="Straight Connector 6">
            <a:extLst>
              <a:ext uri="{FF2B5EF4-FFF2-40B4-BE49-F238E27FC236}">
                <a16:creationId xmlns="" xmlns:a16="http://schemas.microsoft.com/office/drawing/2014/main" id="{5D612406-06E6-DCE4-7F2F-D98836A802A6}"/>
              </a:ext>
            </a:extLst>
          </p:cNvPr>
          <p:cNvCxnSpPr>
            <a:cxnSpLocks/>
          </p:cNvCxnSpPr>
          <p:nvPr userDrawn="1"/>
        </p:nvCxnSpPr>
        <p:spPr>
          <a:xfrm>
            <a:off x="971550" y="822960"/>
            <a:ext cx="30861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2385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700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98913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827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3E349C-F7C8-4F11-A1C4-25C61290B39B}" type="datetimeFigureOut">
              <a:rPr lang="en-IN" smtClean="0"/>
              <a:t>29-09-2025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D62FE5-9564-4629-8D44-C5AD68D4FD45}" type="slidenum">
              <a:rPr lang="en-IN" smtClean="0"/>
              <a:t>‹#›</a:t>
            </a:fld>
            <a:endParaRPr lang="en-IN"/>
          </a:p>
        </p:txBody>
      </p:sp>
    </p:spTree>
    <p:extLst>
      <p:ext uri="{BB962C8B-B14F-4D97-AF65-F5344CB8AC3E}">
        <p14:creationId xmlns:p14="http://schemas.microsoft.com/office/powerpoint/2010/main" val="2536156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hyperlink" Target="https://www.freesion.com/article/62541115685/" TargetMode="External"/><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9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microsoft.com/office/2007/relationships/hdphoto" Target="../media/hdphoto1.wdp"/></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37944E-7CC3-CC66-1C7B-1F5FC4068538}"/>
              </a:ext>
            </a:extLst>
          </p:cNvPr>
          <p:cNvSpPr>
            <a:spLocks noGrp="1"/>
          </p:cNvSpPr>
          <p:nvPr>
            <p:ph type="ctrTitle"/>
          </p:nvPr>
        </p:nvSpPr>
        <p:spPr/>
        <p:txBody>
          <a:bodyPr>
            <a:normAutofit/>
          </a:bodyPr>
          <a:lstStyle/>
          <a:p>
            <a:pPr>
              <a:spcBef>
                <a:spcPts val="1500"/>
              </a:spcBef>
              <a:spcAft>
                <a:spcPts val="1500"/>
              </a:spcAft>
            </a:pPr>
            <a:r>
              <a:rPr lang="en-US" sz="4800" b="1" dirty="0">
                <a:solidFill>
                  <a:srgbClr val="000000"/>
                </a:solidFill>
                <a:effectLst/>
                <a:highlight>
                  <a:srgbClr val="FFFFFF"/>
                </a:highlight>
                <a:latin typeface="Times New Roman" panose="02020603050405020304" pitchFamily="18" charset="0"/>
                <a:ea typeface="Times New Roman" panose="02020603050405020304" pitchFamily="18" charset="0"/>
              </a:rPr>
              <a:t> MODULE- 2</a:t>
            </a:r>
            <a:endParaRPr lang="en-IN" sz="16600" dirty="0"/>
          </a:p>
        </p:txBody>
      </p:sp>
      <p:sp>
        <p:nvSpPr>
          <p:cNvPr id="3" name="Subtitle 2">
            <a:extLst>
              <a:ext uri="{FF2B5EF4-FFF2-40B4-BE49-F238E27FC236}">
                <a16:creationId xmlns="" xmlns:a16="http://schemas.microsoft.com/office/drawing/2014/main" id="{554C345D-8C99-6C92-0F87-4115A2D002A4}"/>
              </a:ext>
            </a:extLst>
          </p:cNvPr>
          <p:cNvSpPr>
            <a:spLocks noGrp="1"/>
          </p:cNvSpPr>
          <p:nvPr>
            <p:ph type="subTitle" idx="1"/>
          </p:nvPr>
        </p:nvSpPr>
        <p:spPr>
          <a:xfrm>
            <a:off x="1371600" y="3140968"/>
            <a:ext cx="6400800" cy="1752600"/>
          </a:xfrm>
        </p:spPr>
        <p:txBody>
          <a:bodyPr/>
          <a:lstStyle/>
          <a:p>
            <a:r>
              <a:rPr lang="en-US" dirty="0" smtClean="0"/>
              <a:t>(2</a:t>
            </a:r>
            <a:r>
              <a:rPr lang="en-US" baseline="30000" dirty="0" smtClean="0"/>
              <a:t>nd</a:t>
            </a:r>
            <a:r>
              <a:rPr lang="en-US" dirty="0" smtClean="0"/>
              <a:t> Series Exam portions)</a:t>
            </a:r>
            <a:endParaRPr lang="en-IN" dirty="0"/>
          </a:p>
        </p:txBody>
      </p:sp>
    </p:spTree>
    <p:extLst>
      <p:ext uri="{BB962C8B-B14F-4D97-AF65-F5344CB8AC3E}">
        <p14:creationId xmlns:p14="http://schemas.microsoft.com/office/powerpoint/2010/main" val="1172887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CDD5DD-6266-76DD-93FD-3A2BB93D4D77}"/>
              </a:ext>
            </a:extLst>
          </p:cNvPr>
          <p:cNvSpPr>
            <a:spLocks noGrp="1"/>
          </p:cNvSpPr>
          <p:nvPr>
            <p:ph type="title"/>
          </p:nvPr>
        </p:nvSpPr>
        <p:spPr/>
        <p:txBody>
          <a:bodyPr>
            <a:normAutofit fontScale="90000"/>
          </a:bodyPr>
          <a:lstStyle/>
          <a:p>
            <a:r>
              <a:rPr lang="en-US" sz="3600" b="1" dirty="0"/>
              <a:t>Information architecture (IA) &amp; Application structure </a:t>
            </a:r>
            <a:endParaRPr lang="en-IN" sz="3600" b="1" dirty="0"/>
          </a:p>
        </p:txBody>
      </p:sp>
      <p:sp>
        <p:nvSpPr>
          <p:cNvPr id="3" name="Content Placeholder 2">
            <a:extLst>
              <a:ext uri="{FF2B5EF4-FFF2-40B4-BE49-F238E27FC236}">
                <a16:creationId xmlns="" xmlns:a16="http://schemas.microsoft.com/office/drawing/2014/main" id="{CDC5E035-BC15-C361-3F53-36A106605460}"/>
              </a:ext>
            </a:extLst>
          </p:cNvPr>
          <p:cNvSpPr>
            <a:spLocks noGrp="1"/>
          </p:cNvSpPr>
          <p:nvPr>
            <p:ph idx="1"/>
          </p:nvPr>
        </p:nvSpPr>
        <p:spPr/>
        <p:txBody>
          <a:bodyPr>
            <a:normAutofit fontScale="85000" lnSpcReduction="20000"/>
          </a:bodyPr>
          <a:lstStyle/>
          <a:p>
            <a:pPr algn="just"/>
            <a:r>
              <a:rPr lang="en-US" b="1" dirty="0"/>
              <a:t>Information architecture (IA) </a:t>
            </a:r>
            <a:r>
              <a:rPr lang="en-US" dirty="0"/>
              <a:t>is the art of organizing an information space. It encompasses many things: presenting, searching, browsing, labeling, categorizing, sorting, manipulating, and strategically hiding information. </a:t>
            </a:r>
          </a:p>
          <a:p>
            <a:pPr algn="just"/>
            <a:r>
              <a:rPr lang="en-US" dirty="0"/>
              <a:t>Especially if you’re working with a new product, this is where you should start.</a:t>
            </a:r>
          </a:p>
          <a:p>
            <a:pPr algn="just"/>
            <a:r>
              <a:rPr lang="en-US" b="1" dirty="0"/>
              <a:t>Application structure </a:t>
            </a:r>
            <a:r>
              <a:rPr lang="en-US" dirty="0"/>
              <a:t>refers to the overall architecture of an application, including how different components interact and how information flows within the system. It encompasses both the technical and user-facing aspects of an application.</a:t>
            </a:r>
            <a:endParaRPr lang="en-IN" dirty="0"/>
          </a:p>
        </p:txBody>
      </p:sp>
    </p:spTree>
    <p:extLst>
      <p:ext uri="{BB962C8B-B14F-4D97-AF65-F5344CB8AC3E}">
        <p14:creationId xmlns:p14="http://schemas.microsoft.com/office/powerpoint/2010/main" val="1961234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74C94F-2579-CC09-0042-110888F40956}"/>
              </a:ext>
            </a:extLst>
          </p:cNvPr>
          <p:cNvSpPr>
            <a:spLocks noGrp="1"/>
          </p:cNvSpPr>
          <p:nvPr>
            <p:ph type="title"/>
          </p:nvPr>
        </p:nvSpPr>
        <p:spPr/>
        <p:txBody>
          <a:bodyPr>
            <a:normAutofit fontScale="90000"/>
          </a:bodyPr>
          <a:lstStyle/>
          <a:p>
            <a:r>
              <a:rPr lang="en-US" sz="3600" b="1" dirty="0"/>
              <a:t>Introduction to information architecture and application structure </a:t>
            </a:r>
            <a:endParaRPr lang="en-IN" sz="3600" b="1" dirty="0"/>
          </a:p>
        </p:txBody>
      </p:sp>
      <p:sp>
        <p:nvSpPr>
          <p:cNvPr id="3" name="Content Placeholder 2">
            <a:extLst>
              <a:ext uri="{FF2B5EF4-FFF2-40B4-BE49-F238E27FC236}">
                <a16:creationId xmlns="" xmlns:a16="http://schemas.microsoft.com/office/drawing/2014/main" id="{972B01DC-403E-E22C-F1F1-8C6FCE3BFE0F}"/>
              </a:ext>
            </a:extLst>
          </p:cNvPr>
          <p:cNvSpPr>
            <a:spLocks noGrp="1"/>
          </p:cNvSpPr>
          <p:nvPr>
            <p:ph idx="1"/>
          </p:nvPr>
        </p:nvSpPr>
        <p:spPr>
          <a:xfrm>
            <a:off x="628650" y="1825625"/>
            <a:ext cx="7886700" cy="4667250"/>
          </a:xfrm>
        </p:spPr>
        <p:txBody>
          <a:bodyPr>
            <a:normAutofit fontScale="70000" lnSpcReduction="20000"/>
          </a:bodyPr>
          <a:lstStyle/>
          <a:p>
            <a:pPr algn="just"/>
            <a:r>
              <a:rPr lang="en-US" dirty="0"/>
              <a:t>At the highest level of application design, it's essential to consider the various functions of sites or app serves, such as providing software services, sharing information, selling products, branding, and facilitating social communication. The home page should effectively guide users to their desired areas through clear text and imagery.</a:t>
            </a:r>
          </a:p>
          <a:p>
            <a:pPr algn="just"/>
            <a:r>
              <a:rPr lang="en-US" dirty="0"/>
              <a:t>Key decisions at this level include </a:t>
            </a:r>
          </a:p>
          <a:p>
            <a:pPr algn="just">
              <a:buFont typeface="Wingdings" panose="05000000000000000000" pitchFamily="2" charset="2"/>
              <a:buChar char="Ø"/>
            </a:pPr>
            <a:r>
              <a:rPr lang="en-US" dirty="0"/>
              <a:t>selecting an interaction model</a:t>
            </a:r>
          </a:p>
          <a:p>
            <a:pPr algn="just">
              <a:buFont typeface="Wingdings" panose="05000000000000000000" pitchFamily="2" charset="2"/>
              <a:buChar char="Ø"/>
            </a:pPr>
            <a:r>
              <a:rPr lang="en-US" dirty="0"/>
              <a:t>whether to use a desktop metaphor</a:t>
            </a:r>
          </a:p>
          <a:p>
            <a:pPr algn="just">
              <a:buFont typeface="Wingdings" panose="05000000000000000000" pitchFamily="2" charset="2"/>
              <a:buChar char="Ø"/>
            </a:pPr>
            <a:r>
              <a:rPr lang="en-US" dirty="0"/>
              <a:t>a traditional website layout, or a more interactive approach. </a:t>
            </a:r>
          </a:p>
          <a:p>
            <a:pPr algn="just"/>
            <a:r>
              <a:rPr lang="en-US" dirty="0"/>
              <a:t>This model ensures consistency and defines how users navigate through different functionalities.</a:t>
            </a:r>
            <a:endParaRPr lang="en-IN" dirty="0"/>
          </a:p>
        </p:txBody>
      </p:sp>
    </p:spTree>
    <p:extLst>
      <p:ext uri="{BB962C8B-B14F-4D97-AF65-F5344CB8AC3E}">
        <p14:creationId xmlns:p14="http://schemas.microsoft.com/office/powerpoint/2010/main" val="3024147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514F670-C91F-61FC-9D3E-A61109AF26F9}"/>
              </a:ext>
            </a:extLst>
          </p:cNvPr>
          <p:cNvSpPr>
            <a:spLocks noGrp="1"/>
          </p:cNvSpPr>
          <p:nvPr>
            <p:ph idx="1"/>
          </p:nvPr>
        </p:nvSpPr>
        <p:spPr>
          <a:xfrm>
            <a:off x="457200" y="980728"/>
            <a:ext cx="8229600" cy="4525963"/>
          </a:xfrm>
        </p:spPr>
        <p:txBody>
          <a:bodyPr>
            <a:normAutofit fontScale="85000" lnSpcReduction="20000"/>
          </a:bodyPr>
          <a:lstStyle/>
          <a:p>
            <a:r>
              <a:rPr lang="en-US" dirty="0"/>
              <a:t>When focusing on smaller units within the application, such as pages dedicated to specific functions, each page typically serves one of four primary purposes:</a:t>
            </a:r>
          </a:p>
          <a:p>
            <a:pPr>
              <a:buFont typeface="+mj-lt"/>
              <a:buAutoNum type="arabicPeriod"/>
            </a:pPr>
            <a:r>
              <a:rPr lang="en-US" dirty="0"/>
              <a:t>Displaying a single item (e.g., a map or video).</a:t>
            </a:r>
          </a:p>
          <a:p>
            <a:pPr>
              <a:buFont typeface="+mj-lt"/>
              <a:buAutoNum type="arabicPeriod"/>
            </a:pPr>
            <a:r>
              <a:rPr lang="en-US" dirty="0"/>
              <a:t>Presenting a list or collection of items.</a:t>
            </a:r>
          </a:p>
          <a:p>
            <a:pPr>
              <a:buFont typeface="+mj-lt"/>
              <a:buAutoNum type="arabicPeriod"/>
            </a:pPr>
            <a:r>
              <a:rPr lang="en-US" dirty="0"/>
              <a:t>Offering tools for creation (e.g., a document editor).</a:t>
            </a:r>
          </a:p>
          <a:p>
            <a:pPr>
              <a:buFont typeface="+mj-lt"/>
              <a:buAutoNum type="arabicPeriod"/>
            </a:pPr>
            <a:r>
              <a:rPr lang="en-US" dirty="0"/>
              <a:t>Facilitating a specific task (e.g., a registration form).</a:t>
            </a:r>
          </a:p>
          <a:p>
            <a:r>
              <a:rPr lang="en-US" dirty="0"/>
              <a:t>Most apps combine these functions, and each part should be designed to fit its main purpose. This follows Theresa Neil's framework, which organizes app structures based on user goals: information, process, and creation.</a:t>
            </a:r>
            <a:endParaRPr lang="en-IN" dirty="0"/>
          </a:p>
        </p:txBody>
      </p:sp>
    </p:spTree>
    <p:extLst>
      <p:ext uri="{BB962C8B-B14F-4D97-AF65-F5344CB8AC3E}">
        <p14:creationId xmlns:p14="http://schemas.microsoft.com/office/powerpoint/2010/main" val="3358319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5C60062-F0F6-C37F-B35D-3DDC0E597A5B}"/>
              </a:ext>
            </a:extLst>
          </p:cNvPr>
          <p:cNvSpPr>
            <a:spLocks noGrp="1"/>
          </p:cNvSpPr>
          <p:nvPr>
            <p:ph type="title"/>
          </p:nvPr>
        </p:nvSpPr>
        <p:spPr/>
        <p:txBody>
          <a:bodyPr/>
          <a:lstStyle/>
          <a:p>
            <a:r>
              <a:rPr lang="en-US" b="1" dirty="0"/>
              <a:t>Displaying a single item</a:t>
            </a:r>
            <a:endParaRPr lang="en-IN" b="1" dirty="0"/>
          </a:p>
        </p:txBody>
      </p:sp>
      <p:sp>
        <p:nvSpPr>
          <p:cNvPr id="3" name="Content Placeholder 2">
            <a:extLst>
              <a:ext uri="{FF2B5EF4-FFF2-40B4-BE49-F238E27FC236}">
                <a16:creationId xmlns="" xmlns:a16="http://schemas.microsoft.com/office/drawing/2014/main" id="{0FAB20FB-1989-E5DF-F7AD-FC312EF803CD}"/>
              </a:ext>
            </a:extLst>
          </p:cNvPr>
          <p:cNvSpPr>
            <a:spLocks noGrp="1"/>
          </p:cNvSpPr>
          <p:nvPr>
            <p:ph idx="1"/>
          </p:nvPr>
        </p:nvSpPr>
        <p:spPr/>
        <p:txBody>
          <a:bodyPr>
            <a:normAutofit fontScale="92500" lnSpcReduction="10000"/>
          </a:bodyPr>
          <a:lstStyle/>
          <a:p>
            <a:r>
              <a:rPr lang="en-US" dirty="0"/>
              <a:t>The primary focus of your page's design is to showcase or play a single piece of content without distractions</a:t>
            </a:r>
          </a:p>
          <a:p>
            <a:pPr marL="0" indent="0">
              <a:buNone/>
            </a:pPr>
            <a:r>
              <a:rPr lang="en-US" b="1" dirty="0"/>
              <a:t>Key Considerations:</a:t>
            </a:r>
            <a:endParaRPr lang="en-US" dirty="0"/>
          </a:p>
          <a:p>
            <a:pPr>
              <a:buFont typeface="Wingdings" panose="05000000000000000000" pitchFamily="2" charset="2"/>
              <a:buChar char="Ø"/>
            </a:pPr>
            <a:r>
              <a:rPr lang="en-US" dirty="0"/>
              <a:t>Your main task is to manage user interaction with this singular piece of content.</a:t>
            </a:r>
          </a:p>
          <a:p>
            <a:pPr>
              <a:buFont typeface="Wingdings" panose="05000000000000000000" pitchFamily="2" charset="2"/>
              <a:buChar char="Ø"/>
            </a:pPr>
            <a:r>
              <a:rPr lang="en-US" dirty="0"/>
              <a:t>The Information Architecture (IA) is likely straightforward, with minor tools surrounding the content (e.g., scrollers, sliders, sign-in boxes, global navigation, headers, and footers).</a:t>
            </a:r>
          </a:p>
          <a:p>
            <a:endParaRPr lang="en-IN" dirty="0"/>
          </a:p>
        </p:txBody>
      </p:sp>
    </p:spTree>
    <p:extLst>
      <p:ext uri="{BB962C8B-B14F-4D97-AF65-F5344CB8AC3E}">
        <p14:creationId xmlns:p14="http://schemas.microsoft.com/office/powerpoint/2010/main" val="3706688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C04971-84D0-CEC0-DE9C-E15BB5C497D5}"/>
              </a:ext>
            </a:extLst>
          </p:cNvPr>
          <p:cNvSpPr>
            <a:spLocks noGrp="1"/>
          </p:cNvSpPr>
          <p:nvPr>
            <p:ph type="title"/>
          </p:nvPr>
        </p:nvSpPr>
        <p:spPr/>
        <p:txBody>
          <a:bodyPr/>
          <a:lstStyle/>
          <a:p>
            <a:r>
              <a:rPr lang="en-US" b="1" dirty="0"/>
              <a:t>Displaying a single item</a:t>
            </a:r>
            <a:endParaRPr lang="en-IN" b="1" dirty="0"/>
          </a:p>
        </p:txBody>
      </p:sp>
      <p:sp>
        <p:nvSpPr>
          <p:cNvPr id="3" name="Content Placeholder 2">
            <a:extLst>
              <a:ext uri="{FF2B5EF4-FFF2-40B4-BE49-F238E27FC236}">
                <a16:creationId xmlns="" xmlns:a16="http://schemas.microsoft.com/office/drawing/2014/main" id="{11437EA4-D3E5-8037-2804-1206EE872A26}"/>
              </a:ext>
            </a:extLst>
          </p:cNvPr>
          <p:cNvSpPr>
            <a:spLocks noGrp="1"/>
          </p:cNvSpPr>
          <p:nvPr>
            <p:ph idx="1"/>
          </p:nvPr>
        </p:nvSpPr>
        <p:spPr/>
        <p:txBody>
          <a:bodyPr>
            <a:normAutofit fontScale="62500" lnSpcReduction="20000"/>
          </a:bodyPr>
          <a:lstStyle/>
          <a:p>
            <a:pPr marL="0" indent="0">
              <a:buNone/>
            </a:pPr>
            <a:r>
              <a:rPr lang="en-US" b="1" dirty="0"/>
              <a:t>Possible Design Shapes:</a:t>
            </a:r>
            <a:endParaRPr lang="en-US" dirty="0"/>
          </a:p>
          <a:p>
            <a:pPr>
              <a:buFont typeface="+mj-lt"/>
              <a:buAutoNum type="arabicPeriod"/>
            </a:pPr>
            <a:r>
              <a:rPr lang="en-US" b="1" dirty="0"/>
              <a:t>Long, Vertically Scrolled Page:</a:t>
            </a:r>
            <a:r>
              <a:rPr lang="en-US" dirty="0"/>
              <a:t> Ideal for articles, books, and other long-form content.</a:t>
            </a:r>
          </a:p>
          <a:p>
            <a:pPr>
              <a:buFont typeface="+mj-lt"/>
              <a:buAutoNum type="arabicPeriod"/>
            </a:pPr>
            <a:r>
              <a:rPr lang="en-US" b="1" dirty="0"/>
              <a:t>Zoomable Interface:</a:t>
            </a:r>
            <a:r>
              <a:rPr lang="en-US" dirty="0"/>
              <a:t> Suitable for large, detailed artifacts like maps or images (e.g., Google Maps).</a:t>
            </a:r>
          </a:p>
          <a:p>
            <a:pPr>
              <a:buFont typeface="+mj-lt"/>
              <a:buAutoNum type="arabicPeriod"/>
            </a:pPr>
            <a:r>
              <a:rPr lang="en-US" b="1" dirty="0"/>
              <a:t>Media Player Idiom:</a:t>
            </a:r>
            <a:r>
              <a:rPr lang="en-US" dirty="0"/>
              <a:t> For video and audio content.</a:t>
            </a:r>
          </a:p>
          <a:p>
            <a:pPr marL="0" indent="0">
              <a:buNone/>
            </a:pPr>
            <a:r>
              <a:rPr lang="en-US" b="1" dirty="0"/>
              <a:t>Design Patterns and Techniques to support design:</a:t>
            </a:r>
            <a:endParaRPr lang="en-US" dirty="0"/>
          </a:p>
          <a:p>
            <a:pPr>
              <a:buFont typeface="Arial" panose="020B0604020202020204" pitchFamily="34" charset="0"/>
              <a:buChar char="•"/>
            </a:pPr>
            <a:r>
              <a:rPr lang="en-US" b="1" dirty="0"/>
              <a:t>Alternative Views:</a:t>
            </a:r>
            <a:r>
              <a:rPr lang="en-US" dirty="0"/>
              <a:t> Offer multiple ways to present the content.</a:t>
            </a:r>
          </a:p>
          <a:p>
            <a:pPr>
              <a:buFont typeface="Arial" panose="020B0604020202020204" pitchFamily="34" charset="0"/>
              <a:buChar char="•"/>
            </a:pPr>
            <a:r>
              <a:rPr lang="en-US" b="1" dirty="0"/>
              <a:t>Many Workspaces:</a:t>
            </a:r>
            <a:r>
              <a:rPr lang="en-US" dirty="0"/>
              <a:t> Allow users to view multiple states or documents simultaneously.</a:t>
            </a:r>
          </a:p>
          <a:p>
            <a:pPr>
              <a:buFont typeface="Arial" panose="020B0604020202020204" pitchFamily="34" charset="0"/>
              <a:buChar char="•"/>
            </a:pPr>
            <a:r>
              <a:rPr lang="en-US" b="1" dirty="0"/>
              <a:t>Deep-linked State:</a:t>
            </a:r>
            <a:r>
              <a:rPr lang="en-US" dirty="0"/>
              <a:t> Enable users to save specific locations within the content for easy return or sharing via URL.</a:t>
            </a:r>
          </a:p>
          <a:p>
            <a:pPr>
              <a:buFont typeface="Arial" panose="020B0604020202020204" pitchFamily="34" charset="0"/>
              <a:buChar char="•"/>
            </a:pPr>
            <a:r>
              <a:rPr lang="en-US" b="1" dirty="0"/>
              <a:t>Sharing Widget:</a:t>
            </a:r>
            <a:r>
              <a:rPr lang="en-US" dirty="0"/>
              <a:t> Incorporate social sharing features.</a:t>
            </a:r>
          </a:p>
          <a:p>
            <a:pPr>
              <a:buFont typeface="Arial" panose="020B0604020202020204" pitchFamily="34" charset="0"/>
              <a:buChar char="•"/>
            </a:pPr>
            <a:r>
              <a:rPr lang="en-US" b="1" dirty="0"/>
              <a:t>Mobile Patterns:</a:t>
            </a:r>
            <a:r>
              <a:rPr lang="en-US" dirty="0"/>
              <a:t> Consider mobile-friendly designs if targeting mobile device users.</a:t>
            </a:r>
          </a:p>
          <a:p>
            <a:endParaRPr lang="en-IN" dirty="0"/>
          </a:p>
        </p:txBody>
      </p:sp>
    </p:spTree>
    <p:extLst>
      <p:ext uri="{BB962C8B-B14F-4D97-AF65-F5344CB8AC3E}">
        <p14:creationId xmlns:p14="http://schemas.microsoft.com/office/powerpoint/2010/main" val="2763017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0E5870-B09E-1019-0362-191C63181B48}"/>
              </a:ext>
            </a:extLst>
          </p:cNvPr>
          <p:cNvSpPr>
            <a:spLocks noGrp="1"/>
          </p:cNvSpPr>
          <p:nvPr>
            <p:ph type="title"/>
          </p:nvPr>
        </p:nvSpPr>
        <p:spPr/>
        <p:txBody>
          <a:bodyPr>
            <a:normAutofit fontScale="90000"/>
          </a:bodyPr>
          <a:lstStyle/>
          <a:p>
            <a:r>
              <a:rPr lang="en-US" b="1" dirty="0"/>
              <a:t>Presenting a list or collection of items</a:t>
            </a:r>
            <a:endParaRPr lang="en-IN" b="1" dirty="0"/>
          </a:p>
        </p:txBody>
      </p:sp>
      <p:sp>
        <p:nvSpPr>
          <p:cNvPr id="4" name="Rectangle 1">
            <a:extLst>
              <a:ext uri="{FF2B5EF4-FFF2-40B4-BE49-F238E27FC236}">
                <a16:creationId xmlns="" xmlns:a16="http://schemas.microsoft.com/office/drawing/2014/main" id="{797ADD50-96E2-DE32-95FF-BB7D57E3344D}"/>
              </a:ext>
            </a:extLst>
          </p:cNvPr>
          <p:cNvSpPr>
            <a:spLocks noGrp="1" noChangeArrowheads="1"/>
          </p:cNvSpPr>
          <p:nvPr>
            <p:ph idx="1"/>
          </p:nvPr>
        </p:nvSpPr>
        <p:spPr bwMode="auto">
          <a:xfrm>
            <a:off x="611560" y="1447288"/>
            <a:ext cx="8294124" cy="541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fontAlgn="base">
              <a:spcAft>
                <a:spcPct val="0"/>
              </a:spcAft>
              <a:buClrTx/>
              <a:buSzTx/>
              <a:buFontTx/>
              <a:buChar char="•"/>
              <a:tabLst/>
            </a:pPr>
            <a:r>
              <a:rPr lang="en-US" altLang="en-US" sz="2400" dirty="0"/>
              <a:t>Common List Formats: Digital artifacts often utilize various list formats, including text lists, menus, image grids, search results, email threads, tables, and trees.</a:t>
            </a:r>
          </a:p>
          <a:p>
            <a:pPr marL="0" marR="0" lvl="0" indent="0" fontAlgn="base">
              <a:spcAft>
                <a:spcPct val="0"/>
              </a:spcAft>
              <a:buClrTx/>
              <a:buSzTx/>
              <a:buFontTx/>
              <a:buChar char="•"/>
              <a:tabLst/>
            </a:pPr>
            <a:r>
              <a:rPr lang="en-US" altLang="en-US" sz="2400" dirty="0"/>
              <a:t>Lists present rich challenges in information architecture. </a:t>
            </a:r>
          </a:p>
          <a:p>
            <a:pPr marL="0" marR="0" lvl="0" indent="0" fontAlgn="base">
              <a:spcAft>
                <a:spcPct val="0"/>
              </a:spcAft>
              <a:buClrTx/>
              <a:buSzTx/>
              <a:buFontTx/>
              <a:buChar char="•"/>
              <a:tabLst/>
            </a:pPr>
            <a:r>
              <a:rPr lang="en-US" altLang="en-US" sz="2400" dirty="0"/>
              <a:t>Information Architecture Challenges:</a:t>
            </a:r>
          </a:p>
          <a:p>
            <a:pPr marR="0" lvl="0" fontAlgn="base">
              <a:spcAft>
                <a:spcPct val="0"/>
              </a:spcAft>
              <a:buClrTx/>
              <a:buSzTx/>
              <a:buFont typeface="Wingdings" panose="05000000000000000000" pitchFamily="2" charset="2"/>
              <a:buChar char="Ø"/>
              <a:tabLst/>
            </a:pPr>
            <a:r>
              <a:rPr lang="en-US" altLang="en-US" sz="2400" dirty="0"/>
              <a:t>Length of the list </a:t>
            </a:r>
          </a:p>
          <a:p>
            <a:pPr marR="0" lvl="0" fontAlgn="base">
              <a:spcAft>
                <a:spcPct val="0"/>
              </a:spcAft>
              <a:buClrTx/>
              <a:buSzTx/>
              <a:buFont typeface="Wingdings" panose="05000000000000000000" pitchFamily="2" charset="2"/>
              <a:buChar char="Ø"/>
              <a:tabLst/>
            </a:pPr>
            <a:r>
              <a:rPr lang="en-US" altLang="en-US" sz="2400" dirty="0"/>
              <a:t>Flat vs. hierarchical structure </a:t>
            </a:r>
          </a:p>
          <a:p>
            <a:pPr marR="0" lvl="0" fontAlgn="base">
              <a:spcAft>
                <a:spcPct val="0"/>
              </a:spcAft>
              <a:buClrTx/>
              <a:buSzTx/>
              <a:buFont typeface="Wingdings" panose="05000000000000000000" pitchFamily="2" charset="2"/>
              <a:buChar char="Ø"/>
              <a:tabLst/>
            </a:pPr>
            <a:r>
              <a:rPr lang="en-US" altLang="en-US" sz="2400" dirty="0"/>
              <a:t>Ordering and dynamic reordering options </a:t>
            </a:r>
          </a:p>
          <a:p>
            <a:pPr marR="0" lvl="0" fontAlgn="base">
              <a:spcAft>
                <a:spcPct val="0"/>
              </a:spcAft>
              <a:buClrTx/>
              <a:buSzTx/>
              <a:buFont typeface="Wingdings" panose="05000000000000000000" pitchFamily="2" charset="2"/>
              <a:buChar char="Ø"/>
              <a:tabLst/>
            </a:pPr>
            <a:r>
              <a:rPr lang="en-US" altLang="en-US" sz="2400" dirty="0"/>
              <a:t>Filtering and searching capabilities </a:t>
            </a:r>
          </a:p>
          <a:p>
            <a:pPr marR="0" lvl="0" fontAlgn="base">
              <a:spcAft>
                <a:spcPct val="0"/>
              </a:spcAft>
              <a:buClrTx/>
              <a:buSzTx/>
              <a:buFont typeface="Wingdings" panose="05000000000000000000" pitchFamily="2" charset="2"/>
              <a:buChar char="Ø"/>
              <a:tabLst/>
            </a:pPr>
            <a:r>
              <a:rPr lang="en-US" altLang="en-US" sz="2400" dirty="0"/>
              <a:t>Associated information or operations for each item </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696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D2B7FC-46CC-CD80-2F43-E3238533D622}"/>
              </a:ext>
            </a:extLst>
          </p:cNvPr>
          <p:cNvSpPr>
            <a:spLocks noGrp="1"/>
          </p:cNvSpPr>
          <p:nvPr>
            <p:ph type="title"/>
          </p:nvPr>
        </p:nvSpPr>
        <p:spPr>
          <a:xfrm>
            <a:off x="457200" y="116632"/>
            <a:ext cx="8229600" cy="868958"/>
          </a:xfrm>
        </p:spPr>
        <p:txBody>
          <a:bodyPr>
            <a:normAutofit fontScale="90000"/>
          </a:bodyPr>
          <a:lstStyle/>
          <a:p>
            <a:r>
              <a:rPr lang="en-US" b="1" dirty="0"/>
              <a:t>Presenting a list or collection of items</a:t>
            </a:r>
            <a:endParaRPr lang="en-IN" b="1" dirty="0"/>
          </a:p>
        </p:txBody>
      </p:sp>
      <p:sp>
        <p:nvSpPr>
          <p:cNvPr id="4" name="Rectangle 1">
            <a:extLst>
              <a:ext uri="{FF2B5EF4-FFF2-40B4-BE49-F238E27FC236}">
                <a16:creationId xmlns="" xmlns:a16="http://schemas.microsoft.com/office/drawing/2014/main" id="{786CC157-003A-2E42-8652-ADE3B1DD04C1}"/>
              </a:ext>
            </a:extLst>
          </p:cNvPr>
          <p:cNvSpPr>
            <a:spLocks noGrp="1" noChangeArrowheads="1"/>
          </p:cNvSpPr>
          <p:nvPr>
            <p:ph idx="1"/>
          </p:nvPr>
        </p:nvSpPr>
        <p:spPr bwMode="auto">
          <a:xfrm>
            <a:off x="542925" y="839491"/>
            <a:ext cx="8058150" cy="5613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fontAlgn="base">
              <a:spcAft>
                <a:spcPct val="0"/>
              </a:spcAft>
              <a:buNone/>
            </a:pPr>
            <a:r>
              <a:rPr lang="en-US" altLang="en-US" sz="2600" b="1" dirty="0"/>
              <a:t>Design Patterns:</a:t>
            </a:r>
          </a:p>
          <a:p>
            <a:pPr marL="0" indent="0" fontAlgn="base">
              <a:spcAft>
                <a:spcPct val="0"/>
              </a:spcAft>
              <a:buFontTx/>
              <a:buChar char="•"/>
            </a:pPr>
            <a:r>
              <a:rPr lang="en-US" altLang="en-US" sz="2600" b="1" dirty="0"/>
              <a:t>Feature, Search, and Browse: </a:t>
            </a:r>
            <a:r>
              <a:rPr lang="en-US" altLang="en-US" sz="2600" dirty="0"/>
              <a:t>Common in e-commerce and content sites, allowing users to search or browse items, with a featured item on the front page. </a:t>
            </a:r>
          </a:p>
          <a:p>
            <a:pPr marL="0" indent="0" fontAlgn="base">
              <a:spcAft>
                <a:spcPct val="0"/>
              </a:spcAft>
              <a:buFontTx/>
              <a:buChar char="•"/>
            </a:pPr>
            <a:r>
              <a:rPr lang="en-US" altLang="en-US" sz="2600" b="1" dirty="0"/>
              <a:t>News Stream: </a:t>
            </a:r>
            <a:r>
              <a:rPr lang="en-US" altLang="en-US" sz="2600" dirty="0"/>
              <a:t>Used by blogs and social media, displaying the most recent updates at the top. </a:t>
            </a:r>
          </a:p>
          <a:p>
            <a:pPr marL="0" indent="0" fontAlgn="base">
              <a:spcAft>
                <a:spcPct val="0"/>
              </a:spcAft>
              <a:buFontTx/>
              <a:buChar char="•"/>
            </a:pPr>
            <a:r>
              <a:rPr lang="en-US" altLang="en-US" sz="2600" b="1" dirty="0"/>
              <a:t>Picture Manager</a:t>
            </a:r>
            <a:r>
              <a:rPr lang="en-US" altLang="en-US" sz="2600" dirty="0"/>
              <a:t>: A specialized interface for managing photos, supporting both hierarchical and flat lists, with tools for arrangement and direct operations on images. </a:t>
            </a:r>
          </a:p>
          <a:p>
            <a:pPr marL="0" indent="0" fontAlgn="base">
              <a:spcAft>
                <a:spcPct val="0"/>
              </a:spcAft>
              <a:buFontTx/>
              <a:buChar char="•"/>
            </a:pPr>
            <a:r>
              <a:rPr lang="en-IN" sz="2600" b="1" dirty="0"/>
              <a:t>Integration of Techniques: </a:t>
            </a:r>
            <a:r>
              <a:rPr lang="en-US" altLang="en-US" sz="2600" dirty="0"/>
              <a:t>Once a primary design pattern is chosen, consider additional techniques (e.g., Thumbnail Grid, Pagination) to enhance list presentation within the selected framework</a:t>
            </a:r>
          </a:p>
        </p:txBody>
      </p:sp>
    </p:spTree>
    <p:extLst>
      <p:ext uri="{BB962C8B-B14F-4D97-AF65-F5344CB8AC3E}">
        <p14:creationId xmlns:p14="http://schemas.microsoft.com/office/powerpoint/2010/main" val="2084404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DFA665-3092-9EF7-FFFC-5D556942819C}"/>
              </a:ext>
            </a:extLst>
          </p:cNvPr>
          <p:cNvSpPr>
            <a:spLocks noGrp="1"/>
          </p:cNvSpPr>
          <p:nvPr>
            <p:ph type="title"/>
          </p:nvPr>
        </p:nvSpPr>
        <p:spPr>
          <a:xfrm>
            <a:off x="457200" y="116632"/>
            <a:ext cx="8229600" cy="1143000"/>
          </a:xfrm>
        </p:spPr>
        <p:txBody>
          <a:bodyPr/>
          <a:lstStyle/>
          <a:p>
            <a:r>
              <a:rPr lang="en-US" b="1" dirty="0"/>
              <a:t>Offering tools for creation</a:t>
            </a:r>
            <a:endParaRPr lang="en-IN" b="1" dirty="0"/>
          </a:p>
        </p:txBody>
      </p:sp>
      <p:sp>
        <p:nvSpPr>
          <p:cNvPr id="3" name="Content Placeholder 2">
            <a:extLst>
              <a:ext uri="{FF2B5EF4-FFF2-40B4-BE49-F238E27FC236}">
                <a16:creationId xmlns="" xmlns:a16="http://schemas.microsoft.com/office/drawing/2014/main" id="{23336409-9BA7-1EA2-861B-7F65712C5C2E}"/>
              </a:ext>
            </a:extLst>
          </p:cNvPr>
          <p:cNvSpPr>
            <a:spLocks noGrp="1"/>
          </p:cNvSpPr>
          <p:nvPr>
            <p:ph idx="1"/>
          </p:nvPr>
        </p:nvSpPr>
        <p:spPr>
          <a:xfrm>
            <a:off x="628650" y="1268760"/>
            <a:ext cx="7886700" cy="4802187"/>
          </a:xfrm>
        </p:spPr>
        <p:txBody>
          <a:bodyPr>
            <a:noAutofit/>
          </a:bodyPr>
          <a:lstStyle/>
          <a:p>
            <a:r>
              <a:rPr lang="en-US" sz="2300" b="1" dirty="0"/>
              <a:t>Key Examples:</a:t>
            </a:r>
            <a:r>
              <a:rPr lang="en-US" sz="2300" dirty="0"/>
              <a:t> Microsoft Office Suite (Word, Excel, PowerPoint), Adobe Creative Suite (Photoshop, Illustrator, InDesign, Dreamweaver), and various code editors/IDEs.</a:t>
            </a:r>
          </a:p>
          <a:p>
            <a:pPr marL="0" indent="0">
              <a:buNone/>
            </a:pPr>
            <a:r>
              <a:rPr lang="en-US" sz="2300" b="1" dirty="0"/>
              <a:t>At the level of application structure or IA, the following patterns are often found to design different aspects of these tools</a:t>
            </a:r>
          </a:p>
          <a:p>
            <a:r>
              <a:rPr lang="en-US" sz="2300" b="1" dirty="0"/>
              <a:t> Canvas Plus Palette:</a:t>
            </a:r>
            <a:r>
              <a:rPr lang="en-US" sz="2300" dirty="0"/>
              <a:t> A recognizable pattern for visual editors that sets strong user expectations.</a:t>
            </a:r>
          </a:p>
          <a:p>
            <a:pPr>
              <a:buFont typeface="Arial" panose="020B0604020202020204" pitchFamily="34" charset="0"/>
              <a:buChar char="•"/>
            </a:pPr>
            <a:r>
              <a:rPr lang="en-US" sz="2300" b="1" dirty="0"/>
              <a:t>Many Workspaces:</a:t>
            </a:r>
            <a:r>
              <a:rPr lang="en-US" sz="2300" dirty="0"/>
              <a:t> Allows users to manage multiple documents in parallel through separate windows.</a:t>
            </a:r>
          </a:p>
          <a:p>
            <a:pPr>
              <a:buFont typeface="Arial" panose="020B0604020202020204" pitchFamily="34" charset="0"/>
              <a:buChar char="•"/>
            </a:pPr>
            <a:r>
              <a:rPr lang="en-US" sz="2300" b="1" dirty="0"/>
              <a:t>Alternative Views:</a:t>
            </a:r>
            <a:r>
              <a:rPr lang="en-US" sz="2300" dirty="0"/>
              <a:t> Enables users to view a single document through different perspectives.</a:t>
            </a:r>
          </a:p>
          <a:p>
            <a:pPr>
              <a:buFont typeface="Arial" panose="020B0604020202020204" pitchFamily="34" charset="0"/>
              <a:buChar char="•"/>
            </a:pPr>
            <a:r>
              <a:rPr lang="en-US" sz="2300" b="1" dirty="0"/>
              <a:t>Blank Slate Invitation:</a:t>
            </a:r>
            <a:r>
              <a:rPr lang="en-US" sz="2300" dirty="0"/>
              <a:t> Encourages users to start new projects with a clean slate, enhancing creativity and usability.</a:t>
            </a:r>
          </a:p>
          <a:p>
            <a:endParaRPr lang="en-IN" sz="2300" dirty="0"/>
          </a:p>
        </p:txBody>
      </p:sp>
    </p:spTree>
    <p:extLst>
      <p:ext uri="{BB962C8B-B14F-4D97-AF65-F5344CB8AC3E}">
        <p14:creationId xmlns:p14="http://schemas.microsoft.com/office/powerpoint/2010/main" val="2858431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9BF75D-864A-0B6B-EFD5-666883A99875}"/>
              </a:ext>
            </a:extLst>
          </p:cNvPr>
          <p:cNvSpPr>
            <a:spLocks noGrp="1"/>
          </p:cNvSpPr>
          <p:nvPr>
            <p:ph type="title"/>
          </p:nvPr>
        </p:nvSpPr>
        <p:spPr/>
        <p:txBody>
          <a:bodyPr>
            <a:normAutofit fontScale="90000"/>
          </a:bodyPr>
          <a:lstStyle/>
          <a:p>
            <a:r>
              <a:rPr lang="en-US" b="1" dirty="0"/>
              <a:t/>
            </a:r>
            <a:br>
              <a:rPr lang="en-US" b="1" dirty="0"/>
            </a:br>
            <a:r>
              <a:rPr lang="en-US" b="1" dirty="0"/>
              <a:t>Facilitating a specific task</a:t>
            </a:r>
            <a:br>
              <a:rPr lang="en-US" b="1" dirty="0"/>
            </a:br>
            <a:endParaRPr lang="en-IN" dirty="0"/>
          </a:p>
        </p:txBody>
      </p:sp>
      <p:sp>
        <p:nvSpPr>
          <p:cNvPr id="3" name="Content Placeholder 2">
            <a:extLst>
              <a:ext uri="{FF2B5EF4-FFF2-40B4-BE49-F238E27FC236}">
                <a16:creationId xmlns="" xmlns:a16="http://schemas.microsoft.com/office/drawing/2014/main" id="{A3567C07-16C2-39B4-2EAF-EC64C028F029}"/>
              </a:ext>
            </a:extLst>
          </p:cNvPr>
          <p:cNvSpPr>
            <a:spLocks noGrp="1"/>
          </p:cNvSpPr>
          <p:nvPr>
            <p:ph idx="1"/>
          </p:nvPr>
        </p:nvSpPr>
        <p:spPr/>
        <p:txBody>
          <a:bodyPr>
            <a:normAutofit fontScale="62500" lnSpcReduction="20000"/>
          </a:bodyPr>
          <a:lstStyle/>
          <a:p>
            <a:pPr marL="0" indent="0">
              <a:buNone/>
            </a:pPr>
            <a:r>
              <a:rPr lang="en-US" b="1" dirty="0"/>
              <a:t>User Interface Design for Task Completion</a:t>
            </a:r>
          </a:p>
          <a:p>
            <a:pPr>
              <a:buFont typeface="Arial" panose="020B0604020202020204" pitchFamily="34" charset="0"/>
              <a:buChar char="•"/>
            </a:pPr>
            <a:r>
              <a:rPr lang="en-US" b="1" dirty="0"/>
              <a:t> </a:t>
            </a:r>
            <a:r>
              <a:rPr lang="en-US" dirty="0"/>
              <a:t>Signing in, registering, posting, printing, uploading, purchasing, changing a setting—all such tasks fall into this category.</a:t>
            </a:r>
          </a:p>
          <a:p>
            <a:pPr>
              <a:buFont typeface="Arial" panose="020B0604020202020204" pitchFamily="34" charset="0"/>
              <a:buChar char="•"/>
            </a:pPr>
            <a:r>
              <a:rPr lang="en-US" dirty="0"/>
              <a:t>The interface should prioritize getting tasks done </a:t>
            </a:r>
          </a:p>
          <a:p>
            <a:pPr>
              <a:buFont typeface="Arial" panose="020B0604020202020204" pitchFamily="34" charset="0"/>
              <a:buChar char="•"/>
            </a:pPr>
            <a:r>
              <a:rPr lang="en-US" b="1" dirty="0"/>
              <a:t>Role of Forms:</a:t>
            </a:r>
            <a:r>
              <a:rPr lang="en-US" dirty="0"/>
              <a:t> Forms are essential for facilitating user tasks. </a:t>
            </a:r>
          </a:p>
          <a:p>
            <a:pPr>
              <a:buFont typeface="Arial" panose="020B0604020202020204" pitchFamily="34" charset="0"/>
              <a:buChar char="•"/>
            </a:pPr>
            <a:r>
              <a:rPr lang="en-US" b="1" dirty="0"/>
              <a:t>Task Complexity:</a:t>
            </a:r>
            <a:endParaRPr lang="en-US" dirty="0"/>
          </a:p>
          <a:p>
            <a:pPr marL="742950" lvl="1" indent="-285750">
              <a:buFont typeface="Arial" panose="020B0604020202020204" pitchFamily="34" charset="0"/>
              <a:buChar char="•"/>
            </a:pPr>
            <a:r>
              <a:rPr lang="en-US" dirty="0"/>
              <a:t>For simple tasks, a contained area (like a sign-in box) suffices.</a:t>
            </a:r>
          </a:p>
          <a:p>
            <a:pPr marL="742950" lvl="1" indent="-285750">
              <a:buFont typeface="Arial" panose="020B0604020202020204" pitchFamily="34" charset="0"/>
              <a:buChar char="•"/>
            </a:pPr>
            <a:r>
              <a:rPr lang="en-US" dirty="0"/>
              <a:t>For more complex tasks (long, branched, or with many options), it's important to structure the task effectively.</a:t>
            </a:r>
          </a:p>
          <a:p>
            <a:pPr>
              <a:buFont typeface="Arial" panose="020B0604020202020204" pitchFamily="34" charset="0"/>
              <a:buChar char="•"/>
            </a:pPr>
            <a:r>
              <a:rPr lang="en-US" b="1" dirty="0"/>
              <a:t>Breaking Down Tasks:</a:t>
            </a:r>
            <a:endParaRPr lang="en-US" dirty="0"/>
          </a:p>
          <a:p>
            <a:pPr marL="742950" lvl="1" indent="-285750">
              <a:buFont typeface="Arial" panose="020B0604020202020204" pitchFamily="34" charset="0"/>
              <a:buChar char="•"/>
            </a:pPr>
            <a:r>
              <a:rPr lang="en-US" dirty="0"/>
              <a:t>Consider using a </a:t>
            </a:r>
            <a:r>
              <a:rPr lang="en-US" b="1" dirty="0"/>
              <a:t>Wizard</a:t>
            </a:r>
            <a:r>
              <a:rPr lang="en-US" dirty="0"/>
              <a:t> for guiding users through multi-step tasks.</a:t>
            </a:r>
          </a:p>
          <a:p>
            <a:pPr>
              <a:buFont typeface="Arial" panose="020B0604020202020204" pitchFamily="34" charset="0"/>
              <a:buChar char="•"/>
            </a:pPr>
            <a:r>
              <a:rPr lang="en-US" b="1" dirty="0"/>
              <a:t>Settings Editor:</a:t>
            </a:r>
            <a:endParaRPr lang="en-US" dirty="0"/>
          </a:p>
          <a:p>
            <a:pPr marL="742950" lvl="1" indent="-285750">
              <a:buFont typeface="Arial" panose="020B0604020202020204" pitchFamily="34" charset="0"/>
              <a:buChar char="•"/>
            </a:pPr>
            <a:r>
              <a:rPr lang="en-US" dirty="0"/>
              <a:t>This interface allows users to change settings/preferences without a step-by-step approach. Users should have open access to various options and be able to navigate freely.</a:t>
            </a:r>
          </a:p>
          <a:p>
            <a:endParaRPr lang="en-IN" dirty="0"/>
          </a:p>
        </p:txBody>
      </p:sp>
    </p:spTree>
    <p:extLst>
      <p:ext uri="{BB962C8B-B14F-4D97-AF65-F5344CB8AC3E}">
        <p14:creationId xmlns:p14="http://schemas.microsoft.com/office/powerpoint/2010/main" val="2359309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9295B9-E9D5-EF13-9145-4CB42F813379}"/>
              </a:ext>
            </a:extLst>
          </p:cNvPr>
          <p:cNvSpPr>
            <a:spLocks noGrp="1"/>
          </p:cNvSpPr>
          <p:nvPr>
            <p:ph type="title"/>
          </p:nvPr>
        </p:nvSpPr>
        <p:spPr/>
        <p:txBody>
          <a:bodyPr/>
          <a:lstStyle/>
          <a:p>
            <a:r>
              <a:rPr lang="en-IN" b="1" dirty="0"/>
              <a:t>The Patterns</a:t>
            </a:r>
          </a:p>
        </p:txBody>
      </p:sp>
      <p:sp>
        <p:nvSpPr>
          <p:cNvPr id="3" name="Content Placeholder 2">
            <a:extLst>
              <a:ext uri="{FF2B5EF4-FFF2-40B4-BE49-F238E27FC236}">
                <a16:creationId xmlns="" xmlns:a16="http://schemas.microsoft.com/office/drawing/2014/main" id="{C30C43DC-29CF-F68A-FEBF-66ACAE319D2A}"/>
              </a:ext>
            </a:extLst>
          </p:cNvPr>
          <p:cNvSpPr>
            <a:spLocks noGrp="1"/>
          </p:cNvSpPr>
          <p:nvPr>
            <p:ph idx="1"/>
          </p:nvPr>
        </p:nvSpPr>
        <p:spPr/>
        <p:txBody>
          <a:bodyPr/>
          <a:lstStyle/>
          <a:p>
            <a:pPr algn="just"/>
            <a:r>
              <a:rPr lang="en-US" dirty="0"/>
              <a:t>Interface patterns that define interactions for significant parts of applications or websites.</a:t>
            </a:r>
          </a:p>
          <a:p>
            <a:pPr algn="just"/>
            <a:r>
              <a:rPr lang="en-US" dirty="0"/>
              <a:t> Patterns like Picture Manager, Canvas Plus Palette, and Feature, Search, and Browse are "guilds" of smaller patterns, working together to provide comprehensive functionality and user experience across large sections or entire sites.</a:t>
            </a:r>
            <a:endParaRPr lang="en-IN" dirty="0"/>
          </a:p>
        </p:txBody>
      </p:sp>
    </p:spTree>
    <p:extLst>
      <p:ext uri="{BB962C8B-B14F-4D97-AF65-F5344CB8AC3E}">
        <p14:creationId xmlns:p14="http://schemas.microsoft.com/office/powerpoint/2010/main" val="1543098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B8DC7A-E91D-2C58-1897-2E3EC5827D2B}"/>
              </a:ext>
            </a:extLst>
          </p:cNvPr>
          <p:cNvSpPr>
            <a:spLocks noGrp="1"/>
          </p:cNvSpPr>
          <p:nvPr>
            <p:ph type="title"/>
          </p:nvPr>
        </p:nvSpPr>
        <p:spPr/>
        <p:txBody>
          <a:bodyPr/>
          <a:lstStyle/>
          <a:p>
            <a:r>
              <a:rPr lang="en-IN" b="1" dirty="0"/>
              <a:t>The Patterns</a:t>
            </a:r>
            <a:endParaRPr lang="en-IN" dirty="0"/>
          </a:p>
        </p:txBody>
      </p:sp>
      <p:sp>
        <p:nvSpPr>
          <p:cNvPr id="3" name="Content Placeholder 2">
            <a:extLst>
              <a:ext uri="{FF2B5EF4-FFF2-40B4-BE49-F238E27FC236}">
                <a16:creationId xmlns="" xmlns:a16="http://schemas.microsoft.com/office/drawing/2014/main" id="{71D8E4F1-4666-F76F-06A8-A83FF0FF8390}"/>
              </a:ext>
            </a:extLst>
          </p:cNvPr>
          <p:cNvSpPr>
            <a:spLocks noGrp="1"/>
          </p:cNvSpPr>
          <p:nvPr>
            <p:ph idx="1"/>
          </p:nvPr>
        </p:nvSpPr>
        <p:spPr/>
        <p:txBody>
          <a:bodyPr>
            <a:normAutofit fontScale="77500" lnSpcReduction="20000"/>
          </a:bodyPr>
          <a:lstStyle/>
          <a:p>
            <a:pPr marL="0" indent="0">
              <a:buNone/>
            </a:pPr>
            <a:r>
              <a:rPr lang="en-US" dirty="0"/>
              <a:t>1. Feature, Search, and Browse</a:t>
            </a:r>
          </a:p>
          <a:p>
            <a:pPr marL="0" indent="0">
              <a:buNone/>
            </a:pPr>
            <a:r>
              <a:rPr lang="en-US" dirty="0"/>
              <a:t>2. News Stream</a:t>
            </a:r>
          </a:p>
          <a:p>
            <a:pPr marL="0" indent="0">
              <a:buNone/>
            </a:pPr>
            <a:r>
              <a:rPr lang="en-US" dirty="0"/>
              <a:t>3. Picture Manager</a:t>
            </a:r>
          </a:p>
          <a:p>
            <a:pPr marL="0" indent="0">
              <a:buNone/>
            </a:pPr>
            <a:r>
              <a:rPr lang="en-US" dirty="0"/>
              <a:t>4. Dashboard</a:t>
            </a:r>
          </a:p>
          <a:p>
            <a:pPr marL="0" indent="0">
              <a:buNone/>
            </a:pPr>
            <a:r>
              <a:rPr lang="en-US" dirty="0"/>
              <a:t>5. Canvas Plus Palette</a:t>
            </a:r>
          </a:p>
          <a:p>
            <a:pPr marL="0" indent="0">
              <a:buNone/>
            </a:pPr>
            <a:r>
              <a:rPr lang="en-US" dirty="0"/>
              <a:t>6. Wizard</a:t>
            </a:r>
          </a:p>
          <a:p>
            <a:pPr marL="0" indent="0">
              <a:buNone/>
            </a:pPr>
            <a:r>
              <a:rPr lang="en-US" dirty="0"/>
              <a:t>7. Settings Editor</a:t>
            </a:r>
          </a:p>
          <a:p>
            <a:pPr marL="0" indent="0">
              <a:buNone/>
            </a:pPr>
            <a:r>
              <a:rPr lang="en-US" b="1" dirty="0"/>
              <a:t>The last three patterns are more “meta,” in the sense that they can apply to the other patterns in the preceding list</a:t>
            </a:r>
          </a:p>
          <a:p>
            <a:pPr marL="0" indent="0">
              <a:buNone/>
            </a:pPr>
            <a:r>
              <a:rPr lang="en-US" dirty="0"/>
              <a:t>8. Alternative Views</a:t>
            </a:r>
          </a:p>
          <a:p>
            <a:pPr marL="0" indent="0">
              <a:buNone/>
            </a:pPr>
            <a:r>
              <a:rPr lang="en-US" dirty="0"/>
              <a:t>9. Many Workspaces</a:t>
            </a:r>
          </a:p>
          <a:p>
            <a:pPr marL="0" indent="0">
              <a:buNone/>
            </a:pPr>
            <a:r>
              <a:rPr lang="en-US" dirty="0"/>
              <a:t>10. Multi-Level Help</a:t>
            </a:r>
          </a:p>
          <a:p>
            <a:endParaRPr lang="en-US" dirty="0"/>
          </a:p>
          <a:p>
            <a:endParaRPr lang="en-IN" dirty="0"/>
          </a:p>
        </p:txBody>
      </p:sp>
    </p:spTree>
    <p:extLst>
      <p:ext uri="{BB962C8B-B14F-4D97-AF65-F5344CB8AC3E}">
        <p14:creationId xmlns:p14="http://schemas.microsoft.com/office/powerpoint/2010/main" val="2105349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99B2CA-AB64-B7C2-F83E-A990EA251534}"/>
              </a:ext>
            </a:extLst>
          </p:cNvPr>
          <p:cNvSpPr>
            <a:spLocks noGrp="1"/>
          </p:cNvSpPr>
          <p:nvPr>
            <p:ph type="title"/>
          </p:nvPr>
        </p:nvSpPr>
        <p:spPr>
          <a:xfrm>
            <a:off x="457200" y="260648"/>
            <a:ext cx="8229600" cy="724942"/>
          </a:xfrm>
        </p:spPr>
        <p:txBody>
          <a:bodyPr>
            <a:normAutofit fontScale="90000"/>
          </a:bodyPr>
          <a:lstStyle/>
          <a:p>
            <a:r>
              <a:rPr lang="en-US" dirty="0"/>
              <a:t>1</a:t>
            </a:r>
            <a:r>
              <a:rPr lang="en-US" b="1" dirty="0"/>
              <a:t>. Feature, Search, and Browse</a:t>
            </a:r>
            <a:r>
              <a:rPr lang="en-US" dirty="0"/>
              <a:t/>
            </a:r>
            <a:br>
              <a:rPr lang="en-US" dirty="0"/>
            </a:br>
            <a:endParaRPr lang="en-IN" dirty="0"/>
          </a:p>
        </p:txBody>
      </p:sp>
      <p:sp>
        <p:nvSpPr>
          <p:cNvPr id="3" name="Content Placeholder 2">
            <a:extLst>
              <a:ext uri="{FF2B5EF4-FFF2-40B4-BE49-F238E27FC236}">
                <a16:creationId xmlns="" xmlns:a16="http://schemas.microsoft.com/office/drawing/2014/main" id="{14F958E0-0EF5-C91C-2995-B2E4B780ECBE}"/>
              </a:ext>
            </a:extLst>
          </p:cNvPr>
          <p:cNvSpPr>
            <a:spLocks noGrp="1"/>
          </p:cNvSpPr>
          <p:nvPr>
            <p:ph idx="1"/>
          </p:nvPr>
        </p:nvSpPr>
        <p:spPr>
          <a:xfrm>
            <a:off x="457200" y="620688"/>
            <a:ext cx="8229600" cy="4525963"/>
          </a:xfrm>
        </p:spPr>
        <p:txBody>
          <a:bodyPr>
            <a:normAutofit/>
          </a:bodyPr>
          <a:lstStyle/>
          <a:p>
            <a:r>
              <a:rPr lang="en-US" sz="2800" dirty="0"/>
              <a:t>Put three elements on the main page of the site or app: a featured </a:t>
            </a:r>
            <a:r>
              <a:rPr lang="en-US" sz="2800" b="1" dirty="0"/>
              <a:t>article or product</a:t>
            </a:r>
            <a:r>
              <a:rPr lang="en-US" sz="2800" dirty="0"/>
              <a:t>, </a:t>
            </a:r>
            <a:r>
              <a:rPr lang="en-US" sz="2800" b="1" dirty="0"/>
              <a:t>a search box</a:t>
            </a:r>
            <a:r>
              <a:rPr lang="en-US" sz="2800" dirty="0"/>
              <a:t>, and </a:t>
            </a:r>
            <a:r>
              <a:rPr lang="en-US" sz="2800" b="1" dirty="0"/>
              <a:t>a list of items or categories that can be browsed</a:t>
            </a:r>
          </a:p>
          <a:p>
            <a:r>
              <a:rPr lang="en-US" sz="2800" dirty="0"/>
              <a:t>This approach helps users quickly find engaging content and encourages them to explore more of what your site has to offer.</a:t>
            </a:r>
            <a:endParaRPr lang="en-US" sz="2800" b="1" dirty="0"/>
          </a:p>
          <a:p>
            <a:endParaRPr lang="en-IN" sz="2800" b="1" dirty="0"/>
          </a:p>
        </p:txBody>
      </p:sp>
      <p:pic>
        <p:nvPicPr>
          <p:cNvPr id="5" name="Picture 4">
            <a:extLst>
              <a:ext uri="{FF2B5EF4-FFF2-40B4-BE49-F238E27FC236}">
                <a16:creationId xmlns="" xmlns:a16="http://schemas.microsoft.com/office/drawing/2014/main" id="{B3FCA10E-3DD9-CFAE-B14C-A071428E6ED9}"/>
              </a:ext>
            </a:extLst>
          </p:cNvPr>
          <p:cNvPicPr>
            <a:picLocks noChangeAspect="1"/>
          </p:cNvPicPr>
          <p:nvPr/>
        </p:nvPicPr>
        <p:blipFill rotWithShape="1">
          <a:blip r:embed="rId2"/>
          <a:srcRect l="5757" t="4698" r="14275"/>
          <a:stretch/>
        </p:blipFill>
        <p:spPr>
          <a:xfrm>
            <a:off x="611560" y="3338027"/>
            <a:ext cx="7893336" cy="3403341"/>
          </a:xfrm>
          <a:prstGeom prst="rect">
            <a:avLst/>
          </a:prstGeom>
        </p:spPr>
      </p:pic>
    </p:spTree>
    <p:extLst>
      <p:ext uri="{BB962C8B-B14F-4D97-AF65-F5344CB8AC3E}">
        <p14:creationId xmlns:p14="http://schemas.microsoft.com/office/powerpoint/2010/main" val="1180885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664786-E3CB-F660-90A2-689456A3880C}"/>
              </a:ext>
            </a:extLst>
          </p:cNvPr>
          <p:cNvSpPr>
            <a:spLocks noGrp="1"/>
          </p:cNvSpPr>
          <p:nvPr>
            <p:ph type="title"/>
          </p:nvPr>
        </p:nvSpPr>
        <p:spPr>
          <a:xfrm>
            <a:off x="457200" y="634678"/>
            <a:ext cx="8229600" cy="850106"/>
          </a:xfrm>
        </p:spPr>
        <p:txBody>
          <a:bodyPr>
            <a:normAutofit fontScale="90000"/>
          </a:bodyPr>
          <a:lstStyle/>
          <a:p>
            <a:r>
              <a:rPr lang="en-US" b="1" dirty="0"/>
              <a:t>1. Feature, Search, and Browse - WHY</a:t>
            </a:r>
            <a:r>
              <a:rPr lang="en-US" dirty="0"/>
              <a:t/>
            </a:r>
            <a:br>
              <a:rPr lang="en-US" dirty="0"/>
            </a:br>
            <a:endParaRPr lang="en-IN" dirty="0"/>
          </a:p>
        </p:txBody>
      </p:sp>
      <p:sp>
        <p:nvSpPr>
          <p:cNvPr id="3" name="Content Placeholder 2">
            <a:extLst>
              <a:ext uri="{FF2B5EF4-FFF2-40B4-BE49-F238E27FC236}">
                <a16:creationId xmlns="" xmlns:a16="http://schemas.microsoft.com/office/drawing/2014/main" id="{43EB0EAB-BA51-E5DC-4BE3-D0E11376BE84}"/>
              </a:ext>
            </a:extLst>
          </p:cNvPr>
          <p:cNvSpPr>
            <a:spLocks noGrp="1"/>
          </p:cNvSpPr>
          <p:nvPr>
            <p:ph idx="1"/>
          </p:nvPr>
        </p:nvSpPr>
        <p:spPr/>
        <p:txBody>
          <a:bodyPr>
            <a:normAutofit fontScale="77500" lnSpcReduction="20000"/>
          </a:bodyPr>
          <a:lstStyle/>
          <a:p>
            <a:r>
              <a:rPr lang="en-US" dirty="0"/>
              <a:t>Successful sites often use three key elements together: search ,browsing options, and featured items. </a:t>
            </a:r>
          </a:p>
          <a:p>
            <a:pPr>
              <a:buFont typeface="Wingdings" panose="05000000000000000000" pitchFamily="2" charset="2"/>
              <a:buChar char="Ø"/>
            </a:pPr>
            <a:r>
              <a:rPr lang="en-US" dirty="0"/>
              <a:t>Search lets users find exactly what they want. </a:t>
            </a:r>
          </a:p>
          <a:p>
            <a:pPr>
              <a:buFont typeface="Wingdings" panose="05000000000000000000" pitchFamily="2" charset="2"/>
              <a:buChar char="Ø"/>
            </a:pPr>
            <a:r>
              <a:rPr lang="en-US" dirty="0"/>
              <a:t>while browsing helps them discover new things. </a:t>
            </a:r>
          </a:p>
          <a:p>
            <a:pPr>
              <a:buFont typeface="Wingdings" panose="05000000000000000000" pitchFamily="2" charset="2"/>
              <a:buChar char="Ø"/>
            </a:pPr>
            <a:r>
              <a:rPr lang="en-US" dirty="0"/>
              <a:t>Featured items grab attention with appealing images and headlines, giving users something interesting to engage with right away. </a:t>
            </a:r>
          </a:p>
          <a:p>
            <a:r>
              <a:rPr lang="en-US" dirty="0"/>
              <a:t>This approach can make users more interested in your site and keep them exploring.</a:t>
            </a:r>
          </a:p>
          <a:p>
            <a:r>
              <a:rPr lang="en-US" dirty="0"/>
              <a:t>A user who lands on a page now has something to read or experiment with, without doing any additional work at all and he may find it more interesting than whatever he originally came for.</a:t>
            </a:r>
          </a:p>
          <a:p>
            <a:endParaRPr lang="en-IN" dirty="0"/>
          </a:p>
        </p:txBody>
      </p:sp>
    </p:spTree>
    <p:extLst>
      <p:ext uri="{BB962C8B-B14F-4D97-AF65-F5344CB8AC3E}">
        <p14:creationId xmlns:p14="http://schemas.microsoft.com/office/powerpoint/2010/main" val="3808455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5FDDFA-4F29-D57D-1C2C-1822C8B1ECA6}"/>
              </a:ext>
            </a:extLst>
          </p:cNvPr>
          <p:cNvSpPr>
            <a:spLocks noGrp="1"/>
          </p:cNvSpPr>
          <p:nvPr>
            <p:ph type="title"/>
          </p:nvPr>
        </p:nvSpPr>
        <p:spPr/>
        <p:txBody>
          <a:bodyPr>
            <a:normAutofit fontScale="90000"/>
          </a:bodyPr>
          <a:lstStyle/>
          <a:p>
            <a:r>
              <a:rPr lang="en-US" b="1" dirty="0"/>
              <a:t>1. Feature, Search, and Browse- HOW</a:t>
            </a:r>
            <a:endParaRPr lang="en-IN" dirty="0"/>
          </a:p>
        </p:txBody>
      </p:sp>
      <p:sp>
        <p:nvSpPr>
          <p:cNvPr id="3" name="Content Placeholder 2">
            <a:extLst>
              <a:ext uri="{FF2B5EF4-FFF2-40B4-BE49-F238E27FC236}">
                <a16:creationId xmlns="" xmlns:a16="http://schemas.microsoft.com/office/drawing/2014/main" id="{A567C518-C961-4D09-C636-2CDB46A814D3}"/>
              </a:ext>
            </a:extLst>
          </p:cNvPr>
          <p:cNvSpPr>
            <a:spLocks noGrp="1"/>
          </p:cNvSpPr>
          <p:nvPr>
            <p:ph idx="1"/>
          </p:nvPr>
        </p:nvSpPr>
        <p:spPr/>
        <p:txBody>
          <a:bodyPr>
            <a:normAutofit fontScale="77500" lnSpcReduction="20000"/>
          </a:bodyPr>
          <a:lstStyle/>
          <a:p>
            <a:pPr algn="just"/>
            <a:r>
              <a:rPr lang="en-US" dirty="0"/>
              <a:t>Place the search box in a prominent spot, like the top corner or across the top of the page. Use whitespace and a different background color to make it stand out and avoid confusion with other text fields.</a:t>
            </a:r>
          </a:p>
          <a:p>
            <a:pPr algn="just"/>
            <a:r>
              <a:rPr lang="en-US" dirty="0"/>
              <a:t>Set aside Center Stage for the featured article, product, or video. Very near it, and still above the fold, place an area for browsing the rest of the site’s content.</a:t>
            </a:r>
          </a:p>
          <a:p>
            <a:pPr algn="just"/>
            <a:r>
              <a:rPr lang="en-US" dirty="0"/>
              <a:t>Use lists, menus, or expandable categories to help users explore more easily.</a:t>
            </a:r>
          </a:p>
          <a:p>
            <a:pPr algn="just"/>
            <a:r>
              <a:rPr lang="en-US" dirty="0"/>
              <a:t>If the category labels open in place to show subcategories, the list behaves like a tree. Some sites, such as Amazon, turn the category labels into menus: when the pointer rolls over the label, a menu of subcategories appears.</a:t>
            </a:r>
          </a:p>
          <a:p>
            <a:endParaRPr lang="en-IN" dirty="0"/>
          </a:p>
        </p:txBody>
      </p:sp>
    </p:spTree>
    <p:extLst>
      <p:ext uri="{BB962C8B-B14F-4D97-AF65-F5344CB8AC3E}">
        <p14:creationId xmlns:p14="http://schemas.microsoft.com/office/powerpoint/2010/main" val="657322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934AFC-D207-20C8-CB69-C38BBE85912A}"/>
              </a:ext>
            </a:extLst>
          </p:cNvPr>
          <p:cNvSpPr>
            <a:spLocks noGrp="1"/>
          </p:cNvSpPr>
          <p:nvPr>
            <p:ph type="title"/>
          </p:nvPr>
        </p:nvSpPr>
        <p:spPr/>
        <p:txBody>
          <a:bodyPr>
            <a:normAutofit fontScale="90000"/>
          </a:bodyPr>
          <a:lstStyle/>
          <a:p>
            <a:r>
              <a:rPr lang="en-US" b="1" dirty="0"/>
              <a:t>1. Feature, Search, and Browse- HOW</a:t>
            </a:r>
            <a:endParaRPr lang="en-IN" dirty="0"/>
          </a:p>
        </p:txBody>
      </p:sp>
      <p:sp>
        <p:nvSpPr>
          <p:cNvPr id="3" name="Content Placeholder 2">
            <a:extLst>
              <a:ext uri="{FF2B5EF4-FFF2-40B4-BE49-F238E27FC236}">
                <a16:creationId xmlns="" xmlns:a16="http://schemas.microsoft.com/office/drawing/2014/main" id="{4FCEFA2B-D6DB-CADA-81E1-A02D1B8293D4}"/>
              </a:ext>
            </a:extLst>
          </p:cNvPr>
          <p:cNvSpPr>
            <a:spLocks noGrp="1"/>
          </p:cNvSpPr>
          <p:nvPr>
            <p:ph idx="1"/>
          </p:nvPr>
        </p:nvSpPr>
        <p:spPr>
          <a:xfrm>
            <a:off x="323528" y="1600200"/>
            <a:ext cx="8579296" cy="4525963"/>
          </a:xfrm>
        </p:spPr>
        <p:txBody>
          <a:bodyPr>
            <a:normAutofit fontScale="92500" lnSpcReduction="10000"/>
          </a:bodyPr>
          <a:lstStyle/>
          <a:p>
            <a:r>
              <a:rPr lang="en-US" dirty="0"/>
              <a:t>Choose your featured items carefully. </a:t>
            </a:r>
          </a:p>
          <a:p>
            <a:r>
              <a:rPr lang="en-US" dirty="0"/>
              <a:t>Features are a good way to sell items, advertise specials, and call attention to breaking news.</a:t>
            </a:r>
          </a:p>
          <a:p>
            <a:r>
              <a:rPr lang="en-US" dirty="0"/>
              <a:t> However, they also define what your site is about.</a:t>
            </a:r>
          </a:p>
          <a:p>
            <a:r>
              <a:rPr lang="en-US" dirty="0"/>
              <a:t>They should reflect your site's values and interests—whether that's promoting products, specials, or charitable efforts.</a:t>
            </a:r>
          </a:p>
          <a:p>
            <a:r>
              <a:rPr lang="en-US" dirty="0"/>
              <a:t> Understand what your users care about and what will keep them engaged with your site.</a:t>
            </a:r>
            <a:endParaRPr lang="en-IN" dirty="0"/>
          </a:p>
        </p:txBody>
      </p:sp>
    </p:spTree>
    <p:extLst>
      <p:ext uri="{BB962C8B-B14F-4D97-AF65-F5344CB8AC3E}">
        <p14:creationId xmlns:p14="http://schemas.microsoft.com/office/powerpoint/2010/main" val="3845571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D2F212-01D9-7BFC-7AE9-B95A370148A0}"/>
              </a:ext>
            </a:extLst>
          </p:cNvPr>
          <p:cNvSpPr>
            <a:spLocks noGrp="1"/>
          </p:cNvSpPr>
          <p:nvPr>
            <p:ph type="title"/>
          </p:nvPr>
        </p:nvSpPr>
        <p:spPr>
          <a:xfrm>
            <a:off x="628650" y="500063"/>
            <a:ext cx="7886700" cy="1325563"/>
          </a:xfrm>
        </p:spPr>
        <p:txBody>
          <a:bodyPr/>
          <a:lstStyle/>
          <a:p>
            <a:r>
              <a:rPr lang="en-US" b="1" dirty="0"/>
              <a:t>2. News Stream</a:t>
            </a:r>
            <a:r>
              <a:rPr lang="en-US" dirty="0"/>
              <a:t>- </a:t>
            </a:r>
            <a:r>
              <a:rPr lang="en-US" b="1" dirty="0"/>
              <a:t>WHAT &amp; WHEN</a:t>
            </a:r>
            <a:endParaRPr lang="en-IN" b="1" dirty="0"/>
          </a:p>
        </p:txBody>
      </p:sp>
      <p:sp>
        <p:nvSpPr>
          <p:cNvPr id="3" name="Content Placeholder 2">
            <a:extLst>
              <a:ext uri="{FF2B5EF4-FFF2-40B4-BE49-F238E27FC236}">
                <a16:creationId xmlns="" xmlns:a16="http://schemas.microsoft.com/office/drawing/2014/main" id="{7D67A797-9E9F-E6E0-D3EA-D4C10C680B6B}"/>
              </a:ext>
            </a:extLst>
          </p:cNvPr>
          <p:cNvSpPr>
            <a:spLocks noGrp="1"/>
          </p:cNvSpPr>
          <p:nvPr>
            <p:ph idx="1"/>
          </p:nvPr>
        </p:nvSpPr>
        <p:spPr/>
        <p:txBody>
          <a:bodyPr/>
          <a:lstStyle/>
          <a:p>
            <a:r>
              <a:rPr lang="en-US" dirty="0"/>
              <a:t>Display , time-sensitive items in a reverse chronological order, with the latest at the top. </a:t>
            </a:r>
          </a:p>
          <a:p>
            <a:r>
              <a:rPr lang="en-US" dirty="0"/>
              <a:t>Update the list dynamically and combine items from various sources into a single stream.</a:t>
            </a:r>
          </a:p>
          <a:p>
            <a:r>
              <a:rPr lang="en-US" dirty="0"/>
              <a:t>Your site or app uses communication channels like blogs, email, social media, or news updates to deliver timely content. </a:t>
            </a:r>
            <a:endParaRPr lang="en-IN" dirty="0"/>
          </a:p>
        </p:txBody>
      </p:sp>
    </p:spTree>
    <p:extLst>
      <p:ext uri="{BB962C8B-B14F-4D97-AF65-F5344CB8AC3E}">
        <p14:creationId xmlns:p14="http://schemas.microsoft.com/office/powerpoint/2010/main" val="3531126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4BC66E-32A3-2530-2BA0-26C417CAEB8A}"/>
              </a:ext>
            </a:extLst>
          </p:cNvPr>
          <p:cNvSpPr>
            <a:spLocks noGrp="1"/>
          </p:cNvSpPr>
          <p:nvPr>
            <p:ph type="title"/>
          </p:nvPr>
        </p:nvSpPr>
        <p:spPr>
          <a:xfrm>
            <a:off x="457200" y="188640"/>
            <a:ext cx="8229600" cy="940966"/>
          </a:xfrm>
        </p:spPr>
        <p:txBody>
          <a:bodyPr/>
          <a:lstStyle/>
          <a:p>
            <a:r>
              <a:rPr lang="en-US" b="1" dirty="0"/>
              <a:t>2. News Stream</a:t>
            </a:r>
            <a:r>
              <a:rPr lang="en-US" dirty="0"/>
              <a:t>- </a:t>
            </a:r>
            <a:r>
              <a:rPr lang="en-US" b="1" dirty="0"/>
              <a:t>WHY</a:t>
            </a:r>
            <a:endParaRPr lang="en-IN" dirty="0"/>
          </a:p>
        </p:txBody>
      </p:sp>
      <p:sp>
        <p:nvSpPr>
          <p:cNvPr id="3" name="Content Placeholder 2">
            <a:extLst>
              <a:ext uri="{FF2B5EF4-FFF2-40B4-BE49-F238E27FC236}">
                <a16:creationId xmlns="" xmlns:a16="http://schemas.microsoft.com/office/drawing/2014/main" id="{03D97659-C561-1980-4E78-D2BCED5DB80E}"/>
              </a:ext>
            </a:extLst>
          </p:cNvPr>
          <p:cNvSpPr>
            <a:spLocks noGrp="1"/>
          </p:cNvSpPr>
          <p:nvPr>
            <p:ph idx="1"/>
          </p:nvPr>
        </p:nvSpPr>
        <p:spPr>
          <a:xfrm>
            <a:off x="107504" y="1196752"/>
            <a:ext cx="8867328" cy="5257799"/>
          </a:xfrm>
        </p:spPr>
        <p:txBody>
          <a:bodyPr>
            <a:noAutofit/>
          </a:bodyPr>
          <a:lstStyle/>
          <a:p>
            <a:r>
              <a:rPr lang="en-US" sz="2400" dirty="0"/>
              <a:t>News streams are easy to follow because the latest items always appear at the top automatically. </a:t>
            </a:r>
          </a:p>
          <a:p>
            <a:r>
              <a:rPr lang="en-US" sz="2400" dirty="0"/>
              <a:t>They can check in often and be assured of seeing what they need to see</a:t>
            </a:r>
          </a:p>
          <a:p>
            <a:r>
              <a:rPr lang="en-US" sz="2400" dirty="0"/>
              <a:t>People visit various sites and apps daily to stay updated on friends, conversations, or topics of interest. Combining multiple news sources into one place makes it easier to keep track of everything. This aligns with the Microbreaks pattern, allowing users to get a lot of information quickly and effortlessly.</a:t>
            </a:r>
          </a:p>
          <a:p>
            <a:r>
              <a:rPr lang="en-US" sz="2400" dirty="0"/>
              <a:t>For publishers, including a News Box or similar feature on your main page helps visitors see the latest updates and important content, such as new products, blog posts, videos, news, and other initiatives. This is especially useful for large organizations with many ongoing activities</a:t>
            </a:r>
            <a:r>
              <a:rPr lang="en-US" sz="2400" dirty="0" smtClean="0"/>
              <a:t>.</a:t>
            </a:r>
            <a:endParaRPr lang="en-US" sz="2400" dirty="0"/>
          </a:p>
        </p:txBody>
      </p:sp>
    </p:spTree>
    <p:extLst>
      <p:ext uri="{BB962C8B-B14F-4D97-AF65-F5344CB8AC3E}">
        <p14:creationId xmlns:p14="http://schemas.microsoft.com/office/powerpoint/2010/main" val="1761631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D5CDFA-93D7-A74A-7943-29C4AEA26EBE}"/>
              </a:ext>
            </a:extLst>
          </p:cNvPr>
          <p:cNvSpPr>
            <a:spLocks noGrp="1"/>
          </p:cNvSpPr>
          <p:nvPr>
            <p:ph type="title"/>
          </p:nvPr>
        </p:nvSpPr>
        <p:spPr/>
        <p:txBody>
          <a:bodyPr/>
          <a:lstStyle/>
          <a:p>
            <a:r>
              <a:rPr lang="en-US" b="1" dirty="0"/>
              <a:t>2. News Stream- HOW</a:t>
            </a:r>
            <a:endParaRPr lang="en-IN" dirty="0"/>
          </a:p>
        </p:txBody>
      </p:sp>
      <p:sp>
        <p:nvSpPr>
          <p:cNvPr id="3" name="Content Placeholder 2">
            <a:extLst>
              <a:ext uri="{FF2B5EF4-FFF2-40B4-BE49-F238E27FC236}">
                <a16:creationId xmlns="" xmlns:a16="http://schemas.microsoft.com/office/drawing/2014/main" id="{6023FB39-34AE-18F9-3CD6-5D66002AAAEF}"/>
              </a:ext>
            </a:extLst>
          </p:cNvPr>
          <p:cNvSpPr>
            <a:spLocks noGrp="1"/>
          </p:cNvSpPr>
          <p:nvPr>
            <p:ph idx="1"/>
          </p:nvPr>
        </p:nvSpPr>
        <p:spPr/>
        <p:txBody>
          <a:bodyPr>
            <a:normAutofit fontScale="62500" lnSpcReduction="20000"/>
          </a:bodyPr>
          <a:lstStyle/>
          <a:p>
            <a:r>
              <a:rPr lang="en-US" dirty="0"/>
              <a:t>To help users keep up with multiple news sources easily, follow these guidelines:</a:t>
            </a:r>
          </a:p>
          <a:p>
            <a:pPr>
              <a:buFont typeface="+mj-lt"/>
              <a:buAutoNum type="arabicPeriod"/>
            </a:pPr>
            <a:r>
              <a:rPr lang="en-US" b="1" dirty="0"/>
              <a:t>Display Items</a:t>
            </a:r>
            <a:r>
              <a:rPr lang="en-US" dirty="0"/>
              <a:t>: List news items in reverse chronological order, with the newest at the top. If possible, automatically update the list with new items and provide an option to manually refresh.</a:t>
            </a:r>
          </a:p>
          <a:p>
            <a:pPr>
              <a:buFont typeface="+mj-lt"/>
              <a:buAutoNum type="arabicPeriod"/>
            </a:pPr>
            <a:r>
              <a:rPr lang="en-US" b="1" dirty="0"/>
              <a:t>Organize Streams</a:t>
            </a:r>
            <a:r>
              <a:rPr lang="en-US" dirty="0"/>
              <a:t>: For busy feeds, break content into sub streams by topic, sender, or other factors. Allow users to choose which sub streams they want to view.</a:t>
            </a:r>
          </a:p>
          <a:p>
            <a:pPr>
              <a:buFont typeface="+mj-lt"/>
              <a:buAutoNum type="arabicPeriod"/>
            </a:pPr>
            <a:r>
              <a:rPr lang="en-US" b="1" dirty="0"/>
              <a:t>Information to Include</a:t>
            </a:r>
            <a:r>
              <a:rPr lang="en-US" dirty="0"/>
              <a:t>:</a:t>
            </a:r>
          </a:p>
          <a:p>
            <a:pPr marL="742950" lvl="1" indent="-285750">
              <a:buFont typeface="+mj-lt"/>
              <a:buAutoNum type="arabicPeriod"/>
            </a:pPr>
            <a:r>
              <a:rPr lang="en-US" b="1" dirty="0"/>
              <a:t>What</a:t>
            </a:r>
            <a:r>
              <a:rPr lang="en-US" dirty="0"/>
              <a:t>: Show the full micro-update or, for longer content, include a title, brief teaser, and thumbnail image.</a:t>
            </a:r>
          </a:p>
          <a:p>
            <a:pPr marL="742950" lvl="1" indent="-285750">
              <a:buFont typeface="+mj-lt"/>
              <a:buAutoNum type="arabicPeriod"/>
            </a:pPr>
            <a:r>
              <a:rPr lang="en-US" b="1" dirty="0"/>
              <a:t>Who</a:t>
            </a:r>
            <a:r>
              <a:rPr lang="en-US" dirty="0"/>
              <a:t>: Display the name of the author or source, balancing personal names with institutional names.</a:t>
            </a:r>
          </a:p>
          <a:p>
            <a:pPr marL="742950" lvl="1" indent="-285750">
              <a:buFont typeface="+mj-lt"/>
              <a:buAutoNum type="arabicPeriod"/>
            </a:pPr>
            <a:r>
              <a:rPr lang="en-US" b="1" dirty="0"/>
              <a:t>When</a:t>
            </a:r>
            <a:r>
              <a:rPr lang="en-US" dirty="0"/>
              <a:t>: Provide a date or timestamp, and consider using relative times like “Yesterday” or “11 minutes ago.”</a:t>
            </a:r>
          </a:p>
          <a:p>
            <a:pPr marL="742950" lvl="1" indent="-285750">
              <a:buFont typeface="+mj-lt"/>
              <a:buAutoNum type="arabicPeriod"/>
            </a:pPr>
            <a:r>
              <a:rPr lang="en-US" b="1" dirty="0"/>
              <a:t>Where</a:t>
            </a:r>
            <a:r>
              <a:rPr lang="en-US" dirty="0"/>
              <a:t>: Link to the source of the item, or show geolocation data if applicable.</a:t>
            </a:r>
          </a:p>
          <a:p>
            <a:endParaRPr lang="en-IN" dirty="0"/>
          </a:p>
        </p:txBody>
      </p:sp>
    </p:spTree>
    <p:extLst>
      <p:ext uri="{BB962C8B-B14F-4D97-AF65-F5344CB8AC3E}">
        <p14:creationId xmlns:p14="http://schemas.microsoft.com/office/powerpoint/2010/main" val="587302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8059DE-3E16-477F-2A26-D2FD0087679E}"/>
              </a:ext>
            </a:extLst>
          </p:cNvPr>
          <p:cNvSpPr>
            <a:spLocks noGrp="1"/>
          </p:cNvSpPr>
          <p:nvPr>
            <p:ph type="title"/>
          </p:nvPr>
        </p:nvSpPr>
        <p:spPr>
          <a:xfrm>
            <a:off x="19757" y="188640"/>
            <a:ext cx="8229600" cy="796950"/>
          </a:xfrm>
        </p:spPr>
        <p:txBody>
          <a:bodyPr/>
          <a:lstStyle/>
          <a:p>
            <a:r>
              <a:rPr lang="en-US" b="1" dirty="0"/>
              <a:t>2. News Stream</a:t>
            </a:r>
            <a:endParaRPr lang="en-IN" dirty="0"/>
          </a:p>
        </p:txBody>
      </p:sp>
      <p:sp>
        <p:nvSpPr>
          <p:cNvPr id="3" name="Content Placeholder 2">
            <a:extLst>
              <a:ext uri="{FF2B5EF4-FFF2-40B4-BE49-F238E27FC236}">
                <a16:creationId xmlns="" xmlns:a16="http://schemas.microsoft.com/office/drawing/2014/main" id="{304469AB-4B3E-F70B-F745-E5F431DA0BD6}"/>
              </a:ext>
            </a:extLst>
          </p:cNvPr>
          <p:cNvSpPr>
            <a:spLocks noGrp="1"/>
          </p:cNvSpPr>
          <p:nvPr>
            <p:ph idx="1"/>
          </p:nvPr>
        </p:nvSpPr>
        <p:spPr>
          <a:xfrm>
            <a:off x="251520" y="1096144"/>
            <a:ext cx="8784976" cy="3773016"/>
          </a:xfrm>
        </p:spPr>
        <p:txBody>
          <a:bodyPr>
            <a:noAutofit/>
          </a:bodyPr>
          <a:lstStyle/>
          <a:p>
            <a:r>
              <a:rPr lang="en-US" sz="2100" dirty="0"/>
              <a:t>For handling content in a News Stream:</a:t>
            </a:r>
          </a:p>
          <a:p>
            <a:pPr>
              <a:buFont typeface="+mj-lt"/>
              <a:buAutoNum type="arabicPeriod"/>
            </a:pPr>
            <a:r>
              <a:rPr lang="en-US" sz="2100" b="1" dirty="0"/>
              <a:t>Expand Content</a:t>
            </a:r>
            <a:r>
              <a:rPr lang="en-US" sz="2100" dirty="0"/>
              <a:t>: If an item is too long to display fully, include a “More” link or button to view the entire content. Consider using Two-Panel Selector, One-Window Drilldown, or List Inlay methods to show additional details.</a:t>
            </a:r>
          </a:p>
          <a:p>
            <a:pPr>
              <a:buFont typeface="+mj-lt"/>
              <a:buAutoNum type="arabicPeriod"/>
            </a:pPr>
            <a:r>
              <a:rPr lang="en-US" sz="2100" b="1" dirty="0"/>
              <a:t>Encourage Interaction</a:t>
            </a:r>
            <a:r>
              <a:rPr lang="en-US" sz="2100" dirty="0"/>
              <a:t>: Allow users to quickly respond to items with actions like stars, thumbs-up, likes, or favorites. Also, provide options for longer replies and place these controls next to each item to promote engagement.</a:t>
            </a:r>
          </a:p>
          <a:p>
            <a:pPr>
              <a:buFont typeface="+mj-lt"/>
              <a:buAutoNum type="arabicPeriod"/>
            </a:pPr>
            <a:r>
              <a:rPr lang="en-US" sz="2100" b="1" dirty="0"/>
              <a:t>Enable Sharing</a:t>
            </a:r>
            <a:r>
              <a:rPr lang="en-US" sz="2100" dirty="0"/>
              <a:t>: Facilitate easy sharing of items via email or social media. </a:t>
            </a:r>
          </a:p>
          <a:p>
            <a:pPr>
              <a:buFont typeface="+mj-lt"/>
              <a:buAutoNum type="arabicPeriod"/>
            </a:pPr>
            <a:r>
              <a:rPr lang="en-US" sz="2100" b="1" dirty="0"/>
              <a:t>Mobile Design</a:t>
            </a:r>
            <a:r>
              <a:rPr lang="en-US" sz="2100" dirty="0"/>
              <a:t>: On mobile devices, use a full-screen list, often a Thumbnail-and-Text List, where users can tap or click to view items in detail. Infinite List patterns, which load more content as users scroll, are common in mobile and full-screen designs.</a:t>
            </a:r>
          </a:p>
          <a:p>
            <a:pPr>
              <a:buFont typeface="+mj-lt"/>
              <a:buAutoNum type="arabicPeriod"/>
            </a:pPr>
            <a:r>
              <a:rPr lang="en-US" sz="2100" b="1" dirty="0"/>
              <a:t>Activity Streams</a:t>
            </a:r>
            <a:r>
              <a:rPr lang="en-US" sz="2100" dirty="0"/>
              <a:t>: Note that activity streams focus on time-ordered actions performed by entities (individuals, systems, or organizations), while News Streams aggregate diverse sources of interest to users.</a:t>
            </a:r>
          </a:p>
          <a:p>
            <a:endParaRPr lang="en-IN" sz="2100" dirty="0"/>
          </a:p>
        </p:txBody>
      </p:sp>
    </p:spTree>
    <p:extLst>
      <p:ext uri="{BB962C8B-B14F-4D97-AF65-F5344CB8AC3E}">
        <p14:creationId xmlns:p14="http://schemas.microsoft.com/office/powerpoint/2010/main" val="2130401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 xmlns:a16="http://schemas.microsoft.com/office/drawing/2014/main" id="{B738A4B1-B977-B898-DC8C-12FFEE3D1E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755" y="-27384"/>
            <a:ext cx="5040560" cy="3736258"/>
          </a:xfrm>
          <a:prstGeom prst="rect">
            <a:avLst/>
          </a:prstGeom>
        </p:spPr>
      </p:pic>
      <p:pic>
        <p:nvPicPr>
          <p:cNvPr id="17" name="Picture 16">
            <a:extLst>
              <a:ext uri="{FF2B5EF4-FFF2-40B4-BE49-F238E27FC236}">
                <a16:creationId xmlns="" xmlns:a16="http://schemas.microsoft.com/office/drawing/2014/main" id="{82B910B1-30F2-1494-8072-5B01A7485B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1960" y="3717032"/>
            <a:ext cx="4869140" cy="3140968"/>
          </a:xfrm>
          <a:prstGeom prst="rect">
            <a:avLst/>
          </a:prstGeom>
        </p:spPr>
      </p:pic>
    </p:spTree>
    <p:extLst>
      <p:ext uri="{BB962C8B-B14F-4D97-AF65-F5344CB8AC3E}">
        <p14:creationId xmlns:p14="http://schemas.microsoft.com/office/powerpoint/2010/main" val="1994767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A9F55A5A-D1F2-CB78-6254-4E17676214A7}"/>
              </a:ext>
            </a:extLst>
          </p:cNvPr>
          <p:cNvPicPr>
            <a:picLocks noGrp="1" noChangeAspect="1"/>
          </p:cNvPicPr>
          <p:nvPr>
            <p:ph idx="1"/>
          </p:nvPr>
        </p:nvPicPr>
        <p:blipFill>
          <a:blip r:embed="rId2"/>
          <a:stretch>
            <a:fillRect/>
          </a:stretch>
        </p:blipFill>
        <p:spPr>
          <a:xfrm>
            <a:off x="290964" y="498270"/>
            <a:ext cx="5073123" cy="5451846"/>
          </a:xfrm>
        </p:spPr>
      </p:pic>
      <p:sp>
        <p:nvSpPr>
          <p:cNvPr id="7" name="TextBox 6">
            <a:extLst>
              <a:ext uri="{FF2B5EF4-FFF2-40B4-BE49-F238E27FC236}">
                <a16:creationId xmlns="" xmlns:a16="http://schemas.microsoft.com/office/drawing/2014/main" id="{475D2957-1DF6-A1D5-DA59-763B2BF3436E}"/>
              </a:ext>
            </a:extLst>
          </p:cNvPr>
          <p:cNvSpPr txBox="1"/>
          <p:nvPr/>
        </p:nvSpPr>
        <p:spPr>
          <a:xfrm>
            <a:off x="2286000" y="3246792"/>
            <a:ext cx="4572000" cy="369332"/>
          </a:xfrm>
          <a:prstGeom prst="rect">
            <a:avLst/>
          </a:prstGeom>
          <a:noFill/>
        </p:spPr>
        <p:txBody>
          <a:bodyPr wrap="square">
            <a:spAutoFit/>
          </a:bodyPr>
          <a:lstStyle/>
          <a:p>
            <a:endParaRPr lang="en-IN" dirty="0"/>
          </a:p>
        </p:txBody>
      </p:sp>
      <p:sp>
        <p:nvSpPr>
          <p:cNvPr id="9" name="TextBox 8">
            <a:extLst>
              <a:ext uri="{FF2B5EF4-FFF2-40B4-BE49-F238E27FC236}">
                <a16:creationId xmlns="" xmlns:a16="http://schemas.microsoft.com/office/drawing/2014/main" id="{ADDA1FBC-738B-8E21-0EE7-FFBB67549DA5}"/>
              </a:ext>
            </a:extLst>
          </p:cNvPr>
          <p:cNvSpPr txBox="1"/>
          <p:nvPr/>
        </p:nvSpPr>
        <p:spPr>
          <a:xfrm>
            <a:off x="2286000" y="3246792"/>
            <a:ext cx="4572000" cy="369332"/>
          </a:xfrm>
          <a:prstGeom prst="rect">
            <a:avLst/>
          </a:prstGeom>
          <a:noFill/>
        </p:spPr>
        <p:txBody>
          <a:bodyPr wrap="square">
            <a:spAutoFit/>
          </a:bodyPr>
          <a:lstStyle/>
          <a:p>
            <a:endParaRPr lang="en-IN" dirty="0"/>
          </a:p>
        </p:txBody>
      </p:sp>
      <p:pic>
        <p:nvPicPr>
          <p:cNvPr id="19" name="Picture 18">
            <a:extLst>
              <a:ext uri="{FF2B5EF4-FFF2-40B4-BE49-F238E27FC236}">
                <a16:creationId xmlns="" xmlns:a16="http://schemas.microsoft.com/office/drawing/2014/main" id="{2FBA8AB7-9BE7-12F1-0CF2-66A9E5EDE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0520" y="332656"/>
            <a:ext cx="2700300" cy="5400600"/>
          </a:xfrm>
          <a:prstGeom prst="rect">
            <a:avLst/>
          </a:prstGeom>
        </p:spPr>
      </p:pic>
    </p:spTree>
    <p:extLst>
      <p:ext uri="{BB962C8B-B14F-4D97-AF65-F5344CB8AC3E}">
        <p14:creationId xmlns:p14="http://schemas.microsoft.com/office/powerpoint/2010/main" val="181529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4B288E-C9F7-D683-CF28-CECB7FCD54AB}"/>
              </a:ext>
            </a:extLst>
          </p:cNvPr>
          <p:cNvSpPr>
            <a:spLocks noGrp="1"/>
          </p:cNvSpPr>
          <p:nvPr>
            <p:ph type="title"/>
          </p:nvPr>
        </p:nvSpPr>
        <p:spPr/>
        <p:txBody>
          <a:bodyPr>
            <a:normAutofit fontScale="90000"/>
          </a:bodyPr>
          <a:lstStyle/>
          <a:p>
            <a:r>
              <a:rPr lang="en-IN" b="1" dirty="0"/>
              <a:t>3.Picture Manager- WHAT &amp; WHEN</a:t>
            </a:r>
          </a:p>
        </p:txBody>
      </p:sp>
      <p:sp>
        <p:nvSpPr>
          <p:cNvPr id="3" name="Content Placeholder 2">
            <a:extLst>
              <a:ext uri="{FF2B5EF4-FFF2-40B4-BE49-F238E27FC236}">
                <a16:creationId xmlns="" xmlns:a16="http://schemas.microsoft.com/office/drawing/2014/main" id="{B172CFA9-41AE-E7A7-77D3-72FD66C14C13}"/>
              </a:ext>
            </a:extLst>
          </p:cNvPr>
          <p:cNvSpPr>
            <a:spLocks noGrp="1"/>
          </p:cNvSpPr>
          <p:nvPr>
            <p:ph idx="1"/>
          </p:nvPr>
        </p:nvSpPr>
        <p:spPr/>
        <p:txBody>
          <a:bodyPr>
            <a:normAutofit fontScale="85000" lnSpcReduction="10000"/>
          </a:bodyPr>
          <a:lstStyle/>
          <a:p>
            <a:r>
              <a:rPr lang="en-US" dirty="0"/>
              <a:t>Use thumbnails, item views, and a browsing interface to create a familiar structure for managing photos, videos, and other pictorial items.</a:t>
            </a:r>
          </a:p>
          <a:p>
            <a:r>
              <a:rPr lang="en-US" dirty="0"/>
              <a:t>People use your software to work with lists or collections of pictorial things: photos, drawings, video clips, and so on. </a:t>
            </a:r>
          </a:p>
          <a:p>
            <a:r>
              <a:rPr lang="en-US" dirty="0"/>
              <a:t>The list might be in a web page, or in an application, or both.</a:t>
            </a:r>
          </a:p>
          <a:p>
            <a:r>
              <a:rPr lang="en-US" dirty="0"/>
              <a:t>It might allow editing by the owner of the content, or it might simply show the content to the public for browsing, viewing, and comments.</a:t>
            </a:r>
            <a:endParaRPr lang="en-IN" dirty="0"/>
          </a:p>
        </p:txBody>
      </p:sp>
    </p:spTree>
    <p:extLst>
      <p:ext uri="{BB962C8B-B14F-4D97-AF65-F5344CB8AC3E}">
        <p14:creationId xmlns:p14="http://schemas.microsoft.com/office/powerpoint/2010/main" val="3389173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BD47B3-EE20-4078-6F85-D029FE9276CF}"/>
              </a:ext>
            </a:extLst>
          </p:cNvPr>
          <p:cNvSpPr>
            <a:spLocks noGrp="1"/>
          </p:cNvSpPr>
          <p:nvPr>
            <p:ph type="title"/>
          </p:nvPr>
        </p:nvSpPr>
        <p:spPr/>
        <p:txBody>
          <a:bodyPr/>
          <a:lstStyle/>
          <a:p>
            <a:r>
              <a:rPr lang="en-IN" b="1" dirty="0"/>
              <a:t>Picture Manager- HOW</a:t>
            </a:r>
            <a:endParaRPr lang="en-IN" dirty="0"/>
          </a:p>
        </p:txBody>
      </p:sp>
      <p:sp>
        <p:nvSpPr>
          <p:cNvPr id="3" name="Content Placeholder 2">
            <a:extLst>
              <a:ext uri="{FF2B5EF4-FFF2-40B4-BE49-F238E27FC236}">
                <a16:creationId xmlns="" xmlns:a16="http://schemas.microsoft.com/office/drawing/2014/main" id="{71D58B48-BCA4-4005-B830-CD4E840BA735}"/>
              </a:ext>
            </a:extLst>
          </p:cNvPr>
          <p:cNvSpPr>
            <a:spLocks noGrp="1"/>
          </p:cNvSpPr>
          <p:nvPr>
            <p:ph idx="1"/>
          </p:nvPr>
        </p:nvSpPr>
        <p:spPr/>
        <p:txBody>
          <a:bodyPr/>
          <a:lstStyle/>
          <a:p>
            <a:pPr marL="0" indent="0">
              <a:buNone/>
            </a:pPr>
            <a:r>
              <a:rPr lang="en-US" dirty="0"/>
              <a:t>Set up two principal views: </a:t>
            </a:r>
          </a:p>
          <a:p>
            <a:pPr>
              <a:buFont typeface="Wingdings" panose="05000000000000000000" pitchFamily="2" charset="2"/>
              <a:buChar char="Ø"/>
            </a:pPr>
            <a:r>
              <a:rPr lang="en-US" dirty="0"/>
              <a:t> Thumbnail Grid of the items in the list</a:t>
            </a:r>
          </a:p>
          <a:p>
            <a:pPr>
              <a:buFont typeface="Wingdings" panose="05000000000000000000" pitchFamily="2" charset="2"/>
              <a:buChar char="Ø"/>
            </a:pPr>
            <a:r>
              <a:rPr lang="en-US" dirty="0"/>
              <a:t> large view of a single item.</a:t>
            </a:r>
          </a:p>
          <a:p>
            <a:pPr marL="0" indent="0">
              <a:buNone/>
            </a:pPr>
            <a:r>
              <a:rPr lang="en-US" dirty="0"/>
              <a:t>Users will go back and forth between these. </a:t>
            </a:r>
          </a:p>
          <a:p>
            <a:pPr marL="0" indent="0">
              <a:buNone/>
            </a:pPr>
            <a:r>
              <a:rPr lang="en-US" dirty="0"/>
              <a:t>Design a browsing interface and associate it with the Thumbnail Grid to let users explore a large collection easily.</a:t>
            </a:r>
            <a:endParaRPr lang="en-IN" dirty="0"/>
          </a:p>
        </p:txBody>
      </p:sp>
    </p:spTree>
    <p:extLst>
      <p:ext uri="{BB962C8B-B14F-4D97-AF65-F5344CB8AC3E}">
        <p14:creationId xmlns:p14="http://schemas.microsoft.com/office/powerpoint/2010/main" val="277695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80B627-07B5-F040-334C-2FD33B6517FE}"/>
              </a:ext>
            </a:extLst>
          </p:cNvPr>
          <p:cNvSpPr>
            <a:spLocks noGrp="1"/>
          </p:cNvSpPr>
          <p:nvPr>
            <p:ph type="title"/>
          </p:nvPr>
        </p:nvSpPr>
        <p:spPr/>
        <p:txBody>
          <a:bodyPr/>
          <a:lstStyle/>
          <a:p>
            <a:r>
              <a:rPr lang="en-US" dirty="0"/>
              <a:t>THUMBNAILS</a:t>
            </a:r>
            <a:endParaRPr lang="en-IN" dirty="0"/>
          </a:p>
        </p:txBody>
      </p:sp>
      <p:sp>
        <p:nvSpPr>
          <p:cNvPr id="3" name="Content Placeholder 2">
            <a:extLst>
              <a:ext uri="{FF2B5EF4-FFF2-40B4-BE49-F238E27FC236}">
                <a16:creationId xmlns="" xmlns:a16="http://schemas.microsoft.com/office/drawing/2014/main" id="{8CD4138C-C1F5-2FB2-61AA-BF6838D744F2}"/>
              </a:ext>
            </a:extLst>
          </p:cNvPr>
          <p:cNvSpPr>
            <a:spLocks noGrp="1"/>
          </p:cNvSpPr>
          <p:nvPr>
            <p:ph idx="1"/>
          </p:nvPr>
        </p:nvSpPr>
        <p:spPr/>
        <p:txBody>
          <a:bodyPr>
            <a:normAutofit fontScale="85000" lnSpcReduction="10000"/>
          </a:bodyPr>
          <a:lstStyle/>
          <a:p>
            <a:r>
              <a:rPr lang="en-US" dirty="0"/>
              <a:t>Use the Thumbnail Grid to display a sequence of items</a:t>
            </a:r>
          </a:p>
          <a:p>
            <a:r>
              <a:rPr lang="en-US" dirty="0"/>
              <a:t>Many Picture Managers show a small amount of metadata with each item, such as its filename or author, and it  offer a control to adjust the size of the thumbnails. </a:t>
            </a:r>
          </a:p>
          <a:p>
            <a:r>
              <a:rPr lang="en-US" dirty="0"/>
              <a:t>There may also be a way to sort the items by different criteria, such as date, label, or rating, or to filter it and show only the starred items (for instance).</a:t>
            </a:r>
          </a:p>
          <a:p>
            <a:r>
              <a:rPr lang="en-US" dirty="0"/>
              <a:t>When a user clicks on an item, show it immediately in the single-item view. </a:t>
            </a:r>
            <a:endParaRPr lang="en-IN" dirty="0"/>
          </a:p>
        </p:txBody>
      </p:sp>
    </p:spTree>
    <p:extLst>
      <p:ext uri="{BB962C8B-B14F-4D97-AF65-F5344CB8AC3E}">
        <p14:creationId xmlns:p14="http://schemas.microsoft.com/office/powerpoint/2010/main" val="1433821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564B9A-B0CF-15FE-B6EB-4B6060417A69}"/>
              </a:ext>
            </a:extLst>
          </p:cNvPr>
          <p:cNvSpPr>
            <a:spLocks noGrp="1"/>
          </p:cNvSpPr>
          <p:nvPr>
            <p:ph type="title"/>
          </p:nvPr>
        </p:nvSpPr>
        <p:spPr>
          <a:xfrm>
            <a:off x="628650" y="384790"/>
            <a:ext cx="7886700" cy="1325563"/>
          </a:xfrm>
        </p:spPr>
        <p:txBody>
          <a:bodyPr/>
          <a:lstStyle/>
          <a:p>
            <a:r>
              <a:rPr lang="en-US" dirty="0"/>
              <a:t>THUMBNAILS</a:t>
            </a:r>
            <a:endParaRPr lang="en-IN" dirty="0"/>
          </a:p>
        </p:txBody>
      </p:sp>
      <p:sp>
        <p:nvSpPr>
          <p:cNvPr id="3" name="Content Placeholder 2">
            <a:extLst>
              <a:ext uri="{FF2B5EF4-FFF2-40B4-BE49-F238E27FC236}">
                <a16:creationId xmlns="" xmlns:a16="http://schemas.microsoft.com/office/drawing/2014/main" id="{994AF855-4F5A-29D6-650D-44F1EABED17D}"/>
              </a:ext>
            </a:extLst>
          </p:cNvPr>
          <p:cNvSpPr>
            <a:spLocks noGrp="1"/>
          </p:cNvSpPr>
          <p:nvPr>
            <p:ph idx="1"/>
          </p:nvPr>
        </p:nvSpPr>
        <p:spPr/>
        <p:txBody>
          <a:bodyPr/>
          <a:lstStyle/>
          <a:p>
            <a:r>
              <a:rPr lang="en-US" dirty="0"/>
              <a:t>If the user owns the items, offer ways to move, reorder, and delete items at this level in the interface. </a:t>
            </a:r>
          </a:p>
          <a:p>
            <a:r>
              <a:rPr lang="en-US" dirty="0"/>
              <a:t>Cut, copy, and paste should also work in applications</a:t>
            </a:r>
            <a:endParaRPr lang="en-IN" dirty="0"/>
          </a:p>
        </p:txBody>
      </p:sp>
    </p:spTree>
    <p:extLst>
      <p:ext uri="{BB962C8B-B14F-4D97-AF65-F5344CB8AC3E}">
        <p14:creationId xmlns:p14="http://schemas.microsoft.com/office/powerpoint/2010/main" val="1358828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C21923-1A8A-6979-7B0E-7536E159EE95}"/>
              </a:ext>
            </a:extLst>
          </p:cNvPr>
          <p:cNvSpPr>
            <a:spLocks noGrp="1"/>
          </p:cNvSpPr>
          <p:nvPr>
            <p:ph type="title"/>
          </p:nvPr>
        </p:nvSpPr>
        <p:spPr/>
        <p:txBody>
          <a:bodyPr/>
          <a:lstStyle/>
          <a:p>
            <a:r>
              <a:rPr lang="en-US" dirty="0"/>
              <a:t>Single-Item View</a:t>
            </a:r>
            <a:endParaRPr lang="en-IN" dirty="0"/>
          </a:p>
        </p:txBody>
      </p:sp>
      <p:sp>
        <p:nvSpPr>
          <p:cNvPr id="3" name="Content Placeholder 2">
            <a:extLst>
              <a:ext uri="{FF2B5EF4-FFF2-40B4-BE49-F238E27FC236}">
                <a16:creationId xmlns="" xmlns:a16="http://schemas.microsoft.com/office/drawing/2014/main" id="{E577C5F9-A72F-A969-A2E4-942501DCE7C0}"/>
              </a:ext>
            </a:extLst>
          </p:cNvPr>
          <p:cNvSpPr>
            <a:spLocks noGrp="1"/>
          </p:cNvSpPr>
          <p:nvPr>
            <p:ph idx="1"/>
          </p:nvPr>
        </p:nvSpPr>
        <p:spPr/>
        <p:txBody>
          <a:bodyPr>
            <a:normAutofit fontScale="92500" lnSpcReduction="10000"/>
          </a:bodyPr>
          <a:lstStyle/>
          <a:p>
            <a:r>
              <a:rPr lang="en-US" dirty="0"/>
              <a:t>The Single-Item View provides a detailed, large view of a selected item (image or video), along with relevant metadata and additional features.</a:t>
            </a:r>
          </a:p>
          <a:p>
            <a:r>
              <a:rPr lang="en-US" b="1" dirty="0"/>
              <a:t>Layout Options:</a:t>
            </a:r>
            <a:endParaRPr lang="en-US" dirty="0"/>
          </a:p>
          <a:p>
            <a:pPr>
              <a:buFont typeface="Arial" panose="020B0604020202020204" pitchFamily="34" charset="0"/>
              <a:buChar char="•"/>
            </a:pPr>
            <a:r>
              <a:rPr lang="en-US" b="1" dirty="0"/>
              <a:t>Two-Panel Selector:</a:t>
            </a:r>
            <a:r>
              <a:rPr lang="en-US" dirty="0"/>
              <a:t> Use this layout to show the Single-Item View alongside the Thumbnail Grid if screen space allows.</a:t>
            </a:r>
          </a:p>
          <a:p>
            <a:pPr>
              <a:buFont typeface="Arial" panose="020B0604020202020204" pitchFamily="34" charset="0"/>
              <a:buChar char="•"/>
            </a:pPr>
            <a:r>
              <a:rPr lang="en-US" b="1" dirty="0"/>
              <a:t>One-Window Drilldown:</a:t>
            </a:r>
            <a:r>
              <a:rPr lang="en-US" dirty="0"/>
              <a:t> Replace the Thumbnail Grid with the Single-Item View for a more focused experience on smaller screens.</a:t>
            </a:r>
          </a:p>
          <a:p>
            <a:endParaRPr lang="en-IN" dirty="0"/>
          </a:p>
        </p:txBody>
      </p:sp>
    </p:spTree>
    <p:extLst>
      <p:ext uri="{BB962C8B-B14F-4D97-AF65-F5344CB8AC3E}">
        <p14:creationId xmlns:p14="http://schemas.microsoft.com/office/powerpoint/2010/main" val="2459743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B94160-3EAF-FE7E-4531-0C636CAB8216}"/>
              </a:ext>
            </a:extLst>
          </p:cNvPr>
          <p:cNvSpPr>
            <a:spLocks noGrp="1"/>
          </p:cNvSpPr>
          <p:nvPr>
            <p:ph type="title"/>
          </p:nvPr>
        </p:nvSpPr>
        <p:spPr/>
        <p:txBody>
          <a:bodyPr/>
          <a:lstStyle/>
          <a:p>
            <a:r>
              <a:rPr lang="en-US" dirty="0"/>
              <a:t>Single-Item View</a:t>
            </a:r>
            <a:endParaRPr lang="en-IN" dirty="0"/>
          </a:p>
        </p:txBody>
      </p:sp>
      <p:sp>
        <p:nvSpPr>
          <p:cNvPr id="3" name="Content Placeholder 2">
            <a:extLst>
              <a:ext uri="{FF2B5EF4-FFF2-40B4-BE49-F238E27FC236}">
                <a16:creationId xmlns="" xmlns:a16="http://schemas.microsoft.com/office/drawing/2014/main" id="{9378D582-E05F-588B-297D-45B98C15005A}"/>
              </a:ext>
            </a:extLst>
          </p:cNvPr>
          <p:cNvSpPr>
            <a:spLocks noGrp="1"/>
          </p:cNvSpPr>
          <p:nvPr>
            <p:ph idx="1"/>
          </p:nvPr>
        </p:nvSpPr>
        <p:spPr/>
        <p:txBody>
          <a:bodyPr>
            <a:normAutofit fontScale="77500" lnSpcReduction="20000"/>
          </a:bodyPr>
          <a:lstStyle/>
          <a:p>
            <a:r>
              <a:rPr lang="en-US" dirty="0"/>
              <a:t>Editing features for individual items will live here, also. For instance, a photo manager might offer simple functionality such as cropping, color and brightness adjustment, and red-eye reduction</a:t>
            </a:r>
          </a:p>
          <a:p>
            <a:r>
              <a:rPr lang="en-US" dirty="0"/>
              <a:t>Use Button Groups to maintain a simple, comprehensible visual grouping of all these features.</a:t>
            </a:r>
          </a:p>
          <a:p>
            <a:r>
              <a:rPr lang="en-US" dirty="0"/>
              <a:t>If the interface is web-based, consider adding social features in the Single-Item View. This can include options for users to comment, like, or share the item, as well as tag or label it either privately or publicly. </a:t>
            </a:r>
          </a:p>
          <a:p>
            <a:r>
              <a:rPr lang="en-US" dirty="0"/>
              <a:t>Additionally, providing a recommendation feature for “other items you may like” can enhance the browsing experience and encourage further exploration.</a:t>
            </a:r>
            <a:endParaRPr lang="en-IN" dirty="0"/>
          </a:p>
        </p:txBody>
      </p:sp>
    </p:spTree>
    <p:extLst>
      <p:ext uri="{BB962C8B-B14F-4D97-AF65-F5344CB8AC3E}">
        <p14:creationId xmlns:p14="http://schemas.microsoft.com/office/powerpoint/2010/main" val="3449515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39B33B-A124-FA8A-45EF-A7AAB362F729}"/>
              </a:ext>
            </a:extLst>
          </p:cNvPr>
          <p:cNvSpPr>
            <a:spLocks noGrp="1"/>
          </p:cNvSpPr>
          <p:nvPr>
            <p:ph type="title"/>
          </p:nvPr>
        </p:nvSpPr>
        <p:spPr>
          <a:xfrm>
            <a:off x="323528" y="0"/>
            <a:ext cx="5266928" cy="985590"/>
          </a:xfrm>
        </p:spPr>
        <p:txBody>
          <a:bodyPr>
            <a:normAutofit/>
          </a:bodyPr>
          <a:lstStyle/>
          <a:p>
            <a:r>
              <a:rPr lang="en-IN" b="1" dirty="0"/>
              <a:t>4. Dashboard</a:t>
            </a:r>
          </a:p>
        </p:txBody>
      </p:sp>
      <p:sp>
        <p:nvSpPr>
          <p:cNvPr id="7" name="Content Placeholder 6">
            <a:extLst>
              <a:ext uri="{FF2B5EF4-FFF2-40B4-BE49-F238E27FC236}">
                <a16:creationId xmlns="" xmlns:a16="http://schemas.microsoft.com/office/drawing/2014/main" id="{14B24B92-FAB6-A1C7-2993-BF6B845FECA2}"/>
              </a:ext>
            </a:extLst>
          </p:cNvPr>
          <p:cNvSpPr>
            <a:spLocks noGrp="1"/>
          </p:cNvSpPr>
          <p:nvPr>
            <p:ph idx="1"/>
          </p:nvPr>
        </p:nvSpPr>
        <p:spPr>
          <a:xfrm>
            <a:off x="391630" y="908720"/>
            <a:ext cx="8640960" cy="3600400"/>
          </a:xfrm>
        </p:spPr>
        <p:txBody>
          <a:bodyPr>
            <a:normAutofit fontScale="92500" lnSpcReduction="20000"/>
          </a:bodyPr>
          <a:lstStyle/>
          <a:p>
            <a:r>
              <a:rPr lang="en-US" b="1" dirty="0"/>
              <a:t>Dashboard</a:t>
            </a:r>
            <a:r>
              <a:rPr lang="en-US" dirty="0"/>
              <a:t> is a type of graphical user interface which often provides at-a-glance views of data relevant to a particular objective or process through a combination of visualizations and summary information</a:t>
            </a:r>
          </a:p>
          <a:p>
            <a:r>
              <a:rPr lang="en-US" dirty="0"/>
              <a:t>Arrange data displays into a single information-dense page, updated regularly. </a:t>
            </a:r>
          </a:p>
          <a:p>
            <a:r>
              <a:rPr lang="en-US" dirty="0"/>
              <a:t>Show users relevant, actionable information, and let them customize the display as necessary</a:t>
            </a:r>
            <a:endParaRPr lang="en-IN" dirty="0"/>
          </a:p>
        </p:txBody>
      </p:sp>
      <p:pic>
        <p:nvPicPr>
          <p:cNvPr id="11" name="Picture 10">
            <a:extLst>
              <a:ext uri="{FF2B5EF4-FFF2-40B4-BE49-F238E27FC236}">
                <a16:creationId xmlns="" xmlns:a16="http://schemas.microsoft.com/office/drawing/2014/main" id="{E6C16F2F-D1C3-4B44-1438-55D6266D4A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0234" y="4397807"/>
            <a:ext cx="3133766" cy="2631593"/>
          </a:xfrm>
          <a:prstGeom prst="rect">
            <a:avLst/>
          </a:prstGeom>
        </p:spPr>
      </p:pic>
    </p:spTree>
    <p:extLst>
      <p:ext uri="{BB962C8B-B14F-4D97-AF65-F5344CB8AC3E}">
        <p14:creationId xmlns:p14="http://schemas.microsoft.com/office/powerpoint/2010/main" val="3841419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3AD9CB9-1637-5BA2-C3DA-A01E2D08319F}"/>
              </a:ext>
            </a:extLst>
          </p:cNvPr>
          <p:cNvSpPr>
            <a:spLocks noGrp="1"/>
          </p:cNvSpPr>
          <p:nvPr>
            <p:ph idx="1"/>
          </p:nvPr>
        </p:nvSpPr>
        <p:spPr>
          <a:xfrm>
            <a:off x="251520" y="188640"/>
            <a:ext cx="8640960" cy="6480720"/>
          </a:xfrm>
        </p:spPr>
        <p:txBody>
          <a:bodyPr>
            <a:normAutofit fontScale="47500" lnSpcReduction="20000"/>
          </a:bodyPr>
          <a:lstStyle/>
          <a:p>
            <a:r>
              <a:rPr lang="en-US" sz="5900" dirty="0"/>
              <a:t>Dashboards are a well-known and familiar page style, both online and offline. They display useful information and update automatically.</a:t>
            </a:r>
          </a:p>
          <a:p>
            <a:r>
              <a:rPr lang="en-US" sz="5900" dirty="0"/>
              <a:t> Typically, they use graphics like charts and graphs to present data in an easy-to-understand way. </a:t>
            </a:r>
          </a:p>
          <a:p>
            <a:pPr marL="0" indent="0">
              <a:buNone/>
            </a:pPr>
            <a:r>
              <a:rPr lang="en-US" sz="6500" dirty="0"/>
              <a:t>To design an effective dashboard, follow these steps:</a:t>
            </a:r>
          </a:p>
          <a:p>
            <a:pPr>
              <a:buFont typeface="+mj-lt"/>
              <a:buAutoNum type="arabicPeriod"/>
            </a:pPr>
            <a:r>
              <a:rPr lang="en-US" sz="6500" b="1" dirty="0"/>
              <a:t>Identify Key Information</a:t>
            </a:r>
            <a:r>
              <a:rPr lang="en-US" sz="6500" dirty="0"/>
              <a:t>: Determine what users need or want to see. </a:t>
            </a:r>
          </a:p>
          <a:p>
            <a:pPr>
              <a:buFont typeface="+mj-lt"/>
              <a:buAutoNum type="arabicPeriod"/>
            </a:pPr>
            <a:r>
              <a:rPr lang="en-US" sz="6500" b="1" dirty="0"/>
              <a:t>Use Visual Hierarchy</a:t>
            </a:r>
            <a:r>
              <a:rPr lang="en-US" sz="6500" dirty="0"/>
              <a:t>: Arrange information clearly using lists, tables, and graphics. Keep important data visible on one page without excessive scrolling. </a:t>
            </a:r>
          </a:p>
          <a:p>
            <a:pPr>
              <a:buFont typeface="+mj-lt"/>
              <a:buAutoNum type="arabicPeriod"/>
            </a:pPr>
            <a:r>
              <a:rPr lang="en-US" sz="6500" b="1" dirty="0"/>
              <a:t>Enable Drilldown</a:t>
            </a:r>
            <a:r>
              <a:rPr lang="en-US" sz="6500" dirty="0"/>
              <a:t>: Allow users to click on elements to view more details. </a:t>
            </a:r>
            <a:r>
              <a:rPr lang="en-US" sz="6500" dirty="0" err="1"/>
              <a:t>Datatips</a:t>
            </a:r>
            <a:r>
              <a:rPr lang="en-US" sz="6500" dirty="0"/>
              <a:t> work well to show individual data points when the pointer rolls over an information graphic.</a:t>
            </a:r>
            <a:endParaRPr lang="en-IN" sz="6500" dirty="0"/>
          </a:p>
        </p:txBody>
      </p:sp>
    </p:spTree>
    <p:extLst>
      <p:ext uri="{BB962C8B-B14F-4D97-AF65-F5344CB8AC3E}">
        <p14:creationId xmlns:p14="http://schemas.microsoft.com/office/powerpoint/2010/main" val="3583090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A0C94A2-AE0A-B8F8-DD05-87FC0010BEA6}"/>
              </a:ext>
            </a:extLst>
          </p:cNvPr>
          <p:cNvSpPr>
            <a:spLocks noGrp="1"/>
          </p:cNvSpPr>
          <p:nvPr>
            <p:ph idx="1"/>
          </p:nvPr>
        </p:nvSpPr>
        <p:spPr>
          <a:xfrm>
            <a:off x="457200" y="1196752"/>
            <a:ext cx="8229600" cy="4525963"/>
          </a:xfrm>
        </p:spPr>
        <p:txBody>
          <a:bodyPr>
            <a:normAutofit fontScale="92500"/>
          </a:bodyPr>
          <a:lstStyle/>
          <a:p>
            <a:pPr marL="0" indent="0">
              <a:buNone/>
            </a:pPr>
            <a:r>
              <a:rPr lang="en-US" b="1" dirty="0"/>
              <a:t>4. Choose the Right Graphics</a:t>
            </a:r>
            <a:r>
              <a:rPr lang="en-US" dirty="0"/>
              <a:t>: Use simple line and bar charts for comparing data, especially over time. For numbers and text, use lists and tables. </a:t>
            </a:r>
          </a:p>
          <a:p>
            <a:pPr marL="0" indent="0">
              <a:buNone/>
            </a:pPr>
            <a:r>
              <a:rPr lang="en-US" b="1" dirty="0"/>
              <a:t>5. Highlight Key Information</a:t>
            </a:r>
            <a:r>
              <a:rPr lang="en-US" dirty="0"/>
              <a:t>: Make important text and numbers stand out so users can quickly spot actionable information</a:t>
            </a:r>
          </a:p>
          <a:p>
            <a:pPr marL="0" indent="0">
              <a:buNone/>
            </a:pPr>
            <a:r>
              <a:rPr lang="en-US" b="1" dirty="0"/>
              <a:t>6. Allow Customization</a:t>
            </a:r>
            <a:r>
              <a:rPr lang="en-US" dirty="0"/>
              <a:t>: Letting them rearrange sections and select which widgets or gadgets to display.</a:t>
            </a:r>
            <a:endParaRPr lang="en-IN" dirty="0"/>
          </a:p>
        </p:txBody>
      </p:sp>
    </p:spTree>
    <p:extLst>
      <p:ext uri="{BB962C8B-B14F-4D97-AF65-F5344CB8AC3E}">
        <p14:creationId xmlns:p14="http://schemas.microsoft.com/office/powerpoint/2010/main" val="929239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A37491-FB85-2BE1-46D8-106910D29BA3}"/>
              </a:ext>
            </a:extLst>
          </p:cNvPr>
          <p:cNvSpPr>
            <a:spLocks noGrp="1"/>
          </p:cNvSpPr>
          <p:nvPr>
            <p:ph type="title"/>
          </p:nvPr>
        </p:nvSpPr>
        <p:spPr>
          <a:xfrm>
            <a:off x="457200" y="-27384"/>
            <a:ext cx="8229600" cy="1012974"/>
          </a:xfrm>
        </p:spPr>
        <p:txBody>
          <a:bodyPr/>
          <a:lstStyle/>
          <a:p>
            <a:r>
              <a:rPr lang="en-IN" b="1" dirty="0"/>
              <a:t>5. Canvas Plus Palette</a:t>
            </a:r>
          </a:p>
        </p:txBody>
      </p:sp>
      <p:sp>
        <p:nvSpPr>
          <p:cNvPr id="3" name="Content Placeholder 2">
            <a:extLst>
              <a:ext uri="{FF2B5EF4-FFF2-40B4-BE49-F238E27FC236}">
                <a16:creationId xmlns="" xmlns:a16="http://schemas.microsoft.com/office/drawing/2014/main" id="{CCD2120D-64D9-D531-029A-26C733148F2E}"/>
              </a:ext>
            </a:extLst>
          </p:cNvPr>
          <p:cNvSpPr>
            <a:spLocks noGrp="1"/>
          </p:cNvSpPr>
          <p:nvPr>
            <p:ph idx="1"/>
          </p:nvPr>
        </p:nvSpPr>
        <p:spPr>
          <a:xfrm>
            <a:off x="457200" y="908720"/>
            <a:ext cx="8229600" cy="4525963"/>
          </a:xfrm>
        </p:spPr>
        <p:txBody>
          <a:bodyPr/>
          <a:lstStyle/>
          <a:p>
            <a:r>
              <a:rPr lang="en-US" dirty="0"/>
              <a:t>Place an iconic palette next to a blank canvas; the user clicks on the palette buttons to create objects on the canvas.</a:t>
            </a:r>
            <a:endParaRPr lang="en-IN" dirty="0"/>
          </a:p>
        </p:txBody>
      </p:sp>
      <p:pic>
        <p:nvPicPr>
          <p:cNvPr id="5" name="Picture 4">
            <a:extLst>
              <a:ext uri="{FF2B5EF4-FFF2-40B4-BE49-F238E27FC236}">
                <a16:creationId xmlns="" xmlns:a16="http://schemas.microsoft.com/office/drawing/2014/main" id="{B1EDF5BB-D16F-9539-222E-A99D8114AE12}"/>
              </a:ext>
            </a:extLst>
          </p:cNvPr>
          <p:cNvPicPr>
            <a:picLocks noChangeAspect="1"/>
          </p:cNvPicPr>
          <p:nvPr/>
        </p:nvPicPr>
        <p:blipFill>
          <a:blip r:embed="rId2"/>
          <a:stretch>
            <a:fillRect/>
          </a:stretch>
        </p:blipFill>
        <p:spPr>
          <a:xfrm>
            <a:off x="4120877" y="2564904"/>
            <a:ext cx="4742904" cy="4249015"/>
          </a:xfrm>
          <a:prstGeom prst="rect">
            <a:avLst/>
          </a:prstGeom>
        </p:spPr>
      </p:pic>
    </p:spTree>
    <p:extLst>
      <p:ext uri="{BB962C8B-B14F-4D97-AF65-F5344CB8AC3E}">
        <p14:creationId xmlns:p14="http://schemas.microsoft.com/office/powerpoint/2010/main" val="2204143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9208BBE-FA86-611E-2D8F-954DD1F46A0E}"/>
              </a:ext>
            </a:extLst>
          </p:cNvPr>
          <p:cNvSpPr>
            <a:spLocks noGrp="1"/>
          </p:cNvSpPr>
          <p:nvPr>
            <p:ph idx="1"/>
          </p:nvPr>
        </p:nvSpPr>
        <p:spPr>
          <a:xfrm>
            <a:off x="457200" y="980728"/>
            <a:ext cx="8229600" cy="4525963"/>
          </a:xfrm>
        </p:spPr>
        <p:txBody>
          <a:bodyPr>
            <a:normAutofit fontScale="92500" lnSpcReduction="10000"/>
          </a:bodyPr>
          <a:lstStyle/>
          <a:p>
            <a:pPr marL="0" indent="0">
              <a:buNone/>
            </a:pPr>
            <a:r>
              <a:rPr lang="en-US" dirty="0"/>
              <a:t>This pair of panels</a:t>
            </a:r>
          </a:p>
          <a:p>
            <a:pPr>
              <a:buFont typeface="Wingdings" panose="05000000000000000000" pitchFamily="2" charset="2"/>
              <a:buChar char="Ø"/>
            </a:pPr>
            <a:r>
              <a:rPr lang="en-US" dirty="0"/>
              <a:t>a palette for choosing tools </a:t>
            </a:r>
          </a:p>
          <a:p>
            <a:pPr>
              <a:buFont typeface="Wingdings" panose="05000000000000000000" pitchFamily="2" charset="2"/>
              <a:buChar char="Ø"/>
            </a:pPr>
            <a:r>
              <a:rPr lang="en-US" dirty="0"/>
              <a:t> a canvas for creating</a:t>
            </a:r>
          </a:p>
          <a:p>
            <a:pPr marL="0" indent="0">
              <a:buNone/>
            </a:pPr>
            <a:r>
              <a:rPr lang="en-US" dirty="0"/>
              <a:t>are common in desktop software. </a:t>
            </a:r>
          </a:p>
          <a:p>
            <a:r>
              <a:rPr lang="en-US" dirty="0"/>
              <a:t>They mirror real-life objects, making them easy to understand. </a:t>
            </a:r>
          </a:p>
          <a:p>
            <a:r>
              <a:rPr lang="en-US" dirty="0"/>
              <a:t>The palette uses familiar icons, like paintbrushes and magnifying glasses, which are consistently used across different applications.</a:t>
            </a:r>
            <a:endParaRPr lang="en-IN" dirty="0"/>
          </a:p>
        </p:txBody>
      </p:sp>
    </p:spTree>
    <p:extLst>
      <p:ext uri="{BB962C8B-B14F-4D97-AF65-F5344CB8AC3E}">
        <p14:creationId xmlns:p14="http://schemas.microsoft.com/office/powerpoint/2010/main" val="3000721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E36D969-9165-2962-6AC9-03F678E763A0}"/>
              </a:ext>
            </a:extLst>
          </p:cNvPr>
          <p:cNvSpPr>
            <a:spLocks noGrp="1"/>
          </p:cNvSpPr>
          <p:nvPr>
            <p:ph idx="1"/>
          </p:nvPr>
        </p:nvSpPr>
        <p:spPr>
          <a:xfrm>
            <a:off x="251520" y="343197"/>
            <a:ext cx="8712968" cy="4525963"/>
          </a:xfrm>
        </p:spPr>
        <p:txBody>
          <a:bodyPr>
            <a:noAutofit/>
          </a:bodyPr>
          <a:lstStyle/>
          <a:p>
            <a:r>
              <a:rPr lang="en-US" sz="2800" dirty="0"/>
              <a:t>Create a large empty area as the canvas where users can work. This canvas can be in its own window or part of a page with other tools. Place the canvas next to a palette that contains tool icons.</a:t>
            </a:r>
          </a:p>
          <a:p>
            <a:r>
              <a:rPr lang="en-US" sz="2800" dirty="0"/>
              <a:t>The palette should have a grid of buttons with icons, and text if needed, to make it clear what each button does. Position the palette to the left or top of the canvas, and you can organize it with tabs or collapsible panels.</a:t>
            </a:r>
          </a:p>
          <a:p>
            <a:r>
              <a:rPr lang="en-US" sz="2800" dirty="0"/>
              <a:t>Most buttons on the palette will directly create items on the canvas. However, you can also include functions like zoom or selection tools. Different applications use various methods to interact with the palette, such as drag-and-drop or clicking, so testing these interactions is crucial to ensure usability.</a:t>
            </a:r>
          </a:p>
          <a:p>
            <a:endParaRPr lang="en-IN" sz="2800" dirty="0"/>
          </a:p>
        </p:txBody>
      </p:sp>
    </p:spTree>
    <p:extLst>
      <p:ext uri="{BB962C8B-B14F-4D97-AF65-F5344CB8AC3E}">
        <p14:creationId xmlns:p14="http://schemas.microsoft.com/office/powerpoint/2010/main" val="308118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E40A3B3-EF32-6F6F-C93D-4436CAD63B6A}"/>
              </a:ext>
            </a:extLst>
          </p:cNvPr>
          <p:cNvSpPr>
            <a:spLocks noGrp="1"/>
          </p:cNvSpPr>
          <p:nvPr>
            <p:ph type="title"/>
          </p:nvPr>
        </p:nvSpPr>
        <p:spPr/>
        <p:txBody>
          <a:bodyPr/>
          <a:lstStyle/>
          <a:p>
            <a:r>
              <a:rPr lang="en-IN" b="1" dirty="0"/>
              <a:t>6. Settings Editor</a:t>
            </a:r>
          </a:p>
        </p:txBody>
      </p:sp>
      <p:sp>
        <p:nvSpPr>
          <p:cNvPr id="3" name="Content Placeholder 2">
            <a:extLst>
              <a:ext uri="{FF2B5EF4-FFF2-40B4-BE49-F238E27FC236}">
                <a16:creationId xmlns="" xmlns:a16="http://schemas.microsoft.com/office/drawing/2014/main" id="{D3F8494E-DCB3-843B-F424-F15316B121CD}"/>
              </a:ext>
            </a:extLst>
          </p:cNvPr>
          <p:cNvSpPr>
            <a:spLocks noGrp="1"/>
          </p:cNvSpPr>
          <p:nvPr>
            <p:ph idx="1"/>
          </p:nvPr>
        </p:nvSpPr>
        <p:spPr/>
        <p:txBody>
          <a:bodyPr>
            <a:normAutofit fontScale="77500" lnSpcReduction="20000"/>
          </a:bodyPr>
          <a:lstStyle/>
          <a:p>
            <a:r>
              <a:rPr lang="en-US" dirty="0"/>
              <a:t>Provide an easy-to-find, self-contained page or window where users can change settings, preferences, or properties. </a:t>
            </a:r>
          </a:p>
          <a:p>
            <a:r>
              <a:rPr lang="en-US" dirty="0"/>
              <a:t>A user must be able to find and edit a desired property without being forced to walk through a prescribed sequence of steps—random access is important.</a:t>
            </a:r>
          </a:p>
          <a:p>
            <a:r>
              <a:rPr lang="en-US" dirty="0"/>
              <a:t>To aid findability, the properties should be grouped into categories that are well labeled and make immediate sense.</a:t>
            </a:r>
          </a:p>
          <a:p>
            <a:r>
              <a:rPr lang="en-US" dirty="0"/>
              <a:t>Another important aspect of Settings Editor design is that people will use it for viewing existing settings, not just changing them. The design needs to communicate the values of those settings at a glance.</a:t>
            </a:r>
            <a:endParaRPr lang="en-IN" dirty="0"/>
          </a:p>
        </p:txBody>
      </p:sp>
    </p:spTree>
    <p:extLst>
      <p:ext uri="{BB962C8B-B14F-4D97-AF65-F5344CB8AC3E}">
        <p14:creationId xmlns:p14="http://schemas.microsoft.com/office/powerpoint/2010/main" val="40911187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833CBAB-2753-2E76-28FA-1B947311BBAC}"/>
              </a:ext>
            </a:extLst>
          </p:cNvPr>
          <p:cNvSpPr>
            <a:spLocks noGrp="1"/>
          </p:cNvSpPr>
          <p:nvPr>
            <p:ph idx="1"/>
          </p:nvPr>
        </p:nvSpPr>
        <p:spPr>
          <a:xfrm>
            <a:off x="457200" y="271189"/>
            <a:ext cx="8579296" cy="4525963"/>
          </a:xfrm>
        </p:spPr>
        <p:txBody>
          <a:bodyPr>
            <a:noAutofit/>
          </a:bodyPr>
          <a:lstStyle/>
          <a:p>
            <a:r>
              <a:rPr lang="en-US" sz="2400" dirty="0"/>
              <a:t>To design an effective settings editor:</a:t>
            </a:r>
          </a:p>
          <a:p>
            <a:pPr>
              <a:buFont typeface="+mj-lt"/>
              <a:buAutoNum type="arabicPeriod"/>
            </a:pPr>
            <a:r>
              <a:rPr lang="en-US" sz="2400" b="1" dirty="0"/>
              <a:t>Make It Findable:</a:t>
            </a:r>
            <a:r>
              <a:rPr lang="en-US" sz="2400" dirty="0"/>
              <a:t> Place settings in standard locations. For apps, follow common conventions; for websites, put account and profile links where the username is, usually in the upper-right or -left corner.</a:t>
            </a:r>
          </a:p>
          <a:p>
            <a:pPr>
              <a:buFont typeface="+mj-lt"/>
              <a:buAutoNum type="arabicPeriod"/>
            </a:pPr>
            <a:r>
              <a:rPr lang="en-US" sz="2400" b="1" dirty="0"/>
              <a:t>Organize Properties:</a:t>
            </a:r>
            <a:r>
              <a:rPr lang="en-US" sz="2400" dirty="0"/>
              <a:t> Use card sorting with users to determine these groups and their names. Avoid deep hierarchies that require too many clicks to navigate.</a:t>
            </a:r>
          </a:p>
          <a:p>
            <a:pPr>
              <a:buFont typeface="+mj-lt"/>
              <a:buAutoNum type="arabicPeriod"/>
            </a:pPr>
            <a:r>
              <a:rPr lang="en-US" sz="2400" b="1" dirty="0"/>
              <a:t>Choose a Layout:</a:t>
            </a:r>
            <a:r>
              <a:rPr lang="en-US" sz="2400" dirty="0"/>
              <a:t> Use common layouts like tabs, two-panel selectors, or one-window drilldowns</a:t>
            </a:r>
          </a:p>
          <a:p>
            <a:pPr>
              <a:buFont typeface="+mj-lt"/>
              <a:buAutoNum type="arabicPeriod"/>
            </a:pPr>
            <a:r>
              <a:rPr lang="en-US" sz="2400" b="1" dirty="0"/>
              <a:t>Form Design:</a:t>
            </a:r>
            <a:r>
              <a:rPr lang="en-US" sz="2400" dirty="0"/>
              <a:t> patterns and techniques for designing forms.</a:t>
            </a:r>
          </a:p>
          <a:p>
            <a:pPr>
              <a:buFont typeface="+mj-lt"/>
              <a:buAutoNum type="arabicPeriod"/>
            </a:pPr>
            <a:r>
              <a:rPr lang="en-US" sz="2400" b="1" dirty="0"/>
              <a:t>Apply Changes:</a:t>
            </a:r>
            <a:r>
              <a:rPr lang="en-US" sz="2400" dirty="0"/>
              <a:t> Decide whether to apply changes immediately or use Save and Cancel buttons based on the type of settings and established conventions. Test with users to determine the best approach.</a:t>
            </a:r>
          </a:p>
          <a:p>
            <a:endParaRPr lang="en-IN" sz="2400" dirty="0"/>
          </a:p>
        </p:txBody>
      </p:sp>
    </p:spTree>
    <p:extLst>
      <p:ext uri="{BB962C8B-B14F-4D97-AF65-F5344CB8AC3E}">
        <p14:creationId xmlns:p14="http://schemas.microsoft.com/office/powerpoint/2010/main" val="52370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63D2C2-C122-8A31-826C-0B5640C0C737}"/>
              </a:ext>
            </a:extLst>
          </p:cNvPr>
          <p:cNvSpPr>
            <a:spLocks noGrp="1"/>
          </p:cNvSpPr>
          <p:nvPr>
            <p:ph type="title"/>
          </p:nvPr>
        </p:nvSpPr>
        <p:spPr/>
        <p:txBody>
          <a:bodyPr/>
          <a:lstStyle/>
          <a:p>
            <a:r>
              <a:rPr lang="en-IN" b="1" dirty="0"/>
              <a:t>7. Alternative Views</a:t>
            </a:r>
          </a:p>
        </p:txBody>
      </p:sp>
      <p:sp>
        <p:nvSpPr>
          <p:cNvPr id="3" name="Content Placeholder 2">
            <a:extLst>
              <a:ext uri="{FF2B5EF4-FFF2-40B4-BE49-F238E27FC236}">
                <a16:creationId xmlns="" xmlns:a16="http://schemas.microsoft.com/office/drawing/2014/main" id="{26821B6A-2BB7-F482-0C82-95EF9CC2C2A1}"/>
              </a:ext>
            </a:extLst>
          </p:cNvPr>
          <p:cNvSpPr>
            <a:spLocks noGrp="1"/>
          </p:cNvSpPr>
          <p:nvPr>
            <p:ph idx="1"/>
          </p:nvPr>
        </p:nvSpPr>
        <p:spPr/>
        <p:txBody>
          <a:bodyPr>
            <a:normAutofit fontScale="92500" lnSpcReduction="10000"/>
          </a:bodyPr>
          <a:lstStyle/>
          <a:p>
            <a:r>
              <a:rPr lang="en-US" dirty="0"/>
              <a:t>Let the user choose among alternative views that are substantially different from the default view.</a:t>
            </a:r>
          </a:p>
          <a:p>
            <a:r>
              <a:rPr lang="en-US" dirty="0"/>
              <a:t>If you're building a tool for viewing or editing complex content, you may already offer basic customizations like font size or zoom level. </a:t>
            </a:r>
          </a:p>
          <a:p>
            <a:r>
              <a:rPr lang="en-US" dirty="0"/>
              <a:t>However, if you need to accommodate more complex needs or conflicting requirements, you have to provide different design with different feature sets. Let users choose between these versions to meet their specific needs.</a:t>
            </a:r>
            <a:endParaRPr lang="en-IN" dirty="0"/>
          </a:p>
        </p:txBody>
      </p:sp>
    </p:spTree>
    <p:extLst>
      <p:ext uri="{BB962C8B-B14F-4D97-AF65-F5344CB8AC3E}">
        <p14:creationId xmlns:p14="http://schemas.microsoft.com/office/powerpoint/2010/main" val="37935803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92CB6243-F38E-80A1-D828-E3DAF8BE7943}"/>
              </a:ext>
            </a:extLst>
          </p:cNvPr>
          <p:cNvPicPr>
            <a:picLocks noGrp="1" noChangeAspect="1"/>
          </p:cNvPicPr>
          <p:nvPr>
            <p:ph idx="1"/>
          </p:nvPr>
        </p:nvPicPr>
        <p:blipFill rotWithShape="1">
          <a:blip r:embed="rId2"/>
          <a:srcRect r="4176"/>
          <a:stretch/>
        </p:blipFill>
        <p:spPr>
          <a:xfrm>
            <a:off x="22740" y="1412776"/>
            <a:ext cx="9092598" cy="3312368"/>
          </a:xfrm>
        </p:spPr>
      </p:pic>
    </p:spTree>
    <p:extLst>
      <p:ext uri="{BB962C8B-B14F-4D97-AF65-F5344CB8AC3E}">
        <p14:creationId xmlns:p14="http://schemas.microsoft.com/office/powerpoint/2010/main" val="22002636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37B67C-8588-C75B-54E3-EF7016643E5D}"/>
              </a:ext>
            </a:extLst>
          </p:cNvPr>
          <p:cNvSpPr>
            <a:spLocks noGrp="1"/>
          </p:cNvSpPr>
          <p:nvPr>
            <p:ph type="title"/>
          </p:nvPr>
        </p:nvSpPr>
        <p:spPr/>
        <p:txBody>
          <a:bodyPr/>
          <a:lstStyle/>
          <a:p>
            <a:r>
              <a:rPr lang="en-US" dirty="0"/>
              <a:t>WHY</a:t>
            </a:r>
            <a:endParaRPr lang="en-IN" dirty="0"/>
          </a:p>
        </p:txBody>
      </p:sp>
      <p:sp>
        <p:nvSpPr>
          <p:cNvPr id="3" name="Content Placeholder 2">
            <a:extLst>
              <a:ext uri="{FF2B5EF4-FFF2-40B4-BE49-F238E27FC236}">
                <a16:creationId xmlns="" xmlns:a16="http://schemas.microsoft.com/office/drawing/2014/main" id="{42E34C93-8CDF-90F9-5093-F9BCBD0CBD40}"/>
              </a:ext>
            </a:extLst>
          </p:cNvPr>
          <p:cNvSpPr>
            <a:spLocks noGrp="1"/>
          </p:cNvSpPr>
          <p:nvPr>
            <p:ph idx="1"/>
          </p:nvPr>
        </p:nvSpPr>
        <p:spPr/>
        <p:txBody>
          <a:bodyPr>
            <a:normAutofit fontScale="85000" lnSpcReduction="20000"/>
          </a:bodyPr>
          <a:lstStyle/>
          <a:p>
            <a:pPr marL="0" indent="0">
              <a:buNone/>
            </a:pPr>
            <a:r>
              <a:rPr lang="en-US" dirty="0"/>
              <a:t>There are several reasons for Alternative Views:</a:t>
            </a:r>
          </a:p>
          <a:p>
            <a:pPr algn="just"/>
            <a:r>
              <a:rPr lang="en-US" dirty="0"/>
              <a:t>Users have preferences with regard to speed, visual style, and other factors.</a:t>
            </a:r>
          </a:p>
          <a:p>
            <a:pPr algn="just"/>
            <a:r>
              <a:rPr lang="en-US" dirty="0"/>
              <a:t> A user might need to temporarily view data through a different “lens” or perspective in order to gain insight into a problem. </a:t>
            </a:r>
          </a:p>
          <a:p>
            <a:pPr algn="just"/>
            <a:r>
              <a:rPr lang="en-US" dirty="0"/>
              <a:t>If a user is editing a slideshow or website, for instance, he may do most of his editing while using a “structural” view of the document, containing editing handles, markers for invisible content, layout guides, private notes, and so on. But sometimes he will want to see the work as an end user would see it.</a:t>
            </a:r>
            <a:endParaRPr lang="en-IN" dirty="0"/>
          </a:p>
        </p:txBody>
      </p:sp>
    </p:spTree>
    <p:extLst>
      <p:ext uri="{BB962C8B-B14F-4D97-AF65-F5344CB8AC3E}">
        <p14:creationId xmlns:p14="http://schemas.microsoft.com/office/powerpoint/2010/main" val="3489930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BA1B71-7435-32D9-4F7E-577FE7955A8F}"/>
              </a:ext>
            </a:extLst>
          </p:cNvPr>
          <p:cNvSpPr>
            <a:spLocks noGrp="1"/>
          </p:cNvSpPr>
          <p:nvPr>
            <p:ph type="title"/>
          </p:nvPr>
        </p:nvSpPr>
        <p:spPr/>
        <p:txBody>
          <a:bodyPr/>
          <a:lstStyle/>
          <a:p>
            <a:r>
              <a:rPr lang="en-US" dirty="0"/>
              <a:t>HOW</a:t>
            </a:r>
            <a:endParaRPr lang="en-IN" dirty="0"/>
          </a:p>
        </p:txBody>
      </p:sp>
      <p:sp>
        <p:nvSpPr>
          <p:cNvPr id="3" name="Content Placeholder 2">
            <a:extLst>
              <a:ext uri="{FF2B5EF4-FFF2-40B4-BE49-F238E27FC236}">
                <a16:creationId xmlns="" xmlns:a16="http://schemas.microsoft.com/office/drawing/2014/main" id="{C53AB342-4D27-AA36-6E56-98C70B7778C7}"/>
              </a:ext>
            </a:extLst>
          </p:cNvPr>
          <p:cNvSpPr>
            <a:spLocks noGrp="1"/>
          </p:cNvSpPr>
          <p:nvPr>
            <p:ph idx="1"/>
          </p:nvPr>
        </p:nvSpPr>
        <p:spPr>
          <a:xfrm>
            <a:off x="545691" y="1238865"/>
            <a:ext cx="8391832" cy="4938098"/>
          </a:xfrm>
        </p:spPr>
        <p:txBody>
          <a:bodyPr>
            <a:normAutofit fontScale="92500" lnSpcReduction="10000"/>
          </a:bodyPr>
          <a:lstStyle/>
          <a:p>
            <a:r>
              <a:rPr lang="en-US" dirty="0"/>
              <a:t>Design specialized views for the scenarios, and present them as alternatives within the same window or screen.</a:t>
            </a:r>
          </a:p>
          <a:p>
            <a:r>
              <a:rPr lang="en-US" dirty="0"/>
              <a:t>In these alternative views, some information might be added and some might be taken away, but the core content should remain more or less the same. </a:t>
            </a:r>
          </a:p>
          <a:p>
            <a:r>
              <a:rPr lang="en-US" dirty="0"/>
              <a:t>A common way to switch views is to change the rendering of a list; file finders in both Windows and Mac OS let users switch from lists to Thumbnail Grids to Tree Tables to Cascading Lists to Carousels, for instance.</a:t>
            </a:r>
            <a:endParaRPr lang="en-IN" dirty="0"/>
          </a:p>
        </p:txBody>
      </p:sp>
    </p:spTree>
    <p:extLst>
      <p:ext uri="{BB962C8B-B14F-4D97-AF65-F5344CB8AC3E}">
        <p14:creationId xmlns:p14="http://schemas.microsoft.com/office/powerpoint/2010/main" val="1023882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538039-A04F-D5DE-FEF9-9FE684425954}"/>
              </a:ext>
            </a:extLst>
          </p:cNvPr>
          <p:cNvSpPr>
            <a:spLocks noGrp="1"/>
          </p:cNvSpPr>
          <p:nvPr>
            <p:ph type="title"/>
          </p:nvPr>
        </p:nvSpPr>
        <p:spPr>
          <a:xfrm>
            <a:off x="457200" y="116632"/>
            <a:ext cx="8229600" cy="940966"/>
          </a:xfrm>
        </p:spPr>
        <p:txBody>
          <a:bodyPr/>
          <a:lstStyle/>
          <a:p>
            <a:r>
              <a:rPr lang="en-US" b="1" dirty="0"/>
              <a:t>HOW</a:t>
            </a:r>
            <a:endParaRPr lang="en-IN" b="1" dirty="0"/>
          </a:p>
        </p:txBody>
      </p:sp>
      <p:sp>
        <p:nvSpPr>
          <p:cNvPr id="3" name="Content Placeholder 2">
            <a:extLst>
              <a:ext uri="{FF2B5EF4-FFF2-40B4-BE49-F238E27FC236}">
                <a16:creationId xmlns="" xmlns:a16="http://schemas.microsoft.com/office/drawing/2014/main" id="{473B91A7-B03A-5CA4-EDB9-8F8FDB3AF020}"/>
              </a:ext>
            </a:extLst>
          </p:cNvPr>
          <p:cNvSpPr>
            <a:spLocks noGrp="1"/>
          </p:cNvSpPr>
          <p:nvPr>
            <p:ph idx="1"/>
          </p:nvPr>
        </p:nvSpPr>
        <p:spPr>
          <a:xfrm>
            <a:off x="395536" y="1052736"/>
            <a:ext cx="8229600" cy="4525963"/>
          </a:xfrm>
        </p:spPr>
        <p:txBody>
          <a:bodyPr>
            <a:noAutofit/>
          </a:bodyPr>
          <a:lstStyle/>
          <a:p>
            <a:r>
              <a:rPr lang="en-US" sz="2400" dirty="0"/>
              <a:t>Most applications represent the alternative views with iconic buttons. </a:t>
            </a:r>
          </a:p>
          <a:p>
            <a:r>
              <a:rPr lang="en-US" sz="2400" dirty="0"/>
              <a:t>As the user switches back and forth, preserve all of the application’s current state selections, the user’s location in the document, uncommitted changes, undo/redo operations, and so on .</a:t>
            </a:r>
          </a:p>
          <a:p>
            <a:r>
              <a:rPr lang="en-US" sz="2400" dirty="0"/>
              <a:t>If a user decides to switch to an alternative view, the application will just use that view by default next time. </a:t>
            </a:r>
          </a:p>
          <a:p>
            <a:r>
              <a:rPr lang="en-US" sz="2400" dirty="0"/>
              <a:t>Websites can do this by using cookies; desktop applications can keep track of preferences per user; an app on a mobile device can simply remember what view it used the last time it was invoked. </a:t>
            </a:r>
          </a:p>
          <a:p>
            <a:r>
              <a:rPr lang="en-US" sz="2400" dirty="0"/>
              <a:t>Web pages may have the option of implementing Alternative Views as alternative CSS pages.</a:t>
            </a:r>
            <a:endParaRPr lang="en-IN" sz="2400" dirty="0"/>
          </a:p>
        </p:txBody>
      </p:sp>
    </p:spTree>
    <p:extLst>
      <p:ext uri="{BB962C8B-B14F-4D97-AF65-F5344CB8AC3E}">
        <p14:creationId xmlns:p14="http://schemas.microsoft.com/office/powerpoint/2010/main" val="41626278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572D3F-2F81-3979-16DC-2E356390FA42}"/>
              </a:ext>
            </a:extLst>
          </p:cNvPr>
          <p:cNvSpPr>
            <a:spLocks noGrp="1"/>
          </p:cNvSpPr>
          <p:nvPr>
            <p:ph type="title"/>
          </p:nvPr>
        </p:nvSpPr>
        <p:spPr>
          <a:xfrm>
            <a:off x="457200" y="-27384"/>
            <a:ext cx="8229600" cy="868958"/>
          </a:xfrm>
        </p:spPr>
        <p:txBody>
          <a:bodyPr/>
          <a:lstStyle/>
          <a:p>
            <a:r>
              <a:rPr lang="en-IN" b="1" dirty="0"/>
              <a:t>Many Workspaces</a:t>
            </a:r>
          </a:p>
        </p:txBody>
      </p:sp>
      <p:sp>
        <p:nvSpPr>
          <p:cNvPr id="3" name="Content Placeholder 2">
            <a:extLst>
              <a:ext uri="{FF2B5EF4-FFF2-40B4-BE49-F238E27FC236}">
                <a16:creationId xmlns="" xmlns:a16="http://schemas.microsoft.com/office/drawing/2014/main" id="{D43A8039-2027-2547-0D56-6075731A118E}"/>
              </a:ext>
            </a:extLst>
          </p:cNvPr>
          <p:cNvSpPr>
            <a:spLocks noGrp="1"/>
          </p:cNvSpPr>
          <p:nvPr>
            <p:ph idx="1"/>
          </p:nvPr>
        </p:nvSpPr>
        <p:spPr>
          <a:xfrm>
            <a:off x="457200" y="836712"/>
            <a:ext cx="8229600" cy="4525963"/>
          </a:xfrm>
        </p:spPr>
        <p:txBody>
          <a:bodyPr/>
          <a:lstStyle/>
          <a:p>
            <a:r>
              <a:rPr lang="en-US" dirty="0"/>
              <a:t>Use multiple top-level tabs, tab groups, and windows so that users can view more than one page, project, file, or context at a time.</a:t>
            </a:r>
          </a:p>
          <a:p>
            <a:r>
              <a:rPr lang="en-US" dirty="0"/>
              <a:t> Let users place these workspaces side by side if possible.</a:t>
            </a:r>
            <a:endParaRPr lang="en-IN" dirty="0"/>
          </a:p>
        </p:txBody>
      </p:sp>
      <p:pic>
        <p:nvPicPr>
          <p:cNvPr id="5" name="Picture 4">
            <a:extLst>
              <a:ext uri="{FF2B5EF4-FFF2-40B4-BE49-F238E27FC236}">
                <a16:creationId xmlns="" xmlns:a16="http://schemas.microsoft.com/office/drawing/2014/main" id="{17AD9149-6C71-B125-0437-08D1807F8F96}"/>
              </a:ext>
            </a:extLst>
          </p:cNvPr>
          <p:cNvPicPr>
            <a:picLocks noChangeAspect="1"/>
          </p:cNvPicPr>
          <p:nvPr/>
        </p:nvPicPr>
        <p:blipFill>
          <a:blip r:embed="rId2"/>
          <a:stretch>
            <a:fillRect/>
          </a:stretch>
        </p:blipFill>
        <p:spPr>
          <a:xfrm>
            <a:off x="1677721" y="3429000"/>
            <a:ext cx="5817609" cy="3312368"/>
          </a:xfrm>
          <a:prstGeom prst="rect">
            <a:avLst/>
          </a:prstGeom>
        </p:spPr>
      </p:pic>
    </p:spTree>
    <p:extLst>
      <p:ext uri="{BB962C8B-B14F-4D97-AF65-F5344CB8AC3E}">
        <p14:creationId xmlns:p14="http://schemas.microsoft.com/office/powerpoint/2010/main" val="36651809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53FE6E-7100-64F6-A399-3685FFF51D37}"/>
              </a:ext>
            </a:extLst>
          </p:cNvPr>
          <p:cNvSpPr>
            <a:spLocks noGrp="1"/>
          </p:cNvSpPr>
          <p:nvPr>
            <p:ph type="title"/>
          </p:nvPr>
        </p:nvSpPr>
        <p:spPr>
          <a:xfrm>
            <a:off x="457200" y="188640"/>
            <a:ext cx="8229600" cy="796950"/>
          </a:xfrm>
        </p:spPr>
        <p:txBody>
          <a:bodyPr/>
          <a:lstStyle/>
          <a:p>
            <a:r>
              <a:rPr lang="en-US" dirty="0"/>
              <a:t>WHY</a:t>
            </a:r>
            <a:endParaRPr lang="en-IN" dirty="0"/>
          </a:p>
        </p:txBody>
      </p:sp>
      <p:sp>
        <p:nvSpPr>
          <p:cNvPr id="3" name="Content Placeholder 2">
            <a:extLst>
              <a:ext uri="{FF2B5EF4-FFF2-40B4-BE49-F238E27FC236}">
                <a16:creationId xmlns="" xmlns:a16="http://schemas.microsoft.com/office/drawing/2014/main" id="{55248964-2A3B-3494-95EE-E970CA59AD5D}"/>
              </a:ext>
            </a:extLst>
          </p:cNvPr>
          <p:cNvSpPr>
            <a:spLocks noGrp="1"/>
          </p:cNvSpPr>
          <p:nvPr>
            <p:ph idx="1"/>
          </p:nvPr>
        </p:nvSpPr>
        <p:spPr>
          <a:xfrm>
            <a:off x="457200" y="1207293"/>
            <a:ext cx="8686800" cy="4525963"/>
          </a:xfrm>
        </p:spPr>
        <p:txBody>
          <a:bodyPr>
            <a:noAutofit/>
          </a:bodyPr>
          <a:lstStyle/>
          <a:p>
            <a:r>
              <a:rPr lang="en-US" sz="2400" dirty="0"/>
              <a:t>People multitask. </a:t>
            </a:r>
          </a:p>
          <a:p>
            <a:r>
              <a:rPr lang="en-US" sz="2400" dirty="0"/>
              <a:t>They go off on tangents, abandon trains of thought, stop working on task A to switch to task B, and eventually come back to something they left hanging.</a:t>
            </a:r>
          </a:p>
          <a:p>
            <a:r>
              <a:rPr lang="en-US" sz="2400" dirty="0"/>
              <a:t> One way or the other, they will multitask, so you might as well support it directly with a well- designed interface for doing so.</a:t>
            </a:r>
          </a:p>
          <a:p>
            <a:r>
              <a:rPr lang="en-US" sz="2400" dirty="0"/>
              <a:t>Side-by-side comparisons between two or more items can help people learn and gain insight. </a:t>
            </a:r>
          </a:p>
          <a:p>
            <a:r>
              <a:rPr lang="en-US" sz="2400" dirty="0"/>
              <a:t>Let users pull up pages or documents next to each other without having to laboriously switch context from one to another.</a:t>
            </a:r>
          </a:p>
          <a:p>
            <a:r>
              <a:rPr lang="en-US" sz="2400" dirty="0"/>
              <a:t>This pattern directly supports some patterns, such as Prospective Memory (a user may leave a window open as a self-reminder to finish something) and Safe Exploration</a:t>
            </a:r>
            <a:endParaRPr lang="en-IN" sz="2400" dirty="0"/>
          </a:p>
        </p:txBody>
      </p:sp>
    </p:spTree>
    <p:extLst>
      <p:ext uri="{BB962C8B-B14F-4D97-AF65-F5344CB8AC3E}">
        <p14:creationId xmlns:p14="http://schemas.microsoft.com/office/powerpoint/2010/main" val="2251845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818DF5E-7F0A-3862-7B42-812E6CB5E56D}"/>
              </a:ext>
            </a:extLst>
          </p:cNvPr>
          <p:cNvSpPr>
            <a:spLocks noGrp="1"/>
          </p:cNvSpPr>
          <p:nvPr>
            <p:ph type="title"/>
          </p:nvPr>
        </p:nvSpPr>
        <p:spPr>
          <a:xfrm>
            <a:off x="457200" y="111770"/>
            <a:ext cx="8229600" cy="1012974"/>
          </a:xfrm>
        </p:spPr>
        <p:txBody>
          <a:bodyPr/>
          <a:lstStyle/>
          <a:p>
            <a:r>
              <a:rPr lang="en-US" dirty="0"/>
              <a:t>HOW</a:t>
            </a:r>
            <a:endParaRPr lang="en-IN" dirty="0"/>
          </a:p>
        </p:txBody>
      </p:sp>
      <p:sp>
        <p:nvSpPr>
          <p:cNvPr id="3" name="Content Placeholder 2">
            <a:extLst>
              <a:ext uri="{FF2B5EF4-FFF2-40B4-BE49-F238E27FC236}">
                <a16:creationId xmlns="" xmlns:a16="http://schemas.microsoft.com/office/drawing/2014/main" id="{BCC82B19-EC1F-3676-62E7-16E8046D2E7E}"/>
              </a:ext>
            </a:extLst>
          </p:cNvPr>
          <p:cNvSpPr>
            <a:spLocks noGrp="1"/>
          </p:cNvSpPr>
          <p:nvPr>
            <p:ph idx="1"/>
          </p:nvPr>
        </p:nvSpPr>
        <p:spPr>
          <a:xfrm>
            <a:off x="457200" y="1196752"/>
            <a:ext cx="8229600" cy="4525963"/>
          </a:xfrm>
        </p:spPr>
        <p:txBody>
          <a:bodyPr>
            <a:noAutofit/>
          </a:bodyPr>
          <a:lstStyle/>
          <a:p>
            <a:r>
              <a:rPr lang="en-US" sz="2400" dirty="0"/>
              <a:t>Choose one or more ways to show multiple workspaces. </a:t>
            </a:r>
          </a:p>
          <a:p>
            <a:r>
              <a:rPr lang="en-US" sz="2400" dirty="0"/>
              <a:t>Many well-known applications use the following:</a:t>
            </a:r>
          </a:p>
          <a:p>
            <a:pPr>
              <a:buFont typeface="Wingdings" panose="05000000000000000000" pitchFamily="2" charset="2"/>
              <a:buChar char="Ø"/>
            </a:pPr>
            <a:r>
              <a:rPr lang="en-US" sz="2400" dirty="0"/>
              <a:t> Tabs</a:t>
            </a:r>
          </a:p>
          <a:p>
            <a:pPr>
              <a:buFont typeface="Wingdings" panose="05000000000000000000" pitchFamily="2" charset="2"/>
              <a:buChar char="Ø"/>
            </a:pPr>
            <a:r>
              <a:rPr lang="en-US" sz="2400" dirty="0"/>
              <a:t>Separate operating-system windows</a:t>
            </a:r>
          </a:p>
          <a:p>
            <a:pPr>
              <a:buFont typeface="Wingdings" panose="05000000000000000000" pitchFamily="2" charset="2"/>
              <a:buChar char="Ø"/>
            </a:pPr>
            <a:r>
              <a:rPr lang="en-US" sz="2400" dirty="0"/>
              <a:t>Columns or panels within a window</a:t>
            </a:r>
          </a:p>
          <a:p>
            <a:pPr>
              <a:buFont typeface="Wingdings" panose="05000000000000000000" pitchFamily="2" charset="2"/>
              <a:buChar char="Ø"/>
            </a:pPr>
            <a:r>
              <a:rPr lang="en-US" sz="2400" dirty="0"/>
              <a:t>Split windows, with the ability to adjust the splitters interactively</a:t>
            </a:r>
          </a:p>
          <a:p>
            <a:r>
              <a:rPr lang="en-US" sz="2400" dirty="0"/>
              <a:t>If you deal with fairly simple content in each workspace such as text files, lists, or News Streams split windows or panels work fine. </a:t>
            </a:r>
          </a:p>
          <a:p>
            <a:r>
              <a:rPr lang="en-US" sz="2400" dirty="0"/>
              <a:t>More complex content might warrant entire tab pages or windows of their own so that a user can see a larger area at once.</a:t>
            </a:r>
            <a:endParaRPr lang="en-IN" sz="2400" dirty="0"/>
          </a:p>
        </p:txBody>
      </p:sp>
    </p:spTree>
    <p:extLst>
      <p:ext uri="{BB962C8B-B14F-4D97-AF65-F5344CB8AC3E}">
        <p14:creationId xmlns:p14="http://schemas.microsoft.com/office/powerpoint/2010/main" val="1926790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65B9192-AA5D-E099-2BCA-0C1E34CBB5D7}"/>
              </a:ext>
            </a:extLst>
          </p:cNvPr>
          <p:cNvSpPr>
            <a:spLocks noGrp="1"/>
          </p:cNvSpPr>
          <p:nvPr>
            <p:ph idx="1"/>
          </p:nvPr>
        </p:nvSpPr>
        <p:spPr/>
        <p:txBody>
          <a:bodyPr>
            <a:normAutofit lnSpcReduction="10000"/>
          </a:bodyPr>
          <a:lstStyle/>
          <a:p>
            <a:r>
              <a:rPr lang="en-US" dirty="0"/>
              <a:t>When users close some web browsers, such as Chrome, the set of workspaces (all open web pages, in tabs and windows) gets automatically saved for later use. </a:t>
            </a:r>
          </a:p>
          <a:p>
            <a:r>
              <a:rPr lang="en-US" dirty="0"/>
              <a:t>Then when the user restarts the browser, her entire set of previously opened web pages is restored, almost as she left it. This is especially nice when the browser or machine has crashed</a:t>
            </a:r>
            <a:r>
              <a:rPr lang="en-US"/>
              <a:t>. </a:t>
            </a:r>
            <a:endParaRPr lang="en-IN" dirty="0"/>
          </a:p>
        </p:txBody>
      </p:sp>
    </p:spTree>
    <p:extLst>
      <p:ext uri="{BB962C8B-B14F-4D97-AF65-F5344CB8AC3E}">
        <p14:creationId xmlns:p14="http://schemas.microsoft.com/office/powerpoint/2010/main" val="191611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6B3351-BE3B-2629-11B5-7509F1EE80F9}"/>
              </a:ext>
            </a:extLst>
          </p:cNvPr>
          <p:cNvSpPr>
            <a:spLocks noGrp="1"/>
          </p:cNvSpPr>
          <p:nvPr>
            <p:ph type="title"/>
          </p:nvPr>
        </p:nvSpPr>
        <p:spPr>
          <a:xfrm>
            <a:off x="457200" y="116632"/>
            <a:ext cx="8229600" cy="1012974"/>
          </a:xfrm>
        </p:spPr>
        <p:txBody>
          <a:bodyPr/>
          <a:lstStyle/>
          <a:p>
            <a:r>
              <a:rPr lang="en-IN" dirty="0"/>
              <a:t>Multi-Level Help</a:t>
            </a:r>
          </a:p>
        </p:txBody>
      </p:sp>
      <p:pic>
        <p:nvPicPr>
          <p:cNvPr id="5" name="Content Placeholder 4">
            <a:extLst>
              <a:ext uri="{FF2B5EF4-FFF2-40B4-BE49-F238E27FC236}">
                <a16:creationId xmlns="" xmlns:a16="http://schemas.microsoft.com/office/drawing/2014/main" id="{C4E509D7-6771-18A1-6B2E-59509F28C9FF}"/>
              </a:ext>
            </a:extLst>
          </p:cNvPr>
          <p:cNvPicPr>
            <a:picLocks noGrp="1" noChangeAspect="1"/>
          </p:cNvPicPr>
          <p:nvPr>
            <p:ph idx="1"/>
          </p:nvPr>
        </p:nvPicPr>
        <p:blipFill>
          <a:blip r:embed="rId2"/>
          <a:stretch>
            <a:fillRect/>
          </a:stretch>
        </p:blipFill>
        <p:spPr>
          <a:xfrm>
            <a:off x="746636" y="1052736"/>
            <a:ext cx="7682975" cy="5805265"/>
          </a:xfrm>
        </p:spPr>
      </p:pic>
    </p:spTree>
    <p:extLst>
      <p:ext uri="{BB962C8B-B14F-4D97-AF65-F5344CB8AC3E}">
        <p14:creationId xmlns:p14="http://schemas.microsoft.com/office/powerpoint/2010/main" val="22290712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8BC1DC-05FA-FCAE-DE57-44CDE533E887}"/>
              </a:ext>
            </a:extLst>
          </p:cNvPr>
          <p:cNvSpPr>
            <a:spLocks noGrp="1"/>
          </p:cNvSpPr>
          <p:nvPr>
            <p:ph type="title"/>
          </p:nvPr>
        </p:nvSpPr>
        <p:spPr/>
        <p:txBody>
          <a:bodyPr/>
          <a:lstStyle/>
          <a:p>
            <a:r>
              <a:rPr lang="en-IN" dirty="0"/>
              <a:t>Multi-Level Help</a:t>
            </a:r>
          </a:p>
        </p:txBody>
      </p:sp>
      <p:sp>
        <p:nvSpPr>
          <p:cNvPr id="3" name="Content Placeholder 2">
            <a:extLst>
              <a:ext uri="{FF2B5EF4-FFF2-40B4-BE49-F238E27FC236}">
                <a16:creationId xmlns="" xmlns:a16="http://schemas.microsoft.com/office/drawing/2014/main" id="{8D97F8E2-17CA-EDEC-604F-0E3E18EC4A4C}"/>
              </a:ext>
            </a:extLst>
          </p:cNvPr>
          <p:cNvSpPr>
            <a:spLocks noGrp="1"/>
          </p:cNvSpPr>
          <p:nvPr>
            <p:ph idx="1"/>
          </p:nvPr>
        </p:nvSpPr>
        <p:spPr/>
        <p:txBody>
          <a:bodyPr>
            <a:normAutofit lnSpcReduction="10000"/>
          </a:bodyPr>
          <a:lstStyle/>
          <a:p>
            <a:r>
              <a:rPr lang="en-US" dirty="0"/>
              <a:t>Use a mixture of lightweight and heavyweight help techniques to support users with varying needs</a:t>
            </a:r>
          </a:p>
          <a:p>
            <a:r>
              <a:rPr lang="en-US" dirty="0"/>
              <a:t>When designing a complex application, it's crucial to support both beginners and experienced users effectively. </a:t>
            </a:r>
          </a:p>
          <a:p>
            <a:r>
              <a:rPr lang="en-US" dirty="0"/>
              <a:t>Some users may need a full-fledged help system, but most users won’t take the time to use it</a:t>
            </a:r>
            <a:endParaRPr lang="en-IN" dirty="0"/>
          </a:p>
        </p:txBody>
      </p:sp>
    </p:spTree>
    <p:extLst>
      <p:ext uri="{BB962C8B-B14F-4D97-AF65-F5344CB8AC3E}">
        <p14:creationId xmlns:p14="http://schemas.microsoft.com/office/powerpoint/2010/main" val="31624397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95854D-9325-A348-BED6-D0C2029A0435}"/>
              </a:ext>
            </a:extLst>
          </p:cNvPr>
          <p:cNvSpPr>
            <a:spLocks noGrp="1"/>
          </p:cNvSpPr>
          <p:nvPr>
            <p:ph type="title"/>
          </p:nvPr>
        </p:nvSpPr>
        <p:spPr/>
        <p:txBody>
          <a:bodyPr/>
          <a:lstStyle/>
          <a:p>
            <a:r>
              <a:rPr lang="en-IN" dirty="0"/>
              <a:t>Multi-Level Help- WHY</a:t>
            </a:r>
          </a:p>
        </p:txBody>
      </p:sp>
      <p:sp>
        <p:nvSpPr>
          <p:cNvPr id="3" name="Content Placeholder 2">
            <a:extLst>
              <a:ext uri="{FF2B5EF4-FFF2-40B4-BE49-F238E27FC236}">
                <a16:creationId xmlns="" xmlns:a16="http://schemas.microsoft.com/office/drawing/2014/main" id="{8425645D-0F6B-896D-D2CC-5188AF754645}"/>
              </a:ext>
            </a:extLst>
          </p:cNvPr>
          <p:cNvSpPr>
            <a:spLocks noGrp="1"/>
          </p:cNvSpPr>
          <p:nvPr>
            <p:ph idx="1"/>
          </p:nvPr>
        </p:nvSpPr>
        <p:spPr/>
        <p:txBody>
          <a:bodyPr>
            <a:normAutofit fontScale="85000" lnSpcReduction="10000"/>
          </a:bodyPr>
          <a:lstStyle/>
          <a:p>
            <a:r>
              <a:rPr lang="en-US" dirty="0"/>
              <a:t>Users of almost any software artifact need varying levels of support for the tasks they’re trying to accomplish.</a:t>
            </a:r>
          </a:p>
          <a:p>
            <a:r>
              <a:rPr lang="en-US" dirty="0"/>
              <a:t> Someone approaching it for the first time ever (or the first time in a while) needs different support than someone who uses it frequently. </a:t>
            </a:r>
          </a:p>
          <a:p>
            <a:r>
              <a:rPr lang="en-US" dirty="0"/>
              <a:t>Even among first time users, enormous differences exist in commitment level and learning styles.</a:t>
            </a:r>
          </a:p>
          <a:p>
            <a:r>
              <a:rPr lang="en-US" dirty="0"/>
              <a:t> Some people want to read a tutorial, some won’t; most find tool tips helpful, but a few find them irritating</a:t>
            </a:r>
            <a:endParaRPr lang="en-IN" dirty="0"/>
          </a:p>
        </p:txBody>
      </p:sp>
    </p:spTree>
    <p:extLst>
      <p:ext uri="{BB962C8B-B14F-4D97-AF65-F5344CB8AC3E}">
        <p14:creationId xmlns:p14="http://schemas.microsoft.com/office/powerpoint/2010/main" val="12434882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AE18E7-B07F-463D-A860-80EE9EE34411}"/>
              </a:ext>
            </a:extLst>
          </p:cNvPr>
          <p:cNvSpPr>
            <a:spLocks noGrp="1"/>
          </p:cNvSpPr>
          <p:nvPr>
            <p:ph type="title"/>
          </p:nvPr>
        </p:nvSpPr>
        <p:spPr/>
        <p:txBody>
          <a:bodyPr/>
          <a:lstStyle/>
          <a:p>
            <a:r>
              <a:rPr lang="en-IN" dirty="0"/>
              <a:t>Multi-Level Help- WHY</a:t>
            </a:r>
          </a:p>
        </p:txBody>
      </p:sp>
      <p:sp>
        <p:nvSpPr>
          <p:cNvPr id="3" name="Content Placeholder 2">
            <a:extLst>
              <a:ext uri="{FF2B5EF4-FFF2-40B4-BE49-F238E27FC236}">
                <a16:creationId xmlns="" xmlns:a16="http://schemas.microsoft.com/office/drawing/2014/main" id="{07B7F96B-8B0D-25AA-8B5D-4C351E408E19}"/>
              </a:ext>
            </a:extLst>
          </p:cNvPr>
          <p:cNvSpPr>
            <a:spLocks noGrp="1"/>
          </p:cNvSpPr>
          <p:nvPr>
            <p:ph idx="1"/>
          </p:nvPr>
        </p:nvSpPr>
        <p:spPr/>
        <p:txBody>
          <a:bodyPr/>
          <a:lstStyle/>
          <a:p>
            <a:r>
              <a:rPr lang="en-US" dirty="0"/>
              <a:t>Help texts that are provided on many levels at once even when they don’t look like traditional “help systems” reach everyone who needs them. </a:t>
            </a:r>
          </a:p>
          <a:p>
            <a:r>
              <a:rPr lang="en-US" dirty="0"/>
              <a:t>Many good help techniques put the help texts within easy reach, but not directly in the user’s face all the time, so users don’t get irritated.</a:t>
            </a:r>
            <a:endParaRPr lang="en-IN" dirty="0"/>
          </a:p>
        </p:txBody>
      </p:sp>
    </p:spTree>
    <p:extLst>
      <p:ext uri="{BB962C8B-B14F-4D97-AF65-F5344CB8AC3E}">
        <p14:creationId xmlns:p14="http://schemas.microsoft.com/office/powerpoint/2010/main" val="33376557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C5D8F6-BBF5-06F4-FB08-54DB48643116}"/>
              </a:ext>
            </a:extLst>
          </p:cNvPr>
          <p:cNvSpPr>
            <a:spLocks noGrp="1"/>
          </p:cNvSpPr>
          <p:nvPr>
            <p:ph type="title"/>
          </p:nvPr>
        </p:nvSpPr>
        <p:spPr>
          <a:xfrm>
            <a:off x="628650" y="365126"/>
            <a:ext cx="7886700" cy="903236"/>
          </a:xfrm>
        </p:spPr>
        <p:txBody>
          <a:bodyPr/>
          <a:lstStyle/>
          <a:p>
            <a:r>
              <a:rPr lang="en-IN" dirty="0"/>
              <a:t>Multi-Level Help- HOW</a:t>
            </a:r>
          </a:p>
        </p:txBody>
      </p:sp>
      <p:sp>
        <p:nvSpPr>
          <p:cNvPr id="3" name="Content Placeholder 2">
            <a:extLst>
              <a:ext uri="{FF2B5EF4-FFF2-40B4-BE49-F238E27FC236}">
                <a16:creationId xmlns="" xmlns:a16="http://schemas.microsoft.com/office/drawing/2014/main" id="{7180A766-6127-0CC4-7B5A-E4636B2455BB}"/>
              </a:ext>
            </a:extLst>
          </p:cNvPr>
          <p:cNvSpPr>
            <a:spLocks noGrp="1"/>
          </p:cNvSpPr>
          <p:nvPr>
            <p:ph idx="1"/>
          </p:nvPr>
        </p:nvSpPr>
        <p:spPr>
          <a:xfrm>
            <a:off x="628650" y="1435510"/>
            <a:ext cx="7886700" cy="4741453"/>
          </a:xfrm>
        </p:spPr>
        <p:txBody>
          <a:bodyPr>
            <a:normAutofit fontScale="70000" lnSpcReduction="20000"/>
          </a:bodyPr>
          <a:lstStyle/>
          <a:p>
            <a:r>
              <a:rPr lang="en-US" dirty="0"/>
              <a:t>Captions and instructions directly on the page, including patterns such as Input Hints and Input Prompt</a:t>
            </a:r>
          </a:p>
          <a:p>
            <a:r>
              <a:rPr lang="en-US" b="1" dirty="0"/>
              <a:t>Tool tips. </a:t>
            </a:r>
            <a:r>
              <a:rPr lang="en-US" dirty="0"/>
              <a:t>Use them to show very brief, one- or two-line descriptions of interface features that aren’t self-evident</a:t>
            </a:r>
          </a:p>
          <a:p>
            <a:r>
              <a:rPr lang="en-US" b="1" dirty="0"/>
              <a:t>Hover Tools</a:t>
            </a:r>
            <a:r>
              <a:rPr lang="en-US" dirty="0"/>
              <a:t>. These can display slightly longer descriptions, shown dynamically as the user selects or rolls over certain interface elements.</a:t>
            </a:r>
          </a:p>
          <a:p>
            <a:r>
              <a:rPr lang="en-US" dirty="0"/>
              <a:t>Longer help texts contained inside Collapsible Panels</a:t>
            </a:r>
          </a:p>
          <a:p>
            <a:r>
              <a:rPr lang="en-US" dirty="0"/>
              <a:t>Introductory material, such as static introductory screens, guided tours, and videos.</a:t>
            </a:r>
          </a:p>
          <a:p>
            <a:r>
              <a:rPr lang="en-US" dirty="0"/>
              <a:t>Help shown in a separate window, often in HTML via browsers, but sometimes in </a:t>
            </a:r>
            <a:r>
              <a:rPr lang="en-US" dirty="0" err="1"/>
              <a:t>WinHelp</a:t>
            </a:r>
            <a:r>
              <a:rPr lang="en-US" dirty="0"/>
              <a:t> or Mac Help.</a:t>
            </a:r>
          </a:p>
          <a:p>
            <a:r>
              <a:rPr lang="en-US" dirty="0"/>
              <a:t>Live” technical support, usually via email, the Web, Twitter, or telephone.</a:t>
            </a:r>
          </a:p>
          <a:p>
            <a:r>
              <a:rPr lang="en-US" dirty="0"/>
              <a:t>Informal community support</a:t>
            </a:r>
          </a:p>
          <a:p>
            <a:endParaRPr lang="en-IN" dirty="0"/>
          </a:p>
        </p:txBody>
      </p:sp>
    </p:spTree>
    <p:extLst>
      <p:ext uri="{BB962C8B-B14F-4D97-AF65-F5344CB8AC3E}">
        <p14:creationId xmlns:p14="http://schemas.microsoft.com/office/powerpoint/2010/main" val="9131780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37944E-7CC3-CC66-1C7B-1F5FC4068538}"/>
              </a:ext>
            </a:extLst>
          </p:cNvPr>
          <p:cNvSpPr>
            <a:spLocks noGrp="1"/>
          </p:cNvSpPr>
          <p:nvPr>
            <p:ph type="ctrTitle"/>
          </p:nvPr>
        </p:nvSpPr>
        <p:spPr/>
        <p:txBody>
          <a:bodyPr>
            <a:normAutofit/>
          </a:bodyPr>
          <a:lstStyle/>
          <a:p>
            <a:pPr>
              <a:spcBef>
                <a:spcPts val="1500"/>
              </a:spcBef>
              <a:spcAft>
                <a:spcPts val="1500"/>
              </a:spcAft>
            </a:pPr>
            <a:r>
              <a:rPr lang="en-US" sz="4800" b="1" dirty="0">
                <a:solidFill>
                  <a:srgbClr val="000000"/>
                </a:solidFill>
                <a:effectLst/>
                <a:highlight>
                  <a:srgbClr val="FFFFFF"/>
                </a:highlight>
                <a:latin typeface="Times New Roman" panose="02020603050405020304" pitchFamily="18" charset="0"/>
                <a:ea typeface="Times New Roman" panose="02020603050405020304" pitchFamily="18" charset="0"/>
              </a:rPr>
              <a:t> MODULE- </a:t>
            </a:r>
            <a:r>
              <a:rPr lang="en-US" sz="4800" b="1" dirty="0" smtClean="0">
                <a:solidFill>
                  <a:srgbClr val="000000"/>
                </a:solidFill>
                <a:effectLst/>
                <a:highlight>
                  <a:srgbClr val="FFFFFF"/>
                </a:highlight>
                <a:latin typeface="Times New Roman" panose="02020603050405020304" pitchFamily="18" charset="0"/>
                <a:ea typeface="Times New Roman" panose="02020603050405020304" pitchFamily="18" charset="0"/>
              </a:rPr>
              <a:t>4</a:t>
            </a:r>
            <a:endParaRPr lang="en-IN" sz="16600" dirty="0"/>
          </a:p>
        </p:txBody>
      </p:sp>
      <p:sp>
        <p:nvSpPr>
          <p:cNvPr id="3" name="Subtitle 2">
            <a:extLst>
              <a:ext uri="{FF2B5EF4-FFF2-40B4-BE49-F238E27FC236}">
                <a16:creationId xmlns="" xmlns:a16="http://schemas.microsoft.com/office/drawing/2014/main" id="{554C345D-8C99-6C92-0F87-4115A2D002A4}"/>
              </a:ext>
            </a:extLst>
          </p:cNvPr>
          <p:cNvSpPr>
            <a:spLocks noGrp="1"/>
          </p:cNvSpPr>
          <p:nvPr>
            <p:ph type="subTitle" idx="1"/>
          </p:nvPr>
        </p:nvSpPr>
        <p:spPr>
          <a:xfrm>
            <a:off x="1371600" y="3140968"/>
            <a:ext cx="6400800" cy="1752600"/>
          </a:xfrm>
        </p:spPr>
        <p:txBody>
          <a:bodyPr/>
          <a:lstStyle/>
          <a:p>
            <a:r>
              <a:rPr lang="en-US" dirty="0" smtClean="0"/>
              <a:t>(2</a:t>
            </a:r>
            <a:r>
              <a:rPr lang="en-US" baseline="30000" dirty="0" smtClean="0"/>
              <a:t>nd</a:t>
            </a:r>
            <a:r>
              <a:rPr lang="en-US" dirty="0" smtClean="0"/>
              <a:t> Series Exam portions)</a:t>
            </a:r>
            <a:endParaRPr lang="en-IN" dirty="0"/>
          </a:p>
        </p:txBody>
      </p:sp>
    </p:spTree>
    <p:extLst>
      <p:ext uri="{BB962C8B-B14F-4D97-AF65-F5344CB8AC3E}">
        <p14:creationId xmlns:p14="http://schemas.microsoft.com/office/powerpoint/2010/main" val="1455640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3EB422-1287-FCEB-63CE-599FDC8468D8}"/>
              </a:ext>
            </a:extLst>
          </p:cNvPr>
          <p:cNvSpPr>
            <a:spLocks noGrp="1"/>
          </p:cNvSpPr>
          <p:nvPr>
            <p:ph type="title"/>
          </p:nvPr>
        </p:nvSpPr>
        <p:spPr>
          <a:xfrm>
            <a:off x="960120" y="836712"/>
            <a:ext cx="6708224" cy="512579"/>
          </a:xfrm>
        </p:spPr>
        <p:txBody>
          <a:bodyPr>
            <a:normAutofit fontScale="90000"/>
          </a:bodyPr>
          <a:lstStyle/>
          <a:p>
            <a:r>
              <a:rPr lang="en-US" b="1" u="sng" cap="none" dirty="0" smtClean="0"/>
              <a:t>BOOTSTRAP</a:t>
            </a:r>
            <a:r>
              <a:rPr lang="en-US" b="1" cap="none" dirty="0" smtClean="0"/>
              <a:t> </a:t>
            </a:r>
            <a:r>
              <a:rPr lang="en-US" dirty="0"/>
              <a:t>(MODULE 4 Cont..)</a:t>
            </a:r>
            <a:r>
              <a:rPr lang="en-US" b="1" cap="none" dirty="0" smtClean="0"/>
              <a:t/>
            </a:r>
            <a:br>
              <a:rPr lang="en-US" b="1" cap="none" dirty="0" smtClean="0"/>
            </a:br>
            <a:endParaRPr lang="en-US" cap="none" dirty="0"/>
          </a:p>
        </p:txBody>
      </p:sp>
      <p:sp>
        <p:nvSpPr>
          <p:cNvPr id="3" name="Content Placeholder 2">
            <a:extLst>
              <a:ext uri="{FF2B5EF4-FFF2-40B4-BE49-F238E27FC236}">
                <a16:creationId xmlns="" xmlns:a16="http://schemas.microsoft.com/office/drawing/2014/main" id="{4D038CD2-9585-7E51-5359-D52935A77DF0}"/>
              </a:ext>
            </a:extLst>
          </p:cNvPr>
          <p:cNvSpPr>
            <a:spLocks noGrp="1"/>
          </p:cNvSpPr>
          <p:nvPr>
            <p:ph idx="1"/>
          </p:nvPr>
        </p:nvSpPr>
        <p:spPr>
          <a:xfrm>
            <a:off x="960121" y="2327066"/>
            <a:ext cx="4429298" cy="2540858"/>
          </a:xfrm>
        </p:spPr>
        <p:txBody>
          <a:bodyPr vert="horz" lIns="0" tIns="0" rIns="0" bIns="0" rtlCol="0" anchor="t">
            <a:noAutofit/>
          </a:bodyPr>
          <a:lstStyle/>
          <a:p>
            <a:r>
              <a:rPr lang="en-US" b="1" dirty="0" err="1"/>
              <a:t>Css</a:t>
            </a:r>
            <a:r>
              <a:rPr lang="en-US" b="1" dirty="0"/>
              <a:t> box MODEL </a:t>
            </a:r>
          </a:p>
          <a:p>
            <a:r>
              <a:rPr lang="en-US" b="1" dirty="0"/>
              <a:t>CSS2 AND CSS3 DIFFERENTIATION </a:t>
            </a:r>
          </a:p>
          <a:p>
            <a:r>
              <a:rPr lang="en-US" b="1" dirty="0"/>
              <a:t>INTEGRATION OF CSS WITH HTML </a:t>
            </a:r>
          </a:p>
          <a:p>
            <a:r>
              <a:rPr lang="en-US" b="1" dirty="0"/>
              <a:t>FLEXBOX AND GRID SYSTEM </a:t>
            </a:r>
          </a:p>
        </p:txBody>
      </p:sp>
      <p:sp>
        <p:nvSpPr>
          <p:cNvPr id="4" name="Rectangle 3"/>
          <p:cNvSpPr/>
          <p:nvPr/>
        </p:nvSpPr>
        <p:spPr>
          <a:xfrm>
            <a:off x="613392" y="1634475"/>
            <a:ext cx="1686616" cy="553998"/>
          </a:xfrm>
          <a:prstGeom prst="rect">
            <a:avLst/>
          </a:prstGeom>
        </p:spPr>
        <p:txBody>
          <a:bodyPr wrap="none">
            <a:spAutoFit/>
          </a:bodyPr>
          <a:lstStyle/>
          <a:p>
            <a:r>
              <a:rPr lang="en-US" sz="3000" dirty="0" smtClean="0"/>
              <a:t>Contents:</a:t>
            </a:r>
            <a:endParaRPr lang="en-IN" sz="3000" dirty="0"/>
          </a:p>
        </p:txBody>
      </p:sp>
    </p:spTree>
    <p:extLst>
      <p:ext uri="{BB962C8B-B14F-4D97-AF65-F5344CB8AC3E}">
        <p14:creationId xmlns:p14="http://schemas.microsoft.com/office/powerpoint/2010/main" val="31021656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2FECB3C3-FE2B-9433-B305-7695B3A9134D}"/>
              </a:ext>
            </a:extLst>
          </p:cNvPr>
          <p:cNvSpPr>
            <a:spLocks noGrp="1"/>
          </p:cNvSpPr>
          <p:nvPr>
            <p:ph type="ctrTitle"/>
          </p:nvPr>
        </p:nvSpPr>
        <p:spPr>
          <a:xfrm>
            <a:off x="459242" y="404664"/>
            <a:ext cx="4006871" cy="1031962"/>
          </a:xfrm>
        </p:spPr>
        <p:txBody>
          <a:bodyPr>
            <a:normAutofit/>
          </a:bodyPr>
          <a:lstStyle/>
          <a:p>
            <a:r>
              <a:rPr lang="en-IN" sz="4800" dirty="0" err="1"/>
              <a:t>Css</a:t>
            </a:r>
            <a:r>
              <a:rPr lang="en-IN" sz="4800" dirty="0"/>
              <a:t> box model</a:t>
            </a:r>
          </a:p>
        </p:txBody>
      </p:sp>
      <p:pic>
        <p:nvPicPr>
          <p:cNvPr id="9" name="Picture 8">
            <a:extLst>
              <a:ext uri="{FF2B5EF4-FFF2-40B4-BE49-F238E27FC236}">
                <a16:creationId xmlns="" xmlns:a16="http://schemas.microsoft.com/office/drawing/2014/main" id="{AE3874F5-EDD7-5EFF-8BEF-238B71376E8C}"/>
              </a:ext>
            </a:extLst>
          </p:cNvPr>
          <p:cNvPicPr>
            <a:picLocks noChangeAspect="1"/>
          </p:cNvPicPr>
          <p:nvPr/>
        </p:nvPicPr>
        <p:blipFill>
          <a:blip r:embed="rId2">
            <a:extLst>
              <a:ext uri="{837473B0-CC2E-450A-ABE3-18F120FF3D39}">
                <a1611:picAttrSrcUrl xmlns="" xmlns:a1611="http://schemas.microsoft.com/office/drawing/2016/11/main" r:id="rId3"/>
              </a:ext>
            </a:extLst>
          </a:blip>
          <a:stretch>
            <a:fillRect/>
          </a:stretch>
        </p:blipFill>
        <p:spPr>
          <a:xfrm>
            <a:off x="1497150" y="1717761"/>
            <a:ext cx="5937926" cy="4453444"/>
          </a:xfrm>
          <a:prstGeom prst="rect">
            <a:avLst/>
          </a:prstGeom>
        </p:spPr>
      </p:pic>
    </p:spTree>
    <p:extLst>
      <p:ext uri="{BB962C8B-B14F-4D97-AF65-F5344CB8AC3E}">
        <p14:creationId xmlns:p14="http://schemas.microsoft.com/office/powerpoint/2010/main" val="42468017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Box 9">
            <a:extLst>
              <a:ext uri="{FF2B5EF4-FFF2-40B4-BE49-F238E27FC236}">
                <a16:creationId xmlns="" xmlns:a16="http://schemas.microsoft.com/office/drawing/2014/main" id="{5AE6B402-FAEA-E1CE-DBB6-020278EF2815}"/>
              </a:ext>
            </a:extLst>
          </p:cNvPr>
          <p:cNvSpPr txBox="1"/>
          <p:nvPr/>
        </p:nvSpPr>
        <p:spPr>
          <a:xfrm>
            <a:off x="251520" y="260648"/>
            <a:ext cx="8712968" cy="4093428"/>
          </a:xfrm>
          <a:prstGeom prst="rect">
            <a:avLst/>
          </a:prstGeom>
          <a:noFill/>
        </p:spPr>
        <p:txBody>
          <a:bodyPr wrap="square" rtlCol="0">
            <a:spAutoFit/>
          </a:bodyPr>
          <a:lstStyle/>
          <a:p>
            <a:pPr algn="l">
              <a:buFont typeface="Arial" panose="020B0604020202020204" pitchFamily="34" charset="0"/>
              <a:buChar char="•"/>
            </a:pPr>
            <a:r>
              <a:rPr lang="en-US" sz="2000" b="1" i="0" dirty="0">
                <a:solidFill>
                  <a:srgbClr val="000000"/>
                </a:solidFill>
                <a:effectLst/>
                <a:latin typeface="Verdana" panose="020B0604030504040204" pitchFamily="34" charset="0"/>
              </a:rPr>
              <a:t>Content</a:t>
            </a:r>
            <a:r>
              <a:rPr lang="en-US" sz="2000" i="0" dirty="0">
                <a:solidFill>
                  <a:srgbClr val="000000"/>
                </a:solidFill>
                <a:effectLst/>
                <a:latin typeface="Verdana" panose="020B0604030504040204" pitchFamily="34" charset="0"/>
              </a:rPr>
              <a:t> - The content of the box, where text and images appear</a:t>
            </a:r>
          </a:p>
          <a:p>
            <a:pPr algn="l">
              <a:buFont typeface="Arial" panose="020B0604020202020204" pitchFamily="34" charset="0"/>
              <a:buChar char="•"/>
            </a:pPr>
            <a:endParaRPr lang="en-US" sz="2000" i="0" dirty="0">
              <a:solidFill>
                <a:srgbClr val="000000"/>
              </a:solidFill>
              <a:effectLst/>
              <a:latin typeface="Verdana" panose="020B0604030504040204" pitchFamily="34" charset="0"/>
            </a:endParaRPr>
          </a:p>
          <a:p>
            <a:pPr algn="l">
              <a:buFont typeface="Arial" panose="020B0604020202020204" pitchFamily="34" charset="0"/>
              <a:buChar char="•"/>
            </a:pPr>
            <a:r>
              <a:rPr lang="en-US" sz="2000" b="1" i="0" dirty="0">
                <a:solidFill>
                  <a:srgbClr val="000000"/>
                </a:solidFill>
                <a:effectLst/>
                <a:latin typeface="Verdana" panose="020B0604030504040204" pitchFamily="34" charset="0"/>
              </a:rPr>
              <a:t>Padding</a:t>
            </a:r>
            <a:r>
              <a:rPr lang="en-US" sz="2000" i="0" dirty="0">
                <a:solidFill>
                  <a:srgbClr val="000000"/>
                </a:solidFill>
                <a:effectLst/>
                <a:latin typeface="Verdana" panose="020B0604030504040204" pitchFamily="34" charset="0"/>
              </a:rPr>
              <a:t> - Clears an area around the content. The padding is transparent</a:t>
            </a:r>
          </a:p>
          <a:p>
            <a:pPr algn="l">
              <a:buFont typeface="Arial" panose="020B0604020202020204" pitchFamily="34" charset="0"/>
              <a:buChar char="•"/>
            </a:pPr>
            <a:endParaRPr lang="en-US" sz="2000" i="0" dirty="0">
              <a:solidFill>
                <a:srgbClr val="000000"/>
              </a:solidFill>
              <a:effectLst/>
              <a:latin typeface="Verdana" panose="020B0604030504040204" pitchFamily="34" charset="0"/>
            </a:endParaRPr>
          </a:p>
          <a:p>
            <a:pPr algn="l">
              <a:buFont typeface="Arial" panose="020B0604020202020204" pitchFamily="34" charset="0"/>
              <a:buChar char="•"/>
            </a:pPr>
            <a:r>
              <a:rPr lang="en-US" sz="2000" b="1" i="0" dirty="0">
                <a:solidFill>
                  <a:srgbClr val="000000"/>
                </a:solidFill>
                <a:effectLst/>
                <a:latin typeface="Verdana" panose="020B0604030504040204" pitchFamily="34" charset="0"/>
              </a:rPr>
              <a:t>Border</a:t>
            </a:r>
            <a:r>
              <a:rPr lang="en-US" sz="2000" i="0" dirty="0">
                <a:solidFill>
                  <a:srgbClr val="000000"/>
                </a:solidFill>
                <a:effectLst/>
                <a:latin typeface="Verdana" panose="020B0604030504040204" pitchFamily="34" charset="0"/>
              </a:rPr>
              <a:t> - A border that goes around the padding and content</a:t>
            </a:r>
          </a:p>
          <a:p>
            <a:pPr algn="l">
              <a:buFont typeface="Arial" panose="020B0604020202020204" pitchFamily="34" charset="0"/>
              <a:buChar char="•"/>
            </a:pPr>
            <a:endParaRPr lang="en-US" sz="2000" i="0" dirty="0">
              <a:solidFill>
                <a:srgbClr val="000000"/>
              </a:solidFill>
              <a:effectLst/>
              <a:latin typeface="Verdana" panose="020B0604030504040204" pitchFamily="34" charset="0"/>
            </a:endParaRPr>
          </a:p>
          <a:p>
            <a:pPr algn="l">
              <a:buFont typeface="Arial" panose="020B0604020202020204" pitchFamily="34" charset="0"/>
              <a:buChar char="•"/>
            </a:pPr>
            <a:r>
              <a:rPr lang="en-US" sz="2000" b="1" i="0" dirty="0">
                <a:solidFill>
                  <a:srgbClr val="000000"/>
                </a:solidFill>
                <a:effectLst/>
                <a:latin typeface="Verdana" panose="020B0604030504040204" pitchFamily="34" charset="0"/>
              </a:rPr>
              <a:t>Margin</a:t>
            </a:r>
            <a:r>
              <a:rPr lang="en-US" sz="2000" i="0" dirty="0">
                <a:solidFill>
                  <a:srgbClr val="000000"/>
                </a:solidFill>
                <a:effectLst/>
                <a:latin typeface="Verdana" panose="020B0604030504040204" pitchFamily="34" charset="0"/>
              </a:rPr>
              <a:t> - Clears an area outside the border. The margin is transparent</a:t>
            </a:r>
          </a:p>
          <a:p>
            <a:pPr algn="l"/>
            <a:endParaRPr lang="en-US" sz="2000" i="0" dirty="0">
              <a:solidFill>
                <a:srgbClr val="000000"/>
              </a:solidFill>
              <a:effectLst/>
              <a:latin typeface="Verdana" panose="020B0604030504040204" pitchFamily="34" charset="0"/>
            </a:endParaRPr>
          </a:p>
          <a:p>
            <a:pPr algn="l"/>
            <a:r>
              <a:rPr lang="en-US" sz="2000" i="0" dirty="0">
                <a:solidFill>
                  <a:srgbClr val="000000"/>
                </a:solidFill>
                <a:effectLst/>
                <a:latin typeface="Verdana" panose="020B0604030504040204" pitchFamily="34" charset="0"/>
              </a:rPr>
              <a:t>The box model allows us to add a border around elements, and to define space between elements.</a:t>
            </a:r>
          </a:p>
          <a:p>
            <a:endParaRPr lang="en-IN" sz="2000" dirty="0"/>
          </a:p>
        </p:txBody>
      </p:sp>
      <p:pic>
        <p:nvPicPr>
          <p:cNvPr id="3" name="Picture 2">
            <a:extLst>
              <a:ext uri="{FF2B5EF4-FFF2-40B4-BE49-F238E27FC236}">
                <a16:creationId xmlns="" xmlns:a16="http://schemas.microsoft.com/office/drawing/2014/main" id="{002F2F91-A896-FE3B-44D6-BAACDA9941B0}"/>
              </a:ext>
            </a:extLst>
          </p:cNvPr>
          <p:cNvPicPr>
            <a:picLocks noChangeAspect="1"/>
          </p:cNvPicPr>
          <p:nvPr/>
        </p:nvPicPr>
        <p:blipFill>
          <a:blip r:embed="rId2"/>
          <a:srcRect l="8940" t="41314" r="64470" b="33636"/>
          <a:stretch/>
        </p:blipFill>
        <p:spPr>
          <a:xfrm>
            <a:off x="1143927" y="4077072"/>
            <a:ext cx="7120020" cy="2515332"/>
          </a:xfrm>
          <a:prstGeom prst="rect">
            <a:avLst/>
          </a:prstGeom>
        </p:spPr>
      </p:pic>
    </p:spTree>
    <p:extLst>
      <p:ext uri="{BB962C8B-B14F-4D97-AF65-F5344CB8AC3E}">
        <p14:creationId xmlns:p14="http://schemas.microsoft.com/office/powerpoint/2010/main" val="33133321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A9874B-BCA9-8420-1595-EDD1865A099A}"/>
              </a:ext>
            </a:extLst>
          </p:cNvPr>
          <p:cNvSpPr>
            <a:spLocks noGrp="1"/>
          </p:cNvSpPr>
          <p:nvPr>
            <p:ph type="title"/>
          </p:nvPr>
        </p:nvSpPr>
        <p:spPr>
          <a:xfrm>
            <a:off x="179512" y="579163"/>
            <a:ext cx="4248472" cy="914400"/>
          </a:xfrm>
          <a:noFill/>
        </p:spPr>
        <p:txBody>
          <a:bodyPr anchor="t" anchorCtr="0"/>
          <a:lstStyle/>
          <a:p>
            <a:r>
              <a:rPr lang="en-US" dirty="0"/>
              <a:t>CSS-2 And CSS-3</a:t>
            </a:r>
          </a:p>
        </p:txBody>
      </p:sp>
      <p:sp>
        <p:nvSpPr>
          <p:cNvPr id="3" name="Content Placeholder 2">
            <a:extLst>
              <a:ext uri="{FF2B5EF4-FFF2-40B4-BE49-F238E27FC236}">
                <a16:creationId xmlns="" xmlns:a16="http://schemas.microsoft.com/office/drawing/2014/main" id="{68A5FD2B-E3E5-1C2B-0151-21F216B14A33}"/>
              </a:ext>
            </a:extLst>
          </p:cNvPr>
          <p:cNvSpPr>
            <a:spLocks noGrp="1"/>
          </p:cNvSpPr>
          <p:nvPr>
            <p:ph sz="half" idx="1"/>
          </p:nvPr>
        </p:nvSpPr>
        <p:spPr>
          <a:xfrm>
            <a:off x="96012" y="1846348"/>
            <a:ext cx="4457700" cy="4801341"/>
          </a:xfrm>
          <a:solidFill>
            <a:schemeClr val="accent1">
              <a:lumMod val="20000"/>
              <a:lumOff val="80000"/>
            </a:schemeClr>
          </a:solidFill>
        </p:spPr>
        <p:txBody>
          <a:bodyPr vert="horz" lIns="365760" tIns="365760" rIns="365760" bIns="365760" rtlCol="0" anchor="t">
            <a:noAutofit/>
          </a:bodyPr>
          <a:lstStyle/>
          <a:p>
            <a:pPr marL="0" indent="0">
              <a:buNone/>
            </a:pPr>
            <a:r>
              <a:rPr lang="en-US" sz="2000" b="1" dirty="0"/>
              <a:t>CSS-2</a:t>
            </a:r>
          </a:p>
          <a:p>
            <a:r>
              <a:rPr lang="en-IN" sz="2000" b="1" dirty="0"/>
              <a:t>Single, large specification.</a:t>
            </a:r>
          </a:p>
          <a:p>
            <a:r>
              <a:rPr lang="en-IN" sz="2000" b="1" dirty="0"/>
              <a:t>Simple selectors (class, ID, descendant).</a:t>
            </a:r>
          </a:p>
          <a:p>
            <a:r>
              <a:rPr lang="en-IN" sz="2000" b="1" dirty="0"/>
              <a:t>Basic box model.</a:t>
            </a:r>
          </a:p>
          <a:p>
            <a:r>
              <a:rPr lang="en-US" sz="2000" b="1" dirty="0"/>
              <a:t>Layouts via floats, tables, and positioning</a:t>
            </a:r>
          </a:p>
          <a:p>
            <a:r>
              <a:rPr lang="en-US" sz="2000" b="1" dirty="0"/>
              <a:t>No transitions or animations</a:t>
            </a:r>
          </a:p>
          <a:p>
            <a:r>
              <a:rPr lang="en-US" sz="2000" b="1" dirty="0"/>
              <a:t>Requires workarounds for responsive design.</a:t>
            </a:r>
          </a:p>
        </p:txBody>
      </p:sp>
      <p:sp>
        <p:nvSpPr>
          <p:cNvPr id="14" name="Content Placeholder 2">
            <a:extLst>
              <a:ext uri="{FF2B5EF4-FFF2-40B4-BE49-F238E27FC236}">
                <a16:creationId xmlns="" xmlns:a16="http://schemas.microsoft.com/office/drawing/2014/main" id="{C0A81EF7-5EA2-0BBF-8307-9A84805AB3C2}"/>
              </a:ext>
            </a:extLst>
          </p:cNvPr>
          <p:cNvSpPr txBox="1">
            <a:spLocks/>
          </p:cNvSpPr>
          <p:nvPr/>
        </p:nvSpPr>
        <p:spPr>
          <a:xfrm>
            <a:off x="4686299" y="612649"/>
            <a:ext cx="4352545" cy="5912695"/>
          </a:xfrm>
          <a:prstGeom prst="rect">
            <a:avLst/>
          </a:prstGeom>
          <a:solidFill>
            <a:schemeClr val="accent1">
              <a:lumMod val="20000"/>
              <a:lumOff val="80000"/>
            </a:schemeClr>
          </a:solidFill>
        </p:spPr>
        <p:txBody>
          <a:bodyPr vert="horz" lIns="365760" tIns="365760" rIns="365760" bIns="365760" rtlCol="0" anchor="t">
            <a:noAutofit/>
          </a:bodyPr>
          <a:lstStyle>
            <a:lvl1pPr marL="457200" indent="-457200" algn="l" defTabSz="914400" rtl="0" eaLnBrk="1" latinLnBrk="0" hangingPunct="1">
              <a:lnSpc>
                <a:spcPct val="90000"/>
              </a:lnSpc>
              <a:spcBef>
                <a:spcPts val="1400"/>
              </a:spcBef>
              <a:buClr>
                <a:schemeClr val="tx1"/>
              </a:buClr>
              <a:buSzPct val="80000"/>
              <a:buFont typeface="Courier New" panose="02070309020205020404" pitchFamily="49" charset="0"/>
              <a:buChar char="o"/>
              <a:defRPr sz="1800" b="0" i="0" kern="1200" cap="none" baseline="0">
                <a:solidFill>
                  <a:schemeClr val="tx1"/>
                </a:solidFill>
                <a:latin typeface="+mn-lt"/>
                <a:ea typeface="+mn-ea"/>
                <a:cs typeface="+mn-cs"/>
              </a:defRPr>
            </a:lvl1pPr>
            <a:lvl2pPr marL="914400" indent="-457200" algn="l" defTabSz="914400" rtl="0" eaLnBrk="1" latinLnBrk="0" hangingPunct="1">
              <a:lnSpc>
                <a:spcPct val="90000"/>
              </a:lnSpc>
              <a:spcBef>
                <a:spcPts val="500"/>
              </a:spcBef>
              <a:buClr>
                <a:schemeClr val="tx1"/>
              </a:buClr>
              <a:buSzPct val="80000"/>
              <a:buFont typeface="Courier New" panose="02070309020205020404" pitchFamily="49" charset="0"/>
              <a:buChar char="o"/>
              <a:defRPr sz="1600" b="0" i="0" kern="1200" baseline="0">
                <a:solidFill>
                  <a:schemeClr val="tx1"/>
                </a:solidFill>
                <a:latin typeface="+mn-lt"/>
                <a:ea typeface="+mn-ea"/>
                <a:cs typeface="+mn-cs"/>
              </a:defRPr>
            </a:lvl2pPr>
            <a:lvl3pPr marL="1371600" indent="-457200" algn="l" defTabSz="914400" rtl="0" eaLnBrk="1" latinLnBrk="0" hangingPunct="1">
              <a:lnSpc>
                <a:spcPct val="90000"/>
              </a:lnSpc>
              <a:spcBef>
                <a:spcPts val="500"/>
              </a:spcBef>
              <a:buClr>
                <a:schemeClr val="tx1"/>
              </a:buClr>
              <a:buSzPct val="80000"/>
              <a:buFont typeface="Courier New" panose="02070309020205020404" pitchFamily="49" charset="0"/>
              <a:buChar char="o"/>
              <a:defRPr sz="1400" b="0" i="0" kern="1200" baseline="0">
                <a:solidFill>
                  <a:schemeClr val="tx1"/>
                </a:solidFill>
                <a:latin typeface="+mn-lt"/>
                <a:ea typeface="+mn-ea"/>
                <a:cs typeface="+mn-cs"/>
              </a:defRPr>
            </a:lvl3pPr>
            <a:lvl4pPr marL="1828800" indent="-457200" algn="l" defTabSz="914400" rtl="0" eaLnBrk="1" latinLnBrk="0" hangingPunct="1">
              <a:lnSpc>
                <a:spcPct val="90000"/>
              </a:lnSpc>
              <a:spcBef>
                <a:spcPts val="500"/>
              </a:spcBef>
              <a:buClr>
                <a:schemeClr val="tx1"/>
              </a:buClr>
              <a:buSzPct val="80000"/>
              <a:buFont typeface="Courier New" panose="02070309020205020404" pitchFamily="49" charset="0"/>
              <a:buChar char="o"/>
              <a:defRPr sz="1200" b="0" i="0" kern="1200" baseline="0">
                <a:solidFill>
                  <a:schemeClr val="tx1"/>
                </a:solidFill>
                <a:latin typeface="+mn-lt"/>
                <a:ea typeface="+mn-ea"/>
                <a:cs typeface="+mn-cs"/>
              </a:defRPr>
            </a:lvl4pPr>
            <a:lvl5pPr marL="2286000" indent="-457200" algn="l" defTabSz="914400" rtl="0" eaLnBrk="1" latinLnBrk="0" hangingPunct="1">
              <a:lnSpc>
                <a:spcPct val="90000"/>
              </a:lnSpc>
              <a:spcBef>
                <a:spcPts val="500"/>
              </a:spcBef>
              <a:buClr>
                <a:schemeClr val="tx1"/>
              </a:buClr>
              <a:buSzPct val="80000"/>
              <a:buFont typeface="Courier New" panose="02070309020205020404" pitchFamily="49" charset="0"/>
              <a:buChar char="o"/>
              <a:defRPr sz="11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Courier New" panose="02070309020205020404" pitchFamily="49" charset="0"/>
              <a:buNone/>
            </a:pPr>
            <a:r>
              <a:rPr lang="en-US" sz="2000" b="1" dirty="0"/>
              <a:t>CSS-3</a:t>
            </a:r>
          </a:p>
          <a:p>
            <a:r>
              <a:rPr lang="en-US" sz="2000" b="1" dirty="0"/>
              <a:t>Divided into modules for easier updates</a:t>
            </a:r>
            <a:r>
              <a:rPr lang="en-IN" sz="2000" b="1" dirty="0"/>
              <a:t>.</a:t>
            </a:r>
          </a:p>
          <a:p>
            <a:r>
              <a:rPr lang="en-IN" sz="2000" b="1" dirty="0"/>
              <a:t>Advanced selectors (attribute, pseudo-class, universal).</a:t>
            </a:r>
          </a:p>
          <a:p>
            <a:r>
              <a:rPr lang="en-IN" sz="2000" b="1" dirty="0"/>
              <a:t>Enhanced with box-sizing for better control of element sizes.</a:t>
            </a:r>
          </a:p>
          <a:p>
            <a:r>
              <a:rPr lang="en-US" sz="2000" b="1" dirty="0"/>
              <a:t>Introduced Flexbox and Grid for advanced layouts</a:t>
            </a:r>
          </a:p>
          <a:p>
            <a:r>
              <a:rPr lang="en-US" sz="2000" b="1" dirty="0"/>
              <a:t>Smooth transitions and keyframe animations</a:t>
            </a:r>
          </a:p>
          <a:p>
            <a:r>
              <a:rPr lang="en-US" sz="2000" b="1" dirty="0"/>
              <a:t>Fully supports responsive design through media queries.</a:t>
            </a:r>
          </a:p>
        </p:txBody>
      </p:sp>
    </p:spTree>
    <p:extLst>
      <p:ext uri="{BB962C8B-B14F-4D97-AF65-F5344CB8AC3E}">
        <p14:creationId xmlns:p14="http://schemas.microsoft.com/office/powerpoint/2010/main" val="14542049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4C27C8-165C-5513-DB4B-9D840097C545}"/>
              </a:ext>
            </a:extLst>
          </p:cNvPr>
          <p:cNvSpPr>
            <a:spLocks noGrp="1"/>
          </p:cNvSpPr>
          <p:nvPr>
            <p:ph type="title"/>
          </p:nvPr>
        </p:nvSpPr>
        <p:spPr>
          <a:xfrm>
            <a:off x="487629" y="145505"/>
            <a:ext cx="6299662" cy="519084"/>
          </a:xfrm>
          <a:noFill/>
        </p:spPr>
        <p:txBody>
          <a:bodyPr anchor="t" anchorCtr="0">
            <a:normAutofit fontScale="90000"/>
          </a:bodyPr>
          <a:lstStyle/>
          <a:p>
            <a:r>
              <a:rPr lang="en-US" dirty="0"/>
              <a:t>Integration of </a:t>
            </a:r>
            <a:r>
              <a:rPr lang="en-US" dirty="0" err="1"/>
              <a:t>css</a:t>
            </a:r>
            <a:r>
              <a:rPr lang="en-US" dirty="0"/>
              <a:t> into html</a:t>
            </a:r>
          </a:p>
        </p:txBody>
      </p:sp>
      <p:sp>
        <p:nvSpPr>
          <p:cNvPr id="3" name="Content Placeholder 2">
            <a:extLst>
              <a:ext uri="{FF2B5EF4-FFF2-40B4-BE49-F238E27FC236}">
                <a16:creationId xmlns="" xmlns:a16="http://schemas.microsoft.com/office/drawing/2014/main" id="{FACE640F-7F5A-BDB7-205D-765FA80B6796}"/>
              </a:ext>
            </a:extLst>
          </p:cNvPr>
          <p:cNvSpPr>
            <a:spLocks noGrp="1"/>
          </p:cNvSpPr>
          <p:nvPr>
            <p:ph sz="half" idx="1"/>
          </p:nvPr>
        </p:nvSpPr>
        <p:spPr>
          <a:xfrm>
            <a:off x="796638" y="764704"/>
            <a:ext cx="8095842" cy="1216891"/>
          </a:xfrm>
          <a:noFill/>
        </p:spPr>
        <p:txBody>
          <a:bodyPr>
            <a:noAutofit/>
          </a:bodyPr>
          <a:lstStyle/>
          <a:p>
            <a:pPr marL="0" indent="0">
              <a:buNone/>
            </a:pPr>
            <a:r>
              <a:rPr lang="en-US" sz="2400" b="1" dirty="0">
                <a:latin typeface="Arial Rounded MT Bold" panose="020F0704030504030204" pitchFamily="34" charset="0"/>
              </a:rPr>
              <a:t>Inline CSS</a:t>
            </a:r>
            <a:r>
              <a:rPr lang="en-US" sz="2400" dirty="0">
                <a:latin typeface="Arial Rounded MT Bold" panose="020F0704030504030204" pitchFamily="34" charset="0"/>
              </a:rPr>
              <a:t> </a:t>
            </a:r>
          </a:p>
          <a:p>
            <a:r>
              <a:rPr lang="en-US" sz="2400" b="1" dirty="0"/>
              <a:t>Add CSS directly to individual HTML elements using the style attribute. </a:t>
            </a:r>
          </a:p>
          <a:p>
            <a:r>
              <a:rPr lang="en-US" sz="2400" b="1" dirty="0">
                <a:solidFill>
                  <a:srgbClr val="000000"/>
                </a:solidFill>
              </a:rPr>
              <a:t>U</a:t>
            </a:r>
            <a:r>
              <a:rPr lang="en-US" sz="2400" b="1" i="0" dirty="0">
                <a:solidFill>
                  <a:srgbClr val="000000"/>
                </a:solidFill>
                <a:effectLst/>
              </a:rPr>
              <a:t>sed to apply a unique style to a single HTML element.</a:t>
            </a:r>
            <a:endParaRPr lang="en-US" sz="2400" b="1" dirty="0"/>
          </a:p>
        </p:txBody>
      </p:sp>
      <p:pic>
        <p:nvPicPr>
          <p:cNvPr id="11" name="Picture 10">
            <a:extLst>
              <a:ext uri="{FF2B5EF4-FFF2-40B4-BE49-F238E27FC236}">
                <a16:creationId xmlns="" xmlns:a16="http://schemas.microsoft.com/office/drawing/2014/main" id="{014D945A-1103-16E5-66A6-A1FB94D4168E}"/>
              </a:ext>
            </a:extLst>
          </p:cNvPr>
          <p:cNvPicPr>
            <a:picLocks noChangeAspect="1"/>
          </p:cNvPicPr>
          <p:nvPr/>
        </p:nvPicPr>
        <p:blipFill>
          <a:blip r:embed="rId2"/>
          <a:srcRect l="8712" t="48047" r="58864" b="26363"/>
          <a:stretch/>
        </p:blipFill>
        <p:spPr>
          <a:xfrm>
            <a:off x="796637" y="2698048"/>
            <a:ext cx="7092755" cy="2099104"/>
          </a:xfrm>
          <a:prstGeom prst="rect">
            <a:avLst/>
          </a:prstGeom>
        </p:spPr>
      </p:pic>
      <p:sp>
        <p:nvSpPr>
          <p:cNvPr id="12" name="Content Placeholder 2">
            <a:extLst>
              <a:ext uri="{FF2B5EF4-FFF2-40B4-BE49-F238E27FC236}">
                <a16:creationId xmlns="" xmlns:a16="http://schemas.microsoft.com/office/drawing/2014/main" id="{20FC58EB-FAAF-DC4F-DC01-8D12CB11DF83}"/>
              </a:ext>
            </a:extLst>
          </p:cNvPr>
          <p:cNvSpPr txBox="1">
            <a:spLocks/>
          </p:cNvSpPr>
          <p:nvPr/>
        </p:nvSpPr>
        <p:spPr>
          <a:xfrm>
            <a:off x="651856" y="4915908"/>
            <a:ext cx="7047946" cy="1609436"/>
          </a:xfrm>
          <a:prstGeom prst="rect">
            <a:avLst/>
          </a:prstGeom>
          <a:noFill/>
        </p:spPr>
        <p:txBody>
          <a:bodyPr vert="horz" lIns="0" tIns="0" rIns="0" bIns="0" rtlCol="0">
            <a:noAutofit/>
          </a:bodyPr>
          <a:lstStyle>
            <a:lvl1pPr marL="457200" indent="-457200" algn="l" defTabSz="914400" rtl="0" eaLnBrk="1" latinLnBrk="0" hangingPunct="1">
              <a:lnSpc>
                <a:spcPct val="100000"/>
              </a:lnSpc>
              <a:spcBef>
                <a:spcPts val="1400"/>
              </a:spcBef>
              <a:buClr>
                <a:schemeClr val="accent1"/>
              </a:buClr>
              <a:buSzPct val="80000"/>
              <a:buFont typeface="Courier New" panose="02070309020205020404" pitchFamily="49" charset="0"/>
              <a:buChar char="o"/>
              <a:defRPr sz="1800" b="0" i="0" kern="1200" cap="none" baseline="0">
                <a:solidFill>
                  <a:schemeClr val="tx1"/>
                </a:solidFill>
                <a:latin typeface="+mn-lt"/>
                <a:ea typeface="+mn-ea"/>
                <a:cs typeface="+mn-cs"/>
              </a:defRPr>
            </a:lvl1pPr>
            <a:lvl2pPr marL="9144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600" b="0" i="0" kern="1200" baseline="0">
                <a:solidFill>
                  <a:schemeClr val="tx1"/>
                </a:solidFill>
                <a:latin typeface="+mn-lt"/>
                <a:ea typeface="+mn-ea"/>
                <a:cs typeface="+mn-cs"/>
              </a:defRPr>
            </a:lvl2pPr>
            <a:lvl3pPr marL="13716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400" b="0" i="0" kern="1200" baseline="0">
                <a:solidFill>
                  <a:schemeClr val="tx1"/>
                </a:solidFill>
                <a:latin typeface="+mn-lt"/>
                <a:ea typeface="+mn-ea"/>
                <a:cs typeface="+mn-cs"/>
              </a:defRPr>
            </a:lvl3pPr>
            <a:lvl4pPr marL="18288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200" b="0" i="0" kern="1200" baseline="0">
                <a:solidFill>
                  <a:schemeClr val="tx1"/>
                </a:solidFill>
                <a:latin typeface="+mn-lt"/>
                <a:ea typeface="+mn-ea"/>
                <a:cs typeface="+mn-cs"/>
              </a:defRPr>
            </a:lvl4pPr>
            <a:lvl5pPr marL="22860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1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Courier New" panose="02070309020205020404" pitchFamily="49" charset="0"/>
              <a:buNone/>
            </a:pPr>
            <a:r>
              <a:rPr lang="en-US" sz="2400" b="1" dirty="0">
                <a:latin typeface="Arial Rounded MT Bold" panose="020F0704030504030204" pitchFamily="34" charset="0"/>
              </a:rPr>
              <a:t>Internal CSS</a:t>
            </a:r>
            <a:r>
              <a:rPr lang="en-US" sz="2400" dirty="0">
                <a:latin typeface="Arial Rounded MT Bold" panose="020F0704030504030204" pitchFamily="34" charset="0"/>
              </a:rPr>
              <a:t> </a:t>
            </a:r>
          </a:p>
          <a:p>
            <a:r>
              <a:rPr lang="en-US" sz="2400" b="1" dirty="0"/>
              <a:t>You can include CSS within the &lt;style&gt; tag inside the&lt;head section of your HTML document.</a:t>
            </a:r>
          </a:p>
          <a:p>
            <a:r>
              <a:rPr lang="en-US" sz="2400" b="1" dirty="0"/>
              <a:t>Used to define a style for a single HTML page.</a:t>
            </a:r>
          </a:p>
          <a:p>
            <a:endParaRPr lang="en-US" sz="2400" b="1" dirty="0"/>
          </a:p>
        </p:txBody>
      </p:sp>
    </p:spTree>
    <p:extLst>
      <p:ext uri="{BB962C8B-B14F-4D97-AF65-F5344CB8AC3E}">
        <p14:creationId xmlns:p14="http://schemas.microsoft.com/office/powerpoint/2010/main" val="8228289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 xmlns:a16="http://schemas.microsoft.com/office/drawing/2014/main" id="{E7FC22E0-3AC5-42D4-D8A4-C1E13F92683D}"/>
              </a:ext>
            </a:extLst>
          </p:cNvPr>
          <p:cNvPicPr>
            <a:picLocks noChangeAspect="1"/>
          </p:cNvPicPr>
          <p:nvPr/>
        </p:nvPicPr>
        <p:blipFill>
          <a:blip r:embed="rId2"/>
          <a:srcRect l="8712" t="28653" r="58864" b="10741"/>
          <a:stretch/>
        </p:blipFill>
        <p:spPr>
          <a:xfrm>
            <a:off x="253747" y="432225"/>
            <a:ext cx="8771381" cy="6148167"/>
          </a:xfrm>
          <a:prstGeom prst="rect">
            <a:avLst/>
          </a:prstGeom>
        </p:spPr>
      </p:pic>
    </p:spTree>
    <p:extLst>
      <p:ext uri="{BB962C8B-B14F-4D97-AF65-F5344CB8AC3E}">
        <p14:creationId xmlns:p14="http://schemas.microsoft.com/office/powerpoint/2010/main" val="27876664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Content Placeholder 2">
            <a:extLst>
              <a:ext uri="{FF2B5EF4-FFF2-40B4-BE49-F238E27FC236}">
                <a16:creationId xmlns="" xmlns:a16="http://schemas.microsoft.com/office/drawing/2014/main" id="{20FC58EB-FAAF-DC4F-DC01-8D12CB11DF83}"/>
              </a:ext>
            </a:extLst>
          </p:cNvPr>
          <p:cNvSpPr txBox="1">
            <a:spLocks/>
          </p:cNvSpPr>
          <p:nvPr/>
        </p:nvSpPr>
        <p:spPr>
          <a:xfrm>
            <a:off x="530490" y="337404"/>
            <a:ext cx="7047946" cy="1609436"/>
          </a:xfrm>
          <a:prstGeom prst="rect">
            <a:avLst/>
          </a:prstGeom>
          <a:noFill/>
        </p:spPr>
        <p:txBody>
          <a:bodyPr vert="horz" lIns="0" tIns="0" rIns="0" bIns="0" rtlCol="0">
            <a:noAutofit/>
          </a:bodyPr>
          <a:lstStyle>
            <a:lvl1pPr marL="457200" indent="-457200" algn="l" defTabSz="914400" rtl="0" eaLnBrk="1" latinLnBrk="0" hangingPunct="1">
              <a:lnSpc>
                <a:spcPct val="100000"/>
              </a:lnSpc>
              <a:spcBef>
                <a:spcPts val="1400"/>
              </a:spcBef>
              <a:buClr>
                <a:schemeClr val="accent1"/>
              </a:buClr>
              <a:buSzPct val="80000"/>
              <a:buFont typeface="Courier New" panose="02070309020205020404" pitchFamily="49" charset="0"/>
              <a:buChar char="o"/>
              <a:defRPr sz="1800" b="0" i="0" kern="1200" cap="none" baseline="0">
                <a:solidFill>
                  <a:schemeClr val="tx1"/>
                </a:solidFill>
                <a:latin typeface="+mn-lt"/>
                <a:ea typeface="+mn-ea"/>
                <a:cs typeface="+mn-cs"/>
              </a:defRPr>
            </a:lvl1pPr>
            <a:lvl2pPr marL="9144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600" b="0" i="0" kern="1200" baseline="0">
                <a:solidFill>
                  <a:schemeClr val="tx1"/>
                </a:solidFill>
                <a:latin typeface="+mn-lt"/>
                <a:ea typeface="+mn-ea"/>
                <a:cs typeface="+mn-cs"/>
              </a:defRPr>
            </a:lvl2pPr>
            <a:lvl3pPr marL="13716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400" b="0" i="0" kern="1200" baseline="0">
                <a:solidFill>
                  <a:schemeClr val="tx1"/>
                </a:solidFill>
                <a:latin typeface="+mn-lt"/>
                <a:ea typeface="+mn-ea"/>
                <a:cs typeface="+mn-cs"/>
              </a:defRPr>
            </a:lvl3pPr>
            <a:lvl4pPr marL="18288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200" b="0" i="0" kern="1200" baseline="0">
                <a:solidFill>
                  <a:schemeClr val="tx1"/>
                </a:solidFill>
                <a:latin typeface="+mn-lt"/>
                <a:ea typeface="+mn-ea"/>
                <a:cs typeface="+mn-cs"/>
              </a:defRPr>
            </a:lvl4pPr>
            <a:lvl5pPr marL="22860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1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Courier New" panose="02070309020205020404" pitchFamily="49" charset="0"/>
              <a:buNone/>
            </a:pPr>
            <a:r>
              <a:rPr lang="en-US" sz="2000" b="1" dirty="0">
                <a:latin typeface="Arial Rounded MT Bold" panose="020F0704030504030204" pitchFamily="34" charset="0"/>
              </a:rPr>
              <a:t>External CSS</a:t>
            </a:r>
            <a:r>
              <a:rPr lang="en-US" dirty="0">
                <a:latin typeface="Arial Rounded MT Bold" panose="020F0704030504030204" pitchFamily="34" charset="0"/>
              </a:rPr>
              <a:t> </a:t>
            </a:r>
          </a:p>
          <a:p>
            <a:r>
              <a:rPr lang="en-US" sz="2000" b="1" dirty="0"/>
              <a:t>Most common method where CSS is written in a separate .</a:t>
            </a:r>
            <a:r>
              <a:rPr lang="en-US" sz="2000" b="1" dirty="0" err="1"/>
              <a:t>css</a:t>
            </a:r>
            <a:r>
              <a:rPr lang="en-US" sz="2000" b="1" dirty="0"/>
              <a:t> file and linked to the HTML document using the &lt;link&gt; tag in &lt;head&gt; section.</a:t>
            </a:r>
          </a:p>
          <a:p>
            <a:r>
              <a:rPr lang="en-US" sz="2000" b="1" dirty="0"/>
              <a:t>Used to define the style for many HTML pages.</a:t>
            </a:r>
          </a:p>
          <a:p>
            <a:endParaRPr lang="en-US" b="1" dirty="0"/>
          </a:p>
        </p:txBody>
      </p:sp>
      <p:pic>
        <p:nvPicPr>
          <p:cNvPr id="3" name="Picture 2">
            <a:extLst>
              <a:ext uri="{FF2B5EF4-FFF2-40B4-BE49-F238E27FC236}">
                <a16:creationId xmlns="" xmlns:a16="http://schemas.microsoft.com/office/drawing/2014/main" id="{329BD452-F5A4-8465-0748-051BC3E4A5D7}"/>
              </a:ext>
            </a:extLst>
          </p:cNvPr>
          <p:cNvPicPr>
            <a:picLocks noChangeAspect="1"/>
          </p:cNvPicPr>
          <p:nvPr/>
        </p:nvPicPr>
        <p:blipFill>
          <a:blip r:embed="rId2"/>
          <a:srcRect l="8484" t="31616" r="58713" b="18552"/>
          <a:stretch/>
        </p:blipFill>
        <p:spPr>
          <a:xfrm>
            <a:off x="349758" y="1946841"/>
            <a:ext cx="8457701" cy="4818089"/>
          </a:xfrm>
          <a:prstGeom prst="rect">
            <a:avLst/>
          </a:prstGeom>
        </p:spPr>
      </p:pic>
    </p:spTree>
    <p:extLst>
      <p:ext uri="{BB962C8B-B14F-4D97-AF65-F5344CB8AC3E}">
        <p14:creationId xmlns:p14="http://schemas.microsoft.com/office/powerpoint/2010/main" val="40482676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5A021997-71CF-F5F9-EF3A-ED22D0592628}"/>
              </a:ext>
            </a:extLst>
          </p:cNvPr>
          <p:cNvPicPr>
            <a:picLocks noChangeAspect="1"/>
          </p:cNvPicPr>
          <p:nvPr/>
        </p:nvPicPr>
        <p:blipFill>
          <a:blip r:embed="rId2"/>
          <a:srcRect l="8636" t="50000" r="58788" b="12626"/>
          <a:stretch/>
        </p:blipFill>
        <p:spPr>
          <a:xfrm>
            <a:off x="107233" y="1512670"/>
            <a:ext cx="8959044" cy="4321202"/>
          </a:xfrm>
          <a:prstGeom prst="rect">
            <a:avLst/>
          </a:prstGeom>
        </p:spPr>
      </p:pic>
    </p:spTree>
    <p:extLst>
      <p:ext uri="{BB962C8B-B14F-4D97-AF65-F5344CB8AC3E}">
        <p14:creationId xmlns:p14="http://schemas.microsoft.com/office/powerpoint/2010/main" val="18568030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Content Placeholder 2">
            <a:extLst>
              <a:ext uri="{FF2B5EF4-FFF2-40B4-BE49-F238E27FC236}">
                <a16:creationId xmlns="" xmlns:a16="http://schemas.microsoft.com/office/drawing/2014/main" id="{20FC58EB-FAAF-DC4F-DC01-8D12CB11DF83}"/>
              </a:ext>
            </a:extLst>
          </p:cNvPr>
          <p:cNvSpPr txBox="1">
            <a:spLocks/>
          </p:cNvSpPr>
          <p:nvPr/>
        </p:nvSpPr>
        <p:spPr>
          <a:xfrm>
            <a:off x="698199" y="433216"/>
            <a:ext cx="7047946" cy="4795984"/>
          </a:xfrm>
          <a:prstGeom prst="rect">
            <a:avLst/>
          </a:prstGeom>
          <a:noFill/>
        </p:spPr>
        <p:txBody>
          <a:bodyPr vert="horz" lIns="0" tIns="0" rIns="0" bIns="0" rtlCol="0">
            <a:noAutofit/>
          </a:bodyPr>
          <a:lstStyle>
            <a:lvl1pPr marL="457200" indent="-457200" algn="l" defTabSz="914400" rtl="0" eaLnBrk="1" latinLnBrk="0" hangingPunct="1">
              <a:lnSpc>
                <a:spcPct val="100000"/>
              </a:lnSpc>
              <a:spcBef>
                <a:spcPts val="1400"/>
              </a:spcBef>
              <a:buClr>
                <a:schemeClr val="accent1"/>
              </a:buClr>
              <a:buSzPct val="80000"/>
              <a:buFont typeface="Courier New" panose="02070309020205020404" pitchFamily="49" charset="0"/>
              <a:buChar char="o"/>
              <a:defRPr sz="1800" b="0" i="0" kern="1200" cap="none" baseline="0">
                <a:solidFill>
                  <a:schemeClr val="tx1"/>
                </a:solidFill>
                <a:latin typeface="+mn-lt"/>
                <a:ea typeface="+mn-ea"/>
                <a:cs typeface="+mn-cs"/>
              </a:defRPr>
            </a:lvl1pPr>
            <a:lvl2pPr marL="9144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600" b="0" i="0" kern="1200" baseline="0">
                <a:solidFill>
                  <a:schemeClr val="tx1"/>
                </a:solidFill>
                <a:latin typeface="+mn-lt"/>
                <a:ea typeface="+mn-ea"/>
                <a:cs typeface="+mn-cs"/>
              </a:defRPr>
            </a:lvl2pPr>
            <a:lvl3pPr marL="13716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400" b="0" i="0" kern="1200" baseline="0">
                <a:solidFill>
                  <a:schemeClr val="tx1"/>
                </a:solidFill>
                <a:latin typeface="+mn-lt"/>
                <a:ea typeface="+mn-ea"/>
                <a:cs typeface="+mn-cs"/>
              </a:defRPr>
            </a:lvl3pPr>
            <a:lvl4pPr marL="18288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200" b="0" i="0" kern="1200" baseline="0">
                <a:solidFill>
                  <a:schemeClr val="tx1"/>
                </a:solidFill>
                <a:latin typeface="+mn-lt"/>
                <a:ea typeface="+mn-ea"/>
                <a:cs typeface="+mn-cs"/>
              </a:defRPr>
            </a:lvl4pPr>
            <a:lvl5pPr marL="22860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1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Courier New" panose="02070309020205020404" pitchFamily="49" charset="0"/>
              <a:buNone/>
            </a:pPr>
            <a:r>
              <a:rPr lang="en-US" dirty="0">
                <a:latin typeface="Arial Rounded MT Bold" panose="020F0704030504030204" pitchFamily="34" charset="0"/>
              </a:rPr>
              <a:t> </a:t>
            </a:r>
          </a:p>
          <a:p>
            <a:r>
              <a:rPr lang="en-US" sz="2000" b="1" dirty="0"/>
              <a:t>Flexbox (flexible box) is ideal for laying out items in one direction at a time, either horizontally (row) or vertically (column).</a:t>
            </a:r>
          </a:p>
          <a:p>
            <a:r>
              <a:rPr lang="en-US" sz="2000" b="1" dirty="0"/>
              <a:t>Flexbox is well-suited for creating flexible components like navigation bars, simple grids, or aligning content within a container.</a:t>
            </a:r>
          </a:p>
          <a:p>
            <a:endParaRPr lang="en-US" sz="2000" b="1" dirty="0"/>
          </a:p>
          <a:p>
            <a:endParaRPr lang="en-US" sz="2000" b="1" dirty="0"/>
          </a:p>
          <a:p>
            <a:endParaRPr lang="en-US" sz="2000" b="1" dirty="0"/>
          </a:p>
          <a:p>
            <a:endParaRPr lang="en-US" b="1" dirty="0"/>
          </a:p>
        </p:txBody>
      </p:sp>
      <p:sp>
        <p:nvSpPr>
          <p:cNvPr id="2" name="TextBox 1">
            <a:extLst>
              <a:ext uri="{FF2B5EF4-FFF2-40B4-BE49-F238E27FC236}">
                <a16:creationId xmlns="" xmlns:a16="http://schemas.microsoft.com/office/drawing/2014/main" id="{5C61C600-E80E-221E-0668-61B60BD0C2B0}"/>
              </a:ext>
            </a:extLst>
          </p:cNvPr>
          <p:cNvSpPr txBox="1"/>
          <p:nvPr/>
        </p:nvSpPr>
        <p:spPr>
          <a:xfrm>
            <a:off x="519546" y="184727"/>
            <a:ext cx="2424545" cy="707886"/>
          </a:xfrm>
          <a:prstGeom prst="rect">
            <a:avLst/>
          </a:prstGeom>
          <a:noFill/>
        </p:spPr>
        <p:txBody>
          <a:bodyPr wrap="square" rtlCol="0">
            <a:spAutoFit/>
          </a:bodyPr>
          <a:lstStyle/>
          <a:p>
            <a:r>
              <a:rPr lang="en-IN" sz="4000" b="1" dirty="0"/>
              <a:t>FLEXBOX</a:t>
            </a:r>
          </a:p>
        </p:txBody>
      </p:sp>
      <p:pic>
        <p:nvPicPr>
          <p:cNvPr id="5" name="Picture 4">
            <a:extLst>
              <a:ext uri="{FF2B5EF4-FFF2-40B4-BE49-F238E27FC236}">
                <a16:creationId xmlns="" xmlns:a16="http://schemas.microsoft.com/office/drawing/2014/main" id="{1955C8FC-B97B-C4FF-5A9D-10C3836FD08F}"/>
              </a:ext>
            </a:extLst>
          </p:cNvPr>
          <p:cNvPicPr>
            <a:picLocks noChangeAspect="1"/>
          </p:cNvPicPr>
          <p:nvPr/>
        </p:nvPicPr>
        <p:blipFill>
          <a:blip r:embed="rId2"/>
          <a:srcRect l="8788" t="19495" r="58712" b="34983"/>
          <a:stretch/>
        </p:blipFill>
        <p:spPr>
          <a:xfrm>
            <a:off x="981994" y="3017521"/>
            <a:ext cx="7213317" cy="3788811"/>
          </a:xfrm>
          <a:prstGeom prst="rect">
            <a:avLst/>
          </a:prstGeom>
        </p:spPr>
      </p:pic>
    </p:spTree>
    <p:extLst>
      <p:ext uri="{BB962C8B-B14F-4D97-AF65-F5344CB8AC3E}">
        <p14:creationId xmlns:p14="http://schemas.microsoft.com/office/powerpoint/2010/main" val="30447236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Content Placeholder 2">
            <a:extLst>
              <a:ext uri="{FF2B5EF4-FFF2-40B4-BE49-F238E27FC236}">
                <a16:creationId xmlns="" xmlns:a16="http://schemas.microsoft.com/office/drawing/2014/main" id="{20FC58EB-FAAF-DC4F-DC01-8D12CB11DF83}"/>
              </a:ext>
            </a:extLst>
          </p:cNvPr>
          <p:cNvSpPr txBox="1">
            <a:spLocks/>
          </p:cNvSpPr>
          <p:nvPr/>
        </p:nvSpPr>
        <p:spPr>
          <a:xfrm>
            <a:off x="179512" y="649224"/>
            <a:ext cx="8784976" cy="5396715"/>
          </a:xfrm>
          <a:prstGeom prst="rect">
            <a:avLst/>
          </a:prstGeom>
          <a:noFill/>
        </p:spPr>
        <p:txBody>
          <a:bodyPr vert="horz" lIns="0" tIns="0" rIns="0" bIns="0" rtlCol="0">
            <a:noAutofit/>
          </a:bodyPr>
          <a:lstStyle>
            <a:lvl1pPr marL="457200" indent="-457200" algn="l" defTabSz="914400" rtl="0" eaLnBrk="1" latinLnBrk="0" hangingPunct="1">
              <a:lnSpc>
                <a:spcPct val="100000"/>
              </a:lnSpc>
              <a:spcBef>
                <a:spcPts val="1400"/>
              </a:spcBef>
              <a:buClr>
                <a:schemeClr val="accent1"/>
              </a:buClr>
              <a:buSzPct val="80000"/>
              <a:buFont typeface="Courier New" panose="02070309020205020404" pitchFamily="49" charset="0"/>
              <a:buChar char="o"/>
              <a:defRPr sz="1800" b="0" i="0" kern="1200" cap="none" baseline="0">
                <a:solidFill>
                  <a:schemeClr val="tx1"/>
                </a:solidFill>
                <a:latin typeface="+mn-lt"/>
                <a:ea typeface="+mn-ea"/>
                <a:cs typeface="+mn-cs"/>
              </a:defRPr>
            </a:lvl1pPr>
            <a:lvl2pPr marL="9144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600" b="0" i="0" kern="1200" baseline="0">
                <a:solidFill>
                  <a:schemeClr val="tx1"/>
                </a:solidFill>
                <a:latin typeface="+mn-lt"/>
                <a:ea typeface="+mn-ea"/>
                <a:cs typeface="+mn-cs"/>
              </a:defRPr>
            </a:lvl2pPr>
            <a:lvl3pPr marL="13716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400" b="0" i="0" kern="1200" baseline="0">
                <a:solidFill>
                  <a:schemeClr val="tx1"/>
                </a:solidFill>
                <a:latin typeface="+mn-lt"/>
                <a:ea typeface="+mn-ea"/>
                <a:cs typeface="+mn-cs"/>
              </a:defRPr>
            </a:lvl3pPr>
            <a:lvl4pPr marL="18288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200" b="0" i="0" kern="1200" baseline="0">
                <a:solidFill>
                  <a:schemeClr val="tx1"/>
                </a:solidFill>
                <a:latin typeface="+mn-lt"/>
                <a:ea typeface="+mn-ea"/>
                <a:cs typeface="+mn-cs"/>
              </a:defRPr>
            </a:lvl4pPr>
            <a:lvl5pPr marL="22860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1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Courier New" panose="02070309020205020404" pitchFamily="49" charset="0"/>
              <a:buNone/>
            </a:pPr>
            <a:r>
              <a:rPr lang="en-US" dirty="0">
                <a:latin typeface="Arial Rounded MT Bold" panose="020F0704030504030204" pitchFamily="34" charset="0"/>
              </a:rPr>
              <a:t> </a:t>
            </a:r>
          </a:p>
          <a:p>
            <a:r>
              <a:rPr lang="en-US" sz="2000" b="1" dirty="0"/>
              <a:t>Properties of flex</a:t>
            </a:r>
          </a:p>
          <a:p>
            <a:pPr lvl="1"/>
            <a:r>
              <a:rPr lang="en-US" sz="1800" b="1" dirty="0"/>
              <a:t>flex-direction</a:t>
            </a:r>
          </a:p>
          <a:p>
            <a:pPr lvl="2"/>
            <a:r>
              <a:rPr lang="en-US" sz="2000" b="1" dirty="0"/>
              <a:t>In which direction the container wants to stack the flex items. (row/ column)</a:t>
            </a:r>
          </a:p>
          <a:p>
            <a:pPr lvl="1"/>
            <a:endParaRPr lang="en-US" sz="1800" b="1" dirty="0"/>
          </a:p>
          <a:p>
            <a:pPr lvl="1"/>
            <a:r>
              <a:rPr lang="en-US" sz="1800" b="1" dirty="0"/>
              <a:t>Flex-wrap</a:t>
            </a:r>
          </a:p>
          <a:p>
            <a:pPr lvl="2"/>
            <a:r>
              <a:rPr lang="en-US" sz="2000" b="1" dirty="0"/>
              <a:t>The wrap value specifies that the flex items will wrap if necessary.</a:t>
            </a:r>
          </a:p>
          <a:p>
            <a:pPr lvl="2"/>
            <a:r>
              <a:rPr lang="en-US" sz="2000" b="1" dirty="0"/>
              <a:t>Wrap, </a:t>
            </a:r>
            <a:r>
              <a:rPr lang="en-US" sz="2000" b="1" dirty="0" err="1"/>
              <a:t>nowrap</a:t>
            </a:r>
            <a:r>
              <a:rPr lang="en-US" sz="2000" b="1" dirty="0"/>
              <a:t>, wrap-reverse</a:t>
            </a:r>
          </a:p>
          <a:p>
            <a:pPr marL="914400" lvl="2" indent="0">
              <a:buNone/>
            </a:pPr>
            <a:endParaRPr lang="en-US" sz="1600" b="1" dirty="0"/>
          </a:p>
          <a:p>
            <a:pPr lvl="1"/>
            <a:r>
              <a:rPr lang="en-US" sz="1800" b="1" dirty="0"/>
              <a:t>Justify-content</a:t>
            </a:r>
          </a:p>
          <a:p>
            <a:pPr lvl="2"/>
            <a:r>
              <a:rPr lang="en-US" sz="2000" b="1" dirty="0"/>
              <a:t>The justify-content property is used to align the flex items.</a:t>
            </a:r>
          </a:p>
          <a:p>
            <a:pPr lvl="2"/>
            <a:r>
              <a:rPr lang="en-US" sz="2000" b="1" dirty="0"/>
              <a:t>Center, flex-start, flex-end, space-around, space-between</a:t>
            </a:r>
          </a:p>
          <a:p>
            <a:pPr lvl="2"/>
            <a:endParaRPr lang="en-US" sz="1600" b="1" dirty="0"/>
          </a:p>
          <a:p>
            <a:pPr lvl="1"/>
            <a:r>
              <a:rPr lang="en-US" sz="1800" b="1" dirty="0"/>
              <a:t>Align Items</a:t>
            </a:r>
          </a:p>
          <a:p>
            <a:pPr lvl="2"/>
            <a:r>
              <a:rPr lang="en-US" sz="2000" b="1" dirty="0"/>
              <a:t>The align-items property is used to align flex </a:t>
            </a:r>
          </a:p>
          <a:p>
            <a:pPr lvl="2"/>
            <a:r>
              <a:rPr lang="en-US" sz="2000" b="1" dirty="0"/>
              <a:t>Flex-start, flex-end, stretch, </a:t>
            </a:r>
            <a:r>
              <a:rPr lang="en-US" sz="2000" b="1" dirty="0" smtClean="0"/>
              <a:t>baseline</a:t>
            </a:r>
            <a:endParaRPr lang="en-US" sz="2000" b="1" dirty="0"/>
          </a:p>
        </p:txBody>
      </p:sp>
      <p:sp>
        <p:nvSpPr>
          <p:cNvPr id="2" name="TextBox 1">
            <a:extLst>
              <a:ext uri="{FF2B5EF4-FFF2-40B4-BE49-F238E27FC236}">
                <a16:creationId xmlns="" xmlns:a16="http://schemas.microsoft.com/office/drawing/2014/main" id="{5C61C600-E80E-221E-0668-61B60BD0C2B0}"/>
              </a:ext>
            </a:extLst>
          </p:cNvPr>
          <p:cNvSpPr txBox="1"/>
          <p:nvPr/>
        </p:nvSpPr>
        <p:spPr>
          <a:xfrm>
            <a:off x="519546" y="184727"/>
            <a:ext cx="2424545" cy="707886"/>
          </a:xfrm>
          <a:prstGeom prst="rect">
            <a:avLst/>
          </a:prstGeom>
          <a:noFill/>
        </p:spPr>
        <p:txBody>
          <a:bodyPr wrap="square" rtlCol="0">
            <a:spAutoFit/>
          </a:bodyPr>
          <a:lstStyle/>
          <a:p>
            <a:r>
              <a:rPr lang="en-IN" sz="4000" b="1" dirty="0"/>
              <a:t>FLEXBOX</a:t>
            </a:r>
          </a:p>
        </p:txBody>
      </p:sp>
    </p:spTree>
    <p:extLst>
      <p:ext uri="{BB962C8B-B14F-4D97-AF65-F5344CB8AC3E}">
        <p14:creationId xmlns:p14="http://schemas.microsoft.com/office/powerpoint/2010/main" val="1245301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8080" y="117693"/>
            <a:ext cx="6540183" cy="6817251"/>
          </a:xfrm>
          <a:prstGeom prst="rect">
            <a:avLst/>
          </a:prstGeom>
        </p:spPr>
        <p:txBody>
          <a:bodyPr wrap="square">
            <a:spAutoFit/>
          </a:bodyPr>
          <a:lstStyle/>
          <a:p>
            <a:r>
              <a:rPr lang="en-IN" sz="3200" b="1" dirty="0" smtClean="0"/>
              <a:t>FLEXBOX</a:t>
            </a:r>
            <a:endParaRPr lang="en-IN" sz="3200" b="1" dirty="0"/>
          </a:p>
          <a:p>
            <a:pPr>
              <a:lnSpc>
                <a:spcPct val="250000"/>
              </a:lnSpc>
            </a:pPr>
            <a:r>
              <a:rPr lang="en-IN" u="sng" dirty="0"/>
              <a:t>HTML Code</a:t>
            </a:r>
            <a:r>
              <a:rPr lang="en-IN" u="sng" dirty="0" smtClean="0"/>
              <a:t>: </a:t>
            </a:r>
            <a:endParaRPr lang="en-IN" u="sng" dirty="0"/>
          </a:p>
          <a:p>
            <a:pPr>
              <a:lnSpc>
                <a:spcPct val="150000"/>
              </a:lnSpc>
            </a:pPr>
            <a:r>
              <a:rPr lang="en-IN" dirty="0" smtClean="0"/>
              <a:t>html</a:t>
            </a:r>
          </a:p>
          <a:p>
            <a:r>
              <a:rPr lang="en-IN" dirty="0" smtClean="0"/>
              <a:t>&lt;!DOCTYPE html&gt;</a:t>
            </a:r>
          </a:p>
          <a:p>
            <a:r>
              <a:rPr lang="en-IN" dirty="0" smtClean="0"/>
              <a:t>&lt;html </a:t>
            </a:r>
            <a:r>
              <a:rPr lang="en-IN" dirty="0" err="1" smtClean="0"/>
              <a:t>lang</a:t>
            </a:r>
            <a:r>
              <a:rPr lang="en-IN" dirty="0" smtClean="0"/>
              <a:t>="en"&gt;</a:t>
            </a:r>
          </a:p>
          <a:p>
            <a:r>
              <a:rPr lang="en-IN" dirty="0" smtClean="0"/>
              <a:t>&lt;head&gt;</a:t>
            </a:r>
          </a:p>
          <a:p>
            <a:r>
              <a:rPr lang="en-IN" dirty="0" smtClean="0"/>
              <a:t>&lt;meta charset="UTF-8"&gt;</a:t>
            </a:r>
          </a:p>
          <a:p>
            <a:r>
              <a:rPr lang="en-IN" dirty="0" smtClean="0"/>
              <a:t>&lt;meta name="viewport" content="width=device-width, initial-scale=1.0"&gt;</a:t>
            </a:r>
          </a:p>
          <a:p>
            <a:r>
              <a:rPr lang="en-IN" dirty="0" smtClean="0"/>
              <a:t>&lt;title&gt;</a:t>
            </a:r>
            <a:r>
              <a:rPr lang="en-IN" dirty="0" err="1" smtClean="0"/>
              <a:t>Flexbox</a:t>
            </a:r>
            <a:r>
              <a:rPr lang="en-IN" dirty="0" smtClean="0"/>
              <a:t> Example&lt;/title&gt;</a:t>
            </a:r>
          </a:p>
          <a:p>
            <a:r>
              <a:rPr lang="en-IN" dirty="0" smtClean="0"/>
              <a:t>&lt;link </a:t>
            </a:r>
            <a:r>
              <a:rPr lang="en-IN" dirty="0" err="1" smtClean="0"/>
              <a:t>rel</a:t>
            </a:r>
            <a:r>
              <a:rPr lang="en-IN" dirty="0" smtClean="0"/>
              <a:t>="</a:t>
            </a:r>
            <a:r>
              <a:rPr lang="en-IN" dirty="0" err="1" smtClean="0"/>
              <a:t>stylesheet</a:t>
            </a:r>
            <a:r>
              <a:rPr lang="en-IN" dirty="0" smtClean="0"/>
              <a:t>" </a:t>
            </a:r>
            <a:r>
              <a:rPr lang="en-IN" dirty="0" err="1" smtClean="0"/>
              <a:t>href</a:t>
            </a:r>
            <a:r>
              <a:rPr lang="en-IN" dirty="0" smtClean="0"/>
              <a:t>="styles.css"&gt;</a:t>
            </a:r>
          </a:p>
          <a:p>
            <a:r>
              <a:rPr lang="en-IN" dirty="0" smtClean="0"/>
              <a:t>&lt;/head&gt;</a:t>
            </a:r>
          </a:p>
          <a:p>
            <a:r>
              <a:rPr lang="en-IN" dirty="0" smtClean="0"/>
              <a:t>&lt;body&gt;</a:t>
            </a:r>
          </a:p>
          <a:p>
            <a:r>
              <a:rPr lang="en-IN" dirty="0" smtClean="0"/>
              <a:t>&lt;div class="container"&gt;</a:t>
            </a:r>
          </a:p>
          <a:p>
            <a:r>
              <a:rPr lang="en-IN" dirty="0" smtClean="0"/>
              <a:t>&lt;div class="box"&gt;Box_1&lt;/div&gt;</a:t>
            </a:r>
          </a:p>
          <a:p>
            <a:r>
              <a:rPr lang="en-IN" dirty="0" smtClean="0"/>
              <a:t>&lt;div class="box"&gt;Box_2&lt;/div&gt; &lt;div class="box"&gt;Box 3&lt;/div&gt;</a:t>
            </a:r>
          </a:p>
          <a:p>
            <a:r>
              <a:rPr lang="en-IN" dirty="0" smtClean="0"/>
              <a:t>&lt;div class="box"&gt;Box 4&lt;/div&gt;</a:t>
            </a:r>
          </a:p>
          <a:p>
            <a:r>
              <a:rPr lang="en-IN" dirty="0" smtClean="0"/>
              <a:t>&lt;div class="box"&gt;Box 5&lt;/div&gt;</a:t>
            </a:r>
          </a:p>
          <a:p>
            <a:r>
              <a:rPr lang="en-IN" dirty="0" smtClean="0"/>
              <a:t>&lt;/div&gt;</a:t>
            </a:r>
          </a:p>
          <a:p>
            <a:r>
              <a:rPr lang="en-IN" dirty="0" smtClean="0"/>
              <a:t>&lt;/body&gt;</a:t>
            </a:r>
          </a:p>
          <a:p>
            <a:r>
              <a:rPr lang="en-IN" dirty="0" smtClean="0"/>
              <a:t>&lt;/html&gt;</a:t>
            </a:r>
            <a:endParaRPr lang="en-IN" dirty="0"/>
          </a:p>
        </p:txBody>
      </p:sp>
    </p:spTree>
    <p:extLst>
      <p:ext uri="{BB962C8B-B14F-4D97-AF65-F5344CB8AC3E}">
        <p14:creationId xmlns:p14="http://schemas.microsoft.com/office/powerpoint/2010/main" val="26135044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8820472" cy="6186309"/>
          </a:xfrm>
          <a:prstGeom prst="rect">
            <a:avLst/>
          </a:prstGeom>
        </p:spPr>
        <p:txBody>
          <a:bodyPr wrap="square">
            <a:spAutoFit/>
          </a:bodyPr>
          <a:lstStyle/>
          <a:p>
            <a:r>
              <a:rPr lang="en-IN" u="sng" dirty="0" smtClean="0"/>
              <a:t>CSS Code</a:t>
            </a:r>
          </a:p>
          <a:p>
            <a:endParaRPr lang="en-IN" u="sng" dirty="0" smtClean="0"/>
          </a:p>
          <a:p>
            <a:r>
              <a:rPr lang="en-IN" dirty="0" smtClean="0"/>
              <a:t>/* Flex container */</a:t>
            </a:r>
          </a:p>
          <a:p>
            <a:r>
              <a:rPr lang="en-IN" dirty="0" smtClean="0"/>
              <a:t>.container {</a:t>
            </a:r>
          </a:p>
          <a:p>
            <a:r>
              <a:rPr lang="en-IN" dirty="0" smtClean="0"/>
              <a:t>display: flex;                                                /* Use </a:t>
            </a:r>
            <a:r>
              <a:rPr lang="en-IN" dirty="0" err="1" smtClean="0"/>
              <a:t>flexbox</a:t>
            </a:r>
            <a:r>
              <a:rPr lang="en-IN" dirty="0" smtClean="0"/>
              <a:t> layout */</a:t>
            </a:r>
          </a:p>
          <a:p>
            <a:r>
              <a:rPr lang="en-IN" dirty="0" smtClean="0"/>
              <a:t>flex-direction: row; 			/* Arrange items in a row (horizontal) */</a:t>
            </a:r>
          </a:p>
          <a:p>
            <a:r>
              <a:rPr lang="en-IN" dirty="0" smtClean="0"/>
              <a:t>flex-wrap: wrap;			/* Allow items to wrap onto multiple lines */</a:t>
            </a:r>
          </a:p>
          <a:p>
            <a:r>
              <a:rPr lang="en-IN" dirty="0" smtClean="0"/>
              <a:t>justify-content:  space-between;            /* Distribute items with space between them */</a:t>
            </a:r>
          </a:p>
          <a:p>
            <a:r>
              <a:rPr lang="en-IN" dirty="0" smtClean="0"/>
              <a:t>align-items:  </a:t>
            </a:r>
            <a:r>
              <a:rPr lang="en-IN" dirty="0" err="1" smtClean="0"/>
              <a:t>center</a:t>
            </a:r>
            <a:r>
              <a:rPr lang="en-IN" dirty="0" smtClean="0"/>
              <a:t>;		/* Align items along the cross-axis (vertical in this</a:t>
            </a:r>
          </a:p>
          <a:p>
            <a:r>
              <a:rPr lang="en-IN" dirty="0" smtClean="0"/>
              <a:t>height: 200px;			/* Set height of the container */</a:t>
            </a:r>
          </a:p>
          <a:p>
            <a:r>
              <a:rPr lang="en-IN" dirty="0" smtClean="0"/>
              <a:t>background-</a:t>
            </a:r>
            <a:r>
              <a:rPr lang="en-IN" dirty="0" err="1" smtClean="0"/>
              <a:t>color</a:t>
            </a:r>
            <a:r>
              <a:rPr lang="en-IN" dirty="0" smtClean="0"/>
              <a:t>: </a:t>
            </a:r>
            <a:r>
              <a:rPr lang="en-IN" dirty="0" err="1" smtClean="0"/>
              <a:t>lightgray</a:t>
            </a:r>
            <a:r>
              <a:rPr lang="en-IN" dirty="0" smtClean="0"/>
              <a:t>;</a:t>
            </a:r>
          </a:p>
          <a:p>
            <a:r>
              <a:rPr lang="en-IN" dirty="0" smtClean="0"/>
              <a:t>}</a:t>
            </a:r>
          </a:p>
          <a:p>
            <a:endParaRPr lang="en-IN" dirty="0" smtClean="0"/>
          </a:p>
          <a:p>
            <a:r>
              <a:rPr lang="en-IN" dirty="0" smtClean="0"/>
              <a:t>/* Flex items */</a:t>
            </a:r>
          </a:p>
          <a:p>
            <a:r>
              <a:rPr lang="en-IN" dirty="0" smtClean="0"/>
              <a:t>.box {</a:t>
            </a:r>
          </a:p>
          <a:p>
            <a:r>
              <a:rPr lang="en-IN" dirty="0"/>
              <a:t> </a:t>
            </a:r>
            <a:r>
              <a:rPr lang="en-IN" dirty="0" smtClean="0"/>
              <a:t>    background-</a:t>
            </a:r>
            <a:r>
              <a:rPr lang="en-IN" dirty="0" err="1" smtClean="0"/>
              <a:t>color</a:t>
            </a:r>
            <a:r>
              <a:rPr lang="en-IN" dirty="0" smtClean="0"/>
              <a:t>: </a:t>
            </a:r>
            <a:r>
              <a:rPr lang="en-IN" dirty="0" err="1" smtClean="0"/>
              <a:t>skyblue</a:t>
            </a:r>
            <a:r>
              <a:rPr lang="en-IN" dirty="0" smtClean="0"/>
              <a:t>;</a:t>
            </a:r>
          </a:p>
          <a:p>
            <a:r>
              <a:rPr lang="en-IN" dirty="0" smtClean="0"/>
              <a:t>     </a:t>
            </a:r>
            <a:r>
              <a:rPr lang="en-IN" dirty="0" err="1" smtClean="0"/>
              <a:t>color</a:t>
            </a:r>
            <a:r>
              <a:rPr lang="en-IN" dirty="0" smtClean="0"/>
              <a:t>: white;</a:t>
            </a:r>
          </a:p>
          <a:p>
            <a:r>
              <a:rPr lang="en-IN" dirty="0" smtClean="0"/>
              <a:t>     padding: 20px;</a:t>
            </a:r>
          </a:p>
          <a:p>
            <a:r>
              <a:rPr lang="en-IN" dirty="0" smtClean="0"/>
              <a:t>     margin: 10px;</a:t>
            </a:r>
          </a:p>
          <a:p>
            <a:r>
              <a:rPr lang="en-IN" dirty="0" smtClean="0"/>
              <a:t>     text-align: </a:t>
            </a:r>
            <a:r>
              <a:rPr lang="en-IN" dirty="0" err="1" smtClean="0"/>
              <a:t>center</a:t>
            </a:r>
            <a:r>
              <a:rPr lang="en-IN" dirty="0" smtClean="0"/>
              <a:t>;</a:t>
            </a:r>
          </a:p>
          <a:p>
            <a:r>
              <a:rPr lang="en-IN" dirty="0" smtClean="0"/>
              <a:t>     flex: 1 1 100px;			/* Allow each box to grow and shrink */</a:t>
            </a:r>
          </a:p>
          <a:p>
            <a:r>
              <a:rPr lang="en-IN" dirty="0" smtClean="0"/>
              <a:t>}</a:t>
            </a:r>
          </a:p>
        </p:txBody>
      </p:sp>
    </p:spTree>
    <p:extLst>
      <p:ext uri="{BB962C8B-B14F-4D97-AF65-F5344CB8AC3E}">
        <p14:creationId xmlns:p14="http://schemas.microsoft.com/office/powerpoint/2010/main" val="4374424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Content Placeholder 2">
            <a:extLst>
              <a:ext uri="{FF2B5EF4-FFF2-40B4-BE49-F238E27FC236}">
                <a16:creationId xmlns="" xmlns:a16="http://schemas.microsoft.com/office/drawing/2014/main" id="{20FC58EB-FAAF-DC4F-DC01-8D12CB11DF83}"/>
              </a:ext>
            </a:extLst>
          </p:cNvPr>
          <p:cNvSpPr txBox="1">
            <a:spLocks/>
          </p:cNvSpPr>
          <p:nvPr/>
        </p:nvSpPr>
        <p:spPr>
          <a:xfrm>
            <a:off x="698199" y="994847"/>
            <a:ext cx="7047946" cy="2616202"/>
          </a:xfrm>
          <a:prstGeom prst="rect">
            <a:avLst/>
          </a:prstGeom>
          <a:noFill/>
        </p:spPr>
        <p:txBody>
          <a:bodyPr vert="horz" lIns="0" tIns="0" rIns="0" bIns="0" rtlCol="0">
            <a:noAutofit/>
          </a:bodyPr>
          <a:lstStyle>
            <a:lvl1pPr marL="457200" indent="-457200" algn="l" defTabSz="914400" rtl="0" eaLnBrk="1" latinLnBrk="0" hangingPunct="1">
              <a:lnSpc>
                <a:spcPct val="100000"/>
              </a:lnSpc>
              <a:spcBef>
                <a:spcPts val="1400"/>
              </a:spcBef>
              <a:buClr>
                <a:schemeClr val="accent1"/>
              </a:buClr>
              <a:buSzPct val="80000"/>
              <a:buFont typeface="Courier New" panose="02070309020205020404" pitchFamily="49" charset="0"/>
              <a:buChar char="o"/>
              <a:defRPr sz="1800" b="0" i="0" kern="1200" cap="none" baseline="0">
                <a:solidFill>
                  <a:schemeClr val="tx1"/>
                </a:solidFill>
                <a:latin typeface="+mn-lt"/>
                <a:ea typeface="+mn-ea"/>
                <a:cs typeface="+mn-cs"/>
              </a:defRPr>
            </a:lvl1pPr>
            <a:lvl2pPr marL="9144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600" b="0" i="0" kern="1200" baseline="0">
                <a:solidFill>
                  <a:schemeClr val="tx1"/>
                </a:solidFill>
                <a:latin typeface="+mn-lt"/>
                <a:ea typeface="+mn-ea"/>
                <a:cs typeface="+mn-cs"/>
              </a:defRPr>
            </a:lvl2pPr>
            <a:lvl3pPr marL="13716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400" b="0" i="0" kern="1200" baseline="0">
                <a:solidFill>
                  <a:schemeClr val="tx1"/>
                </a:solidFill>
                <a:latin typeface="+mn-lt"/>
                <a:ea typeface="+mn-ea"/>
                <a:cs typeface="+mn-cs"/>
              </a:defRPr>
            </a:lvl3pPr>
            <a:lvl4pPr marL="18288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200" b="0" i="0" kern="1200" baseline="0">
                <a:solidFill>
                  <a:schemeClr val="tx1"/>
                </a:solidFill>
                <a:latin typeface="+mn-lt"/>
                <a:ea typeface="+mn-ea"/>
                <a:cs typeface="+mn-cs"/>
              </a:defRPr>
            </a:lvl4pPr>
            <a:lvl5pPr marL="22860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1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Courier New" panose="02070309020205020404" pitchFamily="49" charset="0"/>
              <a:buNone/>
            </a:pPr>
            <a:r>
              <a:rPr lang="en-US" dirty="0">
                <a:latin typeface="Arial Rounded MT Bold" panose="020F0704030504030204" pitchFamily="34" charset="0"/>
              </a:rPr>
              <a:t> </a:t>
            </a:r>
            <a:r>
              <a:rPr lang="en-US" sz="2000" b="1" dirty="0" smtClean="0"/>
              <a:t>CSS </a:t>
            </a:r>
            <a:r>
              <a:rPr lang="en-US" sz="2000" b="1" dirty="0"/>
              <a:t>Grid layout is designed for two-dimensional layouts, meaning it can control </a:t>
            </a:r>
            <a:r>
              <a:rPr lang="en-US" sz="2000" b="1" dirty="0" err="1"/>
              <a:t>bith</a:t>
            </a:r>
            <a:r>
              <a:rPr lang="en-US" sz="2000" b="1" dirty="0"/>
              <a:t> rows and columns at the same time.</a:t>
            </a:r>
          </a:p>
          <a:p>
            <a:r>
              <a:rPr lang="en-US" sz="2000" b="1" dirty="0"/>
              <a:t>Used for building complex layouts.</a:t>
            </a:r>
          </a:p>
          <a:p>
            <a:r>
              <a:rPr lang="en-US" sz="2000" b="1" dirty="0"/>
              <a:t>An HTML element becomes a grid container when its display property is set to grid </a:t>
            </a:r>
            <a:r>
              <a:rPr lang="en-US" sz="2000" b="1" dirty="0" smtClean="0"/>
              <a:t>or </a:t>
            </a:r>
            <a:r>
              <a:rPr lang="en-US" sz="2000" b="1" dirty="0"/>
              <a:t>inline-grid.</a:t>
            </a:r>
          </a:p>
          <a:p>
            <a:endParaRPr lang="en-US" sz="2000" b="1" dirty="0"/>
          </a:p>
          <a:p>
            <a:endParaRPr lang="en-US" sz="2000" b="1" dirty="0"/>
          </a:p>
          <a:p>
            <a:endParaRPr lang="en-US" sz="2000" b="1" dirty="0"/>
          </a:p>
          <a:p>
            <a:endParaRPr lang="en-US" sz="2000" b="1" dirty="0"/>
          </a:p>
          <a:p>
            <a:endParaRPr lang="en-US" sz="2000" b="1" dirty="0"/>
          </a:p>
          <a:p>
            <a:endParaRPr lang="en-US" b="1" dirty="0"/>
          </a:p>
        </p:txBody>
      </p:sp>
      <p:sp>
        <p:nvSpPr>
          <p:cNvPr id="2" name="TextBox 1">
            <a:extLst>
              <a:ext uri="{FF2B5EF4-FFF2-40B4-BE49-F238E27FC236}">
                <a16:creationId xmlns="" xmlns:a16="http://schemas.microsoft.com/office/drawing/2014/main" id="{5C61C600-E80E-221E-0668-61B60BD0C2B0}"/>
              </a:ext>
            </a:extLst>
          </p:cNvPr>
          <p:cNvSpPr txBox="1"/>
          <p:nvPr/>
        </p:nvSpPr>
        <p:spPr>
          <a:xfrm>
            <a:off x="519546" y="184727"/>
            <a:ext cx="2424545" cy="707886"/>
          </a:xfrm>
          <a:prstGeom prst="rect">
            <a:avLst/>
          </a:prstGeom>
          <a:noFill/>
        </p:spPr>
        <p:txBody>
          <a:bodyPr wrap="square" rtlCol="0">
            <a:spAutoFit/>
          </a:bodyPr>
          <a:lstStyle/>
          <a:p>
            <a:r>
              <a:rPr lang="en-IN" sz="4000" b="1" dirty="0"/>
              <a:t>GRID</a:t>
            </a:r>
          </a:p>
        </p:txBody>
      </p:sp>
      <p:pic>
        <p:nvPicPr>
          <p:cNvPr id="4" name="Picture 3">
            <a:extLst>
              <a:ext uri="{FF2B5EF4-FFF2-40B4-BE49-F238E27FC236}">
                <a16:creationId xmlns="" xmlns:a16="http://schemas.microsoft.com/office/drawing/2014/main" id="{065B25D9-FECA-ADF4-8267-4342A09C7384}"/>
              </a:ext>
            </a:extLst>
          </p:cNvPr>
          <p:cNvPicPr>
            <a:picLocks noChangeAspect="1"/>
          </p:cNvPicPr>
          <p:nvPr/>
        </p:nvPicPr>
        <p:blipFill>
          <a:blip r:embed="rId2"/>
          <a:srcRect l="8636" t="30538" r="59015" b="13704"/>
          <a:stretch/>
        </p:blipFill>
        <p:spPr>
          <a:xfrm>
            <a:off x="1730026" y="2926080"/>
            <a:ext cx="5924611" cy="3822192"/>
          </a:xfrm>
          <a:prstGeom prst="rect">
            <a:avLst/>
          </a:prstGeom>
        </p:spPr>
      </p:pic>
    </p:spTree>
    <p:extLst>
      <p:ext uri="{BB962C8B-B14F-4D97-AF65-F5344CB8AC3E}">
        <p14:creationId xmlns:p14="http://schemas.microsoft.com/office/powerpoint/2010/main" val="6446316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Content Placeholder 2">
            <a:extLst>
              <a:ext uri="{FF2B5EF4-FFF2-40B4-BE49-F238E27FC236}">
                <a16:creationId xmlns="" xmlns:a16="http://schemas.microsoft.com/office/drawing/2014/main" id="{20FC58EB-FAAF-DC4F-DC01-8D12CB11DF83}"/>
              </a:ext>
            </a:extLst>
          </p:cNvPr>
          <p:cNvSpPr txBox="1">
            <a:spLocks/>
          </p:cNvSpPr>
          <p:nvPr/>
        </p:nvSpPr>
        <p:spPr>
          <a:xfrm>
            <a:off x="698199" y="958271"/>
            <a:ext cx="7047946" cy="5618020"/>
          </a:xfrm>
          <a:prstGeom prst="rect">
            <a:avLst/>
          </a:prstGeom>
          <a:noFill/>
        </p:spPr>
        <p:txBody>
          <a:bodyPr vert="horz" lIns="0" tIns="0" rIns="0" bIns="0" rtlCol="0">
            <a:noAutofit/>
          </a:bodyPr>
          <a:lstStyle>
            <a:lvl1pPr marL="457200" indent="-457200" algn="l" defTabSz="914400" rtl="0" eaLnBrk="1" latinLnBrk="0" hangingPunct="1">
              <a:lnSpc>
                <a:spcPct val="100000"/>
              </a:lnSpc>
              <a:spcBef>
                <a:spcPts val="1400"/>
              </a:spcBef>
              <a:buClr>
                <a:schemeClr val="accent1"/>
              </a:buClr>
              <a:buSzPct val="80000"/>
              <a:buFont typeface="Courier New" panose="02070309020205020404" pitchFamily="49" charset="0"/>
              <a:buChar char="o"/>
              <a:defRPr sz="1800" b="0" i="0" kern="1200" cap="none" baseline="0">
                <a:solidFill>
                  <a:schemeClr val="tx1"/>
                </a:solidFill>
                <a:latin typeface="+mn-lt"/>
                <a:ea typeface="+mn-ea"/>
                <a:cs typeface="+mn-cs"/>
              </a:defRPr>
            </a:lvl1pPr>
            <a:lvl2pPr marL="9144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600" b="0" i="0" kern="1200" baseline="0">
                <a:solidFill>
                  <a:schemeClr val="tx1"/>
                </a:solidFill>
                <a:latin typeface="+mn-lt"/>
                <a:ea typeface="+mn-ea"/>
                <a:cs typeface="+mn-cs"/>
              </a:defRPr>
            </a:lvl2pPr>
            <a:lvl3pPr marL="13716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400" b="0" i="0" kern="1200" baseline="0">
                <a:solidFill>
                  <a:schemeClr val="tx1"/>
                </a:solidFill>
                <a:latin typeface="+mn-lt"/>
                <a:ea typeface="+mn-ea"/>
                <a:cs typeface="+mn-cs"/>
              </a:defRPr>
            </a:lvl3pPr>
            <a:lvl4pPr marL="18288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200" b="0" i="0" kern="1200" baseline="0">
                <a:solidFill>
                  <a:schemeClr val="tx1"/>
                </a:solidFill>
                <a:latin typeface="+mn-lt"/>
                <a:ea typeface="+mn-ea"/>
                <a:cs typeface="+mn-cs"/>
              </a:defRPr>
            </a:lvl4pPr>
            <a:lvl5pPr marL="2286000" indent="-457200" algn="l" defTabSz="914400" rtl="0" eaLnBrk="1" latinLnBrk="0" hangingPunct="1">
              <a:lnSpc>
                <a:spcPct val="100000"/>
              </a:lnSpc>
              <a:spcBef>
                <a:spcPts val="500"/>
              </a:spcBef>
              <a:buClr>
                <a:schemeClr val="accent1"/>
              </a:buClr>
              <a:buSzPct val="80000"/>
              <a:buFont typeface="Courier New" panose="02070309020205020404" pitchFamily="49" charset="0"/>
              <a:buChar char="o"/>
              <a:defRPr sz="11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Courier New" panose="02070309020205020404" pitchFamily="49" charset="0"/>
              <a:buNone/>
            </a:pPr>
            <a:r>
              <a:rPr lang="en-US" dirty="0">
                <a:latin typeface="Arial Rounded MT Bold" panose="020F0704030504030204" pitchFamily="34" charset="0"/>
              </a:rPr>
              <a:t> </a:t>
            </a:r>
          </a:p>
          <a:p>
            <a:r>
              <a:rPr lang="en-US" sz="2000" b="1" dirty="0"/>
              <a:t>Properties of grid</a:t>
            </a:r>
          </a:p>
          <a:p>
            <a:pPr lvl="1"/>
            <a:r>
              <a:rPr lang="en-US" sz="2000" b="1" dirty="0"/>
              <a:t>gap</a:t>
            </a:r>
          </a:p>
          <a:p>
            <a:pPr lvl="2"/>
            <a:r>
              <a:rPr lang="en-US" sz="2000" b="1" dirty="0"/>
              <a:t>Specifies the gap, column-gap: for gap between columns, row-gap: for gap between rows</a:t>
            </a:r>
          </a:p>
          <a:p>
            <a:pPr lvl="1"/>
            <a:endParaRPr lang="en-US" sz="1800" b="1" dirty="0"/>
          </a:p>
          <a:p>
            <a:pPr lvl="1"/>
            <a:r>
              <a:rPr lang="en-US" sz="1800" b="1" dirty="0"/>
              <a:t>Grid-template-columns</a:t>
            </a:r>
          </a:p>
          <a:p>
            <a:pPr lvl="2"/>
            <a:r>
              <a:rPr lang="en-US" sz="2000" b="1" dirty="0"/>
              <a:t>The grid-template-columns property defines the number of columns in your grid layout, and it can define the width of each column.</a:t>
            </a:r>
          </a:p>
          <a:p>
            <a:pPr marL="914400" lvl="2" indent="0">
              <a:buNone/>
            </a:pPr>
            <a:endParaRPr lang="en-US" sz="1600" b="1" dirty="0"/>
          </a:p>
          <a:p>
            <a:pPr lvl="1"/>
            <a:r>
              <a:rPr lang="en-US" sz="1800" b="1" dirty="0"/>
              <a:t>Grid-template-rows</a:t>
            </a:r>
          </a:p>
          <a:p>
            <a:pPr lvl="2"/>
            <a:r>
              <a:rPr lang="en-US" sz="2000" b="1" dirty="0"/>
              <a:t>Defines the height of each row.</a:t>
            </a:r>
          </a:p>
          <a:p>
            <a:pPr lvl="2"/>
            <a:endParaRPr lang="en-US" sz="1600" b="1" dirty="0"/>
          </a:p>
          <a:p>
            <a:pPr lvl="2"/>
            <a:endParaRPr lang="en-US" sz="1600" b="1" dirty="0"/>
          </a:p>
          <a:p>
            <a:pPr lvl="2"/>
            <a:endParaRPr lang="en-US" sz="1600" b="1" dirty="0"/>
          </a:p>
          <a:p>
            <a:pPr lvl="2"/>
            <a:endParaRPr lang="en-US" sz="1600" b="1" dirty="0"/>
          </a:p>
          <a:p>
            <a:pPr lvl="2"/>
            <a:endParaRPr lang="en-US" sz="1600" b="1" dirty="0"/>
          </a:p>
          <a:p>
            <a:pPr lvl="2"/>
            <a:endParaRPr lang="en-US" sz="1600" b="1" dirty="0"/>
          </a:p>
          <a:p>
            <a:pPr lvl="2"/>
            <a:endParaRPr lang="en-US" sz="1600" b="1" dirty="0"/>
          </a:p>
          <a:p>
            <a:pPr marL="914400" lvl="2" indent="0">
              <a:buNone/>
            </a:pPr>
            <a:r>
              <a:rPr lang="en-US" sz="1600" b="1" dirty="0"/>
              <a:t>	</a:t>
            </a:r>
          </a:p>
          <a:p>
            <a:pPr marL="914400" lvl="2" indent="0">
              <a:buNone/>
            </a:pPr>
            <a:endParaRPr lang="en-US" sz="1600" b="1" dirty="0"/>
          </a:p>
          <a:p>
            <a:pPr lvl="1"/>
            <a:endParaRPr lang="en-US" sz="1800" b="1" dirty="0"/>
          </a:p>
          <a:p>
            <a:endParaRPr lang="en-US" b="1" dirty="0"/>
          </a:p>
        </p:txBody>
      </p:sp>
      <p:sp>
        <p:nvSpPr>
          <p:cNvPr id="2" name="TextBox 1">
            <a:extLst>
              <a:ext uri="{FF2B5EF4-FFF2-40B4-BE49-F238E27FC236}">
                <a16:creationId xmlns="" xmlns:a16="http://schemas.microsoft.com/office/drawing/2014/main" id="{5C61C600-E80E-221E-0668-61B60BD0C2B0}"/>
              </a:ext>
            </a:extLst>
          </p:cNvPr>
          <p:cNvSpPr txBox="1"/>
          <p:nvPr/>
        </p:nvSpPr>
        <p:spPr>
          <a:xfrm>
            <a:off x="519546" y="184727"/>
            <a:ext cx="2424545" cy="707886"/>
          </a:xfrm>
          <a:prstGeom prst="rect">
            <a:avLst/>
          </a:prstGeom>
          <a:noFill/>
        </p:spPr>
        <p:txBody>
          <a:bodyPr wrap="square" rtlCol="0">
            <a:spAutoFit/>
          </a:bodyPr>
          <a:lstStyle/>
          <a:p>
            <a:r>
              <a:rPr lang="en-IN" sz="4000" b="1" dirty="0"/>
              <a:t>GRID</a:t>
            </a:r>
          </a:p>
        </p:txBody>
      </p:sp>
    </p:spTree>
    <p:extLst>
      <p:ext uri="{BB962C8B-B14F-4D97-AF65-F5344CB8AC3E}">
        <p14:creationId xmlns:p14="http://schemas.microsoft.com/office/powerpoint/2010/main" val="36535167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260648"/>
            <a:ext cx="8352928" cy="6401753"/>
          </a:xfrm>
          <a:prstGeom prst="rect">
            <a:avLst/>
          </a:prstGeom>
        </p:spPr>
        <p:txBody>
          <a:bodyPr wrap="square">
            <a:spAutoFit/>
          </a:bodyPr>
          <a:lstStyle/>
          <a:p>
            <a:r>
              <a:rPr lang="en-IN" sz="3200" b="1" dirty="0" smtClean="0"/>
              <a:t>GRID</a:t>
            </a:r>
          </a:p>
          <a:p>
            <a:r>
              <a:rPr lang="en-IN" u="sng" dirty="0" smtClean="0"/>
              <a:t>HTML Code:</a:t>
            </a:r>
          </a:p>
          <a:p>
            <a:endParaRPr lang="en-IN" u="sng" dirty="0" smtClean="0"/>
          </a:p>
          <a:p>
            <a:r>
              <a:rPr lang="en-IN" dirty="0" smtClean="0"/>
              <a:t>&lt;!DOCTYPE html&gt;</a:t>
            </a:r>
          </a:p>
          <a:p>
            <a:r>
              <a:rPr lang="en-IN" dirty="0" smtClean="0"/>
              <a:t>&lt;html </a:t>
            </a:r>
            <a:r>
              <a:rPr lang="en-IN" dirty="0" err="1" smtClean="0"/>
              <a:t>lang</a:t>
            </a:r>
            <a:r>
              <a:rPr lang="en-IN" dirty="0" smtClean="0"/>
              <a:t>="en"&gt;</a:t>
            </a:r>
          </a:p>
          <a:p>
            <a:r>
              <a:rPr lang="en-IN" dirty="0" smtClean="0"/>
              <a:t>&lt;head&gt;</a:t>
            </a:r>
          </a:p>
          <a:p>
            <a:r>
              <a:rPr lang="en-IN" dirty="0" smtClean="0"/>
              <a:t>     &lt;meta charset="UTF-8"&gt;</a:t>
            </a:r>
          </a:p>
          <a:p>
            <a:r>
              <a:rPr lang="en-IN" dirty="0" smtClean="0"/>
              <a:t>     &lt;meta name="viewport“ content="width=device-width, initial-scale=1.0"&gt;</a:t>
            </a:r>
          </a:p>
          <a:p>
            <a:r>
              <a:rPr lang="en-IN" dirty="0"/>
              <a:t> </a:t>
            </a:r>
            <a:r>
              <a:rPr lang="en-IN" dirty="0" smtClean="0"/>
              <a:t>   &lt;title&gt;Grid Layout Example&lt;/title&gt;</a:t>
            </a:r>
          </a:p>
          <a:p>
            <a:r>
              <a:rPr lang="en-IN" dirty="0" smtClean="0"/>
              <a:t>    &lt;link </a:t>
            </a:r>
            <a:r>
              <a:rPr lang="en-IN" dirty="0" err="1" smtClean="0"/>
              <a:t>rel</a:t>
            </a:r>
            <a:r>
              <a:rPr lang="en-IN" dirty="0" smtClean="0"/>
              <a:t>="</a:t>
            </a:r>
            <a:r>
              <a:rPr lang="en-IN" dirty="0" err="1" smtClean="0"/>
              <a:t>stylesheet</a:t>
            </a:r>
            <a:r>
              <a:rPr lang="en-IN" dirty="0" smtClean="0"/>
              <a:t>" </a:t>
            </a:r>
            <a:r>
              <a:rPr lang="en-IN" dirty="0" err="1" smtClean="0"/>
              <a:t>href</a:t>
            </a:r>
            <a:r>
              <a:rPr lang="en-IN" dirty="0" smtClean="0"/>
              <a:t>="styles.css"&gt;</a:t>
            </a:r>
          </a:p>
          <a:p>
            <a:r>
              <a:rPr lang="en-IN" dirty="0" smtClean="0"/>
              <a:t>&lt;/head&gt; </a:t>
            </a:r>
          </a:p>
          <a:p>
            <a:r>
              <a:rPr lang="en-IN" dirty="0" smtClean="0"/>
              <a:t>&lt;body&gt;</a:t>
            </a:r>
          </a:p>
          <a:p>
            <a:r>
              <a:rPr lang="en-IN" dirty="0" smtClean="0"/>
              <a:t>    &lt;div class="grid-container"&gt;</a:t>
            </a:r>
          </a:p>
          <a:p>
            <a:r>
              <a:rPr lang="en-IN" dirty="0" smtClean="0"/>
              <a:t>          &lt;div class="grid-item"&gt;Item 1&lt;/div&gt;</a:t>
            </a:r>
          </a:p>
          <a:p>
            <a:r>
              <a:rPr lang="en-IN" dirty="0" smtClean="0"/>
              <a:t>         &lt;div class="grid-item"&gt;Item 2&lt;/div&gt;</a:t>
            </a:r>
          </a:p>
          <a:p>
            <a:r>
              <a:rPr lang="en-IN" dirty="0" smtClean="0"/>
              <a:t>        &lt;div class="grid-item"&gt;Item 3&lt;/div&gt;  </a:t>
            </a:r>
          </a:p>
          <a:p>
            <a:r>
              <a:rPr lang="en-IN" dirty="0"/>
              <a:t> </a:t>
            </a:r>
            <a:r>
              <a:rPr lang="en-IN" dirty="0" smtClean="0"/>
              <a:t>       &lt;div class="grid-item"&gt;Item 4&lt;/div&gt; </a:t>
            </a:r>
          </a:p>
          <a:p>
            <a:r>
              <a:rPr lang="en-IN" dirty="0"/>
              <a:t> </a:t>
            </a:r>
            <a:r>
              <a:rPr lang="en-IN" dirty="0" smtClean="0"/>
              <a:t>       &lt;div class="grid-item"&gt;Item 5&lt;/div&gt; </a:t>
            </a:r>
          </a:p>
          <a:p>
            <a:r>
              <a:rPr lang="en-IN" dirty="0"/>
              <a:t> </a:t>
            </a:r>
            <a:r>
              <a:rPr lang="en-IN" dirty="0" smtClean="0"/>
              <a:t>       &lt;div class="grid-item"&gt;Item 6&lt;/div&gt;  </a:t>
            </a:r>
          </a:p>
          <a:p>
            <a:r>
              <a:rPr lang="en-IN" dirty="0"/>
              <a:t> </a:t>
            </a:r>
            <a:r>
              <a:rPr lang="en-IN" dirty="0" smtClean="0"/>
              <a:t>&lt;/div&gt;</a:t>
            </a:r>
          </a:p>
          <a:p>
            <a:r>
              <a:rPr lang="en-IN" dirty="0" smtClean="0"/>
              <a:t>&lt;/body&gt;</a:t>
            </a:r>
          </a:p>
          <a:p>
            <a:r>
              <a:rPr lang="en-IN" dirty="0" smtClean="0"/>
              <a:t>&lt;/html&gt;</a:t>
            </a:r>
          </a:p>
        </p:txBody>
      </p:sp>
    </p:spTree>
    <p:extLst>
      <p:ext uri="{BB962C8B-B14F-4D97-AF65-F5344CB8AC3E}">
        <p14:creationId xmlns:p14="http://schemas.microsoft.com/office/powerpoint/2010/main" val="15856714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8964488" cy="6186309"/>
          </a:xfrm>
          <a:prstGeom prst="rect">
            <a:avLst/>
          </a:prstGeom>
        </p:spPr>
        <p:txBody>
          <a:bodyPr wrap="square">
            <a:spAutoFit/>
          </a:bodyPr>
          <a:lstStyle/>
          <a:p>
            <a:r>
              <a:rPr lang="en-IN" u="sng" dirty="0" smtClean="0"/>
              <a:t>CSS Code</a:t>
            </a:r>
          </a:p>
          <a:p>
            <a:endParaRPr lang="en-IN" u="sng" dirty="0" smtClean="0"/>
          </a:p>
          <a:p>
            <a:r>
              <a:rPr lang="en-IN" dirty="0" smtClean="0"/>
              <a:t>/* Grid container */</a:t>
            </a:r>
          </a:p>
          <a:p>
            <a:r>
              <a:rPr lang="en-IN" dirty="0" smtClean="0"/>
              <a:t>.grid-container {</a:t>
            </a:r>
          </a:p>
          <a:p>
            <a:r>
              <a:rPr lang="en-IN" dirty="0" smtClean="0"/>
              <a:t>       display: grid;                                                       /* Use grid layout */</a:t>
            </a:r>
          </a:p>
          <a:p>
            <a:r>
              <a:rPr lang="en-IN" dirty="0" smtClean="0"/>
              <a:t>       grid-template-columns:  1fr 2fr 1fr; ;             /* Define 3 columns: 1 fraction, 2 fractions, </a:t>
            </a:r>
          </a:p>
          <a:p>
            <a:r>
              <a:rPr lang="en-IN" dirty="0" smtClean="0"/>
              <a:t>       grid-template-rows: 100px 200px	              /* Define 2 rows:  first row is 100px, second r</a:t>
            </a:r>
          </a:p>
          <a:p>
            <a:r>
              <a:rPr lang="en-IN" dirty="0" smtClean="0"/>
              <a:t>       grid-gap: 10px;	                                                 /* Set the gap between grid items */</a:t>
            </a:r>
          </a:p>
          <a:p>
            <a:r>
              <a:rPr lang="en-IN" dirty="0"/>
              <a:t> </a:t>
            </a:r>
            <a:r>
              <a:rPr lang="en-IN" dirty="0" smtClean="0"/>
              <a:t>      justify-items: </a:t>
            </a:r>
            <a:r>
              <a:rPr lang="en-IN" dirty="0" err="1" smtClean="0"/>
              <a:t>center</a:t>
            </a:r>
            <a:r>
              <a:rPr lang="en-IN" dirty="0" smtClean="0"/>
              <a:t>;                                       /* </a:t>
            </a:r>
            <a:r>
              <a:rPr lang="en-IN" dirty="0" err="1" smtClean="0"/>
              <a:t>Center</a:t>
            </a:r>
            <a:r>
              <a:rPr lang="en-IN" dirty="0" smtClean="0"/>
              <a:t> items horizontally */</a:t>
            </a:r>
          </a:p>
          <a:p>
            <a:r>
              <a:rPr lang="en-IN" dirty="0"/>
              <a:t> </a:t>
            </a:r>
            <a:r>
              <a:rPr lang="en-IN" dirty="0" smtClean="0"/>
              <a:t>      align-items: </a:t>
            </a:r>
            <a:r>
              <a:rPr lang="en-IN" dirty="0" err="1" smtClean="0"/>
              <a:t>center</a:t>
            </a:r>
            <a:r>
              <a:rPr lang="en-IN" dirty="0" smtClean="0"/>
              <a:t>;		             /* </a:t>
            </a:r>
            <a:r>
              <a:rPr lang="en-IN" dirty="0" err="1" smtClean="0"/>
              <a:t>Center</a:t>
            </a:r>
            <a:r>
              <a:rPr lang="en-IN" dirty="0" smtClean="0"/>
              <a:t> items vertically */</a:t>
            </a:r>
          </a:p>
          <a:p>
            <a:r>
              <a:rPr lang="en-IN" dirty="0"/>
              <a:t> </a:t>
            </a:r>
            <a:r>
              <a:rPr lang="en-IN" dirty="0" smtClean="0"/>
              <a:t>      background-</a:t>
            </a:r>
            <a:r>
              <a:rPr lang="en-IN" dirty="0" err="1" smtClean="0"/>
              <a:t>color</a:t>
            </a:r>
            <a:r>
              <a:rPr lang="en-IN" dirty="0" smtClean="0"/>
              <a:t>: </a:t>
            </a:r>
            <a:r>
              <a:rPr lang="en-IN" dirty="0" err="1" smtClean="0"/>
              <a:t>lightgray</a:t>
            </a:r>
            <a:r>
              <a:rPr lang="en-IN" dirty="0" smtClean="0"/>
              <a:t>;</a:t>
            </a:r>
          </a:p>
          <a:p>
            <a:r>
              <a:rPr lang="en-IN" dirty="0" smtClean="0"/>
              <a:t>       padding: 20px;</a:t>
            </a:r>
          </a:p>
          <a:p>
            <a:r>
              <a:rPr lang="en-IN" dirty="0" smtClean="0"/>
              <a:t>  }</a:t>
            </a:r>
          </a:p>
          <a:p>
            <a:endParaRPr lang="en-IN" dirty="0" smtClean="0"/>
          </a:p>
          <a:p>
            <a:r>
              <a:rPr lang="en-IN" dirty="0" smtClean="0"/>
              <a:t>/* Grid items */</a:t>
            </a:r>
          </a:p>
          <a:p>
            <a:r>
              <a:rPr lang="en-IN" dirty="0" smtClean="0"/>
              <a:t>.grid-item {</a:t>
            </a:r>
          </a:p>
          <a:p>
            <a:r>
              <a:rPr lang="en-IN" dirty="0" smtClean="0"/>
              <a:t>background-</a:t>
            </a:r>
            <a:r>
              <a:rPr lang="en-IN" dirty="0" err="1" smtClean="0"/>
              <a:t>color</a:t>
            </a:r>
            <a:r>
              <a:rPr lang="en-IN" dirty="0" smtClean="0"/>
              <a:t>: </a:t>
            </a:r>
            <a:r>
              <a:rPr lang="en-IN" dirty="0" err="1" smtClean="0"/>
              <a:t>skyblue</a:t>
            </a:r>
            <a:r>
              <a:rPr lang="en-IN" dirty="0" smtClean="0"/>
              <a:t>;</a:t>
            </a:r>
          </a:p>
          <a:p>
            <a:r>
              <a:rPr lang="en-IN" dirty="0" err="1" smtClean="0"/>
              <a:t>color</a:t>
            </a:r>
            <a:r>
              <a:rPr lang="en-IN" dirty="0" smtClean="0"/>
              <a:t>: white;</a:t>
            </a:r>
          </a:p>
          <a:p>
            <a:r>
              <a:rPr lang="en-IN" dirty="0" smtClean="0"/>
              <a:t>padding: 20px;</a:t>
            </a:r>
          </a:p>
          <a:p>
            <a:r>
              <a:rPr lang="en-IN" dirty="0" smtClean="0"/>
              <a:t>font-size: 1.5em;</a:t>
            </a:r>
          </a:p>
          <a:p>
            <a:r>
              <a:rPr lang="en-IN" dirty="0" smtClean="0"/>
              <a:t>text-align: </a:t>
            </a:r>
            <a:r>
              <a:rPr lang="en-IN" dirty="0" err="1" smtClean="0"/>
              <a:t>center</a:t>
            </a:r>
            <a:r>
              <a:rPr lang="en-IN" dirty="0" smtClean="0"/>
              <a:t>;</a:t>
            </a:r>
          </a:p>
          <a:p>
            <a:r>
              <a:rPr lang="en-IN" dirty="0" smtClean="0"/>
              <a:t>}</a:t>
            </a:r>
            <a:endParaRPr lang="en-IN" dirty="0"/>
          </a:p>
        </p:txBody>
      </p:sp>
    </p:spTree>
    <p:extLst>
      <p:ext uri="{BB962C8B-B14F-4D97-AF65-F5344CB8AC3E}">
        <p14:creationId xmlns:p14="http://schemas.microsoft.com/office/powerpoint/2010/main" val="12902011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Content Placeholder 7">
            <a:extLst>
              <a:ext uri="{FF2B5EF4-FFF2-40B4-BE49-F238E27FC236}">
                <a16:creationId xmlns="" xmlns:a16="http://schemas.microsoft.com/office/drawing/2014/main" id="{215CE58D-2739-522B-7C3A-6A7C985360C0}"/>
              </a:ext>
            </a:extLst>
          </p:cNvPr>
          <p:cNvSpPr>
            <a:spLocks noGrp="1"/>
          </p:cNvSpPr>
          <p:nvPr>
            <p:ph sz="half" idx="1"/>
          </p:nvPr>
        </p:nvSpPr>
        <p:spPr>
          <a:xfrm>
            <a:off x="518160" y="1006762"/>
            <a:ext cx="8107681" cy="5495637"/>
          </a:xfrm>
          <a:noFill/>
        </p:spPr>
        <p:txBody>
          <a:bodyPr vert="horz" lIns="91440" tIns="45720" rIns="91440" bIns="45720" rtlCol="0" anchor="t">
            <a:normAutofit fontScale="92500" lnSpcReduction="10000"/>
          </a:bodyPr>
          <a:lstStyle/>
          <a:p>
            <a:r>
              <a:rPr lang="en-US" sz="2800" dirty="0"/>
              <a:t>Difference Between Grid and Flexbox:</a:t>
            </a:r>
          </a:p>
          <a:p>
            <a:r>
              <a:rPr lang="en-US" sz="2400" dirty="0"/>
              <a:t>1. Dimensionality and Flexibility:</a:t>
            </a:r>
          </a:p>
          <a:p>
            <a:r>
              <a:rPr lang="en-US" sz="2400" dirty="0"/>
              <a:t>Flexbox offers greater control over alignment and space distribution between items. Being one-dimensional, Flexbox only deals with either columns or rows.</a:t>
            </a:r>
          </a:p>
          <a:p>
            <a:r>
              <a:rPr lang="en-US" sz="2400" dirty="0"/>
              <a:t>Grid has two-dimension layout capabilities which allow flexible widths as a unit of length. This compensates for the limitations in Flex.</a:t>
            </a:r>
          </a:p>
          <a:p>
            <a:r>
              <a:rPr lang="en-US" sz="2400" dirty="0"/>
              <a:t>2. Alignment:</a:t>
            </a:r>
          </a:p>
          <a:p>
            <a:r>
              <a:rPr lang="en-US" sz="2400" dirty="0"/>
              <a:t>Flex Direction allows developers to align elements vertically or horizontally, which is used when developers create and reverse rows or columns.</a:t>
            </a:r>
          </a:p>
          <a:p>
            <a:r>
              <a:rPr lang="en-US" sz="2400" dirty="0"/>
              <a:t>CSS Grid deploys fractional measure units for grid fluidity and auto-keyword functionality to automatically adjust columns or rows.</a:t>
            </a:r>
          </a:p>
          <a:p>
            <a:endParaRPr lang="en-US" dirty="0"/>
          </a:p>
        </p:txBody>
      </p:sp>
    </p:spTree>
    <p:extLst>
      <p:ext uri="{BB962C8B-B14F-4D97-AF65-F5344CB8AC3E}">
        <p14:creationId xmlns:p14="http://schemas.microsoft.com/office/powerpoint/2010/main" val="35128927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 xmlns:a16="http://schemas.microsoft.com/office/drawing/2014/main" id="{6776FA27-164A-9BCF-2A78-9BCD6E7A10C4}"/>
              </a:ext>
            </a:extLst>
          </p:cNvPr>
          <p:cNvPicPr>
            <a:picLocks noChangeAspect="1"/>
          </p:cNvPicPr>
          <p:nvPr/>
        </p:nvPicPr>
        <p:blipFill>
          <a:blip r:embed="rId2"/>
          <a:srcRect l="9697" t="33502" r="62651" b="29057"/>
          <a:stretch/>
        </p:blipFill>
        <p:spPr>
          <a:xfrm>
            <a:off x="387926" y="1355437"/>
            <a:ext cx="8167459" cy="4147127"/>
          </a:xfrm>
          <a:prstGeom prst="rect">
            <a:avLst/>
          </a:prstGeom>
        </p:spPr>
      </p:pic>
    </p:spTree>
    <p:extLst>
      <p:ext uri="{BB962C8B-B14F-4D97-AF65-F5344CB8AC3E}">
        <p14:creationId xmlns:p14="http://schemas.microsoft.com/office/powerpoint/2010/main" val="7137187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880E18-791A-163B-7A71-31B91E348C10}"/>
              </a:ext>
            </a:extLst>
          </p:cNvPr>
          <p:cNvSpPr>
            <a:spLocks noGrp="1"/>
          </p:cNvSpPr>
          <p:nvPr>
            <p:ph type="title"/>
          </p:nvPr>
        </p:nvSpPr>
        <p:spPr>
          <a:xfrm>
            <a:off x="467544" y="2348880"/>
            <a:ext cx="8229600" cy="1143000"/>
          </a:xfrm>
        </p:spPr>
        <p:txBody>
          <a:bodyPr>
            <a:normAutofit/>
          </a:bodyPr>
          <a:lstStyle/>
          <a:p>
            <a:r>
              <a:rPr lang="en-IN" sz="6000" b="1" dirty="0"/>
              <a:t>The Patterns</a:t>
            </a:r>
          </a:p>
        </p:txBody>
      </p:sp>
    </p:spTree>
    <p:extLst>
      <p:ext uri="{BB962C8B-B14F-4D97-AF65-F5344CB8AC3E}">
        <p14:creationId xmlns:p14="http://schemas.microsoft.com/office/powerpoint/2010/main" val="37838318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190ADC-0731-48E9-4E29-AC988B621909}"/>
              </a:ext>
            </a:extLst>
          </p:cNvPr>
          <p:cNvSpPr>
            <a:spLocks noGrp="1"/>
          </p:cNvSpPr>
          <p:nvPr>
            <p:ph type="title"/>
          </p:nvPr>
        </p:nvSpPr>
        <p:spPr/>
        <p:txBody>
          <a:bodyPr/>
          <a:lstStyle/>
          <a:p>
            <a:pPr algn="l"/>
            <a:r>
              <a:rPr lang="en-IN" b="1" u="sng" dirty="0" err="1"/>
              <a:t>Center</a:t>
            </a:r>
            <a:r>
              <a:rPr lang="en-IN" b="1" u="sng" dirty="0"/>
              <a:t> Stage</a:t>
            </a:r>
          </a:p>
        </p:txBody>
      </p:sp>
      <p:sp>
        <p:nvSpPr>
          <p:cNvPr id="3" name="Content Placeholder 2">
            <a:extLst>
              <a:ext uri="{FF2B5EF4-FFF2-40B4-BE49-F238E27FC236}">
                <a16:creationId xmlns="" xmlns:a16="http://schemas.microsoft.com/office/drawing/2014/main" id="{D4CC35FE-29A7-FA44-4737-BC1DE033A87E}"/>
              </a:ext>
            </a:extLst>
          </p:cNvPr>
          <p:cNvSpPr>
            <a:spLocks noGrp="1"/>
          </p:cNvSpPr>
          <p:nvPr>
            <p:ph idx="1"/>
          </p:nvPr>
        </p:nvSpPr>
        <p:spPr/>
        <p:txBody>
          <a:bodyPr/>
          <a:lstStyle/>
          <a:p>
            <a:r>
              <a:rPr lang="en-US" dirty="0"/>
              <a:t>Put the most important part of the UI into the largest subsection of the page or window; cluster secondary tools and content around it in smaller panels.</a:t>
            </a:r>
            <a:endParaRPr lang="en-IN" dirty="0"/>
          </a:p>
        </p:txBody>
      </p:sp>
      <p:pic>
        <p:nvPicPr>
          <p:cNvPr id="5" name="Picture 4">
            <a:extLst>
              <a:ext uri="{FF2B5EF4-FFF2-40B4-BE49-F238E27FC236}">
                <a16:creationId xmlns="" xmlns:a16="http://schemas.microsoft.com/office/drawing/2014/main" id="{5CF70FEB-AC37-3189-9BCA-FF866DC8E83E}"/>
              </a:ext>
            </a:extLst>
          </p:cNvPr>
          <p:cNvPicPr>
            <a:picLocks noChangeAspect="1"/>
          </p:cNvPicPr>
          <p:nvPr/>
        </p:nvPicPr>
        <p:blipFill>
          <a:blip r:embed="rId2"/>
          <a:stretch>
            <a:fillRect/>
          </a:stretch>
        </p:blipFill>
        <p:spPr>
          <a:xfrm>
            <a:off x="1298982" y="3429001"/>
            <a:ext cx="5351416" cy="2949677"/>
          </a:xfrm>
          <a:prstGeom prst="rect">
            <a:avLst/>
          </a:prstGeom>
        </p:spPr>
      </p:pic>
    </p:spTree>
    <p:extLst>
      <p:ext uri="{BB962C8B-B14F-4D97-AF65-F5344CB8AC3E}">
        <p14:creationId xmlns:p14="http://schemas.microsoft.com/office/powerpoint/2010/main" val="4883021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3C864C-FC55-CA1B-7FC0-6A8CF626E21F}"/>
              </a:ext>
            </a:extLst>
          </p:cNvPr>
          <p:cNvSpPr>
            <a:spLocks noGrp="1"/>
          </p:cNvSpPr>
          <p:nvPr>
            <p:ph type="title"/>
          </p:nvPr>
        </p:nvSpPr>
        <p:spPr/>
        <p:txBody>
          <a:bodyPr/>
          <a:lstStyle/>
          <a:p>
            <a:pPr algn="l"/>
            <a:r>
              <a:rPr lang="en-IN" b="1" u="sng" dirty="0" err="1"/>
              <a:t>Center</a:t>
            </a:r>
            <a:r>
              <a:rPr lang="en-IN" b="1" u="sng" dirty="0"/>
              <a:t> Stage</a:t>
            </a:r>
            <a:endParaRPr lang="en-IN" u="sng" dirty="0"/>
          </a:p>
        </p:txBody>
      </p:sp>
      <p:sp>
        <p:nvSpPr>
          <p:cNvPr id="3" name="Content Placeholder 2">
            <a:extLst>
              <a:ext uri="{FF2B5EF4-FFF2-40B4-BE49-F238E27FC236}">
                <a16:creationId xmlns="" xmlns:a16="http://schemas.microsoft.com/office/drawing/2014/main" id="{95D2E9DA-DE1F-57DB-A2B2-45668B6C67B3}"/>
              </a:ext>
            </a:extLst>
          </p:cNvPr>
          <p:cNvSpPr>
            <a:spLocks noGrp="1"/>
          </p:cNvSpPr>
          <p:nvPr>
            <p:ph idx="1"/>
          </p:nvPr>
        </p:nvSpPr>
        <p:spPr>
          <a:xfrm>
            <a:off x="628650" y="1825625"/>
            <a:ext cx="7962286" cy="4351338"/>
          </a:xfrm>
        </p:spPr>
        <p:txBody>
          <a:bodyPr>
            <a:normAutofit fontScale="85000" lnSpcReduction="10000"/>
          </a:bodyPr>
          <a:lstStyle/>
          <a:p>
            <a:r>
              <a:rPr lang="en-US" dirty="0"/>
              <a:t>The page’s primary job is to show a single unit of coherent information to the user, let him edit a document, or enable him to perform a certain task. </a:t>
            </a:r>
          </a:p>
          <a:p>
            <a:r>
              <a:rPr lang="en-US" dirty="0"/>
              <a:t>Other content and functions are secondary to this one.</a:t>
            </a:r>
          </a:p>
          <a:p>
            <a:pPr marL="0" indent="0">
              <a:buNone/>
            </a:pPr>
            <a:r>
              <a:rPr lang="en-IN" b="1" dirty="0"/>
              <a:t>Why</a:t>
            </a:r>
          </a:p>
          <a:p>
            <a:pPr marL="0" indent="0">
              <a:buNone/>
            </a:pPr>
            <a:r>
              <a:rPr lang="en-US" dirty="0"/>
              <a:t>The design should guide the user’s eyes immediately to the start of the most important information (or task) rather than have them wandering over the page in confusion</a:t>
            </a:r>
            <a:endParaRPr lang="en-IN" dirty="0"/>
          </a:p>
        </p:txBody>
      </p:sp>
    </p:spTree>
    <p:extLst>
      <p:ext uri="{BB962C8B-B14F-4D97-AF65-F5344CB8AC3E}">
        <p14:creationId xmlns:p14="http://schemas.microsoft.com/office/powerpoint/2010/main" val="24893852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B94284-904C-7EF8-39F8-C6481A1E6336}"/>
              </a:ext>
            </a:extLst>
          </p:cNvPr>
          <p:cNvSpPr>
            <a:spLocks noGrp="1"/>
          </p:cNvSpPr>
          <p:nvPr>
            <p:ph type="title"/>
          </p:nvPr>
        </p:nvSpPr>
        <p:spPr/>
        <p:txBody>
          <a:bodyPr/>
          <a:lstStyle/>
          <a:p>
            <a:r>
              <a:rPr lang="en-IN" dirty="0"/>
              <a:t>WHY</a:t>
            </a:r>
          </a:p>
        </p:txBody>
      </p:sp>
      <p:sp>
        <p:nvSpPr>
          <p:cNvPr id="3" name="Content Placeholder 2">
            <a:extLst>
              <a:ext uri="{FF2B5EF4-FFF2-40B4-BE49-F238E27FC236}">
                <a16:creationId xmlns="" xmlns:a16="http://schemas.microsoft.com/office/drawing/2014/main" id="{4E0DD160-9DA4-34A1-A447-281F172B7C56}"/>
              </a:ext>
            </a:extLst>
          </p:cNvPr>
          <p:cNvSpPr>
            <a:spLocks noGrp="1"/>
          </p:cNvSpPr>
          <p:nvPr>
            <p:ph idx="1"/>
          </p:nvPr>
        </p:nvSpPr>
        <p:spPr/>
        <p:txBody>
          <a:bodyPr>
            <a:normAutofit fontScale="85000" lnSpcReduction="20000"/>
          </a:bodyPr>
          <a:lstStyle/>
          <a:p>
            <a:r>
              <a:rPr lang="en-US" dirty="0"/>
              <a:t>A clear central entity in a user interface acts as an anchor for the user's attention, much like the lead sentence in a news article sets the stage for the content. </a:t>
            </a:r>
          </a:p>
          <a:p>
            <a:r>
              <a:rPr lang="en-US" dirty="0"/>
              <a:t>This focal point establishes the UI's purpose, allowing users to easily assess surrounding elements in relation to it. </a:t>
            </a:r>
          </a:p>
          <a:p>
            <a:r>
              <a:rPr lang="en-US" dirty="0"/>
              <a:t>Instead of scanning the page multiple times to determine the order and relevance of information, users can quickly understand how peripheral items connect to the central theme, enhancing their overall navigation and comprehension.</a:t>
            </a:r>
            <a:endParaRPr lang="en-IN" dirty="0"/>
          </a:p>
        </p:txBody>
      </p:sp>
    </p:spTree>
    <p:extLst>
      <p:ext uri="{BB962C8B-B14F-4D97-AF65-F5344CB8AC3E}">
        <p14:creationId xmlns:p14="http://schemas.microsoft.com/office/powerpoint/2010/main" val="8720894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4C1741-E905-0417-1CDE-9C12E657CCC7}"/>
              </a:ext>
            </a:extLst>
          </p:cNvPr>
          <p:cNvSpPr>
            <a:spLocks noGrp="1"/>
          </p:cNvSpPr>
          <p:nvPr>
            <p:ph type="title"/>
          </p:nvPr>
        </p:nvSpPr>
        <p:spPr>
          <a:xfrm>
            <a:off x="395536" y="1341"/>
            <a:ext cx="8229600" cy="1143000"/>
          </a:xfrm>
        </p:spPr>
        <p:txBody>
          <a:bodyPr/>
          <a:lstStyle/>
          <a:p>
            <a:r>
              <a:rPr lang="en-IN" dirty="0"/>
              <a:t>HOW</a:t>
            </a:r>
          </a:p>
        </p:txBody>
      </p:sp>
      <p:sp>
        <p:nvSpPr>
          <p:cNvPr id="3" name="Content Placeholder 2">
            <a:extLst>
              <a:ext uri="{FF2B5EF4-FFF2-40B4-BE49-F238E27FC236}">
                <a16:creationId xmlns="" xmlns:a16="http://schemas.microsoft.com/office/drawing/2014/main" id="{B21DE719-7A9C-42A0-02F3-782DD0A26471}"/>
              </a:ext>
            </a:extLst>
          </p:cNvPr>
          <p:cNvSpPr>
            <a:spLocks noGrp="1"/>
          </p:cNvSpPr>
          <p:nvPr>
            <p:ph idx="1"/>
          </p:nvPr>
        </p:nvSpPr>
        <p:spPr>
          <a:xfrm>
            <a:off x="457200" y="908720"/>
            <a:ext cx="8507288" cy="5760640"/>
          </a:xfrm>
        </p:spPr>
        <p:txBody>
          <a:bodyPr>
            <a:normAutofit fontScale="77500" lnSpcReduction="20000"/>
          </a:bodyPr>
          <a:lstStyle/>
          <a:p>
            <a:r>
              <a:rPr lang="en-US" sz="4000" dirty="0"/>
              <a:t>Establish a visual hierarchy with the primary content or document dominating everything else</a:t>
            </a:r>
          </a:p>
          <a:p>
            <a:r>
              <a:rPr lang="en-US" sz="4000" dirty="0"/>
              <a:t>When designing a Center Stage, consider following factors,</a:t>
            </a:r>
          </a:p>
          <a:p>
            <a:pPr marL="0" indent="0">
              <a:buNone/>
            </a:pPr>
            <a:r>
              <a:rPr lang="en-US" sz="3600" b="1" dirty="0" smtClean="0"/>
              <a:t>1. Size </a:t>
            </a:r>
            <a:r>
              <a:rPr lang="en-US" sz="3600" b="1" dirty="0"/>
              <a:t>- </a:t>
            </a:r>
            <a:r>
              <a:rPr lang="en-US" sz="3600" dirty="0"/>
              <a:t>The Center Stage content should be at least twice as wide as whatever’s in its side margins, and twice as tall as its top and bottom margins. </a:t>
            </a:r>
          </a:p>
          <a:p>
            <a:pPr marL="0" indent="0">
              <a:buNone/>
            </a:pPr>
            <a:r>
              <a:rPr lang="en-US" sz="3600" b="1" dirty="0" smtClean="0"/>
              <a:t>2. Color- </a:t>
            </a:r>
            <a:r>
              <a:rPr lang="en-US" sz="3600" dirty="0"/>
              <a:t>Use a color that contrasts with the items in the margins. In desktop UIs, white works well against Windows gray, especially for tables and trees. </a:t>
            </a:r>
          </a:p>
          <a:p>
            <a:pPr marL="0" indent="0">
              <a:buNone/>
            </a:pPr>
            <a:r>
              <a:rPr lang="en-US" sz="3600" dirty="0"/>
              <a:t> 	As it happens, white often works in web pages too, since ads and navigation bars usually use other colors as their backgrounds; also, web users have been “trained” by convention to look for the plain text on a white background.</a:t>
            </a:r>
            <a:endParaRPr lang="en-IN" sz="3600" dirty="0"/>
          </a:p>
        </p:txBody>
      </p:sp>
    </p:spTree>
    <p:extLst>
      <p:ext uri="{BB962C8B-B14F-4D97-AF65-F5344CB8AC3E}">
        <p14:creationId xmlns:p14="http://schemas.microsoft.com/office/powerpoint/2010/main" val="35619562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C10E732-9144-8FBF-6FFD-11E3C8F0EB3C}"/>
              </a:ext>
            </a:extLst>
          </p:cNvPr>
          <p:cNvSpPr>
            <a:spLocks noGrp="1"/>
          </p:cNvSpPr>
          <p:nvPr>
            <p:ph idx="1"/>
          </p:nvPr>
        </p:nvSpPr>
        <p:spPr>
          <a:xfrm>
            <a:off x="467544" y="836712"/>
            <a:ext cx="8229600" cy="4525963"/>
          </a:xfrm>
        </p:spPr>
        <p:txBody>
          <a:bodyPr>
            <a:normAutofit/>
          </a:bodyPr>
          <a:lstStyle/>
          <a:p>
            <a:pPr marL="0" indent="0">
              <a:buNone/>
            </a:pPr>
            <a:r>
              <a:rPr lang="en-US" sz="2800" b="1" dirty="0" smtClean="0"/>
              <a:t>3. Headlines- </a:t>
            </a:r>
            <a:r>
              <a:rPr lang="en-US" sz="2800" dirty="0"/>
              <a:t>Big headlines are focal points, and can draw the user’s eye to the top of the Center Stage. </a:t>
            </a:r>
          </a:p>
          <a:p>
            <a:pPr marL="0" indent="0">
              <a:buNone/>
            </a:pPr>
            <a:r>
              <a:rPr lang="en-US" sz="2800" b="1" dirty="0" smtClean="0"/>
              <a:t>4. Context- </a:t>
            </a:r>
            <a:r>
              <a:rPr lang="en-US" sz="2800" dirty="0"/>
              <a:t>What does the user expect to see when she opens up the page? A graphic editor? A long text article? A map? A filesystem tree? Work with her preconceptions; put that in Center Stage and make it recognizable.</a:t>
            </a:r>
          </a:p>
          <a:p>
            <a:endParaRPr lang="en-IN" sz="2800" dirty="0"/>
          </a:p>
        </p:txBody>
      </p:sp>
    </p:spTree>
    <p:extLst>
      <p:ext uri="{BB962C8B-B14F-4D97-AF65-F5344CB8AC3E}">
        <p14:creationId xmlns:p14="http://schemas.microsoft.com/office/powerpoint/2010/main" val="28840250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FB4C01C-2055-DF10-CFB4-E3190FBE955A}"/>
              </a:ext>
            </a:extLst>
          </p:cNvPr>
          <p:cNvSpPr>
            <a:spLocks noGrp="1"/>
          </p:cNvSpPr>
          <p:nvPr>
            <p:ph idx="1"/>
          </p:nvPr>
        </p:nvSpPr>
        <p:spPr>
          <a:xfrm>
            <a:off x="549520" y="1772816"/>
            <a:ext cx="7886700" cy="4351338"/>
          </a:xfrm>
        </p:spPr>
        <p:txBody>
          <a:bodyPr>
            <a:normAutofit/>
          </a:bodyPr>
          <a:lstStyle/>
          <a:p>
            <a:r>
              <a:rPr lang="en-US" sz="2800" dirty="0"/>
              <a:t>Arrange content items in a grid or matrix. Each item should follow a common template, and each item’s visual weight should be similar. Link to jump pages as necessary</a:t>
            </a:r>
            <a:endParaRPr lang="en-IN" sz="2800" dirty="0"/>
          </a:p>
        </p:txBody>
      </p:sp>
      <p:pic>
        <p:nvPicPr>
          <p:cNvPr id="5" name="Picture 4">
            <a:extLst>
              <a:ext uri="{FF2B5EF4-FFF2-40B4-BE49-F238E27FC236}">
                <a16:creationId xmlns="" xmlns:a16="http://schemas.microsoft.com/office/drawing/2014/main" id="{EB9C0C95-D273-E9E6-6D72-E56BE939D790}"/>
              </a:ext>
            </a:extLst>
          </p:cNvPr>
          <p:cNvPicPr>
            <a:picLocks noChangeAspect="1"/>
          </p:cNvPicPr>
          <p:nvPr/>
        </p:nvPicPr>
        <p:blipFill>
          <a:blip r:embed="rId2"/>
          <a:stretch>
            <a:fillRect/>
          </a:stretch>
        </p:blipFill>
        <p:spPr>
          <a:xfrm>
            <a:off x="3150184" y="3547998"/>
            <a:ext cx="5958320" cy="3265378"/>
          </a:xfrm>
          <a:prstGeom prst="rect">
            <a:avLst/>
          </a:prstGeom>
        </p:spPr>
      </p:pic>
      <p:sp>
        <p:nvSpPr>
          <p:cNvPr id="4" name="Rectangle 3"/>
          <p:cNvSpPr/>
          <p:nvPr/>
        </p:nvSpPr>
        <p:spPr>
          <a:xfrm>
            <a:off x="323528" y="620688"/>
            <a:ext cx="4596656" cy="923330"/>
          </a:xfrm>
          <a:prstGeom prst="rect">
            <a:avLst/>
          </a:prstGeom>
        </p:spPr>
        <p:txBody>
          <a:bodyPr wrap="square">
            <a:spAutoFit/>
          </a:bodyPr>
          <a:lstStyle/>
          <a:p>
            <a:r>
              <a:rPr lang="en-IN" sz="5400" u="sng" dirty="0" smtClean="0"/>
              <a:t>Grid of Equals</a:t>
            </a:r>
            <a:endParaRPr lang="en-IN" sz="5400" u="sng" dirty="0"/>
          </a:p>
        </p:txBody>
      </p:sp>
    </p:spTree>
    <p:extLst>
      <p:ext uri="{BB962C8B-B14F-4D97-AF65-F5344CB8AC3E}">
        <p14:creationId xmlns:p14="http://schemas.microsoft.com/office/powerpoint/2010/main" val="30901212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D560F56-8A38-25A7-3381-B2876CC04F22}"/>
              </a:ext>
            </a:extLst>
          </p:cNvPr>
          <p:cNvSpPr>
            <a:spLocks noGrp="1"/>
          </p:cNvSpPr>
          <p:nvPr>
            <p:ph idx="1"/>
          </p:nvPr>
        </p:nvSpPr>
        <p:spPr>
          <a:xfrm>
            <a:off x="457200" y="487213"/>
            <a:ext cx="8229600" cy="4525963"/>
          </a:xfrm>
        </p:spPr>
        <p:txBody>
          <a:bodyPr>
            <a:noAutofit/>
          </a:bodyPr>
          <a:lstStyle/>
          <a:p>
            <a:r>
              <a:rPr lang="en-US" sz="2400" dirty="0"/>
              <a:t>The page contains many content items that have similar style and importance, such as news articles, blog posts, products, or subject areas. </a:t>
            </a:r>
          </a:p>
          <a:p>
            <a:r>
              <a:rPr lang="en-US" sz="2400" dirty="0"/>
              <a:t>You want to present the viewer with rich opportunities to preview and select these items.</a:t>
            </a:r>
          </a:p>
          <a:p>
            <a:pPr marL="0" indent="0">
              <a:buNone/>
            </a:pPr>
            <a:r>
              <a:rPr lang="en-US" sz="2400" b="1" dirty="0"/>
              <a:t>WHY</a:t>
            </a:r>
          </a:p>
          <a:p>
            <a:r>
              <a:rPr lang="en-US" sz="2400" dirty="0"/>
              <a:t>A grid that gives each item equal space announces that they have equal importance. </a:t>
            </a:r>
          </a:p>
          <a:p>
            <a:r>
              <a:rPr lang="en-US" sz="2400" dirty="0"/>
              <a:t>The common template for items within the grid tells the user that the items are similar to each other. </a:t>
            </a:r>
          </a:p>
          <a:p>
            <a:r>
              <a:rPr lang="en-US" sz="2400" dirty="0"/>
              <a:t>Together, these techniques establish a powerful visual hierarchy that should match the semantics of your content.</a:t>
            </a:r>
          </a:p>
          <a:p>
            <a:r>
              <a:rPr lang="en-US" sz="2400" dirty="0"/>
              <a:t>Grids look neat, ordered, and calming. That may suit the style of your site or app.</a:t>
            </a:r>
            <a:endParaRPr lang="en-IN" sz="2400" dirty="0"/>
          </a:p>
        </p:txBody>
      </p:sp>
    </p:spTree>
    <p:extLst>
      <p:ext uri="{BB962C8B-B14F-4D97-AF65-F5344CB8AC3E}">
        <p14:creationId xmlns:p14="http://schemas.microsoft.com/office/powerpoint/2010/main" val="4362915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749EB9-39E6-7A0D-44F5-23503E51C4D4}"/>
              </a:ext>
            </a:extLst>
          </p:cNvPr>
          <p:cNvSpPr>
            <a:spLocks noGrp="1"/>
          </p:cNvSpPr>
          <p:nvPr>
            <p:ph type="title"/>
          </p:nvPr>
        </p:nvSpPr>
        <p:spPr/>
        <p:txBody>
          <a:bodyPr/>
          <a:lstStyle/>
          <a:p>
            <a:r>
              <a:rPr lang="en-IN" dirty="0"/>
              <a:t>HOW</a:t>
            </a:r>
          </a:p>
        </p:txBody>
      </p:sp>
      <p:sp>
        <p:nvSpPr>
          <p:cNvPr id="3" name="Content Placeholder 2">
            <a:extLst>
              <a:ext uri="{FF2B5EF4-FFF2-40B4-BE49-F238E27FC236}">
                <a16:creationId xmlns="" xmlns:a16="http://schemas.microsoft.com/office/drawing/2014/main" id="{D0B3684C-796F-D319-BEEA-37490C9794B0}"/>
              </a:ext>
            </a:extLst>
          </p:cNvPr>
          <p:cNvSpPr>
            <a:spLocks noGrp="1"/>
          </p:cNvSpPr>
          <p:nvPr>
            <p:ph idx="1"/>
          </p:nvPr>
        </p:nvSpPr>
        <p:spPr/>
        <p:txBody>
          <a:bodyPr>
            <a:normAutofit fontScale="77500" lnSpcReduction="20000"/>
          </a:bodyPr>
          <a:lstStyle/>
          <a:p>
            <a:r>
              <a:rPr lang="en-US" dirty="0"/>
              <a:t>Figure out how to lay out each item in the grid. </a:t>
            </a:r>
          </a:p>
          <a:p>
            <a:r>
              <a:rPr lang="en-US" dirty="0"/>
              <a:t>Do they have thumbnail images or graphics? Headlines, subheads, summary text? Links to jump pages (e.g., a page with the </a:t>
            </a:r>
            <a:r>
              <a:rPr lang="en-US" dirty="0" err="1"/>
              <a:t>fullstory</a:t>
            </a:r>
            <a:r>
              <a:rPr lang="en-US" dirty="0"/>
              <a:t>)? </a:t>
            </a:r>
          </a:p>
          <a:p>
            <a:r>
              <a:rPr lang="en-US" dirty="0"/>
              <a:t>To create an engaging layout, use colorful headlines for each section—blue for events and green for highlights. Add plenty of whitespace to keep it clean and readable. </a:t>
            </a:r>
          </a:p>
          <a:p>
            <a:r>
              <a:rPr lang="en-US" dirty="0"/>
              <a:t>Arrange the items in a grid with tall, wide, or square boxes, including images alongside the text.</a:t>
            </a:r>
          </a:p>
          <a:p>
            <a:r>
              <a:rPr lang="en-US" dirty="0"/>
              <a:t> This way, important details like dates and descriptions are clear and easy to find while making the overall presentation visually appealing.</a:t>
            </a:r>
            <a:endParaRPr lang="en-IN" dirty="0"/>
          </a:p>
        </p:txBody>
      </p:sp>
    </p:spTree>
    <p:extLst>
      <p:ext uri="{BB962C8B-B14F-4D97-AF65-F5344CB8AC3E}">
        <p14:creationId xmlns:p14="http://schemas.microsoft.com/office/powerpoint/2010/main" val="12999173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A2E4A9E-4063-0C81-FC45-85F5C4815750}"/>
              </a:ext>
            </a:extLst>
          </p:cNvPr>
          <p:cNvSpPr>
            <a:spLocks noGrp="1"/>
          </p:cNvSpPr>
          <p:nvPr>
            <p:ph idx="1"/>
          </p:nvPr>
        </p:nvSpPr>
        <p:spPr>
          <a:xfrm>
            <a:off x="457200" y="1268760"/>
            <a:ext cx="8229600" cy="4525963"/>
          </a:xfrm>
        </p:spPr>
        <p:txBody>
          <a:bodyPr>
            <a:normAutofit lnSpcReduction="10000"/>
          </a:bodyPr>
          <a:lstStyle/>
          <a:p>
            <a:r>
              <a:rPr lang="en-US" dirty="0"/>
              <a:t>Arrange items in a grid with two or three items per row, making sure it looks good on narrow screens and mobile devices. </a:t>
            </a:r>
          </a:p>
          <a:p>
            <a:r>
              <a:rPr lang="en-US" dirty="0"/>
              <a:t>Use hover effects to highlight specific items with color changes, but keep their size and position the same. </a:t>
            </a:r>
          </a:p>
          <a:p>
            <a:r>
              <a:rPr lang="en-US" dirty="0"/>
              <a:t>This way, the design stays stable while still drawing attention to key elements, ensuring a smooth experience for users.</a:t>
            </a:r>
            <a:endParaRPr lang="en-IN" dirty="0"/>
          </a:p>
        </p:txBody>
      </p:sp>
    </p:spTree>
    <p:extLst>
      <p:ext uri="{BB962C8B-B14F-4D97-AF65-F5344CB8AC3E}">
        <p14:creationId xmlns:p14="http://schemas.microsoft.com/office/powerpoint/2010/main" val="6182933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523A6F-1349-C748-10A9-EAA23E74867B}"/>
              </a:ext>
            </a:extLst>
          </p:cNvPr>
          <p:cNvSpPr>
            <a:spLocks noGrp="1"/>
          </p:cNvSpPr>
          <p:nvPr>
            <p:ph type="title"/>
          </p:nvPr>
        </p:nvSpPr>
        <p:spPr/>
        <p:txBody>
          <a:bodyPr/>
          <a:lstStyle/>
          <a:p>
            <a:pPr algn="l"/>
            <a:r>
              <a:rPr lang="en-IN" b="1" u="sng" dirty="0"/>
              <a:t>Module Tabs</a:t>
            </a:r>
          </a:p>
        </p:txBody>
      </p:sp>
      <p:sp>
        <p:nvSpPr>
          <p:cNvPr id="3" name="Content Placeholder 2">
            <a:extLst>
              <a:ext uri="{FF2B5EF4-FFF2-40B4-BE49-F238E27FC236}">
                <a16:creationId xmlns="" xmlns:a16="http://schemas.microsoft.com/office/drawing/2014/main" id="{1DCEC1CA-0C7A-12E6-9114-B4D3494DFFDE}"/>
              </a:ext>
            </a:extLst>
          </p:cNvPr>
          <p:cNvSpPr>
            <a:spLocks noGrp="1"/>
          </p:cNvSpPr>
          <p:nvPr>
            <p:ph idx="1"/>
          </p:nvPr>
        </p:nvSpPr>
        <p:spPr/>
        <p:txBody>
          <a:bodyPr/>
          <a:lstStyle/>
          <a:p>
            <a:r>
              <a:rPr lang="en-US" dirty="0"/>
              <a:t>Put modules of content into a small tabbed area so that only one module is visible at a time. The user clicks on tabs to bring different modules to the top.</a:t>
            </a:r>
            <a:endParaRPr lang="en-IN" dirty="0"/>
          </a:p>
        </p:txBody>
      </p:sp>
      <p:pic>
        <p:nvPicPr>
          <p:cNvPr id="5" name="Picture 4">
            <a:extLst>
              <a:ext uri="{FF2B5EF4-FFF2-40B4-BE49-F238E27FC236}">
                <a16:creationId xmlns="" xmlns:a16="http://schemas.microsoft.com/office/drawing/2014/main" id="{306C3EA7-CCC9-3C68-AC37-91BC2D072666}"/>
              </a:ext>
            </a:extLst>
          </p:cNvPr>
          <p:cNvPicPr>
            <a:picLocks noChangeAspect="1"/>
          </p:cNvPicPr>
          <p:nvPr/>
        </p:nvPicPr>
        <p:blipFill>
          <a:blip r:embed="rId2"/>
          <a:stretch>
            <a:fillRect/>
          </a:stretch>
        </p:blipFill>
        <p:spPr>
          <a:xfrm>
            <a:off x="1457512" y="3184337"/>
            <a:ext cx="5580047" cy="3439005"/>
          </a:xfrm>
          <a:prstGeom prst="rect">
            <a:avLst/>
          </a:prstGeom>
        </p:spPr>
      </p:pic>
    </p:spTree>
    <p:extLst>
      <p:ext uri="{BB962C8B-B14F-4D97-AF65-F5344CB8AC3E}">
        <p14:creationId xmlns:p14="http://schemas.microsoft.com/office/powerpoint/2010/main" val="34222035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56E06E-9C1D-B973-4056-F80F38975A15}"/>
              </a:ext>
            </a:extLst>
          </p:cNvPr>
          <p:cNvSpPr>
            <a:spLocks noGrp="1"/>
          </p:cNvSpPr>
          <p:nvPr>
            <p:ph type="title"/>
          </p:nvPr>
        </p:nvSpPr>
        <p:spPr/>
        <p:txBody>
          <a:bodyPr>
            <a:normAutofit fontScale="90000"/>
          </a:bodyPr>
          <a:lstStyle/>
          <a:p>
            <a:r>
              <a:rPr lang="en-US" dirty="0"/>
              <a:t>Use when</a:t>
            </a:r>
            <a:br>
              <a:rPr lang="en-US" dirty="0"/>
            </a:br>
            <a:endParaRPr lang="en-IN" dirty="0"/>
          </a:p>
        </p:txBody>
      </p:sp>
      <p:sp>
        <p:nvSpPr>
          <p:cNvPr id="3" name="Content Placeholder 2">
            <a:extLst>
              <a:ext uri="{FF2B5EF4-FFF2-40B4-BE49-F238E27FC236}">
                <a16:creationId xmlns="" xmlns:a16="http://schemas.microsoft.com/office/drawing/2014/main" id="{047602E7-91AB-F7AC-A978-CE6D932ED7C5}"/>
              </a:ext>
            </a:extLst>
          </p:cNvPr>
          <p:cNvSpPr>
            <a:spLocks noGrp="1"/>
          </p:cNvSpPr>
          <p:nvPr>
            <p:ph idx="1"/>
          </p:nvPr>
        </p:nvSpPr>
        <p:spPr>
          <a:xfrm>
            <a:off x="628650" y="1484671"/>
            <a:ext cx="7886700" cy="4692292"/>
          </a:xfrm>
        </p:spPr>
        <p:txBody>
          <a:bodyPr>
            <a:normAutofit fontScale="70000" lnSpcReduction="20000"/>
          </a:bodyPr>
          <a:lstStyle/>
          <a:p>
            <a:r>
              <a:rPr lang="en-US" dirty="0"/>
              <a:t>You have a lot of heterogeneous content to show on the page, possibly including text blocks, lists, buttons, form controls, or images. You don’t have room for everything.</a:t>
            </a:r>
          </a:p>
          <a:p>
            <a:r>
              <a:rPr lang="en-US" dirty="0"/>
              <a:t>Some of the page content comes in groups or modules (or can be sorted into coherent groups). </a:t>
            </a:r>
          </a:p>
          <a:p>
            <a:r>
              <a:rPr lang="en-US" dirty="0"/>
              <a:t>Those modules have the following characteristics:</a:t>
            </a:r>
          </a:p>
          <a:p>
            <a:pPr lvl="1">
              <a:buFont typeface="Wingdings" panose="05000000000000000000" pitchFamily="2" charset="2"/>
              <a:buChar char="Ø"/>
            </a:pPr>
            <a:r>
              <a:rPr lang="en-US" dirty="0"/>
              <a:t>	Users only need to see one module at a time.</a:t>
            </a:r>
          </a:p>
          <a:p>
            <a:pPr lvl="1">
              <a:buFont typeface="Wingdings" panose="05000000000000000000" pitchFamily="2" charset="2"/>
              <a:buChar char="Ø"/>
            </a:pPr>
            <a:r>
              <a:rPr lang="en-US" dirty="0"/>
              <a:t>	They are of similar length and height.</a:t>
            </a:r>
          </a:p>
          <a:p>
            <a:pPr lvl="1">
              <a:buFont typeface="Wingdings" panose="05000000000000000000" pitchFamily="2" charset="2"/>
              <a:buChar char="Ø"/>
            </a:pPr>
            <a:r>
              <a:rPr lang="en-US" dirty="0"/>
              <a:t>	There aren’t many modules—fewer than 10, and preferably a small handful.</a:t>
            </a:r>
          </a:p>
          <a:p>
            <a:pPr lvl="1">
              <a:buFont typeface="Wingdings" panose="05000000000000000000" pitchFamily="2" charset="2"/>
              <a:buChar char="Ø"/>
            </a:pPr>
            <a:r>
              <a:rPr lang="en-US" dirty="0"/>
              <a:t>	The set of modules is fairly static; new pages won’t be added frequently, nor 	will existing pages be changed or removed frequently.</a:t>
            </a:r>
          </a:p>
          <a:p>
            <a:pPr lvl="1">
              <a:buFont typeface="Wingdings" panose="05000000000000000000" pitchFamily="2" charset="2"/>
              <a:buChar char="Ø"/>
            </a:pPr>
            <a:r>
              <a:rPr lang="en-US" dirty="0"/>
              <a:t>	 The modules’ contents may be related or similar to each other.</a:t>
            </a:r>
            <a:endParaRPr lang="en-IN" dirty="0"/>
          </a:p>
        </p:txBody>
      </p:sp>
    </p:spTree>
    <p:extLst>
      <p:ext uri="{BB962C8B-B14F-4D97-AF65-F5344CB8AC3E}">
        <p14:creationId xmlns:p14="http://schemas.microsoft.com/office/powerpoint/2010/main" val="12456314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CEE23A-D4B1-A9E0-5996-7C919866551C}"/>
              </a:ext>
            </a:extLst>
          </p:cNvPr>
          <p:cNvSpPr>
            <a:spLocks noGrp="1"/>
          </p:cNvSpPr>
          <p:nvPr>
            <p:ph type="title"/>
          </p:nvPr>
        </p:nvSpPr>
        <p:spPr/>
        <p:txBody>
          <a:bodyPr/>
          <a:lstStyle/>
          <a:p>
            <a:r>
              <a:rPr lang="en-IN" dirty="0"/>
              <a:t>WHY</a:t>
            </a:r>
          </a:p>
        </p:txBody>
      </p:sp>
      <p:sp>
        <p:nvSpPr>
          <p:cNvPr id="3" name="Content Placeholder 2">
            <a:extLst>
              <a:ext uri="{FF2B5EF4-FFF2-40B4-BE49-F238E27FC236}">
                <a16:creationId xmlns="" xmlns:a16="http://schemas.microsoft.com/office/drawing/2014/main" id="{336A7FDC-22F1-CAEC-6144-595BAEAB7B7D}"/>
              </a:ext>
            </a:extLst>
          </p:cNvPr>
          <p:cNvSpPr>
            <a:spLocks noGrp="1"/>
          </p:cNvSpPr>
          <p:nvPr>
            <p:ph idx="1"/>
          </p:nvPr>
        </p:nvSpPr>
        <p:spPr/>
        <p:txBody>
          <a:bodyPr/>
          <a:lstStyle/>
          <a:p>
            <a:r>
              <a:rPr lang="en-US" dirty="0"/>
              <a:t>Tabs are common in desktop interfaces and websites, making them easy to understand. They effectively group and hide content, helping to declutter the interface. This way, users can easily switch between different sections without feeling confused</a:t>
            </a:r>
          </a:p>
          <a:p>
            <a:endParaRPr lang="en-IN" dirty="0"/>
          </a:p>
        </p:txBody>
      </p:sp>
    </p:spTree>
    <p:extLst>
      <p:ext uri="{BB962C8B-B14F-4D97-AF65-F5344CB8AC3E}">
        <p14:creationId xmlns:p14="http://schemas.microsoft.com/office/powerpoint/2010/main" val="29673806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924D27-F18D-D217-70AC-1D6778382DAC}"/>
              </a:ext>
            </a:extLst>
          </p:cNvPr>
          <p:cNvSpPr>
            <a:spLocks noGrp="1"/>
          </p:cNvSpPr>
          <p:nvPr>
            <p:ph type="title"/>
          </p:nvPr>
        </p:nvSpPr>
        <p:spPr/>
        <p:txBody>
          <a:bodyPr/>
          <a:lstStyle/>
          <a:p>
            <a:r>
              <a:rPr lang="en-IN" dirty="0"/>
              <a:t>How</a:t>
            </a:r>
          </a:p>
        </p:txBody>
      </p:sp>
      <p:sp>
        <p:nvSpPr>
          <p:cNvPr id="3" name="Content Placeholder 2">
            <a:extLst>
              <a:ext uri="{FF2B5EF4-FFF2-40B4-BE49-F238E27FC236}">
                <a16:creationId xmlns="" xmlns:a16="http://schemas.microsoft.com/office/drawing/2014/main" id="{CABD63F1-EBAB-80BC-886F-63BD17C3D7C0}"/>
              </a:ext>
            </a:extLst>
          </p:cNvPr>
          <p:cNvSpPr>
            <a:spLocks noGrp="1"/>
          </p:cNvSpPr>
          <p:nvPr>
            <p:ph idx="1"/>
          </p:nvPr>
        </p:nvSpPr>
        <p:spPr/>
        <p:txBody>
          <a:bodyPr>
            <a:normAutofit fontScale="92500" lnSpcReduction="10000"/>
          </a:bodyPr>
          <a:lstStyle/>
          <a:p>
            <a:r>
              <a:rPr lang="en-US" dirty="0"/>
              <a:t>First, get the information architecture right. Split up the content into coherent chunks, if it hasn’t already been done for you, and give them short, memorable titles (one or two words, if possible). </a:t>
            </a:r>
          </a:p>
          <a:p>
            <a:r>
              <a:rPr lang="en-US" dirty="0"/>
              <a:t>If you split up the content incorrectly, users will be forced to switch back and forth between tabs as they compare them or look for information they can’t find. </a:t>
            </a:r>
          </a:p>
          <a:p>
            <a:r>
              <a:rPr lang="en-US" dirty="0"/>
              <a:t>Indicate the selected tab unambiguously, such as by making it contiguous with the panel itself.</a:t>
            </a:r>
            <a:endParaRPr lang="en-IN" dirty="0"/>
          </a:p>
        </p:txBody>
      </p:sp>
    </p:spTree>
    <p:extLst>
      <p:ext uri="{BB962C8B-B14F-4D97-AF65-F5344CB8AC3E}">
        <p14:creationId xmlns:p14="http://schemas.microsoft.com/office/powerpoint/2010/main" val="20264230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11561" y="2067473"/>
            <a:ext cx="8424935" cy="2023910"/>
          </a:xfrm>
          <a:prstGeom prst="rect">
            <a:avLst/>
          </a:prstGeom>
          <a:noFill/>
          <a:ln/>
        </p:spPr>
        <p:txBody>
          <a:bodyPr wrap="square" lIns="0" tIns="0" rIns="0" bIns="0" rtlCol="0" anchor="t"/>
          <a:lstStyle/>
          <a:p>
            <a:pPr algn="ctr"/>
            <a:r>
              <a:rPr lang="en-US" sz="4400" b="1" dirty="0">
                <a:solidFill>
                  <a:srgbClr val="1F1E1E"/>
                </a:solidFill>
                <a:latin typeface="Arial" panose="020B0604020202020204" pitchFamily="34" charset="0"/>
                <a:ea typeface="Cascadia Mono SemiBold" panose="020B0609020000020004" pitchFamily="49" charset="0"/>
                <a:cs typeface="Arial" panose="020B0604020202020204" pitchFamily="34" charset="0"/>
              </a:rPr>
              <a:t>Accordions and </a:t>
            </a:r>
          </a:p>
          <a:p>
            <a:pPr algn="ctr"/>
            <a:r>
              <a:rPr lang="en-US" sz="4400" b="1" dirty="0">
                <a:solidFill>
                  <a:srgbClr val="1F1E1E"/>
                </a:solidFill>
                <a:latin typeface="Arial" panose="020B0604020202020204" pitchFamily="34" charset="0"/>
                <a:ea typeface="Cascadia Mono SemiBold" panose="020B0609020000020004" pitchFamily="49" charset="0"/>
                <a:cs typeface="Arial" panose="020B0604020202020204" pitchFamily="34" charset="0"/>
              </a:rPr>
              <a:t>Collapsible Panels</a:t>
            </a:r>
            <a:endParaRPr lang="en-US" sz="4400" b="1" dirty="0">
              <a:latin typeface="Arial" panose="020B0604020202020204" pitchFamily="34" charset="0"/>
              <a:ea typeface="Cascadia Mono SemiBold" panose="020B0609020000020004" pitchFamily="49" charset="0"/>
              <a:cs typeface="Arial" panose="020B0604020202020204" pitchFamily="34" charset="0"/>
            </a:endParaRPr>
          </a:p>
        </p:txBody>
      </p:sp>
    </p:spTree>
    <p:extLst>
      <p:ext uri="{BB962C8B-B14F-4D97-AF65-F5344CB8AC3E}">
        <p14:creationId xmlns:p14="http://schemas.microsoft.com/office/powerpoint/2010/main" val="28356547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7996" y="870277"/>
            <a:ext cx="7018340" cy="551359"/>
          </a:xfrm>
          <a:prstGeom prst="rect">
            <a:avLst/>
          </a:prstGeom>
          <a:noFill/>
          <a:ln/>
        </p:spPr>
        <p:txBody>
          <a:bodyPr wrap="square" lIns="0" tIns="0" rIns="0" bIns="0" rtlCol="0" anchor="t"/>
          <a:lstStyle/>
          <a:p>
            <a:pPr algn="ctr">
              <a:lnSpc>
                <a:spcPts val="5291"/>
              </a:lnSpc>
            </a:pPr>
            <a:r>
              <a:rPr lang="en-IN" sz="6000" dirty="0"/>
              <a:t>What is an Accordion?</a:t>
            </a:r>
            <a:endParaRPr lang="en-US" sz="6000" b="1" dirty="0"/>
          </a:p>
        </p:txBody>
      </p:sp>
      <p:sp>
        <p:nvSpPr>
          <p:cNvPr id="6" name="Text 4"/>
          <p:cNvSpPr/>
          <p:nvPr/>
        </p:nvSpPr>
        <p:spPr>
          <a:xfrm>
            <a:off x="441614" y="2087834"/>
            <a:ext cx="7586770" cy="3380157"/>
          </a:xfrm>
          <a:prstGeom prst="rect">
            <a:avLst/>
          </a:prstGeom>
          <a:noFill/>
          <a:ln/>
        </p:spPr>
        <p:txBody>
          <a:bodyPr wrap="none" lIns="0" tIns="0" rIns="0" bIns="0" rtlCol="0" anchor="t"/>
          <a:lstStyle/>
          <a:p>
            <a:pPr marL="857216" lvl="1" indent="-476231">
              <a:buFont typeface="Arial" panose="020B0604020202020204" pitchFamily="34" charset="0"/>
              <a:buChar char="•"/>
            </a:pPr>
            <a:r>
              <a:rPr lang="en-US" sz="3000" dirty="0">
                <a:latin typeface="Aptos Narrow" panose="020B0004020202020204" pitchFamily="34" charset="0"/>
              </a:rPr>
              <a:t>Stacks modules of content vertically.</a:t>
            </a:r>
          </a:p>
          <a:p>
            <a:pPr marL="857216" lvl="1" indent="-476231">
              <a:buFont typeface="Arial" panose="020B0604020202020204" pitchFamily="34" charset="0"/>
              <a:buChar char="•"/>
            </a:pPr>
            <a:r>
              <a:rPr lang="en-US" sz="3000" dirty="0">
                <a:latin typeface="Aptos Narrow" panose="020B0004020202020204" pitchFamily="34" charset="0"/>
              </a:rPr>
              <a:t>Allows independent opening/closing</a:t>
            </a:r>
          </a:p>
          <a:p>
            <a:pPr lvl="1"/>
            <a:r>
              <a:rPr lang="en-US" sz="3000" dirty="0">
                <a:latin typeface="Aptos Narrow" panose="020B0004020202020204" pitchFamily="34" charset="0"/>
              </a:rPr>
              <a:t>       of each module.</a:t>
            </a:r>
          </a:p>
          <a:p>
            <a:pPr marL="857216" lvl="1" indent="-476231">
              <a:buFont typeface="Arial" panose="020B0604020202020204" pitchFamily="34" charset="0"/>
              <a:buChar char="•"/>
            </a:pPr>
            <a:r>
              <a:rPr lang="en-US" sz="3000" dirty="0">
                <a:latin typeface="Aptos Narrow" panose="020B0004020202020204" pitchFamily="34" charset="0"/>
              </a:rPr>
              <a:t>Ideal for heterogeneous content such </a:t>
            </a:r>
          </a:p>
          <a:p>
            <a:pPr lvl="1"/>
            <a:r>
              <a:rPr lang="en-US" sz="3000" dirty="0">
                <a:latin typeface="Aptos Narrow" panose="020B0004020202020204" pitchFamily="34" charset="0"/>
              </a:rPr>
              <a:t>       as text blocks, lists, images, etc.</a:t>
            </a:r>
          </a:p>
          <a:p>
            <a:pPr marL="857216" lvl="1" indent="-476231">
              <a:buFont typeface="Arial" panose="020B0604020202020204" pitchFamily="34" charset="0"/>
              <a:buChar char="•"/>
            </a:pPr>
            <a:r>
              <a:rPr lang="en-US" sz="3000" dirty="0">
                <a:latin typeface="Aptos Narrow" panose="020B0004020202020204" pitchFamily="34" charset="0"/>
              </a:rPr>
              <a:t>User-friendly for limited space pages.</a:t>
            </a:r>
          </a:p>
        </p:txBody>
      </p:sp>
    </p:spTree>
    <p:extLst>
      <p:ext uri="{BB962C8B-B14F-4D97-AF65-F5344CB8AC3E}">
        <p14:creationId xmlns:p14="http://schemas.microsoft.com/office/powerpoint/2010/main" val="20646759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2992" y="777578"/>
            <a:ext cx="6792062" cy="1353543"/>
          </a:xfrm>
          <a:prstGeom prst="rect">
            <a:avLst/>
          </a:prstGeom>
          <a:noFill/>
          <a:ln/>
        </p:spPr>
        <p:txBody>
          <a:bodyPr wrap="square" lIns="0" tIns="0" rIns="0" bIns="0" rtlCol="0" anchor="t"/>
          <a:lstStyle/>
          <a:p>
            <a:pPr>
              <a:lnSpc>
                <a:spcPts val="5291"/>
              </a:lnSpc>
            </a:pPr>
            <a:r>
              <a:rPr lang="en-IN" sz="6000" dirty="0"/>
              <a:t>When to Use?</a:t>
            </a:r>
            <a:endParaRPr lang="en-US" sz="6000" dirty="0"/>
          </a:p>
        </p:txBody>
      </p:sp>
      <p:sp>
        <p:nvSpPr>
          <p:cNvPr id="13" name="Text 4">
            <a:extLst>
              <a:ext uri="{FF2B5EF4-FFF2-40B4-BE49-F238E27FC236}">
                <a16:creationId xmlns="" xmlns:a16="http://schemas.microsoft.com/office/drawing/2014/main" id="{5695BDC9-3212-061C-A158-4644DD91DB6D}"/>
              </a:ext>
            </a:extLst>
          </p:cNvPr>
          <p:cNvSpPr/>
          <p:nvPr/>
        </p:nvSpPr>
        <p:spPr>
          <a:xfrm>
            <a:off x="395536" y="1700808"/>
            <a:ext cx="8208912" cy="4980882"/>
          </a:xfrm>
          <a:prstGeom prst="rect">
            <a:avLst/>
          </a:prstGeom>
          <a:noFill/>
          <a:ln/>
        </p:spPr>
        <p:txBody>
          <a:bodyPr wrap="none" lIns="0" tIns="0" rIns="0" bIns="0" rtlCol="0" anchor="t"/>
          <a:lstStyle/>
          <a:p>
            <a:pPr marL="476231" indent="-476231" algn="just"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When there is a large amount of content </a:t>
            </a:r>
          </a:p>
          <a:p>
            <a:pPr algn="just" defTabSz="761970" eaLnBrk="0" fontAlgn="base" hangingPunct="0">
              <a:spcBef>
                <a:spcPct val="0"/>
              </a:spcBef>
              <a:spcAft>
                <a:spcPct val="0"/>
              </a:spcAft>
            </a:pPr>
            <a:r>
              <a:rPr lang="en-US" altLang="en-US" sz="3000" dirty="0">
                <a:latin typeface="Arial" panose="020B0604020202020204" pitchFamily="34" charset="0"/>
              </a:rPr>
              <a:t>      that needs organization.</a:t>
            </a:r>
          </a:p>
          <a:p>
            <a:pPr marL="476231" indent="-476231" algn="just"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When modules are part of a tool palette </a:t>
            </a:r>
          </a:p>
          <a:p>
            <a:pPr algn="just" defTabSz="761970" eaLnBrk="0" fontAlgn="base" hangingPunct="0">
              <a:spcBef>
                <a:spcPct val="0"/>
              </a:spcBef>
              <a:spcAft>
                <a:spcPct val="0"/>
              </a:spcAft>
            </a:pPr>
            <a:r>
              <a:rPr lang="en-US" altLang="en-US" sz="3000" dirty="0">
                <a:latin typeface="Arial" panose="020B0604020202020204" pitchFamily="34" charset="0"/>
              </a:rPr>
              <a:t>      or two-level menu.</a:t>
            </a:r>
          </a:p>
          <a:p>
            <a:pPr marL="476231" indent="-476231" algn="just"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When user want to see more than one </a:t>
            </a:r>
          </a:p>
          <a:p>
            <a:pPr algn="just" defTabSz="761970" eaLnBrk="0" fontAlgn="base" hangingPunct="0">
              <a:spcBef>
                <a:spcPct val="0"/>
              </a:spcBef>
              <a:spcAft>
                <a:spcPct val="0"/>
              </a:spcAft>
            </a:pPr>
            <a:r>
              <a:rPr lang="en-US" altLang="en-US" sz="3000" dirty="0">
                <a:latin typeface="Arial" panose="020B0604020202020204" pitchFamily="34" charset="0"/>
              </a:rPr>
              <a:t>      module at a time.</a:t>
            </a:r>
          </a:p>
          <a:p>
            <a:pPr marL="476231" indent="-476231" algn="just"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When preserving the linear order.</a:t>
            </a:r>
          </a:p>
          <a:p>
            <a:pPr marL="476231" indent="-476231" algn="just"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When modules are of different height </a:t>
            </a:r>
          </a:p>
          <a:p>
            <a:pPr algn="just" defTabSz="761970" eaLnBrk="0" fontAlgn="base" hangingPunct="0">
              <a:spcBef>
                <a:spcPct val="0"/>
              </a:spcBef>
              <a:spcAft>
                <a:spcPct val="0"/>
              </a:spcAft>
            </a:pPr>
            <a:r>
              <a:rPr lang="en-US" altLang="en-US" sz="3000" dirty="0">
                <a:latin typeface="Arial" panose="020B0604020202020204" pitchFamily="34" charset="0"/>
              </a:rPr>
              <a:t>      but in same width.</a:t>
            </a:r>
          </a:p>
        </p:txBody>
      </p:sp>
    </p:spTree>
    <p:extLst>
      <p:ext uri="{BB962C8B-B14F-4D97-AF65-F5344CB8AC3E}">
        <p14:creationId xmlns:p14="http://schemas.microsoft.com/office/powerpoint/2010/main" val="32380939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2992" y="777578"/>
            <a:ext cx="6792062" cy="1353543"/>
          </a:xfrm>
          <a:prstGeom prst="rect">
            <a:avLst/>
          </a:prstGeom>
          <a:noFill/>
          <a:ln/>
        </p:spPr>
        <p:txBody>
          <a:bodyPr wrap="square" lIns="0" tIns="0" rIns="0" bIns="0" rtlCol="0" anchor="t"/>
          <a:lstStyle/>
          <a:p>
            <a:pPr>
              <a:lnSpc>
                <a:spcPts val="5291"/>
              </a:lnSpc>
            </a:pPr>
            <a:r>
              <a:rPr lang="en-IN" sz="6000" dirty="0"/>
              <a:t>Why?</a:t>
            </a:r>
            <a:endParaRPr lang="en-US" sz="6000" dirty="0"/>
          </a:p>
        </p:txBody>
      </p:sp>
      <p:sp>
        <p:nvSpPr>
          <p:cNvPr id="13" name="Text 4">
            <a:extLst>
              <a:ext uri="{FF2B5EF4-FFF2-40B4-BE49-F238E27FC236}">
                <a16:creationId xmlns="" xmlns:a16="http://schemas.microsoft.com/office/drawing/2014/main" id="{5695BDC9-3212-061C-A158-4644DD91DB6D}"/>
              </a:ext>
            </a:extLst>
          </p:cNvPr>
          <p:cNvSpPr/>
          <p:nvPr/>
        </p:nvSpPr>
        <p:spPr>
          <a:xfrm>
            <a:off x="572992" y="2131120"/>
            <a:ext cx="6600103" cy="3380157"/>
          </a:xfrm>
          <a:prstGeom prst="rect">
            <a:avLst/>
          </a:prstGeom>
          <a:noFill/>
          <a:ln/>
        </p:spPr>
        <p:txBody>
          <a:bodyPr wrap="none" lIns="0" tIns="0" rIns="0" bIns="0" rtlCol="0" anchor="t"/>
          <a:lstStyle/>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Familiar and interactive web element.</a:t>
            </a:r>
          </a:p>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Helps declutter pages and applications.</a:t>
            </a:r>
          </a:p>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Useful in web navigation and desktop </a:t>
            </a:r>
          </a:p>
          <a:p>
            <a:pPr defTabSz="761970" eaLnBrk="0" fontAlgn="base" hangingPunct="0">
              <a:spcBef>
                <a:spcPct val="0"/>
              </a:spcBef>
              <a:spcAft>
                <a:spcPct val="0"/>
              </a:spcAft>
            </a:pPr>
            <a:r>
              <a:rPr lang="en-US" altLang="en-US" sz="3000" dirty="0">
                <a:latin typeface="Arial" panose="020B0604020202020204" pitchFamily="34" charset="0"/>
              </a:rPr>
              <a:t>      applications.</a:t>
            </a:r>
          </a:p>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Allows users to customize their interface</a:t>
            </a:r>
          </a:p>
          <a:p>
            <a:pPr defTabSz="761970" eaLnBrk="0" fontAlgn="base" hangingPunct="0">
              <a:spcBef>
                <a:spcPct val="0"/>
              </a:spcBef>
              <a:spcAft>
                <a:spcPct val="0"/>
              </a:spcAft>
            </a:pPr>
            <a:r>
              <a:rPr lang="en-US" altLang="en-US" sz="3000" dirty="0">
                <a:latin typeface="Arial" panose="020B0604020202020204" pitchFamily="34" charset="0"/>
              </a:rPr>
              <a:t>      by keeping open relevant modules. </a:t>
            </a:r>
          </a:p>
        </p:txBody>
      </p:sp>
    </p:spTree>
    <p:extLst>
      <p:ext uri="{BB962C8B-B14F-4D97-AF65-F5344CB8AC3E}">
        <p14:creationId xmlns:p14="http://schemas.microsoft.com/office/powerpoint/2010/main" val="18559290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77742" y="428329"/>
            <a:ext cx="6792062" cy="746423"/>
          </a:xfrm>
          <a:prstGeom prst="rect">
            <a:avLst/>
          </a:prstGeom>
          <a:noFill/>
          <a:ln/>
        </p:spPr>
        <p:txBody>
          <a:bodyPr wrap="square" lIns="0" tIns="0" rIns="0" bIns="0" rtlCol="0" anchor="t"/>
          <a:lstStyle/>
          <a:p>
            <a:pPr>
              <a:lnSpc>
                <a:spcPts val="5291"/>
              </a:lnSpc>
            </a:pPr>
            <a:r>
              <a:rPr lang="en-IN" sz="6000" dirty="0"/>
              <a:t>How to Use?</a:t>
            </a:r>
            <a:endParaRPr lang="en-US" sz="6000" dirty="0"/>
          </a:p>
        </p:txBody>
      </p:sp>
      <p:sp>
        <p:nvSpPr>
          <p:cNvPr id="13" name="Text 4">
            <a:extLst>
              <a:ext uri="{FF2B5EF4-FFF2-40B4-BE49-F238E27FC236}">
                <a16:creationId xmlns="" xmlns:a16="http://schemas.microsoft.com/office/drawing/2014/main" id="{5695BDC9-3212-061C-A158-4644DD91DB6D}"/>
              </a:ext>
            </a:extLst>
          </p:cNvPr>
          <p:cNvSpPr/>
          <p:nvPr/>
        </p:nvSpPr>
        <p:spPr>
          <a:xfrm>
            <a:off x="323528" y="2115244"/>
            <a:ext cx="7998017" cy="4314428"/>
          </a:xfrm>
          <a:prstGeom prst="rect">
            <a:avLst/>
          </a:prstGeom>
          <a:noFill/>
          <a:ln/>
        </p:spPr>
        <p:txBody>
          <a:bodyPr wrap="none" lIns="0" tIns="0" rIns="0" bIns="0" rtlCol="0" anchor="t"/>
          <a:lstStyle/>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Organize your modules in a vertical stack.</a:t>
            </a:r>
          </a:p>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Provide a short, descriptive title for each module</a:t>
            </a:r>
          </a:p>
          <a:p>
            <a:pPr marL="476231" indent="-476231" defTabSz="761970" eaLnBrk="0" fontAlgn="base" hangingPunct="0">
              <a:spcBef>
                <a:spcPct val="0"/>
              </a:spcBef>
              <a:spcAft>
                <a:spcPct val="0"/>
              </a:spcAft>
              <a:buFont typeface="Arial" panose="020B0604020202020204" pitchFamily="34" charset="0"/>
              <a:buChar char="•"/>
            </a:pPr>
            <a:endParaRPr lang="en-US" altLang="en-US" sz="3000" dirty="0">
              <a:latin typeface="Arial" panose="020B0604020202020204" pitchFamily="34" charset="0"/>
            </a:endParaRPr>
          </a:p>
          <a:p>
            <a:pPr defTabSz="761970" eaLnBrk="0" fontAlgn="base" hangingPunct="0">
              <a:spcBef>
                <a:spcPct val="0"/>
              </a:spcBef>
              <a:spcAft>
                <a:spcPct val="0"/>
              </a:spcAft>
            </a:pPr>
            <a:endParaRPr lang="en-US" altLang="en-US" sz="30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Indicate whether a module is open or closed </a:t>
            </a:r>
          </a:p>
          <a:p>
            <a:pPr defTabSz="761970" eaLnBrk="0" fontAlgn="base" hangingPunct="0">
              <a:spcBef>
                <a:spcPct val="0"/>
              </a:spcBef>
              <a:spcAft>
                <a:spcPct val="0"/>
              </a:spcAft>
            </a:pPr>
            <a:r>
              <a:rPr lang="en-US" altLang="en-US" sz="3000" dirty="0">
                <a:latin typeface="Arial" panose="020B0604020202020204" pitchFamily="34" charset="0"/>
              </a:rPr>
              <a:t>     with a triangle icon.</a:t>
            </a:r>
          </a:p>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Rightward Triangle: Closed state.</a:t>
            </a:r>
          </a:p>
          <a:p>
            <a:pPr marL="476231" indent="-476231" defTabSz="761970" eaLnBrk="0" fontAlgn="base" hangingPunct="0">
              <a:spcBef>
                <a:spcPct val="0"/>
              </a:spcBef>
              <a:spcAft>
                <a:spcPct val="0"/>
              </a:spcAft>
              <a:buFont typeface="Arial" panose="020B0604020202020204" pitchFamily="34" charset="0"/>
              <a:buChar char="•"/>
            </a:pPr>
            <a:r>
              <a:rPr lang="en-US" altLang="en-US" sz="3000" dirty="0">
                <a:latin typeface="Arial" panose="020B0604020202020204" pitchFamily="34" charset="0"/>
              </a:rPr>
              <a:t>Downward Triangle: Open state. </a:t>
            </a:r>
          </a:p>
          <a:p>
            <a:pPr defTabSz="761970" eaLnBrk="0" fontAlgn="base" hangingPunct="0">
              <a:spcBef>
                <a:spcPct val="0"/>
              </a:spcBef>
              <a:spcAft>
                <a:spcPct val="0"/>
              </a:spcAft>
            </a:pPr>
            <a:endParaRPr lang="en-US" altLang="en-US" sz="30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endParaRPr lang="en-US" altLang="en-US" sz="30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endParaRPr lang="en-US" altLang="en-US" sz="30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endParaRPr lang="en-US" altLang="en-US" sz="30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endParaRPr lang="en-US" altLang="en-US" sz="30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endParaRPr lang="en-US" altLang="en-US" sz="3000" dirty="0">
              <a:latin typeface="Arial" panose="020B0604020202020204" pitchFamily="34" charset="0"/>
            </a:endParaRPr>
          </a:p>
        </p:txBody>
      </p:sp>
      <p:sp>
        <p:nvSpPr>
          <p:cNvPr id="4" name="TextBox 3">
            <a:extLst>
              <a:ext uri="{FF2B5EF4-FFF2-40B4-BE49-F238E27FC236}">
                <a16:creationId xmlns="" xmlns:a16="http://schemas.microsoft.com/office/drawing/2014/main" id="{5290B27D-1208-6E75-25ED-D71B87FD2DD3}"/>
              </a:ext>
            </a:extLst>
          </p:cNvPr>
          <p:cNvSpPr txBox="1"/>
          <p:nvPr/>
        </p:nvSpPr>
        <p:spPr>
          <a:xfrm>
            <a:off x="323528" y="1428750"/>
            <a:ext cx="7550642" cy="2400657"/>
          </a:xfrm>
          <a:prstGeom prst="rect">
            <a:avLst/>
          </a:prstGeom>
          <a:noFill/>
        </p:spPr>
        <p:txBody>
          <a:bodyPr wrap="square" rtlCol="0">
            <a:spAutoFit/>
          </a:bodyPr>
          <a:lstStyle/>
          <a:p>
            <a:pPr marL="619100" indent="-619100">
              <a:buFont typeface="+mj-lt"/>
              <a:buAutoNum type="arabicPeriod"/>
            </a:pPr>
            <a:r>
              <a:rPr lang="en-IN" sz="3000" b="1" dirty="0"/>
              <a:t>Arrange Modules Vertically:</a:t>
            </a:r>
          </a:p>
          <a:p>
            <a:pPr marL="619100" indent="-619100">
              <a:buFont typeface="+mj-lt"/>
              <a:buAutoNum type="arabicPeriod"/>
            </a:pPr>
            <a:endParaRPr lang="en-IN" sz="3000" b="1" dirty="0"/>
          </a:p>
          <a:p>
            <a:pPr marL="619100" indent="-619100">
              <a:buFont typeface="+mj-lt"/>
              <a:buAutoNum type="arabicPeriod"/>
            </a:pPr>
            <a:endParaRPr lang="en-IN" sz="3000" b="1" dirty="0"/>
          </a:p>
          <a:p>
            <a:pPr marL="619100" indent="-619100">
              <a:buFont typeface="+mj-lt"/>
              <a:buAutoNum type="arabicPeriod"/>
            </a:pPr>
            <a:endParaRPr lang="en-IN" sz="3000" b="1" dirty="0"/>
          </a:p>
          <a:p>
            <a:pPr marL="619100" indent="-619100">
              <a:buFont typeface="+mj-lt"/>
              <a:buAutoNum type="arabicPeriod"/>
            </a:pPr>
            <a:r>
              <a:rPr lang="en-IN" sz="3000" b="1" dirty="0"/>
              <a:t>Use Rotating Triangle Icons:</a:t>
            </a:r>
          </a:p>
        </p:txBody>
      </p:sp>
    </p:spTree>
    <p:extLst>
      <p:ext uri="{BB962C8B-B14F-4D97-AF65-F5344CB8AC3E}">
        <p14:creationId xmlns:p14="http://schemas.microsoft.com/office/powerpoint/2010/main" val="8149344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77742" y="428329"/>
            <a:ext cx="6792062" cy="746423"/>
          </a:xfrm>
          <a:prstGeom prst="rect">
            <a:avLst/>
          </a:prstGeom>
          <a:noFill/>
          <a:ln/>
        </p:spPr>
        <p:txBody>
          <a:bodyPr wrap="square" lIns="0" tIns="0" rIns="0" bIns="0" rtlCol="0" anchor="t"/>
          <a:lstStyle/>
          <a:p>
            <a:pPr>
              <a:lnSpc>
                <a:spcPts val="5291"/>
              </a:lnSpc>
            </a:pPr>
            <a:r>
              <a:rPr lang="en-IN" sz="6000" dirty="0"/>
              <a:t>How to Use?</a:t>
            </a:r>
            <a:endParaRPr lang="en-US" sz="6000" dirty="0"/>
          </a:p>
        </p:txBody>
      </p:sp>
      <p:sp>
        <p:nvSpPr>
          <p:cNvPr id="13" name="Text 4">
            <a:extLst>
              <a:ext uri="{FF2B5EF4-FFF2-40B4-BE49-F238E27FC236}">
                <a16:creationId xmlns="" xmlns:a16="http://schemas.microsoft.com/office/drawing/2014/main" id="{5695BDC9-3212-061C-A158-4644DD91DB6D}"/>
              </a:ext>
            </a:extLst>
          </p:cNvPr>
          <p:cNvSpPr/>
          <p:nvPr/>
        </p:nvSpPr>
        <p:spPr>
          <a:xfrm>
            <a:off x="205896" y="2276872"/>
            <a:ext cx="6552728" cy="4314428"/>
          </a:xfrm>
          <a:prstGeom prst="rect">
            <a:avLst/>
          </a:prstGeom>
          <a:noFill/>
          <a:ln/>
        </p:spPr>
        <p:txBody>
          <a:bodyPr wrap="none" lIns="0" tIns="0" rIns="0" bIns="0" rtlCol="0" anchor="t"/>
          <a:lstStyle/>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Allow more than one module to be open simultaneously.</a:t>
            </a: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Provide a short, descriptive title for each module</a:t>
            </a:r>
          </a:p>
          <a:p>
            <a:pPr marL="476231" indent="-476231" defTabSz="761970" eaLnBrk="0" fontAlgn="base" hangingPunct="0">
              <a:spcBef>
                <a:spcPct val="0"/>
              </a:spcBef>
              <a:spcAft>
                <a:spcPct val="0"/>
              </a:spcAft>
              <a:buFont typeface="Arial" panose="020B0604020202020204" pitchFamily="34" charset="0"/>
              <a:buChar char="•"/>
            </a:pPr>
            <a:endParaRPr lang="en-US" altLang="en-US" sz="2600" dirty="0">
              <a:latin typeface="Arial" panose="020B0604020202020204" pitchFamily="34" charset="0"/>
            </a:endParaRPr>
          </a:p>
          <a:p>
            <a:pPr defTabSz="761970" eaLnBrk="0" fontAlgn="base" hangingPunct="0">
              <a:spcBef>
                <a:spcPct val="0"/>
              </a:spcBef>
              <a:spcAft>
                <a:spcPct val="0"/>
              </a:spcAft>
            </a:pPr>
            <a:endParaRPr lang="en-US" altLang="en-US" sz="26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Ensure the accordion remembers its open and closed</a:t>
            </a:r>
          </a:p>
          <a:p>
            <a:pPr defTabSz="761970" eaLnBrk="0" fontAlgn="base" hangingPunct="0">
              <a:spcBef>
                <a:spcPct val="0"/>
              </a:spcBef>
              <a:spcAft>
                <a:spcPct val="0"/>
              </a:spcAft>
            </a:pPr>
            <a:r>
              <a:rPr lang="en-US" altLang="en-US" sz="2600" dirty="0">
                <a:latin typeface="Arial" panose="020B0604020202020204" pitchFamily="34" charset="0"/>
              </a:rPr>
              <a:t>      state between sessions for logged-in users.</a:t>
            </a: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Useful in tool palettes or applications where </a:t>
            </a:r>
          </a:p>
          <a:p>
            <a:pPr defTabSz="761970" eaLnBrk="0" fontAlgn="base" hangingPunct="0">
              <a:spcBef>
                <a:spcPct val="0"/>
              </a:spcBef>
              <a:spcAft>
                <a:spcPct val="0"/>
              </a:spcAft>
            </a:pPr>
            <a:r>
              <a:rPr lang="en-US" altLang="en-US" sz="2600" dirty="0">
                <a:latin typeface="Arial" panose="020B0604020202020204" pitchFamily="34" charset="0"/>
              </a:rPr>
              <a:t>      consistency matters</a:t>
            </a:r>
            <a:r>
              <a:rPr lang="en-US" altLang="en-US" sz="2600" dirty="0" smtClean="0">
                <a:latin typeface="Arial" panose="020B0604020202020204" pitchFamily="34" charset="0"/>
              </a:rPr>
              <a:t>.</a:t>
            </a:r>
            <a:endParaRPr lang="en-US" altLang="en-US" sz="26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endParaRPr lang="en-US" altLang="en-US" sz="2600" dirty="0">
              <a:latin typeface="Arial" panose="020B0604020202020204" pitchFamily="34" charset="0"/>
            </a:endParaRPr>
          </a:p>
        </p:txBody>
      </p:sp>
      <p:sp>
        <p:nvSpPr>
          <p:cNvPr id="4" name="TextBox 3">
            <a:extLst>
              <a:ext uri="{FF2B5EF4-FFF2-40B4-BE49-F238E27FC236}">
                <a16:creationId xmlns="" xmlns:a16="http://schemas.microsoft.com/office/drawing/2014/main" id="{5290B27D-1208-6E75-25ED-D71B87FD2DD3}"/>
              </a:ext>
            </a:extLst>
          </p:cNvPr>
          <p:cNvSpPr txBox="1"/>
          <p:nvPr/>
        </p:nvSpPr>
        <p:spPr>
          <a:xfrm>
            <a:off x="425788" y="1428750"/>
            <a:ext cx="8178660" cy="2400657"/>
          </a:xfrm>
          <a:prstGeom prst="rect">
            <a:avLst/>
          </a:prstGeom>
          <a:noFill/>
        </p:spPr>
        <p:txBody>
          <a:bodyPr wrap="square" rtlCol="0">
            <a:spAutoFit/>
          </a:bodyPr>
          <a:lstStyle/>
          <a:p>
            <a:r>
              <a:rPr lang="en-IN" sz="3000" b="1" dirty="0"/>
              <a:t>3.    Multiple Modules Open at Once:</a:t>
            </a:r>
          </a:p>
          <a:p>
            <a:pPr marL="619100" indent="-619100">
              <a:buFont typeface="+mj-lt"/>
              <a:buAutoNum type="arabicPeriod"/>
            </a:pPr>
            <a:endParaRPr lang="en-IN" sz="3000" b="1" dirty="0"/>
          </a:p>
          <a:p>
            <a:pPr marL="619100" indent="-619100">
              <a:buFont typeface="+mj-lt"/>
              <a:buAutoNum type="arabicPeriod"/>
            </a:pPr>
            <a:endParaRPr lang="en-IN" sz="3000" b="1" dirty="0"/>
          </a:p>
          <a:p>
            <a:pPr marL="619100" indent="-619100">
              <a:buFont typeface="+mj-lt"/>
              <a:buAutoNum type="arabicPeriod"/>
            </a:pPr>
            <a:endParaRPr lang="en-IN" sz="3000" b="1" dirty="0"/>
          </a:p>
          <a:p>
            <a:r>
              <a:rPr lang="en-IN" sz="3000" b="1" dirty="0" smtClean="0"/>
              <a:t>4.    Preserve </a:t>
            </a:r>
            <a:r>
              <a:rPr lang="en-IN" sz="3000" b="1" dirty="0"/>
              <a:t>State Across Sessions</a:t>
            </a:r>
            <a:r>
              <a:rPr lang="en-IN" sz="3000" b="1" dirty="0" smtClean="0"/>
              <a:t>:</a:t>
            </a:r>
            <a:endParaRPr lang="en-IN" sz="3000" b="1" dirty="0"/>
          </a:p>
        </p:txBody>
      </p:sp>
    </p:spTree>
    <p:extLst>
      <p:ext uri="{BB962C8B-B14F-4D97-AF65-F5344CB8AC3E}">
        <p14:creationId xmlns:p14="http://schemas.microsoft.com/office/powerpoint/2010/main" val="190570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2992" y="777578"/>
            <a:ext cx="6792062" cy="1353543"/>
          </a:xfrm>
          <a:prstGeom prst="rect">
            <a:avLst/>
          </a:prstGeom>
          <a:noFill/>
          <a:ln/>
        </p:spPr>
        <p:txBody>
          <a:bodyPr wrap="square" lIns="0" tIns="0" rIns="0" bIns="0" rtlCol="0" anchor="t"/>
          <a:lstStyle/>
          <a:p>
            <a:pPr>
              <a:lnSpc>
                <a:spcPts val="5291"/>
              </a:lnSpc>
            </a:pPr>
            <a:r>
              <a:rPr lang="en-IN" sz="6000" dirty="0"/>
              <a:t>Examples</a:t>
            </a:r>
            <a:endParaRPr lang="en-US" sz="6000" dirty="0"/>
          </a:p>
        </p:txBody>
      </p:sp>
    </p:spTree>
    <p:extLst>
      <p:ext uri="{BB962C8B-B14F-4D97-AF65-F5344CB8AC3E}">
        <p14:creationId xmlns:p14="http://schemas.microsoft.com/office/powerpoint/2010/main" val="8870028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7995" y="870277"/>
            <a:ext cx="6994381" cy="551359"/>
          </a:xfrm>
          <a:prstGeom prst="rect">
            <a:avLst/>
          </a:prstGeom>
          <a:noFill/>
          <a:ln/>
        </p:spPr>
        <p:txBody>
          <a:bodyPr wrap="square" lIns="0" tIns="0" rIns="0" bIns="0" rtlCol="0" anchor="t"/>
          <a:lstStyle/>
          <a:p>
            <a:pPr algn="ctr">
              <a:lnSpc>
                <a:spcPts val="5291"/>
              </a:lnSpc>
            </a:pPr>
            <a:r>
              <a:rPr lang="en-IN" sz="6000" dirty="0"/>
              <a:t>What is an Collapsible Panel?</a:t>
            </a:r>
            <a:endParaRPr lang="en-US" sz="6000" b="1" dirty="0"/>
          </a:p>
        </p:txBody>
      </p:sp>
      <p:sp>
        <p:nvSpPr>
          <p:cNvPr id="6" name="Text 4"/>
          <p:cNvSpPr/>
          <p:nvPr/>
        </p:nvSpPr>
        <p:spPr>
          <a:xfrm>
            <a:off x="179512" y="2087834"/>
            <a:ext cx="7810430" cy="3380157"/>
          </a:xfrm>
          <a:prstGeom prst="rect">
            <a:avLst/>
          </a:prstGeom>
          <a:noFill/>
          <a:ln/>
        </p:spPr>
        <p:txBody>
          <a:bodyPr wrap="none" lIns="0" tIns="0" rIns="0" bIns="0" rtlCol="0" anchor="t"/>
          <a:lstStyle/>
          <a:p>
            <a:pPr marL="476231" indent="-476231" defTabSz="761970" eaLnBrk="0" fontAlgn="base" hangingPunct="0">
              <a:spcBef>
                <a:spcPct val="0"/>
              </a:spcBef>
              <a:spcAft>
                <a:spcPct val="0"/>
              </a:spcAft>
              <a:buFont typeface="Arial" panose="020B0604020202020204" pitchFamily="34" charset="0"/>
              <a:buChar char="•"/>
            </a:pPr>
            <a:endParaRPr lang="en-US" altLang="en-US" sz="26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Contains secondary or optional content.</a:t>
            </a: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Panels open/close to free space for main content.</a:t>
            </a: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Often used for sidebars, comments, or extra information. </a:t>
            </a:r>
          </a:p>
        </p:txBody>
      </p:sp>
    </p:spTree>
    <p:extLst>
      <p:ext uri="{BB962C8B-B14F-4D97-AF65-F5344CB8AC3E}">
        <p14:creationId xmlns:p14="http://schemas.microsoft.com/office/powerpoint/2010/main" val="37701649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75793" y="777578"/>
            <a:ext cx="6792062" cy="1353543"/>
          </a:xfrm>
          <a:prstGeom prst="rect">
            <a:avLst/>
          </a:prstGeom>
          <a:noFill/>
          <a:ln/>
        </p:spPr>
        <p:txBody>
          <a:bodyPr wrap="square" lIns="0" tIns="0" rIns="0" bIns="0" rtlCol="0" anchor="t"/>
          <a:lstStyle/>
          <a:p>
            <a:pPr>
              <a:lnSpc>
                <a:spcPts val="5291"/>
              </a:lnSpc>
            </a:pPr>
            <a:r>
              <a:rPr lang="en-IN" sz="6000" dirty="0"/>
              <a:t>When to Use?</a:t>
            </a:r>
            <a:endParaRPr lang="en-US" sz="6000" dirty="0"/>
          </a:p>
        </p:txBody>
      </p:sp>
      <p:sp>
        <p:nvSpPr>
          <p:cNvPr id="13" name="Text 4">
            <a:extLst>
              <a:ext uri="{FF2B5EF4-FFF2-40B4-BE49-F238E27FC236}">
                <a16:creationId xmlns="" xmlns:a16="http://schemas.microsoft.com/office/drawing/2014/main" id="{5695BDC9-3212-061C-A158-4644DD91DB6D}"/>
              </a:ext>
            </a:extLst>
          </p:cNvPr>
          <p:cNvSpPr/>
          <p:nvPr/>
        </p:nvSpPr>
        <p:spPr>
          <a:xfrm>
            <a:off x="179512" y="1877118"/>
            <a:ext cx="8392415" cy="4980882"/>
          </a:xfrm>
          <a:prstGeom prst="rect">
            <a:avLst/>
          </a:prstGeom>
          <a:noFill/>
          <a:ln/>
        </p:spPr>
        <p:txBody>
          <a:bodyPr wrap="none" lIns="0" tIns="0" rIns="0" bIns="0" rtlCol="0" anchor="t"/>
          <a:lstStyle/>
          <a:p>
            <a:pPr marL="476231" indent="-476231" defTabSz="761970" eaLnBrk="0" fontAlgn="base" hangingPunct="0">
              <a:spcBef>
                <a:spcPct val="0"/>
              </a:spcBef>
              <a:spcAft>
                <a:spcPct val="0"/>
              </a:spcAft>
              <a:buFont typeface="Arial" panose="020B0604020202020204" pitchFamily="34" charset="0"/>
              <a:buChar char="•"/>
            </a:pPr>
            <a:r>
              <a:rPr lang="en-US" sz="2400" dirty="0">
                <a:latin typeface="Arial" panose="020B0604020202020204" pitchFamily="34" charset="0"/>
                <a:cs typeface="Arial" panose="020B0604020202020204" pitchFamily="34" charset="0"/>
              </a:rPr>
              <a:t>When modules are not essential, they remain </a:t>
            </a:r>
          </a:p>
          <a:p>
            <a:pPr defTabSz="761970" eaLnBrk="0" fontAlgn="base" hangingPunct="0">
              <a:spcBef>
                <a:spcPct val="0"/>
              </a:spcBef>
              <a:spcAft>
                <a:spcPct val="0"/>
              </a:spcAft>
            </a:pPr>
            <a:r>
              <a:rPr lang="en-US" sz="2400" dirty="0">
                <a:latin typeface="Arial" panose="020B0604020202020204" pitchFamily="34" charset="0"/>
                <a:cs typeface="Arial" panose="020B0604020202020204" pitchFamily="34" charset="0"/>
              </a:rPr>
              <a:t>      closed by default to avoid clutter.</a:t>
            </a:r>
            <a:endParaRPr lang="en-US" altLang="en-US" sz="2400" dirty="0">
              <a:latin typeface="Arial" panose="020B0604020202020204" pitchFamily="34" charset="0"/>
              <a:cs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When they are not essential enough to be open by default.</a:t>
            </a:r>
          </a:p>
          <a:p>
            <a:pPr marL="476231" indent="-476231" defTabSz="761970" eaLnBrk="0" fontAlgn="base" hangingPunct="0">
              <a:spcBef>
                <a:spcPct val="0"/>
              </a:spcBef>
              <a:spcAft>
                <a:spcPct val="0"/>
              </a:spcAft>
              <a:buFont typeface="Arial" panose="020B0604020202020204" pitchFamily="34" charset="0"/>
              <a:buChar char="•"/>
            </a:pPr>
            <a:r>
              <a:rPr lang="en-US" sz="2400" dirty="0">
                <a:latin typeface="Arial" panose="020B0604020202020204" pitchFamily="34" charset="0"/>
                <a:cs typeface="Arial" panose="020B0604020202020204" pitchFamily="34" charset="0"/>
              </a:rPr>
              <a:t>When modules are not needed, collapsing them </a:t>
            </a:r>
          </a:p>
          <a:p>
            <a:pPr defTabSz="761970" eaLnBrk="0" fontAlgn="base" hangingPunct="0">
              <a:spcBef>
                <a:spcPct val="0"/>
              </a:spcBef>
              <a:spcAft>
                <a:spcPct val="0"/>
              </a:spcAft>
            </a:pPr>
            <a:r>
              <a:rPr lang="en-US" sz="2400" dirty="0">
                <a:latin typeface="Arial" panose="020B0604020202020204" pitchFamily="34" charset="0"/>
                <a:cs typeface="Arial" panose="020B0604020202020204" pitchFamily="34" charset="0"/>
              </a:rPr>
              <a:t>      optimizes space for the main content.</a:t>
            </a:r>
          </a:p>
          <a:p>
            <a:pPr marL="476231" indent="-476231" defTabSz="761970" eaLnBrk="0" fontAlgn="base" hangingPunct="0">
              <a:spcBef>
                <a:spcPct val="0"/>
              </a:spcBef>
              <a:spcAft>
                <a:spcPct val="0"/>
              </a:spcAft>
              <a:buFont typeface="Arial" panose="020B0604020202020204" pitchFamily="34" charset="0"/>
              <a:buChar char="•"/>
            </a:pPr>
            <a:r>
              <a:rPr lang="en-US" sz="2400" dirty="0">
                <a:latin typeface="Arial" panose="020B0604020202020204" pitchFamily="34" charset="0"/>
                <a:cs typeface="Arial" panose="020B0604020202020204" pitchFamily="34" charset="0"/>
              </a:rPr>
              <a:t>When users interact with the page, the importance of modules </a:t>
            </a:r>
          </a:p>
          <a:p>
            <a:pPr defTabSz="761970" eaLnBrk="0" fontAlgn="base" hangingPunct="0">
              <a:spcBef>
                <a:spcPct val="0"/>
              </a:spcBef>
              <a:spcAft>
                <a:spcPct val="0"/>
              </a:spcAft>
            </a:pPr>
            <a:r>
              <a:rPr lang="en-US" sz="2400" dirty="0">
                <a:latin typeface="Arial" panose="020B0604020202020204" pitchFamily="34" charset="0"/>
                <a:cs typeface="Arial" panose="020B0604020202020204" pitchFamily="34" charset="0"/>
              </a:rPr>
              <a:t>      varies, as some find specific ones more useful than others.</a:t>
            </a:r>
          </a:p>
          <a:p>
            <a:pPr marL="476231" indent="-476231" defTabSz="761970" eaLnBrk="0" fontAlgn="base" hangingPunct="0">
              <a:spcBef>
                <a:spcPct val="0"/>
              </a:spcBef>
              <a:spcAft>
                <a:spcPct val="0"/>
              </a:spcAft>
              <a:buFont typeface="Arial" panose="020B0604020202020204" pitchFamily="34" charset="0"/>
              <a:buChar char="•"/>
            </a:pPr>
            <a:r>
              <a:rPr lang="en-US" sz="2400" dirty="0">
                <a:latin typeface="Arial" panose="020B0604020202020204" pitchFamily="34" charset="0"/>
                <a:cs typeface="Arial" panose="020B0604020202020204" pitchFamily="34" charset="0"/>
              </a:rPr>
              <a:t>When using Collapsible Panels, they are independent and </a:t>
            </a:r>
          </a:p>
          <a:p>
            <a:pPr defTabSz="761970" eaLnBrk="0" fontAlgn="base" hangingPunct="0">
              <a:spcBef>
                <a:spcPct val="0"/>
              </a:spcBef>
              <a:spcAft>
                <a:spcPct val="0"/>
              </a:spcAft>
            </a:pPr>
            <a:r>
              <a:rPr lang="en-US" sz="2400" dirty="0">
                <a:latin typeface="Arial" panose="020B0604020202020204" pitchFamily="34" charset="0"/>
                <a:cs typeface="Arial" panose="020B0604020202020204" pitchFamily="34" charset="0"/>
              </a:rPr>
              <a:t>      do not suggest relationships, unlike Tabs or Accordions.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976541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2992" y="777578"/>
            <a:ext cx="6792062" cy="1353543"/>
          </a:xfrm>
          <a:prstGeom prst="rect">
            <a:avLst/>
          </a:prstGeom>
          <a:noFill/>
          <a:ln/>
        </p:spPr>
        <p:txBody>
          <a:bodyPr wrap="square" lIns="0" tIns="0" rIns="0" bIns="0" rtlCol="0" anchor="t"/>
          <a:lstStyle/>
          <a:p>
            <a:pPr>
              <a:lnSpc>
                <a:spcPts val="5291"/>
              </a:lnSpc>
            </a:pPr>
            <a:r>
              <a:rPr lang="en-IN" sz="6000" dirty="0"/>
              <a:t>Why?</a:t>
            </a:r>
            <a:endParaRPr lang="en-US" sz="6000" dirty="0"/>
          </a:p>
        </p:txBody>
      </p:sp>
      <p:sp>
        <p:nvSpPr>
          <p:cNvPr id="13" name="Text 4">
            <a:extLst>
              <a:ext uri="{FF2B5EF4-FFF2-40B4-BE49-F238E27FC236}">
                <a16:creationId xmlns="" xmlns:a16="http://schemas.microsoft.com/office/drawing/2014/main" id="{5695BDC9-3212-061C-A158-4644DD91DB6D}"/>
              </a:ext>
            </a:extLst>
          </p:cNvPr>
          <p:cNvSpPr/>
          <p:nvPr/>
        </p:nvSpPr>
        <p:spPr>
          <a:xfrm>
            <a:off x="107504" y="1340768"/>
            <a:ext cx="6600103" cy="4393506"/>
          </a:xfrm>
          <a:prstGeom prst="rect">
            <a:avLst/>
          </a:prstGeom>
          <a:noFill/>
          <a:ln/>
        </p:spPr>
        <p:txBody>
          <a:bodyPr wrap="none" lIns="0" tIns="0" rIns="0" bIns="0" rtlCol="0" anchor="t"/>
          <a:lstStyle/>
          <a:p>
            <a:pPr marL="476231" indent="-476231" defTabSz="761970" eaLnBrk="0" fontAlgn="base" hangingPunct="0">
              <a:spcBef>
                <a:spcPct val="0"/>
              </a:spcBef>
              <a:spcAft>
                <a:spcPct val="0"/>
              </a:spcAft>
              <a:buFont typeface="Arial" panose="020B0604020202020204" pitchFamily="34" charset="0"/>
              <a:buChar char="•"/>
            </a:pPr>
            <a:endParaRPr lang="en-US" altLang="en-US" sz="2600" dirty="0">
              <a:latin typeface="Arial" panose="020B0604020202020204" pitchFamily="34" charset="0"/>
            </a:endParaRP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Hiding non-essential content makes</a:t>
            </a:r>
          </a:p>
          <a:p>
            <a:pPr defTabSz="761970" eaLnBrk="0" fontAlgn="base" hangingPunct="0">
              <a:spcBef>
                <a:spcPct val="0"/>
              </a:spcBef>
              <a:spcAft>
                <a:spcPct val="0"/>
              </a:spcAft>
            </a:pPr>
            <a:r>
              <a:rPr lang="en-US" altLang="en-US" sz="2600" dirty="0">
                <a:latin typeface="Arial" panose="020B0604020202020204" pitchFamily="34" charset="0"/>
              </a:rPr>
              <a:t>      the interface simpler.</a:t>
            </a: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Collapsing modules creates more space for </a:t>
            </a:r>
          </a:p>
          <a:p>
            <a:pPr defTabSz="761970" eaLnBrk="0" fontAlgn="base" hangingPunct="0">
              <a:spcBef>
                <a:spcPct val="0"/>
              </a:spcBef>
              <a:spcAft>
                <a:spcPct val="0"/>
              </a:spcAft>
            </a:pPr>
            <a:r>
              <a:rPr lang="en-US" altLang="en-US" sz="2600" dirty="0">
                <a:latin typeface="Arial" panose="020B0604020202020204" pitchFamily="34" charset="0"/>
              </a:rPr>
              <a:t>      the main content.</a:t>
            </a: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This approach shows content only when needed.</a:t>
            </a: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Grouping and hiding content helps keep the interface tidy.</a:t>
            </a:r>
          </a:p>
          <a:p>
            <a:pPr marL="476231" indent="-476231" defTabSz="761970" eaLnBrk="0" fontAlgn="base" hangingPunct="0">
              <a:spcBef>
                <a:spcPct val="0"/>
              </a:spcBef>
              <a:spcAft>
                <a:spcPct val="0"/>
              </a:spcAft>
              <a:buFont typeface="Arial" panose="020B0604020202020204" pitchFamily="34" charset="0"/>
              <a:buChar char="•"/>
            </a:pPr>
            <a:r>
              <a:rPr lang="en-US" altLang="en-US" sz="2600" dirty="0">
                <a:latin typeface="Arial" panose="020B0604020202020204" pitchFamily="34" charset="0"/>
              </a:rPr>
              <a:t>Collapsible Panels are one tool among others</a:t>
            </a:r>
          </a:p>
          <a:p>
            <a:pPr defTabSz="761970" eaLnBrk="0" fontAlgn="base" hangingPunct="0">
              <a:spcBef>
                <a:spcPct val="0"/>
              </a:spcBef>
              <a:spcAft>
                <a:spcPct val="0"/>
              </a:spcAft>
            </a:pPr>
            <a:r>
              <a:rPr lang="en-US" altLang="en-US" sz="2600" dirty="0">
                <a:latin typeface="Arial" panose="020B0604020202020204" pitchFamily="34" charset="0"/>
              </a:rPr>
              <a:t>      like Tabs and Accordions. </a:t>
            </a:r>
          </a:p>
        </p:txBody>
      </p:sp>
    </p:spTree>
    <p:extLst>
      <p:ext uri="{BB962C8B-B14F-4D97-AF65-F5344CB8AC3E}">
        <p14:creationId xmlns:p14="http://schemas.microsoft.com/office/powerpoint/2010/main" val="19798496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77742" y="428329"/>
            <a:ext cx="6792062" cy="746423"/>
          </a:xfrm>
          <a:prstGeom prst="rect">
            <a:avLst/>
          </a:prstGeom>
          <a:noFill/>
          <a:ln/>
        </p:spPr>
        <p:txBody>
          <a:bodyPr wrap="square" lIns="0" tIns="0" rIns="0" bIns="0" rtlCol="0" anchor="t"/>
          <a:lstStyle/>
          <a:p>
            <a:pPr>
              <a:lnSpc>
                <a:spcPts val="5291"/>
              </a:lnSpc>
            </a:pPr>
            <a:r>
              <a:rPr lang="en-IN" sz="6000" dirty="0"/>
              <a:t>How to Use?</a:t>
            </a:r>
            <a:endParaRPr lang="en-US" sz="6000" dirty="0"/>
          </a:p>
        </p:txBody>
      </p:sp>
      <p:sp>
        <p:nvSpPr>
          <p:cNvPr id="13" name="Text 4">
            <a:extLst>
              <a:ext uri="{FF2B5EF4-FFF2-40B4-BE49-F238E27FC236}">
                <a16:creationId xmlns="" xmlns:a16="http://schemas.microsoft.com/office/drawing/2014/main" id="{5695BDC9-3212-061C-A158-4644DD91DB6D}"/>
              </a:ext>
            </a:extLst>
          </p:cNvPr>
          <p:cNvSpPr/>
          <p:nvPr/>
        </p:nvSpPr>
        <p:spPr>
          <a:xfrm>
            <a:off x="179512" y="1428750"/>
            <a:ext cx="7998017" cy="4314428"/>
          </a:xfrm>
          <a:prstGeom prst="rect">
            <a:avLst/>
          </a:prstGeom>
          <a:noFill/>
          <a:ln/>
        </p:spPr>
        <p:txBody>
          <a:bodyPr wrap="none" lIns="0" tIns="0" rIns="0" bIns="0" rtlCol="0" anchor="t"/>
          <a:lstStyle/>
          <a:p>
            <a:pPr marL="619100" indent="-619100">
              <a:buAutoNum type="arabicPeriod"/>
            </a:pPr>
            <a:r>
              <a:rPr lang="en-US" sz="3000" b="1" dirty="0"/>
              <a:t>Clear Labeling and Visual Indicators</a:t>
            </a:r>
          </a:p>
          <a:p>
            <a:pPr marL="619100" indent="-619100">
              <a:buAutoNum type="arabicPeriod"/>
            </a:pPr>
            <a:endParaRPr lang="en-US" sz="3000" b="1" dirty="0"/>
          </a:p>
          <a:p>
            <a:pPr marL="476231" indent="-476231">
              <a:buFont typeface="Arial" panose="020B0604020202020204" pitchFamily="34" charset="0"/>
              <a:buChar char="•"/>
            </a:pPr>
            <a:r>
              <a:rPr lang="en-US" sz="3000" dirty="0"/>
              <a:t>Use descriptive titles for panels</a:t>
            </a:r>
          </a:p>
          <a:p>
            <a:pPr marL="476231" indent="-476231">
              <a:buFont typeface="Arial" panose="020B0604020202020204" pitchFamily="34" charset="0"/>
              <a:buChar char="•"/>
            </a:pPr>
            <a:r>
              <a:rPr lang="en-US" sz="3000" dirty="0"/>
              <a:t>Include “More” labels and chevron icons to</a:t>
            </a:r>
          </a:p>
          <a:p>
            <a:r>
              <a:rPr lang="en-US" sz="3000" dirty="0"/>
              <a:t>       indicate expandable content.</a:t>
            </a:r>
          </a:p>
          <a:p>
            <a:endParaRPr lang="en-US" sz="3000" dirty="0"/>
          </a:p>
          <a:p>
            <a:pPr marL="619100" indent="-619100">
              <a:buAutoNum type="arabicPeriod" startAt="2"/>
            </a:pPr>
            <a:r>
              <a:rPr lang="en-US" sz="3000" b="1" dirty="0"/>
              <a:t>User Interaction</a:t>
            </a:r>
          </a:p>
          <a:p>
            <a:pPr marL="619100" indent="-619100">
              <a:buAutoNum type="arabicPeriod" startAt="2"/>
            </a:pPr>
            <a:endParaRPr lang="en-US" sz="3000" b="1" dirty="0"/>
          </a:p>
          <a:p>
            <a:pPr marL="476231" indent="-476231">
              <a:buFont typeface="Arial" panose="020B0604020202020204" pitchFamily="34" charset="0"/>
              <a:buChar char="•"/>
            </a:pPr>
            <a:r>
              <a:rPr lang="en-US" sz="3000" dirty="0"/>
              <a:t>Allow panels to open and close with one click.</a:t>
            </a:r>
          </a:p>
          <a:p>
            <a:pPr marL="476231" indent="-476231">
              <a:buFont typeface="Arial" panose="020B0604020202020204" pitchFamily="34" charset="0"/>
              <a:buChar char="•"/>
            </a:pPr>
            <a:r>
              <a:rPr lang="en-US" sz="3000" dirty="0"/>
              <a:t>Set frequently opened panels to be open by default.</a:t>
            </a:r>
          </a:p>
        </p:txBody>
      </p:sp>
      <p:pic>
        <p:nvPicPr>
          <p:cNvPr id="5" name="Picture 4">
            <a:extLst>
              <a:ext uri="{FF2B5EF4-FFF2-40B4-BE49-F238E27FC236}">
                <a16:creationId xmlns="" xmlns:a16="http://schemas.microsoft.com/office/drawing/2014/main" id="{97C98CA2-62EE-18B4-9860-1535D97BA6D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5190" b="89619" l="9964" r="91486">
                        <a14:foregroundMark x1="34601" y1="59862" x2="34601" y2="59862"/>
                        <a14:foregroundMark x1="14493" y1="6228" x2="14493" y2="6228"/>
                        <a14:foregroundMark x1="91486" y1="45502" x2="91486" y2="45502"/>
                        <a14:foregroundMark x1="51449" y1="5190" x2="51449" y2="5190"/>
                      </a14:backgroundRemoval>
                    </a14:imgEffect>
                  </a14:imgLayer>
                </a14:imgProps>
              </a:ext>
            </a:extLst>
          </a:blip>
          <a:stretch>
            <a:fillRect/>
          </a:stretch>
        </p:blipFill>
        <p:spPr>
          <a:xfrm>
            <a:off x="7229357" y="439673"/>
            <a:ext cx="1896341" cy="2647549"/>
          </a:xfrm>
          <a:prstGeom prst="rect">
            <a:avLst/>
          </a:prstGeom>
        </p:spPr>
      </p:pic>
    </p:spTree>
    <p:extLst>
      <p:ext uri="{BB962C8B-B14F-4D97-AF65-F5344CB8AC3E}">
        <p14:creationId xmlns:p14="http://schemas.microsoft.com/office/powerpoint/2010/main" val="38413514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4">
            <a:extLst>
              <a:ext uri="{FF2B5EF4-FFF2-40B4-BE49-F238E27FC236}">
                <a16:creationId xmlns="" xmlns:a16="http://schemas.microsoft.com/office/drawing/2014/main" id="{5695BDC9-3212-061C-A158-4644DD91DB6D}"/>
              </a:ext>
            </a:extLst>
          </p:cNvPr>
          <p:cNvSpPr/>
          <p:nvPr/>
        </p:nvSpPr>
        <p:spPr>
          <a:xfrm>
            <a:off x="140945" y="652661"/>
            <a:ext cx="9759647" cy="4314428"/>
          </a:xfrm>
          <a:prstGeom prst="rect">
            <a:avLst/>
          </a:prstGeom>
          <a:noFill/>
          <a:ln/>
        </p:spPr>
        <p:txBody>
          <a:bodyPr wrap="none" lIns="0" tIns="0" rIns="0" bIns="0" rtlCol="0" anchor="t"/>
          <a:lstStyle/>
          <a:p>
            <a:pPr marL="619100" indent="-619100">
              <a:buAutoNum type="arabicPeriod" startAt="3"/>
            </a:pPr>
            <a:r>
              <a:rPr lang="en-US" sz="2400" b="1" dirty="0"/>
              <a:t>Smooth Transitions</a:t>
            </a:r>
          </a:p>
          <a:p>
            <a:pPr marL="619100" indent="-619100">
              <a:buAutoNum type="arabicPeriod" startAt="3"/>
            </a:pPr>
            <a:endParaRPr lang="en-US" sz="2400" b="1" dirty="0"/>
          </a:p>
          <a:p>
            <a:pPr marL="476231" indent="-476231">
              <a:buFont typeface="Arial" panose="020B0604020202020204" pitchFamily="34" charset="0"/>
              <a:buChar char="•"/>
            </a:pPr>
            <a:r>
              <a:rPr lang="en-US" sz="2400" dirty="0"/>
              <a:t>Use animations for opening and closing to enhance user experience.</a:t>
            </a:r>
          </a:p>
          <a:p>
            <a:pPr>
              <a:buFont typeface="Arial" panose="020B0604020202020204" pitchFamily="34" charset="0"/>
              <a:buChar char="•"/>
            </a:pPr>
            <a:endParaRPr lang="en-US" sz="2400" dirty="0"/>
          </a:p>
          <a:p>
            <a:pPr marL="619100" indent="-619100">
              <a:buAutoNum type="arabicPeriod" startAt="4"/>
            </a:pPr>
            <a:r>
              <a:rPr lang="en-US" sz="2400" b="1" dirty="0"/>
              <a:t>Space Management</a:t>
            </a:r>
          </a:p>
          <a:p>
            <a:pPr marL="619100" indent="-619100">
              <a:buAutoNum type="arabicPeriod" startAt="4"/>
            </a:pPr>
            <a:endParaRPr lang="en-US" sz="2400" b="1" dirty="0"/>
          </a:p>
          <a:p>
            <a:pPr marL="476231" indent="-476231">
              <a:buFont typeface="Arial" panose="020B0604020202020204" pitchFamily="34" charset="0"/>
              <a:buChar char="•"/>
            </a:pPr>
            <a:r>
              <a:rPr lang="en-US" sz="2400" dirty="0"/>
              <a:t>Collapse closed panels to optimize layout and improve readability.</a:t>
            </a:r>
          </a:p>
          <a:p>
            <a:pPr>
              <a:buFont typeface="Arial" panose="020B0604020202020204" pitchFamily="34" charset="0"/>
              <a:buChar char="•"/>
            </a:pPr>
            <a:endParaRPr lang="en-US" sz="2400" dirty="0"/>
          </a:p>
          <a:p>
            <a:pPr marL="619100" indent="-619100">
              <a:buAutoNum type="arabicPeriod" startAt="5"/>
            </a:pPr>
            <a:r>
              <a:rPr lang="en-US" sz="2400" b="1" dirty="0"/>
              <a:t>Content Grouping and Independence</a:t>
            </a:r>
          </a:p>
          <a:p>
            <a:pPr marL="619100" indent="-619100">
              <a:buAutoNum type="arabicPeriod" startAt="5"/>
            </a:pPr>
            <a:endParaRPr lang="en-US" sz="2400" b="1" dirty="0"/>
          </a:p>
          <a:p>
            <a:pPr marL="476231" indent="-476231">
              <a:buFont typeface="Arial" panose="020B0604020202020204" pitchFamily="34" charset="0"/>
              <a:buChar char="•"/>
            </a:pPr>
            <a:r>
              <a:rPr lang="en-US" sz="2400" dirty="0"/>
              <a:t>Group related modules in one panel with Tabs or an Accordion.</a:t>
            </a:r>
          </a:p>
          <a:p>
            <a:pPr marL="476231" indent="-476231">
              <a:buFont typeface="Arial" panose="020B0604020202020204" pitchFamily="34" charset="0"/>
              <a:buChar char="•"/>
            </a:pPr>
            <a:r>
              <a:rPr lang="en-US" sz="2400" dirty="0"/>
              <a:t>Keep panels independent to avoid implying relationships.</a:t>
            </a:r>
          </a:p>
        </p:txBody>
      </p:sp>
    </p:spTree>
    <p:extLst>
      <p:ext uri="{BB962C8B-B14F-4D97-AF65-F5344CB8AC3E}">
        <p14:creationId xmlns:p14="http://schemas.microsoft.com/office/powerpoint/2010/main" val="402759320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2992" y="777578"/>
            <a:ext cx="6792062" cy="1353543"/>
          </a:xfrm>
          <a:prstGeom prst="rect">
            <a:avLst/>
          </a:prstGeom>
          <a:noFill/>
          <a:ln/>
        </p:spPr>
        <p:txBody>
          <a:bodyPr wrap="square" lIns="0" tIns="0" rIns="0" bIns="0" rtlCol="0" anchor="t"/>
          <a:lstStyle/>
          <a:p>
            <a:pPr>
              <a:lnSpc>
                <a:spcPts val="5291"/>
              </a:lnSpc>
            </a:pPr>
            <a:r>
              <a:rPr lang="en-IN" sz="6000" dirty="0"/>
              <a:t>Examples</a:t>
            </a:r>
            <a:endParaRPr lang="en-US" sz="6000" dirty="0"/>
          </a:p>
        </p:txBody>
      </p:sp>
    </p:spTree>
    <p:extLst>
      <p:ext uri="{BB962C8B-B14F-4D97-AF65-F5344CB8AC3E}">
        <p14:creationId xmlns:p14="http://schemas.microsoft.com/office/powerpoint/2010/main" val="2067314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133</TotalTime>
  <Words>6736</Words>
  <Application>Microsoft Office PowerPoint</Application>
  <PresentationFormat>On-screen Show (4:3)</PresentationFormat>
  <Paragraphs>620</Paragraphs>
  <Slides>96</Slides>
  <Notes>13</Notes>
  <HiddenSlides>0</HiddenSlides>
  <MMClips>0</MMClips>
  <ScaleCrop>false</ScaleCrop>
  <HeadingPairs>
    <vt:vector size="4" baseType="variant">
      <vt:variant>
        <vt:lpstr>Theme</vt:lpstr>
      </vt:variant>
      <vt:variant>
        <vt:i4>1</vt:i4>
      </vt:variant>
      <vt:variant>
        <vt:lpstr>Slide Titles</vt:lpstr>
      </vt:variant>
      <vt:variant>
        <vt:i4>96</vt:i4>
      </vt:variant>
    </vt:vector>
  </HeadingPairs>
  <TitlesOfParts>
    <vt:vector size="97" baseType="lpstr">
      <vt:lpstr>Office Theme</vt:lpstr>
      <vt:lpstr> MODULE- 2</vt:lpstr>
      <vt:lpstr>Information architecture (IA) &amp; Application structure </vt:lpstr>
      <vt:lpstr>Introduction to information architecture and application structure </vt:lpstr>
      <vt:lpstr>PowerPoint Presentation</vt:lpstr>
      <vt:lpstr>Displaying a single item</vt:lpstr>
      <vt:lpstr>Displaying a single item</vt:lpstr>
      <vt:lpstr>Presenting a list or collection of items</vt:lpstr>
      <vt:lpstr>Presenting a list or collection of items</vt:lpstr>
      <vt:lpstr>Offering tools for creation</vt:lpstr>
      <vt:lpstr> Facilitating a specific task </vt:lpstr>
      <vt:lpstr>The Patterns</vt:lpstr>
      <vt:lpstr>The Patterns</vt:lpstr>
      <vt:lpstr>1. Feature, Search, and Browse </vt:lpstr>
      <vt:lpstr>1. Feature, Search, and Browse - WHY </vt:lpstr>
      <vt:lpstr>1. Feature, Search, and Browse- HOW</vt:lpstr>
      <vt:lpstr>1. Feature, Search, and Browse- HOW</vt:lpstr>
      <vt:lpstr>2. News Stream- WHAT &amp; WHEN</vt:lpstr>
      <vt:lpstr>2. News Stream- WHY</vt:lpstr>
      <vt:lpstr>2. News Stream- HOW</vt:lpstr>
      <vt:lpstr>2. News Stream</vt:lpstr>
      <vt:lpstr>PowerPoint Presentation</vt:lpstr>
      <vt:lpstr>PowerPoint Presentation</vt:lpstr>
      <vt:lpstr>3.Picture Manager- WHAT &amp; WHEN</vt:lpstr>
      <vt:lpstr>Picture Manager- HOW</vt:lpstr>
      <vt:lpstr>THUMBNAILS</vt:lpstr>
      <vt:lpstr>THUMBNAILS</vt:lpstr>
      <vt:lpstr>Single-Item View</vt:lpstr>
      <vt:lpstr>Single-Item View</vt:lpstr>
      <vt:lpstr>4. Dashboard</vt:lpstr>
      <vt:lpstr>PowerPoint Presentation</vt:lpstr>
      <vt:lpstr>PowerPoint Presentation</vt:lpstr>
      <vt:lpstr>5. Canvas Plus Palette</vt:lpstr>
      <vt:lpstr>PowerPoint Presentation</vt:lpstr>
      <vt:lpstr>PowerPoint Presentation</vt:lpstr>
      <vt:lpstr>6. Settings Editor</vt:lpstr>
      <vt:lpstr>PowerPoint Presentation</vt:lpstr>
      <vt:lpstr>7. Alternative Views</vt:lpstr>
      <vt:lpstr>PowerPoint Presentation</vt:lpstr>
      <vt:lpstr>WHY</vt:lpstr>
      <vt:lpstr>HOW</vt:lpstr>
      <vt:lpstr>HOW</vt:lpstr>
      <vt:lpstr>Many Workspaces</vt:lpstr>
      <vt:lpstr>WHY</vt:lpstr>
      <vt:lpstr>HOW</vt:lpstr>
      <vt:lpstr>PowerPoint Presentation</vt:lpstr>
      <vt:lpstr>Multi-Level Help</vt:lpstr>
      <vt:lpstr>Multi-Level Help</vt:lpstr>
      <vt:lpstr>Multi-Level Help- WHY</vt:lpstr>
      <vt:lpstr>Multi-Level Help- WHY</vt:lpstr>
      <vt:lpstr>Multi-Level Help- HOW</vt:lpstr>
      <vt:lpstr> MODULE- 4</vt:lpstr>
      <vt:lpstr>BOOTSTRAP (MODULE 4 Cont..) </vt:lpstr>
      <vt:lpstr>Css box model</vt:lpstr>
      <vt:lpstr>PowerPoint Presentation</vt:lpstr>
      <vt:lpstr>CSS-2 And CSS-3</vt:lpstr>
      <vt:lpstr>Integration of css into html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Patterns</vt:lpstr>
      <vt:lpstr>Center Stage</vt:lpstr>
      <vt:lpstr>Center Stage</vt:lpstr>
      <vt:lpstr>WHY</vt:lpstr>
      <vt:lpstr>HOW</vt:lpstr>
      <vt:lpstr>PowerPoint Presentation</vt:lpstr>
      <vt:lpstr>PowerPoint Presentation</vt:lpstr>
      <vt:lpstr>PowerPoint Presentation</vt:lpstr>
      <vt:lpstr>HOW</vt:lpstr>
      <vt:lpstr>PowerPoint Presentation</vt:lpstr>
      <vt:lpstr>Module Tabs</vt:lpstr>
      <vt:lpstr>Use when </vt:lpstr>
      <vt:lpstr>WHY</vt:lpstr>
      <vt:lpstr>How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Bootstrap 5 Navs </dc:title>
  <dc:creator>Comsol</dc:creator>
  <cp:lastModifiedBy>Comsol</cp:lastModifiedBy>
  <cp:revision>12</cp:revision>
  <dcterms:created xsi:type="dcterms:W3CDTF">2025-09-28T19:20:24Z</dcterms:created>
  <dcterms:modified xsi:type="dcterms:W3CDTF">2025-09-28T21:46:59Z</dcterms:modified>
</cp:coreProperties>
</file>