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23"/>
  </p:notesMasterIdLst>
  <p:sldIdLst>
    <p:sldId id="256" r:id="rId2"/>
    <p:sldId id="405" r:id="rId3"/>
    <p:sldId id="257" r:id="rId4"/>
    <p:sldId id="258" r:id="rId5"/>
    <p:sldId id="259" r:id="rId6"/>
    <p:sldId id="302" r:id="rId7"/>
    <p:sldId id="303" r:id="rId8"/>
    <p:sldId id="306" r:id="rId9"/>
    <p:sldId id="304" r:id="rId10"/>
    <p:sldId id="305" r:id="rId11"/>
    <p:sldId id="307" r:id="rId12"/>
    <p:sldId id="309" r:id="rId13"/>
    <p:sldId id="310" r:id="rId14"/>
    <p:sldId id="311" r:id="rId15"/>
    <p:sldId id="312" r:id="rId16"/>
    <p:sldId id="313" r:id="rId17"/>
    <p:sldId id="263" r:id="rId18"/>
    <p:sldId id="314" r:id="rId19"/>
    <p:sldId id="315" r:id="rId20"/>
    <p:sldId id="316" r:id="rId21"/>
    <p:sldId id="293" r:id="rId22"/>
    <p:sldId id="294" r:id="rId23"/>
    <p:sldId id="465" r:id="rId24"/>
    <p:sldId id="317" r:id="rId25"/>
    <p:sldId id="264" r:id="rId26"/>
    <p:sldId id="466" r:id="rId27"/>
    <p:sldId id="318" r:id="rId28"/>
    <p:sldId id="319" r:id="rId29"/>
    <p:sldId id="320" r:id="rId30"/>
    <p:sldId id="321" r:id="rId31"/>
    <p:sldId id="322" r:id="rId32"/>
    <p:sldId id="406" r:id="rId33"/>
    <p:sldId id="265" r:id="rId34"/>
    <p:sldId id="415" r:id="rId35"/>
    <p:sldId id="416" r:id="rId36"/>
    <p:sldId id="323" r:id="rId37"/>
    <p:sldId id="458" r:id="rId38"/>
    <p:sldId id="412" r:id="rId39"/>
    <p:sldId id="324" r:id="rId40"/>
    <p:sldId id="413" r:id="rId41"/>
    <p:sldId id="329" r:id="rId42"/>
    <p:sldId id="418" r:id="rId43"/>
    <p:sldId id="330" r:id="rId44"/>
    <p:sldId id="331" r:id="rId45"/>
    <p:sldId id="332" r:id="rId46"/>
    <p:sldId id="420" r:id="rId47"/>
    <p:sldId id="425" r:id="rId48"/>
    <p:sldId id="432" r:id="rId49"/>
    <p:sldId id="417" r:id="rId50"/>
    <p:sldId id="336" r:id="rId51"/>
    <p:sldId id="407" r:id="rId52"/>
    <p:sldId id="337" r:id="rId53"/>
    <p:sldId id="408" r:id="rId54"/>
    <p:sldId id="409" r:id="rId55"/>
    <p:sldId id="338" r:id="rId56"/>
    <p:sldId id="424" r:id="rId57"/>
    <p:sldId id="421" r:id="rId58"/>
    <p:sldId id="459" r:id="rId59"/>
    <p:sldId id="460" r:id="rId60"/>
    <p:sldId id="461" r:id="rId61"/>
    <p:sldId id="340" r:id="rId62"/>
    <p:sldId id="341" r:id="rId63"/>
    <p:sldId id="267" r:id="rId64"/>
    <p:sldId id="342" r:id="rId65"/>
    <p:sldId id="422" r:id="rId66"/>
    <p:sldId id="423" r:id="rId67"/>
    <p:sldId id="463" r:id="rId68"/>
    <p:sldId id="275" r:id="rId69"/>
    <p:sldId id="358" r:id="rId70"/>
    <p:sldId id="359" r:id="rId71"/>
    <p:sldId id="360" r:id="rId72"/>
    <p:sldId id="361" r:id="rId73"/>
    <p:sldId id="426" r:id="rId74"/>
    <p:sldId id="276" r:id="rId75"/>
    <p:sldId id="362" r:id="rId76"/>
    <p:sldId id="363" r:id="rId77"/>
    <p:sldId id="427" r:id="rId78"/>
    <p:sldId id="467" r:id="rId79"/>
    <p:sldId id="468" r:id="rId80"/>
    <p:sldId id="462" r:id="rId81"/>
    <p:sldId id="357" r:id="rId82"/>
    <p:sldId id="277" r:id="rId83"/>
    <p:sldId id="364" r:id="rId84"/>
    <p:sldId id="279" r:id="rId85"/>
    <p:sldId id="365" r:id="rId86"/>
    <p:sldId id="367" r:id="rId87"/>
    <p:sldId id="370" r:id="rId88"/>
    <p:sldId id="371" r:id="rId89"/>
    <p:sldId id="471" r:id="rId90"/>
    <p:sldId id="280" r:id="rId91"/>
    <p:sldId id="428" r:id="rId92"/>
    <p:sldId id="372" r:id="rId93"/>
    <p:sldId id="472" r:id="rId94"/>
    <p:sldId id="366" r:id="rId95"/>
    <p:sldId id="373" r:id="rId96"/>
    <p:sldId id="376" r:id="rId97"/>
    <p:sldId id="377" r:id="rId98"/>
    <p:sldId id="382" r:id="rId99"/>
    <p:sldId id="378" r:id="rId100"/>
    <p:sldId id="379" r:id="rId101"/>
    <p:sldId id="469" r:id="rId102"/>
    <p:sldId id="470" r:id="rId103"/>
    <p:sldId id="295" r:id="rId104"/>
    <p:sldId id="411" r:id="rId105"/>
    <p:sldId id="383" r:id="rId106"/>
    <p:sldId id="429" r:id="rId107"/>
    <p:sldId id="430" r:id="rId108"/>
    <p:sldId id="431" r:id="rId109"/>
    <p:sldId id="433" r:id="rId110"/>
    <p:sldId id="434" r:id="rId111"/>
    <p:sldId id="435" r:id="rId112"/>
    <p:sldId id="436" r:id="rId113"/>
    <p:sldId id="437" r:id="rId114"/>
    <p:sldId id="438" r:id="rId115"/>
    <p:sldId id="439" r:id="rId116"/>
    <p:sldId id="387" r:id="rId117"/>
    <p:sldId id="441" r:id="rId118"/>
    <p:sldId id="440" r:id="rId119"/>
    <p:sldId id="444" r:id="rId120"/>
    <p:sldId id="442" r:id="rId121"/>
    <p:sldId id="443" r:id="rId122"/>
  </p:sldIdLst>
  <p:sldSz cx="9144000" cy="6858000" type="screen4x3"/>
  <p:notesSz cx="6858000" cy="9144000"/>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14" autoAdjust="0"/>
    <p:restoredTop sz="94660"/>
  </p:normalViewPr>
  <p:slideViewPr>
    <p:cSldViewPr snapToGrid="0">
      <p:cViewPr varScale="1">
        <p:scale>
          <a:sx n="77" d="100"/>
          <a:sy n="77" d="100"/>
        </p:scale>
        <p:origin x="1661"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55A538D-B0FC-4E89-B7DF-B757D522CC68}" type="datetimeFigureOut">
              <a:rPr lang="en-US" smtClean="0"/>
              <a:pPr/>
              <a:t>10/5/2023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49210C-7BD1-452F-BCFA-6143FD2B6794}" type="slidenum">
              <a:rPr lang="en-US" smtClean="0"/>
              <a:pPr/>
              <a:t>‹#›</a:t>
            </a:fld>
            <a:endParaRPr lang="en-US"/>
          </a:p>
        </p:txBody>
      </p:sp>
    </p:spTree>
    <p:extLst>
      <p:ext uri="{BB962C8B-B14F-4D97-AF65-F5344CB8AC3E}">
        <p14:creationId xmlns:p14="http://schemas.microsoft.com/office/powerpoint/2010/main" val="1783847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949210C-7BD1-452F-BCFA-6143FD2B6794}" type="slidenum">
              <a:rPr lang="en-US" smtClean="0"/>
              <a:pPr/>
              <a:t>16</a:t>
            </a:fld>
            <a:endParaRPr lang="en-US"/>
          </a:p>
        </p:txBody>
      </p:sp>
    </p:spTree>
    <p:extLst>
      <p:ext uri="{BB962C8B-B14F-4D97-AF65-F5344CB8AC3E}">
        <p14:creationId xmlns:p14="http://schemas.microsoft.com/office/powerpoint/2010/main" val="140259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7dab167a0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7dab167a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7dab167a05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7dab167a0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7762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949210C-7BD1-452F-BCFA-6143FD2B6794}" type="slidenum">
              <a:rPr lang="en-US" smtClean="0"/>
              <a:pPr/>
              <a:t>108</a:t>
            </a:fld>
            <a:endParaRPr lang="en-US"/>
          </a:p>
        </p:txBody>
      </p:sp>
    </p:spTree>
    <p:extLst>
      <p:ext uri="{BB962C8B-B14F-4D97-AF65-F5344CB8AC3E}">
        <p14:creationId xmlns:p14="http://schemas.microsoft.com/office/powerpoint/2010/main" val="1354478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pPr>
              <a:defRPr/>
            </a:pPr>
            <a:endParaRPr lang="en-US"/>
          </a:p>
        </p:txBody>
      </p:sp>
      <p:sp>
        <p:nvSpPr>
          <p:cNvPr id="17" name="Footer Placeholder 16"/>
          <p:cNvSpPr>
            <a:spLocks noGrp="1"/>
          </p:cNvSpPr>
          <p:nvPr>
            <p:ph type="ftr" sz="quarter" idx="11"/>
          </p:nvPr>
        </p:nvSpPr>
        <p:spPr>
          <a:xfrm>
            <a:off x="5410200" y="4205288"/>
            <a:ext cx="1295400" cy="457200"/>
          </a:xfrm>
        </p:spPr>
        <p:txBody>
          <a:bodyPr/>
          <a:lstStyle/>
          <a:p>
            <a:pPr>
              <a:defRPr/>
            </a:pPr>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pPr>
              <a:defRPr/>
            </a:pPr>
            <a:fld id="{626010F8-D738-49C1-9A8F-0094E812E57B}"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31DD258-A623-490B-8242-C077DDB146DD}"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65AB78C-8FA7-4560-BB1F-5ECD8A6F763F}"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EB62AE9-12C0-43FE-9D5B-BC856B7EAD35}"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pPr>
              <a:defRPr/>
            </a:pPr>
            <a:endParaRPr lang="en-US"/>
          </a:p>
        </p:txBody>
      </p:sp>
      <p:sp>
        <p:nvSpPr>
          <p:cNvPr id="27" name="Slide Number Placeholder 26"/>
          <p:cNvSpPr>
            <a:spLocks noGrp="1"/>
          </p:cNvSpPr>
          <p:nvPr>
            <p:ph type="sldNum" sz="quarter" idx="11"/>
          </p:nvPr>
        </p:nvSpPr>
        <p:spPr/>
        <p:txBody>
          <a:bodyPr rtlCol="0"/>
          <a:lstStyle/>
          <a:p>
            <a:pPr>
              <a:defRPr/>
            </a:pPr>
            <a:fld id="{F0C11263-621D-4B61-8579-5EEDC3EC11F4}" type="slidenum">
              <a:rPr lang="en-US" smtClean="0"/>
              <a:pPr>
                <a:defRPr/>
              </a:pPr>
              <a:t>‹#›</a:t>
            </a:fld>
            <a:endParaRPr lang="en-US"/>
          </a:p>
        </p:txBody>
      </p:sp>
      <p:sp>
        <p:nvSpPr>
          <p:cNvPr id="28" name="Footer Placeholder 27"/>
          <p:cNvSpPr>
            <a:spLocks noGrp="1"/>
          </p:cNvSpPr>
          <p:nvPr>
            <p:ph type="ftr" sz="quarter" idx="12"/>
          </p:nvPr>
        </p:nvSpPr>
        <p:spPr/>
        <p:txBody>
          <a:bodyPr rtlCol="0"/>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pPr>
              <a:defRPr/>
            </a:pPr>
            <a:endParaRPr lang="en-US"/>
          </a:p>
        </p:txBody>
      </p:sp>
      <p:sp>
        <p:nvSpPr>
          <p:cNvPr id="4" name="Footer Placeholder 3"/>
          <p:cNvSpPr>
            <a:spLocks noGrp="1"/>
          </p:cNvSpPr>
          <p:nvPr>
            <p:ph type="ftr" sz="quarter" idx="11"/>
          </p:nvPr>
        </p:nvSpPr>
        <p:spPr>
          <a:xfrm>
            <a:off x="5257800" y="612648"/>
            <a:ext cx="1325880" cy="457200"/>
          </a:xfrm>
        </p:spPr>
        <p:txBody>
          <a:bodyPr/>
          <a:lstStyle/>
          <a:p>
            <a:pPr>
              <a:defRPr/>
            </a:pPr>
            <a:endParaRPr lang="en-US"/>
          </a:p>
        </p:txBody>
      </p:sp>
      <p:sp>
        <p:nvSpPr>
          <p:cNvPr id="5" name="Slide Number Placeholder 4"/>
          <p:cNvSpPr>
            <a:spLocks noGrp="1"/>
          </p:cNvSpPr>
          <p:nvPr>
            <p:ph type="sldNum" sz="quarter" idx="12"/>
          </p:nvPr>
        </p:nvSpPr>
        <p:spPr>
          <a:xfrm>
            <a:off x="8174736" y="2272"/>
            <a:ext cx="762000" cy="365760"/>
          </a:xfrm>
        </p:spPr>
        <p:txBody>
          <a:bodyPr/>
          <a:lstStyle/>
          <a:p>
            <a:pPr>
              <a:defRPr/>
            </a:pPr>
            <a:fld id="{B76DE4DC-01A7-419F-A6FE-A8A647F051FE}"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04215111-2A30-45BA-BDED-136296A13D91}"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FB61AE3-D07B-4E8B-8FBF-712374572E47}"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27B07D1-2B95-41DD-8988-5D5695E79378}"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0040466-C1E8-4B94-A995-D57D6940950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3ABD251-2DC6-4472-89C2-7BE34DEF15A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pPr>
              <a:defRPr/>
            </a:pPr>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pPr>
              <a:defRPr/>
            </a:pPr>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pPr>
              <a:defRPr/>
            </a:pPr>
            <a:fld id="{D8562CBF-A6FE-4AA9-A81A-0D31CA104C6F}"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 Target="slide11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slide" Target="slide110.xml"/><Relationship Id="rId2" Type="http://schemas.openxmlformats.org/officeDocument/2006/relationships/slide" Target="slide118.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slide" Target="slide11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90222" y="2166938"/>
            <a:ext cx="7772400" cy="1470025"/>
          </a:xfrm>
        </p:spPr>
        <p:txBody>
          <a:bodyPr>
            <a:normAutofit fontScale="90000"/>
          </a:bodyPr>
          <a:lstStyle/>
          <a:p>
            <a:pPr algn="ctr" eaLnBrk="1" hangingPunct="1"/>
            <a:r>
              <a:rPr lang="en-US" sz="4800" dirty="0"/>
              <a:t>Module II</a:t>
            </a:r>
            <a:br>
              <a:rPr lang="en-US" sz="4800" dirty="0"/>
            </a:br>
            <a:r>
              <a:rPr lang="en-US" sz="4800" dirty="0"/>
              <a:t>The Data Link Layer</a:t>
            </a:r>
            <a:br>
              <a:rPr lang="en-US" sz="4800" dirty="0"/>
            </a:br>
            <a:r>
              <a:rPr lang="en-US" sz="4800" dirty="0"/>
              <a:t>(DLL)</a:t>
            </a:r>
            <a:endParaRPr lang="en-US" dirty="0"/>
          </a:p>
        </p:txBody>
      </p:sp>
      <p:sp>
        <p:nvSpPr>
          <p:cNvPr id="3" name="Slide Number Placeholder 2"/>
          <p:cNvSpPr>
            <a:spLocks noGrp="1"/>
          </p:cNvSpPr>
          <p:nvPr>
            <p:ph type="sldNum" sz="quarter" idx="12"/>
          </p:nvPr>
        </p:nvSpPr>
        <p:spPr/>
        <p:txBody>
          <a:bodyPr/>
          <a:lstStyle/>
          <a:p>
            <a:pPr>
              <a:defRPr/>
            </a:pPr>
            <a:fld id="{626010F8-D738-49C1-9A8F-0094E812E57B}"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12618"/>
            <a:ext cx="9144000" cy="6345381"/>
          </a:xfrm>
        </p:spPr>
        <p:txBody>
          <a:bodyPr>
            <a:normAutofit/>
          </a:bodyPr>
          <a:lstStyle/>
          <a:p>
            <a:pPr algn="ctr">
              <a:buNone/>
            </a:pPr>
            <a:r>
              <a:rPr lang="en-US" b="1" dirty="0"/>
              <a:t>Module II</a:t>
            </a:r>
          </a:p>
          <a:p>
            <a:pPr algn="ctr">
              <a:buNone/>
            </a:pPr>
            <a:endParaRPr lang="en-US" dirty="0"/>
          </a:p>
          <a:p>
            <a:pPr algn="just">
              <a:buNone/>
            </a:pPr>
            <a:r>
              <a:rPr lang="en-IN" b="1" dirty="0"/>
              <a:t>Data link layer </a:t>
            </a:r>
          </a:p>
          <a:p>
            <a:pPr algn="just">
              <a:buNone/>
            </a:pPr>
            <a:r>
              <a:rPr lang="en-IN" dirty="0"/>
              <a:t> Data link layer design issues, Error detection and correction, Sliding window protocols, High-Level Data Link Control (HDLC) protocol. </a:t>
            </a:r>
          </a:p>
          <a:p>
            <a:pPr algn="just">
              <a:buNone/>
            </a:pPr>
            <a:endParaRPr lang="en-IN" dirty="0"/>
          </a:p>
          <a:p>
            <a:pPr algn="just">
              <a:buNone/>
            </a:pPr>
            <a:r>
              <a:rPr lang="en-IN" b="1" dirty="0"/>
              <a:t>Medium Access Control (MAC) </a:t>
            </a:r>
            <a:r>
              <a:rPr lang="en-IN" b="1" dirty="0" err="1"/>
              <a:t>sublayer</a:t>
            </a:r>
            <a:r>
              <a:rPr lang="en-IN" b="1" dirty="0"/>
              <a:t> </a:t>
            </a:r>
            <a:r>
              <a:rPr lang="en-IN" dirty="0"/>
              <a:t>–Channel allocation problem, Multiple access protocols, Ethernet, Wireless LANs - 802.11, Bridges &amp; switches - Bridges from 802.x to 802.y, Repeaters, Hubs, Bridges, Switches, Routers and Gateways. </a:t>
            </a:r>
            <a:r>
              <a:rPr lang="en-US" dirty="0"/>
              <a:t>.</a:t>
            </a:r>
          </a:p>
        </p:txBody>
      </p:sp>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2</a:t>
            </a:fld>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768915"/>
            <a:ext cx="8229600" cy="1066800"/>
          </a:xfrm>
        </p:spPr>
        <p:txBody>
          <a:bodyPr/>
          <a:lstStyle/>
          <a:p>
            <a:pPr eaLnBrk="1" hangingPunct="1"/>
            <a:r>
              <a:rPr lang="en-US" u="sng" dirty="0">
                <a:solidFill>
                  <a:srgbClr val="7030A0"/>
                </a:solidFill>
              </a:rPr>
              <a:t>Data Link Layer Design Issues</a:t>
            </a:r>
          </a:p>
        </p:txBody>
      </p:sp>
      <p:sp>
        <p:nvSpPr>
          <p:cNvPr id="3075" name="Rectangle 3"/>
          <p:cNvSpPr>
            <a:spLocks noGrp="1" noChangeArrowheads="1"/>
          </p:cNvSpPr>
          <p:nvPr>
            <p:ph idx="1"/>
          </p:nvPr>
        </p:nvSpPr>
        <p:spPr>
          <a:xfrm>
            <a:off x="522288" y="1825667"/>
            <a:ext cx="8318500" cy="2796117"/>
          </a:xfrm>
        </p:spPr>
        <p:txBody>
          <a:bodyPr>
            <a:normAutofit/>
          </a:bodyPr>
          <a:lstStyle/>
          <a:p>
            <a:pPr eaLnBrk="1" hangingPunct="1">
              <a:buFontTx/>
              <a:buChar char="•"/>
            </a:pPr>
            <a:r>
              <a:rPr lang="en-US" dirty="0">
                <a:latin typeface="Times New Roman" panose="02020603050405020304" pitchFamily="18" charset="0"/>
                <a:cs typeface="Times New Roman" panose="02020603050405020304" pitchFamily="18" charset="0"/>
              </a:rPr>
              <a:t>Services Provided to the Network Layer</a:t>
            </a:r>
          </a:p>
          <a:p>
            <a:pPr eaLnBrk="1" hangingPunct="1">
              <a:buFontTx/>
              <a:buChar char="•"/>
            </a:pPr>
            <a:r>
              <a:rPr lang="en-US" dirty="0">
                <a:latin typeface="Times New Roman" panose="02020603050405020304" pitchFamily="18" charset="0"/>
                <a:cs typeface="Times New Roman" panose="02020603050405020304" pitchFamily="18" charset="0"/>
              </a:rPr>
              <a:t>Framing</a:t>
            </a:r>
          </a:p>
          <a:p>
            <a:pPr eaLnBrk="1" hangingPunct="1">
              <a:buFontTx/>
              <a:buChar char="•"/>
            </a:pPr>
            <a:r>
              <a:rPr lang="en-US" dirty="0">
                <a:latin typeface="Times New Roman" panose="02020603050405020304" pitchFamily="18" charset="0"/>
                <a:cs typeface="Times New Roman" panose="02020603050405020304" pitchFamily="18" charset="0"/>
              </a:rPr>
              <a:t>Error Control</a:t>
            </a:r>
          </a:p>
          <a:p>
            <a:pPr eaLnBrk="1" hangingPunct="1">
              <a:buFontTx/>
              <a:buChar char="•"/>
            </a:pPr>
            <a:r>
              <a:rPr lang="en-US" dirty="0">
                <a:latin typeface="Times New Roman" panose="02020603050405020304" pitchFamily="18" charset="0"/>
                <a:cs typeface="Times New Roman" panose="02020603050405020304" pitchFamily="18" charset="0"/>
              </a:rPr>
              <a:t>Flow Control</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84909" y="367146"/>
            <a:ext cx="8229600" cy="1066800"/>
          </a:xfrm>
        </p:spPr>
        <p:txBody>
          <a:bodyPr/>
          <a:lstStyle/>
          <a:p>
            <a:pPr eaLnBrk="1" hangingPunct="1"/>
            <a:r>
              <a:rPr lang="en-US" dirty="0">
                <a:solidFill>
                  <a:srgbClr val="7030A0"/>
                </a:solidFill>
              </a:rPr>
              <a:t>Functions of the Data Link Layer</a:t>
            </a:r>
          </a:p>
        </p:txBody>
      </p:sp>
      <p:sp>
        <p:nvSpPr>
          <p:cNvPr id="4099" name="Rectangle 3"/>
          <p:cNvSpPr>
            <a:spLocks noGrp="1" noChangeArrowheads="1"/>
          </p:cNvSpPr>
          <p:nvPr>
            <p:ph idx="1"/>
          </p:nvPr>
        </p:nvSpPr>
        <p:spPr>
          <a:xfrm>
            <a:off x="146756" y="1399309"/>
            <a:ext cx="8997244" cy="4952985"/>
          </a:xfrm>
        </p:spPr>
        <p:txBody>
          <a:bodyPr>
            <a:normAutofit/>
          </a:bodyPr>
          <a:lstStyle/>
          <a:p>
            <a:pPr lvl="1" algn="just" eaLnBrk="1" hangingPunct="1">
              <a:buFontTx/>
              <a:buChar char="•"/>
            </a:pPr>
            <a:r>
              <a:rPr lang="en-US" sz="2800" dirty="0">
                <a:solidFill>
                  <a:schemeClr val="tx1"/>
                </a:solidFill>
                <a:latin typeface="Times New Roman" pitchFamily="18" charset="0"/>
                <a:cs typeface="Times New Roman" pitchFamily="18" charset="0"/>
              </a:rPr>
              <a:t>Provide service interface to the network layer</a:t>
            </a:r>
          </a:p>
          <a:p>
            <a:pPr lvl="1" algn="just" eaLnBrk="1" hangingPunct="1">
              <a:buFontTx/>
              <a:buChar char="•"/>
            </a:pPr>
            <a:r>
              <a:rPr lang="en-US" sz="2800" dirty="0">
                <a:solidFill>
                  <a:schemeClr val="tx1"/>
                </a:solidFill>
                <a:latin typeface="Times New Roman" pitchFamily="18" charset="0"/>
                <a:cs typeface="Times New Roman" pitchFamily="18" charset="0"/>
              </a:rPr>
              <a:t>Dealing with transmission errors</a:t>
            </a:r>
          </a:p>
          <a:p>
            <a:pPr lvl="1" algn="just" eaLnBrk="1" hangingPunct="1">
              <a:buFontTx/>
              <a:buChar char="•"/>
            </a:pPr>
            <a:r>
              <a:rPr lang="en-US" sz="2800" dirty="0">
                <a:solidFill>
                  <a:schemeClr val="tx1"/>
                </a:solidFill>
                <a:latin typeface="Times New Roman" pitchFamily="18" charset="0"/>
                <a:cs typeface="Times New Roman" pitchFamily="18" charset="0"/>
              </a:rPr>
              <a:t>Regulating data flow</a:t>
            </a:r>
          </a:p>
          <a:p>
            <a:pPr lvl="2" algn="just" eaLnBrk="1" hangingPunct="1"/>
            <a:r>
              <a:rPr lang="en-US" sz="2800" dirty="0">
                <a:solidFill>
                  <a:srgbClr val="FF0000"/>
                </a:solidFill>
                <a:latin typeface="Times New Roman" pitchFamily="18" charset="0"/>
                <a:cs typeface="Times New Roman" pitchFamily="18" charset="0"/>
              </a:rPr>
              <a:t>Slow receivers not swamped by fast senders</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380975"/>
            <a:ext cx="8229600" cy="1066800"/>
          </a:xfrm>
        </p:spPr>
        <p:txBody>
          <a:bodyPr/>
          <a:lstStyle/>
          <a:p>
            <a:pPr eaLnBrk="1" hangingPunct="1"/>
            <a:r>
              <a:rPr lang="en-US" dirty="0">
                <a:solidFill>
                  <a:srgbClr val="7030A0"/>
                </a:solidFill>
              </a:rPr>
              <a:t>Functions of the Data Link Layer</a:t>
            </a:r>
          </a:p>
        </p:txBody>
      </p:sp>
      <p:sp>
        <p:nvSpPr>
          <p:cNvPr id="5123" name="Rectangle 3"/>
          <p:cNvSpPr>
            <a:spLocks noGrp="1" noChangeArrowheads="1"/>
          </p:cNvSpPr>
          <p:nvPr>
            <p:ph idx="1"/>
          </p:nvPr>
        </p:nvSpPr>
        <p:spPr>
          <a:xfrm>
            <a:off x="457200" y="1182588"/>
            <a:ext cx="8478982" cy="5523001"/>
          </a:xfrm>
        </p:spPr>
        <p:txBody>
          <a:bodyPr>
            <a:noAutofit/>
          </a:bodyPr>
          <a:lstStyle/>
          <a:p>
            <a:pPr algn="just">
              <a:buFontTx/>
              <a:buChar char="•"/>
            </a:pPr>
            <a:r>
              <a:rPr lang="en-US" dirty="0">
                <a:latin typeface="Times New Roman" pitchFamily="18" charset="0"/>
                <a:cs typeface="Times New Roman" pitchFamily="18" charset="0"/>
              </a:rPr>
              <a:t>DLL takes the packets it gets from the network layer.</a:t>
            </a:r>
          </a:p>
          <a:p>
            <a:pPr algn="just">
              <a:buFontTx/>
              <a:buChar char="•"/>
            </a:pPr>
            <a:r>
              <a:rPr lang="en-US" dirty="0">
                <a:latin typeface="Times New Roman" pitchFamily="18" charset="0"/>
                <a:cs typeface="Times New Roman" pitchFamily="18" charset="0"/>
              </a:rPr>
              <a:t>Encapsulates them into frames for transmission. </a:t>
            </a:r>
          </a:p>
          <a:p>
            <a:pPr algn="just">
              <a:buFontTx/>
              <a:buChar char="•"/>
            </a:pPr>
            <a:r>
              <a:rPr lang="en-US" dirty="0">
                <a:latin typeface="Times New Roman" pitchFamily="18" charset="0"/>
                <a:cs typeface="Times New Roman" pitchFamily="18" charset="0"/>
              </a:rPr>
              <a:t>Each frame contains </a:t>
            </a:r>
            <a:r>
              <a:rPr lang="en-US" b="1" dirty="0">
                <a:latin typeface="Times New Roman" pitchFamily="18" charset="0"/>
                <a:cs typeface="Times New Roman" pitchFamily="18" charset="0"/>
              </a:rPr>
              <a:t>a frame header, a payload field </a:t>
            </a:r>
            <a:r>
              <a:rPr lang="en-US" dirty="0">
                <a:latin typeface="Times New Roman" pitchFamily="18" charset="0"/>
                <a:cs typeface="Times New Roman" pitchFamily="18" charset="0"/>
              </a:rPr>
              <a:t>for holding the packet, and </a:t>
            </a:r>
            <a:r>
              <a:rPr lang="en-US" b="1" dirty="0">
                <a:latin typeface="Times New Roman" pitchFamily="18" charset="0"/>
                <a:cs typeface="Times New Roman" pitchFamily="18" charset="0"/>
              </a:rPr>
              <a:t>a frame trailer</a:t>
            </a:r>
            <a:r>
              <a:rPr lang="en-US" dirty="0">
                <a:latin typeface="Times New Roman" pitchFamily="18" charset="0"/>
                <a:cs typeface="Times New Roman" pitchFamily="18" charset="0"/>
              </a:rPr>
              <a:t>.</a:t>
            </a:r>
            <a:r>
              <a:rPr lang="en-US" u="sng" dirty="0">
                <a:latin typeface="Times New Roman" pitchFamily="18" charset="0"/>
                <a:cs typeface="Times New Roman" pitchFamily="18" charset="0"/>
              </a:rPr>
              <a:t> </a:t>
            </a:r>
          </a:p>
          <a:p>
            <a:pPr algn="just">
              <a:buFontTx/>
              <a:buChar char="•"/>
            </a:pPr>
            <a:r>
              <a:rPr lang="en-US" dirty="0">
                <a:solidFill>
                  <a:srgbClr val="FF0000"/>
                </a:solidFill>
                <a:latin typeface="Times New Roman" pitchFamily="18" charset="0"/>
                <a:cs typeface="Times New Roman" pitchFamily="18" charset="0"/>
              </a:rPr>
              <a:t>Frame management </a:t>
            </a:r>
            <a:r>
              <a:rPr lang="en-US" dirty="0">
                <a:latin typeface="Times New Roman" pitchFamily="18" charset="0"/>
                <a:cs typeface="Times New Roman" pitchFamily="18" charset="0"/>
              </a:rPr>
              <a:t>forms the heart of the DLL.</a:t>
            </a:r>
          </a:p>
          <a:p>
            <a:pPr algn="ctr" eaLnBrk="1" hangingPunct="1">
              <a:buFontTx/>
              <a:buNone/>
            </a:pPr>
            <a:endParaRPr lang="en-US" dirty="0">
              <a:latin typeface="Times New Roman" pitchFamily="18" charset="0"/>
              <a:cs typeface="Times New Roman" pitchFamily="18" charset="0"/>
            </a:endParaRPr>
          </a:p>
          <a:p>
            <a:pPr algn="ctr" eaLnBrk="1" hangingPunct="1">
              <a:buFontTx/>
              <a:buNone/>
            </a:pPr>
            <a:endParaRPr lang="en-US" dirty="0">
              <a:latin typeface="Times New Roman" pitchFamily="18" charset="0"/>
              <a:cs typeface="Times New Roman" pitchFamily="18" charset="0"/>
            </a:endParaRPr>
          </a:p>
          <a:p>
            <a:pPr algn="ctr" eaLnBrk="1" hangingPunct="1">
              <a:buFontTx/>
              <a:buNone/>
            </a:pPr>
            <a:endParaRPr lang="en-US" dirty="0">
              <a:latin typeface="Times New Roman" pitchFamily="18" charset="0"/>
              <a:cs typeface="Times New Roman" pitchFamily="18" charset="0"/>
            </a:endParaRPr>
          </a:p>
          <a:p>
            <a:pPr algn="ctr" eaLnBrk="1" hangingPunct="1">
              <a:buFontTx/>
              <a:buNone/>
            </a:pPr>
            <a:endParaRPr lang="en-US" dirty="0">
              <a:latin typeface="Times New Roman" pitchFamily="18" charset="0"/>
              <a:cs typeface="Times New Roman" pitchFamily="18" charset="0"/>
            </a:endParaRPr>
          </a:p>
          <a:p>
            <a:pPr algn="ctr" eaLnBrk="1" hangingPunct="1">
              <a:buFontTx/>
              <a:buNone/>
            </a:pPr>
            <a:endParaRPr lang="en-US" dirty="0">
              <a:latin typeface="Times New Roman" pitchFamily="18" charset="0"/>
              <a:cs typeface="Times New Roman" pitchFamily="18" charset="0"/>
            </a:endParaRPr>
          </a:p>
          <a:p>
            <a:pPr algn="ctr" eaLnBrk="1" hangingPunct="1">
              <a:buFontTx/>
              <a:buNone/>
            </a:pPr>
            <a:endParaRPr lang="en-US" dirty="0">
              <a:latin typeface="Times New Roman" pitchFamily="18" charset="0"/>
              <a:cs typeface="Times New Roman" pitchFamily="18" charset="0"/>
            </a:endParaRPr>
          </a:p>
          <a:p>
            <a:pPr algn="ctr" eaLnBrk="1" hangingPunct="1">
              <a:buFontTx/>
              <a:buNone/>
            </a:pPr>
            <a:r>
              <a:rPr lang="en-US" dirty="0">
                <a:latin typeface="Times New Roman" pitchFamily="18" charset="0"/>
                <a:cs typeface="Times New Roman" pitchFamily="18" charset="0"/>
              </a:rPr>
              <a:t>Relationship between packets and frames.</a:t>
            </a:r>
          </a:p>
        </p:txBody>
      </p:sp>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5</a:t>
            </a:fld>
            <a:endParaRPr lang="en-US"/>
          </a:p>
        </p:txBody>
      </p:sp>
      <p:pic>
        <p:nvPicPr>
          <p:cNvPr id="5124" name="Picture 4" descr="3-01"/>
          <p:cNvPicPr>
            <a:picLocks noChangeAspect="1" noChangeArrowheads="1"/>
          </p:cNvPicPr>
          <p:nvPr/>
        </p:nvPicPr>
        <p:blipFill>
          <a:blip r:embed="rId2" cstate="print"/>
          <a:srcRect/>
          <a:stretch>
            <a:fillRect/>
          </a:stretch>
        </p:blipFill>
        <p:spPr bwMode="auto">
          <a:xfrm>
            <a:off x="681038" y="3652004"/>
            <a:ext cx="7867650" cy="2627312"/>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35467" y="533670"/>
            <a:ext cx="9327188" cy="496712"/>
          </a:xfrm>
        </p:spPr>
        <p:txBody>
          <a:bodyPr>
            <a:noAutofit/>
          </a:bodyPr>
          <a:lstStyle/>
          <a:p>
            <a:r>
              <a:rPr lang="en-US" sz="3600" dirty="0"/>
              <a:t> </a:t>
            </a:r>
            <a:r>
              <a:rPr lang="en-US" sz="3600" dirty="0">
                <a:solidFill>
                  <a:srgbClr val="7030A0"/>
                </a:solidFill>
              </a:rPr>
              <a:t>Services</a:t>
            </a:r>
            <a:r>
              <a:rPr lang="en-US" sz="3600" dirty="0"/>
              <a:t> </a:t>
            </a:r>
            <a:r>
              <a:rPr lang="en-US" sz="3600" dirty="0">
                <a:solidFill>
                  <a:srgbClr val="7030A0"/>
                </a:solidFill>
              </a:rPr>
              <a:t>provided to the Network Layer</a:t>
            </a:r>
          </a:p>
        </p:txBody>
      </p:sp>
      <p:sp>
        <p:nvSpPr>
          <p:cNvPr id="7" name="Content Placeholder 2"/>
          <p:cNvSpPr>
            <a:spLocks noGrp="1"/>
          </p:cNvSpPr>
          <p:nvPr>
            <p:ph idx="1"/>
          </p:nvPr>
        </p:nvSpPr>
        <p:spPr>
          <a:xfrm>
            <a:off x="191911" y="993422"/>
            <a:ext cx="8760178" cy="5331178"/>
          </a:xfrm>
        </p:spPr>
        <p:txBody>
          <a:bodyPr/>
          <a:lstStyle/>
          <a:p>
            <a:pPr algn="just">
              <a:buFont typeface="Arial" pitchFamily="34" charset="0"/>
              <a:buChar char="•"/>
            </a:pPr>
            <a:r>
              <a:rPr lang="en-US" sz="2800" dirty="0"/>
              <a:t>Transfers data from the network layer on the source machine to the network layer on the destination machine</a:t>
            </a:r>
          </a:p>
        </p:txBody>
      </p:sp>
      <p:sp>
        <p:nvSpPr>
          <p:cNvPr id="8" name="Slide Number Placeholder 7"/>
          <p:cNvSpPr>
            <a:spLocks noGrp="1"/>
          </p:cNvSpPr>
          <p:nvPr>
            <p:ph type="sldNum" sz="quarter" idx="12"/>
          </p:nvPr>
        </p:nvSpPr>
        <p:spPr/>
        <p:txBody>
          <a:bodyPr/>
          <a:lstStyle/>
          <a:p>
            <a:pPr>
              <a:defRPr/>
            </a:pPr>
            <a:fld id="{231DD258-A623-490B-8242-C077DDB146DD}" type="slidenum">
              <a:rPr lang="en-US" smtClean="0"/>
              <a:pPr>
                <a:defRPr/>
              </a:pPr>
              <a:t>6</a:t>
            </a:fld>
            <a:endParaRPr lang="en-US"/>
          </a:p>
        </p:txBody>
      </p:sp>
      <p:sp>
        <p:nvSpPr>
          <p:cNvPr id="4" name="Rectangle 3"/>
          <p:cNvSpPr txBox="1">
            <a:spLocks noChangeArrowheads="1"/>
          </p:cNvSpPr>
          <p:nvPr/>
        </p:nvSpPr>
        <p:spPr bwMode="auto">
          <a:xfrm>
            <a:off x="2203554" y="5816601"/>
            <a:ext cx="5501390" cy="83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609600" marR="0" lvl="0" indent="-609600" defTabSz="914400" rtl="0" eaLnBrk="1" fontAlgn="base" latinLnBrk="0" hangingPunct="1">
              <a:lnSpc>
                <a:spcPct val="9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accent2"/>
                </a:solidFill>
                <a:effectLst/>
                <a:uLnTx/>
                <a:uFillTx/>
                <a:latin typeface="+mn-lt"/>
                <a:ea typeface="+mn-ea"/>
                <a:cs typeface="+mn-cs"/>
              </a:rPr>
              <a:t>(a)</a:t>
            </a:r>
            <a:r>
              <a:rPr kumimoji="0" lang="en-US" sz="2400" b="0" i="0" u="none" strike="noStrike" kern="0" cap="none" spc="0" normalizeH="0" baseline="0" noProof="0" dirty="0">
                <a:ln>
                  <a:noFill/>
                </a:ln>
                <a:solidFill>
                  <a:schemeClr val="tx1"/>
                </a:solidFill>
                <a:effectLst/>
                <a:uLnTx/>
                <a:uFillTx/>
                <a:latin typeface="+mn-lt"/>
                <a:ea typeface="+mn-ea"/>
                <a:cs typeface="+mn-cs"/>
              </a:rPr>
              <a:t> Virtual Communication.</a:t>
            </a:r>
          </a:p>
          <a:p>
            <a:pPr marL="609600" marR="0" lvl="0" indent="-609600" defTabSz="914400" rtl="0" eaLnBrk="1" fontAlgn="base" latinLnBrk="0" hangingPunct="1">
              <a:lnSpc>
                <a:spcPct val="9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accent2"/>
                </a:solidFill>
                <a:effectLst/>
                <a:uLnTx/>
                <a:uFillTx/>
                <a:latin typeface="+mn-lt"/>
                <a:ea typeface="+mn-ea"/>
                <a:cs typeface="+mn-cs"/>
              </a:rPr>
              <a:t>(b)</a:t>
            </a:r>
            <a:r>
              <a:rPr kumimoji="0" lang="en-US" sz="2400" b="0" i="0" u="none" strike="noStrike" kern="0" cap="none" spc="0" normalizeH="0" baseline="0" noProof="0" dirty="0">
                <a:ln>
                  <a:noFill/>
                </a:ln>
                <a:solidFill>
                  <a:schemeClr val="tx1"/>
                </a:solidFill>
                <a:effectLst/>
                <a:uLnTx/>
                <a:uFillTx/>
                <a:latin typeface="+mn-lt"/>
                <a:ea typeface="+mn-ea"/>
                <a:cs typeface="+mn-cs"/>
              </a:rPr>
              <a:t> Actual Communication.</a:t>
            </a:r>
          </a:p>
        </p:txBody>
      </p:sp>
      <p:pic>
        <p:nvPicPr>
          <p:cNvPr id="5" name="Picture 4" descr="3-02"/>
          <p:cNvPicPr>
            <a:picLocks noChangeAspect="1" noChangeArrowheads="1"/>
          </p:cNvPicPr>
          <p:nvPr/>
        </p:nvPicPr>
        <p:blipFill>
          <a:blip r:embed="rId2" cstate="print"/>
          <a:srcRect/>
          <a:stretch>
            <a:fillRect/>
          </a:stretch>
        </p:blipFill>
        <p:spPr bwMode="auto">
          <a:xfrm>
            <a:off x="2125571" y="2212623"/>
            <a:ext cx="5928595" cy="3603978"/>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35467" y="1073983"/>
            <a:ext cx="9008533" cy="496712"/>
          </a:xfrm>
        </p:spPr>
        <p:txBody>
          <a:bodyPr>
            <a:noAutofit/>
          </a:bodyPr>
          <a:lstStyle/>
          <a:p>
            <a:r>
              <a:rPr lang="en-US" sz="3600" dirty="0"/>
              <a:t> </a:t>
            </a:r>
            <a:r>
              <a:rPr lang="en-US" sz="3600" dirty="0">
                <a:solidFill>
                  <a:srgbClr val="7030A0"/>
                </a:solidFill>
              </a:rPr>
              <a:t>Services provided to the Network Layer</a:t>
            </a:r>
          </a:p>
        </p:txBody>
      </p:sp>
      <p:sp>
        <p:nvSpPr>
          <p:cNvPr id="7" name="Content Placeholder 2"/>
          <p:cNvSpPr>
            <a:spLocks noGrp="1"/>
          </p:cNvSpPr>
          <p:nvPr>
            <p:ph idx="1"/>
          </p:nvPr>
        </p:nvSpPr>
        <p:spPr>
          <a:xfrm>
            <a:off x="191911" y="1919120"/>
            <a:ext cx="8760178" cy="2585156"/>
          </a:xfrm>
        </p:spPr>
        <p:txBody>
          <a:bodyPr>
            <a:noAutofit/>
          </a:bodyPr>
          <a:lstStyle/>
          <a:p>
            <a:pPr algn="just">
              <a:buFont typeface="Arial" pitchFamily="34" charset="0"/>
              <a:buChar char="•"/>
            </a:pPr>
            <a:r>
              <a:rPr lang="en-US" sz="3200" dirty="0">
                <a:latin typeface="Times New Roman" panose="02020603050405020304" pitchFamily="18" charset="0"/>
                <a:cs typeface="Times New Roman" panose="02020603050405020304" pitchFamily="18" charset="0"/>
              </a:rPr>
              <a:t>DLL commonly provides 3 services</a:t>
            </a:r>
          </a:p>
          <a:p>
            <a:pPr algn="just">
              <a:buFont typeface="Arial" pitchFamily="34" charset="0"/>
              <a:buChar char="•"/>
            </a:pPr>
            <a:endParaRPr lang="en-US" sz="3200" dirty="0">
              <a:latin typeface="Times New Roman" panose="02020603050405020304" pitchFamily="18" charset="0"/>
              <a:cs typeface="Times New Roman" panose="02020603050405020304" pitchFamily="18" charset="0"/>
            </a:endParaRPr>
          </a:p>
          <a:p>
            <a:pPr lvl="2" algn="just"/>
            <a:r>
              <a:rPr lang="en-US" sz="3200" dirty="0">
                <a:solidFill>
                  <a:srgbClr val="FF0000"/>
                </a:solidFill>
                <a:latin typeface="Times New Roman" panose="02020603050405020304" pitchFamily="18" charset="0"/>
                <a:cs typeface="Times New Roman" panose="02020603050405020304" pitchFamily="18" charset="0"/>
              </a:rPr>
              <a:t>Unacknowledged connectionless service</a:t>
            </a:r>
          </a:p>
          <a:p>
            <a:pPr lvl="2" algn="just"/>
            <a:r>
              <a:rPr lang="en-US" sz="3200" dirty="0">
                <a:solidFill>
                  <a:srgbClr val="FF0000"/>
                </a:solidFill>
                <a:latin typeface="Times New Roman" panose="02020603050405020304" pitchFamily="18" charset="0"/>
                <a:cs typeface="Times New Roman" panose="02020603050405020304" pitchFamily="18" charset="0"/>
              </a:rPr>
              <a:t>Acknowledged connectionless service</a:t>
            </a:r>
          </a:p>
          <a:p>
            <a:pPr lvl="2" algn="just"/>
            <a:r>
              <a:rPr lang="en-US" sz="3200" dirty="0">
                <a:solidFill>
                  <a:srgbClr val="FF0000"/>
                </a:solidFill>
                <a:latin typeface="Times New Roman" panose="02020603050405020304" pitchFamily="18" charset="0"/>
                <a:cs typeface="Times New Roman" panose="02020603050405020304" pitchFamily="18" charset="0"/>
              </a:rPr>
              <a:t>Acknowledged connection-oriented service</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734291"/>
            <a:ext cx="8760178" cy="5943599"/>
          </a:xfrm>
        </p:spPr>
        <p:txBody>
          <a:bodyPr>
            <a:normAutofit/>
          </a:bodyPr>
          <a:lstStyle/>
          <a:p>
            <a:pPr marL="468313" lvl="2" algn="just"/>
            <a:r>
              <a:rPr lang="en-US" sz="2800" b="1" u="sng" dirty="0">
                <a:solidFill>
                  <a:schemeClr val="tx1"/>
                </a:solidFill>
              </a:rPr>
              <a:t>Unacknowledged connectionless service</a:t>
            </a:r>
          </a:p>
          <a:p>
            <a:pPr marL="248857" lvl="2" indent="0" algn="just">
              <a:buNone/>
            </a:pPr>
            <a:endParaRPr lang="en-US" u="sng" dirty="0">
              <a:solidFill>
                <a:schemeClr val="tx1"/>
              </a:solidFill>
            </a:endParaRPr>
          </a:p>
          <a:p>
            <a:pPr marL="917575" lvl="3" algn="just"/>
            <a:r>
              <a:rPr lang="en-US" sz="2600" dirty="0">
                <a:latin typeface="Times New Roman" panose="02020603050405020304" pitchFamily="18" charset="0"/>
                <a:cs typeface="Times New Roman" panose="02020603050405020304" pitchFamily="18" charset="0"/>
              </a:rPr>
              <a:t>Source machine send </a:t>
            </a:r>
            <a:r>
              <a:rPr lang="en-US" sz="2600" dirty="0">
                <a:solidFill>
                  <a:srgbClr val="FF0000"/>
                </a:solidFill>
                <a:latin typeface="Times New Roman" panose="02020603050405020304" pitchFamily="18" charset="0"/>
                <a:cs typeface="Times New Roman" panose="02020603050405020304" pitchFamily="18" charset="0"/>
              </a:rPr>
              <a:t>independent frames </a:t>
            </a:r>
            <a:r>
              <a:rPr lang="en-US" sz="2600" dirty="0">
                <a:latin typeface="Times New Roman" panose="02020603050405020304" pitchFamily="18" charset="0"/>
                <a:cs typeface="Times New Roman" panose="02020603050405020304" pitchFamily="18" charset="0"/>
              </a:rPr>
              <a:t>to the destination machine without having the destination machine acknowledge them </a:t>
            </a:r>
          </a:p>
          <a:p>
            <a:pPr marL="917575" lvl="3" algn="just"/>
            <a:r>
              <a:rPr lang="en-US" sz="2600" dirty="0">
                <a:solidFill>
                  <a:srgbClr val="FF0000"/>
                </a:solidFill>
                <a:latin typeface="Times New Roman" panose="02020603050405020304" pitchFamily="18" charset="0"/>
                <a:cs typeface="Times New Roman" panose="02020603050405020304" pitchFamily="18" charset="0"/>
              </a:rPr>
              <a:t>No logical connection </a:t>
            </a:r>
            <a:r>
              <a:rPr lang="en-US" sz="2600" dirty="0">
                <a:latin typeface="Times New Roman" panose="02020603050405020304" pitchFamily="18" charset="0"/>
                <a:cs typeface="Times New Roman" panose="02020603050405020304" pitchFamily="18" charset="0"/>
              </a:rPr>
              <a:t>is established </a:t>
            </a:r>
          </a:p>
          <a:p>
            <a:pPr marL="917575" lvl="3" algn="just"/>
            <a:r>
              <a:rPr lang="en-US" sz="2600" dirty="0">
                <a:latin typeface="Times New Roman" panose="02020603050405020304" pitchFamily="18" charset="0"/>
                <a:cs typeface="Times New Roman" panose="02020603050405020304" pitchFamily="18" charset="0"/>
              </a:rPr>
              <a:t>If a </a:t>
            </a:r>
            <a:r>
              <a:rPr lang="en-US" sz="2600" dirty="0">
                <a:solidFill>
                  <a:srgbClr val="FF0000"/>
                </a:solidFill>
                <a:latin typeface="Times New Roman" panose="02020603050405020304" pitchFamily="18" charset="0"/>
                <a:cs typeface="Times New Roman" panose="02020603050405020304" pitchFamily="18" charset="0"/>
              </a:rPr>
              <a:t>frame is lost </a:t>
            </a:r>
            <a:r>
              <a:rPr lang="en-US" sz="2600" dirty="0">
                <a:latin typeface="Times New Roman" panose="02020603050405020304" pitchFamily="18" charset="0"/>
                <a:cs typeface="Times New Roman" panose="02020603050405020304" pitchFamily="18" charset="0"/>
              </a:rPr>
              <a:t>due to noise on the line, </a:t>
            </a:r>
            <a:r>
              <a:rPr lang="en-US" sz="2600" dirty="0">
                <a:solidFill>
                  <a:srgbClr val="FF0000"/>
                </a:solidFill>
                <a:latin typeface="Times New Roman" panose="02020603050405020304" pitchFamily="18" charset="0"/>
                <a:cs typeface="Times New Roman" panose="02020603050405020304" pitchFamily="18" charset="0"/>
              </a:rPr>
              <a:t>no attempt is made to detect the loss or recover from it </a:t>
            </a:r>
          </a:p>
          <a:p>
            <a:pPr marL="917575" lvl="3" algn="just"/>
            <a:r>
              <a:rPr lang="en-US" sz="2600" dirty="0">
                <a:latin typeface="Times New Roman" panose="02020603050405020304" pitchFamily="18" charset="0"/>
                <a:cs typeface="Times New Roman" panose="02020603050405020304" pitchFamily="18" charset="0"/>
              </a:rPr>
              <a:t>This class of service is </a:t>
            </a:r>
            <a:r>
              <a:rPr lang="en-US" sz="2600" dirty="0">
                <a:solidFill>
                  <a:srgbClr val="FF0000"/>
                </a:solidFill>
                <a:latin typeface="Times New Roman" panose="02020603050405020304" pitchFamily="18" charset="0"/>
                <a:cs typeface="Times New Roman" panose="02020603050405020304" pitchFamily="18" charset="0"/>
              </a:rPr>
              <a:t>appropriate when the error rate is very low</a:t>
            </a:r>
            <a:r>
              <a:rPr lang="en-US" sz="2600" dirty="0">
                <a:latin typeface="Times New Roman" panose="02020603050405020304" pitchFamily="18" charset="0"/>
                <a:cs typeface="Times New Roman" panose="02020603050405020304" pitchFamily="18" charset="0"/>
              </a:rPr>
              <a:t> so that recovery is left to higher layers </a:t>
            </a:r>
          </a:p>
          <a:p>
            <a:pPr marL="917575" lvl="3" algn="just"/>
            <a:r>
              <a:rPr lang="en-US" sz="2600" dirty="0">
                <a:latin typeface="Times New Roman" panose="02020603050405020304" pitchFamily="18" charset="0"/>
                <a:cs typeface="Times New Roman" panose="02020603050405020304" pitchFamily="18" charset="0"/>
              </a:rPr>
              <a:t>Also </a:t>
            </a:r>
            <a:r>
              <a:rPr lang="en-US" sz="2600" dirty="0">
                <a:solidFill>
                  <a:srgbClr val="FF0000"/>
                </a:solidFill>
                <a:latin typeface="Times New Roman" panose="02020603050405020304" pitchFamily="18" charset="0"/>
                <a:cs typeface="Times New Roman" panose="02020603050405020304" pitchFamily="18" charset="0"/>
              </a:rPr>
              <a:t>appropriate for real-time traffic</a:t>
            </a:r>
            <a:r>
              <a:rPr lang="en-US" sz="2600" dirty="0">
                <a:latin typeface="Times New Roman" panose="02020603050405020304" pitchFamily="18" charset="0"/>
                <a:cs typeface="Times New Roman" panose="02020603050405020304" pitchFamily="18" charset="0"/>
              </a:rPr>
              <a:t>, such as voice, in which late data are worse than bad data </a:t>
            </a:r>
          </a:p>
          <a:p>
            <a:pPr marL="917575" lvl="3" algn="just"/>
            <a:r>
              <a:rPr lang="en-US" sz="2600" dirty="0">
                <a:latin typeface="Times New Roman" panose="02020603050405020304" pitchFamily="18" charset="0"/>
                <a:cs typeface="Times New Roman" panose="02020603050405020304" pitchFamily="18" charset="0"/>
              </a:rPr>
              <a:t>Most </a:t>
            </a:r>
            <a:r>
              <a:rPr lang="en-US" sz="2600" dirty="0">
                <a:solidFill>
                  <a:srgbClr val="FF0000"/>
                </a:solidFill>
                <a:latin typeface="Times New Roman" panose="02020603050405020304" pitchFamily="18" charset="0"/>
                <a:cs typeface="Times New Roman" panose="02020603050405020304" pitchFamily="18" charset="0"/>
              </a:rPr>
              <a:t>LANs </a:t>
            </a:r>
            <a:r>
              <a:rPr lang="en-US" sz="2600" dirty="0">
                <a:latin typeface="Times New Roman" panose="02020603050405020304" pitchFamily="18" charset="0"/>
                <a:cs typeface="Times New Roman" panose="02020603050405020304" pitchFamily="18" charset="0"/>
              </a:rPr>
              <a:t>use unacknowledged connectionless service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623455"/>
            <a:ext cx="8760178" cy="6070857"/>
          </a:xfrm>
        </p:spPr>
        <p:txBody>
          <a:bodyPr>
            <a:normAutofit lnSpcReduction="10000"/>
          </a:bodyPr>
          <a:lstStyle/>
          <a:p>
            <a:pPr marL="479425" lvl="1" indent="-381000" algn="just">
              <a:buFont typeface="Arial" pitchFamily="34" charset="0"/>
              <a:buChar char="•"/>
            </a:pPr>
            <a:r>
              <a:rPr lang="en-US" sz="3200" b="1" u="sng" dirty="0">
                <a:solidFill>
                  <a:schemeClr val="tx1"/>
                </a:solidFill>
              </a:rPr>
              <a:t>Acknowledged connectionless service</a:t>
            </a:r>
          </a:p>
          <a:p>
            <a:pPr marL="98425" lvl="1" indent="0" algn="just">
              <a:buNone/>
            </a:pPr>
            <a:endParaRPr lang="en-US" sz="3200" u="sng" dirty="0">
              <a:solidFill>
                <a:schemeClr val="tx1"/>
              </a:solidFill>
            </a:endParaRPr>
          </a:p>
          <a:p>
            <a:pPr marL="860425" lvl="3" algn="just"/>
            <a:r>
              <a:rPr lang="en-US" sz="2600" dirty="0">
                <a:solidFill>
                  <a:srgbClr val="FF0000"/>
                </a:solidFill>
                <a:latin typeface="Times New Roman" panose="02020603050405020304" pitchFamily="18" charset="0"/>
                <a:cs typeface="Times New Roman" panose="02020603050405020304" pitchFamily="18" charset="0"/>
              </a:rPr>
              <a:t>No logical connections </a:t>
            </a:r>
          </a:p>
          <a:p>
            <a:pPr marL="860425" lvl="3" algn="just"/>
            <a:r>
              <a:rPr lang="en-US" sz="2600" dirty="0">
                <a:latin typeface="Times New Roman" panose="02020603050405020304" pitchFamily="18" charset="0"/>
                <a:cs typeface="Times New Roman" panose="02020603050405020304" pitchFamily="18" charset="0"/>
              </a:rPr>
              <a:t>Each frame sent is </a:t>
            </a:r>
            <a:r>
              <a:rPr lang="en-US" sz="2600" dirty="0">
                <a:solidFill>
                  <a:srgbClr val="FF0000"/>
                </a:solidFill>
                <a:latin typeface="Times New Roman" panose="02020603050405020304" pitchFamily="18" charset="0"/>
                <a:cs typeface="Times New Roman" panose="02020603050405020304" pitchFamily="18" charset="0"/>
              </a:rPr>
              <a:t>individually acknowledged </a:t>
            </a:r>
          </a:p>
          <a:p>
            <a:pPr marL="860425" lvl="3" algn="just"/>
            <a:r>
              <a:rPr lang="en-US" sz="2600" dirty="0">
                <a:latin typeface="Times New Roman" panose="02020603050405020304" pitchFamily="18" charset="0"/>
                <a:cs typeface="Times New Roman" panose="02020603050405020304" pitchFamily="18" charset="0"/>
              </a:rPr>
              <a:t>Sender knows whether a frame has arrived correctly </a:t>
            </a:r>
          </a:p>
          <a:p>
            <a:pPr marL="860425" lvl="3" algn="just"/>
            <a:r>
              <a:rPr lang="en-US" sz="2600" dirty="0">
                <a:latin typeface="Times New Roman" panose="02020603050405020304" pitchFamily="18" charset="0"/>
                <a:cs typeface="Times New Roman" panose="02020603050405020304" pitchFamily="18" charset="0"/>
              </a:rPr>
              <a:t>If it has not arrived within a specified time interval, it can be sent again. </a:t>
            </a:r>
          </a:p>
          <a:p>
            <a:pPr marL="860425" lvl="3" algn="just"/>
            <a:r>
              <a:rPr lang="en-US" sz="2600" dirty="0">
                <a:latin typeface="Times New Roman" panose="02020603050405020304" pitchFamily="18" charset="0"/>
                <a:cs typeface="Times New Roman" panose="02020603050405020304" pitchFamily="18" charset="0"/>
              </a:rPr>
              <a:t>This service is </a:t>
            </a:r>
            <a:r>
              <a:rPr lang="en-US" sz="2600" dirty="0">
                <a:solidFill>
                  <a:srgbClr val="FF0000"/>
                </a:solidFill>
                <a:latin typeface="Times New Roman" panose="02020603050405020304" pitchFamily="18" charset="0"/>
                <a:cs typeface="Times New Roman" panose="02020603050405020304" pitchFamily="18" charset="0"/>
              </a:rPr>
              <a:t>useful over unreliable channels, such as wireless systems</a:t>
            </a:r>
            <a:r>
              <a:rPr lang="en-US" sz="2600" dirty="0">
                <a:latin typeface="Times New Roman" panose="02020603050405020304" pitchFamily="18" charset="0"/>
                <a:cs typeface="Times New Roman" panose="02020603050405020304" pitchFamily="18" charset="0"/>
              </a:rPr>
              <a:t> </a:t>
            </a:r>
          </a:p>
          <a:p>
            <a:pPr marL="860425" lvl="3" algn="just"/>
            <a:r>
              <a:rPr lang="en-US" sz="2600" dirty="0">
                <a:latin typeface="Times New Roman" panose="02020603050405020304" pitchFamily="18" charset="0"/>
                <a:cs typeface="Times New Roman" panose="02020603050405020304" pitchFamily="18" charset="0"/>
              </a:rPr>
              <a:t>If the average packet is broken up into, say, 10 frames, and 20 percent of all frames are lost, it may take a very long time for the packet to get through. </a:t>
            </a:r>
          </a:p>
          <a:p>
            <a:pPr marL="860425" lvl="3" algn="just"/>
            <a:r>
              <a:rPr lang="en-US" sz="2600" dirty="0">
                <a:latin typeface="Times New Roman" panose="02020603050405020304" pitchFamily="18" charset="0"/>
                <a:cs typeface="Times New Roman" panose="02020603050405020304" pitchFamily="18" charset="0"/>
              </a:rPr>
              <a:t>If individual frames are acknowledged and retransmitted, entire packets get through much faster.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993422"/>
            <a:ext cx="8760178" cy="5331178"/>
          </a:xfrm>
        </p:spPr>
        <p:txBody>
          <a:bodyPr>
            <a:normAutofit/>
          </a:bodyPr>
          <a:lstStyle/>
          <a:p>
            <a:pPr marL="468313" lvl="2" algn="just"/>
            <a:r>
              <a:rPr lang="en-US" sz="2800" b="1" u="sng" dirty="0">
                <a:solidFill>
                  <a:schemeClr val="tx1"/>
                </a:solidFill>
              </a:rPr>
              <a:t>Acknowledged connection-oriented service</a:t>
            </a:r>
          </a:p>
          <a:p>
            <a:pPr marL="248857" lvl="2" indent="0" algn="just">
              <a:buNone/>
            </a:pPr>
            <a:endParaRPr lang="en-US" sz="3200" u="sng" dirty="0">
              <a:solidFill>
                <a:schemeClr val="tx1"/>
              </a:solidFill>
            </a:endParaRPr>
          </a:p>
          <a:p>
            <a:pPr marL="849313" lvl="3" algn="just"/>
            <a:r>
              <a:rPr lang="en-US" sz="2600" dirty="0">
                <a:latin typeface="Times New Roman" panose="02020603050405020304" pitchFamily="18" charset="0"/>
                <a:cs typeface="Times New Roman" panose="02020603050405020304" pitchFamily="18" charset="0"/>
              </a:rPr>
              <a:t>Source and destination machines </a:t>
            </a:r>
            <a:r>
              <a:rPr lang="en-US" sz="2600" dirty="0">
                <a:solidFill>
                  <a:srgbClr val="FF0000"/>
                </a:solidFill>
                <a:latin typeface="Times New Roman" panose="02020603050405020304" pitchFamily="18" charset="0"/>
                <a:cs typeface="Times New Roman" panose="02020603050405020304" pitchFamily="18" charset="0"/>
              </a:rPr>
              <a:t>establish a connection </a:t>
            </a:r>
            <a:r>
              <a:rPr lang="en-US" sz="2600" dirty="0">
                <a:latin typeface="Times New Roman" panose="02020603050405020304" pitchFamily="18" charset="0"/>
                <a:cs typeface="Times New Roman" panose="02020603050405020304" pitchFamily="18" charset="0"/>
              </a:rPr>
              <a:t>before any data are transferred. </a:t>
            </a:r>
          </a:p>
          <a:p>
            <a:pPr marL="849313" lvl="3" algn="just"/>
            <a:r>
              <a:rPr lang="en-US" sz="2600" dirty="0">
                <a:latin typeface="Times New Roman" panose="02020603050405020304" pitchFamily="18" charset="0"/>
                <a:cs typeface="Times New Roman" panose="02020603050405020304" pitchFamily="18" charset="0"/>
              </a:rPr>
              <a:t>Each frame sent over the connection is </a:t>
            </a:r>
            <a:r>
              <a:rPr lang="en-US" sz="2600" dirty="0">
                <a:solidFill>
                  <a:srgbClr val="FF0000"/>
                </a:solidFill>
                <a:latin typeface="Times New Roman" panose="02020603050405020304" pitchFamily="18" charset="0"/>
                <a:cs typeface="Times New Roman" panose="02020603050405020304" pitchFamily="18" charset="0"/>
              </a:rPr>
              <a:t>numbered</a:t>
            </a:r>
          </a:p>
          <a:p>
            <a:pPr marL="849313" lvl="3" algn="just"/>
            <a:r>
              <a:rPr lang="en-US" sz="2600" dirty="0">
                <a:latin typeface="Times New Roman" panose="02020603050405020304" pitchFamily="18" charset="0"/>
                <a:cs typeface="Times New Roman" panose="02020603050405020304" pitchFamily="18" charset="0"/>
              </a:rPr>
              <a:t>DLL </a:t>
            </a:r>
            <a:r>
              <a:rPr lang="en-US" sz="2600" dirty="0">
                <a:solidFill>
                  <a:srgbClr val="FF0000"/>
                </a:solidFill>
                <a:latin typeface="Times New Roman" panose="02020603050405020304" pitchFamily="18" charset="0"/>
                <a:cs typeface="Times New Roman" panose="02020603050405020304" pitchFamily="18" charset="0"/>
              </a:rPr>
              <a:t>guarantees</a:t>
            </a:r>
            <a:r>
              <a:rPr lang="en-US" sz="2600" dirty="0">
                <a:latin typeface="Times New Roman" panose="02020603050405020304" pitchFamily="18" charset="0"/>
                <a:cs typeface="Times New Roman" panose="02020603050405020304" pitchFamily="18" charset="0"/>
              </a:rPr>
              <a:t> that each frame sent is indeed </a:t>
            </a:r>
            <a:r>
              <a:rPr lang="en-US" sz="2600" dirty="0">
                <a:solidFill>
                  <a:srgbClr val="FF0000"/>
                </a:solidFill>
                <a:latin typeface="Times New Roman" panose="02020603050405020304" pitchFamily="18" charset="0"/>
                <a:cs typeface="Times New Roman" panose="02020603050405020304" pitchFamily="18" charset="0"/>
              </a:rPr>
              <a:t>received</a:t>
            </a:r>
            <a:r>
              <a:rPr lang="en-US" sz="2600" dirty="0">
                <a:latin typeface="Times New Roman" panose="02020603050405020304" pitchFamily="18" charset="0"/>
                <a:cs typeface="Times New Roman" panose="02020603050405020304" pitchFamily="18" charset="0"/>
              </a:rPr>
              <a:t>. </a:t>
            </a:r>
          </a:p>
          <a:p>
            <a:pPr marL="849313" lvl="3" algn="just"/>
            <a:r>
              <a:rPr lang="en-US" sz="2600" dirty="0">
                <a:latin typeface="Times New Roman" panose="02020603050405020304" pitchFamily="18" charset="0"/>
                <a:cs typeface="Times New Roman" panose="02020603050405020304" pitchFamily="18" charset="0"/>
              </a:rPr>
              <a:t>It also guarantees that each frame is received </a:t>
            </a:r>
            <a:r>
              <a:rPr lang="en-US" sz="2600" dirty="0">
                <a:solidFill>
                  <a:srgbClr val="FF0000"/>
                </a:solidFill>
                <a:latin typeface="Times New Roman" panose="02020603050405020304" pitchFamily="18" charset="0"/>
                <a:cs typeface="Times New Roman" panose="02020603050405020304" pitchFamily="18" charset="0"/>
              </a:rPr>
              <a:t>exactly once</a:t>
            </a:r>
            <a:r>
              <a:rPr lang="en-US" sz="2600" dirty="0">
                <a:latin typeface="Times New Roman" panose="02020603050405020304" pitchFamily="18" charset="0"/>
                <a:cs typeface="Times New Roman" panose="02020603050405020304" pitchFamily="18" charset="0"/>
              </a:rPr>
              <a:t> and that all frames are received in the </a:t>
            </a:r>
            <a:r>
              <a:rPr lang="en-US" sz="2600" dirty="0">
                <a:solidFill>
                  <a:srgbClr val="FF0000"/>
                </a:solidFill>
                <a:latin typeface="Times New Roman" panose="02020603050405020304" pitchFamily="18" charset="0"/>
                <a:cs typeface="Times New Roman" panose="02020603050405020304" pitchFamily="18" charset="0"/>
              </a:rPr>
              <a:t>right order</a:t>
            </a:r>
            <a:r>
              <a:rPr lang="en-US" sz="2600" dirty="0">
                <a:latin typeface="Times New Roman" panose="02020603050405020304" pitchFamily="18" charset="0"/>
                <a:cs typeface="Times New Roman" panose="02020603050405020304" pitchFamily="18" charset="0"/>
              </a:rPr>
              <a:t>. </a:t>
            </a:r>
          </a:p>
          <a:p>
            <a:pPr marL="849313" lvl="3" algn="just"/>
            <a:r>
              <a:rPr lang="en-US" sz="2600" dirty="0">
                <a:latin typeface="Times New Roman" panose="02020603050405020304" pitchFamily="18" charset="0"/>
                <a:cs typeface="Times New Roman" panose="02020603050405020304" pitchFamily="18" charset="0"/>
              </a:rPr>
              <a:t>With connectionless service, it is conceivable that a </a:t>
            </a:r>
            <a:r>
              <a:rPr lang="en-US" sz="2600" dirty="0">
                <a:solidFill>
                  <a:srgbClr val="FF0000"/>
                </a:solidFill>
                <a:latin typeface="Times New Roman" panose="02020603050405020304" pitchFamily="18" charset="0"/>
                <a:cs typeface="Times New Roman" panose="02020603050405020304" pitchFamily="18" charset="0"/>
              </a:rPr>
              <a:t>lost acknowledgement</a:t>
            </a:r>
            <a:r>
              <a:rPr lang="en-US" sz="2600" dirty="0">
                <a:latin typeface="Times New Roman" panose="02020603050405020304" pitchFamily="18" charset="0"/>
                <a:cs typeface="Times New Roman" panose="02020603050405020304" pitchFamily="18" charset="0"/>
              </a:rPr>
              <a:t> causes a packet to be sent several times and thus received several times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803564"/>
            <a:ext cx="8760178" cy="5902036"/>
          </a:xfrm>
        </p:spPr>
        <p:txBody>
          <a:bodyPr>
            <a:normAutofit/>
          </a:bodyPr>
          <a:lstStyle/>
          <a:p>
            <a:pPr marL="468313" lvl="2" algn="just"/>
            <a:r>
              <a:rPr lang="en-US" sz="2800" b="1" u="sng" dirty="0">
                <a:solidFill>
                  <a:schemeClr val="tx1"/>
                </a:solidFill>
              </a:rPr>
              <a:t>Acknowledged connection-oriented service</a:t>
            </a:r>
          </a:p>
          <a:p>
            <a:pPr marL="468313" lvl="2" algn="just"/>
            <a:endParaRPr lang="en-US" sz="2800" dirty="0"/>
          </a:p>
          <a:p>
            <a:pPr marL="849313" lvl="3" algn="just"/>
            <a:r>
              <a:rPr lang="en-US" sz="2400" dirty="0">
                <a:solidFill>
                  <a:schemeClr val="tx1"/>
                </a:solidFill>
              </a:rPr>
              <a:t>Transfer in 3 phases</a:t>
            </a:r>
          </a:p>
          <a:p>
            <a:pPr marL="849313" lvl="3" algn="just"/>
            <a:r>
              <a:rPr lang="en-US" sz="2400" dirty="0">
                <a:solidFill>
                  <a:schemeClr val="tx1"/>
                </a:solidFill>
              </a:rPr>
              <a:t>Phase 1</a:t>
            </a:r>
          </a:p>
          <a:p>
            <a:pPr marL="1306513" lvl="4" algn="just"/>
            <a:r>
              <a:rPr lang="en-US" sz="2400" dirty="0"/>
              <a:t>Connection is established by having both sides </a:t>
            </a:r>
            <a:r>
              <a:rPr lang="en-US" sz="2400" dirty="0">
                <a:solidFill>
                  <a:srgbClr val="FF0000"/>
                </a:solidFill>
              </a:rPr>
              <a:t>initialize variables and counters</a:t>
            </a:r>
            <a:r>
              <a:rPr lang="en-US" sz="2400" dirty="0"/>
              <a:t> needed to keep track of which frames have been received and which ones have not </a:t>
            </a:r>
          </a:p>
          <a:p>
            <a:pPr marL="849313" lvl="3" algn="just"/>
            <a:r>
              <a:rPr lang="en-US" sz="2400" dirty="0">
                <a:solidFill>
                  <a:schemeClr val="tx1"/>
                </a:solidFill>
              </a:rPr>
              <a:t>Phase 2</a:t>
            </a:r>
          </a:p>
          <a:p>
            <a:pPr marL="1306513" lvl="4" algn="just"/>
            <a:r>
              <a:rPr lang="en-US" sz="2400" dirty="0"/>
              <a:t>One or more frames are actually </a:t>
            </a:r>
            <a:r>
              <a:rPr lang="en-US" sz="2400" dirty="0">
                <a:solidFill>
                  <a:srgbClr val="FF0000"/>
                </a:solidFill>
              </a:rPr>
              <a:t>transmitted </a:t>
            </a:r>
          </a:p>
          <a:p>
            <a:pPr marL="849313" lvl="3" algn="just"/>
            <a:r>
              <a:rPr lang="en-US" sz="2400" dirty="0">
                <a:solidFill>
                  <a:schemeClr val="tx1"/>
                </a:solidFill>
              </a:rPr>
              <a:t>Phase 3</a:t>
            </a:r>
          </a:p>
          <a:p>
            <a:pPr marL="1306513" lvl="4" algn="just"/>
            <a:r>
              <a:rPr lang="en-US" sz="2400" dirty="0"/>
              <a:t>Connection is released, </a:t>
            </a:r>
            <a:r>
              <a:rPr lang="en-US" sz="2400" dirty="0">
                <a:solidFill>
                  <a:srgbClr val="FF0000"/>
                </a:solidFill>
              </a:rPr>
              <a:t>freeing up the variables, buffers, and other resources</a:t>
            </a:r>
            <a:r>
              <a:rPr lang="en-US" sz="2400" dirty="0"/>
              <a:t> used to maintain the connection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35467" y="187295"/>
            <a:ext cx="9008533" cy="925690"/>
          </a:xfrm>
        </p:spPr>
        <p:txBody>
          <a:bodyPr>
            <a:normAutofit/>
          </a:bodyPr>
          <a:lstStyle/>
          <a:p>
            <a:r>
              <a:rPr lang="en-US" u="sng" dirty="0"/>
              <a:t> </a:t>
            </a:r>
            <a:r>
              <a:rPr lang="en-US" sz="4400" u="sng" dirty="0"/>
              <a:t>Framing</a:t>
            </a:r>
          </a:p>
        </p:txBody>
      </p:sp>
      <p:sp>
        <p:nvSpPr>
          <p:cNvPr id="7" name="Content Placeholder 2"/>
          <p:cNvSpPr>
            <a:spLocks noGrp="1"/>
          </p:cNvSpPr>
          <p:nvPr>
            <p:ph idx="1"/>
          </p:nvPr>
        </p:nvSpPr>
        <p:spPr>
          <a:xfrm>
            <a:off x="233475" y="1246396"/>
            <a:ext cx="8760178" cy="4617155"/>
          </a:xfrm>
        </p:spPr>
        <p:txBody>
          <a:bodyPr>
            <a:normAutofit fontScale="92500"/>
          </a:bodyPr>
          <a:lstStyle/>
          <a:p>
            <a:pPr algn="just">
              <a:buFont typeface="Arial" pitchFamily="34" charset="0"/>
              <a:buChar char="•"/>
            </a:pPr>
            <a:r>
              <a:rPr lang="en-US" dirty="0">
                <a:latin typeface="Times New Roman" panose="02020603050405020304" pitchFamily="18" charset="0"/>
                <a:cs typeface="Times New Roman" panose="02020603050405020304" pitchFamily="18" charset="0"/>
              </a:rPr>
              <a:t>DLL accepts bits from Physical layer and it </a:t>
            </a:r>
            <a:r>
              <a:rPr lang="en-US" b="1" dirty="0">
                <a:latin typeface="Times New Roman" panose="02020603050405020304" pitchFamily="18" charset="0"/>
                <a:cs typeface="Times New Roman" panose="02020603050405020304" pitchFamily="18" charset="0"/>
              </a:rPr>
              <a:t>detect and correct errors.</a:t>
            </a:r>
          </a:p>
          <a:p>
            <a:pPr algn="just">
              <a:buFont typeface="Arial" pitchFamily="34" charset="0"/>
              <a:buChar char="•"/>
            </a:pPr>
            <a:r>
              <a:rPr lang="en-US" dirty="0">
                <a:latin typeface="Times New Roman" panose="02020603050405020304" pitchFamily="18" charset="0"/>
                <a:cs typeface="Times New Roman" panose="02020603050405020304" pitchFamily="18" charset="0"/>
              </a:rPr>
              <a:t>Usual approach is for the DLL to break the bit stream up into discrete frames and compute the checksum for each frame</a:t>
            </a:r>
          </a:p>
          <a:p>
            <a:pPr algn="just">
              <a:buFont typeface="Arial" pitchFamily="34" charset="0"/>
              <a:buChar char="•"/>
            </a:pPr>
            <a:r>
              <a:rPr lang="en-US" dirty="0">
                <a:latin typeface="Times New Roman" panose="02020603050405020304" pitchFamily="18" charset="0"/>
                <a:cs typeface="Times New Roman" panose="02020603050405020304" pitchFamily="18" charset="0"/>
              </a:rPr>
              <a:t>When a frame arrives at the destination, the checksum is recomputed.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If the newly-computed checksum is different from the one contained in the frame, the DLL knows that an error has occurred and takes steps to deal with it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e.g., discarding the bad frame and possibly also sending back an error report</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35467" y="90310"/>
            <a:ext cx="9008533" cy="496712"/>
          </a:xfrm>
        </p:spPr>
        <p:txBody>
          <a:bodyPr>
            <a:normAutofit fontScale="90000"/>
          </a:bodyPr>
          <a:lstStyle/>
          <a:p>
            <a:br>
              <a:rPr lang="en-US" dirty="0"/>
            </a:br>
            <a:r>
              <a:rPr lang="en-US" dirty="0"/>
              <a:t> </a:t>
            </a:r>
            <a:r>
              <a:rPr lang="en-US" sz="4400" dirty="0"/>
              <a:t>Framing</a:t>
            </a:r>
          </a:p>
        </p:txBody>
      </p:sp>
      <p:sp>
        <p:nvSpPr>
          <p:cNvPr id="7" name="Content Placeholder 2"/>
          <p:cNvSpPr>
            <a:spLocks noGrp="1"/>
          </p:cNvSpPr>
          <p:nvPr>
            <p:ph idx="1"/>
          </p:nvPr>
        </p:nvSpPr>
        <p:spPr>
          <a:xfrm>
            <a:off x="191911" y="914399"/>
            <a:ext cx="8760178" cy="5887156"/>
          </a:xfrm>
        </p:spPr>
        <p:txBody>
          <a:bodyPr>
            <a:normAutofit fontScale="92500"/>
          </a:bodyPr>
          <a:lstStyle/>
          <a:p>
            <a:pPr algn="just">
              <a:buFont typeface="Arial" pitchFamily="34" charset="0"/>
              <a:buChar char="•"/>
            </a:pPr>
            <a:r>
              <a:rPr lang="en-US" dirty="0">
                <a:solidFill>
                  <a:srgbClr val="FF0000"/>
                </a:solidFill>
                <a:latin typeface="Times New Roman" panose="02020603050405020304" pitchFamily="18" charset="0"/>
                <a:cs typeface="Times New Roman" panose="02020603050405020304" pitchFamily="18" charset="0"/>
              </a:rPr>
              <a:t>Breaking the bit stream up into frames </a:t>
            </a:r>
            <a:r>
              <a:rPr lang="en-US" dirty="0">
                <a:latin typeface="Times New Roman" panose="02020603050405020304" pitchFamily="18" charset="0"/>
                <a:cs typeface="Times New Roman" panose="02020603050405020304" pitchFamily="18" charset="0"/>
              </a:rPr>
              <a:t>is more difficult than it appears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One method is to </a:t>
            </a:r>
            <a:r>
              <a:rPr lang="en-US" dirty="0">
                <a:solidFill>
                  <a:srgbClr val="FF0000"/>
                </a:solidFill>
                <a:latin typeface="Times New Roman" panose="02020603050405020304" pitchFamily="18" charset="0"/>
                <a:cs typeface="Times New Roman" panose="02020603050405020304" pitchFamily="18" charset="0"/>
              </a:rPr>
              <a:t>insert time gaps </a:t>
            </a:r>
            <a:r>
              <a:rPr lang="en-US" dirty="0">
                <a:latin typeface="Times New Roman" panose="02020603050405020304" pitchFamily="18" charset="0"/>
                <a:cs typeface="Times New Roman" panose="02020603050405020304" pitchFamily="18" charset="0"/>
              </a:rPr>
              <a:t>between frames, much like the spaces between words in ordinary text.</a:t>
            </a:r>
          </a:p>
          <a:p>
            <a:pPr algn="just">
              <a:buFont typeface="Arial" pitchFamily="34" charset="0"/>
              <a:buChar char="•"/>
            </a:pPr>
            <a:r>
              <a:rPr lang="en-US" dirty="0">
                <a:latin typeface="Times New Roman" panose="02020603050405020304" pitchFamily="18" charset="0"/>
                <a:cs typeface="Times New Roman" panose="02020603050405020304" pitchFamily="18" charset="0"/>
              </a:rPr>
              <a:t>However, networks rarely make any guarantees about timing</a:t>
            </a:r>
          </a:p>
          <a:p>
            <a:pPr algn="just">
              <a:buFont typeface="Arial" pitchFamily="34" charset="0"/>
              <a:buChar char="•"/>
            </a:pPr>
            <a:r>
              <a:rPr lang="en-US" dirty="0">
                <a:latin typeface="Times New Roman" panose="02020603050405020304" pitchFamily="18" charset="0"/>
                <a:cs typeface="Times New Roman" panose="02020603050405020304" pitchFamily="18" charset="0"/>
              </a:rPr>
              <a:t>It is possible that these gaps might be </a:t>
            </a:r>
            <a:r>
              <a:rPr lang="en-US" dirty="0">
                <a:solidFill>
                  <a:srgbClr val="FF0000"/>
                </a:solidFill>
                <a:latin typeface="Times New Roman" panose="02020603050405020304" pitchFamily="18" charset="0"/>
                <a:cs typeface="Times New Roman" panose="02020603050405020304" pitchFamily="18" charset="0"/>
              </a:rPr>
              <a:t>squeezed out </a:t>
            </a:r>
            <a:r>
              <a:rPr lang="en-US" dirty="0">
                <a:latin typeface="Times New Roman" panose="02020603050405020304" pitchFamily="18" charset="0"/>
                <a:cs typeface="Times New Roman" panose="02020603050405020304" pitchFamily="18" charset="0"/>
              </a:rPr>
              <a:t>or other gaps might be </a:t>
            </a:r>
            <a:r>
              <a:rPr lang="en-US" dirty="0">
                <a:solidFill>
                  <a:srgbClr val="FF0000"/>
                </a:solidFill>
                <a:latin typeface="Times New Roman" panose="02020603050405020304" pitchFamily="18" charset="0"/>
                <a:cs typeface="Times New Roman" panose="02020603050405020304" pitchFamily="18" charset="0"/>
              </a:rPr>
              <a:t>inserted</a:t>
            </a:r>
            <a:r>
              <a:rPr lang="en-US" dirty="0">
                <a:latin typeface="Times New Roman" panose="02020603050405020304" pitchFamily="18" charset="0"/>
                <a:cs typeface="Times New Roman" panose="02020603050405020304" pitchFamily="18" charset="0"/>
              </a:rPr>
              <a:t> during transmission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So, it is difficult to count on timing to mark the start and end of each frame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Other methods</a:t>
            </a:r>
          </a:p>
          <a:p>
            <a:pPr lvl="2">
              <a:buFont typeface="Wingdings" pitchFamily="2" charset="2"/>
              <a:buChar char="ü"/>
            </a:pPr>
            <a:r>
              <a:rPr lang="en-US" dirty="0">
                <a:solidFill>
                  <a:srgbClr val="FF0000"/>
                </a:solidFill>
                <a:latin typeface="Times New Roman" panose="02020603050405020304" pitchFamily="18" charset="0"/>
                <a:cs typeface="Times New Roman" panose="02020603050405020304" pitchFamily="18" charset="0"/>
              </a:rPr>
              <a:t>Character count. </a:t>
            </a:r>
          </a:p>
          <a:p>
            <a:pPr lvl="2">
              <a:buFont typeface="Wingdings" pitchFamily="2" charset="2"/>
              <a:buChar char="ü"/>
            </a:pPr>
            <a:r>
              <a:rPr lang="en-US" dirty="0">
                <a:solidFill>
                  <a:srgbClr val="FF0000"/>
                </a:solidFill>
                <a:latin typeface="Times New Roman" panose="02020603050405020304" pitchFamily="18" charset="0"/>
                <a:cs typeface="Times New Roman" panose="02020603050405020304" pitchFamily="18" charset="0"/>
              </a:rPr>
              <a:t>Flag bytes with byte stuffing. </a:t>
            </a:r>
          </a:p>
          <a:p>
            <a:pPr lvl="2">
              <a:buFont typeface="Wingdings" pitchFamily="2" charset="2"/>
              <a:buChar char="ü"/>
            </a:pPr>
            <a:r>
              <a:rPr lang="en-US" dirty="0">
                <a:solidFill>
                  <a:srgbClr val="FF0000"/>
                </a:solidFill>
                <a:latin typeface="Times New Roman" panose="02020603050405020304" pitchFamily="18" charset="0"/>
                <a:cs typeface="Times New Roman" panose="02020603050405020304" pitchFamily="18" charset="0"/>
              </a:rPr>
              <a:t>Starting and ending flags, with bit stuffing. </a:t>
            </a:r>
          </a:p>
          <a:p>
            <a:pPr lvl="2">
              <a:buFont typeface="Wingdings" pitchFamily="2" charset="2"/>
              <a:buChar char="ü"/>
            </a:pPr>
            <a:r>
              <a:rPr lang="en-US" dirty="0">
                <a:solidFill>
                  <a:srgbClr val="FF0000"/>
                </a:solidFill>
                <a:latin typeface="Times New Roman" panose="02020603050405020304" pitchFamily="18" charset="0"/>
                <a:cs typeface="Times New Roman" panose="02020603050405020304" pitchFamily="18" charset="0"/>
              </a:rPr>
              <a:t>Physical layer coding violations</a:t>
            </a:r>
            <a:r>
              <a:rPr lang="en-US" dirty="0">
                <a:solidFill>
                  <a:srgbClr val="FF0000"/>
                </a:solidFill>
              </a:rPr>
              <a:t>.</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440268"/>
            <a:ext cx="8760178" cy="6361288"/>
          </a:xfrm>
        </p:spPr>
        <p:txBody>
          <a:bodyPr/>
          <a:lstStyle/>
          <a:p>
            <a:pPr algn="just">
              <a:buFont typeface="Wingdings" pitchFamily="2" charset="2"/>
              <a:buChar char="ü"/>
            </a:pPr>
            <a:r>
              <a:rPr lang="en-US" sz="3200" u="sng" dirty="0"/>
              <a:t>Character count</a:t>
            </a:r>
          </a:p>
          <a:p>
            <a:pPr lvl="1" algn="just">
              <a:buFont typeface="Wingdings"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Uses a field in the header to specify the number of characters in the frame</a:t>
            </a:r>
          </a:p>
          <a:p>
            <a:pPr lvl="1" algn="just">
              <a:buFont typeface="Wingdings"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When the DLL at the destination sees the character count, it knows how many characters follow and hence where the end of the frame is  </a:t>
            </a:r>
          </a:p>
          <a:p>
            <a:pPr lvl="1" algn="just">
              <a:buFont typeface="Wingdings"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Eg: A character stream.   (a) Without errors.   (b) With one </a:t>
            </a:r>
            <a:r>
              <a:rPr lang="en-US" sz="2400" dirty="0"/>
              <a:t>error.</a:t>
            </a:r>
          </a:p>
        </p:txBody>
      </p:sp>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14</a:t>
            </a:fld>
            <a:endParaRPr lang="en-US"/>
          </a:p>
        </p:txBody>
      </p:sp>
      <p:pic>
        <p:nvPicPr>
          <p:cNvPr id="4" name="Picture 4" descr="3-04"/>
          <p:cNvPicPr>
            <a:picLocks noChangeAspect="1" noChangeArrowheads="1"/>
          </p:cNvPicPr>
          <p:nvPr/>
        </p:nvPicPr>
        <p:blipFill>
          <a:blip r:embed="rId2" cstate="print"/>
          <a:srcRect/>
          <a:stretch>
            <a:fillRect/>
          </a:stretch>
        </p:blipFill>
        <p:spPr bwMode="auto">
          <a:xfrm>
            <a:off x="657228" y="3309409"/>
            <a:ext cx="8249706" cy="3528422"/>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982140"/>
            <a:ext cx="8760178" cy="5709605"/>
          </a:xfrm>
        </p:spPr>
        <p:txBody>
          <a:bodyPr>
            <a:normAutofit/>
          </a:bodyPr>
          <a:lstStyle/>
          <a:p>
            <a:pPr algn="just">
              <a:buFont typeface="Wingdings" pitchFamily="2" charset="2"/>
              <a:buChar char="ü"/>
            </a:pPr>
            <a:r>
              <a:rPr lang="en-US" sz="3200" u="sng" dirty="0"/>
              <a:t>Character count</a:t>
            </a:r>
          </a:p>
          <a:p>
            <a:pPr marL="109728" indent="0" algn="just">
              <a:buNone/>
            </a:pPr>
            <a:endParaRPr lang="en-US" sz="3200" u="sng" dirty="0"/>
          </a:p>
          <a:p>
            <a:pPr lvl="1" algn="just">
              <a:buFont typeface="Wingdings"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Problem with this algorithm</a:t>
            </a:r>
          </a:p>
          <a:p>
            <a:pPr lvl="2" algn="just">
              <a:buFont typeface="Wingdings" pitchFamily="2" charset="2"/>
              <a:buChar char="Ø"/>
            </a:pPr>
            <a:r>
              <a:rPr lang="en-US" sz="2800" dirty="0">
                <a:latin typeface="Times New Roman" panose="02020603050405020304" pitchFamily="18" charset="0"/>
                <a:cs typeface="Times New Roman" panose="02020603050405020304" pitchFamily="18" charset="0"/>
              </a:rPr>
              <a:t>Count can be garbled by a transmission error </a:t>
            </a:r>
          </a:p>
          <a:p>
            <a:pPr lvl="2" algn="just">
              <a:buFont typeface="Wingdings" pitchFamily="2" charset="2"/>
              <a:buChar char="Ø"/>
            </a:pPr>
            <a:r>
              <a:rPr lang="en-US" sz="2800" dirty="0">
                <a:latin typeface="Times New Roman" panose="02020603050405020304" pitchFamily="18" charset="0"/>
                <a:cs typeface="Times New Roman" panose="02020603050405020304" pitchFamily="18" charset="0"/>
              </a:rPr>
              <a:t>if the character count of 5 in the second frame becomes a 7, the destination will get out of synchronization </a:t>
            </a:r>
          </a:p>
          <a:p>
            <a:pPr lvl="2" algn="just">
              <a:buFont typeface="Wingdings"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destination will be unable to locate the start of the next frame </a:t>
            </a:r>
            <a:r>
              <a:rPr lang="en-US" sz="2800" dirty="0">
                <a:latin typeface="Times New Roman" panose="02020603050405020304" pitchFamily="18" charset="0"/>
                <a:cs typeface="Times New Roman" panose="02020603050405020304" pitchFamily="18" charset="0"/>
              </a:rPr>
              <a:t>even if the checksum is incorrect</a:t>
            </a:r>
          </a:p>
          <a:p>
            <a:pPr lvl="2" algn="just">
              <a:buFont typeface="Wingdings"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destination does not know how many characters to skip over to get to the start of the retransmission </a:t>
            </a:r>
          </a:p>
          <a:p>
            <a:pPr lvl="2" algn="just">
              <a:buFont typeface="Wingdings" pitchFamily="2" charset="2"/>
              <a:buChar char="Ø"/>
            </a:pPr>
            <a:r>
              <a:rPr lang="en-US" sz="2800" dirty="0">
                <a:latin typeface="Times New Roman" panose="02020603050405020304" pitchFamily="18" charset="0"/>
                <a:cs typeface="Times New Roman" panose="02020603050405020304" pitchFamily="18" charset="0"/>
              </a:rPr>
              <a:t>So, character count method is rarely used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1117606"/>
            <a:ext cx="8760178" cy="5740394"/>
          </a:xfrm>
        </p:spPr>
        <p:txBody>
          <a:bodyPr>
            <a:noAutofit/>
          </a:bodyPr>
          <a:lstStyle/>
          <a:p>
            <a:pPr algn="just">
              <a:buFont typeface="Wingdings" pitchFamily="2" charset="2"/>
              <a:buChar char="ü"/>
            </a:pPr>
            <a:r>
              <a:rPr lang="en-US" sz="3200" u="sng" dirty="0"/>
              <a:t>Flag bytes with </a:t>
            </a:r>
            <a:r>
              <a:rPr lang="en-US" sz="3200" u="sng" dirty="0">
                <a:solidFill>
                  <a:srgbClr val="FF0000"/>
                </a:solidFill>
              </a:rPr>
              <a:t>byte stuffing</a:t>
            </a:r>
          </a:p>
          <a:p>
            <a:pPr marL="109728" indent="0" algn="just">
              <a:buNone/>
            </a:pPr>
            <a:endParaRPr lang="en-US" dirty="0">
              <a:solidFill>
                <a:srgbClr val="FF0000"/>
              </a:solidFill>
            </a:endParaRPr>
          </a:p>
          <a:p>
            <a:pPr lvl="1"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Solves the problem of resynchronization after an error by having </a:t>
            </a:r>
            <a:r>
              <a:rPr lang="en-US" b="1" dirty="0">
                <a:solidFill>
                  <a:schemeClr val="tx1"/>
                </a:solidFill>
                <a:latin typeface="Times New Roman" panose="02020603050405020304" pitchFamily="18" charset="0"/>
                <a:cs typeface="Times New Roman" panose="02020603050405020304" pitchFamily="18" charset="0"/>
              </a:rPr>
              <a:t>each frame start and end with special bytes</a:t>
            </a:r>
          </a:p>
          <a:p>
            <a:pPr lvl="1"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Earlier, the starting and ending bytes were different</a:t>
            </a:r>
          </a:p>
          <a:p>
            <a:pPr lvl="1"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But in recent years, most protocols have used the same byte, called a </a:t>
            </a:r>
            <a:r>
              <a:rPr lang="en-US" dirty="0">
                <a:solidFill>
                  <a:srgbClr val="FF0000"/>
                </a:solidFill>
                <a:latin typeface="Times New Roman" panose="02020603050405020304" pitchFamily="18" charset="0"/>
                <a:cs typeface="Times New Roman" panose="02020603050405020304" pitchFamily="18" charset="0"/>
              </a:rPr>
              <a:t>FLAG byte</a:t>
            </a:r>
            <a:r>
              <a:rPr lang="en-US" dirty="0">
                <a:solidFill>
                  <a:schemeClr val="tx1"/>
                </a:solidFill>
                <a:latin typeface="Times New Roman" panose="02020603050405020304" pitchFamily="18" charset="0"/>
                <a:cs typeface="Times New Roman" panose="02020603050405020304" pitchFamily="18" charset="0"/>
              </a:rPr>
              <a:t>, as both the starting and ending delimiter</a:t>
            </a:r>
          </a:p>
          <a:p>
            <a:pPr lvl="1"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If the receiver ever loses synchronization, it can just search for the flag byte to find the end of the current frame. </a:t>
            </a:r>
          </a:p>
          <a:p>
            <a:pPr lvl="1" algn="just">
              <a:buFont typeface="Wingdings" pitchFamily="2" charset="2"/>
              <a:buChar char="ü"/>
            </a:pPr>
            <a:r>
              <a:rPr lang="en-US" b="1" dirty="0">
                <a:solidFill>
                  <a:schemeClr val="tx1"/>
                </a:solidFill>
                <a:latin typeface="Times New Roman" panose="02020603050405020304" pitchFamily="18" charset="0"/>
                <a:cs typeface="Times New Roman" panose="02020603050405020304" pitchFamily="18" charset="0"/>
              </a:rPr>
              <a:t>Two consecutive flag bytes </a:t>
            </a:r>
            <a:r>
              <a:rPr lang="en-US" dirty="0">
                <a:solidFill>
                  <a:schemeClr val="tx1"/>
                </a:solidFill>
                <a:latin typeface="Times New Roman" panose="02020603050405020304" pitchFamily="18" charset="0"/>
                <a:cs typeface="Times New Roman" panose="02020603050405020304" pitchFamily="18" charset="0"/>
              </a:rPr>
              <a:t>indicate the </a:t>
            </a:r>
            <a:r>
              <a:rPr lang="en-US" b="1" dirty="0">
                <a:solidFill>
                  <a:schemeClr val="tx1"/>
                </a:solidFill>
                <a:latin typeface="Times New Roman" panose="02020603050405020304" pitchFamily="18" charset="0"/>
                <a:cs typeface="Times New Roman" panose="02020603050405020304" pitchFamily="18" charset="0"/>
              </a:rPr>
              <a:t>end of one frame and start of the next one</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316088" y="5985933"/>
            <a:ext cx="8376357" cy="838200"/>
          </a:xfrm>
        </p:spPr>
        <p:txBody>
          <a:bodyPr>
            <a:normAutofit fontScale="77500" lnSpcReduction="20000"/>
          </a:bodyPr>
          <a:lstStyle/>
          <a:p>
            <a:pPr eaLnBrk="1" hangingPunct="1">
              <a:lnSpc>
                <a:spcPct val="90000"/>
              </a:lnSpc>
              <a:buFontTx/>
              <a:buNone/>
            </a:pPr>
            <a:r>
              <a:rPr lang="en-US" dirty="0">
                <a:solidFill>
                  <a:schemeClr val="accent2"/>
                </a:solidFill>
              </a:rPr>
              <a:t>(a)</a:t>
            </a:r>
            <a:r>
              <a:rPr lang="en-US" dirty="0"/>
              <a:t> A frame delimited by flag bytes.</a:t>
            </a:r>
          </a:p>
          <a:p>
            <a:pPr eaLnBrk="1" hangingPunct="1">
              <a:lnSpc>
                <a:spcPct val="90000"/>
              </a:lnSpc>
              <a:buFontTx/>
              <a:buNone/>
            </a:pPr>
            <a:r>
              <a:rPr lang="en-US" dirty="0">
                <a:solidFill>
                  <a:schemeClr val="accent2"/>
                </a:solidFill>
              </a:rPr>
              <a:t>(b)</a:t>
            </a:r>
            <a:r>
              <a:rPr lang="en-US" dirty="0"/>
              <a:t> Four examples of byte sequences before and after stuffing.</a:t>
            </a:r>
          </a:p>
        </p:txBody>
      </p:sp>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17</a:t>
            </a:fld>
            <a:endParaRPr lang="en-US"/>
          </a:p>
        </p:txBody>
      </p:sp>
      <p:pic>
        <p:nvPicPr>
          <p:cNvPr id="9220" name="Picture 4" descr="3-05"/>
          <p:cNvPicPr>
            <a:picLocks noChangeAspect="1" noChangeArrowheads="1"/>
          </p:cNvPicPr>
          <p:nvPr/>
        </p:nvPicPr>
        <p:blipFill>
          <a:blip r:embed="rId2" cstate="print"/>
          <a:srcRect/>
          <a:stretch>
            <a:fillRect/>
          </a:stretch>
        </p:blipFill>
        <p:spPr bwMode="auto">
          <a:xfrm>
            <a:off x="313267" y="810860"/>
            <a:ext cx="8108244" cy="5135581"/>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541867"/>
            <a:ext cx="8760178" cy="6141155"/>
          </a:xfrm>
        </p:spPr>
        <p:txBody>
          <a:bodyPr>
            <a:normAutofit/>
          </a:bodyPr>
          <a:lstStyle/>
          <a:p>
            <a:pPr algn="just">
              <a:buFont typeface="Wingdings" pitchFamily="2" charset="2"/>
              <a:buChar char="ü"/>
            </a:pPr>
            <a:r>
              <a:rPr lang="en-US" sz="2800" b="1" dirty="0">
                <a:latin typeface="Times New Roman" panose="02020603050405020304" pitchFamily="18" charset="0"/>
                <a:cs typeface="Times New Roman" panose="02020603050405020304" pitchFamily="18" charset="0"/>
              </a:rPr>
              <a:t>Flag bytes with byte stuffing</a:t>
            </a:r>
          </a:p>
          <a:p>
            <a:pPr lvl="1" algn="just">
              <a:buFont typeface="Wingdings" pitchFamily="2" charset="2"/>
              <a:buChar char="ü"/>
            </a:pPr>
            <a:r>
              <a:rPr lang="en-US" sz="2400" dirty="0">
                <a:solidFill>
                  <a:srgbClr val="FF0000"/>
                </a:solidFill>
                <a:latin typeface="Times New Roman" panose="02020603050405020304" pitchFamily="18" charset="0"/>
                <a:cs typeface="Times New Roman" panose="02020603050405020304" pitchFamily="18" charset="0"/>
              </a:rPr>
              <a:t>Problem</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with this method:</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when binary data, such as object programs or floating-point numbers, are being transmitted. </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It may easily happen that the flag byte's bit pattern occurs in the data</a:t>
            </a:r>
          </a:p>
          <a:p>
            <a:pPr lvl="1" algn="just">
              <a:buFont typeface="Wingdings" pitchFamily="2" charset="2"/>
              <a:buChar char="ü"/>
            </a:pPr>
            <a:r>
              <a:rPr lang="en-US" sz="2400" dirty="0">
                <a:solidFill>
                  <a:srgbClr val="FF0000"/>
                </a:solidFill>
                <a:latin typeface="Times New Roman" panose="02020603050405020304" pitchFamily="18" charset="0"/>
                <a:cs typeface="Times New Roman" panose="02020603050405020304" pitchFamily="18" charset="0"/>
              </a:rPr>
              <a:t>Solution</a:t>
            </a:r>
            <a:r>
              <a:rPr lang="en-US" sz="2400" dirty="0">
                <a:latin typeface="Times New Roman" panose="02020603050405020304" pitchFamily="18" charset="0"/>
                <a:cs typeface="Times New Roman" panose="02020603050405020304" pitchFamily="18" charset="0"/>
              </a:rPr>
              <a:t>:</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To have the sender's DLL insert a special escape byte </a:t>
            </a:r>
            <a:r>
              <a:rPr lang="en-US" dirty="0">
                <a:solidFill>
                  <a:srgbClr val="FF0000"/>
                </a:solidFill>
                <a:latin typeface="Times New Roman" panose="02020603050405020304" pitchFamily="18" charset="0"/>
                <a:cs typeface="Times New Roman" panose="02020603050405020304" pitchFamily="18" charset="0"/>
              </a:rPr>
              <a:t>(ESC) </a:t>
            </a:r>
            <a:r>
              <a:rPr lang="en-US" dirty="0">
                <a:solidFill>
                  <a:schemeClr val="tx1"/>
                </a:solidFill>
                <a:latin typeface="Times New Roman" panose="02020603050405020304" pitchFamily="18" charset="0"/>
                <a:cs typeface="Times New Roman" panose="02020603050405020304" pitchFamily="18" charset="0"/>
              </a:rPr>
              <a:t>just before each ''accidental'' flag byte in the data. </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The DLL on the receiving end removes the escape byte before the data are given to the network layer. </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This technique is called </a:t>
            </a:r>
            <a:r>
              <a:rPr lang="en-US" dirty="0">
                <a:solidFill>
                  <a:srgbClr val="FF0000"/>
                </a:solidFill>
                <a:latin typeface="Times New Roman" panose="02020603050405020304" pitchFamily="18" charset="0"/>
                <a:cs typeface="Times New Roman" panose="02020603050405020304" pitchFamily="18" charset="0"/>
              </a:rPr>
              <a:t>byte stuffing or character stuffing</a:t>
            </a:r>
            <a:r>
              <a:rPr lang="en-US" dirty="0">
                <a:solidFill>
                  <a:schemeClr val="tx1"/>
                </a:solidFill>
                <a:latin typeface="Times New Roman" panose="02020603050405020304" pitchFamily="18" charset="0"/>
                <a:cs typeface="Times New Roman" panose="02020603050405020304" pitchFamily="18" charset="0"/>
              </a:rPr>
              <a:t>. </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Thus, a framing flag byte can be distinguished from one in the data by the absence or presence of an escape byte before it</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541867"/>
            <a:ext cx="8760178" cy="6141155"/>
          </a:xfrm>
        </p:spPr>
        <p:txBody>
          <a:bodyPr/>
          <a:lstStyle/>
          <a:p>
            <a:pPr algn="just">
              <a:buFont typeface="Wingdings" pitchFamily="2" charset="2"/>
              <a:buChar char="ü"/>
            </a:pPr>
            <a:r>
              <a:rPr lang="en-US" sz="2800" b="1" dirty="0"/>
              <a:t>Flag bytes with byte stuffing</a:t>
            </a:r>
          </a:p>
          <a:p>
            <a:pPr lvl="1" algn="just">
              <a:buFont typeface="Wingdings"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If an escape byte occurs in the middle of the data, it is also stuffed with an escape byte. </a:t>
            </a:r>
          </a:p>
          <a:p>
            <a:pPr lvl="1" algn="just">
              <a:buFont typeface="Wingdings"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Thus, any single escape byte is part of an escape sequence, whereas a doubled one indicates that a single escape occurred naturally in the data</a:t>
            </a:r>
          </a:p>
          <a:p>
            <a:pPr lvl="1" algn="just">
              <a:buFont typeface="Wingdings" pitchFamily="2" charset="2"/>
              <a:buChar char="ü"/>
            </a:pPr>
            <a:r>
              <a:rPr lang="en-US" sz="2400" dirty="0">
                <a:solidFill>
                  <a:srgbClr val="FF0000"/>
                </a:solidFill>
                <a:latin typeface="Times New Roman" panose="02020603050405020304" pitchFamily="18" charset="0"/>
                <a:cs typeface="Times New Roman" panose="02020603050405020304" pitchFamily="18" charset="0"/>
              </a:rPr>
              <a:t>Application:</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Used in PPP (point-to-point protocol) </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most home computers use PPP to communicate with their Internet service provider</a:t>
            </a:r>
          </a:p>
          <a:p>
            <a:pPr lvl="1" algn="just">
              <a:buFont typeface="Wingdings" pitchFamily="2" charset="2"/>
              <a:buChar char="ü"/>
            </a:pPr>
            <a:r>
              <a:rPr lang="en-US" sz="2400" dirty="0">
                <a:solidFill>
                  <a:srgbClr val="FF0000"/>
                </a:solidFill>
                <a:latin typeface="Times New Roman" panose="02020603050405020304" pitchFamily="18" charset="0"/>
                <a:cs typeface="Times New Roman" panose="02020603050405020304" pitchFamily="18" charset="0"/>
              </a:rPr>
              <a:t>Disadvantage</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of this framing method</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it is closely tied to the use of 8-bit characters</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Not all character codes use 8-bit characters. </a:t>
            </a:r>
          </a:p>
          <a:p>
            <a:pPr lvl="2" algn="just">
              <a:buFont typeface="Wingdings" pitchFamily="2" charset="2"/>
              <a:buChar char="ü"/>
            </a:pPr>
            <a:r>
              <a:rPr lang="en-US" dirty="0">
                <a:solidFill>
                  <a:schemeClr val="tx1"/>
                </a:solidFill>
                <a:latin typeface="Times New Roman" panose="02020603050405020304" pitchFamily="18" charset="0"/>
                <a:cs typeface="Times New Roman" panose="02020603050405020304" pitchFamily="18" charset="0"/>
              </a:rPr>
              <a:t>UNICODE uses 16-bit characters</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541867"/>
            <a:ext cx="8760178" cy="6141155"/>
          </a:xfrm>
        </p:spPr>
        <p:txBody>
          <a:bodyPr>
            <a:normAutofit lnSpcReduction="10000"/>
          </a:bodyPr>
          <a:lstStyle/>
          <a:p>
            <a:pPr algn="just">
              <a:buFont typeface="Wingdings" pitchFamily="2" charset="2"/>
              <a:buChar char="ü"/>
            </a:pPr>
            <a:r>
              <a:rPr lang="en-US" sz="3000" dirty="0">
                <a:solidFill>
                  <a:srgbClr val="FF0000"/>
                </a:solidFill>
              </a:rPr>
              <a:t>Starting and ending flags, with bit stuffing </a:t>
            </a:r>
          </a:p>
          <a:p>
            <a:pPr marL="109728" indent="0" algn="just">
              <a:buNone/>
            </a:pPr>
            <a:endParaRPr lang="en-US" sz="2800" dirty="0">
              <a:solidFill>
                <a:srgbClr val="FF0000"/>
              </a:solidFill>
            </a:endParaRPr>
          </a:p>
          <a:p>
            <a:pPr lvl="1" algn="just">
              <a:buFont typeface="Wingdings" pitchFamily="2" charset="2"/>
              <a:buChar char="ü"/>
            </a:pPr>
            <a:r>
              <a:rPr lang="en-US" sz="2700" dirty="0">
                <a:solidFill>
                  <a:schemeClr val="tx1"/>
                </a:solidFill>
                <a:latin typeface="Times New Roman" panose="02020603050405020304" pitchFamily="18" charset="0"/>
                <a:cs typeface="Times New Roman" panose="02020603050405020304" pitchFamily="18" charset="0"/>
              </a:rPr>
              <a:t>A new technique developed to allow </a:t>
            </a:r>
            <a:r>
              <a:rPr lang="en-US" sz="2700" b="1" dirty="0">
                <a:solidFill>
                  <a:schemeClr val="tx1"/>
                </a:solidFill>
                <a:latin typeface="Times New Roman" panose="02020603050405020304" pitchFamily="18" charset="0"/>
                <a:cs typeface="Times New Roman" panose="02020603050405020304" pitchFamily="18" charset="0"/>
              </a:rPr>
              <a:t>arbitrary sized characters</a:t>
            </a:r>
          </a:p>
          <a:p>
            <a:pPr lvl="1" algn="just">
              <a:buFont typeface="Wingdings" pitchFamily="2" charset="2"/>
              <a:buChar char="ü"/>
            </a:pPr>
            <a:r>
              <a:rPr lang="en-US" sz="2700" dirty="0">
                <a:solidFill>
                  <a:schemeClr val="tx1"/>
                </a:solidFill>
                <a:latin typeface="Times New Roman" panose="02020603050405020304" pitchFamily="18" charset="0"/>
                <a:cs typeface="Times New Roman" panose="02020603050405020304" pitchFamily="18" charset="0"/>
              </a:rPr>
              <a:t>Allows character codes with an </a:t>
            </a:r>
            <a:r>
              <a:rPr lang="en-US" sz="2700" b="1" dirty="0">
                <a:solidFill>
                  <a:schemeClr val="tx1"/>
                </a:solidFill>
                <a:latin typeface="Times New Roman" panose="02020603050405020304" pitchFamily="18" charset="0"/>
                <a:cs typeface="Times New Roman" panose="02020603050405020304" pitchFamily="18" charset="0"/>
              </a:rPr>
              <a:t>arbitrary number of bits per character</a:t>
            </a:r>
          </a:p>
          <a:p>
            <a:pPr lvl="1" algn="just">
              <a:buFont typeface="Wingdings" pitchFamily="2" charset="2"/>
              <a:buChar char="ü"/>
            </a:pPr>
            <a:r>
              <a:rPr lang="en-US" sz="2700" dirty="0">
                <a:solidFill>
                  <a:schemeClr val="tx1"/>
                </a:solidFill>
                <a:latin typeface="Times New Roman" panose="02020603050405020304" pitchFamily="18" charset="0"/>
                <a:cs typeface="Times New Roman" panose="02020603050405020304" pitchFamily="18" charset="0"/>
              </a:rPr>
              <a:t>Each frame begins and ends with a special bit pattern, </a:t>
            </a:r>
            <a:r>
              <a:rPr lang="en-US" sz="2700" b="1" dirty="0">
                <a:solidFill>
                  <a:schemeClr val="tx1"/>
                </a:solidFill>
                <a:latin typeface="Times New Roman" panose="02020603050405020304" pitchFamily="18" charset="0"/>
                <a:cs typeface="Times New Roman" panose="02020603050405020304" pitchFamily="18" charset="0"/>
              </a:rPr>
              <a:t>01111110 </a:t>
            </a:r>
            <a:r>
              <a:rPr lang="en-US" sz="2700" dirty="0">
                <a:solidFill>
                  <a:schemeClr val="tx1"/>
                </a:solidFill>
                <a:latin typeface="Times New Roman" panose="02020603050405020304" pitchFamily="18" charset="0"/>
                <a:cs typeface="Times New Roman" panose="02020603050405020304" pitchFamily="18" charset="0"/>
              </a:rPr>
              <a:t>(in fact, a flag byte). </a:t>
            </a:r>
          </a:p>
          <a:p>
            <a:pPr lvl="1" algn="just">
              <a:buFont typeface="Wingdings" pitchFamily="2" charset="2"/>
              <a:buChar char="ü"/>
            </a:pPr>
            <a:r>
              <a:rPr lang="en-US" sz="2700" dirty="0">
                <a:solidFill>
                  <a:schemeClr val="tx1"/>
                </a:solidFill>
                <a:latin typeface="Times New Roman" panose="02020603050405020304" pitchFamily="18" charset="0"/>
                <a:cs typeface="Times New Roman" panose="02020603050405020304" pitchFamily="18" charset="0"/>
              </a:rPr>
              <a:t>Whenever the sender's DLL encounters 5 consecutive 1s in the data, it automatically stuffs a 0 bit into the outgoing bit stream. </a:t>
            </a:r>
          </a:p>
          <a:p>
            <a:pPr lvl="1" algn="just">
              <a:buFont typeface="Wingdings" pitchFamily="2" charset="2"/>
              <a:buChar char="ü"/>
            </a:pPr>
            <a:r>
              <a:rPr lang="en-US" sz="2700" dirty="0">
                <a:solidFill>
                  <a:schemeClr val="tx1"/>
                </a:solidFill>
                <a:latin typeface="Times New Roman" panose="02020603050405020304" pitchFamily="18" charset="0"/>
                <a:cs typeface="Times New Roman" panose="02020603050405020304" pitchFamily="18" charset="0"/>
              </a:rPr>
              <a:t>This bit stuffing is analogous to byte stuffing, </a:t>
            </a:r>
          </a:p>
          <a:p>
            <a:pPr lvl="2" algn="just">
              <a:buFont typeface="Wingdings" pitchFamily="2" charset="2"/>
              <a:buChar char="ü"/>
            </a:pPr>
            <a:r>
              <a:rPr lang="en-US" sz="2700" dirty="0">
                <a:solidFill>
                  <a:srgbClr val="FF0000"/>
                </a:solidFill>
                <a:latin typeface="Times New Roman" panose="02020603050405020304" pitchFamily="18" charset="0"/>
                <a:cs typeface="Times New Roman" panose="02020603050405020304" pitchFamily="18" charset="0"/>
              </a:rPr>
              <a:t>in which an escape byte is stuffed into the outgoing character stream before a flag byte in the data</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8"/>
          <p:cNvSpPr txBox="1">
            <a:spLocks noGrp="1"/>
          </p:cNvSpPr>
          <p:nvPr>
            <p:ph type="ctrTitle"/>
          </p:nvPr>
        </p:nvSpPr>
        <p:spPr>
          <a:xfrm>
            <a:off x="1143000" y="1699022"/>
            <a:ext cx="6858000" cy="1790700"/>
          </a:xfrm>
          <a:prstGeom prst="rect">
            <a:avLst/>
          </a:prstGeom>
          <a:noFill/>
          <a:ln>
            <a:noFill/>
          </a:ln>
        </p:spPr>
        <p:txBody>
          <a:bodyPr spcFirstLastPara="1" vert="horz" wrap="square" lIns="68569" tIns="34275" rIns="68569" bIns="34275" anchor="b" anchorCtr="0">
            <a:normAutofit/>
          </a:bodyPr>
          <a:lstStyle/>
          <a:p>
            <a:pPr algn="ctr">
              <a:lnSpc>
                <a:spcPct val="90000"/>
              </a:lnSpc>
              <a:spcBef>
                <a:spcPts val="0"/>
              </a:spcBef>
              <a:buClr>
                <a:schemeClr val="dk1"/>
              </a:buClr>
              <a:buSzPts val="6000"/>
            </a:pPr>
            <a:r>
              <a:rPr lang="en-US"/>
              <a:t>Problems</a:t>
            </a:r>
            <a:endParaRPr/>
          </a:p>
        </p:txBody>
      </p:sp>
      <p:sp>
        <p:nvSpPr>
          <p:cNvPr id="351" name="Google Shape;351;p38"/>
          <p:cNvSpPr txBox="1">
            <a:spLocks noGrp="1"/>
          </p:cNvSpPr>
          <p:nvPr>
            <p:ph type="subTitle" idx="1"/>
          </p:nvPr>
        </p:nvSpPr>
        <p:spPr>
          <a:xfrm>
            <a:off x="1143000" y="3558778"/>
            <a:ext cx="6858000" cy="1241822"/>
          </a:xfrm>
          <a:prstGeom prst="rect">
            <a:avLst/>
          </a:prstGeom>
          <a:noFill/>
          <a:ln>
            <a:noFill/>
          </a:ln>
        </p:spPr>
        <p:txBody>
          <a:bodyPr spcFirstLastPara="1" vert="horz" wrap="square" lIns="68569" tIns="34275" rIns="68569" bIns="34275" anchor="t" anchorCtr="0">
            <a:normAutofit/>
          </a:bodyPr>
          <a:lstStyle/>
          <a:p>
            <a:pPr marL="0" algn="ctr">
              <a:lnSpc>
                <a:spcPct val="90000"/>
              </a:lnSpc>
              <a:spcBef>
                <a:spcPts val="0"/>
              </a:spcBef>
              <a:buClr>
                <a:schemeClr val="dk1"/>
              </a:buClr>
              <a:buSzPts val="2400"/>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17dab167a05_0_0"/>
          <p:cNvSpPr txBox="1">
            <a:spLocks noGrp="1"/>
          </p:cNvSpPr>
          <p:nvPr>
            <p:ph type="title"/>
          </p:nvPr>
        </p:nvSpPr>
        <p:spPr>
          <a:xfrm>
            <a:off x="628650" y="1131094"/>
            <a:ext cx="7886700" cy="994275"/>
          </a:xfrm>
          <a:prstGeom prst="rect">
            <a:avLst/>
          </a:prstGeom>
        </p:spPr>
        <p:txBody>
          <a:bodyPr spcFirstLastPara="1" vert="horz" wrap="square" lIns="68569" tIns="34275" rIns="68569" bIns="34275" anchor="ctr" anchorCtr="0">
            <a:normAutofit/>
          </a:bodyPr>
          <a:lstStyle/>
          <a:p>
            <a:pPr>
              <a:spcBef>
                <a:spcPts val="0"/>
              </a:spcBef>
            </a:pPr>
            <a:endParaRPr/>
          </a:p>
        </p:txBody>
      </p:sp>
      <p:sp>
        <p:nvSpPr>
          <p:cNvPr id="357" name="Google Shape;357;g17dab167a05_0_0"/>
          <p:cNvSpPr txBox="1">
            <a:spLocks noGrp="1"/>
          </p:cNvSpPr>
          <p:nvPr>
            <p:ph type="body" idx="1"/>
          </p:nvPr>
        </p:nvSpPr>
        <p:spPr>
          <a:xfrm>
            <a:off x="1" y="2226469"/>
            <a:ext cx="9312964" cy="3263400"/>
          </a:xfrm>
          <a:prstGeom prst="rect">
            <a:avLst/>
          </a:prstGeom>
        </p:spPr>
        <p:txBody>
          <a:bodyPr spcFirstLastPara="1" vert="horz" wrap="square" lIns="68569" tIns="34275" rIns="68569" bIns="34275" anchor="t" anchorCtr="0">
            <a:normAutofit/>
          </a:bodyPr>
          <a:lstStyle/>
          <a:p>
            <a:pPr marL="0" indent="0">
              <a:spcBef>
                <a:spcPts val="750"/>
              </a:spcBef>
              <a:buNone/>
            </a:pPr>
            <a:r>
              <a:rPr lang="en-US" dirty="0"/>
              <a:t>Given the output after byte-stuffing: </a:t>
            </a:r>
          </a:p>
          <a:p>
            <a:pPr marL="0" indent="0">
              <a:spcBef>
                <a:spcPts val="750"/>
              </a:spcBef>
              <a:buNone/>
            </a:pPr>
            <a:r>
              <a:rPr lang="en-US" sz="2300" b="1" dirty="0">
                <a:solidFill>
                  <a:srgbClr val="FF0000"/>
                </a:solidFill>
                <a:latin typeface="Arial" panose="020B0604020202020204" pitchFamily="34" charset="0"/>
                <a:cs typeface="Arial" panose="020B0604020202020204" pitchFamily="34" charset="0"/>
              </a:rPr>
              <a:t>FLAG A B ESC </a:t>
            </a:r>
            <a:r>
              <a:rPr lang="en-US" sz="2300" b="1" dirty="0" err="1">
                <a:solidFill>
                  <a:srgbClr val="FF0000"/>
                </a:solidFill>
                <a:latin typeface="Arial" panose="020B0604020202020204" pitchFamily="34" charset="0"/>
                <a:cs typeface="Arial" panose="020B0604020202020204" pitchFamily="34" charset="0"/>
              </a:rPr>
              <a:t>ESC</a:t>
            </a:r>
            <a:r>
              <a:rPr lang="en-US" sz="2300" b="1" dirty="0">
                <a:solidFill>
                  <a:srgbClr val="FF0000"/>
                </a:solidFill>
                <a:latin typeface="Arial" panose="020B0604020202020204" pitchFamily="34" charset="0"/>
                <a:cs typeface="Arial" panose="020B0604020202020204" pitchFamily="34" charset="0"/>
              </a:rPr>
              <a:t> C ESC </a:t>
            </a:r>
            <a:r>
              <a:rPr lang="en-US" sz="2300" b="1" dirty="0" err="1">
                <a:solidFill>
                  <a:srgbClr val="FF0000"/>
                </a:solidFill>
                <a:latin typeface="Arial" panose="020B0604020202020204" pitchFamily="34" charset="0"/>
                <a:cs typeface="Arial" panose="020B0604020202020204" pitchFamily="34" charset="0"/>
              </a:rPr>
              <a:t>ESC</a:t>
            </a:r>
            <a:r>
              <a:rPr lang="en-US" sz="2300" b="1" dirty="0">
                <a:solidFill>
                  <a:srgbClr val="FF0000"/>
                </a:solidFill>
                <a:latin typeface="Arial" panose="020B0604020202020204" pitchFamily="34" charset="0"/>
                <a:cs typeface="Arial" panose="020B0604020202020204" pitchFamily="34" charset="0"/>
              </a:rPr>
              <a:t> </a:t>
            </a:r>
            <a:r>
              <a:rPr lang="en-US" sz="2300" b="1" dirty="0" err="1">
                <a:solidFill>
                  <a:srgbClr val="FF0000"/>
                </a:solidFill>
                <a:latin typeface="Arial" panose="020B0604020202020204" pitchFamily="34" charset="0"/>
                <a:cs typeface="Arial" panose="020B0604020202020204" pitchFamily="34" charset="0"/>
              </a:rPr>
              <a:t>ESC</a:t>
            </a:r>
            <a:r>
              <a:rPr lang="en-US" sz="2300" b="1" dirty="0">
                <a:solidFill>
                  <a:srgbClr val="FF0000"/>
                </a:solidFill>
                <a:latin typeface="Arial" panose="020B0604020202020204" pitchFamily="34" charset="0"/>
                <a:cs typeface="Arial" panose="020B0604020202020204" pitchFamily="34" charset="0"/>
              </a:rPr>
              <a:t> FLAG ESC FLAG D F FLAG </a:t>
            </a:r>
          </a:p>
          <a:p>
            <a:pPr marL="0" indent="0">
              <a:spcBef>
                <a:spcPts val="750"/>
              </a:spcBef>
              <a:buNone/>
            </a:pPr>
            <a:r>
              <a:rPr lang="en-US" dirty="0"/>
              <a:t>What is the original data? </a:t>
            </a:r>
            <a:endParaRPr dirty="0"/>
          </a:p>
          <a:p>
            <a:pPr marL="0" indent="0">
              <a:spcBef>
                <a:spcPts val="750"/>
              </a:spcBef>
              <a:buNone/>
            </a:pPr>
            <a:endParaRPr dirty="0"/>
          </a:p>
          <a:p>
            <a:pPr marL="0" indent="0">
              <a:spcBef>
                <a:spcPts val="750"/>
              </a:spcBef>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g17dab167a05_0_6"/>
          <p:cNvSpPr txBox="1">
            <a:spLocks noGrp="1"/>
          </p:cNvSpPr>
          <p:nvPr>
            <p:ph type="title"/>
          </p:nvPr>
        </p:nvSpPr>
        <p:spPr>
          <a:xfrm>
            <a:off x="628650" y="1131094"/>
            <a:ext cx="7886700" cy="994275"/>
          </a:xfrm>
          <a:prstGeom prst="rect">
            <a:avLst/>
          </a:prstGeom>
        </p:spPr>
        <p:txBody>
          <a:bodyPr spcFirstLastPara="1" vert="horz" wrap="square" lIns="68569" tIns="34275" rIns="68569" bIns="34275" anchor="ctr" anchorCtr="0">
            <a:normAutofit/>
          </a:bodyPr>
          <a:lstStyle/>
          <a:p>
            <a:pPr>
              <a:spcBef>
                <a:spcPts val="0"/>
              </a:spcBef>
            </a:pPr>
            <a:r>
              <a:rPr lang="en-US"/>
              <a:t>solution</a:t>
            </a:r>
            <a:endParaRPr/>
          </a:p>
        </p:txBody>
      </p:sp>
      <p:sp>
        <p:nvSpPr>
          <p:cNvPr id="363" name="Google Shape;363;g17dab167a05_0_6"/>
          <p:cNvSpPr txBox="1">
            <a:spLocks noGrp="1"/>
          </p:cNvSpPr>
          <p:nvPr>
            <p:ph type="body" idx="1"/>
          </p:nvPr>
        </p:nvSpPr>
        <p:spPr>
          <a:xfrm>
            <a:off x="628650" y="2226469"/>
            <a:ext cx="7886700" cy="3263400"/>
          </a:xfrm>
          <a:prstGeom prst="rect">
            <a:avLst/>
          </a:prstGeom>
        </p:spPr>
        <p:txBody>
          <a:bodyPr spcFirstLastPara="1" vert="horz" wrap="square" lIns="68569" tIns="34275" rIns="68569" bIns="34275" anchor="t" anchorCtr="0">
            <a:normAutofit/>
          </a:bodyPr>
          <a:lstStyle/>
          <a:p>
            <a:pPr marL="0" indent="0">
              <a:spcBef>
                <a:spcPts val="750"/>
              </a:spcBef>
              <a:buClr>
                <a:schemeClr val="dk1"/>
              </a:buClr>
              <a:buSzPts val="1100"/>
              <a:buNone/>
            </a:pPr>
            <a:r>
              <a:rPr lang="en-US"/>
              <a:t>ANS: A B ESC C ESC FLAG FLAG D F</a:t>
            </a:r>
            <a:endParaRPr/>
          </a:p>
          <a:p>
            <a:pPr marL="0" indent="0">
              <a:spcBef>
                <a:spcPts val="750"/>
              </a:spcBef>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654756"/>
            <a:ext cx="8760178" cy="6028266"/>
          </a:xfrm>
        </p:spPr>
        <p:txBody>
          <a:bodyPr/>
          <a:lstStyle/>
          <a:p>
            <a:pPr algn="just">
              <a:buFont typeface="Wingdings" pitchFamily="2" charset="2"/>
              <a:buChar char="ü"/>
            </a:pPr>
            <a:r>
              <a:rPr lang="en-US" sz="2800" dirty="0">
                <a:solidFill>
                  <a:srgbClr val="FF0000"/>
                </a:solidFill>
              </a:rPr>
              <a:t>Starting and ending flags, with bit stuffing </a:t>
            </a:r>
          </a:p>
          <a:p>
            <a:pPr lvl="1" algn="just">
              <a:buFont typeface="Wingdings" pitchFamily="2" charset="2"/>
              <a:buChar char="ü"/>
            </a:pPr>
            <a:r>
              <a:rPr lang="en-US" sz="2400" dirty="0">
                <a:solidFill>
                  <a:schemeClr val="tx1"/>
                </a:solidFill>
              </a:rPr>
              <a:t>When the receiver sees 5 consecutive incoming 1 bits, followed by a 0 bit, it automatically destuffs (i.e., deletes) the 0 bit. </a:t>
            </a:r>
          </a:p>
          <a:p>
            <a:pPr lvl="1" algn="just">
              <a:buFont typeface="Wingdings" pitchFamily="2" charset="2"/>
              <a:buChar char="ü"/>
            </a:pPr>
            <a:r>
              <a:rPr lang="en-US" sz="2400" dirty="0">
                <a:solidFill>
                  <a:schemeClr val="tx1"/>
                </a:solidFill>
              </a:rPr>
              <a:t>Just as byte stuffing, bit stuffing is completely transparent to the network layer in both computers</a:t>
            </a:r>
          </a:p>
          <a:p>
            <a:pPr lvl="1" algn="just">
              <a:buFont typeface="Wingdings" pitchFamily="2" charset="2"/>
              <a:buChar char="ü"/>
            </a:pPr>
            <a:r>
              <a:rPr lang="en-US" sz="2400" dirty="0">
                <a:solidFill>
                  <a:schemeClr val="tx1"/>
                </a:solidFill>
              </a:rPr>
              <a:t>If the </a:t>
            </a:r>
            <a:r>
              <a:rPr lang="en-US" sz="2400" b="1" dirty="0">
                <a:solidFill>
                  <a:schemeClr val="tx1"/>
                </a:solidFill>
              </a:rPr>
              <a:t>user data</a:t>
            </a:r>
            <a:r>
              <a:rPr lang="en-US" sz="2400" dirty="0">
                <a:solidFill>
                  <a:schemeClr val="tx1"/>
                </a:solidFill>
              </a:rPr>
              <a:t> contain the flag pattern, </a:t>
            </a:r>
            <a:r>
              <a:rPr lang="en-US" sz="2400" b="1" dirty="0">
                <a:solidFill>
                  <a:schemeClr val="tx1"/>
                </a:solidFill>
              </a:rPr>
              <a:t>01111110</a:t>
            </a:r>
            <a:r>
              <a:rPr lang="en-US" sz="2400" dirty="0">
                <a:solidFill>
                  <a:schemeClr val="tx1"/>
                </a:solidFill>
              </a:rPr>
              <a:t>, this flag is transmitted as </a:t>
            </a:r>
            <a:r>
              <a:rPr lang="en-US" sz="2400" b="1" dirty="0">
                <a:solidFill>
                  <a:schemeClr val="tx1"/>
                </a:solidFill>
              </a:rPr>
              <a:t>011111010</a:t>
            </a:r>
            <a:r>
              <a:rPr lang="en-US" sz="2400" dirty="0">
                <a:solidFill>
                  <a:schemeClr val="tx1"/>
                </a:solidFill>
              </a:rPr>
              <a:t> but stored in the receiver's memory as </a:t>
            </a:r>
            <a:r>
              <a:rPr lang="en-US" sz="2400" b="1" dirty="0">
                <a:solidFill>
                  <a:schemeClr val="tx1"/>
                </a:solidFill>
              </a:rPr>
              <a:t>01111110</a:t>
            </a:r>
            <a:r>
              <a:rPr lang="en-US" sz="2400" dirty="0">
                <a:solidFill>
                  <a:schemeClr val="tx1"/>
                </a:solidFill>
              </a:rPr>
              <a:t>.</a:t>
            </a:r>
          </a:p>
          <a:p>
            <a:pPr lvl="1" algn="just">
              <a:buFont typeface="Wingdings" pitchFamily="2" charset="2"/>
              <a:buChar char="ü"/>
            </a:pPr>
            <a:r>
              <a:rPr lang="en-US" sz="2400" dirty="0">
                <a:solidFill>
                  <a:schemeClr val="tx1"/>
                </a:solidFill>
              </a:rPr>
              <a:t>With bit stuffing, the boundary between two frames can be unambiguously recognized by the flag pattern. </a:t>
            </a:r>
          </a:p>
          <a:p>
            <a:pPr lvl="1" algn="just">
              <a:buFont typeface="Wingdings" pitchFamily="2" charset="2"/>
              <a:buChar char="ü"/>
            </a:pPr>
            <a:r>
              <a:rPr lang="en-US" sz="2400" dirty="0">
                <a:solidFill>
                  <a:schemeClr val="tx1"/>
                </a:solidFill>
              </a:rPr>
              <a:t>Thus, </a:t>
            </a:r>
            <a:r>
              <a:rPr lang="en-US" sz="2400" b="1" dirty="0">
                <a:solidFill>
                  <a:schemeClr val="tx1"/>
                </a:solidFill>
              </a:rPr>
              <a:t>if the receiver loses track of where it is, all it has to do is scan the input for flag sequences</a:t>
            </a:r>
            <a:r>
              <a:rPr lang="en-US" sz="2400" dirty="0">
                <a:solidFill>
                  <a:schemeClr val="tx1"/>
                </a:solidFill>
              </a:rPr>
              <a:t>, </a:t>
            </a:r>
          </a:p>
          <a:p>
            <a:pPr lvl="2" algn="just">
              <a:buFont typeface="Wingdings" pitchFamily="2" charset="2"/>
              <a:buChar char="ü"/>
            </a:pPr>
            <a:r>
              <a:rPr lang="en-US" dirty="0"/>
              <a:t>since they can only occur at frame boundaries and never within the data</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a:t>Framing (Bit stuffing)</a:t>
            </a:r>
          </a:p>
        </p:txBody>
      </p:sp>
      <p:sp>
        <p:nvSpPr>
          <p:cNvPr id="10243" name="Rectangle 3"/>
          <p:cNvSpPr>
            <a:spLocks noGrp="1" noChangeArrowheads="1"/>
          </p:cNvSpPr>
          <p:nvPr>
            <p:ph idx="1"/>
          </p:nvPr>
        </p:nvSpPr>
        <p:spPr>
          <a:xfrm>
            <a:off x="514350" y="4605338"/>
            <a:ext cx="8629650" cy="1939925"/>
          </a:xfrm>
        </p:spPr>
        <p:txBody>
          <a:bodyPr>
            <a:normAutofit fontScale="92500" lnSpcReduction="20000"/>
          </a:bodyPr>
          <a:lstStyle/>
          <a:p>
            <a:pPr eaLnBrk="1" hangingPunct="1">
              <a:buFontTx/>
              <a:buNone/>
            </a:pPr>
            <a:r>
              <a:rPr lang="en-US" dirty="0"/>
              <a:t>Bit stuffing</a:t>
            </a:r>
          </a:p>
          <a:p>
            <a:pPr eaLnBrk="1" hangingPunct="1">
              <a:buFontTx/>
              <a:buNone/>
            </a:pPr>
            <a:r>
              <a:rPr lang="en-US" dirty="0">
                <a:solidFill>
                  <a:schemeClr val="accent2"/>
                </a:solidFill>
              </a:rPr>
              <a:t>(a)</a:t>
            </a:r>
            <a:r>
              <a:rPr lang="en-US" dirty="0"/>
              <a:t> The original data.</a:t>
            </a:r>
          </a:p>
          <a:p>
            <a:pPr eaLnBrk="1" hangingPunct="1">
              <a:buFontTx/>
              <a:buNone/>
            </a:pPr>
            <a:r>
              <a:rPr lang="en-US" dirty="0">
                <a:solidFill>
                  <a:schemeClr val="accent2"/>
                </a:solidFill>
              </a:rPr>
              <a:t>(b)</a:t>
            </a:r>
            <a:r>
              <a:rPr lang="en-US" dirty="0"/>
              <a:t> The data as they appear on the transmission line.</a:t>
            </a:r>
          </a:p>
          <a:p>
            <a:pPr eaLnBrk="1" hangingPunct="1">
              <a:buFontTx/>
              <a:buNone/>
            </a:pPr>
            <a:r>
              <a:rPr lang="en-US" dirty="0">
                <a:solidFill>
                  <a:schemeClr val="accent2"/>
                </a:solidFill>
              </a:rPr>
              <a:t>(c)</a:t>
            </a:r>
            <a:r>
              <a:rPr lang="en-US" dirty="0"/>
              <a:t> The data as they are stored in receiver’s memory after destuffing.</a:t>
            </a:r>
          </a:p>
        </p:txBody>
      </p:sp>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25</a:t>
            </a:fld>
            <a:endParaRPr lang="en-US"/>
          </a:p>
        </p:txBody>
      </p:sp>
      <p:pic>
        <p:nvPicPr>
          <p:cNvPr id="10244" name="Picture 4" descr="3-06"/>
          <p:cNvPicPr>
            <a:picLocks noChangeAspect="1" noChangeArrowheads="1"/>
          </p:cNvPicPr>
          <p:nvPr/>
        </p:nvPicPr>
        <p:blipFill>
          <a:blip r:embed="rId2" cstate="print"/>
          <a:srcRect/>
          <a:stretch>
            <a:fillRect/>
          </a:stretch>
        </p:blipFill>
        <p:spPr bwMode="auto">
          <a:xfrm>
            <a:off x="395464" y="1225198"/>
            <a:ext cx="8138936" cy="315941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9"/>
          <p:cNvSpPr txBox="1">
            <a:spLocks noGrp="1"/>
          </p:cNvSpPr>
          <p:nvPr>
            <p:ph type="title"/>
          </p:nvPr>
        </p:nvSpPr>
        <p:spPr>
          <a:xfrm>
            <a:off x="628650" y="1131094"/>
            <a:ext cx="7886700" cy="994172"/>
          </a:xfrm>
          <a:prstGeom prst="rect">
            <a:avLst/>
          </a:prstGeom>
          <a:noFill/>
          <a:ln>
            <a:noFill/>
          </a:ln>
        </p:spPr>
        <p:txBody>
          <a:bodyPr spcFirstLastPara="1" vert="horz" wrap="square" lIns="68569" tIns="34275" rIns="68569" bIns="34275" anchor="ctr" anchorCtr="0">
            <a:normAutofit/>
          </a:bodyPr>
          <a:lstStyle/>
          <a:p>
            <a:pPr>
              <a:lnSpc>
                <a:spcPct val="90000"/>
              </a:lnSpc>
              <a:spcBef>
                <a:spcPts val="0"/>
              </a:spcBef>
              <a:buClr>
                <a:schemeClr val="dk1"/>
              </a:buClr>
              <a:buSzPts val="4400"/>
            </a:pPr>
            <a:endParaRPr/>
          </a:p>
        </p:txBody>
      </p:sp>
      <p:sp>
        <p:nvSpPr>
          <p:cNvPr id="405" name="Google Shape;405;p39"/>
          <p:cNvSpPr txBox="1">
            <a:spLocks noGrp="1"/>
          </p:cNvSpPr>
          <p:nvPr>
            <p:ph type="body" idx="1"/>
          </p:nvPr>
        </p:nvSpPr>
        <p:spPr>
          <a:xfrm>
            <a:off x="628650" y="2226469"/>
            <a:ext cx="7886700" cy="3263504"/>
          </a:xfrm>
          <a:prstGeom prst="rect">
            <a:avLst/>
          </a:prstGeom>
          <a:noFill/>
          <a:ln>
            <a:noFill/>
          </a:ln>
        </p:spPr>
        <p:txBody>
          <a:bodyPr spcFirstLastPara="1" vert="horz" wrap="square" lIns="68569" tIns="34275" rIns="68569" bIns="34275" anchor="t" anchorCtr="0">
            <a:normAutofit/>
          </a:bodyPr>
          <a:lstStyle/>
          <a:p>
            <a:pPr marL="171450" indent="-171450">
              <a:lnSpc>
                <a:spcPct val="90000"/>
              </a:lnSpc>
              <a:spcBef>
                <a:spcPts val="0"/>
              </a:spcBef>
              <a:buClr>
                <a:schemeClr val="dk1"/>
              </a:buClr>
              <a:buSzPts val="2800"/>
            </a:pPr>
            <a:r>
              <a:rPr lang="en-US" dirty="0"/>
              <a:t>A bit string, 0111101111101111110, needs to be transmitted at the data link layer. What is the string actually transmitted after bit stuffing?</a:t>
            </a:r>
            <a:endParaRPr dirty="0"/>
          </a:p>
          <a:p>
            <a:pPr marL="0" indent="0">
              <a:lnSpc>
                <a:spcPct val="90000"/>
              </a:lnSpc>
              <a:spcBef>
                <a:spcPts val="0"/>
              </a:spcBef>
              <a:buNone/>
            </a:pPr>
            <a:r>
              <a:rPr lang="en-US" b="1" dirty="0"/>
              <a:t>Ans </a:t>
            </a:r>
            <a:endParaRPr b="1" dirty="0"/>
          </a:p>
          <a:p>
            <a:pPr marL="0" indent="0">
              <a:lnSpc>
                <a:spcPct val="90000"/>
              </a:lnSpc>
              <a:spcBef>
                <a:spcPts val="0"/>
              </a:spcBef>
              <a:buNone/>
            </a:pPr>
            <a:r>
              <a:rPr lang="en-US" dirty="0"/>
              <a:t>The output is 011110111110011111010 </a:t>
            </a:r>
            <a:endParaRPr dirty="0"/>
          </a:p>
        </p:txBody>
      </p:sp>
    </p:spTree>
    <p:extLst>
      <p:ext uri="{BB962C8B-B14F-4D97-AF65-F5344CB8AC3E}">
        <p14:creationId xmlns:p14="http://schemas.microsoft.com/office/powerpoint/2010/main" val="7802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790224"/>
            <a:ext cx="8760178" cy="5441243"/>
          </a:xfrm>
        </p:spPr>
        <p:txBody>
          <a:bodyPr>
            <a:normAutofit/>
          </a:bodyPr>
          <a:lstStyle/>
          <a:p>
            <a:pPr algn="just">
              <a:buFont typeface="Wingdings" pitchFamily="2" charset="2"/>
              <a:buChar char="ü"/>
            </a:pPr>
            <a:r>
              <a:rPr lang="en-US" sz="2800" b="1" dirty="0">
                <a:solidFill>
                  <a:srgbClr val="FF0000"/>
                </a:solidFill>
              </a:rPr>
              <a:t>Physical layer coding violations</a:t>
            </a:r>
          </a:p>
          <a:p>
            <a:pPr lvl="1" algn="just">
              <a:buFont typeface="Wingdings" pitchFamily="2" charset="2"/>
              <a:buChar char="ü"/>
            </a:pPr>
            <a:r>
              <a:rPr lang="en-US" sz="2400" dirty="0">
                <a:solidFill>
                  <a:schemeClr val="tx1"/>
                </a:solidFill>
              </a:rPr>
              <a:t>Only applicable to networks in which the encoding on the physical medium contains some redundancy</a:t>
            </a:r>
          </a:p>
          <a:p>
            <a:pPr lvl="1" algn="just">
              <a:buFont typeface="Wingdings" pitchFamily="2" charset="2"/>
              <a:buChar char="ü"/>
            </a:pPr>
            <a:r>
              <a:rPr lang="en-US" sz="2400" dirty="0">
                <a:solidFill>
                  <a:schemeClr val="tx1"/>
                </a:solidFill>
              </a:rPr>
              <a:t>Normally, a </a:t>
            </a:r>
            <a:r>
              <a:rPr lang="en-US" sz="2400" b="1" dirty="0">
                <a:solidFill>
                  <a:schemeClr val="tx1"/>
                </a:solidFill>
              </a:rPr>
              <a:t>1 bit is a high-low pair </a:t>
            </a:r>
            <a:r>
              <a:rPr lang="en-US" sz="2400" dirty="0">
                <a:solidFill>
                  <a:schemeClr val="tx1"/>
                </a:solidFill>
              </a:rPr>
              <a:t>and a </a:t>
            </a:r>
            <a:r>
              <a:rPr lang="en-US" sz="2400" b="1" dirty="0">
                <a:solidFill>
                  <a:schemeClr val="tx1"/>
                </a:solidFill>
              </a:rPr>
              <a:t>0 bit is a low-high pair. </a:t>
            </a:r>
          </a:p>
          <a:p>
            <a:pPr lvl="1" algn="just">
              <a:buNone/>
            </a:pPr>
            <a:endParaRPr lang="en-US" sz="2400" dirty="0">
              <a:solidFill>
                <a:schemeClr val="tx1"/>
              </a:solidFill>
            </a:endParaRPr>
          </a:p>
          <a:p>
            <a:pPr lvl="1" algn="just">
              <a:buNone/>
            </a:pPr>
            <a:endParaRPr lang="en-US" sz="2400" dirty="0">
              <a:solidFill>
                <a:schemeClr val="tx1"/>
              </a:solidFill>
            </a:endParaRPr>
          </a:p>
          <a:p>
            <a:pPr lvl="1" algn="just">
              <a:buFont typeface="Wingdings" pitchFamily="2" charset="2"/>
              <a:buChar char="ü"/>
            </a:pPr>
            <a:r>
              <a:rPr lang="en-US" sz="2400" dirty="0">
                <a:solidFill>
                  <a:schemeClr val="tx1"/>
                </a:solidFill>
              </a:rPr>
              <a:t>The scheme means that </a:t>
            </a:r>
            <a:r>
              <a:rPr lang="en-US" sz="2400" b="1" dirty="0">
                <a:solidFill>
                  <a:schemeClr val="tx1"/>
                </a:solidFill>
              </a:rPr>
              <a:t>every data bit has a transition in the middle</a:t>
            </a:r>
            <a:r>
              <a:rPr lang="en-US" sz="2400" dirty="0">
                <a:solidFill>
                  <a:schemeClr val="tx1"/>
                </a:solidFill>
              </a:rPr>
              <a:t>, making it easy for the receiver to locate the bit boundaries. </a:t>
            </a:r>
          </a:p>
          <a:p>
            <a:pPr lvl="1" algn="just">
              <a:buFont typeface="Wingdings" pitchFamily="2" charset="2"/>
              <a:buChar char="ü"/>
            </a:pPr>
            <a:r>
              <a:rPr lang="en-US" sz="2400" dirty="0">
                <a:solidFill>
                  <a:schemeClr val="tx1"/>
                </a:solidFill>
              </a:rPr>
              <a:t>The combinations </a:t>
            </a:r>
            <a:r>
              <a:rPr lang="en-US" sz="2400" b="1" dirty="0">
                <a:solidFill>
                  <a:schemeClr val="tx1"/>
                </a:solidFill>
              </a:rPr>
              <a:t>high-high and low-low </a:t>
            </a:r>
            <a:r>
              <a:rPr lang="en-US" sz="2400" dirty="0">
                <a:solidFill>
                  <a:schemeClr val="tx1"/>
                </a:solidFill>
              </a:rPr>
              <a:t>are not used for data but are used for </a:t>
            </a:r>
            <a:r>
              <a:rPr lang="en-US" sz="2400" b="1" dirty="0">
                <a:solidFill>
                  <a:schemeClr val="tx1"/>
                </a:solidFill>
              </a:rPr>
              <a:t>delimiting frames </a:t>
            </a:r>
            <a:r>
              <a:rPr lang="en-US" sz="2400" dirty="0">
                <a:solidFill>
                  <a:schemeClr val="tx1"/>
                </a:solidFill>
              </a:rPr>
              <a:t>in some protocols</a:t>
            </a:r>
          </a:p>
        </p:txBody>
      </p:sp>
      <p:sp>
        <p:nvSpPr>
          <p:cNvPr id="23" name="Slide Number Placeholder 22"/>
          <p:cNvSpPr>
            <a:spLocks noGrp="1"/>
          </p:cNvSpPr>
          <p:nvPr>
            <p:ph type="sldNum" sz="quarter" idx="12"/>
          </p:nvPr>
        </p:nvSpPr>
        <p:spPr/>
        <p:txBody>
          <a:bodyPr/>
          <a:lstStyle/>
          <a:p>
            <a:pPr>
              <a:defRPr/>
            </a:pPr>
            <a:fld id="{231DD258-A623-490B-8242-C077DDB146DD}" type="slidenum">
              <a:rPr lang="en-US" smtClean="0"/>
              <a:pPr>
                <a:defRPr/>
              </a:pPr>
              <a:t>27</a:t>
            </a:fld>
            <a:endParaRPr lang="en-US"/>
          </a:p>
        </p:txBody>
      </p:sp>
      <p:grpSp>
        <p:nvGrpSpPr>
          <p:cNvPr id="21" name="Group 20"/>
          <p:cNvGrpSpPr/>
          <p:nvPr/>
        </p:nvGrpSpPr>
        <p:grpSpPr>
          <a:xfrm>
            <a:off x="3420534" y="2884296"/>
            <a:ext cx="1428046" cy="633765"/>
            <a:chOff x="1569157" y="5712178"/>
            <a:chExt cx="1428046" cy="633765"/>
          </a:xfrm>
        </p:grpSpPr>
        <p:grpSp>
          <p:nvGrpSpPr>
            <p:cNvPr id="13" name="Group 12"/>
            <p:cNvGrpSpPr/>
            <p:nvPr/>
          </p:nvGrpSpPr>
          <p:grpSpPr>
            <a:xfrm>
              <a:off x="1794140" y="5712178"/>
              <a:ext cx="995010" cy="632971"/>
              <a:chOff x="1794140" y="5712178"/>
              <a:chExt cx="995010" cy="632971"/>
            </a:xfrm>
          </p:grpSpPr>
          <p:cxnSp>
            <p:nvCxnSpPr>
              <p:cNvPr id="5" name="Straight Connector 4"/>
              <p:cNvCxnSpPr/>
              <p:nvPr/>
            </p:nvCxnSpPr>
            <p:spPr bwMode="auto">
              <a:xfrm rot="5400000" flipH="1" flipV="1">
                <a:off x="1484490" y="6033911"/>
                <a:ext cx="620888"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a:off x="1794933" y="5712178"/>
                <a:ext cx="496711"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rot="5400000" flipH="1" flipV="1">
                <a:off x="1986846" y="6028266"/>
                <a:ext cx="620888"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rot="5400000" flipH="1" flipV="1">
                <a:off x="2477912" y="6022622"/>
                <a:ext cx="620888"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2285999" y="6316134"/>
                <a:ext cx="496711"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cxnSp>
          <p:nvCxnSpPr>
            <p:cNvPr id="18" name="Straight Connector 17"/>
            <p:cNvCxnSpPr/>
            <p:nvPr/>
          </p:nvCxnSpPr>
          <p:spPr bwMode="auto">
            <a:xfrm rot="10800000">
              <a:off x="1569157" y="6344355"/>
              <a:ext cx="214491"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rot="10800000">
              <a:off x="2782712" y="5717822"/>
              <a:ext cx="214491"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31" name="Group 30"/>
          <p:cNvGrpSpPr/>
          <p:nvPr/>
        </p:nvGrpSpPr>
        <p:grpSpPr>
          <a:xfrm>
            <a:off x="6914445" y="2857890"/>
            <a:ext cx="1428047" cy="654755"/>
            <a:chOff x="4713112" y="5718617"/>
            <a:chExt cx="1428047" cy="654755"/>
          </a:xfrm>
        </p:grpSpPr>
        <p:cxnSp>
          <p:nvCxnSpPr>
            <p:cNvPr id="26" name="Straight Connector 25"/>
            <p:cNvCxnSpPr/>
            <p:nvPr/>
          </p:nvCxnSpPr>
          <p:spPr bwMode="auto">
            <a:xfrm rot="16200000" flipH="1" flipV="1">
              <a:off x="5130804" y="6028267"/>
              <a:ext cx="620888"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7" name="Straight Connector 26"/>
            <p:cNvCxnSpPr/>
            <p:nvPr/>
          </p:nvCxnSpPr>
          <p:spPr bwMode="auto">
            <a:xfrm rot="10800000">
              <a:off x="4944538" y="6350000"/>
              <a:ext cx="496711"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Straight Connector 27"/>
            <p:cNvCxnSpPr/>
            <p:nvPr/>
          </p:nvCxnSpPr>
          <p:spPr bwMode="auto">
            <a:xfrm rot="16200000" flipH="1" flipV="1">
              <a:off x="4628448" y="6033912"/>
              <a:ext cx="620888"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Straight Connector 28"/>
            <p:cNvCxnSpPr/>
            <p:nvPr/>
          </p:nvCxnSpPr>
          <p:spPr bwMode="auto">
            <a:xfrm rot="16200000" flipH="1" flipV="1">
              <a:off x="5627515" y="6062134"/>
              <a:ext cx="620888"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rot="10800000">
              <a:off x="5435606" y="5746044"/>
              <a:ext cx="496711"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5926668" y="6361289"/>
              <a:ext cx="214491"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Connector 24"/>
            <p:cNvCxnSpPr/>
            <p:nvPr/>
          </p:nvCxnSpPr>
          <p:spPr bwMode="auto">
            <a:xfrm>
              <a:off x="4713112" y="5734756"/>
              <a:ext cx="214491"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cxnSp>
        <p:nvCxnSpPr>
          <p:cNvPr id="33" name="Straight Arrow Connector 32"/>
          <p:cNvCxnSpPr/>
          <p:nvPr/>
        </p:nvCxnSpPr>
        <p:spPr bwMode="auto">
          <a:xfrm>
            <a:off x="3623731" y="3579890"/>
            <a:ext cx="1027289" cy="12877"/>
          </a:xfrm>
          <a:prstGeom prst="straightConnector1">
            <a:avLst/>
          </a:prstGeom>
          <a:solidFill>
            <a:schemeClr val="accent1"/>
          </a:solidFill>
          <a:ln w="9525" cap="flat" cmpd="sng" algn="ctr">
            <a:solidFill>
              <a:schemeClr val="tx1"/>
            </a:solidFill>
            <a:prstDash val="solid"/>
            <a:round/>
            <a:headEnd type="arrow"/>
            <a:tailEnd type="arrow"/>
          </a:ln>
          <a:effectLst/>
        </p:spPr>
      </p:cxnSp>
      <p:cxnSp>
        <p:nvCxnSpPr>
          <p:cNvPr id="35" name="Straight Arrow Connector 34"/>
          <p:cNvCxnSpPr/>
          <p:nvPr/>
        </p:nvCxnSpPr>
        <p:spPr bwMode="auto">
          <a:xfrm>
            <a:off x="7139431" y="3592767"/>
            <a:ext cx="1027289" cy="12877"/>
          </a:xfrm>
          <a:prstGeom prst="straightConnector1">
            <a:avLst/>
          </a:prstGeom>
          <a:solidFill>
            <a:schemeClr val="accent1"/>
          </a:solidFill>
          <a:ln w="9525" cap="flat" cmpd="sng" algn="ctr">
            <a:solidFill>
              <a:schemeClr val="tx1"/>
            </a:solidFill>
            <a:prstDash val="solid"/>
            <a:round/>
            <a:headEnd type="arrow"/>
            <a:tailEnd type="arrow"/>
          </a:ln>
          <a:effectLst/>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925692"/>
            <a:ext cx="8760178" cy="4334933"/>
          </a:xfrm>
        </p:spPr>
        <p:txBody>
          <a:bodyPr>
            <a:noAutofit/>
          </a:bodyPr>
          <a:lstStyle/>
          <a:p>
            <a:pPr algn="just">
              <a:buFont typeface="Wingdings" pitchFamily="2" charset="2"/>
              <a:buChar char="ü"/>
            </a:pPr>
            <a:r>
              <a:rPr lang="en-US" sz="3200" b="1" dirty="0"/>
              <a:t>Conclusion:</a:t>
            </a:r>
          </a:p>
          <a:p>
            <a:pPr lvl="1" algn="just">
              <a:buFont typeface="Wingdings" pitchFamily="2" charset="2"/>
              <a:buChar char="ü"/>
            </a:pPr>
            <a:r>
              <a:rPr lang="en-US" sz="2800" dirty="0">
                <a:solidFill>
                  <a:schemeClr val="tx1"/>
                </a:solidFill>
                <a:latin typeface="Times New Roman" panose="02020603050405020304" pitchFamily="18" charset="0"/>
                <a:cs typeface="Times New Roman" panose="02020603050405020304" pitchFamily="18" charset="0"/>
              </a:rPr>
              <a:t>Most data link protocols </a:t>
            </a:r>
            <a:r>
              <a:rPr lang="en-US" sz="2800" b="1" dirty="0">
                <a:solidFill>
                  <a:schemeClr val="tx1"/>
                </a:solidFill>
                <a:latin typeface="Times New Roman" panose="02020603050405020304" pitchFamily="18" charset="0"/>
                <a:cs typeface="Times New Roman" panose="02020603050405020304" pitchFamily="18" charset="0"/>
              </a:rPr>
              <a:t>use a combination of a character count with one of the other methods </a:t>
            </a:r>
            <a:r>
              <a:rPr lang="en-US" sz="2800" dirty="0">
                <a:solidFill>
                  <a:schemeClr val="tx1"/>
                </a:solidFill>
                <a:latin typeface="Times New Roman" panose="02020603050405020304" pitchFamily="18" charset="0"/>
                <a:cs typeface="Times New Roman" panose="02020603050405020304" pitchFamily="18" charset="0"/>
              </a:rPr>
              <a:t>for extra safety. </a:t>
            </a:r>
          </a:p>
          <a:p>
            <a:pPr lvl="1" algn="just">
              <a:buFont typeface="Wingdings" pitchFamily="2" charset="2"/>
              <a:buChar char="ü"/>
            </a:pPr>
            <a:r>
              <a:rPr lang="en-US" sz="2800" dirty="0">
                <a:solidFill>
                  <a:schemeClr val="tx1"/>
                </a:solidFill>
                <a:latin typeface="Times New Roman" panose="02020603050405020304" pitchFamily="18" charset="0"/>
                <a:cs typeface="Times New Roman" panose="02020603050405020304" pitchFamily="18" charset="0"/>
              </a:rPr>
              <a:t>When a frame arrives, the count field is used to locate the end of the frame. </a:t>
            </a:r>
          </a:p>
          <a:p>
            <a:pPr lvl="1" algn="just">
              <a:buFont typeface="Wingdings" pitchFamily="2" charset="2"/>
              <a:buChar char="ü"/>
            </a:pPr>
            <a:r>
              <a:rPr lang="en-US" sz="2800" dirty="0">
                <a:solidFill>
                  <a:schemeClr val="tx1"/>
                </a:solidFill>
                <a:latin typeface="Times New Roman" panose="02020603050405020304" pitchFamily="18" charset="0"/>
                <a:cs typeface="Times New Roman" panose="02020603050405020304" pitchFamily="18" charset="0"/>
              </a:rPr>
              <a:t>Only if the appropriate </a:t>
            </a:r>
            <a:r>
              <a:rPr lang="en-US" sz="2800" b="1" dirty="0">
                <a:solidFill>
                  <a:schemeClr val="tx1"/>
                </a:solidFill>
                <a:latin typeface="Times New Roman" panose="02020603050405020304" pitchFamily="18" charset="0"/>
                <a:cs typeface="Times New Roman" panose="02020603050405020304" pitchFamily="18" charset="0"/>
              </a:rPr>
              <a:t>delimiter is present </a:t>
            </a:r>
            <a:r>
              <a:rPr lang="en-US" sz="2800" dirty="0">
                <a:solidFill>
                  <a:schemeClr val="tx1"/>
                </a:solidFill>
                <a:latin typeface="Times New Roman" panose="02020603050405020304" pitchFamily="18" charset="0"/>
                <a:cs typeface="Times New Roman" panose="02020603050405020304" pitchFamily="18" charset="0"/>
              </a:rPr>
              <a:t>at that position and the </a:t>
            </a:r>
            <a:r>
              <a:rPr lang="en-US" sz="2800" b="1" dirty="0">
                <a:solidFill>
                  <a:schemeClr val="tx1"/>
                </a:solidFill>
                <a:latin typeface="Times New Roman" panose="02020603050405020304" pitchFamily="18" charset="0"/>
                <a:cs typeface="Times New Roman" panose="02020603050405020304" pitchFamily="18" charset="0"/>
              </a:rPr>
              <a:t>checksum is correct</a:t>
            </a:r>
            <a:r>
              <a:rPr lang="en-US" sz="2800" dirty="0">
                <a:solidFill>
                  <a:schemeClr val="tx1"/>
                </a:solidFill>
                <a:latin typeface="Times New Roman" panose="02020603050405020304" pitchFamily="18" charset="0"/>
                <a:cs typeface="Times New Roman" panose="02020603050405020304" pitchFamily="18" charset="0"/>
              </a:rPr>
              <a:t>, the </a:t>
            </a:r>
            <a:r>
              <a:rPr lang="en-US" sz="2800" b="1" dirty="0">
                <a:solidFill>
                  <a:schemeClr val="tx1"/>
                </a:solidFill>
                <a:latin typeface="Times New Roman" panose="02020603050405020304" pitchFamily="18" charset="0"/>
                <a:cs typeface="Times New Roman" panose="02020603050405020304" pitchFamily="18" charset="0"/>
              </a:rPr>
              <a:t>frame is </a:t>
            </a:r>
            <a:r>
              <a:rPr lang="en-US" sz="2800" dirty="0">
                <a:solidFill>
                  <a:schemeClr val="tx1"/>
                </a:solidFill>
                <a:latin typeface="Times New Roman" panose="02020603050405020304" pitchFamily="18" charset="0"/>
                <a:cs typeface="Times New Roman" panose="02020603050405020304" pitchFamily="18" charset="0"/>
              </a:rPr>
              <a:t>accepted as </a:t>
            </a:r>
            <a:r>
              <a:rPr lang="en-US" sz="2800" b="1" dirty="0">
                <a:solidFill>
                  <a:schemeClr val="tx1"/>
                </a:solidFill>
                <a:latin typeface="Times New Roman" panose="02020603050405020304" pitchFamily="18" charset="0"/>
                <a:cs typeface="Times New Roman" panose="02020603050405020304" pitchFamily="18" charset="0"/>
              </a:rPr>
              <a:t>valid</a:t>
            </a:r>
            <a:r>
              <a:rPr lang="en-US" sz="2800" dirty="0">
                <a:solidFill>
                  <a:schemeClr val="tx1"/>
                </a:solidFill>
                <a:latin typeface="Times New Roman" panose="02020603050405020304" pitchFamily="18" charset="0"/>
                <a:cs typeface="Times New Roman" panose="02020603050405020304" pitchFamily="18" charset="0"/>
              </a:rPr>
              <a:t>. </a:t>
            </a:r>
          </a:p>
          <a:p>
            <a:pPr lvl="1" algn="just">
              <a:buFont typeface="Wingdings" pitchFamily="2" charset="2"/>
              <a:buChar char="ü"/>
            </a:pPr>
            <a:r>
              <a:rPr lang="en-US" sz="2800" dirty="0">
                <a:solidFill>
                  <a:schemeClr val="tx1"/>
                </a:solidFill>
                <a:latin typeface="Times New Roman" panose="02020603050405020304" pitchFamily="18" charset="0"/>
                <a:cs typeface="Times New Roman" panose="02020603050405020304" pitchFamily="18" charset="0"/>
              </a:rPr>
              <a:t>Otherwise, the input stream is scanned for the next delimiter</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60158" y="568034"/>
            <a:ext cx="9008533" cy="496712"/>
          </a:xfrm>
        </p:spPr>
        <p:txBody>
          <a:bodyPr>
            <a:normAutofit fontScale="90000"/>
          </a:bodyPr>
          <a:lstStyle/>
          <a:p>
            <a:r>
              <a:rPr lang="en-US" dirty="0"/>
              <a:t> </a:t>
            </a:r>
            <a:r>
              <a:rPr lang="en-US" sz="4400" dirty="0"/>
              <a:t>Error Control</a:t>
            </a:r>
          </a:p>
        </p:txBody>
      </p:sp>
      <p:sp>
        <p:nvSpPr>
          <p:cNvPr id="7" name="Content Placeholder 2"/>
          <p:cNvSpPr>
            <a:spLocks noGrp="1"/>
          </p:cNvSpPr>
          <p:nvPr>
            <p:ph idx="1"/>
          </p:nvPr>
        </p:nvSpPr>
        <p:spPr>
          <a:xfrm>
            <a:off x="191911" y="1083738"/>
            <a:ext cx="8760178" cy="4865511"/>
          </a:xfrm>
        </p:spPr>
        <p:txBody>
          <a:bodyPr>
            <a:normAutofit lnSpcReduction="10000"/>
          </a:bodyPr>
          <a:lstStyle/>
          <a:p>
            <a:pPr algn="just">
              <a:buFont typeface="Wingdings" pitchFamily="2" charset="2"/>
              <a:buChar char="ü"/>
            </a:pPr>
            <a:endParaRPr lang="en-US" dirty="0"/>
          </a:p>
          <a:p>
            <a:pPr algn="just">
              <a:buFont typeface="Wingdings" pitchFamily="2" charset="2"/>
              <a:buChar char="ü"/>
            </a:pPr>
            <a:r>
              <a:rPr lang="en-US" dirty="0">
                <a:latin typeface="Times New Roman" panose="02020603050405020304" pitchFamily="18" charset="0"/>
                <a:cs typeface="Times New Roman" panose="02020603050405020304" pitchFamily="18" charset="0"/>
              </a:rPr>
              <a:t>To make sure all frames are eventually delivered to the network layer at the destination and in the proper order </a:t>
            </a:r>
          </a:p>
          <a:p>
            <a:pPr algn="just">
              <a:buFont typeface="Wingdings" pitchFamily="2" charset="2"/>
              <a:buChar char="ü"/>
            </a:pPr>
            <a:r>
              <a:rPr lang="en-US" dirty="0">
                <a:latin typeface="Times New Roman" panose="02020603050405020304" pitchFamily="18" charset="0"/>
                <a:cs typeface="Times New Roman" panose="02020603050405020304" pitchFamily="18" charset="0"/>
              </a:rPr>
              <a:t>For reliable delivery, protocol calls for the receiver send back special control frames bearing </a:t>
            </a:r>
            <a:r>
              <a:rPr lang="en-US" dirty="0">
                <a:solidFill>
                  <a:srgbClr val="FF0000"/>
                </a:solidFill>
                <a:latin typeface="Times New Roman" panose="02020603050405020304" pitchFamily="18" charset="0"/>
                <a:cs typeface="Times New Roman" panose="02020603050405020304" pitchFamily="18" charset="0"/>
              </a:rPr>
              <a:t>positive or negative acknowledgements</a:t>
            </a:r>
            <a:r>
              <a:rPr lang="en-US" dirty="0">
                <a:latin typeface="Times New Roman" panose="02020603050405020304" pitchFamily="18" charset="0"/>
                <a:cs typeface="Times New Roman" panose="02020603050405020304" pitchFamily="18" charset="0"/>
              </a:rPr>
              <a:t> about the incoming frames </a:t>
            </a:r>
          </a:p>
          <a:p>
            <a:pPr algn="just">
              <a:buFont typeface="Wingdings" pitchFamily="2" charset="2"/>
              <a:buChar char="ü"/>
            </a:pPr>
            <a:r>
              <a:rPr lang="en-US" b="1" dirty="0">
                <a:latin typeface="Times New Roman" panose="02020603050405020304" pitchFamily="18" charset="0"/>
                <a:cs typeface="Times New Roman" panose="02020603050405020304" pitchFamily="18" charset="0"/>
              </a:rPr>
              <a:t>Problem: </a:t>
            </a:r>
          </a:p>
          <a:p>
            <a:pPr lvl="1" algn="just">
              <a:buFont typeface="Wingdings" pitchFamily="2" charset="2"/>
              <a:buChar char="ü"/>
            </a:pPr>
            <a:r>
              <a:rPr lang="en-US" sz="2800" dirty="0">
                <a:solidFill>
                  <a:schemeClr val="tx1"/>
                </a:solidFill>
                <a:latin typeface="Times New Roman" panose="02020603050405020304" pitchFamily="18" charset="0"/>
                <a:cs typeface="Times New Roman" panose="02020603050405020304" pitchFamily="18" charset="0"/>
              </a:rPr>
              <a:t>hardware troubles may cause a frame to vanish completely (e.g., in a noise burst). </a:t>
            </a:r>
          </a:p>
          <a:p>
            <a:pPr algn="just">
              <a:buFont typeface="Wingdings" pitchFamily="2" charset="2"/>
              <a:buChar char="ü"/>
            </a:pPr>
            <a:r>
              <a:rPr lang="en-US" b="1" dirty="0">
                <a:latin typeface="Times New Roman" panose="02020603050405020304" pitchFamily="18" charset="0"/>
                <a:cs typeface="Times New Roman" panose="02020603050405020304" pitchFamily="18" charset="0"/>
              </a:rPr>
              <a:t>Solution: </a:t>
            </a:r>
          </a:p>
          <a:p>
            <a:pPr lvl="1" algn="just">
              <a:buFont typeface="Wingdings" pitchFamily="2" charset="2"/>
              <a:buChar char="ü"/>
            </a:pPr>
            <a:r>
              <a:rPr lang="en-US" sz="2800" dirty="0">
                <a:solidFill>
                  <a:schemeClr val="tx1"/>
                </a:solidFill>
                <a:latin typeface="Times New Roman" panose="02020603050405020304" pitchFamily="18" charset="0"/>
                <a:cs typeface="Times New Roman" panose="02020603050405020304" pitchFamily="18" charset="0"/>
              </a:rPr>
              <a:t>by introducing timers into the DLL</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91911" y="485422"/>
            <a:ext cx="8760178" cy="6197600"/>
          </a:xfrm>
        </p:spPr>
        <p:txBody>
          <a:bodyPr>
            <a:normAutofit lnSpcReduction="10000"/>
          </a:bodyPr>
          <a:lstStyle/>
          <a:p>
            <a:pPr algn="just">
              <a:buFont typeface="Wingdings" pitchFamily="2" charset="2"/>
              <a:buChar char="ü"/>
            </a:pPr>
            <a:r>
              <a:rPr lang="en-US" dirty="0">
                <a:solidFill>
                  <a:srgbClr val="FF0000"/>
                </a:solidFill>
              </a:rPr>
              <a:t>Use of Timer in DLL</a:t>
            </a:r>
          </a:p>
          <a:p>
            <a:pPr lvl="1" algn="just">
              <a:buFont typeface="Wingdings" pitchFamily="2" charset="2"/>
              <a:buChar char="ü"/>
            </a:pPr>
            <a:r>
              <a:rPr lang="en-US" sz="2400" dirty="0">
                <a:solidFill>
                  <a:schemeClr val="tx1"/>
                </a:solidFill>
              </a:rPr>
              <a:t>When the sender transmits a frame, it generally also</a:t>
            </a:r>
            <a:r>
              <a:rPr lang="en-US" sz="2400" dirty="0"/>
              <a:t> </a:t>
            </a:r>
            <a:r>
              <a:rPr lang="en-US" sz="2400" dirty="0">
                <a:solidFill>
                  <a:srgbClr val="FF0000"/>
                </a:solidFill>
              </a:rPr>
              <a:t>starts</a:t>
            </a:r>
            <a:r>
              <a:rPr lang="en-US" sz="2400" dirty="0"/>
              <a:t> </a:t>
            </a:r>
            <a:r>
              <a:rPr lang="en-US" sz="2400" dirty="0">
                <a:solidFill>
                  <a:schemeClr val="tx1"/>
                </a:solidFill>
              </a:rPr>
              <a:t>a timer. </a:t>
            </a:r>
          </a:p>
          <a:p>
            <a:pPr lvl="1" algn="just">
              <a:buFont typeface="Wingdings" pitchFamily="2" charset="2"/>
              <a:buChar char="ü"/>
            </a:pPr>
            <a:r>
              <a:rPr lang="en-US" sz="2400" dirty="0">
                <a:solidFill>
                  <a:schemeClr val="tx1"/>
                </a:solidFill>
              </a:rPr>
              <a:t>The timer is set to</a:t>
            </a:r>
            <a:r>
              <a:rPr lang="en-US" sz="2400" dirty="0"/>
              <a:t> </a:t>
            </a:r>
            <a:r>
              <a:rPr lang="en-US" sz="2400" dirty="0">
                <a:solidFill>
                  <a:srgbClr val="FF0000"/>
                </a:solidFill>
              </a:rPr>
              <a:t>expire</a:t>
            </a:r>
            <a:r>
              <a:rPr lang="en-US" sz="2400" dirty="0"/>
              <a:t> </a:t>
            </a:r>
            <a:r>
              <a:rPr lang="en-US" sz="2400" dirty="0">
                <a:solidFill>
                  <a:schemeClr val="tx1"/>
                </a:solidFill>
              </a:rPr>
              <a:t>after an interval long enough for the frame to reach the destination, be processed there, and have the acknowledgement propagate back to the sender. </a:t>
            </a:r>
          </a:p>
          <a:p>
            <a:pPr lvl="1" algn="just">
              <a:buFont typeface="Wingdings" pitchFamily="2" charset="2"/>
              <a:buChar char="ü"/>
            </a:pPr>
            <a:r>
              <a:rPr lang="en-US" sz="2400" dirty="0">
                <a:solidFill>
                  <a:schemeClr val="tx1"/>
                </a:solidFill>
              </a:rPr>
              <a:t>acknowledgement will get back before the timer</a:t>
            </a:r>
            <a:r>
              <a:rPr lang="en-US" sz="2400" dirty="0"/>
              <a:t> </a:t>
            </a:r>
            <a:r>
              <a:rPr lang="en-US" sz="2400" dirty="0">
                <a:solidFill>
                  <a:srgbClr val="FF0000"/>
                </a:solidFill>
              </a:rPr>
              <a:t>runs out </a:t>
            </a:r>
          </a:p>
          <a:p>
            <a:pPr lvl="1" algn="just">
              <a:buFont typeface="Wingdings" pitchFamily="2" charset="2"/>
              <a:buChar char="ü"/>
            </a:pPr>
            <a:r>
              <a:rPr lang="en-US" sz="2400" dirty="0">
                <a:solidFill>
                  <a:schemeClr val="tx1"/>
                </a:solidFill>
              </a:rPr>
              <a:t>in which case the timer will be </a:t>
            </a:r>
            <a:r>
              <a:rPr lang="en-US" sz="2400" dirty="0">
                <a:solidFill>
                  <a:srgbClr val="FF0000"/>
                </a:solidFill>
              </a:rPr>
              <a:t>canceled </a:t>
            </a:r>
          </a:p>
          <a:p>
            <a:pPr lvl="1" algn="just">
              <a:buFont typeface="Wingdings" pitchFamily="2" charset="2"/>
              <a:buChar char="ü"/>
            </a:pPr>
            <a:r>
              <a:rPr lang="en-US" sz="2400" dirty="0">
                <a:solidFill>
                  <a:schemeClr val="tx1"/>
                </a:solidFill>
              </a:rPr>
              <a:t>if either the frame or the acknowledgement is lost, the timer </a:t>
            </a:r>
            <a:r>
              <a:rPr lang="en-US" sz="2400" dirty="0">
                <a:solidFill>
                  <a:srgbClr val="FF0000"/>
                </a:solidFill>
              </a:rPr>
              <a:t>will go off</a:t>
            </a:r>
            <a:r>
              <a:rPr lang="en-US" sz="2400" dirty="0">
                <a:solidFill>
                  <a:schemeClr val="tx1"/>
                </a:solidFill>
              </a:rPr>
              <a:t>, alerting the sender to a potential problem. </a:t>
            </a:r>
          </a:p>
          <a:p>
            <a:pPr lvl="1" algn="just">
              <a:buFont typeface="Wingdings" pitchFamily="2" charset="2"/>
              <a:buChar char="ü"/>
            </a:pPr>
            <a:r>
              <a:rPr lang="en-US" sz="2400" dirty="0">
                <a:solidFill>
                  <a:schemeClr val="tx1"/>
                </a:solidFill>
              </a:rPr>
              <a:t>The obvious solution is to just transmit the frame again </a:t>
            </a:r>
          </a:p>
          <a:p>
            <a:pPr lvl="1" algn="just">
              <a:buFont typeface="Wingdings" pitchFamily="2" charset="2"/>
              <a:buChar char="ü"/>
            </a:pPr>
            <a:r>
              <a:rPr lang="en-US" sz="2400" b="1" dirty="0">
                <a:solidFill>
                  <a:schemeClr val="tx1"/>
                </a:solidFill>
              </a:rPr>
              <a:t>Another Problem </a:t>
            </a:r>
            <a:r>
              <a:rPr lang="en-US" sz="2400" dirty="0">
                <a:solidFill>
                  <a:schemeClr val="tx1"/>
                </a:solidFill>
              </a:rPr>
              <a:t>: receiving frames </a:t>
            </a:r>
            <a:r>
              <a:rPr lang="en-US" sz="2400" dirty="0">
                <a:solidFill>
                  <a:srgbClr val="FF0000"/>
                </a:solidFill>
              </a:rPr>
              <a:t>multiple</a:t>
            </a:r>
            <a:r>
              <a:rPr lang="en-US" sz="2400" dirty="0"/>
              <a:t> </a:t>
            </a:r>
            <a:r>
              <a:rPr lang="en-US" sz="2400" dirty="0">
                <a:solidFill>
                  <a:schemeClr val="tx1"/>
                </a:solidFill>
              </a:rPr>
              <a:t>times</a:t>
            </a:r>
            <a:endParaRPr lang="en-US" dirty="0">
              <a:solidFill>
                <a:schemeClr val="tx1"/>
              </a:solidFill>
            </a:endParaRPr>
          </a:p>
          <a:p>
            <a:pPr lvl="1" algn="just">
              <a:buFont typeface="Wingdings" pitchFamily="2" charset="2"/>
              <a:buChar char="ü"/>
            </a:pPr>
            <a:r>
              <a:rPr lang="en-US" sz="2400" dirty="0"/>
              <a:t>Solution:</a:t>
            </a:r>
          </a:p>
          <a:p>
            <a:pPr lvl="2" algn="just">
              <a:buFont typeface="Wingdings" pitchFamily="2" charset="2"/>
              <a:buChar char="ü"/>
            </a:pPr>
            <a:r>
              <a:rPr lang="en-US" dirty="0"/>
              <a:t>to assign </a:t>
            </a:r>
            <a:r>
              <a:rPr lang="en-US" dirty="0">
                <a:solidFill>
                  <a:srgbClr val="FF0000"/>
                </a:solidFill>
              </a:rPr>
              <a:t>sequence numbers </a:t>
            </a:r>
            <a:r>
              <a:rPr lang="en-US" dirty="0"/>
              <a:t>to outgoing frames, so that the receiver can distinguish retransmissions from originals</a:t>
            </a:r>
            <a:endParaRPr lang="en-US" sz="2400" dirty="0"/>
          </a:p>
        </p:txBody>
      </p:sp>
      <p:sp>
        <p:nvSpPr>
          <p:cNvPr id="4" name="Slide Number Placeholder 3"/>
          <p:cNvSpPr>
            <a:spLocks noGrp="1"/>
          </p:cNvSpPr>
          <p:nvPr>
            <p:ph type="sldNum" sz="quarter" idx="12"/>
          </p:nvPr>
        </p:nvSpPr>
        <p:spPr>
          <a:xfrm>
            <a:off x="7239000" y="6400800"/>
            <a:ext cx="1905000" cy="457200"/>
          </a:xfrm>
        </p:spPr>
        <p:txBody>
          <a:bodyPr/>
          <a:lstStyle/>
          <a:p>
            <a:pPr>
              <a:defRPr/>
            </a:pPr>
            <a:fld id="{231DD258-A623-490B-8242-C077DDB146DD}"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35467" y="554180"/>
            <a:ext cx="9008533" cy="496712"/>
          </a:xfrm>
        </p:spPr>
        <p:txBody>
          <a:bodyPr>
            <a:normAutofit fontScale="90000"/>
          </a:bodyPr>
          <a:lstStyle/>
          <a:p>
            <a:r>
              <a:rPr lang="en-US" dirty="0"/>
              <a:t> </a:t>
            </a:r>
            <a:r>
              <a:rPr lang="en-US" sz="4400" dirty="0"/>
              <a:t>Flow Control</a:t>
            </a:r>
          </a:p>
        </p:txBody>
      </p:sp>
      <p:sp>
        <p:nvSpPr>
          <p:cNvPr id="7" name="Content Placeholder 2"/>
          <p:cNvSpPr>
            <a:spLocks noGrp="1"/>
          </p:cNvSpPr>
          <p:nvPr>
            <p:ph idx="1"/>
          </p:nvPr>
        </p:nvSpPr>
        <p:spPr>
          <a:xfrm>
            <a:off x="191911" y="1288472"/>
            <a:ext cx="8760178" cy="5394549"/>
          </a:xfrm>
        </p:spPr>
        <p:txBody>
          <a:bodyPr>
            <a:noAutofit/>
          </a:bodyPr>
          <a:lstStyle/>
          <a:p>
            <a:pPr algn="just">
              <a:buFont typeface="Wingdings" pitchFamily="2" charset="2"/>
              <a:buChar char="ü"/>
            </a:pPr>
            <a:r>
              <a:rPr lang="en-US" dirty="0"/>
              <a:t>how to keep a fast sender from overloading a slow receiver with data</a:t>
            </a:r>
          </a:p>
          <a:p>
            <a:pPr algn="just">
              <a:buFont typeface="Wingdings" pitchFamily="2" charset="2"/>
              <a:buChar char="ü"/>
            </a:pPr>
            <a:r>
              <a:rPr lang="en-US" dirty="0"/>
              <a:t>Two approaches</a:t>
            </a:r>
          </a:p>
          <a:p>
            <a:pPr lvl="1" algn="just">
              <a:buFont typeface="Wingdings" pitchFamily="2" charset="2"/>
              <a:buChar char="ü"/>
            </a:pPr>
            <a:r>
              <a:rPr lang="en-US" sz="2400" dirty="0">
                <a:solidFill>
                  <a:srgbClr val="FF0000"/>
                </a:solidFill>
              </a:rPr>
              <a:t>feedback-based flow control</a:t>
            </a:r>
          </a:p>
          <a:p>
            <a:pPr lvl="2" algn="just">
              <a:buFont typeface="Wingdings" pitchFamily="2" charset="2"/>
              <a:buChar char="ü"/>
            </a:pPr>
            <a:r>
              <a:rPr lang="en-US" dirty="0">
                <a:solidFill>
                  <a:schemeClr val="tx1"/>
                </a:solidFill>
              </a:rPr>
              <a:t>the receiver sends back information to the sender giving it permission to send more data or at least telling the sender how the receiver is doing</a:t>
            </a:r>
          </a:p>
          <a:p>
            <a:pPr lvl="1" algn="just">
              <a:buFont typeface="Wingdings" pitchFamily="2" charset="2"/>
              <a:buChar char="ü"/>
            </a:pPr>
            <a:r>
              <a:rPr lang="en-US" sz="2400" dirty="0">
                <a:solidFill>
                  <a:srgbClr val="FF0000"/>
                </a:solidFill>
              </a:rPr>
              <a:t>rate-based flow control</a:t>
            </a:r>
          </a:p>
          <a:p>
            <a:pPr lvl="2" algn="just">
              <a:buFont typeface="Wingdings" pitchFamily="2" charset="2"/>
              <a:buChar char="ü"/>
            </a:pPr>
            <a:r>
              <a:rPr lang="en-US" dirty="0">
                <a:solidFill>
                  <a:schemeClr val="tx1"/>
                </a:solidFill>
              </a:rPr>
              <a:t>the protocol has a built-in mechanism that limits the rate at which senders may transmit data, without using feedback from the receiver</a:t>
            </a:r>
          </a:p>
          <a:p>
            <a:pPr lvl="1" algn="just">
              <a:buFont typeface="Wingdings" pitchFamily="2" charset="2"/>
              <a:buChar char="ü"/>
            </a:pPr>
            <a:r>
              <a:rPr lang="en-US" sz="2400" dirty="0">
                <a:solidFill>
                  <a:srgbClr val="FF0000"/>
                </a:solidFill>
              </a:rPr>
              <a:t>The protocol contains well-defined rules about when a sender may transmit the next frame</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4400" dirty="0">
                <a:solidFill>
                  <a:schemeClr val="accent2">
                    <a:lumMod val="50000"/>
                  </a:schemeClr>
                </a:solidFill>
                <a:effectLst/>
              </a:rPr>
              <a:t>Error detection and correction</a:t>
            </a:r>
            <a:endParaRPr lang="en-IN" dirty="0">
              <a:solidFill>
                <a:schemeClr val="accent2">
                  <a:lumMod val="50000"/>
                </a:schemeClr>
              </a:solidFill>
              <a:effectLst/>
            </a:endParaRPr>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765AB78C-8FA7-4560-BB1F-5ECD8A6F763F}" type="slidenum">
              <a:rPr lang="en-US" smtClean="0"/>
              <a:pPr>
                <a:defRPr/>
              </a:pPr>
              <a:t>32</a:t>
            </a:fld>
            <a:endParaRPr lang="en-US"/>
          </a:p>
        </p:txBody>
      </p:sp>
    </p:spTree>
    <p:extLst>
      <p:ext uri="{BB962C8B-B14F-4D97-AF65-F5344CB8AC3E}">
        <p14:creationId xmlns:p14="http://schemas.microsoft.com/office/powerpoint/2010/main" val="4125399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263236" y="677333"/>
            <a:ext cx="8693440" cy="6028267"/>
          </a:xfrm>
        </p:spPr>
        <p:txBody>
          <a:bodyPr>
            <a:normAutofit/>
          </a:bodyPr>
          <a:lstStyle/>
          <a:p>
            <a:pPr marL="457200" indent="-457200" algn="just">
              <a:buClr>
                <a:srgbClr val="CC0066"/>
              </a:buClr>
              <a:buFont typeface="Wingdings" pitchFamily="2" charset="2"/>
              <a:buChar char="Ø"/>
              <a:defRPr/>
            </a:pPr>
            <a:endParaRPr lang="en-US" dirty="0">
              <a:latin typeface="Times New Roman" pitchFamily="18" charset="0"/>
              <a:cs typeface="Times New Roman" pitchFamily="18" charset="0"/>
            </a:endParaRPr>
          </a:p>
          <a:p>
            <a:pPr marL="457200" indent="-457200" algn="just">
              <a:buClr>
                <a:srgbClr val="CC0066"/>
              </a:buClr>
              <a:buFont typeface="Wingdings" pitchFamily="2" charset="2"/>
              <a:buChar char="Ø"/>
              <a:defRPr/>
            </a:pPr>
            <a:r>
              <a:rPr lang="en-US" dirty="0">
                <a:latin typeface="Times New Roman" pitchFamily="18" charset="0"/>
                <a:cs typeface="Times New Roman" pitchFamily="18" charset="0"/>
              </a:rPr>
              <a:t>Networks must be able to transfer data from one device to another with complete accuracy.</a:t>
            </a:r>
          </a:p>
          <a:p>
            <a:pPr marL="457200" indent="-457200" algn="just">
              <a:buClr>
                <a:srgbClr val="CC0066"/>
              </a:buClr>
              <a:buFont typeface="Wingdings" pitchFamily="2" charset="2"/>
              <a:buChar char="Ø"/>
              <a:defRPr/>
            </a:pPr>
            <a:r>
              <a:rPr lang="en-US" dirty="0">
                <a:latin typeface="Times New Roman" pitchFamily="18" charset="0"/>
                <a:cs typeface="Times New Roman" pitchFamily="18" charset="0"/>
              </a:rPr>
              <a:t> Data can be corrupted during transmission.</a:t>
            </a:r>
          </a:p>
          <a:p>
            <a:pPr marL="457200" indent="-457200" algn="just">
              <a:buClr>
                <a:srgbClr val="CC0066"/>
              </a:buClr>
              <a:buFont typeface="Wingdings" pitchFamily="2" charset="2"/>
              <a:buChar char="Ø"/>
              <a:defRPr/>
            </a:pPr>
            <a:r>
              <a:rPr lang="en-US" dirty="0">
                <a:latin typeface="Times New Roman" pitchFamily="18" charset="0"/>
                <a:cs typeface="Times New Roman" pitchFamily="18" charset="0"/>
              </a:rPr>
              <a:t> For reliable communication, errors must be detected and corrected.</a:t>
            </a:r>
          </a:p>
          <a:p>
            <a:pPr algn="just">
              <a:buFont typeface="Wingdings" pitchFamily="2" charset="2"/>
              <a:buChar char="Ø"/>
            </a:pPr>
            <a:r>
              <a:rPr lang="en-IN" dirty="0">
                <a:latin typeface="Times New Roman" pitchFamily="18" charset="0"/>
                <a:cs typeface="Times New Roman" pitchFamily="18" charset="0"/>
              </a:rPr>
              <a:t>To deal with them we use 2 mechanisms.</a:t>
            </a:r>
          </a:p>
          <a:p>
            <a:pPr algn="just">
              <a:buFont typeface="Wingdings" pitchFamily="2" charset="2"/>
              <a:buChar char="Ø"/>
            </a:pPr>
            <a:r>
              <a:rPr lang="en-US" b="1" dirty="0">
                <a:latin typeface="Times New Roman" pitchFamily="18" charset="0"/>
                <a:cs typeface="Times New Roman" pitchFamily="18" charset="0"/>
              </a:rPr>
              <a:t>Error detection and Error correction</a:t>
            </a:r>
            <a:r>
              <a:rPr lang="en-US" dirty="0">
                <a:latin typeface="Times New Roman" pitchFamily="18" charset="0"/>
                <a:cs typeface="Times New Roman" pitchFamily="18" charset="0"/>
              </a:rPr>
              <a:t> are implemented either at the </a:t>
            </a:r>
            <a:r>
              <a:rPr lang="en-US" b="1" dirty="0">
                <a:latin typeface="Times New Roman" pitchFamily="18" charset="0"/>
                <a:cs typeface="Times New Roman" pitchFamily="18" charset="0"/>
              </a:rPr>
              <a:t>data link layer</a:t>
            </a:r>
            <a:r>
              <a:rPr lang="en-US" dirty="0">
                <a:latin typeface="Times New Roman" pitchFamily="18" charset="0"/>
                <a:cs typeface="Times New Roman" pitchFamily="18" charset="0"/>
              </a:rPr>
              <a:t> or the </a:t>
            </a:r>
            <a:r>
              <a:rPr lang="en-US" b="1" dirty="0">
                <a:latin typeface="Times New Roman" pitchFamily="18" charset="0"/>
                <a:cs typeface="Times New Roman" pitchFamily="18" charset="0"/>
              </a:rPr>
              <a:t>transport layer</a:t>
            </a:r>
            <a:r>
              <a:rPr lang="en-US" dirty="0">
                <a:latin typeface="Times New Roman" pitchFamily="18" charset="0"/>
                <a:cs typeface="Times New Roman" pitchFamily="18" charset="0"/>
              </a:rPr>
              <a:t> of the OSI model.</a:t>
            </a:r>
          </a:p>
          <a:p>
            <a:pPr algn="just">
              <a:buFont typeface="Wingdings" pitchFamily="2" charset="2"/>
              <a:buChar char="Ø"/>
            </a:pPr>
            <a:endParaRPr lang="en-IN" dirty="0">
              <a:latin typeface="Times New Roman" pitchFamily="18" charset="0"/>
              <a:cs typeface="Times New Roman" pitchFamily="18" charset="0"/>
            </a:endParaRPr>
          </a:p>
          <a:p>
            <a:pPr algn="just">
              <a:buFont typeface="Wingdings" pitchFamily="2" charset="2"/>
              <a:buChar char="Ø"/>
            </a:pP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7470" y="299244"/>
            <a:ext cx="8229600" cy="1066800"/>
          </a:xfrm>
        </p:spPr>
        <p:txBody>
          <a:bodyPr/>
          <a:lstStyle/>
          <a:p>
            <a:r>
              <a:rPr lang="en-IN" u="sng" dirty="0"/>
              <a:t>Types of error</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34</a:t>
            </a:fld>
            <a:endParaRPr lang="en-US"/>
          </a:p>
        </p:txBody>
      </p:sp>
      <p:pic>
        <p:nvPicPr>
          <p:cNvPr id="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908" y="2647950"/>
            <a:ext cx="8848725" cy="199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3"/>
          <p:cNvSpPr>
            <a:spLocks noChangeArrowheads="1"/>
          </p:cNvSpPr>
          <p:nvPr/>
        </p:nvSpPr>
        <p:spPr bwMode="auto">
          <a:xfrm>
            <a:off x="219167" y="1770785"/>
            <a:ext cx="3690901" cy="601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053" tIns="46201" rIns="94053" bIns="46201">
            <a:spAutoFit/>
          </a:bodyPr>
          <a:lstStyle/>
          <a:p>
            <a:r>
              <a:rPr lang="en-US" sz="3300" b="1" dirty="0">
                <a:solidFill>
                  <a:srgbClr val="00279F"/>
                </a:solidFill>
              </a:rPr>
              <a:t>1. Single-bit error</a:t>
            </a:r>
          </a:p>
        </p:txBody>
      </p:sp>
    </p:spTree>
    <p:extLst>
      <p:ext uri="{BB962C8B-B14F-4D97-AF65-F5344CB8AC3E}">
        <p14:creationId xmlns:p14="http://schemas.microsoft.com/office/powerpoint/2010/main" val="1048480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35</a:t>
            </a:fld>
            <a:endParaRPr lang="en-US"/>
          </a:p>
        </p:txBody>
      </p:sp>
      <p:pic>
        <p:nvPicPr>
          <p:cNvPr id="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222952"/>
            <a:ext cx="7874000"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3"/>
          <p:cNvSpPr>
            <a:spLocks noChangeArrowheads="1"/>
          </p:cNvSpPr>
          <p:nvPr/>
        </p:nvSpPr>
        <p:spPr bwMode="auto">
          <a:xfrm>
            <a:off x="785813" y="774843"/>
            <a:ext cx="2871767" cy="601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4053" tIns="46201" rIns="94053" bIns="46201">
            <a:spAutoFit/>
          </a:bodyPr>
          <a:lstStyle/>
          <a:p>
            <a:r>
              <a:rPr lang="en-US" sz="3300" b="1" dirty="0">
                <a:solidFill>
                  <a:srgbClr val="00279F"/>
                </a:solidFill>
              </a:rPr>
              <a:t>2. Burst error</a:t>
            </a:r>
          </a:p>
        </p:txBody>
      </p:sp>
      <p:sp>
        <p:nvSpPr>
          <p:cNvPr id="7" name="Rectangle 6"/>
          <p:cNvSpPr/>
          <p:nvPr/>
        </p:nvSpPr>
        <p:spPr>
          <a:xfrm>
            <a:off x="785813" y="4465207"/>
            <a:ext cx="7873999" cy="2092881"/>
          </a:xfrm>
          <a:prstGeom prst="rect">
            <a:avLst/>
          </a:prstGeom>
        </p:spPr>
        <p:txBody>
          <a:bodyPr wrap="square">
            <a:spAutoFit/>
          </a:bodyPr>
          <a:lstStyle/>
          <a:p>
            <a:pPr marL="356410" indent="-356410" algn="just">
              <a:buFont typeface="Wingdings" pitchFamily="2" charset="2"/>
              <a:buChar char="Ø"/>
              <a:defRPr/>
            </a:pPr>
            <a:r>
              <a:rPr lang="en-US" sz="2600" b="1" dirty="0"/>
              <a:t>Burst errors</a:t>
            </a:r>
            <a:r>
              <a:rPr lang="en-US" sz="2600" dirty="0"/>
              <a:t> </a:t>
            </a:r>
            <a:r>
              <a:rPr lang="en-US" sz="2600" b="1" dirty="0"/>
              <a:t>does not</a:t>
            </a:r>
            <a:r>
              <a:rPr lang="en-US" sz="2600" dirty="0"/>
              <a:t> necessarily </a:t>
            </a:r>
            <a:r>
              <a:rPr lang="en-US" sz="2600" b="1" dirty="0"/>
              <a:t>mean that the errors occur in consecutive bits</a:t>
            </a:r>
            <a:r>
              <a:rPr lang="en-US" sz="2600" dirty="0"/>
              <a:t>, the </a:t>
            </a:r>
            <a:r>
              <a:rPr lang="en-US" sz="2600" dirty="0">
                <a:solidFill>
                  <a:srgbClr val="FF0000"/>
                </a:solidFill>
              </a:rPr>
              <a:t>length of the burst</a:t>
            </a:r>
            <a:r>
              <a:rPr lang="en-US" sz="2600" dirty="0"/>
              <a:t> is measured from the </a:t>
            </a:r>
            <a:r>
              <a:rPr lang="en-US" sz="2600" dirty="0">
                <a:solidFill>
                  <a:srgbClr val="FF0000"/>
                </a:solidFill>
              </a:rPr>
              <a:t>first corrupted bit to the last corrupted bit.</a:t>
            </a:r>
            <a:r>
              <a:rPr lang="en-US" sz="2600" dirty="0"/>
              <a:t> Some bits in between may not have been corrupted.</a:t>
            </a:r>
          </a:p>
        </p:txBody>
      </p:sp>
    </p:spTree>
    <p:extLst>
      <p:ext uri="{BB962C8B-B14F-4D97-AF65-F5344CB8AC3E}">
        <p14:creationId xmlns:p14="http://schemas.microsoft.com/office/powerpoint/2010/main" val="3335214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35468" y="761997"/>
            <a:ext cx="8821208" cy="6192982"/>
          </a:xfrm>
        </p:spPr>
        <p:txBody>
          <a:bodyPr>
            <a:normAutofit/>
          </a:bodyPr>
          <a:lstStyle/>
          <a:p>
            <a:pPr marL="109728" indent="0" algn="just">
              <a:buNone/>
            </a:pPr>
            <a:r>
              <a:rPr lang="en-US" b="1" dirty="0"/>
              <a:t>Error-Correcting Codes:</a:t>
            </a:r>
          </a:p>
          <a:p>
            <a:pPr lvl="1" algn="just">
              <a:buFont typeface="Wingdings" pitchFamily="2" charset="2"/>
              <a:buChar char="Ø"/>
            </a:pPr>
            <a:r>
              <a:rPr lang="en-US" sz="2800" b="1" dirty="0">
                <a:solidFill>
                  <a:srgbClr val="FF0000"/>
                </a:solidFill>
              </a:rPr>
              <a:t>Strategy 1:</a:t>
            </a:r>
            <a:r>
              <a:rPr lang="en-US" sz="2800" b="1" dirty="0"/>
              <a:t> uses error-correcting codes</a:t>
            </a:r>
          </a:p>
          <a:p>
            <a:pPr lvl="2" algn="just">
              <a:buFont typeface="Wingdings" pitchFamily="2" charset="2"/>
              <a:buChar char="Ø"/>
            </a:pPr>
            <a:r>
              <a:rPr lang="en-US" sz="2800" dirty="0"/>
              <a:t>to include enough redundant information along with each block of data sent, </a:t>
            </a:r>
          </a:p>
          <a:p>
            <a:pPr lvl="2" algn="just">
              <a:buFont typeface="Wingdings" pitchFamily="2" charset="2"/>
              <a:buChar char="Ø"/>
            </a:pPr>
            <a:r>
              <a:rPr lang="en-US" sz="2800" dirty="0"/>
              <a:t>to enable the receiver to </a:t>
            </a:r>
            <a:r>
              <a:rPr lang="en-US" sz="2800" b="1" dirty="0"/>
              <a:t>deduce what the transmitted data must have been</a:t>
            </a:r>
          </a:p>
          <a:p>
            <a:pPr lvl="2" algn="just">
              <a:buFont typeface="Wingdings" pitchFamily="2" charset="2"/>
              <a:buChar char="Ø"/>
            </a:pPr>
            <a:r>
              <a:rPr lang="en-IN" sz="2800" dirty="0"/>
              <a:t>The use of error-correcting codes is referred to as </a:t>
            </a:r>
            <a:r>
              <a:rPr lang="en-IN" sz="2800" dirty="0">
                <a:solidFill>
                  <a:srgbClr val="FF0000"/>
                </a:solidFill>
              </a:rPr>
              <a:t>FEC (Forward Error Correction).</a:t>
            </a:r>
            <a:endParaRPr lang="en-US" sz="2800" dirty="0">
              <a:solidFill>
                <a:srgbClr val="FF0000"/>
              </a:solidFill>
            </a:endParaRPr>
          </a:p>
          <a:p>
            <a:pPr lvl="1" algn="just" eaLnBrk="1" hangingPunct="1">
              <a:buFont typeface="Wingdings" pitchFamily="2" charset="2"/>
              <a:buChar char="Ø"/>
            </a:pPr>
            <a:r>
              <a:rPr lang="en-US" sz="2800" b="1" dirty="0">
                <a:solidFill>
                  <a:srgbClr val="FF0000"/>
                </a:solidFill>
              </a:rPr>
              <a:t>Strategy 2</a:t>
            </a:r>
            <a:r>
              <a:rPr lang="en-US" sz="2800" dirty="0">
                <a:solidFill>
                  <a:srgbClr val="FF0000"/>
                </a:solidFill>
              </a:rPr>
              <a:t>:</a:t>
            </a:r>
            <a:r>
              <a:rPr lang="en-US" sz="2800" dirty="0"/>
              <a:t> </a:t>
            </a:r>
            <a:r>
              <a:rPr lang="en-US" sz="2800" b="1" dirty="0"/>
              <a:t>uses error-detecting codes </a:t>
            </a:r>
          </a:p>
          <a:p>
            <a:pPr lvl="2" algn="just" eaLnBrk="1" hangingPunct="1">
              <a:buFont typeface="Wingdings" pitchFamily="2" charset="2"/>
              <a:buChar char="Ø"/>
            </a:pPr>
            <a:r>
              <a:rPr lang="en-US" sz="2800" dirty="0"/>
              <a:t>to include only enough redundancy to allow the receiver to deduce that an error occurred</a:t>
            </a:r>
          </a:p>
          <a:p>
            <a:pPr lvl="2" algn="just" eaLnBrk="1" hangingPunct="1">
              <a:buFont typeface="Wingdings" pitchFamily="2" charset="2"/>
              <a:buChar char="Ø"/>
            </a:pPr>
            <a:r>
              <a:rPr lang="en-US" sz="2800" dirty="0"/>
              <a:t>have to request a retransmission.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636105"/>
            <a:ext cx="9144000" cy="643467"/>
          </a:xfrm>
        </p:spPr>
        <p:txBody>
          <a:bodyPr>
            <a:normAutofit fontScale="90000"/>
          </a:bodyPr>
          <a:lstStyle/>
          <a:p>
            <a:pPr eaLnBrk="1" hangingPunct="1"/>
            <a:r>
              <a:rPr lang="en-US" dirty="0"/>
              <a:t>Error Detection and Correction</a:t>
            </a:r>
          </a:p>
        </p:txBody>
      </p:sp>
      <p:sp>
        <p:nvSpPr>
          <p:cNvPr id="11267" name="Rectangle 3"/>
          <p:cNvSpPr>
            <a:spLocks noGrp="1" noChangeArrowheads="1"/>
          </p:cNvSpPr>
          <p:nvPr>
            <p:ph type="body" idx="1"/>
          </p:nvPr>
        </p:nvSpPr>
        <p:spPr>
          <a:xfrm>
            <a:off x="135468" y="1470991"/>
            <a:ext cx="8821208" cy="5234609"/>
          </a:xfrm>
        </p:spPr>
        <p:txBody>
          <a:bodyPr>
            <a:normAutofit/>
          </a:bodyPr>
          <a:lstStyle/>
          <a:p>
            <a:pPr marL="109728" indent="0" algn="just" eaLnBrk="1" hangingPunct="1">
              <a:buNone/>
            </a:pPr>
            <a:r>
              <a:rPr lang="en-US" b="1" dirty="0"/>
              <a:t>Applications:</a:t>
            </a:r>
          </a:p>
          <a:p>
            <a:pPr algn="just" eaLnBrk="1" hangingPunct="1">
              <a:buFont typeface="Wingdings" pitchFamily="2" charset="2"/>
              <a:buChar char="Ø"/>
            </a:pPr>
            <a:r>
              <a:rPr lang="en-US" dirty="0"/>
              <a:t>On channels that are highly </a:t>
            </a:r>
            <a:r>
              <a:rPr lang="en-US" dirty="0">
                <a:solidFill>
                  <a:srgbClr val="FF0000"/>
                </a:solidFill>
              </a:rPr>
              <a:t>reliable</a:t>
            </a:r>
            <a:r>
              <a:rPr lang="en-US" dirty="0"/>
              <a:t>, such as </a:t>
            </a:r>
            <a:r>
              <a:rPr lang="en-US" b="1" dirty="0"/>
              <a:t>fiber</a:t>
            </a:r>
            <a:r>
              <a:rPr lang="en-US" dirty="0"/>
              <a:t>, it is cheaper to use an </a:t>
            </a:r>
            <a:r>
              <a:rPr lang="en-US" dirty="0">
                <a:solidFill>
                  <a:srgbClr val="FF0000"/>
                </a:solidFill>
              </a:rPr>
              <a:t>error detecting code </a:t>
            </a:r>
            <a:r>
              <a:rPr lang="en-US" dirty="0"/>
              <a:t>and just retransmit the occasional block found to be faulty. </a:t>
            </a:r>
          </a:p>
          <a:p>
            <a:pPr algn="just" eaLnBrk="1" hangingPunct="1">
              <a:buFont typeface="Wingdings" pitchFamily="2" charset="2"/>
              <a:buChar char="Ø"/>
            </a:pPr>
            <a:r>
              <a:rPr lang="en-US" dirty="0"/>
              <a:t>On channels such as </a:t>
            </a:r>
            <a:r>
              <a:rPr lang="en-US" dirty="0">
                <a:solidFill>
                  <a:srgbClr val="FF0000"/>
                </a:solidFill>
              </a:rPr>
              <a:t>wireless</a:t>
            </a:r>
            <a:r>
              <a:rPr lang="en-US" dirty="0"/>
              <a:t> links that make many errors, it is better to use </a:t>
            </a:r>
            <a:r>
              <a:rPr lang="en-US" dirty="0">
                <a:solidFill>
                  <a:srgbClr val="FF0000"/>
                </a:solidFill>
              </a:rPr>
              <a:t>error correcting code </a:t>
            </a:r>
            <a:r>
              <a:rPr lang="en-US" dirty="0"/>
              <a:t>rather than relying on a retransmission, which itself may be in error</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27" y="658091"/>
            <a:ext cx="8229600" cy="1066800"/>
          </a:xfrm>
        </p:spPr>
        <p:txBody>
          <a:bodyPr/>
          <a:lstStyle/>
          <a:p>
            <a:r>
              <a:rPr lang="en-IN" b="1" dirty="0"/>
              <a:t>Error-Correcting Codes</a:t>
            </a:r>
            <a:endParaRPr lang="en-IN" dirty="0"/>
          </a:p>
        </p:txBody>
      </p:sp>
      <p:sp>
        <p:nvSpPr>
          <p:cNvPr id="3" name="Content Placeholder 2"/>
          <p:cNvSpPr>
            <a:spLocks noGrp="1"/>
          </p:cNvSpPr>
          <p:nvPr>
            <p:ph idx="1"/>
          </p:nvPr>
        </p:nvSpPr>
        <p:spPr>
          <a:xfrm>
            <a:off x="415637" y="1736806"/>
            <a:ext cx="8229600" cy="4325112"/>
          </a:xfrm>
        </p:spPr>
        <p:txBody>
          <a:bodyPr/>
          <a:lstStyle/>
          <a:p>
            <a:pPr marL="109728" indent="0">
              <a:buNone/>
            </a:pPr>
            <a:r>
              <a:rPr lang="en-IN" dirty="0"/>
              <a:t>Four different error-correcting codes:</a:t>
            </a:r>
          </a:p>
          <a:p>
            <a:pPr marL="109728" indent="0">
              <a:buNone/>
            </a:pPr>
            <a:r>
              <a:rPr lang="en-IN" dirty="0"/>
              <a:t>1. Hamming codes.</a:t>
            </a:r>
          </a:p>
          <a:p>
            <a:pPr marL="109728" indent="0">
              <a:buNone/>
            </a:pPr>
            <a:r>
              <a:rPr lang="en-IN" dirty="0"/>
              <a:t>2. Binary convolutional codes.</a:t>
            </a:r>
          </a:p>
          <a:p>
            <a:pPr marL="109728" indent="0">
              <a:buNone/>
            </a:pPr>
            <a:r>
              <a:rPr lang="en-IN" dirty="0"/>
              <a:t>3. Reed-Solomon codes.</a:t>
            </a:r>
          </a:p>
          <a:p>
            <a:pPr marL="109728" indent="0">
              <a:buNone/>
            </a:pPr>
            <a:r>
              <a:rPr lang="en-IN" dirty="0"/>
              <a:t>4. Low-Density Parity Check codes.</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38</a:t>
            </a:fld>
            <a:endParaRPr lang="en-US"/>
          </a:p>
        </p:txBody>
      </p:sp>
    </p:spTree>
    <p:extLst>
      <p:ext uri="{BB962C8B-B14F-4D97-AF65-F5344CB8AC3E}">
        <p14:creationId xmlns:p14="http://schemas.microsoft.com/office/powerpoint/2010/main" val="25432750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304800" y="677333"/>
            <a:ext cx="8382000" cy="6028267"/>
          </a:xfrm>
        </p:spPr>
        <p:txBody>
          <a:bodyPr>
            <a:normAutofit/>
          </a:bodyPr>
          <a:lstStyle/>
          <a:p>
            <a:pPr algn="just" eaLnBrk="1" hangingPunct="1">
              <a:buFont typeface="Wingdings" pitchFamily="2" charset="2"/>
              <a:buChar char="Ø"/>
            </a:pPr>
            <a:r>
              <a:rPr lang="en-US" dirty="0">
                <a:latin typeface="Times New Roman" pitchFamily="18" charset="0"/>
                <a:cs typeface="Times New Roman" pitchFamily="18" charset="0"/>
              </a:rPr>
              <a:t>To understand how errors can be handled, it is necessary to look closely at what an error really is</a:t>
            </a:r>
          </a:p>
          <a:p>
            <a:pPr algn="just" eaLnBrk="1" hangingPunct="1">
              <a:buFont typeface="Wingdings" pitchFamily="2" charset="2"/>
              <a:buChar char="Ø"/>
            </a:pPr>
            <a:r>
              <a:rPr lang="en-US" dirty="0">
                <a:latin typeface="Times New Roman" pitchFamily="18" charset="0"/>
                <a:cs typeface="Times New Roman" pitchFamily="18" charset="0"/>
              </a:rPr>
              <a:t>Normally, a </a:t>
            </a:r>
            <a:r>
              <a:rPr lang="en-US" dirty="0">
                <a:solidFill>
                  <a:srgbClr val="FF0000"/>
                </a:solidFill>
                <a:latin typeface="Times New Roman" pitchFamily="18" charset="0"/>
                <a:cs typeface="Times New Roman" pitchFamily="18" charset="0"/>
              </a:rPr>
              <a:t>frame</a:t>
            </a:r>
            <a:r>
              <a:rPr lang="en-US" dirty="0">
                <a:latin typeface="Times New Roman" pitchFamily="18" charset="0"/>
                <a:cs typeface="Times New Roman" pitchFamily="18" charset="0"/>
              </a:rPr>
              <a:t> consists of </a:t>
            </a:r>
            <a:r>
              <a:rPr lang="en-US" b="1" dirty="0">
                <a:solidFill>
                  <a:srgbClr val="FF0000"/>
                </a:solidFill>
                <a:latin typeface="Times New Roman" pitchFamily="18" charset="0"/>
                <a:cs typeface="Times New Roman" pitchFamily="18" charset="0"/>
              </a:rPr>
              <a:t>m</a:t>
            </a:r>
            <a:r>
              <a:rPr lang="en-US" b="1" dirty="0">
                <a:latin typeface="Times New Roman" pitchFamily="18" charset="0"/>
                <a:cs typeface="Times New Roman" pitchFamily="18" charset="0"/>
              </a:rPr>
              <a:t> data </a:t>
            </a:r>
            <a:r>
              <a:rPr lang="en-US" dirty="0">
                <a:latin typeface="Times New Roman" pitchFamily="18" charset="0"/>
                <a:cs typeface="Times New Roman" pitchFamily="18" charset="0"/>
              </a:rPr>
              <a:t>(i.e., message) bits and </a:t>
            </a:r>
            <a:r>
              <a:rPr lang="en-US" b="1" dirty="0">
                <a:solidFill>
                  <a:srgbClr val="FF0000"/>
                </a:solidFill>
                <a:latin typeface="Times New Roman" pitchFamily="18" charset="0"/>
                <a:cs typeface="Times New Roman" pitchFamily="18" charset="0"/>
              </a:rPr>
              <a:t>r </a:t>
            </a:r>
            <a:r>
              <a:rPr lang="en-US" b="1" dirty="0">
                <a:latin typeface="Times New Roman" pitchFamily="18" charset="0"/>
                <a:cs typeface="Times New Roman" pitchFamily="18" charset="0"/>
              </a:rPr>
              <a:t>redundant or check bits</a:t>
            </a:r>
            <a:r>
              <a:rPr lang="en-US" dirty="0">
                <a:latin typeface="Times New Roman" pitchFamily="18" charset="0"/>
                <a:cs typeface="Times New Roman" pitchFamily="18" charset="0"/>
              </a:rPr>
              <a:t>. </a:t>
            </a:r>
          </a:p>
          <a:p>
            <a:pPr algn="just" eaLnBrk="1" hangingPunct="1">
              <a:buFont typeface="Wingdings" pitchFamily="2" charset="2"/>
              <a:buChar char="Ø"/>
            </a:pPr>
            <a:r>
              <a:rPr lang="en-US" dirty="0">
                <a:latin typeface="Times New Roman" pitchFamily="18" charset="0"/>
                <a:cs typeface="Times New Roman" pitchFamily="18" charset="0"/>
              </a:rPr>
              <a:t>Let the total length be </a:t>
            </a:r>
            <a:r>
              <a:rPr lang="en-US" b="1" dirty="0">
                <a:latin typeface="Times New Roman" pitchFamily="18" charset="0"/>
                <a:cs typeface="Times New Roman" pitchFamily="18" charset="0"/>
              </a:rPr>
              <a:t>n (i.e., n = m + r). </a:t>
            </a:r>
          </a:p>
          <a:p>
            <a:pPr algn="just" eaLnBrk="1" hangingPunct="1">
              <a:buFont typeface="Wingdings" pitchFamily="2" charset="2"/>
              <a:buChar char="Ø"/>
            </a:pPr>
            <a:r>
              <a:rPr lang="en-US" dirty="0">
                <a:latin typeface="Times New Roman" pitchFamily="18" charset="0"/>
                <a:cs typeface="Times New Roman" pitchFamily="18" charset="0"/>
              </a:rPr>
              <a:t>An n-bit unit containing data and check bits is often referred to as an </a:t>
            </a:r>
            <a:r>
              <a:rPr lang="en-US" dirty="0">
                <a:solidFill>
                  <a:srgbClr val="FF0000"/>
                </a:solidFill>
                <a:latin typeface="Times New Roman" pitchFamily="18" charset="0"/>
                <a:cs typeface="Times New Roman" pitchFamily="18" charset="0"/>
              </a:rPr>
              <a:t>n-bit</a:t>
            </a:r>
            <a:r>
              <a:rPr lang="en-US" dirty="0">
                <a:latin typeface="Times New Roman" pitchFamily="18" charset="0"/>
                <a:cs typeface="Times New Roman" pitchFamily="18" charset="0"/>
              </a:rPr>
              <a:t> </a:t>
            </a:r>
            <a:r>
              <a:rPr lang="en-US" dirty="0">
                <a:solidFill>
                  <a:srgbClr val="FF0000"/>
                </a:solidFill>
                <a:latin typeface="Times New Roman" pitchFamily="18" charset="0"/>
                <a:cs typeface="Times New Roman" pitchFamily="18" charset="0"/>
              </a:rPr>
              <a:t>codeword</a:t>
            </a:r>
          </a:p>
          <a:p>
            <a:pPr algn="just" eaLnBrk="1" hangingPunct="1">
              <a:buFont typeface="Wingdings" pitchFamily="2" charset="2"/>
              <a:buChar char="Ø"/>
            </a:pPr>
            <a:r>
              <a:rPr lang="en-US" dirty="0">
                <a:latin typeface="Times New Roman" pitchFamily="18" charset="0"/>
                <a:cs typeface="Times New Roman" pitchFamily="18" charset="0"/>
              </a:rPr>
              <a:t>Given any two </a:t>
            </a:r>
            <a:r>
              <a:rPr lang="en-US" dirty="0" err="1">
                <a:latin typeface="Times New Roman" pitchFamily="18" charset="0"/>
                <a:cs typeface="Times New Roman" pitchFamily="18" charset="0"/>
              </a:rPr>
              <a:t>codewords</a:t>
            </a:r>
            <a:r>
              <a:rPr lang="en-US" dirty="0">
                <a:latin typeface="Times New Roman" pitchFamily="18" charset="0"/>
                <a:cs typeface="Times New Roman" pitchFamily="18" charset="0"/>
              </a:rPr>
              <a:t> one transmitted and next received, </a:t>
            </a:r>
          </a:p>
          <a:p>
            <a:pPr algn="just" eaLnBrk="1" hangingPunct="1">
              <a:buFont typeface="Wingdings" pitchFamily="2" charset="2"/>
              <a:buChar char="Ø"/>
            </a:pPr>
            <a:r>
              <a:rPr lang="en-US" dirty="0">
                <a:latin typeface="Times New Roman" pitchFamily="18" charset="0"/>
                <a:cs typeface="Times New Roman" pitchFamily="18" charset="0"/>
              </a:rPr>
              <a:t>say, 10001001 and 10110001, </a:t>
            </a:r>
          </a:p>
        </p:txBody>
      </p:sp>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76838"/>
            <a:ext cx="8229600" cy="5790217"/>
          </a:xfrm>
        </p:spPr>
        <p:txBody>
          <a:bodyPr>
            <a:normAutofit fontScale="92500" lnSpcReduction="10000"/>
          </a:bodyPr>
          <a:lstStyle/>
          <a:p>
            <a:pPr algn="just">
              <a:buFont typeface="Wingdings" pitchFamily="2" charset="2"/>
              <a:buChar char="Ø"/>
            </a:pPr>
            <a:r>
              <a:rPr lang="en-US" dirty="0"/>
              <a:t>it is possible to determine how many corresponding bits differ. </a:t>
            </a:r>
          </a:p>
          <a:p>
            <a:pPr algn="just">
              <a:buFont typeface="Wingdings" pitchFamily="2" charset="2"/>
              <a:buChar char="Ø"/>
            </a:pPr>
            <a:r>
              <a:rPr lang="en-US" dirty="0"/>
              <a:t>In this case, 3 bits differ. </a:t>
            </a:r>
          </a:p>
          <a:p>
            <a:pPr algn="just">
              <a:buFont typeface="Wingdings" pitchFamily="2" charset="2"/>
              <a:buChar char="Ø"/>
            </a:pPr>
            <a:r>
              <a:rPr lang="en-US" dirty="0"/>
              <a:t>To determine how many bits differ, just </a:t>
            </a:r>
            <a:r>
              <a:rPr lang="en-US" dirty="0">
                <a:solidFill>
                  <a:srgbClr val="FF0000"/>
                </a:solidFill>
              </a:rPr>
              <a:t>exclusive OR </a:t>
            </a:r>
            <a:r>
              <a:rPr lang="en-US" dirty="0"/>
              <a:t>the two </a:t>
            </a:r>
            <a:r>
              <a:rPr lang="en-US" dirty="0" err="1"/>
              <a:t>codewords</a:t>
            </a:r>
            <a:r>
              <a:rPr lang="en-US" dirty="0"/>
              <a:t> and </a:t>
            </a:r>
            <a:r>
              <a:rPr lang="en-US" dirty="0">
                <a:solidFill>
                  <a:srgbClr val="FF0000"/>
                </a:solidFill>
              </a:rPr>
              <a:t>count the number of 1 bits in the result.</a:t>
            </a:r>
          </a:p>
          <a:p>
            <a:pPr algn="just">
              <a:buFont typeface="Wingdings" pitchFamily="2" charset="2"/>
              <a:buChar char="Ø"/>
            </a:pPr>
            <a:endParaRPr lang="en-US" dirty="0">
              <a:solidFill>
                <a:srgbClr val="FF0000"/>
              </a:solidFill>
            </a:endParaRPr>
          </a:p>
          <a:p>
            <a:pPr algn="just">
              <a:buFont typeface="Wingdings" pitchFamily="2" charset="2"/>
              <a:buChar char="Ø"/>
            </a:pPr>
            <a:endParaRPr lang="en-US" dirty="0">
              <a:solidFill>
                <a:srgbClr val="FF0000"/>
              </a:solidFill>
            </a:endParaRPr>
          </a:p>
          <a:p>
            <a:pPr algn="just">
              <a:buFont typeface="Wingdings" pitchFamily="2" charset="2"/>
              <a:buChar char="Ø"/>
            </a:pPr>
            <a:endParaRPr lang="en-US" dirty="0">
              <a:solidFill>
                <a:srgbClr val="FF0000"/>
              </a:solidFill>
            </a:endParaRPr>
          </a:p>
          <a:p>
            <a:pPr algn="just">
              <a:buFont typeface="Wingdings" pitchFamily="2" charset="2"/>
              <a:buChar char="Ø"/>
            </a:pPr>
            <a:endParaRPr lang="en-US" dirty="0">
              <a:solidFill>
                <a:srgbClr val="FF0000"/>
              </a:solidFill>
            </a:endParaRPr>
          </a:p>
          <a:p>
            <a:pPr algn="just">
              <a:buFont typeface="Wingdings" pitchFamily="2" charset="2"/>
              <a:buChar char="Ø"/>
            </a:pPr>
            <a:r>
              <a:rPr lang="en-US" dirty="0"/>
              <a:t>The number of bit positions in which two </a:t>
            </a:r>
            <a:r>
              <a:rPr lang="en-US" dirty="0" err="1"/>
              <a:t>codewords</a:t>
            </a:r>
            <a:r>
              <a:rPr lang="en-US" dirty="0"/>
              <a:t> differ is called the </a:t>
            </a:r>
            <a:r>
              <a:rPr lang="en-US" dirty="0">
                <a:solidFill>
                  <a:srgbClr val="FF0000"/>
                </a:solidFill>
              </a:rPr>
              <a:t>Hamming distance</a:t>
            </a:r>
            <a:r>
              <a:rPr lang="en-US" dirty="0"/>
              <a:t>.</a:t>
            </a:r>
          </a:p>
          <a:p>
            <a:pPr algn="just">
              <a:buFont typeface="Wingdings" pitchFamily="2" charset="2"/>
              <a:buChar char="Ø"/>
            </a:pPr>
            <a:r>
              <a:rPr lang="en-US" dirty="0"/>
              <a:t>Error-detecting and error-correcting properties of a code depend on its </a:t>
            </a:r>
            <a:r>
              <a:rPr lang="en-US" dirty="0">
                <a:solidFill>
                  <a:srgbClr val="FF0000"/>
                </a:solidFill>
              </a:rPr>
              <a:t>Hamming distance</a:t>
            </a:r>
          </a:p>
          <a:p>
            <a:pPr algn="just">
              <a:buFont typeface="Wingdings" pitchFamily="2" charset="2"/>
              <a:buChar char="Ø"/>
            </a:pPr>
            <a:endParaRPr lang="en-US" dirty="0"/>
          </a:p>
          <a:p>
            <a:pPr algn="just">
              <a:buFont typeface="Wingdings" pitchFamily="2" charset="2"/>
              <a:buChar char="Ø"/>
            </a:pPr>
            <a:endParaRPr lang="en-US" dirty="0">
              <a:solidFill>
                <a:srgbClr val="FF0000"/>
              </a:solidFill>
            </a:endParaRPr>
          </a:p>
          <a:p>
            <a:endParaRPr lang="en-IN"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40</a:t>
            </a:fld>
            <a:endParaRPr lang="en-US"/>
          </a:p>
        </p:txBody>
      </p:sp>
      <p:pic>
        <p:nvPicPr>
          <p:cNvPr id="5" name="Picture 2"/>
          <p:cNvPicPr>
            <a:picLocks noChangeAspect="1" noChangeArrowheads="1"/>
          </p:cNvPicPr>
          <p:nvPr/>
        </p:nvPicPr>
        <p:blipFill>
          <a:blip r:embed="rId2" cstate="print"/>
          <a:srcRect/>
          <a:stretch>
            <a:fillRect/>
          </a:stretch>
        </p:blipFill>
        <p:spPr bwMode="auto">
          <a:xfrm>
            <a:off x="3818209" y="3203476"/>
            <a:ext cx="1411112" cy="1058334"/>
          </a:xfrm>
          <a:prstGeom prst="rect">
            <a:avLst/>
          </a:prstGeom>
          <a:noFill/>
          <a:ln w="9525">
            <a:noFill/>
            <a:miter lim="800000"/>
            <a:headEnd/>
            <a:tailEnd/>
          </a:ln>
          <a:effectLst/>
        </p:spPr>
      </p:pic>
    </p:spTree>
    <p:extLst>
      <p:ext uri="{BB962C8B-B14F-4D97-AF65-F5344CB8AC3E}">
        <p14:creationId xmlns:p14="http://schemas.microsoft.com/office/powerpoint/2010/main" val="224859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35468" y="677333"/>
            <a:ext cx="8821208" cy="6028267"/>
          </a:xfrm>
        </p:spPr>
        <p:txBody>
          <a:bodyPr>
            <a:normAutofit/>
          </a:bodyPr>
          <a:lstStyle/>
          <a:p>
            <a:pPr algn="ctr">
              <a:buFont typeface="Wingdings" pitchFamily="2" charset="2"/>
              <a:buChar char="Ø"/>
            </a:pPr>
            <a:r>
              <a:rPr lang="en-US" b="1" u="sng" dirty="0"/>
              <a:t>Single bit Error Correction using Hamming code</a:t>
            </a:r>
          </a:p>
          <a:p>
            <a:pPr algn="just">
              <a:buFont typeface="Wingdings" pitchFamily="2" charset="2"/>
              <a:buChar char="Ø"/>
            </a:pPr>
            <a:r>
              <a:rPr lang="en-US" dirty="0"/>
              <a:t>Calculating the Hamming Code</a:t>
            </a:r>
            <a:r>
              <a:rPr lang="en-US" b="1" dirty="0"/>
              <a:t> </a:t>
            </a:r>
            <a:endParaRPr lang="en-US" dirty="0"/>
          </a:p>
          <a:p>
            <a:pPr algn="just">
              <a:buNone/>
            </a:pPr>
            <a:r>
              <a:rPr lang="en-US" dirty="0"/>
              <a:t>	The key to the Hamming Code is the </a:t>
            </a:r>
            <a:r>
              <a:rPr lang="en-US" dirty="0">
                <a:solidFill>
                  <a:srgbClr val="FF0000"/>
                </a:solidFill>
              </a:rPr>
              <a:t>use of extra parity bits</a:t>
            </a:r>
            <a:r>
              <a:rPr lang="en-US" dirty="0"/>
              <a:t> to allow the identification of a single error. </a:t>
            </a:r>
          </a:p>
          <a:p>
            <a:pPr algn="just">
              <a:buFont typeface="Arial" pitchFamily="34" charset="0"/>
              <a:buChar char="•"/>
            </a:pPr>
            <a:r>
              <a:rPr lang="en-US" dirty="0"/>
              <a:t>Creating the code word is as follows: </a:t>
            </a:r>
          </a:p>
          <a:p>
            <a:pPr lvl="1" algn="just">
              <a:buFont typeface="Wingdings" pitchFamily="2" charset="2"/>
              <a:buChar char="ü"/>
            </a:pPr>
            <a:r>
              <a:rPr lang="en-US" sz="2800" dirty="0">
                <a:solidFill>
                  <a:schemeClr val="tx1"/>
                </a:solidFill>
              </a:rPr>
              <a:t>Mark</a:t>
            </a:r>
            <a:r>
              <a:rPr lang="en-US" sz="2800" dirty="0">
                <a:solidFill>
                  <a:srgbClr val="FF0000"/>
                </a:solidFill>
              </a:rPr>
              <a:t> all bit positions that are powers of two </a:t>
            </a:r>
            <a:r>
              <a:rPr lang="en-US" sz="2800" dirty="0">
                <a:solidFill>
                  <a:schemeClr val="tx1"/>
                </a:solidFill>
              </a:rPr>
              <a:t>as</a:t>
            </a:r>
            <a:r>
              <a:rPr lang="en-US" sz="2800" dirty="0">
                <a:solidFill>
                  <a:srgbClr val="FF0000"/>
                </a:solidFill>
              </a:rPr>
              <a:t> parity bits. </a:t>
            </a:r>
            <a:r>
              <a:rPr lang="en-US" sz="2800" dirty="0">
                <a:solidFill>
                  <a:schemeClr val="tx1"/>
                </a:solidFill>
              </a:rPr>
              <a:t>(positions 1, 2, 4, 8, 16, 32, 64, etc.) </a:t>
            </a:r>
          </a:p>
          <a:p>
            <a:pPr lvl="1" algn="just">
              <a:buFont typeface="Wingdings" pitchFamily="2" charset="2"/>
              <a:buChar char="ü"/>
            </a:pPr>
            <a:r>
              <a:rPr lang="en-US" sz="2800" dirty="0">
                <a:solidFill>
                  <a:schemeClr val="tx1"/>
                </a:solidFill>
              </a:rPr>
              <a:t>All </a:t>
            </a:r>
            <a:r>
              <a:rPr lang="en-US" sz="2800" dirty="0">
                <a:solidFill>
                  <a:srgbClr val="FF0000"/>
                </a:solidFill>
              </a:rPr>
              <a:t>other bit positions </a:t>
            </a:r>
            <a:r>
              <a:rPr lang="en-US" sz="2800" dirty="0">
                <a:solidFill>
                  <a:schemeClr val="tx1"/>
                </a:solidFill>
              </a:rPr>
              <a:t>are for the </a:t>
            </a:r>
            <a:r>
              <a:rPr lang="en-US" sz="2800" dirty="0">
                <a:solidFill>
                  <a:srgbClr val="FF0000"/>
                </a:solidFill>
              </a:rPr>
              <a:t>data </a:t>
            </a:r>
            <a:r>
              <a:rPr lang="en-US" sz="2800" dirty="0">
                <a:solidFill>
                  <a:schemeClr val="tx1"/>
                </a:solidFill>
              </a:rPr>
              <a:t>to be encoded. (positions 3, 5, 6, 7, 9, 10, 11, 12, 13, 14, 15, 17, etc.)</a:t>
            </a:r>
            <a:r>
              <a:rPr lang="en-US" sz="2800" dirty="0">
                <a:solidFill>
                  <a:srgbClr val="FF0000"/>
                </a:solidFill>
              </a:rPr>
              <a:t>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42</a:t>
            </a:fld>
            <a:endParaRPr lang="en-US"/>
          </a:p>
        </p:txBody>
      </p:sp>
      <p:pic>
        <p:nvPicPr>
          <p:cNvPr id="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325" y="1888693"/>
            <a:ext cx="8375650" cy="263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68613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35468" y="677333"/>
            <a:ext cx="8821208" cy="6028267"/>
          </a:xfrm>
        </p:spPr>
        <p:txBody>
          <a:bodyPr>
            <a:normAutofit lnSpcReduction="10000"/>
          </a:bodyPr>
          <a:lstStyle/>
          <a:p>
            <a:pPr algn="just">
              <a:buFont typeface="Wingdings" pitchFamily="2" charset="2"/>
              <a:buChar char="ü"/>
            </a:pPr>
            <a:r>
              <a:rPr lang="en-US" dirty="0">
                <a:latin typeface="Times New Roman" pitchFamily="18" charset="0"/>
                <a:cs typeface="Times New Roman" pitchFamily="18" charset="0"/>
              </a:rPr>
              <a:t>The position of the parity bit determines the sequence of bits that it alternately checks and skips.</a:t>
            </a:r>
            <a:endParaRPr lang="en-US" sz="1200" dirty="0">
              <a:latin typeface="Times New Roman" pitchFamily="18" charset="0"/>
              <a:cs typeface="Times New Roman" pitchFamily="18" charset="0"/>
            </a:endParaRPr>
          </a:p>
          <a:p>
            <a:pPr algn="just">
              <a:buNone/>
            </a:pPr>
            <a:br>
              <a:rPr lang="en-US" dirty="0">
                <a:latin typeface="Times New Roman" pitchFamily="18" charset="0"/>
                <a:cs typeface="Times New Roman" pitchFamily="18" charset="0"/>
              </a:rPr>
            </a:br>
            <a:r>
              <a:rPr lang="en-US" sz="2400" b="1" dirty="0">
                <a:latin typeface="Times New Roman" pitchFamily="18" charset="0"/>
                <a:cs typeface="Times New Roman" pitchFamily="18" charset="0"/>
              </a:rPr>
              <a:t>Position 1</a:t>
            </a:r>
            <a:r>
              <a:rPr lang="en-US" sz="2400" dirty="0">
                <a:latin typeface="Times New Roman" pitchFamily="18" charset="0"/>
                <a:cs typeface="Times New Roman" pitchFamily="18" charset="0"/>
              </a:rPr>
              <a:t>: check 1 bit, skip 1 bit, check 1 bit, skip 1 bit, etc. (1,3,5,7,9,11,13,15,...)</a:t>
            </a:r>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Position 2</a:t>
            </a:r>
            <a:r>
              <a:rPr lang="en-US" sz="2400" dirty="0">
                <a:latin typeface="Times New Roman" pitchFamily="18" charset="0"/>
                <a:cs typeface="Times New Roman" pitchFamily="18" charset="0"/>
              </a:rPr>
              <a:t>: check 2 bits, skip 2 bits, check 2 bits, skip 2 bits, etc. (2,3,6,7,10,11,14,15,...)</a:t>
            </a:r>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Position 4</a:t>
            </a:r>
            <a:r>
              <a:rPr lang="en-US" sz="2400" dirty="0">
                <a:latin typeface="Times New Roman" pitchFamily="18" charset="0"/>
                <a:cs typeface="Times New Roman" pitchFamily="18" charset="0"/>
              </a:rPr>
              <a:t>: check 4 bits, skip 4 bits, check 4 bits, skip 4 bits, etc. (4,5,6,7,12,13,14,15,20,21,22,23,...)</a:t>
            </a:r>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Position 8</a:t>
            </a:r>
            <a:r>
              <a:rPr lang="en-US" sz="2400" dirty="0">
                <a:latin typeface="Times New Roman" pitchFamily="18" charset="0"/>
                <a:cs typeface="Times New Roman" pitchFamily="18" charset="0"/>
              </a:rPr>
              <a:t>: check 8 bits, skip 8 bits, check 8 bits, skip 8 bits, etc. (8-15,24-31,40-47,...)</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Set a </a:t>
            </a:r>
            <a:r>
              <a:rPr lang="en-US" b="1" dirty="0">
                <a:latin typeface="Times New Roman" pitchFamily="18" charset="0"/>
                <a:cs typeface="Times New Roman" pitchFamily="18" charset="0"/>
              </a:rPr>
              <a:t>parity bit to 1 </a:t>
            </a:r>
            <a:r>
              <a:rPr lang="en-US" dirty="0">
                <a:latin typeface="Times New Roman" pitchFamily="18" charset="0"/>
                <a:cs typeface="Times New Roman" pitchFamily="18" charset="0"/>
              </a:rPr>
              <a:t>if the </a:t>
            </a:r>
            <a:r>
              <a:rPr lang="en-US" b="1" dirty="0">
                <a:latin typeface="Times New Roman" pitchFamily="18" charset="0"/>
                <a:cs typeface="Times New Roman" pitchFamily="18" charset="0"/>
              </a:rPr>
              <a:t>total number of ones</a:t>
            </a:r>
            <a:r>
              <a:rPr lang="en-US" dirty="0">
                <a:latin typeface="Times New Roman" pitchFamily="18" charset="0"/>
                <a:cs typeface="Times New Roman" pitchFamily="18" charset="0"/>
              </a:rPr>
              <a:t> in the positions it checks is </a:t>
            </a:r>
            <a:r>
              <a:rPr lang="en-US" b="1" dirty="0">
                <a:latin typeface="Times New Roman" pitchFamily="18" charset="0"/>
                <a:cs typeface="Times New Roman" pitchFamily="18" charset="0"/>
              </a:rPr>
              <a:t>odd</a:t>
            </a:r>
            <a:r>
              <a:rPr lang="en-US" dirty="0">
                <a:latin typeface="Times New Roman" pitchFamily="18" charset="0"/>
                <a:cs typeface="Times New Roman" pitchFamily="18" charset="0"/>
              </a:rPr>
              <a:t>. </a:t>
            </a:r>
          </a:p>
          <a:p>
            <a:pPr algn="just">
              <a:buFont typeface="Wingdings" pitchFamily="2" charset="2"/>
              <a:buChar char="ü"/>
            </a:pPr>
            <a:r>
              <a:rPr lang="en-US" dirty="0">
                <a:latin typeface="Times New Roman" pitchFamily="18" charset="0"/>
                <a:cs typeface="Times New Roman" pitchFamily="18" charset="0"/>
              </a:rPr>
              <a:t>Set a </a:t>
            </a:r>
            <a:r>
              <a:rPr lang="en-US" b="1" dirty="0">
                <a:latin typeface="Times New Roman" pitchFamily="18" charset="0"/>
                <a:cs typeface="Times New Roman" pitchFamily="18" charset="0"/>
              </a:rPr>
              <a:t>parity bit to 0 </a:t>
            </a:r>
            <a:r>
              <a:rPr lang="en-US" dirty="0">
                <a:latin typeface="Times New Roman" pitchFamily="18" charset="0"/>
                <a:cs typeface="Times New Roman" pitchFamily="18" charset="0"/>
              </a:rPr>
              <a:t>if the </a:t>
            </a:r>
            <a:r>
              <a:rPr lang="en-US" b="1" dirty="0">
                <a:latin typeface="Times New Roman" pitchFamily="18" charset="0"/>
                <a:cs typeface="Times New Roman" pitchFamily="18" charset="0"/>
              </a:rPr>
              <a:t>total number of ones </a:t>
            </a:r>
            <a:r>
              <a:rPr lang="en-US" dirty="0">
                <a:latin typeface="Times New Roman" pitchFamily="18" charset="0"/>
                <a:cs typeface="Times New Roman" pitchFamily="18" charset="0"/>
              </a:rPr>
              <a:t>in the positions it checks is even. </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35468" y="580348"/>
            <a:ext cx="8821208" cy="6374631"/>
          </a:xfrm>
        </p:spPr>
        <p:txBody>
          <a:bodyPr>
            <a:normAutofit/>
          </a:bodyPr>
          <a:lstStyle/>
          <a:p>
            <a:pPr>
              <a:buFont typeface="Wingdings" pitchFamily="2" charset="2"/>
              <a:buChar char="Ø"/>
            </a:pPr>
            <a:r>
              <a:rPr lang="en-US" sz="2600" dirty="0"/>
              <a:t>Example: the message is </a:t>
            </a:r>
            <a:r>
              <a:rPr lang="en-IN" sz="2400" dirty="0"/>
              <a:t>1001101</a:t>
            </a:r>
            <a:endParaRPr lang="en-US" sz="2600" dirty="0"/>
          </a:p>
          <a:p>
            <a:pPr>
              <a:buFont typeface="Wingdings" pitchFamily="2" charset="2"/>
              <a:buChar char="Ø"/>
            </a:pPr>
            <a:endParaRPr lang="en-US" sz="2600" dirty="0"/>
          </a:p>
          <a:p>
            <a:pPr>
              <a:buFont typeface="Wingdings" pitchFamily="2" charset="2"/>
              <a:buChar char="Ø"/>
            </a:pPr>
            <a:endParaRPr lang="en-US" sz="2600" dirty="0"/>
          </a:p>
          <a:p>
            <a:pPr lvl="0">
              <a:buFont typeface="Arial" pitchFamily="34" charset="0"/>
              <a:buChar char="•"/>
            </a:pPr>
            <a:r>
              <a:rPr lang="en-US" sz="2600" dirty="0"/>
              <a:t>Position 1 checks bits 1,3,5,7,9,11: </a:t>
            </a:r>
            <a:br>
              <a:rPr lang="en-US" sz="2600" b="1" dirty="0"/>
            </a:br>
            <a:r>
              <a:rPr lang="en-US" sz="2600" b="1" dirty="0"/>
              <a:t>-,1,0,1,0,1</a:t>
            </a:r>
            <a:r>
              <a:rPr lang="en-US" sz="2600" dirty="0"/>
              <a:t>.  odd no of 1’s so parity so set position 1 to 1:</a:t>
            </a:r>
          </a:p>
          <a:p>
            <a:pPr lvl="0">
              <a:buFont typeface="Arial" pitchFamily="34" charset="0"/>
              <a:buChar char="•"/>
            </a:pPr>
            <a:r>
              <a:rPr lang="en-US" sz="2600" dirty="0"/>
              <a:t> </a:t>
            </a:r>
          </a:p>
          <a:p>
            <a:pPr lvl="0">
              <a:buFont typeface="Arial" pitchFamily="34" charset="0"/>
              <a:buChar char="•"/>
            </a:pPr>
            <a:endParaRPr lang="en-US" sz="2600" dirty="0"/>
          </a:p>
          <a:p>
            <a:pPr lvl="0">
              <a:buNone/>
            </a:pPr>
            <a:r>
              <a:rPr lang="en-US" sz="2600" b="1" dirty="0"/>
              <a:t>	</a:t>
            </a:r>
            <a:r>
              <a:rPr lang="en-US" sz="2600" dirty="0"/>
              <a:t>Position 2 checks bits 2,3,6,7,10,11:</a:t>
            </a:r>
            <a:br>
              <a:rPr lang="en-US" sz="2600" dirty="0"/>
            </a:br>
            <a:r>
              <a:rPr lang="en-US" sz="2600" dirty="0"/>
              <a:t>-,1,1,1,0,1. Even no of 1’s. So parity at position 2 is 0: </a:t>
            </a:r>
          </a:p>
          <a:p>
            <a:pPr lvl="0">
              <a:buNone/>
            </a:pPr>
            <a:r>
              <a:rPr lang="en-US" sz="2600" dirty="0"/>
              <a:t>	</a:t>
            </a:r>
          </a:p>
          <a:p>
            <a:pPr lvl="0">
              <a:buNone/>
            </a:pPr>
            <a:endParaRPr lang="en-US" sz="2600" dirty="0"/>
          </a:p>
          <a:p>
            <a:pPr lvl="0">
              <a:buNone/>
            </a:pPr>
            <a:r>
              <a:rPr lang="en-US" sz="2600" dirty="0"/>
              <a:t>Position 4 checks bits 4,5,6,7,12:</a:t>
            </a:r>
            <a:br>
              <a:rPr lang="en-US" sz="2600" dirty="0"/>
            </a:br>
            <a:r>
              <a:rPr lang="en-US" sz="2600" dirty="0"/>
              <a:t>-,0,1,1. Even no of 1’s. So parity at position 4 is 0 : </a:t>
            </a:r>
          </a:p>
          <a:p>
            <a:pPr lvl="0">
              <a:buNone/>
            </a:pPr>
            <a:r>
              <a:rPr lang="en-US" sz="2600" dirty="0"/>
              <a:t>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44</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705" y="1152092"/>
            <a:ext cx="7139421" cy="856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4656" y="1115146"/>
            <a:ext cx="5657417" cy="323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705" y="2826327"/>
            <a:ext cx="7832150" cy="81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722" y="4552949"/>
            <a:ext cx="7490115" cy="82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8099" y="6157442"/>
            <a:ext cx="7156738" cy="720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35468" y="677333"/>
            <a:ext cx="8821208" cy="6028267"/>
          </a:xfrm>
        </p:spPr>
        <p:txBody>
          <a:bodyPr>
            <a:normAutofit/>
          </a:bodyPr>
          <a:lstStyle/>
          <a:p>
            <a:pPr lvl="0">
              <a:buFont typeface="Arial" pitchFamily="34" charset="0"/>
              <a:buChar char="•"/>
            </a:pPr>
            <a:r>
              <a:rPr lang="en-US" dirty="0"/>
              <a:t>Position 8 checks bits 8,9,10,11,12:</a:t>
            </a:r>
            <a:br>
              <a:rPr lang="en-US" dirty="0"/>
            </a:br>
            <a:r>
              <a:rPr lang="en-US" dirty="0"/>
              <a:t>-0,0,1. odd no of 1’s so parity so set position 8 to 1 : </a:t>
            </a:r>
          </a:p>
          <a:p>
            <a:pPr lvl="0">
              <a:buNone/>
            </a:pPr>
            <a:r>
              <a:rPr lang="en-US" dirty="0"/>
              <a:t>	</a:t>
            </a:r>
          </a:p>
          <a:p>
            <a:pPr lvl="0">
              <a:buNone/>
            </a:pPr>
            <a:endParaRPr lang="en-US" dirty="0"/>
          </a:p>
          <a:p>
            <a:pPr lvl="0">
              <a:buNone/>
            </a:pPr>
            <a:r>
              <a:rPr lang="en-US" dirty="0"/>
              <a:t> So the Code word is  10011100101. </a:t>
            </a:r>
          </a:p>
          <a:p>
            <a:pPr lvl="0">
              <a:buFont typeface="Wingdings" pitchFamily="2" charset="2"/>
              <a:buChar char="Ø"/>
            </a:pPr>
            <a:r>
              <a:rPr lang="en-US" b="1" dirty="0"/>
              <a:t>Finding and fixing a single bit error </a:t>
            </a:r>
            <a:endParaRPr lang="en-US" dirty="0"/>
          </a:p>
          <a:p>
            <a:pPr lvl="1" algn="just">
              <a:buFont typeface="Wingdings" pitchFamily="2" charset="2"/>
              <a:buChar char="ü"/>
            </a:pPr>
            <a:r>
              <a:rPr lang="en-US" sz="2400" dirty="0"/>
              <a:t>Suppose the word that was received was 1001</a:t>
            </a:r>
            <a:r>
              <a:rPr lang="en-US" sz="2400" b="1" dirty="0"/>
              <a:t>0</a:t>
            </a:r>
            <a:r>
              <a:rPr lang="en-US" sz="2400" dirty="0"/>
              <a:t>100101. instead. </a:t>
            </a:r>
          </a:p>
          <a:p>
            <a:pPr lvl="1" algn="just">
              <a:buFont typeface="Wingdings" pitchFamily="2" charset="2"/>
              <a:buChar char="ü"/>
            </a:pPr>
            <a:r>
              <a:rPr lang="en-US" sz="2400" dirty="0"/>
              <a:t>Then the receiver could calculate which bit was wrong and correct it. </a:t>
            </a:r>
          </a:p>
          <a:p>
            <a:pPr lvl="1" algn="just">
              <a:buFont typeface="Wingdings" pitchFamily="2" charset="2"/>
              <a:buChar char="ü"/>
            </a:pPr>
            <a:r>
              <a:rPr lang="en-US" sz="2400" dirty="0"/>
              <a:t>The method is to verify each check bit.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370" y="1607993"/>
            <a:ext cx="7932594"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87" y="5389419"/>
            <a:ext cx="8814232" cy="1357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74806"/>
            <a:ext cx="3629891" cy="5329012"/>
          </a:xfrm>
        </p:spPr>
        <p:txBody>
          <a:bodyPr>
            <a:noAutofit/>
          </a:bodyPr>
          <a:lstStyle/>
          <a:p>
            <a:pPr lvl="1" algn="just">
              <a:buFont typeface="Wingdings" pitchFamily="2" charset="2"/>
              <a:buChar char="ü"/>
            </a:pPr>
            <a:r>
              <a:rPr lang="en-US" sz="2400" dirty="0"/>
              <a:t>Write down all the incorrect parity bits. </a:t>
            </a:r>
          </a:p>
          <a:p>
            <a:pPr lvl="1" algn="just">
              <a:buFont typeface="Wingdings" pitchFamily="2" charset="2"/>
              <a:buChar char="ü"/>
            </a:pPr>
            <a:r>
              <a:rPr lang="en-US" sz="2400" dirty="0"/>
              <a:t>Doing so, we will discover which parity bits are incorrect.</a:t>
            </a:r>
          </a:p>
          <a:p>
            <a:pPr lvl="1" algn="just">
              <a:buFont typeface="Wingdings" pitchFamily="2" charset="2"/>
              <a:buChar char="ü"/>
            </a:pPr>
            <a:r>
              <a:rPr lang="en-US" sz="2400" dirty="0"/>
              <a:t>In general, check each parity bit and add the positions that are wrong, this will give you the location of the bad bit. </a:t>
            </a:r>
          </a:p>
          <a:p>
            <a:endParaRPr lang="en-IN"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46</a:t>
            </a:fld>
            <a:endParaRPr lang="en-US"/>
          </a:p>
        </p:txBody>
      </p:sp>
      <p:pic>
        <p:nvPicPr>
          <p:cNvPr id="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7900" y="328902"/>
            <a:ext cx="5122863" cy="609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769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8982"/>
            <a:ext cx="8229600" cy="5715554"/>
          </a:xfrm>
        </p:spPr>
        <p:txBody>
          <a:bodyPr/>
          <a:lstStyle/>
          <a:p>
            <a:pPr algn="just"/>
            <a:r>
              <a:rPr lang="en-IN" b="1" dirty="0">
                <a:latin typeface="Times New Roman" pitchFamily="18" charset="0"/>
                <a:cs typeface="Times New Roman" pitchFamily="18" charset="0"/>
              </a:rPr>
              <a:t>Redundant bits </a:t>
            </a:r>
            <a:r>
              <a:rPr lang="en-IN" dirty="0">
                <a:latin typeface="Times New Roman" pitchFamily="18" charset="0"/>
                <a:cs typeface="Times New Roman" pitchFamily="18" charset="0"/>
              </a:rPr>
              <a:t>are extra binary bits that are generated and added to the information-carrying bits of data transfer to ensure that no bits were lost during the data transfer.</a:t>
            </a:r>
          </a:p>
          <a:p>
            <a:pPr algn="just"/>
            <a:r>
              <a:rPr lang="en-IN" dirty="0">
                <a:latin typeface="Times New Roman" pitchFamily="18" charset="0"/>
                <a:cs typeface="Times New Roman" pitchFamily="18" charset="0"/>
              </a:rPr>
              <a:t>The number of redundant bits can be calculated using the following formula:</a:t>
            </a:r>
          </a:p>
          <a:p>
            <a:pPr algn="just"/>
            <a:endParaRPr lang="en-IN"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a:p>
            <a:pPr algn="just"/>
            <a:r>
              <a:rPr lang="en-IN" dirty="0">
                <a:latin typeface="Times New Roman" pitchFamily="18" charset="0"/>
                <a:cs typeface="Times New Roman" pitchFamily="18" charset="0"/>
              </a:rPr>
              <a:t>Given </a:t>
            </a:r>
            <a:r>
              <a:rPr lang="en-IN" i="1" dirty="0">
                <a:latin typeface="Times New Roman" pitchFamily="18" charset="0"/>
                <a:cs typeface="Times New Roman" pitchFamily="18" charset="0"/>
              </a:rPr>
              <a:t>m</a:t>
            </a:r>
            <a:r>
              <a:rPr lang="en-IN" dirty="0">
                <a:latin typeface="Times New Roman" pitchFamily="18" charset="0"/>
                <a:cs typeface="Times New Roman" pitchFamily="18" charset="0"/>
              </a:rPr>
              <a:t>, this puts a lower limit on the number of check bits needed to correct single errors.</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47</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7753" y="3505200"/>
            <a:ext cx="2759184" cy="822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1875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054" y="1750661"/>
            <a:ext cx="8229600" cy="4325112"/>
          </a:xfrm>
        </p:spPr>
        <p:txBody>
          <a:bodyPr/>
          <a:lstStyle/>
          <a:p>
            <a:pPr algn="just"/>
            <a:r>
              <a:rPr lang="en-IN" dirty="0" err="1"/>
              <a:t>Eg</a:t>
            </a:r>
            <a:r>
              <a:rPr lang="en-IN" dirty="0"/>
              <a:t>: Suppose the data to be transmitted is 1011001, how many redundancy bits are required. Also calculate the code word using Hamming code method.</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48</a:t>
            </a:fld>
            <a:endParaRPr lang="en-US"/>
          </a:p>
        </p:txBody>
      </p:sp>
    </p:spTree>
    <p:extLst>
      <p:ext uri="{BB962C8B-B14F-4D97-AF65-F5344CB8AC3E}">
        <p14:creationId xmlns:p14="http://schemas.microsoft.com/office/powerpoint/2010/main" val="29508273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113" y="637309"/>
            <a:ext cx="8433232" cy="5563154"/>
          </a:xfrm>
        </p:spPr>
        <p:txBody>
          <a:bodyPr/>
          <a:lstStyle/>
          <a:p>
            <a:pPr marL="109728" indent="0" algn="just">
              <a:buNone/>
            </a:pPr>
            <a:r>
              <a:rPr lang="en-US" b="1" dirty="0"/>
              <a:t>Error-Detecting Codes:</a:t>
            </a:r>
          </a:p>
          <a:p>
            <a:pPr lvl="2" algn="just">
              <a:buFont typeface="Wingdings" pitchFamily="2" charset="2"/>
              <a:buChar char="Ø"/>
            </a:pPr>
            <a:r>
              <a:rPr lang="en-US" dirty="0">
                <a:solidFill>
                  <a:schemeClr val="tx1"/>
                </a:solidFill>
              </a:rPr>
              <a:t>It is to include only enough redundancy to allow the receiver to deduce that an error occurred</a:t>
            </a:r>
          </a:p>
          <a:p>
            <a:pPr lvl="2" algn="just">
              <a:buFont typeface="Wingdings" pitchFamily="2" charset="2"/>
              <a:buChar char="Ø"/>
            </a:pPr>
            <a:r>
              <a:rPr lang="en-US" dirty="0">
                <a:solidFill>
                  <a:schemeClr val="tx1"/>
                </a:solidFill>
              </a:rPr>
              <a:t>have to request a retransmission. </a:t>
            </a:r>
          </a:p>
          <a:p>
            <a:endParaRPr lang="en-IN"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49</a:t>
            </a:fld>
            <a:endParaRPr lang="en-US"/>
          </a:p>
        </p:txBody>
      </p:sp>
      <p:pic>
        <p:nvPicPr>
          <p:cNvPr id="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88" y="2313710"/>
            <a:ext cx="7985125" cy="4544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0785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7926" y="484909"/>
            <a:ext cx="8756073" cy="643467"/>
          </a:xfrm>
        </p:spPr>
        <p:txBody>
          <a:bodyPr>
            <a:normAutofit fontScale="90000"/>
          </a:bodyPr>
          <a:lstStyle/>
          <a:p>
            <a:pPr eaLnBrk="1" hangingPunct="1"/>
            <a:r>
              <a:rPr lang="en-US" u="sng" dirty="0"/>
              <a:t>Error Detection</a:t>
            </a:r>
          </a:p>
        </p:txBody>
      </p:sp>
      <p:sp>
        <p:nvSpPr>
          <p:cNvPr id="11267" name="Rectangle 3"/>
          <p:cNvSpPr>
            <a:spLocks noGrp="1" noChangeArrowheads="1"/>
          </p:cNvSpPr>
          <p:nvPr>
            <p:ph idx="1"/>
          </p:nvPr>
        </p:nvSpPr>
        <p:spPr>
          <a:xfrm>
            <a:off x="135468" y="1094509"/>
            <a:ext cx="8821208" cy="5611090"/>
          </a:xfrm>
        </p:spPr>
        <p:txBody>
          <a:bodyPr>
            <a:normAutofit/>
          </a:bodyPr>
          <a:lstStyle/>
          <a:p>
            <a:pPr algn="just">
              <a:buFont typeface="Wingdings" pitchFamily="2" charset="2"/>
              <a:buChar char="§"/>
            </a:pPr>
            <a:r>
              <a:rPr lang="en-US" dirty="0"/>
              <a:t>Using copper wire or fiber, the error rate is much lower</a:t>
            </a:r>
          </a:p>
          <a:p>
            <a:pPr algn="just">
              <a:buFont typeface="Wingdings" pitchFamily="2" charset="2"/>
              <a:buChar char="§"/>
            </a:pPr>
            <a:r>
              <a:rPr lang="en-US" dirty="0"/>
              <a:t>so error detection and retransmission is usually more </a:t>
            </a:r>
            <a:r>
              <a:rPr lang="en-US" dirty="0">
                <a:solidFill>
                  <a:srgbClr val="FF0000"/>
                </a:solidFill>
              </a:rPr>
              <a:t>efficient</a:t>
            </a:r>
            <a:r>
              <a:rPr lang="en-US" dirty="0"/>
              <a:t> for dealing with the occasional error</a:t>
            </a:r>
          </a:p>
          <a:p>
            <a:endParaRPr lang="en-IN" dirty="0"/>
          </a:p>
          <a:p>
            <a:r>
              <a:rPr lang="en-IN" dirty="0"/>
              <a:t>Different error-detecting codes are:</a:t>
            </a:r>
          </a:p>
          <a:p>
            <a:r>
              <a:rPr lang="en-IN" dirty="0"/>
              <a:t>1. Parity.</a:t>
            </a:r>
          </a:p>
          <a:p>
            <a:r>
              <a:rPr lang="en-IN" dirty="0"/>
              <a:t>2. Cyclic Redundancy Checks (CRCs).</a:t>
            </a:r>
            <a:r>
              <a:rPr lang="en-US" dirty="0"/>
              <a:t>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364" y="755072"/>
            <a:ext cx="8229600" cy="1066800"/>
          </a:xfrm>
        </p:spPr>
        <p:txBody>
          <a:bodyPr/>
          <a:lstStyle/>
          <a:p>
            <a:r>
              <a:rPr lang="en-IN" dirty="0"/>
              <a:t>Parity</a:t>
            </a:r>
          </a:p>
        </p:txBody>
      </p:sp>
      <p:sp>
        <p:nvSpPr>
          <p:cNvPr id="3" name="Content Placeholder 2"/>
          <p:cNvSpPr>
            <a:spLocks noGrp="1"/>
          </p:cNvSpPr>
          <p:nvPr>
            <p:ph idx="1"/>
          </p:nvPr>
        </p:nvSpPr>
        <p:spPr>
          <a:xfrm>
            <a:off x="457200" y="1773382"/>
            <a:ext cx="8229600" cy="4801154"/>
          </a:xfrm>
        </p:spPr>
        <p:txBody>
          <a:bodyPr>
            <a:normAutofit/>
          </a:bodyPr>
          <a:lstStyle/>
          <a:p>
            <a:pPr algn="just"/>
            <a:r>
              <a:rPr lang="en-IN" dirty="0"/>
              <a:t>The parity bit is chosen so that the number of 1 bits in the </a:t>
            </a:r>
            <a:r>
              <a:rPr lang="en-IN" dirty="0" err="1"/>
              <a:t>codeword</a:t>
            </a:r>
            <a:r>
              <a:rPr lang="en-IN" dirty="0"/>
              <a:t> is even (or odd). </a:t>
            </a:r>
          </a:p>
          <a:p>
            <a:pPr algn="just"/>
            <a:r>
              <a:rPr lang="en-IN" dirty="0"/>
              <a:t>Doing this is equivalent to computing the (even) parity bit as the modulo 2 sum or XOR of the data bits. </a:t>
            </a:r>
          </a:p>
          <a:p>
            <a:pPr algn="just"/>
            <a:r>
              <a:rPr lang="en-IN" dirty="0"/>
              <a:t>For example, when 1011010 is sent in </a:t>
            </a:r>
            <a:r>
              <a:rPr lang="en-IN" i="1" dirty="0">
                <a:effectLst>
                  <a:outerShdw blurRad="38100" dist="38100" dir="2700000" algn="tl">
                    <a:srgbClr val="000000">
                      <a:alpha val="43137"/>
                    </a:srgbClr>
                  </a:outerShdw>
                </a:effectLst>
              </a:rPr>
              <a:t>even parity</a:t>
            </a:r>
            <a:r>
              <a:rPr lang="en-IN" dirty="0"/>
              <a:t>, a bit is added to the end to make it 1011010</a:t>
            </a:r>
            <a:r>
              <a:rPr lang="en-IN" dirty="0">
                <a:solidFill>
                  <a:srgbClr val="FF0000"/>
                </a:solidFill>
              </a:rPr>
              <a:t>0</a:t>
            </a:r>
            <a:r>
              <a:rPr lang="en-IN" dirty="0"/>
              <a:t>. </a:t>
            </a:r>
          </a:p>
          <a:p>
            <a:pPr algn="just"/>
            <a:r>
              <a:rPr lang="en-IN" dirty="0"/>
              <a:t>With </a:t>
            </a:r>
            <a:r>
              <a:rPr lang="en-IN" i="1" dirty="0">
                <a:effectLst>
                  <a:outerShdw blurRad="38100" dist="38100" dir="2700000" algn="tl">
                    <a:srgbClr val="000000">
                      <a:alpha val="43137"/>
                    </a:srgbClr>
                  </a:outerShdw>
                </a:effectLst>
              </a:rPr>
              <a:t>odd parity </a:t>
            </a:r>
            <a:r>
              <a:rPr lang="en-IN" dirty="0"/>
              <a:t>1011010 becomes 1011010</a:t>
            </a:r>
            <a:r>
              <a:rPr lang="en-IN" dirty="0">
                <a:solidFill>
                  <a:srgbClr val="FF0000"/>
                </a:solidFill>
              </a:rPr>
              <a:t>1</a:t>
            </a:r>
            <a:r>
              <a:rPr lang="en-IN" dirty="0"/>
              <a:t>. </a:t>
            </a:r>
          </a:p>
          <a:p>
            <a:pPr algn="just"/>
            <a:r>
              <a:rPr lang="en-IN" dirty="0"/>
              <a:t>This means that it can detect single-bit errors.</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51</a:t>
            </a:fld>
            <a:endParaRPr lang="en-US"/>
          </a:p>
        </p:txBody>
      </p:sp>
    </p:spTree>
    <p:extLst>
      <p:ext uri="{BB962C8B-B14F-4D97-AF65-F5344CB8AC3E}">
        <p14:creationId xmlns:p14="http://schemas.microsoft.com/office/powerpoint/2010/main" val="3082084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35468" y="1025237"/>
            <a:ext cx="8821208" cy="5694217"/>
          </a:xfrm>
        </p:spPr>
        <p:txBody>
          <a:bodyPr>
            <a:normAutofit/>
          </a:bodyPr>
          <a:lstStyle/>
          <a:p>
            <a:pPr algn="just"/>
            <a:r>
              <a:rPr lang="en-IN" dirty="0"/>
              <a:t>Another method to protect against burst errors: we can compute the parity bits over the data in a different order than the order in which the data bits are transmitted which is called </a:t>
            </a:r>
            <a:r>
              <a:rPr lang="en-IN" b="1" dirty="0"/>
              <a:t>interleaving</a:t>
            </a:r>
            <a:r>
              <a:rPr lang="en-IN" dirty="0"/>
              <a:t>. </a:t>
            </a:r>
          </a:p>
          <a:p>
            <a:pPr algn="just"/>
            <a:r>
              <a:rPr lang="en-IN" dirty="0"/>
              <a:t>In this case, we will compute a parity bit for each of the </a:t>
            </a:r>
            <a:r>
              <a:rPr lang="en-IN" i="1" dirty="0"/>
              <a:t>n </a:t>
            </a:r>
            <a:r>
              <a:rPr lang="en-IN" dirty="0"/>
              <a:t>columns and send all the data bits as </a:t>
            </a:r>
            <a:r>
              <a:rPr lang="en-IN" i="1" dirty="0"/>
              <a:t>k </a:t>
            </a:r>
            <a:r>
              <a:rPr lang="en-IN" dirty="0"/>
              <a:t>rows, sending the rows from top to bottom and the bits in each row from left to right in the usual manner.</a:t>
            </a:r>
          </a:p>
          <a:p>
            <a:pPr algn="just"/>
            <a:r>
              <a:rPr lang="en-IN" dirty="0"/>
              <a:t> At the last row, we send the </a:t>
            </a:r>
            <a:r>
              <a:rPr lang="en-IN" i="1" dirty="0"/>
              <a:t>n </a:t>
            </a:r>
            <a:r>
              <a:rPr lang="en-IN" dirty="0"/>
              <a:t>parity bits. </a:t>
            </a:r>
          </a:p>
          <a:p>
            <a:pPr algn="just"/>
            <a:r>
              <a:rPr lang="en-IN" dirty="0"/>
              <a:t>This transmission order is shown in Fig. for </a:t>
            </a:r>
            <a:r>
              <a:rPr lang="en-IN" i="1" dirty="0"/>
              <a:t>n </a:t>
            </a:r>
            <a:r>
              <a:rPr lang="en-IN" dirty="0"/>
              <a:t>= 7 and </a:t>
            </a:r>
            <a:r>
              <a:rPr lang="en-IN" i="1" dirty="0"/>
              <a:t>k </a:t>
            </a:r>
            <a:r>
              <a:rPr lang="en-IN" dirty="0"/>
              <a:t>= 7.</a:t>
            </a:r>
            <a:endParaRPr lang="en-US" sz="2400" b="1"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53</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26" y="1052945"/>
            <a:ext cx="8957850" cy="4696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1307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36073"/>
            <a:ext cx="8229600" cy="5438463"/>
          </a:xfrm>
        </p:spPr>
        <p:txBody>
          <a:bodyPr>
            <a:normAutofit fontScale="92500" lnSpcReduction="10000"/>
          </a:bodyPr>
          <a:lstStyle/>
          <a:p>
            <a:pPr algn="just"/>
            <a:r>
              <a:rPr lang="en-IN" dirty="0">
                <a:solidFill>
                  <a:schemeClr val="accent2">
                    <a:lumMod val="50000"/>
                  </a:schemeClr>
                </a:solidFill>
              </a:rPr>
              <a:t>Interleaving is a general technique to convert a code that detects (or corrects) isolated errors into a code that detects (or corrects) burst errors. </a:t>
            </a:r>
          </a:p>
          <a:p>
            <a:pPr algn="just"/>
            <a:r>
              <a:rPr lang="en-IN" dirty="0">
                <a:solidFill>
                  <a:schemeClr val="accent2">
                    <a:lumMod val="50000"/>
                  </a:schemeClr>
                </a:solidFill>
              </a:rPr>
              <a:t>In Fig, when a burst error of length </a:t>
            </a:r>
            <a:r>
              <a:rPr lang="en-IN" i="1" dirty="0">
                <a:solidFill>
                  <a:schemeClr val="accent2">
                    <a:lumMod val="50000"/>
                  </a:schemeClr>
                </a:solidFill>
              </a:rPr>
              <a:t>n </a:t>
            </a:r>
            <a:r>
              <a:rPr lang="en-IN" dirty="0">
                <a:solidFill>
                  <a:schemeClr val="accent2">
                    <a:lumMod val="50000"/>
                  </a:schemeClr>
                </a:solidFill>
              </a:rPr>
              <a:t>= 7 occurs, the bits that are in error are spread across different columns. </a:t>
            </a:r>
          </a:p>
          <a:p>
            <a:pPr algn="just"/>
            <a:r>
              <a:rPr lang="en-IN" dirty="0">
                <a:solidFill>
                  <a:schemeClr val="accent2">
                    <a:lumMod val="50000"/>
                  </a:schemeClr>
                </a:solidFill>
              </a:rPr>
              <a:t>At most 1 bit in each of the </a:t>
            </a:r>
            <a:r>
              <a:rPr lang="en-IN" i="1" dirty="0">
                <a:solidFill>
                  <a:schemeClr val="accent2">
                    <a:lumMod val="50000"/>
                  </a:schemeClr>
                </a:solidFill>
              </a:rPr>
              <a:t>n </a:t>
            </a:r>
            <a:r>
              <a:rPr lang="en-IN" dirty="0">
                <a:solidFill>
                  <a:schemeClr val="accent2">
                    <a:lumMod val="50000"/>
                  </a:schemeClr>
                </a:solidFill>
              </a:rPr>
              <a:t>columns will be affected, so the parity bits on those columns will detect the error. </a:t>
            </a:r>
          </a:p>
          <a:p>
            <a:pPr algn="just"/>
            <a:r>
              <a:rPr lang="en-IN" dirty="0">
                <a:solidFill>
                  <a:schemeClr val="accent2">
                    <a:lumMod val="50000"/>
                  </a:schemeClr>
                </a:solidFill>
              </a:rPr>
              <a:t>This method uses </a:t>
            </a:r>
            <a:r>
              <a:rPr lang="en-IN" i="1" dirty="0">
                <a:solidFill>
                  <a:schemeClr val="accent2">
                    <a:lumMod val="50000"/>
                  </a:schemeClr>
                </a:solidFill>
              </a:rPr>
              <a:t>n </a:t>
            </a:r>
            <a:r>
              <a:rPr lang="en-IN" dirty="0">
                <a:solidFill>
                  <a:schemeClr val="accent2">
                    <a:lumMod val="50000"/>
                  </a:schemeClr>
                </a:solidFill>
              </a:rPr>
              <a:t>parity bits on blocks of </a:t>
            </a:r>
            <a:r>
              <a:rPr lang="en-IN" i="1" dirty="0" err="1">
                <a:solidFill>
                  <a:schemeClr val="accent2">
                    <a:lumMod val="50000"/>
                  </a:schemeClr>
                </a:solidFill>
              </a:rPr>
              <a:t>kn</a:t>
            </a:r>
            <a:r>
              <a:rPr lang="en-IN" i="1" dirty="0">
                <a:solidFill>
                  <a:schemeClr val="accent2">
                    <a:lumMod val="50000"/>
                  </a:schemeClr>
                </a:solidFill>
              </a:rPr>
              <a:t> </a:t>
            </a:r>
            <a:r>
              <a:rPr lang="en-IN" dirty="0">
                <a:solidFill>
                  <a:schemeClr val="accent2">
                    <a:lumMod val="50000"/>
                  </a:schemeClr>
                </a:solidFill>
              </a:rPr>
              <a:t>data bits to detect a single burst error of length </a:t>
            </a:r>
            <a:r>
              <a:rPr lang="en-IN" i="1" dirty="0">
                <a:solidFill>
                  <a:schemeClr val="accent2">
                    <a:lumMod val="50000"/>
                  </a:schemeClr>
                </a:solidFill>
              </a:rPr>
              <a:t>n </a:t>
            </a:r>
            <a:r>
              <a:rPr lang="en-IN" dirty="0">
                <a:solidFill>
                  <a:schemeClr val="accent2">
                    <a:lumMod val="50000"/>
                  </a:schemeClr>
                </a:solidFill>
              </a:rPr>
              <a:t>or less.</a:t>
            </a:r>
          </a:p>
          <a:p>
            <a:pPr algn="just"/>
            <a:r>
              <a:rPr lang="en-IN" dirty="0">
                <a:solidFill>
                  <a:schemeClr val="accent2">
                    <a:lumMod val="50000"/>
                  </a:schemeClr>
                </a:solidFill>
              </a:rPr>
              <a:t>A burst of length </a:t>
            </a:r>
            <a:r>
              <a:rPr lang="en-IN" i="1" dirty="0">
                <a:solidFill>
                  <a:schemeClr val="accent2">
                    <a:lumMod val="50000"/>
                  </a:schemeClr>
                </a:solidFill>
              </a:rPr>
              <a:t>n </a:t>
            </a:r>
            <a:r>
              <a:rPr lang="en-IN" dirty="0">
                <a:solidFill>
                  <a:schemeClr val="accent2">
                    <a:lumMod val="50000"/>
                  </a:schemeClr>
                </a:solidFill>
              </a:rPr>
              <a:t>+ 1 will pass undetected, however, if the first bit is inverted, the last bit is inverted, and all the other bits are correct.</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54</a:t>
            </a:fld>
            <a:endParaRPr lang="en-US"/>
          </a:p>
        </p:txBody>
      </p:sp>
    </p:spTree>
    <p:extLst>
      <p:ext uri="{BB962C8B-B14F-4D97-AF65-F5344CB8AC3E}">
        <p14:creationId xmlns:p14="http://schemas.microsoft.com/office/powerpoint/2010/main" val="31997570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35468" y="706582"/>
            <a:ext cx="8821208" cy="5999017"/>
          </a:xfrm>
        </p:spPr>
        <p:txBody>
          <a:bodyPr>
            <a:normAutofit lnSpcReduction="10000"/>
          </a:bodyPr>
          <a:lstStyle/>
          <a:p>
            <a:pPr algn="just">
              <a:buFont typeface="Wingdings" pitchFamily="2" charset="2"/>
              <a:buChar char="§"/>
            </a:pPr>
            <a:r>
              <a:rPr lang="en-US" sz="3200" dirty="0">
                <a:solidFill>
                  <a:srgbClr val="FF0000"/>
                </a:solidFill>
              </a:rPr>
              <a:t>Another method is in widespread use:</a:t>
            </a:r>
            <a:r>
              <a:rPr lang="en-US" sz="3200" dirty="0"/>
              <a:t> </a:t>
            </a:r>
          </a:p>
          <a:p>
            <a:pPr lvl="1" algn="just">
              <a:buFont typeface="Wingdings" pitchFamily="2" charset="2"/>
              <a:buChar char="§"/>
            </a:pPr>
            <a:r>
              <a:rPr lang="en-US" dirty="0">
                <a:solidFill>
                  <a:schemeClr val="tx1"/>
                </a:solidFill>
              </a:rPr>
              <a:t>The </a:t>
            </a:r>
            <a:r>
              <a:rPr lang="en-US" dirty="0">
                <a:solidFill>
                  <a:srgbClr val="FF0000"/>
                </a:solidFill>
              </a:rPr>
              <a:t>polynomial code</a:t>
            </a:r>
            <a:r>
              <a:rPr lang="en-US" dirty="0">
                <a:solidFill>
                  <a:schemeClr val="tx1"/>
                </a:solidFill>
              </a:rPr>
              <a:t>, also known as a </a:t>
            </a:r>
            <a:r>
              <a:rPr lang="en-US" dirty="0">
                <a:solidFill>
                  <a:srgbClr val="FF0000"/>
                </a:solidFill>
              </a:rPr>
              <a:t>CRC (Cyclic Redundancy Check) </a:t>
            </a:r>
          </a:p>
          <a:p>
            <a:pPr lvl="1" algn="just">
              <a:buFont typeface="Wingdings" pitchFamily="2" charset="2"/>
              <a:buChar char="§"/>
            </a:pPr>
            <a:r>
              <a:rPr lang="en-US" dirty="0">
                <a:solidFill>
                  <a:schemeClr val="tx1"/>
                </a:solidFill>
              </a:rPr>
              <a:t>Polynomial codes are based upon treating bit strings as representations of polynomials with coefficients of 0 and 1 only </a:t>
            </a:r>
          </a:p>
          <a:p>
            <a:pPr lvl="1" algn="just">
              <a:buFont typeface="Wingdings" pitchFamily="2" charset="2"/>
              <a:buChar char="§"/>
            </a:pPr>
            <a:r>
              <a:rPr lang="en-US" dirty="0">
                <a:solidFill>
                  <a:schemeClr val="tx1"/>
                </a:solidFill>
              </a:rPr>
              <a:t>A k-bit frame is regarded as the coefficient list for a polynomial with k terms, ranging from </a:t>
            </a:r>
            <a:r>
              <a:rPr lang="en-US" dirty="0" err="1">
                <a:solidFill>
                  <a:schemeClr val="tx1"/>
                </a:solidFill>
              </a:rPr>
              <a:t>x</a:t>
            </a:r>
            <a:r>
              <a:rPr lang="en-US" baseline="30000" dirty="0" err="1">
                <a:solidFill>
                  <a:schemeClr val="tx1"/>
                </a:solidFill>
              </a:rPr>
              <a:t>k</a:t>
            </a:r>
            <a:r>
              <a:rPr lang="en-US" baseline="30000" dirty="0">
                <a:solidFill>
                  <a:schemeClr val="tx1"/>
                </a:solidFill>
              </a:rPr>
              <a:t> - 1 </a:t>
            </a:r>
            <a:r>
              <a:rPr lang="en-US" dirty="0">
                <a:solidFill>
                  <a:schemeClr val="tx1"/>
                </a:solidFill>
              </a:rPr>
              <a:t>to x</a:t>
            </a:r>
            <a:r>
              <a:rPr lang="en-US" baseline="30000" dirty="0">
                <a:solidFill>
                  <a:schemeClr val="tx1"/>
                </a:solidFill>
              </a:rPr>
              <a:t>0 </a:t>
            </a:r>
          </a:p>
          <a:p>
            <a:pPr lvl="1" algn="just">
              <a:buFont typeface="Wingdings" pitchFamily="2" charset="2"/>
              <a:buChar char="§"/>
            </a:pPr>
            <a:r>
              <a:rPr lang="en-US" dirty="0">
                <a:solidFill>
                  <a:schemeClr val="tx1"/>
                </a:solidFill>
              </a:rPr>
              <a:t>Such a polynomial is said to be of degree k - 1. </a:t>
            </a:r>
          </a:p>
          <a:p>
            <a:pPr lvl="1" algn="just">
              <a:buFont typeface="Wingdings" pitchFamily="2" charset="2"/>
              <a:buChar char="§"/>
            </a:pPr>
            <a:r>
              <a:rPr lang="en-US" dirty="0">
                <a:solidFill>
                  <a:schemeClr val="tx1"/>
                </a:solidFill>
              </a:rPr>
              <a:t>The high-order (leftmost) bit is the coefficient of </a:t>
            </a:r>
            <a:r>
              <a:rPr lang="en-US" dirty="0" err="1">
                <a:solidFill>
                  <a:schemeClr val="tx1"/>
                </a:solidFill>
              </a:rPr>
              <a:t>x</a:t>
            </a:r>
            <a:r>
              <a:rPr lang="en-US" baseline="30000" dirty="0" err="1">
                <a:solidFill>
                  <a:schemeClr val="tx1"/>
                </a:solidFill>
              </a:rPr>
              <a:t>k</a:t>
            </a:r>
            <a:r>
              <a:rPr lang="en-US" baseline="30000" dirty="0">
                <a:solidFill>
                  <a:schemeClr val="tx1"/>
                </a:solidFill>
              </a:rPr>
              <a:t> - 1</a:t>
            </a:r>
            <a:r>
              <a:rPr lang="en-US" dirty="0">
                <a:solidFill>
                  <a:schemeClr val="tx1"/>
                </a:solidFill>
              </a:rPr>
              <a:t>; the next bit is the coefficient of </a:t>
            </a:r>
            <a:r>
              <a:rPr lang="en-US" dirty="0" err="1">
                <a:solidFill>
                  <a:schemeClr val="tx1"/>
                </a:solidFill>
              </a:rPr>
              <a:t>x</a:t>
            </a:r>
            <a:r>
              <a:rPr lang="en-US" baseline="30000" dirty="0" err="1">
                <a:solidFill>
                  <a:schemeClr val="tx1"/>
                </a:solidFill>
              </a:rPr>
              <a:t>k</a:t>
            </a:r>
            <a:r>
              <a:rPr lang="en-US" baseline="30000" dirty="0">
                <a:solidFill>
                  <a:schemeClr val="tx1"/>
                </a:solidFill>
              </a:rPr>
              <a:t> - 2</a:t>
            </a:r>
            <a:r>
              <a:rPr lang="en-US" dirty="0">
                <a:solidFill>
                  <a:schemeClr val="tx1"/>
                </a:solidFill>
              </a:rPr>
              <a:t>, and so on. </a:t>
            </a:r>
          </a:p>
          <a:p>
            <a:pPr lvl="1" algn="just">
              <a:buFont typeface="Wingdings" pitchFamily="2" charset="2"/>
              <a:buChar char="§"/>
            </a:pPr>
            <a:r>
              <a:rPr lang="en-US" dirty="0">
                <a:solidFill>
                  <a:schemeClr val="tx1"/>
                </a:solidFill>
              </a:rPr>
              <a:t>For example, 110001 has 6 bits and thus represents a six-term polynomial with coefficients 1, 1, 0, 0, 0, and 1: </a:t>
            </a:r>
          </a:p>
          <a:p>
            <a:pPr marL="411480" lvl="1" indent="0" algn="just">
              <a:buNone/>
            </a:pPr>
            <a:r>
              <a:rPr lang="en-US" dirty="0">
                <a:solidFill>
                  <a:schemeClr val="tx1"/>
                </a:solidFill>
              </a:rPr>
              <a:t>				x</a:t>
            </a:r>
            <a:r>
              <a:rPr lang="en-US" baseline="30000" dirty="0">
                <a:solidFill>
                  <a:schemeClr val="tx1"/>
                </a:solidFill>
              </a:rPr>
              <a:t>5 </a:t>
            </a:r>
            <a:r>
              <a:rPr lang="en-US" dirty="0">
                <a:solidFill>
                  <a:schemeClr val="tx1"/>
                </a:solidFill>
              </a:rPr>
              <a:t>+ x</a:t>
            </a:r>
            <a:r>
              <a:rPr lang="en-US" baseline="30000" dirty="0">
                <a:solidFill>
                  <a:schemeClr val="tx1"/>
                </a:solidFill>
              </a:rPr>
              <a:t>4 </a:t>
            </a:r>
            <a:r>
              <a:rPr lang="en-US" dirty="0">
                <a:solidFill>
                  <a:schemeClr val="tx1"/>
                </a:solidFill>
              </a:rPr>
              <a:t>+ x</a:t>
            </a:r>
            <a:r>
              <a:rPr lang="en-US" baseline="30000" dirty="0">
                <a:solidFill>
                  <a:schemeClr val="tx1"/>
                </a:solidFill>
              </a:rPr>
              <a:t>0</a:t>
            </a:r>
            <a:endParaRPr lang="en-US" b="1" dirty="0">
              <a:solidFill>
                <a:schemeClr val="tx1"/>
              </a:solidFill>
            </a:endParaRPr>
          </a:p>
          <a:p>
            <a:pPr lvl="1" algn="just">
              <a:buFont typeface="Wingdings" pitchFamily="2" charset="2"/>
              <a:buChar char="§"/>
            </a:pPr>
            <a:endParaRPr lang="en-US" sz="2800" b="1"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56</a:t>
            </a:fld>
            <a:endParaRPr lang="en-US"/>
          </a:p>
        </p:txBody>
      </p:sp>
      <p:pic>
        <p:nvPicPr>
          <p:cNvPr id="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375" y="1244600"/>
            <a:ext cx="4208463" cy="483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77841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57</a:t>
            </a:fld>
            <a:endParaRPr lang="en-US"/>
          </a:p>
        </p:txBody>
      </p:sp>
      <p:pic>
        <p:nvPicPr>
          <p:cNvPr id="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38" y="1934152"/>
            <a:ext cx="8716962" cy="335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62932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b="1" i="1" dirty="0">
                <a:solidFill>
                  <a:schemeClr val="tx1"/>
                </a:solidFill>
                <a:cs typeface="Times New Roman" pitchFamily="-128" charset="0"/>
              </a:rPr>
              <a:t>CRC encoder and decoder</a:t>
            </a:r>
            <a:endParaRPr lang="en-US" sz="3200" dirty="0"/>
          </a:p>
        </p:txBody>
      </p:sp>
      <p:pic>
        <p:nvPicPr>
          <p:cNvPr id="4" name="Picture 6"/>
          <p:cNvPicPr>
            <a:picLocks noGrp="1" noChangeArrowheads="1"/>
          </p:cNvPicPr>
          <p:nvPr>
            <p:ph idx="1"/>
          </p:nvPr>
        </p:nvPicPr>
        <p:blipFill>
          <a:blip r:embed="rId2"/>
          <a:srcRect/>
          <a:stretch>
            <a:fillRect/>
          </a:stretch>
        </p:blipFill>
        <p:spPr bwMode="auto">
          <a:xfrm>
            <a:off x="457200" y="1752600"/>
            <a:ext cx="8229600" cy="4537387"/>
          </a:xfrm>
          <a:prstGeom prst="rect">
            <a:avLst/>
          </a:prstGeom>
          <a:noFill/>
          <a:ln w="12700">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b="1" i="1" dirty="0">
                <a:solidFill>
                  <a:schemeClr val="tx1"/>
                </a:solidFill>
                <a:cs typeface="Times New Roman" pitchFamily="-128" charset="0"/>
              </a:rPr>
              <a:t>Division in CRC encoder</a:t>
            </a:r>
            <a:endParaRPr lang="en-US" sz="3200" dirty="0"/>
          </a:p>
        </p:txBody>
      </p:sp>
      <p:pic>
        <p:nvPicPr>
          <p:cNvPr id="4" name="Picture 6"/>
          <p:cNvPicPr>
            <a:picLocks noGrp="1" noChangeArrowheads="1"/>
          </p:cNvPicPr>
          <p:nvPr>
            <p:ph idx="1"/>
          </p:nvPr>
        </p:nvPicPr>
        <p:blipFill>
          <a:blip r:embed="rId2"/>
          <a:srcRect/>
          <a:stretch>
            <a:fillRect/>
          </a:stretch>
        </p:blipFill>
        <p:spPr bwMode="auto">
          <a:xfrm>
            <a:off x="2057400" y="1752601"/>
            <a:ext cx="5257800" cy="4572000"/>
          </a:xfrm>
          <a:prstGeom prst="rect">
            <a:avLst/>
          </a:prstGeom>
          <a:noFill/>
          <a:ln w="12700">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a:bodyPr>
          <a:lstStyle/>
          <a:p>
            <a:r>
              <a:rPr lang="en-US" sz="3200" b="1" i="1" dirty="0">
                <a:solidFill>
                  <a:schemeClr val="tx1"/>
                </a:solidFill>
                <a:cs typeface="Times New Roman" pitchFamily="-128" charset="0"/>
              </a:rPr>
              <a:t>Division in the CRC decoder for two cases</a:t>
            </a:r>
            <a:endParaRPr lang="en-US" sz="3200" dirty="0"/>
          </a:p>
        </p:txBody>
      </p:sp>
      <p:pic>
        <p:nvPicPr>
          <p:cNvPr id="4" name="Picture 6"/>
          <p:cNvPicPr>
            <a:picLocks noGrp="1" noChangeArrowheads="1"/>
          </p:cNvPicPr>
          <p:nvPr>
            <p:ph idx="1"/>
          </p:nvPr>
        </p:nvPicPr>
        <p:blipFill>
          <a:blip r:embed="rId2"/>
          <a:srcRect/>
          <a:stretch>
            <a:fillRect/>
          </a:stretch>
        </p:blipFill>
        <p:spPr bwMode="auto">
          <a:xfrm>
            <a:off x="872626" y="1935163"/>
            <a:ext cx="7398748" cy="4389437"/>
          </a:xfrm>
          <a:prstGeom prst="rect">
            <a:avLst/>
          </a:prstGeom>
          <a:noFill/>
          <a:ln w="12700">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332520"/>
            <a:ext cx="9144000" cy="643467"/>
          </a:xfrm>
        </p:spPr>
        <p:txBody>
          <a:bodyPr>
            <a:normAutofit fontScale="90000"/>
          </a:bodyPr>
          <a:lstStyle/>
          <a:p>
            <a:pPr eaLnBrk="1" hangingPunct="1"/>
            <a:r>
              <a:rPr lang="en-US" dirty="0"/>
              <a:t>Error Detection</a:t>
            </a:r>
          </a:p>
        </p:txBody>
      </p:sp>
      <p:sp>
        <p:nvSpPr>
          <p:cNvPr id="11267" name="Rectangle 3"/>
          <p:cNvSpPr>
            <a:spLocks noGrp="1" noChangeArrowheads="1"/>
          </p:cNvSpPr>
          <p:nvPr>
            <p:ph idx="1"/>
          </p:nvPr>
        </p:nvSpPr>
        <p:spPr>
          <a:xfrm>
            <a:off x="135468" y="1043720"/>
            <a:ext cx="8821208" cy="5994399"/>
          </a:xfrm>
        </p:spPr>
        <p:txBody>
          <a:bodyPr>
            <a:normAutofit fontScale="92500" lnSpcReduction="10000"/>
          </a:bodyPr>
          <a:lstStyle/>
          <a:p>
            <a:pPr algn="just">
              <a:buFont typeface="Wingdings" pitchFamily="2" charset="2"/>
              <a:buChar char="§"/>
            </a:pPr>
            <a:r>
              <a:rPr lang="en-US" dirty="0"/>
              <a:t>When the polynomial code method is employed, the sender and receiver </a:t>
            </a:r>
            <a:r>
              <a:rPr lang="en-US" b="1" dirty="0"/>
              <a:t>must agree upon a generator polynomial, G(x), in advance. </a:t>
            </a:r>
          </a:p>
          <a:p>
            <a:pPr algn="just">
              <a:buFont typeface="Wingdings" pitchFamily="2" charset="2"/>
              <a:buChar char="§"/>
            </a:pPr>
            <a:r>
              <a:rPr lang="en-US" dirty="0"/>
              <a:t>Both the </a:t>
            </a:r>
            <a:r>
              <a:rPr lang="en-US" b="1" dirty="0"/>
              <a:t>high- and low-order bits of the generator must be 1. </a:t>
            </a:r>
          </a:p>
          <a:p>
            <a:pPr algn="just">
              <a:buFont typeface="Wingdings" pitchFamily="2" charset="2"/>
              <a:buChar char="§"/>
            </a:pPr>
            <a:r>
              <a:rPr lang="en-US" dirty="0"/>
              <a:t>To compute the checksum for some frame with m bits, corresponding to the polynomial M(x), the frame must be longer than the generator polynomial. </a:t>
            </a:r>
          </a:p>
          <a:p>
            <a:pPr algn="just">
              <a:buFont typeface="Wingdings" pitchFamily="2" charset="2"/>
              <a:buChar char="§"/>
            </a:pPr>
            <a:r>
              <a:rPr lang="en-US" dirty="0"/>
              <a:t>The </a:t>
            </a:r>
            <a:r>
              <a:rPr lang="en-US" dirty="0">
                <a:solidFill>
                  <a:srgbClr val="FF0000"/>
                </a:solidFill>
              </a:rPr>
              <a:t>idea</a:t>
            </a:r>
            <a:r>
              <a:rPr lang="en-US" dirty="0"/>
              <a:t> is to </a:t>
            </a:r>
            <a:r>
              <a:rPr lang="en-US" b="1" dirty="0"/>
              <a:t>append a checksum </a:t>
            </a:r>
            <a:r>
              <a:rPr lang="en-US" dirty="0"/>
              <a:t>to the end of the frame in such a way that the polynomial represented by the checksummed frame is divisible by G(x). </a:t>
            </a:r>
          </a:p>
          <a:p>
            <a:pPr algn="just">
              <a:buFont typeface="Wingdings" pitchFamily="2" charset="2"/>
              <a:buChar char="§"/>
            </a:pPr>
            <a:r>
              <a:rPr lang="en-US" dirty="0"/>
              <a:t>When the receiver gets the checksummed frame, it tries dividing it by G(x). </a:t>
            </a:r>
          </a:p>
          <a:p>
            <a:pPr algn="just">
              <a:buFont typeface="Wingdings" pitchFamily="2" charset="2"/>
              <a:buChar char="§"/>
            </a:pPr>
            <a:r>
              <a:rPr lang="en-US" dirty="0"/>
              <a:t>If there is a </a:t>
            </a:r>
            <a:r>
              <a:rPr lang="en-US" b="1" dirty="0"/>
              <a:t>remainder</a:t>
            </a:r>
            <a:r>
              <a:rPr lang="en-US" dirty="0"/>
              <a:t>, there has been </a:t>
            </a:r>
            <a:r>
              <a:rPr lang="en-US" b="1" dirty="0"/>
              <a:t>a transmission error.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346375"/>
            <a:ext cx="9144000" cy="643467"/>
          </a:xfrm>
        </p:spPr>
        <p:txBody>
          <a:bodyPr>
            <a:normAutofit fontScale="90000"/>
          </a:bodyPr>
          <a:lstStyle/>
          <a:p>
            <a:pPr eaLnBrk="1" hangingPunct="1"/>
            <a:r>
              <a:rPr lang="en-US" dirty="0"/>
              <a:t>Error Detection</a:t>
            </a:r>
          </a:p>
        </p:txBody>
      </p:sp>
      <p:sp>
        <p:nvSpPr>
          <p:cNvPr id="11267" name="Rectangle 3"/>
          <p:cNvSpPr>
            <a:spLocks noGrp="1" noChangeArrowheads="1"/>
          </p:cNvSpPr>
          <p:nvPr>
            <p:ph idx="1"/>
          </p:nvPr>
        </p:nvSpPr>
        <p:spPr>
          <a:xfrm>
            <a:off x="135468" y="1057575"/>
            <a:ext cx="8821208" cy="5994399"/>
          </a:xfrm>
        </p:spPr>
        <p:txBody>
          <a:bodyPr/>
          <a:lstStyle/>
          <a:p>
            <a:pPr algn="just">
              <a:buNone/>
            </a:pPr>
            <a:r>
              <a:rPr lang="en-US" dirty="0"/>
              <a:t>The algorithm for computing the checksum is as follows: </a:t>
            </a:r>
          </a:p>
          <a:p>
            <a:pPr lvl="1" algn="just">
              <a:buNone/>
            </a:pPr>
            <a:r>
              <a:rPr lang="en-US" sz="2400" dirty="0"/>
              <a:t>1.</a:t>
            </a:r>
            <a:r>
              <a:rPr lang="en-US" sz="2400" dirty="0">
                <a:solidFill>
                  <a:schemeClr val="tx1"/>
                </a:solidFill>
              </a:rPr>
              <a:t>Let r be the degree of G(x). Append r zero bits to the low-order end of the frame so it now contains m + r bits and corresponds to the polynomial </a:t>
            </a:r>
            <a:r>
              <a:rPr lang="en-US" sz="2400" dirty="0" err="1">
                <a:solidFill>
                  <a:schemeClr val="tx1"/>
                </a:solidFill>
              </a:rPr>
              <a:t>xM</a:t>
            </a:r>
            <a:r>
              <a:rPr lang="en-US" sz="2400" baseline="30000" dirty="0" err="1">
                <a:solidFill>
                  <a:schemeClr val="tx1"/>
                </a:solidFill>
              </a:rPr>
              <a:t>r</a:t>
            </a:r>
            <a:r>
              <a:rPr lang="en-US" sz="2400" dirty="0">
                <a:solidFill>
                  <a:schemeClr val="tx1"/>
                </a:solidFill>
              </a:rPr>
              <a:t>(x). </a:t>
            </a:r>
          </a:p>
          <a:p>
            <a:pPr lvl="1" algn="just">
              <a:buNone/>
            </a:pPr>
            <a:r>
              <a:rPr lang="en-US" sz="2400" dirty="0">
                <a:solidFill>
                  <a:schemeClr val="tx1"/>
                </a:solidFill>
              </a:rPr>
              <a:t>2.Divide the bit string corresponding to G(x) into the bit string corresponding to </a:t>
            </a:r>
            <a:r>
              <a:rPr lang="en-US" sz="2400" dirty="0" err="1">
                <a:solidFill>
                  <a:schemeClr val="tx1"/>
                </a:solidFill>
              </a:rPr>
              <a:t>xM</a:t>
            </a:r>
            <a:r>
              <a:rPr lang="en-US" sz="2400" baseline="30000" dirty="0" err="1">
                <a:solidFill>
                  <a:schemeClr val="tx1"/>
                </a:solidFill>
              </a:rPr>
              <a:t>r</a:t>
            </a:r>
            <a:r>
              <a:rPr lang="en-US" sz="2400" dirty="0">
                <a:solidFill>
                  <a:schemeClr val="tx1"/>
                </a:solidFill>
              </a:rPr>
              <a:t>(x), using modulo 2 division. </a:t>
            </a:r>
          </a:p>
          <a:p>
            <a:pPr lvl="1" algn="just">
              <a:buNone/>
            </a:pPr>
            <a:r>
              <a:rPr lang="en-US" sz="2400" dirty="0">
                <a:solidFill>
                  <a:schemeClr val="tx1"/>
                </a:solidFill>
              </a:rPr>
              <a:t>3.Subtract the remainder (which is always r or fewer bits) from the bit string corresponding to </a:t>
            </a:r>
            <a:r>
              <a:rPr lang="en-US" sz="2400" dirty="0" err="1">
                <a:solidFill>
                  <a:schemeClr val="tx1"/>
                </a:solidFill>
              </a:rPr>
              <a:t>xM</a:t>
            </a:r>
            <a:r>
              <a:rPr lang="en-US" sz="2400" baseline="30000" dirty="0" err="1">
                <a:solidFill>
                  <a:schemeClr val="tx1"/>
                </a:solidFill>
              </a:rPr>
              <a:t>r</a:t>
            </a:r>
            <a:r>
              <a:rPr lang="en-US" sz="2400" dirty="0">
                <a:solidFill>
                  <a:schemeClr val="tx1"/>
                </a:solidFill>
              </a:rPr>
              <a:t>(x) using modulo 2 subtraction. The result is the checksummed frame to be transmitted. Call its polynomial T(x). </a:t>
            </a:r>
          </a:p>
          <a:p>
            <a:pPr algn="just">
              <a:buNone/>
            </a:pPr>
            <a:endParaRPr lang="en-US" b="1"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0"/>
            <a:ext cx="9144000" cy="428978"/>
          </a:xfrm>
        </p:spPr>
        <p:txBody>
          <a:bodyPr>
            <a:normAutofit fontScale="90000"/>
          </a:bodyPr>
          <a:lstStyle/>
          <a:p>
            <a:pPr eaLnBrk="1" hangingPunct="1"/>
            <a:r>
              <a:rPr lang="en-US" dirty="0"/>
              <a:t>Error-Detecting Codes</a:t>
            </a:r>
          </a:p>
        </p:txBody>
      </p:sp>
      <p:sp>
        <p:nvSpPr>
          <p:cNvPr id="6" name="Slide Number Placeholder 5"/>
          <p:cNvSpPr>
            <a:spLocks noGrp="1"/>
          </p:cNvSpPr>
          <p:nvPr>
            <p:ph type="sldNum" sz="quarter" idx="12"/>
          </p:nvPr>
        </p:nvSpPr>
        <p:spPr/>
        <p:txBody>
          <a:bodyPr/>
          <a:lstStyle/>
          <a:p>
            <a:pPr>
              <a:defRPr/>
            </a:pPr>
            <a:fld id="{231DD258-A623-490B-8242-C077DDB146DD}" type="slidenum">
              <a:rPr lang="en-US" smtClean="0"/>
              <a:pPr>
                <a:defRPr/>
              </a:pPr>
              <a:t>63</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273" y="182992"/>
            <a:ext cx="7550727" cy="5147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65288" y="3194138"/>
            <a:ext cx="4251294" cy="2246769"/>
          </a:xfrm>
          <a:prstGeom prst="rect">
            <a:avLst/>
          </a:prstGeom>
        </p:spPr>
        <p:txBody>
          <a:bodyPr wrap="square">
            <a:spAutoFit/>
          </a:bodyPr>
          <a:lstStyle/>
          <a:p>
            <a:pPr algn="l"/>
            <a:r>
              <a:rPr lang="en-US" sz="2800" dirty="0"/>
              <a:t>Fig: Illustrates the calculation for a frame 1101011011 </a:t>
            </a:r>
          </a:p>
          <a:p>
            <a:pPr algn="l"/>
            <a:r>
              <a:rPr lang="en-US" sz="2800" dirty="0"/>
              <a:t>using the generator G(x) = x</a:t>
            </a:r>
            <a:r>
              <a:rPr lang="en-US" sz="2800" baseline="30000" dirty="0"/>
              <a:t>4 </a:t>
            </a:r>
            <a:r>
              <a:rPr lang="en-US" sz="2800" dirty="0"/>
              <a:t>+ x + 1</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288" y="5394052"/>
            <a:ext cx="8678405" cy="967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592" y="6319582"/>
            <a:ext cx="5169044" cy="544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0"/>
            <a:ext cx="9144000" cy="428978"/>
          </a:xfrm>
        </p:spPr>
        <p:txBody>
          <a:bodyPr>
            <a:normAutofit fontScale="90000"/>
          </a:bodyPr>
          <a:lstStyle/>
          <a:p>
            <a:pPr eaLnBrk="1" hangingPunct="1"/>
            <a:r>
              <a:rPr lang="en-US" dirty="0"/>
              <a:t>Error-Detecting Codes</a:t>
            </a:r>
          </a:p>
        </p:txBody>
      </p:sp>
      <p:sp>
        <p:nvSpPr>
          <p:cNvPr id="20" name="Slide Number Placeholder 19"/>
          <p:cNvSpPr>
            <a:spLocks noGrp="1"/>
          </p:cNvSpPr>
          <p:nvPr>
            <p:ph type="sldNum" sz="quarter" idx="12"/>
          </p:nvPr>
        </p:nvSpPr>
        <p:spPr/>
        <p:txBody>
          <a:bodyPr/>
          <a:lstStyle/>
          <a:p>
            <a:pPr>
              <a:defRPr/>
            </a:pPr>
            <a:fld id="{231DD258-A623-490B-8242-C077DDB146DD}" type="slidenum">
              <a:rPr lang="en-US" smtClean="0"/>
              <a:pPr>
                <a:defRPr/>
              </a:pPr>
              <a:t>64</a:t>
            </a:fld>
            <a:endParaRPr lang="en-US"/>
          </a:p>
        </p:txBody>
      </p:sp>
      <p:sp>
        <p:nvSpPr>
          <p:cNvPr id="5" name="Rectangle 4"/>
          <p:cNvSpPr/>
          <p:nvPr/>
        </p:nvSpPr>
        <p:spPr>
          <a:xfrm>
            <a:off x="265288" y="2263421"/>
            <a:ext cx="3184494" cy="1938992"/>
          </a:xfrm>
          <a:prstGeom prst="rect">
            <a:avLst/>
          </a:prstGeom>
        </p:spPr>
        <p:txBody>
          <a:bodyPr wrap="square">
            <a:spAutoFit/>
          </a:bodyPr>
          <a:lstStyle/>
          <a:p>
            <a:pPr algn="l"/>
            <a:r>
              <a:rPr lang="en-US" sz="2400" dirty="0">
                <a:latin typeface="Times New Roman" pitchFamily="18" charset="0"/>
                <a:cs typeface="Times New Roman" pitchFamily="18" charset="0"/>
              </a:rPr>
              <a:t>Fig: Illustrates the calculation for a frame 1101011011 using the generator G(x) = x</a:t>
            </a:r>
            <a:r>
              <a:rPr lang="en-US" sz="2400" baseline="30000" dirty="0">
                <a:latin typeface="Times New Roman" pitchFamily="18" charset="0"/>
                <a:cs typeface="Times New Roman" pitchFamily="18" charset="0"/>
              </a:rPr>
              <a:t>4 </a:t>
            </a:r>
            <a:r>
              <a:rPr lang="en-US" sz="2400" dirty="0">
                <a:latin typeface="Times New Roman" pitchFamily="18" charset="0"/>
                <a:cs typeface="Times New Roman" pitchFamily="18" charset="0"/>
              </a:rPr>
              <a:t>+ x + 1</a:t>
            </a:r>
          </a:p>
        </p:txBody>
      </p:sp>
      <p:sp>
        <p:nvSpPr>
          <p:cNvPr id="6" name="Rectangle 5"/>
          <p:cNvSpPr/>
          <p:nvPr/>
        </p:nvSpPr>
        <p:spPr>
          <a:xfrm>
            <a:off x="2585156" y="733779"/>
            <a:ext cx="4707466" cy="6186309"/>
          </a:xfrm>
          <a:prstGeom prst="rect">
            <a:avLst/>
          </a:prstGeom>
        </p:spPr>
        <p:txBody>
          <a:bodyPr wrap="square">
            <a:spAutoFit/>
          </a:bodyPr>
          <a:lstStyle/>
          <a:p>
            <a:pPr algn="just"/>
            <a:r>
              <a:rPr lang="en-US" dirty="0"/>
              <a:t>                        1 1 0 0 0 0 1 0 1 0             </a:t>
            </a:r>
          </a:p>
          <a:p>
            <a:pPr algn="just"/>
            <a:r>
              <a:rPr lang="en-US" dirty="0"/>
              <a:t> 1 0 0 1 1    1 1 0 1 0 1 1 0 1 1 1 1 1 0</a:t>
            </a:r>
          </a:p>
          <a:p>
            <a:pPr lvl="2" algn="l"/>
            <a:r>
              <a:rPr lang="en-US" dirty="0"/>
              <a:t>     </a:t>
            </a:r>
            <a:r>
              <a:rPr lang="en-US" u="sng" dirty="0"/>
              <a:t>1 0 0 1 1</a:t>
            </a:r>
          </a:p>
          <a:p>
            <a:pPr lvl="2" algn="l"/>
            <a:r>
              <a:rPr lang="en-US" dirty="0"/>
              <a:t>        1 0 0 1 1</a:t>
            </a:r>
          </a:p>
          <a:p>
            <a:pPr lvl="2" algn="l"/>
            <a:r>
              <a:rPr lang="en-US" dirty="0"/>
              <a:t>        </a:t>
            </a:r>
            <a:r>
              <a:rPr lang="en-US" u="sng" dirty="0"/>
              <a:t>1 0 0 1 1</a:t>
            </a:r>
          </a:p>
          <a:p>
            <a:pPr lvl="2" algn="l"/>
            <a:r>
              <a:rPr lang="en-US" dirty="0"/>
              <a:t>           0 0 0 0 1</a:t>
            </a:r>
          </a:p>
          <a:p>
            <a:pPr lvl="2" algn="l"/>
            <a:r>
              <a:rPr lang="en-US" dirty="0"/>
              <a:t>           </a:t>
            </a:r>
            <a:r>
              <a:rPr lang="en-US" u="sng" dirty="0"/>
              <a:t>0 0 0 0 0</a:t>
            </a:r>
            <a:r>
              <a:rPr lang="en-US" dirty="0"/>
              <a:t>  </a:t>
            </a:r>
          </a:p>
          <a:p>
            <a:pPr lvl="2" algn="l"/>
            <a:r>
              <a:rPr lang="en-US" dirty="0"/>
              <a:t>              0 0 0 1 0</a:t>
            </a:r>
          </a:p>
          <a:p>
            <a:pPr lvl="2" algn="l"/>
            <a:r>
              <a:rPr lang="en-US" dirty="0"/>
              <a:t>              </a:t>
            </a:r>
            <a:r>
              <a:rPr lang="en-US" u="sng" dirty="0"/>
              <a:t>0 0 0 0 0 </a:t>
            </a:r>
            <a:endParaRPr lang="en-US" dirty="0"/>
          </a:p>
          <a:p>
            <a:pPr lvl="2" algn="l"/>
            <a:r>
              <a:rPr lang="en-US" dirty="0"/>
              <a:t>                 0 0 1 0 1</a:t>
            </a:r>
          </a:p>
          <a:p>
            <a:pPr lvl="2" algn="l"/>
            <a:r>
              <a:rPr lang="en-US" dirty="0"/>
              <a:t>                 </a:t>
            </a:r>
            <a:r>
              <a:rPr lang="en-US" u="sng" dirty="0"/>
              <a:t>0 0 0 0 0</a:t>
            </a:r>
            <a:endParaRPr lang="en-US" dirty="0"/>
          </a:p>
          <a:p>
            <a:pPr lvl="2" algn="l"/>
            <a:r>
              <a:rPr lang="en-US" dirty="0"/>
              <a:t>                    0 1 0 1 1</a:t>
            </a:r>
          </a:p>
          <a:p>
            <a:pPr lvl="2" algn="l"/>
            <a:r>
              <a:rPr lang="en-US" dirty="0"/>
              <a:t>                    </a:t>
            </a:r>
            <a:r>
              <a:rPr lang="en-US" u="sng" dirty="0"/>
              <a:t>0 0 0 0 0</a:t>
            </a:r>
          </a:p>
          <a:p>
            <a:pPr lvl="2" algn="l"/>
            <a:r>
              <a:rPr lang="en-US" dirty="0"/>
              <a:t>                       1 0 1 1 1	</a:t>
            </a:r>
          </a:p>
          <a:p>
            <a:pPr lvl="2" algn="l"/>
            <a:r>
              <a:rPr lang="en-US" dirty="0"/>
              <a:t>                       </a:t>
            </a:r>
            <a:r>
              <a:rPr lang="en-US" u="sng" dirty="0"/>
              <a:t>1 0 0 1 1</a:t>
            </a:r>
          </a:p>
          <a:p>
            <a:pPr lvl="2" algn="l"/>
            <a:r>
              <a:rPr lang="en-US" dirty="0"/>
              <a:t>	            0 1 0 0 1</a:t>
            </a:r>
          </a:p>
          <a:p>
            <a:pPr lvl="2" algn="l"/>
            <a:r>
              <a:rPr lang="en-US" dirty="0"/>
              <a:t>	            </a:t>
            </a:r>
            <a:r>
              <a:rPr lang="en-US" u="sng" dirty="0"/>
              <a:t>0 0 0 0 0</a:t>
            </a:r>
          </a:p>
          <a:p>
            <a:pPr lvl="2" algn="l"/>
            <a:r>
              <a:rPr lang="en-US" dirty="0"/>
              <a:t>	               1 0 0 1 1</a:t>
            </a:r>
          </a:p>
          <a:p>
            <a:pPr lvl="2" algn="l"/>
            <a:r>
              <a:rPr lang="en-US" dirty="0"/>
              <a:t>	               </a:t>
            </a:r>
            <a:r>
              <a:rPr lang="en-US" u="sng" dirty="0"/>
              <a:t>1 0 0 1 1</a:t>
            </a:r>
          </a:p>
          <a:p>
            <a:pPr lvl="2" algn="l"/>
            <a:r>
              <a:rPr lang="en-US" dirty="0"/>
              <a:t>	                  0 0 0 0 0</a:t>
            </a:r>
          </a:p>
          <a:p>
            <a:pPr lvl="2" algn="l"/>
            <a:r>
              <a:rPr lang="en-US" dirty="0"/>
              <a:t>		    </a:t>
            </a:r>
            <a:r>
              <a:rPr lang="en-US" u="sng" dirty="0"/>
              <a:t>0 0 0 0 0</a:t>
            </a:r>
          </a:p>
          <a:p>
            <a:pPr lvl="2" algn="l"/>
            <a:r>
              <a:rPr lang="en-US" dirty="0"/>
              <a:t>                                    0 0 0 0</a:t>
            </a:r>
          </a:p>
        </p:txBody>
      </p:sp>
      <p:grpSp>
        <p:nvGrpSpPr>
          <p:cNvPr id="7" name="Group 6"/>
          <p:cNvGrpSpPr/>
          <p:nvPr/>
        </p:nvGrpSpPr>
        <p:grpSpPr>
          <a:xfrm>
            <a:off x="3747118" y="1027289"/>
            <a:ext cx="2777860" cy="271725"/>
            <a:chOff x="3645517" y="1320800"/>
            <a:chExt cx="1750573" cy="249150"/>
          </a:xfrm>
        </p:grpSpPr>
        <p:cxnSp>
          <p:nvCxnSpPr>
            <p:cNvPr id="8" name="Straight Connector 7"/>
            <p:cNvCxnSpPr/>
            <p:nvPr/>
          </p:nvCxnSpPr>
          <p:spPr bwMode="auto">
            <a:xfrm>
              <a:off x="3668890" y="1320800"/>
              <a:ext cx="1727200"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rot="5400000">
              <a:off x="3522133" y="1444978"/>
              <a:ext cx="248356"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cxnSp>
        <p:nvCxnSpPr>
          <p:cNvPr id="10" name="Straight Arrow Connector 9"/>
          <p:cNvCxnSpPr/>
          <p:nvPr/>
        </p:nvCxnSpPr>
        <p:spPr bwMode="auto">
          <a:xfrm rot="16200000" flipH="1">
            <a:off x="4735689" y="1461910"/>
            <a:ext cx="338667" cy="1128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3" name="Straight Arrow Connector 12"/>
          <p:cNvCxnSpPr/>
          <p:nvPr/>
        </p:nvCxnSpPr>
        <p:spPr bwMode="auto">
          <a:xfrm rot="16200000" flipH="1">
            <a:off x="4684889" y="1749777"/>
            <a:ext cx="824089" cy="1128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5" name="Straight Arrow Connector 14"/>
          <p:cNvCxnSpPr/>
          <p:nvPr/>
        </p:nvCxnSpPr>
        <p:spPr bwMode="auto">
          <a:xfrm rot="16200000" flipH="1">
            <a:off x="4611511" y="1981199"/>
            <a:ext cx="1354667" cy="1128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7" name="Straight Arrow Connector 16"/>
          <p:cNvCxnSpPr/>
          <p:nvPr/>
        </p:nvCxnSpPr>
        <p:spPr bwMode="auto">
          <a:xfrm rot="16200000" flipH="1">
            <a:off x="4526844" y="2257777"/>
            <a:ext cx="1907822" cy="1128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9" name="Straight Arrow Connector 18"/>
          <p:cNvCxnSpPr/>
          <p:nvPr/>
        </p:nvCxnSpPr>
        <p:spPr bwMode="auto">
          <a:xfrm rot="5400000">
            <a:off x="4464756" y="2556933"/>
            <a:ext cx="2427111"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1" name="Straight Arrow Connector 20"/>
          <p:cNvCxnSpPr/>
          <p:nvPr/>
        </p:nvCxnSpPr>
        <p:spPr bwMode="auto">
          <a:xfrm rot="5400000">
            <a:off x="4402667" y="2822222"/>
            <a:ext cx="2957689"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3" name="Straight Arrow Connector 22"/>
          <p:cNvCxnSpPr/>
          <p:nvPr/>
        </p:nvCxnSpPr>
        <p:spPr bwMode="auto">
          <a:xfrm rot="16200000" flipH="1">
            <a:off x="4312356" y="3059288"/>
            <a:ext cx="3499555" cy="4515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7" name="Straight Arrow Connector 26"/>
          <p:cNvCxnSpPr/>
          <p:nvPr/>
        </p:nvCxnSpPr>
        <p:spPr bwMode="auto">
          <a:xfrm rot="16200000" flipH="1">
            <a:off x="4238978" y="3358444"/>
            <a:ext cx="4030133" cy="4515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9" name="Straight Arrow Connector 28"/>
          <p:cNvCxnSpPr/>
          <p:nvPr/>
        </p:nvCxnSpPr>
        <p:spPr bwMode="auto">
          <a:xfrm rot="16200000" flipH="1">
            <a:off x="4137377" y="3640666"/>
            <a:ext cx="4594578" cy="6773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1" name="Straight Arrow Connector 30"/>
          <p:cNvCxnSpPr/>
          <p:nvPr/>
        </p:nvCxnSpPr>
        <p:spPr bwMode="auto">
          <a:xfrm rot="10800000" flipV="1">
            <a:off x="6581423" y="5712177"/>
            <a:ext cx="1377245" cy="90311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2" name="TextBox 31"/>
          <p:cNvSpPr txBox="1"/>
          <p:nvPr/>
        </p:nvSpPr>
        <p:spPr>
          <a:xfrm>
            <a:off x="7371644" y="4515556"/>
            <a:ext cx="1580445" cy="923330"/>
          </a:xfrm>
          <a:prstGeom prst="rect">
            <a:avLst/>
          </a:prstGeom>
          <a:noFill/>
        </p:spPr>
        <p:txBody>
          <a:bodyPr wrap="square" rtlCol="0">
            <a:spAutoFit/>
          </a:bodyPr>
          <a:lstStyle/>
          <a:p>
            <a:r>
              <a:rPr lang="en-US" dirty="0"/>
              <a:t>Remainder is 0, so no errors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6165272"/>
            <a:ext cx="8229600" cy="692728"/>
          </a:xfrm>
        </p:spPr>
        <p:txBody>
          <a:bodyPr>
            <a:normAutofit/>
          </a:bodyPr>
          <a:lstStyle/>
          <a:p>
            <a:r>
              <a:rPr lang="en-IN" dirty="0"/>
              <a:t>Transmitted code is: 100100001</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65</a:t>
            </a:fld>
            <a:endParaRPr lang="en-US"/>
          </a:p>
        </p:txBody>
      </p:sp>
      <p:pic>
        <p:nvPicPr>
          <p:cNvPr id="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9638" y="398463"/>
            <a:ext cx="3810144" cy="588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80074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66</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55" y="1690254"/>
            <a:ext cx="8977745" cy="284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71029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accent2">
                    <a:lumMod val="50000"/>
                  </a:schemeClr>
                </a:solidFill>
              </a:rPr>
              <a:t>Sliding Window Protocols</a:t>
            </a:r>
            <a:endParaRPr lang="en-IN" dirty="0">
              <a:solidFill>
                <a:schemeClr val="accent2">
                  <a:lumMod val="50000"/>
                </a:schemeClr>
              </a:solidFill>
            </a:endParaRPr>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765AB78C-8FA7-4560-BB1F-5ECD8A6F763F}" type="slidenum">
              <a:rPr lang="en-US" smtClean="0"/>
              <a:pPr>
                <a:defRPr/>
              </a:pPr>
              <a:t>67</a:t>
            </a:fld>
            <a:endParaRPr lang="en-US"/>
          </a:p>
        </p:txBody>
      </p:sp>
    </p:spTree>
    <p:extLst>
      <p:ext uri="{BB962C8B-B14F-4D97-AF65-F5344CB8AC3E}">
        <p14:creationId xmlns:p14="http://schemas.microsoft.com/office/powerpoint/2010/main" val="21460741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 y="711200"/>
            <a:ext cx="9144000" cy="6146799"/>
          </a:xfrm>
        </p:spPr>
        <p:txBody>
          <a:bodyPr>
            <a:normAutofit/>
          </a:bodyPr>
          <a:lstStyle/>
          <a:p>
            <a:pPr algn="just">
              <a:buFont typeface="Arial" pitchFamily="34" charset="0"/>
              <a:buChar char="•"/>
            </a:pPr>
            <a:r>
              <a:rPr lang="en-US" dirty="0">
                <a:solidFill>
                  <a:srgbClr val="FF0000"/>
                </a:solidFill>
              </a:rPr>
              <a:t>Full-duplex data transmission </a:t>
            </a:r>
            <a:r>
              <a:rPr lang="en-US" dirty="0"/>
              <a:t>is to have two separate communication channels and use each one for simplex data traffic (in different directions). </a:t>
            </a:r>
          </a:p>
          <a:p>
            <a:pPr algn="just">
              <a:buFont typeface="Arial" pitchFamily="34" charset="0"/>
              <a:buChar char="•"/>
            </a:pPr>
            <a:r>
              <a:rPr lang="en-US" dirty="0"/>
              <a:t>If this is done, we have two separate physical circuits, each with a ''</a:t>
            </a:r>
            <a:r>
              <a:rPr lang="en-US" dirty="0">
                <a:solidFill>
                  <a:srgbClr val="FF0000"/>
                </a:solidFill>
              </a:rPr>
              <a:t>forward</a:t>
            </a:r>
            <a:r>
              <a:rPr lang="en-US" dirty="0"/>
              <a:t>'' channel (for data) and a ''</a:t>
            </a:r>
            <a:r>
              <a:rPr lang="en-US" dirty="0">
                <a:solidFill>
                  <a:srgbClr val="FF0000"/>
                </a:solidFill>
              </a:rPr>
              <a:t>reverse</a:t>
            </a:r>
            <a:r>
              <a:rPr lang="en-US" dirty="0"/>
              <a:t>'' channel (for acknowledgements). </a:t>
            </a:r>
          </a:p>
          <a:p>
            <a:pPr algn="just">
              <a:buFont typeface="Arial" pitchFamily="34" charset="0"/>
              <a:buChar char="•"/>
            </a:pPr>
            <a:r>
              <a:rPr lang="en-US" dirty="0"/>
              <a:t>In which cases, the bandwidth of the reverse channel is almost entirely wasted. </a:t>
            </a:r>
          </a:p>
          <a:p>
            <a:pPr algn="just">
              <a:buFont typeface="Arial" pitchFamily="34" charset="0"/>
              <a:buChar char="•"/>
            </a:pPr>
            <a:r>
              <a:rPr lang="en-US" dirty="0"/>
              <a:t>In effect, the user is paying for two circuits but using only the capacity of one </a:t>
            </a:r>
          </a:p>
          <a:p>
            <a:pPr algn="just">
              <a:buFont typeface="Arial" pitchFamily="34" charset="0"/>
              <a:buChar char="•"/>
            </a:pPr>
            <a:r>
              <a:rPr lang="en-US" dirty="0"/>
              <a:t>A </a:t>
            </a:r>
            <a:r>
              <a:rPr lang="en-US" dirty="0">
                <a:solidFill>
                  <a:srgbClr val="FF0000"/>
                </a:solidFill>
              </a:rPr>
              <a:t>better idea </a:t>
            </a:r>
            <a:r>
              <a:rPr lang="en-US" dirty="0"/>
              <a:t>is to </a:t>
            </a:r>
            <a:r>
              <a:rPr lang="en-US" dirty="0">
                <a:solidFill>
                  <a:srgbClr val="FF0000"/>
                </a:solidFill>
              </a:rPr>
              <a:t>use the same circuit for data in both directions.</a:t>
            </a:r>
            <a:r>
              <a:rPr lang="en-US" sz="2800" dirty="0">
                <a:solidFill>
                  <a:srgbClr val="FF0000"/>
                </a:solidFill>
              </a:rPr>
              <a:t>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 y="711201"/>
            <a:ext cx="9144000" cy="5842000"/>
          </a:xfrm>
        </p:spPr>
        <p:txBody>
          <a:bodyPr>
            <a:normAutofit/>
          </a:bodyPr>
          <a:lstStyle/>
          <a:p>
            <a:pPr algn="just">
              <a:buFont typeface="Arial" pitchFamily="34" charset="0"/>
              <a:buChar char="•"/>
            </a:pPr>
            <a:r>
              <a:rPr lang="en-US" dirty="0"/>
              <a:t>Data frames from A to B are intermixed with the acknowledgement frames from A to B. </a:t>
            </a:r>
          </a:p>
          <a:p>
            <a:pPr algn="just">
              <a:buFont typeface="Arial" pitchFamily="34" charset="0"/>
              <a:buChar char="•"/>
            </a:pPr>
            <a:r>
              <a:rPr lang="en-US" dirty="0"/>
              <a:t>By looking at the </a:t>
            </a:r>
            <a:r>
              <a:rPr lang="en-US" dirty="0">
                <a:solidFill>
                  <a:srgbClr val="FF0000"/>
                </a:solidFill>
              </a:rPr>
              <a:t>kind field </a:t>
            </a:r>
            <a:r>
              <a:rPr lang="en-US" dirty="0"/>
              <a:t>in the header of an incoming frame, the receiver can tell whether the frame is </a:t>
            </a:r>
            <a:r>
              <a:rPr lang="en-US" dirty="0">
                <a:solidFill>
                  <a:srgbClr val="FF0000"/>
                </a:solidFill>
              </a:rPr>
              <a:t>data </a:t>
            </a:r>
            <a:r>
              <a:rPr lang="en-US" dirty="0"/>
              <a:t>or</a:t>
            </a:r>
            <a:r>
              <a:rPr lang="en-US" dirty="0">
                <a:solidFill>
                  <a:srgbClr val="FF0000"/>
                </a:solidFill>
              </a:rPr>
              <a:t> acknowledgement </a:t>
            </a:r>
          </a:p>
          <a:p>
            <a:pPr algn="just">
              <a:buFont typeface="Arial" pitchFamily="34" charset="0"/>
              <a:buChar char="•"/>
            </a:pPr>
            <a:r>
              <a:rPr lang="en-US" dirty="0">
                <a:solidFill>
                  <a:srgbClr val="FF0000"/>
                </a:solidFill>
              </a:rPr>
              <a:t>Another improvement </a:t>
            </a:r>
            <a:r>
              <a:rPr lang="en-US" dirty="0"/>
              <a:t>is possible: When a data frame arrives, instead of immediately sending a separate control frame, the receiver restrains itself and waits until the network layer passes it the next packet. </a:t>
            </a:r>
          </a:p>
          <a:p>
            <a:pPr algn="just">
              <a:buFont typeface="Arial" pitchFamily="34" charset="0"/>
              <a:buChar char="•"/>
            </a:pPr>
            <a:r>
              <a:rPr lang="en-US" dirty="0"/>
              <a:t>The acknowledgement is attached to the outgoing data frame (using the </a:t>
            </a:r>
            <a:r>
              <a:rPr lang="en-US" dirty="0" err="1">
                <a:solidFill>
                  <a:srgbClr val="FF0000"/>
                </a:solidFill>
              </a:rPr>
              <a:t>ack</a:t>
            </a:r>
            <a:r>
              <a:rPr lang="en-US" dirty="0">
                <a:solidFill>
                  <a:srgbClr val="FF0000"/>
                </a:solidFill>
              </a:rPr>
              <a:t> field </a:t>
            </a:r>
            <a:r>
              <a:rPr lang="en-US" dirty="0"/>
              <a:t>in the frame header). </a:t>
            </a:r>
          </a:p>
          <a:p>
            <a:pPr algn="just">
              <a:buFont typeface="Arial" pitchFamily="34" charset="0"/>
              <a:buChar char="•"/>
            </a:pPr>
            <a:r>
              <a:rPr lang="en-US" dirty="0"/>
              <a:t>In effect, the acknowledgement gets a free ride on the next outgoing data frame.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 y="711201"/>
            <a:ext cx="9144000" cy="5842000"/>
          </a:xfrm>
        </p:spPr>
        <p:txBody>
          <a:bodyPr/>
          <a:lstStyle/>
          <a:p>
            <a:pPr algn="just">
              <a:buFont typeface="Arial" pitchFamily="34" charset="0"/>
              <a:buChar char="•"/>
            </a:pPr>
            <a:r>
              <a:rPr lang="en-US" dirty="0"/>
              <a:t>The technique of temporarily delaying outgoing acknowledgements so that they can be hooked onto the next outgoing data frame is known as </a:t>
            </a:r>
            <a:r>
              <a:rPr lang="en-US" u="sng" dirty="0">
                <a:solidFill>
                  <a:srgbClr val="FF0000"/>
                </a:solidFill>
              </a:rPr>
              <a:t>piggybacking</a:t>
            </a:r>
          </a:p>
          <a:p>
            <a:pPr algn="just">
              <a:buFont typeface="Arial" pitchFamily="34" charset="0"/>
              <a:buChar char="•"/>
            </a:pPr>
            <a:endParaRPr lang="en-US" dirty="0"/>
          </a:p>
          <a:p>
            <a:pPr algn="just">
              <a:buFont typeface="Arial" pitchFamily="34" charset="0"/>
              <a:buChar char="•"/>
            </a:pPr>
            <a:r>
              <a:rPr lang="en-US" dirty="0"/>
              <a:t>The </a:t>
            </a:r>
            <a:r>
              <a:rPr lang="en-US" dirty="0">
                <a:solidFill>
                  <a:srgbClr val="FF0000"/>
                </a:solidFill>
              </a:rPr>
              <a:t>principal advantage</a:t>
            </a:r>
            <a:r>
              <a:rPr lang="en-US" dirty="0"/>
              <a:t> of using piggybacking over having distinct acknowledgement frames 	</a:t>
            </a:r>
          </a:p>
          <a:p>
            <a:pPr lvl="1" algn="just">
              <a:buFont typeface="Arial" pitchFamily="34" charset="0"/>
              <a:buChar char="•"/>
            </a:pPr>
            <a:r>
              <a:rPr lang="en-US" sz="2400" dirty="0">
                <a:solidFill>
                  <a:schemeClr val="tx1"/>
                </a:solidFill>
              </a:rPr>
              <a:t>better use of the available channel bandwidth. </a:t>
            </a:r>
          </a:p>
          <a:p>
            <a:pPr lvl="1" algn="just">
              <a:buFont typeface="Arial" pitchFamily="34" charset="0"/>
              <a:buChar char="•"/>
            </a:pPr>
            <a:r>
              <a:rPr lang="en-US" sz="2400" dirty="0">
                <a:solidFill>
                  <a:schemeClr val="tx1"/>
                </a:solidFill>
              </a:rPr>
              <a:t>The </a:t>
            </a:r>
            <a:r>
              <a:rPr lang="en-US" sz="2400" b="1" dirty="0">
                <a:solidFill>
                  <a:schemeClr val="tx1"/>
                </a:solidFill>
              </a:rPr>
              <a:t>ack field </a:t>
            </a:r>
            <a:r>
              <a:rPr lang="en-US" sz="2400" dirty="0">
                <a:solidFill>
                  <a:schemeClr val="tx1"/>
                </a:solidFill>
              </a:rPr>
              <a:t>in the frame header costs only a few bits, whereas a separate frame would need a </a:t>
            </a:r>
            <a:r>
              <a:rPr lang="en-US" sz="2400" dirty="0">
                <a:solidFill>
                  <a:srgbClr val="FF3300"/>
                </a:solidFill>
              </a:rPr>
              <a:t>header, the acknowledgement, and a checksum.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 y="711201"/>
            <a:ext cx="9144000" cy="5842000"/>
          </a:xfrm>
        </p:spPr>
        <p:txBody>
          <a:bodyPr>
            <a:normAutofit fontScale="92500" lnSpcReduction="10000"/>
          </a:bodyPr>
          <a:lstStyle/>
          <a:p>
            <a:pPr algn="just">
              <a:buFont typeface="Arial" pitchFamily="34" charset="0"/>
              <a:buChar char="•"/>
            </a:pPr>
            <a:r>
              <a:rPr lang="en-US" dirty="0"/>
              <a:t>Piggybacking introduces a </a:t>
            </a:r>
            <a:r>
              <a:rPr lang="en-US" dirty="0">
                <a:solidFill>
                  <a:srgbClr val="FF0000"/>
                </a:solidFill>
              </a:rPr>
              <a:t>complication</a:t>
            </a:r>
            <a:r>
              <a:rPr lang="en-US" dirty="0"/>
              <a:t> not present with separate acknowledgements. </a:t>
            </a:r>
          </a:p>
          <a:p>
            <a:pPr algn="just">
              <a:buFont typeface="Arial" pitchFamily="34" charset="0"/>
              <a:buChar char="•"/>
            </a:pPr>
            <a:r>
              <a:rPr lang="en-US" dirty="0">
                <a:solidFill>
                  <a:srgbClr val="FF0000"/>
                </a:solidFill>
              </a:rPr>
              <a:t>How long </a:t>
            </a:r>
            <a:r>
              <a:rPr lang="en-US" dirty="0"/>
              <a:t>should the data link layer wait for a packet onto which to piggyback the acknowledgement? </a:t>
            </a:r>
          </a:p>
          <a:p>
            <a:pPr algn="just">
              <a:buFont typeface="Arial" pitchFamily="34" charset="0"/>
              <a:buChar char="•"/>
            </a:pPr>
            <a:r>
              <a:rPr lang="en-US" dirty="0"/>
              <a:t>If the data link layer waits longer than the sender's timeout period, the frame will be retransmitted, defeating the whole purpose of having acknowledgements. </a:t>
            </a:r>
          </a:p>
          <a:p>
            <a:pPr algn="just">
              <a:buFont typeface="Arial" pitchFamily="34" charset="0"/>
              <a:buChar char="•"/>
            </a:pPr>
            <a:r>
              <a:rPr lang="en-US" dirty="0"/>
              <a:t>Of course, the data link layer cannot foretell the future</a:t>
            </a:r>
          </a:p>
          <a:p>
            <a:pPr algn="just">
              <a:buFont typeface="Arial" pitchFamily="34" charset="0"/>
              <a:buChar char="•"/>
            </a:pPr>
            <a:r>
              <a:rPr lang="en-US" dirty="0"/>
              <a:t>So it must take an option to use a scheme, such as </a:t>
            </a:r>
            <a:r>
              <a:rPr lang="en-US" dirty="0">
                <a:solidFill>
                  <a:srgbClr val="FF0000"/>
                </a:solidFill>
              </a:rPr>
              <a:t>waiting a fixed number of milliseconds</a:t>
            </a:r>
            <a:r>
              <a:rPr lang="en-US" dirty="0"/>
              <a:t>. </a:t>
            </a:r>
          </a:p>
          <a:p>
            <a:pPr algn="just">
              <a:buFont typeface="Arial" pitchFamily="34" charset="0"/>
              <a:buChar char="•"/>
            </a:pPr>
            <a:r>
              <a:rPr lang="en-US" dirty="0"/>
              <a:t>If a new packet arrives quickly, the acknowledgement is piggybacked onto it; </a:t>
            </a:r>
          </a:p>
          <a:p>
            <a:pPr algn="just">
              <a:buFont typeface="Arial" pitchFamily="34" charset="0"/>
              <a:buChar char="•"/>
            </a:pPr>
            <a:r>
              <a:rPr lang="en-US" dirty="0"/>
              <a:t>otherwise, if no new packet has arrived by the end of this time period, the data link layer just sends a separate acknowledgement frame </a:t>
            </a:r>
            <a:endParaRPr lang="en-US" sz="2400"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80108" y="1274618"/>
            <a:ext cx="8963891" cy="632178"/>
          </a:xfrm>
        </p:spPr>
        <p:txBody>
          <a:bodyPr>
            <a:normAutofit fontScale="90000"/>
          </a:bodyPr>
          <a:lstStyle/>
          <a:p>
            <a:pPr eaLnBrk="1" hangingPunct="1"/>
            <a:r>
              <a:rPr lang="en-US" u="sng" dirty="0"/>
              <a:t>Sliding Window Protocols</a:t>
            </a:r>
          </a:p>
        </p:txBody>
      </p:sp>
      <p:sp>
        <p:nvSpPr>
          <p:cNvPr id="21507" name="Rectangle 3"/>
          <p:cNvSpPr>
            <a:spLocks noGrp="1" noChangeArrowheads="1"/>
          </p:cNvSpPr>
          <p:nvPr>
            <p:ph idx="1"/>
          </p:nvPr>
        </p:nvSpPr>
        <p:spPr>
          <a:xfrm>
            <a:off x="277091" y="2382981"/>
            <a:ext cx="8437418" cy="4170219"/>
          </a:xfrm>
        </p:spPr>
        <p:txBody>
          <a:bodyPr/>
          <a:lstStyle/>
          <a:p>
            <a:pPr algn="just">
              <a:buFont typeface="Arial" pitchFamily="34" charset="0"/>
              <a:buChar char="•"/>
            </a:pPr>
            <a:r>
              <a:rPr lang="en-US" dirty="0"/>
              <a:t>In all sliding window protocols, each outbound frame contains a </a:t>
            </a:r>
            <a:r>
              <a:rPr lang="en-US" dirty="0">
                <a:solidFill>
                  <a:srgbClr val="FF3300"/>
                </a:solidFill>
              </a:rPr>
              <a:t>sequence number</a:t>
            </a:r>
            <a:r>
              <a:rPr lang="en-US" dirty="0"/>
              <a:t>, ranging from </a:t>
            </a:r>
            <a:r>
              <a:rPr lang="en-US" dirty="0">
                <a:solidFill>
                  <a:srgbClr val="FF3300"/>
                </a:solidFill>
              </a:rPr>
              <a:t>0</a:t>
            </a:r>
            <a:r>
              <a:rPr lang="en-US" dirty="0"/>
              <a:t> up to some </a:t>
            </a:r>
            <a:r>
              <a:rPr lang="en-US" dirty="0">
                <a:solidFill>
                  <a:srgbClr val="FF3300"/>
                </a:solidFill>
              </a:rPr>
              <a:t>maximum</a:t>
            </a:r>
            <a:r>
              <a:rPr lang="en-US" dirty="0"/>
              <a:t> </a:t>
            </a:r>
          </a:p>
          <a:p>
            <a:pPr algn="just">
              <a:buFont typeface="Arial" pitchFamily="34" charset="0"/>
              <a:buChar char="•"/>
            </a:pPr>
            <a:endParaRPr lang="en-US" dirty="0"/>
          </a:p>
          <a:p>
            <a:pPr algn="just">
              <a:buFont typeface="Arial" pitchFamily="34" charset="0"/>
              <a:buChar char="•"/>
            </a:pPr>
            <a:r>
              <a:rPr lang="en-US" dirty="0"/>
              <a:t>Maximum is usually </a:t>
            </a:r>
            <a:r>
              <a:rPr lang="en-US" dirty="0">
                <a:solidFill>
                  <a:srgbClr val="FF3300"/>
                </a:solidFill>
              </a:rPr>
              <a:t>2</a:t>
            </a:r>
            <a:r>
              <a:rPr lang="en-US" baseline="30000" dirty="0">
                <a:solidFill>
                  <a:srgbClr val="FF3300"/>
                </a:solidFill>
              </a:rPr>
              <a:t>n </a:t>
            </a:r>
            <a:r>
              <a:rPr lang="en-US" dirty="0">
                <a:solidFill>
                  <a:srgbClr val="FF3300"/>
                </a:solidFill>
              </a:rPr>
              <a:t>- 1 </a:t>
            </a:r>
            <a:r>
              <a:rPr lang="en-US" dirty="0"/>
              <a:t>so the sequence number fits exactly in an </a:t>
            </a:r>
            <a:r>
              <a:rPr lang="en-US" dirty="0">
                <a:solidFill>
                  <a:srgbClr val="FF3300"/>
                </a:solidFill>
              </a:rPr>
              <a:t>n-bit</a:t>
            </a:r>
            <a:r>
              <a:rPr lang="en-US" dirty="0"/>
              <a:t> field.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42655"/>
            <a:ext cx="8229600" cy="4731881"/>
          </a:xfrm>
        </p:spPr>
        <p:txBody>
          <a:bodyPr>
            <a:normAutofit/>
          </a:bodyPr>
          <a:lstStyle/>
          <a:p>
            <a:pPr algn="just">
              <a:buFont typeface="Arial" pitchFamily="34" charset="0"/>
              <a:buChar char="•"/>
            </a:pPr>
            <a:r>
              <a:rPr lang="en-US" sz="2600" dirty="0"/>
              <a:t>Essence of all sliding window protocols </a:t>
            </a:r>
          </a:p>
          <a:p>
            <a:pPr lvl="1" algn="just">
              <a:buFont typeface="Arial" pitchFamily="34" charset="0"/>
              <a:buChar char="•"/>
            </a:pPr>
            <a:r>
              <a:rPr lang="en-US" dirty="0">
                <a:solidFill>
                  <a:schemeClr val="tx1"/>
                </a:solidFill>
              </a:rPr>
              <a:t>at any instant of time, the sender maintains a set of sequence numbers corresponding to frames it is permitted to send. </a:t>
            </a:r>
          </a:p>
          <a:p>
            <a:pPr lvl="1" algn="just">
              <a:buFont typeface="Arial" pitchFamily="34" charset="0"/>
              <a:buChar char="•"/>
            </a:pPr>
            <a:r>
              <a:rPr lang="en-US" dirty="0">
                <a:solidFill>
                  <a:schemeClr val="tx1"/>
                </a:solidFill>
              </a:rPr>
              <a:t>These frames are said to fall within the</a:t>
            </a:r>
            <a:r>
              <a:rPr lang="en-US" dirty="0"/>
              <a:t> </a:t>
            </a:r>
            <a:r>
              <a:rPr lang="en-US" dirty="0">
                <a:solidFill>
                  <a:srgbClr val="FF0000"/>
                </a:solidFill>
              </a:rPr>
              <a:t>sending window</a:t>
            </a:r>
            <a:r>
              <a:rPr lang="en-US" dirty="0"/>
              <a:t>. </a:t>
            </a:r>
          </a:p>
          <a:p>
            <a:pPr lvl="1" algn="just">
              <a:buFont typeface="Arial" pitchFamily="34" charset="0"/>
              <a:buChar char="•"/>
            </a:pPr>
            <a:r>
              <a:rPr lang="en-US" dirty="0">
                <a:solidFill>
                  <a:schemeClr val="tx1"/>
                </a:solidFill>
              </a:rPr>
              <a:t>Similarly, the receiver also maintains a</a:t>
            </a:r>
            <a:r>
              <a:rPr lang="en-US" dirty="0"/>
              <a:t> </a:t>
            </a:r>
            <a:r>
              <a:rPr lang="en-US" dirty="0">
                <a:solidFill>
                  <a:srgbClr val="FF0000"/>
                </a:solidFill>
              </a:rPr>
              <a:t>receiving window</a:t>
            </a:r>
            <a:r>
              <a:rPr lang="en-US" dirty="0"/>
              <a:t> </a:t>
            </a:r>
            <a:r>
              <a:rPr lang="en-US" dirty="0">
                <a:solidFill>
                  <a:schemeClr val="tx1"/>
                </a:solidFill>
              </a:rPr>
              <a:t>corresponding to the set of frames it is permitted to accept. </a:t>
            </a:r>
          </a:p>
          <a:p>
            <a:endParaRPr lang="en-IN" sz="2600"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73</a:t>
            </a:fld>
            <a:endParaRPr lang="en-US"/>
          </a:p>
        </p:txBody>
      </p:sp>
    </p:spTree>
    <p:extLst>
      <p:ext uri="{BB962C8B-B14F-4D97-AF65-F5344CB8AC3E}">
        <p14:creationId xmlns:p14="http://schemas.microsoft.com/office/powerpoint/2010/main" val="25283660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0" y="0"/>
            <a:ext cx="9144000" cy="677333"/>
          </a:xfrm>
        </p:spPr>
        <p:txBody>
          <a:bodyPr>
            <a:normAutofit fontScale="90000"/>
          </a:bodyPr>
          <a:lstStyle/>
          <a:p>
            <a:pPr eaLnBrk="1" hangingPunct="1"/>
            <a:r>
              <a:rPr lang="en-US" dirty="0"/>
              <a:t>Sliding Window Protocols</a:t>
            </a:r>
          </a:p>
        </p:txBody>
      </p:sp>
      <p:sp>
        <p:nvSpPr>
          <p:cNvPr id="22531" name="Rectangle 3"/>
          <p:cNvSpPr>
            <a:spLocks noGrp="1" noChangeArrowheads="1"/>
          </p:cNvSpPr>
          <p:nvPr>
            <p:ph idx="1"/>
          </p:nvPr>
        </p:nvSpPr>
        <p:spPr>
          <a:xfrm>
            <a:off x="508000" y="4366862"/>
            <a:ext cx="7766756" cy="2366962"/>
          </a:xfrm>
        </p:spPr>
        <p:txBody>
          <a:bodyPr>
            <a:normAutofit fontScale="85000" lnSpcReduction="10000"/>
          </a:bodyPr>
          <a:lstStyle/>
          <a:p>
            <a:pPr eaLnBrk="1" hangingPunct="1">
              <a:buFontTx/>
              <a:buNone/>
            </a:pPr>
            <a:r>
              <a:rPr lang="en-US" dirty="0"/>
              <a:t>A sliding window of size 1, with a 3-bit sequence number.</a:t>
            </a:r>
          </a:p>
          <a:p>
            <a:pPr eaLnBrk="1" hangingPunct="1">
              <a:buFontTx/>
              <a:buNone/>
            </a:pPr>
            <a:r>
              <a:rPr lang="en-US" dirty="0">
                <a:solidFill>
                  <a:schemeClr val="accent2"/>
                </a:solidFill>
              </a:rPr>
              <a:t>(a)</a:t>
            </a:r>
            <a:r>
              <a:rPr lang="en-US" dirty="0"/>
              <a:t> Initially.</a:t>
            </a:r>
          </a:p>
          <a:p>
            <a:pPr eaLnBrk="1" hangingPunct="1">
              <a:buFontTx/>
              <a:buNone/>
            </a:pPr>
            <a:r>
              <a:rPr lang="en-US" dirty="0">
                <a:solidFill>
                  <a:schemeClr val="accent2"/>
                </a:solidFill>
              </a:rPr>
              <a:t>(b)</a:t>
            </a:r>
            <a:r>
              <a:rPr lang="en-US" dirty="0"/>
              <a:t> After the first frame has been sent.</a:t>
            </a:r>
          </a:p>
          <a:p>
            <a:pPr eaLnBrk="1" hangingPunct="1">
              <a:buFontTx/>
              <a:buNone/>
            </a:pPr>
            <a:r>
              <a:rPr lang="en-US" dirty="0">
                <a:solidFill>
                  <a:schemeClr val="accent2"/>
                </a:solidFill>
              </a:rPr>
              <a:t>(c)</a:t>
            </a:r>
            <a:r>
              <a:rPr lang="en-US" dirty="0"/>
              <a:t> After the first frame has been received.</a:t>
            </a:r>
          </a:p>
          <a:p>
            <a:pPr eaLnBrk="1" hangingPunct="1">
              <a:buFontTx/>
              <a:buNone/>
            </a:pPr>
            <a:r>
              <a:rPr lang="en-US" dirty="0">
                <a:solidFill>
                  <a:schemeClr val="accent2"/>
                </a:solidFill>
              </a:rPr>
              <a:t>(d)</a:t>
            </a:r>
            <a:r>
              <a:rPr lang="en-US" dirty="0"/>
              <a:t> After the first acknowledgement has been received.</a:t>
            </a:r>
          </a:p>
        </p:txBody>
      </p:sp>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74</a:t>
            </a:fld>
            <a:endParaRPr lang="en-US"/>
          </a:p>
        </p:txBody>
      </p:sp>
      <p:pic>
        <p:nvPicPr>
          <p:cNvPr id="22532" name="Picture 4" descr="3-13"/>
          <p:cNvPicPr>
            <a:picLocks noChangeAspect="1" noChangeArrowheads="1"/>
          </p:cNvPicPr>
          <p:nvPr/>
        </p:nvPicPr>
        <p:blipFill>
          <a:blip r:embed="rId2" cstate="print"/>
          <a:srcRect/>
          <a:stretch>
            <a:fillRect/>
          </a:stretch>
        </p:blipFill>
        <p:spPr bwMode="auto">
          <a:xfrm>
            <a:off x="174096" y="686684"/>
            <a:ext cx="8789282" cy="3670828"/>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 y="711201"/>
            <a:ext cx="9144000" cy="5842000"/>
          </a:xfrm>
        </p:spPr>
        <p:txBody>
          <a:bodyPr>
            <a:normAutofit/>
          </a:bodyPr>
          <a:lstStyle/>
          <a:p>
            <a:pPr algn="just">
              <a:buFont typeface="Arial" pitchFamily="34" charset="0"/>
              <a:buChar char="•"/>
            </a:pPr>
            <a:r>
              <a:rPr lang="en-US" sz="2600" dirty="0"/>
              <a:t>The </a:t>
            </a:r>
            <a:r>
              <a:rPr lang="en-US" sz="2600" dirty="0">
                <a:solidFill>
                  <a:srgbClr val="FF0000"/>
                </a:solidFill>
              </a:rPr>
              <a:t>sender's window </a:t>
            </a:r>
            <a:r>
              <a:rPr lang="en-US" sz="2600" dirty="0"/>
              <a:t>and the </a:t>
            </a:r>
            <a:r>
              <a:rPr lang="en-US" sz="2600" dirty="0">
                <a:solidFill>
                  <a:srgbClr val="FF0000"/>
                </a:solidFill>
              </a:rPr>
              <a:t>receiver's window </a:t>
            </a:r>
            <a:r>
              <a:rPr lang="en-US" sz="2600" b="1" dirty="0"/>
              <a:t>need not have the same lower and upper limits or even have the same size. </a:t>
            </a:r>
          </a:p>
          <a:p>
            <a:pPr algn="just">
              <a:buFont typeface="Arial" pitchFamily="34" charset="0"/>
              <a:buChar char="•"/>
            </a:pPr>
            <a:r>
              <a:rPr lang="en-US" sz="2600" dirty="0"/>
              <a:t>The sequence numbers within the </a:t>
            </a:r>
            <a:r>
              <a:rPr lang="en-US" sz="2600" dirty="0">
                <a:solidFill>
                  <a:srgbClr val="FF0000"/>
                </a:solidFill>
              </a:rPr>
              <a:t>sender's window </a:t>
            </a:r>
            <a:r>
              <a:rPr lang="en-US" sz="2600" dirty="0"/>
              <a:t>represent </a:t>
            </a:r>
            <a:r>
              <a:rPr lang="en-US" sz="2600" dirty="0">
                <a:solidFill>
                  <a:srgbClr val="FF0000"/>
                </a:solidFill>
              </a:rPr>
              <a:t>frames that have been sent </a:t>
            </a:r>
            <a:r>
              <a:rPr lang="en-US" sz="2600" dirty="0"/>
              <a:t>or </a:t>
            </a:r>
            <a:r>
              <a:rPr lang="en-US" sz="2600" dirty="0">
                <a:solidFill>
                  <a:srgbClr val="FF0000"/>
                </a:solidFill>
              </a:rPr>
              <a:t>can be sent</a:t>
            </a:r>
            <a:r>
              <a:rPr lang="en-US" sz="2600" dirty="0"/>
              <a:t> but are as yet not acknowledged.</a:t>
            </a:r>
          </a:p>
          <a:p>
            <a:pPr algn="just">
              <a:buFont typeface="Arial" pitchFamily="34" charset="0"/>
              <a:buChar char="•"/>
            </a:pPr>
            <a:r>
              <a:rPr lang="en-US" sz="2600" dirty="0"/>
              <a:t> Whenever a new packet arrives from the network layer, it is given the next highest sequence number, and the upper edge of the window is advanced by one. </a:t>
            </a:r>
          </a:p>
          <a:p>
            <a:pPr algn="just">
              <a:buFont typeface="Arial" pitchFamily="34" charset="0"/>
              <a:buChar char="•"/>
            </a:pPr>
            <a:r>
              <a:rPr lang="en-US" sz="2600" dirty="0"/>
              <a:t>When an acknowledgement comes in, the lower edge is advanced by one. In this way the window continuously maintains a list of unacknowledged frames.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66255" y="711201"/>
            <a:ext cx="8769927" cy="5842000"/>
          </a:xfrm>
        </p:spPr>
        <p:txBody>
          <a:bodyPr>
            <a:normAutofit/>
          </a:bodyPr>
          <a:lstStyle/>
          <a:p>
            <a:pPr algn="just">
              <a:buFont typeface="Arial" pitchFamily="34" charset="0"/>
              <a:buChar char="•"/>
            </a:pPr>
            <a:r>
              <a:rPr lang="en-US" sz="2600" dirty="0"/>
              <a:t>Since frames currently within the sender's window may ultimately be lost or damaged in transit, the sender must keep all these frames in its memory for possible retransmission.</a:t>
            </a:r>
          </a:p>
          <a:p>
            <a:pPr algn="just">
              <a:buFont typeface="Arial" pitchFamily="34" charset="0"/>
              <a:buChar char="•"/>
            </a:pPr>
            <a:r>
              <a:rPr lang="en-US" sz="2600" dirty="0"/>
              <a:t> Thus, if the </a:t>
            </a:r>
            <a:r>
              <a:rPr lang="en-US" sz="2600" dirty="0">
                <a:solidFill>
                  <a:srgbClr val="FF0000"/>
                </a:solidFill>
              </a:rPr>
              <a:t>maximum window size is n</a:t>
            </a:r>
            <a:r>
              <a:rPr lang="en-US" sz="2600" dirty="0"/>
              <a:t>, the sender needs </a:t>
            </a:r>
            <a:r>
              <a:rPr lang="en-US" sz="2600" b="1" dirty="0"/>
              <a:t>n buffers to hold the unacknowledged frames</a:t>
            </a:r>
            <a:r>
              <a:rPr lang="en-US" sz="2600" dirty="0"/>
              <a:t>. </a:t>
            </a:r>
          </a:p>
          <a:p>
            <a:pPr algn="just">
              <a:buFont typeface="Arial" pitchFamily="34" charset="0"/>
              <a:buChar char="•"/>
            </a:pPr>
            <a:r>
              <a:rPr lang="en-US" sz="2600" dirty="0"/>
              <a:t>If the window ever grows to its maximum size, the sending data link layer must forcibly shut off the network layer until another buffer becomes free </a:t>
            </a:r>
          </a:p>
          <a:p>
            <a:pPr algn="just">
              <a:buFont typeface="Arial" pitchFamily="34" charset="0"/>
              <a:buChar char="•"/>
            </a:pPr>
            <a:r>
              <a:rPr lang="en-US" sz="2600" dirty="0"/>
              <a:t>The receiver window corresponds to the frames it may accept. </a:t>
            </a:r>
          </a:p>
          <a:p>
            <a:pPr algn="just">
              <a:buFont typeface="Arial" pitchFamily="34" charset="0"/>
              <a:buChar char="•"/>
            </a:pPr>
            <a:r>
              <a:rPr lang="en-US" sz="2600" dirty="0"/>
              <a:t>Any frame falling outside the window is discarded without comment.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02327"/>
            <a:ext cx="8229600" cy="5272209"/>
          </a:xfrm>
        </p:spPr>
        <p:txBody>
          <a:bodyPr>
            <a:normAutofit/>
          </a:bodyPr>
          <a:lstStyle/>
          <a:p>
            <a:pPr algn="just">
              <a:buFont typeface="Arial" pitchFamily="34" charset="0"/>
              <a:buChar char="•"/>
            </a:pPr>
            <a:r>
              <a:rPr lang="en-US" sz="2600" dirty="0"/>
              <a:t>When a frame whose sequence number is equal to the lower edge of the window is received, it is passed to the network layer, an acknowledgement is generated, and the window is rotated by one. </a:t>
            </a:r>
          </a:p>
          <a:p>
            <a:pPr algn="just">
              <a:buFont typeface="Arial" pitchFamily="34" charset="0"/>
              <a:buChar char="•"/>
            </a:pPr>
            <a:r>
              <a:rPr lang="en-US" sz="2600" dirty="0"/>
              <a:t>Unlike the sender's window, the receiver's window always remains at its initial size. </a:t>
            </a:r>
          </a:p>
          <a:p>
            <a:pPr algn="just">
              <a:buFont typeface="Arial" pitchFamily="34" charset="0"/>
              <a:buChar char="•"/>
            </a:pPr>
            <a:r>
              <a:rPr lang="en-US" sz="2600" dirty="0"/>
              <a:t>Note that a window size of 1 means that the data link layer only accepts frames in order, but for larger windows this is not so. </a:t>
            </a:r>
          </a:p>
          <a:p>
            <a:endParaRPr lang="en-IN" sz="2600" dirty="0"/>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77</a:t>
            </a:fld>
            <a:endParaRPr lang="en-US"/>
          </a:p>
        </p:txBody>
      </p:sp>
    </p:spTree>
    <p:extLst>
      <p:ext uri="{BB962C8B-B14F-4D97-AF65-F5344CB8AC3E}">
        <p14:creationId xmlns:p14="http://schemas.microsoft.com/office/powerpoint/2010/main" val="18988127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D5CF-3652-4DC5-8BC9-D104A286EF05}"/>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880C1561-1065-4A1A-A94A-AD34259B47B3}"/>
              </a:ext>
            </a:extLst>
          </p:cNvPr>
          <p:cNvSpPr>
            <a:spLocks noGrp="1"/>
          </p:cNvSpPr>
          <p:nvPr>
            <p:ph type="sldNum" sz="quarter" idx="12"/>
          </p:nvPr>
        </p:nvSpPr>
        <p:spPr/>
        <p:txBody>
          <a:bodyPr/>
          <a:lstStyle/>
          <a:p>
            <a:pPr>
              <a:defRPr/>
            </a:pPr>
            <a:fld id="{231DD258-A623-490B-8242-C077DDB146DD}" type="slidenum">
              <a:rPr lang="en-US" smtClean="0"/>
              <a:pPr>
                <a:defRPr/>
              </a:pPr>
              <a:t>78</a:t>
            </a:fld>
            <a:endParaRPr lang="en-US"/>
          </a:p>
        </p:txBody>
      </p:sp>
      <p:pic>
        <p:nvPicPr>
          <p:cNvPr id="1028" name="Picture 4" descr="Sliding Window Protocol: Complete Step-by-Step Guide | Simplilearn">
            <a:extLst>
              <a:ext uri="{FF2B5EF4-FFF2-40B4-BE49-F238E27FC236}">
                <a16:creationId xmlns:a16="http://schemas.microsoft.com/office/drawing/2014/main" id="{48357C4C-7AF1-4D44-AA96-E146B656F1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350" y="1421295"/>
            <a:ext cx="8973650" cy="4511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9762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30178-A2F5-4861-B783-54E4C2EC5AE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58D15DF-2628-4F90-9DF1-8551232762B5}"/>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1E673B2B-C9C1-4AA6-B4F8-D2FE931AA446}"/>
              </a:ext>
            </a:extLst>
          </p:cNvPr>
          <p:cNvSpPr>
            <a:spLocks noGrp="1"/>
          </p:cNvSpPr>
          <p:nvPr>
            <p:ph type="sldNum" sz="quarter" idx="12"/>
          </p:nvPr>
        </p:nvSpPr>
        <p:spPr/>
        <p:txBody>
          <a:bodyPr/>
          <a:lstStyle/>
          <a:p>
            <a:pPr>
              <a:defRPr/>
            </a:pPr>
            <a:fld id="{231DD258-A623-490B-8242-C077DDB146DD}" type="slidenum">
              <a:rPr lang="en-US" smtClean="0"/>
              <a:pPr>
                <a:defRPr/>
              </a:pPr>
              <a:t>79</a:t>
            </a:fld>
            <a:endParaRPr lang="en-US"/>
          </a:p>
        </p:txBody>
      </p:sp>
      <p:pic>
        <p:nvPicPr>
          <p:cNvPr id="2052" name="Picture 4">
            <a:extLst>
              <a:ext uri="{FF2B5EF4-FFF2-40B4-BE49-F238E27FC236}">
                <a16:creationId xmlns:a16="http://schemas.microsoft.com/office/drawing/2014/main" id="{FCDBFEC2-21E4-4D64-9242-563181F040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8341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E7AD-A42C-4C6A-9F38-34C6CE76EA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D21518-01C3-42BD-A757-6D27D98A0CEB}"/>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1EE61CF-85DE-43A6-B43D-D99FDE3C32C3}"/>
              </a:ext>
            </a:extLst>
          </p:cNvPr>
          <p:cNvSpPr>
            <a:spLocks noGrp="1"/>
          </p:cNvSpPr>
          <p:nvPr>
            <p:ph type="sldNum" sz="quarter" idx="12"/>
          </p:nvPr>
        </p:nvSpPr>
        <p:spPr/>
        <p:txBody>
          <a:bodyPr/>
          <a:lstStyle/>
          <a:p>
            <a:pPr>
              <a:defRPr/>
            </a:pPr>
            <a:fld id="{231DD258-A623-490B-8242-C077DDB146DD}" type="slidenum">
              <a:rPr lang="en-US" smtClean="0"/>
              <a:pPr>
                <a:defRPr/>
              </a:pPr>
              <a:t>80</a:t>
            </a:fld>
            <a:endParaRPr lang="en-US"/>
          </a:p>
        </p:txBody>
      </p:sp>
      <p:pic>
        <p:nvPicPr>
          <p:cNvPr id="1026" name="Picture 2">
            <a:extLst>
              <a:ext uri="{FF2B5EF4-FFF2-40B4-BE49-F238E27FC236}">
                <a16:creationId xmlns:a16="http://schemas.microsoft.com/office/drawing/2014/main" id="{B821B100-B38C-4A4E-B3DC-731C33F12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94264"/>
            <a:ext cx="9144000" cy="368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6824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15636" y="768928"/>
            <a:ext cx="8229600" cy="1066800"/>
          </a:xfrm>
        </p:spPr>
        <p:txBody>
          <a:bodyPr/>
          <a:lstStyle/>
          <a:p>
            <a:pPr eaLnBrk="1" hangingPunct="1"/>
            <a:r>
              <a:rPr lang="en-US" dirty="0"/>
              <a:t>Sliding Window Protocols</a:t>
            </a:r>
          </a:p>
        </p:txBody>
      </p:sp>
      <p:sp>
        <p:nvSpPr>
          <p:cNvPr id="21507" name="Rectangle 3"/>
          <p:cNvSpPr>
            <a:spLocks noGrp="1" noChangeArrowheads="1"/>
          </p:cNvSpPr>
          <p:nvPr>
            <p:ph idx="1"/>
          </p:nvPr>
        </p:nvSpPr>
        <p:spPr>
          <a:xfrm>
            <a:off x="536576" y="1828512"/>
            <a:ext cx="8288770" cy="4683125"/>
          </a:xfrm>
        </p:spPr>
        <p:txBody>
          <a:bodyPr>
            <a:normAutofit/>
          </a:bodyPr>
          <a:lstStyle/>
          <a:p>
            <a:pPr eaLnBrk="1" hangingPunct="1">
              <a:buFontTx/>
              <a:buChar char="•"/>
            </a:pPr>
            <a:r>
              <a:rPr lang="en-US" dirty="0"/>
              <a:t>Bidirectional Protocols</a:t>
            </a:r>
          </a:p>
          <a:p>
            <a:pPr marL="925830" lvl="1" indent="-514350" eaLnBrk="1" hangingPunct="1">
              <a:buFont typeface="+mj-lt"/>
              <a:buAutoNum type="arabicPeriod"/>
            </a:pPr>
            <a:r>
              <a:rPr lang="en-US" sz="2800" dirty="0"/>
              <a:t>A One-Bit Sliding Window Protocol</a:t>
            </a:r>
          </a:p>
          <a:p>
            <a:pPr marL="925830" lvl="1" indent="-514350" eaLnBrk="1" hangingPunct="1">
              <a:buFont typeface="+mj-lt"/>
              <a:buAutoNum type="arabicPeriod"/>
            </a:pPr>
            <a:r>
              <a:rPr lang="en-US" sz="2800" dirty="0"/>
              <a:t>A Protocol Using Go Back N</a:t>
            </a:r>
          </a:p>
          <a:p>
            <a:pPr marL="925830" lvl="1" indent="-514350" eaLnBrk="1" hangingPunct="1">
              <a:buFont typeface="+mj-lt"/>
              <a:buAutoNum type="arabicPeriod"/>
            </a:pPr>
            <a:r>
              <a:rPr lang="en-US" sz="2800" dirty="0"/>
              <a:t>A Protocol Using Selective Repeat</a:t>
            </a:r>
          </a:p>
          <a:p>
            <a:pPr lvl="1" eaLnBrk="1" hangingPunct="1">
              <a:buFontTx/>
              <a:buChar char="•"/>
            </a:pPr>
            <a:endParaRPr lang="en-US" sz="2800" dirty="0"/>
          </a:p>
          <a:p>
            <a:pPr algn="just" eaLnBrk="1" hangingPunct="1">
              <a:buFontTx/>
              <a:buChar char="•"/>
            </a:pPr>
            <a:r>
              <a:rPr lang="en-US" dirty="0"/>
              <a:t>Three protocols differ among themselves in terms of efficiency, complexity, and buffer requirements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498780"/>
            <a:ext cx="8686800" cy="643467"/>
          </a:xfrm>
        </p:spPr>
        <p:txBody>
          <a:bodyPr>
            <a:normAutofit fontScale="90000"/>
          </a:bodyPr>
          <a:lstStyle/>
          <a:p>
            <a:pPr eaLnBrk="1" hangingPunct="1"/>
            <a:r>
              <a:rPr lang="en-US" dirty="0"/>
              <a:t>A One-Bit Sliding Window Protocol</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82</a:t>
            </a:fld>
            <a:endParaRPr lang="en-US"/>
          </a:p>
        </p:txBody>
      </p:sp>
      <p:sp>
        <p:nvSpPr>
          <p:cNvPr id="5" name="Rectangle 3"/>
          <p:cNvSpPr txBox="1">
            <a:spLocks noChangeArrowheads="1"/>
          </p:cNvSpPr>
          <p:nvPr/>
        </p:nvSpPr>
        <p:spPr bwMode="auto">
          <a:xfrm>
            <a:off x="180111" y="1433697"/>
            <a:ext cx="8534400" cy="44703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609600" lvl="0" indent="-609600" algn="just" eaLnBrk="0" hangingPunct="0">
              <a:spcBef>
                <a:spcPct val="20000"/>
              </a:spcBef>
              <a:buClr>
                <a:schemeClr val="accent2"/>
              </a:buClr>
              <a:buFont typeface="Arial" pitchFamily="34" charset="0"/>
              <a:buChar char="•"/>
            </a:pPr>
            <a:r>
              <a:rPr lang="en-US" sz="2600" dirty="0">
                <a:latin typeface="Times New Roman" pitchFamily="18" charset="0"/>
                <a:cs typeface="Times New Roman" pitchFamily="18" charset="0"/>
              </a:rPr>
              <a:t>A sliding window protocol with a </a:t>
            </a:r>
            <a:r>
              <a:rPr lang="en-US" sz="2600" b="1" dirty="0">
                <a:latin typeface="Times New Roman" pitchFamily="18" charset="0"/>
                <a:cs typeface="Times New Roman" pitchFamily="18" charset="0"/>
              </a:rPr>
              <a:t>maximum window size of 1. </a:t>
            </a:r>
          </a:p>
          <a:p>
            <a:pPr marL="609600" lvl="0" indent="-609600" algn="just" eaLnBrk="0" hangingPunct="0">
              <a:spcBef>
                <a:spcPct val="20000"/>
              </a:spcBef>
              <a:buClr>
                <a:schemeClr val="accent2"/>
              </a:buClr>
              <a:buFont typeface="Arial" pitchFamily="34" charset="0"/>
              <a:buChar char="•"/>
            </a:pPr>
            <a:r>
              <a:rPr lang="en-US" sz="2600" dirty="0">
                <a:latin typeface="Times New Roman" pitchFamily="18" charset="0"/>
                <a:cs typeface="Times New Roman" pitchFamily="18" charset="0"/>
              </a:rPr>
              <a:t>Such a protocol uses </a:t>
            </a:r>
            <a:r>
              <a:rPr lang="en-US" sz="2600" b="1" dirty="0">
                <a:latin typeface="Times New Roman" pitchFamily="18" charset="0"/>
                <a:cs typeface="Times New Roman" pitchFamily="18" charset="0"/>
              </a:rPr>
              <a:t>stop-and-wait</a:t>
            </a:r>
            <a:r>
              <a:rPr lang="en-US" sz="2600" dirty="0">
                <a:latin typeface="Times New Roman" pitchFamily="18" charset="0"/>
                <a:cs typeface="Times New Roman" pitchFamily="18" charset="0"/>
              </a:rPr>
              <a:t> since the sender transmits a frame and waits for its acknowledgement before sending the next one </a:t>
            </a:r>
            <a:r>
              <a:rPr kumimoji="0" lang="en-US" sz="2600" b="0" i="0" u="none" strike="noStrike" kern="0" cap="none" spc="0" normalizeH="0" baseline="0" noProof="0" dirty="0">
                <a:ln>
                  <a:noFill/>
                </a:ln>
                <a:solidFill>
                  <a:schemeClr val="tx1"/>
                </a:solidFill>
                <a:effectLst/>
                <a:uLnTx/>
                <a:uFillTx/>
                <a:latin typeface="Times New Roman" pitchFamily="18" charset="0"/>
                <a:cs typeface="Times New Roman" pitchFamily="18" charset="0"/>
              </a:rPr>
              <a:t> </a:t>
            </a:r>
          </a:p>
          <a:p>
            <a:pPr marL="609600" lvl="0" indent="-609600" algn="just" eaLnBrk="0" hangingPunct="0">
              <a:spcBef>
                <a:spcPct val="20000"/>
              </a:spcBef>
              <a:buClr>
                <a:schemeClr val="accent2"/>
              </a:buClr>
              <a:buFont typeface="Arial" pitchFamily="34" charset="0"/>
              <a:buChar char="•"/>
            </a:pPr>
            <a:r>
              <a:rPr lang="en-US" sz="2600" dirty="0">
                <a:latin typeface="Times New Roman" pitchFamily="18" charset="0"/>
                <a:cs typeface="Times New Roman" pitchFamily="18" charset="0"/>
              </a:rPr>
              <a:t>Starting machine fetches the first packet from its network layer, builds a frame from it, and sends it. </a:t>
            </a:r>
          </a:p>
          <a:p>
            <a:pPr marL="609600" lvl="0" indent="-609600" algn="just" eaLnBrk="0" hangingPunct="0">
              <a:spcBef>
                <a:spcPct val="20000"/>
              </a:spcBef>
              <a:buClr>
                <a:schemeClr val="accent2"/>
              </a:buClr>
              <a:buFont typeface="Arial" pitchFamily="34" charset="0"/>
              <a:buChar char="•"/>
            </a:pPr>
            <a:r>
              <a:rPr lang="en-US" sz="2600" dirty="0">
                <a:latin typeface="Times New Roman" pitchFamily="18" charset="0"/>
                <a:cs typeface="Times New Roman" pitchFamily="18" charset="0"/>
              </a:rPr>
              <a:t>When this frame arrives, the receiving data link layer checks to see if it is a duplicate </a:t>
            </a:r>
          </a:p>
          <a:p>
            <a:pPr marL="609600" lvl="0" indent="-609600" algn="just" eaLnBrk="0" hangingPunct="0">
              <a:spcBef>
                <a:spcPct val="20000"/>
              </a:spcBef>
              <a:buClr>
                <a:schemeClr val="accent2"/>
              </a:buClr>
              <a:buFont typeface="Arial" pitchFamily="34" charset="0"/>
              <a:buChar char="•"/>
            </a:pPr>
            <a:r>
              <a:rPr lang="en-US" sz="2600" dirty="0">
                <a:latin typeface="Times New Roman" pitchFamily="18" charset="0"/>
                <a:cs typeface="Times New Roman" pitchFamily="18" charset="0"/>
              </a:rPr>
              <a:t>If the frame is the one expected, it is passed to the network layer and the receiver's window is slid up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51164" y="526490"/>
            <a:ext cx="8492836" cy="643467"/>
          </a:xfrm>
        </p:spPr>
        <p:txBody>
          <a:bodyPr>
            <a:normAutofit fontScale="90000"/>
          </a:bodyPr>
          <a:lstStyle/>
          <a:p>
            <a:pPr eaLnBrk="1" hangingPunct="1"/>
            <a:r>
              <a:rPr lang="en-US" dirty="0"/>
              <a:t>A One-Bit Sliding Window Protocol</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83</a:t>
            </a:fld>
            <a:endParaRPr lang="en-US"/>
          </a:p>
        </p:txBody>
      </p:sp>
      <p:sp>
        <p:nvSpPr>
          <p:cNvPr id="5" name="Rectangle 3"/>
          <p:cNvSpPr txBox="1">
            <a:spLocks noChangeArrowheads="1"/>
          </p:cNvSpPr>
          <p:nvPr/>
        </p:nvSpPr>
        <p:spPr bwMode="auto">
          <a:xfrm>
            <a:off x="221673" y="1517877"/>
            <a:ext cx="8478982" cy="36914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609600" lvl="0" indent="-609600" algn="just" eaLnBrk="0" hangingPunct="0">
              <a:spcBef>
                <a:spcPct val="20000"/>
              </a:spcBef>
              <a:buClr>
                <a:schemeClr val="accent2"/>
              </a:buClr>
              <a:buFont typeface="Arial" pitchFamily="34" charset="0"/>
              <a:buChar char="•"/>
            </a:pPr>
            <a:r>
              <a:rPr lang="en-US" sz="2600" dirty="0">
                <a:latin typeface="Times New Roman" pitchFamily="18" charset="0"/>
                <a:cs typeface="Times New Roman" pitchFamily="18" charset="0"/>
              </a:rPr>
              <a:t>The </a:t>
            </a:r>
            <a:r>
              <a:rPr lang="en-US" sz="2600" b="1" dirty="0">
                <a:latin typeface="Times New Roman" pitchFamily="18" charset="0"/>
                <a:cs typeface="Times New Roman" pitchFamily="18" charset="0"/>
              </a:rPr>
              <a:t>acknowledgement field </a:t>
            </a:r>
            <a:r>
              <a:rPr lang="en-US" sz="2600" dirty="0">
                <a:latin typeface="Times New Roman" pitchFamily="18" charset="0"/>
                <a:cs typeface="Times New Roman" pitchFamily="18" charset="0"/>
              </a:rPr>
              <a:t>contains the number of the </a:t>
            </a:r>
            <a:r>
              <a:rPr lang="en-US" sz="2600" b="1" dirty="0">
                <a:latin typeface="Times New Roman" pitchFamily="18" charset="0"/>
                <a:cs typeface="Times New Roman" pitchFamily="18" charset="0"/>
              </a:rPr>
              <a:t>last frame received without error</a:t>
            </a:r>
            <a:r>
              <a:rPr lang="en-US" sz="2600" dirty="0">
                <a:latin typeface="Times New Roman" pitchFamily="18" charset="0"/>
                <a:cs typeface="Times New Roman" pitchFamily="18" charset="0"/>
              </a:rPr>
              <a:t>.</a:t>
            </a:r>
          </a:p>
          <a:p>
            <a:pPr marL="609600" lvl="0" indent="-609600" algn="just" eaLnBrk="0" hangingPunct="0">
              <a:spcBef>
                <a:spcPct val="20000"/>
              </a:spcBef>
              <a:buClr>
                <a:schemeClr val="accent2"/>
              </a:buClr>
              <a:buFont typeface="Arial" pitchFamily="34" charset="0"/>
              <a:buChar char="•"/>
            </a:pPr>
            <a:r>
              <a:rPr lang="en-US" sz="2600" dirty="0">
                <a:latin typeface="Times New Roman" pitchFamily="18" charset="0"/>
                <a:cs typeface="Times New Roman" pitchFamily="18" charset="0"/>
              </a:rPr>
              <a:t>If this number agrees with the sequence number of the frame the sender is trying to send, the sender knows it is done with the frame stored in buffer and can fetch the next packet from its network layer. </a:t>
            </a:r>
          </a:p>
          <a:p>
            <a:pPr marL="609600" lvl="0" indent="-609600" algn="just" eaLnBrk="0" hangingPunct="0">
              <a:spcBef>
                <a:spcPct val="20000"/>
              </a:spcBef>
              <a:buClr>
                <a:schemeClr val="accent2"/>
              </a:buClr>
              <a:buFont typeface="Arial" pitchFamily="34" charset="0"/>
              <a:buChar char="•"/>
            </a:pPr>
            <a:r>
              <a:rPr lang="en-US" sz="2600" dirty="0">
                <a:latin typeface="Times New Roman" pitchFamily="18" charset="0"/>
                <a:cs typeface="Times New Roman" pitchFamily="18" charset="0"/>
              </a:rPr>
              <a:t>If the sequence number disagrees, it must continue trying to send the same frame.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124179" y="5552901"/>
            <a:ext cx="8867775" cy="1276878"/>
          </a:xfrm>
        </p:spPr>
        <p:txBody>
          <a:bodyPr>
            <a:normAutofit fontScale="85000" lnSpcReduction="10000"/>
          </a:bodyPr>
          <a:lstStyle/>
          <a:p>
            <a:pPr algn="ctr" eaLnBrk="1" hangingPunct="1">
              <a:buFontTx/>
              <a:buNone/>
            </a:pPr>
            <a:r>
              <a:rPr lang="en-US" dirty="0"/>
              <a:t>Scenario </a:t>
            </a:r>
            <a:r>
              <a:rPr lang="en-US" dirty="0">
                <a:solidFill>
                  <a:schemeClr val="accent2"/>
                </a:solidFill>
              </a:rPr>
              <a:t>(a)</a:t>
            </a:r>
            <a:r>
              <a:rPr lang="en-US" dirty="0"/>
              <a:t> Normal case. </a:t>
            </a:r>
          </a:p>
          <a:p>
            <a:pPr algn="ctr" eaLnBrk="1" hangingPunct="1">
              <a:buFontTx/>
              <a:buNone/>
            </a:pPr>
            <a:r>
              <a:rPr lang="en-US" dirty="0"/>
              <a:t>The notation is (</a:t>
            </a:r>
            <a:r>
              <a:rPr lang="en-US" dirty="0" err="1"/>
              <a:t>seq</a:t>
            </a:r>
            <a:r>
              <a:rPr lang="en-US" dirty="0"/>
              <a:t>, </a:t>
            </a:r>
            <a:r>
              <a:rPr lang="en-US" dirty="0" err="1"/>
              <a:t>ack</a:t>
            </a:r>
            <a:r>
              <a:rPr lang="en-US" dirty="0"/>
              <a:t>, packet number).  </a:t>
            </a:r>
          </a:p>
          <a:p>
            <a:pPr algn="ctr" eaLnBrk="1" hangingPunct="1">
              <a:buFontTx/>
              <a:buNone/>
            </a:pPr>
            <a:r>
              <a:rPr lang="en-US" dirty="0"/>
              <a:t>An asterisk indicates where a network layer accepts a packet.</a:t>
            </a:r>
          </a:p>
        </p:txBody>
      </p:sp>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84</a:t>
            </a:fld>
            <a:endParaRPr lang="en-US"/>
          </a:p>
        </p:txBody>
      </p:sp>
      <p:pic>
        <p:nvPicPr>
          <p:cNvPr id="25604" name="Picture 4" descr="3-15"/>
          <p:cNvPicPr>
            <a:picLocks noChangeAspect="1" noChangeArrowheads="1"/>
          </p:cNvPicPr>
          <p:nvPr/>
        </p:nvPicPr>
        <p:blipFill>
          <a:blip r:embed="rId2" cstate="print"/>
          <a:srcRect r="47457" b="411"/>
          <a:stretch>
            <a:fillRect/>
          </a:stretch>
        </p:blipFill>
        <p:spPr bwMode="auto">
          <a:xfrm>
            <a:off x="158044" y="790222"/>
            <a:ext cx="8816623" cy="4820356"/>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231DD258-A623-490B-8242-C077DDB146DD}" type="slidenum">
              <a:rPr lang="en-US" smtClean="0"/>
              <a:pPr>
                <a:defRPr/>
              </a:pPr>
              <a:t>85</a:t>
            </a:fld>
            <a:endParaRPr lang="en-US"/>
          </a:p>
        </p:txBody>
      </p:sp>
      <p:pic>
        <p:nvPicPr>
          <p:cNvPr id="25604" name="Picture 4" descr="3-15"/>
          <p:cNvPicPr>
            <a:picLocks noChangeAspect="1" noChangeArrowheads="1"/>
          </p:cNvPicPr>
          <p:nvPr/>
        </p:nvPicPr>
        <p:blipFill>
          <a:blip r:embed="rId2" cstate="print"/>
          <a:srcRect l="47205"/>
          <a:stretch>
            <a:fillRect/>
          </a:stretch>
        </p:blipFill>
        <p:spPr bwMode="auto">
          <a:xfrm>
            <a:off x="124179" y="893586"/>
            <a:ext cx="8839200" cy="4659315"/>
          </a:xfrm>
          <a:prstGeom prst="rect">
            <a:avLst/>
          </a:prstGeom>
          <a:noFill/>
          <a:ln w="9525">
            <a:noFill/>
            <a:miter lim="800000"/>
            <a:headEnd/>
            <a:tailEnd/>
          </a:ln>
        </p:spPr>
      </p:pic>
      <p:sp>
        <p:nvSpPr>
          <p:cNvPr id="6" name="Rectangle 3"/>
          <p:cNvSpPr txBox="1">
            <a:spLocks noChangeArrowheads="1"/>
          </p:cNvSpPr>
          <p:nvPr/>
        </p:nvSpPr>
        <p:spPr bwMode="auto">
          <a:xfrm>
            <a:off x="124179" y="5552901"/>
            <a:ext cx="8867775" cy="127687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609600" lvl="0" indent="-609600">
              <a:spcBef>
                <a:spcPct val="20000"/>
              </a:spcBef>
              <a:buClr>
                <a:schemeClr val="accent2"/>
              </a:buClr>
            </a:pPr>
            <a:r>
              <a:rPr kumimoji="0" lang="en-US" sz="2400" b="0" i="0" u="none" strike="noStrike" kern="0" cap="none" spc="0" normalizeH="0" baseline="0" noProof="0" dirty="0">
                <a:ln>
                  <a:noFill/>
                </a:ln>
                <a:solidFill>
                  <a:schemeClr val="tx1"/>
                </a:solidFill>
                <a:effectLst/>
                <a:uLnTx/>
                <a:uFillTx/>
                <a:latin typeface="+mn-lt"/>
                <a:ea typeface="+mn-ea"/>
                <a:cs typeface="+mn-cs"/>
              </a:rPr>
              <a:t>Scenario </a:t>
            </a:r>
            <a:r>
              <a:rPr lang="en-US" sz="2000" dirty="0">
                <a:solidFill>
                  <a:schemeClr val="accent2"/>
                </a:solidFill>
              </a:rPr>
              <a:t>(b)</a:t>
            </a:r>
            <a:r>
              <a:rPr lang="en-US" sz="2000" dirty="0"/>
              <a:t> Abnormal case </a:t>
            </a:r>
            <a:r>
              <a:rPr kumimoji="0" lang="en-US" sz="2400" b="0" i="0" u="none" strike="noStrike" kern="0" cap="none" spc="0" normalizeH="0" baseline="0" noProof="0" dirty="0">
                <a:ln>
                  <a:noFill/>
                </a:ln>
                <a:solidFill>
                  <a:schemeClr val="tx1"/>
                </a:solidFill>
                <a:effectLst/>
                <a:uLnTx/>
                <a:uFillTx/>
                <a:latin typeface="+mn-lt"/>
                <a:ea typeface="+mn-ea"/>
                <a:cs typeface="+mn-cs"/>
              </a:rPr>
              <a:t>. </a:t>
            </a:r>
          </a:p>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The notation is (</a:t>
            </a:r>
            <a:r>
              <a:rPr kumimoji="0" lang="en-US" sz="2400" b="0" i="0" u="none" strike="noStrike" kern="0" cap="none" spc="0" normalizeH="0" baseline="0" noProof="0" dirty="0" err="1">
                <a:ln>
                  <a:noFill/>
                </a:ln>
                <a:solidFill>
                  <a:schemeClr val="tx1"/>
                </a:solidFill>
                <a:effectLst/>
                <a:uLnTx/>
                <a:uFillTx/>
                <a:latin typeface="+mn-lt"/>
                <a:ea typeface="+mn-ea"/>
                <a:cs typeface="+mn-cs"/>
              </a:rPr>
              <a:t>seq</a:t>
            </a:r>
            <a:r>
              <a:rPr kumimoji="0" lang="en-US" sz="2400" b="0" i="0" u="none" strike="noStrike" kern="0" cap="none" spc="0" normalizeH="0" baseline="0" noProof="0" dirty="0">
                <a:ln>
                  <a:noFill/>
                </a:ln>
                <a:solidFill>
                  <a:schemeClr val="tx1"/>
                </a:solidFill>
                <a:effectLst/>
                <a:uLnTx/>
                <a:uFillTx/>
                <a:latin typeface="+mn-lt"/>
                <a:ea typeface="+mn-ea"/>
                <a:cs typeface="+mn-cs"/>
              </a:rPr>
              <a:t>, </a:t>
            </a:r>
            <a:r>
              <a:rPr kumimoji="0" lang="en-US" sz="2400" b="0" i="0" u="none" strike="noStrike" kern="0" cap="none" spc="0" normalizeH="0" baseline="0" noProof="0" dirty="0" err="1">
                <a:ln>
                  <a:noFill/>
                </a:ln>
                <a:solidFill>
                  <a:schemeClr val="tx1"/>
                </a:solidFill>
                <a:effectLst/>
                <a:uLnTx/>
                <a:uFillTx/>
                <a:latin typeface="+mn-lt"/>
                <a:ea typeface="+mn-ea"/>
                <a:cs typeface="+mn-cs"/>
              </a:rPr>
              <a:t>ack</a:t>
            </a:r>
            <a:r>
              <a:rPr kumimoji="0" lang="en-US" sz="2400" b="0" i="0" u="none" strike="noStrike" kern="0" cap="none" spc="0" normalizeH="0" baseline="0" noProof="0" dirty="0">
                <a:ln>
                  <a:noFill/>
                </a:ln>
                <a:solidFill>
                  <a:schemeClr val="tx1"/>
                </a:solidFill>
                <a:effectLst/>
                <a:uLnTx/>
                <a:uFillTx/>
                <a:latin typeface="+mn-lt"/>
                <a:ea typeface="+mn-ea"/>
                <a:cs typeface="+mn-cs"/>
              </a:rPr>
              <a:t>, packet number).  </a:t>
            </a:r>
          </a:p>
          <a:p>
            <a:pPr marL="609600" marR="0" lvl="0" indent="-609600" algn="ctr" defTabSz="914400" rtl="0" eaLnBrk="1" fontAlgn="base" latinLnBrk="0" hangingPunct="1">
              <a:lnSpc>
                <a:spcPct val="100000"/>
              </a:lnSpc>
              <a:spcBef>
                <a:spcPct val="20000"/>
              </a:spcBef>
              <a:spcAft>
                <a:spcPct val="0"/>
              </a:spcAft>
              <a:buClr>
                <a:schemeClr val="accent2"/>
              </a:buClr>
              <a:buSzTx/>
              <a:buFontTx/>
              <a:buNone/>
              <a:tabLst/>
              <a:defRPr/>
            </a:pPr>
            <a:r>
              <a:rPr kumimoji="0" lang="en-US" sz="2400" b="0" i="0" u="none" strike="noStrike" kern="0" cap="none" spc="0" normalizeH="0" baseline="0" noProof="0" dirty="0">
                <a:ln>
                  <a:noFill/>
                </a:ln>
                <a:solidFill>
                  <a:schemeClr val="tx1"/>
                </a:solidFill>
                <a:effectLst/>
                <a:uLnTx/>
                <a:uFillTx/>
                <a:latin typeface="+mn-lt"/>
                <a:ea typeface="+mn-ea"/>
                <a:cs typeface="+mn-cs"/>
              </a:rPr>
              <a:t>An asterisk indicates where a network layer accepts a packet.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346364" y="1233056"/>
            <a:ext cx="8534400" cy="54375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q"/>
            </a:pPr>
            <a:r>
              <a:rPr lang="en-US" sz="2400" dirty="0">
                <a:latin typeface="Times New Roman" pitchFamily="18" charset="0"/>
                <a:cs typeface="Times New Roman" pitchFamily="18" charset="0"/>
              </a:rPr>
              <a:t> Until now we have made the assumption that the </a:t>
            </a:r>
            <a:r>
              <a:rPr lang="en-US" sz="2400" b="1" dirty="0">
                <a:latin typeface="Times New Roman" pitchFamily="18" charset="0"/>
                <a:cs typeface="Times New Roman" pitchFamily="18" charset="0"/>
              </a:rPr>
              <a:t>transmission time </a:t>
            </a:r>
            <a:r>
              <a:rPr lang="en-US" sz="2400" dirty="0">
                <a:latin typeface="Times New Roman" pitchFamily="18" charset="0"/>
                <a:cs typeface="Times New Roman" pitchFamily="18" charset="0"/>
              </a:rPr>
              <a:t>required for a frame </a:t>
            </a:r>
            <a:r>
              <a:rPr lang="en-US" sz="2400" b="1" dirty="0">
                <a:latin typeface="Times New Roman" pitchFamily="18" charset="0"/>
                <a:cs typeface="Times New Roman" pitchFamily="18" charset="0"/>
              </a:rPr>
              <a:t>to arrive at the receiver </a:t>
            </a:r>
            <a:r>
              <a:rPr lang="en-US" sz="2400" dirty="0">
                <a:latin typeface="Times New Roman" pitchFamily="18" charset="0"/>
                <a:cs typeface="Times New Roman" pitchFamily="18" charset="0"/>
              </a:rPr>
              <a:t>plus the </a:t>
            </a:r>
            <a:r>
              <a:rPr lang="en-US" sz="2400" b="1" dirty="0">
                <a:latin typeface="Times New Roman" pitchFamily="18" charset="0"/>
                <a:cs typeface="Times New Roman" pitchFamily="18" charset="0"/>
              </a:rPr>
              <a:t>transmission time for the acknowledgement </a:t>
            </a:r>
            <a:r>
              <a:rPr lang="en-US" sz="2400" dirty="0">
                <a:latin typeface="Times New Roman" pitchFamily="18" charset="0"/>
                <a:cs typeface="Times New Roman" pitchFamily="18" charset="0"/>
              </a:rPr>
              <a:t>to come back is </a:t>
            </a:r>
            <a:r>
              <a:rPr lang="en-US" sz="2400" b="1" dirty="0">
                <a:latin typeface="Times New Roman" pitchFamily="18" charset="0"/>
                <a:cs typeface="Times New Roman" pitchFamily="18" charset="0"/>
              </a:rPr>
              <a:t>negligible</a:t>
            </a:r>
            <a:r>
              <a:rPr lang="en-US" sz="2400" dirty="0">
                <a:latin typeface="Times New Roman" pitchFamily="18" charset="0"/>
                <a:cs typeface="Times New Roman" pitchFamily="18" charset="0"/>
              </a:rPr>
              <a:t>. </a:t>
            </a:r>
          </a:p>
          <a:p>
            <a:pPr algn="just">
              <a:buFont typeface="Wingdings" pitchFamily="2" charset="2"/>
              <a:buChar char="q"/>
            </a:pPr>
            <a:r>
              <a:rPr lang="en-US" sz="2400" dirty="0">
                <a:latin typeface="Times New Roman" pitchFamily="18" charset="0"/>
                <a:cs typeface="Times New Roman" pitchFamily="18" charset="0"/>
              </a:rPr>
              <a:t> Sometimes this assumption is clearly false. </a:t>
            </a:r>
          </a:p>
          <a:p>
            <a:pPr algn="just">
              <a:buFont typeface="Wingdings" pitchFamily="2" charset="2"/>
              <a:buChar char="q"/>
            </a:pPr>
            <a:r>
              <a:rPr lang="en-US" sz="2400" dirty="0">
                <a:latin typeface="Times New Roman" pitchFamily="18" charset="0"/>
                <a:cs typeface="Times New Roman" pitchFamily="18" charset="0"/>
              </a:rPr>
              <a:t> In these situations the </a:t>
            </a:r>
            <a:r>
              <a:rPr lang="en-US" sz="2400" dirty="0">
                <a:solidFill>
                  <a:srgbClr val="FF0000"/>
                </a:solidFill>
                <a:latin typeface="Times New Roman" pitchFamily="18" charset="0"/>
                <a:cs typeface="Times New Roman" pitchFamily="18" charset="0"/>
              </a:rPr>
              <a:t>long round-trip time </a:t>
            </a:r>
            <a:r>
              <a:rPr lang="en-US" sz="2400" dirty="0">
                <a:latin typeface="Times New Roman" pitchFamily="18" charset="0"/>
                <a:cs typeface="Times New Roman" pitchFamily="18" charset="0"/>
              </a:rPr>
              <a:t>can have important implications for the efficiency of the bandwidth utilization. </a:t>
            </a:r>
          </a:p>
          <a:p>
            <a:pPr algn="just">
              <a:buFont typeface="Wingdings" pitchFamily="2" charset="2"/>
              <a:buChar char="q"/>
            </a:pPr>
            <a:r>
              <a:rPr lang="en-US" sz="2400" dirty="0">
                <a:latin typeface="Times New Roman" pitchFamily="18" charset="0"/>
                <a:cs typeface="Times New Roman" pitchFamily="18" charset="0"/>
              </a:rPr>
              <a:t>The </a:t>
            </a:r>
            <a:r>
              <a:rPr lang="en-US" sz="2400" b="1" dirty="0">
                <a:latin typeface="Times New Roman" pitchFamily="18" charset="0"/>
                <a:cs typeface="Times New Roman" pitchFamily="18" charset="0"/>
              </a:rPr>
              <a:t>need for a large window on the sending side </a:t>
            </a:r>
            <a:r>
              <a:rPr lang="en-US" sz="2400" dirty="0">
                <a:latin typeface="Times New Roman" pitchFamily="18" charset="0"/>
                <a:cs typeface="Times New Roman" pitchFamily="18" charset="0"/>
              </a:rPr>
              <a:t>occurs whenever the product of </a:t>
            </a:r>
            <a:r>
              <a:rPr lang="en-US" sz="2400" b="1" i="1" dirty="0">
                <a:latin typeface="Times New Roman" pitchFamily="18" charset="0"/>
                <a:cs typeface="Times New Roman" pitchFamily="18" charset="0"/>
              </a:rPr>
              <a:t>bandwidth x round-trip-delay </a:t>
            </a:r>
            <a:r>
              <a:rPr lang="en-US" sz="2400" dirty="0">
                <a:latin typeface="Times New Roman" pitchFamily="18" charset="0"/>
                <a:cs typeface="Times New Roman" pitchFamily="18" charset="0"/>
              </a:rPr>
              <a:t>is large. </a:t>
            </a:r>
          </a:p>
          <a:p>
            <a:pPr algn="just">
              <a:buFont typeface="Wingdings" pitchFamily="2" charset="2"/>
              <a:buChar char="q"/>
            </a:pPr>
            <a:r>
              <a:rPr lang="en-US" sz="2400" dirty="0">
                <a:latin typeface="Times New Roman" pitchFamily="18" charset="0"/>
                <a:cs typeface="Times New Roman" pitchFamily="18" charset="0"/>
              </a:rPr>
              <a:t> The product of these two factors basically tells what the capacity of the pipe is, and the </a:t>
            </a:r>
            <a:r>
              <a:rPr lang="en-US" sz="2400" b="1" dirty="0">
                <a:latin typeface="Times New Roman" pitchFamily="18" charset="0"/>
                <a:cs typeface="Times New Roman" pitchFamily="18" charset="0"/>
              </a:rPr>
              <a:t>sender needs the ability to fill it without stopping in order to operate at peak efficiency</a:t>
            </a:r>
          </a:p>
          <a:p>
            <a:pPr algn="just">
              <a:buFont typeface="Wingdings" pitchFamily="2" charset="2"/>
              <a:buChar char="q"/>
            </a:pPr>
            <a:r>
              <a:rPr lang="en-US" sz="2400" dirty="0">
                <a:latin typeface="Times New Roman" pitchFamily="18" charset="0"/>
                <a:cs typeface="Times New Roman" pitchFamily="18" charset="0"/>
              </a:rPr>
              <a:t> This technique is known as </a:t>
            </a:r>
            <a:r>
              <a:rPr lang="en-US" sz="2400" b="1" dirty="0">
                <a:solidFill>
                  <a:srgbClr val="FF0000"/>
                </a:solidFill>
                <a:latin typeface="Times New Roman" pitchFamily="18" charset="0"/>
                <a:cs typeface="Times New Roman" pitchFamily="18" charset="0"/>
              </a:rPr>
              <a:t>pipelining</a:t>
            </a:r>
            <a:r>
              <a:rPr lang="en-US" sz="2400" dirty="0">
                <a:latin typeface="Times New Roman" pitchFamily="18" charset="0"/>
                <a:cs typeface="Times New Roman" pitchFamily="18" charset="0"/>
              </a:rPr>
              <a:t>.</a:t>
            </a: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
        <p:nvSpPr>
          <p:cNvPr id="6" name="Rectangle 2"/>
          <p:cNvSpPr>
            <a:spLocks noGrp="1" noChangeArrowheads="1"/>
          </p:cNvSpPr>
          <p:nvPr>
            <p:ph type="title"/>
          </p:nvPr>
        </p:nvSpPr>
        <p:spPr>
          <a:xfrm>
            <a:off x="0" y="471070"/>
            <a:ext cx="9144000" cy="643467"/>
          </a:xfrm>
        </p:spPr>
        <p:txBody>
          <a:bodyPr>
            <a:normAutofit fontScale="90000"/>
          </a:bodyPr>
          <a:lstStyle/>
          <a:p>
            <a:pPr eaLnBrk="1" hangingPunct="1"/>
            <a:r>
              <a:rPr lang="en-US" sz="4000" dirty="0"/>
              <a:t>Sliding Window Protocol Using Go Back N</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38545" y="1759528"/>
            <a:ext cx="8797637" cy="49110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q"/>
            </a:pPr>
            <a:r>
              <a:rPr lang="en-US" sz="2400" dirty="0">
                <a:latin typeface="Times New Roman" pitchFamily="18" charset="0"/>
                <a:cs typeface="Times New Roman" pitchFamily="18" charset="0"/>
              </a:rPr>
              <a:t> Pipelining frames over an unreliable communication channel raises some serious </a:t>
            </a:r>
            <a:r>
              <a:rPr lang="en-US" sz="2400" dirty="0">
                <a:solidFill>
                  <a:srgbClr val="FF0000"/>
                </a:solidFill>
                <a:latin typeface="Times New Roman" pitchFamily="18" charset="0"/>
                <a:cs typeface="Times New Roman" pitchFamily="18" charset="0"/>
              </a:rPr>
              <a:t>issues</a:t>
            </a:r>
            <a:r>
              <a:rPr lang="en-US" sz="2400" dirty="0">
                <a:latin typeface="Times New Roman" pitchFamily="18" charset="0"/>
                <a:cs typeface="Times New Roman" pitchFamily="18" charset="0"/>
              </a:rPr>
              <a:t>. </a:t>
            </a:r>
          </a:p>
          <a:p>
            <a:pPr algn="just">
              <a:buFont typeface="Wingdings" pitchFamily="2" charset="2"/>
              <a:buChar char="q"/>
            </a:pPr>
            <a:r>
              <a:rPr lang="en-US" sz="2400" dirty="0">
                <a:latin typeface="Times New Roman" pitchFamily="18" charset="0"/>
                <a:cs typeface="Times New Roman" pitchFamily="18" charset="0"/>
              </a:rPr>
              <a:t> First, what happens if </a:t>
            </a:r>
            <a:r>
              <a:rPr lang="en-US" sz="2400" dirty="0">
                <a:solidFill>
                  <a:srgbClr val="FF0000"/>
                </a:solidFill>
                <a:latin typeface="Times New Roman" pitchFamily="18" charset="0"/>
                <a:cs typeface="Times New Roman" pitchFamily="18" charset="0"/>
              </a:rPr>
              <a:t>a frame in the middle of a long stream is damaged or lost?</a:t>
            </a:r>
          </a:p>
          <a:p>
            <a:pPr algn="just">
              <a:buFont typeface="Wingdings" pitchFamily="2" charset="2"/>
              <a:buChar char="q"/>
            </a:pPr>
            <a:r>
              <a:rPr lang="en-US" sz="2400" dirty="0">
                <a:latin typeface="Times New Roman" pitchFamily="18" charset="0"/>
                <a:cs typeface="Times New Roman" pitchFamily="18" charset="0"/>
              </a:rPr>
              <a:t> Large numbers of succeeding frames will arrive at the receiver before the sender even finds out that anything is wrong.</a:t>
            </a:r>
          </a:p>
          <a:p>
            <a:pPr algn="just">
              <a:buFont typeface="Wingdings" pitchFamily="2" charset="2"/>
              <a:buChar char="q"/>
            </a:pPr>
            <a:r>
              <a:rPr lang="en-US" sz="2400" dirty="0">
                <a:latin typeface="Times New Roman" pitchFamily="18" charset="0"/>
                <a:cs typeface="Times New Roman" pitchFamily="18" charset="0"/>
              </a:rPr>
              <a:t> When a damaged frame arrives at the receiver, it obviously should be discarded, but what should the receiver do with all the correct frames following it? </a:t>
            </a:r>
          </a:p>
          <a:p>
            <a:pPr algn="just">
              <a:buFont typeface="Wingdings" pitchFamily="2" charset="2"/>
              <a:buChar char="q"/>
            </a:pPr>
            <a:r>
              <a:rPr lang="en-US" sz="2400" dirty="0">
                <a:latin typeface="Times New Roman" pitchFamily="18" charset="0"/>
                <a:cs typeface="Times New Roman" pitchFamily="18" charset="0"/>
              </a:rPr>
              <a:t> Remember that the </a:t>
            </a:r>
            <a:r>
              <a:rPr lang="en-US" sz="2400" dirty="0">
                <a:solidFill>
                  <a:srgbClr val="FF0000"/>
                </a:solidFill>
                <a:latin typeface="Times New Roman" pitchFamily="18" charset="0"/>
                <a:cs typeface="Times New Roman" pitchFamily="18" charset="0"/>
              </a:rPr>
              <a:t>receiving DLL is required to hand packets to the network layer in sequence.</a:t>
            </a:r>
          </a:p>
        </p:txBody>
      </p:sp>
      <p:sp>
        <p:nvSpPr>
          <p:cNvPr id="6" name="Rectangle 2"/>
          <p:cNvSpPr>
            <a:spLocks noGrp="1" noChangeArrowheads="1"/>
          </p:cNvSpPr>
          <p:nvPr>
            <p:ph type="title"/>
          </p:nvPr>
        </p:nvSpPr>
        <p:spPr>
          <a:xfrm>
            <a:off x="0" y="706605"/>
            <a:ext cx="9144000" cy="643467"/>
          </a:xfrm>
        </p:spPr>
        <p:txBody>
          <a:bodyPr>
            <a:normAutofit fontScale="90000"/>
          </a:bodyPr>
          <a:lstStyle/>
          <a:p>
            <a:pPr eaLnBrk="1" hangingPunct="1"/>
            <a:r>
              <a:rPr lang="en-US" sz="4000" dirty="0"/>
              <a:t>Sliding Window Protocol Using Go Back N</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77091" y="809470"/>
            <a:ext cx="8534400" cy="58611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q"/>
            </a:pPr>
            <a:r>
              <a:rPr lang="en-US" sz="2400" dirty="0">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Two basic approaches </a:t>
            </a:r>
            <a:r>
              <a:rPr lang="en-US" sz="2400" dirty="0">
                <a:latin typeface="Times New Roman" pitchFamily="18" charset="0"/>
                <a:cs typeface="Times New Roman" pitchFamily="18" charset="0"/>
              </a:rPr>
              <a:t>are available for dealing with errors in the presence of pipelining. </a:t>
            </a:r>
          </a:p>
          <a:p>
            <a:pPr algn="just">
              <a:buFont typeface="Wingdings" pitchFamily="2" charset="2"/>
              <a:buChar char="q"/>
            </a:pPr>
            <a:r>
              <a:rPr lang="en-US" sz="2400" dirty="0">
                <a:latin typeface="Times New Roman" pitchFamily="18" charset="0"/>
                <a:cs typeface="Times New Roman" pitchFamily="18" charset="0"/>
              </a:rPr>
              <a:t> One way, called </a:t>
            </a:r>
            <a:r>
              <a:rPr lang="en-US" sz="2400" b="1" dirty="0">
                <a:solidFill>
                  <a:srgbClr val="FF0000"/>
                </a:solidFill>
                <a:latin typeface="Times New Roman" pitchFamily="18" charset="0"/>
                <a:cs typeface="Times New Roman" pitchFamily="18" charset="0"/>
              </a:rPr>
              <a:t>go back n</a:t>
            </a:r>
            <a:r>
              <a:rPr lang="en-US" sz="2400" dirty="0">
                <a:latin typeface="Times New Roman" pitchFamily="18" charset="0"/>
                <a:cs typeface="Times New Roman" pitchFamily="18" charset="0"/>
              </a:rPr>
              <a:t>, is for the </a:t>
            </a:r>
            <a:r>
              <a:rPr lang="en-US" sz="2400" b="1" dirty="0">
                <a:latin typeface="Times New Roman" pitchFamily="18" charset="0"/>
                <a:cs typeface="Times New Roman" pitchFamily="18" charset="0"/>
              </a:rPr>
              <a:t>receiver simply to discard all subsequent frames, sending no acknowledgements for the discarded frames. </a:t>
            </a:r>
          </a:p>
          <a:p>
            <a:pPr algn="just">
              <a:buFont typeface="Wingdings" pitchFamily="2" charset="2"/>
              <a:buChar char="q"/>
            </a:pPr>
            <a:r>
              <a:rPr lang="en-US" sz="2400" dirty="0">
                <a:latin typeface="Times New Roman" pitchFamily="18" charset="0"/>
                <a:cs typeface="Times New Roman" pitchFamily="18" charset="0"/>
              </a:rPr>
              <a:t> This strategy corresponds to </a:t>
            </a:r>
            <a:r>
              <a:rPr lang="en-US" sz="2400" b="1" dirty="0">
                <a:solidFill>
                  <a:srgbClr val="FF0000"/>
                </a:solidFill>
                <a:latin typeface="Times New Roman" pitchFamily="18" charset="0"/>
                <a:cs typeface="Times New Roman" pitchFamily="18" charset="0"/>
              </a:rPr>
              <a:t>a receive window of size 1</a:t>
            </a:r>
            <a:r>
              <a:rPr lang="en-US" sz="2400" dirty="0">
                <a:latin typeface="Times New Roman" pitchFamily="18" charset="0"/>
                <a:cs typeface="Times New Roman" pitchFamily="18" charset="0"/>
              </a:rPr>
              <a:t>.</a:t>
            </a:r>
          </a:p>
          <a:p>
            <a:pPr algn="just">
              <a:buFont typeface="Wingdings" pitchFamily="2" charset="2"/>
              <a:buChar char="q"/>
            </a:pPr>
            <a:r>
              <a:rPr lang="en-US" sz="2400" dirty="0">
                <a:latin typeface="Times New Roman" pitchFamily="18" charset="0"/>
                <a:cs typeface="Times New Roman" pitchFamily="18" charset="0"/>
              </a:rPr>
              <a:t> In other words, the DLL refuses to accept any frame except the next one it must give to the network layer. </a:t>
            </a:r>
          </a:p>
          <a:p>
            <a:pPr algn="just">
              <a:buFont typeface="Wingdings" pitchFamily="2" charset="2"/>
              <a:buChar char="q"/>
            </a:pPr>
            <a:r>
              <a:rPr lang="en-US" sz="2400" dirty="0">
                <a:latin typeface="Times New Roman" pitchFamily="18" charset="0"/>
                <a:cs typeface="Times New Roman" pitchFamily="18" charset="0"/>
              </a:rPr>
              <a:t> If the sender's window fills up before the timer runs out, the pipeline will begin to empty. </a:t>
            </a:r>
          </a:p>
          <a:p>
            <a:pPr algn="just">
              <a:buFont typeface="Wingdings" pitchFamily="2" charset="2"/>
              <a:buChar char="q"/>
            </a:pPr>
            <a:r>
              <a:rPr lang="en-US" sz="2400" dirty="0">
                <a:latin typeface="Times New Roman" pitchFamily="18" charset="0"/>
                <a:cs typeface="Times New Roman" pitchFamily="18" charset="0"/>
              </a:rPr>
              <a:t> Eventually, the sender will time out and retransmit all unacknowledged frames in order, starting with the damaged or lost one. </a:t>
            </a:r>
          </a:p>
          <a:p>
            <a:pPr algn="just">
              <a:buFont typeface="Wingdings" pitchFamily="2" charset="2"/>
              <a:buChar char="q"/>
            </a:pPr>
            <a:r>
              <a:rPr lang="en-US" sz="2400" dirty="0">
                <a:latin typeface="Times New Roman" pitchFamily="18" charset="0"/>
                <a:cs typeface="Times New Roman" pitchFamily="18" charset="0"/>
              </a:rPr>
              <a:t>This approach can </a:t>
            </a:r>
            <a:r>
              <a:rPr lang="en-US" sz="2400" dirty="0">
                <a:solidFill>
                  <a:srgbClr val="FF0000"/>
                </a:solidFill>
                <a:latin typeface="Times New Roman" pitchFamily="18" charset="0"/>
                <a:cs typeface="Times New Roman" pitchFamily="18" charset="0"/>
              </a:rPr>
              <a:t>waste a lot of bandwidth </a:t>
            </a:r>
            <a:r>
              <a:rPr lang="en-US" sz="2400" dirty="0">
                <a:latin typeface="Times New Roman" pitchFamily="18" charset="0"/>
                <a:cs typeface="Times New Roman" pitchFamily="18" charset="0"/>
              </a:rPr>
              <a:t>if the error rate is high.</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B62ED-E9CB-49E9-A3D2-18DE9A98EF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48BB67-E6F4-4BD1-9EEE-20009ADB8C0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04C07D6-CECD-411E-A4C9-8070FDB8DC1F}"/>
              </a:ext>
            </a:extLst>
          </p:cNvPr>
          <p:cNvSpPr>
            <a:spLocks noGrp="1"/>
          </p:cNvSpPr>
          <p:nvPr>
            <p:ph type="sldNum" sz="quarter" idx="12"/>
          </p:nvPr>
        </p:nvSpPr>
        <p:spPr/>
        <p:txBody>
          <a:bodyPr/>
          <a:lstStyle/>
          <a:p>
            <a:pPr>
              <a:defRPr/>
            </a:pPr>
            <a:fld id="{231DD258-A623-490B-8242-C077DDB146DD}" type="slidenum">
              <a:rPr lang="en-US" smtClean="0"/>
              <a:pPr>
                <a:defRPr/>
              </a:pPr>
              <a:t>89</a:t>
            </a:fld>
            <a:endParaRPr lang="en-US"/>
          </a:p>
        </p:txBody>
      </p:sp>
      <p:pic>
        <p:nvPicPr>
          <p:cNvPr id="1026" name="Picture 2" descr="Go-back-n ARQ">
            <a:extLst>
              <a:ext uri="{FF2B5EF4-FFF2-40B4-BE49-F238E27FC236}">
                <a16:creationId xmlns:a16="http://schemas.microsoft.com/office/drawing/2014/main" id="{78E9C258-E558-4A8F-9136-CDFB4F92B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0568" y="815153"/>
            <a:ext cx="4207979" cy="552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0281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386544" y="684214"/>
            <a:ext cx="8367712" cy="1084626"/>
          </a:xfrm>
        </p:spPr>
        <p:txBody>
          <a:bodyPr/>
          <a:lstStyle/>
          <a:p>
            <a:pPr algn="ctr" eaLnBrk="1" hangingPunct="1">
              <a:buFontTx/>
              <a:buNone/>
            </a:pPr>
            <a:r>
              <a:rPr lang="en-US" dirty="0"/>
              <a:t>Pipelining and error recovery.  Effect on an error when receiver’s window size is 1</a:t>
            </a:r>
          </a:p>
        </p:txBody>
      </p:sp>
      <p:sp>
        <p:nvSpPr>
          <p:cNvPr id="6" name="Slide Number Placeholder 5"/>
          <p:cNvSpPr>
            <a:spLocks noGrp="1"/>
          </p:cNvSpPr>
          <p:nvPr>
            <p:ph type="sldNum" sz="quarter" idx="12"/>
          </p:nvPr>
        </p:nvSpPr>
        <p:spPr/>
        <p:txBody>
          <a:bodyPr/>
          <a:lstStyle/>
          <a:p>
            <a:pPr>
              <a:defRPr/>
            </a:pPr>
            <a:fld id="{231DD258-A623-490B-8242-C077DDB146DD}" type="slidenum">
              <a:rPr lang="en-US" smtClean="0"/>
              <a:pPr>
                <a:defRPr/>
              </a:pPr>
              <a:t>90</a:t>
            </a:fld>
            <a:endParaRPr lang="en-US"/>
          </a:p>
        </p:txBody>
      </p:sp>
      <p:pic>
        <p:nvPicPr>
          <p:cNvPr id="26628" name="Picture 4" descr="3-16"/>
          <p:cNvPicPr>
            <a:picLocks noChangeAspect="1" noChangeArrowheads="1"/>
          </p:cNvPicPr>
          <p:nvPr/>
        </p:nvPicPr>
        <p:blipFill>
          <a:blip r:embed="rId2" cstate="print"/>
          <a:srcRect b="62766"/>
          <a:stretch>
            <a:fillRect/>
          </a:stretch>
        </p:blipFill>
        <p:spPr bwMode="auto">
          <a:xfrm>
            <a:off x="104933" y="1526919"/>
            <a:ext cx="8889167" cy="2970129"/>
          </a:xfrm>
          <a:prstGeom prst="rect">
            <a:avLst/>
          </a:prstGeom>
          <a:noFill/>
          <a:ln w="9525">
            <a:noFill/>
            <a:miter lim="800000"/>
            <a:headEnd/>
            <a:tailEnd/>
          </a:ln>
        </p:spPr>
      </p:pic>
      <p:sp>
        <p:nvSpPr>
          <p:cNvPr id="5" name="Rectangle 4"/>
          <p:cNvSpPr/>
          <p:nvPr/>
        </p:nvSpPr>
        <p:spPr>
          <a:xfrm>
            <a:off x="232347" y="4549676"/>
            <a:ext cx="8671810" cy="2308324"/>
          </a:xfrm>
          <a:prstGeom prst="rect">
            <a:avLst/>
          </a:prstGeom>
        </p:spPr>
        <p:txBody>
          <a:bodyPr wrap="square">
            <a:spAutoFit/>
          </a:bodyPr>
          <a:lstStyle/>
          <a:p>
            <a:pPr algn="just">
              <a:buFont typeface="Wingdings" pitchFamily="2" charset="2"/>
              <a:buChar char="q"/>
            </a:pPr>
            <a:r>
              <a:rPr lang="en-US" sz="2400" dirty="0">
                <a:latin typeface="Times New Roman" pitchFamily="18" charset="0"/>
                <a:cs typeface="Times New Roman" pitchFamily="18" charset="0"/>
              </a:rPr>
              <a:t> Frames 0 and 1 are correctly received and acknowledged. </a:t>
            </a:r>
          </a:p>
          <a:p>
            <a:pPr algn="just">
              <a:buFont typeface="Wingdings" pitchFamily="2" charset="2"/>
              <a:buChar char="q"/>
            </a:pPr>
            <a:r>
              <a:rPr lang="en-US" sz="2400" dirty="0">
                <a:latin typeface="Times New Roman" pitchFamily="18" charset="0"/>
                <a:cs typeface="Times New Roman" pitchFamily="18" charset="0"/>
              </a:rPr>
              <a:t> Frame 2, however, is damaged or lost. </a:t>
            </a:r>
          </a:p>
          <a:p>
            <a:pPr algn="just">
              <a:buFont typeface="Wingdings" pitchFamily="2" charset="2"/>
              <a:buChar char="q"/>
            </a:pPr>
            <a:r>
              <a:rPr lang="en-US" sz="2400" dirty="0">
                <a:latin typeface="Times New Roman" pitchFamily="18" charset="0"/>
                <a:cs typeface="Times New Roman" pitchFamily="18" charset="0"/>
              </a:rPr>
              <a:t> The sender, unaware of this problem, continues to send frames until the timer for frame 2 expires.</a:t>
            </a:r>
          </a:p>
          <a:p>
            <a:pPr algn="just">
              <a:buFont typeface="Wingdings" pitchFamily="2" charset="2"/>
              <a:buChar char="q"/>
            </a:pPr>
            <a:r>
              <a:rPr lang="en-US" sz="2400" dirty="0">
                <a:latin typeface="Times New Roman" pitchFamily="18" charset="0"/>
                <a:cs typeface="Times New Roman" pitchFamily="18" charset="0"/>
              </a:rPr>
              <a:t> Then it backs up to frame 2 and starts all over with it, sending 2, 3, 4, etc. all over again</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345" y="1404297"/>
            <a:ext cx="8229600" cy="4325112"/>
          </a:xfrm>
        </p:spPr>
        <p:txBody>
          <a:bodyPr/>
          <a:lstStyle/>
          <a:p>
            <a:pPr algn="just">
              <a:buFont typeface="Wingdings" pitchFamily="2" charset="2"/>
              <a:buChar char="v"/>
            </a:pPr>
            <a:r>
              <a:rPr lang="en-US" dirty="0">
                <a:latin typeface="Times New Roman" pitchFamily="18" charset="0"/>
                <a:cs typeface="Times New Roman" pitchFamily="18" charset="0"/>
              </a:rPr>
              <a:t>Go back n Protocol </a:t>
            </a:r>
            <a:r>
              <a:rPr lang="en-US" b="1" dirty="0">
                <a:latin typeface="Times New Roman" pitchFamily="18" charset="0"/>
                <a:cs typeface="Times New Roman" pitchFamily="18" charset="0"/>
              </a:rPr>
              <a:t>works well if errors are rare</a:t>
            </a:r>
          </a:p>
          <a:p>
            <a:pPr algn="just">
              <a:buFont typeface="Wingdings" pitchFamily="2" charset="2"/>
              <a:buChar char="v"/>
            </a:pPr>
            <a:r>
              <a:rPr lang="en-US" dirty="0">
                <a:latin typeface="Times New Roman" pitchFamily="18" charset="0"/>
                <a:cs typeface="Times New Roman" pitchFamily="18" charset="0"/>
              </a:rPr>
              <a:t> But if the </a:t>
            </a:r>
            <a:r>
              <a:rPr lang="en-US" b="1" dirty="0">
                <a:latin typeface="Times New Roman" pitchFamily="18" charset="0"/>
                <a:cs typeface="Times New Roman" pitchFamily="18" charset="0"/>
              </a:rPr>
              <a:t>line is poor, it wastes a lot of bandwidth on retransmitted frames. </a:t>
            </a:r>
          </a:p>
          <a:p>
            <a:pPr algn="just">
              <a:buFont typeface="Wingdings" pitchFamily="2" charset="2"/>
              <a:buChar char="v"/>
            </a:pPr>
            <a:r>
              <a:rPr lang="en-US" dirty="0">
                <a:latin typeface="Times New Roman" pitchFamily="18" charset="0"/>
                <a:cs typeface="Times New Roman" pitchFamily="18" charset="0"/>
              </a:rPr>
              <a:t> An alternative strategy for handling errors is to allow the receiver to accept and buffer the frames following a damaged or lost one. </a:t>
            </a:r>
          </a:p>
          <a:p>
            <a:pPr algn="just">
              <a:buFont typeface="Wingdings" pitchFamily="2" charset="2"/>
              <a:buChar char="v"/>
            </a:pPr>
            <a:r>
              <a:rPr lang="en-US" dirty="0">
                <a:latin typeface="Times New Roman" pitchFamily="18" charset="0"/>
                <a:cs typeface="Times New Roman" pitchFamily="18" charset="0"/>
              </a:rPr>
              <a:t> Such a protocol does not discard frames merely because an earlier frame was damaged or lost.</a:t>
            </a:r>
          </a:p>
          <a:p>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91</a:t>
            </a:fld>
            <a:endParaRPr lang="en-US"/>
          </a:p>
        </p:txBody>
      </p:sp>
      <p:graphicFrame>
        <p:nvGraphicFramePr>
          <p:cNvPr id="2" name="Object 1">
            <a:extLst>
              <a:ext uri="{FF2B5EF4-FFF2-40B4-BE49-F238E27FC236}">
                <a16:creationId xmlns:a16="http://schemas.microsoft.com/office/drawing/2014/main" id="{DDA7998D-6B55-48B5-B779-88DB0355E1B6}"/>
              </a:ext>
            </a:extLst>
          </p:cNvPr>
          <p:cNvGraphicFramePr>
            <a:graphicFrameLocks noChangeAspect="1"/>
          </p:cNvGraphicFramePr>
          <p:nvPr>
            <p:extLst>
              <p:ext uri="{D42A27DB-BD31-4B8C-83A1-F6EECF244321}">
                <p14:modId xmlns:p14="http://schemas.microsoft.com/office/powerpoint/2010/main" val="478661605"/>
              </p:ext>
            </p:extLst>
          </p:nvPr>
        </p:nvGraphicFramePr>
        <p:xfrm>
          <a:off x="146050" y="1387475"/>
          <a:ext cx="8851900" cy="4083050"/>
        </p:xfrm>
        <a:graphic>
          <a:graphicData uri="http://schemas.openxmlformats.org/presentationml/2006/ole">
            <mc:AlternateContent xmlns:mc="http://schemas.openxmlformats.org/markup-compatibility/2006">
              <mc:Choice xmlns:v="urn:schemas-microsoft-com:vml" Requires="v">
                <p:oleObj name="Bitmap Image" r:id="rId2" imgW="10561320" imgH="4861440" progId="PBrush">
                  <p:embed/>
                </p:oleObj>
              </mc:Choice>
              <mc:Fallback>
                <p:oleObj name="Bitmap Image" r:id="rId2" imgW="10561320" imgH="4861440" progId="PBrush">
                  <p:embed/>
                  <p:pic>
                    <p:nvPicPr>
                      <p:cNvPr id="0" name=""/>
                      <p:cNvPicPr/>
                      <p:nvPr/>
                    </p:nvPicPr>
                    <p:blipFill>
                      <a:blip r:embed="rId3"/>
                      <a:stretch>
                        <a:fillRect/>
                      </a:stretch>
                    </p:blipFill>
                    <p:spPr>
                      <a:xfrm>
                        <a:off x="146050" y="1387475"/>
                        <a:ext cx="8851900" cy="4083050"/>
                      </a:xfrm>
                      <a:prstGeom prst="rect">
                        <a:avLst/>
                      </a:prstGeom>
                    </p:spPr>
                  </p:pic>
                </p:oleObj>
              </mc:Fallback>
            </mc:AlternateContent>
          </a:graphicData>
        </a:graphic>
      </p:graphicFrame>
    </p:spTree>
    <p:extLst>
      <p:ext uri="{BB962C8B-B14F-4D97-AF65-F5344CB8AC3E}">
        <p14:creationId xmlns:p14="http://schemas.microsoft.com/office/powerpoint/2010/main" val="17771979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 y="1274618"/>
            <a:ext cx="9144000" cy="5486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q"/>
            </a:pPr>
            <a:r>
              <a:rPr lang="en-US" sz="2400" dirty="0">
                <a:latin typeface="Times New Roman" pitchFamily="18" charset="0"/>
                <a:cs typeface="Times New Roman" pitchFamily="18" charset="0"/>
              </a:rPr>
              <a:t> Other general strategy for handling errors when frames are pipelined is called </a:t>
            </a:r>
            <a:r>
              <a:rPr lang="en-US" sz="2400" b="1" dirty="0">
                <a:solidFill>
                  <a:srgbClr val="FF0000"/>
                </a:solidFill>
                <a:latin typeface="Times New Roman" pitchFamily="18" charset="0"/>
                <a:cs typeface="Times New Roman" pitchFamily="18" charset="0"/>
              </a:rPr>
              <a:t>selective repeat</a:t>
            </a:r>
            <a:r>
              <a:rPr lang="en-US" sz="2400" dirty="0">
                <a:latin typeface="Times New Roman" pitchFamily="18" charset="0"/>
                <a:cs typeface="Times New Roman" pitchFamily="18" charset="0"/>
              </a:rPr>
              <a:t>. </a:t>
            </a:r>
          </a:p>
          <a:p>
            <a:pPr algn="just">
              <a:buFont typeface="Wingdings" pitchFamily="2" charset="2"/>
              <a:buChar char="q"/>
            </a:pPr>
            <a:r>
              <a:rPr lang="en-US" sz="2400" dirty="0">
                <a:latin typeface="Times New Roman" pitchFamily="18" charset="0"/>
                <a:cs typeface="Times New Roman" pitchFamily="18" charset="0"/>
              </a:rPr>
              <a:t> When it is used, a </a:t>
            </a:r>
            <a:r>
              <a:rPr lang="en-US" sz="2400" dirty="0">
                <a:solidFill>
                  <a:srgbClr val="FF0000"/>
                </a:solidFill>
                <a:latin typeface="Times New Roman" pitchFamily="18" charset="0"/>
                <a:cs typeface="Times New Roman" pitchFamily="18" charset="0"/>
              </a:rPr>
              <a:t>bad frame that is received is discarded</a:t>
            </a:r>
            <a:r>
              <a:rPr lang="en-US" sz="2400" dirty="0">
                <a:latin typeface="Times New Roman" pitchFamily="18" charset="0"/>
                <a:cs typeface="Times New Roman" pitchFamily="18" charset="0"/>
              </a:rPr>
              <a:t>, but </a:t>
            </a:r>
            <a:r>
              <a:rPr lang="en-US" sz="2400" dirty="0">
                <a:solidFill>
                  <a:srgbClr val="FF0000"/>
                </a:solidFill>
                <a:latin typeface="Times New Roman" pitchFamily="18" charset="0"/>
                <a:cs typeface="Times New Roman" pitchFamily="18" charset="0"/>
              </a:rPr>
              <a:t>good frames received after it are buffered. </a:t>
            </a:r>
          </a:p>
          <a:p>
            <a:pPr algn="just">
              <a:buFont typeface="Wingdings" pitchFamily="2" charset="2"/>
              <a:buChar char="q"/>
            </a:pPr>
            <a:r>
              <a:rPr lang="en-US" sz="2400" dirty="0">
                <a:latin typeface="Times New Roman" pitchFamily="18" charset="0"/>
                <a:cs typeface="Times New Roman" pitchFamily="18" charset="0"/>
              </a:rPr>
              <a:t> When the sender times out, </a:t>
            </a:r>
            <a:r>
              <a:rPr lang="en-US" sz="2400" b="1" dirty="0">
                <a:latin typeface="Times New Roman" pitchFamily="18" charset="0"/>
                <a:cs typeface="Times New Roman" pitchFamily="18" charset="0"/>
              </a:rPr>
              <a:t>only the oldest unacknowledged frame is retransmitted. </a:t>
            </a:r>
          </a:p>
          <a:p>
            <a:pPr algn="just">
              <a:buFont typeface="Wingdings" pitchFamily="2" charset="2"/>
              <a:buChar char="q"/>
            </a:pPr>
            <a:r>
              <a:rPr lang="en-US" sz="2400" dirty="0">
                <a:latin typeface="Times New Roman" pitchFamily="18" charset="0"/>
                <a:cs typeface="Times New Roman" pitchFamily="18" charset="0"/>
              </a:rPr>
              <a:t> If that frame arrives correctly, the receiver can deliver to the network layer, in sequence, all the frames it has buffered. </a:t>
            </a:r>
          </a:p>
          <a:p>
            <a:pPr algn="just">
              <a:buFont typeface="Wingdings" pitchFamily="2" charset="2"/>
              <a:buChar char="q"/>
            </a:pPr>
            <a:r>
              <a:rPr lang="en-US" sz="2400" dirty="0">
                <a:latin typeface="Times New Roman" pitchFamily="18" charset="0"/>
                <a:cs typeface="Times New Roman" pitchFamily="18" charset="0"/>
              </a:rPr>
              <a:t> Selective repeat is often combined with having the receiver send a </a:t>
            </a:r>
            <a:r>
              <a:rPr lang="en-US" sz="2400" b="1" dirty="0">
                <a:latin typeface="Times New Roman" pitchFamily="18" charset="0"/>
                <a:cs typeface="Times New Roman" pitchFamily="18" charset="0"/>
              </a:rPr>
              <a:t>negative acknowledgement </a:t>
            </a:r>
            <a:r>
              <a:rPr lang="en-US" sz="2400" dirty="0">
                <a:solidFill>
                  <a:srgbClr val="FF0000"/>
                </a:solidFill>
                <a:latin typeface="Times New Roman" pitchFamily="18" charset="0"/>
                <a:cs typeface="Times New Roman" pitchFamily="18" charset="0"/>
              </a:rPr>
              <a:t>(NAK)</a:t>
            </a:r>
            <a:r>
              <a:rPr lang="en-US" sz="2400" dirty="0">
                <a:latin typeface="Times New Roman" pitchFamily="18" charset="0"/>
                <a:cs typeface="Times New Roman" pitchFamily="18" charset="0"/>
              </a:rPr>
              <a:t> when it detects an error, </a:t>
            </a:r>
          </a:p>
          <a:p>
            <a:pPr algn="just">
              <a:buFont typeface="Wingdings" pitchFamily="2" charset="2"/>
              <a:buChar char="q"/>
            </a:pPr>
            <a:r>
              <a:rPr lang="en-US" sz="2400" dirty="0">
                <a:latin typeface="Times New Roman" pitchFamily="18" charset="0"/>
                <a:cs typeface="Times New Roman" pitchFamily="18" charset="0"/>
              </a:rPr>
              <a:t> for example, when it receives a </a:t>
            </a:r>
            <a:r>
              <a:rPr lang="en-US" sz="2400" b="1" dirty="0">
                <a:latin typeface="Times New Roman" pitchFamily="18" charset="0"/>
                <a:cs typeface="Times New Roman" pitchFamily="18" charset="0"/>
              </a:rPr>
              <a:t>checksum error </a:t>
            </a:r>
            <a:r>
              <a:rPr lang="en-US" sz="2400" dirty="0">
                <a:latin typeface="Times New Roman" pitchFamily="18" charset="0"/>
                <a:cs typeface="Times New Roman" pitchFamily="18" charset="0"/>
              </a:rPr>
              <a:t>or a </a:t>
            </a:r>
            <a:r>
              <a:rPr lang="en-US" sz="2400" b="1" dirty="0">
                <a:latin typeface="Times New Roman" pitchFamily="18" charset="0"/>
                <a:cs typeface="Times New Roman" pitchFamily="18" charset="0"/>
              </a:rPr>
              <a:t>frame out of sequence. </a:t>
            </a:r>
          </a:p>
          <a:p>
            <a:pPr algn="just">
              <a:buFont typeface="Wingdings" pitchFamily="2" charset="2"/>
              <a:buChar char="q"/>
            </a:pPr>
            <a:r>
              <a:rPr lang="en-US" sz="2400" dirty="0">
                <a:latin typeface="Times New Roman" pitchFamily="18" charset="0"/>
                <a:cs typeface="Times New Roman" pitchFamily="18" charset="0"/>
              </a:rPr>
              <a:t> NAKs stimulate retransmission before the corresponding timer expires and thus improve performance</a:t>
            </a:r>
          </a:p>
        </p:txBody>
      </p:sp>
      <p:sp>
        <p:nvSpPr>
          <p:cNvPr id="6" name="Rectangle 2"/>
          <p:cNvSpPr>
            <a:spLocks noGrp="1" noChangeArrowheads="1"/>
          </p:cNvSpPr>
          <p:nvPr>
            <p:ph type="title"/>
          </p:nvPr>
        </p:nvSpPr>
        <p:spPr>
          <a:xfrm>
            <a:off x="0" y="581910"/>
            <a:ext cx="9144000" cy="643467"/>
          </a:xfrm>
        </p:spPr>
        <p:txBody>
          <a:bodyPr/>
          <a:lstStyle/>
          <a:p>
            <a:pPr eaLnBrk="1" hangingPunct="1"/>
            <a:r>
              <a:rPr lang="en-US" sz="3200" dirty="0"/>
              <a:t>Sliding Window Protocol Using Selective Repeat</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FA053-1BF9-4714-A7F9-5627619809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48648E-211A-40E3-B930-1A5844913599}"/>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C5B527B-02EE-4189-93B5-D69E405D6A50}"/>
              </a:ext>
            </a:extLst>
          </p:cNvPr>
          <p:cNvSpPr>
            <a:spLocks noGrp="1"/>
          </p:cNvSpPr>
          <p:nvPr>
            <p:ph type="sldNum" sz="quarter" idx="12"/>
          </p:nvPr>
        </p:nvSpPr>
        <p:spPr/>
        <p:txBody>
          <a:bodyPr/>
          <a:lstStyle/>
          <a:p>
            <a:pPr>
              <a:defRPr/>
            </a:pPr>
            <a:fld id="{231DD258-A623-490B-8242-C077DDB146DD}" type="slidenum">
              <a:rPr lang="en-US" smtClean="0"/>
              <a:pPr>
                <a:defRPr/>
              </a:pPr>
              <a:t>93</a:t>
            </a:fld>
            <a:endParaRPr lang="en-US"/>
          </a:p>
        </p:txBody>
      </p:sp>
      <p:pic>
        <p:nvPicPr>
          <p:cNvPr id="2050" name="Picture 2">
            <a:extLst>
              <a:ext uri="{FF2B5EF4-FFF2-40B4-BE49-F238E27FC236}">
                <a16:creationId xmlns:a16="http://schemas.microsoft.com/office/drawing/2014/main" id="{825A4A62-52FF-4086-9F07-11D6E3A32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0373" y="838200"/>
            <a:ext cx="4233302"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0232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209862" y="894074"/>
            <a:ext cx="8634335" cy="1069635"/>
          </a:xfrm>
        </p:spPr>
        <p:txBody>
          <a:bodyPr/>
          <a:lstStyle/>
          <a:p>
            <a:pPr algn="ctr" eaLnBrk="1" hangingPunct="1">
              <a:buFontTx/>
              <a:buNone/>
            </a:pPr>
            <a:r>
              <a:rPr lang="en-US" dirty="0"/>
              <a:t>Pipelining and error recovery.  Effect on an error when receiver’s window size is large.</a:t>
            </a:r>
          </a:p>
        </p:txBody>
      </p:sp>
      <p:sp>
        <p:nvSpPr>
          <p:cNvPr id="6" name="Slide Number Placeholder 5"/>
          <p:cNvSpPr>
            <a:spLocks noGrp="1"/>
          </p:cNvSpPr>
          <p:nvPr>
            <p:ph type="sldNum" sz="quarter" idx="12"/>
          </p:nvPr>
        </p:nvSpPr>
        <p:spPr/>
        <p:txBody>
          <a:bodyPr/>
          <a:lstStyle/>
          <a:p>
            <a:pPr>
              <a:defRPr/>
            </a:pPr>
            <a:fld id="{231DD258-A623-490B-8242-C077DDB146DD}" type="slidenum">
              <a:rPr lang="en-US" smtClean="0"/>
              <a:pPr>
                <a:defRPr/>
              </a:pPr>
              <a:t>94</a:t>
            </a:fld>
            <a:endParaRPr lang="en-US"/>
          </a:p>
        </p:txBody>
      </p:sp>
      <p:pic>
        <p:nvPicPr>
          <p:cNvPr id="26628" name="Picture 4" descr="3-16"/>
          <p:cNvPicPr>
            <a:picLocks noChangeAspect="1" noChangeArrowheads="1"/>
          </p:cNvPicPr>
          <p:nvPr/>
        </p:nvPicPr>
        <p:blipFill>
          <a:blip r:embed="rId2" cstate="print"/>
          <a:srcRect t="59497" b="4813"/>
          <a:stretch>
            <a:fillRect/>
          </a:stretch>
        </p:blipFill>
        <p:spPr bwMode="auto">
          <a:xfrm>
            <a:off x="14990" y="1768839"/>
            <a:ext cx="9109445" cy="2998033"/>
          </a:xfrm>
          <a:prstGeom prst="rect">
            <a:avLst/>
          </a:prstGeom>
          <a:noFill/>
          <a:ln w="9525">
            <a:noFill/>
            <a:miter lim="800000"/>
            <a:headEnd/>
            <a:tailEnd/>
          </a:ln>
        </p:spPr>
      </p:pic>
      <p:sp>
        <p:nvSpPr>
          <p:cNvPr id="5" name="Rectangle 4"/>
          <p:cNvSpPr/>
          <p:nvPr/>
        </p:nvSpPr>
        <p:spPr>
          <a:xfrm>
            <a:off x="397239" y="4904654"/>
            <a:ext cx="8431968" cy="1692771"/>
          </a:xfrm>
          <a:prstGeom prst="rect">
            <a:avLst/>
          </a:prstGeom>
        </p:spPr>
        <p:txBody>
          <a:bodyPr wrap="square">
            <a:spAutoFit/>
          </a:bodyPr>
          <a:lstStyle/>
          <a:p>
            <a:pPr algn="just">
              <a:buFont typeface="Wingdings" pitchFamily="2" charset="2"/>
              <a:buChar char="§"/>
            </a:pPr>
            <a:r>
              <a:rPr lang="en-US" sz="2600" dirty="0">
                <a:latin typeface="Times New Roman" pitchFamily="18" charset="0"/>
                <a:cs typeface="Times New Roman" pitchFamily="18" charset="0"/>
              </a:rPr>
              <a:t> Selective repeat corresponds to a </a:t>
            </a:r>
            <a:r>
              <a:rPr lang="en-US" sz="2600" b="1" dirty="0">
                <a:latin typeface="Times New Roman" pitchFamily="18" charset="0"/>
                <a:cs typeface="Times New Roman" pitchFamily="18" charset="0"/>
              </a:rPr>
              <a:t>receiver window larger than 1 </a:t>
            </a:r>
          </a:p>
          <a:p>
            <a:pPr algn="just">
              <a:buFont typeface="Wingdings" pitchFamily="2" charset="2"/>
              <a:buChar char="§"/>
            </a:pPr>
            <a:r>
              <a:rPr lang="en-US" sz="2600" dirty="0">
                <a:latin typeface="Times New Roman" pitchFamily="18" charset="0"/>
                <a:cs typeface="Times New Roman" pitchFamily="18" charset="0"/>
              </a:rPr>
              <a:t> </a:t>
            </a:r>
            <a:r>
              <a:rPr lang="en-US" sz="2600" dirty="0">
                <a:solidFill>
                  <a:srgbClr val="FF0000"/>
                </a:solidFill>
                <a:latin typeface="Times New Roman" pitchFamily="18" charset="0"/>
                <a:cs typeface="Times New Roman" pitchFamily="18" charset="0"/>
              </a:rPr>
              <a:t>require large amounts of data link layer memory</a:t>
            </a:r>
            <a:r>
              <a:rPr lang="en-US" sz="2600" dirty="0">
                <a:latin typeface="Times New Roman" pitchFamily="18" charset="0"/>
                <a:cs typeface="Times New Roman" pitchFamily="18" charset="0"/>
              </a:rPr>
              <a:t> if the window is large</a:t>
            </a:r>
          </a:p>
        </p:txBody>
      </p:sp>
      <p:sp>
        <p:nvSpPr>
          <p:cNvPr id="8" name="Rectangle 7"/>
          <p:cNvSpPr/>
          <p:nvPr/>
        </p:nvSpPr>
        <p:spPr bwMode="auto">
          <a:xfrm rot="18252006">
            <a:off x="3434737" y="2542337"/>
            <a:ext cx="360771" cy="2562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4</a:t>
            </a:r>
          </a:p>
        </p:txBody>
      </p:sp>
      <p:sp>
        <p:nvSpPr>
          <p:cNvPr id="9" name="Rectangle 8"/>
          <p:cNvSpPr/>
          <p:nvPr/>
        </p:nvSpPr>
        <p:spPr bwMode="auto">
          <a:xfrm rot="18252006">
            <a:off x="3910524" y="2512790"/>
            <a:ext cx="341089" cy="30286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t>5</a:t>
            </a:r>
            <a:endParaRPr kumimoji="0" lang="en-US" sz="1800" b="0" i="0" u="none" strike="noStrike" cap="none" normalizeH="0" baseline="0" dirty="0">
              <a:ln>
                <a:noFill/>
              </a:ln>
              <a:solidFill>
                <a:schemeClr val="tx1"/>
              </a:solidFill>
              <a:effectLst/>
              <a:latin typeface="Arial" charset="0"/>
            </a:endParaRPr>
          </a:p>
        </p:txBody>
      </p:sp>
      <p:sp>
        <p:nvSpPr>
          <p:cNvPr id="10" name="Rectangle 9"/>
          <p:cNvSpPr/>
          <p:nvPr/>
        </p:nvSpPr>
        <p:spPr bwMode="auto">
          <a:xfrm rot="18252006">
            <a:off x="4437678" y="2530278"/>
            <a:ext cx="341089" cy="302868"/>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387927" y="809470"/>
            <a:ext cx="8756074" cy="5546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q"/>
            </a:pPr>
            <a:r>
              <a:rPr lang="en-US" sz="2400" dirty="0">
                <a:latin typeface="Times New Roman" pitchFamily="18" charset="0"/>
                <a:cs typeface="Times New Roman" pitchFamily="18" charset="0"/>
              </a:rPr>
              <a:t> Frames 0 and 1 are again correctly received and acknowledged and frame 2 is lost. </a:t>
            </a:r>
          </a:p>
          <a:p>
            <a:pPr algn="just">
              <a:buFont typeface="Wingdings" pitchFamily="2" charset="2"/>
              <a:buChar char="q"/>
            </a:pPr>
            <a:r>
              <a:rPr lang="en-US" sz="2400" dirty="0">
                <a:latin typeface="Times New Roman" pitchFamily="18" charset="0"/>
                <a:cs typeface="Times New Roman" pitchFamily="18" charset="0"/>
              </a:rPr>
              <a:t> When frame 3 arrives at the receiver, the DLL notices that is has missed a frame</a:t>
            </a:r>
          </a:p>
          <a:p>
            <a:pPr algn="just">
              <a:buFont typeface="Wingdings" pitchFamily="2" charset="2"/>
              <a:buChar char="q"/>
            </a:pPr>
            <a:r>
              <a:rPr lang="en-US" sz="2400" dirty="0">
                <a:latin typeface="Times New Roman" pitchFamily="18" charset="0"/>
                <a:cs typeface="Times New Roman" pitchFamily="18" charset="0"/>
              </a:rPr>
              <a:t> So it sends back a NAK for 2 but buffers 3. </a:t>
            </a:r>
          </a:p>
          <a:p>
            <a:pPr algn="just">
              <a:buFont typeface="Wingdings" pitchFamily="2" charset="2"/>
              <a:buChar char="q"/>
            </a:pPr>
            <a:r>
              <a:rPr lang="en-US" sz="2400" dirty="0">
                <a:latin typeface="Times New Roman" pitchFamily="18" charset="0"/>
                <a:cs typeface="Times New Roman" pitchFamily="18" charset="0"/>
              </a:rPr>
              <a:t> When frames 4 and 5 arrive, they, too, are buffered by the DLL instead of being passed to the network layer. </a:t>
            </a:r>
          </a:p>
          <a:p>
            <a:pPr algn="just">
              <a:buFont typeface="Wingdings" pitchFamily="2" charset="2"/>
              <a:buChar char="q"/>
            </a:pPr>
            <a:r>
              <a:rPr lang="en-US" sz="2400" dirty="0">
                <a:latin typeface="Times New Roman" pitchFamily="18" charset="0"/>
                <a:cs typeface="Times New Roman" pitchFamily="18" charset="0"/>
              </a:rPr>
              <a:t> Eventually, the NAK 2 gets back to the sender, which immediately resends frame 2. When that arrives, the DLL now has 2, 3, 4, and 5 and can pass all of them to the network layer in the correct order. </a:t>
            </a:r>
          </a:p>
          <a:p>
            <a:pPr algn="just">
              <a:buFont typeface="Wingdings" pitchFamily="2" charset="2"/>
              <a:buChar char="q"/>
            </a:pPr>
            <a:r>
              <a:rPr lang="en-US" sz="2400" dirty="0">
                <a:latin typeface="Times New Roman" pitchFamily="18" charset="0"/>
                <a:cs typeface="Times New Roman" pitchFamily="18" charset="0"/>
              </a:rPr>
              <a:t> It can also acknowledge all frames up to and including 5 </a:t>
            </a:r>
          </a:p>
          <a:p>
            <a:pPr algn="just">
              <a:buFont typeface="Wingdings" pitchFamily="2" charset="2"/>
              <a:buChar char="q"/>
            </a:pPr>
            <a:r>
              <a:rPr lang="en-US" sz="2400" dirty="0">
                <a:latin typeface="Times New Roman" pitchFamily="18" charset="0"/>
                <a:cs typeface="Times New Roman" pitchFamily="18" charset="0"/>
              </a:rPr>
              <a:t> If the </a:t>
            </a:r>
            <a:r>
              <a:rPr lang="en-US" sz="2400" b="1" dirty="0">
                <a:latin typeface="Times New Roman" pitchFamily="18" charset="0"/>
                <a:cs typeface="Times New Roman" pitchFamily="18" charset="0"/>
              </a:rPr>
              <a:t>NAK should get lost, eventually the sender will time out for frame 2 and send it</a:t>
            </a:r>
            <a:r>
              <a:rPr lang="en-US" sz="2400" dirty="0">
                <a:latin typeface="Times New Roman" pitchFamily="18" charset="0"/>
                <a:cs typeface="Times New Roman" pitchFamily="18" charset="0"/>
              </a:rPr>
              <a:t>, but that may be a quite a while later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96</a:t>
            </a:fld>
            <a:endParaRPr lang="en-US"/>
          </a:p>
        </p:txBody>
      </p:sp>
      <p:sp>
        <p:nvSpPr>
          <p:cNvPr id="5" name="Rectangle 3"/>
          <p:cNvSpPr txBox="1">
            <a:spLocks noChangeArrowheads="1"/>
          </p:cNvSpPr>
          <p:nvPr/>
        </p:nvSpPr>
        <p:spPr bwMode="auto">
          <a:xfrm>
            <a:off x="249381" y="1288473"/>
            <a:ext cx="8575963" cy="54196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v"/>
            </a:pPr>
            <a:r>
              <a:rPr lang="en-US" sz="2400" dirty="0">
                <a:latin typeface="Times New Roman" pitchFamily="18" charset="0"/>
                <a:cs typeface="Times New Roman" pitchFamily="18" charset="0"/>
              </a:rPr>
              <a:t>In this protocol</a:t>
            </a:r>
            <a:r>
              <a:rPr lang="en-US" sz="2400" dirty="0">
                <a:solidFill>
                  <a:srgbClr val="FF0000"/>
                </a:solidFill>
                <a:latin typeface="Times New Roman" pitchFamily="18" charset="0"/>
                <a:cs typeface="Times New Roman" pitchFamily="18" charset="0"/>
              </a:rPr>
              <a:t>, both sender and receiver maintain a window of acceptable sequence numbers. </a:t>
            </a:r>
          </a:p>
          <a:p>
            <a:pPr algn="just">
              <a:buFont typeface="Wingdings" pitchFamily="2" charset="2"/>
              <a:buChar char="v"/>
            </a:pPr>
            <a:r>
              <a:rPr lang="en-US" sz="2400" dirty="0">
                <a:latin typeface="Times New Roman" pitchFamily="18" charset="0"/>
                <a:cs typeface="Times New Roman" pitchFamily="18" charset="0"/>
              </a:rPr>
              <a:t> The sender's window size starts out at 0 and grows to some predefined maximum, MAX_SEQ. </a:t>
            </a:r>
          </a:p>
          <a:p>
            <a:pPr algn="just">
              <a:buFont typeface="Wingdings" pitchFamily="2" charset="2"/>
              <a:buChar char="v"/>
            </a:pPr>
            <a:r>
              <a:rPr lang="en-US" sz="2400" dirty="0">
                <a:latin typeface="Times New Roman" pitchFamily="18" charset="0"/>
                <a:cs typeface="Times New Roman" pitchFamily="18" charset="0"/>
              </a:rPr>
              <a:t> The receiver's window is always fixed in size and equal to MAX_SEQ. </a:t>
            </a:r>
          </a:p>
          <a:p>
            <a:pPr algn="just">
              <a:buFont typeface="Wingdings" pitchFamily="2" charset="2"/>
              <a:buChar char="v"/>
            </a:pPr>
            <a:r>
              <a:rPr lang="en-US" sz="2400" dirty="0">
                <a:latin typeface="Times New Roman" pitchFamily="18" charset="0"/>
                <a:cs typeface="Times New Roman" pitchFamily="18" charset="0"/>
              </a:rPr>
              <a:t> The </a:t>
            </a:r>
            <a:r>
              <a:rPr lang="en-US" sz="2400" b="1" dirty="0">
                <a:latin typeface="Times New Roman" pitchFamily="18" charset="0"/>
                <a:cs typeface="Times New Roman" pitchFamily="18" charset="0"/>
              </a:rPr>
              <a:t>receiver has a buffer reserved for each sequence number within its fixed window</a:t>
            </a:r>
            <a:r>
              <a:rPr lang="en-US" sz="2400" dirty="0">
                <a:latin typeface="Times New Roman" pitchFamily="18" charset="0"/>
                <a:cs typeface="Times New Roman" pitchFamily="18" charset="0"/>
              </a:rPr>
              <a:t>.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97</a:t>
            </a:fld>
            <a:endParaRPr lang="en-US"/>
          </a:p>
        </p:txBody>
      </p:sp>
      <p:sp>
        <p:nvSpPr>
          <p:cNvPr id="5" name="Rectangle 3"/>
          <p:cNvSpPr txBox="1">
            <a:spLocks noChangeArrowheads="1"/>
          </p:cNvSpPr>
          <p:nvPr/>
        </p:nvSpPr>
        <p:spPr bwMode="auto">
          <a:xfrm>
            <a:off x="304799" y="809470"/>
            <a:ext cx="8243455" cy="5546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v"/>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Non-sequential receive introduces certain problems.</a:t>
            </a:r>
            <a:r>
              <a:rPr lang="en-US" sz="2400" dirty="0">
                <a:latin typeface="Times New Roman" pitchFamily="18" charset="0"/>
                <a:cs typeface="Times New Roman" pitchFamily="18" charset="0"/>
              </a:rPr>
              <a:t> </a:t>
            </a:r>
          </a:p>
          <a:p>
            <a:pPr algn="just">
              <a:buFont typeface="Wingdings" pitchFamily="2" charset="2"/>
              <a:buChar char="v"/>
            </a:pPr>
            <a:r>
              <a:rPr lang="en-US" sz="2400" dirty="0">
                <a:latin typeface="Times New Roman" pitchFamily="18" charset="0"/>
                <a:cs typeface="Times New Roman" pitchFamily="18" charset="0"/>
              </a:rPr>
              <a:t> Example:</a:t>
            </a:r>
          </a:p>
          <a:p>
            <a:pPr algn="just">
              <a:buFont typeface="Wingdings" pitchFamily="2" charset="2"/>
              <a:buChar char="v"/>
            </a:pPr>
            <a:r>
              <a:rPr lang="en-US" sz="2400" dirty="0">
                <a:latin typeface="Times New Roman" pitchFamily="18" charset="0"/>
                <a:cs typeface="Times New Roman" pitchFamily="18" charset="0"/>
              </a:rPr>
              <a:t> Suppose that we have a 3-bit sequence number, so that the sender is permitted to transmit up to seven frames before being required to wait for an acknowledgement. </a:t>
            </a:r>
          </a:p>
          <a:p>
            <a:pPr algn="just">
              <a:buFont typeface="Wingdings" pitchFamily="2" charset="2"/>
              <a:buChar char="v"/>
            </a:pPr>
            <a:r>
              <a:rPr lang="en-US" sz="2400" dirty="0">
                <a:latin typeface="Times New Roman" pitchFamily="18" charset="0"/>
                <a:cs typeface="Times New Roman" pitchFamily="18" charset="0"/>
              </a:rPr>
              <a:t> Initially, the sender's and receiver's windows are as shown in Fig. (a). </a:t>
            </a:r>
          </a:p>
          <a:p>
            <a:pPr algn="just">
              <a:buFont typeface="Wingdings" pitchFamily="2" charset="2"/>
              <a:buChar char="v"/>
            </a:pPr>
            <a:r>
              <a:rPr lang="en-US" sz="2400" dirty="0">
                <a:latin typeface="Times New Roman" pitchFamily="18" charset="0"/>
                <a:cs typeface="Times New Roman" pitchFamily="18" charset="0"/>
              </a:rPr>
              <a:t> The sender now transmits frames 0 through 6. </a:t>
            </a:r>
          </a:p>
          <a:p>
            <a:pPr algn="just">
              <a:buFont typeface="Wingdings" pitchFamily="2" charset="2"/>
              <a:buChar char="v"/>
            </a:pPr>
            <a:r>
              <a:rPr lang="en-US" sz="2400" dirty="0">
                <a:latin typeface="Times New Roman" pitchFamily="18" charset="0"/>
                <a:cs typeface="Times New Roman" pitchFamily="18" charset="0"/>
              </a:rPr>
              <a:t> The receiver's window allows it to accept any frame with sequence number between 0 and 6 inclusive. </a:t>
            </a:r>
          </a:p>
          <a:p>
            <a:pPr algn="just">
              <a:buFont typeface="Wingdings" pitchFamily="2" charset="2"/>
              <a:buChar char="v"/>
            </a:pPr>
            <a:r>
              <a:rPr lang="en-US" sz="2400" dirty="0">
                <a:latin typeface="Times New Roman" pitchFamily="18" charset="0"/>
                <a:cs typeface="Times New Roman" pitchFamily="18" charset="0"/>
              </a:rPr>
              <a:t> All seven frames arrive correctly, so the receiver acknowledges them and advances its window to allow receipt of 7, 0, 1, 2, 3, 4, or 5, as shown in Fig. (b). </a:t>
            </a:r>
          </a:p>
          <a:p>
            <a:pPr algn="just">
              <a:buFont typeface="Wingdings" pitchFamily="2" charset="2"/>
              <a:buChar char="v"/>
            </a:pPr>
            <a:r>
              <a:rPr lang="en-US" sz="2400" dirty="0">
                <a:latin typeface="Times New Roman" pitchFamily="18" charset="0"/>
                <a:cs typeface="Times New Roman" pitchFamily="18" charset="0"/>
              </a:rPr>
              <a:t>All seven buffers are marked empty </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z="2800" dirty="0"/>
              <a:t>A Sliding Window Protocol Using Selective Repeat</a:t>
            </a:r>
          </a:p>
        </p:txBody>
      </p:sp>
      <p:sp>
        <p:nvSpPr>
          <p:cNvPr id="36867" name="Rectangle 3"/>
          <p:cNvSpPr>
            <a:spLocks noGrp="1" noChangeArrowheads="1"/>
          </p:cNvSpPr>
          <p:nvPr>
            <p:ph idx="1"/>
          </p:nvPr>
        </p:nvSpPr>
        <p:spPr>
          <a:xfrm>
            <a:off x="501650" y="4699532"/>
            <a:ext cx="8642350" cy="2090737"/>
          </a:xfrm>
        </p:spPr>
        <p:txBody>
          <a:bodyPr>
            <a:normAutofit/>
          </a:bodyPr>
          <a:lstStyle/>
          <a:p>
            <a:pPr eaLnBrk="1" hangingPunct="1">
              <a:buFontTx/>
              <a:buNone/>
            </a:pPr>
            <a:r>
              <a:rPr lang="en-US" dirty="0">
                <a:solidFill>
                  <a:schemeClr val="accent2"/>
                </a:solidFill>
              </a:rPr>
              <a:t>(a)</a:t>
            </a:r>
            <a:r>
              <a:rPr lang="en-US" dirty="0"/>
              <a:t> Initial situation with a window size seven.</a:t>
            </a:r>
          </a:p>
          <a:p>
            <a:pPr eaLnBrk="1" hangingPunct="1">
              <a:buFontTx/>
              <a:buNone/>
            </a:pPr>
            <a:r>
              <a:rPr lang="en-US" dirty="0">
                <a:solidFill>
                  <a:schemeClr val="accent2"/>
                </a:solidFill>
              </a:rPr>
              <a:t>(b)</a:t>
            </a:r>
            <a:r>
              <a:rPr lang="en-US" dirty="0"/>
              <a:t> After seven frames sent and received, but not acknowledged.</a:t>
            </a:r>
          </a:p>
        </p:txBody>
      </p:sp>
      <p:sp>
        <p:nvSpPr>
          <p:cNvPr id="6" name="Slide Number Placeholder 5"/>
          <p:cNvSpPr>
            <a:spLocks noGrp="1"/>
          </p:cNvSpPr>
          <p:nvPr>
            <p:ph type="sldNum" sz="quarter" idx="12"/>
          </p:nvPr>
        </p:nvSpPr>
        <p:spPr/>
        <p:txBody>
          <a:bodyPr/>
          <a:lstStyle/>
          <a:p>
            <a:pPr>
              <a:defRPr/>
            </a:pPr>
            <a:fld id="{231DD258-A623-490B-8242-C077DDB146DD}" type="slidenum">
              <a:rPr lang="en-US" smtClean="0"/>
              <a:pPr>
                <a:defRPr/>
              </a:pPr>
              <a:t>98</a:t>
            </a:fld>
            <a:endParaRPr lang="en-US"/>
          </a:p>
        </p:txBody>
      </p:sp>
      <p:sp>
        <p:nvSpPr>
          <p:cNvPr id="5" name="Rectangle 4"/>
          <p:cNvSpPr/>
          <p:nvPr/>
        </p:nvSpPr>
        <p:spPr>
          <a:xfrm>
            <a:off x="406399" y="780324"/>
            <a:ext cx="8500535" cy="461665"/>
          </a:xfrm>
          <a:prstGeom prst="rect">
            <a:avLst/>
          </a:prstGeom>
        </p:spPr>
        <p:txBody>
          <a:bodyPr wrap="square">
            <a:spAutoFit/>
          </a:bodyPr>
          <a:lstStyle/>
          <a:p>
            <a:r>
              <a:rPr lang="en-US" sz="2400" dirty="0"/>
              <a:t>Non-sequential receive introduces certain problems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073" y="1886384"/>
            <a:ext cx="6068291"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99</a:t>
            </a:fld>
            <a:endParaRPr lang="en-US"/>
          </a:p>
        </p:txBody>
      </p:sp>
      <p:sp>
        <p:nvSpPr>
          <p:cNvPr id="5" name="Rectangle 3"/>
          <p:cNvSpPr txBox="1">
            <a:spLocks noChangeArrowheads="1"/>
          </p:cNvSpPr>
          <p:nvPr/>
        </p:nvSpPr>
        <p:spPr bwMode="auto">
          <a:xfrm>
            <a:off x="193963" y="809470"/>
            <a:ext cx="8797637" cy="5546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v"/>
            </a:pPr>
            <a:r>
              <a:rPr lang="en-US" sz="2800" dirty="0">
                <a:latin typeface="Times New Roman" pitchFamily="18" charset="0"/>
                <a:cs typeface="Times New Roman" pitchFamily="18" charset="0"/>
              </a:rPr>
              <a:t> Assume that disaster strikes in the form of a lightning bolt hitting the telephone pole &amp; wiping out all the acknowledgements </a:t>
            </a:r>
          </a:p>
          <a:p>
            <a:pPr algn="just">
              <a:buFont typeface="Wingdings" pitchFamily="2" charset="2"/>
              <a:buChar char="v"/>
            </a:pPr>
            <a:r>
              <a:rPr lang="en-US" sz="2800" dirty="0">
                <a:latin typeface="Times New Roman" pitchFamily="18" charset="0"/>
                <a:cs typeface="Times New Roman" pitchFamily="18" charset="0"/>
              </a:rPr>
              <a:t> The sender eventually times out and retransmits frame 0. </a:t>
            </a:r>
          </a:p>
          <a:p>
            <a:pPr algn="just">
              <a:buFont typeface="Wingdings" pitchFamily="2" charset="2"/>
              <a:buChar char="v"/>
            </a:pPr>
            <a:r>
              <a:rPr lang="en-US" sz="2800" dirty="0">
                <a:latin typeface="Times New Roman" pitchFamily="18" charset="0"/>
                <a:cs typeface="Times New Roman" pitchFamily="18" charset="0"/>
              </a:rPr>
              <a:t> When this frame arrives at the receiver, a check is made to see if it falls within the receiver's window. </a:t>
            </a:r>
          </a:p>
          <a:p>
            <a:pPr algn="just">
              <a:buFont typeface="Wingdings" pitchFamily="2" charset="2"/>
              <a:buChar char="v"/>
            </a:pPr>
            <a:r>
              <a:rPr lang="en-US" sz="2800" dirty="0">
                <a:latin typeface="Times New Roman" pitchFamily="18" charset="0"/>
                <a:cs typeface="Times New Roman" pitchFamily="18" charset="0"/>
              </a:rPr>
              <a:t> Unfortunately, in Fig. (b) frame 0 is within the new window, so it will be accepted. </a:t>
            </a:r>
          </a:p>
          <a:p>
            <a:pPr algn="just">
              <a:buFont typeface="Wingdings" pitchFamily="2" charset="2"/>
              <a:buChar char="v"/>
            </a:pPr>
            <a:r>
              <a:rPr lang="en-US" sz="2800" dirty="0">
                <a:latin typeface="Times New Roman" pitchFamily="18" charset="0"/>
                <a:cs typeface="Times New Roman" pitchFamily="18" charset="0"/>
              </a:rPr>
              <a:t> The receiver sends a piggybacked acknowledgement for frame 6, since 0 through 6 have been received </a:t>
            </a:r>
          </a:p>
          <a:p>
            <a:pPr algn="just">
              <a:buFont typeface="Wingdings" pitchFamily="2" charset="2"/>
              <a:buChar char="v"/>
            </a:pPr>
            <a:r>
              <a:rPr lang="en-US" sz="2800" dirty="0">
                <a:latin typeface="Times New Roman" pitchFamily="18" charset="0"/>
                <a:cs typeface="Times New Roman" pitchFamily="18" charset="0"/>
              </a:rPr>
              <a:t> The sender is happy to learn that all its transmitted frames did actually arrive correctly,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100</a:t>
            </a:fld>
            <a:endParaRPr lang="en-US"/>
          </a:p>
        </p:txBody>
      </p:sp>
      <p:sp>
        <p:nvSpPr>
          <p:cNvPr id="5" name="Rectangle 3"/>
          <p:cNvSpPr txBox="1">
            <a:spLocks noChangeArrowheads="1"/>
          </p:cNvSpPr>
          <p:nvPr/>
        </p:nvSpPr>
        <p:spPr bwMode="auto">
          <a:xfrm>
            <a:off x="568036" y="809470"/>
            <a:ext cx="8354292" cy="5546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v"/>
            </a:pPr>
            <a:r>
              <a:rPr lang="en-US" sz="2800" dirty="0">
                <a:latin typeface="Times New Roman" pitchFamily="18" charset="0"/>
                <a:cs typeface="Times New Roman" pitchFamily="18" charset="0"/>
              </a:rPr>
              <a:t> so it advances its window and immediately sends frames 7, 0, 1, 2, 3, 4, and 5. </a:t>
            </a:r>
          </a:p>
          <a:p>
            <a:pPr algn="just">
              <a:buFont typeface="Wingdings" pitchFamily="2" charset="2"/>
              <a:buChar char="v"/>
            </a:pPr>
            <a:r>
              <a:rPr lang="en-US" sz="2800" dirty="0">
                <a:latin typeface="Times New Roman" pitchFamily="18" charset="0"/>
                <a:cs typeface="Times New Roman" pitchFamily="18" charset="0"/>
              </a:rPr>
              <a:t>Frame 7 will be accepted by the receiver and its packet will be passed directly to the network layer. </a:t>
            </a:r>
          </a:p>
          <a:p>
            <a:pPr algn="just">
              <a:buFont typeface="Wingdings" pitchFamily="2" charset="2"/>
              <a:buChar char="v"/>
            </a:pPr>
            <a:r>
              <a:rPr lang="en-US" sz="2800" dirty="0">
                <a:latin typeface="Times New Roman" pitchFamily="18" charset="0"/>
                <a:cs typeface="Times New Roman" pitchFamily="18" charset="0"/>
              </a:rPr>
              <a:t> Immediately thereafter, the receiving DLL checks to see if it has a valid frame 0 already, discovers that it does, and passes the embedded packet to the network layer. </a:t>
            </a:r>
          </a:p>
          <a:p>
            <a:pPr algn="just">
              <a:buFont typeface="Wingdings" pitchFamily="2" charset="2"/>
              <a:buChar char="v"/>
            </a:pPr>
            <a:r>
              <a:rPr lang="en-US" sz="2800" dirty="0">
                <a:latin typeface="Times New Roman" pitchFamily="18" charset="0"/>
                <a:cs typeface="Times New Roman" pitchFamily="18" charset="0"/>
              </a:rPr>
              <a:t> Consequently, the network layer gets an incorrect packet, and the protocol fails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6D7FB-2BFD-44C2-9D20-8B58C55F98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EE03377-B6BB-4D71-A686-EA31439355A7}"/>
              </a:ext>
            </a:extLst>
          </p:cNvPr>
          <p:cNvSpPr>
            <a:spLocks noGrp="1"/>
          </p:cNvSpPr>
          <p:nvPr>
            <p:ph idx="1"/>
          </p:nvPr>
        </p:nvSpPr>
        <p:spPr/>
        <p:txBody>
          <a:bodyPr/>
          <a:lstStyle/>
          <a:p>
            <a:pPr algn="just">
              <a:buFont typeface="Wingdings" pitchFamily="2" charset="2"/>
              <a:buChar char="v"/>
            </a:pPr>
            <a:r>
              <a:rPr lang="en-US" sz="2400" dirty="0">
                <a:solidFill>
                  <a:srgbClr val="FF0000"/>
                </a:solidFill>
              </a:rPr>
              <a:t>Essence of the problem</a:t>
            </a:r>
            <a:r>
              <a:rPr lang="en-US" sz="2400" dirty="0"/>
              <a:t>:</a:t>
            </a:r>
          </a:p>
          <a:p>
            <a:pPr lvl="1" algn="just">
              <a:buFont typeface="Wingdings" pitchFamily="2" charset="2"/>
              <a:buChar char="v"/>
            </a:pPr>
            <a:r>
              <a:rPr lang="en-US" sz="2400" dirty="0"/>
              <a:t> </a:t>
            </a:r>
            <a:r>
              <a:rPr lang="en-US" sz="2400" dirty="0">
                <a:solidFill>
                  <a:schemeClr val="tx1"/>
                </a:solidFill>
              </a:rPr>
              <a:t>After the receiver advanced its window, the new range of valid sequence numbers overlapped the old one. </a:t>
            </a:r>
          </a:p>
          <a:p>
            <a:pPr lvl="1" algn="just">
              <a:buFont typeface="Wingdings" pitchFamily="2" charset="2"/>
              <a:buChar char="v"/>
            </a:pPr>
            <a:r>
              <a:rPr lang="en-US" sz="2400" dirty="0">
                <a:solidFill>
                  <a:schemeClr val="tx1"/>
                </a:solidFill>
              </a:rPr>
              <a:t> Consequently, the following batch of frames might be either duplicates (if all the acknowledgements were lost) or new ones (if all the acknowledgements were received). </a:t>
            </a:r>
          </a:p>
          <a:p>
            <a:pPr lvl="1" algn="just">
              <a:buFont typeface="Wingdings" pitchFamily="2" charset="2"/>
              <a:buChar char="v"/>
            </a:pPr>
            <a:r>
              <a:rPr lang="en-US" sz="2400" dirty="0">
                <a:solidFill>
                  <a:schemeClr val="tx1"/>
                </a:solidFill>
              </a:rPr>
              <a:t> The </a:t>
            </a:r>
            <a:r>
              <a:rPr lang="en-US" sz="2400" b="1" dirty="0">
                <a:solidFill>
                  <a:schemeClr val="tx1"/>
                </a:solidFill>
              </a:rPr>
              <a:t>receiver has no way of distinguishing these two cases </a:t>
            </a:r>
          </a:p>
          <a:p>
            <a:endParaRPr lang="en-IN" dirty="0"/>
          </a:p>
        </p:txBody>
      </p:sp>
      <p:sp>
        <p:nvSpPr>
          <p:cNvPr id="4" name="Slide Number Placeholder 3">
            <a:extLst>
              <a:ext uri="{FF2B5EF4-FFF2-40B4-BE49-F238E27FC236}">
                <a16:creationId xmlns:a16="http://schemas.microsoft.com/office/drawing/2014/main" id="{68889A9F-FED3-490F-A109-ADFED1A9C0F1}"/>
              </a:ext>
            </a:extLst>
          </p:cNvPr>
          <p:cNvSpPr>
            <a:spLocks noGrp="1"/>
          </p:cNvSpPr>
          <p:nvPr>
            <p:ph type="sldNum" sz="quarter" idx="12"/>
          </p:nvPr>
        </p:nvSpPr>
        <p:spPr/>
        <p:txBody>
          <a:bodyPr/>
          <a:lstStyle/>
          <a:p>
            <a:pPr>
              <a:defRPr/>
            </a:pPr>
            <a:fld id="{231DD258-A623-490B-8242-C077DDB146DD}" type="slidenum">
              <a:rPr lang="en-US" smtClean="0"/>
              <a:pPr>
                <a:defRPr/>
              </a:pPr>
              <a:t>101</a:t>
            </a:fld>
            <a:endParaRPr lang="en-US"/>
          </a:p>
        </p:txBody>
      </p:sp>
    </p:spTree>
    <p:extLst>
      <p:ext uri="{BB962C8B-B14F-4D97-AF65-F5344CB8AC3E}">
        <p14:creationId xmlns:p14="http://schemas.microsoft.com/office/powerpoint/2010/main" val="186774328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A9E15-46A2-447B-91A3-E97F670FACCB}"/>
              </a:ext>
            </a:extLst>
          </p:cNvPr>
          <p:cNvSpPr>
            <a:spLocks noGrp="1"/>
          </p:cNvSpPr>
          <p:nvPr>
            <p:ph type="title"/>
          </p:nvPr>
        </p:nvSpPr>
        <p:spPr/>
        <p:txBody>
          <a:bodyPr/>
          <a:lstStyle/>
          <a:p>
            <a:endParaRPr lang="en-IN" dirty="0"/>
          </a:p>
        </p:txBody>
      </p:sp>
      <p:pic>
        <p:nvPicPr>
          <p:cNvPr id="6" name="Content Placeholder 5">
            <a:extLst>
              <a:ext uri="{FF2B5EF4-FFF2-40B4-BE49-F238E27FC236}">
                <a16:creationId xmlns:a16="http://schemas.microsoft.com/office/drawing/2014/main" id="{A0B97B66-487A-451C-A62B-E20CFBC88B44}"/>
              </a:ext>
            </a:extLst>
          </p:cNvPr>
          <p:cNvPicPr>
            <a:picLocks noGrp="1" noChangeAspect="1"/>
          </p:cNvPicPr>
          <p:nvPr>
            <p:ph idx="1"/>
          </p:nvPr>
        </p:nvPicPr>
        <p:blipFill>
          <a:blip r:embed="rId2"/>
          <a:stretch>
            <a:fillRect/>
          </a:stretch>
        </p:blipFill>
        <p:spPr>
          <a:xfrm>
            <a:off x="4571993" y="4411658"/>
            <a:ext cx="13" cy="9"/>
          </a:xfrm>
        </p:spPr>
      </p:pic>
      <p:sp>
        <p:nvSpPr>
          <p:cNvPr id="4" name="Slide Number Placeholder 3">
            <a:extLst>
              <a:ext uri="{FF2B5EF4-FFF2-40B4-BE49-F238E27FC236}">
                <a16:creationId xmlns:a16="http://schemas.microsoft.com/office/drawing/2014/main" id="{2E9F9340-14A7-4BAA-A8EB-4F72F6C14147}"/>
              </a:ext>
            </a:extLst>
          </p:cNvPr>
          <p:cNvSpPr>
            <a:spLocks noGrp="1"/>
          </p:cNvSpPr>
          <p:nvPr>
            <p:ph type="sldNum" sz="quarter" idx="12"/>
          </p:nvPr>
        </p:nvSpPr>
        <p:spPr/>
        <p:txBody>
          <a:bodyPr/>
          <a:lstStyle/>
          <a:p>
            <a:pPr>
              <a:defRPr/>
            </a:pPr>
            <a:fld id="{231DD258-A623-490B-8242-C077DDB146DD}" type="slidenum">
              <a:rPr lang="en-US" smtClean="0"/>
              <a:pPr>
                <a:defRPr/>
              </a:pPr>
              <a:t>102</a:t>
            </a:fld>
            <a:endParaRPr lang="en-US"/>
          </a:p>
        </p:txBody>
      </p:sp>
      <p:pic>
        <p:nvPicPr>
          <p:cNvPr id="8" name="Picture 7">
            <a:extLst>
              <a:ext uri="{FF2B5EF4-FFF2-40B4-BE49-F238E27FC236}">
                <a16:creationId xmlns:a16="http://schemas.microsoft.com/office/drawing/2014/main" id="{2EF475CA-5E24-4641-B02F-FA15BAF6DF48}"/>
              </a:ext>
            </a:extLst>
          </p:cNvPr>
          <p:cNvPicPr>
            <a:picLocks noChangeAspect="1"/>
          </p:cNvPicPr>
          <p:nvPr/>
        </p:nvPicPr>
        <p:blipFill>
          <a:blip r:embed="rId2"/>
          <a:stretch>
            <a:fillRect/>
          </a:stretch>
        </p:blipFill>
        <p:spPr>
          <a:xfrm>
            <a:off x="4571993" y="3428995"/>
            <a:ext cx="13" cy="9"/>
          </a:xfrm>
          <a:prstGeom prst="rect">
            <a:avLst/>
          </a:prstGeom>
        </p:spPr>
      </p:pic>
      <p:pic>
        <p:nvPicPr>
          <p:cNvPr id="9" name="Picture 4" descr="3-20">
            <a:extLst>
              <a:ext uri="{FF2B5EF4-FFF2-40B4-BE49-F238E27FC236}">
                <a16:creationId xmlns:a16="http://schemas.microsoft.com/office/drawing/2014/main" id="{3DE99D46-F6D7-426E-9F6E-00A127CBC7C8}"/>
              </a:ext>
            </a:extLst>
          </p:cNvPr>
          <p:cNvPicPr>
            <a:picLocks noChangeAspect="1" noChangeArrowheads="1"/>
          </p:cNvPicPr>
          <p:nvPr/>
        </p:nvPicPr>
        <p:blipFill>
          <a:blip r:embed="rId3" cstate="print"/>
          <a:srcRect/>
          <a:stretch>
            <a:fillRect/>
          </a:stretch>
        </p:blipFill>
        <p:spPr bwMode="auto">
          <a:xfrm>
            <a:off x="247887" y="3457496"/>
            <a:ext cx="8648211" cy="3334455"/>
          </a:xfrm>
          <a:prstGeom prst="rect">
            <a:avLst/>
          </a:prstGeom>
          <a:noFill/>
          <a:ln w="9525">
            <a:noFill/>
            <a:miter lim="800000"/>
            <a:headEnd/>
            <a:tailEnd/>
          </a:ln>
        </p:spPr>
      </p:pic>
      <p:sp>
        <p:nvSpPr>
          <p:cNvPr id="11" name="TextBox 10">
            <a:extLst>
              <a:ext uri="{FF2B5EF4-FFF2-40B4-BE49-F238E27FC236}">
                <a16:creationId xmlns:a16="http://schemas.microsoft.com/office/drawing/2014/main" id="{F3A3B99F-D678-4962-B774-AF4AFA782A75}"/>
              </a:ext>
            </a:extLst>
          </p:cNvPr>
          <p:cNvSpPr txBox="1"/>
          <p:nvPr/>
        </p:nvSpPr>
        <p:spPr>
          <a:xfrm>
            <a:off x="457199" y="629339"/>
            <a:ext cx="8120257" cy="2677656"/>
          </a:xfrm>
          <a:prstGeom prst="rect">
            <a:avLst/>
          </a:prstGeom>
          <a:noFill/>
        </p:spPr>
        <p:txBody>
          <a:bodyPr wrap="square">
            <a:spAutoFit/>
          </a:bodyPr>
          <a:lstStyle/>
          <a:p>
            <a:pPr algn="just">
              <a:buFont typeface="Wingdings" pitchFamily="2" charset="2"/>
              <a:buChar char="v"/>
            </a:pPr>
            <a:r>
              <a:rPr lang="en-US" sz="2400" dirty="0">
                <a:solidFill>
                  <a:srgbClr val="FF0000"/>
                </a:solidFill>
              </a:rPr>
              <a:t>Solution</a:t>
            </a:r>
            <a:r>
              <a:rPr lang="en-US" sz="2400" dirty="0"/>
              <a:t>: </a:t>
            </a:r>
          </a:p>
          <a:p>
            <a:pPr lvl="1" algn="just">
              <a:buFont typeface="Wingdings" pitchFamily="2" charset="2"/>
              <a:buChar char="v"/>
            </a:pPr>
            <a:r>
              <a:rPr lang="en-US" sz="2400" dirty="0"/>
              <a:t>To make sure that after the receiver has advanced its window, there is no overlap with the original window</a:t>
            </a:r>
          </a:p>
          <a:p>
            <a:pPr lvl="1" algn="just">
              <a:buFont typeface="Wingdings" pitchFamily="2" charset="2"/>
              <a:buChar char="v"/>
            </a:pPr>
            <a:r>
              <a:rPr lang="en-US" sz="2400" dirty="0"/>
              <a:t> For that, </a:t>
            </a:r>
          </a:p>
          <a:p>
            <a:pPr lvl="2" algn="just">
              <a:buFont typeface="Wingdings" pitchFamily="2" charset="2"/>
              <a:buChar char="v"/>
            </a:pPr>
            <a:r>
              <a:rPr lang="en-US" sz="2400" dirty="0"/>
              <a:t> the maximum window size should be at most half the range of the sequence numbers (MAX_SEQ + 1)/2), as shown in Fig. (c) and Fig. (d)</a:t>
            </a:r>
          </a:p>
        </p:txBody>
      </p:sp>
    </p:spTree>
    <p:extLst>
      <p:ext uri="{BB962C8B-B14F-4D97-AF65-F5344CB8AC3E}">
        <p14:creationId xmlns:p14="http://schemas.microsoft.com/office/powerpoint/2010/main" val="9514636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dirty="0">
                <a:latin typeface="Times New Roman" panose="02020603050405020304" pitchFamily="18" charset="0"/>
                <a:cs typeface="Times New Roman" panose="02020603050405020304" pitchFamily="18" charset="0"/>
              </a:rPr>
              <a:t>Data Link Protocols</a:t>
            </a:r>
          </a:p>
        </p:txBody>
      </p:sp>
      <p:sp>
        <p:nvSpPr>
          <p:cNvPr id="41987" name="Rectangle 3"/>
          <p:cNvSpPr>
            <a:spLocks noGrp="1" noChangeArrowheads="1"/>
          </p:cNvSpPr>
          <p:nvPr>
            <p:ph idx="1"/>
          </p:nvPr>
        </p:nvSpPr>
        <p:spPr>
          <a:xfrm>
            <a:off x="0" y="2410690"/>
            <a:ext cx="8997244" cy="3976255"/>
          </a:xfrm>
        </p:spPr>
        <p:txBody>
          <a:bodyPr>
            <a:normAutofit lnSpcReduction="10000"/>
          </a:bodyPr>
          <a:lstStyle/>
          <a:p>
            <a:pPr algn="just" eaLnBrk="1" hangingPunct="1">
              <a:buFontTx/>
              <a:buChar char="•"/>
            </a:pPr>
            <a:r>
              <a:rPr lang="en-US" sz="3200" dirty="0">
                <a:latin typeface="Times New Roman" panose="02020603050405020304" pitchFamily="18" charset="0"/>
                <a:cs typeface="Times New Roman" panose="02020603050405020304" pitchFamily="18" charset="0"/>
              </a:rPr>
              <a:t>Two widely-used data link protocols</a:t>
            </a:r>
            <a:endParaRPr lang="en-US" sz="3600" dirty="0">
              <a:latin typeface="Times New Roman" panose="02020603050405020304" pitchFamily="18" charset="0"/>
              <a:cs typeface="Times New Roman" panose="02020603050405020304" pitchFamily="18" charset="0"/>
            </a:endParaRPr>
          </a:p>
          <a:p>
            <a:pPr lvl="1" algn="just" eaLnBrk="1" hangingPunct="1">
              <a:buFontTx/>
              <a:buChar char="•"/>
            </a:pPr>
            <a:r>
              <a:rPr lang="en-US" sz="2800" b="1" dirty="0">
                <a:solidFill>
                  <a:srgbClr val="FF0000"/>
                </a:solidFill>
                <a:latin typeface="Times New Roman" panose="02020603050405020304" pitchFamily="18" charset="0"/>
                <a:cs typeface="Times New Roman" panose="02020603050405020304" pitchFamily="18" charset="0"/>
              </a:rPr>
              <a:t>HDLC – High-Level Data Link Control</a:t>
            </a:r>
          </a:p>
          <a:p>
            <a:pPr lvl="2" algn="just" eaLnBrk="1" hangingPunct="1"/>
            <a:r>
              <a:rPr lang="en-US" sz="2800" dirty="0">
                <a:latin typeface="Times New Roman" panose="02020603050405020304" pitchFamily="18" charset="0"/>
                <a:cs typeface="Times New Roman" panose="02020603050405020304" pitchFamily="18" charset="0"/>
              </a:rPr>
              <a:t>HDLC is a classical </a:t>
            </a:r>
            <a:r>
              <a:rPr lang="en-US" sz="2800" dirty="0">
                <a:solidFill>
                  <a:srgbClr val="FF0000"/>
                </a:solidFill>
                <a:latin typeface="Times New Roman" panose="02020603050405020304" pitchFamily="18" charset="0"/>
                <a:cs typeface="Times New Roman" panose="02020603050405020304" pitchFamily="18" charset="0"/>
              </a:rPr>
              <a:t>bit-oriented protocol </a:t>
            </a:r>
            <a:r>
              <a:rPr lang="en-US" sz="2800" dirty="0">
                <a:latin typeface="Times New Roman" panose="02020603050405020304" pitchFamily="18" charset="0"/>
                <a:cs typeface="Times New Roman" panose="02020603050405020304" pitchFamily="18" charset="0"/>
              </a:rPr>
              <a:t>whose variants have been in use for decades in many applications</a:t>
            </a:r>
          </a:p>
          <a:p>
            <a:pPr lvl="1" algn="just" eaLnBrk="1" hangingPunct="1">
              <a:buFontTx/>
              <a:buChar char="•"/>
            </a:pPr>
            <a:r>
              <a:rPr lang="en-US" sz="2800" dirty="0">
                <a:latin typeface="Times New Roman" panose="02020603050405020304" pitchFamily="18" charset="0"/>
                <a:cs typeface="Times New Roman" panose="02020603050405020304" pitchFamily="18" charset="0"/>
              </a:rPr>
              <a:t>Data Link Layer in the Internet </a:t>
            </a:r>
          </a:p>
          <a:p>
            <a:pPr lvl="2" algn="just" eaLnBrk="1" hangingPunct="1"/>
            <a:r>
              <a:rPr lang="en-US" sz="2800" b="1" dirty="0">
                <a:solidFill>
                  <a:srgbClr val="FF0000"/>
                </a:solidFill>
                <a:latin typeface="Times New Roman" panose="02020603050405020304" pitchFamily="18" charset="0"/>
                <a:cs typeface="Times New Roman" panose="02020603050405020304" pitchFamily="18" charset="0"/>
              </a:rPr>
              <a:t>PPP (Point-to-Point Protocol) </a:t>
            </a:r>
            <a:r>
              <a:rPr lang="en-US" sz="2800" dirty="0">
                <a:latin typeface="Times New Roman" panose="02020603050405020304" pitchFamily="18" charset="0"/>
                <a:cs typeface="Times New Roman" panose="02020603050405020304" pitchFamily="18" charset="0"/>
              </a:rPr>
              <a:t>is the data link protocol used to connect home computers to the Internet</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4400" dirty="0">
                <a:solidFill>
                  <a:schemeClr val="accent2">
                    <a:lumMod val="50000"/>
                  </a:schemeClr>
                </a:solidFill>
              </a:rPr>
              <a:t>HDLC</a:t>
            </a:r>
          </a:p>
        </p:txBody>
      </p:sp>
      <p:sp>
        <p:nvSpPr>
          <p:cNvPr id="3" name="Text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765AB78C-8FA7-4560-BB1F-5ECD8A6F763F}" type="slidenum">
              <a:rPr lang="en-US" smtClean="0"/>
              <a:pPr>
                <a:defRPr/>
              </a:pPr>
              <a:t>104</a:t>
            </a:fld>
            <a:endParaRPr lang="en-US"/>
          </a:p>
        </p:txBody>
      </p:sp>
    </p:spTree>
    <p:extLst>
      <p:ext uri="{BB962C8B-B14F-4D97-AF65-F5344CB8AC3E}">
        <p14:creationId xmlns:p14="http://schemas.microsoft.com/office/powerpoint/2010/main" val="190639439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105</a:t>
            </a:fld>
            <a:endParaRPr lang="en-US"/>
          </a:p>
        </p:txBody>
      </p:sp>
      <p:sp>
        <p:nvSpPr>
          <p:cNvPr id="5" name="Rectangle 3"/>
          <p:cNvSpPr txBox="1">
            <a:spLocks noChangeArrowheads="1"/>
          </p:cNvSpPr>
          <p:nvPr/>
        </p:nvSpPr>
        <p:spPr bwMode="auto">
          <a:xfrm>
            <a:off x="0" y="719159"/>
            <a:ext cx="9144000" cy="59977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buFont typeface="Wingdings" pitchFamily="2" charset="2"/>
              <a:buChar char="Ø"/>
            </a:pPr>
            <a:r>
              <a:rPr lang="en-US" sz="2400" u="sng" dirty="0"/>
              <a:t> </a:t>
            </a:r>
            <a:r>
              <a:rPr lang="en-US" sz="2400" u="sng" dirty="0">
                <a:latin typeface="Times New Roman" panose="02020603050405020304" pitchFamily="18" charset="0"/>
                <a:cs typeface="Times New Roman" panose="02020603050405020304" pitchFamily="18" charset="0"/>
              </a:rPr>
              <a:t>History of HDLC:</a:t>
            </a:r>
          </a:p>
          <a:p>
            <a:pPr lvl="1" algn="just">
              <a:buFont typeface="Wingdings" pitchFamily="2" charset="2"/>
              <a:buChar char="Ø"/>
            </a:pPr>
            <a:r>
              <a:rPr lang="en-US" sz="2400" dirty="0">
                <a:latin typeface="Times New Roman" panose="02020603050405020304" pitchFamily="18" charset="0"/>
                <a:cs typeface="Times New Roman" panose="02020603050405020304" pitchFamily="18" charset="0"/>
              </a:rPr>
              <a:t> derived from the data link protocol first used in the </a:t>
            </a:r>
            <a:r>
              <a:rPr lang="en-US" sz="2400" b="1" dirty="0">
                <a:latin typeface="Times New Roman" panose="02020603050405020304" pitchFamily="18" charset="0"/>
                <a:cs typeface="Times New Roman" panose="02020603050405020304" pitchFamily="18" charset="0"/>
              </a:rPr>
              <a:t>IBM mainframe world: </a:t>
            </a:r>
            <a:endParaRPr lang="en-US" sz="2400" b="1" dirty="0">
              <a:solidFill>
                <a:srgbClr val="FF0000"/>
              </a:solidFill>
              <a:latin typeface="Times New Roman" panose="02020603050405020304" pitchFamily="18" charset="0"/>
              <a:cs typeface="Times New Roman" panose="02020603050405020304" pitchFamily="18" charset="0"/>
            </a:endParaRPr>
          </a:p>
          <a:p>
            <a:pPr lvl="2" algn="just">
              <a:buFont typeface="Wingdings"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 SDLC (Synchronous Data Link Control) protocol</a:t>
            </a:r>
            <a:r>
              <a:rPr lang="en-US" sz="2400" dirty="0">
                <a:latin typeface="Times New Roman" panose="02020603050405020304" pitchFamily="18" charset="0"/>
                <a:cs typeface="Times New Roman" panose="02020603050405020304" pitchFamily="18" charset="0"/>
              </a:rPr>
              <a:t>. </a:t>
            </a:r>
          </a:p>
          <a:p>
            <a:pPr lvl="1" algn="just">
              <a:buFont typeface="Wingdings" pitchFamily="2" charset="2"/>
              <a:buChar char="Ø"/>
            </a:pPr>
            <a:r>
              <a:rPr lang="en-US" sz="2400" dirty="0">
                <a:latin typeface="Times New Roman" panose="02020603050405020304" pitchFamily="18" charset="0"/>
                <a:cs typeface="Times New Roman" panose="02020603050405020304" pitchFamily="18" charset="0"/>
              </a:rPr>
              <a:t>After developing SDLC, IBM submitted it to ANSI and ISO for acceptance as U.S. and international standards, respectively. </a:t>
            </a:r>
          </a:p>
          <a:p>
            <a:pPr lvl="1" algn="just">
              <a:buFont typeface="Wingdings" pitchFamily="2" charset="2"/>
              <a:buChar char="Ø"/>
            </a:pPr>
            <a:r>
              <a:rPr lang="en-US" sz="2400" dirty="0">
                <a:latin typeface="Times New Roman" panose="02020603050405020304" pitchFamily="18" charset="0"/>
                <a:cs typeface="Times New Roman" panose="02020603050405020304" pitchFamily="18" charset="0"/>
              </a:rPr>
              <a:t> ANSI modified it to become </a:t>
            </a:r>
            <a:r>
              <a:rPr lang="en-US" sz="2400" dirty="0">
                <a:solidFill>
                  <a:srgbClr val="FF0000"/>
                </a:solidFill>
                <a:latin typeface="Times New Roman" panose="02020603050405020304" pitchFamily="18" charset="0"/>
                <a:cs typeface="Times New Roman" panose="02020603050405020304" pitchFamily="18" charset="0"/>
              </a:rPr>
              <a:t>ADCCP</a:t>
            </a:r>
            <a:r>
              <a:rPr lang="en-US" sz="2400" dirty="0">
                <a:latin typeface="Times New Roman" panose="02020603050405020304" pitchFamily="18" charset="0"/>
                <a:cs typeface="Times New Roman" panose="02020603050405020304" pitchFamily="18" charset="0"/>
              </a:rPr>
              <a:t> (Advanced Data Communication Control Procedure) </a:t>
            </a:r>
          </a:p>
          <a:p>
            <a:pPr lvl="1" algn="just">
              <a:buFont typeface="Wingdings" pitchFamily="2" charset="2"/>
              <a:buChar char="Ø"/>
            </a:pPr>
            <a:r>
              <a:rPr lang="en-US" sz="2400" dirty="0">
                <a:latin typeface="Times New Roman" panose="02020603050405020304" pitchFamily="18" charset="0"/>
                <a:cs typeface="Times New Roman" panose="02020603050405020304" pitchFamily="18" charset="0"/>
              </a:rPr>
              <a:t> ISO modified it to become </a:t>
            </a:r>
            <a:r>
              <a:rPr lang="en-US" sz="2400" dirty="0">
                <a:solidFill>
                  <a:srgbClr val="FF0000"/>
                </a:solidFill>
                <a:latin typeface="Times New Roman" panose="02020603050405020304" pitchFamily="18" charset="0"/>
                <a:cs typeface="Times New Roman" panose="02020603050405020304" pitchFamily="18" charset="0"/>
              </a:rPr>
              <a:t>HDLC</a:t>
            </a:r>
            <a:r>
              <a:rPr lang="en-US" sz="2400" dirty="0">
                <a:latin typeface="Times New Roman" panose="02020603050405020304" pitchFamily="18" charset="0"/>
                <a:cs typeface="Times New Roman" panose="02020603050405020304" pitchFamily="18" charset="0"/>
              </a:rPr>
              <a:t> (High-level Data Link Control). </a:t>
            </a:r>
          </a:p>
          <a:p>
            <a:pPr lvl="1" algn="just">
              <a:buFont typeface="Wingdings" pitchFamily="2" charset="2"/>
              <a:buChar char="Ø"/>
            </a:pPr>
            <a:r>
              <a:rPr lang="en-US" sz="2400" dirty="0">
                <a:latin typeface="Times New Roman" panose="02020603050405020304" pitchFamily="18" charset="0"/>
                <a:cs typeface="Times New Roman" panose="02020603050405020304" pitchFamily="18" charset="0"/>
              </a:rPr>
              <a:t> CCITT (Consultative Committee for International Telephony and Telegraphy) then adopted and </a:t>
            </a:r>
            <a:r>
              <a:rPr lang="en-US" sz="2400" dirty="0">
                <a:solidFill>
                  <a:srgbClr val="FF0000"/>
                </a:solidFill>
                <a:latin typeface="Times New Roman" panose="02020603050405020304" pitchFamily="18" charset="0"/>
                <a:cs typeface="Times New Roman" panose="02020603050405020304" pitchFamily="18" charset="0"/>
              </a:rPr>
              <a:t>modified HDLC for its LAP </a:t>
            </a:r>
            <a:r>
              <a:rPr lang="en-US" sz="2400" dirty="0">
                <a:latin typeface="Times New Roman" panose="02020603050405020304" pitchFamily="18" charset="0"/>
                <a:cs typeface="Times New Roman" panose="02020603050405020304" pitchFamily="18" charset="0"/>
              </a:rPr>
              <a:t>(Link Access Procedure) as part of the X.25 network interface standard </a:t>
            </a:r>
          </a:p>
          <a:p>
            <a:pPr lvl="1" algn="just">
              <a:buFont typeface="Wingdings" pitchFamily="2" charset="2"/>
              <a:buChar char="Ø"/>
            </a:pPr>
            <a:r>
              <a:rPr lang="en-US" sz="2400" dirty="0">
                <a:latin typeface="Times New Roman" panose="02020603050405020304" pitchFamily="18" charset="0"/>
                <a:cs typeface="Times New Roman" panose="02020603050405020304" pitchFamily="18" charset="0"/>
              </a:rPr>
              <a:t> but later modified it again to </a:t>
            </a:r>
            <a:r>
              <a:rPr lang="en-US" sz="2400" dirty="0">
                <a:solidFill>
                  <a:srgbClr val="FF0000"/>
                </a:solidFill>
                <a:latin typeface="Times New Roman" panose="02020603050405020304" pitchFamily="18" charset="0"/>
                <a:cs typeface="Times New Roman" panose="02020603050405020304" pitchFamily="18" charset="0"/>
              </a:rPr>
              <a:t>LAPB</a:t>
            </a:r>
            <a:r>
              <a:rPr lang="en-US" sz="2400" dirty="0">
                <a:latin typeface="Times New Roman" panose="02020603050405020304" pitchFamily="18" charset="0"/>
                <a:cs typeface="Times New Roman" panose="02020603050405020304" pitchFamily="18" charset="0"/>
              </a:rPr>
              <a:t>, to make it more compatible with a later version of HDLC</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9709"/>
            <a:ext cx="8229600" cy="6068291"/>
          </a:xfrm>
        </p:spPr>
        <p:txBody>
          <a:bodyPr>
            <a:normAutofit lnSpcReduction="10000"/>
          </a:bodyPr>
          <a:lstStyle/>
          <a:p>
            <a:pPr algn="just"/>
            <a:r>
              <a:rPr lang="en-IN" dirty="0">
                <a:latin typeface="Times New Roman" pitchFamily="18" charset="0"/>
                <a:cs typeface="Times New Roman" pitchFamily="18" charset="0"/>
              </a:rPr>
              <a:t>HDLC provides two common transfer modes that can be used in different configurations:</a:t>
            </a:r>
          </a:p>
          <a:p>
            <a:pPr marL="624078" indent="-514350" algn="just">
              <a:buFont typeface="+mj-lt"/>
              <a:buAutoNum type="arabicPeriod"/>
            </a:pPr>
            <a:r>
              <a:rPr lang="en-IN" b="1" dirty="0">
                <a:latin typeface="Times New Roman" pitchFamily="18" charset="0"/>
                <a:cs typeface="Times New Roman" pitchFamily="18" charset="0"/>
              </a:rPr>
              <a:t>Normal Response Mode (NRM) </a:t>
            </a:r>
          </a:p>
          <a:p>
            <a:pPr marL="624078" indent="-514350" algn="just">
              <a:buFont typeface="+mj-lt"/>
              <a:buAutoNum type="arabicPeriod"/>
            </a:pPr>
            <a:r>
              <a:rPr lang="en-IN" b="1" dirty="0">
                <a:latin typeface="Times New Roman" pitchFamily="18" charset="0"/>
                <a:cs typeface="Times New Roman" pitchFamily="18" charset="0"/>
              </a:rPr>
              <a:t>Asynchronous Balanced Mode (ABM).</a:t>
            </a:r>
          </a:p>
          <a:p>
            <a:pPr marL="624078" indent="-514350" algn="just">
              <a:buFont typeface="+mj-lt"/>
              <a:buAutoNum type="arabicPeriod"/>
            </a:pPr>
            <a:endParaRPr lang="en-IN" i="1" dirty="0">
              <a:latin typeface="Times New Roman" pitchFamily="18" charset="0"/>
              <a:cs typeface="Times New Roman" pitchFamily="18" charset="0"/>
            </a:endParaRPr>
          </a:p>
          <a:p>
            <a:pPr algn="just"/>
            <a:r>
              <a:rPr lang="en-IN" i="1" u="sng" dirty="0">
                <a:solidFill>
                  <a:schemeClr val="accent3">
                    <a:lumMod val="75000"/>
                  </a:schemeClr>
                </a:solidFill>
                <a:latin typeface="Times New Roman" pitchFamily="18" charset="0"/>
                <a:cs typeface="Times New Roman" pitchFamily="18" charset="0"/>
              </a:rPr>
              <a:t>Normal Response Mode</a:t>
            </a:r>
          </a:p>
          <a:p>
            <a:pPr algn="just"/>
            <a:r>
              <a:rPr lang="en-IN" dirty="0">
                <a:latin typeface="Times New Roman" pitchFamily="18" charset="0"/>
                <a:cs typeface="Times New Roman" pitchFamily="18" charset="0"/>
              </a:rPr>
              <a:t>In normal response mode (NRM), the </a:t>
            </a:r>
            <a:r>
              <a:rPr lang="en-IN" b="1" dirty="0">
                <a:latin typeface="Times New Roman" pitchFamily="18" charset="0"/>
                <a:cs typeface="Times New Roman" pitchFamily="18" charset="0"/>
              </a:rPr>
              <a:t>station configuration is unbalanced. </a:t>
            </a:r>
          </a:p>
          <a:p>
            <a:pPr algn="just"/>
            <a:r>
              <a:rPr lang="en-IN" dirty="0">
                <a:latin typeface="Times New Roman" pitchFamily="18" charset="0"/>
                <a:cs typeface="Times New Roman" pitchFamily="18" charset="0"/>
              </a:rPr>
              <a:t>We have </a:t>
            </a:r>
            <a:r>
              <a:rPr lang="en-IN" dirty="0">
                <a:solidFill>
                  <a:srgbClr val="FF0000"/>
                </a:solidFill>
                <a:latin typeface="Times New Roman" pitchFamily="18" charset="0"/>
                <a:cs typeface="Times New Roman" pitchFamily="18" charset="0"/>
              </a:rPr>
              <a:t>one primary station</a:t>
            </a:r>
            <a:r>
              <a:rPr lang="en-IN" dirty="0">
                <a:latin typeface="Times New Roman" pitchFamily="18" charset="0"/>
                <a:cs typeface="Times New Roman" pitchFamily="18" charset="0"/>
              </a:rPr>
              <a:t> and </a:t>
            </a:r>
            <a:r>
              <a:rPr lang="en-IN" dirty="0">
                <a:solidFill>
                  <a:srgbClr val="FF0000"/>
                </a:solidFill>
                <a:latin typeface="Times New Roman" pitchFamily="18" charset="0"/>
                <a:cs typeface="Times New Roman" pitchFamily="18" charset="0"/>
              </a:rPr>
              <a:t>multiple secondary stations. </a:t>
            </a:r>
          </a:p>
          <a:p>
            <a:pPr algn="just"/>
            <a:r>
              <a:rPr lang="en-IN" dirty="0">
                <a:latin typeface="Times New Roman" pitchFamily="18" charset="0"/>
                <a:cs typeface="Times New Roman" pitchFamily="18" charset="0"/>
              </a:rPr>
              <a:t>A </a:t>
            </a:r>
            <a:r>
              <a:rPr lang="en-IN" dirty="0">
                <a:solidFill>
                  <a:srgbClr val="FF0000"/>
                </a:solidFill>
                <a:latin typeface="Times New Roman" pitchFamily="18" charset="0"/>
                <a:cs typeface="Times New Roman" pitchFamily="18" charset="0"/>
              </a:rPr>
              <a:t>primary station </a:t>
            </a:r>
            <a:r>
              <a:rPr lang="en-IN" dirty="0">
                <a:latin typeface="Times New Roman" pitchFamily="18" charset="0"/>
                <a:cs typeface="Times New Roman" pitchFamily="18" charset="0"/>
              </a:rPr>
              <a:t>can</a:t>
            </a:r>
            <a:r>
              <a:rPr lang="en-IN" dirty="0">
                <a:solidFill>
                  <a:srgbClr val="FF0000"/>
                </a:solidFill>
                <a:latin typeface="Times New Roman" pitchFamily="18" charset="0"/>
                <a:cs typeface="Times New Roman" pitchFamily="18" charset="0"/>
              </a:rPr>
              <a:t> send commands </a:t>
            </a:r>
            <a:r>
              <a:rPr lang="en-IN" dirty="0">
                <a:latin typeface="Times New Roman" pitchFamily="18" charset="0"/>
                <a:cs typeface="Times New Roman" pitchFamily="18" charset="0"/>
              </a:rPr>
              <a:t>; a </a:t>
            </a:r>
            <a:r>
              <a:rPr lang="en-IN" dirty="0">
                <a:solidFill>
                  <a:srgbClr val="FF0000"/>
                </a:solidFill>
                <a:latin typeface="Times New Roman" pitchFamily="18" charset="0"/>
                <a:cs typeface="Times New Roman" pitchFamily="18" charset="0"/>
              </a:rPr>
              <a:t>secondary station </a:t>
            </a:r>
            <a:r>
              <a:rPr lang="en-IN" dirty="0">
                <a:latin typeface="Times New Roman" pitchFamily="18" charset="0"/>
                <a:cs typeface="Times New Roman" pitchFamily="18" charset="0"/>
              </a:rPr>
              <a:t>can only </a:t>
            </a:r>
            <a:r>
              <a:rPr lang="en-IN" dirty="0">
                <a:solidFill>
                  <a:srgbClr val="FF0000"/>
                </a:solidFill>
                <a:latin typeface="Times New Roman" pitchFamily="18" charset="0"/>
                <a:cs typeface="Times New Roman" pitchFamily="18" charset="0"/>
              </a:rPr>
              <a:t>respond</a:t>
            </a:r>
            <a:r>
              <a:rPr lang="en-IN" dirty="0">
                <a:latin typeface="Times New Roman" pitchFamily="18" charset="0"/>
                <a:cs typeface="Times New Roman" pitchFamily="18" charset="0"/>
              </a:rPr>
              <a:t>. </a:t>
            </a:r>
          </a:p>
          <a:p>
            <a:pPr algn="just"/>
            <a:r>
              <a:rPr lang="en-IN" dirty="0">
                <a:latin typeface="Times New Roman" pitchFamily="18" charset="0"/>
                <a:cs typeface="Times New Roman" pitchFamily="18" charset="0"/>
              </a:rPr>
              <a:t>The NRM is used for both </a:t>
            </a:r>
            <a:r>
              <a:rPr lang="en-IN" b="1" dirty="0">
                <a:latin typeface="Times New Roman" pitchFamily="18" charset="0"/>
                <a:cs typeface="Times New Roman" pitchFamily="18" charset="0"/>
              </a:rPr>
              <a:t>point-to-point</a:t>
            </a:r>
            <a:r>
              <a:rPr lang="en-IN" dirty="0">
                <a:latin typeface="Times New Roman" pitchFamily="18" charset="0"/>
                <a:cs typeface="Times New Roman" pitchFamily="18" charset="0"/>
              </a:rPr>
              <a:t> and </a:t>
            </a:r>
            <a:r>
              <a:rPr lang="en-IN" b="1" dirty="0">
                <a:latin typeface="Times New Roman" pitchFamily="18" charset="0"/>
                <a:cs typeface="Times New Roman" pitchFamily="18" charset="0"/>
              </a:rPr>
              <a:t>multiple-point links</a:t>
            </a:r>
            <a:r>
              <a:rPr lang="en-IN" dirty="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106</a:t>
            </a:fld>
            <a:endParaRPr lang="en-US"/>
          </a:p>
        </p:txBody>
      </p:sp>
    </p:spTree>
    <p:extLst>
      <p:ext uri="{BB962C8B-B14F-4D97-AF65-F5344CB8AC3E}">
        <p14:creationId xmlns:p14="http://schemas.microsoft.com/office/powerpoint/2010/main" val="26575065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107</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95" y="969818"/>
            <a:ext cx="9225463" cy="4959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565202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7527"/>
            <a:ext cx="8229600" cy="5577009"/>
          </a:xfrm>
        </p:spPr>
        <p:txBody>
          <a:bodyPr/>
          <a:lstStyle/>
          <a:p>
            <a:r>
              <a:rPr lang="en-IN" i="1" u="sng" dirty="0">
                <a:solidFill>
                  <a:schemeClr val="accent3">
                    <a:lumMod val="75000"/>
                  </a:schemeClr>
                </a:solidFill>
              </a:rPr>
              <a:t>Asynchronous Balanced Mode</a:t>
            </a:r>
          </a:p>
          <a:p>
            <a:pPr algn="just"/>
            <a:r>
              <a:rPr lang="en-IN" dirty="0"/>
              <a:t>In asynchronous balanced mode (ABM), the configuration is </a:t>
            </a:r>
            <a:r>
              <a:rPr lang="en-IN" b="1" dirty="0"/>
              <a:t>balanced</a:t>
            </a:r>
            <a:r>
              <a:rPr lang="en-IN" dirty="0"/>
              <a:t>. </a:t>
            </a:r>
          </a:p>
          <a:p>
            <a:pPr algn="just"/>
            <a:r>
              <a:rPr lang="en-IN" dirty="0"/>
              <a:t>The link is </a:t>
            </a:r>
            <a:r>
              <a:rPr lang="en-IN" b="1" dirty="0"/>
              <a:t>point-to-point</a:t>
            </a:r>
            <a:r>
              <a:rPr lang="en-IN" dirty="0"/>
              <a:t>, and each station can function as a </a:t>
            </a:r>
            <a:r>
              <a:rPr lang="en-IN" b="1" dirty="0">
                <a:solidFill>
                  <a:srgbClr val="FF0000"/>
                </a:solidFill>
              </a:rPr>
              <a:t>primary and a secondary </a:t>
            </a:r>
            <a:r>
              <a:rPr lang="en-IN" dirty="0"/>
              <a:t>(acting as peers).</a:t>
            </a:r>
          </a:p>
          <a:p>
            <a:pPr algn="just"/>
            <a:r>
              <a:rPr lang="en-IN" dirty="0"/>
              <a:t> This is the common mode today.</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108</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62" y="4432277"/>
            <a:ext cx="8942675" cy="1913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947662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073" y="685800"/>
            <a:ext cx="8229600" cy="1066800"/>
          </a:xfrm>
        </p:spPr>
        <p:txBody>
          <a:bodyPr/>
          <a:lstStyle/>
          <a:p>
            <a:r>
              <a:rPr lang="en-IN" u="sng" dirty="0"/>
              <a:t>Frames</a:t>
            </a:r>
          </a:p>
        </p:txBody>
      </p:sp>
      <p:sp>
        <p:nvSpPr>
          <p:cNvPr id="3" name="Content Placeholder 2"/>
          <p:cNvSpPr>
            <a:spLocks noGrp="1"/>
          </p:cNvSpPr>
          <p:nvPr>
            <p:ph idx="1"/>
          </p:nvPr>
        </p:nvSpPr>
        <p:spPr>
          <a:xfrm>
            <a:off x="457200" y="1648691"/>
            <a:ext cx="8229600" cy="4925845"/>
          </a:xfrm>
        </p:spPr>
        <p:txBody>
          <a:bodyPr>
            <a:normAutofit fontScale="92500" lnSpcReduction="10000"/>
          </a:bodyPr>
          <a:lstStyle/>
          <a:p>
            <a:pPr algn="just"/>
            <a:r>
              <a:rPr lang="en-IN" dirty="0">
                <a:latin typeface="Times New Roman" pitchFamily="18" charset="0"/>
                <a:cs typeface="Times New Roman" pitchFamily="18" charset="0"/>
              </a:rPr>
              <a:t>HDLC defines three types of frames:</a:t>
            </a:r>
          </a:p>
          <a:p>
            <a:pPr marL="624078" indent="-514350" algn="just">
              <a:buFont typeface="+mj-lt"/>
              <a:buAutoNum type="arabicPeriod"/>
            </a:pPr>
            <a:r>
              <a:rPr lang="en-IN" b="1" dirty="0">
                <a:solidFill>
                  <a:srgbClr val="FF0000"/>
                </a:solidFill>
                <a:latin typeface="Times New Roman" pitchFamily="18" charset="0"/>
                <a:cs typeface="Times New Roman" pitchFamily="18" charset="0"/>
              </a:rPr>
              <a:t>Information Frames (I-frames)</a:t>
            </a:r>
          </a:p>
          <a:p>
            <a:pPr marL="624078" indent="-514350" algn="just">
              <a:buFont typeface="+mj-lt"/>
              <a:buAutoNum type="arabicPeriod"/>
            </a:pPr>
            <a:r>
              <a:rPr lang="en-IN" b="1" dirty="0">
                <a:solidFill>
                  <a:srgbClr val="FF0000"/>
                </a:solidFill>
                <a:latin typeface="Times New Roman" pitchFamily="18" charset="0"/>
                <a:cs typeface="Times New Roman" pitchFamily="18" charset="0"/>
              </a:rPr>
              <a:t>Supervisory Frames (S-frames) </a:t>
            </a:r>
          </a:p>
          <a:p>
            <a:pPr marL="624078" indent="-514350" algn="just">
              <a:buFont typeface="+mj-lt"/>
              <a:buAutoNum type="arabicPeriod"/>
            </a:pPr>
            <a:r>
              <a:rPr lang="en-IN" b="1" dirty="0">
                <a:solidFill>
                  <a:srgbClr val="FF0000"/>
                </a:solidFill>
                <a:latin typeface="Times New Roman" pitchFamily="18" charset="0"/>
                <a:cs typeface="Times New Roman" pitchFamily="18" charset="0"/>
              </a:rPr>
              <a:t>Unnumbered Frames (U-frames)</a:t>
            </a:r>
          </a:p>
          <a:p>
            <a:pPr algn="just"/>
            <a:r>
              <a:rPr lang="en-IN" dirty="0">
                <a:latin typeface="Times New Roman" pitchFamily="18" charset="0"/>
                <a:cs typeface="Times New Roman" pitchFamily="18" charset="0"/>
              </a:rPr>
              <a:t>Each type of frame serves as an envelope for the transmission of a different type of message.</a:t>
            </a:r>
          </a:p>
          <a:p>
            <a:pPr algn="just"/>
            <a:r>
              <a:rPr lang="en-IN" b="1" dirty="0">
                <a:latin typeface="Times New Roman" pitchFamily="18" charset="0"/>
                <a:cs typeface="Times New Roman" pitchFamily="18" charset="0"/>
              </a:rPr>
              <a:t>I-frames</a:t>
            </a:r>
            <a:r>
              <a:rPr lang="en-IN" dirty="0">
                <a:latin typeface="Times New Roman" pitchFamily="18" charset="0"/>
                <a:cs typeface="Times New Roman" pitchFamily="18" charset="0"/>
              </a:rPr>
              <a:t> are used to transport user </a:t>
            </a:r>
            <a:r>
              <a:rPr lang="en-IN" dirty="0">
                <a:solidFill>
                  <a:srgbClr val="FF0000"/>
                </a:solidFill>
                <a:latin typeface="Times New Roman" pitchFamily="18" charset="0"/>
                <a:cs typeface="Times New Roman" pitchFamily="18" charset="0"/>
              </a:rPr>
              <a:t>data</a:t>
            </a:r>
            <a:r>
              <a:rPr lang="en-IN" dirty="0">
                <a:latin typeface="Times New Roman" pitchFamily="18" charset="0"/>
                <a:cs typeface="Times New Roman" pitchFamily="18" charset="0"/>
              </a:rPr>
              <a:t> and </a:t>
            </a:r>
            <a:r>
              <a:rPr lang="en-IN" dirty="0">
                <a:solidFill>
                  <a:srgbClr val="FF0000"/>
                </a:solidFill>
                <a:latin typeface="Times New Roman" pitchFamily="18" charset="0"/>
                <a:cs typeface="Times New Roman" pitchFamily="18" charset="0"/>
              </a:rPr>
              <a:t>control information </a:t>
            </a:r>
            <a:r>
              <a:rPr lang="en-IN" dirty="0">
                <a:latin typeface="Times New Roman" pitchFamily="18" charset="0"/>
                <a:cs typeface="Times New Roman" pitchFamily="18" charset="0"/>
              </a:rPr>
              <a:t>relating to user data (piggybacking). </a:t>
            </a:r>
          </a:p>
          <a:p>
            <a:pPr algn="just"/>
            <a:r>
              <a:rPr lang="en-IN" b="1" dirty="0">
                <a:latin typeface="Times New Roman" pitchFamily="18" charset="0"/>
                <a:cs typeface="Times New Roman" pitchFamily="18" charset="0"/>
              </a:rPr>
              <a:t>S-frames</a:t>
            </a:r>
            <a:r>
              <a:rPr lang="en-IN" dirty="0">
                <a:latin typeface="Times New Roman" pitchFamily="18" charset="0"/>
                <a:cs typeface="Times New Roman" pitchFamily="18" charset="0"/>
              </a:rPr>
              <a:t> are used only to transport </a:t>
            </a:r>
            <a:r>
              <a:rPr lang="en-IN" dirty="0">
                <a:solidFill>
                  <a:srgbClr val="FF0000"/>
                </a:solidFill>
                <a:latin typeface="Times New Roman" pitchFamily="18" charset="0"/>
                <a:cs typeface="Times New Roman" pitchFamily="18" charset="0"/>
              </a:rPr>
              <a:t>control information</a:t>
            </a:r>
            <a:r>
              <a:rPr lang="en-IN" dirty="0">
                <a:latin typeface="Times New Roman" pitchFamily="18" charset="0"/>
                <a:cs typeface="Times New Roman" pitchFamily="18" charset="0"/>
              </a:rPr>
              <a:t>. </a:t>
            </a:r>
          </a:p>
          <a:p>
            <a:pPr algn="just"/>
            <a:r>
              <a:rPr lang="en-IN" b="1" dirty="0">
                <a:latin typeface="Times New Roman" pitchFamily="18" charset="0"/>
                <a:cs typeface="Times New Roman" pitchFamily="18" charset="0"/>
              </a:rPr>
              <a:t>U-frames</a:t>
            </a:r>
            <a:r>
              <a:rPr lang="en-IN" dirty="0">
                <a:latin typeface="Times New Roman" pitchFamily="18" charset="0"/>
                <a:cs typeface="Times New Roman" pitchFamily="18" charset="0"/>
              </a:rPr>
              <a:t> are reserved for </a:t>
            </a:r>
            <a:r>
              <a:rPr lang="en-IN" dirty="0">
                <a:solidFill>
                  <a:srgbClr val="FF0000"/>
                </a:solidFill>
                <a:latin typeface="Times New Roman" pitchFamily="18" charset="0"/>
                <a:cs typeface="Times New Roman" pitchFamily="18" charset="0"/>
              </a:rPr>
              <a:t>system management. Information </a:t>
            </a:r>
            <a:r>
              <a:rPr lang="en-IN" dirty="0">
                <a:latin typeface="Times New Roman" pitchFamily="18" charset="0"/>
                <a:cs typeface="Times New Roman" pitchFamily="18" charset="0"/>
              </a:rPr>
              <a:t>carried by U-frames is intended for </a:t>
            </a:r>
            <a:r>
              <a:rPr lang="en-IN" b="1" dirty="0">
                <a:latin typeface="Times New Roman" pitchFamily="18" charset="0"/>
                <a:cs typeface="Times New Roman" pitchFamily="18" charset="0"/>
              </a:rPr>
              <a:t>managing the link itself.</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109</a:t>
            </a:fld>
            <a:endParaRPr lang="en-US"/>
          </a:p>
        </p:txBody>
      </p:sp>
    </p:spTree>
    <p:extLst>
      <p:ext uri="{BB962C8B-B14F-4D97-AF65-F5344CB8AC3E}">
        <p14:creationId xmlns:p14="http://schemas.microsoft.com/office/powerpoint/2010/main" val="6637020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454" y="131613"/>
            <a:ext cx="7924799" cy="1066800"/>
          </a:xfrm>
        </p:spPr>
        <p:txBody>
          <a:bodyPr>
            <a:normAutofit/>
          </a:bodyPr>
          <a:lstStyle/>
          <a:p>
            <a:r>
              <a:rPr lang="en-IN" i="1" u="sng" dirty="0"/>
              <a:t>Frame Format</a:t>
            </a:r>
            <a:endParaRPr lang="en-IN" u="sng" dirty="0"/>
          </a:p>
        </p:txBody>
      </p:sp>
      <p:sp>
        <p:nvSpPr>
          <p:cNvPr id="3" name="Content Placeholder 2"/>
          <p:cNvSpPr>
            <a:spLocks noGrp="1"/>
          </p:cNvSpPr>
          <p:nvPr>
            <p:ph idx="1"/>
          </p:nvPr>
        </p:nvSpPr>
        <p:spPr>
          <a:xfrm>
            <a:off x="457200" y="983664"/>
            <a:ext cx="8478982" cy="5175227"/>
          </a:xfrm>
        </p:spPr>
        <p:txBody>
          <a:bodyPr>
            <a:normAutofit/>
          </a:bodyPr>
          <a:lstStyle/>
          <a:p>
            <a:pPr algn="just"/>
            <a:r>
              <a:rPr lang="en-IN" sz="2600" dirty="0">
                <a:latin typeface="Times New Roman" pitchFamily="18" charset="0"/>
                <a:cs typeface="Times New Roman" pitchFamily="18" charset="0"/>
              </a:rPr>
              <a:t>Each frame in HDLC may contain </a:t>
            </a:r>
            <a:r>
              <a:rPr lang="en-IN" sz="2600" b="1" dirty="0">
                <a:latin typeface="Times New Roman" pitchFamily="18" charset="0"/>
                <a:cs typeface="Times New Roman" pitchFamily="18" charset="0"/>
              </a:rPr>
              <a:t>up to six fields</a:t>
            </a:r>
            <a:r>
              <a:rPr lang="en-IN" sz="2600" dirty="0">
                <a:latin typeface="Times New Roman" pitchFamily="18" charset="0"/>
                <a:cs typeface="Times New Roman" pitchFamily="18" charset="0"/>
              </a:rPr>
              <a:t>, as shown in Figure. </a:t>
            </a:r>
          </a:p>
          <a:p>
            <a:pPr algn="just"/>
            <a:r>
              <a:rPr lang="en-IN" sz="2600" dirty="0">
                <a:latin typeface="Times New Roman" pitchFamily="18" charset="0"/>
                <a:cs typeface="Times New Roman" pitchFamily="18" charset="0"/>
              </a:rPr>
              <a:t>A beginning flag field, an address field, a control field, an information field, a frame check sequence (FCS) field, and an ending flag field. </a:t>
            </a:r>
          </a:p>
          <a:p>
            <a:pPr algn="just"/>
            <a:r>
              <a:rPr lang="en-IN" sz="2600" dirty="0">
                <a:latin typeface="Times New Roman" pitchFamily="18" charset="0"/>
                <a:cs typeface="Times New Roman" pitchFamily="18" charset="0"/>
              </a:rPr>
              <a:t>In multiple-frame transmissions, the ending flag of one frame can serve as the beginning flag of the next frame.</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110</a:t>
            </a:fld>
            <a:endParaRPr lang="en-US"/>
          </a:p>
        </p:txBody>
      </p:sp>
      <p:pic>
        <p:nvPicPr>
          <p:cNvPr id="4099"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637" y="3865419"/>
            <a:ext cx="6994578" cy="2981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79732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761999"/>
            <a:ext cx="8617528" cy="5826391"/>
          </a:xfrm>
        </p:spPr>
        <p:txBody>
          <a:bodyPr>
            <a:normAutofit fontScale="92500" lnSpcReduction="10000"/>
          </a:bodyPr>
          <a:lstStyle/>
          <a:p>
            <a:pPr algn="just"/>
            <a:r>
              <a:rPr lang="en-IN" u="sng" dirty="0">
                <a:latin typeface="Times New Roman" pitchFamily="18" charset="0"/>
                <a:cs typeface="Times New Roman" pitchFamily="18" charset="0"/>
              </a:rPr>
              <a:t>Flag field</a:t>
            </a:r>
            <a:r>
              <a:rPr lang="en-IN" dirty="0">
                <a:latin typeface="Times New Roman" pitchFamily="18" charset="0"/>
                <a:cs typeface="Times New Roman" pitchFamily="18" charset="0"/>
              </a:rPr>
              <a:t>. </a:t>
            </a:r>
          </a:p>
          <a:p>
            <a:pPr lvl="1" algn="just">
              <a:buFont typeface="Wingdings" pitchFamily="2" charset="2"/>
              <a:buChar char="ü"/>
            </a:pPr>
            <a:r>
              <a:rPr lang="en-IN" dirty="0">
                <a:solidFill>
                  <a:schemeClr val="tx1"/>
                </a:solidFill>
                <a:latin typeface="Times New Roman" pitchFamily="18" charset="0"/>
                <a:cs typeface="Times New Roman" pitchFamily="18" charset="0"/>
              </a:rPr>
              <a:t>The flag field of an HDLC frame is an </a:t>
            </a:r>
            <a:r>
              <a:rPr lang="en-IN" b="1" dirty="0">
                <a:solidFill>
                  <a:schemeClr val="tx1"/>
                </a:solidFill>
                <a:latin typeface="Times New Roman" pitchFamily="18" charset="0"/>
                <a:cs typeface="Times New Roman" pitchFamily="18" charset="0"/>
              </a:rPr>
              <a:t>8-bit sequence </a:t>
            </a:r>
            <a:r>
              <a:rPr lang="en-IN" dirty="0">
                <a:solidFill>
                  <a:schemeClr val="tx1"/>
                </a:solidFill>
                <a:latin typeface="Times New Roman" pitchFamily="18" charset="0"/>
                <a:cs typeface="Times New Roman" pitchFamily="18" charset="0"/>
              </a:rPr>
              <a:t>with the bit pattern </a:t>
            </a:r>
            <a:r>
              <a:rPr lang="en-IN" dirty="0">
                <a:solidFill>
                  <a:srgbClr val="FF0000"/>
                </a:solidFill>
                <a:latin typeface="Times New Roman" pitchFamily="18" charset="0"/>
                <a:cs typeface="Times New Roman" pitchFamily="18" charset="0"/>
              </a:rPr>
              <a:t>01111110</a:t>
            </a:r>
            <a:r>
              <a:rPr lang="en-IN" dirty="0">
                <a:solidFill>
                  <a:schemeClr val="tx1"/>
                </a:solidFill>
                <a:latin typeface="Times New Roman" pitchFamily="18" charset="0"/>
                <a:cs typeface="Times New Roman" pitchFamily="18" charset="0"/>
              </a:rPr>
              <a:t> that identifies both the </a:t>
            </a:r>
            <a:r>
              <a:rPr lang="en-IN" b="1" dirty="0">
                <a:solidFill>
                  <a:schemeClr val="tx1"/>
                </a:solidFill>
                <a:latin typeface="Times New Roman" pitchFamily="18" charset="0"/>
                <a:cs typeface="Times New Roman" pitchFamily="18" charset="0"/>
              </a:rPr>
              <a:t>beginning</a:t>
            </a:r>
            <a:r>
              <a:rPr lang="en-IN" dirty="0">
                <a:solidFill>
                  <a:schemeClr val="tx1"/>
                </a:solidFill>
                <a:latin typeface="Times New Roman" pitchFamily="18" charset="0"/>
                <a:cs typeface="Times New Roman" pitchFamily="18" charset="0"/>
              </a:rPr>
              <a:t> and the </a:t>
            </a:r>
            <a:r>
              <a:rPr lang="en-IN" b="1" dirty="0">
                <a:solidFill>
                  <a:schemeClr val="tx1"/>
                </a:solidFill>
                <a:latin typeface="Times New Roman" pitchFamily="18" charset="0"/>
                <a:cs typeface="Times New Roman" pitchFamily="18" charset="0"/>
              </a:rPr>
              <a:t>end of a frame </a:t>
            </a:r>
            <a:r>
              <a:rPr lang="en-IN" dirty="0">
                <a:solidFill>
                  <a:schemeClr val="tx1"/>
                </a:solidFill>
                <a:latin typeface="Times New Roman" pitchFamily="18" charset="0"/>
                <a:cs typeface="Times New Roman" pitchFamily="18" charset="0"/>
              </a:rPr>
              <a:t>and serves as a </a:t>
            </a:r>
            <a:r>
              <a:rPr lang="en-IN" b="1" dirty="0">
                <a:solidFill>
                  <a:schemeClr val="tx1"/>
                </a:solidFill>
                <a:latin typeface="Times New Roman" pitchFamily="18" charset="0"/>
                <a:cs typeface="Times New Roman" pitchFamily="18" charset="0"/>
              </a:rPr>
              <a:t>synchronization pattern </a:t>
            </a:r>
            <a:r>
              <a:rPr lang="en-IN" dirty="0">
                <a:solidFill>
                  <a:schemeClr val="tx1"/>
                </a:solidFill>
                <a:latin typeface="Times New Roman" pitchFamily="18" charset="0"/>
                <a:cs typeface="Times New Roman" pitchFamily="18" charset="0"/>
              </a:rPr>
              <a:t>for the receiver.</a:t>
            </a:r>
          </a:p>
          <a:p>
            <a:pPr algn="just"/>
            <a:r>
              <a:rPr lang="en-IN" u="sng" dirty="0">
                <a:latin typeface="Times New Roman" pitchFamily="18" charset="0"/>
                <a:cs typeface="Times New Roman" pitchFamily="18" charset="0"/>
              </a:rPr>
              <a:t>Address field</a:t>
            </a:r>
            <a:r>
              <a:rPr lang="en-IN" dirty="0">
                <a:latin typeface="Times New Roman" pitchFamily="18" charset="0"/>
                <a:cs typeface="Times New Roman" pitchFamily="18" charset="0"/>
              </a:rPr>
              <a:t>. </a:t>
            </a:r>
          </a:p>
          <a:p>
            <a:pPr lvl="1" algn="just">
              <a:buFont typeface="Wingdings" pitchFamily="2" charset="2"/>
              <a:buChar char="ü"/>
            </a:pPr>
            <a:r>
              <a:rPr lang="en-IN" dirty="0">
                <a:solidFill>
                  <a:schemeClr val="tx1"/>
                </a:solidFill>
                <a:latin typeface="Times New Roman" pitchFamily="18" charset="0"/>
                <a:cs typeface="Times New Roman" pitchFamily="18" charset="0"/>
              </a:rPr>
              <a:t>The second field of an HDLC frame contains the </a:t>
            </a:r>
            <a:r>
              <a:rPr lang="en-IN" b="1" dirty="0">
                <a:solidFill>
                  <a:schemeClr val="tx1"/>
                </a:solidFill>
                <a:latin typeface="Times New Roman" pitchFamily="18" charset="0"/>
                <a:cs typeface="Times New Roman" pitchFamily="18" charset="0"/>
              </a:rPr>
              <a:t>address of the secondary station. </a:t>
            </a:r>
            <a:r>
              <a:rPr lang="en-IN" dirty="0">
                <a:solidFill>
                  <a:schemeClr val="tx1"/>
                </a:solidFill>
                <a:latin typeface="Times New Roman" pitchFamily="18" charset="0"/>
                <a:cs typeface="Times New Roman" pitchFamily="18" charset="0"/>
              </a:rPr>
              <a:t>If a primary station created the frame, it contains a </a:t>
            </a:r>
            <a:r>
              <a:rPr lang="en-IN" b="1" i="1" dirty="0">
                <a:solidFill>
                  <a:schemeClr val="tx1"/>
                </a:solidFill>
                <a:latin typeface="Times New Roman" pitchFamily="18" charset="0"/>
                <a:cs typeface="Times New Roman" pitchFamily="18" charset="0"/>
              </a:rPr>
              <a:t>to </a:t>
            </a:r>
            <a:r>
              <a:rPr lang="en-IN" b="1" dirty="0">
                <a:solidFill>
                  <a:schemeClr val="tx1"/>
                </a:solidFill>
                <a:latin typeface="Times New Roman" pitchFamily="18" charset="0"/>
                <a:cs typeface="Times New Roman" pitchFamily="18" charset="0"/>
              </a:rPr>
              <a:t>address</a:t>
            </a:r>
            <a:r>
              <a:rPr lang="en-IN" dirty="0">
                <a:solidFill>
                  <a:schemeClr val="tx1"/>
                </a:solidFill>
                <a:latin typeface="Times New Roman" pitchFamily="18" charset="0"/>
                <a:cs typeface="Times New Roman" pitchFamily="18" charset="0"/>
              </a:rPr>
              <a:t>. If a secondary creates the frame, it contains </a:t>
            </a:r>
            <a:r>
              <a:rPr lang="en-IN" i="1" dirty="0">
                <a:solidFill>
                  <a:schemeClr val="tx1"/>
                </a:solidFill>
                <a:latin typeface="Times New Roman" pitchFamily="18" charset="0"/>
                <a:cs typeface="Times New Roman" pitchFamily="18" charset="0"/>
              </a:rPr>
              <a:t>a </a:t>
            </a:r>
            <a:r>
              <a:rPr lang="en-IN" b="1" i="1" dirty="0">
                <a:solidFill>
                  <a:schemeClr val="tx1"/>
                </a:solidFill>
                <a:latin typeface="Times New Roman" pitchFamily="18" charset="0"/>
                <a:cs typeface="Times New Roman" pitchFamily="18" charset="0"/>
              </a:rPr>
              <a:t>from </a:t>
            </a:r>
            <a:r>
              <a:rPr lang="en-IN" b="1" dirty="0">
                <a:solidFill>
                  <a:schemeClr val="tx1"/>
                </a:solidFill>
                <a:latin typeface="Times New Roman" pitchFamily="18" charset="0"/>
                <a:cs typeface="Times New Roman" pitchFamily="18" charset="0"/>
              </a:rPr>
              <a:t>address</a:t>
            </a:r>
            <a:r>
              <a:rPr lang="en-IN" dirty="0">
                <a:solidFill>
                  <a:schemeClr val="tx1"/>
                </a:solidFill>
                <a:latin typeface="Times New Roman" pitchFamily="18" charset="0"/>
                <a:cs typeface="Times New Roman" pitchFamily="18" charset="0"/>
              </a:rPr>
              <a:t>. </a:t>
            </a:r>
          </a:p>
          <a:p>
            <a:pPr lvl="1" algn="just">
              <a:buFont typeface="Wingdings" pitchFamily="2" charset="2"/>
              <a:buChar char="ü"/>
            </a:pPr>
            <a:r>
              <a:rPr lang="en-IN" dirty="0">
                <a:solidFill>
                  <a:schemeClr val="tx1"/>
                </a:solidFill>
                <a:latin typeface="Times New Roman" pitchFamily="18" charset="0"/>
                <a:cs typeface="Times New Roman" pitchFamily="18" charset="0"/>
              </a:rPr>
              <a:t>An address field can be </a:t>
            </a:r>
            <a:r>
              <a:rPr lang="en-IN" dirty="0">
                <a:solidFill>
                  <a:srgbClr val="FF0000"/>
                </a:solidFill>
                <a:latin typeface="Times New Roman" pitchFamily="18" charset="0"/>
                <a:cs typeface="Times New Roman" pitchFamily="18" charset="0"/>
              </a:rPr>
              <a:t>1 byte or several bytes </a:t>
            </a:r>
            <a:r>
              <a:rPr lang="en-IN" dirty="0">
                <a:solidFill>
                  <a:schemeClr val="tx1"/>
                </a:solidFill>
                <a:latin typeface="Times New Roman" pitchFamily="18" charset="0"/>
                <a:cs typeface="Times New Roman" pitchFamily="18" charset="0"/>
              </a:rPr>
              <a:t>long, </a:t>
            </a:r>
          </a:p>
          <a:p>
            <a:pPr lvl="1" algn="just">
              <a:buFont typeface="Wingdings" pitchFamily="2" charset="2"/>
              <a:buChar char="ü"/>
            </a:pPr>
            <a:r>
              <a:rPr lang="en-IN" dirty="0">
                <a:solidFill>
                  <a:schemeClr val="tx1"/>
                </a:solidFill>
                <a:latin typeface="Times New Roman" pitchFamily="18" charset="0"/>
                <a:cs typeface="Times New Roman" pitchFamily="18" charset="0"/>
              </a:rPr>
              <a:t>If the address field is only </a:t>
            </a:r>
            <a:r>
              <a:rPr lang="en-IN" dirty="0">
                <a:solidFill>
                  <a:srgbClr val="FF0000"/>
                </a:solidFill>
                <a:latin typeface="Times New Roman" pitchFamily="18" charset="0"/>
                <a:cs typeface="Times New Roman" pitchFamily="18" charset="0"/>
              </a:rPr>
              <a:t>1 byte, the last bit is always a 1</a:t>
            </a:r>
            <a:r>
              <a:rPr lang="en-IN" dirty="0">
                <a:solidFill>
                  <a:schemeClr val="tx1"/>
                </a:solidFill>
                <a:latin typeface="Times New Roman" pitchFamily="18" charset="0"/>
                <a:cs typeface="Times New Roman" pitchFamily="18" charset="0"/>
              </a:rPr>
              <a:t>. </a:t>
            </a:r>
          </a:p>
          <a:p>
            <a:pPr lvl="1" algn="just">
              <a:buFont typeface="Wingdings" pitchFamily="2" charset="2"/>
              <a:buChar char="ü"/>
            </a:pPr>
            <a:r>
              <a:rPr lang="en-IN" dirty="0">
                <a:solidFill>
                  <a:schemeClr val="tx1"/>
                </a:solidFill>
                <a:latin typeface="Times New Roman" pitchFamily="18" charset="0"/>
                <a:cs typeface="Times New Roman" pitchFamily="18" charset="0"/>
              </a:rPr>
              <a:t>If the address is more than 1 byte, all bytes but the last one will end with 0; </a:t>
            </a:r>
            <a:r>
              <a:rPr lang="en-IN" dirty="0">
                <a:solidFill>
                  <a:srgbClr val="FF0000"/>
                </a:solidFill>
                <a:latin typeface="Times New Roman" pitchFamily="18" charset="0"/>
                <a:cs typeface="Times New Roman" pitchFamily="18" charset="0"/>
              </a:rPr>
              <a:t>only the last will end with 1</a:t>
            </a:r>
            <a:r>
              <a:rPr lang="en-IN" dirty="0">
                <a:solidFill>
                  <a:schemeClr val="tx1"/>
                </a:solidFill>
                <a:latin typeface="Times New Roman" pitchFamily="18" charset="0"/>
                <a:cs typeface="Times New Roman" pitchFamily="18" charset="0"/>
              </a:rPr>
              <a:t>. Ending each intermediate byte with 0 indicates to the receiver that there are more address bytes to come.</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111</a:t>
            </a:fld>
            <a:endParaRPr lang="en-US"/>
          </a:p>
        </p:txBody>
      </p:sp>
    </p:spTree>
    <p:extLst>
      <p:ext uri="{BB962C8B-B14F-4D97-AF65-F5344CB8AC3E}">
        <p14:creationId xmlns:p14="http://schemas.microsoft.com/office/powerpoint/2010/main" val="208987400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812536"/>
          </a:xfrm>
        </p:spPr>
        <p:txBody>
          <a:bodyPr>
            <a:normAutofit/>
          </a:bodyPr>
          <a:lstStyle/>
          <a:p>
            <a:pPr algn="just"/>
            <a:r>
              <a:rPr lang="en-IN" u="sng" dirty="0"/>
              <a:t>Control field</a:t>
            </a:r>
          </a:p>
          <a:p>
            <a:pPr lvl="1" algn="just">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The control field is a </a:t>
            </a:r>
            <a:r>
              <a:rPr lang="en-IN" dirty="0">
                <a:solidFill>
                  <a:srgbClr val="FF0000"/>
                </a:solidFill>
                <a:latin typeface="Times New Roman" panose="02020603050405020304" pitchFamily="18" charset="0"/>
                <a:cs typeface="Times New Roman" panose="02020603050405020304" pitchFamily="18" charset="0"/>
              </a:rPr>
              <a:t>1- or 2-byte segment </a:t>
            </a:r>
            <a:r>
              <a:rPr lang="en-IN" dirty="0">
                <a:solidFill>
                  <a:schemeClr val="tx1"/>
                </a:solidFill>
                <a:latin typeface="Times New Roman" panose="02020603050405020304" pitchFamily="18" charset="0"/>
                <a:cs typeface="Times New Roman" panose="02020603050405020304" pitchFamily="18" charset="0"/>
              </a:rPr>
              <a:t>of the frame used for </a:t>
            </a:r>
            <a:r>
              <a:rPr lang="en-IN" dirty="0">
                <a:solidFill>
                  <a:srgbClr val="FF0000"/>
                </a:solidFill>
                <a:latin typeface="Times New Roman" panose="02020603050405020304" pitchFamily="18" charset="0"/>
                <a:cs typeface="Times New Roman" panose="02020603050405020304" pitchFamily="18" charset="0"/>
              </a:rPr>
              <a:t>flow and error control</a:t>
            </a:r>
            <a:r>
              <a:rPr lang="en-IN" dirty="0">
                <a:solidFill>
                  <a:schemeClr val="tx1"/>
                </a:solidFill>
                <a:latin typeface="Times New Roman" panose="02020603050405020304" pitchFamily="18" charset="0"/>
                <a:cs typeface="Times New Roman" panose="02020603050405020304" pitchFamily="18" charset="0"/>
              </a:rPr>
              <a:t>. </a:t>
            </a:r>
          </a:p>
          <a:p>
            <a:pPr lvl="1" algn="just">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The interpretation of bits in this field depends on the </a:t>
            </a:r>
            <a:r>
              <a:rPr lang="en-IN" dirty="0">
                <a:solidFill>
                  <a:srgbClr val="FF0000"/>
                </a:solidFill>
                <a:latin typeface="Times New Roman" panose="02020603050405020304" pitchFamily="18" charset="0"/>
                <a:cs typeface="Times New Roman" panose="02020603050405020304" pitchFamily="18" charset="0"/>
              </a:rPr>
              <a:t>frame type</a:t>
            </a:r>
            <a:r>
              <a:rPr lang="en-IN" dirty="0">
                <a:solidFill>
                  <a:schemeClr val="tx1"/>
                </a:solidFill>
                <a:latin typeface="Times New Roman" panose="02020603050405020304" pitchFamily="18" charset="0"/>
                <a:cs typeface="Times New Roman" panose="02020603050405020304" pitchFamily="18" charset="0"/>
              </a:rPr>
              <a:t>. </a:t>
            </a:r>
          </a:p>
          <a:p>
            <a:pPr algn="just"/>
            <a:r>
              <a:rPr lang="en-IN" u="sng" dirty="0">
                <a:latin typeface="Times New Roman" panose="02020603050405020304" pitchFamily="18" charset="0"/>
                <a:cs typeface="Times New Roman" panose="02020603050405020304" pitchFamily="18" charset="0"/>
              </a:rPr>
              <a:t>Information field</a:t>
            </a:r>
            <a:endParaRPr lang="en-IN" dirty="0">
              <a:latin typeface="Times New Roman" panose="02020603050405020304" pitchFamily="18" charset="0"/>
              <a:cs typeface="Times New Roman" panose="02020603050405020304" pitchFamily="18" charset="0"/>
            </a:endParaRPr>
          </a:p>
          <a:p>
            <a:pPr lvl="1" algn="just">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The information field contains </a:t>
            </a:r>
            <a:r>
              <a:rPr lang="en-IN" dirty="0">
                <a:solidFill>
                  <a:srgbClr val="FF0000"/>
                </a:solidFill>
                <a:latin typeface="Times New Roman" panose="02020603050405020304" pitchFamily="18" charset="0"/>
                <a:cs typeface="Times New Roman" panose="02020603050405020304" pitchFamily="18" charset="0"/>
              </a:rPr>
              <a:t>the user's data </a:t>
            </a:r>
            <a:r>
              <a:rPr lang="en-IN" dirty="0">
                <a:solidFill>
                  <a:schemeClr val="tx1"/>
                </a:solidFill>
                <a:latin typeface="Times New Roman" panose="02020603050405020304" pitchFamily="18" charset="0"/>
                <a:cs typeface="Times New Roman" panose="02020603050405020304" pitchFamily="18" charset="0"/>
              </a:rPr>
              <a:t>from the network layer or </a:t>
            </a:r>
            <a:r>
              <a:rPr lang="en-IN" dirty="0">
                <a:solidFill>
                  <a:srgbClr val="FF0000"/>
                </a:solidFill>
                <a:latin typeface="Times New Roman" panose="02020603050405020304" pitchFamily="18" charset="0"/>
                <a:cs typeface="Times New Roman" panose="02020603050405020304" pitchFamily="18" charset="0"/>
              </a:rPr>
              <a:t>management information</a:t>
            </a:r>
            <a:r>
              <a:rPr lang="en-IN" dirty="0">
                <a:solidFill>
                  <a:schemeClr val="tx1"/>
                </a:solidFill>
                <a:latin typeface="Times New Roman" panose="02020603050405020304" pitchFamily="18" charset="0"/>
                <a:cs typeface="Times New Roman" panose="02020603050405020304" pitchFamily="18" charset="0"/>
              </a:rPr>
              <a:t>. Its length can vary from one network to another.</a:t>
            </a:r>
          </a:p>
          <a:p>
            <a:pPr algn="just"/>
            <a:r>
              <a:rPr lang="en-IN" u="sng" dirty="0">
                <a:latin typeface="Times New Roman" panose="02020603050405020304" pitchFamily="18" charset="0"/>
                <a:cs typeface="Times New Roman" panose="02020603050405020304" pitchFamily="18" charset="0"/>
              </a:rPr>
              <a:t>FCS field</a:t>
            </a:r>
            <a:r>
              <a:rPr lang="en-IN" dirty="0">
                <a:latin typeface="Times New Roman" panose="02020603050405020304" pitchFamily="18" charset="0"/>
                <a:cs typeface="Times New Roman" panose="02020603050405020304" pitchFamily="18" charset="0"/>
              </a:rPr>
              <a:t> </a:t>
            </a:r>
          </a:p>
          <a:p>
            <a:pPr lvl="1" algn="just">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The </a:t>
            </a:r>
            <a:r>
              <a:rPr lang="en-IN" dirty="0">
                <a:solidFill>
                  <a:srgbClr val="FF0000"/>
                </a:solidFill>
                <a:latin typeface="Times New Roman" panose="02020603050405020304" pitchFamily="18" charset="0"/>
                <a:cs typeface="Times New Roman" panose="02020603050405020304" pitchFamily="18" charset="0"/>
              </a:rPr>
              <a:t>frame check sequence (FCS) </a:t>
            </a:r>
            <a:r>
              <a:rPr lang="en-IN" dirty="0">
                <a:solidFill>
                  <a:schemeClr val="tx1"/>
                </a:solidFill>
                <a:latin typeface="Times New Roman" panose="02020603050405020304" pitchFamily="18" charset="0"/>
                <a:cs typeface="Times New Roman" panose="02020603050405020304" pitchFamily="18" charset="0"/>
              </a:rPr>
              <a:t>is the HDLC error detection field. It can contain either a 2- or 4-byte CRC.</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112</a:t>
            </a:fld>
            <a:endParaRPr lang="en-US"/>
          </a:p>
        </p:txBody>
      </p:sp>
    </p:spTree>
    <p:extLst>
      <p:ext uri="{BB962C8B-B14F-4D97-AF65-F5344CB8AC3E}">
        <p14:creationId xmlns:p14="http://schemas.microsoft.com/office/powerpoint/2010/main" val="134658639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782" y="574963"/>
            <a:ext cx="8229600" cy="1066800"/>
          </a:xfrm>
        </p:spPr>
        <p:txBody>
          <a:bodyPr/>
          <a:lstStyle/>
          <a:p>
            <a:r>
              <a:rPr lang="en-IN" u="sng" dirty="0">
                <a:hlinkClick r:id="rId2" action="ppaction://hlinksldjump"/>
              </a:rPr>
              <a:t>Control Field</a:t>
            </a:r>
            <a:endParaRPr lang="en-IN" u="sng" dirty="0"/>
          </a:p>
        </p:txBody>
      </p:sp>
      <p:sp>
        <p:nvSpPr>
          <p:cNvPr id="3" name="Content Placeholder 2"/>
          <p:cNvSpPr>
            <a:spLocks noGrp="1"/>
          </p:cNvSpPr>
          <p:nvPr>
            <p:ph idx="1"/>
          </p:nvPr>
        </p:nvSpPr>
        <p:spPr>
          <a:xfrm>
            <a:off x="336462" y="1570552"/>
            <a:ext cx="8229600" cy="4325112"/>
          </a:xfrm>
        </p:spPr>
        <p:txBody>
          <a:bodyPr/>
          <a:lstStyle/>
          <a:p>
            <a:pPr algn="just"/>
            <a:r>
              <a:rPr lang="en-IN" dirty="0">
                <a:latin typeface="Times New Roman" panose="02020603050405020304" pitchFamily="18" charset="0"/>
                <a:cs typeface="Times New Roman" panose="02020603050405020304" pitchFamily="18" charset="0"/>
              </a:rPr>
              <a:t>The control field determines </a:t>
            </a:r>
            <a:r>
              <a:rPr lang="en-IN" dirty="0">
                <a:solidFill>
                  <a:srgbClr val="FF0000"/>
                </a:solidFill>
                <a:latin typeface="Times New Roman" panose="02020603050405020304" pitchFamily="18" charset="0"/>
                <a:cs typeface="Times New Roman" panose="02020603050405020304" pitchFamily="18" charset="0"/>
              </a:rPr>
              <a:t>the type of frame and defines its functionality. </a:t>
            </a:r>
          </a:p>
          <a:p>
            <a:pPr algn="just"/>
            <a:r>
              <a:rPr lang="en-IN" dirty="0">
                <a:latin typeface="Times New Roman" panose="02020603050405020304" pitchFamily="18" charset="0"/>
                <a:cs typeface="Times New Roman" panose="02020603050405020304" pitchFamily="18" charset="0"/>
              </a:rPr>
              <a:t>The format is specific for the type of frame, as shown in Figure</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113</a:t>
            </a:fld>
            <a:endParaRPr lang="en-US"/>
          </a:p>
        </p:txBody>
      </p:sp>
      <p:pic>
        <p:nvPicPr>
          <p:cNvPr id="5122" name="Picture 2">
            <a:hlinkClick r:id="rId3" action="ppaction://hlinksldjump"/>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6779" y="3367088"/>
            <a:ext cx="6116348" cy="3307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98693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363" y="519546"/>
            <a:ext cx="8229600" cy="450273"/>
          </a:xfrm>
        </p:spPr>
        <p:txBody>
          <a:bodyPr>
            <a:normAutofit fontScale="90000"/>
          </a:bodyPr>
          <a:lstStyle/>
          <a:p>
            <a:pPr marL="571500" indent="-571500">
              <a:buFont typeface="Wingdings" pitchFamily="2" charset="2"/>
              <a:buChar char="Ø"/>
            </a:pPr>
            <a:r>
              <a:rPr lang="en-IN" i="1" u="sng" dirty="0"/>
              <a:t>Control Field for I-Frames</a:t>
            </a:r>
            <a:endParaRPr lang="en-IN" u="sng" dirty="0"/>
          </a:p>
        </p:txBody>
      </p:sp>
      <p:sp>
        <p:nvSpPr>
          <p:cNvPr id="3" name="Content Placeholder 2"/>
          <p:cNvSpPr>
            <a:spLocks noGrp="1"/>
          </p:cNvSpPr>
          <p:nvPr>
            <p:ph idx="1"/>
          </p:nvPr>
        </p:nvSpPr>
        <p:spPr>
          <a:xfrm>
            <a:off x="79513" y="1034873"/>
            <a:ext cx="8925942" cy="5008972"/>
          </a:xfrm>
        </p:spPr>
        <p:txBody>
          <a:bodyPr>
            <a:noAutofit/>
          </a:bodyPr>
          <a:lstStyle/>
          <a:p>
            <a:pPr algn="just"/>
            <a:r>
              <a:rPr lang="en-IN" sz="2400" dirty="0">
                <a:latin typeface="Times New Roman" pitchFamily="18" charset="0"/>
                <a:cs typeface="Times New Roman" pitchFamily="18" charset="0"/>
              </a:rPr>
              <a:t>I-frames are designed to </a:t>
            </a:r>
            <a:r>
              <a:rPr lang="en-IN" sz="2400" b="1" dirty="0">
                <a:latin typeface="Times New Roman" pitchFamily="18" charset="0"/>
                <a:cs typeface="Times New Roman" pitchFamily="18" charset="0"/>
              </a:rPr>
              <a:t>carry user data from the network layer</a:t>
            </a:r>
            <a:r>
              <a:rPr lang="en-IN" sz="2400" dirty="0">
                <a:latin typeface="Times New Roman" pitchFamily="18" charset="0"/>
                <a:cs typeface="Times New Roman" pitchFamily="18" charset="0"/>
              </a:rPr>
              <a:t>. </a:t>
            </a:r>
          </a:p>
          <a:p>
            <a:pPr algn="just"/>
            <a:r>
              <a:rPr lang="en-IN" sz="2400" dirty="0">
                <a:latin typeface="Times New Roman" pitchFamily="18" charset="0"/>
                <a:cs typeface="Times New Roman" pitchFamily="18" charset="0"/>
              </a:rPr>
              <a:t>They can include </a:t>
            </a:r>
            <a:r>
              <a:rPr lang="en-IN" sz="2400" b="1" dirty="0">
                <a:latin typeface="Times New Roman" pitchFamily="18" charset="0"/>
                <a:cs typeface="Times New Roman" pitchFamily="18" charset="0"/>
              </a:rPr>
              <a:t>flow and error control information (piggybacking). </a:t>
            </a:r>
          </a:p>
          <a:p>
            <a:pPr marL="624078" indent="-514350" algn="just">
              <a:buFont typeface="+mj-lt"/>
              <a:buAutoNum type="arabicPeriod"/>
            </a:pPr>
            <a:r>
              <a:rPr lang="en-IN" sz="2400" dirty="0">
                <a:latin typeface="Times New Roman" pitchFamily="18" charset="0"/>
                <a:cs typeface="Times New Roman" pitchFamily="18" charset="0"/>
              </a:rPr>
              <a:t>If the </a:t>
            </a:r>
            <a:r>
              <a:rPr lang="en-IN" sz="2400" b="1" dirty="0">
                <a:latin typeface="Times New Roman" pitchFamily="18" charset="0"/>
                <a:cs typeface="Times New Roman" pitchFamily="18" charset="0"/>
              </a:rPr>
              <a:t>first bit </a:t>
            </a:r>
            <a:r>
              <a:rPr lang="en-IN" sz="2400" dirty="0">
                <a:latin typeface="Times New Roman" pitchFamily="18" charset="0"/>
                <a:cs typeface="Times New Roman" pitchFamily="18" charset="0"/>
              </a:rPr>
              <a:t>of the control field is </a:t>
            </a:r>
            <a:r>
              <a:rPr lang="en-IN" sz="2400" b="1" dirty="0">
                <a:latin typeface="Times New Roman" pitchFamily="18" charset="0"/>
                <a:cs typeface="Times New Roman" pitchFamily="18" charset="0"/>
              </a:rPr>
              <a:t>0</a:t>
            </a:r>
            <a:r>
              <a:rPr lang="en-IN" sz="2400" dirty="0">
                <a:latin typeface="Times New Roman" pitchFamily="18" charset="0"/>
                <a:cs typeface="Times New Roman" pitchFamily="18" charset="0"/>
              </a:rPr>
              <a:t>, this means the </a:t>
            </a:r>
            <a:r>
              <a:rPr lang="en-IN" sz="2400" b="1" dirty="0">
                <a:latin typeface="Times New Roman" pitchFamily="18" charset="0"/>
                <a:cs typeface="Times New Roman" pitchFamily="18" charset="0"/>
              </a:rPr>
              <a:t>frame is an I-frame. </a:t>
            </a:r>
          </a:p>
          <a:p>
            <a:pPr marL="624078" indent="-514350" algn="just">
              <a:buFont typeface="+mj-lt"/>
              <a:buAutoNum type="arabicPeriod"/>
            </a:pPr>
            <a:r>
              <a:rPr lang="en-IN" sz="2400" dirty="0">
                <a:latin typeface="Times New Roman" pitchFamily="18" charset="0"/>
                <a:cs typeface="Times New Roman" pitchFamily="18" charset="0"/>
              </a:rPr>
              <a:t>The </a:t>
            </a:r>
            <a:r>
              <a:rPr lang="en-IN" sz="2400" b="1" dirty="0">
                <a:latin typeface="Times New Roman" pitchFamily="18" charset="0"/>
                <a:cs typeface="Times New Roman" pitchFamily="18" charset="0"/>
              </a:rPr>
              <a:t>next 3 bits, called</a:t>
            </a:r>
            <a:r>
              <a:rPr lang="en-IN" sz="2400" b="1" dirty="0">
                <a:solidFill>
                  <a:srgbClr val="FF0000"/>
                </a:solidFill>
                <a:latin typeface="Times New Roman" pitchFamily="18" charset="0"/>
                <a:cs typeface="Times New Roman" pitchFamily="18" charset="0"/>
              </a:rPr>
              <a:t> </a:t>
            </a:r>
            <a:r>
              <a:rPr lang="en-IN" sz="2400" b="1" i="1" dirty="0">
                <a:solidFill>
                  <a:srgbClr val="FF0000"/>
                </a:solidFill>
                <a:latin typeface="Times New Roman" pitchFamily="18" charset="0"/>
                <a:cs typeface="Times New Roman" pitchFamily="18" charset="0"/>
              </a:rPr>
              <a:t>N(S), </a:t>
            </a:r>
            <a:r>
              <a:rPr lang="en-IN" sz="2400" dirty="0">
                <a:latin typeface="Times New Roman" pitchFamily="18" charset="0"/>
                <a:cs typeface="Times New Roman" pitchFamily="18" charset="0"/>
              </a:rPr>
              <a:t>define the </a:t>
            </a:r>
            <a:r>
              <a:rPr lang="en-IN" sz="2400" b="1" dirty="0">
                <a:latin typeface="Times New Roman" pitchFamily="18" charset="0"/>
                <a:cs typeface="Times New Roman" pitchFamily="18" charset="0"/>
              </a:rPr>
              <a:t>sequence number of the frame</a:t>
            </a:r>
            <a:r>
              <a:rPr lang="en-IN" sz="2400" dirty="0">
                <a:latin typeface="Times New Roman" pitchFamily="18" charset="0"/>
                <a:cs typeface="Times New Roman" pitchFamily="18" charset="0"/>
              </a:rPr>
              <a:t>. With 3 bits, we can define a sequence number between 0and 7.</a:t>
            </a:r>
          </a:p>
          <a:p>
            <a:pPr marL="624078" indent="-514350" algn="just">
              <a:buFont typeface="+mj-lt"/>
              <a:buAutoNum type="arabicPeriod"/>
            </a:pPr>
            <a:r>
              <a:rPr lang="en-IN" sz="2400" dirty="0">
                <a:latin typeface="Times New Roman" pitchFamily="18" charset="0"/>
                <a:cs typeface="Times New Roman" pitchFamily="18" charset="0"/>
              </a:rPr>
              <a:t>The </a:t>
            </a:r>
            <a:r>
              <a:rPr lang="en-IN" sz="2400" b="1" dirty="0">
                <a:latin typeface="Times New Roman" pitchFamily="18" charset="0"/>
                <a:cs typeface="Times New Roman" pitchFamily="18" charset="0"/>
              </a:rPr>
              <a:t>last 3 bits, called </a:t>
            </a:r>
            <a:r>
              <a:rPr lang="en-IN" sz="2400" b="1" i="1" dirty="0">
                <a:solidFill>
                  <a:srgbClr val="FF0000"/>
                </a:solidFill>
                <a:latin typeface="Times New Roman" pitchFamily="18" charset="0"/>
                <a:cs typeface="Times New Roman" pitchFamily="18" charset="0"/>
              </a:rPr>
              <a:t>N(R), </a:t>
            </a:r>
            <a:r>
              <a:rPr lang="en-IN" sz="2400" dirty="0">
                <a:latin typeface="Times New Roman" pitchFamily="18" charset="0"/>
                <a:cs typeface="Times New Roman" pitchFamily="18" charset="0"/>
              </a:rPr>
              <a:t>correspond to the </a:t>
            </a:r>
            <a:r>
              <a:rPr lang="en-IN" sz="2400" b="1" dirty="0">
                <a:latin typeface="Times New Roman" pitchFamily="18" charset="0"/>
                <a:cs typeface="Times New Roman" pitchFamily="18" charset="0"/>
              </a:rPr>
              <a:t>acknowledgment number when piggybacking is used. </a:t>
            </a:r>
          </a:p>
          <a:p>
            <a:pPr marL="624078" indent="-514350" algn="just">
              <a:buFont typeface="+mj-lt"/>
              <a:buAutoNum type="arabicPeriod"/>
            </a:pPr>
            <a:r>
              <a:rPr lang="en-IN" sz="2400" dirty="0">
                <a:latin typeface="Times New Roman" pitchFamily="18" charset="0"/>
                <a:cs typeface="Times New Roman" pitchFamily="18" charset="0"/>
              </a:rPr>
              <a:t>The </a:t>
            </a:r>
            <a:r>
              <a:rPr lang="en-IN" sz="2400" b="1" dirty="0">
                <a:latin typeface="Times New Roman" pitchFamily="18" charset="0"/>
                <a:cs typeface="Times New Roman" pitchFamily="18" charset="0"/>
              </a:rPr>
              <a:t>single bit </a:t>
            </a:r>
            <a:r>
              <a:rPr lang="en-IN" sz="2400" dirty="0">
                <a:latin typeface="Times New Roman" pitchFamily="18" charset="0"/>
                <a:cs typeface="Times New Roman" pitchFamily="18" charset="0"/>
              </a:rPr>
              <a:t>between </a:t>
            </a:r>
            <a:r>
              <a:rPr lang="en-IN" sz="2400" i="1" dirty="0">
                <a:latin typeface="Times New Roman" pitchFamily="18" charset="0"/>
                <a:cs typeface="Times New Roman" pitchFamily="18" charset="0"/>
              </a:rPr>
              <a:t>N(S) </a:t>
            </a:r>
            <a:r>
              <a:rPr lang="en-IN" sz="2400" dirty="0">
                <a:latin typeface="Times New Roman" pitchFamily="18" charset="0"/>
                <a:cs typeface="Times New Roman" pitchFamily="18" charset="0"/>
              </a:rPr>
              <a:t>and </a:t>
            </a:r>
            <a:r>
              <a:rPr lang="en-IN" sz="2400" i="1" dirty="0">
                <a:latin typeface="Times New Roman" pitchFamily="18" charset="0"/>
                <a:cs typeface="Times New Roman" pitchFamily="18" charset="0"/>
              </a:rPr>
              <a:t>N(R) </a:t>
            </a:r>
            <a:r>
              <a:rPr lang="en-IN" sz="2400" dirty="0">
                <a:latin typeface="Times New Roman" pitchFamily="18" charset="0"/>
                <a:cs typeface="Times New Roman" pitchFamily="18" charset="0"/>
              </a:rPr>
              <a:t>is called the </a:t>
            </a:r>
            <a:r>
              <a:rPr lang="en-IN" sz="2400" b="1" i="1" dirty="0">
                <a:solidFill>
                  <a:srgbClr val="FF0000"/>
                </a:solidFill>
                <a:latin typeface="Times New Roman" pitchFamily="18" charset="0"/>
                <a:cs typeface="Times New Roman" pitchFamily="18" charset="0"/>
              </a:rPr>
              <a:t>P/F </a:t>
            </a:r>
            <a:r>
              <a:rPr lang="en-IN" sz="2400" b="1" dirty="0">
                <a:solidFill>
                  <a:srgbClr val="FF0000"/>
                </a:solidFill>
                <a:latin typeface="Times New Roman" pitchFamily="18" charset="0"/>
                <a:cs typeface="Times New Roman" pitchFamily="18" charset="0"/>
              </a:rPr>
              <a:t>bit</a:t>
            </a:r>
            <a:r>
              <a:rPr lang="en-IN" sz="2400" dirty="0">
                <a:solidFill>
                  <a:srgbClr val="FF0000"/>
                </a:solidFill>
                <a:latin typeface="Times New Roman" pitchFamily="18" charset="0"/>
                <a:cs typeface="Times New Roman" pitchFamily="18" charset="0"/>
              </a:rPr>
              <a:t>. </a:t>
            </a:r>
          </a:p>
          <a:p>
            <a:pPr marL="109728" indent="0" algn="just">
              <a:buNone/>
            </a:pPr>
            <a:r>
              <a:rPr lang="en-IN" sz="2400" dirty="0">
                <a:latin typeface="Times New Roman" pitchFamily="18" charset="0"/>
                <a:cs typeface="Times New Roman" pitchFamily="18" charset="0"/>
              </a:rPr>
              <a:t>	It has meaning only when it is set </a:t>
            </a:r>
            <a:r>
              <a:rPr lang="en-IN" sz="2400" b="1" dirty="0">
                <a:latin typeface="Times New Roman" pitchFamily="18" charset="0"/>
                <a:cs typeface="Times New Roman" pitchFamily="18" charset="0"/>
              </a:rPr>
              <a:t>(bit = 1) </a:t>
            </a:r>
            <a:r>
              <a:rPr lang="en-IN" sz="2400" dirty="0">
                <a:latin typeface="Times New Roman" pitchFamily="18" charset="0"/>
                <a:cs typeface="Times New Roman" pitchFamily="18" charset="0"/>
              </a:rPr>
              <a:t>and can mean </a:t>
            </a:r>
            <a:r>
              <a:rPr lang="en-IN" sz="2400" dirty="0">
                <a:solidFill>
                  <a:srgbClr val="FF0000"/>
                </a:solidFill>
                <a:latin typeface="Times New Roman" pitchFamily="18" charset="0"/>
                <a:cs typeface="Times New Roman" pitchFamily="18" charset="0"/>
              </a:rPr>
              <a:t>Poll or Final</a:t>
            </a:r>
            <a:r>
              <a:rPr lang="en-IN" sz="2400" dirty="0">
                <a:latin typeface="Times New Roman" pitchFamily="18" charset="0"/>
                <a:cs typeface="Times New Roman" pitchFamily="18" charset="0"/>
              </a:rPr>
              <a:t>. It means </a:t>
            </a:r>
            <a:r>
              <a:rPr lang="en-IN" sz="2400" b="1" i="1" dirty="0">
                <a:solidFill>
                  <a:srgbClr val="FF0000"/>
                </a:solidFill>
                <a:latin typeface="Times New Roman" pitchFamily="18" charset="0"/>
                <a:cs typeface="Times New Roman" pitchFamily="18" charset="0"/>
              </a:rPr>
              <a:t>poll</a:t>
            </a:r>
            <a:r>
              <a:rPr lang="en-IN" sz="2400" i="1" dirty="0">
                <a:latin typeface="Times New Roman" pitchFamily="18" charset="0"/>
                <a:cs typeface="Times New Roman" pitchFamily="18" charset="0"/>
              </a:rPr>
              <a:t> </a:t>
            </a:r>
            <a:r>
              <a:rPr lang="en-IN" sz="2400" dirty="0">
                <a:latin typeface="Times New Roman" pitchFamily="18" charset="0"/>
                <a:cs typeface="Times New Roman" pitchFamily="18" charset="0"/>
              </a:rPr>
              <a:t>when the </a:t>
            </a:r>
            <a:r>
              <a:rPr lang="en-IN" sz="2400" b="1" dirty="0">
                <a:latin typeface="Times New Roman" pitchFamily="18" charset="0"/>
                <a:cs typeface="Times New Roman" pitchFamily="18" charset="0"/>
              </a:rPr>
              <a:t>frame is sent by a primary station to a secondary</a:t>
            </a:r>
            <a:r>
              <a:rPr lang="en-IN" sz="2400" dirty="0">
                <a:latin typeface="Times New Roman" pitchFamily="18" charset="0"/>
                <a:cs typeface="Times New Roman" pitchFamily="18" charset="0"/>
              </a:rPr>
              <a:t>. It means </a:t>
            </a:r>
            <a:r>
              <a:rPr lang="en-IN" sz="2400" b="1" i="1" dirty="0">
                <a:solidFill>
                  <a:srgbClr val="FF0000"/>
                </a:solidFill>
                <a:latin typeface="Times New Roman" pitchFamily="18" charset="0"/>
                <a:cs typeface="Times New Roman" pitchFamily="18" charset="0"/>
              </a:rPr>
              <a:t>final</a:t>
            </a:r>
            <a:r>
              <a:rPr lang="en-IN" sz="2400" i="1" dirty="0">
                <a:solidFill>
                  <a:srgbClr val="FF0000"/>
                </a:solidFill>
                <a:latin typeface="Times New Roman" pitchFamily="18" charset="0"/>
                <a:cs typeface="Times New Roman" pitchFamily="18" charset="0"/>
              </a:rPr>
              <a:t> </a:t>
            </a:r>
            <a:r>
              <a:rPr lang="en-IN" sz="2400" dirty="0">
                <a:latin typeface="Times New Roman" pitchFamily="18" charset="0"/>
                <a:cs typeface="Times New Roman" pitchFamily="18" charset="0"/>
              </a:rPr>
              <a:t>when the </a:t>
            </a:r>
            <a:r>
              <a:rPr lang="en-IN" sz="2400" b="1" dirty="0">
                <a:latin typeface="Times New Roman" pitchFamily="18" charset="0"/>
                <a:cs typeface="Times New Roman" pitchFamily="18" charset="0"/>
              </a:rPr>
              <a:t>frame is sent by a secondary to a primary.</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114</a:t>
            </a:fld>
            <a:endParaRPr lang="en-US"/>
          </a:p>
        </p:txBody>
      </p:sp>
    </p:spTree>
    <p:extLst>
      <p:ext uri="{BB962C8B-B14F-4D97-AF65-F5344CB8AC3E}">
        <p14:creationId xmlns:p14="http://schemas.microsoft.com/office/powerpoint/2010/main" val="27862182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073" y="658091"/>
            <a:ext cx="8229600" cy="602673"/>
          </a:xfrm>
        </p:spPr>
        <p:txBody>
          <a:bodyPr>
            <a:normAutofit fontScale="90000"/>
          </a:bodyPr>
          <a:lstStyle/>
          <a:p>
            <a:r>
              <a:rPr lang="en-IN" i="1" u="sng" dirty="0"/>
              <a:t>Control Field for S-Frames</a:t>
            </a:r>
            <a:endParaRPr lang="en-IN" u="sng" dirty="0"/>
          </a:p>
        </p:txBody>
      </p:sp>
      <p:sp>
        <p:nvSpPr>
          <p:cNvPr id="3" name="Content Placeholder 2"/>
          <p:cNvSpPr>
            <a:spLocks noGrp="1"/>
          </p:cNvSpPr>
          <p:nvPr>
            <p:ph idx="1"/>
          </p:nvPr>
        </p:nvSpPr>
        <p:spPr>
          <a:xfrm>
            <a:off x="401782" y="1201130"/>
            <a:ext cx="8589818" cy="5050536"/>
          </a:xfrm>
        </p:spPr>
        <p:txBody>
          <a:bodyPr>
            <a:noAutofit/>
          </a:bodyPr>
          <a:lstStyle/>
          <a:p>
            <a:pPr algn="just"/>
            <a:r>
              <a:rPr lang="en-IN" sz="2600" dirty="0">
                <a:latin typeface="Times New Roman" pitchFamily="18" charset="0"/>
                <a:cs typeface="Times New Roman" pitchFamily="18" charset="0"/>
              </a:rPr>
              <a:t>Supervisory frames are used for </a:t>
            </a:r>
            <a:r>
              <a:rPr lang="en-IN" sz="2600" dirty="0">
                <a:solidFill>
                  <a:srgbClr val="FF0000"/>
                </a:solidFill>
                <a:latin typeface="Times New Roman" pitchFamily="18" charset="0"/>
                <a:cs typeface="Times New Roman" pitchFamily="18" charset="0"/>
              </a:rPr>
              <a:t>flow and error control </a:t>
            </a:r>
            <a:r>
              <a:rPr lang="en-IN" sz="2600" dirty="0">
                <a:latin typeface="Times New Roman" pitchFamily="18" charset="0"/>
                <a:cs typeface="Times New Roman" pitchFamily="18" charset="0"/>
              </a:rPr>
              <a:t>whenever </a:t>
            </a:r>
            <a:r>
              <a:rPr lang="en-IN" sz="2600" dirty="0">
                <a:solidFill>
                  <a:srgbClr val="FF0000"/>
                </a:solidFill>
                <a:latin typeface="Times New Roman" pitchFamily="18" charset="0"/>
                <a:cs typeface="Times New Roman" pitchFamily="18" charset="0"/>
              </a:rPr>
              <a:t>piggybacking is either impossible or inappropriate </a:t>
            </a:r>
            <a:r>
              <a:rPr lang="en-IN" sz="2600" dirty="0">
                <a:latin typeface="Times New Roman" pitchFamily="18" charset="0"/>
                <a:cs typeface="Times New Roman" pitchFamily="18" charset="0"/>
              </a:rPr>
              <a:t>(e.g., when the station either has no data of its own to send or needs to send a command or response other than an acknowledgment). </a:t>
            </a:r>
          </a:p>
          <a:p>
            <a:pPr algn="just"/>
            <a:r>
              <a:rPr lang="en-IN" sz="2600" dirty="0">
                <a:latin typeface="Times New Roman" pitchFamily="18" charset="0"/>
                <a:cs typeface="Times New Roman" pitchFamily="18" charset="0"/>
              </a:rPr>
              <a:t>S-frames </a:t>
            </a:r>
            <a:r>
              <a:rPr lang="en-IN" sz="2600" b="1" dirty="0">
                <a:latin typeface="Times New Roman" pitchFamily="18" charset="0"/>
                <a:cs typeface="Times New Roman" pitchFamily="18" charset="0"/>
              </a:rPr>
              <a:t>do not have information fields</a:t>
            </a:r>
            <a:r>
              <a:rPr lang="en-IN" sz="2600" dirty="0">
                <a:latin typeface="Times New Roman" pitchFamily="18" charset="0"/>
                <a:cs typeface="Times New Roman" pitchFamily="18" charset="0"/>
              </a:rPr>
              <a:t>. If the first 2 bits of the control field is </a:t>
            </a:r>
            <a:r>
              <a:rPr lang="en-IN" sz="2600" b="1" dirty="0">
                <a:latin typeface="Times New Roman" pitchFamily="18" charset="0"/>
                <a:cs typeface="Times New Roman" pitchFamily="18" charset="0"/>
              </a:rPr>
              <a:t>10</a:t>
            </a:r>
            <a:r>
              <a:rPr lang="en-IN" sz="2600" dirty="0">
                <a:latin typeface="Times New Roman" pitchFamily="18" charset="0"/>
                <a:cs typeface="Times New Roman" pitchFamily="18" charset="0"/>
              </a:rPr>
              <a:t>, this means the frame is an S-frame. </a:t>
            </a:r>
          </a:p>
          <a:p>
            <a:pPr algn="just"/>
            <a:r>
              <a:rPr lang="en-IN" sz="2600" dirty="0">
                <a:latin typeface="Times New Roman" pitchFamily="18" charset="0"/>
                <a:cs typeface="Times New Roman" pitchFamily="18" charset="0"/>
              </a:rPr>
              <a:t>The </a:t>
            </a:r>
            <a:r>
              <a:rPr lang="en-IN" sz="2600" b="1" dirty="0">
                <a:solidFill>
                  <a:srgbClr val="FF0000"/>
                </a:solidFill>
                <a:latin typeface="Times New Roman" pitchFamily="18" charset="0"/>
                <a:cs typeface="Times New Roman" pitchFamily="18" charset="0"/>
              </a:rPr>
              <a:t>last 3 bits</a:t>
            </a:r>
            <a:r>
              <a:rPr lang="en-IN" sz="2600" dirty="0">
                <a:latin typeface="Times New Roman" pitchFamily="18" charset="0"/>
                <a:cs typeface="Times New Roman" pitchFamily="18" charset="0"/>
              </a:rPr>
              <a:t>, called </a:t>
            </a:r>
            <a:r>
              <a:rPr lang="en-IN" sz="2600" b="1" i="1" dirty="0">
                <a:solidFill>
                  <a:srgbClr val="FF0000"/>
                </a:solidFill>
                <a:latin typeface="Times New Roman" pitchFamily="18" charset="0"/>
                <a:cs typeface="Times New Roman" pitchFamily="18" charset="0"/>
              </a:rPr>
              <a:t>N(R), </a:t>
            </a:r>
            <a:r>
              <a:rPr lang="en-IN" sz="2600" dirty="0">
                <a:latin typeface="Times New Roman" pitchFamily="18" charset="0"/>
                <a:cs typeface="Times New Roman" pitchFamily="18" charset="0"/>
              </a:rPr>
              <a:t>corresponds to the </a:t>
            </a:r>
            <a:r>
              <a:rPr lang="en-IN" sz="2600" b="1" dirty="0">
                <a:latin typeface="Times New Roman" pitchFamily="18" charset="0"/>
                <a:cs typeface="Times New Roman" pitchFamily="18" charset="0"/>
              </a:rPr>
              <a:t>acknowledgment number (ACK) </a:t>
            </a:r>
            <a:r>
              <a:rPr lang="en-IN" sz="2600" dirty="0">
                <a:latin typeface="Times New Roman" pitchFamily="18" charset="0"/>
                <a:cs typeface="Times New Roman" pitchFamily="18" charset="0"/>
              </a:rPr>
              <a:t>or </a:t>
            </a:r>
            <a:r>
              <a:rPr lang="en-IN" sz="2600" b="1" dirty="0">
                <a:latin typeface="Times New Roman" pitchFamily="18" charset="0"/>
                <a:cs typeface="Times New Roman" pitchFamily="18" charset="0"/>
              </a:rPr>
              <a:t>negative acknowledgment number (NAK) </a:t>
            </a:r>
            <a:r>
              <a:rPr lang="en-IN" sz="2600" dirty="0">
                <a:latin typeface="Times New Roman" pitchFamily="18" charset="0"/>
                <a:cs typeface="Times New Roman" pitchFamily="18" charset="0"/>
              </a:rPr>
              <a:t>depending on the type of S-frame.</a:t>
            </a:r>
          </a:p>
          <a:p>
            <a:pPr algn="just"/>
            <a:r>
              <a:rPr lang="en-IN" sz="2600" dirty="0">
                <a:latin typeface="Times New Roman" pitchFamily="18" charset="0"/>
                <a:cs typeface="Times New Roman" pitchFamily="18" charset="0"/>
              </a:rPr>
              <a:t>The </a:t>
            </a:r>
            <a:r>
              <a:rPr lang="en-IN" sz="2600" b="1" dirty="0">
                <a:latin typeface="Times New Roman" pitchFamily="18" charset="0"/>
                <a:cs typeface="Times New Roman" pitchFamily="18" charset="0"/>
              </a:rPr>
              <a:t>2 bits </a:t>
            </a:r>
            <a:r>
              <a:rPr lang="en-IN" sz="2600" dirty="0">
                <a:latin typeface="Times New Roman" pitchFamily="18" charset="0"/>
                <a:cs typeface="Times New Roman" pitchFamily="18" charset="0"/>
              </a:rPr>
              <a:t>called </a:t>
            </a:r>
            <a:r>
              <a:rPr lang="en-IN" sz="2600" b="1" dirty="0">
                <a:solidFill>
                  <a:srgbClr val="FF0000"/>
                </a:solidFill>
                <a:latin typeface="Times New Roman" pitchFamily="18" charset="0"/>
                <a:cs typeface="Times New Roman" pitchFamily="18" charset="0"/>
              </a:rPr>
              <a:t>code</a:t>
            </a:r>
            <a:r>
              <a:rPr lang="en-IN" sz="2600" dirty="0">
                <a:latin typeface="Times New Roman" pitchFamily="18" charset="0"/>
                <a:cs typeface="Times New Roman" pitchFamily="18" charset="0"/>
              </a:rPr>
              <a:t> is used to define the </a:t>
            </a:r>
            <a:r>
              <a:rPr lang="en-IN" sz="2600" b="1" dirty="0">
                <a:latin typeface="Times New Roman" pitchFamily="18" charset="0"/>
                <a:cs typeface="Times New Roman" pitchFamily="18" charset="0"/>
              </a:rPr>
              <a:t>type of S-frame itself.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115</a:t>
            </a:fld>
            <a:endParaRPr lang="en-US"/>
          </a:p>
        </p:txBody>
      </p:sp>
    </p:spTree>
    <p:extLst>
      <p:ext uri="{BB962C8B-B14F-4D97-AF65-F5344CB8AC3E}">
        <p14:creationId xmlns:p14="http://schemas.microsoft.com/office/powerpoint/2010/main" val="25165269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116</a:t>
            </a:fld>
            <a:endParaRPr lang="en-US"/>
          </a:p>
        </p:txBody>
      </p:sp>
      <p:sp>
        <p:nvSpPr>
          <p:cNvPr id="5" name="Rectangle 3"/>
          <p:cNvSpPr txBox="1">
            <a:spLocks noChangeArrowheads="1"/>
          </p:cNvSpPr>
          <p:nvPr/>
        </p:nvSpPr>
        <p:spPr bwMode="auto">
          <a:xfrm>
            <a:off x="0" y="831273"/>
            <a:ext cx="9144000" cy="602672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algn="just">
              <a:buFont typeface="Wingdings" pitchFamily="2" charset="2"/>
              <a:buChar char="Ø"/>
            </a:pPr>
            <a:r>
              <a:rPr lang="en-IN" sz="2600" dirty="0">
                <a:latin typeface="Times New Roman" pitchFamily="18" charset="0"/>
                <a:cs typeface="Times New Roman" pitchFamily="18" charset="0"/>
              </a:rPr>
              <a:t>With 2 bits, we can have four types of S-frames, as described below:</a:t>
            </a:r>
            <a:endParaRPr lang="en-IN" sz="2600" u="sng" dirty="0">
              <a:solidFill>
                <a:schemeClr val="accent3">
                  <a:lumMod val="75000"/>
                </a:schemeClr>
              </a:solidFill>
              <a:latin typeface="Times New Roman" pitchFamily="18" charset="0"/>
              <a:cs typeface="Times New Roman" pitchFamily="18" charset="0"/>
            </a:endParaRPr>
          </a:p>
          <a:p>
            <a:pPr marL="342900" indent="-342900" algn="just">
              <a:buFont typeface="Wingdings" pitchFamily="2" charset="2"/>
              <a:buChar char="Ø"/>
            </a:pPr>
            <a:r>
              <a:rPr lang="en-IN" sz="2600" b="1" u="sng" dirty="0">
                <a:solidFill>
                  <a:schemeClr val="accent3">
                    <a:lumMod val="75000"/>
                  </a:schemeClr>
                </a:solidFill>
                <a:latin typeface="Times New Roman" pitchFamily="18" charset="0"/>
                <a:cs typeface="Times New Roman" pitchFamily="18" charset="0"/>
              </a:rPr>
              <a:t>Receive ready (RR).</a:t>
            </a:r>
          </a:p>
          <a:p>
            <a:pPr marL="914400" lvl="1" indent="-457200" algn="just">
              <a:buFont typeface="Wingdings" pitchFamily="2" charset="2"/>
              <a:buChar char="ü"/>
            </a:pPr>
            <a:r>
              <a:rPr lang="en-IN" sz="2600" dirty="0">
                <a:latin typeface="Times New Roman" pitchFamily="18" charset="0"/>
                <a:cs typeface="Times New Roman" pitchFamily="18" charset="0"/>
              </a:rPr>
              <a:t>If the value of the code subfield is </a:t>
            </a:r>
            <a:r>
              <a:rPr lang="en-IN" sz="2600" b="1" dirty="0">
                <a:solidFill>
                  <a:srgbClr val="FF0000"/>
                </a:solidFill>
                <a:latin typeface="Times New Roman" pitchFamily="18" charset="0"/>
                <a:cs typeface="Times New Roman" pitchFamily="18" charset="0"/>
              </a:rPr>
              <a:t>00</a:t>
            </a:r>
            <a:r>
              <a:rPr lang="en-IN" sz="2600" dirty="0">
                <a:latin typeface="Times New Roman" pitchFamily="18" charset="0"/>
                <a:cs typeface="Times New Roman" pitchFamily="18" charset="0"/>
              </a:rPr>
              <a:t>, it is an RR S-frame.</a:t>
            </a:r>
          </a:p>
          <a:p>
            <a:pPr marL="914400" lvl="1" indent="-457200" algn="just">
              <a:buFont typeface="Wingdings" pitchFamily="2" charset="2"/>
              <a:buChar char="ü"/>
            </a:pPr>
            <a:r>
              <a:rPr lang="en-IN" sz="2600" dirty="0">
                <a:latin typeface="Times New Roman" pitchFamily="18" charset="0"/>
                <a:cs typeface="Times New Roman" pitchFamily="18" charset="0"/>
              </a:rPr>
              <a:t>This kind of frame </a:t>
            </a:r>
            <a:r>
              <a:rPr lang="en-IN" sz="2600" b="1" dirty="0">
                <a:latin typeface="Times New Roman" pitchFamily="18" charset="0"/>
                <a:cs typeface="Times New Roman" pitchFamily="18" charset="0"/>
              </a:rPr>
              <a:t>acknowledges the receipt of a safe and sound frame or group of frames. </a:t>
            </a:r>
          </a:p>
          <a:p>
            <a:pPr marL="914400" lvl="1" indent="-457200" algn="just">
              <a:buFont typeface="Wingdings" pitchFamily="2" charset="2"/>
              <a:buChar char="ü"/>
            </a:pPr>
            <a:endParaRPr lang="en-IN" sz="2600" dirty="0">
              <a:latin typeface="Times New Roman" pitchFamily="18" charset="0"/>
              <a:cs typeface="Times New Roman" pitchFamily="18" charset="0"/>
            </a:endParaRPr>
          </a:p>
          <a:p>
            <a:pPr marL="285750" indent="-285750" algn="just">
              <a:buFont typeface="Wingdings" pitchFamily="2" charset="2"/>
              <a:buChar char="Ø"/>
            </a:pPr>
            <a:r>
              <a:rPr lang="en-US" sz="2600" u="sng" dirty="0">
                <a:solidFill>
                  <a:schemeClr val="accent3">
                    <a:lumMod val="75000"/>
                  </a:schemeClr>
                </a:solidFill>
                <a:latin typeface="Times New Roman" pitchFamily="18" charset="0"/>
                <a:cs typeface="Times New Roman" pitchFamily="18" charset="0"/>
              </a:rPr>
              <a:t> </a:t>
            </a:r>
            <a:r>
              <a:rPr lang="en-IN" sz="2600" b="1" u="sng" dirty="0">
                <a:solidFill>
                  <a:schemeClr val="accent3">
                    <a:lumMod val="75000"/>
                  </a:schemeClr>
                </a:solidFill>
                <a:latin typeface="Times New Roman" pitchFamily="18" charset="0"/>
                <a:cs typeface="Times New Roman" pitchFamily="18" charset="0"/>
              </a:rPr>
              <a:t>Receive not ready (RNR). </a:t>
            </a:r>
          </a:p>
          <a:p>
            <a:pPr marL="914400" lvl="1" indent="-457200" algn="just">
              <a:buFont typeface="Wingdings" pitchFamily="2" charset="2"/>
              <a:buChar char="ü"/>
            </a:pPr>
            <a:r>
              <a:rPr lang="en-IN" sz="2600" dirty="0">
                <a:latin typeface="Times New Roman" pitchFamily="18" charset="0"/>
                <a:cs typeface="Times New Roman" pitchFamily="18" charset="0"/>
              </a:rPr>
              <a:t>If the value of the code subfield is </a:t>
            </a:r>
            <a:r>
              <a:rPr lang="en-IN" sz="2600" dirty="0">
                <a:solidFill>
                  <a:srgbClr val="FF0000"/>
                </a:solidFill>
                <a:latin typeface="Times New Roman" pitchFamily="18" charset="0"/>
                <a:cs typeface="Times New Roman" pitchFamily="18" charset="0"/>
              </a:rPr>
              <a:t>10</a:t>
            </a:r>
            <a:r>
              <a:rPr lang="en-IN" sz="2600" dirty="0">
                <a:latin typeface="Times New Roman" pitchFamily="18" charset="0"/>
                <a:cs typeface="Times New Roman" pitchFamily="18" charset="0"/>
              </a:rPr>
              <a:t>, it is an RNR S-frame. </a:t>
            </a:r>
          </a:p>
          <a:p>
            <a:pPr marL="914400" lvl="1" indent="-457200" algn="just">
              <a:buFont typeface="Wingdings" pitchFamily="2" charset="2"/>
              <a:buChar char="ü"/>
            </a:pPr>
            <a:r>
              <a:rPr lang="en-IN" sz="2600" dirty="0">
                <a:latin typeface="Times New Roman" pitchFamily="18" charset="0"/>
                <a:cs typeface="Times New Roman" pitchFamily="18" charset="0"/>
              </a:rPr>
              <a:t>It </a:t>
            </a:r>
            <a:r>
              <a:rPr lang="en-IN" sz="2600" b="1" dirty="0">
                <a:latin typeface="Times New Roman" pitchFamily="18" charset="0"/>
                <a:cs typeface="Times New Roman" pitchFamily="18" charset="0"/>
              </a:rPr>
              <a:t>acknowledges the receipt of a frame or group of frames</a:t>
            </a:r>
            <a:r>
              <a:rPr lang="en-IN" sz="2600" dirty="0">
                <a:latin typeface="Times New Roman" pitchFamily="18" charset="0"/>
                <a:cs typeface="Times New Roman" pitchFamily="18" charset="0"/>
              </a:rPr>
              <a:t>, and it </a:t>
            </a:r>
            <a:r>
              <a:rPr lang="en-IN" sz="2600" b="1" dirty="0">
                <a:latin typeface="Times New Roman" pitchFamily="18" charset="0"/>
                <a:cs typeface="Times New Roman" pitchFamily="18" charset="0"/>
              </a:rPr>
              <a:t>announces that the receiver is busy and cannot receive more frames</a:t>
            </a:r>
            <a:r>
              <a:rPr lang="en-IN" sz="2600" dirty="0">
                <a:latin typeface="Times New Roman" pitchFamily="18" charset="0"/>
                <a:cs typeface="Times New Roman" pitchFamily="18" charset="0"/>
              </a:rPr>
              <a:t>. </a:t>
            </a:r>
          </a:p>
          <a:p>
            <a:pPr marL="914400" lvl="1" indent="-457200" algn="just">
              <a:buFont typeface="Wingdings" pitchFamily="2" charset="2"/>
              <a:buChar char="ü"/>
            </a:pPr>
            <a:r>
              <a:rPr lang="en-IN" sz="2600" dirty="0">
                <a:latin typeface="Times New Roman" pitchFamily="18" charset="0"/>
                <a:cs typeface="Times New Roman" pitchFamily="18" charset="0"/>
              </a:rPr>
              <a:t>It acts as a </a:t>
            </a:r>
            <a:r>
              <a:rPr lang="en-IN" sz="2600" dirty="0">
                <a:solidFill>
                  <a:srgbClr val="FF0000"/>
                </a:solidFill>
                <a:latin typeface="Times New Roman" pitchFamily="18" charset="0"/>
                <a:cs typeface="Times New Roman" pitchFamily="18" charset="0"/>
              </a:rPr>
              <a:t>kind of congestion control mechanism </a:t>
            </a:r>
            <a:r>
              <a:rPr lang="en-IN" sz="2600" dirty="0">
                <a:latin typeface="Times New Roman" pitchFamily="18" charset="0"/>
                <a:cs typeface="Times New Roman" pitchFamily="18" charset="0"/>
              </a:rPr>
              <a:t>by asking the sender to slow down. </a:t>
            </a:r>
            <a:endParaRPr lang="en-US" sz="2600" dirty="0">
              <a:latin typeface="Times New Roman" pitchFamily="18" charset="0"/>
              <a:cs typeface="Times New Roman" pitchFamily="18"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424609"/>
          </a:xfrm>
        </p:spPr>
        <p:txBody>
          <a:bodyPr>
            <a:normAutofit/>
          </a:bodyPr>
          <a:lstStyle/>
          <a:p>
            <a:pPr algn="just">
              <a:buFont typeface="Wingdings" pitchFamily="2" charset="2"/>
              <a:buChar char="Ø"/>
            </a:pPr>
            <a:r>
              <a:rPr lang="en-IN" b="1" u="sng" dirty="0">
                <a:solidFill>
                  <a:schemeClr val="accent3">
                    <a:lumMod val="75000"/>
                  </a:schemeClr>
                </a:solidFill>
                <a:latin typeface="Times New Roman" panose="02020603050405020304" pitchFamily="18" charset="0"/>
                <a:cs typeface="Times New Roman" panose="02020603050405020304" pitchFamily="18" charset="0"/>
              </a:rPr>
              <a:t>Reject (REJ). </a:t>
            </a:r>
          </a:p>
          <a:p>
            <a:pPr lvl="1" algn="just">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If the value of the code subfield is </a:t>
            </a:r>
            <a:r>
              <a:rPr lang="en-IN" dirty="0">
                <a:solidFill>
                  <a:srgbClr val="FF0000"/>
                </a:solidFill>
                <a:latin typeface="Times New Roman" panose="02020603050405020304" pitchFamily="18" charset="0"/>
                <a:cs typeface="Times New Roman" panose="02020603050405020304" pitchFamily="18" charset="0"/>
              </a:rPr>
              <a:t>01</a:t>
            </a:r>
            <a:r>
              <a:rPr lang="en-IN" dirty="0">
                <a:solidFill>
                  <a:schemeClr val="tx1"/>
                </a:solidFill>
                <a:latin typeface="Times New Roman" panose="02020603050405020304" pitchFamily="18" charset="0"/>
                <a:cs typeface="Times New Roman" panose="02020603050405020304" pitchFamily="18" charset="0"/>
              </a:rPr>
              <a:t>, it is a REJ S-frame. </a:t>
            </a:r>
          </a:p>
          <a:p>
            <a:pPr lvl="1" algn="just">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This is a </a:t>
            </a:r>
            <a:r>
              <a:rPr lang="en-IN" b="1" dirty="0">
                <a:solidFill>
                  <a:srgbClr val="FF0000"/>
                </a:solidFill>
                <a:latin typeface="Times New Roman" panose="02020603050405020304" pitchFamily="18" charset="0"/>
                <a:cs typeface="Times New Roman" panose="02020603050405020304" pitchFamily="18" charset="0"/>
              </a:rPr>
              <a:t>NAK frame</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informing the sender, before the sender time expires, that the last frame is lost or damaged. </a:t>
            </a:r>
          </a:p>
          <a:p>
            <a:pPr lvl="1" algn="just">
              <a:buFont typeface="Wingdings" pitchFamily="2" charset="2"/>
              <a:buChar char="ü"/>
            </a:pPr>
            <a:endParaRPr lang="en-IN" b="1" dirty="0">
              <a:latin typeface="Times New Roman" panose="02020603050405020304" pitchFamily="18" charset="0"/>
              <a:cs typeface="Times New Roman" panose="02020603050405020304" pitchFamily="18" charset="0"/>
            </a:endParaRPr>
          </a:p>
          <a:p>
            <a:pPr algn="just">
              <a:buFont typeface="Wingdings" pitchFamily="2" charset="2"/>
              <a:buChar char="Ø"/>
            </a:pPr>
            <a:r>
              <a:rPr lang="en-IN" b="1" u="sng" dirty="0">
                <a:solidFill>
                  <a:schemeClr val="accent3">
                    <a:lumMod val="75000"/>
                  </a:schemeClr>
                </a:solidFill>
                <a:latin typeface="Times New Roman" panose="02020603050405020304" pitchFamily="18" charset="0"/>
                <a:cs typeface="Times New Roman" panose="02020603050405020304" pitchFamily="18" charset="0"/>
              </a:rPr>
              <a:t>Selective reject (SREJ). </a:t>
            </a:r>
          </a:p>
          <a:p>
            <a:pPr lvl="1" algn="just">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If the value of the code subfield is </a:t>
            </a:r>
            <a:r>
              <a:rPr lang="en-IN" dirty="0">
                <a:solidFill>
                  <a:srgbClr val="FF0000"/>
                </a:solidFill>
                <a:latin typeface="Times New Roman" panose="02020603050405020304" pitchFamily="18" charset="0"/>
                <a:cs typeface="Times New Roman" panose="02020603050405020304" pitchFamily="18" charset="0"/>
              </a:rPr>
              <a:t>11</a:t>
            </a:r>
            <a:r>
              <a:rPr lang="en-IN" dirty="0">
                <a:solidFill>
                  <a:schemeClr val="tx1"/>
                </a:solidFill>
                <a:latin typeface="Times New Roman" panose="02020603050405020304" pitchFamily="18" charset="0"/>
                <a:cs typeface="Times New Roman" panose="02020603050405020304" pitchFamily="18" charset="0"/>
              </a:rPr>
              <a:t>, it is an SREJ S-frame.</a:t>
            </a:r>
          </a:p>
          <a:p>
            <a:pPr lvl="1" algn="just">
              <a:buFont typeface="Wingdings" pitchFamily="2" charset="2"/>
              <a:buChar char="ü"/>
            </a:pPr>
            <a:r>
              <a:rPr lang="en-IN" dirty="0">
                <a:solidFill>
                  <a:schemeClr val="tx1"/>
                </a:solidFill>
                <a:latin typeface="Times New Roman" panose="02020603050405020304" pitchFamily="18" charset="0"/>
                <a:cs typeface="Times New Roman" panose="02020603050405020304" pitchFamily="18" charset="0"/>
              </a:rPr>
              <a:t>This is a </a:t>
            </a:r>
            <a:r>
              <a:rPr lang="en-IN" dirty="0">
                <a:solidFill>
                  <a:srgbClr val="FF0000"/>
                </a:solidFill>
                <a:latin typeface="Times New Roman" panose="02020603050405020304" pitchFamily="18" charset="0"/>
                <a:cs typeface="Times New Roman" panose="02020603050405020304" pitchFamily="18" charset="0"/>
              </a:rPr>
              <a:t>NAK frame </a:t>
            </a:r>
            <a:r>
              <a:rPr lang="en-IN" dirty="0">
                <a:solidFill>
                  <a:schemeClr val="tx1"/>
                </a:solidFill>
                <a:latin typeface="Times New Roman" panose="02020603050405020304" pitchFamily="18" charset="0"/>
                <a:cs typeface="Times New Roman" panose="02020603050405020304" pitchFamily="18" charset="0"/>
              </a:rPr>
              <a:t>used in </a:t>
            </a:r>
            <a:r>
              <a:rPr lang="en-IN" dirty="0">
                <a:solidFill>
                  <a:srgbClr val="FF0000"/>
                </a:solidFill>
                <a:latin typeface="Times New Roman" panose="02020603050405020304" pitchFamily="18" charset="0"/>
                <a:cs typeface="Times New Roman" panose="02020603050405020304" pitchFamily="18" charset="0"/>
              </a:rPr>
              <a:t>Selective Repeat ARQ</a:t>
            </a:r>
            <a:r>
              <a:rPr lang="en-IN" dirty="0">
                <a:solidFill>
                  <a:schemeClr val="tx1"/>
                </a:solidFill>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117</a:t>
            </a:fld>
            <a:endParaRPr lang="en-US"/>
          </a:p>
        </p:txBody>
      </p:sp>
    </p:spTree>
    <p:extLst>
      <p:ext uri="{BB962C8B-B14F-4D97-AF65-F5344CB8AC3E}">
        <p14:creationId xmlns:p14="http://schemas.microsoft.com/office/powerpoint/2010/main" val="114537175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345" y="685800"/>
            <a:ext cx="8229600" cy="741218"/>
          </a:xfrm>
        </p:spPr>
        <p:txBody>
          <a:bodyPr>
            <a:normAutofit/>
          </a:bodyPr>
          <a:lstStyle/>
          <a:p>
            <a:r>
              <a:rPr lang="en-IN" i="1" u="sng" dirty="0">
                <a:hlinkClick r:id="rId2" action="ppaction://hlinksldjump"/>
              </a:rPr>
              <a:t>Control Field for U-Frames</a:t>
            </a:r>
            <a:endParaRPr lang="en-IN" u="sng" dirty="0"/>
          </a:p>
        </p:txBody>
      </p:sp>
      <p:sp>
        <p:nvSpPr>
          <p:cNvPr id="3" name="Content Placeholder 2"/>
          <p:cNvSpPr>
            <a:spLocks noGrp="1"/>
          </p:cNvSpPr>
          <p:nvPr>
            <p:ph idx="1"/>
          </p:nvPr>
        </p:nvSpPr>
        <p:spPr>
          <a:xfrm>
            <a:off x="457200" y="1704109"/>
            <a:ext cx="8229600" cy="4870427"/>
          </a:xfrm>
        </p:spPr>
        <p:txBody>
          <a:bodyPr>
            <a:normAutofit fontScale="92500" lnSpcReduction="10000"/>
          </a:bodyPr>
          <a:lstStyle/>
          <a:p>
            <a:pPr algn="just"/>
            <a:r>
              <a:rPr lang="en-IN" dirty="0">
                <a:latin typeface="Times New Roman" pitchFamily="18" charset="0"/>
                <a:cs typeface="Times New Roman" pitchFamily="18" charset="0"/>
              </a:rPr>
              <a:t>Unnumbered frames are used to exchange </a:t>
            </a:r>
            <a:r>
              <a:rPr lang="en-IN" dirty="0">
                <a:solidFill>
                  <a:srgbClr val="FF0000"/>
                </a:solidFill>
                <a:latin typeface="Times New Roman" pitchFamily="18" charset="0"/>
                <a:cs typeface="Times New Roman" pitchFamily="18" charset="0"/>
              </a:rPr>
              <a:t>session management and control information </a:t>
            </a:r>
            <a:r>
              <a:rPr lang="en-IN" dirty="0">
                <a:latin typeface="Times New Roman" pitchFamily="18" charset="0"/>
                <a:cs typeface="Times New Roman" pitchFamily="18" charset="0"/>
              </a:rPr>
              <a:t>between connected devices. </a:t>
            </a:r>
          </a:p>
          <a:p>
            <a:pPr algn="just"/>
            <a:r>
              <a:rPr lang="en-IN" dirty="0">
                <a:latin typeface="Times New Roman" pitchFamily="18" charset="0"/>
                <a:cs typeface="Times New Roman" pitchFamily="18" charset="0"/>
              </a:rPr>
              <a:t>U-frames contain an </a:t>
            </a:r>
            <a:r>
              <a:rPr lang="en-IN" dirty="0">
                <a:solidFill>
                  <a:srgbClr val="FF0000"/>
                </a:solidFill>
                <a:latin typeface="Times New Roman" pitchFamily="18" charset="0"/>
                <a:cs typeface="Times New Roman" pitchFamily="18" charset="0"/>
              </a:rPr>
              <a:t>information field</a:t>
            </a:r>
            <a:r>
              <a:rPr lang="en-IN" dirty="0">
                <a:latin typeface="Times New Roman" pitchFamily="18" charset="0"/>
                <a:cs typeface="Times New Roman" pitchFamily="18" charset="0"/>
              </a:rPr>
              <a:t>, but one </a:t>
            </a:r>
            <a:r>
              <a:rPr lang="en-IN" b="1" dirty="0">
                <a:latin typeface="Times New Roman" pitchFamily="18" charset="0"/>
                <a:cs typeface="Times New Roman" pitchFamily="18" charset="0"/>
              </a:rPr>
              <a:t>used for system management information</a:t>
            </a:r>
            <a:r>
              <a:rPr lang="en-IN" dirty="0">
                <a:latin typeface="Times New Roman" pitchFamily="18" charset="0"/>
                <a:cs typeface="Times New Roman" pitchFamily="18" charset="0"/>
              </a:rPr>
              <a:t>, not user data. </a:t>
            </a:r>
          </a:p>
          <a:p>
            <a:pPr algn="just"/>
            <a:r>
              <a:rPr lang="en-IN" dirty="0">
                <a:latin typeface="Times New Roman" pitchFamily="18" charset="0"/>
                <a:cs typeface="Times New Roman" pitchFamily="18" charset="0"/>
              </a:rPr>
              <a:t>As with S-frames, however, much of the information carried by U-frames is contained in </a:t>
            </a:r>
            <a:r>
              <a:rPr lang="en-IN" b="1" dirty="0">
                <a:latin typeface="Times New Roman" pitchFamily="18" charset="0"/>
                <a:cs typeface="Times New Roman" pitchFamily="18" charset="0"/>
              </a:rPr>
              <a:t>codes</a:t>
            </a:r>
            <a:r>
              <a:rPr lang="en-IN" dirty="0">
                <a:latin typeface="Times New Roman" pitchFamily="18" charset="0"/>
                <a:cs typeface="Times New Roman" pitchFamily="18" charset="0"/>
              </a:rPr>
              <a:t> included in the control field. </a:t>
            </a:r>
          </a:p>
          <a:p>
            <a:pPr algn="just"/>
            <a:r>
              <a:rPr lang="en-IN" b="1" dirty="0">
                <a:latin typeface="Times New Roman" pitchFamily="18" charset="0"/>
                <a:cs typeface="Times New Roman" pitchFamily="18" charset="0"/>
              </a:rPr>
              <a:t>U-frame codes </a:t>
            </a:r>
            <a:r>
              <a:rPr lang="en-IN" dirty="0">
                <a:latin typeface="Times New Roman" pitchFamily="18" charset="0"/>
                <a:cs typeface="Times New Roman" pitchFamily="18" charset="0"/>
              </a:rPr>
              <a:t>are divided into </a:t>
            </a:r>
            <a:r>
              <a:rPr lang="en-IN" b="1" dirty="0">
                <a:latin typeface="Times New Roman" pitchFamily="18" charset="0"/>
                <a:cs typeface="Times New Roman" pitchFamily="18" charset="0"/>
              </a:rPr>
              <a:t>two sections</a:t>
            </a:r>
            <a:r>
              <a:rPr lang="en-IN" dirty="0">
                <a:latin typeface="Times New Roman" pitchFamily="18" charset="0"/>
                <a:cs typeface="Times New Roman" pitchFamily="18" charset="0"/>
              </a:rPr>
              <a:t>: a </a:t>
            </a:r>
            <a:r>
              <a:rPr lang="en-IN" b="1" dirty="0">
                <a:latin typeface="Times New Roman" pitchFamily="18" charset="0"/>
                <a:cs typeface="Times New Roman" pitchFamily="18" charset="0"/>
              </a:rPr>
              <a:t>2-bit prefix before the P/F bit </a:t>
            </a:r>
            <a:r>
              <a:rPr lang="en-IN" dirty="0">
                <a:latin typeface="Times New Roman" pitchFamily="18" charset="0"/>
                <a:cs typeface="Times New Roman" pitchFamily="18" charset="0"/>
              </a:rPr>
              <a:t>and a </a:t>
            </a:r>
            <a:r>
              <a:rPr lang="en-IN" b="1" dirty="0">
                <a:latin typeface="Times New Roman" pitchFamily="18" charset="0"/>
                <a:cs typeface="Times New Roman" pitchFamily="18" charset="0"/>
              </a:rPr>
              <a:t>3-bit suffix after the P/F bit.</a:t>
            </a:r>
            <a:r>
              <a:rPr lang="en-IN" dirty="0">
                <a:latin typeface="Times New Roman" pitchFamily="18" charset="0"/>
                <a:cs typeface="Times New Roman" pitchFamily="18" charset="0"/>
              </a:rPr>
              <a:t> Together, these two segments (5 bits) can be used to create up to </a:t>
            </a:r>
            <a:r>
              <a:rPr lang="en-IN" b="1" dirty="0">
                <a:latin typeface="Times New Roman" pitchFamily="18" charset="0"/>
                <a:cs typeface="Times New Roman" pitchFamily="18" charset="0"/>
              </a:rPr>
              <a:t>32 different types of U-frames</a:t>
            </a:r>
            <a:r>
              <a:rPr lang="en-IN"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118</a:t>
            </a:fld>
            <a:endParaRPr lang="en-US"/>
          </a:p>
        </p:txBody>
      </p:sp>
    </p:spTree>
    <p:extLst>
      <p:ext uri="{BB962C8B-B14F-4D97-AF65-F5344CB8AC3E}">
        <p14:creationId xmlns:p14="http://schemas.microsoft.com/office/powerpoint/2010/main" val="398517505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119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65018"/>
            <a:ext cx="9144000" cy="598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599309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236" y="464127"/>
            <a:ext cx="8229600" cy="1066800"/>
          </a:xfrm>
        </p:spPr>
        <p:txBody>
          <a:bodyPr/>
          <a:lstStyle/>
          <a:p>
            <a:r>
              <a:rPr lang="en-IN" u="sng" dirty="0"/>
              <a:t>Connection/Disconnection</a:t>
            </a:r>
          </a:p>
        </p:txBody>
      </p:sp>
      <p:sp>
        <p:nvSpPr>
          <p:cNvPr id="3" name="Content Placeholder 2"/>
          <p:cNvSpPr>
            <a:spLocks noGrp="1"/>
          </p:cNvSpPr>
          <p:nvPr>
            <p:ph idx="1"/>
          </p:nvPr>
        </p:nvSpPr>
        <p:spPr>
          <a:xfrm>
            <a:off x="415636" y="1750660"/>
            <a:ext cx="8229600" cy="4325112"/>
          </a:xfrm>
        </p:spPr>
        <p:txBody>
          <a:bodyPr>
            <a:normAutofit/>
          </a:bodyPr>
          <a:lstStyle/>
          <a:p>
            <a:pPr algn="just"/>
            <a:r>
              <a:rPr lang="en-IN" sz="2600" dirty="0">
                <a:latin typeface="Times New Roman" pitchFamily="18" charset="0"/>
                <a:cs typeface="Times New Roman" pitchFamily="18" charset="0"/>
              </a:rPr>
              <a:t>Node A asks for a connection with a set </a:t>
            </a:r>
            <a:r>
              <a:rPr lang="en-IN" sz="2600" b="1" dirty="0">
                <a:latin typeface="Times New Roman" pitchFamily="18" charset="0"/>
                <a:cs typeface="Times New Roman" pitchFamily="18" charset="0"/>
              </a:rPr>
              <a:t>asynchronous balanced mode (SABM) frame;</a:t>
            </a:r>
          </a:p>
          <a:p>
            <a:pPr algn="just"/>
            <a:r>
              <a:rPr lang="en-IN" sz="2600" dirty="0">
                <a:latin typeface="Times New Roman" pitchFamily="18" charset="0"/>
                <a:cs typeface="Times New Roman" pitchFamily="18" charset="0"/>
              </a:rPr>
              <a:t>Node B gives a positive response with an </a:t>
            </a:r>
            <a:r>
              <a:rPr lang="en-IN" sz="2600" b="1" dirty="0">
                <a:latin typeface="Times New Roman" pitchFamily="18" charset="0"/>
                <a:cs typeface="Times New Roman" pitchFamily="18" charset="0"/>
              </a:rPr>
              <a:t>unnumbered acknowledgment (UA) frame. </a:t>
            </a:r>
          </a:p>
          <a:p>
            <a:pPr algn="just"/>
            <a:r>
              <a:rPr lang="en-IN" sz="2600" dirty="0">
                <a:latin typeface="Times New Roman" pitchFamily="18" charset="0"/>
                <a:cs typeface="Times New Roman" pitchFamily="18" charset="0"/>
              </a:rPr>
              <a:t>After these two exchanges, data can be transferred between the two nodes. </a:t>
            </a:r>
          </a:p>
          <a:p>
            <a:pPr algn="just"/>
            <a:r>
              <a:rPr lang="en-IN" sz="2600" dirty="0">
                <a:latin typeface="Times New Roman" pitchFamily="18" charset="0"/>
                <a:cs typeface="Times New Roman" pitchFamily="18" charset="0"/>
              </a:rPr>
              <a:t>After data transfer, node A sends a </a:t>
            </a:r>
            <a:r>
              <a:rPr lang="en-IN" sz="2600" b="1" dirty="0">
                <a:latin typeface="Times New Roman" pitchFamily="18" charset="0"/>
                <a:cs typeface="Times New Roman" pitchFamily="18" charset="0"/>
              </a:rPr>
              <a:t>DISC (disconnect) frame to release the connection</a:t>
            </a:r>
            <a:r>
              <a:rPr lang="en-IN" sz="2600" dirty="0">
                <a:latin typeface="Times New Roman" pitchFamily="18" charset="0"/>
                <a:cs typeface="Times New Roman" pitchFamily="18" charset="0"/>
              </a:rPr>
              <a:t>; it is confirmed by node B responding with a </a:t>
            </a:r>
            <a:r>
              <a:rPr lang="en-IN" sz="2600" b="1" dirty="0">
                <a:latin typeface="Times New Roman" pitchFamily="18" charset="0"/>
                <a:cs typeface="Times New Roman" pitchFamily="18" charset="0"/>
              </a:rPr>
              <a:t>UA (unnumbered acknowledgment)</a:t>
            </a:r>
          </a:p>
        </p:txBody>
      </p:sp>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120</a:t>
            </a:fld>
            <a:endParaRPr lang="en-US"/>
          </a:p>
        </p:txBody>
      </p:sp>
    </p:spTree>
    <p:extLst>
      <p:ext uri="{BB962C8B-B14F-4D97-AF65-F5344CB8AC3E}">
        <p14:creationId xmlns:p14="http://schemas.microsoft.com/office/powerpoint/2010/main" val="176483081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31DD258-A623-490B-8242-C077DDB146DD}" type="slidenum">
              <a:rPr lang="en-US" smtClean="0"/>
              <a:pPr>
                <a:defRPr/>
              </a:pPr>
              <a:t>121</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0144" y="152401"/>
            <a:ext cx="6691747"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13369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7284</TotalTime>
  <Words>8284</Words>
  <Application>Microsoft Office PowerPoint</Application>
  <PresentationFormat>On-screen Show (4:3)</PresentationFormat>
  <Paragraphs>725</Paragraphs>
  <Slides>121</Slides>
  <Notes>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121</vt:i4>
      </vt:variant>
    </vt:vector>
  </HeadingPairs>
  <TitlesOfParts>
    <vt:vector size="130" baseType="lpstr">
      <vt:lpstr>Arial</vt:lpstr>
      <vt:lpstr>Calibri</vt:lpstr>
      <vt:lpstr>Georgia</vt:lpstr>
      <vt:lpstr>Times New Roman</vt:lpstr>
      <vt:lpstr>Trebuchet MS</vt:lpstr>
      <vt:lpstr>Wingdings</vt:lpstr>
      <vt:lpstr>Wingdings 2</vt:lpstr>
      <vt:lpstr>Urban</vt:lpstr>
      <vt:lpstr>Bitmap Image</vt:lpstr>
      <vt:lpstr>Module II The Data Link Layer (DLL)</vt:lpstr>
      <vt:lpstr>PowerPoint Presentation</vt:lpstr>
      <vt:lpstr>Data Link Layer Design Issues</vt:lpstr>
      <vt:lpstr>Functions of the Data Link Layer</vt:lpstr>
      <vt:lpstr>Functions of the Data Link Layer</vt:lpstr>
      <vt:lpstr> Services provided to the Network Layer</vt:lpstr>
      <vt:lpstr> Services provided to the Network Layer</vt:lpstr>
      <vt:lpstr>PowerPoint Presentation</vt:lpstr>
      <vt:lpstr>PowerPoint Presentation</vt:lpstr>
      <vt:lpstr>PowerPoint Presentation</vt:lpstr>
      <vt:lpstr>PowerPoint Presentation</vt:lpstr>
      <vt:lpstr> Framing</vt:lpstr>
      <vt:lpstr>  Framing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Problems</vt:lpstr>
      <vt:lpstr>PowerPoint Presentation</vt:lpstr>
      <vt:lpstr>solution</vt:lpstr>
      <vt:lpstr>PowerPoint Presentation</vt:lpstr>
      <vt:lpstr>Framing (Bit stuffing)</vt:lpstr>
      <vt:lpstr>PowerPoint Presentation</vt:lpstr>
      <vt:lpstr>PowerPoint Presentation</vt:lpstr>
      <vt:lpstr>PowerPoint Presentation</vt:lpstr>
      <vt:lpstr> Error Control</vt:lpstr>
      <vt:lpstr>PowerPoint Presentation</vt:lpstr>
      <vt:lpstr> Flow Control</vt:lpstr>
      <vt:lpstr>Error detection and correction</vt:lpstr>
      <vt:lpstr>PowerPoint Presentation</vt:lpstr>
      <vt:lpstr>Types of error</vt:lpstr>
      <vt:lpstr>PowerPoint Presentation</vt:lpstr>
      <vt:lpstr>PowerPoint Presentation</vt:lpstr>
      <vt:lpstr>Error Detection and Correction</vt:lpstr>
      <vt:lpstr>Error-Correcting Codes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 Detection</vt:lpstr>
      <vt:lpstr>Parity</vt:lpstr>
      <vt:lpstr>PowerPoint Presentation</vt:lpstr>
      <vt:lpstr>PowerPoint Presentation</vt:lpstr>
      <vt:lpstr>PowerPoint Presentation</vt:lpstr>
      <vt:lpstr>PowerPoint Presentation</vt:lpstr>
      <vt:lpstr>PowerPoint Presentation</vt:lpstr>
      <vt:lpstr>PowerPoint Presentation</vt:lpstr>
      <vt:lpstr>CRC encoder and decoder</vt:lpstr>
      <vt:lpstr>Division in CRC encoder</vt:lpstr>
      <vt:lpstr>Division in the CRC decoder for two cases</vt:lpstr>
      <vt:lpstr>Error Detection</vt:lpstr>
      <vt:lpstr>Error Detection</vt:lpstr>
      <vt:lpstr>Error-Detecting Codes</vt:lpstr>
      <vt:lpstr>Error-Detecting Codes</vt:lpstr>
      <vt:lpstr>PowerPoint Presentation</vt:lpstr>
      <vt:lpstr>PowerPoint Presentation</vt:lpstr>
      <vt:lpstr>Sliding Window Protocols</vt:lpstr>
      <vt:lpstr>PowerPoint Presentation</vt:lpstr>
      <vt:lpstr>PowerPoint Presentation</vt:lpstr>
      <vt:lpstr>PowerPoint Presentation</vt:lpstr>
      <vt:lpstr>PowerPoint Presentation</vt:lpstr>
      <vt:lpstr>Sliding Window Protocols</vt:lpstr>
      <vt:lpstr>PowerPoint Presentation</vt:lpstr>
      <vt:lpstr>Sliding Window Protocols</vt:lpstr>
      <vt:lpstr>PowerPoint Presentation</vt:lpstr>
      <vt:lpstr>PowerPoint Presentation</vt:lpstr>
      <vt:lpstr>PowerPoint Presentation</vt:lpstr>
      <vt:lpstr>PowerPoint Presentation</vt:lpstr>
      <vt:lpstr>PowerPoint Presentation</vt:lpstr>
      <vt:lpstr>PowerPoint Presentation</vt:lpstr>
      <vt:lpstr>Sliding Window Protocols</vt:lpstr>
      <vt:lpstr>A One-Bit Sliding Window Protocol</vt:lpstr>
      <vt:lpstr>A One-Bit Sliding Window Protocol</vt:lpstr>
      <vt:lpstr>PowerPoint Presentation</vt:lpstr>
      <vt:lpstr>PowerPoint Presentation</vt:lpstr>
      <vt:lpstr>Sliding Window Protocol Using Go Back N</vt:lpstr>
      <vt:lpstr>Sliding Window Protocol Using Go Back N</vt:lpstr>
      <vt:lpstr>PowerPoint Presentation</vt:lpstr>
      <vt:lpstr>PowerPoint Presentation</vt:lpstr>
      <vt:lpstr>PowerPoint Presentation</vt:lpstr>
      <vt:lpstr>PowerPoint Presentation</vt:lpstr>
      <vt:lpstr>Sliding Window Protocol Using Selective Repeat</vt:lpstr>
      <vt:lpstr>PowerPoint Presentation</vt:lpstr>
      <vt:lpstr>PowerPoint Presentation</vt:lpstr>
      <vt:lpstr>PowerPoint Presentation</vt:lpstr>
      <vt:lpstr>PowerPoint Presentation</vt:lpstr>
      <vt:lpstr>PowerPoint Presentation</vt:lpstr>
      <vt:lpstr>A Sliding Window Protocol Using Selective Repeat</vt:lpstr>
      <vt:lpstr>PowerPoint Presentation</vt:lpstr>
      <vt:lpstr>PowerPoint Presentation</vt:lpstr>
      <vt:lpstr>PowerPoint Presentation</vt:lpstr>
      <vt:lpstr>PowerPoint Presentation</vt:lpstr>
      <vt:lpstr>Data Link Protocols</vt:lpstr>
      <vt:lpstr>HDLC</vt:lpstr>
      <vt:lpstr>PowerPoint Presentation</vt:lpstr>
      <vt:lpstr>PowerPoint Presentation</vt:lpstr>
      <vt:lpstr>PowerPoint Presentation</vt:lpstr>
      <vt:lpstr>PowerPoint Presentation</vt:lpstr>
      <vt:lpstr>Frames</vt:lpstr>
      <vt:lpstr>Frame Format</vt:lpstr>
      <vt:lpstr>PowerPoint Presentation</vt:lpstr>
      <vt:lpstr>PowerPoint Presentation</vt:lpstr>
      <vt:lpstr>Control Field</vt:lpstr>
      <vt:lpstr>Control Field for I-Frames</vt:lpstr>
      <vt:lpstr>Control Field for S-Frames</vt:lpstr>
      <vt:lpstr>PowerPoint Presentation</vt:lpstr>
      <vt:lpstr>PowerPoint Presentation</vt:lpstr>
      <vt:lpstr>Control Field for U-Frames</vt:lpstr>
      <vt:lpstr>PowerPoint Presentation</vt:lpstr>
      <vt:lpstr>Connection/Disconnection</vt:lpstr>
      <vt:lpstr>PowerPoint Presentation</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Data Link Layer</dc:title>
  <dc:creator>Steve Armstrong</dc:creator>
  <cp:lastModifiedBy>Silpa</cp:lastModifiedBy>
  <cp:revision>482</cp:revision>
  <dcterms:created xsi:type="dcterms:W3CDTF">2002-07-07T21:28:42Z</dcterms:created>
  <dcterms:modified xsi:type="dcterms:W3CDTF">2023-10-04T23:50:13Z</dcterms:modified>
</cp:coreProperties>
</file>