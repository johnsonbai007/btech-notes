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2"/>
  </p:notesMasterIdLst>
  <p:sldIdLst>
    <p:sldId id="256" r:id="rId2"/>
    <p:sldId id="257" r:id="rId3"/>
    <p:sldId id="258" r:id="rId4"/>
    <p:sldId id="259" r:id="rId5"/>
    <p:sldId id="260" r:id="rId6"/>
    <p:sldId id="277" r:id="rId7"/>
    <p:sldId id="278" r:id="rId8"/>
    <p:sldId id="279" r:id="rId9"/>
    <p:sldId id="280" r:id="rId10"/>
    <p:sldId id="281" r:id="rId11"/>
    <p:sldId id="282" r:id="rId12"/>
    <p:sldId id="283" r:id="rId13"/>
    <p:sldId id="261"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3" r:id="rId48"/>
    <p:sldId id="344" r:id="rId49"/>
    <p:sldId id="345" r:id="rId50"/>
    <p:sldId id="346" r:id="rId51"/>
    <p:sldId id="347" r:id="rId52"/>
    <p:sldId id="348" r:id="rId53"/>
    <p:sldId id="267" r:id="rId54"/>
    <p:sldId id="268" r:id="rId55"/>
    <p:sldId id="269" r:id="rId56"/>
    <p:sldId id="270" r:id="rId57"/>
    <p:sldId id="271" r:id="rId58"/>
    <p:sldId id="272" r:id="rId59"/>
    <p:sldId id="273" r:id="rId60"/>
    <p:sldId id="349" r:id="rId61"/>
    <p:sldId id="350" r:id="rId62"/>
    <p:sldId id="351" r:id="rId63"/>
    <p:sldId id="352" r:id="rId64"/>
    <p:sldId id="353" r:id="rId65"/>
    <p:sldId id="354" r:id="rId66"/>
    <p:sldId id="355" r:id="rId67"/>
    <p:sldId id="262" r:id="rId68"/>
    <p:sldId id="263" r:id="rId69"/>
    <p:sldId id="264" r:id="rId70"/>
    <p:sldId id="356" r:id="rId71"/>
    <p:sldId id="357" r:id="rId72"/>
    <p:sldId id="265" r:id="rId73"/>
    <p:sldId id="266" r:id="rId74"/>
    <p:sldId id="358" r:id="rId75"/>
    <p:sldId id="359" r:id="rId76"/>
    <p:sldId id="360" r:id="rId77"/>
    <p:sldId id="361" r:id="rId78"/>
    <p:sldId id="274" r:id="rId79"/>
    <p:sldId id="275" r:id="rId80"/>
    <p:sldId id="276" r:id="rId8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10F6D1-F4AC-4CC3-9A52-4D4404A4D236}" type="datetimeFigureOut">
              <a:rPr lang="en-IN" smtClean="0"/>
              <a:t>10-02-2026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B2EEB6-2F9B-4832-985E-59440FD7AF68}" type="slidenum">
              <a:rPr lang="en-IN" smtClean="0"/>
              <a:t>‹#›</a:t>
            </a:fld>
            <a:endParaRPr lang="en-IN"/>
          </a:p>
        </p:txBody>
      </p:sp>
    </p:spTree>
    <p:extLst>
      <p:ext uri="{BB962C8B-B14F-4D97-AF65-F5344CB8AC3E}">
        <p14:creationId xmlns:p14="http://schemas.microsoft.com/office/powerpoint/2010/main" val="1280702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7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p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7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3" name="Google Shape;493;p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3" name="Google Shape;503;p8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p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8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8" name="Google Shape;528;p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p9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p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Data and Computer Communication</a:t>
            </a:r>
          </a:p>
          <a:p>
            <a:r>
              <a:t>Module 5</a:t>
            </a:r>
          </a:p>
        </p:txBody>
      </p:sp>
      <p:sp>
        <p:nvSpPr>
          <p:cNvPr id="3" name="Subtitle 2"/>
          <p:cNvSpPr>
            <a:spLocks noGrp="1"/>
          </p:cNvSpPr>
          <p:nvPr>
            <p:ph type="subTitle" idx="1"/>
          </p:nvPr>
        </p:nvSpPr>
        <p:spPr/>
        <p:txBody>
          <a:bodyPr>
            <a:normAutofit fontScale="85000" lnSpcReduction="20000"/>
          </a:bodyPr>
          <a:lstStyle/>
          <a:p>
            <a:r>
              <a:t>Error Detection, Correction, and Switching</a:t>
            </a:r>
          </a:p>
          <a:p>
            <a:endParaRPr/>
          </a:p>
          <a:p>
            <a:r>
              <a:t>Course Code: CXT 416</a:t>
            </a:r>
          </a:p>
          <a:p>
            <a:r>
              <a:t>Dept. of Computer Science &amp;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Table of Contents</a:t>
            </a:r>
          </a:p>
        </p:txBody>
      </p:sp>
      <p:sp>
        <p:nvSpPr>
          <p:cNvPr id="3" name="Content Placeholder 2"/>
          <p:cNvSpPr>
            <a:spLocks noGrp="1"/>
          </p:cNvSpPr>
          <p:nvPr>
            <p:ph idx="1"/>
          </p:nvPr>
        </p:nvSpPr>
        <p:spPr>
          <a:xfrm>
            <a:off x="381000" y="1055915"/>
            <a:ext cx="8229600" cy="4525963"/>
          </a:xfrm>
        </p:spPr>
        <p:txBody>
          <a:bodyPr>
            <a:normAutofit fontScale="85000" lnSpcReduction="20000"/>
          </a:bodyPr>
          <a:lstStyle/>
          <a:p>
            <a:pPr marL="0" indent="0">
              <a:buNone/>
            </a:pPr>
            <a:endParaRPr dirty="0"/>
          </a:p>
          <a:p>
            <a:pPr marL="0" indent="0">
              <a:buNone/>
              <a:defRPr sz="2000"/>
            </a:pPr>
            <a:r>
              <a:rPr dirty="0"/>
              <a:t>1. Digital Data Communication Techniques</a:t>
            </a:r>
          </a:p>
          <a:p>
            <a:pPr marL="0" indent="0">
              <a:buNone/>
              <a:defRPr sz="2000"/>
            </a:pPr>
            <a:r>
              <a:rPr dirty="0"/>
              <a:t>   - Asynchronous Transmission</a:t>
            </a:r>
          </a:p>
          <a:p>
            <a:pPr marL="0" indent="0">
              <a:buNone/>
              <a:defRPr sz="2000"/>
            </a:pPr>
            <a:r>
              <a:rPr dirty="0"/>
              <a:t>   - Synchronous Transmission</a:t>
            </a:r>
          </a:p>
          <a:p>
            <a:pPr marL="0" indent="0">
              <a:buNone/>
              <a:defRPr sz="2000"/>
            </a:pPr>
            <a:r>
              <a:rPr dirty="0"/>
              <a:t>2. Error Detection</a:t>
            </a:r>
          </a:p>
          <a:p>
            <a:pPr marL="0" indent="0">
              <a:buNone/>
              <a:defRPr sz="2000"/>
            </a:pPr>
            <a:r>
              <a:rPr dirty="0"/>
              <a:t>   - Types of Errors</a:t>
            </a:r>
          </a:p>
          <a:p>
            <a:pPr marL="0" indent="0">
              <a:buNone/>
              <a:defRPr sz="2000"/>
            </a:pPr>
            <a:r>
              <a:rPr dirty="0"/>
              <a:t>   - Parity Check (1D &amp; 2D)</a:t>
            </a:r>
          </a:p>
          <a:p>
            <a:pPr marL="0" indent="0">
              <a:buNone/>
              <a:defRPr sz="2000"/>
            </a:pPr>
            <a:r>
              <a:rPr dirty="0"/>
              <a:t>   - Cyclic Redundancy Check (CRC)</a:t>
            </a:r>
          </a:p>
          <a:p>
            <a:pPr marL="0" indent="0">
              <a:buNone/>
              <a:defRPr sz="2000"/>
            </a:pPr>
            <a:r>
              <a:rPr dirty="0"/>
              <a:t>   - CRC Architecture &amp; Shift Register</a:t>
            </a:r>
          </a:p>
          <a:p>
            <a:pPr marL="0" indent="0">
              <a:buNone/>
              <a:defRPr sz="2000"/>
            </a:pPr>
            <a:r>
              <a:rPr dirty="0"/>
              <a:t>3. Error Correction</a:t>
            </a:r>
          </a:p>
          <a:p>
            <a:pPr marL="0" indent="0">
              <a:buNone/>
              <a:defRPr sz="2000"/>
            </a:pPr>
            <a:r>
              <a:rPr dirty="0"/>
              <a:t>   - Hamming Distance</a:t>
            </a:r>
          </a:p>
          <a:p>
            <a:pPr marL="0" indent="0">
              <a:buNone/>
              <a:defRPr sz="2000"/>
            </a:pPr>
            <a:r>
              <a:rPr dirty="0"/>
              <a:t>   - Hamming Code (7-bit Example)</a:t>
            </a:r>
          </a:p>
          <a:p>
            <a:pPr marL="0" indent="0">
              <a:buNone/>
              <a:defRPr sz="2000"/>
            </a:pPr>
            <a:r>
              <a:rPr dirty="0"/>
              <a:t>4. Switching Techniques</a:t>
            </a:r>
          </a:p>
          <a:p>
            <a:pPr marL="0" indent="0">
              <a:buNone/>
              <a:defRPr sz="2000"/>
            </a:pPr>
            <a:r>
              <a:rPr dirty="0"/>
              <a:t>   - Circuit Switching</a:t>
            </a:r>
          </a:p>
          <a:p>
            <a:pPr marL="0" indent="0">
              <a:buNone/>
              <a:defRPr sz="2000"/>
            </a:pPr>
            <a:r>
              <a:rPr dirty="0"/>
              <a:t>   - Packet Switching (Datagram &amp; Virtual Circuit)</a:t>
            </a:r>
          </a:p>
          <a:p>
            <a:pPr marL="0" indent="0">
              <a:buNone/>
              <a:defRPr sz="2000"/>
            </a:pPr>
            <a:r>
              <a:rPr dirty="0"/>
              <a:t>   - Message Switching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162958"/>
            <a:ext cx="7772400" cy="1362075"/>
          </a:xfrm>
        </p:spPr>
        <p:txBody>
          <a:bodyPr/>
          <a:lstStyle/>
          <a:p>
            <a:r>
              <a:rPr dirty="0"/>
              <a:t>1. Digital Data Communication Techniques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Asynchronous Transmission</a:t>
            </a:r>
          </a:p>
        </p:txBody>
      </p:sp>
      <p:sp>
        <p:nvSpPr>
          <p:cNvPr id="3" name="Content Placeholder 2"/>
          <p:cNvSpPr>
            <a:spLocks noGrp="1"/>
          </p:cNvSpPr>
          <p:nvPr>
            <p:ph idx="1"/>
          </p:nvPr>
        </p:nvSpPr>
        <p:spPr>
          <a:xfrm>
            <a:off x="457200" y="1166018"/>
            <a:ext cx="8229600" cy="4525963"/>
          </a:xfrm>
        </p:spPr>
        <p:txBody>
          <a:bodyPr>
            <a:normAutofit fontScale="92500" lnSpcReduction="10000"/>
          </a:bodyPr>
          <a:lstStyle/>
          <a:p>
            <a:pPr marL="0" indent="0">
              <a:buNone/>
            </a:pPr>
            <a:r>
              <a:rPr dirty="0"/>
              <a:t>Character-Based Transmission</a:t>
            </a:r>
          </a:p>
          <a:p>
            <a:pPr marL="457200" lvl="1" indent="0">
              <a:buNone/>
            </a:pPr>
            <a:r>
              <a:rPr dirty="0"/>
              <a:t>Architecture &amp; Flow:</a:t>
            </a:r>
          </a:p>
          <a:p>
            <a:pPr marL="914400" lvl="2" indent="0">
              <a:buNone/>
            </a:pPr>
            <a:r>
              <a:rPr dirty="0"/>
              <a:t>• In asynchronous transmission, data is sent one character (usually 8 bits) at a time.</a:t>
            </a:r>
          </a:p>
          <a:p>
            <a:pPr marL="914400" lvl="2" indent="0">
              <a:buNone/>
            </a:pPr>
            <a:r>
              <a:rPr dirty="0"/>
              <a:t>• Synchronization is maintained only within each character, not the whole stream.</a:t>
            </a:r>
          </a:p>
          <a:p>
            <a:pPr marL="914400" lvl="2" indent="0">
              <a:buNone/>
            </a:pPr>
            <a:r>
              <a:rPr dirty="0"/>
              <a:t>• Format: [Start Bit (0)] + [Data Bits (8)] + [Stop Bit (1)]</a:t>
            </a:r>
          </a:p>
          <a:p>
            <a:pPr marL="457200" lvl="1" indent="0">
              <a:buNone/>
            </a:pPr>
            <a:r>
              <a:rPr dirty="0"/>
              <a:t>Characteristics:</a:t>
            </a:r>
          </a:p>
          <a:p>
            <a:pPr marL="914400" lvl="2" indent="0">
              <a:buNone/>
            </a:pPr>
            <a:r>
              <a:rPr dirty="0"/>
              <a:t>• Simple and cheap implementation.</a:t>
            </a:r>
          </a:p>
          <a:p>
            <a:pPr marL="914400" lvl="2" indent="0">
              <a:buNone/>
            </a:pPr>
            <a:r>
              <a:rPr dirty="0"/>
              <a:t>• High overhead (2-3 extra bits per character).</a:t>
            </a:r>
          </a:p>
          <a:p>
            <a:pPr marL="914400" lvl="2" indent="0">
              <a:buNone/>
            </a:pPr>
            <a:r>
              <a:rPr dirty="0"/>
              <a:t>• Used in low-speed communication (e.g., Keyboards).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Synchronous Transmission</a:t>
            </a:r>
          </a:p>
        </p:txBody>
      </p:sp>
      <p:sp>
        <p:nvSpPr>
          <p:cNvPr id="3" name="Content Placeholder 2"/>
          <p:cNvSpPr>
            <a:spLocks noGrp="1"/>
          </p:cNvSpPr>
          <p:nvPr>
            <p:ph idx="1"/>
          </p:nvPr>
        </p:nvSpPr>
        <p:spPr/>
        <p:txBody>
          <a:bodyPr>
            <a:normAutofit lnSpcReduction="10000"/>
          </a:bodyPr>
          <a:lstStyle/>
          <a:p>
            <a:r>
              <a:t>Block-Based Transmission</a:t>
            </a:r>
          </a:p>
          <a:p>
            <a:pPr lvl="1"/>
            <a:r>
              <a:t>Architecture &amp; Flow:</a:t>
            </a:r>
          </a:p>
          <a:p>
            <a:pPr lvl="2"/>
            <a:r>
              <a:t>• Data is sent as a continuous stream of bits, grouped into large frames or blocks.</a:t>
            </a:r>
          </a:p>
          <a:p>
            <a:pPr lvl="2"/>
            <a:r>
              <a:t>• Requires a common clock line or embedded timing signal.</a:t>
            </a:r>
          </a:p>
          <a:p>
            <a:pPr lvl="2"/>
            <a:r>
              <a:t>• No gaps between characters.</a:t>
            </a:r>
          </a:p>
          <a:p>
            <a:pPr lvl="1"/>
            <a:r>
              <a:t>Frame Format:</a:t>
            </a:r>
          </a:p>
          <a:p>
            <a:pPr lvl="2">
              <a:defRPr>
                <a:latin typeface="Courier New"/>
              </a:defRPr>
            </a:pPr>
            <a:r>
              <a:t>[Preamble] [Control Fields] [Data Block] [Error Check] [Postamble]</a:t>
            </a:r>
          </a:p>
          <a:p>
            <a:pPr lvl="2"/>
            <a:r>
              <a:t>• Efficient for large data transfers (less overhead).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866C681-230B-0F98-DA0C-7E2EBE05FAB9}"/>
              </a:ext>
            </a:extLst>
          </p:cNvPr>
          <p:cNvSpPr>
            <a:spLocks noGrp="1" noChangeArrowheads="1"/>
          </p:cNvSpPr>
          <p:nvPr>
            <p:ph type="title"/>
          </p:nvPr>
        </p:nvSpPr>
        <p:spPr/>
        <p:txBody>
          <a:bodyPr>
            <a:normAutofit fontScale="90000"/>
          </a:bodyPr>
          <a:lstStyle/>
          <a:p>
            <a:r>
              <a:rPr lang="en-US" altLang="en-US"/>
              <a:t>Asynchronous and Synchronous Transmission</a:t>
            </a:r>
          </a:p>
        </p:txBody>
      </p:sp>
      <p:sp>
        <p:nvSpPr>
          <p:cNvPr id="5123" name="Rectangle 3">
            <a:extLst>
              <a:ext uri="{FF2B5EF4-FFF2-40B4-BE49-F238E27FC236}">
                <a16:creationId xmlns:a16="http://schemas.microsoft.com/office/drawing/2014/main" id="{FF7FE668-CD80-5223-D173-A09FD96B5FCA}"/>
              </a:ext>
            </a:extLst>
          </p:cNvPr>
          <p:cNvSpPr>
            <a:spLocks noGrp="1" noChangeArrowheads="1"/>
          </p:cNvSpPr>
          <p:nvPr>
            <p:ph type="body" idx="1"/>
          </p:nvPr>
        </p:nvSpPr>
        <p:spPr/>
        <p:txBody>
          <a:bodyPr/>
          <a:lstStyle/>
          <a:p>
            <a:r>
              <a:rPr lang="en-US" altLang="en-US"/>
              <a:t>Timing problems require a mechanism to synchronize the transmitter and receiver</a:t>
            </a:r>
          </a:p>
          <a:p>
            <a:r>
              <a:rPr lang="en-US" altLang="en-US"/>
              <a:t>Two solutions</a:t>
            </a:r>
          </a:p>
          <a:p>
            <a:pPr lvl="1"/>
            <a:r>
              <a:rPr lang="en-US" altLang="en-US"/>
              <a:t>Asynchronous</a:t>
            </a:r>
          </a:p>
          <a:p>
            <a:pPr lvl="1"/>
            <a:r>
              <a:rPr lang="en-US" altLang="en-US"/>
              <a:t>Synchronous</a:t>
            </a:r>
          </a:p>
          <a:p>
            <a:pPr lvl="1"/>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3FD229D-A1B4-5C4C-25BB-088D3A3114B4}"/>
              </a:ext>
            </a:extLst>
          </p:cNvPr>
          <p:cNvSpPr>
            <a:spLocks noGrp="1" noChangeArrowheads="1"/>
          </p:cNvSpPr>
          <p:nvPr>
            <p:ph type="title"/>
          </p:nvPr>
        </p:nvSpPr>
        <p:spPr/>
        <p:txBody>
          <a:bodyPr/>
          <a:lstStyle/>
          <a:p>
            <a:r>
              <a:rPr lang="en-US" altLang="en-US"/>
              <a:t>Asynchronous</a:t>
            </a:r>
          </a:p>
        </p:txBody>
      </p:sp>
      <p:sp>
        <p:nvSpPr>
          <p:cNvPr id="6147" name="Rectangle 3">
            <a:extLst>
              <a:ext uri="{FF2B5EF4-FFF2-40B4-BE49-F238E27FC236}">
                <a16:creationId xmlns:a16="http://schemas.microsoft.com/office/drawing/2014/main" id="{2427C64C-7749-2F79-F073-C116BD1FE1E1}"/>
              </a:ext>
            </a:extLst>
          </p:cNvPr>
          <p:cNvSpPr>
            <a:spLocks noGrp="1" noChangeArrowheads="1"/>
          </p:cNvSpPr>
          <p:nvPr>
            <p:ph type="body" idx="1"/>
          </p:nvPr>
        </p:nvSpPr>
        <p:spPr/>
        <p:txBody>
          <a:bodyPr/>
          <a:lstStyle/>
          <a:p>
            <a:r>
              <a:rPr lang="en-US" altLang="en-US"/>
              <a:t>Data transmitted on character at a time</a:t>
            </a:r>
          </a:p>
          <a:p>
            <a:pPr lvl="1"/>
            <a:r>
              <a:rPr lang="en-US" altLang="en-US"/>
              <a:t>5 to 8 bits</a:t>
            </a:r>
          </a:p>
          <a:p>
            <a:r>
              <a:rPr lang="en-US" altLang="en-US"/>
              <a:t>Timing only needs maintaining within each character</a:t>
            </a:r>
          </a:p>
          <a:p>
            <a:r>
              <a:rPr lang="en-US" altLang="en-US"/>
              <a:t>Resynchronize with each character</a:t>
            </a:r>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118E1AC-F593-167D-91C6-A8B4514617E0}"/>
              </a:ext>
            </a:extLst>
          </p:cNvPr>
          <p:cNvSpPr>
            <a:spLocks noGrp="1" noChangeArrowheads="1"/>
          </p:cNvSpPr>
          <p:nvPr>
            <p:ph type="title"/>
          </p:nvPr>
        </p:nvSpPr>
        <p:spPr/>
        <p:txBody>
          <a:bodyPr/>
          <a:lstStyle/>
          <a:p>
            <a:r>
              <a:rPr lang="en-US" altLang="en-US"/>
              <a:t>Asynchronous (diagram)</a:t>
            </a:r>
          </a:p>
        </p:txBody>
      </p:sp>
      <p:pic>
        <p:nvPicPr>
          <p:cNvPr id="7172" name="Picture 4">
            <a:extLst>
              <a:ext uri="{FF2B5EF4-FFF2-40B4-BE49-F238E27FC236}">
                <a16:creationId xmlns:a16="http://schemas.microsoft.com/office/drawing/2014/main" id="{630D91EA-7D25-E7C7-9760-9034A5BE5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9627"/>
          <a:stretch>
            <a:fillRect/>
          </a:stretch>
        </p:blipFill>
        <p:spPr bwMode="auto">
          <a:xfrm>
            <a:off x="1752600" y="1414463"/>
            <a:ext cx="5943600" cy="544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5F2539B-45ED-D11C-E2A8-970F97CDFE24}"/>
              </a:ext>
            </a:extLst>
          </p:cNvPr>
          <p:cNvSpPr>
            <a:spLocks noGrp="1" noChangeArrowheads="1"/>
          </p:cNvSpPr>
          <p:nvPr>
            <p:ph type="title"/>
          </p:nvPr>
        </p:nvSpPr>
        <p:spPr/>
        <p:txBody>
          <a:bodyPr/>
          <a:lstStyle/>
          <a:p>
            <a:r>
              <a:rPr lang="en-US" altLang="en-US"/>
              <a:t>Asynchronous - Behavior</a:t>
            </a:r>
          </a:p>
        </p:txBody>
      </p:sp>
      <p:sp>
        <p:nvSpPr>
          <p:cNvPr id="8195" name="Rectangle 3">
            <a:extLst>
              <a:ext uri="{FF2B5EF4-FFF2-40B4-BE49-F238E27FC236}">
                <a16:creationId xmlns:a16="http://schemas.microsoft.com/office/drawing/2014/main" id="{947B6558-ADE5-87D3-309A-A20E6AF72AF9}"/>
              </a:ext>
            </a:extLst>
          </p:cNvPr>
          <p:cNvSpPr>
            <a:spLocks noGrp="1" noChangeArrowheads="1"/>
          </p:cNvSpPr>
          <p:nvPr>
            <p:ph type="body" idx="1"/>
          </p:nvPr>
        </p:nvSpPr>
        <p:spPr/>
        <p:txBody>
          <a:bodyPr>
            <a:normAutofit fontScale="92500" lnSpcReduction="10000"/>
          </a:bodyPr>
          <a:lstStyle/>
          <a:p>
            <a:pPr>
              <a:lnSpc>
                <a:spcPct val="90000"/>
              </a:lnSpc>
            </a:pPr>
            <a:r>
              <a:rPr lang="en-US" altLang="en-US"/>
              <a:t>In a steady stream, interval between characters is uniform (length of stop element)</a:t>
            </a:r>
          </a:p>
          <a:p>
            <a:pPr>
              <a:lnSpc>
                <a:spcPct val="90000"/>
              </a:lnSpc>
            </a:pPr>
            <a:r>
              <a:rPr lang="en-US" altLang="en-US"/>
              <a:t>In idle state, receiver looks for transition 1 to 0</a:t>
            </a:r>
          </a:p>
          <a:p>
            <a:pPr>
              <a:lnSpc>
                <a:spcPct val="90000"/>
              </a:lnSpc>
            </a:pPr>
            <a:r>
              <a:rPr lang="en-US" altLang="en-US"/>
              <a:t>Then samples next seven intervals (char length)</a:t>
            </a:r>
          </a:p>
          <a:p>
            <a:pPr>
              <a:lnSpc>
                <a:spcPct val="90000"/>
              </a:lnSpc>
            </a:pPr>
            <a:r>
              <a:rPr lang="en-US" altLang="en-US"/>
              <a:t>Then looks for next 1 to 0 for next char</a:t>
            </a:r>
          </a:p>
          <a:p>
            <a:pPr>
              <a:lnSpc>
                <a:spcPct val="90000"/>
              </a:lnSpc>
            </a:pPr>
            <a:endParaRPr lang="en-US" altLang="en-US"/>
          </a:p>
          <a:p>
            <a:pPr>
              <a:lnSpc>
                <a:spcPct val="90000"/>
              </a:lnSpc>
            </a:pPr>
            <a:r>
              <a:rPr lang="en-US" altLang="en-US"/>
              <a:t>Simple</a:t>
            </a:r>
          </a:p>
          <a:p>
            <a:pPr>
              <a:lnSpc>
                <a:spcPct val="90000"/>
              </a:lnSpc>
            </a:pPr>
            <a:r>
              <a:rPr lang="en-US" altLang="en-US"/>
              <a:t>Cheap</a:t>
            </a:r>
          </a:p>
          <a:p>
            <a:pPr>
              <a:lnSpc>
                <a:spcPct val="90000"/>
              </a:lnSpc>
            </a:pPr>
            <a:r>
              <a:rPr lang="en-US" altLang="en-US"/>
              <a:t>Overhead of 2 or 3 bits per char (~20%)</a:t>
            </a:r>
          </a:p>
          <a:p>
            <a:pPr>
              <a:lnSpc>
                <a:spcPct val="90000"/>
              </a:lnSpc>
            </a:pPr>
            <a:r>
              <a:rPr lang="en-US" altLang="en-US"/>
              <a:t>Good for data with large gaps (keyboard)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51C87F7-A217-2FBC-0A8C-616D0295D299}"/>
              </a:ext>
            </a:extLst>
          </p:cNvPr>
          <p:cNvSpPr>
            <a:spLocks noGrp="1" noChangeArrowheads="1"/>
          </p:cNvSpPr>
          <p:nvPr>
            <p:ph type="title"/>
          </p:nvPr>
        </p:nvSpPr>
        <p:spPr/>
        <p:txBody>
          <a:bodyPr/>
          <a:lstStyle/>
          <a:p>
            <a:r>
              <a:rPr lang="en-US" altLang="en-US"/>
              <a:t>Synchronous - Bit Level</a:t>
            </a:r>
          </a:p>
        </p:txBody>
      </p:sp>
      <p:sp>
        <p:nvSpPr>
          <p:cNvPr id="9219" name="Rectangle 3">
            <a:extLst>
              <a:ext uri="{FF2B5EF4-FFF2-40B4-BE49-F238E27FC236}">
                <a16:creationId xmlns:a16="http://schemas.microsoft.com/office/drawing/2014/main" id="{5C0D05BB-57DE-A6E7-288C-358CD2EF96FA}"/>
              </a:ext>
            </a:extLst>
          </p:cNvPr>
          <p:cNvSpPr>
            <a:spLocks noGrp="1" noChangeArrowheads="1"/>
          </p:cNvSpPr>
          <p:nvPr>
            <p:ph type="body" idx="1"/>
          </p:nvPr>
        </p:nvSpPr>
        <p:spPr/>
        <p:txBody>
          <a:bodyPr>
            <a:normAutofit lnSpcReduction="10000"/>
          </a:bodyPr>
          <a:lstStyle/>
          <a:p>
            <a:r>
              <a:rPr lang="en-US" altLang="en-US"/>
              <a:t>Block of data transmitted without start or stop bits</a:t>
            </a:r>
          </a:p>
          <a:p>
            <a:r>
              <a:rPr lang="en-US" altLang="en-US"/>
              <a:t>Clocks must be synchronized</a:t>
            </a:r>
          </a:p>
          <a:p>
            <a:r>
              <a:rPr lang="en-US" altLang="en-US"/>
              <a:t>Can use separate clock line</a:t>
            </a:r>
          </a:p>
          <a:p>
            <a:pPr lvl="1"/>
            <a:r>
              <a:rPr lang="en-US" altLang="en-US"/>
              <a:t>Good over short distances</a:t>
            </a:r>
          </a:p>
          <a:p>
            <a:pPr lvl="1"/>
            <a:r>
              <a:rPr lang="en-US" altLang="en-US"/>
              <a:t>Subject to impairments</a:t>
            </a:r>
          </a:p>
          <a:p>
            <a:r>
              <a:rPr lang="en-US" altLang="en-US"/>
              <a:t>Embed clock signal in data</a:t>
            </a:r>
          </a:p>
          <a:p>
            <a:pPr lvl="1"/>
            <a:r>
              <a:rPr lang="en-US" altLang="en-US"/>
              <a:t>Manchester encoding</a:t>
            </a:r>
          </a:p>
          <a:p>
            <a:pPr lvl="1"/>
            <a:r>
              <a:rPr lang="en-US" altLang="en-US"/>
              <a:t>Carrier frequency (analog)</a:t>
            </a:r>
          </a:p>
          <a:p>
            <a:pPr lvl="1"/>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CA50F48-B92B-2DD4-90EA-E6FE41C16FF2}"/>
              </a:ext>
            </a:extLst>
          </p:cNvPr>
          <p:cNvSpPr>
            <a:spLocks noGrp="1" noChangeArrowheads="1"/>
          </p:cNvSpPr>
          <p:nvPr>
            <p:ph type="title"/>
          </p:nvPr>
        </p:nvSpPr>
        <p:spPr/>
        <p:txBody>
          <a:bodyPr/>
          <a:lstStyle/>
          <a:p>
            <a:r>
              <a:rPr lang="en-US" altLang="en-US"/>
              <a:t>Synchronous - Block Level</a:t>
            </a:r>
          </a:p>
        </p:txBody>
      </p:sp>
      <p:sp>
        <p:nvSpPr>
          <p:cNvPr id="10243" name="Rectangle 3">
            <a:extLst>
              <a:ext uri="{FF2B5EF4-FFF2-40B4-BE49-F238E27FC236}">
                <a16:creationId xmlns:a16="http://schemas.microsoft.com/office/drawing/2014/main" id="{DE011EDE-1640-93BB-0117-C0EDBC29FAD7}"/>
              </a:ext>
            </a:extLst>
          </p:cNvPr>
          <p:cNvSpPr>
            <a:spLocks noGrp="1" noChangeArrowheads="1"/>
          </p:cNvSpPr>
          <p:nvPr>
            <p:ph type="body" idx="1"/>
          </p:nvPr>
        </p:nvSpPr>
        <p:spPr/>
        <p:txBody>
          <a:bodyPr/>
          <a:lstStyle/>
          <a:p>
            <a:r>
              <a:rPr lang="en-US" altLang="en-US"/>
              <a:t>Need to indicate start and end of block</a:t>
            </a:r>
          </a:p>
          <a:p>
            <a:r>
              <a:rPr lang="en-US" altLang="en-US"/>
              <a:t>Use preamble and postamble</a:t>
            </a:r>
          </a:p>
          <a:p>
            <a:pPr lvl="1"/>
            <a:r>
              <a:rPr lang="en-US" altLang="en-US"/>
              <a:t>e.g. series of SYN (hex 16) characters</a:t>
            </a:r>
          </a:p>
          <a:p>
            <a:pPr lvl="1"/>
            <a:r>
              <a:rPr lang="en-US" altLang="en-US"/>
              <a:t>e.g. block of 11111111 patterns ending in 11111110</a:t>
            </a:r>
          </a:p>
          <a:p>
            <a:endParaRPr lang="en-US" altLang="en-US"/>
          </a:p>
          <a:p>
            <a:r>
              <a:rPr lang="en-US" altLang="en-US"/>
              <a:t>More efficient (lower overhead) than async</a:t>
            </a:r>
          </a:p>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0ACD278-58D6-80B4-0EEA-F83A46603FA6}"/>
              </a:ext>
            </a:extLst>
          </p:cNvPr>
          <p:cNvSpPr>
            <a:spLocks noGrp="1" noChangeArrowheads="1"/>
          </p:cNvSpPr>
          <p:nvPr>
            <p:ph type="title"/>
          </p:nvPr>
        </p:nvSpPr>
        <p:spPr/>
        <p:txBody>
          <a:bodyPr/>
          <a:lstStyle/>
          <a:p>
            <a:r>
              <a:rPr lang="en-US" altLang="en-US"/>
              <a:t>Synchronous (diagram)</a:t>
            </a:r>
          </a:p>
        </p:txBody>
      </p:sp>
      <p:pic>
        <p:nvPicPr>
          <p:cNvPr id="11268" name="Picture 4">
            <a:extLst>
              <a:ext uri="{FF2B5EF4-FFF2-40B4-BE49-F238E27FC236}">
                <a16:creationId xmlns:a16="http://schemas.microsoft.com/office/drawing/2014/main" id="{A0F931A3-EB43-9262-0D3F-584E16D16B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8139"/>
          <a:stretch>
            <a:fillRect/>
          </a:stretch>
        </p:blipFill>
        <p:spPr bwMode="auto">
          <a:xfrm>
            <a:off x="457200" y="31242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Error Detection</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55"/>
          <p:cNvPicPr preferRelativeResize="0"/>
          <p:nvPr/>
        </p:nvPicPr>
        <p:blipFill rotWithShape="1">
          <a:blip r:embed="rId3">
            <a:alphaModFix/>
          </a:blip>
          <a:srcRect/>
          <a:stretch/>
        </p:blipFill>
        <p:spPr>
          <a:xfrm>
            <a:off x="395536" y="1052736"/>
            <a:ext cx="8208912" cy="28281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pic>
        <p:nvPicPr>
          <p:cNvPr id="365" name="Google Shape;365;p56"/>
          <p:cNvPicPr preferRelativeResize="0"/>
          <p:nvPr/>
        </p:nvPicPr>
        <p:blipFill rotWithShape="1">
          <a:blip r:embed="rId3">
            <a:alphaModFix/>
          </a:blip>
          <a:srcRect/>
          <a:stretch/>
        </p:blipFill>
        <p:spPr>
          <a:xfrm>
            <a:off x="5813" y="12458"/>
            <a:ext cx="9080198" cy="65128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p57"/>
          <p:cNvPicPr preferRelativeResize="0"/>
          <p:nvPr/>
        </p:nvPicPr>
        <p:blipFill rotWithShape="1">
          <a:blip r:embed="rId3">
            <a:alphaModFix/>
          </a:blip>
          <a:srcRect/>
          <a:stretch/>
        </p:blipFill>
        <p:spPr>
          <a:xfrm>
            <a:off x="0" y="0"/>
            <a:ext cx="9138714"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5" name="Google Shape;375;p58"/>
          <p:cNvPicPr preferRelativeResize="0"/>
          <p:nvPr/>
        </p:nvPicPr>
        <p:blipFill rotWithShape="1">
          <a:blip r:embed="rId3">
            <a:alphaModFix/>
          </a:blip>
          <a:srcRect/>
          <a:stretch/>
        </p:blipFill>
        <p:spPr>
          <a:xfrm>
            <a:off x="107504" y="116632"/>
            <a:ext cx="8952842" cy="68407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0" name="Google Shape;380;p59"/>
          <p:cNvPicPr preferRelativeResize="0"/>
          <p:nvPr/>
        </p:nvPicPr>
        <p:blipFill rotWithShape="1">
          <a:blip r:embed="rId3">
            <a:alphaModFix/>
          </a:blip>
          <a:srcRect/>
          <a:stretch/>
        </p:blipFill>
        <p:spPr>
          <a:xfrm>
            <a:off x="35696" y="18506"/>
            <a:ext cx="9000800" cy="65068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pic>
        <p:nvPicPr>
          <p:cNvPr id="385" name="Google Shape;385;p60"/>
          <p:cNvPicPr preferRelativeResize="0"/>
          <p:nvPr/>
        </p:nvPicPr>
        <p:blipFill rotWithShape="1">
          <a:blip r:embed="rId3">
            <a:alphaModFix/>
          </a:blip>
          <a:srcRect/>
          <a:stretch/>
        </p:blipFill>
        <p:spPr>
          <a:xfrm>
            <a:off x="107504" y="24436"/>
            <a:ext cx="8928992" cy="657291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61"/>
          <p:cNvPicPr preferRelativeResize="0"/>
          <p:nvPr/>
        </p:nvPicPr>
        <p:blipFill rotWithShape="1">
          <a:blip r:embed="rId3">
            <a:alphaModFix/>
          </a:blip>
          <a:srcRect/>
          <a:stretch/>
        </p:blipFill>
        <p:spPr>
          <a:xfrm>
            <a:off x="35496" y="116632"/>
            <a:ext cx="8993254" cy="67413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pic>
        <p:nvPicPr>
          <p:cNvPr id="395" name="Google Shape;395;p62"/>
          <p:cNvPicPr preferRelativeResize="0"/>
          <p:nvPr/>
        </p:nvPicPr>
        <p:blipFill rotWithShape="1">
          <a:blip r:embed="rId3">
            <a:alphaModFix/>
          </a:blip>
          <a:srcRect/>
          <a:stretch/>
        </p:blipFill>
        <p:spPr>
          <a:xfrm>
            <a:off x="0" y="14824"/>
            <a:ext cx="9144000" cy="694256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63"/>
          <p:cNvPicPr preferRelativeResize="0"/>
          <p:nvPr/>
        </p:nvPicPr>
        <p:blipFill rotWithShape="1">
          <a:blip r:embed="rId3">
            <a:alphaModFix/>
          </a:blip>
          <a:srcRect/>
          <a:stretch/>
        </p:blipFill>
        <p:spPr>
          <a:xfrm>
            <a:off x="-9728" y="-14708"/>
            <a:ext cx="9108504" cy="668406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405" name="Google Shape;405;p64"/>
          <p:cNvPicPr preferRelativeResize="0"/>
          <p:nvPr/>
        </p:nvPicPr>
        <p:blipFill rotWithShape="1">
          <a:blip r:embed="rId3">
            <a:alphaModFix/>
          </a:blip>
          <a:srcRect/>
          <a:stretch/>
        </p:blipFill>
        <p:spPr>
          <a:xfrm>
            <a:off x="0" y="116632"/>
            <a:ext cx="8964488" cy="674136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pic>
        <p:nvPicPr>
          <p:cNvPr id="410" name="Google Shape;410;p65"/>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pic>
        <p:nvPicPr>
          <p:cNvPr id="415" name="Google Shape;415;p66"/>
          <p:cNvPicPr preferRelativeResize="0"/>
          <p:nvPr/>
        </p:nvPicPr>
        <p:blipFill rotWithShape="1">
          <a:blip r:embed="rId3">
            <a:alphaModFix/>
          </a:blip>
          <a:srcRect/>
          <a:stretch/>
        </p:blipFill>
        <p:spPr>
          <a:xfrm>
            <a:off x="0" y="31564"/>
            <a:ext cx="9036496" cy="663779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pic>
        <p:nvPicPr>
          <p:cNvPr id="420" name="Google Shape;420;p67"/>
          <p:cNvPicPr preferRelativeResize="0"/>
          <p:nvPr/>
        </p:nvPicPr>
        <p:blipFill rotWithShape="1">
          <a:blip r:embed="rId3">
            <a:alphaModFix/>
          </a:blip>
          <a:srcRect/>
          <a:stretch/>
        </p:blipFill>
        <p:spPr>
          <a:xfrm>
            <a:off x="0" y="164671"/>
            <a:ext cx="9144000" cy="333633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pic>
        <p:nvPicPr>
          <p:cNvPr id="425" name="Google Shape;425;p68"/>
          <p:cNvPicPr preferRelativeResize="0"/>
          <p:nvPr/>
        </p:nvPicPr>
        <p:blipFill rotWithShape="1">
          <a:blip r:embed="rId3">
            <a:alphaModFix/>
          </a:blip>
          <a:srcRect/>
          <a:stretch/>
        </p:blipFill>
        <p:spPr>
          <a:xfrm>
            <a:off x="0" y="32148"/>
            <a:ext cx="9144000" cy="519705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pic>
        <p:nvPicPr>
          <p:cNvPr id="430" name="Google Shape;430;p69"/>
          <p:cNvPicPr preferRelativeResize="0"/>
          <p:nvPr/>
        </p:nvPicPr>
        <p:blipFill rotWithShape="1">
          <a:blip r:embed="rId3">
            <a:alphaModFix/>
          </a:blip>
          <a:srcRect/>
          <a:stretch/>
        </p:blipFill>
        <p:spPr>
          <a:xfrm>
            <a:off x="0" y="0"/>
            <a:ext cx="9032226" cy="659735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70"/>
          <p:cNvPicPr preferRelativeResize="0"/>
          <p:nvPr/>
        </p:nvPicPr>
        <p:blipFill rotWithShape="1">
          <a:blip r:embed="rId3">
            <a:alphaModFix/>
          </a:blip>
          <a:srcRect/>
          <a:stretch/>
        </p:blipFill>
        <p:spPr>
          <a:xfrm>
            <a:off x="0" y="29899"/>
            <a:ext cx="9144000" cy="671146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pic>
        <p:nvPicPr>
          <p:cNvPr id="440" name="Google Shape;440;p71"/>
          <p:cNvPicPr preferRelativeResize="0"/>
          <p:nvPr/>
        </p:nvPicPr>
        <p:blipFill rotWithShape="1">
          <a:blip r:embed="rId3">
            <a:alphaModFix/>
          </a:blip>
          <a:srcRect/>
          <a:stretch/>
        </p:blipFill>
        <p:spPr>
          <a:xfrm>
            <a:off x="179512" y="44624"/>
            <a:ext cx="8856984" cy="655272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72"/>
          <p:cNvPicPr preferRelativeResize="0"/>
          <p:nvPr/>
        </p:nvPicPr>
        <p:blipFill rotWithShape="1">
          <a:blip r:embed="rId3">
            <a:alphaModFix/>
          </a:blip>
          <a:srcRect/>
          <a:stretch/>
        </p:blipFill>
        <p:spPr>
          <a:xfrm>
            <a:off x="30732" y="116632"/>
            <a:ext cx="9113268" cy="633670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pic>
        <p:nvPicPr>
          <p:cNvPr id="450" name="Google Shape;450;p73"/>
          <p:cNvPicPr preferRelativeResize="0"/>
          <p:nvPr/>
        </p:nvPicPr>
        <p:blipFill rotWithShape="1">
          <a:blip r:embed="rId3">
            <a:alphaModFix/>
          </a:blip>
          <a:srcRect/>
          <a:stretch/>
        </p:blipFill>
        <p:spPr>
          <a:xfrm>
            <a:off x="179512" y="116632"/>
            <a:ext cx="8784976" cy="648072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pic>
        <p:nvPicPr>
          <p:cNvPr id="455" name="Google Shape;455;p74"/>
          <p:cNvPicPr preferRelativeResize="0"/>
          <p:nvPr/>
        </p:nvPicPr>
        <p:blipFill rotWithShape="1">
          <a:blip r:embed="rId3">
            <a:alphaModFix/>
          </a:blip>
          <a:srcRect/>
          <a:stretch/>
        </p:blipFill>
        <p:spPr>
          <a:xfrm>
            <a:off x="107504" y="116632"/>
            <a:ext cx="8928992" cy="655272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pic>
        <p:nvPicPr>
          <p:cNvPr id="460" name="Google Shape;460;p75"/>
          <p:cNvPicPr preferRelativeResize="0"/>
          <p:nvPr/>
        </p:nvPicPr>
        <p:blipFill rotWithShape="1">
          <a:blip r:embed="rId3">
            <a:alphaModFix/>
          </a:blip>
          <a:srcRect/>
          <a:stretch/>
        </p:blipFill>
        <p:spPr>
          <a:xfrm>
            <a:off x="107504" y="0"/>
            <a:ext cx="8784976" cy="486916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pic>
        <p:nvPicPr>
          <p:cNvPr id="465" name="Google Shape;465;p76"/>
          <p:cNvPicPr preferRelativeResize="0"/>
          <p:nvPr/>
        </p:nvPicPr>
        <p:blipFill rotWithShape="1">
          <a:blip r:embed="rId3">
            <a:alphaModFix/>
          </a:blip>
          <a:srcRect/>
          <a:stretch/>
        </p:blipFill>
        <p:spPr>
          <a:xfrm>
            <a:off x="32398" y="0"/>
            <a:ext cx="9111602" cy="616530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pic>
        <p:nvPicPr>
          <p:cNvPr id="470" name="Google Shape;470;p77"/>
          <p:cNvPicPr preferRelativeResize="0"/>
          <p:nvPr/>
        </p:nvPicPr>
        <p:blipFill rotWithShape="1">
          <a:blip r:embed="rId3">
            <a:alphaModFix/>
          </a:blip>
          <a:srcRect/>
          <a:stretch/>
        </p:blipFill>
        <p:spPr>
          <a:xfrm>
            <a:off x="107504" y="0"/>
            <a:ext cx="8856984" cy="659735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pic>
        <p:nvPicPr>
          <p:cNvPr id="475" name="Google Shape;475;p78"/>
          <p:cNvPicPr preferRelativeResize="0"/>
          <p:nvPr/>
        </p:nvPicPr>
        <p:blipFill rotWithShape="1">
          <a:blip r:embed="rId3">
            <a:alphaModFix/>
          </a:blip>
          <a:srcRect/>
          <a:stretch/>
        </p:blipFill>
        <p:spPr>
          <a:xfrm>
            <a:off x="107504" y="116632"/>
            <a:ext cx="8928992" cy="662473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pic>
        <p:nvPicPr>
          <p:cNvPr id="480" name="Google Shape;480;p79"/>
          <p:cNvPicPr preferRelativeResize="0"/>
          <p:nvPr/>
        </p:nvPicPr>
        <p:blipFill rotWithShape="1">
          <a:blip r:embed="rId3">
            <a:alphaModFix/>
          </a:blip>
          <a:srcRect/>
          <a:stretch/>
        </p:blipFill>
        <p:spPr>
          <a:xfrm>
            <a:off x="107504" y="116632"/>
            <a:ext cx="8928992" cy="648072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pic>
        <p:nvPicPr>
          <p:cNvPr id="485" name="Google Shape;485;p80"/>
          <p:cNvPicPr preferRelativeResize="0"/>
          <p:nvPr/>
        </p:nvPicPr>
        <p:blipFill rotWithShape="1">
          <a:blip r:embed="rId3">
            <a:alphaModFix/>
          </a:blip>
          <a:srcRect/>
          <a:stretch/>
        </p:blipFill>
        <p:spPr>
          <a:xfrm>
            <a:off x="107504" y="0"/>
            <a:ext cx="8928992" cy="666936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pic>
        <p:nvPicPr>
          <p:cNvPr id="490" name="Google Shape;490;p81"/>
          <p:cNvPicPr preferRelativeResize="0"/>
          <p:nvPr/>
        </p:nvPicPr>
        <p:blipFill rotWithShape="1">
          <a:blip r:embed="rId3">
            <a:alphaModFix/>
          </a:blip>
          <a:srcRect/>
          <a:stretch/>
        </p:blipFill>
        <p:spPr>
          <a:xfrm>
            <a:off x="0" y="6763"/>
            <a:ext cx="9144000" cy="685123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pic>
        <p:nvPicPr>
          <p:cNvPr id="495" name="Google Shape;495;p82"/>
          <p:cNvPicPr preferRelativeResize="0"/>
          <p:nvPr/>
        </p:nvPicPr>
        <p:blipFill rotWithShape="1">
          <a:blip r:embed="rId3">
            <a:alphaModFix/>
          </a:blip>
          <a:srcRect/>
          <a:stretch/>
        </p:blipFill>
        <p:spPr>
          <a:xfrm>
            <a:off x="0" y="116632"/>
            <a:ext cx="8892480" cy="662473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pic>
        <p:nvPicPr>
          <p:cNvPr id="500" name="Google Shape;500;p83"/>
          <p:cNvPicPr preferRelativeResize="0"/>
          <p:nvPr/>
        </p:nvPicPr>
        <p:blipFill rotWithShape="1">
          <a:blip r:embed="rId3">
            <a:alphaModFix/>
          </a:blip>
          <a:srcRect/>
          <a:stretch/>
        </p:blipFill>
        <p:spPr>
          <a:xfrm>
            <a:off x="107504" y="0"/>
            <a:ext cx="8928992" cy="652534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pic>
        <p:nvPicPr>
          <p:cNvPr id="505" name="Google Shape;505;p84"/>
          <p:cNvPicPr preferRelativeResize="0"/>
          <p:nvPr/>
        </p:nvPicPr>
        <p:blipFill rotWithShape="1">
          <a:blip r:embed="rId3">
            <a:alphaModFix/>
          </a:blip>
          <a:srcRect/>
          <a:stretch/>
        </p:blipFill>
        <p:spPr>
          <a:xfrm>
            <a:off x="-27284" y="260648"/>
            <a:ext cx="9036496" cy="655272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pic>
        <p:nvPicPr>
          <p:cNvPr id="510" name="Google Shape;510;p85"/>
          <p:cNvPicPr preferRelativeResize="0"/>
          <p:nvPr/>
        </p:nvPicPr>
        <p:blipFill rotWithShape="1">
          <a:blip r:embed="rId3">
            <a:alphaModFix/>
          </a:blip>
          <a:srcRect/>
          <a:stretch/>
        </p:blipFill>
        <p:spPr>
          <a:xfrm>
            <a:off x="0" y="0"/>
            <a:ext cx="9060459" cy="666936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515" name="Google Shape;515;p86"/>
          <p:cNvPicPr preferRelativeResize="0"/>
          <p:nvPr/>
        </p:nvPicPr>
        <p:blipFill rotWithShape="1">
          <a:blip r:embed="rId3">
            <a:alphaModFix/>
          </a:blip>
          <a:srcRect/>
          <a:stretch/>
        </p:blipFill>
        <p:spPr>
          <a:xfrm>
            <a:off x="0" y="116632"/>
            <a:ext cx="8970634" cy="655272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pic>
        <p:nvPicPr>
          <p:cNvPr id="520" name="Google Shape;520;p87"/>
          <p:cNvPicPr preferRelativeResize="0"/>
          <p:nvPr/>
        </p:nvPicPr>
        <p:blipFill rotWithShape="1">
          <a:blip r:embed="rId3">
            <a:alphaModFix/>
          </a:blip>
          <a:srcRect/>
          <a:stretch/>
        </p:blipFill>
        <p:spPr>
          <a:xfrm>
            <a:off x="96044" y="260648"/>
            <a:ext cx="9077489" cy="612068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pic>
        <p:nvPicPr>
          <p:cNvPr id="525" name="Google Shape;525;p88"/>
          <p:cNvPicPr preferRelativeResize="0"/>
          <p:nvPr/>
        </p:nvPicPr>
        <p:blipFill rotWithShape="1">
          <a:blip r:embed="rId3">
            <a:alphaModFix/>
          </a:blip>
          <a:srcRect/>
          <a:stretch/>
        </p:blipFill>
        <p:spPr>
          <a:xfrm>
            <a:off x="32864" y="0"/>
            <a:ext cx="9080007" cy="674136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pic>
        <p:nvPicPr>
          <p:cNvPr id="530" name="Google Shape;530;p89"/>
          <p:cNvPicPr preferRelativeResize="0"/>
          <p:nvPr/>
        </p:nvPicPr>
        <p:blipFill rotWithShape="1">
          <a:blip r:embed="rId3">
            <a:alphaModFix/>
          </a:blip>
          <a:srcRect/>
          <a:stretch/>
        </p:blipFill>
        <p:spPr>
          <a:xfrm>
            <a:off x="15423" y="20871"/>
            <a:ext cx="9214699" cy="683712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pic>
        <p:nvPicPr>
          <p:cNvPr id="535" name="Google Shape;535;p90"/>
          <p:cNvPicPr preferRelativeResize="0"/>
          <p:nvPr/>
        </p:nvPicPr>
        <p:blipFill rotWithShape="1">
          <a:blip r:embed="rId3">
            <a:alphaModFix/>
          </a:blip>
          <a:srcRect/>
          <a:stretch/>
        </p:blipFill>
        <p:spPr>
          <a:xfrm>
            <a:off x="251520" y="0"/>
            <a:ext cx="8712968" cy="6858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pic>
        <p:nvPicPr>
          <p:cNvPr id="540" name="Google Shape;540;p91"/>
          <p:cNvPicPr preferRelativeResize="0"/>
          <p:nvPr/>
        </p:nvPicPr>
        <p:blipFill rotWithShape="1">
          <a:blip r:embed="rId3">
            <a:alphaModFix/>
          </a:blip>
          <a:srcRect/>
          <a:stretch/>
        </p:blipFill>
        <p:spPr>
          <a:xfrm>
            <a:off x="107504" y="30248"/>
            <a:ext cx="8755600" cy="671112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pic>
        <p:nvPicPr>
          <p:cNvPr id="545" name="Google Shape;545;p92"/>
          <p:cNvPicPr preferRelativeResize="0"/>
          <p:nvPr/>
        </p:nvPicPr>
        <p:blipFill rotWithShape="1">
          <a:blip r:embed="rId3">
            <a:alphaModFix/>
          </a:blip>
          <a:srcRect/>
          <a:stretch/>
        </p:blipFill>
        <p:spPr>
          <a:xfrm>
            <a:off x="0" y="116632"/>
            <a:ext cx="9225694" cy="669674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pic>
        <p:nvPicPr>
          <p:cNvPr id="550" name="Google Shape;550;p93"/>
          <p:cNvPicPr preferRelativeResize="0"/>
          <p:nvPr/>
        </p:nvPicPr>
        <p:blipFill rotWithShape="1">
          <a:blip r:embed="rId3">
            <a:alphaModFix/>
          </a:blip>
          <a:srcRect/>
          <a:stretch/>
        </p:blipFill>
        <p:spPr>
          <a:xfrm>
            <a:off x="107504" y="0"/>
            <a:ext cx="8856984" cy="321297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Error Correction (FEC)</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Forward Error Correction &amp; Hamming Distance</a:t>
            </a:r>
          </a:p>
        </p:txBody>
      </p:sp>
      <p:sp>
        <p:nvSpPr>
          <p:cNvPr id="3" name="Content Placeholder 2"/>
          <p:cNvSpPr>
            <a:spLocks noGrp="1"/>
          </p:cNvSpPr>
          <p:nvPr>
            <p:ph idx="1"/>
          </p:nvPr>
        </p:nvSpPr>
        <p:spPr/>
        <p:txBody>
          <a:bodyPr>
            <a:normAutofit fontScale="85000" lnSpcReduction="20000"/>
          </a:bodyPr>
          <a:lstStyle/>
          <a:p>
            <a:endParaRPr/>
          </a:p>
          <a:p>
            <a:pPr>
              <a:defRPr b="1"/>
            </a:pPr>
            <a:r>
              <a:t>Forward Error Correction (FEC):</a:t>
            </a:r>
          </a:p>
          <a:p>
            <a:pPr lvl="1"/>
            <a:r>
              <a:t>Receiver detects and CORRECTS errors without retransmission.</a:t>
            </a:r>
          </a:p>
          <a:p>
            <a:pPr>
              <a:defRPr b="1"/>
            </a:pPr>
            <a:r>
              <a:t>Hamming Distance (d):</a:t>
            </a:r>
          </a:p>
          <a:p>
            <a:pPr lvl="1"/>
            <a:r>
              <a:t>Number of bits that differ between two corresponding codewords.</a:t>
            </a:r>
          </a:p>
          <a:p>
            <a:pPr lvl="2"/>
            <a:r>
              <a:t>e.g., d(000, 011) = 2</a:t>
            </a:r>
          </a:p>
          <a:p>
            <a:pPr>
              <a:defRPr b="1"/>
            </a:pPr>
            <a:r>
              <a:t>Rules:</a:t>
            </a:r>
          </a:p>
          <a:p>
            <a:pPr lvl="1"/>
            <a:r>
              <a:t>• To detect 's' errors: d_min &gt; s</a:t>
            </a:r>
          </a:p>
          <a:p>
            <a:pPr lvl="1"/>
            <a:r>
              <a:t>• To correct 't' errors: d_min &gt; 2t</a:t>
            </a:r>
          </a:p>
          <a:p>
            <a:pPr lvl="1"/>
            <a:r>
              <a:t>• For single bit correction (t=1): d_min must be 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Hamming Code: Logic &amp; Structure</a:t>
            </a:r>
          </a:p>
        </p:txBody>
      </p:sp>
      <p:sp>
        <p:nvSpPr>
          <p:cNvPr id="3" name="Content Placeholder 2"/>
          <p:cNvSpPr>
            <a:spLocks noGrp="1"/>
          </p:cNvSpPr>
          <p:nvPr>
            <p:ph idx="1"/>
          </p:nvPr>
        </p:nvSpPr>
        <p:spPr/>
        <p:txBody>
          <a:bodyPr>
            <a:normAutofit fontScale="92500" lnSpcReduction="20000"/>
          </a:bodyPr>
          <a:lstStyle/>
          <a:p>
            <a:endParaRPr/>
          </a:p>
          <a:p>
            <a:pPr>
              <a:defRPr b="1"/>
            </a:pPr>
            <a:r>
              <a:t>Redundancy Bit (r) Calculation:</a:t>
            </a:r>
          </a:p>
          <a:p>
            <a:pPr lvl="1"/>
            <a:r>
              <a:t>Formula: 2^r &gt;= m + r + 1</a:t>
            </a:r>
          </a:p>
          <a:p>
            <a:pPr lvl="1"/>
            <a:r>
              <a:t>where m = data bits, r = redundancy bits.</a:t>
            </a:r>
          </a:p>
          <a:p>
            <a:pPr>
              <a:defRPr b="1"/>
            </a:pPr>
            <a:r>
              <a:t>For 7-bit data (ASCII):</a:t>
            </a:r>
          </a:p>
          <a:p>
            <a:pPr lvl="1"/>
            <a:r>
              <a:t>• m=7. Trial: 2^4 = 16 &gt;= 7 + 4 + 1. So, r=4.</a:t>
            </a:r>
          </a:p>
          <a:p>
            <a:pPr lvl="1"/>
            <a:r>
              <a:t>• Total bits = 11.</a:t>
            </a:r>
          </a:p>
          <a:p>
            <a:pPr>
              <a:defRPr b="1"/>
            </a:pPr>
            <a:r>
              <a:t>Bit Positioning:</a:t>
            </a:r>
          </a:p>
          <a:p>
            <a:pPr lvl="1"/>
            <a:r>
              <a:t>• Parity bits occupy power-of-2 positions: 1, 2, 4, 8...</a:t>
            </a:r>
          </a:p>
          <a:p>
            <a:pPr lvl="1"/>
            <a:r>
              <a:t>• Data bits fill the rest: 3, 5, 6, 7, 9, 10, 11...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Hamming Code Example </a:t>
            </a:r>
          </a:p>
        </p:txBody>
      </p:sp>
      <p:sp>
        <p:nvSpPr>
          <p:cNvPr id="3" name="Content Placeholder 2"/>
          <p:cNvSpPr>
            <a:spLocks noGrp="1"/>
          </p:cNvSpPr>
          <p:nvPr>
            <p:ph idx="1"/>
          </p:nvPr>
        </p:nvSpPr>
        <p:spPr/>
        <p:txBody>
          <a:bodyPr>
            <a:normAutofit fontScale="85000" lnSpcReduction="10000"/>
          </a:bodyPr>
          <a:lstStyle/>
          <a:p>
            <a:endParaRPr/>
          </a:p>
          <a:p>
            <a:pPr>
              <a:defRPr b="1"/>
            </a:pPr>
            <a:r>
              <a:t>Problem: Encode Data '1001101' using Even Parity.</a:t>
            </a:r>
          </a:p>
          <a:p>
            <a:pPr lvl="1"/>
            <a:r>
              <a:t>Placement (11 bits Total):</a:t>
            </a:r>
          </a:p>
          <a:p>
            <a:pPr lvl="2">
              <a:defRPr>
                <a:latin typeface="Courier New"/>
              </a:defRPr>
            </a:pPr>
            <a:r>
              <a:t>P1 P2 D1 P4 D2 D3 D4 P8 D5 D6 D7</a:t>
            </a:r>
          </a:p>
          <a:p>
            <a:pPr lvl="2">
              <a:defRPr>
                <a:latin typeface="Courier New"/>
              </a:defRPr>
            </a:pPr>
            <a:r>
              <a:t>P1 P2 1  P4 0  0  1  P8 1  0  1</a:t>
            </a:r>
          </a:p>
          <a:p>
            <a:pPr lvl="1"/>
            <a:r>
              <a:t>Calculations (Even Parity):</a:t>
            </a:r>
          </a:p>
          <a:p>
            <a:pPr lvl="2"/>
            <a:r>
              <a:t>• P1 (Checks 1,3,5,7,9,11): ? 1 0 1 1 1 -&gt; sum=4 (Even) -&gt; P1=0</a:t>
            </a:r>
          </a:p>
          <a:p>
            <a:pPr lvl="2"/>
            <a:r>
              <a:t>• P2 (Checks 2,3,6,7,10,11): ? 1 0 1 0 1 -&gt; sum=3 (Odd) -&gt; P2=1</a:t>
            </a:r>
          </a:p>
          <a:p>
            <a:pPr lvl="2"/>
            <a:r>
              <a:t>• P4 (Checks 4,5,6,7): ? 0 0 1 -&gt; sum=1 (Odd) -&gt; P4=1</a:t>
            </a:r>
          </a:p>
          <a:p>
            <a:pPr lvl="2"/>
            <a:r>
              <a:t>• P8 (Checks 8,9,10,11): ? 1 0 1 -&gt; sum=2 (Even) -&gt; P8=0</a:t>
            </a:r>
          </a:p>
          <a:p>
            <a:pPr lvl="1">
              <a:defRPr b="1">
                <a:solidFill>
                  <a:srgbClr val="006400"/>
                </a:solidFill>
              </a:defRPr>
            </a:pPr>
            <a:r>
              <a:t>Final Codeword: 01110010101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Switching Techniques</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Switching Networks</a:t>
            </a:r>
          </a:p>
        </p:txBody>
      </p:sp>
      <p:sp>
        <p:nvSpPr>
          <p:cNvPr id="3" name="Content Placeholder 2"/>
          <p:cNvSpPr>
            <a:spLocks noGrp="1"/>
          </p:cNvSpPr>
          <p:nvPr>
            <p:ph idx="1"/>
          </p:nvPr>
        </p:nvSpPr>
        <p:spPr/>
        <p:txBody>
          <a:bodyPr>
            <a:normAutofit lnSpcReduction="10000"/>
          </a:bodyPr>
          <a:lstStyle/>
          <a:p>
            <a:r>
              <a:t>A switched network consists of specific connection devices (Nodes) and links.</a:t>
            </a:r>
          </a:p>
          <a:p>
            <a:pPr lvl="1"/>
            <a:r>
              <a:t>Purpose:</a:t>
            </a:r>
          </a:p>
          <a:p>
            <a:pPr lvl="1"/>
            <a:r>
              <a:t>To allow communication between any two devices without having a dedicated permanent link between every pair.</a:t>
            </a:r>
          </a:p>
          <a:p>
            <a:pPr lvl="1"/>
            <a:r>
              <a:t>Taxonomy:</a:t>
            </a:r>
          </a:p>
          <a:p>
            <a:pPr lvl="2"/>
            <a:r>
              <a:t>• Circuit Switching</a:t>
            </a:r>
          </a:p>
          <a:p>
            <a:pPr lvl="2"/>
            <a:r>
              <a:t>• Packet Switching</a:t>
            </a:r>
          </a:p>
          <a:p>
            <a:pPr lvl="2"/>
            <a:r>
              <a:t>• Message Switching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Circuit Switching</a:t>
            </a:r>
          </a:p>
        </p:txBody>
      </p:sp>
      <p:sp>
        <p:nvSpPr>
          <p:cNvPr id="3" name="Content Placeholder 2"/>
          <p:cNvSpPr>
            <a:spLocks noGrp="1"/>
          </p:cNvSpPr>
          <p:nvPr>
            <p:ph idx="1"/>
          </p:nvPr>
        </p:nvSpPr>
        <p:spPr>
          <a:xfrm>
            <a:off x="206829" y="718457"/>
            <a:ext cx="8229600" cy="4525963"/>
          </a:xfrm>
        </p:spPr>
        <p:txBody>
          <a:bodyPr>
            <a:normAutofit fontScale="77500" lnSpcReduction="20000"/>
          </a:bodyPr>
          <a:lstStyle/>
          <a:p>
            <a:endParaRPr dirty="0"/>
          </a:p>
          <a:p>
            <a:pPr>
              <a:defRPr b="1"/>
            </a:pPr>
            <a:r>
              <a:rPr dirty="0"/>
              <a:t>Architecture:</a:t>
            </a:r>
          </a:p>
          <a:p>
            <a:pPr lvl="1"/>
            <a:r>
              <a:rPr dirty="0"/>
              <a:t>• A set of switches connected by physical links.</a:t>
            </a:r>
          </a:p>
          <a:p>
            <a:pPr lvl="1"/>
            <a:r>
              <a:rPr dirty="0"/>
              <a:t>• A dedicated physical path is reserved for the entire duration.</a:t>
            </a:r>
          </a:p>
          <a:p>
            <a:pPr>
              <a:defRPr b="1"/>
            </a:pPr>
            <a:r>
              <a:rPr dirty="0"/>
              <a:t>Three Phases:</a:t>
            </a:r>
          </a:p>
          <a:p>
            <a:pPr lvl="1"/>
            <a:r>
              <a:rPr dirty="0"/>
              <a:t>1. Setup Phase: Request signal finds path, resources reserved.</a:t>
            </a:r>
          </a:p>
          <a:p>
            <a:pPr lvl="1"/>
            <a:r>
              <a:rPr dirty="0"/>
              <a:t>2. Data Transfer Phase: Continuous flow, no headers needed.</a:t>
            </a:r>
          </a:p>
          <a:p>
            <a:pPr lvl="1"/>
            <a:r>
              <a:rPr dirty="0"/>
              <a:t>3. Teardown Phase: A signal releases resources.</a:t>
            </a:r>
          </a:p>
          <a:p>
            <a:pPr>
              <a:defRPr b="1"/>
            </a:pPr>
            <a:r>
              <a:rPr dirty="0"/>
              <a:t>Efficiency &amp; Delay:</a:t>
            </a:r>
          </a:p>
          <a:p>
            <a:pPr lvl="1"/>
            <a:r>
              <a:rPr dirty="0"/>
              <a:t>• Low efficiency (channel idle during silence).</a:t>
            </a:r>
          </a:p>
          <a:p>
            <a:pPr lvl="1"/>
            <a:r>
              <a:rPr dirty="0"/>
              <a:t>• Low delay (once established).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7A524E4-000D-9FF9-66E7-234261AF74C3}"/>
              </a:ext>
            </a:extLst>
          </p:cNvPr>
          <p:cNvSpPr>
            <a:spLocks noGrp="1" noChangeArrowheads="1"/>
          </p:cNvSpPr>
          <p:nvPr>
            <p:ph type="title"/>
          </p:nvPr>
        </p:nvSpPr>
        <p:spPr>
          <a:xfrm>
            <a:off x="685800" y="609600"/>
            <a:ext cx="7772400" cy="685800"/>
          </a:xfrm>
        </p:spPr>
        <p:txBody>
          <a:bodyPr>
            <a:normAutofit fontScale="90000"/>
          </a:bodyPr>
          <a:lstStyle/>
          <a:p>
            <a:r>
              <a:rPr lang="en-US" altLang="en-US"/>
              <a:t>Switching Techniques</a:t>
            </a:r>
          </a:p>
        </p:txBody>
      </p:sp>
      <p:sp>
        <p:nvSpPr>
          <p:cNvPr id="2051" name="Rectangle 3">
            <a:extLst>
              <a:ext uri="{FF2B5EF4-FFF2-40B4-BE49-F238E27FC236}">
                <a16:creationId xmlns:a16="http://schemas.microsoft.com/office/drawing/2014/main" id="{93FE1DF7-EDD7-0517-6EDB-7457BA798046}"/>
              </a:ext>
            </a:extLst>
          </p:cNvPr>
          <p:cNvSpPr>
            <a:spLocks noChangeArrowheads="1"/>
          </p:cNvSpPr>
          <p:nvPr/>
        </p:nvSpPr>
        <p:spPr bwMode="auto">
          <a:xfrm>
            <a:off x="609600" y="1905000"/>
            <a:ext cx="80010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In large networks there might be multiple paths linking sender and receiver. Information may be switched as it travels through various communication channels. There are three typical switching techniques available for digital traffic. </a:t>
            </a:r>
          </a:p>
          <a:p>
            <a:endParaRPr lang="en-US" altLang="en-US"/>
          </a:p>
          <a:p>
            <a:pPr lvl="1" eaLnBrk="0" hangingPunct="0">
              <a:buFontTx/>
              <a:buChar char="•"/>
            </a:pPr>
            <a:r>
              <a:rPr lang="en-US" altLang="en-US"/>
              <a:t>    Circuit Switching  </a:t>
            </a:r>
          </a:p>
          <a:p>
            <a:pPr lvl="1" eaLnBrk="0" hangingPunct="0">
              <a:buFontTx/>
              <a:buChar char="•"/>
            </a:pPr>
            <a:r>
              <a:rPr lang="en-US" altLang="en-US"/>
              <a:t>    Message Switching </a:t>
            </a:r>
          </a:p>
          <a:p>
            <a:pPr lvl="1" eaLnBrk="0" hangingPunct="0">
              <a:buFontTx/>
              <a:buChar char="•"/>
            </a:pPr>
            <a:r>
              <a:rPr lang="en-US" altLang="en-US"/>
              <a:t>    Packet Switching </a:t>
            </a:r>
          </a:p>
          <a:p>
            <a:pPr eaLnBrk="0" hangingPunct="0"/>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2C29DDE-F544-2166-3F35-84DBC18264F9}"/>
              </a:ext>
            </a:extLst>
          </p:cNvPr>
          <p:cNvSpPr>
            <a:spLocks noGrp="1" noChangeArrowheads="1"/>
          </p:cNvSpPr>
          <p:nvPr>
            <p:ph type="title"/>
          </p:nvPr>
        </p:nvSpPr>
        <p:spPr>
          <a:xfrm>
            <a:off x="762000" y="381000"/>
            <a:ext cx="7772400" cy="685800"/>
          </a:xfrm>
        </p:spPr>
        <p:txBody>
          <a:bodyPr>
            <a:normAutofit fontScale="90000"/>
          </a:bodyPr>
          <a:lstStyle/>
          <a:p>
            <a:r>
              <a:rPr lang="en-US" altLang="en-US"/>
              <a:t>Circuit Switching</a:t>
            </a:r>
          </a:p>
        </p:txBody>
      </p:sp>
      <p:sp>
        <p:nvSpPr>
          <p:cNvPr id="18435" name="Rectangle 3">
            <a:extLst>
              <a:ext uri="{FF2B5EF4-FFF2-40B4-BE49-F238E27FC236}">
                <a16:creationId xmlns:a16="http://schemas.microsoft.com/office/drawing/2014/main" id="{9F07696F-18F1-E2E7-4B7C-694184610F3F}"/>
              </a:ext>
            </a:extLst>
          </p:cNvPr>
          <p:cNvSpPr>
            <a:spLocks noGrp="1" noChangeArrowheads="1"/>
          </p:cNvSpPr>
          <p:nvPr>
            <p:ph type="body" idx="1"/>
          </p:nvPr>
        </p:nvSpPr>
        <p:spPr>
          <a:xfrm>
            <a:off x="685800" y="1371600"/>
            <a:ext cx="7772400" cy="4114800"/>
          </a:xfrm>
        </p:spPr>
        <p:txBody>
          <a:bodyPr>
            <a:normAutofit lnSpcReduction="10000"/>
          </a:bodyPr>
          <a:lstStyle/>
          <a:p>
            <a:r>
              <a:rPr lang="en-US" altLang="en-US" sz="2400" b="1"/>
              <a:t>Circuit switching</a:t>
            </a:r>
            <a:r>
              <a:rPr lang="en-US" altLang="en-US" sz="2400"/>
              <a:t> is a technique that directly connects the sender and the receiver in an unbroken path.</a:t>
            </a:r>
          </a:p>
          <a:p>
            <a:r>
              <a:rPr lang="en-US" altLang="en-US" sz="2400"/>
              <a:t>Telephone switching equipment, for example, establishes a path that connects the caller's telephone to the receiver's telephone by making a physical connection.</a:t>
            </a:r>
          </a:p>
          <a:p>
            <a:r>
              <a:rPr lang="en-US" altLang="en-US" sz="2400"/>
              <a:t>With this type of switching technique, once a connection is established, a dedicated path exists between both ends until the connection is terminated.</a:t>
            </a:r>
          </a:p>
          <a:p>
            <a:r>
              <a:rPr lang="en-US" altLang="en-US" sz="2400"/>
              <a:t>Routing decisions must be made when the circuit is first established, but there are no decisions made after that time. </a:t>
            </a:r>
          </a:p>
          <a:p>
            <a:endParaRPr lang="en-US" altLang="en-US" sz="2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3BDD633-BCD7-CB46-154D-F6FAA1313DE1}"/>
              </a:ext>
            </a:extLst>
          </p:cNvPr>
          <p:cNvSpPr>
            <a:spLocks noGrp="1" noChangeArrowheads="1"/>
          </p:cNvSpPr>
          <p:nvPr>
            <p:ph type="title"/>
          </p:nvPr>
        </p:nvSpPr>
        <p:spPr>
          <a:xfrm>
            <a:off x="1828800" y="304800"/>
            <a:ext cx="5486400" cy="533400"/>
          </a:xfrm>
        </p:spPr>
        <p:txBody>
          <a:bodyPr>
            <a:normAutofit fontScale="90000"/>
          </a:bodyPr>
          <a:lstStyle/>
          <a:p>
            <a:r>
              <a:rPr lang="en-US" altLang="en-US"/>
              <a:t>Circuit Switching</a:t>
            </a:r>
          </a:p>
        </p:txBody>
      </p:sp>
      <p:sp>
        <p:nvSpPr>
          <p:cNvPr id="19459" name="Rectangle 3">
            <a:extLst>
              <a:ext uri="{FF2B5EF4-FFF2-40B4-BE49-F238E27FC236}">
                <a16:creationId xmlns:a16="http://schemas.microsoft.com/office/drawing/2014/main" id="{70285986-44EB-048A-BD4C-3A6E279C5468}"/>
              </a:ext>
            </a:extLst>
          </p:cNvPr>
          <p:cNvSpPr>
            <a:spLocks noGrp="1" noChangeArrowheads="1"/>
          </p:cNvSpPr>
          <p:nvPr>
            <p:ph type="body" idx="1"/>
          </p:nvPr>
        </p:nvSpPr>
        <p:spPr>
          <a:xfrm>
            <a:off x="609600" y="1752600"/>
            <a:ext cx="8077200" cy="4114800"/>
          </a:xfrm>
        </p:spPr>
        <p:txBody>
          <a:bodyPr/>
          <a:lstStyle/>
          <a:p>
            <a:r>
              <a:rPr lang="en-US" altLang="en-US" sz="2400" b="1"/>
              <a:t>Circuit switching</a:t>
            </a:r>
            <a:r>
              <a:rPr lang="en-US" altLang="en-US" sz="2400" i="1"/>
              <a:t> </a:t>
            </a:r>
            <a:r>
              <a:rPr lang="en-US" altLang="en-US" sz="2400"/>
              <a:t>in a network operates almost the same way as  the telephone system works.</a:t>
            </a:r>
          </a:p>
          <a:p>
            <a:r>
              <a:rPr lang="en-US" altLang="en-US" sz="2400"/>
              <a:t>A complete end-to-end path must exist before communication can take place.</a:t>
            </a:r>
          </a:p>
          <a:p>
            <a:r>
              <a:rPr lang="en-US" altLang="en-US" sz="2400"/>
              <a:t>The computer initiating the data transfer must ask for a connection to the destination.</a:t>
            </a:r>
          </a:p>
          <a:p>
            <a:r>
              <a:rPr lang="en-US" altLang="en-US" sz="2400"/>
              <a:t>Once the connection has been initiated and completed to the destination device, the destination device must acknowledge that it is ready and willing to carry on a transfer.</a:t>
            </a:r>
          </a:p>
          <a:p>
            <a:pPr eaLnBrk="0" hangingPunct="0">
              <a:spcBef>
                <a:spcPct val="0"/>
              </a:spcBef>
              <a:buFontTx/>
              <a:buNone/>
            </a:pPr>
            <a:endParaRPr lang="en-US" altLang="en-US" sz="2400"/>
          </a:p>
          <a:p>
            <a:endParaRPr lang="en-US" altLang="en-US" sz="2400"/>
          </a:p>
          <a:p>
            <a:endParaRPr lang="en-US" altLang="en-US" sz="2400"/>
          </a:p>
          <a:p>
            <a:endParaRPr lang="en-US" altLang="en-US" sz="2400"/>
          </a:p>
          <a:p>
            <a:endParaRPr lang="en-US" altLang="en-US"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26E9440-A279-E91E-0555-92D309E51E0C}"/>
              </a:ext>
            </a:extLst>
          </p:cNvPr>
          <p:cNvSpPr>
            <a:spLocks noGrp="1" noChangeArrowheads="1"/>
          </p:cNvSpPr>
          <p:nvPr>
            <p:ph type="title"/>
          </p:nvPr>
        </p:nvSpPr>
        <p:spPr>
          <a:xfrm>
            <a:off x="762000" y="304800"/>
            <a:ext cx="7772400" cy="762000"/>
          </a:xfrm>
        </p:spPr>
        <p:txBody>
          <a:bodyPr/>
          <a:lstStyle/>
          <a:p>
            <a:r>
              <a:rPr lang="en-US" altLang="en-US"/>
              <a:t>Circuit switching</a:t>
            </a:r>
          </a:p>
        </p:txBody>
      </p:sp>
      <p:sp>
        <p:nvSpPr>
          <p:cNvPr id="4099" name="Rectangle 3">
            <a:extLst>
              <a:ext uri="{FF2B5EF4-FFF2-40B4-BE49-F238E27FC236}">
                <a16:creationId xmlns:a16="http://schemas.microsoft.com/office/drawing/2014/main" id="{3B46BFC2-F4AF-3048-09C8-16629039322E}"/>
              </a:ext>
            </a:extLst>
          </p:cNvPr>
          <p:cNvSpPr>
            <a:spLocks noChangeArrowheads="1"/>
          </p:cNvSpPr>
          <p:nvPr/>
        </p:nvSpPr>
        <p:spPr bwMode="auto">
          <a:xfrm>
            <a:off x="457200" y="1676400"/>
            <a:ext cx="82296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i="1"/>
              <a:t>Advantages:</a:t>
            </a:r>
            <a:r>
              <a:rPr lang="en-US" altLang="en-US"/>
              <a:t> </a:t>
            </a:r>
          </a:p>
          <a:p>
            <a:pPr lvl="1" eaLnBrk="0" hangingPunct="0">
              <a:buFontTx/>
              <a:buChar char="•"/>
            </a:pPr>
            <a:r>
              <a:rPr lang="en-US" altLang="en-US"/>
              <a:t> The communication channel (once established) is dedicated. </a:t>
            </a:r>
          </a:p>
          <a:p>
            <a:pPr eaLnBrk="0" hangingPunct="0"/>
            <a:endParaRPr lang="en-US" altLang="en-US"/>
          </a:p>
          <a:p>
            <a:pPr eaLnBrk="0" hangingPunct="0"/>
            <a:r>
              <a:rPr lang="en-US" altLang="en-US" b="1" i="1"/>
              <a:t>Disadvantages: </a:t>
            </a:r>
            <a:endParaRPr lang="en-US" altLang="en-US"/>
          </a:p>
          <a:p>
            <a:pPr lvl="1" eaLnBrk="0" hangingPunct="0">
              <a:buFontTx/>
              <a:buChar char="•"/>
            </a:pPr>
            <a:r>
              <a:rPr lang="en-US" altLang="en-US"/>
              <a:t>  Possible long wait to establish a connection, (10 seconds,   </a:t>
            </a:r>
          </a:p>
          <a:p>
            <a:pPr lvl="1" eaLnBrk="0" hangingPunct="0"/>
            <a:r>
              <a:rPr lang="en-US" altLang="en-US"/>
              <a:t>   more on long- distance or international calls.) during which  </a:t>
            </a:r>
          </a:p>
          <a:p>
            <a:pPr lvl="1" eaLnBrk="0" hangingPunct="0"/>
            <a:r>
              <a:rPr lang="en-US" altLang="en-US"/>
              <a:t>   no data can be transmitted. </a:t>
            </a:r>
          </a:p>
          <a:p>
            <a:pPr lvl="1" eaLnBrk="0" hangingPunct="0">
              <a:buFontTx/>
              <a:buChar char="•"/>
            </a:pPr>
            <a:r>
              <a:rPr lang="en-US" altLang="en-US"/>
              <a:t>  More expensive than any other switching techniques,   </a:t>
            </a:r>
          </a:p>
          <a:p>
            <a:pPr lvl="1" eaLnBrk="0" hangingPunct="0"/>
            <a:r>
              <a:rPr lang="en-US" altLang="en-US"/>
              <a:t>   because a dedicated path is required for each connection. </a:t>
            </a:r>
          </a:p>
          <a:p>
            <a:pPr lvl="1" eaLnBrk="0" hangingPunct="0">
              <a:buFontTx/>
              <a:buChar char="•"/>
            </a:pPr>
            <a:r>
              <a:rPr lang="en-US" altLang="en-US"/>
              <a:t>  Inefficient use of the communication channel, because the </a:t>
            </a:r>
          </a:p>
          <a:p>
            <a:pPr lvl="1" eaLnBrk="0" hangingPunct="0"/>
            <a:r>
              <a:rPr lang="en-US" altLang="en-US"/>
              <a:t>   channel is not used when the connected systems are not  </a:t>
            </a:r>
          </a:p>
          <a:p>
            <a:pPr lvl="1" eaLnBrk="0" hangingPunct="0"/>
            <a:r>
              <a:rPr lang="en-US" altLang="en-US"/>
              <a:t>   using it.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6E1F5E5-A001-1031-C179-4E17F7AEAC24}"/>
              </a:ext>
            </a:extLst>
          </p:cNvPr>
          <p:cNvSpPr>
            <a:spLocks noGrp="1" noChangeArrowheads="1"/>
          </p:cNvSpPr>
          <p:nvPr>
            <p:ph type="title"/>
          </p:nvPr>
        </p:nvSpPr>
        <p:spPr>
          <a:xfrm>
            <a:off x="1600200" y="152400"/>
            <a:ext cx="5791200" cy="609600"/>
          </a:xfrm>
        </p:spPr>
        <p:txBody>
          <a:bodyPr>
            <a:normAutofit fontScale="90000"/>
          </a:bodyPr>
          <a:lstStyle/>
          <a:p>
            <a:r>
              <a:rPr lang="en-US" altLang="en-US"/>
              <a:t>Message Switching</a:t>
            </a:r>
          </a:p>
        </p:txBody>
      </p:sp>
      <p:sp>
        <p:nvSpPr>
          <p:cNvPr id="20483" name="Rectangle 3">
            <a:extLst>
              <a:ext uri="{FF2B5EF4-FFF2-40B4-BE49-F238E27FC236}">
                <a16:creationId xmlns:a16="http://schemas.microsoft.com/office/drawing/2014/main" id="{18BD078E-EB7F-EB26-4B54-B632F3CFE0F3}"/>
              </a:ext>
            </a:extLst>
          </p:cNvPr>
          <p:cNvSpPr>
            <a:spLocks noGrp="1" noChangeArrowheads="1"/>
          </p:cNvSpPr>
          <p:nvPr>
            <p:ph type="body" idx="1"/>
          </p:nvPr>
        </p:nvSpPr>
        <p:spPr>
          <a:xfrm>
            <a:off x="457200" y="1524000"/>
            <a:ext cx="8077200" cy="4800600"/>
          </a:xfrm>
        </p:spPr>
        <p:txBody>
          <a:bodyPr/>
          <a:lstStyle/>
          <a:p>
            <a:r>
              <a:rPr lang="en-US" altLang="en-US" sz="2400"/>
              <a:t>With message switching there is no need to establish a dedicated path between two stations.</a:t>
            </a:r>
          </a:p>
          <a:p>
            <a:r>
              <a:rPr lang="en-US" altLang="en-US" sz="2400"/>
              <a:t>When a station sends a message, the destination address is appended to the message.</a:t>
            </a:r>
          </a:p>
          <a:p>
            <a:r>
              <a:rPr lang="en-US" altLang="en-US" sz="2400"/>
              <a:t>The message is then transmitted through the network, in its entirety, from node to node.</a:t>
            </a:r>
          </a:p>
          <a:p>
            <a:r>
              <a:rPr lang="en-US" altLang="en-US" sz="2400"/>
              <a:t>Each node receives the entire message, stores it in its entirety on disk, and then transmits the message to the next node.</a:t>
            </a:r>
          </a:p>
          <a:p>
            <a:r>
              <a:rPr lang="en-US" altLang="en-US" sz="2400"/>
              <a:t>This type of network is called a store-and-forward network.</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27C9201-FDC6-8B50-9A4D-5CD666A87851}"/>
              </a:ext>
            </a:extLst>
          </p:cNvPr>
          <p:cNvSpPr>
            <a:spLocks noGrp="1" noChangeArrowheads="1"/>
          </p:cNvSpPr>
          <p:nvPr>
            <p:ph type="title"/>
          </p:nvPr>
        </p:nvSpPr>
        <p:spPr>
          <a:xfrm>
            <a:off x="838200" y="304800"/>
            <a:ext cx="7772400" cy="533400"/>
          </a:xfrm>
        </p:spPr>
        <p:txBody>
          <a:bodyPr>
            <a:normAutofit fontScale="90000"/>
          </a:bodyPr>
          <a:lstStyle/>
          <a:p>
            <a:r>
              <a:rPr lang="en-US" altLang="en-US"/>
              <a:t>Message Switching</a:t>
            </a:r>
          </a:p>
        </p:txBody>
      </p:sp>
      <p:pic>
        <p:nvPicPr>
          <p:cNvPr id="6148" name="Picture 4" descr="Message Switching">
            <a:extLst>
              <a:ext uri="{FF2B5EF4-FFF2-40B4-BE49-F238E27FC236}">
                <a16:creationId xmlns:a16="http://schemas.microsoft.com/office/drawing/2014/main" id="{9B0BE512-D6B1-6163-B348-B1CA8C8322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143000"/>
            <a:ext cx="6743700" cy="2892425"/>
          </a:xfrm>
          <a:prstGeom prst="rect">
            <a:avLst/>
          </a:prstGeom>
          <a:noFill/>
          <a:extLst>
            <a:ext uri="{909E8E84-426E-40DD-AFC4-6F175D3DCCD1}">
              <a14:hiddenFill xmlns:a14="http://schemas.microsoft.com/office/drawing/2010/main">
                <a:solidFill>
                  <a:srgbClr val="FFFFFF"/>
                </a:solidFill>
              </a14:hiddenFill>
            </a:ext>
          </a:extLst>
        </p:spPr>
      </p:pic>
      <p:sp>
        <p:nvSpPr>
          <p:cNvPr id="6149" name="Rectangle 5">
            <a:extLst>
              <a:ext uri="{FF2B5EF4-FFF2-40B4-BE49-F238E27FC236}">
                <a16:creationId xmlns:a16="http://schemas.microsoft.com/office/drawing/2014/main" id="{AB43597B-5DD5-336A-EF7D-0104E2361125}"/>
              </a:ext>
            </a:extLst>
          </p:cNvPr>
          <p:cNvSpPr>
            <a:spLocks noChangeArrowheads="1"/>
          </p:cNvSpPr>
          <p:nvPr/>
        </p:nvSpPr>
        <p:spPr bwMode="auto">
          <a:xfrm>
            <a:off x="533400" y="4114800"/>
            <a:ext cx="7848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A message-switching node is typically a general-purpose computer. The device needs sufficient secondary-storage capacity to store the incoming messages, which could be long. A time delay is introduced using this type of scheme due to store- and-forward time, plus the time required to find the next node in the transmission path.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85662E7-82D5-7E35-C92B-E073BC7889D6}"/>
              </a:ext>
            </a:extLst>
          </p:cNvPr>
          <p:cNvSpPr>
            <a:spLocks noGrp="1" noChangeArrowheads="1"/>
          </p:cNvSpPr>
          <p:nvPr>
            <p:ph type="title"/>
          </p:nvPr>
        </p:nvSpPr>
        <p:spPr>
          <a:xfrm>
            <a:off x="685800" y="609600"/>
            <a:ext cx="7772400" cy="762000"/>
          </a:xfrm>
        </p:spPr>
        <p:txBody>
          <a:bodyPr/>
          <a:lstStyle/>
          <a:p>
            <a:r>
              <a:rPr lang="en-US" altLang="en-US"/>
              <a:t>Message Switching</a:t>
            </a:r>
          </a:p>
        </p:txBody>
      </p:sp>
      <p:sp>
        <p:nvSpPr>
          <p:cNvPr id="7171" name="Rectangle 3">
            <a:extLst>
              <a:ext uri="{FF2B5EF4-FFF2-40B4-BE49-F238E27FC236}">
                <a16:creationId xmlns:a16="http://schemas.microsoft.com/office/drawing/2014/main" id="{8E5BBBAC-EE64-7DC6-9476-D9FCF1EBA6B7}"/>
              </a:ext>
            </a:extLst>
          </p:cNvPr>
          <p:cNvSpPr>
            <a:spLocks noChangeArrowheads="1"/>
          </p:cNvSpPr>
          <p:nvPr/>
        </p:nvSpPr>
        <p:spPr bwMode="auto">
          <a:xfrm>
            <a:off x="304800" y="1981200"/>
            <a:ext cx="86106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i="1"/>
              <a:t>Advantages:</a:t>
            </a:r>
            <a:r>
              <a:rPr lang="en-US" altLang="en-US"/>
              <a:t> </a:t>
            </a:r>
          </a:p>
          <a:p>
            <a:pPr lvl="1" eaLnBrk="0" hangingPunct="0">
              <a:buFontTx/>
              <a:buChar char="•"/>
            </a:pPr>
            <a:r>
              <a:rPr lang="en-US" altLang="en-US"/>
              <a:t>   Channel efficiency can be greater compared to circuit-  </a:t>
            </a:r>
          </a:p>
          <a:p>
            <a:pPr lvl="1" eaLnBrk="0" hangingPunct="0"/>
            <a:r>
              <a:rPr lang="en-US" altLang="en-US"/>
              <a:t>    switched systems, because more devices are sharing the  </a:t>
            </a:r>
          </a:p>
          <a:p>
            <a:pPr lvl="1" eaLnBrk="0" hangingPunct="0"/>
            <a:r>
              <a:rPr lang="en-US" altLang="en-US"/>
              <a:t>    channel. </a:t>
            </a:r>
          </a:p>
          <a:p>
            <a:pPr lvl="1" eaLnBrk="0" hangingPunct="0">
              <a:buFontTx/>
              <a:buChar char="•"/>
            </a:pPr>
            <a:r>
              <a:rPr lang="en-US" altLang="en-US"/>
              <a:t>  Traffic congestion can be reduced, because messages may be </a:t>
            </a:r>
          </a:p>
          <a:p>
            <a:pPr lvl="1" eaLnBrk="0" hangingPunct="0"/>
            <a:r>
              <a:rPr lang="en-US" altLang="en-US"/>
              <a:t>   temporarily stored in route. </a:t>
            </a:r>
          </a:p>
          <a:p>
            <a:pPr lvl="1" eaLnBrk="0" hangingPunct="0">
              <a:buFontTx/>
              <a:buChar char="•"/>
            </a:pPr>
            <a:r>
              <a:rPr lang="en-US" altLang="en-US"/>
              <a:t>  Message priorities can be established due to store-and-forward </a:t>
            </a:r>
          </a:p>
          <a:p>
            <a:pPr lvl="1" eaLnBrk="0" hangingPunct="0"/>
            <a:r>
              <a:rPr lang="en-US" altLang="en-US"/>
              <a:t>   technique. </a:t>
            </a:r>
          </a:p>
          <a:p>
            <a:pPr lvl="1" eaLnBrk="0" hangingPunct="0">
              <a:buFontTx/>
              <a:buChar char="•"/>
            </a:pPr>
            <a:r>
              <a:rPr lang="en-US" altLang="en-US"/>
              <a:t>  Message broadcasting can be achieved with the use of </a:t>
            </a:r>
          </a:p>
          <a:p>
            <a:pPr lvl="1" eaLnBrk="0" hangingPunct="0"/>
            <a:r>
              <a:rPr lang="en-US" altLang="en-US"/>
              <a:t>   broadcast address appended in the message.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C67A907-EB64-850F-E3BE-4A9542746DA1}"/>
              </a:ext>
            </a:extLst>
          </p:cNvPr>
          <p:cNvSpPr>
            <a:spLocks noGrp="1" noChangeArrowheads="1"/>
          </p:cNvSpPr>
          <p:nvPr>
            <p:ph type="title"/>
          </p:nvPr>
        </p:nvSpPr>
        <p:spPr/>
        <p:txBody>
          <a:bodyPr/>
          <a:lstStyle/>
          <a:p>
            <a:r>
              <a:rPr lang="en-US" altLang="en-US"/>
              <a:t>Message Switching</a:t>
            </a:r>
          </a:p>
        </p:txBody>
      </p:sp>
      <p:sp>
        <p:nvSpPr>
          <p:cNvPr id="8195" name="Rectangle 3">
            <a:extLst>
              <a:ext uri="{FF2B5EF4-FFF2-40B4-BE49-F238E27FC236}">
                <a16:creationId xmlns:a16="http://schemas.microsoft.com/office/drawing/2014/main" id="{9CBD40EC-80E8-D4B8-42D9-4127C2667BA1}"/>
              </a:ext>
            </a:extLst>
          </p:cNvPr>
          <p:cNvSpPr>
            <a:spLocks noChangeArrowheads="1"/>
          </p:cNvSpPr>
          <p:nvPr/>
        </p:nvSpPr>
        <p:spPr bwMode="auto">
          <a:xfrm>
            <a:off x="609600" y="2667000"/>
            <a:ext cx="7848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i="1"/>
              <a:t>Disadvantages</a:t>
            </a:r>
            <a:r>
              <a:rPr lang="en-US" altLang="en-US"/>
              <a:t> </a:t>
            </a:r>
          </a:p>
          <a:p>
            <a:pPr lvl="1" eaLnBrk="0" hangingPunct="0">
              <a:buFontTx/>
              <a:buChar char="•"/>
            </a:pPr>
            <a:r>
              <a:rPr lang="en-US" altLang="en-US"/>
              <a:t>   Message switching is not compatible with interactive </a:t>
            </a:r>
          </a:p>
          <a:p>
            <a:pPr lvl="1" eaLnBrk="0" hangingPunct="0"/>
            <a:r>
              <a:rPr lang="en-US" altLang="en-US"/>
              <a:t>    applications. </a:t>
            </a:r>
          </a:p>
          <a:p>
            <a:pPr lvl="1" eaLnBrk="0" hangingPunct="0">
              <a:buFontTx/>
              <a:buChar char="•"/>
            </a:pPr>
            <a:r>
              <a:rPr lang="en-US" altLang="en-US"/>
              <a:t>   Store-and-forward devices are expensive, because they  </a:t>
            </a:r>
          </a:p>
          <a:p>
            <a:pPr lvl="1" eaLnBrk="0" hangingPunct="0"/>
            <a:r>
              <a:rPr lang="en-US" altLang="en-US"/>
              <a:t>    must have large disks to hold potentially long messages.</a:t>
            </a:r>
          </a:p>
          <a:p>
            <a:pPr eaLnBrk="0" hangingPunct="0"/>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B0E5DCD-FA1E-CEF7-3FBB-18CEA1CA67F2}"/>
              </a:ext>
            </a:extLst>
          </p:cNvPr>
          <p:cNvSpPr>
            <a:spLocks noGrp="1" noChangeArrowheads="1"/>
          </p:cNvSpPr>
          <p:nvPr>
            <p:ph type="title"/>
          </p:nvPr>
        </p:nvSpPr>
        <p:spPr>
          <a:xfrm>
            <a:off x="1905000" y="304800"/>
            <a:ext cx="5181600" cy="533400"/>
          </a:xfrm>
        </p:spPr>
        <p:txBody>
          <a:bodyPr>
            <a:normAutofit fontScale="90000"/>
          </a:bodyPr>
          <a:lstStyle/>
          <a:p>
            <a:r>
              <a:rPr lang="en-US" altLang="en-US"/>
              <a:t>Packet Switching</a:t>
            </a:r>
          </a:p>
        </p:txBody>
      </p:sp>
      <p:sp>
        <p:nvSpPr>
          <p:cNvPr id="9219" name="Rectangle 3">
            <a:extLst>
              <a:ext uri="{FF2B5EF4-FFF2-40B4-BE49-F238E27FC236}">
                <a16:creationId xmlns:a16="http://schemas.microsoft.com/office/drawing/2014/main" id="{2F9C34CD-5025-747B-49AB-CB25D8ADC6A3}"/>
              </a:ext>
            </a:extLst>
          </p:cNvPr>
          <p:cNvSpPr>
            <a:spLocks noChangeArrowheads="1"/>
          </p:cNvSpPr>
          <p:nvPr/>
        </p:nvSpPr>
        <p:spPr bwMode="auto">
          <a:xfrm>
            <a:off x="228600" y="1219200"/>
            <a:ext cx="86868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en-US" altLang="en-US" i="1"/>
              <a:t>  Packet switching </a:t>
            </a:r>
            <a:r>
              <a:rPr lang="en-US" altLang="en-US"/>
              <a:t>can be seen as a solution that tries to combine the  </a:t>
            </a:r>
          </a:p>
          <a:p>
            <a:r>
              <a:rPr lang="en-US" altLang="en-US"/>
              <a:t>   advantages of message and circuit switching and to minimize the </a:t>
            </a:r>
          </a:p>
          <a:p>
            <a:r>
              <a:rPr lang="en-US" altLang="en-US"/>
              <a:t>   disadvantages of both.  </a:t>
            </a:r>
          </a:p>
          <a:p>
            <a:pPr>
              <a:buFontTx/>
              <a:buChar char="•"/>
            </a:pPr>
            <a:r>
              <a:rPr lang="en-US" altLang="en-US"/>
              <a:t>  There are two methods of packet switching: Datagram </a:t>
            </a:r>
          </a:p>
          <a:p>
            <a:r>
              <a:rPr lang="en-US" altLang="en-US"/>
              <a:t>   and virtual circuit.</a:t>
            </a:r>
          </a:p>
        </p:txBody>
      </p:sp>
      <p:pic>
        <p:nvPicPr>
          <p:cNvPr id="9221" name="Picture 5">
            <a:extLst>
              <a:ext uri="{FF2B5EF4-FFF2-40B4-BE49-F238E27FC236}">
                <a16:creationId xmlns:a16="http://schemas.microsoft.com/office/drawing/2014/main" id="{A236A289-EE5C-A3A8-685A-FAAF60E7F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200400"/>
            <a:ext cx="7108825" cy="31543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F08461F-F28D-201B-EBDD-08D500A64396}"/>
              </a:ext>
            </a:extLst>
          </p:cNvPr>
          <p:cNvSpPr>
            <a:spLocks noGrp="1" noChangeArrowheads="1"/>
          </p:cNvSpPr>
          <p:nvPr>
            <p:ph type="title"/>
          </p:nvPr>
        </p:nvSpPr>
        <p:spPr>
          <a:xfrm>
            <a:off x="762000" y="381000"/>
            <a:ext cx="7772400" cy="838200"/>
          </a:xfrm>
        </p:spPr>
        <p:txBody>
          <a:bodyPr/>
          <a:lstStyle/>
          <a:p>
            <a:r>
              <a:rPr lang="en-US" altLang="en-US"/>
              <a:t>Packet Switching</a:t>
            </a:r>
          </a:p>
        </p:txBody>
      </p:sp>
      <p:sp>
        <p:nvSpPr>
          <p:cNvPr id="10243" name="Rectangle 3">
            <a:extLst>
              <a:ext uri="{FF2B5EF4-FFF2-40B4-BE49-F238E27FC236}">
                <a16:creationId xmlns:a16="http://schemas.microsoft.com/office/drawing/2014/main" id="{83521CEB-9222-CC32-BD7E-7224A265F2FB}"/>
              </a:ext>
            </a:extLst>
          </p:cNvPr>
          <p:cNvSpPr>
            <a:spLocks noChangeArrowheads="1"/>
          </p:cNvSpPr>
          <p:nvPr/>
        </p:nvSpPr>
        <p:spPr bwMode="auto">
          <a:xfrm>
            <a:off x="609600" y="1524000"/>
            <a:ext cx="822960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en-US" altLang="en-US"/>
              <a:t>   In both packet switching methods, a message is broken into   </a:t>
            </a:r>
          </a:p>
          <a:p>
            <a:r>
              <a:rPr lang="en-US" altLang="en-US"/>
              <a:t>     small parts, called packets. </a:t>
            </a:r>
          </a:p>
          <a:p>
            <a:pPr>
              <a:buFontTx/>
              <a:buChar char="•"/>
            </a:pPr>
            <a:r>
              <a:rPr lang="en-US" altLang="en-US"/>
              <a:t>   Each packet is tagged with appropriate source and destination   </a:t>
            </a:r>
          </a:p>
          <a:p>
            <a:r>
              <a:rPr lang="en-US" altLang="en-US"/>
              <a:t>    addresses. </a:t>
            </a:r>
          </a:p>
          <a:p>
            <a:pPr>
              <a:buFontTx/>
              <a:buChar char="•"/>
            </a:pPr>
            <a:r>
              <a:rPr lang="en-US" altLang="en-US"/>
              <a:t>   Since packets have a strictly defined maximum length, they </a:t>
            </a:r>
          </a:p>
          <a:p>
            <a:r>
              <a:rPr lang="en-US" altLang="en-US"/>
              <a:t>    can be stored in main memory instead of disk, therefore access </a:t>
            </a:r>
          </a:p>
          <a:p>
            <a:r>
              <a:rPr lang="en-US" altLang="en-US"/>
              <a:t>    delay and cost are minimized.</a:t>
            </a:r>
          </a:p>
          <a:p>
            <a:pPr>
              <a:buFontTx/>
              <a:buChar char="•"/>
            </a:pPr>
            <a:r>
              <a:rPr lang="en-US" altLang="en-US"/>
              <a:t>   Also the transmission speeds, between nodes, are optimized.</a:t>
            </a:r>
          </a:p>
          <a:p>
            <a:pPr>
              <a:buFontTx/>
              <a:buChar char="•"/>
            </a:pPr>
            <a:r>
              <a:rPr lang="en-US" altLang="en-US"/>
              <a:t>   With current technology, packets are generally accepted onto </a:t>
            </a:r>
          </a:p>
          <a:p>
            <a:r>
              <a:rPr lang="en-US" altLang="en-US"/>
              <a:t>    the network on a first-come, first-served basis. If the network </a:t>
            </a:r>
          </a:p>
          <a:p>
            <a:r>
              <a:rPr lang="en-US" altLang="en-US"/>
              <a:t>    becomes overloaded, packets are delayed or discarded </a:t>
            </a:r>
          </a:p>
          <a:p>
            <a:r>
              <a:rPr lang="en-US" altLang="en-US"/>
              <a:t>    (``dropped''). </a:t>
            </a:r>
          </a:p>
          <a:p>
            <a:pPr eaLnBrk="0" hangingPunct="0"/>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1FBA603-7C0D-8153-4F3B-457B0D2B138B}"/>
              </a:ext>
            </a:extLst>
          </p:cNvPr>
          <p:cNvSpPr>
            <a:spLocks noGrp="1" noChangeArrowheads="1"/>
          </p:cNvSpPr>
          <p:nvPr>
            <p:ph type="title"/>
          </p:nvPr>
        </p:nvSpPr>
        <p:spPr>
          <a:xfrm>
            <a:off x="2286000" y="228600"/>
            <a:ext cx="4800600" cy="457200"/>
          </a:xfrm>
        </p:spPr>
        <p:txBody>
          <a:bodyPr>
            <a:normAutofit fontScale="90000"/>
          </a:bodyPr>
          <a:lstStyle/>
          <a:p>
            <a:r>
              <a:rPr lang="en-US" altLang="en-US"/>
              <a:t>Packet size</a:t>
            </a:r>
          </a:p>
        </p:txBody>
      </p:sp>
      <p:sp>
        <p:nvSpPr>
          <p:cNvPr id="17411" name="Rectangle 3">
            <a:extLst>
              <a:ext uri="{FF2B5EF4-FFF2-40B4-BE49-F238E27FC236}">
                <a16:creationId xmlns:a16="http://schemas.microsoft.com/office/drawing/2014/main" id="{5ED5EAA9-91FD-174A-DB07-9CCBB7E9120E}"/>
              </a:ext>
            </a:extLst>
          </p:cNvPr>
          <p:cNvSpPr>
            <a:spLocks noGrp="1" noChangeArrowheads="1"/>
          </p:cNvSpPr>
          <p:nvPr>
            <p:ph type="body" idx="1"/>
          </p:nvPr>
        </p:nvSpPr>
        <p:spPr>
          <a:xfrm>
            <a:off x="304800" y="1905000"/>
            <a:ext cx="8610600" cy="2667000"/>
          </a:xfrm>
        </p:spPr>
        <p:txBody>
          <a:bodyPr/>
          <a:lstStyle/>
          <a:p>
            <a:r>
              <a:rPr lang="en-US" altLang="en-US" sz="2400">
                <a:latin typeface="Georgia" panose="02040502050405020303" pitchFamily="18" charset="0"/>
              </a:rPr>
              <a:t>The size of the packet can vary from 180 bits, the size for the Datakit® virtual circuit switch designed by Bell Labs for communications and business applications; to 1,024 or 2,048 bits for the 1PSS® switch, also designed by Bell Labs for public data networking; to 53 bytes for ATM switching, such as Lucent Technologies' packet switches.</a:t>
            </a:r>
          </a:p>
          <a:p>
            <a:endParaRPr lang="en-US" altLang="en-US" sz="24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2BAD9D2-5E88-8F13-B748-E44970BFA393}"/>
              </a:ext>
            </a:extLst>
          </p:cNvPr>
          <p:cNvSpPr>
            <a:spLocks noGrp="1" noChangeArrowheads="1"/>
          </p:cNvSpPr>
          <p:nvPr>
            <p:ph type="title"/>
          </p:nvPr>
        </p:nvSpPr>
        <p:spPr>
          <a:xfrm>
            <a:off x="685800" y="228600"/>
            <a:ext cx="7772400" cy="533400"/>
          </a:xfrm>
        </p:spPr>
        <p:txBody>
          <a:bodyPr>
            <a:normAutofit fontScale="90000"/>
          </a:bodyPr>
          <a:lstStyle/>
          <a:p>
            <a:r>
              <a:rPr lang="en-US" altLang="en-US"/>
              <a:t>Packet switching</a:t>
            </a:r>
          </a:p>
        </p:txBody>
      </p:sp>
      <p:sp>
        <p:nvSpPr>
          <p:cNvPr id="16387" name="Rectangle 3">
            <a:extLst>
              <a:ext uri="{FF2B5EF4-FFF2-40B4-BE49-F238E27FC236}">
                <a16:creationId xmlns:a16="http://schemas.microsoft.com/office/drawing/2014/main" id="{DD3E1DB6-3F2E-8346-9BF4-21CE3AA47B25}"/>
              </a:ext>
            </a:extLst>
          </p:cNvPr>
          <p:cNvSpPr>
            <a:spLocks noGrp="1" noChangeArrowheads="1"/>
          </p:cNvSpPr>
          <p:nvPr>
            <p:ph type="body" idx="1"/>
          </p:nvPr>
        </p:nvSpPr>
        <p:spPr>
          <a:xfrm>
            <a:off x="685800" y="1143000"/>
            <a:ext cx="7772400" cy="5181600"/>
          </a:xfrm>
        </p:spPr>
        <p:txBody>
          <a:bodyPr>
            <a:normAutofit lnSpcReduction="10000"/>
          </a:bodyPr>
          <a:lstStyle/>
          <a:p>
            <a:pPr>
              <a:lnSpc>
                <a:spcPct val="90000"/>
              </a:lnSpc>
            </a:pPr>
            <a:r>
              <a:rPr lang="en-US" altLang="en-US" sz="2400">
                <a:solidFill>
                  <a:srgbClr val="000000"/>
                </a:solidFill>
              </a:rPr>
              <a:t>In packet switching, the analog signal from your phone is converted into a digital data stream. That series of digital bits is then divided into relatively tiny clusters of bits, called packets. Each packet has at its beginning the digital address -- a long number -- to which it is being sent. The system blasts out all those tiny packets, as fast as it can, and they travel across the nation's digital backbone systems to their destination: the telephone, or rather the telephone system, of the person you're calling. </a:t>
            </a:r>
          </a:p>
          <a:p>
            <a:pPr>
              <a:lnSpc>
                <a:spcPct val="90000"/>
              </a:lnSpc>
            </a:pPr>
            <a:r>
              <a:rPr lang="en-US" altLang="en-US" sz="2400">
                <a:solidFill>
                  <a:srgbClr val="000000"/>
                </a:solidFill>
              </a:rPr>
              <a:t>They do not necessarily travel together; they do not travel sequentially. They don't even all travel via the same route. But eventually they arrive at the right point -- that digital address added to the front of each string of digital data -- and at their destination are reassembled into the correct order</a:t>
            </a:r>
            <a:r>
              <a:rPr lang="en-US" altLang="en-US" sz="2400">
                <a:solidFill>
                  <a:srgbClr val="000000"/>
                </a:solidFill>
                <a:latin typeface="Arial" panose="020B0604020202020204" pitchFamily="34" charset="0"/>
              </a:rPr>
              <a:t>, </a:t>
            </a:r>
            <a:r>
              <a:rPr lang="en-US" altLang="en-US" sz="2400">
                <a:solidFill>
                  <a:srgbClr val="000000"/>
                </a:solidFill>
              </a:rPr>
              <a:t>then converted to analog form, so your friend can understand what you're saying. </a:t>
            </a:r>
          </a:p>
          <a:p>
            <a:pPr>
              <a:lnSpc>
                <a:spcPct val="90000"/>
              </a:lnSpc>
            </a:pPr>
            <a:endParaRPr lang="en-US" altLang="en-US" sz="2400">
              <a:solidFill>
                <a:srgbClr val="000000"/>
              </a:solidFill>
            </a:endParaRPr>
          </a:p>
          <a:p>
            <a:pPr>
              <a:lnSpc>
                <a:spcPct val="90000"/>
              </a:lnSpc>
            </a:pPr>
            <a:endParaRPr lang="en-US" altLang="en-US" sz="20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6653CEB-6C2F-0EF7-71D4-06921812C2DB}"/>
              </a:ext>
            </a:extLst>
          </p:cNvPr>
          <p:cNvSpPr>
            <a:spLocks noGrp="1" noChangeArrowheads="1"/>
          </p:cNvSpPr>
          <p:nvPr>
            <p:ph type="title"/>
          </p:nvPr>
        </p:nvSpPr>
        <p:spPr>
          <a:xfrm>
            <a:off x="685800" y="228600"/>
            <a:ext cx="7772400" cy="762000"/>
          </a:xfrm>
        </p:spPr>
        <p:txBody>
          <a:bodyPr/>
          <a:lstStyle/>
          <a:p>
            <a:r>
              <a:rPr lang="en-US" altLang="en-US"/>
              <a:t>Packet Switching: Datagram</a:t>
            </a:r>
          </a:p>
        </p:txBody>
      </p:sp>
      <p:sp>
        <p:nvSpPr>
          <p:cNvPr id="11267" name="Rectangle 3">
            <a:extLst>
              <a:ext uri="{FF2B5EF4-FFF2-40B4-BE49-F238E27FC236}">
                <a16:creationId xmlns:a16="http://schemas.microsoft.com/office/drawing/2014/main" id="{16FB8B7A-921E-473A-3E94-BA8D2CDE3B56}"/>
              </a:ext>
            </a:extLst>
          </p:cNvPr>
          <p:cNvSpPr>
            <a:spLocks noChangeArrowheads="1"/>
          </p:cNvSpPr>
          <p:nvPr/>
        </p:nvSpPr>
        <p:spPr bwMode="auto">
          <a:xfrm>
            <a:off x="457200" y="1143000"/>
            <a:ext cx="830580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en-US" altLang="en-US"/>
              <a:t>  Datagram packet switching is similar to message switching in   </a:t>
            </a:r>
          </a:p>
          <a:p>
            <a:r>
              <a:rPr lang="en-US" altLang="en-US"/>
              <a:t>   that each packet is a self-contained unit with complete </a:t>
            </a:r>
          </a:p>
          <a:p>
            <a:r>
              <a:rPr lang="en-US" altLang="en-US"/>
              <a:t>   addressing information attached. </a:t>
            </a:r>
          </a:p>
          <a:p>
            <a:pPr>
              <a:buFontTx/>
              <a:buChar char="•"/>
            </a:pPr>
            <a:r>
              <a:rPr lang="en-US" altLang="en-US"/>
              <a:t>  This fact allows packets to take a variety of possible paths </a:t>
            </a:r>
          </a:p>
          <a:p>
            <a:r>
              <a:rPr lang="en-US" altLang="en-US"/>
              <a:t>    through the network. </a:t>
            </a:r>
          </a:p>
          <a:p>
            <a:pPr>
              <a:buFontTx/>
              <a:buChar char="•"/>
            </a:pPr>
            <a:r>
              <a:rPr lang="en-US" altLang="en-US"/>
              <a:t>  So the packets, each with the same destination address, do not </a:t>
            </a:r>
          </a:p>
          <a:p>
            <a:r>
              <a:rPr lang="en-US" altLang="en-US"/>
              <a:t>   follow the same route, and they may arrive out of sequence at  </a:t>
            </a:r>
          </a:p>
          <a:p>
            <a:r>
              <a:rPr lang="en-US" altLang="en-US"/>
              <a:t>   the exit point node (or the destination). </a:t>
            </a:r>
          </a:p>
          <a:p>
            <a:pPr>
              <a:buFontTx/>
              <a:buChar char="•"/>
            </a:pPr>
            <a:r>
              <a:rPr lang="en-US" altLang="en-US"/>
              <a:t> Reordering is done at the destination point based on the  </a:t>
            </a:r>
          </a:p>
          <a:p>
            <a:r>
              <a:rPr lang="en-US" altLang="en-US"/>
              <a:t>  sequence number of the packets. </a:t>
            </a:r>
          </a:p>
          <a:p>
            <a:pPr>
              <a:buFontTx/>
              <a:buChar char="•"/>
            </a:pPr>
            <a:r>
              <a:rPr lang="en-US" altLang="en-US"/>
              <a:t> It is possible for a packet to be destroyed if one of the nodes on </a:t>
            </a:r>
          </a:p>
          <a:p>
            <a:r>
              <a:rPr lang="en-US" altLang="en-US"/>
              <a:t>  its way is crashed momentarily. Thus all its queued packets may  </a:t>
            </a:r>
          </a:p>
          <a:p>
            <a:r>
              <a:rPr lang="en-US" altLang="en-US"/>
              <a:t>  be lost.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D34030B-E146-C9E0-EB54-99D9C74DE72F}"/>
              </a:ext>
            </a:extLst>
          </p:cNvPr>
          <p:cNvSpPr>
            <a:spLocks noGrp="1" noChangeArrowheads="1"/>
          </p:cNvSpPr>
          <p:nvPr>
            <p:ph type="title"/>
          </p:nvPr>
        </p:nvSpPr>
        <p:spPr>
          <a:xfrm>
            <a:off x="685800" y="304800"/>
            <a:ext cx="7772400" cy="685800"/>
          </a:xfrm>
        </p:spPr>
        <p:txBody>
          <a:bodyPr>
            <a:normAutofit fontScale="90000"/>
          </a:bodyPr>
          <a:lstStyle/>
          <a:p>
            <a:r>
              <a:rPr lang="en-US" altLang="en-US"/>
              <a:t>Packet Switching:Virtual Circuit</a:t>
            </a:r>
          </a:p>
        </p:txBody>
      </p:sp>
      <p:sp>
        <p:nvSpPr>
          <p:cNvPr id="12291" name="Rectangle 3">
            <a:extLst>
              <a:ext uri="{FF2B5EF4-FFF2-40B4-BE49-F238E27FC236}">
                <a16:creationId xmlns:a16="http://schemas.microsoft.com/office/drawing/2014/main" id="{497E4807-61C3-EDF8-63A1-E7DE205F2655}"/>
              </a:ext>
            </a:extLst>
          </p:cNvPr>
          <p:cNvSpPr>
            <a:spLocks noChangeArrowheads="1"/>
          </p:cNvSpPr>
          <p:nvPr/>
        </p:nvSpPr>
        <p:spPr bwMode="auto">
          <a:xfrm>
            <a:off x="381000" y="1447800"/>
            <a:ext cx="8534400" cy="520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en-US" altLang="en-US"/>
              <a:t>   In the virtual circuit approach, a preplanned route is established </a:t>
            </a:r>
          </a:p>
          <a:p>
            <a:r>
              <a:rPr lang="en-US" altLang="en-US"/>
              <a:t>    before any data packets are sent. </a:t>
            </a:r>
          </a:p>
          <a:p>
            <a:pPr>
              <a:buFontTx/>
              <a:buChar char="•"/>
            </a:pPr>
            <a:r>
              <a:rPr lang="en-US" altLang="en-US"/>
              <a:t>  A logical connection is established when </a:t>
            </a:r>
          </a:p>
          <a:p>
            <a:pPr>
              <a:buFont typeface="Wingdings" panose="05000000000000000000" pitchFamily="2" charset="2"/>
              <a:buChar char="Ø"/>
            </a:pPr>
            <a:r>
              <a:rPr lang="en-US" altLang="en-US"/>
              <a:t>      a sender send a "call  request packet" to the receiver and </a:t>
            </a:r>
          </a:p>
          <a:p>
            <a:pPr>
              <a:buFont typeface="Wingdings" panose="05000000000000000000" pitchFamily="2" charset="2"/>
              <a:buChar char="Ø"/>
            </a:pPr>
            <a:r>
              <a:rPr lang="en-US" altLang="en-US"/>
              <a:t>      the receiver send back an acknowledge packet "call accepted </a:t>
            </a:r>
          </a:p>
          <a:p>
            <a:r>
              <a:rPr lang="en-US" altLang="en-US"/>
              <a:t>         packet" to the sender if the  receiver agrees on conversational </a:t>
            </a:r>
          </a:p>
          <a:p>
            <a:r>
              <a:rPr lang="en-US" altLang="en-US"/>
              <a:t>         parameters.</a:t>
            </a:r>
          </a:p>
          <a:p>
            <a:pPr>
              <a:buFontTx/>
              <a:buChar char="•"/>
            </a:pPr>
            <a:r>
              <a:rPr lang="en-US" altLang="en-US"/>
              <a:t>  The conversational parameters can be maximum packet sizes, </a:t>
            </a:r>
          </a:p>
          <a:p>
            <a:r>
              <a:rPr lang="en-US" altLang="en-US"/>
              <a:t>   path to be taken, and other variables necessary to establish and </a:t>
            </a:r>
          </a:p>
          <a:p>
            <a:r>
              <a:rPr lang="en-US" altLang="en-US"/>
              <a:t>   maintain the conversation. </a:t>
            </a:r>
          </a:p>
          <a:p>
            <a:pPr>
              <a:buFontTx/>
              <a:buChar char="•"/>
            </a:pPr>
            <a:r>
              <a:rPr lang="en-US" altLang="en-US"/>
              <a:t> Virtual circuits imply acknowledgements, flow control, and error  </a:t>
            </a:r>
          </a:p>
          <a:p>
            <a:r>
              <a:rPr lang="en-US" altLang="en-US"/>
              <a:t>  control, so virtual circuits are reliable.</a:t>
            </a:r>
          </a:p>
          <a:p>
            <a:pPr>
              <a:buFontTx/>
              <a:buChar char="•"/>
            </a:pPr>
            <a:r>
              <a:rPr lang="en-US" altLang="en-US"/>
              <a:t> That is, they have the capability to inform upper-protocol layers </a:t>
            </a:r>
          </a:p>
          <a:p>
            <a:r>
              <a:rPr lang="en-US" altLang="en-US"/>
              <a:t>  if a transmission problem occurs.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0912784-3AB3-99A8-AD13-7E51C2F9A8F3}"/>
              </a:ext>
            </a:extLst>
          </p:cNvPr>
          <p:cNvSpPr>
            <a:spLocks noGrp="1" noChangeArrowheads="1"/>
          </p:cNvSpPr>
          <p:nvPr>
            <p:ph type="title"/>
          </p:nvPr>
        </p:nvSpPr>
        <p:spPr/>
        <p:txBody>
          <a:bodyPr/>
          <a:lstStyle/>
          <a:p>
            <a:r>
              <a:rPr lang="en-US" altLang="en-US"/>
              <a:t>Packet Switching:Virtual Circuit</a:t>
            </a:r>
          </a:p>
        </p:txBody>
      </p:sp>
      <p:sp>
        <p:nvSpPr>
          <p:cNvPr id="13315" name="Rectangle 3">
            <a:extLst>
              <a:ext uri="{FF2B5EF4-FFF2-40B4-BE49-F238E27FC236}">
                <a16:creationId xmlns:a16="http://schemas.microsoft.com/office/drawing/2014/main" id="{A425AA0A-582D-5A95-2586-1BD18095D6F8}"/>
              </a:ext>
            </a:extLst>
          </p:cNvPr>
          <p:cNvSpPr>
            <a:spLocks noChangeArrowheads="1"/>
          </p:cNvSpPr>
          <p:nvPr/>
        </p:nvSpPr>
        <p:spPr bwMode="auto">
          <a:xfrm>
            <a:off x="228600" y="2438400"/>
            <a:ext cx="86106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en-US" altLang="en-US"/>
              <a:t>   In virtual circuit, the route between stations does not mean that   </a:t>
            </a:r>
          </a:p>
          <a:p>
            <a:r>
              <a:rPr lang="en-US" altLang="en-US"/>
              <a:t>    this is a dedicated path, as in circuit switching. </a:t>
            </a:r>
          </a:p>
          <a:p>
            <a:pPr>
              <a:buFontTx/>
              <a:buChar char="•"/>
            </a:pPr>
            <a:r>
              <a:rPr lang="en-US" altLang="en-US"/>
              <a:t>  A packet is still buffered at each node and queued for output over </a:t>
            </a:r>
          </a:p>
          <a:p>
            <a:r>
              <a:rPr lang="en-US" altLang="en-US"/>
              <a:t>   a line. </a:t>
            </a:r>
          </a:p>
          <a:p>
            <a:pPr>
              <a:buFontTx/>
              <a:buChar char="•"/>
            </a:pPr>
            <a:r>
              <a:rPr lang="en-US" altLang="en-US"/>
              <a:t>  The difference between virtual circuit and datagram approaches:</a:t>
            </a:r>
          </a:p>
          <a:p>
            <a:endParaRPr lang="en-US" altLang="en-US"/>
          </a:p>
          <a:p>
            <a:pPr>
              <a:buFont typeface="Wingdings" panose="05000000000000000000" pitchFamily="2" charset="2"/>
              <a:buChar char="Ø"/>
            </a:pPr>
            <a:r>
              <a:rPr lang="en-US" altLang="en-US"/>
              <a:t>  With virtual circuit, the node does not need to make a routing   </a:t>
            </a:r>
          </a:p>
          <a:p>
            <a:pPr>
              <a:buFont typeface="Wingdings" panose="05000000000000000000" pitchFamily="2" charset="2"/>
              <a:buNone/>
            </a:pPr>
            <a:r>
              <a:rPr lang="en-US" altLang="en-US"/>
              <a:t>     decision for each packet.</a:t>
            </a:r>
          </a:p>
          <a:p>
            <a:pPr>
              <a:buFont typeface="Wingdings" panose="05000000000000000000" pitchFamily="2" charset="2"/>
              <a:buChar char="Ø"/>
            </a:pPr>
            <a:r>
              <a:rPr lang="en-US" altLang="en-US"/>
              <a:t>  It is made only once for all packets using that virtual circuit. </a:t>
            </a:r>
          </a:p>
          <a:p>
            <a:pPr eaLnBrk="0" hangingPunct="0"/>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FB49C15-B693-1F81-F8CA-49342ADE7638}"/>
              </a:ext>
            </a:extLst>
          </p:cNvPr>
          <p:cNvSpPr>
            <a:spLocks noGrp="1" noChangeArrowheads="1"/>
          </p:cNvSpPr>
          <p:nvPr>
            <p:ph type="title"/>
          </p:nvPr>
        </p:nvSpPr>
        <p:spPr>
          <a:xfrm>
            <a:off x="685800" y="609600"/>
            <a:ext cx="7772400" cy="609600"/>
          </a:xfrm>
        </p:spPr>
        <p:txBody>
          <a:bodyPr>
            <a:normAutofit fontScale="90000"/>
          </a:bodyPr>
          <a:lstStyle/>
          <a:p>
            <a:r>
              <a:rPr lang="en-US" altLang="en-US"/>
              <a:t>Packet Switching: Virtual Circuit</a:t>
            </a:r>
          </a:p>
        </p:txBody>
      </p:sp>
      <p:sp>
        <p:nvSpPr>
          <p:cNvPr id="21507" name="Rectangle 3">
            <a:extLst>
              <a:ext uri="{FF2B5EF4-FFF2-40B4-BE49-F238E27FC236}">
                <a16:creationId xmlns:a16="http://schemas.microsoft.com/office/drawing/2014/main" id="{3EE9D5E5-14DE-C25E-8F4B-7D864E18DDAD}"/>
              </a:ext>
            </a:extLst>
          </p:cNvPr>
          <p:cNvSpPr>
            <a:spLocks noGrp="1" noChangeArrowheads="1"/>
          </p:cNvSpPr>
          <p:nvPr>
            <p:ph type="body" idx="1"/>
          </p:nvPr>
        </p:nvSpPr>
        <p:spPr>
          <a:xfrm>
            <a:off x="685800" y="2209800"/>
            <a:ext cx="7848600" cy="3048000"/>
          </a:xfrm>
        </p:spPr>
        <p:txBody>
          <a:bodyPr/>
          <a:lstStyle/>
          <a:p>
            <a:pPr>
              <a:buFontTx/>
              <a:buNone/>
            </a:pPr>
            <a:r>
              <a:rPr lang="en-US" altLang="en-US" sz="2400"/>
              <a:t>VC's offer guarantees that</a:t>
            </a:r>
          </a:p>
          <a:p>
            <a:pPr>
              <a:buFontTx/>
              <a:buNone/>
            </a:pPr>
            <a:r>
              <a:rPr lang="en-US" altLang="en-US" sz="2400"/>
              <a:t> </a:t>
            </a:r>
          </a:p>
          <a:p>
            <a:pPr>
              <a:buFont typeface="Wingdings" panose="05000000000000000000" pitchFamily="2" charset="2"/>
              <a:buChar char="Ø"/>
            </a:pPr>
            <a:r>
              <a:rPr lang="en-US" altLang="en-US" sz="2400"/>
              <a:t>the packets sent arrive in the order sent </a:t>
            </a:r>
          </a:p>
          <a:p>
            <a:pPr>
              <a:buFont typeface="Wingdings" panose="05000000000000000000" pitchFamily="2" charset="2"/>
              <a:buChar char="Ø"/>
            </a:pPr>
            <a:r>
              <a:rPr lang="en-US" altLang="en-US" sz="2400"/>
              <a:t>with no duplicates or omissions </a:t>
            </a:r>
          </a:p>
          <a:p>
            <a:pPr>
              <a:buFont typeface="Wingdings" panose="05000000000000000000" pitchFamily="2" charset="2"/>
              <a:buChar char="Ø"/>
            </a:pPr>
            <a:r>
              <a:rPr lang="en-US" altLang="en-US" sz="2400"/>
              <a:t>with no errors (with high probability) </a:t>
            </a:r>
          </a:p>
          <a:p>
            <a:pPr>
              <a:buFontTx/>
              <a:buNone/>
            </a:pPr>
            <a:r>
              <a:rPr lang="en-US" altLang="en-US" sz="2400"/>
              <a:t>    regardless of how they are implemented internally. </a:t>
            </a:r>
          </a:p>
          <a:p>
            <a:endParaRPr lang="en-US" altLang="en-US" sz="24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A4470EF-22D8-677F-CAEB-603546200EBF}"/>
              </a:ext>
            </a:extLst>
          </p:cNvPr>
          <p:cNvSpPr>
            <a:spLocks noGrp="1" noChangeArrowheads="1"/>
          </p:cNvSpPr>
          <p:nvPr>
            <p:ph type="title"/>
          </p:nvPr>
        </p:nvSpPr>
        <p:spPr>
          <a:xfrm>
            <a:off x="685800" y="457200"/>
            <a:ext cx="7772400" cy="533400"/>
          </a:xfrm>
        </p:spPr>
        <p:txBody>
          <a:bodyPr>
            <a:normAutofit fontScale="90000"/>
          </a:bodyPr>
          <a:lstStyle/>
          <a:p>
            <a:r>
              <a:rPr lang="en-US" altLang="en-US"/>
              <a:t>Advantages of packet switching</a:t>
            </a:r>
          </a:p>
        </p:txBody>
      </p:sp>
      <p:sp>
        <p:nvSpPr>
          <p:cNvPr id="14339" name="Rectangle 3">
            <a:extLst>
              <a:ext uri="{FF2B5EF4-FFF2-40B4-BE49-F238E27FC236}">
                <a16:creationId xmlns:a16="http://schemas.microsoft.com/office/drawing/2014/main" id="{79107398-CB75-79B1-8AC2-CEB430EE5811}"/>
              </a:ext>
            </a:extLst>
          </p:cNvPr>
          <p:cNvSpPr>
            <a:spLocks noChangeArrowheads="1"/>
          </p:cNvSpPr>
          <p:nvPr/>
        </p:nvSpPr>
        <p:spPr bwMode="auto">
          <a:xfrm>
            <a:off x="838200" y="1600200"/>
            <a:ext cx="769620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i="1"/>
              <a:t>Advantages: </a:t>
            </a:r>
            <a:endParaRPr lang="en-US" altLang="en-US"/>
          </a:p>
          <a:p>
            <a:pPr lvl="1" eaLnBrk="0" hangingPunct="0">
              <a:buFontTx/>
              <a:buChar char="•"/>
            </a:pPr>
            <a:r>
              <a:rPr lang="en-US" altLang="en-US"/>
              <a:t>  Packet switching is cost effective, because switching   </a:t>
            </a:r>
          </a:p>
          <a:p>
            <a:pPr lvl="1" eaLnBrk="0" hangingPunct="0"/>
            <a:r>
              <a:rPr lang="en-US" altLang="en-US"/>
              <a:t>   devices do not need massive amount of secondary </a:t>
            </a:r>
          </a:p>
          <a:p>
            <a:pPr lvl="1" eaLnBrk="0" hangingPunct="0"/>
            <a:r>
              <a:rPr lang="en-US" altLang="en-US"/>
              <a:t>   storage. </a:t>
            </a:r>
          </a:p>
          <a:p>
            <a:pPr lvl="1" eaLnBrk="0" hangingPunct="0">
              <a:buFontTx/>
              <a:buChar char="•"/>
            </a:pPr>
            <a:r>
              <a:rPr lang="en-US" altLang="en-US"/>
              <a:t>  Packet switching offers improved delay characteristics, </a:t>
            </a:r>
          </a:p>
          <a:p>
            <a:pPr lvl="1" eaLnBrk="0" hangingPunct="0"/>
            <a:r>
              <a:rPr lang="en-US" altLang="en-US"/>
              <a:t>   because there are no long messages in the queue   </a:t>
            </a:r>
          </a:p>
          <a:p>
            <a:pPr lvl="1" eaLnBrk="0" hangingPunct="0"/>
            <a:r>
              <a:rPr lang="en-US" altLang="en-US"/>
              <a:t>   (maximum packet size is fixed). </a:t>
            </a:r>
          </a:p>
          <a:p>
            <a:pPr lvl="1" eaLnBrk="0" hangingPunct="0">
              <a:buFontTx/>
              <a:buChar char="•"/>
            </a:pPr>
            <a:r>
              <a:rPr lang="en-US" altLang="en-US"/>
              <a:t>  Packet can be rerouted if there is any problem, such as,  </a:t>
            </a:r>
          </a:p>
          <a:p>
            <a:pPr lvl="1" eaLnBrk="0" hangingPunct="0"/>
            <a:r>
              <a:rPr lang="en-US" altLang="en-US"/>
              <a:t>   busy or  disabled links. </a:t>
            </a:r>
          </a:p>
          <a:p>
            <a:pPr lvl="1" eaLnBrk="0" hangingPunct="0">
              <a:buFontTx/>
              <a:buChar char="•"/>
            </a:pPr>
            <a:r>
              <a:rPr lang="en-US" altLang="en-US"/>
              <a:t>  The advantage of packet switching is that many </a:t>
            </a:r>
          </a:p>
          <a:p>
            <a:pPr lvl="1" eaLnBrk="0" hangingPunct="0"/>
            <a:r>
              <a:rPr lang="en-US" altLang="en-US"/>
              <a:t>   network users can share the same channel at the same </a:t>
            </a:r>
          </a:p>
          <a:p>
            <a:pPr lvl="1" eaLnBrk="0" hangingPunct="0"/>
            <a:r>
              <a:rPr lang="en-US" altLang="en-US"/>
              <a:t>   time. Packet switching can maximize link efficiency by </a:t>
            </a:r>
          </a:p>
          <a:p>
            <a:pPr lvl="1" eaLnBrk="0" hangingPunct="0"/>
            <a:r>
              <a:rPr lang="en-US" altLang="en-US"/>
              <a:t>   making optimal use of link bandwidth.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F04BFCE-CE6D-4E93-13B1-86E6D9301730}"/>
              </a:ext>
            </a:extLst>
          </p:cNvPr>
          <p:cNvSpPr>
            <a:spLocks noGrp="1" noChangeArrowheads="1"/>
          </p:cNvSpPr>
          <p:nvPr>
            <p:ph type="title"/>
          </p:nvPr>
        </p:nvSpPr>
        <p:spPr>
          <a:xfrm>
            <a:off x="685800" y="914400"/>
            <a:ext cx="8229600" cy="990600"/>
          </a:xfrm>
        </p:spPr>
        <p:txBody>
          <a:bodyPr/>
          <a:lstStyle/>
          <a:p>
            <a:r>
              <a:rPr lang="en-US" altLang="en-US"/>
              <a:t>Disadvantages of packet switching</a:t>
            </a:r>
          </a:p>
        </p:txBody>
      </p:sp>
      <p:sp>
        <p:nvSpPr>
          <p:cNvPr id="15363" name="Rectangle 3">
            <a:extLst>
              <a:ext uri="{FF2B5EF4-FFF2-40B4-BE49-F238E27FC236}">
                <a16:creationId xmlns:a16="http://schemas.microsoft.com/office/drawing/2014/main" id="{69AE2892-5C20-7B1C-EF2C-8CBBECC54C4F}"/>
              </a:ext>
            </a:extLst>
          </p:cNvPr>
          <p:cNvSpPr>
            <a:spLocks noChangeArrowheads="1"/>
          </p:cNvSpPr>
          <p:nvPr/>
        </p:nvSpPr>
        <p:spPr bwMode="auto">
          <a:xfrm>
            <a:off x="685800" y="2362200"/>
            <a:ext cx="82296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i="1"/>
              <a:t>Disadvantages: </a:t>
            </a:r>
            <a:endParaRPr lang="en-US" altLang="en-US"/>
          </a:p>
          <a:p>
            <a:pPr lvl="1" eaLnBrk="0" hangingPunct="0">
              <a:buFontTx/>
              <a:buChar char="•"/>
            </a:pPr>
            <a:r>
              <a:rPr lang="en-US" altLang="en-US"/>
              <a:t>   Protocols for packet switching are typically more complex. </a:t>
            </a:r>
          </a:p>
          <a:p>
            <a:pPr lvl="1" eaLnBrk="0" hangingPunct="0">
              <a:buFontTx/>
              <a:buChar char="•"/>
            </a:pPr>
            <a:r>
              <a:rPr lang="en-US" altLang="en-US"/>
              <a:t>   It can add some initial costs in implementation. </a:t>
            </a:r>
          </a:p>
          <a:p>
            <a:pPr lvl="1" eaLnBrk="0" hangingPunct="0">
              <a:buFontTx/>
              <a:buChar char="•"/>
            </a:pPr>
            <a:r>
              <a:rPr lang="en-US" altLang="en-US"/>
              <a:t>   If packet is lost, sender needs to retransmit the data.</a:t>
            </a:r>
          </a:p>
          <a:p>
            <a:pPr lvl="1" eaLnBrk="0" hangingPunct="0">
              <a:buFontTx/>
              <a:buChar char="•"/>
            </a:pPr>
            <a:r>
              <a:rPr lang="en-US" altLang="en-US"/>
              <a:t>   Another disadvantage is that packet-switched systems still  </a:t>
            </a:r>
          </a:p>
          <a:p>
            <a:pPr lvl="1" eaLnBrk="0" hangingPunct="0"/>
            <a:r>
              <a:rPr lang="en-US" altLang="en-US"/>
              <a:t>    can’t deliver the same quality as dedicated circuits in </a:t>
            </a:r>
          </a:p>
          <a:p>
            <a:pPr lvl="1" eaLnBrk="0" hangingPunct="0"/>
            <a:r>
              <a:rPr lang="en-US" altLang="en-US"/>
              <a:t>    applications requiring very little delay - like voice </a:t>
            </a:r>
          </a:p>
          <a:p>
            <a:pPr lvl="1" eaLnBrk="0" hangingPunct="0"/>
            <a:r>
              <a:rPr lang="en-US" altLang="en-US"/>
              <a:t>    conversations or moving images.</a:t>
            </a:r>
            <a:br>
              <a:rPr lang="en-US" altLang="en-US"/>
            </a:br>
            <a:r>
              <a:rPr lang="en-US" altLang="en-US"/>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Packet Switching</a:t>
            </a:r>
          </a:p>
        </p:txBody>
      </p:sp>
      <p:sp>
        <p:nvSpPr>
          <p:cNvPr id="3" name="Content Placeholder 2"/>
          <p:cNvSpPr>
            <a:spLocks noGrp="1"/>
          </p:cNvSpPr>
          <p:nvPr>
            <p:ph idx="1"/>
          </p:nvPr>
        </p:nvSpPr>
        <p:spPr>
          <a:xfrm>
            <a:off x="239486" y="925286"/>
            <a:ext cx="8229600" cy="4525963"/>
          </a:xfrm>
        </p:spPr>
        <p:txBody>
          <a:bodyPr>
            <a:normAutofit fontScale="85000" lnSpcReduction="20000"/>
          </a:bodyPr>
          <a:lstStyle/>
          <a:p>
            <a:endParaRPr dirty="0"/>
          </a:p>
          <a:p>
            <a:pPr>
              <a:defRPr b="1"/>
            </a:pPr>
            <a:r>
              <a:rPr dirty="0"/>
              <a:t>Concept:</a:t>
            </a:r>
          </a:p>
          <a:p>
            <a:pPr lvl="1"/>
            <a:r>
              <a:rPr dirty="0"/>
              <a:t>Message is broken into small chunks called 'Packets'.</a:t>
            </a:r>
          </a:p>
          <a:p>
            <a:pPr lvl="1"/>
            <a:r>
              <a:rPr dirty="0"/>
              <a:t>Each packet contains header information (Source/Dest IP, Sequence No).</a:t>
            </a:r>
          </a:p>
          <a:p>
            <a:pPr>
              <a:defRPr b="1"/>
            </a:pPr>
            <a:r>
              <a:rPr dirty="0"/>
              <a:t>Types:</a:t>
            </a:r>
          </a:p>
          <a:p>
            <a:pPr lvl="1"/>
            <a:r>
              <a:rPr dirty="0"/>
              <a:t>1. Datagram Network:</a:t>
            </a:r>
          </a:p>
          <a:p>
            <a:pPr lvl="2"/>
            <a:r>
              <a:rPr dirty="0"/>
              <a:t>   - Each packet treated independently.</a:t>
            </a:r>
          </a:p>
          <a:p>
            <a:pPr lvl="2"/>
            <a:r>
              <a:rPr dirty="0"/>
              <a:t>   - Different routes possible (Out of order arrival).</a:t>
            </a:r>
          </a:p>
          <a:p>
            <a:pPr lvl="1"/>
            <a:r>
              <a:rPr dirty="0"/>
              <a:t>2. Virtual Circuit Network:</a:t>
            </a:r>
          </a:p>
          <a:p>
            <a:pPr lvl="2"/>
            <a:r>
              <a:rPr dirty="0"/>
              <a:t>   - Setup phase establishes a 'logical' path.</a:t>
            </a:r>
          </a:p>
          <a:p>
            <a:pPr lvl="2"/>
            <a:r>
              <a:rPr dirty="0"/>
              <a:t>   - All packets follow same path but resources are not exclusively reserved.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Message Switching</a:t>
            </a:r>
          </a:p>
        </p:txBody>
      </p:sp>
      <p:sp>
        <p:nvSpPr>
          <p:cNvPr id="3" name="Content Placeholder 2"/>
          <p:cNvSpPr>
            <a:spLocks noGrp="1"/>
          </p:cNvSpPr>
          <p:nvPr>
            <p:ph idx="1"/>
          </p:nvPr>
        </p:nvSpPr>
        <p:spPr>
          <a:xfrm>
            <a:off x="348342" y="1023258"/>
            <a:ext cx="8229600" cy="4525963"/>
          </a:xfrm>
        </p:spPr>
        <p:txBody>
          <a:bodyPr>
            <a:normAutofit fontScale="92500"/>
          </a:bodyPr>
          <a:lstStyle/>
          <a:p>
            <a:endParaRPr dirty="0"/>
          </a:p>
          <a:p>
            <a:pPr>
              <a:defRPr b="1"/>
            </a:pPr>
            <a:r>
              <a:rPr dirty="0"/>
              <a:t>Store-and-Forward Mechanism:</a:t>
            </a:r>
          </a:p>
          <a:p>
            <a:pPr lvl="1"/>
            <a:r>
              <a:rPr dirty="0"/>
              <a:t>• Entire message is received at a node, stored in memory, inspected for errors, and then forwarded.</a:t>
            </a:r>
          </a:p>
          <a:p>
            <a:pPr lvl="1"/>
            <a:r>
              <a:rPr dirty="0"/>
              <a:t>Characteristics:</a:t>
            </a:r>
          </a:p>
          <a:p>
            <a:pPr lvl="2"/>
            <a:r>
              <a:rPr dirty="0"/>
              <a:t>• No physical path establishment.</a:t>
            </a:r>
          </a:p>
          <a:p>
            <a:pPr lvl="2"/>
            <a:r>
              <a:rPr dirty="0"/>
              <a:t>• Efficient for bursty traffic.</a:t>
            </a:r>
          </a:p>
          <a:p>
            <a:pPr lvl="2"/>
            <a:r>
              <a:rPr dirty="0"/>
              <a:t>• High Latency (Delay at every hop).</a:t>
            </a:r>
          </a:p>
          <a:p>
            <a:pPr lvl="2"/>
            <a:r>
              <a:rPr dirty="0"/>
              <a:t>• Obsolescent for general networking, but concept survives in Email/SMS.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Summary</a:t>
            </a:r>
          </a:p>
        </p:txBody>
      </p:sp>
      <p:sp>
        <p:nvSpPr>
          <p:cNvPr id="3" name="Content Placeholder 2"/>
          <p:cNvSpPr>
            <a:spLocks noGrp="1"/>
          </p:cNvSpPr>
          <p:nvPr>
            <p:ph idx="1"/>
          </p:nvPr>
        </p:nvSpPr>
        <p:spPr>
          <a:xfrm>
            <a:off x="174172" y="878795"/>
            <a:ext cx="8229600" cy="4525963"/>
          </a:xfrm>
        </p:spPr>
        <p:txBody>
          <a:bodyPr>
            <a:normAutofit fontScale="85000" lnSpcReduction="20000"/>
          </a:bodyPr>
          <a:lstStyle/>
          <a:p>
            <a:endParaRPr dirty="0"/>
          </a:p>
          <a:p>
            <a:r>
              <a:rPr dirty="0"/>
              <a:t>Module 5 covers the reliability mechanism of Data Comm.</a:t>
            </a:r>
          </a:p>
          <a:p>
            <a:r>
              <a:rPr dirty="0"/>
              <a:t>Detection: CRC is the industry standard (Polynomial Math).</a:t>
            </a:r>
          </a:p>
          <a:p>
            <a:r>
              <a:rPr dirty="0"/>
              <a:t>Correction: Hamming Code enables self-repair of data bits.</a:t>
            </a:r>
          </a:p>
          <a:p>
            <a:r>
              <a:rPr dirty="0"/>
              <a:t>Switching: Evolution from Circuit (Phone) to Packet (Internet).</a:t>
            </a:r>
          </a:p>
          <a:p>
            <a:r>
              <a:rPr dirty="0"/>
              <a:t>Critical for understanding Transport and Network layers.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TotalTime>
  <Words>2723</Words>
  <Application>Microsoft Office PowerPoint</Application>
  <PresentationFormat>On-screen Show (4:3)</PresentationFormat>
  <Paragraphs>316</Paragraphs>
  <Slides>80</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80</vt:i4>
      </vt:variant>
    </vt:vector>
  </HeadingPairs>
  <TitlesOfParts>
    <vt:vector size="85" baseType="lpstr">
      <vt:lpstr>Arial</vt:lpstr>
      <vt:lpstr>Calibri</vt:lpstr>
      <vt:lpstr>Georgia</vt:lpstr>
      <vt:lpstr>Wingdings</vt:lpstr>
      <vt:lpstr>Office Theme</vt:lpstr>
      <vt:lpstr>Data and Computer Communication Module 5</vt:lpstr>
      <vt:lpstr>Table of Contents</vt:lpstr>
      <vt:lpstr>1. Digital Data Communication Techniques</vt:lpstr>
      <vt:lpstr>Asynchronous Transmission</vt:lpstr>
      <vt:lpstr>Synchronous Transmission</vt:lpstr>
      <vt:lpstr>Asynchronous and Synchronous Transmission</vt:lpstr>
      <vt:lpstr>Asynchronous</vt:lpstr>
      <vt:lpstr>Asynchronous (diagram)</vt:lpstr>
      <vt:lpstr>Asynchronous - Behavior</vt:lpstr>
      <vt:lpstr>Synchronous - Bit Level</vt:lpstr>
      <vt:lpstr>Synchronous - Block Level</vt:lpstr>
      <vt:lpstr>Synchronous (diagram)</vt:lpstr>
      <vt:lpstr>2. Error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Error Correction (FEC)</vt:lpstr>
      <vt:lpstr>Forward Error Correction &amp; Hamming Distance</vt:lpstr>
      <vt:lpstr>Hamming Code: Logic &amp; Structure</vt:lpstr>
      <vt:lpstr>Hamming Code Example </vt:lpstr>
      <vt:lpstr>4. Switching Techniques</vt:lpstr>
      <vt:lpstr>Switching Networks</vt:lpstr>
      <vt:lpstr>Circuit Switching</vt:lpstr>
      <vt:lpstr>Switching Techniques</vt:lpstr>
      <vt:lpstr>Circuit Switching</vt:lpstr>
      <vt:lpstr>Circuit Switching</vt:lpstr>
      <vt:lpstr>Circuit switching</vt:lpstr>
      <vt:lpstr>Message Switching</vt:lpstr>
      <vt:lpstr>Message Switching</vt:lpstr>
      <vt:lpstr>Message Switching</vt:lpstr>
      <vt:lpstr>Message Switching</vt:lpstr>
      <vt:lpstr>Packet Switching</vt:lpstr>
      <vt:lpstr>Packet Switching</vt:lpstr>
      <vt:lpstr>Packet size</vt:lpstr>
      <vt:lpstr>Packet switching</vt:lpstr>
      <vt:lpstr>Packet Switching: Datagram</vt:lpstr>
      <vt:lpstr>Packet Switching:Virtual Circuit</vt:lpstr>
      <vt:lpstr>Packet Switching:Virtual Circuit</vt:lpstr>
      <vt:lpstr>Packet Switching: Virtual Circuit</vt:lpstr>
      <vt:lpstr>Advantages of packet switching</vt:lpstr>
      <vt:lpstr>Disadvantages of packet switching</vt:lpstr>
      <vt:lpstr>Packet Switching</vt:lpstr>
      <vt:lpstr>Message Switching</vt:lpstr>
      <vt:lpstr>Conclusion &amp;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ANJU BINOY</dc:creator>
  <cp:keywords/>
  <dc:description>generated using python-pptx</dc:description>
  <cp:lastModifiedBy>ANJU MARKOSE</cp:lastModifiedBy>
  <cp:revision>2</cp:revision>
  <dcterms:created xsi:type="dcterms:W3CDTF">2013-01-27T09:14:16Z</dcterms:created>
  <dcterms:modified xsi:type="dcterms:W3CDTF">2026-02-10T17:24:39Z</dcterms:modified>
  <cp:category/>
</cp:coreProperties>
</file>