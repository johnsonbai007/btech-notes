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3" r:id="rId4"/>
    <p:sldId id="274" r:id="rId5"/>
    <p:sldId id="275" r:id="rId6"/>
    <p:sldId id="276" r:id="rId7"/>
    <p:sldId id="260" r:id="rId8"/>
    <p:sldId id="277" r:id="rId9"/>
    <p:sldId id="278" r:id="rId10"/>
    <p:sldId id="279" r:id="rId11"/>
    <p:sldId id="270" r:id="rId12"/>
    <p:sldId id="271" r:id="rId13"/>
    <p:sldId id="272" r:id="rId14"/>
    <p:sldId id="280" r:id="rId15"/>
    <p:sldId id="283" r:id="rId16"/>
    <p:sldId id="281" r:id="rId17"/>
    <p:sldId id="282" r:id="rId18"/>
    <p:sldId id="284" r:id="rId19"/>
    <p:sldId id="285" r:id="rId20"/>
    <p:sldId id="286" r:id="rId21"/>
    <p:sldId id="287" r:id="rId22"/>
    <p:sldId id="288" r:id="rId23"/>
    <p:sldId id="289" r:id="rId24"/>
    <p:sldId id="290" r:id="rId25"/>
    <p:sldId id="291" r:id="rId26"/>
    <p:sldId id="292" r:id="rId27"/>
    <p:sldId id="293" r:id="rId28"/>
    <p:sldId id="29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49" autoAdjust="0"/>
    <p:restoredTop sz="94660"/>
  </p:normalViewPr>
  <p:slideViewPr>
    <p:cSldViewPr>
      <p:cViewPr varScale="1">
        <p:scale>
          <a:sx n="69" d="100"/>
          <a:sy n="69" d="100"/>
        </p:scale>
        <p:origin x="-176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1D8BD707-D9CF-40AE-B4C6-C98DA3205C09}" type="datetimeFigureOut">
              <a:rPr lang="en-US" smtClean="0"/>
              <a:pPr/>
              <a:t>9/3/2023</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9/3/2023</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9/3/2023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9/3/2023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9/3/2023</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pPr/>
              <a:t>9/3/2023</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pPr algn="r"/>
            <a:r>
              <a:rPr lang="en-US" dirty="0"/>
              <a:t>Mrs. Amrutha S</a:t>
            </a:r>
          </a:p>
          <a:p>
            <a:pPr algn="r"/>
            <a:r>
              <a:rPr lang="en-US" dirty="0"/>
              <a:t>A.P, </a:t>
            </a:r>
            <a:r>
              <a:rPr lang="en-US" sz="2800" dirty="0"/>
              <a:t>CED</a:t>
            </a:r>
          </a:p>
        </p:txBody>
      </p:sp>
      <p:sp>
        <p:nvSpPr>
          <p:cNvPr id="2" name="Title 1"/>
          <p:cNvSpPr>
            <a:spLocks noGrp="1"/>
          </p:cNvSpPr>
          <p:nvPr>
            <p:ph type="ctrTitle"/>
          </p:nvPr>
        </p:nvSpPr>
        <p:spPr>
          <a:xfrm>
            <a:off x="457200" y="1752600"/>
            <a:ext cx="8229600" cy="1223355"/>
          </a:xfrm>
        </p:spPr>
        <p:txBody>
          <a:bodyPr>
            <a:normAutofit fontScale="90000"/>
          </a:bodyPr>
          <a:lstStyle/>
          <a:p>
            <a:r>
              <a:rPr sz="4400" dirty="0">
                <a:solidFill>
                  <a:srgbClr val="417C20"/>
                </a:solidFill>
                <a:effectLst>
                  <a:outerShdw blurRad="38100" dist="38100" dir="2700000" algn="tl">
                    <a:srgbClr val="000000">
                      <a:alpha val="43137"/>
                    </a:srgbClr>
                  </a:outerShdw>
                </a:effectLst>
                <a:latin typeface="Tahoma" pitchFamily="34" charset="0"/>
                <a:cs typeface="Tahoma" pitchFamily="34" charset="0"/>
              </a:rPr>
              <a:t>EIA as an Environmental Management Tool</a:t>
            </a:r>
            <a:r>
              <a:rPr dirty="0">
                <a:solidFill>
                  <a:srgbClr val="417C20"/>
                </a:solidFill>
                <a:effectLst>
                  <a:outerShdw blurRad="38100" dist="38100" dir="2700000" algn="tl">
                    <a:srgbClr val="000000">
                      <a:alpha val="43137"/>
                    </a:srgbClr>
                  </a:outerShdw>
                </a:effectLst>
                <a:latin typeface="Tahoma" pitchFamily="34" charset="0"/>
                <a:cs typeface="Tahoma" pitchFamily="34" charset="0"/>
              </a:rPr>
              <a:t/>
            </a:r>
            <a:br>
              <a:rPr dirty="0">
                <a:solidFill>
                  <a:srgbClr val="417C20"/>
                </a:solidFill>
                <a:effectLst>
                  <a:outerShdw blurRad="38100" dist="38100" dir="2700000" algn="tl">
                    <a:srgbClr val="000000">
                      <a:alpha val="43137"/>
                    </a:srgbClr>
                  </a:outerShdw>
                </a:effectLst>
                <a:latin typeface="Tahoma" pitchFamily="34" charset="0"/>
                <a:cs typeface="Tahoma" pitchFamily="34" charset="0"/>
              </a:rPr>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ahoma" pitchFamily="34" charset="0"/>
                <a:ea typeface="Tahoma" pitchFamily="34" charset="0"/>
                <a:cs typeface="Tahoma" pitchFamily="34" charset="0"/>
              </a:rPr>
              <a:t>EIA:</a:t>
            </a:r>
          </a:p>
        </p:txBody>
      </p:sp>
      <p:sp>
        <p:nvSpPr>
          <p:cNvPr id="3" name="Content Placeholder 2"/>
          <p:cNvSpPr>
            <a:spLocks noGrp="1"/>
          </p:cNvSpPr>
          <p:nvPr>
            <p:ph sz="quarter" idx="1"/>
          </p:nvPr>
        </p:nvSpPr>
        <p:spPr>
          <a:xfrm>
            <a:off x="381000" y="1447800"/>
            <a:ext cx="8534400" cy="4953000"/>
          </a:xfrm>
        </p:spPr>
        <p:txBody>
          <a:bodyPr>
            <a:normAutofit/>
          </a:bodyPr>
          <a:lstStyle/>
          <a:p>
            <a:pPr marL="342900" indent="-342900">
              <a:lnSpc>
                <a:spcPts val="3000"/>
              </a:lnSpc>
              <a:spcBef>
                <a:spcPct val="20000"/>
              </a:spcBef>
              <a:buFont typeface="Arial" pitchFamily="34" charset="0"/>
              <a:buChar char="•"/>
              <a:defRPr/>
            </a:pPr>
            <a:endParaRPr lang="en-US" sz="3800" dirty="0">
              <a:solidFill>
                <a:srgbClr val="03368A"/>
              </a:solidFill>
            </a:endParaRPr>
          </a:p>
          <a:p>
            <a:pPr marL="342900" indent="-342900">
              <a:lnSpc>
                <a:spcPts val="3000"/>
              </a:lnSpc>
              <a:spcBef>
                <a:spcPct val="20000"/>
              </a:spcBef>
              <a:buFont typeface="Arial" pitchFamily="34" charset="0"/>
              <a:buChar char="•"/>
              <a:defRPr/>
            </a:pPr>
            <a:r>
              <a:rPr lang="en-US" sz="3200" dirty="0">
                <a:solidFill>
                  <a:srgbClr val="03368A"/>
                </a:solidFill>
              </a:rPr>
              <a:t>An assessment of the impact of a planned activity on the environment</a:t>
            </a:r>
          </a:p>
          <a:p>
            <a:pPr marL="0" indent="0">
              <a:lnSpc>
                <a:spcPts val="3000"/>
              </a:lnSpc>
              <a:spcBef>
                <a:spcPct val="20000"/>
              </a:spcBef>
              <a:buNone/>
              <a:defRPr/>
            </a:pPr>
            <a:endParaRPr lang="en-US" sz="3200" dirty="0">
              <a:solidFill>
                <a:srgbClr val="03368A"/>
              </a:solidFill>
            </a:endParaRPr>
          </a:p>
          <a:p>
            <a:pPr marL="342900" indent="-342900" algn="just">
              <a:lnSpc>
                <a:spcPts val="3000"/>
              </a:lnSpc>
              <a:spcBef>
                <a:spcPct val="20000"/>
              </a:spcBef>
              <a:buFont typeface="Arial" pitchFamily="34" charset="0"/>
              <a:buChar char="•"/>
              <a:defRPr/>
            </a:pPr>
            <a:r>
              <a:rPr lang="en-US" sz="3200" dirty="0">
                <a:solidFill>
                  <a:srgbClr val="03368A"/>
                </a:solidFill>
              </a:rPr>
              <a:t>EIA is a planning tool used to predict and evaluate the potentially significant impacts of proposed action and provide a mitigation plan for minimizing adverse impacts  for making decision on the proposed  project/ program/policy</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AC7E32-AB1D-79C7-AE9D-45E0185FA76C}"/>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7A7982A1-231C-4815-C463-AFF86E4BD871}"/>
              </a:ext>
            </a:extLst>
          </p:cNvPr>
          <p:cNvSpPr>
            <a:spLocks noGrp="1"/>
          </p:cNvSpPr>
          <p:nvPr>
            <p:ph sz="quarter" idx="1"/>
          </p:nvPr>
        </p:nvSpPr>
        <p:spPr/>
        <p:txBody>
          <a:bodyPr/>
          <a:lstStyle/>
          <a:p>
            <a:endParaRPr lang="en-US" sz="1800" dirty="0">
              <a:effectLst/>
              <a:latin typeface="Times New Roman" panose="02020603050405020304" pitchFamily="18" charset="0"/>
              <a:ea typeface="Calibri" panose="020F0502020204030204" pitchFamily="34" charset="0"/>
            </a:endParaRPr>
          </a:p>
          <a:p>
            <a:endParaRPr lang="en-US" sz="1800" dirty="0">
              <a:latin typeface="Times New Roman" panose="02020603050405020304" pitchFamily="18" charset="0"/>
              <a:ea typeface="Calibri" panose="020F0502020204030204" pitchFamily="34" charset="0"/>
            </a:endParaRPr>
          </a:p>
          <a:p>
            <a:pPr marL="342900" indent="-342900" algn="just">
              <a:lnSpc>
                <a:spcPts val="3000"/>
              </a:lnSpc>
              <a:spcBef>
                <a:spcPct val="20000"/>
              </a:spcBef>
              <a:buFont typeface="Arial" pitchFamily="34" charset="0"/>
              <a:buChar char="•"/>
              <a:defRPr/>
            </a:pPr>
            <a:r>
              <a:rPr lang="en-US" sz="3200" dirty="0">
                <a:solidFill>
                  <a:srgbClr val="03368A"/>
                </a:solidFill>
              </a:rPr>
              <a:t>Ministry of Environment &amp; Forests (</a:t>
            </a:r>
            <a:r>
              <a:rPr lang="en-US" sz="3200" dirty="0" err="1">
                <a:solidFill>
                  <a:srgbClr val="03368A"/>
                </a:solidFill>
              </a:rPr>
              <a:t>MoEF</a:t>
            </a:r>
            <a:r>
              <a:rPr lang="en-US" sz="3200" dirty="0">
                <a:solidFill>
                  <a:srgbClr val="03368A"/>
                </a:solidFill>
              </a:rPr>
              <a:t>), Government of India defined Environmental impact assessment (EIA) as a process of identifying, predicting, evaluating, and mitigating the biophysical, social, and other relevant effects of proposed projects and physical activities prior to major decisions and commitments being made.</a:t>
            </a:r>
            <a:endParaRPr lang="en-IN" sz="3200" dirty="0">
              <a:solidFill>
                <a:srgbClr val="03368A"/>
              </a:solidFill>
            </a:endParaRPr>
          </a:p>
        </p:txBody>
      </p:sp>
    </p:spTree>
    <p:extLst>
      <p:ext uri="{BB962C8B-B14F-4D97-AF65-F5344CB8AC3E}">
        <p14:creationId xmlns:p14="http://schemas.microsoft.com/office/powerpoint/2010/main" val="1977126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DC40C19-F195-FD55-CAD9-7E8BA8B0C666}"/>
              </a:ext>
            </a:extLst>
          </p:cNvPr>
          <p:cNvSpPr>
            <a:spLocks noGrp="1"/>
          </p:cNvSpPr>
          <p:nvPr>
            <p:ph type="title"/>
          </p:nvPr>
        </p:nvSpPr>
        <p:spPr/>
        <p:txBody>
          <a:bodyPr>
            <a:normAutofit fontScale="90000"/>
          </a:bodyPr>
          <a:lstStyle/>
          <a:p>
            <a:r>
              <a:rPr lang="en-GB" sz="4000" b="1" dirty="0">
                <a:effectLst/>
                <a:latin typeface="Times New Roman" panose="02020603050405020304" pitchFamily="18" charset="0"/>
                <a:ea typeface="Calibri" panose="020F0502020204030204" pitchFamily="34" charset="0"/>
                <a:cs typeface="Times New Roman" panose="02020603050405020304" pitchFamily="18" charset="0"/>
              </a:rPr>
              <a:t>Salient features of EIA</a:t>
            </a:r>
            <a:r>
              <a:rPr lang="en-IN" sz="4000" dirty="0">
                <a:effectLst/>
                <a:latin typeface="Calibri" panose="020F0502020204030204" pitchFamily="34" charset="0"/>
                <a:ea typeface="Calibri" panose="020F0502020204030204" pitchFamily="34" charset="0"/>
                <a:cs typeface="Times New Roman" panose="02020603050405020304" pitchFamily="18" charset="0"/>
              </a:rPr>
              <a:t/>
            </a:r>
            <a:br>
              <a:rPr lang="en-IN" sz="40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 xmlns:a16="http://schemas.microsoft.com/office/drawing/2014/main" id="{966202A7-EC96-9690-7611-4C8A95A1A96F}"/>
              </a:ext>
            </a:extLst>
          </p:cNvPr>
          <p:cNvSpPr>
            <a:spLocks noGrp="1"/>
          </p:cNvSpPr>
          <p:nvPr>
            <p:ph sz="quarter" idx="1"/>
          </p:nvPr>
        </p:nvSpPr>
        <p:spPr/>
        <p:txBody>
          <a:bodyPr/>
          <a:lstStyle/>
          <a:p>
            <a:pPr marL="342900" lvl="0" indent="-342900" algn="just">
              <a:lnSpc>
                <a:spcPct val="150000"/>
              </a:lnSpc>
              <a:buFont typeface="Symbol" panose="05050102010706020507" pitchFamily="18" charset="2"/>
              <a:buChar char=""/>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It identifies the possible positive and negative impacts which may be short term and long term.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It provides a plan which will reduce the negative impacts of a project. This plan may be a project alternative or project modification or environmental protection measures which reduces negative impacts.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It measures the level of plan implementation and the degree of effectiveness of environmental protection measures.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973639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8955C37-B680-8987-5617-01E5CA6F3528}"/>
              </a:ext>
            </a:extLst>
          </p:cNvPr>
          <p:cNvSpPr>
            <a:spLocks noGrp="1"/>
          </p:cNvSpPr>
          <p:nvPr>
            <p:ph type="title"/>
          </p:nvPr>
        </p:nvSpPr>
        <p:spPr/>
        <p:txBody>
          <a:bodyPr/>
          <a:lstStyle/>
          <a:p>
            <a:r>
              <a:rPr lang="en-GB" sz="1800" b="1" dirty="0">
                <a:effectLst/>
                <a:latin typeface="Times New Roman" panose="02020603050405020304" pitchFamily="18" charset="0"/>
                <a:ea typeface="Calibri" panose="020F0502020204030204" pitchFamily="34" charset="0"/>
              </a:rPr>
              <a:t>Purpose/Need of EIA</a:t>
            </a:r>
            <a:endParaRPr lang="en-IN" dirty="0"/>
          </a:p>
        </p:txBody>
      </p:sp>
      <p:sp>
        <p:nvSpPr>
          <p:cNvPr id="3" name="Content Placeholder 2">
            <a:extLst>
              <a:ext uri="{FF2B5EF4-FFF2-40B4-BE49-F238E27FC236}">
                <a16:creationId xmlns="" xmlns:a16="http://schemas.microsoft.com/office/drawing/2014/main" id="{37D1A3B4-C3F9-FFFD-1A2A-A1121CD19C67}"/>
              </a:ext>
            </a:extLst>
          </p:cNvPr>
          <p:cNvSpPr>
            <a:spLocks noGrp="1"/>
          </p:cNvSpPr>
          <p:nvPr>
            <p:ph sz="quarter" idx="1"/>
          </p:nvPr>
        </p:nvSpPr>
        <p:spPr/>
        <p:txBody>
          <a:bodyPr/>
          <a:lstStyle/>
          <a:p>
            <a:pPr marL="342900" lvl="0" indent="-342900" algn="just">
              <a:lnSpc>
                <a:spcPct val="150000"/>
              </a:lnSpc>
              <a:buFont typeface="Symbol" panose="05050102010706020507" pitchFamily="18" charset="2"/>
              <a:buChar char=""/>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When a new project starts in an area, it will disturb the environmental equilibrium, so that EIA is necessary </a:t>
            </a:r>
            <a:r>
              <a:rPr lang="en-GB"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to know whether the project should be started or not.</a:t>
            </a:r>
            <a:endParaRPr lang="en-IN"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GB"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To maintain quality of environment </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it is essential to study impacts of project on environment.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EIA also </a:t>
            </a:r>
            <a:r>
              <a:rPr lang="en-GB"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suggests remedial measures for the pollution</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 caused by the project, thereby we can implement pollution control methods (e.g. Treatment units) along with the project.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GB" sz="1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The opinion of public is considered for conducting EIA</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 so the decision taken about the commencement of new project will be more environment friendly.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763106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82D315E-7260-9FF0-5C54-306D992BE570}"/>
              </a:ext>
            </a:extLst>
          </p:cNvPr>
          <p:cNvSpPr>
            <a:spLocks noGrp="1"/>
          </p:cNvSpPr>
          <p:nvPr>
            <p:ph type="title"/>
          </p:nvPr>
        </p:nvSpPr>
        <p:spPr/>
        <p:txBody>
          <a:bodyPr>
            <a:normAutofit fontScale="90000"/>
          </a:bodyPr>
          <a:lstStyle/>
          <a:p>
            <a:r>
              <a:rPr lang="en-GB" sz="4000" b="1" dirty="0">
                <a:effectLst/>
                <a:latin typeface="Times New Roman" panose="02020603050405020304" pitchFamily="18" charset="0"/>
                <a:ea typeface="Calibri" panose="020F0502020204030204" pitchFamily="34" charset="0"/>
                <a:cs typeface="Times New Roman" panose="02020603050405020304" pitchFamily="18" charset="0"/>
              </a:rPr>
              <a:t>Goals of EIA</a:t>
            </a:r>
            <a:r>
              <a:rPr lang="en-IN" sz="4000" dirty="0">
                <a:effectLst/>
                <a:latin typeface="Calibri" panose="020F0502020204030204" pitchFamily="34" charset="0"/>
                <a:ea typeface="Calibri" panose="020F0502020204030204" pitchFamily="34" charset="0"/>
                <a:cs typeface="Times New Roman" panose="02020603050405020304" pitchFamily="18" charset="0"/>
              </a:rPr>
              <a:t/>
            </a:r>
            <a:br>
              <a:rPr lang="en-IN" sz="40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 xmlns:a16="http://schemas.microsoft.com/office/drawing/2014/main" id="{C2A5671C-AB6E-F184-9C4D-AC649AEC1B0C}"/>
              </a:ext>
            </a:extLst>
          </p:cNvPr>
          <p:cNvSpPr>
            <a:spLocks noGrp="1"/>
          </p:cNvSpPr>
          <p:nvPr>
            <p:ph sz="quarter" idx="1"/>
          </p:nvPr>
        </p:nvSpPr>
        <p:spPr/>
        <p:txBody>
          <a:bodyPr/>
          <a:lstStyle/>
          <a:p>
            <a:pPr marL="342900" lvl="0" indent="-342900" algn="just">
              <a:lnSpc>
                <a:spcPct val="150000"/>
              </a:lnSpc>
              <a:buFont typeface="Symbol" panose="05050102010706020507" pitchFamily="18" charset="2"/>
              <a:buChar char=""/>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Resources conservation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Waste minimization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Recovery of </a:t>
            </a:r>
            <a:r>
              <a:rPr lang="en-GB" sz="1800" dirty="0" smtClean="0">
                <a:effectLst/>
                <a:latin typeface="Times New Roman" panose="02020603050405020304" pitchFamily="18" charset="0"/>
                <a:ea typeface="Calibri" panose="020F0502020204030204" pitchFamily="34" charset="0"/>
                <a:cs typeface="Times New Roman" panose="02020603050405020304" pitchFamily="18" charset="0"/>
              </a:rPr>
              <a:t>by-products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Efficient use of equipment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Sustainable development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505839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EVOLUTION OF EIA</a:t>
            </a:r>
          </a:p>
        </p:txBody>
      </p:sp>
      <p:sp>
        <p:nvSpPr>
          <p:cNvPr id="3" name="Content Placeholder 2"/>
          <p:cNvSpPr>
            <a:spLocks noGrp="1"/>
          </p:cNvSpPr>
          <p:nvPr>
            <p:ph sz="quarter" idx="1"/>
          </p:nvPr>
        </p:nvSpPr>
        <p:spPr>
          <a:xfrm>
            <a:off x="914400" y="1447800"/>
            <a:ext cx="7772400" cy="4648200"/>
          </a:xfrm>
        </p:spPr>
        <p:txBody>
          <a:bodyPr>
            <a:normAutofit fontScale="92500" lnSpcReduction="20000"/>
          </a:bodyPr>
          <a:lstStyle/>
          <a:p>
            <a:r>
              <a:rPr lang="en-US" sz="3000" dirty="0">
                <a:solidFill>
                  <a:srgbClr val="0070C0"/>
                </a:solidFill>
              </a:rPr>
              <a:t>In Global </a:t>
            </a:r>
            <a:r>
              <a:rPr lang="en-US" sz="3100" dirty="0">
                <a:solidFill>
                  <a:srgbClr val="0070C0"/>
                </a:solidFill>
              </a:rPr>
              <a:t>Scenario</a:t>
            </a:r>
            <a:r>
              <a:rPr lang="en-US" sz="3000" dirty="0">
                <a:solidFill>
                  <a:srgbClr val="0070C0"/>
                </a:solidFill>
              </a:rPr>
              <a:t> </a:t>
            </a:r>
            <a:r>
              <a:rPr lang="en-US" sz="3100" dirty="0">
                <a:solidFill>
                  <a:srgbClr val="0070C0"/>
                </a:solidFill>
              </a:rPr>
              <a:t>(</a:t>
            </a:r>
            <a:r>
              <a:rPr lang="en-IN" sz="3100" dirty="0">
                <a:solidFill>
                  <a:srgbClr val="0070C0"/>
                </a:solidFill>
              </a:rPr>
              <a:t>Evolution of EIA worldwide)</a:t>
            </a:r>
            <a:endParaRPr lang="en-US" sz="3100" dirty="0">
              <a:solidFill>
                <a:srgbClr val="0070C0"/>
              </a:solidFill>
            </a:endParaRPr>
          </a:p>
          <a:p>
            <a:pPr marL="342900" indent="-342900" algn="just">
              <a:lnSpc>
                <a:spcPct val="150000"/>
              </a:lnSpc>
              <a:buFont typeface="Symbol" panose="05050102010706020507" pitchFamily="18" charset="2"/>
              <a:buChar char=""/>
            </a:pPr>
            <a:r>
              <a:rPr lang="en-IN" sz="18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First introduced in </a:t>
            </a:r>
            <a:r>
              <a:rPr lang="en-IN" sz="18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United States of America</a:t>
            </a:r>
            <a:r>
              <a:rPr lang="en-IN" sz="18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 through its National Environmental Protection Act (NEPA) of 1969</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a:t>legislative basis for EIA)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Canada, Australia, the Netherlands and Japan adopted EIA legislation in 1973, 1974, 1981 and 1984, respectively.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In July 1985, the European Community issued a directive, making environmental assessments mandatory for certain categories of projects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In Asia and the Pacific region, Thailand and the Philippines have long established procedures for EIA.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EIA was made mandatory in Sri Lanka in 1984</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EIA process in Africa is sketchy, although a number of nations including Rwanda, Botswana and Sudan have some experience of EIA.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buNone/>
            </a:pPr>
            <a:endParaRPr lang="en-US" dirty="0">
              <a:latin typeface="Georgia" pitchFamily="18" charset="0"/>
            </a:endParaRPr>
          </a:p>
          <a:p>
            <a:pPr>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34F791E-DB64-A7E9-AF40-5E686D0EC4E1}"/>
              </a:ext>
            </a:extLst>
          </p:cNvPr>
          <p:cNvSpPr>
            <a:spLocks noGrp="1"/>
          </p:cNvSpPr>
          <p:nvPr>
            <p:ph sz="quarter" idx="1"/>
          </p:nvPr>
        </p:nvSpPr>
        <p:spPr>
          <a:xfrm>
            <a:off x="914400" y="838200"/>
            <a:ext cx="7772400" cy="5181600"/>
          </a:xfrm>
        </p:spPr>
        <p:txBody>
          <a:bodyPr>
            <a:normAutofit fontScale="55000" lnSpcReduction="20000"/>
          </a:bodyPr>
          <a:lstStyle/>
          <a:p>
            <a:pPr marL="342900" lvl="0" indent="-342900" algn="just">
              <a:lnSpc>
                <a:spcPct val="150000"/>
              </a:lnSpc>
              <a:buFont typeface="Symbol" panose="05050102010706020507" pitchFamily="18" charset="2"/>
              <a:buChar char=""/>
            </a:pPr>
            <a:r>
              <a:rPr lang="en-IN" sz="3300" dirty="0">
                <a:effectLst/>
                <a:latin typeface="Times New Roman" panose="02020603050405020304" pitchFamily="18" charset="0"/>
                <a:ea typeface="Calibri" panose="020F0502020204030204" pitchFamily="34" charset="0"/>
                <a:cs typeface="Times New Roman" panose="02020603050405020304" pitchFamily="18" charset="0"/>
              </a:rPr>
              <a:t>The Organisation for Economic Co-Operation and Development (OECD) issued recommendations on EIA to its constituent States in 1974 and 1979, and for development aid projects in 1986. </a:t>
            </a:r>
            <a:r>
              <a:rPr lang="en-IN" sz="33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OECD issued guidelines for good practices in EIA in 1992 </a:t>
            </a:r>
          </a:p>
          <a:p>
            <a:pPr marL="342900" lvl="0" indent="-342900" algn="just">
              <a:lnSpc>
                <a:spcPct val="150000"/>
              </a:lnSpc>
              <a:buFont typeface="Symbol" panose="05050102010706020507" pitchFamily="18" charset="2"/>
              <a:buChar char=""/>
            </a:pPr>
            <a:r>
              <a:rPr lang="en-IN" sz="33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United Nations Environment Programme (UNEP) in 1980 provided guidance on EIA of the development proposals and supported research on EIA in developing countries</a:t>
            </a:r>
            <a:r>
              <a:rPr lang="en-IN" sz="3300" dirty="0">
                <a:effectLst/>
                <a:latin typeface="Times New Roman" panose="02020603050405020304" pitchFamily="18" charset="0"/>
                <a:ea typeface="Calibri" panose="020F0502020204030204" pitchFamily="34" charset="0"/>
                <a:cs typeface="Times New Roman" panose="02020603050405020304" pitchFamily="18" charset="0"/>
              </a:rPr>
              <a:t>. UNEP, in 1987, set out goals and principles of EIA for the member countries and provided guidance on basic procedures for EIA in 1988.  </a:t>
            </a:r>
          </a:p>
          <a:p>
            <a:pPr marL="342900" lvl="0" indent="-342900" algn="just">
              <a:lnSpc>
                <a:spcPct val="150000"/>
              </a:lnSpc>
              <a:buFont typeface="Symbol" panose="05050102010706020507" pitchFamily="18" charset="2"/>
              <a:buChar char=""/>
            </a:pPr>
            <a:r>
              <a:rPr lang="en-IN" sz="3300" dirty="0">
                <a:effectLst/>
                <a:latin typeface="Times New Roman" panose="02020603050405020304" pitchFamily="18" charset="0"/>
                <a:ea typeface="Calibri" panose="020F0502020204030204" pitchFamily="34" charset="0"/>
                <a:cs typeface="Times New Roman" panose="02020603050405020304" pitchFamily="18" charset="0"/>
              </a:rPr>
              <a:t>The World Conservation Strategy pinpointed the need to integrate environmental considerations with development in 1980. </a:t>
            </a:r>
          </a:p>
          <a:p>
            <a:pPr marL="342900" lvl="0" indent="-342900" algn="just">
              <a:lnSpc>
                <a:spcPct val="150000"/>
              </a:lnSpc>
              <a:buFont typeface="Symbol" panose="05050102010706020507" pitchFamily="18" charset="2"/>
              <a:buChar char=""/>
            </a:pPr>
            <a:r>
              <a:rPr lang="en-IN" sz="33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EIA became an integral part of </a:t>
            </a:r>
            <a:r>
              <a:rPr lang="en-IN" sz="3300" b="1"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World Bank policy in 1987</a:t>
            </a:r>
            <a:r>
              <a:rPr lang="en-IN" sz="33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342900" lvl="0" indent="-342900" algn="just">
              <a:lnSpc>
                <a:spcPct val="150000"/>
              </a:lnSpc>
              <a:spcAft>
                <a:spcPts val="800"/>
              </a:spcAft>
              <a:buFont typeface="Symbol" panose="05050102010706020507" pitchFamily="18" charset="2"/>
              <a:buChar char=""/>
            </a:pPr>
            <a:r>
              <a:rPr lang="en-IN" sz="3300" dirty="0">
                <a:solidFill>
                  <a:srgbClr val="C00000"/>
                </a:solidFill>
                <a:effectLst/>
                <a:latin typeface="Times New Roman" panose="02020603050405020304" pitchFamily="18" charset="0"/>
                <a:ea typeface="Calibri" panose="020F0502020204030204" pitchFamily="34" charset="0"/>
                <a:cs typeface="Times New Roman" panose="02020603050405020304" pitchFamily="18" charset="0"/>
              </a:rPr>
              <a:t>Asian Development Bank in 1990 published guidelines for EIA Importance.</a:t>
            </a:r>
          </a:p>
          <a:p>
            <a:pPr marL="0" indent="0" algn="just">
              <a:buNone/>
            </a:pPr>
            <a:endParaRPr lang="en-US" sz="3300" dirty="0">
              <a:latin typeface="Times New Roman" panose="02020603050405020304" pitchFamily="18" charset="0"/>
              <a:cs typeface="Times New Roman" panose="02020603050405020304" pitchFamily="18" charset="0"/>
            </a:endParaRPr>
          </a:p>
          <a:p>
            <a:pPr>
              <a:buNone/>
            </a:pPr>
            <a:endParaRPr lang="en-US" dirty="0">
              <a:latin typeface="Georgia" pitchFamily="18" charset="0"/>
            </a:endParaRPr>
          </a:p>
          <a:p>
            <a:pPr>
              <a:buNone/>
            </a:pPr>
            <a:endParaRPr lang="en-US" sz="4000" dirty="0"/>
          </a:p>
          <a:p>
            <a:endParaRPr lang="en-IN" dirty="0"/>
          </a:p>
        </p:txBody>
      </p:sp>
    </p:spTree>
    <p:extLst>
      <p:ext uri="{BB962C8B-B14F-4D97-AF65-F5344CB8AC3E}">
        <p14:creationId xmlns:p14="http://schemas.microsoft.com/office/powerpoint/2010/main" val="4092649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6714455-AB03-AC18-ADC9-7C18499489ED}"/>
              </a:ext>
            </a:extLst>
          </p:cNvPr>
          <p:cNvSpPr>
            <a:spLocks noGrp="1"/>
          </p:cNvSpPr>
          <p:nvPr>
            <p:ph sz="quarter" idx="1"/>
          </p:nvPr>
        </p:nvSpPr>
        <p:spPr>
          <a:xfrm>
            <a:off x="762000" y="1143000"/>
            <a:ext cx="7772400" cy="4572000"/>
          </a:xfrm>
        </p:spPr>
        <p:txBody>
          <a:bodyPr>
            <a:normAutofit lnSpcReduction="10000"/>
          </a:bodyPr>
          <a:lstStyle/>
          <a:p>
            <a:r>
              <a:rPr lang="en-US" sz="3200" dirty="0">
                <a:solidFill>
                  <a:srgbClr val="0070C0"/>
                </a:solidFill>
              </a:rPr>
              <a:t>In Indian Scenario</a:t>
            </a:r>
          </a:p>
          <a:p>
            <a:pPr marL="342900" indent="-342900" algn="just">
              <a:lnSpc>
                <a:spcPct val="150000"/>
              </a:lnSpc>
              <a:buFont typeface="Symbol" panose="05050102010706020507" pitchFamily="18" charset="2"/>
              <a:buChar char=""/>
            </a:pPr>
            <a:r>
              <a:rPr lang="en-US" sz="1800" dirty="0">
                <a:latin typeface="Times New Roman" panose="02020603050405020304" pitchFamily="18" charset="0"/>
                <a:cs typeface="Times New Roman" panose="02020603050405020304" pitchFamily="18" charset="0"/>
              </a:rPr>
              <a:t>Concept of EIA-Environmental Impacts associated with river valley project</a:t>
            </a:r>
          </a:p>
          <a:p>
            <a:pPr marL="342900" indent="-342900" algn="just">
              <a:lnSpc>
                <a:spcPct val="150000"/>
              </a:lnSpc>
              <a:buFont typeface="Symbol" panose="05050102010706020507" pitchFamily="18" charset="2"/>
              <a:buChar char=""/>
            </a:pPr>
            <a:r>
              <a:rPr lang="en-US" sz="1800" dirty="0">
                <a:latin typeface="Times New Roman" panose="02020603050405020304" pitchFamily="18" charset="0"/>
                <a:cs typeface="Times New Roman" panose="02020603050405020304" pitchFamily="18" charset="0"/>
              </a:rPr>
              <a:t>Environmental (Protection) Act 1986, empowered Central Government to introduce requirement of formal EIA procedure prior to clearance for the projects likely to have significant environmental impacts.</a:t>
            </a:r>
          </a:p>
          <a:p>
            <a:pPr marL="342900" lvl="0" indent="-342900" algn="just">
              <a:lnSpc>
                <a:spcPct val="150000"/>
              </a:lnSpc>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Restricting location of industries, mining operations and regulating other activities in Doon Valley (1st February 1989).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Regulating activities in the coastal stretches of the country by classifying them as coastal regulation zone and prohibiting certain activities (19th February 1991).</a:t>
            </a:r>
          </a:p>
          <a:p>
            <a:pPr marL="342900" indent="-342900" algn="just">
              <a:lnSpc>
                <a:spcPct val="150000"/>
              </a:lnSpc>
              <a:buFont typeface="Symbol" panose="05050102010706020507" pitchFamily="18" charset="2"/>
              <a:buChar char=""/>
            </a:pPr>
            <a:endParaRPr lang="en-US" sz="1800" dirty="0">
              <a:latin typeface="Times New Roman" panose="02020603050405020304" pitchFamily="18" charset="0"/>
              <a:cs typeface="Times New Roman" panose="02020603050405020304" pitchFamily="18" charset="0"/>
            </a:endParaRPr>
          </a:p>
          <a:p>
            <a:pPr algn="just">
              <a:buFont typeface="Wingdings" pitchFamily="2" charset="2"/>
              <a:buChar char="Ø"/>
            </a:pPr>
            <a:endParaRPr lang="en-US" sz="2800" dirty="0"/>
          </a:p>
          <a:p>
            <a:endParaRPr lang="en-IN" dirty="0"/>
          </a:p>
        </p:txBody>
      </p:sp>
    </p:spTree>
    <p:extLst>
      <p:ext uri="{BB962C8B-B14F-4D97-AF65-F5344CB8AC3E}">
        <p14:creationId xmlns:p14="http://schemas.microsoft.com/office/powerpoint/2010/main" val="2802208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2CE5B0E-86F9-14EA-C6F4-F11527DBAAC0}"/>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 xmlns:a16="http://schemas.microsoft.com/office/drawing/2014/main" id="{DF1CFA05-7406-02CF-ACAD-5BC68A2BFF1C}"/>
              </a:ext>
            </a:extLst>
          </p:cNvPr>
          <p:cNvSpPr>
            <a:spLocks noGrp="1"/>
          </p:cNvSpPr>
          <p:nvPr>
            <p:ph sz="quarter" idx="1"/>
          </p:nvPr>
        </p:nvSpPr>
        <p:spPr/>
        <p:txBody>
          <a:bodyPr>
            <a:normAutofit/>
          </a:bodyPr>
          <a:lstStyle/>
          <a:p>
            <a:pPr marL="342900" lvl="0" indent="-342900" algn="just">
              <a:lnSpc>
                <a:spcPct val="150000"/>
              </a:lnSpc>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Restricting location of industries and regulating other activities in Dahanu Taluka (forest land, mangroves) in Maharashtra (6th June 91).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Restricting certain activities in specified areas of Aravalli Range in the Gurgaon district of Haryana and Alwar district of Rajasthan (7th May 1992).</a:t>
            </a:r>
          </a:p>
          <a:p>
            <a:pPr marL="342900" lvl="0" indent="-342900" algn="just">
              <a:lnSpc>
                <a:spcPct val="150000"/>
              </a:lnSpc>
              <a:spcAft>
                <a:spcPts val="800"/>
              </a:spcAft>
              <a:buFont typeface="Symbol" panose="05050102010706020507" pitchFamily="18" charset="2"/>
              <a:buChar char=""/>
            </a:pPr>
            <a:r>
              <a:rPr lang="en-IN" sz="1800" dirty="0">
                <a:latin typeface="Times New Roman" panose="02020603050405020304" pitchFamily="18" charset="0"/>
                <a:cs typeface="Times New Roman" panose="02020603050405020304" pitchFamily="18" charset="0"/>
              </a:rPr>
              <a:t>Restricting industrial and other activities, which could lead to pollution and congestion in the north west of </a:t>
            </a:r>
            <a:r>
              <a:rPr lang="en-IN" sz="1800" dirty="0" err="1">
                <a:latin typeface="Times New Roman" panose="02020603050405020304" pitchFamily="18" charset="0"/>
                <a:cs typeface="Times New Roman" panose="02020603050405020304" pitchFamily="18" charset="0"/>
              </a:rPr>
              <a:t>Numaligarh</a:t>
            </a:r>
            <a:r>
              <a:rPr lang="en-IN" sz="1800" dirty="0">
                <a:latin typeface="Times New Roman" panose="02020603050405020304" pitchFamily="18" charset="0"/>
                <a:cs typeface="Times New Roman" panose="02020603050405020304" pitchFamily="18" charset="0"/>
              </a:rPr>
              <a:t> in Assam (July 1996). </a:t>
            </a:r>
          </a:p>
          <a:p>
            <a:pPr marL="342900" lvl="0" indent="-342900" algn="just">
              <a:lnSpc>
                <a:spcPct val="150000"/>
              </a:lnSpc>
              <a:spcAft>
                <a:spcPts val="800"/>
              </a:spcAft>
              <a:buFont typeface="Symbol" panose="05050102010706020507" pitchFamily="18" charset="2"/>
              <a:buChar char=""/>
            </a:pPr>
            <a:r>
              <a:rPr lang="en-US" sz="1800" dirty="0">
                <a:latin typeface="Times New Roman" panose="02020603050405020304" pitchFamily="18" charset="0"/>
                <a:cs typeface="Times New Roman" panose="02020603050405020304" pitchFamily="18" charset="0"/>
              </a:rPr>
              <a:t>EIA notification1994 making environmental clearance mandatory for projects listed in schedule I &amp; revised the EIA notification in September 2006.</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47873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563562"/>
          </a:xfrm>
        </p:spPr>
        <p:txBody>
          <a:bodyPr>
            <a:normAutofit fontScale="90000"/>
          </a:bodyPr>
          <a:lstStyle/>
          <a:p>
            <a:r>
              <a:rPr lang="en-US" dirty="0"/>
              <a:t/>
            </a:r>
            <a:br>
              <a:rPr lang="en-US" dirty="0"/>
            </a:br>
            <a:r>
              <a:rPr lang="en-US" sz="4000" dirty="0"/>
              <a:t>EIA notification 1994</a:t>
            </a:r>
            <a:endParaRPr lang="en-US" dirty="0"/>
          </a:p>
        </p:txBody>
      </p:sp>
      <p:sp>
        <p:nvSpPr>
          <p:cNvPr id="3" name="Content Placeholder 2"/>
          <p:cNvSpPr>
            <a:spLocks noGrp="1"/>
          </p:cNvSpPr>
          <p:nvPr>
            <p:ph sz="quarter" idx="1"/>
          </p:nvPr>
        </p:nvSpPr>
        <p:spPr>
          <a:xfrm>
            <a:off x="533400" y="838200"/>
            <a:ext cx="8229600" cy="5715000"/>
          </a:xfrm>
        </p:spPr>
        <p:txBody>
          <a:bodyPr>
            <a:normAutofit fontScale="92500" lnSpcReduction="10000"/>
          </a:bodyPr>
          <a:lstStyle/>
          <a:p>
            <a:endParaRPr lang="en-US" b="1" dirty="0"/>
          </a:p>
          <a:p>
            <a:pPr marL="0" indent="0">
              <a:buNone/>
            </a:pPr>
            <a:r>
              <a:rPr lang="en-US" b="1" dirty="0">
                <a:solidFill>
                  <a:srgbClr val="0070C0"/>
                </a:solidFill>
              </a:rPr>
              <a:t>Schedule I</a:t>
            </a:r>
            <a:r>
              <a:rPr lang="en-US" dirty="0"/>
              <a:t>: List of projects requiring environmental clearance 	from    the central government- Nuclear Power Projects, 	River Valley Projects, </a:t>
            </a:r>
            <a:r>
              <a:rPr lang="en-US" dirty="0" err="1"/>
              <a:t>Harbours</a:t>
            </a:r>
            <a:r>
              <a:rPr lang="en-US" dirty="0"/>
              <a:t>, Ports, Petroleum Refineries etc.</a:t>
            </a:r>
          </a:p>
          <a:p>
            <a:pPr>
              <a:buNone/>
            </a:pPr>
            <a:endParaRPr lang="en-US" dirty="0"/>
          </a:p>
          <a:p>
            <a:pPr algn="just">
              <a:buNone/>
            </a:pPr>
            <a:r>
              <a:rPr lang="en-US" b="1" dirty="0">
                <a:solidFill>
                  <a:srgbClr val="0070C0"/>
                </a:solidFill>
              </a:rPr>
              <a:t>Schedule II</a:t>
            </a:r>
            <a:r>
              <a:rPr lang="en-US" dirty="0"/>
              <a:t>: Application form for Environmental clearance to the </a:t>
            </a:r>
            <a:r>
              <a:rPr lang="en-US" dirty="0" err="1"/>
              <a:t>MoEF</a:t>
            </a:r>
            <a:r>
              <a:rPr lang="en-US" dirty="0"/>
              <a:t> along with necessary documents.</a:t>
            </a:r>
          </a:p>
          <a:p>
            <a:pPr>
              <a:buNone/>
            </a:pPr>
            <a:endParaRPr lang="en-US" dirty="0"/>
          </a:p>
          <a:p>
            <a:pPr>
              <a:buNone/>
            </a:pPr>
            <a:r>
              <a:rPr lang="en-US" b="1" dirty="0">
                <a:solidFill>
                  <a:srgbClr val="0070C0"/>
                </a:solidFill>
              </a:rPr>
              <a:t>Schedule III</a:t>
            </a:r>
            <a:r>
              <a:rPr lang="en-US" dirty="0"/>
              <a:t>: </a:t>
            </a:r>
            <a:r>
              <a:rPr lang="en-US" dirty="0" smtClean="0"/>
              <a:t>Composition </a:t>
            </a:r>
            <a:r>
              <a:rPr lang="en-US" dirty="0"/>
              <a:t>of Expert committee for giving Environmental clearance-consisting of 15 members from various disciplines-reconstituted after every three years</a:t>
            </a:r>
          </a:p>
          <a:p>
            <a:pPr>
              <a:buNone/>
            </a:pPr>
            <a:endParaRPr lang="en-US" dirty="0"/>
          </a:p>
          <a:p>
            <a:pPr>
              <a:buNone/>
            </a:pPr>
            <a:r>
              <a:rPr lang="en-US" b="1" dirty="0">
                <a:solidFill>
                  <a:srgbClr val="0070C0"/>
                </a:solidFill>
              </a:rPr>
              <a:t>Schedule IV</a:t>
            </a:r>
            <a:r>
              <a:rPr lang="en-US" b="1" dirty="0"/>
              <a:t>:</a:t>
            </a:r>
            <a:r>
              <a:rPr lang="en-US" dirty="0"/>
              <a:t> Procedure for public hearing-SPCB or concerned District Collector  will conduct public hearing</a:t>
            </a:r>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2006 EIA Government of India notification</a:t>
            </a:r>
          </a:p>
        </p:txBody>
      </p:sp>
      <p:sp>
        <p:nvSpPr>
          <p:cNvPr id="3" name="Content Placeholder 2"/>
          <p:cNvSpPr>
            <a:spLocks noGrp="1"/>
          </p:cNvSpPr>
          <p:nvPr>
            <p:ph sz="quarter" idx="1"/>
          </p:nvPr>
        </p:nvSpPr>
        <p:spPr/>
        <p:txBody>
          <a:bodyPr>
            <a:normAutofit fontScale="92500"/>
          </a:bodyPr>
          <a:lstStyle/>
          <a:p>
            <a:r>
              <a:rPr lang="en-US" dirty="0"/>
              <a:t>List of developmental projects and activities which require prior environmental clearance (given in Schedule I) was expanded.</a:t>
            </a:r>
          </a:p>
          <a:p>
            <a:r>
              <a:rPr lang="en-US" dirty="0"/>
              <a:t>A State level Environmental Impact Assessment Authority (SEIAA) consisting of three members to be constituted by the Govt. of India</a:t>
            </a:r>
          </a:p>
          <a:p>
            <a:r>
              <a:rPr lang="en-US" dirty="0"/>
              <a:t>All developmental projects requiring prior environmental clearance (given in Schedule I) categorized under two heads-based on potential impact</a:t>
            </a:r>
          </a:p>
          <a:p>
            <a:r>
              <a:rPr lang="en-US" dirty="0"/>
              <a:t>Expert committee (EC) as per 1994 EIA Notification was re-designed as Expert Appraisal Committee (EAC) as per 2006  EIA Notification.</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Rounded Rectangle 3"/>
          <p:cNvSpPr/>
          <p:nvPr/>
        </p:nvSpPr>
        <p:spPr>
          <a:xfrm>
            <a:off x="2590800" y="1676400"/>
            <a:ext cx="4648200" cy="685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solidFill>
                  <a:srgbClr val="C00000"/>
                </a:solidFill>
              </a:rPr>
              <a:t>All Projects and activities given in Schedule I</a:t>
            </a:r>
            <a:r>
              <a:rPr lang="en-US" sz="2400" dirty="0">
                <a:noFill/>
              </a:rPr>
              <a:t>l</a:t>
            </a:r>
          </a:p>
        </p:txBody>
      </p:sp>
      <p:cxnSp>
        <p:nvCxnSpPr>
          <p:cNvPr id="6" name="Straight Arrow Connector 5"/>
          <p:cNvCxnSpPr/>
          <p:nvPr/>
        </p:nvCxnSpPr>
        <p:spPr>
          <a:xfrm>
            <a:off x="4876800" y="2438400"/>
            <a:ext cx="12954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10800000" flipV="1">
            <a:off x="3886200" y="3810000"/>
            <a:ext cx="1981200" cy="990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Rounded Rectangle 9"/>
          <p:cNvSpPr/>
          <p:nvPr/>
        </p:nvSpPr>
        <p:spPr>
          <a:xfrm>
            <a:off x="1219200" y="3124200"/>
            <a:ext cx="3429000" cy="914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rgbClr val="C00000"/>
                </a:solidFill>
              </a:rPr>
              <a:t>CATEGORY A</a:t>
            </a:r>
            <a:r>
              <a:rPr lang="en-US" sz="2400" dirty="0">
                <a:solidFill>
                  <a:srgbClr val="C00000"/>
                </a:solidFill>
              </a:rPr>
              <a:t>                                   (comes under  </a:t>
            </a:r>
            <a:r>
              <a:rPr lang="en-US" sz="2400" dirty="0" err="1">
                <a:solidFill>
                  <a:srgbClr val="C00000"/>
                </a:solidFill>
              </a:rPr>
              <a:t>MoEF</a:t>
            </a:r>
            <a:r>
              <a:rPr lang="en-US" sz="2400" dirty="0">
                <a:solidFill>
                  <a:srgbClr val="C00000"/>
                </a:solidFill>
              </a:rPr>
              <a:t>)</a:t>
            </a:r>
          </a:p>
        </p:txBody>
      </p:sp>
      <p:sp>
        <p:nvSpPr>
          <p:cNvPr id="11" name="Rounded Rectangle 10"/>
          <p:cNvSpPr/>
          <p:nvPr/>
        </p:nvSpPr>
        <p:spPr>
          <a:xfrm>
            <a:off x="5105400" y="3124200"/>
            <a:ext cx="3429000" cy="6858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rgbClr val="C00000"/>
                </a:solidFill>
              </a:rPr>
              <a:t>CATEGORY  B                                  </a:t>
            </a:r>
            <a:r>
              <a:rPr lang="en-US" sz="2400" dirty="0">
                <a:solidFill>
                  <a:srgbClr val="C00000"/>
                </a:solidFill>
              </a:rPr>
              <a:t>(comes under the SEIAA)</a:t>
            </a:r>
          </a:p>
        </p:txBody>
      </p:sp>
      <p:cxnSp>
        <p:nvCxnSpPr>
          <p:cNvPr id="15" name="Straight Arrow Connector 14"/>
          <p:cNvCxnSpPr/>
          <p:nvPr/>
        </p:nvCxnSpPr>
        <p:spPr>
          <a:xfrm rot="10800000" flipV="1">
            <a:off x="3733800" y="2438400"/>
            <a:ext cx="11430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5867400" y="3810000"/>
            <a:ext cx="1752600" cy="990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1143000" y="4876800"/>
            <a:ext cx="3810000" cy="10668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rgbClr val="C00000"/>
                </a:solidFill>
              </a:rPr>
              <a:t>CATEGORY B1                                   </a:t>
            </a:r>
            <a:r>
              <a:rPr lang="en-US" dirty="0">
                <a:solidFill>
                  <a:srgbClr val="C00000"/>
                </a:solidFill>
              </a:rPr>
              <a:t>(</a:t>
            </a:r>
            <a:r>
              <a:rPr lang="en-US" sz="2400" dirty="0">
                <a:solidFill>
                  <a:srgbClr val="C00000"/>
                </a:solidFill>
              </a:rPr>
              <a:t>Projects requiring  EIA clearance</a:t>
            </a:r>
            <a:r>
              <a:rPr lang="en-US" dirty="0">
                <a:solidFill>
                  <a:srgbClr val="C00000"/>
                </a:solidFill>
              </a:rPr>
              <a:t>)</a:t>
            </a:r>
            <a:endParaRPr lang="en-US" dirty="0">
              <a:solidFill>
                <a:schemeClr val="bg1"/>
              </a:solidFill>
            </a:endParaRPr>
          </a:p>
        </p:txBody>
      </p:sp>
      <p:sp>
        <p:nvSpPr>
          <p:cNvPr id="21" name="Rounded Rectangle 20"/>
          <p:cNvSpPr/>
          <p:nvPr/>
        </p:nvSpPr>
        <p:spPr>
          <a:xfrm>
            <a:off x="5105400" y="4876800"/>
            <a:ext cx="3581400" cy="1066800"/>
          </a:xfrm>
          <a:prstGeom prst="roundRect">
            <a:avLst>
              <a:gd name="adj" fmla="val 0"/>
            </a:avLst>
          </a:prstGeom>
          <a:noFill/>
          <a:ln cap="rn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rgbClr val="C00000"/>
                </a:solidFill>
              </a:rPr>
              <a:t>CATEGORY B2                                   </a:t>
            </a:r>
            <a:r>
              <a:rPr lang="en-US" dirty="0">
                <a:solidFill>
                  <a:srgbClr val="C00000"/>
                </a:solidFill>
              </a:rPr>
              <a:t>(</a:t>
            </a:r>
            <a:r>
              <a:rPr lang="en-US" sz="2400" dirty="0">
                <a:solidFill>
                  <a:srgbClr val="C00000"/>
                </a:solidFill>
              </a:rPr>
              <a:t>Projects  which do not require  EIA clearance)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D698D00-E025-10EA-C4FC-ECC5597560CE}"/>
              </a:ext>
            </a:extLst>
          </p:cNvPr>
          <p:cNvSpPr>
            <a:spLocks noGrp="1"/>
          </p:cNvSpPr>
          <p:nvPr>
            <p:ph type="title"/>
          </p:nvPr>
        </p:nvSpPr>
        <p:spPr/>
        <p:txBody>
          <a:bodyPr/>
          <a:lstStyle/>
          <a:p>
            <a:pPr>
              <a:lnSpc>
                <a:spcPct val="107000"/>
              </a:lnSpc>
              <a:spcAft>
                <a:spcPts val="800"/>
              </a:spcAft>
            </a:pPr>
            <a:r>
              <a:rPr lang="en-IN" sz="1800" b="1" dirty="0">
                <a:effectLst/>
                <a:latin typeface="Times-Bold"/>
                <a:ea typeface="Calibri" panose="020F0502020204030204" pitchFamily="34" charset="0"/>
                <a:cs typeface="Times-Bold"/>
              </a:rPr>
              <a:t>The Air (Prevention and Control of Pollution) Act of 1981 and </a:t>
            </a:r>
            <a:r>
              <a:rPr lang="en-IN" sz="1800" b="1" dirty="0" smtClean="0">
                <a:effectLst/>
                <a:latin typeface="Times-Bold"/>
                <a:ea typeface="Calibri" panose="020F0502020204030204" pitchFamily="34" charset="0"/>
                <a:cs typeface="Times-Bold"/>
              </a:rPr>
              <a:t>amendment,1987</a:t>
            </a:r>
            <a:endParaRPr lang="en-IN" dirty="0"/>
          </a:p>
        </p:txBody>
      </p:sp>
      <p:sp>
        <p:nvSpPr>
          <p:cNvPr id="3" name="Content Placeholder 2">
            <a:extLst>
              <a:ext uri="{FF2B5EF4-FFF2-40B4-BE49-F238E27FC236}">
                <a16:creationId xmlns="" xmlns:a16="http://schemas.microsoft.com/office/drawing/2014/main" id="{ED9A45E5-AAAB-F801-FD47-047D9A9DF4C2}"/>
              </a:ext>
            </a:extLst>
          </p:cNvPr>
          <p:cNvSpPr>
            <a:spLocks noGrp="1"/>
          </p:cNvSpPr>
          <p:nvPr>
            <p:ph sz="quarter" idx="1"/>
          </p:nvPr>
        </p:nvSpPr>
        <p:spPr/>
        <p:txBody>
          <a:bodyPr>
            <a:normAutofit/>
          </a:bodyPr>
          <a:lstStyle/>
          <a:p>
            <a:endParaRPr lang="en-IN" sz="1800" dirty="0">
              <a:effectLst/>
              <a:latin typeface="Times-Roman"/>
              <a:ea typeface="Calibri" panose="020F0502020204030204" pitchFamily="34" charset="0"/>
              <a:cs typeface="Times-Roman"/>
            </a:endParaRPr>
          </a:p>
          <a:p>
            <a:pPr algn="l"/>
            <a:r>
              <a:rPr lang="en-US" sz="1800" b="0" i="0" u="none" strike="noStrike" baseline="0" dirty="0">
                <a:latin typeface="Times-Roman"/>
              </a:rPr>
              <a:t>To implement the decisions taken at the United Nations Conference on the Human Environment held at Stockholm in June 1972, Parliament enacted the nationwide Air </a:t>
            </a:r>
            <a:r>
              <a:rPr lang="en-US" sz="1800" b="0" i="0" u="none" strike="noStrike" baseline="0" dirty="0" smtClean="0">
                <a:latin typeface="Times-Roman"/>
              </a:rPr>
              <a:t>Act</a:t>
            </a:r>
          </a:p>
          <a:p>
            <a:pPr algn="l"/>
            <a:endParaRPr lang="en-IN" sz="1800" dirty="0">
              <a:effectLst/>
              <a:latin typeface="Times New Roman" pitchFamily="18" charset="0"/>
              <a:ea typeface="Calibri" panose="020F0502020204030204" pitchFamily="34" charset="0"/>
              <a:cs typeface="Times New Roman" pitchFamily="18" charset="0"/>
            </a:endParaRPr>
          </a:p>
          <a:p>
            <a:r>
              <a:rPr lang="en-IN" sz="1800" dirty="0">
                <a:effectLst/>
                <a:latin typeface="Times-Roman"/>
                <a:ea typeface="Calibri" panose="020F0502020204030204" pitchFamily="34" charset="0"/>
                <a:cs typeface="Times-Roman"/>
              </a:rPr>
              <a:t>The main objectives </a:t>
            </a:r>
            <a:r>
              <a:rPr lang="en-IN" sz="1800" b="0" i="0" u="none" strike="noStrike" baseline="0" dirty="0">
                <a:latin typeface="Times-Roman"/>
              </a:rPr>
              <a:t>of this Act are </a:t>
            </a:r>
            <a:r>
              <a:rPr lang="en-IN" sz="1800" dirty="0">
                <a:effectLst/>
                <a:latin typeface="Times-Roman"/>
                <a:ea typeface="Calibri" panose="020F0502020204030204" pitchFamily="34" charset="0"/>
                <a:cs typeface="Times-Roman"/>
              </a:rPr>
              <a:t>to improve the quality of air and to prevent, control and abate air pollution in the </a:t>
            </a:r>
            <a:r>
              <a:rPr lang="en-IN" sz="1800" dirty="0" smtClean="0">
                <a:effectLst/>
                <a:latin typeface="Times-Roman"/>
                <a:ea typeface="Calibri" panose="020F0502020204030204" pitchFamily="34" charset="0"/>
                <a:cs typeface="Times-Roman"/>
              </a:rPr>
              <a:t>country</a:t>
            </a:r>
          </a:p>
          <a:p>
            <a:endParaRPr lang="en-IN" sz="1800" dirty="0">
              <a:effectLst/>
              <a:latin typeface="Times-Roman"/>
              <a:ea typeface="Calibri" panose="020F0502020204030204" pitchFamily="34" charset="0"/>
              <a:cs typeface="Times-Roman"/>
            </a:endParaRPr>
          </a:p>
          <a:p>
            <a:pPr algn="l"/>
            <a:r>
              <a:rPr lang="en-IN" sz="1800" b="0" i="0" u="none" strike="noStrike" baseline="0" dirty="0">
                <a:latin typeface="Times-Roman"/>
              </a:rPr>
              <a:t>To enable an </a:t>
            </a:r>
            <a:r>
              <a:rPr lang="en-US" sz="1800" b="0" i="0" u="none" strike="noStrike" baseline="0" dirty="0">
                <a:latin typeface="Times-Roman"/>
              </a:rPr>
              <a:t>integrated approach to environmental problems, the Air Act expanded the authority of the central and state boards established under the Water Act, to include air pollution </a:t>
            </a:r>
            <a:r>
              <a:rPr lang="en-IN" sz="1800" b="0" i="0" u="none" strike="noStrike" baseline="0" dirty="0">
                <a:latin typeface="Times-Roman"/>
              </a:rPr>
              <a:t>control</a:t>
            </a:r>
            <a:r>
              <a:rPr lang="en-IN" sz="1800" b="0" i="0" u="none" strike="noStrike" baseline="0" dirty="0" smtClean="0">
                <a:latin typeface="Times-Roman"/>
              </a:rPr>
              <a:t>.</a:t>
            </a:r>
          </a:p>
          <a:p>
            <a:pPr algn="l"/>
            <a:endParaRPr lang="en-IN" sz="2000" dirty="0">
              <a:effectLst/>
              <a:latin typeface="Times New Roman" pitchFamily="18" charset="0"/>
              <a:ea typeface="Calibri" panose="020F0502020204030204" pitchFamily="34" charset="0"/>
              <a:cs typeface="Times New Roman" pitchFamily="18" charset="0"/>
            </a:endParaRPr>
          </a:p>
          <a:p>
            <a:r>
              <a:rPr lang="en-IN" sz="1800" dirty="0">
                <a:effectLst/>
                <a:latin typeface="Times-Roman"/>
                <a:ea typeface="Calibri" panose="020F0502020204030204" pitchFamily="34" charset="0"/>
                <a:cs typeface="Times-Roman"/>
              </a:rPr>
              <a:t>Under the Air Act, all industries operating within designated air pollution control areas must obtain a “consent” (permit) from the State Boards.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231096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F51625B-267B-4EBD-EE18-75BE769861B8}"/>
              </a:ext>
            </a:extLst>
          </p:cNvPr>
          <p:cNvSpPr>
            <a:spLocks noGrp="1"/>
          </p:cNvSpPr>
          <p:nvPr>
            <p:ph sz="quarter" idx="1"/>
          </p:nvPr>
        </p:nvSpPr>
        <p:spPr>
          <a:xfrm>
            <a:off x="914400" y="685800"/>
            <a:ext cx="7772400" cy="5715000"/>
          </a:xfrm>
        </p:spPr>
        <p:txBody>
          <a:bodyPr>
            <a:noAutofit/>
          </a:bodyPr>
          <a:lstStyle/>
          <a:p>
            <a:r>
              <a:rPr lang="en-US" sz="2000" b="0" i="0" u="none" strike="noStrike" baseline="0" dirty="0">
                <a:latin typeface="Times New Roman" pitchFamily="18" charset="0"/>
                <a:cs typeface="Times New Roman" pitchFamily="18" charset="0"/>
              </a:rPr>
              <a:t>States not having water pollution boards were required to set up air pollution </a:t>
            </a:r>
            <a:r>
              <a:rPr lang="en-US" sz="2000" b="0" i="0" u="none" strike="noStrike" baseline="0" dirty="0" smtClean="0">
                <a:latin typeface="Times New Roman" pitchFamily="18" charset="0"/>
                <a:cs typeface="Times New Roman" pitchFamily="18" charset="0"/>
              </a:rPr>
              <a:t>boards</a:t>
            </a:r>
          </a:p>
          <a:p>
            <a:endParaRPr lang="en-IN" sz="2000" dirty="0">
              <a:effectLst/>
              <a:latin typeface="Times New Roman" pitchFamily="18" charset="0"/>
              <a:ea typeface="Calibri" panose="020F0502020204030204" pitchFamily="34" charset="0"/>
              <a:cs typeface="Times New Roman" pitchFamily="18" charset="0"/>
            </a:endParaRPr>
          </a:p>
          <a:p>
            <a:r>
              <a:rPr lang="en-IN" sz="2000" dirty="0">
                <a:latin typeface="Times New Roman" pitchFamily="18" charset="0"/>
                <a:cs typeface="Times New Roman" pitchFamily="18" charset="0"/>
              </a:rPr>
              <a:t>The states are required to prescribe emission standards for industry and automobiles after consulting the central board and noting its ambient air quality standards</a:t>
            </a:r>
            <a:r>
              <a:rPr lang="en-IN" sz="2000" dirty="0" smtClean="0">
                <a:latin typeface="Times New Roman" pitchFamily="18" charset="0"/>
                <a:cs typeface="Times New Roman" pitchFamily="18" charset="0"/>
              </a:rPr>
              <a:t>.</a:t>
            </a:r>
          </a:p>
          <a:p>
            <a:endParaRPr lang="en-IN" sz="2000" dirty="0">
              <a:latin typeface="Times New Roman" pitchFamily="18" charset="0"/>
              <a:cs typeface="Times New Roman" pitchFamily="18" charset="0"/>
            </a:endParaRPr>
          </a:p>
          <a:p>
            <a:r>
              <a:rPr lang="en-IN" sz="2000" dirty="0">
                <a:latin typeface="Times New Roman" pitchFamily="18" charset="0"/>
                <a:cs typeface="Times New Roman" pitchFamily="18" charset="0"/>
              </a:rPr>
              <a:t>Act granted the power of entry for examination, testing of equipment and other purposes and power to take the sample for the purpose of analysis of air or emission from any chimney, fly ash or dust or any other outlet in such a manner as may be </a:t>
            </a:r>
            <a:r>
              <a:rPr lang="en-IN" sz="2000" dirty="0" smtClean="0">
                <a:latin typeface="Times New Roman" pitchFamily="18" charset="0"/>
                <a:cs typeface="Times New Roman" pitchFamily="18" charset="0"/>
              </a:rPr>
              <a:t>prescribed</a:t>
            </a:r>
          </a:p>
          <a:p>
            <a:endParaRPr lang="en-IN" sz="2000" dirty="0">
              <a:latin typeface="Times New Roman" pitchFamily="18" charset="0"/>
              <a:cs typeface="Times New Roman" pitchFamily="18" charset="0"/>
            </a:endParaRPr>
          </a:p>
          <a:p>
            <a:pPr algn="l"/>
            <a:r>
              <a:rPr lang="en-IN" sz="2000" b="0" i="0" u="none" strike="noStrike" baseline="0" dirty="0">
                <a:latin typeface="Times New Roman" pitchFamily="18" charset="0"/>
                <a:cs typeface="Times New Roman" pitchFamily="18" charset="0"/>
              </a:rPr>
              <a:t>A</a:t>
            </a:r>
            <a:r>
              <a:rPr lang="en-US" sz="2000" b="0" i="0" u="none" strike="noStrike" baseline="0" dirty="0">
                <a:latin typeface="Times New Roman" pitchFamily="18" charset="0"/>
                <a:cs typeface="Times New Roman" pitchFamily="18" charset="0"/>
              </a:rPr>
              <a:t>board may also apply to the court to restrain emissions that exceed prescribed limits.</a:t>
            </a:r>
            <a:r>
              <a:rPr lang="en-IN" sz="2000" dirty="0">
                <a:latin typeface="Times New Roman" pitchFamily="18" charset="0"/>
                <a:cs typeface="Times New Roman" pitchFamily="18" charset="0"/>
              </a:rPr>
              <a:t>Notably, the 1987 amendment introduced a citizen’s suit provision into the Air Act and extended the Act to include noise pollution.</a:t>
            </a:r>
          </a:p>
          <a:p>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053839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E3E298-BF9E-4441-E933-F15FC6F4239A}"/>
              </a:ext>
            </a:extLst>
          </p:cNvPr>
          <p:cNvSpPr>
            <a:spLocks noGrp="1"/>
          </p:cNvSpPr>
          <p:nvPr>
            <p:ph type="title"/>
          </p:nvPr>
        </p:nvSpPr>
        <p:spPr>
          <a:xfrm>
            <a:off x="838200" y="20782"/>
            <a:ext cx="7772400" cy="1143000"/>
          </a:xfrm>
        </p:spPr>
        <p:txBody>
          <a:bodyPr/>
          <a:lstStyle/>
          <a:p>
            <a:r>
              <a:rPr lang="en-US" sz="1800" b="1" i="0" u="none" strike="noStrike" baseline="0" dirty="0">
                <a:latin typeface="Times-Bold"/>
              </a:rPr>
              <a:t>The Water (Prevention and Control of Pollution) Act of 1974 and</a:t>
            </a:r>
            <a:br>
              <a:rPr lang="en-US" sz="1800" b="1" i="0" u="none" strike="noStrike" baseline="0" dirty="0">
                <a:latin typeface="Times-Bold"/>
              </a:rPr>
            </a:br>
            <a:r>
              <a:rPr lang="en-IN" sz="1800" b="1" i="0" u="none" strike="noStrike" baseline="0" dirty="0">
                <a:latin typeface="Times-Bold"/>
              </a:rPr>
              <a:t>Amendment, 1988</a:t>
            </a:r>
            <a:endParaRPr lang="en-IN" dirty="0"/>
          </a:p>
        </p:txBody>
      </p:sp>
      <p:sp>
        <p:nvSpPr>
          <p:cNvPr id="3" name="Content Placeholder 2">
            <a:extLst>
              <a:ext uri="{FF2B5EF4-FFF2-40B4-BE49-F238E27FC236}">
                <a16:creationId xmlns="" xmlns:a16="http://schemas.microsoft.com/office/drawing/2014/main" id="{F1A0955A-A8F2-F31E-A714-7F511C836D77}"/>
              </a:ext>
            </a:extLst>
          </p:cNvPr>
          <p:cNvSpPr>
            <a:spLocks noGrp="1"/>
          </p:cNvSpPr>
          <p:nvPr>
            <p:ph sz="quarter" idx="1"/>
          </p:nvPr>
        </p:nvSpPr>
        <p:spPr>
          <a:xfrm>
            <a:off x="914400" y="1447800"/>
            <a:ext cx="7772400" cy="4876800"/>
          </a:xfrm>
        </p:spPr>
        <p:txBody>
          <a:bodyPr>
            <a:noAutofit/>
          </a:bodyPr>
          <a:lstStyle/>
          <a:p>
            <a:pPr algn="l"/>
            <a:r>
              <a:rPr lang="en-US" sz="1800" b="0" i="0" u="none" strike="noStrike" baseline="0" dirty="0">
                <a:latin typeface="Times New Roman" pitchFamily="18" charset="0"/>
                <a:cs typeface="Times New Roman" pitchFamily="18" charset="0"/>
              </a:rPr>
              <a:t>The main objective of this act is to provide prevention and control of water pollution and maintaining or restoring of wholesomeness and purity of water (in the streams or wells or </a:t>
            </a:r>
            <a:r>
              <a:rPr lang="en-IN" sz="1800" b="0" i="0" u="none" strike="noStrike" baseline="0" dirty="0">
                <a:latin typeface="Times New Roman" pitchFamily="18" charset="0"/>
                <a:cs typeface="Times New Roman" pitchFamily="18" charset="0"/>
              </a:rPr>
              <a:t>on land</a:t>
            </a:r>
            <a:r>
              <a:rPr lang="en-IN" sz="1800" b="0" i="0" u="none" strike="noStrike" baseline="0" dirty="0" smtClean="0">
                <a:latin typeface="Times New Roman" pitchFamily="18" charset="0"/>
                <a:cs typeface="Times New Roman" pitchFamily="18" charset="0"/>
              </a:rPr>
              <a:t>)</a:t>
            </a:r>
            <a:endParaRPr lang="en-IN" sz="1800" b="0" i="0" u="none" strike="noStrike" baseline="0" dirty="0">
              <a:latin typeface="Times New Roman" pitchFamily="18" charset="0"/>
              <a:cs typeface="Times New Roman" pitchFamily="18" charset="0"/>
            </a:endParaRPr>
          </a:p>
          <a:p>
            <a:pPr algn="l"/>
            <a:r>
              <a:rPr lang="en-US" sz="1800" b="0" i="0" u="none" strike="noStrike" baseline="0" dirty="0">
                <a:latin typeface="Times New Roman" pitchFamily="18" charset="0"/>
                <a:cs typeface="Times New Roman" pitchFamily="18" charset="0"/>
              </a:rPr>
              <a:t>The Act vests regulatory authority in State Pollution Control Boards and empowers these Boards to establish and enforce </a:t>
            </a:r>
            <a:r>
              <a:rPr lang="en-US" sz="1800" b="1" i="0" u="none" strike="noStrike" baseline="0" dirty="0">
                <a:latin typeface="Times New Roman" pitchFamily="18" charset="0"/>
                <a:cs typeface="Times New Roman" pitchFamily="18" charset="0"/>
              </a:rPr>
              <a:t>effluent standards </a:t>
            </a:r>
            <a:r>
              <a:rPr lang="en-US" sz="1800" b="0" i="0" u="none" strike="noStrike" baseline="0" dirty="0">
                <a:latin typeface="Times New Roman" pitchFamily="18" charset="0"/>
                <a:cs typeface="Times New Roman" pitchFamily="18" charset="0"/>
              </a:rPr>
              <a:t>for factories discharging </a:t>
            </a:r>
            <a:r>
              <a:rPr lang="en-IN" sz="1800" b="0" i="0" u="none" strike="noStrike" baseline="0" dirty="0">
                <a:latin typeface="Times New Roman" pitchFamily="18" charset="0"/>
                <a:cs typeface="Times New Roman" pitchFamily="18" charset="0"/>
              </a:rPr>
              <a:t>pollutants into water bodies</a:t>
            </a:r>
            <a:r>
              <a:rPr lang="en-IN" sz="1800" b="0" i="0" u="none" strike="noStrike" baseline="0" dirty="0" smtClean="0">
                <a:latin typeface="Times New Roman" pitchFamily="18" charset="0"/>
                <a:cs typeface="Times New Roman" pitchFamily="18" charset="0"/>
              </a:rPr>
              <a:t>.</a:t>
            </a:r>
            <a:endParaRPr lang="en-IN" sz="1800" b="0" i="0" u="none" strike="noStrike" baseline="0" dirty="0">
              <a:latin typeface="Times New Roman" pitchFamily="18" charset="0"/>
              <a:cs typeface="Times New Roman" pitchFamily="18" charset="0"/>
            </a:endParaRPr>
          </a:p>
          <a:p>
            <a:pPr algn="l"/>
            <a:r>
              <a:rPr lang="en-US" sz="1800" b="0" i="0" u="none" strike="noStrike" baseline="0" dirty="0">
                <a:latin typeface="Times New Roman" pitchFamily="18" charset="0"/>
                <a:cs typeface="Times New Roman" pitchFamily="18" charset="0"/>
              </a:rPr>
              <a:t>A Central Pollution Control Board performs the same functions for Union Territories and formulate policies and coordinates activities of </a:t>
            </a:r>
            <a:r>
              <a:rPr lang="en-IN" sz="1800" b="0" i="0" u="none" strike="noStrike" baseline="0" dirty="0">
                <a:latin typeface="Times New Roman" pitchFamily="18" charset="0"/>
                <a:cs typeface="Times New Roman" pitchFamily="18" charset="0"/>
              </a:rPr>
              <a:t>different State Boards</a:t>
            </a:r>
            <a:r>
              <a:rPr lang="en-IN" sz="1800" b="0" i="0" u="none" strike="noStrike" baseline="0" dirty="0" smtClean="0">
                <a:latin typeface="Times New Roman" pitchFamily="18" charset="0"/>
                <a:cs typeface="Times New Roman" pitchFamily="18" charset="0"/>
              </a:rPr>
              <a:t>.</a:t>
            </a:r>
            <a:endParaRPr lang="en-IN" sz="1800" b="0" i="0" u="none" strike="noStrike" baseline="0" dirty="0">
              <a:latin typeface="Times New Roman" pitchFamily="18" charset="0"/>
              <a:cs typeface="Times New Roman" pitchFamily="18" charset="0"/>
            </a:endParaRPr>
          </a:p>
          <a:p>
            <a:pPr algn="l"/>
            <a:r>
              <a:rPr lang="en-US" sz="1800" b="0" i="0" u="none" strike="noStrike" baseline="0" dirty="0">
                <a:latin typeface="Times New Roman" pitchFamily="18" charset="0"/>
                <a:cs typeface="Times New Roman" pitchFamily="18" charset="0"/>
              </a:rPr>
              <a:t>The State Pollution Control Boards control sewage and industrial effluent discharges by approving, rejecting or impose conditions while granting consent to discharge</a:t>
            </a:r>
            <a:r>
              <a:rPr lang="en-US" sz="1800" b="0" i="0" u="none" strike="noStrike" baseline="0" dirty="0" smtClean="0">
                <a:latin typeface="Times New Roman" pitchFamily="18" charset="0"/>
                <a:cs typeface="Times New Roman" pitchFamily="18" charset="0"/>
              </a:rPr>
              <a:t>.</a:t>
            </a:r>
            <a:endParaRPr lang="en-US" sz="1800" b="0" i="0" u="none" strike="noStrike" baseline="0" dirty="0">
              <a:latin typeface="Times New Roman" pitchFamily="18" charset="0"/>
              <a:cs typeface="Times New Roman" pitchFamily="18" charset="0"/>
            </a:endParaRPr>
          </a:p>
          <a:p>
            <a:pPr algn="l"/>
            <a:r>
              <a:rPr lang="en-US" sz="1800" b="0" i="0" u="none" strike="noStrike" baseline="0" dirty="0">
                <a:latin typeface="Times New Roman" pitchFamily="18" charset="0"/>
                <a:cs typeface="Times New Roman" pitchFamily="18" charset="0"/>
              </a:rPr>
              <a:t>The Act grants power of entry for examination, testing of equipment and other purposes and power to take the sample for the purpose of analysis of water from any stream or well or sample of any sewage or trade effluents.</a:t>
            </a:r>
            <a:endParaRPr lang="en-IN" sz="1800" dirty="0">
              <a:latin typeface="Times New Roman" pitchFamily="18" charset="0"/>
              <a:cs typeface="Times New Roman" pitchFamily="18" charset="0"/>
            </a:endParaRPr>
          </a:p>
        </p:txBody>
      </p:sp>
    </p:spTree>
    <p:extLst>
      <p:ext uri="{BB962C8B-B14F-4D97-AF65-F5344CB8AC3E}">
        <p14:creationId xmlns:p14="http://schemas.microsoft.com/office/powerpoint/2010/main" val="2647476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880C2F6-489F-6EAE-F710-7025FDE4C3DA}"/>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123849C3-5A6C-8AE3-7CB0-A7792AE77D69}"/>
              </a:ext>
            </a:extLst>
          </p:cNvPr>
          <p:cNvSpPr>
            <a:spLocks noGrp="1"/>
          </p:cNvSpPr>
          <p:nvPr>
            <p:ph sz="quarter" idx="1"/>
          </p:nvPr>
        </p:nvSpPr>
        <p:spPr>
          <a:xfrm>
            <a:off x="914400" y="1447800"/>
            <a:ext cx="7848600" cy="4572000"/>
          </a:xfrm>
        </p:spPr>
        <p:txBody>
          <a:bodyPr/>
          <a:lstStyle/>
          <a:p>
            <a:pPr algn="l"/>
            <a:r>
              <a:rPr lang="en-US" sz="1800" b="0" i="0" u="none" strike="noStrike" baseline="0" dirty="0">
                <a:latin typeface="Times-Roman"/>
              </a:rPr>
              <a:t>The 1988 amendment strengthened the Act’s implementation the pollution provisions. Board may close a defaulting industrial plant or withdraw its supply of power or water by an administrative order; the penalties are more stringent, and a citizen’s suit provision supports the enforcement machinery</a:t>
            </a:r>
            <a:endParaRPr lang="en-IN" dirty="0"/>
          </a:p>
        </p:txBody>
      </p:sp>
    </p:spTree>
    <p:extLst>
      <p:ext uri="{BB962C8B-B14F-4D97-AF65-F5344CB8AC3E}">
        <p14:creationId xmlns:p14="http://schemas.microsoft.com/office/powerpoint/2010/main" val="17115879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12E909-C9EF-F379-3CAC-10F699DFB333}"/>
              </a:ext>
            </a:extLst>
          </p:cNvPr>
          <p:cNvSpPr>
            <a:spLocks noGrp="1"/>
          </p:cNvSpPr>
          <p:nvPr>
            <p:ph type="title"/>
          </p:nvPr>
        </p:nvSpPr>
        <p:spPr/>
        <p:txBody>
          <a:bodyPr/>
          <a:lstStyle/>
          <a:p>
            <a:r>
              <a:rPr lang="en-US" sz="1800" b="1" i="0" u="none" strike="noStrike" baseline="0" dirty="0">
                <a:latin typeface="Times-Bold"/>
              </a:rPr>
              <a:t>The Environment (Protection) Act of 1986</a:t>
            </a:r>
            <a:endParaRPr lang="en-IN" dirty="0"/>
          </a:p>
        </p:txBody>
      </p:sp>
      <p:sp>
        <p:nvSpPr>
          <p:cNvPr id="3" name="Content Placeholder 2">
            <a:extLst>
              <a:ext uri="{FF2B5EF4-FFF2-40B4-BE49-F238E27FC236}">
                <a16:creationId xmlns="" xmlns:a16="http://schemas.microsoft.com/office/drawing/2014/main" id="{45E7AB16-1564-CC97-A0D0-4E741CCFC61A}"/>
              </a:ext>
            </a:extLst>
          </p:cNvPr>
          <p:cNvSpPr>
            <a:spLocks noGrp="1"/>
          </p:cNvSpPr>
          <p:nvPr>
            <p:ph sz="quarter" idx="1"/>
          </p:nvPr>
        </p:nvSpPr>
        <p:spPr/>
        <p:txBody>
          <a:bodyPr>
            <a:normAutofit/>
          </a:bodyPr>
          <a:lstStyle/>
          <a:p>
            <a:pPr algn="just"/>
            <a:r>
              <a:rPr lang="en-US" sz="1800" b="0" i="0" u="none" strike="noStrike" baseline="0" dirty="0">
                <a:latin typeface="Times New Roman" pitchFamily="18" charset="0"/>
                <a:cs typeface="Times New Roman" pitchFamily="18" charset="0"/>
              </a:rPr>
              <a:t>In the wake of the Bhopal tragedy, the government of India enacted the Environment </a:t>
            </a:r>
            <a:r>
              <a:rPr lang="en-IN" sz="1800" b="0" i="0" u="none" strike="noStrike" baseline="0" dirty="0">
                <a:latin typeface="Times New Roman" pitchFamily="18" charset="0"/>
                <a:cs typeface="Times New Roman" pitchFamily="18" charset="0"/>
              </a:rPr>
              <a:t>(Protection) Act of 1986</a:t>
            </a:r>
          </a:p>
          <a:p>
            <a:pPr algn="just"/>
            <a:r>
              <a:rPr lang="en-US" sz="1800" b="0" i="0" u="none" strike="noStrike" baseline="0" dirty="0">
                <a:latin typeface="Times New Roman" pitchFamily="18" charset="0"/>
                <a:cs typeface="Times New Roman" pitchFamily="18" charset="0"/>
              </a:rPr>
              <a:t>The purpose of the Act is to implement the decisions of the United Nations Conference on the Human Environment of 1972, relate to the protection and improvement of the human environment and the prevention of hazards to human beings, other living creatures, plants and property.</a:t>
            </a:r>
          </a:p>
          <a:p>
            <a:pPr algn="just"/>
            <a:r>
              <a:rPr lang="en-US" sz="1800" b="0" i="0" u="none" strike="noStrike" baseline="0" dirty="0">
                <a:latin typeface="Times New Roman" pitchFamily="18" charset="0"/>
                <a:cs typeface="Times New Roman" pitchFamily="18" charset="0"/>
              </a:rPr>
              <a:t>The Act is an “umbrella” for legislations designed to provide a framework for Central Government, coordination of the activities of various central and state authorities established under previous Acts, such as the Water Act and the Air Act.</a:t>
            </a:r>
          </a:p>
          <a:p>
            <a:pPr algn="just"/>
            <a:r>
              <a:rPr lang="en-US" sz="1800" b="0" i="0" u="none" strike="noStrike" baseline="0" dirty="0">
                <a:latin typeface="Times New Roman" pitchFamily="18" charset="0"/>
                <a:cs typeface="Times New Roman" pitchFamily="18" charset="0"/>
              </a:rPr>
              <a:t>In this Act, main emphasis is given to “Environment”, defined to include water, air and land and the inter-relationships which exist among water, air and land and human beings and other living creatures, plants, micro-organisms and property</a:t>
            </a:r>
            <a:r>
              <a:rPr lang="en-US" sz="1800" b="0" i="0" u="none" strike="noStrike" baseline="0" dirty="0">
                <a:latin typeface="Times-Roman"/>
              </a:rPr>
              <a:t>.</a:t>
            </a:r>
            <a:endParaRPr lang="en-IN" dirty="0"/>
          </a:p>
        </p:txBody>
      </p:sp>
    </p:spTree>
    <p:extLst>
      <p:ext uri="{BB962C8B-B14F-4D97-AF65-F5344CB8AC3E}">
        <p14:creationId xmlns:p14="http://schemas.microsoft.com/office/powerpoint/2010/main" val="2602821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2BC3C26-D568-394E-8F90-EE8F895753FF}"/>
              </a:ext>
            </a:extLst>
          </p:cNvPr>
          <p:cNvSpPr>
            <a:spLocks noGrp="1"/>
          </p:cNvSpPr>
          <p:nvPr>
            <p:ph sz="quarter" idx="1"/>
          </p:nvPr>
        </p:nvSpPr>
        <p:spPr>
          <a:xfrm>
            <a:off x="914400" y="533400"/>
            <a:ext cx="7772400" cy="5486400"/>
          </a:xfrm>
        </p:spPr>
        <p:txBody>
          <a:bodyPr>
            <a:normAutofit/>
          </a:bodyPr>
          <a:lstStyle/>
          <a:p>
            <a:pPr algn="l"/>
            <a:r>
              <a:rPr lang="en-IN" sz="1800" b="0" i="0" u="none" strike="noStrike" baseline="0" dirty="0">
                <a:latin typeface="Times-Roman"/>
              </a:rPr>
              <a:t>“</a:t>
            </a:r>
            <a:r>
              <a:rPr lang="en-IN" sz="1900" b="0" i="0" u="none" strike="noStrike" baseline="0" dirty="0">
                <a:latin typeface="Times New Roman" pitchFamily="18" charset="0"/>
                <a:cs typeface="Times New Roman" pitchFamily="18" charset="0"/>
              </a:rPr>
              <a:t>Environmental pollution” is </a:t>
            </a:r>
            <a:r>
              <a:rPr lang="en-US" sz="1900" b="0" i="0" u="none" strike="noStrike" baseline="0" dirty="0">
                <a:latin typeface="Times New Roman" pitchFamily="18" charset="0"/>
                <a:cs typeface="Times New Roman" pitchFamily="18" charset="0"/>
              </a:rPr>
              <a:t>the presence of pollutant, defined as any solid, liquid or gaseous substance present in such a concentration as may be or may tend to be injurious to the environment.</a:t>
            </a:r>
          </a:p>
          <a:p>
            <a:pPr algn="l"/>
            <a:r>
              <a:rPr lang="en-US" sz="1900" b="0" i="0" u="none" strike="noStrike" baseline="0" dirty="0">
                <a:latin typeface="Times New Roman" pitchFamily="18" charset="0"/>
                <a:cs typeface="Times New Roman" pitchFamily="18" charset="0"/>
              </a:rPr>
              <a:t>“Hazardous substances” include any substance or preparation, which may cause harm to human beings, other living creatures, plants, microorganisms, property or the environment.</a:t>
            </a:r>
          </a:p>
          <a:p>
            <a:pPr algn="l"/>
            <a:r>
              <a:rPr lang="en-US" sz="1900" b="0" i="0" u="none" strike="noStrike" baseline="0" dirty="0">
                <a:latin typeface="Times New Roman" pitchFamily="18" charset="0"/>
                <a:cs typeface="Times New Roman" pitchFamily="18" charset="0"/>
              </a:rPr>
              <a:t>Section 3 (1) of the Act empowers the Centre to “take all such measures as it deems necessary or expedient for the purpose of protecting and improving the quality of the environment and preventing, controlling and abating environmental pollution”.</a:t>
            </a:r>
          </a:p>
          <a:p>
            <a:pPr algn="l"/>
            <a:r>
              <a:rPr lang="en-US" sz="1900" dirty="0">
                <a:latin typeface="Times New Roman" pitchFamily="18" charset="0"/>
                <a:cs typeface="Times New Roman" pitchFamily="18" charset="0"/>
              </a:rPr>
              <a:t>T</a:t>
            </a:r>
            <a:r>
              <a:rPr lang="en-US" sz="1900" b="0" i="0" u="none" strike="noStrike" baseline="0" dirty="0">
                <a:latin typeface="Times New Roman" pitchFamily="18" charset="0"/>
                <a:cs typeface="Times New Roman" pitchFamily="18" charset="0"/>
              </a:rPr>
              <a:t>he Central Govt. is authorized to set new national standards for the quality of the environment (ambient standards) as well as standards for controlling emissions and effluent discharges</a:t>
            </a:r>
            <a:r>
              <a:rPr lang="en-US" sz="1900" dirty="0">
                <a:latin typeface="Times New Roman" pitchFamily="18" charset="0"/>
                <a:cs typeface="Times New Roman" pitchFamily="18" charset="0"/>
              </a:rPr>
              <a:t>.</a:t>
            </a:r>
          </a:p>
          <a:p>
            <a:pPr algn="l"/>
            <a:r>
              <a:rPr lang="en-US" sz="1900" b="0" i="0" u="none" strike="noStrike" baseline="0" dirty="0">
                <a:latin typeface="Times New Roman" pitchFamily="18" charset="0"/>
                <a:cs typeface="Times New Roman" pitchFamily="18" charset="0"/>
              </a:rPr>
              <a:t>Also, the act authorize the Central Govt. to regulate industrial locations, to prescribe procedures for managing hazardous substances; to establish safeguards preventing accidents, and to collect and dismantle </a:t>
            </a:r>
            <a:r>
              <a:rPr lang="en-IN" sz="1900" b="0" i="0" u="none" strike="noStrike" baseline="0" dirty="0">
                <a:latin typeface="Times New Roman" pitchFamily="18" charset="0"/>
                <a:cs typeface="Times New Roman" pitchFamily="18" charset="0"/>
              </a:rPr>
              <a:t>information regarding environmental pollution.</a:t>
            </a:r>
            <a:endParaRPr lang="en-IN" sz="1900" dirty="0">
              <a:latin typeface="Times New Roman" pitchFamily="18" charset="0"/>
              <a:cs typeface="Times New Roman" pitchFamily="18" charset="0"/>
            </a:endParaRPr>
          </a:p>
        </p:txBody>
      </p:sp>
    </p:spTree>
    <p:extLst>
      <p:ext uri="{BB962C8B-B14F-4D97-AF65-F5344CB8AC3E}">
        <p14:creationId xmlns:p14="http://schemas.microsoft.com/office/powerpoint/2010/main" val="4254841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681A425-E868-08DC-889C-015653089E0D}"/>
              </a:ext>
            </a:extLst>
          </p:cNvPr>
          <p:cNvSpPr>
            <a:spLocks noGrp="1"/>
          </p:cNvSpPr>
          <p:nvPr>
            <p:ph sz="quarter" idx="1"/>
          </p:nvPr>
        </p:nvSpPr>
        <p:spPr>
          <a:xfrm>
            <a:off x="914400" y="838200"/>
            <a:ext cx="7772400" cy="4876800"/>
          </a:xfrm>
        </p:spPr>
        <p:txBody>
          <a:bodyPr>
            <a:normAutofit/>
          </a:bodyPr>
          <a:lstStyle/>
          <a:p>
            <a:pPr algn="just"/>
            <a:r>
              <a:rPr lang="en-US" sz="1800" b="0" i="0" u="none" strike="noStrike" baseline="0" dirty="0">
                <a:latin typeface="Times New Roman" pitchFamily="18" charset="0"/>
                <a:cs typeface="Times New Roman" pitchFamily="18" charset="0"/>
              </a:rPr>
              <a:t>By virtue of this Act, Central Government has armed itself with considerable powers which include, coordination of action by state, planning and execution of nation wide programs, laying down environmental quality standards, specially those governing emission or discharge of environmental pollutants, placing restriction on the location of </a:t>
            </a:r>
            <a:r>
              <a:rPr lang="en-IN" sz="1800" b="0" i="0" u="none" strike="noStrike" baseline="0" dirty="0">
                <a:latin typeface="Times New Roman" pitchFamily="18" charset="0"/>
                <a:cs typeface="Times New Roman" pitchFamily="18" charset="0"/>
              </a:rPr>
              <a:t>indu</a:t>
            </a:r>
            <a:r>
              <a:rPr lang="en-IN" sz="1800" dirty="0">
                <a:latin typeface="Times New Roman" pitchFamily="18" charset="0"/>
                <a:cs typeface="Times New Roman" pitchFamily="18" charset="0"/>
              </a:rPr>
              <a:t>s</a:t>
            </a:r>
            <a:r>
              <a:rPr lang="en-IN" sz="1800" b="0" i="0" u="none" strike="noStrike" baseline="0" dirty="0">
                <a:latin typeface="Times New Roman" pitchFamily="18" charset="0"/>
                <a:cs typeface="Times New Roman" pitchFamily="18" charset="0"/>
              </a:rPr>
              <a:t>tries and so on.</a:t>
            </a:r>
          </a:p>
          <a:p>
            <a:pPr algn="just"/>
            <a:r>
              <a:rPr lang="en-US" sz="1800" b="0" i="0" u="none" strike="noStrike" baseline="0" dirty="0">
                <a:latin typeface="Times New Roman" pitchFamily="18" charset="0"/>
                <a:cs typeface="Times New Roman" pitchFamily="18" charset="0"/>
              </a:rPr>
              <a:t>The coverage of powers include handling of hazardous substances, prevention of environmental accidents, inspection of polluting units, research, establishment of </a:t>
            </a:r>
            <a:r>
              <a:rPr lang="en-IN" sz="1800" b="0" i="0" u="none" strike="noStrike" baseline="0" dirty="0">
                <a:latin typeface="Times New Roman" pitchFamily="18" charset="0"/>
                <a:cs typeface="Times New Roman" pitchFamily="18" charset="0"/>
              </a:rPr>
              <a:t>laboratories, dissemination of information, etc.</a:t>
            </a:r>
          </a:p>
          <a:p>
            <a:pPr algn="just"/>
            <a:r>
              <a:rPr lang="en-US" sz="1800" b="0" i="0" u="none" strike="noStrike" baseline="0" dirty="0">
                <a:latin typeface="Times New Roman" pitchFamily="18" charset="0"/>
                <a:cs typeface="Times New Roman" pitchFamily="18" charset="0"/>
              </a:rPr>
              <a:t>The Act provides provision for penalties. Any person who fails to comply with any of the provisions of the Act, or the rules, orders, or directions issued under the Act shall </a:t>
            </a:r>
            <a:r>
              <a:rPr lang="en-IN" sz="1800" b="0" i="0" u="none" strike="noStrike" baseline="0" dirty="0">
                <a:latin typeface="Times New Roman" pitchFamily="18" charset="0"/>
                <a:cs typeface="Times New Roman" pitchFamily="18" charset="0"/>
              </a:rPr>
              <a:t>be punished. </a:t>
            </a:r>
          </a:p>
          <a:p>
            <a:pPr algn="just"/>
            <a:r>
              <a:rPr lang="en-IN" sz="1800" b="0" i="0" u="none" strike="noStrike" baseline="0" dirty="0">
                <a:latin typeface="Times New Roman" pitchFamily="18" charset="0"/>
                <a:cs typeface="Times New Roman" pitchFamily="18" charset="0"/>
              </a:rPr>
              <a:t>The Environment (Protection) Act contains significant innovations for its enforcement,</a:t>
            </a:r>
            <a:r>
              <a:rPr lang="en-US" sz="1800" b="0" i="0" u="none" strike="noStrike" baseline="0" dirty="0">
                <a:latin typeface="Times New Roman" pitchFamily="18" charset="0"/>
                <a:cs typeface="Times New Roman" pitchFamily="18" charset="0"/>
              </a:rPr>
              <a:t>not contained in any other pollution control legislation at the time of the Act’s adoption</a:t>
            </a:r>
            <a:r>
              <a:rPr lang="en-US" sz="1800" b="0" i="0" u="none" strike="noStrike" baseline="0" dirty="0">
                <a:latin typeface="Times-Roman"/>
              </a:rPr>
              <a:t>.</a:t>
            </a:r>
            <a:endParaRPr lang="en-IN" dirty="0"/>
          </a:p>
        </p:txBody>
      </p:sp>
    </p:spTree>
    <p:extLst>
      <p:ext uri="{BB962C8B-B14F-4D97-AF65-F5344CB8AC3E}">
        <p14:creationId xmlns:p14="http://schemas.microsoft.com/office/powerpoint/2010/main" val="9032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8D13B06-41E0-FC6C-4414-7E2CD2529AB6}"/>
              </a:ext>
            </a:extLst>
          </p:cNvPr>
          <p:cNvSpPr>
            <a:spLocks noGrp="1"/>
          </p:cNvSpPr>
          <p:nvPr>
            <p:ph type="title"/>
          </p:nvPr>
        </p:nvSpPr>
        <p:spPr/>
        <p:txBody>
          <a:bodyPr/>
          <a:lstStyle/>
          <a:p>
            <a:r>
              <a:rPr lang="en-US" sz="4000" dirty="0">
                <a:latin typeface="Times New Roman" pitchFamily="18" charset="0"/>
                <a:cs typeface="Times New Roman" pitchFamily="18" charset="0"/>
              </a:rPr>
              <a:t>i</a:t>
            </a:r>
            <a:r>
              <a:rPr lang="en-US" sz="4000" dirty="0" smtClean="0">
                <a:latin typeface="Times New Roman" pitchFamily="18" charset="0"/>
                <a:cs typeface="Times New Roman" pitchFamily="18" charset="0"/>
              </a:rPr>
              <a:t>. AIR </a:t>
            </a:r>
            <a:r>
              <a:rPr lang="en-US" sz="4000" dirty="0">
                <a:latin typeface="Times New Roman" pitchFamily="18" charset="0"/>
                <a:cs typeface="Times New Roman" pitchFamily="18" charset="0"/>
              </a:rPr>
              <a:t>QUALITY STANDARDS</a:t>
            </a:r>
            <a:r>
              <a:rPr lang="en-US" dirty="0"/>
              <a:t>:</a:t>
            </a:r>
            <a:endParaRPr lang="en-IN" dirty="0"/>
          </a:p>
        </p:txBody>
      </p:sp>
      <p:pic>
        <p:nvPicPr>
          <p:cNvPr id="4" name="Picture 2">
            <a:extLst>
              <a:ext uri="{FF2B5EF4-FFF2-40B4-BE49-F238E27FC236}">
                <a16:creationId xmlns="" xmlns:a16="http://schemas.microsoft.com/office/drawing/2014/main" id="{C425E04F-2B74-C671-49E5-195FE7372F76}"/>
              </a:ext>
            </a:extLst>
          </p:cNvPr>
          <p:cNvPicPr>
            <a:picLocks noGrp="1" noChangeAspect="1" noChangeArrowheads="1"/>
          </p:cNvPicPr>
          <p:nvPr>
            <p:ph sz="quarter" idx="1"/>
          </p:nvPr>
        </p:nvPicPr>
        <p:blipFill>
          <a:blip r:embed="rId2"/>
          <a:srcRect/>
          <a:stretch>
            <a:fillRect/>
          </a:stretch>
        </p:blipFill>
        <p:spPr bwMode="auto">
          <a:xfrm>
            <a:off x="1371601" y="1447799"/>
            <a:ext cx="6291262" cy="5024635"/>
          </a:xfrm>
          <a:prstGeom prst="rect">
            <a:avLst/>
          </a:prstGeom>
          <a:noFill/>
          <a:ln w="9525">
            <a:noFill/>
            <a:miter lim="800000"/>
            <a:headEnd/>
            <a:tailEnd/>
          </a:ln>
          <a:effectLst/>
        </p:spPr>
      </p:pic>
    </p:spTree>
    <p:extLst>
      <p:ext uri="{BB962C8B-B14F-4D97-AF65-F5344CB8AC3E}">
        <p14:creationId xmlns:p14="http://schemas.microsoft.com/office/powerpoint/2010/main" val="25765597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9CB35C5-21EA-D562-BB73-7916271B4E2B}"/>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67498C13-3689-D56B-E39B-8C7F5C18DBA0}"/>
              </a:ext>
            </a:extLst>
          </p:cNvPr>
          <p:cNvSpPr>
            <a:spLocks noGrp="1"/>
          </p:cNvSpPr>
          <p:nvPr>
            <p:ph sz="quarter" idx="1"/>
          </p:nvPr>
        </p:nvSpPr>
        <p:spPr/>
        <p:txBody>
          <a:bodyPr/>
          <a:lstStyle/>
          <a:p>
            <a:r>
              <a:rPr lang="en-US" dirty="0">
                <a:latin typeface="Times New Roman" pitchFamily="18" charset="0"/>
                <a:cs typeface="Times New Roman" pitchFamily="18" charset="0"/>
              </a:rPr>
              <a:t>In case of residential or commercial or industrial place falls within 500 </a:t>
            </a:r>
            <a:r>
              <a:rPr lang="en-US" dirty="0" smtClean="0">
                <a:latin typeface="Times New Roman" pitchFamily="18" charset="0"/>
                <a:cs typeface="Times New Roman" pitchFamily="18" charset="0"/>
              </a:rPr>
              <a:t>m of </a:t>
            </a:r>
            <a:r>
              <a:rPr lang="en-US" dirty="0">
                <a:latin typeface="Times New Roman" pitchFamily="18" charset="0"/>
                <a:cs typeface="Times New Roman" pitchFamily="18" charset="0"/>
              </a:rPr>
              <a:t>any dust generating sources, the National Ambient Air Quality Standards shall be made applicable</a:t>
            </a:r>
            <a:endParaRPr lang="en-IN" dirty="0"/>
          </a:p>
        </p:txBody>
      </p:sp>
    </p:spTree>
    <p:extLst>
      <p:ext uri="{BB962C8B-B14F-4D97-AF65-F5344CB8AC3E}">
        <p14:creationId xmlns:p14="http://schemas.microsoft.com/office/powerpoint/2010/main" val="36405675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BCB1ED-341C-A723-865C-DC742A317B99}"/>
              </a:ext>
            </a:extLst>
          </p:cNvPr>
          <p:cNvSpPr>
            <a:spLocks noGrp="1"/>
          </p:cNvSpPr>
          <p:nvPr>
            <p:ph type="title"/>
          </p:nvPr>
        </p:nvSpPr>
        <p:spPr/>
        <p:txBody>
          <a:bodyPr/>
          <a:lstStyle/>
          <a:p>
            <a:endParaRPr lang="en-IN"/>
          </a:p>
        </p:txBody>
      </p:sp>
      <p:pic>
        <p:nvPicPr>
          <p:cNvPr id="4" name="Picture 2">
            <a:extLst>
              <a:ext uri="{FF2B5EF4-FFF2-40B4-BE49-F238E27FC236}">
                <a16:creationId xmlns="" xmlns:a16="http://schemas.microsoft.com/office/drawing/2014/main" id="{6A309752-9948-8487-42B6-ED91B4D31F8E}"/>
              </a:ext>
            </a:extLst>
          </p:cNvPr>
          <p:cNvPicPr>
            <a:picLocks noGrp="1" noChangeAspect="1" noChangeArrowheads="1"/>
          </p:cNvPicPr>
          <p:nvPr>
            <p:ph sz="quarter" idx="1"/>
          </p:nvPr>
        </p:nvPicPr>
        <p:blipFill>
          <a:blip r:embed="rId2"/>
          <a:srcRect/>
          <a:stretch>
            <a:fillRect/>
          </a:stretch>
        </p:blipFill>
        <p:spPr bwMode="auto">
          <a:xfrm>
            <a:off x="685800" y="274637"/>
            <a:ext cx="7848600" cy="6366799"/>
          </a:xfrm>
          <a:prstGeom prst="rect">
            <a:avLst/>
          </a:prstGeom>
          <a:noFill/>
          <a:ln w="9525">
            <a:noFill/>
            <a:miter lim="800000"/>
            <a:headEnd/>
            <a:tailEnd/>
          </a:ln>
          <a:effectLst/>
        </p:spPr>
      </p:pic>
    </p:spTree>
    <p:extLst>
      <p:ext uri="{BB962C8B-B14F-4D97-AF65-F5344CB8AC3E}">
        <p14:creationId xmlns:p14="http://schemas.microsoft.com/office/powerpoint/2010/main" val="36348556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430BC00-74CC-91A3-CC00-901E66DAA889}"/>
              </a:ext>
            </a:extLst>
          </p:cNvPr>
          <p:cNvSpPr>
            <a:spLocks noGrp="1"/>
          </p:cNvSpPr>
          <p:nvPr>
            <p:ph type="title"/>
          </p:nvPr>
        </p:nvSpPr>
        <p:spPr/>
        <p:txBody>
          <a:bodyPr/>
          <a:lstStyle/>
          <a:p>
            <a:endParaRPr lang="en-IN"/>
          </a:p>
        </p:txBody>
      </p:sp>
      <p:pic>
        <p:nvPicPr>
          <p:cNvPr id="4" name="Picture 2">
            <a:extLst>
              <a:ext uri="{FF2B5EF4-FFF2-40B4-BE49-F238E27FC236}">
                <a16:creationId xmlns="" xmlns:a16="http://schemas.microsoft.com/office/drawing/2014/main" id="{5B90F7AB-E953-5525-0B54-18B9B8C8AC66}"/>
              </a:ext>
            </a:extLst>
          </p:cNvPr>
          <p:cNvPicPr>
            <a:picLocks noGrp="1" noChangeAspect="1" noChangeArrowheads="1"/>
          </p:cNvPicPr>
          <p:nvPr>
            <p:ph sz="quarter" idx="1"/>
          </p:nvPr>
        </p:nvPicPr>
        <p:blipFill>
          <a:blip r:embed="rId2"/>
          <a:srcRect/>
          <a:stretch>
            <a:fillRect/>
          </a:stretch>
        </p:blipFill>
        <p:spPr bwMode="auto">
          <a:xfrm>
            <a:off x="838200" y="274638"/>
            <a:ext cx="7848600" cy="1749031"/>
          </a:xfrm>
          <a:prstGeom prst="rect">
            <a:avLst/>
          </a:prstGeom>
          <a:noFill/>
          <a:ln w="9525">
            <a:noFill/>
            <a:miter lim="800000"/>
            <a:headEnd/>
            <a:tailEnd/>
          </a:ln>
          <a:effectLst/>
        </p:spPr>
      </p:pic>
    </p:spTree>
    <p:extLst>
      <p:ext uri="{BB962C8B-B14F-4D97-AF65-F5344CB8AC3E}">
        <p14:creationId xmlns:p14="http://schemas.microsoft.com/office/powerpoint/2010/main" val="8125840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DA1B78F-EB4D-4514-0D29-2904B15D146A}"/>
              </a:ext>
            </a:extLst>
          </p:cNvPr>
          <p:cNvSpPr>
            <a:spLocks noGrp="1"/>
          </p:cNvSpPr>
          <p:nvPr>
            <p:ph type="title"/>
          </p:nvPr>
        </p:nvSpPr>
        <p:spPr/>
        <p:txBody>
          <a:bodyPr/>
          <a:lstStyle/>
          <a:p>
            <a:r>
              <a:rPr lang="en-US" sz="4000" dirty="0">
                <a:latin typeface="Times New Roman" pitchFamily="18" charset="0"/>
                <a:cs typeface="Times New Roman" pitchFamily="18" charset="0"/>
              </a:rPr>
              <a:t>NOISE LEVEL STANDARDS:</a:t>
            </a:r>
            <a:endParaRPr lang="en-IN" dirty="0"/>
          </a:p>
        </p:txBody>
      </p:sp>
      <p:sp>
        <p:nvSpPr>
          <p:cNvPr id="3" name="Content Placeholder 2">
            <a:extLst>
              <a:ext uri="{FF2B5EF4-FFF2-40B4-BE49-F238E27FC236}">
                <a16:creationId xmlns="" xmlns:a16="http://schemas.microsoft.com/office/drawing/2014/main" id="{0FCF079A-5181-EC95-7628-565E9B7B79B6}"/>
              </a:ext>
            </a:extLst>
          </p:cNvPr>
          <p:cNvSpPr>
            <a:spLocks noGrp="1"/>
          </p:cNvSpPr>
          <p:nvPr>
            <p:ph sz="quarter" idx="1"/>
          </p:nvPr>
        </p:nvSpPr>
        <p:spPr/>
        <p:txBody>
          <a:bodyPr/>
          <a:lstStyle/>
          <a:p>
            <a:pPr>
              <a:buNone/>
            </a:pPr>
            <a:r>
              <a:rPr lang="en-US" sz="2800" dirty="0">
                <a:latin typeface="Times New Roman" pitchFamily="18" charset="0"/>
                <a:cs typeface="Times New Roman" pitchFamily="18" charset="0"/>
              </a:rPr>
              <a:t>Standards Time duration: </a:t>
            </a:r>
            <a:r>
              <a:rPr lang="en-US" sz="2400" dirty="0">
                <a:latin typeface="Times New Roman" pitchFamily="18" charset="0"/>
                <a:cs typeface="Times New Roman" pitchFamily="18" charset="0"/>
              </a:rPr>
              <a:t>6.00 A.M.- 10.00 P.M</a:t>
            </a:r>
            <a:r>
              <a:rPr lang="en-US" sz="2800" dirty="0">
                <a:latin typeface="Times New Roman" pitchFamily="18" charset="0"/>
                <a:cs typeface="Times New Roman" pitchFamily="18" charset="0"/>
              </a:rPr>
              <a:t>.   </a:t>
            </a:r>
            <a:r>
              <a:rPr lang="en-US" sz="2400" dirty="0">
                <a:latin typeface="Times New Roman" pitchFamily="18" charset="0"/>
                <a:cs typeface="Times New Roman" pitchFamily="18" charset="0"/>
              </a:rPr>
              <a:t>10.00 P.M. - 6.00A.M </a:t>
            </a:r>
          </a:p>
          <a:p>
            <a:pPr>
              <a:buNone/>
            </a:pPr>
            <a:r>
              <a:rPr lang="en-US" sz="2800" dirty="0">
                <a:latin typeface="Times New Roman" pitchFamily="18" charset="0"/>
                <a:cs typeface="Times New Roman" pitchFamily="18" charset="0"/>
              </a:rPr>
              <a:t>Noise Level: </a:t>
            </a:r>
            <a:r>
              <a:rPr lang="en-US" sz="2800" dirty="0" err="1">
                <a:latin typeface="Times New Roman" pitchFamily="18" charset="0"/>
                <a:cs typeface="Times New Roman" pitchFamily="18" charset="0"/>
              </a:rPr>
              <a:t>Leq</a:t>
            </a:r>
            <a:r>
              <a:rPr lang="en-US" sz="2800" dirty="0">
                <a:latin typeface="Times New Roman" pitchFamily="18" charset="0"/>
                <a:cs typeface="Times New Roman" pitchFamily="18" charset="0"/>
              </a:rPr>
              <a:t> 75 dB(A)     </a:t>
            </a:r>
            <a:r>
              <a:rPr lang="en-US" sz="2800" dirty="0" err="1">
                <a:latin typeface="Times New Roman" pitchFamily="18" charset="0"/>
                <a:cs typeface="Times New Roman" pitchFamily="18" charset="0"/>
              </a:rPr>
              <a:t>Leq</a:t>
            </a:r>
            <a:r>
              <a:rPr lang="en-US" sz="2800" dirty="0">
                <a:latin typeface="Times New Roman" pitchFamily="18" charset="0"/>
                <a:cs typeface="Times New Roman" pitchFamily="18" charset="0"/>
              </a:rPr>
              <a:t> 70 dB(A)</a:t>
            </a:r>
          </a:p>
          <a:p>
            <a:pPr>
              <a:buNone/>
            </a:pPr>
            <a:r>
              <a:rPr lang="en-US" sz="2800" dirty="0">
                <a:latin typeface="Times New Roman" pitchFamily="18" charset="0"/>
                <a:cs typeface="Times New Roman" pitchFamily="18" charset="0"/>
              </a:rPr>
              <a:t>Note : decibel (dB)</a:t>
            </a:r>
          </a:p>
          <a:p>
            <a:pPr marL="0" indent="0">
              <a:buNone/>
            </a:pPr>
            <a:endParaRPr lang="en-IN" dirty="0"/>
          </a:p>
        </p:txBody>
      </p:sp>
    </p:spTree>
    <p:extLst>
      <p:ext uri="{BB962C8B-B14F-4D97-AF65-F5344CB8AC3E}">
        <p14:creationId xmlns:p14="http://schemas.microsoft.com/office/powerpoint/2010/main" val="480240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 xmlns:a16="http://schemas.microsoft.com/office/drawing/2014/main" id="{4CA5FF4F-7C6C-62B5-8BA1-DCE64A60B540}"/>
              </a:ext>
            </a:extLst>
          </p:cNvPr>
          <p:cNvPicPr>
            <a:picLocks noGrp="1" noChangeAspect="1" noChangeArrowheads="1"/>
          </p:cNvPicPr>
          <p:nvPr>
            <p:ph sz="quarter" idx="1"/>
          </p:nvPr>
        </p:nvPicPr>
        <p:blipFill>
          <a:blip r:embed="rId2"/>
          <a:srcRect/>
          <a:stretch>
            <a:fillRect/>
          </a:stretch>
        </p:blipFill>
        <p:spPr bwMode="auto">
          <a:xfrm>
            <a:off x="533400" y="685800"/>
            <a:ext cx="8351505" cy="4876800"/>
          </a:xfrm>
          <a:prstGeom prst="rect">
            <a:avLst/>
          </a:prstGeom>
          <a:noFill/>
          <a:ln w="9525">
            <a:noFill/>
            <a:miter lim="800000"/>
            <a:headEnd/>
            <a:tailEnd/>
          </a:ln>
          <a:effectLst/>
        </p:spPr>
      </p:pic>
    </p:spTree>
    <p:extLst>
      <p:ext uri="{BB962C8B-B14F-4D97-AF65-F5344CB8AC3E}">
        <p14:creationId xmlns:p14="http://schemas.microsoft.com/office/powerpoint/2010/main" val="26222803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A1070D1-C533-A271-E8AF-BFDB1FD53758}"/>
              </a:ext>
            </a:extLst>
          </p:cNvPr>
          <p:cNvSpPr>
            <a:spLocks noGrp="1"/>
          </p:cNvSpPr>
          <p:nvPr>
            <p:ph type="title"/>
          </p:nvPr>
        </p:nvSpPr>
        <p:spPr/>
        <p:txBody>
          <a:bodyPr>
            <a:normAutofit/>
          </a:bodyPr>
          <a:lstStyle/>
          <a:p>
            <a:r>
              <a:rPr lang="en-US" sz="1800" b="1" dirty="0">
                <a:latin typeface="Times New Roman" pitchFamily="18" charset="0"/>
                <a:cs typeface="Times New Roman" pitchFamily="18" charset="0"/>
              </a:rPr>
              <a:t>INDIAN STANDARDS FOR </a:t>
            </a:r>
            <a:r>
              <a:rPr lang="en-US" sz="2000" b="1" dirty="0">
                <a:latin typeface="Times New Roman" pitchFamily="18" charset="0"/>
                <a:cs typeface="Times New Roman" pitchFamily="18" charset="0"/>
              </a:rPr>
              <a:t>DRINKING WATER  -SPECIFICATION   ( BIS  10500 : 1991 )</a:t>
            </a:r>
            <a:endParaRPr lang="en-IN" sz="2000" dirty="0"/>
          </a:p>
        </p:txBody>
      </p:sp>
      <p:pic>
        <p:nvPicPr>
          <p:cNvPr id="4" name="Picture 2">
            <a:extLst>
              <a:ext uri="{FF2B5EF4-FFF2-40B4-BE49-F238E27FC236}">
                <a16:creationId xmlns="" xmlns:a16="http://schemas.microsoft.com/office/drawing/2014/main" id="{0A5FD86F-D971-9481-BCFF-F5B4896E3D1B}"/>
              </a:ext>
            </a:extLst>
          </p:cNvPr>
          <p:cNvPicPr>
            <a:picLocks noGrp="1" noChangeAspect="1" noChangeArrowheads="1"/>
          </p:cNvPicPr>
          <p:nvPr>
            <p:ph sz="quarter" idx="1"/>
          </p:nvPr>
        </p:nvPicPr>
        <p:blipFill>
          <a:blip r:embed="rId2"/>
          <a:srcRect/>
          <a:stretch>
            <a:fillRect/>
          </a:stretch>
        </p:blipFill>
        <p:spPr bwMode="auto">
          <a:xfrm>
            <a:off x="996148" y="1417638"/>
            <a:ext cx="7151703" cy="5063659"/>
          </a:xfrm>
          <a:prstGeom prst="rect">
            <a:avLst/>
          </a:prstGeom>
          <a:noFill/>
          <a:ln w="9525">
            <a:noFill/>
            <a:miter lim="800000"/>
            <a:headEnd/>
            <a:tailEnd/>
          </a:ln>
          <a:effectLst/>
        </p:spPr>
      </p:pic>
    </p:spTree>
    <p:extLst>
      <p:ext uri="{BB962C8B-B14F-4D97-AF65-F5344CB8AC3E}">
        <p14:creationId xmlns:p14="http://schemas.microsoft.com/office/powerpoint/2010/main" val="33766629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 xmlns:a16="http://schemas.microsoft.com/office/drawing/2014/main" id="{0946DA89-410A-6A31-5E68-0621357C21DB}"/>
              </a:ext>
            </a:extLst>
          </p:cNvPr>
          <p:cNvPicPr>
            <a:picLocks noGrp="1" noChangeAspect="1" noChangeArrowheads="1"/>
          </p:cNvPicPr>
          <p:nvPr>
            <p:ph sz="quarter" idx="1"/>
          </p:nvPr>
        </p:nvPicPr>
        <p:blipFill>
          <a:blip r:embed="rId2"/>
          <a:srcRect/>
          <a:stretch>
            <a:fillRect/>
          </a:stretch>
        </p:blipFill>
        <p:spPr bwMode="auto">
          <a:xfrm>
            <a:off x="914400" y="609599"/>
            <a:ext cx="7391400" cy="5750805"/>
          </a:xfrm>
          <a:prstGeom prst="rect">
            <a:avLst/>
          </a:prstGeom>
          <a:noFill/>
          <a:ln w="9525">
            <a:noFill/>
            <a:miter lim="800000"/>
            <a:headEnd/>
            <a:tailEnd/>
          </a:ln>
          <a:effectLst/>
        </p:spPr>
      </p:pic>
    </p:spTree>
    <p:extLst>
      <p:ext uri="{BB962C8B-B14F-4D97-AF65-F5344CB8AC3E}">
        <p14:creationId xmlns:p14="http://schemas.microsoft.com/office/powerpoint/2010/main" val="40680721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609</TotalTime>
  <Words>1948</Words>
  <Application>Microsoft Office PowerPoint</Application>
  <PresentationFormat>On-screen Show (4:3)</PresentationFormat>
  <Paragraphs>125</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Equity</vt:lpstr>
      <vt:lpstr>EIA as an Environmental Management Tool </vt:lpstr>
      <vt:lpstr>EIA:</vt:lpstr>
      <vt:lpstr>PowerPoint Presentation</vt:lpstr>
      <vt:lpstr>Salient features of EIA </vt:lpstr>
      <vt:lpstr>Purpose/Need of EIA</vt:lpstr>
      <vt:lpstr>Goals of EIA </vt:lpstr>
      <vt:lpstr>EVOLUTION OF EIA</vt:lpstr>
      <vt:lpstr>PowerPoint Presentation</vt:lpstr>
      <vt:lpstr>PowerPoint Presentation</vt:lpstr>
      <vt:lpstr>PowerPoint Presentation</vt:lpstr>
      <vt:lpstr> EIA notification 1994</vt:lpstr>
      <vt:lpstr>2006 EIA Government of India notification</vt:lpstr>
      <vt:lpstr>PowerPoint Presentation</vt:lpstr>
      <vt:lpstr>The Air (Prevention and Control of Pollution) Act of 1981 and amendment,1987</vt:lpstr>
      <vt:lpstr>PowerPoint Presentation</vt:lpstr>
      <vt:lpstr>The Water (Prevention and Control of Pollution) Act of 1974 and Amendment, 1988</vt:lpstr>
      <vt:lpstr>PowerPoint Presentation</vt:lpstr>
      <vt:lpstr>The Environment (Protection) Act of 1986</vt:lpstr>
      <vt:lpstr>PowerPoint Presentation</vt:lpstr>
      <vt:lpstr>PowerPoint Presentation</vt:lpstr>
      <vt:lpstr>i. AIR QUALITY STANDARDS:</vt:lpstr>
      <vt:lpstr>PowerPoint Presentation</vt:lpstr>
      <vt:lpstr>PowerPoint Presentation</vt:lpstr>
      <vt:lpstr>PowerPoint Presentation</vt:lpstr>
      <vt:lpstr>NOISE LEVEL STANDARDS:</vt:lpstr>
      <vt:lpstr>PowerPoint Presentation</vt:lpstr>
      <vt:lpstr>INDIAN STANDARDS FOR DRINKING WATER  -SPECIFICATION   ( BIS  10500 : 1991 )</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EIA as an Environmental Management Tool </dc:title>
  <dc:creator>lenovo</dc:creator>
  <cp:lastModifiedBy>user</cp:lastModifiedBy>
  <cp:revision>46</cp:revision>
  <dcterms:created xsi:type="dcterms:W3CDTF">2006-08-16T00:00:00Z</dcterms:created>
  <dcterms:modified xsi:type="dcterms:W3CDTF">2023-09-03T02:39:44Z</dcterms:modified>
</cp:coreProperties>
</file>