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7"/>
  </p:notesMasterIdLst>
  <p:sldIdLst>
    <p:sldId id="256" r:id="rId2"/>
    <p:sldId id="297" r:id="rId3"/>
    <p:sldId id="298" r:id="rId4"/>
    <p:sldId id="299" r:id="rId5"/>
    <p:sldId id="300" r:id="rId6"/>
    <p:sldId id="301" r:id="rId7"/>
    <p:sldId id="302" r:id="rId8"/>
    <p:sldId id="303" r:id="rId9"/>
    <p:sldId id="304" r:id="rId10"/>
    <p:sldId id="305" r:id="rId11"/>
    <p:sldId id="310" r:id="rId12"/>
    <p:sldId id="306" r:id="rId13"/>
    <p:sldId id="311" r:id="rId14"/>
    <p:sldId id="307" r:id="rId15"/>
    <p:sldId id="308" r:id="rId16"/>
    <p:sldId id="312" r:id="rId17"/>
    <p:sldId id="309" r:id="rId18"/>
    <p:sldId id="270" r:id="rId19"/>
    <p:sldId id="293" r:id="rId20"/>
    <p:sldId id="287" r:id="rId21"/>
    <p:sldId id="314" r:id="rId22"/>
    <p:sldId id="294" r:id="rId23"/>
    <p:sldId id="313" r:id="rId24"/>
    <p:sldId id="317" r:id="rId25"/>
    <p:sldId id="315" r:id="rId26"/>
    <p:sldId id="316" r:id="rId27"/>
    <p:sldId id="271" r:id="rId28"/>
    <p:sldId id="288" r:id="rId29"/>
    <p:sldId id="289" r:id="rId30"/>
    <p:sldId id="295" r:id="rId31"/>
    <p:sldId id="296" r:id="rId32"/>
    <p:sldId id="318" r:id="rId33"/>
    <p:sldId id="319" r:id="rId34"/>
    <p:sldId id="320" r:id="rId35"/>
    <p:sldId id="321" r:id="rId36"/>
    <p:sldId id="325" r:id="rId37"/>
    <p:sldId id="326" r:id="rId38"/>
    <p:sldId id="327" r:id="rId39"/>
    <p:sldId id="328" r:id="rId40"/>
    <p:sldId id="343" r:id="rId41"/>
    <p:sldId id="329" r:id="rId42"/>
    <p:sldId id="330" r:id="rId43"/>
    <p:sldId id="323" r:id="rId44"/>
    <p:sldId id="324" r:id="rId45"/>
    <p:sldId id="331" r:id="rId46"/>
    <p:sldId id="332" r:id="rId47"/>
    <p:sldId id="333" r:id="rId48"/>
    <p:sldId id="334" r:id="rId49"/>
    <p:sldId id="335" r:id="rId50"/>
    <p:sldId id="336" r:id="rId51"/>
    <p:sldId id="342" r:id="rId52"/>
    <p:sldId id="341" r:id="rId53"/>
    <p:sldId id="340" r:id="rId54"/>
    <p:sldId id="337" r:id="rId55"/>
    <p:sldId id="338" r:id="rId56"/>
    <p:sldId id="339" r:id="rId57"/>
    <p:sldId id="344" r:id="rId58"/>
    <p:sldId id="345" r:id="rId59"/>
    <p:sldId id="346" r:id="rId60"/>
    <p:sldId id="347" r:id="rId61"/>
    <p:sldId id="348" r:id="rId62"/>
    <p:sldId id="377" r:id="rId63"/>
    <p:sldId id="380" r:id="rId64"/>
    <p:sldId id="349" r:id="rId65"/>
    <p:sldId id="378" r:id="rId66"/>
    <p:sldId id="379" r:id="rId67"/>
    <p:sldId id="354" r:id="rId68"/>
    <p:sldId id="355" r:id="rId69"/>
    <p:sldId id="356" r:id="rId70"/>
    <p:sldId id="357" r:id="rId71"/>
    <p:sldId id="358" r:id="rId72"/>
    <p:sldId id="382" r:id="rId73"/>
    <p:sldId id="359" r:id="rId74"/>
    <p:sldId id="381" r:id="rId75"/>
    <p:sldId id="360" r:id="rId76"/>
    <p:sldId id="361" r:id="rId77"/>
    <p:sldId id="366" r:id="rId78"/>
    <p:sldId id="370" r:id="rId79"/>
    <p:sldId id="367" r:id="rId80"/>
    <p:sldId id="371" r:id="rId81"/>
    <p:sldId id="368" r:id="rId82"/>
    <p:sldId id="369" r:id="rId83"/>
    <p:sldId id="257" r:id="rId84"/>
    <p:sldId id="258" r:id="rId85"/>
    <p:sldId id="383" r:id="rId86"/>
    <p:sldId id="384" r:id="rId87"/>
    <p:sldId id="385" r:id="rId88"/>
    <p:sldId id="386" r:id="rId89"/>
    <p:sldId id="387" r:id="rId90"/>
    <p:sldId id="388" r:id="rId91"/>
    <p:sldId id="389" r:id="rId92"/>
    <p:sldId id="390" r:id="rId93"/>
    <p:sldId id="391" r:id="rId94"/>
    <p:sldId id="266" r:id="rId95"/>
    <p:sldId id="267" r:id="rId9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09" autoAdjust="0"/>
    <p:restoredTop sz="88364" autoAdjust="0"/>
  </p:normalViewPr>
  <p:slideViewPr>
    <p:cSldViewPr>
      <p:cViewPr>
        <p:scale>
          <a:sx n="75" d="100"/>
          <a:sy n="75" d="100"/>
        </p:scale>
        <p:origin x="1428" y="-6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165539-4FA3-42F8-A7E3-AA3E0D2643FF}" type="datetimeFigureOut">
              <a:rPr lang="en-IN" smtClean="0"/>
              <a:t>02-12-2022</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EF915B-F7AE-4AF0-BCFB-F372C1F45C93}" type="slidenum">
              <a:rPr lang="en-IN" smtClean="0"/>
              <a:t>‹#›</a:t>
            </a:fld>
            <a:endParaRPr lang="en-IN"/>
          </a:p>
        </p:txBody>
      </p:sp>
    </p:spTree>
    <p:extLst>
      <p:ext uri="{BB962C8B-B14F-4D97-AF65-F5344CB8AC3E}">
        <p14:creationId xmlns:p14="http://schemas.microsoft.com/office/powerpoint/2010/main" val="960488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2EF915B-F7AE-4AF0-BCFB-F372C1F45C93}" type="slidenum">
              <a:rPr lang="en-IN" smtClean="0"/>
              <a:t>51</a:t>
            </a:fld>
            <a:endParaRPr lang="en-IN"/>
          </a:p>
        </p:txBody>
      </p:sp>
    </p:spTree>
    <p:extLst>
      <p:ext uri="{BB962C8B-B14F-4D97-AF65-F5344CB8AC3E}">
        <p14:creationId xmlns:p14="http://schemas.microsoft.com/office/powerpoint/2010/main" val="3694878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2EF915B-F7AE-4AF0-BCFB-F372C1F45C93}" type="slidenum">
              <a:rPr lang="en-IN" smtClean="0"/>
              <a:t>63</a:t>
            </a:fld>
            <a:endParaRPr lang="en-IN"/>
          </a:p>
        </p:txBody>
      </p:sp>
    </p:spTree>
    <p:extLst>
      <p:ext uri="{BB962C8B-B14F-4D97-AF65-F5344CB8AC3E}">
        <p14:creationId xmlns:p14="http://schemas.microsoft.com/office/powerpoint/2010/main" val="5653236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12/2/2022</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44818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12/2/2022</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7468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12/2/2022</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74548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12/2/2022</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87123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12/2/2022</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84369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12/2/2022</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21953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12/2/2022</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94486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12/2/2022</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39706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12/2/2022</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35964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12/2/2022</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42988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12/2/2022</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B6F15528-21DE-4FAA-801E-634DDDAF4B2B}" type="slidenum">
              <a:rPr lang="en-US" smtClean="0"/>
              <a:pPr/>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097720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12/2/2022</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218547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12/2/2022</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B6F15528-21DE-4FAA-801E-634DDDAF4B2B}" type="slidenum">
              <a:rPr lang="en-US" smtClean="0"/>
              <a:pPr/>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086137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12/2/2022</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32993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12/2/2022</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80164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12/2/2022</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16795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pPr/>
              <a:t>12/2/2022</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018150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52600" y="304801"/>
            <a:ext cx="6600451" cy="914400"/>
          </a:xfrm>
        </p:spPr>
        <p:txBody>
          <a:bodyPr>
            <a:normAutofit/>
          </a:bodyPr>
          <a:lstStyle/>
          <a:p>
            <a:pPr algn="ctr"/>
            <a:r>
              <a:rPr lang="en-US" dirty="0">
                <a:latin typeface="Times New Roman" panose="02020603050405020304" pitchFamily="18" charset="0"/>
                <a:cs typeface="Times New Roman" panose="02020603050405020304" pitchFamily="18" charset="0"/>
              </a:rPr>
              <a:t>MODULE 3</a:t>
            </a:r>
          </a:p>
        </p:txBody>
      </p:sp>
      <p:sp>
        <p:nvSpPr>
          <p:cNvPr id="4" name="Subtitle 3"/>
          <p:cNvSpPr>
            <a:spLocks noGrp="1"/>
          </p:cNvSpPr>
          <p:nvPr>
            <p:ph type="subTitle" idx="1"/>
          </p:nvPr>
        </p:nvSpPr>
        <p:spPr>
          <a:xfrm>
            <a:off x="685800" y="1676400"/>
            <a:ext cx="8458200" cy="3581400"/>
          </a:xfrm>
        </p:spPr>
        <p:txBody>
          <a:bodyPr>
            <a:noAutofit/>
          </a:bodyPr>
          <a:lstStyle/>
          <a:p>
            <a:pPr algn="just"/>
            <a:r>
              <a:rPr lang="en-US" sz="2800" dirty="0">
                <a:latin typeface="Times New Roman" panose="02020603050405020304" pitchFamily="18" charset="0"/>
                <a:cs typeface="Times New Roman" panose="02020603050405020304" pitchFamily="18" charset="0"/>
              </a:rPr>
              <a:t>EIA methodologies: Ad hoc, checklist, matrix, network and overlay- Impact Prediction, Evaluation and Mitigation-Prediction and assessment of the impact on water (surface water and groundwater), air, and noise environment- assessment of ecological impacts and Socio economic Impacts.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76200"/>
            <a:ext cx="7543799" cy="609600"/>
          </a:xfrm>
        </p:spPr>
        <p:txBody>
          <a:bodyPr>
            <a:normAutofit fontScale="90000"/>
          </a:bodyPr>
          <a:lstStyle/>
          <a:p>
            <a:r>
              <a:rPr lang="en-US" dirty="0"/>
              <a:t>EIA methodologies</a:t>
            </a:r>
            <a:endParaRPr lang="en-IN" dirty="0"/>
          </a:p>
        </p:txBody>
      </p:sp>
      <p:sp>
        <p:nvSpPr>
          <p:cNvPr id="3" name="Content Placeholder 2"/>
          <p:cNvSpPr>
            <a:spLocks noGrp="1"/>
          </p:cNvSpPr>
          <p:nvPr>
            <p:ph idx="1"/>
          </p:nvPr>
        </p:nvSpPr>
        <p:spPr>
          <a:xfrm>
            <a:off x="990600" y="1066800"/>
            <a:ext cx="8153400" cy="5486400"/>
          </a:xfrm>
        </p:spPr>
        <p:txBody>
          <a:bodyPr>
            <a:normAutofit/>
          </a:bodyPr>
          <a:lstStyle/>
          <a:p>
            <a:r>
              <a:rPr lang="en-US" sz="2000" dirty="0">
                <a:latin typeface="Times New Roman" panose="02020603050405020304" pitchFamily="18" charset="0"/>
                <a:cs typeface="Times New Roman" panose="02020603050405020304" pitchFamily="18" charset="0"/>
              </a:rPr>
              <a:t>Simple &amp; widely used </a:t>
            </a:r>
            <a:r>
              <a:rPr lang="en-US" sz="2000" dirty="0">
                <a:solidFill>
                  <a:srgbClr val="FF0000"/>
                </a:solidFill>
                <a:latin typeface="Times New Roman" panose="02020603050405020304" pitchFamily="18" charset="0"/>
                <a:cs typeface="Times New Roman" panose="02020603050405020304" pitchFamily="18" charset="0"/>
              </a:rPr>
              <a:t>EIA methods </a:t>
            </a:r>
            <a:r>
              <a:rPr lang="en-US" sz="2000" dirty="0">
                <a:latin typeface="Times New Roman" panose="02020603050405020304" pitchFamily="18" charset="0"/>
                <a:cs typeface="Times New Roman" panose="02020603050405020304" pitchFamily="18" charset="0"/>
              </a:rPr>
              <a:t>with criteria to be followed for choosing most appropriate method in a given situation.</a:t>
            </a:r>
          </a:p>
          <a:p>
            <a:r>
              <a:rPr lang="en-US" sz="2000" dirty="0">
                <a:latin typeface="Times New Roman" panose="02020603050405020304" pitchFamily="18" charset="0"/>
                <a:cs typeface="Times New Roman" panose="02020603050405020304" pitchFamily="18" charset="0"/>
              </a:rPr>
              <a:t>Each technique and method for the evaluation of impacts should have the following qualities and characteristics:</a:t>
            </a:r>
          </a:p>
          <a:p>
            <a:pPr lvl="1"/>
            <a:r>
              <a:rPr lang="en-US" sz="1800" dirty="0">
                <a:latin typeface="Times New Roman" panose="02020603050405020304" pitchFamily="18" charset="0"/>
                <a:cs typeface="Times New Roman" panose="02020603050405020304" pitchFamily="18" charset="0"/>
              </a:rPr>
              <a:t>1. It should be systematic in approach</a:t>
            </a:r>
          </a:p>
          <a:p>
            <a:pPr lvl="1"/>
            <a:r>
              <a:rPr lang="en-US" sz="1800" dirty="0">
                <a:latin typeface="Times New Roman" panose="02020603050405020304" pitchFamily="18" charset="0"/>
                <a:cs typeface="Times New Roman" panose="02020603050405020304" pitchFamily="18" charset="0"/>
              </a:rPr>
              <a:t>2. It should be able to organize a large mass of heterogeneous data</a:t>
            </a:r>
          </a:p>
          <a:p>
            <a:pPr lvl="1"/>
            <a:r>
              <a:rPr lang="en-US" sz="1800" dirty="0">
                <a:latin typeface="Times New Roman" panose="02020603050405020304" pitchFamily="18" charset="0"/>
                <a:cs typeface="Times New Roman" panose="02020603050405020304" pitchFamily="18" charset="0"/>
              </a:rPr>
              <a:t>3. It should be able to quantify the impacts</a:t>
            </a:r>
          </a:p>
          <a:p>
            <a:pPr lvl="1"/>
            <a:r>
              <a:rPr lang="en-US" sz="1800" dirty="0">
                <a:latin typeface="Times New Roman" panose="02020603050405020304" pitchFamily="18" charset="0"/>
                <a:cs typeface="Times New Roman" panose="02020603050405020304" pitchFamily="18" charset="0"/>
              </a:rPr>
              <a:t>4. It should be capable of summarizing the data</a:t>
            </a:r>
          </a:p>
          <a:p>
            <a:pPr lvl="1"/>
            <a:r>
              <a:rPr lang="en-US" sz="1800" dirty="0">
                <a:latin typeface="Times New Roman" panose="02020603050405020304" pitchFamily="18" charset="0"/>
                <a:cs typeface="Times New Roman" panose="02020603050405020304" pitchFamily="18" charset="0"/>
              </a:rPr>
              <a:t>5. It should be able to aggregate the data into sets with the least loss of information because of the aggregations</a:t>
            </a:r>
          </a:p>
          <a:p>
            <a:pPr lvl="1"/>
            <a:r>
              <a:rPr lang="en-US" sz="1800" dirty="0">
                <a:latin typeface="Times New Roman" panose="02020603050405020304" pitchFamily="18" charset="0"/>
                <a:cs typeface="Times New Roman" panose="02020603050405020304" pitchFamily="18" charset="0"/>
              </a:rPr>
              <a:t>6. It should have a good predictive capability</a:t>
            </a:r>
          </a:p>
          <a:p>
            <a:pPr lvl="1"/>
            <a:r>
              <a:rPr lang="en-US" sz="1800" dirty="0">
                <a:latin typeface="Times New Roman" panose="02020603050405020304" pitchFamily="18" charset="0"/>
                <a:cs typeface="Times New Roman" panose="02020603050405020304" pitchFamily="18" charset="0"/>
              </a:rPr>
              <a:t>7. It should extract the salient features</a:t>
            </a:r>
          </a:p>
          <a:p>
            <a:pPr lvl="1"/>
            <a:r>
              <a:rPr lang="en-US" sz="1800" dirty="0">
                <a:latin typeface="Times New Roman" panose="02020603050405020304" pitchFamily="18" charset="0"/>
                <a:cs typeface="Times New Roman" panose="02020603050405020304" pitchFamily="18" charset="0"/>
              </a:rPr>
              <a:t>8. It should finally be able to display the raw data and the derived information in a meaningful fashion.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4084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1" y="0"/>
            <a:ext cx="7620000" cy="762000"/>
          </a:xfrm>
        </p:spPr>
        <p:txBody>
          <a:bodyPr/>
          <a:lstStyle/>
          <a:p>
            <a:r>
              <a:rPr lang="en-US" dirty="0"/>
              <a:t>EIA methodologies</a:t>
            </a:r>
            <a:endParaRPr lang="en-IN" dirty="0"/>
          </a:p>
        </p:txBody>
      </p:sp>
      <p:sp>
        <p:nvSpPr>
          <p:cNvPr id="3" name="Content Placeholder 2"/>
          <p:cNvSpPr>
            <a:spLocks noGrp="1"/>
          </p:cNvSpPr>
          <p:nvPr>
            <p:ph idx="1"/>
          </p:nvPr>
        </p:nvSpPr>
        <p:spPr>
          <a:xfrm>
            <a:off x="1142999" y="1219200"/>
            <a:ext cx="7924801" cy="5638800"/>
          </a:xfrm>
        </p:spPr>
        <p:txBody>
          <a:bodyPr/>
          <a:lstStyle/>
          <a:p>
            <a:r>
              <a:rPr lang="en-US" sz="2000" dirty="0">
                <a:latin typeface="Times New Roman" panose="02020603050405020304" pitchFamily="18" charset="0"/>
                <a:cs typeface="Times New Roman" panose="02020603050405020304" pitchFamily="18" charset="0"/>
              </a:rPr>
              <a:t>Important methodologies of utility for assessing the impacts of developmental activities on the environment.</a:t>
            </a:r>
          </a:p>
          <a:p>
            <a:pPr marL="1371600" lvl="3" indent="0">
              <a:lnSpc>
                <a:spcPct val="150000"/>
              </a:lnSpc>
              <a:buNone/>
            </a:pPr>
            <a:r>
              <a:rPr lang="en-US" sz="1800" dirty="0">
                <a:solidFill>
                  <a:srgbClr val="00B050"/>
                </a:solidFill>
                <a:latin typeface="Times New Roman" panose="02020603050405020304" pitchFamily="18" charset="0"/>
                <a:cs typeface="Times New Roman" panose="02020603050405020304" pitchFamily="18" charset="0"/>
              </a:rPr>
              <a:t>1. </a:t>
            </a:r>
            <a:r>
              <a:rPr lang="en-US" sz="1800" dirty="0" err="1">
                <a:solidFill>
                  <a:srgbClr val="00B050"/>
                </a:solidFill>
                <a:latin typeface="Times New Roman" panose="02020603050405020304" pitchFamily="18" charset="0"/>
                <a:cs typeface="Times New Roman" panose="02020603050405020304" pitchFamily="18" charset="0"/>
              </a:rPr>
              <a:t>Adhoc</a:t>
            </a:r>
            <a:r>
              <a:rPr lang="en-US" sz="1800" dirty="0">
                <a:solidFill>
                  <a:srgbClr val="00B050"/>
                </a:solidFill>
                <a:latin typeface="Times New Roman" panose="02020603050405020304" pitchFamily="18" charset="0"/>
                <a:cs typeface="Times New Roman" panose="02020603050405020304" pitchFamily="18" charset="0"/>
              </a:rPr>
              <a:t> methods </a:t>
            </a:r>
            <a:br>
              <a:rPr lang="en-US" sz="1800" dirty="0">
                <a:solidFill>
                  <a:srgbClr val="00B050"/>
                </a:solidFill>
                <a:latin typeface="Times New Roman" panose="02020603050405020304" pitchFamily="18" charset="0"/>
                <a:cs typeface="Times New Roman" panose="02020603050405020304" pitchFamily="18" charset="0"/>
              </a:rPr>
            </a:br>
            <a:r>
              <a:rPr lang="en-US" sz="1800" dirty="0">
                <a:solidFill>
                  <a:srgbClr val="00B050"/>
                </a:solidFill>
                <a:latin typeface="Times New Roman" panose="02020603050405020304" pitchFamily="18" charset="0"/>
                <a:cs typeface="Times New Roman" panose="02020603050405020304" pitchFamily="18" charset="0"/>
              </a:rPr>
              <a:t>2. Checklists methods </a:t>
            </a:r>
          </a:p>
          <a:p>
            <a:pPr marL="1371600" lvl="3" indent="0">
              <a:lnSpc>
                <a:spcPct val="150000"/>
              </a:lnSpc>
              <a:buNone/>
            </a:pPr>
            <a:r>
              <a:rPr lang="en-US" sz="1800" dirty="0">
                <a:solidFill>
                  <a:srgbClr val="00B050"/>
                </a:solidFill>
                <a:latin typeface="Times New Roman" panose="02020603050405020304" pitchFamily="18" charset="0"/>
                <a:cs typeface="Times New Roman" panose="02020603050405020304" pitchFamily="18" charset="0"/>
              </a:rPr>
              <a:t>3. Matrices methods</a:t>
            </a:r>
          </a:p>
          <a:p>
            <a:pPr marL="1371600" lvl="3" indent="0">
              <a:lnSpc>
                <a:spcPct val="150000"/>
              </a:lnSpc>
              <a:buNone/>
            </a:pPr>
            <a:r>
              <a:rPr lang="en-US" sz="1800" dirty="0">
                <a:solidFill>
                  <a:srgbClr val="00B050"/>
                </a:solidFill>
                <a:latin typeface="Times New Roman" panose="02020603050405020304" pitchFamily="18" charset="0"/>
                <a:cs typeface="Times New Roman" panose="02020603050405020304" pitchFamily="18" charset="0"/>
              </a:rPr>
              <a:t>4. Networks methods </a:t>
            </a:r>
          </a:p>
          <a:p>
            <a:pPr marL="1371600" lvl="3" indent="0">
              <a:lnSpc>
                <a:spcPct val="150000"/>
              </a:lnSpc>
              <a:buNone/>
            </a:pPr>
            <a:r>
              <a:rPr lang="en-US" sz="1800" dirty="0">
                <a:solidFill>
                  <a:srgbClr val="00B050"/>
                </a:solidFill>
                <a:latin typeface="Times New Roman" panose="02020603050405020304" pitchFamily="18" charset="0"/>
                <a:cs typeface="Times New Roman" panose="02020603050405020304" pitchFamily="18" charset="0"/>
              </a:rPr>
              <a:t>5. Overlays methods </a:t>
            </a:r>
          </a:p>
          <a:p>
            <a:pPr marL="1371600" lvl="3" indent="0">
              <a:lnSpc>
                <a:spcPct val="150000"/>
              </a:lnSpc>
              <a:buNone/>
            </a:pPr>
            <a:r>
              <a:rPr lang="en-US" sz="1800" dirty="0">
                <a:solidFill>
                  <a:srgbClr val="FF0000"/>
                </a:solidFill>
                <a:latin typeface="Times New Roman" panose="02020603050405020304" pitchFamily="18" charset="0"/>
                <a:cs typeface="Times New Roman" panose="02020603050405020304" pitchFamily="18" charset="0"/>
              </a:rPr>
              <a:t>6. Environmental index using factor analysis</a:t>
            </a:r>
          </a:p>
          <a:p>
            <a:pPr marL="1371600" lvl="3" indent="0">
              <a:lnSpc>
                <a:spcPct val="150000"/>
              </a:lnSpc>
              <a:buNone/>
            </a:pPr>
            <a:r>
              <a:rPr lang="en-US" sz="1800" dirty="0">
                <a:solidFill>
                  <a:srgbClr val="FF0000"/>
                </a:solidFill>
                <a:latin typeface="Times New Roman" panose="02020603050405020304" pitchFamily="18" charset="0"/>
                <a:cs typeface="Times New Roman" panose="02020603050405020304" pitchFamily="18" charset="0"/>
              </a:rPr>
              <a:t> 7. Cost/benefit analysis</a:t>
            </a:r>
          </a:p>
          <a:p>
            <a:pPr marL="1371600" lvl="3" indent="0">
              <a:lnSpc>
                <a:spcPct val="150000"/>
              </a:lnSpc>
              <a:buNone/>
            </a:pPr>
            <a:r>
              <a:rPr lang="en-US" sz="1800" dirty="0">
                <a:solidFill>
                  <a:srgbClr val="FF0000"/>
                </a:solidFill>
                <a:latin typeface="Times New Roman" panose="02020603050405020304" pitchFamily="18" charset="0"/>
                <a:cs typeface="Times New Roman" panose="02020603050405020304" pitchFamily="18" charset="0"/>
              </a:rPr>
              <a:t> 8. Predictive or Simulation methods</a:t>
            </a:r>
            <a:endParaRPr lang="en-IN" sz="1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4525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Times New Roman" pitchFamily="18" charset="0"/>
                <a:cs typeface="Times New Roman" pitchFamily="18" charset="0"/>
              </a:rPr>
              <a:t>Ad-HOC method</a:t>
            </a:r>
            <a:br>
              <a:rPr lang="en-US" dirty="0">
                <a:latin typeface="Times New Roman" pitchFamily="18" charset="0"/>
                <a:cs typeface="Times New Roman" pitchFamily="18" charset="0"/>
              </a:rPr>
            </a:br>
            <a:endParaRPr lang="en-IN" dirty="0"/>
          </a:p>
        </p:txBody>
      </p:sp>
      <p:sp>
        <p:nvSpPr>
          <p:cNvPr id="3" name="Content Placeholder 2"/>
          <p:cNvSpPr>
            <a:spLocks noGrp="1"/>
          </p:cNvSpPr>
          <p:nvPr>
            <p:ph idx="1"/>
          </p:nvPr>
        </p:nvSpPr>
        <p:spPr>
          <a:xfrm>
            <a:off x="685800" y="1447800"/>
            <a:ext cx="8305800" cy="5181600"/>
          </a:xfrm>
        </p:spPr>
        <p:txBody>
          <a:bodyPr/>
          <a:lstStyle/>
          <a:p>
            <a:r>
              <a:rPr lang="en-GB" sz="2400" dirty="0">
                <a:latin typeface="Times New Roman" pitchFamily="18" charset="0"/>
                <a:cs typeface="Times New Roman" pitchFamily="18" charset="0"/>
              </a:rPr>
              <a:t>Only primary and provides impact of the project on larger issues only (Flora, Fauna, Forest, Lake).</a:t>
            </a:r>
          </a:p>
          <a:p>
            <a:r>
              <a:rPr lang="en-GB" sz="2400" dirty="0">
                <a:latin typeface="Times New Roman" pitchFamily="18" charset="0"/>
                <a:cs typeface="Times New Roman" pitchFamily="18" charset="0"/>
              </a:rPr>
              <a:t> No specific parameters are discussed. </a:t>
            </a:r>
          </a:p>
          <a:p>
            <a:r>
              <a:rPr lang="en-US" sz="2400" dirty="0">
                <a:latin typeface="Times New Roman" panose="02020603050405020304" pitchFamily="18" charset="0"/>
                <a:cs typeface="Times New Roman" panose="02020603050405020304" pitchFamily="18" charset="0"/>
              </a:rPr>
              <a:t>Simple method </a:t>
            </a:r>
          </a:p>
          <a:p>
            <a:r>
              <a:rPr lang="en-US" sz="2400" dirty="0">
                <a:latin typeface="Times New Roman" panose="02020603050405020304" pitchFamily="18" charset="0"/>
                <a:cs typeface="Times New Roman" panose="02020603050405020304" pitchFamily="18" charset="0"/>
              </a:rPr>
              <a:t>Useful when time constraints and lack of information </a:t>
            </a:r>
          </a:p>
          <a:p>
            <a:r>
              <a:rPr lang="en-US" sz="2400" dirty="0">
                <a:latin typeface="Times New Roman" panose="02020603050405020304" pitchFamily="18" charset="0"/>
                <a:cs typeface="Times New Roman" panose="02020603050405020304" pitchFamily="18" charset="0"/>
              </a:rPr>
              <a:t>Provides minimal guidance for total impact assessment while suggesting the broad areas of possible impacts and the general nature of these possible impacts. </a:t>
            </a:r>
          </a:p>
          <a:p>
            <a:r>
              <a:rPr lang="en-US" sz="2400" dirty="0">
                <a:latin typeface="Times New Roman" panose="02020603050405020304" pitchFamily="18" charset="0"/>
                <a:cs typeface="Times New Roman" panose="02020603050405020304" pitchFamily="18" charset="0"/>
              </a:rPr>
              <a:t>If more scientific methods available-not recommended.</a:t>
            </a:r>
          </a:p>
          <a:p>
            <a:endParaRPr lang="en-US" sz="2400" dirty="0"/>
          </a:p>
          <a:p>
            <a:endParaRPr lang="en-IN" dirty="0"/>
          </a:p>
        </p:txBody>
      </p:sp>
    </p:spTree>
    <p:extLst>
      <p:ext uri="{BB962C8B-B14F-4D97-AF65-F5344CB8AC3E}">
        <p14:creationId xmlns:p14="http://schemas.microsoft.com/office/powerpoint/2010/main" val="2644563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0"/>
            <a:ext cx="7391400" cy="914400"/>
          </a:xfrm>
        </p:spPr>
        <p:txBody>
          <a:bodyPr>
            <a:normAutofit fontScale="90000"/>
          </a:bodyPr>
          <a:lstStyle/>
          <a:p>
            <a:r>
              <a:rPr lang="en-US" dirty="0"/>
              <a:t>Types of Ad hoc methods </a:t>
            </a:r>
            <a:br>
              <a:rPr lang="en-US" dirty="0"/>
            </a:br>
            <a:endParaRPr lang="en-IN" dirty="0"/>
          </a:p>
        </p:txBody>
      </p:sp>
      <p:sp>
        <p:nvSpPr>
          <p:cNvPr id="3" name="Content Placeholder 2"/>
          <p:cNvSpPr>
            <a:spLocks noGrp="1"/>
          </p:cNvSpPr>
          <p:nvPr>
            <p:ph idx="1"/>
          </p:nvPr>
        </p:nvSpPr>
        <p:spPr>
          <a:xfrm>
            <a:off x="685800" y="1143000"/>
            <a:ext cx="8381999" cy="5486400"/>
          </a:xfrm>
        </p:spPr>
        <p:txBody>
          <a:bodyPr>
            <a:normAutofit/>
          </a:bodyPr>
          <a:lstStyle/>
          <a:p>
            <a:r>
              <a:rPr lang="en-US" sz="2400" dirty="0">
                <a:latin typeface="Times New Roman" panose="02020603050405020304" pitchFamily="18" charset="0"/>
                <a:cs typeface="Times New Roman" panose="02020603050405020304" pitchFamily="18" charset="0"/>
              </a:rPr>
              <a:t>Opinion poll</a:t>
            </a:r>
          </a:p>
          <a:p>
            <a:r>
              <a:rPr lang="en-US" sz="2400" dirty="0">
                <a:latin typeface="Times New Roman" panose="02020603050405020304" pitchFamily="18" charset="0"/>
                <a:cs typeface="Times New Roman" panose="02020603050405020304" pitchFamily="18" charset="0"/>
              </a:rPr>
              <a:t>Expert opinion</a:t>
            </a:r>
          </a:p>
          <a:p>
            <a:r>
              <a:rPr lang="en-US" sz="2400" dirty="0">
                <a:latin typeface="Times New Roman" panose="02020603050405020304" pitchFamily="18" charset="0"/>
                <a:cs typeface="Times New Roman" panose="02020603050405020304" pitchFamily="18" charset="0"/>
              </a:rPr>
              <a:t>Delphi method </a:t>
            </a:r>
          </a:p>
          <a:p>
            <a:pPr marL="0" indent="0">
              <a:buNone/>
            </a:pPr>
            <a:r>
              <a:rPr lang="en-US" sz="2000" b="1" dirty="0">
                <a:latin typeface="Times New Roman" panose="02020603050405020304" pitchFamily="18" charset="0"/>
                <a:cs typeface="Times New Roman" panose="02020603050405020304" pitchFamily="18" charset="0"/>
              </a:rPr>
              <a:t>Delphi method </a:t>
            </a:r>
            <a:r>
              <a:rPr lang="en-US" sz="2000" dirty="0">
                <a:latin typeface="Times New Roman" panose="02020603050405020304" pitchFamily="18" charset="0"/>
                <a:cs typeface="Times New Roman" panose="02020603050405020304" pitchFamily="18" charset="0"/>
              </a:rPr>
              <a:t>:Forecasting process framework based on the results of several rounds of questionnaires sent to a panel of experts. </a:t>
            </a:r>
          </a:p>
          <a:p>
            <a:pPr marL="400050" lvl="1" indent="0" algn="just">
              <a:buNone/>
            </a:pPr>
            <a:r>
              <a:rPr lang="en-US" sz="2000" dirty="0">
                <a:latin typeface="Times New Roman" panose="02020603050405020304" pitchFamily="18" charset="0"/>
                <a:cs typeface="Times New Roman" panose="02020603050405020304" pitchFamily="18" charset="0"/>
              </a:rPr>
              <a:t>Several rounds of questionnaires are sent out, and the anonymous responses are aggregated and shared with the group after each round. </a:t>
            </a:r>
          </a:p>
          <a:p>
            <a:pPr marL="400050" lvl="1" indent="0" algn="just">
              <a:buNone/>
            </a:pPr>
            <a:r>
              <a:rPr lang="en-US" sz="2000" dirty="0">
                <a:latin typeface="Times New Roman" panose="02020603050405020304" pitchFamily="18" charset="0"/>
                <a:cs typeface="Times New Roman" panose="02020603050405020304" pitchFamily="18" charset="0"/>
              </a:rPr>
              <a:t>Experts allowed to adjust their answers in subsequent rounds.</a:t>
            </a:r>
          </a:p>
          <a:p>
            <a:pPr marL="400050" lvl="1" indent="0" algn="just">
              <a:buNone/>
            </a:pPr>
            <a:r>
              <a:rPr lang="en-US" sz="2000" dirty="0">
                <a:latin typeface="Times New Roman" panose="02020603050405020304" pitchFamily="18" charset="0"/>
                <a:cs typeface="Times New Roman" panose="02020603050405020304" pitchFamily="18" charset="0"/>
              </a:rPr>
              <a:t>Since multiple rounds of questions are asked and the panel is told what 	the group thinks as a whole, the Delphi method seeks to reach the 	correct response through consensus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4308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63782"/>
            <a:ext cx="7696201" cy="5389418"/>
          </a:xfrm>
        </p:spPr>
        <p:txBody>
          <a:bodyPr>
            <a:normAutofit/>
          </a:bodyPr>
          <a:lstStyle/>
          <a:p>
            <a:pPr marL="0" indent="0">
              <a:buNone/>
            </a:pPr>
            <a:r>
              <a:rPr lang="en-US" sz="2800" b="1" dirty="0">
                <a:latin typeface="Times New Roman" panose="02020603050405020304" pitchFamily="18" charset="0"/>
                <a:cs typeface="Times New Roman" panose="02020603050405020304" pitchFamily="18" charset="0"/>
              </a:rPr>
              <a:t>Advantages </a:t>
            </a:r>
          </a:p>
          <a:p>
            <a:r>
              <a:rPr lang="en-US" sz="2400" dirty="0">
                <a:latin typeface="Times New Roman" panose="02020603050405020304" pitchFamily="18" charset="0"/>
                <a:cs typeface="Times New Roman" panose="02020603050405020304" pitchFamily="18" charset="0"/>
              </a:rPr>
              <a:t>Specialists on a particular area will provide guidance. </a:t>
            </a:r>
          </a:p>
          <a:p>
            <a:pPr marL="0" indent="0">
              <a:buNone/>
            </a:pPr>
            <a:r>
              <a:rPr lang="en-US" sz="2400" b="1" dirty="0">
                <a:latin typeface="Times New Roman" panose="02020603050405020304" pitchFamily="18" charset="0"/>
                <a:cs typeface="Times New Roman" panose="02020603050405020304" pitchFamily="18" charset="0"/>
              </a:rPr>
              <a:t>Disadvantage </a:t>
            </a:r>
          </a:p>
          <a:p>
            <a:r>
              <a:rPr lang="en-US" sz="2400" dirty="0">
                <a:latin typeface="Times New Roman" panose="02020603050405020304" pitchFamily="18" charset="0"/>
                <a:cs typeface="Times New Roman" panose="02020603050405020304" pitchFamily="18" charset="0"/>
              </a:rPr>
              <a:t> It require expert. </a:t>
            </a:r>
          </a:p>
          <a:p>
            <a:r>
              <a:rPr lang="en-US" sz="2400" dirty="0">
                <a:latin typeface="Times New Roman" panose="02020603050405020304" pitchFamily="18" charset="0"/>
                <a:cs typeface="Times New Roman" panose="02020603050405020304" pitchFamily="18" charset="0"/>
              </a:rPr>
              <a:t>Short/long term impact are merely examined on guess basis. </a:t>
            </a:r>
          </a:p>
          <a:p>
            <a:r>
              <a:rPr lang="en-US" sz="2400" dirty="0">
                <a:latin typeface="Times New Roman" panose="02020603050405020304" pitchFamily="18" charset="0"/>
                <a:cs typeface="Times New Roman" panose="02020603050405020304" pitchFamily="18" charset="0"/>
              </a:rPr>
              <a:t> Identification, prediction and interpretation of impacts are quite poor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5536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57200" y="152400"/>
            <a:ext cx="8458200" cy="6705600"/>
          </a:xfrm>
          <a:prstGeom prst="rect">
            <a:avLst/>
          </a:prstGeom>
        </p:spPr>
      </p:pic>
    </p:spTree>
    <p:extLst>
      <p:ext uri="{BB962C8B-B14F-4D97-AF65-F5344CB8AC3E}">
        <p14:creationId xmlns:p14="http://schemas.microsoft.com/office/powerpoint/2010/main" val="919513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0"/>
            <a:ext cx="7391400" cy="685800"/>
          </a:xfrm>
        </p:spPr>
        <p:txBody>
          <a:bodyPr/>
          <a:lstStyle/>
          <a:p>
            <a:r>
              <a:rPr lang="en-IN" dirty="0"/>
              <a:t>Checklist Methodologies </a:t>
            </a:r>
          </a:p>
        </p:txBody>
      </p:sp>
      <p:sp>
        <p:nvSpPr>
          <p:cNvPr id="3" name="Content Placeholder 2"/>
          <p:cNvSpPr>
            <a:spLocks noGrp="1"/>
          </p:cNvSpPr>
          <p:nvPr>
            <p:ph idx="1"/>
          </p:nvPr>
        </p:nvSpPr>
        <p:spPr>
          <a:xfrm>
            <a:off x="1066800" y="1066800"/>
            <a:ext cx="7848599" cy="4953000"/>
          </a:xfrm>
        </p:spPr>
        <p:txBody>
          <a:bodyPr>
            <a:normAutofit/>
          </a:bodyPr>
          <a:lstStyle/>
          <a:p>
            <a:pPr algn="just"/>
            <a:r>
              <a:rPr lang="en-US" sz="2400" dirty="0">
                <a:latin typeface="Times New Roman" panose="02020603050405020304" pitchFamily="18" charset="0"/>
                <a:cs typeface="Times New Roman" panose="02020603050405020304" pitchFamily="18" charset="0"/>
              </a:rPr>
              <a:t>Checklist means a listing of potential Environmental Impacts. </a:t>
            </a:r>
          </a:p>
          <a:p>
            <a:pPr algn="just"/>
            <a:r>
              <a:rPr lang="en-US" sz="2400" dirty="0">
                <a:latin typeface="Times New Roman" panose="02020603050405020304" pitchFamily="18" charset="0"/>
                <a:cs typeface="Times New Roman" panose="02020603050405020304" pitchFamily="18" charset="0"/>
              </a:rPr>
              <a:t>done to assess the nature of the impacts i.e. its type such as adverse /beneficial, short term or long term, no effect or significant impact, reversible or irreversible etc. </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020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71538" y="571480"/>
            <a:ext cx="7500990" cy="584775"/>
          </a:xfrm>
          <a:prstGeom prst="rect">
            <a:avLst/>
          </a:prstGeom>
          <a:noFill/>
        </p:spPr>
        <p:txBody>
          <a:bodyPr wrap="square" rtlCol="0">
            <a:spAutoFit/>
          </a:bodyPr>
          <a:lstStyle/>
          <a:p>
            <a:pPr algn="ctr"/>
            <a:r>
              <a:rPr lang="en-IN" sz="3200" dirty="0">
                <a:latin typeface="Times New Roman" pitchFamily="18" charset="0"/>
                <a:cs typeface="Times New Roman" pitchFamily="18" charset="0"/>
              </a:rPr>
              <a:t>Types of checklists method</a:t>
            </a:r>
          </a:p>
        </p:txBody>
      </p:sp>
      <p:sp>
        <p:nvSpPr>
          <p:cNvPr id="5" name="TextBox 4"/>
          <p:cNvSpPr txBox="1"/>
          <p:nvPr/>
        </p:nvSpPr>
        <p:spPr>
          <a:xfrm>
            <a:off x="571472" y="1500174"/>
            <a:ext cx="7658128" cy="3785652"/>
          </a:xfrm>
          <a:prstGeom prst="rect">
            <a:avLst/>
          </a:prstGeom>
          <a:noFill/>
        </p:spPr>
        <p:txBody>
          <a:bodyPr wrap="square" rtlCol="0">
            <a:spAutoFit/>
          </a:bodyPr>
          <a:lstStyle/>
          <a:p>
            <a:pPr>
              <a:buFont typeface="Arial" pitchFamily="34" charset="0"/>
              <a:buChar char="•"/>
            </a:pPr>
            <a:r>
              <a:rPr lang="en-IN" sz="2400" dirty="0">
                <a:latin typeface="Times New Roman" pitchFamily="18" charset="0"/>
                <a:cs typeface="Times New Roman" pitchFamily="18" charset="0"/>
              </a:rPr>
              <a:t>Simple lists</a:t>
            </a:r>
          </a:p>
          <a:p>
            <a:endParaRPr lang="en-IN" sz="2400" dirty="0">
              <a:latin typeface="Times New Roman" pitchFamily="18" charset="0"/>
              <a:cs typeface="Times New Roman" pitchFamily="18" charset="0"/>
            </a:endParaRPr>
          </a:p>
          <a:p>
            <a:endParaRPr lang="en-IN" sz="2400" dirty="0">
              <a:latin typeface="Times New Roman" pitchFamily="18" charset="0"/>
              <a:cs typeface="Times New Roman" pitchFamily="18" charset="0"/>
            </a:endParaRPr>
          </a:p>
          <a:p>
            <a:pPr>
              <a:buFont typeface="Arial" pitchFamily="34" charset="0"/>
              <a:buChar char="•"/>
            </a:pPr>
            <a:r>
              <a:rPr lang="en-IN" sz="2400" dirty="0">
                <a:latin typeface="Times New Roman" pitchFamily="18" charset="0"/>
                <a:cs typeface="Times New Roman" pitchFamily="18" charset="0"/>
              </a:rPr>
              <a:t>Descriptive checklists</a:t>
            </a:r>
          </a:p>
          <a:p>
            <a:endParaRPr lang="en-IN" sz="2400" dirty="0">
              <a:latin typeface="Times New Roman" pitchFamily="18" charset="0"/>
              <a:cs typeface="Times New Roman" pitchFamily="18" charset="0"/>
            </a:endParaRPr>
          </a:p>
          <a:p>
            <a:endParaRPr lang="en-IN" sz="2400" dirty="0">
              <a:latin typeface="Times New Roman" pitchFamily="18" charset="0"/>
              <a:cs typeface="Times New Roman" pitchFamily="18" charset="0"/>
            </a:endParaRPr>
          </a:p>
          <a:p>
            <a:pPr>
              <a:buFont typeface="Arial" pitchFamily="34" charset="0"/>
              <a:buChar char="•"/>
            </a:pPr>
            <a:r>
              <a:rPr lang="en-IN" sz="2400" dirty="0">
                <a:latin typeface="Times New Roman" pitchFamily="18" charset="0"/>
                <a:cs typeface="Times New Roman" pitchFamily="18" charset="0"/>
              </a:rPr>
              <a:t>Scaling checklists</a:t>
            </a:r>
          </a:p>
          <a:p>
            <a:endParaRPr lang="en-IN" sz="2400" dirty="0">
              <a:latin typeface="Times New Roman" pitchFamily="18" charset="0"/>
              <a:cs typeface="Times New Roman" pitchFamily="18" charset="0"/>
            </a:endParaRPr>
          </a:p>
          <a:p>
            <a:endParaRPr lang="en-IN" sz="2400" dirty="0">
              <a:latin typeface="Times New Roman" pitchFamily="18" charset="0"/>
              <a:cs typeface="Times New Roman" pitchFamily="18" charset="0"/>
            </a:endParaRPr>
          </a:p>
          <a:p>
            <a:pPr>
              <a:buFont typeface="Arial" pitchFamily="34" charset="0"/>
              <a:buChar char="•"/>
            </a:pPr>
            <a:r>
              <a:rPr lang="en-IN" sz="2400" dirty="0">
                <a:latin typeface="Times New Roman" pitchFamily="18" charset="0"/>
                <a:cs typeface="Times New Roman" pitchFamily="18" charset="0"/>
              </a:rPr>
              <a:t>Scaling Weighing checklist </a:t>
            </a:r>
          </a:p>
        </p:txBody>
      </p:sp>
    </p:spTree>
    <p:extLst>
      <p:ext uri="{BB962C8B-B14F-4D97-AF65-F5344CB8AC3E}">
        <p14:creationId xmlns:p14="http://schemas.microsoft.com/office/powerpoint/2010/main" val="474715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Lists</a:t>
            </a:r>
            <a:endParaRPr lang="en-IN" dirty="0"/>
          </a:p>
        </p:txBody>
      </p:sp>
      <p:sp>
        <p:nvSpPr>
          <p:cNvPr id="3" name="Content Placeholder 2"/>
          <p:cNvSpPr>
            <a:spLocks noGrp="1"/>
          </p:cNvSpPr>
          <p:nvPr>
            <p:ph idx="1"/>
          </p:nvPr>
        </p:nvSpPr>
        <p:spPr>
          <a:xfrm>
            <a:off x="838200" y="1447800"/>
            <a:ext cx="8305799" cy="5181600"/>
          </a:xfrm>
        </p:spPr>
        <p:txBody>
          <a:bodyPr>
            <a:normAutofit/>
          </a:bodyPr>
          <a:lstStyle/>
          <a:p>
            <a:r>
              <a:rPr lang="en-US" sz="2400" dirty="0">
                <a:latin typeface="Times New Roman" panose="02020603050405020304" pitchFamily="18" charset="0"/>
                <a:cs typeface="Times New Roman" panose="02020603050405020304" pitchFamily="18" charset="0"/>
              </a:rPr>
              <a:t> Presents a list of parameters related to the project </a:t>
            </a:r>
          </a:p>
          <a:p>
            <a:r>
              <a:rPr lang="en-US" sz="2400" dirty="0">
                <a:latin typeface="Times New Roman" panose="02020603050405020304" pitchFamily="18" charset="0"/>
                <a:cs typeface="Times New Roman" panose="02020603050405020304" pitchFamily="18" charset="0"/>
              </a:rPr>
              <a:t>No guidelines on how to interpret and measure the parameter </a:t>
            </a:r>
          </a:p>
          <a:p>
            <a:r>
              <a:rPr lang="en-US" sz="2400" dirty="0">
                <a:latin typeface="Times New Roman" panose="02020603050405020304" pitchFamily="18" charset="0"/>
                <a:cs typeface="Times New Roman" panose="02020603050405020304" pitchFamily="18" charset="0"/>
              </a:rPr>
              <a:t>Does not help in decision making </a:t>
            </a:r>
          </a:p>
          <a:p>
            <a:r>
              <a:rPr lang="en-US" sz="2400" dirty="0">
                <a:latin typeface="Times New Roman" panose="02020603050405020304" pitchFamily="18" charset="0"/>
                <a:cs typeface="Times New Roman" panose="02020603050405020304" pitchFamily="18" charset="0"/>
              </a:rPr>
              <a:t> No info on cause effect relationship </a:t>
            </a:r>
          </a:p>
          <a:p>
            <a:r>
              <a:rPr lang="en-US" sz="2400" dirty="0">
                <a:latin typeface="Times New Roman" panose="02020603050405020304" pitchFamily="18" charset="0"/>
                <a:cs typeface="Times New Roman" panose="02020603050405020304" pitchFamily="18" charset="0"/>
              </a:rPr>
              <a:t> Strong in impact identification </a:t>
            </a:r>
          </a:p>
          <a:p>
            <a:r>
              <a:rPr lang="en-US" sz="2400" dirty="0">
                <a:latin typeface="Times New Roman" panose="02020603050405020304" pitchFamily="18" charset="0"/>
                <a:cs typeface="Times New Roman" panose="02020603050405020304" pitchFamily="18" charset="0"/>
              </a:rPr>
              <a:t> No information needed on magnitude or importance of impacts" </a:t>
            </a:r>
          </a:p>
          <a:p>
            <a:r>
              <a:rPr lang="en-US" sz="2400" dirty="0">
                <a:latin typeface="Times New Roman" panose="02020603050405020304" pitchFamily="18" charset="0"/>
                <a:cs typeface="Times New Roman" panose="02020603050405020304" pitchFamily="18" charset="0"/>
              </a:rPr>
              <a:t>List of parameters without guidelines provided on how to interpret and measure an environmental parameter.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4230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28600" y="76200"/>
            <a:ext cx="8513323" cy="6781800"/>
          </a:xfrm>
          <a:prstGeom prst="rect">
            <a:avLst/>
          </a:prstGeom>
        </p:spPr>
      </p:pic>
    </p:spTree>
    <p:extLst>
      <p:ext uri="{BB962C8B-B14F-4D97-AF65-F5344CB8AC3E}">
        <p14:creationId xmlns:p14="http://schemas.microsoft.com/office/powerpoint/2010/main" val="149364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itchFamily="18" charset="0"/>
                <a:cs typeface="Times New Roman" pitchFamily="18" charset="0"/>
              </a:rPr>
              <a:t>Descriptive checklists</a:t>
            </a:r>
            <a:br>
              <a:rPr lang="en-IN" dirty="0">
                <a:latin typeface="Times New Roman" pitchFamily="18" charset="0"/>
                <a:cs typeface="Times New Roman" pitchFamily="18" charset="0"/>
              </a:rPr>
            </a:br>
            <a:endParaRPr lang="en-IN" dirty="0"/>
          </a:p>
        </p:txBody>
      </p:sp>
      <p:sp>
        <p:nvSpPr>
          <p:cNvPr id="3" name="Content Placeholder 2"/>
          <p:cNvSpPr>
            <a:spLocks noGrp="1"/>
          </p:cNvSpPr>
          <p:nvPr>
            <p:ph idx="1"/>
          </p:nvPr>
        </p:nvSpPr>
        <p:spPr>
          <a:xfrm>
            <a:off x="990600" y="1524000"/>
            <a:ext cx="7772399" cy="4800600"/>
          </a:xfrm>
        </p:spPr>
        <p:txBody>
          <a:bodyPr>
            <a:normAutofit/>
          </a:bodyPr>
          <a:lstStyle/>
          <a:p>
            <a:r>
              <a:rPr lang="en-US" sz="2400" dirty="0">
                <a:latin typeface="Times New Roman" panose="02020603050405020304" pitchFamily="18" charset="0"/>
                <a:cs typeface="Times New Roman" panose="02020603050405020304" pitchFamily="18" charset="0"/>
              </a:rPr>
              <a:t>Require information on magnitude or importance of impacts as well as indication on prediction methods and indicators</a:t>
            </a:r>
          </a:p>
          <a:p>
            <a:r>
              <a:rPr lang="en-US" sz="2400" dirty="0">
                <a:latin typeface="Times New Roman" panose="02020603050405020304" pitchFamily="18" charset="0"/>
                <a:cs typeface="Times New Roman" panose="02020603050405020304" pitchFamily="18" charset="0"/>
              </a:rPr>
              <a:t> Includes identification of environmental parameters and guild lines on how to measure data on particular parameter</a:t>
            </a:r>
            <a:endParaRPr lang="en-IN"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295401" y="3886200"/>
            <a:ext cx="7467598" cy="2438400"/>
          </a:xfrm>
          <a:prstGeom prst="rect">
            <a:avLst/>
          </a:prstGeom>
        </p:spPr>
      </p:pic>
    </p:spTree>
    <p:extLst>
      <p:ext uri="{BB962C8B-B14F-4D97-AF65-F5344CB8AC3E}">
        <p14:creationId xmlns:p14="http://schemas.microsoft.com/office/powerpoint/2010/main" val="731321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2400" y="152400"/>
            <a:ext cx="8991600" cy="6705600"/>
          </a:xfrm>
          <a:prstGeom prst="rect">
            <a:avLst/>
          </a:prstGeom>
        </p:spPr>
      </p:pic>
    </p:spTree>
    <p:extLst>
      <p:ext uri="{BB962C8B-B14F-4D97-AF65-F5344CB8AC3E}">
        <p14:creationId xmlns:p14="http://schemas.microsoft.com/office/powerpoint/2010/main" val="416786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itchFamily="18" charset="0"/>
                <a:cs typeface="Times New Roman" pitchFamily="18" charset="0"/>
              </a:rPr>
              <a:t>Scaling checklists</a:t>
            </a:r>
            <a:br>
              <a:rPr lang="en-IN" dirty="0">
                <a:latin typeface="Times New Roman" pitchFamily="18" charset="0"/>
                <a:cs typeface="Times New Roman" pitchFamily="18" charset="0"/>
              </a:rPr>
            </a:br>
            <a:endParaRPr lang="en-IN" dirty="0"/>
          </a:p>
        </p:txBody>
      </p:sp>
      <p:sp>
        <p:nvSpPr>
          <p:cNvPr id="3" name="Content Placeholder 2"/>
          <p:cNvSpPr>
            <a:spLocks noGrp="1"/>
          </p:cNvSpPr>
          <p:nvPr>
            <p:ph idx="1"/>
          </p:nvPr>
        </p:nvSpPr>
        <p:spPr>
          <a:xfrm>
            <a:off x="457201" y="1524000"/>
            <a:ext cx="8534400" cy="4387222"/>
          </a:xfrm>
        </p:spPr>
        <p:txBody>
          <a:bodyPr>
            <a:normAutofit/>
          </a:bodyPr>
          <a:lstStyle/>
          <a:p>
            <a:r>
              <a:rPr lang="en-US" sz="2400" dirty="0">
                <a:latin typeface="Times New Roman" panose="02020603050405020304" pitchFamily="18" charset="0"/>
                <a:cs typeface="Times New Roman" panose="02020603050405020304" pitchFamily="18" charset="0"/>
              </a:rPr>
              <a:t>similar to a descriptive checklist, but with additional information on subjective scaling of the parameters</a:t>
            </a:r>
          </a:p>
          <a:p>
            <a:r>
              <a:rPr lang="en-US" sz="2400" dirty="0">
                <a:latin typeface="Times New Roman" panose="02020603050405020304" pitchFamily="18" charset="0"/>
                <a:cs typeface="Times New Roman" panose="02020603050405020304" pitchFamily="18" charset="0"/>
              </a:rPr>
              <a:t> List out environmental parameters+ nature of impact</a:t>
            </a:r>
          </a:p>
          <a:p>
            <a:r>
              <a:rPr lang="en-US" sz="2400" dirty="0">
                <a:latin typeface="Times New Roman" panose="02020603050405020304" pitchFamily="18" charset="0"/>
                <a:cs typeface="Times New Roman" panose="02020603050405020304" pitchFamily="18" charset="0"/>
              </a:rPr>
              <a:t>  Gives textual rating for impacts </a:t>
            </a:r>
          </a:p>
          <a:p>
            <a:r>
              <a:rPr lang="en-US" sz="2400" dirty="0">
                <a:latin typeface="Times New Roman" panose="02020603050405020304" pitchFamily="18" charset="0"/>
                <a:cs typeface="Times New Roman" panose="02020603050405020304" pitchFamily="18" charset="0"/>
              </a:rPr>
              <a:t> Nature of impact- Direct, Indirect, Cumulative, Long term, short term, severe moderate insignificant, Reversible, Irreversible </a:t>
            </a:r>
          </a:p>
          <a:p>
            <a:r>
              <a:rPr lang="en-US" sz="2400" dirty="0">
                <a:latin typeface="Times New Roman" panose="02020603050405020304" pitchFamily="18" charset="0"/>
                <a:cs typeface="Times New Roman" panose="02020603050405020304" pitchFamily="18" charset="0"/>
              </a:rPr>
              <a:t> Not suitable for impact measurement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8822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srcRect/>
          <a:stretch>
            <a:fillRect/>
          </a:stretch>
        </p:blipFill>
        <p:spPr bwMode="auto">
          <a:xfrm>
            <a:off x="381000" y="609600"/>
            <a:ext cx="8305800" cy="4865687"/>
          </a:xfrm>
          <a:prstGeom prst="rect">
            <a:avLst/>
          </a:prstGeom>
          <a:noFill/>
          <a:ln w="9525">
            <a:noFill/>
            <a:miter lim="800000"/>
            <a:headEnd/>
            <a:tailEnd/>
          </a:ln>
          <a:effectLst/>
        </p:spPr>
      </p:pic>
    </p:spTree>
    <p:extLst>
      <p:ext uri="{BB962C8B-B14F-4D97-AF65-F5344CB8AC3E}">
        <p14:creationId xmlns:p14="http://schemas.microsoft.com/office/powerpoint/2010/main" val="106002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152400"/>
            <a:ext cx="7848600" cy="1752600"/>
          </a:xfrm>
        </p:spPr>
        <p:txBody>
          <a:bodyPr/>
          <a:lstStyle/>
          <a:p>
            <a:r>
              <a:rPr lang="en-US" dirty="0"/>
              <a:t>Scaling Weighing checklist </a:t>
            </a:r>
            <a:br>
              <a:rPr lang="en-US" dirty="0"/>
            </a:br>
            <a:endParaRPr lang="en-IN" dirty="0"/>
          </a:p>
        </p:txBody>
      </p:sp>
      <p:sp>
        <p:nvSpPr>
          <p:cNvPr id="3" name="Content Placeholder 2"/>
          <p:cNvSpPr>
            <a:spLocks noGrp="1"/>
          </p:cNvSpPr>
          <p:nvPr>
            <p:ph idx="1"/>
          </p:nvPr>
        </p:nvSpPr>
        <p:spPr>
          <a:xfrm>
            <a:off x="914401" y="1371600"/>
            <a:ext cx="7848600" cy="5486400"/>
          </a:xfrm>
        </p:spPr>
        <p:txBody>
          <a:bodyPr>
            <a:normAutofit/>
          </a:bodyPr>
          <a:lstStyle/>
          <a:p>
            <a:r>
              <a:rPr lang="en-US" sz="2800" dirty="0">
                <a:latin typeface="Times New Roman" panose="02020603050405020304" pitchFamily="18" charset="0"/>
                <a:cs typeface="Times New Roman" panose="02020603050405020304" pitchFamily="18" charset="0"/>
              </a:rPr>
              <a:t>Can be used for decision making- Comparing alternatives</a:t>
            </a:r>
          </a:p>
          <a:p>
            <a:r>
              <a:rPr lang="en-US" sz="2800" dirty="0">
                <a:latin typeface="Times New Roman" panose="02020603050405020304" pitchFamily="18" charset="0"/>
                <a:cs typeface="Times New Roman" panose="02020603050405020304" pitchFamily="18" charset="0"/>
              </a:rPr>
              <a:t>  Impact identification, Impact measurement and evaluation Steps involved: </a:t>
            </a:r>
          </a:p>
          <a:p>
            <a:r>
              <a:rPr lang="en-US" sz="2800" dirty="0">
                <a:latin typeface="Times New Roman" panose="02020603050405020304" pitchFamily="18" charset="0"/>
                <a:cs typeface="Times New Roman" panose="02020603050405020304" pitchFamily="18" charset="0"/>
              </a:rPr>
              <a:t> Factors are considered </a:t>
            </a:r>
          </a:p>
          <a:p>
            <a:r>
              <a:rPr lang="en-US" sz="2800" dirty="0">
                <a:latin typeface="Times New Roman" panose="02020603050405020304" pitchFamily="18" charset="0"/>
                <a:cs typeface="Times New Roman" panose="02020603050405020304" pitchFamily="18" charset="0"/>
              </a:rPr>
              <a:t> They are scaled from 0 (worst) to 1 (best)</a:t>
            </a:r>
          </a:p>
          <a:p>
            <a:r>
              <a:rPr lang="en-US" sz="2800" dirty="0">
                <a:latin typeface="Times New Roman" panose="02020603050405020304" pitchFamily="18" charset="0"/>
                <a:cs typeface="Times New Roman" panose="02020603050405020304" pitchFamily="18" charset="0"/>
              </a:rPr>
              <a:t> Weighting (importance) for each factor is given as per expert judgement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0579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14348" y="571480"/>
            <a:ext cx="7929618" cy="5262979"/>
          </a:xfrm>
          <a:prstGeom prst="rect">
            <a:avLst/>
          </a:prstGeom>
          <a:noFill/>
        </p:spPr>
        <p:txBody>
          <a:bodyPr wrap="square" rtlCol="0">
            <a:spAutoFit/>
          </a:bodyPr>
          <a:lstStyle/>
          <a:p>
            <a:r>
              <a:rPr lang="en-IN" sz="2400" b="1" u="sng" dirty="0">
                <a:latin typeface="Times New Roman" pitchFamily="18" charset="0"/>
                <a:cs typeface="Times New Roman" pitchFamily="18" charset="0"/>
              </a:rPr>
              <a:t>Advantages:</a:t>
            </a:r>
          </a:p>
          <a:p>
            <a:endParaRPr lang="en-IN" sz="2400" dirty="0">
              <a:latin typeface="Times New Roman" pitchFamily="18" charset="0"/>
              <a:cs typeface="Times New Roman" pitchFamily="18" charset="0"/>
            </a:endParaRPr>
          </a:p>
          <a:p>
            <a:r>
              <a:rPr lang="en-IN" sz="2400" dirty="0">
                <a:latin typeface="Times New Roman" pitchFamily="18" charset="0"/>
                <a:cs typeface="Times New Roman" pitchFamily="18" charset="0"/>
              </a:rPr>
              <a:t> 1. simple to understand and use</a:t>
            </a:r>
          </a:p>
          <a:p>
            <a:endParaRPr lang="en-IN" sz="2400" dirty="0">
              <a:latin typeface="Times New Roman" pitchFamily="18" charset="0"/>
              <a:cs typeface="Times New Roman" pitchFamily="18" charset="0"/>
            </a:endParaRPr>
          </a:p>
          <a:p>
            <a:r>
              <a:rPr lang="en-IN" sz="2400" dirty="0">
                <a:latin typeface="Times New Roman" pitchFamily="18" charset="0"/>
                <a:cs typeface="Times New Roman" pitchFamily="18" charset="0"/>
              </a:rPr>
              <a:t>2. Good for site selection and priority settings</a:t>
            </a:r>
          </a:p>
          <a:p>
            <a:endParaRPr lang="en-IN" sz="2400" dirty="0">
              <a:latin typeface="Times New Roman" pitchFamily="18" charset="0"/>
              <a:cs typeface="Times New Roman" pitchFamily="18" charset="0"/>
            </a:endParaRPr>
          </a:p>
          <a:p>
            <a:endParaRPr lang="en-IN" sz="2400" b="1" u="sng" dirty="0">
              <a:latin typeface="Times New Roman" pitchFamily="18" charset="0"/>
              <a:cs typeface="Times New Roman" pitchFamily="18" charset="0"/>
            </a:endParaRPr>
          </a:p>
          <a:p>
            <a:r>
              <a:rPr lang="en-IN" sz="2400" b="1" u="sng" dirty="0">
                <a:latin typeface="Times New Roman" pitchFamily="18" charset="0"/>
                <a:cs typeface="Times New Roman" pitchFamily="18" charset="0"/>
              </a:rPr>
              <a:t>Disadvantages</a:t>
            </a:r>
          </a:p>
          <a:p>
            <a:endParaRPr lang="en-IN" sz="2400" dirty="0">
              <a:latin typeface="Times New Roman" pitchFamily="18" charset="0"/>
              <a:cs typeface="Times New Roman" pitchFamily="18" charset="0"/>
            </a:endParaRPr>
          </a:p>
          <a:p>
            <a:pPr marL="342900" indent="-342900">
              <a:buAutoNum type="arabicPeriod"/>
            </a:pPr>
            <a:r>
              <a:rPr lang="en-IN" sz="2400" dirty="0">
                <a:latin typeface="Times New Roman" pitchFamily="18" charset="0"/>
                <a:cs typeface="Times New Roman" pitchFamily="18" charset="0"/>
              </a:rPr>
              <a:t>Do not distinguish between direct and indirect impacts</a:t>
            </a:r>
          </a:p>
          <a:p>
            <a:pPr marL="342900" indent="-342900">
              <a:buAutoNum type="arabicPeriod"/>
            </a:pPr>
            <a:endParaRPr lang="en-IN" sz="2400" dirty="0">
              <a:latin typeface="Times New Roman" pitchFamily="18" charset="0"/>
              <a:cs typeface="Times New Roman" pitchFamily="18" charset="0"/>
            </a:endParaRPr>
          </a:p>
          <a:p>
            <a:pPr marL="342900" indent="-342900"/>
            <a:r>
              <a:rPr lang="en-IN" sz="2400" dirty="0">
                <a:latin typeface="Times New Roman" pitchFamily="18" charset="0"/>
                <a:cs typeface="Times New Roman" pitchFamily="18" charset="0"/>
              </a:rPr>
              <a:t>2. Do not link action and impacts</a:t>
            </a:r>
          </a:p>
          <a:p>
            <a:pPr marL="342900" indent="-342900"/>
            <a:endParaRPr lang="en-IN" sz="2400" dirty="0">
              <a:latin typeface="Times New Roman" pitchFamily="18" charset="0"/>
              <a:cs typeface="Times New Roman" pitchFamily="18" charset="0"/>
            </a:endParaRPr>
          </a:p>
          <a:p>
            <a:pPr marL="342900" indent="-342900"/>
            <a:r>
              <a:rPr lang="en-IN" sz="2400" dirty="0">
                <a:latin typeface="Times New Roman" pitchFamily="18" charset="0"/>
                <a:cs typeface="Times New Roman" pitchFamily="18" charset="0"/>
              </a:rPr>
              <a:t>3. Sometime it is a cumbersome task </a:t>
            </a:r>
          </a:p>
        </p:txBody>
      </p:sp>
    </p:spTree>
    <p:extLst>
      <p:ext uri="{BB962C8B-B14F-4D97-AF65-F5344CB8AC3E}">
        <p14:creationId xmlns:p14="http://schemas.microsoft.com/office/powerpoint/2010/main" val="1236522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1" y="0"/>
            <a:ext cx="7315200" cy="1905000"/>
          </a:xfrm>
        </p:spPr>
        <p:txBody>
          <a:bodyPr>
            <a:normAutofit/>
          </a:bodyPr>
          <a:lstStyle/>
          <a:p>
            <a:pPr lvl="0"/>
            <a:r>
              <a:rPr lang="en-GB" b="1" dirty="0">
                <a:latin typeface="Times New Roman" pitchFamily="18" charset="0"/>
                <a:cs typeface="Times New Roman" pitchFamily="18" charset="0"/>
              </a:rPr>
              <a:t>Matrix method</a:t>
            </a:r>
            <a:br>
              <a:rPr lang="en-US" b="1" dirty="0">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609600" y="1295400"/>
            <a:ext cx="8534399" cy="5562600"/>
          </a:xfrm>
        </p:spPr>
        <p:txBody>
          <a:bodyPr>
            <a:normAutofit/>
          </a:bodyPr>
          <a:lstStyle/>
          <a:p>
            <a:pPr algn="just"/>
            <a:r>
              <a:rPr lang="en-GB" sz="3100" dirty="0">
                <a:latin typeface="Times New Roman" pitchFamily="18" charset="0"/>
                <a:cs typeface="Times New Roman" pitchFamily="18" charset="0"/>
              </a:rPr>
              <a:t> widely followed method</a:t>
            </a:r>
          </a:p>
          <a:p>
            <a:pPr algn="just"/>
            <a:r>
              <a:rPr lang="en-GB" sz="3100" dirty="0">
                <a:latin typeface="Times New Roman" pitchFamily="18" charset="0"/>
                <a:cs typeface="Times New Roman" pitchFamily="18" charset="0"/>
              </a:rPr>
              <a:t>incorporates a list of activities related to the project with impacted environmental characteristics. </a:t>
            </a:r>
          </a:p>
          <a:p>
            <a:pPr algn="just"/>
            <a:r>
              <a:rPr lang="en-GB" sz="3100" dirty="0">
                <a:latin typeface="Times New Roman" pitchFamily="18" charset="0"/>
                <a:cs typeface="Times New Roman" pitchFamily="18" charset="0"/>
              </a:rPr>
              <a:t> two lists are related in matrix which identifies cause- effect relationship.    </a:t>
            </a:r>
          </a:p>
          <a:p>
            <a:pPr algn="just"/>
            <a:r>
              <a:rPr lang="en-GB" sz="3100" dirty="0">
                <a:latin typeface="Times New Roman" pitchFamily="18" charset="0"/>
                <a:cs typeface="Times New Roman" pitchFamily="18" charset="0"/>
              </a:rPr>
              <a:t>The method is able to identify the actions with environmental characteristics. </a:t>
            </a:r>
          </a:p>
          <a:p>
            <a:pPr algn="just"/>
            <a:r>
              <a:rPr lang="en-GB" sz="3100" dirty="0">
                <a:latin typeface="Times New Roman" pitchFamily="18" charset="0"/>
                <a:cs typeface="Times New Roman" pitchFamily="18" charset="0"/>
              </a:rPr>
              <a:t>may indicate the actions which need to be taken into consideration for appropriate mitigation. </a:t>
            </a:r>
            <a:endParaRPr lang="en-US" sz="31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1758856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599" y="304800"/>
            <a:ext cx="7162801" cy="6553200"/>
          </a:xfrm>
        </p:spPr>
        <p:txBody>
          <a:bodyPr/>
          <a:lstStyle/>
          <a:p>
            <a:r>
              <a:rPr lang="en-US" sz="2800" dirty="0">
                <a:latin typeface="Times New Roman" panose="02020603050405020304" pitchFamily="18" charset="0"/>
                <a:cs typeface="Times New Roman" panose="02020603050405020304" pitchFamily="18" charset="0"/>
              </a:rPr>
              <a:t>Two types of matrices</a:t>
            </a:r>
          </a:p>
          <a:p>
            <a:pPr lvl="1">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Simple interaction ‐matrix method developed by Leopold(The matrix lists approx. 100 specified actions and 90 environmental items.)</a:t>
            </a:r>
          </a:p>
          <a:p>
            <a:pPr lvl="1">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 Stepped Matrix Method</a:t>
            </a:r>
          </a:p>
          <a:p>
            <a:endParaRPr lang="en-US" dirty="0"/>
          </a:p>
        </p:txBody>
      </p:sp>
    </p:spTree>
    <p:extLst>
      <p:ext uri="{BB962C8B-B14F-4D97-AF65-F5344CB8AC3E}">
        <p14:creationId xmlns:p14="http://schemas.microsoft.com/office/powerpoint/2010/main" val="25573140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63435-C062-36E6-3EF3-C39DF7C0D05B}"/>
              </a:ext>
            </a:extLst>
          </p:cNvPr>
          <p:cNvSpPr>
            <a:spLocks noGrp="1"/>
          </p:cNvSpPr>
          <p:nvPr>
            <p:ph type="title"/>
          </p:nvPr>
        </p:nvSpPr>
        <p:spPr/>
        <p:txBody>
          <a:bodyPr/>
          <a:lstStyle/>
          <a:p>
            <a:endParaRPr lang="en-IN"/>
          </a:p>
        </p:txBody>
      </p:sp>
      <p:sp>
        <p:nvSpPr>
          <p:cNvPr id="5" name="Content Placeholder 4">
            <a:extLst>
              <a:ext uri="{FF2B5EF4-FFF2-40B4-BE49-F238E27FC236}">
                <a16:creationId xmlns:a16="http://schemas.microsoft.com/office/drawing/2014/main" id="{F03E9230-2661-162C-017F-9BB1CD98C6C4}"/>
              </a:ext>
            </a:extLst>
          </p:cNvPr>
          <p:cNvSpPr>
            <a:spLocks noGrp="1"/>
          </p:cNvSpPr>
          <p:nvPr>
            <p:ph idx="1"/>
          </p:nvPr>
        </p:nvSpPr>
        <p:spPr/>
        <p:txBody>
          <a:bodyPr/>
          <a:lstStyle/>
          <a:p>
            <a:endParaRPr lang="en-IN"/>
          </a:p>
        </p:txBody>
      </p:sp>
      <p:pic>
        <p:nvPicPr>
          <p:cNvPr id="1026" name="Picture 2" descr="https://1.bp.blogspot.com/-ntmF6YrJWLY/WPhmQY8B9yI/AAAAAAAAAtk/iotbERIbYrg4_pVCjLRwwbtLIGcoA-__ACLcB/s1600/ImpctIdntifnMtrx.png"/>
          <p:cNvPicPr>
            <a:picLocks noChangeAspect="1" noChangeArrowheads="1"/>
          </p:cNvPicPr>
          <p:nvPr/>
        </p:nvPicPr>
        <p:blipFill>
          <a:blip r:embed="rId2"/>
          <a:srcRect/>
          <a:stretch>
            <a:fillRect/>
          </a:stretch>
        </p:blipFill>
        <p:spPr bwMode="auto">
          <a:xfrm>
            <a:off x="304800" y="473390"/>
            <a:ext cx="8839200" cy="6384610"/>
          </a:xfrm>
          <a:prstGeom prst="rect">
            <a:avLst/>
          </a:prstGeom>
          <a:noFill/>
        </p:spPr>
      </p:pic>
    </p:spTree>
    <p:extLst>
      <p:ext uri="{BB962C8B-B14F-4D97-AF65-F5344CB8AC3E}">
        <p14:creationId xmlns:p14="http://schemas.microsoft.com/office/powerpoint/2010/main" val="31036744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8F379D-7E92-2303-9945-F8E642DA58C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Leopold Matrix</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8008786-ECE7-AA33-D154-6F5C7D64400F}"/>
              </a:ext>
            </a:extLst>
          </p:cNvPr>
          <p:cNvSpPr>
            <a:spLocks noGrp="1"/>
          </p:cNvSpPr>
          <p:nvPr>
            <p:ph idx="1"/>
          </p:nvPr>
        </p:nvSpPr>
        <p:spPr>
          <a:xfrm>
            <a:off x="762000" y="1447800"/>
            <a:ext cx="8153399" cy="5257800"/>
          </a:xfrm>
        </p:spPr>
        <p:txBody>
          <a:bodyPr>
            <a:normAutofit lnSpcReduction="10000"/>
          </a:bodyPr>
          <a:lstStyle/>
          <a:p>
            <a:r>
              <a:rPr lang="en-US" sz="2200" dirty="0">
                <a:latin typeface="Times New Roman" panose="02020603050405020304" pitchFamily="18" charset="0"/>
                <a:cs typeface="Times New Roman" panose="02020603050405020304" pitchFamily="18" charset="0"/>
              </a:rPr>
              <a:t>Identify all actions that are part of proposed project</a:t>
            </a:r>
          </a:p>
          <a:p>
            <a:r>
              <a:rPr lang="en-US" sz="2200" dirty="0">
                <a:latin typeface="Times New Roman" panose="02020603050405020304" pitchFamily="18" charset="0"/>
                <a:cs typeface="Times New Roman" panose="02020603050405020304" pitchFamily="18" charset="0"/>
              </a:rPr>
              <a:t>Under the each of the proposed actions, place a slash at the inter-section with each item on the side of the matrix if an impact is possible.</a:t>
            </a:r>
          </a:p>
          <a:p>
            <a:r>
              <a:rPr lang="en-US" sz="2200" dirty="0">
                <a:latin typeface="Times New Roman" panose="02020603050405020304" pitchFamily="18" charset="0"/>
                <a:cs typeface="Times New Roman" panose="02020603050405020304" pitchFamily="18" charset="0"/>
              </a:rPr>
              <a:t>  In the upper left hand corner of each box with a slash, place a number from 1 to 10 which indicates the MAGNITUDE of the possible impact.</a:t>
            </a:r>
          </a:p>
          <a:p>
            <a:r>
              <a:rPr lang="en-US" sz="2200" dirty="0">
                <a:latin typeface="Times New Roman" panose="02020603050405020304" pitchFamily="18" charset="0"/>
                <a:cs typeface="Times New Roman" panose="02020603050405020304" pitchFamily="18" charset="0"/>
              </a:rPr>
              <a:t> 10 represent the greatest magnitude of impact.</a:t>
            </a:r>
          </a:p>
          <a:p>
            <a:r>
              <a:rPr lang="en-US" sz="2200" dirty="0">
                <a:latin typeface="Times New Roman" panose="02020603050405020304" pitchFamily="18" charset="0"/>
                <a:cs typeface="Times New Roman" panose="02020603050405020304" pitchFamily="18" charset="0"/>
              </a:rPr>
              <a:t>  1 is the least magnitude of impact (no zeroes). </a:t>
            </a:r>
          </a:p>
          <a:p>
            <a:r>
              <a:rPr lang="en-US" sz="2200" dirty="0">
                <a:latin typeface="Times New Roman" panose="02020603050405020304" pitchFamily="18" charset="0"/>
                <a:cs typeface="Times New Roman" panose="02020603050405020304" pitchFamily="18" charset="0"/>
              </a:rPr>
              <a:t>Before each number place + (if the impact would be beneficial). </a:t>
            </a:r>
          </a:p>
          <a:p>
            <a:r>
              <a:rPr lang="en-US" sz="2200" dirty="0">
                <a:latin typeface="Times New Roman" panose="02020603050405020304" pitchFamily="18" charset="0"/>
                <a:cs typeface="Times New Roman" panose="02020603050405020304" pitchFamily="18" charset="0"/>
              </a:rPr>
              <a:t>In the lower right hand corner of the box place a number from 1 to 10 which indicates the IMPORT ANCE of the possible impact (</a:t>
            </a:r>
            <a:r>
              <a:rPr lang="en-US" sz="2200" dirty="0" err="1">
                <a:latin typeface="Times New Roman" panose="02020603050405020304" pitchFamily="18" charset="0"/>
                <a:cs typeface="Times New Roman" panose="02020603050405020304" pitchFamily="18" charset="0"/>
              </a:rPr>
              <a:t>Eg.</a:t>
            </a:r>
            <a:r>
              <a:rPr lang="en-US" sz="2200" dirty="0">
                <a:latin typeface="Times New Roman" panose="02020603050405020304" pitchFamily="18" charset="0"/>
                <a:cs typeface="Times New Roman" panose="02020603050405020304" pitchFamily="18" charset="0"/>
              </a:rPr>
              <a:t> Regional vs. Local). </a:t>
            </a:r>
          </a:p>
          <a:p>
            <a:r>
              <a:rPr lang="en-US" sz="2200" dirty="0">
                <a:latin typeface="Times New Roman" panose="02020603050405020304" pitchFamily="18" charset="0"/>
                <a:cs typeface="Times New Roman" panose="02020603050405020304" pitchFamily="18" charset="0"/>
              </a:rPr>
              <a:t>10 represents the greatest importance and 1 the least (no zeroes).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2186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838200" y="1709057"/>
            <a:ext cx="7696200" cy="4038599"/>
          </a:xfrm>
          <a:prstGeom prst="rect">
            <a:avLst/>
          </a:prstGeom>
          <a:noFill/>
          <a:ln w="9525">
            <a:noFill/>
            <a:miter lim="800000"/>
            <a:headEnd/>
            <a:tailEnd/>
          </a:ln>
          <a:effectLst/>
        </p:spPr>
      </p:pic>
    </p:spTree>
    <p:extLst>
      <p:ext uri="{BB962C8B-B14F-4D97-AF65-F5344CB8AC3E}">
        <p14:creationId xmlns:p14="http://schemas.microsoft.com/office/powerpoint/2010/main" val="24547339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7BC293-64F9-A49A-28BA-5970152FC08D}"/>
              </a:ext>
            </a:extLst>
          </p:cNvPr>
          <p:cNvPicPr>
            <a:picLocks noChangeAspect="1"/>
          </p:cNvPicPr>
          <p:nvPr/>
        </p:nvPicPr>
        <p:blipFill>
          <a:blip r:embed="rId2"/>
          <a:stretch>
            <a:fillRect/>
          </a:stretch>
        </p:blipFill>
        <p:spPr>
          <a:xfrm>
            <a:off x="1071073" y="3933767"/>
            <a:ext cx="7158527" cy="2476846"/>
          </a:xfrm>
          <a:prstGeom prst="rect">
            <a:avLst/>
          </a:prstGeom>
        </p:spPr>
      </p:pic>
      <p:pic>
        <p:nvPicPr>
          <p:cNvPr id="7" name="Picture 6">
            <a:extLst>
              <a:ext uri="{FF2B5EF4-FFF2-40B4-BE49-F238E27FC236}">
                <a16:creationId xmlns:a16="http://schemas.microsoft.com/office/drawing/2014/main" id="{1D5851F3-E200-CC04-C6C8-CF3D7EB4E6D1}"/>
              </a:ext>
            </a:extLst>
          </p:cNvPr>
          <p:cNvPicPr>
            <a:picLocks noChangeAspect="1"/>
          </p:cNvPicPr>
          <p:nvPr/>
        </p:nvPicPr>
        <p:blipFill>
          <a:blip r:embed="rId3"/>
          <a:stretch>
            <a:fillRect/>
          </a:stretch>
        </p:blipFill>
        <p:spPr>
          <a:xfrm>
            <a:off x="1071073" y="685800"/>
            <a:ext cx="7001852" cy="2476846"/>
          </a:xfrm>
          <a:prstGeom prst="rect">
            <a:avLst/>
          </a:prstGeom>
        </p:spPr>
      </p:pic>
    </p:spTree>
    <p:extLst>
      <p:ext uri="{BB962C8B-B14F-4D97-AF65-F5344CB8AC3E}">
        <p14:creationId xmlns:p14="http://schemas.microsoft.com/office/powerpoint/2010/main" val="3059838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A1D45ECA-9AEC-4C22-AD26-2D2B14677C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04800"/>
            <a:ext cx="8381999" cy="624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326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96DA5-4776-030B-C0FA-EED09743187E}"/>
              </a:ext>
            </a:extLst>
          </p:cNvPr>
          <p:cNvSpPr>
            <a:spLocks noGrp="1"/>
          </p:cNvSpPr>
          <p:nvPr>
            <p:ph type="title"/>
          </p:nvPr>
        </p:nvSpPr>
        <p:spPr>
          <a:xfrm>
            <a:off x="1371601" y="624110"/>
            <a:ext cx="7162800" cy="1280890"/>
          </a:xfrm>
        </p:spPr>
        <p:txBody>
          <a:bodyPr/>
          <a:lstStyle/>
          <a:p>
            <a:r>
              <a:rPr lang="en-US" sz="3600" dirty="0">
                <a:latin typeface="Times New Roman" panose="02020603050405020304" pitchFamily="18" charset="0"/>
                <a:cs typeface="Times New Roman" panose="02020603050405020304" pitchFamily="18" charset="0"/>
              </a:rPr>
              <a:t>Stepped Matrix Method</a:t>
            </a:r>
            <a:br>
              <a:rPr lang="en-US" sz="3600"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313F3022-7EE0-ED8F-AE0A-ED2086455227}"/>
              </a:ext>
            </a:extLst>
          </p:cNvPr>
          <p:cNvSpPr>
            <a:spLocks noGrp="1"/>
          </p:cNvSpPr>
          <p:nvPr>
            <p:ph idx="1"/>
          </p:nvPr>
        </p:nvSpPr>
        <p:spPr>
          <a:xfrm>
            <a:off x="381000" y="1676400"/>
            <a:ext cx="8762999" cy="5867400"/>
          </a:xfrm>
        </p:spPr>
        <p:txBody>
          <a:bodyPr>
            <a:normAutofit/>
          </a:bodyPr>
          <a:lstStyle/>
          <a:p>
            <a:r>
              <a:rPr lang="en-US" sz="2800" dirty="0">
                <a:latin typeface="Times New Roman" panose="02020603050405020304" pitchFamily="18" charset="0"/>
                <a:cs typeface="Times New Roman" panose="02020603050405020304" pitchFamily="18" charset="0"/>
              </a:rPr>
              <a:t>Also called cross impact matrix, can be used to address secondary and tertiary impacts of initiating actions </a:t>
            </a:r>
          </a:p>
          <a:p>
            <a:r>
              <a:rPr lang="en-US" sz="2800" dirty="0">
                <a:latin typeface="Times New Roman" panose="02020603050405020304" pitchFamily="18" charset="0"/>
                <a:cs typeface="Times New Roman" panose="02020603050405020304" pitchFamily="18" charset="0"/>
              </a:rPr>
              <a:t>Environmental factors displayed against project actions as well as other environmental factors</a:t>
            </a:r>
          </a:p>
          <a:p>
            <a:r>
              <a:rPr lang="en-US" sz="2800" dirty="0">
                <a:latin typeface="Times New Roman" panose="02020603050405020304" pitchFamily="18" charset="0"/>
                <a:cs typeface="Times New Roman" panose="02020603050405020304" pitchFamily="18" charset="0"/>
              </a:rPr>
              <a:t> Helps in identifying secondary impacts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8822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B59012-DAAD-812E-2DD1-D5FFD6FF37EE}"/>
              </a:ext>
            </a:extLst>
          </p:cNvPr>
          <p:cNvPicPr>
            <a:picLocks noChangeAspect="1"/>
          </p:cNvPicPr>
          <p:nvPr/>
        </p:nvPicPr>
        <p:blipFill>
          <a:blip r:embed="rId2"/>
          <a:stretch>
            <a:fillRect/>
          </a:stretch>
        </p:blipFill>
        <p:spPr>
          <a:xfrm>
            <a:off x="228600" y="228600"/>
            <a:ext cx="8915400" cy="6629400"/>
          </a:xfrm>
          <a:prstGeom prst="rect">
            <a:avLst/>
          </a:prstGeom>
        </p:spPr>
      </p:pic>
    </p:spTree>
    <p:extLst>
      <p:ext uri="{BB962C8B-B14F-4D97-AF65-F5344CB8AC3E}">
        <p14:creationId xmlns:p14="http://schemas.microsoft.com/office/powerpoint/2010/main" val="25381336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1" y="152400"/>
            <a:ext cx="7772400" cy="794378"/>
          </a:xfrm>
        </p:spPr>
        <p:txBody>
          <a:bodyPr>
            <a:normAutofit fontScale="90000"/>
          </a:bodyPr>
          <a:lstStyle/>
          <a:p>
            <a:r>
              <a:rPr lang="en-GB" b="1" dirty="0">
                <a:latin typeface="Times New Roman" pitchFamily="18" charset="0"/>
                <a:cs typeface="Times New Roman" pitchFamily="18" charset="0"/>
              </a:rPr>
              <a:t>Network method</a:t>
            </a:r>
            <a:br>
              <a:rPr lang="en-US" b="1" dirty="0">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533400" y="1219200"/>
            <a:ext cx="8458199" cy="5486400"/>
          </a:xfrm>
        </p:spPr>
        <p:txBody>
          <a:bodyPr>
            <a:normAutofit/>
          </a:bodyPr>
          <a:lstStyle/>
          <a:p>
            <a:pPr algn="just">
              <a:lnSpc>
                <a:spcPct val="90000"/>
              </a:lnSpc>
            </a:pPr>
            <a:r>
              <a:rPr lang="en-GB" sz="2900" dirty="0">
                <a:latin typeface="Times New Roman" pitchFamily="18" charset="0"/>
                <a:cs typeface="Times New Roman" pitchFamily="18" charset="0"/>
              </a:rPr>
              <a:t>These methodologies work from a list of projected activities to establish cause-condition-effect relationship. </a:t>
            </a:r>
          </a:p>
          <a:p>
            <a:pPr algn="just">
              <a:lnSpc>
                <a:spcPct val="90000"/>
              </a:lnSpc>
            </a:pPr>
            <a:r>
              <a:rPr lang="en-GB" sz="2900" dirty="0">
                <a:latin typeface="Times New Roman" pitchFamily="18" charset="0"/>
                <a:cs typeface="Times New Roman" pitchFamily="18" charset="0"/>
              </a:rPr>
              <a:t>An attempt to recognize that a series of impacts may be initiated by a project action. </a:t>
            </a:r>
          </a:p>
          <a:p>
            <a:pPr algn="just">
              <a:lnSpc>
                <a:spcPct val="90000"/>
              </a:lnSpc>
            </a:pPr>
            <a:r>
              <a:rPr lang="en-GB" sz="2900" dirty="0">
                <a:latin typeface="Times New Roman" pitchFamily="18" charset="0"/>
                <a:cs typeface="Times New Roman" pitchFamily="18" charset="0"/>
              </a:rPr>
              <a:t> defines a set of possible network &amp; allow the user to identify impacts by selecting appropriate project actions.</a:t>
            </a:r>
            <a:endParaRPr lang="en-US" sz="29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22016370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Grp="1" noChangeAspect="1" noChangeArrowheads="1"/>
          </p:cNvPicPr>
          <p:nvPr>
            <p:ph idx="1"/>
          </p:nvPr>
        </p:nvPicPr>
        <p:blipFill>
          <a:blip r:embed="rId2"/>
          <a:srcRect/>
          <a:stretch>
            <a:fillRect/>
          </a:stretch>
        </p:blipFill>
        <p:spPr bwMode="auto">
          <a:xfrm>
            <a:off x="152400" y="609600"/>
            <a:ext cx="8763000" cy="5943600"/>
          </a:xfrm>
          <a:prstGeom prst="rect">
            <a:avLst/>
          </a:prstGeom>
          <a:noFill/>
          <a:ln w="9525">
            <a:noFill/>
            <a:miter lim="800000"/>
            <a:headEnd/>
            <a:tailEnd/>
          </a:ln>
          <a:effectLst/>
        </p:spPr>
      </p:pic>
    </p:spTree>
    <p:extLst>
      <p:ext uri="{BB962C8B-B14F-4D97-AF65-F5344CB8AC3E}">
        <p14:creationId xmlns:p14="http://schemas.microsoft.com/office/powerpoint/2010/main" val="35581644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8130" name="Picture 2"/>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extLst>
      <p:ext uri="{BB962C8B-B14F-4D97-AF65-F5344CB8AC3E}">
        <p14:creationId xmlns:p14="http://schemas.microsoft.com/office/powerpoint/2010/main" val="40733195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49186" y="838200"/>
            <a:ext cx="7162800" cy="2369880"/>
          </a:xfrm>
          <a:prstGeom prst="rect">
            <a:avLst/>
          </a:prstGeom>
        </p:spPr>
        <p:txBody>
          <a:bodyPr wrap="square">
            <a:spAutoFit/>
          </a:bodyPr>
          <a:lstStyle/>
          <a:p>
            <a:pPr lvl="0"/>
            <a:r>
              <a:rPr lang="en-GB" sz="2800" b="1" dirty="0">
                <a:latin typeface="Times New Roman" pitchFamily="18" charset="0"/>
                <a:cs typeface="Times New Roman" pitchFamily="18" charset="0"/>
              </a:rPr>
              <a:t>Over lays method</a:t>
            </a:r>
            <a:endParaRPr lang="en-US" sz="2800" dirty="0">
              <a:latin typeface="Times New Roman" pitchFamily="18" charset="0"/>
              <a:cs typeface="Times New Roman" pitchFamily="18" charset="0"/>
            </a:endParaRPr>
          </a:p>
          <a:p>
            <a:r>
              <a:rPr lang="en-GB" sz="2400" dirty="0">
                <a:latin typeface="Times New Roman" pitchFamily="18" charset="0"/>
                <a:cs typeface="Times New Roman" pitchFamily="18" charset="0"/>
              </a:rPr>
              <a:t> graphical and rely on a set of maps of the characteristics of the project area (physical, social, ecological, aesthetic). </a:t>
            </a:r>
          </a:p>
          <a:p>
            <a:r>
              <a:rPr lang="en-GB" sz="2400" dirty="0">
                <a:latin typeface="Times New Roman" pitchFamily="18" charset="0"/>
                <a:cs typeface="Times New Roman" pitchFamily="18" charset="0"/>
              </a:rPr>
              <a:t>These maps are overlaid by projected alterations of the impacted environment.  </a:t>
            </a:r>
            <a:endParaRPr lang="en-US" sz="2400" dirty="0">
              <a:latin typeface="Times New Roman" pitchFamily="18" charset="0"/>
              <a:cs typeface="Times New Roman" pitchFamily="18" charset="0"/>
            </a:endParaRPr>
          </a:p>
        </p:txBody>
      </p:sp>
      <p:pic>
        <p:nvPicPr>
          <p:cNvPr id="3" name="Picture 2"/>
          <p:cNvPicPr>
            <a:picLocks noChangeAspect="1" noChangeArrowheads="1"/>
          </p:cNvPicPr>
          <p:nvPr/>
        </p:nvPicPr>
        <p:blipFill>
          <a:blip r:embed="rId2"/>
          <a:srcRect/>
          <a:stretch>
            <a:fillRect/>
          </a:stretch>
        </p:blipFill>
        <p:spPr bwMode="auto">
          <a:xfrm>
            <a:off x="2209800" y="3649920"/>
            <a:ext cx="5257800" cy="2903279"/>
          </a:xfrm>
          <a:prstGeom prst="rect">
            <a:avLst/>
          </a:prstGeom>
          <a:noFill/>
          <a:ln w="9525">
            <a:noFill/>
            <a:miter lim="800000"/>
            <a:headEnd/>
            <a:tailEnd/>
          </a:ln>
          <a:effectLst/>
        </p:spPr>
      </p:pic>
    </p:spTree>
    <p:extLst>
      <p:ext uri="{BB962C8B-B14F-4D97-AF65-F5344CB8AC3E}">
        <p14:creationId xmlns:p14="http://schemas.microsoft.com/office/powerpoint/2010/main" val="39461591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4294967295"/>
          </p:nvPr>
        </p:nvGraphicFramePr>
        <p:xfrm>
          <a:off x="0" y="133350"/>
          <a:ext cx="9144000" cy="6591042"/>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352501">
                <a:tc gridSpan="3">
                  <a:txBody>
                    <a:bodyPr/>
                    <a:lstStyle/>
                    <a:p>
                      <a:pPr algn="ctr"/>
                      <a:r>
                        <a:rPr lang="en-US" sz="1800" b="1" i="0" dirty="0">
                          <a:solidFill>
                            <a:schemeClr val="tx1"/>
                          </a:solidFill>
                          <a:latin typeface="Times New Roman" panose="02020603050405020304" pitchFamily="18" charset="0"/>
                          <a:cs typeface="Times New Roman" panose="02020603050405020304" pitchFamily="18" charset="0"/>
                        </a:rPr>
                        <a:t>Main advantages and disadvantages of impact identification methods</a:t>
                      </a:r>
                    </a:p>
                  </a:txBody>
                  <a:tcPr marL="68580" marR="6858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79971">
                <a:tc>
                  <a:txBody>
                    <a:bodyPr/>
                    <a:lstStyle/>
                    <a:p>
                      <a:r>
                        <a:rPr lang="en-US" sz="1600" b="1" i="0" dirty="0">
                          <a:solidFill>
                            <a:srgbClr val="38386F"/>
                          </a:solidFill>
                          <a:latin typeface="Times New Roman" panose="02020603050405020304" pitchFamily="18" charset="0"/>
                          <a:cs typeface="Times New Roman" panose="02020603050405020304" pitchFamily="18" charset="0"/>
                        </a:rPr>
                        <a:t>Method</a:t>
                      </a:r>
                    </a:p>
                  </a:txBody>
                  <a:tcPr marL="50006" marR="50006" marT="66675" marB="66675" anchor="ctr"/>
                </a:tc>
                <a:tc>
                  <a:txBody>
                    <a:bodyPr/>
                    <a:lstStyle/>
                    <a:p>
                      <a:r>
                        <a:rPr lang="en-US" sz="1600" b="1" i="0" dirty="0">
                          <a:solidFill>
                            <a:srgbClr val="38386F"/>
                          </a:solidFill>
                          <a:latin typeface="Times New Roman" panose="02020603050405020304" pitchFamily="18" charset="0"/>
                          <a:cs typeface="Times New Roman" panose="02020603050405020304" pitchFamily="18" charset="0"/>
                        </a:rPr>
                        <a:t>Advantages</a:t>
                      </a:r>
                    </a:p>
                  </a:txBody>
                  <a:tcPr marL="50006" marR="50006" marT="66675" marB="66675" anchor="ctr"/>
                </a:tc>
                <a:tc>
                  <a:txBody>
                    <a:bodyPr/>
                    <a:lstStyle/>
                    <a:p>
                      <a:r>
                        <a:rPr lang="en-US" sz="1600" b="1" i="0" dirty="0">
                          <a:solidFill>
                            <a:srgbClr val="38386F"/>
                          </a:solidFill>
                          <a:latin typeface="Times New Roman" panose="02020603050405020304" pitchFamily="18" charset="0"/>
                          <a:cs typeface="Times New Roman" panose="02020603050405020304" pitchFamily="18" charset="0"/>
                        </a:rPr>
                        <a:t>Disadvantages</a:t>
                      </a:r>
                    </a:p>
                  </a:txBody>
                  <a:tcPr marL="50006" marR="50006" marT="66675" marB="66675" anchor="ctr"/>
                </a:tc>
                <a:extLst>
                  <a:ext uri="{0D108BD9-81ED-4DB2-BD59-A6C34878D82A}">
                    <a16:rowId xmlns:a16="http://schemas.microsoft.com/office/drawing/2014/main" val="10001"/>
                  </a:ext>
                </a:extLst>
              </a:tr>
              <a:tr h="1543295">
                <a:tc>
                  <a:txBody>
                    <a:bodyPr/>
                    <a:lstStyle/>
                    <a:p>
                      <a:r>
                        <a:rPr lang="en-US" sz="1600" b="0" i="0" dirty="0">
                          <a:latin typeface="Times New Roman" panose="02020603050405020304" pitchFamily="18" charset="0"/>
                          <a:cs typeface="Times New Roman" panose="02020603050405020304" pitchFamily="18" charset="0"/>
                        </a:rPr>
                        <a:t>Checklists</a:t>
                      </a:r>
                    </a:p>
                  </a:txBody>
                  <a:tcPr marL="50006" marR="50006" marT="66675" marB="66675" anchor="ctr"/>
                </a:tc>
                <a:tc>
                  <a:txBody>
                    <a:bodyPr/>
                    <a:lstStyle/>
                    <a:p>
                      <a:pPr>
                        <a:buFont typeface="Arial"/>
                        <a:buChar char="•"/>
                      </a:pPr>
                      <a:r>
                        <a:rPr lang="en-US" sz="1600" b="0" i="0" dirty="0">
                          <a:latin typeface="Times New Roman" panose="02020603050405020304" pitchFamily="18" charset="0"/>
                          <a:cs typeface="Times New Roman" panose="02020603050405020304" pitchFamily="18" charset="0"/>
                        </a:rPr>
                        <a:t>easy to understand and use</a:t>
                      </a:r>
                    </a:p>
                    <a:p>
                      <a:pPr>
                        <a:buFont typeface="Arial"/>
                        <a:buChar char="•"/>
                      </a:pPr>
                      <a:r>
                        <a:rPr lang="en-US" sz="1600" b="0" i="0" dirty="0">
                          <a:latin typeface="Times New Roman" panose="02020603050405020304" pitchFamily="18" charset="0"/>
                          <a:cs typeface="Times New Roman" panose="02020603050405020304" pitchFamily="18" charset="0"/>
                        </a:rPr>
                        <a:t>good for site selection and priority setting</a:t>
                      </a:r>
                    </a:p>
                    <a:p>
                      <a:pPr>
                        <a:buFont typeface="Arial"/>
                        <a:buChar char="•"/>
                      </a:pPr>
                      <a:r>
                        <a:rPr lang="en-US" sz="1600" b="0" i="0" dirty="0">
                          <a:latin typeface="Times New Roman" panose="02020603050405020304" pitchFamily="18" charset="0"/>
                          <a:cs typeface="Times New Roman" panose="02020603050405020304" pitchFamily="18" charset="0"/>
                        </a:rPr>
                        <a:t>simple ranking and weighting</a:t>
                      </a:r>
                    </a:p>
                  </a:txBody>
                  <a:tcPr marL="50006" marR="50006" marT="66675" marB="66675" anchor="ctr"/>
                </a:tc>
                <a:tc>
                  <a:txBody>
                    <a:bodyPr/>
                    <a:lstStyle/>
                    <a:p>
                      <a:pPr>
                        <a:buFont typeface="Arial"/>
                        <a:buChar char="•"/>
                      </a:pPr>
                      <a:r>
                        <a:rPr lang="en-US" sz="1600" b="0" i="0" dirty="0">
                          <a:latin typeface="Times New Roman" panose="02020603050405020304" pitchFamily="18" charset="0"/>
                          <a:cs typeface="Times New Roman" panose="02020603050405020304" pitchFamily="18" charset="0"/>
                        </a:rPr>
                        <a:t>do not distinguish between direct and indirect impacts</a:t>
                      </a:r>
                    </a:p>
                    <a:p>
                      <a:pPr>
                        <a:buFont typeface="Arial"/>
                        <a:buChar char="•"/>
                      </a:pPr>
                      <a:r>
                        <a:rPr lang="en-US" sz="1600" b="0" i="0" dirty="0">
                          <a:latin typeface="Times New Roman" panose="02020603050405020304" pitchFamily="18" charset="0"/>
                          <a:cs typeface="Times New Roman" panose="02020603050405020304" pitchFamily="18" charset="0"/>
                        </a:rPr>
                        <a:t>do not link action and impact</a:t>
                      </a:r>
                    </a:p>
                    <a:p>
                      <a:pPr>
                        <a:buFont typeface="Arial"/>
                        <a:buChar char="•"/>
                      </a:pPr>
                      <a:r>
                        <a:rPr lang="en-US" sz="1600" b="0" i="0" dirty="0">
                          <a:latin typeface="Times New Roman" panose="02020603050405020304" pitchFamily="18" charset="0"/>
                          <a:cs typeface="Times New Roman" panose="02020603050405020304" pitchFamily="18" charset="0"/>
                        </a:rPr>
                        <a:t>the process of incorporating values can be controversial</a:t>
                      </a:r>
                    </a:p>
                  </a:txBody>
                  <a:tcPr marL="50006" marR="50006" marT="66675" marB="66675" anchor="ctr"/>
                </a:tc>
                <a:extLst>
                  <a:ext uri="{0D108BD9-81ED-4DB2-BD59-A6C34878D82A}">
                    <a16:rowId xmlns:a16="http://schemas.microsoft.com/office/drawing/2014/main" val="10002"/>
                  </a:ext>
                </a:extLst>
              </a:tr>
              <a:tr h="1142331">
                <a:tc>
                  <a:txBody>
                    <a:bodyPr/>
                    <a:lstStyle/>
                    <a:p>
                      <a:r>
                        <a:rPr lang="en-US" sz="1600" b="0" i="0" dirty="0">
                          <a:latin typeface="Times New Roman" panose="02020603050405020304" pitchFamily="18" charset="0"/>
                          <a:cs typeface="Times New Roman" panose="02020603050405020304" pitchFamily="18" charset="0"/>
                        </a:rPr>
                        <a:t>Matrices</a:t>
                      </a:r>
                    </a:p>
                  </a:txBody>
                  <a:tcPr marL="50006" marR="50006" marT="66675" marB="66675" anchor="ctr"/>
                </a:tc>
                <a:tc>
                  <a:txBody>
                    <a:bodyPr/>
                    <a:lstStyle/>
                    <a:p>
                      <a:pPr>
                        <a:buFont typeface="Arial"/>
                        <a:buChar char="•"/>
                      </a:pPr>
                      <a:r>
                        <a:rPr lang="en-US" sz="1600" b="0" i="0" dirty="0">
                          <a:latin typeface="Times New Roman" panose="02020603050405020304" pitchFamily="18" charset="0"/>
                          <a:cs typeface="Times New Roman" panose="02020603050405020304" pitchFamily="18" charset="0"/>
                        </a:rPr>
                        <a:t>link action to impact</a:t>
                      </a:r>
                    </a:p>
                    <a:p>
                      <a:pPr>
                        <a:buFont typeface="Arial"/>
                        <a:buChar char="•"/>
                      </a:pPr>
                      <a:r>
                        <a:rPr lang="en-US" sz="1600" b="0" i="0" dirty="0">
                          <a:latin typeface="Times New Roman" panose="02020603050405020304" pitchFamily="18" charset="0"/>
                          <a:cs typeface="Times New Roman" panose="02020603050405020304" pitchFamily="18" charset="0"/>
                        </a:rPr>
                        <a:t>good method for displaying EIA results</a:t>
                      </a:r>
                    </a:p>
                  </a:txBody>
                  <a:tcPr marL="50006" marR="50006" marT="66675" marB="66675" anchor="ctr"/>
                </a:tc>
                <a:tc>
                  <a:txBody>
                    <a:bodyPr/>
                    <a:lstStyle/>
                    <a:p>
                      <a:pPr>
                        <a:buFont typeface="Arial"/>
                        <a:buChar char="•"/>
                      </a:pPr>
                      <a:r>
                        <a:rPr lang="en-US" sz="1600" b="0" i="0" dirty="0">
                          <a:latin typeface="Times New Roman" panose="02020603050405020304" pitchFamily="18" charset="0"/>
                          <a:cs typeface="Times New Roman" panose="02020603050405020304" pitchFamily="18" charset="0"/>
                        </a:rPr>
                        <a:t>difficult to distinguish direct and indirect impacts</a:t>
                      </a:r>
                    </a:p>
                    <a:p>
                      <a:pPr>
                        <a:buFont typeface="Arial"/>
                        <a:buChar char="•"/>
                      </a:pPr>
                      <a:r>
                        <a:rPr lang="en-US" sz="1600" b="0" i="0" dirty="0">
                          <a:latin typeface="Times New Roman" panose="02020603050405020304" pitchFamily="18" charset="0"/>
                          <a:cs typeface="Times New Roman" panose="02020603050405020304" pitchFamily="18" charset="0"/>
                        </a:rPr>
                        <a:t>have potential for double-counting of impacts</a:t>
                      </a:r>
                    </a:p>
                  </a:txBody>
                  <a:tcPr marL="50006" marR="50006" marT="66675" marB="66675" anchor="ctr"/>
                </a:tc>
                <a:extLst>
                  <a:ext uri="{0D108BD9-81ED-4DB2-BD59-A6C34878D82A}">
                    <a16:rowId xmlns:a16="http://schemas.microsoft.com/office/drawing/2014/main" val="10003"/>
                  </a:ext>
                </a:extLst>
              </a:tr>
              <a:tr h="1409641">
                <a:tc>
                  <a:txBody>
                    <a:bodyPr/>
                    <a:lstStyle/>
                    <a:p>
                      <a:r>
                        <a:rPr lang="en-US" sz="1600" b="0" i="0" dirty="0">
                          <a:latin typeface="Times New Roman" panose="02020603050405020304" pitchFamily="18" charset="0"/>
                          <a:cs typeface="Times New Roman" panose="02020603050405020304" pitchFamily="18" charset="0"/>
                        </a:rPr>
                        <a:t>Networks</a:t>
                      </a:r>
                    </a:p>
                  </a:txBody>
                  <a:tcPr marL="50006" marR="50006" marT="66675" marB="66675" anchor="ctr"/>
                </a:tc>
                <a:tc>
                  <a:txBody>
                    <a:bodyPr/>
                    <a:lstStyle/>
                    <a:p>
                      <a:pPr>
                        <a:buFont typeface="Arial"/>
                        <a:buChar char="•"/>
                      </a:pPr>
                      <a:r>
                        <a:rPr lang="en-US" sz="1600" b="0" i="0" dirty="0">
                          <a:latin typeface="Times New Roman" panose="02020603050405020304" pitchFamily="18" charset="0"/>
                          <a:cs typeface="Times New Roman" panose="02020603050405020304" pitchFamily="18" charset="0"/>
                        </a:rPr>
                        <a:t>link action to impact</a:t>
                      </a:r>
                    </a:p>
                    <a:p>
                      <a:pPr>
                        <a:buFont typeface="Arial"/>
                        <a:buChar char="•"/>
                      </a:pPr>
                      <a:r>
                        <a:rPr lang="en-US" sz="1600" b="0" i="0" dirty="0">
                          <a:latin typeface="Times New Roman" panose="02020603050405020304" pitchFamily="18" charset="0"/>
                          <a:cs typeface="Times New Roman" panose="02020603050405020304" pitchFamily="18" charset="0"/>
                        </a:rPr>
                        <a:t>useful in simplified form for checking for second order impacts</a:t>
                      </a:r>
                    </a:p>
                    <a:p>
                      <a:pPr>
                        <a:buFont typeface="Arial"/>
                        <a:buChar char="•"/>
                      </a:pPr>
                      <a:r>
                        <a:rPr lang="en-US" sz="1600" b="0" i="0" dirty="0">
                          <a:latin typeface="Times New Roman" panose="02020603050405020304" pitchFamily="18" charset="0"/>
                          <a:cs typeface="Times New Roman" panose="02020603050405020304" pitchFamily="18" charset="0"/>
                        </a:rPr>
                        <a:t>handles direct and indirect impacts</a:t>
                      </a:r>
                    </a:p>
                  </a:txBody>
                  <a:tcPr marL="50006" marR="50006" marT="66675" marB="66675" anchor="ctr"/>
                </a:tc>
                <a:tc>
                  <a:txBody>
                    <a:bodyPr/>
                    <a:lstStyle/>
                    <a:p>
                      <a:pPr>
                        <a:buFont typeface="Arial"/>
                        <a:buChar char="•"/>
                      </a:pPr>
                      <a:r>
                        <a:rPr lang="en-US" sz="1600" b="0" i="0" dirty="0">
                          <a:latin typeface="Times New Roman" panose="02020603050405020304" pitchFamily="18" charset="0"/>
                          <a:cs typeface="Times New Roman" panose="02020603050405020304" pitchFamily="18" charset="0"/>
                        </a:rPr>
                        <a:t>can become very complex if used beyond simplified version</a:t>
                      </a:r>
                    </a:p>
                  </a:txBody>
                  <a:tcPr marL="50006" marR="50006" marT="66675" marB="66675" anchor="ctr"/>
                </a:tc>
                <a:extLst>
                  <a:ext uri="{0D108BD9-81ED-4DB2-BD59-A6C34878D82A}">
                    <a16:rowId xmlns:a16="http://schemas.microsoft.com/office/drawing/2014/main" val="10004"/>
                  </a:ext>
                </a:extLst>
              </a:tr>
              <a:tr h="875022">
                <a:tc>
                  <a:txBody>
                    <a:bodyPr/>
                    <a:lstStyle/>
                    <a:p>
                      <a:r>
                        <a:rPr lang="en-US" sz="1600" b="0" i="0" dirty="0">
                          <a:latin typeface="Times New Roman" panose="02020603050405020304" pitchFamily="18" charset="0"/>
                          <a:cs typeface="Times New Roman" panose="02020603050405020304" pitchFamily="18" charset="0"/>
                        </a:rPr>
                        <a:t>Overlays</a:t>
                      </a:r>
                    </a:p>
                  </a:txBody>
                  <a:tcPr marL="50006" marR="50006" marT="66675" marB="66675" anchor="ctr"/>
                </a:tc>
                <a:tc>
                  <a:txBody>
                    <a:bodyPr/>
                    <a:lstStyle/>
                    <a:p>
                      <a:pPr>
                        <a:buFont typeface="Arial"/>
                        <a:buChar char="•"/>
                      </a:pPr>
                      <a:r>
                        <a:rPr lang="en-US" sz="1600" b="0" i="0" dirty="0">
                          <a:latin typeface="Times New Roman" panose="02020603050405020304" pitchFamily="18" charset="0"/>
                          <a:cs typeface="Times New Roman" panose="02020603050405020304" pitchFamily="18" charset="0"/>
                        </a:rPr>
                        <a:t>easy to understand</a:t>
                      </a:r>
                    </a:p>
                    <a:p>
                      <a:pPr>
                        <a:buFont typeface="Arial"/>
                        <a:buChar char="•"/>
                      </a:pPr>
                      <a:r>
                        <a:rPr lang="en-US" sz="1600" b="0" i="0" dirty="0">
                          <a:latin typeface="Times New Roman" panose="02020603050405020304" pitchFamily="18" charset="0"/>
                          <a:cs typeface="Times New Roman" panose="02020603050405020304" pitchFamily="18" charset="0"/>
                        </a:rPr>
                        <a:t>focus and display spatial impacts</a:t>
                      </a:r>
                    </a:p>
                    <a:p>
                      <a:pPr>
                        <a:buFont typeface="Arial"/>
                        <a:buChar char="•"/>
                      </a:pPr>
                      <a:r>
                        <a:rPr lang="en-US" sz="1600" b="0" i="0" dirty="0">
                          <a:latin typeface="Times New Roman" panose="02020603050405020304" pitchFamily="18" charset="0"/>
                          <a:cs typeface="Times New Roman" panose="02020603050405020304" pitchFamily="18" charset="0"/>
                        </a:rPr>
                        <a:t>good siting tool</a:t>
                      </a:r>
                    </a:p>
                  </a:txBody>
                  <a:tcPr marL="50006" marR="50006" marT="66675" marB="66675" anchor="ctr"/>
                </a:tc>
                <a:tc>
                  <a:txBody>
                    <a:bodyPr/>
                    <a:lstStyle/>
                    <a:p>
                      <a:pPr>
                        <a:buFont typeface="Arial"/>
                        <a:buChar char="•"/>
                      </a:pPr>
                      <a:r>
                        <a:rPr lang="en-US" sz="1600" b="0" i="0" dirty="0">
                          <a:latin typeface="Times New Roman" panose="02020603050405020304" pitchFamily="18" charset="0"/>
                          <a:cs typeface="Times New Roman" panose="02020603050405020304" pitchFamily="18" charset="0"/>
                        </a:rPr>
                        <a:t>can be cumbersome</a:t>
                      </a:r>
                    </a:p>
                    <a:p>
                      <a:pPr>
                        <a:buFont typeface="Arial"/>
                        <a:buChar char="•"/>
                      </a:pPr>
                      <a:r>
                        <a:rPr lang="en-US" sz="1600" b="0" i="0" dirty="0">
                          <a:latin typeface="Times New Roman" panose="02020603050405020304" pitchFamily="18" charset="0"/>
                          <a:cs typeface="Times New Roman" panose="02020603050405020304" pitchFamily="18" charset="0"/>
                        </a:rPr>
                        <a:t>poorly suited to address impact duration or probability</a:t>
                      </a:r>
                    </a:p>
                  </a:txBody>
                  <a:tcPr marL="50006" marR="50006" marT="66675" marB="66675" anchor="ctr"/>
                </a:tc>
                <a:extLst>
                  <a:ext uri="{0D108BD9-81ED-4DB2-BD59-A6C34878D82A}">
                    <a16:rowId xmlns:a16="http://schemas.microsoft.com/office/drawing/2014/main" val="10005"/>
                  </a:ext>
                </a:extLst>
              </a:tr>
              <a:tr h="875022">
                <a:tc>
                  <a:txBody>
                    <a:bodyPr/>
                    <a:lstStyle/>
                    <a:p>
                      <a:r>
                        <a:rPr lang="en-US" sz="1600" b="0" i="0">
                          <a:latin typeface="Times New Roman" panose="02020603050405020304" pitchFamily="18" charset="0"/>
                          <a:cs typeface="Times New Roman" panose="02020603050405020304" pitchFamily="18" charset="0"/>
                        </a:rPr>
                        <a:t>GIS and computer expert systems</a:t>
                      </a:r>
                    </a:p>
                  </a:txBody>
                  <a:tcPr marL="50006" marR="50006" marT="66675" marB="66675" anchor="ctr"/>
                </a:tc>
                <a:tc>
                  <a:txBody>
                    <a:bodyPr/>
                    <a:lstStyle/>
                    <a:p>
                      <a:pPr>
                        <a:buFont typeface="Arial"/>
                        <a:buChar char="•"/>
                      </a:pPr>
                      <a:r>
                        <a:rPr lang="en-US" sz="1600" b="0" i="0" dirty="0">
                          <a:latin typeface="Times New Roman" panose="02020603050405020304" pitchFamily="18" charset="0"/>
                          <a:cs typeface="Times New Roman" panose="02020603050405020304" pitchFamily="18" charset="0"/>
                        </a:rPr>
                        <a:t>excellent for impact identification and spatial analysis</a:t>
                      </a:r>
                    </a:p>
                    <a:p>
                      <a:pPr>
                        <a:buFont typeface="Arial"/>
                        <a:buChar char="•"/>
                      </a:pPr>
                      <a:r>
                        <a:rPr lang="en-US" sz="1600" b="0" i="0" dirty="0">
                          <a:latin typeface="Times New Roman" panose="02020603050405020304" pitchFamily="18" charset="0"/>
                          <a:cs typeface="Times New Roman" panose="02020603050405020304" pitchFamily="18" charset="0"/>
                        </a:rPr>
                        <a:t>good for ‘experimenting’</a:t>
                      </a:r>
                    </a:p>
                  </a:txBody>
                  <a:tcPr marL="50006" marR="50006" marT="66675" marB="66675" anchor="ctr"/>
                </a:tc>
                <a:tc>
                  <a:txBody>
                    <a:bodyPr/>
                    <a:lstStyle/>
                    <a:p>
                      <a:pPr>
                        <a:buFont typeface="Arial"/>
                        <a:buChar char="•"/>
                      </a:pPr>
                      <a:r>
                        <a:rPr lang="en-US" sz="1600" b="0" i="0" dirty="0">
                          <a:latin typeface="Times New Roman" panose="02020603050405020304" pitchFamily="18" charset="0"/>
                          <a:cs typeface="Times New Roman" panose="02020603050405020304" pitchFamily="18" charset="0"/>
                        </a:rPr>
                        <a:t>heavy reliance on knowledge and data</a:t>
                      </a:r>
                    </a:p>
                    <a:p>
                      <a:pPr>
                        <a:buFont typeface="Arial"/>
                        <a:buChar char="•"/>
                      </a:pPr>
                      <a:r>
                        <a:rPr lang="en-US" sz="1600" b="0" i="0" dirty="0">
                          <a:latin typeface="Times New Roman" panose="02020603050405020304" pitchFamily="18" charset="0"/>
                          <a:cs typeface="Times New Roman" panose="02020603050405020304" pitchFamily="18" charset="0"/>
                        </a:rPr>
                        <a:t>often complex and expensive</a:t>
                      </a:r>
                    </a:p>
                  </a:txBody>
                  <a:tcPr marL="50006" marR="50006" marT="66675" marB="66675"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509433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35C8B-CD59-1B78-6A86-6EEC76EA1A4A}"/>
              </a:ext>
            </a:extLst>
          </p:cNvPr>
          <p:cNvSpPr>
            <a:spLocks noGrp="1"/>
          </p:cNvSpPr>
          <p:nvPr>
            <p:ph type="title"/>
          </p:nvPr>
        </p:nvSpPr>
        <p:spPr>
          <a:xfrm>
            <a:off x="152400" y="0"/>
            <a:ext cx="8991600" cy="1905000"/>
          </a:xfrm>
        </p:spPr>
        <p:txBody>
          <a:bodyPr>
            <a:normAutofit/>
          </a:bodyPr>
          <a:lstStyle/>
          <a:p>
            <a:r>
              <a:rPr lang="en-US" sz="3600" dirty="0">
                <a:latin typeface="Times New Roman" panose="02020603050405020304" pitchFamily="18" charset="0"/>
                <a:cs typeface="Times New Roman" panose="02020603050405020304" pitchFamily="18" charset="0"/>
              </a:rPr>
              <a:t>Evaluation and Mitigation-Prediction and assessment of the impact on water (surface water)</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834E39B-0857-7461-1ED0-E067D322F0F3}"/>
              </a:ext>
            </a:extLst>
          </p:cNvPr>
          <p:cNvSpPr>
            <a:spLocks noGrp="1"/>
          </p:cNvSpPr>
          <p:nvPr>
            <p:ph idx="1"/>
          </p:nvPr>
        </p:nvSpPr>
        <p:spPr>
          <a:xfrm>
            <a:off x="304800" y="1905000"/>
            <a:ext cx="8839199" cy="4724400"/>
          </a:xfrm>
        </p:spPr>
        <p:txBody>
          <a:bodyPr>
            <a:normAutofit/>
          </a:bodyPr>
          <a:lstStyle/>
          <a:p>
            <a:pPr algn="just"/>
            <a:r>
              <a:rPr lang="en-US" sz="2400" dirty="0">
                <a:latin typeface="Times New Roman" panose="02020603050405020304" pitchFamily="18" charset="0"/>
                <a:cs typeface="Times New Roman" panose="02020603050405020304" pitchFamily="18" charset="0"/>
              </a:rPr>
              <a:t>Surface water bodies like rivers, streams, canals, ditches, ponds, reservoirs, lagoons, estuaries, coastal waters, lakes </a:t>
            </a:r>
            <a:r>
              <a:rPr lang="en-US" sz="2400" dirty="0" err="1">
                <a:latin typeface="Times New Roman" panose="02020603050405020304" pitchFamily="18" charset="0"/>
                <a:cs typeface="Times New Roman" panose="02020603050405020304" pitchFamily="18" charset="0"/>
              </a:rPr>
              <a:t>etc</a:t>
            </a:r>
            <a:r>
              <a:rPr lang="en-US" sz="2400" dirty="0">
                <a:latin typeface="Times New Roman" panose="02020603050405020304" pitchFamily="18" charset="0"/>
                <a:cs typeface="Times New Roman" panose="02020603050405020304" pitchFamily="18" charset="0"/>
              </a:rPr>
              <a:t> -play very important role in the sustainability of any ecosystem &amp; it is very important to assess the impacts of any developmental activity on these surface water environments.</a:t>
            </a:r>
          </a:p>
          <a:p>
            <a:pPr algn="just"/>
            <a:r>
              <a:rPr lang="en-US" sz="2400" dirty="0">
                <a:latin typeface="Times New Roman" panose="02020603050405020304" pitchFamily="18" charset="0"/>
                <a:cs typeface="Times New Roman" panose="02020603050405020304" pitchFamily="18" charset="0"/>
              </a:rPr>
              <a:t> Impacts usually caused by physical disturbances ,by changes in climatic conditions, and by the addition or removal of substances, heat, or microorganisms </a:t>
            </a:r>
          </a:p>
          <a:p>
            <a:pPr algn="just"/>
            <a:r>
              <a:rPr lang="en-US" sz="2400" dirty="0">
                <a:latin typeface="Times New Roman" panose="02020603050405020304" pitchFamily="18" charset="0"/>
                <a:cs typeface="Times New Roman" panose="02020603050405020304" pitchFamily="18" charset="0"/>
              </a:rPr>
              <a:t>These activities and processes lead to changes in surface water hydrology, changes in surface water quality, changes in sediment behavior, changes in salinity, and changes in aquatic ecology.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49907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F54AB-0CC9-5286-591D-008F2A3132BB}"/>
              </a:ext>
            </a:extLst>
          </p:cNvPr>
          <p:cNvSpPr>
            <a:spLocks noGrp="1"/>
          </p:cNvSpPr>
          <p:nvPr>
            <p:ph type="title"/>
          </p:nvPr>
        </p:nvSpPr>
        <p:spPr>
          <a:xfrm>
            <a:off x="1143000" y="304800"/>
            <a:ext cx="7696199" cy="1280890"/>
          </a:xfrm>
        </p:spPr>
        <p:txBody>
          <a:bodyPr>
            <a:normAutofit/>
          </a:bodyPr>
          <a:lstStyle/>
          <a:p>
            <a:r>
              <a:rPr lang="en-US" dirty="0">
                <a:latin typeface="Times New Roman" panose="02020603050405020304" pitchFamily="18" charset="0"/>
                <a:cs typeface="Times New Roman" panose="02020603050405020304" pitchFamily="18" charset="0"/>
              </a:rPr>
              <a:t>Projects Which Create Impact Concerns for the Surface-Water Environment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D891D68-246B-D4D4-B924-0014B2C2F8ED}"/>
              </a:ext>
            </a:extLst>
          </p:cNvPr>
          <p:cNvSpPr>
            <a:spLocks noGrp="1"/>
          </p:cNvSpPr>
          <p:nvPr>
            <p:ph idx="1"/>
          </p:nvPr>
        </p:nvSpPr>
        <p:spPr>
          <a:xfrm>
            <a:off x="533400" y="2133600"/>
            <a:ext cx="8305799" cy="4572000"/>
          </a:xfrm>
        </p:spPr>
        <p:txBody>
          <a:bodyPr>
            <a:normAutofit lnSpcReduction="10000"/>
          </a:bodyPr>
          <a:lstStyle/>
          <a:p>
            <a:pPr algn="just"/>
            <a:r>
              <a:rPr lang="en-US" sz="2400" dirty="0">
                <a:latin typeface="Times New Roman" panose="02020603050405020304" pitchFamily="18" charset="0"/>
                <a:cs typeface="Times New Roman" panose="02020603050405020304" pitchFamily="18" charset="0"/>
              </a:rPr>
              <a:t>1.Industrial power plants withdrawing surface water for cooling (this may be of particular concern during low- flow conditions). </a:t>
            </a:r>
          </a:p>
          <a:p>
            <a:pPr algn="just"/>
            <a:r>
              <a:rPr lang="en-US" sz="2400" dirty="0">
                <a:latin typeface="Times New Roman" panose="02020603050405020304" pitchFamily="18" charset="0"/>
                <a:cs typeface="Times New Roman" panose="02020603050405020304" pitchFamily="18" charset="0"/>
              </a:rPr>
              <a:t>2. Power plants discharging heated waste water from cooling cycles </a:t>
            </a:r>
          </a:p>
          <a:p>
            <a:pPr algn="just"/>
            <a:r>
              <a:rPr lang="en-US" sz="2400" dirty="0">
                <a:latin typeface="Times New Roman" panose="02020603050405020304" pitchFamily="18" charset="0"/>
                <a:cs typeface="Times New Roman" panose="02020603050405020304" pitchFamily="18" charset="0"/>
              </a:rPr>
              <a:t>3. Industries discharging process waste waters from either routine operations or as a result of accidents and spills. </a:t>
            </a:r>
          </a:p>
          <a:p>
            <a:pPr algn="just"/>
            <a:r>
              <a:rPr lang="en-US" sz="2400" dirty="0">
                <a:latin typeface="Times New Roman" panose="02020603050405020304" pitchFamily="18" charset="0"/>
                <a:cs typeface="Times New Roman" panose="02020603050405020304" pitchFamily="18" charset="0"/>
              </a:rPr>
              <a:t>4. Municipal waste water treatment plants discharging primary, secondary or treated waste waters.</a:t>
            </a:r>
          </a:p>
          <a:p>
            <a:pPr algn="just"/>
            <a:r>
              <a:rPr lang="en-US" sz="2400" dirty="0">
                <a:latin typeface="Times New Roman" panose="02020603050405020304" pitchFamily="18" charset="0"/>
                <a:cs typeface="Times New Roman" panose="02020603050405020304" pitchFamily="18" charset="0"/>
              </a:rPr>
              <a:t> 5. Dredging projects in rivers, harbors, estuaries and or coastal area (increased turbidity and release of sediment contaminants may occur) </a:t>
            </a:r>
          </a:p>
          <a:p>
            <a:endParaRPr lang="en-IN" dirty="0"/>
          </a:p>
        </p:txBody>
      </p:sp>
    </p:spTree>
    <p:extLst>
      <p:ext uri="{BB962C8B-B14F-4D97-AF65-F5344CB8AC3E}">
        <p14:creationId xmlns:p14="http://schemas.microsoft.com/office/powerpoint/2010/main" val="6088585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627196-0170-EE9B-EC54-655FA3AA1739}"/>
              </a:ext>
            </a:extLst>
          </p:cNvPr>
          <p:cNvSpPr>
            <a:spLocks noGrp="1"/>
          </p:cNvSpPr>
          <p:nvPr>
            <p:ph idx="1"/>
          </p:nvPr>
        </p:nvSpPr>
        <p:spPr>
          <a:xfrm>
            <a:off x="228601" y="228600"/>
            <a:ext cx="8305800" cy="6400800"/>
          </a:xfrm>
        </p:spPr>
        <p:txBody>
          <a:bodyPr>
            <a:normAutofit fontScale="92500" lnSpcReduction="20000"/>
          </a:bodyPr>
          <a:lstStyle/>
          <a:p>
            <a:endParaRPr lang="en-US" dirty="0"/>
          </a:p>
          <a:p>
            <a:endParaRPr lang="en-US" dirty="0"/>
          </a:p>
          <a:p>
            <a:endParaRPr lang="en-US" dirty="0"/>
          </a:p>
          <a:p>
            <a:pPr algn="just"/>
            <a:r>
              <a:rPr lang="en-US" sz="2400" dirty="0">
                <a:latin typeface="Times New Roman" panose="02020603050405020304" pitchFamily="18" charset="0"/>
                <a:cs typeface="Times New Roman" panose="02020603050405020304" pitchFamily="18" charset="0"/>
              </a:rPr>
              <a:t>6. Projects involving "fill" or creation of "fast lands" along rivers, lakes. estuaries and coastal area.</a:t>
            </a:r>
          </a:p>
          <a:p>
            <a:pPr algn="just"/>
            <a:r>
              <a:rPr lang="en-US" sz="2400" dirty="0">
                <a:latin typeface="Times New Roman" panose="02020603050405020304" pitchFamily="18" charset="0"/>
                <a:cs typeface="Times New Roman" panose="02020603050405020304" pitchFamily="18" charset="0"/>
              </a:rPr>
              <a:t> 7. Surface mining projects with resultant changes in surface water hydrology and nonpoint pollution. </a:t>
            </a:r>
          </a:p>
          <a:p>
            <a:pPr algn="just"/>
            <a:r>
              <a:rPr lang="en-US" sz="2400" dirty="0">
                <a:latin typeface="Times New Roman" panose="02020603050405020304" pitchFamily="18" charset="0"/>
                <a:cs typeface="Times New Roman" panose="02020603050405020304" pitchFamily="18" charset="0"/>
              </a:rPr>
              <a:t>8. Construction of dams for purposes of water supply. flood control or hydropower production.</a:t>
            </a:r>
          </a:p>
          <a:p>
            <a:pPr algn="just"/>
            <a:r>
              <a:rPr lang="en-US" sz="2400" dirty="0">
                <a:latin typeface="Times New Roman" panose="02020603050405020304" pitchFamily="18" charset="0"/>
                <a:cs typeface="Times New Roman" panose="02020603050405020304" pitchFamily="18" charset="0"/>
              </a:rPr>
              <a:t> 9. River canalization projects for flow improvements </a:t>
            </a:r>
          </a:p>
          <a:p>
            <a:pPr algn="just"/>
            <a:r>
              <a:rPr lang="en-US" sz="2400" dirty="0">
                <a:latin typeface="Times New Roman" panose="02020603050405020304" pitchFamily="18" charset="0"/>
                <a:cs typeface="Times New Roman" panose="02020603050405020304" pitchFamily="18" charset="0"/>
              </a:rPr>
              <a:t>10. Deforestation and agricultural development resulting in non-point source pollution associated with nutrients and pesticides and irrigation projects, leading to turn flows laden with nutrients and pesticides. </a:t>
            </a:r>
          </a:p>
          <a:p>
            <a:pPr algn="just"/>
            <a:r>
              <a:rPr lang="en-US" sz="2400" dirty="0">
                <a:latin typeface="Times New Roman" panose="02020603050405020304" pitchFamily="18" charset="0"/>
                <a:cs typeface="Times New Roman" panose="02020603050405020304" pitchFamily="18" charset="0"/>
              </a:rPr>
              <a:t>11. Commercial hazardous waste disposal sites and/or sanitary landfills, with resultant run-off water and non-point-source pollution; and</a:t>
            </a:r>
          </a:p>
          <a:p>
            <a:pPr algn="just"/>
            <a:r>
              <a:rPr lang="en-US" sz="2400" dirty="0">
                <a:latin typeface="Times New Roman" panose="02020603050405020304" pitchFamily="18" charset="0"/>
                <a:cs typeface="Times New Roman" panose="02020603050405020304" pitchFamily="18" charset="0"/>
              </a:rPr>
              <a:t> 12. Tourism projects adjacent to estuaries or coastal area with concerns related to bacterial pollution.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37635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DFCB4-9AC6-F78C-8248-CF1CF122C409}"/>
              </a:ext>
            </a:extLst>
          </p:cNvPr>
          <p:cNvSpPr>
            <a:spLocks noGrp="1"/>
          </p:cNvSpPr>
          <p:nvPr>
            <p:ph type="title"/>
          </p:nvPr>
        </p:nvSpPr>
        <p:spPr>
          <a:xfrm>
            <a:off x="152400" y="-76200"/>
            <a:ext cx="8991600" cy="1981200"/>
          </a:xfrm>
        </p:spPr>
        <p:txBody>
          <a:bodyPr>
            <a:normAutofit/>
          </a:bodyPr>
          <a:lstStyle/>
          <a:p>
            <a:pPr algn="just"/>
            <a:r>
              <a:rPr lang="en-US" dirty="0">
                <a:latin typeface="Times New Roman" panose="02020603050405020304" pitchFamily="18" charset="0"/>
                <a:cs typeface="Times New Roman" panose="02020603050405020304" pitchFamily="18" charset="0"/>
              </a:rPr>
              <a:t>Systematic Methods for Evaluation of Impacts of Various Developmental Activities on Surface Water</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F853BA9-115D-BDFA-3F3D-8917B06F0E37}"/>
              </a:ext>
            </a:extLst>
          </p:cNvPr>
          <p:cNvSpPr>
            <a:spLocks noGrp="1"/>
          </p:cNvSpPr>
          <p:nvPr>
            <p:ph idx="1"/>
          </p:nvPr>
        </p:nvSpPr>
        <p:spPr>
          <a:xfrm>
            <a:off x="152400" y="1752600"/>
            <a:ext cx="8382001" cy="5257800"/>
          </a:xfrm>
        </p:spPr>
        <p:txBody>
          <a:bodyPr>
            <a:normAutofit/>
          </a:bodyPr>
          <a:lstStyle/>
          <a:p>
            <a:pPr>
              <a:buFont typeface="Wingdings" panose="05000000000000000000" pitchFamily="2" charset="2"/>
              <a:buChar char="q"/>
            </a:pPr>
            <a:r>
              <a:rPr lang="en-US" sz="2400" b="1" i="1" dirty="0">
                <a:latin typeface="Times New Roman" panose="02020603050405020304" pitchFamily="18" charset="0"/>
                <a:cs typeface="Times New Roman" panose="02020603050405020304" pitchFamily="18" charset="0"/>
              </a:rPr>
              <a:t>Six step model </a:t>
            </a:r>
          </a:p>
          <a:p>
            <a:r>
              <a:rPr lang="en-US" sz="2400" b="1" dirty="0">
                <a:latin typeface="Times New Roman" panose="02020603050405020304" pitchFamily="18" charset="0"/>
                <a:cs typeface="Times New Roman" panose="02020603050405020304" pitchFamily="18" charset="0"/>
              </a:rPr>
              <a:t>Step 1 </a:t>
            </a:r>
            <a:r>
              <a:rPr lang="en-US" sz="2400" dirty="0">
                <a:latin typeface="Times New Roman" panose="02020603050405020304" pitchFamily="18" charset="0"/>
                <a:cs typeface="Times New Roman" panose="02020603050405020304" pitchFamily="18" charset="0"/>
              </a:rPr>
              <a:t>Identification of Surface Water Quantity or Quality Impacts of Proposed Projects</a:t>
            </a:r>
          </a:p>
          <a:p>
            <a:r>
              <a:rPr lang="en-US" sz="2400" b="1" dirty="0">
                <a:latin typeface="Times New Roman" panose="02020603050405020304" pitchFamily="18" charset="0"/>
                <a:cs typeface="Times New Roman" panose="02020603050405020304" pitchFamily="18" charset="0"/>
              </a:rPr>
              <a:t>Step 2</a:t>
            </a:r>
            <a:r>
              <a:rPr lang="en-US" sz="2400" dirty="0">
                <a:latin typeface="Times New Roman" panose="02020603050405020304" pitchFamily="18" charset="0"/>
                <a:cs typeface="Times New Roman" panose="02020603050405020304" pitchFamily="18" charset="0"/>
              </a:rPr>
              <a:t> Description of Existing Surface - Water Resource Conditions</a:t>
            </a:r>
          </a:p>
          <a:p>
            <a:r>
              <a:rPr lang="en-US" sz="2400" b="1" dirty="0">
                <a:latin typeface="Times New Roman" panose="02020603050405020304" pitchFamily="18" charset="0"/>
                <a:cs typeface="Times New Roman" panose="02020603050405020304" pitchFamily="18" charset="0"/>
              </a:rPr>
              <a:t>Step 3 </a:t>
            </a:r>
            <a:r>
              <a:rPr lang="en-US" sz="2400" dirty="0">
                <a:latin typeface="Times New Roman" panose="02020603050405020304" pitchFamily="18" charset="0"/>
                <a:cs typeface="Times New Roman" panose="02020603050405020304" pitchFamily="18" charset="0"/>
              </a:rPr>
              <a:t>Procurement of Relevant Surface-water Quantity-Quality Standards</a:t>
            </a:r>
          </a:p>
          <a:p>
            <a:r>
              <a:rPr lang="en-IN" sz="2400" b="1" dirty="0">
                <a:latin typeface="Times New Roman" panose="02020603050405020304" pitchFamily="18" charset="0"/>
                <a:cs typeface="Times New Roman" panose="02020603050405020304" pitchFamily="18" charset="0"/>
              </a:rPr>
              <a:t>Step 4</a:t>
            </a:r>
            <a:r>
              <a:rPr lang="en-IN" sz="2400" dirty="0">
                <a:latin typeface="Times New Roman" panose="02020603050405020304" pitchFamily="18" charset="0"/>
                <a:cs typeface="Times New Roman" panose="02020603050405020304" pitchFamily="18" charset="0"/>
              </a:rPr>
              <a:t> Impact Prediction</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Step 5</a:t>
            </a:r>
            <a:r>
              <a:rPr lang="en-US" sz="2400" dirty="0">
                <a:latin typeface="Times New Roman" panose="02020603050405020304" pitchFamily="18" charset="0"/>
                <a:cs typeface="Times New Roman" panose="02020603050405020304" pitchFamily="18" charset="0"/>
              </a:rPr>
              <a:t> Interpretation of Impact Significance</a:t>
            </a:r>
          </a:p>
          <a:p>
            <a:r>
              <a:rPr lang="en-US" sz="2400" b="1" dirty="0">
                <a:latin typeface="Times New Roman" panose="02020603050405020304" pitchFamily="18" charset="0"/>
                <a:cs typeface="Times New Roman" panose="02020603050405020304" pitchFamily="18" charset="0"/>
              </a:rPr>
              <a:t>Step 6</a:t>
            </a:r>
            <a:r>
              <a:rPr lang="en-US" sz="2400" dirty="0">
                <a:latin typeface="Times New Roman" panose="02020603050405020304" pitchFamily="18" charset="0"/>
                <a:cs typeface="Times New Roman" panose="02020603050405020304" pitchFamily="18" charset="0"/>
              </a:rPr>
              <a:t> Identification and Incorporation of Mitigation Measures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00110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EBA6B-F94E-B028-409E-F7D0CD674749}"/>
              </a:ext>
            </a:extLst>
          </p:cNvPr>
          <p:cNvSpPr>
            <a:spLocks noGrp="1"/>
          </p:cNvSpPr>
          <p:nvPr>
            <p:ph type="title"/>
          </p:nvPr>
        </p:nvSpPr>
        <p:spPr>
          <a:xfrm>
            <a:off x="1295399" y="0"/>
            <a:ext cx="7848601" cy="1905000"/>
          </a:xfrm>
        </p:spPr>
        <p:txBody>
          <a:bodyPr>
            <a:normAutofit/>
          </a:bodyPr>
          <a:lstStyle/>
          <a:p>
            <a:r>
              <a:rPr lang="en-US" dirty="0">
                <a:latin typeface="Times New Roman" panose="02020603050405020304" pitchFamily="18" charset="0"/>
                <a:cs typeface="Times New Roman" panose="02020603050405020304" pitchFamily="18" charset="0"/>
              </a:rPr>
              <a:t>Step 1 :Identification of Surface Water Quantity or Quality Impacts of Proposed Projects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5F6BB3E-90E3-C398-F33B-C5BAA48CF304}"/>
              </a:ext>
            </a:extLst>
          </p:cNvPr>
          <p:cNvSpPr>
            <a:spLocks noGrp="1"/>
          </p:cNvSpPr>
          <p:nvPr>
            <p:ph idx="1"/>
          </p:nvPr>
        </p:nvSpPr>
        <p:spPr>
          <a:xfrm>
            <a:off x="228601" y="2133600"/>
            <a:ext cx="8305800" cy="4724400"/>
          </a:xfrm>
        </p:spPr>
        <p:txBody>
          <a:bodyPr/>
          <a:lstStyle/>
          <a:p>
            <a:r>
              <a:rPr lang="en-US" sz="2800" dirty="0">
                <a:latin typeface="Times New Roman" panose="02020603050405020304" pitchFamily="18" charset="0"/>
                <a:cs typeface="Times New Roman" panose="02020603050405020304" pitchFamily="18" charset="0"/>
              </a:rPr>
              <a:t>to determine the features of the proposed project. the need for the project, and the potential alternatives, which have already been or may now be, considered.</a:t>
            </a:r>
          </a:p>
          <a:p>
            <a:endParaRPr lang="en-IN" dirty="0"/>
          </a:p>
        </p:txBody>
      </p:sp>
    </p:spTree>
    <p:extLst>
      <p:ext uri="{BB962C8B-B14F-4D97-AF65-F5344CB8AC3E}">
        <p14:creationId xmlns:p14="http://schemas.microsoft.com/office/powerpoint/2010/main" val="12928139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A7C32-37E8-73C1-656F-A75EC1E0F728}"/>
              </a:ext>
            </a:extLst>
          </p:cNvPr>
          <p:cNvSpPr>
            <a:spLocks noGrp="1"/>
          </p:cNvSpPr>
          <p:nvPr>
            <p:ph type="title"/>
          </p:nvPr>
        </p:nvSpPr>
        <p:spPr>
          <a:xfrm>
            <a:off x="381000" y="239486"/>
            <a:ext cx="9601200" cy="1905000"/>
          </a:xfrm>
        </p:spPr>
        <p:txBody>
          <a:bodyPr>
            <a:normAutofit/>
          </a:bodyPr>
          <a:lstStyle/>
          <a:p>
            <a:r>
              <a:rPr lang="en-US" dirty="0">
                <a:latin typeface="Times New Roman" panose="02020603050405020304" pitchFamily="18" charset="0"/>
                <a:cs typeface="Times New Roman" panose="02020603050405020304" pitchFamily="18" charset="0"/>
              </a:rPr>
              <a:t>Step 2: Description of Existing Surface - Water Resource Conditions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773C3CB-1125-FB47-7D45-D11F67474746}"/>
              </a:ext>
            </a:extLst>
          </p:cNvPr>
          <p:cNvSpPr>
            <a:spLocks noGrp="1"/>
          </p:cNvSpPr>
          <p:nvPr>
            <p:ph idx="1"/>
          </p:nvPr>
        </p:nvSpPr>
        <p:spPr>
          <a:xfrm>
            <a:off x="152400" y="1447800"/>
            <a:ext cx="8991600" cy="5257800"/>
          </a:xfrm>
        </p:spPr>
        <p:txBody>
          <a:bodyPr/>
          <a:lstStyle/>
          <a:p>
            <a:r>
              <a:rPr lang="en-US" sz="2800" dirty="0">
                <a:latin typeface="Times New Roman" panose="02020603050405020304" pitchFamily="18" charset="0"/>
                <a:cs typeface="Times New Roman" panose="02020603050405020304" pitchFamily="18" charset="0"/>
              </a:rPr>
              <a:t> involves describing existing conditions of the surface water resource(s) potentially impacted by the project. </a:t>
            </a:r>
          </a:p>
          <a:p>
            <a:r>
              <a:rPr lang="en-US" sz="2800" dirty="0">
                <a:latin typeface="Times New Roman" panose="02020603050405020304" pitchFamily="18" charset="0"/>
                <a:cs typeface="Times New Roman" panose="02020603050405020304" pitchFamily="18" charset="0"/>
              </a:rPr>
              <a:t>Pertinent activities include assembling information on water quantity and quality, identifying unique pollution problems, key climatological information, conducting baseline monitoring, and summarizing information on point - and non-point - pollution sources and on water users and uses</a:t>
            </a:r>
            <a:r>
              <a:rPr lang="en-US" dirty="0"/>
              <a:t>.</a:t>
            </a:r>
            <a:endParaRPr lang="en-IN" dirty="0"/>
          </a:p>
        </p:txBody>
      </p:sp>
    </p:spTree>
    <p:extLst>
      <p:ext uri="{BB962C8B-B14F-4D97-AF65-F5344CB8AC3E}">
        <p14:creationId xmlns:p14="http://schemas.microsoft.com/office/powerpoint/2010/main" val="31595802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461D8-E54A-3814-89EB-6C38CB47A912}"/>
              </a:ext>
            </a:extLst>
          </p:cNvPr>
          <p:cNvSpPr>
            <a:spLocks noGrp="1"/>
          </p:cNvSpPr>
          <p:nvPr>
            <p:ph type="title"/>
          </p:nvPr>
        </p:nvSpPr>
        <p:spPr>
          <a:xfrm>
            <a:off x="533401" y="0"/>
            <a:ext cx="8001000" cy="1905000"/>
          </a:xfrm>
        </p:spPr>
        <p:txBody>
          <a:bodyPr>
            <a:normAutofit/>
          </a:bodyPr>
          <a:lstStyle/>
          <a:p>
            <a:r>
              <a:rPr lang="en-US" dirty="0">
                <a:latin typeface="Times New Roman" panose="02020603050405020304" pitchFamily="18" charset="0"/>
                <a:cs typeface="Times New Roman" panose="02020603050405020304" pitchFamily="18" charset="0"/>
              </a:rPr>
              <a:t>Step 3: Procurement of Relevant Surface-water Quantity-Quality Standards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2094CD-E368-A978-BB28-07194E3CAE9A}"/>
              </a:ext>
            </a:extLst>
          </p:cNvPr>
          <p:cNvSpPr>
            <a:spLocks noGrp="1"/>
          </p:cNvSpPr>
          <p:nvPr>
            <p:ph idx="1"/>
          </p:nvPr>
        </p:nvSpPr>
        <p:spPr>
          <a:xfrm>
            <a:off x="228600" y="1524000"/>
            <a:ext cx="8762999" cy="5181599"/>
          </a:xfrm>
        </p:spPr>
        <p:txBody>
          <a:bodyPr>
            <a:normAutofit/>
          </a:bodyPr>
          <a:lstStyle/>
          <a:p>
            <a:r>
              <a:rPr lang="en-US" sz="2800" dirty="0">
                <a:latin typeface="Times New Roman" panose="02020603050405020304" pitchFamily="18" charset="0"/>
                <a:cs typeface="Times New Roman" panose="02020603050405020304" pitchFamily="18" charset="0"/>
              </a:rPr>
              <a:t>To determine severity of the impact, it is necessary to make use of institutional measures for determining the impact significance. Surface-water quantity and quality standards, regulations, or policies are examples of these measures.</a:t>
            </a:r>
          </a:p>
        </p:txBody>
      </p:sp>
    </p:spTree>
    <p:extLst>
      <p:ext uri="{BB962C8B-B14F-4D97-AF65-F5344CB8AC3E}">
        <p14:creationId xmlns:p14="http://schemas.microsoft.com/office/powerpoint/2010/main" val="19690880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33EAC-1D3B-6574-6540-9224D23E59B1}"/>
              </a:ext>
            </a:extLst>
          </p:cNvPr>
          <p:cNvSpPr>
            <a:spLocks noGrp="1"/>
          </p:cNvSpPr>
          <p:nvPr>
            <p:ph type="title"/>
          </p:nvPr>
        </p:nvSpPr>
        <p:spPr>
          <a:xfrm>
            <a:off x="609601" y="0"/>
            <a:ext cx="7924800" cy="1905000"/>
          </a:xfrm>
        </p:spPr>
        <p:txBody>
          <a:bodyPr/>
          <a:lstStyle/>
          <a:p>
            <a:r>
              <a:rPr lang="en-US" dirty="0">
                <a:latin typeface="Times New Roman" panose="02020603050405020304" pitchFamily="18" charset="0"/>
                <a:cs typeface="Times New Roman" panose="02020603050405020304" pitchFamily="18" charset="0"/>
              </a:rPr>
              <a:t>Step 4 :Impact Prediction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1A854A4-4CC3-532A-4B42-CDC7C10DF155}"/>
              </a:ext>
            </a:extLst>
          </p:cNvPr>
          <p:cNvSpPr>
            <a:spLocks noGrp="1"/>
          </p:cNvSpPr>
          <p:nvPr>
            <p:ph idx="1"/>
          </p:nvPr>
        </p:nvSpPr>
        <p:spPr>
          <a:xfrm>
            <a:off x="381000" y="1219200"/>
            <a:ext cx="8762999" cy="5638800"/>
          </a:xfrm>
        </p:spPr>
        <p:txBody>
          <a:bodyPr>
            <a:normAutofit/>
          </a:bodyPr>
          <a:lstStyle/>
          <a:p>
            <a:r>
              <a:rPr lang="en-US" sz="2800" dirty="0">
                <a:latin typeface="Times New Roman" panose="02020603050405020304" pitchFamily="18" charset="0"/>
                <a:cs typeface="Times New Roman" panose="02020603050405020304" pitchFamily="18" charset="0"/>
              </a:rPr>
              <a:t>"Impact prediction" refers to the quantification (or, at least, the qualitative description), where possible, of the anticipated impacts of the proposed project on various surface water environment factors. </a:t>
            </a:r>
          </a:p>
          <a:p>
            <a:pPr lvl="1"/>
            <a:r>
              <a:rPr lang="en-US" sz="2400" dirty="0">
                <a:latin typeface="Times New Roman" panose="02020603050405020304" pitchFamily="18" charset="0"/>
                <a:cs typeface="Times New Roman" panose="02020603050405020304" pitchFamily="18" charset="0"/>
              </a:rPr>
              <a:t>Because of the complex and dynamic nature of hydrological systems accurate prediction of impacts difficult </a:t>
            </a:r>
          </a:p>
          <a:p>
            <a:pPr lvl="1"/>
            <a:r>
              <a:rPr lang="en-US" sz="2400" dirty="0">
                <a:latin typeface="Times New Roman" panose="02020603050405020304" pitchFamily="18" charset="0"/>
                <a:cs typeface="Times New Roman" panose="02020603050405020304" pitchFamily="18" charset="0"/>
              </a:rPr>
              <a:t>some uncertainties –usually recorded in the EIS. </a:t>
            </a:r>
          </a:p>
          <a:p>
            <a:r>
              <a:rPr lang="en-US" sz="2800" dirty="0">
                <a:latin typeface="Times New Roman" panose="02020603050405020304" pitchFamily="18" charset="0"/>
                <a:cs typeface="Times New Roman" panose="02020603050405020304" pitchFamily="18" charset="0"/>
              </a:rPr>
              <a:t>Three basic approaches for prediction</a:t>
            </a:r>
            <a:endParaRPr lang="en-US" sz="2400" dirty="0">
              <a:latin typeface="Times New Roman" panose="02020603050405020304" pitchFamily="18" charset="0"/>
              <a:cs typeface="Times New Roman" panose="02020603050405020304" pitchFamily="18" charset="0"/>
            </a:endParaRPr>
          </a:p>
          <a:p>
            <a:pPr lvl="1"/>
            <a:r>
              <a:rPr lang="en-US" sz="2600" dirty="0">
                <a:latin typeface="Times New Roman" panose="02020603050405020304" pitchFamily="18" charset="0"/>
                <a:cs typeface="Times New Roman" panose="02020603050405020304" pitchFamily="18" charset="0"/>
              </a:rPr>
              <a:t>Professional Judgement from relevant experience</a:t>
            </a:r>
          </a:p>
          <a:p>
            <a:pPr lvl="1"/>
            <a:r>
              <a:rPr lang="en-US" sz="2600" dirty="0" err="1">
                <a:latin typeface="Times New Roman" panose="02020603050405020304" pitchFamily="18" charset="0"/>
                <a:cs typeface="Times New Roman" panose="02020603050405020304" pitchFamily="18" charset="0"/>
              </a:rPr>
              <a:t>Extraploation</a:t>
            </a:r>
            <a:r>
              <a:rPr lang="en-US" sz="2600" dirty="0">
                <a:latin typeface="Times New Roman" panose="02020603050405020304" pitchFamily="18" charset="0"/>
                <a:cs typeface="Times New Roman" panose="02020603050405020304" pitchFamily="18" charset="0"/>
              </a:rPr>
              <a:t> from similar projects in the past</a:t>
            </a:r>
          </a:p>
          <a:p>
            <a:pPr lvl="1"/>
            <a:r>
              <a:rPr lang="en-US" sz="2600" dirty="0">
                <a:latin typeface="Times New Roman" panose="02020603050405020304" pitchFamily="18" charset="0"/>
                <a:cs typeface="Times New Roman" panose="02020603050405020304" pitchFamily="18" charset="0"/>
              </a:rPr>
              <a:t>Use of mathematical modelling</a:t>
            </a:r>
          </a:p>
        </p:txBody>
      </p:sp>
    </p:spTree>
    <p:extLst>
      <p:ext uri="{BB962C8B-B14F-4D97-AF65-F5344CB8AC3E}">
        <p14:creationId xmlns:p14="http://schemas.microsoft.com/office/powerpoint/2010/main" val="17924931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09B7DE-0E50-AE0E-024C-CAA24FC13C81}"/>
              </a:ext>
            </a:extLst>
          </p:cNvPr>
          <p:cNvSpPr>
            <a:spLocks noGrp="1"/>
          </p:cNvSpPr>
          <p:nvPr>
            <p:ph idx="1"/>
          </p:nvPr>
        </p:nvSpPr>
        <p:spPr>
          <a:xfrm>
            <a:off x="914400" y="76200"/>
            <a:ext cx="8229599" cy="5835022"/>
          </a:xfrm>
        </p:spPr>
        <p:txBody>
          <a:bodyPr>
            <a:normAutofit/>
          </a:bodyPr>
          <a:lstStyle/>
          <a:p>
            <a:r>
              <a:rPr lang="en-US" sz="2400" b="1" dirty="0">
                <a:latin typeface="Times New Roman" panose="02020603050405020304" pitchFamily="18" charset="0"/>
                <a:cs typeface="Times New Roman" panose="02020603050405020304" pitchFamily="18" charset="0"/>
              </a:rPr>
              <a:t>considerations relevant to the prediction of surface water quantity/quality impacts </a:t>
            </a:r>
          </a:p>
          <a:p>
            <a:r>
              <a:rPr lang="en-US" sz="2400" dirty="0">
                <a:latin typeface="Times New Roman" panose="02020603050405020304" pitchFamily="18" charset="0"/>
                <a:cs typeface="Times New Roman" panose="02020603050405020304" pitchFamily="18" charset="0"/>
              </a:rPr>
              <a:t>1. frequency distribution of decreased quality and quantity; </a:t>
            </a:r>
          </a:p>
          <a:p>
            <a:r>
              <a:rPr lang="en-US" sz="2400" dirty="0">
                <a:latin typeface="Times New Roman" panose="02020603050405020304" pitchFamily="18" charset="0"/>
                <a:cs typeface="Times New Roman" panose="02020603050405020304" pitchFamily="18" charset="0"/>
              </a:rPr>
              <a:t>2. effects of sedimentation on the stream-bottom ecosystem; </a:t>
            </a:r>
          </a:p>
          <a:p>
            <a:r>
              <a:rPr lang="en-US" sz="2400" dirty="0">
                <a:latin typeface="Times New Roman" panose="02020603050405020304" pitchFamily="18" charset="0"/>
                <a:cs typeface="Times New Roman" panose="02020603050405020304" pitchFamily="18" charset="0"/>
              </a:rPr>
              <a:t>3. fate of nutrients by incorporation into biomass; </a:t>
            </a:r>
          </a:p>
          <a:p>
            <a:r>
              <a:rPr lang="en-US" sz="2400" dirty="0">
                <a:latin typeface="Times New Roman" panose="02020603050405020304" pitchFamily="18" charset="0"/>
                <a:cs typeface="Times New Roman" panose="02020603050405020304" pitchFamily="18" charset="0"/>
              </a:rPr>
              <a:t>4. reconcentration of metals, pesticides, or radionuclides into the food web; </a:t>
            </a:r>
          </a:p>
          <a:p>
            <a:r>
              <a:rPr lang="en-US" sz="2400" dirty="0">
                <a:latin typeface="Times New Roman" panose="02020603050405020304" pitchFamily="18" charset="0"/>
                <a:cs typeface="Times New Roman" panose="02020603050405020304" pitchFamily="18" charset="0"/>
              </a:rPr>
              <a:t>5. chemical precipitation or oxidation-reduction of inorganic chemicals; and </a:t>
            </a:r>
          </a:p>
          <a:p>
            <a:r>
              <a:rPr lang="en-US" sz="2400" dirty="0">
                <a:latin typeface="Times New Roman" panose="02020603050405020304" pitchFamily="18" charset="0"/>
                <a:cs typeface="Times New Roman" panose="02020603050405020304" pitchFamily="18" charset="0"/>
              </a:rPr>
              <a:t>6. anticipated distance downstream of decreased water quality and the implications for water users and related raw-water quality requirements</a:t>
            </a:r>
            <a:endParaRPr lang="en-IN"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374243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54D61-362A-0914-074A-5D62F2CF6A89}"/>
              </a:ext>
            </a:extLst>
          </p:cNvPr>
          <p:cNvSpPr>
            <a:spLocks noGrp="1"/>
          </p:cNvSpPr>
          <p:nvPr>
            <p:ph type="title"/>
          </p:nvPr>
        </p:nvSpPr>
        <p:spPr>
          <a:xfrm>
            <a:off x="1371599" y="0"/>
            <a:ext cx="7162801" cy="1143000"/>
          </a:xfrm>
        </p:spPr>
        <p:txBody>
          <a:bodyPr>
            <a:normAutofit fontScale="90000"/>
          </a:bodyPr>
          <a:lstStyle/>
          <a:p>
            <a:r>
              <a:rPr lang="en-US" dirty="0">
                <a:latin typeface="Times New Roman" panose="02020603050405020304" pitchFamily="18" charset="0"/>
                <a:cs typeface="Times New Roman" panose="02020603050405020304" pitchFamily="18" charset="0"/>
              </a:rPr>
              <a:t>Step 5 :Interpretation of Impact Significance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24BF480-F9FC-4003-0EC5-C5FDE450A300}"/>
              </a:ext>
            </a:extLst>
          </p:cNvPr>
          <p:cNvSpPr>
            <a:spLocks noGrp="1"/>
          </p:cNvSpPr>
          <p:nvPr>
            <p:ph idx="1"/>
          </p:nvPr>
        </p:nvSpPr>
        <p:spPr>
          <a:xfrm>
            <a:off x="1066801" y="1447800"/>
            <a:ext cx="7467600" cy="4463422"/>
          </a:xfrm>
        </p:spPr>
        <p:txBody>
          <a:bodyPr>
            <a:normAutofit/>
          </a:bodyPr>
          <a:lstStyle/>
          <a:p>
            <a:r>
              <a:rPr lang="en-US" sz="2400" dirty="0">
                <a:latin typeface="Times New Roman" panose="02020603050405020304" pitchFamily="18" charset="0"/>
                <a:cs typeface="Times New Roman" panose="02020603050405020304" pitchFamily="18" charset="0"/>
              </a:rPr>
              <a:t>For protection and assessment of a significant impact by public opinion collection there are a number of specific numerical standards or criteria. </a:t>
            </a:r>
          </a:p>
          <a:p>
            <a:r>
              <a:rPr lang="en-US" sz="2400" dirty="0">
                <a:latin typeface="Times New Roman" panose="02020603050405020304" pitchFamily="18" charset="0"/>
                <a:cs typeface="Times New Roman" panose="02020603050405020304" pitchFamily="18" charset="0"/>
              </a:rPr>
              <a:t>For example, a number efficient discharge standards are prescribed for discharging into lakes or land with professional judgement. </a:t>
            </a:r>
            <a:endParaRPr lang="en-IN" dirty="0"/>
          </a:p>
        </p:txBody>
      </p:sp>
    </p:spTree>
    <p:extLst>
      <p:ext uri="{BB962C8B-B14F-4D97-AF65-F5344CB8AC3E}">
        <p14:creationId xmlns:p14="http://schemas.microsoft.com/office/powerpoint/2010/main" val="42786996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2F4D4-4CFA-000A-9D26-9A02D539CB66}"/>
              </a:ext>
            </a:extLst>
          </p:cNvPr>
          <p:cNvSpPr>
            <a:spLocks noGrp="1"/>
          </p:cNvSpPr>
          <p:nvPr>
            <p:ph type="title"/>
          </p:nvPr>
        </p:nvSpPr>
        <p:spPr>
          <a:xfrm>
            <a:off x="990601" y="0"/>
            <a:ext cx="7543800" cy="1371600"/>
          </a:xfrm>
        </p:spPr>
        <p:txBody>
          <a:bodyPr>
            <a:normAutofit/>
          </a:bodyPr>
          <a:lstStyle/>
          <a:p>
            <a:r>
              <a:rPr lang="en-US" dirty="0">
                <a:latin typeface="Times New Roman" panose="02020603050405020304" pitchFamily="18" charset="0"/>
                <a:cs typeface="Times New Roman" panose="02020603050405020304" pitchFamily="18" charset="0"/>
              </a:rPr>
              <a:t>Step 6: Identification and Incorporation of Mitigation Measures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AAD906B-BABE-8AED-CE99-89FC4ACCD359}"/>
              </a:ext>
            </a:extLst>
          </p:cNvPr>
          <p:cNvSpPr>
            <a:spLocks noGrp="1"/>
          </p:cNvSpPr>
          <p:nvPr>
            <p:ph idx="1"/>
          </p:nvPr>
        </p:nvSpPr>
        <p:spPr>
          <a:xfrm>
            <a:off x="228600" y="1371600"/>
            <a:ext cx="8686800" cy="5029200"/>
          </a:xfrm>
        </p:spPr>
        <p:txBody>
          <a:bodyPr/>
          <a:lstStyle/>
          <a:p>
            <a:r>
              <a:rPr lang="en-US" dirty="0"/>
              <a:t> </a:t>
            </a:r>
            <a:r>
              <a:rPr lang="en-US" sz="2800" dirty="0">
                <a:latin typeface="Times New Roman" panose="02020603050405020304" pitchFamily="18" charset="0"/>
                <a:cs typeface="Times New Roman" panose="02020603050405020304" pitchFamily="18" charset="0"/>
              </a:rPr>
              <a:t>Mitigation measures - need to be added to the project proposal to make it acceptable.</a:t>
            </a:r>
          </a:p>
          <a:p>
            <a:r>
              <a:rPr lang="en-US" sz="2800" dirty="0">
                <a:latin typeface="Times New Roman" panose="02020603050405020304" pitchFamily="18" charset="0"/>
                <a:cs typeface="Times New Roman" panose="02020603050405020304" pitchFamily="18" charset="0"/>
              </a:rPr>
              <a:t>The mitigation measures might consist of decreasing the magnitude of the surface - water impacts or including the features that will compensate for the surface water impacts.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88061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DB591-29EC-B495-81D7-D2FFD805282B}"/>
              </a:ext>
            </a:extLst>
          </p:cNvPr>
          <p:cNvSpPr>
            <a:spLocks noGrp="1"/>
          </p:cNvSpPr>
          <p:nvPr>
            <p:ph type="title"/>
          </p:nvPr>
        </p:nvSpPr>
        <p:spPr>
          <a:xfrm>
            <a:off x="1143000" y="0"/>
            <a:ext cx="8153400" cy="1905000"/>
          </a:xfrm>
        </p:spPr>
        <p:txBody>
          <a:bodyPr>
            <a:normAutofit/>
          </a:bodyPr>
          <a:lstStyle/>
          <a:p>
            <a:r>
              <a:rPr lang="en-US" dirty="0">
                <a:latin typeface="Times New Roman" panose="02020603050405020304" pitchFamily="18" charset="0"/>
                <a:cs typeface="Times New Roman" panose="02020603050405020304" pitchFamily="18" charset="0"/>
              </a:rPr>
              <a:t>Prediction and Assessment of Impacts on the Air Environment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274711C-3F5F-0177-EB70-0767ABCF6192}"/>
              </a:ext>
            </a:extLst>
          </p:cNvPr>
          <p:cNvSpPr>
            <a:spLocks noGrp="1"/>
          </p:cNvSpPr>
          <p:nvPr>
            <p:ph idx="1"/>
          </p:nvPr>
        </p:nvSpPr>
        <p:spPr>
          <a:xfrm>
            <a:off x="228600" y="1524000"/>
            <a:ext cx="8686799" cy="5334000"/>
          </a:xfrm>
        </p:spPr>
        <p:txBody>
          <a:bodyPr>
            <a:normAutofit/>
          </a:bodyPr>
          <a:lstStyle/>
          <a:p>
            <a:pPr algn="just"/>
            <a:r>
              <a:rPr lang="en-US" sz="2800" dirty="0">
                <a:latin typeface="Times New Roman" panose="02020603050405020304" pitchFamily="18" charset="0"/>
                <a:cs typeface="Times New Roman" panose="02020603050405020304" pitchFamily="18" charset="0"/>
              </a:rPr>
              <a:t>Many developmental activities will add air pollutants to the atmosphere or alter the weather and climate result in adverse effects on people, plants, animals, materials buildings etc.</a:t>
            </a:r>
          </a:p>
          <a:p>
            <a:pPr algn="just"/>
            <a:r>
              <a:rPr lang="en-US" sz="2800" dirty="0">
                <a:latin typeface="Times New Roman" panose="02020603050405020304" pitchFamily="18" charset="0"/>
                <a:cs typeface="Times New Roman" panose="02020603050405020304" pitchFamily="18" charset="0"/>
              </a:rPr>
              <a:t> effects can occur at local, regional or even global scale. </a:t>
            </a:r>
          </a:p>
          <a:p>
            <a:pPr algn="just"/>
            <a:r>
              <a:rPr lang="en-US" sz="2800" dirty="0">
                <a:latin typeface="Times New Roman" panose="02020603050405020304" pitchFamily="18" charset="0"/>
                <a:cs typeface="Times New Roman" panose="02020603050405020304" pitchFamily="18" charset="0"/>
              </a:rPr>
              <a:t> evaluation of  air quality impacts -a six step methodological approach.</a:t>
            </a:r>
          </a:p>
          <a:p>
            <a:pPr algn="just"/>
            <a:r>
              <a:rPr lang="en-US"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00105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67BF1-56BA-89E0-9F0B-94042DFE1E96}"/>
              </a:ext>
            </a:extLst>
          </p:cNvPr>
          <p:cNvSpPr>
            <a:spLocks noGrp="1"/>
          </p:cNvSpPr>
          <p:nvPr>
            <p:ph type="title"/>
          </p:nvPr>
        </p:nvSpPr>
        <p:spPr>
          <a:xfrm>
            <a:off x="1371600" y="624110"/>
            <a:ext cx="7619999" cy="1280890"/>
          </a:xfrm>
        </p:spPr>
        <p:txBody>
          <a:bodyPr/>
          <a:lstStyle/>
          <a:p>
            <a:r>
              <a:rPr lang="en-US" dirty="0">
                <a:latin typeface="Times New Roman" panose="02020603050405020304" pitchFamily="18" charset="0"/>
                <a:cs typeface="Times New Roman" panose="02020603050405020304" pitchFamily="18" charset="0"/>
              </a:rPr>
              <a:t>Basic Information on Air Pollution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34F5D11-F0DF-65F2-EDF1-390F4AC1DD20}"/>
              </a:ext>
            </a:extLst>
          </p:cNvPr>
          <p:cNvSpPr>
            <a:spLocks noGrp="1"/>
          </p:cNvSpPr>
          <p:nvPr>
            <p:ph idx="1"/>
          </p:nvPr>
        </p:nvSpPr>
        <p:spPr>
          <a:xfrm>
            <a:off x="152401" y="1676400"/>
            <a:ext cx="8839198" cy="5029200"/>
          </a:xfrm>
        </p:spPr>
        <p:txBody>
          <a:bodyPr>
            <a:normAutofit/>
          </a:bodyPr>
          <a:lstStyle/>
          <a:p>
            <a:pPr algn="just"/>
            <a:r>
              <a:rPr lang="en-US" sz="2800" dirty="0">
                <a:latin typeface="Times New Roman" panose="02020603050405020304" pitchFamily="18" charset="0"/>
                <a:cs typeface="Times New Roman" panose="02020603050405020304" pitchFamily="18" charset="0"/>
              </a:rPr>
              <a:t>For systematically evaluating the impacts of potential projects or activities on air quality, the basic information on air pollution </a:t>
            </a:r>
            <a:r>
              <a:rPr lang="en-US" sz="2800" dirty="0">
                <a:solidFill>
                  <a:srgbClr val="FF0000"/>
                </a:solidFill>
                <a:latin typeface="Times New Roman" panose="02020603050405020304" pitchFamily="18" charset="0"/>
                <a:cs typeface="Times New Roman" panose="02020603050405020304" pitchFamily="18" charset="0"/>
              </a:rPr>
              <a:t>sources </a:t>
            </a:r>
            <a:r>
              <a:rPr lang="en-US" sz="2800" dirty="0">
                <a:latin typeface="Times New Roman" panose="02020603050405020304" pitchFamily="18" charset="0"/>
                <a:cs typeface="Times New Roman" panose="02020603050405020304" pitchFamily="18" charset="0"/>
              </a:rPr>
              <a:t>and the </a:t>
            </a:r>
            <a:r>
              <a:rPr lang="en-US" sz="2800" dirty="0">
                <a:solidFill>
                  <a:srgbClr val="FF0000"/>
                </a:solidFill>
                <a:latin typeface="Times New Roman" panose="02020603050405020304" pitchFamily="18" charset="0"/>
                <a:cs typeface="Times New Roman" panose="02020603050405020304" pitchFamily="18" charset="0"/>
              </a:rPr>
              <a:t>effects </a:t>
            </a:r>
            <a:r>
              <a:rPr lang="en-US" sz="2800" dirty="0">
                <a:latin typeface="Times New Roman" panose="02020603050405020304" pitchFamily="18" charset="0"/>
                <a:cs typeface="Times New Roman" panose="02020603050405020304" pitchFamily="18" charset="0"/>
              </a:rPr>
              <a:t>of specific air pollutants have to be examined.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61124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E6862-E122-9C4E-6153-DA34302A80CE}"/>
              </a:ext>
            </a:extLst>
          </p:cNvPr>
          <p:cNvSpPr>
            <a:spLocks noGrp="1"/>
          </p:cNvSpPr>
          <p:nvPr>
            <p:ph type="title"/>
          </p:nvPr>
        </p:nvSpPr>
        <p:spPr>
          <a:xfrm>
            <a:off x="990599" y="0"/>
            <a:ext cx="7543801" cy="1905000"/>
          </a:xfrm>
        </p:spPr>
        <p:txBody>
          <a:bodyPr/>
          <a:lstStyle/>
          <a:p>
            <a:r>
              <a:rPr lang="en-US" dirty="0">
                <a:latin typeface="Times New Roman" panose="02020603050405020304" pitchFamily="18" charset="0"/>
                <a:cs typeface="Times New Roman" panose="02020603050405020304" pitchFamily="18" charset="0"/>
              </a:rPr>
              <a:t>Air Pollution Sources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3F9C40D-DC31-C3D5-C800-6CDF817B7B78}"/>
              </a:ext>
            </a:extLst>
          </p:cNvPr>
          <p:cNvSpPr>
            <a:spLocks noGrp="1"/>
          </p:cNvSpPr>
          <p:nvPr>
            <p:ph idx="1"/>
          </p:nvPr>
        </p:nvSpPr>
        <p:spPr>
          <a:xfrm>
            <a:off x="381000" y="1143000"/>
            <a:ext cx="8610600" cy="5715000"/>
          </a:xfrm>
        </p:spPr>
        <p:txBody>
          <a:bodyPr>
            <a:normAutofit/>
          </a:bodyPr>
          <a:lstStyle/>
          <a:p>
            <a:r>
              <a:rPr lang="en-US" sz="2400" dirty="0">
                <a:solidFill>
                  <a:srgbClr val="00B050"/>
                </a:solidFill>
                <a:latin typeface="Times New Roman" panose="02020603050405020304" pitchFamily="18" charset="0"/>
                <a:cs typeface="Times New Roman" panose="02020603050405020304" pitchFamily="18" charset="0"/>
              </a:rPr>
              <a:t>natural sources or from man- made sources</a:t>
            </a:r>
            <a:r>
              <a:rPr lang="en-US" sz="2400" dirty="0">
                <a:latin typeface="Times New Roman" panose="02020603050405020304" pitchFamily="18" charset="0"/>
                <a:cs typeface="Times New Roman" panose="02020603050405020304" pitchFamily="18" charset="0"/>
              </a:rPr>
              <a:t>. </a:t>
            </a:r>
          </a:p>
          <a:p>
            <a:pPr lvl="1" algn="just"/>
            <a:r>
              <a:rPr lang="en-US" sz="2400" dirty="0">
                <a:latin typeface="Times New Roman" panose="02020603050405020304" pitchFamily="18" charset="0"/>
                <a:cs typeface="Times New Roman" panose="02020603050405020304" pitchFamily="18" charset="0"/>
              </a:rPr>
              <a:t>Sources like windblown dust, volcanic eruptions, Lightning- generated forest fires and biological activity -natural sources </a:t>
            </a:r>
          </a:p>
          <a:p>
            <a:pPr lvl="1" algn="just"/>
            <a:r>
              <a:rPr lang="en-US" sz="2400" dirty="0">
                <a:latin typeface="Times New Roman" panose="02020603050405020304" pitchFamily="18" charset="0"/>
                <a:cs typeface="Times New Roman" panose="02020603050405020304" pitchFamily="18" charset="0"/>
              </a:rPr>
              <a:t>transportation vehicles, industrial processes, power plants, construction activities, and military training activities -man- made sources. </a:t>
            </a:r>
          </a:p>
          <a:p>
            <a:pPr algn="just"/>
            <a:r>
              <a:rPr lang="en-US" sz="2400" dirty="0">
                <a:solidFill>
                  <a:srgbClr val="00B050"/>
                </a:solidFill>
                <a:latin typeface="Times New Roman" panose="02020603050405020304" pitchFamily="18" charset="0"/>
                <a:cs typeface="Times New Roman" panose="02020603050405020304" pitchFamily="18" charset="0"/>
              </a:rPr>
              <a:t>single or point sources (stationary)or area or multiple sources (stationary or mobile)</a:t>
            </a:r>
          </a:p>
          <a:p>
            <a:pPr lvl="1" algn="just"/>
            <a:r>
              <a:rPr lang="en-US" sz="2400" dirty="0">
                <a:latin typeface="Times New Roman" panose="02020603050405020304" pitchFamily="18" charset="0"/>
                <a:cs typeface="Times New Roman" panose="02020603050405020304" pitchFamily="18" charset="0"/>
              </a:rPr>
              <a:t> Pollutant emissions from industrial process stacks, as well as stacks of different fuel combustion processes -point sources, </a:t>
            </a:r>
          </a:p>
          <a:p>
            <a:pPr lvl="1" algn="just"/>
            <a:r>
              <a:rPr lang="en-US" sz="2400" dirty="0">
                <a:latin typeface="Times New Roman" panose="02020603050405020304" pitchFamily="18" charset="0"/>
                <a:cs typeface="Times New Roman" panose="02020603050405020304" pitchFamily="18" charset="0"/>
              </a:rPr>
              <a:t>vehicular traffic, fugitive - dust emissions from resource - material stockpiles or construction, or military training activities over large geographical areas -area sources.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00748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3179A-76B4-DA56-743D-05C26DC35842}"/>
              </a:ext>
            </a:extLst>
          </p:cNvPr>
          <p:cNvSpPr>
            <a:spLocks noGrp="1"/>
          </p:cNvSpPr>
          <p:nvPr>
            <p:ph type="title"/>
          </p:nvPr>
        </p:nvSpPr>
        <p:spPr>
          <a:xfrm>
            <a:off x="1447801" y="0"/>
            <a:ext cx="7086600" cy="685800"/>
          </a:xfrm>
        </p:spPr>
        <p:txBody>
          <a:bodyPr/>
          <a:lstStyle/>
          <a:p>
            <a:r>
              <a:rPr lang="en-US" dirty="0">
                <a:latin typeface="Times New Roman" panose="02020603050405020304" pitchFamily="18" charset="0"/>
                <a:cs typeface="Times New Roman" panose="02020603050405020304" pitchFamily="18" charset="0"/>
              </a:rPr>
              <a:t>Air Pollution Effect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640BD70-78CC-80A0-1220-FEEB61BE182C}"/>
              </a:ext>
            </a:extLst>
          </p:cNvPr>
          <p:cNvSpPr>
            <a:spLocks noGrp="1"/>
          </p:cNvSpPr>
          <p:nvPr>
            <p:ph idx="1"/>
          </p:nvPr>
        </p:nvSpPr>
        <p:spPr>
          <a:xfrm>
            <a:off x="914400" y="718457"/>
            <a:ext cx="8305800" cy="6139544"/>
          </a:xfrm>
        </p:spPr>
        <p:txBody>
          <a:bodyPr>
            <a:normAutofit/>
          </a:bodyPr>
          <a:lstStyle/>
          <a:p>
            <a:r>
              <a:rPr lang="en-US" sz="2000" dirty="0">
                <a:latin typeface="Times New Roman" panose="02020603050405020304" pitchFamily="18" charset="0"/>
                <a:cs typeface="Times New Roman" panose="02020603050405020304" pitchFamily="18" charset="0"/>
              </a:rPr>
              <a:t>The air pollution effects can be </a:t>
            </a:r>
          </a:p>
          <a:p>
            <a:r>
              <a:rPr lang="en-US" sz="2000" dirty="0">
                <a:latin typeface="Times New Roman" panose="02020603050405020304" pitchFamily="18" charset="0"/>
                <a:cs typeface="Times New Roman" panose="02020603050405020304" pitchFamily="18" charset="0"/>
              </a:rPr>
              <a:t>effects on human health include eye irritation, headaches, and aggravation of respiratory difficulties.</a:t>
            </a:r>
          </a:p>
          <a:p>
            <a:r>
              <a:rPr lang="en-US" sz="2000" dirty="0">
                <a:latin typeface="Times New Roman" panose="02020603050405020304" pitchFamily="18" charset="0"/>
                <a:cs typeface="Times New Roman" panose="02020603050405020304" pitchFamily="18" charset="0"/>
              </a:rPr>
              <a:t> Plants and crops will be subjected to the undesirable consequences of air pollution, including abnormal growth patterns, leaf discoloration or spotting and death. </a:t>
            </a:r>
          </a:p>
          <a:p>
            <a:r>
              <a:rPr lang="en-US" sz="2000" dirty="0">
                <a:latin typeface="Times New Roman" panose="02020603050405020304" pitchFamily="18" charset="0"/>
                <a:cs typeface="Times New Roman" panose="02020603050405020304" pitchFamily="18" charset="0"/>
              </a:rPr>
              <a:t>Animals such as cattle will be subjected to undesirable consequences of atmospheric fluorides.</a:t>
            </a:r>
          </a:p>
          <a:p>
            <a:r>
              <a:rPr lang="en-US" sz="2000" dirty="0">
                <a:latin typeface="Times New Roman" panose="02020603050405020304" pitchFamily="18" charset="0"/>
                <a:cs typeface="Times New Roman" panose="02020603050405020304" pitchFamily="18" charset="0"/>
              </a:rPr>
              <a:t> (b) Materials damage examples are : property devaluation because of </a:t>
            </a:r>
            <a:r>
              <a:rPr lang="en-US" sz="2000" dirty="0" err="1">
                <a:latin typeface="Times New Roman" panose="02020603050405020304" pitchFamily="18" charset="0"/>
                <a:cs typeface="Times New Roman" panose="02020603050405020304" pitchFamily="18" charset="0"/>
              </a:rPr>
              <a:t>odours</a:t>
            </a:r>
            <a:r>
              <a:rPr lang="en-US" sz="2000" dirty="0">
                <a:latin typeface="Times New Roman" panose="02020603050405020304" pitchFamily="18" charset="0"/>
                <a:cs typeface="Times New Roman" panose="02020603050405020304" pitchFamily="18" charset="0"/>
              </a:rPr>
              <a:t>, deterioration of materials such as concrete statuary, and discoloration of painted surfaces on cars, buildings, and bridge structures. </a:t>
            </a:r>
          </a:p>
          <a:p>
            <a:r>
              <a:rPr lang="en-US" sz="2000" dirty="0">
                <a:latin typeface="Times New Roman" panose="02020603050405020304" pitchFamily="18" charset="0"/>
                <a:cs typeface="Times New Roman" panose="02020603050405020304" pitchFamily="18" charset="0"/>
              </a:rPr>
              <a:t>(c) Effects on climatic changes include green house effects, ozone depletion, etc.</a:t>
            </a:r>
          </a:p>
          <a:p>
            <a:r>
              <a:rPr lang="en-US" sz="2000" dirty="0">
                <a:latin typeface="Times New Roman" panose="02020603050405020304" pitchFamily="18" charset="0"/>
                <a:cs typeface="Times New Roman" panose="02020603050405020304" pitchFamily="18" charset="0"/>
              </a:rPr>
              <a:t> (d) The aesthetic effects include reductions in visibility. discoloration of air, photochemical smog - related traffic disruptions at airports, and the general nuisance aspects of odors and dust.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83109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2F4BD-DDAD-E61F-4D3E-5C227F0ED9F8}"/>
              </a:ext>
            </a:extLst>
          </p:cNvPr>
          <p:cNvSpPr>
            <a:spLocks noGrp="1"/>
          </p:cNvSpPr>
          <p:nvPr>
            <p:ph type="title"/>
          </p:nvPr>
        </p:nvSpPr>
        <p:spPr>
          <a:xfrm>
            <a:off x="381000" y="-152400"/>
            <a:ext cx="8610599" cy="2057400"/>
          </a:xfrm>
        </p:spPr>
        <p:txBody>
          <a:bodyPr>
            <a:normAutofit/>
          </a:bodyPr>
          <a:lstStyle/>
          <a:p>
            <a:r>
              <a:rPr lang="en-US" dirty="0">
                <a:latin typeface="Times New Roman" panose="02020603050405020304" pitchFamily="18" charset="0"/>
                <a:cs typeface="Times New Roman" panose="02020603050405020304" pitchFamily="18" charset="0"/>
              </a:rPr>
              <a:t>Generalized Approach for Assessment of Air Pollution Impact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AC33985-DDAB-F17A-3663-DFBE3D3BBD5D}"/>
              </a:ext>
            </a:extLst>
          </p:cNvPr>
          <p:cNvSpPr>
            <a:spLocks noGrp="1"/>
          </p:cNvSpPr>
          <p:nvPr>
            <p:ph idx="1"/>
          </p:nvPr>
        </p:nvSpPr>
        <p:spPr>
          <a:xfrm>
            <a:off x="0" y="1295400"/>
            <a:ext cx="9296399" cy="5562600"/>
          </a:xfrm>
        </p:spPr>
        <p:txBody>
          <a:bodyPr>
            <a:normAutofit/>
          </a:bodyPr>
          <a:lstStyle/>
          <a:p>
            <a:r>
              <a:rPr lang="en-US" sz="2000" b="1" i="1" dirty="0">
                <a:latin typeface="Times New Roman" panose="02020603050405020304" pitchFamily="18" charset="0"/>
                <a:cs typeface="Times New Roman" panose="02020603050405020304" pitchFamily="18" charset="0"/>
              </a:rPr>
              <a:t>six- step or six-activity model </a:t>
            </a:r>
          </a:p>
          <a:p>
            <a:r>
              <a:rPr lang="en-US" sz="2000" dirty="0">
                <a:latin typeface="Times New Roman" panose="02020603050405020304" pitchFamily="18" charset="0"/>
                <a:cs typeface="Times New Roman" panose="02020603050405020304" pitchFamily="18" charset="0"/>
              </a:rPr>
              <a:t>I. Evaluation and identification of sources and quantity of air pollutant emissions of different phases of the proposed activity like the construction operation and development: </a:t>
            </a:r>
          </a:p>
          <a:p>
            <a:r>
              <a:rPr lang="en-US" sz="2000" dirty="0">
                <a:latin typeface="Times New Roman" panose="02020603050405020304" pitchFamily="18" charset="0"/>
                <a:cs typeface="Times New Roman" panose="02020603050405020304" pitchFamily="18" charset="0"/>
              </a:rPr>
              <a:t>2. Detailed evaluation of the project area for the existing ambient air quality. emission inventory, and meteorological data; </a:t>
            </a:r>
          </a:p>
          <a:p>
            <a:r>
              <a:rPr lang="en-US" sz="2000" dirty="0">
                <a:latin typeface="Times New Roman" panose="02020603050405020304" pitchFamily="18" charset="0"/>
                <a:cs typeface="Times New Roman" panose="02020603050405020304" pitchFamily="18" charset="0"/>
              </a:rPr>
              <a:t>3. Examination of appropriate laws. regulations, or criteria to be followed for maintaining ambient air quality and I or pollutant emission standards;</a:t>
            </a:r>
          </a:p>
          <a:p>
            <a:r>
              <a:rPr lang="en-US" sz="2000" dirty="0">
                <a:latin typeface="Times New Roman" panose="02020603050405020304" pitchFamily="18" charset="0"/>
                <a:cs typeface="Times New Roman" panose="02020603050405020304" pitchFamily="18" charset="0"/>
              </a:rPr>
              <a:t> 4. Carrying out impact assessment studies adopting mass balances, dispersion calculations. comprehensive mathematical models. and! or qualitative predictions based on case studies and professional judgement; </a:t>
            </a:r>
          </a:p>
          <a:p>
            <a:r>
              <a:rPr lang="en-US" sz="2000" dirty="0">
                <a:latin typeface="Times New Roman" panose="02020603050405020304" pitchFamily="18" charset="0"/>
                <a:cs typeface="Times New Roman" panose="02020603050405020304" pitchFamily="18" charset="0"/>
              </a:rPr>
              <a:t>5. Assessment of significance of anticipated beneficial and detrimental impacts; and </a:t>
            </a:r>
          </a:p>
          <a:p>
            <a:r>
              <a:rPr lang="en-US" sz="2000" dirty="0">
                <a:latin typeface="Times New Roman" panose="02020603050405020304" pitchFamily="18" charset="0"/>
                <a:cs typeface="Times New Roman" panose="02020603050405020304" pitchFamily="18" charset="0"/>
              </a:rPr>
              <a:t>6. Development of appropriate mitigation remediation measures for the adverse impacts.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44790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33F7-A854-C860-9757-65DBCF88D953}"/>
              </a:ext>
            </a:extLst>
          </p:cNvPr>
          <p:cNvSpPr>
            <a:spLocks noGrp="1"/>
          </p:cNvSpPr>
          <p:nvPr>
            <p:ph type="title"/>
          </p:nvPr>
        </p:nvSpPr>
        <p:spPr>
          <a:xfrm>
            <a:off x="152400" y="228600"/>
            <a:ext cx="8991599" cy="1295400"/>
          </a:xfrm>
        </p:spPr>
        <p:txBody>
          <a:bodyPr>
            <a:normAutofit fontScale="90000"/>
          </a:bodyPr>
          <a:lstStyle/>
          <a:p>
            <a:pPr algn="just"/>
            <a:r>
              <a:rPr lang="en-US" sz="3100" dirty="0"/>
              <a:t>1. </a:t>
            </a:r>
            <a:r>
              <a:rPr lang="en-US" sz="3100" dirty="0">
                <a:latin typeface="Times New Roman" panose="02020603050405020304" pitchFamily="18" charset="0"/>
                <a:cs typeface="Times New Roman" panose="02020603050405020304" pitchFamily="18" charset="0"/>
              </a:rPr>
              <a:t>Evaluation and identification of sources and quantity of air pollutant emissions of different phases of the proposed activity like the construction operation and development</a:t>
            </a:r>
            <a:r>
              <a:rPr lang="en-US" dirty="0">
                <a:latin typeface="Times New Roman" panose="02020603050405020304" pitchFamily="18" charset="0"/>
                <a:cs typeface="Times New Roman" panose="02020603050405020304" pitchFamily="18" charset="0"/>
              </a:rPr>
              <a:t>: </a:t>
            </a:r>
            <a:br>
              <a:rPr lang="en-US" dirty="0"/>
            </a:br>
            <a:endParaRPr lang="en-IN" dirty="0"/>
          </a:p>
        </p:txBody>
      </p:sp>
      <p:sp>
        <p:nvSpPr>
          <p:cNvPr id="3" name="Content Placeholder 2">
            <a:extLst>
              <a:ext uri="{FF2B5EF4-FFF2-40B4-BE49-F238E27FC236}">
                <a16:creationId xmlns:a16="http://schemas.microsoft.com/office/drawing/2014/main" id="{381CCBE1-65FF-8307-B200-61F9D6AC1751}"/>
              </a:ext>
            </a:extLst>
          </p:cNvPr>
          <p:cNvSpPr>
            <a:spLocks noGrp="1"/>
          </p:cNvSpPr>
          <p:nvPr>
            <p:ph idx="1"/>
          </p:nvPr>
        </p:nvSpPr>
        <p:spPr>
          <a:xfrm>
            <a:off x="304801" y="2133600"/>
            <a:ext cx="8229600" cy="5029200"/>
          </a:xfrm>
        </p:spPr>
        <p:txBody>
          <a:bodyPr>
            <a:normAutofit/>
          </a:bodyPr>
          <a:lstStyle/>
          <a:p>
            <a:pPr algn="just"/>
            <a:r>
              <a:rPr lang="en-US" sz="2400" dirty="0">
                <a:latin typeface="Times New Roman" panose="02020603050405020304" pitchFamily="18" charset="0"/>
                <a:cs typeface="Times New Roman" panose="02020603050405020304" pitchFamily="18" charset="0"/>
              </a:rPr>
              <a:t>has to examine what types of air pollutants are likely to be emitted during the construction and / or operational phases of the proposed project - activity, and their quantities.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23510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955750E-3D8B-4C01-74E6-73830251A1A7}"/>
              </a:ext>
            </a:extLst>
          </p:cNvPr>
          <p:cNvPicPr>
            <a:picLocks noGrp="1" noChangeAspect="1"/>
          </p:cNvPicPr>
          <p:nvPr>
            <p:ph idx="1"/>
          </p:nvPr>
        </p:nvPicPr>
        <p:blipFill>
          <a:blip r:embed="rId2"/>
          <a:stretch>
            <a:fillRect/>
          </a:stretch>
        </p:blipFill>
        <p:spPr>
          <a:xfrm>
            <a:off x="533400" y="533400"/>
            <a:ext cx="8305800" cy="5362732"/>
          </a:xfrm>
        </p:spPr>
      </p:pic>
    </p:spTree>
    <p:extLst>
      <p:ext uri="{BB962C8B-B14F-4D97-AF65-F5344CB8AC3E}">
        <p14:creationId xmlns:p14="http://schemas.microsoft.com/office/powerpoint/2010/main" val="10817637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A54A3-C9F6-044B-FA32-991BD6345F0D}"/>
              </a:ext>
            </a:extLst>
          </p:cNvPr>
          <p:cNvSpPr>
            <a:spLocks noGrp="1"/>
          </p:cNvSpPr>
          <p:nvPr>
            <p:ph type="title"/>
          </p:nvPr>
        </p:nvSpPr>
        <p:spPr>
          <a:xfrm>
            <a:off x="609600" y="0"/>
            <a:ext cx="8534399" cy="1905000"/>
          </a:xfrm>
        </p:spPr>
        <p:txBody>
          <a:bodyPr>
            <a:normAutofit fontScale="90000"/>
          </a:bodyPr>
          <a:lstStyle/>
          <a:p>
            <a:r>
              <a:rPr lang="en-US" dirty="0">
                <a:latin typeface="Times New Roman" panose="02020603050405020304" pitchFamily="18" charset="0"/>
                <a:cs typeface="Times New Roman" panose="02020603050405020304" pitchFamily="18" charset="0"/>
              </a:rPr>
              <a:t>2.Detailed evaluation of the project area for the existing ambient air quality, emission inventory, and meteorological data</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F4EF24-DA07-A2C6-A631-B73728D22C34}"/>
              </a:ext>
            </a:extLst>
          </p:cNvPr>
          <p:cNvSpPr>
            <a:spLocks noGrp="1"/>
          </p:cNvSpPr>
          <p:nvPr>
            <p:ph idx="1"/>
          </p:nvPr>
        </p:nvSpPr>
        <p:spPr>
          <a:xfrm>
            <a:off x="609600" y="2133600"/>
            <a:ext cx="8381999" cy="4572000"/>
          </a:xfrm>
        </p:spPr>
        <p:txBody>
          <a:bodyPr>
            <a:normAutofit/>
          </a:bodyPr>
          <a:lstStyle/>
          <a:p>
            <a:pPr algn="just"/>
            <a:r>
              <a:rPr lang="en-US" sz="2400" dirty="0">
                <a:latin typeface="Times New Roman" panose="02020603050405020304" pitchFamily="18" charset="0"/>
                <a:cs typeface="Times New Roman" panose="02020603050405020304" pitchFamily="18" charset="0"/>
              </a:rPr>
              <a:t>Ambient air quality of the study area is to be studied by collecting air samples from different locations of study area</a:t>
            </a:r>
          </a:p>
          <a:p>
            <a:pPr algn="just"/>
            <a:r>
              <a:rPr lang="en-US" sz="2400" dirty="0">
                <a:latin typeface="Times New Roman" panose="02020603050405020304" pitchFamily="18" charset="0"/>
                <a:cs typeface="Times New Roman" panose="02020603050405020304" pitchFamily="18" charset="0"/>
              </a:rPr>
              <a:t>This will help in assessing the present pollution levels of air in that locality .</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If pollution levels are higher presently, there are chances for it to deteriorate even more in the future due to the project</a:t>
            </a:r>
          </a:p>
          <a:p>
            <a:pPr algn="just"/>
            <a:r>
              <a:rPr lang="en-IN" sz="2400" dirty="0">
                <a:latin typeface="Times New Roman" panose="02020603050405020304" pitchFamily="18" charset="0"/>
                <a:cs typeface="Times New Roman" panose="02020603050405020304" pitchFamily="18" charset="0"/>
              </a:rPr>
              <a:t>Therefore this baseline data will be helpful for the decision makers to take a decision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31605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D6AD4-0454-C8EC-DC32-719FE95F8E98}"/>
              </a:ext>
            </a:extLst>
          </p:cNvPr>
          <p:cNvSpPr>
            <a:spLocks noGrp="1"/>
          </p:cNvSpPr>
          <p:nvPr>
            <p:ph type="title"/>
          </p:nvPr>
        </p:nvSpPr>
        <p:spPr>
          <a:xfrm>
            <a:off x="304801" y="152400"/>
            <a:ext cx="8229600" cy="1752600"/>
          </a:xfrm>
        </p:spPr>
        <p:txBody>
          <a:bodyPr>
            <a:normAutofit/>
          </a:bodyPr>
          <a:lstStyle/>
          <a:p>
            <a:r>
              <a:rPr lang="en-US" dirty="0">
                <a:latin typeface="Times New Roman" panose="02020603050405020304" pitchFamily="18" charset="0"/>
                <a:cs typeface="Times New Roman" panose="02020603050405020304" pitchFamily="18" charset="0"/>
              </a:rPr>
              <a:t>3.Examination of Appropriate Air Quality Emission Regulation Laws and Air Quality Standards.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550F6CF-D539-B53C-E1A3-7881C46BC2E5}"/>
              </a:ext>
            </a:extLst>
          </p:cNvPr>
          <p:cNvSpPr>
            <a:spLocks noGrp="1"/>
          </p:cNvSpPr>
          <p:nvPr>
            <p:ph idx="1"/>
          </p:nvPr>
        </p:nvSpPr>
        <p:spPr>
          <a:xfrm>
            <a:off x="304802" y="2133600"/>
            <a:ext cx="8839198" cy="4191000"/>
          </a:xfrm>
        </p:spPr>
        <p:txBody>
          <a:bodyPr>
            <a:noAutofit/>
          </a:bodyPr>
          <a:lstStyle/>
          <a:p>
            <a:pPr algn="just"/>
            <a:r>
              <a:rPr lang="en-US" sz="2400" dirty="0">
                <a:latin typeface="Times New Roman" panose="02020603050405020304" pitchFamily="18" charset="0"/>
                <a:cs typeface="Times New Roman" panose="02020603050405020304" pitchFamily="18" charset="0"/>
              </a:rPr>
              <a:t>The basic information on air quality standards, criteria. and policies of Local ,State and Central Govt agencies which have the statutory authority to maintain the air resources has to be collected. </a:t>
            </a:r>
          </a:p>
          <a:p>
            <a:pPr algn="just"/>
            <a:r>
              <a:rPr lang="en-US" sz="2400" dirty="0">
                <a:latin typeface="Times New Roman" panose="02020603050405020304" pitchFamily="18" charset="0"/>
                <a:cs typeface="Times New Roman" panose="02020603050405020304" pitchFamily="18" charset="0"/>
              </a:rPr>
              <a:t>Documentation of this information  allow the determination of the significance of air quality impacts incurred during projects or activities and will aid in deciding between alternative actions or in assessing the need for mitigation measures for a given alternative. </a:t>
            </a:r>
          </a:p>
          <a:p>
            <a:pPr algn="just"/>
            <a:r>
              <a:rPr lang="en-US" sz="2400" dirty="0">
                <a:latin typeface="Times New Roman" panose="02020603050405020304" pitchFamily="18" charset="0"/>
                <a:cs typeface="Times New Roman" panose="02020603050405020304" pitchFamily="18" charset="0"/>
              </a:rPr>
              <a:t>Specific air quality management policies or requirements may be in existence for particular areas and the particular requirements of such policies have to be ascertained.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42078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A9000-7C6C-2DCE-A371-07A370E8070C}"/>
              </a:ext>
            </a:extLst>
          </p:cNvPr>
          <p:cNvSpPr>
            <a:spLocks noGrp="1"/>
          </p:cNvSpPr>
          <p:nvPr>
            <p:ph type="title"/>
          </p:nvPr>
        </p:nvSpPr>
        <p:spPr>
          <a:xfrm>
            <a:off x="1066800" y="-65314"/>
            <a:ext cx="8077199" cy="1905000"/>
          </a:xfrm>
        </p:spPr>
        <p:txBody>
          <a:bodyPr>
            <a:normAutofit fontScale="90000"/>
          </a:bodyPr>
          <a:lstStyle/>
          <a:p>
            <a:r>
              <a:rPr lang="en-US" dirty="0">
                <a:latin typeface="Times New Roman" panose="02020603050405020304" pitchFamily="18" charset="0"/>
                <a:cs typeface="Times New Roman" panose="02020603050405020304" pitchFamily="18" charset="0"/>
              </a:rPr>
              <a:t>4.Carrying out Impact Assessment using Mass Balance, Mathematics Modeling and Single Qualitative Approach</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85E3BCE-36E7-22E6-7E19-3D2B2241FB4F}"/>
              </a:ext>
            </a:extLst>
          </p:cNvPr>
          <p:cNvSpPr>
            <a:spLocks noGrp="1"/>
          </p:cNvSpPr>
          <p:nvPr>
            <p:ph idx="1"/>
          </p:nvPr>
        </p:nvSpPr>
        <p:spPr>
          <a:xfrm>
            <a:off x="0" y="2133600"/>
            <a:ext cx="8915399" cy="3777622"/>
          </a:xfrm>
        </p:spPr>
        <p:txBody>
          <a:bodyPr>
            <a:normAutofit/>
          </a:bodyPr>
          <a:lstStyle/>
          <a:p>
            <a:pPr algn="just"/>
            <a:r>
              <a:rPr lang="en-US" sz="2800" dirty="0">
                <a:latin typeface="Times New Roman" panose="02020603050405020304" pitchFamily="18" charset="0"/>
                <a:cs typeface="Times New Roman" panose="02020603050405020304" pitchFamily="18" charset="0"/>
              </a:rPr>
              <a:t>Impact prediction can be carried out using various approaches like mass balances, ambient air dispersion models and plume dispersion models</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19333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181DF-0401-6F53-7EB8-E2230C4D238D}"/>
              </a:ext>
            </a:extLst>
          </p:cNvPr>
          <p:cNvSpPr>
            <a:spLocks noGrp="1"/>
          </p:cNvSpPr>
          <p:nvPr>
            <p:ph type="title"/>
          </p:nvPr>
        </p:nvSpPr>
        <p:spPr>
          <a:xfrm>
            <a:off x="1143000" y="0"/>
            <a:ext cx="8077199" cy="1905000"/>
          </a:xfrm>
        </p:spPr>
        <p:txBody>
          <a:bodyPr/>
          <a:lstStyle/>
          <a:p>
            <a:r>
              <a:rPr lang="en-US" dirty="0">
                <a:latin typeface="Times New Roman" panose="02020603050405020304" pitchFamily="18" charset="0"/>
                <a:cs typeface="Times New Roman" panose="02020603050405020304" pitchFamily="18" charset="0"/>
              </a:rPr>
              <a:t>5.Assessment of Significance of Impacts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43FBC32-5E71-2A7F-1B1A-F9552A0E4D4D}"/>
              </a:ext>
            </a:extLst>
          </p:cNvPr>
          <p:cNvSpPr>
            <a:spLocks noGrp="1"/>
          </p:cNvSpPr>
          <p:nvPr>
            <p:ph idx="1"/>
          </p:nvPr>
        </p:nvSpPr>
        <p:spPr>
          <a:xfrm>
            <a:off x="457202" y="1219200"/>
            <a:ext cx="8686797" cy="5410200"/>
          </a:xfrm>
        </p:spPr>
        <p:txBody>
          <a:bodyPr>
            <a:normAutofit/>
          </a:bodyPr>
          <a:lstStyle/>
          <a:p>
            <a:pPr algn="just"/>
            <a:r>
              <a:rPr lang="en-US" sz="2200" dirty="0">
                <a:latin typeface="Times New Roman" panose="02020603050405020304" pitchFamily="18" charset="0"/>
                <a:cs typeface="Times New Roman" panose="02020603050405020304" pitchFamily="18" charset="0"/>
              </a:rPr>
              <a:t>Evaluation of the significance of anticipated changes related to the proposed project should be carried out through conducting </a:t>
            </a:r>
            <a:r>
              <a:rPr lang="en-US" sz="2200" dirty="0">
                <a:solidFill>
                  <a:srgbClr val="00B050"/>
                </a:solidFill>
                <a:latin typeface="Times New Roman" panose="02020603050405020304" pitchFamily="18" charset="0"/>
                <a:cs typeface="Times New Roman" panose="02020603050405020304" pitchFamily="18" charset="0"/>
              </a:rPr>
              <a:t>public meetings and/or public participation programs.</a:t>
            </a:r>
          </a:p>
          <a:p>
            <a:pPr algn="just"/>
            <a:r>
              <a:rPr lang="en-US" sz="2200" dirty="0">
                <a:latin typeface="Times New Roman" panose="02020603050405020304" pitchFamily="18" charset="0"/>
                <a:cs typeface="Times New Roman" panose="02020603050405020304" pitchFamily="18" charset="0"/>
              </a:rPr>
              <a:t> Professional judgement based on the percentage changes from baseline conditions in terms of air-pollutant emissions levels and/or exposed human population should carried out. </a:t>
            </a:r>
          </a:p>
          <a:p>
            <a:pPr algn="just"/>
            <a:r>
              <a:rPr lang="en-US" sz="2200" dirty="0">
                <a:latin typeface="Times New Roman" panose="02020603050405020304" pitchFamily="18" charset="0"/>
                <a:cs typeface="Times New Roman" panose="02020603050405020304" pitchFamily="18" charset="0"/>
              </a:rPr>
              <a:t>These changes should also be considered during both construction and operational phases. For certain type of projects or air-pollutant prediction methods, there are numerical standards or criteria which can be used as a basis of interpretation.</a:t>
            </a:r>
          </a:p>
          <a:p>
            <a:pPr algn="just"/>
            <a:r>
              <a:rPr lang="en-US" sz="2200" dirty="0">
                <a:latin typeface="Times New Roman" panose="02020603050405020304" pitchFamily="18" charset="0"/>
                <a:cs typeface="Times New Roman" panose="02020603050405020304" pitchFamily="18" charset="0"/>
              </a:rPr>
              <a:t>A final impact significance can be assessed based on the specific effects of the types of air pollutants from a proposed project or activity and identification of sensitive receptors in the study area</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91841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668F7-6814-2FE9-451C-970F21003752}"/>
              </a:ext>
            </a:extLst>
          </p:cNvPr>
          <p:cNvSpPr>
            <a:spLocks noGrp="1"/>
          </p:cNvSpPr>
          <p:nvPr>
            <p:ph type="title"/>
          </p:nvPr>
        </p:nvSpPr>
        <p:spPr>
          <a:xfrm>
            <a:off x="228601" y="0"/>
            <a:ext cx="8305800" cy="1905000"/>
          </a:xfrm>
        </p:spPr>
        <p:txBody>
          <a:bodyPr>
            <a:normAutofit/>
          </a:bodyPr>
          <a:lstStyle/>
          <a:p>
            <a:r>
              <a:rPr lang="en-US" dirty="0">
                <a:latin typeface="Times New Roman" panose="02020603050405020304" pitchFamily="18" charset="0"/>
                <a:cs typeface="Times New Roman" panose="02020603050405020304" pitchFamily="18" charset="0"/>
              </a:rPr>
              <a:t>6.Development of Appropriate Mitigation or Remediation Plans for Reducing Adverse Impacts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5196B57-89C0-E900-8A29-F55B2C69743A}"/>
              </a:ext>
            </a:extLst>
          </p:cNvPr>
          <p:cNvSpPr>
            <a:spLocks noGrp="1"/>
          </p:cNvSpPr>
          <p:nvPr>
            <p:ph idx="1"/>
          </p:nvPr>
        </p:nvSpPr>
        <p:spPr>
          <a:xfrm>
            <a:off x="228602" y="2133600"/>
            <a:ext cx="8762998" cy="4724400"/>
          </a:xfrm>
        </p:spPr>
        <p:txBody>
          <a:bodyPr>
            <a:normAutofit/>
          </a:bodyPr>
          <a:lstStyle/>
          <a:p>
            <a:pPr algn="just"/>
            <a:r>
              <a:rPr lang="en-US" sz="2400" dirty="0">
                <a:latin typeface="Times New Roman" panose="02020603050405020304" pitchFamily="18" charset="0"/>
                <a:cs typeface="Times New Roman" panose="02020603050405020304" pitchFamily="18" charset="0"/>
              </a:rPr>
              <a:t>measures for reducing the adverse impacts involve project activity design or operational features that can be used to minimize the magnitude of the air quality impacts. </a:t>
            </a:r>
          </a:p>
          <a:p>
            <a:pPr algn="just"/>
            <a:r>
              <a:rPr lang="en-US" sz="2400" dirty="0">
                <a:latin typeface="Times New Roman" panose="02020603050405020304" pitchFamily="18" charset="0"/>
                <a:cs typeface="Times New Roman" panose="02020603050405020304" pitchFamily="18" charset="0"/>
              </a:rPr>
              <a:t>Mainly the design should be revised as needed in order to reduce the air pollutants expected to be emitted from the project-activity. The revised project or activity can then be reassessed to determine whether other remediation or mitigation measures will help in eliminating or minimizing the deleterious air quality impacts.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02473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95061-37C1-ED6B-F830-A13412AC2AB7}"/>
              </a:ext>
            </a:extLst>
          </p:cNvPr>
          <p:cNvSpPr>
            <a:spLocks noGrp="1"/>
          </p:cNvSpPr>
          <p:nvPr>
            <p:ph type="title"/>
          </p:nvPr>
        </p:nvSpPr>
        <p:spPr>
          <a:xfrm>
            <a:off x="304800" y="0"/>
            <a:ext cx="8839199" cy="1524000"/>
          </a:xfrm>
        </p:spPr>
        <p:txBody>
          <a:bodyPr>
            <a:normAutofit fontScale="90000"/>
          </a:bodyPr>
          <a:lstStyle/>
          <a:p>
            <a:r>
              <a:rPr lang="en-US" dirty="0"/>
              <a:t>General mitigation measures minimizing detrimental effects of air pollution</a:t>
            </a:r>
            <a:endParaRPr lang="en-IN" dirty="0"/>
          </a:p>
        </p:txBody>
      </p:sp>
      <p:sp>
        <p:nvSpPr>
          <p:cNvPr id="3" name="Content Placeholder 2">
            <a:extLst>
              <a:ext uri="{FF2B5EF4-FFF2-40B4-BE49-F238E27FC236}">
                <a16:creationId xmlns:a16="http://schemas.microsoft.com/office/drawing/2014/main" id="{847D1E50-AA0A-8EC2-A145-4F081DB684FB}"/>
              </a:ext>
            </a:extLst>
          </p:cNvPr>
          <p:cNvSpPr>
            <a:spLocks noGrp="1"/>
          </p:cNvSpPr>
          <p:nvPr>
            <p:ph idx="1"/>
          </p:nvPr>
        </p:nvSpPr>
        <p:spPr>
          <a:xfrm>
            <a:off x="304800" y="1219200"/>
            <a:ext cx="8839200" cy="5943600"/>
          </a:xfrm>
        </p:spPr>
        <p:txBody>
          <a:bodyPr>
            <a:normAutofit/>
          </a:bodyPr>
          <a:lstStyle/>
          <a:p>
            <a:pPr algn="just"/>
            <a:r>
              <a:rPr lang="en-US" sz="2000" dirty="0">
                <a:latin typeface="Times New Roman" panose="02020603050405020304" pitchFamily="18" charset="0"/>
                <a:cs typeface="Times New Roman" panose="02020603050405020304" pitchFamily="18" charset="0"/>
              </a:rPr>
              <a:t>1. </a:t>
            </a:r>
            <a:r>
              <a:rPr lang="en-US" sz="2200" dirty="0">
                <a:latin typeface="Times New Roman" panose="02020603050405020304" pitchFamily="18" charset="0"/>
                <a:cs typeface="Times New Roman" panose="02020603050405020304" pitchFamily="18" charset="0"/>
              </a:rPr>
              <a:t>Regulatory control on the practice of open burning of agricultural crop residues like delineation of specified times for burning to occur and the establishment of distance requirements between residences and open burning areas will help in reducing air pollutant concentrations in sensitive areas</a:t>
            </a:r>
          </a:p>
          <a:p>
            <a:pPr algn="just"/>
            <a:r>
              <a:rPr lang="en-US" sz="2200" dirty="0">
                <a:latin typeface="Times New Roman" panose="02020603050405020304" pitchFamily="18" charset="0"/>
                <a:cs typeface="Times New Roman" panose="02020603050405020304" pitchFamily="18" charset="0"/>
              </a:rPr>
              <a:t> 2. Development of vegetation cover and watering or use of wind breaks, chemical stabilizers -most common method for the temporary dust control of nearly 50%. Planting of rapid growing vegetation in construction areas will reduce dust generation </a:t>
            </a:r>
          </a:p>
          <a:p>
            <a:pPr algn="just"/>
            <a:r>
              <a:rPr lang="en-US" sz="2200" dirty="0">
                <a:latin typeface="Times New Roman" panose="02020603050405020304" pitchFamily="18" charset="0"/>
                <a:cs typeface="Times New Roman" panose="02020603050405020304" pitchFamily="18" charset="0"/>
              </a:rPr>
              <a:t> 3. For reducing air pollutant emissions from unpaved roads. paving the surface treating with penetration chemicals, working soil-stabilization chemicals into the roadbed, watering, and traffic-control regulations</a:t>
            </a:r>
          </a:p>
          <a:p>
            <a:pPr algn="just"/>
            <a:r>
              <a:rPr lang="en-US" sz="2200" dirty="0">
                <a:latin typeface="Times New Roman" panose="02020603050405020304" pitchFamily="18" charset="0"/>
                <a:cs typeface="Times New Roman" panose="02020603050405020304" pitchFamily="18" charset="0"/>
              </a:rPr>
              <a:t> 4. In the case of open waste piles and staging areas, dry surface impoundments. landfills, land treatment systems, and waste stabilization measures are adopted as fugitive dust control techniques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01384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FC35D5-233D-088A-B4EC-E58B69CD8EA7}"/>
              </a:ext>
            </a:extLst>
          </p:cNvPr>
          <p:cNvSpPr>
            <a:spLocks noGrp="1"/>
          </p:cNvSpPr>
          <p:nvPr>
            <p:ph idx="1"/>
          </p:nvPr>
        </p:nvSpPr>
        <p:spPr>
          <a:xfrm>
            <a:off x="381000" y="228600"/>
            <a:ext cx="8763000" cy="6248400"/>
          </a:xfrm>
        </p:spPr>
        <p:txBody>
          <a:bodyPr>
            <a:normAutofit/>
          </a:bodyPr>
          <a:lstStyle/>
          <a:p>
            <a:pPr algn="just"/>
            <a:r>
              <a:rPr lang="en-US" dirty="0"/>
              <a:t> </a:t>
            </a:r>
            <a:r>
              <a:rPr lang="en-US" sz="2200" dirty="0">
                <a:latin typeface="Times New Roman" panose="02020603050405020304" pitchFamily="18" charset="0"/>
                <a:cs typeface="Times New Roman" panose="02020603050405020304" pitchFamily="18" charset="0"/>
              </a:rPr>
              <a:t>5. For controlling or reducing air borne pesticide residues resulting from spraying pesticide and other materials. The low-pressure spray nozzles can be used to minimize the generation of fine particles. Further by spraying the pesticide in periods of low wind velocities, dispersion of air borne pesticides can be reduced </a:t>
            </a:r>
          </a:p>
          <a:p>
            <a:pPr algn="just"/>
            <a:r>
              <a:rPr lang="en-US" sz="2200" dirty="0">
                <a:latin typeface="Times New Roman" panose="02020603050405020304" pitchFamily="18" charset="0"/>
                <a:cs typeface="Times New Roman" panose="02020603050405020304" pitchFamily="18" charset="0"/>
              </a:rPr>
              <a:t>6. Several alternative fuels, including methanol. ethanol, compressed natural gas, liquified petroleum gas, electricity-recommended for reducing air pollution from automobiles. </a:t>
            </a:r>
          </a:p>
          <a:p>
            <a:pPr algn="just"/>
            <a:r>
              <a:rPr lang="en-US" sz="2200" dirty="0">
                <a:latin typeface="Times New Roman" panose="02020603050405020304" pitchFamily="18" charset="0"/>
                <a:cs typeface="Times New Roman" panose="02020603050405020304" pitchFamily="18" charset="0"/>
              </a:rPr>
              <a:t>7. A number of advanced exhaust emission control technologies for gasoline and diesel fueled cars, trucks, and buses -to minimize the air pollutant from transportation sector. </a:t>
            </a:r>
          </a:p>
          <a:p>
            <a:pPr algn="just"/>
            <a:r>
              <a:rPr lang="en-US" sz="2200" dirty="0">
                <a:latin typeface="Times New Roman" panose="02020603050405020304" pitchFamily="18" charset="0"/>
                <a:cs typeface="Times New Roman" panose="02020603050405020304" pitchFamily="18" charset="0"/>
              </a:rPr>
              <a:t>8. For purifying gas from various point sources a number of control systems like cyclones, scrubbers, fabric filters, and/or electrostatic precipitators for control of particulate emissions.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83233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4C523-7D50-616C-9E2F-76F7963E880E}"/>
              </a:ext>
            </a:extLst>
          </p:cNvPr>
          <p:cNvSpPr>
            <a:spLocks noGrp="1"/>
          </p:cNvSpPr>
          <p:nvPr>
            <p:ph type="title"/>
          </p:nvPr>
        </p:nvSpPr>
        <p:spPr>
          <a:xfrm>
            <a:off x="533401" y="152400"/>
            <a:ext cx="8001000" cy="1752600"/>
          </a:xfrm>
        </p:spPr>
        <p:txBody>
          <a:bodyPr>
            <a:normAutofit/>
          </a:bodyPr>
          <a:lstStyle/>
          <a:p>
            <a:r>
              <a:rPr lang="en-US" dirty="0">
                <a:latin typeface="Times New Roman" panose="02020603050405020304" pitchFamily="18" charset="0"/>
                <a:cs typeface="Times New Roman" panose="02020603050405020304" pitchFamily="18" charset="0"/>
              </a:rPr>
              <a:t>Prediction and Assessment of Impacts of Noise on the Environment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FF2ABC1-BCBB-CF74-2CBF-C983EE9D0389}"/>
              </a:ext>
            </a:extLst>
          </p:cNvPr>
          <p:cNvSpPr>
            <a:spLocks noGrp="1"/>
          </p:cNvSpPr>
          <p:nvPr>
            <p:ph idx="1"/>
          </p:nvPr>
        </p:nvSpPr>
        <p:spPr>
          <a:xfrm>
            <a:off x="228600" y="2133600"/>
            <a:ext cx="8534399" cy="4419600"/>
          </a:xfrm>
        </p:spPr>
        <p:txBody>
          <a:bodyPr>
            <a:normAutofit/>
          </a:bodyPr>
          <a:lstStyle/>
          <a:p>
            <a:pPr algn="just"/>
            <a:r>
              <a:rPr lang="en-US" sz="2400" dirty="0">
                <a:latin typeface="Times New Roman" panose="02020603050405020304" pitchFamily="18" charset="0"/>
                <a:cs typeface="Times New Roman" panose="02020603050405020304" pitchFamily="18" charset="0"/>
              </a:rPr>
              <a:t>Noise is an unwanted sound energy </a:t>
            </a:r>
          </a:p>
          <a:p>
            <a:pPr algn="just"/>
            <a:r>
              <a:rPr lang="en-US" sz="2400" dirty="0">
                <a:latin typeface="Times New Roman" panose="02020603050405020304" pitchFamily="18" charset="0"/>
                <a:cs typeface="Times New Roman" panose="02020603050405020304" pitchFamily="18" charset="0"/>
              </a:rPr>
              <a:t>considered as a pollutant when it exceeds certain limits</a:t>
            </a:r>
          </a:p>
          <a:p>
            <a:pPr algn="just"/>
            <a:r>
              <a:rPr lang="en-US" sz="2400" dirty="0">
                <a:latin typeface="Times New Roman" panose="02020603050405020304" pitchFamily="18" charset="0"/>
                <a:cs typeface="Times New Roman" panose="02020603050405020304" pitchFamily="18" charset="0"/>
              </a:rPr>
              <a:t>Noise as a pollutant produces contamination in environment becoming a nuisance and a cause for annoyance, and affects the health of a person, his activities and mental abilities. </a:t>
            </a:r>
          </a:p>
          <a:p>
            <a:pPr algn="just"/>
            <a:r>
              <a:rPr lang="en-US" sz="2400" dirty="0">
                <a:latin typeface="Times New Roman" panose="02020603050405020304" pitchFamily="18" charset="0"/>
                <a:cs typeface="Times New Roman" panose="02020603050405020304" pitchFamily="18" charset="0"/>
              </a:rPr>
              <a:t>Environmental noise pollution has not been an entirely new phenomenon, but rather a problem that has grown steadily worse with time due to similar factors, responsible for air and water pollution namely increasing population, urbanization, industrialization, technological change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3305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D9D36-292D-4D84-C234-5A5F092BE55B}"/>
              </a:ext>
            </a:extLst>
          </p:cNvPr>
          <p:cNvSpPr>
            <a:spLocks noGrp="1"/>
          </p:cNvSpPr>
          <p:nvPr>
            <p:ph type="title"/>
          </p:nvPr>
        </p:nvSpPr>
        <p:spPr>
          <a:xfrm>
            <a:off x="609601" y="228600"/>
            <a:ext cx="7924800" cy="990600"/>
          </a:xfrm>
        </p:spPr>
        <p:txBody>
          <a:bodyPr>
            <a:normAutofit fontScale="90000"/>
          </a:bodyPr>
          <a:lstStyle/>
          <a:p>
            <a:r>
              <a:rPr lang="en-US" dirty="0"/>
              <a:t>Systematic Methodology for Assessing Environmental Impacts of Noise </a:t>
            </a:r>
            <a:endParaRPr lang="en-IN" dirty="0"/>
          </a:p>
        </p:txBody>
      </p:sp>
      <p:sp>
        <p:nvSpPr>
          <p:cNvPr id="3" name="Content Placeholder 2">
            <a:extLst>
              <a:ext uri="{FF2B5EF4-FFF2-40B4-BE49-F238E27FC236}">
                <a16:creationId xmlns:a16="http://schemas.microsoft.com/office/drawing/2014/main" id="{F76D5EC0-34DE-6CAE-6563-42567A12FC23}"/>
              </a:ext>
            </a:extLst>
          </p:cNvPr>
          <p:cNvSpPr>
            <a:spLocks noGrp="1"/>
          </p:cNvSpPr>
          <p:nvPr>
            <p:ph idx="1"/>
          </p:nvPr>
        </p:nvSpPr>
        <p:spPr>
          <a:xfrm>
            <a:off x="1" y="1371600"/>
            <a:ext cx="9144000" cy="5257800"/>
          </a:xfrm>
        </p:spPr>
        <p:txBody>
          <a:bodyPr>
            <a:noAutofit/>
          </a:bodyPr>
          <a:lstStyle/>
          <a:p>
            <a:r>
              <a:rPr lang="en-US" sz="2400" b="1" i="1" dirty="0">
                <a:latin typeface="Times New Roman" panose="02020603050405020304" pitchFamily="18" charset="0"/>
                <a:cs typeface="Times New Roman" panose="02020603050405020304" pitchFamily="18" charset="0"/>
              </a:rPr>
              <a:t>a seven-step or six-activity model </a:t>
            </a:r>
          </a:p>
          <a:p>
            <a:pPr algn="just"/>
            <a:r>
              <a:rPr lang="en-US" sz="2800" dirty="0">
                <a:latin typeface="Times New Roman" panose="02020603050405020304" pitchFamily="18" charset="0"/>
                <a:cs typeface="Times New Roman" panose="02020603050405020304" pitchFamily="18" charset="0"/>
              </a:rPr>
              <a:t>1.Identification of levels of noise emissions and impact concerns related to the construction and operation of the development project </a:t>
            </a:r>
          </a:p>
          <a:p>
            <a:pPr algn="just"/>
            <a:r>
              <a:rPr lang="en-US" sz="2800" dirty="0">
                <a:latin typeface="Times New Roman" panose="02020603050405020304" pitchFamily="18" charset="0"/>
                <a:cs typeface="Times New Roman" panose="02020603050405020304" pitchFamily="18" charset="0"/>
              </a:rPr>
              <a:t> 2.Description of the environmental setting in terms of existing noise levels and noise sources, along with land-use information and unique receptors in the project area</a:t>
            </a:r>
          </a:p>
          <a:p>
            <a:pPr algn="just"/>
            <a:r>
              <a:rPr lang="en-US" sz="2800" dirty="0">
                <a:latin typeface="Times New Roman" panose="02020603050405020304" pitchFamily="18" charset="0"/>
                <a:cs typeface="Times New Roman" panose="02020603050405020304" pitchFamily="18" charset="0"/>
              </a:rPr>
              <a:t>3. Procurement of relevant laws, regulations or criteria related to noise levels, land-use compatibility, and noise emission standards </a:t>
            </a:r>
          </a:p>
        </p:txBody>
      </p:sp>
    </p:spTree>
    <p:extLst>
      <p:ext uri="{BB962C8B-B14F-4D97-AF65-F5344CB8AC3E}">
        <p14:creationId xmlns:p14="http://schemas.microsoft.com/office/powerpoint/2010/main" val="16745265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B42B17-3831-1C8A-DEFE-D69971B1B0BA}"/>
              </a:ext>
            </a:extLst>
          </p:cNvPr>
          <p:cNvSpPr>
            <a:spLocks noGrp="1"/>
          </p:cNvSpPr>
          <p:nvPr>
            <p:ph idx="1"/>
          </p:nvPr>
        </p:nvSpPr>
        <p:spPr>
          <a:xfrm>
            <a:off x="457201" y="304800"/>
            <a:ext cx="8077200" cy="5606422"/>
          </a:xfrm>
        </p:spPr>
        <p:txBody>
          <a:bodyPr>
            <a:normAutofit/>
          </a:bodyPr>
          <a:lstStyle/>
          <a:p>
            <a:pPr algn="just"/>
            <a:r>
              <a:rPr lang="en-US" sz="2400" dirty="0">
                <a:latin typeface="Times New Roman" panose="02020603050405020304" pitchFamily="18" charset="0"/>
                <a:cs typeface="Times New Roman" panose="02020603050405020304" pitchFamily="18" charset="0"/>
              </a:rPr>
              <a:t>4.Conducting impact prediction activities, including the use of simple noise-attenuation models, simple noise-source-specific models, comprehensive mathematical models, and/or qualitative-prediction techniques based on the examination of case studies and the exercise of professional judgement</a:t>
            </a:r>
          </a:p>
          <a:p>
            <a:pPr algn="just"/>
            <a:r>
              <a:rPr lang="en-US" sz="2400" dirty="0">
                <a:latin typeface="Times New Roman" panose="02020603050405020304" pitchFamily="18" charset="0"/>
                <a:cs typeface="Times New Roman" panose="02020603050405020304" pitchFamily="18" charset="0"/>
              </a:rPr>
              <a:t>5.Use of pertinent information from step 3, along with professional judgement and public input, to assess the significance of anticipated beneficial and detrimental impacts</a:t>
            </a:r>
          </a:p>
          <a:p>
            <a:pPr algn="just"/>
            <a:r>
              <a:rPr lang="en-US" sz="2400" dirty="0">
                <a:latin typeface="Times New Roman" panose="02020603050405020304" pitchFamily="18" charset="0"/>
                <a:cs typeface="Times New Roman" panose="02020603050405020304" pitchFamily="18" charset="0"/>
              </a:rPr>
              <a:t>6.Identification, development, and incorporation of appropriate mitigation measures for the adverse impacts</a:t>
            </a:r>
          </a:p>
          <a:p>
            <a:pPr algn="just"/>
            <a:r>
              <a:rPr lang="en-US" sz="2400" dirty="0">
                <a:latin typeface="Times New Roman" panose="02020603050405020304" pitchFamily="18" charset="0"/>
                <a:cs typeface="Times New Roman" panose="02020603050405020304" pitchFamily="18" charset="0"/>
              </a:rPr>
              <a:t> 7.Preparation of final environmental impact statement. </a:t>
            </a:r>
            <a:endParaRPr lang="en-IN"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7042805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6B7FA-D7BB-06D6-0513-7FAFDD766D7F}"/>
              </a:ext>
            </a:extLst>
          </p:cNvPr>
          <p:cNvSpPr>
            <a:spLocks noGrp="1"/>
          </p:cNvSpPr>
          <p:nvPr>
            <p:ph type="title"/>
          </p:nvPr>
        </p:nvSpPr>
        <p:spPr>
          <a:xfrm>
            <a:off x="152401" y="0"/>
            <a:ext cx="8382000" cy="1905000"/>
          </a:xfrm>
        </p:spPr>
        <p:txBody>
          <a:bodyPr/>
          <a:lstStyle/>
          <a:p>
            <a:r>
              <a:rPr lang="en-US" dirty="0">
                <a:latin typeface="Times New Roman" panose="02020603050405020304" pitchFamily="18" charset="0"/>
                <a:cs typeface="Times New Roman" panose="02020603050405020304" pitchFamily="18" charset="0"/>
              </a:rPr>
              <a:t>Step 1 : Identification of Noise Impacts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6BD4F33-D330-1528-316B-BE52D8BD6FCE}"/>
              </a:ext>
            </a:extLst>
          </p:cNvPr>
          <p:cNvSpPr>
            <a:spLocks noGrp="1"/>
          </p:cNvSpPr>
          <p:nvPr>
            <p:ph idx="1"/>
          </p:nvPr>
        </p:nvSpPr>
        <p:spPr>
          <a:xfrm>
            <a:off x="457200" y="1371600"/>
            <a:ext cx="8381999" cy="5486400"/>
          </a:xfrm>
        </p:spPr>
        <p:txBody>
          <a:bodyPr>
            <a:normAutofit/>
          </a:bodyPr>
          <a:lstStyle/>
          <a:p>
            <a:pPr algn="just"/>
            <a:r>
              <a:rPr lang="en-US" sz="2200" dirty="0">
                <a:latin typeface="Times New Roman" panose="02020603050405020304" pitchFamily="18" charset="0"/>
                <a:cs typeface="Times New Roman" panose="02020603050405020304" pitchFamily="18" charset="0"/>
              </a:rPr>
              <a:t>The first step is to determine the potential impacts of the proposed project  on the noise environment.</a:t>
            </a:r>
          </a:p>
          <a:p>
            <a:pPr algn="just"/>
            <a:r>
              <a:rPr lang="en-US" sz="2200" dirty="0">
                <a:latin typeface="Times New Roman" panose="02020603050405020304" pitchFamily="18" charset="0"/>
                <a:cs typeface="Times New Roman" panose="02020603050405020304" pitchFamily="18" charset="0"/>
              </a:rPr>
              <a:t>Requires the identification of the noise levels associated with the project. </a:t>
            </a:r>
          </a:p>
          <a:p>
            <a:pPr algn="just"/>
            <a:r>
              <a:rPr lang="en-US" sz="2200" dirty="0">
                <a:latin typeface="Times New Roman" panose="02020603050405020304" pitchFamily="18" charset="0"/>
                <a:cs typeface="Times New Roman" panose="02020603050405020304" pitchFamily="18" charset="0"/>
              </a:rPr>
              <a:t>A considerable body of information exists on noise levels associated with a variety of projects and related activities.</a:t>
            </a:r>
          </a:p>
          <a:p>
            <a:pPr algn="just"/>
            <a:r>
              <a:rPr lang="en-US" sz="2200" dirty="0">
                <a:latin typeface="Times New Roman" panose="02020603050405020304" pitchFamily="18" charset="0"/>
                <a:cs typeface="Times New Roman" panose="02020603050405020304" pitchFamily="18" charset="0"/>
              </a:rPr>
              <a:t> The sources, of noise are numerous, so they may be broadly classified into two classes, namely, industrial and non-industrial.</a:t>
            </a:r>
          </a:p>
          <a:p>
            <a:pPr algn="just"/>
            <a:r>
              <a:rPr lang="en-US" sz="2200" dirty="0">
                <a:latin typeface="Times New Roman" panose="02020603050405020304" pitchFamily="18" charset="0"/>
                <a:cs typeface="Times New Roman" panose="02020603050405020304" pitchFamily="18" charset="0"/>
              </a:rPr>
              <a:t> The industrial category :various industries like transportation, vehicular movements, rockets, defense equipment and explosions.</a:t>
            </a:r>
          </a:p>
          <a:p>
            <a:pPr algn="just"/>
            <a:r>
              <a:rPr lang="en-US" sz="2200" dirty="0">
                <a:latin typeface="Times New Roman" panose="02020603050405020304" pitchFamily="18" charset="0"/>
                <a:cs typeface="Times New Roman" panose="02020603050405020304" pitchFamily="18" charset="0"/>
              </a:rPr>
              <a:t>Non-industrial </a:t>
            </a:r>
            <a:r>
              <a:rPr lang="en-US" sz="2200" dirty="0" err="1">
                <a:latin typeface="Times New Roman" panose="02020603050405020304" pitchFamily="18" charset="0"/>
                <a:cs typeface="Times New Roman" panose="02020603050405020304" pitchFamily="18" charset="0"/>
              </a:rPr>
              <a:t>category:loudspeakers</a:t>
            </a:r>
            <a:r>
              <a:rPr lang="en-US" sz="2200" dirty="0">
                <a:latin typeface="Times New Roman" panose="02020603050405020304" pitchFamily="18" charset="0"/>
                <a:cs typeface="Times New Roman" panose="02020603050405020304" pitchFamily="18" charset="0"/>
              </a:rPr>
              <a:t>, traffic, air crafts, trains. construction works, radios, TVs, vacuum cleaners, and air conditioners in the domestic or commercial use.</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53171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2EB73-17AC-9B94-DD38-453A462DD339}"/>
              </a:ext>
            </a:extLst>
          </p:cNvPr>
          <p:cNvSpPr>
            <a:spLocks noGrp="1"/>
          </p:cNvSpPr>
          <p:nvPr>
            <p:ph type="title"/>
          </p:nvPr>
        </p:nvSpPr>
        <p:spPr>
          <a:xfrm>
            <a:off x="457201" y="228600"/>
            <a:ext cx="8077200" cy="1676400"/>
          </a:xfrm>
        </p:spPr>
        <p:txBody>
          <a:bodyPr/>
          <a:lstStyle/>
          <a:p>
            <a:r>
              <a:rPr lang="en-US" dirty="0">
                <a:latin typeface="Times New Roman" panose="02020603050405020304" pitchFamily="18" charset="0"/>
                <a:cs typeface="Times New Roman" panose="02020603050405020304" pitchFamily="18" charset="0"/>
              </a:rPr>
              <a:t>Step 2: Description of Existing Noise-Environment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4EA9542-4403-1A8A-9426-652F7B9A4F3F}"/>
              </a:ext>
            </a:extLst>
          </p:cNvPr>
          <p:cNvSpPr>
            <a:spLocks noGrp="1"/>
          </p:cNvSpPr>
          <p:nvPr>
            <p:ph idx="1"/>
          </p:nvPr>
        </p:nvSpPr>
        <p:spPr>
          <a:xfrm>
            <a:off x="457201" y="1524000"/>
            <a:ext cx="8686799" cy="5105400"/>
          </a:xfrm>
        </p:spPr>
        <p:txBody>
          <a:bodyPr>
            <a:noAutofit/>
          </a:bodyPr>
          <a:lstStyle/>
          <a:p>
            <a:r>
              <a:rPr lang="en-US" sz="2200" dirty="0">
                <a:latin typeface="Times New Roman" panose="02020603050405020304" pitchFamily="18" charset="0"/>
                <a:cs typeface="Times New Roman" panose="02020603050405020304" pitchFamily="18" charset="0"/>
              </a:rPr>
              <a:t>Conditions In analyzing the potential noise impacts of a proposed project , it is necessary to consider the study  area (potential project area or region of influence).</a:t>
            </a:r>
          </a:p>
          <a:p>
            <a:r>
              <a:rPr lang="en-US" sz="2200" dirty="0">
                <a:latin typeface="Times New Roman" panose="02020603050405020304" pitchFamily="18" charset="0"/>
                <a:cs typeface="Times New Roman" panose="02020603050405020304" pitchFamily="18" charset="0"/>
              </a:rPr>
              <a:t> The delineation of a study area - made based upon the boundaries of the land associated with the project. or the delineation can include a larger area by considering the area of noise influence within the vicinity of the proposed project. </a:t>
            </a:r>
          </a:p>
          <a:p>
            <a:r>
              <a:rPr lang="en-US" sz="2200" dirty="0">
                <a:latin typeface="Times New Roman" panose="02020603050405020304" pitchFamily="18" charset="0"/>
                <a:cs typeface="Times New Roman" panose="02020603050405020304" pitchFamily="18" charset="0"/>
              </a:rPr>
              <a:t>The primary information  to be accumulated -is data on existing noise levels and noise sources within the study area.</a:t>
            </a:r>
          </a:p>
          <a:p>
            <a:r>
              <a:rPr lang="en-US" sz="2200" dirty="0">
                <a:latin typeface="Times New Roman" panose="02020603050405020304" pitchFamily="18" charset="0"/>
                <a:cs typeface="Times New Roman" panose="02020603050405020304" pitchFamily="18" charset="0"/>
              </a:rPr>
              <a:t> Land-use and human-population-distribution maps in relation to the proposed project would also be needed. </a:t>
            </a:r>
          </a:p>
          <a:p>
            <a:r>
              <a:rPr lang="en-US" sz="2200" dirty="0">
                <a:latin typeface="Times New Roman" panose="02020603050405020304" pitchFamily="18" charset="0"/>
                <a:cs typeface="Times New Roman" panose="02020603050405020304" pitchFamily="18" charset="0"/>
              </a:rPr>
              <a:t>If no specific data on existing noise levels is available for the study area. it might be possible to use published noise-level information developed for project involving similar land use. </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9344638"/>
      </p:ext>
    </p:extLst>
  </p:cSld>
  <p:clrMapOvr>
    <a:overrideClrMapping bg1="lt1" tx1="dk1" bg2="lt2" tx2="dk2" accent1="accent1" accent2="accent2" accent3="accent3" accent4="accent4" accent5="accent5" accent6="accent6" hlink="hlink" folHlink="folHlink"/>
  </p:clrMapOvr>
</p:sld>
</file>

<file path=ppt/slides/slide62.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3560F5-3C92-A5C5-B884-41B60083AEF3}"/>
              </a:ext>
            </a:extLst>
          </p:cNvPr>
          <p:cNvSpPr>
            <a:spLocks noGrp="1"/>
          </p:cNvSpPr>
          <p:nvPr>
            <p:ph type="title"/>
          </p:nvPr>
        </p:nvSpPr>
        <p:spPr>
          <a:xfrm>
            <a:off x="228600" y="0"/>
            <a:ext cx="8915399" cy="1905000"/>
          </a:xfrm>
        </p:spPr>
        <p:txBody>
          <a:bodyPr>
            <a:normAutofit/>
          </a:bodyPr>
          <a:lstStyle/>
          <a:p>
            <a:r>
              <a:rPr lang="en-US" dirty="0"/>
              <a:t> </a:t>
            </a:r>
            <a:r>
              <a:rPr lang="en-US" dirty="0">
                <a:latin typeface="Times New Roman" panose="02020603050405020304" pitchFamily="18" charset="0"/>
                <a:cs typeface="Times New Roman" panose="02020603050405020304" pitchFamily="18" charset="0"/>
              </a:rPr>
              <a:t>Step 3 : Procurement of Relevant Noise Standards and/or Guidelines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DE332BC-EE95-D441-4516-1EA1A0FE49AB}"/>
              </a:ext>
            </a:extLst>
          </p:cNvPr>
          <p:cNvSpPr>
            <a:spLocks noGrp="1"/>
          </p:cNvSpPr>
          <p:nvPr>
            <p:ph idx="1"/>
          </p:nvPr>
        </p:nvSpPr>
        <p:spPr>
          <a:xfrm>
            <a:off x="533400" y="1524000"/>
            <a:ext cx="8381999" cy="5029200"/>
          </a:xfrm>
        </p:spPr>
        <p:txBody>
          <a:bodyPr>
            <a:normAutofit/>
          </a:bodyPr>
          <a:lstStyle/>
          <a:p>
            <a:r>
              <a:rPr lang="en-US" sz="2400" dirty="0">
                <a:latin typeface="Times New Roman" panose="02020603050405020304" pitchFamily="18" charset="0"/>
                <a:cs typeface="Times New Roman" panose="02020603050405020304" pitchFamily="18" charset="0"/>
              </a:rPr>
              <a:t>The primary sources of information on noise standards, criteria, and policies will be the relevant local, state, and federal agencies, which have a mandate for overseeing the noise environment of the study area. </a:t>
            </a:r>
          </a:p>
          <a:p>
            <a:r>
              <a:rPr lang="en-US" sz="2400" dirty="0">
                <a:latin typeface="Times New Roman" panose="02020603050405020304" pitchFamily="18" charset="0"/>
                <a:cs typeface="Times New Roman" panose="02020603050405020304" pitchFamily="18" charset="0"/>
              </a:rPr>
              <a:t>Additional information may be available from international agencies such as the World Health Organization (WHO) or the United Nations' Environment Program. </a:t>
            </a:r>
          </a:p>
          <a:p>
            <a:r>
              <a:rPr lang="en-US" sz="2400" dirty="0">
                <a:latin typeface="Times New Roman" panose="02020603050405020304" pitchFamily="18" charset="0"/>
                <a:cs typeface="Times New Roman" panose="02020603050405020304" pitchFamily="18" charset="0"/>
              </a:rPr>
              <a:t>This information can be used to determine the baseline quality and the significance of noise impacts incurred during projects</a:t>
            </a:r>
          </a:p>
          <a:p>
            <a:r>
              <a:rPr lang="en-US" sz="2400" dirty="0">
                <a:latin typeface="Times New Roman" panose="02020603050405020304" pitchFamily="18" charset="0"/>
                <a:cs typeface="Times New Roman" panose="02020603050405020304" pitchFamily="18" charset="0"/>
              </a:rPr>
              <a:t> it could also aid in deciding between alternative actions or in assessing the need for mitigation measures for a given alternative.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3456958"/>
      </p:ext>
    </p:extLst>
  </p:cSld>
  <p:clrMapOvr>
    <a:overrideClrMapping bg1="lt1" tx1="dk1" bg2="lt2" tx2="dk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2400D-82CB-B4AE-815A-E040CC5C908C}"/>
              </a:ext>
            </a:extLst>
          </p:cNvPr>
          <p:cNvSpPr>
            <a:spLocks noGrp="1"/>
          </p:cNvSpPr>
          <p:nvPr>
            <p:ph type="title"/>
          </p:nvPr>
        </p:nvSpPr>
        <p:spPr>
          <a:xfrm>
            <a:off x="1945201" y="152400"/>
            <a:ext cx="6589199" cy="838200"/>
          </a:xfrm>
        </p:spPr>
        <p:txBody>
          <a:bodyPr/>
          <a:lstStyle/>
          <a:p>
            <a:r>
              <a:rPr lang="en-US" dirty="0">
                <a:latin typeface="Times New Roman" panose="02020603050405020304" pitchFamily="18" charset="0"/>
                <a:cs typeface="Times New Roman" panose="02020603050405020304" pitchFamily="18" charset="0"/>
              </a:rPr>
              <a:t>Step 4: Impact Prediction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FBE06AC-CA13-63ED-7E3C-94B7CBAA7A8E}"/>
              </a:ext>
            </a:extLst>
          </p:cNvPr>
          <p:cNvSpPr>
            <a:spLocks noGrp="1"/>
          </p:cNvSpPr>
          <p:nvPr>
            <p:ph idx="1"/>
          </p:nvPr>
        </p:nvSpPr>
        <p:spPr>
          <a:xfrm>
            <a:off x="457200" y="1143000"/>
            <a:ext cx="8686799" cy="5410200"/>
          </a:xfrm>
        </p:spPr>
        <p:txBody>
          <a:bodyPr>
            <a:normAutofit/>
          </a:bodyPr>
          <a:lstStyle/>
          <a:p>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involves predicting the propagation of noise from a source and determining the type of affected land- use. Several approaches for predicting noise contours</a:t>
            </a:r>
          </a:p>
          <a:p>
            <a:r>
              <a:rPr lang="en-US" sz="2400" dirty="0">
                <a:latin typeface="Times New Roman" panose="02020603050405020304" pitchFamily="18" charset="0"/>
                <a:cs typeface="Times New Roman" panose="02020603050405020304" pitchFamily="18" charset="0"/>
              </a:rPr>
              <a:t>One method of expressing both existing noise and predicted noise levels is by using a level- weighted population value</a:t>
            </a:r>
          </a:p>
          <a:p>
            <a:r>
              <a:rPr lang="en-US" sz="2400" dirty="0">
                <a:latin typeface="Times New Roman" panose="02020603050405020304" pitchFamily="18" charset="0"/>
                <a:cs typeface="Times New Roman" panose="02020603050405020304" pitchFamily="18" charset="0"/>
              </a:rPr>
              <a:t>. A sound-level-weighted population is a single number representation of the significance of a noise environment to the exposed population.</a:t>
            </a:r>
          </a:p>
          <a:p>
            <a:r>
              <a:rPr lang="en-US" sz="2400" dirty="0">
                <a:latin typeface="Times New Roman" panose="02020603050405020304" pitchFamily="18" charset="0"/>
                <a:cs typeface="Times New Roman" panose="02020603050405020304" pitchFamily="18" charset="0"/>
              </a:rPr>
              <a:t>Forecasting noise levels Forecasting methods include equations, computer models. and physical models.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32854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B9D98-CAD9-A4C6-5312-719F2CB1048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Step 5 : Assessment of Impact Significance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66A32FC-A842-F827-C959-BE28A2641E7C}"/>
              </a:ext>
            </a:extLst>
          </p:cNvPr>
          <p:cNvSpPr>
            <a:spLocks noGrp="1"/>
          </p:cNvSpPr>
          <p:nvPr>
            <p:ph idx="1"/>
          </p:nvPr>
        </p:nvSpPr>
        <p:spPr>
          <a:xfrm>
            <a:off x="685801" y="2133600"/>
            <a:ext cx="7848600" cy="4953000"/>
          </a:xfrm>
        </p:spPr>
        <p:txBody>
          <a:bodyPr>
            <a:normAutofit/>
          </a:bodyPr>
          <a:lstStyle/>
          <a:p>
            <a:pPr algn="just"/>
            <a:r>
              <a:rPr lang="en-US" sz="2400" dirty="0">
                <a:latin typeface="Times New Roman" panose="02020603050405020304" pitchFamily="18" charset="0"/>
                <a:cs typeface="Times New Roman" panose="02020603050405020304" pitchFamily="18" charset="0"/>
              </a:rPr>
              <a:t>One basis for evaluation of significant impact is public input; this input could be received through a continued scoping process of the conduction of public meetings or public participation programs or both. </a:t>
            </a:r>
          </a:p>
          <a:p>
            <a:pPr algn="just"/>
            <a:r>
              <a:rPr lang="en-US" sz="2400" dirty="0">
                <a:latin typeface="Times New Roman" panose="02020603050405020304" pitchFamily="18" charset="0"/>
                <a:cs typeface="Times New Roman" panose="02020603050405020304" pitchFamily="18" charset="0"/>
              </a:rPr>
              <a:t>The general public can often delineate important environmental resources and values for particular areas. and this should be considered in impact assessment. </a:t>
            </a:r>
          </a:p>
          <a:p>
            <a:pPr algn="just"/>
            <a:r>
              <a:rPr lang="en-US" sz="2400" dirty="0">
                <a:latin typeface="Times New Roman" panose="02020603050405020304" pitchFamily="18" charset="0"/>
                <a:cs typeface="Times New Roman" panose="02020603050405020304" pitchFamily="18" charset="0"/>
              </a:rPr>
              <a:t>Professional judgment can also be useful to assess the percentage changes from baseline conditions in terms of noise levels and/or exposed human population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49260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2153B-9F64-C381-5DD6-36170EBD03C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Step 6 : Mitigation Measures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F7045D0-A40F-5BFF-AED0-FB6FDD545784}"/>
              </a:ext>
            </a:extLst>
          </p:cNvPr>
          <p:cNvSpPr>
            <a:spLocks noGrp="1"/>
          </p:cNvSpPr>
          <p:nvPr>
            <p:ph idx="1"/>
          </p:nvPr>
        </p:nvSpPr>
        <p:spPr>
          <a:xfrm>
            <a:off x="152401" y="1295400"/>
            <a:ext cx="8382000" cy="6019800"/>
          </a:xfrm>
        </p:spPr>
        <p:txBody>
          <a:bodyPr>
            <a:normAutofit/>
          </a:bodyPr>
          <a:lstStyle/>
          <a:p>
            <a:pPr algn="just"/>
            <a:r>
              <a:rPr lang="en-US" sz="2400" dirty="0">
                <a:latin typeface="Times New Roman" panose="02020603050405020304" pitchFamily="18" charset="0"/>
                <a:cs typeface="Times New Roman" panose="02020603050405020304" pitchFamily="18" charset="0"/>
              </a:rPr>
              <a:t>refer to steps that can be taken to minimize the magnitude of the detrimental noise impacts. </a:t>
            </a:r>
          </a:p>
          <a:p>
            <a:pPr algn="just"/>
            <a:r>
              <a:rPr lang="en-US" sz="2400" dirty="0">
                <a:latin typeface="Times New Roman" panose="02020603050405020304" pitchFamily="18" charset="0"/>
                <a:cs typeface="Times New Roman" panose="02020603050405020304" pitchFamily="18" charset="0"/>
              </a:rPr>
              <a:t>The key approach to mitigation is to reduce or control the noise expected to be emitted from the project </a:t>
            </a:r>
          </a:p>
          <a:p>
            <a:pPr algn="just"/>
            <a:r>
              <a:rPr lang="en-US" sz="2400" dirty="0">
                <a:latin typeface="Times New Roman" panose="02020603050405020304" pitchFamily="18" charset="0"/>
                <a:cs typeface="Times New Roman" panose="02020603050405020304" pitchFamily="18" charset="0"/>
              </a:rPr>
              <a:t> Mitigation can proceed along three possible courses of action, either by changing I. the source of noise, 2. the path of noise from the source to the receiver, or 3. the receiver of noise.</a:t>
            </a:r>
          </a:p>
          <a:p>
            <a:pPr algn="just"/>
            <a:r>
              <a:rPr lang="en-US" sz="2400" dirty="0">
                <a:latin typeface="Times New Roman" panose="02020603050405020304" pitchFamily="18" charset="0"/>
                <a:cs typeface="Times New Roman" panose="02020603050405020304" pitchFamily="18" charset="0"/>
              </a:rPr>
              <a:t> Some additional principles of noise control include the reduction of the number. of vibrating sources, enclosure of the source, and attenuation of noise by absorbing barriers methods.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18386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8220D-228A-FFE4-D12D-117E36F5AE23}"/>
              </a:ext>
            </a:extLst>
          </p:cNvPr>
          <p:cNvSpPr>
            <a:spLocks noGrp="1"/>
          </p:cNvSpPr>
          <p:nvPr>
            <p:ph type="title"/>
          </p:nvPr>
        </p:nvSpPr>
        <p:spPr>
          <a:xfrm>
            <a:off x="457200" y="0"/>
            <a:ext cx="8839199" cy="1905000"/>
          </a:xfrm>
        </p:spPr>
        <p:txBody>
          <a:bodyPr/>
          <a:lstStyle/>
          <a:p>
            <a:r>
              <a:rPr lang="en-US" dirty="0">
                <a:latin typeface="Times New Roman" panose="02020603050405020304" pitchFamily="18" charset="0"/>
                <a:cs typeface="Times New Roman" panose="02020603050405020304" pitchFamily="18" charset="0"/>
              </a:rPr>
              <a:t>Step 7: Prediction of Final Impact Statement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E1B0A32-2361-2194-3059-49600F6C75B3}"/>
              </a:ext>
            </a:extLst>
          </p:cNvPr>
          <p:cNvSpPr>
            <a:spLocks noGrp="1"/>
          </p:cNvSpPr>
          <p:nvPr>
            <p:ph idx="1"/>
          </p:nvPr>
        </p:nvSpPr>
        <p:spPr>
          <a:xfrm>
            <a:off x="838201" y="2133600"/>
            <a:ext cx="7696200" cy="3777622"/>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The final environment impact statement should include summary tables and discussion with industries. </a:t>
            </a:r>
          </a:p>
          <a:p>
            <a:pPr marL="0" indent="0" algn="just">
              <a:buNone/>
            </a:pPr>
            <a:r>
              <a:rPr lang="en-US" sz="2400" dirty="0">
                <a:latin typeface="Times New Roman" panose="02020603050405020304" pitchFamily="18" charset="0"/>
                <a:cs typeface="Times New Roman" panose="02020603050405020304" pitchFamily="18" charset="0"/>
              </a:rPr>
              <a:t>The results of analysis will help in decision making. </a:t>
            </a:r>
          </a:p>
          <a:p>
            <a:pPr marL="0" indent="0" algn="just">
              <a:buNone/>
            </a:pPr>
            <a:r>
              <a:rPr lang="en-US" sz="2400" dirty="0">
                <a:latin typeface="Times New Roman" panose="02020603050405020304" pitchFamily="18" charset="0"/>
                <a:cs typeface="Times New Roman" panose="02020603050405020304" pitchFamily="18" charset="0"/>
              </a:rPr>
              <a:t>Maps should show location of surface receptors and measurement rates and size balance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8247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2074A-F59F-0049-933A-E0D1BCD377C4}"/>
              </a:ext>
            </a:extLst>
          </p:cNvPr>
          <p:cNvSpPr>
            <a:spLocks noGrp="1"/>
          </p:cNvSpPr>
          <p:nvPr>
            <p:ph type="title"/>
          </p:nvPr>
        </p:nvSpPr>
        <p:spPr>
          <a:xfrm>
            <a:off x="152400" y="152400"/>
            <a:ext cx="8382001" cy="609600"/>
          </a:xfrm>
        </p:spPr>
        <p:txBody>
          <a:bodyPr>
            <a:normAutofit fontScale="90000"/>
          </a:bodyPr>
          <a:lstStyle/>
          <a:p>
            <a:r>
              <a:rPr lang="en-US" sz="3600" dirty="0">
                <a:latin typeface="Times New Roman" panose="02020603050405020304" pitchFamily="18" charset="0"/>
                <a:cs typeface="Times New Roman" panose="02020603050405020304" pitchFamily="18" charset="0"/>
              </a:rPr>
              <a:t>Assessment of ecological impacts</a:t>
            </a:r>
            <a:endParaRPr lang="en-IN" dirty="0"/>
          </a:p>
        </p:txBody>
      </p:sp>
      <p:sp>
        <p:nvSpPr>
          <p:cNvPr id="3" name="Content Placeholder 2">
            <a:extLst>
              <a:ext uri="{FF2B5EF4-FFF2-40B4-BE49-F238E27FC236}">
                <a16:creationId xmlns:a16="http://schemas.microsoft.com/office/drawing/2014/main" id="{89E6F127-B59A-F195-5BDD-124624D52012}"/>
              </a:ext>
            </a:extLst>
          </p:cNvPr>
          <p:cNvSpPr>
            <a:spLocks noGrp="1"/>
          </p:cNvSpPr>
          <p:nvPr>
            <p:ph idx="1"/>
          </p:nvPr>
        </p:nvSpPr>
        <p:spPr>
          <a:xfrm>
            <a:off x="609598" y="1219200"/>
            <a:ext cx="8382002" cy="5334000"/>
          </a:xfrm>
        </p:spPr>
        <p:txBody>
          <a:bodyPr>
            <a:normAutofit/>
          </a:bodyPr>
          <a:lstStyle/>
          <a:p>
            <a:r>
              <a:rPr lang="en-US" sz="2400" dirty="0">
                <a:latin typeface="Times New Roman" panose="02020603050405020304" pitchFamily="18" charset="0"/>
                <a:cs typeface="Times New Roman" panose="02020603050405020304" pitchFamily="18" charset="0"/>
              </a:rPr>
              <a:t>Many developmental activities -play a major role in the overall reduction of biodiversity.</a:t>
            </a:r>
          </a:p>
          <a:p>
            <a:r>
              <a:rPr lang="en-US" sz="2400" dirty="0">
                <a:latin typeface="Times New Roman" panose="02020603050405020304" pitchFamily="18" charset="0"/>
                <a:cs typeface="Times New Roman" panose="02020603050405020304" pitchFamily="18" charset="0"/>
              </a:rPr>
              <a:t> proper planning at the project level can go a long way in limiting the loss, </a:t>
            </a:r>
          </a:p>
          <a:p>
            <a:r>
              <a:rPr lang="en-US" sz="2400" dirty="0">
                <a:latin typeface="Times New Roman" panose="02020603050405020304" pitchFamily="18" charset="0"/>
                <a:cs typeface="Times New Roman" panose="02020603050405020304" pitchFamily="18" charset="0"/>
              </a:rPr>
              <a:t>while still serving the needs of the people for which the project is started. </a:t>
            </a:r>
          </a:p>
          <a:p>
            <a:r>
              <a:rPr lang="en-US" sz="2400" dirty="0">
                <a:latin typeface="Times New Roman" panose="02020603050405020304" pitchFamily="18" charset="0"/>
                <a:cs typeface="Times New Roman" panose="02020603050405020304" pitchFamily="18" charset="0"/>
              </a:rPr>
              <a:t>Some development activities have </a:t>
            </a:r>
            <a:r>
              <a:rPr lang="en-US" sz="2400" dirty="0">
                <a:solidFill>
                  <a:srgbClr val="FF0000"/>
                </a:solidFill>
                <a:latin typeface="Times New Roman" panose="02020603050405020304" pitchFamily="18" charset="0"/>
                <a:cs typeface="Times New Roman" panose="02020603050405020304" pitchFamily="18" charset="0"/>
              </a:rPr>
              <a:t>direct impacts </a:t>
            </a:r>
            <a:r>
              <a:rPr lang="en-US" sz="2400" dirty="0">
                <a:latin typeface="Times New Roman" panose="02020603050405020304" pitchFamily="18" charset="0"/>
                <a:cs typeface="Times New Roman" panose="02020603050405020304" pitchFamily="18" charset="0"/>
              </a:rPr>
              <a:t>on biological systems. </a:t>
            </a:r>
          </a:p>
          <a:p>
            <a:r>
              <a:rPr lang="en-US" sz="2400" i="1" dirty="0">
                <a:latin typeface="Times New Roman" panose="02020603050405020304" pitchFamily="18" charset="0"/>
                <a:cs typeface="Times New Roman" panose="02020603050405020304" pitchFamily="18" charset="0"/>
              </a:rPr>
              <a:t>Example- clearing of land for infrastructure will destroy vegetation and displace animals. Introduction of contaminants may cause direct mortality of plants and animals. </a:t>
            </a:r>
            <a:endParaRPr lang="en-IN"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80264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940AA5-EB03-98AE-7368-95204BA43A9B}"/>
              </a:ext>
            </a:extLst>
          </p:cNvPr>
          <p:cNvSpPr>
            <a:spLocks noGrp="1"/>
          </p:cNvSpPr>
          <p:nvPr>
            <p:ph idx="1"/>
          </p:nvPr>
        </p:nvSpPr>
        <p:spPr>
          <a:xfrm>
            <a:off x="381001" y="304800"/>
            <a:ext cx="8153400" cy="5606422"/>
          </a:xfrm>
        </p:spPr>
        <p:txBody>
          <a:bodyPr/>
          <a:lstStyle/>
          <a:p>
            <a:endParaRPr lang="en-US" sz="1800" dirty="0"/>
          </a:p>
          <a:p>
            <a:endParaRPr lang="en-US" dirty="0"/>
          </a:p>
          <a:p>
            <a:r>
              <a:rPr lang="en-US" sz="2400" dirty="0">
                <a:latin typeface="Times New Roman" panose="02020603050405020304" pitchFamily="18" charset="0"/>
                <a:cs typeface="Times New Roman" panose="02020603050405020304" pitchFamily="18" charset="0"/>
              </a:rPr>
              <a:t>in many cases- it is changes in the physical environment caused by development -often lead to </a:t>
            </a:r>
            <a:r>
              <a:rPr lang="en-US" sz="2400" dirty="0">
                <a:solidFill>
                  <a:srgbClr val="FF0000"/>
                </a:solidFill>
                <a:latin typeface="Times New Roman" panose="02020603050405020304" pitchFamily="18" charset="0"/>
                <a:cs typeface="Times New Roman" panose="02020603050405020304" pitchFamily="18" charset="0"/>
              </a:rPr>
              <a:t>secondary or high order </a:t>
            </a:r>
            <a:r>
              <a:rPr lang="en-US" sz="2400" dirty="0">
                <a:latin typeface="Times New Roman" panose="02020603050405020304" pitchFamily="18" charset="0"/>
                <a:cs typeface="Times New Roman" panose="02020603050405020304" pitchFamily="18" charset="0"/>
              </a:rPr>
              <a:t>changes in plants and animals. </a:t>
            </a:r>
          </a:p>
          <a:p>
            <a:r>
              <a:rPr lang="en-US" sz="2400" i="1" dirty="0">
                <a:latin typeface="Times New Roman" panose="02020603050405020304" pitchFamily="18" charset="0"/>
                <a:cs typeface="Times New Roman" panose="02020603050405020304" pitchFamily="18" charset="0"/>
              </a:rPr>
              <a:t>For example, changes in downstream flow as a result of an upstream dam on a river may change the productivity of fish population. </a:t>
            </a:r>
          </a:p>
          <a:p>
            <a:r>
              <a:rPr lang="en-US" sz="2400" i="1" dirty="0">
                <a:latin typeface="Times New Roman" panose="02020603050405020304" pitchFamily="18" charset="0"/>
                <a:cs typeface="Times New Roman" panose="02020603050405020304" pitchFamily="18" charset="0"/>
              </a:rPr>
              <a:t>Alternatively, industrial pollution may be transported downstream and move through the food chain and ultimately contaminate the fish and wildlife populations that depend on the river.</a:t>
            </a:r>
            <a:endParaRPr lang="en-IN"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63196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BB84-6F7F-CDFC-2478-1783809F60B4}"/>
              </a:ext>
            </a:extLst>
          </p:cNvPr>
          <p:cNvSpPr>
            <a:spLocks noGrp="1"/>
          </p:cNvSpPr>
          <p:nvPr>
            <p:ph type="title"/>
          </p:nvPr>
        </p:nvSpPr>
        <p:spPr>
          <a:xfrm>
            <a:off x="457200" y="0"/>
            <a:ext cx="8762999" cy="1905000"/>
          </a:xfrm>
        </p:spPr>
        <p:txBody>
          <a:bodyPr>
            <a:normAutofit/>
          </a:bodyPr>
          <a:lstStyle/>
          <a:p>
            <a:r>
              <a:rPr lang="en-US" dirty="0">
                <a:latin typeface="Times New Roman" panose="02020603050405020304" pitchFamily="18" charset="0"/>
                <a:cs typeface="Times New Roman" panose="02020603050405020304" pitchFamily="18" charset="0"/>
              </a:rPr>
              <a:t>General Methodology for the Assessment of Impacts on Biological Environment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2E1C1A3-161D-DC4B-DE7A-6D98D0833A95}"/>
              </a:ext>
            </a:extLst>
          </p:cNvPr>
          <p:cNvSpPr>
            <a:spLocks noGrp="1"/>
          </p:cNvSpPr>
          <p:nvPr>
            <p:ph idx="1"/>
          </p:nvPr>
        </p:nvSpPr>
        <p:spPr>
          <a:xfrm>
            <a:off x="457200" y="1143000"/>
            <a:ext cx="7963585" cy="5301622"/>
          </a:xfrm>
        </p:spPr>
        <p:txBody>
          <a:bodyPr>
            <a:noAutofit/>
          </a:bodyPr>
          <a:lstStyle/>
          <a:p>
            <a:r>
              <a:rPr lang="en-US" sz="2000" dirty="0">
                <a:latin typeface="Times New Roman" panose="02020603050405020304" pitchFamily="18" charset="0"/>
                <a:cs typeface="Times New Roman" panose="02020603050405020304" pitchFamily="18" charset="0"/>
              </a:rPr>
              <a:t>Prediction and assessment of impacts on the biological environment involve a number technical and professional considerations related to both the predictive aspects and the interpretation of the significance of anticipated changes, </a:t>
            </a:r>
          </a:p>
          <a:p>
            <a:r>
              <a:rPr lang="en-US" sz="2000" b="1" i="1" dirty="0">
                <a:latin typeface="Times New Roman" panose="02020603050405020304" pitchFamily="18" charset="0"/>
                <a:cs typeface="Times New Roman" panose="02020603050405020304" pitchFamily="18" charset="0"/>
              </a:rPr>
              <a:t>Biological Impact Assessment </a:t>
            </a:r>
          </a:p>
          <a:p>
            <a:pPr marL="0" indent="0">
              <a:buNone/>
            </a:pPr>
            <a:r>
              <a:rPr lang="en-US" sz="2000" b="1" i="1" dirty="0">
                <a:latin typeface="Times New Roman" panose="02020603050405020304" pitchFamily="18" charset="0"/>
                <a:cs typeface="Times New Roman" panose="02020603050405020304" pitchFamily="18" charset="0"/>
              </a:rPr>
              <a:t>The biological assessment of the impact of any proposed project or action, may include </a:t>
            </a:r>
          </a:p>
          <a:p>
            <a:r>
              <a:rPr lang="en-US" sz="2000" dirty="0">
                <a:latin typeface="Times New Roman" panose="02020603050405020304" pitchFamily="18" charset="0"/>
                <a:cs typeface="Times New Roman" panose="02020603050405020304" pitchFamily="18" charset="0"/>
              </a:rPr>
              <a:t>Results of on-site inspections or surveys</a:t>
            </a:r>
          </a:p>
          <a:p>
            <a:r>
              <a:rPr lang="en-US" sz="2000" dirty="0">
                <a:latin typeface="Times New Roman" panose="02020603050405020304" pitchFamily="18" charset="0"/>
                <a:cs typeface="Times New Roman" panose="02020603050405020304" pitchFamily="18" charset="0"/>
              </a:rPr>
              <a:t> Views of recognized experts </a:t>
            </a:r>
          </a:p>
          <a:p>
            <a:r>
              <a:rPr lang="en-US" sz="2000" dirty="0">
                <a:latin typeface="Times New Roman" panose="02020603050405020304" pitchFamily="18" charset="0"/>
                <a:cs typeface="Times New Roman" panose="02020603050405020304" pitchFamily="18" charset="0"/>
              </a:rPr>
              <a:t>Review of literature and other information </a:t>
            </a:r>
          </a:p>
          <a:p>
            <a:r>
              <a:rPr lang="en-US" sz="2000" dirty="0">
                <a:latin typeface="Times New Roman" panose="02020603050405020304" pitchFamily="18" charset="0"/>
                <a:cs typeface="Times New Roman" panose="02020603050405020304" pitchFamily="18" charset="0"/>
              </a:rPr>
              <a:t>Analysis of effects of the proposed project or action on the species and habitat </a:t>
            </a:r>
          </a:p>
          <a:p>
            <a:r>
              <a:rPr lang="en-US" sz="2000" dirty="0">
                <a:latin typeface="Times New Roman" panose="02020603050405020304" pitchFamily="18" charset="0"/>
                <a:cs typeface="Times New Roman" panose="02020603050405020304" pitchFamily="18" charset="0"/>
              </a:rPr>
              <a:t>Analysis of alternative actions considered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90429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BF0675-8FF3-2D98-CF0D-4CB8B44173AA}"/>
              </a:ext>
            </a:extLst>
          </p:cNvPr>
          <p:cNvSpPr>
            <a:spLocks noGrp="1"/>
          </p:cNvSpPr>
          <p:nvPr>
            <p:ph idx="1"/>
          </p:nvPr>
        </p:nvSpPr>
        <p:spPr>
          <a:xfrm>
            <a:off x="304800" y="685800"/>
            <a:ext cx="8458200" cy="6172200"/>
          </a:xfrm>
        </p:spPr>
        <p:txBody>
          <a:bodyPr>
            <a:normAutofit/>
          </a:bodyPr>
          <a:lstStyle/>
          <a:p>
            <a:endParaRPr lang="en-US" dirty="0"/>
          </a:p>
          <a:p>
            <a:endParaRPr lang="en-US" dirty="0"/>
          </a:p>
          <a:p>
            <a:r>
              <a:rPr lang="en-US" sz="2400" i="1" dirty="0">
                <a:latin typeface="Times New Roman" panose="02020603050405020304" pitchFamily="18" charset="0"/>
                <a:cs typeface="Times New Roman" panose="02020603050405020304" pitchFamily="18" charset="0"/>
              </a:rPr>
              <a:t>Biological Environment </a:t>
            </a:r>
          </a:p>
          <a:p>
            <a:pPr algn="just"/>
            <a:r>
              <a:rPr lang="en-US" sz="2400" dirty="0">
                <a:latin typeface="Times New Roman" panose="02020603050405020304" pitchFamily="18" charset="0"/>
                <a:cs typeface="Times New Roman" panose="02020603050405020304" pitchFamily="18" charset="0"/>
              </a:rPr>
              <a:t>The biological environment includes plants and animals, the distribution and abundance of the various species and the habitats of communities. </a:t>
            </a:r>
          </a:p>
          <a:p>
            <a:pPr algn="just"/>
            <a:r>
              <a:rPr lang="en-US" sz="2400" dirty="0">
                <a:latin typeface="Times New Roman" panose="02020603050405020304" pitchFamily="18" charset="0"/>
                <a:cs typeface="Times New Roman" panose="02020603050405020304" pitchFamily="18" charset="0"/>
              </a:rPr>
              <a:t>Species forming a community are often inter dependent so that a direct environmental effect on one species is likely to have indirect effect on other species. </a:t>
            </a:r>
          </a:p>
          <a:p>
            <a:pPr algn="just"/>
            <a:r>
              <a:rPr lang="en-US" sz="2400" dirty="0">
                <a:latin typeface="Times New Roman" panose="02020603050405020304" pitchFamily="18" charset="0"/>
                <a:cs typeface="Times New Roman" panose="02020603050405020304" pitchFamily="18" charset="0"/>
              </a:rPr>
              <a:t>This interference acts primarily through food chains but can also act through one species providing a habitat for another species. </a:t>
            </a:r>
          </a:p>
        </p:txBody>
      </p:sp>
    </p:spTree>
    <p:extLst>
      <p:ext uri="{BB962C8B-B14F-4D97-AF65-F5344CB8AC3E}">
        <p14:creationId xmlns:p14="http://schemas.microsoft.com/office/powerpoint/2010/main" val="19455421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2535D5-16F5-3068-CB0C-E02A6F50807B}"/>
              </a:ext>
            </a:extLst>
          </p:cNvPr>
          <p:cNvSpPr>
            <a:spLocks noGrp="1"/>
          </p:cNvSpPr>
          <p:nvPr>
            <p:ph idx="1"/>
          </p:nvPr>
        </p:nvSpPr>
        <p:spPr>
          <a:xfrm>
            <a:off x="304800" y="152400"/>
            <a:ext cx="8610600" cy="6553200"/>
          </a:xfrm>
        </p:spPr>
        <p:txBody>
          <a:bodyPr>
            <a:normAutofit/>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t>
            </a:r>
            <a:r>
              <a:rPr lang="en-US" sz="2300" dirty="0">
                <a:latin typeface="Times New Roman" panose="02020603050405020304" pitchFamily="18" charset="0"/>
                <a:cs typeface="Times New Roman" panose="02020603050405020304" pitchFamily="18" charset="0"/>
              </a:rPr>
              <a:t>A) Terrestrial Species 1. Terrestrial vegetation: It includes agricultural crops, pasture, the introduction, proliferation or control of noxious weeds as well as the native species. </a:t>
            </a:r>
          </a:p>
          <a:p>
            <a:pPr algn="just"/>
            <a:r>
              <a:rPr lang="en-US" sz="2300" dirty="0">
                <a:latin typeface="Times New Roman" panose="02020603050405020304" pitchFamily="18" charset="0"/>
                <a:cs typeface="Times New Roman" panose="02020603050405020304" pitchFamily="18" charset="0"/>
              </a:rPr>
              <a:t>2. Terrestrial wild life: native mammals, birds, reptiles, amphibians and invertebrates. Migration routes, resting areas, feeding grounds and water sources concentrate wildlife so that such places are particularly sensitive to developmental project activity. </a:t>
            </a:r>
          </a:p>
          <a:p>
            <a:pPr algn="just"/>
            <a:r>
              <a:rPr lang="en-US" sz="2300" dirty="0">
                <a:latin typeface="Times New Roman" panose="02020603050405020304" pitchFamily="18" charset="0"/>
                <a:cs typeface="Times New Roman" panose="02020603050405020304" pitchFamily="18" charset="0"/>
              </a:rPr>
              <a:t>3. Other terrestrial fauna: Included in this group are domestic and farm animals. Human dependence on such animals extends beyond the food chain to include economics and companionship. Insect and snails are especially important as carriers of parasitic diseases, which afflict the human community.</a:t>
            </a:r>
          </a:p>
          <a:p>
            <a:pPr marL="0" indent="0">
              <a:buNone/>
            </a:pP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02794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AEFC21-E425-7009-3DF7-00D365853388}"/>
              </a:ext>
            </a:extLst>
          </p:cNvPr>
          <p:cNvSpPr>
            <a:spLocks noGrp="1"/>
          </p:cNvSpPr>
          <p:nvPr>
            <p:ph idx="1"/>
          </p:nvPr>
        </p:nvSpPr>
        <p:spPr>
          <a:xfrm>
            <a:off x="533400" y="457200"/>
            <a:ext cx="8381999" cy="6553200"/>
          </a:xfrm>
        </p:spPr>
        <p:txBody>
          <a:bodyPr>
            <a:normAutofit/>
          </a:bodyPr>
          <a:lstStyle/>
          <a:p>
            <a:pPr algn="just"/>
            <a:r>
              <a:rPr lang="en-US" sz="2200" dirty="0">
                <a:latin typeface="Times New Roman" panose="02020603050405020304" pitchFamily="18" charset="0"/>
                <a:cs typeface="Times New Roman" panose="02020603050405020304" pitchFamily="18" charset="0"/>
              </a:rPr>
              <a:t>4. Aquatic/marine flora: These are important because they provide an important habitat and food for other aquatic marine life and sustain our fresh water or marine fisheries. Mangrove forests, various species sea weeds and kelp are important. The proliferation of fresh water species can have an impact on the economic use of inland waterways.</a:t>
            </a:r>
          </a:p>
          <a:p>
            <a:pPr algn="just"/>
            <a:r>
              <a:rPr lang="en-US" sz="2200" dirty="0">
                <a:latin typeface="Times New Roman" panose="02020603050405020304" pitchFamily="18" charset="0"/>
                <a:cs typeface="Times New Roman" panose="02020603050405020304" pitchFamily="18" charset="0"/>
              </a:rPr>
              <a:t> 5. Fish: They are considered separately because they provide an important source of animal proteins. In addition to fresh water and marine fish, invertebrates such as prawns, shellfish, </a:t>
            </a:r>
            <a:r>
              <a:rPr lang="en-US" sz="2200" dirty="0" err="1">
                <a:latin typeface="Times New Roman" panose="02020603050405020304" pitchFamily="18" charset="0"/>
                <a:cs typeface="Times New Roman" panose="02020603050405020304" pitchFamily="18" charset="0"/>
              </a:rPr>
              <a:t>crales</a:t>
            </a:r>
            <a:r>
              <a:rPr lang="en-US" sz="2200" dirty="0">
                <a:latin typeface="Times New Roman" panose="02020603050405020304" pitchFamily="18" charset="0"/>
                <a:cs typeface="Times New Roman" panose="02020603050405020304" pitchFamily="18" charset="0"/>
              </a:rPr>
              <a:t> and squid should be considered. Species in the brackish- water estuarine environment are of particular importance to man's food chain. </a:t>
            </a:r>
          </a:p>
          <a:p>
            <a:pPr algn="just"/>
            <a:r>
              <a:rPr lang="en-US" sz="2200" dirty="0">
                <a:latin typeface="Times New Roman" panose="02020603050405020304" pitchFamily="18" charset="0"/>
                <a:cs typeface="Times New Roman" panose="02020603050405020304" pitchFamily="18" charset="0"/>
              </a:rPr>
              <a:t>6. Other aquatic marine fauna: Other species that are not of direct economic importance may form a part of the food chain. Any project, which has a major impact on species populations, can have an equally major indirect impact on the economically important varieties of marine life</a:t>
            </a:r>
            <a:endParaRPr lang="en-IN" sz="2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496451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65A6A7-737C-F8D7-49F3-611777D53912}"/>
              </a:ext>
            </a:extLst>
          </p:cNvPr>
          <p:cNvSpPr>
            <a:spLocks noGrp="1"/>
          </p:cNvSpPr>
          <p:nvPr>
            <p:ph idx="1"/>
          </p:nvPr>
        </p:nvSpPr>
        <p:spPr>
          <a:xfrm>
            <a:off x="457200" y="685800"/>
            <a:ext cx="8458199" cy="6172200"/>
          </a:xfrm>
        </p:spPr>
        <p:txBody>
          <a:bodyPr>
            <a:normAutofit/>
          </a:bodyPr>
          <a:lstStyle/>
          <a:p>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(B) Habitats and communities </a:t>
            </a:r>
          </a:p>
          <a:p>
            <a:pPr algn="just"/>
            <a:r>
              <a:rPr lang="en-US" sz="2400" dirty="0">
                <a:latin typeface="Times New Roman" panose="02020603050405020304" pitchFamily="18" charset="0"/>
                <a:cs typeface="Times New Roman" panose="02020603050405020304" pitchFamily="18" charset="0"/>
              </a:rPr>
              <a:t>In considering the environmental effects of development on habitats and communities the special features of terrestrial, aquatic estuarine and marine ecosystems should be considered separately. Special consideration should be given to bird life in considering wetland habitats. 1. Terrestrial habitats : Swamps, wet lands, bird nesting areas, grazing areas, watering places and migration routes should be considered. 2. Terrestrial communities: Special plant communities at high altitudes or those that are residual in an otherwise altered environment should be considered.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14109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189C44-A96D-0853-976B-B95DB4688D26}"/>
              </a:ext>
            </a:extLst>
          </p:cNvPr>
          <p:cNvSpPr>
            <a:spLocks noGrp="1"/>
          </p:cNvSpPr>
          <p:nvPr>
            <p:ph idx="1"/>
          </p:nvPr>
        </p:nvSpPr>
        <p:spPr>
          <a:xfrm>
            <a:off x="914399" y="1066800"/>
            <a:ext cx="8077201" cy="5638800"/>
          </a:xfrm>
        </p:spPr>
        <p:txBody>
          <a:bodyPr>
            <a:normAutofit/>
          </a:bodyPr>
          <a:lstStyle/>
          <a:p>
            <a:pPr algn="just"/>
            <a:r>
              <a:rPr lang="en-US" sz="2400" dirty="0">
                <a:latin typeface="Times New Roman" panose="02020603050405020304" pitchFamily="18" charset="0"/>
                <a:cs typeface="Times New Roman" panose="02020603050405020304" pitchFamily="18" charset="0"/>
              </a:rPr>
              <a:t>3. Aquatic, estuarine or marine habitats : Nursery and breeding areas near shoreline are considered: Wetlands are important. Damage may occur by siltation. Chemical, physical and biological pollutants may each have major impacts. Oil spills are important in marine environment. Gravel beds are important for spawning. </a:t>
            </a:r>
          </a:p>
          <a:p>
            <a:pPr algn="just"/>
            <a:r>
              <a:rPr lang="en-US" sz="2400" dirty="0">
                <a:latin typeface="Times New Roman" panose="02020603050405020304" pitchFamily="18" charset="0"/>
                <a:cs typeface="Times New Roman" panose="02020603050405020304" pitchFamily="18" charset="0"/>
              </a:rPr>
              <a:t>4. Aquatic, estuarine or marine communities : The food chain relationships involving fish and invertebrates and vegetation are important and should be understood. Siltation and chemical pollution can severely disrupt the balance or the very existence of the community. Project design should aim to leave communities intact and at the very least protect key community components such as invertebrates.</a:t>
            </a:r>
            <a:endParaRPr lang="en-IN" sz="2400" dirty="0"/>
          </a:p>
        </p:txBody>
      </p:sp>
    </p:spTree>
    <p:extLst>
      <p:ext uri="{BB962C8B-B14F-4D97-AF65-F5344CB8AC3E}">
        <p14:creationId xmlns:p14="http://schemas.microsoft.com/office/powerpoint/2010/main" val="2647998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E5E7E-D7CC-8D78-48BC-01FBAFEB9199}"/>
              </a:ext>
            </a:extLst>
          </p:cNvPr>
          <p:cNvSpPr>
            <a:spLocks noGrp="1"/>
          </p:cNvSpPr>
          <p:nvPr>
            <p:ph type="title"/>
          </p:nvPr>
        </p:nvSpPr>
        <p:spPr>
          <a:xfrm>
            <a:off x="381000" y="0"/>
            <a:ext cx="8534399" cy="1905000"/>
          </a:xfrm>
        </p:spPr>
        <p:txBody>
          <a:bodyPr>
            <a:normAutofit/>
          </a:bodyPr>
          <a:lstStyle/>
          <a:p>
            <a:r>
              <a:rPr lang="en-US" dirty="0">
                <a:latin typeface="Times New Roman" panose="02020603050405020304" pitchFamily="18" charset="0"/>
                <a:cs typeface="Times New Roman" panose="02020603050405020304" pitchFamily="18" charset="0"/>
              </a:rPr>
              <a:t>Systematic Approach for Evaluating Biological Impacts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3CDB8-5A00-6FFD-45DF-5A3AD82363E9}"/>
              </a:ext>
            </a:extLst>
          </p:cNvPr>
          <p:cNvSpPr>
            <a:spLocks noGrp="1"/>
          </p:cNvSpPr>
          <p:nvPr>
            <p:ph idx="1"/>
          </p:nvPr>
        </p:nvSpPr>
        <p:spPr>
          <a:xfrm>
            <a:off x="457201" y="2133600"/>
            <a:ext cx="8077200" cy="4724400"/>
          </a:xfrm>
        </p:spPr>
        <p:txBody>
          <a:bodyPr>
            <a:normAutofit/>
          </a:bodyPr>
          <a:lstStyle/>
          <a:p>
            <a:pPr algn="just"/>
            <a:r>
              <a:rPr lang="en-US" sz="2400" dirty="0">
                <a:latin typeface="Times New Roman" panose="02020603050405020304" pitchFamily="18" charset="0"/>
                <a:cs typeface="Times New Roman" panose="02020603050405020304" pitchFamily="18" charset="0"/>
              </a:rPr>
              <a:t>a six-step protocol was formulated for planning and conducting impact studies. </a:t>
            </a:r>
          </a:p>
          <a:p>
            <a:pPr algn="just"/>
            <a:r>
              <a:rPr lang="en-US" sz="2400" dirty="0">
                <a:latin typeface="Times New Roman" panose="02020603050405020304" pitchFamily="18" charset="0"/>
                <a:cs typeface="Times New Roman" panose="02020603050405020304" pitchFamily="18" charset="0"/>
              </a:rPr>
              <a:t>This protocol is flexible and can be adapted to various project types by modification as needed to enable the addressing of concerns of specific projects in unique locations. </a:t>
            </a:r>
          </a:p>
        </p:txBody>
      </p:sp>
    </p:spTree>
    <p:extLst>
      <p:ext uri="{BB962C8B-B14F-4D97-AF65-F5344CB8AC3E}">
        <p14:creationId xmlns:p14="http://schemas.microsoft.com/office/powerpoint/2010/main" val="264317315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C8433F-D7F4-A5AE-D990-991E181F6683}"/>
              </a:ext>
            </a:extLst>
          </p:cNvPr>
          <p:cNvSpPr>
            <a:spLocks noGrp="1"/>
          </p:cNvSpPr>
          <p:nvPr>
            <p:ph idx="1"/>
          </p:nvPr>
        </p:nvSpPr>
        <p:spPr>
          <a:xfrm>
            <a:off x="304800" y="457200"/>
            <a:ext cx="8839199" cy="6400800"/>
          </a:xfrm>
        </p:spPr>
        <p:txBody>
          <a:bodyPr>
            <a:normAutofit/>
          </a:bodyPr>
          <a:lstStyle/>
          <a:p>
            <a:r>
              <a:rPr lang="en-US" sz="2000" dirty="0">
                <a:latin typeface="Times New Roman" panose="02020603050405020304" pitchFamily="18" charset="0"/>
                <a:cs typeface="Times New Roman" panose="02020603050405020304" pitchFamily="18" charset="0"/>
              </a:rPr>
              <a:t>The various phases associated with the evaluation of biological environment impacts are</a:t>
            </a:r>
          </a:p>
          <a:p>
            <a:pPr algn="just"/>
            <a:r>
              <a:rPr lang="en-US" sz="2000" dirty="0">
                <a:latin typeface="Times New Roman" panose="02020603050405020304" pitchFamily="18" charset="0"/>
                <a:cs typeface="Times New Roman" panose="02020603050405020304" pitchFamily="18" charset="0"/>
              </a:rPr>
              <a:t> 1. Identification of the potential biological impacts of the construction and/or operation of the proposed project or activity, including habitat changes or loss of chemical cycling and toxic events, and disruptions to ecological succession</a:t>
            </a:r>
          </a:p>
          <a:p>
            <a:pPr algn="just"/>
            <a:r>
              <a:rPr lang="en-US" sz="2000" dirty="0">
                <a:latin typeface="Times New Roman" panose="02020603050405020304" pitchFamily="18" charset="0"/>
                <a:cs typeface="Times New Roman" panose="02020603050405020304" pitchFamily="18" charset="0"/>
              </a:rPr>
              <a:t>2. Description of the environmental setting in terms of habitat types, selected floral and faunal species, management practices, endangered or threatened species, and special features (such as wetlands)</a:t>
            </a:r>
          </a:p>
          <a:p>
            <a:pPr algn="just"/>
            <a:r>
              <a:rPr lang="en-US" sz="2000" dirty="0">
                <a:latin typeface="Times New Roman" panose="02020603050405020304" pitchFamily="18" charset="0"/>
                <a:cs typeface="Times New Roman" panose="02020603050405020304" pitchFamily="18" charset="0"/>
              </a:rPr>
              <a:t>3. Procurement of relevant laws, regulations or criteria related to biological resources and protection of habitat or species</a:t>
            </a:r>
          </a:p>
          <a:p>
            <a:pPr algn="just"/>
            <a:r>
              <a:rPr lang="en-US" sz="2000" dirty="0">
                <a:latin typeface="Times New Roman" panose="02020603050405020304" pitchFamily="18" charset="0"/>
                <a:cs typeface="Times New Roman" panose="02020603050405020304" pitchFamily="18" charset="0"/>
              </a:rPr>
              <a:t>4. Conducting of impact prediction activities including the use of analogies (case studies), physical modeling and/or mathematical modeling, as based on professional judgment</a:t>
            </a:r>
          </a:p>
          <a:p>
            <a:pPr algn="just"/>
            <a:r>
              <a:rPr lang="en-US" sz="2000" dirty="0">
                <a:latin typeface="Times New Roman" panose="02020603050405020304" pitchFamily="18" charset="0"/>
                <a:cs typeface="Times New Roman" panose="02020603050405020304" pitchFamily="18" charset="0"/>
              </a:rPr>
              <a:t>5. Use of pertinent information from step 3, along with professional judgment and public input, to assess the significance of anticipated beneficial and detrimental impacts </a:t>
            </a:r>
          </a:p>
          <a:p>
            <a:pPr algn="just"/>
            <a:r>
              <a:rPr lang="en-US" sz="2000" dirty="0">
                <a:latin typeface="Times New Roman" panose="02020603050405020304" pitchFamily="18" charset="0"/>
                <a:cs typeface="Times New Roman" panose="02020603050405020304" pitchFamily="18" charset="0"/>
              </a:rPr>
              <a:t>6. Identification, development and incorporation of appropriate mitigation measures for the adverse impacts. </a:t>
            </a:r>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2964750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59FD0-C5B4-40B1-79DE-D670B82D9FE1}"/>
              </a:ext>
            </a:extLst>
          </p:cNvPr>
          <p:cNvSpPr>
            <a:spLocks noGrp="1"/>
          </p:cNvSpPr>
          <p:nvPr>
            <p:ph type="title"/>
          </p:nvPr>
        </p:nvSpPr>
        <p:spPr>
          <a:xfrm>
            <a:off x="457200" y="0"/>
            <a:ext cx="8534399" cy="838200"/>
          </a:xfrm>
        </p:spPr>
        <p:txBody>
          <a:bodyPr/>
          <a:lstStyle/>
          <a:p>
            <a:r>
              <a:rPr lang="en-US" dirty="0">
                <a:latin typeface="Times New Roman" panose="02020603050405020304" pitchFamily="18" charset="0"/>
                <a:cs typeface="Times New Roman" panose="02020603050405020304" pitchFamily="18" charset="0"/>
              </a:rPr>
              <a:t>Step 1: Identification of Biological </a:t>
            </a:r>
            <a:r>
              <a:rPr lang="en-US" dirty="0" err="1">
                <a:latin typeface="Times New Roman" panose="02020603050405020304" pitchFamily="18" charset="0"/>
                <a:cs typeface="Times New Roman" panose="02020603050405020304" pitchFamily="18" charset="0"/>
              </a:rPr>
              <a:t>lmpacts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4673F3D-D298-F1B0-EA4E-A4945B38E233}"/>
              </a:ext>
            </a:extLst>
          </p:cNvPr>
          <p:cNvSpPr>
            <a:spLocks noGrp="1"/>
          </p:cNvSpPr>
          <p:nvPr>
            <p:ph idx="1"/>
          </p:nvPr>
        </p:nvSpPr>
        <p:spPr>
          <a:xfrm>
            <a:off x="457200" y="838200"/>
            <a:ext cx="8534399" cy="5791200"/>
          </a:xfrm>
        </p:spPr>
        <p:txBody>
          <a:bodyPr>
            <a:normAutofit/>
          </a:bodyPr>
          <a:lstStyle/>
          <a:p>
            <a:pPr algn="just"/>
            <a:r>
              <a:rPr lang="en-US" sz="2400" dirty="0">
                <a:latin typeface="Times New Roman" panose="02020603050405020304" pitchFamily="18" charset="0"/>
                <a:cs typeface="Times New Roman" panose="02020603050405020304" pitchFamily="18" charset="0"/>
              </a:rPr>
              <a:t>The first step is to qualitatively identify the potential impacts of the proposed project on biological resources, including habitats and species. Many projects can cause terrestrial habitat loss. </a:t>
            </a:r>
          </a:p>
          <a:p>
            <a:pPr algn="just"/>
            <a:r>
              <a:rPr lang="en-US" sz="2400" dirty="0">
                <a:latin typeface="Times New Roman" panose="02020603050405020304" pitchFamily="18" charset="0"/>
                <a:cs typeface="Times New Roman" panose="02020603050405020304" pitchFamily="18" charset="0"/>
              </a:rPr>
              <a:t>The loss and degradation of terrestrial environments could be classified into eight casual categories: I. Land conversion for industrial and residential use, 2. Land conversion for agricultural use, 3. Land conversion for transportation use, 4. Timbering practices, 5. Grazing practices, 6. Mining practices, 7. Water management practices, and 8.Military, recreational. and other activities.</a:t>
            </a:r>
          </a:p>
          <a:p>
            <a:pPr algn="just"/>
            <a:r>
              <a:rPr lang="en-US" sz="2400" dirty="0">
                <a:latin typeface="Times New Roman" panose="02020603050405020304" pitchFamily="18" charset="0"/>
                <a:cs typeface="Times New Roman" panose="02020603050405020304" pitchFamily="18" charset="0"/>
              </a:rPr>
              <a:t> These causal activities contribute to the degradation and loss of ecological values, including animal and plant species: ecosystem structure and ecosystem function (energy flow, nutrient cycling, and water retent</a:t>
            </a:r>
            <a:r>
              <a:rPr lang="en-US" sz="2000" dirty="0">
                <a:latin typeface="Times New Roman" panose="02020603050405020304" pitchFamily="18" charset="0"/>
                <a:cs typeface="Times New Roman" panose="02020603050405020304" pitchFamily="18" charset="0"/>
              </a:rPr>
              <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53240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CCC92-1D79-B55D-D7F5-61A6EA993BAF}"/>
              </a:ext>
            </a:extLst>
          </p:cNvPr>
          <p:cNvSpPr>
            <a:spLocks noGrp="1"/>
          </p:cNvSpPr>
          <p:nvPr>
            <p:ph type="title"/>
          </p:nvPr>
        </p:nvSpPr>
        <p:spPr>
          <a:xfrm>
            <a:off x="533403" y="0"/>
            <a:ext cx="8000998" cy="1905000"/>
          </a:xfrm>
        </p:spPr>
        <p:txBody>
          <a:bodyPr>
            <a:normAutofit/>
          </a:bodyPr>
          <a:lstStyle/>
          <a:p>
            <a:r>
              <a:rPr lang="en-US" dirty="0">
                <a:latin typeface="Times New Roman" panose="02020603050405020304" pitchFamily="18" charset="0"/>
                <a:cs typeface="Times New Roman" panose="02020603050405020304" pitchFamily="18" charset="0"/>
              </a:rPr>
              <a:t>Step 2: Description of Existing Biological - Environment Condition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7F7435B-2671-7DCF-F699-460BB7B3C451}"/>
              </a:ext>
            </a:extLst>
          </p:cNvPr>
          <p:cNvSpPr>
            <a:spLocks noGrp="1"/>
          </p:cNvSpPr>
          <p:nvPr>
            <p:ph idx="1"/>
          </p:nvPr>
        </p:nvSpPr>
        <p:spPr>
          <a:xfrm>
            <a:off x="152400" y="1524000"/>
            <a:ext cx="8991600" cy="5562600"/>
          </a:xfrm>
        </p:spPr>
        <p:txBody>
          <a:bodyPr>
            <a:noAutofit/>
          </a:bodyPr>
          <a:lstStyle/>
          <a:p>
            <a:pPr algn="just"/>
            <a:r>
              <a:rPr lang="en-US" sz="2400" dirty="0">
                <a:latin typeface="Times New Roman" panose="02020603050405020304" pitchFamily="18" charset="0"/>
                <a:cs typeface="Times New Roman" panose="02020603050405020304" pitchFamily="18" charset="0"/>
              </a:rPr>
              <a:t>The preparation of the description of the flora and fauna - and other natural resources and habitats constituting the biological - environment setting. </a:t>
            </a:r>
          </a:p>
          <a:p>
            <a:pPr algn="just"/>
            <a:r>
              <a:rPr lang="en-US" sz="2400" dirty="0">
                <a:latin typeface="Times New Roman" panose="02020603050405020304" pitchFamily="18" charset="0"/>
                <a:cs typeface="Times New Roman" panose="02020603050405020304" pitchFamily="18" charset="0"/>
              </a:rPr>
              <a:t>This description should primarily focus on community types (habitat types) and their geographical distribution.</a:t>
            </a:r>
          </a:p>
          <a:p>
            <a:pPr algn="just"/>
            <a:r>
              <a:rPr lang="en-US" sz="2400" dirty="0">
                <a:latin typeface="Times New Roman" panose="02020603050405020304" pitchFamily="18" charset="0"/>
                <a:cs typeface="Times New Roman" panose="02020603050405020304" pitchFamily="18" charset="0"/>
              </a:rPr>
              <a:t> It may be desirable to identify certain selected species and to include descriptions of those selected species for each community type. There are several options for achieving this step, like 1. use of species lists with qualitative descriptions, 2. use of structured data presentations with qualitative - quantitative descriptions, 3. use habitat - based methods, and 4. use of energy system diagrams.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00236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717AE-5330-CA49-CC26-7DE17A5806FB}"/>
              </a:ext>
            </a:extLst>
          </p:cNvPr>
          <p:cNvSpPr>
            <a:spLocks noGrp="1"/>
          </p:cNvSpPr>
          <p:nvPr>
            <p:ph type="title"/>
          </p:nvPr>
        </p:nvSpPr>
        <p:spPr>
          <a:xfrm>
            <a:off x="152401" y="0"/>
            <a:ext cx="8382000" cy="1905000"/>
          </a:xfrm>
        </p:spPr>
        <p:txBody>
          <a:bodyPr>
            <a:normAutofit/>
          </a:bodyPr>
          <a:lstStyle/>
          <a:p>
            <a:r>
              <a:rPr lang="en-US" dirty="0">
                <a:latin typeface="Times New Roman" panose="02020603050405020304" pitchFamily="18" charset="0"/>
                <a:cs typeface="Times New Roman" panose="02020603050405020304" pitchFamily="18" charset="0"/>
              </a:rPr>
              <a:t>STEP 3 : Procurement of Relevant Legislation and Regulations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8EDDAB-A827-86C8-31C6-9119AAA2A6C7}"/>
              </a:ext>
            </a:extLst>
          </p:cNvPr>
          <p:cNvSpPr>
            <a:spLocks noGrp="1"/>
          </p:cNvSpPr>
          <p:nvPr>
            <p:ph idx="1"/>
          </p:nvPr>
        </p:nvSpPr>
        <p:spPr>
          <a:xfrm>
            <a:off x="381000" y="1371600"/>
            <a:ext cx="8610599" cy="5486400"/>
          </a:xfrm>
        </p:spPr>
        <p:txBody>
          <a:bodyPr>
            <a:noAutofit/>
          </a:bodyPr>
          <a:lstStyle/>
          <a:p>
            <a:pPr algn="just"/>
            <a:r>
              <a:rPr lang="en-US" sz="2400" dirty="0">
                <a:latin typeface="Times New Roman" panose="02020603050405020304" pitchFamily="18" charset="0"/>
                <a:cs typeface="Times New Roman" panose="02020603050405020304" pitchFamily="18" charset="0"/>
              </a:rPr>
              <a:t>The primary sources of information on pertinent legislation, regulations, criteria, or guidelines related to the biological environment include environmental and/or natural resource agencies of the central and state levels. Local agencies and/or conservation groups may also provide pertinent information. Procurement of this information will facilitate the evaluation of baseline conditions and the data obtained can serve as a basis for impact significance determination .</a:t>
            </a:r>
          </a:p>
          <a:p>
            <a:pPr algn="just"/>
            <a:r>
              <a:rPr lang="en-US" sz="2400" dirty="0">
                <a:latin typeface="Times New Roman" panose="02020603050405020304" pitchFamily="18" charset="0"/>
                <a:cs typeface="Times New Roman" panose="02020603050405020304" pitchFamily="18" charset="0"/>
              </a:rPr>
              <a:t> Most of the biological-environment legislation, regulations, criteria, or guidelines are qualitative in terms of specific requirements. This is in contrast to' the substantive areas of air quality surface water and groundwater quality, soil quality, and environmental noise for which numerical standards are available. Sound professional judgment must be exercised in applying the qualitative requirements for the biological environment in this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234257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91C64-3771-924C-E956-AC25C3759EE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STEP 4 : Impact Prediction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F1D9BDE-951F-61BF-27D9-6628D4F9ADF3}"/>
              </a:ext>
            </a:extLst>
          </p:cNvPr>
          <p:cNvSpPr>
            <a:spLocks noGrp="1"/>
          </p:cNvSpPr>
          <p:nvPr>
            <p:ph idx="1"/>
          </p:nvPr>
        </p:nvSpPr>
        <p:spPr>
          <a:xfrm>
            <a:off x="533401" y="1600200"/>
            <a:ext cx="8001000" cy="5257800"/>
          </a:xfrm>
        </p:spPr>
        <p:txBody>
          <a:bodyPr>
            <a:normAutofit/>
          </a:bodyPr>
          <a:lstStyle/>
          <a:p>
            <a:r>
              <a:rPr lang="en-US" sz="2200" dirty="0">
                <a:latin typeface="Times New Roman" panose="02020603050405020304" pitchFamily="18" charset="0"/>
                <a:cs typeface="Times New Roman" panose="02020603050405020304" pitchFamily="18" charset="0"/>
              </a:rPr>
              <a:t>The most technically demanding step </a:t>
            </a:r>
          </a:p>
          <a:p>
            <a:r>
              <a:rPr lang="en-US" sz="2200" dirty="0">
                <a:latin typeface="Times New Roman" panose="02020603050405020304" pitchFamily="18" charset="0"/>
                <a:cs typeface="Times New Roman" panose="02020603050405020304" pitchFamily="18" charset="0"/>
              </a:rPr>
              <a:t>As a general principle the impacts should be quantified where possible with qualitative descriptions provided for those impacts which cannot be quantified. </a:t>
            </a:r>
          </a:p>
          <a:p>
            <a:r>
              <a:rPr lang="en-US" sz="2200" dirty="0">
                <a:latin typeface="Times New Roman" panose="02020603050405020304" pitchFamily="18" charset="0"/>
                <a:cs typeface="Times New Roman" panose="02020603050405020304" pitchFamily="18" charset="0"/>
              </a:rPr>
              <a:t>From historical perspective, impact prediction for the biological environment has focused on land-use or habitat changes and the associated implications of those factors relative to the biological system. </a:t>
            </a:r>
          </a:p>
          <a:p>
            <a:r>
              <a:rPr lang="en-US" sz="2200" dirty="0">
                <a:latin typeface="Times New Roman" panose="02020603050405020304" pitchFamily="18" charset="0"/>
                <a:cs typeface="Times New Roman" panose="02020603050405020304" pitchFamily="18" charset="0"/>
              </a:rPr>
              <a:t>Several options are available for impact prediction approaches, including qualitative descriptions of impacts, the use of habitat methods or ecosystem models, and the use of physical models or simulations</a:t>
            </a:r>
            <a:endParaRPr lang="en-IN" dirty="0"/>
          </a:p>
        </p:txBody>
      </p:sp>
    </p:spTree>
    <p:extLst>
      <p:ext uri="{BB962C8B-B14F-4D97-AF65-F5344CB8AC3E}">
        <p14:creationId xmlns:p14="http://schemas.microsoft.com/office/powerpoint/2010/main" val="39447619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F82AD-859D-8E04-3E23-4B6FF10A2EB6}"/>
              </a:ext>
            </a:extLst>
          </p:cNvPr>
          <p:cNvSpPr>
            <a:spLocks noGrp="1"/>
          </p:cNvSpPr>
          <p:nvPr>
            <p:ph type="title"/>
          </p:nvPr>
        </p:nvSpPr>
        <p:spPr>
          <a:xfrm>
            <a:off x="609601" y="0"/>
            <a:ext cx="7924799" cy="1905000"/>
          </a:xfrm>
        </p:spPr>
        <p:txBody>
          <a:bodyPr/>
          <a:lstStyle/>
          <a:p>
            <a:r>
              <a:rPr lang="en-US" dirty="0">
                <a:latin typeface="Times New Roman" panose="02020603050405020304" pitchFamily="18" charset="0"/>
                <a:cs typeface="Times New Roman" panose="02020603050405020304" pitchFamily="18" charset="0"/>
              </a:rPr>
              <a:t>Step.5: Assessment of Impact Significance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D2EB052-9814-8062-B926-3A75E8BAA859}"/>
              </a:ext>
            </a:extLst>
          </p:cNvPr>
          <p:cNvSpPr>
            <a:spLocks noGrp="1"/>
          </p:cNvSpPr>
          <p:nvPr>
            <p:ph idx="1"/>
          </p:nvPr>
        </p:nvSpPr>
        <p:spPr>
          <a:xfrm>
            <a:off x="609600" y="1447800"/>
            <a:ext cx="8534399" cy="5410200"/>
          </a:xfrm>
        </p:spPr>
        <p:txBody>
          <a:bodyPr>
            <a:normAutofit/>
          </a:bodyPr>
          <a:lstStyle/>
          <a:p>
            <a:r>
              <a:rPr lang="en-US" sz="2200" dirty="0">
                <a:latin typeface="Times New Roman" panose="02020603050405020304" pitchFamily="18" charset="0"/>
                <a:cs typeface="Times New Roman" panose="02020603050405020304" pitchFamily="18" charset="0"/>
              </a:rPr>
              <a:t>Is a function of impact magnitude and the value, sensitivity and recoverability (</a:t>
            </a:r>
            <a:r>
              <a:rPr lang="en-US" sz="2200" dirty="0" err="1">
                <a:latin typeface="Times New Roman" panose="02020603050405020304" pitchFamily="18" charset="0"/>
                <a:cs typeface="Times New Roman" panose="02020603050405020304" pitchFamily="18" charset="0"/>
              </a:rPr>
              <a:t>resilence</a:t>
            </a:r>
            <a:r>
              <a:rPr lang="en-US" sz="2200" dirty="0">
                <a:latin typeface="Times New Roman" panose="02020603050405020304" pitchFamily="18" charset="0"/>
                <a:cs typeface="Times New Roman" panose="02020603050405020304" pitchFamily="18" charset="0"/>
              </a:rPr>
              <a:t>) of ecological receptors.</a:t>
            </a:r>
          </a:p>
          <a:p>
            <a:r>
              <a:rPr lang="en-US" sz="2200" dirty="0">
                <a:latin typeface="Times New Roman" panose="02020603050405020304" pitchFamily="18" charset="0"/>
                <a:cs typeface="Times New Roman" panose="02020603050405020304" pitchFamily="18" charset="0"/>
              </a:rPr>
              <a:t> Interpretation of the anticipated impacts of a proposed project -considered not only in terms of individual species, but also relative to the general characteristics of the affected habitat and overall ecosystem. </a:t>
            </a:r>
          </a:p>
          <a:p>
            <a:r>
              <a:rPr lang="en-US" sz="2200" dirty="0">
                <a:latin typeface="Times New Roman" panose="02020603050405020304" pitchFamily="18" charset="0"/>
                <a:cs typeface="Times New Roman" panose="02020603050405020304" pitchFamily="18" charset="0"/>
              </a:rPr>
              <a:t>One basis -is to apply the institutional information described earlier, including relevant laws, regulations, criteria and guidelines. </a:t>
            </a:r>
          </a:p>
          <a:p>
            <a:r>
              <a:rPr lang="en-US" sz="2200" dirty="0">
                <a:latin typeface="Times New Roman" panose="02020603050405020304" pitchFamily="18" charset="0"/>
                <a:cs typeface="Times New Roman" panose="02020603050405020304" pitchFamily="18" charset="0"/>
              </a:rPr>
              <a:t>Another basis -is the biological science of professional interpretation approach. This involves the application of professional judgement and knowledge of biological-ecological principles, and it demonstrates why it is necessary for a biological scientist to be a part of an interdisciplinary study team. </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11469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D7D65-3270-1564-B8DE-787B73507830}"/>
              </a:ext>
            </a:extLst>
          </p:cNvPr>
          <p:cNvSpPr>
            <a:spLocks noGrp="1"/>
          </p:cNvSpPr>
          <p:nvPr>
            <p:ph type="title"/>
          </p:nvPr>
        </p:nvSpPr>
        <p:spPr>
          <a:xfrm>
            <a:off x="1143000" y="624110"/>
            <a:ext cx="8000999" cy="1280890"/>
          </a:xfrm>
        </p:spPr>
        <p:txBody>
          <a:bodyPr>
            <a:normAutofit/>
          </a:bodyPr>
          <a:lstStyle/>
          <a:p>
            <a:r>
              <a:rPr lang="en-US" dirty="0">
                <a:latin typeface="Times New Roman" panose="02020603050405020304" pitchFamily="18" charset="0"/>
                <a:cs typeface="Times New Roman" panose="02020603050405020304" pitchFamily="18" charset="0"/>
              </a:rPr>
              <a:t>STEP 6 : Identification and Incorporation of Mitigation Measures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37BF5C5-60C3-3EFA-4A5E-E76F4AED728D}"/>
              </a:ext>
            </a:extLst>
          </p:cNvPr>
          <p:cNvSpPr>
            <a:spLocks noGrp="1"/>
          </p:cNvSpPr>
          <p:nvPr>
            <p:ph idx="1"/>
          </p:nvPr>
        </p:nvSpPr>
        <p:spPr>
          <a:xfrm>
            <a:off x="533400" y="1905000"/>
            <a:ext cx="8458198" cy="4953000"/>
          </a:xfrm>
        </p:spPr>
        <p:txBody>
          <a:bodyPr>
            <a:normAutofit/>
          </a:bodyPr>
          <a:lstStyle/>
          <a:p>
            <a:pPr algn="just"/>
            <a:r>
              <a:rPr lang="en-US" sz="2400" dirty="0">
                <a:latin typeface="Times New Roman" panose="02020603050405020304" pitchFamily="18" charset="0"/>
                <a:cs typeface="Times New Roman" panose="02020603050405020304" pitchFamily="18" charset="0"/>
              </a:rPr>
              <a:t> include avoidance, minimization, rectification, preservation, and/or compensation and are associated with project location alignment design or construction and operating procedures.</a:t>
            </a:r>
          </a:p>
          <a:p>
            <a:pPr algn="just"/>
            <a:r>
              <a:rPr lang="en-US" sz="2400" dirty="0">
                <a:latin typeface="Times New Roman" panose="02020603050405020304" pitchFamily="18" charset="0"/>
                <a:cs typeface="Times New Roman" panose="02020603050405020304" pitchFamily="18" charset="0"/>
              </a:rPr>
              <a:t> The location of a project can be a key factor. It is usually determined. </a:t>
            </a:r>
          </a:p>
          <a:p>
            <a:pPr algn="just"/>
            <a:r>
              <a:rPr lang="en-US" sz="2400" dirty="0">
                <a:latin typeface="Times New Roman" panose="02020603050405020304" pitchFamily="18" charset="0"/>
                <a:cs typeface="Times New Roman" panose="02020603050405020304" pitchFamily="18" charset="0"/>
              </a:rPr>
              <a:t>Fresh water ecosystems are almost profoundly influenced by adjacent terrestrial ecosystems, mitigation frequently involves maintaining these areas.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019517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915399" cy="1905000"/>
          </a:xfrm>
        </p:spPr>
        <p:txBody>
          <a:bodyPr>
            <a:normAutofit/>
          </a:bodyPr>
          <a:lstStyle/>
          <a:p>
            <a:r>
              <a:rPr lang="en-US" sz="3200" dirty="0">
                <a:latin typeface="Times New Roman" panose="02020603050405020304" pitchFamily="18" charset="0"/>
                <a:cs typeface="Times New Roman" panose="02020603050405020304" pitchFamily="18" charset="0"/>
              </a:rPr>
              <a:t>PREDICTION AND ASSESSMENT OF IMPACTS ON THE SOCIO-ECONOMIC ENVIRONMENT</a:t>
            </a:r>
          </a:p>
        </p:txBody>
      </p:sp>
      <p:sp>
        <p:nvSpPr>
          <p:cNvPr id="3" name="Content Placeholder 2"/>
          <p:cNvSpPr>
            <a:spLocks noGrp="1"/>
          </p:cNvSpPr>
          <p:nvPr>
            <p:ph idx="1"/>
          </p:nvPr>
        </p:nvSpPr>
        <p:spPr>
          <a:xfrm>
            <a:off x="990600" y="1676400"/>
            <a:ext cx="7924800" cy="3777622"/>
          </a:xfrm>
        </p:spPr>
        <p:txBody>
          <a:bodyPr/>
          <a:lstStyle/>
          <a:p>
            <a:pPr algn="just"/>
            <a:r>
              <a:rPr lang="en-US" dirty="0"/>
              <a:t>‘</a:t>
            </a:r>
            <a:r>
              <a:rPr lang="en-US" sz="2400" dirty="0">
                <a:solidFill>
                  <a:srgbClr val="FF0000"/>
                </a:solidFill>
                <a:latin typeface="Times New Roman" pitchFamily="18" charset="0"/>
                <a:cs typeface="Times New Roman" pitchFamily="18" charset="0"/>
              </a:rPr>
              <a:t>Socio-Economic</a:t>
            </a:r>
            <a:r>
              <a:rPr lang="en-US" sz="2400" dirty="0">
                <a:latin typeface="Times New Roman" pitchFamily="18" charset="0"/>
                <a:cs typeface="Times New Roman" pitchFamily="18" charset="0"/>
              </a:rPr>
              <a:t>’-being of, relating to, or involving 	combinations of social and economic factors.</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SEIA is the systematic analysis used during EIA to identify and evaluate the potential socio-economic and cultural impacts of a proposed development on the lives and circumstances of people, their families and their communities.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762999" cy="1905000"/>
          </a:xfrm>
        </p:spPr>
        <p:txBody>
          <a:bodyPr>
            <a:normAutofit/>
          </a:bodyPr>
          <a:lstStyle/>
          <a:p>
            <a:endParaRPr lang="en-US" dirty="0"/>
          </a:p>
        </p:txBody>
      </p:sp>
      <p:sp>
        <p:nvSpPr>
          <p:cNvPr id="3" name="Content Placeholder 2"/>
          <p:cNvSpPr>
            <a:spLocks noGrp="1"/>
          </p:cNvSpPr>
          <p:nvPr>
            <p:ph idx="1"/>
          </p:nvPr>
        </p:nvSpPr>
        <p:spPr>
          <a:xfrm>
            <a:off x="381001" y="2133600"/>
            <a:ext cx="8153400" cy="4267200"/>
          </a:xfrm>
        </p:spPr>
        <p:txBody>
          <a:bodyPr>
            <a:normAutofit/>
          </a:bodyPr>
          <a:lstStyle/>
          <a:p>
            <a:r>
              <a:rPr lang="en-US" sz="2400" dirty="0">
                <a:latin typeface="Times New Roman" pitchFamily="18" charset="0"/>
                <a:cs typeface="Times New Roman" pitchFamily="18" charset="0"/>
              </a:rPr>
              <a:t>SEIA -also provides a forum for planning how to maximize the beneficial impacts of a proposed development. </a:t>
            </a:r>
          </a:p>
          <a:p>
            <a:r>
              <a:rPr lang="en-US" sz="2400" dirty="0">
                <a:latin typeface="Times New Roman" pitchFamily="18" charset="0"/>
                <a:cs typeface="Times New Roman" pitchFamily="18" charset="0"/>
              </a:rPr>
              <a:t>Beneficial impacts can include: </a:t>
            </a:r>
          </a:p>
          <a:p>
            <a:r>
              <a:rPr lang="en-US" sz="2400" dirty="0">
                <a:latin typeface="Times New Roman" pitchFamily="18" charset="0"/>
                <a:cs typeface="Times New Roman" pitchFamily="18" charset="0"/>
              </a:rPr>
              <a:t> a better standard of living due to increased access to employment, business opportunities, training and education</a:t>
            </a:r>
          </a:p>
          <a:p>
            <a:r>
              <a:rPr lang="en-US" sz="2400" dirty="0">
                <a:latin typeface="Times New Roman" pitchFamily="18" charset="0"/>
                <a:cs typeface="Times New Roman" pitchFamily="18" charset="0"/>
              </a:rPr>
              <a:t> greater access to and from a community and </a:t>
            </a:r>
          </a:p>
          <a:p>
            <a:r>
              <a:rPr lang="en-US" sz="2400" dirty="0">
                <a:latin typeface="Times New Roman" pitchFamily="18" charset="0"/>
                <a:cs typeface="Times New Roman" pitchFamily="18" charset="0"/>
              </a:rPr>
              <a:t>increased funding to improve social infrastructure and cultural maintenance programs.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181D-F42A-570A-B361-661B25CB9180}"/>
              </a:ext>
            </a:extLst>
          </p:cNvPr>
          <p:cNvSpPr>
            <a:spLocks noGrp="1"/>
          </p:cNvSpPr>
          <p:nvPr>
            <p:ph type="title"/>
          </p:nvPr>
        </p:nvSpPr>
        <p:spPr>
          <a:xfrm>
            <a:off x="304801" y="0"/>
            <a:ext cx="8229600" cy="1905000"/>
          </a:xfrm>
        </p:spPr>
        <p:txBody>
          <a:bodyPr/>
          <a:lstStyle/>
          <a:p>
            <a:r>
              <a:rPr lang="en-US" dirty="0">
                <a:latin typeface="Times New Roman" panose="02020603050405020304" pitchFamily="18" charset="0"/>
                <a:cs typeface="Times New Roman" panose="02020603050405020304" pitchFamily="18" charset="0"/>
              </a:rPr>
              <a:t>   Conceptual Frame Work For Socio Economic Assessment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525BB96-E3E7-8DA5-C6AB-91A75FF293C1}"/>
              </a:ext>
            </a:extLst>
          </p:cNvPr>
          <p:cNvSpPr>
            <a:spLocks noGrp="1"/>
          </p:cNvSpPr>
          <p:nvPr>
            <p:ph idx="1"/>
          </p:nvPr>
        </p:nvSpPr>
        <p:spPr>
          <a:xfrm>
            <a:off x="838201" y="1143000"/>
            <a:ext cx="8000998" cy="5410200"/>
          </a:xfrm>
        </p:spPr>
        <p:txBody>
          <a:bodyPr>
            <a:normAutofit/>
          </a:bodyPr>
          <a:lstStyle/>
          <a:p>
            <a:r>
              <a:rPr lang="en-US" sz="2000" dirty="0">
                <a:latin typeface="Times New Roman" panose="02020603050405020304" pitchFamily="18" charset="0"/>
                <a:cs typeface="Times New Roman" panose="02020603050405020304" pitchFamily="18" charset="0"/>
              </a:rPr>
              <a:t>Step 1 : Study Area Delineation and Categorization of Present Activities</a:t>
            </a:r>
          </a:p>
          <a:p>
            <a:r>
              <a:rPr lang="en-US" sz="2000" dirty="0">
                <a:latin typeface="Times New Roman" panose="02020603050405020304" pitchFamily="18" charset="0"/>
                <a:cs typeface="Times New Roman" panose="02020603050405020304" pitchFamily="18" charset="0"/>
              </a:rPr>
              <a:t>Step 2 : Identification of Socio-Economic Impacts </a:t>
            </a:r>
          </a:p>
          <a:p>
            <a:r>
              <a:rPr lang="en-US" sz="2000" dirty="0">
                <a:latin typeface="Times New Roman" panose="02020603050405020304" pitchFamily="18" charset="0"/>
                <a:cs typeface="Times New Roman" panose="02020603050405020304" pitchFamily="18" charset="0"/>
              </a:rPr>
              <a:t>Step 3 : Description of existing socio-economic condition of the study area </a:t>
            </a:r>
          </a:p>
          <a:p>
            <a:r>
              <a:rPr lang="en-US" sz="2000" dirty="0">
                <a:latin typeface="Times New Roman" panose="02020603050405020304" pitchFamily="18" charset="0"/>
                <a:cs typeface="Times New Roman" panose="02020603050405020304" pitchFamily="18" charset="0"/>
              </a:rPr>
              <a:t>Step 4 : Procurement of Relevant Standard/Criteria/Guidelines </a:t>
            </a:r>
          </a:p>
          <a:p>
            <a:r>
              <a:rPr lang="en-US" sz="2000" dirty="0">
                <a:latin typeface="Times New Roman" panose="02020603050405020304" pitchFamily="18" charset="0"/>
                <a:cs typeface="Times New Roman" panose="02020603050405020304" pitchFamily="18" charset="0"/>
              </a:rPr>
              <a:t>Step 5 : Impact Prediction with and without Project </a:t>
            </a:r>
          </a:p>
          <a:p>
            <a:r>
              <a:rPr lang="en-US" sz="2000" dirty="0">
                <a:latin typeface="Times New Roman" panose="02020603050405020304" pitchFamily="18" charset="0"/>
                <a:cs typeface="Times New Roman" panose="02020603050405020304" pitchFamily="18" charset="0"/>
              </a:rPr>
              <a:t>Step 6 Assessment of Significance of Socio-Economic Impacts</a:t>
            </a:r>
          </a:p>
          <a:p>
            <a:r>
              <a:rPr lang="en-US" sz="2000" dirty="0">
                <a:latin typeface="Times New Roman" panose="02020603050405020304" pitchFamily="18" charset="0"/>
                <a:cs typeface="Times New Roman" panose="02020603050405020304" pitchFamily="18" charset="0"/>
              </a:rPr>
              <a:t>Step 7: Incorporation of Mitigation Measures in the Project and Preparation of Draft Environmental Impact Statement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890530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A4E17-481C-FDE1-21F5-A5E13D92AD97}"/>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Step 1 : Study Area Delineation and Categorization of Present Activities</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92602C72-3178-DD95-9F0D-6E194DF5FC0A}"/>
              </a:ext>
            </a:extLst>
          </p:cNvPr>
          <p:cNvSpPr>
            <a:spLocks noGrp="1"/>
          </p:cNvSpPr>
          <p:nvPr>
            <p:ph idx="1"/>
          </p:nvPr>
        </p:nvSpPr>
        <p:spPr>
          <a:xfrm>
            <a:off x="533401" y="2133600"/>
            <a:ext cx="8001000" cy="4572000"/>
          </a:xfrm>
        </p:spPr>
        <p:txBody>
          <a:bodyPr>
            <a:normAutofit fontScale="92500" lnSpcReduction="10000"/>
          </a:bodyPr>
          <a:lstStyle/>
          <a:p>
            <a:r>
              <a:rPr lang="en-US" dirty="0"/>
              <a:t>The delineation of study area for the analysis of social and community effects requires a sufficient knowledge of the characteristics of the proposed project or activity.</a:t>
            </a:r>
          </a:p>
          <a:p>
            <a:r>
              <a:rPr lang="en-US" dirty="0"/>
              <a:t> The proposed project alternatives should give sufficient detail to enable understanding of both the construction process and the long-term or operational, characteristics. </a:t>
            </a:r>
          </a:p>
          <a:p>
            <a:r>
              <a:rPr lang="en-US" dirty="0"/>
              <a:t>Definition of the boundaries of the study area may also be influenced by the availability of population and employment data. </a:t>
            </a:r>
          </a:p>
          <a:p>
            <a:r>
              <a:rPr lang="en-US" dirty="0"/>
              <a:t>Census tract data is most often used to define population characteristics. The study area boundaries are, therefore, in some cases defined by the boundaries of census tracts or block data. </a:t>
            </a:r>
          </a:p>
          <a:p>
            <a:r>
              <a:rPr lang="en-US" dirty="0"/>
              <a:t>The basic impact area associated with predicting and assessing impacts on the socioeconomic environment is called the "Regions Of Influence" (</a:t>
            </a:r>
            <a:r>
              <a:rPr lang="en-US" dirty="0" err="1"/>
              <a:t>RoI</a:t>
            </a:r>
            <a:r>
              <a:rPr lang="en-US" dirty="0"/>
              <a:t>). This represents the geographical area, or region, wherein the project- induced changes to the socio-economic environment will occur. </a:t>
            </a:r>
            <a:endParaRPr lang="en-IN" dirty="0"/>
          </a:p>
        </p:txBody>
      </p:sp>
    </p:spTree>
    <p:extLst>
      <p:ext uri="{BB962C8B-B14F-4D97-AF65-F5344CB8AC3E}">
        <p14:creationId xmlns:p14="http://schemas.microsoft.com/office/powerpoint/2010/main" val="414720419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39516-1F67-49F0-7ED0-B9F75C1E07A1}"/>
              </a:ext>
            </a:extLst>
          </p:cNvPr>
          <p:cNvSpPr>
            <a:spLocks noGrp="1"/>
          </p:cNvSpPr>
          <p:nvPr>
            <p:ph type="title"/>
          </p:nvPr>
        </p:nvSpPr>
        <p:spPr>
          <a:xfrm>
            <a:off x="228600" y="0"/>
            <a:ext cx="8915399" cy="1905000"/>
          </a:xfrm>
        </p:spPr>
        <p:txBody>
          <a:bodyPr>
            <a:normAutofit/>
          </a:bodyPr>
          <a:lstStyle/>
          <a:p>
            <a:r>
              <a:rPr lang="en-US" dirty="0">
                <a:latin typeface="Times New Roman" panose="02020603050405020304" pitchFamily="18" charset="0"/>
                <a:cs typeface="Times New Roman" panose="02020603050405020304" pitchFamily="18" charset="0"/>
              </a:rPr>
              <a:t>Step 2 : Identification of Socio-Economic Impacts </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078EAB46-53DB-9B66-4730-4EFCEC81B922}"/>
              </a:ext>
            </a:extLst>
          </p:cNvPr>
          <p:cNvSpPr>
            <a:spLocks noGrp="1"/>
          </p:cNvSpPr>
          <p:nvPr>
            <p:ph idx="1"/>
          </p:nvPr>
        </p:nvSpPr>
        <p:spPr>
          <a:xfrm>
            <a:off x="381001" y="1905000"/>
            <a:ext cx="8153400" cy="4006222"/>
          </a:xfrm>
        </p:spPr>
        <p:txBody>
          <a:bodyPr>
            <a:normAutofit/>
          </a:bodyPr>
          <a:lstStyle/>
          <a:p>
            <a:r>
              <a:rPr lang="en-US" sz="2400" dirty="0">
                <a:latin typeface="Times New Roman" panose="02020603050405020304" pitchFamily="18" charset="0"/>
                <a:cs typeface="Times New Roman" panose="02020603050405020304" pitchFamily="18" charset="0"/>
              </a:rPr>
              <a:t>Potential socio-economic impacts can be identified through the use of interaction matrices, networks, simple checklists, and/or description checklists.</a:t>
            </a:r>
          </a:p>
          <a:p>
            <a:r>
              <a:rPr lang="en-US" sz="2400" dirty="0">
                <a:latin typeface="Times New Roman" panose="02020603050405020304" pitchFamily="18" charset="0"/>
                <a:cs typeface="Times New Roman" panose="02020603050405020304" pitchFamily="18" charset="0"/>
              </a:rPr>
              <a:t> Case studies of similar project types can also be helpful. </a:t>
            </a:r>
          </a:p>
          <a:p>
            <a:r>
              <a:rPr lang="en-US" sz="2400" dirty="0">
                <a:latin typeface="Times New Roman" panose="02020603050405020304" pitchFamily="18" charset="0"/>
                <a:cs typeface="Times New Roman" panose="02020603050405020304" pitchFamily="18" charset="0"/>
              </a:rPr>
              <a:t>Some of the socio-economic factors and their potential changes resulting from project implementation are in table below</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513482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4197F2D-EFA3-7B9A-7F4F-263914879FB6}"/>
              </a:ext>
            </a:extLst>
          </p:cNvPr>
          <p:cNvPicPr>
            <a:picLocks noGrp="1" noChangeAspect="1"/>
          </p:cNvPicPr>
          <p:nvPr>
            <p:ph idx="1"/>
          </p:nvPr>
        </p:nvPicPr>
        <p:blipFill>
          <a:blip r:embed="rId2"/>
          <a:stretch>
            <a:fillRect/>
          </a:stretch>
        </p:blipFill>
        <p:spPr>
          <a:xfrm>
            <a:off x="0" y="304800"/>
            <a:ext cx="8839199" cy="6553200"/>
          </a:xfrm>
        </p:spPr>
      </p:pic>
    </p:spTree>
    <p:extLst>
      <p:ext uri="{BB962C8B-B14F-4D97-AF65-F5344CB8AC3E}">
        <p14:creationId xmlns:p14="http://schemas.microsoft.com/office/powerpoint/2010/main" val="357892303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CF9CB-AE29-568D-0156-6F7CD6C03303}"/>
              </a:ext>
            </a:extLst>
          </p:cNvPr>
          <p:cNvSpPr>
            <a:spLocks noGrp="1"/>
          </p:cNvSpPr>
          <p:nvPr>
            <p:ph type="title"/>
          </p:nvPr>
        </p:nvSpPr>
        <p:spPr>
          <a:xfrm>
            <a:off x="152400" y="0"/>
            <a:ext cx="8382001" cy="1905000"/>
          </a:xfrm>
        </p:spPr>
        <p:txBody>
          <a:bodyPr>
            <a:normAutofit fontScale="90000"/>
          </a:bodyPr>
          <a:lstStyle/>
          <a:p>
            <a:r>
              <a:rPr lang="en-US" dirty="0">
                <a:latin typeface="Times New Roman" panose="02020603050405020304" pitchFamily="18" charset="0"/>
                <a:cs typeface="Times New Roman" panose="02020603050405020304" pitchFamily="18" charset="0"/>
              </a:rPr>
              <a:t>Step 3 : Description of existing socio-economic condition of the study area </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26EED539-9BEB-11D7-DC78-11E440A4112E}"/>
              </a:ext>
            </a:extLst>
          </p:cNvPr>
          <p:cNvSpPr>
            <a:spLocks noGrp="1"/>
          </p:cNvSpPr>
          <p:nvPr>
            <p:ph idx="1"/>
          </p:nvPr>
        </p:nvSpPr>
        <p:spPr>
          <a:xfrm>
            <a:off x="152400" y="1371600"/>
            <a:ext cx="8991600" cy="5486400"/>
          </a:xfrm>
        </p:spPr>
        <p:txBody>
          <a:bodyPr>
            <a:noAutofit/>
          </a:bodyPr>
          <a:lstStyle/>
          <a:p>
            <a:pPr lvl="4"/>
            <a:r>
              <a:rPr lang="en-US" sz="1800" dirty="0">
                <a:latin typeface="Times New Roman" panose="02020603050405020304" pitchFamily="18" charset="0"/>
                <a:cs typeface="Times New Roman" panose="02020603050405020304" pitchFamily="18" charset="0"/>
              </a:rPr>
              <a:t>Existing socio-economic conditions and physical parameters of the Region Of Influence (ROI) have to be examined on the basis of </a:t>
            </a:r>
          </a:p>
          <a:p>
            <a:pPr lvl="4"/>
            <a:r>
              <a:rPr lang="en-US" sz="1800" dirty="0">
                <a:latin typeface="Times New Roman" panose="02020603050405020304" pitchFamily="18" charset="0"/>
                <a:cs typeface="Times New Roman" panose="02020603050405020304" pitchFamily="18" charset="0"/>
              </a:rPr>
              <a:t> (a) Areas separated from the surrounding areas by physical boundary obstruction like rails, roads, high ways, and rivers. </a:t>
            </a:r>
          </a:p>
          <a:p>
            <a:pPr lvl="4"/>
            <a:r>
              <a:rPr lang="en-US" sz="1800" dirty="0">
                <a:latin typeface="Times New Roman" panose="02020603050405020304" pitchFamily="18" charset="0"/>
                <a:cs typeface="Times New Roman" panose="02020603050405020304" pitchFamily="18" charset="0"/>
              </a:rPr>
              <a:t>(b) Area of residential land- use surrounded by other uses such as commercial and in d </a:t>
            </a:r>
            <a:r>
              <a:rPr lang="en-US" sz="1800" dirty="0" err="1">
                <a:latin typeface="Times New Roman" panose="02020603050405020304" pitchFamily="18" charset="0"/>
                <a:cs typeface="Times New Roman" panose="02020603050405020304" pitchFamily="18" charset="0"/>
              </a:rPr>
              <a:t>llstri</a:t>
            </a:r>
            <a:r>
              <a:rPr lang="en-US" sz="1800" dirty="0">
                <a:latin typeface="Times New Roman" panose="02020603050405020304" pitchFamily="18" charset="0"/>
                <a:cs typeface="Times New Roman" panose="02020603050405020304" pitchFamily="18" charset="0"/>
              </a:rPr>
              <a:t> al. </a:t>
            </a:r>
          </a:p>
          <a:p>
            <a:pPr lvl="4"/>
            <a:r>
              <a:rPr lang="en-US" sz="1800" dirty="0">
                <a:latin typeface="Times New Roman" panose="02020603050405020304" pitchFamily="18" charset="0"/>
                <a:cs typeface="Times New Roman" panose="02020603050405020304" pitchFamily="18" charset="0"/>
              </a:rPr>
              <a:t>(c) Area with a concentration of special population groups, such as, elderly, </a:t>
            </a:r>
            <a:r>
              <a:rPr lang="en-US" sz="1800" dirty="0" err="1">
                <a:latin typeface="Times New Roman" panose="02020603050405020304" pitchFamily="18" charset="0"/>
                <a:cs typeface="Times New Roman" panose="02020603050405020304" pitchFamily="18" charset="0"/>
              </a:rPr>
              <a:t>lowincome</a:t>
            </a:r>
            <a:r>
              <a:rPr lang="en-US" sz="1800" dirty="0">
                <a:latin typeface="Times New Roman" panose="02020603050405020304" pitchFamily="18" charset="0"/>
                <a:cs typeface="Times New Roman" panose="02020603050405020304" pitchFamily="18" charset="0"/>
              </a:rPr>
              <a:t> or a specific ethnicity. </a:t>
            </a:r>
          </a:p>
          <a:p>
            <a:pPr lvl="4"/>
            <a:r>
              <a:rPr lang="en-US" sz="1800" dirty="0">
                <a:latin typeface="Times New Roman" panose="02020603050405020304" pitchFamily="18" charset="0"/>
                <a:cs typeface="Times New Roman" panose="02020603050405020304" pitchFamily="18" charset="0"/>
              </a:rPr>
              <a:t>(d) Area with like housing types, such as, mobile homes, single family homes, or </a:t>
            </a:r>
            <a:r>
              <a:rPr lang="en-US" sz="1800" dirty="0" err="1">
                <a:latin typeface="Times New Roman" panose="02020603050405020304" pitchFamily="18" charset="0"/>
                <a:cs typeface="Times New Roman" panose="02020603050405020304" pitchFamily="18" charset="0"/>
              </a:rPr>
              <a:t>highdensity</a:t>
            </a:r>
            <a:r>
              <a:rPr lang="en-US" sz="1800" dirty="0">
                <a:latin typeface="Times New Roman" panose="02020603050405020304" pitchFamily="18" charset="0"/>
                <a:cs typeface="Times New Roman" panose="02020603050405020304" pitchFamily="18" charset="0"/>
              </a:rPr>
              <a:t> condominiums or apartments. </a:t>
            </a:r>
          </a:p>
          <a:p>
            <a:pPr lvl="4"/>
            <a:r>
              <a:rPr lang="en-US" sz="1800" dirty="0">
                <a:latin typeface="Times New Roman" panose="02020603050405020304" pitchFamily="18" charset="0"/>
                <a:cs typeface="Times New Roman" panose="02020603050405020304" pitchFamily="18" charset="0"/>
              </a:rPr>
              <a:t>(e) Area of distinct housing value, compared with surrounding areas.</a:t>
            </a:r>
          </a:p>
          <a:p>
            <a:pPr lvl="4"/>
            <a:r>
              <a:rPr lang="en-US" sz="1800" dirty="0">
                <a:latin typeface="Times New Roman" panose="02020603050405020304" pitchFamily="18" charset="0"/>
                <a:cs typeface="Times New Roman" panose="02020603050405020304" pitchFamily="18" charset="0"/>
              </a:rPr>
              <a:t> (f) Area of predominantly one type of population employment, such as, professional. (g) Area with an established community group or organization.</a:t>
            </a:r>
          </a:p>
          <a:p>
            <a:pPr lvl="4"/>
            <a:r>
              <a:rPr lang="en-US" sz="1800" dirty="0">
                <a:latin typeface="Times New Roman" panose="02020603050405020304" pitchFamily="18" charset="0"/>
                <a:cs typeface="Times New Roman" panose="02020603050405020304" pitchFamily="18" charset="0"/>
              </a:rPr>
              <a:t> (h) Area where the average length of residence in the same housing unit is more than five years, as opposed to areas of more-transient residents.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375605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D4D19-24D6-8B70-AE4B-DA0647609CDA}"/>
              </a:ext>
            </a:extLst>
          </p:cNvPr>
          <p:cNvSpPr>
            <a:spLocks noGrp="1"/>
          </p:cNvSpPr>
          <p:nvPr>
            <p:ph type="title"/>
          </p:nvPr>
        </p:nvSpPr>
        <p:spPr>
          <a:xfrm>
            <a:off x="838199" y="152400"/>
            <a:ext cx="8153400" cy="1752600"/>
          </a:xfrm>
        </p:spPr>
        <p:txBody>
          <a:bodyPr/>
          <a:lstStyle/>
          <a:p>
            <a:r>
              <a:rPr lang="en-US" dirty="0">
                <a:latin typeface="Times New Roman" panose="02020603050405020304" pitchFamily="18" charset="0"/>
                <a:cs typeface="Times New Roman" panose="02020603050405020304" pitchFamily="18" charset="0"/>
              </a:rPr>
              <a:t>Step 4 : Procurement of Relevant Standard/Criteria/Guidelines</a:t>
            </a:r>
            <a:endParaRPr lang="en-IN" dirty="0"/>
          </a:p>
        </p:txBody>
      </p:sp>
      <p:sp>
        <p:nvSpPr>
          <p:cNvPr id="3" name="Content Placeholder 2">
            <a:extLst>
              <a:ext uri="{FF2B5EF4-FFF2-40B4-BE49-F238E27FC236}">
                <a16:creationId xmlns:a16="http://schemas.microsoft.com/office/drawing/2014/main" id="{178526E4-D088-F102-391F-65AEAB5E9F7C}"/>
              </a:ext>
            </a:extLst>
          </p:cNvPr>
          <p:cNvSpPr>
            <a:spLocks noGrp="1"/>
          </p:cNvSpPr>
          <p:nvPr>
            <p:ph idx="1"/>
          </p:nvPr>
        </p:nvSpPr>
        <p:spPr>
          <a:xfrm>
            <a:off x="381001" y="2133600"/>
            <a:ext cx="8153400" cy="3777622"/>
          </a:xfrm>
        </p:spPr>
        <p:txBody>
          <a:bodyPr>
            <a:normAutofit/>
          </a:bodyPr>
          <a:lstStyle/>
          <a:p>
            <a:pPr algn="just"/>
            <a:r>
              <a:rPr lang="en-US" sz="2400" dirty="0">
                <a:latin typeface="Times New Roman" panose="02020603050405020304" pitchFamily="18" charset="0"/>
                <a:cs typeface="Times New Roman" panose="02020603050405020304" pitchFamily="18" charset="0"/>
              </a:rPr>
              <a:t>involves relative comparison of the effects with standard/criteria published by professional stamps/organization with public guidelines or standard for various social activities.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995687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8D1BE-7E66-2B10-143E-8FD72EDA4F3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Step 5 : Impact Prediction with and without Project</a:t>
            </a:r>
            <a:endParaRPr lang="en-IN" dirty="0"/>
          </a:p>
        </p:txBody>
      </p:sp>
      <p:sp>
        <p:nvSpPr>
          <p:cNvPr id="3" name="Content Placeholder 2">
            <a:extLst>
              <a:ext uri="{FF2B5EF4-FFF2-40B4-BE49-F238E27FC236}">
                <a16:creationId xmlns:a16="http://schemas.microsoft.com/office/drawing/2014/main" id="{AE556885-0546-CA81-BBEF-4D6FA707B77D}"/>
              </a:ext>
            </a:extLst>
          </p:cNvPr>
          <p:cNvSpPr>
            <a:spLocks noGrp="1"/>
          </p:cNvSpPr>
          <p:nvPr>
            <p:ph idx="1"/>
          </p:nvPr>
        </p:nvSpPr>
        <p:spPr>
          <a:xfrm>
            <a:off x="762000" y="2133600"/>
            <a:ext cx="8381999" cy="4724400"/>
          </a:xfrm>
        </p:spPr>
        <p:txBody>
          <a:bodyPr/>
          <a:lstStyle/>
          <a:p>
            <a:r>
              <a:rPr lang="en-US" sz="2000" dirty="0">
                <a:latin typeface="Times New Roman" panose="02020603050405020304" pitchFamily="18" charset="0"/>
                <a:cs typeface="Times New Roman" panose="02020603050405020304" pitchFamily="18" charset="0"/>
              </a:rPr>
              <a:t>Modeling of economic demographic impacts provides basic information for addressing public service impacts (education. health services, police and fire protection, utilities, and solid-waste management), social impacts (housing, transportation. urban land use, and land ownership), and fiscal impacts. </a:t>
            </a:r>
          </a:p>
          <a:p>
            <a:r>
              <a:rPr lang="en-US" sz="2000" dirty="0">
                <a:latin typeface="Times New Roman" panose="02020603050405020304" pitchFamily="18" charset="0"/>
                <a:cs typeface="Times New Roman" panose="02020603050405020304" pitchFamily="18" charset="0"/>
              </a:rPr>
              <a:t>Fiscal impacts are themselves dependent upon many public services and social impacts.</a:t>
            </a:r>
          </a:p>
          <a:p>
            <a:r>
              <a:rPr lang="en-US" sz="2000" dirty="0">
                <a:latin typeface="Times New Roman" panose="02020603050405020304" pitchFamily="18" charset="0"/>
                <a:cs typeface="Times New Roman" panose="02020603050405020304" pitchFamily="18" charset="0"/>
              </a:rPr>
              <a:t> The Quality Of Life (QOL) represent, it composite indication of economic, demographic, public service. social, and fiscal impacts along with impacts caused by still other factors related to a sense of well being at a given time and location</a:t>
            </a:r>
            <a:r>
              <a:rPr lang="en-US" dirty="0"/>
              <a:t>.</a:t>
            </a:r>
            <a:endParaRPr lang="en-IN" dirty="0"/>
          </a:p>
        </p:txBody>
      </p:sp>
    </p:spTree>
    <p:extLst>
      <p:ext uri="{BB962C8B-B14F-4D97-AF65-F5344CB8AC3E}">
        <p14:creationId xmlns:p14="http://schemas.microsoft.com/office/powerpoint/2010/main" val="175917051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1A3AA-EB16-C522-F83F-39053FB8E6E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Step 6 Assessment of Significance of Socio-Economic Impacts</a:t>
            </a:r>
            <a:endParaRPr lang="en-IN" dirty="0"/>
          </a:p>
        </p:txBody>
      </p:sp>
      <p:sp>
        <p:nvSpPr>
          <p:cNvPr id="3" name="Content Placeholder 2">
            <a:extLst>
              <a:ext uri="{FF2B5EF4-FFF2-40B4-BE49-F238E27FC236}">
                <a16:creationId xmlns:a16="http://schemas.microsoft.com/office/drawing/2014/main" id="{1EAA1E76-7634-72A2-21C1-62C9B0CF1C19}"/>
              </a:ext>
            </a:extLst>
          </p:cNvPr>
          <p:cNvSpPr>
            <a:spLocks noGrp="1"/>
          </p:cNvSpPr>
          <p:nvPr>
            <p:ph idx="1"/>
          </p:nvPr>
        </p:nvSpPr>
        <p:spPr>
          <a:xfrm>
            <a:off x="228600" y="2133600"/>
            <a:ext cx="8915399" cy="3777622"/>
          </a:xfrm>
        </p:spPr>
        <p:txBody>
          <a:bodyPr>
            <a:noAutofit/>
          </a:bodyPr>
          <a:lstStyle/>
          <a:p>
            <a:pPr algn="just"/>
            <a:r>
              <a:rPr lang="en-US" sz="2400" dirty="0">
                <a:latin typeface="Times New Roman" panose="02020603050405020304" pitchFamily="18" charset="0"/>
                <a:cs typeface="Times New Roman" panose="02020603050405020304" pitchFamily="18" charset="0"/>
              </a:rPr>
              <a:t>Assessment of the significance of predicted changes in the socio-economic environment requires considerable exercise of professional judgment. </a:t>
            </a:r>
          </a:p>
          <a:p>
            <a:pPr algn="just"/>
            <a:r>
              <a:rPr lang="en-US" sz="2400" dirty="0">
                <a:latin typeface="Times New Roman" panose="02020603050405020304" pitchFamily="18" charset="0"/>
                <a:cs typeface="Times New Roman" panose="02020603050405020304" pitchFamily="18" charset="0"/>
              </a:rPr>
              <a:t>Every attempt should be made to use systematic and scientific rationale for significant assessment.</a:t>
            </a:r>
          </a:p>
          <a:p>
            <a:pPr algn="just"/>
            <a:r>
              <a:rPr lang="en-US" sz="2400" dirty="0">
                <a:latin typeface="Times New Roman" panose="02020603050405020304" pitchFamily="18" charset="0"/>
                <a:cs typeface="Times New Roman" panose="02020603050405020304" pitchFamily="18" charset="0"/>
              </a:rPr>
              <a:t>The first consideration relates to the application of screening criteria. </a:t>
            </a:r>
          </a:p>
          <a:p>
            <a:pPr algn="just"/>
            <a:r>
              <a:rPr lang="en-US" sz="2400" dirty="0">
                <a:latin typeface="Times New Roman" panose="02020603050405020304" pitchFamily="18" charset="0"/>
                <a:cs typeface="Times New Roman" panose="02020603050405020304" pitchFamily="18" charset="0"/>
              </a:rPr>
              <a:t>Following this. the interpretation of changes in socioeconomic features can be made based on several approaches: one should consider the resultant impact information relative to recommended professional and institutional standards and criteria for various socio-economic features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71981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9B720-E875-6A88-E67D-3FC73B21C2F1}"/>
              </a:ext>
            </a:extLst>
          </p:cNvPr>
          <p:cNvSpPr>
            <a:spLocks noGrp="1"/>
          </p:cNvSpPr>
          <p:nvPr>
            <p:ph type="title"/>
          </p:nvPr>
        </p:nvSpPr>
        <p:spPr>
          <a:xfrm>
            <a:off x="685800" y="228600"/>
            <a:ext cx="8229599" cy="1676400"/>
          </a:xfrm>
        </p:spPr>
        <p:txBody>
          <a:bodyPr>
            <a:normAutofit fontScale="90000"/>
          </a:bodyPr>
          <a:lstStyle/>
          <a:p>
            <a:r>
              <a:rPr lang="en-US" dirty="0">
                <a:latin typeface="Times New Roman" panose="02020603050405020304" pitchFamily="18" charset="0"/>
                <a:cs typeface="Times New Roman" panose="02020603050405020304" pitchFamily="18" charset="0"/>
              </a:rPr>
              <a:t>Step 7: Incorporation of Mitigation Measures in the Project and Preparation of Draft Environmental Impact Statement</a:t>
            </a:r>
            <a:endParaRPr lang="en-IN" dirty="0"/>
          </a:p>
        </p:txBody>
      </p:sp>
      <p:sp>
        <p:nvSpPr>
          <p:cNvPr id="3" name="Content Placeholder 2">
            <a:extLst>
              <a:ext uri="{FF2B5EF4-FFF2-40B4-BE49-F238E27FC236}">
                <a16:creationId xmlns:a16="http://schemas.microsoft.com/office/drawing/2014/main" id="{FD43BCAB-A918-7EB5-EBDF-6564A90DD5DC}"/>
              </a:ext>
            </a:extLst>
          </p:cNvPr>
          <p:cNvSpPr>
            <a:spLocks noGrp="1"/>
          </p:cNvSpPr>
          <p:nvPr>
            <p:ph idx="1"/>
          </p:nvPr>
        </p:nvSpPr>
        <p:spPr>
          <a:xfrm>
            <a:off x="152400" y="2133600"/>
            <a:ext cx="8534399" cy="3777622"/>
          </a:xfrm>
        </p:spPr>
        <p:txBody>
          <a:bodyPr>
            <a:normAutofit/>
          </a:bodyPr>
          <a:lstStyle/>
          <a:p>
            <a:r>
              <a:rPr lang="en-US" sz="2400" dirty="0">
                <a:latin typeface="Times New Roman" panose="02020603050405020304" pitchFamily="18" charset="0"/>
                <a:cs typeface="Times New Roman" panose="02020603050405020304" pitchFamily="18" charset="0"/>
              </a:rPr>
              <a:t>Mitigation of social and neighborhood effects is often very site-specific. </a:t>
            </a:r>
          </a:p>
          <a:p>
            <a:r>
              <a:rPr lang="en-US" sz="2400" dirty="0">
                <a:latin typeface="Times New Roman" panose="02020603050405020304" pitchFamily="18" charset="0"/>
                <a:cs typeface="Times New Roman" panose="02020603050405020304" pitchFamily="18" charset="0"/>
              </a:rPr>
              <a:t>Techniques to avoid impacts may include providing new or revised access to communities;</a:t>
            </a:r>
          </a:p>
          <a:p>
            <a:r>
              <a:rPr lang="en-US" sz="2400" dirty="0">
                <a:latin typeface="Times New Roman" panose="02020603050405020304" pitchFamily="18" charset="0"/>
                <a:cs typeface="Times New Roman" panose="02020603050405020304" pitchFamily="18" charset="0"/>
              </a:rPr>
              <a:t> redesigning of particular features of the proposed project or action to avoid relocations; </a:t>
            </a:r>
          </a:p>
          <a:p>
            <a:r>
              <a:rPr lang="en-US" sz="2400" dirty="0">
                <a:latin typeface="Times New Roman" panose="02020603050405020304" pitchFamily="18" charset="0"/>
                <a:cs typeface="Times New Roman" panose="02020603050405020304" pitchFamily="18" charset="0"/>
              </a:rPr>
              <a:t>constructing noise control walls or security fencing and adding parking areas.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682828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3100" b="1" dirty="0">
                <a:latin typeface="Times New Roman" pitchFamily="18" charset="0"/>
                <a:cs typeface="Times New Roman" pitchFamily="18" charset="0"/>
              </a:rPr>
              <a:t>Socio-economic impacts of AIRPORT project</a:t>
            </a:r>
            <a:br>
              <a:rPr lang="en-US" dirty="0"/>
            </a:br>
            <a:endParaRPr lang="en-US" dirty="0"/>
          </a:p>
        </p:txBody>
      </p:sp>
      <p:sp>
        <p:nvSpPr>
          <p:cNvPr id="3" name="Content Placeholder 2"/>
          <p:cNvSpPr>
            <a:spLocks noGrp="1"/>
          </p:cNvSpPr>
          <p:nvPr>
            <p:ph idx="1"/>
          </p:nvPr>
        </p:nvSpPr>
        <p:spPr/>
        <p:txBody>
          <a:bodyPr>
            <a:normAutofit fontScale="55000" lnSpcReduction="20000"/>
          </a:bodyPr>
          <a:lstStyle/>
          <a:p>
            <a:r>
              <a:rPr lang="en-GB" sz="3100" b="1" dirty="0">
                <a:latin typeface="Times New Roman" pitchFamily="18" charset="0"/>
                <a:ea typeface="+mj-ea"/>
                <a:cs typeface="Times New Roman" pitchFamily="18" charset="0"/>
              </a:rPr>
              <a:t>Social impacts</a:t>
            </a:r>
            <a:r>
              <a:rPr lang="en-GB" sz="3100" dirty="0">
                <a:latin typeface="Times New Roman" pitchFamily="18" charset="0"/>
                <a:ea typeface="+mj-ea"/>
                <a:cs typeface="Times New Roman" pitchFamily="18" charset="0"/>
              </a:rPr>
              <a:t>:</a:t>
            </a:r>
            <a:endParaRPr lang="en-US" sz="3100" dirty="0">
              <a:latin typeface="Times New Roman" pitchFamily="18" charset="0"/>
              <a:ea typeface="+mj-ea"/>
              <a:cs typeface="Times New Roman" pitchFamily="18" charset="0"/>
            </a:endParaRPr>
          </a:p>
          <a:p>
            <a:pPr lvl="0"/>
            <a:r>
              <a:rPr lang="en-GB" sz="3100" dirty="0">
                <a:latin typeface="Times New Roman" pitchFamily="18" charset="0"/>
                <a:ea typeface="+mj-ea"/>
                <a:cs typeface="Times New Roman" pitchFamily="18" charset="0"/>
              </a:rPr>
              <a:t>Increase in traffic flow and congestion around airport</a:t>
            </a:r>
            <a:endParaRPr lang="en-US" sz="3100" dirty="0">
              <a:latin typeface="Times New Roman" pitchFamily="18" charset="0"/>
              <a:ea typeface="+mj-ea"/>
              <a:cs typeface="Times New Roman" pitchFamily="18" charset="0"/>
            </a:endParaRPr>
          </a:p>
          <a:p>
            <a:pPr lvl="0"/>
            <a:r>
              <a:rPr lang="en-GB" sz="3100" dirty="0">
                <a:latin typeface="Times New Roman" pitchFamily="18" charset="0"/>
                <a:ea typeface="+mj-ea"/>
                <a:cs typeface="Times New Roman" pitchFamily="18" charset="0"/>
              </a:rPr>
              <a:t>Land use change due to construction</a:t>
            </a:r>
            <a:endParaRPr lang="en-US" sz="3100" dirty="0">
              <a:latin typeface="Times New Roman" pitchFamily="18" charset="0"/>
              <a:ea typeface="+mj-ea"/>
              <a:cs typeface="Times New Roman" pitchFamily="18" charset="0"/>
            </a:endParaRPr>
          </a:p>
          <a:p>
            <a:pPr lvl="0"/>
            <a:r>
              <a:rPr lang="en-GB" sz="3100" dirty="0">
                <a:latin typeface="Times New Roman" pitchFamily="18" charset="0"/>
                <a:ea typeface="+mj-ea"/>
                <a:cs typeface="Times New Roman" pitchFamily="18" charset="0"/>
              </a:rPr>
              <a:t>Increased demand for public transportation facilities</a:t>
            </a:r>
            <a:endParaRPr lang="en-US" sz="3100" dirty="0">
              <a:latin typeface="Times New Roman" pitchFamily="18" charset="0"/>
              <a:ea typeface="+mj-ea"/>
              <a:cs typeface="Times New Roman" pitchFamily="18" charset="0"/>
            </a:endParaRPr>
          </a:p>
          <a:p>
            <a:pPr lvl="0"/>
            <a:r>
              <a:rPr lang="en-GB" sz="3100" dirty="0">
                <a:latin typeface="Times New Roman" pitchFamily="18" charset="0"/>
                <a:ea typeface="+mj-ea"/>
                <a:cs typeface="Times New Roman" pitchFamily="18" charset="0"/>
              </a:rPr>
              <a:t>Need of housing for new employees</a:t>
            </a:r>
            <a:endParaRPr lang="en-US" sz="3100" dirty="0">
              <a:latin typeface="Times New Roman" pitchFamily="18" charset="0"/>
              <a:ea typeface="+mj-ea"/>
              <a:cs typeface="Times New Roman" pitchFamily="18" charset="0"/>
            </a:endParaRPr>
          </a:p>
          <a:p>
            <a:pPr lvl="0"/>
            <a:r>
              <a:rPr lang="en-GB" sz="3100" dirty="0">
                <a:latin typeface="Times New Roman" pitchFamily="18" charset="0"/>
                <a:ea typeface="+mj-ea"/>
                <a:cs typeface="Times New Roman" pitchFamily="18" charset="0"/>
              </a:rPr>
              <a:t>Increased crowd near airport</a:t>
            </a:r>
            <a:endParaRPr lang="en-US" sz="3100" dirty="0">
              <a:latin typeface="Times New Roman" pitchFamily="18" charset="0"/>
              <a:ea typeface="+mj-ea"/>
              <a:cs typeface="Times New Roman" pitchFamily="18" charset="0"/>
            </a:endParaRPr>
          </a:p>
          <a:p>
            <a:pPr lvl="0"/>
            <a:r>
              <a:rPr lang="en-GB" sz="3100" dirty="0">
                <a:latin typeface="Times New Roman" pitchFamily="18" charset="0"/>
                <a:ea typeface="+mj-ea"/>
                <a:cs typeface="Times New Roman" pitchFamily="18" charset="0"/>
              </a:rPr>
              <a:t>Increased floating population</a:t>
            </a:r>
            <a:endParaRPr lang="en-US" sz="3100" dirty="0">
              <a:latin typeface="Times New Roman" pitchFamily="18" charset="0"/>
              <a:ea typeface="+mj-ea"/>
              <a:cs typeface="Times New Roman" pitchFamily="18" charset="0"/>
            </a:endParaRPr>
          </a:p>
          <a:p>
            <a:pPr lvl="0"/>
            <a:r>
              <a:rPr lang="en-GB" sz="3100" dirty="0">
                <a:latin typeface="Times New Roman" pitchFamily="18" charset="0"/>
                <a:ea typeface="+mj-ea"/>
                <a:cs typeface="Times New Roman" pitchFamily="18" charset="0"/>
              </a:rPr>
              <a:t>Potential removal of business and homes</a:t>
            </a:r>
            <a:endParaRPr lang="en-US" sz="3100" dirty="0">
              <a:latin typeface="Times New Roman" pitchFamily="18" charset="0"/>
              <a:ea typeface="+mj-ea"/>
              <a:cs typeface="Times New Roman" pitchFamily="18" charset="0"/>
            </a:endParaRPr>
          </a:p>
          <a:p>
            <a:pPr lvl="0"/>
            <a:r>
              <a:rPr lang="en-GB" sz="3100" dirty="0">
                <a:latin typeface="Times New Roman" pitchFamily="18" charset="0"/>
                <a:ea typeface="+mj-ea"/>
                <a:cs typeface="Times New Roman" pitchFamily="18" charset="0"/>
              </a:rPr>
              <a:t>Displacement of people</a:t>
            </a:r>
            <a:endParaRPr lang="en-US" sz="3100" dirty="0">
              <a:latin typeface="Times New Roman" pitchFamily="18" charset="0"/>
              <a:ea typeface="+mj-ea"/>
              <a:cs typeface="Times New Roman" pitchFamily="18" charset="0"/>
            </a:endParaRPr>
          </a:p>
          <a:p>
            <a:pPr lvl="0"/>
            <a:r>
              <a:rPr lang="en-GB" sz="3100" dirty="0">
                <a:latin typeface="Times New Roman" pitchFamily="18" charset="0"/>
                <a:ea typeface="+mj-ea"/>
                <a:cs typeface="Times New Roman" pitchFamily="18" charset="0"/>
              </a:rPr>
              <a:t>Change in character of neighbourhood</a:t>
            </a:r>
            <a:endParaRPr lang="en-US" sz="3100" dirty="0">
              <a:latin typeface="Times New Roman" pitchFamily="18" charset="0"/>
              <a:ea typeface="+mj-ea"/>
              <a:cs typeface="Times New Roman" pitchFamily="18" charset="0"/>
            </a:endParaRPr>
          </a:p>
          <a:p>
            <a:pPr lvl="0"/>
            <a:r>
              <a:rPr lang="en-GB" sz="3100" dirty="0">
                <a:latin typeface="Times New Roman" pitchFamily="18" charset="0"/>
                <a:ea typeface="+mj-ea"/>
                <a:cs typeface="Times New Roman" pitchFamily="18" charset="0"/>
              </a:rPr>
              <a:t>Change in accessibility to schools and community services</a:t>
            </a:r>
            <a:endParaRPr lang="en-US" sz="3100" dirty="0">
              <a:latin typeface="Times New Roman" pitchFamily="18" charset="0"/>
              <a:ea typeface="+mj-ea"/>
              <a:cs typeface="Times New Roman" pitchFamily="18" charset="0"/>
            </a:endParaRPr>
          </a:p>
          <a:p>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GB" sz="3100" b="1" dirty="0">
                <a:latin typeface="Times New Roman" pitchFamily="18" charset="0"/>
                <a:ea typeface="+mj-ea"/>
                <a:cs typeface="Times New Roman" pitchFamily="18" charset="0"/>
              </a:rPr>
              <a:t>Economic Impacts</a:t>
            </a:r>
            <a:r>
              <a:rPr lang="en-GB" sz="3100" dirty="0">
                <a:latin typeface="Times New Roman" pitchFamily="18" charset="0"/>
                <a:ea typeface="+mj-ea"/>
                <a:cs typeface="Times New Roman" pitchFamily="18" charset="0"/>
              </a:rPr>
              <a:t>:</a:t>
            </a:r>
            <a:endParaRPr lang="en-US" sz="3100" dirty="0">
              <a:latin typeface="Times New Roman" pitchFamily="18" charset="0"/>
              <a:ea typeface="+mj-ea"/>
              <a:cs typeface="Times New Roman" pitchFamily="18" charset="0"/>
            </a:endParaRPr>
          </a:p>
          <a:p>
            <a:pPr lvl="0"/>
            <a:r>
              <a:rPr lang="en-GB" sz="3100" dirty="0">
                <a:latin typeface="Times New Roman" pitchFamily="18" charset="0"/>
                <a:ea typeface="+mj-ea"/>
                <a:cs typeface="Times New Roman" pitchFamily="18" charset="0"/>
              </a:rPr>
              <a:t>New jobs created which may be short term (during construction) and long term.</a:t>
            </a:r>
            <a:endParaRPr lang="en-US" sz="3100" dirty="0">
              <a:latin typeface="Times New Roman" pitchFamily="18" charset="0"/>
              <a:ea typeface="+mj-ea"/>
              <a:cs typeface="Times New Roman" pitchFamily="18" charset="0"/>
            </a:endParaRPr>
          </a:p>
          <a:p>
            <a:pPr lvl="0"/>
            <a:r>
              <a:rPr lang="en-GB" sz="3100" dirty="0">
                <a:latin typeface="Times New Roman" pitchFamily="18" charset="0"/>
                <a:ea typeface="+mj-ea"/>
                <a:cs typeface="Times New Roman" pitchFamily="18" charset="0"/>
              </a:rPr>
              <a:t>Growth of commercial and industrial activity</a:t>
            </a:r>
            <a:endParaRPr lang="en-US" sz="3100" dirty="0">
              <a:latin typeface="Times New Roman" pitchFamily="18" charset="0"/>
              <a:ea typeface="+mj-ea"/>
              <a:cs typeface="Times New Roman" pitchFamily="18" charset="0"/>
            </a:endParaRPr>
          </a:p>
          <a:p>
            <a:pPr lvl="0"/>
            <a:r>
              <a:rPr lang="en-GB" sz="3100" dirty="0">
                <a:latin typeface="Times New Roman" pitchFamily="18" charset="0"/>
                <a:ea typeface="+mj-ea"/>
                <a:cs typeface="Times New Roman" pitchFamily="18" charset="0"/>
              </a:rPr>
              <a:t>Loss of taxable properties by the acquisition of private land</a:t>
            </a:r>
            <a:endParaRPr lang="en-US" sz="3100" dirty="0">
              <a:latin typeface="Times New Roman" pitchFamily="18" charset="0"/>
              <a:ea typeface="+mj-ea"/>
              <a:cs typeface="Times New Roman" pitchFamily="18" charset="0"/>
            </a:endParaRPr>
          </a:p>
          <a:p>
            <a:pPr lvl="0"/>
            <a:r>
              <a:rPr lang="en-GB" sz="3100" dirty="0">
                <a:latin typeface="Times New Roman" pitchFamily="18" charset="0"/>
                <a:ea typeface="+mj-ea"/>
                <a:cs typeface="Times New Roman" pitchFamily="18" charset="0"/>
              </a:rPr>
              <a:t>Increased cost for public services like police, fire protection, traffic control, street expansion, etc.</a:t>
            </a:r>
            <a:endParaRPr lang="en-US" sz="3100" dirty="0">
              <a:latin typeface="Times New Roman" pitchFamily="18" charset="0"/>
              <a:ea typeface="+mj-ea"/>
              <a:cs typeface="Times New Roman" pitchFamily="18" charset="0"/>
            </a:endParaRPr>
          </a:p>
          <a:p>
            <a:pPr lvl="0"/>
            <a:r>
              <a:rPr lang="en-GB" sz="3100" dirty="0">
                <a:latin typeface="Times New Roman" pitchFamily="18" charset="0"/>
                <a:ea typeface="+mj-ea"/>
                <a:cs typeface="Times New Roman" pitchFamily="18" charset="0"/>
              </a:rPr>
              <a:t>Change in adjacent property values</a:t>
            </a:r>
            <a:endParaRPr lang="en-US" sz="3100" dirty="0">
              <a:latin typeface="Times New Roman" pitchFamily="18" charset="0"/>
              <a:ea typeface="+mj-ea"/>
              <a:cs typeface="Times New Roman" pitchFamily="18" charset="0"/>
            </a:endParaRPr>
          </a:p>
          <a:p>
            <a:pPr lvl="0"/>
            <a:r>
              <a:rPr lang="en-GB" sz="3100" dirty="0">
                <a:latin typeface="Times New Roman" pitchFamily="18" charset="0"/>
                <a:ea typeface="+mj-ea"/>
                <a:cs typeface="Times New Roman" pitchFamily="18" charset="0"/>
              </a:rPr>
              <a:t>Increased energy consumption</a:t>
            </a:r>
            <a:endParaRPr lang="en-US" sz="3100" dirty="0">
              <a:latin typeface="Times New Roman" pitchFamily="18" charset="0"/>
              <a:ea typeface="+mj-ea"/>
              <a:cs typeface="Times New Roman" pitchFamily="18" charset="0"/>
            </a:endParaRPr>
          </a:p>
          <a:p>
            <a:pPr lvl="0"/>
            <a:r>
              <a:rPr lang="en-GB" sz="3100" dirty="0">
                <a:latin typeface="Times New Roman" pitchFamily="18" charset="0"/>
                <a:ea typeface="+mj-ea"/>
                <a:cs typeface="Times New Roman" pitchFamily="18" charset="0"/>
              </a:rPr>
              <a:t>Increase in tourist oriented revenues and local sale tax revenues.</a:t>
            </a:r>
            <a:endParaRPr lang="en-US" sz="3100" dirty="0">
              <a:latin typeface="Times New Roman" pitchFamily="18" charset="0"/>
              <a:ea typeface="+mj-ea"/>
              <a:cs typeface="Times New Roman" pitchFamily="18" charset="0"/>
            </a:endParaRPr>
          </a:p>
          <a:p>
            <a:endParaRPr lang="en-US" dirty="0"/>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2.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docProps/app.xml><?xml version="1.0" encoding="utf-8"?>
<Properties xmlns="http://schemas.openxmlformats.org/officeDocument/2006/extended-properties" xmlns:vt="http://schemas.openxmlformats.org/officeDocument/2006/docPropsVTypes">
  <Template/>
  <TotalTime>1579851</TotalTime>
  <Words>7463</Words>
  <Application>Microsoft Office PowerPoint</Application>
  <PresentationFormat>On-screen Show (4:3)</PresentationFormat>
  <Paragraphs>472</Paragraphs>
  <Slides>95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95</vt:i4>
      </vt:variant>
    </vt:vector>
  </HeadingPairs>
  <TitlesOfParts>
    <vt:vector size="102" baseType="lpstr">
      <vt:lpstr>Arial</vt:lpstr>
      <vt:lpstr>Calibri</vt:lpstr>
      <vt:lpstr>Century Gothic</vt:lpstr>
      <vt:lpstr>Times New Roman</vt:lpstr>
      <vt:lpstr>Wingdings</vt:lpstr>
      <vt:lpstr>Wingdings 3</vt:lpstr>
      <vt:lpstr>Wisp</vt:lpstr>
      <vt:lpstr>MODULE 3</vt:lpstr>
      <vt:lpstr>EIA methodologies</vt:lpstr>
      <vt:lpstr>EIA methodologies</vt:lpstr>
      <vt:lpstr>Ad-HOC method </vt:lpstr>
      <vt:lpstr>Types of Ad hoc methods  </vt:lpstr>
      <vt:lpstr>PowerPoint Presentation</vt:lpstr>
      <vt:lpstr>PowerPoint Presentation</vt:lpstr>
      <vt:lpstr>Checklist Methodologies </vt:lpstr>
      <vt:lpstr>PowerPoint Presentation</vt:lpstr>
      <vt:lpstr>Simple Lists</vt:lpstr>
      <vt:lpstr>PowerPoint Presentation</vt:lpstr>
      <vt:lpstr>Descriptive checklists </vt:lpstr>
      <vt:lpstr>PowerPoint Presentation</vt:lpstr>
      <vt:lpstr>Scaling checklists </vt:lpstr>
      <vt:lpstr>PowerPoint Presentation</vt:lpstr>
      <vt:lpstr>Scaling Weighing checklist  </vt:lpstr>
      <vt:lpstr>PowerPoint Presentation</vt:lpstr>
      <vt:lpstr>Matrix method </vt:lpstr>
      <vt:lpstr>PowerPoint Presentation</vt:lpstr>
      <vt:lpstr>PowerPoint Presentation</vt:lpstr>
      <vt:lpstr>Leopold Matrix</vt:lpstr>
      <vt:lpstr>PowerPoint Presentation</vt:lpstr>
      <vt:lpstr>PowerPoint Presentation</vt:lpstr>
      <vt:lpstr>PowerPoint Presentation</vt:lpstr>
      <vt:lpstr>Stepped Matrix Method </vt:lpstr>
      <vt:lpstr>PowerPoint Presentation</vt:lpstr>
      <vt:lpstr>Network method </vt:lpstr>
      <vt:lpstr>PowerPoint Presentation</vt:lpstr>
      <vt:lpstr>PowerPoint Presentation</vt:lpstr>
      <vt:lpstr>PowerPoint Presentation</vt:lpstr>
      <vt:lpstr>PowerPoint Presentation</vt:lpstr>
      <vt:lpstr>Evaluation and Mitigation-Prediction and assessment of the impact on water (surface water)</vt:lpstr>
      <vt:lpstr>Projects Which Create Impact Concerns for the Surface-Water Environment</vt:lpstr>
      <vt:lpstr>PowerPoint Presentation</vt:lpstr>
      <vt:lpstr>Systematic Methods for Evaluation of Impacts of Various Developmental Activities on Surface Water</vt:lpstr>
      <vt:lpstr>Step 1 :Identification of Surface Water Quantity or Quality Impacts of Proposed Projects</vt:lpstr>
      <vt:lpstr>Step 2: Description of Existing Surface - Water Resource Conditions</vt:lpstr>
      <vt:lpstr>Step 3: Procurement of Relevant Surface-water Quantity-Quality Standards</vt:lpstr>
      <vt:lpstr>Step 4 :Impact Prediction</vt:lpstr>
      <vt:lpstr>PowerPoint Presentation</vt:lpstr>
      <vt:lpstr>Step 5 :Interpretation of Impact Significance</vt:lpstr>
      <vt:lpstr>Step 6: Identification and Incorporation of Mitigation Measures</vt:lpstr>
      <vt:lpstr>Prediction and Assessment of Impacts on the Air Environment</vt:lpstr>
      <vt:lpstr>Basic Information on Air Pollution</vt:lpstr>
      <vt:lpstr>Air Pollution Sources</vt:lpstr>
      <vt:lpstr>Air Pollution Effect</vt:lpstr>
      <vt:lpstr>Generalized Approach for Assessment of Air Pollution Impact</vt:lpstr>
      <vt:lpstr>1. Evaluation and identification of sources and quantity of air pollutant emissions of different phases of the proposed activity like the construction operation and development:  </vt:lpstr>
      <vt:lpstr>PowerPoint Presentation</vt:lpstr>
      <vt:lpstr>2.Detailed evaluation of the project area for the existing ambient air quality, emission inventory, and meteorological data </vt:lpstr>
      <vt:lpstr>3.Examination of Appropriate Air Quality Emission Regulation Laws and Air Quality Standards. </vt:lpstr>
      <vt:lpstr>4.Carrying out Impact Assessment using Mass Balance, Mathematics Modeling and Single Qualitative Approach </vt:lpstr>
      <vt:lpstr>5.Assessment of Significance of Impacts</vt:lpstr>
      <vt:lpstr>6.Development of Appropriate Mitigation or Remediation Plans for Reducing Adverse Impacts</vt:lpstr>
      <vt:lpstr>General mitigation measures minimizing detrimental effects of air pollution</vt:lpstr>
      <vt:lpstr>PowerPoint Presentation</vt:lpstr>
      <vt:lpstr>Prediction and Assessment of Impacts of Noise on the Environment</vt:lpstr>
      <vt:lpstr>Systematic Methodology for Assessing Environmental Impacts of Noise </vt:lpstr>
      <vt:lpstr>PowerPoint Presentation</vt:lpstr>
      <vt:lpstr>Step 1 : Identification of Noise Impacts</vt:lpstr>
      <vt:lpstr>Step 2: Description of Existing Noise-Environment</vt:lpstr>
      <vt:lpstr> Step 3 : Procurement of Relevant Noise Standards and/or Guidelines</vt:lpstr>
      <vt:lpstr>Step 4: Impact Prediction</vt:lpstr>
      <vt:lpstr>Step 5 : Assessment of Impact Significance</vt:lpstr>
      <vt:lpstr>Step 6 : Mitigation Measures</vt:lpstr>
      <vt:lpstr>Step 7: Prediction of Final Impact Statement</vt:lpstr>
      <vt:lpstr>Assessment of ecological impacts</vt:lpstr>
      <vt:lpstr>PowerPoint Presentation</vt:lpstr>
      <vt:lpstr>General Methodology for the Assessment of Impacts on Biological Environment</vt:lpstr>
      <vt:lpstr>PowerPoint Presentation</vt:lpstr>
      <vt:lpstr>PowerPoint Presentation</vt:lpstr>
      <vt:lpstr>PowerPoint Presentation</vt:lpstr>
      <vt:lpstr>PowerPoint Presentation</vt:lpstr>
      <vt:lpstr>PowerPoint Presentation</vt:lpstr>
      <vt:lpstr>Systematic Approach for Evaluating Biological Impacts</vt:lpstr>
      <vt:lpstr>PowerPoint Presentation</vt:lpstr>
      <vt:lpstr>Step 1: Identification of Biological lmpacts</vt:lpstr>
      <vt:lpstr>Step 2: Description of Existing Biological - Environment Condition</vt:lpstr>
      <vt:lpstr>STEP 3 : Procurement of Relevant Legislation and Regulations</vt:lpstr>
      <vt:lpstr>STEP 4 : Impact Prediction</vt:lpstr>
      <vt:lpstr>Step.5: Assessment of Impact Significance</vt:lpstr>
      <vt:lpstr>STEP 6 : Identification and Incorporation of Mitigation Measures</vt:lpstr>
      <vt:lpstr>PREDICTION AND ASSESSMENT OF IMPACTS ON THE SOCIO-ECONOMIC ENVIRONMENT</vt:lpstr>
      <vt:lpstr>PowerPoint Presentation</vt:lpstr>
      <vt:lpstr>   Conceptual Frame Work For Socio Economic Assessment</vt:lpstr>
      <vt:lpstr>Step 1 : Study Area Delineation and Categorization of Present Activities </vt:lpstr>
      <vt:lpstr>Step 2 : Identification of Socio-Economic Impacts  </vt:lpstr>
      <vt:lpstr>PowerPoint Presentation</vt:lpstr>
      <vt:lpstr>Step 3 : Description of existing socio-economic condition of the study area      </vt:lpstr>
      <vt:lpstr>Step 4 : Procurement of Relevant Standard/Criteria/Guidelines</vt:lpstr>
      <vt:lpstr>Step 5 : Impact Prediction with and without Project</vt:lpstr>
      <vt:lpstr>Step 6 Assessment of Significance of Socio-Economic Impacts</vt:lpstr>
      <vt:lpstr>Step 7: Incorporation of Mitigation Measures in the Project and Preparation of Draft Environmental Impact Statement</vt:lpstr>
      <vt:lpstr>Socio-economic impacts of AIRPORT project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Socio-Economic Impact</dc:title>
  <dc:creator>Ms. Amrutha S</dc:creator>
  <cp:lastModifiedBy>Devina Vipinan</cp:lastModifiedBy>
  <cp:revision>130</cp:revision>
  <dcterms:created xsi:type="dcterms:W3CDTF">2006-08-16T00:00:00Z</dcterms:created>
  <dcterms:modified xsi:type="dcterms:W3CDTF">2022-12-02T06:55:01Z</dcterms:modified>
</cp:coreProperties>
</file>