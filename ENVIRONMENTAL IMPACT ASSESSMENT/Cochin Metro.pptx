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2" r:id="rId1"/>
  </p:sldMasterIdLst>
  <p:notesMasterIdLst>
    <p:notesMasterId r:id="rId32"/>
  </p:notesMasterIdLst>
  <p:handoutMasterIdLst>
    <p:handoutMasterId r:id="rId33"/>
  </p:handoutMasterIdLst>
  <p:sldIdLst>
    <p:sldId id="256" r:id="rId2"/>
    <p:sldId id="302" r:id="rId3"/>
    <p:sldId id="303" r:id="rId4"/>
    <p:sldId id="304" r:id="rId5"/>
    <p:sldId id="305" r:id="rId6"/>
    <p:sldId id="257" r:id="rId7"/>
    <p:sldId id="258" r:id="rId8"/>
    <p:sldId id="278" r:id="rId9"/>
    <p:sldId id="279" r:id="rId10"/>
    <p:sldId id="307" r:id="rId11"/>
    <p:sldId id="263" r:id="rId12"/>
    <p:sldId id="280" r:id="rId13"/>
    <p:sldId id="281" r:id="rId14"/>
    <p:sldId id="259" r:id="rId15"/>
    <p:sldId id="282" r:id="rId16"/>
    <p:sldId id="262" r:id="rId17"/>
    <p:sldId id="264" r:id="rId18"/>
    <p:sldId id="283" r:id="rId19"/>
    <p:sldId id="284" r:id="rId20"/>
    <p:sldId id="285" r:id="rId21"/>
    <p:sldId id="265" r:id="rId22"/>
    <p:sldId id="292" r:id="rId23"/>
    <p:sldId id="289" r:id="rId24"/>
    <p:sldId id="291" r:id="rId25"/>
    <p:sldId id="290" r:id="rId26"/>
    <p:sldId id="293" r:id="rId27"/>
    <p:sldId id="294" r:id="rId28"/>
    <p:sldId id="271" r:id="rId29"/>
    <p:sldId id="273" r:id="rId30"/>
    <p:sldId id="30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66FF66"/>
    <a:srgbClr val="E85D46"/>
    <a:srgbClr val="F1FDF3"/>
    <a:srgbClr val="100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43" autoAdjust="0"/>
    <p:restoredTop sz="94660"/>
  </p:normalViewPr>
  <p:slideViewPr>
    <p:cSldViewPr>
      <p:cViewPr>
        <p:scale>
          <a:sx n="76" d="100"/>
          <a:sy n="76" d="100"/>
        </p:scale>
        <p:origin x="-1356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B03B40-2B4E-4839-8012-7775158A6919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F2F3B-D22D-411A-91B8-7DD60690B1C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1366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2B612-D7C1-49D2-A454-1B72D763B530}" type="datetimeFigureOut">
              <a:rPr lang="en-US" smtClean="0"/>
              <a:pPr/>
              <a:t>6/7/2022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FB98D-B18C-47FF-9FB0-87AAB82B7F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438275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B98D-B18C-47FF-9FB0-87AAB82B7FEE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36FB98D-B18C-47FF-9FB0-87AAB82B7FE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B98D-B18C-47FF-9FB0-87AAB82B7FEE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B98D-B18C-47FF-9FB0-87AAB82B7FE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B98D-B18C-47FF-9FB0-87AAB82B7FEE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36FB98D-B18C-47FF-9FB0-87AAB82B7FE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smtClean="0"/>
              <a:t>ENVIRONMENTAL IMAPCT ASSESMENT OF KOCHI METRO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VJCET,VAZHAKULAM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6FB98D-B18C-47FF-9FB0-87AAB82B7FEE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BF16CA19-8259-4526-A5E5-BAC221CF56DD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809A09DD-71A4-4F0D-A4D5-C9896446B68A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 smtClean="0"/>
              <a:t>VJCET VAZHAKULAM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E1C6696B-5D18-4450-A5C9-F992C9D00BCC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C28CC-68B4-4BAD-8E71-4A96821ACCB3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C66CC-547E-4F8C-88AB-78FCA6CAE6D6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13BB122-5826-4E84-ACB6-D3FF0BB2B42C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VJCET VAZHAKULAM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E5959-4804-4577-8952-DB96A5896C06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ACA1871-7C95-44F9-ACAD-6ACEAA833CBC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r>
              <a:rPr lang="en-US" smtClean="0"/>
              <a:t>VJCET VAZHAKULAM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44F266B-93D2-4F21-9E0E-7FFE6EC5F07E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r>
              <a:rPr lang="en-US" smtClean="0"/>
              <a:t>VJCET VAZHAKULAM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89BDE-16D0-4471-86FF-92E81051EB68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4F291-5B96-4F1C-A421-394F99A2F81A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C3DA37A-DBF0-49E2-B85E-C8EF78A3D97B}" type="datetime1">
              <a:rPr lang="en-US" smtClean="0"/>
              <a:pPr/>
              <a:t>6/7/2022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VJCET VAZHAKULAM</a:t>
            </a: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92230302-9317-4EE0-A598-9E9134ACE81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76400" y="304800"/>
            <a:ext cx="7010400" cy="32316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  <a:latin typeface="Arial Black" pitchFamily="34" charset="0"/>
                <a:cs typeface="Times New Roman" pitchFamily="18" charset="0"/>
              </a:rPr>
              <a:t>ENVIRONMENTAL IMPACT ASSESSMENT OF KOCHI METRO</a:t>
            </a:r>
          </a:p>
          <a:p>
            <a:pPr algn="ctr"/>
            <a:r>
              <a:rPr lang="en-US" sz="4400" dirty="0" smtClean="0">
                <a:solidFill>
                  <a:schemeClr val="tx2">
                    <a:lumMod val="50000"/>
                  </a:schemeClr>
                </a:solidFill>
                <a:latin typeface="Arial Black" pitchFamily="34" charset="0"/>
                <a:cs typeface="Times New Roman" pitchFamily="18" charset="0"/>
              </a:rPr>
              <a:t>Aluva-Petta</a:t>
            </a:r>
          </a:p>
          <a:p>
            <a:endParaRPr lang="en-US" sz="2800" dirty="0">
              <a:latin typeface="Arial Black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 smtClean="0">
                <a:latin typeface="Times New Roman" pitchFamily="18" charset="0"/>
                <a:cs typeface="Times New Roman" pitchFamily="18" charset="0"/>
              </a:rPr>
              <a:t>CIVIL  ENGINEERING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" y="1285875"/>
            <a:ext cx="8229600" cy="5143500"/>
          </a:xfrm>
        </p:spPr>
        <p:txBody>
          <a:bodyPr/>
          <a:lstStyle/>
          <a:p>
            <a:pPr algn="just">
              <a:buFont typeface="Wingdings 2" pitchFamily="18" charset="2"/>
              <a:buNone/>
              <a:defRPr/>
            </a:pPr>
            <a:r>
              <a:rPr lang="en-IN" sz="2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VISION</a:t>
            </a:r>
            <a:endParaRPr lang="en-IN" sz="2000" b="1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20000"/>
              </a:lnSpc>
              <a:buFont typeface="Wingdings 2" pitchFamily="18" charset="2"/>
              <a:buNone/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 “Building Professionally Competent and Motivated Engineers in the Arena of Civil Engineering with High Professional Ethics.”</a:t>
            </a:r>
          </a:p>
          <a:p>
            <a:pPr algn="just">
              <a:buFont typeface="Wingdings 2" pitchFamily="18" charset="2"/>
              <a:buNone/>
              <a:defRPr/>
            </a:pPr>
            <a:r>
              <a:rPr lang="en-IN" sz="2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MISSION</a:t>
            </a:r>
          </a:p>
          <a:p>
            <a:pPr algn="just"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To promote a better teaching learning process through academically proficient faculties, full fledged laboratories and excellent infrastructure facilities.</a:t>
            </a:r>
          </a:p>
          <a:p>
            <a:pPr algn="just"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To equip the graduates with knowledge, research and practical skills in modern construction practices and techniques.</a:t>
            </a:r>
          </a:p>
          <a:p>
            <a:pPr algn="just"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To inculcate knowledge of sustainability in various domains of Civil Engineering.</a:t>
            </a:r>
          </a:p>
          <a:p>
            <a:pPr algn="just"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To nurture Civil Engineers into ethically strong and responsible leaders to address global challenges through quality education.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500063" y="214313"/>
            <a:ext cx="8229600" cy="1143000"/>
          </a:xfrm>
        </p:spPr>
        <p:txBody>
          <a:bodyPr/>
          <a:lstStyle/>
          <a:p>
            <a:r>
              <a:rPr lang="en-IN" sz="3200" b="1" dirty="0" smtClean="0">
                <a:latin typeface="Times New Roman" pitchFamily="18" charset="0"/>
                <a:cs typeface="Times New Roman" pitchFamily="18" charset="0"/>
              </a:rPr>
              <a:t>PROGRAM  EDUCATIONAL OBJECTIVES</a:t>
            </a:r>
            <a:endParaRPr lang="en-IN" sz="3200" b="1" dirty="0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428625" y="1500188"/>
            <a:ext cx="8229600" cy="4714875"/>
          </a:xfrm>
        </p:spPr>
        <p:txBody>
          <a:bodyPr/>
          <a:lstStyle/>
          <a:p>
            <a:pPr algn="just">
              <a:buFont typeface="Wingdings 2" pitchFamily="18" charset="2"/>
              <a:buNone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Our Graduates</a:t>
            </a:r>
          </a:p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Shall tackle the multiple responsibilities of analysis, design and construction of traditional and modern systems in compliance with various codes of practices and to meet the current technical challenges.</a:t>
            </a:r>
          </a:p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Shall be proficient in the use of relevant software packages for planning, designing, scheduling, executing and controlling of civil engineering projects, with an urge for life-long learning.</a:t>
            </a:r>
          </a:p>
          <a:p>
            <a:pPr algn="just">
              <a:lnSpc>
                <a:spcPct val="150000"/>
              </a:lnSpc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Shall function effectively with individual capabilities as well as with a collective strength as a professional team with good communication skills.</a:t>
            </a:r>
          </a:p>
          <a:p>
            <a:endParaRPr lang="en-IN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1722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428625" y="21431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sz="3600" b="1" smtClean="0">
                <a:latin typeface="Times New Roman" pitchFamily="18" charset="0"/>
                <a:cs typeface="Times New Roman" pitchFamily="18" charset="0"/>
              </a:rPr>
              <a:t>PROGRAMME SPECIFIC OUTCOMES</a:t>
            </a:r>
            <a:endParaRPr lang="en-IN" sz="3600" b="1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" y="1500188"/>
            <a:ext cx="8229600" cy="4389437"/>
          </a:xfrm>
        </p:spPr>
        <p:txBody>
          <a:bodyPr>
            <a:normAutofit fontScale="92500" lnSpcReduction="10000"/>
          </a:bodyPr>
          <a:lstStyle/>
          <a:p>
            <a:pPr>
              <a:buFont typeface="Wingdings 2" pitchFamily="18" charset="2"/>
              <a:buNone/>
              <a:defRPr/>
            </a:pPr>
            <a:r>
              <a:rPr lang="en-IN" sz="24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CIVIL ENGINEERING DEPARTMENT</a:t>
            </a:r>
          </a:p>
          <a:p>
            <a:pPr>
              <a:buFont typeface="Wingdings 2" pitchFamily="18" charset="2"/>
              <a:buNone/>
              <a:defRPr/>
            </a:pPr>
            <a:endParaRPr lang="en-IN" sz="2400" b="1" u="sng" dirty="0" smtClean="0">
              <a:solidFill>
                <a:schemeClr val="tx2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Ability to utilize civil engineering principles and software that are appropriate to solve technical problems, prepare design and construction documents ,create structural systems; produce drawings, reports and quantity estimates related to the Civil Engineering domain.</a:t>
            </a:r>
          </a:p>
          <a:p>
            <a:pPr algn="just">
              <a:lnSpc>
                <a:spcPct val="150000"/>
              </a:lnSpc>
              <a:buFont typeface="Wingdings 2" pitchFamily="18" charset="2"/>
              <a:buNone/>
              <a:defRPr/>
            </a:pPr>
            <a:endParaRPr lang="en-IN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Ability to utilize modern surveying methods for land measurement and/or construction layout and to conduct standardized field /laboratory tests related to Civil Engineering.</a:t>
            </a:r>
          </a:p>
          <a:p>
            <a:pPr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0" y="228600"/>
            <a:ext cx="5715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OVERVIEW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1676400"/>
            <a:ext cx="670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1.INTRODUCTION</a:t>
            </a:r>
          </a:p>
          <a:p>
            <a:pPr algn="just"/>
            <a:r>
              <a:rPr lang="en-US" b="1" dirty="0" smtClean="0"/>
              <a:t>2.KOCHI METRO</a:t>
            </a:r>
          </a:p>
          <a:p>
            <a:pPr algn="just"/>
            <a:r>
              <a:rPr lang="en-US" b="1" dirty="0" smtClean="0"/>
              <a:t>3.OBJECTIVES OF STUDY</a:t>
            </a:r>
          </a:p>
          <a:p>
            <a:pPr algn="just"/>
            <a:r>
              <a:rPr lang="en-US" b="1" dirty="0" smtClean="0"/>
              <a:t>4.METRO ROUTE : ALUVA –PETTA</a:t>
            </a:r>
          </a:p>
          <a:p>
            <a:pPr algn="just"/>
            <a:r>
              <a:rPr lang="en-US" b="1" dirty="0" smtClean="0"/>
              <a:t>5.ENVIRONMENTAL BASELINE DATA</a:t>
            </a:r>
          </a:p>
          <a:p>
            <a:pPr algn="just"/>
            <a:r>
              <a:rPr lang="en-US" b="1" dirty="0" smtClean="0"/>
              <a:t>6.SOCIO-ECONOMIC STUDY (ALUVA-PULINCHODU)</a:t>
            </a:r>
          </a:p>
          <a:p>
            <a:pPr algn="just"/>
            <a:r>
              <a:rPr lang="en-US" b="1" dirty="0" smtClean="0"/>
              <a:t>7.POSITIVE ENVIRONMENTAL IMPACTS</a:t>
            </a:r>
          </a:p>
          <a:p>
            <a:pPr algn="just"/>
            <a:r>
              <a:rPr lang="en-US" b="1" dirty="0" smtClean="0"/>
              <a:t>8.NEGATIVE ENVIRONMENTAL IMPACTS</a:t>
            </a:r>
          </a:p>
          <a:p>
            <a:pPr algn="just"/>
            <a:r>
              <a:rPr lang="en-US" b="1" dirty="0" smtClean="0"/>
              <a:t>9.ENVIRONMENTAL MANAGEMENT PLAN</a:t>
            </a:r>
          </a:p>
          <a:p>
            <a:pPr algn="just"/>
            <a:r>
              <a:rPr lang="en-US" b="1" dirty="0" smtClean="0"/>
              <a:t>10.ENVIRONMENTAL MONITORING PLAN</a:t>
            </a:r>
          </a:p>
          <a:p>
            <a:pPr algn="just"/>
            <a:r>
              <a:rPr lang="en-US" b="1" dirty="0" smtClean="0"/>
              <a:t>11.WITH AND WITHOUT METRO SCENARIO</a:t>
            </a:r>
          </a:p>
          <a:p>
            <a:pPr algn="just"/>
            <a:r>
              <a:rPr lang="en-US" b="1" dirty="0" smtClean="0"/>
              <a:t>12.CONCLUSION</a:t>
            </a:r>
          </a:p>
          <a:p>
            <a:pPr algn="just"/>
            <a:r>
              <a:rPr lang="en-US" b="1" dirty="0" smtClean="0"/>
              <a:t>13.REFERENCES</a:t>
            </a:r>
            <a:endParaRPr lang="en-US" b="1" dirty="0"/>
          </a:p>
        </p:txBody>
      </p:sp>
      <p:pic>
        <p:nvPicPr>
          <p:cNvPr id="11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67400" y="1447800"/>
            <a:ext cx="2819401" cy="1600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71600" y="533400"/>
            <a:ext cx="63658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sx="1000" sy="1000" algn="ctr" rotWithShape="0">
                    <a:srgbClr val="000000"/>
                  </a:outerShdw>
                  <a:reflection blurRad="12700" stA="50000" endPos="50000" dist="5000" dir="5400000" sy="-100000" rotWithShape="0"/>
                </a:effectLst>
              </a:rPr>
              <a:t>INTRODUCTION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outerShdw sx="1000" sy="1000" algn="ctr" rotWithShape="0">
                  <a:srgbClr val="000000"/>
                </a:outerShdw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600200"/>
            <a:ext cx="7467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</a:t>
            </a:r>
            <a:r>
              <a:rPr lang="en-US" b="1" dirty="0" smtClean="0"/>
              <a:t>Kochi Metro Rail Project</a:t>
            </a:r>
            <a:r>
              <a:rPr lang="en-US" dirty="0" smtClean="0"/>
              <a:t>-An initiative by Kerala Government.</a:t>
            </a:r>
          </a:p>
          <a:p>
            <a:pPr algn="just"/>
            <a:r>
              <a:rPr lang="en-US" dirty="0" smtClean="0"/>
              <a:t>●Span of 25km with 22 stations from </a:t>
            </a:r>
            <a:r>
              <a:rPr lang="en-US" dirty="0" err="1" smtClean="0"/>
              <a:t>Aluva</a:t>
            </a:r>
            <a:r>
              <a:rPr lang="en-US" dirty="0" smtClean="0"/>
              <a:t> to </a:t>
            </a:r>
            <a:r>
              <a:rPr lang="en-US" dirty="0" err="1" smtClean="0"/>
              <a:t>Petta</a:t>
            </a:r>
            <a:r>
              <a:rPr lang="en-US" dirty="0" smtClean="0"/>
              <a:t> and   maintenance depot at </a:t>
            </a:r>
            <a:r>
              <a:rPr lang="en-US" dirty="0" err="1" smtClean="0"/>
              <a:t>Muttom</a:t>
            </a:r>
            <a:r>
              <a:rPr lang="en-US" dirty="0" smtClean="0"/>
              <a:t>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</a:t>
            </a:r>
            <a:r>
              <a:rPr lang="en-US" b="1" dirty="0" smtClean="0"/>
              <a:t>Environmental Impact Assessment (EIA)</a:t>
            </a:r>
            <a:r>
              <a:rPr lang="en-US" dirty="0" smtClean="0"/>
              <a:t> study-to document the assessments of environmental impacts associated with development of Kochi metro.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●Deals with ►Environmental factors</a:t>
            </a:r>
          </a:p>
          <a:p>
            <a:pPr algn="just"/>
            <a:r>
              <a:rPr lang="en-US" dirty="0" smtClean="0"/>
              <a:t>                     ►Socio-Economic factors</a:t>
            </a:r>
          </a:p>
          <a:p>
            <a:r>
              <a:rPr lang="en-US" dirty="0" smtClean="0"/>
              <a:t>                       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810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31746" name="Picture 2" descr="Image result for KOCHI METRO EXCLUSIVE PICTUR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24400" y="3733800"/>
            <a:ext cx="3352800" cy="22479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228600" y="2286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</a:rPr>
              <a:t>EIA OF KOCHI METRO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5800" y="533400"/>
            <a:ext cx="58208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Kochi metro</a:t>
            </a:r>
            <a:endParaRPr lang="en-US" sz="5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" y="1676400"/>
            <a:ext cx="8229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●Fastest completed metro project in India.</a:t>
            </a:r>
          </a:p>
          <a:p>
            <a:pPr algn="just"/>
            <a:r>
              <a:rPr lang="en-US" dirty="0" smtClean="0"/>
              <a:t>           ►Opened to public within three years and ten months.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●First metro in country which connects </a:t>
            </a:r>
            <a:r>
              <a:rPr lang="en-US" dirty="0" err="1" smtClean="0"/>
              <a:t>rail,road</a:t>
            </a:r>
            <a:r>
              <a:rPr lang="en-US" dirty="0" smtClean="0"/>
              <a:t> and water transport facilities.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●The first phase is being set up at an estimated cost of 51.81 billion.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●Former PM Dr </a:t>
            </a:r>
            <a:r>
              <a:rPr lang="en-US" dirty="0" err="1" smtClean="0"/>
              <a:t>Manmohan</a:t>
            </a:r>
            <a:r>
              <a:rPr lang="en-US" dirty="0" smtClean="0"/>
              <a:t> Singh laid the foundation stone for the Kochi Metro rail project in 2012.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2" descr="Related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00800" y="838200"/>
            <a:ext cx="2286001" cy="1143000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>
          <a:xfrm>
            <a:off x="228600" y="2286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762000"/>
            <a:ext cx="8229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 ●Construction work was started in June 2013.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●2 phases ►1</a:t>
            </a:r>
            <a:r>
              <a:rPr lang="en-US" baseline="30000" dirty="0" smtClean="0"/>
              <a:t>st</a:t>
            </a:r>
            <a:r>
              <a:rPr lang="en-US" dirty="0" smtClean="0"/>
              <a:t> phase-</a:t>
            </a:r>
            <a:r>
              <a:rPr lang="en-US" dirty="0" err="1" smtClean="0"/>
              <a:t>Aluva</a:t>
            </a:r>
            <a:r>
              <a:rPr lang="en-US" dirty="0" smtClean="0"/>
              <a:t> to </a:t>
            </a:r>
            <a:r>
              <a:rPr lang="en-US" dirty="0" err="1" smtClean="0"/>
              <a:t>Petta</a:t>
            </a:r>
            <a:endParaRPr lang="en-US" dirty="0" smtClean="0"/>
          </a:p>
          <a:p>
            <a:pPr algn="just"/>
            <a:r>
              <a:rPr lang="en-US" dirty="0" smtClean="0"/>
              <a:t>                  ►2</a:t>
            </a:r>
            <a:r>
              <a:rPr lang="en-US" baseline="30000" dirty="0" smtClean="0"/>
              <a:t>nd</a:t>
            </a:r>
            <a:r>
              <a:rPr lang="en-US" dirty="0" smtClean="0"/>
              <a:t> phase-</a:t>
            </a:r>
            <a:r>
              <a:rPr lang="en-US" dirty="0" err="1" smtClean="0"/>
              <a:t>Petta</a:t>
            </a:r>
            <a:r>
              <a:rPr lang="en-US" dirty="0" smtClean="0"/>
              <a:t> to </a:t>
            </a:r>
            <a:r>
              <a:rPr lang="en-US" dirty="0" err="1" smtClean="0"/>
              <a:t>Thripoonithara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●13.4 km section of the line from </a:t>
            </a:r>
            <a:r>
              <a:rPr lang="en-US" dirty="0" err="1" smtClean="0"/>
              <a:t>Aluva</a:t>
            </a:r>
            <a:r>
              <a:rPr lang="en-US" dirty="0" smtClean="0"/>
              <a:t> to </a:t>
            </a:r>
            <a:r>
              <a:rPr lang="en-US" dirty="0" err="1" smtClean="0"/>
              <a:t>Palarivattom</a:t>
            </a:r>
            <a:r>
              <a:rPr lang="en-US" dirty="0" smtClean="0"/>
              <a:t> was opened to public on 17 June 2017 by PM </a:t>
            </a:r>
            <a:r>
              <a:rPr lang="en-US" dirty="0" err="1" smtClean="0"/>
              <a:t>Narendra</a:t>
            </a:r>
            <a:r>
              <a:rPr lang="en-US" dirty="0" smtClean="0"/>
              <a:t> </a:t>
            </a:r>
            <a:r>
              <a:rPr lang="en-US" dirty="0" err="1" smtClean="0"/>
              <a:t>Modi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●Kochi metro also includes the technology for driverless trains and is hoping to implement this in the near future.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61722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27650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38800" y="685800"/>
            <a:ext cx="2847975" cy="16002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524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457200"/>
            <a:ext cx="7715575" cy="7848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5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Objectives of study</a:t>
            </a:r>
            <a:endParaRPr lang="en-US" sz="45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371600"/>
            <a:ext cx="8077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●To conduct baseline environmental resources studies of the area.</a:t>
            </a:r>
          </a:p>
          <a:p>
            <a:pPr algn="just"/>
            <a:r>
              <a:rPr lang="en-US" dirty="0" smtClean="0"/>
              <a:t>                      ►Secondary data</a:t>
            </a:r>
          </a:p>
          <a:p>
            <a:pPr algn="just"/>
            <a:r>
              <a:rPr lang="en-US" dirty="0" smtClean="0"/>
              <a:t>                      ►Previous studies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●To </a:t>
            </a:r>
            <a:r>
              <a:rPr lang="en-US" dirty="0" err="1" smtClean="0"/>
              <a:t>analyse</a:t>
            </a:r>
            <a:r>
              <a:rPr lang="en-US" dirty="0" smtClean="0"/>
              <a:t> environmental impacts during 3 stages</a:t>
            </a:r>
          </a:p>
          <a:p>
            <a:pPr algn="just"/>
            <a:r>
              <a:rPr lang="en-US" dirty="0" smtClean="0"/>
              <a:t>                      ►Before construction </a:t>
            </a:r>
          </a:p>
          <a:p>
            <a:pPr algn="just"/>
            <a:r>
              <a:rPr lang="en-US" dirty="0" smtClean="0"/>
              <a:t>                      ►During construction</a:t>
            </a:r>
          </a:p>
          <a:p>
            <a:pPr algn="just"/>
            <a:r>
              <a:rPr lang="en-US" dirty="0" smtClean="0"/>
              <a:t>                      ►Post construction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●To propose measures to mitigate </a:t>
            </a:r>
            <a:endParaRPr lang="en-US" dirty="0"/>
          </a:p>
          <a:p>
            <a:pPr algn="just"/>
            <a:r>
              <a:rPr lang="en-US" dirty="0" smtClean="0"/>
              <a:t>  the environmental impacts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61722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26626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3048000"/>
            <a:ext cx="4572000" cy="3124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8" name="Rectangle 7"/>
          <p:cNvSpPr/>
          <p:nvPr/>
        </p:nvSpPr>
        <p:spPr>
          <a:xfrm>
            <a:off x="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80898" name="AutoShape 2" descr="The route map of Phase I of Kochi Metro Rail Network. Image courtesy of Saneef Ansari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0900" name="AutoShape 4" descr="The route map of Phase I of Kochi Metro Rail Network. Image courtesy of Saneef Ansari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0901" name="Picture 5" descr="C:\Users\TEMP.VJC\Desktop\1-image-3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295400"/>
            <a:ext cx="7924800" cy="4572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914400" y="457200"/>
            <a:ext cx="7590539" cy="63094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5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Metro </a:t>
            </a:r>
            <a:r>
              <a:rPr lang="en-US" sz="3500" b="1" cap="all" spc="0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route:Aluva</a:t>
            </a:r>
            <a:r>
              <a:rPr lang="en-US" sz="3500" b="1" cap="all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-petta</a:t>
            </a:r>
            <a:endParaRPr lang="en-US" sz="35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762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8600" y="533400"/>
            <a:ext cx="8648521" cy="61555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Environmental baseline data</a:t>
            </a:r>
            <a:endParaRPr lang="en-US" sz="3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1225689"/>
            <a:ext cx="838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●To ascertain existed baseline condition-before Metro construction.</a:t>
            </a:r>
          </a:p>
          <a:p>
            <a:pPr algn="just"/>
            <a:r>
              <a:rPr lang="en-US" dirty="0" smtClean="0"/>
              <a:t>●Data from field studies </a:t>
            </a:r>
            <a:r>
              <a:rPr lang="en-US" b="1" dirty="0" smtClean="0"/>
              <a:t>– April to May 2005.</a:t>
            </a:r>
          </a:p>
          <a:p>
            <a:pPr algn="just"/>
            <a:endParaRPr lang="en-US" b="1" dirty="0" smtClean="0"/>
          </a:p>
          <a:p>
            <a:pPr algn="just"/>
            <a:endParaRPr lang="en-US" b="1" dirty="0" smtClean="0"/>
          </a:p>
          <a:p>
            <a:pPr algn="just"/>
            <a:r>
              <a:rPr lang="en-US" b="1" dirty="0" smtClean="0"/>
              <a:t>♦</a:t>
            </a:r>
            <a:r>
              <a:rPr lang="en-US" b="1" u="sng" dirty="0" smtClean="0"/>
              <a:t>LOCATION AND PHYSIOGRAPHY</a:t>
            </a:r>
          </a:p>
          <a:p>
            <a:pPr algn="just"/>
            <a:r>
              <a:rPr lang="en-US" dirty="0" smtClean="0"/>
              <a:t>          </a:t>
            </a:r>
            <a:r>
              <a:rPr lang="en-US" sz="1200" dirty="0" smtClean="0"/>
              <a:t>►</a:t>
            </a:r>
            <a:r>
              <a:rPr lang="en-US" dirty="0" smtClean="0"/>
              <a:t>Project location – 1.2m above sea level</a:t>
            </a:r>
          </a:p>
          <a:p>
            <a:pPr algn="just"/>
            <a:r>
              <a:rPr lang="en-US" dirty="0" smtClean="0"/>
              <a:t>          </a:t>
            </a:r>
            <a:r>
              <a:rPr lang="en-US" sz="1200" dirty="0" smtClean="0"/>
              <a:t>►</a:t>
            </a:r>
            <a:r>
              <a:rPr lang="en-US" dirty="0" smtClean="0"/>
              <a:t>Project route – level terrain with little undulations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AIR QUALITY</a:t>
            </a:r>
          </a:p>
          <a:p>
            <a:pPr algn="just"/>
            <a:r>
              <a:rPr lang="en-US" dirty="0" smtClean="0"/>
              <a:t>  </a:t>
            </a:r>
            <a:r>
              <a:rPr lang="en-US" sz="1200" dirty="0" smtClean="0"/>
              <a:t>►</a:t>
            </a:r>
            <a:r>
              <a:rPr lang="en-US" dirty="0" smtClean="0"/>
              <a:t>Monitoring was done at 8 locations for SPM,RPM,SO</a:t>
            </a:r>
            <a:r>
              <a:rPr lang="en-US" sz="1200" dirty="0" smtClean="0"/>
              <a:t>2</a:t>
            </a:r>
            <a:r>
              <a:rPr lang="en-US" dirty="0" smtClean="0"/>
              <a:t> &amp; </a:t>
            </a:r>
            <a:r>
              <a:rPr lang="en-US" dirty="0" err="1" smtClean="0"/>
              <a:t>Nox</a:t>
            </a:r>
            <a:r>
              <a:rPr lang="en-US" dirty="0" smtClean="0"/>
              <a:t>.</a:t>
            </a:r>
          </a:p>
          <a:p>
            <a:pPr algn="just"/>
            <a:r>
              <a:rPr lang="en-US" sz="1200" dirty="0" smtClean="0"/>
              <a:t>   ►</a:t>
            </a:r>
            <a:r>
              <a:rPr lang="en-US" dirty="0" smtClean="0"/>
              <a:t>Compared with National Ambient Air Quality Standards data (NAAQS)</a:t>
            </a:r>
          </a:p>
          <a:p>
            <a:pPr algn="just"/>
            <a:r>
              <a:rPr lang="en-US" dirty="0" smtClean="0"/>
              <a:t>  </a:t>
            </a:r>
            <a:r>
              <a:rPr lang="en-US" sz="1200" dirty="0" smtClean="0"/>
              <a:t>►</a:t>
            </a:r>
            <a:r>
              <a:rPr lang="en-US" dirty="0" smtClean="0"/>
              <a:t>RPM &amp; </a:t>
            </a:r>
            <a:r>
              <a:rPr lang="en-US" dirty="0" err="1" smtClean="0"/>
              <a:t>NOx</a:t>
            </a:r>
            <a:r>
              <a:rPr lang="en-US" dirty="0" smtClean="0"/>
              <a:t> - exceeded at few stations </a:t>
            </a:r>
          </a:p>
          <a:p>
            <a:pPr algn="just"/>
            <a:r>
              <a:rPr lang="en-US" dirty="0" smtClean="0"/>
              <a:t>  </a:t>
            </a:r>
            <a:r>
              <a:rPr lang="en-US" sz="1200" dirty="0" smtClean="0"/>
              <a:t>►</a:t>
            </a:r>
            <a:r>
              <a:rPr lang="en-US" dirty="0" smtClean="0"/>
              <a:t>SO</a:t>
            </a:r>
            <a:r>
              <a:rPr lang="en-US" sz="1400" dirty="0" smtClean="0"/>
              <a:t>2</a:t>
            </a:r>
            <a:r>
              <a:rPr lang="en-US" dirty="0" smtClean="0"/>
              <a:t> &amp; SPM – within limits</a:t>
            </a:r>
          </a:p>
          <a:p>
            <a:pPr algn="just"/>
            <a:r>
              <a:rPr lang="en-US" sz="1200" dirty="0" smtClean="0"/>
              <a:t>   ►</a:t>
            </a:r>
            <a:r>
              <a:rPr lang="en-US" dirty="0" smtClean="0"/>
              <a:t>Overall air quality – Moderate to very unhealthy</a:t>
            </a:r>
          </a:p>
          <a:p>
            <a:pPr algn="just"/>
            <a:r>
              <a:rPr lang="en-US" sz="1200" dirty="0" smtClean="0"/>
              <a:t>   ►</a:t>
            </a:r>
            <a:r>
              <a:rPr lang="en-US" b="1" dirty="0" smtClean="0"/>
              <a:t>As per AQI – value ranges from 51-300</a:t>
            </a:r>
          </a:p>
          <a:p>
            <a:r>
              <a:rPr lang="en-US" b="1" u="sng" dirty="0" smtClean="0"/>
              <a:t>  </a:t>
            </a:r>
            <a:endParaRPr lang="en-US" b="1" u="sn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11668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81000"/>
            <a:ext cx="8686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♦</a:t>
            </a:r>
            <a:r>
              <a:rPr lang="en-US" b="1" u="sng" dirty="0" smtClean="0"/>
              <a:t>WATER AND SOIL</a:t>
            </a:r>
          </a:p>
          <a:p>
            <a:r>
              <a:rPr lang="en-US" dirty="0" smtClean="0"/>
              <a:t>  </a:t>
            </a:r>
            <a:r>
              <a:rPr lang="en-US" sz="1200" dirty="0" smtClean="0"/>
              <a:t>►</a:t>
            </a:r>
            <a:r>
              <a:rPr lang="en-US" dirty="0" smtClean="0"/>
              <a:t>Analysis for chemical and biological parameters</a:t>
            </a:r>
          </a:p>
          <a:p>
            <a:endParaRPr lang="en-US" dirty="0" smtClean="0"/>
          </a:p>
          <a:p>
            <a:endParaRPr lang="en-US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447800" y="12192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Analytical result of surface water samples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381000"/>
            <a:ext cx="78486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r>
              <a:rPr lang="en-US" sz="1200" dirty="0" smtClean="0"/>
              <a:t>►</a:t>
            </a:r>
            <a:r>
              <a:rPr lang="en-US" dirty="0" err="1" smtClean="0"/>
              <a:t>Datas</a:t>
            </a:r>
            <a:r>
              <a:rPr lang="en-US" dirty="0" smtClean="0"/>
              <a:t> were compared with Class SW V water and was within limits</a:t>
            </a:r>
          </a:p>
          <a:p>
            <a:r>
              <a:rPr lang="en-US" sz="1200" dirty="0" smtClean="0"/>
              <a:t>►</a:t>
            </a:r>
            <a:r>
              <a:rPr lang="en-US" dirty="0" smtClean="0"/>
              <a:t>Class SW V waters-Primary Water Quality criteria for Navigational and Controlled Waste Disposal</a:t>
            </a:r>
            <a:endParaRPr lang="en-US" sz="1200" dirty="0" smtClean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371600" y="1676400"/>
          <a:ext cx="6629400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1981200"/>
                <a:gridCol w="2438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Arial Black" pitchFamily="34" charset="0"/>
                        </a:rPr>
                        <a:t>Parameter</a:t>
                      </a:r>
                      <a:endParaRPr lang="en-US" sz="15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Arial Black" pitchFamily="34" charset="0"/>
                        </a:rPr>
                        <a:t>Observation</a:t>
                      </a:r>
                      <a:endParaRPr lang="en-US" sz="1500" dirty="0">
                        <a:latin typeface="Arial Black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>
                          <a:latin typeface="Arial Black" pitchFamily="34" charset="0"/>
                        </a:rPr>
                        <a:t>Standard value</a:t>
                      </a:r>
                      <a:endParaRPr lang="en-US" sz="1500" dirty="0">
                        <a:latin typeface="Arial Black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+mn-lt"/>
                        </a:rPr>
                        <a:t>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6.23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6.0-9.0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Dissolved</a:t>
                      </a:r>
                      <a:r>
                        <a:rPr lang="en-US" baseline="0" dirty="0" smtClean="0"/>
                        <a:t> Oxygen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3.93 mg/l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3.0 mg/l (min)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Colour</a:t>
                      </a:r>
                      <a:r>
                        <a:rPr lang="en-US" dirty="0" smtClean="0"/>
                        <a:t> and </a:t>
                      </a:r>
                      <a:r>
                        <a:rPr lang="en-US" dirty="0" err="1" smtClean="0"/>
                        <a:t>Odour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Negligible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colour</a:t>
                      </a:r>
                      <a:r>
                        <a:rPr lang="en-US" baseline="0" dirty="0" smtClean="0"/>
                        <a:t> and </a:t>
                      </a:r>
                      <a:r>
                        <a:rPr lang="en-US" baseline="0" dirty="0" err="1" smtClean="0"/>
                        <a:t>Odour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Sludge deposit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</a:t>
                      </a:r>
                      <a:r>
                        <a:rPr lang="en-US" baseline="0" dirty="0" smtClean="0"/>
                        <a:t>mg/l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Solid</a:t>
                      </a:r>
                      <a:r>
                        <a:rPr lang="en-US" baseline="0" dirty="0" smtClean="0"/>
                        <a:t> Refuse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Negligible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mg/l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Floating Solids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Occasional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Minimum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Oil and Grease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Not Defected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</a:t>
                      </a:r>
                      <a:r>
                        <a:rPr lang="en-US" baseline="0" dirty="0" smtClean="0"/>
                        <a:t> mg/l</a:t>
                      </a:r>
                      <a:endParaRPr lang="en-US" dirty="0"/>
                    </a:p>
                  </a:txBody>
                  <a:tcPr/>
                </a:tc>
              </a:tr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Scum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Nil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 mg/l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228600" y="6412468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240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838200"/>
            <a:ext cx="8229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NOISE</a:t>
            </a:r>
          </a:p>
          <a:p>
            <a:pPr algn="just"/>
            <a:r>
              <a:rPr lang="en-US" sz="1200" dirty="0" smtClean="0"/>
              <a:t>   ►</a:t>
            </a:r>
            <a:r>
              <a:rPr lang="en-US" dirty="0" smtClean="0"/>
              <a:t>Studies at 8 stations at 2.0m away from source as per standard practice.</a:t>
            </a:r>
          </a:p>
          <a:p>
            <a:pPr algn="just"/>
            <a:r>
              <a:rPr lang="en-US" sz="1200" dirty="0" smtClean="0"/>
              <a:t>   ►</a:t>
            </a:r>
            <a:r>
              <a:rPr lang="en-US" dirty="0" smtClean="0"/>
              <a:t>Referred with Ambient Air Quality Standards.</a:t>
            </a:r>
          </a:p>
          <a:p>
            <a:pPr algn="just"/>
            <a:r>
              <a:rPr lang="en-US" sz="1200" dirty="0" smtClean="0"/>
              <a:t>   ►</a:t>
            </a:r>
            <a:r>
              <a:rPr lang="en-US" dirty="0" smtClean="0"/>
              <a:t>Results found to be slightly greater  than permissible levels of 65 </a:t>
            </a:r>
            <a:r>
              <a:rPr lang="en-US" dirty="0" err="1" smtClean="0"/>
              <a:t>dBA</a:t>
            </a:r>
            <a:r>
              <a:rPr lang="en-US" dirty="0" smtClean="0"/>
              <a:t> on day time &amp; 55dB on night for commercial areas.</a:t>
            </a:r>
          </a:p>
          <a:p>
            <a:pPr algn="just"/>
            <a:r>
              <a:rPr lang="en-US" dirty="0" smtClean="0"/>
              <a:t>  </a:t>
            </a:r>
            <a:r>
              <a:rPr lang="en-US" sz="1200" dirty="0" smtClean="0"/>
              <a:t>►</a:t>
            </a:r>
            <a:r>
              <a:rPr lang="en-US" dirty="0" smtClean="0"/>
              <a:t>Average data - During day (52-72dBA)</a:t>
            </a:r>
          </a:p>
          <a:p>
            <a:pPr algn="just"/>
            <a:r>
              <a:rPr lang="en-US" dirty="0" smtClean="0"/>
              <a:t>                            - During night ( 40-65dBA)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SEISMICITY</a:t>
            </a:r>
          </a:p>
          <a:p>
            <a:pPr algn="just"/>
            <a:r>
              <a:rPr lang="en-US" b="1" dirty="0" smtClean="0"/>
              <a:t>  </a:t>
            </a:r>
            <a:r>
              <a:rPr lang="en-US" sz="1200" dirty="0" smtClean="0"/>
              <a:t>►</a:t>
            </a:r>
            <a:r>
              <a:rPr lang="en-US" dirty="0" smtClean="0"/>
              <a:t>Proposed area falls under </a:t>
            </a:r>
            <a:r>
              <a:rPr lang="en-US" b="1" dirty="0" smtClean="0"/>
              <a:t>Zone III</a:t>
            </a:r>
          </a:p>
          <a:p>
            <a:pPr algn="just"/>
            <a:r>
              <a:rPr lang="en-US" b="1" dirty="0" smtClean="0"/>
              <a:t> </a:t>
            </a:r>
            <a:r>
              <a:rPr lang="en-US" sz="1200" b="1" dirty="0" smtClean="0"/>
              <a:t>  ►</a:t>
            </a:r>
            <a:r>
              <a:rPr lang="en-US" dirty="0" smtClean="0"/>
              <a:t>As per IMD seismic zones</a:t>
            </a:r>
            <a:endParaRPr lang="en-US" b="1" dirty="0" smtClean="0"/>
          </a:p>
          <a:p>
            <a:endParaRPr lang="en-US" sz="1200" dirty="0" smtClean="0"/>
          </a:p>
          <a:p>
            <a:endParaRPr lang="en-US"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438400" y="4419600"/>
          <a:ext cx="40386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1"/>
                <a:gridCol w="1752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/>
                        <a:t>SEISMIC  ZONE</a:t>
                      </a:r>
                      <a:endParaRPr lang="en-US" sz="1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 smtClean="0"/>
                        <a:t>INTENSITY</a:t>
                      </a:r>
                      <a:endParaRPr lang="en-US" sz="17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Zone</a:t>
                      </a:r>
                      <a:r>
                        <a:rPr lang="en-US" baseline="0" dirty="0" smtClean="0"/>
                        <a:t> 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Very High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Zone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IV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Severe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Zone III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Moderate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Zone II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Low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28600" y="1524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" y="476071"/>
            <a:ext cx="746871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Socio-economic </a:t>
            </a:r>
            <a:r>
              <a:rPr lang="en-US" sz="4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study</a:t>
            </a:r>
          </a:p>
          <a:p>
            <a:pPr algn="ctr"/>
            <a:r>
              <a:rPr lang="en-US" sz="32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(</a:t>
            </a:r>
            <a:r>
              <a:rPr lang="en-US" sz="3200" b="1" cap="all" spc="0" dirty="0" err="1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aLUVa-pulinchodu</a:t>
            </a:r>
            <a:r>
              <a:rPr lang="en-US" sz="32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)</a:t>
            </a:r>
            <a:endParaRPr lang="en-US" sz="32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600200"/>
            <a:ext cx="8153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●Studies on demographic structure of </a:t>
            </a:r>
            <a:r>
              <a:rPr lang="en-US" dirty="0" err="1" smtClean="0"/>
              <a:t>area,basic</a:t>
            </a:r>
            <a:r>
              <a:rPr lang="en-US" dirty="0" smtClean="0"/>
              <a:t> </a:t>
            </a:r>
            <a:r>
              <a:rPr lang="en-US" dirty="0" err="1" smtClean="0"/>
              <a:t>amneties,health</a:t>
            </a:r>
            <a:r>
              <a:rPr lang="en-US" dirty="0" smtClean="0"/>
              <a:t> status,</a:t>
            </a:r>
          </a:p>
          <a:p>
            <a:pPr algn="just"/>
            <a:r>
              <a:rPr lang="en-US" dirty="0" err="1" smtClean="0"/>
              <a:t>people,etc</a:t>
            </a:r>
            <a:r>
              <a:rPr lang="en-US" dirty="0" smtClean="0"/>
              <a:t>..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●Average literacy rate of </a:t>
            </a:r>
            <a:r>
              <a:rPr lang="en-US" dirty="0" err="1" smtClean="0"/>
              <a:t>Ernakulam</a:t>
            </a:r>
            <a:r>
              <a:rPr lang="en-US" dirty="0" smtClean="0"/>
              <a:t> district-92.35%.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 District consists about 50% of </a:t>
            </a:r>
            <a:r>
              <a:rPr lang="en-US" dirty="0" err="1" smtClean="0"/>
              <a:t>hindu</a:t>
            </a:r>
            <a:r>
              <a:rPr lang="en-US" dirty="0" smtClean="0"/>
              <a:t> families,72% general people,37%of people between 36-60 yrs of age.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●Level of annual income –between Rs 50,000 and Rs 1,00,000 for 1/3</a:t>
            </a:r>
            <a:r>
              <a:rPr lang="en-US" baseline="30000" dirty="0" smtClean="0"/>
              <a:t>rd</a:t>
            </a:r>
            <a:r>
              <a:rPr lang="en-US" dirty="0" smtClean="0"/>
              <a:t> of population.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●Houses form majority of structures.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●Most houses-less than 20 yrs old,20% houses between 20 and 30 yrs.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608886"/>
            <a:ext cx="7543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●Project route </a:t>
            </a:r>
          </a:p>
          <a:p>
            <a:pPr algn="just"/>
            <a:r>
              <a:rPr lang="en-US" dirty="0" smtClean="0"/>
              <a:t>               ►Composes of large </a:t>
            </a:r>
            <a:r>
              <a:rPr lang="en-US" dirty="0" err="1" smtClean="0"/>
              <a:t>no.of</a:t>
            </a:r>
            <a:r>
              <a:rPr lang="en-US" dirty="0" smtClean="0"/>
              <a:t> </a:t>
            </a:r>
            <a:r>
              <a:rPr lang="en-US" dirty="0" err="1" smtClean="0"/>
              <a:t>major,medium</a:t>
            </a:r>
            <a:r>
              <a:rPr lang="en-US" dirty="0" smtClean="0"/>
              <a:t> and small scale       </a:t>
            </a:r>
          </a:p>
          <a:p>
            <a:pPr algn="just"/>
            <a:r>
              <a:rPr lang="en-US" dirty="0" smtClean="0"/>
              <a:t>                   industries.</a:t>
            </a:r>
          </a:p>
          <a:p>
            <a:pPr algn="just"/>
            <a:r>
              <a:rPr lang="en-US" dirty="0" smtClean="0"/>
              <a:t>               ►No important historical monuments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●Minimum dislocation as metro runs along median of road.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●Major source of water supply</a:t>
            </a:r>
          </a:p>
          <a:p>
            <a:pPr algn="just"/>
            <a:r>
              <a:rPr lang="en-US" dirty="0" smtClean="0"/>
              <a:t>                ►Municipal supply</a:t>
            </a:r>
          </a:p>
          <a:p>
            <a:pPr algn="just"/>
            <a:r>
              <a:rPr lang="en-US" dirty="0" smtClean="0"/>
              <a:t>                ►Dug wells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●Solid waste removal- municipality(on regular basis)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●Septic tanks-predominant method of sanitation</a:t>
            </a:r>
          </a:p>
          <a:p>
            <a:r>
              <a:rPr lang="en-US" dirty="0" smtClean="0"/>
              <a:t>                  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762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619036"/>
            <a:ext cx="9119805" cy="60016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2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Positive environmental impacts</a:t>
            </a:r>
            <a:endParaRPr lang="en-US" sz="32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295400"/>
            <a:ext cx="7239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●Reduction in traffic congestion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●Quick service and safety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●Less fuel consumption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●Reduction in air pollution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●Reduction in noise level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●Better roads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●Employment opportunities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1524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C:\Users\BENJAMIN\Desktop\semnar anjaly\images (1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19600" y="1447800"/>
            <a:ext cx="3962400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304800"/>
            <a:ext cx="8819070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2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Negative environmental impacts</a:t>
            </a:r>
            <a:endParaRPr lang="en-US" sz="32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371600"/>
            <a:ext cx="7772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●Negative impacts falls under three categories</a:t>
            </a:r>
          </a:p>
          <a:p>
            <a:pPr algn="just"/>
            <a:r>
              <a:rPr lang="en-US" dirty="0" smtClean="0"/>
              <a:t>                          ►Impact due to project location</a:t>
            </a:r>
          </a:p>
          <a:p>
            <a:pPr algn="just"/>
            <a:r>
              <a:rPr lang="en-US" dirty="0" smtClean="0"/>
              <a:t>                          ►Impact due to project design &amp; construction works</a:t>
            </a:r>
          </a:p>
          <a:p>
            <a:pPr algn="just"/>
            <a:r>
              <a:rPr lang="en-US" dirty="0" smtClean="0"/>
              <a:t>                          ►Impact due to project operation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IMPACT DUE TO PROJECT LOCATION</a:t>
            </a:r>
          </a:p>
          <a:p>
            <a:pPr algn="just"/>
            <a:endParaRPr lang="en-US" b="1" u="sng" dirty="0" smtClean="0"/>
          </a:p>
          <a:p>
            <a:pPr algn="just"/>
            <a:r>
              <a:rPr lang="en-US" sz="1200" dirty="0" smtClean="0"/>
              <a:t>►</a:t>
            </a:r>
            <a:r>
              <a:rPr lang="en-US" dirty="0" smtClean="0"/>
              <a:t>Change of land use pattern~16 </a:t>
            </a:r>
            <a:r>
              <a:rPr lang="en-US" dirty="0" err="1" smtClean="0"/>
              <a:t>Hecter</a:t>
            </a:r>
            <a:r>
              <a:rPr lang="en-US" b="1" u="sng" dirty="0" smtClean="0"/>
              <a:t> </a:t>
            </a:r>
          </a:p>
          <a:p>
            <a:pPr algn="just"/>
            <a:endParaRPr lang="en-US" b="1" u="sng" dirty="0" smtClean="0"/>
          </a:p>
          <a:p>
            <a:pPr algn="just"/>
            <a:r>
              <a:rPr lang="en-US" sz="1200" dirty="0" smtClean="0"/>
              <a:t>►</a:t>
            </a:r>
            <a:r>
              <a:rPr lang="en-US" dirty="0" smtClean="0"/>
              <a:t>Loss of trees- 477 (total cost -3.5 </a:t>
            </a:r>
            <a:r>
              <a:rPr lang="en-US" dirty="0" err="1" smtClean="0"/>
              <a:t>lakh</a:t>
            </a:r>
            <a:r>
              <a:rPr lang="en-US" dirty="0" smtClean="0"/>
              <a:t>)</a:t>
            </a:r>
          </a:p>
          <a:p>
            <a:pPr algn="just"/>
            <a:endParaRPr lang="en-US" dirty="0" smtClean="0"/>
          </a:p>
          <a:p>
            <a:pPr algn="just"/>
            <a:r>
              <a:rPr lang="en-US" sz="1200" dirty="0" smtClean="0"/>
              <a:t>►</a:t>
            </a:r>
            <a:r>
              <a:rPr lang="en-US" b="1" dirty="0" smtClean="0"/>
              <a:t>Project Affected People(PAPs)</a:t>
            </a:r>
            <a:r>
              <a:rPr lang="en-US" dirty="0" smtClean="0"/>
              <a:t>-for 25km </a:t>
            </a:r>
            <a:r>
              <a:rPr lang="en-US" dirty="0" err="1" smtClean="0"/>
              <a:t>strech</a:t>
            </a:r>
            <a:r>
              <a:rPr lang="en-US" dirty="0" smtClean="0"/>
              <a:t> 40 </a:t>
            </a:r>
            <a:r>
              <a:rPr lang="en-US" dirty="0" err="1" smtClean="0"/>
              <a:t>Hecter</a:t>
            </a:r>
            <a:r>
              <a:rPr lang="en-US" dirty="0" smtClean="0"/>
              <a:t> land is required</a:t>
            </a:r>
          </a:p>
          <a:p>
            <a:pPr algn="just"/>
            <a:endParaRPr lang="en-US" dirty="0" smtClean="0"/>
          </a:p>
          <a:p>
            <a:pPr algn="just"/>
            <a:r>
              <a:rPr lang="en-US" sz="1200" dirty="0" smtClean="0"/>
              <a:t>►</a:t>
            </a:r>
            <a:r>
              <a:rPr lang="en-US" dirty="0" smtClean="0"/>
              <a:t>Maintenance depot at </a:t>
            </a:r>
            <a:r>
              <a:rPr lang="en-US" dirty="0" err="1" smtClean="0"/>
              <a:t>Muttom</a:t>
            </a:r>
            <a:r>
              <a:rPr lang="en-US" dirty="0" smtClean="0"/>
              <a:t>-subjected to water logging in monsoon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13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048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7410" name="Picture 2" descr="Related im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62599" y="2590799"/>
            <a:ext cx="2971801" cy="1981201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0" y="11668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5800"/>
            <a:ext cx="8153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IMPACT DUE TO PROJECT DESIGN&amp;CONSTRUCTION WORKS</a:t>
            </a:r>
          </a:p>
          <a:p>
            <a:pPr algn="just"/>
            <a:endParaRPr lang="en-US" b="1" u="sng" dirty="0" smtClean="0"/>
          </a:p>
          <a:p>
            <a:pPr algn="just"/>
            <a:r>
              <a:rPr lang="en-US" dirty="0" smtClean="0"/>
              <a:t>►Soil erosion due to runoff from unprotected excavations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►Dumping of construction spoils leading to surface and ground water pollution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►Traffic diversion was essentially required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►Impact on water quality due to disposal of waste (construction and sanitation)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►Waste generated from metro station-about 4.5T/day when 25% passengers visiting station produces refuse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14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15362" name="Picture 2" descr="Related im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57800" y="2209800"/>
            <a:ext cx="3429000" cy="20574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0" y="152400"/>
            <a:ext cx="28360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1000" y="381000"/>
            <a:ext cx="8077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IMPACTS DUE TO PROJECT OPERATION</a:t>
            </a:r>
            <a:endParaRPr lang="en-US" dirty="0" smtClean="0"/>
          </a:p>
          <a:p>
            <a:pPr algn="just"/>
            <a:endParaRPr lang="en-US" b="1" u="sng" dirty="0" smtClean="0"/>
          </a:p>
          <a:p>
            <a:pPr algn="just"/>
            <a:r>
              <a:rPr lang="en-US" dirty="0" smtClean="0"/>
              <a:t>►Water pollution-due to oil spillage during cleaning and repair process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►Noise-Due to construction and fabrication activities on construction    </a:t>
            </a:r>
          </a:p>
          <a:p>
            <a:pPr algn="just"/>
            <a:r>
              <a:rPr lang="en-US" dirty="0" smtClean="0"/>
              <a:t>               phase</a:t>
            </a:r>
          </a:p>
          <a:p>
            <a:pPr algn="just"/>
            <a:r>
              <a:rPr lang="en-US" dirty="0" smtClean="0"/>
              <a:t>              -Engine </a:t>
            </a:r>
            <a:r>
              <a:rPr lang="en-US" dirty="0" err="1" smtClean="0"/>
              <a:t>noise,cooling</a:t>
            </a:r>
            <a:r>
              <a:rPr lang="en-US" dirty="0" smtClean="0"/>
              <a:t> fan noise etc. during operational phase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►At operational phase noise is below 80dBA-which is slightly higher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►Overall ambient noise level-reduction of 10-15% due to reduction in road traffic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►Emergency measures are implemented for accident hazards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15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1668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533400"/>
            <a:ext cx="8077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♦</a:t>
            </a:r>
            <a:r>
              <a:rPr lang="en-US" b="1" u="sng" dirty="0" smtClean="0"/>
              <a:t>IMPACTS DUE TO PROJECT OPERATION (contd.)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►Water supply ▪</a:t>
            </a:r>
            <a:r>
              <a:rPr lang="en-US" dirty="0" smtClean="0"/>
              <a:t>As per </a:t>
            </a:r>
            <a:r>
              <a:rPr lang="en-US" b="1" dirty="0" smtClean="0"/>
              <a:t>Central Public Health Environmental </a:t>
            </a:r>
          </a:p>
          <a:p>
            <a:pPr algn="just"/>
            <a:r>
              <a:rPr lang="en-US" b="1" dirty="0" smtClean="0"/>
              <a:t>                              Engineering </a:t>
            </a:r>
            <a:r>
              <a:rPr lang="en-US" b="1" dirty="0" err="1" smtClean="0"/>
              <a:t>Organisation</a:t>
            </a:r>
            <a:r>
              <a:rPr lang="en-US" b="1" dirty="0" smtClean="0"/>
              <a:t>(CPHEEO) </a:t>
            </a:r>
            <a:r>
              <a:rPr lang="en-US" dirty="0" smtClean="0"/>
              <a:t>workers at</a:t>
            </a:r>
          </a:p>
          <a:p>
            <a:pPr algn="just"/>
            <a:r>
              <a:rPr lang="en-US" dirty="0" smtClean="0"/>
              <a:t>                               railway stations requires 45litres/day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                   ▪Water demand for other activities-100m³ per day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                   ▪For fire fighting-Municipal water supply system</a:t>
            </a:r>
          </a:p>
          <a:p>
            <a:pPr algn="just"/>
            <a:endParaRPr lang="en-US" dirty="0" smtClean="0"/>
          </a:p>
          <a:p>
            <a:pPr algn="just"/>
            <a:r>
              <a:rPr lang="en-US" b="1" dirty="0" smtClean="0"/>
              <a:t>►Sanitation</a:t>
            </a:r>
            <a:r>
              <a:rPr lang="en-US" dirty="0" smtClean="0"/>
              <a:t>  ▪Passengers refuse is about 100kg/day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              ▪Collection bins of capacity 120 </a:t>
            </a:r>
            <a:r>
              <a:rPr lang="en-US" dirty="0" err="1" smtClean="0"/>
              <a:t>litres</a:t>
            </a:r>
            <a:r>
              <a:rPr lang="en-US" dirty="0" smtClean="0"/>
              <a:t> are placed at key </a:t>
            </a:r>
          </a:p>
          <a:p>
            <a:pPr algn="just"/>
            <a:r>
              <a:rPr lang="en-US" dirty="0" smtClean="0"/>
              <a:t>                            points in the stations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             ▪Awareness to produce less refuse  for a green metro</a:t>
            </a:r>
          </a:p>
          <a:p>
            <a:endParaRPr lang="en-US" dirty="0" smtClean="0"/>
          </a:p>
          <a:p>
            <a:r>
              <a:rPr lang="en-US" dirty="0" smtClean="0"/>
              <a:t>                                                              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16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06849"/>
            <a:ext cx="8780559" cy="116955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5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Environmental management plan</a:t>
            </a:r>
            <a:endParaRPr lang="en-US" sz="35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676400"/>
            <a:ext cx="7848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●Tree plantation-planting 10 trees for every tree that is felled (477 trees  to be cut)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●KMRL planned to plant 8000 trees – 5159 already planted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</a:t>
            </a:r>
            <a:r>
              <a:rPr lang="en-US" b="1" dirty="0" smtClean="0"/>
              <a:t>Compensation for loss of trees </a:t>
            </a:r>
          </a:p>
          <a:p>
            <a:pPr algn="just"/>
            <a:r>
              <a:rPr lang="en-US" dirty="0" smtClean="0"/>
              <a:t>                       ►</a:t>
            </a:r>
            <a:r>
              <a:rPr lang="en-US" dirty="0" err="1" smtClean="0"/>
              <a:t>Uprootal</a:t>
            </a:r>
            <a:r>
              <a:rPr lang="en-US" dirty="0" smtClean="0"/>
              <a:t> of 477 trees </a:t>
            </a:r>
          </a:p>
          <a:p>
            <a:pPr algn="just"/>
            <a:r>
              <a:rPr lang="en-US" dirty="0" smtClean="0"/>
              <a:t>                       ►Compensation for loss – Rs 3.5 </a:t>
            </a:r>
            <a:r>
              <a:rPr lang="en-US" dirty="0" err="1" smtClean="0"/>
              <a:t>lakhs</a:t>
            </a:r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</a:t>
            </a:r>
            <a:r>
              <a:rPr lang="en-US" b="1" dirty="0" smtClean="0"/>
              <a:t>Water supply and sanitation</a:t>
            </a:r>
          </a:p>
          <a:p>
            <a:pPr algn="just"/>
            <a:r>
              <a:rPr lang="en-US" dirty="0" smtClean="0"/>
              <a:t>                       ►Construction and operation - water supplied from </a:t>
            </a:r>
          </a:p>
          <a:p>
            <a:pPr algn="just"/>
            <a:r>
              <a:rPr lang="en-US" dirty="0" smtClean="0"/>
              <a:t>                           municipal source </a:t>
            </a:r>
          </a:p>
          <a:p>
            <a:pPr algn="just"/>
            <a:r>
              <a:rPr lang="en-US" dirty="0" smtClean="0"/>
              <a:t>                       ►Sewage generated – disposed off to a combination of </a:t>
            </a:r>
          </a:p>
          <a:p>
            <a:pPr algn="just"/>
            <a:r>
              <a:rPr lang="en-US" dirty="0" smtClean="0"/>
              <a:t>                           septic tank and soak pit facility</a:t>
            </a:r>
          </a:p>
          <a:p>
            <a:pPr algn="just"/>
            <a:r>
              <a:rPr lang="en-US" dirty="0" smtClean="0"/>
              <a:t>                       ►Solid wastes at stations – disposed off by Kochi</a:t>
            </a:r>
          </a:p>
          <a:p>
            <a:pPr algn="just"/>
            <a:r>
              <a:rPr lang="en-US" dirty="0" smtClean="0"/>
              <a:t>                           Municipal Co-operation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17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24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" y="87868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533400"/>
            <a:ext cx="8305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</a:t>
            </a:r>
            <a:r>
              <a:rPr lang="en-US" b="1" dirty="0" smtClean="0"/>
              <a:t>Noise</a:t>
            </a:r>
          </a:p>
          <a:p>
            <a:pPr algn="just"/>
            <a:r>
              <a:rPr lang="en-US" dirty="0" smtClean="0"/>
              <a:t>            ►Increased noise level in ambient air due to construction and</a:t>
            </a:r>
          </a:p>
          <a:p>
            <a:pPr algn="just"/>
            <a:r>
              <a:rPr lang="en-US" dirty="0" smtClean="0"/>
              <a:t>                operation of rail</a:t>
            </a:r>
          </a:p>
          <a:p>
            <a:pPr algn="just"/>
            <a:r>
              <a:rPr lang="en-US" dirty="0" smtClean="0"/>
              <a:t>            ►But overall noise gets reduced – due to reduction in traffic</a:t>
            </a:r>
          </a:p>
          <a:p>
            <a:pPr algn="just"/>
            <a:r>
              <a:rPr lang="en-US" dirty="0" smtClean="0"/>
              <a:t>            ►Work shift for people working near high level of noises such as</a:t>
            </a:r>
          </a:p>
          <a:p>
            <a:pPr algn="just"/>
            <a:r>
              <a:rPr lang="en-US" dirty="0" smtClean="0"/>
              <a:t>                near </a:t>
            </a:r>
            <a:r>
              <a:rPr lang="en-US" dirty="0" err="1" smtClean="0"/>
              <a:t>engine,vent</a:t>
            </a:r>
            <a:r>
              <a:rPr lang="en-US" dirty="0" smtClean="0"/>
              <a:t> shafts etc..</a:t>
            </a:r>
          </a:p>
          <a:p>
            <a:pPr algn="just"/>
            <a:r>
              <a:rPr lang="en-US" dirty="0" smtClean="0"/>
              <a:t>            ►Protective device for workers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</a:t>
            </a:r>
            <a:r>
              <a:rPr lang="en-US" b="1" dirty="0" smtClean="0"/>
              <a:t>Vibration control</a:t>
            </a:r>
          </a:p>
          <a:p>
            <a:pPr algn="just"/>
            <a:r>
              <a:rPr lang="en-US" dirty="0" smtClean="0"/>
              <a:t>            ►Ballast less tracks supported on 2 layers of rubber pads reduces </a:t>
            </a:r>
          </a:p>
          <a:p>
            <a:pPr algn="just"/>
            <a:r>
              <a:rPr lang="en-US" dirty="0" smtClean="0"/>
              <a:t>                track noise and vibration</a:t>
            </a:r>
          </a:p>
          <a:p>
            <a:pPr algn="just"/>
            <a:r>
              <a:rPr lang="en-US" dirty="0" smtClean="0"/>
              <a:t>            ►By improving track geometry</a:t>
            </a:r>
          </a:p>
          <a:p>
            <a:pPr algn="just"/>
            <a:r>
              <a:rPr lang="en-US" dirty="0" smtClean="0"/>
              <a:t>            ►Insertion of shock absorbing pads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</a:t>
            </a:r>
            <a:r>
              <a:rPr lang="en-US" b="1" dirty="0" smtClean="0"/>
              <a:t>Energy management</a:t>
            </a:r>
          </a:p>
          <a:p>
            <a:pPr algn="just"/>
            <a:r>
              <a:rPr lang="en-US" dirty="0" smtClean="0"/>
              <a:t>            ►By maximum utilization of natural day light</a:t>
            </a:r>
          </a:p>
          <a:p>
            <a:pPr algn="just"/>
            <a:r>
              <a:rPr lang="en-US" dirty="0" smtClean="0"/>
              <a:t>            ►Switching to energy efficient luminaries </a:t>
            </a:r>
            <a:r>
              <a:rPr lang="en-US" dirty="0" err="1" smtClean="0"/>
              <a:t>eg.LED&amp;CFL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18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457200"/>
            <a:ext cx="8367996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Environmental monitoring plan</a:t>
            </a:r>
            <a:endParaRPr lang="en-US" sz="30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8077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●For constructional and operational phases</a:t>
            </a:r>
          </a:p>
          <a:p>
            <a:pPr algn="just"/>
            <a:r>
              <a:rPr lang="en-US" dirty="0" smtClean="0"/>
              <a:t>●Parameters monitored</a:t>
            </a:r>
          </a:p>
          <a:p>
            <a:pPr algn="just"/>
            <a:r>
              <a:rPr lang="en-US" dirty="0" smtClean="0"/>
              <a:t>                          ►Water quality</a:t>
            </a:r>
          </a:p>
          <a:p>
            <a:pPr algn="just"/>
            <a:r>
              <a:rPr lang="en-US" dirty="0" smtClean="0"/>
              <a:t>                          ►Air quality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WATER QUALITY</a:t>
            </a:r>
          </a:p>
          <a:p>
            <a:pPr algn="just"/>
            <a:endParaRPr lang="en-US" b="1" u="sng" dirty="0" smtClean="0"/>
          </a:p>
          <a:p>
            <a:pPr algn="just"/>
            <a:r>
              <a:rPr lang="en-US" dirty="0" smtClean="0"/>
              <a:t>●Monitoring plan</a:t>
            </a:r>
          </a:p>
          <a:p>
            <a:pPr algn="just"/>
            <a:r>
              <a:rPr lang="en-US" dirty="0" smtClean="0"/>
              <a:t>                           ►One year before construction</a:t>
            </a:r>
          </a:p>
          <a:p>
            <a:pPr algn="just"/>
            <a:r>
              <a:rPr lang="en-US" dirty="0" smtClean="0"/>
              <a:t>                           ►During construction</a:t>
            </a:r>
          </a:p>
          <a:p>
            <a:pPr algn="just"/>
            <a:r>
              <a:rPr lang="en-US" dirty="0" smtClean="0"/>
              <a:t>                           ►One year after construction</a:t>
            </a:r>
          </a:p>
          <a:p>
            <a:pPr algn="just"/>
            <a:r>
              <a:rPr lang="en-US" dirty="0" smtClean="0"/>
              <a:t>●Monitored </a:t>
            </a:r>
            <a:r>
              <a:rPr lang="en-US" b="1" dirty="0" err="1" smtClean="0"/>
              <a:t>atleast</a:t>
            </a:r>
            <a:r>
              <a:rPr lang="en-US" b="1" dirty="0" smtClean="0"/>
              <a:t> four times </a:t>
            </a:r>
            <a:r>
              <a:rPr lang="en-US" dirty="0" smtClean="0"/>
              <a:t>a year.</a:t>
            </a:r>
          </a:p>
          <a:p>
            <a:pPr algn="just"/>
            <a:r>
              <a:rPr lang="en-US" dirty="0" smtClean="0"/>
              <a:t>●Parameters monitored</a:t>
            </a:r>
          </a:p>
          <a:p>
            <a:pPr algn="just"/>
            <a:r>
              <a:rPr lang="en-US" dirty="0" smtClean="0"/>
              <a:t>                           ►pH</a:t>
            </a:r>
          </a:p>
          <a:p>
            <a:pPr algn="just"/>
            <a:r>
              <a:rPr lang="en-US" dirty="0" smtClean="0"/>
              <a:t>                           ►Total dissolved solids  </a:t>
            </a:r>
          </a:p>
          <a:p>
            <a:pPr algn="just"/>
            <a:r>
              <a:rPr lang="en-US" dirty="0" smtClean="0"/>
              <a:t>                           ►Chlorides</a:t>
            </a:r>
          </a:p>
          <a:p>
            <a:pPr algn="just"/>
            <a:r>
              <a:rPr lang="en-US" dirty="0" smtClean="0"/>
              <a:t>                           ►Natural </a:t>
            </a:r>
            <a:r>
              <a:rPr lang="en-US" dirty="0" err="1" smtClean="0"/>
              <a:t>sulphates</a:t>
            </a:r>
            <a:endParaRPr lang="en-US" dirty="0" smtClean="0"/>
          </a:p>
          <a:p>
            <a:pPr algn="just"/>
            <a:r>
              <a:rPr lang="en-US" dirty="0" smtClean="0"/>
              <a:t>●Cost for 4 locations –about</a:t>
            </a:r>
            <a:r>
              <a:rPr lang="en-US" b="1" dirty="0" smtClean="0"/>
              <a:t> Rs 4.00 </a:t>
            </a:r>
            <a:r>
              <a:rPr lang="en-US" b="1" dirty="0" err="1" smtClean="0"/>
              <a:t>lakhs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19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100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81000"/>
            <a:ext cx="807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♦</a:t>
            </a:r>
            <a:r>
              <a:rPr lang="en-US" b="1" u="sng" dirty="0" smtClean="0"/>
              <a:t>AIR QUALITY &amp; NOISE LEVEL</a:t>
            </a:r>
          </a:p>
          <a:p>
            <a:endParaRPr lang="en-US" b="1" u="sng" dirty="0" smtClean="0"/>
          </a:p>
          <a:p>
            <a:r>
              <a:rPr lang="en-US" dirty="0" smtClean="0"/>
              <a:t>●Same procedure as water quality</a:t>
            </a:r>
          </a:p>
          <a:p>
            <a:endParaRPr lang="en-US" dirty="0" smtClean="0"/>
          </a:p>
          <a:p>
            <a:r>
              <a:rPr lang="en-US" dirty="0" smtClean="0"/>
              <a:t>●Total cost for 4 stations – about </a:t>
            </a:r>
            <a:r>
              <a:rPr lang="en-US" b="1" dirty="0" smtClean="0"/>
              <a:t>Rs15.20 </a:t>
            </a:r>
            <a:r>
              <a:rPr lang="en-US" b="1" dirty="0" err="1" smtClean="0"/>
              <a:t>lakhs</a:t>
            </a:r>
            <a:endParaRPr lang="en-US" dirty="0" smtClean="0"/>
          </a:p>
          <a:p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33400" y="2514600"/>
          <a:ext cx="8001000" cy="2769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333500"/>
                <a:gridCol w="1333500"/>
                <a:gridCol w="1333500"/>
                <a:gridCol w="1333500"/>
                <a:gridCol w="133350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Monitoring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Monitoring parameters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Number of proposed</a:t>
                      </a:r>
                    </a:p>
                    <a:p>
                      <a:pPr algn="ctr"/>
                      <a:r>
                        <a:rPr lang="en-US" sz="1500" dirty="0" smtClean="0"/>
                        <a:t>sites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Sampling duration</a:t>
                      </a:r>
                      <a:endParaRPr lang="en-US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Frequency</a:t>
                      </a:r>
                      <a:r>
                        <a:rPr lang="en-US" dirty="0" smtClean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 smtClean="0"/>
                        <a:t>Cost (Rs </a:t>
                      </a:r>
                      <a:r>
                        <a:rPr lang="en-US" sz="1500" dirty="0" err="1" smtClean="0"/>
                        <a:t>lakhs</a:t>
                      </a:r>
                      <a:r>
                        <a:rPr lang="en-US" sz="1500" dirty="0" smtClean="0"/>
                        <a:t>)</a:t>
                      </a:r>
                      <a:endParaRPr lang="en-US" sz="1500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Ambient air</a:t>
                      </a:r>
                      <a:r>
                        <a:rPr lang="en-US" baseline="0" dirty="0" smtClean="0"/>
                        <a:t> quality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Twice</a:t>
                      </a:r>
                      <a:r>
                        <a:rPr lang="en-US" baseline="0" dirty="0" smtClean="0"/>
                        <a:t> a week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Four times a year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15.00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Noise levels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dB(A)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Once a week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Seasonal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0.20</a:t>
                      </a:r>
                      <a:endParaRPr lang="en-US" dirty="0"/>
                    </a:p>
                  </a:txBody>
                  <a:tcPr/>
                </a:tc>
              </a:tr>
              <a:tr h="438150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                                                                                    Total cost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15.20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2057400"/>
            <a:ext cx="754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Proposed monitoring </a:t>
            </a:r>
            <a:r>
              <a:rPr lang="en-US" b="1" dirty="0" err="1" smtClean="0"/>
              <a:t>programme</a:t>
            </a:r>
            <a:r>
              <a:rPr lang="en-US" b="1" dirty="0" smtClean="0"/>
              <a:t> air and noise quality </a:t>
            </a:r>
            <a:endParaRPr lang="en-US" b="1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20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286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1000"/>
            <a:ext cx="8731878" cy="67710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8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Disaster management plan</a:t>
            </a:r>
            <a:endParaRPr lang="en-US" sz="38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295400"/>
            <a:ext cx="838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●Developed by KMRL in  consultation with District Disaster Management Authority(DDMA).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●Consists of an Emergency Action Committee(EAC) comprising of representatives including home </a:t>
            </a:r>
            <a:r>
              <a:rPr lang="en-US" dirty="0" err="1" smtClean="0"/>
              <a:t>gaurd,station</a:t>
            </a:r>
            <a:r>
              <a:rPr lang="en-US" dirty="0" smtClean="0"/>
              <a:t> master, fire brigade etc..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●Operating staffs of Kochi Metro – extensively trained for fire fighting.</a:t>
            </a:r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●Provision of automatic fire water system in key areas</a:t>
            </a:r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457200"/>
            <a:ext cx="8094759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With and without metro scenario</a:t>
            </a:r>
            <a:endParaRPr lang="en-US" sz="30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752600"/>
            <a:ext cx="8153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WITHOUT METRO PROJECT SCENARIO</a:t>
            </a:r>
          </a:p>
          <a:p>
            <a:pPr algn="just"/>
            <a:endParaRPr lang="en-US" b="1" u="sng" dirty="0" smtClean="0"/>
          </a:p>
          <a:p>
            <a:pPr algn="just"/>
            <a:r>
              <a:rPr lang="en-US" dirty="0" smtClean="0"/>
              <a:t>►</a:t>
            </a:r>
            <a:r>
              <a:rPr lang="en-US" b="1" dirty="0" smtClean="0"/>
              <a:t>Increasing vehicle number-Kochi </a:t>
            </a:r>
            <a:r>
              <a:rPr lang="en-US" dirty="0" smtClean="0"/>
              <a:t>city has the highest </a:t>
            </a:r>
            <a:r>
              <a:rPr lang="en-US" dirty="0" err="1" smtClean="0"/>
              <a:t>no.of</a:t>
            </a:r>
            <a:r>
              <a:rPr lang="en-US" dirty="0" smtClean="0"/>
              <a:t> vehicles in state.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</a:t>
            </a:r>
            <a:r>
              <a:rPr lang="en-US" b="1" dirty="0" smtClean="0"/>
              <a:t>Traffic congestion</a:t>
            </a:r>
            <a:r>
              <a:rPr lang="en-US" dirty="0" smtClean="0"/>
              <a:t>-Kochi city does not have the proper road infrastructure to meet the rise in traffic.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►CDM Smith studies in May 2013 –by 2018 Kochi will have 1.41 million road transport based passengers and an increase to 2.87 million by 2048.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</a:t>
            </a:r>
            <a:r>
              <a:rPr lang="en-US" b="1" dirty="0" smtClean="0"/>
              <a:t>Concerns on road safety</a:t>
            </a:r>
            <a:r>
              <a:rPr lang="en-US" dirty="0" smtClean="0"/>
              <a:t>-As per the report ‘Road Accidents in India:2010’ by Ministry of Road Transport and </a:t>
            </a:r>
            <a:r>
              <a:rPr lang="en-US" dirty="0" err="1" smtClean="0"/>
              <a:t>Highways,Kerala</a:t>
            </a:r>
            <a:r>
              <a:rPr lang="en-US" dirty="0" smtClean="0"/>
              <a:t> is ranked 3</a:t>
            </a:r>
            <a:r>
              <a:rPr lang="en-US" baseline="30000" dirty="0" smtClean="0"/>
              <a:t>rd</a:t>
            </a:r>
            <a:r>
              <a:rPr lang="en-US" dirty="0" smtClean="0"/>
              <a:t> with 102 accidents per </a:t>
            </a:r>
            <a:r>
              <a:rPr lang="en-US" dirty="0" err="1" smtClean="0"/>
              <a:t>lakh</a:t>
            </a:r>
            <a:r>
              <a:rPr lang="en-US" dirty="0" smtClean="0"/>
              <a:t> population.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►In 2010 Kochi was ranked 10</a:t>
            </a:r>
            <a:r>
              <a:rPr lang="en-US" baseline="30000" dirty="0" smtClean="0"/>
              <a:t>th</a:t>
            </a:r>
            <a:r>
              <a:rPr lang="en-US" dirty="0" smtClean="0"/>
              <a:t> on road accident profile among prominent cities 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22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28600" y="6488668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1524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457200"/>
            <a:ext cx="807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♦</a:t>
            </a:r>
            <a:r>
              <a:rPr lang="en-US" b="1" u="sng" dirty="0" smtClean="0"/>
              <a:t>WITH METRO SCENARIO</a:t>
            </a:r>
          </a:p>
          <a:p>
            <a:pPr algn="just"/>
            <a:endParaRPr lang="en-US" b="1" u="sng" dirty="0" smtClean="0"/>
          </a:p>
          <a:p>
            <a:pPr algn="just"/>
            <a:r>
              <a:rPr lang="en-US" dirty="0" smtClean="0"/>
              <a:t>►Reduced road stress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►Better accessibility to facilities in the influence area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►Economic stimulations in the micro regions of the infrastructure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►Increased business opportunities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►Overall increased mobility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►Facilitating better planning and up-gradation of influence areas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►Improving the image of the city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►Reduction in emission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23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52600" y="533400"/>
            <a:ext cx="54168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conclusion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3400" y="1752600"/>
            <a:ext cx="8077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♦Studies revealed-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►Implementation of  Kochi Metro leads to a positive socio-economic </a:t>
            </a:r>
          </a:p>
          <a:p>
            <a:pPr algn="just"/>
            <a:r>
              <a:rPr lang="en-US" dirty="0" smtClean="0"/>
              <a:t>               -environmental utility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► There is a clear balance between development and </a:t>
            </a:r>
          </a:p>
          <a:p>
            <a:pPr algn="just"/>
            <a:r>
              <a:rPr lang="en-US" dirty="0" smtClean="0"/>
              <a:t>                environmental consideration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►Some irreversible damages are done-but by careful planning </a:t>
            </a:r>
          </a:p>
          <a:p>
            <a:pPr algn="just"/>
            <a:r>
              <a:rPr lang="en-US" dirty="0" smtClean="0"/>
              <a:t>               further damages can be mitigated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►Lots of employment opportunities were created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           ►Eased traffic in one of major </a:t>
            </a:r>
            <a:r>
              <a:rPr lang="en-US" dirty="0" err="1" smtClean="0"/>
              <a:t>citiy</a:t>
            </a:r>
            <a:r>
              <a:rPr lang="en-US" dirty="0" smtClean="0"/>
              <a:t> of Kerala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24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52400" y="62484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152400"/>
            <a:ext cx="2836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accent1"/>
                </a:solidFill>
              </a:rPr>
              <a:t>EIA OF KOCHI METRO</a:t>
            </a:r>
            <a:endParaRPr lang="en-US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381000"/>
            <a:ext cx="54938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references</a:t>
            </a:r>
            <a:endParaRPr lang="en-US" sz="54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981200"/>
            <a:ext cx="739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/>
              <a:t>1.KMRL,2011-Detailed Project </a:t>
            </a:r>
            <a:r>
              <a:rPr lang="en-US" b="1" dirty="0" err="1" smtClean="0"/>
              <a:t>Report,DMRC</a:t>
            </a:r>
            <a:endParaRPr lang="en-US" b="1" dirty="0" smtClean="0"/>
          </a:p>
          <a:p>
            <a:pPr algn="just"/>
            <a:r>
              <a:rPr lang="en-US" b="1" dirty="0" smtClean="0"/>
              <a:t>2.SENES- Executive Summary of EIA &amp;EMP for Kochi Metro Rail   Project</a:t>
            </a:r>
          </a:p>
          <a:p>
            <a:pPr algn="just"/>
            <a:r>
              <a:rPr lang="en-US" b="1" dirty="0" smtClean="0"/>
              <a:t>3.www.kochimetro.org</a:t>
            </a:r>
            <a:endParaRPr lang="en-US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 smtClean="0"/>
              <a:t>25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6324600"/>
            <a:ext cx="2770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smtClean="0">
                <a:solidFill>
                  <a:schemeClr val="tx2"/>
                </a:solidFill>
              </a:rPr>
              <a:t>VJCET VAZHAKULAM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0302-9317-4EE0-A598-9E9134ACE81E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3" name="Picture 2" descr="laborers-work-at-a-kochi-metro-construction-site-in-cochin-india-on-picture-id47652176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209800"/>
            <a:ext cx="84582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8000" b="1" dirty="0" smtClean="0">
                <a:ln>
                  <a:prstDash val="solid"/>
                </a:ln>
                <a:solidFill>
                  <a:srgbClr val="FFFF99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THANK YOU</a:t>
            </a:r>
            <a:endParaRPr lang="en-US" sz="8000" b="1" cap="none" spc="0" dirty="0">
              <a:ln>
                <a:prstDash val="solid"/>
              </a:ln>
              <a:solidFill>
                <a:srgbClr val="FFFF99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731</TotalTime>
  <Words>2246</Words>
  <Application>Microsoft Office PowerPoint</Application>
  <PresentationFormat>On-screen Show (4:3)</PresentationFormat>
  <Paragraphs>516</Paragraphs>
  <Slides>30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Oriel</vt:lpstr>
      <vt:lpstr>PowerPoint Presentation</vt:lpstr>
      <vt:lpstr>CIVIL  ENGINEERING DEPARTMENT</vt:lpstr>
      <vt:lpstr>PROGRAM  EDUCATIONAL OBJECTIVES</vt:lpstr>
      <vt:lpstr>PROGRAMME SPECIFIC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BENJAMIN</dc:creator>
  <cp:lastModifiedBy>user</cp:lastModifiedBy>
  <cp:revision>88</cp:revision>
  <dcterms:created xsi:type="dcterms:W3CDTF">2018-08-07T18:34:40Z</dcterms:created>
  <dcterms:modified xsi:type="dcterms:W3CDTF">2022-06-07T08:16:38Z</dcterms:modified>
</cp:coreProperties>
</file>