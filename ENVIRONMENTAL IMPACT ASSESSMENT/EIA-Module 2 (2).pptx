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71" r:id="rId4"/>
    <p:sldId id="272" r:id="rId5"/>
    <p:sldId id="273" r:id="rId6"/>
    <p:sldId id="274" r:id="rId7"/>
    <p:sldId id="259" r:id="rId8"/>
    <p:sldId id="261" r:id="rId9"/>
    <p:sldId id="262" r:id="rId10"/>
    <p:sldId id="263" r:id="rId11"/>
    <p:sldId id="264" r:id="rId12"/>
    <p:sldId id="265" r:id="rId13"/>
    <p:sldId id="266" r:id="rId14"/>
    <p:sldId id="267" r:id="rId15"/>
    <p:sldId id="268" r:id="rId16"/>
    <p:sldId id="269" r:id="rId17"/>
    <p:sldId id="275" r:id="rId18"/>
    <p:sldId id="276" r:id="rId19"/>
    <p:sldId id="288" r:id="rId20"/>
    <p:sldId id="277" r:id="rId21"/>
    <p:sldId id="278" r:id="rId22"/>
    <p:sldId id="279" r:id="rId23"/>
    <p:sldId id="287" r:id="rId24"/>
    <p:sldId id="280" r:id="rId25"/>
    <p:sldId id="281" r:id="rId26"/>
    <p:sldId id="286" r:id="rId27"/>
    <p:sldId id="282" r:id="rId28"/>
    <p:sldId id="283" r:id="rId29"/>
    <p:sldId id="284" r:id="rId30"/>
    <p:sldId id="285" r:id="rId31"/>
    <p:sldId id="289" r:id="rId32"/>
    <p:sldId id="290" r:id="rId33"/>
    <p:sldId id="291" r:id="rId34"/>
    <p:sldId id="292" r:id="rId35"/>
    <p:sldId id="293" r:id="rId36"/>
    <p:sldId id="298" r:id="rId37"/>
    <p:sldId id="299" r:id="rId38"/>
    <p:sldId id="300"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D8BD707-D9CF-40AE-B4C6-C98DA3205C09}" type="datetimeFigureOut">
              <a:rPr lang="en-US" smtClean="0"/>
              <a:pPr/>
              <a:t>8/5/2025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8/5/2025</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pPr/>
              <a:t>8/5/2025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eco-intelligent.com/2016/11/12/checklists-in-environmental-impact-assessment/" TargetMode="External"/><Relationship Id="rId2" Type="http://schemas.openxmlformats.org/officeDocument/2006/relationships/hyperlink" Target="https://eco-intelligent.com/2016/11/11/environmental-impact-assessment-baseline-study/" TargetMode="External"/><Relationship Id="rId1" Type="http://schemas.openxmlformats.org/officeDocument/2006/relationships/slideLayout" Target="../slideLayouts/slideLayout2.xml"/><Relationship Id="rId5" Type="http://schemas.openxmlformats.org/officeDocument/2006/relationships/hyperlink" Target="https://eco-intelligent.com/2016/12/10/networks-in-environmental-impact-assessment/" TargetMode="External"/><Relationship Id="rId4" Type="http://schemas.openxmlformats.org/officeDocument/2006/relationships/hyperlink" Target="https://eco-intelligent.com/2016/12/10/matrices-in-environmental-impact-assessmen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algn="r"/>
            <a:r>
              <a:rPr lang="en-US" dirty="0"/>
              <a:t>Ms. </a:t>
            </a:r>
            <a:r>
              <a:rPr lang="en-US" dirty="0" err="1"/>
              <a:t>Amrutha</a:t>
            </a:r>
            <a:r>
              <a:rPr lang="en-US" dirty="0"/>
              <a:t> S</a:t>
            </a:r>
          </a:p>
          <a:p>
            <a:pPr algn="r"/>
            <a:r>
              <a:rPr lang="en-US" dirty="0"/>
              <a:t>A.P, </a:t>
            </a:r>
            <a:r>
              <a:rPr lang="en-US" sz="2800" dirty="0"/>
              <a:t>CED</a:t>
            </a:r>
          </a:p>
        </p:txBody>
      </p:sp>
      <p:sp>
        <p:nvSpPr>
          <p:cNvPr id="2" name="Title 1"/>
          <p:cNvSpPr>
            <a:spLocks noGrp="1"/>
          </p:cNvSpPr>
          <p:nvPr>
            <p:ph type="ctrTitle"/>
          </p:nvPr>
        </p:nvSpPr>
        <p:spPr/>
        <p:txBody>
          <a:bodyPr>
            <a:normAutofit/>
          </a:bodyPr>
          <a:lstStyle/>
          <a:p>
            <a:r>
              <a:rPr sz="4400" dirty="0">
                <a:solidFill>
                  <a:srgbClr val="417C20"/>
                </a:solidFill>
                <a:effectLst>
                  <a:outerShdw blurRad="38100" dist="38100" dir="2700000" algn="tl">
                    <a:srgbClr val="000000">
                      <a:alpha val="43137"/>
                    </a:srgbClr>
                  </a:outerShdw>
                </a:effectLst>
                <a:latin typeface="Tahoma" pitchFamily="34" charset="0"/>
                <a:cs typeface="Tahoma" pitchFamily="34" charset="0"/>
              </a:rPr>
              <a:t>MODULE -2</a:t>
            </a:r>
            <a:r>
              <a:rPr dirty="0">
                <a:solidFill>
                  <a:srgbClr val="417C20"/>
                </a:solidFill>
                <a:effectLst>
                  <a:outerShdw blurRad="38100" dist="38100" dir="2700000" algn="tl">
                    <a:srgbClr val="000000">
                      <a:alpha val="43137"/>
                    </a:srgbClr>
                  </a:outerShdw>
                </a:effectLst>
                <a:latin typeface="Tahoma" pitchFamily="34" charset="0"/>
                <a:cs typeface="Tahoma" pitchFamily="34" charset="0"/>
              </a:rPr>
              <a:t/>
            </a:r>
            <a:br>
              <a:rPr dirty="0">
                <a:solidFill>
                  <a:srgbClr val="417C20"/>
                </a:solidFill>
                <a:effectLst>
                  <a:outerShdw blurRad="38100" dist="38100" dir="2700000" algn="tl">
                    <a:srgbClr val="000000">
                      <a:alpha val="43137"/>
                    </a:srgbClr>
                  </a:outerShdw>
                </a:effectLst>
                <a:latin typeface="Tahoma" pitchFamily="34" charset="0"/>
                <a:cs typeface="Tahoma" pitchFamily="34" charset="0"/>
              </a:rPr>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ED544-61F1-336A-D546-42BC2A910834}"/>
              </a:ext>
            </a:extLst>
          </p:cNvPr>
          <p:cNvSpPr>
            <a:spLocks noGrp="1"/>
          </p:cNvSpPr>
          <p:nvPr>
            <p:ph type="title"/>
          </p:nvPr>
        </p:nvSpPr>
        <p:spPr/>
        <p:txBody>
          <a:bodyPr/>
          <a:lstStyle/>
          <a:p>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STEPS IN EIA PROCESS</a:t>
            </a:r>
            <a:r>
              <a:rPr lang="en-IN" sz="1800" dirty="0">
                <a:effectLst/>
                <a:latin typeface="Calibri" panose="020F0502020204030204" pitchFamily="34" charset="0"/>
                <a:ea typeface="Calibri" panose="020F0502020204030204" pitchFamily="34" charset="0"/>
                <a:cs typeface="Times New Roman" panose="02020603050405020304" pitchFamily="18" charset="0"/>
              </a:rPr>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84B9DBD-1F94-80D6-ABC0-5F0FC21AB9BE}"/>
              </a:ext>
            </a:extLst>
          </p:cNvPr>
          <p:cNvSpPr>
            <a:spLocks noGrp="1"/>
          </p:cNvSpPr>
          <p:nvPr>
            <p:ph sz="quarter" idx="1"/>
          </p:nvPr>
        </p:nvSpPr>
        <p:spPr>
          <a:xfrm>
            <a:off x="914400" y="1447800"/>
            <a:ext cx="7772400" cy="4724400"/>
          </a:xfrm>
        </p:spPr>
        <p:txBody>
          <a:bodyPr>
            <a:normAutofit fontScale="92500"/>
          </a:bodyPr>
          <a:lstStyle/>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Project Screening: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screening </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often results in a categorization of the project and from this a decision is made on whether or not a full EIA is to be carried out.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60000"/>
              </a:lnSpc>
            </a:pPr>
            <a:r>
              <a:rPr lang="en-IN" sz="1800" b="1" dirty="0">
                <a:effectLst/>
                <a:latin typeface="Times New Roman" panose="02020603050405020304" pitchFamily="18" charset="0"/>
                <a:ea typeface="Calibri" panose="020F0502020204030204" pitchFamily="34" charset="0"/>
              </a:rPr>
              <a:t> Scoping</a:t>
            </a:r>
            <a:r>
              <a:rPr lang="en-IN" sz="1800" dirty="0" smtClean="0">
                <a:effectLst/>
                <a:latin typeface="Times New Roman" panose="02020603050405020304" pitchFamily="18" charset="0"/>
                <a:ea typeface="Calibri" panose="020F0502020204030204" pitchFamily="34" charset="0"/>
              </a:rPr>
              <a:t>:  </a:t>
            </a:r>
            <a:r>
              <a:rPr lang="en-GB" sz="1800" dirty="0">
                <a:effectLst/>
                <a:latin typeface="Times New Roman" panose="02020603050405020304" pitchFamily="18" charset="0"/>
                <a:ea typeface="Calibri" panose="020F0502020204030204" pitchFamily="34" charset="0"/>
              </a:rPr>
              <a:t>is the process of determining which are the most critical issues to study and will involve community participation to some degree. </a:t>
            </a:r>
          </a:p>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Consideration of alternatives: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This seeks to ensure that the proponent has considered other feasible approaches, including alternative project locations, scales, processes, layouts, operating condition and the no-action option.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dirty="0">
                <a:latin typeface="Times New Roman" panose="02020603050405020304" pitchFamily="18" charset="0"/>
                <a:ea typeface="Calibri" panose="020F0502020204030204" pitchFamily="34" charset="0"/>
                <a:cs typeface="Times New Roman" panose="02020603050405020304" pitchFamily="18" charset="0"/>
              </a:rPr>
              <a:t>Description of the project/development action</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This step seeks to clarify the purpose and rationale of the project and understand its various characteristics, including the stages of development, location and processes.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294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C5C19C-4A1C-0506-5BE2-D9E42A97F455}"/>
              </a:ext>
            </a:extLst>
          </p:cNvPr>
          <p:cNvSpPr>
            <a:spLocks noGrp="1"/>
          </p:cNvSpPr>
          <p:nvPr>
            <p:ph sz="quarter" idx="1"/>
          </p:nvPr>
        </p:nvSpPr>
        <p:spPr>
          <a:xfrm>
            <a:off x="914400" y="914400"/>
            <a:ext cx="7772400" cy="5486400"/>
          </a:xfrm>
        </p:spPr>
        <p:txBody>
          <a:bodyPr>
            <a:normAutofit fontScale="77500" lnSpcReduction="20000"/>
          </a:bodyPr>
          <a:lstStyle/>
          <a:p>
            <a:pPr algn="just">
              <a:lnSpc>
                <a:spcPct val="16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Description of the environmental baseline</a:t>
            </a:r>
            <a:r>
              <a:rPr lang="en-IN" sz="2100" b="1" dirty="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rPr>
              <a:t>This includes the establishment of both the present and future state of the environment, in the absence of the project, taking into account the changes resulting from natural events and from other human activities. </a:t>
            </a:r>
          </a:p>
          <a:p>
            <a:pPr algn="just">
              <a:lnSpc>
                <a:spcPct val="16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 Identification of key impacts</a:t>
            </a:r>
            <a:r>
              <a:rPr lang="en-IN" sz="2100" b="1" dirty="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rPr>
              <a:t>This brings together the previous steps with a view to ensuring that all potentially significant environmental impacts (adverse and beneficial) are identified and taken into account in the process. </a:t>
            </a:r>
          </a:p>
          <a:p>
            <a:pPr algn="just">
              <a:lnSpc>
                <a:spcPct val="160000"/>
              </a:lnSpc>
              <a:spcAft>
                <a:spcPts val="800"/>
              </a:spcAft>
            </a:pPr>
            <a:r>
              <a:rPr lang="en-IN" sz="2100" b="1"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ea typeface="Calibri" panose="020F0502020204030204" pitchFamily="34" charset="0"/>
                <a:cs typeface="Times New Roman" panose="02020603050405020304" pitchFamily="18" charset="0"/>
              </a:rPr>
              <a:t>The prediction of impacts</a:t>
            </a:r>
            <a:r>
              <a:rPr lang="en-IN" sz="2100" b="1" dirty="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rPr>
              <a:t>This step aims to identify the likely magnitude of the change (i.e., impact) in the environment when the project is implemented in comparison with the situation when the project is not carried out.  </a:t>
            </a:r>
          </a:p>
          <a:p>
            <a:pPr algn="just">
              <a:lnSpc>
                <a:spcPct val="16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 Evaluation and assessment of significance</a:t>
            </a:r>
            <a:r>
              <a:rPr lang="en-IN" sz="2100" b="1" dirty="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rPr>
              <a:t>This seeks to assess the relative significance of the predicted impacts to allow a focus on key adverse impacts. Formal definition of significance is the product of consequence and likelihood as  </a:t>
            </a:r>
          </a:p>
          <a:p>
            <a:pPr algn="just">
              <a:lnSpc>
                <a:spcPct val="160000"/>
              </a:lnSpc>
              <a:spcAft>
                <a:spcPts val="800"/>
              </a:spcAft>
            </a:pPr>
            <a:r>
              <a:rPr lang="en-IN" sz="2100" dirty="0">
                <a:latin typeface="Times New Roman" panose="02020603050405020304" pitchFamily="18" charset="0"/>
                <a:cs typeface="Times New Roman" panose="02020603050405020304" pitchFamily="18" charset="0"/>
              </a:rPr>
              <a:t>Significance =consequence X Likelihood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1269165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8149-E1BF-A9E4-E582-72383F45A0B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4B5C78-0439-176F-538A-951D815FA736}"/>
              </a:ext>
            </a:extLst>
          </p:cNvPr>
          <p:cNvSpPr>
            <a:spLocks noGrp="1"/>
          </p:cNvSpPr>
          <p:nvPr>
            <p:ph sz="quarter" idx="1"/>
          </p:nvPr>
        </p:nvSpPr>
        <p:spPr>
          <a:xfrm>
            <a:off x="914400" y="1447800"/>
            <a:ext cx="7772400" cy="4800600"/>
          </a:xfrm>
        </p:spPr>
        <p:txBody>
          <a:bodyPr>
            <a:normAutofit fontScale="77500" lnSpcReduction="20000"/>
          </a:bodyPr>
          <a:lstStyle/>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Mitigation</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This involves the introduction of measures to avoid, reduce, remedy or compensate for any significant adverse impacts.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 Public consultation and participation</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This aims to assure the quality, comprehensiveness and effectiveness of the EIA, as well as to ensure that the public’s views are adequately taken into consideration in the decision-making process. </a:t>
            </a:r>
          </a:p>
          <a:p>
            <a:pPr algn="just">
              <a:lnSpc>
                <a:spcPct val="150000"/>
              </a:lnSpc>
              <a:spcAft>
                <a:spcPts val="800"/>
              </a:spcAft>
            </a:pPr>
            <a:r>
              <a:rPr lang="en-IN" sz="2200" b="1" dirty="0">
                <a:latin typeface="Times New Roman" panose="02020603050405020304" pitchFamily="18" charset="0"/>
                <a:ea typeface="Calibri" panose="020F0502020204030204" pitchFamily="34" charset="0"/>
                <a:cs typeface="Times New Roman" panose="02020603050405020304" pitchFamily="18" charset="0"/>
              </a:rPr>
              <a:t>EIS presentation</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This is a vital step in the process. If done badly, much good work in the EIA may be negated.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51333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97AEE-1EA8-E8AF-8CA0-E574BFF2DC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19AC101-005D-641D-12A8-7B0B0EFA3B7D}"/>
              </a:ext>
            </a:extLst>
          </p:cNvPr>
          <p:cNvSpPr>
            <a:spLocks noGrp="1"/>
          </p:cNvSpPr>
          <p:nvPr>
            <p:ph sz="quarter" idx="1"/>
          </p:nvPr>
        </p:nvSpPr>
        <p:spPr/>
        <p:txBody>
          <a:bodyPr>
            <a:normAutofit fontScale="92500" lnSpcReduction="20000"/>
          </a:bodyPr>
          <a:lstStyle/>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Review:</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This involves a systematic appraisal of the quality of the EIS, as a contribution to the decision-making process.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 Decision-making:</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this stage, decisions are made by the relevant authority of the EIS (including consultation responses) together with other material considerations as to whether to accept, defer or reject the project.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Post-decision monitoring:</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This involves the recording of outcomes associated with development impacts, after the decision to proceed with the project. It can contribute to effective project management.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Auditing:</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This follows monitoring and involves comparing actual outcomes with predicted outcomes, and can be used to assess the quality of predictions and the effectiveness of mitigation. It provides a vital step in the EIA learning process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78648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8ECA8-2C14-C483-7370-CC6F49B07746}"/>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9BC33CD-816F-E672-2D03-4050F10101F1}"/>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219200" y="274639"/>
            <a:ext cx="6857999" cy="6405000"/>
          </a:xfrm>
          <a:prstGeom prst="rect">
            <a:avLst/>
          </a:prstGeom>
          <a:noFill/>
          <a:ln>
            <a:noFill/>
          </a:ln>
        </p:spPr>
      </p:pic>
    </p:spTree>
    <p:extLst>
      <p:ext uri="{BB962C8B-B14F-4D97-AF65-F5344CB8AC3E}">
        <p14:creationId xmlns:p14="http://schemas.microsoft.com/office/powerpoint/2010/main" val="3642039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EIA</a:t>
            </a:r>
          </a:p>
        </p:txBody>
      </p:sp>
      <p:sp>
        <p:nvSpPr>
          <p:cNvPr id="3" name="Content Placeholder 2"/>
          <p:cNvSpPr>
            <a:spLocks noGrp="1"/>
          </p:cNvSpPr>
          <p:nvPr>
            <p:ph sz="quarter" idx="1"/>
          </p:nvPr>
        </p:nvSpPr>
        <p:spPr/>
        <p:txBody>
          <a:bodyPr/>
          <a:lstStyle/>
          <a:p>
            <a:r>
              <a:rPr lang="en-US" dirty="0">
                <a:latin typeface="Arial Narrow" panose="020B0606020202030204" pitchFamily="34" charset="0"/>
              </a:rPr>
              <a:t>Stage 1: Screening (Only for Category ‘B’ projects and activities)</a:t>
            </a:r>
          </a:p>
          <a:p>
            <a:r>
              <a:rPr lang="en-US" dirty="0">
                <a:latin typeface="Arial Narrow" panose="020B0606020202030204" pitchFamily="34" charset="0"/>
              </a:rPr>
              <a:t>Stage 2: Scoping</a:t>
            </a:r>
          </a:p>
          <a:p>
            <a:r>
              <a:rPr lang="en-US" dirty="0">
                <a:latin typeface="Arial Narrow" panose="020B0606020202030204" pitchFamily="34" charset="0"/>
              </a:rPr>
              <a:t>Stage 3: Public Consultation</a:t>
            </a:r>
          </a:p>
          <a:p>
            <a:r>
              <a:rPr lang="en-US" dirty="0">
                <a:latin typeface="Arial Narrow" panose="020B0606020202030204" pitchFamily="34" charset="0"/>
              </a:rPr>
              <a:t>Stage 4: Appraisal</a:t>
            </a:r>
          </a:p>
          <a:p>
            <a:endParaRPr lang="en-US" dirty="0">
              <a:latin typeface="Arial Narrow" panose="020B0606020202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68362"/>
          </a:xfrm>
        </p:spPr>
        <p:txBody>
          <a:bodyPr/>
          <a:lstStyle/>
          <a:p>
            <a:r>
              <a:rPr lang="en-US" dirty="0"/>
              <a:t>Stage 1: Screening</a:t>
            </a:r>
          </a:p>
        </p:txBody>
      </p:sp>
      <p:sp>
        <p:nvSpPr>
          <p:cNvPr id="3" name="Content Placeholder 2"/>
          <p:cNvSpPr>
            <a:spLocks noGrp="1"/>
          </p:cNvSpPr>
          <p:nvPr>
            <p:ph sz="quarter" idx="1"/>
          </p:nvPr>
        </p:nvSpPr>
        <p:spPr>
          <a:xfrm>
            <a:off x="304800" y="1143000"/>
            <a:ext cx="8839200" cy="5486400"/>
          </a:xfrm>
        </p:spPr>
        <p:txBody>
          <a:bodyPr>
            <a:noAutofit/>
          </a:bodyPr>
          <a:lstStyle/>
          <a:p>
            <a:pPr>
              <a:lnSpc>
                <a:spcPct val="90000"/>
              </a:lnSpc>
            </a:pPr>
            <a:endParaRPr lang="en-US" sz="2000" dirty="0" smtClean="0"/>
          </a:p>
          <a:p>
            <a:pPr>
              <a:lnSpc>
                <a:spcPct val="90000"/>
              </a:lnSpc>
            </a:pPr>
            <a:r>
              <a:rPr lang="en-US" sz="2000" dirty="0" smtClean="0"/>
              <a:t>Only </a:t>
            </a:r>
            <a:r>
              <a:rPr lang="en-US" sz="2000" dirty="0"/>
              <a:t>for Category B projects and activities to determine if they need EIA</a:t>
            </a:r>
          </a:p>
          <a:p>
            <a:pPr marL="0" indent="0">
              <a:lnSpc>
                <a:spcPct val="90000"/>
              </a:lnSpc>
              <a:buNone/>
            </a:pPr>
            <a:endParaRPr lang="en-US" sz="2000" dirty="0"/>
          </a:p>
          <a:p>
            <a:pPr>
              <a:lnSpc>
                <a:spcPct val="90000"/>
              </a:lnSpc>
            </a:pPr>
            <a:r>
              <a:rPr lang="en-US" sz="2000" dirty="0"/>
              <a:t>Category A projects compulsorily need EIA</a:t>
            </a:r>
          </a:p>
          <a:p>
            <a:pPr>
              <a:lnSpc>
                <a:spcPct val="90000"/>
              </a:lnSpc>
            </a:pPr>
            <a:endParaRPr lang="en-US" sz="2000" dirty="0"/>
          </a:p>
          <a:p>
            <a:pPr>
              <a:lnSpc>
                <a:spcPct val="90000"/>
              </a:lnSpc>
            </a:pPr>
            <a:r>
              <a:rPr lang="en-US" sz="2000" dirty="0"/>
              <a:t>Scrutiny of an application by SEAC for determining whether or not the project or activity requires further environmental studies</a:t>
            </a:r>
            <a:endParaRPr lang="en-US" sz="2400" dirty="0"/>
          </a:p>
          <a:p>
            <a:pPr lvl="1">
              <a:lnSpc>
                <a:spcPct val="90000"/>
              </a:lnSpc>
            </a:pPr>
            <a:endParaRPr lang="en-US" sz="2000" dirty="0"/>
          </a:p>
          <a:p>
            <a:pPr>
              <a:lnSpc>
                <a:spcPct val="90000"/>
              </a:lnSpc>
            </a:pPr>
            <a:r>
              <a:rPr lang="en-US" sz="2000" dirty="0"/>
              <a:t>Classify projects as B1 (require EIA) and B2 (don’t require EIA)</a:t>
            </a:r>
          </a:p>
          <a:p>
            <a:pPr>
              <a:lnSpc>
                <a:spcPct val="90000"/>
              </a:lnSpc>
            </a:pPr>
            <a:endParaRPr lang="en-US" sz="2000" dirty="0"/>
          </a:p>
          <a:p>
            <a:pPr>
              <a:lnSpc>
                <a:spcPct val="90000"/>
              </a:lnSpc>
            </a:pPr>
            <a:r>
              <a:rPr lang="en-US" sz="2000" dirty="0"/>
              <a:t>For categorization of projects into B1 or B2, the </a:t>
            </a:r>
            <a:r>
              <a:rPr lang="en-US" sz="2000" dirty="0" err="1"/>
              <a:t>MoEF</a:t>
            </a:r>
            <a:r>
              <a:rPr lang="en-US" sz="2000" dirty="0"/>
              <a:t> shall issue appropriate guidelines from time to time</a:t>
            </a:r>
          </a:p>
          <a:p>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709"/>
            <a:ext cx="7772400" cy="1143000"/>
          </a:xfrm>
        </p:spPr>
        <p:txBody>
          <a:bodyPr/>
          <a:lstStyle/>
          <a:p>
            <a:r>
              <a:rPr lang="en-US" dirty="0"/>
              <a:t>Stage 2: Scoping</a:t>
            </a:r>
          </a:p>
        </p:txBody>
      </p:sp>
      <p:sp>
        <p:nvSpPr>
          <p:cNvPr id="3" name="Content Placeholder 2"/>
          <p:cNvSpPr>
            <a:spLocks noGrp="1"/>
          </p:cNvSpPr>
          <p:nvPr>
            <p:ph sz="quarter" idx="1"/>
          </p:nvPr>
        </p:nvSpPr>
        <p:spPr>
          <a:xfrm>
            <a:off x="381000" y="1447800"/>
            <a:ext cx="8763000" cy="5181600"/>
          </a:xfrm>
        </p:spPr>
        <p:txBody>
          <a:bodyPr>
            <a:noAutofit/>
          </a:bodyPr>
          <a:lstStyle/>
          <a:p>
            <a:pPr>
              <a:lnSpc>
                <a:spcPct val="90000"/>
              </a:lnSpc>
            </a:pPr>
            <a:r>
              <a:rPr lang="en-US" sz="2000" dirty="0"/>
              <a:t>In the case of Category A Hydroelectric projects </a:t>
            </a:r>
            <a:r>
              <a:rPr lang="en-US" sz="2000" dirty="0" err="1"/>
              <a:t>ToR</a:t>
            </a:r>
            <a:r>
              <a:rPr lang="en-US" sz="2000" dirty="0"/>
              <a:t> shall be conveyed along with the clearance for pre-construction </a:t>
            </a:r>
            <a:r>
              <a:rPr lang="en-US" sz="2000" dirty="0" smtClean="0"/>
              <a:t>activities.</a:t>
            </a:r>
          </a:p>
          <a:p>
            <a:pPr marL="0" indent="0">
              <a:lnSpc>
                <a:spcPct val="90000"/>
              </a:lnSpc>
              <a:buNone/>
            </a:pPr>
            <a:endParaRPr lang="en-US" sz="2000" dirty="0"/>
          </a:p>
          <a:p>
            <a:pPr>
              <a:lnSpc>
                <a:spcPct val="90000"/>
              </a:lnSpc>
            </a:pPr>
            <a:r>
              <a:rPr lang="en-US" sz="2000" dirty="0"/>
              <a:t>If </a:t>
            </a:r>
            <a:r>
              <a:rPr lang="en-US" sz="2000" dirty="0" err="1"/>
              <a:t>ToR</a:t>
            </a:r>
            <a:r>
              <a:rPr lang="en-US" sz="2000" dirty="0"/>
              <a:t> not finalized and conveyed to the applicant within sixty days of the receipt of Form 1, </a:t>
            </a:r>
            <a:r>
              <a:rPr lang="en-US" sz="2000" dirty="0" err="1"/>
              <a:t>ToR</a:t>
            </a:r>
            <a:r>
              <a:rPr lang="en-US" sz="2000" dirty="0"/>
              <a:t> suggested by the applicant shall be deemed as the final </a:t>
            </a:r>
            <a:r>
              <a:rPr lang="en-US" sz="2000" dirty="0" err="1"/>
              <a:t>ToR</a:t>
            </a:r>
            <a:r>
              <a:rPr lang="en-US" sz="2000" dirty="0"/>
              <a:t> approved for the EIA </a:t>
            </a:r>
            <a:r>
              <a:rPr lang="en-US" sz="2000" dirty="0" smtClean="0"/>
              <a:t>studies.</a:t>
            </a:r>
          </a:p>
          <a:p>
            <a:pPr marL="0" indent="0">
              <a:lnSpc>
                <a:spcPct val="90000"/>
              </a:lnSpc>
              <a:buNone/>
            </a:pPr>
            <a:endParaRPr lang="en-US" sz="2000" dirty="0"/>
          </a:p>
          <a:p>
            <a:pPr>
              <a:lnSpc>
                <a:spcPct val="90000"/>
              </a:lnSpc>
            </a:pPr>
            <a:r>
              <a:rPr lang="en-US" sz="2000" dirty="0"/>
              <a:t>Approved </a:t>
            </a:r>
            <a:r>
              <a:rPr lang="en-US" sz="2000" dirty="0" err="1"/>
              <a:t>ToR</a:t>
            </a:r>
            <a:r>
              <a:rPr lang="en-US" sz="2000" dirty="0"/>
              <a:t> shall be displayed on the website of the </a:t>
            </a:r>
            <a:r>
              <a:rPr lang="en-US" sz="2000" dirty="0" err="1"/>
              <a:t>MoEF</a:t>
            </a:r>
            <a:r>
              <a:rPr lang="en-US" sz="2000" dirty="0"/>
              <a:t> or the concerned </a:t>
            </a:r>
            <a:r>
              <a:rPr lang="en-US" sz="2000" dirty="0" smtClean="0"/>
              <a:t>SEIAA.</a:t>
            </a:r>
          </a:p>
          <a:p>
            <a:pPr marL="0" indent="0">
              <a:lnSpc>
                <a:spcPct val="90000"/>
              </a:lnSpc>
              <a:buNone/>
            </a:pPr>
            <a:endParaRPr lang="en-US" sz="2000" dirty="0"/>
          </a:p>
          <a:p>
            <a:pPr>
              <a:lnSpc>
                <a:spcPct val="90000"/>
              </a:lnSpc>
            </a:pPr>
            <a:r>
              <a:rPr lang="en-US" sz="2000" dirty="0"/>
              <a:t>Applications for EC may be rejected at this stage </a:t>
            </a:r>
            <a:r>
              <a:rPr lang="en-US" sz="2000" dirty="0" smtClean="0"/>
              <a:t>itself</a:t>
            </a:r>
          </a:p>
          <a:p>
            <a:pPr marL="0" indent="0">
              <a:lnSpc>
                <a:spcPct val="90000"/>
              </a:lnSpc>
              <a:buNone/>
            </a:pPr>
            <a:endParaRPr lang="en-US" sz="2000" dirty="0"/>
          </a:p>
          <a:p>
            <a:pPr marL="274320" lvl="1" indent="-274320">
              <a:lnSpc>
                <a:spcPct val="90000"/>
              </a:lnSpc>
              <a:spcBef>
                <a:spcPts val="580"/>
              </a:spcBef>
              <a:buClr>
                <a:schemeClr val="accent1"/>
              </a:buClr>
            </a:pPr>
            <a:r>
              <a:rPr lang="en-US" sz="2000" dirty="0"/>
              <a:t>the decision together with reasons for the same shall be communicated to the </a:t>
            </a:r>
            <a:r>
              <a:rPr lang="en-US" sz="2000" dirty="0" smtClean="0"/>
              <a:t>applicant</a:t>
            </a:r>
          </a:p>
          <a:p>
            <a:pPr marL="0" lvl="1" indent="0">
              <a:lnSpc>
                <a:spcPct val="90000"/>
              </a:lnSpc>
              <a:spcBef>
                <a:spcPts val="580"/>
              </a:spcBef>
              <a:buClr>
                <a:schemeClr val="accent1"/>
              </a:buClr>
              <a:buNone/>
            </a:pPr>
            <a:endParaRPr lang="en-US" sz="2000" dirty="0"/>
          </a:p>
          <a:p>
            <a:pPr>
              <a:lnSpc>
                <a:spcPct val="90000"/>
              </a:lnSpc>
            </a:pPr>
            <a:r>
              <a:rPr lang="en-US" sz="2000" dirty="0"/>
              <a:t>Prepare EIA draft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3: Public consultation</a:t>
            </a:r>
          </a:p>
        </p:txBody>
      </p:sp>
      <p:sp>
        <p:nvSpPr>
          <p:cNvPr id="3" name="Content Placeholder 2"/>
          <p:cNvSpPr>
            <a:spLocks noGrp="1"/>
          </p:cNvSpPr>
          <p:nvPr>
            <p:ph sz="quarter" idx="1"/>
          </p:nvPr>
        </p:nvSpPr>
        <p:spPr/>
        <p:txBody>
          <a:bodyPr>
            <a:normAutofit/>
          </a:bodyPr>
          <a:lstStyle/>
          <a:p>
            <a:pPr>
              <a:lnSpc>
                <a:spcPct val="90000"/>
              </a:lnSpc>
            </a:pPr>
            <a:r>
              <a:rPr lang="en-US" sz="2000" dirty="0"/>
              <a:t>Process by which the concerns of local affected persons and others who have plausible stake in the environmental impacts of the project or activity are ascertained</a:t>
            </a:r>
          </a:p>
          <a:p>
            <a:pPr>
              <a:lnSpc>
                <a:spcPct val="90000"/>
              </a:lnSpc>
            </a:pPr>
            <a:endParaRPr lang="en-US" sz="2000" dirty="0"/>
          </a:p>
          <a:p>
            <a:pPr>
              <a:lnSpc>
                <a:spcPct val="90000"/>
              </a:lnSpc>
            </a:pPr>
            <a:r>
              <a:rPr lang="en-US" sz="2000" dirty="0"/>
              <a:t>All Category ‘A’ and Category B1 projects or activities shall undertake Public Consultation</a:t>
            </a:r>
          </a:p>
          <a:p>
            <a:pPr lvl="1">
              <a:lnSpc>
                <a:spcPct val="90000"/>
              </a:lnSpc>
              <a:spcBef>
                <a:spcPts val="580"/>
              </a:spcBef>
              <a:buClr>
                <a:schemeClr val="accent1"/>
              </a:buClr>
              <a:buFont typeface="Wingdings 2"/>
              <a:buNone/>
            </a:pPr>
            <a:endParaRPr lang="en-US" sz="2000" dirty="0"/>
          </a:p>
          <a:p>
            <a:pPr>
              <a:lnSpc>
                <a:spcPct val="90000"/>
              </a:lnSpc>
              <a:buFont typeface="Wingdings 2"/>
              <a:buNone/>
            </a:pP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a:xfrm>
            <a:off x="609600" y="1447800"/>
            <a:ext cx="8077200" cy="4572000"/>
          </a:xfrm>
        </p:spPr>
        <p:txBody>
          <a:bodyPr/>
          <a:lstStyle/>
          <a:p>
            <a:pPr>
              <a:lnSpc>
                <a:spcPct val="90000"/>
              </a:lnSpc>
            </a:pPr>
            <a:r>
              <a:rPr lang="en-US" sz="2000" dirty="0"/>
              <a:t>Public Consultation shall ordinarily have two components</a:t>
            </a:r>
          </a:p>
          <a:p>
            <a:pPr>
              <a:lnSpc>
                <a:spcPct val="90000"/>
              </a:lnSpc>
            </a:pPr>
            <a:endParaRPr lang="en-US" sz="2000" dirty="0"/>
          </a:p>
          <a:p>
            <a:pPr lvl="1">
              <a:lnSpc>
                <a:spcPct val="90000"/>
              </a:lnSpc>
              <a:spcBef>
                <a:spcPts val="580"/>
              </a:spcBef>
              <a:buClr>
                <a:schemeClr val="accent1"/>
              </a:buClr>
            </a:pPr>
            <a:r>
              <a:rPr lang="en-US" sz="2000" dirty="0"/>
              <a:t>public hearing at the site or in its close proximity- district wise, to be carried out in the manner prescribed in Appendix IV, for ascertaining concerns of local affected persons</a:t>
            </a:r>
          </a:p>
          <a:p>
            <a:pPr lvl="1">
              <a:lnSpc>
                <a:spcPct val="90000"/>
              </a:lnSpc>
              <a:spcBef>
                <a:spcPts val="580"/>
              </a:spcBef>
              <a:buClr>
                <a:schemeClr val="accent1"/>
              </a:buClr>
            </a:pPr>
            <a:endParaRPr lang="en-US" sz="2000" dirty="0"/>
          </a:p>
          <a:p>
            <a:pPr lvl="1">
              <a:lnSpc>
                <a:spcPct val="90000"/>
              </a:lnSpc>
              <a:spcBef>
                <a:spcPts val="580"/>
              </a:spcBef>
              <a:buClr>
                <a:schemeClr val="accent1"/>
              </a:buClr>
            </a:pPr>
            <a:r>
              <a:rPr lang="en-US" sz="2000" dirty="0"/>
              <a:t>obtain responses in writing from other concerned persons having a plausible stake in the environmental aspects of the </a:t>
            </a:r>
            <a:r>
              <a:rPr lang="en-US" sz="2000" dirty="0" smtClean="0"/>
              <a:t>project</a:t>
            </a:r>
          </a:p>
          <a:p>
            <a:pPr marL="320040" lvl="1" indent="0">
              <a:lnSpc>
                <a:spcPct val="90000"/>
              </a:lnSpc>
              <a:spcBef>
                <a:spcPts val="580"/>
              </a:spcBef>
              <a:buClr>
                <a:schemeClr val="accent1"/>
              </a:buClr>
              <a:buNone/>
            </a:pPr>
            <a:endParaRPr lang="en-US" sz="2000" dirty="0" smtClean="0"/>
          </a:p>
          <a:p>
            <a:pPr lvl="1">
              <a:lnSpc>
                <a:spcPct val="90000"/>
              </a:lnSpc>
              <a:spcBef>
                <a:spcPts val="580"/>
              </a:spcBef>
              <a:buClr>
                <a:schemeClr val="accent1"/>
              </a:buClr>
            </a:pPr>
            <a:r>
              <a:rPr lang="en-US" sz="2000" dirty="0"/>
              <a:t>Public hearing shall be conducted by the State Pollution Control Board (SPCB</a:t>
            </a:r>
            <a:r>
              <a:rPr lang="en-US" sz="2000" dirty="0" smtClean="0"/>
              <a:t>)</a:t>
            </a:r>
          </a:p>
          <a:p>
            <a:pPr marL="320040" lvl="1" indent="0">
              <a:lnSpc>
                <a:spcPct val="90000"/>
              </a:lnSpc>
              <a:spcBef>
                <a:spcPts val="580"/>
              </a:spcBef>
              <a:buClr>
                <a:schemeClr val="accent1"/>
              </a:buClr>
              <a:buNone/>
            </a:pPr>
            <a:endParaRPr lang="en-US" sz="2000" dirty="0"/>
          </a:p>
          <a:p>
            <a:pPr lvl="1">
              <a:lnSpc>
                <a:spcPct val="90000"/>
              </a:lnSpc>
              <a:spcBef>
                <a:spcPts val="580"/>
              </a:spcBef>
              <a:buClr>
                <a:schemeClr val="accent1"/>
              </a:buClr>
            </a:pPr>
            <a:endParaRPr lang="en-US" sz="2000" dirty="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610600" cy="5638800"/>
          </a:xfrm>
        </p:spPr>
        <p:txBody>
          <a:bodyPr>
            <a:noAutofit/>
          </a:bodyPr>
          <a:lstStyle/>
          <a:p>
            <a:pPr marL="0" indent="0">
              <a:buNone/>
            </a:pPr>
            <a:r>
              <a:rPr lang="en-US" sz="2400" b="1" dirty="0" smtClean="0"/>
              <a:t>Component </a:t>
            </a:r>
            <a:r>
              <a:rPr lang="en-US" sz="2400" b="1" dirty="0"/>
              <a:t>1: Public </a:t>
            </a:r>
            <a:r>
              <a:rPr lang="en-US" sz="2400" b="1" dirty="0" smtClean="0"/>
              <a:t>hearing</a:t>
            </a:r>
          </a:p>
          <a:p>
            <a:pPr marL="274320" lvl="1" indent="-274320">
              <a:spcBef>
                <a:spcPts val="580"/>
              </a:spcBef>
              <a:buClr>
                <a:schemeClr val="accent1"/>
              </a:buClr>
            </a:pPr>
            <a:r>
              <a:rPr lang="en-US" sz="2000" dirty="0"/>
              <a:t>forward proceedings to the regulatory authority concerned within 45 </a:t>
            </a:r>
            <a:r>
              <a:rPr lang="en-US" sz="2000" dirty="0" smtClean="0"/>
              <a:t>days</a:t>
            </a:r>
          </a:p>
          <a:p>
            <a:pPr marL="274320" lvl="1" indent="-274320">
              <a:spcBef>
                <a:spcPts val="580"/>
              </a:spcBef>
              <a:buClr>
                <a:schemeClr val="accent1"/>
              </a:buClr>
            </a:pPr>
            <a:r>
              <a:rPr lang="en-US" sz="2000" dirty="0" smtClean="0"/>
              <a:t>If </a:t>
            </a:r>
            <a:r>
              <a:rPr lang="en-US" sz="2000" dirty="0"/>
              <a:t>not, appoint another independent organization to do the same within another 45 days</a:t>
            </a:r>
          </a:p>
          <a:p>
            <a:pPr>
              <a:lnSpc>
                <a:spcPct val="90000"/>
              </a:lnSpc>
            </a:pPr>
            <a:r>
              <a:rPr lang="en-US" sz="2000" dirty="0"/>
              <a:t>If </a:t>
            </a:r>
            <a:r>
              <a:rPr lang="en-US" sz="2000" dirty="0"/>
              <a:t>the public agency nominated reports that it is not possible to conduct the public hearing in a manner which will enable the views of the concerned local persons to be freely </a:t>
            </a:r>
            <a:r>
              <a:rPr lang="en-US" sz="2000" dirty="0" smtClean="0"/>
              <a:t>expressed</a:t>
            </a:r>
          </a:p>
          <a:p>
            <a:pPr>
              <a:lnSpc>
                <a:spcPct val="90000"/>
              </a:lnSpc>
            </a:pPr>
            <a:endParaRPr lang="en-US" sz="2000" dirty="0"/>
          </a:p>
          <a:p>
            <a:pPr lvl="1">
              <a:lnSpc>
                <a:spcPct val="90000"/>
              </a:lnSpc>
              <a:spcBef>
                <a:spcPts val="580"/>
              </a:spcBef>
              <a:buClr>
                <a:schemeClr val="accent1"/>
              </a:buClr>
              <a:buFont typeface="Wingdings 2"/>
              <a:buChar char="Ø"/>
            </a:pPr>
            <a:r>
              <a:rPr lang="en-US" sz="2000" dirty="0"/>
              <a:t>It shall report the facts in detail to the concerned regulatory </a:t>
            </a:r>
            <a:r>
              <a:rPr lang="en-US" sz="2000" dirty="0" smtClean="0"/>
              <a:t>authority</a:t>
            </a:r>
          </a:p>
          <a:p>
            <a:pPr marL="320040" lvl="1" indent="0">
              <a:lnSpc>
                <a:spcPct val="90000"/>
              </a:lnSpc>
              <a:spcBef>
                <a:spcPts val="580"/>
              </a:spcBef>
              <a:buClr>
                <a:schemeClr val="accent1"/>
              </a:buClr>
              <a:buNone/>
            </a:pPr>
            <a:endParaRPr lang="en-US" sz="2000" dirty="0"/>
          </a:p>
          <a:p>
            <a:pPr marL="320040" lvl="1" indent="0">
              <a:buNone/>
            </a:pPr>
            <a:endParaRPr lang="en-US" dirty="0"/>
          </a:p>
          <a:p>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457200"/>
            <a:ext cx="8001000" cy="6019800"/>
          </a:xfrm>
        </p:spPr>
        <p:txBody>
          <a:bodyPr>
            <a:normAutofit fontScale="77500" lnSpcReduction="20000"/>
          </a:bodyPr>
          <a:lstStyle/>
          <a:p>
            <a:pPr marL="0" indent="0">
              <a:buNone/>
            </a:pPr>
            <a:r>
              <a:rPr lang="en-US" sz="3400" b="1" dirty="0"/>
              <a:t>Component 2: Responses from other concerned persons</a:t>
            </a:r>
          </a:p>
          <a:p>
            <a:pPr>
              <a:lnSpc>
                <a:spcPct val="80000"/>
              </a:lnSpc>
            </a:pPr>
            <a:endParaRPr lang="en-US" sz="3200" dirty="0" smtClean="0"/>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Invite </a:t>
            </a:r>
            <a:r>
              <a:rPr lang="en-US" sz="2900" dirty="0">
                <a:latin typeface="Calibri" panose="020F0502020204030204" pitchFamily="34" charset="0"/>
                <a:cs typeface="Calibri" panose="020F0502020204030204" pitchFamily="34" charset="0"/>
              </a:rPr>
              <a:t>responses from such concerned persons by placing on their website the Summary EIA report</a:t>
            </a:r>
          </a:p>
          <a:p>
            <a:pPr marL="274320" lvl="1" indent="-274320">
              <a:lnSpc>
                <a:spcPct val="80000"/>
              </a:lnSpc>
              <a:spcBef>
                <a:spcPts val="580"/>
              </a:spcBef>
              <a:buClr>
                <a:schemeClr val="accent1"/>
              </a:buClr>
            </a:pPr>
            <a:endParaRPr lang="en-US" sz="2900" dirty="0">
              <a:latin typeface="Calibri" panose="020F0502020204030204" pitchFamily="34" charset="0"/>
              <a:cs typeface="Calibri" panose="020F0502020204030204" pitchFamily="34" charset="0"/>
            </a:endParaRPr>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Use other appropriate media for ensuring wide publicity about the project</a:t>
            </a:r>
          </a:p>
          <a:p>
            <a:pPr marL="274320" lvl="1" indent="-274320">
              <a:lnSpc>
                <a:spcPct val="80000"/>
              </a:lnSpc>
              <a:spcBef>
                <a:spcPts val="580"/>
              </a:spcBef>
              <a:buClr>
                <a:schemeClr val="accent1"/>
              </a:buClr>
            </a:pPr>
            <a:endParaRPr lang="en-US" sz="2900" dirty="0">
              <a:latin typeface="Calibri" panose="020F0502020204030204" pitchFamily="34" charset="0"/>
              <a:cs typeface="Calibri" panose="020F0502020204030204" pitchFamily="34" charset="0"/>
            </a:endParaRPr>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Within seven days of the receipt of a written request for arranging the public hearing</a:t>
            </a:r>
          </a:p>
          <a:p>
            <a:pPr marL="274320" lvl="1" indent="-274320">
              <a:lnSpc>
                <a:spcPct val="80000"/>
              </a:lnSpc>
              <a:spcBef>
                <a:spcPts val="580"/>
              </a:spcBef>
              <a:buClr>
                <a:schemeClr val="accent1"/>
              </a:buClr>
            </a:pPr>
            <a:endParaRPr lang="en-US" sz="2900" dirty="0">
              <a:latin typeface="Calibri" panose="020F0502020204030204" pitchFamily="34" charset="0"/>
              <a:cs typeface="Calibri" panose="020F0502020204030204" pitchFamily="34" charset="0"/>
            </a:endParaRPr>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Confidential information including non-</a:t>
            </a:r>
            <a:r>
              <a:rPr lang="en-US" sz="2900" dirty="0" err="1">
                <a:latin typeface="Calibri" panose="020F0502020204030204" pitchFamily="34" charset="0"/>
                <a:cs typeface="Calibri" panose="020F0502020204030204" pitchFamily="34" charset="0"/>
              </a:rPr>
              <a:t>disclosable</a:t>
            </a:r>
            <a:r>
              <a:rPr lang="en-US" sz="2900" dirty="0">
                <a:latin typeface="Calibri" panose="020F0502020204030204" pitchFamily="34" charset="0"/>
                <a:cs typeface="Calibri" panose="020F0502020204030204" pitchFamily="34" charset="0"/>
              </a:rPr>
              <a:t> or legally privileged information involving Intellectual  Property Right shall not be placed on the website</a:t>
            </a:r>
          </a:p>
          <a:p>
            <a:pPr marL="274320" lvl="1" indent="-274320">
              <a:lnSpc>
                <a:spcPct val="80000"/>
              </a:lnSpc>
              <a:spcBef>
                <a:spcPts val="580"/>
              </a:spcBef>
              <a:buClr>
                <a:schemeClr val="accent1"/>
              </a:buClr>
            </a:pPr>
            <a:endParaRPr lang="en-US" sz="2900" dirty="0">
              <a:latin typeface="Calibri" panose="020F0502020204030204" pitchFamily="34" charset="0"/>
              <a:cs typeface="Calibri" panose="020F0502020204030204" pitchFamily="34" charset="0"/>
            </a:endParaRPr>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Make available on written request from any concerned person the Draft EIA report for inspection at a notified place during normal office hours till the date of the public hearing</a:t>
            </a:r>
          </a:p>
          <a:p>
            <a:pPr marL="274320" lvl="1" indent="-274320">
              <a:lnSpc>
                <a:spcPct val="80000"/>
              </a:lnSpc>
              <a:spcBef>
                <a:spcPts val="580"/>
              </a:spcBef>
              <a:buClr>
                <a:schemeClr val="accent1"/>
              </a:buClr>
            </a:pPr>
            <a:endParaRPr lang="en-US" sz="2900" dirty="0">
              <a:latin typeface="Calibri" panose="020F0502020204030204" pitchFamily="34" charset="0"/>
              <a:cs typeface="Calibri" panose="020F0502020204030204" pitchFamily="34" charset="0"/>
            </a:endParaRPr>
          </a:p>
          <a:p>
            <a:pPr marL="274320" lvl="1" indent="-274320">
              <a:lnSpc>
                <a:spcPct val="80000"/>
              </a:lnSpc>
              <a:spcBef>
                <a:spcPts val="580"/>
              </a:spcBef>
              <a:buClr>
                <a:schemeClr val="accent1"/>
              </a:buClr>
            </a:pPr>
            <a:r>
              <a:rPr lang="en-US" sz="2900" dirty="0">
                <a:latin typeface="Calibri" panose="020F0502020204030204" pitchFamily="34" charset="0"/>
                <a:cs typeface="Calibri" panose="020F0502020204030204" pitchFamily="34" charset="0"/>
              </a:rPr>
              <a:t>All the responses received as part of this public consultation process shall be forwarded to the applicant through the quickest available means</a:t>
            </a:r>
          </a:p>
          <a:p>
            <a:pPr marL="274320" lvl="1" indent="-274320">
              <a:spcBef>
                <a:spcPts val="580"/>
              </a:spcBef>
              <a:buClr>
                <a:schemeClr val="accent1"/>
              </a:buClr>
            </a:pPr>
            <a:endParaRPr lang="en-US" sz="2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 public consultation…</a:t>
            </a:r>
          </a:p>
        </p:txBody>
      </p:sp>
      <p:sp>
        <p:nvSpPr>
          <p:cNvPr id="3" name="Content Placeholder 2"/>
          <p:cNvSpPr>
            <a:spLocks noGrp="1"/>
          </p:cNvSpPr>
          <p:nvPr>
            <p:ph sz="quarter" idx="1"/>
          </p:nvPr>
        </p:nvSpPr>
        <p:spPr/>
        <p:txBody>
          <a:bodyPr/>
          <a:lstStyle/>
          <a:p>
            <a:r>
              <a:rPr lang="en-US" sz="2000" dirty="0"/>
              <a:t>Applicant shall address all environmental concerns expressed during this process</a:t>
            </a:r>
          </a:p>
          <a:p>
            <a:endParaRPr lang="en-US" sz="2000" dirty="0"/>
          </a:p>
          <a:p>
            <a:r>
              <a:rPr lang="en-US" sz="2000" dirty="0"/>
              <a:t>Make appropriate changes in the draft EIA</a:t>
            </a:r>
          </a:p>
          <a:p>
            <a:endParaRPr lang="en-US" sz="2000" dirty="0"/>
          </a:p>
          <a:p>
            <a:r>
              <a:rPr lang="en-US" sz="2000" dirty="0"/>
              <a:t>Final EIA report shall be submitted by the applicant to the concerned regulatory authority for appraisal</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4: Appraisal</a:t>
            </a:r>
          </a:p>
        </p:txBody>
      </p:sp>
      <p:sp>
        <p:nvSpPr>
          <p:cNvPr id="3" name="Content Placeholder 2"/>
          <p:cNvSpPr>
            <a:spLocks noGrp="1"/>
          </p:cNvSpPr>
          <p:nvPr>
            <p:ph sz="quarter" idx="1"/>
          </p:nvPr>
        </p:nvSpPr>
        <p:spPr>
          <a:xfrm>
            <a:off x="914400" y="1447800"/>
            <a:ext cx="7772400" cy="5105400"/>
          </a:xfrm>
        </p:spPr>
        <p:txBody>
          <a:bodyPr>
            <a:normAutofit fontScale="92500" lnSpcReduction="10000"/>
          </a:bodyPr>
          <a:lstStyle/>
          <a:p>
            <a:r>
              <a:rPr lang="en-US" dirty="0"/>
              <a:t>Detailed scrutiny by the EAC or SEAC of</a:t>
            </a:r>
          </a:p>
          <a:p>
            <a:pPr lvl="1">
              <a:buFont typeface="Wingdings" pitchFamily="2" charset="2"/>
              <a:buChar char="Ø"/>
            </a:pPr>
            <a:r>
              <a:rPr lang="en-US" dirty="0"/>
              <a:t>documents like the Final EIA report</a:t>
            </a:r>
          </a:p>
          <a:p>
            <a:pPr lvl="1">
              <a:buFont typeface="Wingdings" pitchFamily="2" charset="2"/>
              <a:buChar char="Ø"/>
            </a:pPr>
            <a:r>
              <a:rPr lang="en-US" dirty="0"/>
              <a:t>outcome of the public consultations including public hearing proceedings</a:t>
            </a:r>
          </a:p>
          <a:p>
            <a:pPr lvl="1">
              <a:buFont typeface="Wingdings" pitchFamily="2" charset="2"/>
              <a:buChar char="Ø"/>
            </a:pPr>
            <a:r>
              <a:rPr lang="en-US" dirty="0"/>
              <a:t>submitted by the applicant to the regulatory authority concerned for grant of environmental clearance</a:t>
            </a:r>
          </a:p>
          <a:p>
            <a:pPr lvl="1"/>
            <a:endParaRPr lang="en-US" dirty="0"/>
          </a:p>
          <a:p>
            <a:r>
              <a:rPr lang="en-US" sz="2400" dirty="0"/>
              <a:t>Appraisal of all projects or activities which are not required to undergo public consultation, or submit an Environment Impact Assessment report (Category B2) shall be carried out on the basis </a:t>
            </a:r>
          </a:p>
          <a:p>
            <a:pPr lvl="2"/>
            <a:r>
              <a:rPr lang="en-US" sz="2400" dirty="0"/>
              <a:t>prescribed application Form 1 </a:t>
            </a:r>
          </a:p>
          <a:p>
            <a:pPr lvl="2"/>
            <a:r>
              <a:rPr lang="en-US" sz="2400" dirty="0"/>
              <a:t>Form 1A </a:t>
            </a:r>
          </a:p>
          <a:p>
            <a:pPr lvl="2"/>
            <a:r>
              <a:rPr lang="en-US" sz="2400" dirty="0"/>
              <a:t>any other relevant information</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sz="2400" dirty="0"/>
              <a:t>EAC or SEAC shall</a:t>
            </a:r>
          </a:p>
          <a:p>
            <a:pPr lvl="1"/>
            <a:r>
              <a:rPr lang="en-US" dirty="0"/>
              <a:t>shall recommend to the regulatory authority concerned </a:t>
            </a:r>
          </a:p>
          <a:p>
            <a:pPr lvl="2"/>
            <a:r>
              <a:rPr lang="en-US" sz="2400" dirty="0"/>
              <a:t>either for grant of prior environmental clearance on stipulated terms and conditions</a:t>
            </a:r>
          </a:p>
          <a:p>
            <a:pPr lvl="2"/>
            <a:r>
              <a:rPr lang="en-US" sz="2400" dirty="0"/>
              <a:t>or rejection of the application for prior environmental clearance, together with reasons for the same.</a:t>
            </a:r>
          </a:p>
          <a:p>
            <a:endParaRPr lang="en-US" sz="2400" dirty="0"/>
          </a:p>
          <a:p>
            <a:r>
              <a:rPr lang="en-US" sz="2400" dirty="0"/>
              <a:t>Prescribed procedure for appraisal is given in Appendix V</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588C4-81A7-261E-5EB6-82B3E2023F2B}"/>
              </a:ext>
            </a:extLst>
          </p:cNvPr>
          <p:cNvSpPr>
            <a:spLocks noGrp="1"/>
          </p:cNvSpPr>
          <p:nvPr>
            <p:ph type="title"/>
          </p:nvPr>
        </p:nvSpPr>
        <p:spPr>
          <a:xfrm>
            <a:off x="914400" y="274638"/>
            <a:ext cx="7772400" cy="792162"/>
          </a:xfrm>
        </p:spPr>
        <p:txBody>
          <a:bodyPr/>
          <a:lstStyle/>
          <a:p>
            <a:r>
              <a:rPr lang="en-US" dirty="0"/>
              <a:t>Classification</a:t>
            </a:r>
            <a:endParaRPr lang="en-IN" dirty="0"/>
          </a:p>
        </p:txBody>
      </p:sp>
      <p:sp>
        <p:nvSpPr>
          <p:cNvPr id="3" name="Content Placeholder 2">
            <a:extLst>
              <a:ext uri="{FF2B5EF4-FFF2-40B4-BE49-F238E27FC236}">
                <a16:creationId xmlns:a16="http://schemas.microsoft.com/office/drawing/2014/main" id="{7330F684-40AF-35A7-679A-3FDD45D36D67}"/>
              </a:ext>
            </a:extLst>
          </p:cNvPr>
          <p:cNvSpPr>
            <a:spLocks noGrp="1"/>
          </p:cNvSpPr>
          <p:nvPr>
            <p:ph sz="quarter" idx="1"/>
          </p:nvPr>
        </p:nvSpPr>
        <p:spPr/>
        <p:txBody>
          <a:bodyPr/>
          <a:lstStyle/>
          <a:p>
            <a:pPr marL="0" indent="0">
              <a:buNone/>
            </a:pPr>
            <a:r>
              <a:rPr lang="en-GB" sz="1800" dirty="0">
                <a:solidFill>
                  <a:srgbClr val="424142"/>
                </a:solidFill>
                <a:effectLst/>
                <a:latin typeface="Georgia" panose="02040502050405020303" pitchFamily="18" charset="0"/>
                <a:ea typeface="Times New Roman" panose="02020603050405020304" pitchFamily="18" charset="0"/>
              </a:rPr>
              <a:t>EIA is also categorised based on systematic analysis of</a:t>
            </a:r>
          </a:p>
          <a:p>
            <a:pPr marL="0" indent="0">
              <a:buNone/>
            </a:pPr>
            <a:r>
              <a:rPr lang="en-GB" sz="1800" dirty="0">
                <a:solidFill>
                  <a:srgbClr val="424142"/>
                </a:solidFill>
                <a:effectLst/>
                <a:latin typeface="Georgia" panose="02040502050405020303" pitchFamily="18" charset="0"/>
                <a:ea typeface="Times New Roman" panose="02020603050405020304" pitchFamily="18" charset="0"/>
              </a:rPr>
              <a:t>	 environmental parameters</a:t>
            </a:r>
          </a:p>
          <a:p>
            <a:pPr marL="0" indent="0">
              <a:buNone/>
            </a:pPr>
            <a:r>
              <a:rPr lang="en-GB" sz="1800" dirty="0">
                <a:solidFill>
                  <a:srgbClr val="424142"/>
                </a:solidFill>
                <a:effectLst/>
                <a:latin typeface="Georgia" panose="02040502050405020303" pitchFamily="18" charset="0"/>
                <a:ea typeface="Times New Roman" panose="02020603050405020304" pitchFamily="18" charset="0"/>
              </a:rPr>
              <a:t>	 geographical region</a:t>
            </a:r>
          </a:p>
          <a:p>
            <a:pPr marL="0" indent="0">
              <a:buNone/>
            </a:pPr>
            <a:r>
              <a:rPr lang="en-GB" sz="1800" dirty="0">
                <a:solidFill>
                  <a:srgbClr val="424142"/>
                </a:solidFill>
                <a:effectLst/>
                <a:latin typeface="Georgia" panose="02040502050405020303" pitchFamily="18" charset="0"/>
                <a:ea typeface="Times New Roman" panose="02020603050405020304" pitchFamily="18" charset="0"/>
              </a:rPr>
              <a:t>	 carrying capacity limitations and</a:t>
            </a:r>
          </a:p>
          <a:p>
            <a:pPr marL="0" indent="0">
              <a:buNone/>
            </a:pPr>
            <a:r>
              <a:rPr lang="en-GB" sz="1800" dirty="0">
                <a:solidFill>
                  <a:srgbClr val="424142"/>
                </a:solidFill>
                <a:effectLst/>
                <a:latin typeface="Georgia" panose="02040502050405020303" pitchFamily="18" charset="0"/>
                <a:ea typeface="Times New Roman" panose="02020603050405020304" pitchFamily="18" charset="0"/>
              </a:rPr>
              <a:t>	 sectoral planning.</a:t>
            </a:r>
          </a:p>
          <a:p>
            <a:pPr marL="0" indent="0">
              <a:buNone/>
            </a:pPr>
            <a:r>
              <a:rPr lang="en-GB" sz="1800" dirty="0">
                <a:solidFill>
                  <a:srgbClr val="424142"/>
                </a:solidFill>
                <a:effectLst/>
                <a:latin typeface="Georgia" panose="02040502050405020303" pitchFamily="18" charset="0"/>
                <a:ea typeface="Times New Roman" panose="02020603050405020304" pitchFamily="18" charset="0"/>
              </a:rPr>
              <a:t>They are </a:t>
            </a:r>
          </a:p>
          <a:p>
            <a:pPr marL="342900" indent="-342900">
              <a:buAutoNum type="arabicPeriod"/>
            </a:pPr>
            <a:r>
              <a:rPr lang="en-GB" sz="1800" dirty="0">
                <a:solidFill>
                  <a:srgbClr val="424142"/>
                </a:solidFill>
                <a:effectLst/>
                <a:latin typeface="Georgia" panose="02040502050405020303" pitchFamily="18" charset="0"/>
                <a:ea typeface="Times New Roman" panose="02020603050405020304" pitchFamily="18" charset="0"/>
              </a:rPr>
              <a:t>Strategic EIA</a:t>
            </a:r>
          </a:p>
          <a:p>
            <a:pPr marL="342900" indent="-342900">
              <a:buAutoNum type="arabicPeriod"/>
            </a:pPr>
            <a:r>
              <a:rPr lang="en-GB" sz="1800" dirty="0">
                <a:solidFill>
                  <a:srgbClr val="424142"/>
                </a:solidFill>
                <a:effectLst/>
                <a:latin typeface="Georgia" panose="02040502050405020303" pitchFamily="18" charset="0"/>
                <a:ea typeface="Times New Roman" panose="02020603050405020304" pitchFamily="18" charset="0"/>
              </a:rPr>
              <a:t>Regional EIA </a:t>
            </a:r>
          </a:p>
          <a:p>
            <a:pPr marL="342900" indent="-342900">
              <a:buAutoNum type="arabicPeriod"/>
            </a:pPr>
            <a:r>
              <a:rPr lang="en-GB" sz="1800" dirty="0">
                <a:solidFill>
                  <a:srgbClr val="424142"/>
                </a:solidFill>
                <a:effectLst/>
                <a:latin typeface="Georgia" panose="02040502050405020303" pitchFamily="18" charset="0"/>
                <a:ea typeface="Times New Roman" panose="02020603050405020304" pitchFamily="18" charset="0"/>
              </a:rPr>
              <a:t>Sectoral EIA </a:t>
            </a:r>
          </a:p>
          <a:p>
            <a:pPr marL="342900" indent="-342900">
              <a:buAutoNum type="arabicPeriod"/>
            </a:pPr>
            <a:r>
              <a:rPr lang="en-GB" sz="1800" dirty="0">
                <a:solidFill>
                  <a:srgbClr val="424142"/>
                </a:solidFill>
                <a:effectLst/>
                <a:latin typeface="Georgia" panose="02040502050405020303" pitchFamily="18" charset="0"/>
                <a:ea typeface="Times New Roman" panose="02020603050405020304" pitchFamily="18" charset="0"/>
              </a:rPr>
              <a:t>Project level EIA and </a:t>
            </a:r>
          </a:p>
          <a:p>
            <a:pPr marL="342900" indent="-342900">
              <a:buAutoNum type="arabicPeriod"/>
            </a:pPr>
            <a:r>
              <a:rPr lang="en-GB" sz="1800" dirty="0">
                <a:solidFill>
                  <a:srgbClr val="424142"/>
                </a:solidFill>
                <a:effectLst/>
                <a:latin typeface="Georgia" panose="02040502050405020303" pitchFamily="18" charset="0"/>
                <a:ea typeface="Times New Roman" panose="02020603050405020304" pitchFamily="18" charset="0"/>
              </a:rPr>
              <a:t>life cycle assessment.</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4244618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EAE93-8F48-E524-57D4-087DE768D53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Strategic EIA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772788-B710-73AC-DDAA-EF2B9597BBA4}"/>
              </a:ext>
            </a:extLst>
          </p:cNvPr>
          <p:cNvSpPr>
            <a:spLocks noGrp="1"/>
          </p:cNvSpPr>
          <p:nvPr>
            <p:ph sz="quarter" idx="1"/>
          </p:nvPr>
        </p:nvSpPr>
        <p:spPr/>
        <p:txBody>
          <a:bodyPr>
            <a:normAutofit/>
          </a:bodyPr>
          <a:lstStyle/>
          <a:p>
            <a:r>
              <a:rPr lang="en-GB" sz="1800" dirty="0">
                <a:solidFill>
                  <a:srgbClr val="424142"/>
                </a:solidFill>
                <a:effectLst/>
                <a:latin typeface="Georgia" panose="02040502050405020303" pitchFamily="18" charset="0"/>
                <a:ea typeface="Calibri" panose="020F0502020204030204" pitchFamily="34" charset="0"/>
                <a:cs typeface="Times New Roman" panose="02020603050405020304" pitchFamily="18" charset="0"/>
              </a:rPr>
              <a:t>Strategic EIA refers to systematic analysis of the environmental effects of development policies, plans, programs and other proposed strategic actions.</a:t>
            </a:r>
          </a:p>
          <a:p>
            <a:r>
              <a:rPr lang="en-GB" sz="1800" dirty="0">
                <a:solidFill>
                  <a:srgbClr val="424142"/>
                </a:solidFill>
                <a:effectLst/>
                <a:latin typeface="Georgia" panose="02040502050405020303" pitchFamily="18" charset="0"/>
                <a:ea typeface="Calibri" panose="020F0502020204030204" pitchFamily="34" charset="0"/>
                <a:cs typeface="Times New Roman" panose="02020603050405020304" pitchFamily="18" charset="0"/>
              </a:rPr>
              <a:t>This process extends the aims and principles of EIA upstream in the decision- making process, beyond the project level and when major alternatives are still open.</a:t>
            </a:r>
          </a:p>
          <a:p>
            <a:r>
              <a:rPr lang="en-GB" sz="1800" dirty="0">
                <a:solidFill>
                  <a:srgbClr val="424142"/>
                </a:solidFill>
                <a:effectLst/>
                <a:latin typeface="Georgia" panose="02040502050405020303" pitchFamily="18" charset="0"/>
                <a:ea typeface="Calibri" panose="020F0502020204030204" pitchFamily="34" charset="0"/>
                <a:cs typeface="Times New Roman" panose="02020603050405020304" pitchFamily="18" charset="0"/>
              </a:rPr>
              <a:t>Strategic EIA represents a proactive approach to integrate environmental considerations into the higher level of decision-making.</a:t>
            </a:r>
          </a:p>
          <a:p>
            <a:r>
              <a:rPr lang="en-US" sz="1800" dirty="0">
                <a:solidFill>
                  <a:srgbClr val="424142"/>
                </a:solidFill>
                <a:latin typeface="Georgia" panose="02040502050405020303" pitchFamily="18" charset="0"/>
                <a:cs typeface="Times New Roman" panose="02020603050405020304" pitchFamily="18" charset="0"/>
              </a:rPr>
              <a:t>The global scale of the ozone and climate change problems was a confirmation that environmental deterioration was accelerating, in spite of the international initiatives set in motion, initially by the Stockholm conference of 1972, and then by subsequent international forums.</a:t>
            </a:r>
            <a:endParaRPr lang="en-IN" sz="18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4058590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C0E39-D1E5-86A8-3F2A-B56AB9AEA1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10E2F78-6304-F040-F253-FBE1B8EBFDFF}"/>
              </a:ext>
            </a:extLst>
          </p:cNvPr>
          <p:cNvSpPr>
            <a:spLocks noGrp="1"/>
          </p:cNvSpPr>
          <p:nvPr>
            <p:ph sz="quarter" idx="1"/>
          </p:nvPr>
        </p:nvSpPr>
        <p:spPr/>
        <p:txBody>
          <a:bodyPr/>
          <a:lstStyle/>
          <a:p>
            <a:r>
              <a:rPr lang="en-US" sz="1800" dirty="0">
                <a:solidFill>
                  <a:srgbClr val="424142"/>
                </a:solidFill>
                <a:latin typeface="Georgia" panose="02040502050405020303" pitchFamily="18" charset="0"/>
                <a:cs typeface="Times New Roman" panose="02020603050405020304" pitchFamily="18" charset="0"/>
              </a:rPr>
              <a:t>By the late 1980s and early 1990s, experience of EIA over projects and regional plans led to the recognition that EIA of policies should be conducted on a strategic level.</a:t>
            </a:r>
          </a:p>
          <a:p>
            <a:r>
              <a:rPr lang="en-US" sz="1800" dirty="0">
                <a:solidFill>
                  <a:srgbClr val="424142"/>
                </a:solidFill>
                <a:latin typeface="Georgia" panose="02040502050405020303" pitchFamily="18" charset="0"/>
                <a:cs typeface="Times New Roman" panose="02020603050405020304" pitchFamily="18" charset="0"/>
              </a:rPr>
              <a:t>A strategic environmental assessment (SEA) makes an inquiry into the likely environmental changes (both positive and negative) resulting from the development produced by existing, new, or revised developmental policies, plans, and </a:t>
            </a:r>
            <a:r>
              <a:rPr lang="en-US" sz="1800" dirty="0" err="1">
                <a:solidFill>
                  <a:srgbClr val="424142"/>
                </a:solidFill>
                <a:latin typeface="Georgia" panose="02040502050405020303" pitchFamily="18" charset="0"/>
                <a:cs typeface="Times New Roman" panose="02020603050405020304" pitchFamily="18" charset="0"/>
              </a:rPr>
              <a:t>programmes</a:t>
            </a:r>
            <a:r>
              <a:rPr lang="en-US" sz="1800" dirty="0">
                <a:solidFill>
                  <a:srgbClr val="424142"/>
                </a:solidFill>
                <a:latin typeface="Georgia" panose="02040502050405020303" pitchFamily="18" charset="0"/>
                <a:cs typeface="Times New Roman" panose="02020603050405020304" pitchFamily="18" charset="0"/>
              </a:rPr>
              <a:t>.</a:t>
            </a:r>
          </a:p>
          <a:p>
            <a:r>
              <a:rPr lang="en-IN" sz="1800" dirty="0">
                <a:solidFill>
                  <a:srgbClr val="424142"/>
                </a:solidFill>
                <a:latin typeface="Georgia" panose="02040502050405020303" pitchFamily="18" charset="0"/>
                <a:cs typeface="Times New Roman" panose="02020603050405020304" pitchFamily="18" charset="0"/>
              </a:rPr>
              <a:t>Examples of SEA are:</a:t>
            </a:r>
          </a:p>
          <a:p>
            <a:pPr marL="0" indent="0">
              <a:buNone/>
            </a:pPr>
            <a:r>
              <a:rPr lang="en-US" sz="1800" dirty="0">
                <a:solidFill>
                  <a:srgbClr val="424142"/>
                </a:solidFill>
                <a:latin typeface="Georgia" panose="02040502050405020303" pitchFamily="18" charset="0"/>
                <a:cs typeface="Times New Roman" panose="02020603050405020304" pitchFamily="18" charset="0"/>
              </a:rPr>
              <a:t>	 policy of industrializing coastal belts;</a:t>
            </a:r>
            <a:endParaRPr lang="en-IN" sz="1800" dirty="0">
              <a:solidFill>
                <a:srgbClr val="424142"/>
              </a:solidFill>
              <a:latin typeface="Georgia" panose="02040502050405020303" pitchFamily="18" charset="0"/>
              <a:cs typeface="Times New Roman" panose="02020603050405020304" pitchFamily="18" charset="0"/>
            </a:endParaRPr>
          </a:p>
          <a:p>
            <a:pPr marL="0" indent="0">
              <a:buNone/>
            </a:pPr>
            <a:r>
              <a:rPr lang="en-US" sz="1800" dirty="0">
                <a:solidFill>
                  <a:srgbClr val="424142"/>
                </a:solidFill>
                <a:latin typeface="Georgia" panose="02040502050405020303" pitchFamily="18" charset="0"/>
                <a:cs typeface="Times New Roman" panose="02020603050405020304" pitchFamily="18" charset="0"/>
              </a:rPr>
              <a:t>	policy of depending on hydropower rather than on thermal power 	on a national basis;</a:t>
            </a:r>
            <a:endParaRPr lang="en-IN" sz="18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2255301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87A65B-C61D-387B-CE6A-5D86BB588B17}"/>
              </a:ext>
            </a:extLst>
          </p:cNvPr>
          <p:cNvSpPr>
            <a:spLocks noGrp="1"/>
          </p:cNvSpPr>
          <p:nvPr>
            <p:ph sz="quarter" idx="1"/>
          </p:nvPr>
        </p:nvSpPr>
        <p:spPr>
          <a:xfrm>
            <a:off x="914400" y="1143000"/>
            <a:ext cx="7772400" cy="5029200"/>
          </a:xfrm>
        </p:spPr>
        <p:txBody>
          <a:bodyPr>
            <a:normAutofit fontScale="92500" lnSpcReduction="10000"/>
          </a:bodyPr>
          <a:lstStyle/>
          <a:p>
            <a:pPr marL="0" indent="0" algn="just">
              <a:buNone/>
            </a:pPr>
            <a:r>
              <a:rPr lang="en-US" sz="2300" dirty="0">
                <a:solidFill>
                  <a:srgbClr val="424142"/>
                </a:solidFill>
                <a:latin typeface="Times New Roman" panose="02020603050405020304" pitchFamily="18" charset="0"/>
                <a:cs typeface="Times New Roman" panose="02020603050405020304" pitchFamily="18" charset="0"/>
              </a:rPr>
              <a:t>The main steps of an SIA are similar to those for EIA but are applied to the PPP(policy, planning and program) level. There is no one method for conducting an SIA and as such, each SIA process will be different. In general, however, the key steps include:</a:t>
            </a:r>
          </a:p>
          <a:p>
            <a:pPr marL="0" indent="0" algn="just">
              <a:buNone/>
            </a:pPr>
            <a:endParaRPr lang="en-US" sz="2300" dirty="0">
              <a:solidFill>
                <a:srgbClr val="424142"/>
              </a:solidFill>
              <a:latin typeface="Times New Roman" panose="02020603050405020304" pitchFamily="18" charset="0"/>
              <a:cs typeface="Times New Roman" panose="02020603050405020304" pitchFamily="18" charset="0"/>
            </a:endParaRPr>
          </a:p>
          <a:p>
            <a:pPr algn="just"/>
            <a:r>
              <a:rPr lang="en-US" sz="2300" dirty="0">
                <a:solidFill>
                  <a:srgbClr val="424142"/>
                </a:solidFill>
                <a:latin typeface="Times New Roman" panose="02020603050405020304" pitchFamily="18" charset="0"/>
                <a:cs typeface="Times New Roman" panose="02020603050405020304" pitchFamily="18" charset="0"/>
              </a:rPr>
              <a:t>Screening - is an SIA is required (e.g., legislation, policies, requirements etc.), what type of SIA is needed, when is it required.</a:t>
            </a:r>
          </a:p>
          <a:p>
            <a:pPr algn="just"/>
            <a:endParaRPr lang="en-US" sz="2300" dirty="0">
              <a:solidFill>
                <a:srgbClr val="424142"/>
              </a:solidFill>
              <a:latin typeface="Times New Roman" panose="02020603050405020304" pitchFamily="18" charset="0"/>
              <a:cs typeface="Times New Roman" panose="02020603050405020304" pitchFamily="18" charset="0"/>
            </a:endParaRPr>
          </a:p>
          <a:p>
            <a:pPr algn="just"/>
            <a:r>
              <a:rPr lang="en-US" sz="2300" dirty="0">
                <a:solidFill>
                  <a:srgbClr val="424142"/>
                </a:solidFill>
                <a:latin typeface="Times New Roman" panose="02020603050405020304" pitchFamily="18" charset="0"/>
                <a:cs typeface="Times New Roman" panose="02020603050405020304" pitchFamily="18" charset="0"/>
              </a:rPr>
              <a:t>Scoping - what is the aim of the PPP, are there any significant strategic issues, who are the stakeholders, what is the current state of the environment.</a:t>
            </a:r>
          </a:p>
          <a:p>
            <a:pPr algn="just"/>
            <a:endParaRPr lang="en-US" sz="2300" dirty="0">
              <a:solidFill>
                <a:srgbClr val="424142"/>
              </a:solidFill>
              <a:latin typeface="Times New Roman" panose="02020603050405020304" pitchFamily="18" charset="0"/>
              <a:cs typeface="Times New Roman" panose="02020603050405020304" pitchFamily="18" charset="0"/>
            </a:endParaRPr>
          </a:p>
          <a:p>
            <a:pPr algn="just"/>
            <a:r>
              <a:rPr lang="en-US" sz="2300" dirty="0">
                <a:solidFill>
                  <a:srgbClr val="424142"/>
                </a:solidFill>
                <a:latin typeface="Times New Roman" panose="02020603050405020304" pitchFamily="18" charset="0"/>
                <a:cs typeface="Times New Roman" panose="02020603050405020304" pitchFamily="18" charset="0"/>
              </a:rPr>
              <a:t>Impact assessment - identify all inputs into the SIA, constraints, project impacts, opportunities and trends, develop objectives, criteria and indicators.</a:t>
            </a:r>
          </a:p>
          <a:p>
            <a:endParaRPr lang="en-IN" dirty="0"/>
          </a:p>
        </p:txBody>
      </p:sp>
    </p:spTree>
    <p:extLst>
      <p:ext uri="{BB962C8B-B14F-4D97-AF65-F5344CB8AC3E}">
        <p14:creationId xmlns:p14="http://schemas.microsoft.com/office/powerpoint/2010/main" val="374423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61988-8C7C-AD62-3A33-6730BF8F8D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B83F043-6537-7621-3234-E65388BE92E8}"/>
              </a:ext>
            </a:extLst>
          </p:cNvPr>
          <p:cNvSpPr>
            <a:spLocks noGrp="1"/>
          </p:cNvSpPr>
          <p:nvPr>
            <p:ph sz="quarter" idx="1"/>
          </p:nvPr>
        </p:nvSpPr>
        <p:spPr/>
        <p:txBody>
          <a:bodyPr/>
          <a:lstStyle/>
          <a:p>
            <a:pPr>
              <a:lnSpc>
                <a:spcPct val="80000"/>
              </a:lnSpc>
            </a:pPr>
            <a:r>
              <a:rPr lang="en-US" sz="1800" dirty="0">
                <a:solidFill>
                  <a:srgbClr val="424142"/>
                </a:solidFill>
                <a:latin typeface="Georgia" panose="02040502050405020303" pitchFamily="18" charset="0"/>
                <a:cs typeface="Times New Roman" panose="02020603050405020304" pitchFamily="18" charset="0"/>
              </a:rPr>
              <a:t>Developing parameters, principles or guidelines - these are used to guide the SIA process and can include recommendations on addressing environmental or socio-economic impacts.</a:t>
            </a:r>
          </a:p>
          <a:p>
            <a:pPr>
              <a:lnSpc>
                <a:spcPct val="80000"/>
              </a:lnSpc>
            </a:pPr>
            <a:endParaRPr lang="en-US" sz="1800" dirty="0">
              <a:solidFill>
                <a:srgbClr val="424142"/>
              </a:solidFill>
              <a:latin typeface="Georgia" panose="02040502050405020303" pitchFamily="18" charset="0"/>
              <a:cs typeface="Times New Roman" panose="02020603050405020304" pitchFamily="18" charset="0"/>
            </a:endParaRPr>
          </a:p>
          <a:p>
            <a:pPr>
              <a:lnSpc>
                <a:spcPct val="80000"/>
              </a:lnSpc>
            </a:pPr>
            <a:r>
              <a:rPr lang="en-US" sz="1800" dirty="0">
                <a:solidFill>
                  <a:srgbClr val="424142"/>
                </a:solidFill>
                <a:latin typeface="Georgia" panose="02040502050405020303" pitchFamily="18" charset="0"/>
                <a:cs typeface="Times New Roman" panose="02020603050405020304" pitchFamily="18" charset="0"/>
              </a:rPr>
              <a:t>Comparing and evaluating alternative PPPs - preferred alternative/s selected, trade-offs made, public participation sought.</a:t>
            </a:r>
          </a:p>
          <a:p>
            <a:pPr>
              <a:lnSpc>
                <a:spcPct val="80000"/>
              </a:lnSpc>
            </a:pPr>
            <a:endParaRPr lang="en-US" sz="1800" dirty="0">
              <a:solidFill>
                <a:srgbClr val="424142"/>
              </a:solidFill>
              <a:latin typeface="Georgia" panose="02040502050405020303" pitchFamily="18" charset="0"/>
              <a:cs typeface="Times New Roman" panose="02020603050405020304" pitchFamily="18" charset="0"/>
            </a:endParaRPr>
          </a:p>
          <a:p>
            <a:pPr>
              <a:lnSpc>
                <a:spcPct val="80000"/>
              </a:lnSpc>
            </a:pPr>
            <a:r>
              <a:rPr lang="en-US" sz="1800" dirty="0">
                <a:solidFill>
                  <a:srgbClr val="424142"/>
                </a:solidFill>
                <a:latin typeface="Georgia" panose="02040502050405020303" pitchFamily="18" charset="0"/>
                <a:cs typeface="Times New Roman" panose="02020603050405020304" pitchFamily="18" charset="0"/>
              </a:rPr>
              <a:t>Decision-making - responsibilities and accountabilities assigned, SIA process is checked, final decision documented.</a:t>
            </a:r>
          </a:p>
          <a:p>
            <a:pPr>
              <a:lnSpc>
                <a:spcPct val="80000"/>
              </a:lnSpc>
            </a:pPr>
            <a:endParaRPr lang="en-US" sz="1800" dirty="0">
              <a:solidFill>
                <a:srgbClr val="424142"/>
              </a:solidFill>
              <a:latin typeface="Georgia" panose="02040502050405020303" pitchFamily="18" charset="0"/>
              <a:cs typeface="Times New Roman" panose="02020603050405020304" pitchFamily="18" charset="0"/>
            </a:endParaRPr>
          </a:p>
          <a:p>
            <a:pPr>
              <a:lnSpc>
                <a:spcPct val="80000"/>
              </a:lnSpc>
            </a:pPr>
            <a:r>
              <a:rPr lang="en-US" sz="1800" dirty="0">
                <a:solidFill>
                  <a:srgbClr val="424142"/>
                </a:solidFill>
                <a:latin typeface="Georgia" panose="02040502050405020303" pitchFamily="18" charset="0"/>
                <a:cs typeface="Times New Roman" panose="02020603050405020304" pitchFamily="18" charset="0"/>
              </a:rPr>
              <a:t>Monitoring and review - develop an implementation plan, begin monitoring and review of the project.</a:t>
            </a:r>
          </a:p>
          <a:p>
            <a:pPr>
              <a:lnSpc>
                <a:spcPct val="80000"/>
              </a:lnSpc>
            </a:pPr>
            <a:endParaRPr lang="en-US" sz="1800" dirty="0">
              <a:solidFill>
                <a:srgbClr val="424142"/>
              </a:solidFill>
              <a:latin typeface="Georgia" panose="02040502050405020303" pitchFamily="18" charset="0"/>
              <a:cs typeface="Times New Roman" panose="02020603050405020304" pitchFamily="18" charset="0"/>
            </a:endParaRPr>
          </a:p>
          <a:p>
            <a:pPr>
              <a:lnSpc>
                <a:spcPct val="80000"/>
              </a:lnSpc>
            </a:pPr>
            <a:r>
              <a:rPr lang="en-US" sz="1800" dirty="0">
                <a:solidFill>
                  <a:srgbClr val="424142"/>
                </a:solidFill>
                <a:latin typeface="Georgia" panose="02040502050405020303" pitchFamily="18" charset="0"/>
                <a:cs typeface="Times New Roman" panose="02020603050405020304" pitchFamily="18" charset="0"/>
              </a:rPr>
              <a:t>Implement the selected proposal.</a:t>
            </a:r>
          </a:p>
          <a:p>
            <a:endParaRPr lang="en-IN" dirty="0"/>
          </a:p>
        </p:txBody>
      </p:sp>
    </p:spTree>
    <p:extLst>
      <p:ext uri="{BB962C8B-B14F-4D97-AF65-F5344CB8AC3E}">
        <p14:creationId xmlns:p14="http://schemas.microsoft.com/office/powerpoint/2010/main" val="115668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EB671-B31F-4FF1-89B2-AF5616308E94}"/>
              </a:ext>
            </a:extLst>
          </p:cNvPr>
          <p:cNvSpPr>
            <a:spLocks noGrp="1"/>
          </p:cNvSpPr>
          <p:nvPr>
            <p:ph type="title"/>
          </p:nvPr>
        </p:nvSpPr>
        <p:spPr/>
        <p:txBody>
          <a:bodyPr/>
          <a:lstStyle/>
          <a:p>
            <a:r>
              <a:rPr lang="en-GB" sz="2800" b="1" dirty="0">
                <a:latin typeface="Times New Roman" panose="02020603050405020304" pitchFamily="18" charset="0"/>
                <a:cs typeface="Times New Roman" panose="02020603050405020304" pitchFamily="18" charset="0"/>
              </a:rPr>
              <a:t>Regional EIA</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5290CA2-A10B-5634-108A-85711907DA0D}"/>
              </a:ext>
            </a:extLst>
          </p:cNvPr>
          <p:cNvSpPr>
            <a:spLocks noGrp="1"/>
          </p:cNvSpPr>
          <p:nvPr>
            <p:ph sz="quarter" idx="1"/>
          </p:nvPr>
        </p:nvSpPr>
        <p:spPr>
          <a:xfrm>
            <a:off x="914400" y="1371600"/>
            <a:ext cx="7772400" cy="5105400"/>
          </a:xfrm>
        </p:spPr>
        <p:txBody>
          <a:bodyPr>
            <a:normAutofit/>
          </a:bodyPr>
          <a:lstStyle/>
          <a:p>
            <a:pPr algn="just">
              <a:lnSpc>
                <a:spcPct val="90000"/>
              </a:lnSpc>
            </a:pPr>
            <a:r>
              <a:rPr lang="en-GB" sz="1800" dirty="0">
                <a:solidFill>
                  <a:srgbClr val="424142"/>
                </a:solidFill>
                <a:latin typeface="Georgia" panose="02040502050405020303" pitchFamily="18" charset="0"/>
                <a:cs typeface="Times New Roman" panose="02020603050405020304" pitchFamily="18" charset="0"/>
              </a:rPr>
              <a:t>EIA in the context of regional planning integrates environmental concerns into development planning for a geographic region, normally at the sub- country level.</a:t>
            </a:r>
          </a:p>
          <a:p>
            <a:pPr algn="just">
              <a:lnSpc>
                <a:spcPct val="90000"/>
              </a:lnSpc>
            </a:pPr>
            <a:r>
              <a:rPr lang="en-US" sz="1800" dirty="0">
                <a:solidFill>
                  <a:srgbClr val="424142"/>
                </a:solidFill>
                <a:latin typeface="Georgia" panose="02040502050405020303" pitchFamily="18" charset="0"/>
                <a:cs typeface="Times New Roman" panose="02020603050405020304" pitchFamily="18" charset="0"/>
              </a:rPr>
              <a:t>The scope and level of EIA need to be expanded further when regional plans and developments are to be considered. An EIA can thus be performed at various levels depending on the scale of a development activity.</a:t>
            </a:r>
            <a:endParaRPr lang="en-GB" sz="1800" dirty="0">
              <a:solidFill>
                <a:srgbClr val="424142"/>
              </a:solidFill>
              <a:latin typeface="Georgia" panose="02040502050405020303" pitchFamily="18" charset="0"/>
              <a:cs typeface="Times New Roman" panose="02020603050405020304" pitchFamily="18" charset="0"/>
            </a:endParaRPr>
          </a:p>
          <a:p>
            <a:pPr algn="just">
              <a:lnSpc>
                <a:spcPct val="90000"/>
              </a:lnSpc>
            </a:pPr>
            <a:endParaRPr lang="en-GB" sz="1800" dirty="0">
              <a:solidFill>
                <a:srgbClr val="424142"/>
              </a:solidFill>
              <a:latin typeface="Georgia" panose="02040502050405020303" pitchFamily="18" charset="0"/>
              <a:cs typeface="Times New Roman" panose="02020603050405020304" pitchFamily="18" charset="0"/>
            </a:endParaRPr>
          </a:p>
          <a:p>
            <a:pPr algn="just">
              <a:lnSpc>
                <a:spcPct val="90000"/>
              </a:lnSpc>
            </a:pPr>
            <a:r>
              <a:rPr lang="en-US" sz="1800" dirty="0">
                <a:solidFill>
                  <a:srgbClr val="424142"/>
                </a:solidFill>
                <a:latin typeface="Georgia" panose="02040502050405020303" pitchFamily="18" charset="0"/>
                <a:cs typeface="Times New Roman" panose="02020603050405020304" pitchFamily="18" charset="0"/>
              </a:rPr>
              <a:t>Regional EIA is a comprehensive EIA conducted for a particular region to establish the baseline Environmental status and also to assess the assimilative capacity of the region. </a:t>
            </a:r>
          </a:p>
          <a:p>
            <a:pPr algn="just">
              <a:lnSpc>
                <a:spcPct val="90000"/>
              </a:lnSpc>
            </a:pPr>
            <a:endParaRPr lang="en-GB" sz="1800" dirty="0">
              <a:solidFill>
                <a:srgbClr val="424142"/>
              </a:solidFill>
              <a:latin typeface="Georgia" panose="02040502050405020303" pitchFamily="18" charset="0"/>
              <a:cs typeface="Times New Roman" panose="02020603050405020304" pitchFamily="18" charset="0"/>
            </a:endParaRPr>
          </a:p>
          <a:p>
            <a:pPr algn="just">
              <a:lnSpc>
                <a:spcPct val="90000"/>
              </a:lnSpc>
            </a:pPr>
            <a:r>
              <a:rPr lang="en-GB" sz="1800" dirty="0">
                <a:solidFill>
                  <a:srgbClr val="424142"/>
                </a:solidFill>
                <a:latin typeface="Georgia" panose="02040502050405020303" pitchFamily="18" charset="0"/>
                <a:cs typeface="Times New Roman" panose="02020603050405020304" pitchFamily="18" charset="0"/>
              </a:rPr>
              <a:t>Such an approach is referred to as the economic-cum- environmental (</a:t>
            </a:r>
            <a:r>
              <a:rPr lang="en-GB" sz="1800" dirty="0" err="1">
                <a:solidFill>
                  <a:srgbClr val="424142"/>
                </a:solidFill>
                <a:latin typeface="Georgia" panose="02040502050405020303" pitchFamily="18" charset="0"/>
                <a:cs typeface="Times New Roman" panose="02020603050405020304" pitchFamily="18" charset="0"/>
              </a:rPr>
              <a:t>EcE</a:t>
            </a:r>
            <a:r>
              <a:rPr lang="en-GB" sz="1800" dirty="0">
                <a:solidFill>
                  <a:srgbClr val="424142"/>
                </a:solidFill>
                <a:latin typeface="Georgia" panose="02040502050405020303" pitchFamily="18" charset="0"/>
                <a:cs typeface="Times New Roman" panose="02020603050405020304" pitchFamily="18" charset="0"/>
              </a:rPr>
              <a:t>) development planning. </a:t>
            </a:r>
          </a:p>
          <a:p>
            <a:pPr algn="just">
              <a:lnSpc>
                <a:spcPct val="90000"/>
              </a:lnSpc>
            </a:pPr>
            <a:endParaRPr lang="en-GB" sz="1800" dirty="0">
              <a:solidFill>
                <a:srgbClr val="424142"/>
              </a:solidFill>
              <a:latin typeface="Georgia" panose="02040502050405020303" pitchFamily="18" charset="0"/>
              <a:cs typeface="Times New Roman" panose="02020603050405020304" pitchFamily="18" charset="0"/>
            </a:endParaRPr>
          </a:p>
          <a:p>
            <a:pPr algn="just">
              <a:lnSpc>
                <a:spcPct val="90000"/>
              </a:lnSpc>
            </a:pPr>
            <a:r>
              <a:rPr lang="en-GB" sz="1800" dirty="0">
                <a:solidFill>
                  <a:srgbClr val="424142"/>
                </a:solidFill>
                <a:latin typeface="Georgia" panose="02040502050405020303" pitchFamily="18" charset="0"/>
                <a:cs typeface="Times New Roman" panose="02020603050405020304" pitchFamily="18" charset="0"/>
              </a:rPr>
              <a:t>This approach facilitates adequate integration of economic development with management of renewable natural resources within the carrying capacity limitation to achieve sustainable development.</a:t>
            </a:r>
          </a:p>
          <a:p>
            <a:pPr marL="0" indent="0">
              <a:buNone/>
            </a:pPr>
            <a:endParaRPr lang="en-GB" sz="1800" dirty="0">
              <a:solidFill>
                <a:srgbClr val="424142"/>
              </a:solidFill>
              <a:effectLst/>
              <a:latin typeface="Georgia" panose="02040502050405020303" pitchFamily="18" charset="0"/>
              <a:ea typeface="Times New Roman" panose="02020603050405020304" pitchFamily="18" charset="0"/>
            </a:endParaRPr>
          </a:p>
          <a:p>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1821713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BA1C4-866F-9872-6A3A-E4CE8484CF6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832C88-4596-A5F3-BEB5-2EF6A90F151A}"/>
              </a:ext>
            </a:extLst>
          </p:cNvPr>
          <p:cNvSpPr>
            <a:spLocks noGrp="1"/>
          </p:cNvSpPr>
          <p:nvPr>
            <p:ph sz="quarter" idx="1"/>
          </p:nvPr>
        </p:nvSpPr>
        <p:spPr/>
        <p:txBody>
          <a:bodyPr>
            <a:normAutofit/>
          </a:bodyPr>
          <a:lstStyle/>
          <a:p>
            <a:pPr algn="just">
              <a:lnSpc>
                <a:spcPct val="110000"/>
              </a:lnSpc>
            </a:pPr>
            <a:r>
              <a:rPr lang="en-GB" sz="1800" dirty="0">
                <a:solidFill>
                  <a:srgbClr val="424142"/>
                </a:solidFill>
                <a:latin typeface="Georgia" panose="02040502050405020303" pitchFamily="18" charset="0"/>
                <a:cs typeface="Times New Roman" panose="02020603050405020304" pitchFamily="18" charset="0"/>
              </a:rPr>
              <a:t>Regional EIA addresses the environmental impacts of regional development plans and thus, the context for project-level EIA of the subsequent projects, within the region.</a:t>
            </a:r>
          </a:p>
          <a:p>
            <a:pPr algn="just">
              <a:lnSpc>
                <a:spcPct val="110000"/>
              </a:lnSpc>
            </a:pPr>
            <a:endParaRPr lang="en-GB" sz="1800" dirty="0">
              <a:solidFill>
                <a:srgbClr val="424142"/>
              </a:solidFill>
              <a:latin typeface="Georgia" panose="02040502050405020303" pitchFamily="18" charset="0"/>
              <a:cs typeface="Times New Roman" panose="02020603050405020304" pitchFamily="18" charset="0"/>
            </a:endParaRPr>
          </a:p>
          <a:p>
            <a:pPr algn="just">
              <a:lnSpc>
                <a:spcPct val="110000"/>
              </a:lnSpc>
            </a:pPr>
            <a:r>
              <a:rPr lang="en-US" sz="1800" dirty="0">
                <a:solidFill>
                  <a:srgbClr val="424142"/>
                </a:solidFill>
                <a:latin typeface="Georgia" panose="02040502050405020303" pitchFamily="18" charset="0"/>
                <a:cs typeface="Times New Roman" panose="02020603050405020304" pitchFamily="18" charset="0"/>
              </a:rPr>
              <a:t>Regional EIA's may be used where a number of similar but significant development activities with potentially cumulative impact are planned for a reasonably localized area. In such cases, regional EIA are generally more efficient than a series of project specific EIA's.</a:t>
            </a:r>
            <a:endParaRPr lang="en-GB" sz="1800" dirty="0">
              <a:solidFill>
                <a:srgbClr val="424142"/>
              </a:solidFill>
              <a:latin typeface="Georgia" panose="02040502050405020303" pitchFamily="18" charset="0"/>
              <a:cs typeface="Times New Roman" panose="02020603050405020304" pitchFamily="18" charset="0"/>
            </a:endParaRPr>
          </a:p>
          <a:p>
            <a:pPr algn="just">
              <a:lnSpc>
                <a:spcPct val="110000"/>
              </a:lnSpc>
            </a:pPr>
            <a:endParaRPr lang="en-US" sz="1800" dirty="0">
              <a:solidFill>
                <a:srgbClr val="424142"/>
              </a:solidFill>
              <a:latin typeface="Georgia" panose="02040502050405020303" pitchFamily="18" charset="0"/>
              <a:cs typeface="Times New Roman" panose="02020603050405020304" pitchFamily="18" charset="0"/>
            </a:endParaRPr>
          </a:p>
          <a:p>
            <a:pPr algn="just">
              <a:lnSpc>
                <a:spcPct val="110000"/>
              </a:lnSpc>
            </a:pPr>
            <a:r>
              <a:rPr lang="en-US" sz="1800" dirty="0">
                <a:solidFill>
                  <a:srgbClr val="424142"/>
                </a:solidFill>
                <a:latin typeface="Georgia" panose="02040502050405020303" pitchFamily="18" charset="0"/>
                <a:cs typeface="Times New Roman" panose="02020603050405020304" pitchFamily="18" charset="0"/>
              </a:rPr>
              <a:t>In a large industrial estate, for example, while the individual industrial emissions may be within tolerance limits, the cumulative effects of the emissions can lead to a serious deterioration of the regional air quality.</a:t>
            </a:r>
            <a:endParaRPr lang="en-IN" sz="18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3649451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8AFC-767F-0465-C3C7-2C3240688DBB}"/>
              </a:ext>
            </a:extLst>
          </p:cNvPr>
          <p:cNvSpPr>
            <a:spLocks noGrp="1"/>
          </p:cNvSpPr>
          <p:nvPr>
            <p:ph type="title"/>
          </p:nvPr>
        </p:nvSpPr>
        <p:spPr/>
        <p:txBody>
          <a:bodyPr/>
          <a:lstStyle/>
          <a:p>
            <a:r>
              <a:rPr lang="en-GB" sz="2800" b="1" dirty="0">
                <a:latin typeface="Times New Roman" panose="02020603050405020304" pitchFamily="18" charset="0"/>
                <a:cs typeface="Times New Roman" panose="02020603050405020304" pitchFamily="18" charset="0"/>
              </a:rPr>
              <a:t>Sectoral EIA</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7886AE3-B1D8-7BFD-67CF-34947F0CC63C}"/>
              </a:ext>
            </a:extLst>
          </p:cNvPr>
          <p:cNvSpPr>
            <a:spLocks noGrp="1"/>
          </p:cNvSpPr>
          <p:nvPr>
            <p:ph sz="quarter" idx="1"/>
          </p:nvPr>
        </p:nvSpPr>
        <p:spPr/>
        <p:txBody>
          <a:bodyPr>
            <a:normAutofit lnSpcReduction="10000"/>
          </a:bodyPr>
          <a:lstStyle/>
          <a:p>
            <a:pPr algn="just"/>
            <a:r>
              <a:rPr lang="en-GB" sz="1800" dirty="0">
                <a:solidFill>
                  <a:srgbClr val="424142"/>
                </a:solidFill>
                <a:effectLst/>
                <a:latin typeface="Georgia" panose="02040502050405020303" pitchFamily="18" charset="0"/>
                <a:ea typeface="Calibri" panose="020F0502020204030204" pitchFamily="34" charset="0"/>
                <a:cs typeface="Times New Roman" panose="02020603050405020304" pitchFamily="18" charset="0"/>
              </a:rPr>
              <a:t>Sectoral EIA will help to address specific environmental problems that may be encountered in planning and implementing sectoral development projects</a:t>
            </a:r>
          </a:p>
          <a:p>
            <a:pPr marL="0" indent="0" algn="just">
              <a:buNone/>
            </a:pPr>
            <a:endParaRPr lang="en-GB" sz="1800" dirty="0">
              <a:solidFill>
                <a:srgbClr val="424142"/>
              </a:solidFill>
              <a:effectLst/>
              <a:latin typeface="Georgia" panose="02040502050405020303" pitchFamily="18" charset="0"/>
              <a:ea typeface="Calibri" panose="020F0502020204030204" pitchFamily="34" charset="0"/>
              <a:cs typeface="Times New Roman" panose="02020603050405020304" pitchFamily="18" charset="0"/>
            </a:endParaRPr>
          </a:p>
          <a:p>
            <a:pPr algn="just"/>
            <a:r>
              <a:rPr lang="en-US" sz="1800" dirty="0">
                <a:solidFill>
                  <a:srgbClr val="424142"/>
                </a:solidFill>
                <a:latin typeface="Georgia" panose="02040502050405020303" pitchFamily="18" charset="0"/>
                <a:cs typeface="Times New Roman" panose="02020603050405020304" pitchFamily="18" charset="0"/>
              </a:rPr>
              <a:t>Sector EIA's are used for the design of sector investment programs. </a:t>
            </a:r>
          </a:p>
          <a:p>
            <a:pPr marL="0" indent="0" algn="just">
              <a:buNone/>
            </a:pPr>
            <a:endParaRPr lang="en-US" sz="1800" dirty="0">
              <a:solidFill>
                <a:srgbClr val="424142"/>
              </a:solidFill>
              <a:latin typeface="Georgia" panose="02040502050405020303" pitchFamily="18" charset="0"/>
              <a:cs typeface="Times New Roman" panose="02020603050405020304" pitchFamily="18" charset="0"/>
            </a:endParaRPr>
          </a:p>
          <a:p>
            <a:pPr algn="just"/>
            <a:r>
              <a:rPr lang="en-US" sz="1800" dirty="0">
                <a:solidFill>
                  <a:srgbClr val="424142"/>
                </a:solidFill>
                <a:latin typeface="Georgia" panose="02040502050405020303" pitchFamily="18" charset="0"/>
                <a:cs typeface="Times New Roman" panose="02020603050405020304" pitchFamily="18" charset="0"/>
              </a:rPr>
              <a:t>They are particularly suitable for reviewing (a) sector investment alternatives (b) the effect of sector policy changes (c) institutional capacities and requirements for environmental review implementation and monitoring at the sectoral level</a:t>
            </a:r>
          </a:p>
          <a:p>
            <a:pPr marL="0" indent="0" algn="just">
              <a:buNone/>
            </a:pPr>
            <a:endParaRPr lang="en-US" sz="1800" dirty="0">
              <a:solidFill>
                <a:srgbClr val="424142"/>
              </a:solidFill>
              <a:latin typeface="Georgia" panose="02040502050405020303" pitchFamily="18" charset="0"/>
              <a:cs typeface="Times New Roman" panose="02020603050405020304" pitchFamily="18" charset="0"/>
            </a:endParaRPr>
          </a:p>
          <a:p>
            <a:pPr algn="just"/>
            <a:r>
              <a:rPr lang="en-US" sz="1800" dirty="0">
                <a:solidFill>
                  <a:srgbClr val="424142"/>
                </a:solidFill>
                <a:latin typeface="Georgia" panose="02040502050405020303" pitchFamily="18" charset="0"/>
                <a:cs typeface="Times New Roman" panose="02020603050405020304" pitchFamily="18" charset="0"/>
              </a:rPr>
              <a:t>Sectoral EIA should also have the objective of strengthening the environmental management capability of the several or other relevant agencies. Sectoral EIA's, may overlap with regional EIA's</a:t>
            </a:r>
            <a:br>
              <a:rPr lang="en-US" sz="1800" dirty="0">
                <a:solidFill>
                  <a:srgbClr val="424142"/>
                </a:solidFill>
                <a:latin typeface="Georgia" panose="02040502050405020303" pitchFamily="18" charset="0"/>
                <a:cs typeface="Times New Roman" panose="02020603050405020304" pitchFamily="18" charset="0"/>
              </a:rPr>
            </a:br>
            <a:endParaRPr lang="en-IN" sz="18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1690232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BB609-AE74-4F7F-7BDA-A27434F643B6}"/>
              </a:ext>
            </a:extLst>
          </p:cNvPr>
          <p:cNvSpPr>
            <a:spLocks noGrp="1"/>
          </p:cNvSpPr>
          <p:nvPr>
            <p:ph type="title"/>
          </p:nvPr>
        </p:nvSpPr>
        <p:spPr/>
        <p:txBody>
          <a:bodyPr>
            <a:normAutofit/>
          </a:bodyPr>
          <a:lstStyle/>
          <a:p>
            <a:r>
              <a:rPr lang="en-GB" sz="2800" b="1" dirty="0">
                <a:latin typeface="Times New Roman" panose="02020603050405020304" pitchFamily="18" charset="0"/>
                <a:cs typeface="Times New Roman" panose="02020603050405020304" pitchFamily="18" charset="0"/>
              </a:rPr>
              <a:t>Project Level EIA</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E62AA35-17FC-897F-1634-53FE87C33196}"/>
              </a:ext>
            </a:extLst>
          </p:cNvPr>
          <p:cNvSpPr>
            <a:spLocks noGrp="1"/>
          </p:cNvSpPr>
          <p:nvPr>
            <p:ph sz="quarter" idx="1"/>
          </p:nvPr>
        </p:nvSpPr>
        <p:spPr/>
        <p:txBody>
          <a:bodyPr/>
          <a:lstStyle/>
          <a:p>
            <a:r>
              <a:rPr lang="en-GB" sz="1800" dirty="0">
                <a:solidFill>
                  <a:srgbClr val="424142"/>
                </a:solidFill>
                <a:latin typeface="Georgia" panose="02040502050405020303" pitchFamily="18" charset="0"/>
                <a:cs typeface="Times New Roman" panose="02020603050405020304" pitchFamily="18" charset="0"/>
              </a:rPr>
              <a:t>Project level EIA refers to the developmental activity in isolation and the impacts that it exerts on the receiving environment.</a:t>
            </a:r>
          </a:p>
          <a:p>
            <a:pPr marL="0" indent="0">
              <a:buNone/>
            </a:pPr>
            <a:endParaRPr lang="en-GB" sz="1800" dirty="0">
              <a:solidFill>
                <a:srgbClr val="424142"/>
              </a:solidFill>
              <a:latin typeface="Georgia" panose="02040502050405020303" pitchFamily="18" charset="0"/>
              <a:cs typeface="Times New Roman" panose="02020603050405020304" pitchFamily="18" charset="0"/>
            </a:endParaRPr>
          </a:p>
          <a:p>
            <a:r>
              <a:rPr lang="en-US" sz="1800" dirty="0">
                <a:solidFill>
                  <a:srgbClr val="424142"/>
                </a:solidFill>
                <a:latin typeface="Georgia" panose="02040502050405020303" pitchFamily="18" charset="0"/>
                <a:cs typeface="Times New Roman" panose="02020603050405020304" pitchFamily="18" charset="0"/>
              </a:rPr>
              <a:t>In many countries in the world where EIA is in place, developmental projects such as construction of highways and expressways, ports and </a:t>
            </a:r>
            <a:r>
              <a:rPr lang="en-US" sz="1800" dirty="0" smtClean="0">
                <a:solidFill>
                  <a:srgbClr val="424142"/>
                </a:solidFill>
                <a:latin typeface="Georgia" panose="02040502050405020303" pitchFamily="18" charset="0"/>
                <a:cs typeface="Times New Roman" panose="02020603050405020304" pitchFamily="18" charset="0"/>
              </a:rPr>
              <a:t>harbors', </a:t>
            </a:r>
            <a:r>
              <a:rPr lang="en-US" sz="1800" dirty="0">
                <a:solidFill>
                  <a:srgbClr val="424142"/>
                </a:solidFill>
                <a:latin typeface="Georgia" panose="02040502050405020303" pitchFamily="18" charset="0"/>
                <a:cs typeface="Times New Roman" panose="02020603050405020304" pitchFamily="18" charset="0"/>
              </a:rPr>
              <a:t>hydropower projects, manufacturing industries, mining projects, etc., undergo an environmental examination prior to being given clearance to establish and operate.</a:t>
            </a:r>
          </a:p>
          <a:p>
            <a:pPr marL="0" indent="0">
              <a:buNone/>
            </a:pPr>
            <a:endParaRPr lang="en-US" sz="1800" dirty="0">
              <a:solidFill>
                <a:srgbClr val="424142"/>
              </a:solidFill>
              <a:latin typeface="Georgia" panose="02040502050405020303" pitchFamily="18" charset="0"/>
              <a:cs typeface="Times New Roman" panose="02020603050405020304" pitchFamily="18" charset="0"/>
            </a:endParaRPr>
          </a:p>
          <a:p>
            <a:r>
              <a:rPr lang="en-US" sz="1800" dirty="0">
                <a:solidFill>
                  <a:srgbClr val="424142"/>
                </a:solidFill>
                <a:latin typeface="Georgia" panose="02040502050405020303" pitchFamily="18" charset="0"/>
                <a:cs typeface="Times New Roman" panose="02020603050405020304" pitchFamily="18" charset="0"/>
              </a:rPr>
              <a:t>The EIA study then recommends appropriate mitigation measures or monitoring and management plans in the project itself. </a:t>
            </a:r>
            <a:endParaRPr lang="en-IN" sz="18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2503855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1799D-D38D-AEE6-74D4-E45F8FA90333}"/>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D884B12D-686C-B0CD-9F2B-283C8AF6488E}"/>
              </a:ext>
            </a:extLst>
          </p:cNvPr>
          <p:cNvSpPr>
            <a:spLocks noGrp="1" noChangeArrowheads="1"/>
          </p:cNvSpPr>
          <p:nvPr>
            <p:ph sz="quarter" idx="1"/>
          </p:nvPr>
        </p:nvSpPr>
        <p:spPr bwMode="auto">
          <a:xfrm>
            <a:off x="914400" y="2487306"/>
            <a:ext cx="7162800"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1" fontAlgn="base" hangingPunct="1">
              <a:lnSpc>
                <a:spcPct val="100000"/>
              </a:lnSpc>
              <a:spcBef>
                <a:spcPts val="580"/>
              </a:spcBef>
              <a:spcAft>
                <a:spcPct val="0"/>
              </a:spcAft>
              <a:buNone/>
              <a:tabLst/>
            </a:pPr>
            <a:r>
              <a:rPr lang="en-US" altLang="en-US" sz="1800" dirty="0">
                <a:solidFill>
                  <a:srgbClr val="424142"/>
                </a:solidFill>
                <a:latin typeface="Georgia" panose="02040502050405020303" pitchFamily="18" charset="0"/>
                <a:cs typeface="Times New Roman" panose="02020603050405020304" pitchFamily="18" charset="0"/>
              </a:rPr>
              <a:t>Examples of such modifications include:</a:t>
            </a:r>
          </a:p>
          <a:p>
            <a:pPr marL="0" marR="0" lvl="0" indent="0" defTabSz="914400" eaLnBrk="1" fontAlgn="base" hangingPunct="1">
              <a:lnSpc>
                <a:spcPct val="100000"/>
              </a:lnSpc>
              <a:spcBef>
                <a:spcPts val="580"/>
              </a:spcBef>
              <a:spcAft>
                <a:spcPct val="0"/>
              </a:spcAft>
              <a:buNone/>
              <a:tabLst/>
            </a:pPr>
            <a:endParaRPr lang="en-US" altLang="en-US" sz="1800" dirty="0">
              <a:solidFill>
                <a:srgbClr val="424142"/>
              </a:solidFill>
              <a:latin typeface="Georgia" panose="02040502050405020303" pitchFamily="18" charset="0"/>
              <a:cs typeface="Times New Roman" panose="02020603050405020304" pitchFamily="18" charset="0"/>
            </a:endParaRPr>
          </a:p>
          <a:p>
            <a:pPr marR="0" lvl="0" defTabSz="914400" eaLnBrk="1" fontAlgn="base" hangingPunct="1">
              <a:lnSpc>
                <a:spcPct val="100000"/>
              </a:lnSpc>
              <a:spcBef>
                <a:spcPts val="580"/>
              </a:spcBef>
              <a:spcAft>
                <a:spcPct val="0"/>
              </a:spcAft>
              <a:tabLst/>
            </a:pPr>
            <a:r>
              <a:rPr lang="en-US" altLang="en-US" sz="1800" dirty="0">
                <a:solidFill>
                  <a:srgbClr val="424142"/>
                </a:solidFill>
                <a:latin typeface="Georgia" panose="02040502050405020303" pitchFamily="18" charset="0"/>
                <a:cs typeface="Times New Roman" panose="02020603050405020304" pitchFamily="18" charset="0"/>
              </a:rPr>
              <a:t>change in the alignment of a highway</a:t>
            </a:r>
          </a:p>
          <a:p>
            <a:pPr marL="0" marR="0" lvl="0" indent="0" defTabSz="914400" eaLnBrk="1" fontAlgn="base" hangingPunct="1">
              <a:lnSpc>
                <a:spcPct val="100000"/>
              </a:lnSpc>
              <a:spcBef>
                <a:spcPts val="580"/>
              </a:spcBef>
              <a:spcAft>
                <a:spcPct val="0"/>
              </a:spcAft>
              <a:buNone/>
              <a:tabLst/>
            </a:pPr>
            <a:endParaRPr lang="en-US" altLang="en-US" sz="1800" dirty="0">
              <a:solidFill>
                <a:srgbClr val="424142"/>
              </a:solidFill>
              <a:latin typeface="Georgia" panose="02040502050405020303" pitchFamily="18" charset="0"/>
              <a:cs typeface="Times New Roman" panose="02020603050405020304" pitchFamily="18" charset="0"/>
            </a:endParaRPr>
          </a:p>
          <a:p>
            <a:pPr marR="0" lvl="0" defTabSz="914400" eaLnBrk="1" fontAlgn="base" hangingPunct="1">
              <a:lnSpc>
                <a:spcPct val="100000"/>
              </a:lnSpc>
              <a:spcBef>
                <a:spcPts val="580"/>
              </a:spcBef>
              <a:spcAft>
                <a:spcPct val="0"/>
              </a:spcAft>
              <a:tabLst/>
            </a:pPr>
            <a:r>
              <a:rPr lang="en-US" altLang="en-US" sz="1800" dirty="0">
                <a:solidFill>
                  <a:srgbClr val="424142"/>
                </a:solidFill>
                <a:latin typeface="Georgia" panose="02040502050405020303" pitchFamily="18" charset="0"/>
                <a:cs typeface="Times New Roman" panose="02020603050405020304" pitchFamily="18" charset="0"/>
              </a:rPr>
              <a:t>· establishment of oil spill emergency operations for a port</a:t>
            </a:r>
          </a:p>
          <a:p>
            <a:pPr marL="0" marR="0" lvl="0" indent="0" defTabSz="914400" eaLnBrk="1" fontAlgn="base" hangingPunct="1">
              <a:lnSpc>
                <a:spcPct val="100000"/>
              </a:lnSpc>
              <a:spcBef>
                <a:spcPts val="580"/>
              </a:spcBef>
              <a:spcAft>
                <a:spcPct val="0"/>
              </a:spcAft>
              <a:buNone/>
              <a:tabLst/>
            </a:pPr>
            <a:endParaRPr lang="en-US" altLang="en-US" sz="1800" dirty="0">
              <a:solidFill>
                <a:srgbClr val="424142"/>
              </a:solidFill>
              <a:latin typeface="Georgia" panose="02040502050405020303" pitchFamily="18" charset="0"/>
              <a:cs typeface="Times New Roman" panose="02020603050405020304" pitchFamily="18" charset="0"/>
            </a:endParaRPr>
          </a:p>
          <a:p>
            <a:pPr marR="0" lvl="0" defTabSz="914400" eaLnBrk="1" fontAlgn="base" hangingPunct="1">
              <a:lnSpc>
                <a:spcPct val="100000"/>
              </a:lnSpc>
              <a:spcBef>
                <a:spcPts val="580"/>
              </a:spcBef>
              <a:spcAft>
                <a:spcPct val="0"/>
              </a:spcAft>
              <a:tabLst/>
            </a:pPr>
            <a:r>
              <a:rPr lang="en-US" altLang="en-US" sz="1800" dirty="0">
                <a:solidFill>
                  <a:srgbClr val="424142"/>
                </a:solidFill>
                <a:latin typeface="Georgia" panose="02040502050405020303" pitchFamily="18" charset="0"/>
                <a:cs typeface="Times New Roman" panose="02020603050405020304" pitchFamily="18" charset="0"/>
              </a:rPr>
              <a:t>· reducing the height of a dam</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768289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83B1B-0C3A-E2B3-8955-07B4280D2784}"/>
              </a:ext>
            </a:extLst>
          </p:cNvPr>
          <p:cNvSpPr>
            <a:spLocks noGrp="1"/>
          </p:cNvSpPr>
          <p:nvPr>
            <p:ph sz="quarter" idx="1"/>
          </p:nvPr>
        </p:nvSpPr>
        <p:spPr>
          <a:xfrm>
            <a:off x="914400" y="762000"/>
            <a:ext cx="7772400" cy="5715000"/>
          </a:xfrm>
        </p:spPr>
        <p:txBody>
          <a:bodyPr>
            <a:normAutofit/>
          </a:bodyPr>
          <a:lstStyle/>
          <a:p>
            <a:pPr marL="0" indent="0">
              <a:buNone/>
            </a:pPr>
            <a:endParaRPr lang="en-US" sz="1800" dirty="0">
              <a:solidFill>
                <a:srgbClr val="424142"/>
              </a:solidFill>
              <a:latin typeface="Georgia" panose="02040502050405020303" pitchFamily="18" charset="0"/>
              <a:cs typeface="Times New Roman" panose="02020603050405020304" pitchFamily="18" charset="0"/>
            </a:endParaRPr>
          </a:p>
          <a:p>
            <a:pPr marL="0" indent="0">
              <a:buFont typeface="Wingdings 2"/>
              <a:buNone/>
            </a:pPr>
            <a:r>
              <a:rPr lang="en-US" sz="1800" dirty="0">
                <a:solidFill>
                  <a:srgbClr val="424142"/>
                </a:solidFill>
                <a:latin typeface="Georgia" panose="02040502050405020303" pitchFamily="18" charset="0"/>
                <a:cs typeface="Times New Roman" panose="02020603050405020304" pitchFamily="18" charset="0"/>
              </a:rPr>
              <a:t>Components of EIA Comprehensive EIA and Rapid EIA vary only in the time scale of the data supplied. </a:t>
            </a:r>
          </a:p>
          <a:p>
            <a:r>
              <a:rPr lang="en-US" sz="1800" dirty="0">
                <a:solidFill>
                  <a:srgbClr val="424142"/>
                </a:solidFill>
                <a:latin typeface="Georgia" panose="02040502050405020303" pitchFamily="18" charset="0"/>
                <a:cs typeface="Times New Roman" panose="02020603050405020304" pitchFamily="18" charset="0"/>
              </a:rPr>
              <a:t>Rapid EIA is for speedier appraisal process.</a:t>
            </a:r>
          </a:p>
          <a:p>
            <a:pPr marL="0" indent="0">
              <a:buFont typeface="Wingdings 2"/>
              <a:buNone/>
            </a:pPr>
            <a:endParaRPr lang="en-US" sz="1800" dirty="0">
              <a:solidFill>
                <a:srgbClr val="424142"/>
              </a:solidFill>
              <a:latin typeface="Georgia" panose="02040502050405020303" pitchFamily="18" charset="0"/>
              <a:cs typeface="Times New Roman" panose="02020603050405020304" pitchFamily="18" charset="0"/>
            </a:endParaRPr>
          </a:p>
          <a:p>
            <a:r>
              <a:rPr lang="en-US" sz="1800" dirty="0">
                <a:solidFill>
                  <a:srgbClr val="424142"/>
                </a:solidFill>
                <a:latin typeface="Georgia" panose="02040502050405020303" pitchFamily="18" charset="0"/>
                <a:cs typeface="Times New Roman" panose="02020603050405020304" pitchFamily="18" charset="0"/>
              </a:rPr>
              <a:t>Rapid EIA achieves this through the collection of ‘one season’ data, which ever is stressful for the project, only to reduce the time required.</a:t>
            </a:r>
          </a:p>
          <a:p>
            <a:pPr marL="0" indent="0">
              <a:buFont typeface="Wingdings 2"/>
              <a:buNone/>
            </a:pPr>
            <a:endParaRPr lang="en-US" sz="1800" dirty="0">
              <a:solidFill>
                <a:srgbClr val="424142"/>
              </a:solidFill>
              <a:latin typeface="Georgia" panose="02040502050405020303" pitchFamily="18" charset="0"/>
              <a:cs typeface="Times New Roman" panose="02020603050405020304" pitchFamily="18" charset="0"/>
            </a:endParaRPr>
          </a:p>
          <a:p>
            <a:r>
              <a:rPr lang="en-US" sz="1800" dirty="0">
                <a:solidFill>
                  <a:srgbClr val="424142"/>
                </a:solidFill>
                <a:latin typeface="Georgia" panose="02040502050405020303" pitchFamily="18" charset="0"/>
                <a:cs typeface="Times New Roman" panose="02020603050405020304" pitchFamily="18" charset="0"/>
              </a:rPr>
              <a:t>But this is acceptable only if it does not compromise on the quality of decision making</a:t>
            </a:r>
          </a:p>
          <a:p>
            <a:pPr marL="0" indent="0">
              <a:buFont typeface="Wingdings 2"/>
              <a:buNone/>
            </a:pPr>
            <a:endParaRPr lang="en-US" sz="1800" dirty="0">
              <a:solidFill>
                <a:srgbClr val="424142"/>
              </a:solidFill>
              <a:latin typeface="Georgia" panose="02040502050405020303" pitchFamily="18" charset="0"/>
              <a:cs typeface="Times New Roman" panose="02020603050405020304" pitchFamily="18" charset="0"/>
            </a:endParaRPr>
          </a:p>
          <a:p>
            <a:r>
              <a:rPr lang="en-US" sz="1800" dirty="0">
                <a:solidFill>
                  <a:srgbClr val="424142"/>
                </a:solidFill>
                <a:latin typeface="Georgia" panose="02040502050405020303" pitchFamily="18" charset="0"/>
                <a:cs typeface="Times New Roman" panose="02020603050405020304" pitchFamily="18" charset="0"/>
              </a:rPr>
              <a:t>The Rapid EIA is a widely used methodology, which would mainly use available data along with baseline Environmental data collected for one season (preferably winter), for evaluating all possible impacts on the components of Environment.</a:t>
            </a:r>
          </a:p>
        </p:txBody>
      </p:sp>
      <p:sp>
        <p:nvSpPr>
          <p:cNvPr id="5" name="TextBox 4">
            <a:extLst>
              <a:ext uri="{FF2B5EF4-FFF2-40B4-BE49-F238E27FC236}">
                <a16:creationId xmlns:a16="http://schemas.microsoft.com/office/drawing/2014/main" id="{903D2D2E-A047-1562-278E-C250EA12DA04}"/>
              </a:ext>
            </a:extLst>
          </p:cNvPr>
          <p:cNvSpPr txBox="1"/>
          <p:nvPr/>
        </p:nvSpPr>
        <p:spPr>
          <a:xfrm>
            <a:off x="914400" y="304800"/>
            <a:ext cx="4572000" cy="523220"/>
          </a:xfrm>
          <a:prstGeom prst="rect">
            <a:avLst/>
          </a:prstGeom>
          <a:noFill/>
        </p:spPr>
        <p:txBody>
          <a:bodyPr wrap="square">
            <a:spAutoFit/>
          </a:bodyPr>
          <a:lstStyle/>
          <a:p>
            <a:pPr>
              <a:spcBef>
                <a:spcPct val="0"/>
              </a:spcBef>
            </a:pPr>
            <a:r>
              <a:rPr lang="en-US" sz="2800" b="1" dirty="0">
                <a:solidFill>
                  <a:schemeClr val="tx2"/>
                </a:solidFill>
                <a:latin typeface="Times New Roman" panose="02020603050405020304" pitchFamily="18" charset="0"/>
                <a:ea typeface="+mj-ea"/>
                <a:cs typeface="Times New Roman" panose="02020603050405020304" pitchFamily="18" charset="0"/>
              </a:rPr>
              <a:t>Rapid EIA </a:t>
            </a:r>
            <a:endParaRPr lang="en-IN" sz="2800" b="1" dirty="0">
              <a:solidFill>
                <a:schemeClr val="tx2"/>
              </a:solidFill>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168023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A843D-4E08-DF3E-D98C-5588855BE4B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6BA9F69-8F2C-7B53-C549-EF473ED39844}"/>
              </a:ext>
            </a:extLst>
          </p:cNvPr>
          <p:cNvSpPr>
            <a:spLocks noGrp="1"/>
          </p:cNvSpPr>
          <p:nvPr>
            <p:ph sz="quarter" idx="1"/>
          </p:nvPr>
        </p:nvSpPr>
        <p:spPr/>
        <p:txBody>
          <a:bodyPr/>
          <a:lstStyle/>
          <a:p>
            <a:r>
              <a:rPr lang="en-US" sz="1800" dirty="0">
                <a:solidFill>
                  <a:srgbClr val="424142"/>
                </a:solidFill>
                <a:latin typeface="Georgia" panose="02040502050405020303" pitchFamily="18" charset="0"/>
                <a:cs typeface="Times New Roman" panose="02020603050405020304" pitchFamily="18" charset="0"/>
              </a:rPr>
              <a:t>Winter season is considered as the critical meteorological situations for Air Pollution, when the mean air temperature is too low and average wind speed will also be less, this condition limits the dispersion of gaseous pollutants in atmospheric air thus increasing the Ground level Concentrations (GLC) of pollutants</a:t>
            </a:r>
            <a:endParaRPr lang="en-IN" sz="1800" dirty="0">
              <a:solidFill>
                <a:srgbClr val="424142"/>
              </a:solidFill>
              <a:latin typeface="Georgia" panose="02040502050405020303"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8853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A9B99-906C-CB48-F5B7-23E31082C908}"/>
              </a:ext>
            </a:extLst>
          </p:cNvPr>
          <p:cNvSpPr>
            <a:spLocks noGrp="1"/>
          </p:cNvSpPr>
          <p:nvPr>
            <p:ph type="title"/>
          </p:nvPr>
        </p:nvSpPr>
        <p:spPr>
          <a:xfrm>
            <a:off x="609600" y="266700"/>
            <a:ext cx="7772400" cy="1143000"/>
          </a:xfrm>
        </p:spPr>
        <p:txBody>
          <a:bodyPr/>
          <a:lstStyle/>
          <a:p>
            <a:r>
              <a:rPr lang="en-US" sz="2800" b="1" dirty="0">
                <a:latin typeface="Times New Roman" panose="02020603050405020304" pitchFamily="18" charset="0"/>
                <a:cs typeface="Times New Roman" panose="02020603050405020304" pitchFamily="18" charset="0"/>
              </a:rPr>
              <a:t>Comprehensive EIA (CEIA)</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4CEDA8-24BB-22AA-AB97-3BFC4B591DDE}"/>
              </a:ext>
            </a:extLst>
          </p:cNvPr>
          <p:cNvSpPr>
            <a:spLocks noGrp="1"/>
          </p:cNvSpPr>
          <p:nvPr>
            <p:ph sz="quarter" idx="1"/>
          </p:nvPr>
        </p:nvSpPr>
        <p:spPr>
          <a:xfrm>
            <a:off x="685800" y="1524000"/>
            <a:ext cx="7772400" cy="4572000"/>
          </a:xfrm>
        </p:spPr>
        <p:txBody>
          <a:bodyPr>
            <a:normAutofit fontScale="92500" lnSpcReduction="10000"/>
          </a:bodyPr>
          <a:lstStyle/>
          <a:p>
            <a:r>
              <a:rPr lang="en-US" sz="1900" dirty="0">
                <a:solidFill>
                  <a:srgbClr val="424142"/>
                </a:solidFill>
                <a:latin typeface="Georgia" panose="02040502050405020303" pitchFamily="18" charset="0"/>
                <a:cs typeface="Times New Roman" panose="02020603050405020304" pitchFamily="18" charset="0"/>
              </a:rPr>
              <a:t>Comprehensive EIA would be required if the assessment area, period and parameters are insufficient for a well-defined decision on the establishment of a project.</a:t>
            </a:r>
          </a:p>
          <a:p>
            <a:endParaRPr lang="en-US" sz="1900" dirty="0">
              <a:solidFill>
                <a:srgbClr val="424142"/>
              </a:solidFill>
              <a:latin typeface="Georgia" panose="02040502050405020303" pitchFamily="18" charset="0"/>
              <a:cs typeface="Times New Roman" panose="02020603050405020304" pitchFamily="18" charset="0"/>
            </a:endParaRPr>
          </a:p>
          <a:p>
            <a:r>
              <a:rPr lang="en-US" sz="1900" dirty="0">
                <a:solidFill>
                  <a:srgbClr val="424142"/>
                </a:solidFill>
                <a:latin typeface="Georgia" panose="02040502050405020303" pitchFamily="18" charset="0"/>
                <a:cs typeface="Times New Roman" panose="02020603050405020304" pitchFamily="18" charset="0"/>
              </a:rPr>
              <a:t> Meteorological Conditions like Mean Air Temperature, Wind Speed and Wind Direction (for different seasons) also play an important role in ascertaining the impact of pollutants especially when the project discharges huge quantities of Air Pollutants into the atmosphere.</a:t>
            </a:r>
          </a:p>
          <a:p>
            <a:pPr marL="0" indent="0">
              <a:buNone/>
            </a:pPr>
            <a:r>
              <a:rPr lang="en-US" sz="1900" dirty="0">
                <a:solidFill>
                  <a:srgbClr val="424142"/>
                </a:solidFill>
                <a:latin typeface="Georgia" panose="02040502050405020303" pitchFamily="18" charset="0"/>
                <a:cs typeface="Times New Roman" panose="02020603050405020304" pitchFamily="18" charset="0"/>
              </a:rPr>
              <a:t> </a:t>
            </a:r>
          </a:p>
          <a:p>
            <a:r>
              <a:rPr lang="en-US" sz="1900" dirty="0">
                <a:solidFill>
                  <a:srgbClr val="424142"/>
                </a:solidFill>
                <a:latin typeface="Georgia" panose="02040502050405020303" pitchFamily="18" charset="0"/>
                <a:cs typeface="Times New Roman" panose="02020603050405020304" pitchFamily="18" charset="0"/>
              </a:rPr>
              <a:t>A comprehensive EIA would be essential for large projects or for projects with high pollution levels.</a:t>
            </a:r>
          </a:p>
          <a:p>
            <a:endParaRPr lang="en-US" sz="1900" dirty="0">
              <a:solidFill>
                <a:srgbClr val="424142"/>
              </a:solidFill>
              <a:latin typeface="Georgia" panose="02040502050405020303" pitchFamily="18" charset="0"/>
              <a:cs typeface="Times New Roman" panose="02020603050405020304" pitchFamily="18" charset="0"/>
            </a:endParaRPr>
          </a:p>
          <a:p>
            <a:r>
              <a:rPr lang="en-US" sz="1900" dirty="0">
                <a:solidFill>
                  <a:srgbClr val="424142"/>
                </a:solidFill>
                <a:latin typeface="Georgia" panose="02040502050405020303" pitchFamily="18" charset="0"/>
                <a:cs typeface="Times New Roman" panose="02020603050405020304" pitchFamily="18" charset="0"/>
              </a:rPr>
              <a:t>Comprehensive Environmental Impact Assessment report has to be submitted after the evaluation of Rapid Environmental Impact Assessment report, if so asked by the Impact Assessment Agency.</a:t>
            </a:r>
            <a:br>
              <a:rPr lang="en-US" sz="1900" dirty="0">
                <a:solidFill>
                  <a:srgbClr val="424142"/>
                </a:solidFill>
                <a:latin typeface="Georgia" panose="02040502050405020303" pitchFamily="18" charset="0"/>
                <a:cs typeface="Times New Roman" panose="02020603050405020304" pitchFamily="18" charset="0"/>
              </a:rPr>
            </a:br>
            <a:endParaRPr lang="en-IN" sz="1900" dirty="0">
              <a:solidFill>
                <a:srgbClr val="424142"/>
              </a:solidFill>
              <a:latin typeface="Georgia" panose="02040502050405020303" pitchFamily="18" charset="0"/>
              <a:cs typeface="Times New Roman" panose="02020603050405020304" pitchFamily="18" charset="0"/>
            </a:endParaRPr>
          </a:p>
        </p:txBody>
      </p:sp>
    </p:spTree>
    <p:extLst>
      <p:ext uri="{BB962C8B-B14F-4D97-AF65-F5344CB8AC3E}">
        <p14:creationId xmlns:p14="http://schemas.microsoft.com/office/powerpoint/2010/main" val="1837814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EB43-37D0-169E-358D-8A5067422F58}"/>
              </a:ext>
            </a:extLst>
          </p:cNvPr>
          <p:cNvSpPr>
            <a:spLocks noGrp="1"/>
          </p:cNvSpPr>
          <p:nvPr>
            <p:ph type="title"/>
          </p:nvPr>
        </p:nvSpPr>
        <p:spPr/>
        <p:txBody>
          <a:bodyPr>
            <a:normAutofit fontScale="90000"/>
          </a:bodyPr>
          <a:lstStyle/>
          <a:p>
            <a:r>
              <a:rPr lang="en-IN" sz="4000" b="1" dirty="0">
                <a:effectLst/>
                <a:latin typeface="Times New Roman" panose="02020603050405020304" pitchFamily="18" charset="0"/>
                <a:ea typeface="Calibri" panose="020F0502020204030204" pitchFamily="34" charset="0"/>
                <a:cs typeface="Times New Roman" panose="02020603050405020304" pitchFamily="18" charset="0"/>
              </a:rPr>
              <a:t/>
            </a:r>
            <a:br>
              <a:rPr lang="en-IN" sz="4000" b="1" dirty="0">
                <a:effectLst/>
                <a:latin typeface="Times New Roman" panose="02020603050405020304" pitchFamily="18" charset="0"/>
                <a:ea typeface="Calibri" panose="020F0502020204030204" pitchFamily="34" charset="0"/>
                <a:cs typeface="Times New Roman" panose="02020603050405020304" pitchFamily="18" charset="0"/>
              </a:rPr>
            </a:br>
            <a:r>
              <a:rPr lang="en-IN" sz="3100" b="1" dirty="0">
                <a:effectLst/>
                <a:latin typeface="Times New Roman" panose="02020603050405020304" pitchFamily="18" charset="0"/>
                <a:ea typeface="Calibri" panose="020F0502020204030204" pitchFamily="34" charset="0"/>
                <a:cs typeface="Times New Roman" panose="02020603050405020304" pitchFamily="18" charset="0"/>
              </a:rPr>
              <a:t>The Initial Environmental Examination (IEE)</a:t>
            </a:r>
            <a:r>
              <a:rPr lang="en-IN" sz="3100" dirty="0">
                <a:effectLst/>
                <a:latin typeface="Calibri" panose="020F0502020204030204" pitchFamily="34" charset="0"/>
                <a:ea typeface="Calibri" panose="020F0502020204030204" pitchFamily="34" charset="0"/>
                <a:cs typeface="Times New Roman" panose="02020603050405020304" pitchFamily="18" charset="0"/>
              </a:rPr>
              <a:t/>
            </a:r>
            <a:br>
              <a:rPr lang="en-IN" sz="3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ED71484-07D8-A78B-7052-1E195D5D8EDB}"/>
              </a:ext>
            </a:extLst>
          </p:cNvPr>
          <p:cNvSpPr>
            <a:spLocks noGrp="1"/>
          </p:cNvSpPr>
          <p:nvPr>
            <p:ph sz="quarter" idx="1"/>
          </p:nvPr>
        </p:nvSpPr>
        <p:spPr/>
        <p:txBody>
          <a:bodyPr>
            <a:normAutofit/>
          </a:bodyPr>
          <a:lstStyle/>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It is the process of reviewing the environmental integrity of projects to determine whether EIA level studies should be conducted.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This is used to determine which project require full scale EIA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This is done to minimize the effort, expense and delay in project planning.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IEE, the environmental effects of proposed project are evaluated in limited budget based o available recorded information and professional judgement.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anose="05050102010706020507" pitchFamily="18"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IEE is a means of providing the most efficient and feasible preparation of adequate environment management plans with or without the requirement of a full scale EIA.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55441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4444C-E026-5A53-8AA4-B95DBD5CB0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201277-DC84-BA11-C72E-0FF3780A585F}"/>
              </a:ext>
            </a:extLst>
          </p:cNvPr>
          <p:cNvSpPr>
            <a:spLocks noGrp="1"/>
          </p:cNvSpPr>
          <p:nvPr>
            <p:ph sz="quarter" idx="1"/>
          </p:nvPr>
        </p:nvSpPr>
        <p:spPr/>
        <p:txBody>
          <a:bodyPr>
            <a:normAutofit/>
          </a:bodyPr>
          <a:lstStyle/>
          <a:p>
            <a:r>
              <a:rPr lang="en-US" sz="1800" dirty="0">
                <a:effectLst/>
                <a:latin typeface="Times New Roman" panose="02020603050405020304" pitchFamily="18" charset="0"/>
                <a:ea typeface="Calibri" panose="020F0502020204030204" pitchFamily="34" charset="0"/>
              </a:rPr>
              <a:t>The Terms of Reference is prescribed for Project seeking Environmental Clearance (EC) under the provision of the Environment Impact Assessment Notification, 2006</a:t>
            </a:r>
          </a:p>
          <a:p>
            <a:pPr marL="0" indent="0">
              <a:buNone/>
            </a:pPr>
            <a:endParaRPr lang="en-US" sz="1800"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TOR for all the sectors requiring EC should be standardized as determining TOR for every case individually is time consuming and after arbitrary.</a:t>
            </a:r>
          </a:p>
          <a:p>
            <a:pPr marL="0" indent="0">
              <a:buNone/>
            </a:pPr>
            <a:endParaRPr lang="en-US" sz="1800"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The standard TOR have been developed by the  inputs from experts and have been recommended by the EACs of the respective sectors. </a:t>
            </a:r>
          </a:p>
          <a:p>
            <a:pPr marL="0" indent="0">
              <a:buNone/>
            </a:pPr>
            <a:endParaRPr lang="en-US" sz="1800"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TOR or Terms of Reference is a document produced by the authority conducting the EIA study.</a:t>
            </a:r>
          </a:p>
          <a:p>
            <a:pPr marL="0" indent="0">
              <a:buNone/>
            </a:pPr>
            <a:endParaRPr lang="en-US" sz="1800" dirty="0">
              <a:effectLst/>
              <a:latin typeface="Times New Roman" panose="02020603050405020304" pitchFamily="18" charset="0"/>
              <a:ea typeface="Calibri" panose="020F0502020204030204" pitchFamily="34" charset="0"/>
            </a:endParaRPr>
          </a:p>
          <a:p>
            <a:r>
              <a:rPr lang="en-US" sz="1800" dirty="0">
                <a:effectLst/>
                <a:latin typeface="Times New Roman" panose="02020603050405020304" pitchFamily="18" charset="0"/>
                <a:ea typeface="Calibri" panose="020F0502020204030204" pitchFamily="34" charset="0"/>
              </a:rPr>
              <a:t> It is formed during Scoping, the second stage in the EIA process. </a:t>
            </a:r>
          </a:p>
        </p:txBody>
      </p:sp>
    </p:spTree>
    <p:extLst>
      <p:ext uri="{BB962C8B-B14F-4D97-AF65-F5344CB8AC3E}">
        <p14:creationId xmlns:p14="http://schemas.microsoft.com/office/powerpoint/2010/main" val="27417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100F4A-28F7-75DC-E176-136C6DFB82BC}"/>
              </a:ext>
            </a:extLst>
          </p:cNvPr>
          <p:cNvSpPr>
            <a:spLocks noGrp="1"/>
          </p:cNvSpPr>
          <p:nvPr>
            <p:ph sz="quarter" idx="1"/>
          </p:nvPr>
        </p:nvSpPr>
        <p:spPr/>
        <p:txBody>
          <a:bodyPr/>
          <a:lstStyle/>
          <a:p>
            <a:r>
              <a:rPr lang="en-US" sz="1800" dirty="0">
                <a:latin typeface="Times New Roman" panose="02020603050405020304" pitchFamily="18" charset="0"/>
              </a:rPr>
              <a:t>All the stakeholders are invited to submit their concerns regarding the project during a public hearing organized by the EIA committee, which is followed by discussions and deliberations. </a:t>
            </a:r>
          </a:p>
          <a:p>
            <a:r>
              <a:rPr lang="en-US" sz="1800" dirty="0">
                <a:latin typeface="Times New Roman" panose="02020603050405020304" pitchFamily="18" charset="0"/>
              </a:rPr>
              <a:t>The finalized list of this stage of EIA is submitted to the Ministry in the form of TOR.</a:t>
            </a:r>
            <a:endParaRPr lang="en-IN" sz="1800" dirty="0">
              <a:latin typeface="Times New Roman" panose="02020603050405020304" pitchFamily="18" charset="0"/>
            </a:endParaRPr>
          </a:p>
          <a:p>
            <a:pPr algn="just" fontAlgn="base">
              <a:lnSpc>
                <a:spcPct val="107000"/>
              </a:lnSpc>
              <a:spcAft>
                <a:spcPts val="800"/>
              </a:spcAf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TOR is drawn up with the following questions in mind.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purpose of the study/project.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extent of the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stakeholders’ requirements; each stakeholder looks at different aspects of 	the project differently. Complex information needs to be explained 	appropriately.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82880" indent="0" algn="just" fontAlgn="base">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80258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844077-8F9A-76C1-1E08-0B398623C4F2}"/>
              </a:ext>
            </a:extLst>
          </p:cNvPr>
          <p:cNvSpPr>
            <a:spLocks noGrp="1"/>
          </p:cNvSpPr>
          <p:nvPr>
            <p:ph sz="quarter" idx="1"/>
          </p:nvPr>
        </p:nvSpPr>
        <p:spPr>
          <a:xfrm>
            <a:off x="914400" y="1295400"/>
            <a:ext cx="7772400" cy="4648200"/>
          </a:xfrm>
        </p:spPr>
        <p:txBody>
          <a:bodyPr>
            <a:normAutofit fontScale="92500" lnSpcReduction="20000"/>
          </a:bodyPr>
          <a:lstStyle/>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TOR highlights the points</a:t>
            </a:r>
            <a:r>
              <a:rPr lang="en-US" sz="1800" i="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that need to be covered</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TOR itself does not elaborate on these points unless required) during the EIA study, which include: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description of the project, it’s purposes and extent.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All the agencies responsible in the developmental project and the EIA study.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a:t>
            </a:r>
            <a:r>
              <a:rPr lang="en-US" sz="180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2"/>
              </a:rPr>
              <a:t>description of the existing environmental conditions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in the project site and surrounding areas.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stakeholders that will be benefited and harmed by the fulfillment of the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environmental aspects the project is likely to affect.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impacts, both positive and negative, the project will have on the environmental and social aspects of the project area. This is undertaken through </a:t>
            </a:r>
            <a:r>
              <a:rPr lang="en-US" sz="180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3"/>
              </a:rPr>
              <a:t>checklists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4"/>
              </a:rPr>
              <a:t>matrices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or </a:t>
            </a:r>
            <a:r>
              <a:rPr lang="en-US" sz="1800" u="none" strike="noStrike"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5"/>
              </a:rPr>
              <a:t>networks</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 list/description of the species endemic to the area, which are likely to be effected.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82880" indent="0" algn="just" fontAlgn="base">
              <a:lnSpc>
                <a:spcPct val="107000"/>
              </a:lnSpc>
              <a:spcAft>
                <a:spcPts val="8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70166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6132C-0255-101D-D5D4-254FC4FEBE38}"/>
              </a:ext>
            </a:extLst>
          </p:cNvPr>
          <p:cNvSpPr>
            <a:spLocks noGrp="1"/>
          </p:cNvSpPr>
          <p:nvPr>
            <p:ph sz="quarter" idx="1"/>
          </p:nvPr>
        </p:nvSpPr>
        <p:spPr>
          <a:xfrm>
            <a:off x="914400" y="1417638"/>
            <a:ext cx="7772400" cy="4830762"/>
          </a:xfrm>
        </p:spPr>
        <p:txBody>
          <a:bodyPr>
            <a:normAutofit fontScale="62500" lnSpcReduction="20000"/>
          </a:bodyPr>
          <a:lstStyle/>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How in-depth does the EIA study need to be: whether baseline data is available or whether the study be sourced from secondary data.</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Possible alternatives for the project in terms of design, site, technology, implementation, etc.</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legal requirements of the project and future legislation that need to be drafted.</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If the project site comes under special categories, and the legislation regarding the same.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Recommended mitigation strategies.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expertise required for the EIA study.</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expected time limit for the entire EIA study.</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Natural Resource Valuation (NRV), if possible.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fontAlgn="base">
              <a:lnSpc>
                <a:spcPct val="107000"/>
              </a:lnSpc>
              <a:spcAft>
                <a:spcPts val="800"/>
              </a:spcAft>
              <a:buFont typeface="Wingdings" panose="05000000000000000000" pitchFamily="2" charset="2"/>
              <a:buChar char="ü"/>
              <a:tabLst>
                <a:tab pos="457200" algn="l"/>
              </a:tabLst>
            </a:pPr>
            <a:r>
              <a:rPr lang="en-US" sz="2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budget of the study, also called cost-benefit analysis.</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53691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2BE7-3F22-0912-ACBC-232F5B2FB38E}"/>
              </a:ext>
            </a:extLst>
          </p:cNvPr>
          <p:cNvSpPr>
            <a:spLocks noGrp="1"/>
          </p:cNvSpPr>
          <p:nvPr>
            <p:ph type="title"/>
          </p:nvPr>
        </p:nvSpPr>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GENERIC STRUCTURE OF EIA DOCUMENT</a:t>
            </a:r>
            <a:r>
              <a:rPr lang="en-IN" sz="1800" dirty="0">
                <a:effectLst/>
                <a:latin typeface="Times New Roman" panose="02020603050405020304" pitchFamily="18" charset="0"/>
                <a:ea typeface="Times New Roman" panose="02020603050405020304" pitchFamily="18" charset="0"/>
              </a:rPr>
              <a:t/>
            </a:r>
            <a:br>
              <a:rPr lang="en-IN" sz="1800" dirty="0">
                <a:effectLst/>
                <a:latin typeface="Times New Roman" panose="02020603050405020304" pitchFamily="18" charset="0"/>
                <a:ea typeface="Times New Roman" panose="02020603050405020304" pitchFamily="18" charset="0"/>
              </a:rPr>
            </a:br>
            <a:endParaRPr lang="en-IN" dirty="0"/>
          </a:p>
        </p:txBody>
      </p:sp>
      <p:pic>
        <p:nvPicPr>
          <p:cNvPr id="5" name="Content Placeholder 4">
            <a:extLst>
              <a:ext uri="{FF2B5EF4-FFF2-40B4-BE49-F238E27FC236}">
                <a16:creationId xmlns:a16="http://schemas.microsoft.com/office/drawing/2014/main" id="{0FF9A004-532E-8696-FD59-98097232745F}"/>
              </a:ext>
            </a:extLst>
          </p:cNvPr>
          <p:cNvPicPr>
            <a:picLocks noGrp="1" noChangeAspect="1"/>
          </p:cNvPicPr>
          <p:nvPr>
            <p:ph sz="quarter" idx="1"/>
          </p:nvPr>
        </p:nvPicPr>
        <p:blipFill>
          <a:blip r:embed="rId2"/>
          <a:stretch>
            <a:fillRect/>
          </a:stretch>
        </p:blipFill>
        <p:spPr>
          <a:xfrm>
            <a:off x="1676400" y="871079"/>
            <a:ext cx="6096000" cy="5046278"/>
          </a:xfrm>
        </p:spPr>
      </p:pic>
      <p:pic>
        <p:nvPicPr>
          <p:cNvPr id="6" name="Content Placeholder 4">
            <a:extLst>
              <a:ext uri="{FF2B5EF4-FFF2-40B4-BE49-F238E27FC236}">
                <a16:creationId xmlns:a16="http://schemas.microsoft.com/office/drawing/2014/main" id="{1B1A9451-60E0-EA44-C1AD-64B5C8D3EC42}"/>
              </a:ext>
            </a:extLst>
          </p:cNvPr>
          <p:cNvPicPr>
            <a:picLocks noChangeAspect="1"/>
          </p:cNvPicPr>
          <p:nvPr/>
        </p:nvPicPr>
        <p:blipFill>
          <a:blip r:embed="rId3"/>
          <a:stretch>
            <a:fillRect/>
          </a:stretch>
        </p:blipFill>
        <p:spPr>
          <a:xfrm>
            <a:off x="1676400" y="5562600"/>
            <a:ext cx="6096000" cy="992768"/>
          </a:xfrm>
          <a:prstGeom prst="rect">
            <a:avLst/>
          </a:prstGeom>
        </p:spPr>
      </p:pic>
    </p:spTree>
    <p:extLst>
      <p:ext uri="{BB962C8B-B14F-4D97-AF65-F5344CB8AC3E}">
        <p14:creationId xmlns:p14="http://schemas.microsoft.com/office/powerpoint/2010/main" val="17446774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A8EE-D670-F707-AD29-74BE2BEB54F1}"/>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57071BA1-188F-725F-F137-3474ADC7C349}"/>
              </a:ext>
            </a:extLst>
          </p:cNvPr>
          <p:cNvPicPr>
            <a:picLocks noGrp="1" noChangeAspect="1"/>
          </p:cNvPicPr>
          <p:nvPr>
            <p:ph sz="quarter" idx="1"/>
          </p:nvPr>
        </p:nvPicPr>
        <p:blipFill>
          <a:blip r:embed="rId2"/>
          <a:stretch>
            <a:fillRect/>
          </a:stretch>
        </p:blipFill>
        <p:spPr>
          <a:xfrm>
            <a:off x="1143000" y="1423734"/>
            <a:ext cx="6705600" cy="5248201"/>
          </a:xfrm>
        </p:spPr>
      </p:pic>
    </p:spTree>
    <p:extLst>
      <p:ext uri="{BB962C8B-B14F-4D97-AF65-F5344CB8AC3E}">
        <p14:creationId xmlns:p14="http://schemas.microsoft.com/office/powerpoint/2010/main" val="11488897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119D-4CE5-85E5-C4E9-C351EB933EA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6C1F512-E666-4E00-4B05-232D9D7A1122}"/>
              </a:ext>
            </a:extLst>
          </p:cNvPr>
          <p:cNvPicPr>
            <a:picLocks noGrp="1" noChangeAspect="1"/>
          </p:cNvPicPr>
          <p:nvPr>
            <p:ph sz="quarter" idx="1"/>
          </p:nvPr>
        </p:nvPicPr>
        <p:blipFill>
          <a:blip r:embed="rId2"/>
          <a:stretch>
            <a:fillRect/>
          </a:stretch>
        </p:blipFill>
        <p:spPr>
          <a:xfrm>
            <a:off x="1123950" y="1647825"/>
            <a:ext cx="7231508" cy="4524376"/>
          </a:xfrm>
        </p:spPr>
      </p:pic>
    </p:spTree>
    <p:extLst>
      <p:ext uri="{BB962C8B-B14F-4D97-AF65-F5344CB8AC3E}">
        <p14:creationId xmlns:p14="http://schemas.microsoft.com/office/powerpoint/2010/main" val="3780841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314C3-BCAB-7B7A-0984-4F6E9D8B467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5790DBC-36DF-F25D-D537-946DE07DDA2C}"/>
              </a:ext>
            </a:extLst>
          </p:cNvPr>
          <p:cNvPicPr>
            <a:picLocks noGrp="1" noChangeAspect="1"/>
          </p:cNvPicPr>
          <p:nvPr>
            <p:ph sz="quarter" idx="1"/>
          </p:nvPr>
        </p:nvPicPr>
        <p:blipFill>
          <a:blip r:embed="rId2"/>
          <a:stretch>
            <a:fillRect/>
          </a:stretch>
        </p:blipFill>
        <p:spPr>
          <a:xfrm>
            <a:off x="1356064" y="1447800"/>
            <a:ext cx="6889071" cy="4572000"/>
          </a:xfrm>
        </p:spPr>
      </p:pic>
    </p:spTree>
    <p:extLst>
      <p:ext uri="{BB962C8B-B14F-4D97-AF65-F5344CB8AC3E}">
        <p14:creationId xmlns:p14="http://schemas.microsoft.com/office/powerpoint/2010/main" val="28744943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550</TotalTime>
  <Words>2772</Words>
  <Application>Microsoft Office PowerPoint</Application>
  <PresentationFormat>On-screen Show (4:3)</PresentationFormat>
  <Paragraphs>236</Paragraphs>
  <Slides>38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Arial</vt:lpstr>
      <vt:lpstr>Arial Narrow</vt:lpstr>
      <vt:lpstr>Calibri</vt:lpstr>
      <vt:lpstr>Franklin Gothic Book</vt:lpstr>
      <vt:lpstr>Georgia</vt:lpstr>
      <vt:lpstr>Perpetua</vt:lpstr>
      <vt:lpstr>Symbol</vt:lpstr>
      <vt:lpstr>Tahoma</vt:lpstr>
      <vt:lpstr>Times New Roman</vt:lpstr>
      <vt:lpstr>Wingdings</vt:lpstr>
      <vt:lpstr>Wingdings 2</vt:lpstr>
      <vt:lpstr>Equity</vt:lpstr>
      <vt:lpstr>MODULE -2 </vt:lpstr>
      <vt:lpstr>STEPS IN EIA PROCESS </vt:lpstr>
      <vt:lpstr>PowerPoint Presentation</vt:lpstr>
      <vt:lpstr>PowerPoint Presentation</vt:lpstr>
      <vt:lpstr>PowerPoint Presentation</vt:lpstr>
      <vt:lpstr>PowerPoint Presentation</vt:lpstr>
      <vt:lpstr>ELEMENTS OF  EIA</vt:lpstr>
      <vt:lpstr>Stage 1: Screening</vt:lpstr>
      <vt:lpstr>Stage 2: Scoping</vt:lpstr>
      <vt:lpstr>Stage 3: Public consultation</vt:lpstr>
      <vt:lpstr>PowerPoint Presentation</vt:lpstr>
      <vt:lpstr>PowerPoint Presentation</vt:lpstr>
      <vt:lpstr>PowerPoint Presentation</vt:lpstr>
      <vt:lpstr>After public consultation…</vt:lpstr>
      <vt:lpstr>Stage 4: Appraisal</vt:lpstr>
      <vt:lpstr>PowerPoint Presentation</vt:lpstr>
      <vt:lpstr>Classification</vt:lpstr>
      <vt:lpstr>Strategic EIA</vt:lpstr>
      <vt:lpstr>PowerPoint Presentation</vt:lpstr>
      <vt:lpstr>PowerPoint Presentation</vt:lpstr>
      <vt:lpstr>PowerPoint Presentation</vt:lpstr>
      <vt:lpstr>Regional EIA</vt:lpstr>
      <vt:lpstr>PowerPoint Presentation</vt:lpstr>
      <vt:lpstr>Sectoral EIA</vt:lpstr>
      <vt:lpstr>Project Level EIA</vt:lpstr>
      <vt:lpstr>PowerPoint Presentation</vt:lpstr>
      <vt:lpstr>PowerPoint Presentation</vt:lpstr>
      <vt:lpstr>PowerPoint Presentation</vt:lpstr>
      <vt:lpstr>Comprehensive EIA (CEIA)</vt:lpstr>
      <vt:lpstr> The Initial Environmental Examination (IEE) </vt:lpstr>
      <vt:lpstr>PowerPoint Presentation</vt:lpstr>
      <vt:lpstr>PowerPoint Presentation</vt:lpstr>
      <vt:lpstr>PowerPoint Presentation</vt:lpstr>
      <vt:lpstr>PowerPoint Presentation</vt:lpstr>
      <vt:lpstr>GENERIC STRUCTURE OF EIA DOCUMENT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EIA as an Environmental Management Tool </dc:title>
  <dc:creator>lenovo</dc:creator>
  <cp:lastModifiedBy>Ms. Amrutha S    </cp:lastModifiedBy>
  <cp:revision>57</cp:revision>
  <dcterms:created xsi:type="dcterms:W3CDTF">2006-08-16T00:00:00Z</dcterms:created>
  <dcterms:modified xsi:type="dcterms:W3CDTF">2025-08-05T03:21:21Z</dcterms:modified>
</cp:coreProperties>
</file>