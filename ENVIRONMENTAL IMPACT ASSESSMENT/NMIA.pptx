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EC0BE-C7B5-4A27-ACF3-C18A82B32411}" v="10" dt="2025-09-24T04:56:36.0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dhosegeorge2004@gmail.com" userId="bb930cee868d596a" providerId="LiveId" clId="{206EC0BE-C7B5-4A27-ACF3-C18A82B32411}"/>
    <pc:docChg chg="undo custSel modSld">
      <pc:chgData name="eldhosegeorge2004@gmail.com" userId="bb930cee868d596a" providerId="LiveId" clId="{206EC0BE-C7B5-4A27-ACF3-C18A82B32411}" dt="2025-09-24T04:57:02.615" v="104" actId="20577"/>
      <pc:docMkLst>
        <pc:docMk/>
      </pc:docMkLst>
      <pc:sldChg chg="modSp mod">
        <pc:chgData name="eldhosegeorge2004@gmail.com" userId="bb930cee868d596a" providerId="LiveId" clId="{206EC0BE-C7B5-4A27-ACF3-C18A82B32411}" dt="2025-09-24T04:57:02.615" v="104" actId="20577"/>
        <pc:sldMkLst>
          <pc:docMk/>
          <pc:sldMk cId="0" sldId="259"/>
        </pc:sldMkLst>
        <pc:spChg chg="mod">
          <ac:chgData name="eldhosegeorge2004@gmail.com" userId="bb930cee868d596a" providerId="LiveId" clId="{206EC0BE-C7B5-4A27-ACF3-C18A82B32411}" dt="2025-09-24T04:57:02.615" v="104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">
        <pc:chgData name="eldhosegeorge2004@gmail.com" userId="bb930cee868d596a" providerId="LiveId" clId="{206EC0BE-C7B5-4A27-ACF3-C18A82B32411}" dt="2025-09-24T04:56:47.302" v="103" actId="14100"/>
        <pc:sldMkLst>
          <pc:docMk/>
          <pc:sldMk cId="0" sldId="265"/>
        </pc:sldMkLst>
        <pc:spChg chg="mod">
          <ac:chgData name="eldhosegeorge2004@gmail.com" userId="bb930cee868d596a" providerId="LiveId" clId="{206EC0BE-C7B5-4A27-ACF3-C18A82B32411}" dt="2025-09-24T04:54:09.655" v="20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eldhosegeorge2004@gmail.com" userId="bb930cee868d596a" providerId="LiveId" clId="{206EC0BE-C7B5-4A27-ACF3-C18A82B32411}" dt="2025-09-24T04:54:23.659" v="29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eldhosegeorge2004@gmail.com" userId="bb930cee868d596a" providerId="LiveId" clId="{206EC0BE-C7B5-4A27-ACF3-C18A82B32411}" dt="2025-09-24T04:54:20.695" v="28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eldhosegeorge2004@gmail.com" userId="bb930cee868d596a" providerId="LiveId" clId="{206EC0BE-C7B5-4A27-ACF3-C18A82B32411}" dt="2025-09-24T04:51:43.873" v="1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eldhosegeorge2004@gmail.com" userId="bb930cee868d596a" providerId="LiveId" clId="{206EC0BE-C7B5-4A27-ACF3-C18A82B32411}" dt="2025-09-24T04:54:56.712" v="42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eldhosegeorge2004@gmail.com" userId="bb930cee868d596a" providerId="LiveId" clId="{206EC0BE-C7B5-4A27-ACF3-C18A82B32411}" dt="2025-09-24T04:55:17.243" v="62" actId="20577"/>
          <ac:spMkLst>
            <pc:docMk/>
            <pc:sldMk cId="0" sldId="265"/>
            <ac:spMk id="21" creationId="{00000000-0000-0000-0000-000000000000}"/>
          </ac:spMkLst>
        </pc:spChg>
        <pc:spChg chg="add del mod">
          <ac:chgData name="eldhosegeorge2004@gmail.com" userId="bb930cee868d596a" providerId="LiveId" clId="{206EC0BE-C7B5-4A27-ACF3-C18A82B32411}" dt="2025-09-24T04:55:43.924" v="65"/>
          <ac:spMkLst>
            <pc:docMk/>
            <pc:sldMk cId="0" sldId="265"/>
            <ac:spMk id="25" creationId="{A9480A56-4FA5-E10A-C407-67799B2F84FF}"/>
          </ac:spMkLst>
        </pc:spChg>
        <pc:spChg chg="add del mod">
          <ac:chgData name="eldhosegeorge2004@gmail.com" userId="bb930cee868d596a" providerId="LiveId" clId="{206EC0BE-C7B5-4A27-ACF3-C18A82B32411}" dt="2025-09-24T04:56:42.008" v="98"/>
          <ac:spMkLst>
            <pc:docMk/>
            <pc:sldMk cId="0" sldId="265"/>
            <ac:spMk id="26" creationId="{D15AA073-F56E-1D6F-70DF-8EA8BD425855}"/>
          </ac:spMkLst>
        </pc:spChg>
        <pc:spChg chg="add del mod">
          <ac:chgData name="eldhosegeorge2004@gmail.com" userId="bb930cee868d596a" providerId="LiveId" clId="{206EC0BE-C7B5-4A27-ACF3-C18A82B32411}" dt="2025-09-24T04:56:42.008" v="100"/>
          <ac:spMkLst>
            <pc:docMk/>
            <pc:sldMk cId="0" sldId="265"/>
            <ac:spMk id="27" creationId="{86585CDD-431B-1208-B00A-5B659932A2FE}"/>
          </ac:spMkLst>
        </pc:spChg>
        <pc:spChg chg="add del mod">
          <ac:chgData name="eldhosegeorge2004@gmail.com" userId="bb930cee868d596a" providerId="LiveId" clId="{206EC0BE-C7B5-4A27-ACF3-C18A82B32411}" dt="2025-09-24T04:56:42.008" v="102"/>
          <ac:spMkLst>
            <pc:docMk/>
            <pc:sldMk cId="0" sldId="265"/>
            <ac:spMk id="28" creationId="{AD26F05C-CF9E-05BB-AA4E-FFA1136D394C}"/>
          </ac:spMkLst>
        </pc:spChg>
        <pc:spChg chg="add mod">
          <ac:chgData name="eldhosegeorge2004@gmail.com" userId="bb930cee868d596a" providerId="LiveId" clId="{206EC0BE-C7B5-4A27-ACF3-C18A82B32411}" dt="2025-09-24T04:56:47.302" v="103" actId="14100"/>
          <ac:spMkLst>
            <pc:docMk/>
            <pc:sldMk cId="0" sldId="265"/>
            <ac:spMk id="29" creationId="{FCA0F154-68A8-5994-BA48-76032C90DD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5060" y="0"/>
            <a:ext cx="18153380" cy="10287000"/>
          </a:xfrm>
          <a:custGeom>
            <a:avLst/>
            <a:gdLst/>
            <a:ahLst/>
            <a:cxnLst/>
            <a:rect l="l" t="t" r="r" b="b"/>
            <a:pathLst>
              <a:path w="18153380" h="10287000">
                <a:moveTo>
                  <a:pt x="1815293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152938" y="0"/>
                </a:lnTo>
                <a:lnTo>
                  <a:pt x="18152938" y="10286999"/>
                </a:lnTo>
                <a:close/>
              </a:path>
            </a:pathLst>
          </a:custGeom>
          <a:solidFill>
            <a:srgbClr val="FFFFFF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98" y="720723"/>
            <a:ext cx="10829925" cy="682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9537" y="2947902"/>
            <a:ext cx="16314419" cy="6341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4F536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7" y="941549"/>
            <a:ext cx="8816975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sz="5550" dirty="0"/>
              <a:t>Navi</a:t>
            </a:r>
            <a:r>
              <a:rPr sz="5550" spc="-30" dirty="0"/>
              <a:t> </a:t>
            </a:r>
            <a:r>
              <a:rPr sz="5550" dirty="0"/>
              <a:t>Mumbai</a:t>
            </a:r>
            <a:r>
              <a:rPr sz="5550" spc="-20" dirty="0"/>
              <a:t> </a:t>
            </a:r>
            <a:r>
              <a:rPr sz="5550" spc="-10" dirty="0"/>
              <a:t>International </a:t>
            </a:r>
            <a:r>
              <a:rPr sz="5550" dirty="0"/>
              <a:t>Airport</a:t>
            </a:r>
            <a:r>
              <a:rPr sz="5550" spc="-40" dirty="0"/>
              <a:t> </a:t>
            </a:r>
            <a:r>
              <a:rPr sz="5550" spc="-10" dirty="0"/>
              <a:t>(NMIA)</a:t>
            </a:r>
            <a:endParaRPr sz="555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487426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542701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5979764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6532512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7085259"/>
            <a:ext cx="76200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7638008"/>
            <a:ext cx="76200" cy="76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537" y="8190756"/>
            <a:ext cx="76200" cy="76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9537" y="3152987"/>
            <a:ext cx="6307455" cy="5220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Streamlined</a:t>
            </a:r>
            <a:r>
              <a:rPr sz="2150" b="1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Environmental</a:t>
            </a:r>
            <a:r>
              <a:rPr sz="2150" b="1" spc="8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Impact</a:t>
            </a:r>
            <a:r>
              <a:rPr sz="2150" b="1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Assessment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Team</a:t>
            </a:r>
            <a:r>
              <a:rPr sz="2150" b="1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Members:</a:t>
            </a:r>
            <a:endParaRPr sz="2150">
              <a:latin typeface="Arial"/>
              <a:cs typeface="Arial"/>
            </a:endParaRPr>
          </a:p>
          <a:p>
            <a:pPr marL="342265" marR="3889375">
              <a:lnSpc>
                <a:spcPct val="168700"/>
              </a:lnSpc>
              <a:spcBef>
                <a:spcPts val="1730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BENNAT</a:t>
            </a:r>
            <a:r>
              <a:rPr sz="2150" b="1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20" dirty="0">
                <a:solidFill>
                  <a:srgbClr val="5B5E70"/>
                </a:solidFill>
                <a:latin typeface="Arial"/>
                <a:cs typeface="Arial"/>
              </a:rPr>
              <a:t>SANIL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BIYA</a:t>
            </a:r>
            <a:r>
              <a:rPr sz="2150" b="1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20" dirty="0">
                <a:solidFill>
                  <a:srgbClr val="5B5E70"/>
                </a:solidFill>
                <a:latin typeface="Arial"/>
                <a:cs typeface="Arial"/>
              </a:rPr>
              <a:t>BIJI</a:t>
            </a:r>
            <a:endParaRPr sz="2150">
              <a:latin typeface="Arial"/>
              <a:cs typeface="Arial"/>
            </a:endParaRPr>
          </a:p>
          <a:p>
            <a:pPr marL="342265" marR="3117215">
              <a:lnSpc>
                <a:spcPct val="168700"/>
              </a:lnSpc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CHRISTIN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JOSE</a:t>
            </a:r>
            <a:r>
              <a:rPr sz="2150" b="1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20" dirty="0">
                <a:solidFill>
                  <a:srgbClr val="5B5E70"/>
                </a:solidFill>
                <a:latin typeface="Arial"/>
                <a:cs typeface="Arial"/>
              </a:rPr>
              <a:t>BIJU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DHANUSH</a:t>
            </a:r>
            <a:r>
              <a:rPr sz="2150" b="1" spc="8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RAJESH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DIYA</a:t>
            </a:r>
            <a:r>
              <a:rPr sz="2150" b="1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SHELLY</a:t>
            </a:r>
            <a:endParaRPr sz="2150">
              <a:latin typeface="Arial"/>
              <a:cs typeface="Arial"/>
            </a:endParaRPr>
          </a:p>
          <a:p>
            <a:pPr marL="342265" marR="3317875">
              <a:lnSpc>
                <a:spcPct val="168700"/>
              </a:lnSpc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DONI</a:t>
            </a:r>
            <a:r>
              <a:rPr sz="2150" b="1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20" dirty="0">
                <a:solidFill>
                  <a:srgbClr val="5B5E70"/>
                </a:solidFill>
                <a:latin typeface="Arial"/>
                <a:cs typeface="Arial"/>
              </a:rPr>
              <a:t>BELGI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ELDHOSE</a:t>
            </a:r>
            <a:r>
              <a:rPr sz="2150" b="1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GEORGE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161" y="1063092"/>
            <a:ext cx="106083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Introduction</a:t>
            </a:r>
            <a:r>
              <a:rPr sz="5000" spc="-70" dirty="0"/>
              <a:t> </a:t>
            </a:r>
            <a:r>
              <a:rPr sz="5000" dirty="0"/>
              <a:t>&amp;</a:t>
            </a:r>
            <a:r>
              <a:rPr sz="5000" spc="-70" dirty="0"/>
              <a:t> </a:t>
            </a:r>
            <a:r>
              <a:rPr sz="5000" dirty="0"/>
              <a:t>Project</a:t>
            </a:r>
            <a:r>
              <a:rPr sz="5000" spc="-70" dirty="0"/>
              <a:t> </a:t>
            </a:r>
            <a:r>
              <a:rPr sz="5000" spc="-10" dirty="0"/>
              <a:t>Significance</a:t>
            </a:r>
            <a:endParaRPr sz="5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86" y="4489176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86" y="5306242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1161" y="2111559"/>
            <a:ext cx="16311880" cy="3372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95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Navi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(NMIA)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greenfield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being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developed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Ulwe,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Panvel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Taluka,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cater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growing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travel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demand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Metropolitan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Region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(MMR).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Key</a:t>
            </a:r>
            <a:r>
              <a:rPr sz="4000" b="1" spc="-9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Objectives</a:t>
            </a:r>
            <a:r>
              <a:rPr sz="4000" b="1" spc="-9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&amp;</a:t>
            </a:r>
            <a:r>
              <a:rPr sz="4000" b="1" spc="-9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4F5367"/>
                </a:solidFill>
                <a:latin typeface="Arial"/>
                <a:cs typeface="Arial"/>
              </a:rPr>
              <a:t>Capacity</a:t>
            </a:r>
            <a:endParaRPr sz="4000">
              <a:latin typeface="Arial"/>
              <a:cs typeface="Arial"/>
            </a:endParaRPr>
          </a:p>
          <a:p>
            <a:pPr marL="313690" marR="620395">
              <a:lnSpc>
                <a:spcPct val="131300"/>
              </a:lnSpc>
              <a:spcBef>
                <a:spcPts val="2220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Capacity: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Designed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handle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minimum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60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million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passengers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per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annum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(MPPA)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1.5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million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tonnes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cargo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annually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at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its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B5E70"/>
                </a:solidFill>
                <a:latin typeface="Arial"/>
                <a:cs typeface="Arial"/>
              </a:rPr>
              <a:t>final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phase.</a:t>
            </a:r>
            <a:endParaRPr sz="2000">
              <a:latin typeface="Arial"/>
              <a:cs typeface="Arial"/>
            </a:endParaRPr>
          </a:p>
          <a:p>
            <a:pPr marL="313690">
              <a:lnSpc>
                <a:spcPct val="100000"/>
              </a:lnSpc>
              <a:spcBef>
                <a:spcPts val="880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Vision: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be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climate-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resilient,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B5E70"/>
                </a:solidFill>
                <a:latin typeface="Arial"/>
                <a:cs typeface="Arial"/>
              </a:rPr>
              <a:t>carbon-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neutral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state-of-the-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art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IATA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benchmark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level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0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service.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161" y="5980329"/>
            <a:ext cx="52749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Why</a:t>
            </a:r>
            <a:r>
              <a:rPr sz="4000" b="1" spc="-4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is</a:t>
            </a:r>
            <a:r>
              <a:rPr sz="4000" b="1" spc="-5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F5367"/>
                </a:solidFill>
                <a:latin typeface="Arial"/>
                <a:cs typeface="Arial"/>
              </a:rPr>
              <a:t>NMIA</a:t>
            </a:r>
            <a:r>
              <a:rPr sz="4000" b="1" spc="-4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4F5367"/>
                </a:solidFill>
                <a:latin typeface="Arial"/>
                <a:cs typeface="Arial"/>
              </a:rPr>
              <a:t>Critical?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86" y="7206257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2687" y="6958593"/>
            <a:ext cx="15717519" cy="2418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735">
              <a:lnSpc>
                <a:spcPct val="131300"/>
              </a:lnSpc>
              <a:spcBef>
                <a:spcPts val="95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Growing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Demand: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MMR's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annual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passenger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traffic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projected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exceed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160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million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by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2038,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demand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existing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Chhatrapati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Shivaji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Maharaj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(CSMIA)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cannot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handle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alone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as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it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nearing</a:t>
            </a:r>
            <a:r>
              <a:rPr sz="20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its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operational</a:t>
            </a:r>
            <a:r>
              <a:rPr sz="2000" spc="-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limit.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3150"/>
              </a:lnSpc>
              <a:spcBef>
                <a:spcPts val="35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Hub: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project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crucial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maintaining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Maharashtra's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leadership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cementing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Mumbai's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future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as</a:t>
            </a:r>
            <a:r>
              <a:rPr sz="2000" spc="-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an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International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Financial</a:t>
            </a:r>
            <a:r>
              <a:rPr sz="2000" spc="-1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Centre.</a:t>
            </a:r>
            <a:endParaRPr sz="2000">
              <a:latin typeface="Arial"/>
              <a:cs typeface="Arial"/>
            </a:endParaRPr>
          </a:p>
          <a:p>
            <a:pPr marL="12700" marR="40005">
              <a:lnSpc>
                <a:spcPts val="3150"/>
              </a:lnSpc>
              <a:spcBef>
                <a:spcPts val="5"/>
              </a:spcBef>
            </a:pP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Dual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System: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NMIA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create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India's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first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dual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system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single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metropolitan</a:t>
            </a:r>
            <a:r>
              <a:rPr sz="2000" spc="-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region,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relieving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pressure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on</a:t>
            </a:r>
            <a:r>
              <a:rPr sz="20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B5E70"/>
                </a:solidFill>
                <a:latin typeface="Arial"/>
                <a:cs typeface="Arial"/>
              </a:rPr>
              <a:t>the </a:t>
            </a:r>
            <a:r>
              <a:rPr sz="2000" spc="-20" dirty="0">
                <a:solidFill>
                  <a:srgbClr val="5B5E70"/>
                </a:solidFill>
                <a:latin typeface="Arial"/>
                <a:cs typeface="Arial"/>
              </a:rPr>
              <a:t>land-</a:t>
            </a:r>
            <a:r>
              <a:rPr sz="2000" dirty="0">
                <a:solidFill>
                  <a:srgbClr val="5B5E70"/>
                </a:solidFill>
                <a:latin typeface="Arial"/>
                <a:cs typeface="Arial"/>
              </a:rPr>
              <a:t>constrained</a:t>
            </a:r>
            <a:r>
              <a:rPr sz="2000" spc="-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5E70"/>
                </a:solidFill>
                <a:latin typeface="Arial"/>
                <a:cs typeface="Arial"/>
              </a:rPr>
              <a:t>CSMIA.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86" y="7981354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86" y="8798421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6" y="1298519"/>
            <a:ext cx="11956415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dirty="0"/>
              <a:t>Project</a:t>
            </a:r>
            <a:r>
              <a:rPr sz="5550" spc="-25" dirty="0"/>
              <a:t> </a:t>
            </a:r>
            <a:r>
              <a:rPr sz="5550" dirty="0"/>
              <a:t>Proponent</a:t>
            </a:r>
            <a:r>
              <a:rPr sz="5550" spc="-25" dirty="0"/>
              <a:t> </a:t>
            </a:r>
            <a:r>
              <a:rPr sz="5550" dirty="0"/>
              <a:t>&amp;</a:t>
            </a:r>
            <a:r>
              <a:rPr sz="5550" spc="-25" dirty="0"/>
              <a:t> </a:t>
            </a:r>
            <a:r>
              <a:rPr sz="5550" dirty="0"/>
              <a:t>Current</a:t>
            </a:r>
            <a:r>
              <a:rPr sz="5550" spc="-25" dirty="0"/>
              <a:t> </a:t>
            </a:r>
            <a:r>
              <a:rPr sz="5550" spc="-10" dirty="0"/>
              <a:t>Status</a:t>
            </a:r>
            <a:endParaRPr sz="5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3717490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4389666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6000" y="2638263"/>
            <a:ext cx="15816580" cy="23818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400" b="1" dirty="0">
                <a:solidFill>
                  <a:srgbClr val="4F5367"/>
                </a:solidFill>
                <a:latin typeface="Arial"/>
                <a:cs typeface="Arial"/>
              </a:rPr>
              <a:t>Project</a:t>
            </a:r>
            <a:r>
              <a:rPr sz="4400" b="1" spc="-10" dirty="0">
                <a:solidFill>
                  <a:srgbClr val="4F5367"/>
                </a:solidFill>
                <a:latin typeface="Arial"/>
                <a:cs typeface="Arial"/>
              </a:rPr>
              <a:t> Execution</a:t>
            </a:r>
            <a:endParaRPr sz="440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  <a:spcBef>
                <a:spcPts val="183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Proponent: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Navi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Pvt.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Ltd.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(NMIAL),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Special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Purpose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Vehicle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(SPV).</a:t>
            </a:r>
            <a:endParaRPr sz="2150">
              <a:latin typeface="Arial"/>
              <a:cs typeface="Arial"/>
            </a:endParaRPr>
          </a:p>
          <a:p>
            <a:pPr marL="305435" marR="5080">
              <a:lnSpc>
                <a:spcPct val="136600"/>
              </a:lnSpc>
              <a:spcBef>
                <a:spcPts val="177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Ownership: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Public-Private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Partnership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(PPP)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International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Ltd.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(MIAL)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holding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74%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stake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City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Industrial</a:t>
            </a:r>
            <a:r>
              <a:rPr sz="215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215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Corporation</a:t>
            </a:r>
            <a:r>
              <a:rPr sz="215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(CIDCO)</a:t>
            </a:r>
            <a:r>
              <a:rPr sz="215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holding</a:t>
            </a:r>
            <a:r>
              <a:rPr sz="215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26%.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5515998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09340" y="5339849"/>
            <a:ext cx="1339278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Model: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project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being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implemented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on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Design,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Build,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Finance,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Operate,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Transfer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(DBFOT)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basis.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7003999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7552878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8105328"/>
            <a:ext cx="76200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6" y="8650338"/>
            <a:ext cx="76200" cy="761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16000" y="5569627"/>
            <a:ext cx="15630525" cy="3263265"/>
          </a:xfrm>
          <a:prstGeom prst="rect">
            <a:avLst/>
          </a:prstGeom>
        </p:spPr>
        <p:txBody>
          <a:bodyPr vert="horz" wrap="square" lIns="0" tIns="407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4"/>
              </a:spcBef>
            </a:pPr>
            <a:r>
              <a:rPr sz="4400" b="1" dirty="0">
                <a:solidFill>
                  <a:srgbClr val="4F5367"/>
                </a:solidFill>
                <a:latin typeface="Arial"/>
                <a:cs typeface="Arial"/>
              </a:rPr>
              <a:t>Project</a:t>
            </a:r>
            <a:r>
              <a:rPr sz="4400" b="1" spc="1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4F5367"/>
                </a:solidFill>
                <a:latin typeface="Arial"/>
                <a:cs typeface="Arial"/>
              </a:rPr>
              <a:t>Status</a:t>
            </a:r>
            <a:r>
              <a:rPr sz="4400" b="1" spc="2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4F5367"/>
                </a:solidFill>
                <a:latin typeface="Arial"/>
                <a:cs typeface="Arial"/>
              </a:rPr>
              <a:t>(as</a:t>
            </a:r>
            <a:r>
              <a:rPr sz="4400" b="1" spc="2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4F5367"/>
                </a:solidFill>
                <a:latin typeface="Arial"/>
                <a:cs typeface="Arial"/>
              </a:rPr>
              <a:t>of</a:t>
            </a:r>
            <a:r>
              <a:rPr sz="4400" b="1" spc="2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4F5367"/>
                </a:solidFill>
                <a:latin typeface="Arial"/>
                <a:cs typeface="Arial"/>
              </a:rPr>
              <a:t>mid-2021)</a:t>
            </a:r>
            <a:endParaRPr sz="440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  <a:spcBef>
                <a:spcPts val="156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On-going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Project: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On-site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work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commenced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April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2017.</a:t>
            </a:r>
            <a:endParaRPr sz="2150">
              <a:latin typeface="Arial"/>
              <a:cs typeface="Arial"/>
            </a:endParaRPr>
          </a:p>
          <a:p>
            <a:pPr marL="305435" marR="5080">
              <a:lnSpc>
                <a:spcPts val="4350"/>
              </a:lnSpc>
              <a:spcBef>
                <a:spcPts val="409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Pre-Development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Works: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Major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activities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cutting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Ulwe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Hill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diversion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Ulwe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River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are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nearly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complete.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Financial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Progress: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total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₹5,478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Crores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has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incurred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till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March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2021,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which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35%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Phase-I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project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cost.</a:t>
            </a:r>
            <a:endParaRPr sz="215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  <a:spcBef>
                <a:spcPts val="127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Rehabilitation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Resettlement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(R&amp;R):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97.3%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3,113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project-affected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families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successfully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rehabilitated.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129520"/>
            <a:ext cx="8857615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dirty="0"/>
              <a:t>Phase</a:t>
            </a:r>
            <a:r>
              <a:rPr sz="5550" spc="-50" dirty="0"/>
              <a:t> </a:t>
            </a:r>
            <a:r>
              <a:rPr sz="5550" dirty="0"/>
              <a:t>Development</a:t>
            </a:r>
            <a:r>
              <a:rPr sz="5550" spc="-35" dirty="0"/>
              <a:t> </a:t>
            </a:r>
            <a:r>
              <a:rPr sz="5550" spc="-20" dirty="0"/>
              <a:t>Plan</a:t>
            </a:r>
            <a:endParaRPr sz="5550" dirty="0"/>
          </a:p>
        </p:txBody>
      </p:sp>
      <p:sp>
        <p:nvSpPr>
          <p:cNvPr id="3" name="object 3"/>
          <p:cNvSpPr txBox="1"/>
          <p:nvPr/>
        </p:nvSpPr>
        <p:spPr>
          <a:xfrm>
            <a:off x="1016000" y="2234343"/>
            <a:ext cx="15941040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developed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four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distinct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phases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gradually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scale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capacity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rising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traffic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demand.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scheduled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5B5E70"/>
                </a:solidFill>
                <a:latin typeface="Arial"/>
                <a:cs typeface="Arial"/>
              </a:rPr>
              <a:t>for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completion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by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December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2024.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7474" y="3823395"/>
            <a:ext cx="16313150" cy="4093210"/>
            <a:chOff x="987474" y="3823395"/>
            <a:chExt cx="16313150" cy="4093210"/>
          </a:xfrm>
        </p:grpSpPr>
        <p:sp>
          <p:nvSpPr>
            <p:cNvPr id="5" name="object 5"/>
            <p:cNvSpPr/>
            <p:nvPr/>
          </p:nvSpPr>
          <p:spPr>
            <a:xfrm>
              <a:off x="987474" y="3823395"/>
              <a:ext cx="16313150" cy="4093210"/>
            </a:xfrm>
            <a:custGeom>
              <a:avLst/>
              <a:gdLst/>
              <a:ahLst/>
              <a:cxnLst/>
              <a:rect l="l" t="t" r="r" b="b"/>
              <a:pathLst>
                <a:path w="16313150" h="4093209">
                  <a:moveTo>
                    <a:pt x="124015" y="4093070"/>
                  </a:moveTo>
                  <a:lnTo>
                    <a:pt x="75746" y="4083351"/>
                  </a:lnTo>
                  <a:lnTo>
                    <a:pt x="36325" y="4056815"/>
                  </a:lnTo>
                  <a:lnTo>
                    <a:pt x="9746" y="4017457"/>
                  </a:lnTo>
                  <a:lnTo>
                    <a:pt x="0" y="3969257"/>
                  </a:lnTo>
                  <a:lnTo>
                    <a:pt x="0" y="123825"/>
                  </a:lnTo>
                  <a:lnTo>
                    <a:pt x="9746" y="75625"/>
                  </a:lnTo>
                  <a:lnTo>
                    <a:pt x="36325" y="36266"/>
                  </a:lnTo>
                  <a:lnTo>
                    <a:pt x="75746" y="9730"/>
                  </a:lnTo>
                  <a:lnTo>
                    <a:pt x="124015" y="0"/>
                  </a:lnTo>
                  <a:lnTo>
                    <a:pt x="16188972" y="0"/>
                  </a:lnTo>
                  <a:lnTo>
                    <a:pt x="16188972" y="4762"/>
                  </a:lnTo>
                  <a:lnTo>
                    <a:pt x="124015" y="4762"/>
                  </a:lnTo>
                  <a:lnTo>
                    <a:pt x="124015" y="9525"/>
                  </a:lnTo>
                  <a:lnTo>
                    <a:pt x="79444" y="18503"/>
                  </a:lnTo>
                  <a:lnTo>
                    <a:pt x="43053" y="42993"/>
                  </a:lnTo>
                  <a:lnTo>
                    <a:pt x="18520" y="79323"/>
                  </a:lnTo>
                  <a:lnTo>
                    <a:pt x="9525" y="123825"/>
                  </a:lnTo>
                  <a:lnTo>
                    <a:pt x="9525" y="3969257"/>
                  </a:lnTo>
                  <a:lnTo>
                    <a:pt x="18520" y="4013758"/>
                  </a:lnTo>
                  <a:lnTo>
                    <a:pt x="43053" y="4050089"/>
                  </a:lnTo>
                  <a:lnTo>
                    <a:pt x="79444" y="4074578"/>
                  </a:lnTo>
                  <a:lnTo>
                    <a:pt x="124015" y="4083557"/>
                  </a:lnTo>
                  <a:lnTo>
                    <a:pt x="16236219" y="4083557"/>
                  </a:lnTo>
                  <a:lnTo>
                    <a:pt x="16212593" y="4088320"/>
                  </a:lnTo>
                  <a:lnTo>
                    <a:pt x="124015" y="4088320"/>
                  </a:lnTo>
                  <a:lnTo>
                    <a:pt x="124015" y="4093070"/>
                  </a:lnTo>
                  <a:close/>
                </a:path>
                <a:path w="16313150" h="4093209">
                  <a:moveTo>
                    <a:pt x="16236219" y="4083557"/>
                  </a:moveTo>
                  <a:lnTo>
                    <a:pt x="16188972" y="4083557"/>
                  </a:lnTo>
                  <a:lnTo>
                    <a:pt x="16233544" y="4074578"/>
                  </a:lnTo>
                  <a:lnTo>
                    <a:pt x="16269936" y="4050089"/>
                  </a:lnTo>
                  <a:lnTo>
                    <a:pt x="16294469" y="4013758"/>
                  </a:lnTo>
                  <a:lnTo>
                    <a:pt x="16303464" y="3969257"/>
                  </a:lnTo>
                  <a:lnTo>
                    <a:pt x="16303464" y="123825"/>
                  </a:lnTo>
                  <a:lnTo>
                    <a:pt x="16294469" y="79323"/>
                  </a:lnTo>
                  <a:lnTo>
                    <a:pt x="16269936" y="42993"/>
                  </a:lnTo>
                  <a:lnTo>
                    <a:pt x="16233544" y="18503"/>
                  </a:lnTo>
                  <a:lnTo>
                    <a:pt x="16188972" y="9525"/>
                  </a:lnTo>
                  <a:lnTo>
                    <a:pt x="124015" y="9525"/>
                  </a:lnTo>
                  <a:lnTo>
                    <a:pt x="124015" y="4762"/>
                  </a:lnTo>
                  <a:lnTo>
                    <a:pt x="16188972" y="4762"/>
                  </a:lnTo>
                  <a:lnTo>
                    <a:pt x="16188972" y="0"/>
                  </a:lnTo>
                  <a:lnTo>
                    <a:pt x="16237242" y="9730"/>
                  </a:lnTo>
                  <a:lnTo>
                    <a:pt x="16276662" y="36266"/>
                  </a:lnTo>
                  <a:lnTo>
                    <a:pt x="16303242" y="75625"/>
                  </a:lnTo>
                  <a:lnTo>
                    <a:pt x="16312989" y="123825"/>
                  </a:lnTo>
                  <a:lnTo>
                    <a:pt x="16312989" y="3969257"/>
                  </a:lnTo>
                  <a:lnTo>
                    <a:pt x="16303242" y="4017457"/>
                  </a:lnTo>
                  <a:lnTo>
                    <a:pt x="16276662" y="4056815"/>
                  </a:lnTo>
                  <a:lnTo>
                    <a:pt x="16237242" y="4083351"/>
                  </a:lnTo>
                  <a:lnTo>
                    <a:pt x="16236219" y="4083557"/>
                  </a:lnTo>
                  <a:close/>
                </a:path>
                <a:path w="16313150" h="4093209">
                  <a:moveTo>
                    <a:pt x="16188972" y="4093070"/>
                  </a:moveTo>
                  <a:lnTo>
                    <a:pt x="124015" y="4093070"/>
                  </a:lnTo>
                  <a:lnTo>
                    <a:pt x="124015" y="4088320"/>
                  </a:lnTo>
                  <a:lnTo>
                    <a:pt x="16188972" y="4088320"/>
                  </a:lnTo>
                  <a:lnTo>
                    <a:pt x="16188972" y="4093070"/>
                  </a:lnTo>
                  <a:close/>
                </a:path>
                <a:path w="16313150" h="4093209">
                  <a:moveTo>
                    <a:pt x="16189028" y="4093070"/>
                  </a:moveTo>
                  <a:lnTo>
                    <a:pt x="16188972" y="4088320"/>
                  </a:lnTo>
                  <a:lnTo>
                    <a:pt x="16212593" y="4088320"/>
                  </a:lnTo>
                  <a:lnTo>
                    <a:pt x="16189028" y="4093070"/>
                  </a:lnTo>
                  <a:close/>
                </a:path>
              </a:pathLst>
            </a:custGeom>
            <a:solidFill>
              <a:srgbClr val="000000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1762" y="3837682"/>
              <a:ext cx="16283940" cy="813435"/>
            </a:xfrm>
            <a:custGeom>
              <a:avLst/>
              <a:gdLst/>
              <a:ahLst/>
              <a:cxnLst/>
              <a:rect l="l" t="t" r="r" b="b"/>
              <a:pathLst>
                <a:path w="16283940" h="813435">
                  <a:moveTo>
                    <a:pt x="16283377" y="812898"/>
                  </a:moveTo>
                  <a:lnTo>
                    <a:pt x="0" y="812898"/>
                  </a:lnTo>
                  <a:lnTo>
                    <a:pt x="0" y="0"/>
                  </a:lnTo>
                  <a:lnTo>
                    <a:pt x="16283377" y="0"/>
                  </a:lnTo>
                  <a:lnTo>
                    <a:pt x="16283377" y="812898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4366" y="3972137"/>
            <a:ext cx="84391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6145" y="3972137"/>
            <a:ext cx="300418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Terminal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33162" y="3972137"/>
            <a:ext cx="275717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Cumulative</a:t>
            </a:r>
            <a:r>
              <a:rPr sz="2150" b="1" spc="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5B5E70"/>
                </a:solidFill>
                <a:latin typeface="Arial"/>
                <a:cs typeface="Arial"/>
              </a:rPr>
              <a:t>Capacity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01762" y="4650581"/>
            <a:ext cx="16283940" cy="813435"/>
          </a:xfrm>
          <a:custGeom>
            <a:avLst/>
            <a:gdLst/>
            <a:ahLst/>
            <a:cxnLst/>
            <a:rect l="l" t="t" r="r" b="b"/>
            <a:pathLst>
              <a:path w="16283940" h="813435">
                <a:moveTo>
                  <a:pt x="16283377" y="812898"/>
                </a:moveTo>
                <a:lnTo>
                  <a:pt x="0" y="812898"/>
                </a:lnTo>
                <a:lnTo>
                  <a:pt x="0" y="0"/>
                </a:lnTo>
                <a:lnTo>
                  <a:pt x="16283377" y="0"/>
                </a:lnTo>
                <a:lnTo>
                  <a:pt x="16283377" y="812898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74366" y="4785035"/>
            <a:ext cx="96774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5B5E70"/>
                </a:solidFill>
                <a:latin typeface="Arial"/>
                <a:cs typeface="Arial"/>
              </a:rPr>
              <a:t>I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6145" y="4785035"/>
            <a:ext cx="337439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Terminal</a:t>
            </a:r>
            <a:r>
              <a:rPr sz="2150" spc="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1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(with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West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Pier)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3162" y="4785035"/>
            <a:ext cx="11988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10</a:t>
            </a:r>
            <a:r>
              <a:rPr sz="21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MPPA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01762" y="5463479"/>
            <a:ext cx="16283940" cy="813435"/>
          </a:xfrm>
          <a:custGeom>
            <a:avLst/>
            <a:gdLst/>
            <a:ahLst/>
            <a:cxnLst/>
            <a:rect l="l" t="t" r="r" b="b"/>
            <a:pathLst>
              <a:path w="16283940" h="813435">
                <a:moveTo>
                  <a:pt x="16283377" y="812898"/>
                </a:moveTo>
                <a:lnTo>
                  <a:pt x="0" y="812898"/>
                </a:lnTo>
                <a:lnTo>
                  <a:pt x="0" y="0"/>
                </a:lnTo>
                <a:lnTo>
                  <a:pt x="16283377" y="0"/>
                </a:lnTo>
                <a:lnTo>
                  <a:pt x="16283377" y="812898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74366" y="5597935"/>
            <a:ext cx="104457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5B5E70"/>
                </a:solidFill>
                <a:latin typeface="Arial"/>
                <a:cs typeface="Arial"/>
              </a:rPr>
              <a:t>II</a:t>
            </a:r>
            <a:endParaRPr sz="2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6145" y="5597935"/>
            <a:ext cx="426974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Terminal</a:t>
            </a:r>
            <a:r>
              <a:rPr sz="2150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1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(with</a:t>
            </a:r>
            <a:r>
              <a:rPr sz="2150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West</a:t>
            </a:r>
            <a:r>
              <a:rPr sz="2150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East</a:t>
            </a:r>
            <a:r>
              <a:rPr sz="2150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Pier)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33162" y="5597935"/>
            <a:ext cx="11988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20</a:t>
            </a:r>
            <a:r>
              <a:rPr sz="21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MPPA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01762" y="6276380"/>
            <a:ext cx="16283940" cy="813435"/>
          </a:xfrm>
          <a:custGeom>
            <a:avLst/>
            <a:gdLst/>
            <a:ahLst/>
            <a:cxnLst/>
            <a:rect l="l" t="t" r="r" b="b"/>
            <a:pathLst>
              <a:path w="16283940" h="813434">
                <a:moveTo>
                  <a:pt x="16283377" y="812898"/>
                </a:moveTo>
                <a:lnTo>
                  <a:pt x="0" y="812898"/>
                </a:lnTo>
                <a:lnTo>
                  <a:pt x="0" y="0"/>
                </a:lnTo>
                <a:lnTo>
                  <a:pt x="16283377" y="0"/>
                </a:lnTo>
                <a:lnTo>
                  <a:pt x="16283377" y="812898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74366" y="6410834"/>
            <a:ext cx="112204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5B5E70"/>
                </a:solidFill>
                <a:latin typeface="Arial"/>
                <a:cs typeface="Arial"/>
              </a:rPr>
              <a:t>III</a:t>
            </a:r>
            <a:endParaRPr sz="2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6145" y="6410834"/>
            <a:ext cx="133731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Terminal</a:t>
            </a:r>
            <a:r>
              <a:rPr sz="215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5B5E70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33162" y="6410834"/>
            <a:ext cx="11988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40</a:t>
            </a:r>
            <a:r>
              <a:rPr sz="21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MPPA</a:t>
            </a:r>
            <a:endParaRPr sz="21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01762" y="7089278"/>
            <a:ext cx="16283940" cy="813435"/>
          </a:xfrm>
          <a:custGeom>
            <a:avLst/>
            <a:gdLst/>
            <a:ahLst/>
            <a:cxnLst/>
            <a:rect l="l" t="t" r="r" b="b"/>
            <a:pathLst>
              <a:path w="16283940" h="813434">
                <a:moveTo>
                  <a:pt x="16283377" y="812898"/>
                </a:moveTo>
                <a:lnTo>
                  <a:pt x="0" y="812898"/>
                </a:lnTo>
                <a:lnTo>
                  <a:pt x="0" y="0"/>
                </a:lnTo>
                <a:lnTo>
                  <a:pt x="16283377" y="0"/>
                </a:lnTo>
                <a:lnTo>
                  <a:pt x="16283377" y="812898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74366" y="7223734"/>
            <a:ext cx="115252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5B5E70"/>
                </a:solidFill>
                <a:latin typeface="Arial"/>
                <a:cs typeface="Arial"/>
              </a:rPr>
              <a:t>IV</a:t>
            </a:r>
            <a:endParaRPr sz="2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06145" y="7223734"/>
            <a:ext cx="133731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Terminal</a:t>
            </a:r>
            <a:r>
              <a:rPr sz="215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5B5E70"/>
                </a:solidFill>
                <a:latin typeface="Arial"/>
                <a:cs typeface="Arial"/>
              </a:rPr>
              <a:t>3</a:t>
            </a:r>
            <a:endParaRPr sz="2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133162" y="7223734"/>
            <a:ext cx="11988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60</a:t>
            </a:r>
            <a:r>
              <a:rPr sz="21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MPPA</a:t>
            </a:r>
            <a:endParaRPr sz="2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7768" y="8071084"/>
            <a:ext cx="15185390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Subsequent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phases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(III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IV)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initiated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based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on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traffic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triggers,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ensuring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infrastructure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stays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ahead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5B5E70"/>
                </a:solidFill>
                <a:latin typeface="Arial"/>
                <a:cs typeface="Arial"/>
              </a:rPr>
              <a:t>of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demand.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994" y="966025"/>
            <a:ext cx="13044805" cy="806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00" dirty="0"/>
              <a:t>Airport</a:t>
            </a:r>
            <a:r>
              <a:rPr sz="5100" spc="-25" dirty="0"/>
              <a:t> </a:t>
            </a:r>
            <a:r>
              <a:rPr sz="5100" dirty="0"/>
              <a:t>Master</a:t>
            </a:r>
            <a:r>
              <a:rPr sz="5100" spc="-15" dirty="0"/>
              <a:t> </a:t>
            </a:r>
            <a:r>
              <a:rPr sz="5100" dirty="0"/>
              <a:t>Plan:</a:t>
            </a:r>
            <a:r>
              <a:rPr sz="5100" spc="-15" dirty="0"/>
              <a:t> </a:t>
            </a:r>
            <a:r>
              <a:rPr sz="5100" dirty="0"/>
              <a:t>Airside</a:t>
            </a:r>
            <a:r>
              <a:rPr sz="5100" spc="-15" dirty="0"/>
              <a:t> </a:t>
            </a:r>
            <a:r>
              <a:rPr sz="5100" spc="-10" dirty="0"/>
              <a:t>Infrastructure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876994" y="2303860"/>
            <a:ext cx="133178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The airside is designed for maximum operational efficiency and safety, accommodating the largest modern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aircraft.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9694" y="3199805"/>
            <a:ext cx="5351780" cy="2854325"/>
            <a:chOff x="889694" y="3199805"/>
            <a:chExt cx="5351780" cy="2854325"/>
          </a:xfrm>
        </p:grpSpPr>
        <p:sp>
          <p:nvSpPr>
            <p:cNvPr id="5" name="object 5"/>
            <p:cNvSpPr/>
            <p:nvPr/>
          </p:nvSpPr>
          <p:spPr>
            <a:xfrm>
              <a:off x="903982" y="3199805"/>
              <a:ext cx="5337810" cy="2854325"/>
            </a:xfrm>
            <a:custGeom>
              <a:avLst/>
              <a:gdLst/>
              <a:ahLst/>
              <a:cxnLst/>
              <a:rect l="l" t="t" r="r" b="b"/>
              <a:pathLst>
                <a:path w="5337810" h="2854325">
                  <a:moveTo>
                    <a:pt x="152114" y="2854236"/>
                  </a:moveTo>
                  <a:lnTo>
                    <a:pt x="137142" y="2854236"/>
                  </a:lnTo>
                  <a:lnTo>
                    <a:pt x="104127" y="2848929"/>
                  </a:lnTo>
                  <a:lnTo>
                    <a:pt x="62371" y="2827445"/>
                  </a:lnTo>
                  <a:lnTo>
                    <a:pt x="29417" y="2794673"/>
                  </a:lnTo>
                  <a:lnTo>
                    <a:pt x="7783" y="2753095"/>
                  </a:lnTo>
                  <a:lnTo>
                    <a:pt x="0" y="2705195"/>
                  </a:lnTo>
                  <a:lnTo>
                    <a:pt x="0" y="151447"/>
                  </a:lnTo>
                  <a:lnTo>
                    <a:pt x="7749" y="103638"/>
                  </a:lnTo>
                  <a:lnTo>
                    <a:pt x="29376" y="61968"/>
                  </a:lnTo>
                  <a:lnTo>
                    <a:pt x="62318" y="29196"/>
                  </a:lnTo>
                  <a:lnTo>
                    <a:pt x="104070" y="7713"/>
                  </a:lnTo>
                  <a:lnTo>
                    <a:pt x="152114" y="0"/>
                  </a:lnTo>
                  <a:lnTo>
                    <a:pt x="5185314" y="0"/>
                  </a:lnTo>
                  <a:lnTo>
                    <a:pt x="5185314" y="14287"/>
                  </a:lnTo>
                  <a:lnTo>
                    <a:pt x="152114" y="14287"/>
                  </a:lnTo>
                  <a:lnTo>
                    <a:pt x="152114" y="28575"/>
                  </a:lnTo>
                  <a:lnTo>
                    <a:pt x="103999" y="38236"/>
                  </a:lnTo>
                  <a:lnTo>
                    <a:pt x="64734" y="64579"/>
                  </a:lnTo>
                  <a:lnTo>
                    <a:pt x="38274" y="103638"/>
                  </a:lnTo>
                  <a:lnTo>
                    <a:pt x="28575" y="151447"/>
                  </a:lnTo>
                  <a:lnTo>
                    <a:pt x="28575" y="2705195"/>
                  </a:lnTo>
                  <a:lnTo>
                    <a:pt x="38335" y="2753095"/>
                  </a:lnTo>
                  <a:lnTo>
                    <a:pt x="64734" y="2792063"/>
                  </a:lnTo>
                  <a:lnTo>
                    <a:pt x="103999" y="2818405"/>
                  </a:lnTo>
                  <a:lnTo>
                    <a:pt x="152114" y="2828067"/>
                  </a:lnTo>
                  <a:lnTo>
                    <a:pt x="5273901" y="2828067"/>
                  </a:lnTo>
                  <a:lnTo>
                    <a:pt x="5246134" y="2842355"/>
                  </a:lnTo>
                  <a:lnTo>
                    <a:pt x="152114" y="2842355"/>
                  </a:lnTo>
                  <a:lnTo>
                    <a:pt x="152114" y="2854236"/>
                  </a:lnTo>
                  <a:close/>
                </a:path>
                <a:path w="5337810" h="2854325">
                  <a:moveTo>
                    <a:pt x="5273901" y="2828067"/>
                  </a:moveTo>
                  <a:lnTo>
                    <a:pt x="5185314" y="2828067"/>
                  </a:lnTo>
                  <a:lnTo>
                    <a:pt x="5233428" y="2818405"/>
                  </a:lnTo>
                  <a:lnTo>
                    <a:pt x="5272694" y="2792063"/>
                  </a:lnTo>
                  <a:lnTo>
                    <a:pt x="5299092" y="2753095"/>
                  </a:lnTo>
                  <a:lnTo>
                    <a:pt x="5308853" y="2705195"/>
                  </a:lnTo>
                  <a:lnTo>
                    <a:pt x="5308853" y="151447"/>
                  </a:lnTo>
                  <a:lnTo>
                    <a:pt x="5299154" y="103638"/>
                  </a:lnTo>
                  <a:lnTo>
                    <a:pt x="5272694" y="64579"/>
                  </a:lnTo>
                  <a:lnTo>
                    <a:pt x="5233428" y="38236"/>
                  </a:lnTo>
                  <a:lnTo>
                    <a:pt x="5185314" y="28575"/>
                  </a:lnTo>
                  <a:lnTo>
                    <a:pt x="152114" y="28575"/>
                  </a:lnTo>
                  <a:lnTo>
                    <a:pt x="152114" y="14287"/>
                  </a:lnTo>
                  <a:lnTo>
                    <a:pt x="5185314" y="14287"/>
                  </a:lnTo>
                  <a:lnTo>
                    <a:pt x="5185314" y="0"/>
                  </a:lnTo>
                  <a:lnTo>
                    <a:pt x="5233357" y="7713"/>
                  </a:lnTo>
                  <a:lnTo>
                    <a:pt x="5275109" y="29196"/>
                  </a:lnTo>
                  <a:lnTo>
                    <a:pt x="5308051" y="61968"/>
                  </a:lnTo>
                  <a:lnTo>
                    <a:pt x="5329679" y="103638"/>
                  </a:lnTo>
                  <a:lnTo>
                    <a:pt x="5337421" y="151447"/>
                  </a:lnTo>
                  <a:lnTo>
                    <a:pt x="5337421" y="2705195"/>
                  </a:lnTo>
                  <a:lnTo>
                    <a:pt x="5329664" y="2753095"/>
                  </a:lnTo>
                  <a:lnTo>
                    <a:pt x="5308051" y="2794673"/>
                  </a:lnTo>
                  <a:lnTo>
                    <a:pt x="5275109" y="2827445"/>
                  </a:lnTo>
                  <a:lnTo>
                    <a:pt x="5273901" y="2828067"/>
                  </a:lnTo>
                  <a:close/>
                </a:path>
                <a:path w="5337810" h="2854325">
                  <a:moveTo>
                    <a:pt x="5185314" y="2854236"/>
                  </a:moveTo>
                  <a:lnTo>
                    <a:pt x="152114" y="2854236"/>
                  </a:lnTo>
                  <a:lnTo>
                    <a:pt x="152114" y="2842355"/>
                  </a:lnTo>
                  <a:lnTo>
                    <a:pt x="5185314" y="2842355"/>
                  </a:lnTo>
                  <a:lnTo>
                    <a:pt x="5185314" y="2854236"/>
                  </a:lnTo>
                  <a:close/>
                </a:path>
                <a:path w="5337810" h="2854325">
                  <a:moveTo>
                    <a:pt x="5200303" y="2854236"/>
                  </a:moveTo>
                  <a:lnTo>
                    <a:pt x="5185314" y="2854236"/>
                  </a:lnTo>
                  <a:lnTo>
                    <a:pt x="5185314" y="2842355"/>
                  </a:lnTo>
                  <a:lnTo>
                    <a:pt x="5246134" y="2842355"/>
                  </a:lnTo>
                  <a:lnTo>
                    <a:pt x="5233357" y="2848929"/>
                  </a:lnTo>
                  <a:lnTo>
                    <a:pt x="5200303" y="2854236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694" y="3214092"/>
              <a:ext cx="114299" cy="282806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82253" y="3464633"/>
            <a:ext cx="4481830" cy="2148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" dirty="0">
                <a:solidFill>
                  <a:srgbClr val="5B5E70"/>
                </a:solidFill>
                <a:latin typeface="Arial"/>
                <a:cs typeface="Arial"/>
              </a:rPr>
              <a:t>Runways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735"/>
              </a:spcBef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Two parallel Code 4F runways, </a:t>
            </a:r>
            <a:r>
              <a:rPr sz="2050" spc="-20" dirty="0">
                <a:solidFill>
                  <a:srgbClr val="5B5E70"/>
                </a:solidFill>
                <a:latin typeface="Arial"/>
                <a:cs typeface="Arial"/>
              </a:rPr>
              <a:t>each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3,700m long and 60m wide,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separated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by</a:t>
            </a:r>
            <a:r>
              <a:rPr sz="205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1,580m</a:t>
            </a:r>
            <a:r>
              <a:rPr sz="205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5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allow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05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simultaneous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and independent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operations.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60925" y="3199805"/>
            <a:ext cx="5351780" cy="2854325"/>
            <a:chOff x="6460925" y="3199805"/>
            <a:chExt cx="5351780" cy="2854325"/>
          </a:xfrm>
        </p:grpSpPr>
        <p:sp>
          <p:nvSpPr>
            <p:cNvPr id="9" name="object 9"/>
            <p:cNvSpPr/>
            <p:nvPr/>
          </p:nvSpPr>
          <p:spPr>
            <a:xfrm>
              <a:off x="6475213" y="3199805"/>
              <a:ext cx="5337810" cy="2854325"/>
            </a:xfrm>
            <a:custGeom>
              <a:avLst/>
              <a:gdLst/>
              <a:ahLst/>
              <a:cxnLst/>
              <a:rect l="l" t="t" r="r" b="b"/>
              <a:pathLst>
                <a:path w="5337809" h="2854325">
                  <a:moveTo>
                    <a:pt x="152114" y="2854236"/>
                  </a:moveTo>
                  <a:lnTo>
                    <a:pt x="137142" y="2854236"/>
                  </a:lnTo>
                  <a:lnTo>
                    <a:pt x="104127" y="2848929"/>
                  </a:lnTo>
                  <a:lnTo>
                    <a:pt x="62371" y="2827445"/>
                  </a:lnTo>
                  <a:lnTo>
                    <a:pt x="29417" y="2794673"/>
                  </a:lnTo>
                  <a:lnTo>
                    <a:pt x="7783" y="2753095"/>
                  </a:lnTo>
                  <a:lnTo>
                    <a:pt x="0" y="2705195"/>
                  </a:lnTo>
                  <a:lnTo>
                    <a:pt x="0" y="151447"/>
                  </a:lnTo>
                  <a:lnTo>
                    <a:pt x="7749" y="103638"/>
                  </a:lnTo>
                  <a:lnTo>
                    <a:pt x="29376" y="61968"/>
                  </a:lnTo>
                  <a:lnTo>
                    <a:pt x="62318" y="29196"/>
                  </a:lnTo>
                  <a:lnTo>
                    <a:pt x="104071" y="7713"/>
                  </a:lnTo>
                  <a:lnTo>
                    <a:pt x="152114" y="0"/>
                  </a:lnTo>
                  <a:lnTo>
                    <a:pt x="5185315" y="0"/>
                  </a:lnTo>
                  <a:lnTo>
                    <a:pt x="5185315" y="14287"/>
                  </a:lnTo>
                  <a:lnTo>
                    <a:pt x="152114" y="14287"/>
                  </a:lnTo>
                  <a:lnTo>
                    <a:pt x="152114" y="28575"/>
                  </a:lnTo>
                  <a:lnTo>
                    <a:pt x="103999" y="38236"/>
                  </a:lnTo>
                  <a:lnTo>
                    <a:pt x="64734" y="64579"/>
                  </a:lnTo>
                  <a:lnTo>
                    <a:pt x="38274" y="103638"/>
                  </a:lnTo>
                  <a:lnTo>
                    <a:pt x="28575" y="151447"/>
                  </a:lnTo>
                  <a:lnTo>
                    <a:pt x="28575" y="2705195"/>
                  </a:lnTo>
                  <a:lnTo>
                    <a:pt x="38336" y="2753095"/>
                  </a:lnTo>
                  <a:lnTo>
                    <a:pt x="64734" y="2792063"/>
                  </a:lnTo>
                  <a:lnTo>
                    <a:pt x="103999" y="2818405"/>
                  </a:lnTo>
                  <a:lnTo>
                    <a:pt x="152114" y="2828067"/>
                  </a:lnTo>
                  <a:lnTo>
                    <a:pt x="5273901" y="2828067"/>
                  </a:lnTo>
                  <a:lnTo>
                    <a:pt x="5246134" y="2842355"/>
                  </a:lnTo>
                  <a:lnTo>
                    <a:pt x="152114" y="2842355"/>
                  </a:lnTo>
                  <a:lnTo>
                    <a:pt x="152114" y="2854236"/>
                  </a:lnTo>
                  <a:close/>
                </a:path>
                <a:path w="5337809" h="2854325">
                  <a:moveTo>
                    <a:pt x="5273901" y="2828067"/>
                  </a:moveTo>
                  <a:lnTo>
                    <a:pt x="5185315" y="2828067"/>
                  </a:lnTo>
                  <a:lnTo>
                    <a:pt x="5233429" y="2818405"/>
                  </a:lnTo>
                  <a:lnTo>
                    <a:pt x="5272694" y="2792063"/>
                  </a:lnTo>
                  <a:lnTo>
                    <a:pt x="5299092" y="2753095"/>
                  </a:lnTo>
                  <a:lnTo>
                    <a:pt x="5308853" y="2705195"/>
                  </a:lnTo>
                  <a:lnTo>
                    <a:pt x="5308853" y="151447"/>
                  </a:lnTo>
                  <a:lnTo>
                    <a:pt x="5299154" y="103638"/>
                  </a:lnTo>
                  <a:lnTo>
                    <a:pt x="5272694" y="64579"/>
                  </a:lnTo>
                  <a:lnTo>
                    <a:pt x="5233429" y="38236"/>
                  </a:lnTo>
                  <a:lnTo>
                    <a:pt x="5185315" y="28575"/>
                  </a:lnTo>
                  <a:lnTo>
                    <a:pt x="152114" y="28575"/>
                  </a:lnTo>
                  <a:lnTo>
                    <a:pt x="152114" y="14287"/>
                  </a:lnTo>
                  <a:lnTo>
                    <a:pt x="5185315" y="14287"/>
                  </a:lnTo>
                  <a:lnTo>
                    <a:pt x="5185315" y="0"/>
                  </a:lnTo>
                  <a:lnTo>
                    <a:pt x="5233357" y="7713"/>
                  </a:lnTo>
                  <a:lnTo>
                    <a:pt x="5275110" y="29196"/>
                  </a:lnTo>
                  <a:lnTo>
                    <a:pt x="5308051" y="61968"/>
                  </a:lnTo>
                  <a:lnTo>
                    <a:pt x="5329679" y="103638"/>
                  </a:lnTo>
                  <a:lnTo>
                    <a:pt x="5337421" y="151447"/>
                  </a:lnTo>
                  <a:lnTo>
                    <a:pt x="5337421" y="2705195"/>
                  </a:lnTo>
                  <a:lnTo>
                    <a:pt x="5329664" y="2753095"/>
                  </a:lnTo>
                  <a:lnTo>
                    <a:pt x="5308051" y="2794673"/>
                  </a:lnTo>
                  <a:lnTo>
                    <a:pt x="5275110" y="2827445"/>
                  </a:lnTo>
                  <a:lnTo>
                    <a:pt x="5273901" y="2828067"/>
                  </a:lnTo>
                  <a:close/>
                </a:path>
                <a:path w="5337809" h="2854325">
                  <a:moveTo>
                    <a:pt x="5185315" y="2854236"/>
                  </a:moveTo>
                  <a:lnTo>
                    <a:pt x="152114" y="2854236"/>
                  </a:lnTo>
                  <a:lnTo>
                    <a:pt x="152114" y="2842355"/>
                  </a:lnTo>
                  <a:lnTo>
                    <a:pt x="5185315" y="2842355"/>
                  </a:lnTo>
                  <a:lnTo>
                    <a:pt x="5185315" y="2854236"/>
                  </a:lnTo>
                  <a:close/>
                </a:path>
                <a:path w="5337809" h="2854325">
                  <a:moveTo>
                    <a:pt x="5200304" y="2854236"/>
                  </a:moveTo>
                  <a:lnTo>
                    <a:pt x="5185315" y="2854236"/>
                  </a:lnTo>
                  <a:lnTo>
                    <a:pt x="5185315" y="2842355"/>
                  </a:lnTo>
                  <a:lnTo>
                    <a:pt x="5246134" y="2842355"/>
                  </a:lnTo>
                  <a:lnTo>
                    <a:pt x="5233357" y="2848929"/>
                  </a:lnTo>
                  <a:lnTo>
                    <a:pt x="5200304" y="2854236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0925" y="3214092"/>
              <a:ext cx="114299" cy="282806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53484" y="3464633"/>
            <a:ext cx="4333875" cy="2148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" dirty="0">
                <a:solidFill>
                  <a:srgbClr val="5B5E70"/>
                </a:solidFill>
                <a:latin typeface="Arial"/>
                <a:cs typeface="Arial"/>
              </a:rPr>
              <a:t>Taxiways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735"/>
              </a:spcBef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An efficient, dual, full-length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parallel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taxiway system with Rapid </a:t>
            </a:r>
            <a:r>
              <a:rPr sz="2050" spc="-20" dirty="0">
                <a:solidFill>
                  <a:srgbClr val="5B5E70"/>
                </a:solidFill>
                <a:latin typeface="Arial"/>
                <a:cs typeface="Arial"/>
              </a:rPr>
              <a:t>Exit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Taxiways (RETs) to minimize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runway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occupancy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time.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032158" y="3199805"/>
            <a:ext cx="5352415" cy="2854325"/>
            <a:chOff x="12032158" y="3199805"/>
            <a:chExt cx="5352415" cy="2854325"/>
          </a:xfrm>
        </p:grpSpPr>
        <p:sp>
          <p:nvSpPr>
            <p:cNvPr id="13" name="object 13"/>
            <p:cNvSpPr/>
            <p:nvPr/>
          </p:nvSpPr>
          <p:spPr>
            <a:xfrm>
              <a:off x="12046445" y="3199805"/>
              <a:ext cx="5337810" cy="2854325"/>
            </a:xfrm>
            <a:custGeom>
              <a:avLst/>
              <a:gdLst/>
              <a:ahLst/>
              <a:cxnLst/>
              <a:rect l="l" t="t" r="r" b="b"/>
              <a:pathLst>
                <a:path w="5337809" h="2854325">
                  <a:moveTo>
                    <a:pt x="152114" y="2854316"/>
                  </a:moveTo>
                  <a:lnTo>
                    <a:pt x="137640" y="2854316"/>
                  </a:lnTo>
                  <a:lnTo>
                    <a:pt x="104127" y="2848930"/>
                  </a:lnTo>
                  <a:lnTo>
                    <a:pt x="62372" y="2827446"/>
                  </a:lnTo>
                  <a:lnTo>
                    <a:pt x="29418" y="2794673"/>
                  </a:lnTo>
                  <a:lnTo>
                    <a:pt x="7783" y="2753096"/>
                  </a:lnTo>
                  <a:lnTo>
                    <a:pt x="0" y="2705195"/>
                  </a:lnTo>
                  <a:lnTo>
                    <a:pt x="0" y="151447"/>
                  </a:lnTo>
                  <a:lnTo>
                    <a:pt x="7749" y="103638"/>
                  </a:lnTo>
                  <a:lnTo>
                    <a:pt x="29376" y="61968"/>
                  </a:lnTo>
                  <a:lnTo>
                    <a:pt x="62318" y="29196"/>
                  </a:lnTo>
                  <a:lnTo>
                    <a:pt x="104071" y="7713"/>
                  </a:lnTo>
                  <a:lnTo>
                    <a:pt x="152114" y="0"/>
                  </a:lnTo>
                  <a:lnTo>
                    <a:pt x="5185505" y="0"/>
                  </a:lnTo>
                  <a:lnTo>
                    <a:pt x="5185505" y="14287"/>
                  </a:lnTo>
                  <a:lnTo>
                    <a:pt x="152114" y="14287"/>
                  </a:lnTo>
                  <a:lnTo>
                    <a:pt x="152114" y="28575"/>
                  </a:lnTo>
                  <a:lnTo>
                    <a:pt x="103999" y="38236"/>
                  </a:lnTo>
                  <a:lnTo>
                    <a:pt x="64734" y="64579"/>
                  </a:lnTo>
                  <a:lnTo>
                    <a:pt x="38274" y="103638"/>
                  </a:lnTo>
                  <a:lnTo>
                    <a:pt x="28575" y="151447"/>
                  </a:lnTo>
                  <a:lnTo>
                    <a:pt x="28575" y="2705195"/>
                  </a:lnTo>
                  <a:lnTo>
                    <a:pt x="38336" y="2753096"/>
                  </a:lnTo>
                  <a:lnTo>
                    <a:pt x="64734" y="2792063"/>
                  </a:lnTo>
                  <a:lnTo>
                    <a:pt x="103999" y="2818405"/>
                  </a:lnTo>
                  <a:lnTo>
                    <a:pt x="152114" y="2828067"/>
                  </a:lnTo>
                  <a:lnTo>
                    <a:pt x="5274092" y="2828067"/>
                  </a:lnTo>
                  <a:lnTo>
                    <a:pt x="5246326" y="2842355"/>
                  </a:lnTo>
                  <a:lnTo>
                    <a:pt x="152114" y="2842355"/>
                  </a:lnTo>
                  <a:lnTo>
                    <a:pt x="152114" y="2854316"/>
                  </a:lnTo>
                  <a:close/>
                </a:path>
                <a:path w="5337809" h="2854325">
                  <a:moveTo>
                    <a:pt x="5274092" y="2828067"/>
                  </a:moveTo>
                  <a:lnTo>
                    <a:pt x="5185505" y="2828067"/>
                  </a:lnTo>
                  <a:lnTo>
                    <a:pt x="5233619" y="2818405"/>
                  </a:lnTo>
                  <a:lnTo>
                    <a:pt x="5272885" y="2792063"/>
                  </a:lnTo>
                  <a:lnTo>
                    <a:pt x="5299283" y="2753096"/>
                  </a:lnTo>
                  <a:lnTo>
                    <a:pt x="5309044" y="2705195"/>
                  </a:lnTo>
                  <a:lnTo>
                    <a:pt x="5309044" y="151447"/>
                  </a:lnTo>
                  <a:lnTo>
                    <a:pt x="5299345" y="103638"/>
                  </a:lnTo>
                  <a:lnTo>
                    <a:pt x="5272885" y="64579"/>
                  </a:lnTo>
                  <a:lnTo>
                    <a:pt x="5233619" y="38236"/>
                  </a:lnTo>
                  <a:lnTo>
                    <a:pt x="5185505" y="28575"/>
                  </a:lnTo>
                  <a:lnTo>
                    <a:pt x="152114" y="28575"/>
                  </a:lnTo>
                  <a:lnTo>
                    <a:pt x="152114" y="14287"/>
                  </a:lnTo>
                  <a:lnTo>
                    <a:pt x="5185505" y="14287"/>
                  </a:lnTo>
                  <a:lnTo>
                    <a:pt x="5185505" y="0"/>
                  </a:lnTo>
                  <a:lnTo>
                    <a:pt x="5233548" y="7713"/>
                  </a:lnTo>
                  <a:lnTo>
                    <a:pt x="5275300" y="29196"/>
                  </a:lnTo>
                  <a:lnTo>
                    <a:pt x="5308242" y="61968"/>
                  </a:lnTo>
                  <a:lnTo>
                    <a:pt x="5329870" y="103638"/>
                  </a:lnTo>
                  <a:lnTo>
                    <a:pt x="5337572" y="151447"/>
                  </a:lnTo>
                  <a:lnTo>
                    <a:pt x="5337572" y="2705195"/>
                  </a:lnTo>
                  <a:lnTo>
                    <a:pt x="5329855" y="2753096"/>
                  </a:lnTo>
                  <a:lnTo>
                    <a:pt x="5308242" y="2794673"/>
                  </a:lnTo>
                  <a:lnTo>
                    <a:pt x="5275300" y="2827446"/>
                  </a:lnTo>
                  <a:lnTo>
                    <a:pt x="5274092" y="2828067"/>
                  </a:lnTo>
                  <a:close/>
                </a:path>
                <a:path w="5337809" h="2854325">
                  <a:moveTo>
                    <a:pt x="5185505" y="2854316"/>
                  </a:moveTo>
                  <a:lnTo>
                    <a:pt x="152114" y="2854316"/>
                  </a:lnTo>
                  <a:lnTo>
                    <a:pt x="152114" y="2842355"/>
                  </a:lnTo>
                  <a:lnTo>
                    <a:pt x="5185505" y="2842355"/>
                  </a:lnTo>
                  <a:lnTo>
                    <a:pt x="5185505" y="2854316"/>
                  </a:lnTo>
                  <a:close/>
                </a:path>
                <a:path w="5337809" h="2854325">
                  <a:moveTo>
                    <a:pt x="5199995" y="2854316"/>
                  </a:moveTo>
                  <a:lnTo>
                    <a:pt x="5185505" y="2854316"/>
                  </a:lnTo>
                  <a:lnTo>
                    <a:pt x="5185505" y="2842355"/>
                  </a:lnTo>
                  <a:lnTo>
                    <a:pt x="5246326" y="2842355"/>
                  </a:lnTo>
                  <a:lnTo>
                    <a:pt x="5233548" y="2848930"/>
                  </a:lnTo>
                  <a:lnTo>
                    <a:pt x="5199995" y="2854316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2158" y="3214092"/>
              <a:ext cx="114299" cy="28280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424716" y="3464633"/>
            <a:ext cx="4130675" cy="2148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" dirty="0">
                <a:solidFill>
                  <a:srgbClr val="5B5E70"/>
                </a:solidFill>
                <a:latin typeface="Arial"/>
                <a:cs typeface="Arial"/>
              </a:rPr>
              <a:t>Aprons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735"/>
              </a:spcBef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 mix of contact stands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(with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aerobridges) and remote stands </a:t>
            </a:r>
            <a:r>
              <a:rPr sz="2050" spc="-25" dirty="0">
                <a:solidFill>
                  <a:srgbClr val="5B5E70"/>
                </a:solidFill>
                <a:latin typeface="Arial"/>
                <a:cs typeface="Arial"/>
              </a:rPr>
              <a:t>to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accommodate various aircraft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sizes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(Code C, E, and </a:t>
            </a:r>
            <a:r>
              <a:rPr sz="2050" spc="-25" dirty="0">
                <a:solidFill>
                  <a:srgbClr val="5B5E70"/>
                </a:solidFill>
                <a:latin typeface="Arial"/>
                <a:cs typeface="Arial"/>
              </a:rPr>
              <a:t>F).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9694" y="6290221"/>
            <a:ext cx="5351780" cy="2854325"/>
            <a:chOff x="889694" y="6290221"/>
            <a:chExt cx="5351780" cy="2854325"/>
          </a:xfrm>
        </p:grpSpPr>
        <p:sp>
          <p:nvSpPr>
            <p:cNvPr id="17" name="object 17"/>
            <p:cNvSpPr/>
            <p:nvPr/>
          </p:nvSpPr>
          <p:spPr>
            <a:xfrm>
              <a:off x="903982" y="6290221"/>
              <a:ext cx="5337810" cy="2854325"/>
            </a:xfrm>
            <a:custGeom>
              <a:avLst/>
              <a:gdLst/>
              <a:ahLst/>
              <a:cxnLst/>
              <a:rect l="l" t="t" r="r" b="b"/>
              <a:pathLst>
                <a:path w="5337810" h="2854325">
                  <a:moveTo>
                    <a:pt x="152114" y="2854236"/>
                  </a:moveTo>
                  <a:lnTo>
                    <a:pt x="137142" y="2854236"/>
                  </a:lnTo>
                  <a:lnTo>
                    <a:pt x="104127" y="2848929"/>
                  </a:lnTo>
                  <a:lnTo>
                    <a:pt x="62371" y="2827445"/>
                  </a:lnTo>
                  <a:lnTo>
                    <a:pt x="29417" y="2794673"/>
                  </a:lnTo>
                  <a:lnTo>
                    <a:pt x="7783" y="2753095"/>
                  </a:lnTo>
                  <a:lnTo>
                    <a:pt x="0" y="2705195"/>
                  </a:lnTo>
                  <a:lnTo>
                    <a:pt x="0" y="151447"/>
                  </a:lnTo>
                  <a:lnTo>
                    <a:pt x="7749" y="103637"/>
                  </a:lnTo>
                  <a:lnTo>
                    <a:pt x="29376" y="61968"/>
                  </a:lnTo>
                  <a:lnTo>
                    <a:pt x="62318" y="29196"/>
                  </a:lnTo>
                  <a:lnTo>
                    <a:pt x="104070" y="7712"/>
                  </a:lnTo>
                  <a:lnTo>
                    <a:pt x="152114" y="0"/>
                  </a:lnTo>
                  <a:lnTo>
                    <a:pt x="5185314" y="0"/>
                  </a:lnTo>
                  <a:lnTo>
                    <a:pt x="5185314" y="14287"/>
                  </a:lnTo>
                  <a:lnTo>
                    <a:pt x="152114" y="14287"/>
                  </a:lnTo>
                  <a:lnTo>
                    <a:pt x="152114" y="28574"/>
                  </a:lnTo>
                  <a:lnTo>
                    <a:pt x="103999" y="38236"/>
                  </a:lnTo>
                  <a:lnTo>
                    <a:pt x="64734" y="64579"/>
                  </a:lnTo>
                  <a:lnTo>
                    <a:pt x="38274" y="103637"/>
                  </a:lnTo>
                  <a:lnTo>
                    <a:pt x="28575" y="151447"/>
                  </a:lnTo>
                  <a:lnTo>
                    <a:pt x="28575" y="2705195"/>
                  </a:lnTo>
                  <a:lnTo>
                    <a:pt x="38335" y="2753095"/>
                  </a:lnTo>
                  <a:lnTo>
                    <a:pt x="64734" y="2792063"/>
                  </a:lnTo>
                  <a:lnTo>
                    <a:pt x="103999" y="2818405"/>
                  </a:lnTo>
                  <a:lnTo>
                    <a:pt x="152114" y="2828067"/>
                  </a:lnTo>
                  <a:lnTo>
                    <a:pt x="5273901" y="2828067"/>
                  </a:lnTo>
                  <a:lnTo>
                    <a:pt x="5246134" y="2842355"/>
                  </a:lnTo>
                  <a:lnTo>
                    <a:pt x="152114" y="2842355"/>
                  </a:lnTo>
                  <a:lnTo>
                    <a:pt x="152114" y="2854236"/>
                  </a:lnTo>
                  <a:close/>
                </a:path>
                <a:path w="5337810" h="2854325">
                  <a:moveTo>
                    <a:pt x="5273901" y="2828067"/>
                  </a:moveTo>
                  <a:lnTo>
                    <a:pt x="5185314" y="2828067"/>
                  </a:lnTo>
                  <a:lnTo>
                    <a:pt x="5233428" y="2818405"/>
                  </a:lnTo>
                  <a:lnTo>
                    <a:pt x="5272694" y="2792063"/>
                  </a:lnTo>
                  <a:lnTo>
                    <a:pt x="5299092" y="2753095"/>
                  </a:lnTo>
                  <a:lnTo>
                    <a:pt x="5308853" y="2705195"/>
                  </a:lnTo>
                  <a:lnTo>
                    <a:pt x="5308853" y="151447"/>
                  </a:lnTo>
                  <a:lnTo>
                    <a:pt x="5299154" y="103637"/>
                  </a:lnTo>
                  <a:lnTo>
                    <a:pt x="5272694" y="64579"/>
                  </a:lnTo>
                  <a:lnTo>
                    <a:pt x="5233428" y="38236"/>
                  </a:lnTo>
                  <a:lnTo>
                    <a:pt x="5185314" y="28574"/>
                  </a:lnTo>
                  <a:lnTo>
                    <a:pt x="152114" y="28574"/>
                  </a:lnTo>
                  <a:lnTo>
                    <a:pt x="152114" y="14287"/>
                  </a:lnTo>
                  <a:lnTo>
                    <a:pt x="5185314" y="14287"/>
                  </a:lnTo>
                  <a:lnTo>
                    <a:pt x="5185314" y="0"/>
                  </a:lnTo>
                  <a:lnTo>
                    <a:pt x="5233357" y="7712"/>
                  </a:lnTo>
                  <a:lnTo>
                    <a:pt x="5275109" y="29196"/>
                  </a:lnTo>
                  <a:lnTo>
                    <a:pt x="5308051" y="61968"/>
                  </a:lnTo>
                  <a:lnTo>
                    <a:pt x="5329679" y="103637"/>
                  </a:lnTo>
                  <a:lnTo>
                    <a:pt x="5337421" y="151447"/>
                  </a:lnTo>
                  <a:lnTo>
                    <a:pt x="5337421" y="2705195"/>
                  </a:lnTo>
                  <a:lnTo>
                    <a:pt x="5329664" y="2753095"/>
                  </a:lnTo>
                  <a:lnTo>
                    <a:pt x="5308051" y="2794673"/>
                  </a:lnTo>
                  <a:lnTo>
                    <a:pt x="5275109" y="2827445"/>
                  </a:lnTo>
                  <a:lnTo>
                    <a:pt x="5273901" y="2828067"/>
                  </a:lnTo>
                  <a:close/>
                </a:path>
                <a:path w="5337810" h="2854325">
                  <a:moveTo>
                    <a:pt x="5185314" y="2854236"/>
                  </a:moveTo>
                  <a:lnTo>
                    <a:pt x="152114" y="2854236"/>
                  </a:lnTo>
                  <a:lnTo>
                    <a:pt x="152114" y="2842355"/>
                  </a:lnTo>
                  <a:lnTo>
                    <a:pt x="5185314" y="2842355"/>
                  </a:lnTo>
                  <a:lnTo>
                    <a:pt x="5185314" y="2854236"/>
                  </a:lnTo>
                  <a:close/>
                </a:path>
                <a:path w="5337810" h="2854325">
                  <a:moveTo>
                    <a:pt x="5200303" y="2854236"/>
                  </a:moveTo>
                  <a:lnTo>
                    <a:pt x="5185314" y="2854236"/>
                  </a:lnTo>
                  <a:lnTo>
                    <a:pt x="5185314" y="2842355"/>
                  </a:lnTo>
                  <a:lnTo>
                    <a:pt x="5246134" y="2842355"/>
                  </a:lnTo>
                  <a:lnTo>
                    <a:pt x="5233357" y="2848929"/>
                  </a:lnTo>
                  <a:lnTo>
                    <a:pt x="5200303" y="2854236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694" y="6304508"/>
              <a:ext cx="114299" cy="282806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82253" y="6555049"/>
            <a:ext cx="4582795" cy="24390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1778635">
              <a:lnSpc>
                <a:spcPct val="102899"/>
              </a:lnSpc>
              <a:spcBef>
                <a:spcPts val="20"/>
              </a:spcBef>
            </a:pPr>
            <a:r>
              <a:rPr sz="2550" b="1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2550" b="1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5B5E70"/>
                </a:solidFill>
                <a:latin typeface="Arial"/>
                <a:cs typeface="Arial"/>
              </a:rPr>
              <a:t>Traffic</a:t>
            </a:r>
            <a:r>
              <a:rPr sz="2550" b="1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5B5E70"/>
                </a:solidFill>
                <a:latin typeface="Arial"/>
                <a:cs typeface="Arial"/>
              </a:rPr>
              <a:t>Control (ATC)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3229"/>
              </a:lnSpc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An</a:t>
            </a:r>
            <a:r>
              <a:rPr sz="2050" spc="-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interim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ATC tower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be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used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5B5E70"/>
                </a:solidFill>
                <a:latin typeface="Arial"/>
                <a:cs typeface="Arial"/>
              </a:rPr>
              <a:t>for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early phases, followed by a final </a:t>
            </a:r>
            <a:r>
              <a:rPr sz="2050" spc="-20" dirty="0">
                <a:solidFill>
                  <a:srgbClr val="5B5E70"/>
                </a:solidFill>
                <a:latin typeface="Arial"/>
                <a:cs typeface="Arial"/>
              </a:rPr>
              <a:t>104-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meter</a:t>
            </a:r>
            <a:r>
              <a:rPr sz="2050" spc="-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high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tower</a:t>
            </a:r>
            <a:r>
              <a:rPr sz="2050" spc="-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2050" spc="-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III</a:t>
            </a:r>
            <a:r>
              <a:rPr sz="2050" spc="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050" spc="-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provide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unimpeded airfield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views.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60925" y="6290221"/>
            <a:ext cx="5351780" cy="2854325"/>
            <a:chOff x="6460925" y="6290221"/>
            <a:chExt cx="5351780" cy="2854325"/>
          </a:xfrm>
        </p:grpSpPr>
        <p:sp>
          <p:nvSpPr>
            <p:cNvPr id="21" name="object 21"/>
            <p:cNvSpPr/>
            <p:nvPr/>
          </p:nvSpPr>
          <p:spPr>
            <a:xfrm>
              <a:off x="6475213" y="6290221"/>
              <a:ext cx="5337810" cy="2854325"/>
            </a:xfrm>
            <a:custGeom>
              <a:avLst/>
              <a:gdLst/>
              <a:ahLst/>
              <a:cxnLst/>
              <a:rect l="l" t="t" r="r" b="b"/>
              <a:pathLst>
                <a:path w="5337809" h="2854325">
                  <a:moveTo>
                    <a:pt x="152114" y="2854236"/>
                  </a:moveTo>
                  <a:lnTo>
                    <a:pt x="137143" y="2854236"/>
                  </a:lnTo>
                  <a:lnTo>
                    <a:pt x="104127" y="2848929"/>
                  </a:lnTo>
                  <a:lnTo>
                    <a:pt x="62371" y="2827445"/>
                  </a:lnTo>
                  <a:lnTo>
                    <a:pt x="29417" y="2794673"/>
                  </a:lnTo>
                  <a:lnTo>
                    <a:pt x="7783" y="2753095"/>
                  </a:lnTo>
                  <a:lnTo>
                    <a:pt x="0" y="2705195"/>
                  </a:lnTo>
                  <a:lnTo>
                    <a:pt x="0" y="151447"/>
                  </a:lnTo>
                  <a:lnTo>
                    <a:pt x="7749" y="103637"/>
                  </a:lnTo>
                  <a:lnTo>
                    <a:pt x="29376" y="61968"/>
                  </a:lnTo>
                  <a:lnTo>
                    <a:pt x="62318" y="29196"/>
                  </a:lnTo>
                  <a:lnTo>
                    <a:pt x="104071" y="7712"/>
                  </a:lnTo>
                  <a:lnTo>
                    <a:pt x="152114" y="0"/>
                  </a:lnTo>
                  <a:lnTo>
                    <a:pt x="5185315" y="0"/>
                  </a:lnTo>
                  <a:lnTo>
                    <a:pt x="5185315" y="14287"/>
                  </a:lnTo>
                  <a:lnTo>
                    <a:pt x="152114" y="14287"/>
                  </a:lnTo>
                  <a:lnTo>
                    <a:pt x="152114" y="28574"/>
                  </a:lnTo>
                  <a:lnTo>
                    <a:pt x="103999" y="38236"/>
                  </a:lnTo>
                  <a:lnTo>
                    <a:pt x="64734" y="64579"/>
                  </a:lnTo>
                  <a:lnTo>
                    <a:pt x="38274" y="103637"/>
                  </a:lnTo>
                  <a:lnTo>
                    <a:pt x="28575" y="151447"/>
                  </a:lnTo>
                  <a:lnTo>
                    <a:pt x="28575" y="2705195"/>
                  </a:lnTo>
                  <a:lnTo>
                    <a:pt x="38336" y="2753095"/>
                  </a:lnTo>
                  <a:lnTo>
                    <a:pt x="64734" y="2792063"/>
                  </a:lnTo>
                  <a:lnTo>
                    <a:pt x="103999" y="2818405"/>
                  </a:lnTo>
                  <a:lnTo>
                    <a:pt x="152114" y="2828067"/>
                  </a:lnTo>
                  <a:lnTo>
                    <a:pt x="5273901" y="2828067"/>
                  </a:lnTo>
                  <a:lnTo>
                    <a:pt x="5246134" y="2842355"/>
                  </a:lnTo>
                  <a:lnTo>
                    <a:pt x="152114" y="2842355"/>
                  </a:lnTo>
                  <a:lnTo>
                    <a:pt x="152114" y="2854236"/>
                  </a:lnTo>
                  <a:close/>
                </a:path>
                <a:path w="5337809" h="2854325">
                  <a:moveTo>
                    <a:pt x="5273901" y="2828067"/>
                  </a:moveTo>
                  <a:lnTo>
                    <a:pt x="5185315" y="2828067"/>
                  </a:lnTo>
                  <a:lnTo>
                    <a:pt x="5233429" y="2818405"/>
                  </a:lnTo>
                  <a:lnTo>
                    <a:pt x="5272694" y="2792063"/>
                  </a:lnTo>
                  <a:lnTo>
                    <a:pt x="5299092" y="2753095"/>
                  </a:lnTo>
                  <a:lnTo>
                    <a:pt x="5308853" y="2705195"/>
                  </a:lnTo>
                  <a:lnTo>
                    <a:pt x="5308853" y="151447"/>
                  </a:lnTo>
                  <a:lnTo>
                    <a:pt x="5299154" y="103637"/>
                  </a:lnTo>
                  <a:lnTo>
                    <a:pt x="5272694" y="64579"/>
                  </a:lnTo>
                  <a:lnTo>
                    <a:pt x="5233429" y="38236"/>
                  </a:lnTo>
                  <a:lnTo>
                    <a:pt x="5185315" y="28574"/>
                  </a:lnTo>
                  <a:lnTo>
                    <a:pt x="152114" y="28574"/>
                  </a:lnTo>
                  <a:lnTo>
                    <a:pt x="152114" y="14287"/>
                  </a:lnTo>
                  <a:lnTo>
                    <a:pt x="5185315" y="14287"/>
                  </a:lnTo>
                  <a:lnTo>
                    <a:pt x="5185315" y="0"/>
                  </a:lnTo>
                  <a:lnTo>
                    <a:pt x="5233357" y="7712"/>
                  </a:lnTo>
                  <a:lnTo>
                    <a:pt x="5275110" y="29196"/>
                  </a:lnTo>
                  <a:lnTo>
                    <a:pt x="5308051" y="61968"/>
                  </a:lnTo>
                  <a:lnTo>
                    <a:pt x="5329679" y="103637"/>
                  </a:lnTo>
                  <a:lnTo>
                    <a:pt x="5337421" y="151447"/>
                  </a:lnTo>
                  <a:lnTo>
                    <a:pt x="5337421" y="2705195"/>
                  </a:lnTo>
                  <a:lnTo>
                    <a:pt x="5329664" y="2753095"/>
                  </a:lnTo>
                  <a:lnTo>
                    <a:pt x="5308051" y="2794673"/>
                  </a:lnTo>
                  <a:lnTo>
                    <a:pt x="5275110" y="2827445"/>
                  </a:lnTo>
                  <a:lnTo>
                    <a:pt x="5273901" y="2828067"/>
                  </a:lnTo>
                  <a:close/>
                </a:path>
                <a:path w="5337809" h="2854325">
                  <a:moveTo>
                    <a:pt x="5185315" y="2854236"/>
                  </a:moveTo>
                  <a:lnTo>
                    <a:pt x="152114" y="2854236"/>
                  </a:lnTo>
                  <a:lnTo>
                    <a:pt x="152114" y="2842355"/>
                  </a:lnTo>
                  <a:lnTo>
                    <a:pt x="5185315" y="2842355"/>
                  </a:lnTo>
                  <a:lnTo>
                    <a:pt x="5185315" y="2854236"/>
                  </a:lnTo>
                  <a:close/>
                </a:path>
                <a:path w="5337809" h="2854325">
                  <a:moveTo>
                    <a:pt x="5200303" y="2854236"/>
                  </a:moveTo>
                  <a:lnTo>
                    <a:pt x="5185315" y="2854236"/>
                  </a:lnTo>
                  <a:lnTo>
                    <a:pt x="5185315" y="2842355"/>
                  </a:lnTo>
                  <a:lnTo>
                    <a:pt x="5246134" y="2842355"/>
                  </a:lnTo>
                  <a:lnTo>
                    <a:pt x="5233357" y="2848929"/>
                  </a:lnTo>
                  <a:lnTo>
                    <a:pt x="5200303" y="2854236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0925" y="6304508"/>
              <a:ext cx="114299" cy="282806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853484" y="6555049"/>
            <a:ext cx="4538980" cy="24390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1788160">
              <a:lnSpc>
                <a:spcPct val="102899"/>
              </a:lnSpc>
              <a:spcBef>
                <a:spcPts val="20"/>
              </a:spcBef>
            </a:pPr>
            <a:r>
              <a:rPr sz="2550" b="1" dirty="0">
                <a:solidFill>
                  <a:srgbClr val="5B5E70"/>
                </a:solidFill>
                <a:latin typeface="Arial"/>
                <a:cs typeface="Arial"/>
              </a:rPr>
              <a:t>Navigational</a:t>
            </a:r>
            <a:r>
              <a:rPr sz="2550" b="1" spc="-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550" b="1" spc="-20" dirty="0">
                <a:solidFill>
                  <a:srgbClr val="5B5E70"/>
                </a:solidFill>
                <a:latin typeface="Arial"/>
                <a:cs typeface="Arial"/>
              </a:rPr>
              <a:t>Aids </a:t>
            </a:r>
            <a:r>
              <a:rPr sz="2550" b="1" spc="-10" dirty="0">
                <a:solidFill>
                  <a:srgbClr val="5B5E70"/>
                </a:solidFill>
                <a:latin typeface="Arial"/>
                <a:cs typeface="Arial"/>
              </a:rPr>
              <a:t>(CNS)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3229"/>
              </a:lnSpc>
            </a:pP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State-of-the-art systems including </a:t>
            </a:r>
            <a:r>
              <a:rPr sz="2050" spc="-20" dirty="0">
                <a:solidFill>
                  <a:srgbClr val="5B5E70"/>
                </a:solidFill>
                <a:latin typeface="Arial"/>
                <a:cs typeface="Arial"/>
              </a:rPr>
              <a:t>ILS,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DVOR/DME, and Advanced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Surface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Movement Guidance Systems for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safe, </a:t>
            </a:r>
            <a:r>
              <a:rPr sz="2050" dirty="0">
                <a:solidFill>
                  <a:srgbClr val="5B5E70"/>
                </a:solidFill>
                <a:latin typeface="Arial"/>
                <a:cs typeface="Arial"/>
              </a:rPr>
              <a:t>all-weather, 24/7 </a:t>
            </a:r>
            <a:r>
              <a:rPr sz="2050" spc="-10" dirty="0">
                <a:solidFill>
                  <a:srgbClr val="5B5E70"/>
                </a:solidFill>
                <a:latin typeface="Arial"/>
                <a:cs typeface="Arial"/>
              </a:rPr>
              <a:t>operations.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561" y="440863"/>
            <a:ext cx="6800215" cy="11874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50"/>
              </a:spcBef>
              <a:tabLst>
                <a:tab pos="1732280" algn="l"/>
                <a:tab pos="3399790" algn="l"/>
                <a:tab pos="4696460" algn="l"/>
              </a:tabLst>
            </a:pPr>
            <a:r>
              <a:rPr sz="3750" spc="-10" dirty="0"/>
              <a:t>Airport</a:t>
            </a:r>
            <a:r>
              <a:rPr sz="3750" dirty="0"/>
              <a:t>	</a:t>
            </a:r>
            <a:r>
              <a:rPr sz="3750" spc="-10" dirty="0"/>
              <a:t>Master</a:t>
            </a:r>
            <a:r>
              <a:rPr sz="3750" dirty="0"/>
              <a:t>	</a:t>
            </a:r>
            <a:r>
              <a:rPr sz="3750" spc="-10" dirty="0"/>
              <a:t>Plan:</a:t>
            </a:r>
            <a:r>
              <a:rPr sz="3750" dirty="0"/>
              <a:t>	</a:t>
            </a:r>
            <a:r>
              <a:rPr sz="3750" spc="-10" dirty="0"/>
              <a:t>Landside Infrastructure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855561" y="1740475"/>
            <a:ext cx="8417560" cy="4519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400"/>
              </a:lnSpc>
              <a:spcBef>
                <a:spcPts val="95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landside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planned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as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multi-modal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hub,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seamlessly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integrating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airport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8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surrounding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region.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Central</a:t>
            </a:r>
            <a:r>
              <a:rPr sz="3400" b="1" spc="12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Terminal</a:t>
            </a:r>
            <a:r>
              <a:rPr sz="3400" b="1" spc="13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Complex</a:t>
            </a:r>
            <a:r>
              <a:rPr sz="3400" b="1" spc="12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F5367"/>
                </a:solidFill>
                <a:latin typeface="Arial"/>
                <a:cs typeface="Arial"/>
              </a:rPr>
              <a:t>(CTC)</a:t>
            </a:r>
            <a:endParaRPr sz="3400">
              <a:latin typeface="Arial"/>
              <a:cs typeface="Arial"/>
            </a:endParaRPr>
          </a:p>
          <a:p>
            <a:pPr marL="12700" marR="190500">
              <a:lnSpc>
                <a:spcPct val="128400"/>
              </a:lnSpc>
              <a:spcBef>
                <a:spcPts val="1030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Three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interconnected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passenger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terminals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(T1,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T2,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T3)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form</a:t>
            </a:r>
            <a:r>
              <a:rPr sz="18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central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5B5E70"/>
                </a:solidFill>
                <a:latin typeface="Arial"/>
                <a:cs typeface="Arial"/>
              </a:rPr>
              <a:t>hub,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designed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by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Zaha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Hadid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Architects.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Access</a:t>
            </a:r>
            <a:r>
              <a:rPr sz="3400" b="1" spc="8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&amp;</a:t>
            </a:r>
            <a:r>
              <a:rPr sz="3400" b="1" spc="8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F5367"/>
                </a:solidFill>
                <a:latin typeface="Arial"/>
                <a:cs typeface="Arial"/>
              </a:rPr>
              <a:t>Connectivity</a:t>
            </a:r>
            <a:endParaRPr sz="3400">
              <a:latin typeface="Arial"/>
              <a:cs typeface="Arial"/>
            </a:endParaRPr>
          </a:p>
          <a:p>
            <a:pPr marL="12700" marR="98425">
              <a:lnSpc>
                <a:spcPct val="128400"/>
              </a:lnSpc>
              <a:spcBef>
                <a:spcPts val="1050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Main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access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planned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Amra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Marg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(west)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NH-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4B</a:t>
            </a:r>
            <a:r>
              <a:rPr sz="18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(east).</a:t>
            </a:r>
            <a:r>
              <a:rPr sz="185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airport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185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direct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connectivity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Trans-Harbour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Link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(MTHL)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50" dirty="0">
                <a:solidFill>
                  <a:srgbClr val="5B5E70"/>
                </a:solidFill>
                <a:latin typeface="Arial"/>
                <a:cs typeface="Arial"/>
              </a:rPr>
              <a:t>a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proposed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Metro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line,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making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it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highly</a:t>
            </a:r>
            <a:r>
              <a:rPr sz="185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accessible.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8180" y="973616"/>
            <a:ext cx="8287535" cy="84683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387" y="1493125"/>
            <a:ext cx="11690350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50" dirty="0"/>
              <a:t>Environmental</a:t>
            </a:r>
            <a:r>
              <a:rPr sz="4750" spc="-75" dirty="0"/>
              <a:t> </a:t>
            </a:r>
            <a:r>
              <a:rPr sz="4750" dirty="0"/>
              <a:t>Setting</a:t>
            </a:r>
            <a:r>
              <a:rPr sz="4750" spc="-70" dirty="0"/>
              <a:t> </a:t>
            </a:r>
            <a:r>
              <a:rPr sz="4750" dirty="0"/>
              <a:t>&amp;</a:t>
            </a:r>
            <a:r>
              <a:rPr sz="4750" spc="-70" dirty="0"/>
              <a:t> </a:t>
            </a:r>
            <a:r>
              <a:rPr sz="4750" dirty="0"/>
              <a:t>Baseline</a:t>
            </a:r>
            <a:r>
              <a:rPr sz="4750" spc="-70" dirty="0"/>
              <a:t> </a:t>
            </a:r>
            <a:r>
              <a:rPr sz="4750" spc="-10" dirty="0"/>
              <a:t>Status</a:t>
            </a:r>
            <a:endParaRPr sz="4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4557415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5070722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5541911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6013102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7451823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7923013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12" y="8780859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387" y="2376537"/>
            <a:ext cx="15885160" cy="6941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91160">
              <a:lnSpc>
                <a:spcPct val="135100"/>
              </a:lnSpc>
              <a:spcBef>
                <a:spcPts val="95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comprehensive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baseline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study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was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conducted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December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2019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February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2020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within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10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km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radius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assess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existing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environmental conditions.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018540" algn="l"/>
                <a:tab pos="4458335" algn="l"/>
              </a:tabLst>
            </a:pPr>
            <a:r>
              <a:rPr sz="3750" b="1" spc="-25" dirty="0">
                <a:solidFill>
                  <a:srgbClr val="4F5367"/>
                </a:solidFill>
                <a:latin typeface="Arial"/>
                <a:cs typeface="Arial"/>
              </a:rPr>
              <a:t>Key</a:t>
            </a:r>
            <a:r>
              <a:rPr sz="3750" b="1" dirty="0">
                <a:solidFill>
                  <a:srgbClr val="4F5367"/>
                </a:solidFill>
                <a:latin typeface="Arial"/>
                <a:cs typeface="Arial"/>
              </a:rPr>
              <a:t>	</a:t>
            </a:r>
            <a:r>
              <a:rPr sz="3750" b="1" spc="-10" dirty="0">
                <a:solidFill>
                  <a:srgbClr val="4F5367"/>
                </a:solidFill>
                <a:latin typeface="Arial"/>
                <a:cs typeface="Arial"/>
              </a:rPr>
              <a:t>Environmental</a:t>
            </a:r>
            <a:r>
              <a:rPr sz="3750" b="1" dirty="0">
                <a:solidFill>
                  <a:srgbClr val="4F5367"/>
                </a:solidFill>
                <a:latin typeface="Arial"/>
                <a:cs typeface="Arial"/>
              </a:rPr>
              <a:t>	</a:t>
            </a:r>
            <a:r>
              <a:rPr sz="3750" b="1" spc="-10" dirty="0">
                <a:solidFill>
                  <a:srgbClr val="4F5367"/>
                </a:solidFill>
                <a:latin typeface="Arial"/>
                <a:cs typeface="Arial"/>
              </a:rPr>
              <a:t>Sensitivities:</a:t>
            </a:r>
            <a:endParaRPr sz="3750">
              <a:latin typeface="Arial"/>
              <a:cs typeface="Arial"/>
            </a:endParaRPr>
          </a:p>
          <a:p>
            <a:pPr marL="295275" marR="9308465">
              <a:lnSpc>
                <a:spcPct val="174600"/>
              </a:lnSpc>
              <a:spcBef>
                <a:spcPts val="1305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Karnala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Bird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Sanctuary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ESZ: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2.5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km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South-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East.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Matheran</a:t>
            </a:r>
            <a:r>
              <a:rPr sz="1850" spc="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Eco-Sensitive</a:t>
            </a:r>
            <a:r>
              <a:rPr sz="1850" spc="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Zone:</a:t>
            </a:r>
            <a:r>
              <a:rPr sz="1850" spc="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9.3</a:t>
            </a:r>
            <a:r>
              <a:rPr sz="1850" spc="8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km</a:t>
            </a:r>
            <a:r>
              <a:rPr sz="1850" spc="8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East-North-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East.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Thane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Creek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Flamingo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Sanctuary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ESZ: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9.2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km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North-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West.</a:t>
            </a:r>
            <a:endParaRPr sz="185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1490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Aquatic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Features: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site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adjacent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Panvel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Creek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Gadhi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River,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surrounding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mangroves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mudflats.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103755" algn="l"/>
              </a:tabLst>
            </a:pPr>
            <a:r>
              <a:rPr sz="3750" b="1" spc="-10" dirty="0">
                <a:solidFill>
                  <a:srgbClr val="4F5367"/>
                </a:solidFill>
                <a:latin typeface="Arial"/>
                <a:cs typeface="Arial"/>
              </a:rPr>
              <a:t>Baseline</a:t>
            </a:r>
            <a:r>
              <a:rPr sz="3750" b="1" dirty="0">
                <a:solidFill>
                  <a:srgbClr val="4F5367"/>
                </a:solidFill>
                <a:latin typeface="Arial"/>
                <a:cs typeface="Arial"/>
              </a:rPr>
              <a:t>	</a:t>
            </a:r>
            <a:r>
              <a:rPr sz="3750" b="1" spc="-10" dirty="0">
                <a:solidFill>
                  <a:srgbClr val="4F5367"/>
                </a:solidFill>
                <a:latin typeface="Arial"/>
                <a:cs typeface="Arial"/>
              </a:rPr>
              <a:t>Findings:</a:t>
            </a:r>
            <a:endParaRPr sz="375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2170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Quality: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All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monitored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parameters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(PM</a:t>
            </a:r>
            <a:r>
              <a:rPr sz="1850" dirty="0">
                <a:solidFill>
                  <a:srgbClr val="5B5E70"/>
                </a:solidFill>
                <a:latin typeface="Calibri"/>
                <a:cs typeface="Calibri"/>
              </a:rPr>
              <a:t>₁₀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,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PM</a:t>
            </a:r>
            <a:r>
              <a:rPr sz="1850" dirty="0">
                <a:solidFill>
                  <a:srgbClr val="5B5E70"/>
                </a:solidFill>
                <a:latin typeface="Calibri"/>
                <a:cs typeface="Calibri"/>
              </a:rPr>
              <a:t>₂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.</a:t>
            </a:r>
            <a:r>
              <a:rPr sz="1850" dirty="0">
                <a:solidFill>
                  <a:srgbClr val="5B5E70"/>
                </a:solidFill>
                <a:latin typeface="Calibri"/>
                <a:cs typeface="Calibri"/>
              </a:rPr>
              <a:t>₅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,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SO</a:t>
            </a:r>
            <a:r>
              <a:rPr sz="1850" dirty="0">
                <a:solidFill>
                  <a:srgbClr val="5B5E70"/>
                </a:solidFill>
                <a:latin typeface="Calibri"/>
                <a:cs typeface="Calibri"/>
              </a:rPr>
              <a:t>₂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,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NO</a:t>
            </a:r>
            <a:r>
              <a:rPr sz="1850" dirty="0">
                <a:solidFill>
                  <a:srgbClr val="5B5E70"/>
                </a:solidFill>
                <a:latin typeface="Calibri"/>
                <a:cs typeface="Calibri"/>
              </a:rPr>
              <a:t>₂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)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were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found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be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within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National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Ambient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Standards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(NAAQS).</a:t>
            </a:r>
            <a:endParaRPr sz="1850">
              <a:latin typeface="Arial"/>
              <a:cs typeface="Arial"/>
            </a:endParaRPr>
          </a:p>
          <a:p>
            <a:pPr marL="295275" marR="83185">
              <a:lnSpc>
                <a:spcPct val="135100"/>
              </a:lnSpc>
              <a:spcBef>
                <a:spcPts val="710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Noise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Levels: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Generally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within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permissible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limits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commercial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industrial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areas.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Some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residential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zones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showed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higher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levels,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primarily</a:t>
            </a:r>
            <a:r>
              <a:rPr sz="18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due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5B5E70"/>
                </a:solidFill>
                <a:latin typeface="Arial"/>
                <a:cs typeface="Arial"/>
              </a:rPr>
              <a:t>to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existing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road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traffic.</a:t>
            </a:r>
            <a:endParaRPr sz="1850">
              <a:latin typeface="Arial"/>
              <a:cs typeface="Arial"/>
            </a:endParaRPr>
          </a:p>
          <a:p>
            <a:pPr marL="295275" marR="5080">
              <a:lnSpc>
                <a:spcPct val="135100"/>
              </a:lnSpc>
              <a:spcBef>
                <a:spcPts val="755"/>
              </a:spcBef>
            </a:pP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Water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Quality: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Surface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water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bodies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are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classified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as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'Class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C'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(not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suitable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drinking).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However,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groundwater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18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good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meets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IS:10500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standards</a:t>
            </a:r>
            <a:r>
              <a:rPr sz="18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B5E70"/>
                </a:solidFill>
                <a:latin typeface="Arial"/>
                <a:cs typeface="Arial"/>
              </a:rPr>
              <a:t>potable</a:t>
            </a:r>
            <a:r>
              <a:rPr sz="18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B5E70"/>
                </a:solidFill>
                <a:latin typeface="Arial"/>
                <a:cs typeface="Arial"/>
              </a:rPr>
              <a:t>water.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412" y="765422"/>
            <a:ext cx="1330134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9200" algn="l"/>
                <a:tab pos="5347970" algn="l"/>
                <a:tab pos="7856855" algn="l"/>
                <a:tab pos="11603990" algn="l"/>
              </a:tabLst>
            </a:pPr>
            <a:r>
              <a:rPr sz="4500" spc="-25" dirty="0"/>
              <a:t>Key</a:t>
            </a:r>
            <a:r>
              <a:rPr sz="4500" dirty="0"/>
              <a:t>	</a:t>
            </a:r>
            <a:r>
              <a:rPr sz="4500" spc="-10" dirty="0"/>
              <a:t>Environmental</a:t>
            </a:r>
            <a:r>
              <a:rPr sz="4500" dirty="0"/>
              <a:t>	</a:t>
            </a:r>
            <a:r>
              <a:rPr sz="4500" spc="-10" dirty="0"/>
              <a:t>Impacts:</a:t>
            </a:r>
            <a:r>
              <a:rPr sz="4500" dirty="0"/>
              <a:t>	</a:t>
            </a:r>
            <a:r>
              <a:rPr sz="4500" spc="-10" dirty="0"/>
              <a:t>Development</a:t>
            </a:r>
            <a:r>
              <a:rPr sz="4500" dirty="0"/>
              <a:t>	</a:t>
            </a:r>
            <a:r>
              <a:rPr sz="4500" spc="-10" dirty="0"/>
              <a:t>Phase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904080" y="1791010"/>
            <a:ext cx="964311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involves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significant,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though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largely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temporary,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environmental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impacts.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1588" y="2437060"/>
            <a:ext cx="8232140" cy="2092960"/>
            <a:chOff x="801588" y="2437060"/>
            <a:chExt cx="8232140" cy="2092960"/>
          </a:xfrm>
        </p:grpSpPr>
        <p:sp>
          <p:nvSpPr>
            <p:cNvPr id="5" name="object 5"/>
            <p:cNvSpPr/>
            <p:nvPr/>
          </p:nvSpPr>
          <p:spPr>
            <a:xfrm>
              <a:off x="806351" y="2441822"/>
              <a:ext cx="8222615" cy="2083435"/>
            </a:xfrm>
            <a:custGeom>
              <a:avLst/>
              <a:gdLst/>
              <a:ahLst/>
              <a:cxnLst/>
              <a:rect l="l" t="t" r="r" b="b"/>
              <a:pathLst>
                <a:path w="8222615" h="2083435">
                  <a:moveTo>
                    <a:pt x="8125396" y="2083307"/>
                  </a:moveTo>
                  <a:lnTo>
                    <a:pt x="97059" y="2083307"/>
                  </a:lnTo>
                  <a:lnTo>
                    <a:pt x="59270" y="2075701"/>
                  </a:lnTo>
                  <a:lnTo>
                    <a:pt x="28420" y="2054958"/>
                  </a:lnTo>
                  <a:lnTo>
                    <a:pt x="7624" y="2024197"/>
                  </a:lnTo>
                  <a:lnTo>
                    <a:pt x="0" y="1986533"/>
                  </a:lnTo>
                  <a:lnTo>
                    <a:pt x="0" y="96773"/>
                  </a:lnTo>
                  <a:lnTo>
                    <a:pt x="7624" y="59110"/>
                  </a:lnTo>
                  <a:lnTo>
                    <a:pt x="28420" y="28348"/>
                  </a:lnTo>
                  <a:lnTo>
                    <a:pt x="59270" y="7606"/>
                  </a:lnTo>
                  <a:lnTo>
                    <a:pt x="97059" y="0"/>
                  </a:lnTo>
                  <a:lnTo>
                    <a:pt x="8125396" y="0"/>
                  </a:lnTo>
                  <a:lnTo>
                    <a:pt x="8163185" y="7606"/>
                  </a:lnTo>
                  <a:lnTo>
                    <a:pt x="8194036" y="28348"/>
                  </a:lnTo>
                  <a:lnTo>
                    <a:pt x="8214831" y="59110"/>
                  </a:lnTo>
                  <a:lnTo>
                    <a:pt x="8222456" y="96773"/>
                  </a:lnTo>
                  <a:lnTo>
                    <a:pt x="8222456" y="1986533"/>
                  </a:lnTo>
                  <a:lnTo>
                    <a:pt x="8214831" y="2024197"/>
                  </a:lnTo>
                  <a:lnTo>
                    <a:pt x="8194036" y="2054958"/>
                  </a:lnTo>
                  <a:lnTo>
                    <a:pt x="8163185" y="2075701"/>
                  </a:lnTo>
                  <a:lnTo>
                    <a:pt x="8125396" y="208330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1588" y="2437060"/>
              <a:ext cx="8232140" cy="2092960"/>
            </a:xfrm>
            <a:custGeom>
              <a:avLst/>
              <a:gdLst/>
              <a:ahLst/>
              <a:cxnLst/>
              <a:rect l="l" t="t" r="r" b="b"/>
              <a:pathLst>
                <a:path w="8232140" h="2092960">
                  <a:moveTo>
                    <a:pt x="101822" y="2092821"/>
                  </a:moveTo>
                  <a:lnTo>
                    <a:pt x="62204" y="2084857"/>
                  </a:lnTo>
                  <a:lnTo>
                    <a:pt x="29837" y="2063102"/>
                  </a:lnTo>
                  <a:lnTo>
                    <a:pt x="8006" y="2030829"/>
                  </a:lnTo>
                  <a:lnTo>
                    <a:pt x="0" y="1991296"/>
                  </a:lnTo>
                  <a:lnTo>
                    <a:pt x="0" y="101536"/>
                  </a:lnTo>
                  <a:lnTo>
                    <a:pt x="8006" y="62003"/>
                  </a:lnTo>
                  <a:lnTo>
                    <a:pt x="29837" y="29729"/>
                  </a:lnTo>
                  <a:lnTo>
                    <a:pt x="62204" y="7975"/>
                  </a:lnTo>
                  <a:lnTo>
                    <a:pt x="101822" y="0"/>
                  </a:lnTo>
                  <a:lnTo>
                    <a:pt x="8130158" y="0"/>
                  </a:lnTo>
                  <a:lnTo>
                    <a:pt x="8130158" y="4762"/>
                  </a:lnTo>
                  <a:lnTo>
                    <a:pt x="101822" y="4762"/>
                  </a:lnTo>
                  <a:lnTo>
                    <a:pt x="101822" y="9525"/>
                  </a:lnTo>
                  <a:lnTo>
                    <a:pt x="65902" y="16762"/>
                  </a:lnTo>
                  <a:lnTo>
                    <a:pt x="36564" y="36492"/>
                  </a:lnTo>
                  <a:lnTo>
                    <a:pt x="16780" y="65741"/>
                  </a:lnTo>
                  <a:lnTo>
                    <a:pt x="9525" y="101536"/>
                  </a:lnTo>
                  <a:lnTo>
                    <a:pt x="9525" y="1991296"/>
                  </a:lnTo>
                  <a:lnTo>
                    <a:pt x="16780" y="2027090"/>
                  </a:lnTo>
                  <a:lnTo>
                    <a:pt x="36564" y="2056340"/>
                  </a:lnTo>
                  <a:lnTo>
                    <a:pt x="65902" y="2076070"/>
                  </a:lnTo>
                  <a:lnTo>
                    <a:pt x="101822" y="2083307"/>
                  </a:lnTo>
                  <a:lnTo>
                    <a:pt x="8172082" y="2083307"/>
                  </a:lnTo>
                  <a:lnTo>
                    <a:pt x="8169777" y="2084857"/>
                  </a:lnTo>
                  <a:lnTo>
                    <a:pt x="8153815" y="2088070"/>
                  </a:lnTo>
                  <a:lnTo>
                    <a:pt x="101822" y="2088070"/>
                  </a:lnTo>
                  <a:lnTo>
                    <a:pt x="101822" y="2092821"/>
                  </a:lnTo>
                  <a:close/>
                </a:path>
                <a:path w="8232140" h="2092960">
                  <a:moveTo>
                    <a:pt x="8172082" y="2083307"/>
                  </a:moveTo>
                  <a:lnTo>
                    <a:pt x="8130158" y="2083307"/>
                  </a:lnTo>
                  <a:lnTo>
                    <a:pt x="8166118" y="2076070"/>
                  </a:lnTo>
                  <a:lnTo>
                    <a:pt x="8195452" y="2056340"/>
                  </a:lnTo>
                  <a:lnTo>
                    <a:pt x="8215214" y="2027090"/>
                  </a:lnTo>
                  <a:lnTo>
                    <a:pt x="8222456" y="1991296"/>
                  </a:lnTo>
                  <a:lnTo>
                    <a:pt x="8222456" y="101536"/>
                  </a:lnTo>
                  <a:lnTo>
                    <a:pt x="8215200" y="65741"/>
                  </a:lnTo>
                  <a:lnTo>
                    <a:pt x="8195417" y="36492"/>
                  </a:lnTo>
                  <a:lnTo>
                    <a:pt x="8166078" y="16762"/>
                  </a:lnTo>
                  <a:lnTo>
                    <a:pt x="8130158" y="9525"/>
                  </a:lnTo>
                  <a:lnTo>
                    <a:pt x="101822" y="9525"/>
                  </a:lnTo>
                  <a:lnTo>
                    <a:pt x="101822" y="4762"/>
                  </a:lnTo>
                  <a:lnTo>
                    <a:pt x="8130158" y="4762"/>
                  </a:lnTo>
                  <a:lnTo>
                    <a:pt x="8130158" y="0"/>
                  </a:lnTo>
                  <a:lnTo>
                    <a:pt x="8169777" y="7975"/>
                  </a:lnTo>
                  <a:lnTo>
                    <a:pt x="8202144" y="29729"/>
                  </a:lnTo>
                  <a:lnTo>
                    <a:pt x="8223974" y="62003"/>
                  </a:lnTo>
                  <a:lnTo>
                    <a:pt x="8231981" y="101536"/>
                  </a:lnTo>
                  <a:lnTo>
                    <a:pt x="8231981" y="1991296"/>
                  </a:lnTo>
                  <a:lnTo>
                    <a:pt x="8223974" y="2030829"/>
                  </a:lnTo>
                  <a:lnTo>
                    <a:pt x="8202144" y="2063102"/>
                  </a:lnTo>
                  <a:lnTo>
                    <a:pt x="8172082" y="2083307"/>
                  </a:lnTo>
                  <a:close/>
                </a:path>
                <a:path w="8232140" h="2092960">
                  <a:moveTo>
                    <a:pt x="8130158" y="2092821"/>
                  </a:moveTo>
                  <a:lnTo>
                    <a:pt x="101822" y="2092821"/>
                  </a:lnTo>
                  <a:lnTo>
                    <a:pt x="101822" y="2088070"/>
                  </a:lnTo>
                  <a:lnTo>
                    <a:pt x="8130158" y="2088070"/>
                  </a:lnTo>
                  <a:lnTo>
                    <a:pt x="8130158" y="2092821"/>
                  </a:lnTo>
                  <a:close/>
                </a:path>
                <a:path w="8232140" h="2092960">
                  <a:moveTo>
                    <a:pt x="8130216" y="2092821"/>
                  </a:moveTo>
                  <a:lnTo>
                    <a:pt x="8130158" y="2088070"/>
                  </a:lnTo>
                  <a:lnTo>
                    <a:pt x="8153815" y="2088070"/>
                  </a:lnTo>
                  <a:lnTo>
                    <a:pt x="8130216" y="2092821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3561" y="2462906"/>
            <a:ext cx="7622540" cy="188722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950585">
              <a:lnSpc>
                <a:spcPct val="102800"/>
              </a:lnSpc>
              <a:spcBef>
                <a:spcPts val="25"/>
              </a:spcBef>
            </a:pP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Land</a:t>
            </a:r>
            <a:r>
              <a:rPr sz="2250" b="1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Use</a:t>
            </a:r>
            <a:r>
              <a:rPr sz="2250" b="1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250" b="1" spc="-50" dirty="0">
                <a:solidFill>
                  <a:srgbClr val="5B5E70"/>
                </a:solidFill>
                <a:latin typeface="Arial"/>
                <a:cs typeface="Arial"/>
              </a:rPr>
              <a:t>&amp; </a:t>
            </a: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Topography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630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Irreversible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change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natural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landscape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hills,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river,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villages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reclaimed,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flattened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site.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land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has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officially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changed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"International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Allied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Activities".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54428" y="2437060"/>
            <a:ext cx="8232140" cy="2092960"/>
            <a:chOff x="9254428" y="2437060"/>
            <a:chExt cx="8232140" cy="2092960"/>
          </a:xfrm>
        </p:grpSpPr>
        <p:sp>
          <p:nvSpPr>
            <p:cNvPr id="9" name="object 9"/>
            <p:cNvSpPr/>
            <p:nvPr/>
          </p:nvSpPr>
          <p:spPr>
            <a:xfrm>
              <a:off x="9259191" y="2441822"/>
              <a:ext cx="8222615" cy="2083435"/>
            </a:xfrm>
            <a:custGeom>
              <a:avLst/>
              <a:gdLst/>
              <a:ahLst/>
              <a:cxnLst/>
              <a:rect l="l" t="t" r="r" b="b"/>
              <a:pathLst>
                <a:path w="8222615" h="2083435">
                  <a:moveTo>
                    <a:pt x="8125397" y="2083307"/>
                  </a:moveTo>
                  <a:lnTo>
                    <a:pt x="97059" y="2083307"/>
                  </a:lnTo>
                  <a:lnTo>
                    <a:pt x="59270" y="2075701"/>
                  </a:lnTo>
                  <a:lnTo>
                    <a:pt x="28420" y="2054958"/>
                  </a:lnTo>
                  <a:lnTo>
                    <a:pt x="7624" y="2024197"/>
                  </a:lnTo>
                  <a:lnTo>
                    <a:pt x="0" y="1986533"/>
                  </a:lnTo>
                  <a:lnTo>
                    <a:pt x="0" y="96773"/>
                  </a:lnTo>
                  <a:lnTo>
                    <a:pt x="7624" y="59110"/>
                  </a:lnTo>
                  <a:lnTo>
                    <a:pt x="28420" y="28348"/>
                  </a:lnTo>
                  <a:lnTo>
                    <a:pt x="59270" y="7606"/>
                  </a:lnTo>
                  <a:lnTo>
                    <a:pt x="97059" y="0"/>
                  </a:lnTo>
                  <a:lnTo>
                    <a:pt x="8125397" y="0"/>
                  </a:lnTo>
                  <a:lnTo>
                    <a:pt x="8163186" y="7606"/>
                  </a:lnTo>
                  <a:lnTo>
                    <a:pt x="8194036" y="28348"/>
                  </a:lnTo>
                  <a:lnTo>
                    <a:pt x="8214832" y="59110"/>
                  </a:lnTo>
                  <a:lnTo>
                    <a:pt x="8222456" y="96773"/>
                  </a:lnTo>
                  <a:lnTo>
                    <a:pt x="8222456" y="1986533"/>
                  </a:lnTo>
                  <a:lnTo>
                    <a:pt x="8214832" y="2024197"/>
                  </a:lnTo>
                  <a:lnTo>
                    <a:pt x="8194036" y="2054958"/>
                  </a:lnTo>
                  <a:lnTo>
                    <a:pt x="8163186" y="2075701"/>
                  </a:lnTo>
                  <a:lnTo>
                    <a:pt x="8125397" y="208330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54428" y="2437060"/>
              <a:ext cx="8232140" cy="2092960"/>
            </a:xfrm>
            <a:custGeom>
              <a:avLst/>
              <a:gdLst/>
              <a:ahLst/>
              <a:cxnLst/>
              <a:rect l="l" t="t" r="r" b="b"/>
              <a:pathLst>
                <a:path w="8232140" h="2092960">
                  <a:moveTo>
                    <a:pt x="101822" y="2092821"/>
                  </a:moveTo>
                  <a:lnTo>
                    <a:pt x="62204" y="2084857"/>
                  </a:lnTo>
                  <a:lnTo>
                    <a:pt x="29837" y="2063102"/>
                  </a:lnTo>
                  <a:lnTo>
                    <a:pt x="8007" y="2030829"/>
                  </a:lnTo>
                  <a:lnTo>
                    <a:pt x="0" y="1991296"/>
                  </a:lnTo>
                  <a:lnTo>
                    <a:pt x="0" y="101536"/>
                  </a:lnTo>
                  <a:lnTo>
                    <a:pt x="8007" y="62003"/>
                  </a:lnTo>
                  <a:lnTo>
                    <a:pt x="29837" y="29729"/>
                  </a:lnTo>
                  <a:lnTo>
                    <a:pt x="62204" y="7975"/>
                  </a:lnTo>
                  <a:lnTo>
                    <a:pt x="101822" y="0"/>
                  </a:lnTo>
                  <a:lnTo>
                    <a:pt x="8130159" y="0"/>
                  </a:lnTo>
                  <a:lnTo>
                    <a:pt x="8130159" y="4762"/>
                  </a:lnTo>
                  <a:lnTo>
                    <a:pt x="101822" y="4762"/>
                  </a:lnTo>
                  <a:lnTo>
                    <a:pt x="101822" y="9525"/>
                  </a:lnTo>
                  <a:lnTo>
                    <a:pt x="65902" y="16762"/>
                  </a:lnTo>
                  <a:lnTo>
                    <a:pt x="36564" y="36492"/>
                  </a:lnTo>
                  <a:lnTo>
                    <a:pt x="16780" y="65741"/>
                  </a:lnTo>
                  <a:lnTo>
                    <a:pt x="9525" y="101536"/>
                  </a:lnTo>
                  <a:lnTo>
                    <a:pt x="9525" y="1991296"/>
                  </a:lnTo>
                  <a:lnTo>
                    <a:pt x="16780" y="2027090"/>
                  </a:lnTo>
                  <a:lnTo>
                    <a:pt x="36564" y="2056340"/>
                  </a:lnTo>
                  <a:lnTo>
                    <a:pt x="65902" y="2076070"/>
                  </a:lnTo>
                  <a:lnTo>
                    <a:pt x="101822" y="2083307"/>
                  </a:lnTo>
                  <a:lnTo>
                    <a:pt x="8172082" y="2083307"/>
                  </a:lnTo>
                  <a:lnTo>
                    <a:pt x="8169777" y="2084857"/>
                  </a:lnTo>
                  <a:lnTo>
                    <a:pt x="8153816" y="2088070"/>
                  </a:lnTo>
                  <a:lnTo>
                    <a:pt x="101822" y="2088070"/>
                  </a:lnTo>
                  <a:lnTo>
                    <a:pt x="101822" y="2092821"/>
                  </a:lnTo>
                  <a:close/>
                </a:path>
                <a:path w="8232140" h="2092960">
                  <a:moveTo>
                    <a:pt x="8172082" y="2083307"/>
                  </a:moveTo>
                  <a:lnTo>
                    <a:pt x="8130159" y="2083307"/>
                  </a:lnTo>
                  <a:lnTo>
                    <a:pt x="8166119" y="2076070"/>
                  </a:lnTo>
                  <a:lnTo>
                    <a:pt x="8195453" y="2056340"/>
                  </a:lnTo>
                  <a:lnTo>
                    <a:pt x="8215214" y="2027090"/>
                  </a:lnTo>
                  <a:lnTo>
                    <a:pt x="8222456" y="1991296"/>
                  </a:lnTo>
                  <a:lnTo>
                    <a:pt x="8222456" y="101536"/>
                  </a:lnTo>
                  <a:lnTo>
                    <a:pt x="8215201" y="65741"/>
                  </a:lnTo>
                  <a:lnTo>
                    <a:pt x="8195417" y="36492"/>
                  </a:lnTo>
                  <a:lnTo>
                    <a:pt x="8166079" y="16762"/>
                  </a:lnTo>
                  <a:lnTo>
                    <a:pt x="8130159" y="9525"/>
                  </a:lnTo>
                  <a:lnTo>
                    <a:pt x="101822" y="9525"/>
                  </a:lnTo>
                  <a:lnTo>
                    <a:pt x="101822" y="4762"/>
                  </a:lnTo>
                  <a:lnTo>
                    <a:pt x="8130159" y="4762"/>
                  </a:lnTo>
                  <a:lnTo>
                    <a:pt x="8130159" y="0"/>
                  </a:lnTo>
                  <a:lnTo>
                    <a:pt x="8169777" y="7975"/>
                  </a:lnTo>
                  <a:lnTo>
                    <a:pt x="8202144" y="29729"/>
                  </a:lnTo>
                  <a:lnTo>
                    <a:pt x="8223974" y="62003"/>
                  </a:lnTo>
                  <a:lnTo>
                    <a:pt x="8231981" y="101536"/>
                  </a:lnTo>
                  <a:lnTo>
                    <a:pt x="8231981" y="1991296"/>
                  </a:lnTo>
                  <a:lnTo>
                    <a:pt x="8223974" y="2030829"/>
                  </a:lnTo>
                  <a:lnTo>
                    <a:pt x="8202144" y="2063102"/>
                  </a:lnTo>
                  <a:lnTo>
                    <a:pt x="8172082" y="2083307"/>
                  </a:lnTo>
                  <a:close/>
                </a:path>
                <a:path w="8232140" h="2092960">
                  <a:moveTo>
                    <a:pt x="8130159" y="2092821"/>
                  </a:moveTo>
                  <a:lnTo>
                    <a:pt x="101822" y="2092821"/>
                  </a:lnTo>
                  <a:lnTo>
                    <a:pt x="101822" y="2088070"/>
                  </a:lnTo>
                  <a:lnTo>
                    <a:pt x="8130159" y="2088070"/>
                  </a:lnTo>
                  <a:lnTo>
                    <a:pt x="8130159" y="2092821"/>
                  </a:lnTo>
                  <a:close/>
                </a:path>
                <a:path w="8232140" h="2092960">
                  <a:moveTo>
                    <a:pt x="8130216" y="2092821"/>
                  </a:moveTo>
                  <a:lnTo>
                    <a:pt x="8130159" y="2088070"/>
                  </a:lnTo>
                  <a:lnTo>
                    <a:pt x="8153816" y="2088070"/>
                  </a:lnTo>
                  <a:lnTo>
                    <a:pt x="8130216" y="2092821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486403" y="2451180"/>
            <a:ext cx="7660005" cy="135255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Air </a:t>
            </a: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53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Temporary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increase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dust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particulate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matter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earthworks,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vehicle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movement,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operation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crushers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concrete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plants.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1588" y="4750742"/>
            <a:ext cx="8231505" cy="1724660"/>
            <a:chOff x="801588" y="4750742"/>
            <a:chExt cx="8231505" cy="1724660"/>
          </a:xfrm>
        </p:grpSpPr>
        <p:sp>
          <p:nvSpPr>
            <p:cNvPr id="13" name="object 13"/>
            <p:cNvSpPr/>
            <p:nvPr/>
          </p:nvSpPr>
          <p:spPr>
            <a:xfrm>
              <a:off x="806351" y="4755504"/>
              <a:ext cx="8222615" cy="1715135"/>
            </a:xfrm>
            <a:custGeom>
              <a:avLst/>
              <a:gdLst/>
              <a:ahLst/>
              <a:cxnLst/>
              <a:rect l="l" t="t" r="r" b="b"/>
              <a:pathLst>
                <a:path w="8222615" h="1715135">
                  <a:moveTo>
                    <a:pt x="8125301" y="1714785"/>
                  </a:moveTo>
                  <a:lnTo>
                    <a:pt x="97154" y="1714785"/>
                  </a:lnTo>
                  <a:lnTo>
                    <a:pt x="59310" y="1707179"/>
                  </a:lnTo>
                  <a:lnTo>
                    <a:pt x="28432" y="1686436"/>
                  </a:lnTo>
                  <a:lnTo>
                    <a:pt x="7625" y="1655675"/>
                  </a:lnTo>
                  <a:lnTo>
                    <a:pt x="0" y="1618011"/>
                  </a:lnTo>
                  <a:lnTo>
                    <a:pt x="0" y="96773"/>
                  </a:lnTo>
                  <a:lnTo>
                    <a:pt x="7639" y="59110"/>
                  </a:lnTo>
                  <a:lnTo>
                    <a:pt x="28467" y="28348"/>
                  </a:lnTo>
                  <a:lnTo>
                    <a:pt x="59351" y="7606"/>
                  </a:lnTo>
                  <a:lnTo>
                    <a:pt x="97154" y="0"/>
                  </a:lnTo>
                  <a:lnTo>
                    <a:pt x="8125301" y="0"/>
                  </a:lnTo>
                  <a:lnTo>
                    <a:pt x="8163145" y="7606"/>
                  </a:lnTo>
                  <a:lnTo>
                    <a:pt x="8194024" y="28348"/>
                  </a:lnTo>
                  <a:lnTo>
                    <a:pt x="8214830" y="59110"/>
                  </a:lnTo>
                  <a:lnTo>
                    <a:pt x="8222456" y="96773"/>
                  </a:lnTo>
                  <a:lnTo>
                    <a:pt x="8222456" y="1618011"/>
                  </a:lnTo>
                  <a:lnTo>
                    <a:pt x="8214817" y="1655675"/>
                  </a:lnTo>
                  <a:lnTo>
                    <a:pt x="8193988" y="1686436"/>
                  </a:lnTo>
                  <a:lnTo>
                    <a:pt x="8163105" y="1707179"/>
                  </a:lnTo>
                  <a:lnTo>
                    <a:pt x="8125301" y="171478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1588" y="4750742"/>
              <a:ext cx="8231505" cy="1724660"/>
            </a:xfrm>
            <a:custGeom>
              <a:avLst/>
              <a:gdLst/>
              <a:ahLst/>
              <a:cxnLst/>
              <a:rect l="l" t="t" r="r" b="b"/>
              <a:pathLst>
                <a:path w="8231505" h="1724660">
                  <a:moveTo>
                    <a:pt x="101917" y="1724310"/>
                  </a:moveTo>
                  <a:lnTo>
                    <a:pt x="62244" y="1716335"/>
                  </a:lnTo>
                  <a:lnTo>
                    <a:pt x="29848" y="1694580"/>
                  </a:lnTo>
                  <a:lnTo>
                    <a:pt x="8008" y="1662307"/>
                  </a:lnTo>
                  <a:lnTo>
                    <a:pt x="0" y="1622774"/>
                  </a:lnTo>
                  <a:lnTo>
                    <a:pt x="0" y="101536"/>
                  </a:lnTo>
                  <a:lnTo>
                    <a:pt x="8008" y="62003"/>
                  </a:lnTo>
                  <a:lnTo>
                    <a:pt x="29848" y="29730"/>
                  </a:lnTo>
                  <a:lnTo>
                    <a:pt x="62244" y="7975"/>
                  </a:lnTo>
                  <a:lnTo>
                    <a:pt x="101917" y="0"/>
                  </a:lnTo>
                  <a:lnTo>
                    <a:pt x="8130064" y="0"/>
                  </a:lnTo>
                  <a:lnTo>
                    <a:pt x="8130064" y="4762"/>
                  </a:lnTo>
                  <a:lnTo>
                    <a:pt x="101917" y="4762"/>
                  </a:lnTo>
                  <a:lnTo>
                    <a:pt x="101917" y="9525"/>
                  </a:lnTo>
                  <a:lnTo>
                    <a:pt x="65942" y="16762"/>
                  </a:lnTo>
                  <a:lnTo>
                    <a:pt x="36576" y="36492"/>
                  </a:lnTo>
                  <a:lnTo>
                    <a:pt x="16781" y="65741"/>
                  </a:lnTo>
                  <a:lnTo>
                    <a:pt x="9525" y="101536"/>
                  </a:lnTo>
                  <a:lnTo>
                    <a:pt x="9525" y="1622774"/>
                  </a:lnTo>
                  <a:lnTo>
                    <a:pt x="16781" y="1658568"/>
                  </a:lnTo>
                  <a:lnTo>
                    <a:pt x="36576" y="1687818"/>
                  </a:lnTo>
                  <a:lnTo>
                    <a:pt x="65942" y="1707548"/>
                  </a:lnTo>
                  <a:lnTo>
                    <a:pt x="101917" y="1714785"/>
                  </a:lnTo>
                  <a:lnTo>
                    <a:pt x="8172044" y="1714785"/>
                  </a:lnTo>
                  <a:lnTo>
                    <a:pt x="8169737" y="1716335"/>
                  </a:lnTo>
                  <a:lnTo>
                    <a:pt x="8153754" y="1719548"/>
                  </a:lnTo>
                  <a:lnTo>
                    <a:pt x="101917" y="1719548"/>
                  </a:lnTo>
                  <a:lnTo>
                    <a:pt x="101917" y="1724310"/>
                  </a:lnTo>
                  <a:close/>
                </a:path>
                <a:path w="8231505" h="1724660">
                  <a:moveTo>
                    <a:pt x="8172044" y="1714785"/>
                  </a:moveTo>
                  <a:lnTo>
                    <a:pt x="8130064" y="1714785"/>
                  </a:lnTo>
                  <a:lnTo>
                    <a:pt x="8166038" y="1707548"/>
                  </a:lnTo>
                  <a:lnTo>
                    <a:pt x="8195405" y="1687818"/>
                  </a:lnTo>
                  <a:lnTo>
                    <a:pt x="8215199" y="1658568"/>
                  </a:lnTo>
                  <a:lnTo>
                    <a:pt x="8222456" y="1622774"/>
                  </a:lnTo>
                  <a:lnTo>
                    <a:pt x="8222456" y="101536"/>
                  </a:lnTo>
                  <a:lnTo>
                    <a:pt x="8215199" y="65741"/>
                  </a:lnTo>
                  <a:lnTo>
                    <a:pt x="8195405" y="36492"/>
                  </a:lnTo>
                  <a:lnTo>
                    <a:pt x="8166038" y="16762"/>
                  </a:lnTo>
                  <a:lnTo>
                    <a:pt x="8130064" y="9525"/>
                  </a:lnTo>
                  <a:lnTo>
                    <a:pt x="101917" y="9525"/>
                  </a:lnTo>
                  <a:lnTo>
                    <a:pt x="101917" y="4762"/>
                  </a:lnTo>
                  <a:lnTo>
                    <a:pt x="8130064" y="4762"/>
                  </a:lnTo>
                  <a:lnTo>
                    <a:pt x="8130064" y="0"/>
                  </a:lnTo>
                  <a:lnTo>
                    <a:pt x="8169737" y="7975"/>
                  </a:lnTo>
                  <a:lnTo>
                    <a:pt x="8202132" y="29730"/>
                  </a:lnTo>
                  <a:lnTo>
                    <a:pt x="8223972" y="62003"/>
                  </a:lnTo>
                  <a:lnTo>
                    <a:pt x="8230945" y="96427"/>
                  </a:lnTo>
                  <a:lnTo>
                    <a:pt x="8230945" y="1627883"/>
                  </a:lnTo>
                  <a:lnTo>
                    <a:pt x="8223972" y="1662307"/>
                  </a:lnTo>
                  <a:lnTo>
                    <a:pt x="8202132" y="1694580"/>
                  </a:lnTo>
                  <a:lnTo>
                    <a:pt x="8172044" y="1714785"/>
                  </a:lnTo>
                  <a:close/>
                </a:path>
                <a:path w="8231505" h="1724660">
                  <a:moveTo>
                    <a:pt x="8130064" y="1724310"/>
                  </a:moveTo>
                  <a:lnTo>
                    <a:pt x="101917" y="1724310"/>
                  </a:lnTo>
                  <a:lnTo>
                    <a:pt x="101917" y="1719548"/>
                  </a:lnTo>
                  <a:lnTo>
                    <a:pt x="8130064" y="1719548"/>
                  </a:lnTo>
                  <a:lnTo>
                    <a:pt x="8130064" y="1724310"/>
                  </a:lnTo>
                  <a:close/>
                </a:path>
                <a:path w="8231505" h="1724660">
                  <a:moveTo>
                    <a:pt x="8130064" y="1724310"/>
                  </a:moveTo>
                  <a:lnTo>
                    <a:pt x="8130064" y="1719548"/>
                  </a:lnTo>
                  <a:lnTo>
                    <a:pt x="8153754" y="1719548"/>
                  </a:lnTo>
                  <a:lnTo>
                    <a:pt x="8130064" y="1724310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33561" y="4764864"/>
            <a:ext cx="7341870" cy="135255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Noise &amp; </a:t>
            </a: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Vibration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53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Increased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noise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levels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due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heavy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machinery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operation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controlled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blasting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activities.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254428" y="4750742"/>
            <a:ext cx="8231505" cy="1724660"/>
            <a:chOff x="9254428" y="4750742"/>
            <a:chExt cx="8231505" cy="1724660"/>
          </a:xfrm>
        </p:grpSpPr>
        <p:sp>
          <p:nvSpPr>
            <p:cNvPr id="17" name="object 17"/>
            <p:cNvSpPr/>
            <p:nvPr/>
          </p:nvSpPr>
          <p:spPr>
            <a:xfrm>
              <a:off x="9259191" y="4755504"/>
              <a:ext cx="8222615" cy="1715135"/>
            </a:xfrm>
            <a:custGeom>
              <a:avLst/>
              <a:gdLst/>
              <a:ahLst/>
              <a:cxnLst/>
              <a:rect l="l" t="t" r="r" b="b"/>
              <a:pathLst>
                <a:path w="8222615" h="1715135">
                  <a:moveTo>
                    <a:pt x="8125301" y="1714785"/>
                  </a:moveTo>
                  <a:lnTo>
                    <a:pt x="97154" y="1714785"/>
                  </a:lnTo>
                  <a:lnTo>
                    <a:pt x="59310" y="1707179"/>
                  </a:lnTo>
                  <a:lnTo>
                    <a:pt x="28432" y="1686436"/>
                  </a:lnTo>
                  <a:lnTo>
                    <a:pt x="7625" y="1655675"/>
                  </a:lnTo>
                  <a:lnTo>
                    <a:pt x="0" y="1618011"/>
                  </a:lnTo>
                  <a:lnTo>
                    <a:pt x="0" y="96773"/>
                  </a:lnTo>
                  <a:lnTo>
                    <a:pt x="7639" y="59110"/>
                  </a:lnTo>
                  <a:lnTo>
                    <a:pt x="28467" y="28348"/>
                  </a:lnTo>
                  <a:lnTo>
                    <a:pt x="59351" y="7606"/>
                  </a:lnTo>
                  <a:lnTo>
                    <a:pt x="97154" y="0"/>
                  </a:lnTo>
                  <a:lnTo>
                    <a:pt x="8125301" y="0"/>
                  </a:lnTo>
                  <a:lnTo>
                    <a:pt x="8163145" y="7606"/>
                  </a:lnTo>
                  <a:lnTo>
                    <a:pt x="8194024" y="28348"/>
                  </a:lnTo>
                  <a:lnTo>
                    <a:pt x="8214831" y="59110"/>
                  </a:lnTo>
                  <a:lnTo>
                    <a:pt x="8222456" y="96773"/>
                  </a:lnTo>
                  <a:lnTo>
                    <a:pt x="8222456" y="1618011"/>
                  </a:lnTo>
                  <a:lnTo>
                    <a:pt x="8214817" y="1655675"/>
                  </a:lnTo>
                  <a:lnTo>
                    <a:pt x="8193989" y="1686436"/>
                  </a:lnTo>
                  <a:lnTo>
                    <a:pt x="8163105" y="1707179"/>
                  </a:lnTo>
                  <a:lnTo>
                    <a:pt x="8125301" y="171478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54428" y="4750742"/>
              <a:ext cx="8231505" cy="1724660"/>
            </a:xfrm>
            <a:custGeom>
              <a:avLst/>
              <a:gdLst/>
              <a:ahLst/>
              <a:cxnLst/>
              <a:rect l="l" t="t" r="r" b="b"/>
              <a:pathLst>
                <a:path w="8231505" h="1724660">
                  <a:moveTo>
                    <a:pt x="101917" y="1724310"/>
                  </a:moveTo>
                  <a:lnTo>
                    <a:pt x="62244" y="1716335"/>
                  </a:lnTo>
                  <a:lnTo>
                    <a:pt x="29849" y="1694580"/>
                  </a:lnTo>
                  <a:lnTo>
                    <a:pt x="8008" y="1662307"/>
                  </a:lnTo>
                  <a:lnTo>
                    <a:pt x="0" y="1622774"/>
                  </a:lnTo>
                  <a:lnTo>
                    <a:pt x="0" y="101536"/>
                  </a:lnTo>
                  <a:lnTo>
                    <a:pt x="8008" y="62003"/>
                  </a:lnTo>
                  <a:lnTo>
                    <a:pt x="29849" y="29730"/>
                  </a:lnTo>
                  <a:lnTo>
                    <a:pt x="62244" y="7975"/>
                  </a:lnTo>
                  <a:lnTo>
                    <a:pt x="101917" y="0"/>
                  </a:lnTo>
                  <a:lnTo>
                    <a:pt x="8130064" y="0"/>
                  </a:lnTo>
                  <a:lnTo>
                    <a:pt x="8130064" y="4762"/>
                  </a:lnTo>
                  <a:lnTo>
                    <a:pt x="101917" y="4762"/>
                  </a:lnTo>
                  <a:lnTo>
                    <a:pt x="101917" y="9525"/>
                  </a:lnTo>
                  <a:lnTo>
                    <a:pt x="65942" y="16762"/>
                  </a:lnTo>
                  <a:lnTo>
                    <a:pt x="36576" y="36492"/>
                  </a:lnTo>
                  <a:lnTo>
                    <a:pt x="16781" y="65741"/>
                  </a:lnTo>
                  <a:lnTo>
                    <a:pt x="9525" y="101536"/>
                  </a:lnTo>
                  <a:lnTo>
                    <a:pt x="9525" y="1622774"/>
                  </a:lnTo>
                  <a:lnTo>
                    <a:pt x="16781" y="1658568"/>
                  </a:lnTo>
                  <a:lnTo>
                    <a:pt x="36576" y="1687818"/>
                  </a:lnTo>
                  <a:lnTo>
                    <a:pt x="65942" y="1707548"/>
                  </a:lnTo>
                  <a:lnTo>
                    <a:pt x="101917" y="1714785"/>
                  </a:lnTo>
                  <a:lnTo>
                    <a:pt x="8172044" y="1714785"/>
                  </a:lnTo>
                  <a:lnTo>
                    <a:pt x="8169737" y="1716335"/>
                  </a:lnTo>
                  <a:lnTo>
                    <a:pt x="8153754" y="1719548"/>
                  </a:lnTo>
                  <a:lnTo>
                    <a:pt x="101917" y="1719548"/>
                  </a:lnTo>
                  <a:lnTo>
                    <a:pt x="101917" y="1724310"/>
                  </a:lnTo>
                  <a:close/>
                </a:path>
                <a:path w="8231505" h="1724660">
                  <a:moveTo>
                    <a:pt x="8172044" y="1714785"/>
                  </a:moveTo>
                  <a:lnTo>
                    <a:pt x="8130064" y="1714785"/>
                  </a:lnTo>
                  <a:lnTo>
                    <a:pt x="8166038" y="1707548"/>
                  </a:lnTo>
                  <a:lnTo>
                    <a:pt x="8195405" y="1687818"/>
                  </a:lnTo>
                  <a:lnTo>
                    <a:pt x="8215200" y="1658568"/>
                  </a:lnTo>
                  <a:lnTo>
                    <a:pt x="8222457" y="1622774"/>
                  </a:lnTo>
                  <a:lnTo>
                    <a:pt x="8222457" y="101536"/>
                  </a:lnTo>
                  <a:lnTo>
                    <a:pt x="8215200" y="65741"/>
                  </a:lnTo>
                  <a:lnTo>
                    <a:pt x="8195405" y="36492"/>
                  </a:lnTo>
                  <a:lnTo>
                    <a:pt x="8166038" y="16762"/>
                  </a:lnTo>
                  <a:lnTo>
                    <a:pt x="8130064" y="9525"/>
                  </a:lnTo>
                  <a:lnTo>
                    <a:pt x="101917" y="9525"/>
                  </a:lnTo>
                  <a:lnTo>
                    <a:pt x="101917" y="4762"/>
                  </a:lnTo>
                  <a:lnTo>
                    <a:pt x="8130064" y="4762"/>
                  </a:lnTo>
                  <a:lnTo>
                    <a:pt x="8130064" y="0"/>
                  </a:lnTo>
                  <a:lnTo>
                    <a:pt x="8169737" y="7975"/>
                  </a:lnTo>
                  <a:lnTo>
                    <a:pt x="8202132" y="29730"/>
                  </a:lnTo>
                  <a:lnTo>
                    <a:pt x="8223972" y="62003"/>
                  </a:lnTo>
                  <a:lnTo>
                    <a:pt x="8230945" y="96427"/>
                  </a:lnTo>
                  <a:lnTo>
                    <a:pt x="8230945" y="1627883"/>
                  </a:lnTo>
                  <a:lnTo>
                    <a:pt x="8223972" y="1662307"/>
                  </a:lnTo>
                  <a:lnTo>
                    <a:pt x="8202132" y="1694580"/>
                  </a:lnTo>
                  <a:lnTo>
                    <a:pt x="8172044" y="1714785"/>
                  </a:lnTo>
                  <a:close/>
                </a:path>
                <a:path w="8231505" h="1724660">
                  <a:moveTo>
                    <a:pt x="8130064" y="1724310"/>
                  </a:moveTo>
                  <a:lnTo>
                    <a:pt x="101917" y="1724310"/>
                  </a:lnTo>
                  <a:lnTo>
                    <a:pt x="101917" y="1719548"/>
                  </a:lnTo>
                  <a:lnTo>
                    <a:pt x="8130064" y="1719548"/>
                  </a:lnTo>
                  <a:lnTo>
                    <a:pt x="8130064" y="1724310"/>
                  </a:lnTo>
                  <a:close/>
                </a:path>
                <a:path w="8231505" h="1724660">
                  <a:moveTo>
                    <a:pt x="8130064" y="1724310"/>
                  </a:moveTo>
                  <a:lnTo>
                    <a:pt x="8130064" y="1719548"/>
                  </a:lnTo>
                  <a:lnTo>
                    <a:pt x="8153754" y="1719548"/>
                  </a:lnTo>
                  <a:lnTo>
                    <a:pt x="8130064" y="1724310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486403" y="4764864"/>
            <a:ext cx="7508240" cy="135255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Water </a:t>
            </a: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53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Potential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increased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sediment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load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turbidity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nearby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water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bodies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surface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runoff.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1588" y="6695926"/>
            <a:ext cx="8228965" cy="2967990"/>
            <a:chOff x="801588" y="6695926"/>
            <a:chExt cx="8228965" cy="2967990"/>
          </a:xfrm>
        </p:grpSpPr>
        <p:sp>
          <p:nvSpPr>
            <p:cNvPr id="21" name="object 21"/>
            <p:cNvSpPr/>
            <p:nvPr/>
          </p:nvSpPr>
          <p:spPr>
            <a:xfrm>
              <a:off x="806351" y="6700688"/>
              <a:ext cx="8222615" cy="2958465"/>
            </a:xfrm>
            <a:custGeom>
              <a:avLst/>
              <a:gdLst/>
              <a:ahLst/>
              <a:cxnLst/>
              <a:rect l="l" t="t" r="r" b="b"/>
              <a:pathLst>
                <a:path w="8222615" h="2958465">
                  <a:moveTo>
                    <a:pt x="8125491" y="2958369"/>
                  </a:moveTo>
                  <a:lnTo>
                    <a:pt x="96964" y="2958369"/>
                  </a:lnTo>
                  <a:lnTo>
                    <a:pt x="59230" y="2950776"/>
                  </a:lnTo>
                  <a:lnTo>
                    <a:pt x="28408" y="2930056"/>
                  </a:lnTo>
                  <a:lnTo>
                    <a:pt x="7622" y="2899299"/>
                  </a:lnTo>
                  <a:lnTo>
                    <a:pt x="0" y="2861595"/>
                  </a:lnTo>
                  <a:lnTo>
                    <a:pt x="0" y="96773"/>
                  </a:lnTo>
                  <a:lnTo>
                    <a:pt x="7622" y="59109"/>
                  </a:lnTo>
                  <a:lnTo>
                    <a:pt x="28408" y="28348"/>
                  </a:lnTo>
                  <a:lnTo>
                    <a:pt x="59230" y="7606"/>
                  </a:lnTo>
                  <a:lnTo>
                    <a:pt x="96964" y="0"/>
                  </a:lnTo>
                  <a:lnTo>
                    <a:pt x="8125491" y="0"/>
                  </a:lnTo>
                  <a:lnTo>
                    <a:pt x="8163224" y="7606"/>
                  </a:lnTo>
                  <a:lnTo>
                    <a:pt x="8194047" y="28348"/>
                  </a:lnTo>
                  <a:lnTo>
                    <a:pt x="8214832" y="59109"/>
                  </a:lnTo>
                  <a:lnTo>
                    <a:pt x="8222455" y="96773"/>
                  </a:lnTo>
                  <a:lnTo>
                    <a:pt x="8222455" y="2861595"/>
                  </a:lnTo>
                  <a:lnTo>
                    <a:pt x="8214805" y="2899299"/>
                  </a:lnTo>
                  <a:lnTo>
                    <a:pt x="8193994" y="2930056"/>
                  </a:lnTo>
                  <a:lnTo>
                    <a:pt x="8163158" y="2950776"/>
                  </a:lnTo>
                  <a:lnTo>
                    <a:pt x="8125491" y="2958369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1588" y="6695926"/>
              <a:ext cx="8228965" cy="2967990"/>
            </a:xfrm>
            <a:custGeom>
              <a:avLst/>
              <a:gdLst/>
              <a:ahLst/>
              <a:cxnLst/>
              <a:rect l="l" t="t" r="r" b="b"/>
              <a:pathLst>
                <a:path w="8228965" h="2967990">
                  <a:moveTo>
                    <a:pt x="101726" y="2967894"/>
                  </a:moveTo>
                  <a:lnTo>
                    <a:pt x="101553" y="2967894"/>
                  </a:lnTo>
                  <a:lnTo>
                    <a:pt x="62123" y="2959918"/>
                  </a:lnTo>
                  <a:lnTo>
                    <a:pt x="29789" y="2938164"/>
                  </a:lnTo>
                  <a:lnTo>
                    <a:pt x="7992" y="2905891"/>
                  </a:lnTo>
                  <a:lnTo>
                    <a:pt x="0" y="2866358"/>
                  </a:lnTo>
                  <a:lnTo>
                    <a:pt x="0" y="101536"/>
                  </a:lnTo>
                  <a:lnTo>
                    <a:pt x="7992" y="62003"/>
                  </a:lnTo>
                  <a:lnTo>
                    <a:pt x="29789" y="29730"/>
                  </a:lnTo>
                  <a:lnTo>
                    <a:pt x="62123" y="7975"/>
                  </a:lnTo>
                  <a:lnTo>
                    <a:pt x="101726" y="0"/>
                  </a:lnTo>
                  <a:lnTo>
                    <a:pt x="8130253" y="0"/>
                  </a:lnTo>
                  <a:lnTo>
                    <a:pt x="8130253" y="4762"/>
                  </a:lnTo>
                  <a:lnTo>
                    <a:pt x="101726" y="4762"/>
                  </a:lnTo>
                  <a:lnTo>
                    <a:pt x="101726" y="9525"/>
                  </a:lnTo>
                  <a:lnTo>
                    <a:pt x="65822" y="16762"/>
                  </a:lnTo>
                  <a:lnTo>
                    <a:pt x="36516" y="36492"/>
                  </a:lnTo>
                  <a:lnTo>
                    <a:pt x="16765" y="65741"/>
                  </a:lnTo>
                  <a:lnTo>
                    <a:pt x="9525" y="101536"/>
                  </a:lnTo>
                  <a:lnTo>
                    <a:pt x="9525" y="2866358"/>
                  </a:lnTo>
                  <a:lnTo>
                    <a:pt x="16765" y="2902152"/>
                  </a:lnTo>
                  <a:lnTo>
                    <a:pt x="36516" y="2931401"/>
                  </a:lnTo>
                  <a:lnTo>
                    <a:pt x="65822" y="2951132"/>
                  </a:lnTo>
                  <a:lnTo>
                    <a:pt x="101726" y="2958369"/>
                  </a:lnTo>
                  <a:lnTo>
                    <a:pt x="8172159" y="2958369"/>
                  </a:lnTo>
                  <a:lnTo>
                    <a:pt x="8169857" y="2959918"/>
                  </a:lnTo>
                  <a:lnTo>
                    <a:pt x="8153902" y="2963132"/>
                  </a:lnTo>
                  <a:lnTo>
                    <a:pt x="101726" y="2963132"/>
                  </a:lnTo>
                  <a:lnTo>
                    <a:pt x="101726" y="2967894"/>
                  </a:lnTo>
                  <a:close/>
                </a:path>
                <a:path w="8228965" h="2967990">
                  <a:moveTo>
                    <a:pt x="8172159" y="2958369"/>
                  </a:moveTo>
                  <a:lnTo>
                    <a:pt x="8130253" y="2958369"/>
                  </a:lnTo>
                  <a:lnTo>
                    <a:pt x="8166158" y="2951132"/>
                  </a:lnTo>
                  <a:lnTo>
                    <a:pt x="8195464" y="2931401"/>
                  </a:lnTo>
                  <a:lnTo>
                    <a:pt x="8215215" y="2902152"/>
                  </a:lnTo>
                  <a:lnTo>
                    <a:pt x="8222455" y="2866358"/>
                  </a:lnTo>
                  <a:lnTo>
                    <a:pt x="8222455" y="101536"/>
                  </a:lnTo>
                  <a:lnTo>
                    <a:pt x="8215215" y="65741"/>
                  </a:lnTo>
                  <a:lnTo>
                    <a:pt x="8195464" y="36492"/>
                  </a:lnTo>
                  <a:lnTo>
                    <a:pt x="8166158" y="16762"/>
                  </a:lnTo>
                  <a:lnTo>
                    <a:pt x="8130253" y="9525"/>
                  </a:lnTo>
                  <a:lnTo>
                    <a:pt x="101726" y="9525"/>
                  </a:lnTo>
                  <a:lnTo>
                    <a:pt x="101726" y="4762"/>
                  </a:lnTo>
                  <a:lnTo>
                    <a:pt x="8130253" y="4762"/>
                  </a:lnTo>
                  <a:lnTo>
                    <a:pt x="8130253" y="0"/>
                  </a:lnTo>
                  <a:lnTo>
                    <a:pt x="8169857" y="7975"/>
                  </a:lnTo>
                  <a:lnTo>
                    <a:pt x="8202191" y="29730"/>
                  </a:lnTo>
                  <a:lnTo>
                    <a:pt x="8223988" y="62003"/>
                  </a:lnTo>
                  <a:lnTo>
                    <a:pt x="8228394" y="83796"/>
                  </a:lnTo>
                  <a:lnTo>
                    <a:pt x="8228394" y="2884098"/>
                  </a:lnTo>
                  <a:lnTo>
                    <a:pt x="8223988" y="2905891"/>
                  </a:lnTo>
                  <a:lnTo>
                    <a:pt x="8202191" y="2938164"/>
                  </a:lnTo>
                  <a:lnTo>
                    <a:pt x="8172159" y="2958369"/>
                  </a:lnTo>
                  <a:close/>
                </a:path>
                <a:path w="8228965" h="2967990">
                  <a:moveTo>
                    <a:pt x="8130253" y="2967894"/>
                  </a:moveTo>
                  <a:lnTo>
                    <a:pt x="101720" y="2967894"/>
                  </a:lnTo>
                  <a:lnTo>
                    <a:pt x="101726" y="2963132"/>
                  </a:lnTo>
                  <a:lnTo>
                    <a:pt x="8130253" y="2963132"/>
                  </a:lnTo>
                  <a:lnTo>
                    <a:pt x="8130253" y="2967894"/>
                  </a:lnTo>
                  <a:close/>
                </a:path>
                <a:path w="8228965" h="2967990">
                  <a:moveTo>
                    <a:pt x="8130253" y="2967894"/>
                  </a:moveTo>
                  <a:lnTo>
                    <a:pt x="8130253" y="2963132"/>
                  </a:lnTo>
                  <a:lnTo>
                    <a:pt x="8153902" y="2963132"/>
                  </a:lnTo>
                  <a:lnTo>
                    <a:pt x="8130253" y="2967894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3561" y="6710049"/>
            <a:ext cx="6586220" cy="171450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Ecology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53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Habitat</a:t>
            </a:r>
            <a:r>
              <a:rPr sz="1800" spc="-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Loss: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Complete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removal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on-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site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terrestrial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aquatic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ecosystems.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This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included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clearing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108.6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mangroves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and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felling/transplanting</a:t>
            </a:r>
            <a:r>
              <a:rPr sz="1800" spc="-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thousands</a:t>
            </a:r>
            <a:r>
              <a:rPr sz="1800" spc="-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trees.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3561" y="8556759"/>
            <a:ext cx="7430134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River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Diversion: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natural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course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Ulwe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River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was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diverted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into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B5E70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new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man-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made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channel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(Ulwe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Recourse</a:t>
            </a:r>
            <a:r>
              <a:rPr sz="1800" spc="-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Channel).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254428" y="6695926"/>
            <a:ext cx="8228965" cy="2967990"/>
            <a:chOff x="9254428" y="6695926"/>
            <a:chExt cx="8228965" cy="2967990"/>
          </a:xfrm>
        </p:grpSpPr>
        <p:sp>
          <p:nvSpPr>
            <p:cNvPr id="26" name="object 26"/>
            <p:cNvSpPr/>
            <p:nvPr/>
          </p:nvSpPr>
          <p:spPr>
            <a:xfrm>
              <a:off x="9259191" y="6700688"/>
              <a:ext cx="8222615" cy="2958465"/>
            </a:xfrm>
            <a:custGeom>
              <a:avLst/>
              <a:gdLst/>
              <a:ahLst/>
              <a:cxnLst/>
              <a:rect l="l" t="t" r="r" b="b"/>
              <a:pathLst>
                <a:path w="8222615" h="2958465">
                  <a:moveTo>
                    <a:pt x="8125491" y="2958369"/>
                  </a:moveTo>
                  <a:lnTo>
                    <a:pt x="96964" y="2958369"/>
                  </a:lnTo>
                  <a:lnTo>
                    <a:pt x="59230" y="2950776"/>
                  </a:lnTo>
                  <a:lnTo>
                    <a:pt x="28408" y="2930056"/>
                  </a:lnTo>
                  <a:lnTo>
                    <a:pt x="7622" y="2899299"/>
                  </a:lnTo>
                  <a:lnTo>
                    <a:pt x="0" y="2861595"/>
                  </a:lnTo>
                  <a:lnTo>
                    <a:pt x="0" y="96773"/>
                  </a:lnTo>
                  <a:lnTo>
                    <a:pt x="7622" y="59109"/>
                  </a:lnTo>
                  <a:lnTo>
                    <a:pt x="28408" y="28348"/>
                  </a:lnTo>
                  <a:lnTo>
                    <a:pt x="59230" y="7606"/>
                  </a:lnTo>
                  <a:lnTo>
                    <a:pt x="96964" y="0"/>
                  </a:lnTo>
                  <a:lnTo>
                    <a:pt x="8125491" y="0"/>
                  </a:lnTo>
                  <a:lnTo>
                    <a:pt x="8163224" y="7606"/>
                  </a:lnTo>
                  <a:lnTo>
                    <a:pt x="8194047" y="28348"/>
                  </a:lnTo>
                  <a:lnTo>
                    <a:pt x="8214832" y="59109"/>
                  </a:lnTo>
                  <a:lnTo>
                    <a:pt x="8222456" y="96773"/>
                  </a:lnTo>
                  <a:lnTo>
                    <a:pt x="8222456" y="2861595"/>
                  </a:lnTo>
                  <a:lnTo>
                    <a:pt x="8214805" y="2899299"/>
                  </a:lnTo>
                  <a:lnTo>
                    <a:pt x="8193994" y="2930056"/>
                  </a:lnTo>
                  <a:lnTo>
                    <a:pt x="8163158" y="2950776"/>
                  </a:lnTo>
                  <a:lnTo>
                    <a:pt x="8125491" y="2958369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54428" y="6695926"/>
              <a:ext cx="8228965" cy="2967990"/>
            </a:xfrm>
            <a:custGeom>
              <a:avLst/>
              <a:gdLst/>
              <a:ahLst/>
              <a:cxnLst/>
              <a:rect l="l" t="t" r="r" b="b"/>
              <a:pathLst>
                <a:path w="8228965" h="2967990">
                  <a:moveTo>
                    <a:pt x="101727" y="2967894"/>
                  </a:moveTo>
                  <a:lnTo>
                    <a:pt x="101553" y="2967894"/>
                  </a:lnTo>
                  <a:lnTo>
                    <a:pt x="62123" y="2959918"/>
                  </a:lnTo>
                  <a:lnTo>
                    <a:pt x="29789" y="2938164"/>
                  </a:lnTo>
                  <a:lnTo>
                    <a:pt x="7992" y="2905891"/>
                  </a:lnTo>
                  <a:lnTo>
                    <a:pt x="0" y="2866358"/>
                  </a:lnTo>
                  <a:lnTo>
                    <a:pt x="0" y="101536"/>
                  </a:lnTo>
                  <a:lnTo>
                    <a:pt x="7992" y="62003"/>
                  </a:lnTo>
                  <a:lnTo>
                    <a:pt x="29789" y="29730"/>
                  </a:lnTo>
                  <a:lnTo>
                    <a:pt x="62123" y="7975"/>
                  </a:lnTo>
                  <a:lnTo>
                    <a:pt x="101727" y="0"/>
                  </a:lnTo>
                  <a:lnTo>
                    <a:pt x="8130254" y="0"/>
                  </a:lnTo>
                  <a:lnTo>
                    <a:pt x="8130254" y="4762"/>
                  </a:lnTo>
                  <a:lnTo>
                    <a:pt x="101727" y="4762"/>
                  </a:lnTo>
                  <a:lnTo>
                    <a:pt x="101727" y="9525"/>
                  </a:lnTo>
                  <a:lnTo>
                    <a:pt x="65822" y="16762"/>
                  </a:lnTo>
                  <a:lnTo>
                    <a:pt x="36516" y="36492"/>
                  </a:lnTo>
                  <a:lnTo>
                    <a:pt x="16765" y="65741"/>
                  </a:lnTo>
                  <a:lnTo>
                    <a:pt x="9525" y="101536"/>
                  </a:lnTo>
                  <a:lnTo>
                    <a:pt x="9525" y="2866358"/>
                  </a:lnTo>
                  <a:lnTo>
                    <a:pt x="16765" y="2902152"/>
                  </a:lnTo>
                  <a:lnTo>
                    <a:pt x="36516" y="2931401"/>
                  </a:lnTo>
                  <a:lnTo>
                    <a:pt x="65822" y="2951132"/>
                  </a:lnTo>
                  <a:lnTo>
                    <a:pt x="101727" y="2958369"/>
                  </a:lnTo>
                  <a:lnTo>
                    <a:pt x="8172160" y="2958369"/>
                  </a:lnTo>
                  <a:lnTo>
                    <a:pt x="8169857" y="2959918"/>
                  </a:lnTo>
                  <a:lnTo>
                    <a:pt x="8153902" y="2963132"/>
                  </a:lnTo>
                  <a:lnTo>
                    <a:pt x="101727" y="2963132"/>
                  </a:lnTo>
                  <a:lnTo>
                    <a:pt x="101727" y="2967894"/>
                  </a:lnTo>
                  <a:close/>
                </a:path>
                <a:path w="8228965" h="2967990">
                  <a:moveTo>
                    <a:pt x="8172160" y="2958369"/>
                  </a:moveTo>
                  <a:lnTo>
                    <a:pt x="8130254" y="2958369"/>
                  </a:lnTo>
                  <a:lnTo>
                    <a:pt x="8166159" y="2951132"/>
                  </a:lnTo>
                  <a:lnTo>
                    <a:pt x="8195464" y="2931401"/>
                  </a:lnTo>
                  <a:lnTo>
                    <a:pt x="8215215" y="2902152"/>
                  </a:lnTo>
                  <a:lnTo>
                    <a:pt x="8222456" y="2866358"/>
                  </a:lnTo>
                  <a:lnTo>
                    <a:pt x="8222456" y="101536"/>
                  </a:lnTo>
                  <a:lnTo>
                    <a:pt x="8215215" y="65741"/>
                  </a:lnTo>
                  <a:lnTo>
                    <a:pt x="8195464" y="36492"/>
                  </a:lnTo>
                  <a:lnTo>
                    <a:pt x="8166159" y="16762"/>
                  </a:lnTo>
                  <a:lnTo>
                    <a:pt x="8130254" y="9525"/>
                  </a:lnTo>
                  <a:lnTo>
                    <a:pt x="101727" y="9525"/>
                  </a:lnTo>
                  <a:lnTo>
                    <a:pt x="101727" y="4762"/>
                  </a:lnTo>
                  <a:lnTo>
                    <a:pt x="8130254" y="4762"/>
                  </a:lnTo>
                  <a:lnTo>
                    <a:pt x="8130254" y="0"/>
                  </a:lnTo>
                  <a:lnTo>
                    <a:pt x="8169857" y="7975"/>
                  </a:lnTo>
                  <a:lnTo>
                    <a:pt x="8202191" y="29730"/>
                  </a:lnTo>
                  <a:lnTo>
                    <a:pt x="8223989" y="62003"/>
                  </a:lnTo>
                  <a:lnTo>
                    <a:pt x="8228394" y="83793"/>
                  </a:lnTo>
                  <a:lnTo>
                    <a:pt x="8228394" y="2884100"/>
                  </a:lnTo>
                  <a:lnTo>
                    <a:pt x="8223989" y="2905891"/>
                  </a:lnTo>
                  <a:lnTo>
                    <a:pt x="8202191" y="2938164"/>
                  </a:lnTo>
                  <a:lnTo>
                    <a:pt x="8172160" y="2958369"/>
                  </a:lnTo>
                  <a:close/>
                </a:path>
                <a:path w="8228965" h="2967990">
                  <a:moveTo>
                    <a:pt x="8130254" y="2967894"/>
                  </a:moveTo>
                  <a:lnTo>
                    <a:pt x="101720" y="2967894"/>
                  </a:lnTo>
                  <a:lnTo>
                    <a:pt x="101727" y="2963132"/>
                  </a:lnTo>
                  <a:lnTo>
                    <a:pt x="8130254" y="2963132"/>
                  </a:lnTo>
                  <a:lnTo>
                    <a:pt x="8130254" y="2967894"/>
                  </a:lnTo>
                  <a:close/>
                </a:path>
                <a:path w="8228965" h="2967990">
                  <a:moveTo>
                    <a:pt x="8130254" y="2967894"/>
                  </a:moveTo>
                  <a:lnTo>
                    <a:pt x="8130254" y="2963132"/>
                  </a:lnTo>
                  <a:lnTo>
                    <a:pt x="8153902" y="2963132"/>
                  </a:lnTo>
                  <a:lnTo>
                    <a:pt x="8130254" y="2967894"/>
                  </a:lnTo>
                  <a:close/>
                </a:path>
              </a:pathLst>
            </a:custGeom>
            <a:solidFill>
              <a:srgbClr val="C7C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486403" y="6710049"/>
            <a:ext cx="7444105" cy="135255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250" b="1" dirty="0">
                <a:solidFill>
                  <a:srgbClr val="5B5E70"/>
                </a:solidFill>
                <a:latin typeface="Arial"/>
                <a:cs typeface="Arial"/>
              </a:rPr>
              <a:t>Socio-</a:t>
            </a:r>
            <a:r>
              <a:rPr sz="2250" b="1" spc="-10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535"/>
              </a:spcBef>
            </a:pP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Physical</a:t>
            </a:r>
            <a:r>
              <a:rPr sz="1800" spc="-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displacement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3,113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households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8</a:t>
            </a:r>
            <a:r>
              <a:rPr sz="1800" spc="-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villages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located</a:t>
            </a:r>
            <a:r>
              <a:rPr sz="1800" spc="-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5E70"/>
                </a:solidFill>
                <a:latin typeface="Arial"/>
                <a:cs typeface="Arial"/>
              </a:rPr>
              <a:t>within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5E70"/>
                </a:solidFill>
                <a:latin typeface="Arial"/>
                <a:cs typeface="Arial"/>
              </a:rPr>
              <a:t>project</a:t>
            </a:r>
            <a:r>
              <a:rPr sz="1800" spc="-20" dirty="0">
                <a:solidFill>
                  <a:srgbClr val="5B5E70"/>
                </a:solidFill>
                <a:latin typeface="Arial"/>
                <a:cs typeface="Arial"/>
              </a:rPr>
              <a:t> site.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dirty="0"/>
              <a:t>Mitigation Measures: Development </a:t>
            </a:r>
            <a:r>
              <a:rPr sz="4300" spc="-10" dirty="0"/>
              <a:t>Phase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3411685"/>
            <a:ext cx="66674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3843287"/>
            <a:ext cx="66674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4274889"/>
            <a:ext cx="66674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5702076"/>
            <a:ext cx="66674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6056288"/>
            <a:ext cx="66674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7554391"/>
            <a:ext cx="66674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7984802"/>
            <a:ext cx="66674" cy="66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3" y="8413427"/>
            <a:ext cx="66674" cy="666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62098" y="1764108"/>
            <a:ext cx="16297910" cy="680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Robust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mitigation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strategies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implemented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offset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impacts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construction.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Air</a:t>
            </a:r>
            <a:r>
              <a:rPr sz="3400" b="1" spc="3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&amp;</a:t>
            </a:r>
            <a:r>
              <a:rPr sz="3400" b="1" spc="3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4F5367"/>
                </a:solidFill>
                <a:latin typeface="Arial"/>
                <a:cs typeface="Arial"/>
              </a:rPr>
              <a:t>Noise</a:t>
            </a:r>
            <a:endParaRPr sz="34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950"/>
              </a:spcBef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Strict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dust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suppression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measures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regular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water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sprinkling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wet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drilling.</a:t>
            </a:r>
            <a:endParaRPr sz="1650">
              <a:latin typeface="Arial"/>
              <a:cs typeface="Arial"/>
            </a:endParaRPr>
          </a:p>
          <a:p>
            <a:pPr marL="266700" marR="6372860">
              <a:lnSpc>
                <a:spcPct val="171600"/>
              </a:lnSpc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All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vehicles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equipment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are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required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valid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pollution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control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certificates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proper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mufflers.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Controlled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blasting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limited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daytime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hours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advanced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safety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protocols.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Ecological</a:t>
            </a:r>
            <a:r>
              <a:rPr sz="3400" b="1" spc="114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F5367"/>
                </a:solidFill>
                <a:latin typeface="Arial"/>
                <a:cs typeface="Arial"/>
              </a:rPr>
              <a:t>Compensation</a:t>
            </a:r>
            <a:endParaRPr sz="3400">
              <a:latin typeface="Arial"/>
              <a:cs typeface="Arial"/>
            </a:endParaRPr>
          </a:p>
          <a:p>
            <a:pPr marL="266700" marR="5080">
              <a:lnSpc>
                <a:spcPct val="140900"/>
              </a:lnSpc>
              <a:spcBef>
                <a:spcPts val="1435"/>
              </a:spcBef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Mangrove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Afforestation: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Compensatory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plantation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mangroves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has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completed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over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499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(109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at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Kolekhar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+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390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by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FDCM)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offset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108.6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650" spc="9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cleared.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Compensatory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Afforestation: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670,073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trees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planted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on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250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degraded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forest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land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compensate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650" spc="9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forest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land</a:t>
            </a:r>
            <a:r>
              <a:rPr sz="1650" spc="10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diversion.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Rehabilitation</a:t>
            </a:r>
            <a:r>
              <a:rPr sz="3400" b="1" spc="100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&amp;</a:t>
            </a:r>
            <a:r>
              <a:rPr sz="3400" b="1" spc="10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F5367"/>
                </a:solidFill>
                <a:latin typeface="Arial"/>
                <a:cs typeface="Arial"/>
              </a:rPr>
              <a:t>Resettlement</a:t>
            </a:r>
            <a:r>
              <a:rPr sz="3400" b="1" spc="105" dirty="0">
                <a:solidFill>
                  <a:srgbClr val="4F5367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F5367"/>
                </a:solidFill>
                <a:latin typeface="Arial"/>
                <a:cs typeface="Arial"/>
              </a:rPr>
              <a:t>(R&amp;R)</a:t>
            </a:r>
            <a:endParaRPr sz="34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810"/>
              </a:spcBef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comprehensive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R&amp;R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package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was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provided,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exceeding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requirements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RFCTLARR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Act,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2013.</a:t>
            </a:r>
            <a:endParaRPr sz="1650">
              <a:latin typeface="Arial"/>
              <a:cs typeface="Arial"/>
            </a:endParaRPr>
          </a:p>
          <a:p>
            <a:pPr marL="266700" marR="297180">
              <a:lnSpc>
                <a:spcPct val="170500"/>
              </a:lnSpc>
              <a:spcBef>
                <a:spcPts val="10"/>
              </a:spcBef>
            </a:pP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PAPs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received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developed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plots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new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R&amp;R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pockets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(e.g.,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Pushpak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Nagar),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monetary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compensation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construction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shifting,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skill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1650" spc="114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opportunities.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New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community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facilities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schools,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health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centers,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temples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have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been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constructed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50" spc="1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5B5E70"/>
                </a:solidFill>
                <a:latin typeface="Arial"/>
                <a:cs typeface="Arial"/>
              </a:rPr>
              <a:t>resettlement</a:t>
            </a:r>
            <a:r>
              <a:rPr sz="1650" spc="10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B5E70"/>
                </a:solidFill>
                <a:latin typeface="Arial"/>
                <a:cs typeface="Arial"/>
              </a:rPr>
              <a:t>sites.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1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/>
              <a:t>Impacts</a:t>
            </a:r>
            <a:r>
              <a:rPr spc="5" dirty="0"/>
              <a:t> </a:t>
            </a:r>
            <a:r>
              <a:rPr dirty="0"/>
              <a:t>&amp;</a:t>
            </a:r>
            <a:r>
              <a:rPr spc="5" dirty="0"/>
              <a:t> </a:t>
            </a:r>
            <a:r>
              <a:rPr dirty="0"/>
              <a:t>Mitigation:</a:t>
            </a:r>
            <a:r>
              <a:rPr spc="5" dirty="0"/>
              <a:t> </a:t>
            </a:r>
            <a:r>
              <a:rPr dirty="0"/>
              <a:t>Operation</a:t>
            </a:r>
            <a:r>
              <a:rPr spc="5" dirty="0"/>
              <a:t> </a:t>
            </a:r>
            <a:r>
              <a:rPr spc="-10" dirty="0"/>
              <a:t>Phase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203" y="1641785"/>
            <a:ext cx="781050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operational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phase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focuses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managing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long-term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impacts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from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activities.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4616" y="2234653"/>
            <a:ext cx="16819245" cy="7476490"/>
            <a:chOff x="734616" y="2234653"/>
            <a:chExt cx="16819245" cy="7476490"/>
          </a:xfrm>
        </p:grpSpPr>
        <p:sp>
          <p:nvSpPr>
            <p:cNvPr id="5" name="object 5"/>
            <p:cNvSpPr/>
            <p:nvPr/>
          </p:nvSpPr>
          <p:spPr>
            <a:xfrm>
              <a:off x="734616" y="2234653"/>
              <a:ext cx="16819245" cy="7476490"/>
            </a:xfrm>
            <a:custGeom>
              <a:avLst/>
              <a:gdLst/>
              <a:ahLst/>
              <a:cxnLst/>
              <a:rect l="l" t="t" r="r" b="b"/>
              <a:pathLst>
                <a:path w="16819245" h="7476490">
                  <a:moveTo>
                    <a:pt x="93535" y="7476066"/>
                  </a:moveTo>
                  <a:lnTo>
                    <a:pt x="89706" y="7476066"/>
                  </a:lnTo>
                  <a:lnTo>
                    <a:pt x="57141" y="7469498"/>
                  </a:lnTo>
                  <a:lnTo>
                    <a:pt x="27408" y="7449478"/>
                  </a:lnTo>
                  <a:lnTo>
                    <a:pt x="7355" y="7419778"/>
                  </a:lnTo>
                  <a:lnTo>
                    <a:pt x="0" y="7383399"/>
                  </a:lnTo>
                  <a:lnTo>
                    <a:pt x="0" y="93440"/>
                  </a:lnTo>
                  <a:lnTo>
                    <a:pt x="7355" y="57060"/>
                  </a:lnTo>
                  <a:lnTo>
                    <a:pt x="27408" y="27360"/>
                  </a:lnTo>
                  <a:lnTo>
                    <a:pt x="57141" y="7340"/>
                  </a:lnTo>
                  <a:lnTo>
                    <a:pt x="93535" y="0"/>
                  </a:lnTo>
                  <a:lnTo>
                    <a:pt x="16725232" y="0"/>
                  </a:lnTo>
                  <a:lnTo>
                    <a:pt x="16725232" y="4762"/>
                  </a:lnTo>
                  <a:lnTo>
                    <a:pt x="93535" y="4762"/>
                  </a:lnTo>
                  <a:lnTo>
                    <a:pt x="93535" y="9525"/>
                  </a:lnTo>
                  <a:lnTo>
                    <a:pt x="60839" y="16127"/>
                  </a:lnTo>
                  <a:lnTo>
                    <a:pt x="34135" y="34123"/>
                  </a:lnTo>
                  <a:lnTo>
                    <a:pt x="16128" y="60799"/>
                  </a:lnTo>
                  <a:lnTo>
                    <a:pt x="9525" y="93440"/>
                  </a:lnTo>
                  <a:lnTo>
                    <a:pt x="9525" y="7383399"/>
                  </a:lnTo>
                  <a:lnTo>
                    <a:pt x="16128" y="7416080"/>
                  </a:lnTo>
                  <a:lnTo>
                    <a:pt x="34135" y="7442751"/>
                  </a:lnTo>
                  <a:lnTo>
                    <a:pt x="60839" y="7460725"/>
                  </a:lnTo>
                  <a:lnTo>
                    <a:pt x="93535" y="7467313"/>
                  </a:lnTo>
                  <a:lnTo>
                    <a:pt x="16764871" y="7467313"/>
                  </a:lnTo>
                  <a:lnTo>
                    <a:pt x="16761626" y="7469498"/>
                  </a:lnTo>
                  <a:lnTo>
                    <a:pt x="16748845" y="7472076"/>
                  </a:lnTo>
                  <a:lnTo>
                    <a:pt x="93535" y="7472076"/>
                  </a:lnTo>
                  <a:lnTo>
                    <a:pt x="93535" y="7476066"/>
                  </a:lnTo>
                  <a:close/>
                </a:path>
                <a:path w="16819245" h="7476490">
                  <a:moveTo>
                    <a:pt x="16764871" y="7467313"/>
                  </a:moveTo>
                  <a:lnTo>
                    <a:pt x="16725232" y="7467313"/>
                  </a:lnTo>
                  <a:lnTo>
                    <a:pt x="16757862" y="7460725"/>
                  </a:lnTo>
                  <a:lnTo>
                    <a:pt x="16784580" y="7442751"/>
                  </a:lnTo>
                  <a:lnTo>
                    <a:pt x="16802613" y="7416080"/>
                  </a:lnTo>
                  <a:lnTo>
                    <a:pt x="16809244" y="7383399"/>
                  </a:lnTo>
                  <a:lnTo>
                    <a:pt x="16809244" y="93440"/>
                  </a:lnTo>
                  <a:lnTo>
                    <a:pt x="16784657" y="34123"/>
                  </a:lnTo>
                  <a:lnTo>
                    <a:pt x="16725232" y="9525"/>
                  </a:lnTo>
                  <a:lnTo>
                    <a:pt x="93535" y="9525"/>
                  </a:lnTo>
                  <a:lnTo>
                    <a:pt x="93535" y="4762"/>
                  </a:lnTo>
                  <a:lnTo>
                    <a:pt x="16725232" y="4762"/>
                  </a:lnTo>
                  <a:lnTo>
                    <a:pt x="16725232" y="0"/>
                  </a:lnTo>
                  <a:lnTo>
                    <a:pt x="16761626" y="7340"/>
                  </a:lnTo>
                  <a:lnTo>
                    <a:pt x="16791359" y="27360"/>
                  </a:lnTo>
                  <a:lnTo>
                    <a:pt x="16811412" y="57060"/>
                  </a:lnTo>
                  <a:lnTo>
                    <a:pt x="16818769" y="93440"/>
                  </a:lnTo>
                  <a:lnTo>
                    <a:pt x="16818769" y="7383399"/>
                  </a:lnTo>
                  <a:lnTo>
                    <a:pt x="16811412" y="7419778"/>
                  </a:lnTo>
                  <a:lnTo>
                    <a:pt x="16791359" y="7449478"/>
                  </a:lnTo>
                  <a:lnTo>
                    <a:pt x="16764871" y="7467313"/>
                  </a:lnTo>
                  <a:close/>
                </a:path>
                <a:path w="16819245" h="7476490">
                  <a:moveTo>
                    <a:pt x="16725232" y="7476066"/>
                  </a:moveTo>
                  <a:lnTo>
                    <a:pt x="93535" y="7476066"/>
                  </a:lnTo>
                  <a:lnTo>
                    <a:pt x="93535" y="7472076"/>
                  </a:lnTo>
                  <a:lnTo>
                    <a:pt x="16725232" y="7472076"/>
                  </a:lnTo>
                  <a:lnTo>
                    <a:pt x="16725232" y="7476066"/>
                  </a:lnTo>
                  <a:close/>
                </a:path>
                <a:path w="16819245" h="7476490">
                  <a:moveTo>
                    <a:pt x="16729061" y="7476066"/>
                  </a:moveTo>
                  <a:lnTo>
                    <a:pt x="16725232" y="7476066"/>
                  </a:lnTo>
                  <a:lnTo>
                    <a:pt x="16725232" y="7472076"/>
                  </a:lnTo>
                  <a:lnTo>
                    <a:pt x="16748845" y="7472076"/>
                  </a:lnTo>
                  <a:lnTo>
                    <a:pt x="16729061" y="7476066"/>
                  </a:lnTo>
                  <a:close/>
                </a:path>
              </a:pathLst>
            </a:custGeom>
            <a:solidFill>
              <a:srgbClr val="000000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8903" y="2248941"/>
              <a:ext cx="16788765" cy="610870"/>
            </a:xfrm>
            <a:custGeom>
              <a:avLst/>
              <a:gdLst/>
              <a:ahLst/>
              <a:cxnLst/>
              <a:rect l="l" t="t" r="r" b="b"/>
              <a:pathLst>
                <a:path w="16788765" h="610869">
                  <a:moveTo>
                    <a:pt x="16788544" y="610492"/>
                  </a:moveTo>
                  <a:lnTo>
                    <a:pt x="0" y="610492"/>
                  </a:lnTo>
                  <a:lnTo>
                    <a:pt x="0" y="0"/>
                  </a:lnTo>
                  <a:lnTo>
                    <a:pt x="16788544" y="0"/>
                  </a:lnTo>
                  <a:lnTo>
                    <a:pt x="16788544" y="610492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9325" y="2361370"/>
            <a:ext cx="156210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dirty="0">
                <a:solidFill>
                  <a:srgbClr val="5B5E70"/>
                </a:solidFill>
                <a:latin typeface="Arial"/>
                <a:cs typeface="Arial"/>
              </a:rPr>
              <a:t>Impact</a:t>
            </a:r>
            <a:r>
              <a:rPr sz="1600" b="1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B5E70"/>
                </a:solidFill>
                <a:latin typeface="Arial"/>
                <a:cs typeface="Arial"/>
              </a:rPr>
              <a:t>Sources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9578" y="2361370"/>
            <a:ext cx="2008505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dirty="0">
                <a:solidFill>
                  <a:srgbClr val="5B5E70"/>
                </a:solidFill>
                <a:latin typeface="Arial"/>
                <a:cs typeface="Arial"/>
              </a:rPr>
              <a:t>Mitigation</a:t>
            </a:r>
            <a:r>
              <a:rPr sz="1600" b="1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B5E70"/>
                </a:solidFill>
                <a:latin typeface="Arial"/>
                <a:cs typeface="Arial"/>
              </a:rPr>
              <a:t>Measures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45068" y="2361370"/>
            <a:ext cx="1251585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>
                <a:solidFill>
                  <a:srgbClr val="5B5E70"/>
                </a:solidFill>
                <a:latin typeface="Arial"/>
                <a:cs typeface="Arial"/>
              </a:rPr>
              <a:t>Causes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000" y="2874013"/>
            <a:ext cx="16788765" cy="1287145"/>
          </a:xfrm>
          <a:custGeom>
            <a:avLst/>
            <a:gdLst/>
            <a:ahLst/>
            <a:cxnLst/>
            <a:rect l="l" t="t" r="r" b="b"/>
            <a:pathLst>
              <a:path w="16788765" h="1287145">
                <a:moveTo>
                  <a:pt x="16788294" y="1286767"/>
                </a:moveTo>
                <a:lnTo>
                  <a:pt x="0" y="1286767"/>
                </a:lnTo>
                <a:lnTo>
                  <a:pt x="0" y="0"/>
                </a:lnTo>
                <a:lnTo>
                  <a:pt x="16788294" y="0"/>
                </a:lnTo>
                <a:lnTo>
                  <a:pt x="16788294" y="1286767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9325" y="2886062"/>
            <a:ext cx="4760595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Aircraft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Landing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Take-Off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(LTO)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cycles,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Ground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Support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Equipment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(GSE),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vehicular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traffic.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9578" y="2886062"/>
            <a:ext cx="5185410" cy="1025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Installation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Continuous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Ambient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Monitoring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Stations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(CAAQMS).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Promotion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electric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GSEs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B5E70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green</a:t>
            </a:r>
            <a:r>
              <a:rPr sz="160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aircraft</a:t>
            </a:r>
            <a:r>
              <a:rPr sz="1600" spc="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operations.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45068" y="2971863"/>
            <a:ext cx="1527175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spc="35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1600" b="1" spc="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B5E70"/>
                </a:solidFill>
                <a:latin typeface="Arial"/>
                <a:cs typeface="Arial"/>
              </a:rPr>
              <a:t>Pollution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6867" y="4336363"/>
            <a:ext cx="16785590" cy="1963420"/>
          </a:xfrm>
          <a:custGeom>
            <a:avLst/>
            <a:gdLst/>
            <a:ahLst/>
            <a:cxnLst/>
            <a:rect l="l" t="t" r="r" b="b"/>
            <a:pathLst>
              <a:path w="16785590" h="1963420">
                <a:moveTo>
                  <a:pt x="16785547" y="1963042"/>
                </a:moveTo>
                <a:lnTo>
                  <a:pt x="0" y="1963042"/>
                </a:lnTo>
                <a:lnTo>
                  <a:pt x="0" y="0"/>
                </a:lnTo>
                <a:lnTo>
                  <a:pt x="16785547" y="0"/>
                </a:lnTo>
                <a:lnTo>
                  <a:pt x="16785547" y="1963042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49325" y="4172829"/>
            <a:ext cx="517398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Aircraft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take-off,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landing,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taxiing,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especially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affecting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funnel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zones.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9578" y="4172829"/>
            <a:ext cx="499046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Integrated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Noise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Monitoring</a:t>
            </a:r>
            <a:r>
              <a:rPr sz="1600" spc="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System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(NMS)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1600" spc="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B5E70"/>
                </a:solidFill>
                <a:latin typeface="Arial"/>
                <a:cs typeface="Arial"/>
              </a:rPr>
              <a:t>be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installed.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Implementation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noise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abatement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procedures</a:t>
            </a:r>
            <a:r>
              <a:rPr sz="160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160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Continuous</a:t>
            </a:r>
            <a:r>
              <a:rPr sz="160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Descent/Climb</a:t>
            </a:r>
            <a:r>
              <a:rPr sz="160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Operations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(CDA/CCO)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restricted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use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reverse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thrust.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45068" y="4258630"/>
            <a:ext cx="147002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spc="35" dirty="0">
                <a:solidFill>
                  <a:srgbClr val="5B5E70"/>
                </a:solidFill>
                <a:latin typeface="Arial"/>
                <a:cs typeface="Arial"/>
              </a:rPr>
              <a:t>Noise </a:t>
            </a:r>
            <a:r>
              <a:rPr lang="en-US" sz="1600" b="1" spc="-10" dirty="0">
                <a:solidFill>
                  <a:srgbClr val="5B5E70"/>
                </a:solidFill>
                <a:latin typeface="Arial"/>
                <a:cs typeface="Arial"/>
              </a:rPr>
              <a:t>Pollution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8903" y="6109246"/>
            <a:ext cx="16785590" cy="1963420"/>
          </a:xfrm>
          <a:custGeom>
            <a:avLst/>
            <a:gdLst/>
            <a:ahLst/>
            <a:cxnLst/>
            <a:rect l="l" t="t" r="r" b="b"/>
            <a:pathLst>
              <a:path w="16785590" h="1963420">
                <a:moveTo>
                  <a:pt x="16785547" y="1963042"/>
                </a:moveTo>
                <a:lnTo>
                  <a:pt x="0" y="1963042"/>
                </a:lnTo>
                <a:lnTo>
                  <a:pt x="0" y="0"/>
                </a:lnTo>
                <a:lnTo>
                  <a:pt x="16785547" y="0"/>
                </a:lnTo>
                <a:lnTo>
                  <a:pt x="16785547" y="1963042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949325" y="6135873"/>
            <a:ext cx="4967605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Sewage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generation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(up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13.3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MLD)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Solid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Waste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(up</a:t>
            </a:r>
            <a:r>
              <a:rPr sz="160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00" spc="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72</a:t>
            </a:r>
            <a:r>
              <a:rPr sz="1600" spc="1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B5E70"/>
                </a:solidFill>
                <a:latin typeface="Arial"/>
                <a:cs typeface="Arial"/>
              </a:rPr>
              <a:t>TPD).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49578" y="6135873"/>
            <a:ext cx="4910455" cy="169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On-site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STPs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(14.25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MLD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total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capacity)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B5E70"/>
                </a:solidFill>
                <a:latin typeface="Arial"/>
                <a:cs typeface="Arial"/>
              </a:rPr>
              <a:t>Zero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Liquid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Discharge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policy;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100%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treated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water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will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B5E70"/>
                </a:solidFill>
                <a:latin typeface="Arial"/>
                <a:cs typeface="Arial"/>
              </a:rPr>
              <a:t>be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recycled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flushing,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cooling,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irrigation.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B5E70"/>
                </a:solidFill>
                <a:latin typeface="Arial"/>
                <a:cs typeface="Arial"/>
              </a:rPr>
              <a:t>An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integrated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solid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waste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facility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bio-gas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plant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B5E70"/>
                </a:solidFill>
                <a:latin typeface="Arial"/>
                <a:cs typeface="Arial"/>
              </a:rPr>
              <a:t>will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process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organic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waste.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45068" y="6221674"/>
            <a:ext cx="1183640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>
                <a:solidFill>
                  <a:srgbClr val="5B5E70"/>
                </a:solidFill>
                <a:latin typeface="Arial"/>
                <a:cs typeface="Arial"/>
              </a:rPr>
              <a:t>Water And Waste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8903" y="8072288"/>
            <a:ext cx="16788765" cy="1624965"/>
          </a:xfrm>
          <a:custGeom>
            <a:avLst/>
            <a:gdLst/>
            <a:ahLst/>
            <a:cxnLst/>
            <a:rect l="l" t="t" r="r" b="b"/>
            <a:pathLst>
              <a:path w="16788765" h="1624965">
                <a:moveTo>
                  <a:pt x="16788570" y="1624905"/>
                </a:moveTo>
                <a:lnTo>
                  <a:pt x="0" y="1624905"/>
                </a:lnTo>
                <a:lnTo>
                  <a:pt x="0" y="0"/>
                </a:lnTo>
                <a:lnTo>
                  <a:pt x="16788570" y="0"/>
                </a:lnTo>
                <a:lnTo>
                  <a:pt x="16788570" y="1624905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949325" y="8098915"/>
            <a:ext cx="451993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Proximity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wetlands,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mudflats,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Karnala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B5E70"/>
                </a:solidFill>
                <a:latin typeface="Arial"/>
                <a:cs typeface="Arial"/>
              </a:rPr>
              <a:t>Bird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Sanctuary</a:t>
            </a:r>
            <a:r>
              <a:rPr sz="1600" spc="1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increases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risk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bird</a:t>
            </a:r>
            <a:r>
              <a:rPr sz="1600" spc="2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strikes.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49578" y="8098915"/>
            <a:ext cx="515048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10-year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MoU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Bombay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Natural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History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Society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(BNHS)</a:t>
            </a:r>
            <a:r>
              <a:rPr sz="1600" spc="2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scientific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bird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management,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habitat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modification,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continuous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monitoring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ensure </a:t>
            </a:r>
            <a:r>
              <a:rPr sz="1600" dirty="0">
                <a:solidFill>
                  <a:srgbClr val="5B5E70"/>
                </a:solidFill>
                <a:latin typeface="Arial"/>
                <a:cs typeface="Arial"/>
              </a:rPr>
              <a:t>aviation</a:t>
            </a:r>
            <a:r>
              <a:rPr sz="1600" spc="3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B5E70"/>
                </a:solidFill>
                <a:latin typeface="Arial"/>
                <a:cs typeface="Arial"/>
              </a:rPr>
              <a:t>safety.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A0F154-68A8-5994-BA48-76032C90DD27}"/>
              </a:ext>
            </a:extLst>
          </p:cNvPr>
          <p:cNvSpPr txBox="1"/>
          <p:nvPr/>
        </p:nvSpPr>
        <p:spPr>
          <a:xfrm>
            <a:off x="12145068" y="8098915"/>
            <a:ext cx="1183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5" dirty="0">
                <a:solidFill>
                  <a:srgbClr val="5B5E70"/>
                </a:solidFill>
                <a:latin typeface="Arial"/>
                <a:cs typeface="Arial"/>
              </a:rPr>
              <a:t>Bird </a:t>
            </a:r>
            <a:r>
              <a:rPr lang="en-IN" sz="1800" b="1" dirty="0">
                <a:solidFill>
                  <a:srgbClr val="5B5E70"/>
                </a:solidFill>
                <a:latin typeface="Arial"/>
                <a:cs typeface="Arial"/>
              </a:rPr>
              <a:t>H</a:t>
            </a:r>
            <a:r>
              <a:rPr lang="en-US" b="1" spc="35" dirty="0" err="1">
                <a:solidFill>
                  <a:srgbClr val="5B5E70"/>
                </a:solidFill>
                <a:latin typeface="Arial"/>
                <a:cs typeface="Arial"/>
              </a:rPr>
              <a:t>azard</a:t>
            </a:r>
            <a:endParaRPr lang="en-US"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2055527"/>
            <a:ext cx="5010150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dirty="0"/>
              <a:t>Project</a:t>
            </a:r>
            <a:r>
              <a:rPr sz="5550" spc="-40" dirty="0"/>
              <a:t> </a:t>
            </a:r>
            <a:r>
              <a:rPr sz="5550" spc="-10" dirty="0"/>
              <a:t>Benefit</a:t>
            </a:r>
            <a:endParaRPr sz="5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5154066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616044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716681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9537" y="3196185"/>
            <a:ext cx="15636875" cy="415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NMIA</a:t>
            </a:r>
            <a:r>
              <a:rPr sz="2150" spc="3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poised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deliver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substantial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multi-faceted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benefits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region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4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nation.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50" b="1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r>
              <a:rPr sz="2850" b="1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2850" b="1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5B5E70"/>
                </a:solidFill>
                <a:latin typeface="Arial"/>
                <a:cs typeface="Arial"/>
              </a:rPr>
              <a:t>Infrastructure</a:t>
            </a:r>
            <a:r>
              <a:rPr sz="2850" b="1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850" b="1" spc="-10" dirty="0">
                <a:solidFill>
                  <a:srgbClr val="5B5E70"/>
                </a:solidFill>
                <a:latin typeface="Arial"/>
                <a:cs typeface="Arial"/>
              </a:rPr>
              <a:t>Boost</a:t>
            </a:r>
            <a:endParaRPr sz="2850">
              <a:latin typeface="Arial"/>
              <a:cs typeface="Arial"/>
            </a:endParaRPr>
          </a:p>
          <a:p>
            <a:pPr marL="342265">
              <a:lnSpc>
                <a:spcPct val="100000"/>
              </a:lnSpc>
              <a:spcBef>
                <a:spcPts val="2690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Catalyst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Growth: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major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engine,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boosting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industrial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development,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warehousing,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investment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MMR.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150">
              <a:latin typeface="Arial"/>
              <a:cs typeface="Arial"/>
            </a:endParaRPr>
          </a:p>
          <a:p>
            <a:pPr marL="342265">
              <a:lnSpc>
                <a:spcPct val="100000"/>
              </a:lnSpc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Enhanced</a:t>
            </a:r>
            <a:r>
              <a:rPr sz="2150" b="1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Connectivity:</a:t>
            </a:r>
            <a:r>
              <a:rPr sz="2150" b="1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Triggers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critical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transport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infrastructure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MTHL,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Metro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lines,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coastal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roads.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150">
              <a:latin typeface="Arial"/>
              <a:cs typeface="Arial"/>
            </a:endParaRPr>
          </a:p>
          <a:p>
            <a:pPr marL="342265">
              <a:lnSpc>
                <a:spcPct val="100000"/>
              </a:lnSpc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Planned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Urbanization:</a:t>
            </a:r>
            <a:r>
              <a:rPr sz="2150" b="1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Guides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systematic,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sustainable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Navi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Mumbai</a:t>
            </a:r>
            <a:r>
              <a:rPr sz="215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Airport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Influence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Area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(NAINA).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2394260"/>
            <a:ext cx="11879580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dirty="0"/>
              <a:t>Employment</a:t>
            </a:r>
            <a:r>
              <a:rPr sz="5550" spc="-35" dirty="0"/>
              <a:t> </a:t>
            </a:r>
            <a:r>
              <a:rPr sz="5550" dirty="0"/>
              <a:t>&amp;</a:t>
            </a:r>
            <a:r>
              <a:rPr sz="5550" spc="-25" dirty="0"/>
              <a:t> </a:t>
            </a:r>
            <a:r>
              <a:rPr sz="5550" dirty="0"/>
              <a:t>Social</a:t>
            </a:r>
            <a:r>
              <a:rPr sz="5550" spc="-20" dirty="0"/>
              <a:t> </a:t>
            </a:r>
            <a:r>
              <a:rPr sz="5550" spc="-10" dirty="0"/>
              <a:t>Development</a:t>
            </a:r>
            <a:endParaRPr sz="5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4037707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9340" y="3747182"/>
            <a:ext cx="15384144" cy="3940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6040">
              <a:lnSpc>
                <a:spcPct val="136600"/>
              </a:lnSpc>
              <a:spcBef>
                <a:spcPts val="90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Job</a:t>
            </a:r>
            <a:r>
              <a:rPr sz="2150" b="1" spc="4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Creation: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Expected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generate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over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5,000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direct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jobs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during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construction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90,000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permanent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jobs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(direct</a:t>
            </a:r>
            <a:r>
              <a:rPr sz="215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&amp;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indirect)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during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operation.</a:t>
            </a:r>
            <a:endParaRPr sz="2150">
              <a:latin typeface="Arial"/>
              <a:cs typeface="Arial"/>
            </a:endParaRPr>
          </a:p>
          <a:p>
            <a:pPr marL="12700" marR="467995">
              <a:lnSpc>
                <a:spcPct val="136600"/>
              </a:lnSpc>
              <a:spcBef>
                <a:spcPts val="87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Skill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Development: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Joint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programs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CIDCO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JNPT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provide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aviation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logistics-related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skills,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enhancing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5B5E70"/>
                </a:solidFill>
                <a:latin typeface="Arial"/>
                <a:cs typeface="Arial"/>
              </a:rPr>
              <a:t>local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employability.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87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Improved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Quality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Life: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R&amp;R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package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provides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project-affected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families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better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housing,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amenities,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livelihood opportunities.</a:t>
            </a:r>
            <a:endParaRPr sz="2150">
              <a:latin typeface="Arial"/>
              <a:cs typeface="Arial"/>
            </a:endParaRPr>
          </a:p>
          <a:p>
            <a:pPr marL="12700" marR="5715">
              <a:lnSpc>
                <a:spcPct val="136600"/>
              </a:lnSpc>
              <a:spcBef>
                <a:spcPts val="875"/>
              </a:spcBef>
            </a:pP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Corporate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Social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Responsibility</a:t>
            </a:r>
            <a:r>
              <a:rPr sz="2150" b="1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5B5E70"/>
                </a:solidFill>
                <a:latin typeface="Arial"/>
                <a:cs typeface="Arial"/>
              </a:rPr>
              <a:t>(CSR):</a:t>
            </a:r>
            <a:r>
              <a:rPr sz="2150" b="1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NMIAL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committed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CSR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initiatives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in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education,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healthcare,</a:t>
            </a:r>
            <a:r>
              <a:rPr sz="215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5B5E70"/>
                </a:solidFill>
                <a:latin typeface="Arial"/>
                <a:cs typeface="Arial"/>
              </a:rPr>
              <a:t>environmental conservation.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5044082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6050458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7056835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792573"/>
            <a:ext cx="7678420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sz="5550" dirty="0"/>
              <a:t>Conclusion</a:t>
            </a:r>
            <a:r>
              <a:rPr sz="5550" spc="-30" dirty="0"/>
              <a:t> </a:t>
            </a:r>
            <a:r>
              <a:rPr sz="5550" dirty="0"/>
              <a:t>&amp;</a:t>
            </a:r>
            <a:r>
              <a:rPr sz="5550" spc="-20" dirty="0"/>
              <a:t> </a:t>
            </a:r>
            <a:r>
              <a:rPr sz="5550" dirty="0"/>
              <a:t>The</a:t>
            </a:r>
            <a:r>
              <a:rPr sz="5550" spc="-15" dirty="0"/>
              <a:t> </a:t>
            </a:r>
            <a:r>
              <a:rPr sz="5550" spc="-25" dirty="0"/>
              <a:t>Way </a:t>
            </a:r>
            <a:r>
              <a:rPr sz="5550" spc="-10" dirty="0"/>
              <a:t>Forward</a:t>
            </a:r>
            <a:endParaRPr sz="5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383371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4458258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511559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7099398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765214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8658522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  <a:p>
            <a:pPr marL="378460">
              <a:lnSpc>
                <a:spcPct val="100000"/>
              </a:lnSpc>
              <a:spcBef>
                <a:spcPts val="1655"/>
              </a:spcBef>
            </a:pP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NMIA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is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</a:rPr>
              <a:t>strategically</a:t>
            </a:r>
            <a:r>
              <a:rPr sz="2150" spc="5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vital</a:t>
            </a:r>
            <a:r>
              <a:rPr sz="2150" spc="55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project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,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essential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Mumbai's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future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aviation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demands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5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economic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growth.</a:t>
            </a:r>
            <a:endParaRPr sz="215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2335"/>
              </a:spcBef>
            </a:pP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comprehensive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Environmental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Impact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Assessment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led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to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</a:rPr>
              <a:t>robust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Environmental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Management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Plan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(EMP)</a:t>
            </a:r>
            <a:r>
              <a:rPr sz="2150" spc="65" dirty="0">
                <a:solidFill>
                  <a:srgbClr val="5B5E70"/>
                </a:solidFill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mitigation.</a:t>
            </a:r>
            <a:endParaRPr sz="2150">
              <a:latin typeface="Arial"/>
              <a:cs typeface="Arial"/>
            </a:endParaRPr>
          </a:p>
          <a:p>
            <a:pPr marL="378460" marR="368300">
              <a:lnSpc>
                <a:spcPct val="136600"/>
              </a:lnSpc>
              <a:spcBef>
                <a:spcPts val="1655"/>
              </a:spcBef>
            </a:pP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The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project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delivers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significant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B5E70"/>
                </a:solidFill>
              </a:rPr>
              <a:t>socio-economic</a:t>
            </a:r>
            <a:r>
              <a:rPr sz="2150" spc="7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benefits</a:t>
            </a:r>
            <a:r>
              <a:rPr sz="2150" spc="70" dirty="0">
                <a:solidFill>
                  <a:srgbClr val="5B5E70"/>
                </a:solidFill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through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compensatory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measures,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progressive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R&amp;R,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7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sustainable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technologies,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responsibly</a:t>
            </a:r>
            <a:r>
              <a:rPr sz="2150" b="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managing</a:t>
            </a:r>
            <a:r>
              <a:rPr sz="2150" b="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its</a:t>
            </a:r>
            <a:r>
              <a:rPr sz="2150" b="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environmental</a:t>
            </a:r>
            <a:r>
              <a:rPr sz="2150" b="0" spc="7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footprint.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1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Way</a:t>
            </a:r>
            <a:r>
              <a:rPr spc="-10" dirty="0"/>
              <a:t> Forward</a:t>
            </a:r>
          </a:p>
          <a:p>
            <a:pPr marL="342265">
              <a:lnSpc>
                <a:spcPct val="100000"/>
              </a:lnSpc>
              <a:spcBef>
                <a:spcPts val="2120"/>
              </a:spcBef>
            </a:pPr>
            <a:r>
              <a:rPr sz="2150" dirty="0">
                <a:solidFill>
                  <a:srgbClr val="5B5E70"/>
                </a:solidFill>
              </a:rPr>
              <a:t>Strict</a:t>
            </a:r>
            <a:r>
              <a:rPr sz="2150" spc="65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EMP</a:t>
            </a:r>
            <a:r>
              <a:rPr sz="2150" spc="65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Adherence:</a:t>
            </a:r>
            <a:r>
              <a:rPr sz="2150" spc="65" dirty="0">
                <a:solidFill>
                  <a:srgbClr val="5B5E70"/>
                </a:solidFill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Rigorous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implementation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all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mitigation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measures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throughout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development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operation.</a:t>
            </a:r>
            <a:endParaRPr sz="2150">
              <a:latin typeface="Arial"/>
              <a:cs typeface="Arial"/>
            </a:endParaRPr>
          </a:p>
          <a:p>
            <a:pPr marL="342265" marR="930910">
              <a:lnSpc>
                <a:spcPct val="136600"/>
              </a:lnSpc>
              <a:spcBef>
                <a:spcPts val="830"/>
              </a:spcBef>
            </a:pPr>
            <a:r>
              <a:rPr sz="2150" dirty="0">
                <a:solidFill>
                  <a:srgbClr val="5B5E70"/>
                </a:solidFill>
              </a:rPr>
              <a:t>Continuous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Monitoring:</a:t>
            </a:r>
            <a:r>
              <a:rPr sz="2150" spc="60" dirty="0">
                <a:solidFill>
                  <a:srgbClr val="5B5E70"/>
                </a:solidFill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Uninterrupted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operation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of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online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air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noise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monitoring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systems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compliance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proactive management.</a:t>
            </a:r>
            <a:endParaRPr sz="2150">
              <a:latin typeface="Arial"/>
              <a:cs typeface="Arial"/>
            </a:endParaRPr>
          </a:p>
          <a:p>
            <a:pPr marL="342265" marR="5080">
              <a:lnSpc>
                <a:spcPct val="136600"/>
              </a:lnSpc>
              <a:spcBef>
                <a:spcPts val="875"/>
              </a:spcBef>
            </a:pPr>
            <a:r>
              <a:rPr sz="2150" dirty="0">
                <a:solidFill>
                  <a:srgbClr val="5B5E70"/>
                </a:solidFill>
              </a:rPr>
              <a:t>Stakeholder</a:t>
            </a:r>
            <a:r>
              <a:rPr sz="2150" spc="50" dirty="0">
                <a:solidFill>
                  <a:srgbClr val="5B5E70"/>
                </a:solidFill>
              </a:rPr>
              <a:t> </a:t>
            </a:r>
            <a:r>
              <a:rPr sz="2150" dirty="0">
                <a:solidFill>
                  <a:srgbClr val="5B5E70"/>
                </a:solidFill>
              </a:rPr>
              <a:t>Collaboration:</a:t>
            </a:r>
            <a:r>
              <a:rPr sz="2150" spc="65" dirty="0">
                <a:solidFill>
                  <a:srgbClr val="5B5E70"/>
                </a:solidFill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Continued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partnerships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with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agencies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like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BNHS,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CIDCO,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MMRDA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for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bird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hazard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management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and</a:t>
            </a:r>
            <a:r>
              <a:rPr sz="2150" b="0" spc="5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timely</a:t>
            </a:r>
            <a:r>
              <a:rPr sz="2150" b="0" spc="60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5B5E70"/>
                </a:solidFill>
                <a:latin typeface="Arial"/>
                <a:cs typeface="Arial"/>
              </a:rPr>
              <a:t>infrastructure</a:t>
            </a:r>
            <a:r>
              <a:rPr sz="2150" b="0" spc="65" dirty="0">
                <a:solidFill>
                  <a:srgbClr val="5B5E70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5B5E70"/>
                </a:solidFill>
                <a:latin typeface="Arial"/>
                <a:cs typeface="Arial"/>
              </a:rPr>
              <a:t>completion.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71112" y="4538905"/>
            <a:ext cx="5333365" cy="1097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0" dirty="0"/>
              <a:t>THANK</a:t>
            </a:r>
            <a:r>
              <a:rPr sz="7000" spc="-15" dirty="0"/>
              <a:t> </a:t>
            </a:r>
            <a:r>
              <a:rPr sz="7000" spc="-25" dirty="0"/>
              <a:t>YOU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1823</Words>
  <Application>Microsoft Office PowerPoint</Application>
  <PresentationFormat>Custom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Navi Mumbai International Airport (NMIA)</vt:lpstr>
      <vt:lpstr>Introduction &amp; Project Significance</vt:lpstr>
      <vt:lpstr>Project Proponent &amp; Current Status</vt:lpstr>
      <vt:lpstr>Phase Development Plan</vt:lpstr>
      <vt:lpstr>Airport Master Plan: Airside Infrastructure</vt:lpstr>
      <vt:lpstr>Airport Master Plan: Landside Infrastructure</vt:lpstr>
      <vt:lpstr>Environmental Setting &amp; Baseline Status</vt:lpstr>
      <vt:lpstr>Key Environmental Impacts: Development Phase</vt:lpstr>
      <vt:lpstr>Mitigation Measures: Development Phase</vt:lpstr>
      <vt:lpstr>Impacts &amp; Mitigation: Operation Phase</vt:lpstr>
      <vt:lpstr>Project Benefit</vt:lpstr>
      <vt:lpstr>Employment &amp; Social Development</vt:lpstr>
      <vt:lpstr>Conclusion &amp; The Way Forward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EIA_PPT</dc:title>
  <dc:creator>Eldhose George</dc:creator>
  <cp:keywords>DAGzKSDEg5A,BAFjLt-n4GM,0</cp:keywords>
  <cp:lastModifiedBy>eldhosegeorge2004@gmail.com</cp:lastModifiedBy>
  <cp:revision>1</cp:revision>
  <dcterms:created xsi:type="dcterms:W3CDTF">2025-09-17T04:11:26Z</dcterms:created>
  <dcterms:modified xsi:type="dcterms:W3CDTF">2025-09-24T04:57:09Z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Canva</vt:lpwstr>
  </property>
  <property fmtid="{D5CDD505-2E9C-101B-9397-08002B2CF9AE}" pid="4" name="LastSaved">
    <vt:filetime>2025-09-17T00:00:00Z</vt:filetime>
  </property>
  <property fmtid="{D5CDD505-2E9C-101B-9397-08002B2CF9AE}" pid="5" name="Producer">
    <vt:lpwstr>Canva</vt:lpwstr>
  </property>
</Properties>
</file>