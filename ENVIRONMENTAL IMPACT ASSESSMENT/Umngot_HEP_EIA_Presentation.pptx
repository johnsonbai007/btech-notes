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5070"/>
            <a:ext cx="7772400" cy="1470025"/>
          </a:xfrm>
        </p:spPr>
        <p:txBody>
          <a:bodyPr>
            <a:normAutofit fontScale="90000"/>
          </a:bodyPr>
          <a:lstStyle/>
          <a:p>
            <a:r>
              <a:t>Environmental Impact Assessment</a:t>
            </a:r>
          </a:p>
          <a:p>
            <a:r>
              <a:t>Umngot Hydroelectric Project (210 MW)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58348" y="3591230"/>
            <a:ext cx="2797278" cy="2898059"/>
          </a:xfrm>
        </p:spPr>
        <p:txBody>
          <a:bodyPr>
            <a:noAutofit/>
          </a:bodyPr>
          <a:lstStyle/>
          <a:p>
            <a:pPr algn="r"/>
            <a:r>
              <a:rPr lang="en-IN" sz="1800" dirty="0">
                <a:solidFill>
                  <a:schemeClr val="tx1"/>
                </a:solidFill>
              </a:rPr>
              <a:t>TEAM MEMBERS: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Alwin Lal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Aman Besty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Anirudh K B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Anjana Jomon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 Ann Merin Shaji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Ansel Sajan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</a:rPr>
              <a:t>Aswin Jim </a:t>
            </a:r>
            <a:r>
              <a:rPr lang="en-IN" sz="1800" dirty="0" err="1">
                <a:solidFill>
                  <a:schemeClr val="tx1"/>
                </a:solidFill>
              </a:rPr>
              <a:t>Thuruthippilly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7320B13-37BF-56F3-C3AE-D1A0EB4376C7}"/>
              </a:ext>
            </a:extLst>
          </p:cNvPr>
          <p:cNvSpPr txBox="1">
            <a:spLocks/>
          </p:cNvSpPr>
          <p:nvPr/>
        </p:nvSpPr>
        <p:spPr>
          <a:xfrm>
            <a:off x="93406" y="3591230"/>
            <a:ext cx="2797278" cy="2898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SUBMITTED TO:</a:t>
            </a:r>
          </a:p>
          <a:p>
            <a:pPr>
              <a:defRPr b="1"/>
            </a:pPr>
            <a:r>
              <a:rPr lang="en-US" sz="1800" dirty="0">
                <a:solidFill>
                  <a:schemeClr val="tx1"/>
                </a:solidFill>
              </a:rPr>
              <a:t>Amrutha S</a:t>
            </a:r>
          </a:p>
          <a:p>
            <a:pPr>
              <a:defRPr b="1"/>
            </a:pPr>
            <a:r>
              <a:rPr lang="en-US" sz="1800" dirty="0">
                <a:solidFill>
                  <a:schemeClr val="tx1"/>
                </a:solidFill>
              </a:rPr>
              <a:t>A.P, 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India’s hydropower potential is 148,700 MW, with only 30.6% harnessed. </a:t>
            </a:r>
          </a:p>
          <a:p>
            <a:r>
              <a:t>The Northeast region holds 58,956 MW, but Meghalaya has low installed capacity (387.19 MW).</a:t>
            </a:r>
          </a:p>
          <a:p>
            <a:r>
              <a:t> The Umngot HEP (210 MW) addresses regional power shortages, with 708.98 MU annual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Umngot HEP is a storage scheme on Umngot River. </a:t>
            </a:r>
          </a:p>
          <a:p>
            <a:r>
              <a:t>It involves a 111 m high concrete gravity dam, 71.31 MCM reservoir, 5.646 km tunnel, and 3 Pelton turbines (70 MW each).</a:t>
            </a:r>
          </a:p>
          <a:p>
            <a:r>
              <a:t>Land requirement is 390.5 ha, with 6 years construction and cost Rs. 2,567.80 Cr.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075174" cy="1143000"/>
          </a:xfrm>
        </p:spPr>
        <p:txBody>
          <a:bodyPr>
            <a:normAutofit fontScale="90000"/>
          </a:bodyPr>
          <a:lstStyle/>
          <a:p>
            <a:r>
              <a:rPr dirty="0"/>
              <a:t>Baseline Environment (Physical and Chemical)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t>Topography: Shillong Plateau, altitudes 150–1965 m. </a:t>
            </a:r>
          </a:p>
          <a:p>
            <a:r>
              <a:t>Geology: granite gneiss, Zone V seismicity. </a:t>
            </a:r>
          </a:p>
          <a:p>
            <a:r>
              <a:t>Land use: dense forest 34%, open forest 24%. </a:t>
            </a:r>
          </a:p>
          <a:p>
            <a:r>
              <a:t>Climate: tropical monsoon, avg rainfall 2250 mm. </a:t>
            </a:r>
          </a:p>
          <a:p>
            <a:r>
              <a:t>Air &amp; noise within limits except construction sites. </a:t>
            </a:r>
          </a:p>
          <a:p>
            <a:r>
              <a:t>Soil: sandy loam, fertile but nutrient-limited. </a:t>
            </a:r>
          </a:p>
          <a:p>
            <a:r>
              <a:t>Water: clean, Class A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Baseline </a:t>
            </a:r>
            <a:r>
              <a:t>Environment (Biological </a:t>
            </a:r>
            <a:r>
              <a:rPr dirty="0"/>
              <a:t>and Socio-Economic)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Flora: 135 species, no rare/endangered. </a:t>
            </a:r>
          </a:p>
          <a:p>
            <a:r>
              <a:rPr dirty="0"/>
              <a:t>Fauna: 47 mammals, 137 birds, 28 reptiles. Aquatic biodiversity low. </a:t>
            </a:r>
          </a:p>
          <a:p>
            <a:r>
              <a:rPr dirty="0"/>
              <a:t>Population in project-affected villages: 149 (Khasi tribe), literacy 80–90%. </a:t>
            </a:r>
          </a:p>
          <a:p>
            <a:r>
              <a:rPr dirty="0"/>
              <a:t>Economy: agriculture-based, limited infrastructure. </a:t>
            </a:r>
            <a:endParaRPr lang="en-IN" dirty="0"/>
          </a:p>
          <a:p>
            <a:r>
              <a:rPr dirty="0"/>
              <a:t>157 families affected by land acquisition.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Anticipated Environmental Impacts and Mitigation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Impacts: forest loss (93.53 ha), displacement (157 families), turbidity, dust, noise, muck disposal. </a:t>
            </a:r>
          </a:p>
          <a:p>
            <a:r>
              <a:t>Mitigation: Compensatory afforestation, sewage treatment, water sprinkling, controlled blasting, CAT plan, fisheries plan, muck disposal 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Anticipated Environmental Impacts and Mitigation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Socio-economic impacts: labor influx, health risks, traffic, cultural change. </a:t>
            </a:r>
          </a:p>
          <a:p>
            <a:r>
              <a:t>Mitigation: labor camps with sanitation, health care, 80% local employment. </a:t>
            </a:r>
          </a:p>
          <a:p>
            <a:r>
              <a:t>Operation impacts: reduced downstream flow mitigated by e-flow release. </a:t>
            </a:r>
          </a:p>
          <a:p>
            <a:r>
              <a:t>Alternatives studied: tunneling, site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Alternative Analysis and 'No Project Scenario'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Project Scenario: Power shortages in NE India persist. </a:t>
            </a:r>
          </a:p>
          <a:p>
            <a:r>
              <a:t>With Project: 210 MW peaking power, employment, tourism, improved livelihoods, reduced migration. </a:t>
            </a:r>
          </a:p>
          <a:p>
            <a:r>
              <a:t>Alternatives: original submergence (320 ha) vs final (253.75 ha), drill-blast chosen over TBM due to geology.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Environmental Management Plan - Air &amp;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Measures: water sprinkling for dust, green belt development, mufflers for equipment, blasting control, noise monitoring, PPE for workers.</a:t>
            </a:r>
          </a:p>
          <a:p>
            <a:r>
              <a:t>Reservoir rim stabilization, quarry rehabilitation included.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 - Water, Land and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Measures: STP for sewage, e-flow release, muck disposal sites, CAT plan (222 ha treated), compensatory afforestation (187 ha), biodiversity management, fisheries hatchery and stocking, green belt along reservoir.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Monitoring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Air, water, soil, noise monitored quarterly. </a:t>
            </a:r>
          </a:p>
          <a:p>
            <a:r>
              <a:t>E-flow, aquatic ecology, biodiversity checked. Monitoring cost Rs. 2.01 Cr. </a:t>
            </a:r>
          </a:p>
          <a:p>
            <a:r>
              <a:t>Remote sensing used. EMP implementation reviewed regularly with adaptive measures.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Monitoring Plan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Construction and operation phases both covered. </a:t>
            </a:r>
          </a:p>
          <a:p>
            <a:r>
              <a:t>Reports prepared quarterly.</a:t>
            </a:r>
          </a:p>
          <a:p>
            <a:r>
              <a:t>Independent monitoring by accredited labs.</a:t>
            </a:r>
          </a:p>
          <a:p>
            <a:r>
              <a:t>Focus on compliance with CPCB/IS standards.</a:t>
            </a:r>
          </a:p>
          <a:p>
            <a:r>
              <a:t>Costs integrated into EMP budget (Rs. 36.3 Cr).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Umngot HEP (210 MW) provides renewable power with minimal footprint. </a:t>
            </a:r>
          </a:p>
          <a:p>
            <a:r>
              <a:t>With strict EMP, displacement, habitat loss, and pollution are mitigated. </a:t>
            </a:r>
          </a:p>
          <a:p>
            <a:r>
              <a:t>Benefits: clean energy, jobs, economic growth, tourism. </a:t>
            </a:r>
          </a:p>
          <a:p>
            <a:r>
              <a:t>Project is viable and sustainable with community participation.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659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Environmental Impact Assessment Umngot Hydroelectric Project (210 MW)</vt:lpstr>
      <vt:lpstr>Introduction</vt:lpstr>
      <vt:lpstr>Project Description</vt:lpstr>
      <vt:lpstr>Baseline Environment (Physical and Chemical)</vt:lpstr>
      <vt:lpstr>Baseline Environment (Biological and Socio-Economic)</vt:lpstr>
      <vt:lpstr>Anticipated Environmental Impacts and Mitigation Measures</vt:lpstr>
      <vt:lpstr>Anticipated Environmental Impacts and Mitigation Measures</vt:lpstr>
      <vt:lpstr>Alternative Analysis and 'No Project Scenario'</vt:lpstr>
      <vt:lpstr>Environmental Management Plan - Air &amp; Noise</vt:lpstr>
      <vt:lpstr>EMP - Water, Land and Biodiversity</vt:lpstr>
      <vt:lpstr>Environmental Monitoring Plan</vt:lpstr>
      <vt:lpstr>Environmental Monitoring Plan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</dc:creator>
  <dc:description>generated using python-pptx</dc:description>
  <cp:lastModifiedBy>Ann Merin Shaji</cp:lastModifiedBy>
  <cp:revision>6</cp:revision>
  <dcterms:created xsi:type="dcterms:W3CDTF">2013-01-27T09:14:00Z</dcterms:created>
  <dcterms:modified xsi:type="dcterms:W3CDTF">2025-09-22T16:35:12Z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90AC10E22B43444896F9CE7D1F9C2B10_12</vt:lpwstr>
  </property>
  <property fmtid="{D5CDD505-2E9C-101B-9397-08002B2CF9AE}" pid="3" name="KSOProductBuildVer">
    <vt:lpwstr>1033-12.2.0.21931</vt:lpwstr>
  </property>
</Properties>
</file>