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70" r:id="rId3"/>
    <p:sldId id="297" r:id="rId4"/>
    <p:sldId id="298" r:id="rId5"/>
    <p:sldId id="271" r:id="rId6"/>
    <p:sldId id="274" r:id="rId7"/>
    <p:sldId id="272" r:id="rId8"/>
    <p:sldId id="299" r:id="rId9"/>
    <p:sldId id="273" r:id="rId10"/>
    <p:sldId id="300" r:id="rId11"/>
    <p:sldId id="301" r:id="rId12"/>
    <p:sldId id="302" r:id="rId13"/>
    <p:sldId id="303" r:id="rId14"/>
    <p:sldId id="304" r:id="rId15"/>
    <p:sldId id="306" r:id="rId16"/>
    <p:sldId id="305" r:id="rId17"/>
    <p:sldId id="308" r:id="rId18"/>
    <p:sldId id="309" r:id="rId19"/>
    <p:sldId id="310" r:id="rId20"/>
    <p:sldId id="307" r:id="rId21"/>
    <p:sldId id="311" r:id="rId22"/>
    <p:sldId id="312" r:id="rId23"/>
    <p:sldId id="313" r:id="rId24"/>
    <p:sldId id="314" r:id="rId25"/>
    <p:sldId id="315" r:id="rId26"/>
    <p:sldId id="316" r:id="rId27"/>
    <p:sldId id="317" r:id="rId28"/>
    <p:sldId id="318" r:id="rId29"/>
    <p:sldId id="320" r:id="rId30"/>
    <p:sldId id="321" r:id="rId31"/>
    <p:sldId id="322" r:id="rId32"/>
    <p:sldId id="323" r:id="rId33"/>
    <p:sldId id="324" r:id="rId34"/>
    <p:sldId id="325" r:id="rId35"/>
    <p:sldId id="326" r:id="rId36"/>
    <p:sldId id="330" r:id="rId37"/>
    <p:sldId id="319" r:id="rId38"/>
    <p:sldId id="327" r:id="rId39"/>
    <p:sldId id="328" r:id="rId40"/>
    <p:sldId id="329" r:id="rId41"/>
    <p:sldId id="331"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72"/>
      </p:cViewPr>
      <p:guideLst>
        <p:guide orient="horz" pos="2160"/>
        <p:guide pos="288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9E610C-79BC-489C-A269-E870129C9EA0}" type="datetimeFigureOut">
              <a:rPr lang="en-US" smtClean="0"/>
              <a:t>10/10/2024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C2B0DB-62AE-4FEA-979F-BBB93FBFFB0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DC2B0DB-62AE-4FEA-979F-BBB93FBFFB02}" type="slidenum">
              <a:rPr lang="en-US" smtClean="0"/>
              <a:t>20</a:t>
            </a:fld>
            <a:endParaRPr lang="en-US"/>
          </a:p>
        </p:txBody>
      </p:sp>
    </p:spTree>
    <p:extLst>
      <p:ext uri="{BB962C8B-B14F-4D97-AF65-F5344CB8AC3E}">
        <p14:creationId xmlns:p14="http://schemas.microsoft.com/office/powerpoint/2010/main" val="17232851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5107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594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27383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05863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5524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93083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6758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1365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63006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9789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B6F15528-21DE-4FAA-801E-634DDDAF4B2B}" type="slidenum">
              <a:rPr lang="en-US" smtClean="0"/>
              <a:pPr/>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53273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453871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1742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590909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37364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10/10/2024</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7046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10/10/2024</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610644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914399"/>
          </a:xfrm>
        </p:spPr>
        <p:txBody>
          <a:bodyPr>
            <a:normAutofit fontScale="90000"/>
          </a:bodyPr>
          <a:lstStyle/>
          <a:p>
            <a:pPr algn="ctr"/>
            <a:r>
              <a:rPr lang="en-US" dirty="0">
                <a:latin typeface="Times New Roman" pitchFamily="18" charset="0"/>
                <a:cs typeface="Times New Roman" pitchFamily="18" charset="0"/>
              </a:rPr>
              <a:t>MODULE 4</a:t>
            </a:r>
          </a:p>
        </p:txBody>
      </p:sp>
      <p:sp>
        <p:nvSpPr>
          <p:cNvPr id="3" name="Subtitle 2"/>
          <p:cNvSpPr>
            <a:spLocks noGrp="1"/>
          </p:cNvSpPr>
          <p:nvPr>
            <p:ph type="subTitle" idx="1"/>
          </p:nvPr>
        </p:nvSpPr>
        <p:spPr>
          <a:xfrm>
            <a:off x="914400" y="1828800"/>
            <a:ext cx="8001000" cy="4419600"/>
          </a:xfrm>
        </p:spPr>
        <p:txBody>
          <a:bodyPr>
            <a:normAutofit fontScale="40000" lnSpcReduction="20000"/>
          </a:bodyPr>
          <a:lstStyle/>
          <a:p>
            <a:pPr algn="just"/>
            <a:r>
              <a:rPr lang="en-US" sz="8000" dirty="0">
                <a:latin typeface="Times New Roman" panose="02020603050405020304" pitchFamily="18" charset="0"/>
                <a:cs typeface="Times New Roman" panose="02020603050405020304" pitchFamily="18" charset="0"/>
              </a:rPr>
              <a:t>Environmental Management Plan (EMP): Goal and purpose- Importance of EMP- Content of an EMP- Role of environmental monitoring program</a:t>
            </a:r>
          </a:p>
          <a:p>
            <a:pPr algn="just"/>
            <a:r>
              <a:rPr lang="en-US" sz="8000" dirty="0">
                <a:latin typeface="Times New Roman" panose="02020603050405020304" pitchFamily="18" charset="0"/>
                <a:cs typeface="Times New Roman" panose="02020603050405020304" pitchFamily="18" charset="0"/>
              </a:rPr>
              <a:t>Environment Audit: need for audit- audit types and benefits- environmental audit procedure</a:t>
            </a:r>
          </a:p>
          <a:p>
            <a:pPr algn="just"/>
            <a:r>
              <a:rPr lang="en-US" sz="8000" dirty="0">
                <a:latin typeface="Times New Roman" panose="02020603050405020304" pitchFamily="18" charset="0"/>
                <a:cs typeface="Times New Roman" panose="02020603050405020304" pitchFamily="18" charset="0"/>
              </a:rPr>
              <a:t>ISO 14001 standards: Importance, salient features - Stages in implementation- Benefits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latin typeface="Times New Roman" pitchFamily="18" charset="0"/>
                <a:cs typeface="Times New Roman" pitchFamily="18" charset="0"/>
              </a:rPr>
              <a:t>Environmental Management Plan (EMP)</a:t>
            </a:r>
            <a:br>
              <a:rPr lang="en-US" dirty="0"/>
            </a:br>
            <a:endParaRPr lang="en-US" dirty="0"/>
          </a:p>
        </p:txBody>
      </p:sp>
      <p:sp>
        <p:nvSpPr>
          <p:cNvPr id="3" name="Content Placeholder 2"/>
          <p:cNvSpPr>
            <a:spLocks noGrp="1"/>
          </p:cNvSpPr>
          <p:nvPr>
            <p:ph idx="1"/>
          </p:nvPr>
        </p:nvSpPr>
        <p:spPr>
          <a:xfrm>
            <a:off x="457200" y="1600200"/>
            <a:ext cx="8458200" cy="5181600"/>
          </a:xfrm>
        </p:spPr>
        <p:txBody>
          <a:bodyPr>
            <a:normAutofit/>
          </a:bodyPr>
          <a:lstStyle/>
          <a:p>
            <a:pPr algn="just">
              <a:lnSpc>
                <a:spcPct val="107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EMP is aimed at mitigating the possible adverse impacts of a project and ensuring that the environmental quality is maintained. </a:t>
            </a:r>
          </a:p>
          <a:p>
            <a:pPr algn="just">
              <a:lnSpc>
                <a:spcPct val="107000"/>
              </a:lnSpc>
              <a:spcAft>
                <a:spcPts val="800"/>
              </a:spcAft>
            </a:pPr>
            <a:r>
              <a:rPr lang="en-IN" sz="2000" dirty="0">
                <a:latin typeface="Times New Roman" panose="02020603050405020304" pitchFamily="18" charset="0"/>
                <a:ea typeface="Calibri" panose="020F0502020204030204" pitchFamily="34" charset="0"/>
                <a:cs typeface="Times New Roman" panose="02020603050405020304" pitchFamily="18" charset="0"/>
              </a:rPr>
              <a:t>C</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overs all aspects of environmental migratory ac­tion plan including human resources management of the entire project operation starting from con­struction and operation of the project. </a:t>
            </a: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Essential element of EIA report.</a:t>
            </a: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 document to be prepared as a part of the Environmental Impact Assessment (EIA) report</a:t>
            </a:r>
            <a:r>
              <a:rPr lang="en-IN" sz="2000" dirty="0">
                <a:latin typeface="Times New Roman" panose="02020603050405020304" pitchFamily="18" charset="0"/>
                <a:ea typeface="Calibri" panose="020F0502020204030204" pitchFamily="34" charset="0"/>
                <a:cs typeface="Times New Roman" panose="02020603050405020304" pitchFamily="18" charset="0"/>
              </a:rPr>
              <a:t>(or it can be an independent document)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 Document contains the organizational structure, responsibilities, procedures, and resources to deal with all relevant environmental issues and to achieve effective and long-term compliance in environmental protection.</a:t>
            </a:r>
          </a:p>
          <a:p>
            <a:pPr algn="just">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E70873-C0A1-A288-47F8-624F60F09FF9}"/>
              </a:ext>
            </a:extLst>
          </p:cNvPr>
          <p:cNvSpPr>
            <a:spLocks noGrp="1"/>
          </p:cNvSpPr>
          <p:nvPr>
            <p:ph idx="1"/>
          </p:nvPr>
        </p:nvSpPr>
        <p:spPr>
          <a:xfrm>
            <a:off x="1066800" y="1066800"/>
            <a:ext cx="7924799" cy="5486400"/>
          </a:xfrm>
        </p:spPr>
        <p:txBody>
          <a:bodyPr>
            <a:normAutofit/>
          </a:bodyPr>
          <a:lstStyle/>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Intends to outline the actions to be taken to manage the impacts from the Project activities. </a:t>
            </a: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An EMP includes a project management plan to remediate and prevent potential impacts determined by a monitoring program.</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Designed to ensure appropriate measures are taken to handle significant impact issues that are most likely to arise during the construction and operational phase of a project. </a:t>
            </a: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In order to achieve the EMP target, thus, the environmental specifications or recommendations are made.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1360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6E870-48B8-77EF-5923-C752EA987D97}"/>
              </a:ext>
            </a:extLst>
          </p:cNvPr>
          <p:cNvSpPr>
            <a:spLocks noGrp="1"/>
          </p:cNvSpPr>
          <p:nvPr>
            <p:ph type="title"/>
          </p:nvPr>
        </p:nvSpPr>
        <p:spPr>
          <a:xfrm>
            <a:off x="1600201" y="0"/>
            <a:ext cx="6934200" cy="838200"/>
          </a:xfrm>
        </p:spPr>
        <p:txBody>
          <a:bodyPr>
            <a:normAutofit/>
          </a:bodyPr>
          <a:lstStyle/>
          <a:p>
            <a:r>
              <a:rPr lang="en-IN" sz="2800" b="1" dirty="0">
                <a:latin typeface="Times New Roman" panose="02020603050405020304" pitchFamily="18" charset="0"/>
                <a:ea typeface="Calibri" panose="020F0502020204030204" pitchFamily="34" charset="0"/>
              </a:rPr>
              <a:t>O</a:t>
            </a:r>
            <a:r>
              <a:rPr lang="en-IN" sz="2800" b="1" dirty="0">
                <a:effectLst/>
                <a:latin typeface="Times New Roman" panose="02020603050405020304" pitchFamily="18" charset="0"/>
                <a:ea typeface="Calibri" panose="020F0502020204030204" pitchFamily="34" charset="0"/>
              </a:rPr>
              <a:t>bjectives of EMP </a:t>
            </a:r>
            <a:endParaRPr lang="en-IN" sz="2800" dirty="0"/>
          </a:p>
        </p:txBody>
      </p:sp>
      <p:sp>
        <p:nvSpPr>
          <p:cNvPr id="3" name="Content Placeholder 2">
            <a:extLst>
              <a:ext uri="{FF2B5EF4-FFF2-40B4-BE49-F238E27FC236}">
                <a16:creationId xmlns:a16="http://schemas.microsoft.com/office/drawing/2014/main" id="{C6BBF1DB-305F-3EC3-E852-496B52C091E3}"/>
              </a:ext>
            </a:extLst>
          </p:cNvPr>
          <p:cNvSpPr>
            <a:spLocks noGrp="1"/>
          </p:cNvSpPr>
          <p:nvPr>
            <p:ph idx="1"/>
          </p:nvPr>
        </p:nvSpPr>
        <p:spPr>
          <a:xfrm>
            <a:off x="685801" y="1295400"/>
            <a:ext cx="7848600" cy="5334000"/>
          </a:xfrm>
        </p:spPr>
        <p:txBody>
          <a:bodyPr>
            <a:normAutofit/>
          </a:bodyPr>
          <a:lstStyle/>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Overall conservation of environment.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Minimization of waste generation and pollution.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Judicious use of natural resources and water.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Safety, welfare and good health of the work force and populace.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Ensure effective operation of all control measures.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Vigilance against probable disasters and accidents.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Monitoring of cumulative and long-term impacts.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Ensure effective operation of all control measures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2624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990600"/>
            <a:ext cx="8153400" cy="5135563"/>
          </a:xfrm>
        </p:spPr>
        <p:txBody>
          <a:bodyPr/>
          <a:lstStyle/>
          <a:p>
            <a:pPr lvl="0">
              <a:buNone/>
            </a:pPr>
            <a:endParaRPr lang="en-US" dirty="0">
              <a:latin typeface="Times New Roman" pitchFamily="18" charset="0"/>
              <a:cs typeface="Times New Roman" pitchFamily="18" charset="0"/>
            </a:endParaRPr>
          </a:p>
          <a:p>
            <a:pPr lvl="0">
              <a:buNone/>
            </a:pPr>
            <a:r>
              <a:rPr lang="en-US" sz="2400" dirty="0">
                <a:latin typeface="Times New Roman" pitchFamily="18" charset="0"/>
                <a:cs typeface="Times New Roman" pitchFamily="18" charset="0"/>
              </a:rPr>
              <a:t>EMP include</a:t>
            </a:r>
          </a:p>
          <a:p>
            <a:pPr lvl="0"/>
            <a:r>
              <a:rPr lang="en-US" sz="2400" dirty="0">
                <a:latin typeface="Times New Roman" pitchFamily="18" charset="0"/>
                <a:cs typeface="Times New Roman" pitchFamily="18" charset="0"/>
              </a:rPr>
              <a:t>Conceptualization: preliminary environmental assessment</a:t>
            </a:r>
          </a:p>
          <a:p>
            <a:pPr lvl="0"/>
            <a:r>
              <a:rPr lang="en-US" sz="2400" dirty="0">
                <a:latin typeface="Times New Roman" pitchFamily="18" charset="0"/>
                <a:cs typeface="Times New Roman" pitchFamily="18" charset="0"/>
              </a:rPr>
              <a:t>Planning: detailed studies of environmental impacts and design of safeguards</a:t>
            </a:r>
          </a:p>
          <a:p>
            <a:pPr lvl="0"/>
            <a:r>
              <a:rPr lang="en-US" sz="2400" dirty="0">
                <a:latin typeface="Times New Roman" pitchFamily="18" charset="0"/>
                <a:cs typeface="Times New Roman" pitchFamily="18" charset="0"/>
              </a:rPr>
              <a:t>Execution: implementation of environmental safety measures</a:t>
            </a:r>
          </a:p>
          <a:p>
            <a:pPr lvl="0"/>
            <a:r>
              <a:rPr lang="en-US" sz="2400" dirty="0">
                <a:latin typeface="Times New Roman" pitchFamily="18" charset="0"/>
                <a:cs typeface="Times New Roman" pitchFamily="18" charset="0"/>
              </a:rPr>
              <a:t>Operation: monitoring of effectiveness of built-in safeguards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latin typeface="Times New Roman" pitchFamily="18" charset="0"/>
                <a:ea typeface="+mn-ea"/>
                <a:cs typeface="Times New Roman" pitchFamily="18" charset="0"/>
              </a:rPr>
              <a:t>Scope of EMP</a:t>
            </a:r>
          </a:p>
        </p:txBody>
      </p:sp>
      <p:sp>
        <p:nvSpPr>
          <p:cNvPr id="3" name="Content Placeholder 2"/>
          <p:cNvSpPr>
            <a:spLocks noGrp="1"/>
          </p:cNvSpPr>
          <p:nvPr>
            <p:ph idx="1"/>
          </p:nvPr>
        </p:nvSpPr>
        <p:spPr>
          <a:xfrm>
            <a:off x="457200" y="1295400"/>
            <a:ext cx="8382000" cy="5410200"/>
          </a:xfrm>
        </p:spPr>
        <p:txBody>
          <a:bodyPr>
            <a:noAutofit/>
          </a:bodyPr>
          <a:lstStyle/>
          <a:p>
            <a:pPr>
              <a:lnSpc>
                <a:spcPct val="80000"/>
              </a:lnSpc>
              <a:buNone/>
            </a:pPr>
            <a:r>
              <a:rPr lang="en-US" sz="2800" dirty="0">
                <a:latin typeface="Times New Roman" pitchFamily="18" charset="0"/>
                <a:cs typeface="Times New Roman" pitchFamily="18" charset="0"/>
              </a:rPr>
              <a:t>It covers:</a:t>
            </a:r>
          </a:p>
          <a:p>
            <a:pPr>
              <a:lnSpc>
                <a:spcPct val="80000"/>
              </a:lnSpc>
            </a:pPr>
            <a:r>
              <a:rPr lang="en-US" sz="2800" dirty="0">
                <a:latin typeface="Times New Roman" pitchFamily="18" charset="0"/>
                <a:cs typeface="Times New Roman" pitchFamily="18" charset="0"/>
              </a:rPr>
              <a:t>Management and mitigation measures;</a:t>
            </a:r>
          </a:p>
          <a:p>
            <a:pPr>
              <a:lnSpc>
                <a:spcPct val="80000"/>
              </a:lnSpc>
            </a:pPr>
            <a:r>
              <a:rPr lang="en-US" sz="2800" dirty="0">
                <a:latin typeface="Times New Roman" pitchFamily="18" charset="0"/>
                <a:cs typeface="Times New Roman" pitchFamily="18" charset="0"/>
              </a:rPr>
              <a:t>Institutional arrangements;</a:t>
            </a:r>
          </a:p>
          <a:p>
            <a:pPr>
              <a:lnSpc>
                <a:spcPct val="80000"/>
              </a:lnSpc>
            </a:pPr>
            <a:r>
              <a:rPr lang="en-US" sz="2800" dirty="0">
                <a:latin typeface="Times New Roman" pitchFamily="18" charset="0"/>
                <a:cs typeface="Times New Roman" pitchFamily="18" charset="0"/>
              </a:rPr>
              <a:t>Implementation and supervision responsibilities;</a:t>
            </a:r>
          </a:p>
          <a:p>
            <a:pPr>
              <a:lnSpc>
                <a:spcPct val="80000"/>
              </a:lnSpc>
            </a:pPr>
            <a:r>
              <a:rPr lang="en-US" sz="2800" dirty="0">
                <a:latin typeface="Times New Roman" pitchFamily="18" charset="0"/>
                <a:cs typeface="Times New Roman" pitchFamily="18" charset="0"/>
              </a:rPr>
              <a:t>Monitoring and evaluation requirements;</a:t>
            </a:r>
          </a:p>
          <a:p>
            <a:pPr>
              <a:lnSpc>
                <a:spcPct val="80000"/>
              </a:lnSpc>
            </a:pPr>
            <a:r>
              <a:rPr lang="en-US" sz="2800" dirty="0">
                <a:latin typeface="Times New Roman" pitchFamily="18" charset="0"/>
                <a:cs typeface="Times New Roman" pitchFamily="18" charset="0"/>
              </a:rPr>
              <a:t>Implementation schedule;</a:t>
            </a:r>
          </a:p>
          <a:p>
            <a:pPr>
              <a:lnSpc>
                <a:spcPct val="80000"/>
              </a:lnSpc>
            </a:pPr>
            <a:r>
              <a:rPr lang="en-US" sz="2800" dirty="0">
                <a:latin typeface="Times New Roman" pitchFamily="18" charset="0"/>
                <a:cs typeface="Times New Roman" pitchFamily="18" charset="0"/>
              </a:rPr>
              <a:t>Training needs; and  Budget.</a:t>
            </a:r>
          </a:p>
          <a:p>
            <a:pPr>
              <a:lnSpc>
                <a:spcPct val="80000"/>
              </a:lnSpc>
            </a:pPr>
            <a:r>
              <a:rPr lang="en-US" sz="2800" dirty="0">
                <a:latin typeface="Times New Roman" pitchFamily="18" charset="0"/>
                <a:cs typeface="Times New Roman" pitchFamily="18" charset="0"/>
              </a:rPr>
              <a:t>Includes measures to consider during project implementation and operation; and</a:t>
            </a:r>
          </a:p>
          <a:p>
            <a:pPr>
              <a:lnSpc>
                <a:spcPct val="80000"/>
              </a:lnSpc>
            </a:pPr>
            <a:r>
              <a:rPr lang="en-US" sz="2800" dirty="0">
                <a:latin typeface="Times New Roman" pitchFamily="18" charset="0"/>
                <a:cs typeface="Times New Roman" pitchFamily="18" charset="0"/>
              </a:rPr>
              <a:t>Provides actions to be taken to implement these measures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172200"/>
          </a:xfrm>
        </p:spPr>
        <p:txBody>
          <a:bodyPr>
            <a:normAutofit fontScale="55000" lnSpcReduction="20000"/>
          </a:bodyPr>
          <a:lstStyle/>
          <a:p>
            <a:pPr algn="just"/>
            <a:endParaRPr lang="en-US" sz="3500" dirty="0">
              <a:latin typeface="Times New Roman" pitchFamily="18" charset="0"/>
              <a:cs typeface="Times New Roman" pitchFamily="18" charset="0"/>
            </a:endParaRPr>
          </a:p>
          <a:p>
            <a:pPr algn="just"/>
            <a:endParaRPr lang="en-US" sz="3500" dirty="0">
              <a:latin typeface="Times New Roman" pitchFamily="18" charset="0"/>
              <a:cs typeface="Times New Roman" pitchFamily="18" charset="0"/>
            </a:endParaRPr>
          </a:p>
          <a:p>
            <a:pPr algn="just"/>
            <a:r>
              <a:rPr lang="en-US" sz="3500" dirty="0">
                <a:latin typeface="Times New Roman" pitchFamily="18" charset="0"/>
                <a:cs typeface="Times New Roman" pitchFamily="18" charset="0"/>
              </a:rPr>
              <a:t>The management plans should be necessarily based on considerations of resource conservation and pollution abatement, some of which are:</a:t>
            </a:r>
          </a:p>
          <a:p>
            <a:pPr lvl="0"/>
            <a:r>
              <a:rPr lang="en-US" sz="3500" dirty="0">
                <a:latin typeface="Times New Roman" pitchFamily="18" charset="0"/>
                <a:cs typeface="Times New Roman" pitchFamily="18" charset="0"/>
              </a:rPr>
              <a:t>Liquid Effluents</a:t>
            </a:r>
          </a:p>
          <a:p>
            <a:pPr lvl="0"/>
            <a:r>
              <a:rPr lang="en-US" sz="3500" dirty="0">
                <a:latin typeface="Times New Roman" pitchFamily="18" charset="0"/>
                <a:cs typeface="Times New Roman" pitchFamily="18" charset="0"/>
              </a:rPr>
              <a:t>Air Pollution</a:t>
            </a:r>
          </a:p>
          <a:p>
            <a:pPr lvl="0"/>
            <a:r>
              <a:rPr lang="en-US" sz="3500" dirty="0">
                <a:latin typeface="Times New Roman" pitchFamily="18" charset="0"/>
                <a:cs typeface="Times New Roman" pitchFamily="18" charset="0"/>
              </a:rPr>
              <a:t>Solid Wastes</a:t>
            </a:r>
          </a:p>
          <a:p>
            <a:pPr lvl="0"/>
            <a:r>
              <a:rPr lang="en-US" sz="3500" dirty="0">
                <a:latin typeface="Times New Roman" pitchFamily="18" charset="0"/>
                <a:cs typeface="Times New Roman" pitchFamily="18" charset="0"/>
              </a:rPr>
              <a:t>Noise and Vibration</a:t>
            </a:r>
          </a:p>
          <a:p>
            <a:pPr lvl="0"/>
            <a:r>
              <a:rPr lang="en-US" sz="3500" dirty="0">
                <a:latin typeface="Times New Roman" pitchFamily="18" charset="0"/>
                <a:cs typeface="Times New Roman" pitchFamily="18" charset="0"/>
              </a:rPr>
              <a:t>Occupational Safety and Health</a:t>
            </a:r>
          </a:p>
          <a:p>
            <a:pPr lvl="0"/>
            <a:r>
              <a:rPr lang="en-US" sz="3500" dirty="0">
                <a:latin typeface="Times New Roman" pitchFamily="18" charset="0"/>
                <a:cs typeface="Times New Roman" pitchFamily="18" charset="0"/>
              </a:rPr>
              <a:t>Prevention, maintenance and operation of Environment Control Systems</a:t>
            </a:r>
          </a:p>
          <a:p>
            <a:pPr lvl="0"/>
            <a:r>
              <a:rPr lang="en-US" sz="3500" dirty="0">
                <a:latin typeface="Times New Roman" pitchFamily="18" charset="0"/>
                <a:cs typeface="Times New Roman" pitchFamily="18" charset="0"/>
              </a:rPr>
              <a:t>House-Keeping</a:t>
            </a:r>
          </a:p>
          <a:p>
            <a:pPr lvl="0"/>
            <a:r>
              <a:rPr lang="en-US" sz="3500" dirty="0">
                <a:latin typeface="Times New Roman" pitchFamily="18" charset="0"/>
                <a:cs typeface="Times New Roman" pitchFamily="18" charset="0"/>
              </a:rPr>
              <a:t>Human Settlements</a:t>
            </a:r>
          </a:p>
          <a:p>
            <a:pPr lvl="0"/>
            <a:r>
              <a:rPr lang="en-US" sz="3500" dirty="0">
                <a:latin typeface="Times New Roman" pitchFamily="18" charset="0"/>
                <a:cs typeface="Times New Roman" pitchFamily="18" charset="0"/>
              </a:rPr>
              <a:t>Transport Systems</a:t>
            </a:r>
          </a:p>
          <a:p>
            <a:pPr lvl="0"/>
            <a:r>
              <a:rPr lang="en-US" sz="3500" dirty="0">
                <a:latin typeface="Times New Roman" pitchFamily="18" charset="0"/>
                <a:cs typeface="Times New Roman" pitchFamily="18" charset="0"/>
              </a:rPr>
              <a:t>Recovery - reuse of waste products</a:t>
            </a:r>
          </a:p>
          <a:p>
            <a:pPr lvl="0"/>
            <a:r>
              <a:rPr lang="en-US" sz="3500" dirty="0">
                <a:latin typeface="Times New Roman" pitchFamily="18" charset="0"/>
                <a:cs typeface="Times New Roman" pitchFamily="18" charset="0"/>
              </a:rPr>
              <a:t>Vegetal Cover</a:t>
            </a:r>
          </a:p>
          <a:p>
            <a:pPr lvl="0"/>
            <a:r>
              <a:rPr lang="en-US" sz="3500" dirty="0">
                <a:latin typeface="Times New Roman" pitchFamily="18" charset="0"/>
                <a:cs typeface="Times New Roman" pitchFamily="18" charset="0"/>
              </a:rPr>
              <a:t>Disaster Planning</a:t>
            </a:r>
          </a:p>
          <a:p>
            <a:pPr lvl="0"/>
            <a:r>
              <a:rPr lang="en-US" sz="3500" dirty="0">
                <a:latin typeface="Times New Roman" pitchFamily="18" charset="0"/>
                <a:cs typeface="Times New Roman" pitchFamily="18" charset="0"/>
              </a:rPr>
              <a:t>Environment Management Cell</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480CD-4958-3A52-0E43-20EA84888E8F}"/>
              </a:ext>
            </a:extLst>
          </p:cNvPr>
          <p:cNvSpPr>
            <a:spLocks noGrp="1"/>
          </p:cNvSpPr>
          <p:nvPr>
            <p:ph type="title"/>
          </p:nvPr>
        </p:nvSpPr>
        <p:spPr>
          <a:xfrm>
            <a:off x="914401" y="304800"/>
            <a:ext cx="7620000" cy="1600200"/>
          </a:xfrm>
        </p:spPr>
        <p:txBody>
          <a:bodyPr/>
          <a:lstStyle/>
          <a:p>
            <a:r>
              <a:rPr lang="en-US" dirty="0">
                <a:latin typeface="Times New Roman" panose="02020603050405020304" pitchFamily="18" charset="0"/>
                <a:cs typeface="Times New Roman" panose="02020603050405020304" pitchFamily="18" charset="0"/>
              </a:rPr>
              <a:t>Goal of EMP</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E9E139-70B4-A80C-160C-F0BC01EC3FEC}"/>
              </a:ext>
            </a:extLst>
          </p:cNvPr>
          <p:cNvSpPr>
            <a:spLocks noGrp="1"/>
          </p:cNvSpPr>
          <p:nvPr>
            <p:ph idx="1"/>
          </p:nvPr>
        </p:nvSpPr>
        <p:spPr>
          <a:xfrm>
            <a:off x="228600" y="1371600"/>
            <a:ext cx="8915399" cy="5638800"/>
          </a:xfrm>
        </p:spPr>
        <p:txBody>
          <a:bodyPr/>
          <a:lstStyle/>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Develop procedures to implement project’s mitigation measures &amp; monitoring requirements. </a:t>
            </a:r>
            <a:endParaRPr lang="en-IN" sz="2400" i="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Provide auditable commitments to practical and achievable strategies and design standards;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Develop an integrated plan for comprehensive monitoring and control of project impacts, and;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Ensure the community that the environmental management of the project is acceptable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2353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Purpose of EMP</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609601" y="1371600"/>
            <a:ext cx="7924800" cy="5410200"/>
          </a:xfrm>
        </p:spPr>
        <p:txBody>
          <a:bodyPr>
            <a:normAutofit/>
          </a:bodyPr>
          <a:lstStyle/>
          <a:p>
            <a:r>
              <a:rPr lang="en-US" sz="3000" dirty="0">
                <a:latin typeface="Times New Roman" pitchFamily="18" charset="0"/>
                <a:cs typeface="Times New Roman" pitchFamily="18" charset="0"/>
              </a:rPr>
              <a:t>Minimize negative impacts</a:t>
            </a:r>
          </a:p>
          <a:p>
            <a:r>
              <a:rPr lang="en-US" sz="3000" dirty="0">
                <a:latin typeface="Times New Roman" pitchFamily="18" charset="0"/>
                <a:cs typeface="Times New Roman" pitchFamily="18" charset="0"/>
              </a:rPr>
              <a:t>Enhance positive impacts</a:t>
            </a:r>
          </a:p>
          <a:p>
            <a:r>
              <a:rPr lang="en-US" sz="3000" dirty="0">
                <a:latin typeface="Times New Roman" pitchFamily="18" charset="0"/>
                <a:cs typeface="Times New Roman" pitchFamily="18" charset="0"/>
              </a:rPr>
              <a:t>Ensuring environmentally sustainable planning, construction and operations management</a:t>
            </a:r>
          </a:p>
          <a:p>
            <a:r>
              <a:rPr lang="en-US" sz="3000" dirty="0">
                <a:latin typeface="Times New Roman" pitchFamily="18" charset="0"/>
                <a:cs typeface="Times New Roman" pitchFamily="18" charset="0"/>
              </a:rPr>
              <a:t>Reduce problems &amp; delays during project Implementation</a:t>
            </a:r>
          </a:p>
          <a:p>
            <a:r>
              <a:rPr lang="en-US" sz="3000" dirty="0">
                <a:latin typeface="Times New Roman" pitchFamily="18" charset="0"/>
                <a:cs typeface="Times New Roman" pitchFamily="18" charset="0"/>
              </a:rPr>
              <a:t>Improve overall project quality</a:t>
            </a:r>
          </a:p>
          <a:p>
            <a:r>
              <a:rPr lang="en-US" sz="3000" dirty="0">
                <a:latin typeface="Times New Roman" pitchFamily="18" charset="0"/>
                <a:cs typeface="Times New Roman" pitchFamily="18" charset="0"/>
              </a:rPr>
              <a:t>Add value to the project</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238E6-E5C4-BA9B-130C-92761B95E869}"/>
              </a:ext>
            </a:extLst>
          </p:cNvPr>
          <p:cNvSpPr>
            <a:spLocks noGrp="1"/>
          </p:cNvSpPr>
          <p:nvPr>
            <p:ph type="title"/>
          </p:nvPr>
        </p:nvSpPr>
        <p:spPr>
          <a:xfrm>
            <a:off x="228601" y="0"/>
            <a:ext cx="8305800" cy="609600"/>
          </a:xfrm>
        </p:spPr>
        <p:txBody>
          <a:bodyPr>
            <a:normAutofit fontScale="90000"/>
          </a:bodyPr>
          <a:lstStyle/>
          <a:p>
            <a:r>
              <a:rPr lang="en-IN" b="1" dirty="0">
                <a:effectLst/>
                <a:latin typeface="Times New Roman" panose="02020603050405020304" pitchFamily="18" charset="0"/>
                <a:ea typeface="Calibri" panose="020F0502020204030204" pitchFamily="34" charset="0"/>
                <a:cs typeface="Times New Roman" panose="02020603050405020304" pitchFamily="18" charset="0"/>
              </a:rPr>
              <a:t>Importance of EMP</a:t>
            </a:r>
            <a:br>
              <a:rPr lang="en-IN"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5F48447-CDF6-D3A3-F8E4-EF879728930B}"/>
              </a:ext>
            </a:extLst>
          </p:cNvPr>
          <p:cNvSpPr>
            <a:spLocks noGrp="1"/>
          </p:cNvSpPr>
          <p:nvPr>
            <p:ph idx="1"/>
          </p:nvPr>
        </p:nvSpPr>
        <p:spPr>
          <a:xfrm>
            <a:off x="228600" y="990600"/>
            <a:ext cx="8915399" cy="5715000"/>
          </a:xfrm>
        </p:spPr>
        <p:txBody>
          <a:bodyPr>
            <a:normAutofit/>
          </a:bodyPr>
          <a:lstStyle/>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An instrument for implementing environmental management commitments, conditions, and requirements of project.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Promotes self-regulation &amp; integration of environmental issues in planning and operations.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Addresses relevant environmental management issues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Can be drafted in a consultative manner.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Incorporates regulatory 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Facilitates environmentally sustainable development and decision-making process.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Able to form the basis for consultation and negotiation of outcomes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Flexible, Comprehensive, Updatable, and A tool for promoting accountability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83144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671ED-E235-88F9-0AED-D99B760473FA}"/>
              </a:ext>
            </a:extLst>
          </p:cNvPr>
          <p:cNvSpPr>
            <a:spLocks noGrp="1"/>
          </p:cNvSpPr>
          <p:nvPr>
            <p:ph type="title"/>
          </p:nvPr>
        </p:nvSpPr>
        <p:spPr/>
        <p:txBody>
          <a:bodyPr>
            <a:normAutofit/>
          </a:bodyPr>
          <a:lstStyle/>
          <a:p>
            <a:r>
              <a:rPr lang="en-IN" sz="3600" b="1" u="sng" dirty="0">
                <a:effectLst/>
                <a:latin typeface="Times New Roman" panose="02020603050405020304" pitchFamily="18" charset="0"/>
                <a:ea typeface="Calibri" panose="020F0502020204030204" pitchFamily="34" charset="0"/>
                <a:cs typeface="Times New Roman" panose="02020603050405020304" pitchFamily="18" charset="0"/>
              </a:rPr>
              <a:t>Contents of an EMP </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7DC696A-13B0-EEE6-0BC3-C1B5E99C1809}"/>
              </a:ext>
            </a:extLst>
          </p:cNvPr>
          <p:cNvSpPr>
            <a:spLocks noGrp="1"/>
          </p:cNvSpPr>
          <p:nvPr>
            <p:ph sz="half" idx="1"/>
          </p:nvPr>
        </p:nvSpPr>
        <p:spPr>
          <a:xfrm>
            <a:off x="1066800" y="1752600"/>
            <a:ext cx="4073147" cy="4151503"/>
          </a:xfrm>
        </p:spPr>
        <p:txBody>
          <a:bodyPr>
            <a:noAutofit/>
          </a:bodyPr>
          <a:lstStyle/>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Brief introduction of project design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Major Findings of EIA/screening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Environmental Impacts Overview</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Regulatory/Statutory 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Environmental Management Proposed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Pre-construction</a:t>
            </a:r>
          </a:p>
          <a:p>
            <a:pPr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Construction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8ACC406-B6A6-8BA2-3BE5-D00E73150ED0}"/>
              </a:ext>
            </a:extLst>
          </p:cNvPr>
          <p:cNvSpPr>
            <a:spLocks noGrp="1"/>
          </p:cNvSpPr>
          <p:nvPr>
            <p:ph sz="half" idx="2"/>
          </p:nvPr>
        </p:nvSpPr>
        <p:spPr>
          <a:xfrm>
            <a:off x="5337307" y="1752600"/>
            <a:ext cx="3425693" cy="4876800"/>
          </a:xfrm>
        </p:spPr>
        <p:txBody>
          <a:bodyPr>
            <a:normAutofit/>
          </a:bodyPr>
          <a:lstStyle/>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Operation</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implementation Arrangements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institutional Arrangements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Monitoring Mechanism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Wingdings" panose="05000000000000000000" pitchFamily="2" charset="2"/>
              <a:buChar char=""/>
              <a:tabLst>
                <a:tab pos="228600" algn="l"/>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Reporting System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a:effectLst/>
                <a:latin typeface="Times New Roman" panose="02020603050405020304" pitchFamily="18" charset="0"/>
                <a:ea typeface="Calibri" panose="020F0502020204030204" pitchFamily="34" charset="0"/>
              </a:rPr>
              <a:t>Environmental Training and Management Budget</a:t>
            </a:r>
            <a:endParaRPr lang="en-IN" sz="2000" dirty="0"/>
          </a:p>
          <a:p>
            <a:endParaRPr lang="en-IN" dirty="0"/>
          </a:p>
        </p:txBody>
      </p:sp>
    </p:spTree>
    <p:extLst>
      <p:ext uri="{BB962C8B-B14F-4D97-AF65-F5344CB8AC3E}">
        <p14:creationId xmlns:p14="http://schemas.microsoft.com/office/powerpoint/2010/main" val="86916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A958C5C-BB1F-B4C9-5359-6DAE22DE2756}"/>
              </a:ext>
            </a:extLst>
          </p:cNvPr>
          <p:cNvSpPr>
            <a:spLocks noGrp="1"/>
          </p:cNvSpPr>
          <p:nvPr>
            <p:ph type="title"/>
          </p:nvPr>
        </p:nvSpPr>
        <p:spPr/>
        <p:txBody>
          <a:bodyPr/>
          <a:lstStyle/>
          <a:p>
            <a:r>
              <a:rPr lang="en-IN" sz="1800" b="1" u="sng" dirty="0">
                <a:effectLst/>
                <a:latin typeface="Times New Roman" panose="02020603050405020304" pitchFamily="18" charset="0"/>
                <a:ea typeface="Calibri" panose="020F0502020204030204" pitchFamily="34" charset="0"/>
                <a:cs typeface="Times New Roman" panose="02020603050405020304" pitchFamily="18" charset="0"/>
              </a:rPr>
              <a:t>ENVIRONMENTAL MONITORING PROGRAM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6" name="Content Placeholder 5">
            <a:extLst>
              <a:ext uri="{FF2B5EF4-FFF2-40B4-BE49-F238E27FC236}">
                <a16:creationId xmlns:a16="http://schemas.microsoft.com/office/drawing/2014/main" id="{A68C85B1-73D3-B040-CFAE-93FFBFFF856A}"/>
              </a:ext>
            </a:extLst>
          </p:cNvPr>
          <p:cNvSpPr>
            <a:spLocks noGrp="1"/>
          </p:cNvSpPr>
          <p:nvPr>
            <p:ph idx="1"/>
          </p:nvPr>
        </p:nvSpPr>
        <p:spPr>
          <a:xfrm>
            <a:off x="152400" y="1295400"/>
            <a:ext cx="8839199" cy="5562600"/>
          </a:xfrm>
        </p:spPr>
        <p:txBody>
          <a:bodyPr>
            <a:normAutofit lnSpcReduction="10000"/>
          </a:bodyPr>
          <a:lstStyle/>
          <a:p>
            <a:pPr algn="just">
              <a:lnSpc>
                <a:spcPct val="107000"/>
              </a:lnSpc>
              <a:buFont typeface="Symbol" panose="05050102010706020507" pitchFamily="18" charset="2"/>
              <a:buChar char=""/>
            </a:pPr>
            <a:r>
              <a:rPr lang="en-IN" sz="2000" i="1" dirty="0">
                <a:effectLst/>
                <a:latin typeface="Times New Roman" panose="02020603050405020304" pitchFamily="18" charset="0"/>
                <a:ea typeface="Calibri" panose="020F0502020204030204" pitchFamily="34" charset="0"/>
                <a:cs typeface="Times New Roman" panose="02020603050405020304" pitchFamily="18" charset="0"/>
              </a:rPr>
              <a:t>purpose of monitoring is to identify any changes caused by the project activities. It will also establish whether mitigation measures adopted are sufficient to reduce impact</a:t>
            </a:r>
            <a:endParaRPr lang="en-IN" sz="2000" i="1"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buFont typeface="Symbol" panose="05050102010706020507" pitchFamily="18" charset="2"/>
              <a:buChar char=""/>
            </a:pPr>
            <a:r>
              <a:rPr lang="en-IN" sz="2000" b="1" i="1" dirty="0">
                <a:effectLst/>
                <a:latin typeface="Times New Roman" panose="02020603050405020304" pitchFamily="18" charset="0"/>
                <a:ea typeface="Calibri" panose="020F0502020204030204" pitchFamily="34" charset="0"/>
              </a:rPr>
              <a:t>scope of the proposed monitoring program </a:t>
            </a:r>
            <a:endParaRPr lang="en-IN" sz="2000" b="1" i="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Site inspection to assess the current progress of construction works on site.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Monitoring of water quality, discharge from silt traps, air quality and noise levels to assess environmental conditions against work progress and intensity.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Analysis of the monitoring result and formulation and recommendations on suitable measures on  areas of non-compliance and/or enhancement of environmental quality.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Monitoring and measurement shall be carried out by trained qualified Technician or accredited laboratory under ISO Guide 25/SAMM 1.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Monitoring and measuring equipment shall be controlled and maintained and a copy of the report shall be handed over to the Employer’s Representative and DOE.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79366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08726-A9C3-7DAB-7342-86B28D5E7C22}"/>
              </a:ext>
            </a:extLst>
          </p:cNvPr>
          <p:cNvSpPr>
            <a:spLocks noGrp="1"/>
          </p:cNvSpPr>
          <p:nvPr>
            <p:ph type="title"/>
          </p:nvPr>
        </p:nvSpPr>
        <p:spPr/>
        <p:txBody>
          <a:bodyPr>
            <a:normAutofit fontScale="90000"/>
          </a:bodyPr>
          <a:lstStyle/>
          <a:p>
            <a:r>
              <a:rPr lang="en-IN" sz="3600" b="1" dirty="0">
                <a:effectLst/>
                <a:latin typeface="Times New Roman" panose="02020603050405020304" pitchFamily="18" charset="0"/>
                <a:ea typeface="Calibri" panose="020F0502020204030204" pitchFamily="34" charset="0"/>
                <a:cs typeface="Times New Roman" panose="02020603050405020304" pitchFamily="18" charset="0"/>
              </a:rPr>
              <a:t>Types of Environmental Monitoring</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8C84EFF-34B4-1309-82F6-4AD4A8819CBA}"/>
              </a:ext>
            </a:extLst>
          </p:cNvPr>
          <p:cNvSpPr>
            <a:spLocks noGrp="1"/>
          </p:cNvSpPr>
          <p:nvPr>
            <p:ph idx="1"/>
          </p:nvPr>
        </p:nvSpPr>
        <p:spPr>
          <a:xfrm>
            <a:off x="457199" y="1676400"/>
            <a:ext cx="8458201" cy="5181600"/>
          </a:xfrm>
        </p:spPr>
        <p:txBody>
          <a:bodyPr>
            <a:normAutofit/>
          </a:bodyPr>
          <a:lstStyle/>
          <a:p>
            <a:pPr marL="342900" lvl="0" indent="-342900" algn="just">
              <a:lnSpc>
                <a:spcPct val="107000"/>
              </a:lnSpc>
              <a:spcAft>
                <a:spcPts val="800"/>
              </a:spcAft>
              <a:buFont typeface="+mj-lt"/>
              <a:buAutoNum type="romanLcPeriod"/>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Performance Monitoring (PM)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:the monitoring to ensure that the pollution control systems and other mitigation measures are performing  in a good condition to reduce the adverse impacts from the proposed Project at a minimum level. Environmental Officer (EO) or Certified Competent Person shall carry out on-site performance monitoring.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romanLcPeriod"/>
            </a:pPr>
            <a:r>
              <a:rPr lang="en-IN" b="1" dirty="0">
                <a:latin typeface="Times New Roman" panose="02020603050405020304" pitchFamily="18" charset="0"/>
                <a:cs typeface="Times New Roman" panose="02020603050405020304" pitchFamily="18" charset="0"/>
              </a:rPr>
              <a:t>Compliance Monitoring (CM)</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:is being employed in the Project site, in order to assess the overall project compliance and opportunity for optimization and further improvement in environmental management of the Project.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romanLcPeriod"/>
            </a:pPr>
            <a:r>
              <a:rPr lang="en-IN" b="1" dirty="0">
                <a:latin typeface="Times New Roman" panose="02020603050405020304" pitchFamily="18" charset="0"/>
                <a:cs typeface="Times New Roman" panose="02020603050405020304" pitchFamily="18" charset="0"/>
              </a:rPr>
              <a:t>Impact Monitoring (IM) :</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will be carried out to observe the condition of the Project site. The monitoring will be conducted to verify that the findings of the EIA study on the potential impacts identified during the EIA scoping process are correct, appropriate mitigation and prevention measures are properly implemented and the measures are effective in mitigation the adverse impacts to the environment.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88989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FA831-44C8-C332-07DC-E2BABAEB2136}"/>
              </a:ext>
            </a:extLst>
          </p:cNvPr>
          <p:cNvSpPr>
            <a:spLocks noGrp="1"/>
          </p:cNvSpPr>
          <p:nvPr>
            <p:ph type="title"/>
          </p:nvPr>
        </p:nvSpPr>
        <p:spPr>
          <a:xfrm>
            <a:off x="609601" y="152400"/>
            <a:ext cx="7924800" cy="794378"/>
          </a:xfrm>
        </p:spPr>
        <p:txBody>
          <a:bodyPr>
            <a:normAutofit fontScale="90000"/>
          </a:bodyPr>
          <a:lstStyle/>
          <a:p>
            <a:r>
              <a:rPr lang="en-IN" b="1" dirty="0">
                <a:effectLst/>
                <a:latin typeface="Times New Roman" panose="02020603050405020304" pitchFamily="18" charset="0"/>
                <a:ea typeface="Calibri" panose="020F0502020204030204" pitchFamily="34" charset="0"/>
                <a:cs typeface="Times New Roman" panose="02020603050405020304" pitchFamily="18" charset="0"/>
              </a:rPr>
              <a:t>ENVIRONMENTAL AUDIT</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C7F9846-0F66-5A4D-4EC3-E3916451D4DF}"/>
              </a:ext>
            </a:extLst>
          </p:cNvPr>
          <p:cNvSpPr>
            <a:spLocks noGrp="1"/>
          </p:cNvSpPr>
          <p:nvPr>
            <p:ph idx="1"/>
          </p:nvPr>
        </p:nvSpPr>
        <p:spPr>
          <a:xfrm>
            <a:off x="609598" y="946778"/>
            <a:ext cx="8229601" cy="5530222"/>
          </a:xfrm>
        </p:spPr>
        <p:txBody>
          <a:bodyPr>
            <a:normAutofit/>
          </a:bodyPr>
          <a:lstStyle/>
          <a:p>
            <a:pPr algn="just">
              <a:lnSpc>
                <a:spcPct val="107000"/>
              </a:lnSpc>
              <a:spcAft>
                <a:spcPts val="800"/>
              </a:spcAft>
            </a:pP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Environmental auditing means the systematic, documented, periodic and objective evaluation of how well environmental organization, management and equipment are performing in conserving or preserving the environment. </a:t>
            </a: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Environmental auditing is mandatory only in cases stipulated by law. </a:t>
            </a:r>
          </a:p>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400" dirty="0">
                <a:latin typeface="Times New Roman" panose="02020603050405020304" pitchFamily="18" charset="0"/>
                <a:ea typeface="Calibri" panose="020F0502020204030204" pitchFamily="34" charset="0"/>
                <a:cs typeface="Times New Roman" panose="02020603050405020304" pitchFamily="18" charset="0"/>
              </a:rPr>
              <a:t>A</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im  </a:t>
            </a:r>
            <a:r>
              <a:rPr lang="en-IN" sz="2400" dirty="0">
                <a:latin typeface="Times New Roman" panose="02020603050405020304" pitchFamily="18" charset="0"/>
                <a:ea typeface="Calibri" panose="020F0502020204030204" pitchFamily="34" charset="0"/>
                <a:cs typeface="Times New Roman" panose="02020603050405020304" pitchFamily="18" charset="0"/>
              </a:rPr>
              <a:t>-</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to facilitate management control of environmental practices and to enable the company to assess compliance with its policies including meeting regulatory requirements.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dirty="0"/>
          </a:p>
        </p:txBody>
      </p:sp>
    </p:spTree>
    <p:extLst>
      <p:ext uri="{BB962C8B-B14F-4D97-AF65-F5344CB8AC3E}">
        <p14:creationId xmlns:p14="http://schemas.microsoft.com/office/powerpoint/2010/main" val="2552242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637C97-E7B5-2533-E879-BCFAC4D65B1D}"/>
              </a:ext>
            </a:extLst>
          </p:cNvPr>
          <p:cNvSpPr>
            <a:spLocks noGrp="1"/>
          </p:cNvSpPr>
          <p:nvPr>
            <p:ph idx="1"/>
          </p:nvPr>
        </p:nvSpPr>
        <p:spPr>
          <a:xfrm>
            <a:off x="457200" y="1371600"/>
            <a:ext cx="8382000" cy="5486400"/>
          </a:xfrm>
        </p:spPr>
        <p:txBody>
          <a:bodyPr/>
          <a:lstStyle/>
          <a:p>
            <a:pPr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According to United States Environmental Protection Agency (USEPA), “Environmental audit shall mean a management tool comprising a systematic, documented periodic and objective evaluation of the performance of the organisation, management system and processes designed to protect the environment with the aim of</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mj-lt"/>
              <a:buAutoNum type="romanLcParenBoth"/>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facilitating management control of practices which may have an impact on the environment;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romanLcParenBoth"/>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assessing compliance with the environmental policy including environmental objectives and targets of the organisation.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29908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9DE83A-B37C-E312-77D0-A6C2776DD0ED}"/>
              </a:ext>
            </a:extLst>
          </p:cNvPr>
          <p:cNvSpPr>
            <a:spLocks noGrp="1"/>
          </p:cNvSpPr>
          <p:nvPr>
            <p:ph idx="1"/>
          </p:nvPr>
        </p:nvSpPr>
        <p:spPr>
          <a:xfrm>
            <a:off x="914400" y="457200"/>
            <a:ext cx="8229600" cy="6400800"/>
          </a:xfrm>
        </p:spPr>
        <p:txBody>
          <a:bodyPr>
            <a:normAutofit lnSpcReduction="10000"/>
          </a:bodyPr>
          <a:lstStyle/>
          <a:p>
            <a:pPr algn="just">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concept of environmental auditing in industrial unit in India was formally introduced in March 1992 with an overall objective </a:t>
            </a:r>
          </a:p>
          <a:p>
            <a:pPr lvl="1" algn="just">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of minimizing consumption of resources and promoting use of clean technologies in industrial production to minimize the generation of wastes</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audit assesses actual environmental impact, the accuracy of prediction, the effectiveness of environmental impact mitigation and enhancement measures, and the functioning of monitoring mechanisms. </a:t>
            </a:r>
          </a:p>
          <a:p>
            <a:pPr algn="just">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The audit should be undertaken after the project has been operational for some time.</a:t>
            </a:r>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806902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AA73-0C0A-7F0F-72AF-686E5F438E54}"/>
              </a:ext>
            </a:extLst>
          </p:cNvPr>
          <p:cNvSpPr>
            <a:spLocks noGrp="1"/>
          </p:cNvSpPr>
          <p:nvPr>
            <p:ph type="title"/>
          </p:nvPr>
        </p:nvSpPr>
        <p:spPr>
          <a:xfrm>
            <a:off x="838201" y="0"/>
            <a:ext cx="7696200" cy="457200"/>
          </a:xfrm>
        </p:spPr>
        <p:txBody>
          <a:bodyPr>
            <a:normAutofit/>
          </a:bodyPr>
          <a:lstStyle/>
          <a:p>
            <a:r>
              <a:rPr lang="en-IN" sz="2400" b="1" u="sng" dirty="0">
                <a:effectLst/>
                <a:latin typeface="Times New Roman" panose="02020603050405020304" pitchFamily="18" charset="0"/>
                <a:ea typeface="Calibri" panose="020F0502020204030204" pitchFamily="34" charset="0"/>
              </a:rPr>
              <a:t>Objectives of EA   ( Environmental Audit)</a:t>
            </a:r>
            <a:endParaRPr lang="en-IN" sz="2400" dirty="0"/>
          </a:p>
        </p:txBody>
      </p:sp>
      <p:sp>
        <p:nvSpPr>
          <p:cNvPr id="3" name="Content Placeholder 2">
            <a:extLst>
              <a:ext uri="{FF2B5EF4-FFF2-40B4-BE49-F238E27FC236}">
                <a16:creationId xmlns:a16="http://schemas.microsoft.com/office/drawing/2014/main" id="{F6790C08-681E-4479-4C94-615D66E07377}"/>
              </a:ext>
            </a:extLst>
          </p:cNvPr>
          <p:cNvSpPr>
            <a:spLocks noGrp="1"/>
          </p:cNvSpPr>
          <p:nvPr>
            <p:ph idx="1"/>
          </p:nvPr>
        </p:nvSpPr>
        <p:spPr>
          <a:xfrm>
            <a:off x="609601" y="1143000"/>
            <a:ext cx="7924800" cy="5410200"/>
          </a:xfrm>
        </p:spPr>
        <p:txBody>
          <a:bodyPr>
            <a:normAutofit/>
          </a:bodyPr>
          <a:lstStyle/>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serve to achieve compliance standards and establish a report with regulatory bodies.</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review the implementation of policies.</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identify the liabilities.</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review the management system.</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identify the needs, strengths, weaknesses.</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assess environmental performance.</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promote environmental awareness.</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improve production safety and health.</a:t>
            </a:r>
          </a:p>
          <a:p>
            <a:pPr algn="l">
              <a:buFont typeface="Arial" panose="020B0604020202020204" pitchFamily="34" charset="0"/>
              <a:buChar char="•"/>
            </a:pPr>
            <a:r>
              <a:rPr lang="en-US" sz="2000" b="0" i="0" dirty="0">
                <a:solidFill>
                  <a:schemeClr val="tx1"/>
                </a:solidFill>
                <a:effectLst/>
                <a:latin typeface="Times New Roman" panose="02020603050405020304" pitchFamily="18" charset="0"/>
                <a:cs typeface="Times New Roman" panose="02020603050405020304" pitchFamily="18" charset="0"/>
              </a:rPr>
              <a:t>To reduce waste.</a:t>
            </a:r>
          </a:p>
          <a:p>
            <a:endParaRPr lang="en-IN" dirty="0"/>
          </a:p>
        </p:txBody>
      </p:sp>
    </p:spTree>
    <p:extLst>
      <p:ext uri="{BB962C8B-B14F-4D97-AF65-F5344CB8AC3E}">
        <p14:creationId xmlns:p14="http://schemas.microsoft.com/office/powerpoint/2010/main" val="2637617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BC78-BA5E-6F54-E746-113529A6B5F2}"/>
              </a:ext>
            </a:extLst>
          </p:cNvPr>
          <p:cNvSpPr>
            <a:spLocks noGrp="1"/>
          </p:cNvSpPr>
          <p:nvPr>
            <p:ph type="title"/>
          </p:nvPr>
        </p:nvSpPr>
        <p:spPr>
          <a:xfrm>
            <a:off x="152401" y="0"/>
            <a:ext cx="8382000" cy="609600"/>
          </a:xfrm>
        </p:spPr>
        <p:txBody>
          <a:bodyPr>
            <a:normAutofit fontScale="90000"/>
          </a:bodyPr>
          <a:lstStyle/>
          <a:p>
            <a:r>
              <a:rPr lang="en-IN" sz="3600" b="1" u="sng" dirty="0">
                <a:effectLst/>
                <a:latin typeface="Times New Roman" panose="02020603050405020304" pitchFamily="18" charset="0"/>
                <a:ea typeface="Calibri" panose="020F0502020204030204" pitchFamily="34" charset="0"/>
                <a:cs typeface="Times New Roman" panose="02020603050405020304" pitchFamily="18" charset="0"/>
              </a:rPr>
              <a:t>Need of EA</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5F6ACAE7-FDA1-B770-BDFD-E7BA75B1A688}"/>
              </a:ext>
            </a:extLst>
          </p:cNvPr>
          <p:cNvSpPr>
            <a:spLocks noGrp="1"/>
          </p:cNvSpPr>
          <p:nvPr>
            <p:ph idx="1"/>
          </p:nvPr>
        </p:nvSpPr>
        <p:spPr>
          <a:xfrm>
            <a:off x="1066799" y="762000"/>
            <a:ext cx="7848601" cy="5791200"/>
          </a:xfrm>
        </p:spPr>
        <p:txBody>
          <a:bodyPr>
            <a:noAutofit/>
          </a:bodyPr>
          <a:lstStyle/>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 sound precaution and a proactive measure in today's heavily regulated environment. </a:t>
            </a: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EA has a valuable role to play, encouraging systematic incorporation of environmental perspectives into many aspects of an organisation's overall operation, helping to trigger new awareness and new priorities in policies and practices. </a:t>
            </a:r>
          </a:p>
          <a:p>
            <a:pPr algn="just">
              <a:lnSpc>
                <a:spcPct val="107000"/>
              </a:lnSpc>
              <a:spcAft>
                <a:spcPts val="80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EA is needed for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gn="just">
              <a:lnSpc>
                <a:spcPct val="107000"/>
              </a:lnSpc>
              <a:buFont typeface="Courier New" panose="02070309020205020404" pitchFamily="49" charset="0"/>
              <a:buChar char="o"/>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Assessing compliance with relevant statutory and internal 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Facilitating management control of environmental practices</a:t>
            </a:r>
          </a:p>
          <a:p>
            <a:pPr marL="742950" lvl="1" indent="-285750">
              <a:lnSpc>
                <a:spcPct val="107000"/>
              </a:lnSpc>
              <a:spcAft>
                <a:spcPts val="800"/>
              </a:spcAft>
              <a:buFont typeface="Courier New" panose="02070309020205020404" pitchFamily="49" charset="0"/>
              <a:buChar char="o"/>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Promoting good environmental management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Maintaining credibility with the public</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3330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6F6021-3129-E54D-0FA3-B7B5186F63CF}"/>
              </a:ext>
            </a:extLst>
          </p:cNvPr>
          <p:cNvSpPr>
            <a:spLocks noGrp="1"/>
          </p:cNvSpPr>
          <p:nvPr>
            <p:ph idx="1"/>
          </p:nvPr>
        </p:nvSpPr>
        <p:spPr>
          <a:xfrm>
            <a:off x="990600" y="762000"/>
            <a:ext cx="7924800" cy="5486400"/>
          </a:xfrm>
        </p:spPr>
        <p:txBody>
          <a:bodyPr>
            <a:normAutofit/>
          </a:bodyPr>
          <a:lstStyle/>
          <a:p>
            <a:pPr marL="742950" lvl="1" indent="-285750">
              <a:lnSpc>
                <a:spcPct val="107000"/>
              </a:lnSpc>
              <a:spcAft>
                <a:spcPts val="800"/>
              </a:spcAft>
              <a:buFont typeface="Courier New" panose="02070309020205020404" pitchFamily="49" charset="0"/>
              <a:buChar char="o"/>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Raising staff awareness and enforcing commitment to departmental environmental policy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Exploring improvement opportunities</a:t>
            </a:r>
            <a:endParaRPr lang="en-IN" sz="2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Font typeface="Courier New" panose="02070309020205020404" pitchFamily="49" charset="0"/>
              <a:buChar char="o"/>
            </a:pPr>
            <a:r>
              <a:rPr lang="en-IN" sz="2000" dirty="0">
                <a:effectLst/>
                <a:latin typeface="Times New Roman" panose="02020603050405020304" pitchFamily="18" charset="0"/>
                <a:ea typeface="Calibri" panose="020F0502020204030204" pitchFamily="34" charset="0"/>
              </a:rPr>
              <a:t>Establishing the performance baseline for developing an Environmental Management System (EMS)</a:t>
            </a:r>
            <a:endParaRPr lang="en-IN" sz="2000" dirty="0"/>
          </a:p>
          <a:p>
            <a:endParaRPr lang="en-IN" dirty="0"/>
          </a:p>
        </p:txBody>
      </p:sp>
    </p:spTree>
    <p:extLst>
      <p:ext uri="{BB962C8B-B14F-4D97-AF65-F5344CB8AC3E}">
        <p14:creationId xmlns:p14="http://schemas.microsoft.com/office/powerpoint/2010/main" val="1069767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2FE9F-350C-BF55-F169-655276ED141C}"/>
              </a:ext>
            </a:extLst>
          </p:cNvPr>
          <p:cNvSpPr>
            <a:spLocks noGrp="1"/>
          </p:cNvSpPr>
          <p:nvPr>
            <p:ph type="title"/>
          </p:nvPr>
        </p:nvSpPr>
        <p:spPr>
          <a:xfrm>
            <a:off x="685801" y="152400"/>
            <a:ext cx="7848600" cy="794378"/>
          </a:xfrm>
        </p:spPr>
        <p:txBody>
          <a:bodyPr>
            <a:normAutofit fontScale="90000"/>
          </a:bodyPr>
          <a:lstStyle/>
          <a:p>
            <a:r>
              <a:rPr lang="en-IN" sz="2700" b="1" u="sng" dirty="0">
                <a:effectLst/>
                <a:latin typeface="Times New Roman" panose="02020603050405020304" pitchFamily="18" charset="0"/>
                <a:ea typeface="Calibri" panose="020F0502020204030204" pitchFamily="34" charset="0"/>
                <a:cs typeface="Times New Roman" panose="02020603050405020304" pitchFamily="18" charset="0"/>
              </a:rPr>
              <a:t>Types of environmental audits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CBDFEB8A-FB8A-D87A-2421-CE07C9695743}"/>
              </a:ext>
            </a:extLst>
          </p:cNvPr>
          <p:cNvSpPr>
            <a:spLocks noGrp="1"/>
          </p:cNvSpPr>
          <p:nvPr>
            <p:ph idx="1"/>
          </p:nvPr>
        </p:nvSpPr>
        <p:spPr>
          <a:xfrm>
            <a:off x="228600" y="1295400"/>
            <a:ext cx="8763000" cy="5410200"/>
          </a:xfrm>
        </p:spPr>
        <p:txBody>
          <a:bodyPr>
            <a:normAutofit/>
          </a:bodyPr>
          <a:lstStyle/>
          <a:p>
            <a:pPr algn="just">
              <a:buFont typeface="Arial" panose="020B0604020202020204" pitchFamily="34" charset="0"/>
              <a:buChar char="•"/>
            </a:pPr>
            <a:r>
              <a:rPr lang="en-US" sz="2000" b="1" i="0" dirty="0">
                <a:solidFill>
                  <a:srgbClr val="333333"/>
                </a:solidFill>
                <a:effectLst/>
                <a:latin typeface="Times New Roman" panose="02020603050405020304" pitchFamily="18" charset="0"/>
                <a:cs typeface="Times New Roman" panose="02020603050405020304" pitchFamily="18" charset="0"/>
              </a:rPr>
              <a:t>Environmental compliance audit</a:t>
            </a:r>
            <a:r>
              <a:rPr lang="en-US" sz="2000" b="0" i="0" dirty="0">
                <a:solidFill>
                  <a:srgbClr val="333333"/>
                </a:solidFill>
                <a:effectLst/>
                <a:latin typeface="Times New Roman" panose="02020603050405020304" pitchFamily="18" charset="0"/>
                <a:cs typeface="Times New Roman" panose="02020603050405020304" pitchFamily="18" charset="0"/>
              </a:rPr>
              <a:t> </a:t>
            </a:r>
            <a:r>
              <a:rPr lang="en-US" b="0" i="0" dirty="0">
                <a:solidFill>
                  <a:srgbClr val="333333"/>
                </a:solidFill>
                <a:effectLst/>
                <a:latin typeface="Times New Roman" panose="02020603050405020304" pitchFamily="18" charset="0"/>
                <a:cs typeface="Times New Roman" panose="02020603050405020304" pitchFamily="18" charset="0"/>
              </a:rPr>
              <a:t>– </a:t>
            </a:r>
            <a:r>
              <a:rPr lang="en-US" sz="2400" b="0" i="0" dirty="0">
                <a:solidFill>
                  <a:srgbClr val="333333"/>
                </a:solidFill>
                <a:effectLst/>
                <a:latin typeface="Times New Roman" panose="02020603050405020304" pitchFamily="18" charset="0"/>
                <a:cs typeface="Times New Roman" panose="02020603050405020304" pitchFamily="18" charset="0"/>
              </a:rPr>
              <a:t>evaluates a</a:t>
            </a:r>
            <a:r>
              <a:rPr lang="en-US" b="0" i="0" dirty="0">
                <a:solidFill>
                  <a:srgbClr val="333333"/>
                </a:solidFill>
                <a:effectLst/>
                <a:latin typeface="Times New Roman" panose="02020603050405020304" pitchFamily="18" charset="0"/>
                <a:cs typeface="Times New Roman" panose="02020603050405020304" pitchFamily="18" charset="0"/>
              </a:rPr>
              <a: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company’s environmental performance and environmental responsibility practices, whether the company has complied with legal requirements and other requirements such as ISO 14001. the most comprehensive and, perhaps, the most expensive.</a:t>
            </a:r>
          </a:p>
          <a:p>
            <a:pPr algn="l">
              <a:buFont typeface="Arial" panose="020B0604020202020204" pitchFamily="34" charset="0"/>
              <a:buChar char="•"/>
            </a:pPr>
            <a:r>
              <a:rPr lang="en-US" sz="2000" b="1" dirty="0">
                <a:solidFill>
                  <a:srgbClr val="333333"/>
                </a:solidFill>
                <a:latin typeface="Times New Roman" panose="02020603050405020304" pitchFamily="18" charset="0"/>
                <a:cs typeface="Times New Roman" panose="02020603050405020304" pitchFamily="18" charset="0"/>
              </a:rPr>
              <a:t>Environmental management audit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verifies whether the company has met the environmental objectives, policies, and performance set by management.</a:t>
            </a:r>
          </a:p>
          <a:p>
            <a:pPr algn="l">
              <a:buFont typeface="Arial" panose="020B0604020202020204" pitchFamily="34" charset="0"/>
              <a:buChar char="•"/>
            </a:pPr>
            <a:r>
              <a:rPr lang="en-US" sz="2000" b="1" dirty="0">
                <a:solidFill>
                  <a:srgbClr val="333333"/>
                </a:solidFill>
                <a:latin typeface="Times New Roman" panose="02020603050405020304" pitchFamily="18" charset="0"/>
                <a:cs typeface="Times New Roman" panose="02020603050405020304" pitchFamily="18" charset="0"/>
              </a:rPr>
              <a:t>Functional environmental audit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 focuses on one element or impact of a particular activity, such as wastewater management audits, materials, and air quality monitoring.</a:t>
            </a:r>
          </a:p>
          <a:p>
            <a:endParaRPr lang="en-IN" dirty="0"/>
          </a:p>
        </p:txBody>
      </p:sp>
    </p:spTree>
    <p:extLst>
      <p:ext uri="{BB962C8B-B14F-4D97-AF65-F5344CB8AC3E}">
        <p14:creationId xmlns:p14="http://schemas.microsoft.com/office/powerpoint/2010/main" val="4228335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57510-5779-2BD6-48F8-F2E9B8DE21C7}"/>
              </a:ext>
            </a:extLst>
          </p:cNvPr>
          <p:cNvSpPr>
            <a:spLocks noGrp="1"/>
          </p:cNvSpPr>
          <p:nvPr>
            <p:ph type="title"/>
          </p:nvPr>
        </p:nvSpPr>
        <p:spPr/>
        <p:txBody>
          <a:bodyPr/>
          <a:lstStyle/>
          <a:p>
            <a:r>
              <a:rPr lang="en-IN" sz="1800" b="1" u="sng" dirty="0">
                <a:effectLst/>
                <a:latin typeface="Times New Roman" panose="02020603050405020304" pitchFamily="18" charset="0"/>
                <a:ea typeface="Calibri" panose="020F0502020204030204" pitchFamily="34" charset="0"/>
                <a:cs typeface="Times New Roman" panose="02020603050405020304" pitchFamily="18" charset="0"/>
              </a:rPr>
              <a:t>Environmental Audit Procedures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5B35F32-5726-D7EE-84C7-3E73796D2F4C}"/>
              </a:ext>
            </a:extLst>
          </p:cNvPr>
          <p:cNvSpPr>
            <a:spLocks noGrp="1"/>
          </p:cNvSpPr>
          <p:nvPr>
            <p:ph idx="1"/>
          </p:nvPr>
        </p:nvSpPr>
        <p:spPr>
          <a:xfrm>
            <a:off x="228600" y="1143000"/>
            <a:ext cx="8610600" cy="4768222"/>
          </a:xfrm>
        </p:spPr>
        <p:txBody>
          <a:bodyPr/>
          <a:lstStyle/>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 environmental audit is typically undertaken in three phases: </a:t>
            </a: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Pre-audit </a:t>
            </a: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On-site audit</a:t>
            </a: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Post-audit </a:t>
            </a:r>
          </a:p>
          <a:p>
            <a:endParaRPr lang="en-IN" dirty="0">
              <a:latin typeface="Times New Roman" panose="02020603050405020304" pitchFamily="18"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Each of these phases comprises a number of clearly defined Objectives, with each objective to be achieved through specific Actions, and these actions yielding results in the form of outputs at the end of each phase.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70818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FC9AB31-1D83-0CDA-0594-1A25C2DC789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441960"/>
            <a:ext cx="7238999" cy="5937565"/>
          </a:xfrm>
          <a:prstGeom prst="rect">
            <a:avLst/>
          </a:prstGeom>
          <a:noFill/>
          <a:ln>
            <a:noFill/>
          </a:ln>
        </p:spPr>
      </p:pic>
    </p:spTree>
    <p:extLst>
      <p:ext uri="{BB962C8B-B14F-4D97-AF65-F5344CB8AC3E}">
        <p14:creationId xmlns:p14="http://schemas.microsoft.com/office/powerpoint/2010/main" val="301585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BB67F1-34D5-73D7-925C-98A9AA3F1BA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60144" y="1066800"/>
            <a:ext cx="8283856" cy="5410199"/>
          </a:xfrm>
          <a:prstGeom prst="rect">
            <a:avLst/>
          </a:prstGeom>
          <a:noFill/>
          <a:ln>
            <a:noFill/>
          </a:ln>
        </p:spPr>
      </p:pic>
    </p:spTree>
    <p:extLst>
      <p:ext uri="{BB962C8B-B14F-4D97-AF65-F5344CB8AC3E}">
        <p14:creationId xmlns:p14="http://schemas.microsoft.com/office/powerpoint/2010/main" val="3553534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52D4C32-9D04-1B45-4B74-3D3664CA5A7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3468" y="1371600"/>
            <a:ext cx="8195732" cy="4222553"/>
          </a:xfrm>
          <a:prstGeom prst="rect">
            <a:avLst/>
          </a:prstGeom>
          <a:noFill/>
          <a:ln>
            <a:noFill/>
          </a:ln>
        </p:spPr>
      </p:pic>
    </p:spTree>
    <p:extLst>
      <p:ext uri="{BB962C8B-B14F-4D97-AF65-F5344CB8AC3E}">
        <p14:creationId xmlns:p14="http://schemas.microsoft.com/office/powerpoint/2010/main" val="956549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DDE63-EDD0-0F18-4454-E4EF3248AB7F}"/>
              </a:ext>
            </a:extLst>
          </p:cNvPr>
          <p:cNvSpPr>
            <a:spLocks noGrp="1"/>
          </p:cNvSpPr>
          <p:nvPr>
            <p:ph type="title"/>
          </p:nvPr>
        </p:nvSpPr>
        <p:spPr>
          <a:xfrm>
            <a:off x="1371599" y="304800"/>
            <a:ext cx="7162801" cy="1600200"/>
          </a:xfrm>
        </p:spPr>
        <p:txBody>
          <a:bodyPr>
            <a:normAutofit fontScale="90000"/>
          </a:bodyPr>
          <a:lstStyle/>
          <a:p>
            <a:r>
              <a:rPr lang="en-IN" sz="3600" b="1" u="sng"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5 Stages of Environmental Audit – The steps of environmental audit</a:t>
            </a:r>
            <a:br>
              <a:rPr lang="en-IN" sz="36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341E0ED-DDCE-6338-50E8-1347B8F7AF1B}"/>
              </a:ext>
            </a:extLst>
          </p:cNvPr>
          <p:cNvSpPr>
            <a:spLocks noGrp="1"/>
          </p:cNvSpPr>
          <p:nvPr>
            <p:ph idx="1"/>
          </p:nvPr>
        </p:nvSpPr>
        <p:spPr>
          <a:xfrm>
            <a:off x="609600" y="1905000"/>
            <a:ext cx="8305799" cy="4648200"/>
          </a:xfrm>
        </p:spPr>
        <p:txBody>
          <a:bodyPr>
            <a:normAutofit/>
          </a:bodyPr>
          <a:lstStyle/>
          <a:p>
            <a:pPr>
              <a:lnSpc>
                <a:spcPts val="1560"/>
              </a:lnSpc>
              <a:spcAft>
                <a:spcPts val="800"/>
              </a:spcAft>
            </a:pPr>
            <a:endParaRPr lang="en-IN" sz="35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a:lnSpc>
                <a:spcPts val="1560"/>
              </a:lnSpc>
              <a:spcAft>
                <a:spcPts val="800"/>
              </a:spcAft>
            </a:pPr>
            <a:r>
              <a:rPr lang="en-IN" sz="35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Step 1: Schedule the Audit</a:t>
            </a:r>
            <a:endParaRPr lang="en-IN" sz="35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starts with an organization’s Environmental Management Representative (EMR) scheduling audits .Environmental managers can determine how frequently the audit should be performed through consultation with relevant Government Agencies and/or a review of specific project 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7091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D4DE2F-922F-1952-0E80-23E917310F4E}"/>
              </a:ext>
            </a:extLst>
          </p:cNvPr>
          <p:cNvSpPr>
            <a:spLocks noGrp="1"/>
          </p:cNvSpPr>
          <p:nvPr>
            <p:ph idx="1"/>
          </p:nvPr>
        </p:nvSpPr>
        <p:spPr>
          <a:xfrm>
            <a:off x="533400" y="685800"/>
            <a:ext cx="8382000" cy="5791200"/>
          </a:xfrm>
        </p:spPr>
        <p:txBody>
          <a:bodyPr>
            <a:normAutofit/>
          </a:bodyPr>
          <a:lstStyle/>
          <a:p>
            <a:pPr>
              <a:lnSpc>
                <a:spcPts val="1560"/>
              </a:lnSpc>
              <a:spcAft>
                <a:spcPts val="800"/>
              </a:spcAft>
            </a:pPr>
            <a:r>
              <a:rPr lang="en-IN" sz="32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Step 2: Plan the Audit</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n-IN" sz="2000" dirty="0">
                <a:solidFill>
                  <a:srgbClr val="000000"/>
                </a:solidFill>
                <a:latin typeface="Times New Roman" panose="02020603050405020304" pitchFamily="18" charset="0"/>
                <a:cs typeface="Times New Roman" panose="02020603050405020304" pitchFamily="18" charset="0"/>
              </a:rPr>
              <a:t>is for the EMR to establish and document the Area/Contractor to be audited, the reason and scope of the audit, and the contact names for the Area/Contractor.</a:t>
            </a:r>
            <a:br>
              <a:rPr lang="en-IN" sz="2000" dirty="0">
                <a:solidFill>
                  <a:srgbClr val="000000"/>
                </a:solidFill>
                <a:latin typeface="Times New Roman" panose="02020603050405020304" pitchFamily="18" charset="0"/>
                <a:cs typeface="Times New Roman" panose="02020603050405020304" pitchFamily="18" charset="0"/>
              </a:rPr>
            </a:br>
            <a:r>
              <a:rPr lang="en-IN" sz="2000" dirty="0">
                <a:solidFill>
                  <a:srgbClr val="000000"/>
                </a:solidFill>
                <a:latin typeface="Times New Roman" panose="02020603050405020304" pitchFamily="18" charset="0"/>
                <a:cs typeface="Times New Roman" panose="02020603050405020304" pitchFamily="18" charset="0"/>
              </a:rPr>
              <a:t>The EMR must also appoint and notify a qualified Lead Auditor or audit member if required. If warranted, the EMR can appoint themselves as the Lead Auditor.</a:t>
            </a:r>
          </a:p>
          <a:p>
            <a:pPr>
              <a:lnSpc>
                <a:spcPts val="1560"/>
              </a:lnSpc>
              <a:spcAft>
                <a:spcPts val="800"/>
              </a:spcAft>
            </a:pPr>
            <a:r>
              <a:rPr lang="en-IN" sz="3200" dirty="0">
                <a:solidFill>
                  <a:srgbClr val="000000"/>
                </a:solidFill>
                <a:latin typeface="Times New Roman" panose="02020603050405020304" pitchFamily="18" charset="0"/>
                <a:cs typeface="Times New Roman" panose="02020603050405020304" pitchFamily="18" charset="0"/>
              </a:rPr>
              <a:t>Step 3: Conduct the Audit</a:t>
            </a:r>
          </a:p>
          <a:p>
            <a:pPr marL="0" indent="0">
              <a:lnSpc>
                <a:spcPct val="107000"/>
              </a:lnSpc>
              <a:spcAft>
                <a:spcPts val="800"/>
              </a:spcAft>
              <a:buNone/>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All relevant personnel in the Audit Team should meet to discuss the scope of the audit, the proposed audit agenda, the audit objectives, any project personnel that need to be contacted or interviewed, and a tentative time to hold the exit meeting.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44036105"/>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EB6B7-C1AD-1DB0-2211-C75F1C13637F}"/>
              </a:ext>
            </a:extLst>
          </p:cNvPr>
          <p:cNvSpPr>
            <a:spLocks noGrp="1"/>
          </p:cNvSpPr>
          <p:nvPr>
            <p:ph idx="1"/>
          </p:nvPr>
        </p:nvSpPr>
        <p:spPr>
          <a:xfrm>
            <a:off x="457200" y="1143000"/>
            <a:ext cx="8458200" cy="5410200"/>
          </a:xfrm>
        </p:spPr>
        <p:txBody>
          <a:bodyPr>
            <a:normAutofit/>
          </a:bodyPr>
          <a:lstStyle/>
          <a:p>
            <a:pPr>
              <a:lnSpc>
                <a:spcPts val="1560"/>
              </a:lnSpc>
              <a:spcAft>
                <a:spcPts val="800"/>
              </a:spcAft>
            </a:pPr>
            <a:r>
              <a:rPr lang="en-IN" sz="3200" dirty="0">
                <a:solidFill>
                  <a:srgbClr val="000000"/>
                </a:solidFill>
                <a:latin typeface="Times New Roman" panose="02020603050405020304" pitchFamily="18" charset="0"/>
                <a:cs typeface="Times New Roman" panose="02020603050405020304" pitchFamily="18" charset="0"/>
              </a:rPr>
              <a:t>Step 4: Develop an Audit Report/Action Plan</a:t>
            </a:r>
          </a:p>
          <a:p>
            <a:pPr marL="0" indent="0">
              <a:lnSpc>
                <a:spcPct val="107000"/>
              </a:lnSpc>
              <a:spcAft>
                <a:spcPts val="800"/>
              </a:spcAft>
              <a:buNone/>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audit team needs to prepare a report based on all the objective evidence that was collected during the audit.</a:t>
            </a:r>
            <a:b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This report must be forwarded to the Company official within 2 days of completion of the audit. The final report must be distributed to the Auditor, Company official, Independent Reviewer and Environmental Auditor, the State, and all other relevant personnel.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a:lnSpc>
                <a:spcPts val="1560"/>
              </a:lnSpc>
              <a:spcAft>
                <a:spcPts val="800"/>
              </a:spcAft>
            </a:pPr>
            <a:r>
              <a:rPr lang="en-IN" sz="3200" dirty="0">
                <a:solidFill>
                  <a:srgbClr val="000000"/>
                </a:solidFill>
                <a:latin typeface="Times New Roman" panose="02020603050405020304" pitchFamily="18" charset="0"/>
                <a:cs typeface="Times New Roman" panose="02020603050405020304" pitchFamily="18" charset="0"/>
              </a:rPr>
              <a:t>Step 5: Audit Follow-Up</a:t>
            </a:r>
          </a:p>
          <a:p>
            <a:pPr marL="0" indent="0">
              <a:lnSpc>
                <a:spcPct val="107000"/>
              </a:lnSpc>
              <a:spcAft>
                <a:spcPts val="800"/>
              </a:spcAft>
              <a:buNone/>
            </a:pPr>
            <a:r>
              <a:rPr lang="en-IN" sz="20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EMR will follow up on the closing out of any remaining contract items by the Company official. It can be done separately and can even be done whenever the next relevant audit takes place, depending on how significant the finding is.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97848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89E93-8464-6E1D-1A38-396D68F4BA5D}"/>
              </a:ext>
            </a:extLst>
          </p:cNvPr>
          <p:cNvSpPr>
            <a:spLocks noGrp="1"/>
          </p:cNvSpPr>
          <p:nvPr>
            <p:ph type="title"/>
          </p:nvPr>
        </p:nvSpPr>
        <p:spPr>
          <a:xfrm>
            <a:off x="228600" y="0"/>
            <a:ext cx="8305801" cy="946778"/>
          </a:xfrm>
        </p:spPr>
        <p:txBody>
          <a:bodyPr/>
          <a:lstStyle/>
          <a:p>
            <a:pPr algn="ctr"/>
            <a:r>
              <a:rPr lang="en-US" b="0" i="0" dirty="0">
                <a:solidFill>
                  <a:srgbClr val="666666"/>
                </a:solidFill>
                <a:effectLst/>
                <a:latin typeface="Times New Roman" panose="02020603050405020304" pitchFamily="18" charset="0"/>
                <a:cs typeface="Times New Roman" panose="02020603050405020304" pitchFamily="18" charset="0"/>
              </a:rPr>
              <a:t>ISO 14001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A5C944-1F60-8B10-802B-2B075E18D72D}"/>
              </a:ext>
            </a:extLst>
          </p:cNvPr>
          <p:cNvSpPr>
            <a:spLocks noGrp="1"/>
          </p:cNvSpPr>
          <p:nvPr>
            <p:ph idx="1"/>
          </p:nvPr>
        </p:nvSpPr>
        <p:spPr>
          <a:xfrm>
            <a:off x="685800" y="1524000"/>
            <a:ext cx="8305801" cy="5334000"/>
          </a:xfrm>
        </p:spPr>
        <p:txBody>
          <a:bodyPr>
            <a:normAutofit/>
          </a:bodyPr>
          <a:lstStyle/>
          <a:p>
            <a:pPr marL="342900" marR="0" lvl="0" indent="-342900" algn="just" defTabSz="457200" rtl="0" eaLnBrk="1" fontAlgn="auto" latinLnBrk="0" hangingPunct="1">
              <a:lnSpc>
                <a:spcPct val="100000"/>
              </a:lnSpc>
              <a:spcBef>
                <a:spcPts val="1000"/>
              </a:spcBef>
              <a:spcAft>
                <a:spcPts val="0"/>
              </a:spcAft>
              <a:buClr>
                <a:srgbClr val="A53010"/>
              </a:buClr>
              <a:buSzTx/>
              <a:buFont typeface="Wingdings 3" charset="2"/>
              <a:buChar char=""/>
              <a:tabLst/>
              <a:defRPr/>
            </a:pPr>
            <a:r>
              <a:rPr lang="en-US" sz="2400" b="0" i="0" dirty="0">
                <a:solidFill>
                  <a:srgbClr val="111111"/>
                </a:solidFill>
                <a:effectLst/>
                <a:latin typeface="Times New Roman" panose="02020603050405020304" pitchFamily="18" charset="0"/>
                <a:cs typeface="Times New Roman" panose="02020603050405020304" pitchFamily="18" charset="0"/>
              </a:rPr>
              <a:t>ISO 14001 is a set of standards put forward by the </a:t>
            </a:r>
            <a:r>
              <a:rPr kumimoji="0" lang="en-US" sz="2400" b="0" i="0"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International Organization for Standardization (ISO). </a:t>
            </a:r>
          </a:p>
          <a:p>
            <a:pPr algn="just"/>
            <a:r>
              <a:rPr lang="en-IN" sz="2400" b="0" i="0" dirty="0">
                <a:solidFill>
                  <a:schemeClr val="tx1"/>
                </a:solidFill>
                <a:effectLst/>
                <a:latin typeface="Times New Roman" panose="02020603050405020304" pitchFamily="18" charset="0"/>
                <a:cs typeface="Times New Roman" panose="02020603050405020304" pitchFamily="18" charset="0"/>
              </a:rPr>
              <a:t>Standard for an environmental management system</a:t>
            </a:r>
          </a:p>
          <a:p>
            <a:pPr algn="just"/>
            <a:r>
              <a:rPr lang="en-US" sz="2400" b="0" i="0" dirty="0">
                <a:solidFill>
                  <a:schemeClr val="tx1"/>
                </a:solidFill>
                <a:effectLst/>
                <a:latin typeface="Times New Roman" panose="02020603050405020304" pitchFamily="18" charset="0"/>
                <a:cs typeface="Times New Roman" panose="02020603050405020304" pitchFamily="18" charset="0"/>
              </a:rPr>
              <a:t>Defines the requirements for controlling and improving the organization’s environmental impact.</a:t>
            </a:r>
          </a:p>
          <a:p>
            <a:pPr algn="just"/>
            <a:r>
              <a:rPr lang="en-US" sz="2400" b="0" i="0" dirty="0">
                <a:solidFill>
                  <a:schemeClr val="tx1"/>
                </a:solidFill>
                <a:effectLst/>
                <a:latin typeface="Times New Roman" panose="02020603050405020304" pitchFamily="18" charset="0"/>
                <a:cs typeface="Times New Roman" panose="02020603050405020304" pitchFamily="18" charset="0"/>
              </a:rPr>
              <a:t>First implemented in 1996. </a:t>
            </a:r>
          </a:p>
          <a:p>
            <a:pPr algn="just"/>
            <a:r>
              <a:rPr lang="en-US" sz="2400" b="0" i="0" dirty="0">
                <a:solidFill>
                  <a:schemeClr val="tx1"/>
                </a:solidFill>
                <a:effectLst/>
                <a:latin typeface="Times New Roman" panose="02020603050405020304" pitchFamily="18" charset="0"/>
                <a:cs typeface="Times New Roman" panose="02020603050405020304" pitchFamily="18" charset="0"/>
              </a:rPr>
              <a:t>Recommends controls for those processes that have an environmental impact. </a:t>
            </a:r>
          </a:p>
          <a:p>
            <a:pPr lvl="2" algn="just"/>
            <a:r>
              <a:rPr lang="en-US" sz="2000" b="0" i="0" dirty="0">
                <a:solidFill>
                  <a:schemeClr val="tx1"/>
                </a:solidFill>
                <a:effectLst/>
                <a:latin typeface="Times New Roman" panose="02020603050405020304" pitchFamily="18" charset="0"/>
                <a:cs typeface="Times New Roman" panose="02020603050405020304" pitchFamily="18" charset="0"/>
              </a:rPr>
              <a:t>E.g. Use of environment resources, environmental waste management &amp; energy consumption.</a:t>
            </a:r>
          </a:p>
        </p:txBody>
      </p:sp>
    </p:spTree>
    <p:extLst>
      <p:ext uri="{BB962C8B-B14F-4D97-AF65-F5344CB8AC3E}">
        <p14:creationId xmlns:p14="http://schemas.microsoft.com/office/powerpoint/2010/main" val="1438072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86FF3-4287-F1D9-5659-3271A29F7DF9}"/>
              </a:ext>
            </a:extLst>
          </p:cNvPr>
          <p:cNvSpPr>
            <a:spLocks noGrp="1"/>
          </p:cNvSpPr>
          <p:nvPr>
            <p:ph type="title"/>
          </p:nvPr>
        </p:nvSpPr>
        <p:spPr>
          <a:xfrm>
            <a:off x="1447801" y="624110"/>
            <a:ext cx="7086600" cy="823690"/>
          </a:xfrm>
        </p:spPr>
        <p:txBody>
          <a:bodyPr/>
          <a:lstStyle/>
          <a:p>
            <a:r>
              <a:rPr lang="en-US" b="1" i="0" dirty="0">
                <a:solidFill>
                  <a:srgbClr val="666666"/>
                </a:solidFill>
                <a:effectLst/>
                <a:latin typeface="Times New Roman" panose="02020603050405020304" pitchFamily="18" charset="0"/>
                <a:cs typeface="Times New Roman" panose="02020603050405020304" pitchFamily="18" charset="0"/>
              </a:rPr>
              <a:t>Purpose of ISO 14001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54D832-68F4-E4BE-6A98-182A3DFDFED7}"/>
              </a:ext>
            </a:extLst>
          </p:cNvPr>
          <p:cNvSpPr>
            <a:spLocks noGrp="1"/>
          </p:cNvSpPr>
          <p:nvPr>
            <p:ph idx="1"/>
          </p:nvPr>
        </p:nvSpPr>
        <p:spPr>
          <a:xfrm>
            <a:off x="533401" y="1600200"/>
            <a:ext cx="8001000" cy="4311022"/>
          </a:xfrm>
        </p:spPr>
        <p:txBody>
          <a:bodyPr>
            <a:normAutofit/>
          </a:bodyPr>
          <a:lstStyle/>
          <a:p>
            <a:pPr algn="just"/>
            <a:r>
              <a:rPr lang="en-US" sz="2400" b="0" i="0" dirty="0">
                <a:solidFill>
                  <a:schemeClr val="tx1"/>
                </a:solidFill>
                <a:effectLst/>
                <a:latin typeface="Times New Roman" panose="02020603050405020304" pitchFamily="18" charset="0"/>
                <a:cs typeface="Times New Roman" panose="02020603050405020304" pitchFamily="18" charset="0"/>
              </a:rPr>
              <a:t>The main purpose -is to define the </a:t>
            </a:r>
            <a:r>
              <a:rPr lang="en-US" sz="2400" b="0" i="0" strike="noStrike" dirty="0">
                <a:solidFill>
                  <a:schemeClr val="tx1"/>
                </a:solidFill>
                <a:effectLst/>
                <a:latin typeface="Times New Roman" panose="02020603050405020304" pitchFamily="18" charset="0"/>
                <a:cs typeface="Times New Roman" panose="02020603050405020304" pitchFamily="18" charset="0"/>
              </a:rPr>
              <a:t>requirements for the EMS a</a:t>
            </a:r>
            <a:r>
              <a:rPr lang="en-US" sz="2400" b="0" i="0" dirty="0">
                <a:solidFill>
                  <a:schemeClr val="tx1"/>
                </a:solidFill>
                <a:effectLst/>
                <a:latin typeface="Times New Roman" panose="02020603050405020304" pitchFamily="18" charset="0"/>
                <a:cs typeface="Times New Roman" panose="02020603050405020304" pitchFamily="18" charset="0"/>
              </a:rPr>
              <a:t>nd provides guidance for its implementation. </a:t>
            </a:r>
          </a:p>
          <a:p>
            <a:pPr algn="just"/>
            <a:r>
              <a:rPr lang="en-US" sz="2400" b="0" i="0" dirty="0">
                <a:solidFill>
                  <a:schemeClr val="tx1"/>
                </a:solidFill>
                <a:effectLst/>
                <a:latin typeface="Times New Roman" panose="02020603050405020304" pitchFamily="18" charset="0"/>
                <a:cs typeface="Times New Roman" panose="02020603050405020304" pitchFamily="18" charset="0"/>
              </a:rPr>
              <a:t>The standard gives a structured activity for making environmental improvements in the organization</a:t>
            </a:r>
            <a:r>
              <a:rPr lang="en-US" sz="2400" b="0" i="0" dirty="0">
                <a:solidFill>
                  <a:srgbClr val="666666"/>
                </a:solidFill>
                <a:effectLst/>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074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6FB44-D8C0-4F22-49F7-C23FF4A6EBE2}"/>
              </a:ext>
            </a:extLst>
          </p:cNvPr>
          <p:cNvSpPr>
            <a:spLocks noGrp="1"/>
          </p:cNvSpPr>
          <p:nvPr>
            <p:ph type="title"/>
          </p:nvPr>
        </p:nvSpPr>
        <p:spPr>
          <a:xfrm>
            <a:off x="1878723" y="306333"/>
            <a:ext cx="6589199" cy="1280890"/>
          </a:xfrm>
        </p:spPr>
        <p:txBody>
          <a:bodyPr/>
          <a:lstStyle/>
          <a:p>
            <a:r>
              <a:rPr lang="en-IN" b="1" i="0" dirty="0">
                <a:solidFill>
                  <a:srgbClr val="272727"/>
                </a:solidFill>
                <a:effectLst/>
                <a:latin typeface="Times New Roman" panose="02020603050405020304" pitchFamily="18" charset="0"/>
                <a:cs typeface="Times New Roman" panose="02020603050405020304" pitchFamily="18" charset="0"/>
              </a:rPr>
              <a:t>Importance of ISO 14001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850DC0-6030-1871-4644-7CC132853D79}"/>
              </a:ext>
            </a:extLst>
          </p:cNvPr>
          <p:cNvSpPr>
            <a:spLocks noGrp="1"/>
          </p:cNvSpPr>
          <p:nvPr>
            <p:ph idx="1"/>
          </p:nvPr>
        </p:nvSpPr>
        <p:spPr>
          <a:xfrm>
            <a:off x="457201" y="1524000"/>
            <a:ext cx="8077200" cy="4387222"/>
          </a:xfrm>
        </p:spPr>
        <p:txBody>
          <a:bodyPr/>
          <a:lstStyle/>
          <a:p>
            <a:r>
              <a:rPr lang="en-IN" sz="2800" b="0" i="0" dirty="0">
                <a:solidFill>
                  <a:srgbClr val="414141"/>
                </a:solidFill>
                <a:effectLst/>
                <a:latin typeface="Times New Roman" panose="02020603050405020304" pitchFamily="18" charset="0"/>
                <a:cs typeface="Times New Roman" panose="02020603050405020304" pitchFamily="18" charset="0"/>
              </a:rPr>
              <a:t>Corporate and social responsibility</a:t>
            </a:r>
          </a:p>
          <a:p>
            <a:r>
              <a:rPr lang="en-IN" sz="2800" b="0" i="0" dirty="0">
                <a:solidFill>
                  <a:srgbClr val="414141"/>
                </a:solidFill>
                <a:effectLst/>
                <a:latin typeface="Times New Roman" panose="02020603050405020304" pitchFamily="18" charset="0"/>
                <a:cs typeface="Times New Roman" panose="02020603050405020304" pitchFamily="18" charset="0"/>
              </a:rPr>
              <a:t>Supporting environmental change</a:t>
            </a:r>
          </a:p>
          <a:p>
            <a:r>
              <a:rPr lang="en-IN" sz="2800" b="0" i="0" dirty="0">
                <a:solidFill>
                  <a:srgbClr val="414141"/>
                </a:solidFill>
                <a:effectLst/>
                <a:latin typeface="Times New Roman" panose="02020603050405020304" pitchFamily="18" charset="0"/>
                <a:cs typeface="Times New Roman" panose="02020603050405020304" pitchFamily="18" charset="0"/>
              </a:rPr>
              <a:t>Continuous improvement</a:t>
            </a:r>
          </a:p>
          <a:p>
            <a:endParaRPr lang="en-IN" dirty="0"/>
          </a:p>
        </p:txBody>
      </p:sp>
    </p:spTree>
    <p:extLst>
      <p:ext uri="{BB962C8B-B14F-4D97-AF65-F5344CB8AC3E}">
        <p14:creationId xmlns:p14="http://schemas.microsoft.com/office/powerpoint/2010/main" val="5071632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39B5-74A8-410E-2612-D0BF480CE2DD}"/>
              </a:ext>
            </a:extLst>
          </p:cNvPr>
          <p:cNvSpPr>
            <a:spLocks noGrp="1"/>
          </p:cNvSpPr>
          <p:nvPr>
            <p:ph type="title"/>
          </p:nvPr>
        </p:nvSpPr>
        <p:spPr>
          <a:xfrm>
            <a:off x="1447800" y="304800"/>
            <a:ext cx="7696200" cy="914400"/>
          </a:xfrm>
        </p:spPr>
        <p:txBody>
          <a:bodyPr/>
          <a:lstStyle/>
          <a:p>
            <a:r>
              <a:rPr lang="en-US" dirty="0">
                <a:latin typeface="Times New Roman" panose="02020603050405020304" pitchFamily="18" charset="0"/>
                <a:cs typeface="Times New Roman" panose="02020603050405020304" pitchFamily="18" charset="0"/>
              </a:rPr>
              <a:t>Plan-Do-Check-Act Cycle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9CD3228-E48F-4B9C-B2B3-EB1EF39E23A9}"/>
              </a:ext>
            </a:extLst>
          </p:cNvPr>
          <p:cNvSpPr>
            <a:spLocks noGrp="1"/>
          </p:cNvSpPr>
          <p:nvPr>
            <p:ph idx="1"/>
          </p:nvPr>
        </p:nvSpPr>
        <p:spPr>
          <a:xfrm>
            <a:off x="533401" y="2133600"/>
            <a:ext cx="8001000" cy="3777622"/>
          </a:xfrm>
        </p:spPr>
        <p:txBody>
          <a:bodyPr>
            <a:normAutofit/>
          </a:bodyPr>
          <a:lstStyle/>
          <a:p>
            <a:pPr algn="just"/>
            <a:r>
              <a:rPr lang="en-US" sz="2400" b="0" i="0" dirty="0">
                <a:solidFill>
                  <a:srgbClr val="303030"/>
                </a:solidFill>
                <a:effectLst/>
                <a:latin typeface="Times New Roman" panose="02020603050405020304" pitchFamily="18" charset="0"/>
                <a:cs typeface="Times New Roman" panose="02020603050405020304" pitchFamily="18" charset="0"/>
              </a:rPr>
              <a:t>Plan-Do-Check-Act( PDCA), is a cycle for improvement</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originated and made popular by two of the fathers of modern quality control, Walter Shewhart and Edward Deming. </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The cycle is used when implementing a change in order to improve a process</a:t>
            </a:r>
            <a:endParaRPr lang="en-IN" sz="2400" dirty="0">
              <a:latin typeface="Times New Roman" panose="02020603050405020304" pitchFamily="18" charset="0"/>
              <a:cs typeface="Times New Roman" panose="02020603050405020304" pitchFamily="18" charset="0"/>
            </a:endParaRPr>
          </a:p>
        </p:txBody>
      </p:sp>
      <p:pic>
        <p:nvPicPr>
          <p:cNvPr id="4" name="Picture 2" descr="PDCA">
            <a:extLst>
              <a:ext uri="{FF2B5EF4-FFF2-40B4-BE49-F238E27FC236}">
                <a16:creationId xmlns:a16="http://schemas.microsoft.com/office/drawing/2014/main" id="{9868EA9C-D5E8-693D-17A4-722E6D3D4F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4113851"/>
            <a:ext cx="285750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720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070E-D236-3A63-A532-3C7CA727C7C8}"/>
              </a:ext>
            </a:extLst>
          </p:cNvPr>
          <p:cNvSpPr>
            <a:spLocks noGrp="1"/>
          </p:cNvSpPr>
          <p:nvPr>
            <p:ph type="title"/>
          </p:nvPr>
        </p:nvSpPr>
        <p:spPr>
          <a:xfrm>
            <a:off x="609600" y="0"/>
            <a:ext cx="8153400" cy="685800"/>
          </a:xfrm>
        </p:spPr>
        <p:txBody>
          <a:bodyPr/>
          <a:lstStyle/>
          <a:p>
            <a:r>
              <a:rPr lang="en-US" dirty="0">
                <a:latin typeface="Times New Roman" panose="02020603050405020304" pitchFamily="18" charset="0"/>
                <a:cs typeface="Times New Roman" panose="02020603050405020304" pitchFamily="18" charset="0"/>
              </a:rPr>
              <a:t>Plan-Do-Check-Act Cycle in ISO 14001 </a:t>
            </a:r>
            <a:endParaRPr lang="en-IN" dirty="0"/>
          </a:p>
        </p:txBody>
      </p:sp>
      <p:sp>
        <p:nvSpPr>
          <p:cNvPr id="3" name="Content Placeholder 2">
            <a:extLst>
              <a:ext uri="{FF2B5EF4-FFF2-40B4-BE49-F238E27FC236}">
                <a16:creationId xmlns:a16="http://schemas.microsoft.com/office/drawing/2014/main" id="{430D82F9-FB6D-E975-AB78-5D27E7671050}"/>
              </a:ext>
            </a:extLst>
          </p:cNvPr>
          <p:cNvSpPr>
            <a:spLocks noGrp="1"/>
          </p:cNvSpPr>
          <p:nvPr>
            <p:ph idx="1"/>
          </p:nvPr>
        </p:nvSpPr>
        <p:spPr>
          <a:xfrm>
            <a:off x="381001" y="1295400"/>
            <a:ext cx="8381999" cy="5334000"/>
          </a:xfrm>
        </p:spPr>
        <p:txBody>
          <a:bodyPr>
            <a:normAutofit/>
          </a:bodyPr>
          <a:lstStyle/>
          <a:p>
            <a:pPr algn="just"/>
            <a:r>
              <a:rPr lang="en-US" sz="2000" b="1" i="0" dirty="0">
                <a:solidFill>
                  <a:srgbClr val="303030"/>
                </a:solidFill>
                <a:effectLst/>
                <a:latin typeface="Times New Roman" panose="02020603050405020304" pitchFamily="18" charset="0"/>
                <a:cs typeface="Times New Roman" panose="02020603050405020304" pitchFamily="18" charset="0"/>
              </a:rPr>
              <a:t>Plan.</a:t>
            </a:r>
            <a:r>
              <a:rPr lang="en-US" sz="2000" b="0" i="0" dirty="0">
                <a:solidFill>
                  <a:srgbClr val="303030"/>
                </a:solidFill>
                <a:effectLst/>
                <a:latin typeface="Times New Roman" panose="02020603050405020304" pitchFamily="18" charset="0"/>
                <a:cs typeface="Times New Roman" panose="02020603050405020304" pitchFamily="18" charset="0"/>
              </a:rPr>
              <a:t> Starting with </a:t>
            </a:r>
            <a:r>
              <a:rPr lang="en-US" sz="2000" b="0" i="1" dirty="0">
                <a:solidFill>
                  <a:srgbClr val="303030"/>
                </a:solidFill>
                <a:effectLst/>
                <a:latin typeface="Times New Roman" panose="02020603050405020304" pitchFamily="18" charset="0"/>
                <a:cs typeface="Times New Roman" panose="02020603050405020304" pitchFamily="18" charset="0"/>
              </a:rPr>
              <a:t>understanding the context of your organization and what the needs and expectations.</a:t>
            </a:r>
            <a:endParaRPr lang="en-US" sz="2000" b="0" i="0" dirty="0">
              <a:solidFill>
                <a:srgbClr val="303030"/>
              </a:solidFill>
              <a:effectLst/>
              <a:latin typeface="Times New Roman" panose="02020603050405020304" pitchFamily="18" charset="0"/>
              <a:cs typeface="Times New Roman" panose="02020603050405020304" pitchFamily="18" charset="0"/>
            </a:endParaRPr>
          </a:p>
          <a:p>
            <a:pPr algn="just"/>
            <a:r>
              <a:rPr lang="en-US" sz="2000" b="0" i="0" dirty="0">
                <a:solidFill>
                  <a:srgbClr val="303030"/>
                </a:solidFill>
                <a:effectLst/>
                <a:latin typeface="Times New Roman" panose="02020603050405020304" pitchFamily="18" charset="0"/>
                <a:cs typeface="Times New Roman" panose="02020603050405020304" pitchFamily="18" charset="0"/>
              </a:rPr>
              <a:t>Then determine what </a:t>
            </a:r>
            <a:r>
              <a:rPr lang="en-US" sz="2000" b="0" i="1" dirty="0">
                <a:solidFill>
                  <a:srgbClr val="303030"/>
                </a:solidFill>
                <a:effectLst/>
                <a:latin typeface="Times New Roman" panose="02020603050405020304" pitchFamily="18" charset="0"/>
                <a:cs typeface="Times New Roman" panose="02020603050405020304" pitchFamily="18" charset="0"/>
              </a:rPr>
              <a:t> EMS scope is and define EMS </a:t>
            </a:r>
          </a:p>
          <a:p>
            <a:pPr algn="just"/>
            <a:r>
              <a:rPr lang="en-US" sz="2000" b="0" i="0" dirty="0">
                <a:solidFill>
                  <a:srgbClr val="303030"/>
                </a:solidFill>
                <a:effectLst/>
                <a:latin typeface="Times New Roman" panose="02020603050405020304" pitchFamily="18" charset="0"/>
                <a:cs typeface="Times New Roman" panose="02020603050405020304" pitchFamily="18" charset="0"/>
              </a:rPr>
              <a:t>Identify leadership commitment  ,set your environmental policy to guide your EMS and identify the roles, responsibilities and authorities required</a:t>
            </a:r>
          </a:p>
          <a:p>
            <a:pPr algn="just"/>
            <a:r>
              <a:rPr lang="en-US" sz="2000" b="0" i="0" dirty="0">
                <a:solidFill>
                  <a:srgbClr val="303030"/>
                </a:solidFill>
                <a:effectLst/>
                <a:latin typeface="Times New Roman" panose="02020603050405020304" pitchFamily="18" charset="0"/>
                <a:cs typeface="Times New Roman" panose="02020603050405020304" pitchFamily="18" charset="0"/>
              </a:rPr>
              <a:t>address the risks and opportunities within your EMS including how to interact with the environment and your legal compliance obligations  as well as setting and planning to achieve environmental objectives for improvement </a:t>
            </a:r>
          </a:p>
          <a:p>
            <a:pPr algn="just"/>
            <a:r>
              <a:rPr lang="en-US" sz="2000" b="0" i="0" dirty="0">
                <a:solidFill>
                  <a:srgbClr val="303030"/>
                </a:solidFill>
                <a:effectLst/>
                <a:latin typeface="Times New Roman" panose="02020603050405020304" pitchFamily="18" charset="0"/>
                <a:cs typeface="Times New Roman" panose="02020603050405020304" pitchFamily="18" charset="0"/>
              </a:rPr>
              <a:t>The final stage involves support processes such as setting processes for assigning resources ,identifying competence requirements and what awareness is required within your EMS.</a:t>
            </a:r>
          </a:p>
          <a:p>
            <a:pPr algn="just"/>
            <a:r>
              <a:rPr lang="en-US" sz="2000" b="0" i="0" dirty="0">
                <a:solidFill>
                  <a:srgbClr val="303030"/>
                </a:solidFill>
                <a:effectLst/>
                <a:latin typeface="Times New Roman" panose="02020603050405020304" pitchFamily="18" charset="0"/>
                <a:cs typeface="Times New Roman" panose="02020603050405020304" pitchFamily="18" charset="0"/>
              </a:rPr>
              <a:t> The process for internal and external communication and creating and controlling documented information for the EMS complete these support processes.</a:t>
            </a:r>
          </a:p>
          <a:p>
            <a:endParaRPr lang="en-IN" dirty="0"/>
          </a:p>
        </p:txBody>
      </p:sp>
    </p:spTree>
    <p:extLst>
      <p:ext uri="{BB962C8B-B14F-4D97-AF65-F5344CB8AC3E}">
        <p14:creationId xmlns:p14="http://schemas.microsoft.com/office/powerpoint/2010/main" val="1499297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119A1C-6B20-9D98-FDBE-568DE4312EA8}"/>
              </a:ext>
            </a:extLst>
          </p:cNvPr>
          <p:cNvSpPr>
            <a:spLocks noGrp="1"/>
          </p:cNvSpPr>
          <p:nvPr>
            <p:ph idx="1"/>
          </p:nvPr>
        </p:nvSpPr>
        <p:spPr>
          <a:xfrm>
            <a:off x="838200" y="1219200"/>
            <a:ext cx="8153399" cy="4692022"/>
          </a:xfrm>
        </p:spPr>
        <p:txBody>
          <a:bodyPr>
            <a:normAutofit/>
          </a:bodyPr>
          <a:lstStyle/>
          <a:p>
            <a:pPr algn="just"/>
            <a:r>
              <a:rPr lang="en-US" sz="2400" b="1" i="0" dirty="0">
                <a:solidFill>
                  <a:srgbClr val="303030"/>
                </a:solidFill>
                <a:effectLst/>
                <a:latin typeface="Times New Roman" panose="02020603050405020304" pitchFamily="18" charset="0"/>
                <a:cs typeface="Times New Roman" panose="02020603050405020304" pitchFamily="18" charset="0"/>
              </a:rPr>
              <a:t>Do.</a:t>
            </a:r>
            <a:r>
              <a:rPr lang="en-US" sz="2400" b="0" i="0" dirty="0">
                <a:solidFill>
                  <a:srgbClr val="303030"/>
                </a:solidFill>
                <a:effectLst/>
                <a:latin typeface="Times New Roman" panose="02020603050405020304" pitchFamily="18" charset="0"/>
                <a:cs typeface="Times New Roman" panose="02020603050405020304" pitchFamily="18" charset="0"/>
              </a:rPr>
              <a:t> what processes are important to establish and maintain in order to have a strong and successful EMS. </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The starting point is in </a:t>
            </a:r>
            <a:r>
              <a:rPr lang="en-US" sz="2400" b="0" i="1" dirty="0">
                <a:solidFill>
                  <a:srgbClr val="303030"/>
                </a:solidFill>
                <a:effectLst/>
                <a:latin typeface="Times New Roman" panose="02020603050405020304" pitchFamily="18" charset="0"/>
                <a:cs typeface="Times New Roman" panose="02020603050405020304" pitchFamily="18" charset="0"/>
              </a:rPr>
              <a:t>establishing the operational controls </a:t>
            </a:r>
            <a:r>
              <a:rPr lang="en-US" sz="2400" b="0" i="0" dirty="0">
                <a:solidFill>
                  <a:srgbClr val="303030"/>
                </a:solidFill>
                <a:effectLst/>
                <a:latin typeface="Times New Roman" panose="02020603050405020304" pitchFamily="18" charset="0"/>
                <a:cs typeface="Times New Roman" panose="02020603050405020304" pitchFamily="18" charset="0"/>
              </a:rPr>
              <a:t>needed to ensure that the processes of the organization can function in such a way that negative effects on the environment are controlled. </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The final step is to </a:t>
            </a:r>
            <a:r>
              <a:rPr lang="en-US" sz="2400" b="0" i="1" dirty="0">
                <a:solidFill>
                  <a:srgbClr val="303030"/>
                </a:solidFill>
                <a:effectLst/>
                <a:latin typeface="Times New Roman" panose="02020603050405020304" pitchFamily="18" charset="0"/>
                <a:cs typeface="Times New Roman" panose="02020603050405020304" pitchFamily="18" charset="0"/>
              </a:rPr>
              <a:t>have the plans in place for emergency preparedness and response</a:t>
            </a:r>
            <a:r>
              <a:rPr lang="en-US" sz="2400" b="0" i="0" dirty="0">
                <a:solidFill>
                  <a:srgbClr val="303030"/>
                </a:solidFill>
                <a:effectLst/>
                <a:latin typeface="Times New Roman" panose="02020603050405020304" pitchFamily="18" charset="0"/>
                <a:cs typeface="Times New Roman" panose="02020603050405020304" pitchFamily="18" charset="0"/>
              </a:rPr>
              <a:t> </a:t>
            </a:r>
            <a:r>
              <a:rPr lang="en-US" sz="2400" dirty="0">
                <a:solidFill>
                  <a:srgbClr val="303030"/>
                </a:solidFill>
                <a:latin typeface="Times New Roman" panose="02020603050405020304" pitchFamily="18" charset="0"/>
                <a:cs typeface="Times New Roman" panose="02020603050405020304" pitchFamily="18" charset="0"/>
              </a:rPr>
              <a:t>,if </a:t>
            </a:r>
            <a:r>
              <a:rPr lang="en-US" sz="2400" b="0" i="0" dirty="0">
                <a:solidFill>
                  <a:srgbClr val="303030"/>
                </a:solidFill>
                <a:effectLst/>
                <a:latin typeface="Times New Roman" panose="02020603050405020304" pitchFamily="18" charset="0"/>
                <a:cs typeface="Times New Roman" panose="02020603050405020304" pitchFamily="18" charset="0"/>
              </a:rPr>
              <a:t>anything actually go wrong.</a:t>
            </a:r>
          </a:p>
          <a:p>
            <a:endParaRPr lang="en-IN" dirty="0"/>
          </a:p>
        </p:txBody>
      </p:sp>
    </p:spTree>
    <p:extLst>
      <p:ext uri="{BB962C8B-B14F-4D97-AF65-F5344CB8AC3E}">
        <p14:creationId xmlns:p14="http://schemas.microsoft.com/office/powerpoint/2010/main" val="39667195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19E5E-8B52-698D-A869-B20D3D0892E7}"/>
              </a:ext>
            </a:extLst>
          </p:cNvPr>
          <p:cNvSpPr>
            <a:spLocks noGrp="1"/>
          </p:cNvSpPr>
          <p:nvPr>
            <p:ph idx="1"/>
          </p:nvPr>
        </p:nvSpPr>
        <p:spPr>
          <a:xfrm>
            <a:off x="1295400" y="304800"/>
            <a:ext cx="7696199" cy="6172200"/>
          </a:xfrm>
        </p:spPr>
        <p:txBody>
          <a:bodyPr>
            <a:normAutofit/>
          </a:bodyPr>
          <a:lstStyle/>
          <a:p>
            <a:pPr algn="just"/>
            <a:r>
              <a:rPr lang="en-US" sz="2400" b="1" i="0" dirty="0">
                <a:solidFill>
                  <a:srgbClr val="303030"/>
                </a:solidFill>
                <a:effectLst/>
                <a:latin typeface="Times New Roman" panose="02020603050405020304" pitchFamily="18" charset="0"/>
                <a:cs typeface="Times New Roman" panose="02020603050405020304" pitchFamily="18" charset="0"/>
              </a:rPr>
              <a:t>Check.</a:t>
            </a:r>
            <a:r>
              <a:rPr lang="en-US" sz="2400" b="0" i="0" dirty="0">
                <a:solidFill>
                  <a:srgbClr val="303030"/>
                </a:solidFill>
                <a:effectLst/>
                <a:latin typeface="Times New Roman" panose="02020603050405020304" pitchFamily="18" charset="0"/>
                <a:cs typeface="Times New Roman" panose="02020603050405020304" pitchFamily="18" charset="0"/>
              </a:rPr>
              <a:t> performance evaluation</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The methods :</a:t>
            </a:r>
            <a:r>
              <a:rPr lang="en-US" sz="2400" b="0" i="1" dirty="0">
                <a:solidFill>
                  <a:srgbClr val="303030"/>
                </a:solidFill>
                <a:effectLst/>
                <a:latin typeface="Times New Roman" panose="02020603050405020304" pitchFamily="18" charset="0"/>
                <a:cs typeface="Times New Roman" panose="02020603050405020304" pitchFamily="18" charset="0"/>
              </a:rPr>
              <a:t>monitoring, measurement, analysis and evaluation</a:t>
            </a:r>
            <a:r>
              <a:rPr lang="en-US" sz="2400" b="0" i="0" dirty="0">
                <a:solidFill>
                  <a:srgbClr val="303030"/>
                </a:solidFill>
                <a:effectLst/>
                <a:latin typeface="Times New Roman" panose="02020603050405020304" pitchFamily="18" charset="0"/>
                <a:cs typeface="Times New Roman" panose="02020603050405020304" pitchFamily="18" charset="0"/>
              </a:rPr>
              <a:t> which applies to the key characteristics of the organization that can have significant impact on the environment as well as an evaluation of compliance.</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Second </a:t>
            </a:r>
            <a:r>
              <a:rPr lang="en-US" sz="2400" b="0" i="0" dirty="0" err="1">
                <a:solidFill>
                  <a:srgbClr val="303030"/>
                </a:solidFill>
                <a:effectLst/>
                <a:latin typeface="Times New Roman" panose="02020603050405020304" pitchFamily="18" charset="0"/>
                <a:cs typeface="Times New Roman" panose="02020603050405020304" pitchFamily="18" charset="0"/>
              </a:rPr>
              <a:t>method:</a:t>
            </a:r>
            <a:r>
              <a:rPr lang="en-US" sz="2400" b="0" i="1" dirty="0" err="1">
                <a:solidFill>
                  <a:srgbClr val="303030"/>
                </a:solidFill>
                <a:effectLst/>
                <a:latin typeface="Times New Roman" panose="02020603050405020304" pitchFamily="18" charset="0"/>
                <a:cs typeface="Times New Roman" panose="02020603050405020304" pitchFamily="18" charset="0"/>
              </a:rPr>
              <a:t>internal</a:t>
            </a:r>
            <a:r>
              <a:rPr lang="en-US" sz="2400" b="0" i="1" dirty="0">
                <a:solidFill>
                  <a:srgbClr val="303030"/>
                </a:solidFill>
                <a:effectLst/>
                <a:latin typeface="Times New Roman" panose="02020603050405020304" pitchFamily="18" charset="0"/>
                <a:cs typeface="Times New Roman" panose="02020603050405020304" pitchFamily="18" charset="0"/>
              </a:rPr>
              <a:t> audits </a:t>
            </a:r>
            <a:r>
              <a:rPr lang="en-US" sz="2400" b="0" i="0" dirty="0">
                <a:solidFill>
                  <a:srgbClr val="303030"/>
                </a:solidFill>
                <a:effectLst/>
                <a:latin typeface="Times New Roman" panose="02020603050405020304" pitchFamily="18" charset="0"/>
                <a:cs typeface="Times New Roman" panose="02020603050405020304" pitchFamily="18" charset="0"/>
              </a:rPr>
              <a:t>which is a systematic way to review the processes of the EMS to validate that they are meeting the planned arrangements that are set out for them. </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The final section :involves having </a:t>
            </a:r>
            <a:r>
              <a:rPr lang="en-US" sz="2400" b="0" i="1" dirty="0">
                <a:solidFill>
                  <a:srgbClr val="303030"/>
                </a:solidFill>
                <a:effectLst/>
                <a:latin typeface="Times New Roman" panose="02020603050405020304" pitchFamily="18" charset="0"/>
                <a:cs typeface="Times New Roman" panose="02020603050405020304" pitchFamily="18" charset="0"/>
              </a:rPr>
              <a:t>management of the organization review the information collected </a:t>
            </a:r>
            <a:r>
              <a:rPr lang="en-US" sz="2400" b="0" i="0" dirty="0">
                <a:solidFill>
                  <a:srgbClr val="303030"/>
                </a:solidFill>
                <a:effectLst/>
                <a:latin typeface="Times New Roman" panose="02020603050405020304" pitchFamily="18" charset="0"/>
                <a:cs typeface="Times New Roman" panose="02020603050405020304" pitchFamily="18" charset="0"/>
              </a:rPr>
              <a:t>in the checking processes; this is called management review</a:t>
            </a:r>
            <a:endParaRPr lang="en-IN" dirty="0"/>
          </a:p>
        </p:txBody>
      </p:sp>
    </p:spTree>
    <p:extLst>
      <p:ext uri="{BB962C8B-B14F-4D97-AF65-F5344CB8AC3E}">
        <p14:creationId xmlns:p14="http://schemas.microsoft.com/office/powerpoint/2010/main" val="3711512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7DCEB1-D443-4478-D70F-8B0E4465F03E}"/>
              </a:ext>
            </a:extLst>
          </p:cNvPr>
          <p:cNvSpPr>
            <a:spLocks noGrp="1"/>
          </p:cNvSpPr>
          <p:nvPr>
            <p:ph idx="1"/>
          </p:nvPr>
        </p:nvSpPr>
        <p:spPr>
          <a:xfrm>
            <a:off x="1066800" y="533400"/>
            <a:ext cx="7391399" cy="6096000"/>
          </a:xfrm>
        </p:spPr>
        <p:txBody>
          <a:bodyPr>
            <a:normAutofit/>
          </a:bodyPr>
          <a:lstStyle/>
          <a:p>
            <a:pPr algn="just"/>
            <a:r>
              <a:rPr lang="en-US" sz="2400" b="1" i="0" dirty="0">
                <a:solidFill>
                  <a:srgbClr val="303030"/>
                </a:solidFill>
                <a:effectLst/>
                <a:latin typeface="Times New Roman" panose="02020603050405020304" pitchFamily="18" charset="0"/>
                <a:cs typeface="Times New Roman" panose="02020603050405020304" pitchFamily="18" charset="0"/>
              </a:rPr>
              <a:t>Act.</a:t>
            </a:r>
            <a:r>
              <a:rPr lang="en-US" sz="2400" b="0" i="0" dirty="0">
                <a:solidFill>
                  <a:srgbClr val="303030"/>
                </a:solidFill>
                <a:effectLst/>
                <a:latin typeface="Times New Roman" panose="02020603050405020304" pitchFamily="18" charset="0"/>
                <a:cs typeface="Times New Roman" panose="02020603050405020304" pitchFamily="18" charset="0"/>
              </a:rPr>
              <a:t>  </a:t>
            </a:r>
            <a:r>
              <a:rPr lang="en-US" sz="2400" b="0" i="1" dirty="0">
                <a:solidFill>
                  <a:srgbClr val="303030"/>
                </a:solidFill>
                <a:effectLst/>
                <a:latin typeface="Times New Roman" panose="02020603050405020304" pitchFamily="18" charset="0"/>
                <a:cs typeface="Times New Roman" panose="02020603050405020304" pitchFamily="18" charset="0"/>
              </a:rPr>
              <a:t>dealing with nonconformity and corrective action  </a:t>
            </a:r>
            <a:r>
              <a:rPr lang="en-US" sz="2400" b="0" i="0" dirty="0">
                <a:solidFill>
                  <a:srgbClr val="303030"/>
                </a:solidFill>
                <a:effectLst/>
                <a:latin typeface="Times New Roman" panose="02020603050405020304" pitchFamily="18" charset="0"/>
                <a:cs typeface="Times New Roman" panose="02020603050405020304" pitchFamily="18" charset="0"/>
              </a:rPr>
              <a:t>in order to fix problems found during performance evaluation. This activity is done in order to react to the information gathered and make any necessary adjustment to the plans for the EMS. </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If a target has been met, then a new target can be chosen. If there are problems reaching a target, then resources for the program can be reviewed and adjustments made. These activities are completed with requirements for continual improvement as a way to ensure the EMS improves over time.</a:t>
            </a:r>
          </a:p>
          <a:p>
            <a:pPr algn="just"/>
            <a:r>
              <a:rPr lang="en-US" sz="2400" b="0" i="0" dirty="0">
                <a:solidFill>
                  <a:srgbClr val="303030"/>
                </a:solidFill>
                <a:effectLst/>
                <a:latin typeface="Times New Roman" panose="02020603050405020304" pitchFamily="18" charset="0"/>
                <a:cs typeface="Times New Roman" panose="02020603050405020304" pitchFamily="18" charset="0"/>
              </a:rPr>
              <a:t> This Act phase allows the plans to be modified so that the cycle of improvement, Plan-Do-Check-Act, can start again.</a:t>
            </a:r>
          </a:p>
          <a:p>
            <a:endParaRPr lang="en-IN" dirty="0"/>
          </a:p>
        </p:txBody>
      </p:sp>
    </p:spTree>
    <p:extLst>
      <p:ext uri="{BB962C8B-B14F-4D97-AF65-F5344CB8AC3E}">
        <p14:creationId xmlns:p14="http://schemas.microsoft.com/office/powerpoint/2010/main" val="41115743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3CC6A-8C6E-644A-A706-69E9609982C8}"/>
              </a:ext>
            </a:extLst>
          </p:cNvPr>
          <p:cNvSpPr>
            <a:spLocks noGrp="1"/>
          </p:cNvSpPr>
          <p:nvPr>
            <p:ph type="title"/>
          </p:nvPr>
        </p:nvSpPr>
        <p:spPr>
          <a:xfrm>
            <a:off x="1277400" y="0"/>
            <a:ext cx="6589199" cy="1280890"/>
          </a:xfrm>
        </p:spPr>
        <p:txBody>
          <a:bodyPr>
            <a:normAutofit/>
          </a:bodyPr>
          <a:lstStyle/>
          <a:p>
            <a:r>
              <a:rPr lang="en-IN" b="1" i="0" dirty="0">
                <a:solidFill>
                  <a:srgbClr val="222222"/>
                </a:solidFill>
                <a:effectLst/>
                <a:latin typeface="Times New Roman" panose="02020603050405020304" pitchFamily="18" charset="0"/>
                <a:cs typeface="Times New Roman" panose="02020603050405020304" pitchFamily="18" charset="0"/>
              </a:rPr>
              <a:t>ISO 14001 implementation steps</a:t>
            </a:r>
            <a:br>
              <a:rPr lang="en-IN" b="1" i="0" dirty="0">
                <a:solidFill>
                  <a:srgbClr val="222222"/>
                </a:solidFill>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17E851-C223-6283-5B71-2C0199382CDA}"/>
              </a:ext>
            </a:extLst>
          </p:cNvPr>
          <p:cNvSpPr>
            <a:spLocks noGrp="1"/>
          </p:cNvSpPr>
          <p:nvPr>
            <p:ph idx="1"/>
          </p:nvPr>
        </p:nvSpPr>
        <p:spPr>
          <a:xfrm>
            <a:off x="838200" y="1524000"/>
            <a:ext cx="8077200" cy="5105400"/>
          </a:xfrm>
        </p:spPr>
        <p:txBody>
          <a:bodyPr>
            <a:normAutofit/>
          </a:bodyPr>
          <a:lstStyle/>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Obtain management support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Identify legal requirements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Define EMS scope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Define EMS procedures and processes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Implement EMS procedures and processes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Perform training and awareness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Operate the EMS; measure and keep records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Perform internal audits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Perform management review</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Implement corrective actions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Certification audit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934470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33D9E-88B5-FF8E-864F-29AD09FAD80A}"/>
              </a:ext>
            </a:extLst>
          </p:cNvPr>
          <p:cNvSpPr>
            <a:spLocks noGrp="1"/>
          </p:cNvSpPr>
          <p:nvPr>
            <p:ph type="title"/>
          </p:nvPr>
        </p:nvSpPr>
        <p:spPr>
          <a:xfrm>
            <a:off x="457201" y="0"/>
            <a:ext cx="8077200" cy="762000"/>
          </a:xfrm>
        </p:spPr>
        <p:txBody>
          <a:bodyPr/>
          <a:lstStyle/>
          <a:p>
            <a:r>
              <a:rPr lang="en-US" dirty="0">
                <a:latin typeface="Times New Roman" panose="02020603050405020304" pitchFamily="18" charset="0"/>
                <a:cs typeface="Times New Roman" panose="02020603050405020304" pitchFamily="18" charset="0"/>
              </a:rPr>
              <a:t>Benefits of using ISO 14001</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37FFFC-4C2F-F871-5219-52A2FD8F07DD}"/>
              </a:ext>
            </a:extLst>
          </p:cNvPr>
          <p:cNvSpPr>
            <a:spLocks noGrp="1"/>
          </p:cNvSpPr>
          <p:nvPr>
            <p:ph idx="1"/>
          </p:nvPr>
        </p:nvSpPr>
        <p:spPr>
          <a:xfrm>
            <a:off x="457201" y="1219200"/>
            <a:ext cx="8077200" cy="5638800"/>
          </a:xfrm>
        </p:spPr>
        <p:txBody>
          <a:bodyPr>
            <a:normAutofit/>
          </a:bodyPr>
          <a:lstStyle/>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Improve resource efficiency</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Reduce waste</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Drive down costs</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Provide assurance that environmental impact is being measured</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Gain competitive advantage in supply chain design</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Increase new business opportunities</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Meet legal obligations</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Increase stakeholder and customer trust</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Improve overall environmental impact</a:t>
            </a:r>
          </a:p>
          <a:p>
            <a:pPr algn="l">
              <a:buFont typeface="Arial" panose="020B0604020202020204" pitchFamily="34" charset="0"/>
              <a:buChar char="•"/>
            </a:pPr>
            <a:r>
              <a:rPr lang="en-US" sz="2400" b="0" i="0" dirty="0">
                <a:solidFill>
                  <a:srgbClr val="090909"/>
                </a:solidFill>
                <a:effectLst/>
                <a:latin typeface="Times New Roman" panose="02020603050405020304" pitchFamily="18" charset="0"/>
                <a:cs typeface="Times New Roman" panose="02020603050405020304" pitchFamily="18" charset="0"/>
              </a:rPr>
              <a:t>Manage environmental obligations with consistency </a:t>
            </a:r>
          </a:p>
          <a:p>
            <a:pPr marL="0" indent="0">
              <a:buNone/>
            </a:pPr>
            <a:endParaRPr lang="en-IN" dirty="0"/>
          </a:p>
        </p:txBody>
      </p:sp>
    </p:spTree>
    <p:extLst>
      <p:ext uri="{BB962C8B-B14F-4D97-AF65-F5344CB8AC3E}">
        <p14:creationId xmlns:p14="http://schemas.microsoft.com/office/powerpoint/2010/main" val="1892026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FA48D-054D-21AD-97B5-DA88E8E1342C}"/>
              </a:ext>
            </a:extLst>
          </p:cNvPr>
          <p:cNvSpPr>
            <a:spLocks noGrp="1"/>
          </p:cNvSpPr>
          <p:nvPr>
            <p:ph type="title"/>
          </p:nvPr>
        </p:nvSpPr>
        <p:spPr>
          <a:xfrm>
            <a:off x="1447801" y="228600"/>
            <a:ext cx="7086600" cy="685800"/>
          </a:xfrm>
        </p:spPr>
        <p:txBody>
          <a:bodyPr/>
          <a:lstStyle/>
          <a:p>
            <a:r>
              <a:rPr lang="en-US" b="0" i="0" dirty="0">
                <a:solidFill>
                  <a:srgbClr val="303030"/>
                </a:solidFill>
                <a:effectLst/>
                <a:latin typeface="Times New Roman" panose="02020603050405020304" pitchFamily="18" charset="0"/>
                <a:cs typeface="Times New Roman" panose="02020603050405020304" pitchFamily="18" charset="0"/>
              </a:rPr>
              <a:t>ISO 14001 structure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A57CCC-78A3-704C-AB19-FFB60FEFDF47}"/>
              </a:ext>
            </a:extLst>
          </p:cNvPr>
          <p:cNvSpPr>
            <a:spLocks noGrp="1"/>
          </p:cNvSpPr>
          <p:nvPr>
            <p:ph idx="1"/>
          </p:nvPr>
        </p:nvSpPr>
        <p:spPr>
          <a:xfrm>
            <a:off x="381000" y="1447800"/>
            <a:ext cx="8610599" cy="5410200"/>
          </a:xfrm>
        </p:spPr>
        <p:txBody>
          <a:bodyPr>
            <a:normAutofit/>
          </a:bodyPr>
          <a:lstStyle/>
          <a:p>
            <a:pPr algn="just"/>
            <a:r>
              <a:rPr lang="en-US" b="0" i="0" dirty="0">
                <a:solidFill>
                  <a:srgbClr val="303030"/>
                </a:solidFill>
                <a:effectLst/>
                <a:latin typeface="Times New Roman" panose="02020603050405020304" pitchFamily="18" charset="0"/>
                <a:cs typeface="Times New Roman" panose="02020603050405020304" pitchFamily="18" charset="0"/>
              </a:rPr>
              <a:t>is split into ten sections. The first three are introductory, with the last seven containing the requirements for the environmental management system. Here is what the seven main sections are about:</a:t>
            </a:r>
          </a:p>
          <a:p>
            <a:pPr algn="just"/>
            <a:r>
              <a:rPr lang="en-US" b="1" i="0" dirty="0">
                <a:solidFill>
                  <a:srgbClr val="303030"/>
                </a:solidFill>
                <a:effectLst/>
                <a:latin typeface="Times New Roman" panose="02020603050405020304" pitchFamily="18" charset="0"/>
                <a:cs typeface="Times New Roman" panose="02020603050405020304" pitchFamily="18" charset="0"/>
              </a:rPr>
              <a:t>Section 4: Context of the organization</a:t>
            </a:r>
            <a:r>
              <a:rPr lang="en-US" b="0" i="0" dirty="0">
                <a:solidFill>
                  <a:srgbClr val="303030"/>
                </a:solidFill>
                <a:effectLst/>
                <a:latin typeface="Times New Roman" panose="02020603050405020304" pitchFamily="18" charset="0"/>
                <a:cs typeface="Times New Roman" panose="02020603050405020304" pitchFamily="18" charset="0"/>
              </a:rPr>
              <a:t> – about requirements for understanding your organization in order to implement an EMS. It includes the requirements for identifying internal and external issues, identifying interested parties and their expectations, defining the scope of the EMS and identifying the processes required for the EMS.</a:t>
            </a:r>
          </a:p>
          <a:p>
            <a:pPr algn="just"/>
            <a:r>
              <a:rPr lang="en-US" b="1" i="0" dirty="0">
                <a:solidFill>
                  <a:srgbClr val="303030"/>
                </a:solidFill>
                <a:effectLst/>
                <a:latin typeface="Times New Roman" panose="02020603050405020304" pitchFamily="18" charset="0"/>
                <a:cs typeface="Times New Roman" panose="02020603050405020304" pitchFamily="18" charset="0"/>
              </a:rPr>
              <a:t>Section 5: Leadership</a:t>
            </a:r>
            <a:r>
              <a:rPr lang="en-US" b="0" i="0" dirty="0">
                <a:solidFill>
                  <a:srgbClr val="303030"/>
                </a:solidFill>
                <a:effectLst/>
                <a:latin typeface="Times New Roman" panose="02020603050405020304" pitchFamily="18" charset="0"/>
                <a:cs typeface="Times New Roman" panose="02020603050405020304" pitchFamily="18" charset="0"/>
              </a:rPr>
              <a:t> – cover the need for top management to be instrumental in the implementation of the EMS. </a:t>
            </a:r>
          </a:p>
          <a:p>
            <a:pPr algn="just"/>
            <a:r>
              <a:rPr lang="en-US" b="0" i="0" dirty="0">
                <a:solidFill>
                  <a:srgbClr val="303030"/>
                </a:solidFill>
                <a:effectLst/>
                <a:latin typeface="Times New Roman" panose="02020603050405020304" pitchFamily="18" charset="0"/>
                <a:cs typeface="Times New Roman" panose="02020603050405020304" pitchFamily="18" charset="0"/>
              </a:rPr>
              <a:t>Top management needs to demonstrate commitment to the EMS by ensuring environmental commitment, defining and communicating the environmental policy and assigning roles and responsibilities throughout the organization.</a:t>
            </a:r>
          </a:p>
          <a:p>
            <a:endParaRPr lang="en-IN" dirty="0"/>
          </a:p>
        </p:txBody>
      </p:sp>
    </p:spTree>
    <p:extLst>
      <p:ext uri="{BB962C8B-B14F-4D97-AF65-F5344CB8AC3E}">
        <p14:creationId xmlns:p14="http://schemas.microsoft.com/office/powerpoint/2010/main" val="3177991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0BB06A-88F8-2DC9-91DE-6320A02BAD66}"/>
              </a:ext>
            </a:extLst>
          </p:cNvPr>
          <p:cNvSpPr>
            <a:spLocks noGrp="1"/>
          </p:cNvSpPr>
          <p:nvPr>
            <p:ph idx="1"/>
          </p:nvPr>
        </p:nvSpPr>
        <p:spPr>
          <a:xfrm>
            <a:off x="1371599" y="762000"/>
            <a:ext cx="7620001" cy="5943600"/>
          </a:xfrm>
        </p:spPr>
        <p:txBody>
          <a:bodyPr>
            <a:normAutofit/>
          </a:bodyPr>
          <a:lstStyle/>
          <a:p>
            <a:pPr algn="just"/>
            <a:r>
              <a:rPr lang="en-US" dirty="0">
                <a:solidFill>
                  <a:srgbClr val="303030"/>
                </a:solidFill>
                <a:latin typeface="Times New Roman" panose="02020603050405020304" pitchFamily="18" charset="0"/>
                <a:cs typeface="Times New Roman" panose="02020603050405020304" pitchFamily="18" charset="0"/>
              </a:rPr>
              <a:t>Section 6: Planning – Top management must also plan for the ongoing function of the EMS. Risks and opportunities of the EMS in the organization need to be assessed, and environmental objectives for improvement need to be identified and plans made to accomplish these objectives. Additionally, it is necessary for the organization to assess all the ways in which the organizational processes interact and affect the environment as well as the legal and other commitments that are required for the organization.</a:t>
            </a:r>
          </a:p>
          <a:p>
            <a:pPr algn="just"/>
            <a:r>
              <a:rPr lang="en-US" dirty="0">
                <a:solidFill>
                  <a:srgbClr val="303030"/>
                </a:solidFill>
                <a:latin typeface="Times New Roman" panose="02020603050405020304" pitchFamily="18" charset="0"/>
                <a:cs typeface="Times New Roman" panose="02020603050405020304" pitchFamily="18" charset="0"/>
              </a:rPr>
              <a:t>Section 7: Support – The support section deals with management of all resources for the EMS, and also includes requirements around competence, awareness, communication and controlling documented information (the documents and records required for your processes).</a:t>
            </a:r>
          </a:p>
          <a:p>
            <a:pPr algn="just"/>
            <a:r>
              <a:rPr lang="en-US" dirty="0">
                <a:solidFill>
                  <a:srgbClr val="303030"/>
                </a:solidFill>
                <a:latin typeface="Times New Roman" panose="02020603050405020304" pitchFamily="18" charset="0"/>
                <a:cs typeface="Times New Roman" panose="02020603050405020304" pitchFamily="18" charset="0"/>
              </a:rPr>
              <a:t>Section 8: Operation – The operation requirements deal with all aspects of the environmental controls needed by the organizational processes, as well as the need to identify potential emergency situations and plan responses so that you are prepared to respond should an emergency occur.</a:t>
            </a:r>
          </a:p>
          <a:p>
            <a:endParaRPr lang="en-IN" dirty="0"/>
          </a:p>
        </p:txBody>
      </p:sp>
    </p:spTree>
    <p:extLst>
      <p:ext uri="{BB962C8B-B14F-4D97-AF65-F5344CB8AC3E}">
        <p14:creationId xmlns:p14="http://schemas.microsoft.com/office/powerpoint/2010/main" val="39177485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FF9181-5A46-204A-0FC1-9204E89980B2}"/>
              </a:ext>
            </a:extLst>
          </p:cNvPr>
          <p:cNvSpPr>
            <a:spLocks noGrp="1"/>
          </p:cNvSpPr>
          <p:nvPr>
            <p:ph idx="1"/>
          </p:nvPr>
        </p:nvSpPr>
        <p:spPr>
          <a:xfrm>
            <a:off x="533401" y="1295400"/>
            <a:ext cx="8001000" cy="5257800"/>
          </a:xfrm>
        </p:spPr>
        <p:txBody>
          <a:bodyPr>
            <a:normAutofit/>
          </a:bodyPr>
          <a:lstStyle/>
          <a:p>
            <a:pPr algn="just"/>
            <a:r>
              <a:rPr lang="en-US" dirty="0">
                <a:solidFill>
                  <a:srgbClr val="303030"/>
                </a:solidFill>
                <a:latin typeface="Times New Roman" panose="02020603050405020304" pitchFamily="18" charset="0"/>
                <a:cs typeface="Times New Roman" panose="02020603050405020304" pitchFamily="18" charset="0"/>
              </a:rPr>
              <a:t>Section 9: Performance evaluation – This section includes the requirements needed to make sure that you can monitor whether your EMS is functioning well. It includes monitoring and measuring your processes, assessing environmental compliance, internal audits, and ongoing management review of the EMS.</a:t>
            </a:r>
          </a:p>
          <a:p>
            <a:pPr algn="just"/>
            <a:r>
              <a:rPr lang="en-US" dirty="0">
                <a:solidFill>
                  <a:srgbClr val="303030"/>
                </a:solidFill>
                <a:latin typeface="Times New Roman" panose="02020603050405020304" pitchFamily="18" charset="0"/>
                <a:cs typeface="Times New Roman" panose="02020603050405020304" pitchFamily="18" charset="0"/>
              </a:rPr>
              <a:t>Section 10: Improvement – This last section includes the requirements needed to make your EMS better over time. This includes the need to assess process nonconformity and taking corrective actions for processes.</a:t>
            </a:r>
          </a:p>
          <a:p>
            <a:pPr algn="just"/>
            <a:r>
              <a:rPr lang="en-US" dirty="0">
                <a:solidFill>
                  <a:srgbClr val="303030"/>
                </a:solidFill>
                <a:latin typeface="Times New Roman" panose="02020603050405020304" pitchFamily="18" charset="0"/>
                <a:cs typeface="Times New Roman" panose="02020603050405020304" pitchFamily="18" charset="0"/>
              </a:rPr>
              <a:t>These sections are based on a Plan-Do-Check-Act cycle, which uses these elements to implement change within the processes of the organization in order to drive and maintain improvements within the processes.</a:t>
            </a:r>
          </a:p>
          <a:p>
            <a:endParaRPr lang="en-IN" dirty="0"/>
          </a:p>
        </p:txBody>
      </p:sp>
    </p:spTree>
    <p:extLst>
      <p:ext uri="{BB962C8B-B14F-4D97-AF65-F5344CB8AC3E}">
        <p14:creationId xmlns:p14="http://schemas.microsoft.com/office/powerpoint/2010/main" val="2150810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09A31-C6AE-F5DE-50F5-1E14334227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93FB212-4454-5E7F-5149-91DCDAEFC82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8264FF79-00E8-855A-5618-6EEA375C83AD}"/>
              </a:ext>
            </a:extLst>
          </p:cNvPr>
          <p:cNvPicPr>
            <a:picLocks noChangeAspect="1"/>
          </p:cNvPicPr>
          <p:nvPr/>
        </p:nvPicPr>
        <p:blipFill>
          <a:blip r:embed="rId2"/>
          <a:stretch>
            <a:fillRect/>
          </a:stretch>
        </p:blipFill>
        <p:spPr>
          <a:xfrm>
            <a:off x="609600" y="381000"/>
            <a:ext cx="8305800" cy="6019800"/>
          </a:xfrm>
          <a:prstGeom prst="rect">
            <a:avLst/>
          </a:prstGeom>
        </p:spPr>
      </p:pic>
    </p:spTree>
    <p:extLst>
      <p:ext uri="{BB962C8B-B14F-4D97-AF65-F5344CB8AC3E}">
        <p14:creationId xmlns:p14="http://schemas.microsoft.com/office/powerpoint/2010/main" val="103873450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themeOverride>
</file>

<file path=docProps/app.xml><?xml version="1.0" encoding="utf-8"?>
<Properties xmlns="http://schemas.openxmlformats.org/officeDocument/2006/extended-properties" xmlns:vt="http://schemas.openxmlformats.org/officeDocument/2006/docPropsVTypes">
  <Template/>
  <TotalTime>642</TotalTime>
  <Words>2981</Words>
  <Application>Microsoft Office PowerPoint</Application>
  <PresentationFormat>On-screen Show (4:3)</PresentationFormat>
  <Paragraphs>229</Paragraphs>
  <Slides>41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Century Gothic</vt:lpstr>
      <vt:lpstr>Courier New</vt:lpstr>
      <vt:lpstr>Symbol</vt:lpstr>
      <vt:lpstr>Times New Roman</vt:lpstr>
      <vt:lpstr>Wingdings</vt:lpstr>
      <vt:lpstr>Wingdings 3</vt:lpstr>
      <vt:lpstr>Wisp</vt:lpstr>
      <vt:lpstr>MODULE 4</vt:lpstr>
      <vt:lpstr>Environmental Management Plan (EMP) </vt:lpstr>
      <vt:lpstr>PowerPoint Presentation</vt:lpstr>
      <vt:lpstr>Objectives of EMP </vt:lpstr>
      <vt:lpstr>PowerPoint Presentation</vt:lpstr>
      <vt:lpstr>Scope of EMP</vt:lpstr>
      <vt:lpstr>PowerPoint Presentation</vt:lpstr>
      <vt:lpstr>Goal of EMP</vt:lpstr>
      <vt:lpstr>Purpose of EMP </vt:lpstr>
      <vt:lpstr>Importance of EMP </vt:lpstr>
      <vt:lpstr>Contents of an EMP  </vt:lpstr>
      <vt:lpstr>ENVIRONMENTAL MONITORING PROGRAM  </vt:lpstr>
      <vt:lpstr>Types of Environmental Monitoring </vt:lpstr>
      <vt:lpstr>ENVIRONMENTAL AUDIT </vt:lpstr>
      <vt:lpstr>PowerPoint Presentation</vt:lpstr>
      <vt:lpstr>PowerPoint Presentation</vt:lpstr>
      <vt:lpstr>Objectives of EA   ( Environmental Audit)</vt:lpstr>
      <vt:lpstr>Need of EA </vt:lpstr>
      <vt:lpstr>PowerPoint Presentation</vt:lpstr>
      <vt:lpstr>Types of environmental audits </vt:lpstr>
      <vt:lpstr>Environmental Audit Procedures </vt:lpstr>
      <vt:lpstr>PowerPoint Presentation</vt:lpstr>
      <vt:lpstr>PowerPoint Presentation</vt:lpstr>
      <vt:lpstr>PowerPoint Presentation</vt:lpstr>
      <vt:lpstr>The 5 Stages of Environmental Audit – The steps of environmental audit </vt:lpstr>
      <vt:lpstr>PowerPoint Presentation</vt:lpstr>
      <vt:lpstr>PowerPoint Presentation</vt:lpstr>
      <vt:lpstr>ISO 14001</vt:lpstr>
      <vt:lpstr>Purpose of ISO 14001</vt:lpstr>
      <vt:lpstr>Importance of ISO 14001 </vt:lpstr>
      <vt:lpstr>Plan-Do-Check-Act Cycle</vt:lpstr>
      <vt:lpstr>Plan-Do-Check-Act Cycle in ISO 14001 </vt:lpstr>
      <vt:lpstr>PowerPoint Presentation</vt:lpstr>
      <vt:lpstr>PowerPoint Presentation</vt:lpstr>
      <vt:lpstr>PowerPoint Presentation</vt:lpstr>
      <vt:lpstr>ISO 14001 implementation steps </vt:lpstr>
      <vt:lpstr>Benefits of using ISO 14001</vt:lpstr>
      <vt:lpstr>ISO 14001 structure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Devina Vipinan</cp:lastModifiedBy>
  <cp:revision>46</cp:revision>
  <dcterms:created xsi:type="dcterms:W3CDTF">2006-08-16T00:00:00Z</dcterms:created>
  <dcterms:modified xsi:type="dcterms:W3CDTF">2024-10-10T04:00:24Z</dcterms:modified>
</cp:coreProperties>
</file>