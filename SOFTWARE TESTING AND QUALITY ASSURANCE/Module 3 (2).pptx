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 id="333" r:id="rId82"/>
    <p:sldId id="334" r:id="rId83"/>
    <p:sldId id="335" r:id="rId84"/>
    <p:sldId id="336" r:id="rId85"/>
    <p:sldId id="337" r:id="rId86"/>
    <p:sldId id="338" r:id="rId87"/>
    <p:sldId id="339" r:id="rId88"/>
    <p:sldId id="340" r:id="rId89"/>
    <p:sldId id="341" r:id="rId90"/>
    <p:sldId id="342" r:id="rId91"/>
    <p:sldId id="343" r:id="rId92"/>
    <p:sldId id="344" r:id="rId93"/>
    <p:sldId id="345" r:id="rId94"/>
    <p:sldId id="346" r:id="rId95"/>
    <p:sldId id="347" r:id="rId96"/>
    <p:sldId id="348" r:id="rId97"/>
    <p:sldId id="349" r:id="rId98"/>
    <p:sldId id="350" r:id="rId99"/>
    <p:sldId id="351" r:id="rId100"/>
    <p:sldId id="352" r:id="rId101"/>
    <p:sldId id="353" r:id="rId102"/>
    <p:sldId id="354" r:id="rId103"/>
    <p:sldId id="355" r:id="rId104"/>
    <p:sldId id="356" r:id="rId105"/>
    <p:sldId id="357" r:id="rId106"/>
    <p:sldId id="358" r:id="rId107"/>
    <p:sldId id="359" r:id="rId108"/>
    <p:sldId id="360" r:id="rId109"/>
    <p:sldId id="361" r:id="rId110"/>
    <p:sldId id="362" r:id="rId111"/>
    <p:sldId id="363" r:id="rId112"/>
    <p:sldId id="364" r:id="rId113"/>
    <p:sldId id="365" r:id="rId114"/>
    <p:sldId id="366" r:id="rId115"/>
    <p:sldId id="367" r:id="rId11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17" roundtripDataSignature="AMtx7mgjW+m/9qQRnYD6y6fIcy3JyESQh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9" Type="http://schemas.openxmlformats.org/officeDocument/2006/relationships/slide" Target="slides/slide105.xml"/><Relationship Id="rId108" Type="http://schemas.openxmlformats.org/officeDocument/2006/relationships/slide" Target="slides/slide104.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95" Type="http://schemas.openxmlformats.org/officeDocument/2006/relationships/slide" Target="slides/slide91.xml"/><Relationship Id="rId94" Type="http://schemas.openxmlformats.org/officeDocument/2006/relationships/slide" Target="slides/slide90.xml"/><Relationship Id="rId97" Type="http://schemas.openxmlformats.org/officeDocument/2006/relationships/slide" Target="slides/slide93.xml"/><Relationship Id="rId96" Type="http://schemas.openxmlformats.org/officeDocument/2006/relationships/slide" Target="slides/slide92.xml"/><Relationship Id="rId11" Type="http://schemas.openxmlformats.org/officeDocument/2006/relationships/slide" Target="slides/slide7.xml"/><Relationship Id="rId99" Type="http://schemas.openxmlformats.org/officeDocument/2006/relationships/slide" Target="slides/slide95.xml"/><Relationship Id="rId10" Type="http://schemas.openxmlformats.org/officeDocument/2006/relationships/slide" Target="slides/slide6.xml"/><Relationship Id="rId98" Type="http://schemas.openxmlformats.org/officeDocument/2006/relationships/slide" Target="slides/slide94.xml"/><Relationship Id="rId13" Type="http://schemas.openxmlformats.org/officeDocument/2006/relationships/slide" Target="slides/slide9.xml"/><Relationship Id="rId12" Type="http://schemas.openxmlformats.org/officeDocument/2006/relationships/slide" Target="slides/slide8.xml"/><Relationship Id="rId91" Type="http://schemas.openxmlformats.org/officeDocument/2006/relationships/slide" Target="slides/slide87.xml"/><Relationship Id="rId90" Type="http://schemas.openxmlformats.org/officeDocument/2006/relationships/slide" Target="slides/slide86.xml"/><Relationship Id="rId93" Type="http://schemas.openxmlformats.org/officeDocument/2006/relationships/slide" Target="slides/slide89.xml"/><Relationship Id="rId92" Type="http://schemas.openxmlformats.org/officeDocument/2006/relationships/slide" Target="slides/slide88.xml"/><Relationship Id="rId117" Type="http://customschemas.google.com/relationships/presentationmetadata" Target="metadata"/><Relationship Id="rId116" Type="http://schemas.openxmlformats.org/officeDocument/2006/relationships/slide" Target="slides/slide112.xml"/><Relationship Id="rId115" Type="http://schemas.openxmlformats.org/officeDocument/2006/relationships/slide" Target="slides/slide111.xml"/><Relationship Id="rId15" Type="http://schemas.openxmlformats.org/officeDocument/2006/relationships/slide" Target="slides/slide11.xml"/><Relationship Id="rId110" Type="http://schemas.openxmlformats.org/officeDocument/2006/relationships/slide" Target="slides/slide106.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14" Type="http://schemas.openxmlformats.org/officeDocument/2006/relationships/slide" Target="slides/slide110.xml"/><Relationship Id="rId18" Type="http://schemas.openxmlformats.org/officeDocument/2006/relationships/slide" Target="slides/slide14.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84" Type="http://schemas.openxmlformats.org/officeDocument/2006/relationships/slide" Target="slides/slide80.xml"/><Relationship Id="rId83" Type="http://schemas.openxmlformats.org/officeDocument/2006/relationships/slide" Target="slides/slide79.xml"/><Relationship Id="rId86" Type="http://schemas.openxmlformats.org/officeDocument/2006/relationships/slide" Target="slides/slide82.xml"/><Relationship Id="rId85" Type="http://schemas.openxmlformats.org/officeDocument/2006/relationships/slide" Target="slides/slide81.xml"/><Relationship Id="rId88" Type="http://schemas.openxmlformats.org/officeDocument/2006/relationships/slide" Target="slides/slide84.xml"/><Relationship Id="rId87" Type="http://schemas.openxmlformats.org/officeDocument/2006/relationships/slide" Target="slides/slide83.xml"/><Relationship Id="rId89" Type="http://schemas.openxmlformats.org/officeDocument/2006/relationships/slide" Target="slides/slide85.xml"/><Relationship Id="rId80" Type="http://schemas.openxmlformats.org/officeDocument/2006/relationships/slide" Target="slides/slide76.xml"/><Relationship Id="rId82" Type="http://schemas.openxmlformats.org/officeDocument/2006/relationships/slide" Target="slides/slide78.xml"/><Relationship Id="rId81" Type="http://schemas.openxmlformats.org/officeDocument/2006/relationships/slide" Target="slides/slide7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73" Type="http://schemas.openxmlformats.org/officeDocument/2006/relationships/slide" Target="slides/slide69.xml"/><Relationship Id="rId72" Type="http://schemas.openxmlformats.org/officeDocument/2006/relationships/slide" Target="slides/slide68.xml"/><Relationship Id="rId75" Type="http://schemas.openxmlformats.org/officeDocument/2006/relationships/slide" Target="slides/slide71.xml"/><Relationship Id="rId74" Type="http://schemas.openxmlformats.org/officeDocument/2006/relationships/slide" Target="slides/slide70.xml"/><Relationship Id="rId77" Type="http://schemas.openxmlformats.org/officeDocument/2006/relationships/slide" Target="slides/slide73.xml"/><Relationship Id="rId76" Type="http://schemas.openxmlformats.org/officeDocument/2006/relationships/slide" Target="slides/slide72.xml"/><Relationship Id="rId79" Type="http://schemas.openxmlformats.org/officeDocument/2006/relationships/slide" Target="slides/slide75.xml"/><Relationship Id="rId78" Type="http://schemas.openxmlformats.org/officeDocument/2006/relationships/slide" Target="slides/slide74.xml"/><Relationship Id="rId71" Type="http://schemas.openxmlformats.org/officeDocument/2006/relationships/slide" Target="slides/slide67.xml"/><Relationship Id="rId70" Type="http://schemas.openxmlformats.org/officeDocument/2006/relationships/slide" Target="slides/slide66.xml"/><Relationship Id="rId62" Type="http://schemas.openxmlformats.org/officeDocument/2006/relationships/slide" Target="slides/slide58.xml"/><Relationship Id="rId61" Type="http://schemas.openxmlformats.org/officeDocument/2006/relationships/slide" Target="slides/slide57.xml"/><Relationship Id="rId64" Type="http://schemas.openxmlformats.org/officeDocument/2006/relationships/slide" Target="slides/slide60.xml"/><Relationship Id="rId63" Type="http://schemas.openxmlformats.org/officeDocument/2006/relationships/slide" Target="slides/slide59.xml"/><Relationship Id="rId66" Type="http://schemas.openxmlformats.org/officeDocument/2006/relationships/slide" Target="slides/slide62.xml"/><Relationship Id="rId65" Type="http://schemas.openxmlformats.org/officeDocument/2006/relationships/slide" Target="slides/slide61.xml"/><Relationship Id="rId68" Type="http://schemas.openxmlformats.org/officeDocument/2006/relationships/slide" Target="slides/slide64.xml"/><Relationship Id="rId67" Type="http://schemas.openxmlformats.org/officeDocument/2006/relationships/slide" Target="slides/slide63.xml"/><Relationship Id="rId60" Type="http://schemas.openxmlformats.org/officeDocument/2006/relationships/slide" Target="slides/slide56.xml"/><Relationship Id="rId69" Type="http://schemas.openxmlformats.org/officeDocument/2006/relationships/slide" Target="slides/slide6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55" Type="http://schemas.openxmlformats.org/officeDocument/2006/relationships/slide" Target="slides/slide51.xml"/><Relationship Id="rId54" Type="http://schemas.openxmlformats.org/officeDocument/2006/relationships/slide" Target="slides/slide50.xml"/><Relationship Id="rId57" Type="http://schemas.openxmlformats.org/officeDocument/2006/relationships/slide" Target="slides/slide53.xml"/><Relationship Id="rId56" Type="http://schemas.openxmlformats.org/officeDocument/2006/relationships/slide" Target="slides/slide52.xml"/><Relationship Id="rId59" Type="http://schemas.openxmlformats.org/officeDocument/2006/relationships/slide" Target="slides/slide55.xml"/><Relationship Id="rId58"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b72396eee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b72396eee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b72396eeeb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b72396eeeb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b72396eeeb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b72396eeeb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b72396eeeb_0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b72396eeeb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b72396eeeb_0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b72396eeeb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b72396eeeb_0_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b72396eeeb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b72396eeeb_0_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b72396eeeb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b72396eeeb_0_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b72396eeeb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b72396eeeb_0_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b72396eeeb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b72396eeeb_0_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b72396eeeb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b72396eeeb_0_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b72396eeeb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b72b9dfe96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b72b9dfe9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b72b9dfe96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b72b9dfe96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b72b9dfe96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b72b9dfe96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b72b9dfe96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b72b9dfe96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b72b9dfe96_0_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b72b9dfe96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b72b9dfe96_0_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b72b9dfe96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5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5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5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5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5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5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5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5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6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6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6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6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6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6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6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6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6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6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7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7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7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7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7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7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7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p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7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7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8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p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8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p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8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p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8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8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p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8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p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8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p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8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p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8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p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8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p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9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p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9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p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9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p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9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p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9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p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9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p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9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9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9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9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9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9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9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9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9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9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9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10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0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10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0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0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10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0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0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0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0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0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10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0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0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0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0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0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0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0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10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0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0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0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0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0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0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0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0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0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0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0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0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6"/>
          <p:cNvSpPr/>
          <p:nvPr>
            <p:ph idx="2" type="pic"/>
          </p:nvPr>
        </p:nvSpPr>
        <p:spPr>
          <a:xfrm>
            <a:off x="5183188" y="987425"/>
            <a:ext cx="6172200" cy="4873625"/>
          </a:xfrm>
          <a:prstGeom prst="rect">
            <a:avLst/>
          </a:prstGeom>
          <a:noFill/>
          <a:ln>
            <a:noFill/>
          </a:ln>
        </p:spPr>
      </p:sp>
      <p:sp>
        <p:nvSpPr>
          <p:cNvPr id="64" name="Google Shape;64;p10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0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0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0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0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0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0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0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0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0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0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0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9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9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9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9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9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2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9.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29.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1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16.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3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10.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1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18.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17.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image" Target="../media/image39.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 Id="rId3" Type="http://schemas.openxmlformats.org/officeDocument/2006/relationships/image" Target="../media/image13.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 Id="rId3" Type="http://schemas.openxmlformats.org/officeDocument/2006/relationships/image" Target="../media/image42.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 Id="rId3" Type="http://schemas.openxmlformats.org/officeDocument/2006/relationships/image" Target="../media/image23.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 Id="rId3" Type="http://schemas.openxmlformats.org/officeDocument/2006/relationships/image" Target="../media/image19.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 Id="rId3" Type="http://schemas.openxmlformats.org/officeDocument/2006/relationships/image" Target="../media/image15.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 Id="rId3" Type="http://schemas.openxmlformats.org/officeDocument/2006/relationships/image" Target="../media/image21.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 Id="rId3" Type="http://schemas.openxmlformats.org/officeDocument/2006/relationships/image" Target="../media/image22.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 Id="rId3" Type="http://schemas.openxmlformats.org/officeDocument/2006/relationships/image" Target="../media/image20.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 Id="rId3" Type="http://schemas.openxmlformats.org/officeDocument/2006/relationships/image" Target="../media/image37.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 Id="rId3" Type="http://schemas.openxmlformats.org/officeDocument/2006/relationships/image" Target="../media/image48.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 Id="rId3" Type="http://schemas.openxmlformats.org/officeDocument/2006/relationships/image" Target="../media/image28.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 Id="rId3" Type="http://schemas.openxmlformats.org/officeDocument/2006/relationships/image" Target="../media/image26.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 Id="rId3" Type="http://schemas.openxmlformats.org/officeDocument/2006/relationships/image" Target="../media/image43.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 Id="rId3" Type="http://schemas.openxmlformats.org/officeDocument/2006/relationships/image" Target="../media/image36.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 Id="rId3" Type="http://schemas.openxmlformats.org/officeDocument/2006/relationships/image" Target="../media/image41.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 Id="rId3" Type="http://schemas.openxmlformats.org/officeDocument/2006/relationships/image" Target="../media/image30.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 Id="rId3" Type="http://schemas.openxmlformats.org/officeDocument/2006/relationships/image" Target="../media/image44.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 Id="rId3" Type="http://schemas.openxmlformats.org/officeDocument/2006/relationships/image" Target="../media/image27.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 Id="rId3" Type="http://schemas.openxmlformats.org/officeDocument/2006/relationships/image" Target="../media/image31.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 Id="rId3" Type="http://schemas.openxmlformats.org/officeDocument/2006/relationships/image" Target="../media/image47.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 Id="rId3" Type="http://schemas.openxmlformats.org/officeDocument/2006/relationships/image" Target="../media/image33.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 Id="rId3" Type="http://schemas.openxmlformats.org/officeDocument/2006/relationships/image" Target="../media/image38.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 Id="rId3" Type="http://schemas.openxmlformats.org/officeDocument/2006/relationships/image" Target="../media/image34.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 Id="rId3" Type="http://schemas.openxmlformats.org/officeDocument/2006/relationships/image" Target="../media/image35.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 Id="rId3" Type="http://schemas.openxmlformats.org/officeDocument/2006/relationships/image" Target="../media/image46.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 Id="rId3" Type="http://schemas.openxmlformats.org/officeDocument/2006/relationships/image" Target="../media/image45.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 Id="rId3" Type="http://schemas.openxmlformats.org/officeDocument/2006/relationships/image" Target="../media/image40.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600710"/>
            <a:ext cx="9144000" cy="1260475"/>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t>Module 3</a:t>
            </a:r>
            <a:endParaRPr/>
          </a:p>
        </p:txBody>
      </p:sp>
      <p:sp>
        <p:nvSpPr>
          <p:cNvPr id="85" name="Google Shape;85;p1"/>
          <p:cNvSpPr txBox="1"/>
          <p:nvPr>
            <p:ph idx="1" type="subTitle"/>
          </p:nvPr>
        </p:nvSpPr>
        <p:spPr>
          <a:xfrm>
            <a:off x="1449705" y="2281555"/>
            <a:ext cx="9665970" cy="1325880"/>
          </a:xfrm>
          <a:prstGeom prst="rect">
            <a:avLst/>
          </a:prstGeom>
          <a:noFill/>
          <a:ln>
            <a:noFill/>
          </a:ln>
        </p:spPr>
        <p:txBody>
          <a:bodyPr anchorCtr="0" anchor="t" bIns="45700" lIns="91425" spcFirstLastPara="1" rIns="91425" wrap="square" tIns="45700">
            <a:normAutofit lnSpcReduction="10000"/>
          </a:bodyPr>
          <a:lstStyle/>
          <a:p>
            <a:pPr indent="0" lvl="0" marL="0" rtl="0" algn="ctr">
              <a:lnSpc>
                <a:spcPct val="90000"/>
              </a:lnSpc>
              <a:spcBef>
                <a:spcPts val="0"/>
              </a:spcBef>
              <a:spcAft>
                <a:spcPts val="0"/>
              </a:spcAft>
              <a:buClr>
                <a:schemeClr val="dk1"/>
              </a:buClr>
              <a:buSzPts val="2400"/>
              <a:buNone/>
            </a:pPr>
            <a:r>
              <a:rPr lang="en-US"/>
              <a:t>Development of quality plans and objectives, Total Quality Management (TQM) concepts, Evaluation of quality models and standards (ISO, CMM, Six Sigma), Addressing quality challenges, Significance of national quality awards.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g3b72396eeeb_0_0"/>
          <p:cNvSpPr txBox="1"/>
          <p:nvPr>
            <p:ph idx="1" type="subTitle"/>
          </p:nvPr>
        </p:nvSpPr>
        <p:spPr>
          <a:xfrm>
            <a:off x="204950" y="347250"/>
            <a:ext cx="11689200" cy="4910400"/>
          </a:xfrm>
          <a:prstGeom prst="rect">
            <a:avLst/>
          </a:prstGeom>
        </p:spPr>
        <p:txBody>
          <a:bodyPr anchorCtr="0" anchor="t" bIns="45700" lIns="91425" spcFirstLastPara="1" rIns="91425" wrap="square" tIns="45700">
            <a:normAutofit lnSpcReduction="20000"/>
          </a:bodyPr>
          <a:lstStyle/>
          <a:p>
            <a:pPr indent="0" lvl="0" marL="0" rtl="0" algn="l">
              <a:lnSpc>
                <a:spcPct val="115000"/>
              </a:lnSpc>
              <a:spcBef>
                <a:spcPts val="1400"/>
              </a:spcBef>
              <a:spcAft>
                <a:spcPts val="0"/>
              </a:spcAft>
              <a:buClr>
                <a:schemeClr val="dk1"/>
              </a:buClr>
              <a:buSzPts val="1100"/>
              <a:buFont typeface="Arial"/>
              <a:buNone/>
            </a:pPr>
            <a:r>
              <a:rPr b="1" lang="en-US" sz="2200">
                <a:latin typeface="Arial"/>
                <a:ea typeface="Arial"/>
                <a:cs typeface="Arial"/>
                <a:sym typeface="Arial"/>
              </a:rPr>
              <a:t>Quality Plan</a:t>
            </a:r>
            <a:endParaRPr b="1" sz="2200">
              <a:latin typeface="Arial"/>
              <a:ea typeface="Arial"/>
              <a:cs typeface="Arial"/>
              <a:sym typeface="Arial"/>
            </a:endParaRPr>
          </a:p>
          <a:p>
            <a:pPr indent="0" lvl="0" marL="0" rtl="0" algn="l">
              <a:lnSpc>
                <a:spcPct val="115000"/>
              </a:lnSpc>
              <a:spcBef>
                <a:spcPts val="1200"/>
              </a:spcBef>
              <a:spcAft>
                <a:spcPts val="0"/>
              </a:spcAft>
              <a:buNone/>
            </a:pPr>
            <a:r>
              <a:rPr lang="en-US" sz="2000">
                <a:latin typeface="Arial"/>
                <a:ea typeface="Arial"/>
                <a:cs typeface="Arial"/>
                <a:sym typeface="Arial"/>
              </a:rPr>
              <a:t>A </a:t>
            </a:r>
            <a:r>
              <a:rPr b="1" lang="en-US" sz="2000">
                <a:latin typeface="Arial"/>
                <a:ea typeface="Arial"/>
                <a:cs typeface="Arial"/>
                <a:sym typeface="Arial"/>
              </a:rPr>
              <a:t>Quality Plan</a:t>
            </a:r>
            <a:r>
              <a:rPr lang="en-US" sz="2000">
                <a:latin typeface="Arial"/>
                <a:ea typeface="Arial"/>
                <a:cs typeface="Arial"/>
                <a:sym typeface="Arial"/>
              </a:rPr>
              <a:t> is a document that describes </a:t>
            </a:r>
            <a:r>
              <a:rPr b="1" lang="en-US" sz="2000">
                <a:latin typeface="Arial"/>
                <a:ea typeface="Arial"/>
                <a:cs typeface="Arial"/>
                <a:sym typeface="Arial"/>
              </a:rPr>
              <a:t>how quality requirements will be achieved</a:t>
            </a:r>
            <a:r>
              <a:rPr lang="en-US" sz="2000">
                <a:latin typeface="Arial"/>
                <a:ea typeface="Arial"/>
                <a:cs typeface="Arial"/>
                <a:sym typeface="Arial"/>
              </a:rPr>
              <a:t> </a:t>
            </a:r>
            <a:r>
              <a:rPr lang="en-US" sz="2000">
                <a:latin typeface="Arial"/>
                <a:ea typeface="Arial"/>
                <a:cs typeface="Arial"/>
                <a:sym typeface="Arial"/>
              </a:rPr>
              <a:t>for a product, project, or process.</a:t>
            </a:r>
            <a:endParaRPr sz="20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2000">
                <a:latin typeface="Arial"/>
                <a:ea typeface="Arial"/>
                <a:cs typeface="Arial"/>
                <a:sym typeface="Arial"/>
              </a:rPr>
              <a:t>It acts as a </a:t>
            </a:r>
            <a:r>
              <a:rPr b="1" lang="en-US" sz="2000">
                <a:latin typeface="Arial"/>
                <a:ea typeface="Arial"/>
                <a:cs typeface="Arial"/>
                <a:sym typeface="Arial"/>
              </a:rPr>
              <a:t>roadmap</a:t>
            </a:r>
            <a:r>
              <a:rPr lang="en-US" sz="2000">
                <a:latin typeface="Arial"/>
                <a:ea typeface="Arial"/>
                <a:cs typeface="Arial"/>
                <a:sym typeface="Arial"/>
              </a:rPr>
              <a:t> showing what quality standards are to be followed, who is responsible, and how quality will be monitored and improved.</a:t>
            </a:r>
            <a:endParaRPr sz="20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2000">
                <a:latin typeface="Arial"/>
                <a:ea typeface="Arial"/>
                <a:cs typeface="Arial"/>
                <a:sym typeface="Arial"/>
              </a:rPr>
              <a:t>Components of a Quality Plan</a:t>
            </a:r>
            <a:endParaRPr b="1" sz="2000">
              <a:latin typeface="Arial"/>
              <a:ea typeface="Arial"/>
              <a:cs typeface="Arial"/>
              <a:sym typeface="Arial"/>
            </a:endParaRPr>
          </a:p>
          <a:p>
            <a:pPr indent="-355600" lvl="0" marL="457200" rtl="0" algn="l">
              <a:lnSpc>
                <a:spcPct val="115000"/>
              </a:lnSpc>
              <a:spcBef>
                <a:spcPts val="1200"/>
              </a:spcBef>
              <a:spcAft>
                <a:spcPts val="0"/>
              </a:spcAft>
              <a:buSzPts val="2000"/>
              <a:buChar char="●"/>
            </a:pPr>
            <a:r>
              <a:rPr lang="en-US" sz="2000">
                <a:latin typeface="Arial"/>
                <a:ea typeface="Arial"/>
                <a:cs typeface="Arial"/>
                <a:sym typeface="Arial"/>
              </a:rPr>
              <a:t>Quality policy</a:t>
            </a:r>
            <a:endParaRPr sz="2000">
              <a:latin typeface="Arial"/>
              <a:ea typeface="Arial"/>
              <a:cs typeface="Arial"/>
              <a:sym typeface="Arial"/>
            </a:endParaRPr>
          </a:p>
          <a:p>
            <a:pPr indent="-355600" lvl="0" marL="457200" rtl="0" algn="l">
              <a:lnSpc>
                <a:spcPct val="115000"/>
              </a:lnSpc>
              <a:spcBef>
                <a:spcPts val="0"/>
              </a:spcBef>
              <a:spcAft>
                <a:spcPts val="0"/>
              </a:spcAft>
              <a:buSzPts val="2000"/>
              <a:buChar char="●"/>
            </a:pPr>
            <a:r>
              <a:rPr lang="en-US" sz="2000">
                <a:latin typeface="Arial"/>
                <a:ea typeface="Arial"/>
                <a:cs typeface="Arial"/>
                <a:sym typeface="Arial"/>
              </a:rPr>
              <a:t>Quality objectives</a:t>
            </a:r>
            <a:endParaRPr sz="2000">
              <a:latin typeface="Arial"/>
              <a:ea typeface="Arial"/>
              <a:cs typeface="Arial"/>
              <a:sym typeface="Arial"/>
            </a:endParaRPr>
          </a:p>
          <a:p>
            <a:pPr indent="-355600" lvl="0" marL="457200" rtl="0" algn="l">
              <a:lnSpc>
                <a:spcPct val="115000"/>
              </a:lnSpc>
              <a:spcBef>
                <a:spcPts val="0"/>
              </a:spcBef>
              <a:spcAft>
                <a:spcPts val="0"/>
              </a:spcAft>
              <a:buSzPts val="2000"/>
              <a:buChar char="●"/>
            </a:pPr>
            <a:r>
              <a:rPr lang="en-US" sz="2000">
                <a:latin typeface="Arial"/>
                <a:ea typeface="Arial"/>
                <a:cs typeface="Arial"/>
                <a:sym typeface="Arial"/>
              </a:rPr>
              <a:t>Roles and responsibilities</a:t>
            </a:r>
            <a:endParaRPr sz="2000">
              <a:latin typeface="Arial"/>
              <a:ea typeface="Arial"/>
              <a:cs typeface="Arial"/>
              <a:sym typeface="Arial"/>
            </a:endParaRPr>
          </a:p>
          <a:p>
            <a:pPr indent="-355600" lvl="0" marL="457200" rtl="0" algn="l">
              <a:lnSpc>
                <a:spcPct val="115000"/>
              </a:lnSpc>
              <a:spcBef>
                <a:spcPts val="0"/>
              </a:spcBef>
              <a:spcAft>
                <a:spcPts val="0"/>
              </a:spcAft>
              <a:buSzPts val="2000"/>
              <a:buChar char="●"/>
            </a:pPr>
            <a:r>
              <a:rPr lang="en-US" sz="2000">
                <a:latin typeface="Arial"/>
                <a:ea typeface="Arial"/>
                <a:cs typeface="Arial"/>
                <a:sym typeface="Arial"/>
              </a:rPr>
              <a:t>Standards and procedures to be followed</a:t>
            </a:r>
            <a:endParaRPr sz="2000">
              <a:latin typeface="Arial"/>
              <a:ea typeface="Arial"/>
              <a:cs typeface="Arial"/>
              <a:sym typeface="Arial"/>
            </a:endParaRPr>
          </a:p>
          <a:p>
            <a:pPr indent="-355600" lvl="0" marL="457200" rtl="0" algn="l">
              <a:lnSpc>
                <a:spcPct val="115000"/>
              </a:lnSpc>
              <a:spcBef>
                <a:spcPts val="0"/>
              </a:spcBef>
              <a:spcAft>
                <a:spcPts val="0"/>
              </a:spcAft>
              <a:buSzPts val="2000"/>
              <a:buChar char="●"/>
            </a:pPr>
            <a:r>
              <a:rPr lang="en-US" sz="2000">
                <a:latin typeface="Arial"/>
                <a:ea typeface="Arial"/>
                <a:cs typeface="Arial"/>
                <a:sym typeface="Arial"/>
              </a:rPr>
              <a:t>Quality control &amp; quality assurance methods</a:t>
            </a:r>
            <a:endParaRPr sz="2000">
              <a:latin typeface="Arial"/>
              <a:ea typeface="Arial"/>
              <a:cs typeface="Arial"/>
              <a:sym typeface="Arial"/>
            </a:endParaRPr>
          </a:p>
          <a:p>
            <a:pPr indent="-355600" lvl="0" marL="457200" rtl="0" algn="l">
              <a:lnSpc>
                <a:spcPct val="115000"/>
              </a:lnSpc>
              <a:spcBef>
                <a:spcPts val="0"/>
              </a:spcBef>
              <a:spcAft>
                <a:spcPts val="0"/>
              </a:spcAft>
              <a:buSzPts val="2000"/>
              <a:buChar char="●"/>
            </a:pPr>
            <a:r>
              <a:rPr lang="en-US" sz="2000">
                <a:latin typeface="Arial"/>
                <a:ea typeface="Arial"/>
                <a:cs typeface="Arial"/>
                <a:sym typeface="Arial"/>
              </a:rPr>
              <a:t>Documentation and records</a:t>
            </a:r>
            <a:endParaRPr sz="2000">
              <a:latin typeface="Arial"/>
              <a:ea typeface="Arial"/>
              <a:cs typeface="Arial"/>
              <a:sym typeface="Arial"/>
            </a:endParaRPr>
          </a:p>
          <a:p>
            <a:pPr indent="-355600" lvl="0" marL="457200" rtl="0" algn="l">
              <a:lnSpc>
                <a:spcPct val="115000"/>
              </a:lnSpc>
              <a:spcBef>
                <a:spcPts val="0"/>
              </a:spcBef>
              <a:spcAft>
                <a:spcPts val="0"/>
              </a:spcAft>
              <a:buSzPts val="2000"/>
              <a:buChar char="●"/>
            </a:pPr>
            <a:r>
              <a:rPr lang="en-US" sz="2000">
                <a:latin typeface="Arial"/>
                <a:ea typeface="Arial"/>
                <a:cs typeface="Arial"/>
                <a:sym typeface="Arial"/>
              </a:rPr>
              <a:t>Review and corrective actions</a:t>
            </a:r>
            <a:endParaRPr sz="2000">
              <a:latin typeface="Arial"/>
              <a:ea typeface="Arial"/>
              <a:cs typeface="Arial"/>
              <a:sym typeface="Arial"/>
            </a:endParaRPr>
          </a:p>
          <a:p>
            <a:pPr indent="0" lvl="0" marL="0" rtl="0" algn="ctr">
              <a:spcBef>
                <a:spcPts val="120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g3b72396eeeb_0_12"/>
          <p:cNvSpPr txBox="1"/>
          <p:nvPr>
            <p:ph idx="1" type="body"/>
          </p:nvPr>
        </p:nvSpPr>
        <p:spPr>
          <a:xfrm>
            <a:off x="352000" y="305225"/>
            <a:ext cx="11001900" cy="6469500"/>
          </a:xfrm>
          <a:prstGeom prst="rect">
            <a:avLst/>
          </a:prstGeom>
        </p:spPr>
        <p:txBody>
          <a:bodyPr anchorCtr="0"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b="1" lang="en-US" sz="1600">
                <a:latin typeface="Arial"/>
                <a:ea typeface="Arial"/>
                <a:cs typeface="Arial"/>
                <a:sym typeface="Arial"/>
              </a:rPr>
              <a:t>1. Quality Policy</a:t>
            </a:r>
            <a:endParaRPr b="1" sz="16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600">
                <a:latin typeface="Arial"/>
                <a:ea typeface="Arial"/>
                <a:cs typeface="Arial"/>
                <a:sym typeface="Arial"/>
              </a:rPr>
              <a:t>The </a:t>
            </a:r>
            <a:r>
              <a:rPr b="1" lang="en-US" sz="1600">
                <a:latin typeface="Arial"/>
                <a:ea typeface="Arial"/>
                <a:cs typeface="Arial"/>
                <a:sym typeface="Arial"/>
              </a:rPr>
              <a:t>quality policy</a:t>
            </a:r>
            <a:r>
              <a:rPr lang="en-US" sz="1600">
                <a:latin typeface="Arial"/>
                <a:ea typeface="Arial"/>
                <a:cs typeface="Arial"/>
                <a:sym typeface="Arial"/>
              </a:rPr>
              <a:t> is a </a:t>
            </a:r>
            <a:r>
              <a:rPr b="1" lang="en-US" sz="1600">
                <a:latin typeface="Arial"/>
                <a:ea typeface="Arial"/>
                <a:cs typeface="Arial"/>
                <a:sym typeface="Arial"/>
              </a:rPr>
              <a:t>formal statement</a:t>
            </a:r>
            <a:r>
              <a:rPr lang="en-US" sz="1600">
                <a:latin typeface="Arial"/>
                <a:ea typeface="Arial"/>
                <a:cs typeface="Arial"/>
                <a:sym typeface="Arial"/>
              </a:rPr>
              <a:t> by top management that expresses the organization’s </a:t>
            </a:r>
            <a:r>
              <a:rPr b="1" lang="en-US" sz="1600">
                <a:latin typeface="Arial"/>
                <a:ea typeface="Arial"/>
                <a:cs typeface="Arial"/>
                <a:sym typeface="Arial"/>
              </a:rPr>
              <a:t>commitment to quality</a:t>
            </a:r>
            <a:r>
              <a:rPr lang="en-US" sz="1600">
                <a:latin typeface="Arial"/>
                <a:ea typeface="Arial"/>
                <a:cs typeface="Arial"/>
                <a:sym typeface="Arial"/>
              </a:rPr>
              <a:t>.</a:t>
            </a:r>
            <a:endParaRPr sz="16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600">
                <a:latin typeface="Arial"/>
                <a:ea typeface="Arial"/>
                <a:cs typeface="Arial"/>
                <a:sym typeface="Arial"/>
              </a:rPr>
              <a:t>Purpose:</a:t>
            </a:r>
            <a:endParaRPr b="1" sz="1600">
              <a:latin typeface="Arial"/>
              <a:ea typeface="Arial"/>
              <a:cs typeface="Arial"/>
              <a:sym typeface="Arial"/>
            </a:endParaRPr>
          </a:p>
          <a:p>
            <a:pPr indent="-330200" lvl="0" marL="457200" rtl="0" algn="l">
              <a:lnSpc>
                <a:spcPct val="115000"/>
              </a:lnSpc>
              <a:spcBef>
                <a:spcPts val="1200"/>
              </a:spcBef>
              <a:spcAft>
                <a:spcPts val="0"/>
              </a:spcAft>
              <a:buSzPts val="1600"/>
              <a:buChar char="●"/>
            </a:pPr>
            <a:r>
              <a:rPr lang="en-US" sz="1600">
                <a:latin typeface="Arial"/>
                <a:ea typeface="Arial"/>
                <a:cs typeface="Arial"/>
                <a:sym typeface="Arial"/>
              </a:rPr>
              <a:t>Defines overall quality intentions and direction</a:t>
            </a:r>
            <a:endParaRPr sz="1600">
              <a:latin typeface="Arial"/>
              <a:ea typeface="Arial"/>
              <a:cs typeface="Arial"/>
              <a:sym typeface="Arial"/>
            </a:endParaRPr>
          </a:p>
          <a:p>
            <a:pPr indent="-330200" lvl="0" marL="457200" rtl="0" algn="l">
              <a:lnSpc>
                <a:spcPct val="115000"/>
              </a:lnSpc>
              <a:spcBef>
                <a:spcPts val="0"/>
              </a:spcBef>
              <a:spcAft>
                <a:spcPts val="0"/>
              </a:spcAft>
              <a:buSzPts val="1600"/>
              <a:buChar char="●"/>
            </a:pPr>
            <a:r>
              <a:rPr lang="en-US" sz="1600">
                <a:latin typeface="Arial"/>
                <a:ea typeface="Arial"/>
                <a:cs typeface="Arial"/>
                <a:sym typeface="Arial"/>
              </a:rPr>
              <a:t>Acts as a guideline for setting quality objectives</a:t>
            </a:r>
            <a:endParaRPr sz="16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1600">
                <a:latin typeface="Arial"/>
                <a:ea typeface="Arial"/>
                <a:cs typeface="Arial"/>
                <a:sym typeface="Arial"/>
              </a:rPr>
              <a:t>2. Quality Objectives</a:t>
            </a:r>
            <a:endParaRPr b="1" sz="16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600">
                <a:latin typeface="Arial"/>
                <a:ea typeface="Arial"/>
                <a:cs typeface="Arial"/>
                <a:sym typeface="Arial"/>
              </a:rPr>
              <a:t>Quality objectives are </a:t>
            </a:r>
            <a:r>
              <a:rPr b="1" lang="en-US" sz="1600">
                <a:latin typeface="Arial"/>
                <a:ea typeface="Arial"/>
                <a:cs typeface="Arial"/>
                <a:sym typeface="Arial"/>
              </a:rPr>
              <a:t>specific, measurable goals</a:t>
            </a:r>
            <a:r>
              <a:rPr lang="en-US" sz="1600">
                <a:latin typeface="Arial"/>
                <a:ea typeface="Arial"/>
                <a:cs typeface="Arial"/>
                <a:sym typeface="Arial"/>
              </a:rPr>
              <a:t> that the organization aims to achieve regarding quality.</a:t>
            </a:r>
            <a:endParaRPr sz="16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600">
                <a:latin typeface="Arial"/>
                <a:ea typeface="Arial"/>
                <a:cs typeface="Arial"/>
                <a:sym typeface="Arial"/>
              </a:rPr>
              <a:t>Characteristics:</a:t>
            </a:r>
            <a:endParaRPr b="1" sz="1600">
              <a:latin typeface="Arial"/>
              <a:ea typeface="Arial"/>
              <a:cs typeface="Arial"/>
              <a:sym typeface="Arial"/>
            </a:endParaRPr>
          </a:p>
          <a:p>
            <a:pPr indent="-330200" lvl="0" marL="457200" rtl="0" algn="l">
              <a:lnSpc>
                <a:spcPct val="115000"/>
              </a:lnSpc>
              <a:spcBef>
                <a:spcPts val="1200"/>
              </a:spcBef>
              <a:spcAft>
                <a:spcPts val="0"/>
              </a:spcAft>
              <a:buSzPts val="1600"/>
              <a:buChar char="●"/>
            </a:pPr>
            <a:r>
              <a:rPr lang="en-US" sz="1600">
                <a:latin typeface="Arial"/>
                <a:ea typeface="Arial"/>
                <a:cs typeface="Arial"/>
                <a:sym typeface="Arial"/>
              </a:rPr>
              <a:t>Based on the quality policy</a:t>
            </a:r>
            <a:endParaRPr sz="1600">
              <a:latin typeface="Arial"/>
              <a:ea typeface="Arial"/>
              <a:cs typeface="Arial"/>
              <a:sym typeface="Arial"/>
            </a:endParaRPr>
          </a:p>
          <a:p>
            <a:pPr indent="-330200" lvl="0" marL="457200" rtl="0" algn="l">
              <a:lnSpc>
                <a:spcPct val="115000"/>
              </a:lnSpc>
              <a:spcBef>
                <a:spcPts val="0"/>
              </a:spcBef>
              <a:spcAft>
                <a:spcPts val="0"/>
              </a:spcAft>
              <a:buSzPts val="1600"/>
              <a:buChar char="●"/>
            </a:pPr>
            <a:r>
              <a:rPr lang="en-US" sz="1600">
                <a:latin typeface="Arial"/>
                <a:ea typeface="Arial"/>
                <a:cs typeface="Arial"/>
                <a:sym typeface="Arial"/>
              </a:rPr>
              <a:t>Measurable and time-bound</a:t>
            </a:r>
            <a:endParaRPr sz="1600">
              <a:latin typeface="Arial"/>
              <a:ea typeface="Arial"/>
              <a:cs typeface="Arial"/>
              <a:sym typeface="Arial"/>
            </a:endParaRPr>
          </a:p>
          <a:p>
            <a:pPr indent="-330200" lvl="0" marL="457200" rtl="0" algn="l">
              <a:lnSpc>
                <a:spcPct val="115000"/>
              </a:lnSpc>
              <a:spcBef>
                <a:spcPts val="0"/>
              </a:spcBef>
              <a:spcAft>
                <a:spcPts val="0"/>
              </a:spcAft>
              <a:buSzPts val="1600"/>
              <a:buChar char="●"/>
            </a:pPr>
            <a:r>
              <a:rPr lang="en-US" sz="1600">
                <a:latin typeface="Arial"/>
                <a:ea typeface="Arial"/>
                <a:cs typeface="Arial"/>
                <a:sym typeface="Arial"/>
              </a:rPr>
              <a:t>Aligned with customer expectations</a:t>
            </a:r>
            <a:endParaRPr sz="1600">
              <a:latin typeface="Arial"/>
              <a:ea typeface="Arial"/>
              <a:cs typeface="Arial"/>
              <a:sym typeface="Arial"/>
            </a:endParaRPr>
          </a:p>
          <a:p>
            <a:pPr indent="0" lvl="0" marL="0" rtl="0" algn="l">
              <a:lnSpc>
                <a:spcPct val="115000"/>
              </a:lnSpc>
              <a:spcBef>
                <a:spcPts val="1400"/>
              </a:spcBef>
              <a:spcAft>
                <a:spcPts val="0"/>
              </a:spcAft>
              <a:buNone/>
            </a:pPr>
            <a:r>
              <a:rPr b="1" lang="en-US" sz="1600">
                <a:latin typeface="Arial"/>
                <a:ea typeface="Arial"/>
                <a:cs typeface="Arial"/>
                <a:sym typeface="Arial"/>
              </a:rPr>
              <a:t>3. Roles and Responsibilities</a:t>
            </a:r>
            <a:endParaRPr b="1" sz="1600">
              <a:latin typeface="Arial"/>
              <a:ea typeface="Arial"/>
              <a:cs typeface="Arial"/>
              <a:sym typeface="Arial"/>
            </a:endParaRPr>
          </a:p>
          <a:p>
            <a:pPr indent="0" lvl="0" marL="0" rtl="0" algn="l">
              <a:lnSpc>
                <a:spcPct val="115000"/>
              </a:lnSpc>
              <a:spcBef>
                <a:spcPts val="1200"/>
              </a:spcBef>
              <a:spcAft>
                <a:spcPts val="0"/>
              </a:spcAft>
              <a:buNone/>
            </a:pPr>
            <a:r>
              <a:rPr lang="en-US" sz="1600">
                <a:latin typeface="Arial"/>
                <a:ea typeface="Arial"/>
                <a:cs typeface="Arial"/>
                <a:sym typeface="Arial"/>
              </a:rPr>
              <a:t>This component defines </a:t>
            </a:r>
            <a:r>
              <a:rPr b="1" lang="en-US" sz="1600">
                <a:latin typeface="Arial"/>
                <a:ea typeface="Arial"/>
                <a:cs typeface="Arial"/>
                <a:sym typeface="Arial"/>
              </a:rPr>
              <a:t>who is responsible for quality-related activities</a:t>
            </a:r>
            <a:r>
              <a:rPr lang="en-US" sz="1600">
                <a:latin typeface="Arial"/>
                <a:ea typeface="Arial"/>
                <a:cs typeface="Arial"/>
                <a:sym typeface="Arial"/>
              </a:rPr>
              <a:t> at each level.</a:t>
            </a:r>
            <a:endParaRPr sz="1600">
              <a:latin typeface="Arial"/>
              <a:ea typeface="Arial"/>
              <a:cs typeface="Arial"/>
              <a:sym typeface="Arial"/>
            </a:endParaRPr>
          </a:p>
          <a:p>
            <a:pPr indent="0" lvl="0" marL="0" rtl="0" algn="l">
              <a:lnSpc>
                <a:spcPct val="115000"/>
              </a:lnSpc>
              <a:spcBef>
                <a:spcPts val="1200"/>
              </a:spcBef>
              <a:spcAft>
                <a:spcPts val="0"/>
              </a:spcAft>
              <a:buNone/>
            </a:pPr>
            <a:r>
              <a:rPr b="1" lang="en-US" sz="1600">
                <a:latin typeface="Arial"/>
                <a:ea typeface="Arial"/>
                <a:cs typeface="Arial"/>
                <a:sym typeface="Arial"/>
              </a:rPr>
              <a:t>Purpose:</a:t>
            </a:r>
            <a:endParaRPr b="1" sz="1600">
              <a:latin typeface="Arial"/>
              <a:ea typeface="Arial"/>
              <a:cs typeface="Arial"/>
              <a:sym typeface="Arial"/>
            </a:endParaRPr>
          </a:p>
          <a:p>
            <a:pPr indent="-330200" lvl="0" marL="457200" rtl="0" algn="l">
              <a:lnSpc>
                <a:spcPct val="115000"/>
              </a:lnSpc>
              <a:spcBef>
                <a:spcPts val="1200"/>
              </a:spcBef>
              <a:spcAft>
                <a:spcPts val="0"/>
              </a:spcAft>
              <a:buSzPts val="1600"/>
              <a:buChar char="●"/>
            </a:pPr>
            <a:r>
              <a:rPr lang="en-US" sz="1600">
                <a:latin typeface="Arial"/>
                <a:ea typeface="Arial"/>
                <a:cs typeface="Arial"/>
                <a:sym typeface="Arial"/>
              </a:rPr>
              <a:t>Avoids confusion and overlap</a:t>
            </a:r>
            <a:endParaRPr sz="1600">
              <a:latin typeface="Arial"/>
              <a:ea typeface="Arial"/>
              <a:cs typeface="Arial"/>
              <a:sym typeface="Arial"/>
            </a:endParaRPr>
          </a:p>
          <a:p>
            <a:pPr indent="-330200" lvl="0" marL="457200" rtl="0" algn="l">
              <a:lnSpc>
                <a:spcPct val="115000"/>
              </a:lnSpc>
              <a:spcBef>
                <a:spcPts val="0"/>
              </a:spcBef>
              <a:spcAft>
                <a:spcPts val="0"/>
              </a:spcAft>
              <a:buSzPts val="1600"/>
              <a:buChar char="●"/>
            </a:pPr>
            <a:r>
              <a:rPr lang="en-US" sz="1600">
                <a:latin typeface="Arial"/>
                <a:ea typeface="Arial"/>
                <a:cs typeface="Arial"/>
                <a:sym typeface="Arial"/>
              </a:rPr>
              <a:t>Ensures accountability</a:t>
            </a:r>
            <a:endParaRPr sz="1600">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g3b72396eeeb_0_20"/>
          <p:cNvSpPr txBox="1"/>
          <p:nvPr>
            <p:ph idx="1" type="body"/>
          </p:nvPr>
        </p:nvSpPr>
        <p:spPr>
          <a:xfrm>
            <a:off x="236475" y="347225"/>
            <a:ext cx="11117400" cy="6238500"/>
          </a:xfrm>
          <a:prstGeom prst="rect">
            <a:avLst/>
          </a:prstGeom>
        </p:spPr>
        <p:txBody>
          <a:bodyPr anchorCtr="0" anchor="t" bIns="45700" lIns="91425" spcFirstLastPara="1" rIns="91425" wrap="square" tIns="45700">
            <a:normAutofit/>
          </a:bodyPr>
          <a:lstStyle/>
          <a:p>
            <a:pPr indent="0" lvl="0" marL="0" rtl="0" algn="l">
              <a:lnSpc>
                <a:spcPct val="115000"/>
              </a:lnSpc>
              <a:spcBef>
                <a:spcPts val="1400"/>
              </a:spcBef>
              <a:spcAft>
                <a:spcPts val="0"/>
              </a:spcAft>
              <a:buClr>
                <a:schemeClr val="dk1"/>
              </a:buClr>
              <a:buSzPts val="1100"/>
              <a:buFont typeface="Arial"/>
              <a:buNone/>
            </a:pPr>
            <a:r>
              <a:rPr b="1" lang="en-US" sz="1600">
                <a:latin typeface="Arial"/>
                <a:ea typeface="Arial"/>
                <a:cs typeface="Arial"/>
                <a:sym typeface="Arial"/>
              </a:rPr>
              <a:t>4. Standards and Procedures to be Followed</a:t>
            </a:r>
            <a:endParaRPr b="1" sz="1600">
              <a:latin typeface="Arial"/>
              <a:ea typeface="Arial"/>
              <a:cs typeface="Arial"/>
              <a:sym typeface="Arial"/>
            </a:endParaRPr>
          </a:p>
          <a:p>
            <a:pPr indent="0" lvl="0" marL="0" rtl="0" algn="l">
              <a:lnSpc>
                <a:spcPct val="115000"/>
              </a:lnSpc>
              <a:spcBef>
                <a:spcPts val="1200"/>
              </a:spcBef>
              <a:spcAft>
                <a:spcPts val="0"/>
              </a:spcAft>
              <a:buNone/>
            </a:pPr>
            <a:r>
              <a:rPr lang="en-US" sz="1600">
                <a:latin typeface="Arial"/>
                <a:ea typeface="Arial"/>
                <a:cs typeface="Arial"/>
                <a:sym typeface="Arial"/>
              </a:rPr>
              <a:t>This section specifies the </a:t>
            </a:r>
            <a:r>
              <a:rPr b="1" lang="en-US" sz="1600">
                <a:latin typeface="Arial"/>
                <a:ea typeface="Arial"/>
                <a:cs typeface="Arial"/>
                <a:sym typeface="Arial"/>
              </a:rPr>
              <a:t>quality standards, guidelines, and procedures</a:t>
            </a:r>
            <a:r>
              <a:rPr lang="en-US" sz="1600">
                <a:latin typeface="Arial"/>
                <a:ea typeface="Arial"/>
                <a:cs typeface="Arial"/>
                <a:sym typeface="Arial"/>
              </a:rPr>
              <a:t> that must be adhered to. </a:t>
            </a:r>
            <a:endParaRPr sz="16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600">
                <a:latin typeface="Arial"/>
                <a:ea typeface="Arial"/>
                <a:cs typeface="Arial"/>
                <a:sym typeface="Arial"/>
              </a:rPr>
              <a:t>Includes:</a:t>
            </a:r>
            <a:endParaRPr b="1" sz="1600">
              <a:latin typeface="Arial"/>
              <a:ea typeface="Arial"/>
              <a:cs typeface="Arial"/>
              <a:sym typeface="Arial"/>
            </a:endParaRPr>
          </a:p>
          <a:p>
            <a:pPr indent="-330200" lvl="0" marL="457200" rtl="0" algn="l">
              <a:lnSpc>
                <a:spcPct val="115000"/>
              </a:lnSpc>
              <a:spcBef>
                <a:spcPts val="1200"/>
              </a:spcBef>
              <a:spcAft>
                <a:spcPts val="0"/>
              </a:spcAft>
              <a:buSzPts val="1600"/>
              <a:buChar char="●"/>
            </a:pPr>
            <a:r>
              <a:rPr lang="en-US" sz="1600">
                <a:latin typeface="Arial"/>
                <a:ea typeface="Arial"/>
                <a:cs typeface="Arial"/>
                <a:sym typeface="Arial"/>
              </a:rPr>
              <a:t>ISO 9001 standards</a:t>
            </a:r>
            <a:endParaRPr sz="1600">
              <a:latin typeface="Arial"/>
              <a:ea typeface="Arial"/>
              <a:cs typeface="Arial"/>
              <a:sym typeface="Arial"/>
            </a:endParaRPr>
          </a:p>
          <a:p>
            <a:pPr indent="-330200" lvl="0" marL="457200" rtl="0" algn="l">
              <a:lnSpc>
                <a:spcPct val="115000"/>
              </a:lnSpc>
              <a:spcBef>
                <a:spcPts val="0"/>
              </a:spcBef>
              <a:spcAft>
                <a:spcPts val="0"/>
              </a:spcAft>
              <a:buSzPts val="1600"/>
              <a:buChar char="●"/>
            </a:pPr>
            <a:r>
              <a:rPr lang="en-US" sz="1600">
                <a:latin typeface="Arial"/>
                <a:ea typeface="Arial"/>
                <a:cs typeface="Arial"/>
                <a:sym typeface="Arial"/>
              </a:rPr>
              <a:t>Company-specific procedures</a:t>
            </a:r>
            <a:endParaRPr sz="1600">
              <a:latin typeface="Arial"/>
              <a:ea typeface="Arial"/>
              <a:cs typeface="Arial"/>
              <a:sym typeface="Arial"/>
            </a:endParaRPr>
          </a:p>
          <a:p>
            <a:pPr indent="-330200" lvl="0" marL="457200" rtl="0" algn="l">
              <a:lnSpc>
                <a:spcPct val="115000"/>
              </a:lnSpc>
              <a:spcBef>
                <a:spcPts val="0"/>
              </a:spcBef>
              <a:spcAft>
                <a:spcPts val="0"/>
              </a:spcAft>
              <a:buSzPts val="1600"/>
              <a:buChar char="●"/>
            </a:pPr>
            <a:r>
              <a:rPr lang="en-US" sz="1600">
                <a:latin typeface="Arial"/>
                <a:ea typeface="Arial"/>
                <a:cs typeface="Arial"/>
                <a:sym typeface="Arial"/>
              </a:rPr>
              <a:t>Industry regulations</a:t>
            </a:r>
            <a:endParaRPr sz="1600">
              <a:latin typeface="Arial"/>
              <a:ea typeface="Arial"/>
              <a:cs typeface="Arial"/>
              <a:sym typeface="Arial"/>
            </a:endParaRPr>
          </a:p>
          <a:p>
            <a:pPr indent="0" lvl="0" marL="0" rtl="0" algn="l">
              <a:lnSpc>
                <a:spcPct val="115000"/>
              </a:lnSpc>
              <a:spcBef>
                <a:spcPts val="1400"/>
              </a:spcBef>
              <a:spcAft>
                <a:spcPts val="0"/>
              </a:spcAft>
              <a:buNone/>
            </a:pPr>
            <a:r>
              <a:rPr b="1" lang="en-US" sz="1600">
                <a:latin typeface="Arial"/>
                <a:ea typeface="Arial"/>
                <a:cs typeface="Arial"/>
                <a:sym typeface="Arial"/>
              </a:rPr>
              <a:t>5. Quality Control (QC) &amp; Quality Assurance (QA) Methods</a:t>
            </a:r>
            <a:endParaRPr b="1" sz="1600">
              <a:latin typeface="Arial"/>
              <a:ea typeface="Arial"/>
              <a:cs typeface="Arial"/>
              <a:sym typeface="Arial"/>
            </a:endParaRPr>
          </a:p>
          <a:p>
            <a:pPr indent="0" lvl="0" marL="0" rtl="0" algn="l">
              <a:lnSpc>
                <a:spcPct val="115000"/>
              </a:lnSpc>
              <a:spcBef>
                <a:spcPts val="1200"/>
              </a:spcBef>
              <a:spcAft>
                <a:spcPts val="0"/>
              </a:spcAft>
              <a:buNone/>
            </a:pPr>
            <a:r>
              <a:rPr b="1" lang="en-US" sz="1600">
                <a:latin typeface="Arial"/>
                <a:ea typeface="Arial"/>
                <a:cs typeface="Arial"/>
                <a:sym typeface="Arial"/>
              </a:rPr>
              <a:t>Quality Control (QC)</a:t>
            </a:r>
            <a:endParaRPr b="1" sz="1600">
              <a:latin typeface="Arial"/>
              <a:ea typeface="Arial"/>
              <a:cs typeface="Arial"/>
              <a:sym typeface="Arial"/>
            </a:endParaRPr>
          </a:p>
          <a:p>
            <a:pPr indent="-330200" lvl="0" marL="457200" rtl="0" algn="l">
              <a:lnSpc>
                <a:spcPct val="115000"/>
              </a:lnSpc>
              <a:spcBef>
                <a:spcPts val="1200"/>
              </a:spcBef>
              <a:spcAft>
                <a:spcPts val="0"/>
              </a:spcAft>
              <a:buSzPts val="1600"/>
              <a:buChar char="●"/>
            </a:pPr>
            <a:r>
              <a:rPr lang="en-US" sz="1600">
                <a:latin typeface="Arial"/>
                <a:ea typeface="Arial"/>
                <a:cs typeface="Arial"/>
                <a:sym typeface="Arial"/>
              </a:rPr>
              <a:t>Focuses on </a:t>
            </a:r>
            <a:r>
              <a:rPr b="1" lang="en-US" sz="1600">
                <a:latin typeface="Arial"/>
                <a:ea typeface="Arial"/>
                <a:cs typeface="Arial"/>
                <a:sym typeface="Arial"/>
              </a:rPr>
              <a:t>detecting defects</a:t>
            </a:r>
            <a:endParaRPr b="1" sz="1600">
              <a:latin typeface="Arial"/>
              <a:ea typeface="Arial"/>
              <a:cs typeface="Arial"/>
              <a:sym typeface="Arial"/>
            </a:endParaRPr>
          </a:p>
          <a:p>
            <a:pPr indent="-330200" lvl="0" marL="457200" rtl="0" algn="l">
              <a:lnSpc>
                <a:spcPct val="115000"/>
              </a:lnSpc>
              <a:spcBef>
                <a:spcPts val="0"/>
              </a:spcBef>
              <a:spcAft>
                <a:spcPts val="0"/>
              </a:spcAft>
              <a:buSzPts val="1600"/>
              <a:buChar char="●"/>
            </a:pPr>
            <a:r>
              <a:rPr lang="en-US" sz="1600">
                <a:latin typeface="Arial"/>
                <a:ea typeface="Arial"/>
                <a:cs typeface="Arial"/>
                <a:sym typeface="Arial"/>
              </a:rPr>
              <a:t>Product-oriented</a:t>
            </a:r>
            <a:endParaRPr sz="1600">
              <a:latin typeface="Arial"/>
              <a:ea typeface="Arial"/>
              <a:cs typeface="Arial"/>
              <a:sym typeface="Arial"/>
            </a:endParaRPr>
          </a:p>
          <a:p>
            <a:pPr indent="0" lvl="0" marL="0" rtl="0" algn="l">
              <a:lnSpc>
                <a:spcPct val="115000"/>
              </a:lnSpc>
              <a:spcBef>
                <a:spcPts val="1200"/>
              </a:spcBef>
              <a:spcAft>
                <a:spcPts val="0"/>
              </a:spcAft>
              <a:buNone/>
            </a:pPr>
            <a:r>
              <a:rPr b="1" lang="en-US" sz="1600">
                <a:latin typeface="Arial"/>
                <a:ea typeface="Arial"/>
                <a:cs typeface="Arial"/>
                <a:sym typeface="Arial"/>
              </a:rPr>
              <a:t>Quality Assurance (QA)</a:t>
            </a:r>
            <a:endParaRPr b="1" sz="1600">
              <a:latin typeface="Arial"/>
              <a:ea typeface="Arial"/>
              <a:cs typeface="Arial"/>
              <a:sym typeface="Arial"/>
            </a:endParaRPr>
          </a:p>
          <a:p>
            <a:pPr indent="-330200" lvl="0" marL="457200" rtl="0" algn="l">
              <a:lnSpc>
                <a:spcPct val="115000"/>
              </a:lnSpc>
              <a:spcBef>
                <a:spcPts val="1200"/>
              </a:spcBef>
              <a:spcAft>
                <a:spcPts val="0"/>
              </a:spcAft>
              <a:buSzPts val="1600"/>
              <a:buChar char="●"/>
            </a:pPr>
            <a:r>
              <a:rPr lang="en-US" sz="1600">
                <a:latin typeface="Arial"/>
                <a:ea typeface="Arial"/>
                <a:cs typeface="Arial"/>
                <a:sym typeface="Arial"/>
              </a:rPr>
              <a:t>Focuses on </a:t>
            </a:r>
            <a:r>
              <a:rPr b="1" lang="en-US" sz="1600">
                <a:latin typeface="Arial"/>
                <a:ea typeface="Arial"/>
                <a:cs typeface="Arial"/>
                <a:sym typeface="Arial"/>
              </a:rPr>
              <a:t>preventing defects</a:t>
            </a:r>
            <a:endParaRPr b="1" sz="1600">
              <a:latin typeface="Arial"/>
              <a:ea typeface="Arial"/>
              <a:cs typeface="Arial"/>
              <a:sym typeface="Arial"/>
            </a:endParaRPr>
          </a:p>
          <a:p>
            <a:pPr indent="-330200" lvl="0" marL="457200" rtl="0" algn="l">
              <a:lnSpc>
                <a:spcPct val="115000"/>
              </a:lnSpc>
              <a:spcBef>
                <a:spcPts val="0"/>
              </a:spcBef>
              <a:spcAft>
                <a:spcPts val="0"/>
              </a:spcAft>
              <a:buSzPts val="1600"/>
              <a:buChar char="●"/>
            </a:pPr>
            <a:r>
              <a:rPr lang="en-US" sz="1600">
                <a:latin typeface="Arial"/>
                <a:ea typeface="Arial"/>
                <a:cs typeface="Arial"/>
                <a:sym typeface="Arial"/>
              </a:rPr>
              <a:t>Process-oriented</a:t>
            </a:r>
            <a:endParaRPr sz="1600">
              <a:latin typeface="Arial"/>
              <a:ea typeface="Arial"/>
              <a:cs typeface="Arial"/>
              <a:sym typeface="Arial"/>
            </a:endParaRPr>
          </a:p>
          <a:p>
            <a:pPr indent="0" lvl="0" marL="0" rtl="0" algn="l">
              <a:lnSpc>
                <a:spcPct val="115000"/>
              </a:lnSpc>
              <a:spcBef>
                <a:spcPts val="1200"/>
              </a:spcBef>
              <a:spcAft>
                <a:spcPts val="0"/>
              </a:spcAft>
              <a:buNone/>
            </a:pPr>
            <a:r>
              <a:rPr b="1" lang="en-US" sz="1600">
                <a:latin typeface="Arial"/>
                <a:ea typeface="Arial"/>
                <a:cs typeface="Arial"/>
                <a:sym typeface="Arial"/>
              </a:rPr>
              <a:t>6. Documentation and Records</a:t>
            </a:r>
            <a:endParaRPr b="1" sz="1600">
              <a:latin typeface="Arial"/>
              <a:ea typeface="Arial"/>
              <a:cs typeface="Arial"/>
              <a:sym typeface="Arial"/>
            </a:endParaRPr>
          </a:p>
          <a:p>
            <a:pPr indent="-330200" lvl="0" marL="457200" rtl="0" algn="l">
              <a:lnSpc>
                <a:spcPct val="115000"/>
              </a:lnSpc>
              <a:spcBef>
                <a:spcPts val="1200"/>
              </a:spcBef>
              <a:spcAft>
                <a:spcPts val="0"/>
              </a:spcAft>
              <a:buSzPts val="1600"/>
              <a:buChar char="●"/>
            </a:pPr>
            <a:r>
              <a:rPr lang="en-US" sz="1600">
                <a:latin typeface="Arial"/>
                <a:ea typeface="Arial"/>
                <a:cs typeface="Arial"/>
                <a:sym typeface="Arial"/>
              </a:rPr>
              <a:t>This component specifies </a:t>
            </a:r>
            <a:r>
              <a:rPr b="1" lang="en-US" sz="1600">
                <a:latin typeface="Arial"/>
                <a:ea typeface="Arial"/>
                <a:cs typeface="Arial"/>
                <a:sym typeface="Arial"/>
              </a:rPr>
              <a:t>what documents and records must be maintained</a:t>
            </a:r>
            <a:r>
              <a:rPr lang="en-US" sz="1600">
                <a:latin typeface="Arial"/>
                <a:ea typeface="Arial"/>
                <a:cs typeface="Arial"/>
                <a:sym typeface="Arial"/>
              </a:rPr>
              <a:t>.</a:t>
            </a:r>
            <a:endParaRPr sz="1600">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g3b72396eeeb_0_2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106" name="Google Shape;106;g3b72396eeeb_0_29"/>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lnSpc>
                <a:spcPct val="115000"/>
              </a:lnSpc>
              <a:spcBef>
                <a:spcPts val="1400"/>
              </a:spcBef>
              <a:spcAft>
                <a:spcPts val="0"/>
              </a:spcAft>
              <a:buClr>
                <a:schemeClr val="dk1"/>
              </a:buClr>
              <a:buSzPts val="1100"/>
              <a:buFont typeface="Arial"/>
              <a:buNone/>
            </a:pPr>
            <a:r>
              <a:rPr b="1" lang="en-US" sz="1600">
                <a:latin typeface="Arial"/>
                <a:ea typeface="Arial"/>
                <a:cs typeface="Arial"/>
                <a:sym typeface="Arial"/>
              </a:rPr>
              <a:t>7. Review and Corrective Actions</a:t>
            </a:r>
            <a:endParaRPr b="1" sz="16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600">
                <a:latin typeface="Arial"/>
                <a:ea typeface="Arial"/>
                <a:cs typeface="Arial"/>
                <a:sym typeface="Arial"/>
              </a:rPr>
              <a:t>This component ensures </a:t>
            </a:r>
            <a:r>
              <a:rPr b="1" lang="en-US" sz="1600">
                <a:latin typeface="Arial"/>
                <a:ea typeface="Arial"/>
                <a:cs typeface="Arial"/>
                <a:sym typeface="Arial"/>
              </a:rPr>
              <a:t>continuous monitoring and improvement</a:t>
            </a:r>
            <a:r>
              <a:rPr lang="en-US" sz="1600">
                <a:latin typeface="Arial"/>
                <a:ea typeface="Arial"/>
                <a:cs typeface="Arial"/>
                <a:sym typeface="Arial"/>
              </a:rPr>
              <a:t> of quality.</a:t>
            </a:r>
            <a:endParaRPr sz="16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600">
                <a:latin typeface="Arial"/>
                <a:ea typeface="Arial"/>
                <a:cs typeface="Arial"/>
                <a:sym typeface="Arial"/>
              </a:rPr>
              <a:t>Review Activities:</a:t>
            </a:r>
            <a:endParaRPr b="1" sz="1600">
              <a:latin typeface="Arial"/>
              <a:ea typeface="Arial"/>
              <a:cs typeface="Arial"/>
              <a:sym typeface="Arial"/>
            </a:endParaRPr>
          </a:p>
          <a:p>
            <a:pPr indent="-330200" lvl="0" marL="457200" rtl="0" algn="l">
              <a:lnSpc>
                <a:spcPct val="115000"/>
              </a:lnSpc>
              <a:spcBef>
                <a:spcPts val="1200"/>
              </a:spcBef>
              <a:spcAft>
                <a:spcPts val="0"/>
              </a:spcAft>
              <a:buSzPts val="1600"/>
              <a:buChar char="●"/>
            </a:pPr>
            <a:r>
              <a:rPr lang="en-US" sz="1600">
                <a:latin typeface="Arial"/>
                <a:ea typeface="Arial"/>
                <a:cs typeface="Arial"/>
                <a:sym typeface="Arial"/>
              </a:rPr>
              <a:t>Management reviews</a:t>
            </a:r>
            <a:endParaRPr sz="1600">
              <a:latin typeface="Arial"/>
              <a:ea typeface="Arial"/>
              <a:cs typeface="Arial"/>
              <a:sym typeface="Arial"/>
            </a:endParaRPr>
          </a:p>
          <a:p>
            <a:pPr indent="-330200" lvl="0" marL="457200" rtl="0" algn="l">
              <a:lnSpc>
                <a:spcPct val="115000"/>
              </a:lnSpc>
              <a:spcBef>
                <a:spcPts val="0"/>
              </a:spcBef>
              <a:spcAft>
                <a:spcPts val="0"/>
              </a:spcAft>
              <a:buSzPts val="1600"/>
              <a:buChar char="●"/>
            </a:pPr>
            <a:r>
              <a:rPr lang="en-US" sz="1600">
                <a:latin typeface="Arial"/>
                <a:ea typeface="Arial"/>
                <a:cs typeface="Arial"/>
                <a:sym typeface="Arial"/>
              </a:rPr>
              <a:t>Internal audits</a:t>
            </a:r>
            <a:endParaRPr sz="1600">
              <a:latin typeface="Arial"/>
              <a:ea typeface="Arial"/>
              <a:cs typeface="Arial"/>
              <a:sym typeface="Arial"/>
            </a:endParaRPr>
          </a:p>
          <a:p>
            <a:pPr indent="-330200" lvl="0" marL="457200" rtl="0" algn="l">
              <a:lnSpc>
                <a:spcPct val="115000"/>
              </a:lnSpc>
              <a:spcBef>
                <a:spcPts val="0"/>
              </a:spcBef>
              <a:spcAft>
                <a:spcPts val="0"/>
              </a:spcAft>
              <a:buSzPts val="1600"/>
              <a:buChar char="●"/>
            </a:pPr>
            <a:r>
              <a:rPr lang="en-US" sz="1600">
                <a:latin typeface="Arial"/>
                <a:ea typeface="Arial"/>
                <a:cs typeface="Arial"/>
                <a:sym typeface="Arial"/>
              </a:rPr>
              <a:t>Performance evaluations</a:t>
            </a:r>
            <a:endParaRPr sz="1600">
              <a:latin typeface="Arial"/>
              <a:ea typeface="Arial"/>
              <a:cs typeface="Arial"/>
              <a:sym typeface="Arial"/>
            </a:endParaRPr>
          </a:p>
          <a:p>
            <a:pPr indent="0" lvl="0" marL="0" rtl="0" algn="l">
              <a:spcBef>
                <a:spcPts val="1200"/>
              </a:spcBef>
              <a:spcAft>
                <a:spcPts val="0"/>
              </a:spcAft>
              <a:buNone/>
            </a:pPr>
            <a:r>
              <a:t/>
            </a:r>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g3b72396eeeb_0_35"/>
          <p:cNvSpPr txBox="1"/>
          <p:nvPr>
            <p:ph idx="1" type="body"/>
          </p:nvPr>
        </p:nvSpPr>
        <p:spPr>
          <a:xfrm>
            <a:off x="194450" y="378750"/>
            <a:ext cx="11159400" cy="5798100"/>
          </a:xfrm>
          <a:prstGeom prst="rect">
            <a:avLst/>
          </a:prstGeom>
        </p:spPr>
        <p:txBody>
          <a:bodyPr anchorCtr="0" anchor="t" bIns="45700" lIns="91425" spcFirstLastPara="1" rIns="91425" wrap="square" tIns="45700">
            <a:noAutofit/>
          </a:bodyPr>
          <a:lstStyle/>
          <a:p>
            <a:pPr indent="0" lvl="0" marL="0" rtl="0" algn="l">
              <a:lnSpc>
                <a:spcPct val="105000"/>
              </a:lnSpc>
              <a:spcBef>
                <a:spcPts val="1200"/>
              </a:spcBef>
              <a:spcAft>
                <a:spcPts val="0"/>
              </a:spcAft>
              <a:buClr>
                <a:schemeClr val="dk1"/>
              </a:buClr>
              <a:buSzPts val="1100"/>
              <a:buFont typeface="Arial"/>
              <a:buNone/>
            </a:pPr>
            <a:r>
              <a:rPr b="1" lang="en-US" sz="2100">
                <a:latin typeface="Arial"/>
                <a:ea typeface="Arial"/>
                <a:cs typeface="Arial"/>
                <a:sym typeface="Arial"/>
              </a:rPr>
              <a:t>Steps to Develop a Quality Plan</a:t>
            </a:r>
            <a:endParaRPr b="1" sz="2100">
              <a:latin typeface="Arial"/>
              <a:ea typeface="Arial"/>
              <a:cs typeface="Arial"/>
              <a:sym typeface="Arial"/>
            </a:endParaRPr>
          </a:p>
          <a:p>
            <a:pPr indent="-361950" lvl="0" marL="457200" rtl="0" algn="l">
              <a:lnSpc>
                <a:spcPct val="105000"/>
              </a:lnSpc>
              <a:spcBef>
                <a:spcPts val="1200"/>
              </a:spcBef>
              <a:spcAft>
                <a:spcPts val="0"/>
              </a:spcAft>
              <a:buSzPts val="2100"/>
              <a:buAutoNum type="arabicPeriod"/>
            </a:pPr>
            <a:r>
              <a:rPr lang="en-US" sz="2100">
                <a:latin typeface="Arial"/>
                <a:ea typeface="Arial"/>
                <a:cs typeface="Arial"/>
                <a:sym typeface="Arial"/>
              </a:rPr>
              <a:t>Identify customer requirements:</a:t>
            </a:r>
            <a:endParaRPr b="1" sz="1400">
              <a:latin typeface="Arial"/>
              <a:ea typeface="Arial"/>
              <a:cs typeface="Arial"/>
              <a:sym typeface="Arial"/>
            </a:endParaRPr>
          </a:p>
          <a:p>
            <a:pPr indent="0" lvl="0" marL="0" rtl="0" algn="l">
              <a:lnSpc>
                <a:spcPct val="105000"/>
              </a:lnSpc>
              <a:spcBef>
                <a:spcPts val="1200"/>
              </a:spcBef>
              <a:spcAft>
                <a:spcPts val="0"/>
              </a:spcAft>
              <a:buNone/>
            </a:pPr>
            <a:r>
              <a:rPr lang="en-US" sz="1700">
                <a:latin typeface="Arial"/>
                <a:ea typeface="Arial"/>
                <a:cs typeface="Arial"/>
                <a:sym typeface="Arial"/>
              </a:rPr>
              <a:t>The first step is to clearly understand </a:t>
            </a:r>
            <a:r>
              <a:rPr b="1" lang="en-US" sz="1700">
                <a:latin typeface="Arial"/>
                <a:ea typeface="Arial"/>
                <a:cs typeface="Arial"/>
                <a:sym typeface="Arial"/>
              </a:rPr>
              <a:t>what the customer expects</a:t>
            </a:r>
            <a:r>
              <a:rPr lang="en-US" sz="1700">
                <a:latin typeface="Arial"/>
                <a:ea typeface="Arial"/>
                <a:cs typeface="Arial"/>
                <a:sym typeface="Arial"/>
              </a:rPr>
              <a:t> from the product or service.</a:t>
            </a:r>
            <a:endParaRPr sz="1700">
              <a:latin typeface="Arial"/>
              <a:ea typeface="Arial"/>
              <a:cs typeface="Arial"/>
              <a:sym typeface="Arial"/>
            </a:endParaRPr>
          </a:p>
          <a:p>
            <a:pPr indent="0" lvl="0" marL="0" rtl="0" algn="l">
              <a:lnSpc>
                <a:spcPct val="105000"/>
              </a:lnSpc>
              <a:spcBef>
                <a:spcPts val="1200"/>
              </a:spcBef>
              <a:spcAft>
                <a:spcPts val="0"/>
              </a:spcAft>
              <a:buNone/>
            </a:pPr>
            <a:r>
              <a:rPr b="1" lang="en-US" sz="1700">
                <a:latin typeface="Arial"/>
                <a:ea typeface="Arial"/>
                <a:cs typeface="Arial"/>
                <a:sym typeface="Arial"/>
              </a:rPr>
              <a:t>Includes:</a:t>
            </a:r>
            <a:endParaRPr b="1" sz="1700">
              <a:latin typeface="Arial"/>
              <a:ea typeface="Arial"/>
              <a:cs typeface="Arial"/>
              <a:sym typeface="Arial"/>
            </a:endParaRPr>
          </a:p>
          <a:p>
            <a:pPr indent="-336550" lvl="0" marL="457200" rtl="0" algn="l">
              <a:lnSpc>
                <a:spcPct val="105000"/>
              </a:lnSpc>
              <a:spcBef>
                <a:spcPts val="1200"/>
              </a:spcBef>
              <a:spcAft>
                <a:spcPts val="0"/>
              </a:spcAft>
              <a:buSzPts val="1700"/>
              <a:buFont typeface="Arial"/>
              <a:buChar char="•"/>
            </a:pPr>
            <a:r>
              <a:rPr lang="en-US" sz="1700">
                <a:latin typeface="Arial"/>
                <a:ea typeface="Arial"/>
                <a:cs typeface="Arial"/>
                <a:sym typeface="Arial"/>
              </a:rPr>
              <a:t>Functional requirements</a:t>
            </a:r>
            <a:endParaRPr sz="1700">
              <a:latin typeface="Arial"/>
              <a:ea typeface="Arial"/>
              <a:cs typeface="Arial"/>
              <a:sym typeface="Arial"/>
            </a:endParaRPr>
          </a:p>
          <a:p>
            <a:pPr indent="-336550" lvl="0" marL="457200" rtl="0" algn="l">
              <a:lnSpc>
                <a:spcPct val="105000"/>
              </a:lnSpc>
              <a:spcBef>
                <a:spcPts val="0"/>
              </a:spcBef>
              <a:spcAft>
                <a:spcPts val="0"/>
              </a:spcAft>
              <a:buSzPts val="1700"/>
              <a:buFont typeface="Arial"/>
              <a:buChar char="•"/>
            </a:pPr>
            <a:r>
              <a:rPr lang="en-US" sz="1700">
                <a:latin typeface="Arial"/>
                <a:ea typeface="Arial"/>
                <a:cs typeface="Arial"/>
                <a:sym typeface="Arial"/>
              </a:rPr>
              <a:t>Performance expectations</a:t>
            </a:r>
            <a:endParaRPr sz="1700">
              <a:latin typeface="Arial"/>
              <a:ea typeface="Arial"/>
              <a:cs typeface="Arial"/>
              <a:sym typeface="Arial"/>
            </a:endParaRPr>
          </a:p>
          <a:p>
            <a:pPr indent="-336550" lvl="0" marL="457200" rtl="0" algn="l">
              <a:lnSpc>
                <a:spcPct val="105000"/>
              </a:lnSpc>
              <a:spcBef>
                <a:spcPts val="0"/>
              </a:spcBef>
              <a:spcAft>
                <a:spcPts val="0"/>
              </a:spcAft>
              <a:buSzPts val="1700"/>
              <a:buFont typeface="Arial"/>
              <a:buChar char="•"/>
            </a:pPr>
            <a:r>
              <a:rPr lang="en-US" sz="1700">
                <a:latin typeface="Arial"/>
                <a:ea typeface="Arial"/>
                <a:cs typeface="Arial"/>
                <a:sym typeface="Arial"/>
              </a:rPr>
              <a:t>Safety, reliability, and compliance needs</a:t>
            </a:r>
            <a:endParaRPr sz="1700">
              <a:latin typeface="Arial"/>
              <a:ea typeface="Arial"/>
              <a:cs typeface="Arial"/>
              <a:sym typeface="Arial"/>
            </a:endParaRPr>
          </a:p>
          <a:p>
            <a:pPr indent="0" lvl="0" marL="914400" rtl="0" algn="l">
              <a:lnSpc>
                <a:spcPct val="105000"/>
              </a:lnSpc>
              <a:spcBef>
                <a:spcPts val="1200"/>
              </a:spcBef>
              <a:spcAft>
                <a:spcPts val="0"/>
              </a:spcAft>
              <a:buNone/>
            </a:pPr>
            <a:r>
              <a:t/>
            </a:r>
            <a:endParaRPr sz="1700">
              <a:latin typeface="Arial"/>
              <a:ea typeface="Arial"/>
              <a:cs typeface="Arial"/>
              <a:sym typeface="Arial"/>
            </a:endParaRPr>
          </a:p>
          <a:p>
            <a:pPr indent="-349250" lvl="0" marL="457200" rtl="0" algn="l">
              <a:lnSpc>
                <a:spcPct val="105000"/>
              </a:lnSpc>
              <a:spcBef>
                <a:spcPts val="1200"/>
              </a:spcBef>
              <a:spcAft>
                <a:spcPts val="0"/>
              </a:spcAft>
              <a:buSzPts val="1900"/>
              <a:buAutoNum type="arabicPeriod"/>
            </a:pPr>
            <a:r>
              <a:rPr lang="en-US" sz="1900">
                <a:latin typeface="Arial"/>
                <a:ea typeface="Arial"/>
                <a:cs typeface="Arial"/>
                <a:sym typeface="Arial"/>
              </a:rPr>
              <a:t>Define quality standards:</a:t>
            </a:r>
            <a:endParaRPr sz="1900">
              <a:latin typeface="Arial"/>
              <a:ea typeface="Arial"/>
              <a:cs typeface="Arial"/>
              <a:sym typeface="Arial"/>
            </a:endParaRPr>
          </a:p>
          <a:p>
            <a:pPr indent="0" lvl="0" marL="0" rtl="0" algn="l">
              <a:lnSpc>
                <a:spcPct val="105000"/>
              </a:lnSpc>
              <a:spcBef>
                <a:spcPts val="1200"/>
              </a:spcBef>
              <a:spcAft>
                <a:spcPts val="0"/>
              </a:spcAft>
              <a:buNone/>
            </a:pPr>
            <a:r>
              <a:rPr lang="en-US" sz="1700">
                <a:latin typeface="Arial"/>
                <a:ea typeface="Arial"/>
                <a:cs typeface="Arial"/>
                <a:sym typeface="Arial"/>
              </a:rPr>
              <a:t>Quality standards specify </a:t>
            </a:r>
            <a:r>
              <a:rPr b="1" lang="en-US" sz="1700">
                <a:latin typeface="Arial"/>
                <a:ea typeface="Arial"/>
                <a:cs typeface="Arial"/>
                <a:sym typeface="Arial"/>
              </a:rPr>
              <a:t>benchmarks and guidelines</a:t>
            </a:r>
            <a:r>
              <a:rPr lang="en-US" sz="1700">
                <a:latin typeface="Arial"/>
                <a:ea typeface="Arial"/>
                <a:cs typeface="Arial"/>
                <a:sym typeface="Arial"/>
              </a:rPr>
              <a:t> that must be followed to meet customer requirements.</a:t>
            </a:r>
            <a:endParaRPr sz="1700">
              <a:latin typeface="Arial"/>
              <a:ea typeface="Arial"/>
              <a:cs typeface="Arial"/>
              <a:sym typeface="Arial"/>
            </a:endParaRPr>
          </a:p>
          <a:p>
            <a:pPr indent="0" lvl="0" marL="0" rtl="0" algn="l">
              <a:lnSpc>
                <a:spcPct val="105000"/>
              </a:lnSpc>
              <a:spcBef>
                <a:spcPts val="1200"/>
              </a:spcBef>
              <a:spcAft>
                <a:spcPts val="0"/>
              </a:spcAft>
              <a:buNone/>
            </a:pPr>
            <a:r>
              <a:rPr b="1" lang="en-US" sz="1700">
                <a:latin typeface="Arial"/>
                <a:ea typeface="Arial"/>
                <a:cs typeface="Arial"/>
                <a:sym typeface="Arial"/>
              </a:rPr>
              <a:t>Includes:</a:t>
            </a:r>
            <a:endParaRPr b="1" sz="1700">
              <a:latin typeface="Arial"/>
              <a:ea typeface="Arial"/>
              <a:cs typeface="Arial"/>
              <a:sym typeface="Arial"/>
            </a:endParaRPr>
          </a:p>
          <a:p>
            <a:pPr indent="-336550" lvl="0" marL="457200" rtl="0" algn="l">
              <a:lnSpc>
                <a:spcPct val="105000"/>
              </a:lnSpc>
              <a:spcBef>
                <a:spcPts val="1200"/>
              </a:spcBef>
              <a:spcAft>
                <a:spcPts val="0"/>
              </a:spcAft>
              <a:buSzPts val="1700"/>
              <a:buFont typeface="Arial"/>
              <a:buChar char="•"/>
            </a:pPr>
            <a:r>
              <a:rPr lang="en-US" sz="1700">
                <a:latin typeface="Arial"/>
                <a:ea typeface="Arial"/>
                <a:cs typeface="Arial"/>
                <a:sym typeface="Arial"/>
              </a:rPr>
              <a:t>International standards (ISO 9001)</a:t>
            </a:r>
            <a:endParaRPr sz="1700">
              <a:latin typeface="Arial"/>
              <a:ea typeface="Arial"/>
              <a:cs typeface="Arial"/>
              <a:sym typeface="Arial"/>
            </a:endParaRPr>
          </a:p>
          <a:p>
            <a:pPr indent="-336550" lvl="0" marL="457200" rtl="0" algn="l">
              <a:lnSpc>
                <a:spcPct val="105000"/>
              </a:lnSpc>
              <a:spcBef>
                <a:spcPts val="0"/>
              </a:spcBef>
              <a:spcAft>
                <a:spcPts val="0"/>
              </a:spcAft>
              <a:buSzPts val="1700"/>
              <a:buFont typeface="Arial"/>
              <a:buChar char="•"/>
            </a:pPr>
            <a:r>
              <a:rPr lang="en-US" sz="1700">
                <a:latin typeface="Arial"/>
                <a:ea typeface="Arial"/>
                <a:cs typeface="Arial"/>
                <a:sym typeface="Arial"/>
              </a:rPr>
              <a:t>Industry standards</a:t>
            </a:r>
            <a:endParaRPr sz="1700">
              <a:latin typeface="Arial"/>
              <a:ea typeface="Arial"/>
              <a:cs typeface="Arial"/>
              <a:sym typeface="Arial"/>
            </a:endParaRPr>
          </a:p>
          <a:p>
            <a:pPr indent="-336550" lvl="0" marL="457200" rtl="0" algn="l">
              <a:lnSpc>
                <a:spcPct val="105000"/>
              </a:lnSpc>
              <a:spcBef>
                <a:spcPts val="0"/>
              </a:spcBef>
              <a:spcAft>
                <a:spcPts val="0"/>
              </a:spcAft>
              <a:buSzPts val="1700"/>
              <a:buFont typeface="Arial"/>
              <a:buChar char="•"/>
            </a:pPr>
            <a:r>
              <a:rPr lang="en-US" sz="1700">
                <a:latin typeface="Arial"/>
                <a:ea typeface="Arial"/>
                <a:cs typeface="Arial"/>
                <a:sym typeface="Arial"/>
              </a:rPr>
              <a:t>Organizational quality guidelines</a:t>
            </a:r>
            <a:endParaRPr sz="1700">
              <a:latin typeface="Arial"/>
              <a:ea typeface="Arial"/>
              <a:cs typeface="Arial"/>
              <a:sym typeface="Arial"/>
            </a:endParaRPr>
          </a:p>
          <a:p>
            <a:pPr indent="0" lvl="0" marL="0" rtl="0" algn="l">
              <a:lnSpc>
                <a:spcPct val="80000"/>
              </a:lnSpc>
              <a:spcBef>
                <a:spcPts val="1200"/>
              </a:spcBef>
              <a:spcAft>
                <a:spcPts val="0"/>
              </a:spcAft>
              <a:buNone/>
            </a:pPr>
            <a:r>
              <a:t/>
            </a:r>
            <a:endParaRPr sz="21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g3b72396eeeb_0_43"/>
          <p:cNvSpPr txBox="1"/>
          <p:nvPr>
            <p:ph idx="1" type="body"/>
          </p:nvPr>
        </p:nvSpPr>
        <p:spPr>
          <a:xfrm>
            <a:off x="299475" y="378750"/>
            <a:ext cx="11054400" cy="5798100"/>
          </a:xfrm>
          <a:prstGeom prst="rect">
            <a:avLst/>
          </a:prstGeom>
        </p:spPr>
        <p:txBody>
          <a:bodyPr anchorCtr="0" anchor="t" bIns="45700" lIns="91425" spcFirstLastPara="1" rIns="91425" wrap="square" tIns="45700">
            <a:normAutofit/>
          </a:bodyPr>
          <a:lstStyle/>
          <a:p>
            <a:pPr indent="0" lvl="0" marL="0" rtl="0" algn="l">
              <a:lnSpc>
                <a:spcPct val="115000"/>
              </a:lnSpc>
              <a:spcBef>
                <a:spcPts val="1400"/>
              </a:spcBef>
              <a:spcAft>
                <a:spcPts val="0"/>
              </a:spcAft>
              <a:buClr>
                <a:schemeClr val="dk1"/>
              </a:buClr>
              <a:buSzPts val="1100"/>
              <a:buFont typeface="Arial"/>
              <a:buNone/>
            </a:pPr>
            <a:r>
              <a:rPr b="1" lang="en-US" sz="1800">
                <a:latin typeface="Arial"/>
                <a:ea typeface="Arial"/>
                <a:cs typeface="Arial"/>
                <a:sym typeface="Arial"/>
              </a:rPr>
              <a:t>3. Set Measurable Quality Objectives</a:t>
            </a:r>
            <a:endParaRPr b="1" sz="18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800">
                <a:latin typeface="Arial"/>
                <a:ea typeface="Arial"/>
                <a:cs typeface="Arial"/>
                <a:sym typeface="Arial"/>
              </a:rPr>
              <a:t>Quality objectives translate standards into </a:t>
            </a:r>
            <a:r>
              <a:rPr b="1" lang="en-US" sz="1800">
                <a:latin typeface="Arial"/>
                <a:ea typeface="Arial"/>
                <a:cs typeface="Arial"/>
                <a:sym typeface="Arial"/>
              </a:rPr>
              <a:t>specific and measurable goals</a:t>
            </a:r>
            <a:r>
              <a:rPr lang="en-US" sz="1800">
                <a:latin typeface="Arial"/>
                <a:ea typeface="Arial"/>
                <a:cs typeface="Arial"/>
                <a:sym typeface="Arial"/>
              </a:rPr>
              <a:t>.</a:t>
            </a:r>
            <a:endParaRPr sz="18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800">
                <a:latin typeface="Arial"/>
                <a:ea typeface="Arial"/>
                <a:cs typeface="Arial"/>
                <a:sym typeface="Arial"/>
              </a:rPr>
              <a:t>Characteristics:</a:t>
            </a:r>
            <a:endParaRPr b="1" sz="1800">
              <a:latin typeface="Arial"/>
              <a:ea typeface="Arial"/>
              <a:cs typeface="Arial"/>
              <a:sym typeface="Arial"/>
            </a:endParaRPr>
          </a:p>
          <a:p>
            <a:pPr indent="-342900" lvl="0" marL="457200" rtl="0" algn="l">
              <a:lnSpc>
                <a:spcPct val="115000"/>
              </a:lnSpc>
              <a:spcBef>
                <a:spcPts val="1200"/>
              </a:spcBef>
              <a:spcAft>
                <a:spcPts val="0"/>
              </a:spcAft>
              <a:buSzPts val="1800"/>
              <a:buChar char="●"/>
            </a:pPr>
            <a:r>
              <a:rPr lang="en-US" sz="1800">
                <a:latin typeface="Arial"/>
                <a:ea typeface="Arial"/>
                <a:cs typeface="Arial"/>
                <a:sym typeface="Arial"/>
              </a:rPr>
              <a:t>Quantifiable</a:t>
            </a:r>
            <a:endParaRPr sz="1800">
              <a:latin typeface="Arial"/>
              <a:ea typeface="Arial"/>
              <a:cs typeface="Arial"/>
              <a:sym typeface="Arial"/>
            </a:endParaRPr>
          </a:p>
          <a:p>
            <a:pPr indent="-342900" lvl="0" marL="457200" rtl="0" algn="l">
              <a:lnSpc>
                <a:spcPct val="115000"/>
              </a:lnSpc>
              <a:spcBef>
                <a:spcPts val="0"/>
              </a:spcBef>
              <a:spcAft>
                <a:spcPts val="0"/>
              </a:spcAft>
              <a:buSzPts val="1800"/>
              <a:buChar char="●"/>
            </a:pPr>
            <a:r>
              <a:rPr lang="en-US" sz="1800">
                <a:latin typeface="Arial"/>
                <a:ea typeface="Arial"/>
                <a:cs typeface="Arial"/>
                <a:sym typeface="Arial"/>
              </a:rPr>
              <a:t>Time-bound</a:t>
            </a:r>
            <a:endParaRPr sz="1800">
              <a:latin typeface="Arial"/>
              <a:ea typeface="Arial"/>
              <a:cs typeface="Arial"/>
              <a:sym typeface="Arial"/>
            </a:endParaRPr>
          </a:p>
          <a:p>
            <a:pPr indent="-342900" lvl="0" marL="457200" rtl="0" algn="l">
              <a:lnSpc>
                <a:spcPct val="115000"/>
              </a:lnSpc>
              <a:spcBef>
                <a:spcPts val="0"/>
              </a:spcBef>
              <a:spcAft>
                <a:spcPts val="0"/>
              </a:spcAft>
              <a:buSzPts val="1800"/>
              <a:buChar char="●"/>
            </a:pPr>
            <a:r>
              <a:rPr lang="en-US" sz="1800">
                <a:latin typeface="Arial"/>
                <a:ea typeface="Arial"/>
                <a:cs typeface="Arial"/>
                <a:sym typeface="Arial"/>
              </a:rPr>
              <a:t>Aligned with quality policy</a:t>
            </a:r>
            <a:endParaRPr sz="1800">
              <a:latin typeface="Arial"/>
              <a:ea typeface="Arial"/>
              <a:cs typeface="Arial"/>
              <a:sym typeface="Arial"/>
            </a:endParaRPr>
          </a:p>
          <a:p>
            <a:pPr indent="0" lvl="0" marL="0" rtl="0" algn="l">
              <a:lnSpc>
                <a:spcPct val="115000"/>
              </a:lnSpc>
              <a:spcBef>
                <a:spcPts val="1400"/>
              </a:spcBef>
              <a:spcAft>
                <a:spcPts val="0"/>
              </a:spcAft>
              <a:buNone/>
            </a:pPr>
            <a:r>
              <a:rPr b="1" lang="en-US" sz="1800">
                <a:latin typeface="Arial"/>
                <a:ea typeface="Arial"/>
                <a:cs typeface="Arial"/>
                <a:sym typeface="Arial"/>
              </a:rPr>
              <a:t>4. Allocate Responsibilities</a:t>
            </a:r>
            <a:endParaRPr b="1" sz="1800">
              <a:latin typeface="Arial"/>
              <a:ea typeface="Arial"/>
              <a:cs typeface="Arial"/>
              <a:sym typeface="Arial"/>
            </a:endParaRPr>
          </a:p>
          <a:p>
            <a:pPr indent="0" lvl="0" marL="0" rtl="0" algn="l">
              <a:lnSpc>
                <a:spcPct val="115000"/>
              </a:lnSpc>
              <a:spcBef>
                <a:spcPts val="1200"/>
              </a:spcBef>
              <a:spcAft>
                <a:spcPts val="0"/>
              </a:spcAft>
              <a:buNone/>
            </a:pPr>
            <a:r>
              <a:rPr lang="en-US" sz="1800">
                <a:latin typeface="Arial"/>
                <a:ea typeface="Arial"/>
                <a:cs typeface="Arial"/>
                <a:sym typeface="Arial"/>
              </a:rPr>
              <a:t>This step involves assigning </a:t>
            </a:r>
            <a:r>
              <a:rPr b="1" lang="en-US" sz="1800">
                <a:latin typeface="Arial"/>
                <a:ea typeface="Arial"/>
                <a:cs typeface="Arial"/>
                <a:sym typeface="Arial"/>
              </a:rPr>
              <a:t>roles and responsibilities</a:t>
            </a:r>
            <a:r>
              <a:rPr lang="en-US" sz="1800">
                <a:latin typeface="Arial"/>
                <a:ea typeface="Arial"/>
                <a:cs typeface="Arial"/>
                <a:sym typeface="Arial"/>
              </a:rPr>
              <a:t> related to quality activities.</a:t>
            </a:r>
            <a:endParaRPr sz="1800">
              <a:latin typeface="Arial"/>
              <a:ea typeface="Arial"/>
              <a:cs typeface="Arial"/>
              <a:sym typeface="Arial"/>
            </a:endParaRPr>
          </a:p>
          <a:p>
            <a:pPr indent="0" lvl="0" marL="0" rtl="0" algn="l">
              <a:lnSpc>
                <a:spcPct val="115000"/>
              </a:lnSpc>
              <a:spcBef>
                <a:spcPts val="1200"/>
              </a:spcBef>
              <a:spcAft>
                <a:spcPts val="0"/>
              </a:spcAft>
              <a:buNone/>
            </a:pPr>
            <a:r>
              <a:rPr b="1" lang="en-US" sz="1800">
                <a:latin typeface="Arial"/>
                <a:ea typeface="Arial"/>
                <a:cs typeface="Arial"/>
                <a:sym typeface="Arial"/>
              </a:rPr>
              <a:t>Includes:</a:t>
            </a:r>
            <a:endParaRPr b="1" sz="1800">
              <a:latin typeface="Arial"/>
              <a:ea typeface="Arial"/>
              <a:cs typeface="Arial"/>
              <a:sym typeface="Arial"/>
            </a:endParaRPr>
          </a:p>
          <a:p>
            <a:pPr indent="-342900" lvl="0" marL="457200" rtl="0" algn="l">
              <a:lnSpc>
                <a:spcPct val="115000"/>
              </a:lnSpc>
              <a:spcBef>
                <a:spcPts val="1200"/>
              </a:spcBef>
              <a:spcAft>
                <a:spcPts val="0"/>
              </a:spcAft>
              <a:buSzPts val="1800"/>
              <a:buChar char="●"/>
            </a:pPr>
            <a:r>
              <a:rPr lang="en-US" sz="1800">
                <a:latin typeface="Arial"/>
                <a:ea typeface="Arial"/>
                <a:cs typeface="Arial"/>
                <a:sym typeface="Arial"/>
              </a:rPr>
              <a:t>Who performs inspections</a:t>
            </a:r>
            <a:endParaRPr sz="1800">
              <a:latin typeface="Arial"/>
              <a:ea typeface="Arial"/>
              <a:cs typeface="Arial"/>
              <a:sym typeface="Arial"/>
            </a:endParaRPr>
          </a:p>
          <a:p>
            <a:pPr indent="-342900" lvl="0" marL="457200" rtl="0" algn="l">
              <a:lnSpc>
                <a:spcPct val="115000"/>
              </a:lnSpc>
              <a:spcBef>
                <a:spcPts val="0"/>
              </a:spcBef>
              <a:spcAft>
                <a:spcPts val="0"/>
              </a:spcAft>
              <a:buSzPts val="1800"/>
              <a:buChar char="●"/>
            </a:pPr>
            <a:r>
              <a:rPr lang="en-US" sz="1800">
                <a:latin typeface="Arial"/>
                <a:ea typeface="Arial"/>
                <a:cs typeface="Arial"/>
                <a:sym typeface="Arial"/>
              </a:rPr>
              <a:t>Who approves quality documents</a:t>
            </a:r>
            <a:endParaRPr sz="1800">
              <a:latin typeface="Arial"/>
              <a:ea typeface="Arial"/>
              <a:cs typeface="Arial"/>
              <a:sym typeface="Arial"/>
            </a:endParaRPr>
          </a:p>
          <a:p>
            <a:pPr indent="-342900" lvl="0" marL="457200" rtl="0" algn="l">
              <a:lnSpc>
                <a:spcPct val="115000"/>
              </a:lnSpc>
              <a:spcBef>
                <a:spcPts val="0"/>
              </a:spcBef>
              <a:spcAft>
                <a:spcPts val="0"/>
              </a:spcAft>
              <a:buSzPts val="1800"/>
              <a:buChar char="●"/>
            </a:pPr>
            <a:r>
              <a:rPr lang="en-US" sz="1800">
                <a:latin typeface="Arial"/>
                <a:ea typeface="Arial"/>
                <a:cs typeface="Arial"/>
                <a:sym typeface="Arial"/>
              </a:rPr>
              <a:t>Who handles corrective actions</a:t>
            </a:r>
            <a:endParaRPr sz="1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g3b72396eeeb_0_50"/>
          <p:cNvSpPr txBox="1"/>
          <p:nvPr>
            <p:ph idx="1" type="body"/>
          </p:nvPr>
        </p:nvSpPr>
        <p:spPr>
          <a:xfrm>
            <a:off x="320475" y="273725"/>
            <a:ext cx="11033400" cy="5903100"/>
          </a:xfrm>
          <a:prstGeom prst="rect">
            <a:avLst/>
          </a:prstGeom>
        </p:spPr>
        <p:txBody>
          <a:bodyPr anchorCtr="0" anchor="t" bIns="45700" lIns="91425" spcFirstLastPara="1" rIns="91425" wrap="square" tIns="45700">
            <a:noAutofit/>
          </a:bodyPr>
          <a:lstStyle/>
          <a:p>
            <a:pPr indent="0" lvl="0" marL="0" rtl="0" algn="l">
              <a:lnSpc>
                <a:spcPct val="105000"/>
              </a:lnSpc>
              <a:spcBef>
                <a:spcPts val="1400"/>
              </a:spcBef>
              <a:spcAft>
                <a:spcPts val="0"/>
              </a:spcAft>
              <a:buClr>
                <a:schemeClr val="dk1"/>
              </a:buClr>
              <a:buSzPts val="1100"/>
              <a:buFont typeface="Arial"/>
              <a:buNone/>
            </a:pPr>
            <a:r>
              <a:rPr b="1" lang="en-US" sz="1800">
                <a:latin typeface="Arial"/>
                <a:ea typeface="Arial"/>
                <a:cs typeface="Arial"/>
                <a:sym typeface="Arial"/>
              </a:rPr>
              <a:t>5. Select Quality Tools and Techniques</a:t>
            </a:r>
            <a:endParaRPr b="1" sz="1800">
              <a:latin typeface="Arial"/>
              <a:ea typeface="Arial"/>
              <a:cs typeface="Arial"/>
              <a:sym typeface="Arial"/>
            </a:endParaRPr>
          </a:p>
          <a:p>
            <a:pPr indent="0" lvl="0" marL="0" rtl="0" algn="l">
              <a:lnSpc>
                <a:spcPct val="105000"/>
              </a:lnSpc>
              <a:spcBef>
                <a:spcPts val="1200"/>
              </a:spcBef>
              <a:spcAft>
                <a:spcPts val="0"/>
              </a:spcAft>
              <a:buClr>
                <a:schemeClr val="dk1"/>
              </a:buClr>
              <a:buSzPts val="1100"/>
              <a:buFont typeface="Arial"/>
              <a:buNone/>
            </a:pPr>
            <a:r>
              <a:rPr lang="en-US" sz="1800">
                <a:latin typeface="Arial"/>
                <a:ea typeface="Arial"/>
                <a:cs typeface="Arial"/>
                <a:sym typeface="Arial"/>
              </a:rPr>
              <a:t>Appropriate </a:t>
            </a:r>
            <a:r>
              <a:rPr b="1" lang="en-US" sz="1800">
                <a:latin typeface="Arial"/>
                <a:ea typeface="Arial"/>
                <a:cs typeface="Arial"/>
                <a:sym typeface="Arial"/>
              </a:rPr>
              <a:t>quality tools and techniques</a:t>
            </a:r>
            <a:r>
              <a:rPr lang="en-US" sz="1800">
                <a:latin typeface="Arial"/>
                <a:ea typeface="Arial"/>
                <a:cs typeface="Arial"/>
                <a:sym typeface="Arial"/>
              </a:rPr>
              <a:t> are chosen to control and improve quality.</a:t>
            </a:r>
            <a:endParaRPr sz="1800">
              <a:latin typeface="Arial"/>
              <a:ea typeface="Arial"/>
              <a:cs typeface="Arial"/>
              <a:sym typeface="Arial"/>
            </a:endParaRPr>
          </a:p>
          <a:p>
            <a:pPr indent="0" lvl="0" marL="0" rtl="0" algn="l">
              <a:lnSpc>
                <a:spcPct val="105000"/>
              </a:lnSpc>
              <a:spcBef>
                <a:spcPts val="1200"/>
              </a:spcBef>
              <a:spcAft>
                <a:spcPts val="0"/>
              </a:spcAft>
              <a:buClr>
                <a:schemeClr val="dk1"/>
              </a:buClr>
              <a:buSzPts val="1100"/>
              <a:buFont typeface="Arial"/>
              <a:buNone/>
            </a:pPr>
            <a:r>
              <a:rPr b="1" lang="en-US" sz="1800">
                <a:latin typeface="Arial"/>
                <a:ea typeface="Arial"/>
                <a:cs typeface="Arial"/>
                <a:sym typeface="Arial"/>
              </a:rPr>
              <a:t>Examples:</a:t>
            </a:r>
            <a:endParaRPr b="1" sz="1800">
              <a:latin typeface="Arial"/>
              <a:ea typeface="Arial"/>
              <a:cs typeface="Arial"/>
              <a:sym typeface="Arial"/>
            </a:endParaRPr>
          </a:p>
          <a:p>
            <a:pPr indent="-342900" lvl="0" marL="457200" rtl="0" algn="l">
              <a:lnSpc>
                <a:spcPct val="105000"/>
              </a:lnSpc>
              <a:spcBef>
                <a:spcPts val="1200"/>
              </a:spcBef>
              <a:spcAft>
                <a:spcPts val="0"/>
              </a:spcAft>
              <a:buSzPts val="1800"/>
              <a:buChar char="●"/>
            </a:pPr>
            <a:r>
              <a:rPr lang="en-US" sz="1800">
                <a:latin typeface="Arial"/>
                <a:ea typeface="Arial"/>
                <a:cs typeface="Arial"/>
                <a:sym typeface="Arial"/>
              </a:rPr>
              <a:t>Checklists</a:t>
            </a:r>
            <a:endParaRPr sz="1800">
              <a:latin typeface="Arial"/>
              <a:ea typeface="Arial"/>
              <a:cs typeface="Arial"/>
              <a:sym typeface="Arial"/>
            </a:endParaRPr>
          </a:p>
          <a:p>
            <a:pPr indent="-342900" lvl="0" marL="457200" rtl="0" algn="l">
              <a:lnSpc>
                <a:spcPct val="105000"/>
              </a:lnSpc>
              <a:spcBef>
                <a:spcPts val="0"/>
              </a:spcBef>
              <a:spcAft>
                <a:spcPts val="0"/>
              </a:spcAft>
              <a:buSzPts val="1800"/>
              <a:buChar char="●"/>
            </a:pPr>
            <a:r>
              <a:rPr lang="en-US" sz="1800">
                <a:latin typeface="Arial"/>
                <a:ea typeface="Arial"/>
                <a:cs typeface="Arial"/>
                <a:sym typeface="Arial"/>
              </a:rPr>
              <a:t>Control charts</a:t>
            </a:r>
            <a:endParaRPr sz="1800">
              <a:latin typeface="Arial"/>
              <a:ea typeface="Arial"/>
              <a:cs typeface="Arial"/>
              <a:sym typeface="Arial"/>
            </a:endParaRPr>
          </a:p>
          <a:p>
            <a:pPr indent="-342900" lvl="0" marL="457200" rtl="0" algn="l">
              <a:lnSpc>
                <a:spcPct val="105000"/>
              </a:lnSpc>
              <a:spcBef>
                <a:spcPts val="0"/>
              </a:spcBef>
              <a:spcAft>
                <a:spcPts val="0"/>
              </a:spcAft>
              <a:buSzPts val="1800"/>
              <a:buChar char="●"/>
            </a:pPr>
            <a:r>
              <a:rPr lang="en-US" sz="1800">
                <a:latin typeface="Arial"/>
                <a:ea typeface="Arial"/>
                <a:cs typeface="Arial"/>
                <a:sym typeface="Arial"/>
              </a:rPr>
              <a:t>Fishbone (cause-and-effect) diagrams</a:t>
            </a:r>
            <a:endParaRPr sz="1800">
              <a:latin typeface="Arial"/>
              <a:ea typeface="Arial"/>
              <a:cs typeface="Arial"/>
              <a:sym typeface="Arial"/>
            </a:endParaRPr>
          </a:p>
          <a:p>
            <a:pPr indent="-342900" lvl="0" marL="457200" rtl="0" algn="l">
              <a:lnSpc>
                <a:spcPct val="105000"/>
              </a:lnSpc>
              <a:spcBef>
                <a:spcPts val="0"/>
              </a:spcBef>
              <a:spcAft>
                <a:spcPts val="0"/>
              </a:spcAft>
              <a:buSzPts val="1800"/>
              <a:buChar char="●"/>
            </a:pPr>
            <a:r>
              <a:rPr lang="en-US" sz="1800">
                <a:latin typeface="Arial"/>
                <a:ea typeface="Arial"/>
                <a:cs typeface="Arial"/>
                <a:sym typeface="Arial"/>
              </a:rPr>
              <a:t>Audits and testing</a:t>
            </a:r>
            <a:endParaRPr sz="1800">
              <a:latin typeface="Arial"/>
              <a:ea typeface="Arial"/>
              <a:cs typeface="Arial"/>
              <a:sym typeface="Arial"/>
            </a:endParaRPr>
          </a:p>
          <a:p>
            <a:pPr indent="0" lvl="0" marL="0" rtl="0" algn="l">
              <a:lnSpc>
                <a:spcPct val="105000"/>
              </a:lnSpc>
              <a:spcBef>
                <a:spcPts val="1400"/>
              </a:spcBef>
              <a:spcAft>
                <a:spcPts val="0"/>
              </a:spcAft>
              <a:buNone/>
            </a:pPr>
            <a:r>
              <a:rPr b="1" lang="en-US" sz="1800">
                <a:latin typeface="Arial"/>
                <a:ea typeface="Arial"/>
                <a:cs typeface="Arial"/>
                <a:sym typeface="Arial"/>
              </a:rPr>
              <a:t>6. Monitor, Review, and Improve</a:t>
            </a:r>
            <a:endParaRPr b="1" sz="1800">
              <a:latin typeface="Arial"/>
              <a:ea typeface="Arial"/>
              <a:cs typeface="Arial"/>
              <a:sym typeface="Arial"/>
            </a:endParaRPr>
          </a:p>
          <a:p>
            <a:pPr indent="0" lvl="0" marL="0" rtl="0" algn="l">
              <a:lnSpc>
                <a:spcPct val="105000"/>
              </a:lnSpc>
              <a:spcBef>
                <a:spcPts val="1200"/>
              </a:spcBef>
              <a:spcAft>
                <a:spcPts val="0"/>
              </a:spcAft>
              <a:buNone/>
            </a:pPr>
            <a:r>
              <a:rPr lang="en-US" sz="1800">
                <a:latin typeface="Arial"/>
                <a:ea typeface="Arial"/>
                <a:cs typeface="Arial"/>
                <a:sym typeface="Arial"/>
              </a:rPr>
              <a:t>This step ensures </a:t>
            </a:r>
            <a:r>
              <a:rPr b="1" lang="en-US" sz="1800">
                <a:latin typeface="Arial"/>
                <a:ea typeface="Arial"/>
                <a:cs typeface="Arial"/>
                <a:sym typeface="Arial"/>
              </a:rPr>
              <a:t>continuous improvement</a:t>
            </a:r>
            <a:r>
              <a:rPr lang="en-US" sz="1800">
                <a:latin typeface="Arial"/>
                <a:ea typeface="Arial"/>
                <a:cs typeface="Arial"/>
                <a:sym typeface="Arial"/>
              </a:rPr>
              <a:t> of quality.</a:t>
            </a:r>
            <a:endParaRPr sz="1800">
              <a:latin typeface="Arial"/>
              <a:ea typeface="Arial"/>
              <a:cs typeface="Arial"/>
              <a:sym typeface="Arial"/>
            </a:endParaRPr>
          </a:p>
          <a:p>
            <a:pPr indent="0" lvl="0" marL="0" rtl="0" algn="l">
              <a:lnSpc>
                <a:spcPct val="105000"/>
              </a:lnSpc>
              <a:spcBef>
                <a:spcPts val="1200"/>
              </a:spcBef>
              <a:spcAft>
                <a:spcPts val="0"/>
              </a:spcAft>
              <a:buNone/>
            </a:pPr>
            <a:r>
              <a:rPr b="1" lang="en-US" sz="1800">
                <a:latin typeface="Arial"/>
                <a:ea typeface="Arial"/>
                <a:cs typeface="Arial"/>
                <a:sym typeface="Arial"/>
              </a:rPr>
              <a:t>Activities:</a:t>
            </a:r>
            <a:endParaRPr b="1" sz="1800">
              <a:latin typeface="Arial"/>
              <a:ea typeface="Arial"/>
              <a:cs typeface="Arial"/>
              <a:sym typeface="Arial"/>
            </a:endParaRPr>
          </a:p>
          <a:p>
            <a:pPr indent="-342900" lvl="0" marL="457200" rtl="0" algn="l">
              <a:lnSpc>
                <a:spcPct val="105000"/>
              </a:lnSpc>
              <a:spcBef>
                <a:spcPts val="1200"/>
              </a:spcBef>
              <a:spcAft>
                <a:spcPts val="0"/>
              </a:spcAft>
              <a:buSzPts val="1800"/>
              <a:buChar char="●"/>
            </a:pPr>
            <a:r>
              <a:rPr lang="en-US" sz="1800">
                <a:latin typeface="Arial"/>
                <a:ea typeface="Arial"/>
                <a:cs typeface="Arial"/>
                <a:sym typeface="Arial"/>
              </a:rPr>
              <a:t>Monitor performance using metrics</a:t>
            </a:r>
            <a:endParaRPr sz="1800">
              <a:latin typeface="Arial"/>
              <a:ea typeface="Arial"/>
              <a:cs typeface="Arial"/>
              <a:sym typeface="Arial"/>
            </a:endParaRPr>
          </a:p>
          <a:p>
            <a:pPr indent="-342900" lvl="0" marL="457200" rtl="0" algn="l">
              <a:lnSpc>
                <a:spcPct val="105000"/>
              </a:lnSpc>
              <a:spcBef>
                <a:spcPts val="0"/>
              </a:spcBef>
              <a:spcAft>
                <a:spcPts val="0"/>
              </a:spcAft>
              <a:buSzPts val="1800"/>
              <a:buChar char="●"/>
            </a:pPr>
            <a:r>
              <a:rPr lang="en-US" sz="1800">
                <a:latin typeface="Arial"/>
                <a:ea typeface="Arial"/>
                <a:cs typeface="Arial"/>
                <a:sym typeface="Arial"/>
              </a:rPr>
              <a:t>Conduct quality audits</a:t>
            </a:r>
            <a:endParaRPr sz="1800">
              <a:latin typeface="Arial"/>
              <a:ea typeface="Arial"/>
              <a:cs typeface="Arial"/>
              <a:sym typeface="Arial"/>
            </a:endParaRPr>
          </a:p>
          <a:p>
            <a:pPr indent="-342900" lvl="0" marL="457200" rtl="0" algn="l">
              <a:lnSpc>
                <a:spcPct val="105000"/>
              </a:lnSpc>
              <a:spcBef>
                <a:spcPts val="0"/>
              </a:spcBef>
              <a:spcAft>
                <a:spcPts val="0"/>
              </a:spcAft>
              <a:buSzPts val="1800"/>
              <a:buChar char="●"/>
            </a:pPr>
            <a:r>
              <a:rPr lang="en-US" sz="1800">
                <a:latin typeface="Arial"/>
                <a:ea typeface="Arial"/>
                <a:cs typeface="Arial"/>
                <a:sym typeface="Arial"/>
              </a:rPr>
              <a:t>Review results in management meetings</a:t>
            </a:r>
            <a:endParaRPr sz="1800">
              <a:latin typeface="Arial"/>
              <a:ea typeface="Arial"/>
              <a:cs typeface="Arial"/>
              <a:sym typeface="Arial"/>
            </a:endParaRPr>
          </a:p>
          <a:p>
            <a:pPr indent="-342900" lvl="0" marL="457200" rtl="0" algn="l">
              <a:lnSpc>
                <a:spcPct val="105000"/>
              </a:lnSpc>
              <a:spcBef>
                <a:spcPts val="0"/>
              </a:spcBef>
              <a:spcAft>
                <a:spcPts val="0"/>
              </a:spcAft>
              <a:buSzPts val="1800"/>
              <a:buChar char="●"/>
            </a:pPr>
            <a:r>
              <a:rPr lang="en-US" sz="1800">
                <a:latin typeface="Arial"/>
                <a:ea typeface="Arial"/>
                <a:cs typeface="Arial"/>
                <a:sym typeface="Arial"/>
              </a:rPr>
              <a:t>Implement corrective and preventive actions</a:t>
            </a:r>
            <a:endParaRPr sz="1800">
              <a:latin typeface="Arial"/>
              <a:ea typeface="Arial"/>
              <a:cs typeface="Arial"/>
              <a:sym typeface="Arial"/>
            </a:endParaRPr>
          </a:p>
          <a:p>
            <a:pPr indent="0" lvl="0" marL="0" rtl="0" algn="l">
              <a:lnSpc>
                <a:spcPct val="80000"/>
              </a:lnSpc>
              <a:spcBef>
                <a:spcPts val="1200"/>
              </a:spcBef>
              <a:spcAft>
                <a:spcPts val="0"/>
              </a:spcAft>
              <a:buNone/>
            </a:pPr>
            <a:r>
              <a:t/>
            </a:r>
            <a:endParaRPr sz="3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b72396eeeb_0_67"/>
          <p:cNvSpPr txBox="1"/>
          <p:nvPr>
            <p:ph idx="1" type="body"/>
          </p:nvPr>
        </p:nvSpPr>
        <p:spPr>
          <a:xfrm>
            <a:off x="267975" y="399755"/>
            <a:ext cx="11085900" cy="5798100"/>
          </a:xfrm>
          <a:prstGeom prst="rect">
            <a:avLst/>
          </a:prstGeom>
        </p:spPr>
        <p:txBody>
          <a:bodyPr anchorCtr="0" anchor="t" bIns="45700" lIns="91425" spcFirstLastPara="1" rIns="91425" wrap="square" tIns="45700">
            <a:normAutofit/>
          </a:bodyPr>
          <a:lstStyle/>
          <a:p>
            <a:pPr indent="0" lvl="0" marL="0" rtl="0" algn="l">
              <a:lnSpc>
                <a:spcPct val="115000"/>
              </a:lnSpc>
              <a:spcBef>
                <a:spcPts val="1800"/>
              </a:spcBef>
              <a:spcAft>
                <a:spcPts val="0"/>
              </a:spcAft>
              <a:buClr>
                <a:schemeClr val="dk1"/>
              </a:buClr>
              <a:buSzPts val="1100"/>
              <a:buFont typeface="Arial"/>
              <a:buNone/>
            </a:pPr>
            <a:r>
              <a:rPr b="1" lang="en-US" sz="2000">
                <a:latin typeface="Arial"/>
                <a:ea typeface="Arial"/>
                <a:cs typeface="Arial"/>
                <a:sym typeface="Arial"/>
              </a:rPr>
              <a:t>Quality Objectives</a:t>
            </a:r>
            <a:endParaRPr b="1" sz="20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2000">
                <a:latin typeface="Arial"/>
                <a:ea typeface="Arial"/>
                <a:cs typeface="Arial"/>
                <a:sym typeface="Arial"/>
              </a:rPr>
              <a:t>Quality objectives</a:t>
            </a:r>
            <a:r>
              <a:rPr lang="en-US" sz="2000">
                <a:latin typeface="Arial"/>
                <a:ea typeface="Arial"/>
                <a:cs typeface="Arial"/>
                <a:sym typeface="Arial"/>
              </a:rPr>
              <a:t> are </a:t>
            </a:r>
            <a:r>
              <a:rPr b="1" lang="en-US" sz="2000">
                <a:latin typeface="Arial"/>
                <a:ea typeface="Arial"/>
                <a:cs typeface="Arial"/>
                <a:sym typeface="Arial"/>
              </a:rPr>
              <a:t>specific and measurable goals</a:t>
            </a:r>
            <a:r>
              <a:rPr lang="en-US" sz="2000">
                <a:latin typeface="Arial"/>
                <a:ea typeface="Arial"/>
                <a:cs typeface="Arial"/>
                <a:sym typeface="Arial"/>
              </a:rPr>
              <a:t> set by an organization to improve and maintain the quality of its products, services, or processes.</a:t>
            </a:r>
            <a:br>
              <a:rPr lang="en-US" sz="2000">
                <a:latin typeface="Arial"/>
                <a:ea typeface="Arial"/>
                <a:cs typeface="Arial"/>
                <a:sym typeface="Arial"/>
              </a:rPr>
            </a:br>
            <a:r>
              <a:rPr lang="en-US" sz="2000">
                <a:latin typeface="Arial"/>
                <a:ea typeface="Arial"/>
                <a:cs typeface="Arial"/>
                <a:sym typeface="Arial"/>
              </a:rPr>
              <a:t> They are derived from the </a:t>
            </a:r>
            <a:r>
              <a:rPr b="1" lang="en-US" sz="2000">
                <a:latin typeface="Arial"/>
                <a:ea typeface="Arial"/>
                <a:cs typeface="Arial"/>
                <a:sym typeface="Arial"/>
              </a:rPr>
              <a:t>quality policy</a:t>
            </a:r>
            <a:r>
              <a:rPr lang="en-US" sz="2000">
                <a:latin typeface="Arial"/>
                <a:ea typeface="Arial"/>
                <a:cs typeface="Arial"/>
                <a:sym typeface="Arial"/>
              </a:rPr>
              <a:t> and guide employees toward achieving consistent quality and customer satisfaction.</a:t>
            </a:r>
            <a:endParaRPr sz="20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2000">
                <a:latin typeface="Arial"/>
                <a:ea typeface="Arial"/>
                <a:cs typeface="Arial"/>
                <a:sym typeface="Arial"/>
              </a:rPr>
              <a:t>Purpose of Quality Objectives</a:t>
            </a:r>
            <a:endParaRPr b="1" sz="2000">
              <a:latin typeface="Arial"/>
              <a:ea typeface="Arial"/>
              <a:cs typeface="Arial"/>
              <a:sym typeface="Arial"/>
            </a:endParaRPr>
          </a:p>
          <a:p>
            <a:pPr indent="-355600" lvl="0" marL="457200" rtl="0" algn="l">
              <a:lnSpc>
                <a:spcPct val="115000"/>
              </a:lnSpc>
              <a:spcBef>
                <a:spcPts val="1200"/>
              </a:spcBef>
              <a:spcAft>
                <a:spcPts val="0"/>
              </a:spcAft>
              <a:buSzPts val="2000"/>
              <a:buChar char="●"/>
            </a:pPr>
            <a:r>
              <a:rPr lang="en-US" sz="2000">
                <a:latin typeface="Arial"/>
                <a:ea typeface="Arial"/>
                <a:cs typeface="Arial"/>
                <a:sym typeface="Arial"/>
              </a:rPr>
              <a:t>Improve product and service quality</a:t>
            </a:r>
            <a:br>
              <a:rPr lang="en-US" sz="2000">
                <a:latin typeface="Arial"/>
                <a:ea typeface="Arial"/>
                <a:cs typeface="Arial"/>
                <a:sym typeface="Arial"/>
              </a:rPr>
            </a:br>
            <a:endParaRPr sz="2000">
              <a:latin typeface="Arial"/>
              <a:ea typeface="Arial"/>
              <a:cs typeface="Arial"/>
              <a:sym typeface="Arial"/>
            </a:endParaRPr>
          </a:p>
          <a:p>
            <a:pPr indent="-355600" lvl="0" marL="457200" rtl="0" algn="l">
              <a:lnSpc>
                <a:spcPct val="115000"/>
              </a:lnSpc>
              <a:spcBef>
                <a:spcPts val="0"/>
              </a:spcBef>
              <a:spcAft>
                <a:spcPts val="0"/>
              </a:spcAft>
              <a:buSzPts val="2000"/>
              <a:buChar char="●"/>
            </a:pPr>
            <a:r>
              <a:rPr lang="en-US" sz="2000">
                <a:latin typeface="Arial"/>
                <a:ea typeface="Arial"/>
                <a:cs typeface="Arial"/>
                <a:sym typeface="Arial"/>
              </a:rPr>
              <a:t>Increase customer satisfaction</a:t>
            </a:r>
            <a:br>
              <a:rPr lang="en-US" sz="2000">
                <a:latin typeface="Arial"/>
                <a:ea typeface="Arial"/>
                <a:cs typeface="Arial"/>
                <a:sym typeface="Arial"/>
              </a:rPr>
            </a:br>
            <a:endParaRPr sz="2000">
              <a:latin typeface="Arial"/>
              <a:ea typeface="Arial"/>
              <a:cs typeface="Arial"/>
              <a:sym typeface="Arial"/>
            </a:endParaRPr>
          </a:p>
          <a:p>
            <a:pPr indent="-355600" lvl="0" marL="457200" rtl="0" algn="l">
              <a:lnSpc>
                <a:spcPct val="115000"/>
              </a:lnSpc>
              <a:spcBef>
                <a:spcPts val="0"/>
              </a:spcBef>
              <a:spcAft>
                <a:spcPts val="0"/>
              </a:spcAft>
              <a:buSzPts val="2000"/>
              <a:buChar char="●"/>
            </a:pPr>
            <a:r>
              <a:rPr lang="en-US" sz="2000">
                <a:latin typeface="Arial"/>
                <a:ea typeface="Arial"/>
                <a:cs typeface="Arial"/>
                <a:sym typeface="Arial"/>
              </a:rPr>
              <a:t>Reduce defects and rework</a:t>
            </a:r>
            <a:br>
              <a:rPr lang="en-US" sz="2000">
                <a:latin typeface="Arial"/>
                <a:ea typeface="Arial"/>
                <a:cs typeface="Arial"/>
                <a:sym typeface="Arial"/>
              </a:rPr>
            </a:br>
            <a:endParaRPr sz="2000">
              <a:latin typeface="Arial"/>
              <a:ea typeface="Arial"/>
              <a:cs typeface="Arial"/>
              <a:sym typeface="Arial"/>
            </a:endParaRPr>
          </a:p>
          <a:p>
            <a:pPr indent="-355600" lvl="0" marL="457200" rtl="0" algn="l">
              <a:lnSpc>
                <a:spcPct val="115000"/>
              </a:lnSpc>
              <a:spcBef>
                <a:spcPts val="0"/>
              </a:spcBef>
              <a:spcAft>
                <a:spcPts val="0"/>
              </a:spcAft>
              <a:buSzPts val="2000"/>
              <a:buChar char="●"/>
            </a:pPr>
            <a:r>
              <a:rPr lang="en-US" sz="2000">
                <a:latin typeface="Arial"/>
                <a:ea typeface="Arial"/>
                <a:cs typeface="Arial"/>
                <a:sym typeface="Arial"/>
              </a:rPr>
              <a:t>Support continuous improvement</a:t>
            </a:r>
            <a:endParaRPr sz="2000">
              <a:latin typeface="Arial"/>
              <a:ea typeface="Arial"/>
              <a:cs typeface="Arial"/>
              <a:sym typeface="Arial"/>
            </a:endParaRPr>
          </a:p>
          <a:p>
            <a:pPr indent="0" lvl="0" marL="0" rtl="0" algn="l">
              <a:spcBef>
                <a:spcPts val="1200"/>
              </a:spcBef>
              <a:spcAft>
                <a:spcPts val="0"/>
              </a:spcAft>
              <a:buNone/>
            </a:pPr>
            <a:r>
              <a:t/>
            </a:r>
            <a:endParaRPr sz="20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3b72396eeeb_0_57"/>
          <p:cNvSpPr txBox="1"/>
          <p:nvPr>
            <p:ph idx="1" type="body"/>
          </p:nvPr>
        </p:nvSpPr>
        <p:spPr>
          <a:xfrm>
            <a:off x="383500" y="137177"/>
            <a:ext cx="11657700" cy="6669000"/>
          </a:xfrm>
          <a:prstGeom prst="rect">
            <a:avLst/>
          </a:prstGeom>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US" sz="1600">
                <a:latin typeface="Arial"/>
                <a:ea typeface="Arial"/>
                <a:cs typeface="Arial"/>
                <a:sym typeface="Arial"/>
              </a:rPr>
              <a:t>Examples of Quality Objectives</a:t>
            </a:r>
            <a:endParaRPr b="1" sz="16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1600">
                <a:latin typeface="Arial"/>
                <a:ea typeface="Arial"/>
                <a:cs typeface="Arial"/>
                <a:sym typeface="Arial"/>
              </a:rPr>
              <a:t>1. Reduce defects by 20% within 6 months</a:t>
            </a:r>
            <a:endParaRPr b="1" sz="16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600">
                <a:latin typeface="Arial"/>
                <a:ea typeface="Arial"/>
                <a:cs typeface="Arial"/>
                <a:sym typeface="Arial"/>
              </a:rPr>
              <a:t>This objective focuses on </a:t>
            </a:r>
            <a:r>
              <a:rPr b="1" lang="en-US" sz="1600">
                <a:latin typeface="Arial"/>
                <a:ea typeface="Arial"/>
                <a:cs typeface="Arial"/>
                <a:sym typeface="Arial"/>
              </a:rPr>
              <a:t>process improvement</a:t>
            </a:r>
            <a:r>
              <a:rPr lang="en-US" sz="1600">
                <a:latin typeface="Arial"/>
                <a:ea typeface="Arial"/>
                <a:cs typeface="Arial"/>
                <a:sym typeface="Arial"/>
              </a:rPr>
              <a:t>.</a:t>
            </a:r>
            <a:endParaRPr sz="1600">
              <a:latin typeface="Arial"/>
              <a:ea typeface="Arial"/>
              <a:cs typeface="Arial"/>
              <a:sym typeface="Arial"/>
            </a:endParaRPr>
          </a:p>
          <a:p>
            <a:pPr indent="-330200" lvl="0" marL="457200" rtl="0" algn="l">
              <a:lnSpc>
                <a:spcPct val="115000"/>
              </a:lnSpc>
              <a:spcBef>
                <a:spcPts val="1200"/>
              </a:spcBef>
              <a:spcAft>
                <a:spcPts val="0"/>
              </a:spcAft>
              <a:buSzPts val="1600"/>
              <a:buChar char="●"/>
            </a:pPr>
            <a:r>
              <a:rPr b="1" lang="en-US" sz="1600">
                <a:latin typeface="Arial"/>
                <a:ea typeface="Arial"/>
                <a:cs typeface="Arial"/>
                <a:sym typeface="Arial"/>
              </a:rPr>
              <a:t>What:</a:t>
            </a:r>
            <a:r>
              <a:rPr lang="en-US" sz="1600">
                <a:latin typeface="Arial"/>
                <a:ea typeface="Arial"/>
                <a:cs typeface="Arial"/>
                <a:sym typeface="Arial"/>
              </a:rPr>
              <a:t> Defect reduction</a:t>
            </a:r>
            <a:endParaRPr sz="1600">
              <a:latin typeface="Arial"/>
              <a:ea typeface="Arial"/>
              <a:cs typeface="Arial"/>
              <a:sym typeface="Arial"/>
            </a:endParaRPr>
          </a:p>
          <a:p>
            <a:pPr indent="-330200" lvl="0" marL="457200" rtl="0" algn="l">
              <a:lnSpc>
                <a:spcPct val="115000"/>
              </a:lnSpc>
              <a:spcBef>
                <a:spcPts val="0"/>
              </a:spcBef>
              <a:spcAft>
                <a:spcPts val="0"/>
              </a:spcAft>
              <a:buSzPts val="1600"/>
              <a:buChar char="●"/>
            </a:pPr>
            <a:r>
              <a:rPr b="1" lang="en-US" sz="1600">
                <a:latin typeface="Arial"/>
                <a:ea typeface="Arial"/>
                <a:cs typeface="Arial"/>
                <a:sym typeface="Arial"/>
              </a:rPr>
              <a:t>How much:</a:t>
            </a:r>
            <a:r>
              <a:rPr lang="en-US" sz="1600">
                <a:latin typeface="Arial"/>
                <a:ea typeface="Arial"/>
                <a:cs typeface="Arial"/>
                <a:sym typeface="Arial"/>
              </a:rPr>
              <a:t> 20%</a:t>
            </a:r>
            <a:endParaRPr sz="1600">
              <a:latin typeface="Arial"/>
              <a:ea typeface="Arial"/>
              <a:cs typeface="Arial"/>
              <a:sym typeface="Arial"/>
            </a:endParaRPr>
          </a:p>
          <a:p>
            <a:pPr indent="-330200" lvl="0" marL="457200" rtl="0" algn="l">
              <a:lnSpc>
                <a:spcPct val="115000"/>
              </a:lnSpc>
              <a:spcBef>
                <a:spcPts val="0"/>
              </a:spcBef>
              <a:spcAft>
                <a:spcPts val="0"/>
              </a:spcAft>
              <a:buSzPts val="1600"/>
              <a:buChar char="●"/>
            </a:pPr>
            <a:r>
              <a:rPr b="1" lang="en-US" sz="1600">
                <a:latin typeface="Arial"/>
                <a:ea typeface="Arial"/>
                <a:cs typeface="Arial"/>
                <a:sym typeface="Arial"/>
              </a:rPr>
              <a:t>By when:</a:t>
            </a:r>
            <a:r>
              <a:rPr lang="en-US" sz="1600">
                <a:latin typeface="Arial"/>
                <a:ea typeface="Arial"/>
                <a:cs typeface="Arial"/>
                <a:sym typeface="Arial"/>
              </a:rPr>
              <a:t> 6 months</a:t>
            </a:r>
            <a:br>
              <a:rPr lang="en-US" sz="1600">
                <a:latin typeface="Arial"/>
                <a:ea typeface="Arial"/>
                <a:cs typeface="Arial"/>
                <a:sym typeface="Arial"/>
              </a:rPr>
            </a:br>
            <a:r>
              <a:rPr lang="en-US" sz="1600">
                <a:latin typeface="Arial"/>
                <a:ea typeface="Arial"/>
                <a:cs typeface="Arial"/>
                <a:sym typeface="Arial"/>
              </a:rPr>
              <a:t> It helps lower costs, reduce rework, and improve customer confidence.</a:t>
            </a:r>
            <a:endParaRPr sz="16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1600">
                <a:latin typeface="Arial"/>
                <a:ea typeface="Arial"/>
                <a:cs typeface="Arial"/>
                <a:sym typeface="Arial"/>
              </a:rPr>
              <a:t>2. Achieve 95% customer satisfaction</a:t>
            </a:r>
            <a:endParaRPr b="1" sz="16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600">
                <a:latin typeface="Arial"/>
                <a:ea typeface="Arial"/>
                <a:cs typeface="Arial"/>
                <a:sym typeface="Arial"/>
              </a:rPr>
              <a:t>This objective emphasizes </a:t>
            </a:r>
            <a:r>
              <a:rPr b="1" lang="en-US" sz="1600">
                <a:latin typeface="Arial"/>
                <a:ea typeface="Arial"/>
                <a:cs typeface="Arial"/>
                <a:sym typeface="Arial"/>
              </a:rPr>
              <a:t>customer focus</a:t>
            </a:r>
            <a:r>
              <a:rPr lang="en-US" sz="1600">
                <a:latin typeface="Arial"/>
                <a:ea typeface="Arial"/>
                <a:cs typeface="Arial"/>
                <a:sym typeface="Arial"/>
              </a:rPr>
              <a:t>, which is central to quality management. Customer satisfaction can be measured using:</a:t>
            </a:r>
            <a:endParaRPr sz="1600">
              <a:latin typeface="Arial"/>
              <a:ea typeface="Arial"/>
              <a:cs typeface="Arial"/>
              <a:sym typeface="Arial"/>
            </a:endParaRPr>
          </a:p>
          <a:p>
            <a:pPr indent="-330200" lvl="0" marL="457200" rtl="0" algn="l">
              <a:lnSpc>
                <a:spcPct val="115000"/>
              </a:lnSpc>
              <a:spcBef>
                <a:spcPts val="1200"/>
              </a:spcBef>
              <a:spcAft>
                <a:spcPts val="0"/>
              </a:spcAft>
              <a:buSzPts val="1600"/>
              <a:buChar char="●"/>
            </a:pPr>
            <a:r>
              <a:rPr lang="en-US" sz="1600">
                <a:latin typeface="Arial"/>
                <a:ea typeface="Arial"/>
                <a:cs typeface="Arial"/>
                <a:sym typeface="Arial"/>
              </a:rPr>
              <a:t>Surveys</a:t>
            </a:r>
            <a:endParaRPr sz="1600">
              <a:latin typeface="Arial"/>
              <a:ea typeface="Arial"/>
              <a:cs typeface="Arial"/>
              <a:sym typeface="Arial"/>
            </a:endParaRPr>
          </a:p>
          <a:p>
            <a:pPr indent="-330200" lvl="0" marL="457200" rtl="0" algn="l">
              <a:lnSpc>
                <a:spcPct val="115000"/>
              </a:lnSpc>
              <a:spcBef>
                <a:spcPts val="0"/>
              </a:spcBef>
              <a:spcAft>
                <a:spcPts val="0"/>
              </a:spcAft>
              <a:buSzPts val="1600"/>
              <a:buChar char="●"/>
            </a:pPr>
            <a:r>
              <a:rPr lang="en-US" sz="1600">
                <a:latin typeface="Arial"/>
                <a:ea typeface="Arial"/>
                <a:cs typeface="Arial"/>
                <a:sym typeface="Arial"/>
              </a:rPr>
              <a:t>Feedback forms</a:t>
            </a:r>
            <a:endParaRPr sz="1600">
              <a:latin typeface="Arial"/>
              <a:ea typeface="Arial"/>
              <a:cs typeface="Arial"/>
              <a:sym typeface="Arial"/>
            </a:endParaRPr>
          </a:p>
          <a:p>
            <a:pPr indent="-330200" lvl="0" marL="457200" rtl="0" algn="l">
              <a:lnSpc>
                <a:spcPct val="115000"/>
              </a:lnSpc>
              <a:spcBef>
                <a:spcPts val="0"/>
              </a:spcBef>
              <a:spcAft>
                <a:spcPts val="0"/>
              </a:spcAft>
              <a:buSzPts val="1600"/>
              <a:buChar char="●"/>
            </a:pPr>
            <a:r>
              <a:rPr lang="en-US" sz="1600">
                <a:latin typeface="Arial"/>
                <a:ea typeface="Arial"/>
                <a:cs typeface="Arial"/>
                <a:sym typeface="Arial"/>
              </a:rPr>
              <a:t>Complaint analysis</a:t>
            </a:r>
            <a:endParaRPr sz="16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600">
                <a:latin typeface="Arial"/>
                <a:ea typeface="Arial"/>
                <a:cs typeface="Arial"/>
                <a:sym typeface="Arial"/>
              </a:rPr>
              <a:t>High satisfaction indicates that customer expectations are being met.</a:t>
            </a:r>
            <a:endParaRPr sz="16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1600">
                <a:latin typeface="Arial"/>
                <a:ea typeface="Arial"/>
                <a:cs typeface="Arial"/>
                <a:sym typeface="Arial"/>
              </a:rPr>
              <a:t>3. Deliver projects with zero critical defects</a:t>
            </a:r>
            <a:endParaRPr b="1" sz="16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600">
                <a:latin typeface="Arial"/>
                <a:ea typeface="Arial"/>
                <a:cs typeface="Arial"/>
                <a:sym typeface="Arial"/>
              </a:rPr>
              <a:t>This objective aims to ensure </a:t>
            </a:r>
            <a:r>
              <a:rPr b="1" lang="en-US" sz="1600">
                <a:latin typeface="Arial"/>
                <a:ea typeface="Arial"/>
                <a:cs typeface="Arial"/>
                <a:sym typeface="Arial"/>
              </a:rPr>
              <a:t>high reliability and safety</a:t>
            </a:r>
            <a:r>
              <a:rPr lang="en-US" sz="1600">
                <a:latin typeface="Arial"/>
                <a:ea typeface="Arial"/>
                <a:cs typeface="Arial"/>
                <a:sym typeface="Arial"/>
              </a:rPr>
              <a:t>.</a:t>
            </a:r>
            <a:endParaRPr sz="1600">
              <a:latin typeface="Arial"/>
              <a:ea typeface="Arial"/>
              <a:cs typeface="Arial"/>
              <a:sym typeface="Arial"/>
            </a:endParaRPr>
          </a:p>
          <a:p>
            <a:pPr indent="-330200" lvl="0" marL="457200" rtl="0" algn="l">
              <a:lnSpc>
                <a:spcPct val="115000"/>
              </a:lnSpc>
              <a:spcBef>
                <a:spcPts val="1200"/>
              </a:spcBef>
              <a:spcAft>
                <a:spcPts val="0"/>
              </a:spcAft>
              <a:buSzPts val="1600"/>
              <a:buChar char="●"/>
            </a:pPr>
            <a:r>
              <a:rPr lang="en-US" sz="1600">
                <a:latin typeface="Arial"/>
                <a:ea typeface="Arial"/>
                <a:cs typeface="Arial"/>
                <a:sym typeface="Arial"/>
              </a:rPr>
              <a:t>Critical defects are errors that can cause system failure or serious customer impact.</a:t>
            </a:r>
            <a:endParaRPr sz="1600">
              <a:latin typeface="Arial"/>
              <a:ea typeface="Arial"/>
              <a:cs typeface="Arial"/>
              <a:sym typeface="Arial"/>
            </a:endParaRPr>
          </a:p>
          <a:p>
            <a:pPr indent="-330200" lvl="0" marL="457200" rtl="0" algn="l">
              <a:lnSpc>
                <a:spcPct val="115000"/>
              </a:lnSpc>
              <a:spcBef>
                <a:spcPts val="0"/>
              </a:spcBef>
              <a:spcAft>
                <a:spcPts val="0"/>
              </a:spcAft>
              <a:buSzPts val="1600"/>
              <a:buChar char="●"/>
            </a:pPr>
            <a:r>
              <a:rPr lang="en-US" sz="1600">
                <a:latin typeface="Arial"/>
                <a:ea typeface="Arial"/>
                <a:cs typeface="Arial"/>
                <a:sym typeface="Arial"/>
              </a:rPr>
              <a:t>Zero critical defects improve trust and reduce post-delivery issues.</a:t>
            </a:r>
            <a:endParaRPr sz="1600">
              <a:latin typeface="Arial"/>
              <a:ea typeface="Arial"/>
              <a:cs typeface="Arial"/>
              <a:sym typeface="Arial"/>
            </a:endParaRPr>
          </a:p>
          <a:p>
            <a:pPr indent="0" lvl="0" marL="0" rtl="0" algn="l">
              <a:spcBef>
                <a:spcPts val="1200"/>
              </a:spcBef>
              <a:spcAft>
                <a:spcPts val="0"/>
              </a:spcAft>
              <a:buNone/>
            </a:pPr>
            <a:r>
              <a:t/>
            </a:r>
            <a:endParaRPr sz="16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g3b72396eeeb_0_62"/>
          <p:cNvSpPr txBox="1"/>
          <p:nvPr>
            <p:ph idx="1" type="body"/>
          </p:nvPr>
        </p:nvSpPr>
        <p:spPr>
          <a:xfrm>
            <a:off x="288975" y="305225"/>
            <a:ext cx="11064900" cy="6396000"/>
          </a:xfrm>
          <a:prstGeom prst="rect">
            <a:avLst/>
          </a:prstGeom>
        </p:spPr>
        <p:txBody>
          <a:bodyPr anchorCtr="0" anchor="t" bIns="45700" lIns="91425" spcFirstLastPara="1" rIns="91425" wrap="square" tIns="45700">
            <a:normAutofit/>
          </a:bodyPr>
          <a:lstStyle/>
          <a:p>
            <a:pPr indent="0" lvl="0" marL="0" rtl="0" algn="l">
              <a:lnSpc>
                <a:spcPct val="115000"/>
              </a:lnSpc>
              <a:spcBef>
                <a:spcPts val="1800"/>
              </a:spcBef>
              <a:spcAft>
                <a:spcPts val="0"/>
              </a:spcAft>
              <a:buClr>
                <a:schemeClr val="dk1"/>
              </a:buClr>
              <a:buSzPts val="1100"/>
              <a:buFont typeface="Arial"/>
              <a:buNone/>
            </a:pPr>
            <a:r>
              <a:rPr b="1" lang="en-US" sz="1600">
                <a:latin typeface="Arial"/>
                <a:ea typeface="Arial"/>
                <a:cs typeface="Arial"/>
                <a:sym typeface="Arial"/>
              </a:rPr>
              <a:t>SMART - Quality Objectives</a:t>
            </a:r>
            <a:endParaRPr b="1" sz="16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600">
                <a:latin typeface="Arial"/>
                <a:ea typeface="Arial"/>
                <a:cs typeface="Arial"/>
                <a:sym typeface="Arial"/>
              </a:rPr>
              <a:t>To be effective, quality objectives should follow the </a:t>
            </a:r>
            <a:r>
              <a:rPr b="1" lang="en-US" sz="1600">
                <a:latin typeface="Arial"/>
                <a:ea typeface="Arial"/>
                <a:cs typeface="Arial"/>
                <a:sym typeface="Arial"/>
              </a:rPr>
              <a:t>SMART</a:t>
            </a:r>
            <a:r>
              <a:rPr lang="en-US" sz="1600">
                <a:latin typeface="Arial"/>
                <a:ea typeface="Arial"/>
                <a:cs typeface="Arial"/>
                <a:sym typeface="Arial"/>
              </a:rPr>
              <a:t> criteria:</a:t>
            </a:r>
            <a:endParaRPr sz="16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1600">
                <a:latin typeface="Arial"/>
                <a:ea typeface="Arial"/>
                <a:cs typeface="Arial"/>
                <a:sym typeface="Arial"/>
              </a:rPr>
              <a:t>1. Specific</a:t>
            </a:r>
            <a:endParaRPr b="1" sz="16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600">
                <a:latin typeface="Arial"/>
                <a:ea typeface="Arial"/>
                <a:cs typeface="Arial"/>
                <a:sym typeface="Arial"/>
              </a:rPr>
              <a:t>The objective should be </a:t>
            </a:r>
            <a:r>
              <a:rPr b="1" lang="en-US" sz="1600">
                <a:latin typeface="Arial"/>
                <a:ea typeface="Arial"/>
                <a:cs typeface="Arial"/>
                <a:sym typeface="Arial"/>
              </a:rPr>
              <a:t>clear and precise</a:t>
            </a:r>
            <a:r>
              <a:rPr lang="en-US" sz="1600">
                <a:latin typeface="Arial"/>
                <a:ea typeface="Arial"/>
                <a:cs typeface="Arial"/>
                <a:sym typeface="Arial"/>
              </a:rPr>
              <a:t>, not vague.</a:t>
            </a:r>
            <a:endParaRPr sz="16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600">
                <a:latin typeface="Arial"/>
                <a:ea typeface="Arial"/>
                <a:cs typeface="Arial"/>
                <a:sym typeface="Arial"/>
              </a:rPr>
              <a:t>❌ “Improve quality”</a:t>
            </a:r>
            <a:br>
              <a:rPr lang="en-US" sz="1600">
                <a:latin typeface="Arial"/>
                <a:ea typeface="Arial"/>
                <a:cs typeface="Arial"/>
                <a:sym typeface="Arial"/>
              </a:rPr>
            </a:br>
            <a:r>
              <a:rPr lang="en-US" sz="1600">
                <a:latin typeface="Arial"/>
                <a:ea typeface="Arial"/>
                <a:cs typeface="Arial"/>
                <a:sym typeface="Arial"/>
              </a:rPr>
              <a:t> ✅ “Reduce software defects in testing phase”</a:t>
            </a:r>
            <a:endParaRPr sz="16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1600">
                <a:latin typeface="Arial"/>
                <a:ea typeface="Arial"/>
                <a:cs typeface="Arial"/>
                <a:sym typeface="Arial"/>
              </a:rPr>
              <a:t>2. Measurable</a:t>
            </a:r>
            <a:endParaRPr b="1" sz="16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600">
                <a:latin typeface="Arial"/>
                <a:ea typeface="Arial"/>
                <a:cs typeface="Arial"/>
                <a:sym typeface="Arial"/>
              </a:rPr>
              <a:t>The objective should be </a:t>
            </a:r>
            <a:r>
              <a:rPr b="1" lang="en-US" sz="1600">
                <a:latin typeface="Arial"/>
                <a:ea typeface="Arial"/>
                <a:cs typeface="Arial"/>
                <a:sym typeface="Arial"/>
              </a:rPr>
              <a:t>quantifiable</a:t>
            </a:r>
            <a:r>
              <a:rPr lang="en-US" sz="1600">
                <a:latin typeface="Arial"/>
                <a:ea typeface="Arial"/>
                <a:cs typeface="Arial"/>
                <a:sym typeface="Arial"/>
              </a:rPr>
              <a:t>, so progress can be tracked.</a:t>
            </a:r>
            <a:endParaRPr sz="16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600">
                <a:latin typeface="Arial"/>
                <a:ea typeface="Arial"/>
                <a:cs typeface="Arial"/>
                <a:sym typeface="Arial"/>
              </a:rPr>
              <a:t>Examples:</a:t>
            </a:r>
            <a:endParaRPr b="1" sz="1600">
              <a:latin typeface="Arial"/>
              <a:ea typeface="Arial"/>
              <a:cs typeface="Arial"/>
              <a:sym typeface="Arial"/>
            </a:endParaRPr>
          </a:p>
          <a:p>
            <a:pPr indent="-330200" lvl="0" marL="457200" rtl="0" algn="l">
              <a:lnSpc>
                <a:spcPct val="115000"/>
              </a:lnSpc>
              <a:spcBef>
                <a:spcPts val="1200"/>
              </a:spcBef>
              <a:spcAft>
                <a:spcPts val="0"/>
              </a:spcAft>
              <a:buSzPts val="1600"/>
              <a:buChar char="●"/>
            </a:pPr>
            <a:r>
              <a:rPr lang="en-US" sz="1600">
                <a:latin typeface="Arial"/>
                <a:ea typeface="Arial"/>
                <a:cs typeface="Arial"/>
                <a:sym typeface="Arial"/>
              </a:rPr>
              <a:t>Percentage reduction</a:t>
            </a:r>
            <a:br>
              <a:rPr lang="en-US" sz="1600">
                <a:latin typeface="Arial"/>
                <a:ea typeface="Arial"/>
                <a:cs typeface="Arial"/>
                <a:sym typeface="Arial"/>
              </a:rPr>
            </a:br>
            <a:endParaRPr sz="1600">
              <a:latin typeface="Arial"/>
              <a:ea typeface="Arial"/>
              <a:cs typeface="Arial"/>
              <a:sym typeface="Arial"/>
            </a:endParaRPr>
          </a:p>
          <a:p>
            <a:pPr indent="-330200" lvl="0" marL="457200" rtl="0" algn="l">
              <a:lnSpc>
                <a:spcPct val="115000"/>
              </a:lnSpc>
              <a:spcBef>
                <a:spcPts val="0"/>
              </a:spcBef>
              <a:spcAft>
                <a:spcPts val="0"/>
              </a:spcAft>
              <a:buSzPts val="1600"/>
              <a:buChar char="●"/>
            </a:pPr>
            <a:r>
              <a:rPr lang="en-US" sz="1600">
                <a:latin typeface="Arial"/>
                <a:ea typeface="Arial"/>
                <a:cs typeface="Arial"/>
                <a:sym typeface="Arial"/>
              </a:rPr>
              <a:t>Number of defects</a:t>
            </a:r>
            <a:br>
              <a:rPr lang="en-US" sz="1600">
                <a:latin typeface="Arial"/>
                <a:ea typeface="Arial"/>
                <a:cs typeface="Arial"/>
                <a:sym typeface="Arial"/>
              </a:rPr>
            </a:br>
            <a:endParaRPr sz="1600">
              <a:latin typeface="Arial"/>
              <a:ea typeface="Arial"/>
              <a:cs typeface="Arial"/>
              <a:sym typeface="Arial"/>
            </a:endParaRPr>
          </a:p>
          <a:p>
            <a:pPr indent="-330200" lvl="0" marL="457200" rtl="0" algn="l">
              <a:lnSpc>
                <a:spcPct val="115000"/>
              </a:lnSpc>
              <a:spcBef>
                <a:spcPts val="0"/>
              </a:spcBef>
              <a:spcAft>
                <a:spcPts val="0"/>
              </a:spcAft>
              <a:buSzPts val="1600"/>
              <a:buChar char="●"/>
            </a:pPr>
            <a:r>
              <a:rPr lang="en-US" sz="1600">
                <a:latin typeface="Arial"/>
                <a:ea typeface="Arial"/>
                <a:cs typeface="Arial"/>
                <a:sym typeface="Arial"/>
              </a:rPr>
              <a:t>Customer satisfaction score</a:t>
            </a:r>
            <a:br>
              <a:rPr lang="en-US" sz="1600">
                <a:latin typeface="Arial"/>
                <a:ea typeface="Arial"/>
                <a:cs typeface="Arial"/>
                <a:sym typeface="Arial"/>
              </a:rPr>
            </a:br>
            <a:endParaRPr sz="16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g3b72396eeeb_0_75"/>
          <p:cNvSpPr txBox="1"/>
          <p:nvPr>
            <p:ph idx="1" type="body"/>
          </p:nvPr>
        </p:nvSpPr>
        <p:spPr>
          <a:xfrm>
            <a:off x="457025" y="557275"/>
            <a:ext cx="10896900" cy="5619600"/>
          </a:xfrm>
          <a:prstGeom prst="rect">
            <a:avLst/>
          </a:prstGeom>
        </p:spPr>
        <p:txBody>
          <a:bodyPr anchorCtr="0" anchor="t" bIns="45700" lIns="91425" spcFirstLastPara="1" rIns="91425" wrap="square" tIns="45700">
            <a:normAutofit/>
          </a:bodyPr>
          <a:lstStyle/>
          <a:p>
            <a:pPr indent="0" lvl="0" marL="0" rtl="0" algn="l">
              <a:lnSpc>
                <a:spcPct val="115000"/>
              </a:lnSpc>
              <a:spcBef>
                <a:spcPts val="1400"/>
              </a:spcBef>
              <a:spcAft>
                <a:spcPts val="0"/>
              </a:spcAft>
              <a:buClr>
                <a:schemeClr val="dk1"/>
              </a:buClr>
              <a:buSzPts val="1100"/>
              <a:buFont typeface="Arial"/>
              <a:buNone/>
            </a:pPr>
            <a:r>
              <a:rPr b="1" lang="en-US" sz="1600">
                <a:latin typeface="Arial"/>
                <a:ea typeface="Arial"/>
                <a:cs typeface="Arial"/>
                <a:sym typeface="Arial"/>
              </a:rPr>
              <a:t>3. Achievable</a:t>
            </a:r>
            <a:endParaRPr b="1" sz="16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600">
                <a:latin typeface="Arial"/>
                <a:ea typeface="Arial"/>
                <a:cs typeface="Arial"/>
                <a:sym typeface="Arial"/>
              </a:rPr>
              <a:t>The objective should be </a:t>
            </a:r>
            <a:r>
              <a:rPr b="1" lang="en-US" sz="1600">
                <a:latin typeface="Arial"/>
                <a:ea typeface="Arial"/>
                <a:cs typeface="Arial"/>
                <a:sym typeface="Arial"/>
              </a:rPr>
              <a:t>realistic and attainable</a:t>
            </a:r>
            <a:r>
              <a:rPr lang="en-US" sz="1600">
                <a:latin typeface="Arial"/>
                <a:ea typeface="Arial"/>
                <a:cs typeface="Arial"/>
                <a:sym typeface="Arial"/>
              </a:rPr>
              <a:t> based on available resources and skills.</a:t>
            </a:r>
            <a:endParaRPr sz="16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600">
                <a:latin typeface="Arial"/>
                <a:ea typeface="Arial"/>
                <a:cs typeface="Arial"/>
                <a:sym typeface="Arial"/>
              </a:rPr>
              <a:t>❌ Reduce defects by 90% in one month</a:t>
            </a:r>
            <a:br>
              <a:rPr lang="en-US" sz="1600">
                <a:latin typeface="Arial"/>
                <a:ea typeface="Arial"/>
                <a:cs typeface="Arial"/>
                <a:sym typeface="Arial"/>
              </a:rPr>
            </a:br>
            <a:r>
              <a:rPr lang="en-US" sz="1600">
                <a:latin typeface="Arial"/>
                <a:ea typeface="Arial"/>
                <a:cs typeface="Arial"/>
                <a:sym typeface="Arial"/>
              </a:rPr>
              <a:t> ✅ Reduce defects by 20% in six months</a:t>
            </a:r>
            <a:endParaRPr sz="16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1600">
                <a:latin typeface="Arial"/>
                <a:ea typeface="Arial"/>
                <a:cs typeface="Arial"/>
                <a:sym typeface="Arial"/>
              </a:rPr>
              <a:t>4. Relevant</a:t>
            </a:r>
            <a:endParaRPr b="1" sz="16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600">
                <a:latin typeface="Arial"/>
                <a:ea typeface="Arial"/>
                <a:cs typeface="Arial"/>
                <a:sym typeface="Arial"/>
              </a:rPr>
              <a:t>The objective should </a:t>
            </a:r>
            <a:r>
              <a:rPr b="1" lang="en-US" sz="1600">
                <a:latin typeface="Arial"/>
                <a:ea typeface="Arial"/>
                <a:cs typeface="Arial"/>
                <a:sym typeface="Arial"/>
              </a:rPr>
              <a:t>support organizational goals</a:t>
            </a:r>
            <a:r>
              <a:rPr lang="en-US" sz="1600">
                <a:latin typeface="Arial"/>
                <a:ea typeface="Arial"/>
                <a:cs typeface="Arial"/>
                <a:sym typeface="Arial"/>
              </a:rPr>
              <a:t> and customer needs.</a:t>
            </a:r>
            <a:endParaRPr sz="16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600">
                <a:latin typeface="Arial"/>
                <a:ea typeface="Arial"/>
                <a:cs typeface="Arial"/>
                <a:sym typeface="Arial"/>
              </a:rPr>
              <a:t>Example:</a:t>
            </a:r>
            <a:br>
              <a:rPr b="1" lang="en-US" sz="1600">
                <a:latin typeface="Arial"/>
                <a:ea typeface="Arial"/>
                <a:cs typeface="Arial"/>
                <a:sym typeface="Arial"/>
              </a:rPr>
            </a:br>
            <a:r>
              <a:rPr lang="en-US" sz="1600">
                <a:latin typeface="Arial"/>
                <a:ea typeface="Arial"/>
                <a:cs typeface="Arial"/>
                <a:sym typeface="Arial"/>
              </a:rPr>
              <a:t> Reducing defects is relevant because it improves product reliability and customer satisfaction.</a:t>
            </a:r>
            <a:endParaRPr sz="16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1600">
                <a:latin typeface="Arial"/>
                <a:ea typeface="Arial"/>
                <a:cs typeface="Arial"/>
                <a:sym typeface="Arial"/>
              </a:rPr>
              <a:t>5. Time-bound</a:t>
            </a:r>
            <a:endParaRPr b="1" sz="16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600">
                <a:latin typeface="Arial"/>
                <a:ea typeface="Arial"/>
                <a:cs typeface="Arial"/>
                <a:sym typeface="Arial"/>
              </a:rPr>
              <a:t>The objective must have a </a:t>
            </a:r>
            <a:r>
              <a:rPr b="1" lang="en-US" sz="1600">
                <a:latin typeface="Arial"/>
                <a:ea typeface="Arial"/>
                <a:cs typeface="Arial"/>
                <a:sym typeface="Arial"/>
              </a:rPr>
              <a:t>defined time frame</a:t>
            </a:r>
            <a:r>
              <a:rPr lang="en-US" sz="1600">
                <a:latin typeface="Arial"/>
                <a:ea typeface="Arial"/>
                <a:cs typeface="Arial"/>
                <a:sym typeface="Arial"/>
              </a:rPr>
              <a:t>.</a:t>
            </a:r>
            <a:endParaRPr sz="16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600">
                <a:latin typeface="Arial"/>
                <a:ea typeface="Arial"/>
                <a:cs typeface="Arial"/>
                <a:sym typeface="Arial"/>
              </a:rPr>
              <a:t>Example:</a:t>
            </a:r>
            <a:endParaRPr b="1" sz="1600">
              <a:latin typeface="Arial"/>
              <a:ea typeface="Arial"/>
              <a:cs typeface="Arial"/>
              <a:sym typeface="Arial"/>
            </a:endParaRPr>
          </a:p>
          <a:p>
            <a:pPr indent="-330200" lvl="0" marL="457200" rtl="0" algn="l">
              <a:lnSpc>
                <a:spcPct val="115000"/>
              </a:lnSpc>
              <a:spcBef>
                <a:spcPts val="1200"/>
              </a:spcBef>
              <a:spcAft>
                <a:spcPts val="0"/>
              </a:spcAft>
              <a:buSzPts val="1600"/>
              <a:buChar char="●"/>
            </a:pPr>
            <a:r>
              <a:rPr lang="en-US" sz="1600">
                <a:latin typeface="Arial"/>
                <a:ea typeface="Arial"/>
                <a:cs typeface="Arial"/>
                <a:sym typeface="Arial"/>
              </a:rPr>
              <a:t>Within 3 months</a:t>
            </a:r>
            <a:br>
              <a:rPr lang="en-US" sz="1600">
                <a:latin typeface="Arial"/>
                <a:ea typeface="Arial"/>
                <a:cs typeface="Arial"/>
                <a:sym typeface="Arial"/>
              </a:rPr>
            </a:br>
            <a:r>
              <a:rPr lang="en-US" sz="1600">
                <a:latin typeface="Arial"/>
                <a:ea typeface="Arial"/>
                <a:cs typeface="Arial"/>
                <a:sym typeface="Arial"/>
              </a:rPr>
              <a:t>By the end of the financial year</a:t>
            </a:r>
            <a:endParaRPr sz="16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
          <p:cNvSpPr txBox="1"/>
          <p:nvPr>
            <p:ph type="title"/>
          </p:nvPr>
        </p:nvSpPr>
        <p:spPr>
          <a:xfrm>
            <a:off x="141950" y="242201"/>
            <a:ext cx="11211900" cy="1448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Development of Quality Plans and Objectives:</a:t>
            </a:r>
            <a:endParaRPr/>
          </a:p>
        </p:txBody>
      </p:sp>
      <p:sp>
        <p:nvSpPr>
          <p:cNvPr id="147" name="Google Shape;147;p2"/>
          <p:cNvSpPr txBox="1"/>
          <p:nvPr>
            <p:ph idx="1" type="body"/>
          </p:nvPr>
        </p:nvSpPr>
        <p:spPr>
          <a:xfrm>
            <a:off x="236475" y="1690700"/>
            <a:ext cx="11710200" cy="45798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Quality Planning: Quality plans outline the approach to achieving quality in a project or process. It includes defining the quality requirements, setting quality objectives, and establishing the necessary procedures to meet these standards.</a:t>
            </a:r>
            <a:endParaRPr/>
          </a:p>
          <a:p>
            <a:pPr indent="-228600" lvl="0" marL="228600" rtl="0" algn="l">
              <a:lnSpc>
                <a:spcPct val="90000"/>
              </a:lnSpc>
              <a:spcBef>
                <a:spcPts val="1000"/>
              </a:spcBef>
              <a:spcAft>
                <a:spcPts val="0"/>
              </a:spcAft>
              <a:buClr>
                <a:schemeClr val="dk1"/>
              </a:buClr>
              <a:buSzPts val="2800"/>
              <a:buChar char="•"/>
            </a:pPr>
            <a:r>
              <a:rPr lang="en-US"/>
              <a:t>Objectives: Quality objectives are specific goals that guide the team toward quality improvement. These objectives are usually measurable, achievable, relevant, and time-bound (SMART).</a:t>
            </a:r>
            <a:endParaRPr/>
          </a:p>
          <a:p>
            <a:pPr indent="-228600" lvl="0" marL="228600" rtl="0" algn="l">
              <a:lnSpc>
                <a:spcPct val="90000"/>
              </a:lnSpc>
              <a:spcBef>
                <a:spcPts val="1000"/>
              </a:spcBef>
              <a:spcAft>
                <a:spcPts val="0"/>
              </a:spcAft>
              <a:buClr>
                <a:schemeClr val="dk1"/>
              </a:buClr>
              <a:buSzPts val="2800"/>
              <a:buChar char="•"/>
            </a:pPr>
            <a:r>
              <a:rPr lang="en-US"/>
              <a:t>Process Definition: A critical part of the plan is the identification of key processes that influence quality. This includes defining roles, responsibilities, and methods of measurement and analysis.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3"/>
          <p:cNvSpPr txBox="1"/>
          <p:nvPr>
            <p:ph idx="1" type="body"/>
          </p:nvPr>
        </p:nvSpPr>
        <p:spPr>
          <a:xfrm>
            <a:off x="838200" y="729615"/>
            <a:ext cx="10515600" cy="5447665"/>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 To  discuss  how important  is  the Quality  management  in the  organization. </a:t>
            </a:r>
            <a:endParaRPr/>
          </a:p>
          <a:p>
            <a:pPr indent="-228600" lvl="0" marL="228600" rtl="0" algn="l">
              <a:lnSpc>
                <a:spcPct val="90000"/>
              </a:lnSpc>
              <a:spcBef>
                <a:spcPts val="1000"/>
              </a:spcBef>
              <a:spcAft>
                <a:spcPts val="0"/>
              </a:spcAft>
              <a:buClr>
                <a:schemeClr val="dk1"/>
              </a:buClr>
              <a:buSzPts val="2800"/>
              <a:buChar char="•"/>
            </a:pPr>
            <a:r>
              <a:rPr lang="en-US"/>
              <a:t>The  quality is  something that evaluates how good is the organization and can satisfy customer by providing best quality in their product and the processes. </a:t>
            </a:r>
            <a:endParaRPr/>
          </a:p>
          <a:p>
            <a:pPr indent="-228600" lvl="0" marL="228600" rtl="0" algn="l">
              <a:lnSpc>
                <a:spcPct val="90000"/>
              </a:lnSpc>
              <a:spcBef>
                <a:spcPts val="1000"/>
              </a:spcBef>
              <a:spcAft>
                <a:spcPts val="0"/>
              </a:spcAft>
              <a:buClr>
                <a:schemeClr val="dk1"/>
              </a:buClr>
              <a:buSzPts val="2800"/>
              <a:buChar char="•"/>
            </a:pPr>
            <a:r>
              <a:rPr lang="en-US"/>
              <a:t>It is not about building a project but it is also to build through a process of continuous quality management which embraces terms like ISO 9000, Six Sigma and capability maturity model integration. </a:t>
            </a:r>
            <a:endParaRPr/>
          </a:p>
          <a:p>
            <a:pPr indent="-228600" lvl="0" marL="228600" rtl="0" algn="l">
              <a:lnSpc>
                <a:spcPct val="90000"/>
              </a:lnSpc>
              <a:spcBef>
                <a:spcPts val="1000"/>
              </a:spcBef>
              <a:spcAft>
                <a:spcPts val="0"/>
              </a:spcAft>
              <a:buClr>
                <a:schemeClr val="dk1"/>
              </a:buClr>
              <a:buSzPts val="2800"/>
              <a:buChar char="•"/>
            </a:pPr>
            <a:r>
              <a:rPr lang="en-US"/>
              <a:t>ISO 9000 provides a standard which is simply to provide guidelines that defines how a product or a process should be. </a:t>
            </a:r>
            <a:endParaRPr/>
          </a:p>
          <a:p>
            <a:pPr indent="-228600" lvl="0" marL="228600" rtl="0" algn="l">
              <a:lnSpc>
                <a:spcPct val="90000"/>
              </a:lnSpc>
              <a:spcBef>
                <a:spcPts val="1000"/>
              </a:spcBef>
              <a:spcAft>
                <a:spcPts val="0"/>
              </a:spcAft>
              <a:buClr>
                <a:schemeClr val="dk1"/>
              </a:buClr>
              <a:buSzPts val="2800"/>
              <a:buChar char="•"/>
            </a:pPr>
            <a:r>
              <a:rPr lang="en-US"/>
              <a:t>The organization follows these standards to define software, hardware, products and support their products delivered to the customers.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4"/>
          <p:cNvSpPr txBox="1"/>
          <p:nvPr>
            <p:ph idx="1" type="body"/>
          </p:nvPr>
        </p:nvSpPr>
        <p:spPr>
          <a:xfrm>
            <a:off x="838200" y="793115"/>
            <a:ext cx="10515600" cy="5384165"/>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Quality is a key factor and it has two different views which is  customer  and  producer  view.  </a:t>
            </a:r>
            <a:endParaRPr/>
          </a:p>
          <a:p>
            <a:pPr indent="-228600" lvl="0" marL="228600" rtl="0" algn="l">
              <a:lnSpc>
                <a:spcPct val="90000"/>
              </a:lnSpc>
              <a:spcBef>
                <a:spcPts val="1000"/>
              </a:spcBef>
              <a:spcAft>
                <a:spcPts val="0"/>
              </a:spcAft>
              <a:buClr>
                <a:schemeClr val="dk1"/>
              </a:buClr>
              <a:buSzPts val="2800"/>
              <a:buChar char="•"/>
            </a:pPr>
            <a:r>
              <a:rPr lang="en-US"/>
              <a:t>Customer  view  is  more subjective  and it  can  be  a  look, feel  and  function  of  the product. </a:t>
            </a:r>
            <a:endParaRPr/>
          </a:p>
          <a:p>
            <a:pPr indent="-228600" lvl="0" marL="228600" rtl="0" algn="l">
              <a:lnSpc>
                <a:spcPct val="90000"/>
              </a:lnSpc>
              <a:spcBef>
                <a:spcPts val="1000"/>
              </a:spcBef>
              <a:spcAft>
                <a:spcPts val="0"/>
              </a:spcAft>
              <a:buClr>
                <a:schemeClr val="dk1"/>
              </a:buClr>
              <a:buSzPts val="2800"/>
              <a:buChar char="•"/>
            </a:pPr>
            <a:r>
              <a:rPr lang="en-US"/>
              <a:t>Producer view is objective which is conformance requirements  and costs.</a:t>
            </a:r>
            <a:endParaRPr/>
          </a:p>
          <a:p>
            <a:pPr indent="-228600" lvl="0" marL="228600" rtl="0" algn="l">
              <a:lnSpc>
                <a:spcPct val="90000"/>
              </a:lnSpc>
              <a:spcBef>
                <a:spcPts val="1000"/>
              </a:spcBef>
              <a:spcAft>
                <a:spcPts val="0"/>
              </a:spcAft>
              <a:buClr>
                <a:schemeClr val="dk1"/>
              </a:buClr>
              <a:buSzPts val="2800"/>
              <a:buChar char="•"/>
            </a:pPr>
            <a:r>
              <a:rPr lang="en-US"/>
              <a:t> Quality of  a product  can also  be evaluated with certain factors like performance which states that whether product is capable of doing its intended job or not, reliability that is how often product will fail, durability which  is how  long  product will  last, serviceability  which define as how easy it is to repair, aesthetics related with product looks and appearances and conformance to standards. These all are in fact are maintained by ISO 9000, six sigma and CMMI.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5"/>
          <p:cNvSpPr txBox="1"/>
          <p:nvPr>
            <p:ph type="title"/>
          </p:nvPr>
        </p:nvSpPr>
        <p:spPr>
          <a:xfrm>
            <a:off x="103025" y="0"/>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sz="3800"/>
              <a:t>Total Quality Management (TQM) Concepts:</a:t>
            </a:r>
            <a:endParaRPr sz="3800"/>
          </a:p>
        </p:txBody>
      </p:sp>
      <p:sp>
        <p:nvSpPr>
          <p:cNvPr id="163" name="Google Shape;163;p5"/>
          <p:cNvSpPr txBox="1"/>
          <p:nvPr>
            <p:ph idx="1" type="body"/>
          </p:nvPr>
        </p:nvSpPr>
        <p:spPr>
          <a:xfrm>
            <a:off x="362500" y="1166400"/>
            <a:ext cx="11678700" cy="5440200"/>
          </a:xfrm>
          <a:prstGeom prst="rect">
            <a:avLst/>
          </a:prstGeom>
          <a:noFill/>
          <a:ln>
            <a:noFill/>
          </a:ln>
        </p:spPr>
        <p:txBody>
          <a:bodyPr anchorCtr="0" anchor="t" bIns="45700" lIns="91425" spcFirstLastPara="1" rIns="91425" wrap="square" tIns="45700">
            <a:normAutofit fontScale="85000" lnSpcReduction="10000"/>
          </a:bodyPr>
          <a:lstStyle/>
          <a:p>
            <a:pPr indent="-288290" lvl="0" marL="228600" rtl="0" algn="l">
              <a:lnSpc>
                <a:spcPct val="150000"/>
              </a:lnSpc>
              <a:spcBef>
                <a:spcPts val="0"/>
              </a:spcBef>
              <a:spcAft>
                <a:spcPts val="0"/>
              </a:spcAft>
              <a:buClr>
                <a:schemeClr val="dk1"/>
              </a:buClr>
              <a:buSzPct val="162962"/>
              <a:buFont typeface="Times New Roman"/>
              <a:buChar char="•"/>
            </a:pPr>
            <a:r>
              <a:rPr b="1" lang="en-US" sz="2700">
                <a:latin typeface="Arial"/>
                <a:ea typeface="Arial"/>
                <a:cs typeface="Arial"/>
                <a:sym typeface="Arial"/>
              </a:rPr>
              <a:t>Total Quality Management (TQM)</a:t>
            </a:r>
            <a:r>
              <a:rPr lang="en-US" sz="2700">
                <a:latin typeface="Arial"/>
                <a:ea typeface="Arial"/>
                <a:cs typeface="Arial"/>
                <a:sym typeface="Arial"/>
              </a:rPr>
              <a:t> is a management approach focused on </a:t>
            </a:r>
            <a:r>
              <a:rPr b="1" lang="en-US" sz="2700">
                <a:latin typeface="Arial"/>
                <a:ea typeface="Arial"/>
                <a:cs typeface="Arial"/>
                <a:sym typeface="Arial"/>
              </a:rPr>
              <a:t>continuous improvement</a:t>
            </a:r>
            <a:r>
              <a:rPr lang="en-US" sz="2700">
                <a:latin typeface="Arial"/>
                <a:ea typeface="Arial"/>
                <a:cs typeface="Arial"/>
                <a:sym typeface="Arial"/>
              </a:rPr>
              <a:t>, </a:t>
            </a:r>
            <a:r>
              <a:rPr b="1" lang="en-US" sz="2700">
                <a:latin typeface="Arial"/>
                <a:ea typeface="Arial"/>
                <a:cs typeface="Arial"/>
                <a:sym typeface="Arial"/>
              </a:rPr>
              <a:t>customer satisfaction</a:t>
            </a:r>
            <a:r>
              <a:rPr lang="en-US" sz="2700">
                <a:latin typeface="Arial"/>
                <a:ea typeface="Arial"/>
                <a:cs typeface="Arial"/>
                <a:sym typeface="Arial"/>
              </a:rPr>
              <a:t>, and </a:t>
            </a:r>
            <a:r>
              <a:rPr b="1" lang="en-US" sz="2700">
                <a:latin typeface="Arial"/>
                <a:ea typeface="Arial"/>
                <a:cs typeface="Arial"/>
                <a:sym typeface="Arial"/>
              </a:rPr>
              <a:t>employee involvement</a:t>
            </a:r>
            <a:r>
              <a:rPr lang="en-US" sz="2700">
                <a:latin typeface="Arial"/>
                <a:ea typeface="Arial"/>
                <a:cs typeface="Arial"/>
                <a:sym typeface="Arial"/>
              </a:rPr>
              <a:t>.</a:t>
            </a:r>
            <a:endParaRPr sz="4400">
              <a:latin typeface="Times New Roman"/>
              <a:ea typeface="Times New Roman"/>
              <a:cs typeface="Times New Roman"/>
              <a:sym typeface="Times New Roman"/>
            </a:endParaRPr>
          </a:p>
          <a:p>
            <a:pPr indent="-201930" lvl="0" marL="228600" rtl="0" algn="l">
              <a:lnSpc>
                <a:spcPct val="150000"/>
              </a:lnSpc>
              <a:spcBef>
                <a:spcPts val="0"/>
              </a:spcBef>
              <a:spcAft>
                <a:spcPts val="0"/>
              </a:spcAft>
              <a:buSzPct val="100000"/>
              <a:buFont typeface="Times New Roman"/>
              <a:buChar char="•"/>
            </a:pPr>
            <a:r>
              <a:rPr b="1" lang="en-US">
                <a:latin typeface="Times New Roman"/>
                <a:ea typeface="Times New Roman"/>
                <a:cs typeface="Times New Roman"/>
                <a:sym typeface="Times New Roman"/>
              </a:rPr>
              <a:t>Total  quality  management</a:t>
            </a:r>
            <a:r>
              <a:rPr lang="en-US">
                <a:latin typeface="Times New Roman"/>
                <a:ea typeface="Times New Roman"/>
                <a:cs typeface="Times New Roman"/>
                <a:sym typeface="Times New Roman"/>
              </a:rPr>
              <a:t>  is  an  approach  to  maintain quality  and  focus  on  the  cost  in  order  to  maintain  it.  “A process for managing quality”.</a:t>
            </a:r>
            <a:endParaRPr>
              <a:latin typeface="Times New Roman"/>
              <a:ea typeface="Times New Roman"/>
              <a:cs typeface="Times New Roman"/>
              <a:sym typeface="Times New Roman"/>
            </a:endParaRPr>
          </a:p>
          <a:p>
            <a:pPr indent="-201930" lvl="0" marL="228600" rtl="0" algn="l">
              <a:lnSpc>
                <a:spcPct val="150000"/>
              </a:lnSpc>
              <a:spcBef>
                <a:spcPts val="1000"/>
              </a:spcBef>
              <a:spcAft>
                <a:spcPts val="0"/>
              </a:spcAft>
              <a:buSzPct val="100000"/>
              <a:buFont typeface="Times New Roman"/>
              <a:buChar char="•"/>
            </a:pPr>
            <a:r>
              <a:rPr lang="en-US">
                <a:latin typeface="Times New Roman"/>
                <a:ea typeface="Times New Roman"/>
                <a:cs typeface="Times New Roman"/>
                <a:sym typeface="Times New Roman"/>
              </a:rPr>
              <a:t>The basic aim is to satisfy customers by improving the processes involved to  develop  a  product,  and  this  is  done  by  comprising experiences  of  the  workers. </a:t>
            </a:r>
            <a:endParaRPr>
              <a:latin typeface="Times New Roman"/>
              <a:ea typeface="Times New Roman"/>
              <a:cs typeface="Times New Roman"/>
              <a:sym typeface="Times New Roman"/>
            </a:endParaRPr>
          </a:p>
          <a:p>
            <a:pPr indent="-201930" lvl="0" marL="228600" rtl="0" algn="l">
              <a:lnSpc>
                <a:spcPct val="150000"/>
              </a:lnSpc>
              <a:spcBef>
                <a:spcPts val="1000"/>
              </a:spcBef>
              <a:spcAft>
                <a:spcPts val="0"/>
              </a:spcAft>
              <a:buSzPct val="100000"/>
              <a:buFont typeface="Times New Roman"/>
              <a:buChar char="•"/>
            </a:pPr>
            <a:r>
              <a:rPr lang="en-US">
                <a:latin typeface="Times New Roman"/>
                <a:ea typeface="Times New Roman"/>
                <a:cs typeface="Times New Roman"/>
                <a:sym typeface="Times New Roman"/>
              </a:rPr>
              <a:t> TQM  states  that  customer decides  quality,  workers produce  it  and  top management leads it and provides necessary support.</a:t>
            </a:r>
            <a:endParaRPr>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ct val="100000"/>
              <a:buNone/>
            </a:pPr>
            <a:r>
              <a:t/>
            </a:r>
            <a:endParaRPr>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b72b9dfe96_0_1"/>
          <p:cNvSpPr txBox="1"/>
          <p:nvPr>
            <p:ph idx="1" type="body"/>
          </p:nvPr>
        </p:nvSpPr>
        <p:spPr>
          <a:xfrm>
            <a:off x="257475" y="284225"/>
            <a:ext cx="11096400" cy="5892600"/>
          </a:xfrm>
          <a:prstGeom prst="rect">
            <a:avLst/>
          </a:prstGeom>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US" sz="2200">
                <a:latin typeface="Arial"/>
                <a:ea typeface="Arial"/>
                <a:cs typeface="Arial"/>
                <a:sym typeface="Arial"/>
              </a:rPr>
              <a:t>Core Concepts / Principles of TQM</a:t>
            </a:r>
            <a:endParaRPr b="1" sz="22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1800">
                <a:latin typeface="Arial"/>
                <a:ea typeface="Arial"/>
                <a:cs typeface="Arial"/>
                <a:sym typeface="Arial"/>
              </a:rPr>
              <a:t>1. Customer Focus</a:t>
            </a:r>
            <a:endParaRPr b="1" sz="18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600">
                <a:latin typeface="Arial"/>
                <a:ea typeface="Arial"/>
                <a:cs typeface="Arial"/>
                <a:sym typeface="Arial"/>
              </a:rPr>
              <a:t>Customer satisfaction is the </a:t>
            </a:r>
            <a:r>
              <a:rPr b="1" lang="en-US" sz="1600">
                <a:latin typeface="Arial"/>
                <a:ea typeface="Arial"/>
                <a:cs typeface="Arial"/>
                <a:sym typeface="Arial"/>
              </a:rPr>
              <a:t>primary goal</a:t>
            </a:r>
            <a:r>
              <a:rPr lang="en-US" sz="1600">
                <a:latin typeface="Arial"/>
                <a:ea typeface="Arial"/>
                <a:cs typeface="Arial"/>
                <a:sym typeface="Arial"/>
              </a:rPr>
              <a:t> of TQM.</a:t>
            </a:r>
            <a:endParaRPr sz="1600">
              <a:latin typeface="Arial"/>
              <a:ea typeface="Arial"/>
              <a:cs typeface="Arial"/>
              <a:sym typeface="Arial"/>
            </a:endParaRPr>
          </a:p>
          <a:p>
            <a:pPr indent="-330200" lvl="0" marL="457200" rtl="0" algn="l">
              <a:lnSpc>
                <a:spcPct val="115000"/>
              </a:lnSpc>
              <a:spcBef>
                <a:spcPts val="1200"/>
              </a:spcBef>
              <a:spcAft>
                <a:spcPts val="0"/>
              </a:spcAft>
              <a:buSzPts val="1600"/>
              <a:buChar char="●"/>
            </a:pPr>
            <a:r>
              <a:rPr lang="en-US" sz="1600">
                <a:latin typeface="Arial"/>
                <a:ea typeface="Arial"/>
                <a:cs typeface="Arial"/>
                <a:sym typeface="Arial"/>
              </a:rPr>
              <a:t>Quality is defined by customer needs and expectations</a:t>
            </a:r>
            <a:br>
              <a:rPr lang="en-US" sz="1600">
                <a:latin typeface="Arial"/>
                <a:ea typeface="Arial"/>
                <a:cs typeface="Arial"/>
                <a:sym typeface="Arial"/>
              </a:rPr>
            </a:br>
            <a:endParaRPr sz="1600">
              <a:latin typeface="Arial"/>
              <a:ea typeface="Arial"/>
              <a:cs typeface="Arial"/>
              <a:sym typeface="Arial"/>
            </a:endParaRPr>
          </a:p>
          <a:p>
            <a:pPr indent="-330200" lvl="0" marL="457200" rtl="0" algn="l">
              <a:lnSpc>
                <a:spcPct val="115000"/>
              </a:lnSpc>
              <a:spcBef>
                <a:spcPts val="0"/>
              </a:spcBef>
              <a:spcAft>
                <a:spcPts val="0"/>
              </a:spcAft>
              <a:buSzPts val="1600"/>
              <a:buChar char="●"/>
            </a:pPr>
            <a:r>
              <a:rPr lang="en-US" sz="1600">
                <a:latin typeface="Arial"/>
                <a:ea typeface="Arial"/>
                <a:cs typeface="Arial"/>
                <a:sym typeface="Arial"/>
              </a:rPr>
              <a:t>Both </a:t>
            </a:r>
            <a:r>
              <a:rPr b="1" lang="en-US" sz="1600">
                <a:latin typeface="Arial"/>
                <a:ea typeface="Arial"/>
                <a:cs typeface="Arial"/>
                <a:sym typeface="Arial"/>
              </a:rPr>
              <a:t>external customers</a:t>
            </a:r>
            <a:r>
              <a:rPr lang="en-US" sz="1600">
                <a:latin typeface="Arial"/>
                <a:ea typeface="Arial"/>
                <a:cs typeface="Arial"/>
                <a:sym typeface="Arial"/>
              </a:rPr>
              <a:t> (buyers) and </a:t>
            </a:r>
            <a:r>
              <a:rPr b="1" lang="en-US" sz="1600">
                <a:latin typeface="Arial"/>
                <a:ea typeface="Arial"/>
                <a:cs typeface="Arial"/>
                <a:sym typeface="Arial"/>
              </a:rPr>
              <a:t>internal customers</a:t>
            </a:r>
            <a:r>
              <a:rPr lang="en-US" sz="1600">
                <a:latin typeface="Arial"/>
                <a:ea typeface="Arial"/>
                <a:cs typeface="Arial"/>
                <a:sym typeface="Arial"/>
              </a:rPr>
              <a:t> (employees) are important</a:t>
            </a:r>
            <a:endParaRPr sz="1600">
              <a:latin typeface="Arial"/>
              <a:ea typeface="Arial"/>
              <a:cs typeface="Arial"/>
              <a:sym typeface="Arial"/>
            </a:endParaRPr>
          </a:p>
          <a:p>
            <a:pPr indent="0" lvl="0" marL="0" rtl="0" algn="l">
              <a:lnSpc>
                <a:spcPct val="115000"/>
              </a:lnSpc>
              <a:spcBef>
                <a:spcPts val="1400"/>
              </a:spcBef>
              <a:spcAft>
                <a:spcPts val="0"/>
              </a:spcAft>
              <a:buNone/>
            </a:pPr>
            <a:r>
              <a:rPr b="1" lang="en-US" sz="1800">
                <a:latin typeface="Arial"/>
                <a:ea typeface="Arial"/>
                <a:cs typeface="Arial"/>
                <a:sym typeface="Arial"/>
              </a:rPr>
              <a:t>2. Total Employee Involvement</a:t>
            </a:r>
            <a:endParaRPr b="1" sz="1800">
              <a:latin typeface="Arial"/>
              <a:ea typeface="Arial"/>
              <a:cs typeface="Arial"/>
              <a:sym typeface="Arial"/>
            </a:endParaRPr>
          </a:p>
          <a:p>
            <a:pPr indent="0" lvl="0" marL="0" rtl="0" algn="l">
              <a:lnSpc>
                <a:spcPct val="115000"/>
              </a:lnSpc>
              <a:spcBef>
                <a:spcPts val="1200"/>
              </a:spcBef>
              <a:spcAft>
                <a:spcPts val="0"/>
              </a:spcAft>
              <a:buNone/>
            </a:pPr>
            <a:r>
              <a:rPr lang="en-US" sz="1600">
                <a:latin typeface="Arial"/>
                <a:ea typeface="Arial"/>
                <a:cs typeface="Arial"/>
                <a:sym typeface="Arial"/>
              </a:rPr>
              <a:t>All employees participate in improving quality.</a:t>
            </a:r>
            <a:endParaRPr sz="1600">
              <a:latin typeface="Arial"/>
              <a:ea typeface="Arial"/>
              <a:cs typeface="Arial"/>
              <a:sym typeface="Arial"/>
            </a:endParaRPr>
          </a:p>
          <a:p>
            <a:pPr indent="-330200" lvl="0" marL="457200" rtl="0" algn="l">
              <a:lnSpc>
                <a:spcPct val="115000"/>
              </a:lnSpc>
              <a:spcBef>
                <a:spcPts val="1200"/>
              </a:spcBef>
              <a:spcAft>
                <a:spcPts val="0"/>
              </a:spcAft>
              <a:buSzPts val="1600"/>
              <a:buChar char="●"/>
            </a:pPr>
            <a:r>
              <a:rPr lang="en-US" sz="1600">
                <a:latin typeface="Arial"/>
                <a:ea typeface="Arial"/>
                <a:cs typeface="Arial"/>
                <a:sym typeface="Arial"/>
              </a:rPr>
              <a:t>Employees are encouraged to suggest improvements</a:t>
            </a:r>
            <a:br>
              <a:rPr lang="en-US" sz="1600">
                <a:latin typeface="Arial"/>
                <a:ea typeface="Arial"/>
                <a:cs typeface="Arial"/>
                <a:sym typeface="Arial"/>
              </a:rPr>
            </a:br>
            <a:endParaRPr sz="1600">
              <a:latin typeface="Arial"/>
              <a:ea typeface="Arial"/>
              <a:cs typeface="Arial"/>
              <a:sym typeface="Arial"/>
            </a:endParaRPr>
          </a:p>
          <a:p>
            <a:pPr indent="-330200" lvl="0" marL="457200" rtl="0" algn="l">
              <a:lnSpc>
                <a:spcPct val="115000"/>
              </a:lnSpc>
              <a:spcBef>
                <a:spcPts val="0"/>
              </a:spcBef>
              <a:spcAft>
                <a:spcPts val="0"/>
              </a:spcAft>
              <a:buSzPts val="1600"/>
              <a:buChar char="●"/>
            </a:pPr>
            <a:r>
              <a:rPr lang="en-US" sz="1600">
                <a:latin typeface="Arial"/>
                <a:ea typeface="Arial"/>
                <a:cs typeface="Arial"/>
                <a:sym typeface="Arial"/>
              </a:rPr>
              <a:t>Teamwork and empowerment are promoted</a:t>
            </a:r>
            <a:endParaRPr sz="1600">
              <a:latin typeface="Arial"/>
              <a:ea typeface="Arial"/>
              <a:cs typeface="Arial"/>
              <a:sym typeface="Arial"/>
            </a:endParaRPr>
          </a:p>
          <a:p>
            <a:pPr indent="0" lvl="0" marL="0" rtl="0" algn="l">
              <a:lnSpc>
                <a:spcPct val="115000"/>
              </a:lnSpc>
              <a:spcBef>
                <a:spcPts val="1400"/>
              </a:spcBef>
              <a:spcAft>
                <a:spcPts val="0"/>
              </a:spcAft>
              <a:buNone/>
            </a:pPr>
            <a:r>
              <a:rPr b="1" lang="en-US" sz="1800">
                <a:latin typeface="Arial"/>
                <a:ea typeface="Arial"/>
                <a:cs typeface="Arial"/>
                <a:sym typeface="Arial"/>
              </a:rPr>
              <a:t>3. Leadership Commitment</a:t>
            </a:r>
            <a:endParaRPr b="1" sz="1800">
              <a:latin typeface="Arial"/>
              <a:ea typeface="Arial"/>
              <a:cs typeface="Arial"/>
              <a:sym typeface="Arial"/>
            </a:endParaRPr>
          </a:p>
          <a:p>
            <a:pPr indent="0" lvl="0" marL="0" rtl="0" algn="l">
              <a:lnSpc>
                <a:spcPct val="115000"/>
              </a:lnSpc>
              <a:spcBef>
                <a:spcPts val="1200"/>
              </a:spcBef>
              <a:spcAft>
                <a:spcPts val="0"/>
              </a:spcAft>
              <a:buNone/>
            </a:pPr>
            <a:r>
              <a:rPr lang="en-US" sz="1600">
                <a:latin typeface="Arial"/>
                <a:ea typeface="Arial"/>
                <a:cs typeface="Arial"/>
                <a:sym typeface="Arial"/>
              </a:rPr>
              <a:t>Top management plays a </a:t>
            </a:r>
            <a:r>
              <a:rPr b="1" lang="en-US" sz="1600">
                <a:latin typeface="Arial"/>
                <a:ea typeface="Arial"/>
                <a:cs typeface="Arial"/>
                <a:sym typeface="Arial"/>
              </a:rPr>
              <a:t>key role</a:t>
            </a:r>
            <a:r>
              <a:rPr lang="en-US" sz="1600">
                <a:latin typeface="Arial"/>
                <a:ea typeface="Arial"/>
                <a:cs typeface="Arial"/>
                <a:sym typeface="Arial"/>
              </a:rPr>
              <a:t> in implementing TQM.</a:t>
            </a:r>
            <a:endParaRPr sz="1600">
              <a:latin typeface="Arial"/>
              <a:ea typeface="Arial"/>
              <a:cs typeface="Arial"/>
              <a:sym typeface="Arial"/>
            </a:endParaRPr>
          </a:p>
          <a:p>
            <a:pPr indent="-330200" lvl="0" marL="457200" rtl="0" algn="l">
              <a:lnSpc>
                <a:spcPct val="115000"/>
              </a:lnSpc>
              <a:spcBef>
                <a:spcPts val="1200"/>
              </a:spcBef>
              <a:spcAft>
                <a:spcPts val="0"/>
              </a:spcAft>
              <a:buSzPts val="1600"/>
              <a:buChar char="●"/>
            </a:pPr>
            <a:r>
              <a:rPr lang="en-US" sz="1600">
                <a:latin typeface="Arial"/>
                <a:ea typeface="Arial"/>
                <a:cs typeface="Arial"/>
                <a:sym typeface="Arial"/>
              </a:rPr>
              <a:t>Provides vision and direction</a:t>
            </a:r>
            <a:br>
              <a:rPr lang="en-US" sz="1600">
                <a:latin typeface="Arial"/>
                <a:ea typeface="Arial"/>
                <a:cs typeface="Arial"/>
                <a:sym typeface="Arial"/>
              </a:rPr>
            </a:br>
            <a:endParaRPr sz="1600">
              <a:latin typeface="Arial"/>
              <a:ea typeface="Arial"/>
              <a:cs typeface="Arial"/>
              <a:sym typeface="Arial"/>
            </a:endParaRPr>
          </a:p>
          <a:p>
            <a:pPr indent="-330200" lvl="0" marL="457200" rtl="0" algn="l">
              <a:lnSpc>
                <a:spcPct val="115000"/>
              </a:lnSpc>
              <a:spcBef>
                <a:spcPts val="0"/>
              </a:spcBef>
              <a:spcAft>
                <a:spcPts val="0"/>
              </a:spcAft>
              <a:buSzPts val="1600"/>
              <a:buChar char="●"/>
            </a:pPr>
            <a:r>
              <a:rPr lang="en-US" sz="1600">
                <a:latin typeface="Arial"/>
                <a:ea typeface="Arial"/>
                <a:cs typeface="Arial"/>
                <a:sym typeface="Arial"/>
              </a:rPr>
              <a:t>Supports quality initiatives with resources</a:t>
            </a:r>
            <a:endParaRPr sz="1600">
              <a:latin typeface="Arial"/>
              <a:ea typeface="Arial"/>
              <a:cs typeface="Arial"/>
              <a:sym typeface="Arial"/>
            </a:endParaRPr>
          </a:p>
          <a:p>
            <a:pPr indent="0" lvl="0" marL="0" rtl="0" algn="l">
              <a:spcBef>
                <a:spcPts val="1200"/>
              </a:spcBef>
              <a:spcAft>
                <a:spcPts val="0"/>
              </a:spcAft>
              <a:buNone/>
            </a:pPr>
            <a:r>
              <a:t/>
            </a:r>
            <a:endParaRPr sz="33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b72b9dfe96_0_9"/>
          <p:cNvSpPr txBox="1"/>
          <p:nvPr>
            <p:ph idx="1" type="body"/>
          </p:nvPr>
        </p:nvSpPr>
        <p:spPr>
          <a:xfrm>
            <a:off x="425500" y="410250"/>
            <a:ext cx="10928400" cy="5766600"/>
          </a:xfrm>
          <a:prstGeom prst="rect">
            <a:avLst/>
          </a:prstGeom>
        </p:spPr>
        <p:txBody>
          <a:bodyPr anchorCtr="0"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b="1" lang="en-US" sz="1900">
                <a:latin typeface="Arial"/>
                <a:ea typeface="Arial"/>
                <a:cs typeface="Arial"/>
                <a:sym typeface="Arial"/>
              </a:rPr>
              <a:t>4. Process-Centered Approach</a:t>
            </a:r>
            <a:endParaRPr b="1" sz="19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700">
                <a:latin typeface="Arial"/>
                <a:ea typeface="Arial"/>
                <a:cs typeface="Arial"/>
                <a:sym typeface="Arial"/>
              </a:rPr>
              <a:t>TQM focuses on </a:t>
            </a:r>
            <a:r>
              <a:rPr b="1" lang="en-US" sz="1700">
                <a:latin typeface="Arial"/>
                <a:ea typeface="Arial"/>
                <a:cs typeface="Arial"/>
                <a:sym typeface="Arial"/>
              </a:rPr>
              <a:t>improving processes</a:t>
            </a:r>
            <a:r>
              <a:rPr lang="en-US" sz="1700">
                <a:latin typeface="Arial"/>
                <a:ea typeface="Arial"/>
                <a:cs typeface="Arial"/>
                <a:sym typeface="Arial"/>
              </a:rPr>
              <a:t>, not just inspecting final products.</a:t>
            </a:r>
            <a:endParaRPr sz="1700">
              <a:latin typeface="Arial"/>
              <a:ea typeface="Arial"/>
              <a:cs typeface="Arial"/>
              <a:sym typeface="Arial"/>
            </a:endParaRPr>
          </a:p>
          <a:p>
            <a:pPr indent="-336550" lvl="0" marL="457200" rtl="0" algn="l">
              <a:lnSpc>
                <a:spcPct val="115000"/>
              </a:lnSpc>
              <a:spcBef>
                <a:spcPts val="1200"/>
              </a:spcBef>
              <a:spcAft>
                <a:spcPts val="0"/>
              </a:spcAft>
              <a:buSzPts val="1700"/>
              <a:buChar char="●"/>
            </a:pPr>
            <a:r>
              <a:rPr lang="en-US" sz="1700">
                <a:latin typeface="Arial"/>
                <a:ea typeface="Arial"/>
                <a:cs typeface="Arial"/>
                <a:sym typeface="Arial"/>
              </a:rPr>
              <a:t>Every activity is viewed as a process</a:t>
            </a:r>
            <a:br>
              <a:rPr lang="en-US" sz="1700">
                <a:latin typeface="Arial"/>
                <a:ea typeface="Arial"/>
                <a:cs typeface="Arial"/>
                <a:sym typeface="Arial"/>
              </a:rPr>
            </a:br>
            <a:endParaRPr sz="1700">
              <a:latin typeface="Arial"/>
              <a:ea typeface="Arial"/>
              <a:cs typeface="Arial"/>
              <a:sym typeface="Arial"/>
            </a:endParaRPr>
          </a:p>
          <a:p>
            <a:pPr indent="-336550" lvl="0" marL="457200" rtl="0" algn="l">
              <a:lnSpc>
                <a:spcPct val="115000"/>
              </a:lnSpc>
              <a:spcBef>
                <a:spcPts val="0"/>
              </a:spcBef>
              <a:spcAft>
                <a:spcPts val="0"/>
              </a:spcAft>
              <a:buSzPts val="1700"/>
              <a:buChar char="●"/>
            </a:pPr>
            <a:r>
              <a:rPr lang="en-US" sz="1700">
                <a:latin typeface="Arial"/>
                <a:ea typeface="Arial"/>
                <a:cs typeface="Arial"/>
                <a:sym typeface="Arial"/>
              </a:rPr>
              <a:t>Improving processes reduces defects</a:t>
            </a:r>
            <a:endParaRPr sz="1700">
              <a:latin typeface="Arial"/>
              <a:ea typeface="Arial"/>
              <a:cs typeface="Arial"/>
              <a:sym typeface="Arial"/>
            </a:endParaRPr>
          </a:p>
          <a:p>
            <a:pPr indent="0" lvl="0" marL="0" rtl="0" algn="l">
              <a:lnSpc>
                <a:spcPct val="115000"/>
              </a:lnSpc>
              <a:spcBef>
                <a:spcPts val="1400"/>
              </a:spcBef>
              <a:spcAft>
                <a:spcPts val="0"/>
              </a:spcAft>
              <a:buNone/>
            </a:pPr>
            <a:r>
              <a:rPr b="1" lang="en-US" sz="1900">
                <a:latin typeface="Arial"/>
                <a:ea typeface="Arial"/>
                <a:cs typeface="Arial"/>
                <a:sym typeface="Arial"/>
              </a:rPr>
              <a:t>5. Continuous Improvement (Kaizen)</a:t>
            </a:r>
            <a:endParaRPr b="1" sz="1900">
              <a:latin typeface="Arial"/>
              <a:ea typeface="Arial"/>
              <a:cs typeface="Arial"/>
              <a:sym typeface="Arial"/>
            </a:endParaRPr>
          </a:p>
          <a:p>
            <a:pPr indent="0" lvl="0" marL="0" rtl="0" algn="l">
              <a:lnSpc>
                <a:spcPct val="115000"/>
              </a:lnSpc>
              <a:spcBef>
                <a:spcPts val="1200"/>
              </a:spcBef>
              <a:spcAft>
                <a:spcPts val="0"/>
              </a:spcAft>
              <a:buNone/>
            </a:pPr>
            <a:r>
              <a:rPr lang="en-US" sz="1700">
                <a:latin typeface="Arial"/>
                <a:ea typeface="Arial"/>
                <a:cs typeface="Arial"/>
                <a:sym typeface="Arial"/>
              </a:rPr>
              <a:t>Quality improvement is an </a:t>
            </a:r>
            <a:r>
              <a:rPr b="1" lang="en-US" sz="1700">
                <a:latin typeface="Arial"/>
                <a:ea typeface="Arial"/>
                <a:cs typeface="Arial"/>
                <a:sym typeface="Arial"/>
              </a:rPr>
              <a:t>ongoing process</a:t>
            </a:r>
            <a:r>
              <a:rPr lang="en-US" sz="1700">
                <a:latin typeface="Arial"/>
                <a:ea typeface="Arial"/>
                <a:cs typeface="Arial"/>
                <a:sym typeface="Arial"/>
              </a:rPr>
              <a:t>.</a:t>
            </a:r>
            <a:endParaRPr sz="1700">
              <a:latin typeface="Arial"/>
              <a:ea typeface="Arial"/>
              <a:cs typeface="Arial"/>
              <a:sym typeface="Arial"/>
            </a:endParaRPr>
          </a:p>
          <a:p>
            <a:pPr indent="-336550" lvl="0" marL="457200" rtl="0" algn="l">
              <a:lnSpc>
                <a:spcPct val="115000"/>
              </a:lnSpc>
              <a:spcBef>
                <a:spcPts val="1200"/>
              </a:spcBef>
              <a:spcAft>
                <a:spcPts val="0"/>
              </a:spcAft>
              <a:buSzPts val="1700"/>
              <a:buChar char="●"/>
            </a:pPr>
            <a:r>
              <a:rPr lang="en-US" sz="1700">
                <a:latin typeface="Arial"/>
                <a:ea typeface="Arial"/>
                <a:cs typeface="Arial"/>
                <a:sym typeface="Arial"/>
              </a:rPr>
              <a:t>Small, continuous improvements are encouraged</a:t>
            </a:r>
            <a:br>
              <a:rPr lang="en-US" sz="1700">
                <a:latin typeface="Arial"/>
                <a:ea typeface="Arial"/>
                <a:cs typeface="Arial"/>
                <a:sym typeface="Arial"/>
              </a:rPr>
            </a:br>
            <a:endParaRPr sz="1700">
              <a:latin typeface="Arial"/>
              <a:ea typeface="Arial"/>
              <a:cs typeface="Arial"/>
              <a:sym typeface="Arial"/>
            </a:endParaRPr>
          </a:p>
          <a:p>
            <a:pPr indent="-336550" lvl="0" marL="457200" rtl="0" algn="l">
              <a:lnSpc>
                <a:spcPct val="115000"/>
              </a:lnSpc>
              <a:spcBef>
                <a:spcPts val="0"/>
              </a:spcBef>
              <a:spcAft>
                <a:spcPts val="0"/>
              </a:spcAft>
              <a:buSzPts val="1700"/>
              <a:buChar char="●"/>
            </a:pPr>
            <a:r>
              <a:rPr lang="en-US" sz="1700">
                <a:latin typeface="Arial"/>
                <a:ea typeface="Arial"/>
                <a:cs typeface="Arial"/>
                <a:sym typeface="Arial"/>
              </a:rPr>
              <a:t>Uses PDCA (Plan–Do–Check–Act) cycle</a:t>
            </a:r>
            <a:br>
              <a:rPr lang="en-US" sz="1700">
                <a:latin typeface="Arial"/>
                <a:ea typeface="Arial"/>
                <a:cs typeface="Arial"/>
                <a:sym typeface="Arial"/>
              </a:rPr>
            </a:br>
            <a:endParaRPr sz="1700">
              <a:latin typeface="Arial"/>
              <a:ea typeface="Arial"/>
              <a:cs typeface="Arial"/>
              <a:sym typeface="Arial"/>
            </a:endParaRPr>
          </a:p>
          <a:p>
            <a:pPr indent="0" lvl="0" marL="0" rtl="0" algn="l">
              <a:lnSpc>
                <a:spcPct val="115000"/>
              </a:lnSpc>
              <a:spcBef>
                <a:spcPts val="1200"/>
              </a:spcBef>
              <a:spcAft>
                <a:spcPts val="0"/>
              </a:spcAft>
              <a:buNone/>
            </a:pPr>
            <a:r>
              <a:rPr b="1" lang="en-US" sz="1900">
                <a:latin typeface="Arial"/>
                <a:ea typeface="Arial"/>
                <a:cs typeface="Arial"/>
                <a:sym typeface="Arial"/>
              </a:rPr>
              <a:t>6. Data-Driven Decision Making</a:t>
            </a:r>
            <a:endParaRPr b="1" sz="1900">
              <a:latin typeface="Arial"/>
              <a:ea typeface="Arial"/>
              <a:cs typeface="Arial"/>
              <a:sym typeface="Arial"/>
            </a:endParaRPr>
          </a:p>
          <a:p>
            <a:pPr indent="0" lvl="0" marL="0" rtl="0" algn="l">
              <a:lnSpc>
                <a:spcPct val="115000"/>
              </a:lnSpc>
              <a:spcBef>
                <a:spcPts val="1200"/>
              </a:spcBef>
              <a:spcAft>
                <a:spcPts val="0"/>
              </a:spcAft>
              <a:buNone/>
            </a:pPr>
            <a:r>
              <a:rPr lang="en-US" sz="1700">
                <a:latin typeface="Arial"/>
                <a:ea typeface="Arial"/>
                <a:cs typeface="Arial"/>
                <a:sym typeface="Arial"/>
              </a:rPr>
              <a:t>Decisions are based on </a:t>
            </a:r>
            <a:r>
              <a:rPr b="1" lang="en-US" sz="1700">
                <a:latin typeface="Arial"/>
                <a:ea typeface="Arial"/>
                <a:cs typeface="Arial"/>
                <a:sym typeface="Arial"/>
              </a:rPr>
              <a:t>facts and data</a:t>
            </a:r>
            <a:r>
              <a:rPr lang="en-US" sz="1700">
                <a:latin typeface="Arial"/>
                <a:ea typeface="Arial"/>
                <a:cs typeface="Arial"/>
                <a:sym typeface="Arial"/>
              </a:rPr>
              <a:t>, not assumptions.</a:t>
            </a:r>
            <a:endParaRPr sz="1700">
              <a:latin typeface="Arial"/>
              <a:ea typeface="Arial"/>
              <a:cs typeface="Arial"/>
              <a:sym typeface="Arial"/>
            </a:endParaRPr>
          </a:p>
          <a:p>
            <a:pPr indent="-336550" lvl="0" marL="457200" rtl="0" algn="l">
              <a:lnSpc>
                <a:spcPct val="115000"/>
              </a:lnSpc>
              <a:spcBef>
                <a:spcPts val="1200"/>
              </a:spcBef>
              <a:spcAft>
                <a:spcPts val="0"/>
              </a:spcAft>
              <a:buSzPts val="1700"/>
              <a:buChar char="●"/>
            </a:pPr>
            <a:r>
              <a:rPr lang="en-US" sz="1700">
                <a:latin typeface="Arial"/>
                <a:ea typeface="Arial"/>
                <a:cs typeface="Arial"/>
                <a:sym typeface="Arial"/>
              </a:rPr>
              <a:t>Use of quality metrics and statistical tools</a:t>
            </a:r>
            <a:br>
              <a:rPr lang="en-US" sz="1700">
                <a:latin typeface="Arial"/>
                <a:ea typeface="Arial"/>
                <a:cs typeface="Arial"/>
                <a:sym typeface="Arial"/>
              </a:rPr>
            </a:br>
            <a:endParaRPr sz="1700">
              <a:latin typeface="Arial"/>
              <a:ea typeface="Arial"/>
              <a:cs typeface="Arial"/>
              <a:sym typeface="Arial"/>
            </a:endParaRPr>
          </a:p>
          <a:p>
            <a:pPr indent="-336550" lvl="0" marL="457200" rtl="0" algn="l">
              <a:lnSpc>
                <a:spcPct val="115000"/>
              </a:lnSpc>
              <a:spcBef>
                <a:spcPts val="0"/>
              </a:spcBef>
              <a:spcAft>
                <a:spcPts val="0"/>
              </a:spcAft>
              <a:buSzPts val="1700"/>
              <a:buChar char="●"/>
            </a:pPr>
            <a:r>
              <a:rPr lang="en-US" sz="1700">
                <a:latin typeface="Arial"/>
                <a:ea typeface="Arial"/>
                <a:cs typeface="Arial"/>
                <a:sym typeface="Arial"/>
              </a:rPr>
              <a:t>Performance is measured and analyzed</a:t>
            </a:r>
            <a:endParaRPr sz="1700">
              <a:latin typeface="Arial"/>
              <a:ea typeface="Arial"/>
              <a:cs typeface="Arial"/>
              <a:sym typeface="Arial"/>
            </a:endParaRPr>
          </a:p>
          <a:p>
            <a:pPr indent="0" lvl="0" marL="457200" rtl="0" algn="l">
              <a:lnSpc>
                <a:spcPct val="115000"/>
              </a:lnSpc>
              <a:spcBef>
                <a:spcPts val="1200"/>
              </a:spcBef>
              <a:spcAft>
                <a:spcPts val="1200"/>
              </a:spcAft>
              <a:buNone/>
            </a:pPr>
            <a:r>
              <a:t/>
            </a:r>
            <a:endParaRPr sz="1700">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b72b9dfe96_0_14"/>
          <p:cNvSpPr txBox="1"/>
          <p:nvPr>
            <p:ph idx="1" type="body"/>
          </p:nvPr>
        </p:nvSpPr>
        <p:spPr>
          <a:xfrm>
            <a:off x="225975" y="441750"/>
            <a:ext cx="11127900" cy="5735100"/>
          </a:xfrm>
          <a:prstGeom prst="rect">
            <a:avLst/>
          </a:prstGeom>
        </p:spPr>
        <p:txBody>
          <a:bodyPr anchorCtr="0" anchor="t" bIns="45700" lIns="91425" spcFirstLastPara="1" rIns="91425" wrap="square" tIns="45700">
            <a:normAutofit/>
          </a:bodyPr>
          <a:lstStyle/>
          <a:p>
            <a:pPr indent="0" lvl="0" marL="0" rtl="0" algn="l">
              <a:lnSpc>
                <a:spcPct val="115000"/>
              </a:lnSpc>
              <a:spcBef>
                <a:spcPts val="1400"/>
              </a:spcBef>
              <a:spcAft>
                <a:spcPts val="0"/>
              </a:spcAft>
              <a:buClr>
                <a:schemeClr val="dk1"/>
              </a:buClr>
              <a:buSzPts val="1100"/>
              <a:buFont typeface="Arial"/>
              <a:buNone/>
            </a:pPr>
            <a:r>
              <a:rPr b="1" lang="en-US" sz="1600">
                <a:latin typeface="Arial"/>
                <a:ea typeface="Arial"/>
                <a:cs typeface="Arial"/>
                <a:sym typeface="Arial"/>
              </a:rPr>
              <a:t>7. Integrated System</a:t>
            </a:r>
            <a:endParaRPr b="1" sz="16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400">
                <a:latin typeface="Arial"/>
                <a:ea typeface="Arial"/>
                <a:cs typeface="Arial"/>
                <a:sym typeface="Arial"/>
              </a:rPr>
              <a:t>All departments work together toward common quality goals.</a:t>
            </a:r>
            <a:endParaRPr sz="1400">
              <a:latin typeface="Arial"/>
              <a:ea typeface="Arial"/>
              <a:cs typeface="Arial"/>
              <a:sym typeface="Arial"/>
            </a:endParaRPr>
          </a:p>
          <a:p>
            <a:pPr indent="-317500" lvl="0" marL="457200" rtl="0" algn="l">
              <a:lnSpc>
                <a:spcPct val="115000"/>
              </a:lnSpc>
              <a:spcBef>
                <a:spcPts val="1200"/>
              </a:spcBef>
              <a:spcAft>
                <a:spcPts val="0"/>
              </a:spcAft>
              <a:buSzPts val="1400"/>
              <a:buChar char="●"/>
            </a:pPr>
            <a:r>
              <a:rPr lang="en-US" sz="1400">
                <a:latin typeface="Arial"/>
                <a:ea typeface="Arial"/>
                <a:cs typeface="Arial"/>
                <a:sym typeface="Arial"/>
              </a:rPr>
              <a:t>Aligns policies, objectives, and processes</a:t>
            </a:r>
            <a:br>
              <a:rPr lang="en-US" sz="1400">
                <a:latin typeface="Arial"/>
                <a:ea typeface="Arial"/>
                <a:cs typeface="Arial"/>
                <a:sym typeface="Arial"/>
              </a:rPr>
            </a:br>
            <a:endParaRPr sz="1400">
              <a:latin typeface="Arial"/>
              <a:ea typeface="Arial"/>
              <a:cs typeface="Arial"/>
              <a:sym typeface="Arial"/>
            </a:endParaRPr>
          </a:p>
          <a:p>
            <a:pPr indent="-317500" lvl="0" marL="457200" rtl="0" algn="l">
              <a:lnSpc>
                <a:spcPct val="115000"/>
              </a:lnSpc>
              <a:spcBef>
                <a:spcPts val="0"/>
              </a:spcBef>
              <a:spcAft>
                <a:spcPts val="0"/>
              </a:spcAft>
              <a:buSzPts val="1400"/>
              <a:buChar char="●"/>
            </a:pPr>
            <a:r>
              <a:rPr lang="en-US" sz="1400">
                <a:latin typeface="Arial"/>
                <a:ea typeface="Arial"/>
                <a:cs typeface="Arial"/>
                <a:sym typeface="Arial"/>
              </a:rPr>
              <a:t>Ensures consistency across the organization</a:t>
            </a:r>
            <a:endParaRPr sz="1400">
              <a:latin typeface="Arial"/>
              <a:ea typeface="Arial"/>
              <a:cs typeface="Arial"/>
              <a:sym typeface="Arial"/>
            </a:endParaRPr>
          </a:p>
          <a:p>
            <a:pPr indent="0" lvl="0" marL="0" rtl="0" algn="l">
              <a:lnSpc>
                <a:spcPct val="115000"/>
              </a:lnSpc>
              <a:spcBef>
                <a:spcPts val="1400"/>
              </a:spcBef>
              <a:spcAft>
                <a:spcPts val="0"/>
              </a:spcAft>
              <a:buNone/>
            </a:pPr>
            <a:r>
              <a:rPr b="1" lang="en-US" sz="1600">
                <a:latin typeface="Arial"/>
                <a:ea typeface="Arial"/>
                <a:cs typeface="Arial"/>
                <a:sym typeface="Arial"/>
              </a:rPr>
              <a:t>8. Mutually Beneficial Supplier Relationships</a:t>
            </a:r>
            <a:endParaRPr b="1" sz="1600">
              <a:latin typeface="Arial"/>
              <a:ea typeface="Arial"/>
              <a:cs typeface="Arial"/>
              <a:sym typeface="Arial"/>
            </a:endParaRPr>
          </a:p>
          <a:p>
            <a:pPr indent="0" lvl="0" marL="0" rtl="0" algn="l">
              <a:lnSpc>
                <a:spcPct val="115000"/>
              </a:lnSpc>
              <a:spcBef>
                <a:spcPts val="1200"/>
              </a:spcBef>
              <a:spcAft>
                <a:spcPts val="0"/>
              </a:spcAft>
              <a:buNone/>
            </a:pPr>
            <a:r>
              <a:rPr lang="en-US" sz="1400">
                <a:latin typeface="Arial"/>
                <a:ea typeface="Arial"/>
                <a:cs typeface="Arial"/>
                <a:sym typeface="Arial"/>
              </a:rPr>
              <a:t>Strong relationships with suppliers help improve quality.</a:t>
            </a:r>
            <a:endParaRPr sz="1400">
              <a:latin typeface="Arial"/>
              <a:ea typeface="Arial"/>
              <a:cs typeface="Arial"/>
              <a:sym typeface="Arial"/>
            </a:endParaRPr>
          </a:p>
          <a:p>
            <a:pPr indent="-317500" lvl="0" marL="457200" rtl="0" algn="l">
              <a:lnSpc>
                <a:spcPct val="115000"/>
              </a:lnSpc>
              <a:spcBef>
                <a:spcPts val="1200"/>
              </a:spcBef>
              <a:spcAft>
                <a:spcPts val="0"/>
              </a:spcAft>
              <a:buSzPts val="1400"/>
              <a:buChar char="●"/>
            </a:pPr>
            <a:r>
              <a:rPr lang="en-US" sz="1400">
                <a:latin typeface="Arial"/>
                <a:ea typeface="Arial"/>
                <a:cs typeface="Arial"/>
                <a:sym typeface="Arial"/>
              </a:rPr>
              <a:t>Focus on long-term partnerships</a:t>
            </a:r>
            <a:br>
              <a:rPr lang="en-US" sz="1400">
                <a:latin typeface="Arial"/>
                <a:ea typeface="Arial"/>
                <a:cs typeface="Arial"/>
                <a:sym typeface="Arial"/>
              </a:rPr>
            </a:br>
            <a:endParaRPr sz="1400">
              <a:latin typeface="Arial"/>
              <a:ea typeface="Arial"/>
              <a:cs typeface="Arial"/>
              <a:sym typeface="Arial"/>
            </a:endParaRPr>
          </a:p>
          <a:p>
            <a:pPr indent="-317500" lvl="0" marL="457200" rtl="0" algn="l">
              <a:lnSpc>
                <a:spcPct val="115000"/>
              </a:lnSpc>
              <a:spcBef>
                <a:spcPts val="0"/>
              </a:spcBef>
              <a:spcAft>
                <a:spcPts val="0"/>
              </a:spcAft>
              <a:buSzPts val="1400"/>
              <a:buChar char="●"/>
            </a:pPr>
            <a:r>
              <a:rPr lang="en-US" sz="1400">
                <a:latin typeface="Arial"/>
                <a:ea typeface="Arial"/>
                <a:cs typeface="Arial"/>
                <a:sym typeface="Arial"/>
              </a:rPr>
              <a:t>Suppliers are treated as partners, not just vendors</a:t>
            </a:r>
            <a:endParaRPr sz="1400">
              <a:latin typeface="Arial"/>
              <a:ea typeface="Arial"/>
              <a:cs typeface="Arial"/>
              <a:sym typeface="Arial"/>
            </a:endParaRPr>
          </a:p>
          <a:p>
            <a:pPr indent="0" lvl="0" marL="0" rtl="0" algn="l">
              <a:spcBef>
                <a:spcPts val="1200"/>
              </a:spcBef>
              <a:spcAft>
                <a:spcPts val="0"/>
              </a:spcAft>
              <a:buNone/>
            </a:pPr>
            <a:r>
              <a:t/>
            </a:r>
            <a:endParaRPr sz="31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84" name="Google Shape;184;p7"/>
          <p:cNvPicPr preferRelativeResize="0"/>
          <p:nvPr>
            <p:ph idx="1" type="body"/>
          </p:nvPr>
        </p:nvPicPr>
        <p:blipFill rotWithShape="1">
          <a:blip r:embed="rId3">
            <a:alphaModFix/>
          </a:blip>
          <a:srcRect b="0" l="0" r="0" t="0"/>
          <a:stretch/>
        </p:blipFill>
        <p:spPr>
          <a:xfrm>
            <a:off x="767080" y="279400"/>
            <a:ext cx="10806430" cy="621919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90" name="Google Shape;190;p8"/>
          <p:cNvPicPr preferRelativeResize="0"/>
          <p:nvPr>
            <p:ph idx="1" type="body"/>
          </p:nvPr>
        </p:nvPicPr>
        <p:blipFill rotWithShape="1">
          <a:blip r:embed="rId3">
            <a:alphaModFix/>
          </a:blip>
          <a:srcRect b="0" l="0" r="0" t="0"/>
          <a:stretch/>
        </p:blipFill>
        <p:spPr>
          <a:xfrm>
            <a:off x="681355" y="249555"/>
            <a:ext cx="10807700" cy="574611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96" name="Google Shape;196;p9"/>
          <p:cNvPicPr preferRelativeResize="0"/>
          <p:nvPr>
            <p:ph idx="1" type="body"/>
          </p:nvPr>
        </p:nvPicPr>
        <p:blipFill rotWithShape="1">
          <a:blip r:embed="rId3">
            <a:alphaModFix/>
          </a:blip>
          <a:srcRect b="0" l="0" r="0" t="0"/>
          <a:stretch/>
        </p:blipFill>
        <p:spPr>
          <a:xfrm>
            <a:off x="704850" y="260350"/>
            <a:ext cx="10537190" cy="606552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02" name="Google Shape;202;p10"/>
          <p:cNvPicPr preferRelativeResize="0"/>
          <p:nvPr>
            <p:ph idx="1" type="body"/>
          </p:nvPr>
        </p:nvPicPr>
        <p:blipFill rotWithShape="1">
          <a:blip r:embed="rId3">
            <a:alphaModFix/>
          </a:blip>
          <a:srcRect b="0" l="0" r="0" t="0"/>
          <a:stretch/>
        </p:blipFill>
        <p:spPr>
          <a:xfrm>
            <a:off x="678180" y="236855"/>
            <a:ext cx="11005185" cy="588835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08" name="Google Shape;208;p11"/>
          <p:cNvPicPr preferRelativeResize="0"/>
          <p:nvPr>
            <p:ph idx="1" type="body"/>
          </p:nvPr>
        </p:nvPicPr>
        <p:blipFill rotWithShape="1">
          <a:blip r:embed="rId3">
            <a:alphaModFix/>
          </a:blip>
          <a:srcRect b="0" l="0" r="0" t="0"/>
          <a:stretch/>
        </p:blipFill>
        <p:spPr>
          <a:xfrm>
            <a:off x="838835" y="365125"/>
            <a:ext cx="9726295" cy="584073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14" name="Google Shape;214;p12"/>
          <p:cNvPicPr preferRelativeResize="0"/>
          <p:nvPr>
            <p:ph idx="1" type="body"/>
          </p:nvPr>
        </p:nvPicPr>
        <p:blipFill rotWithShape="1">
          <a:blip r:embed="rId3">
            <a:alphaModFix/>
          </a:blip>
          <a:srcRect b="0" l="0" r="0" t="0"/>
          <a:stretch/>
        </p:blipFill>
        <p:spPr>
          <a:xfrm>
            <a:off x="542925" y="365125"/>
            <a:ext cx="10128885" cy="625602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20" name="Google Shape;220;p13"/>
          <p:cNvPicPr preferRelativeResize="0"/>
          <p:nvPr>
            <p:ph idx="1" type="body"/>
          </p:nvPr>
        </p:nvPicPr>
        <p:blipFill rotWithShape="1">
          <a:blip r:embed="rId3">
            <a:alphaModFix/>
          </a:blip>
          <a:srcRect b="0" l="0" r="0" t="0"/>
          <a:stretch/>
        </p:blipFill>
        <p:spPr>
          <a:xfrm>
            <a:off x="680085" y="365125"/>
            <a:ext cx="10916920" cy="576072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26" name="Google Shape;226;p14"/>
          <p:cNvPicPr preferRelativeResize="0"/>
          <p:nvPr>
            <p:ph idx="1" type="body"/>
          </p:nvPr>
        </p:nvPicPr>
        <p:blipFill rotWithShape="1">
          <a:blip r:embed="rId3">
            <a:alphaModFix/>
          </a:blip>
          <a:srcRect b="0" l="0" r="0" t="0"/>
          <a:stretch/>
        </p:blipFill>
        <p:spPr>
          <a:xfrm>
            <a:off x="492760" y="0"/>
            <a:ext cx="11012805" cy="637603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32" name="Google Shape;232;p15"/>
          <p:cNvPicPr preferRelativeResize="0"/>
          <p:nvPr>
            <p:ph idx="1" type="body"/>
          </p:nvPr>
        </p:nvPicPr>
        <p:blipFill rotWithShape="1">
          <a:blip r:embed="rId3">
            <a:alphaModFix/>
          </a:blip>
          <a:srcRect b="0" l="0" r="0" t="0"/>
          <a:stretch/>
        </p:blipFill>
        <p:spPr>
          <a:xfrm>
            <a:off x="465455" y="365125"/>
            <a:ext cx="9258935" cy="581533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Principles of TQM </a:t>
            </a:r>
            <a:endParaRPr/>
          </a:p>
        </p:txBody>
      </p:sp>
      <p:sp>
        <p:nvSpPr>
          <p:cNvPr id="238" name="Google Shape;238;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five main principles  are </a:t>
            </a:r>
            <a:endParaRPr/>
          </a:p>
          <a:p>
            <a:pPr indent="-514350" lvl="0" marL="514350" rtl="0" algn="l">
              <a:lnSpc>
                <a:spcPct val="90000"/>
              </a:lnSpc>
              <a:spcBef>
                <a:spcPts val="1000"/>
              </a:spcBef>
              <a:spcAft>
                <a:spcPts val="0"/>
              </a:spcAft>
              <a:buClr>
                <a:schemeClr val="dk1"/>
              </a:buClr>
              <a:buSzPts val="2800"/>
              <a:buAutoNum type="arabicPeriod"/>
            </a:pPr>
            <a:r>
              <a:rPr lang="en-US"/>
              <a:t>Management Commitment</a:t>
            </a:r>
            <a:endParaRPr/>
          </a:p>
          <a:p>
            <a:pPr indent="-514350" lvl="0" marL="514350" rtl="0" algn="l">
              <a:lnSpc>
                <a:spcPct val="90000"/>
              </a:lnSpc>
              <a:spcBef>
                <a:spcPts val="1000"/>
              </a:spcBef>
              <a:spcAft>
                <a:spcPts val="0"/>
              </a:spcAft>
              <a:buClr>
                <a:schemeClr val="dk1"/>
              </a:buClr>
              <a:buSzPts val="2800"/>
              <a:buAutoNum type="arabicPeriod"/>
            </a:pPr>
            <a:r>
              <a:rPr lang="en-US"/>
              <a:t> Employee  Empowerment</a:t>
            </a:r>
            <a:endParaRPr/>
          </a:p>
          <a:p>
            <a:pPr indent="-514350" lvl="0" marL="514350" rtl="0" algn="l">
              <a:lnSpc>
                <a:spcPct val="90000"/>
              </a:lnSpc>
              <a:spcBef>
                <a:spcPts val="1000"/>
              </a:spcBef>
              <a:spcAft>
                <a:spcPts val="0"/>
              </a:spcAft>
              <a:buClr>
                <a:schemeClr val="dk1"/>
              </a:buClr>
              <a:buSzPts val="2800"/>
              <a:buAutoNum type="arabicPeriod"/>
            </a:pPr>
            <a:r>
              <a:rPr lang="en-US"/>
              <a:t> Fact  Based  Decision  making</a:t>
            </a:r>
            <a:endParaRPr/>
          </a:p>
          <a:p>
            <a:pPr indent="-514350" lvl="0" marL="514350" rtl="0" algn="l">
              <a:lnSpc>
                <a:spcPct val="90000"/>
              </a:lnSpc>
              <a:spcBef>
                <a:spcPts val="1000"/>
              </a:spcBef>
              <a:spcAft>
                <a:spcPts val="0"/>
              </a:spcAft>
              <a:buClr>
                <a:schemeClr val="dk1"/>
              </a:buClr>
              <a:buSzPts val="2800"/>
              <a:buAutoNum type="arabicPeriod"/>
            </a:pPr>
            <a:r>
              <a:rPr lang="en-US"/>
              <a:t>Continuous  Improvement</a:t>
            </a:r>
            <a:endParaRPr/>
          </a:p>
          <a:p>
            <a:pPr indent="-514350" lvl="0" marL="514350" rtl="0" algn="l">
              <a:lnSpc>
                <a:spcPct val="90000"/>
              </a:lnSpc>
              <a:spcBef>
                <a:spcPts val="1000"/>
              </a:spcBef>
              <a:spcAft>
                <a:spcPts val="0"/>
              </a:spcAft>
              <a:buClr>
                <a:schemeClr val="dk1"/>
              </a:buClr>
              <a:buSzPts val="2800"/>
              <a:buAutoNum type="arabicPeriod"/>
            </a:pPr>
            <a:r>
              <a:rPr lang="en-US"/>
              <a:t>Customer  Focus.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17"/>
          <p:cNvSpPr txBox="1"/>
          <p:nvPr>
            <p:ph idx="1" type="body"/>
          </p:nvPr>
        </p:nvSpPr>
        <p:spPr>
          <a:xfrm>
            <a:off x="838200" y="537210"/>
            <a:ext cx="10515600" cy="564007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In management commitment, the first step is to design and plan followed  by  deployment.  After  getting  it  deployed  the product is processed for critique, examined and revised.</a:t>
            </a:r>
            <a:endParaRPr/>
          </a:p>
          <a:p>
            <a:pPr indent="-228600" lvl="0" marL="228600" rtl="0" algn="l">
              <a:lnSpc>
                <a:spcPct val="90000"/>
              </a:lnSpc>
              <a:spcBef>
                <a:spcPts val="1000"/>
              </a:spcBef>
              <a:spcAft>
                <a:spcPts val="0"/>
              </a:spcAft>
              <a:buClr>
                <a:schemeClr val="dk1"/>
              </a:buClr>
              <a:buSzPts val="2800"/>
              <a:buChar char="•"/>
            </a:pPr>
            <a:r>
              <a:rPr lang="en-US"/>
              <a:t>Concept of Continuous Improvement It gives three ways to make product better and better. </a:t>
            </a:r>
            <a:endParaRPr/>
          </a:p>
          <a:p>
            <a:pPr indent="-228600" lvl="0" marL="228600" rtl="0" algn="l">
              <a:lnSpc>
                <a:spcPct val="90000"/>
              </a:lnSpc>
              <a:spcBef>
                <a:spcPts val="1000"/>
              </a:spcBef>
              <a:spcAft>
                <a:spcPts val="0"/>
              </a:spcAft>
              <a:buClr>
                <a:schemeClr val="dk1"/>
              </a:buClr>
              <a:buSzPts val="2800"/>
              <a:buChar char="•"/>
            </a:pPr>
            <a:r>
              <a:rPr lang="en-US"/>
              <a:t>The first measure is to avoid mistakes while developing a product. Inspection at each step can also be another important step to avoid errors so that these errors cannot proceeds to next step and become a cause for new errors. </a:t>
            </a:r>
            <a:endParaRPr/>
          </a:p>
          <a:p>
            <a:pPr indent="-228600" lvl="0" marL="228600" rtl="0" algn="l">
              <a:lnSpc>
                <a:spcPct val="90000"/>
              </a:lnSpc>
              <a:spcBef>
                <a:spcPts val="1000"/>
              </a:spcBef>
              <a:spcAft>
                <a:spcPts val="0"/>
              </a:spcAft>
              <a:buClr>
                <a:schemeClr val="dk1"/>
              </a:buClr>
              <a:buSzPts val="2800"/>
              <a:buChar char="•"/>
            </a:pPr>
            <a:r>
              <a:rPr lang="en-US"/>
              <a:t>The solution for this step is to stop at the point where error is found, go back and make corrections, test that module and then proceed further. This will lead a better process cycle.</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8"/>
          <p:cNvSpPr txBox="1"/>
          <p:nvPr>
            <p:ph idx="1" type="body"/>
          </p:nvPr>
        </p:nvSpPr>
        <p:spPr>
          <a:xfrm>
            <a:off x="838200" y="868045"/>
            <a:ext cx="10515600" cy="530923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Process-Centered: Processes are mapped, analyzed, and improved for better efficiency and effectiveness.</a:t>
            </a:r>
            <a:endParaRPr/>
          </a:p>
          <a:p>
            <a:pPr indent="-228600" lvl="0" marL="228600" rtl="0" algn="l">
              <a:lnSpc>
                <a:spcPct val="90000"/>
              </a:lnSpc>
              <a:spcBef>
                <a:spcPts val="1000"/>
              </a:spcBef>
              <a:spcAft>
                <a:spcPts val="0"/>
              </a:spcAft>
              <a:buClr>
                <a:schemeClr val="dk1"/>
              </a:buClr>
              <a:buSzPts val="2800"/>
              <a:buChar char="•"/>
            </a:pPr>
            <a:r>
              <a:rPr lang="en-US"/>
              <a:t>Integrated System: All departments work together with a common purpose of improving quality.</a:t>
            </a:r>
            <a:endParaRPr/>
          </a:p>
          <a:p>
            <a:pPr indent="-228600" lvl="0" marL="228600" rtl="0" algn="l">
              <a:lnSpc>
                <a:spcPct val="90000"/>
              </a:lnSpc>
              <a:spcBef>
                <a:spcPts val="1000"/>
              </a:spcBef>
              <a:spcAft>
                <a:spcPts val="0"/>
              </a:spcAft>
              <a:buClr>
                <a:schemeClr val="dk1"/>
              </a:buClr>
              <a:buSzPts val="2800"/>
              <a:buChar char="•"/>
            </a:pPr>
            <a:r>
              <a:rPr lang="en-US"/>
              <a:t>Data-Driven Decision Making: Decisions are made based on data and performance measurements rather than intuition or assumptions.</a:t>
            </a:r>
            <a:endParaRPr/>
          </a:p>
          <a:p>
            <a:pPr indent="-228600" lvl="0" marL="228600" rtl="0" algn="l">
              <a:lnSpc>
                <a:spcPct val="90000"/>
              </a:lnSpc>
              <a:spcBef>
                <a:spcPts val="1000"/>
              </a:spcBef>
              <a:spcAft>
                <a:spcPts val="0"/>
              </a:spcAft>
              <a:buClr>
                <a:schemeClr val="dk1"/>
              </a:buClr>
              <a:buSzPts val="2800"/>
              <a:buChar char="•"/>
            </a:pPr>
            <a:r>
              <a:rPr lang="en-US"/>
              <a:t>Communication: Effective communication between all parts of the organization ensures alignment and clarity of objectives.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g3b72b9dfe96_0_2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Evaluation of Quality Models and Standards:</a:t>
            </a:r>
            <a:endParaRPr/>
          </a:p>
          <a:p>
            <a:pPr indent="0" lvl="0" marL="0" rtl="0" algn="l">
              <a:spcBef>
                <a:spcPts val="0"/>
              </a:spcBef>
              <a:spcAft>
                <a:spcPts val="0"/>
              </a:spcAft>
              <a:buNone/>
            </a:pPr>
            <a:r>
              <a:t/>
            </a:r>
            <a:endParaRPr/>
          </a:p>
        </p:txBody>
      </p:sp>
      <p:sp>
        <p:nvSpPr>
          <p:cNvPr id="254" name="Google Shape;254;g3b72b9dfe96_0_24"/>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lang="en-US" sz="2000"/>
              <a:t>-&gt; </a:t>
            </a:r>
            <a:r>
              <a:rPr b="1" lang="en-US" sz="2000"/>
              <a:t>ISO Standards</a:t>
            </a:r>
            <a:r>
              <a:rPr lang="en-US" sz="2000"/>
              <a:t> (International Organization for Standardization):</a:t>
            </a:r>
            <a:r>
              <a:rPr b="1" lang="en-US" sz="2000">
                <a:latin typeface="Arial"/>
                <a:ea typeface="Arial"/>
                <a:cs typeface="Arial"/>
                <a:sym typeface="Arial"/>
              </a:rPr>
              <a:t>ISO  </a:t>
            </a:r>
            <a:r>
              <a:rPr lang="en-US" sz="2000">
                <a:latin typeface="Arial"/>
                <a:ea typeface="Arial"/>
                <a:cs typeface="Arial"/>
                <a:sym typeface="Arial"/>
              </a:rPr>
              <a:t>develops </a:t>
            </a:r>
            <a:r>
              <a:rPr b="1" lang="en-US" sz="2000">
                <a:latin typeface="Arial"/>
                <a:ea typeface="Arial"/>
                <a:cs typeface="Arial"/>
                <a:sym typeface="Arial"/>
              </a:rPr>
              <a:t>international standards</a:t>
            </a:r>
            <a:r>
              <a:rPr lang="en-US" sz="2000">
                <a:latin typeface="Arial"/>
                <a:ea typeface="Arial"/>
                <a:cs typeface="Arial"/>
                <a:sym typeface="Arial"/>
              </a:rPr>
              <a:t> to ensure </a:t>
            </a:r>
            <a:r>
              <a:rPr b="1" lang="en-US" sz="2000">
                <a:latin typeface="Arial"/>
                <a:ea typeface="Arial"/>
                <a:cs typeface="Arial"/>
                <a:sym typeface="Arial"/>
              </a:rPr>
              <a:t>quality, consistency, and customer satisfaction</a:t>
            </a:r>
            <a:r>
              <a:rPr lang="en-US" sz="2000">
                <a:latin typeface="Arial"/>
                <a:ea typeface="Arial"/>
                <a:cs typeface="Arial"/>
                <a:sym typeface="Arial"/>
              </a:rPr>
              <a:t> across products and services. </a:t>
            </a:r>
            <a:endParaRPr sz="2000"/>
          </a:p>
          <a:p>
            <a:pPr indent="0" lvl="0" marL="228600" rtl="0" algn="l">
              <a:spcBef>
                <a:spcPts val="0"/>
              </a:spcBef>
              <a:spcAft>
                <a:spcPts val="0"/>
              </a:spcAft>
              <a:buNone/>
            </a:pPr>
            <a:r>
              <a:t/>
            </a:r>
            <a:endParaRPr b="1" sz="2000">
              <a:latin typeface="Arial"/>
              <a:ea typeface="Arial"/>
              <a:cs typeface="Arial"/>
              <a:sym typeface="Arial"/>
            </a:endParaRPr>
          </a:p>
          <a:p>
            <a:pPr indent="0" lvl="0" marL="0" rtl="0" algn="l">
              <a:spcBef>
                <a:spcPts val="0"/>
              </a:spcBef>
              <a:spcAft>
                <a:spcPts val="0"/>
              </a:spcAft>
              <a:buNone/>
            </a:pPr>
            <a:r>
              <a:rPr b="1" lang="en-US" sz="2000">
                <a:latin typeface="Arial"/>
                <a:ea typeface="Arial"/>
                <a:cs typeface="Arial"/>
                <a:sym typeface="Arial"/>
              </a:rPr>
              <a:t>-&gt; </a:t>
            </a:r>
            <a:r>
              <a:rPr b="1" lang="en-US" sz="2000">
                <a:latin typeface="Arial"/>
                <a:ea typeface="Arial"/>
                <a:cs typeface="Arial"/>
                <a:sym typeface="Arial"/>
              </a:rPr>
              <a:t>CMM / CMMI (Capability Maturity Model Integration)</a:t>
            </a:r>
            <a:endParaRPr b="1" sz="2000">
              <a:latin typeface="Arial"/>
              <a:ea typeface="Arial"/>
              <a:cs typeface="Arial"/>
              <a:sym typeface="Arial"/>
            </a:endParaRPr>
          </a:p>
          <a:p>
            <a:pPr indent="0" lvl="0" marL="0" rtl="0" algn="l">
              <a:lnSpc>
                <a:spcPct val="115000"/>
              </a:lnSpc>
              <a:spcBef>
                <a:spcPts val="1200"/>
              </a:spcBef>
              <a:spcAft>
                <a:spcPts val="0"/>
              </a:spcAft>
              <a:buNone/>
            </a:pPr>
            <a:r>
              <a:rPr lang="en-US" sz="2000">
                <a:latin typeface="Arial"/>
                <a:ea typeface="Arial"/>
                <a:cs typeface="Arial"/>
                <a:sym typeface="Arial"/>
              </a:rPr>
              <a:t>Used mainly in </a:t>
            </a:r>
            <a:r>
              <a:rPr b="1" lang="en-US" sz="2000">
                <a:latin typeface="Arial"/>
                <a:ea typeface="Arial"/>
                <a:cs typeface="Arial"/>
                <a:sym typeface="Arial"/>
              </a:rPr>
              <a:t>software development</a:t>
            </a:r>
            <a:r>
              <a:rPr lang="en-US" sz="2000">
                <a:latin typeface="Arial"/>
                <a:ea typeface="Arial"/>
                <a:cs typeface="Arial"/>
                <a:sym typeface="Arial"/>
              </a:rPr>
              <a:t>.</a:t>
            </a:r>
            <a:endParaRPr sz="2000">
              <a:latin typeface="Arial"/>
              <a:ea typeface="Arial"/>
              <a:cs typeface="Arial"/>
              <a:sym typeface="Arial"/>
            </a:endParaRPr>
          </a:p>
          <a:p>
            <a:pPr indent="0" lvl="0" marL="0" rtl="0" algn="l">
              <a:lnSpc>
                <a:spcPct val="115000"/>
              </a:lnSpc>
              <a:spcBef>
                <a:spcPts val="1400"/>
              </a:spcBef>
              <a:spcAft>
                <a:spcPts val="0"/>
              </a:spcAft>
              <a:buNone/>
            </a:pPr>
            <a:r>
              <a:rPr b="1" lang="en-US" sz="2000">
                <a:latin typeface="Arial"/>
                <a:ea typeface="Arial"/>
                <a:cs typeface="Arial"/>
                <a:sym typeface="Arial"/>
              </a:rPr>
              <a:t>-&gt; Six Sigma</a:t>
            </a:r>
            <a:endParaRPr b="1" sz="2000">
              <a:latin typeface="Arial"/>
              <a:ea typeface="Arial"/>
              <a:cs typeface="Arial"/>
              <a:sym typeface="Arial"/>
            </a:endParaRPr>
          </a:p>
          <a:p>
            <a:pPr indent="0" lvl="0" marL="0" rtl="0" algn="l">
              <a:lnSpc>
                <a:spcPct val="115000"/>
              </a:lnSpc>
              <a:spcBef>
                <a:spcPts val="1200"/>
              </a:spcBef>
              <a:spcAft>
                <a:spcPts val="0"/>
              </a:spcAft>
              <a:buNone/>
            </a:pPr>
            <a:r>
              <a:rPr lang="en-US" sz="2000">
                <a:latin typeface="Arial"/>
                <a:ea typeface="Arial"/>
                <a:cs typeface="Arial"/>
                <a:sym typeface="Arial"/>
              </a:rPr>
              <a:t>Six Sigma aims to reduce defects to </a:t>
            </a:r>
            <a:r>
              <a:rPr b="1" lang="en-US" sz="2000">
                <a:latin typeface="Arial"/>
                <a:ea typeface="Arial"/>
                <a:cs typeface="Arial"/>
                <a:sym typeface="Arial"/>
              </a:rPr>
              <a:t>3.4 defects per million opportunities</a:t>
            </a:r>
            <a:r>
              <a:rPr lang="en-US" sz="2000">
                <a:latin typeface="Arial"/>
                <a:ea typeface="Arial"/>
                <a:cs typeface="Arial"/>
                <a:sym typeface="Arial"/>
              </a:rPr>
              <a:t>.</a:t>
            </a:r>
            <a:endParaRPr sz="20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2000">
              <a:latin typeface="Arial"/>
              <a:ea typeface="Arial"/>
              <a:cs typeface="Arial"/>
              <a:sym typeface="Arial"/>
            </a:endParaRPr>
          </a:p>
          <a:p>
            <a:pPr indent="0" lvl="0" marL="0" rtl="0" algn="l">
              <a:spcBef>
                <a:spcPts val="1200"/>
              </a:spcBef>
              <a:spcAft>
                <a:spcPts val="0"/>
              </a:spcAft>
              <a:buNone/>
            </a:pPr>
            <a:r>
              <a:t/>
            </a:r>
            <a:endParaRPr sz="20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g3b72b9dfe96_0_3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ISO 9126 QUALITY CHARACTERISTICS</a:t>
            </a:r>
            <a:endParaRPr/>
          </a:p>
        </p:txBody>
      </p:sp>
      <p:sp>
        <p:nvSpPr>
          <p:cNvPr id="260" name="Google Shape;260;g3b72b9dfe96_0_33"/>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a:t>to define a general framework for software quality. </a:t>
            </a:r>
            <a:endParaRPr/>
          </a:p>
          <a:p>
            <a:pPr indent="-342900" lvl="0" marL="457200" rtl="0" algn="l">
              <a:spcBef>
                <a:spcPts val="0"/>
              </a:spcBef>
              <a:spcAft>
                <a:spcPts val="0"/>
              </a:spcAft>
              <a:buSzPts val="1800"/>
              <a:buChar char="•"/>
            </a:pPr>
            <a:r>
              <a:rPr lang="en-US"/>
              <a:t>An expert group, under the aegis of the ISO, standardized a software quality document, namely, ISO 9126, which defines six broad, independent categories of quality characteristics as follows:</a:t>
            </a:r>
            <a:endParaRPr/>
          </a:p>
          <a:p>
            <a:pPr indent="0" lvl="0" marL="0" rtl="0" algn="l">
              <a:spcBef>
                <a:spcPts val="1000"/>
              </a:spcBef>
              <a:spcAft>
                <a:spcPts val="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g3b72b9dfe96_0_39"/>
          <p:cNvSpPr txBox="1"/>
          <p:nvPr>
            <p:ph idx="1" type="body"/>
          </p:nvPr>
        </p:nvSpPr>
        <p:spPr>
          <a:xfrm>
            <a:off x="225975" y="273725"/>
            <a:ext cx="11688900" cy="6364500"/>
          </a:xfrm>
          <a:prstGeom prst="rect">
            <a:avLst/>
          </a:prstGeom>
        </p:spPr>
        <p:txBody>
          <a:bodyPr anchorCtr="0" anchor="t" bIns="45700" lIns="91425" spcFirstLastPara="1" rIns="91425" wrap="square" tIns="45700">
            <a:normAutofit fontScale="92500" lnSpcReduction="10000"/>
          </a:bodyPr>
          <a:lstStyle/>
          <a:p>
            <a:pPr indent="0" lvl="0" marL="0" rtl="0" algn="l">
              <a:spcBef>
                <a:spcPts val="1000"/>
              </a:spcBef>
              <a:spcAft>
                <a:spcPts val="0"/>
              </a:spcAft>
              <a:buClr>
                <a:schemeClr val="dk1"/>
              </a:buClr>
              <a:buSzPct val="39285"/>
              <a:buFont typeface="Arial"/>
              <a:buNone/>
            </a:pPr>
            <a:r>
              <a:rPr b="1" lang="en-US"/>
              <a:t>Functionality</a:t>
            </a:r>
            <a:r>
              <a:rPr lang="en-US"/>
              <a:t>: A set of attributes that bear on the existence of a set of functions and their specified properties. The functions are those that satisfy stated or implied needs.</a:t>
            </a:r>
            <a:endParaRPr/>
          </a:p>
          <a:p>
            <a:pPr indent="0" lvl="0" marL="0" rtl="0" algn="l">
              <a:spcBef>
                <a:spcPts val="1000"/>
              </a:spcBef>
              <a:spcAft>
                <a:spcPts val="0"/>
              </a:spcAft>
              <a:buClr>
                <a:schemeClr val="dk1"/>
              </a:buClr>
              <a:buSzPct val="39285"/>
              <a:buFont typeface="Arial"/>
              <a:buNone/>
            </a:pPr>
            <a:r>
              <a:rPr b="1" lang="en-US"/>
              <a:t>Reliability</a:t>
            </a:r>
            <a:r>
              <a:rPr lang="en-US"/>
              <a:t>: A set of attributes that bear on the capability of software to maintain its performance level under stated conditions for a stated period of time.</a:t>
            </a:r>
            <a:endParaRPr/>
          </a:p>
          <a:p>
            <a:pPr indent="0" lvl="0" marL="0" rtl="0" algn="l">
              <a:spcBef>
                <a:spcPts val="1000"/>
              </a:spcBef>
              <a:spcAft>
                <a:spcPts val="0"/>
              </a:spcAft>
              <a:buClr>
                <a:schemeClr val="dk1"/>
              </a:buClr>
              <a:buSzPct val="39285"/>
              <a:buFont typeface="Arial"/>
              <a:buNone/>
            </a:pPr>
            <a:r>
              <a:rPr b="1" lang="en-US"/>
              <a:t>Usability</a:t>
            </a:r>
            <a:r>
              <a:rPr lang="en-US"/>
              <a:t>: A set of attributes that bear on the effort needed for use and on the individual assessment of such use by a stated or implied set of users.</a:t>
            </a:r>
            <a:endParaRPr/>
          </a:p>
          <a:p>
            <a:pPr indent="0" lvl="0" marL="0" rtl="0" algn="l">
              <a:spcBef>
                <a:spcPts val="1000"/>
              </a:spcBef>
              <a:spcAft>
                <a:spcPts val="0"/>
              </a:spcAft>
              <a:buClr>
                <a:schemeClr val="dk1"/>
              </a:buClr>
              <a:buSzPct val="39285"/>
              <a:buFont typeface="Arial"/>
              <a:buNone/>
            </a:pPr>
            <a:r>
              <a:rPr b="1" lang="en-US"/>
              <a:t>Efficiency</a:t>
            </a:r>
            <a:r>
              <a:rPr lang="en-US"/>
              <a:t>: A set of attributes that bear on the relationship between the software’s performance and the amount of resource used under stated conditions.</a:t>
            </a:r>
            <a:endParaRPr/>
          </a:p>
          <a:p>
            <a:pPr indent="0" lvl="0" marL="0" rtl="0" algn="l">
              <a:spcBef>
                <a:spcPts val="1000"/>
              </a:spcBef>
              <a:spcAft>
                <a:spcPts val="0"/>
              </a:spcAft>
              <a:buClr>
                <a:schemeClr val="dk1"/>
              </a:buClr>
              <a:buSzPct val="39285"/>
              <a:buFont typeface="Arial"/>
              <a:buNone/>
            </a:pPr>
            <a:r>
              <a:rPr b="1" lang="en-US"/>
              <a:t>Maintainability</a:t>
            </a:r>
            <a:r>
              <a:rPr lang="en-US"/>
              <a:t>: A set of attributes that bear on the effort needed to make specified modifications (which may include corrections, improvements, or adaptations of software to environmental changes and changes in the requirements and functional specifications).</a:t>
            </a:r>
            <a:endParaRPr/>
          </a:p>
          <a:p>
            <a:pPr indent="0" lvl="0" marL="0" rtl="0" algn="l">
              <a:spcBef>
                <a:spcPts val="1000"/>
              </a:spcBef>
              <a:spcAft>
                <a:spcPts val="0"/>
              </a:spcAft>
              <a:buClr>
                <a:schemeClr val="dk1"/>
              </a:buClr>
              <a:buSzPct val="39285"/>
              <a:buFont typeface="Arial"/>
              <a:buNone/>
            </a:pPr>
            <a:r>
              <a:rPr b="1" lang="en-US"/>
              <a:t>Portability</a:t>
            </a:r>
            <a:r>
              <a:rPr lang="en-US"/>
              <a:t>: A set of attributes that bear on the ability of software to be transferred from one environment to another (this includes the organizational,hardware or, software environment).</a:t>
            </a:r>
            <a:endParaRPr/>
          </a:p>
          <a:p>
            <a:pPr indent="0" lvl="0" marL="0" rtl="0" algn="l">
              <a:spcBef>
                <a:spcPts val="1000"/>
              </a:spcBef>
              <a:spcAft>
                <a:spcPts val="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Evaluation of Quality Models and Standards:</a:t>
            </a:r>
            <a:endParaRPr/>
          </a:p>
        </p:txBody>
      </p:sp>
      <p:sp>
        <p:nvSpPr>
          <p:cNvPr id="271" name="Google Shape;271;p19"/>
          <p:cNvSpPr txBox="1"/>
          <p:nvPr>
            <p:ph idx="1" type="body"/>
          </p:nvPr>
        </p:nvSpPr>
        <p:spPr>
          <a:xfrm>
            <a:off x="838200" y="1418476"/>
            <a:ext cx="10515600" cy="4758600"/>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ISO Standards (International Organization for Standardization):</a:t>
            </a:r>
            <a:endParaRPr/>
          </a:p>
          <a:p>
            <a:pPr indent="0" lvl="0" marL="228600" rtl="0" algn="l">
              <a:lnSpc>
                <a:spcPct val="90000"/>
              </a:lnSpc>
              <a:spcBef>
                <a:spcPts val="0"/>
              </a:spcBef>
              <a:spcAft>
                <a:spcPts val="0"/>
              </a:spcAft>
              <a:buNone/>
            </a:pPr>
            <a:r>
              <a:t/>
            </a:r>
            <a:endParaRPr/>
          </a:p>
          <a:p>
            <a:pPr indent="0" lvl="0" marL="228600" rtl="0" algn="l">
              <a:lnSpc>
                <a:spcPct val="90000"/>
              </a:lnSpc>
              <a:spcBef>
                <a:spcPts val="0"/>
              </a:spcBef>
              <a:spcAft>
                <a:spcPts val="0"/>
              </a:spcAft>
              <a:buNone/>
            </a:pPr>
            <a:r>
              <a:t/>
            </a:r>
            <a:endParaRPr b="1" sz="2150">
              <a:latin typeface="Arial"/>
              <a:ea typeface="Arial"/>
              <a:cs typeface="Arial"/>
              <a:sym typeface="Arial"/>
            </a:endParaRPr>
          </a:p>
          <a:p>
            <a:pPr indent="-250825" lvl="0" marL="228600" rtl="0" algn="l">
              <a:lnSpc>
                <a:spcPct val="115000"/>
              </a:lnSpc>
              <a:spcBef>
                <a:spcPts val="1400"/>
              </a:spcBef>
              <a:spcAft>
                <a:spcPts val="0"/>
              </a:spcAft>
              <a:buSzPts val="2150"/>
              <a:buFont typeface="Arial"/>
              <a:buChar char="•"/>
            </a:pPr>
            <a:r>
              <a:rPr b="1" lang="en-US" sz="2150">
                <a:latin typeface="Arial"/>
                <a:ea typeface="Arial"/>
                <a:cs typeface="Arial"/>
                <a:sym typeface="Arial"/>
              </a:rPr>
              <a:t>ISO 9000 – Fundamentals and Vocabulary: It</a:t>
            </a:r>
            <a:r>
              <a:rPr lang="en-US" sz="2150">
                <a:latin typeface="Arial"/>
                <a:ea typeface="Arial"/>
                <a:cs typeface="Arial"/>
                <a:sym typeface="Arial"/>
              </a:rPr>
              <a:t> defines </a:t>
            </a:r>
            <a:r>
              <a:rPr b="1" lang="en-US" sz="2150">
                <a:latin typeface="Arial"/>
                <a:ea typeface="Arial"/>
                <a:cs typeface="Arial"/>
                <a:sym typeface="Arial"/>
              </a:rPr>
              <a:t>basic quality concepts and terminology. Also </a:t>
            </a:r>
            <a:r>
              <a:rPr lang="en-US" sz="2150">
                <a:latin typeface="Arial"/>
                <a:ea typeface="Arial"/>
                <a:cs typeface="Arial"/>
                <a:sym typeface="Arial"/>
              </a:rPr>
              <a:t>Acts as a </a:t>
            </a:r>
            <a:r>
              <a:rPr b="1" lang="en-US" sz="2150">
                <a:latin typeface="Arial"/>
                <a:ea typeface="Arial"/>
                <a:cs typeface="Arial"/>
                <a:sym typeface="Arial"/>
              </a:rPr>
              <a:t>foundation</a:t>
            </a:r>
            <a:r>
              <a:rPr lang="en-US" sz="2150">
                <a:latin typeface="Arial"/>
                <a:ea typeface="Arial"/>
                <a:cs typeface="Arial"/>
                <a:sym typeface="Arial"/>
              </a:rPr>
              <a:t> for other ISO standards. </a:t>
            </a:r>
            <a:r>
              <a:rPr lang="en-US" sz="2150">
                <a:latin typeface="Arial"/>
                <a:ea typeface="Arial"/>
                <a:cs typeface="Arial"/>
                <a:sym typeface="Arial"/>
              </a:rPr>
              <a:t>It's</a:t>
            </a:r>
            <a:r>
              <a:rPr lang="en-US" sz="2150">
                <a:latin typeface="Arial"/>
                <a:ea typeface="Arial"/>
                <a:cs typeface="Arial"/>
                <a:sym typeface="Arial"/>
              </a:rPr>
              <a:t> not a certification standard</a:t>
            </a:r>
            <a:endParaRPr sz="2150">
              <a:latin typeface="Arial"/>
              <a:ea typeface="Arial"/>
              <a:cs typeface="Arial"/>
              <a:sym typeface="Arial"/>
            </a:endParaRPr>
          </a:p>
          <a:p>
            <a:pPr indent="-342900" lvl="0" marL="457200" rtl="0" algn="l">
              <a:lnSpc>
                <a:spcPct val="90000"/>
              </a:lnSpc>
              <a:spcBef>
                <a:spcPts val="0"/>
              </a:spcBef>
              <a:spcAft>
                <a:spcPts val="0"/>
              </a:spcAft>
              <a:buSzPts val="1800"/>
              <a:buChar char="●"/>
            </a:pPr>
            <a:r>
              <a:rPr lang="en-US"/>
              <a:t>ISO 9001: The most recognized standard, focusing on quality management systems. It emphasizes customer satisfaction, process improvement, and meeting regulatory requirements.</a:t>
            </a:r>
            <a:endParaRPr/>
          </a:p>
          <a:p>
            <a:pPr indent="-342900" lvl="0" marL="457200" rtl="0" algn="l">
              <a:lnSpc>
                <a:spcPct val="90000"/>
              </a:lnSpc>
              <a:spcBef>
                <a:spcPts val="0"/>
              </a:spcBef>
              <a:spcAft>
                <a:spcPts val="0"/>
              </a:spcAft>
              <a:buSzPts val="1800"/>
              <a:buChar char="●"/>
            </a:pPr>
            <a:r>
              <a:rPr lang="en-US"/>
              <a:t>ISO 14001: Focuses on environmental management systems, helping organizations minimize their environmental impact.</a:t>
            </a:r>
            <a:endParaRPr/>
          </a:p>
          <a:p>
            <a:pPr indent="-342900" lvl="0" marL="457200" rtl="0" algn="l">
              <a:lnSpc>
                <a:spcPct val="90000"/>
              </a:lnSpc>
              <a:spcBef>
                <a:spcPts val="0"/>
              </a:spcBef>
              <a:spcAft>
                <a:spcPts val="0"/>
              </a:spcAft>
              <a:buSzPts val="1800"/>
              <a:buChar char="●"/>
            </a:pPr>
            <a:r>
              <a:rPr lang="en-US"/>
              <a:t>ISO/IEC 27001: Concerned with information security management systems (ISMS).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20"/>
          <p:cNvSpPr txBox="1"/>
          <p:nvPr>
            <p:ph type="title"/>
          </p:nvPr>
        </p:nvSpPr>
        <p:spPr>
          <a:xfrm>
            <a:off x="838200" y="98425"/>
            <a:ext cx="10515600" cy="98488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What is ISO 9000</a:t>
            </a:r>
            <a:endParaRPr/>
          </a:p>
        </p:txBody>
      </p:sp>
      <p:sp>
        <p:nvSpPr>
          <p:cNvPr id="277" name="Google Shape;277;p20"/>
          <p:cNvSpPr txBox="1"/>
          <p:nvPr>
            <p:ph idx="1" type="body"/>
          </p:nvPr>
        </p:nvSpPr>
        <p:spPr>
          <a:xfrm>
            <a:off x="838200" y="1083299"/>
            <a:ext cx="11108400" cy="5460300"/>
          </a:xfrm>
          <a:prstGeom prst="rect">
            <a:avLst/>
          </a:prstGeom>
          <a:noFill/>
          <a:ln>
            <a:noFill/>
          </a:ln>
        </p:spPr>
        <p:txBody>
          <a:bodyPr anchorCtr="0" anchor="t" bIns="45700" lIns="91425" spcFirstLastPara="1" rIns="91425" wrap="square" tIns="45700">
            <a:normAutofit/>
          </a:bodyPr>
          <a:lstStyle/>
          <a:p>
            <a:pPr indent="-246380" lvl="0" marL="228600" rtl="0" algn="l">
              <a:lnSpc>
                <a:spcPct val="90000"/>
              </a:lnSpc>
              <a:spcBef>
                <a:spcPts val="0"/>
              </a:spcBef>
              <a:spcAft>
                <a:spcPts val="0"/>
              </a:spcAft>
              <a:buClr>
                <a:schemeClr val="dk1"/>
              </a:buClr>
              <a:buSzPts val="2800"/>
              <a:buChar char="•"/>
            </a:pPr>
            <a:r>
              <a:rPr lang="en-US"/>
              <a:t>What  is  standard? </a:t>
            </a:r>
            <a:endParaRPr/>
          </a:p>
          <a:p>
            <a:pPr indent="0" lvl="0" marL="0" rtl="0" algn="l">
              <a:lnSpc>
                <a:spcPct val="90000"/>
              </a:lnSpc>
              <a:spcBef>
                <a:spcPts val="1000"/>
              </a:spcBef>
              <a:spcAft>
                <a:spcPts val="0"/>
              </a:spcAft>
              <a:buClr>
                <a:srgbClr val="FF0000"/>
              </a:buClr>
              <a:buSzPts val="2800"/>
              <a:buNone/>
            </a:pPr>
            <a:r>
              <a:rPr lang="en-US">
                <a:solidFill>
                  <a:srgbClr val="FF0000"/>
                </a:solidFill>
              </a:rPr>
              <a:t> “A  standard  is  simply  a  definition  of how something should be.”</a:t>
            </a:r>
            <a:endParaRPr>
              <a:solidFill>
                <a:srgbClr val="FF0000"/>
              </a:solidFill>
            </a:endParaRPr>
          </a:p>
          <a:p>
            <a:pPr indent="-246380" lvl="0" marL="228600" rtl="0" algn="l">
              <a:lnSpc>
                <a:spcPct val="90000"/>
              </a:lnSpc>
              <a:spcBef>
                <a:spcPts val="1000"/>
              </a:spcBef>
              <a:spcAft>
                <a:spcPts val="0"/>
              </a:spcAft>
              <a:buClr>
                <a:schemeClr val="dk1"/>
              </a:buClr>
              <a:buSzPts val="2800"/>
              <a:buChar char="•"/>
            </a:pPr>
            <a:r>
              <a:rPr lang="en-US">
                <a:solidFill>
                  <a:schemeClr val="dk1"/>
                </a:solidFill>
              </a:rPr>
              <a:t>ISO  9000  is the  standard  which  is most  widely  known among all the standards given by ISO and it gives guidelines for selecting a project.</a:t>
            </a:r>
            <a:endParaRPr>
              <a:solidFill>
                <a:schemeClr val="dk1"/>
              </a:solidFill>
            </a:endParaRPr>
          </a:p>
          <a:p>
            <a:pPr indent="-246380" lvl="0" marL="228600" rtl="0" algn="l">
              <a:lnSpc>
                <a:spcPct val="90000"/>
              </a:lnSpc>
              <a:spcBef>
                <a:spcPts val="1000"/>
              </a:spcBef>
              <a:spcAft>
                <a:spcPts val="0"/>
              </a:spcAft>
              <a:buClr>
                <a:schemeClr val="dk1"/>
              </a:buClr>
              <a:buSzPts val="2800"/>
              <a:buChar char="•"/>
            </a:pPr>
            <a:r>
              <a:rPr lang="en-US">
                <a:solidFill>
                  <a:schemeClr val="dk1"/>
                </a:solidFill>
              </a:rPr>
              <a:t>ISO  9000  is generic  and  applied  to all  generic  product categories  which  can  be  hardware,  and  software.  </a:t>
            </a:r>
            <a:endParaRPr>
              <a:solidFill>
                <a:schemeClr val="dk1"/>
              </a:solidFill>
            </a:endParaRPr>
          </a:p>
          <a:p>
            <a:pPr indent="-246380" lvl="0" marL="228600" rtl="0" algn="l">
              <a:lnSpc>
                <a:spcPct val="90000"/>
              </a:lnSpc>
              <a:spcBef>
                <a:spcPts val="1000"/>
              </a:spcBef>
              <a:spcAft>
                <a:spcPts val="0"/>
              </a:spcAft>
              <a:buClr>
                <a:schemeClr val="dk1"/>
              </a:buClr>
              <a:buSzPts val="2800"/>
              <a:buChar char="•"/>
            </a:pPr>
            <a:r>
              <a:rPr lang="en-US">
                <a:solidFill>
                  <a:schemeClr val="dk1"/>
                </a:solidFill>
              </a:rPr>
              <a:t>These standards are widely accepted worldwide and have an effect on national and international trade. </a:t>
            </a:r>
            <a:endParaRPr>
              <a:solidFill>
                <a:schemeClr val="dk1"/>
              </a:solidFill>
            </a:endParaRPr>
          </a:p>
          <a:p>
            <a:pPr indent="-246380" lvl="0" marL="228600" rtl="0" algn="l">
              <a:lnSpc>
                <a:spcPct val="90000"/>
              </a:lnSpc>
              <a:spcBef>
                <a:spcPts val="1000"/>
              </a:spcBef>
              <a:spcAft>
                <a:spcPts val="0"/>
              </a:spcAft>
              <a:buClr>
                <a:schemeClr val="dk1"/>
              </a:buClr>
              <a:buSzPts val="2800"/>
              <a:buChar char="•"/>
            </a:pPr>
            <a:r>
              <a:rPr lang="en-US">
                <a:solidFill>
                  <a:schemeClr val="dk1"/>
                </a:solidFill>
              </a:rPr>
              <a:t>These standards are used by  management  systems  in  an  organization  to  design, produce and support their products.</a:t>
            </a:r>
            <a:endParaRPr>
              <a:solidFill>
                <a:schemeClr val="dk1"/>
              </a:solidFill>
            </a:endParaRPr>
          </a:p>
          <a:p>
            <a:pPr indent="-68579" lvl="0" marL="228600" rtl="0" algn="l">
              <a:lnSpc>
                <a:spcPct val="90000"/>
              </a:lnSpc>
              <a:spcBef>
                <a:spcPts val="1000"/>
              </a:spcBef>
              <a:spcAft>
                <a:spcPts val="0"/>
              </a:spcAft>
              <a:buClr>
                <a:schemeClr val="dk1"/>
              </a:buClr>
              <a:buSzPts val="2800"/>
              <a:buNone/>
            </a:pPr>
            <a:r>
              <a:t/>
            </a:r>
            <a:endParaRPr>
              <a:solidFill>
                <a:schemeClr val="dk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 ISO 9000:2000</a:t>
            </a:r>
            <a:endParaRPr/>
          </a:p>
        </p:txBody>
      </p:sp>
      <p:sp>
        <p:nvSpPr>
          <p:cNvPr id="283" name="Google Shape;283;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ISO 9000 series gives guidelines for selecting a product. ISO  9000  series standards are  applied in government  and other organizations and make easier and faster development and maintenance of  products.</a:t>
            </a:r>
            <a:endParaRPr/>
          </a:p>
          <a:p>
            <a:pPr indent="-228600" lvl="0" marL="228600" rtl="0" algn="l">
              <a:lnSpc>
                <a:spcPct val="90000"/>
              </a:lnSpc>
              <a:spcBef>
                <a:spcPts val="1000"/>
              </a:spcBef>
              <a:spcAft>
                <a:spcPts val="0"/>
              </a:spcAft>
              <a:buClr>
                <a:schemeClr val="dk1"/>
              </a:buClr>
              <a:buSzPts val="2800"/>
              <a:buChar char="•"/>
            </a:pPr>
            <a:r>
              <a:rPr lang="en-US"/>
              <a:t> It also develops a leadership and good customer and supplier relations. </a:t>
            </a:r>
            <a:endParaRPr/>
          </a:p>
          <a:p>
            <a:pPr indent="-228600" lvl="0" marL="228600" rtl="0" algn="l">
              <a:lnSpc>
                <a:spcPct val="90000"/>
              </a:lnSpc>
              <a:spcBef>
                <a:spcPts val="1000"/>
              </a:spcBef>
              <a:spcAft>
                <a:spcPts val="0"/>
              </a:spcAft>
              <a:buClr>
                <a:schemeClr val="dk1"/>
              </a:buClr>
              <a:buSzPts val="2800"/>
              <a:buChar char="•"/>
            </a:pPr>
            <a:r>
              <a:rPr lang="en-US"/>
              <a:t>The advantage of giving guidelines is that the  customer is aware beforehand and can get quality in terms of performance and efficiency of the product.</a:t>
            </a:r>
            <a:endParaRPr/>
          </a:p>
          <a:p>
            <a:pPr indent="-228600" lvl="0" marL="228600" rtl="0" algn="l">
              <a:lnSpc>
                <a:spcPct val="90000"/>
              </a:lnSpc>
              <a:spcBef>
                <a:spcPts val="1000"/>
              </a:spcBef>
              <a:spcAft>
                <a:spcPts val="0"/>
              </a:spcAft>
              <a:buClr>
                <a:schemeClr val="dk1"/>
              </a:buClr>
              <a:buSzPts val="2800"/>
              <a:buChar char="•"/>
            </a:pPr>
            <a:r>
              <a:rPr lang="en-US"/>
              <a:t> If any system conforms to standard that mean it will  perform  well and  will  be satisfying  customer’s  need.</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 ISO 9001:2000</a:t>
            </a:r>
            <a:endParaRPr/>
          </a:p>
        </p:txBody>
      </p:sp>
      <p:sp>
        <p:nvSpPr>
          <p:cNvPr id="289" name="Google Shape;289;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Seaver  Matt  has  called  ISO  9001  series  as  quality management system requirements. </a:t>
            </a:r>
            <a:endParaRPr/>
          </a:p>
          <a:p>
            <a:pPr indent="-228600" lvl="0" marL="228600" rtl="0" algn="l">
              <a:lnSpc>
                <a:spcPct val="90000"/>
              </a:lnSpc>
              <a:spcBef>
                <a:spcPts val="1000"/>
              </a:spcBef>
              <a:spcAft>
                <a:spcPts val="0"/>
              </a:spcAft>
              <a:buClr>
                <a:schemeClr val="dk1"/>
              </a:buClr>
              <a:buSzPts val="2800"/>
              <a:buChar char="•"/>
            </a:pPr>
            <a:r>
              <a:rPr lang="en-US"/>
              <a:t>It is not concerned with the cost and finance effectiveness but on those purposes that indirectly affects the quality of the product.</a:t>
            </a:r>
            <a:endParaRPr/>
          </a:p>
          <a:p>
            <a:pPr indent="-228600" lvl="0" marL="228600" rtl="0" algn="l">
              <a:lnSpc>
                <a:spcPct val="90000"/>
              </a:lnSpc>
              <a:spcBef>
                <a:spcPts val="1000"/>
              </a:spcBef>
              <a:spcAft>
                <a:spcPts val="0"/>
              </a:spcAft>
              <a:buClr>
                <a:schemeClr val="dk1"/>
              </a:buClr>
              <a:buSzPts val="2800"/>
              <a:buChar char="•"/>
            </a:pPr>
            <a:r>
              <a:rPr lang="en-US"/>
              <a:t> So, it does not help  any  organizations  to  deal  with  economic  states and money affairs. </a:t>
            </a:r>
            <a:endParaRPr/>
          </a:p>
          <a:p>
            <a:pPr indent="-228600" lvl="0" marL="228600" rtl="0" algn="l">
              <a:lnSpc>
                <a:spcPct val="90000"/>
              </a:lnSpc>
              <a:spcBef>
                <a:spcPts val="1000"/>
              </a:spcBef>
              <a:spcAft>
                <a:spcPts val="0"/>
              </a:spcAft>
              <a:buClr>
                <a:schemeClr val="dk1"/>
              </a:buClr>
              <a:buSzPts val="2800"/>
              <a:buChar char="•"/>
            </a:pPr>
            <a:r>
              <a:rPr lang="en-US"/>
              <a:t>The factors on which ISO 9001 focus are the personal  aspects  like specific  sales  and  marketing  of  the product.</a:t>
            </a:r>
            <a:endParaRPr/>
          </a:p>
          <a:p>
            <a:pPr indent="-228600" lvl="0" marL="228600" rtl="0" algn="l">
              <a:lnSpc>
                <a:spcPct val="90000"/>
              </a:lnSpc>
              <a:spcBef>
                <a:spcPts val="1000"/>
              </a:spcBef>
              <a:spcAft>
                <a:spcPts val="0"/>
              </a:spcAft>
              <a:buClr>
                <a:schemeClr val="dk1"/>
              </a:buClr>
              <a:buSzPts val="2800"/>
              <a:buChar char="•"/>
            </a:pPr>
            <a:r>
              <a:rPr lang="en-US"/>
              <a:t> The product should match the standards set in order to advertise it for use.</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 ISO 9004:2000 </a:t>
            </a:r>
            <a:endParaRPr/>
          </a:p>
        </p:txBody>
      </p:sp>
      <p:sp>
        <p:nvSpPr>
          <p:cNvPr id="295" name="Google Shape;295;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‘ISO 9004 is recommended as a guide for organizations whose  top  management  wishes  to  move  beyond  the requirements  of  ISO  9001  in  pursuit  of  continual improvement of  Performance.’ (Seaver, Matt.).</a:t>
            </a:r>
            <a:endParaRPr/>
          </a:p>
          <a:p>
            <a:pPr indent="-228600" lvl="0" marL="228600" rtl="0" algn="l">
              <a:lnSpc>
                <a:spcPct val="90000"/>
              </a:lnSpc>
              <a:spcBef>
                <a:spcPts val="1000"/>
              </a:spcBef>
              <a:spcAft>
                <a:spcPts val="0"/>
              </a:spcAft>
              <a:buClr>
                <a:schemeClr val="dk1"/>
              </a:buClr>
              <a:buSzPts val="2800"/>
              <a:buChar char="•"/>
            </a:pPr>
            <a:r>
              <a:rPr lang="en-US"/>
              <a:t> It covers  a large scope creep and is deliberately positioned between ISO 9000 and award criteria. </a:t>
            </a:r>
            <a:endParaRPr/>
          </a:p>
          <a:p>
            <a:pPr indent="-228600" lvl="0" marL="228600" rtl="0" algn="l">
              <a:lnSpc>
                <a:spcPct val="90000"/>
              </a:lnSpc>
              <a:spcBef>
                <a:spcPts val="1000"/>
              </a:spcBef>
              <a:spcAft>
                <a:spcPts val="0"/>
              </a:spcAft>
              <a:buClr>
                <a:schemeClr val="dk1"/>
              </a:buClr>
              <a:buSzPts val="2800"/>
              <a:buChar char="•"/>
            </a:pPr>
            <a:r>
              <a:rPr lang="en-US"/>
              <a:t>It consists of those features which directly affects the product quality and provide a guideline to enrich and improve the ISO 9001 baseline.</a:t>
            </a:r>
            <a:endParaRPr/>
          </a:p>
          <a:p>
            <a:pPr indent="-228600" lvl="0" marL="228600" rtl="0" algn="l">
              <a:lnSpc>
                <a:spcPct val="90000"/>
              </a:lnSpc>
              <a:spcBef>
                <a:spcPts val="1000"/>
              </a:spcBef>
              <a:spcAft>
                <a:spcPts val="0"/>
              </a:spcAft>
              <a:buClr>
                <a:schemeClr val="dk1"/>
              </a:buClr>
              <a:buSzPts val="2800"/>
              <a:buChar char="•"/>
            </a:pPr>
            <a:r>
              <a:rPr lang="en-US"/>
              <a:t>These  all  above  defined  standards  series  together improves product quality and service to customer.</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24"/>
          <p:cNvSpPr txBox="1"/>
          <p:nvPr>
            <p:ph type="title"/>
          </p:nvPr>
        </p:nvSpPr>
        <p:spPr>
          <a:xfrm>
            <a:off x="838200" y="0"/>
            <a:ext cx="10515600" cy="964565"/>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ISO 9000:2000 SOFTWARE QUALITY STANDARD</a:t>
            </a:r>
            <a:endParaRPr/>
          </a:p>
        </p:txBody>
      </p:sp>
      <p:sp>
        <p:nvSpPr>
          <p:cNvPr id="301" name="Google Shape;301;p24"/>
          <p:cNvSpPr txBox="1"/>
          <p:nvPr>
            <p:ph idx="1" type="body"/>
          </p:nvPr>
        </p:nvSpPr>
        <p:spPr>
          <a:xfrm>
            <a:off x="838200" y="964565"/>
            <a:ext cx="10515600" cy="5437505"/>
          </a:xfrm>
          <a:prstGeom prst="rect">
            <a:avLst/>
          </a:prstGeom>
          <a:noFill/>
          <a:ln>
            <a:noFill/>
          </a:ln>
        </p:spPr>
        <p:txBody>
          <a:bodyPr anchorCtr="0" anchor="t" bIns="45700" lIns="91425" spcFirstLastPara="1" rIns="91425" wrap="square" tIns="45700">
            <a:normAutofit fontScale="90000"/>
          </a:bodyPr>
          <a:lstStyle/>
          <a:p>
            <a:pPr indent="-228600" lvl="0" marL="228600" rtl="0" algn="l">
              <a:lnSpc>
                <a:spcPct val="90000"/>
              </a:lnSpc>
              <a:spcBef>
                <a:spcPts val="0"/>
              </a:spcBef>
              <a:spcAft>
                <a:spcPts val="0"/>
              </a:spcAft>
              <a:buClr>
                <a:schemeClr val="dk1"/>
              </a:buClr>
              <a:buSzPct val="100000"/>
              <a:buChar char="•"/>
            </a:pPr>
            <a:r>
              <a:rPr lang="en-US"/>
              <a:t>There are ongoing efforts at the international level for standardizing different aspects of computer communications and software development. Standardization has been particularly successful in the field of computer networking and wireless communications.</a:t>
            </a:r>
            <a:endParaRPr/>
          </a:p>
          <a:p>
            <a:pPr indent="-228600" lvl="0" marL="228600" rtl="0" algn="l">
              <a:lnSpc>
                <a:spcPct val="90000"/>
              </a:lnSpc>
              <a:spcBef>
                <a:spcPts val="1000"/>
              </a:spcBef>
              <a:spcAft>
                <a:spcPts val="0"/>
              </a:spcAft>
              <a:buClr>
                <a:schemeClr val="dk1"/>
              </a:buClr>
              <a:buSzPct val="100000"/>
              <a:buChar char="•"/>
            </a:pPr>
            <a:r>
              <a:rPr lang="en-US"/>
              <a:t>For example, the collaborative work of the Internet Engineering Task Force (IETF) has been the key to the proliferation of the Internet. Similarly, standardization efforts from the IEEE have led to the successful development of the local area network (LAN) standard, namely the IEEE 802.3 standard, and the wireless local area network (WLAN) standards, namely IEEE 802.11a/b/g.</a:t>
            </a:r>
            <a:endParaRPr/>
          </a:p>
          <a:p>
            <a:pPr indent="-228600" lvl="0" marL="228600" rtl="0" algn="l">
              <a:lnSpc>
                <a:spcPct val="90000"/>
              </a:lnSpc>
              <a:spcBef>
                <a:spcPts val="1000"/>
              </a:spcBef>
              <a:spcAft>
                <a:spcPts val="0"/>
              </a:spcAft>
              <a:buClr>
                <a:schemeClr val="dk1"/>
              </a:buClr>
              <a:buSzPct val="100000"/>
              <a:buChar char="•"/>
            </a:pPr>
            <a:r>
              <a:rPr lang="en-US"/>
              <a:t>The ISO has developed a series of standards, collectively known as the ISO 9000. The ISO was founded in 1946, and it is based in Geneva, Switzerland. It develops and promotes international standards in the field of quality assurance and quality management.</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25"/>
          <p:cNvSpPr txBox="1"/>
          <p:nvPr>
            <p:ph idx="1" type="body"/>
          </p:nvPr>
        </p:nvSpPr>
        <p:spPr>
          <a:xfrm>
            <a:off x="838200" y="504825"/>
            <a:ext cx="10515600" cy="567245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ISO 9000 standards are generally applicable to all tangible products manufactured with human endeavor, say, from spices to software—Even some brands of spice and rice used in everyday cooking are claimed to be ISO 9000 certified. </a:t>
            </a:r>
            <a:endParaRPr/>
          </a:p>
          <a:p>
            <a:pPr indent="-228600" lvl="0" marL="228600" rtl="0" algn="l">
              <a:lnSpc>
                <a:spcPct val="90000"/>
              </a:lnSpc>
              <a:spcBef>
                <a:spcPts val="1000"/>
              </a:spcBef>
              <a:spcAft>
                <a:spcPts val="0"/>
              </a:spcAft>
              <a:buClr>
                <a:schemeClr val="dk1"/>
              </a:buClr>
              <a:buSzPts val="2800"/>
              <a:buChar char="•"/>
            </a:pPr>
            <a:r>
              <a:rPr lang="en-US"/>
              <a:t>The ISO 9000 standards are reviewed and updated from time to time, once every 5–8 years. The latest ISO 9000 standards released in the year 2000 are referred to as ISO 9000:2000. </a:t>
            </a:r>
            <a:endParaRPr/>
          </a:p>
          <a:p>
            <a:pPr indent="-228600" lvl="0" marL="228600" rtl="0" algn="l">
              <a:lnSpc>
                <a:spcPct val="90000"/>
              </a:lnSpc>
              <a:spcBef>
                <a:spcPts val="1000"/>
              </a:spcBef>
              <a:spcAft>
                <a:spcPts val="0"/>
              </a:spcAft>
              <a:buClr>
                <a:schemeClr val="dk1"/>
              </a:buClr>
              <a:buSzPts val="2800"/>
              <a:buChar char="•"/>
            </a:pPr>
            <a:r>
              <a:rPr lang="en-US"/>
              <a:t>There are three components of the ISO 9000:2000 standard as follows:</a:t>
            </a:r>
            <a:endParaRPr/>
          </a:p>
          <a:p>
            <a:pPr indent="-514350" lvl="0" marL="514350" rtl="0" algn="l">
              <a:lnSpc>
                <a:spcPct val="90000"/>
              </a:lnSpc>
              <a:spcBef>
                <a:spcPts val="1000"/>
              </a:spcBef>
              <a:spcAft>
                <a:spcPts val="0"/>
              </a:spcAft>
              <a:buClr>
                <a:schemeClr val="dk1"/>
              </a:buClr>
              <a:buSzPts val="2800"/>
              <a:buAutoNum type="arabicPeriod"/>
            </a:pPr>
            <a:r>
              <a:rPr lang="en-US"/>
              <a:t>ISO 9000 : Fundamentals and vocabulary </a:t>
            </a:r>
            <a:endParaRPr/>
          </a:p>
          <a:p>
            <a:pPr indent="-514350" lvl="0" marL="514350" rtl="0" algn="l">
              <a:lnSpc>
                <a:spcPct val="90000"/>
              </a:lnSpc>
              <a:spcBef>
                <a:spcPts val="1000"/>
              </a:spcBef>
              <a:spcAft>
                <a:spcPts val="0"/>
              </a:spcAft>
              <a:buClr>
                <a:schemeClr val="dk1"/>
              </a:buClr>
              <a:buSzPts val="2800"/>
              <a:buAutoNum type="arabicPeriod"/>
            </a:pPr>
            <a:r>
              <a:rPr lang="en-US"/>
              <a:t>ISO 9001 : Requirements </a:t>
            </a:r>
            <a:endParaRPr/>
          </a:p>
          <a:p>
            <a:pPr indent="-514350" lvl="0" marL="514350" rtl="0" algn="l">
              <a:lnSpc>
                <a:spcPct val="90000"/>
              </a:lnSpc>
              <a:spcBef>
                <a:spcPts val="1000"/>
              </a:spcBef>
              <a:spcAft>
                <a:spcPts val="0"/>
              </a:spcAft>
              <a:buClr>
                <a:schemeClr val="dk1"/>
              </a:buClr>
              <a:buSzPts val="2800"/>
              <a:buAutoNum type="arabicPeriod"/>
            </a:pPr>
            <a:r>
              <a:rPr lang="en-US"/>
              <a:t>ISO 9004 : Guidelines for performance improvements [9]</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26"/>
          <p:cNvSpPr txBox="1"/>
          <p:nvPr>
            <p:ph type="title"/>
          </p:nvPr>
        </p:nvSpPr>
        <p:spPr>
          <a:xfrm>
            <a:off x="838200" y="365125"/>
            <a:ext cx="10515600" cy="96393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ISO 9000:2000 Fundamentals</a:t>
            </a:r>
            <a:endParaRPr/>
          </a:p>
        </p:txBody>
      </p:sp>
      <p:sp>
        <p:nvSpPr>
          <p:cNvPr id="312" name="Google Shape;312;p26"/>
          <p:cNvSpPr txBox="1"/>
          <p:nvPr>
            <p:ph idx="1" type="body"/>
          </p:nvPr>
        </p:nvSpPr>
        <p:spPr>
          <a:xfrm>
            <a:off x="838200" y="1261745"/>
            <a:ext cx="10515600" cy="491553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ISO 9000:2000 standard is based on the following eight principles:</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313" name="Google Shape;313;p26"/>
          <p:cNvPicPr preferRelativeResize="0"/>
          <p:nvPr/>
        </p:nvPicPr>
        <p:blipFill rotWithShape="1">
          <a:blip r:embed="rId3">
            <a:alphaModFix/>
          </a:blip>
          <a:srcRect b="0" l="0" r="0" t="0"/>
          <a:stretch/>
        </p:blipFill>
        <p:spPr>
          <a:xfrm>
            <a:off x="314325" y="2181225"/>
            <a:ext cx="11776075" cy="441134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27"/>
          <p:cNvSpPr txBox="1"/>
          <p:nvPr>
            <p:ph idx="1" type="body"/>
          </p:nvPr>
        </p:nvSpPr>
        <p:spPr>
          <a:xfrm>
            <a:off x="838200" y="174625"/>
            <a:ext cx="10515600" cy="5469890"/>
          </a:xfrm>
          <a:prstGeom prst="rect">
            <a:avLst/>
          </a:prstGeom>
          <a:noFill/>
          <a:ln>
            <a:noFill/>
          </a:ln>
        </p:spPr>
        <p:txBody>
          <a:bodyPr anchorCtr="0" anchor="t" bIns="45700" lIns="91425" spcFirstLastPara="1" rIns="91425" wrap="square" tIns="45700">
            <a:normAutofit fontScale="90000" lnSpcReduction="10000"/>
          </a:bodyPr>
          <a:lstStyle/>
          <a:p>
            <a:pPr indent="-228600" lvl="0" marL="228600" rtl="0" algn="l">
              <a:lnSpc>
                <a:spcPct val="90000"/>
              </a:lnSpc>
              <a:spcBef>
                <a:spcPts val="0"/>
              </a:spcBef>
              <a:spcAft>
                <a:spcPts val="0"/>
              </a:spcAft>
              <a:buClr>
                <a:srgbClr val="FF0000"/>
              </a:buClr>
              <a:buSzPct val="100000"/>
              <a:buChar char="•"/>
            </a:pPr>
            <a:r>
              <a:rPr b="1" lang="en-US">
                <a:solidFill>
                  <a:srgbClr val="FF0000"/>
                </a:solidFill>
              </a:rPr>
              <a:t>Principle 2. Leadership:</a:t>
            </a:r>
            <a:endParaRPr b="1">
              <a:solidFill>
                <a:srgbClr val="FF0000"/>
              </a:solidFill>
            </a:endParaRPr>
          </a:p>
          <a:p>
            <a:pPr indent="-228600" lvl="0" marL="228600" rtl="0" algn="l">
              <a:lnSpc>
                <a:spcPct val="90000"/>
              </a:lnSpc>
              <a:spcBef>
                <a:spcPts val="1000"/>
              </a:spcBef>
              <a:spcAft>
                <a:spcPts val="0"/>
              </a:spcAft>
              <a:buClr>
                <a:schemeClr val="dk1"/>
              </a:buClr>
              <a:buSzPct val="100000"/>
              <a:buChar char="•"/>
            </a:pPr>
            <a:r>
              <a:rPr lang="en-US"/>
              <a:t>Leaders set the direction their organization should take, and they must effectively communicate this to all the people involved in the process.</a:t>
            </a:r>
            <a:endParaRPr/>
          </a:p>
          <a:p>
            <a:pPr indent="-228600" lvl="0" marL="228600" rtl="0" algn="l">
              <a:lnSpc>
                <a:spcPct val="90000"/>
              </a:lnSpc>
              <a:spcBef>
                <a:spcPts val="1000"/>
              </a:spcBef>
              <a:spcAft>
                <a:spcPts val="0"/>
              </a:spcAft>
              <a:buClr>
                <a:schemeClr val="dk1"/>
              </a:buClr>
              <a:buSzPct val="100000"/>
              <a:buChar char="•"/>
            </a:pPr>
            <a:r>
              <a:rPr lang="en-US"/>
              <a:t>All the people in an organization must have a coherent view of the organizational direction.</a:t>
            </a:r>
            <a:endParaRPr/>
          </a:p>
          <a:p>
            <a:pPr indent="-228600" lvl="0" marL="228600" rtl="0" algn="l">
              <a:lnSpc>
                <a:spcPct val="90000"/>
              </a:lnSpc>
              <a:spcBef>
                <a:spcPts val="1000"/>
              </a:spcBef>
              <a:spcAft>
                <a:spcPts val="0"/>
              </a:spcAft>
              <a:buClr>
                <a:schemeClr val="dk1"/>
              </a:buClr>
              <a:buSzPct val="100000"/>
              <a:buChar char="•"/>
            </a:pPr>
            <a:r>
              <a:rPr lang="en-US"/>
              <a:t>Without a good understanding of the organizational direction, employees will find it difficult to know where they are heading.</a:t>
            </a:r>
            <a:endParaRPr/>
          </a:p>
          <a:p>
            <a:pPr indent="-228600" lvl="0" marL="228600" rtl="0" algn="l">
              <a:lnSpc>
                <a:spcPct val="90000"/>
              </a:lnSpc>
              <a:spcBef>
                <a:spcPts val="1000"/>
              </a:spcBef>
              <a:spcAft>
                <a:spcPts val="0"/>
              </a:spcAft>
              <a:buClr>
                <a:schemeClr val="dk1"/>
              </a:buClr>
              <a:buSzPct val="100000"/>
              <a:buChar char="•"/>
            </a:pPr>
            <a:r>
              <a:rPr lang="en-US"/>
              <a:t>Leaders must set challenging but realistic goals and objectives. Employee contribution should be recognized by the leaders. </a:t>
            </a:r>
            <a:endParaRPr/>
          </a:p>
          <a:p>
            <a:pPr indent="-228600" lvl="0" marL="228600" rtl="0" algn="l">
              <a:lnSpc>
                <a:spcPct val="90000"/>
              </a:lnSpc>
              <a:spcBef>
                <a:spcPts val="1000"/>
              </a:spcBef>
              <a:spcAft>
                <a:spcPts val="0"/>
              </a:spcAft>
              <a:buClr>
                <a:schemeClr val="dk1"/>
              </a:buClr>
              <a:buSzPct val="100000"/>
              <a:buChar char="•"/>
            </a:pPr>
            <a:r>
              <a:rPr lang="en-US"/>
              <a:t>Leaders create a positive environment and provide support for the employees to collectively realize the organizational goal.</a:t>
            </a:r>
            <a:endParaRPr/>
          </a:p>
          <a:p>
            <a:pPr indent="-228600" lvl="0" marL="228600" rtl="0" algn="l">
              <a:lnSpc>
                <a:spcPct val="90000"/>
              </a:lnSpc>
              <a:spcBef>
                <a:spcPts val="1000"/>
              </a:spcBef>
              <a:spcAft>
                <a:spcPts val="0"/>
              </a:spcAft>
              <a:buClr>
                <a:schemeClr val="dk1"/>
              </a:buClr>
              <a:buSzPct val="100000"/>
              <a:buChar char="•"/>
            </a:pPr>
            <a:r>
              <a:rPr lang="en-US"/>
              <a:t>They reevaluate their goals on a continual basis and communicate the findings</a:t>
            </a:r>
            <a:endParaRPr/>
          </a:p>
          <a:p>
            <a:pPr indent="-228600" lvl="0" marL="228600" rtl="0" algn="l">
              <a:lnSpc>
                <a:spcPct val="90000"/>
              </a:lnSpc>
              <a:spcBef>
                <a:spcPts val="1000"/>
              </a:spcBef>
              <a:spcAft>
                <a:spcPts val="0"/>
              </a:spcAft>
              <a:buClr>
                <a:schemeClr val="dk1"/>
              </a:buClr>
              <a:buSzPct val="100000"/>
              <a:buChar char="•"/>
            </a:pPr>
            <a:r>
              <a:rPr lang="en-US"/>
              <a:t>to the staff.</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28"/>
          <p:cNvSpPr txBox="1"/>
          <p:nvPr>
            <p:ph idx="1" type="body"/>
          </p:nvPr>
        </p:nvSpPr>
        <p:spPr>
          <a:xfrm>
            <a:off x="838200" y="218440"/>
            <a:ext cx="10515600" cy="5958840"/>
          </a:xfrm>
          <a:prstGeom prst="rect">
            <a:avLst/>
          </a:prstGeom>
          <a:noFill/>
          <a:ln>
            <a:noFill/>
          </a:ln>
        </p:spPr>
        <p:txBody>
          <a:bodyPr anchorCtr="0" anchor="t" bIns="45700" lIns="91425" spcFirstLastPara="1" rIns="91425" wrap="square" tIns="45700">
            <a:normAutofit fontScale="90000"/>
          </a:bodyPr>
          <a:lstStyle/>
          <a:p>
            <a:pPr indent="-228600" lvl="0" marL="228600" rtl="0" algn="l">
              <a:lnSpc>
                <a:spcPct val="90000"/>
              </a:lnSpc>
              <a:spcBef>
                <a:spcPts val="0"/>
              </a:spcBef>
              <a:spcAft>
                <a:spcPts val="0"/>
              </a:spcAft>
              <a:buClr>
                <a:srgbClr val="FF0000"/>
              </a:buClr>
              <a:buSzPct val="100000"/>
              <a:buChar char="•"/>
            </a:pPr>
            <a:r>
              <a:rPr b="1" lang="en-US">
                <a:solidFill>
                  <a:srgbClr val="FF0000"/>
                </a:solidFill>
              </a:rPr>
              <a:t>Principle 3. Involvement of People:</a:t>
            </a:r>
            <a:endParaRPr b="1">
              <a:solidFill>
                <a:srgbClr val="FF0000"/>
              </a:solidFill>
            </a:endParaRPr>
          </a:p>
          <a:p>
            <a:pPr indent="-228600" lvl="0" marL="228600" rtl="0" algn="l">
              <a:lnSpc>
                <a:spcPct val="90000"/>
              </a:lnSpc>
              <a:spcBef>
                <a:spcPts val="1000"/>
              </a:spcBef>
              <a:spcAft>
                <a:spcPts val="0"/>
              </a:spcAft>
              <a:buClr>
                <a:schemeClr val="dk1"/>
              </a:buClr>
              <a:buSzPct val="100000"/>
              <a:buChar char="•"/>
            </a:pPr>
            <a:r>
              <a:rPr lang="en-US"/>
              <a:t>In general, organizations rely on people. People are informed of the organizational direction, and they are involved at all levels of decision making. </a:t>
            </a:r>
            <a:endParaRPr/>
          </a:p>
          <a:p>
            <a:pPr indent="-228600" lvl="0" marL="228600" rtl="0" algn="l">
              <a:lnSpc>
                <a:spcPct val="90000"/>
              </a:lnSpc>
              <a:spcBef>
                <a:spcPts val="1000"/>
              </a:spcBef>
              <a:spcAft>
                <a:spcPts val="0"/>
              </a:spcAft>
              <a:buClr>
                <a:schemeClr val="dk1"/>
              </a:buClr>
              <a:buSzPct val="100000"/>
              <a:buChar char="•"/>
            </a:pPr>
            <a:r>
              <a:rPr lang="en-US"/>
              <a:t>People are given an opportunity to develop their strength and use their abilities. People are encouraged to be creative in performing their tasks.</a:t>
            </a:r>
            <a:endParaRPr/>
          </a:p>
          <a:p>
            <a:pPr indent="-68579"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rgbClr val="FF0000"/>
              </a:buClr>
              <a:buSzPct val="100000"/>
              <a:buChar char="•"/>
            </a:pPr>
            <a:r>
              <a:rPr b="1" lang="en-US">
                <a:solidFill>
                  <a:srgbClr val="FF0000"/>
                </a:solidFill>
              </a:rPr>
              <a:t>Principle 4. Process Approach: </a:t>
            </a:r>
            <a:endParaRPr b="1">
              <a:solidFill>
                <a:srgbClr val="FF0000"/>
              </a:solidFill>
            </a:endParaRPr>
          </a:p>
          <a:p>
            <a:pPr indent="-228600" lvl="0" marL="228600" rtl="0" algn="l">
              <a:lnSpc>
                <a:spcPct val="90000"/>
              </a:lnSpc>
              <a:spcBef>
                <a:spcPts val="1000"/>
              </a:spcBef>
              <a:spcAft>
                <a:spcPts val="0"/>
              </a:spcAft>
              <a:buClr>
                <a:schemeClr val="dk1"/>
              </a:buClr>
              <a:buSzPct val="100000"/>
              <a:buChar char="•"/>
            </a:pPr>
            <a:r>
              <a:rPr lang="en-US"/>
              <a:t>There are several advantages to performing major tasks by using the concept of process. </a:t>
            </a:r>
            <a:endParaRPr/>
          </a:p>
          <a:p>
            <a:pPr indent="-228600" lvl="0" marL="228600" rtl="0" algn="l">
              <a:lnSpc>
                <a:spcPct val="90000"/>
              </a:lnSpc>
              <a:spcBef>
                <a:spcPts val="1000"/>
              </a:spcBef>
              <a:spcAft>
                <a:spcPts val="0"/>
              </a:spcAft>
              <a:buClr>
                <a:schemeClr val="dk1"/>
              </a:buClr>
              <a:buSzPct val="100000"/>
              <a:buChar char="•"/>
            </a:pPr>
            <a:r>
              <a:rPr lang="en-US"/>
              <a:t>A process is a sequence of activities that transform inputs to outputs. Organizations can prepare a plan in the form of allocating resources and scheduling the activities by making the process defined, repeatable, and measurable.</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29"/>
          <p:cNvSpPr txBox="1"/>
          <p:nvPr>
            <p:ph idx="1" type="body"/>
          </p:nvPr>
        </p:nvSpPr>
        <p:spPr>
          <a:xfrm>
            <a:off x="838200" y="346075"/>
            <a:ext cx="10515600" cy="5831205"/>
          </a:xfrm>
          <a:prstGeom prst="rect">
            <a:avLst/>
          </a:prstGeom>
          <a:noFill/>
          <a:ln>
            <a:noFill/>
          </a:ln>
        </p:spPr>
        <p:txBody>
          <a:bodyPr anchorCtr="0" anchor="t" bIns="45700" lIns="91425" spcFirstLastPara="1" rIns="91425" wrap="square" tIns="45700">
            <a:normAutofit fontScale="90000"/>
          </a:bodyPr>
          <a:lstStyle/>
          <a:p>
            <a:pPr indent="-228600" lvl="0" marL="228600" rtl="0" algn="l">
              <a:lnSpc>
                <a:spcPct val="90000"/>
              </a:lnSpc>
              <a:spcBef>
                <a:spcPts val="0"/>
              </a:spcBef>
              <a:spcAft>
                <a:spcPts val="0"/>
              </a:spcAft>
              <a:buClr>
                <a:srgbClr val="FF0000"/>
              </a:buClr>
              <a:buSzPct val="100000"/>
              <a:buChar char="•"/>
            </a:pPr>
            <a:r>
              <a:rPr b="1" lang="en-US">
                <a:solidFill>
                  <a:srgbClr val="FF0000"/>
                </a:solidFill>
              </a:rPr>
              <a:t>Principle 5. System Approach to Management:</a:t>
            </a:r>
            <a:endParaRPr b="1">
              <a:solidFill>
                <a:srgbClr val="FF0000"/>
              </a:solidFill>
            </a:endParaRPr>
          </a:p>
          <a:p>
            <a:pPr indent="-228600" lvl="0" marL="228600" rtl="0" algn="l">
              <a:lnSpc>
                <a:spcPct val="90000"/>
              </a:lnSpc>
              <a:spcBef>
                <a:spcPts val="1000"/>
              </a:spcBef>
              <a:spcAft>
                <a:spcPts val="0"/>
              </a:spcAft>
              <a:buClr>
                <a:schemeClr val="dk1"/>
              </a:buClr>
              <a:buSzPct val="100000"/>
              <a:buChar char="•"/>
            </a:pPr>
            <a:r>
              <a:rPr lang="en-US"/>
              <a:t>A system is an interacting set of processes. A whole organization can be viewed as a system of interacting processes. </a:t>
            </a:r>
            <a:endParaRPr/>
          </a:p>
          <a:p>
            <a:pPr indent="-228600" lvl="0" marL="228600" rtl="0" algn="l">
              <a:lnSpc>
                <a:spcPct val="90000"/>
              </a:lnSpc>
              <a:spcBef>
                <a:spcPts val="1000"/>
              </a:spcBef>
              <a:spcAft>
                <a:spcPts val="0"/>
              </a:spcAft>
              <a:buClr>
                <a:schemeClr val="dk1"/>
              </a:buClr>
              <a:buSzPct val="100000"/>
              <a:buChar char="•"/>
            </a:pPr>
            <a:r>
              <a:rPr lang="en-US"/>
              <a:t>In the context of software development, we can identify a number of processes.</a:t>
            </a:r>
            <a:endParaRPr/>
          </a:p>
          <a:p>
            <a:pPr indent="-228600" lvl="0" marL="228600" rtl="0" algn="l">
              <a:lnSpc>
                <a:spcPct val="90000"/>
              </a:lnSpc>
              <a:spcBef>
                <a:spcPts val="1000"/>
              </a:spcBef>
              <a:spcAft>
                <a:spcPts val="0"/>
              </a:spcAft>
              <a:buClr>
                <a:schemeClr val="dk1"/>
              </a:buClr>
              <a:buSzPct val="100000"/>
              <a:buChar char="•"/>
            </a:pPr>
            <a:r>
              <a:rPr lang="en-US"/>
              <a:t>For example, gathering customer requirements for a project is a distinct process involving specialized skills.</a:t>
            </a:r>
            <a:endParaRPr/>
          </a:p>
          <a:p>
            <a:pPr indent="-228600" lvl="0" marL="228600" rtl="0" algn="l">
              <a:lnSpc>
                <a:spcPct val="90000"/>
              </a:lnSpc>
              <a:spcBef>
                <a:spcPts val="1000"/>
              </a:spcBef>
              <a:spcAft>
                <a:spcPts val="0"/>
              </a:spcAft>
              <a:buClr>
                <a:srgbClr val="FF0000"/>
              </a:buClr>
              <a:buSzPct val="100000"/>
              <a:buChar char="•"/>
            </a:pPr>
            <a:r>
              <a:rPr b="1" lang="en-US">
                <a:solidFill>
                  <a:srgbClr val="FF0000"/>
                </a:solidFill>
              </a:rPr>
              <a:t>Principle 6. Continual Improvement:</a:t>
            </a:r>
            <a:endParaRPr b="1">
              <a:solidFill>
                <a:srgbClr val="FF0000"/>
              </a:solidFill>
            </a:endParaRPr>
          </a:p>
          <a:p>
            <a:pPr indent="-228600" lvl="0" marL="228600" rtl="0" algn="l">
              <a:lnSpc>
                <a:spcPct val="90000"/>
              </a:lnSpc>
              <a:spcBef>
                <a:spcPts val="1000"/>
              </a:spcBef>
              <a:spcAft>
                <a:spcPts val="0"/>
              </a:spcAft>
              <a:buClr>
                <a:schemeClr val="dk1"/>
              </a:buClr>
              <a:buSzPct val="100000"/>
              <a:buChar char="•"/>
            </a:pPr>
            <a:r>
              <a:rPr lang="en-US">
                <a:solidFill>
                  <a:schemeClr val="dk1"/>
                </a:solidFill>
              </a:rPr>
              <a:t>Continual improvement means that the processes involved in developing, say, software products are reviewed on a periodic basis to identify where and how further improvements in the processes can be effected.</a:t>
            </a:r>
            <a:endParaRPr>
              <a:solidFill>
                <a:schemeClr val="dk1"/>
              </a:solidFill>
            </a:endParaRPr>
          </a:p>
          <a:p>
            <a:pPr indent="-228600" lvl="0" marL="228600" rtl="0" algn="l">
              <a:lnSpc>
                <a:spcPct val="90000"/>
              </a:lnSpc>
              <a:spcBef>
                <a:spcPts val="1000"/>
              </a:spcBef>
              <a:spcAft>
                <a:spcPts val="0"/>
              </a:spcAft>
              <a:buClr>
                <a:schemeClr val="dk1"/>
              </a:buClr>
              <a:buSzPct val="100000"/>
              <a:buChar char="•"/>
            </a:pPr>
            <a:r>
              <a:rPr lang="en-US">
                <a:solidFill>
                  <a:schemeClr val="dk1"/>
                </a:solidFill>
              </a:rPr>
              <a:t>Since no process can be a perfect one to begin with, continual improvement plays an important role in the success of organizations.</a:t>
            </a:r>
            <a:endParaRPr>
              <a:solidFill>
                <a:schemeClr val="dk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30"/>
          <p:cNvSpPr txBox="1"/>
          <p:nvPr>
            <p:ph idx="1" type="body"/>
          </p:nvPr>
        </p:nvSpPr>
        <p:spPr>
          <a:xfrm>
            <a:off x="838200" y="462280"/>
            <a:ext cx="10515600" cy="57150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FF0000"/>
              </a:buClr>
              <a:buSzPts val="2800"/>
              <a:buChar char="•"/>
            </a:pPr>
            <a:r>
              <a:rPr lang="en-US">
                <a:solidFill>
                  <a:srgbClr val="FF0000"/>
                </a:solidFill>
              </a:rPr>
              <a:t>Principle 7. Factual Approach to Decision Making:</a:t>
            </a:r>
            <a:endParaRPr>
              <a:solidFill>
                <a:srgbClr val="FF0000"/>
              </a:solidFill>
            </a:endParaRPr>
          </a:p>
          <a:p>
            <a:pPr indent="-228600" lvl="0" marL="228600" rtl="0" algn="l">
              <a:lnSpc>
                <a:spcPct val="90000"/>
              </a:lnSpc>
              <a:spcBef>
                <a:spcPts val="1000"/>
              </a:spcBef>
              <a:spcAft>
                <a:spcPts val="0"/>
              </a:spcAft>
              <a:buClr>
                <a:schemeClr val="dk1"/>
              </a:buClr>
              <a:buSzPts val="2800"/>
              <a:buChar char="•"/>
            </a:pPr>
            <a:r>
              <a:rPr lang="en-US">
                <a:solidFill>
                  <a:schemeClr val="dk1"/>
                </a:solidFill>
              </a:rPr>
              <a:t>Decisions may be made based on facts, experience, and intuition. Facts can be gathered by using a sound measurement process. Identification and quantification of parameters are central to measurement.</a:t>
            </a:r>
            <a:endParaRPr>
              <a:solidFill>
                <a:schemeClr val="dk1"/>
              </a:solidFill>
            </a:endParaRPr>
          </a:p>
          <a:p>
            <a:pPr indent="-228600" lvl="0" marL="228600" rtl="0" algn="l">
              <a:lnSpc>
                <a:spcPct val="90000"/>
              </a:lnSpc>
              <a:spcBef>
                <a:spcPts val="1000"/>
              </a:spcBef>
              <a:spcAft>
                <a:spcPts val="0"/>
              </a:spcAft>
              <a:buClr>
                <a:schemeClr val="dk1"/>
              </a:buClr>
              <a:buSzPts val="2800"/>
              <a:buChar char="•"/>
            </a:pPr>
            <a:r>
              <a:rPr lang="en-US">
                <a:solidFill>
                  <a:schemeClr val="dk1"/>
                </a:solidFill>
              </a:rPr>
              <a:t>Once elements are quantified, it becomes easier to establish methods to measure those elements. </a:t>
            </a:r>
            <a:endParaRPr>
              <a:solidFill>
                <a:schemeClr val="dk1"/>
              </a:solidFill>
            </a:endParaRPr>
          </a:p>
          <a:p>
            <a:pPr indent="-228600" lvl="0" marL="228600" rtl="0" algn="l">
              <a:lnSpc>
                <a:spcPct val="90000"/>
              </a:lnSpc>
              <a:spcBef>
                <a:spcPts val="1000"/>
              </a:spcBef>
              <a:spcAft>
                <a:spcPts val="0"/>
              </a:spcAft>
              <a:buClr>
                <a:schemeClr val="dk1"/>
              </a:buClr>
              <a:buSzPts val="2800"/>
              <a:buChar char="•"/>
            </a:pPr>
            <a:r>
              <a:rPr lang="en-US">
                <a:solidFill>
                  <a:schemeClr val="dk1"/>
                </a:solidFill>
              </a:rPr>
              <a:t>There is a need for methods to validate the measured data and make the data available to those who need it.</a:t>
            </a:r>
            <a:endParaRPr>
              <a:solidFill>
                <a:schemeClr val="dk1"/>
              </a:solidFill>
            </a:endParaRPr>
          </a:p>
          <a:p>
            <a:pPr indent="-50800" lvl="0" marL="228600" rtl="0" algn="l">
              <a:lnSpc>
                <a:spcPct val="90000"/>
              </a:lnSpc>
              <a:spcBef>
                <a:spcPts val="1000"/>
              </a:spcBef>
              <a:spcAft>
                <a:spcPts val="0"/>
              </a:spcAft>
              <a:buClr>
                <a:schemeClr val="dk1"/>
              </a:buClr>
              <a:buSzPts val="2800"/>
              <a:buNone/>
            </a:pPr>
            <a:r>
              <a:t/>
            </a:r>
            <a:endParaRPr>
              <a:solidFill>
                <a:schemeClr val="dk1"/>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31"/>
          <p:cNvSpPr txBox="1"/>
          <p:nvPr>
            <p:ph idx="1" type="body"/>
          </p:nvPr>
        </p:nvSpPr>
        <p:spPr>
          <a:xfrm>
            <a:off x="838200" y="377190"/>
            <a:ext cx="10515600" cy="580009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FF0000"/>
              </a:buClr>
              <a:buSzPts val="2800"/>
              <a:buChar char="•"/>
            </a:pPr>
            <a:r>
              <a:rPr lang="en-US">
                <a:solidFill>
                  <a:srgbClr val="FF0000"/>
                </a:solidFill>
              </a:rPr>
              <a:t>Principle 8. Mutually Beneficial Supplier Relationships:</a:t>
            </a:r>
            <a:endParaRPr>
              <a:solidFill>
                <a:srgbClr val="FF0000"/>
              </a:solidFill>
            </a:endParaRPr>
          </a:p>
          <a:p>
            <a:pPr indent="-228600" lvl="0" marL="228600" rtl="0" algn="l">
              <a:lnSpc>
                <a:spcPct val="90000"/>
              </a:lnSpc>
              <a:spcBef>
                <a:spcPts val="1000"/>
              </a:spcBef>
              <a:spcAft>
                <a:spcPts val="0"/>
              </a:spcAft>
              <a:buClr>
                <a:schemeClr val="dk1"/>
              </a:buClr>
              <a:buSzPts val="2800"/>
              <a:buChar char="•"/>
            </a:pPr>
            <a:r>
              <a:rPr lang="en-US">
                <a:solidFill>
                  <a:schemeClr val="dk1"/>
                </a:solidFill>
              </a:rPr>
              <a:t>Organizations rarely make all the components they use in their products. </a:t>
            </a:r>
            <a:endParaRPr>
              <a:solidFill>
                <a:schemeClr val="dk1"/>
              </a:solidFill>
            </a:endParaRPr>
          </a:p>
          <a:p>
            <a:pPr indent="-228600" lvl="0" marL="228600" rtl="0" algn="l">
              <a:lnSpc>
                <a:spcPct val="90000"/>
              </a:lnSpc>
              <a:spcBef>
                <a:spcPts val="1000"/>
              </a:spcBef>
              <a:spcAft>
                <a:spcPts val="0"/>
              </a:spcAft>
              <a:buClr>
                <a:schemeClr val="dk1"/>
              </a:buClr>
              <a:buSzPts val="2800"/>
              <a:buChar char="•"/>
            </a:pPr>
            <a:r>
              <a:rPr lang="en-US">
                <a:solidFill>
                  <a:schemeClr val="dk1"/>
                </a:solidFill>
              </a:rPr>
              <a:t>It is a common practice for organizations to procure components and subsystems from third parties.</a:t>
            </a:r>
            <a:endParaRPr>
              <a:solidFill>
                <a:schemeClr val="dk1"/>
              </a:solidFill>
            </a:endParaRPr>
          </a:p>
          <a:p>
            <a:pPr indent="-228600" lvl="0" marL="228600" rtl="0" algn="l">
              <a:lnSpc>
                <a:spcPct val="90000"/>
              </a:lnSpc>
              <a:spcBef>
                <a:spcPts val="1000"/>
              </a:spcBef>
              <a:spcAft>
                <a:spcPts val="0"/>
              </a:spcAft>
              <a:buClr>
                <a:schemeClr val="dk1"/>
              </a:buClr>
              <a:buSzPts val="2800"/>
              <a:buChar char="•"/>
            </a:pPr>
            <a:r>
              <a:rPr lang="en-US">
                <a:solidFill>
                  <a:schemeClr val="dk1"/>
                </a:solidFill>
              </a:rPr>
              <a:t>An organization must carefully choose the suppliers and make them aware of the organization’s needs and expectations.</a:t>
            </a:r>
            <a:endParaRPr>
              <a:solidFill>
                <a:schemeClr val="dk1"/>
              </a:solidFill>
            </a:endParaRPr>
          </a:p>
          <a:p>
            <a:pPr indent="-228600" lvl="0" marL="228600" rtl="0" algn="l">
              <a:lnSpc>
                <a:spcPct val="90000"/>
              </a:lnSpc>
              <a:spcBef>
                <a:spcPts val="1000"/>
              </a:spcBef>
              <a:spcAft>
                <a:spcPts val="0"/>
              </a:spcAft>
              <a:buClr>
                <a:schemeClr val="dk1"/>
              </a:buClr>
              <a:buSzPts val="2800"/>
              <a:buChar char="•"/>
            </a:pPr>
            <a:r>
              <a:rPr lang="en-US">
                <a:solidFill>
                  <a:schemeClr val="dk1"/>
                </a:solidFill>
              </a:rPr>
              <a:t>The performance of the products procured from outside should be evaluated, and the need to improve their products and processes should be communicated to the suppliers. </a:t>
            </a:r>
            <a:endParaRPr>
              <a:solidFill>
                <a:schemeClr val="dk1"/>
              </a:solidFill>
            </a:endParaRPr>
          </a:p>
          <a:p>
            <a:pPr indent="-228600" lvl="0" marL="228600" rtl="0" algn="l">
              <a:lnSpc>
                <a:spcPct val="90000"/>
              </a:lnSpc>
              <a:spcBef>
                <a:spcPts val="1000"/>
              </a:spcBef>
              <a:spcAft>
                <a:spcPts val="0"/>
              </a:spcAft>
              <a:buClr>
                <a:schemeClr val="dk1"/>
              </a:buClr>
              <a:buSzPts val="2800"/>
              <a:buChar char="•"/>
            </a:pPr>
            <a:r>
              <a:rPr lang="en-US">
                <a:solidFill>
                  <a:schemeClr val="dk1"/>
                </a:solidFill>
              </a:rPr>
              <a:t>A mutually beneficial, cooperative relationship should be maintained with the suppliers.</a:t>
            </a:r>
            <a:endParaRPr>
              <a:solidFill>
                <a:schemeClr val="dk1"/>
              </a:solidFill>
            </a:endParaRPr>
          </a:p>
          <a:p>
            <a:pPr indent="-50800" lvl="0" marL="228600" rtl="0" algn="l">
              <a:lnSpc>
                <a:spcPct val="90000"/>
              </a:lnSpc>
              <a:spcBef>
                <a:spcPts val="1000"/>
              </a:spcBef>
              <a:spcAft>
                <a:spcPts val="0"/>
              </a:spcAft>
              <a:buClr>
                <a:schemeClr val="dk1"/>
              </a:buClr>
              <a:buSzPts val="2800"/>
              <a:buNone/>
            </a:pPr>
            <a:r>
              <a:t/>
            </a:r>
            <a:endParaRPr>
              <a:solidFill>
                <a:schemeClr val="dk1"/>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32"/>
          <p:cNvSpPr txBox="1"/>
          <p:nvPr>
            <p:ph type="title"/>
          </p:nvPr>
        </p:nvSpPr>
        <p:spPr>
          <a:xfrm>
            <a:off x="838200" y="365125"/>
            <a:ext cx="10515600" cy="100711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ISO 9001:2000 Requirements</a:t>
            </a:r>
            <a:endParaRPr/>
          </a:p>
        </p:txBody>
      </p:sp>
      <p:sp>
        <p:nvSpPr>
          <p:cNvPr id="344" name="Google Shape;344;p32"/>
          <p:cNvSpPr txBox="1"/>
          <p:nvPr>
            <p:ph idx="1" type="body"/>
          </p:nvPr>
        </p:nvSpPr>
        <p:spPr>
          <a:xfrm>
            <a:off x="976630" y="1760855"/>
            <a:ext cx="10515600" cy="409575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five major parts of the ISO 9001:2000</a:t>
            </a:r>
            <a:endParaRPr/>
          </a:p>
          <a:p>
            <a:pPr indent="-228600" lvl="0" marL="228600" rtl="0" algn="l">
              <a:lnSpc>
                <a:spcPct val="90000"/>
              </a:lnSpc>
              <a:spcBef>
                <a:spcPts val="1000"/>
              </a:spcBef>
              <a:spcAft>
                <a:spcPts val="0"/>
              </a:spcAft>
              <a:buClr>
                <a:schemeClr val="dk1"/>
              </a:buClr>
              <a:buSzPts val="2800"/>
              <a:buChar char="•"/>
            </a:pPr>
            <a:r>
              <a:rPr lang="en-US"/>
              <a:t>Systemic Requirements The concept of a quality management system</a:t>
            </a:r>
            <a:endParaRPr/>
          </a:p>
          <a:p>
            <a:pPr indent="0" lvl="0" marL="0" rtl="0" algn="l">
              <a:lnSpc>
                <a:spcPct val="90000"/>
              </a:lnSpc>
              <a:spcBef>
                <a:spcPts val="1000"/>
              </a:spcBef>
              <a:spcAft>
                <a:spcPts val="0"/>
              </a:spcAft>
              <a:buClr>
                <a:schemeClr val="dk1"/>
              </a:buClr>
              <a:buSzPts val="2800"/>
              <a:buNone/>
            </a:pPr>
            <a:r>
              <a:rPr lang="en-US"/>
              <a:t>(QMS) is the core of part 4 of the ISO 2001:2000 document. </a:t>
            </a:r>
            <a:endParaRPr/>
          </a:p>
          <a:p>
            <a:pPr indent="-228600" lvl="0" marL="228600" rtl="0" algn="l">
              <a:lnSpc>
                <a:spcPct val="90000"/>
              </a:lnSpc>
              <a:spcBef>
                <a:spcPts val="1000"/>
              </a:spcBef>
              <a:spcAft>
                <a:spcPts val="0"/>
              </a:spcAft>
              <a:buClr>
                <a:schemeClr val="dk1"/>
              </a:buClr>
              <a:buSzPts val="2800"/>
              <a:buChar char="•"/>
            </a:pPr>
            <a:r>
              <a:rPr lang="en-US"/>
              <a:t>A quality management system is defined in terms of quality policy and quality objectives.</a:t>
            </a:r>
            <a:endParaRPr/>
          </a:p>
          <a:p>
            <a:pPr indent="-228600" lvl="0" marL="228600" rtl="0" algn="l">
              <a:lnSpc>
                <a:spcPct val="90000"/>
              </a:lnSpc>
              <a:spcBef>
                <a:spcPts val="1000"/>
              </a:spcBef>
              <a:spcAft>
                <a:spcPts val="0"/>
              </a:spcAft>
              <a:buClr>
                <a:schemeClr val="dk1"/>
              </a:buClr>
              <a:buSzPts val="2800"/>
              <a:buChar char="•"/>
            </a:pPr>
            <a:r>
              <a:rPr lang="en-US"/>
              <a:t>In the software development context, an example of a quality policy is to review all work products by at least two skilled persons.</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33"/>
          <p:cNvSpPr txBox="1"/>
          <p:nvPr>
            <p:ph idx="1" type="body"/>
          </p:nvPr>
        </p:nvSpPr>
        <p:spPr>
          <a:xfrm>
            <a:off x="838200" y="601980"/>
            <a:ext cx="10515600" cy="5575300"/>
          </a:xfrm>
          <a:prstGeom prst="rect">
            <a:avLst/>
          </a:prstGeom>
          <a:noFill/>
          <a:ln>
            <a:noFill/>
          </a:ln>
        </p:spPr>
        <p:txBody>
          <a:bodyPr anchorCtr="0" anchor="t" bIns="45700" lIns="91425" spcFirstLastPara="1" rIns="91425" wrap="square" tIns="45700">
            <a:normAutofit lnSpcReduction="20000"/>
          </a:bodyPr>
          <a:lstStyle/>
          <a:p>
            <a:pPr indent="-228600" lvl="0" marL="228600" rtl="0" algn="l">
              <a:lnSpc>
                <a:spcPct val="90000"/>
              </a:lnSpc>
              <a:spcBef>
                <a:spcPts val="0"/>
              </a:spcBef>
              <a:spcAft>
                <a:spcPts val="0"/>
              </a:spcAft>
              <a:buClr>
                <a:schemeClr val="dk1"/>
              </a:buClr>
              <a:buSzPts val="2800"/>
              <a:buChar char="•"/>
            </a:pPr>
            <a:r>
              <a:rPr lang="en-US"/>
              <a:t>Systemic Requirements The concept of a quality management system</a:t>
            </a:r>
            <a:endParaRPr/>
          </a:p>
          <a:p>
            <a:pPr indent="-228600" lvl="0" marL="228600" rtl="0" algn="l">
              <a:lnSpc>
                <a:spcPct val="90000"/>
              </a:lnSpc>
              <a:spcBef>
                <a:spcPts val="1000"/>
              </a:spcBef>
              <a:spcAft>
                <a:spcPts val="0"/>
              </a:spcAft>
              <a:buClr>
                <a:schemeClr val="dk1"/>
              </a:buClr>
              <a:buSzPts val="2800"/>
              <a:buChar char="•"/>
            </a:pPr>
            <a:r>
              <a:rPr lang="en-US"/>
              <a:t>(QMS) is the core of part 4 of the ISO 2001:2000 document. A quality management system is defined in terms of quality policy and quality objectives.</a:t>
            </a:r>
            <a:endParaRPr/>
          </a:p>
          <a:p>
            <a:pPr indent="-228600" lvl="0" marL="228600" rtl="0" algn="l">
              <a:lnSpc>
                <a:spcPct val="90000"/>
              </a:lnSpc>
              <a:spcBef>
                <a:spcPts val="1000"/>
              </a:spcBef>
              <a:spcAft>
                <a:spcPts val="0"/>
              </a:spcAft>
              <a:buClr>
                <a:schemeClr val="dk1"/>
              </a:buClr>
              <a:buSzPts val="2800"/>
              <a:buChar char="•"/>
            </a:pPr>
            <a:r>
              <a:rPr lang="en-US"/>
              <a:t> In the software development context, an example of a quality policy is to review all work products by at least two skilled persons.</a:t>
            </a:r>
            <a:endParaRPr/>
          </a:p>
          <a:p>
            <a:pPr indent="-228600" lvl="0" marL="228600" rtl="0" algn="l">
              <a:lnSpc>
                <a:spcPct val="90000"/>
              </a:lnSpc>
              <a:spcBef>
                <a:spcPts val="1000"/>
              </a:spcBef>
              <a:spcAft>
                <a:spcPts val="0"/>
              </a:spcAft>
              <a:buClr>
                <a:schemeClr val="dk1"/>
              </a:buClr>
              <a:buSzPts val="2800"/>
              <a:buChar char="•"/>
            </a:pPr>
            <a:r>
              <a:rPr lang="en-US"/>
              <a:t>Another quality policy is to execute all the test cases for at least two test cycles during system testing. Similarly, an example of a quality objective is to fix all defects causing a system to crash before release.</a:t>
            </a:r>
            <a:endParaRPr/>
          </a:p>
          <a:p>
            <a:pPr indent="-228600" lvl="0" marL="228600" rtl="0" algn="l">
              <a:lnSpc>
                <a:spcPct val="90000"/>
              </a:lnSpc>
              <a:spcBef>
                <a:spcPts val="1000"/>
              </a:spcBef>
              <a:spcAft>
                <a:spcPts val="0"/>
              </a:spcAft>
              <a:buClr>
                <a:schemeClr val="dk1"/>
              </a:buClr>
              <a:buSzPts val="2800"/>
              <a:buChar char="•"/>
            </a:pPr>
            <a:r>
              <a:rPr lang="en-US"/>
              <a:t>Mechanisms are required to be defined in the form of processes to execute the quality policies and achieve the quality objectives.</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34"/>
          <p:cNvSpPr txBox="1"/>
          <p:nvPr>
            <p:ph idx="1" type="body"/>
          </p:nvPr>
        </p:nvSpPr>
        <p:spPr>
          <a:xfrm>
            <a:off x="710565" y="100965"/>
            <a:ext cx="10515600" cy="6448425"/>
          </a:xfrm>
          <a:prstGeom prst="rect">
            <a:avLst/>
          </a:prstGeom>
          <a:noFill/>
          <a:ln>
            <a:noFill/>
          </a:ln>
        </p:spPr>
        <p:txBody>
          <a:bodyPr anchorCtr="0" anchor="t" bIns="45700" lIns="91425" spcFirstLastPara="1" rIns="91425" wrap="square" tIns="45700">
            <a:normAutofit fontScale="90000" lnSpcReduction="10000"/>
          </a:bodyPr>
          <a:lstStyle/>
          <a:p>
            <a:pPr indent="-228600" lvl="0" marL="228600" rtl="0" algn="l">
              <a:lnSpc>
                <a:spcPct val="90000"/>
              </a:lnSpc>
              <a:spcBef>
                <a:spcPts val="0"/>
              </a:spcBef>
              <a:spcAft>
                <a:spcPts val="0"/>
              </a:spcAft>
              <a:buClr>
                <a:schemeClr val="dk1"/>
              </a:buClr>
              <a:buSzPct val="100000"/>
              <a:buChar char="•"/>
            </a:pPr>
            <a:r>
              <a:rPr lang="en-US"/>
              <a:t>Documentation is an important part of a QMS. There is no QMS without proper documentation. </a:t>
            </a:r>
            <a:endParaRPr/>
          </a:p>
          <a:p>
            <a:pPr indent="-228600" lvl="0" marL="228600" rtl="0" algn="l">
              <a:lnSpc>
                <a:spcPct val="90000"/>
              </a:lnSpc>
              <a:spcBef>
                <a:spcPts val="1000"/>
              </a:spcBef>
              <a:spcAft>
                <a:spcPts val="0"/>
              </a:spcAft>
              <a:buClr>
                <a:schemeClr val="dk1"/>
              </a:buClr>
              <a:buSzPct val="100000"/>
              <a:buChar char="•"/>
            </a:pPr>
            <a:r>
              <a:rPr lang="en-US"/>
              <a:t>A QMS must be properly documented by publishing a quality manual. The quality manual describes the quality policies and quality objectives.</a:t>
            </a:r>
            <a:endParaRPr/>
          </a:p>
          <a:p>
            <a:pPr indent="-228600" lvl="0" marL="228600" rtl="0" algn="l">
              <a:lnSpc>
                <a:spcPct val="90000"/>
              </a:lnSpc>
              <a:spcBef>
                <a:spcPts val="1000"/>
              </a:spcBef>
              <a:spcAft>
                <a:spcPts val="0"/>
              </a:spcAft>
              <a:buClr>
                <a:schemeClr val="dk1"/>
              </a:buClr>
              <a:buSzPct val="100000"/>
              <a:buChar char="•"/>
            </a:pPr>
            <a:r>
              <a:rPr lang="en-US"/>
              <a:t>Procedures for executing the QMS are also documented. As a QMS evolves by incorporating improved policies and objectives, the documents must accordingly be controlled.</a:t>
            </a:r>
            <a:endParaRPr/>
          </a:p>
          <a:p>
            <a:pPr indent="-457200" lvl="0" marL="457200" rtl="0" algn="l">
              <a:lnSpc>
                <a:spcPct val="90000"/>
              </a:lnSpc>
              <a:spcBef>
                <a:spcPts val="1000"/>
              </a:spcBef>
              <a:spcAft>
                <a:spcPts val="0"/>
              </a:spcAft>
              <a:buClr>
                <a:schemeClr val="dk1"/>
              </a:buClr>
              <a:buSzPct val="100000"/>
              <a:buAutoNum type="arabicPeriod"/>
            </a:pPr>
            <a:r>
              <a:rPr lang="en-US"/>
              <a:t>The documentation part can be summarized as follows:</a:t>
            </a:r>
            <a:endParaRPr/>
          </a:p>
          <a:p>
            <a:pPr indent="-457200" lvl="0" marL="457200" rtl="0" algn="l">
              <a:lnSpc>
                <a:spcPct val="90000"/>
              </a:lnSpc>
              <a:spcBef>
                <a:spcPts val="1000"/>
              </a:spcBef>
              <a:spcAft>
                <a:spcPts val="0"/>
              </a:spcAft>
              <a:buClr>
                <a:schemeClr val="dk1"/>
              </a:buClr>
              <a:buSzPct val="100000"/>
              <a:buAutoNum type="arabicPeriod"/>
            </a:pPr>
            <a:r>
              <a:rPr lang="en-US"/>
              <a:t>Document the organizational policies and goals. Publish a vision of the organization.</a:t>
            </a:r>
            <a:endParaRPr/>
          </a:p>
          <a:p>
            <a:pPr indent="-457200" lvl="0" marL="457200" rtl="0" algn="l">
              <a:lnSpc>
                <a:spcPct val="90000"/>
              </a:lnSpc>
              <a:spcBef>
                <a:spcPts val="1000"/>
              </a:spcBef>
              <a:spcAft>
                <a:spcPts val="0"/>
              </a:spcAft>
              <a:buClr>
                <a:schemeClr val="dk1"/>
              </a:buClr>
              <a:buSzPct val="100000"/>
              <a:buAutoNum type="arabicPeriod"/>
            </a:pPr>
            <a:r>
              <a:rPr lang="en-US"/>
              <a:t>Document all quality processes and their interrelationship.</a:t>
            </a:r>
            <a:endParaRPr/>
          </a:p>
          <a:p>
            <a:pPr indent="-457200" lvl="0" marL="457200" rtl="0" algn="l">
              <a:lnSpc>
                <a:spcPct val="90000"/>
              </a:lnSpc>
              <a:spcBef>
                <a:spcPts val="1000"/>
              </a:spcBef>
              <a:spcAft>
                <a:spcPts val="0"/>
              </a:spcAft>
              <a:buClr>
                <a:schemeClr val="dk1"/>
              </a:buClr>
              <a:buSzPct val="100000"/>
              <a:buAutoNum type="arabicPeriod"/>
            </a:pPr>
            <a:r>
              <a:rPr lang="en-US"/>
              <a:t> Implement a mechanism to approve documents before they are distributed.</a:t>
            </a:r>
            <a:endParaRPr/>
          </a:p>
          <a:p>
            <a:pPr indent="-457200" lvl="0" marL="457200" rtl="0" algn="l">
              <a:lnSpc>
                <a:spcPct val="90000"/>
              </a:lnSpc>
              <a:spcBef>
                <a:spcPts val="1000"/>
              </a:spcBef>
              <a:spcAft>
                <a:spcPts val="0"/>
              </a:spcAft>
              <a:buClr>
                <a:schemeClr val="dk1"/>
              </a:buClr>
              <a:buSzPct val="100000"/>
              <a:buAutoNum type="arabicPeriod"/>
            </a:pPr>
            <a:r>
              <a:rPr lang="en-US"/>
              <a:t> Review and approve updated documents.</a:t>
            </a:r>
            <a:endParaRPr/>
          </a:p>
          <a:p>
            <a:pPr indent="-457200" lvl="0" marL="457200" rtl="0" algn="l">
              <a:lnSpc>
                <a:spcPct val="90000"/>
              </a:lnSpc>
              <a:spcBef>
                <a:spcPts val="1000"/>
              </a:spcBef>
              <a:spcAft>
                <a:spcPts val="0"/>
              </a:spcAft>
              <a:buClr>
                <a:schemeClr val="dk1"/>
              </a:buClr>
              <a:buSzPct val="100000"/>
              <a:buAutoNum type="arabicPeriod"/>
            </a:pPr>
            <a:r>
              <a:rPr lang="en-US"/>
              <a:t>Monitor documents coming from suppliers.</a:t>
            </a:r>
            <a:endParaRPr/>
          </a:p>
          <a:p>
            <a:pPr indent="-457200" lvl="0" marL="457200" rtl="0" algn="l">
              <a:lnSpc>
                <a:spcPct val="90000"/>
              </a:lnSpc>
              <a:spcBef>
                <a:spcPts val="1000"/>
              </a:spcBef>
              <a:spcAft>
                <a:spcPts val="0"/>
              </a:spcAft>
              <a:buClr>
                <a:schemeClr val="dk1"/>
              </a:buClr>
              <a:buSzPct val="100000"/>
              <a:buAutoNum type="arabicPeriod"/>
            </a:pPr>
            <a:r>
              <a:rPr lang="en-US"/>
              <a:t>Document the records showing that requirements have been met.</a:t>
            </a:r>
            <a:endParaRPr/>
          </a:p>
          <a:p>
            <a:pPr indent="-457200" lvl="0" marL="457200" rtl="0" algn="l">
              <a:lnSpc>
                <a:spcPct val="90000"/>
              </a:lnSpc>
              <a:spcBef>
                <a:spcPts val="1000"/>
              </a:spcBef>
              <a:spcAft>
                <a:spcPts val="0"/>
              </a:spcAft>
              <a:buClr>
                <a:schemeClr val="dk1"/>
              </a:buClr>
              <a:buSzPct val="100000"/>
              <a:buAutoNum type="arabicPeriod"/>
            </a:pPr>
            <a:r>
              <a:rPr lang="en-US"/>
              <a:t>Document a procedure to control the records.</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Management Requirements </a:t>
            </a:r>
            <a:endParaRPr/>
          </a:p>
        </p:txBody>
      </p:sp>
      <p:sp>
        <p:nvSpPr>
          <p:cNvPr id="360" name="Google Shape;360;p35"/>
          <p:cNvSpPr txBox="1"/>
          <p:nvPr>
            <p:ph idx="1" type="body"/>
          </p:nvPr>
        </p:nvSpPr>
        <p:spPr>
          <a:xfrm>
            <a:off x="838200" y="1431925"/>
            <a:ext cx="10515600" cy="4745355"/>
          </a:xfrm>
          <a:prstGeom prst="rect">
            <a:avLst/>
          </a:prstGeom>
          <a:noFill/>
          <a:ln>
            <a:noFill/>
          </a:ln>
        </p:spPr>
        <p:txBody>
          <a:bodyPr anchorCtr="0" anchor="t" bIns="45700" lIns="91425" spcFirstLastPara="1" rIns="91425" wrap="square" tIns="45700">
            <a:normAutofit lnSpcReduction="20000"/>
          </a:bodyPr>
          <a:lstStyle/>
          <a:p>
            <a:pPr indent="-228600" lvl="0" marL="228600" rtl="0" algn="l">
              <a:lnSpc>
                <a:spcPct val="90000"/>
              </a:lnSpc>
              <a:spcBef>
                <a:spcPts val="0"/>
              </a:spcBef>
              <a:spcAft>
                <a:spcPts val="0"/>
              </a:spcAft>
              <a:buClr>
                <a:schemeClr val="dk1"/>
              </a:buClr>
              <a:buSzPts val="2800"/>
              <a:buChar char="•"/>
            </a:pPr>
            <a:r>
              <a:rPr lang="en-US"/>
              <a:t>The concept of quality cannot be dealt with in bits and pieces by individual developers and test engineers. </a:t>
            </a:r>
            <a:endParaRPr/>
          </a:p>
          <a:p>
            <a:pPr indent="-228600" lvl="0" marL="228600" rtl="0" algn="l">
              <a:lnSpc>
                <a:spcPct val="90000"/>
              </a:lnSpc>
              <a:spcBef>
                <a:spcPts val="1000"/>
              </a:spcBef>
              <a:spcAft>
                <a:spcPts val="0"/>
              </a:spcAft>
              <a:buClr>
                <a:schemeClr val="dk1"/>
              </a:buClr>
              <a:buSzPts val="2800"/>
              <a:buChar char="•"/>
            </a:pPr>
            <a:r>
              <a:rPr lang="en-US"/>
              <a:t>Rather, upper management must accept the fact that quality is an all-pervasive concept. </a:t>
            </a:r>
            <a:endParaRPr/>
          </a:p>
          <a:p>
            <a:pPr indent="-228600" lvl="0" marL="228600" rtl="0" algn="l">
              <a:lnSpc>
                <a:spcPct val="90000"/>
              </a:lnSpc>
              <a:spcBef>
                <a:spcPts val="1000"/>
              </a:spcBef>
              <a:spcAft>
                <a:spcPts val="0"/>
              </a:spcAft>
              <a:buClr>
                <a:schemeClr val="dk1"/>
              </a:buClr>
              <a:buSzPts val="2800"/>
              <a:buChar char="•"/>
            </a:pPr>
            <a:r>
              <a:rPr lang="en-US"/>
              <a:t>Upper management must make an effort to see that the entire organization is aware of the quality policies and quality goals.</a:t>
            </a:r>
            <a:endParaRPr/>
          </a:p>
          <a:p>
            <a:pPr indent="-228600" lvl="0" marL="228600" rtl="0" algn="l">
              <a:lnSpc>
                <a:spcPct val="90000"/>
              </a:lnSpc>
              <a:spcBef>
                <a:spcPts val="1000"/>
              </a:spcBef>
              <a:spcAft>
                <a:spcPts val="0"/>
              </a:spcAft>
              <a:buClr>
                <a:schemeClr val="dk1"/>
              </a:buClr>
              <a:buSzPts val="2800"/>
              <a:buChar char="•"/>
            </a:pPr>
            <a:r>
              <a:rPr lang="en-US"/>
              <a:t>This is achieved by defining and publishing a QMS and putting in place a mechanism for its continual improvement. </a:t>
            </a:r>
            <a:endParaRPr/>
          </a:p>
          <a:p>
            <a:pPr indent="-228600" lvl="0" marL="228600" rtl="0" algn="l">
              <a:lnSpc>
                <a:spcPct val="90000"/>
              </a:lnSpc>
              <a:spcBef>
                <a:spcPts val="1000"/>
              </a:spcBef>
              <a:spcAft>
                <a:spcPts val="0"/>
              </a:spcAft>
              <a:buClr>
                <a:schemeClr val="dk1"/>
              </a:buClr>
              <a:buSzPts val="2800"/>
              <a:buChar char="•"/>
            </a:pPr>
            <a:r>
              <a:rPr lang="en-US"/>
              <a:t>The QMS of the organization must be supported by upper management with the right kind and quantity of resources.</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36"/>
          <p:cNvSpPr txBox="1"/>
          <p:nvPr>
            <p:ph idx="1" type="body"/>
          </p:nvPr>
        </p:nvSpPr>
        <p:spPr>
          <a:xfrm>
            <a:off x="838200" y="547370"/>
            <a:ext cx="10515600" cy="562991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Generate an awareness for quality to meet a variety of requirements, suchas customer, regulatory, and statutory.</a:t>
            </a:r>
            <a:endParaRPr/>
          </a:p>
          <a:p>
            <a:pPr indent="0" lvl="0" marL="0" rtl="0" algn="l">
              <a:lnSpc>
                <a:spcPct val="90000"/>
              </a:lnSpc>
              <a:spcBef>
                <a:spcPts val="1000"/>
              </a:spcBef>
              <a:spcAft>
                <a:spcPts val="0"/>
              </a:spcAft>
              <a:buClr>
                <a:schemeClr val="dk1"/>
              </a:buClr>
              <a:buSzPts val="2800"/>
              <a:buNone/>
            </a:pPr>
            <a:r>
              <a:rPr lang="en-US"/>
              <a:t>• Develop a QMS by identifying organizational policies and goals concerning quality, developing mechanisms to realize those policies and goals, and allocating resources for their implementations.</a:t>
            </a:r>
            <a:endParaRPr/>
          </a:p>
          <a:p>
            <a:pPr indent="0" lvl="0" marL="0" rtl="0" algn="l">
              <a:lnSpc>
                <a:spcPct val="90000"/>
              </a:lnSpc>
              <a:spcBef>
                <a:spcPts val="1000"/>
              </a:spcBef>
              <a:spcAft>
                <a:spcPts val="0"/>
              </a:spcAft>
              <a:buClr>
                <a:schemeClr val="dk1"/>
              </a:buClr>
              <a:buSzPts val="2800"/>
              <a:buNone/>
            </a:pPr>
            <a:r>
              <a:rPr lang="en-US"/>
              <a:t>• Develop a mechanism for continual improvement of the QMS.</a:t>
            </a:r>
            <a:endParaRPr/>
          </a:p>
          <a:p>
            <a:pPr indent="0" lvl="0" marL="0" rtl="0" algn="l">
              <a:lnSpc>
                <a:spcPct val="90000"/>
              </a:lnSpc>
              <a:spcBef>
                <a:spcPts val="1000"/>
              </a:spcBef>
              <a:spcAft>
                <a:spcPts val="0"/>
              </a:spcAft>
              <a:buClr>
                <a:schemeClr val="dk1"/>
              </a:buClr>
              <a:buSzPts val="2800"/>
              <a:buNone/>
            </a:pPr>
            <a:r>
              <a:rPr lang="en-US"/>
              <a:t>• Focus on customers by identifying and meeting their requirements in order to satisfy them.</a:t>
            </a:r>
            <a:endParaRPr/>
          </a:p>
          <a:p>
            <a:pPr indent="0" lvl="0" marL="0" rtl="0" algn="l">
              <a:lnSpc>
                <a:spcPct val="90000"/>
              </a:lnSpc>
              <a:spcBef>
                <a:spcPts val="1000"/>
              </a:spcBef>
              <a:spcAft>
                <a:spcPts val="0"/>
              </a:spcAft>
              <a:buClr>
                <a:schemeClr val="dk1"/>
              </a:buClr>
              <a:buSzPts val="2800"/>
              <a:buNone/>
            </a:pPr>
            <a:r>
              <a:rPr lang="en-US"/>
              <a:t>• Develop a quality policy to meet the customers’ needs, serve the organization itself, and make it evolvable with changes in the marketplace and new developments in technologies.</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Resource Requirements</a:t>
            </a:r>
            <a:endParaRPr/>
          </a:p>
        </p:txBody>
      </p:sp>
      <p:sp>
        <p:nvSpPr>
          <p:cNvPr id="371" name="Google Shape;371;p3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0000"/>
          </a:bodyPr>
          <a:lstStyle/>
          <a:p>
            <a:pPr indent="-228600" lvl="0" marL="228600" rtl="0" algn="l">
              <a:lnSpc>
                <a:spcPct val="90000"/>
              </a:lnSpc>
              <a:spcBef>
                <a:spcPts val="0"/>
              </a:spcBef>
              <a:spcAft>
                <a:spcPts val="0"/>
              </a:spcAft>
              <a:buClr>
                <a:schemeClr val="dk1"/>
              </a:buClr>
              <a:buSzPct val="100000"/>
              <a:buChar char="•"/>
            </a:pPr>
            <a:r>
              <a:rPr lang="en-US"/>
              <a:t>Resources are key to achieving organizational policies and objectives.</a:t>
            </a:r>
            <a:endParaRPr/>
          </a:p>
          <a:p>
            <a:pPr indent="-228600" lvl="0" marL="228600" rtl="0" algn="l">
              <a:lnSpc>
                <a:spcPct val="90000"/>
              </a:lnSpc>
              <a:spcBef>
                <a:spcPts val="1000"/>
              </a:spcBef>
              <a:spcAft>
                <a:spcPts val="0"/>
              </a:spcAft>
              <a:buClr>
                <a:schemeClr val="dk1"/>
              </a:buClr>
              <a:buSzPct val="100000"/>
              <a:buChar char="•"/>
            </a:pPr>
            <a:r>
              <a:rPr lang="en-US"/>
              <a:t>Statements of policies and objectives must be backed up with allocation of the right kind and quantity of resources. </a:t>
            </a:r>
            <a:endParaRPr/>
          </a:p>
          <a:p>
            <a:pPr indent="-228600" lvl="0" marL="228600" rtl="0" algn="l">
              <a:lnSpc>
                <a:spcPct val="90000"/>
              </a:lnSpc>
              <a:spcBef>
                <a:spcPts val="1000"/>
              </a:spcBef>
              <a:spcAft>
                <a:spcPts val="0"/>
              </a:spcAft>
              <a:buClr>
                <a:schemeClr val="dk1"/>
              </a:buClr>
              <a:buSzPct val="100000"/>
              <a:buChar char="•"/>
            </a:pPr>
            <a:r>
              <a:rPr lang="en-US"/>
              <a:t>There are different kinds of resources, namely, staff, equipment, tool, financial, and building, to name the major ones.</a:t>
            </a:r>
            <a:endParaRPr/>
          </a:p>
          <a:p>
            <a:pPr indent="-228600" lvl="0" marL="228600" rtl="0" algn="l">
              <a:lnSpc>
                <a:spcPct val="90000"/>
              </a:lnSpc>
              <a:spcBef>
                <a:spcPts val="1000"/>
              </a:spcBef>
              <a:spcAft>
                <a:spcPts val="0"/>
              </a:spcAft>
              <a:buClr>
                <a:schemeClr val="dk1"/>
              </a:buClr>
              <a:buSzPct val="100000"/>
              <a:buChar char="•"/>
            </a:pPr>
            <a:r>
              <a:rPr lang="en-US"/>
              <a:t>Different resources are controlled by different divisions of an organization.</a:t>
            </a:r>
            <a:endParaRPr/>
          </a:p>
          <a:p>
            <a:pPr indent="-228600" lvl="0" marL="228600" rtl="0" algn="l">
              <a:lnSpc>
                <a:spcPct val="90000"/>
              </a:lnSpc>
              <a:spcBef>
                <a:spcPts val="1000"/>
              </a:spcBef>
              <a:spcAft>
                <a:spcPts val="0"/>
              </a:spcAft>
              <a:buClr>
                <a:schemeClr val="dk1"/>
              </a:buClr>
              <a:buSzPct val="100000"/>
              <a:buChar char="•"/>
            </a:pPr>
            <a:r>
              <a:rPr lang="en-US"/>
              <a:t>Resources are allocated to projects on a need basis. </a:t>
            </a:r>
            <a:endParaRPr/>
          </a:p>
          <a:p>
            <a:pPr indent="-228600" lvl="0" marL="228600" rtl="0" algn="l">
              <a:lnSpc>
                <a:spcPct val="90000"/>
              </a:lnSpc>
              <a:spcBef>
                <a:spcPts val="1000"/>
              </a:spcBef>
              <a:spcAft>
                <a:spcPts val="0"/>
              </a:spcAft>
              <a:buClr>
                <a:schemeClr val="dk1"/>
              </a:buClr>
              <a:buSzPct val="100000"/>
              <a:buChar char="•"/>
            </a:pPr>
            <a:r>
              <a:rPr lang="en-US"/>
              <a:t>Every activity in an organization needs some kind of resources, the resource management processes interact with other kinds of processes. </a:t>
            </a:r>
            <a:endParaRPr/>
          </a:p>
          <a:p>
            <a:pPr indent="-68579"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38"/>
          <p:cNvSpPr txBox="1"/>
          <p:nvPr>
            <p:ph idx="1" type="body"/>
          </p:nvPr>
        </p:nvSpPr>
        <p:spPr>
          <a:xfrm>
            <a:off x="838200" y="377190"/>
            <a:ext cx="10515600" cy="5800090"/>
          </a:xfrm>
          <a:prstGeom prst="rect">
            <a:avLst/>
          </a:prstGeom>
          <a:noFill/>
          <a:ln>
            <a:noFill/>
          </a:ln>
        </p:spPr>
        <p:txBody>
          <a:bodyPr anchorCtr="0" anchor="t" bIns="45700" lIns="91425" spcFirstLastPara="1" rIns="91425" wrap="square" tIns="45700">
            <a:normAutofit fontScale="90000"/>
          </a:bodyPr>
          <a:lstStyle/>
          <a:p>
            <a:pPr indent="-228600" lvl="0" marL="228600" rtl="0" algn="l">
              <a:lnSpc>
                <a:spcPct val="90000"/>
              </a:lnSpc>
              <a:spcBef>
                <a:spcPts val="0"/>
              </a:spcBef>
              <a:spcAft>
                <a:spcPts val="0"/>
              </a:spcAft>
              <a:buClr>
                <a:schemeClr val="dk1"/>
              </a:buClr>
              <a:buSzPct val="100000"/>
              <a:buChar char="•"/>
            </a:pPr>
            <a:r>
              <a:rPr lang="en-US"/>
              <a:t>The important activities concerning resource management are as follows:</a:t>
            </a:r>
            <a:endParaRPr/>
          </a:p>
          <a:p>
            <a:pPr indent="-228600" lvl="0" marL="228600" rtl="0" algn="l">
              <a:lnSpc>
                <a:spcPct val="90000"/>
              </a:lnSpc>
              <a:spcBef>
                <a:spcPts val="1000"/>
              </a:spcBef>
              <a:spcAft>
                <a:spcPts val="0"/>
              </a:spcAft>
              <a:buClr>
                <a:schemeClr val="dk1"/>
              </a:buClr>
              <a:buSzPct val="100000"/>
              <a:buChar char="•"/>
            </a:pPr>
            <a:r>
              <a:rPr lang="en-US"/>
              <a:t>Identify and provide resources required to support the organizational quality policy in order to realize the quality objectives. Here the key factor is to identify resources to be able to meet—and even exceed–customer expectations.</a:t>
            </a:r>
            <a:endParaRPr/>
          </a:p>
          <a:p>
            <a:pPr indent="0" lvl="0" marL="0" rtl="0" algn="l">
              <a:lnSpc>
                <a:spcPct val="90000"/>
              </a:lnSpc>
              <a:spcBef>
                <a:spcPts val="1000"/>
              </a:spcBef>
              <a:spcAft>
                <a:spcPts val="0"/>
              </a:spcAft>
              <a:buClr>
                <a:schemeClr val="dk1"/>
              </a:buClr>
              <a:buSzPct val="100000"/>
              <a:buNone/>
            </a:pPr>
            <a:r>
              <a:rPr lang="en-US"/>
              <a:t>• Allocate quality personnel resources to projects. Here, the quality of   personnel is defined in terms of education, training, experience, and skills.</a:t>
            </a:r>
            <a:endParaRPr/>
          </a:p>
          <a:p>
            <a:pPr indent="0" lvl="0" marL="0" rtl="0" algn="l">
              <a:lnSpc>
                <a:spcPct val="90000"/>
              </a:lnSpc>
              <a:spcBef>
                <a:spcPts val="1000"/>
              </a:spcBef>
              <a:spcAft>
                <a:spcPts val="0"/>
              </a:spcAft>
              <a:buClr>
                <a:schemeClr val="dk1"/>
              </a:buClr>
              <a:buSzPct val="100000"/>
              <a:buNone/>
            </a:pPr>
            <a:r>
              <a:rPr lang="en-US"/>
              <a:t>• Put in place a mechanism to enhance the quality level of personnel. </a:t>
            </a:r>
            <a:endParaRPr/>
          </a:p>
          <a:p>
            <a:pPr indent="0" lvl="0" marL="0" rtl="0" algn="l">
              <a:lnSpc>
                <a:spcPct val="90000"/>
              </a:lnSpc>
              <a:spcBef>
                <a:spcPts val="1000"/>
              </a:spcBef>
              <a:spcAft>
                <a:spcPts val="0"/>
              </a:spcAft>
              <a:buClr>
                <a:schemeClr val="dk1"/>
              </a:buClr>
              <a:buSzPct val="100000"/>
              <a:buNone/>
            </a:pPr>
            <a:r>
              <a:rPr lang="en-US"/>
              <a:t>   This can be achieved by defining an acceptable, lower level of competence.</a:t>
            </a:r>
            <a:endParaRPr/>
          </a:p>
          <a:p>
            <a:pPr indent="-228600" lvl="0" marL="228600" rtl="0" algn="l">
              <a:lnSpc>
                <a:spcPct val="90000"/>
              </a:lnSpc>
              <a:spcBef>
                <a:spcPts val="1000"/>
              </a:spcBef>
              <a:spcAft>
                <a:spcPts val="0"/>
              </a:spcAft>
              <a:buClr>
                <a:schemeClr val="dk1"/>
              </a:buClr>
              <a:buSzPct val="100000"/>
              <a:buChar char="•"/>
            </a:pPr>
            <a:r>
              <a:rPr lang="en-US"/>
              <a:t>For personnel to be able to move up to the minimum acceptable level of competence, it is important to identify and support an effective training</a:t>
            </a:r>
            <a:endParaRPr/>
          </a:p>
          <a:p>
            <a:pPr indent="0" lvl="0" marL="0" rtl="0" algn="l">
              <a:lnSpc>
                <a:spcPct val="90000"/>
              </a:lnSpc>
              <a:spcBef>
                <a:spcPts val="1000"/>
              </a:spcBef>
              <a:spcAft>
                <a:spcPts val="0"/>
              </a:spcAft>
              <a:buClr>
                <a:schemeClr val="dk1"/>
              </a:buClr>
              <a:buSzPct val="100000"/>
              <a:buNone/>
            </a:pPr>
            <a:r>
              <a:rPr lang="en-US"/>
              <a:t>   program. The effectiveness of the training program must be evaluated on</a:t>
            </a:r>
            <a:endParaRPr/>
          </a:p>
          <a:p>
            <a:pPr indent="0" lvl="0" marL="0" rtl="0" algn="l">
              <a:lnSpc>
                <a:spcPct val="90000"/>
              </a:lnSpc>
              <a:spcBef>
                <a:spcPts val="1000"/>
              </a:spcBef>
              <a:spcAft>
                <a:spcPts val="0"/>
              </a:spcAft>
              <a:buClr>
                <a:schemeClr val="dk1"/>
              </a:buClr>
              <a:buSzPct val="100000"/>
              <a:buNone/>
            </a:pPr>
            <a:r>
              <a:rPr lang="en-US"/>
              <a:t>  a continual basis.</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39"/>
          <p:cNvSpPr txBox="1"/>
          <p:nvPr>
            <p:ph type="title"/>
          </p:nvPr>
        </p:nvSpPr>
        <p:spPr>
          <a:xfrm>
            <a:off x="923290" y="-102870"/>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Realization Requirements</a:t>
            </a:r>
            <a:endParaRPr/>
          </a:p>
        </p:txBody>
      </p:sp>
      <p:sp>
        <p:nvSpPr>
          <p:cNvPr id="382" name="Google Shape;382;p39"/>
          <p:cNvSpPr txBox="1"/>
          <p:nvPr>
            <p:ph idx="1" type="body"/>
          </p:nvPr>
        </p:nvSpPr>
        <p:spPr>
          <a:xfrm>
            <a:off x="838200" y="952500"/>
            <a:ext cx="10515600" cy="5224780"/>
          </a:xfrm>
          <a:prstGeom prst="rect">
            <a:avLst/>
          </a:prstGeom>
          <a:noFill/>
          <a:ln>
            <a:noFill/>
          </a:ln>
        </p:spPr>
        <p:txBody>
          <a:bodyPr anchorCtr="0" anchor="t" bIns="45700" lIns="91425" spcFirstLastPara="1" rIns="91425" wrap="square" tIns="45700">
            <a:normAutofit fontScale="80000"/>
          </a:bodyPr>
          <a:lstStyle/>
          <a:p>
            <a:pPr indent="-228600" lvl="0" marL="228600" rtl="0" algn="l">
              <a:lnSpc>
                <a:spcPct val="90000"/>
              </a:lnSpc>
              <a:spcBef>
                <a:spcPts val="0"/>
              </a:spcBef>
              <a:spcAft>
                <a:spcPts val="0"/>
              </a:spcAft>
              <a:buClr>
                <a:schemeClr val="dk1"/>
              </a:buClr>
              <a:buSzPct val="100000"/>
              <a:buChar char="•"/>
            </a:pPr>
            <a:r>
              <a:rPr lang="en-US"/>
              <a:t>This part deals with processes that transform customer requirements into products. The reader may note that not much has changed from ISO 9001:1994 to ISO 9001:2000 in the realization part. </a:t>
            </a:r>
            <a:endParaRPr/>
          </a:p>
          <a:p>
            <a:pPr indent="-228600" lvl="0" marL="228600" rtl="0" algn="l">
              <a:lnSpc>
                <a:spcPct val="90000"/>
              </a:lnSpc>
              <a:spcBef>
                <a:spcPts val="1000"/>
              </a:spcBef>
              <a:spcAft>
                <a:spcPts val="0"/>
              </a:spcAft>
              <a:buClr>
                <a:schemeClr val="dk1"/>
              </a:buClr>
              <a:buSzPct val="100000"/>
              <a:buChar char="•"/>
            </a:pPr>
            <a:r>
              <a:rPr lang="en-US"/>
              <a:t>The key elements of the realization part are as follows:</a:t>
            </a:r>
            <a:endParaRPr/>
          </a:p>
          <a:p>
            <a:pPr indent="-514350" lvl="0" marL="514350" rtl="0" algn="l">
              <a:lnSpc>
                <a:spcPct val="90000"/>
              </a:lnSpc>
              <a:spcBef>
                <a:spcPts val="1000"/>
              </a:spcBef>
              <a:spcAft>
                <a:spcPts val="0"/>
              </a:spcAft>
              <a:buClr>
                <a:srgbClr val="FF0000"/>
              </a:buClr>
              <a:buSzPct val="100000"/>
              <a:buAutoNum type="arabicPeriod"/>
            </a:pPr>
            <a:r>
              <a:rPr lang="en-US">
                <a:solidFill>
                  <a:srgbClr val="FF0000"/>
                </a:solidFill>
              </a:rPr>
              <a:t>Develop a plan to realize a product from its requirements.</a:t>
            </a:r>
            <a:r>
              <a:rPr lang="en-US"/>
              <a:t> The important elements of such a plan are identification of the processes needed to develop a product, sequencing the processes, and controlling the processes. Product quality objectives and methods to control quality during development are identified during planning.</a:t>
            </a:r>
            <a:endParaRPr/>
          </a:p>
          <a:p>
            <a:pPr indent="-514350" lvl="0" marL="514350" rtl="0" algn="l">
              <a:lnSpc>
                <a:spcPct val="90000"/>
              </a:lnSpc>
              <a:spcBef>
                <a:spcPts val="1000"/>
              </a:spcBef>
              <a:spcAft>
                <a:spcPts val="0"/>
              </a:spcAft>
              <a:buClr>
                <a:srgbClr val="FF0000"/>
              </a:buClr>
              <a:buSzPct val="100000"/>
              <a:buAutoNum type="arabicPeriod"/>
            </a:pPr>
            <a:r>
              <a:rPr lang="en-US">
                <a:solidFill>
                  <a:srgbClr val="FF0000"/>
                </a:solidFill>
              </a:rPr>
              <a:t>To realize a product for a customer, much interaction with the customer is necessary to understand and capture the requirements.</a:t>
            </a:r>
            <a:r>
              <a:rPr lang="en-US"/>
              <a:t> Capturing requirements for a product involves identifying different categories of requirements, such as requirements generated by the customers, requirements necessitated by the product’s use, requirements imposed by external agencies, and requirements deemed to be useful to the organization itself.</a:t>
            </a:r>
            <a:endParaRPr/>
          </a:p>
          <a:p>
            <a:pPr indent="-86360"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40"/>
          <p:cNvSpPr txBox="1"/>
          <p:nvPr>
            <p:ph idx="1" type="body"/>
          </p:nvPr>
        </p:nvSpPr>
        <p:spPr>
          <a:xfrm>
            <a:off x="838200" y="154305"/>
            <a:ext cx="10515600" cy="640651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000"/>
              <a:buNone/>
            </a:pPr>
            <a:r>
              <a:rPr lang="en-US" sz="2000"/>
              <a:t>3. </a:t>
            </a:r>
            <a:r>
              <a:rPr lang="en-US" sz="2000">
                <a:solidFill>
                  <a:srgbClr val="FF0000"/>
                </a:solidFill>
              </a:rPr>
              <a:t>Review the customers’ requirements before committing to the project.</a:t>
            </a:r>
            <a:r>
              <a:rPr lang="en-US" sz="2000"/>
              <a:t>Requirements that are not likely to be met should be rejected in this phase.Moreover, develop a process for communicating with the customers. It is important to involve the customers in all phases of product development.</a:t>
            </a:r>
            <a:endParaRPr sz="2000"/>
          </a:p>
          <a:p>
            <a:pPr indent="-228600" lvl="0" marL="228600" rtl="0" algn="l">
              <a:lnSpc>
                <a:spcPct val="90000"/>
              </a:lnSpc>
              <a:spcBef>
                <a:spcPts val="1000"/>
              </a:spcBef>
              <a:spcAft>
                <a:spcPts val="0"/>
              </a:spcAft>
              <a:buClr>
                <a:schemeClr val="dk1"/>
              </a:buClr>
              <a:buSzPts val="2000"/>
              <a:buChar char="•"/>
            </a:pPr>
            <a:r>
              <a:rPr lang="en-US" sz="2000"/>
              <a:t>Once requirements are reviewed and accepted, product design and development take place:</a:t>
            </a:r>
            <a:endParaRPr sz="2000"/>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388" name="Google Shape;388;p40"/>
          <p:cNvPicPr preferRelativeResize="0"/>
          <p:nvPr/>
        </p:nvPicPr>
        <p:blipFill rotWithShape="1">
          <a:blip r:embed="rId3">
            <a:alphaModFix/>
          </a:blip>
          <a:srcRect b="0" l="0" r="0" t="0"/>
          <a:stretch/>
        </p:blipFill>
        <p:spPr>
          <a:xfrm>
            <a:off x="1354455" y="1726565"/>
            <a:ext cx="9813290" cy="497205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Remedial Requirements</a:t>
            </a:r>
            <a:endParaRPr/>
          </a:p>
        </p:txBody>
      </p:sp>
      <p:sp>
        <p:nvSpPr>
          <p:cNvPr id="394" name="Google Shape;394;p4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This part is concerned with measurement,analysis of measured data, and continual improvement. </a:t>
            </a:r>
            <a:endParaRPr/>
          </a:p>
          <a:p>
            <a:pPr indent="-228600" lvl="0" marL="228600" rtl="0" algn="l">
              <a:lnSpc>
                <a:spcPct val="90000"/>
              </a:lnSpc>
              <a:spcBef>
                <a:spcPts val="1000"/>
              </a:spcBef>
              <a:spcAft>
                <a:spcPts val="0"/>
              </a:spcAft>
              <a:buClr>
                <a:schemeClr val="dk1"/>
              </a:buClr>
              <a:buSzPts val="2800"/>
              <a:buChar char="•"/>
            </a:pPr>
            <a:r>
              <a:rPr lang="en-US"/>
              <a:t>Measurement of performance indicators of processes allows one to determine how well a process is performing. </a:t>
            </a:r>
            <a:endParaRPr/>
          </a:p>
          <a:p>
            <a:pPr indent="-228600" lvl="0" marL="228600" rtl="0" algn="l">
              <a:lnSpc>
                <a:spcPct val="90000"/>
              </a:lnSpc>
              <a:spcBef>
                <a:spcPts val="1000"/>
              </a:spcBef>
              <a:spcAft>
                <a:spcPts val="0"/>
              </a:spcAft>
              <a:buClr>
                <a:schemeClr val="dk1"/>
              </a:buClr>
              <a:buSzPts val="2800"/>
              <a:buChar char="•"/>
            </a:pPr>
            <a:r>
              <a:rPr lang="en-US"/>
              <a:t>If it is observed that a process is performing below the desired level, then corrective action can be taken to improve the performance of the process.</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BASIC IDEA IN SOFTWARE PROCESS</a:t>
            </a:r>
            <a:endParaRPr/>
          </a:p>
        </p:txBody>
      </p:sp>
      <p:sp>
        <p:nvSpPr>
          <p:cNvPr id="400" name="Google Shape;400;p4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0000"/>
          </a:bodyPr>
          <a:lstStyle/>
          <a:p>
            <a:pPr indent="-228600" lvl="0" marL="228600" rtl="0" algn="l">
              <a:lnSpc>
                <a:spcPct val="90000"/>
              </a:lnSpc>
              <a:spcBef>
                <a:spcPts val="0"/>
              </a:spcBef>
              <a:spcAft>
                <a:spcPts val="0"/>
              </a:spcAft>
              <a:buClr>
                <a:schemeClr val="dk1"/>
              </a:buClr>
              <a:buSzPct val="100000"/>
              <a:buChar char="•"/>
            </a:pPr>
            <a:r>
              <a:rPr lang="en-US"/>
              <a:t>The concept of a process plays an important role in today’s software development. Without a repeatable process, the only repeatable results you are likely to produce are errors.</a:t>
            </a:r>
            <a:endParaRPr/>
          </a:p>
          <a:p>
            <a:pPr indent="-228600" lvl="0" marL="228600" rtl="0" algn="l">
              <a:lnSpc>
                <a:spcPct val="90000"/>
              </a:lnSpc>
              <a:spcBef>
                <a:spcPts val="1000"/>
              </a:spcBef>
              <a:spcAft>
                <a:spcPts val="0"/>
              </a:spcAft>
              <a:buClr>
                <a:schemeClr val="dk1"/>
              </a:buClr>
              <a:buSzPct val="100000"/>
              <a:buChar char="•"/>
            </a:pPr>
            <a:r>
              <a:rPr lang="en-US"/>
              <a:t>In the software engineering context, a process comprises a set of activities that are executed to develop software products. </a:t>
            </a:r>
            <a:endParaRPr/>
          </a:p>
          <a:p>
            <a:pPr indent="-228600" lvl="0" marL="228600" rtl="0" algn="l">
              <a:lnSpc>
                <a:spcPct val="90000"/>
              </a:lnSpc>
              <a:spcBef>
                <a:spcPts val="1000"/>
              </a:spcBef>
              <a:spcAft>
                <a:spcPts val="0"/>
              </a:spcAft>
              <a:buClr>
                <a:schemeClr val="dk1"/>
              </a:buClr>
              <a:buSzPct val="100000"/>
              <a:buChar char="•"/>
            </a:pPr>
            <a:r>
              <a:rPr lang="en-US"/>
              <a:t>The activities find expressions in the form of methods, techniques, strategies, procedures, and practices.</a:t>
            </a:r>
            <a:endParaRPr/>
          </a:p>
          <a:p>
            <a:pPr indent="-228600" lvl="0" marL="228600" rtl="0" algn="l">
              <a:lnSpc>
                <a:spcPct val="90000"/>
              </a:lnSpc>
              <a:spcBef>
                <a:spcPts val="1000"/>
              </a:spcBef>
              <a:spcAft>
                <a:spcPts val="0"/>
              </a:spcAft>
              <a:buClr>
                <a:schemeClr val="dk1"/>
              </a:buClr>
              <a:buSzPct val="100000"/>
              <a:buChar char="•"/>
            </a:pPr>
            <a:r>
              <a:rPr lang="en-US"/>
              <a:t>Those activities heavily rely on information repositories such as documents, standards, and policies. </a:t>
            </a:r>
            <a:endParaRPr/>
          </a:p>
          <a:p>
            <a:pPr indent="-228600" lvl="0" marL="228600" rtl="0" algn="l">
              <a:lnSpc>
                <a:spcPct val="90000"/>
              </a:lnSpc>
              <a:spcBef>
                <a:spcPts val="1000"/>
              </a:spcBef>
              <a:spcAft>
                <a:spcPts val="0"/>
              </a:spcAft>
              <a:buClr>
                <a:schemeClr val="dk1"/>
              </a:buClr>
              <a:buSzPct val="100000"/>
              <a:buChar char="•"/>
            </a:pPr>
            <a:r>
              <a:rPr lang="en-US"/>
              <a:t>Different processes are driven by different goals and availability of resources.</a:t>
            </a:r>
            <a:endParaRPr/>
          </a:p>
          <a:p>
            <a:pPr indent="-68579"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43"/>
          <p:cNvSpPr txBox="1"/>
          <p:nvPr>
            <p:ph idx="1" type="body"/>
          </p:nvPr>
        </p:nvSpPr>
        <p:spPr>
          <a:xfrm>
            <a:off x="838200" y="281305"/>
            <a:ext cx="10515600" cy="5895975"/>
          </a:xfrm>
          <a:prstGeom prst="rect">
            <a:avLst/>
          </a:prstGeom>
          <a:noFill/>
          <a:ln>
            <a:noFill/>
          </a:ln>
        </p:spPr>
        <p:txBody>
          <a:bodyPr anchorCtr="0" anchor="t" bIns="45700" lIns="91425" spcFirstLastPara="1" rIns="91425" wrap="square" tIns="45700">
            <a:normAutofit fontScale="90000"/>
          </a:bodyPr>
          <a:lstStyle/>
          <a:p>
            <a:pPr indent="-228600" lvl="0" marL="228600" rtl="0" algn="l">
              <a:lnSpc>
                <a:spcPct val="90000"/>
              </a:lnSpc>
              <a:spcBef>
                <a:spcPts val="0"/>
              </a:spcBef>
              <a:spcAft>
                <a:spcPts val="0"/>
              </a:spcAft>
              <a:buClr>
                <a:schemeClr val="dk1"/>
              </a:buClr>
              <a:buSzPct val="100000"/>
              <a:buChar char="•"/>
            </a:pPr>
            <a:r>
              <a:rPr lang="en-US"/>
              <a:t>The concept of a process is applied not just to develop source code, but to other software-related products, such as a project plan, requirements document, design document, and user manual, as well.</a:t>
            </a:r>
            <a:endParaRPr/>
          </a:p>
          <a:p>
            <a:pPr indent="-228600" lvl="0" marL="228600" rtl="0" algn="l">
              <a:lnSpc>
                <a:spcPct val="90000"/>
              </a:lnSpc>
              <a:spcBef>
                <a:spcPts val="1000"/>
              </a:spcBef>
              <a:spcAft>
                <a:spcPts val="0"/>
              </a:spcAft>
              <a:buClr>
                <a:schemeClr val="dk1"/>
              </a:buClr>
              <a:buSzPct val="100000"/>
              <a:buChar char="•"/>
            </a:pPr>
            <a:r>
              <a:rPr lang="en-US"/>
              <a:t>It is effective to follow a defined process because of the following benefits:</a:t>
            </a:r>
            <a:endParaRPr/>
          </a:p>
          <a:p>
            <a:pPr indent="-514350" lvl="0" marL="514350" rtl="0" algn="l">
              <a:lnSpc>
                <a:spcPct val="90000"/>
              </a:lnSpc>
              <a:spcBef>
                <a:spcPts val="1000"/>
              </a:spcBef>
              <a:spcAft>
                <a:spcPts val="0"/>
              </a:spcAft>
              <a:buClr>
                <a:schemeClr val="dk1"/>
              </a:buClr>
              <a:buSzPct val="100000"/>
              <a:buAutoNum type="arabicPeriod"/>
            </a:pPr>
            <a:r>
              <a:rPr lang="en-US"/>
              <a:t>The process can be repeated in subsequent projects.</a:t>
            </a:r>
            <a:endParaRPr/>
          </a:p>
          <a:p>
            <a:pPr indent="-514350" lvl="0" marL="514350" rtl="0" algn="l">
              <a:lnSpc>
                <a:spcPct val="90000"/>
              </a:lnSpc>
              <a:spcBef>
                <a:spcPts val="1000"/>
              </a:spcBef>
              <a:spcAft>
                <a:spcPts val="0"/>
              </a:spcAft>
              <a:buClr>
                <a:schemeClr val="dk1"/>
              </a:buClr>
              <a:buSzPct val="100000"/>
              <a:buAutoNum type="arabicPeriod"/>
            </a:pPr>
            <a:r>
              <a:rPr lang="en-US"/>
              <a:t>The process can be evaluated by using a variety of metrics, such as cost,quality, and time to deliver a product.</a:t>
            </a:r>
            <a:endParaRPr/>
          </a:p>
          <a:p>
            <a:pPr indent="-514350" lvl="0" marL="514350" rtl="0" algn="l">
              <a:lnSpc>
                <a:spcPct val="90000"/>
              </a:lnSpc>
              <a:spcBef>
                <a:spcPts val="1000"/>
              </a:spcBef>
              <a:spcAft>
                <a:spcPts val="0"/>
              </a:spcAft>
              <a:buClr>
                <a:schemeClr val="dk1"/>
              </a:buClr>
              <a:buSzPct val="100000"/>
              <a:buAutoNum type="arabicPeriod"/>
            </a:pPr>
            <a:r>
              <a:rPr lang="en-US"/>
              <a:t> Actions can be taken to improve the process to achieve better results.</a:t>
            </a:r>
            <a:endParaRPr/>
          </a:p>
          <a:p>
            <a:pPr indent="-228600" lvl="0" marL="228600" rtl="0" algn="l">
              <a:lnSpc>
                <a:spcPct val="90000"/>
              </a:lnSpc>
              <a:spcBef>
                <a:spcPts val="1000"/>
              </a:spcBef>
              <a:spcAft>
                <a:spcPts val="0"/>
              </a:spcAft>
              <a:buClr>
                <a:schemeClr val="dk1"/>
              </a:buClr>
              <a:buSzPct val="100000"/>
              <a:buChar char="•"/>
            </a:pPr>
            <a:r>
              <a:rPr lang="en-US"/>
              <a:t>A process for software development consists of several different processes for its different component tasks. For example, gathering the requirements of a system,constructing a functional specification of a system, designing a system, testing a system, and maintaining a system are different tasks to be performed in the life cycle of a software system.</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4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CMM (Capability Maturity Model):</a:t>
            </a:r>
            <a:endParaRPr/>
          </a:p>
        </p:txBody>
      </p:sp>
      <p:sp>
        <p:nvSpPr>
          <p:cNvPr id="411" name="Google Shape;411;p4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 framework that helps organizations improve their software development processes by measuring their maturity level across key areas (initial, managed, defined, quantitatively managed, and optimizing).</a:t>
            </a:r>
            <a:endParaRPr/>
          </a:p>
          <a:p>
            <a:pPr indent="-228600" lvl="0" marL="228600" rtl="0" algn="l">
              <a:lnSpc>
                <a:spcPct val="90000"/>
              </a:lnSpc>
              <a:spcBef>
                <a:spcPts val="1000"/>
              </a:spcBef>
              <a:spcAft>
                <a:spcPts val="0"/>
              </a:spcAft>
              <a:buClr>
                <a:schemeClr val="dk1"/>
              </a:buClr>
              <a:buSzPts val="2800"/>
              <a:buChar char="•"/>
            </a:pPr>
            <a:r>
              <a:rPr lang="en-US"/>
              <a:t>CMM has been evolved into CMMI (Capability Maturity Model Integration) for broader applications across various industries.</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45"/>
          <p:cNvSpPr txBox="1"/>
          <p:nvPr>
            <p:ph type="title"/>
          </p:nvPr>
        </p:nvSpPr>
        <p:spPr>
          <a:xfrm>
            <a:off x="838200" y="280670"/>
            <a:ext cx="10515600" cy="101663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CMM (Capability Maturity Model):</a:t>
            </a:r>
            <a:endParaRPr/>
          </a:p>
        </p:txBody>
      </p:sp>
      <p:sp>
        <p:nvSpPr>
          <p:cNvPr id="417" name="Google Shape;417;p45"/>
          <p:cNvSpPr txBox="1"/>
          <p:nvPr>
            <p:ph idx="1" type="body"/>
          </p:nvPr>
        </p:nvSpPr>
        <p:spPr>
          <a:xfrm>
            <a:off x="838200" y="1399540"/>
            <a:ext cx="10515600" cy="4777740"/>
          </a:xfrm>
          <a:prstGeom prst="rect">
            <a:avLst/>
          </a:prstGeom>
          <a:noFill/>
          <a:ln>
            <a:noFill/>
          </a:ln>
        </p:spPr>
        <p:txBody>
          <a:bodyPr anchorCtr="0" anchor="t" bIns="45700" lIns="91425" spcFirstLastPara="1" rIns="91425" wrap="square" tIns="45700">
            <a:normAutofit fontScale="90000" lnSpcReduction="20000"/>
          </a:bodyPr>
          <a:lstStyle/>
          <a:p>
            <a:pPr indent="-228600" lvl="0" marL="228600" rtl="0" algn="l">
              <a:lnSpc>
                <a:spcPct val="90000"/>
              </a:lnSpc>
              <a:spcBef>
                <a:spcPts val="0"/>
              </a:spcBef>
              <a:spcAft>
                <a:spcPts val="0"/>
              </a:spcAft>
              <a:buClr>
                <a:schemeClr val="dk1"/>
              </a:buClr>
              <a:buSzPct val="100000"/>
              <a:buChar char="•"/>
            </a:pPr>
            <a:r>
              <a:rPr lang="en-US"/>
              <a:t>In software development processes we seek three desirable attributes as follows:</a:t>
            </a:r>
            <a:endParaRPr/>
          </a:p>
          <a:p>
            <a:pPr indent="0" lvl="0" marL="0" rtl="0" algn="l">
              <a:lnSpc>
                <a:spcPct val="90000"/>
              </a:lnSpc>
              <a:spcBef>
                <a:spcPts val="1000"/>
              </a:spcBef>
              <a:spcAft>
                <a:spcPts val="0"/>
              </a:spcAft>
              <a:buClr>
                <a:schemeClr val="dk1"/>
              </a:buClr>
              <a:buSzPct val="100000"/>
              <a:buNone/>
            </a:pPr>
            <a:r>
              <a:rPr lang="en-US"/>
              <a:t>1. The products are of the highest quality. Ideally, a product should be free of  defects. However, in practice, a small number of defects with less severe consequences are generally tolerated.</a:t>
            </a:r>
            <a:endParaRPr/>
          </a:p>
          <a:p>
            <a:pPr indent="0" lvl="0" marL="0" rtl="0" algn="l">
              <a:lnSpc>
                <a:spcPct val="90000"/>
              </a:lnSpc>
              <a:spcBef>
                <a:spcPts val="1000"/>
              </a:spcBef>
              <a:spcAft>
                <a:spcPts val="0"/>
              </a:spcAft>
              <a:buClr>
                <a:schemeClr val="dk1"/>
              </a:buClr>
              <a:buSzPct val="100000"/>
              <a:buNone/>
            </a:pPr>
            <a:r>
              <a:rPr lang="en-US"/>
              <a:t>2. Projects are completed according to their plans, including the schedules.</a:t>
            </a:r>
            <a:endParaRPr/>
          </a:p>
          <a:p>
            <a:pPr indent="0" lvl="0" marL="0" rtl="0" algn="l">
              <a:lnSpc>
                <a:spcPct val="90000"/>
              </a:lnSpc>
              <a:spcBef>
                <a:spcPts val="1000"/>
              </a:spcBef>
              <a:spcAft>
                <a:spcPts val="0"/>
              </a:spcAft>
              <a:buClr>
                <a:schemeClr val="dk1"/>
              </a:buClr>
              <a:buSzPct val="100000"/>
              <a:buNone/>
            </a:pPr>
            <a:r>
              <a:rPr lang="en-US"/>
              <a:t>3. Projects are completed within the allocated budgets.</a:t>
            </a:r>
            <a:endParaRPr/>
          </a:p>
          <a:p>
            <a:pPr indent="-228600" lvl="0" marL="228600" rtl="0" algn="l">
              <a:lnSpc>
                <a:spcPct val="90000"/>
              </a:lnSpc>
              <a:spcBef>
                <a:spcPts val="1000"/>
              </a:spcBef>
              <a:spcAft>
                <a:spcPts val="0"/>
              </a:spcAft>
              <a:buClr>
                <a:schemeClr val="dk1"/>
              </a:buClr>
              <a:buSzPct val="100000"/>
              <a:buChar char="•"/>
            </a:pPr>
            <a:r>
              <a:rPr lang="en-US"/>
              <a:t>Developers of large software products rarely achieve the above three attributes. </a:t>
            </a:r>
            <a:endParaRPr/>
          </a:p>
          <a:p>
            <a:pPr indent="-228600" lvl="0" marL="228600" rtl="0" algn="l">
              <a:lnSpc>
                <a:spcPct val="90000"/>
              </a:lnSpc>
              <a:spcBef>
                <a:spcPts val="1000"/>
              </a:spcBef>
              <a:spcAft>
                <a:spcPts val="0"/>
              </a:spcAft>
              <a:buClr>
                <a:schemeClr val="dk1"/>
              </a:buClr>
              <a:buSzPct val="100000"/>
              <a:buChar char="•"/>
            </a:pPr>
            <a:r>
              <a:rPr lang="en-US"/>
              <a:t>Due to the complex nature of software systems, products are released with known and unknown defects. </a:t>
            </a:r>
            <a:endParaRPr/>
          </a:p>
          <a:p>
            <a:pPr indent="-228600" lvl="0" marL="228600" rtl="0" algn="l">
              <a:lnSpc>
                <a:spcPct val="90000"/>
              </a:lnSpc>
              <a:spcBef>
                <a:spcPts val="1000"/>
              </a:spcBef>
              <a:spcAft>
                <a:spcPts val="0"/>
              </a:spcAft>
              <a:buClr>
                <a:schemeClr val="dk1"/>
              </a:buClr>
              <a:buSzPct val="100000"/>
              <a:buChar char="•"/>
            </a:pPr>
            <a:r>
              <a:rPr lang="en-US"/>
              <a:t>The unknown defects manifest themselves as unexpected failures during field operation, that is, when we know that the system was released with unknown defects.</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46"/>
          <p:cNvSpPr txBox="1"/>
          <p:nvPr>
            <p:ph idx="1" type="body"/>
          </p:nvPr>
        </p:nvSpPr>
        <p:spPr>
          <a:xfrm>
            <a:off x="838200" y="431165"/>
            <a:ext cx="10515600" cy="5746115"/>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The maturity level of a development process tells us to what extent the organization is capable of producing low-cost, high-quality software. </a:t>
            </a:r>
            <a:endParaRPr/>
          </a:p>
          <a:p>
            <a:pPr indent="-228600" lvl="0" marL="228600" rtl="0" algn="l">
              <a:lnSpc>
                <a:spcPct val="90000"/>
              </a:lnSpc>
              <a:spcBef>
                <a:spcPts val="1000"/>
              </a:spcBef>
              <a:spcAft>
                <a:spcPts val="0"/>
              </a:spcAft>
              <a:buClr>
                <a:schemeClr val="dk1"/>
              </a:buClr>
              <a:buSzPts val="2800"/>
              <a:buChar char="•"/>
            </a:pPr>
            <a:r>
              <a:rPr lang="en-US"/>
              <a:t>Therefore the evaluation framework is the CMM. After evaluating the current maturity level of a development process, organizations can work on improving the process to achieve the next higher level of process maturity.</a:t>
            </a:r>
            <a:endParaRPr/>
          </a:p>
          <a:p>
            <a:pPr indent="-228600" lvl="0" marL="228600" rtl="0" algn="l">
              <a:lnSpc>
                <a:spcPct val="90000"/>
              </a:lnSpc>
              <a:spcBef>
                <a:spcPts val="1000"/>
              </a:spcBef>
              <a:spcAft>
                <a:spcPts val="0"/>
              </a:spcAft>
              <a:buClr>
                <a:schemeClr val="dk1"/>
              </a:buClr>
              <a:buSzPts val="2800"/>
              <a:buChar char="•"/>
            </a:pPr>
            <a:r>
              <a:rPr lang="en-US"/>
              <a:t>In the CMM framework, a process has five maturity levels. Before going into the details of different maturity levels, it is useful to have a glimpse of an immature process—an organization can be considered to be immature if it follows immature processes</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47"/>
          <p:cNvSpPr txBox="1"/>
          <p:nvPr>
            <p:ph type="title"/>
          </p:nvPr>
        </p:nvSpPr>
        <p:spPr>
          <a:xfrm>
            <a:off x="838200" y="190500"/>
            <a:ext cx="10515600" cy="84836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CMM Architecture</a:t>
            </a:r>
            <a:endParaRPr/>
          </a:p>
        </p:txBody>
      </p:sp>
      <p:sp>
        <p:nvSpPr>
          <p:cNvPr id="428" name="Google Shape;428;p47"/>
          <p:cNvSpPr txBox="1"/>
          <p:nvPr>
            <p:ph idx="1" type="body"/>
          </p:nvPr>
        </p:nvSpPr>
        <p:spPr>
          <a:xfrm>
            <a:off x="838200" y="1292860"/>
            <a:ext cx="10515600" cy="488442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 maturity level indicates process capability and contains key process areas (KPAs).The KPAs for each level are listed in Figure 18.2.</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429" name="Google Shape;429;p47"/>
          <p:cNvPicPr preferRelativeResize="0"/>
          <p:nvPr/>
        </p:nvPicPr>
        <p:blipFill rotWithShape="1">
          <a:blip r:embed="rId3">
            <a:alphaModFix/>
          </a:blip>
          <a:srcRect b="0" l="0" r="0" t="0"/>
          <a:stretch/>
        </p:blipFill>
        <p:spPr>
          <a:xfrm>
            <a:off x="2818765" y="2077720"/>
            <a:ext cx="7526655" cy="3628390"/>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435" name="Google Shape;435;p48"/>
          <p:cNvPicPr preferRelativeResize="0"/>
          <p:nvPr>
            <p:ph idx="1" type="body"/>
          </p:nvPr>
        </p:nvPicPr>
        <p:blipFill rotWithShape="1">
          <a:blip r:embed="rId3">
            <a:alphaModFix/>
          </a:blip>
          <a:srcRect b="0" l="0" r="0" t="0"/>
          <a:stretch/>
        </p:blipFill>
        <p:spPr>
          <a:xfrm>
            <a:off x="1240155" y="206375"/>
            <a:ext cx="8383270" cy="495173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49"/>
          <p:cNvSpPr txBox="1"/>
          <p:nvPr>
            <p:ph idx="1" type="body"/>
          </p:nvPr>
        </p:nvSpPr>
        <p:spPr>
          <a:xfrm>
            <a:off x="838200" y="218440"/>
            <a:ext cx="10515600" cy="5958840"/>
          </a:xfrm>
          <a:prstGeom prst="rect">
            <a:avLst/>
          </a:prstGeom>
          <a:noFill/>
          <a:ln>
            <a:noFill/>
          </a:ln>
        </p:spPr>
        <p:txBody>
          <a:bodyPr anchorCtr="0" anchor="t" bIns="45700" lIns="91425" spcFirstLastPara="1" rIns="91425" wrap="square" tIns="45700">
            <a:normAutofit lnSpcReduction="20000"/>
          </a:bodyPr>
          <a:lstStyle/>
          <a:p>
            <a:pPr indent="-228600" lvl="0" marL="228600" rtl="0" algn="l">
              <a:lnSpc>
                <a:spcPct val="90000"/>
              </a:lnSpc>
              <a:spcBef>
                <a:spcPts val="0"/>
              </a:spcBef>
              <a:spcAft>
                <a:spcPts val="0"/>
              </a:spcAft>
              <a:buClr>
                <a:schemeClr val="dk1"/>
              </a:buClr>
              <a:buSzPts val="2800"/>
              <a:buChar char="•"/>
            </a:pPr>
            <a:r>
              <a:rPr lang="en-US"/>
              <a:t>A maturity level indicates process capability and contains key process areas (KPAs).</a:t>
            </a:r>
            <a:endParaRPr/>
          </a:p>
          <a:p>
            <a:pPr indent="-228600" lvl="0" marL="228600" rtl="0" algn="l">
              <a:lnSpc>
                <a:spcPct val="90000"/>
              </a:lnSpc>
              <a:spcBef>
                <a:spcPts val="1000"/>
              </a:spcBef>
              <a:spcAft>
                <a:spcPts val="0"/>
              </a:spcAft>
              <a:buClr>
                <a:schemeClr val="dk1"/>
              </a:buClr>
              <a:buSzPts val="2800"/>
              <a:buChar char="•"/>
            </a:pPr>
            <a:r>
              <a:rPr lang="en-US"/>
              <a:t>Key process areas are expected to achieve goals and are organized by</a:t>
            </a:r>
            <a:endParaRPr/>
          </a:p>
          <a:p>
            <a:pPr indent="0" lvl="0" marL="0" rtl="0" algn="l">
              <a:lnSpc>
                <a:spcPct val="90000"/>
              </a:lnSpc>
              <a:spcBef>
                <a:spcPts val="1000"/>
              </a:spcBef>
              <a:spcAft>
                <a:spcPts val="0"/>
              </a:spcAft>
              <a:buClr>
                <a:schemeClr val="dk1"/>
              </a:buClr>
              <a:buSzPts val="2800"/>
              <a:buNone/>
            </a:pPr>
            <a:r>
              <a:rPr lang="en-US"/>
              <a:t>   common features.</a:t>
            </a:r>
            <a:endParaRPr/>
          </a:p>
          <a:p>
            <a:pPr indent="0" lvl="0" marL="0" rtl="0" algn="l">
              <a:lnSpc>
                <a:spcPct val="90000"/>
              </a:lnSpc>
              <a:spcBef>
                <a:spcPts val="1000"/>
              </a:spcBef>
              <a:spcAft>
                <a:spcPts val="0"/>
              </a:spcAft>
              <a:buClr>
                <a:schemeClr val="dk1"/>
              </a:buClr>
              <a:buSzPts val="2800"/>
              <a:buNone/>
            </a:pPr>
            <a:r>
              <a:rPr lang="en-US"/>
              <a:t>• Common features contain key practices and address implementation  or institutionalization of the key practices.</a:t>
            </a:r>
            <a:endParaRPr/>
          </a:p>
          <a:p>
            <a:pPr indent="0" lvl="0" marL="0" rtl="0" algn="l">
              <a:lnSpc>
                <a:spcPct val="90000"/>
              </a:lnSpc>
              <a:spcBef>
                <a:spcPts val="1000"/>
              </a:spcBef>
              <a:spcAft>
                <a:spcPts val="0"/>
              </a:spcAft>
              <a:buClr>
                <a:schemeClr val="dk1"/>
              </a:buClr>
              <a:buSzPts val="2800"/>
              <a:buNone/>
            </a:pPr>
            <a:r>
              <a:rPr lang="en-US"/>
              <a:t>• Key practices describe infrastructure or activities.</a:t>
            </a:r>
            <a:endParaRPr/>
          </a:p>
          <a:p>
            <a:pPr indent="0" lvl="0" marL="0" rtl="0" algn="l">
              <a:lnSpc>
                <a:spcPct val="90000"/>
              </a:lnSpc>
              <a:spcBef>
                <a:spcPts val="1000"/>
              </a:spcBef>
              <a:spcAft>
                <a:spcPts val="0"/>
              </a:spcAft>
              <a:buClr>
                <a:schemeClr val="dk1"/>
              </a:buClr>
              <a:buSzPts val="2800"/>
              <a:buNone/>
            </a:pPr>
            <a:r>
              <a:rPr lang="en-US"/>
              <a:t>• When the key practices are followed, the goals of the KPAs are expected to be achieved.</a:t>
            </a:r>
            <a:endParaRPr/>
          </a:p>
          <a:p>
            <a:pPr indent="0" lvl="0" marL="0" rtl="0" algn="l">
              <a:lnSpc>
                <a:spcPct val="90000"/>
              </a:lnSpc>
              <a:spcBef>
                <a:spcPts val="1000"/>
              </a:spcBef>
              <a:spcAft>
                <a:spcPts val="0"/>
              </a:spcAft>
              <a:buClr>
                <a:schemeClr val="dk1"/>
              </a:buClr>
              <a:buSzPts val="2800"/>
              <a:buNone/>
            </a:pPr>
            <a:r>
              <a:rPr lang="en-US"/>
              <a:t>• A maturity level is reached by meeting all the goals of all the KPAs at that level.</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50"/>
          <p:cNvSpPr txBox="1"/>
          <p:nvPr>
            <p:ph type="title"/>
          </p:nvPr>
        </p:nvSpPr>
        <p:spPr>
          <a:xfrm>
            <a:off x="955675" y="255270"/>
            <a:ext cx="10515600" cy="77279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Five Levels of Maturity and Key Process Areas</a:t>
            </a:r>
            <a:endParaRPr/>
          </a:p>
        </p:txBody>
      </p:sp>
      <p:sp>
        <p:nvSpPr>
          <p:cNvPr id="446" name="Google Shape;446;p50"/>
          <p:cNvSpPr txBox="1"/>
          <p:nvPr>
            <p:ph idx="1" type="body"/>
          </p:nvPr>
        </p:nvSpPr>
        <p:spPr>
          <a:xfrm>
            <a:off x="838200" y="1346200"/>
            <a:ext cx="10515600" cy="4831080"/>
          </a:xfrm>
          <a:prstGeom prst="rect">
            <a:avLst/>
          </a:prstGeom>
          <a:noFill/>
          <a:ln>
            <a:noFill/>
          </a:ln>
        </p:spPr>
        <p:txBody>
          <a:bodyPr anchorCtr="0" anchor="t" bIns="45700" lIns="91425" spcFirstLastPara="1" rIns="91425" wrap="square" tIns="45700">
            <a:normAutofit fontScale="80000"/>
          </a:bodyPr>
          <a:lstStyle/>
          <a:p>
            <a:pPr indent="-228600" lvl="0" marL="228600" rtl="0" algn="l">
              <a:lnSpc>
                <a:spcPct val="90000"/>
              </a:lnSpc>
              <a:spcBef>
                <a:spcPts val="0"/>
              </a:spcBef>
              <a:spcAft>
                <a:spcPts val="0"/>
              </a:spcAft>
              <a:buClr>
                <a:schemeClr val="dk1"/>
              </a:buClr>
              <a:buSzPct val="100000"/>
              <a:buChar char="•"/>
            </a:pPr>
            <a:r>
              <a:rPr lang="en-US"/>
              <a:t>Level 1: Initial At this level, software is developed by following no process model. There is not much planning involved. Even if a plan is prepared, it may not be followed. Individuals make decisions based on their own capabilities and skills.</a:t>
            </a:r>
            <a:endParaRPr/>
          </a:p>
          <a:p>
            <a:pPr indent="-228600" lvl="0" marL="228600" rtl="0" algn="l">
              <a:lnSpc>
                <a:spcPct val="90000"/>
              </a:lnSpc>
              <a:spcBef>
                <a:spcPts val="1000"/>
              </a:spcBef>
              <a:spcAft>
                <a:spcPts val="0"/>
              </a:spcAft>
              <a:buClr>
                <a:schemeClr val="dk1"/>
              </a:buClr>
              <a:buSzPct val="100000"/>
              <a:buChar char="•"/>
            </a:pPr>
            <a:r>
              <a:rPr lang="en-US"/>
              <a:t>There is no KPA associated with level 1. An organization reaches level 1 without making any effort.</a:t>
            </a:r>
            <a:endParaRPr/>
          </a:p>
          <a:p>
            <a:pPr indent="-228600" lvl="0" marL="228600" rtl="0" algn="l">
              <a:lnSpc>
                <a:spcPct val="90000"/>
              </a:lnSpc>
              <a:spcBef>
                <a:spcPts val="1000"/>
              </a:spcBef>
              <a:spcAft>
                <a:spcPts val="0"/>
              </a:spcAft>
              <a:buClr>
                <a:schemeClr val="dk1"/>
              </a:buClr>
              <a:buSzPct val="100000"/>
              <a:buChar char="•"/>
            </a:pPr>
            <a:r>
              <a:rPr lang="en-US"/>
              <a:t>Level 2: Repeatable At this level, the concept of a process exists so that success</a:t>
            </a:r>
            <a:endParaRPr/>
          </a:p>
          <a:p>
            <a:pPr indent="0" lvl="0" marL="0" rtl="0" algn="l">
              <a:lnSpc>
                <a:spcPct val="90000"/>
              </a:lnSpc>
              <a:spcBef>
                <a:spcPts val="1000"/>
              </a:spcBef>
              <a:spcAft>
                <a:spcPts val="0"/>
              </a:spcAft>
              <a:buClr>
                <a:schemeClr val="dk1"/>
              </a:buClr>
              <a:buSzPct val="100000"/>
              <a:buNone/>
            </a:pPr>
            <a:r>
              <a:rPr lang="en-US"/>
              <a:t>  can be repeated for similar projects. Performance of the proven activities of past</a:t>
            </a:r>
            <a:endParaRPr/>
          </a:p>
          <a:p>
            <a:pPr indent="0" lvl="0" marL="0" rtl="0" algn="l">
              <a:lnSpc>
                <a:spcPct val="90000"/>
              </a:lnSpc>
              <a:spcBef>
                <a:spcPts val="1000"/>
              </a:spcBef>
              <a:spcAft>
                <a:spcPts val="0"/>
              </a:spcAft>
              <a:buClr>
                <a:schemeClr val="dk1"/>
              </a:buClr>
              <a:buSzPct val="100000"/>
              <a:buNone/>
            </a:pPr>
            <a:r>
              <a:rPr lang="en-US"/>
              <a:t>  projects is used to prepare plans for future projects. This level can be summarized</a:t>
            </a:r>
            <a:endParaRPr/>
          </a:p>
          <a:p>
            <a:pPr indent="0" lvl="0" marL="0" rtl="0" algn="l">
              <a:lnSpc>
                <a:spcPct val="90000"/>
              </a:lnSpc>
              <a:spcBef>
                <a:spcPts val="1000"/>
              </a:spcBef>
              <a:spcAft>
                <a:spcPts val="0"/>
              </a:spcAft>
              <a:buClr>
                <a:schemeClr val="dk1"/>
              </a:buClr>
              <a:buSzPct val="100000"/>
              <a:buNone/>
            </a:pPr>
            <a:r>
              <a:rPr lang="en-US"/>
              <a:t>  as being disciplined because processes are used for repeatability. All the processes</a:t>
            </a:r>
            <a:endParaRPr/>
          </a:p>
          <a:p>
            <a:pPr indent="0" lvl="0" marL="0" rtl="0" algn="l">
              <a:lnSpc>
                <a:spcPct val="90000"/>
              </a:lnSpc>
              <a:spcBef>
                <a:spcPts val="1000"/>
              </a:spcBef>
              <a:spcAft>
                <a:spcPts val="0"/>
              </a:spcAft>
              <a:buClr>
                <a:schemeClr val="dk1"/>
              </a:buClr>
              <a:buSzPct val="100000"/>
              <a:buNone/>
            </a:pPr>
            <a:r>
              <a:rPr lang="en-US"/>
              <a:t>  are under the effective control of a project management system. The KPAs at level 2</a:t>
            </a:r>
            <a:endParaRPr/>
          </a:p>
          <a:p>
            <a:pPr indent="0" lvl="0" marL="0" rtl="0" algn="l">
              <a:lnSpc>
                <a:spcPct val="90000"/>
              </a:lnSpc>
              <a:spcBef>
                <a:spcPts val="1000"/>
              </a:spcBef>
              <a:spcAft>
                <a:spcPts val="0"/>
              </a:spcAft>
              <a:buClr>
                <a:schemeClr val="dk1"/>
              </a:buClr>
              <a:buSzPct val="100000"/>
              <a:buNone/>
            </a:pPr>
            <a:r>
              <a:rPr lang="en-US"/>
              <a:t>  are as follows:</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5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452" name="Google Shape;452;p51"/>
          <p:cNvPicPr preferRelativeResize="0"/>
          <p:nvPr>
            <p:ph idx="1" type="body"/>
          </p:nvPr>
        </p:nvPicPr>
        <p:blipFill rotWithShape="1">
          <a:blip r:embed="rId3">
            <a:alphaModFix/>
          </a:blip>
          <a:srcRect b="0" l="0" r="0" t="0"/>
          <a:stretch/>
        </p:blipFill>
        <p:spPr>
          <a:xfrm>
            <a:off x="231140" y="119380"/>
            <a:ext cx="11673840" cy="6496685"/>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52"/>
          <p:cNvSpPr txBox="1"/>
          <p:nvPr>
            <p:ph idx="1" type="body"/>
          </p:nvPr>
        </p:nvSpPr>
        <p:spPr>
          <a:xfrm>
            <a:off x="838200" y="281305"/>
            <a:ext cx="10515600" cy="589597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Level 3: Defined At this level, documentation plays a key role. Processes that are related to project management and software development activities are documented, reviewed, standardized, and integrated with organizational processes. </a:t>
            </a:r>
            <a:endParaRPr/>
          </a:p>
          <a:p>
            <a:pPr indent="-228600" lvl="0" marL="228600" rtl="0" algn="l">
              <a:lnSpc>
                <a:spcPct val="90000"/>
              </a:lnSpc>
              <a:spcBef>
                <a:spcPts val="1000"/>
              </a:spcBef>
              <a:spcAft>
                <a:spcPts val="0"/>
              </a:spcAft>
              <a:buClr>
                <a:schemeClr val="dk1"/>
              </a:buClr>
              <a:buSzPts val="2800"/>
              <a:buChar char="•"/>
            </a:pPr>
            <a:r>
              <a:rPr lang="en-US"/>
              <a:t>In other words, there is organizationwide acceptance of standard processes. </a:t>
            </a:r>
            <a:endParaRPr/>
          </a:p>
          <a:p>
            <a:pPr indent="-228600" lvl="0" marL="228600" rtl="0" algn="l">
              <a:lnSpc>
                <a:spcPct val="90000"/>
              </a:lnSpc>
              <a:spcBef>
                <a:spcPts val="1000"/>
              </a:spcBef>
              <a:spcAft>
                <a:spcPts val="0"/>
              </a:spcAft>
              <a:buClr>
                <a:schemeClr val="dk1"/>
              </a:buClr>
              <a:buSzPts val="2800"/>
              <a:buChar char="•"/>
            </a:pPr>
            <a:r>
              <a:rPr lang="en-US"/>
              <a:t>Software development is carried out by following an approved process. Functionalities and the associated qualities are tracked. Cost and schedule are monitored to keep them under control.</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5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463" name="Google Shape;463;p53"/>
          <p:cNvPicPr preferRelativeResize="0"/>
          <p:nvPr>
            <p:ph idx="1" type="body"/>
          </p:nvPr>
        </p:nvPicPr>
        <p:blipFill rotWithShape="1">
          <a:blip r:embed="rId3">
            <a:alphaModFix/>
          </a:blip>
          <a:srcRect b="0" l="0" r="0" t="0"/>
          <a:stretch/>
        </p:blipFill>
        <p:spPr>
          <a:xfrm>
            <a:off x="760730" y="290830"/>
            <a:ext cx="10400665" cy="6174740"/>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5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469" name="Google Shape;469;p54"/>
          <p:cNvPicPr preferRelativeResize="0"/>
          <p:nvPr>
            <p:ph idx="1" type="body"/>
          </p:nvPr>
        </p:nvPicPr>
        <p:blipFill rotWithShape="1">
          <a:blip r:embed="rId3">
            <a:alphaModFix/>
          </a:blip>
          <a:srcRect b="0" l="0" r="0" t="0"/>
          <a:stretch/>
        </p:blipFill>
        <p:spPr>
          <a:xfrm>
            <a:off x="838200" y="174625"/>
            <a:ext cx="10614660" cy="6066155"/>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55"/>
          <p:cNvSpPr txBox="1"/>
          <p:nvPr>
            <p:ph idx="1" type="body"/>
          </p:nvPr>
        </p:nvSpPr>
        <p:spPr>
          <a:xfrm>
            <a:off x="838200" y="697230"/>
            <a:ext cx="10515600" cy="548005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Level 4: Managed At this level, metrics play a key role. Metrics concerning processes and products are collected and analyzed. Those metrics are used to   gain quantitative insight into both process and product qualities. </a:t>
            </a:r>
            <a:endParaRPr/>
          </a:p>
          <a:p>
            <a:pPr indent="-228600" lvl="0" marL="228600" rtl="0" algn="l">
              <a:lnSpc>
                <a:spcPct val="90000"/>
              </a:lnSpc>
              <a:spcBef>
                <a:spcPts val="1000"/>
              </a:spcBef>
              <a:spcAft>
                <a:spcPts val="0"/>
              </a:spcAft>
              <a:buClr>
                <a:schemeClr val="dk1"/>
              </a:buClr>
              <a:buSzPts val="2800"/>
              <a:buChar char="•"/>
            </a:pPr>
            <a:r>
              <a:rPr lang="en-US"/>
              <a:t>When the metrics show that limits are being exceeded, corrective actions are triggered.</a:t>
            </a:r>
            <a:endParaRPr/>
          </a:p>
          <a:p>
            <a:pPr indent="-228600" lvl="0" marL="228600" rtl="0" algn="l">
              <a:lnSpc>
                <a:spcPct val="90000"/>
              </a:lnSpc>
              <a:spcBef>
                <a:spcPts val="1000"/>
              </a:spcBef>
              <a:spcAft>
                <a:spcPts val="0"/>
              </a:spcAft>
              <a:buClr>
                <a:schemeClr val="dk1"/>
              </a:buClr>
              <a:buSzPts val="2800"/>
              <a:buChar char="•"/>
            </a:pPr>
            <a:r>
              <a:rPr lang="en-US"/>
              <a:t> For example, if too many test cases fail during system testing, it is useful to start a process of root cause analysis to understand why so many tests are failing. The KPAs at level 4 are as follows:</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5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480" name="Google Shape;480;p56"/>
          <p:cNvPicPr preferRelativeResize="0"/>
          <p:nvPr>
            <p:ph idx="1" type="body"/>
          </p:nvPr>
        </p:nvPicPr>
        <p:blipFill rotWithShape="1">
          <a:blip r:embed="rId3">
            <a:alphaModFix/>
          </a:blip>
          <a:srcRect b="0" l="0" r="0" t="0"/>
          <a:stretch/>
        </p:blipFill>
        <p:spPr>
          <a:xfrm>
            <a:off x="625475" y="365125"/>
            <a:ext cx="10989945" cy="3675380"/>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57"/>
          <p:cNvSpPr txBox="1"/>
          <p:nvPr>
            <p:ph idx="1" type="body"/>
          </p:nvPr>
        </p:nvSpPr>
        <p:spPr>
          <a:xfrm>
            <a:off x="838200" y="398780"/>
            <a:ext cx="10515600" cy="57785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Level 5: Optimizing At this level, organizations strive to improve their processes on a continual basis. This is achieved in two steps: (i) Observe the effects of processes, by measuring a few key metrics, on the quality, cost, and lead time of software products and (ii) effect changes to the processes by introducing new techniques, methods, tools, and strategies. The following are the KPAs at level 5:</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486" name="Google Shape;486;p57"/>
          <p:cNvPicPr preferRelativeResize="0"/>
          <p:nvPr/>
        </p:nvPicPr>
        <p:blipFill rotWithShape="1">
          <a:blip r:embed="rId3">
            <a:alphaModFix/>
          </a:blip>
          <a:srcRect b="0" l="0" r="0" t="0"/>
          <a:stretch/>
        </p:blipFill>
        <p:spPr>
          <a:xfrm>
            <a:off x="837565" y="2907665"/>
            <a:ext cx="10620375" cy="3268980"/>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5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Six Sigma:</a:t>
            </a:r>
            <a:endParaRPr/>
          </a:p>
        </p:txBody>
      </p:sp>
      <p:sp>
        <p:nvSpPr>
          <p:cNvPr id="492" name="Google Shape;492;p5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Six Sigma is a set of methodologies and tools used to improve business processes by reducing defects and errors, minimizing variation, and increasing quality and efficiency</a:t>
            </a:r>
            <a:endParaRPr/>
          </a:p>
          <a:p>
            <a:pPr indent="-228600" lvl="0" marL="228600" rtl="0" algn="l">
              <a:lnSpc>
                <a:spcPct val="90000"/>
              </a:lnSpc>
              <a:spcBef>
                <a:spcPts val="1000"/>
              </a:spcBef>
              <a:spcAft>
                <a:spcPts val="0"/>
              </a:spcAft>
              <a:buClr>
                <a:schemeClr val="dk1"/>
              </a:buClr>
              <a:buSzPts val="2800"/>
              <a:buChar char="•"/>
            </a:pPr>
            <a:r>
              <a:rPr lang="en-US"/>
              <a:t>A data-driven approach to improving process quality by identifying and eliminating defects.</a:t>
            </a:r>
            <a:endParaRPr/>
          </a:p>
          <a:p>
            <a:pPr indent="-228600" lvl="0" marL="228600" rtl="0" algn="l">
              <a:lnSpc>
                <a:spcPct val="90000"/>
              </a:lnSpc>
              <a:spcBef>
                <a:spcPts val="1000"/>
              </a:spcBef>
              <a:spcAft>
                <a:spcPts val="0"/>
              </a:spcAft>
              <a:buClr>
                <a:schemeClr val="dk1"/>
              </a:buClr>
              <a:buSzPts val="2800"/>
              <a:buChar char="•"/>
            </a:pPr>
            <a:r>
              <a:rPr lang="en-US"/>
              <a:t>Six Sigma uses the DMAIC (Define, Measure, Analyze, Improve, Control) methodology to enhance processes.</a:t>
            </a:r>
            <a:endParaRPr/>
          </a:p>
          <a:p>
            <a:pPr indent="-228600" lvl="0" marL="228600" rtl="0" algn="l">
              <a:lnSpc>
                <a:spcPct val="90000"/>
              </a:lnSpc>
              <a:spcBef>
                <a:spcPts val="1000"/>
              </a:spcBef>
              <a:spcAft>
                <a:spcPts val="0"/>
              </a:spcAft>
              <a:buClr>
                <a:schemeClr val="dk1"/>
              </a:buClr>
              <a:buSzPts val="2800"/>
              <a:buChar char="•"/>
            </a:pPr>
            <a:r>
              <a:rPr lang="en-US"/>
              <a:t>The goal is to reduce variation and ensure that processes produce outcomes that fall within the specified limits.</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59"/>
          <p:cNvSpPr txBox="1"/>
          <p:nvPr>
            <p:ph idx="1" type="body"/>
          </p:nvPr>
        </p:nvSpPr>
        <p:spPr>
          <a:xfrm>
            <a:off x="838200" y="398780"/>
            <a:ext cx="10515600" cy="57785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Six Sigma is different from the other processes in a way that it mainly concentrates on measuring the existing process while the other provides a way to create a new process for producing a product. </a:t>
            </a:r>
            <a:endParaRPr/>
          </a:p>
          <a:p>
            <a:pPr indent="-228600" lvl="0" marL="228600" rtl="0" algn="l">
              <a:lnSpc>
                <a:spcPct val="90000"/>
              </a:lnSpc>
              <a:spcBef>
                <a:spcPts val="1000"/>
              </a:spcBef>
              <a:spcAft>
                <a:spcPts val="0"/>
              </a:spcAft>
              <a:buClr>
                <a:schemeClr val="dk1"/>
              </a:buClr>
              <a:buSzPts val="2800"/>
              <a:buChar char="•"/>
            </a:pPr>
            <a:r>
              <a:rPr lang="en-US"/>
              <a:t>Six Sigma measures existing process and will modify it in a way that number of defects is reduced. </a:t>
            </a:r>
            <a:endParaRPr/>
          </a:p>
          <a:p>
            <a:pPr indent="-228600" lvl="0" marL="228600" rtl="0" algn="l">
              <a:lnSpc>
                <a:spcPct val="90000"/>
              </a:lnSpc>
              <a:spcBef>
                <a:spcPts val="1000"/>
              </a:spcBef>
              <a:spcAft>
                <a:spcPts val="0"/>
              </a:spcAft>
              <a:buClr>
                <a:schemeClr val="dk1"/>
              </a:buClr>
              <a:buSzPts val="2800"/>
              <a:buChar char="•"/>
            </a:pPr>
            <a:r>
              <a:rPr lang="en-US"/>
              <a:t>Using Six Sigma we can only reduce the number of defects but we cannot produce zero defective system.</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6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503" name="Google Shape;503;p60"/>
          <p:cNvPicPr preferRelativeResize="0"/>
          <p:nvPr>
            <p:ph idx="1" type="body"/>
          </p:nvPr>
        </p:nvPicPr>
        <p:blipFill rotWithShape="1">
          <a:blip r:embed="rId3">
            <a:alphaModFix/>
          </a:blip>
          <a:srcRect b="0" l="0" r="0" t="0"/>
          <a:stretch/>
        </p:blipFill>
        <p:spPr>
          <a:xfrm>
            <a:off x="722630" y="204470"/>
            <a:ext cx="10631170" cy="6304280"/>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6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509" name="Google Shape;509;p61"/>
          <p:cNvPicPr preferRelativeResize="0"/>
          <p:nvPr>
            <p:ph idx="1" type="body"/>
          </p:nvPr>
        </p:nvPicPr>
        <p:blipFill rotWithShape="1">
          <a:blip r:embed="rId3">
            <a:alphaModFix/>
          </a:blip>
          <a:srcRect b="0" l="0" r="0" t="0"/>
          <a:stretch/>
        </p:blipFill>
        <p:spPr>
          <a:xfrm>
            <a:off x="203835" y="365125"/>
            <a:ext cx="11710035" cy="6309995"/>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6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515" name="Google Shape;515;p62"/>
          <p:cNvPicPr preferRelativeResize="0"/>
          <p:nvPr>
            <p:ph idx="1" type="body"/>
          </p:nvPr>
        </p:nvPicPr>
        <p:blipFill rotWithShape="1">
          <a:blip r:embed="rId3">
            <a:alphaModFix/>
          </a:blip>
          <a:srcRect b="0" l="0" r="0" t="0"/>
          <a:stretch/>
        </p:blipFill>
        <p:spPr>
          <a:xfrm>
            <a:off x="384810" y="284480"/>
            <a:ext cx="11807825" cy="6123940"/>
          </a:xfrm>
          <a:prstGeom prst="rect">
            <a:avLst/>
          </a:prstGeom>
          <a:noFill/>
          <a:ln>
            <a:noFill/>
          </a:ln>
        </p:spPr>
      </p:pic>
      <p:sp>
        <p:nvSpPr>
          <p:cNvPr id="516" name="Google Shape;516;p62"/>
          <p:cNvSpPr txBox="1"/>
          <p:nvPr/>
        </p:nvSpPr>
        <p:spPr>
          <a:xfrm>
            <a:off x="13406120" y="4344035"/>
            <a:ext cx="4064000" cy="36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6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522" name="Google Shape;522;p63"/>
          <p:cNvPicPr preferRelativeResize="0"/>
          <p:nvPr>
            <p:ph idx="1" type="body"/>
          </p:nvPr>
        </p:nvPicPr>
        <p:blipFill rotWithShape="1">
          <a:blip r:embed="rId3">
            <a:alphaModFix/>
          </a:blip>
          <a:srcRect b="0" l="0" r="0" t="0"/>
          <a:stretch/>
        </p:blipFill>
        <p:spPr>
          <a:xfrm>
            <a:off x="142875" y="271780"/>
            <a:ext cx="11789410" cy="6276340"/>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6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528" name="Google Shape;528;p64"/>
          <p:cNvPicPr preferRelativeResize="0"/>
          <p:nvPr>
            <p:ph idx="1" type="body"/>
          </p:nvPr>
        </p:nvPicPr>
        <p:blipFill rotWithShape="1">
          <a:blip r:embed="rId3">
            <a:alphaModFix/>
          </a:blip>
          <a:srcRect b="0" l="0" r="0" t="0"/>
          <a:stretch/>
        </p:blipFill>
        <p:spPr>
          <a:xfrm>
            <a:off x="405765" y="123190"/>
            <a:ext cx="11507470" cy="6489065"/>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6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534" name="Google Shape;534;p65"/>
          <p:cNvPicPr preferRelativeResize="0"/>
          <p:nvPr>
            <p:ph idx="1" type="body"/>
          </p:nvPr>
        </p:nvPicPr>
        <p:blipFill rotWithShape="1">
          <a:blip r:embed="rId3">
            <a:alphaModFix/>
          </a:blip>
          <a:srcRect b="0" l="0" r="0" t="0"/>
          <a:stretch/>
        </p:blipFill>
        <p:spPr>
          <a:xfrm>
            <a:off x="223520" y="133350"/>
            <a:ext cx="11212830" cy="6590665"/>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6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540" name="Google Shape;540;p66"/>
          <p:cNvPicPr preferRelativeResize="0"/>
          <p:nvPr>
            <p:ph idx="1" type="body"/>
          </p:nvPr>
        </p:nvPicPr>
        <p:blipFill rotWithShape="1">
          <a:blip r:embed="rId3">
            <a:alphaModFix/>
          </a:blip>
          <a:srcRect b="0" l="0" r="0" t="0"/>
          <a:stretch/>
        </p:blipFill>
        <p:spPr>
          <a:xfrm>
            <a:off x="97790" y="635"/>
            <a:ext cx="11909425" cy="6762750"/>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6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546" name="Google Shape;546;p67"/>
          <p:cNvPicPr preferRelativeResize="0"/>
          <p:nvPr>
            <p:ph idx="1" type="body"/>
          </p:nvPr>
        </p:nvPicPr>
        <p:blipFill rotWithShape="1">
          <a:blip r:embed="rId3">
            <a:alphaModFix/>
          </a:blip>
          <a:srcRect b="0" l="0" r="0" t="0"/>
          <a:stretch/>
        </p:blipFill>
        <p:spPr>
          <a:xfrm>
            <a:off x="180340" y="301625"/>
            <a:ext cx="11562715" cy="6152515"/>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6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552" name="Google Shape;552;p68"/>
          <p:cNvPicPr preferRelativeResize="0"/>
          <p:nvPr>
            <p:ph idx="1" type="body"/>
          </p:nvPr>
        </p:nvPicPr>
        <p:blipFill rotWithShape="1">
          <a:blip r:embed="rId3">
            <a:alphaModFix/>
          </a:blip>
          <a:srcRect b="0" l="0" r="0" t="0"/>
          <a:stretch/>
        </p:blipFill>
        <p:spPr>
          <a:xfrm>
            <a:off x="118110" y="193675"/>
            <a:ext cx="11721465" cy="6282690"/>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6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558" name="Google Shape;558;p69"/>
          <p:cNvPicPr preferRelativeResize="0"/>
          <p:nvPr>
            <p:ph idx="1" type="body"/>
          </p:nvPr>
        </p:nvPicPr>
        <p:blipFill rotWithShape="1">
          <a:blip r:embed="rId3">
            <a:alphaModFix/>
          </a:blip>
          <a:srcRect b="0" l="0" r="0" t="0"/>
          <a:stretch/>
        </p:blipFill>
        <p:spPr>
          <a:xfrm>
            <a:off x="179070" y="0"/>
            <a:ext cx="11917045" cy="6662420"/>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7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564" name="Google Shape;564;p70"/>
          <p:cNvPicPr preferRelativeResize="0"/>
          <p:nvPr>
            <p:ph idx="1" type="body"/>
          </p:nvPr>
        </p:nvPicPr>
        <p:blipFill rotWithShape="1">
          <a:blip r:embed="rId3">
            <a:alphaModFix/>
          </a:blip>
          <a:srcRect b="0" l="0" r="0" t="0"/>
          <a:stretch/>
        </p:blipFill>
        <p:spPr>
          <a:xfrm>
            <a:off x="180340" y="0"/>
            <a:ext cx="11786870" cy="6515735"/>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7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570" name="Google Shape;570;p71"/>
          <p:cNvPicPr preferRelativeResize="0"/>
          <p:nvPr>
            <p:ph idx="1" type="body"/>
          </p:nvPr>
        </p:nvPicPr>
        <p:blipFill rotWithShape="1">
          <a:blip r:embed="rId3">
            <a:alphaModFix/>
          </a:blip>
          <a:srcRect b="0" l="0" r="0" t="0"/>
          <a:stretch/>
        </p:blipFill>
        <p:spPr>
          <a:xfrm>
            <a:off x="182245" y="87630"/>
            <a:ext cx="12155805" cy="6442710"/>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7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576" name="Google Shape;576;p72"/>
          <p:cNvPicPr preferRelativeResize="0"/>
          <p:nvPr>
            <p:ph idx="1" type="body"/>
          </p:nvPr>
        </p:nvPicPr>
        <p:blipFill rotWithShape="1">
          <a:blip r:embed="rId3">
            <a:alphaModFix/>
          </a:blip>
          <a:srcRect b="0" l="0" r="0" t="0"/>
          <a:stretch/>
        </p:blipFill>
        <p:spPr>
          <a:xfrm>
            <a:off x="275590" y="236855"/>
            <a:ext cx="11363325" cy="6228715"/>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7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582" name="Google Shape;582;p73"/>
          <p:cNvPicPr preferRelativeResize="0"/>
          <p:nvPr>
            <p:ph idx="1" type="body"/>
          </p:nvPr>
        </p:nvPicPr>
        <p:blipFill rotWithShape="1">
          <a:blip r:embed="rId3">
            <a:alphaModFix/>
          </a:blip>
          <a:srcRect b="0" l="0" r="0" t="0"/>
          <a:stretch/>
        </p:blipFill>
        <p:spPr>
          <a:xfrm>
            <a:off x="402590" y="147320"/>
            <a:ext cx="10735945" cy="6563995"/>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7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588" name="Google Shape;588;p74"/>
          <p:cNvPicPr preferRelativeResize="0"/>
          <p:nvPr>
            <p:ph idx="1" type="body"/>
          </p:nvPr>
        </p:nvPicPr>
        <p:blipFill rotWithShape="1">
          <a:blip r:embed="rId3">
            <a:alphaModFix/>
          </a:blip>
          <a:srcRect b="0" l="0" r="0" t="0"/>
          <a:stretch/>
        </p:blipFill>
        <p:spPr>
          <a:xfrm>
            <a:off x="340995" y="365125"/>
            <a:ext cx="11416665" cy="6039485"/>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7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594" name="Google Shape;594;p75"/>
          <p:cNvPicPr preferRelativeResize="0"/>
          <p:nvPr>
            <p:ph idx="1" type="body"/>
          </p:nvPr>
        </p:nvPicPr>
        <p:blipFill rotWithShape="1">
          <a:blip r:embed="rId3">
            <a:alphaModFix/>
          </a:blip>
          <a:srcRect b="0" l="0" r="0" t="0"/>
          <a:stretch/>
        </p:blipFill>
        <p:spPr>
          <a:xfrm>
            <a:off x="645795" y="209550"/>
            <a:ext cx="10579735" cy="6357620"/>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7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600" name="Google Shape;600;p76"/>
          <p:cNvPicPr preferRelativeResize="0"/>
          <p:nvPr>
            <p:ph idx="1" type="body"/>
          </p:nvPr>
        </p:nvPicPr>
        <p:blipFill rotWithShape="1">
          <a:blip r:embed="rId3">
            <a:alphaModFix/>
          </a:blip>
          <a:srcRect b="0" l="0" r="0" t="0"/>
          <a:stretch/>
        </p:blipFill>
        <p:spPr>
          <a:xfrm>
            <a:off x="773430" y="260985"/>
            <a:ext cx="10516870" cy="5904865"/>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7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606" name="Google Shape;606;p77"/>
          <p:cNvPicPr preferRelativeResize="0"/>
          <p:nvPr>
            <p:ph idx="1" type="body"/>
          </p:nvPr>
        </p:nvPicPr>
        <p:blipFill rotWithShape="1">
          <a:blip r:embed="rId3">
            <a:alphaModFix/>
          </a:blip>
          <a:srcRect b="0" l="0" r="0" t="0"/>
          <a:stretch/>
        </p:blipFill>
        <p:spPr>
          <a:xfrm>
            <a:off x="102870" y="215900"/>
            <a:ext cx="11579860" cy="6430645"/>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7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612" name="Google Shape;612;p78"/>
          <p:cNvPicPr preferRelativeResize="0"/>
          <p:nvPr>
            <p:ph idx="1" type="body"/>
          </p:nvPr>
        </p:nvPicPr>
        <p:blipFill rotWithShape="1">
          <a:blip r:embed="rId3">
            <a:alphaModFix/>
          </a:blip>
          <a:srcRect b="0" l="0" r="0" t="0"/>
          <a:stretch/>
        </p:blipFill>
        <p:spPr>
          <a:xfrm>
            <a:off x="125730" y="167005"/>
            <a:ext cx="11865610" cy="6518910"/>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7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618" name="Google Shape;618;p79"/>
          <p:cNvPicPr preferRelativeResize="0"/>
          <p:nvPr>
            <p:ph idx="1" type="body"/>
          </p:nvPr>
        </p:nvPicPr>
        <p:blipFill rotWithShape="1">
          <a:blip r:embed="rId3">
            <a:alphaModFix/>
          </a:blip>
          <a:srcRect b="0" l="0" r="0" t="0"/>
          <a:stretch/>
        </p:blipFill>
        <p:spPr>
          <a:xfrm>
            <a:off x="294640" y="255270"/>
            <a:ext cx="11271250" cy="6347460"/>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8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624" name="Google Shape;624;p80"/>
          <p:cNvPicPr preferRelativeResize="0"/>
          <p:nvPr>
            <p:ph idx="1" type="body"/>
          </p:nvPr>
        </p:nvPicPr>
        <p:blipFill rotWithShape="1">
          <a:blip r:embed="rId3">
            <a:alphaModFix/>
          </a:blip>
          <a:srcRect b="0" l="0" r="0" t="0"/>
          <a:stretch/>
        </p:blipFill>
        <p:spPr>
          <a:xfrm>
            <a:off x="139065" y="0"/>
            <a:ext cx="11423015" cy="6615430"/>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p8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630" name="Google Shape;630;p81"/>
          <p:cNvPicPr preferRelativeResize="0"/>
          <p:nvPr>
            <p:ph idx="1" type="body"/>
          </p:nvPr>
        </p:nvPicPr>
        <p:blipFill rotWithShape="1">
          <a:blip r:embed="rId3">
            <a:alphaModFix/>
          </a:blip>
          <a:srcRect b="0" l="0" r="0" t="0"/>
          <a:stretch/>
        </p:blipFill>
        <p:spPr>
          <a:xfrm>
            <a:off x="250825" y="248920"/>
            <a:ext cx="11445240" cy="6290945"/>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8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636" name="Google Shape;636;p82"/>
          <p:cNvPicPr preferRelativeResize="0"/>
          <p:nvPr>
            <p:ph idx="1" type="body"/>
          </p:nvPr>
        </p:nvPicPr>
        <p:blipFill rotWithShape="1">
          <a:blip r:embed="rId3">
            <a:alphaModFix/>
          </a:blip>
          <a:srcRect b="0" l="0" r="0" t="0"/>
          <a:stretch/>
        </p:blipFill>
        <p:spPr>
          <a:xfrm>
            <a:off x="431800" y="113665"/>
            <a:ext cx="11329035" cy="6369685"/>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8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642" name="Google Shape;642;p83"/>
          <p:cNvPicPr preferRelativeResize="0"/>
          <p:nvPr>
            <p:ph idx="1" type="body"/>
          </p:nvPr>
        </p:nvPicPr>
        <p:blipFill rotWithShape="1">
          <a:blip r:embed="rId3">
            <a:alphaModFix/>
          </a:blip>
          <a:srcRect b="0" l="0" r="0" t="0"/>
          <a:stretch/>
        </p:blipFill>
        <p:spPr>
          <a:xfrm>
            <a:off x="165735" y="127635"/>
            <a:ext cx="11518265" cy="6602730"/>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8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648" name="Google Shape;648;p84"/>
          <p:cNvPicPr preferRelativeResize="0"/>
          <p:nvPr>
            <p:ph idx="1" type="body"/>
          </p:nvPr>
        </p:nvPicPr>
        <p:blipFill rotWithShape="1">
          <a:blip r:embed="rId3">
            <a:alphaModFix/>
          </a:blip>
          <a:srcRect b="0" l="0" r="0" t="0"/>
          <a:stretch/>
        </p:blipFill>
        <p:spPr>
          <a:xfrm>
            <a:off x="382270" y="365125"/>
            <a:ext cx="11205845" cy="6039485"/>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8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654" name="Google Shape;654;p85"/>
          <p:cNvPicPr preferRelativeResize="0"/>
          <p:nvPr>
            <p:ph idx="1" type="body"/>
          </p:nvPr>
        </p:nvPicPr>
        <p:blipFill rotWithShape="1">
          <a:blip r:embed="rId3">
            <a:alphaModFix/>
          </a:blip>
          <a:srcRect b="0" l="0" r="0" t="0"/>
          <a:stretch/>
        </p:blipFill>
        <p:spPr>
          <a:xfrm>
            <a:off x="636270" y="365125"/>
            <a:ext cx="10403205" cy="5890895"/>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8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660" name="Google Shape;660;p86"/>
          <p:cNvPicPr preferRelativeResize="0"/>
          <p:nvPr>
            <p:ph idx="1" type="body"/>
          </p:nvPr>
        </p:nvPicPr>
        <p:blipFill rotWithShape="1">
          <a:blip r:embed="rId3">
            <a:alphaModFix/>
          </a:blip>
          <a:srcRect b="0" l="0" r="0" t="0"/>
          <a:stretch/>
        </p:blipFill>
        <p:spPr>
          <a:xfrm>
            <a:off x="466090" y="257810"/>
            <a:ext cx="10748010" cy="6091555"/>
          </a:xfrm>
          <a:prstGeom prst="rect">
            <a:avLst/>
          </a:prstGeom>
          <a:noFill/>
          <a:ln>
            <a:noFill/>
          </a:ln>
        </p:spPr>
      </p:pic>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8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666" name="Google Shape;666;p87"/>
          <p:cNvPicPr preferRelativeResize="0"/>
          <p:nvPr>
            <p:ph idx="1" type="body"/>
          </p:nvPr>
        </p:nvPicPr>
        <p:blipFill rotWithShape="1">
          <a:blip r:embed="rId3">
            <a:alphaModFix/>
          </a:blip>
          <a:srcRect b="0" l="0" r="0" t="0"/>
          <a:stretch/>
        </p:blipFill>
        <p:spPr>
          <a:xfrm>
            <a:off x="393700" y="259715"/>
            <a:ext cx="10960100" cy="6193155"/>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88"/>
          <p:cNvSpPr txBox="1"/>
          <p:nvPr>
            <p:ph type="title"/>
          </p:nvPr>
        </p:nvSpPr>
        <p:spPr>
          <a:xfrm>
            <a:off x="838200" y="77470"/>
            <a:ext cx="10515600" cy="1092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Why is It Six Sigma</a:t>
            </a:r>
            <a:endParaRPr/>
          </a:p>
        </p:txBody>
      </p:sp>
      <p:sp>
        <p:nvSpPr>
          <p:cNvPr id="672" name="Google Shape;672;p88"/>
          <p:cNvSpPr txBox="1"/>
          <p:nvPr>
            <p:ph idx="1" type="body"/>
          </p:nvPr>
        </p:nvSpPr>
        <p:spPr>
          <a:xfrm>
            <a:off x="752475" y="1169670"/>
            <a:ext cx="10994390" cy="435165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Six Sigma concentrates on the variation of data in a data set. </a:t>
            </a:r>
            <a:endParaRPr/>
          </a:p>
          <a:p>
            <a:pPr indent="-228600" lvl="0" marL="228600" rtl="0" algn="l">
              <a:lnSpc>
                <a:spcPct val="90000"/>
              </a:lnSpc>
              <a:spcBef>
                <a:spcPts val="1000"/>
              </a:spcBef>
              <a:spcAft>
                <a:spcPts val="0"/>
              </a:spcAft>
              <a:buClr>
                <a:schemeClr val="dk1"/>
              </a:buClr>
              <a:buSzPts val="2800"/>
              <a:buChar char="•"/>
            </a:pPr>
            <a:r>
              <a:rPr lang="en-US"/>
              <a:t>Variation of data will be in a very predictable manner, most  of  the  data  will fall  under the  middle.</a:t>
            </a:r>
            <a:endParaRPr/>
          </a:p>
          <a:p>
            <a:pPr indent="-228600" lvl="0" marL="228600" rtl="0" algn="l">
              <a:lnSpc>
                <a:spcPct val="90000"/>
              </a:lnSpc>
              <a:spcBef>
                <a:spcPts val="1000"/>
              </a:spcBef>
              <a:spcAft>
                <a:spcPts val="0"/>
              </a:spcAft>
              <a:buClr>
                <a:schemeClr val="dk1"/>
              </a:buClr>
              <a:buSzPts val="2800"/>
              <a:buChar char="•"/>
            </a:pPr>
            <a:r>
              <a:rPr lang="en-US"/>
              <a:t> We  measure variation in terms of Standard deviation.</a:t>
            </a:r>
            <a:endParaRPr/>
          </a:p>
          <a:p>
            <a:pPr indent="-228600" lvl="0" marL="228600" rtl="0" algn="l">
              <a:lnSpc>
                <a:spcPct val="90000"/>
              </a:lnSpc>
              <a:spcBef>
                <a:spcPts val="1000"/>
              </a:spcBef>
              <a:spcAft>
                <a:spcPts val="0"/>
              </a:spcAft>
              <a:buClr>
                <a:schemeClr val="dk1"/>
              </a:buClr>
              <a:buSzPts val="2800"/>
              <a:buChar char="•"/>
            </a:pPr>
            <a:r>
              <a:rPr lang="en-US"/>
              <a:t> “Standard deviation is a well-founded measure of the range of variation from the average  for  a  group  of  measurements”</a:t>
            </a:r>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89"/>
          <p:cNvSpPr txBox="1"/>
          <p:nvPr>
            <p:ph idx="1" type="body"/>
          </p:nvPr>
        </p:nvSpPr>
        <p:spPr>
          <a:xfrm>
            <a:off x="838200" y="377190"/>
            <a:ext cx="10515600" cy="6012180"/>
          </a:xfrm>
          <a:prstGeom prst="rect">
            <a:avLst/>
          </a:prstGeom>
          <a:noFill/>
          <a:ln>
            <a:noFill/>
          </a:ln>
        </p:spPr>
        <p:txBody>
          <a:bodyPr anchorCtr="0" anchor="t" bIns="45700" lIns="91425" spcFirstLastPara="1" rIns="91425" wrap="square" tIns="45700">
            <a:normAutofit fontScale="90000" lnSpcReduction="20000"/>
          </a:bodyPr>
          <a:lstStyle/>
          <a:p>
            <a:pPr indent="-228600" lvl="0" marL="228600" rtl="0" algn="l">
              <a:lnSpc>
                <a:spcPct val="90000"/>
              </a:lnSpc>
              <a:spcBef>
                <a:spcPts val="0"/>
              </a:spcBef>
              <a:spcAft>
                <a:spcPts val="0"/>
              </a:spcAft>
              <a:buClr>
                <a:schemeClr val="dk1"/>
              </a:buClr>
              <a:buSzPct val="100000"/>
              <a:buChar char="•"/>
            </a:pPr>
            <a:r>
              <a:rPr lang="en-US"/>
              <a:t>Six  Sigma  is  a  “process  measuring”  process  which typically  involves  seven  steps  and  has  a  feedback  loop. Those seven steps are </a:t>
            </a:r>
            <a:endParaRPr/>
          </a:p>
          <a:p>
            <a:pPr indent="0" lvl="0" marL="0" rtl="0" algn="l">
              <a:lnSpc>
                <a:spcPct val="90000"/>
              </a:lnSpc>
              <a:spcBef>
                <a:spcPts val="1000"/>
              </a:spcBef>
              <a:spcAft>
                <a:spcPts val="0"/>
              </a:spcAft>
              <a:buClr>
                <a:schemeClr val="dk1"/>
              </a:buClr>
              <a:buSzPct val="100000"/>
              <a:buNone/>
            </a:pPr>
            <a:r>
              <a:rPr lang="en-US"/>
              <a:t>1.  The first step is looking at the product in which we study what the product is, quality of the product and the way we are producing it. </a:t>
            </a:r>
            <a:endParaRPr/>
          </a:p>
          <a:p>
            <a:pPr indent="0" lvl="0" marL="0" rtl="0" algn="l">
              <a:lnSpc>
                <a:spcPct val="90000"/>
              </a:lnSpc>
              <a:spcBef>
                <a:spcPts val="1000"/>
              </a:spcBef>
              <a:spcAft>
                <a:spcPts val="0"/>
              </a:spcAft>
              <a:buClr>
                <a:schemeClr val="dk1"/>
              </a:buClr>
              <a:buSzPct val="100000"/>
              <a:buNone/>
            </a:pPr>
            <a:r>
              <a:rPr lang="en-US"/>
              <a:t>2.  Next, we try to  identify the  defects in the product. “Defect means anything that holds your product from being its best.”</a:t>
            </a:r>
            <a:endParaRPr/>
          </a:p>
          <a:p>
            <a:pPr indent="0" lvl="0" marL="0" rtl="0" algn="l">
              <a:lnSpc>
                <a:spcPct val="90000"/>
              </a:lnSpc>
              <a:spcBef>
                <a:spcPts val="1000"/>
              </a:spcBef>
              <a:spcAft>
                <a:spcPts val="0"/>
              </a:spcAft>
              <a:buClr>
                <a:schemeClr val="dk1"/>
              </a:buClr>
              <a:buSzPct val="100000"/>
              <a:buNone/>
            </a:pPr>
            <a:r>
              <a:rPr lang="en-US"/>
              <a:t>3.  After identifying the defects in the product, we  will look at the process. Here we understand the complete process which we are using to produce a product. If we have some defects in the product it is  very likely to have defects in the process that is used to produce that product.</a:t>
            </a:r>
            <a:endParaRPr/>
          </a:p>
          <a:p>
            <a:pPr indent="0" lvl="0" marL="0" rtl="0" algn="l">
              <a:lnSpc>
                <a:spcPct val="90000"/>
              </a:lnSpc>
              <a:spcBef>
                <a:spcPts val="1000"/>
              </a:spcBef>
              <a:spcAft>
                <a:spcPts val="0"/>
              </a:spcAft>
              <a:buClr>
                <a:schemeClr val="dk1"/>
              </a:buClr>
              <a:buSzPct val="100000"/>
              <a:buNone/>
            </a:pPr>
            <a:r>
              <a:rPr lang="en-US"/>
              <a:t> 4.  Then we identify the sources for the defects.  </a:t>
            </a:r>
            <a:endParaRPr/>
          </a:p>
          <a:p>
            <a:pPr indent="0" lvl="0" marL="0" rtl="0" algn="l">
              <a:lnSpc>
                <a:spcPct val="90000"/>
              </a:lnSpc>
              <a:spcBef>
                <a:spcPts val="1000"/>
              </a:spcBef>
              <a:spcAft>
                <a:spcPts val="0"/>
              </a:spcAft>
              <a:buClr>
                <a:schemeClr val="dk1"/>
              </a:buClr>
              <a:buSzPct val="100000"/>
              <a:buNone/>
            </a:pPr>
            <a:r>
              <a:rPr lang="en-US"/>
              <a:t>5.  Once we know the actual sources for the defects then we improve the existing process by eliminating the actual sources for defects.  </a:t>
            </a:r>
            <a:endParaRPr/>
          </a:p>
          <a:p>
            <a:pPr indent="0" lvl="0" marL="0" rtl="0" algn="l">
              <a:lnSpc>
                <a:spcPct val="90000"/>
              </a:lnSpc>
              <a:spcBef>
                <a:spcPts val="1000"/>
              </a:spcBef>
              <a:spcAft>
                <a:spcPts val="0"/>
              </a:spcAft>
              <a:buClr>
                <a:schemeClr val="dk1"/>
              </a:buClr>
              <a:buSzPct val="100000"/>
              <a:buNone/>
            </a:pPr>
            <a:r>
              <a:rPr lang="en-US"/>
              <a:t>6.  Then we will use the new process. </a:t>
            </a:r>
            <a:endParaRPr/>
          </a:p>
          <a:p>
            <a:pPr indent="0" lvl="0" marL="0" rtl="0" algn="l">
              <a:lnSpc>
                <a:spcPct val="90000"/>
              </a:lnSpc>
              <a:spcBef>
                <a:spcPts val="1000"/>
              </a:spcBef>
              <a:spcAft>
                <a:spcPts val="0"/>
              </a:spcAft>
              <a:buClr>
                <a:schemeClr val="dk1"/>
              </a:buClr>
              <a:buSzPct val="100000"/>
              <a:buNone/>
            </a:pPr>
            <a:r>
              <a:rPr lang="en-US"/>
              <a:t>7.  Again,  we  will  go  to  step  1  which  indicates  the feedback loop and also clearly states that Six Sigma is a continuous process and always tries to make process better and better</a:t>
            </a:r>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9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 Methodologies of Six Sigma</a:t>
            </a:r>
            <a:endParaRPr/>
          </a:p>
        </p:txBody>
      </p:sp>
      <p:sp>
        <p:nvSpPr>
          <p:cNvPr id="683" name="Google Shape;683;p9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There are two methodologies implemented by Six Sigma first one called DMIAV for improving the existing process, on  which  Six Sigma  mainly concentrates  on.  </a:t>
            </a:r>
            <a:endParaRPr/>
          </a:p>
          <a:p>
            <a:pPr indent="-228600" lvl="0" marL="228600" rtl="0" algn="l">
              <a:lnSpc>
                <a:spcPct val="90000"/>
              </a:lnSpc>
              <a:spcBef>
                <a:spcPts val="1000"/>
              </a:spcBef>
              <a:spcAft>
                <a:spcPts val="0"/>
              </a:spcAft>
              <a:buClr>
                <a:schemeClr val="dk1"/>
              </a:buClr>
              <a:buSzPts val="2800"/>
              <a:buChar char="•"/>
            </a:pPr>
            <a:r>
              <a:rPr lang="en-US"/>
              <a:t>Second one called Design for Six  Sigma (DFSS) used for  designing a new process for a new product.</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p91"/>
          <p:cNvSpPr txBox="1"/>
          <p:nvPr>
            <p:ph idx="1" type="body"/>
          </p:nvPr>
        </p:nvSpPr>
        <p:spPr>
          <a:xfrm>
            <a:off x="838200" y="473710"/>
            <a:ext cx="10515600" cy="570357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DMAIC (Define, Measure, Analyze, Improve and Control) -- Define: This phase still includes some more sub processes which are   Defining  the problem  in which  we define  the  actual target of the program   Defining the project in which we define the scope of the project   Defining  the  goal in which we  state the approach  of doing the project   Defining  the  boundary  conditions  in  which  the boundary of the project is defined so that our project does not go out of scope   Developing the project plan in which the project plan is prepared using the above statements    Initiating  the  plan  in  which  the  prepared  plan  is implemented</a:t>
            </a:r>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9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Addressing Quality Challenges:</a:t>
            </a:r>
            <a:endParaRPr/>
          </a:p>
        </p:txBody>
      </p:sp>
      <p:sp>
        <p:nvSpPr>
          <p:cNvPr id="694" name="Google Shape;694;p9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0000"/>
          </a:bodyPr>
          <a:lstStyle/>
          <a:p>
            <a:pPr indent="-228600" lvl="0" marL="228600" rtl="0" algn="l">
              <a:lnSpc>
                <a:spcPct val="90000"/>
              </a:lnSpc>
              <a:spcBef>
                <a:spcPts val="0"/>
              </a:spcBef>
              <a:spcAft>
                <a:spcPts val="0"/>
              </a:spcAft>
              <a:buClr>
                <a:schemeClr val="dk1"/>
              </a:buClr>
              <a:buSzPct val="100000"/>
              <a:buChar char="•"/>
            </a:pPr>
            <a:r>
              <a:rPr lang="en-US"/>
              <a:t>Resource Constraints: Limited resources (time, budget, manpower) can affect the quality of the end product.</a:t>
            </a:r>
            <a:endParaRPr/>
          </a:p>
          <a:p>
            <a:pPr indent="-228600" lvl="0" marL="228600" rtl="0" algn="l">
              <a:lnSpc>
                <a:spcPct val="90000"/>
              </a:lnSpc>
              <a:spcBef>
                <a:spcPts val="1000"/>
              </a:spcBef>
              <a:spcAft>
                <a:spcPts val="0"/>
              </a:spcAft>
              <a:buClr>
                <a:schemeClr val="dk1"/>
              </a:buClr>
              <a:buSzPct val="100000"/>
              <a:buChar char="•"/>
            </a:pPr>
            <a:r>
              <a:rPr lang="en-US"/>
              <a:t>Changing Requirements: As customer needs and market conditions evolve, maintaining consistent quality can be a challenge.</a:t>
            </a:r>
            <a:endParaRPr/>
          </a:p>
          <a:p>
            <a:pPr indent="-228600" lvl="0" marL="228600" rtl="0" algn="l">
              <a:lnSpc>
                <a:spcPct val="90000"/>
              </a:lnSpc>
              <a:spcBef>
                <a:spcPts val="1000"/>
              </a:spcBef>
              <a:spcAft>
                <a:spcPts val="0"/>
              </a:spcAft>
              <a:buClr>
                <a:schemeClr val="dk1"/>
              </a:buClr>
              <a:buSzPct val="100000"/>
              <a:buChar char="•"/>
            </a:pPr>
            <a:r>
              <a:rPr lang="en-US"/>
              <a:t>Resistance to Change: Employees may resist new processes, methodologies, or quality improvements.</a:t>
            </a:r>
            <a:endParaRPr/>
          </a:p>
          <a:p>
            <a:pPr indent="-228600" lvl="0" marL="228600" rtl="0" algn="l">
              <a:lnSpc>
                <a:spcPct val="90000"/>
              </a:lnSpc>
              <a:spcBef>
                <a:spcPts val="1000"/>
              </a:spcBef>
              <a:spcAft>
                <a:spcPts val="0"/>
              </a:spcAft>
              <a:buClr>
                <a:schemeClr val="dk1"/>
              </a:buClr>
              <a:buSzPct val="100000"/>
              <a:buChar char="•"/>
            </a:pPr>
            <a:r>
              <a:rPr lang="en-US"/>
              <a:t>Data Collection &amp; Analysis: Insufficient or poor data collection can lead to incorrect decisions and undermine quality improvements.</a:t>
            </a:r>
            <a:endParaRPr/>
          </a:p>
          <a:p>
            <a:pPr indent="-228600" lvl="0" marL="228600" rtl="0" algn="l">
              <a:lnSpc>
                <a:spcPct val="90000"/>
              </a:lnSpc>
              <a:spcBef>
                <a:spcPts val="1000"/>
              </a:spcBef>
              <a:spcAft>
                <a:spcPts val="0"/>
              </a:spcAft>
              <a:buClr>
                <a:schemeClr val="dk1"/>
              </a:buClr>
              <a:buSzPct val="100000"/>
              <a:buChar char="•"/>
            </a:pPr>
            <a:r>
              <a:rPr lang="en-US"/>
              <a:t>Lack of Training: Without ongoing training and skills development, employees may not be equipped to meet quality standards.</a:t>
            </a:r>
            <a:endParaRPr/>
          </a:p>
          <a:p>
            <a:pPr indent="-228600" lvl="0" marL="228600" rtl="0" algn="l">
              <a:lnSpc>
                <a:spcPct val="90000"/>
              </a:lnSpc>
              <a:spcBef>
                <a:spcPts val="1000"/>
              </a:spcBef>
              <a:spcAft>
                <a:spcPts val="0"/>
              </a:spcAft>
              <a:buClr>
                <a:schemeClr val="dk1"/>
              </a:buClr>
              <a:buSzPct val="100000"/>
              <a:buChar char="•"/>
            </a:pPr>
            <a:r>
              <a:rPr lang="en-US"/>
              <a:t>Supplier Issues: Poor quality materials or unreliable suppliers can negatively affect the quality of the final product.</a:t>
            </a:r>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9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700" name="Google Shape;700;p93"/>
          <p:cNvPicPr preferRelativeResize="0"/>
          <p:nvPr>
            <p:ph idx="1" type="body"/>
          </p:nvPr>
        </p:nvPicPr>
        <p:blipFill rotWithShape="1">
          <a:blip r:embed="rId3">
            <a:alphaModFix/>
          </a:blip>
          <a:srcRect b="0" l="0" r="0" t="0"/>
          <a:stretch/>
        </p:blipFill>
        <p:spPr>
          <a:xfrm>
            <a:off x="635" y="154305"/>
            <a:ext cx="11675745" cy="6703695"/>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9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706" name="Google Shape;706;p94"/>
          <p:cNvPicPr preferRelativeResize="0"/>
          <p:nvPr>
            <p:ph idx="1" type="body"/>
          </p:nvPr>
        </p:nvPicPr>
        <p:blipFill rotWithShape="1">
          <a:blip r:embed="rId3">
            <a:alphaModFix/>
          </a:blip>
          <a:srcRect b="0" l="0" r="0" t="0"/>
          <a:stretch/>
        </p:blipFill>
        <p:spPr>
          <a:xfrm>
            <a:off x="-635" y="0"/>
            <a:ext cx="12192000" cy="6858635"/>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p9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Significance of National Quality Awards:</a:t>
            </a:r>
            <a:endParaRPr/>
          </a:p>
        </p:txBody>
      </p:sp>
      <p:sp>
        <p:nvSpPr>
          <p:cNvPr id="712" name="Google Shape;712;p9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0000" lnSpcReduction="10000"/>
          </a:bodyPr>
          <a:lstStyle/>
          <a:p>
            <a:pPr indent="-228600" lvl="0" marL="228600" rtl="0" algn="l">
              <a:lnSpc>
                <a:spcPct val="90000"/>
              </a:lnSpc>
              <a:spcBef>
                <a:spcPts val="0"/>
              </a:spcBef>
              <a:spcAft>
                <a:spcPts val="0"/>
              </a:spcAft>
              <a:buClr>
                <a:schemeClr val="dk1"/>
              </a:buClr>
              <a:buSzPct val="100000"/>
              <a:buChar char="•"/>
            </a:pPr>
            <a:r>
              <a:rPr lang="en-US"/>
              <a:t>Recognition of Excellence: National quality awards highlight organizations that excel in quality management and serve as role models for others.</a:t>
            </a:r>
            <a:endParaRPr/>
          </a:p>
          <a:p>
            <a:pPr indent="-228600" lvl="0" marL="228600" rtl="0" algn="l">
              <a:lnSpc>
                <a:spcPct val="90000"/>
              </a:lnSpc>
              <a:spcBef>
                <a:spcPts val="1000"/>
              </a:spcBef>
              <a:spcAft>
                <a:spcPts val="0"/>
              </a:spcAft>
              <a:buClr>
                <a:schemeClr val="dk1"/>
              </a:buClr>
              <a:buSzPct val="100000"/>
              <a:buChar char="•"/>
            </a:pPr>
            <a:r>
              <a:rPr lang="en-US"/>
              <a:t>Continuous Improvement: They promote a culture of continuous improvement by encouraging organizations to assess and improve their quality management systems.</a:t>
            </a:r>
            <a:endParaRPr/>
          </a:p>
          <a:p>
            <a:pPr indent="-228600" lvl="0" marL="228600" rtl="0" algn="l">
              <a:lnSpc>
                <a:spcPct val="90000"/>
              </a:lnSpc>
              <a:spcBef>
                <a:spcPts val="1000"/>
              </a:spcBef>
              <a:spcAft>
                <a:spcPts val="0"/>
              </a:spcAft>
              <a:buClr>
                <a:schemeClr val="dk1"/>
              </a:buClr>
              <a:buSzPct val="100000"/>
              <a:buChar char="•"/>
            </a:pPr>
            <a:r>
              <a:rPr lang="en-US"/>
              <a:t>Benchmarking: Companies can use these awards as benchmarks to measure their performance against industry leaders.</a:t>
            </a:r>
            <a:endParaRPr/>
          </a:p>
          <a:p>
            <a:pPr indent="-228600" lvl="0" marL="228600" rtl="0" algn="l">
              <a:lnSpc>
                <a:spcPct val="90000"/>
              </a:lnSpc>
              <a:spcBef>
                <a:spcPts val="1000"/>
              </a:spcBef>
              <a:spcAft>
                <a:spcPts val="0"/>
              </a:spcAft>
              <a:buClr>
                <a:schemeClr val="dk1"/>
              </a:buClr>
              <a:buSzPct val="100000"/>
              <a:buChar char="•"/>
            </a:pPr>
            <a:r>
              <a:rPr lang="en-US"/>
              <a:t>Customer Trust: Winning quality awards can improve customer confidence, leading to enhanced brand reputation.</a:t>
            </a:r>
            <a:endParaRPr/>
          </a:p>
          <a:p>
            <a:pPr indent="-228600" lvl="0" marL="228600" rtl="0" algn="l">
              <a:lnSpc>
                <a:spcPct val="90000"/>
              </a:lnSpc>
              <a:spcBef>
                <a:spcPts val="1000"/>
              </a:spcBef>
              <a:spcAft>
                <a:spcPts val="0"/>
              </a:spcAft>
              <a:buClr>
                <a:schemeClr val="dk1"/>
              </a:buClr>
              <a:buSzPct val="100000"/>
              <a:buChar char="•"/>
            </a:pPr>
            <a:r>
              <a:rPr lang="en-US"/>
              <a:t>Competitive Advantage: Organizations that achieve these awards gain a competitive edge in the marketplace, demonstrating their commitment to quality.</a:t>
            </a:r>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p9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Examples of National Quality Awards:</a:t>
            </a:r>
            <a:endParaRPr/>
          </a:p>
        </p:txBody>
      </p:sp>
      <p:sp>
        <p:nvSpPr>
          <p:cNvPr id="718" name="Google Shape;718;p9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Deming Prize (Japan): Recognizes companies that have implemented Total Quality Management (TQM) principles.</a:t>
            </a:r>
            <a:endParaRPr/>
          </a:p>
          <a:p>
            <a:pPr indent="-228600" lvl="0" marL="228600" rtl="0" algn="l">
              <a:lnSpc>
                <a:spcPct val="90000"/>
              </a:lnSpc>
              <a:spcBef>
                <a:spcPts val="1000"/>
              </a:spcBef>
              <a:spcAft>
                <a:spcPts val="0"/>
              </a:spcAft>
              <a:buClr>
                <a:schemeClr val="dk1"/>
              </a:buClr>
              <a:buSzPts val="2800"/>
              <a:buChar char="•"/>
            </a:pPr>
            <a:r>
              <a:rPr lang="en-US"/>
              <a:t>Malcolm Baldrige National Quality Award (USA): Encourages American organizations to adopt TQM and improve their business processes.</a:t>
            </a:r>
            <a:endParaRPr/>
          </a:p>
          <a:p>
            <a:pPr indent="-228600" lvl="0" marL="228600" rtl="0" algn="l">
              <a:lnSpc>
                <a:spcPct val="90000"/>
              </a:lnSpc>
              <a:spcBef>
                <a:spcPts val="1000"/>
              </a:spcBef>
              <a:spcAft>
                <a:spcPts val="0"/>
              </a:spcAft>
              <a:buClr>
                <a:schemeClr val="dk1"/>
              </a:buClr>
              <a:buSzPts val="2800"/>
              <a:buChar char="•"/>
            </a:pPr>
            <a:r>
              <a:rPr lang="en-US"/>
              <a:t>European Quality Award (Europe): Recognizes excellence in European organizations based on the EFQM (European Foundation for Quality Management) model.</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2025-01-25T10:06:00Z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170F24BDDA2D4F8FAB71A6FFF25A1395_11</vt:lpwstr>
  </property>
  <property fmtid="{D5CDD505-2E9C-101B-9397-08002B2CF9AE}" pid="3" name="KSOProductBuildVer">
    <vt:lpwstr>1033-12.2.0.19805</vt:lpwstr>
  </property>
</Properties>
</file>