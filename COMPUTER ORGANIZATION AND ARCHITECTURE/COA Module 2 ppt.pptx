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925" y="-25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6915" y="885189"/>
            <a:ext cx="1049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</a:t>
            </a:r>
            <a:r>
              <a:rPr sz="2000" b="1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752" y="1333753"/>
            <a:ext cx="6304280" cy="143891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 algn="just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Register transfer logic: inter register transfer </a:t>
            </a:r>
            <a:r>
              <a:rPr sz="1400" i="1" dirty="0">
                <a:latin typeface="Times New Roman"/>
                <a:cs typeface="Times New Roman"/>
              </a:rPr>
              <a:t>— </a:t>
            </a:r>
            <a:r>
              <a:rPr sz="1400" i="1" spc="-5" dirty="0">
                <a:latin typeface="Times New Roman"/>
                <a:cs typeface="Times New Roman"/>
              </a:rPr>
              <a:t>arithmetic, logic and shift</a:t>
            </a:r>
            <a:r>
              <a:rPr sz="1400" i="1" spc="-7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micro</a:t>
            </a:r>
            <a:endParaRPr sz="1400" dirty="0">
              <a:latin typeface="Times New Roman"/>
              <a:cs typeface="Times New Roman"/>
            </a:endParaRPr>
          </a:p>
          <a:p>
            <a:pPr marL="67945" marR="59055" algn="just">
              <a:lnSpc>
                <a:spcPct val="143600"/>
              </a:lnSpc>
            </a:pPr>
            <a:r>
              <a:rPr sz="1400" i="1" spc="-5" dirty="0">
                <a:latin typeface="Times New Roman"/>
                <a:cs typeface="Times New Roman"/>
              </a:rPr>
              <a:t>operations. Processor logic design: </a:t>
            </a:r>
            <a:r>
              <a:rPr sz="1400" i="1" dirty="0">
                <a:latin typeface="Times New Roman"/>
                <a:cs typeface="Times New Roman"/>
              </a:rPr>
              <a:t>- </a:t>
            </a:r>
            <a:r>
              <a:rPr sz="1400" i="1" spc="-5" dirty="0">
                <a:latin typeface="Times New Roman"/>
                <a:cs typeface="Times New Roman"/>
              </a:rPr>
              <a:t>processor organization </a:t>
            </a:r>
            <a:r>
              <a:rPr sz="1400" i="1" dirty="0">
                <a:latin typeface="Times New Roman"/>
                <a:cs typeface="Times New Roman"/>
              </a:rPr>
              <a:t>— </a:t>
            </a:r>
            <a:r>
              <a:rPr sz="1400" i="1" spc="-5" dirty="0">
                <a:latin typeface="Times New Roman"/>
                <a:cs typeface="Times New Roman"/>
              </a:rPr>
              <a:t>Arithmetic logic unit </a:t>
            </a:r>
            <a:r>
              <a:rPr sz="1400" i="1" dirty="0">
                <a:latin typeface="Times New Roman"/>
                <a:cs typeface="Times New Roman"/>
              </a:rPr>
              <a:t>-  </a:t>
            </a:r>
            <a:r>
              <a:rPr sz="1400" i="1" spc="-5" dirty="0">
                <a:latin typeface="Times New Roman"/>
                <a:cs typeface="Times New Roman"/>
              </a:rPr>
              <a:t>design </a:t>
            </a:r>
            <a:r>
              <a:rPr sz="1400" i="1" dirty="0">
                <a:latin typeface="Times New Roman"/>
                <a:cs typeface="Times New Roman"/>
              </a:rPr>
              <a:t>of </a:t>
            </a:r>
            <a:r>
              <a:rPr sz="1400" i="1" spc="-5" dirty="0">
                <a:latin typeface="Times New Roman"/>
                <a:cs typeface="Times New Roman"/>
              </a:rPr>
              <a:t>arithmetic circuit </a:t>
            </a:r>
            <a:r>
              <a:rPr sz="1400" i="1" dirty="0">
                <a:latin typeface="Times New Roman"/>
                <a:cs typeface="Times New Roman"/>
              </a:rPr>
              <a:t>- </a:t>
            </a:r>
            <a:r>
              <a:rPr sz="1400" i="1" spc="-5" dirty="0">
                <a:latin typeface="Times New Roman"/>
                <a:cs typeface="Times New Roman"/>
              </a:rPr>
              <a:t>design of logic circuit </a:t>
            </a:r>
            <a:r>
              <a:rPr sz="1400" i="1" dirty="0">
                <a:latin typeface="Times New Roman"/>
                <a:cs typeface="Times New Roman"/>
              </a:rPr>
              <a:t>- </a:t>
            </a:r>
            <a:r>
              <a:rPr sz="1400" i="1" spc="-5" dirty="0">
                <a:latin typeface="Times New Roman"/>
                <a:cs typeface="Times New Roman"/>
              </a:rPr>
              <a:t>Design </a:t>
            </a:r>
            <a:r>
              <a:rPr sz="1400" i="1" dirty="0">
                <a:latin typeface="Times New Roman"/>
                <a:cs typeface="Times New Roman"/>
              </a:rPr>
              <a:t>of </a:t>
            </a:r>
            <a:r>
              <a:rPr sz="1400" i="1" spc="-5" dirty="0">
                <a:latin typeface="Times New Roman"/>
                <a:cs typeface="Times New Roman"/>
              </a:rPr>
              <a:t>arithmetic logic unit </a:t>
            </a:r>
            <a:r>
              <a:rPr sz="1400" i="1" dirty="0">
                <a:latin typeface="Times New Roman"/>
                <a:cs typeface="Times New Roman"/>
              </a:rPr>
              <a:t>-  </a:t>
            </a:r>
            <a:r>
              <a:rPr sz="1400" i="1" spc="-5" dirty="0">
                <a:latin typeface="Times New Roman"/>
                <a:cs typeface="Times New Roman"/>
              </a:rPr>
              <a:t>status register —design </a:t>
            </a:r>
            <a:r>
              <a:rPr sz="1400" i="1" dirty="0">
                <a:latin typeface="Times New Roman"/>
                <a:cs typeface="Times New Roman"/>
              </a:rPr>
              <a:t>of </a:t>
            </a:r>
            <a:r>
              <a:rPr sz="1400" i="1" spc="-5" dirty="0">
                <a:latin typeface="Times New Roman"/>
                <a:cs typeface="Times New Roman"/>
              </a:rPr>
              <a:t>shifter </a:t>
            </a:r>
            <a:r>
              <a:rPr sz="1400" i="1" dirty="0">
                <a:latin typeface="Times New Roman"/>
                <a:cs typeface="Times New Roman"/>
              </a:rPr>
              <a:t>- </a:t>
            </a:r>
            <a:r>
              <a:rPr sz="1400" i="1" spc="-5" dirty="0">
                <a:latin typeface="Times New Roman"/>
                <a:cs typeface="Times New Roman"/>
              </a:rPr>
              <a:t>processor unit </a:t>
            </a:r>
            <a:r>
              <a:rPr sz="1400" i="1" dirty="0">
                <a:latin typeface="Times New Roman"/>
                <a:cs typeface="Times New Roman"/>
              </a:rPr>
              <a:t>— </a:t>
            </a:r>
            <a:r>
              <a:rPr sz="1400" i="1" spc="-5" dirty="0">
                <a:latin typeface="Times New Roman"/>
                <a:cs typeface="Times New Roman"/>
              </a:rPr>
              <a:t>design of</a:t>
            </a:r>
            <a:r>
              <a:rPr sz="1400" i="1" spc="2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accumulator.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2928235"/>
            <a:ext cx="5988050" cy="6677341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20"/>
              </a:spcBef>
              <a:tabLst>
                <a:tab pos="23241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Explain different type of</a:t>
            </a:r>
            <a:r>
              <a:rPr sz="1600" b="1" i="1" spc="1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micro-operations?</a:t>
            </a:r>
            <a:endParaRPr sz="1600" dirty="0">
              <a:latin typeface="Times New Roman"/>
              <a:cs typeface="Times New Roman"/>
            </a:endParaRPr>
          </a:p>
          <a:p>
            <a:pPr marL="698500" marR="10160" lvl="1" indent="-228600">
              <a:lnSpc>
                <a:spcPct val="143600"/>
              </a:lnSpc>
              <a:spcBef>
                <a:spcPts val="259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1400" spc="-5" dirty="0">
                <a:latin typeface="Times New Roman"/>
                <a:cs typeface="Times New Roman"/>
              </a:rPr>
              <a:t>Microoperations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the basic operations that </a:t>
            </a:r>
            <a:r>
              <a:rPr sz="1400" dirty="0">
                <a:latin typeface="Times New Roman"/>
                <a:cs typeface="Times New Roman"/>
              </a:rPr>
              <a:t>can </a:t>
            </a:r>
            <a:r>
              <a:rPr sz="1400" spc="-5" dirty="0">
                <a:latin typeface="Times New Roman"/>
                <a:cs typeface="Times New Roman"/>
              </a:rPr>
              <a:t>be performed by system  </a:t>
            </a:r>
            <a:r>
              <a:rPr sz="1400" dirty="0">
                <a:latin typeface="Times New Roman"/>
                <a:cs typeface="Times New Roman"/>
              </a:rPr>
              <a:t>on </a:t>
            </a:r>
            <a:r>
              <a:rPr sz="1400" spc="-5" dirty="0">
                <a:latin typeface="Times New Roman"/>
                <a:cs typeface="Times New Roman"/>
              </a:rPr>
              <a:t>data stored in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registers.</a:t>
            </a:r>
            <a:endParaRPr sz="1400" dirty="0">
              <a:latin typeface="Times New Roman"/>
              <a:cs typeface="Times New Roman"/>
            </a:endParaRPr>
          </a:p>
          <a:p>
            <a:pPr marL="698500" marR="12065" lvl="1" indent="-228600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1400" spc="-5" dirty="0">
                <a:latin typeface="Times New Roman"/>
                <a:cs typeface="Times New Roman"/>
              </a:rPr>
              <a:t>Microoperations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used </a:t>
            </a: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processors to complete their tasks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transfer  data from one place 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another.</a:t>
            </a:r>
            <a:endParaRPr sz="14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35"/>
              </a:spcBef>
            </a:pPr>
            <a:r>
              <a:rPr sz="1400" i="1" spc="-5" dirty="0">
                <a:latin typeface="Times New Roman"/>
                <a:cs typeface="Times New Roman"/>
              </a:rPr>
              <a:t>Types of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Microoperations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65835" algn="l"/>
              </a:tabLst>
            </a:pPr>
            <a:r>
              <a:rPr sz="1400" dirty="0">
                <a:latin typeface="Times New Roman"/>
                <a:cs typeface="Times New Roman"/>
              </a:rPr>
              <a:t>Inter </a:t>
            </a:r>
            <a:r>
              <a:rPr sz="1400" spc="-5" dirty="0">
                <a:latin typeface="Times New Roman"/>
                <a:cs typeface="Times New Roman"/>
              </a:rPr>
              <a:t>register transfer micro-operations</a:t>
            </a:r>
            <a:endParaRPr sz="1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965835" algn="l"/>
              </a:tabLst>
            </a:pPr>
            <a:r>
              <a:rPr sz="1400" spc="-5" dirty="0">
                <a:latin typeface="Times New Roman"/>
                <a:cs typeface="Times New Roman"/>
              </a:rPr>
              <a:t>Arithmetic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micro-operations</a:t>
            </a:r>
            <a:endParaRPr sz="1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965835" algn="l"/>
              </a:tabLst>
            </a:pPr>
            <a:r>
              <a:rPr sz="1400" spc="-5" dirty="0">
                <a:latin typeface="Times New Roman"/>
                <a:cs typeface="Times New Roman"/>
              </a:rPr>
              <a:t>Logic micro-operations</a:t>
            </a:r>
            <a:endParaRPr sz="1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965835" algn="l"/>
              </a:tabLst>
            </a:pPr>
            <a:r>
              <a:rPr sz="1400" spc="-5" dirty="0">
                <a:latin typeface="Times New Roman"/>
                <a:cs typeface="Times New Roman"/>
              </a:rPr>
              <a:t>Shift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micro-operations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 dirty="0">
              <a:latin typeface="Times New Roman"/>
              <a:cs typeface="Times New Roman"/>
            </a:endParaRPr>
          </a:p>
          <a:p>
            <a:pPr marL="411480" indent="-170815">
              <a:lnSpc>
                <a:spcPct val="100000"/>
              </a:lnSpc>
              <a:buSzPct val="93750"/>
              <a:buAutoNum type="arabicParenR"/>
              <a:tabLst>
                <a:tab pos="412115" algn="l"/>
              </a:tabLst>
            </a:pP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 register </a:t>
            </a:r>
            <a:r>
              <a:rPr sz="1600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r>
              <a:rPr sz="1600" b="1" i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micro-operations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AutoNum type="arabicParenR"/>
            </a:pPr>
            <a:endParaRPr sz="1400" dirty="0">
              <a:latin typeface="Times New Roman"/>
              <a:cs typeface="Times New Roman"/>
            </a:endParaRPr>
          </a:p>
          <a:p>
            <a:pPr marL="698500" marR="8255" lvl="1" indent="-228600">
              <a:lnSpc>
                <a:spcPct val="143600"/>
              </a:lnSpc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1400" dirty="0">
                <a:latin typeface="Times New Roman"/>
                <a:cs typeface="Times New Roman"/>
              </a:rPr>
              <a:t>These </a:t>
            </a:r>
            <a:r>
              <a:rPr sz="1400" spc="-5" dirty="0">
                <a:latin typeface="Times New Roman"/>
                <a:cs typeface="Times New Roman"/>
              </a:rPr>
              <a:t>micro-operations do not change the information content when the  binary information moves from one register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another.</a:t>
            </a:r>
            <a:endParaRPr sz="14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digital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system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designated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capital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letters.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Examples  A, B, R1, </a:t>
            </a:r>
            <a:r>
              <a:rPr sz="1400" spc="-10" dirty="0">
                <a:latin typeface="Times New Roman"/>
                <a:cs typeface="Times New Roman"/>
              </a:rPr>
              <a:t>R2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etc.</a:t>
            </a:r>
          </a:p>
          <a:p>
            <a:pPr marL="698500" marR="10160" lvl="1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699135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register that holds the address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memory </a:t>
            </a:r>
            <a:r>
              <a:rPr sz="1400" spc="-5" dirty="0">
                <a:latin typeface="Times New Roman"/>
                <a:cs typeface="Times New Roman"/>
              </a:rPr>
              <a:t>unit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called Memory  Address Register (MAR). The cells of </a:t>
            </a:r>
            <a:r>
              <a:rPr sz="1400" dirty="0">
                <a:latin typeface="Times New Roman"/>
                <a:cs typeface="Times New Roman"/>
              </a:rPr>
              <a:t>an n </a:t>
            </a:r>
            <a:r>
              <a:rPr sz="1400" spc="-5" dirty="0">
                <a:latin typeface="Times New Roman"/>
                <a:cs typeface="Times New Roman"/>
              </a:rPr>
              <a:t>bit register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numbered in  sequence from </a:t>
            </a:r>
            <a:r>
              <a:rPr sz="1400" dirty="0">
                <a:latin typeface="Times New Roman"/>
                <a:cs typeface="Times New Roman"/>
              </a:rPr>
              <a:t>1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n, </a:t>
            </a:r>
            <a:r>
              <a:rPr sz="1400" spc="-5" dirty="0">
                <a:latin typeface="Times New Roman"/>
                <a:cs typeface="Times New Roman"/>
              </a:rPr>
              <a:t>starting either from the left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from 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right.</a:t>
            </a:r>
            <a:endParaRPr sz="1400" dirty="0">
              <a:latin typeface="Times New Roman"/>
              <a:cs typeface="Times New Roman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699135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register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represented </a:t>
            </a:r>
            <a:r>
              <a:rPr sz="1400" dirty="0">
                <a:latin typeface="Times New Roman"/>
                <a:cs typeface="Times New Roman"/>
              </a:rPr>
              <a:t>in 4 </a:t>
            </a:r>
            <a:r>
              <a:rPr sz="1400" spc="-5" dirty="0">
                <a:latin typeface="Times New Roman"/>
                <a:cs typeface="Times New Roman"/>
              </a:rPr>
              <a:t>ways which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shown in the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figure.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73100" y="317501"/>
            <a:ext cx="6305550" cy="1469966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20"/>
              </a:spcBef>
              <a:tabLst>
                <a:tab pos="23241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Explain different type of</a:t>
            </a:r>
            <a:r>
              <a:rPr sz="2400" b="1" i="1" spc="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micro-operations?</a:t>
            </a:r>
            <a:endParaRPr sz="2400" dirty="0">
              <a:latin typeface="Times New Roman"/>
              <a:cs typeface="Times New Roman"/>
            </a:endParaRPr>
          </a:p>
          <a:p>
            <a:pPr marL="698500" marR="10160" lvl="1" indent="-228600">
              <a:lnSpc>
                <a:spcPct val="143600"/>
              </a:lnSpc>
              <a:spcBef>
                <a:spcPts val="259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Microoperations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the basic operations that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be performed by system 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data stored 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registers.</a:t>
            </a:r>
            <a:endParaRPr sz="2400" dirty="0">
              <a:latin typeface="Times New Roman"/>
              <a:cs typeface="Times New Roman"/>
            </a:endParaRPr>
          </a:p>
          <a:p>
            <a:pPr marL="698500" marR="12065" lvl="1" indent="-228600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Microoperations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processors to complete their tasks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transfer  data from one place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another.</a:t>
            </a:r>
            <a:endParaRPr sz="24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35"/>
              </a:spcBef>
            </a:pPr>
            <a:r>
              <a:rPr sz="2400" i="1" spc="-5" dirty="0">
                <a:latin typeface="Times New Roman"/>
                <a:cs typeface="Times New Roman"/>
              </a:rPr>
              <a:t>Types of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Microoperations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65835" algn="l"/>
              </a:tabLst>
            </a:pPr>
            <a:r>
              <a:rPr sz="2400" dirty="0">
                <a:latin typeface="Times New Roman"/>
                <a:cs typeface="Times New Roman"/>
              </a:rPr>
              <a:t>Inter </a:t>
            </a:r>
            <a:r>
              <a:rPr sz="2400" spc="-5" dirty="0">
                <a:latin typeface="Times New Roman"/>
                <a:cs typeface="Times New Roman"/>
              </a:rPr>
              <a:t>register transfer micro-operations</a:t>
            </a:r>
            <a:endParaRPr sz="2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965835" algn="l"/>
              </a:tabLst>
            </a:pPr>
            <a:r>
              <a:rPr sz="2400" spc="-5" dirty="0">
                <a:latin typeface="Times New Roman"/>
                <a:cs typeface="Times New Roman"/>
              </a:rPr>
              <a:t>Arithmetic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micro-operations</a:t>
            </a:r>
            <a:endParaRPr sz="2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965835" algn="l"/>
              </a:tabLst>
            </a:pPr>
            <a:r>
              <a:rPr sz="2400" spc="-5" dirty="0">
                <a:latin typeface="Times New Roman"/>
                <a:cs typeface="Times New Roman"/>
              </a:rPr>
              <a:t>Logic micro-operations</a:t>
            </a:r>
            <a:endParaRPr sz="2400" dirty="0">
              <a:latin typeface="Times New Roman"/>
              <a:cs typeface="Times New Roman"/>
            </a:endParaRPr>
          </a:p>
          <a:p>
            <a:pPr marL="965200" lvl="2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965835" algn="l"/>
              </a:tabLst>
            </a:pPr>
            <a:r>
              <a:rPr sz="2400" spc="-5" dirty="0">
                <a:latin typeface="Times New Roman"/>
                <a:cs typeface="Times New Roman"/>
              </a:rPr>
              <a:t>Shift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micro-operations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411480" indent="-170815">
              <a:lnSpc>
                <a:spcPct val="100000"/>
              </a:lnSpc>
              <a:buSzPct val="93750"/>
              <a:buAutoNum type="arabicParenR"/>
              <a:tabLst>
                <a:tab pos="412115" algn="l"/>
              </a:tabLst>
            </a:pP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 register </a:t>
            </a:r>
            <a:r>
              <a:rPr sz="2400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r>
              <a:rPr sz="2400" b="1" i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micro-operations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AutoNum type="arabicParenR"/>
            </a:pPr>
            <a:endParaRPr sz="2400" dirty="0">
              <a:latin typeface="Times New Roman"/>
              <a:cs typeface="Times New Roman"/>
            </a:endParaRPr>
          </a:p>
          <a:p>
            <a:pPr marL="698500" marR="8255" lvl="1" indent="-228600">
              <a:lnSpc>
                <a:spcPct val="143600"/>
              </a:lnSpc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These </a:t>
            </a:r>
            <a:r>
              <a:rPr sz="2400" spc="-5" dirty="0">
                <a:latin typeface="Times New Roman"/>
                <a:cs typeface="Times New Roman"/>
              </a:rPr>
              <a:t>micro-operations do not change the information content when the  binary information moves from one register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another.</a:t>
            </a:r>
            <a:endParaRPr sz="24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698500" algn="l"/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registers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designated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capital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letters.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Examples  A, B, R1, </a:t>
            </a:r>
            <a:r>
              <a:rPr sz="2400" spc="-10" dirty="0">
                <a:latin typeface="Times New Roman"/>
                <a:cs typeface="Times New Roman"/>
              </a:rPr>
              <a:t>R2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</a:p>
          <a:p>
            <a:pPr marL="698500" marR="10160" lvl="1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register that holds the address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memory </a:t>
            </a:r>
            <a:r>
              <a:rPr sz="2400" spc="-5" dirty="0">
                <a:latin typeface="Times New Roman"/>
                <a:cs typeface="Times New Roman"/>
              </a:rPr>
              <a:t>unit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called Memory  Address Register (MAR). The cells of </a:t>
            </a:r>
            <a:r>
              <a:rPr sz="2400" dirty="0">
                <a:latin typeface="Times New Roman"/>
                <a:cs typeface="Times New Roman"/>
              </a:rPr>
              <a:t>an n </a:t>
            </a:r>
            <a:r>
              <a:rPr sz="2400" spc="-5" dirty="0">
                <a:latin typeface="Times New Roman"/>
                <a:cs typeface="Times New Roman"/>
              </a:rPr>
              <a:t>bit register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numbered in  sequence from </a:t>
            </a:r>
            <a:r>
              <a:rPr sz="2400" dirty="0">
                <a:latin typeface="Times New Roman"/>
                <a:cs typeface="Times New Roman"/>
              </a:rPr>
              <a:t>1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n, </a:t>
            </a:r>
            <a:r>
              <a:rPr sz="2400" spc="-5" dirty="0">
                <a:latin typeface="Times New Roman"/>
                <a:cs typeface="Times New Roman"/>
              </a:rPr>
              <a:t>starting either from the left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from 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right.</a:t>
            </a:r>
            <a:endParaRPr sz="2400" dirty="0">
              <a:latin typeface="Times New Roman"/>
              <a:cs typeface="Times New Roman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register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represented </a:t>
            </a:r>
            <a:r>
              <a:rPr sz="2400" dirty="0">
                <a:latin typeface="Times New Roman"/>
                <a:cs typeface="Times New Roman"/>
              </a:rPr>
              <a:t>in 4 </a:t>
            </a:r>
            <a:r>
              <a:rPr sz="2400" spc="-5" dirty="0">
                <a:latin typeface="Times New Roman"/>
                <a:cs typeface="Times New Roman"/>
              </a:rPr>
              <a:t>ways which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shown in 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figure.</a:t>
            </a:r>
          </a:p>
        </p:txBody>
      </p:sp>
    </p:spTree>
    <p:extLst>
      <p:ext uri="{BB962C8B-B14F-4D97-AF65-F5344CB8AC3E}">
        <p14:creationId xmlns:p14="http://schemas.microsoft.com/office/powerpoint/2010/main" val="346755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430754"/>
            <a:ext cx="5758815" cy="686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0795" indent="-228600">
              <a:lnSpc>
                <a:spcPct val="1437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Figure (a) </a:t>
            </a:r>
            <a:r>
              <a:rPr sz="1400" spc="-5" dirty="0">
                <a:latin typeface="Times New Roman"/>
                <a:cs typeface="Times New Roman"/>
              </a:rPr>
              <a:t>shows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most common way to represent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register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a  </a:t>
            </a:r>
            <a:r>
              <a:rPr sz="1400" spc="-5" dirty="0">
                <a:latin typeface="Times New Roman"/>
                <a:cs typeface="Times New Roman"/>
              </a:rPr>
              <a:t>rectangular box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which name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register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specified within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box.</a:t>
            </a:r>
            <a:endParaRPr sz="1400" dirty="0">
              <a:latin typeface="Times New Roman"/>
              <a:cs typeface="Times New Roman"/>
            </a:endParaRPr>
          </a:p>
          <a:p>
            <a:pPr marL="469265" marR="5715" indent="-228600">
              <a:lnSpc>
                <a:spcPct val="143600"/>
              </a:lnSpc>
              <a:spcBef>
                <a:spcPts val="10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figure (b), it shows the individual cells </a:t>
            </a:r>
            <a:r>
              <a:rPr sz="1400" dirty="0">
                <a:latin typeface="Times New Roman"/>
                <a:cs typeface="Times New Roman"/>
              </a:rPr>
              <a:t>of a register </a:t>
            </a:r>
            <a:r>
              <a:rPr sz="1400" spc="-5" dirty="0">
                <a:latin typeface="Times New Roman"/>
                <a:cs typeface="Times New Roman"/>
              </a:rPr>
              <a:t>is assigned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letter  with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subscript number and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marked from right to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left.</a:t>
            </a:r>
            <a:endParaRPr sz="1400" dirty="0">
              <a:latin typeface="Times New Roman"/>
              <a:cs typeface="Times New Roman"/>
            </a:endParaRPr>
          </a:p>
          <a:p>
            <a:pPr marL="469265" marR="12700" indent="-228600">
              <a:lnSpc>
                <a:spcPct val="143600"/>
              </a:lnSpc>
              <a:buAutoNum type="arabicPeriod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numbering of cells from </a:t>
            </a:r>
            <a:r>
              <a:rPr sz="1400" spc="-10" dirty="0">
                <a:latin typeface="Times New Roman"/>
                <a:cs typeface="Times New Roman"/>
              </a:rPr>
              <a:t>right </a:t>
            </a:r>
            <a:r>
              <a:rPr sz="1400" spc="-5" dirty="0">
                <a:latin typeface="Times New Roman"/>
                <a:cs typeface="Times New Roman"/>
              </a:rPr>
              <a:t>to left can be marked on top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box 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in figure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(c).</a:t>
            </a:r>
          </a:p>
          <a:p>
            <a:pPr marL="469265" indent="-228600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16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bit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229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partitioned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into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two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parts,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high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order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(H)</a:t>
            </a:r>
            <a:endParaRPr sz="1400" dirty="0">
              <a:latin typeface="Times New Roman"/>
              <a:cs typeface="Times New Roman"/>
            </a:endParaRPr>
          </a:p>
          <a:p>
            <a:pPr marL="469265" marR="11430">
              <a:lnSpc>
                <a:spcPct val="143700"/>
              </a:lnSpc>
              <a:spcBef>
                <a:spcPts val="10"/>
              </a:spcBef>
            </a:pPr>
            <a:r>
              <a:rPr sz="1400" spc="-5" dirty="0">
                <a:latin typeface="Times New Roman"/>
                <a:cs typeface="Times New Roman"/>
              </a:rPr>
              <a:t>consisting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eight </a:t>
            </a:r>
            <a:r>
              <a:rPr sz="1400" spc="-5" dirty="0">
                <a:latin typeface="Times New Roman"/>
                <a:cs typeface="Times New Roman"/>
              </a:rPr>
              <a:t>high ordered cells and one lower order part (L)  consisting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eight </a:t>
            </a:r>
            <a:r>
              <a:rPr sz="1400" spc="-5" dirty="0">
                <a:latin typeface="Times New Roman"/>
                <a:cs typeface="Times New Roman"/>
              </a:rPr>
              <a:t>low ordered cells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in figure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(d).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Conditional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9265" marR="10160" indent="-228600" algn="just">
              <a:lnSpc>
                <a:spcPct val="1436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condition that determines when the transfer </a:t>
            </a:r>
            <a:r>
              <a:rPr sz="1400" dirty="0">
                <a:latin typeface="Times New Roman"/>
                <a:cs typeface="Times New Roman"/>
              </a:rPr>
              <a:t>is to </a:t>
            </a:r>
            <a:r>
              <a:rPr sz="1400" spc="-5" dirty="0">
                <a:latin typeface="Times New Roman"/>
                <a:cs typeface="Times New Roman"/>
              </a:rPr>
              <a:t>occur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called </a:t>
            </a:r>
            <a:r>
              <a:rPr sz="1400" dirty="0">
                <a:latin typeface="Times New Roman"/>
                <a:cs typeface="Times New Roman"/>
              </a:rPr>
              <a:t>a  </a:t>
            </a:r>
            <a:r>
              <a:rPr sz="1400" spc="-5" dirty="0">
                <a:latin typeface="Times New Roman"/>
                <a:cs typeface="Times New Roman"/>
              </a:rPr>
              <a:t>control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function.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control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function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Boolean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function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equal  </a:t>
            </a:r>
            <a:r>
              <a:rPr sz="1400" dirty="0">
                <a:latin typeface="Times New Roman"/>
                <a:cs typeface="Times New Roman"/>
              </a:rPr>
              <a:t>to 0 or 1. </a:t>
            </a:r>
            <a:r>
              <a:rPr sz="1400" spc="-5" dirty="0">
                <a:latin typeface="Times New Roman"/>
                <a:cs typeface="Times New Roman"/>
              </a:rPr>
              <a:t>The control function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specified with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following  statement:</a:t>
            </a:r>
            <a:endParaRPr sz="14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35"/>
              </a:spcBef>
            </a:pPr>
            <a:r>
              <a:rPr sz="1400" spc="-5" dirty="0">
                <a:latin typeface="Times New Roman"/>
                <a:cs typeface="Times New Roman"/>
              </a:rPr>
              <a:t>x'T1:</a:t>
            </a:r>
            <a:r>
              <a:rPr sz="1400" dirty="0">
                <a:latin typeface="Times New Roman"/>
                <a:cs typeface="Times New Roman"/>
              </a:rPr>
              <a:t> A</a:t>
            </a:r>
            <a:r>
              <a:rPr sz="1400" dirty="0">
                <a:latin typeface="Wingdings"/>
                <a:cs typeface="Wingdings"/>
              </a:rPr>
              <a:t></a:t>
            </a:r>
            <a:r>
              <a:rPr sz="1400" dirty="0">
                <a:latin typeface="Times New Roman"/>
                <a:cs typeface="Times New Roman"/>
              </a:rPr>
              <a:t>B</a:t>
            </a:r>
          </a:p>
          <a:p>
            <a:pPr marL="469265" marR="8255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means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transfer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executed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hardware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only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when 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Boolean function x'T1=1.That is, variable x=0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timing variable  T1=1.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Example: Hardware implementation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controlled transfer x'T1: </a:t>
            </a:r>
            <a:r>
              <a:rPr sz="1400" spc="15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Wingdings"/>
                <a:cs typeface="Wingdings"/>
              </a:rPr>
              <a:t></a:t>
            </a:r>
            <a:r>
              <a:rPr sz="1400" spc="15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is  shown in figure. Here A</a:t>
            </a:r>
            <a:r>
              <a:rPr sz="1100" spc="-5" dirty="0">
                <a:latin typeface="Wingdings"/>
                <a:cs typeface="Wingdings"/>
              </a:rPr>
              <a:t></a:t>
            </a:r>
            <a:r>
              <a:rPr sz="1400" spc="-5" dirty="0">
                <a:latin typeface="Times New Roman"/>
                <a:cs typeface="Times New Roman"/>
              </a:rPr>
              <a:t>B transfers the contents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register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endParaRPr sz="1400" dirty="0">
              <a:latin typeface="Times New Roman"/>
              <a:cs typeface="Times New Roman"/>
            </a:endParaRPr>
          </a:p>
          <a:p>
            <a:pPr marL="469265" algn="just">
              <a:lnSpc>
                <a:spcPct val="100000"/>
              </a:lnSpc>
              <a:spcBef>
                <a:spcPts val="735"/>
              </a:spcBef>
            </a:pPr>
            <a:r>
              <a:rPr sz="1400" dirty="0">
                <a:latin typeface="Times New Roman"/>
                <a:cs typeface="Times New Roman"/>
              </a:rPr>
              <a:t>A. </a:t>
            </a:r>
            <a:r>
              <a:rPr sz="1400" spc="-5" dirty="0">
                <a:latin typeface="Times New Roman"/>
                <a:cs typeface="Times New Roman"/>
              </a:rPr>
              <a:t>Contents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source </a:t>
            </a:r>
            <a:r>
              <a:rPr sz="1400" dirty="0">
                <a:latin typeface="Times New Roman"/>
                <a:cs typeface="Times New Roman"/>
              </a:rPr>
              <a:t>register B </a:t>
            </a:r>
            <a:r>
              <a:rPr sz="1400" spc="-5" dirty="0">
                <a:latin typeface="Times New Roman"/>
                <a:cs typeface="Times New Roman"/>
              </a:rPr>
              <a:t>do not change after the transfer.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22068" y="998902"/>
            <a:ext cx="5248701" cy="14048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3150844"/>
            <a:ext cx="5523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29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basic symbols </a:t>
            </a:r>
            <a:r>
              <a:rPr sz="1400" dirty="0">
                <a:latin typeface="Times New Roman"/>
                <a:cs typeface="Times New Roman"/>
              </a:rPr>
              <a:t>of the </a:t>
            </a:r>
            <a:r>
              <a:rPr sz="1400" spc="-5" dirty="0">
                <a:latin typeface="Times New Roman"/>
                <a:cs typeface="Times New Roman"/>
              </a:rPr>
              <a:t>register transfer logic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listed in the following  table.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981950"/>
            <a:ext cx="5758180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735" indent="-153670">
              <a:lnSpc>
                <a:spcPct val="100000"/>
              </a:lnSpc>
              <a:spcBef>
                <a:spcPts val="95"/>
              </a:spcBef>
              <a:buSzPct val="93750"/>
              <a:buAutoNum type="arabicPeriod" startAt="2"/>
              <a:tabLst>
                <a:tab pos="16637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Arithmetic Micro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operations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 startAt="2"/>
            </a:pPr>
            <a:endParaRPr sz="1400" dirty="0">
              <a:latin typeface="Times New Roman"/>
              <a:cs typeface="Times New Roman"/>
            </a:endParaRPr>
          </a:p>
          <a:p>
            <a:pPr marL="469265" marR="6350" lvl="1" indent="-228600">
              <a:lnSpc>
                <a:spcPct val="1436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basic arithmetic micro-Operations are add, subtract, complement, and  shift.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>
              <a:lnSpc>
                <a:spcPct val="142900"/>
              </a:lnSpc>
              <a:spcBef>
                <a:spcPts val="1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Add operation-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specified by the statement: </a:t>
            </a:r>
            <a:r>
              <a:rPr sz="1400" dirty="0">
                <a:latin typeface="Times New Roman"/>
                <a:cs typeface="Times New Roman"/>
              </a:rPr>
              <a:t>F</a:t>
            </a:r>
            <a:r>
              <a:rPr sz="1400" dirty="0">
                <a:latin typeface="Wingdings"/>
                <a:cs typeface="Wingdings"/>
              </a:rPr>
              <a:t></a:t>
            </a:r>
            <a:r>
              <a:rPr sz="1400" dirty="0">
                <a:latin typeface="Times New Roman"/>
                <a:cs typeface="Times New Roman"/>
              </a:rPr>
              <a:t>A + B </a:t>
            </a:r>
            <a:r>
              <a:rPr sz="1400" spc="-5" dirty="0">
                <a:latin typeface="Times New Roman"/>
                <a:cs typeface="Times New Roman"/>
              </a:rPr>
              <a:t>That is, the  contents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‘A’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contents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sum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9583" y="997586"/>
            <a:ext cx="4724400" cy="2049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95632" y="3878579"/>
            <a:ext cx="5451468" cy="3810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97407"/>
            <a:ext cx="5525770" cy="956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>
              <a:lnSpc>
                <a:spcPct val="1436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transferred to register </a:t>
            </a:r>
            <a:r>
              <a:rPr sz="1400" dirty="0">
                <a:latin typeface="Times New Roman"/>
                <a:cs typeface="Times New Roman"/>
              </a:rPr>
              <a:t>F. Here we </a:t>
            </a:r>
            <a:r>
              <a:rPr sz="1400" spc="-5" dirty="0">
                <a:latin typeface="Times New Roman"/>
                <a:cs typeface="Times New Roman"/>
              </a:rPr>
              <a:t>require </a:t>
            </a:r>
            <a:r>
              <a:rPr sz="1400" dirty="0">
                <a:latin typeface="Times New Roman"/>
                <a:cs typeface="Times New Roman"/>
              </a:rPr>
              <a:t>3 </a:t>
            </a:r>
            <a:r>
              <a:rPr sz="1400" spc="-5" dirty="0">
                <a:latin typeface="Times New Roman"/>
                <a:cs typeface="Times New Roman"/>
              </a:rPr>
              <a:t>registers and one digital  function that addition operation such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adder.</a:t>
            </a:r>
            <a:endParaRPr sz="1400" dirty="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other basic arithmetic operations the following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table.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6240246"/>
            <a:ext cx="3041650" cy="63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85115" algn="l"/>
                <a:tab pos="285750" algn="l"/>
                <a:tab pos="1282065" algn="l"/>
                <a:tab pos="2297430" algn="l"/>
                <a:tab pos="2641600" algn="l"/>
              </a:tabLst>
            </a:pPr>
            <a:r>
              <a:rPr dirty="0"/>
              <a:t>	</a:t>
            </a:r>
            <a:r>
              <a:rPr sz="1400" spc="-5" dirty="0">
                <a:latin typeface="Times New Roman"/>
                <a:cs typeface="Times New Roman"/>
              </a:rPr>
              <a:t>Arithmetic	subtraction	is	most  complementation and addition. That </a:t>
            </a:r>
            <a:r>
              <a:rPr sz="1400" dirty="0">
                <a:latin typeface="Times New Roman"/>
                <a:cs typeface="Times New Roman"/>
              </a:rPr>
              <a:t>is,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31320" y="6332600"/>
            <a:ext cx="390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o</a:t>
            </a:r>
            <a:r>
              <a:rPr sz="1400" dirty="0">
                <a:latin typeface="Times New Roman"/>
                <a:cs typeface="Times New Roman"/>
              </a:rPr>
              <a:t>ft</a:t>
            </a:r>
            <a:r>
              <a:rPr sz="1400" spc="-1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2010" y="6332600"/>
            <a:ext cx="95376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implemented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4673" y="6332600"/>
            <a:ext cx="5803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through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7123938"/>
            <a:ext cx="5756910" cy="2602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F</a:t>
            </a:r>
            <a:r>
              <a:rPr sz="1400" spc="-5" dirty="0">
                <a:latin typeface="Wingdings"/>
                <a:cs typeface="Wingdings"/>
              </a:rPr>
              <a:t></a:t>
            </a:r>
            <a:r>
              <a:rPr sz="1400" spc="-5" dirty="0">
                <a:latin typeface="Times New Roman"/>
                <a:cs typeface="Times New Roman"/>
              </a:rPr>
              <a:t>A+B’+1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9265" marR="7620" indent="-228600" algn="just">
              <a:lnSpc>
                <a:spcPct val="1429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Adding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1’s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complement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gives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2's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complement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When  adding 2's complement </a:t>
            </a:r>
            <a:r>
              <a:rPr sz="1400" dirty="0">
                <a:latin typeface="Times New Roman"/>
                <a:cs typeface="Times New Roman"/>
              </a:rPr>
              <a:t>of B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it will results in </a:t>
            </a:r>
            <a:r>
              <a:rPr sz="1400" spc="-10" dirty="0">
                <a:latin typeface="Times New Roman"/>
                <a:cs typeface="Times New Roman"/>
              </a:rPr>
              <a:t>minus </a:t>
            </a:r>
            <a:r>
              <a:rPr sz="1400" spc="-5" dirty="0">
                <a:latin typeface="Times New Roman"/>
                <a:cs typeface="Times New Roman"/>
              </a:rPr>
              <a:t>operation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(A-B).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2900"/>
              </a:lnSpc>
              <a:spcBef>
                <a:spcPts val="13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Increment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decrement micro-operations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implemented with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up  counter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down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counter.</a:t>
            </a:r>
            <a:endParaRPr sz="1400" dirty="0">
              <a:latin typeface="Times New Roman"/>
              <a:cs typeface="Times New Roman"/>
            </a:endParaRPr>
          </a:p>
          <a:p>
            <a:pPr marL="469265" marR="8890" indent="-228600" algn="just">
              <a:lnSpc>
                <a:spcPct val="143300"/>
              </a:lnSpc>
              <a:spcBef>
                <a:spcPts val="125"/>
              </a:spcBef>
              <a:buFont typeface="Symbol"/>
              <a:buChar char=""/>
              <a:tabLst>
                <a:tab pos="514350" algn="l"/>
              </a:tabLst>
            </a:pPr>
            <a:r>
              <a:rPr dirty="0"/>
              <a:t>	</a:t>
            </a:r>
            <a:r>
              <a:rPr sz="1400" spc="-5" dirty="0">
                <a:latin typeface="Times New Roman"/>
                <a:cs typeface="Times New Roman"/>
              </a:rPr>
              <a:t>There must be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direct relationship between the statements written </a:t>
            </a:r>
            <a:r>
              <a:rPr sz="1400" dirty="0">
                <a:latin typeface="Times New Roman"/>
                <a:cs typeface="Times New Roman"/>
              </a:rPr>
              <a:t>in a  </a:t>
            </a:r>
            <a:r>
              <a:rPr sz="1400" spc="-5" dirty="0">
                <a:latin typeface="Times New Roman"/>
                <a:cs typeface="Times New Roman"/>
              </a:rPr>
              <a:t>register transfer language and the registers and digital functions which are  required for their implementation.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4578" y="2025395"/>
            <a:ext cx="5465781" cy="4038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7545" cy="449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21590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Logic Micro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Operations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3"/>
            </a:pPr>
            <a:endParaRPr sz="1400" dirty="0">
              <a:latin typeface="Times New Roman"/>
              <a:cs typeface="Times New Roman"/>
            </a:endParaRPr>
          </a:p>
          <a:p>
            <a:pPr marL="469265" marR="7620" lvl="1" indent="-228600" algn="just">
              <a:lnSpc>
                <a:spcPct val="1432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micro-operations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specify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binary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string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stored 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registers. These operations consider each bit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the registers separately  and treat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binary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variable.</a:t>
            </a:r>
            <a:endParaRPr sz="1400" dirty="0">
              <a:latin typeface="Times New Roman"/>
              <a:cs typeface="Times New Roman"/>
            </a:endParaRPr>
          </a:p>
          <a:p>
            <a:pPr marL="469265" marR="6985" lvl="1" indent="-228600" algn="just">
              <a:lnSpc>
                <a:spcPct val="142900"/>
              </a:lnSpc>
              <a:spcBef>
                <a:spcPts val="13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example,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consider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B.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Content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1101  and content of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is 1010.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Then,</a:t>
            </a:r>
            <a:endParaRPr sz="14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45"/>
              </a:spcBef>
            </a:pPr>
            <a:r>
              <a:rPr sz="1400" spc="-5" dirty="0">
                <a:latin typeface="Times New Roman"/>
                <a:cs typeface="Times New Roman"/>
              </a:rPr>
              <a:t>1101(A)</a:t>
            </a:r>
            <a:endParaRPr sz="14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35"/>
              </a:spcBef>
            </a:pPr>
            <a:r>
              <a:rPr sz="1400" spc="-5" dirty="0">
                <a:latin typeface="Times New Roman"/>
                <a:cs typeface="Times New Roman"/>
              </a:rPr>
              <a:t>1010(B)</a:t>
            </a:r>
            <a:endParaRPr sz="14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30"/>
              </a:spcBef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will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1000 (it will contain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the register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F)</a:t>
            </a:r>
          </a:p>
          <a:p>
            <a:pPr marL="507365" marR="9525" lvl="1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5080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There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16 different logic operations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performed with two binary  variables,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described in the below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table.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All 16 logic operations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expressed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5" dirty="0">
                <a:latin typeface="Times New Roman"/>
                <a:cs typeface="Times New Roman"/>
              </a:rPr>
              <a:t>terms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spc="-10" dirty="0">
                <a:latin typeface="Times New Roman"/>
                <a:cs typeface="Times New Roman"/>
              </a:rPr>
              <a:t>AND,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and  complement operations. Special symbols are adopted for these three micro  operations.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7337" y="5658662"/>
            <a:ext cx="5492407" cy="41140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6275" cy="2327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735" indent="-153670">
              <a:lnSpc>
                <a:spcPct val="100000"/>
              </a:lnSpc>
              <a:spcBef>
                <a:spcPts val="95"/>
              </a:spcBef>
              <a:buSzPct val="93750"/>
              <a:buAutoNum type="arabicPeriod" startAt="4"/>
              <a:tabLst>
                <a:tab pos="16637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Shift Micro</a:t>
            </a:r>
            <a:r>
              <a:rPr sz="1600" b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Operations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4"/>
            </a:pPr>
            <a:endParaRPr sz="1400" dirty="0">
              <a:latin typeface="Times New Roman"/>
              <a:cs typeface="Times New Roman"/>
            </a:endParaRPr>
          </a:p>
          <a:p>
            <a:pPr marL="469265" marR="6350" lvl="1" indent="-228600" algn="just">
              <a:lnSpc>
                <a:spcPct val="1432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Shift micro-operations transfer binary information between registers in  serial computers. They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also used in parallel computers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arithmetic,  logic and control operations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700"/>
              </a:lnSpc>
              <a:spcBef>
                <a:spcPts val="114"/>
              </a:spcBef>
              <a:buFont typeface="Symbol"/>
              <a:buChar char=""/>
              <a:tabLst>
                <a:tab pos="514350" algn="l"/>
              </a:tabLst>
            </a:pPr>
            <a:r>
              <a:rPr dirty="0"/>
              <a:t>	</a:t>
            </a:r>
            <a:r>
              <a:rPr sz="1400" spc="-5" dirty="0">
                <a:latin typeface="Times New Roman"/>
                <a:cs typeface="Times New Roman"/>
              </a:rPr>
              <a:t>Registers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shifted to the left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right. There are </a:t>
            </a:r>
            <a:r>
              <a:rPr sz="1400" dirty="0">
                <a:latin typeface="Times New Roman"/>
                <a:cs typeface="Times New Roman"/>
              </a:rPr>
              <a:t>no </a:t>
            </a:r>
            <a:r>
              <a:rPr sz="1400" spc="-5" dirty="0">
                <a:latin typeface="Times New Roman"/>
                <a:cs typeface="Times New Roman"/>
              </a:rPr>
              <a:t>conventional  symbols for shift. Here we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10" dirty="0">
                <a:latin typeface="Times New Roman"/>
                <a:cs typeface="Times New Roman"/>
              </a:rPr>
              <a:t>adopting </a:t>
            </a:r>
            <a:r>
              <a:rPr sz="1400" spc="-5" dirty="0">
                <a:latin typeface="Times New Roman"/>
                <a:cs typeface="Times New Roman"/>
              </a:rPr>
              <a:t>the symbols </a:t>
            </a:r>
            <a:r>
              <a:rPr sz="1400" spc="-10" dirty="0">
                <a:latin typeface="Times New Roman"/>
                <a:cs typeface="Times New Roman"/>
              </a:rPr>
              <a:t>shl and shr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10" dirty="0">
                <a:latin typeface="Times New Roman"/>
                <a:cs typeface="Times New Roman"/>
              </a:rPr>
              <a:t>shift  </a:t>
            </a:r>
            <a:r>
              <a:rPr sz="1400" spc="-5" dirty="0">
                <a:latin typeface="Times New Roman"/>
                <a:cs typeface="Times New Roman"/>
              </a:rPr>
              <a:t>left and shift </a:t>
            </a:r>
            <a:r>
              <a:rPr sz="1400" spc="-10" dirty="0">
                <a:latin typeface="Times New Roman"/>
                <a:cs typeface="Times New Roman"/>
              </a:rPr>
              <a:t>right </a:t>
            </a:r>
            <a:r>
              <a:rPr sz="1400" spc="-5" dirty="0">
                <a:latin typeface="Times New Roman"/>
                <a:cs typeface="Times New Roman"/>
              </a:rPr>
              <a:t>operations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respectively.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041774"/>
            <a:ext cx="1295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1: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Shl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182590"/>
            <a:ext cx="5757545" cy="155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228600">
              <a:lnSpc>
                <a:spcPct val="1429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Here </a:t>
            </a:r>
            <a:r>
              <a:rPr sz="1400" spc="-5" dirty="0">
                <a:latin typeface="Times New Roman"/>
                <a:cs typeface="Times New Roman"/>
              </a:rPr>
              <a:t>when </a:t>
            </a:r>
            <a:r>
              <a:rPr sz="1400" dirty="0">
                <a:latin typeface="Times New Roman"/>
                <a:cs typeface="Times New Roman"/>
              </a:rPr>
              <a:t>we are </a:t>
            </a:r>
            <a:r>
              <a:rPr sz="1400" spc="-5" dirty="0">
                <a:latin typeface="Times New Roman"/>
                <a:cs typeface="Times New Roman"/>
              </a:rPr>
              <a:t>shifting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left the bit </a:t>
            </a:r>
            <a:r>
              <a:rPr sz="1400" dirty="0">
                <a:latin typeface="Times New Roman"/>
                <a:cs typeface="Times New Roman"/>
              </a:rPr>
              <a:t>at </a:t>
            </a:r>
            <a:r>
              <a:rPr sz="1400" spc="-5" dirty="0">
                <a:latin typeface="Times New Roman"/>
                <a:cs typeface="Times New Roman"/>
              </a:rPr>
              <a:t>position </a:t>
            </a:r>
            <a:r>
              <a:rPr sz="1400" spc="10" dirty="0">
                <a:latin typeface="Times New Roman"/>
                <a:cs typeface="Times New Roman"/>
              </a:rPr>
              <a:t>A0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vacant. </a:t>
            </a:r>
            <a:r>
              <a:rPr sz="1400" dirty="0">
                <a:latin typeface="Times New Roman"/>
                <a:cs typeface="Times New Roman"/>
              </a:rPr>
              <a:t>This </a:t>
            </a:r>
            <a:r>
              <a:rPr sz="1400" spc="-5" dirty="0">
                <a:latin typeface="Times New Roman"/>
                <a:cs typeface="Times New Roman"/>
              </a:rPr>
              <a:t>gap 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filled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transferring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position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original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endParaRPr sz="1400" dirty="0">
              <a:latin typeface="Times New Roman"/>
              <a:cs typeface="Times New Roman"/>
            </a:endParaRPr>
          </a:p>
          <a:p>
            <a:pPr marL="469265" marR="2120900">
              <a:lnSpc>
                <a:spcPts val="2420"/>
              </a:lnSpc>
              <a:spcBef>
                <a:spcPts val="200"/>
              </a:spcBef>
              <a:tabLst>
                <a:tab pos="1383665" algn="l"/>
              </a:tabLst>
            </a:pPr>
            <a:r>
              <a:rPr sz="1400" dirty="0">
                <a:latin typeface="Times New Roman"/>
                <a:cs typeface="Times New Roman"/>
              </a:rPr>
              <a:t>A. </a:t>
            </a:r>
            <a:r>
              <a:rPr sz="1400" spc="-5" dirty="0">
                <a:latin typeface="Times New Roman"/>
                <a:cs typeface="Times New Roman"/>
              </a:rPr>
              <a:t>This can be considered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circular shift.  A</a:t>
            </a:r>
            <a:r>
              <a:rPr sz="1400" spc="-5" dirty="0">
                <a:latin typeface="Wingdings"/>
                <a:cs typeface="Wingdings"/>
              </a:rPr>
              <a:t></a:t>
            </a:r>
            <a:r>
              <a:rPr sz="1400" spc="-5" dirty="0">
                <a:latin typeface="Times New Roman"/>
                <a:cs typeface="Times New Roman"/>
              </a:rPr>
              <a:t>Shl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A,	A0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Wingdings"/>
                <a:cs typeface="Wingdings"/>
              </a:rPr>
              <a:t></a:t>
            </a:r>
            <a:r>
              <a:rPr sz="1400" dirty="0">
                <a:latin typeface="Times New Roman"/>
                <a:cs typeface="Times New Roman"/>
              </a:rPr>
              <a:t>An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2: 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Shr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604" y="8109051"/>
            <a:ext cx="5526405" cy="125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When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right,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position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 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vacant. This gap </a:t>
            </a:r>
            <a:r>
              <a:rPr sz="1400" dirty="0">
                <a:latin typeface="Times New Roman"/>
                <a:cs typeface="Times New Roman"/>
              </a:rPr>
              <a:t>can be </a:t>
            </a:r>
            <a:r>
              <a:rPr sz="1400" spc="-5" dirty="0">
                <a:latin typeface="Times New Roman"/>
                <a:cs typeface="Times New Roman"/>
              </a:rPr>
              <a:t>tilled by receiving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value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1 </a:t>
            </a:r>
            <a:r>
              <a:rPr sz="1400" spc="-10" dirty="0">
                <a:latin typeface="Times New Roman"/>
                <a:cs typeface="Times New Roman"/>
              </a:rPr>
              <a:t>bit </a:t>
            </a:r>
            <a:r>
              <a:rPr sz="1400" spc="-5" dirty="0">
                <a:latin typeface="Times New Roman"/>
                <a:cs typeface="Times New Roman"/>
              </a:rPr>
              <a:t>register  </a:t>
            </a:r>
            <a:r>
              <a:rPr sz="1400" dirty="0">
                <a:latin typeface="Times New Roman"/>
                <a:cs typeface="Times New Roman"/>
              </a:rPr>
              <a:t>E.</a:t>
            </a:r>
          </a:p>
          <a:p>
            <a:pPr marL="2070100" algn="just">
              <a:lnSpc>
                <a:spcPct val="100000"/>
              </a:lnSpc>
              <a:spcBef>
                <a:spcPts val="735"/>
              </a:spcBef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Wingdings"/>
                <a:cs typeface="Wingdings"/>
              </a:rPr>
              <a:t></a:t>
            </a:r>
            <a:r>
              <a:rPr sz="1400" dirty="0">
                <a:latin typeface="Times New Roman"/>
                <a:cs typeface="Times New Roman"/>
              </a:rPr>
              <a:t>Shr A, An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Wingdings"/>
                <a:cs typeface="Wingdings"/>
              </a:rPr>
              <a:t></a:t>
            </a:r>
            <a:r>
              <a:rPr sz="1400" spc="-5" dirty="0">
                <a:latin typeface="Times New Roman"/>
                <a:cs typeface="Times New Roman"/>
              </a:rPr>
              <a:t>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4950" y="3308667"/>
            <a:ext cx="4267200" cy="655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1045" y="4372482"/>
            <a:ext cx="5664864" cy="808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6922642"/>
            <a:ext cx="5791079" cy="10001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2465" cy="173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95"/>
              </a:spcBef>
              <a:buAutoNum type="arabicParenR" startAt="2"/>
              <a:tabLst>
                <a:tab pos="23241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Design an arithmetic logic unit (ALU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unit)?</a:t>
            </a:r>
            <a:endParaRPr sz="1600" dirty="0">
              <a:latin typeface="Times New Roman"/>
              <a:cs typeface="Times New Roman"/>
            </a:endParaRPr>
          </a:p>
          <a:p>
            <a:pPr marL="469265" marR="5715" lvl="1" indent="-228600">
              <a:lnSpc>
                <a:spcPct val="142900"/>
              </a:lnSpc>
              <a:spcBef>
                <a:spcPts val="104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ALU </a:t>
            </a:r>
            <a:r>
              <a:rPr sz="1400" dirty="0">
                <a:latin typeface="Times New Roman"/>
                <a:cs typeface="Times New Roman"/>
              </a:rPr>
              <a:t>is a </a:t>
            </a:r>
            <a:r>
              <a:rPr sz="1400" spc="-5" dirty="0">
                <a:latin typeface="Times New Roman"/>
                <a:cs typeface="Times New Roman"/>
              </a:rPr>
              <a:t>multioperation, combinational logic digital function. </a:t>
            </a:r>
            <a:r>
              <a:rPr sz="1400" spc="-1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can  </a:t>
            </a:r>
            <a:r>
              <a:rPr sz="1400" dirty="0">
                <a:latin typeface="Times New Roman"/>
                <a:cs typeface="Times New Roman"/>
              </a:rPr>
              <a:t>perform a set of </a:t>
            </a:r>
            <a:r>
              <a:rPr sz="1400" spc="-5" dirty="0">
                <a:latin typeface="Times New Roman"/>
                <a:cs typeface="Times New Roman"/>
              </a:rPr>
              <a:t>basic arithmetic operations </a:t>
            </a:r>
            <a:r>
              <a:rPr sz="1400" dirty="0">
                <a:latin typeface="Times New Roman"/>
                <a:cs typeface="Times New Roman"/>
              </a:rPr>
              <a:t>and a </a:t>
            </a:r>
            <a:r>
              <a:rPr sz="1400" spc="-5" dirty="0">
                <a:latin typeface="Times New Roman"/>
                <a:cs typeface="Times New Roman"/>
              </a:rPr>
              <a:t>set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>
              <a:lnSpc>
                <a:spcPct val="143600"/>
              </a:lnSpc>
              <a:spcBef>
                <a:spcPts val="9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ALU has number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selection lines to select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particular operation </a:t>
            </a:r>
            <a:r>
              <a:rPr sz="1400" dirty="0">
                <a:latin typeface="Times New Roman"/>
                <a:cs typeface="Times New Roman"/>
              </a:rPr>
              <a:t>in  the </a:t>
            </a:r>
            <a:r>
              <a:rPr sz="1400" spc="-5" dirty="0">
                <a:latin typeface="Times New Roman"/>
                <a:cs typeface="Times New Roman"/>
              </a:rPr>
              <a:t>unit. The selection lines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decoded within the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4964658"/>
            <a:ext cx="5527675" cy="4660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8255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85750" algn="l"/>
              </a:tabLst>
            </a:pPr>
            <a:r>
              <a:rPr dirty="0"/>
              <a:t>	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four data inputs from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are combined with the four </a:t>
            </a:r>
            <a:r>
              <a:rPr sz="1400" spc="-10" dirty="0">
                <a:latin typeface="Times New Roman"/>
                <a:cs typeface="Times New Roman"/>
              </a:rPr>
              <a:t>inputs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to  generate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operation </a:t>
            </a:r>
            <a:r>
              <a:rPr sz="1400" dirty="0">
                <a:latin typeface="Times New Roman"/>
                <a:cs typeface="Times New Roman"/>
              </a:rPr>
              <a:t>at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F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outputs.</a:t>
            </a:r>
            <a:endParaRPr sz="1400" dirty="0">
              <a:latin typeface="Times New Roman"/>
              <a:cs typeface="Times New Roman"/>
            </a:endParaRPr>
          </a:p>
          <a:p>
            <a:pPr marL="240665" marR="8255" indent="-228600" algn="just">
              <a:lnSpc>
                <a:spcPct val="143600"/>
              </a:lnSpc>
              <a:spcBef>
                <a:spcPts val="91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mode select input </a:t>
            </a:r>
            <a:r>
              <a:rPr sz="1400" dirty="0">
                <a:latin typeface="Times New Roman"/>
                <a:cs typeface="Times New Roman"/>
              </a:rPr>
              <a:t>S2 </a:t>
            </a:r>
            <a:r>
              <a:rPr sz="1400" spc="-5" dirty="0">
                <a:latin typeface="Times New Roman"/>
                <a:cs typeface="Times New Roman"/>
              </a:rPr>
              <a:t>distinguishes between arithmetic and logic  operations.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two function select inputs </a:t>
            </a:r>
            <a:r>
              <a:rPr sz="1400" dirty="0">
                <a:latin typeface="Times New Roman"/>
                <a:cs typeface="Times New Roman"/>
              </a:rPr>
              <a:t>S1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S0 </a:t>
            </a:r>
            <a:r>
              <a:rPr sz="1400" spc="-5" dirty="0">
                <a:latin typeface="Times New Roman"/>
                <a:cs typeface="Times New Roman"/>
              </a:rPr>
              <a:t>specify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particular  arithmetic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logic operation to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generated.</a:t>
            </a:r>
            <a:endParaRPr sz="1400" dirty="0">
              <a:latin typeface="Times New Roman"/>
              <a:cs typeface="Times New Roman"/>
            </a:endParaRPr>
          </a:p>
          <a:p>
            <a:pPr marL="240665" marR="8890" indent="-228600" algn="just">
              <a:lnSpc>
                <a:spcPct val="143000"/>
              </a:lnSpc>
              <a:spcBef>
                <a:spcPts val="919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With three selection variables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is possible to specify four arithmetic  operations and four logical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operations.</a:t>
            </a:r>
            <a:endParaRPr sz="14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43600"/>
              </a:lnSpc>
              <a:spcBef>
                <a:spcPts val="9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input and output </a:t>
            </a:r>
            <a:r>
              <a:rPr sz="1400" dirty="0">
                <a:latin typeface="Times New Roman"/>
                <a:cs typeface="Times New Roman"/>
              </a:rPr>
              <a:t>carries </a:t>
            </a:r>
            <a:r>
              <a:rPr sz="1400" spc="5" dirty="0">
                <a:latin typeface="Times New Roman"/>
                <a:cs typeface="Times New Roman"/>
              </a:rPr>
              <a:t>have </a:t>
            </a:r>
            <a:r>
              <a:rPr sz="1400" spc="-5" dirty="0">
                <a:latin typeface="Times New Roman"/>
                <a:cs typeface="Times New Roman"/>
              </a:rPr>
              <a:t>meaning only during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arithmetic  operation. The design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ALU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carried out </a:t>
            </a:r>
            <a:r>
              <a:rPr sz="1400" dirty="0">
                <a:latin typeface="Times New Roman"/>
                <a:cs typeface="Times New Roman"/>
              </a:rPr>
              <a:t>in 3 </a:t>
            </a:r>
            <a:r>
              <a:rPr sz="1400" spc="-5" dirty="0">
                <a:latin typeface="Times New Roman"/>
                <a:cs typeface="Times New Roman"/>
              </a:rPr>
              <a:t>stages: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Design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Arithmetic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section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300" dirty="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Design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section</a:t>
            </a:r>
            <a:endParaRPr sz="1400" dirty="0">
              <a:latin typeface="Times New Roman"/>
              <a:cs typeface="Times New Roman"/>
            </a:endParaRPr>
          </a:p>
          <a:p>
            <a:pPr marL="240665" marR="8255" indent="-228600" algn="just">
              <a:lnSpc>
                <a:spcPct val="144300"/>
              </a:lnSpc>
              <a:spcBef>
                <a:spcPts val="780"/>
              </a:spcBef>
              <a:buAutoNum type="arabicPeriod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Modification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arithmetic section so that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can perform both arithmetic  and logic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67864" y="2822447"/>
            <a:ext cx="4054748" cy="2041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1F5CBEA-2411-93E9-6083-FFFAA7B13AC0}"/>
              </a:ext>
            </a:extLst>
          </p:cNvPr>
          <p:cNvSpPr/>
          <p:nvPr/>
        </p:nvSpPr>
        <p:spPr>
          <a:xfrm>
            <a:off x="1949450" y="2893919"/>
            <a:ext cx="4054748" cy="2041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5640" cy="2774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290" indent="-276225">
              <a:lnSpc>
                <a:spcPct val="100000"/>
              </a:lnSpc>
              <a:spcBef>
                <a:spcPts val="95"/>
              </a:spcBef>
              <a:buAutoNum type="alphaUcParenR" startAt="17"/>
              <a:tabLst>
                <a:tab pos="28892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Design arithmetic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Circuit?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lphaUcParenR" startAt="17"/>
            </a:pPr>
            <a:endParaRPr sz="1500" dirty="0">
              <a:latin typeface="Times New Roman"/>
              <a:cs typeface="Times New Roman"/>
            </a:endParaRPr>
          </a:p>
          <a:p>
            <a:pPr marL="469265" lvl="1" indent="-228600" algn="just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basic component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arithmetic section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ALU is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600"/>
              </a:lnSpc>
              <a:spcBef>
                <a:spcPts val="91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constructed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number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full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circuits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connected 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cascade.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combining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data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inputs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possible 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obtain different types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arithmetic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operations.</a:t>
            </a:r>
            <a:endParaRPr sz="1400" dirty="0">
              <a:latin typeface="Times New Roman"/>
              <a:cs typeface="Times New Roman"/>
            </a:endParaRPr>
          </a:p>
          <a:p>
            <a:pPr marL="469265" marR="6985" lvl="1" indent="-228600" algn="just">
              <a:lnSpc>
                <a:spcPct val="143700"/>
              </a:lnSpc>
              <a:spcBef>
                <a:spcPts val="91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following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figure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demonstrates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arithmetic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operations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obtained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when  one set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inputs to the parallel adder is controlled externally. The no </a:t>
            </a:r>
            <a:r>
              <a:rPr sz="1400" dirty="0">
                <a:latin typeface="Times New Roman"/>
                <a:cs typeface="Times New Roman"/>
              </a:rPr>
              <a:t>of  </a:t>
            </a:r>
            <a:r>
              <a:rPr sz="1400" spc="-5" dirty="0">
                <a:latin typeface="Times New Roman"/>
                <a:cs typeface="Times New Roman"/>
              </a:rPr>
              <a:t>bits in the parallel adder may be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any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value.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0" y="3927414"/>
            <a:ext cx="5563276" cy="2913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37405" y="7070051"/>
            <a:ext cx="5416303" cy="2697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24500" cy="125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changing the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input and Cin, </a:t>
            </a:r>
            <a:r>
              <a:rPr sz="1400" dirty="0">
                <a:latin typeface="Times New Roman"/>
                <a:cs typeface="Times New Roman"/>
              </a:rPr>
              <a:t>we </a:t>
            </a:r>
            <a:r>
              <a:rPr sz="1400" spc="-5" dirty="0">
                <a:latin typeface="Times New Roman"/>
                <a:cs typeface="Times New Roman"/>
              </a:rPr>
              <a:t>get </a:t>
            </a:r>
            <a:r>
              <a:rPr sz="1400" dirty="0">
                <a:latin typeface="Times New Roman"/>
                <a:cs typeface="Times New Roman"/>
              </a:rPr>
              <a:t>8 </a:t>
            </a:r>
            <a:r>
              <a:rPr sz="1400" spc="-5" dirty="0">
                <a:latin typeface="Times New Roman"/>
                <a:cs typeface="Times New Roman"/>
              </a:rPr>
              <a:t>operations. </a:t>
            </a:r>
            <a:r>
              <a:rPr sz="1400" spc="-10" dirty="0">
                <a:latin typeface="Times New Roman"/>
                <a:cs typeface="Times New Roman"/>
              </a:rPr>
              <a:t>So </a:t>
            </a:r>
            <a:r>
              <a:rPr sz="1400" spc="-5" dirty="0">
                <a:latin typeface="Times New Roman"/>
                <a:cs typeface="Times New Roman"/>
              </a:rPr>
              <a:t>the input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is  applied in four different form </a:t>
            </a: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using following circuit. The circuit that  controls input </a:t>
            </a:r>
            <a:r>
              <a:rPr sz="1400" dirty="0">
                <a:latin typeface="Times New Roman"/>
                <a:cs typeface="Times New Roman"/>
              </a:rPr>
              <a:t>B to </a:t>
            </a:r>
            <a:r>
              <a:rPr sz="1400" spc="-5" dirty="0">
                <a:latin typeface="Times New Roman"/>
                <a:cs typeface="Times New Roman"/>
              </a:rPr>
              <a:t>provide the function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called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true/complement,  one/zero element. </a:t>
            </a:r>
            <a:r>
              <a:rPr sz="1400" spc="-10" dirty="0">
                <a:latin typeface="Times New Roman"/>
                <a:cs typeface="Times New Roman"/>
              </a:rPr>
              <a:t>This </a:t>
            </a:r>
            <a:r>
              <a:rPr sz="1400" spc="-5" dirty="0">
                <a:latin typeface="Times New Roman"/>
                <a:cs typeface="Times New Roman"/>
              </a:rPr>
              <a:t>circuit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10" dirty="0">
                <a:latin typeface="Times New Roman"/>
                <a:cs typeface="Times New Roman"/>
              </a:rPr>
              <a:t>shown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follows.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3867125"/>
            <a:ext cx="5528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29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input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applied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directly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4-bit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adder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input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  modified. The resultant arithmetic circuit is shown in below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figure.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9462007"/>
            <a:ext cx="4538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functional table for full adder circuit </a:t>
            </a:r>
            <a:r>
              <a:rPr sz="1400" dirty="0">
                <a:latin typeface="Times New Roman"/>
                <a:cs typeface="Times New Roman"/>
              </a:rPr>
              <a:t>is shown in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figure.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9203" y="2255519"/>
            <a:ext cx="5664864" cy="14534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1868" y="4797538"/>
            <a:ext cx="5212545" cy="43736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71853" y="914399"/>
          <a:ext cx="5660390" cy="3124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566">
                <a:tc gridSpan="3">
                  <a:txBody>
                    <a:bodyPr/>
                    <a:lstStyle/>
                    <a:p>
                      <a:pPr marL="68580">
                        <a:lnSpc>
                          <a:spcPts val="156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select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equals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7945">
                        <a:lnSpc>
                          <a:spcPts val="1614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equals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7945">
                        <a:lnSpc>
                          <a:spcPts val="1614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57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b="1" spc="5" dirty="0">
                          <a:latin typeface="Times New Roman"/>
                          <a:cs typeface="Times New Roman"/>
                        </a:rPr>
                        <a:t>Cin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03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F=A+1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Increment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F=A+B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04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F=A+B+1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708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F=A+B’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1’s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complement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B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F=A+B’+1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2’s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complement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B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803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1’s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F=A-1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Decrement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1’s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F=A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4020438"/>
            <a:ext cx="5755640" cy="1395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indent="-275590">
              <a:lnSpc>
                <a:spcPct val="100000"/>
              </a:lnSpc>
              <a:spcBef>
                <a:spcPts val="95"/>
              </a:spcBef>
              <a:buAutoNum type="alphaUcParenR" startAt="17"/>
              <a:tabLst>
                <a:tab pos="28829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Design Logic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circuit?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lphaUcParenR" startAt="17"/>
            </a:pP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6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microoperation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manipulates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operands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separately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treat  </a:t>
            </a:r>
            <a:r>
              <a:rPr sz="1400" dirty="0">
                <a:latin typeface="Times New Roman"/>
                <a:cs typeface="Times New Roman"/>
              </a:rPr>
              <a:t>each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binary variable. The </a:t>
            </a:r>
            <a:r>
              <a:rPr sz="1400" dirty="0">
                <a:latin typeface="Times New Roman"/>
                <a:cs typeface="Times New Roman"/>
              </a:rPr>
              <a:t>16-logic </a:t>
            </a:r>
            <a:r>
              <a:rPr sz="1400" spc="-5" dirty="0">
                <a:latin typeface="Times New Roman"/>
                <a:cs typeface="Times New Roman"/>
              </a:rPr>
              <a:t>operation </a:t>
            </a:r>
            <a:r>
              <a:rPr sz="1400" dirty="0">
                <a:latin typeface="Times New Roman"/>
                <a:cs typeface="Times New Roman"/>
              </a:rPr>
              <a:t>can be </a:t>
            </a:r>
            <a:r>
              <a:rPr sz="1400" spc="-5" dirty="0">
                <a:latin typeface="Times New Roman"/>
                <a:cs typeface="Times New Roman"/>
              </a:rPr>
              <a:t>generated in  one circuit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selected by means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four selection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lines.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8127339"/>
            <a:ext cx="5528310" cy="1568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29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All logic operations </a:t>
            </a:r>
            <a:r>
              <a:rPr sz="1400" dirty="0">
                <a:latin typeface="Times New Roman"/>
                <a:cs typeface="Times New Roman"/>
              </a:rPr>
              <a:t>can be </a:t>
            </a:r>
            <a:r>
              <a:rPr sz="1400" spc="-5" dirty="0">
                <a:latin typeface="Times New Roman"/>
                <a:cs typeface="Times New Roman"/>
              </a:rPr>
              <a:t>obtained by </a:t>
            </a:r>
            <a:r>
              <a:rPr sz="1400" dirty="0">
                <a:latin typeface="Times New Roman"/>
                <a:cs typeface="Times New Roman"/>
              </a:rPr>
              <a:t>means </a:t>
            </a:r>
            <a:r>
              <a:rPr sz="1400" spc="-5" dirty="0">
                <a:latin typeface="Times New Roman"/>
                <a:cs typeface="Times New Roman"/>
              </a:rPr>
              <a:t>of AND, </a:t>
            </a:r>
            <a:r>
              <a:rPr sz="1400" dirty="0">
                <a:latin typeface="Times New Roman"/>
                <a:cs typeface="Times New Roman"/>
              </a:rPr>
              <a:t>OR and </a:t>
            </a:r>
            <a:r>
              <a:rPr sz="1400" spc="-5" dirty="0">
                <a:latin typeface="Times New Roman"/>
                <a:cs typeface="Times New Roman"/>
              </a:rPr>
              <a:t>NOT  operations.</a:t>
            </a:r>
            <a:endParaRPr sz="1400" dirty="0">
              <a:latin typeface="Times New Roman"/>
              <a:cs typeface="Times New Roman"/>
            </a:endParaRPr>
          </a:p>
          <a:p>
            <a:pPr marL="240665" marR="9525" indent="-228600" algn="just">
              <a:lnSpc>
                <a:spcPct val="143300"/>
              </a:lnSpc>
              <a:spcBef>
                <a:spcPts val="12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three operations, </a:t>
            </a:r>
            <a:r>
              <a:rPr sz="1400" dirty="0">
                <a:latin typeface="Times New Roman"/>
                <a:cs typeface="Times New Roman"/>
              </a:rPr>
              <a:t>we </a:t>
            </a:r>
            <a:r>
              <a:rPr sz="1400" spc="-5" dirty="0">
                <a:latin typeface="Times New Roman"/>
                <a:cs typeface="Times New Roman"/>
              </a:rPr>
              <a:t>need two selection variables. But, with two  selection variables, we </a:t>
            </a:r>
            <a:r>
              <a:rPr sz="1400" dirty="0">
                <a:latin typeface="Times New Roman"/>
                <a:cs typeface="Times New Roman"/>
              </a:rPr>
              <a:t>can </a:t>
            </a:r>
            <a:r>
              <a:rPr sz="1400" spc="-5" dirty="0">
                <a:latin typeface="Times New Roman"/>
                <a:cs typeface="Times New Roman"/>
              </a:rPr>
              <a:t>select four operations. </a:t>
            </a:r>
            <a:r>
              <a:rPr sz="1400" dirty="0">
                <a:latin typeface="Times New Roman"/>
                <a:cs typeface="Times New Roman"/>
              </a:rPr>
              <a:t>So we </a:t>
            </a:r>
            <a:r>
              <a:rPr sz="1400" spc="-5" dirty="0">
                <a:latin typeface="Times New Roman"/>
                <a:cs typeface="Times New Roman"/>
              </a:rPr>
              <a:t>can include one  </a:t>
            </a:r>
            <a:r>
              <a:rPr sz="1400" dirty="0">
                <a:latin typeface="Times New Roman"/>
                <a:cs typeface="Times New Roman"/>
              </a:rPr>
              <a:t>more </a:t>
            </a:r>
            <a:r>
              <a:rPr sz="1400" spc="-5" dirty="0">
                <a:latin typeface="Times New Roman"/>
                <a:cs typeface="Times New Roman"/>
              </a:rPr>
              <a:t>operation XOR </a:t>
            </a:r>
            <a:r>
              <a:rPr sz="1400" dirty="0">
                <a:latin typeface="Times New Roman"/>
                <a:cs typeface="Times New Roman"/>
              </a:rPr>
              <a:t>in our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design.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4650" y="5517828"/>
            <a:ext cx="4796359" cy="2609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29580" cy="2503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above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diagram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shows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design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circuit.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this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typical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stage  designated by subscript </a:t>
            </a:r>
            <a:r>
              <a:rPr sz="1400" dirty="0">
                <a:latin typeface="Times New Roman"/>
                <a:cs typeface="Times New Roman"/>
              </a:rPr>
              <a:t>i. </a:t>
            </a:r>
            <a:r>
              <a:rPr sz="1400" spc="-5" dirty="0">
                <a:latin typeface="Times New Roman"/>
                <a:cs typeface="Times New Roman"/>
              </a:rPr>
              <a:t>The circuit must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repeated </a:t>
            </a:r>
            <a:r>
              <a:rPr sz="1400" dirty="0">
                <a:latin typeface="Times New Roman"/>
                <a:cs typeface="Times New Roman"/>
              </a:rPr>
              <a:t>n times </a:t>
            </a:r>
            <a:r>
              <a:rPr sz="1400" spc="-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an n </a:t>
            </a:r>
            <a:r>
              <a:rPr sz="1400" spc="-5" dirty="0">
                <a:latin typeface="Times New Roman"/>
                <a:cs typeface="Times New Roman"/>
              </a:rPr>
              <a:t>bit  logic circuit.</a:t>
            </a:r>
            <a:endParaRPr sz="1400">
              <a:latin typeface="Times New Roman"/>
              <a:cs typeface="Times New Roman"/>
            </a:endParaRPr>
          </a:p>
          <a:p>
            <a:pPr marL="240665" marR="7620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four gates generate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four logic operations OR, XOR, AND </a:t>
            </a:r>
            <a:r>
              <a:rPr sz="1400" spc="-10" dirty="0">
                <a:latin typeface="Times New Roman"/>
                <a:cs typeface="Times New Roman"/>
              </a:rPr>
              <a:t>and  </a:t>
            </a:r>
            <a:r>
              <a:rPr sz="1400" spc="-5" dirty="0">
                <a:latin typeface="Times New Roman"/>
                <a:cs typeface="Times New Roman"/>
              </a:rPr>
              <a:t>NOT.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two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selection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multiplexer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select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gates 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output.</a:t>
            </a:r>
            <a:endParaRPr sz="1400">
              <a:latin typeface="Times New Roman"/>
              <a:cs typeface="Times New Roman"/>
            </a:endParaRPr>
          </a:p>
          <a:p>
            <a:pPr marL="240665" marR="11430" indent="-228600" algn="just">
              <a:lnSpc>
                <a:spcPct val="143700"/>
              </a:lnSpc>
              <a:spcBef>
                <a:spcPts val="10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function table lists the output logic generated </a:t>
            </a:r>
            <a:r>
              <a:rPr sz="1400" dirty="0">
                <a:latin typeface="Times New Roman"/>
                <a:cs typeface="Times New Roman"/>
              </a:rPr>
              <a:t>as a </a:t>
            </a:r>
            <a:r>
              <a:rPr sz="1400" spc="-5" dirty="0">
                <a:latin typeface="Times New Roman"/>
                <a:cs typeface="Times New Roman"/>
              </a:rPr>
              <a:t>function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two  selection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variables.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23795" y="3406775"/>
          <a:ext cx="2708275" cy="1565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Operation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Fi=Ai+Bi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  <a:tabLst>
                          <a:tab pos="784225" algn="l"/>
                        </a:tabLst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Fi=Ai	Bi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XOR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943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Fi=AiBi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Fi=Ai’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NOT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021350"/>
            <a:ext cx="5752465" cy="72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400"/>
              </a:lnSpc>
              <a:spcBef>
                <a:spcPts val="100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Final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ALU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unit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combining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arithmetic</a:t>
            </a:r>
            <a:r>
              <a:rPr sz="1600" b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circuit</a:t>
            </a:r>
            <a:r>
              <a:rPr sz="1600" b="1" u="heavy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logic 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circuit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27882" y="4044441"/>
            <a:ext cx="213360" cy="160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6073849"/>
            <a:ext cx="5869269" cy="3640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4663"/>
            <a:ext cx="5758180" cy="5008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3335" indent="-228600" algn="just">
              <a:lnSpc>
                <a:spcPct val="144400"/>
              </a:lnSpc>
              <a:spcBef>
                <a:spcPts val="100"/>
              </a:spcBef>
              <a:buFont typeface="Symbol"/>
              <a:buChar char=""/>
              <a:tabLst>
                <a:tab pos="4699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logic circuit can be combined with the arithmetic circuit to  produce one arithmetic logic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unit.</a:t>
            </a:r>
            <a:endParaRPr sz="1600">
              <a:latin typeface="Times New Roman"/>
              <a:cs typeface="Times New Roman"/>
            </a:endParaRPr>
          </a:p>
          <a:p>
            <a:pPr marL="469265" marR="10160" indent="-228600" algn="just">
              <a:lnSpc>
                <a:spcPct val="144000"/>
              </a:lnSpc>
              <a:spcBef>
                <a:spcPts val="894"/>
              </a:spcBef>
              <a:buFont typeface="Symbol"/>
              <a:buChar char=""/>
              <a:tabLst>
                <a:tab pos="469900" algn="l"/>
              </a:tabLst>
            </a:pPr>
            <a:r>
              <a:rPr sz="1600" spc="-5" dirty="0">
                <a:latin typeface="Times New Roman"/>
                <a:cs typeface="Times New Roman"/>
              </a:rPr>
              <a:t>Selection variables S1 and S0 can be made common to both  sections provided we are using a third selection variable S2 to  differentiate between the two. This configuration is illustrated in  the following figure.</a:t>
            </a:r>
            <a:endParaRPr sz="160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4000"/>
              </a:lnSpc>
              <a:spcBef>
                <a:spcPts val="790"/>
              </a:spcBef>
              <a:buFont typeface="Arial"/>
              <a:buChar char="•"/>
              <a:tabLst>
                <a:tab pos="520700" algn="l"/>
              </a:tabLst>
            </a:pPr>
            <a:r>
              <a:rPr dirty="0"/>
              <a:t>	</a:t>
            </a:r>
            <a:r>
              <a:rPr sz="1600" spc="-5" dirty="0">
                <a:latin typeface="Times New Roman"/>
                <a:cs typeface="Times New Roman"/>
              </a:rPr>
              <a:t>The outputs of the logic and arithmetic circuits in each stage go  through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multiplexer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variable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S2.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S2=0,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 arithmetic output </a:t>
            </a:r>
            <a:r>
              <a:rPr sz="1600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selected, but when S2= 1, the logic output is  selected.</a:t>
            </a:r>
            <a:endParaRPr sz="16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0000"/>
              </a:lnSpc>
              <a:spcBef>
                <a:spcPts val="1440"/>
              </a:spcBef>
            </a:pPr>
            <a:r>
              <a:rPr sz="1600" b="1" spc="-10" dirty="0">
                <a:latin typeface="Times New Roman"/>
                <a:cs typeface="Times New Roman"/>
              </a:rPr>
              <a:t>Q)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Design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an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adder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or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subtractor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circuit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with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one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selection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variable  ‘s’ and two inputs A and B. When s=0 the circuit performs A+B.  When s=1, the circuit performs </a:t>
            </a:r>
            <a:r>
              <a:rPr sz="1600" b="1" dirty="0">
                <a:latin typeface="Times New Roman"/>
                <a:cs typeface="Times New Roman"/>
              </a:rPr>
              <a:t>A-B </a:t>
            </a:r>
            <a:r>
              <a:rPr sz="1600" b="1" spc="-5" dirty="0">
                <a:latin typeface="Times New Roman"/>
                <a:cs typeface="Times New Roman"/>
              </a:rPr>
              <a:t>by taking 2’s complement </a:t>
            </a:r>
            <a:r>
              <a:rPr sz="1600" b="1" spc="5" dirty="0">
                <a:latin typeface="Times New Roman"/>
                <a:cs typeface="Times New Roman"/>
              </a:rPr>
              <a:t>of  </a:t>
            </a:r>
            <a:r>
              <a:rPr sz="1600" b="1" spc="-5" dirty="0">
                <a:latin typeface="Times New Roman"/>
                <a:cs typeface="Times New Roman"/>
              </a:rPr>
              <a:t>B?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6955" y="5930594"/>
            <a:ext cx="5486400" cy="3787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6275" cy="389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95"/>
              </a:spcBef>
              <a:buAutoNum type="alphaUcParenR" startAt="17"/>
              <a:tabLst>
                <a:tab pos="27686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Design of Combinational Logic Shifter?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lphaUcParenR" startAt="17"/>
            </a:pPr>
            <a:endParaRPr sz="1550" dirty="0">
              <a:latin typeface="Times New Roman"/>
              <a:cs typeface="Times New Roman"/>
            </a:endParaRPr>
          </a:p>
          <a:p>
            <a:pPr marL="469265" marR="10160" lvl="1" indent="-228600">
              <a:lnSpc>
                <a:spcPct val="143600"/>
              </a:lnSpc>
              <a:buSzPct val="114285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shift unit attached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the processor transfers the output of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ALU  onto the output bus. Shifter may function </a:t>
            </a:r>
            <a:r>
              <a:rPr sz="1400" dirty="0">
                <a:latin typeface="Times New Roman"/>
                <a:cs typeface="Times New Roman"/>
              </a:rPr>
              <a:t>in 4 </a:t>
            </a:r>
            <a:r>
              <a:rPr sz="1400" spc="-5" dirty="0">
                <a:latin typeface="Times New Roman"/>
                <a:cs typeface="Times New Roman"/>
              </a:rPr>
              <a:t>different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ways.</a:t>
            </a:r>
            <a:endParaRPr sz="1400" dirty="0">
              <a:latin typeface="Times New Roman"/>
              <a:cs typeface="Times New Roman"/>
            </a:endParaRPr>
          </a:p>
          <a:p>
            <a:pPr marL="926465" lvl="2" indent="-22923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9271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shifter may transfer the information directly without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shift.</a:t>
            </a:r>
            <a:endParaRPr sz="1400" dirty="0">
              <a:latin typeface="Times New Roman"/>
              <a:cs typeface="Times New Roman"/>
            </a:endParaRPr>
          </a:p>
          <a:p>
            <a:pPr marL="926465" lvl="2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9271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shifter may shift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information to 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right.</a:t>
            </a:r>
          </a:p>
          <a:p>
            <a:pPr marL="926465" lvl="2" indent="-2292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9271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shifter may shift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information to 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left.</a:t>
            </a:r>
          </a:p>
          <a:p>
            <a:pPr marL="926465" lvl="2" indent="-22923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927100" algn="l"/>
              </a:tabLst>
            </a:pP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some cases </a:t>
            </a:r>
            <a:r>
              <a:rPr sz="1400" dirty="0">
                <a:latin typeface="Times New Roman"/>
                <a:cs typeface="Times New Roman"/>
              </a:rPr>
              <a:t>no </a:t>
            </a:r>
            <a:r>
              <a:rPr sz="1400" spc="-5" dirty="0">
                <a:latin typeface="Times New Roman"/>
                <a:cs typeface="Times New Roman"/>
              </a:rPr>
              <a:t>transfer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made from ALU to the output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bus.</a:t>
            </a:r>
            <a:endParaRPr sz="1400" dirty="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shifter is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bi-directional shift-register with parallel load. The  information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from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transferred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parallel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then  shifted to the right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left.</a:t>
            </a:r>
            <a:endParaRPr sz="1400" dirty="0">
              <a:latin typeface="Times New Roman"/>
              <a:cs typeface="Times New Roman"/>
            </a:endParaRPr>
          </a:p>
          <a:p>
            <a:pPr marL="469265" marR="6350" lvl="1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combinational logic shifter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constructed with multiplexers. The  following </a:t>
            </a:r>
            <a:r>
              <a:rPr sz="1400" spc="-10" dirty="0">
                <a:latin typeface="Times New Roman"/>
                <a:cs typeface="Times New Roman"/>
              </a:rPr>
              <a:t>figure </a:t>
            </a:r>
            <a:r>
              <a:rPr sz="1400" spc="-5" dirty="0">
                <a:latin typeface="Times New Roman"/>
                <a:cs typeface="Times New Roman"/>
              </a:rPr>
              <a:t>will </a:t>
            </a:r>
            <a:r>
              <a:rPr sz="1400" dirty="0">
                <a:latin typeface="Times New Roman"/>
                <a:cs typeface="Times New Roman"/>
              </a:rPr>
              <a:t>show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7952078"/>
            <a:ext cx="5523865" cy="126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this configuration,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clock pulse is needed for the transfer to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10" dirty="0">
                <a:latin typeface="Times New Roman"/>
                <a:cs typeface="Times New Roman"/>
              </a:rPr>
              <a:t>shift  </a:t>
            </a:r>
            <a:r>
              <a:rPr sz="1400" spc="-5" dirty="0">
                <a:latin typeface="Times New Roman"/>
                <a:cs typeface="Times New Roman"/>
              </a:rPr>
              <a:t>register, and another pulse is needed for the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shift.</a:t>
            </a:r>
            <a:endParaRPr sz="14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000"/>
              </a:lnSpc>
              <a:spcBef>
                <a:spcPts val="1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Another clock pulse </a:t>
            </a:r>
            <a:r>
              <a:rPr sz="1400" dirty="0">
                <a:latin typeface="Times New Roman"/>
                <a:cs typeface="Times New Roman"/>
              </a:rPr>
              <a:t>may </a:t>
            </a:r>
            <a:r>
              <a:rPr sz="1400" spc="-5" dirty="0">
                <a:latin typeface="Times New Roman"/>
                <a:cs typeface="Times New Roman"/>
              </a:rPr>
              <a:t>also in need </a:t>
            </a:r>
            <a:r>
              <a:rPr sz="1400" dirty="0">
                <a:latin typeface="Times New Roman"/>
                <a:cs typeface="Times New Roman"/>
              </a:rPr>
              <a:t>of when </a:t>
            </a:r>
            <a:r>
              <a:rPr sz="1400" spc="-5" dirty="0">
                <a:latin typeface="Times New Roman"/>
                <a:cs typeface="Times New Roman"/>
              </a:rPr>
              <a:t>information is </a:t>
            </a:r>
            <a:r>
              <a:rPr sz="1400" dirty="0">
                <a:latin typeface="Times New Roman"/>
                <a:cs typeface="Times New Roman"/>
              </a:rPr>
              <a:t>passed </a:t>
            </a:r>
            <a:r>
              <a:rPr sz="1400" spc="-5" dirty="0">
                <a:latin typeface="Times New Roman"/>
                <a:cs typeface="Times New Roman"/>
              </a:rPr>
              <a:t>from  shift register to destination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7505" y="4879974"/>
            <a:ext cx="5646507" cy="3059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28310" cy="3744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9525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number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clock pulses may reduce </a:t>
            </a:r>
            <a:r>
              <a:rPr sz="1400" dirty="0">
                <a:latin typeface="Times New Roman"/>
                <a:cs typeface="Times New Roman"/>
              </a:rPr>
              <a:t>if the shifter </a:t>
            </a:r>
            <a:r>
              <a:rPr sz="1400" spc="-5" dirty="0">
                <a:latin typeface="Times New Roman"/>
                <a:cs typeface="Times New Roman"/>
              </a:rPr>
              <a:t>is implemented with 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combinational circuit. </a:t>
            </a:r>
            <a:r>
              <a:rPr sz="1400" spc="-1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such cases, only one clock pulse is required </a:t>
            </a:r>
            <a:r>
              <a:rPr sz="1400" dirty="0">
                <a:latin typeface="Times New Roman"/>
                <a:cs typeface="Times New Roman"/>
              </a:rPr>
              <a:t>to  </a:t>
            </a:r>
            <a:r>
              <a:rPr sz="1400" spc="-5" dirty="0">
                <a:latin typeface="Times New Roman"/>
                <a:cs typeface="Times New Roman"/>
              </a:rPr>
              <a:t>transfer from source register to destination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combinational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shifter,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signals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from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output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bus  propagate through gates without the need for clock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pulse.</a:t>
            </a:r>
            <a:endParaRPr sz="14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Shifter </a:t>
            </a:r>
            <a:r>
              <a:rPr sz="1400" spc="-5" dirty="0">
                <a:latin typeface="Times New Roman"/>
                <a:cs typeface="Times New Roman"/>
              </a:rPr>
              <a:t>operation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selected by two variables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H1H0.</a:t>
            </a:r>
            <a:endParaRPr sz="1400" dirty="0">
              <a:latin typeface="Times New Roman"/>
              <a:cs typeface="Times New Roman"/>
            </a:endParaRPr>
          </a:p>
          <a:p>
            <a:pPr marL="697865" marR="6985" lvl="1" indent="-228600">
              <a:lnSpc>
                <a:spcPts val="2410"/>
              </a:lnSpc>
              <a:spcBef>
                <a:spcPts val="204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If H1 </a:t>
            </a:r>
            <a:r>
              <a:rPr sz="1400" spc="-5" dirty="0">
                <a:latin typeface="Times New Roman"/>
                <a:cs typeface="Times New Roman"/>
              </a:rPr>
              <a:t>H0=00, </a:t>
            </a:r>
            <a:r>
              <a:rPr sz="1400" dirty="0">
                <a:latin typeface="Times New Roman"/>
                <a:cs typeface="Times New Roman"/>
              </a:rPr>
              <a:t>no </a:t>
            </a:r>
            <a:r>
              <a:rPr sz="1400" spc="-5" dirty="0">
                <a:latin typeface="Times New Roman"/>
                <a:cs typeface="Times New Roman"/>
              </a:rPr>
              <a:t>shift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executed and the signals from </a:t>
            </a:r>
            <a:r>
              <a:rPr sz="1400" dirty="0">
                <a:latin typeface="Times New Roman"/>
                <a:cs typeface="Times New Roman"/>
              </a:rPr>
              <a:t>F </a:t>
            </a:r>
            <a:r>
              <a:rPr sz="1400" spc="-5" dirty="0">
                <a:latin typeface="Times New Roman"/>
                <a:cs typeface="Times New Roman"/>
              </a:rPr>
              <a:t>go directly 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lines.</a:t>
            </a:r>
            <a:endParaRPr sz="14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535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H1 H0=01, shift right 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executed</a:t>
            </a:r>
            <a:endParaRPr sz="14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H1 H0=10, shift left 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executed.</a:t>
            </a:r>
            <a:endParaRPr sz="1400" dirty="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H1 H0=11,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</a:t>
            </a:r>
            <a:endParaRPr sz="14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85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following summarizes the operation of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shifter.</a:t>
            </a:r>
            <a:endParaRPr sz="14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71853" y="4645786"/>
          <a:ext cx="5233669" cy="11706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2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6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H1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H0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Operation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4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5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shr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right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5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left F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Transfer 0’s into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76604" y="5895822"/>
            <a:ext cx="5871845" cy="383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4665" marR="939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495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above diagram of combinational-logic shifter shows only four stages 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shifter.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shifter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must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consist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stages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system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parallel  lines.</a:t>
            </a:r>
            <a:endParaRPr sz="1400" dirty="0">
              <a:latin typeface="Times New Roman"/>
              <a:cs typeface="Times New Roman"/>
            </a:endParaRPr>
          </a:p>
          <a:p>
            <a:pPr marL="494665" marR="99060" indent="-228600" algn="just">
              <a:lnSpc>
                <a:spcPct val="143600"/>
              </a:lnSpc>
              <a:spcBef>
                <a:spcPts val="115"/>
              </a:spcBef>
              <a:buFont typeface="Symbol"/>
              <a:buChar char=""/>
              <a:tabLst>
                <a:tab pos="495300" algn="l"/>
              </a:tabLst>
            </a:pPr>
            <a:r>
              <a:rPr sz="1400" spc="-5" dirty="0">
                <a:latin typeface="Times New Roman"/>
                <a:cs typeface="Times New Roman"/>
              </a:rPr>
              <a:t>Inputs 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350" baseline="-9259" dirty="0">
                <a:latin typeface="Times New Roman"/>
                <a:cs typeface="Times New Roman"/>
              </a:rPr>
              <a:t>R </a:t>
            </a:r>
            <a:r>
              <a:rPr sz="1400" spc="-5" dirty="0">
                <a:latin typeface="Times New Roman"/>
                <a:cs typeface="Times New Roman"/>
              </a:rPr>
              <a:t>and I</a:t>
            </a:r>
            <a:r>
              <a:rPr sz="1350" spc="-7" baseline="-9259" dirty="0">
                <a:latin typeface="Times New Roman"/>
                <a:cs typeface="Times New Roman"/>
              </a:rPr>
              <a:t>L </a:t>
            </a:r>
            <a:r>
              <a:rPr sz="1400" spc="-5" dirty="0">
                <a:latin typeface="Times New Roman"/>
                <a:cs typeface="Times New Roman"/>
              </a:rPr>
              <a:t>serve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serial inputs for the last and first stages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10" dirty="0">
                <a:latin typeface="Times New Roman"/>
                <a:cs typeface="Times New Roman"/>
              </a:rPr>
              <a:t>fill </a:t>
            </a:r>
            <a:r>
              <a:rPr sz="1400" spc="-5" dirty="0">
                <a:latin typeface="Times New Roman"/>
                <a:cs typeface="Times New Roman"/>
              </a:rPr>
              <a:t>the  gap which must occur during shift right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shift left operations  respectively.</a:t>
            </a:r>
            <a:endParaRPr sz="1400" dirty="0">
              <a:latin typeface="Times New Roman"/>
              <a:cs typeface="Times New Roman"/>
            </a:endParaRPr>
          </a:p>
          <a:p>
            <a:pPr marL="539115" indent="-273050" algn="just">
              <a:lnSpc>
                <a:spcPct val="100000"/>
              </a:lnSpc>
              <a:spcBef>
                <a:spcPts val="825"/>
              </a:spcBef>
              <a:buFont typeface="Symbol"/>
              <a:buChar char=""/>
              <a:tabLst>
                <a:tab pos="539750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selection variable </a:t>
            </a:r>
            <a:r>
              <a:rPr sz="1400" dirty="0">
                <a:latin typeface="Times New Roman"/>
                <a:cs typeface="Times New Roman"/>
              </a:rPr>
              <a:t>H2 </a:t>
            </a:r>
            <a:r>
              <a:rPr sz="1400" spc="-5" dirty="0">
                <a:latin typeface="Times New Roman"/>
                <a:cs typeface="Times New Roman"/>
              </a:rPr>
              <a:t>may use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specifying what goes into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350" spc="15" baseline="-9259" dirty="0">
                <a:latin typeface="Times New Roman"/>
                <a:cs typeface="Times New Roman"/>
              </a:rPr>
              <a:t>R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</a:t>
            </a:r>
            <a:r>
              <a:rPr sz="1350" spc="-7" baseline="-9259" dirty="0">
                <a:latin typeface="Times New Roman"/>
                <a:cs typeface="Times New Roman"/>
              </a:rPr>
              <a:t>L</a:t>
            </a:r>
            <a:r>
              <a:rPr sz="1400" spc="-5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301625" indent="-264160">
              <a:lnSpc>
                <a:spcPct val="100000"/>
              </a:lnSpc>
              <a:spcBef>
                <a:spcPts val="5"/>
              </a:spcBef>
              <a:buAutoNum type="alphaUcParenR" startAt="17"/>
              <a:tabLst>
                <a:tab pos="30226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Design 4-bit Status Register?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AutoNum type="alphaUcParenR" startAt="17"/>
            </a:pPr>
            <a:endParaRPr sz="1400" dirty="0">
              <a:latin typeface="Times New Roman"/>
              <a:cs typeface="Times New Roman"/>
            </a:endParaRPr>
          </a:p>
          <a:p>
            <a:pPr marL="494665" marR="93980" lvl="1" indent="-228600" algn="just">
              <a:lnSpc>
                <a:spcPct val="143600"/>
              </a:lnSpc>
              <a:buFont typeface="Symbol"/>
              <a:buChar char=""/>
              <a:tabLst>
                <a:tab pos="495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relative magnitude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two numbers may be determined by subtracting  one number from the other and then checking certain bit conditions in the  resultant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difference.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status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bit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conditions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stored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status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31485" cy="463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checking conditions may vary for signed and unsigned numbers.  Status register is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4-bit register. The four bits are </a:t>
            </a:r>
            <a:r>
              <a:rPr sz="1400" dirty="0">
                <a:latin typeface="Times New Roman"/>
                <a:cs typeface="Times New Roman"/>
              </a:rPr>
              <a:t>C </a:t>
            </a:r>
            <a:r>
              <a:rPr sz="1400" spc="-5" dirty="0">
                <a:latin typeface="Times New Roman"/>
                <a:cs typeface="Times New Roman"/>
              </a:rPr>
              <a:t>(carry), </a:t>
            </a:r>
            <a:r>
              <a:rPr sz="1400" dirty="0">
                <a:latin typeface="Times New Roman"/>
                <a:cs typeface="Times New Roman"/>
              </a:rPr>
              <a:t>Z (zero), S  </a:t>
            </a:r>
            <a:r>
              <a:rPr sz="1400" spc="-5" dirty="0">
                <a:latin typeface="Times New Roman"/>
                <a:cs typeface="Times New Roman"/>
              </a:rPr>
              <a:t>(sign)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V </a:t>
            </a:r>
            <a:r>
              <a:rPr sz="1400" spc="-5" dirty="0">
                <a:latin typeface="Times New Roman"/>
                <a:cs typeface="Times New Roman"/>
              </a:rPr>
              <a:t>(overflow). These bits are </a:t>
            </a:r>
            <a:r>
              <a:rPr sz="1400" dirty="0">
                <a:latin typeface="Times New Roman"/>
                <a:cs typeface="Times New Roman"/>
              </a:rPr>
              <a:t>set </a:t>
            </a:r>
            <a:r>
              <a:rPr sz="1400" spc="-5" dirty="0">
                <a:latin typeface="Times New Roman"/>
                <a:cs typeface="Times New Roman"/>
              </a:rPr>
              <a:t>or cleared </a:t>
            </a:r>
            <a:r>
              <a:rPr sz="1400" dirty="0">
                <a:latin typeface="Times New Roman"/>
                <a:cs typeface="Times New Roman"/>
              </a:rPr>
              <a:t>as a </a:t>
            </a:r>
            <a:r>
              <a:rPr sz="1400" spc="-5" dirty="0">
                <a:latin typeface="Times New Roman"/>
                <a:cs typeface="Times New Roman"/>
              </a:rPr>
              <a:t>result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an  </a:t>
            </a:r>
            <a:r>
              <a:rPr sz="1400" spc="-5" dirty="0">
                <a:latin typeface="Times New Roman"/>
                <a:cs typeface="Times New Roman"/>
              </a:rPr>
              <a:t>operation performed in 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 dirty="0">
              <a:latin typeface="Times New Roman"/>
              <a:cs typeface="Times New Roman"/>
            </a:endParaRPr>
          </a:p>
          <a:p>
            <a:pPr marL="697865" marR="7620" lvl="1" indent="-228600" algn="just">
              <a:lnSpc>
                <a:spcPts val="2420"/>
              </a:lnSpc>
              <a:spcBef>
                <a:spcPts val="20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sz="1400" b="1" dirty="0">
                <a:latin typeface="Times New Roman"/>
                <a:cs typeface="Times New Roman"/>
              </a:rPr>
              <a:t>Bit C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dirty="0">
                <a:latin typeface="Times New Roman"/>
                <a:cs typeface="Times New Roman"/>
              </a:rPr>
              <a:t>set if </a:t>
            </a:r>
            <a:r>
              <a:rPr sz="1400" spc="-5" dirty="0">
                <a:latin typeface="Times New Roman"/>
                <a:cs typeface="Times New Roman"/>
              </a:rPr>
              <a:t>the output carry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ALU </a:t>
            </a:r>
            <a:r>
              <a:rPr sz="1400" dirty="0">
                <a:latin typeface="Times New Roman"/>
                <a:cs typeface="Times New Roman"/>
              </a:rPr>
              <a:t>is 1. It is </a:t>
            </a:r>
            <a:r>
              <a:rPr sz="1400" spc="-5" dirty="0">
                <a:latin typeface="Times New Roman"/>
                <a:cs typeface="Times New Roman"/>
              </a:rPr>
              <a:t>cleared </a:t>
            </a: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the  output carry is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</a:t>
            </a:r>
          </a:p>
          <a:p>
            <a:pPr marL="697865" lvl="1" indent="-229235" algn="just">
              <a:lnSpc>
                <a:spcPct val="100000"/>
              </a:lnSpc>
              <a:spcBef>
                <a:spcPts val="53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sz="1400" b="1" dirty="0">
                <a:latin typeface="Times New Roman"/>
                <a:cs typeface="Times New Roman"/>
              </a:rPr>
              <a:t>Bit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highest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order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result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output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697865" algn="just">
              <a:lnSpc>
                <a:spcPct val="100000"/>
              </a:lnSpc>
              <a:spcBef>
                <a:spcPts val="735"/>
              </a:spcBef>
            </a:pP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ALU is </a:t>
            </a:r>
            <a:r>
              <a:rPr sz="1400" spc="5" dirty="0">
                <a:latin typeface="Times New Roman"/>
                <a:cs typeface="Times New Roman"/>
              </a:rPr>
              <a:t>1. </a:t>
            </a: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the highest order </a:t>
            </a:r>
            <a:r>
              <a:rPr sz="1400" spc="-10" dirty="0">
                <a:latin typeface="Times New Roman"/>
                <a:cs typeface="Times New Roman"/>
              </a:rPr>
              <a:t>bit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dirty="0">
                <a:latin typeface="Times New Roman"/>
                <a:cs typeface="Times New Roman"/>
              </a:rPr>
              <a:t>0, </a:t>
            </a:r>
            <a:r>
              <a:rPr sz="1400" spc="-5" dirty="0">
                <a:latin typeface="Times New Roman"/>
                <a:cs typeface="Times New Roman"/>
              </a:rPr>
              <a:t>this </a:t>
            </a:r>
            <a:r>
              <a:rPr sz="1400" spc="-10" dirty="0">
                <a:latin typeface="Times New Roman"/>
                <a:cs typeface="Times New Roman"/>
              </a:rPr>
              <a:t>bit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cleared.</a:t>
            </a:r>
            <a:endParaRPr sz="1400" dirty="0">
              <a:latin typeface="Times New Roman"/>
              <a:cs typeface="Times New Roman"/>
            </a:endParaRPr>
          </a:p>
          <a:p>
            <a:pPr marL="697865" marR="9525" lvl="1" indent="-228600" algn="just">
              <a:lnSpc>
                <a:spcPct val="143600"/>
              </a:lnSpc>
              <a:buFont typeface="Times New Roman"/>
              <a:buAutoNum type="arabicPeriod" startAt="3"/>
              <a:tabLst>
                <a:tab pos="698500" algn="l"/>
              </a:tabLst>
            </a:pPr>
            <a:r>
              <a:rPr sz="1400" b="1" dirty="0">
                <a:latin typeface="Times New Roman"/>
                <a:cs typeface="Times New Roman"/>
              </a:rPr>
              <a:t>Bit Z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dirty="0">
                <a:latin typeface="Times New Roman"/>
                <a:cs typeface="Times New Roman"/>
              </a:rPr>
              <a:t>set to 1 </a:t>
            </a:r>
            <a:r>
              <a:rPr sz="1400" spc="-5" dirty="0">
                <a:latin typeface="Times New Roman"/>
                <a:cs typeface="Times New Roman"/>
              </a:rPr>
              <a:t>if the output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ALU contains all 0’s. That is </a:t>
            </a:r>
            <a:r>
              <a:rPr sz="1400" dirty="0">
                <a:latin typeface="Times New Roman"/>
                <a:cs typeface="Times New Roman"/>
              </a:rPr>
              <a:t>if  the </a:t>
            </a:r>
            <a:r>
              <a:rPr sz="1400" spc="-5" dirty="0">
                <a:latin typeface="Times New Roman"/>
                <a:cs typeface="Times New Roman"/>
              </a:rPr>
              <a:t>result is zero </a:t>
            </a:r>
            <a:r>
              <a:rPr sz="1400" dirty="0">
                <a:latin typeface="Times New Roman"/>
                <a:cs typeface="Times New Roman"/>
              </a:rPr>
              <a:t>Z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10" dirty="0">
                <a:latin typeface="Times New Roman"/>
                <a:cs typeface="Times New Roman"/>
              </a:rPr>
              <a:t>1,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if </a:t>
            </a:r>
            <a:r>
              <a:rPr sz="1400" spc="-5" dirty="0">
                <a:latin typeface="Times New Roman"/>
                <a:cs typeface="Times New Roman"/>
              </a:rPr>
              <a:t>the result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nonzero </a:t>
            </a:r>
            <a:r>
              <a:rPr sz="1400" dirty="0">
                <a:latin typeface="Times New Roman"/>
                <a:cs typeface="Times New Roman"/>
              </a:rPr>
              <a:t>Z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5" dirty="0">
                <a:latin typeface="Times New Roman"/>
                <a:cs typeface="Times New Roman"/>
              </a:rPr>
              <a:t>0.</a:t>
            </a:r>
            <a:endParaRPr sz="1400" dirty="0">
              <a:latin typeface="Times New Roman"/>
              <a:cs typeface="Times New Roman"/>
            </a:endParaRPr>
          </a:p>
          <a:p>
            <a:pPr marL="697865" marR="10160" lvl="1" indent="-228600" algn="just">
              <a:lnSpc>
                <a:spcPct val="143600"/>
              </a:lnSpc>
              <a:spcBef>
                <a:spcPts val="10"/>
              </a:spcBef>
              <a:buFont typeface="Times New Roman"/>
              <a:buAutoNum type="arabicPeriod" startAt="3"/>
              <a:tabLst>
                <a:tab pos="698500" algn="l"/>
              </a:tabLst>
            </a:pPr>
            <a:r>
              <a:rPr sz="1400" b="1" dirty="0">
                <a:latin typeface="Times New Roman"/>
                <a:cs typeface="Times New Roman"/>
              </a:rPr>
              <a:t>Bit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set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exclusive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carries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C8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C9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cleared  otherwise. This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the condition for overflow when the numbers </a:t>
            </a:r>
            <a:r>
              <a:rPr sz="1400" dirty="0">
                <a:latin typeface="Times New Roman"/>
                <a:cs typeface="Times New Roman"/>
              </a:rPr>
              <a:t>are  in </a:t>
            </a:r>
            <a:r>
              <a:rPr sz="1400" spc="-10" dirty="0">
                <a:latin typeface="Times New Roman"/>
                <a:cs typeface="Times New Roman"/>
              </a:rPr>
              <a:t>Signed </a:t>
            </a:r>
            <a:r>
              <a:rPr sz="1400" spc="-5" dirty="0">
                <a:latin typeface="Times New Roman"/>
                <a:cs typeface="Times New Roman"/>
              </a:rPr>
              <a:t>2’s complement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representation.</a:t>
            </a:r>
            <a:endParaRPr sz="1400" dirty="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following figure shows the </a:t>
            </a:r>
            <a:r>
              <a:rPr sz="1400" spc="-10" dirty="0">
                <a:latin typeface="Times New Roman"/>
                <a:cs typeface="Times New Roman"/>
              </a:rPr>
              <a:t>block </a:t>
            </a:r>
            <a:r>
              <a:rPr sz="1400" spc="-5" dirty="0">
                <a:latin typeface="Times New Roman"/>
                <a:cs typeface="Times New Roman"/>
              </a:rPr>
              <a:t>diagram </a:t>
            </a:r>
            <a:r>
              <a:rPr sz="1400" dirty="0">
                <a:latin typeface="Times New Roman"/>
                <a:cs typeface="Times New Roman"/>
              </a:rPr>
              <a:t>of an </a:t>
            </a:r>
            <a:r>
              <a:rPr sz="1400" spc="5" dirty="0">
                <a:latin typeface="Times New Roman"/>
                <a:cs typeface="Times New Roman"/>
              </a:rPr>
              <a:t>8-bit </a:t>
            </a:r>
            <a:r>
              <a:rPr sz="1400" spc="-5" dirty="0">
                <a:latin typeface="Times New Roman"/>
                <a:cs typeface="Times New Roman"/>
              </a:rPr>
              <a:t>ALU with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10" dirty="0">
                <a:latin typeface="Times New Roman"/>
                <a:cs typeface="Times New Roman"/>
              </a:rPr>
              <a:t>4-  </a:t>
            </a:r>
            <a:r>
              <a:rPr sz="1400" spc="-5" dirty="0">
                <a:latin typeface="Times New Roman"/>
                <a:cs typeface="Times New Roman"/>
              </a:rPr>
              <a:t>bit status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3450" y="5540120"/>
            <a:ext cx="6117178" cy="3819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30215" cy="2810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10795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After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ALU operation, status bits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checked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determine the  relationship that exist between the values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B. If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dirty="0">
                <a:latin typeface="Times New Roman"/>
                <a:cs typeface="Times New Roman"/>
              </a:rPr>
              <a:t>V </a:t>
            </a:r>
            <a:r>
              <a:rPr sz="1400" spc="-5" dirty="0">
                <a:latin typeface="Times New Roman"/>
                <a:cs typeface="Times New Roman"/>
              </a:rPr>
              <a:t>is set after 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addition two signed numbers, it indicates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overflow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condition.</a:t>
            </a:r>
            <a:endParaRPr sz="1400">
              <a:latin typeface="Times New Roman"/>
              <a:cs typeface="Times New Roman"/>
            </a:endParaRPr>
          </a:p>
          <a:p>
            <a:pPr marL="240665" marR="8255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If Z is </a:t>
            </a:r>
            <a:r>
              <a:rPr sz="1400" spc="-5" dirty="0">
                <a:latin typeface="Times New Roman"/>
                <a:cs typeface="Times New Roman"/>
              </a:rPr>
              <a:t>set after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exclusive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operation,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indicates that A=B.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single  bit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checked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determine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it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by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masking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all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except 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question and then checking the </a:t>
            </a:r>
            <a:r>
              <a:rPr sz="1400" dirty="0">
                <a:latin typeface="Times New Roman"/>
                <a:cs typeface="Times New Roman"/>
              </a:rPr>
              <a:t>Z </a:t>
            </a:r>
            <a:r>
              <a:rPr sz="1400" spc="-5" dirty="0">
                <a:latin typeface="Times New Roman"/>
                <a:cs typeface="Times New Roman"/>
              </a:rPr>
              <a:t>status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bit.</a:t>
            </a:r>
            <a:endParaRPr sz="140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43700"/>
              </a:lnSpc>
              <a:spcBef>
                <a:spcPts val="10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following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table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lists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various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conditions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determining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relative  magnitudes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B by </a:t>
            </a:r>
            <a:r>
              <a:rPr sz="1400" spc="-5" dirty="0">
                <a:latin typeface="Times New Roman"/>
                <a:cs typeface="Times New Roman"/>
              </a:rPr>
              <a:t>checking the status bit when the operation is  performed </a:t>
            </a:r>
            <a:r>
              <a:rPr sz="1400" dirty="0">
                <a:latin typeface="Times New Roman"/>
                <a:cs typeface="Times New Roman"/>
              </a:rPr>
              <a:t>on </a:t>
            </a:r>
            <a:r>
              <a:rPr sz="1400" spc="-5" dirty="0">
                <a:latin typeface="Times New Roman"/>
                <a:cs typeface="Times New Roman"/>
              </a:rPr>
              <a:t>unsigned binary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numbers.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14398" y="3713098"/>
          <a:ext cx="4156708" cy="24980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267"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Relation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Condition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Boolean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A&lt;B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A&lt;=B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C=1or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Z=1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C+Z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674">
                <a:tc>
                  <a:txBody>
                    <a:bodyPr/>
                    <a:lstStyle/>
                    <a:p>
                      <a:pPr marL="67945">
                        <a:lnSpc>
                          <a:spcPts val="1614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A&gt;B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4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C=0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4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A&gt;=B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C=0 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C’+Z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Z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A≠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5" dirty="0">
                          <a:latin typeface="Times New Roman"/>
                          <a:cs typeface="Times New Roman"/>
                        </a:rPr>
                        <a:t>Z’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30604" y="6289014"/>
            <a:ext cx="5525770" cy="948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marR="5080" indent="-228600" algn="just">
              <a:lnSpc>
                <a:spcPct val="144000"/>
              </a:lnSpc>
              <a:spcBef>
                <a:spcPts val="10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following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table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lists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various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conditions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for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determining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relative  magnitudes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B </a:t>
            </a:r>
            <a:r>
              <a:rPr sz="1400" spc="-5" dirty="0">
                <a:latin typeface="Times New Roman"/>
                <a:cs typeface="Times New Roman"/>
              </a:rPr>
              <a:t>by checking the status bits when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operation is  performed </a:t>
            </a:r>
            <a:r>
              <a:rPr sz="1400" dirty="0">
                <a:latin typeface="Times New Roman"/>
                <a:cs typeface="Times New Roman"/>
              </a:rPr>
              <a:t>on </a:t>
            </a:r>
            <a:r>
              <a:rPr sz="1400" spc="-5" dirty="0">
                <a:latin typeface="Times New Roman"/>
                <a:cs typeface="Times New Roman"/>
              </a:rPr>
              <a:t>signed binary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numbers.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98346" y="7328661"/>
          <a:ext cx="5143500" cy="1940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1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Relation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14984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Condition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2255" marR="254635" indent="8890">
                        <a:lnSpc>
                          <a:spcPts val="1610"/>
                        </a:lnSpc>
                        <a:spcBef>
                          <a:spcPts val="1060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Boolean 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funct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34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A&gt;B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Z=0 and (S=0,V=0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S=1,V=1)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Z’(S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DejaVu Sans"/>
                          <a:cs typeface="DejaVu Sans"/>
                        </a:rPr>
                        <a:t>⨀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V)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A&gt;=B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Z=1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(S=0,V=0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S=1,V=1)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(S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45" dirty="0">
                          <a:latin typeface="DejaVu Sans"/>
                          <a:cs typeface="DejaVu Sans"/>
                        </a:rPr>
                        <a:t>⨀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V)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A&lt;B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S=1,V=0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S=0,V=1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(S </a:t>
                      </a:r>
                      <a:r>
                        <a:rPr sz="1100" spc="-140" dirty="0">
                          <a:latin typeface="DejaVu Sans"/>
                          <a:cs typeface="DejaVu Sans"/>
                        </a:rPr>
                        <a:t>⨁</a:t>
                      </a:r>
                      <a:r>
                        <a:rPr sz="1100" spc="-22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V)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A&lt;=B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S=1,V=0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S=0,V=1or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(S </a:t>
                      </a:r>
                      <a:r>
                        <a:rPr sz="1100" spc="-140" dirty="0">
                          <a:latin typeface="DejaVu Sans"/>
                          <a:cs typeface="DejaVu Sans"/>
                        </a:rPr>
                        <a:t>⨁</a:t>
                      </a:r>
                      <a:r>
                        <a:rPr sz="1100" spc="-22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V)+Z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A=B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Z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A≠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Z=0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570"/>
                        </a:lnSpc>
                      </a:pPr>
                      <a:r>
                        <a:rPr sz="1400" spc="5" dirty="0">
                          <a:latin typeface="Times New Roman"/>
                          <a:cs typeface="Times New Roman"/>
                        </a:rPr>
                        <a:t>Z’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4370" cy="1715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95"/>
              </a:spcBef>
              <a:buAutoNum type="alphaUcParenR" startAt="17"/>
              <a:tabLst>
                <a:tab pos="27686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Draw and </a:t>
            </a:r>
            <a:r>
              <a:rPr sz="1600" b="1" i="1" dirty="0">
                <a:latin typeface="Times New Roman"/>
                <a:cs typeface="Times New Roman"/>
              </a:rPr>
              <a:t>explain </a:t>
            </a:r>
            <a:r>
              <a:rPr sz="1600" b="1" i="1" spc="-5" dirty="0">
                <a:latin typeface="Times New Roman"/>
                <a:cs typeface="Times New Roman"/>
              </a:rPr>
              <a:t>the block diagram of Processor</a:t>
            </a:r>
            <a:r>
              <a:rPr sz="1600" b="1" i="1" spc="2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Unit?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lphaUcParenR" startAt="17"/>
            </a:pPr>
            <a:endParaRPr sz="1400">
              <a:latin typeface="Times New Roman"/>
              <a:cs typeface="Times New Roman"/>
            </a:endParaRPr>
          </a:p>
          <a:p>
            <a:pPr marL="469265" marR="5080" lvl="1" indent="-228600" algn="just">
              <a:lnSpc>
                <a:spcPct val="1432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micro-operations within the processor during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given clock cycle can 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determined by the selection variables. The selection variables control 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buses, the ALU, the shifter, and the destination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>
              <a:latin typeface="Times New Roman"/>
              <a:cs typeface="Times New Roman"/>
            </a:endParaRPr>
          </a:p>
          <a:p>
            <a:pPr marL="469265" lvl="1" indent="-228600" algn="just">
              <a:lnSpc>
                <a:spcPct val="100000"/>
              </a:lnSpc>
              <a:spcBef>
                <a:spcPts val="850"/>
              </a:spcBef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block diagram for the processing unit is shown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the below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figure.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6732117"/>
            <a:ext cx="5528310" cy="250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 algn="just">
              <a:lnSpc>
                <a:spcPct val="143700"/>
              </a:lnSpc>
              <a:spcBef>
                <a:spcPts val="10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consists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seven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(R1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R7)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status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output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of 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seven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goes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through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two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multiplexers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select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inputs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  ALU.</a:t>
            </a:r>
            <a:endParaRPr sz="1400">
              <a:latin typeface="Times New Roman"/>
              <a:cs typeface="Times New Roman"/>
            </a:endParaRPr>
          </a:p>
          <a:p>
            <a:pPr marL="240665" marR="7620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If the </a:t>
            </a:r>
            <a:r>
              <a:rPr sz="1400" spc="-5" dirty="0">
                <a:latin typeface="Times New Roman"/>
                <a:cs typeface="Times New Roman"/>
              </a:rPr>
              <a:t>input </a:t>
            </a:r>
            <a:r>
              <a:rPr sz="1400" dirty="0">
                <a:latin typeface="Times New Roman"/>
                <a:cs typeface="Times New Roman"/>
              </a:rPr>
              <a:t>is giving from </a:t>
            </a:r>
            <a:r>
              <a:rPr sz="1400" spc="-5" dirty="0">
                <a:latin typeface="Times New Roman"/>
                <a:cs typeface="Times New Roman"/>
              </a:rPr>
              <a:t>any external </a:t>
            </a:r>
            <a:r>
              <a:rPr sz="1400" dirty="0">
                <a:latin typeface="Times New Roman"/>
                <a:cs typeface="Times New Roman"/>
              </a:rPr>
              <a:t>source </a:t>
            </a:r>
            <a:r>
              <a:rPr sz="1400" spc="-5" dirty="0">
                <a:latin typeface="Times New Roman"/>
                <a:cs typeface="Times New Roman"/>
              </a:rPr>
              <a:t>it </a:t>
            </a:r>
            <a:r>
              <a:rPr sz="1400" dirty="0">
                <a:latin typeface="Times New Roman"/>
                <a:cs typeface="Times New Roman"/>
              </a:rPr>
              <a:t>can </a:t>
            </a:r>
            <a:r>
              <a:rPr sz="1400" spc="-5" dirty="0">
                <a:latin typeface="Times New Roman"/>
                <a:cs typeface="Times New Roman"/>
              </a:rPr>
              <a:t>also accepting </a:t>
            </a: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the  </a:t>
            </a:r>
            <a:r>
              <a:rPr sz="1400" dirty="0">
                <a:latin typeface="Times New Roman"/>
                <a:cs typeface="Times New Roman"/>
              </a:rPr>
              <a:t>same </a:t>
            </a:r>
            <a:r>
              <a:rPr sz="1400" spc="-5" dirty="0">
                <a:latin typeface="Times New Roman"/>
                <a:cs typeface="Times New Roman"/>
              </a:rPr>
              <a:t>multiplexers. The output from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ALU goes through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shifter and  then </a:t>
            </a:r>
            <a:r>
              <a:rPr sz="1400" dirty="0">
                <a:latin typeface="Times New Roman"/>
                <a:cs typeface="Times New Roman"/>
              </a:rPr>
              <a:t>to a set of </a:t>
            </a:r>
            <a:r>
              <a:rPr sz="1400" spc="-5" dirty="0">
                <a:latin typeface="Times New Roman"/>
                <a:cs typeface="Times New Roman"/>
              </a:rPr>
              <a:t>external output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terminals.</a:t>
            </a:r>
            <a:endParaRPr sz="1400">
              <a:latin typeface="Times New Roman"/>
              <a:cs typeface="Times New Roman"/>
            </a:endParaRPr>
          </a:p>
          <a:p>
            <a:pPr marL="240665" marR="10160" indent="-228600" algn="just">
              <a:lnSpc>
                <a:spcPct val="143000"/>
              </a:lnSpc>
              <a:spcBef>
                <a:spcPts val="13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is also possible to transfer the </a:t>
            </a:r>
            <a:r>
              <a:rPr sz="1400" spc="-10" dirty="0">
                <a:latin typeface="Times New Roman"/>
                <a:cs typeface="Times New Roman"/>
              </a:rPr>
              <a:t>content </a:t>
            </a:r>
            <a:r>
              <a:rPr sz="1400" dirty="0">
                <a:latin typeface="Times New Roman"/>
                <a:cs typeface="Times New Roman"/>
              </a:rPr>
              <a:t>from </a:t>
            </a:r>
            <a:r>
              <a:rPr sz="1400" spc="-5" dirty="0">
                <a:latin typeface="Times New Roman"/>
                <a:cs typeface="Times New Roman"/>
              </a:rPr>
              <a:t>shifter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any one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 registers.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7341" y="2864095"/>
            <a:ext cx="5330952" cy="3834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25135" cy="63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16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selection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unit.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specified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control  </a:t>
            </a:r>
            <a:r>
              <a:rPr sz="1400" dirty="0">
                <a:latin typeface="Times New Roman"/>
                <a:cs typeface="Times New Roman"/>
              </a:rPr>
              <a:t>word. The </a:t>
            </a:r>
            <a:r>
              <a:rPr sz="1400" spc="-5" dirty="0">
                <a:latin typeface="Times New Roman"/>
                <a:cs typeface="Times New Roman"/>
              </a:rPr>
              <a:t>16 bit control word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shown in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fig.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2386939"/>
            <a:ext cx="5525135" cy="2798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control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word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partitioned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into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six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fields,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each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field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designated  </a:t>
            </a:r>
            <a:r>
              <a:rPr sz="1400" dirty="0">
                <a:latin typeface="Times New Roman"/>
                <a:cs typeface="Times New Roman"/>
              </a:rPr>
              <a:t>by a </a:t>
            </a:r>
            <a:r>
              <a:rPr sz="1400" spc="-5" dirty="0">
                <a:latin typeface="Times New Roman"/>
                <a:cs typeface="Times New Roman"/>
              </a:rPr>
              <a:t>letter name. All the fields, except </a:t>
            </a:r>
            <a:r>
              <a:rPr sz="1400" dirty="0">
                <a:latin typeface="Times New Roman"/>
                <a:cs typeface="Times New Roman"/>
              </a:rPr>
              <a:t>Cin, </a:t>
            </a:r>
            <a:r>
              <a:rPr sz="1400" spc="-5" dirty="0">
                <a:latin typeface="Times New Roman"/>
                <a:cs typeface="Times New Roman"/>
              </a:rPr>
              <a:t>have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code </a:t>
            </a:r>
            <a:r>
              <a:rPr sz="1400" dirty="0">
                <a:latin typeface="Times New Roman"/>
                <a:cs typeface="Times New Roman"/>
              </a:rPr>
              <a:t>of 3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bits.</a:t>
            </a:r>
            <a:endParaRPr sz="1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selects the input register for the left side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B selects </a:t>
            </a:r>
            <a:r>
              <a:rPr sz="1400" spc="-5" dirty="0">
                <a:latin typeface="Times New Roman"/>
                <a:cs typeface="Times New Roman"/>
              </a:rPr>
              <a:t>the input register for the right side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D </a:t>
            </a:r>
            <a:r>
              <a:rPr sz="1400" spc="-5" dirty="0">
                <a:latin typeface="Times New Roman"/>
                <a:cs typeface="Times New Roman"/>
              </a:rPr>
              <a:t>selects the destination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F and </a:t>
            </a:r>
            <a:r>
              <a:rPr sz="1400" spc="-10" dirty="0">
                <a:latin typeface="Times New Roman"/>
                <a:cs typeface="Times New Roman"/>
              </a:rPr>
              <a:t>Cin </a:t>
            </a:r>
            <a:r>
              <a:rPr sz="1400" spc="-5" dirty="0">
                <a:latin typeface="Times New Roman"/>
                <a:cs typeface="Times New Roman"/>
              </a:rPr>
              <a:t>bits together selects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function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>
              <a:latin typeface="Times New Roman"/>
              <a:cs typeface="Times New Roman"/>
            </a:endParaRPr>
          </a:p>
          <a:p>
            <a:pPr marL="697865" lvl="1" indent="-22923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698500" algn="l"/>
              </a:tabLst>
            </a:pPr>
            <a:r>
              <a:rPr sz="1400" dirty="0">
                <a:latin typeface="Times New Roman"/>
                <a:cs typeface="Times New Roman"/>
              </a:rPr>
              <a:t>H </a:t>
            </a:r>
            <a:r>
              <a:rPr sz="1400" spc="-5" dirty="0">
                <a:latin typeface="Times New Roman"/>
                <a:cs typeface="Times New Roman"/>
              </a:rPr>
              <a:t>selects the type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shift in shifter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unit.</a:t>
            </a:r>
            <a:endParaRPr sz="14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7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table given below will gives you the functions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control </a:t>
            </a:r>
            <a:r>
              <a:rPr sz="1400" spc="-5" dirty="0">
                <a:latin typeface="Times New Roman"/>
                <a:cs typeface="Times New Roman"/>
              </a:rPr>
              <a:t>variables for 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processor.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0429" y="8831636"/>
            <a:ext cx="71845" cy="63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455284"/>
          <a:ext cx="6297926" cy="4228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8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419">
                <a:tc rowSpan="2">
                  <a:txBody>
                    <a:bodyPr/>
                    <a:lstStyle/>
                    <a:p>
                      <a:pPr marL="260350" marR="163830" indent="-88900">
                        <a:lnSpc>
                          <a:spcPct val="143600"/>
                        </a:lnSpc>
                        <a:spcBef>
                          <a:spcPts val="113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Bi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ary  code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Function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selection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variable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0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3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1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93345" indent="-12700">
                        <a:lnSpc>
                          <a:spcPts val="2410"/>
                        </a:lnSpc>
                        <a:spcBef>
                          <a:spcPts val="11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with 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Ci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175895" indent="-12700">
                        <a:lnSpc>
                          <a:spcPts val="2410"/>
                        </a:lnSpc>
                        <a:spcBef>
                          <a:spcPts val="11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with 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Ci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90"/>
                        </a:lnSpc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None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A,C</a:t>
                      </a:r>
                      <a:r>
                        <a:rPr sz="1400" spc="-5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A+1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A+B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A+B+1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A-B-1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A-B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Shift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left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011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A-1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A,C</a:t>
                      </a:r>
                      <a:r>
                        <a:rPr sz="1400" dirty="0">
                          <a:latin typeface="Wingdings"/>
                          <a:cs typeface="Wingdings"/>
                        </a:rPr>
                        <a:t>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0’s to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o/p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AVB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0267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DejaVu Sans"/>
                          <a:cs typeface="DejaVu Sans"/>
                        </a:rPr>
                        <a:t>⨁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Calculate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  <a:tabLst>
                          <a:tab pos="365125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	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………….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0521"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111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5" dirty="0">
                          <a:latin typeface="Times New Roman"/>
                          <a:cs typeface="Times New Roman"/>
                        </a:rPr>
                        <a:t>A’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………..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Calculate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left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495425" y="1592903"/>
            <a:ext cx="4695825" cy="7301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704" y="748951"/>
            <a:ext cx="5869305" cy="13576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76225" indent="-264160" algn="just">
              <a:lnSpc>
                <a:spcPct val="100000"/>
              </a:lnSpc>
              <a:spcBef>
                <a:spcPts val="1190"/>
              </a:spcBef>
              <a:buAutoNum type="alphaUcParenR" startAt="17"/>
              <a:tabLst>
                <a:tab pos="276860" algn="l"/>
              </a:tabLst>
            </a:pPr>
            <a:r>
              <a:rPr sz="1600" b="1" i="1" spc="-5" dirty="0">
                <a:latin typeface="Times New Roman"/>
                <a:cs typeface="Times New Roman"/>
              </a:rPr>
              <a:t>Design of</a:t>
            </a:r>
            <a:r>
              <a:rPr sz="1600" b="1" i="1" spc="-10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Accumulator?</a:t>
            </a:r>
            <a:endParaRPr sz="1600">
              <a:latin typeface="Times New Roman"/>
              <a:cs typeface="Times New Roman"/>
            </a:endParaRPr>
          </a:p>
          <a:p>
            <a:pPr marL="583565" marR="5080" lvl="1" indent="-228600" algn="just">
              <a:lnSpc>
                <a:spcPct val="143600"/>
              </a:lnSpc>
              <a:spcBef>
                <a:spcPts val="235"/>
              </a:spcBef>
              <a:buFont typeface="Symbol"/>
              <a:buChar char=""/>
              <a:tabLst>
                <a:tab pos="584200" algn="l"/>
              </a:tabLst>
            </a:pPr>
            <a:r>
              <a:rPr sz="1400" spc="-5" dirty="0">
                <a:latin typeface="Times New Roman"/>
                <a:cs typeface="Times New Roman"/>
              </a:rPr>
              <a:t>Accumulator register </a:t>
            </a:r>
            <a:r>
              <a:rPr sz="1400" dirty="0">
                <a:latin typeface="Times New Roman"/>
                <a:cs typeface="Times New Roman"/>
              </a:rPr>
              <a:t>is a </a:t>
            </a:r>
            <a:r>
              <a:rPr sz="1400" spc="-5" dirty="0">
                <a:latin typeface="Times New Roman"/>
                <a:cs typeface="Times New Roman"/>
              </a:rPr>
              <a:t>multipurpose register capable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performing  many micro-operations. The organization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processor unit with </a:t>
            </a:r>
            <a:r>
              <a:rPr sz="1400" spc="-10" dirty="0">
                <a:latin typeface="Times New Roman"/>
                <a:cs typeface="Times New Roman"/>
              </a:rPr>
              <a:t>an  </a:t>
            </a:r>
            <a:r>
              <a:rPr sz="1400" spc="-5" dirty="0">
                <a:latin typeface="Times New Roman"/>
                <a:cs typeface="Times New Roman"/>
              </a:rPr>
              <a:t>accumulator register is shown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491962"/>
            <a:ext cx="5527675" cy="1570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ALU associated with the register maybe constructed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a  </a:t>
            </a:r>
            <a:r>
              <a:rPr sz="1400" spc="-5" dirty="0">
                <a:latin typeface="Times New Roman"/>
                <a:cs typeface="Times New Roman"/>
              </a:rPr>
              <a:t>combinational circuit.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this configuration,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accumulator register with  parallel load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connected to the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ALU.</a:t>
            </a:r>
            <a:endParaRPr sz="1400">
              <a:latin typeface="Times New Roman"/>
              <a:cs typeface="Times New Roman"/>
            </a:endParaRPr>
          </a:p>
          <a:p>
            <a:pPr marL="240665" marR="8255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block diagram of the accumulator that forms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sequential circuit </a:t>
            </a:r>
            <a:r>
              <a:rPr sz="1400" dirty="0">
                <a:latin typeface="Times New Roman"/>
                <a:cs typeface="Times New Roman"/>
              </a:rPr>
              <a:t>is  </a:t>
            </a:r>
            <a:r>
              <a:rPr sz="1400" spc="-5" dirty="0">
                <a:latin typeface="Times New Roman"/>
                <a:cs typeface="Times New Roman"/>
              </a:rPr>
              <a:t>shown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9572" y="2375915"/>
            <a:ext cx="2675725" cy="2930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46604" y="7331964"/>
            <a:ext cx="3581400" cy="2364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30850" cy="956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Accumulator can also </a:t>
            </a:r>
            <a:r>
              <a:rPr sz="1400" dirty="0">
                <a:latin typeface="Times New Roman"/>
                <a:cs typeface="Times New Roman"/>
              </a:rPr>
              <a:t>perform </a:t>
            </a:r>
            <a:r>
              <a:rPr sz="1400" spc="-5" dirty="0">
                <a:latin typeface="Times New Roman"/>
                <a:cs typeface="Times New Roman"/>
              </a:rPr>
              <a:t>data processing operations. Total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nine  operations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considered </a:t>
            </a:r>
            <a:r>
              <a:rPr sz="1400" dirty="0">
                <a:latin typeface="Times New Roman"/>
                <a:cs typeface="Times New Roman"/>
              </a:rPr>
              <a:t>here </a:t>
            </a:r>
            <a:r>
              <a:rPr sz="1400" spc="-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design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accumulator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circuit.</a:t>
            </a:r>
            <a:endParaRPr sz="14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These </a:t>
            </a:r>
            <a:r>
              <a:rPr sz="1400" spc="-5" dirty="0">
                <a:latin typeface="Times New Roman"/>
                <a:cs typeface="Times New Roman"/>
              </a:rPr>
              <a:t>operations are described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304" y="6370700"/>
            <a:ext cx="5847715" cy="321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latin typeface="Times New Roman"/>
                <a:cs typeface="Times New Roman"/>
              </a:rPr>
              <a:t>Design Procedure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481965" indent="-228600">
              <a:lnSpc>
                <a:spcPct val="100000"/>
              </a:lnSpc>
              <a:buFont typeface="Times New Roman"/>
              <a:buAutoNum type="arabicPeriod"/>
              <a:tabLst>
                <a:tab pos="482600" algn="l"/>
              </a:tabLst>
            </a:pPr>
            <a:r>
              <a:rPr sz="1400" b="1" dirty="0">
                <a:latin typeface="Times New Roman"/>
                <a:cs typeface="Times New Roman"/>
              </a:rPr>
              <a:t>Add B </a:t>
            </a:r>
            <a:r>
              <a:rPr sz="1400" b="1" spc="-10" dirty="0">
                <a:latin typeface="Times New Roman"/>
                <a:cs typeface="Times New Roman"/>
              </a:rPr>
              <a:t>to 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(P1)</a:t>
            </a:r>
            <a:endParaRPr sz="1400">
              <a:latin typeface="Times New Roman"/>
              <a:cs typeface="Times New Roman"/>
            </a:endParaRPr>
          </a:p>
          <a:p>
            <a:pPr marL="939165" marR="81280" lvl="1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939800" algn="l"/>
              </a:tabLst>
            </a:pPr>
            <a:r>
              <a:rPr sz="1400" spc="-5" dirty="0">
                <a:latin typeface="Times New Roman"/>
                <a:cs typeface="Times New Roman"/>
              </a:rPr>
              <a:t>Add micro-operation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initiated when control variable </a:t>
            </a:r>
            <a:r>
              <a:rPr sz="1400" dirty="0">
                <a:latin typeface="Times New Roman"/>
                <a:cs typeface="Times New Roman"/>
              </a:rPr>
              <a:t>P,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spc="10" dirty="0">
                <a:latin typeface="Times New Roman"/>
                <a:cs typeface="Times New Roman"/>
              </a:rPr>
              <a:t>1. </a:t>
            </a:r>
            <a:r>
              <a:rPr sz="1400" spc="-5" dirty="0">
                <a:latin typeface="Times New Roman"/>
                <a:cs typeface="Times New Roman"/>
              </a:rPr>
              <a:t>To  </a:t>
            </a:r>
            <a:r>
              <a:rPr sz="1400" dirty="0">
                <a:latin typeface="Times New Roman"/>
                <a:cs typeface="Times New Roman"/>
              </a:rPr>
              <a:t>perform </a:t>
            </a:r>
            <a:r>
              <a:rPr sz="1400" spc="-10" dirty="0">
                <a:latin typeface="Times New Roman"/>
                <a:cs typeface="Times New Roman"/>
              </a:rPr>
              <a:t>addition </a:t>
            </a:r>
            <a:r>
              <a:rPr sz="1400" spc="-5" dirty="0">
                <a:latin typeface="Times New Roman"/>
                <a:cs typeface="Times New Roman"/>
              </a:rPr>
              <a:t>operation, accumulator </a:t>
            </a:r>
            <a:r>
              <a:rPr sz="1400" dirty="0">
                <a:latin typeface="Times New Roman"/>
                <a:cs typeface="Times New Roman"/>
              </a:rPr>
              <a:t>can </a:t>
            </a:r>
            <a:r>
              <a:rPr sz="1400" spc="-5" dirty="0">
                <a:latin typeface="Times New Roman"/>
                <a:cs typeface="Times New Roman"/>
              </a:rPr>
              <a:t>use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parallel adder  composed of full adders. The full adder in </a:t>
            </a:r>
            <a:r>
              <a:rPr sz="1400" dirty="0">
                <a:latin typeface="Times New Roman"/>
                <a:cs typeface="Times New Roman"/>
              </a:rPr>
              <a:t>each </a:t>
            </a:r>
            <a:r>
              <a:rPr sz="1400" spc="-5" dirty="0">
                <a:latin typeface="Times New Roman"/>
                <a:cs typeface="Times New Roman"/>
              </a:rPr>
              <a:t>stage </a:t>
            </a:r>
            <a:r>
              <a:rPr sz="1400" dirty="0">
                <a:latin typeface="Times New Roman"/>
                <a:cs typeface="Times New Roman"/>
              </a:rPr>
              <a:t>1 </a:t>
            </a:r>
            <a:r>
              <a:rPr sz="1400" spc="-5" dirty="0">
                <a:latin typeface="Times New Roman"/>
                <a:cs typeface="Times New Roman"/>
              </a:rPr>
              <a:t>will </a:t>
            </a:r>
            <a:r>
              <a:rPr sz="1400" dirty="0">
                <a:latin typeface="Times New Roman"/>
                <a:cs typeface="Times New Roman"/>
              </a:rPr>
              <a:t>accept  the </a:t>
            </a:r>
            <a:r>
              <a:rPr sz="1400" spc="-5" dirty="0">
                <a:latin typeface="Times New Roman"/>
                <a:cs typeface="Times New Roman"/>
              </a:rPr>
              <a:t>input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previous carry bit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350" baseline="-9259" dirty="0">
                <a:latin typeface="Times New Roman"/>
                <a:cs typeface="Times New Roman"/>
              </a:rPr>
              <a:t>1.</a:t>
            </a:r>
            <a:endParaRPr sz="1350" baseline="-9259">
              <a:latin typeface="Times New Roman"/>
              <a:cs typeface="Times New Roman"/>
            </a:endParaRPr>
          </a:p>
          <a:p>
            <a:pPr marL="939165" marR="81280" lvl="1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984250" algn="l"/>
              </a:tabLst>
            </a:pPr>
            <a:r>
              <a:rPr dirty="0"/>
              <a:t>	</a:t>
            </a:r>
            <a:r>
              <a:rPr sz="1400" dirty="0">
                <a:latin typeface="Times New Roman"/>
                <a:cs typeface="Times New Roman"/>
              </a:rPr>
              <a:t>Sum </a:t>
            </a:r>
            <a:r>
              <a:rPr sz="1400" spc="-5" dirty="0">
                <a:latin typeface="Times New Roman"/>
                <a:cs typeface="Times New Roman"/>
              </a:rPr>
              <a:t>bit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transferred to flip flop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350" spc="15" baseline="-9259" dirty="0">
                <a:latin typeface="Times New Roman"/>
                <a:cs typeface="Times New Roman"/>
              </a:rPr>
              <a:t>i</a:t>
            </a:r>
            <a:r>
              <a:rPr sz="1400" spc="10" dirty="0">
                <a:latin typeface="Times New Roman"/>
                <a:cs typeface="Times New Roman"/>
              </a:rPr>
              <a:t>, </a:t>
            </a:r>
            <a:r>
              <a:rPr sz="1400" spc="-5" dirty="0">
                <a:latin typeface="Times New Roman"/>
                <a:cs typeface="Times New Roman"/>
              </a:rPr>
              <a:t>and output carries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350" baseline="-9259" dirty="0">
                <a:latin typeface="Times New Roman"/>
                <a:cs typeface="Times New Roman"/>
              </a:rPr>
              <a:t>i+1 </a:t>
            </a:r>
            <a:r>
              <a:rPr sz="1400" dirty="0">
                <a:latin typeface="Times New Roman"/>
                <a:cs typeface="Times New Roman"/>
              </a:rPr>
              <a:t>is  </a:t>
            </a:r>
            <a:r>
              <a:rPr sz="1400" spc="-5" dirty="0">
                <a:latin typeface="Times New Roman"/>
                <a:cs typeface="Times New Roman"/>
              </a:rPr>
              <a:t>transferred to the next stage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input carry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that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stage.</a:t>
            </a:r>
            <a:endParaRPr sz="1400">
              <a:latin typeface="Times New Roman"/>
              <a:cs typeface="Times New Roman"/>
            </a:endParaRPr>
          </a:p>
          <a:p>
            <a:pPr marL="939165" marR="85725" lvl="1" indent="-228600" algn="just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9398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state table </a:t>
            </a:r>
            <a:r>
              <a:rPr sz="1400" dirty="0">
                <a:latin typeface="Times New Roman"/>
                <a:cs typeface="Times New Roman"/>
              </a:rPr>
              <a:t>of a </a:t>
            </a:r>
            <a:r>
              <a:rPr sz="1400" spc="-5" dirty="0">
                <a:latin typeface="Times New Roman"/>
                <a:cs typeface="Times New Roman"/>
              </a:rPr>
              <a:t>full adder, when considered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sequential  circuit is shown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0330" y="2037714"/>
            <a:ext cx="4724400" cy="4069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5669660"/>
            <a:ext cx="52209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excitation input for the </a:t>
            </a:r>
            <a:r>
              <a:rPr sz="1400" dirty="0">
                <a:latin typeface="Times New Roman"/>
                <a:cs typeface="Times New Roman"/>
              </a:rPr>
              <a:t>JK </a:t>
            </a:r>
            <a:r>
              <a:rPr sz="1400" spc="-5" dirty="0">
                <a:latin typeface="Times New Roman"/>
                <a:cs typeface="Times New Roman"/>
              </a:rPr>
              <a:t>flip </a:t>
            </a:r>
            <a:r>
              <a:rPr sz="1400" dirty="0">
                <a:latin typeface="Times New Roman"/>
                <a:cs typeface="Times New Roman"/>
              </a:rPr>
              <a:t>flop </a:t>
            </a:r>
            <a:r>
              <a:rPr sz="1400" spc="-5" dirty="0">
                <a:latin typeface="Times New Roman"/>
                <a:cs typeface="Times New Roman"/>
              </a:rPr>
              <a:t>is shown below for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reference.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8611717"/>
            <a:ext cx="5530215" cy="9436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0665" marR="5080" indent="-228600" algn="just">
              <a:lnSpc>
                <a:spcPct val="143600"/>
              </a:lnSpc>
              <a:spcBef>
                <a:spcPts val="85"/>
              </a:spcBef>
              <a:buFont typeface="Symbol"/>
              <a:buChar char=""/>
              <a:tabLst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According to these values the above flip flop inputs are set. The flip flop  input functions and the Boolean </a:t>
            </a:r>
            <a:r>
              <a:rPr sz="1400" spc="-10" dirty="0">
                <a:latin typeface="Times New Roman"/>
                <a:cs typeface="Times New Roman"/>
              </a:rPr>
              <a:t>functions </a:t>
            </a:r>
            <a:r>
              <a:rPr sz="1400" dirty="0">
                <a:latin typeface="Times New Roman"/>
                <a:cs typeface="Times New Roman"/>
              </a:rPr>
              <a:t>for the </a:t>
            </a:r>
            <a:r>
              <a:rPr sz="1400" spc="-5" dirty="0">
                <a:latin typeface="Times New Roman"/>
                <a:cs typeface="Times New Roman"/>
              </a:rPr>
              <a:t>output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simplified </a:t>
            </a:r>
            <a:r>
              <a:rPr sz="1400" dirty="0">
                <a:latin typeface="Times New Roman"/>
                <a:cs typeface="Times New Roman"/>
              </a:rPr>
              <a:t>in  the </a:t>
            </a:r>
            <a:r>
              <a:rPr sz="1400" spc="-5" dirty="0">
                <a:latin typeface="Times New Roman"/>
                <a:cs typeface="Times New Roman"/>
              </a:rPr>
              <a:t>maps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shown in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fig.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9164" y="914399"/>
            <a:ext cx="5848956" cy="4486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6179" y="6000114"/>
            <a:ext cx="3276600" cy="2609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3904" y="2945104"/>
            <a:ext cx="5859145" cy="6802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73025" algn="just">
              <a:lnSpc>
                <a:spcPct val="1436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These </a:t>
            </a:r>
            <a:r>
              <a:rPr sz="1400" spc="-5" dirty="0">
                <a:latin typeface="Times New Roman"/>
                <a:cs typeface="Times New Roman"/>
              </a:rPr>
              <a:t>two equations should affect the flip flop only when </a:t>
            </a:r>
            <a:r>
              <a:rPr sz="1400" spc="-10" dirty="0">
                <a:latin typeface="Times New Roman"/>
                <a:cs typeface="Times New Roman"/>
              </a:rPr>
              <a:t>PI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enabled.  Therefore, they should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ANDed with </a:t>
            </a:r>
            <a:r>
              <a:rPr sz="1400" spc="-10" dirty="0">
                <a:latin typeface="Times New Roman"/>
                <a:cs typeface="Times New Roman"/>
              </a:rPr>
              <a:t>control </a:t>
            </a:r>
            <a:r>
              <a:rPr sz="1400" spc="-5" dirty="0">
                <a:latin typeface="Times New Roman"/>
                <a:cs typeface="Times New Roman"/>
              </a:rPr>
              <a:t>variable </a:t>
            </a:r>
            <a:r>
              <a:rPr sz="1400" dirty="0">
                <a:latin typeface="Times New Roman"/>
                <a:cs typeface="Times New Roman"/>
              </a:rPr>
              <a:t>P, </a:t>
            </a:r>
            <a:r>
              <a:rPr sz="1400" spc="-5" dirty="0">
                <a:latin typeface="Times New Roman"/>
                <a:cs typeface="Times New Roman"/>
              </a:rPr>
              <a:t>Then the equation  becomes.</a:t>
            </a:r>
            <a:endParaRPr sz="1400">
              <a:latin typeface="Times New Roman"/>
              <a:cs typeface="Times New Roman"/>
            </a:endParaRPr>
          </a:p>
          <a:p>
            <a:pPr marL="1922145" marR="1713864" indent="54610" algn="just">
              <a:lnSpc>
                <a:spcPct val="168800"/>
              </a:lnSpc>
              <a:spcBef>
                <a:spcPts val="895"/>
              </a:spcBef>
            </a:pPr>
            <a:r>
              <a:rPr sz="2400" b="1" spc="-7" baseline="3472" dirty="0">
                <a:latin typeface="Times New Roman"/>
                <a:cs typeface="Times New Roman"/>
              </a:rPr>
              <a:t>JA</a:t>
            </a:r>
            <a:r>
              <a:rPr sz="1050" b="1" spc="-5" dirty="0">
                <a:latin typeface="Times New Roman"/>
                <a:cs typeface="Times New Roman"/>
              </a:rPr>
              <a:t>i </a:t>
            </a:r>
            <a:r>
              <a:rPr sz="2400" b="1" spc="-7" baseline="3472" dirty="0">
                <a:latin typeface="Times New Roman"/>
                <a:cs typeface="Times New Roman"/>
              </a:rPr>
              <a:t>=B1C1’P1+B1’C1P1  </a:t>
            </a:r>
            <a:r>
              <a:rPr sz="2400" b="1" spc="-15" baseline="3472" dirty="0">
                <a:latin typeface="Times New Roman"/>
                <a:cs typeface="Times New Roman"/>
              </a:rPr>
              <a:t>KA</a:t>
            </a:r>
            <a:r>
              <a:rPr sz="1050" b="1" spc="-10" dirty="0">
                <a:latin typeface="Times New Roman"/>
                <a:cs typeface="Times New Roman"/>
              </a:rPr>
              <a:t>i </a:t>
            </a:r>
            <a:r>
              <a:rPr sz="2400" b="1" spc="-7" baseline="3472" dirty="0">
                <a:latin typeface="Times New Roman"/>
                <a:cs typeface="Times New Roman"/>
              </a:rPr>
              <a:t>= B1C1’P1+B1’C1P1  C</a:t>
            </a:r>
            <a:r>
              <a:rPr sz="1050" b="1" spc="-5" dirty="0">
                <a:latin typeface="Times New Roman"/>
                <a:cs typeface="Times New Roman"/>
              </a:rPr>
              <a:t>i+1=</a:t>
            </a:r>
            <a:r>
              <a:rPr sz="2400" b="1" spc="-7" baseline="3472" dirty="0">
                <a:latin typeface="Times New Roman"/>
                <a:cs typeface="Times New Roman"/>
              </a:rPr>
              <a:t>A1B1+A1C1+B1C1</a:t>
            </a:r>
            <a:endParaRPr sz="2400" baseline="3472">
              <a:latin typeface="Times New Roman"/>
              <a:cs typeface="Times New Roman"/>
            </a:endParaRPr>
          </a:p>
          <a:p>
            <a:pPr marL="228600" indent="-178435">
              <a:lnSpc>
                <a:spcPct val="100000"/>
              </a:lnSpc>
              <a:spcBef>
                <a:spcPts val="1240"/>
              </a:spcBef>
              <a:buAutoNum type="arabicPeriod" startAt="2"/>
              <a:tabLst>
                <a:tab pos="2292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Clear </a:t>
            </a:r>
            <a:r>
              <a:rPr sz="1400" b="1" dirty="0">
                <a:latin typeface="Times New Roman"/>
                <a:cs typeface="Times New Roman"/>
              </a:rPr>
              <a:t>(P2)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2"/>
            </a:pPr>
            <a:endParaRPr sz="1300">
              <a:latin typeface="Times New Roman"/>
              <a:cs typeface="Times New Roman"/>
            </a:endParaRPr>
          </a:p>
          <a:p>
            <a:pPr marL="507365" marR="68580" lvl="1" indent="-228600" algn="just">
              <a:lnSpc>
                <a:spcPct val="143600"/>
              </a:lnSpc>
              <a:buFont typeface="Symbol"/>
              <a:buChar char=""/>
              <a:tabLst>
                <a:tab pos="5080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Control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</a:t>
            </a:r>
            <a:r>
              <a:rPr sz="1350" baseline="-9259" dirty="0">
                <a:latin typeface="Times New Roman"/>
                <a:cs typeface="Times New Roman"/>
              </a:rPr>
              <a:t>2</a:t>
            </a:r>
            <a:r>
              <a:rPr sz="1350" spc="82" baseline="-9259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clears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all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flip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flops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A.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cause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this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transition  </a:t>
            </a:r>
            <a:r>
              <a:rPr sz="1400" dirty="0">
                <a:latin typeface="Times New Roman"/>
                <a:cs typeface="Times New Roman"/>
              </a:rPr>
              <a:t>in a </a:t>
            </a:r>
            <a:r>
              <a:rPr sz="1400" spc="-5" dirty="0">
                <a:latin typeface="Times New Roman"/>
                <a:cs typeface="Times New Roman"/>
              </a:rPr>
              <a:t>JK flip flop. </a:t>
            </a:r>
            <a:r>
              <a:rPr sz="1400" dirty="0">
                <a:latin typeface="Times New Roman"/>
                <a:cs typeface="Times New Roman"/>
              </a:rPr>
              <a:t>we </a:t>
            </a:r>
            <a:r>
              <a:rPr sz="1400" spc="-5" dirty="0">
                <a:latin typeface="Times New Roman"/>
                <a:cs typeface="Times New Roman"/>
              </a:rPr>
              <a:t>need </a:t>
            </a:r>
            <a:r>
              <a:rPr sz="1400" dirty="0">
                <a:latin typeface="Times New Roman"/>
                <a:cs typeface="Times New Roman"/>
              </a:rPr>
              <a:t>only </a:t>
            </a:r>
            <a:r>
              <a:rPr sz="1400" spc="-5" dirty="0">
                <a:latin typeface="Times New Roman"/>
                <a:cs typeface="Times New Roman"/>
              </a:rPr>
              <a:t>apply control satiable </a:t>
            </a:r>
            <a:r>
              <a:rPr sz="1400" spc="-10" dirty="0">
                <a:latin typeface="Times New Roman"/>
                <a:cs typeface="Times New Roman"/>
              </a:rPr>
              <a:t>P2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K </a:t>
            </a:r>
            <a:r>
              <a:rPr sz="1400" spc="-5" dirty="0">
                <a:latin typeface="Times New Roman"/>
                <a:cs typeface="Times New Roman"/>
              </a:rPr>
              <a:t>input of 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flip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flop.</a:t>
            </a:r>
            <a:endParaRPr sz="1400">
              <a:latin typeface="Times New Roman"/>
              <a:cs typeface="Times New Roman"/>
            </a:endParaRPr>
          </a:p>
          <a:p>
            <a:pPr marL="507365" marR="74295" lvl="1" indent="-228600" algn="just">
              <a:lnSpc>
                <a:spcPct val="143700"/>
              </a:lnSpc>
              <a:spcBef>
                <a:spcPts val="105"/>
              </a:spcBef>
              <a:buFont typeface="Symbol"/>
              <a:buChar char=""/>
              <a:tabLst>
                <a:tab pos="5080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J </a:t>
            </a:r>
            <a:r>
              <a:rPr sz="1400" spc="-5" dirty="0">
                <a:latin typeface="Times New Roman"/>
                <a:cs typeface="Times New Roman"/>
              </a:rPr>
              <a:t>input will he assumed </a:t>
            </a:r>
            <a:r>
              <a:rPr sz="1400" dirty="0">
                <a:latin typeface="Times New Roman"/>
                <a:cs typeface="Times New Roman"/>
              </a:rPr>
              <a:t>to be 0 if </a:t>
            </a:r>
            <a:r>
              <a:rPr sz="1400" spc="-5" dirty="0">
                <a:latin typeface="Times New Roman"/>
                <a:cs typeface="Times New Roman"/>
              </a:rPr>
              <a:t>nothing is applied </a:t>
            </a:r>
            <a:r>
              <a:rPr sz="1400" dirty="0">
                <a:latin typeface="Times New Roman"/>
                <a:cs typeface="Times New Roman"/>
              </a:rPr>
              <a:t>on </a:t>
            </a:r>
            <a:r>
              <a:rPr sz="1400" spc="-5" dirty="0">
                <a:latin typeface="Times New Roman"/>
                <a:cs typeface="Times New Roman"/>
              </a:rPr>
              <a:t>it. The input  functions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written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as.</a:t>
            </a:r>
            <a:endParaRPr sz="1400">
              <a:latin typeface="Times New Roman"/>
              <a:cs typeface="Times New Roman"/>
            </a:endParaRPr>
          </a:p>
          <a:p>
            <a:pPr marL="2557780" marR="2577465" indent="89535">
              <a:lnSpc>
                <a:spcPct val="168700"/>
              </a:lnSpc>
              <a:spcBef>
                <a:spcPts val="895"/>
              </a:spcBef>
            </a:pPr>
            <a:r>
              <a:rPr sz="2400" b="1" spc="-7" baseline="3472" dirty="0">
                <a:latin typeface="Times New Roman"/>
                <a:cs typeface="Times New Roman"/>
              </a:rPr>
              <a:t>JA</a:t>
            </a:r>
            <a:r>
              <a:rPr sz="1050" b="1" spc="-5" dirty="0">
                <a:latin typeface="Times New Roman"/>
                <a:cs typeface="Times New Roman"/>
              </a:rPr>
              <a:t>i </a:t>
            </a:r>
            <a:r>
              <a:rPr sz="2400" b="1" spc="-7" baseline="3472" dirty="0">
                <a:latin typeface="Times New Roman"/>
                <a:cs typeface="Times New Roman"/>
              </a:rPr>
              <a:t>=0  </a:t>
            </a:r>
            <a:r>
              <a:rPr sz="2400" b="1" spc="-15" baseline="3472" dirty="0">
                <a:latin typeface="Times New Roman"/>
                <a:cs typeface="Times New Roman"/>
              </a:rPr>
              <a:t>KA</a:t>
            </a:r>
            <a:r>
              <a:rPr sz="1050" b="1" spc="-10" dirty="0">
                <a:latin typeface="Times New Roman"/>
                <a:cs typeface="Times New Roman"/>
              </a:rPr>
              <a:t>i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2400" b="1" baseline="3472" dirty="0">
                <a:latin typeface="Times New Roman"/>
                <a:cs typeface="Times New Roman"/>
              </a:rPr>
              <a:t>=P2</a:t>
            </a:r>
            <a:endParaRPr sz="2400" baseline="3472">
              <a:latin typeface="Times New Roman"/>
              <a:cs typeface="Times New Roman"/>
            </a:endParaRPr>
          </a:p>
          <a:p>
            <a:pPr marL="431165" indent="-152400">
              <a:lnSpc>
                <a:spcPct val="100000"/>
              </a:lnSpc>
              <a:spcBef>
                <a:spcPts val="1250"/>
              </a:spcBef>
              <a:buAutoNum type="arabicPeriod" startAt="3"/>
              <a:tabLst>
                <a:tab pos="4318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COMPLEMENT(P3)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964565" marR="69215" lvl="1" indent="-228600">
              <a:lnSpc>
                <a:spcPct val="143700"/>
              </a:lnSpc>
              <a:buSzPct val="85714"/>
              <a:buFont typeface="Symbol"/>
              <a:buChar char=""/>
              <a:tabLst>
                <a:tab pos="964565" algn="l"/>
                <a:tab pos="965200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cause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transition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JK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flip-flop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need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apply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p3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both  </a:t>
            </a:r>
            <a:r>
              <a:rPr sz="1400" dirty="0">
                <a:latin typeface="Times New Roman"/>
                <a:cs typeface="Times New Roman"/>
              </a:rPr>
              <a:t>J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inputs.</a:t>
            </a:r>
            <a:endParaRPr sz="1400">
              <a:latin typeface="Times New Roman"/>
              <a:cs typeface="Times New Roman"/>
            </a:endParaRPr>
          </a:p>
          <a:p>
            <a:pPr marL="2557780">
              <a:lnSpc>
                <a:spcPct val="100000"/>
              </a:lnSpc>
              <a:spcBef>
                <a:spcPts val="810"/>
              </a:spcBef>
              <a:tabLst>
                <a:tab pos="3472179" algn="l"/>
              </a:tabLst>
            </a:pPr>
            <a:r>
              <a:rPr sz="2400" b="1" spc="-7" baseline="3472" dirty="0">
                <a:latin typeface="Times New Roman"/>
                <a:cs typeface="Times New Roman"/>
              </a:rPr>
              <a:t>JA</a:t>
            </a:r>
            <a:r>
              <a:rPr sz="1050" b="1" spc="-5" dirty="0">
                <a:latin typeface="Times New Roman"/>
                <a:cs typeface="Times New Roman"/>
              </a:rPr>
              <a:t>i </a:t>
            </a:r>
            <a:r>
              <a:rPr sz="2400" b="1" spc="-7" baseline="3472" dirty="0">
                <a:latin typeface="Times New Roman"/>
                <a:cs typeface="Times New Roman"/>
              </a:rPr>
              <a:t>=P3	</a:t>
            </a:r>
            <a:r>
              <a:rPr sz="2400" b="1" spc="-15" baseline="3472" dirty="0">
                <a:latin typeface="Times New Roman"/>
                <a:cs typeface="Times New Roman"/>
              </a:rPr>
              <a:t>KA</a:t>
            </a:r>
            <a:r>
              <a:rPr sz="1050" b="1" spc="-10" dirty="0">
                <a:latin typeface="Times New Roman"/>
                <a:cs typeface="Times New Roman"/>
              </a:rPr>
              <a:t>i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2400" b="1" baseline="3472" dirty="0">
                <a:latin typeface="Times New Roman"/>
                <a:cs typeface="Times New Roman"/>
              </a:rPr>
              <a:t>=P3</a:t>
            </a:r>
            <a:endParaRPr sz="2400" baseline="3472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6614" y="914399"/>
            <a:ext cx="6273631" cy="1819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5204" y="783691"/>
            <a:ext cx="5581015" cy="15982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66065" indent="-228600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266700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AND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(P4)</a:t>
            </a:r>
            <a:endParaRPr sz="1400">
              <a:latin typeface="Times New Roman"/>
              <a:cs typeface="Times New Roman"/>
            </a:endParaRPr>
          </a:p>
          <a:p>
            <a:pPr marL="723265" marR="30480" lvl="1" indent="-228600" algn="just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723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This micro operation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initiated with control variable </a:t>
            </a:r>
            <a:r>
              <a:rPr sz="1400" spc="-10" dirty="0">
                <a:latin typeface="Times New Roman"/>
                <a:cs typeface="Times New Roman"/>
              </a:rPr>
              <a:t>P4.This  </a:t>
            </a:r>
            <a:r>
              <a:rPr sz="1400" spc="-5" dirty="0">
                <a:latin typeface="Times New Roman"/>
                <a:cs typeface="Times New Roman"/>
              </a:rPr>
              <a:t>operation performs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logic </a:t>
            </a:r>
            <a:r>
              <a:rPr sz="140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operation between </a:t>
            </a:r>
            <a:r>
              <a:rPr sz="1400" spc="5" dirty="0">
                <a:latin typeface="Times New Roman"/>
                <a:cs typeface="Times New Roman"/>
              </a:rPr>
              <a:t>A</a:t>
            </a:r>
            <a:r>
              <a:rPr sz="1350" spc="7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350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and  transfers the result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A.</a:t>
            </a:r>
            <a:endParaRPr sz="1400">
              <a:latin typeface="Times New Roman"/>
              <a:cs typeface="Times New Roman"/>
            </a:endParaRPr>
          </a:p>
          <a:p>
            <a:pPr marL="723265" lvl="1" indent="-229235" algn="just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7239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excitation table for this operation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shown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29054" y="2473705"/>
          <a:ext cx="5499732" cy="1877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Flip-flop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spc="-7" baseline="3968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900" b="1" spc="-5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spc="-7" baseline="3968" dirty="0">
                          <a:latin typeface="Times New Roman"/>
                          <a:cs typeface="Times New Roman"/>
                        </a:rPr>
                        <a:t>JA</a:t>
                      </a:r>
                      <a:r>
                        <a:rPr sz="900" b="1" spc="-5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KA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marL="635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635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35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635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05204" y="4429480"/>
            <a:ext cx="5593715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43180" indent="-228600" algn="just">
              <a:lnSpc>
                <a:spcPct val="144000"/>
              </a:lnSpc>
              <a:spcBef>
                <a:spcPts val="100"/>
              </a:spcBef>
              <a:buFont typeface="Symbol"/>
              <a:buChar char=""/>
              <a:tabLst>
                <a:tab pos="2667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next state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350" spc="15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will </a:t>
            </a:r>
            <a:r>
              <a:rPr sz="1400" dirty="0">
                <a:latin typeface="Times New Roman"/>
                <a:cs typeface="Times New Roman"/>
              </a:rPr>
              <a:t>be 1 </a:t>
            </a:r>
            <a:r>
              <a:rPr sz="1400" spc="-5" dirty="0">
                <a:latin typeface="Times New Roman"/>
                <a:cs typeface="Times New Roman"/>
              </a:rPr>
              <a:t>only when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present state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350" spc="15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and data  input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350" baseline="-9259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flip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flop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input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functions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simplified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maps  </a:t>
            </a:r>
            <a:r>
              <a:rPr sz="1400" spc="-5" dirty="0">
                <a:latin typeface="Times New Roman"/>
                <a:cs typeface="Times New Roman"/>
              </a:rPr>
              <a:t>and the equations </a:t>
            </a:r>
            <a:r>
              <a:rPr sz="1400" dirty="0">
                <a:latin typeface="Times New Roman"/>
                <a:cs typeface="Times New Roman"/>
              </a:rPr>
              <a:t>can be </a:t>
            </a:r>
            <a:r>
              <a:rPr sz="1400" spc="-5" dirty="0">
                <a:latin typeface="Times New Roman"/>
                <a:cs typeface="Times New Roman"/>
              </a:rPr>
              <a:t>written</a:t>
            </a:r>
            <a:r>
              <a:rPr sz="1400" dirty="0">
                <a:latin typeface="Times New Roman"/>
                <a:cs typeface="Times New Roman"/>
              </a:rPr>
              <a:t> as: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604" y="7564983"/>
            <a:ext cx="5219065" cy="1926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1430" marR="2003425" indent="-1905" algn="ctr">
              <a:lnSpc>
                <a:spcPct val="143600"/>
              </a:lnSpc>
              <a:spcBef>
                <a:spcPts val="9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 </a:t>
            </a:r>
            <a:r>
              <a:rPr sz="2100" b="1" spc="-15" baseline="3968" dirty="0">
                <a:latin typeface="Times New Roman"/>
                <a:cs typeface="Times New Roman"/>
              </a:rPr>
              <a:t>=0  </a:t>
            </a: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2100" b="1" spc="-7" baseline="3968" dirty="0">
                <a:latin typeface="Times New Roman"/>
                <a:cs typeface="Times New Roman"/>
              </a:rPr>
              <a:t>=B</a:t>
            </a:r>
            <a:r>
              <a:rPr sz="900" b="1" spc="-5" dirty="0">
                <a:latin typeface="Times New Roman"/>
                <a:cs typeface="Times New Roman"/>
              </a:rPr>
              <a:t>i</a:t>
            </a:r>
            <a:r>
              <a:rPr sz="2100" b="1" spc="-7" baseline="3968" dirty="0">
                <a:latin typeface="Times New Roman"/>
                <a:cs typeface="Times New Roman"/>
              </a:rPr>
              <a:t>’</a:t>
            </a:r>
            <a:endParaRPr sz="2100" baseline="3968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including the control variable p4, the equation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rewritten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 marL="2223770" marR="2132965" indent="191770">
              <a:lnSpc>
                <a:spcPct val="227300"/>
              </a:lnSpc>
              <a:spcBef>
                <a:spcPts val="9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 </a:t>
            </a:r>
            <a:r>
              <a:rPr sz="2100" b="1" spc="-15" baseline="3968" dirty="0">
                <a:latin typeface="Times New Roman"/>
                <a:cs typeface="Times New Roman"/>
              </a:rPr>
              <a:t>=0  </a:t>
            </a: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2100" b="1" spc="-7" baseline="3968" dirty="0">
                <a:latin typeface="Times New Roman"/>
                <a:cs typeface="Times New Roman"/>
              </a:rPr>
              <a:t>=B</a:t>
            </a:r>
            <a:r>
              <a:rPr sz="900" b="1" spc="-5" dirty="0">
                <a:latin typeface="Times New Roman"/>
                <a:cs typeface="Times New Roman"/>
              </a:rPr>
              <a:t>i</a:t>
            </a:r>
            <a:r>
              <a:rPr sz="2100" b="1" spc="-7" baseline="3968" dirty="0">
                <a:latin typeface="Times New Roman"/>
                <a:cs typeface="Times New Roman"/>
              </a:rPr>
              <a:t>’P4</a:t>
            </a:r>
            <a:endParaRPr sz="2100" baseline="396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6850" y="5616179"/>
            <a:ext cx="4572000" cy="157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9304" y="783691"/>
            <a:ext cx="5835650" cy="129222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03200" indent="-178435">
              <a:lnSpc>
                <a:spcPct val="100000"/>
              </a:lnSpc>
              <a:spcBef>
                <a:spcPts val="940"/>
              </a:spcBef>
              <a:buAutoNum type="arabicPeriod" startAt="4"/>
              <a:tabLst>
                <a:tab pos="203835" algn="l"/>
              </a:tabLst>
            </a:pPr>
            <a:r>
              <a:rPr sz="1400" b="1" dirty="0">
                <a:latin typeface="Times New Roman"/>
                <a:cs typeface="Times New Roman"/>
              </a:rPr>
              <a:t>OR </a:t>
            </a:r>
            <a:r>
              <a:rPr sz="1400" b="1" spc="-5" dirty="0">
                <a:latin typeface="Times New Roman"/>
                <a:cs typeface="Times New Roman"/>
              </a:rPr>
              <a:t>(P5)</a:t>
            </a:r>
            <a:endParaRPr sz="1400">
              <a:latin typeface="Times New Roman"/>
              <a:cs typeface="Times New Roman"/>
            </a:endParaRPr>
          </a:p>
          <a:p>
            <a:pPr marL="481965" marR="68580" lvl="1" indent="-228600">
              <a:lnSpc>
                <a:spcPct val="143600"/>
              </a:lnSpc>
              <a:spcBef>
                <a:spcPts val="105"/>
              </a:spcBef>
              <a:buFont typeface="Symbol"/>
              <a:buChar char=""/>
              <a:tabLst>
                <a:tab pos="481965" algn="l"/>
                <a:tab pos="4826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Control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variable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P5,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initiates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logic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between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350" spc="15" baseline="-9259" dirty="0">
                <a:latin typeface="Times New Roman"/>
                <a:cs typeface="Times New Roman"/>
              </a:rPr>
              <a:t>i</a:t>
            </a:r>
            <a:r>
              <a:rPr sz="1350" spc="82" baseline="-9259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350" baseline="-9259" dirty="0">
                <a:latin typeface="Times New Roman"/>
                <a:cs typeface="Times New Roman"/>
              </a:rPr>
              <a:t>i</a:t>
            </a:r>
            <a:r>
              <a:rPr sz="1350" spc="82" baseline="-9259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  result is transferred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5" dirty="0">
                <a:latin typeface="Times New Roman"/>
                <a:cs typeface="Times New Roman"/>
              </a:rPr>
              <a:t> A</a:t>
            </a:r>
            <a:r>
              <a:rPr sz="1350" spc="7" baseline="-9259" dirty="0">
                <a:latin typeface="Times New Roman"/>
                <a:cs typeface="Times New Roman"/>
              </a:rPr>
              <a:t>i</a:t>
            </a:r>
            <a:r>
              <a:rPr sz="1400" spc="5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81965" lvl="1" indent="-228600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481965" algn="l"/>
                <a:tab pos="4826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excitation table for this operation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shown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3304" y="2167381"/>
          <a:ext cx="5497827" cy="1877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Present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>
                        <a:lnSpc>
                          <a:spcPts val="1610"/>
                        </a:lnSpc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Flip-flop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spc="-7" baseline="3968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900" b="1" spc="-5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spc="-7" baseline="3968" dirty="0">
                          <a:latin typeface="Times New Roman"/>
                          <a:cs typeface="Times New Roman"/>
                        </a:rPr>
                        <a:t>JA</a:t>
                      </a:r>
                      <a:r>
                        <a:rPr sz="900" b="1" spc="-5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100" b="1" baseline="3968" dirty="0">
                          <a:latin typeface="Times New Roman"/>
                          <a:cs typeface="Times New Roman"/>
                        </a:rPr>
                        <a:t>KA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30604" y="4432528"/>
            <a:ext cx="5530215" cy="1264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715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simplified equations in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maps dictate that the </a:t>
            </a:r>
            <a:r>
              <a:rPr sz="1400" dirty="0">
                <a:latin typeface="Times New Roman"/>
                <a:cs typeface="Times New Roman"/>
              </a:rPr>
              <a:t>J </a:t>
            </a:r>
            <a:r>
              <a:rPr sz="1400" spc="-5" dirty="0">
                <a:latin typeface="Times New Roman"/>
                <a:cs typeface="Times New Roman"/>
              </a:rPr>
              <a:t>input be enabled  when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=1.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Bi=0,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present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state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next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state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are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same.</a:t>
            </a:r>
            <a:endParaRPr sz="14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When Bi=1, the </a:t>
            </a:r>
            <a:r>
              <a:rPr sz="1400" dirty="0">
                <a:latin typeface="Times New Roman"/>
                <a:cs typeface="Times New Roman"/>
              </a:rPr>
              <a:t>J </a:t>
            </a:r>
            <a:r>
              <a:rPr sz="1400" spc="-5" dirty="0">
                <a:latin typeface="Times New Roman"/>
                <a:cs typeface="Times New Roman"/>
              </a:rPr>
              <a:t>input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enabled and the next state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15" dirty="0">
                <a:latin typeface="Times New Roman"/>
                <a:cs typeface="Times New Roman"/>
              </a:rPr>
              <a:t>Ai, </a:t>
            </a:r>
            <a:r>
              <a:rPr sz="1400" spc="-5" dirty="0">
                <a:latin typeface="Times New Roman"/>
                <a:cs typeface="Times New Roman"/>
              </a:rPr>
              <a:t>becomes </a:t>
            </a:r>
            <a:r>
              <a:rPr sz="1400" dirty="0">
                <a:latin typeface="Times New Roman"/>
                <a:cs typeface="Times New Roman"/>
              </a:rPr>
              <a:t>1.  </a:t>
            </a:r>
            <a:r>
              <a:rPr sz="1400" spc="-5" dirty="0">
                <a:latin typeface="Times New Roman"/>
                <a:cs typeface="Times New Roman"/>
              </a:rPr>
              <a:t>Input functions for the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micro operation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304" y="7247381"/>
            <a:ext cx="5810250" cy="2320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050" algn="ctr">
              <a:lnSpc>
                <a:spcPct val="100000"/>
              </a:lnSpc>
              <a:spcBef>
                <a:spcPts val="10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</a:t>
            </a:r>
            <a:r>
              <a:rPr sz="900" b="1" dirty="0">
                <a:latin typeface="Times New Roman"/>
                <a:cs typeface="Times New Roman"/>
              </a:rPr>
              <a:t> </a:t>
            </a:r>
            <a:r>
              <a:rPr sz="2100" b="1" spc="-15" baseline="3968" dirty="0">
                <a:latin typeface="Times New Roman"/>
                <a:cs typeface="Times New Roman"/>
              </a:rPr>
              <a:t>=B</a:t>
            </a:r>
            <a:r>
              <a:rPr sz="900" b="1" spc="-10" dirty="0">
                <a:latin typeface="Times New Roman"/>
                <a:cs typeface="Times New Roman"/>
              </a:rPr>
              <a:t>i</a:t>
            </a:r>
            <a:r>
              <a:rPr sz="2100" b="1" spc="-15" baseline="3968" dirty="0">
                <a:latin typeface="Times New Roman"/>
                <a:cs typeface="Times New Roman"/>
              </a:rPr>
              <a:t>P5</a:t>
            </a:r>
            <a:endParaRPr sz="2100" baseline="396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R="19685" algn="ctr">
              <a:lnSpc>
                <a:spcPct val="100000"/>
              </a:lnSpc>
            </a:pP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2100" b="1" spc="-7" baseline="3968" dirty="0">
                <a:latin typeface="Times New Roman"/>
                <a:cs typeface="Times New Roman"/>
              </a:rPr>
              <a:t>=0</a:t>
            </a:r>
            <a:endParaRPr sz="2100" baseline="396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203200" indent="-178435">
              <a:lnSpc>
                <a:spcPct val="100000"/>
              </a:lnSpc>
              <a:buAutoNum type="arabicPeriod" startAt="6"/>
              <a:tabLst>
                <a:tab pos="2038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Exclusive-OR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(P6)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6"/>
            </a:pPr>
            <a:endParaRPr sz="1300">
              <a:latin typeface="Times New Roman"/>
              <a:cs typeface="Times New Roman"/>
            </a:endParaRPr>
          </a:p>
          <a:p>
            <a:pPr marL="481965" marR="43180" lvl="1" indent="-228600">
              <a:lnSpc>
                <a:spcPct val="143000"/>
              </a:lnSpc>
              <a:buFont typeface="Symbol"/>
              <a:buChar char=""/>
              <a:tabLst>
                <a:tab pos="481965" algn="l"/>
                <a:tab pos="4826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Control variable </a:t>
            </a:r>
            <a:r>
              <a:rPr sz="1400" spc="-10" dirty="0">
                <a:latin typeface="Times New Roman"/>
                <a:cs typeface="Times New Roman"/>
              </a:rPr>
              <a:t>P6 </a:t>
            </a:r>
            <a:r>
              <a:rPr sz="1400" spc="-5" dirty="0">
                <a:latin typeface="Times New Roman"/>
                <a:cs typeface="Times New Roman"/>
              </a:rPr>
              <a:t>initiates the logic </a:t>
            </a:r>
            <a:r>
              <a:rPr sz="1400" dirty="0">
                <a:latin typeface="Times New Roman"/>
                <a:cs typeface="Times New Roman"/>
              </a:rPr>
              <a:t>Exclusive-OR </a:t>
            </a:r>
            <a:r>
              <a:rPr sz="1400" spc="-5" dirty="0">
                <a:latin typeface="Times New Roman"/>
                <a:cs typeface="Times New Roman"/>
              </a:rPr>
              <a:t>operation between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350" baseline="-9259" dirty="0">
                <a:latin typeface="Times New Roman"/>
                <a:cs typeface="Times New Roman"/>
              </a:rPr>
              <a:t>i 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 B</a:t>
            </a:r>
            <a:r>
              <a:rPr sz="1350" spc="-7" baseline="-9259" dirty="0">
                <a:latin typeface="Times New Roman"/>
                <a:cs typeface="Times New Roman"/>
              </a:rPr>
              <a:t>i</a:t>
            </a:r>
            <a:r>
              <a:rPr sz="1400" spc="-5" dirty="0">
                <a:latin typeface="Times New Roman"/>
                <a:cs typeface="Times New Roman"/>
              </a:rPr>
              <a:t>. The result is transferred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A</a:t>
            </a:r>
            <a:r>
              <a:rPr sz="1350" spc="7" baseline="-9259" dirty="0">
                <a:latin typeface="Times New Roman"/>
                <a:cs typeface="Times New Roman"/>
              </a:rPr>
              <a:t>i</a:t>
            </a:r>
            <a:r>
              <a:rPr sz="1400" spc="5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81965" lvl="1" indent="-228600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481965" algn="l"/>
                <a:tab pos="4826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excitation table and map simplification is </a:t>
            </a:r>
            <a:r>
              <a:rPr sz="140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shown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below.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38275" y="5839088"/>
            <a:ext cx="4524375" cy="1120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204" y="3442842"/>
            <a:ext cx="5899150" cy="486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520065" algn="l"/>
                <a:tab pos="5207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flip flop input functions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written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 marL="2510790" marR="2543175" algn="ctr">
              <a:lnSpc>
                <a:spcPct val="144300"/>
              </a:lnSpc>
              <a:spcBef>
                <a:spcPts val="1490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 </a:t>
            </a:r>
            <a:r>
              <a:rPr sz="2100" b="1" spc="-15" baseline="3968" dirty="0">
                <a:latin typeface="Times New Roman"/>
                <a:cs typeface="Times New Roman"/>
              </a:rPr>
              <a:t>=B</a:t>
            </a:r>
            <a:r>
              <a:rPr sz="900" b="1" spc="-10" dirty="0">
                <a:latin typeface="Times New Roman"/>
                <a:cs typeface="Times New Roman"/>
              </a:rPr>
              <a:t>i</a:t>
            </a:r>
            <a:r>
              <a:rPr sz="2100" b="1" spc="-15" baseline="3968" dirty="0">
                <a:latin typeface="Times New Roman"/>
                <a:cs typeface="Times New Roman"/>
              </a:rPr>
              <a:t>P6  </a:t>
            </a: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 </a:t>
            </a:r>
            <a:r>
              <a:rPr sz="2100" b="1" baseline="3968" dirty="0">
                <a:latin typeface="Times New Roman"/>
                <a:cs typeface="Times New Roman"/>
              </a:rPr>
              <a:t>=</a:t>
            </a:r>
            <a:r>
              <a:rPr sz="2100" b="1" spc="-300" baseline="3968" dirty="0">
                <a:latin typeface="Times New Roman"/>
                <a:cs typeface="Times New Roman"/>
              </a:rPr>
              <a:t> </a:t>
            </a:r>
            <a:r>
              <a:rPr sz="2100" b="1" spc="-7" baseline="3968" dirty="0">
                <a:latin typeface="Times New Roman"/>
                <a:cs typeface="Times New Roman"/>
              </a:rPr>
              <a:t>B</a:t>
            </a:r>
            <a:r>
              <a:rPr sz="900" b="1" spc="-5" dirty="0">
                <a:latin typeface="Times New Roman"/>
                <a:cs typeface="Times New Roman"/>
              </a:rPr>
              <a:t>i</a:t>
            </a:r>
            <a:r>
              <a:rPr sz="2100" b="1" spc="-7" baseline="3968" dirty="0">
                <a:latin typeface="Times New Roman"/>
                <a:cs typeface="Times New Roman"/>
              </a:rPr>
              <a:t>P6</a:t>
            </a:r>
            <a:endParaRPr sz="2100" baseline="3968">
              <a:latin typeface="Times New Roman"/>
              <a:cs typeface="Times New Roman"/>
            </a:endParaRPr>
          </a:p>
          <a:p>
            <a:pPr marL="241300" indent="-178435">
              <a:lnSpc>
                <a:spcPct val="100000"/>
              </a:lnSpc>
              <a:spcBef>
                <a:spcPts val="635"/>
              </a:spcBef>
              <a:buAutoNum type="arabicPeriod" startAt="7"/>
              <a:tabLst>
                <a:tab pos="2419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Shift-right (P7)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AutoNum type="arabicPeriod" startAt="7"/>
            </a:pPr>
            <a:endParaRPr sz="1300">
              <a:latin typeface="Times New Roman"/>
              <a:cs typeface="Times New Roman"/>
            </a:endParaRPr>
          </a:p>
          <a:p>
            <a:pPr marL="520065" marR="93980" lvl="1" indent="-228600">
              <a:lnSpc>
                <a:spcPct val="143600"/>
              </a:lnSpc>
              <a:spcBef>
                <a:spcPts val="5"/>
              </a:spcBef>
              <a:buFont typeface="Symbol"/>
              <a:buChar char=""/>
              <a:tabLst>
                <a:tab pos="520065" algn="l"/>
                <a:tab pos="5207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Control variable </a:t>
            </a:r>
            <a:r>
              <a:rPr sz="1400" dirty="0">
                <a:latin typeface="Times New Roman"/>
                <a:cs typeface="Times New Roman"/>
              </a:rPr>
              <a:t>P7 </a:t>
            </a:r>
            <a:r>
              <a:rPr sz="1400" spc="-5" dirty="0">
                <a:latin typeface="Times New Roman"/>
                <a:cs typeface="Times New Roman"/>
              </a:rPr>
              <a:t>initiates the shift operation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Ai register one bit to</a:t>
            </a:r>
            <a:r>
              <a:rPr sz="1400" spc="-24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the  </a:t>
            </a:r>
            <a:r>
              <a:rPr sz="1400" spc="-5" dirty="0">
                <a:latin typeface="Times New Roman"/>
                <a:cs typeface="Times New Roman"/>
              </a:rPr>
              <a:t>right. That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the value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flip flop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350" baseline="-9259" dirty="0">
                <a:latin typeface="Times New Roman"/>
                <a:cs typeface="Times New Roman"/>
              </a:rPr>
              <a:t>i+1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transferred to flip flop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A</a:t>
            </a:r>
            <a:r>
              <a:rPr sz="1350" spc="7" baseline="-9259" dirty="0">
                <a:latin typeface="Times New Roman"/>
                <a:cs typeface="Times New Roman"/>
              </a:rPr>
              <a:t>i</a:t>
            </a:r>
            <a:r>
              <a:rPr sz="1400" spc="5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564515" lvl="1" indent="-273050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564515" algn="l"/>
                <a:tab pos="565150" algn="l"/>
              </a:tabLst>
            </a:pP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flip flop input functions can be written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 marL="2422525" marR="2453005" indent="-3175" algn="ctr">
              <a:lnSpc>
                <a:spcPct val="143600"/>
              </a:lnSpc>
              <a:spcBef>
                <a:spcPts val="149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 </a:t>
            </a:r>
            <a:r>
              <a:rPr sz="2100" b="1" baseline="3968" dirty="0">
                <a:latin typeface="Times New Roman"/>
                <a:cs typeface="Times New Roman"/>
              </a:rPr>
              <a:t>= </a:t>
            </a:r>
            <a:r>
              <a:rPr sz="2100" b="1" spc="-7" baseline="3968" dirty="0">
                <a:latin typeface="Times New Roman"/>
                <a:cs typeface="Times New Roman"/>
              </a:rPr>
              <a:t>A</a:t>
            </a:r>
            <a:r>
              <a:rPr sz="900" b="1" spc="-5" dirty="0">
                <a:latin typeface="Times New Roman"/>
                <a:cs typeface="Times New Roman"/>
              </a:rPr>
              <a:t>i+1 </a:t>
            </a:r>
            <a:r>
              <a:rPr sz="2100" b="1" spc="-15" baseline="3968" dirty="0">
                <a:latin typeface="Times New Roman"/>
                <a:cs typeface="Times New Roman"/>
              </a:rPr>
              <a:t>P7  </a:t>
            </a: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 </a:t>
            </a:r>
            <a:r>
              <a:rPr sz="2100" b="1" baseline="3968" dirty="0">
                <a:latin typeface="Times New Roman"/>
                <a:cs typeface="Times New Roman"/>
              </a:rPr>
              <a:t>= </a:t>
            </a:r>
            <a:r>
              <a:rPr sz="2100" b="1" spc="-7" baseline="3968" dirty="0">
                <a:latin typeface="Times New Roman"/>
                <a:cs typeface="Times New Roman"/>
              </a:rPr>
              <a:t>A</a:t>
            </a:r>
            <a:r>
              <a:rPr sz="900" b="1" spc="-5" dirty="0">
                <a:latin typeface="Times New Roman"/>
                <a:cs typeface="Times New Roman"/>
              </a:rPr>
              <a:t>i+1</a:t>
            </a:r>
            <a:r>
              <a:rPr sz="900" b="1" spc="-65" dirty="0">
                <a:latin typeface="Times New Roman"/>
                <a:cs typeface="Times New Roman"/>
              </a:rPr>
              <a:t> </a:t>
            </a:r>
            <a:r>
              <a:rPr sz="2100" b="1" spc="7" baseline="3968" dirty="0">
                <a:latin typeface="Times New Roman"/>
                <a:cs typeface="Times New Roman"/>
              </a:rPr>
              <a:t>P7</a:t>
            </a:r>
            <a:endParaRPr sz="2100" baseline="396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241300" indent="-178435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419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Shift-left (P8)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8"/>
            </a:pPr>
            <a:endParaRPr sz="1300">
              <a:latin typeface="Times New Roman"/>
              <a:cs typeface="Times New Roman"/>
            </a:endParaRPr>
          </a:p>
          <a:p>
            <a:pPr marL="520065" marR="95250" lvl="1" indent="-228600">
              <a:lnSpc>
                <a:spcPct val="142900"/>
              </a:lnSpc>
              <a:buFont typeface="Symbol"/>
              <a:buChar char=""/>
              <a:tabLst>
                <a:tab pos="520065" algn="l"/>
                <a:tab pos="5207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Control variable </a:t>
            </a:r>
            <a:r>
              <a:rPr sz="1400" dirty="0">
                <a:latin typeface="Times New Roman"/>
                <a:cs typeface="Times New Roman"/>
              </a:rPr>
              <a:t>P8 </a:t>
            </a:r>
            <a:r>
              <a:rPr sz="1400" spc="-5" dirty="0">
                <a:latin typeface="Times New Roman"/>
                <a:cs typeface="Times New Roman"/>
              </a:rPr>
              <a:t>initiates the shift operation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350" spc="15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register one bit to the  left. That </a:t>
            </a:r>
            <a:r>
              <a:rPr sz="1400" dirty="0">
                <a:latin typeface="Times New Roman"/>
                <a:cs typeface="Times New Roman"/>
              </a:rPr>
              <a:t>is, </a:t>
            </a:r>
            <a:r>
              <a:rPr sz="1400" spc="-5" dirty="0">
                <a:latin typeface="Times New Roman"/>
                <a:cs typeface="Times New Roman"/>
              </a:rPr>
              <a:t>the value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flip flop A</a:t>
            </a:r>
            <a:r>
              <a:rPr sz="1350" spc="-7" baseline="-9259" dirty="0">
                <a:latin typeface="Times New Roman"/>
                <a:cs typeface="Times New Roman"/>
              </a:rPr>
              <a:t>i-1 </a:t>
            </a:r>
            <a:r>
              <a:rPr sz="1400" spc="-5" dirty="0">
                <a:latin typeface="Times New Roman"/>
                <a:cs typeface="Times New Roman"/>
              </a:rPr>
              <a:t>is transferred to flip flop </a:t>
            </a:r>
            <a:r>
              <a:rPr sz="1400" spc="5" dirty="0">
                <a:latin typeface="Times New Roman"/>
                <a:cs typeface="Times New Roman"/>
              </a:rPr>
              <a:t>A</a:t>
            </a:r>
            <a:r>
              <a:rPr sz="1350" spc="7" baseline="-9259" dirty="0">
                <a:latin typeface="Times New Roman"/>
                <a:cs typeface="Times New Roman"/>
              </a:rPr>
              <a:t>i</a:t>
            </a:r>
            <a:r>
              <a:rPr sz="1350" spc="-22" baseline="-925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520065" lvl="1" indent="-228600">
              <a:lnSpc>
                <a:spcPct val="100000"/>
              </a:lnSpc>
              <a:spcBef>
                <a:spcPts val="855"/>
              </a:spcBef>
              <a:buFont typeface="Symbol"/>
              <a:buChar char=""/>
              <a:tabLst>
                <a:tab pos="520065" algn="l"/>
                <a:tab pos="5207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flip flop input functions can be written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5203" y="8278215"/>
            <a:ext cx="13970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3803" y="8290407"/>
            <a:ext cx="10121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750">
              <a:lnSpc>
                <a:spcPct val="150000"/>
              </a:lnSpc>
              <a:spcBef>
                <a:spcPts val="100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JA</a:t>
            </a:r>
            <a:r>
              <a:rPr sz="900" b="1" spc="-5" dirty="0">
                <a:latin typeface="Times New Roman"/>
                <a:cs typeface="Times New Roman"/>
              </a:rPr>
              <a:t>i </a:t>
            </a:r>
            <a:r>
              <a:rPr sz="2100" b="1" baseline="3968" dirty="0">
                <a:latin typeface="Times New Roman"/>
                <a:cs typeface="Times New Roman"/>
              </a:rPr>
              <a:t>= </a:t>
            </a:r>
            <a:r>
              <a:rPr sz="2100" b="1" spc="-7" baseline="3968" dirty="0">
                <a:latin typeface="Times New Roman"/>
                <a:cs typeface="Times New Roman"/>
              </a:rPr>
              <a:t>A</a:t>
            </a:r>
            <a:r>
              <a:rPr sz="900" b="1" spc="-5" dirty="0">
                <a:latin typeface="Times New Roman"/>
                <a:cs typeface="Times New Roman"/>
              </a:rPr>
              <a:t>i-1 </a:t>
            </a:r>
            <a:r>
              <a:rPr sz="2100" b="1" spc="-7" baseline="3968" dirty="0">
                <a:latin typeface="Times New Roman"/>
                <a:cs typeface="Times New Roman"/>
              </a:rPr>
              <a:t>P8  </a:t>
            </a:r>
            <a:r>
              <a:rPr sz="2100" b="1" baseline="3968" dirty="0">
                <a:latin typeface="Times New Roman"/>
                <a:cs typeface="Times New Roman"/>
              </a:rPr>
              <a:t>KA</a:t>
            </a:r>
            <a:r>
              <a:rPr sz="900" b="1" dirty="0">
                <a:latin typeface="Times New Roman"/>
                <a:cs typeface="Times New Roman"/>
              </a:rPr>
              <a:t>i </a:t>
            </a:r>
            <a:r>
              <a:rPr sz="2100" b="1" baseline="3968" dirty="0">
                <a:latin typeface="Times New Roman"/>
                <a:cs typeface="Times New Roman"/>
              </a:rPr>
              <a:t>= </a:t>
            </a:r>
            <a:r>
              <a:rPr sz="2100" b="1" spc="-7" baseline="3968" dirty="0">
                <a:latin typeface="Times New Roman"/>
                <a:cs typeface="Times New Roman"/>
              </a:rPr>
              <a:t>A</a:t>
            </a:r>
            <a:r>
              <a:rPr sz="900" b="1" spc="-5" dirty="0">
                <a:latin typeface="Times New Roman"/>
                <a:cs typeface="Times New Roman"/>
              </a:rPr>
              <a:t>i-1</a:t>
            </a:r>
            <a:r>
              <a:rPr sz="900" b="1" spc="-60" dirty="0">
                <a:latin typeface="Times New Roman"/>
                <a:cs typeface="Times New Roman"/>
              </a:rPr>
              <a:t> </a:t>
            </a:r>
            <a:r>
              <a:rPr sz="2100" b="1" spc="-15" baseline="3968" dirty="0">
                <a:latin typeface="Times New Roman"/>
                <a:cs typeface="Times New Roman"/>
              </a:rPr>
              <a:t>P8</a:t>
            </a:r>
            <a:endParaRPr sz="2100" baseline="396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9189211"/>
            <a:ext cx="135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9. </a:t>
            </a:r>
            <a:r>
              <a:rPr sz="1400" b="1" spc="-5" dirty="0">
                <a:latin typeface="Times New Roman"/>
                <a:cs typeface="Times New Roman"/>
              </a:rPr>
              <a:t>Increment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(P9)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76217" y="914399"/>
            <a:ext cx="5806289" cy="243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11123"/>
            <a:ext cx="5524500" cy="958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These </a:t>
            </a:r>
            <a:r>
              <a:rPr sz="1400" spc="-5" dirty="0">
                <a:latin typeface="Times New Roman"/>
                <a:cs typeface="Times New Roman"/>
              </a:rPr>
              <a:t>operations increment the content of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register </a:t>
            </a: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one. The register  behaves likes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synchronous binary </a:t>
            </a:r>
            <a:r>
              <a:rPr sz="1400" spc="-10" dirty="0">
                <a:latin typeface="Times New Roman"/>
                <a:cs typeface="Times New Roman"/>
              </a:rPr>
              <a:t>counter </a:t>
            </a:r>
            <a:r>
              <a:rPr sz="1400" spc="-5" dirty="0">
                <a:latin typeface="Times New Roman"/>
                <a:cs typeface="Times New Roman"/>
              </a:rPr>
              <a:t>with </a:t>
            </a:r>
            <a:r>
              <a:rPr sz="1400" spc="10" dirty="0">
                <a:latin typeface="Times New Roman"/>
                <a:cs typeface="Times New Roman"/>
              </a:rPr>
              <a:t>P9 </a:t>
            </a:r>
            <a:r>
              <a:rPr sz="1400" spc="-5" dirty="0">
                <a:latin typeface="Times New Roman"/>
                <a:cs typeface="Times New Roman"/>
              </a:rPr>
              <a:t>enabling the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count.</a:t>
            </a:r>
            <a:endParaRPr sz="14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A 3 </a:t>
            </a:r>
            <a:r>
              <a:rPr sz="1400" spc="-5" dirty="0">
                <a:latin typeface="Times New Roman"/>
                <a:cs typeface="Times New Roman"/>
              </a:rPr>
              <a:t>bit synchronous counter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shown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the following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figure.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4216" y="4637658"/>
            <a:ext cx="44075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Boolean function </a:t>
            </a:r>
            <a:r>
              <a:rPr sz="1400" dirty="0">
                <a:latin typeface="Times New Roman"/>
                <a:cs typeface="Times New Roman"/>
              </a:rPr>
              <a:t>for a </a:t>
            </a:r>
            <a:r>
              <a:rPr sz="1400" spc="-5" dirty="0">
                <a:latin typeface="Times New Roman"/>
                <a:cs typeface="Times New Roman"/>
              </a:rPr>
              <a:t>typical stage </a:t>
            </a:r>
            <a:r>
              <a:rPr sz="1400" spc="-10" dirty="0">
                <a:latin typeface="Times New Roman"/>
                <a:cs typeface="Times New Roman"/>
              </a:rPr>
              <a:t>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written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614541"/>
            <a:ext cx="5760085" cy="2296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765" indent="-266700">
              <a:lnSpc>
                <a:spcPct val="100000"/>
              </a:lnSpc>
              <a:spcBef>
                <a:spcPts val="105"/>
              </a:spcBef>
              <a:buAutoNum type="arabicPeriod" startAt="10"/>
              <a:tabLst>
                <a:tab pos="279400" algn="l"/>
              </a:tabLst>
            </a:pPr>
            <a:r>
              <a:rPr sz="1400" b="1" dirty="0">
                <a:latin typeface="Times New Roman"/>
                <a:cs typeface="Times New Roman"/>
              </a:rPr>
              <a:t>Check </a:t>
            </a:r>
            <a:r>
              <a:rPr sz="1400" b="1" spc="-5" dirty="0">
                <a:latin typeface="Times New Roman"/>
                <a:cs typeface="Times New Roman"/>
              </a:rPr>
              <a:t>for Zero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(Z)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10"/>
            </a:pPr>
            <a:endParaRPr sz="1300">
              <a:latin typeface="Times New Roman"/>
              <a:cs typeface="Times New Roman"/>
            </a:endParaRPr>
          </a:p>
          <a:p>
            <a:pPr marL="413384" marR="12700" lvl="1" indent="-228600">
              <a:lnSpc>
                <a:spcPct val="142900"/>
              </a:lnSpc>
              <a:buFont typeface="Symbol"/>
              <a:buChar char=""/>
              <a:tabLst>
                <a:tab pos="413384" algn="l"/>
                <a:tab pos="414020" algn="l"/>
              </a:tabLst>
            </a:pPr>
            <a:r>
              <a:rPr sz="1400" spc="-5" dirty="0">
                <a:latin typeface="Times New Roman"/>
                <a:cs typeface="Times New Roman"/>
              </a:rPr>
              <a:t>Variable </a:t>
            </a:r>
            <a:r>
              <a:rPr sz="1400" dirty="0">
                <a:latin typeface="Times New Roman"/>
                <a:cs typeface="Times New Roman"/>
              </a:rPr>
              <a:t>Z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spc="-1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output from the accumulator. This variable 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used to  indicate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zero </a:t>
            </a:r>
            <a:r>
              <a:rPr sz="1400" spc="-10" dirty="0">
                <a:latin typeface="Times New Roman"/>
                <a:cs typeface="Times New Roman"/>
              </a:rPr>
              <a:t>content </a:t>
            </a:r>
            <a:r>
              <a:rPr sz="1400" spc="-5" dirty="0">
                <a:latin typeface="Times New Roman"/>
                <a:cs typeface="Times New Roman"/>
              </a:rPr>
              <a:t>in </a:t>
            </a:r>
            <a:r>
              <a:rPr sz="1400" spc="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register.</a:t>
            </a:r>
            <a:endParaRPr sz="1400">
              <a:latin typeface="Times New Roman"/>
              <a:cs typeface="Times New Roman"/>
            </a:endParaRPr>
          </a:p>
          <a:p>
            <a:pPr marL="413384" marR="5080" lvl="1" indent="-228600">
              <a:lnSpc>
                <a:spcPct val="142900"/>
              </a:lnSpc>
              <a:spcBef>
                <a:spcPts val="130"/>
              </a:spcBef>
              <a:buFont typeface="Symbol"/>
              <a:buChar char=""/>
              <a:tabLst>
                <a:tab pos="413384" algn="l"/>
                <a:tab pos="414020" algn="l"/>
              </a:tabLst>
            </a:pPr>
            <a:r>
              <a:rPr sz="1400" spc="-5" dirty="0">
                <a:latin typeface="Times New Roman"/>
                <a:cs typeface="Times New Roman"/>
              </a:rPr>
              <a:t>All the flip </a:t>
            </a:r>
            <a:r>
              <a:rPr sz="1400" spc="-10" dirty="0">
                <a:latin typeface="Times New Roman"/>
                <a:cs typeface="Times New Roman"/>
              </a:rPr>
              <a:t>flops </a:t>
            </a:r>
            <a:r>
              <a:rPr sz="1400" spc="-5" dirty="0">
                <a:latin typeface="Times New Roman"/>
                <a:cs typeface="Times New Roman"/>
              </a:rPr>
              <a:t>in the accumulator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5" dirty="0">
                <a:latin typeface="Times New Roman"/>
                <a:cs typeface="Times New Roman"/>
              </a:rPr>
              <a:t>cleared </a:t>
            </a:r>
            <a:r>
              <a:rPr sz="1400" dirty="0">
                <a:latin typeface="Times New Roman"/>
                <a:cs typeface="Times New Roman"/>
              </a:rPr>
              <a:t>Z </a:t>
            </a:r>
            <a:r>
              <a:rPr sz="1400" spc="-5" dirty="0">
                <a:latin typeface="Times New Roman"/>
                <a:cs typeface="Times New Roman"/>
              </a:rPr>
              <a:t>variable will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set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15" dirty="0">
                <a:latin typeface="Times New Roman"/>
                <a:cs typeface="Times New Roman"/>
              </a:rPr>
              <a:t>1.  </a:t>
            </a:r>
            <a:r>
              <a:rPr sz="1400" spc="-5" dirty="0">
                <a:latin typeface="Times New Roman"/>
                <a:cs typeface="Times New Roman"/>
              </a:rPr>
              <a:t>When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flip flop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cleared, its complement output </a:t>
            </a:r>
            <a:r>
              <a:rPr sz="1400" dirty="0">
                <a:latin typeface="Times New Roman"/>
                <a:cs typeface="Times New Roman"/>
              </a:rPr>
              <a:t>Q' </a:t>
            </a:r>
            <a:r>
              <a:rPr sz="1400" spc="-5" dirty="0">
                <a:latin typeface="Times New Roman"/>
                <a:cs typeface="Times New Roman"/>
              </a:rPr>
              <a:t>is equal to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1.</a:t>
            </a:r>
            <a:endParaRPr sz="1400">
              <a:latin typeface="Times New Roman"/>
              <a:cs typeface="Times New Roman"/>
            </a:endParaRPr>
          </a:p>
          <a:p>
            <a:pPr marL="413384" marR="13970" lvl="1" indent="-228600">
              <a:lnSpc>
                <a:spcPct val="143600"/>
              </a:lnSpc>
              <a:spcBef>
                <a:spcPts val="110"/>
              </a:spcBef>
              <a:buFont typeface="Symbol"/>
              <a:buChar char=""/>
              <a:tabLst>
                <a:tab pos="413384" algn="l"/>
                <a:tab pos="41402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following figure shows the first three stages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accumulator that  checks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zero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content.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8099" y="1905732"/>
            <a:ext cx="5716625" cy="2640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4754" y="4968239"/>
            <a:ext cx="2800349" cy="1309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3904" y="3428212"/>
            <a:ext cx="5861050" cy="3473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484" marR="69850" indent="-228600" algn="just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452120" algn="l"/>
              </a:tabLst>
            </a:pPr>
            <a:r>
              <a:rPr sz="1400" spc="-5" dirty="0">
                <a:latin typeface="Times New Roman"/>
                <a:cs typeface="Times New Roman"/>
              </a:rPr>
              <a:t>Each stage generates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variable </a:t>
            </a:r>
            <a:r>
              <a:rPr sz="1400" dirty="0">
                <a:latin typeface="Times New Roman"/>
                <a:cs typeface="Times New Roman"/>
              </a:rPr>
              <a:t>Z</a:t>
            </a:r>
            <a:r>
              <a:rPr sz="1350" baseline="-9259" dirty="0">
                <a:latin typeface="Times New Roman"/>
                <a:cs typeface="Times New Roman"/>
              </a:rPr>
              <a:t>i+1 </a:t>
            </a:r>
            <a:r>
              <a:rPr sz="1400" spc="-5" dirty="0">
                <a:latin typeface="Times New Roman"/>
                <a:cs typeface="Times New Roman"/>
              </a:rPr>
              <a:t>by ANDing the complement output </a:t>
            </a:r>
            <a:r>
              <a:rPr sz="1400" spc="-10" dirty="0">
                <a:latin typeface="Times New Roman"/>
                <a:cs typeface="Times New Roman"/>
              </a:rPr>
              <a:t>of 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350" baseline="-9259" dirty="0">
                <a:latin typeface="Times New Roman"/>
                <a:cs typeface="Times New Roman"/>
              </a:rPr>
              <a:t>i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an </a:t>
            </a:r>
            <a:r>
              <a:rPr sz="1400" spc="-5" dirty="0">
                <a:latin typeface="Times New Roman"/>
                <a:cs typeface="Times New Roman"/>
              </a:rPr>
              <a:t>input variable </a:t>
            </a:r>
            <a:r>
              <a:rPr sz="1400" spc="5" dirty="0">
                <a:latin typeface="Times New Roman"/>
                <a:cs typeface="Times New Roman"/>
              </a:rPr>
              <a:t>Z</a:t>
            </a:r>
            <a:r>
              <a:rPr sz="1350" spc="7" baseline="-9259" dirty="0">
                <a:latin typeface="Times New Roman"/>
                <a:cs typeface="Times New Roman"/>
              </a:rPr>
              <a:t>i</a:t>
            </a:r>
            <a:r>
              <a:rPr sz="1400" spc="5" dirty="0">
                <a:latin typeface="Times New Roman"/>
                <a:cs typeface="Times New Roman"/>
              </a:rPr>
              <a:t>. </a:t>
            </a:r>
            <a:r>
              <a:rPr sz="1400" dirty="0">
                <a:latin typeface="Times New Roman"/>
                <a:cs typeface="Times New Roman"/>
              </a:rPr>
              <a:t>In </a:t>
            </a:r>
            <a:r>
              <a:rPr sz="1400" spc="-5" dirty="0">
                <a:latin typeface="Times New Roman"/>
                <a:cs typeface="Times New Roman"/>
              </a:rPr>
              <a:t>this </a:t>
            </a:r>
            <a:r>
              <a:rPr sz="1400" dirty="0">
                <a:latin typeface="Times New Roman"/>
                <a:cs typeface="Times New Roman"/>
              </a:rPr>
              <a:t>way, a </a:t>
            </a:r>
            <a:r>
              <a:rPr sz="1400" spc="-5" dirty="0">
                <a:latin typeface="Times New Roman"/>
                <a:cs typeface="Times New Roman"/>
              </a:rPr>
              <a:t>chain of AND gates through all  stages will indicate </a:t>
            </a:r>
            <a:r>
              <a:rPr sz="1400" dirty="0">
                <a:latin typeface="Times New Roman"/>
                <a:cs typeface="Times New Roman"/>
              </a:rPr>
              <a:t>if all </a:t>
            </a:r>
            <a:r>
              <a:rPr sz="1400" spc="-10" dirty="0">
                <a:latin typeface="Times New Roman"/>
                <a:cs typeface="Times New Roman"/>
              </a:rPr>
              <a:t>flips </a:t>
            </a:r>
            <a:r>
              <a:rPr sz="1400" dirty="0">
                <a:latin typeface="Times New Roman"/>
                <a:cs typeface="Times New Roman"/>
              </a:rPr>
              <a:t>ate </a:t>
            </a:r>
            <a:r>
              <a:rPr sz="1400" spc="-5" dirty="0">
                <a:latin typeface="Times New Roman"/>
                <a:cs typeface="Times New Roman"/>
              </a:rPr>
              <a:t>cleared.</a:t>
            </a:r>
            <a:endParaRPr sz="1400">
              <a:latin typeface="Times New Roman"/>
              <a:cs typeface="Times New Roman"/>
            </a:endParaRPr>
          </a:p>
          <a:p>
            <a:pPr marL="451484" indent="-229235" algn="just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45212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Boolean function </a:t>
            </a:r>
            <a:r>
              <a:rPr sz="1400" dirty="0">
                <a:latin typeface="Times New Roman"/>
                <a:cs typeface="Times New Roman"/>
              </a:rPr>
              <a:t>for a </a:t>
            </a:r>
            <a:r>
              <a:rPr sz="1400" spc="-5" dirty="0">
                <a:latin typeface="Times New Roman"/>
                <a:cs typeface="Times New Roman"/>
              </a:rPr>
              <a:t>typical stage </a:t>
            </a:r>
            <a:r>
              <a:rPr sz="1400" spc="-10" dirty="0">
                <a:latin typeface="Times New Roman"/>
                <a:cs typeface="Times New Roman"/>
              </a:rPr>
              <a:t>can </a:t>
            </a:r>
            <a:r>
              <a:rPr sz="1400" dirty="0">
                <a:latin typeface="Times New Roman"/>
                <a:cs typeface="Times New Roman"/>
              </a:rPr>
              <a:t>be </a:t>
            </a:r>
            <a:r>
              <a:rPr sz="1400" spc="-5" dirty="0">
                <a:latin typeface="Times New Roman"/>
                <a:cs typeface="Times New Roman"/>
              </a:rPr>
              <a:t>expressed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as:</a:t>
            </a:r>
            <a:endParaRPr sz="1400">
              <a:latin typeface="Times New Roman"/>
              <a:cs typeface="Times New Roman"/>
            </a:endParaRPr>
          </a:p>
          <a:p>
            <a:pPr marL="1708785" marR="1449070" algn="just">
              <a:lnSpc>
                <a:spcPct val="143700"/>
              </a:lnSpc>
              <a:spcBef>
                <a:spcPts val="9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Z</a:t>
            </a:r>
            <a:r>
              <a:rPr sz="900" b="1" spc="-5" dirty="0">
                <a:latin typeface="Times New Roman"/>
                <a:cs typeface="Times New Roman"/>
              </a:rPr>
              <a:t>i+1 </a:t>
            </a:r>
            <a:r>
              <a:rPr sz="2100" b="1" baseline="3968" dirty="0">
                <a:latin typeface="Times New Roman"/>
                <a:cs typeface="Times New Roman"/>
              </a:rPr>
              <a:t>= Z</a:t>
            </a:r>
            <a:r>
              <a:rPr sz="900" b="1" dirty="0">
                <a:latin typeface="Times New Roman"/>
                <a:cs typeface="Times New Roman"/>
              </a:rPr>
              <a:t>i</a:t>
            </a:r>
            <a:r>
              <a:rPr sz="2100" b="1" baseline="3968" dirty="0">
                <a:latin typeface="Times New Roman"/>
                <a:cs typeface="Times New Roman"/>
              </a:rPr>
              <a:t>A</a:t>
            </a:r>
            <a:r>
              <a:rPr sz="900" b="1" dirty="0">
                <a:latin typeface="Times New Roman"/>
                <a:cs typeface="Times New Roman"/>
              </a:rPr>
              <a:t>i </a:t>
            </a:r>
            <a:r>
              <a:rPr sz="2100" b="1" spc="-7" baseline="3968" dirty="0">
                <a:latin typeface="Times New Roman"/>
                <a:cs typeface="Times New Roman"/>
              </a:rPr>
              <a:t>i=1,2,3…………………n  Z</a:t>
            </a:r>
            <a:r>
              <a:rPr sz="900" b="1" spc="-5" dirty="0">
                <a:latin typeface="Times New Roman"/>
                <a:cs typeface="Times New Roman"/>
              </a:rPr>
              <a:t>1</a:t>
            </a:r>
            <a:r>
              <a:rPr sz="2100" b="1" spc="-7" baseline="3968" dirty="0">
                <a:latin typeface="Times New Roman"/>
                <a:cs typeface="Times New Roman"/>
              </a:rPr>
              <a:t>=1</a:t>
            </a:r>
            <a:endParaRPr sz="2100" baseline="3968">
              <a:latin typeface="Times New Roman"/>
              <a:cs typeface="Times New Roman"/>
            </a:endParaRPr>
          </a:p>
          <a:p>
            <a:pPr marL="1708785">
              <a:lnSpc>
                <a:spcPct val="100000"/>
              </a:lnSpc>
              <a:spcBef>
                <a:spcPts val="735"/>
              </a:spcBef>
            </a:pPr>
            <a:r>
              <a:rPr sz="2100" b="1" spc="-7" baseline="3968" dirty="0">
                <a:latin typeface="Times New Roman"/>
                <a:cs typeface="Times New Roman"/>
              </a:rPr>
              <a:t>Z</a:t>
            </a:r>
            <a:r>
              <a:rPr sz="900" b="1" spc="-5" dirty="0">
                <a:latin typeface="Times New Roman"/>
                <a:cs typeface="Times New Roman"/>
              </a:rPr>
              <a:t>n+1</a:t>
            </a:r>
            <a:r>
              <a:rPr sz="2100" b="1" spc="-7" baseline="3968" dirty="0">
                <a:latin typeface="Times New Roman"/>
                <a:cs typeface="Times New Roman"/>
              </a:rPr>
              <a:t>=Z</a:t>
            </a:r>
            <a:endParaRPr sz="2100" baseline="3968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One </a:t>
            </a:r>
            <a:r>
              <a:rPr sz="1400" b="1" spc="-5" dirty="0">
                <a:latin typeface="Times New Roman"/>
                <a:cs typeface="Times New Roman"/>
              </a:rPr>
              <a:t>stage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Accumulator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507365" marR="68580" lvl="1" indent="-228600" algn="just">
              <a:lnSpc>
                <a:spcPct val="143600"/>
              </a:lnSpc>
              <a:buFont typeface="Symbol"/>
              <a:buChar char=""/>
              <a:tabLst>
                <a:tab pos="508000" algn="l"/>
              </a:tabLst>
            </a:pPr>
            <a:r>
              <a:rPr sz="1400" spc="-5" dirty="0">
                <a:latin typeface="Times New Roman"/>
                <a:cs typeface="Times New Roman"/>
              </a:rPr>
              <a:t>Combining all the input </a:t>
            </a:r>
            <a:r>
              <a:rPr sz="1400" dirty="0">
                <a:latin typeface="Times New Roman"/>
                <a:cs typeface="Times New Roman"/>
              </a:rPr>
              <a:t>functions for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J and K </a:t>
            </a:r>
            <a:r>
              <a:rPr sz="1400" spc="-5" dirty="0">
                <a:latin typeface="Times New Roman"/>
                <a:cs typeface="Times New Roman"/>
              </a:rPr>
              <a:t>inputs flip flop </a:t>
            </a:r>
            <a:r>
              <a:rPr sz="1400" spc="20" dirty="0">
                <a:latin typeface="Times New Roman"/>
                <a:cs typeface="Times New Roman"/>
              </a:rPr>
              <a:t>A</a:t>
            </a:r>
            <a:r>
              <a:rPr sz="1350" spc="30" baseline="-9259" dirty="0">
                <a:latin typeface="Times New Roman"/>
                <a:cs typeface="Times New Roman"/>
              </a:rPr>
              <a:t>1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produces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composite </a:t>
            </a:r>
            <a:r>
              <a:rPr sz="1400" dirty="0">
                <a:latin typeface="Times New Roman"/>
                <a:cs typeface="Times New Roman"/>
              </a:rPr>
              <a:t>set of </a:t>
            </a:r>
            <a:r>
              <a:rPr sz="1400" spc="-5" dirty="0">
                <a:latin typeface="Times New Roman"/>
                <a:cs typeface="Times New Roman"/>
              </a:rPr>
              <a:t>input Boolean functions for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typical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stage.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7884414"/>
            <a:ext cx="5381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Each stage in the accumulator must produce the carry for the next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stage.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8965793"/>
            <a:ext cx="5522595" cy="63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436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400" spc="-5" dirty="0">
                <a:latin typeface="Times New Roman"/>
                <a:cs typeface="Times New Roman"/>
              </a:rPr>
              <a:t>The logic diagram for </a:t>
            </a:r>
            <a:r>
              <a:rPr sz="1400" dirty="0">
                <a:latin typeface="Times New Roman"/>
                <a:cs typeface="Times New Roman"/>
              </a:rPr>
              <a:t>one </a:t>
            </a:r>
            <a:r>
              <a:rPr sz="1400" spc="-5" dirty="0">
                <a:latin typeface="Times New Roman"/>
                <a:cs typeface="Times New Roman"/>
              </a:rPr>
              <a:t>typical stage </a:t>
            </a:r>
            <a:r>
              <a:rPr sz="1400" dirty="0">
                <a:latin typeface="Times New Roman"/>
                <a:cs typeface="Times New Roman"/>
              </a:rPr>
              <a:t>of the </a:t>
            </a:r>
            <a:r>
              <a:rPr sz="1400" spc="-5" dirty="0">
                <a:latin typeface="Times New Roman"/>
                <a:cs typeface="Times New Roman"/>
              </a:rPr>
              <a:t>Accumulator </a:t>
            </a:r>
            <a:r>
              <a:rPr sz="1400" dirty="0">
                <a:latin typeface="Times New Roman"/>
                <a:cs typeface="Times New Roman"/>
              </a:rPr>
              <a:t>is </a:t>
            </a:r>
            <a:r>
              <a:rPr sz="1400" spc="-10" dirty="0">
                <a:latin typeface="Times New Roman"/>
                <a:cs typeface="Times New Roman"/>
              </a:rPr>
              <a:t>shown  </a:t>
            </a:r>
            <a:r>
              <a:rPr sz="1400" spc="-5" dirty="0">
                <a:latin typeface="Times New Roman"/>
                <a:cs typeface="Times New Roman"/>
              </a:rPr>
              <a:t>below: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4450" y="970279"/>
            <a:ext cx="5471159" cy="2458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54302" y="7055430"/>
            <a:ext cx="5728771" cy="696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18129" y="8294388"/>
            <a:ext cx="2409824" cy="671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171312"/>
            <a:ext cx="5755005" cy="1349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Complete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Accumulator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3200"/>
              </a:lnSpc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For a </a:t>
            </a:r>
            <a:r>
              <a:rPr sz="1400" spc="-5" dirty="0">
                <a:latin typeface="Times New Roman"/>
                <a:cs typeface="Times New Roman"/>
              </a:rPr>
              <a:t>complete accumulator there will be </a:t>
            </a:r>
            <a:r>
              <a:rPr sz="1400" dirty="0">
                <a:latin typeface="Times New Roman"/>
                <a:cs typeface="Times New Roman"/>
              </a:rPr>
              <a:t>n </a:t>
            </a:r>
            <a:r>
              <a:rPr sz="1400" spc="-5" dirty="0">
                <a:latin typeface="Times New Roman"/>
                <a:cs typeface="Times New Roman"/>
              </a:rPr>
              <a:t>stages like this. The inputs and  outputs of </a:t>
            </a:r>
            <a:r>
              <a:rPr sz="1400" dirty="0">
                <a:latin typeface="Times New Roman"/>
                <a:cs typeface="Times New Roman"/>
              </a:rPr>
              <a:t>each </a:t>
            </a:r>
            <a:r>
              <a:rPr sz="1400" spc="-10" dirty="0">
                <a:latin typeface="Times New Roman"/>
                <a:cs typeface="Times New Roman"/>
              </a:rPr>
              <a:t>stage </a:t>
            </a:r>
            <a:r>
              <a:rPr sz="1400" dirty="0">
                <a:latin typeface="Times New Roman"/>
                <a:cs typeface="Times New Roman"/>
              </a:rPr>
              <a:t>can he </a:t>
            </a:r>
            <a:r>
              <a:rPr sz="1400" spc="-5" dirty="0">
                <a:latin typeface="Times New Roman"/>
                <a:cs typeface="Times New Roman"/>
              </a:rPr>
              <a:t>connected in </a:t>
            </a:r>
            <a:r>
              <a:rPr sz="1400" dirty="0">
                <a:latin typeface="Times New Roman"/>
                <a:cs typeface="Times New Roman"/>
              </a:rPr>
              <a:t>cascade </a:t>
            </a:r>
            <a:r>
              <a:rPr sz="1400" spc="-5" dirty="0">
                <a:latin typeface="Times New Roman"/>
                <a:cs typeface="Times New Roman"/>
              </a:rPr>
              <a:t>to form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complete  accumulator.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0" y="914399"/>
            <a:ext cx="5357541" cy="400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62571" y="6612584"/>
            <a:ext cx="5299457" cy="3161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577" y="889761"/>
            <a:ext cx="4149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PREVIOUS YEAR UNIVERSITY QUESTION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0847" y="1405879"/>
            <a:ext cx="5678186" cy="4207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6465" y="5863086"/>
            <a:ext cx="5785357" cy="29978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477" y="914399"/>
            <a:ext cx="6040083" cy="4464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8700</TotalTime>
  <Words>4523</Words>
  <Application>Microsoft Office PowerPoint</Application>
  <PresentationFormat>Custom</PresentationFormat>
  <Paragraphs>518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Remya</dc:creator>
  <cp:lastModifiedBy>Femy John</cp:lastModifiedBy>
  <cp:revision>1</cp:revision>
  <dcterms:created xsi:type="dcterms:W3CDTF">2023-02-23T16:46:20Z</dcterms:created>
  <dcterms:modified xsi:type="dcterms:W3CDTF">2023-03-06T14:13:03Z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2021-05-23T00:00:00Z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2023-02-23T00:00:00Z</vt:filetime>
  </property>
</Properties>
</file>